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471" r:id="rId3"/>
    <p:sldId id="470" r:id="rId4"/>
    <p:sldId id="472" r:id="rId5"/>
    <p:sldId id="473" r:id="rId6"/>
    <p:sldId id="474" r:id="rId7"/>
    <p:sldId id="475" r:id="rId8"/>
    <p:sldId id="476" r:id="rId9"/>
    <p:sldId id="477" r:id="rId10"/>
    <p:sldId id="478" r:id="rId11"/>
    <p:sldId id="480" r:id="rId12"/>
    <p:sldId id="481" r:id="rId13"/>
    <p:sldId id="482" r:id="rId14"/>
    <p:sldId id="483" r:id="rId15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022" autoAdjust="0"/>
  </p:normalViewPr>
  <p:slideViewPr>
    <p:cSldViewPr snapToGrid="0">
      <p:cViewPr varScale="1">
        <p:scale>
          <a:sx n="66" d="100"/>
          <a:sy n="66" d="100"/>
        </p:scale>
        <p:origin x="8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09E2B2-BF93-4711-BF22-98F8242CEA32}" type="datetimeFigureOut">
              <a:rPr lang="en-PK" smtClean="0"/>
              <a:t>19/11/2024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D74DA-5D76-4D42-B3D7-85243F5F34C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49372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546DDA-69A2-4693-A909-A36A5774E49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11036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base class pointer can point to a derived class object, but we can only access base class member or virtual functions using the base class pointer because object slicing happens when a derived class object is assigned to a base class object. Additional attributes of a derived class object are sliced off to form the base class object.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85FC15-40B4-45E5-86AE-2E64D22F0C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777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F5DFE-6997-8436-2A02-395F09DA0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8153B3-FE02-3485-63F5-43A5395F16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6DB79-4936-C71D-22D0-927697544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77887-C018-4D4F-8206-166B01FB9377}" type="datetimeFigureOut">
              <a:rPr lang="en-PK" smtClean="0"/>
              <a:t>19/11/2024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490C9-67D6-D901-5049-28F8D87FE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ACAAB-8154-3756-1B7F-33C6BF0C4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96743-807B-47AC-B00E-860F1C20108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31224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F88A0-E8E9-52F0-CCA2-C034D5327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0D3AD-FC38-E68A-9672-6424F3B2C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9D141-7118-CBD4-06BB-13F622495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77887-C018-4D4F-8206-166B01FB9377}" type="datetimeFigureOut">
              <a:rPr lang="en-PK" smtClean="0"/>
              <a:t>19/11/2024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6F780-E972-CB31-9E27-21A3EF261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F0A76-2D57-521C-BBE3-37E5A8375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96743-807B-47AC-B00E-860F1C20108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78579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92900-5C69-603C-C329-B5FF9CFE5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A8938-8F8E-C590-83BF-BDBC14709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F6DC8-0313-6301-6EDC-8BA7E1310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77887-C018-4D4F-8206-166B01FB9377}" type="datetimeFigureOut">
              <a:rPr lang="en-PK" smtClean="0"/>
              <a:t>19/11/2024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D667B-C4D4-A4E8-C304-366725A38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8213D-3E24-4BF1-4D96-588BC082A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96743-807B-47AC-B00E-860F1C20108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106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CC520-7D4F-3EB2-9BB3-17F9DDDAA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DC1E7-AAE7-B3B6-9DE4-EB9A21066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3A1E38-42A0-9F1D-BF2D-65EA64F63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2904C9-E914-4959-3BF9-B9677D8AB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77887-C018-4D4F-8206-166B01FB9377}" type="datetimeFigureOut">
              <a:rPr lang="en-PK" smtClean="0"/>
              <a:t>19/11/2024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09814-59A1-48BB-6497-0156878CE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9806A-3C37-3356-6765-A715FDA7A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96743-807B-47AC-B00E-860F1C20108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48087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BD7C1-443F-175E-7F68-CBAA94E36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9F816-45DD-AC2A-FD73-DBD785FD4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BBEAB8-14DD-ED3E-C5BC-63538A1A7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F162EE-0D3F-4E19-02F8-71030794A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E9E1BA-C05B-BD56-70F6-8F89FE11A3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1C8D9F-5AAB-0730-FD5D-31BFB7FA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77887-C018-4D4F-8206-166B01FB9377}" type="datetimeFigureOut">
              <a:rPr lang="en-PK" smtClean="0"/>
              <a:t>19/11/2024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F5603D-8E5C-60D1-E16D-41CCB3D0B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D7A00C-F9CF-505B-BB60-35C744FDA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96743-807B-47AC-B00E-860F1C20108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46822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53ABE-07F5-4654-BC9D-80BFE8E64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AC3085-BFE5-D2E7-3DF4-D065E4915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77887-C018-4D4F-8206-166B01FB9377}" type="datetimeFigureOut">
              <a:rPr lang="en-PK" smtClean="0"/>
              <a:t>19/11/2024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1F445B-3CE4-9318-84F7-BD52F14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D48635-3E13-AF39-70F0-98F5B135E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96743-807B-47AC-B00E-860F1C20108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56564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116F7F-3928-B570-03EB-9ECB1C80C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77887-C018-4D4F-8206-166B01FB9377}" type="datetimeFigureOut">
              <a:rPr lang="en-PK" smtClean="0"/>
              <a:t>19/11/2024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60078A-8720-F9A2-4742-9EBE822A7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BAD0E-124D-2BFB-ACEA-EF6BC0319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96743-807B-47AC-B00E-860F1C20108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912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ACA36-3CBD-A1AA-D285-1115264E8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D2353-E181-1DCA-A5A4-F819173A5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0760B2-6B39-87D3-6AD9-792A367D0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8D0CC0-F32C-C059-F7B5-F4AFD726E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77887-C018-4D4F-8206-166B01FB9377}" type="datetimeFigureOut">
              <a:rPr lang="en-PK" smtClean="0"/>
              <a:t>19/11/2024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46DF2-F7E6-55C5-469C-AE601EF90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7BA17-25DA-5BFD-AD07-99EBD82D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96743-807B-47AC-B00E-860F1C20108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01842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81811-8A16-266E-7E08-F34C9E761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61F994-2FB5-A1C5-ABCA-FD2DCA639C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7120B4-AD78-94D7-9699-D7A4C8D0AD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A1A97-89F4-6517-4106-FFDD40C41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77887-C018-4D4F-8206-166B01FB9377}" type="datetimeFigureOut">
              <a:rPr lang="en-PK" smtClean="0"/>
              <a:t>19/11/2024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0C761-0C51-AF71-EF3B-8062C1D19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BF5BF-FB66-800B-1687-F52EDCA6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96743-807B-47AC-B00E-860F1C20108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11621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30172-E1F5-F20F-69C6-147DAA807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BBF5D5-4D8A-A7FD-25C3-2FB1DC7FE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0BB55-748F-F90E-E222-F3FD18917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77887-C018-4D4F-8206-166B01FB9377}" type="datetimeFigureOut">
              <a:rPr lang="en-PK" smtClean="0"/>
              <a:t>19/11/2024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49DEE-D195-FCA9-F8DF-C23856728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A5212-32FB-0DBE-755F-C4FF9D60D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96743-807B-47AC-B00E-860F1C20108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47997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053AEE-11B5-561C-9940-713D5E1674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29EDF8-A001-ABB8-96BE-3C391A2BF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AF914-A616-7120-6664-15EFF8066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77887-C018-4D4F-8206-166B01FB9377}" type="datetimeFigureOut">
              <a:rPr lang="en-PK" smtClean="0"/>
              <a:t>19/11/2024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E7CE0-3E20-D930-4E63-877D8EFF7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C0CD-8F8C-EFB0-B62A-FB3ABD42B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96743-807B-47AC-B00E-860F1C20108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36438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50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"/>
            <a:ext cx="10871200" cy="8297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12192000" cy="563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7917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348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25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309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3860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585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777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3519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6712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155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899CB2-07BE-2C53-FFEE-766BF0BAF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C80D6-DC60-939C-5E44-7A04C795A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082BD-CC65-6F9F-7DCA-9EB1C2255D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77887-C018-4D4F-8206-166B01FB9377}" type="datetimeFigureOut">
              <a:rPr lang="en-PK" smtClean="0"/>
              <a:t>19/11/2024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02FE5-9C32-ADAD-89AB-DF11CD9DC4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DA0D7-3D11-B987-EA45-2A8CE4FC5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96743-807B-47AC-B00E-860F1C20108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92001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0192B-E1F2-4D51-9245-C9CE8F612D86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769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1"/>
          <p:cNvSpPr>
            <a:spLocks noGrp="1"/>
          </p:cNvSpPr>
          <p:nvPr>
            <p:ph type="title"/>
          </p:nvPr>
        </p:nvSpPr>
        <p:spPr>
          <a:xfrm>
            <a:off x="2514600" y="1"/>
            <a:ext cx="8153400" cy="960119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rgbClr val="D20000"/>
                </a:solidFill>
              </a:rPr>
              <a:t>Polymorphism</a:t>
            </a:r>
            <a:endParaRPr lang="fr-FR" sz="4800" b="1" dirty="0">
              <a:solidFill>
                <a:srgbClr val="D20000"/>
              </a:solidFill>
            </a:endParaRPr>
          </a:p>
        </p:txBody>
      </p:sp>
      <p:sp>
        <p:nvSpPr>
          <p:cNvPr id="4099" name="Espace réservé du contenu 2"/>
          <p:cNvSpPr>
            <a:spLocks noGrp="1"/>
          </p:cNvSpPr>
          <p:nvPr>
            <p:ph idx="1"/>
          </p:nvPr>
        </p:nvSpPr>
        <p:spPr>
          <a:xfrm>
            <a:off x="1524000" y="1143000"/>
            <a:ext cx="9067800" cy="5029200"/>
          </a:xfrm>
        </p:spPr>
        <p:txBody>
          <a:bodyPr>
            <a:normAutofit fontScale="92500"/>
          </a:bodyPr>
          <a:lstStyle/>
          <a:p>
            <a:r>
              <a:rPr lang="en-US" sz="3000" dirty="0"/>
              <a:t>The </a:t>
            </a:r>
            <a:r>
              <a:rPr lang="en-US" sz="3000" b="1" dirty="0"/>
              <a:t>Greek word</a:t>
            </a:r>
            <a:r>
              <a:rPr lang="en-US" sz="3000" dirty="0"/>
              <a:t> </a:t>
            </a:r>
            <a:r>
              <a:rPr lang="en-US" sz="3000" b="1" i="1" dirty="0">
                <a:solidFill>
                  <a:srgbClr val="D20000"/>
                </a:solidFill>
              </a:rPr>
              <a:t>polymorphism</a:t>
            </a:r>
            <a:r>
              <a:rPr lang="en-US" sz="3000" dirty="0">
                <a:solidFill>
                  <a:srgbClr val="D20000"/>
                </a:solidFill>
              </a:rPr>
              <a:t> </a:t>
            </a:r>
            <a:r>
              <a:rPr lang="en-US" sz="3000" dirty="0"/>
              <a:t>means </a:t>
            </a:r>
            <a:r>
              <a:rPr lang="en-US" sz="3000" b="1" i="1" dirty="0">
                <a:solidFill>
                  <a:srgbClr val="2C14DE"/>
                </a:solidFill>
              </a:rPr>
              <a:t>one name, many forms</a:t>
            </a:r>
            <a:r>
              <a:rPr lang="en-US" sz="3000" i="1" dirty="0"/>
              <a:t>.</a:t>
            </a:r>
          </a:p>
          <a:p>
            <a:endParaRPr lang="en-US" sz="3000" i="1" dirty="0"/>
          </a:p>
          <a:p>
            <a:endParaRPr lang="en-US" sz="3000" i="1" dirty="0"/>
          </a:p>
          <a:p>
            <a:r>
              <a:rPr lang="en-US" sz="3000" b="1" dirty="0">
                <a:solidFill>
                  <a:srgbClr val="C00000"/>
                </a:solidFill>
              </a:rPr>
              <a:t>Two types of Polymorphism in C++: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600" b="1" dirty="0">
                <a:solidFill>
                  <a:srgbClr val="C00000"/>
                </a:solidFill>
              </a:rPr>
              <a:t>Static polymorphism</a:t>
            </a:r>
            <a:r>
              <a:rPr lang="en-US" sz="2600" dirty="0">
                <a:solidFill>
                  <a:srgbClr val="C00000"/>
                </a:solidFill>
              </a:rPr>
              <a:t>: </a:t>
            </a:r>
            <a:r>
              <a:rPr lang="en-US" sz="2600" dirty="0"/>
              <a:t>It can be </a:t>
            </a:r>
            <a:r>
              <a:rPr lang="en-US" sz="2600" b="1" dirty="0">
                <a:solidFill>
                  <a:srgbClr val="2C14DE"/>
                </a:solidFill>
              </a:rPr>
              <a:t>achieved</a:t>
            </a:r>
            <a:r>
              <a:rPr lang="en-US" sz="2600" dirty="0"/>
              <a:t> by </a:t>
            </a:r>
            <a:r>
              <a:rPr lang="en-US" sz="2600" b="1" dirty="0">
                <a:solidFill>
                  <a:srgbClr val="2C14DE"/>
                </a:solidFill>
              </a:rPr>
              <a:t>using </a:t>
            </a:r>
            <a:r>
              <a:rPr lang="en-US" sz="2600" b="1" u="sng" dirty="0">
                <a:solidFill>
                  <a:srgbClr val="2C14DE"/>
                </a:solidFill>
              </a:rPr>
              <a:t>overloading</a:t>
            </a:r>
            <a:r>
              <a:rPr lang="en-US" sz="2600" dirty="0"/>
              <a:t>. It is </a:t>
            </a:r>
            <a:r>
              <a:rPr lang="en-US" sz="2600" b="1" dirty="0">
                <a:solidFill>
                  <a:srgbClr val="2C14DE"/>
                </a:solidFill>
              </a:rPr>
              <a:t>defined at </a:t>
            </a:r>
            <a:r>
              <a:rPr lang="en-US" sz="2600" b="1" u="sng" dirty="0">
                <a:solidFill>
                  <a:srgbClr val="FF0000"/>
                </a:solidFill>
              </a:rPr>
              <a:t>compilation time (i.e., static binding)</a:t>
            </a:r>
            <a:r>
              <a:rPr lang="en-US" sz="2600" dirty="0"/>
              <a:t>.</a:t>
            </a:r>
          </a:p>
          <a:p>
            <a:pPr marL="971550" lvl="1" indent="-514350" algn="just">
              <a:buFont typeface="+mj-lt"/>
              <a:buAutoNum type="arabicPeriod"/>
            </a:pPr>
            <a:endParaRPr lang="en-US" sz="2600" b="1" dirty="0">
              <a:solidFill>
                <a:srgbClr val="C00000"/>
              </a:solidFill>
            </a:endParaRPr>
          </a:p>
          <a:p>
            <a:pPr marL="971550" lvl="1" indent="-514350" algn="just">
              <a:buFont typeface="+mj-lt"/>
              <a:buAutoNum type="arabicPeriod"/>
            </a:pPr>
            <a:r>
              <a:rPr lang="en-US" sz="2600" b="1" dirty="0">
                <a:solidFill>
                  <a:srgbClr val="C00000"/>
                </a:solidFill>
              </a:rPr>
              <a:t>Dynamic polymorphism: </a:t>
            </a:r>
            <a:r>
              <a:rPr lang="en-US" sz="2600" dirty="0"/>
              <a:t>It can be </a:t>
            </a:r>
            <a:r>
              <a:rPr lang="en-US" sz="2600" b="1" dirty="0">
                <a:solidFill>
                  <a:srgbClr val="2C14DE"/>
                </a:solidFill>
              </a:rPr>
              <a:t>implemented</a:t>
            </a:r>
            <a:r>
              <a:rPr lang="en-US" sz="2600" dirty="0">
                <a:solidFill>
                  <a:srgbClr val="2C14DE"/>
                </a:solidFill>
              </a:rPr>
              <a:t> </a:t>
            </a:r>
            <a:r>
              <a:rPr lang="en-US" sz="2600" dirty="0"/>
              <a:t>by </a:t>
            </a:r>
            <a:r>
              <a:rPr lang="en-US" sz="2600" b="1" u="sng" dirty="0">
                <a:solidFill>
                  <a:srgbClr val="2C14DE"/>
                </a:solidFill>
              </a:rPr>
              <a:t>using inheritance </a:t>
            </a:r>
            <a:r>
              <a:rPr lang="en-US" sz="2600" u="sng" dirty="0"/>
              <a:t>and</a:t>
            </a:r>
            <a:r>
              <a:rPr lang="en-US" sz="2600" b="1" u="sng" dirty="0">
                <a:solidFill>
                  <a:srgbClr val="2C14DE"/>
                </a:solidFill>
              </a:rPr>
              <a:t> implemented </a:t>
            </a:r>
            <a:r>
              <a:rPr lang="en-US" sz="2600" b="1" u="sng" dirty="0">
                <a:solidFill>
                  <a:srgbClr val="FF0000"/>
                </a:solidFill>
              </a:rPr>
              <a:t>at runtime (i.e., Dynamic Binding) </a:t>
            </a:r>
            <a:r>
              <a:rPr lang="en-US" sz="2600" dirty="0"/>
              <a:t>. </a:t>
            </a:r>
            <a:endParaRPr lang="fr-FR" sz="2600" dirty="0"/>
          </a:p>
          <a:p>
            <a:endParaRPr lang="fr-FR" sz="2400" dirty="0"/>
          </a:p>
        </p:txBody>
      </p:sp>
      <p:sp>
        <p:nvSpPr>
          <p:cNvPr id="4" name="Rectangle 3"/>
          <p:cNvSpPr/>
          <p:nvPr/>
        </p:nvSpPr>
        <p:spPr>
          <a:xfrm>
            <a:off x="1578666" y="9144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1267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1"/>
          <p:cNvSpPr>
            <a:spLocks noGrp="1"/>
          </p:cNvSpPr>
          <p:nvPr>
            <p:ph type="title"/>
          </p:nvPr>
        </p:nvSpPr>
        <p:spPr>
          <a:xfrm>
            <a:off x="2514600" y="1"/>
            <a:ext cx="8153400" cy="96011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D20000"/>
                </a:solidFill>
              </a:rPr>
              <a:t>Polymorphism</a:t>
            </a:r>
            <a:endParaRPr lang="fr-FR" sz="4000" b="1" dirty="0">
              <a:solidFill>
                <a:srgbClr val="D2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78666" y="9144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026" name="Picture 2" descr="https://media.geeksforgeeks.org/wp-content/uploads/20190705113259/Polymorphism-1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6" t="11223" r="9340" b="15030"/>
          <a:stretch/>
        </p:blipFill>
        <p:spPr bwMode="auto">
          <a:xfrm>
            <a:off x="1905001" y="1849119"/>
            <a:ext cx="8198127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282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7238"/>
            <a:ext cx="7467600" cy="897048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sz="2800" b="1" dirty="0">
                <a:solidFill>
                  <a:srgbClr val="D20000"/>
                </a:solidFill>
              </a:rPr>
              <a:t>Graphics Drawing Software, </a:t>
            </a:r>
            <a:r>
              <a:rPr lang="en-US" sz="2800" b="1" i="1" dirty="0">
                <a:solidFill>
                  <a:srgbClr val="D20000"/>
                </a:solidFill>
              </a:rPr>
              <a:t>name these items</a:t>
            </a:r>
            <a:r>
              <a:rPr lang="en-US" sz="2800" b="1" dirty="0">
                <a:solidFill>
                  <a:srgbClr val="D20000"/>
                </a:solidFill>
              </a:rPr>
              <a:t>?</a:t>
            </a:r>
          </a:p>
        </p:txBody>
      </p:sp>
      <p:sp>
        <p:nvSpPr>
          <p:cNvPr id="5123" name="Rectangle 4"/>
          <p:cNvSpPr>
            <a:spLocks noChangeArrowheads="1"/>
          </p:cNvSpPr>
          <p:nvPr/>
        </p:nvSpPr>
        <p:spPr bwMode="auto">
          <a:xfrm>
            <a:off x="1959666" y="1122199"/>
            <a:ext cx="8305800" cy="51816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24" name="Rectangle 5"/>
          <p:cNvSpPr>
            <a:spLocks noChangeArrowheads="1"/>
          </p:cNvSpPr>
          <p:nvPr/>
        </p:nvSpPr>
        <p:spPr bwMode="auto">
          <a:xfrm>
            <a:off x="2286000" y="148590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25" name="Oval 6"/>
          <p:cNvSpPr>
            <a:spLocks noChangeArrowheads="1"/>
          </p:cNvSpPr>
          <p:nvPr/>
        </p:nvSpPr>
        <p:spPr bwMode="auto">
          <a:xfrm>
            <a:off x="2639068" y="2835728"/>
            <a:ext cx="838200" cy="838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26" name="Rectangle 7"/>
          <p:cNvSpPr>
            <a:spLocks noChangeArrowheads="1"/>
          </p:cNvSpPr>
          <p:nvPr/>
        </p:nvSpPr>
        <p:spPr bwMode="auto">
          <a:xfrm>
            <a:off x="6085233" y="3914895"/>
            <a:ext cx="12192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27" name="Line 9"/>
          <p:cNvSpPr>
            <a:spLocks noChangeShapeType="1"/>
          </p:cNvSpPr>
          <p:nvPr/>
        </p:nvSpPr>
        <p:spPr bwMode="auto">
          <a:xfrm flipV="1">
            <a:off x="2197113" y="4707469"/>
            <a:ext cx="2504824" cy="1173969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28" name="Line 10"/>
          <p:cNvSpPr>
            <a:spLocks noChangeShapeType="1"/>
          </p:cNvSpPr>
          <p:nvPr/>
        </p:nvSpPr>
        <p:spPr bwMode="auto">
          <a:xfrm>
            <a:off x="7320822" y="1485901"/>
            <a:ext cx="1152776" cy="124756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29" name="Line 11"/>
          <p:cNvSpPr>
            <a:spLocks noChangeShapeType="1"/>
          </p:cNvSpPr>
          <p:nvPr/>
        </p:nvSpPr>
        <p:spPr bwMode="auto">
          <a:xfrm flipH="1" flipV="1">
            <a:off x="6666191" y="5477479"/>
            <a:ext cx="1305176" cy="509059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30" name="AutoShape 12"/>
          <p:cNvSpPr>
            <a:spLocks noChangeArrowheads="1"/>
          </p:cNvSpPr>
          <p:nvPr/>
        </p:nvSpPr>
        <p:spPr bwMode="auto">
          <a:xfrm>
            <a:off x="3987162" y="1361867"/>
            <a:ext cx="838200" cy="9144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31" name="AutoShape 13"/>
          <p:cNvSpPr>
            <a:spLocks noChangeArrowheads="1"/>
          </p:cNvSpPr>
          <p:nvPr/>
        </p:nvSpPr>
        <p:spPr bwMode="auto">
          <a:xfrm>
            <a:off x="7897210" y="3097168"/>
            <a:ext cx="838200" cy="9144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32" name="AutoShape 14"/>
          <p:cNvSpPr>
            <a:spLocks noChangeArrowheads="1"/>
          </p:cNvSpPr>
          <p:nvPr/>
        </p:nvSpPr>
        <p:spPr bwMode="auto">
          <a:xfrm>
            <a:off x="2357702" y="4169228"/>
            <a:ext cx="838200" cy="9144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33" name="AutoShape 15"/>
          <p:cNvSpPr>
            <a:spLocks noChangeArrowheads="1"/>
          </p:cNvSpPr>
          <p:nvPr/>
        </p:nvSpPr>
        <p:spPr bwMode="auto">
          <a:xfrm>
            <a:off x="9123859" y="1424053"/>
            <a:ext cx="685800" cy="1371600"/>
          </a:xfrm>
          <a:prstGeom prst="can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34" name="AutoShape 16"/>
          <p:cNvSpPr>
            <a:spLocks noChangeArrowheads="1"/>
          </p:cNvSpPr>
          <p:nvPr/>
        </p:nvSpPr>
        <p:spPr bwMode="auto">
          <a:xfrm>
            <a:off x="4408465" y="2995330"/>
            <a:ext cx="685800" cy="1371600"/>
          </a:xfrm>
          <a:prstGeom prst="can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35" name="AutoShape 17"/>
          <p:cNvSpPr>
            <a:spLocks noChangeArrowheads="1"/>
          </p:cNvSpPr>
          <p:nvPr/>
        </p:nvSpPr>
        <p:spPr bwMode="auto">
          <a:xfrm>
            <a:off x="4825362" y="4737583"/>
            <a:ext cx="685800" cy="1371600"/>
          </a:xfrm>
          <a:prstGeom prst="can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36" name="Oval 19"/>
          <p:cNvSpPr>
            <a:spLocks noChangeArrowheads="1"/>
          </p:cNvSpPr>
          <p:nvPr/>
        </p:nvSpPr>
        <p:spPr bwMode="auto">
          <a:xfrm>
            <a:off x="5613081" y="1570869"/>
            <a:ext cx="1219200" cy="1219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37" name="Oval 20"/>
          <p:cNvSpPr>
            <a:spLocks noChangeArrowheads="1"/>
          </p:cNvSpPr>
          <p:nvPr/>
        </p:nvSpPr>
        <p:spPr bwMode="auto">
          <a:xfrm>
            <a:off x="8638301" y="4512816"/>
            <a:ext cx="1219200" cy="1219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578666" y="9144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 bwMode="auto">
          <a:xfrm>
            <a:off x="8710257" y="-35372"/>
            <a:ext cx="1777362" cy="897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</a:defRPr>
            </a:lvl9pPr>
          </a:lstStyle>
          <a:p>
            <a:pPr algn="ctr"/>
            <a:r>
              <a:rPr lang="en-US" kern="0" dirty="0">
                <a:solidFill>
                  <a:srgbClr val="2F1BC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shapes</a:t>
            </a:r>
          </a:p>
        </p:txBody>
      </p:sp>
    </p:spTree>
    <p:extLst>
      <p:ext uri="{BB962C8B-B14F-4D97-AF65-F5344CB8AC3E}">
        <p14:creationId xmlns:p14="http://schemas.microsoft.com/office/powerpoint/2010/main" val="1674827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0"/>
            <a:ext cx="8153400" cy="91440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D20000"/>
                </a:solidFill>
              </a:rPr>
              <a:t>Graphics Drawing Software Classes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47494" y="1066801"/>
            <a:ext cx="8930144" cy="5481961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</a:t>
            </a:r>
          </a:p>
          <a:p>
            <a:pPr lvl="1">
              <a:lnSpc>
                <a:spcPct val="80000"/>
              </a:lnSpc>
              <a:defRPr/>
            </a:pPr>
            <a:r>
              <a:rPr lang="en-US" sz="1800" b="1" dirty="0">
                <a:solidFill>
                  <a:srgbClr val="2C14DE"/>
                </a:solidFill>
              </a:rPr>
              <a:t>Properties</a:t>
            </a:r>
            <a:r>
              <a:rPr lang="en-US" sz="1800" dirty="0">
                <a:solidFill>
                  <a:srgbClr val="2C14DE"/>
                </a:solidFill>
              </a:rPr>
              <a:t>:-</a:t>
            </a:r>
            <a:r>
              <a:rPr lang="en-US" sz="1800" dirty="0"/>
              <a:t>	</a:t>
            </a:r>
            <a:r>
              <a:rPr lang="en-US" sz="1800" b="1" dirty="0"/>
              <a:t>X-Y Coordinates, Length, Color</a:t>
            </a:r>
          </a:p>
          <a:p>
            <a:pPr lvl="1">
              <a:lnSpc>
                <a:spcPct val="80000"/>
              </a:lnSpc>
              <a:defRPr/>
            </a:pPr>
            <a:r>
              <a:rPr lang="en-US" sz="1800" b="1" dirty="0">
                <a:solidFill>
                  <a:srgbClr val="2C14DE"/>
                </a:solidFill>
              </a:rPr>
              <a:t>Actions</a:t>
            </a:r>
            <a:r>
              <a:rPr lang="en-US" sz="1800" dirty="0">
                <a:solidFill>
                  <a:srgbClr val="2C14DE"/>
                </a:solidFill>
              </a:rPr>
              <a:t>:-	</a:t>
            </a:r>
            <a:r>
              <a:rPr lang="en-US" sz="1800" dirty="0"/>
              <a:t>	Draw Function, Change Color Function, 					Get Area Function. </a:t>
            </a:r>
          </a:p>
          <a:p>
            <a:pPr>
              <a:lnSpc>
                <a:spcPct val="80000"/>
              </a:lnSpc>
              <a:defRPr/>
            </a:pP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Circle</a:t>
            </a:r>
          </a:p>
          <a:p>
            <a:pPr lvl="1">
              <a:lnSpc>
                <a:spcPct val="80000"/>
              </a:lnSpc>
              <a:defRPr/>
            </a:pPr>
            <a:r>
              <a:rPr lang="en-US" sz="1800" b="1" dirty="0">
                <a:solidFill>
                  <a:srgbClr val="2C14DE"/>
                </a:solidFill>
              </a:rPr>
              <a:t>Properties:-</a:t>
            </a:r>
            <a:r>
              <a:rPr lang="en-US" sz="1800" dirty="0"/>
              <a:t>	</a:t>
            </a:r>
            <a:r>
              <a:rPr lang="en-US" sz="1800" b="1" dirty="0"/>
              <a:t>X-Y Coordinates, Radius, Color</a:t>
            </a:r>
          </a:p>
          <a:p>
            <a:pPr lvl="1">
              <a:lnSpc>
                <a:spcPct val="80000"/>
              </a:lnSpc>
              <a:defRPr/>
            </a:pPr>
            <a:r>
              <a:rPr lang="en-US" sz="1800" b="1" dirty="0">
                <a:solidFill>
                  <a:srgbClr val="2C14DE"/>
                </a:solidFill>
              </a:rPr>
              <a:t>Actions:-</a:t>
            </a:r>
            <a:r>
              <a:rPr lang="en-US" sz="1800" dirty="0"/>
              <a:t>		Draw Function, Change Color Function, 					Get Area Function.</a:t>
            </a:r>
          </a:p>
          <a:p>
            <a:pPr>
              <a:lnSpc>
                <a:spcPct val="80000"/>
              </a:lnSpc>
              <a:defRPr/>
            </a:pP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Rectangle</a:t>
            </a:r>
          </a:p>
          <a:p>
            <a:pPr lvl="1">
              <a:lnSpc>
                <a:spcPct val="80000"/>
              </a:lnSpc>
              <a:defRPr/>
            </a:pPr>
            <a:r>
              <a:rPr lang="en-US" sz="1800" b="1" dirty="0">
                <a:solidFill>
                  <a:srgbClr val="2C14DE"/>
                </a:solidFill>
              </a:rPr>
              <a:t>Properties</a:t>
            </a:r>
            <a:r>
              <a:rPr lang="en-US" sz="1800" dirty="0"/>
              <a:t>:-	</a:t>
            </a:r>
            <a:r>
              <a:rPr lang="en-US" sz="1800" b="1" dirty="0"/>
              <a:t>X-Y Coordinates, Width, Height, Color</a:t>
            </a:r>
          </a:p>
          <a:p>
            <a:pPr lvl="1">
              <a:lnSpc>
                <a:spcPct val="80000"/>
              </a:lnSpc>
              <a:defRPr/>
            </a:pPr>
            <a:r>
              <a:rPr lang="en-US" sz="1800" b="1" dirty="0">
                <a:solidFill>
                  <a:srgbClr val="2C14DE"/>
                </a:solidFill>
              </a:rPr>
              <a:t>Actions</a:t>
            </a:r>
            <a:r>
              <a:rPr lang="en-US" sz="1800" dirty="0"/>
              <a:t>:-		Draw Function, Change Color Function, 					Get Area Function. </a:t>
            </a:r>
          </a:p>
          <a:p>
            <a:pPr>
              <a:lnSpc>
                <a:spcPct val="80000"/>
              </a:lnSpc>
              <a:defRPr/>
            </a:pP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Cylinder</a:t>
            </a:r>
          </a:p>
          <a:p>
            <a:pPr lvl="1">
              <a:lnSpc>
                <a:spcPct val="80000"/>
              </a:lnSpc>
              <a:defRPr/>
            </a:pPr>
            <a:r>
              <a:rPr lang="en-US" sz="1800" b="1" dirty="0">
                <a:solidFill>
                  <a:srgbClr val="2C14DE"/>
                </a:solidFill>
              </a:rPr>
              <a:t>Properties</a:t>
            </a:r>
            <a:r>
              <a:rPr lang="en-US" sz="1800" dirty="0"/>
              <a:t>:-	</a:t>
            </a:r>
            <a:r>
              <a:rPr lang="en-US" sz="1800" b="1" dirty="0"/>
              <a:t>X-Y Coordinates, Radius, Height, Color</a:t>
            </a:r>
          </a:p>
          <a:p>
            <a:pPr lvl="1">
              <a:lnSpc>
                <a:spcPct val="80000"/>
              </a:lnSpc>
              <a:defRPr/>
            </a:pPr>
            <a:r>
              <a:rPr lang="en-US" sz="1800" b="1" dirty="0">
                <a:solidFill>
                  <a:srgbClr val="2C14DE"/>
                </a:solidFill>
              </a:rPr>
              <a:t>Actions</a:t>
            </a:r>
            <a:r>
              <a:rPr lang="en-US" sz="1800" dirty="0"/>
              <a:t>:-		Draw Function, Change Color Function, 					Get Area Function. </a:t>
            </a:r>
          </a:p>
          <a:p>
            <a:pPr>
              <a:lnSpc>
                <a:spcPct val="80000"/>
              </a:lnSpc>
              <a:defRPr/>
            </a:pP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Triangle</a:t>
            </a:r>
          </a:p>
          <a:p>
            <a:pPr lvl="1">
              <a:lnSpc>
                <a:spcPct val="80000"/>
              </a:lnSpc>
              <a:defRPr/>
            </a:pPr>
            <a:r>
              <a:rPr lang="en-US" sz="1800" b="1" dirty="0">
                <a:solidFill>
                  <a:srgbClr val="2C14DE"/>
                </a:solidFill>
              </a:rPr>
              <a:t>Properties</a:t>
            </a:r>
            <a:r>
              <a:rPr lang="en-US" sz="1800" dirty="0"/>
              <a:t>:-	</a:t>
            </a:r>
            <a:r>
              <a:rPr lang="en-US" sz="1800" b="1" dirty="0"/>
              <a:t>X-Y Coordinates, Length, Width, Color</a:t>
            </a:r>
          </a:p>
          <a:p>
            <a:pPr lvl="1">
              <a:lnSpc>
                <a:spcPct val="80000"/>
              </a:lnSpc>
              <a:defRPr/>
            </a:pPr>
            <a:r>
              <a:rPr lang="en-US" sz="1800" b="1" dirty="0">
                <a:solidFill>
                  <a:srgbClr val="2C14DE"/>
                </a:solidFill>
              </a:rPr>
              <a:t>Actions</a:t>
            </a:r>
            <a:r>
              <a:rPr lang="en-US" sz="1800" dirty="0"/>
              <a:t>:-		Draw Function, Change Color Function, 					Get Area Function. </a:t>
            </a:r>
          </a:p>
        </p:txBody>
      </p:sp>
      <p:sp>
        <p:nvSpPr>
          <p:cNvPr id="4" name="Rectangle 3"/>
          <p:cNvSpPr/>
          <p:nvPr/>
        </p:nvSpPr>
        <p:spPr>
          <a:xfrm>
            <a:off x="1578666" y="9144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9151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76200"/>
            <a:ext cx="8458200" cy="6705600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class Line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nsolas" panose="020B0609020204030204" pitchFamily="49" charset="0"/>
              </a:rPr>
              <a:t>	protected: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nsolas" panose="020B0609020204030204" pitchFamily="49" charset="0"/>
              </a:rPr>
              <a:t>			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latin typeface="Consolas" panose="020B0609020204030204" pitchFamily="49" charset="0"/>
              </a:rPr>
              <a:t>x,y</a:t>
            </a:r>
            <a:r>
              <a:rPr lang="en-US" sz="1800" b="1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nsolas" panose="020B0609020204030204" pitchFamily="49" charset="0"/>
              </a:rPr>
              <a:t>	public: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nsolas" panose="020B0609020204030204" pitchFamily="49" charset="0"/>
              </a:rPr>
              <a:t>			Line(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</a:rPr>
              <a:t> ,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</a:rPr>
              <a:t> 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nsolas" panose="020B0609020204030204" pitchFamily="49" charset="0"/>
              </a:rPr>
              <a:t>	 		void draw();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nsolas" panose="020B0609020204030204" pitchFamily="49" charset="0"/>
              </a:rPr>
              <a:t>      		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latin typeface="Consolas" panose="020B0609020204030204" pitchFamily="49" charset="0"/>
              </a:rPr>
              <a:t>GetArea</a:t>
            </a:r>
            <a:r>
              <a:rPr lang="en-US" sz="1800" b="1" dirty="0">
                <a:latin typeface="Consolas" panose="020B0609020204030204" pitchFamily="49" charset="0"/>
              </a:rPr>
              <a:t> (void);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nsolas" panose="020B0609020204030204" pitchFamily="49" charset="0"/>
              </a:rPr>
              <a:t>Line::Line(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latin typeface="Consolas" panose="020B0609020204030204" pitchFamily="49" charset="0"/>
              </a:rPr>
              <a:t>a,int</a:t>
            </a:r>
            <a:r>
              <a:rPr lang="en-US" sz="1800" b="1" dirty="0">
                <a:latin typeface="Consolas" panose="020B0609020204030204" pitchFamily="49" charset="0"/>
              </a:rPr>
              <a:t> b) </a:t>
            </a:r>
            <a:r>
              <a:rPr lang="en-US" sz="1800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		x=a;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		y=b;	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nsolas" panose="020B0609020204030204" pitchFamily="49" charset="0"/>
              </a:rPr>
              <a:t>void Line::draw( ) </a:t>
            </a:r>
            <a:r>
              <a:rPr lang="en-US" sz="1800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	 	</a:t>
            </a:r>
            <a:r>
              <a:rPr lang="en-US" sz="1800" dirty="0" err="1">
                <a:latin typeface="Consolas" panose="020B0609020204030204" pitchFamily="49" charset="0"/>
              </a:rPr>
              <a:t>cout</a:t>
            </a:r>
            <a:r>
              <a:rPr lang="en-US" sz="1800" dirty="0">
                <a:latin typeface="Consolas" panose="020B0609020204030204" pitchFamily="49" charset="0"/>
              </a:rPr>
              <a:t> &lt;&lt; </a:t>
            </a:r>
            <a:r>
              <a:rPr lang="en-US" altLang="fr-FR" sz="1800" dirty="0">
                <a:latin typeface="Consolas" panose="020B0609020204030204" pitchFamily="49" charset="0"/>
              </a:rPr>
              <a:t>“</a:t>
            </a:r>
            <a:r>
              <a:rPr lang="en-US" sz="1800" dirty="0">
                <a:latin typeface="Consolas" panose="020B0609020204030204" pitchFamily="49" charset="0"/>
              </a:rPr>
              <a:t>\n Line Drawing code</a:t>
            </a:r>
            <a:r>
              <a:rPr lang="en-US" altLang="fr-FR" sz="1800" dirty="0">
                <a:latin typeface="Consolas" panose="020B0609020204030204" pitchFamily="49" charset="0"/>
              </a:rPr>
              <a:t>”</a:t>
            </a:r>
            <a:r>
              <a:rPr lang="en-US" sz="1800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</a:rPr>
              <a:t> Line::</a:t>
            </a:r>
            <a:r>
              <a:rPr lang="en-US" sz="1800" b="1" dirty="0" err="1">
                <a:latin typeface="Consolas" panose="020B0609020204030204" pitchFamily="49" charset="0"/>
              </a:rPr>
              <a:t>GetArea</a:t>
            </a:r>
            <a:r>
              <a:rPr lang="en-US" sz="1800" b="1" dirty="0">
                <a:latin typeface="Consolas" panose="020B0609020204030204" pitchFamily="49" charset="0"/>
              </a:rPr>
              <a:t> ( ) </a:t>
            </a:r>
            <a:r>
              <a:rPr lang="en-US" sz="1800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		</a:t>
            </a:r>
            <a:r>
              <a:rPr lang="en-US" sz="1800" dirty="0" err="1">
                <a:latin typeface="Consolas" panose="020B0609020204030204" pitchFamily="49" charset="0"/>
              </a:rPr>
              <a:t>cout</a:t>
            </a:r>
            <a:r>
              <a:rPr lang="en-US" sz="1800" dirty="0">
                <a:latin typeface="Consolas" panose="020B0609020204030204" pitchFamily="49" charset="0"/>
              </a:rPr>
              <a:t> &lt;&lt; </a:t>
            </a:r>
            <a:r>
              <a:rPr lang="en-US" altLang="fr-FR" sz="1800" dirty="0">
                <a:latin typeface="Consolas" panose="020B0609020204030204" pitchFamily="49" charset="0"/>
              </a:rPr>
              <a:t>“</a:t>
            </a:r>
            <a:r>
              <a:rPr lang="en-US" sz="1800" dirty="0">
                <a:latin typeface="Consolas" panose="020B0609020204030204" pitchFamily="49" charset="0"/>
              </a:rPr>
              <a:t>\</a:t>
            </a:r>
            <a:r>
              <a:rPr lang="en-US" sz="1800" dirty="0" err="1">
                <a:latin typeface="Consolas" panose="020B0609020204030204" pitchFamily="49" charset="0"/>
              </a:rPr>
              <a:t>nLine</a:t>
            </a:r>
            <a:r>
              <a:rPr lang="en-US" sz="1800" dirty="0">
                <a:latin typeface="Consolas" panose="020B0609020204030204" pitchFamily="49" charset="0"/>
              </a:rPr>
              <a:t> Area </a:t>
            </a:r>
            <a:r>
              <a:rPr lang="en-US" altLang="fr-FR" sz="1800" dirty="0">
                <a:latin typeface="Consolas" panose="020B0609020204030204" pitchFamily="49" charset="0"/>
              </a:rPr>
              <a:t>“</a:t>
            </a:r>
            <a:r>
              <a:rPr lang="en-US" sz="1800" dirty="0">
                <a:latin typeface="Consolas" panose="020B0609020204030204" pitchFamily="49" charset="0"/>
              </a:rPr>
              <a:t>; return 0;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95505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152400"/>
            <a:ext cx="8915400" cy="65532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solidFill>
                  <a:srgbClr val="D20000"/>
                </a:solidFill>
                <a:latin typeface="Consolas" panose="020B0609020204030204" pitchFamily="49" charset="0"/>
              </a:rPr>
              <a:t>class Circle: public Line </a:t>
            </a:r>
            <a:r>
              <a:rPr lang="en-US" sz="1800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  protected: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		</a:t>
            </a:r>
            <a:r>
              <a:rPr lang="en-US" sz="1800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radius;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  public: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		Circle(</a:t>
            </a:r>
            <a:r>
              <a:rPr lang="en-US" sz="1800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,</a:t>
            </a:r>
            <a:r>
              <a:rPr lang="en-US" sz="1800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, </a:t>
            </a:r>
            <a:r>
              <a:rPr lang="en-US" sz="1800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		void draw( 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     	</a:t>
            </a:r>
            <a:r>
              <a:rPr lang="en-US" sz="1800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GetArea</a:t>
            </a:r>
            <a:r>
              <a:rPr lang="en-US" sz="1800" dirty="0">
                <a:latin typeface="Consolas" panose="020B0609020204030204" pitchFamily="49" charset="0"/>
              </a:rPr>
              <a:t> ( 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nsolas" panose="020B0609020204030204" pitchFamily="49" charset="0"/>
              </a:rPr>
              <a:t>Circle::Circle(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</a:rPr>
              <a:t> a, 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</a:rPr>
              <a:t> b, 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</a:rPr>
              <a:t> c)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: Line (a, b) </a:t>
            </a:r>
            <a:r>
              <a:rPr lang="en-US" sz="1800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		radius = c;	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nsolas" panose="020B0609020204030204" pitchFamily="49" charset="0"/>
              </a:rPr>
              <a:t>void Circle::draw( ) </a:t>
            </a:r>
            <a:r>
              <a:rPr lang="en-US" sz="1800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	 	</a:t>
            </a:r>
            <a:r>
              <a:rPr lang="en-US" sz="1800" dirty="0" err="1">
                <a:latin typeface="Consolas" panose="020B0609020204030204" pitchFamily="49" charset="0"/>
              </a:rPr>
              <a:t>cout</a:t>
            </a:r>
            <a:r>
              <a:rPr lang="en-US" sz="1800" dirty="0">
                <a:latin typeface="Consolas" panose="020B0609020204030204" pitchFamily="49" charset="0"/>
              </a:rPr>
              <a:t> &lt;&lt; </a:t>
            </a:r>
            <a:r>
              <a:rPr lang="en-US" altLang="fr-FR" sz="1800" dirty="0">
                <a:latin typeface="Consolas" panose="020B0609020204030204" pitchFamily="49" charset="0"/>
              </a:rPr>
              <a:t>“</a:t>
            </a:r>
            <a:r>
              <a:rPr lang="en-US" sz="1800" dirty="0">
                <a:latin typeface="Consolas" panose="020B0609020204030204" pitchFamily="49" charset="0"/>
              </a:rPr>
              <a:t>Circle drawing code</a:t>
            </a:r>
            <a:r>
              <a:rPr lang="en-US" altLang="fr-FR" sz="1800" dirty="0">
                <a:latin typeface="Consolas" panose="020B0609020204030204" pitchFamily="49" charset="0"/>
              </a:rPr>
              <a:t>”</a:t>
            </a:r>
            <a:r>
              <a:rPr lang="en-US" sz="1800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</a:rPr>
              <a:t> Circle::</a:t>
            </a:r>
            <a:r>
              <a:rPr lang="en-US" sz="1800" b="1" dirty="0" err="1">
                <a:latin typeface="Consolas" panose="020B0609020204030204" pitchFamily="49" charset="0"/>
              </a:rPr>
              <a:t>GetArea</a:t>
            </a:r>
            <a:r>
              <a:rPr lang="en-US" sz="1800" b="1" dirty="0">
                <a:latin typeface="Consolas" panose="020B0609020204030204" pitchFamily="49" charset="0"/>
              </a:rPr>
              <a:t> ( ) </a:t>
            </a:r>
            <a:r>
              <a:rPr lang="en-US" sz="1800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		</a:t>
            </a:r>
            <a:r>
              <a:rPr lang="en-US" sz="1800" dirty="0" err="1">
                <a:latin typeface="Consolas" panose="020B0609020204030204" pitchFamily="49" charset="0"/>
              </a:rPr>
              <a:t>cout</a:t>
            </a:r>
            <a:r>
              <a:rPr lang="en-US" sz="1800" dirty="0">
                <a:latin typeface="Consolas" panose="020B0609020204030204" pitchFamily="49" charset="0"/>
              </a:rPr>
              <a:t> &lt;&lt; </a:t>
            </a:r>
            <a:r>
              <a:rPr lang="en-US" altLang="fr-FR" sz="1800" dirty="0">
                <a:latin typeface="Consolas" panose="020B0609020204030204" pitchFamily="49" charset="0"/>
              </a:rPr>
              <a:t>“</a:t>
            </a:r>
            <a:r>
              <a:rPr lang="en-US" sz="1800" dirty="0">
                <a:latin typeface="Consolas" panose="020B0609020204030204" pitchFamily="49" charset="0"/>
              </a:rPr>
              <a:t>Circle area code</a:t>
            </a:r>
            <a:r>
              <a:rPr lang="en-US" altLang="fr-FR" sz="1800" dirty="0">
                <a:latin typeface="Consolas" panose="020B0609020204030204" pitchFamily="49" charset="0"/>
              </a:rPr>
              <a:t>”</a:t>
            </a:r>
            <a:r>
              <a:rPr lang="en-US" sz="1800" dirty="0">
                <a:latin typeface="Consolas" panose="020B0609020204030204" pitchFamily="49" charset="0"/>
              </a:rPr>
              <a:t>; return 0;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06577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24000" y="0"/>
            <a:ext cx="9144000" cy="6858000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class Rectangle: public Line </a:t>
            </a:r>
            <a:r>
              <a:rPr lang="en-US" sz="1800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  protected: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		</a:t>
            </a:r>
            <a:r>
              <a:rPr lang="en-US" sz="1800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Width, Height;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  public: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		Rectangle(</a:t>
            </a:r>
            <a:r>
              <a:rPr lang="en-US" sz="1800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, </a:t>
            </a:r>
            <a:r>
              <a:rPr lang="en-US" sz="1800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, </a:t>
            </a:r>
            <a:r>
              <a:rPr lang="en-US" sz="1800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, </a:t>
            </a:r>
            <a:r>
              <a:rPr lang="en-US" sz="1800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		void draw(void);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     	</a:t>
            </a:r>
            <a:r>
              <a:rPr lang="en-US" sz="1800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GetArea</a:t>
            </a:r>
            <a:r>
              <a:rPr lang="en-US" sz="1800" dirty="0">
                <a:latin typeface="Consolas" panose="020B0609020204030204" pitchFamily="49" charset="0"/>
              </a:rPr>
              <a:t> (void);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nsolas" panose="020B0609020204030204" pitchFamily="49" charset="0"/>
              </a:rPr>
              <a:t>Rectangle::Rectangle(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</a:rPr>
              <a:t> a, 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</a:rPr>
              <a:t> b, 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</a:rPr>
              <a:t> c, 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</a:rPr>
              <a:t> d)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: Line (a, b ) </a:t>
            </a:r>
            <a:r>
              <a:rPr lang="en-US" sz="1800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		Width = c;	 Height = d;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nsolas" panose="020B0609020204030204" pitchFamily="49" charset="0"/>
              </a:rPr>
              <a:t>void Rectangle::draw() </a:t>
            </a:r>
            <a:r>
              <a:rPr lang="en-US" sz="1800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		 </a:t>
            </a:r>
            <a:r>
              <a:rPr lang="en-US" sz="1800" dirty="0" err="1">
                <a:latin typeface="Consolas" panose="020B0609020204030204" pitchFamily="49" charset="0"/>
              </a:rPr>
              <a:t>cout</a:t>
            </a:r>
            <a:r>
              <a:rPr lang="en-US" sz="1800" dirty="0">
                <a:latin typeface="Consolas" panose="020B0609020204030204" pitchFamily="49" charset="0"/>
              </a:rPr>
              <a:t> &lt;&lt; </a:t>
            </a:r>
            <a:r>
              <a:rPr lang="en-US" altLang="fr-FR" sz="1800" dirty="0">
                <a:latin typeface="Consolas" panose="020B0609020204030204" pitchFamily="49" charset="0"/>
              </a:rPr>
              <a:t>“</a:t>
            </a:r>
            <a:r>
              <a:rPr lang="en-US" sz="1800" dirty="0">
                <a:latin typeface="Consolas" panose="020B0609020204030204" pitchFamily="49" charset="0"/>
              </a:rPr>
              <a:t>Rectangle drawing code</a:t>
            </a:r>
            <a:r>
              <a:rPr lang="en-US" altLang="fr-FR" sz="1800" dirty="0">
                <a:latin typeface="Consolas" panose="020B0609020204030204" pitchFamily="49" charset="0"/>
              </a:rPr>
              <a:t>”</a:t>
            </a:r>
            <a:r>
              <a:rPr lang="en-US" sz="1800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</a:rPr>
              <a:t> Rectangle::</a:t>
            </a:r>
            <a:r>
              <a:rPr lang="en-US" sz="1800" b="1" dirty="0" err="1">
                <a:latin typeface="Consolas" panose="020B0609020204030204" pitchFamily="49" charset="0"/>
              </a:rPr>
              <a:t>GetArea</a:t>
            </a:r>
            <a:r>
              <a:rPr lang="en-US" sz="1800" b="1" dirty="0">
                <a:latin typeface="Consolas" panose="020B0609020204030204" pitchFamily="49" charset="0"/>
              </a:rPr>
              <a:t> () </a:t>
            </a:r>
            <a:r>
              <a:rPr lang="en-US" sz="1800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		</a:t>
            </a:r>
            <a:r>
              <a:rPr lang="en-US" sz="1800" dirty="0" err="1">
                <a:latin typeface="Consolas" panose="020B0609020204030204" pitchFamily="49" charset="0"/>
              </a:rPr>
              <a:t>cout</a:t>
            </a:r>
            <a:r>
              <a:rPr lang="en-US" sz="1800" dirty="0">
                <a:latin typeface="Consolas" panose="020B0609020204030204" pitchFamily="49" charset="0"/>
              </a:rPr>
              <a:t> &lt;&lt; </a:t>
            </a:r>
            <a:r>
              <a:rPr lang="en-US" altLang="fr-FR" sz="1800" dirty="0">
                <a:latin typeface="Consolas" panose="020B0609020204030204" pitchFamily="49" charset="0"/>
              </a:rPr>
              <a:t>“</a:t>
            </a:r>
            <a:r>
              <a:rPr lang="en-US" sz="1800" dirty="0">
                <a:latin typeface="Consolas" panose="020B0609020204030204" pitchFamily="49" charset="0"/>
              </a:rPr>
              <a:t>Rectangle area code</a:t>
            </a:r>
            <a:r>
              <a:rPr lang="en-US" altLang="fr-FR" sz="1800" dirty="0">
                <a:latin typeface="Consolas" panose="020B0609020204030204" pitchFamily="49" charset="0"/>
              </a:rPr>
              <a:t>”</a:t>
            </a:r>
            <a:r>
              <a:rPr lang="en-US" sz="1800" dirty="0">
                <a:latin typeface="Consolas" panose="020B0609020204030204" pitchFamily="49" charset="0"/>
              </a:rPr>
              <a:t>; return 0;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33538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24000" y="0"/>
            <a:ext cx="9144000" cy="6858000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class Triangle: public Line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  protected: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		</a:t>
            </a:r>
            <a:r>
              <a:rPr lang="en-US" sz="1800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a_axis,b_axis,c_axis</a:t>
            </a:r>
            <a:r>
              <a:rPr lang="en-US" sz="1800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  public: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		Triangle(</a:t>
            </a:r>
            <a:r>
              <a:rPr lang="en-US" sz="1800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, </a:t>
            </a:r>
            <a:r>
              <a:rPr lang="en-US" sz="1800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, </a:t>
            </a:r>
            <a:r>
              <a:rPr lang="en-US" sz="1800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		void draw(void);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     	</a:t>
            </a:r>
            <a:r>
              <a:rPr lang="en-US" sz="1800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GetArea</a:t>
            </a:r>
            <a:r>
              <a:rPr lang="en-US" sz="1800" dirty="0">
                <a:latin typeface="Consolas" panose="020B0609020204030204" pitchFamily="49" charset="0"/>
              </a:rPr>
              <a:t> (void);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nsolas" panose="020B0609020204030204" pitchFamily="49" charset="0"/>
              </a:rPr>
              <a:t>Triangle::Triangle(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</a:rPr>
              <a:t> a, 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</a:rPr>
              <a:t> b, 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</a:rPr>
              <a:t> c)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: Line (a, b ) </a:t>
            </a:r>
            <a:r>
              <a:rPr lang="en-US" sz="1800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		</a:t>
            </a:r>
            <a:r>
              <a:rPr lang="en-US" sz="1800" dirty="0" err="1">
                <a:latin typeface="Consolas" panose="020B0609020204030204" pitchFamily="49" charset="0"/>
              </a:rPr>
              <a:t>a_axis</a:t>
            </a:r>
            <a:r>
              <a:rPr lang="en-US" sz="1800" dirty="0">
                <a:latin typeface="Consolas" panose="020B0609020204030204" pitchFamily="49" charset="0"/>
              </a:rPr>
              <a:t>= a;	 </a:t>
            </a:r>
            <a:r>
              <a:rPr lang="en-US" sz="1800" dirty="0" err="1">
                <a:latin typeface="Consolas" panose="020B0609020204030204" pitchFamily="49" charset="0"/>
              </a:rPr>
              <a:t>b_axis</a:t>
            </a:r>
            <a:r>
              <a:rPr lang="en-US" sz="1800" dirty="0">
                <a:latin typeface="Consolas" panose="020B0609020204030204" pitchFamily="49" charset="0"/>
              </a:rPr>
              <a:t>= b; </a:t>
            </a:r>
            <a:r>
              <a:rPr lang="en-US" sz="1800" dirty="0" err="1">
                <a:latin typeface="Consolas" panose="020B0609020204030204" pitchFamily="49" charset="0"/>
              </a:rPr>
              <a:t>c_axis</a:t>
            </a:r>
            <a:r>
              <a:rPr lang="en-US" sz="1800" dirty="0">
                <a:latin typeface="Consolas" panose="020B0609020204030204" pitchFamily="49" charset="0"/>
              </a:rPr>
              <a:t>=c;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nsolas" panose="020B0609020204030204" pitchFamily="49" charset="0"/>
              </a:rPr>
              <a:t>void Triangle ::draw() </a:t>
            </a:r>
            <a:r>
              <a:rPr lang="en-US" sz="1800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		 </a:t>
            </a:r>
            <a:r>
              <a:rPr lang="en-US" sz="1800" dirty="0" err="1">
                <a:latin typeface="Consolas" panose="020B0609020204030204" pitchFamily="49" charset="0"/>
              </a:rPr>
              <a:t>cout</a:t>
            </a:r>
            <a:r>
              <a:rPr lang="en-US" sz="1800" dirty="0">
                <a:latin typeface="Consolas" panose="020B0609020204030204" pitchFamily="49" charset="0"/>
              </a:rPr>
              <a:t> &lt;&lt; </a:t>
            </a:r>
            <a:r>
              <a:rPr lang="en-US" altLang="fr-FR" sz="1800" dirty="0">
                <a:latin typeface="Consolas" panose="020B0609020204030204" pitchFamily="49" charset="0"/>
              </a:rPr>
              <a:t>“</a:t>
            </a:r>
            <a:r>
              <a:rPr lang="en-US" sz="1800" dirty="0">
                <a:latin typeface="Consolas" panose="020B0609020204030204" pitchFamily="49" charset="0"/>
              </a:rPr>
              <a:t>Triangle drawing code</a:t>
            </a:r>
            <a:r>
              <a:rPr lang="en-US" altLang="fr-FR" sz="1800" dirty="0">
                <a:latin typeface="Consolas" panose="020B0609020204030204" pitchFamily="49" charset="0"/>
              </a:rPr>
              <a:t>”</a:t>
            </a:r>
            <a:r>
              <a:rPr lang="en-US" sz="1800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</a:rPr>
              <a:t> Triangle ::</a:t>
            </a:r>
            <a:r>
              <a:rPr lang="en-US" sz="1800" b="1" dirty="0" err="1">
                <a:latin typeface="Consolas" panose="020B0609020204030204" pitchFamily="49" charset="0"/>
              </a:rPr>
              <a:t>GetArea</a:t>
            </a:r>
            <a:r>
              <a:rPr lang="en-US" sz="1800" b="1" dirty="0">
                <a:latin typeface="Consolas" panose="020B0609020204030204" pitchFamily="49" charset="0"/>
              </a:rPr>
              <a:t> () </a:t>
            </a:r>
            <a:r>
              <a:rPr lang="en-US" sz="1800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		</a:t>
            </a:r>
            <a:r>
              <a:rPr lang="en-US" sz="1800" dirty="0" err="1">
                <a:latin typeface="Consolas" panose="020B0609020204030204" pitchFamily="49" charset="0"/>
              </a:rPr>
              <a:t>cout</a:t>
            </a:r>
            <a:r>
              <a:rPr lang="en-US" sz="1800" dirty="0">
                <a:latin typeface="Consolas" panose="020B0609020204030204" pitchFamily="49" charset="0"/>
              </a:rPr>
              <a:t> &lt;&lt; </a:t>
            </a:r>
            <a:r>
              <a:rPr lang="en-US" altLang="fr-FR" sz="1800" dirty="0">
                <a:latin typeface="Consolas" panose="020B0609020204030204" pitchFamily="49" charset="0"/>
              </a:rPr>
              <a:t>“</a:t>
            </a:r>
            <a:r>
              <a:rPr lang="en-US" sz="1800" dirty="0">
                <a:latin typeface="Consolas" panose="020B0609020204030204" pitchFamily="49" charset="0"/>
              </a:rPr>
              <a:t>Triangle area code</a:t>
            </a:r>
            <a:r>
              <a:rPr lang="en-US" altLang="fr-FR" sz="1800" dirty="0">
                <a:latin typeface="Consolas" panose="020B0609020204030204" pitchFamily="49" charset="0"/>
              </a:rPr>
              <a:t>”</a:t>
            </a:r>
            <a:r>
              <a:rPr lang="en-US" sz="1800" dirty="0">
                <a:latin typeface="Consolas" panose="020B0609020204030204" pitchFamily="49" charset="0"/>
              </a:rPr>
              <a:t>; return 0;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49340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3"/>
          <p:cNvSpPr txBox="1">
            <a:spLocks noChangeArrowheads="1"/>
          </p:cNvSpPr>
          <p:nvPr/>
        </p:nvSpPr>
        <p:spPr bwMode="auto">
          <a:xfrm>
            <a:off x="1905001" y="762001"/>
            <a:ext cx="8502713" cy="50783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marL="404813" indent="-404813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1800" b="1" dirty="0" err="1">
                <a:solidFill>
                  <a:prstClr val="black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 main ( )</a:t>
            </a:r>
          </a:p>
          <a:p>
            <a:pPr eaLnBrk="1" hangingPunct="1"/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{</a:t>
            </a:r>
          </a:p>
          <a:p>
            <a:pPr eaLnBrk="1" hangingPunct="1"/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   </a:t>
            </a:r>
            <a:r>
              <a:rPr lang="en-US" sz="1800" b="1" dirty="0">
                <a:solidFill>
                  <a:srgbClr val="2C14DE"/>
                </a:solidFill>
                <a:latin typeface="Consolas" panose="020B0609020204030204" pitchFamily="49" charset="0"/>
              </a:rPr>
              <a:t>Triangle</a:t>
            </a:r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2C14DE"/>
                </a:solidFill>
                <a:latin typeface="Consolas" panose="020B0609020204030204" pitchFamily="49" charset="0"/>
              </a:rPr>
              <a:t>t1</a:t>
            </a:r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 (3, 4, 5, 19 );</a:t>
            </a:r>
          </a:p>
          <a:p>
            <a:pPr eaLnBrk="1" hangingPunct="1"/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	</a:t>
            </a:r>
            <a:r>
              <a:rPr lang="en-US" sz="1800" b="1" dirty="0">
                <a:solidFill>
                  <a:srgbClr val="C00000"/>
                </a:solidFill>
                <a:latin typeface="Consolas" panose="020B0609020204030204" pitchFamily="49" charset="0"/>
              </a:rPr>
              <a:t>Circle</a:t>
            </a:r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C00000"/>
                </a:solidFill>
                <a:latin typeface="Consolas" panose="020B0609020204030204" pitchFamily="49" charset="0"/>
              </a:rPr>
              <a:t>c1</a:t>
            </a:r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 (3, 4, 5 );</a:t>
            </a:r>
          </a:p>
          <a:p>
            <a:pPr eaLnBrk="1" hangingPunct="1"/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	</a:t>
            </a: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Rectangle</a:t>
            </a:r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r1</a:t>
            </a:r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 ( 3, 4, 10 , 20 );</a:t>
            </a:r>
          </a:p>
          <a:p>
            <a:pPr eaLnBrk="1" hangingPunct="1"/>
            <a:endParaRPr lang="en-US" sz="1800" b="1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eaLnBrk="1" hangingPunct="1"/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	</a:t>
            </a:r>
            <a:r>
              <a:rPr lang="en-US" sz="1800" b="1" dirty="0">
                <a:solidFill>
                  <a:srgbClr val="2C14DE"/>
                </a:solidFill>
                <a:latin typeface="Consolas" panose="020B0609020204030204" pitchFamily="49" charset="0"/>
              </a:rPr>
              <a:t>t1</a:t>
            </a:r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.draw ();</a:t>
            </a:r>
          </a:p>
          <a:p>
            <a:pPr eaLnBrk="1" hangingPunct="1"/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	</a:t>
            </a:r>
            <a:r>
              <a:rPr lang="en-US" sz="1800" b="1" dirty="0" err="1">
                <a:solidFill>
                  <a:prstClr val="black"/>
                </a:solidFill>
                <a:latin typeface="Consolas" panose="020B0609020204030204" pitchFamily="49" charset="0"/>
              </a:rPr>
              <a:t>cout</a:t>
            </a:r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 &lt;&lt; </a:t>
            </a:r>
            <a:r>
              <a:rPr lang="en-US" altLang="fr-FR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“</a:t>
            </a:r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The area is </a:t>
            </a:r>
            <a:r>
              <a:rPr lang="en-US" altLang="fr-FR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“</a:t>
            </a:r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 &lt;&lt; </a:t>
            </a:r>
            <a:r>
              <a:rPr lang="en-US" sz="1800" b="1" dirty="0">
                <a:solidFill>
                  <a:srgbClr val="2C14DE"/>
                </a:solidFill>
                <a:latin typeface="Consolas" panose="020B0609020204030204" pitchFamily="49" charset="0"/>
              </a:rPr>
              <a:t>t1</a:t>
            </a:r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.GetArea ( );</a:t>
            </a:r>
          </a:p>
          <a:p>
            <a:pPr eaLnBrk="1" hangingPunct="1"/>
            <a:endParaRPr lang="en-US" sz="1800" b="1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eaLnBrk="1" hangingPunct="1"/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	</a:t>
            </a:r>
            <a:r>
              <a:rPr lang="en-US" sz="1800" b="1" dirty="0">
                <a:solidFill>
                  <a:srgbClr val="B80000"/>
                </a:solidFill>
                <a:latin typeface="Consolas" panose="020B0609020204030204" pitchFamily="49" charset="0"/>
              </a:rPr>
              <a:t>c1</a:t>
            </a:r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.draw ();</a:t>
            </a:r>
          </a:p>
          <a:p>
            <a:pPr eaLnBrk="1" hangingPunct="1"/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	</a:t>
            </a:r>
            <a:r>
              <a:rPr lang="en-US" sz="1800" b="1" dirty="0" err="1">
                <a:solidFill>
                  <a:prstClr val="black"/>
                </a:solidFill>
                <a:latin typeface="Consolas" panose="020B0609020204030204" pitchFamily="49" charset="0"/>
              </a:rPr>
              <a:t>cout</a:t>
            </a:r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 &lt;&lt; </a:t>
            </a:r>
            <a:r>
              <a:rPr lang="en-US" altLang="fr-FR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“</a:t>
            </a:r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The area is </a:t>
            </a:r>
            <a:r>
              <a:rPr lang="en-US" altLang="fr-FR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“</a:t>
            </a:r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 &lt;&lt; </a:t>
            </a:r>
            <a:r>
              <a:rPr lang="en-US" sz="1800" b="1" dirty="0">
                <a:solidFill>
                  <a:srgbClr val="B80000"/>
                </a:solidFill>
                <a:latin typeface="Consolas" panose="020B0609020204030204" pitchFamily="49" charset="0"/>
              </a:rPr>
              <a:t>c1</a:t>
            </a:r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.GetArea ();</a:t>
            </a:r>
          </a:p>
          <a:p>
            <a:pPr eaLnBrk="1" hangingPunct="1"/>
            <a:endParaRPr lang="en-US" sz="1800" b="1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eaLnBrk="1" hangingPunct="1"/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	</a:t>
            </a: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r1</a:t>
            </a:r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.draw ();</a:t>
            </a:r>
          </a:p>
          <a:p>
            <a:pPr eaLnBrk="1" hangingPunct="1"/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	</a:t>
            </a:r>
            <a:r>
              <a:rPr lang="en-US" sz="1800" b="1" dirty="0" err="1">
                <a:solidFill>
                  <a:prstClr val="black"/>
                </a:solidFill>
                <a:latin typeface="Consolas" panose="020B0609020204030204" pitchFamily="49" charset="0"/>
              </a:rPr>
              <a:t>cout</a:t>
            </a:r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 &lt;&lt; </a:t>
            </a:r>
            <a:r>
              <a:rPr lang="en-US" altLang="fr-FR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“</a:t>
            </a:r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The area is </a:t>
            </a:r>
            <a:r>
              <a:rPr lang="en-US" altLang="fr-FR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“</a:t>
            </a:r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 &lt;&lt; </a:t>
            </a: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r1</a:t>
            </a:r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.GetArea ();</a:t>
            </a:r>
          </a:p>
          <a:p>
            <a:pPr eaLnBrk="1" hangingPunct="1"/>
            <a:endParaRPr lang="en-US" sz="1800" b="1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eaLnBrk="1" hangingPunct="1"/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	return 0;</a:t>
            </a:r>
          </a:p>
          <a:p>
            <a:pPr eaLnBrk="1" hangingPunct="1"/>
            <a:r>
              <a:rPr lang="en-US" sz="1800" b="1" dirty="0">
                <a:solidFill>
                  <a:prstClr val="black"/>
                </a:solidFill>
                <a:latin typeface="Consolas" panose="020B0609020204030204" pitchFamily="49" charset="0"/>
              </a:rPr>
              <a:t>}</a:t>
            </a:r>
          </a:p>
          <a:p>
            <a:pPr eaLnBrk="1" hangingPunct="1"/>
            <a:endParaRPr lang="en-US" sz="1800" b="1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6553201" y="990600"/>
            <a:ext cx="3702113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prstClr val="white"/>
                </a:solidFill>
                <a:latin typeface="Calibri"/>
              </a:rPr>
              <a:t>Shapes.cpp Demo</a:t>
            </a:r>
          </a:p>
        </p:txBody>
      </p:sp>
    </p:spTree>
    <p:extLst>
      <p:ext uri="{BB962C8B-B14F-4D97-AF65-F5344CB8AC3E}">
        <p14:creationId xmlns:p14="http://schemas.microsoft.com/office/powerpoint/2010/main" val="1996075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0"/>
            <a:ext cx="8153400" cy="914400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</a:rPr>
              <a:t>Pointers to Derived Classes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600200" y="1036320"/>
            <a:ext cx="8915400" cy="574548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>
                <a:solidFill>
                  <a:srgbClr val="D20000"/>
                </a:solidFill>
              </a:rPr>
              <a:t>C++ </a:t>
            </a:r>
            <a:r>
              <a:rPr lang="en-US" b="1" dirty="0"/>
              <a:t>allows</a:t>
            </a:r>
            <a:r>
              <a:rPr lang="en-US" dirty="0"/>
              <a:t> </a:t>
            </a:r>
            <a:r>
              <a:rPr lang="en-US" b="1" dirty="0">
                <a:solidFill>
                  <a:srgbClr val="2C14DE"/>
                </a:solidFill>
              </a:rPr>
              <a:t>base class pointers</a:t>
            </a:r>
            <a:r>
              <a:rPr lang="en-US" dirty="0"/>
              <a:t> to </a:t>
            </a:r>
            <a:r>
              <a:rPr lang="en-US" b="1" dirty="0"/>
              <a:t>point</a:t>
            </a:r>
            <a:r>
              <a:rPr lang="en-US" dirty="0"/>
              <a:t> to </a:t>
            </a:r>
            <a:r>
              <a:rPr lang="en-US" b="1" dirty="0"/>
              <a:t>both</a:t>
            </a:r>
            <a:r>
              <a:rPr lang="en-US" dirty="0"/>
              <a:t> </a:t>
            </a:r>
            <a:r>
              <a:rPr lang="en-US" b="1" u="sng" dirty="0">
                <a:solidFill>
                  <a:srgbClr val="2C14DE"/>
                </a:solidFill>
              </a:rPr>
              <a:t>base class object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/>
              <a:t>also all </a:t>
            </a:r>
            <a:r>
              <a:rPr lang="en-US" b="1" u="sng" dirty="0">
                <a:solidFill>
                  <a:srgbClr val="2C14DE"/>
                </a:solidFill>
              </a:rPr>
              <a:t>derived class objects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>
                <a:solidFill>
                  <a:srgbClr val="D20000"/>
                </a:solidFill>
              </a:rPr>
              <a:t>Let’s assume: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2C14DE"/>
                </a:solidFill>
                <a:latin typeface="Consolas" panose="020B0609020204030204" pitchFamily="49" charset="0"/>
              </a:rPr>
              <a:t>class Base </a:t>
            </a:r>
            <a:r>
              <a:rPr lang="en-US" b="1" dirty="0">
                <a:latin typeface="Consolas" panose="020B0609020204030204" pitchFamily="49" charset="0"/>
              </a:rPr>
              <a:t>{ … };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2C14DE"/>
                </a:solidFill>
                <a:latin typeface="Consolas" panose="020B0609020204030204" pitchFamily="49" charset="0"/>
              </a:rPr>
              <a:t>class Derived </a:t>
            </a:r>
            <a:r>
              <a:rPr lang="en-US" b="1" dirty="0"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2C14DE"/>
                </a:solidFill>
                <a:latin typeface="Consolas" panose="020B0609020204030204" pitchFamily="49" charset="0"/>
              </a:rPr>
              <a:t>public Base </a:t>
            </a:r>
            <a:r>
              <a:rPr lang="en-US" b="1" dirty="0">
                <a:latin typeface="Consolas" panose="020B0609020204030204" pitchFamily="49" charset="0"/>
              </a:rPr>
              <a:t>{ … };</a:t>
            </a:r>
          </a:p>
          <a:p>
            <a:pPr lvl="1"/>
            <a:endParaRPr lang="en-US" dirty="0">
              <a:solidFill>
                <a:srgbClr val="D20000"/>
              </a:solidFill>
            </a:endParaRPr>
          </a:p>
          <a:p>
            <a:r>
              <a:rPr lang="en-US" b="1" dirty="0">
                <a:solidFill>
                  <a:srgbClr val="D20000"/>
                </a:solidFill>
              </a:rPr>
              <a:t>Then, we can write: 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2C14DE"/>
                </a:solidFill>
                <a:latin typeface="Consolas" panose="020B0609020204030204" pitchFamily="49" charset="0"/>
              </a:rPr>
              <a:t>Base *p1;  Derived </a:t>
            </a:r>
            <a:r>
              <a:rPr lang="en-US" b="1" dirty="0" err="1">
                <a:solidFill>
                  <a:srgbClr val="2C14DE"/>
                </a:solidFill>
                <a:latin typeface="Consolas" panose="020B0609020204030204" pitchFamily="49" charset="0"/>
              </a:rPr>
              <a:t>d_obj</a:t>
            </a:r>
            <a:r>
              <a:rPr lang="en-US" b="1" dirty="0">
                <a:solidFill>
                  <a:srgbClr val="2C14DE"/>
                </a:solidFill>
                <a:latin typeface="Consolas" panose="020B0609020204030204" pitchFamily="49" charset="0"/>
              </a:rPr>
              <a:t>; p1 = &amp;</a:t>
            </a:r>
            <a:r>
              <a:rPr lang="en-US" b="1" dirty="0" err="1">
                <a:solidFill>
                  <a:srgbClr val="2C14DE"/>
                </a:solidFill>
                <a:latin typeface="Consolas" panose="020B0609020204030204" pitchFamily="49" charset="0"/>
              </a:rPr>
              <a:t>d_obj</a:t>
            </a:r>
            <a:r>
              <a:rPr lang="en-US" b="1" dirty="0">
                <a:solidFill>
                  <a:srgbClr val="2C14DE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2C14DE"/>
                </a:solidFill>
                <a:latin typeface="Consolas" panose="020B0609020204030204" pitchFamily="49" charset="0"/>
              </a:rPr>
              <a:t>Base *p2 = new Derived;</a:t>
            </a:r>
          </a:p>
        </p:txBody>
      </p:sp>
      <p:sp>
        <p:nvSpPr>
          <p:cNvPr id="5" name="Rectangle 4"/>
          <p:cNvSpPr/>
          <p:nvPr/>
        </p:nvSpPr>
        <p:spPr>
          <a:xfrm>
            <a:off x="1578666" y="9144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2988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0"/>
            <a:ext cx="8202440" cy="914400"/>
          </a:xfrm>
        </p:spPr>
        <p:txBody>
          <a:bodyPr/>
          <a:lstStyle/>
          <a:p>
            <a:r>
              <a:rPr lang="en-US" sz="4000" b="1" dirty="0">
                <a:solidFill>
                  <a:srgbClr val="D20000"/>
                </a:solidFill>
              </a:rPr>
              <a:t>Pointers to Derived Classes (contd.)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616389" y="1066800"/>
            <a:ext cx="8942560" cy="5638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008000"/>
                </a:solidFill>
              </a:rPr>
              <a:t>While it is allowed for a base class pointer to point to a derived object</a:t>
            </a:r>
            <a:r>
              <a:rPr lang="en-US" sz="3000" dirty="0"/>
              <a:t>, </a:t>
            </a:r>
            <a:r>
              <a:rPr lang="en-US" sz="3000" b="1" dirty="0">
                <a:solidFill>
                  <a:srgbClr val="D20000"/>
                </a:solidFill>
              </a:rPr>
              <a:t>the reverse is not true</a:t>
            </a:r>
            <a:r>
              <a:rPr lang="en-US" sz="3000" dirty="0"/>
              <a:t>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dirty="0">
                <a:latin typeface="Consolas" panose="020B0609020204030204" pitchFamily="49" charset="0"/>
              </a:rPr>
              <a:t>base b1;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dirty="0">
                <a:latin typeface="Consolas" panose="020B0609020204030204" pitchFamily="49" charset="0"/>
              </a:rPr>
              <a:t>derived *</a:t>
            </a:r>
            <a:r>
              <a:rPr lang="en-US" dirty="0" err="1">
                <a:latin typeface="Consolas" panose="020B0609020204030204" pitchFamily="49" charset="0"/>
              </a:rPr>
              <a:t>pd</a:t>
            </a:r>
            <a:r>
              <a:rPr lang="en-US" dirty="0">
                <a:latin typeface="Consolas" panose="020B0609020204030204" pitchFamily="49" charset="0"/>
              </a:rPr>
              <a:t> = &amp;b1;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// compiler error</a:t>
            </a:r>
          </a:p>
        </p:txBody>
      </p:sp>
      <p:sp>
        <p:nvSpPr>
          <p:cNvPr id="4" name="Rectangle 3"/>
          <p:cNvSpPr/>
          <p:nvPr/>
        </p:nvSpPr>
        <p:spPr>
          <a:xfrm>
            <a:off x="1578666" y="9144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21707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1"/>
            <a:ext cx="8153400" cy="960119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D20000"/>
                </a:solidFill>
              </a:rPr>
              <a:t>Pointers to Derived Classes (contd.)</a:t>
            </a:r>
            <a:endParaRPr lang="en-US" sz="3600" b="1" dirty="0">
              <a:solidFill>
                <a:srgbClr val="D20000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16766" y="1066800"/>
            <a:ext cx="8991600" cy="5638800"/>
          </a:xfrm>
        </p:spPr>
        <p:txBody>
          <a:bodyPr/>
          <a:lstStyle/>
          <a:p>
            <a:r>
              <a:rPr lang="en-US" sz="3000" b="1" dirty="0">
                <a:solidFill>
                  <a:srgbClr val="B80000"/>
                </a:solidFill>
              </a:rPr>
              <a:t>Access to members </a:t>
            </a:r>
            <a:r>
              <a:rPr lang="en-US" sz="3000" dirty="0"/>
              <a:t>of a </a:t>
            </a:r>
            <a:r>
              <a:rPr lang="en-US" sz="3000" b="1" dirty="0">
                <a:solidFill>
                  <a:srgbClr val="2C14DE"/>
                </a:solidFill>
              </a:rPr>
              <a:t>class object</a:t>
            </a:r>
            <a:r>
              <a:rPr lang="en-US" sz="3000" dirty="0"/>
              <a:t> is </a:t>
            </a:r>
            <a:r>
              <a:rPr lang="en-US" sz="3000" b="1" u="sng" dirty="0"/>
              <a:t>determined</a:t>
            </a:r>
            <a:r>
              <a:rPr lang="en-US" sz="3000" dirty="0"/>
              <a:t> by the </a:t>
            </a:r>
            <a:r>
              <a:rPr lang="en-US" sz="3000" b="1" u="sng" dirty="0"/>
              <a:t>type</a:t>
            </a:r>
            <a:r>
              <a:rPr lang="en-US" sz="3000" dirty="0"/>
              <a:t> of the </a:t>
            </a:r>
            <a:r>
              <a:rPr lang="en-US" sz="3000" b="1" i="1" dirty="0">
                <a:solidFill>
                  <a:srgbClr val="2C14DE"/>
                </a:solidFill>
              </a:rPr>
              <a:t>handle</a:t>
            </a:r>
            <a:r>
              <a:rPr lang="en-US" sz="3000" i="1" dirty="0"/>
              <a:t>.</a:t>
            </a:r>
            <a:endParaRPr lang="en-US" sz="3000" dirty="0"/>
          </a:p>
          <a:p>
            <a:pPr lvl="2"/>
            <a:endParaRPr lang="en-US" sz="1800" dirty="0"/>
          </a:p>
          <a:p>
            <a:r>
              <a:rPr lang="en-US" b="1" dirty="0"/>
              <a:t>What is a </a:t>
            </a:r>
            <a:r>
              <a:rPr lang="en-US" b="1" i="1" dirty="0">
                <a:solidFill>
                  <a:srgbClr val="D20000"/>
                </a:solidFill>
              </a:rPr>
              <a:t>Handle: </a:t>
            </a:r>
          </a:p>
          <a:p>
            <a:pPr lvl="2" algn="just"/>
            <a:r>
              <a:rPr lang="en-US" sz="2800" dirty="0"/>
              <a:t>The </a:t>
            </a:r>
            <a:r>
              <a:rPr lang="en-US" sz="2800" b="1" dirty="0">
                <a:solidFill>
                  <a:srgbClr val="2C14DE"/>
                </a:solidFill>
              </a:rPr>
              <a:t>item </a:t>
            </a:r>
            <a:r>
              <a:rPr lang="en-US" sz="2800" b="1" dirty="0"/>
              <a:t>by which </a:t>
            </a:r>
            <a:r>
              <a:rPr lang="en-US" sz="2800" dirty="0"/>
              <a:t>the </a:t>
            </a:r>
            <a:r>
              <a:rPr lang="en-US" sz="2800" b="1" dirty="0">
                <a:solidFill>
                  <a:srgbClr val="2C14DE"/>
                </a:solidFill>
              </a:rPr>
              <a:t>members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dirty="0"/>
              <a:t>of an </a:t>
            </a:r>
            <a:r>
              <a:rPr lang="en-US" sz="2800" b="1" dirty="0">
                <a:solidFill>
                  <a:srgbClr val="2C14DE"/>
                </a:solidFill>
              </a:rPr>
              <a:t>object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dirty="0"/>
              <a:t>are </a:t>
            </a:r>
            <a:r>
              <a:rPr lang="en-US" sz="2800" b="1" dirty="0">
                <a:solidFill>
                  <a:srgbClr val="2C14DE"/>
                </a:solidFill>
              </a:rPr>
              <a:t>accessed:</a:t>
            </a:r>
            <a:endParaRPr lang="en-US" b="1" dirty="0"/>
          </a:p>
          <a:p>
            <a:pPr lvl="3"/>
            <a:r>
              <a:rPr lang="en-US" sz="2800" dirty="0"/>
              <a:t>An </a:t>
            </a:r>
            <a:r>
              <a:rPr lang="en-US" sz="2800" b="1" dirty="0">
                <a:solidFill>
                  <a:srgbClr val="FF0000"/>
                </a:solidFill>
              </a:rPr>
              <a:t>object name </a:t>
            </a:r>
            <a:r>
              <a:rPr lang="en-US" sz="2800" dirty="0"/>
              <a:t>(i.e., variable, etc.)</a:t>
            </a:r>
          </a:p>
          <a:p>
            <a:pPr lvl="3"/>
            <a:r>
              <a:rPr lang="en-US" sz="2800" dirty="0"/>
              <a:t>A </a:t>
            </a:r>
            <a:r>
              <a:rPr lang="en-US" sz="2800" b="1" dirty="0">
                <a:solidFill>
                  <a:srgbClr val="FF0000"/>
                </a:solidFill>
              </a:rPr>
              <a:t>reference</a:t>
            </a:r>
            <a:r>
              <a:rPr lang="en-US" sz="2800" b="1" dirty="0"/>
              <a:t> to an object</a:t>
            </a:r>
          </a:p>
          <a:p>
            <a:pPr lvl="3"/>
            <a:r>
              <a:rPr lang="en-US" sz="2800" dirty="0"/>
              <a:t>A </a:t>
            </a:r>
            <a:r>
              <a:rPr lang="en-US" sz="2800" b="1" dirty="0">
                <a:solidFill>
                  <a:srgbClr val="FF0000"/>
                </a:solidFill>
              </a:rPr>
              <a:t>pointer</a:t>
            </a:r>
            <a:r>
              <a:rPr lang="en-US" sz="2800" b="1" dirty="0"/>
              <a:t> to an object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578666" y="9144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29043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-15240"/>
            <a:ext cx="8226173" cy="929640"/>
          </a:xfrm>
        </p:spPr>
        <p:txBody>
          <a:bodyPr/>
          <a:lstStyle/>
          <a:p>
            <a:r>
              <a:rPr lang="en-US" sz="4000" b="1" dirty="0">
                <a:solidFill>
                  <a:srgbClr val="D20000"/>
                </a:solidFill>
              </a:rPr>
              <a:t>Pointers</a:t>
            </a:r>
            <a:r>
              <a:rPr lang="en-US" sz="4000" b="1" dirty="0">
                <a:solidFill>
                  <a:srgbClr val="C00000"/>
                </a:solidFill>
              </a:rPr>
              <a:t> to Derived Classes (contd.)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1143000"/>
            <a:ext cx="8991600" cy="5638800"/>
          </a:xfrm>
        </p:spPr>
        <p:txBody>
          <a:bodyPr>
            <a:normAutofit/>
          </a:bodyPr>
          <a:lstStyle/>
          <a:p>
            <a:pPr algn="just">
              <a:lnSpc>
                <a:spcPct val="80000"/>
              </a:lnSpc>
              <a:spcBef>
                <a:spcPts val="1200"/>
              </a:spcBef>
            </a:pPr>
            <a:r>
              <a:rPr lang="en-US" sz="3000" dirty="0"/>
              <a:t>Using a </a:t>
            </a:r>
            <a:r>
              <a:rPr lang="en-US" sz="3000" b="1" dirty="0">
                <a:solidFill>
                  <a:srgbClr val="C00000"/>
                </a:solidFill>
              </a:rPr>
              <a:t>base class pointer </a:t>
            </a:r>
            <a:r>
              <a:rPr lang="en-US" sz="3000" dirty="0"/>
              <a:t>(</a:t>
            </a:r>
            <a:r>
              <a:rPr lang="en-US" sz="3000" b="1" dirty="0"/>
              <a:t>pointing to a derived class object</a:t>
            </a:r>
            <a:r>
              <a:rPr lang="en-US" sz="3000" dirty="0"/>
              <a:t>) can </a:t>
            </a:r>
            <a:r>
              <a:rPr lang="en-US" sz="3000" b="1" dirty="0">
                <a:solidFill>
                  <a:srgbClr val="2C14DE"/>
                </a:solidFill>
              </a:rPr>
              <a:t>access only those members </a:t>
            </a:r>
            <a:r>
              <a:rPr lang="en-US" sz="3000" dirty="0"/>
              <a:t>of the </a:t>
            </a:r>
            <a:r>
              <a:rPr lang="en-US" sz="3000" b="1" dirty="0"/>
              <a:t>derived object</a:t>
            </a:r>
            <a:r>
              <a:rPr lang="en-US" sz="3000" dirty="0"/>
              <a:t> </a:t>
            </a:r>
            <a:r>
              <a:rPr lang="en-US" sz="3000" b="1" dirty="0">
                <a:solidFill>
                  <a:srgbClr val="2C14DE"/>
                </a:solidFill>
              </a:rPr>
              <a:t>that were inherited from the base</a:t>
            </a:r>
            <a:r>
              <a:rPr lang="en-US" sz="3000" dirty="0">
                <a:solidFill>
                  <a:srgbClr val="FF0000"/>
                </a:solidFill>
              </a:rPr>
              <a:t>.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endParaRPr lang="en-US" sz="3000" b="1" dirty="0">
              <a:solidFill>
                <a:srgbClr val="008000"/>
              </a:solidFill>
            </a:endParaRPr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en-US" sz="3000" b="1" dirty="0">
                <a:solidFill>
                  <a:srgbClr val="008000"/>
                </a:solidFill>
              </a:rPr>
              <a:t>This is because the base pointer has knowledge only of the base class.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endParaRPr lang="en-US" sz="3000" dirty="0"/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en-US" sz="3000" dirty="0"/>
              <a:t>It </a:t>
            </a:r>
            <a:r>
              <a:rPr lang="en-US" sz="3000" b="1" dirty="0">
                <a:solidFill>
                  <a:srgbClr val="D20000"/>
                </a:solidFill>
              </a:rPr>
              <a:t>knows nothing</a:t>
            </a:r>
            <a:r>
              <a:rPr lang="en-US" sz="3000" b="1" dirty="0"/>
              <a:t> </a:t>
            </a:r>
            <a:r>
              <a:rPr lang="en-US" sz="3000" dirty="0"/>
              <a:t>about the </a:t>
            </a:r>
            <a:r>
              <a:rPr lang="en-US" sz="3000" b="1" dirty="0">
                <a:solidFill>
                  <a:srgbClr val="2C14DE"/>
                </a:solidFill>
              </a:rPr>
              <a:t>members added</a:t>
            </a:r>
            <a:r>
              <a:rPr lang="en-US" sz="3000" dirty="0"/>
              <a:t> by the </a:t>
            </a:r>
            <a:r>
              <a:rPr lang="en-US" sz="3000" b="1" dirty="0">
                <a:solidFill>
                  <a:srgbClr val="2C14DE"/>
                </a:solidFill>
              </a:rPr>
              <a:t>derived class</a:t>
            </a:r>
            <a:r>
              <a:rPr lang="en-US" sz="3000"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1578666" y="9144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32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1104</Words>
  <Application>Microsoft Office PowerPoint</Application>
  <PresentationFormat>Widescreen</PresentationFormat>
  <Paragraphs>175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Consolas</vt:lpstr>
      <vt:lpstr>Office Theme</vt:lpstr>
      <vt:lpstr>1_Office Theme</vt:lpstr>
      <vt:lpstr>Polymorphism</vt:lpstr>
      <vt:lpstr>Polymorphism</vt:lpstr>
      <vt:lpstr>Graphics Drawing Software, name these items?</vt:lpstr>
      <vt:lpstr>Graphics Drawing Software Classes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Pointers to Derived Classes</vt:lpstr>
      <vt:lpstr>Pointers to Derived Classes (contd.)</vt:lpstr>
      <vt:lpstr>Pointers to Derived Classes (contd.)</vt:lpstr>
      <vt:lpstr>Pointers to Derived Classes (contd.)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Polymorphism</dc:title>
  <dc:creator>Sanaullah Imtiaz</dc:creator>
  <cp:lastModifiedBy>Sanaullah Imtiaz</cp:lastModifiedBy>
  <cp:revision>2</cp:revision>
  <dcterms:created xsi:type="dcterms:W3CDTF">2024-11-19T06:49:50Z</dcterms:created>
  <dcterms:modified xsi:type="dcterms:W3CDTF">2024-11-19T07:57:10Z</dcterms:modified>
</cp:coreProperties>
</file>
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64" r:id="rId4"/>
    <p:sldId id="265" r:id="rId5"/>
    <p:sldId id="266" r:id="rId6"/>
    <p:sldId id="258" r:id="rId7"/>
    <p:sldId id="259" r:id="rId8"/>
    <p:sldId id="260" r:id="rId9"/>
    <p:sldId id="261" r:id="rId10"/>
    <p:sldId id="262" r:id="rId11"/>
    <p:sldId id="263"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6ECAEF-6461-4CA1-BCF8-D33D37C08263}" type="datetimeFigureOut">
              <a:rPr lang="en-US" smtClean="0"/>
              <a:t>10/29/2024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790910-5403-4F0F-BCAD-BCD47534D82D}" type="slidenum">
              <a:rPr lang="en-US" smtClean="0"/>
              <a:t>‹#›</a:t>
            </a:fld>
            <a:endParaRPr lang="en-US"/>
          </a:p>
        </p:txBody>
      </p:sp>
    </p:spTree>
    <p:extLst>
      <p:ext uri="{BB962C8B-B14F-4D97-AF65-F5344CB8AC3E}">
        <p14:creationId xmlns:p14="http://schemas.microsoft.com/office/powerpoint/2010/main" val="1295620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 C++, </a:t>
            </a:r>
            <a:r>
              <a:rPr lang="en-US" b="1" dirty="0" smtClean="0"/>
              <a:t>constructors, destructors, and the assignment operator (=)</a:t>
            </a:r>
            <a:r>
              <a:rPr lang="en-US" dirty="0" smtClean="0"/>
              <a:t> are not inherited by derived classes because of the unique role they play in object construction, destruction, and assignment. Constructors are special member functions that initialize an object’s state when it is created. They are specific to the class they belong to, and the derived class needs its own way to initialize its own members.</a:t>
            </a:r>
            <a:endParaRPr lang="en-US" dirty="0"/>
          </a:p>
        </p:txBody>
      </p:sp>
      <p:sp>
        <p:nvSpPr>
          <p:cNvPr id="4" name="Slide Number Placeholder 3"/>
          <p:cNvSpPr>
            <a:spLocks noGrp="1"/>
          </p:cNvSpPr>
          <p:nvPr>
            <p:ph type="sldNum" sz="quarter" idx="10"/>
          </p:nvPr>
        </p:nvSpPr>
        <p:spPr/>
        <p:txBody>
          <a:bodyPr/>
          <a:lstStyle/>
          <a:p>
            <a:fld id="{D2790910-5403-4F0F-BCAD-BCD47534D82D}" type="slidenum">
              <a:rPr lang="en-US" smtClean="0"/>
              <a:t>5</a:t>
            </a:fld>
            <a:endParaRPr lang="en-US"/>
          </a:p>
        </p:txBody>
      </p:sp>
    </p:spTree>
    <p:extLst>
      <p:ext uri="{BB962C8B-B14F-4D97-AF65-F5344CB8AC3E}">
        <p14:creationId xmlns:p14="http://schemas.microsoft.com/office/powerpoint/2010/main" val="848676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601484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268100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86107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04F2036-9FB6-486D-B22E-29195223B312}"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691052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04F2036-9FB6-486D-B22E-29195223B312}" type="datetimeFigureOut">
              <a:rPr lang="en-US" smtClean="0"/>
              <a:t>10/29/2024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1925715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04F2036-9FB6-486D-B22E-29195223B312}" type="datetimeFigureOut">
              <a:rPr lang="en-US" smtClean="0"/>
              <a:t>10/29/2024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2671795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F2036-9FB6-486D-B22E-29195223B312}" type="datetimeFigureOut">
              <a:rPr lang="en-US" smtClean="0"/>
              <a:t>10/29/2024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317321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4F2036-9FB6-486D-B22E-29195223B312}"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1310731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4F2036-9FB6-486D-B22E-29195223B312}"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2021149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20201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85998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1213693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84723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2516937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33478026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4F2036-9FB6-486D-B22E-29195223B312}"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4ACB71-8A89-49D2-81BC-4C9854B1C7B3}" type="slidenum">
              <a:rPr lang="en-US" smtClean="0"/>
              <a:t>‹#›</a:t>
            </a:fld>
            <a:endParaRPr lang="en-US"/>
          </a:p>
        </p:txBody>
      </p:sp>
    </p:spTree>
    <p:extLst>
      <p:ext uri="{BB962C8B-B14F-4D97-AF65-F5344CB8AC3E}">
        <p14:creationId xmlns:p14="http://schemas.microsoft.com/office/powerpoint/2010/main" val="3753194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4F2036-9FB6-486D-B22E-29195223B312}" type="datetimeFigureOut">
              <a:rPr lang="en-US" smtClean="0"/>
              <a:t>10/29/2024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C4ACB71-8A89-49D2-81BC-4C9854B1C7B3}" type="slidenum">
              <a:rPr lang="en-US" smtClean="0"/>
              <a:t>‹#›</a:t>
            </a:fld>
            <a:endParaRPr lang="en-US"/>
          </a:p>
        </p:txBody>
      </p:sp>
    </p:spTree>
    <p:extLst>
      <p:ext uri="{BB962C8B-B14F-4D97-AF65-F5344CB8AC3E}">
        <p14:creationId xmlns:p14="http://schemas.microsoft.com/office/powerpoint/2010/main" val="1946098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Inheritance</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36026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inheritance ?</a:t>
            </a:r>
            <a:endParaRPr lang="en-US" dirty="0"/>
          </a:p>
        </p:txBody>
      </p:sp>
      <p:sp>
        <p:nvSpPr>
          <p:cNvPr id="3" name="Content Placeholder 2"/>
          <p:cNvSpPr>
            <a:spLocks noGrp="1"/>
          </p:cNvSpPr>
          <p:nvPr>
            <p:ph idx="1"/>
          </p:nvPr>
        </p:nvSpPr>
        <p:spPr>
          <a:xfrm>
            <a:off x="677334" y="1493949"/>
            <a:ext cx="8596668" cy="4547413"/>
          </a:xfrm>
        </p:spPr>
        <p:txBody>
          <a:bodyPr/>
          <a:lstStyle/>
          <a:p>
            <a:pPr>
              <a:lnSpc>
                <a:spcPct val="150000"/>
              </a:lnSpc>
            </a:pPr>
            <a:r>
              <a:rPr lang="en-US" b="1" dirty="0">
                <a:ea typeface="ＭＳ Ｐゴシック" panose="020B0600070205080204" pitchFamily="34" charset="-128"/>
              </a:rPr>
              <a:t>Probably</a:t>
            </a:r>
            <a:r>
              <a:rPr lang="en-US" dirty="0">
                <a:ea typeface="ＭＳ Ｐゴシック" panose="020B0600070205080204" pitchFamily="34" charset="-128"/>
              </a:rPr>
              <a:t> </a:t>
            </a:r>
            <a:r>
              <a:rPr lang="en-US" b="1" dirty="0">
                <a:solidFill>
                  <a:srgbClr val="D20000"/>
                </a:solidFill>
                <a:ea typeface="ＭＳ Ｐゴシック" panose="020B0600070205080204" pitchFamily="34" charset="-128"/>
              </a:rPr>
              <a:t>most powerful feature</a:t>
            </a:r>
            <a:r>
              <a:rPr lang="en-US" dirty="0">
                <a:solidFill>
                  <a:srgbClr val="D20000"/>
                </a:solidFill>
                <a:ea typeface="ＭＳ Ｐゴシック" panose="020B0600070205080204" pitchFamily="34" charset="-128"/>
              </a:rPr>
              <a:t> </a:t>
            </a:r>
            <a:r>
              <a:rPr lang="en-US" dirty="0">
                <a:ea typeface="ＭＳ Ｐゴシック" panose="020B0600070205080204" pitchFamily="34" charset="-128"/>
              </a:rPr>
              <a:t>of </a:t>
            </a:r>
            <a:r>
              <a:rPr lang="en-US" b="1" dirty="0">
                <a:solidFill>
                  <a:srgbClr val="2C14DE"/>
                </a:solidFill>
                <a:ea typeface="ＭＳ Ｐゴシック" panose="020B0600070205080204" pitchFamily="34" charset="-128"/>
              </a:rPr>
              <a:t>OOP</a:t>
            </a:r>
          </a:p>
          <a:p>
            <a:pPr>
              <a:lnSpc>
                <a:spcPct val="150000"/>
              </a:lnSpc>
            </a:pPr>
            <a:r>
              <a:rPr lang="en-US" dirty="0">
                <a:ea typeface="ＭＳ Ｐゴシック" panose="020B0600070205080204" pitchFamily="34" charset="-128"/>
              </a:rPr>
              <a:t>Concept </a:t>
            </a:r>
            <a:r>
              <a:rPr lang="en-US" b="1" dirty="0">
                <a:solidFill>
                  <a:srgbClr val="2C14DE"/>
                </a:solidFill>
                <a:ea typeface="ＭＳ Ｐゴシック" panose="020B0600070205080204" pitchFamily="34" charset="-128"/>
              </a:rPr>
              <a:t>similar to inheritance </a:t>
            </a:r>
            <a:r>
              <a:rPr lang="en-US" dirty="0">
                <a:ea typeface="ＭＳ Ｐゴシック" panose="020B0600070205080204" pitchFamily="34" charset="-128"/>
              </a:rPr>
              <a:t>in </a:t>
            </a:r>
            <a:r>
              <a:rPr lang="en-US" b="1" dirty="0">
                <a:solidFill>
                  <a:srgbClr val="2C14DE"/>
                </a:solidFill>
                <a:ea typeface="ＭＳ Ｐゴシック" panose="020B0600070205080204" pitchFamily="34" charset="-128"/>
              </a:rPr>
              <a:t>real life</a:t>
            </a:r>
          </a:p>
          <a:p>
            <a:pPr>
              <a:lnSpc>
                <a:spcPct val="150000"/>
              </a:lnSpc>
            </a:pPr>
            <a:r>
              <a:rPr lang="en-US" b="1" dirty="0">
                <a:solidFill>
                  <a:srgbClr val="2C14DE"/>
                </a:solidFill>
                <a:ea typeface="ＭＳ Ｐゴシック" panose="020B0600070205080204" pitchFamily="34" charset="-128"/>
              </a:rPr>
              <a:t>New classes </a:t>
            </a:r>
            <a:r>
              <a:rPr lang="en-US" dirty="0">
                <a:ea typeface="ＭＳ Ｐゴシック" panose="020B0600070205080204" pitchFamily="34" charset="-128"/>
              </a:rPr>
              <a:t>are </a:t>
            </a:r>
            <a:r>
              <a:rPr lang="en-US" b="1" dirty="0">
                <a:solidFill>
                  <a:srgbClr val="2C14DE"/>
                </a:solidFill>
                <a:ea typeface="ＭＳ Ｐゴシック" panose="020B0600070205080204" pitchFamily="34" charset="-128"/>
              </a:rPr>
              <a:t>created</a:t>
            </a:r>
            <a:r>
              <a:rPr lang="en-US" dirty="0">
                <a:solidFill>
                  <a:srgbClr val="2C14DE"/>
                </a:solidFill>
                <a:ea typeface="ＭＳ Ｐゴシック" panose="020B0600070205080204" pitchFamily="34" charset="-128"/>
              </a:rPr>
              <a:t> </a:t>
            </a:r>
            <a:r>
              <a:rPr lang="en-US" dirty="0">
                <a:ea typeface="ＭＳ Ｐゴシック" panose="020B0600070205080204" pitchFamily="34" charset="-128"/>
              </a:rPr>
              <a:t>from </a:t>
            </a:r>
            <a:r>
              <a:rPr lang="en-US" b="1" dirty="0">
                <a:solidFill>
                  <a:srgbClr val="D20000"/>
                </a:solidFill>
                <a:ea typeface="ＭＳ Ｐゴシック" panose="020B0600070205080204" pitchFamily="34" charset="-128"/>
              </a:rPr>
              <a:t>existing classes</a:t>
            </a:r>
          </a:p>
          <a:p>
            <a:r>
              <a:rPr lang="en-US" dirty="0" smtClean="0"/>
              <a:t>allows </a:t>
            </a:r>
            <a:r>
              <a:rPr lang="en-US" dirty="0"/>
              <a:t>a class (called the derived or child class) to inherit properties and behaviors (data members and member functions) from another class (called the base or parent class).</a:t>
            </a:r>
          </a:p>
        </p:txBody>
      </p:sp>
    </p:spTree>
    <p:extLst>
      <p:ext uri="{BB962C8B-B14F-4D97-AF65-F5344CB8AC3E}">
        <p14:creationId xmlns:p14="http://schemas.microsoft.com/office/powerpoint/2010/main" val="4223060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Inheritance</a:t>
            </a:r>
            <a:endParaRPr lang="en-US" dirty="0"/>
          </a:p>
        </p:txBody>
      </p:sp>
      <p:sp>
        <p:nvSpPr>
          <p:cNvPr id="3" name="Content Placeholder 2"/>
          <p:cNvSpPr>
            <a:spLocks noGrp="1"/>
          </p:cNvSpPr>
          <p:nvPr>
            <p:ph idx="1"/>
          </p:nvPr>
        </p:nvSpPr>
        <p:spPr/>
        <p:txBody>
          <a:bodyPr/>
          <a:lstStyle/>
          <a:p>
            <a:r>
              <a:rPr lang="en-US" b="1" dirty="0">
                <a:solidFill>
                  <a:srgbClr val="D20000"/>
                </a:solidFill>
                <a:ea typeface="ＭＳ Ｐゴシック" panose="020B0600070205080204" pitchFamily="34" charset="-128"/>
              </a:rPr>
              <a:t>New classes </a:t>
            </a:r>
            <a:r>
              <a:rPr lang="en-US" b="1" dirty="0">
                <a:solidFill>
                  <a:srgbClr val="2C14DE"/>
                </a:solidFill>
                <a:ea typeface="ＭＳ Ｐゴシック" panose="020B0600070205080204" pitchFamily="34" charset="-128"/>
              </a:rPr>
              <a:t>absorb</a:t>
            </a:r>
            <a:r>
              <a:rPr lang="en-US" dirty="0">
                <a:solidFill>
                  <a:srgbClr val="2C14DE"/>
                </a:solidFill>
                <a:ea typeface="ＭＳ Ｐゴシック" panose="020B0600070205080204" pitchFamily="34" charset="-128"/>
              </a:rPr>
              <a:t> </a:t>
            </a:r>
            <a:r>
              <a:rPr lang="en-US" dirty="0">
                <a:ea typeface="ＭＳ Ｐゴシック" panose="020B0600070205080204" pitchFamily="34" charset="-128"/>
              </a:rPr>
              <a:t>all </a:t>
            </a:r>
            <a:r>
              <a:rPr lang="en-US" b="1" dirty="0">
                <a:solidFill>
                  <a:srgbClr val="2C14DE"/>
                </a:solidFill>
                <a:ea typeface="ＭＳ Ｐゴシック" panose="020B0600070205080204" pitchFamily="34" charset="-128"/>
              </a:rPr>
              <a:t>features</a:t>
            </a:r>
            <a:r>
              <a:rPr lang="en-US" dirty="0">
                <a:solidFill>
                  <a:srgbClr val="2C14DE"/>
                </a:solidFill>
                <a:ea typeface="ＭＳ Ｐゴシック" panose="020B0600070205080204" pitchFamily="34" charset="-128"/>
              </a:rPr>
              <a:t> </a:t>
            </a:r>
            <a:r>
              <a:rPr lang="en-US" dirty="0">
                <a:ea typeface="ＭＳ Ｐゴシック" panose="020B0600070205080204" pitchFamily="34" charset="-128"/>
              </a:rPr>
              <a:t>of </a:t>
            </a:r>
            <a:r>
              <a:rPr lang="en-US" b="1" u="sng" dirty="0">
                <a:ea typeface="ＭＳ Ｐゴシック" panose="020B0600070205080204" pitchFamily="34" charset="-128"/>
              </a:rPr>
              <a:t>existing classes </a:t>
            </a:r>
            <a:r>
              <a:rPr lang="en-US" dirty="0">
                <a:ea typeface="ＭＳ Ｐゴシック" panose="020B0600070205080204" pitchFamily="34" charset="-128"/>
              </a:rPr>
              <a:t>including their </a:t>
            </a:r>
            <a:r>
              <a:rPr lang="en-US" b="1" u="sng" dirty="0">
                <a:solidFill>
                  <a:srgbClr val="FF3300"/>
                </a:solidFill>
                <a:ea typeface="ＭＳ Ｐゴシック" panose="020B0600070205080204" pitchFamily="34" charset="-128"/>
              </a:rPr>
              <a:t>data</a:t>
            </a:r>
            <a:r>
              <a:rPr lang="en-US" dirty="0">
                <a:ea typeface="ＭＳ Ｐゴシック" panose="020B0600070205080204" pitchFamily="34" charset="-128"/>
              </a:rPr>
              <a:t> and </a:t>
            </a:r>
            <a:r>
              <a:rPr lang="en-US" b="1" u="sng" dirty="0">
                <a:solidFill>
                  <a:srgbClr val="FF3300"/>
                </a:solidFill>
                <a:ea typeface="ＭＳ Ｐゴシック" panose="020B0600070205080204" pitchFamily="34" charset="-128"/>
              </a:rPr>
              <a:t>functions</a:t>
            </a:r>
            <a:r>
              <a:rPr lang="en-US" dirty="0">
                <a:ea typeface="ＭＳ Ｐゴシック" panose="020B0600070205080204" pitchFamily="34" charset="-128"/>
              </a:rPr>
              <a:t>. </a:t>
            </a:r>
          </a:p>
          <a:p>
            <a:endParaRPr lang="en-US" dirty="0">
              <a:ea typeface="ＭＳ Ｐゴシック" panose="020B0600070205080204" pitchFamily="34" charset="-128"/>
            </a:endParaRPr>
          </a:p>
          <a:p>
            <a:r>
              <a:rPr lang="en-US" dirty="0">
                <a:ea typeface="ＭＳ Ｐゴシック" panose="020B0600070205080204" pitchFamily="34" charset="-128"/>
              </a:rPr>
              <a:t>Also </a:t>
            </a:r>
            <a:r>
              <a:rPr lang="en-US" b="1" dirty="0">
                <a:solidFill>
                  <a:srgbClr val="0000FF"/>
                </a:solidFill>
                <a:ea typeface="ＭＳ Ｐゴシック" panose="020B0600070205080204" pitchFamily="34" charset="-128"/>
              </a:rPr>
              <a:t>enhance</a:t>
            </a:r>
            <a:r>
              <a:rPr lang="en-US" dirty="0">
                <a:ea typeface="ＭＳ Ｐゴシック" panose="020B0600070205080204" pitchFamily="34" charset="-128"/>
              </a:rPr>
              <a:t> them by </a:t>
            </a:r>
            <a:r>
              <a:rPr lang="en-US" b="1" dirty="0">
                <a:solidFill>
                  <a:srgbClr val="2C14DE"/>
                </a:solidFill>
                <a:ea typeface="ＭＳ Ｐゴシック" panose="020B0600070205080204" pitchFamily="34" charset="-128"/>
              </a:rPr>
              <a:t>adding</a:t>
            </a:r>
            <a:r>
              <a:rPr lang="en-US" dirty="0">
                <a:solidFill>
                  <a:srgbClr val="2C14DE"/>
                </a:solidFill>
                <a:ea typeface="ＭＳ Ｐゴシック" panose="020B0600070205080204" pitchFamily="34" charset="-128"/>
              </a:rPr>
              <a:t> </a:t>
            </a:r>
            <a:r>
              <a:rPr lang="en-US" dirty="0">
                <a:ea typeface="ＭＳ Ｐゴシック" panose="020B0600070205080204" pitchFamily="34" charset="-128"/>
              </a:rPr>
              <a:t>their </a:t>
            </a:r>
            <a:r>
              <a:rPr lang="en-US" b="1" dirty="0">
                <a:solidFill>
                  <a:srgbClr val="2C14DE"/>
                </a:solidFill>
                <a:ea typeface="ＭＳ Ｐゴシック" panose="020B0600070205080204" pitchFamily="34" charset="-128"/>
              </a:rPr>
              <a:t>own new features</a:t>
            </a:r>
            <a:r>
              <a:rPr lang="en-US" dirty="0">
                <a:ea typeface="ＭＳ Ｐゴシック" panose="020B0600070205080204" pitchFamily="34" charset="-128"/>
              </a:rPr>
              <a:t> in form of </a:t>
            </a:r>
            <a:r>
              <a:rPr lang="en-US" b="1" dirty="0">
                <a:solidFill>
                  <a:srgbClr val="FF0000"/>
                </a:solidFill>
                <a:ea typeface="ＭＳ Ｐゴシック" panose="020B0600070205080204" pitchFamily="34" charset="-128"/>
              </a:rPr>
              <a:t>new data members </a:t>
            </a:r>
            <a:r>
              <a:rPr lang="en-US" dirty="0">
                <a:ea typeface="ＭＳ Ｐゴシック" panose="020B0600070205080204" pitchFamily="34" charset="-128"/>
              </a:rPr>
              <a:t>and </a:t>
            </a:r>
            <a:r>
              <a:rPr lang="en-US" b="1" dirty="0">
                <a:solidFill>
                  <a:srgbClr val="FF0000"/>
                </a:solidFill>
                <a:ea typeface="ＭＳ Ｐゴシック" panose="020B0600070205080204" pitchFamily="34" charset="-128"/>
              </a:rPr>
              <a:t>new member functions</a:t>
            </a:r>
          </a:p>
          <a:p>
            <a:endParaRPr lang="en-US" dirty="0"/>
          </a:p>
        </p:txBody>
      </p:sp>
    </p:spTree>
    <p:extLst>
      <p:ext uri="{BB962C8B-B14F-4D97-AF65-F5344CB8AC3E}">
        <p14:creationId xmlns:p14="http://schemas.microsoft.com/office/powerpoint/2010/main" val="457810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t>
            </a:r>
            <a:r>
              <a:rPr lang="en-US" dirty="0" smtClean="0"/>
              <a:t>nheritance</a:t>
            </a:r>
            <a:endParaRPr lang="en-US" dirty="0"/>
          </a:p>
        </p:txBody>
      </p:sp>
      <p:sp>
        <p:nvSpPr>
          <p:cNvPr id="3" name="Content Placeholder 2"/>
          <p:cNvSpPr>
            <a:spLocks noGrp="1"/>
          </p:cNvSpPr>
          <p:nvPr>
            <p:ph idx="1"/>
          </p:nvPr>
        </p:nvSpPr>
        <p:spPr/>
        <p:txBody>
          <a:bodyPr/>
          <a:lstStyle/>
          <a:p>
            <a:r>
              <a:rPr lang="en-US" b="1" dirty="0">
                <a:solidFill>
                  <a:srgbClr val="2C14DE"/>
                </a:solidFill>
                <a:ea typeface="ＭＳ Ｐゴシック" panose="020B0600070205080204" pitchFamily="34" charset="-128"/>
              </a:rPr>
              <a:t>Existing classes </a:t>
            </a:r>
            <a:r>
              <a:rPr lang="en-US" dirty="0">
                <a:ea typeface="ＭＳ Ｐゴシック" panose="020B0600070205080204" pitchFamily="34" charset="-128"/>
              </a:rPr>
              <a:t>are called </a:t>
            </a:r>
            <a:r>
              <a:rPr lang="en-US" b="1" u="sng" dirty="0">
                <a:solidFill>
                  <a:srgbClr val="D20000"/>
                </a:solidFill>
                <a:ea typeface="ＭＳ Ｐゴシック" panose="020B0600070205080204" pitchFamily="34" charset="-128"/>
              </a:rPr>
              <a:t>base classes</a:t>
            </a:r>
          </a:p>
          <a:p>
            <a:r>
              <a:rPr lang="en-US" b="1" dirty="0">
                <a:solidFill>
                  <a:srgbClr val="2C14DE"/>
                </a:solidFill>
                <a:ea typeface="ＭＳ Ｐゴシック" panose="020B0600070205080204" pitchFamily="34" charset="-128"/>
              </a:rPr>
              <a:t>New classes </a:t>
            </a:r>
            <a:r>
              <a:rPr lang="en-US" dirty="0">
                <a:ea typeface="ＭＳ Ｐゴシック" panose="020B0600070205080204" pitchFamily="34" charset="-128"/>
              </a:rPr>
              <a:t>are called </a:t>
            </a:r>
            <a:r>
              <a:rPr lang="en-US" b="1" u="sng" dirty="0">
                <a:solidFill>
                  <a:srgbClr val="D20000"/>
                </a:solidFill>
                <a:ea typeface="ＭＳ Ｐゴシック" panose="020B0600070205080204" pitchFamily="34" charset="-128"/>
              </a:rPr>
              <a:t>derived classes</a:t>
            </a:r>
          </a:p>
          <a:p>
            <a:r>
              <a:rPr lang="en-US" b="1" dirty="0">
                <a:ea typeface="ＭＳ Ｐゴシック" panose="020B0600070205080204" pitchFamily="34" charset="-128"/>
              </a:rPr>
              <a:t>Objects</a:t>
            </a:r>
            <a:r>
              <a:rPr lang="en-US" dirty="0">
                <a:ea typeface="ＭＳ Ｐゴシック" panose="020B0600070205080204" pitchFamily="34" charset="-128"/>
              </a:rPr>
              <a:t> of </a:t>
            </a:r>
            <a:r>
              <a:rPr lang="en-US" b="1" dirty="0">
                <a:ea typeface="ＭＳ Ｐゴシック" panose="020B0600070205080204" pitchFamily="34" charset="-128"/>
              </a:rPr>
              <a:t>derived classes </a:t>
            </a:r>
            <a:r>
              <a:rPr lang="en-US" dirty="0">
                <a:ea typeface="ＭＳ Ｐゴシック" panose="020B0600070205080204" pitchFamily="34" charset="-128"/>
              </a:rPr>
              <a:t>are </a:t>
            </a:r>
            <a:r>
              <a:rPr lang="en-US" b="1" dirty="0">
                <a:ea typeface="ＭＳ Ｐゴシック" panose="020B0600070205080204" pitchFamily="34" charset="-128"/>
              </a:rPr>
              <a:t>more</a:t>
            </a:r>
            <a:r>
              <a:rPr lang="en-US" dirty="0">
                <a:ea typeface="ＭＳ Ｐゴシック" panose="020B0600070205080204" pitchFamily="34" charset="-128"/>
              </a:rPr>
              <a:t> </a:t>
            </a:r>
            <a:r>
              <a:rPr lang="en-US" b="1" dirty="0">
                <a:solidFill>
                  <a:srgbClr val="0000FF"/>
                </a:solidFill>
                <a:ea typeface="ＭＳ Ｐゴシック" panose="020B0600070205080204" pitchFamily="34" charset="-128"/>
              </a:rPr>
              <a:t>specialized</a:t>
            </a:r>
            <a:r>
              <a:rPr lang="en-US" dirty="0">
                <a:ea typeface="ＭＳ Ｐゴシック" panose="020B0600070205080204" pitchFamily="34" charset="-128"/>
              </a:rPr>
              <a:t> as compared to </a:t>
            </a:r>
            <a:r>
              <a:rPr lang="en-US" b="1" dirty="0">
                <a:ea typeface="ＭＳ Ｐゴシック" panose="020B0600070205080204" pitchFamily="34" charset="-128"/>
              </a:rPr>
              <a:t>objects of their base classes</a:t>
            </a:r>
          </a:p>
          <a:p>
            <a:endParaRPr lang="en-US" sz="1600" dirty="0">
              <a:ea typeface="ＭＳ Ｐゴシック" panose="020B0600070205080204" pitchFamily="34" charset="-128"/>
            </a:endParaRPr>
          </a:p>
          <a:p>
            <a:endParaRPr lang="en-US" sz="1600" dirty="0">
              <a:ea typeface="ＭＳ Ｐゴシック" panose="020B0600070205080204" pitchFamily="34" charset="-128"/>
            </a:endParaRPr>
          </a:p>
          <a:p>
            <a:pPr algn="just"/>
            <a:r>
              <a:rPr lang="en-US" b="1" dirty="0">
                <a:solidFill>
                  <a:srgbClr val="D20000"/>
                </a:solidFill>
                <a:ea typeface="ＭＳ Ｐゴシック" panose="020B0600070205080204" pitchFamily="34" charset="-128"/>
              </a:rPr>
              <a:t>Inheritance</a:t>
            </a:r>
            <a:r>
              <a:rPr lang="en-US" dirty="0">
                <a:solidFill>
                  <a:srgbClr val="D20000"/>
                </a:solidFill>
                <a:ea typeface="ＭＳ Ｐゴシック" panose="020B0600070205080204" pitchFamily="34" charset="-128"/>
              </a:rPr>
              <a:t> </a:t>
            </a:r>
            <a:r>
              <a:rPr lang="en-US" dirty="0">
                <a:ea typeface="ＭＳ Ｐゴシック" panose="020B0600070205080204" pitchFamily="34" charset="-128"/>
              </a:rPr>
              <a:t>provides us a </a:t>
            </a:r>
            <a:r>
              <a:rPr lang="en-US" b="1" dirty="0">
                <a:ea typeface="ＭＳ Ｐゴシック" panose="020B0600070205080204" pitchFamily="34" charset="-128"/>
              </a:rPr>
              <a:t>mechanism</a:t>
            </a:r>
            <a:r>
              <a:rPr lang="en-US" dirty="0">
                <a:ea typeface="ＭＳ Ｐゴシック" panose="020B0600070205080204" pitchFamily="34" charset="-128"/>
              </a:rPr>
              <a:t> of </a:t>
            </a:r>
            <a:r>
              <a:rPr lang="en-US" b="1" u="sng" dirty="0">
                <a:solidFill>
                  <a:srgbClr val="0000FF"/>
                </a:solidFill>
                <a:ea typeface="ＭＳ Ｐゴシック" panose="020B0600070205080204" pitchFamily="34" charset="-128"/>
              </a:rPr>
              <a:t>software reusability</a:t>
            </a:r>
            <a:r>
              <a:rPr lang="en-US" dirty="0">
                <a:ea typeface="ＭＳ Ｐゴシック" panose="020B0600070205080204" pitchFamily="34" charset="-128"/>
              </a:rPr>
              <a:t> which is one of the </a:t>
            </a:r>
            <a:r>
              <a:rPr lang="en-US" b="1" dirty="0">
                <a:ea typeface="ＭＳ Ｐゴシック" panose="020B0600070205080204" pitchFamily="34" charset="-128"/>
              </a:rPr>
              <a:t>most important principles </a:t>
            </a:r>
            <a:r>
              <a:rPr lang="en-US" dirty="0">
                <a:ea typeface="ＭＳ Ｐゴシック" panose="020B0600070205080204" pitchFamily="34" charset="-128"/>
              </a:rPr>
              <a:t>of </a:t>
            </a:r>
            <a:r>
              <a:rPr lang="en-US" b="1" dirty="0">
                <a:ea typeface="ＭＳ Ｐゴシック" panose="020B0600070205080204" pitchFamily="34" charset="-128"/>
              </a:rPr>
              <a:t>software engineering</a:t>
            </a:r>
            <a:endParaRPr lang="en-US" b="1" dirty="0">
              <a:solidFill>
                <a:srgbClr val="FF0000"/>
              </a:solidFill>
              <a:ea typeface="ＭＳ Ｐゴシック" panose="020B0600070205080204" pitchFamily="34" charset="-128"/>
            </a:endParaRPr>
          </a:p>
          <a:p>
            <a:endParaRPr lang="en-US" dirty="0"/>
          </a:p>
        </p:txBody>
      </p:sp>
    </p:spTree>
    <p:extLst>
      <p:ext uri="{BB962C8B-B14F-4D97-AF65-F5344CB8AC3E}">
        <p14:creationId xmlns:p14="http://schemas.microsoft.com/office/powerpoint/2010/main" val="1933134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Inheritance </a:t>
            </a:r>
            <a:endParaRPr lang="en-US" dirty="0"/>
          </a:p>
        </p:txBody>
      </p:sp>
      <p:sp>
        <p:nvSpPr>
          <p:cNvPr id="3" name="Content Placeholder 2"/>
          <p:cNvSpPr>
            <a:spLocks noGrp="1"/>
          </p:cNvSpPr>
          <p:nvPr>
            <p:ph idx="1"/>
          </p:nvPr>
        </p:nvSpPr>
        <p:spPr/>
        <p:txBody>
          <a:bodyPr/>
          <a:lstStyle/>
          <a:p>
            <a:r>
              <a:rPr lang="en-US" b="1" dirty="0">
                <a:solidFill>
                  <a:srgbClr val="2C14DE"/>
                </a:solidFill>
                <a:ea typeface="ＭＳ Ｐゴシック" panose="020B0600070205080204" pitchFamily="34" charset="-128"/>
              </a:rPr>
              <a:t>All data members </a:t>
            </a:r>
            <a:r>
              <a:rPr lang="en-US" dirty="0">
                <a:ea typeface="ＭＳ Ｐゴシック" panose="020B0600070205080204" pitchFamily="34" charset="-128"/>
              </a:rPr>
              <a:t>and </a:t>
            </a:r>
            <a:r>
              <a:rPr lang="en-US" b="1" dirty="0">
                <a:solidFill>
                  <a:srgbClr val="2C14DE"/>
                </a:solidFill>
                <a:ea typeface="ＭＳ Ｐゴシック" panose="020B0600070205080204" pitchFamily="34" charset="-128"/>
              </a:rPr>
              <a:t>member functions </a:t>
            </a:r>
            <a:r>
              <a:rPr lang="en-US" dirty="0">
                <a:ea typeface="ＭＳ Ｐゴシック" panose="020B0600070205080204" pitchFamily="34" charset="-128"/>
              </a:rPr>
              <a:t>of </a:t>
            </a:r>
            <a:r>
              <a:rPr lang="en-US" b="1" dirty="0">
                <a:solidFill>
                  <a:srgbClr val="2C14DE"/>
                </a:solidFill>
                <a:ea typeface="ＭＳ Ｐゴシック" panose="020B0600070205080204" pitchFamily="34" charset="-128"/>
              </a:rPr>
              <a:t>base</a:t>
            </a:r>
            <a:r>
              <a:rPr lang="en-US" b="1" dirty="0">
                <a:ea typeface="ＭＳ Ｐゴシック" panose="020B0600070205080204" pitchFamily="34" charset="-128"/>
              </a:rPr>
              <a:t> </a:t>
            </a:r>
            <a:r>
              <a:rPr lang="en-US" b="1" dirty="0">
                <a:solidFill>
                  <a:srgbClr val="2C14DE"/>
                </a:solidFill>
                <a:ea typeface="ＭＳ Ｐゴシック" panose="020B0600070205080204" pitchFamily="34" charset="-128"/>
              </a:rPr>
              <a:t>class</a:t>
            </a:r>
            <a:r>
              <a:rPr lang="en-US" dirty="0">
                <a:solidFill>
                  <a:srgbClr val="2C14DE"/>
                </a:solidFill>
                <a:ea typeface="ＭＳ Ｐゴシック" panose="020B0600070205080204" pitchFamily="34" charset="-128"/>
              </a:rPr>
              <a:t> </a:t>
            </a:r>
            <a:r>
              <a:rPr lang="en-US" dirty="0">
                <a:ea typeface="ＭＳ Ｐゴシック" panose="020B0600070205080204" pitchFamily="34" charset="-128"/>
              </a:rPr>
              <a:t>are </a:t>
            </a:r>
            <a:r>
              <a:rPr lang="en-US" b="1" dirty="0">
                <a:solidFill>
                  <a:srgbClr val="2C14DE"/>
                </a:solidFill>
                <a:ea typeface="ＭＳ Ｐゴシック" panose="020B0600070205080204" pitchFamily="34" charset="-128"/>
              </a:rPr>
              <a:t>inherited</a:t>
            </a:r>
            <a:r>
              <a:rPr lang="en-US" b="1" dirty="0">
                <a:ea typeface="ＭＳ Ｐゴシック" panose="020B0600070205080204" pitchFamily="34" charset="-128"/>
              </a:rPr>
              <a:t> </a:t>
            </a:r>
            <a:r>
              <a:rPr lang="en-US" dirty="0">
                <a:ea typeface="ＭＳ Ｐゴシック" panose="020B0600070205080204" pitchFamily="34" charset="-128"/>
              </a:rPr>
              <a:t>to</a:t>
            </a:r>
            <a:r>
              <a:rPr lang="en-US" b="1" dirty="0">
                <a:ea typeface="ＭＳ Ｐゴシック" panose="020B0600070205080204" pitchFamily="34" charset="-128"/>
              </a:rPr>
              <a:t> derived class</a:t>
            </a:r>
          </a:p>
          <a:p>
            <a:endParaRPr lang="en-US" dirty="0">
              <a:ea typeface="ＭＳ Ｐゴシック" panose="020B0600070205080204" pitchFamily="34" charset="-128"/>
            </a:endParaRPr>
          </a:p>
          <a:p>
            <a:r>
              <a:rPr lang="en-US" b="1" dirty="0">
                <a:solidFill>
                  <a:srgbClr val="00B0F0"/>
                </a:solidFill>
                <a:ea typeface="ＭＳ Ｐゴシック" panose="020B0600070205080204" pitchFamily="34" charset="-128"/>
              </a:rPr>
              <a:t>Constructors</a:t>
            </a:r>
            <a:r>
              <a:rPr lang="en-US" dirty="0">
                <a:ea typeface="ＭＳ Ｐゴシック" panose="020B0600070205080204" pitchFamily="34" charset="-128"/>
              </a:rPr>
              <a:t>, </a:t>
            </a:r>
            <a:r>
              <a:rPr lang="en-US" b="1" dirty="0">
                <a:solidFill>
                  <a:srgbClr val="00B0F0"/>
                </a:solidFill>
                <a:ea typeface="ＭＳ Ｐゴシック" panose="020B0600070205080204" pitchFamily="34" charset="-128"/>
              </a:rPr>
              <a:t>destructors</a:t>
            </a:r>
            <a:r>
              <a:rPr lang="en-US" dirty="0">
                <a:ea typeface="ＭＳ Ｐゴシック" panose="020B0600070205080204" pitchFamily="34" charset="-128"/>
              </a:rPr>
              <a:t> and </a:t>
            </a:r>
            <a:r>
              <a:rPr lang="en-US" b="1" dirty="0">
                <a:solidFill>
                  <a:srgbClr val="00B0F0"/>
                </a:solidFill>
                <a:ea typeface="ＭＳ Ｐゴシック" panose="020B0600070205080204" pitchFamily="34" charset="-128"/>
              </a:rPr>
              <a:t>= operator </a:t>
            </a:r>
            <a:r>
              <a:rPr lang="en-US" dirty="0">
                <a:ea typeface="ＭＳ Ｐゴシック" panose="020B0600070205080204" pitchFamily="34" charset="-128"/>
              </a:rPr>
              <a:t>are </a:t>
            </a:r>
            <a:r>
              <a:rPr lang="en-US" b="1" u="sng" dirty="0">
                <a:solidFill>
                  <a:srgbClr val="D20000"/>
                </a:solidFill>
                <a:ea typeface="ＭＳ Ｐゴシック" panose="020B0600070205080204" pitchFamily="34" charset="-128"/>
              </a:rPr>
              <a:t>not </a:t>
            </a:r>
            <a:r>
              <a:rPr lang="en-US" b="1" u="sng" dirty="0" smtClean="0">
                <a:solidFill>
                  <a:srgbClr val="D20000"/>
                </a:solidFill>
                <a:ea typeface="ＭＳ Ｐゴシック" panose="020B0600070205080204" pitchFamily="34" charset="-128"/>
              </a:rPr>
              <a:t>inherited </a:t>
            </a:r>
            <a:endParaRPr lang="en-US" b="1" u="sng" dirty="0">
              <a:solidFill>
                <a:srgbClr val="D20000"/>
              </a:solidFill>
              <a:ea typeface="ＭＳ Ｐゴシック" panose="020B0600070205080204" pitchFamily="34" charset="-128"/>
            </a:endParaRPr>
          </a:p>
          <a:p>
            <a:endParaRPr lang="en-US" dirty="0"/>
          </a:p>
        </p:txBody>
      </p:sp>
    </p:spTree>
    <p:extLst>
      <p:ext uri="{BB962C8B-B14F-4D97-AF65-F5344CB8AC3E}">
        <p14:creationId xmlns:p14="http://schemas.microsoft.com/office/powerpoint/2010/main" val="3902419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inheritance -</a:t>
            </a:r>
            <a:r>
              <a:rPr lang="en-US" b="1" dirty="0"/>
              <a:t>Benefits</a:t>
            </a:r>
            <a:r>
              <a:rPr lang="en-US" dirty="0"/>
              <a:t>:</a:t>
            </a:r>
            <a:br>
              <a:rPr lang="en-US" dirty="0"/>
            </a:br>
            <a:endParaRPr lang="en-US" dirty="0"/>
          </a:p>
        </p:txBody>
      </p:sp>
      <p:sp>
        <p:nvSpPr>
          <p:cNvPr id="3" name="Content Placeholder 2"/>
          <p:cNvSpPr>
            <a:spLocks noGrp="1"/>
          </p:cNvSpPr>
          <p:nvPr>
            <p:ph idx="1"/>
          </p:nvPr>
        </p:nvSpPr>
        <p:spPr>
          <a:xfrm>
            <a:off x="677334" y="1493949"/>
            <a:ext cx="8596668" cy="4547413"/>
          </a:xfrm>
        </p:spPr>
        <p:txBody>
          <a:bodyPr/>
          <a:lstStyle/>
          <a:p>
            <a:r>
              <a:rPr lang="en-US" b="1" dirty="0" smtClean="0"/>
              <a:t>Reusability</a:t>
            </a:r>
            <a:r>
              <a:rPr lang="en-US" dirty="0"/>
              <a:t>: Code defined in one class can be reused by other classes.</a:t>
            </a:r>
          </a:p>
          <a:p>
            <a:r>
              <a:rPr lang="en-US" b="1" dirty="0"/>
              <a:t>Extensibility</a:t>
            </a:r>
            <a:r>
              <a:rPr lang="en-US" dirty="0"/>
              <a:t>: A derived class can extend the functionality of the base class.</a:t>
            </a:r>
          </a:p>
          <a:p>
            <a:r>
              <a:rPr lang="en-US" b="1" dirty="0"/>
              <a:t>Maintainability</a:t>
            </a:r>
            <a:r>
              <a:rPr lang="en-US" dirty="0"/>
              <a:t>: Centralizing common code in a base class makes it easier to update and maintain.</a:t>
            </a:r>
          </a:p>
          <a:p>
            <a:pPr>
              <a:lnSpc>
                <a:spcPct val="150000"/>
              </a:lnSpc>
            </a:pPr>
            <a:endParaRPr lang="en-US" dirty="0"/>
          </a:p>
        </p:txBody>
      </p:sp>
    </p:spTree>
    <p:extLst>
      <p:ext uri="{BB962C8B-B14F-4D97-AF65-F5344CB8AC3E}">
        <p14:creationId xmlns:p14="http://schemas.microsoft.com/office/powerpoint/2010/main" val="3480556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 of Inheritance </a:t>
            </a:r>
            <a:endParaRPr lang="en-US" dirty="0"/>
          </a:p>
        </p:txBody>
      </p:sp>
      <p:sp>
        <p:nvSpPr>
          <p:cNvPr id="3" name="Content Placeholder 2"/>
          <p:cNvSpPr>
            <a:spLocks noGrp="1"/>
          </p:cNvSpPr>
          <p:nvPr>
            <p:ph idx="1"/>
          </p:nvPr>
        </p:nvSpPr>
        <p:spPr>
          <a:xfrm>
            <a:off x="677334" y="1390919"/>
            <a:ext cx="8596668" cy="4650444"/>
          </a:xfrm>
        </p:spPr>
        <p:txBody>
          <a:bodyPr/>
          <a:lstStyle/>
          <a:p>
            <a:pPr marL="0" indent="0">
              <a:buNone/>
            </a:pPr>
            <a:r>
              <a:rPr lang="en-US" b="1" dirty="0"/>
              <a:t>Single Inheritance</a:t>
            </a:r>
          </a:p>
          <a:p>
            <a:r>
              <a:rPr lang="en-US" dirty="0"/>
              <a:t>In single inheritance, a derived class inherits from only one base class. This is the most straightforward form of </a:t>
            </a:r>
            <a:r>
              <a:rPr lang="en-US" dirty="0" smtClean="0"/>
              <a:t>inheritance.</a:t>
            </a:r>
          </a:p>
          <a:p>
            <a:pPr marL="0" indent="0">
              <a:buNone/>
            </a:pPr>
            <a:r>
              <a:rPr lang="en-US" b="1" dirty="0" smtClean="0"/>
              <a:t>Multiple </a:t>
            </a:r>
            <a:r>
              <a:rPr lang="en-US" b="1" dirty="0"/>
              <a:t>Inheritance</a:t>
            </a:r>
          </a:p>
          <a:p>
            <a:r>
              <a:rPr lang="en-US" dirty="0"/>
              <a:t>Multiple inheritance allows a derived class to inherit from more than one base class. This is useful when a class needs to combine functionalities from multiple classes, but it can also introduce complexity.</a:t>
            </a:r>
          </a:p>
          <a:p>
            <a:pPr marL="0" indent="0">
              <a:buNone/>
            </a:pPr>
            <a:r>
              <a:rPr lang="en-US" b="1" dirty="0"/>
              <a:t>Hierarchical Inheritance</a:t>
            </a:r>
          </a:p>
          <a:p>
            <a:r>
              <a:rPr lang="en-US" dirty="0"/>
              <a:t>Hierarchical inheritance occurs when multiple derived classes inherit from the same base class. This is useful for creating a variety of specialized classes based on a single base class.</a:t>
            </a:r>
          </a:p>
          <a:p>
            <a:endParaRPr lang="en-US" dirty="0"/>
          </a:p>
        </p:txBody>
      </p:sp>
    </p:spTree>
    <p:extLst>
      <p:ext uri="{BB962C8B-B14F-4D97-AF65-F5344CB8AC3E}">
        <p14:creationId xmlns:p14="http://schemas.microsoft.com/office/powerpoint/2010/main" val="2998565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 of Inheritance </a:t>
            </a:r>
            <a:endParaRPr lang="en-US" dirty="0"/>
          </a:p>
        </p:txBody>
      </p:sp>
      <p:sp>
        <p:nvSpPr>
          <p:cNvPr id="3" name="Content Placeholder 2"/>
          <p:cNvSpPr>
            <a:spLocks noGrp="1"/>
          </p:cNvSpPr>
          <p:nvPr>
            <p:ph idx="1"/>
          </p:nvPr>
        </p:nvSpPr>
        <p:spPr>
          <a:xfrm>
            <a:off x="677334" y="1390919"/>
            <a:ext cx="8596668" cy="4650444"/>
          </a:xfrm>
        </p:spPr>
        <p:txBody>
          <a:bodyPr/>
          <a:lstStyle/>
          <a:p>
            <a:pPr marL="0" indent="0">
              <a:buNone/>
            </a:pPr>
            <a:r>
              <a:rPr lang="en-US" b="1" dirty="0"/>
              <a:t>Multilevel Inheritance</a:t>
            </a:r>
          </a:p>
          <a:p>
            <a:r>
              <a:rPr lang="en-US" dirty="0"/>
              <a:t>In multilevel inheritance, a derived class is created from another derived class, creating a chain of inheritance. This can be thought of as an “inheritance ladder</a:t>
            </a:r>
            <a:r>
              <a:rPr lang="en-US" dirty="0" smtClean="0"/>
              <a:t>.”</a:t>
            </a:r>
          </a:p>
          <a:p>
            <a:pPr marL="0" indent="0">
              <a:buNone/>
            </a:pPr>
            <a:r>
              <a:rPr lang="en-US" b="1" dirty="0"/>
              <a:t>Hybrid inheritance</a:t>
            </a:r>
          </a:p>
          <a:p>
            <a:r>
              <a:rPr lang="en-US" dirty="0"/>
              <a:t>Hybrid inheritance is a combination of two or more types of inheritance. It often involves multiple and hierarchical inheritance to form a complex hierarchy</a:t>
            </a:r>
            <a:r>
              <a:rPr lang="en-US" dirty="0" smtClean="0"/>
              <a:t>,</a:t>
            </a:r>
          </a:p>
          <a:p>
            <a:endParaRPr lang="en-US" dirty="0"/>
          </a:p>
        </p:txBody>
      </p:sp>
    </p:spTree>
    <p:extLst>
      <p:ext uri="{BB962C8B-B14F-4D97-AF65-F5344CB8AC3E}">
        <p14:creationId xmlns:p14="http://schemas.microsoft.com/office/powerpoint/2010/main" val="223720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Single inheritance</a:t>
            </a:r>
          </a:p>
        </p:txBody>
      </p:sp>
      <p:sp>
        <p:nvSpPr>
          <p:cNvPr id="5" name="Content Placeholder 4"/>
          <p:cNvSpPr>
            <a:spLocks noGrp="1"/>
          </p:cNvSpPr>
          <p:nvPr>
            <p:ph sz="half" idx="1"/>
          </p:nvPr>
        </p:nvSpPr>
        <p:spPr/>
        <p:txBody>
          <a:bodyPr/>
          <a:lstStyle/>
          <a:p>
            <a:r>
              <a:rPr lang="en-US" dirty="0"/>
              <a:t>Single inheritance is the simplest form of inheritance, where a single derived class inherits from one base class. This is beneficial for cases where there’s a clear “is-a” relationship between two classes.</a:t>
            </a:r>
          </a:p>
        </p:txBody>
      </p:sp>
      <p:pic>
        <p:nvPicPr>
          <p:cNvPr id="7" name="Content Placeholder 6"/>
          <p:cNvPicPr>
            <a:picLocks noGrp="1" noChangeAspect="1"/>
          </p:cNvPicPr>
          <p:nvPr>
            <p:ph sz="half" idx="2"/>
          </p:nvPr>
        </p:nvPicPr>
        <p:blipFill>
          <a:blip r:embed="rId2"/>
          <a:stretch>
            <a:fillRect/>
          </a:stretch>
        </p:blipFill>
        <p:spPr>
          <a:xfrm>
            <a:off x="5286643" y="2160589"/>
            <a:ext cx="6092035" cy="2926566"/>
          </a:xfrm>
          <a:prstGeom prst="rect">
            <a:avLst/>
          </a:prstGeom>
        </p:spPr>
      </p:pic>
    </p:spTree>
    <p:extLst>
      <p:ext uri="{BB962C8B-B14F-4D97-AF65-F5344CB8AC3E}">
        <p14:creationId xmlns:p14="http://schemas.microsoft.com/office/powerpoint/2010/main" val="435950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Example</a:t>
            </a:r>
            <a:endParaRPr lang="en-US" dirty="0"/>
          </a:p>
        </p:txBody>
      </p:sp>
      <p:pic>
        <p:nvPicPr>
          <p:cNvPr id="7" name="Content Placeholder 6"/>
          <p:cNvPicPr>
            <a:picLocks noGrp="1" noChangeAspect="1"/>
          </p:cNvPicPr>
          <p:nvPr>
            <p:ph idx="1"/>
          </p:nvPr>
        </p:nvPicPr>
        <p:blipFill>
          <a:blip r:embed="rId2"/>
          <a:stretch>
            <a:fillRect/>
          </a:stretch>
        </p:blipFill>
        <p:spPr>
          <a:xfrm>
            <a:off x="5769736" y="210641"/>
            <a:ext cx="3606084" cy="6647359"/>
          </a:xfrm>
          <a:prstGeom prst="rect">
            <a:avLst/>
          </a:prstGeom>
        </p:spPr>
      </p:pic>
      <p:sp>
        <p:nvSpPr>
          <p:cNvPr id="6" name="Text Placeholder 5"/>
          <p:cNvSpPr>
            <a:spLocks noGrp="1"/>
          </p:cNvSpPr>
          <p:nvPr>
            <p:ph type="body" sz="half" idx="2"/>
          </p:nvPr>
        </p:nvSpPr>
        <p:spPr/>
        <p:txBody>
          <a:bodyPr/>
          <a:lstStyle/>
          <a:p>
            <a:pPr marL="285750" indent="-285750">
              <a:buFont typeface="Wingdings" panose="05000000000000000000" pitchFamily="2" charset="2"/>
              <a:buChar char="Ø"/>
            </a:pPr>
            <a:r>
              <a:rPr lang="en-US" dirty="0"/>
              <a:t>Animal is the base class with a method eat().</a:t>
            </a:r>
          </a:p>
          <a:p>
            <a:pPr marL="285750" indent="-285750">
              <a:buFont typeface="Wingdings" panose="05000000000000000000" pitchFamily="2" charset="2"/>
              <a:buChar char="Ø"/>
            </a:pPr>
            <a:r>
              <a:rPr lang="en-US" dirty="0"/>
              <a:t>Dog is the derived class, inheriting from Animal, and has its own method bark().</a:t>
            </a:r>
          </a:p>
          <a:p>
            <a:pPr marL="285750" indent="-285750">
              <a:buFont typeface="Wingdings" panose="05000000000000000000" pitchFamily="2" charset="2"/>
              <a:buChar char="Ø"/>
            </a:pPr>
            <a:r>
              <a:rPr lang="en-US" dirty="0"/>
              <a:t>Dog objects can use both eat() and bark() functions.</a:t>
            </a:r>
          </a:p>
        </p:txBody>
      </p:sp>
    </p:spTree>
    <p:extLst>
      <p:ext uri="{BB962C8B-B14F-4D97-AF65-F5344CB8AC3E}">
        <p14:creationId xmlns:p14="http://schemas.microsoft.com/office/powerpoint/2010/main" val="347318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Access </a:t>
            </a:r>
            <a:r>
              <a:rPr lang="en-US" dirty="0" err="1" smtClean="0"/>
              <a:t>Specifiers</a:t>
            </a:r>
            <a:r>
              <a:rPr lang="en-US" dirty="0" smtClean="0"/>
              <a:t> in inheritance</a:t>
            </a:r>
            <a:endParaRPr lang="en-US" dirty="0"/>
          </a:p>
        </p:txBody>
      </p:sp>
      <p:sp>
        <p:nvSpPr>
          <p:cNvPr id="6" name="Content Placeholder 5"/>
          <p:cNvSpPr>
            <a:spLocks noGrp="1"/>
          </p:cNvSpPr>
          <p:nvPr>
            <p:ph idx="1"/>
          </p:nvPr>
        </p:nvSpPr>
        <p:spPr/>
        <p:txBody>
          <a:bodyPr>
            <a:normAutofit/>
          </a:bodyPr>
          <a:lstStyle/>
          <a:p>
            <a:r>
              <a:rPr lang="en-US" dirty="0"/>
              <a:t>Access </a:t>
            </a:r>
            <a:r>
              <a:rPr lang="en-US" dirty="0" err="1"/>
              <a:t>specifiers</a:t>
            </a:r>
            <a:r>
              <a:rPr lang="en-US" dirty="0"/>
              <a:t> (public, protected, and private) define how the members of the base class are inherited in the derived class.</a:t>
            </a:r>
          </a:p>
          <a:p>
            <a:endParaRPr lang="en-US" dirty="0"/>
          </a:p>
          <a:p>
            <a:pPr marL="0" indent="0">
              <a:buNone/>
            </a:pPr>
            <a:r>
              <a:rPr lang="en-US" dirty="0"/>
              <a:t>Public Inheritance</a:t>
            </a:r>
            <a:r>
              <a:rPr lang="en-US" dirty="0" smtClean="0"/>
              <a:t>:</a:t>
            </a:r>
            <a:endParaRPr lang="en-US" dirty="0"/>
          </a:p>
          <a:p>
            <a:r>
              <a:rPr lang="en-US" dirty="0"/>
              <a:t>Public Inheritance (class Derived : public Base)</a:t>
            </a:r>
          </a:p>
          <a:p>
            <a:r>
              <a:rPr lang="en-US" dirty="0" smtClean="0"/>
              <a:t>Members </a:t>
            </a:r>
            <a:r>
              <a:rPr lang="en-US" dirty="0"/>
              <a:t>that are public in Base remain public in Derived.</a:t>
            </a:r>
          </a:p>
          <a:p>
            <a:r>
              <a:rPr lang="en-US" dirty="0"/>
              <a:t>Members that are protected in Base remain protected in Derived.</a:t>
            </a:r>
          </a:p>
          <a:p>
            <a:r>
              <a:rPr lang="en-US" dirty="0"/>
              <a:t>Members that are private in Base are not inherited by Derived.</a:t>
            </a:r>
          </a:p>
          <a:p>
            <a:r>
              <a:rPr lang="en-US" dirty="0"/>
              <a:t>This is the most common form of inheritance, as it maintains the public and protected accessibility of base class members in the derived class.</a:t>
            </a:r>
          </a:p>
        </p:txBody>
      </p:sp>
      <p:pic>
        <p:nvPicPr>
          <p:cNvPr id="8" name="Picture 7"/>
          <p:cNvPicPr>
            <a:picLocks noChangeAspect="1"/>
          </p:cNvPicPr>
          <p:nvPr/>
        </p:nvPicPr>
        <p:blipFill>
          <a:blip r:embed="rId2"/>
          <a:stretch>
            <a:fillRect/>
          </a:stretch>
        </p:blipFill>
        <p:spPr>
          <a:xfrm>
            <a:off x="5732913" y="2706522"/>
            <a:ext cx="6282806" cy="992022"/>
          </a:xfrm>
          <a:prstGeom prst="rect">
            <a:avLst/>
          </a:prstGeom>
        </p:spPr>
      </p:pic>
    </p:spTree>
    <p:extLst>
      <p:ext uri="{BB962C8B-B14F-4D97-AF65-F5344CB8AC3E}">
        <p14:creationId xmlns:p14="http://schemas.microsoft.com/office/powerpoint/2010/main" val="3598193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Access </a:t>
            </a:r>
            <a:r>
              <a:rPr lang="en-US" dirty="0" err="1" smtClean="0"/>
              <a:t>Specifiers</a:t>
            </a:r>
            <a:r>
              <a:rPr lang="en-US" dirty="0" smtClean="0"/>
              <a:t> in inheritance</a:t>
            </a:r>
            <a:endParaRPr lang="en-US" dirty="0"/>
          </a:p>
        </p:txBody>
      </p:sp>
      <p:sp>
        <p:nvSpPr>
          <p:cNvPr id="6" name="Content Placeholder 5"/>
          <p:cNvSpPr>
            <a:spLocks noGrp="1"/>
          </p:cNvSpPr>
          <p:nvPr>
            <p:ph idx="1"/>
          </p:nvPr>
        </p:nvSpPr>
        <p:spPr/>
        <p:txBody>
          <a:bodyPr>
            <a:normAutofit/>
          </a:bodyPr>
          <a:lstStyle/>
          <a:p>
            <a:pPr marL="0" indent="0">
              <a:buNone/>
            </a:pPr>
            <a:r>
              <a:rPr lang="en-US" dirty="0"/>
              <a:t>Protected Inheritance</a:t>
            </a:r>
            <a:r>
              <a:rPr lang="en-US" dirty="0" smtClean="0"/>
              <a:t>:</a:t>
            </a:r>
            <a:endParaRPr lang="en-US" dirty="0"/>
          </a:p>
          <a:p>
            <a:r>
              <a:rPr lang="en-US" dirty="0"/>
              <a:t>Protected Inheritance (class Derived : protected Base</a:t>
            </a:r>
            <a:r>
              <a:rPr lang="en-US" dirty="0" smtClean="0"/>
              <a:t>)</a:t>
            </a:r>
            <a:endParaRPr lang="en-US" dirty="0"/>
          </a:p>
          <a:p>
            <a:r>
              <a:rPr lang="en-US" dirty="0"/>
              <a:t>Members that are public in Base become protected in Derived.</a:t>
            </a:r>
          </a:p>
          <a:p>
            <a:r>
              <a:rPr lang="en-US" dirty="0"/>
              <a:t>Members that are protected in Base remain protected in Derived.</a:t>
            </a:r>
          </a:p>
          <a:p>
            <a:r>
              <a:rPr lang="en-US" dirty="0"/>
              <a:t>Members that are private in Base are not inherited by Derived.</a:t>
            </a:r>
          </a:p>
          <a:p>
            <a:r>
              <a:rPr lang="en-US" dirty="0"/>
              <a:t>This is useful when you want to limit access to base class members, even though they are public in the base class, to prevent access by outside classes or functions</a:t>
            </a:r>
            <a:r>
              <a:rPr lang="en-US" dirty="0" smtClean="0"/>
              <a:t>.</a:t>
            </a:r>
          </a:p>
        </p:txBody>
      </p:sp>
      <p:pic>
        <p:nvPicPr>
          <p:cNvPr id="3" name="Picture 2"/>
          <p:cNvPicPr>
            <a:picLocks noChangeAspect="1"/>
          </p:cNvPicPr>
          <p:nvPr/>
        </p:nvPicPr>
        <p:blipFill>
          <a:blip r:embed="rId2"/>
          <a:stretch>
            <a:fillRect/>
          </a:stretch>
        </p:blipFill>
        <p:spPr>
          <a:xfrm>
            <a:off x="843269" y="5233979"/>
            <a:ext cx="8264798" cy="1037572"/>
          </a:xfrm>
          <a:prstGeom prst="rect">
            <a:avLst/>
          </a:prstGeom>
        </p:spPr>
      </p:pic>
    </p:spTree>
    <p:extLst>
      <p:ext uri="{BB962C8B-B14F-4D97-AF65-F5344CB8AC3E}">
        <p14:creationId xmlns:p14="http://schemas.microsoft.com/office/powerpoint/2010/main" val="2295677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Access </a:t>
            </a:r>
            <a:r>
              <a:rPr lang="en-US" dirty="0" err="1" smtClean="0"/>
              <a:t>Specifiers</a:t>
            </a:r>
            <a:r>
              <a:rPr lang="en-US" dirty="0" smtClean="0"/>
              <a:t> in inheritance</a:t>
            </a:r>
            <a:endParaRPr lang="en-US" dirty="0"/>
          </a:p>
        </p:txBody>
      </p:sp>
      <p:sp>
        <p:nvSpPr>
          <p:cNvPr id="6" name="Content Placeholder 5"/>
          <p:cNvSpPr>
            <a:spLocks noGrp="1"/>
          </p:cNvSpPr>
          <p:nvPr>
            <p:ph idx="1"/>
          </p:nvPr>
        </p:nvSpPr>
        <p:spPr/>
        <p:txBody>
          <a:bodyPr>
            <a:normAutofit/>
          </a:bodyPr>
          <a:lstStyle/>
          <a:p>
            <a:pPr marL="0" indent="0">
              <a:buNone/>
            </a:pPr>
            <a:r>
              <a:rPr lang="en-US" dirty="0" smtClean="0"/>
              <a:t>Private </a:t>
            </a:r>
            <a:r>
              <a:rPr lang="en-US" dirty="0"/>
              <a:t>Inheritance</a:t>
            </a:r>
            <a:r>
              <a:rPr lang="en-US" dirty="0" smtClean="0"/>
              <a:t>:</a:t>
            </a:r>
            <a:endParaRPr lang="en-US" dirty="0"/>
          </a:p>
          <a:p>
            <a:pPr marL="0" indent="0">
              <a:buNone/>
            </a:pPr>
            <a:r>
              <a:rPr lang="en-US" dirty="0"/>
              <a:t>Private Inheritance (class Derived : private Base</a:t>
            </a:r>
            <a:r>
              <a:rPr lang="en-US" dirty="0" smtClean="0"/>
              <a:t>)</a:t>
            </a:r>
            <a:endParaRPr lang="en-US" dirty="0"/>
          </a:p>
          <a:p>
            <a:r>
              <a:rPr lang="en-US" dirty="0"/>
              <a:t>Members that are public and protected in Base become private in Derived.</a:t>
            </a:r>
          </a:p>
          <a:p>
            <a:r>
              <a:rPr lang="en-US" dirty="0"/>
              <a:t>Members that are private in Base are not inherited by Derived.</a:t>
            </a:r>
          </a:p>
          <a:p>
            <a:r>
              <a:rPr lang="en-US" dirty="0"/>
              <a:t>This makes all inherited members private to Derived, making them accessible only within the derived class itself. It’s used when you want to implement the base class’s features internally without exposing them to users of the derived class</a:t>
            </a:r>
            <a:r>
              <a:rPr lang="en-US" dirty="0" smtClean="0"/>
              <a:t>.</a:t>
            </a:r>
          </a:p>
          <a:p>
            <a:pPr marL="0" indent="0">
              <a:buNone/>
            </a:pPr>
            <a:endParaRPr lang="en-US" dirty="0"/>
          </a:p>
        </p:txBody>
      </p:sp>
      <p:pic>
        <p:nvPicPr>
          <p:cNvPr id="2" name="Picture 1"/>
          <p:cNvPicPr>
            <a:picLocks noChangeAspect="1"/>
          </p:cNvPicPr>
          <p:nvPr/>
        </p:nvPicPr>
        <p:blipFill>
          <a:blip r:embed="rId2"/>
          <a:stretch>
            <a:fillRect/>
          </a:stretch>
        </p:blipFill>
        <p:spPr>
          <a:xfrm>
            <a:off x="1073119" y="4970388"/>
            <a:ext cx="6160194" cy="1301163"/>
          </a:xfrm>
          <a:prstGeom prst="rect">
            <a:avLst/>
          </a:prstGeom>
        </p:spPr>
      </p:pic>
    </p:spTree>
    <p:extLst>
      <p:ext uri="{BB962C8B-B14F-4D97-AF65-F5344CB8AC3E}">
        <p14:creationId xmlns:p14="http://schemas.microsoft.com/office/powerpoint/2010/main" val="947733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Specify an Access </a:t>
            </a:r>
            <a:r>
              <a:rPr lang="en-US" dirty="0" err="1"/>
              <a:t>Specifier</a:t>
            </a:r>
            <a:r>
              <a:rPr lang="en-US" dirty="0"/>
              <a:t>?</a:t>
            </a:r>
            <a:br>
              <a:rPr lang="en-US" dirty="0"/>
            </a:br>
            <a:endParaRPr lang="en-US" dirty="0"/>
          </a:p>
        </p:txBody>
      </p:sp>
      <p:sp>
        <p:nvSpPr>
          <p:cNvPr id="3" name="Content Placeholder 2"/>
          <p:cNvSpPr>
            <a:spLocks noGrp="1"/>
          </p:cNvSpPr>
          <p:nvPr>
            <p:ph idx="1"/>
          </p:nvPr>
        </p:nvSpPr>
        <p:spPr/>
        <p:txBody>
          <a:bodyPr/>
          <a:lstStyle/>
          <a:p>
            <a:r>
              <a:rPr lang="en-US" dirty="0" smtClean="0"/>
              <a:t>Without </a:t>
            </a:r>
            <a:r>
              <a:rPr lang="en-US" dirty="0"/>
              <a:t>specifying an access </a:t>
            </a:r>
            <a:r>
              <a:rPr lang="en-US" dirty="0" err="1"/>
              <a:t>specifier</a:t>
            </a:r>
            <a:r>
              <a:rPr lang="en-US" dirty="0"/>
              <a:t>, inheritance would default to private in C++. By explicitly specifying public, protected, or private, you control the accessibility of inherited members, making your intentions clear about how much of the base class should be exposed in the derived class.</a:t>
            </a:r>
          </a:p>
        </p:txBody>
      </p:sp>
      <p:pic>
        <p:nvPicPr>
          <p:cNvPr id="4" name="Picture 32" descr="https://media.geeksforgeeks.org/wp-content/cdn-uploads/table-clas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059" y="3403979"/>
            <a:ext cx="8085217"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043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pPr marL="0" indent="0">
              <a:buNone/>
            </a:pPr>
            <a:r>
              <a:rPr lang="en-US" dirty="0"/>
              <a:t>Imagine a vehicle management system </a:t>
            </a:r>
            <a:r>
              <a:rPr lang="en-US" dirty="0" smtClean="0"/>
              <a:t>where Vehicle </a:t>
            </a:r>
            <a:r>
              <a:rPr lang="en-US" dirty="0"/>
              <a:t>is a base class that contains common properties and methods for all vehicles, such as make, model, and a method </a:t>
            </a:r>
            <a:r>
              <a:rPr lang="en-US" dirty="0" err="1"/>
              <a:t>displayInfo</a:t>
            </a:r>
            <a:r>
              <a:rPr lang="en-US" smtClean="0"/>
              <a:t>().Car </a:t>
            </a:r>
            <a:r>
              <a:rPr lang="en-US" dirty="0"/>
              <a:t>is a derived class that inherits from Vehicle and adds specific features, like the number of doors and a method to display car-specific information.</a:t>
            </a:r>
          </a:p>
        </p:txBody>
      </p:sp>
    </p:spTree>
    <p:extLst>
      <p:ext uri="{BB962C8B-B14F-4D97-AF65-F5344CB8AC3E}">
        <p14:creationId xmlns:p14="http://schemas.microsoft.com/office/powerpoint/2010/main" val="147840362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35</TotalTime>
  <Words>912</Words>
  <Application>Microsoft Office PowerPoint</Application>
  <PresentationFormat>Widescreen</PresentationFormat>
  <Paragraphs>71</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MS PGothic</vt:lpstr>
      <vt:lpstr>Arial</vt:lpstr>
      <vt:lpstr>Calibri</vt:lpstr>
      <vt:lpstr>Trebuchet MS</vt:lpstr>
      <vt:lpstr>Wingdings</vt:lpstr>
      <vt:lpstr>Wingdings 3</vt:lpstr>
      <vt:lpstr>Facet</vt:lpstr>
      <vt:lpstr>Inheritance</vt:lpstr>
      <vt:lpstr>What is inheritance ?</vt:lpstr>
      <vt:lpstr>Inheritance</vt:lpstr>
      <vt:lpstr>Inheritance</vt:lpstr>
      <vt:lpstr>Inheritance </vt:lpstr>
      <vt:lpstr>inheritance -Benefits: </vt:lpstr>
      <vt:lpstr>Categories of Inheritance </vt:lpstr>
      <vt:lpstr>Categories of Inheritance </vt:lpstr>
      <vt:lpstr>Single inheritance</vt:lpstr>
      <vt:lpstr>Example</vt:lpstr>
      <vt:lpstr>Access Specifiers in inheritance</vt:lpstr>
      <vt:lpstr>Access Specifiers in inheritance</vt:lpstr>
      <vt:lpstr>Access Specifiers in inheritance</vt:lpstr>
      <vt:lpstr>Why Specify an Access Specifier? </vt:lpstr>
      <vt:lpstr>Example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dc:title>
  <dc:creator>Mishal Muneer</dc:creator>
  <cp:lastModifiedBy>Mishal Muneer</cp:lastModifiedBy>
  <cp:revision>5</cp:revision>
  <dcterms:created xsi:type="dcterms:W3CDTF">2024-10-29T03:53:32Z</dcterms:created>
  <dcterms:modified xsi:type="dcterms:W3CDTF">2024-10-29T04:28:49Z</dcterms:modified>
</cp:coreProperties>
</file>
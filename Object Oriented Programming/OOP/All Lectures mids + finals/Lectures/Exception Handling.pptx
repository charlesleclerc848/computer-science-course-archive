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5"/>
  </p:notesMasterIdLst>
  <p:sldIdLst>
    <p:sldId id="256" r:id="rId2"/>
    <p:sldId id="345" r:id="rId3"/>
    <p:sldId id="346" r:id="rId4"/>
    <p:sldId id="347" r:id="rId5"/>
    <p:sldId id="348" r:id="rId6"/>
    <p:sldId id="349" r:id="rId7"/>
    <p:sldId id="350" r:id="rId8"/>
    <p:sldId id="351" r:id="rId9"/>
    <p:sldId id="352" r:id="rId10"/>
    <p:sldId id="353" r:id="rId11"/>
    <p:sldId id="357" r:id="rId12"/>
    <p:sldId id="358" r:id="rId13"/>
    <p:sldId id="359" r:id="rId14"/>
    <p:sldId id="360" r:id="rId15"/>
    <p:sldId id="361" r:id="rId16"/>
    <p:sldId id="362" r:id="rId17"/>
    <p:sldId id="363" r:id="rId18"/>
    <p:sldId id="364" r:id="rId19"/>
    <p:sldId id="365" r:id="rId20"/>
    <p:sldId id="366" r:id="rId21"/>
    <p:sldId id="367" r:id="rId22"/>
    <p:sldId id="368" r:id="rId23"/>
    <p:sldId id="369" r:id="rId24"/>
    <p:sldId id="370" r:id="rId25"/>
    <p:sldId id="371" r:id="rId26"/>
    <p:sldId id="372" r:id="rId27"/>
    <p:sldId id="373" r:id="rId28"/>
    <p:sldId id="374" r:id="rId29"/>
    <p:sldId id="412" r:id="rId30"/>
    <p:sldId id="413" r:id="rId31"/>
    <p:sldId id="375" r:id="rId32"/>
    <p:sldId id="376" r:id="rId33"/>
    <p:sldId id="377" r:id="rId34"/>
    <p:sldId id="378" r:id="rId35"/>
    <p:sldId id="379" r:id="rId36"/>
    <p:sldId id="380" r:id="rId37"/>
    <p:sldId id="381" r:id="rId38"/>
    <p:sldId id="382" r:id="rId39"/>
    <p:sldId id="383" r:id="rId40"/>
    <p:sldId id="384" r:id="rId41"/>
    <p:sldId id="385" r:id="rId42"/>
    <p:sldId id="386" r:id="rId43"/>
    <p:sldId id="387" r:id="rId44"/>
    <p:sldId id="388" r:id="rId45"/>
    <p:sldId id="389" r:id="rId46"/>
    <p:sldId id="390" r:id="rId47"/>
    <p:sldId id="391" r:id="rId48"/>
    <p:sldId id="392" r:id="rId49"/>
    <p:sldId id="393" r:id="rId50"/>
    <p:sldId id="394" r:id="rId51"/>
    <p:sldId id="395" r:id="rId52"/>
    <p:sldId id="396" r:id="rId53"/>
    <p:sldId id="397" r:id="rId5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20000"/>
    <a:srgbClr val="2C14DE"/>
    <a:srgbClr val="008000"/>
    <a:srgbClr val="B80000"/>
    <a:srgbClr val="2F1BC7"/>
    <a:srgbClr val="27558D"/>
    <a:srgbClr val="39DFE7"/>
    <a:srgbClr val="160C5C"/>
    <a:srgbClr val="4F556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815" autoAdjust="0"/>
    <p:restoredTop sz="94576" autoAdjust="0"/>
  </p:normalViewPr>
  <p:slideViewPr>
    <p:cSldViewPr>
      <p:cViewPr varScale="1">
        <p:scale>
          <a:sx n="70" d="100"/>
          <a:sy n="70" d="100"/>
        </p:scale>
        <p:origin x="1578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67" d="100"/>
          <a:sy n="67" d="100"/>
        </p:scale>
        <p:origin x="3120" y="7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1C0C88-7267-4399-A55D-D2971BA77B10}" type="datetimeFigureOut">
              <a:rPr lang="en-US" smtClean="0"/>
              <a:t>12/17/2024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85FC15-40B4-45E5-86AE-2E64D22F0C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53663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85FC15-40B4-45E5-86AE-2E64D22F0C3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81250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0192B-E1F2-4D51-9245-C9CE8F612D86}" type="datetimeFigureOut">
              <a:rPr lang="en-US" smtClean="0"/>
              <a:pPr/>
              <a:t>12/17/2024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29733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143000"/>
            <a:ext cx="8382000" cy="5638800"/>
          </a:xfrm>
        </p:spPr>
        <p:txBody>
          <a:bodyPr/>
          <a:lstStyle>
            <a:lvl1pPr algn="just">
              <a:defRPr/>
            </a:lvl1pPr>
            <a:lvl2pPr algn="just">
              <a:defRPr/>
            </a:lvl2pPr>
            <a:lvl3pPr algn="just">
              <a:defRPr/>
            </a:lvl3pPr>
            <a:lvl4pPr algn="just">
              <a:defRPr/>
            </a:lvl4pPr>
            <a:lvl5pPr algn="just">
              <a:defRPr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0192B-E1F2-4D51-9245-C9CE8F612D86}" type="datetimeFigureOut">
              <a:rPr lang="en-US" smtClean="0"/>
              <a:pPr/>
              <a:t>12/17/2024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0192B-E1F2-4D51-9245-C9CE8F612D86}" type="datetimeFigureOut">
              <a:rPr lang="en-US" smtClean="0"/>
              <a:pPr/>
              <a:t>12/17/2024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0192B-E1F2-4D51-9245-C9CE8F612D86}" type="datetimeFigureOut">
              <a:rPr lang="en-US" smtClean="0"/>
              <a:pPr/>
              <a:t>12/17/2024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0192B-E1F2-4D51-9245-C9CE8F612D86}" type="datetimeFigureOut">
              <a:rPr lang="en-US" smtClean="0"/>
              <a:pPr/>
              <a:t>12/17/2024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0192B-E1F2-4D51-9245-C9CE8F612D86}" type="datetimeFigureOut">
              <a:rPr lang="en-US" smtClean="0"/>
              <a:pPr/>
              <a:t>12/17/2024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0192B-E1F2-4D51-9245-C9CE8F612D86}" type="datetimeFigureOut">
              <a:rPr lang="en-US" smtClean="0"/>
              <a:pPr/>
              <a:t>12/17/2024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0192B-E1F2-4D51-9245-C9CE8F612D86}" type="datetimeFigureOut">
              <a:rPr lang="en-US" smtClean="0"/>
              <a:pPr/>
              <a:t>12/17/2024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0192B-E1F2-4D51-9245-C9CE8F612D86}" type="datetimeFigureOut">
              <a:rPr lang="en-US" smtClean="0"/>
              <a:pPr/>
              <a:t>12/17/2024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0192B-E1F2-4D51-9245-C9CE8F612D86}" type="datetimeFigureOut">
              <a:rPr lang="en-US" smtClean="0"/>
              <a:pPr/>
              <a:t>12/17/2024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B0192B-E1F2-4D51-9245-C9CE8F612D86}" type="datetimeFigureOut">
              <a:rPr lang="en-US" smtClean="0"/>
              <a:pPr/>
              <a:t>12/17/2024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" y="1905000"/>
            <a:ext cx="8991600" cy="2057400"/>
          </a:xfrm>
        </p:spPr>
        <p:txBody>
          <a:bodyPr>
            <a:noAutofit/>
          </a:bodyPr>
          <a:lstStyle/>
          <a:p>
            <a:r>
              <a:rPr lang="en-US" b="1" dirty="0" smtClean="0"/>
              <a:t>Exception Handling</a:t>
            </a:r>
            <a:br>
              <a:rPr lang="en-US" b="1" dirty="0" smtClean="0"/>
            </a:br>
            <a:endParaRPr lang="en-US" sz="2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" y="3962400"/>
            <a:ext cx="8915400" cy="2743200"/>
          </a:xfrm>
        </p:spPr>
        <p:txBody>
          <a:bodyPr>
            <a:normAutofit/>
          </a:bodyPr>
          <a:lstStyle/>
          <a:p>
            <a:endParaRPr lang="en-US" sz="2600" dirty="0" smtClean="0"/>
          </a:p>
          <a:p>
            <a:r>
              <a:rPr lang="en-US" sz="2600" dirty="0" smtClean="0"/>
              <a:t>Department of Computer Science, </a:t>
            </a:r>
          </a:p>
          <a:p>
            <a:r>
              <a:rPr lang="en-US" sz="2800" dirty="0" smtClean="0"/>
              <a:t>The University of Lahore, Pakistan</a:t>
            </a:r>
            <a:endParaRPr lang="en-US" sz="26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0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mtClean="0">
                <a:cs typeface="+mj-cs"/>
              </a:rPr>
              <a:t>Exceptions</a:t>
            </a:r>
          </a:p>
        </p:txBody>
      </p:sp>
      <p:sp>
        <p:nvSpPr>
          <p:cNvPr id="214019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143000"/>
            <a:ext cx="8382000" cy="5638800"/>
          </a:xfrm>
        </p:spPr>
        <p:txBody>
          <a:bodyPr/>
          <a:lstStyle/>
          <a:p>
            <a:pPr algn="just" eaLnBrk="1" hangingPunct="1">
              <a:defRPr/>
            </a:pPr>
            <a:r>
              <a:rPr lang="en-US" u="sng" dirty="0" smtClean="0">
                <a:cs typeface="+mn-cs"/>
              </a:rPr>
              <a:t>Exception</a:t>
            </a:r>
            <a:r>
              <a:rPr lang="en-US" dirty="0" smtClean="0">
                <a:cs typeface="+mn-cs"/>
              </a:rPr>
              <a:t>: undesirable event detectable during program execution</a:t>
            </a:r>
          </a:p>
          <a:p>
            <a:pPr algn="just" eaLnBrk="1" hangingPunct="1">
              <a:defRPr/>
            </a:pPr>
            <a:endParaRPr lang="en-US" dirty="0" smtClean="0">
              <a:cs typeface="+mn-cs"/>
            </a:endParaRPr>
          </a:p>
          <a:p>
            <a:pPr algn="just" eaLnBrk="1" hangingPunct="1">
              <a:defRPr/>
            </a:pPr>
            <a:r>
              <a:rPr lang="en-US" dirty="0" smtClean="0">
                <a:cs typeface="+mn-cs"/>
              </a:rPr>
              <a:t>Can add exception-handling code at point where an error can occur</a:t>
            </a:r>
          </a:p>
        </p:txBody>
      </p:sp>
    </p:spTree>
    <p:extLst>
      <p:ext uri="{BB962C8B-B14F-4D97-AF65-F5344CB8AC3E}">
        <p14:creationId xmlns:p14="http://schemas.microsoft.com/office/powerpoint/2010/main" val="33256852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mtClean="0">
                <a:cs typeface="+mj-cs"/>
              </a:rPr>
              <a:t>Exception Handling Techniques</a:t>
            </a:r>
          </a:p>
        </p:txBody>
      </p:sp>
      <p:sp>
        <p:nvSpPr>
          <p:cNvPr id="28160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spcBef>
                <a:spcPct val="100000"/>
              </a:spcBef>
              <a:defRPr/>
            </a:pPr>
            <a:r>
              <a:rPr lang="en-US" smtClean="0">
                <a:cs typeface="+mn-cs"/>
              </a:rPr>
              <a:t>When an exception occurs, the programmer usually has three choices:</a:t>
            </a:r>
          </a:p>
          <a:p>
            <a:pPr lvl="1" eaLnBrk="1" hangingPunct="1">
              <a:spcBef>
                <a:spcPct val="100000"/>
              </a:spcBef>
              <a:defRPr/>
            </a:pPr>
            <a:r>
              <a:rPr lang="en-US" smtClean="0"/>
              <a:t>Terminate the program</a:t>
            </a:r>
          </a:p>
          <a:p>
            <a:pPr lvl="1" eaLnBrk="1" hangingPunct="1">
              <a:spcBef>
                <a:spcPct val="100000"/>
              </a:spcBef>
              <a:defRPr/>
            </a:pPr>
            <a:r>
              <a:rPr lang="en-US" smtClean="0"/>
              <a:t>Include code to recover from the exception</a:t>
            </a:r>
          </a:p>
          <a:p>
            <a:pPr lvl="1" eaLnBrk="1" hangingPunct="1">
              <a:spcBef>
                <a:spcPct val="100000"/>
              </a:spcBef>
              <a:defRPr/>
            </a:pPr>
            <a:r>
              <a:rPr lang="en-US" smtClean="0"/>
              <a:t>Log the error and continue</a:t>
            </a:r>
          </a:p>
          <a:p>
            <a:pPr eaLnBrk="1" hangingPunct="1">
              <a:spcBef>
                <a:spcPct val="100000"/>
              </a:spcBef>
              <a:buFontTx/>
              <a:buNone/>
              <a:defRPr/>
            </a:pPr>
            <a:endParaRPr lang="en-US" smtClean="0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77198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mtClean="0">
                <a:cs typeface="+mj-cs"/>
              </a:rPr>
              <a:t>Terminate the Program</a:t>
            </a:r>
          </a:p>
        </p:txBody>
      </p:sp>
      <p:sp>
        <p:nvSpPr>
          <p:cNvPr id="28262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spcBef>
                <a:spcPct val="60000"/>
              </a:spcBef>
              <a:defRPr/>
            </a:pPr>
            <a:r>
              <a:rPr lang="en-US" dirty="0" smtClean="0">
                <a:cs typeface="+mn-cs"/>
              </a:rPr>
              <a:t>In some cases, it is best to let the program terminate when an exception occurs</a:t>
            </a:r>
          </a:p>
          <a:p>
            <a:pPr eaLnBrk="1" hangingPunct="1">
              <a:spcBef>
                <a:spcPct val="60000"/>
              </a:spcBef>
              <a:defRPr/>
            </a:pPr>
            <a:r>
              <a:rPr lang="en-US" dirty="0" smtClean="0">
                <a:cs typeface="+mn-cs"/>
              </a:rPr>
              <a:t>For example, if the input file does not exist when the program executes</a:t>
            </a:r>
          </a:p>
          <a:p>
            <a:pPr lvl="1" eaLnBrk="1" hangingPunct="1">
              <a:spcBef>
                <a:spcPct val="60000"/>
              </a:spcBef>
              <a:defRPr/>
            </a:pPr>
            <a:r>
              <a:rPr lang="en-US" dirty="0" smtClean="0"/>
              <a:t>There is no point in continuing with the program</a:t>
            </a:r>
          </a:p>
          <a:p>
            <a:pPr eaLnBrk="1" hangingPunct="1">
              <a:spcBef>
                <a:spcPct val="60000"/>
              </a:spcBef>
              <a:defRPr/>
            </a:pPr>
            <a:r>
              <a:rPr lang="en-US" dirty="0" smtClean="0">
                <a:cs typeface="+mn-cs"/>
              </a:rPr>
              <a:t>The program can output an appropriate error message and terminate</a:t>
            </a:r>
          </a:p>
        </p:txBody>
      </p:sp>
    </p:spTree>
    <p:extLst>
      <p:ext uri="{BB962C8B-B14F-4D97-AF65-F5344CB8AC3E}">
        <p14:creationId xmlns:p14="http://schemas.microsoft.com/office/powerpoint/2010/main" val="9089631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smtClean="0">
                <a:cs typeface="+mj-cs"/>
              </a:rPr>
              <a:t>Fix the Error and Continue</a:t>
            </a:r>
          </a:p>
        </p:txBody>
      </p:sp>
      <p:sp>
        <p:nvSpPr>
          <p:cNvPr id="28365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spcBef>
                <a:spcPct val="60000"/>
              </a:spcBef>
              <a:defRPr/>
            </a:pPr>
            <a:r>
              <a:rPr lang="en-US" dirty="0" smtClean="0">
                <a:cs typeface="+mn-cs"/>
              </a:rPr>
              <a:t>In some cases, you will want to handle the exception and let the program continue</a:t>
            </a:r>
          </a:p>
          <a:p>
            <a:pPr eaLnBrk="1" hangingPunct="1">
              <a:spcBef>
                <a:spcPct val="60000"/>
              </a:spcBef>
              <a:defRPr/>
            </a:pPr>
            <a:r>
              <a:rPr lang="en-US" dirty="0" smtClean="0">
                <a:cs typeface="+mn-cs"/>
              </a:rPr>
              <a:t>For example, if a user inputs a letter in place of a number</a:t>
            </a:r>
          </a:p>
          <a:p>
            <a:pPr lvl="1" eaLnBrk="1" hangingPunct="1">
              <a:spcBef>
                <a:spcPct val="60000"/>
              </a:spcBef>
              <a:defRPr/>
            </a:pPr>
            <a:r>
              <a:rPr lang="en-US" dirty="0" smtClean="0"/>
              <a:t>The input stream will enter the fail state</a:t>
            </a:r>
          </a:p>
          <a:p>
            <a:pPr eaLnBrk="1" hangingPunct="1">
              <a:spcBef>
                <a:spcPct val="60000"/>
              </a:spcBef>
              <a:defRPr/>
            </a:pPr>
            <a:r>
              <a:rPr lang="en-US" dirty="0" smtClean="0">
                <a:cs typeface="+mn-cs"/>
              </a:rPr>
              <a:t>You can include the necessary code to keep prompting the user to input a number until the entry is valid</a:t>
            </a:r>
          </a:p>
        </p:txBody>
      </p:sp>
    </p:spTree>
    <p:extLst>
      <p:ext uri="{BB962C8B-B14F-4D97-AF65-F5344CB8AC3E}">
        <p14:creationId xmlns:p14="http://schemas.microsoft.com/office/powerpoint/2010/main" val="34009160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mtClean="0">
                <a:cs typeface="+mj-cs"/>
              </a:rPr>
              <a:t>Log the Error and Continue</a:t>
            </a:r>
          </a:p>
        </p:txBody>
      </p:sp>
      <p:sp>
        <p:nvSpPr>
          <p:cNvPr id="28467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spcBef>
                <a:spcPct val="60000"/>
              </a:spcBef>
              <a:defRPr/>
            </a:pPr>
            <a:r>
              <a:rPr lang="en-US" dirty="0" smtClean="0">
                <a:cs typeface="+mn-cs"/>
              </a:rPr>
              <a:t>For example, if your program is designed to run a nuclear reactor or continuously monitor a satellite</a:t>
            </a:r>
          </a:p>
          <a:p>
            <a:pPr lvl="1" eaLnBrk="1" hangingPunct="1">
              <a:spcBef>
                <a:spcPct val="60000"/>
              </a:spcBef>
              <a:defRPr/>
            </a:pPr>
            <a:r>
              <a:rPr lang="en-US" dirty="0" smtClean="0"/>
              <a:t>It cannot be terminated if an exception occurs</a:t>
            </a:r>
          </a:p>
          <a:p>
            <a:pPr eaLnBrk="1" hangingPunct="1">
              <a:spcBef>
                <a:spcPct val="60000"/>
              </a:spcBef>
              <a:defRPr/>
            </a:pPr>
            <a:r>
              <a:rPr lang="en-US" dirty="0" smtClean="0">
                <a:cs typeface="+mn-cs"/>
              </a:rPr>
              <a:t>When an exception occurs</a:t>
            </a:r>
          </a:p>
          <a:p>
            <a:pPr lvl="1" eaLnBrk="1" hangingPunct="1">
              <a:spcBef>
                <a:spcPct val="60000"/>
              </a:spcBef>
              <a:defRPr/>
            </a:pPr>
            <a:r>
              <a:rPr lang="en-US" dirty="0" smtClean="0"/>
              <a:t>The program should write the exception into a file and continue to run</a:t>
            </a:r>
          </a:p>
          <a:p>
            <a:pPr eaLnBrk="1" hangingPunct="1">
              <a:spcBef>
                <a:spcPct val="60000"/>
              </a:spcBef>
              <a:defRPr/>
            </a:pPr>
            <a:endParaRPr lang="en-US" dirty="0" smtClean="0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24384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914400"/>
            <a:ext cx="8229600" cy="5611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054765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914400"/>
            <a:ext cx="8610600" cy="375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553001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609600"/>
            <a:ext cx="7086600" cy="6030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536509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304800"/>
            <a:ext cx="4953000" cy="2355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2819400"/>
            <a:ext cx="5410200" cy="1966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992320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74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dirty="0" smtClean="0">
                <a:cs typeface="+mj-cs"/>
              </a:rPr>
              <a:t>C++ Mechanisms of Exception Handling</a:t>
            </a:r>
          </a:p>
        </p:txBody>
      </p:sp>
      <p:sp>
        <p:nvSpPr>
          <p:cNvPr id="28774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spcBef>
                <a:spcPct val="100000"/>
              </a:spcBef>
              <a:defRPr/>
            </a:pPr>
            <a:r>
              <a:rPr lang="en-US" smtClean="0">
                <a:cs typeface="+mn-cs"/>
              </a:rPr>
              <a:t>The </a:t>
            </a:r>
            <a:r>
              <a:rPr lang="en-US" smtClean="0">
                <a:solidFill>
                  <a:srgbClr val="3333FF"/>
                </a:solidFill>
                <a:latin typeface="Courier New" charset="0"/>
                <a:cs typeface="+mn-cs"/>
              </a:rPr>
              <a:t>try</a:t>
            </a:r>
            <a:r>
              <a:rPr lang="en-US" smtClean="0">
                <a:cs typeface="+mn-cs"/>
              </a:rPr>
              <a:t>/</a:t>
            </a:r>
            <a:r>
              <a:rPr lang="en-US" smtClean="0">
                <a:solidFill>
                  <a:srgbClr val="3333FF"/>
                </a:solidFill>
                <a:latin typeface="Courier New" charset="0"/>
                <a:cs typeface="+mn-cs"/>
              </a:rPr>
              <a:t>catch</a:t>
            </a:r>
            <a:r>
              <a:rPr lang="en-US" smtClean="0">
                <a:cs typeface="+mn-cs"/>
              </a:rPr>
              <a:t> block handles exceptions</a:t>
            </a:r>
          </a:p>
          <a:p>
            <a:pPr eaLnBrk="1" hangingPunct="1">
              <a:spcBef>
                <a:spcPct val="100000"/>
              </a:spcBef>
              <a:defRPr/>
            </a:pPr>
            <a:r>
              <a:rPr lang="en-US" smtClean="0">
                <a:cs typeface="+mn-cs"/>
              </a:rPr>
              <a:t>Exception must be thrown in a </a:t>
            </a:r>
            <a:r>
              <a:rPr lang="en-US" smtClean="0">
                <a:solidFill>
                  <a:srgbClr val="3333FF"/>
                </a:solidFill>
                <a:latin typeface="Courier New" charset="0"/>
                <a:cs typeface="+mn-cs"/>
              </a:rPr>
              <a:t>try</a:t>
            </a:r>
            <a:r>
              <a:rPr lang="en-US" smtClean="0">
                <a:cs typeface="+mn-cs"/>
              </a:rPr>
              <a:t> block and  caught by a catch block</a:t>
            </a:r>
          </a:p>
          <a:p>
            <a:pPr eaLnBrk="1" hangingPunct="1">
              <a:spcBef>
                <a:spcPct val="100000"/>
              </a:spcBef>
              <a:defRPr/>
            </a:pPr>
            <a:r>
              <a:rPr lang="en-US" smtClean="0">
                <a:cs typeface="+mn-cs"/>
              </a:rPr>
              <a:t>C++ provides support to handle exceptions via a hierarchy of classes</a:t>
            </a:r>
          </a:p>
        </p:txBody>
      </p:sp>
    </p:spTree>
    <p:extLst>
      <p:ext uri="{BB962C8B-B14F-4D97-AF65-F5344CB8AC3E}">
        <p14:creationId xmlns:p14="http://schemas.microsoft.com/office/powerpoint/2010/main" val="29511231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mtClean="0">
                <a:cs typeface="+mj-cs"/>
              </a:rPr>
              <a:t>try/catch Block </a:t>
            </a:r>
          </a:p>
        </p:txBody>
      </p:sp>
      <p:sp>
        <p:nvSpPr>
          <p:cNvPr id="27853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spcBef>
                <a:spcPct val="100000"/>
              </a:spcBef>
              <a:defRPr/>
            </a:pPr>
            <a:r>
              <a:rPr lang="en-US" smtClean="0">
                <a:cs typeface="+mn-cs"/>
              </a:rPr>
              <a:t>Statements that may generate an exception are placed in a </a:t>
            </a:r>
            <a:r>
              <a:rPr lang="en-US" smtClean="0">
                <a:solidFill>
                  <a:srgbClr val="3333FF"/>
                </a:solidFill>
                <a:latin typeface="Courier New" charset="0"/>
                <a:cs typeface="+mn-cs"/>
              </a:rPr>
              <a:t>try</a:t>
            </a:r>
            <a:r>
              <a:rPr lang="en-US" smtClean="0">
                <a:cs typeface="+mn-cs"/>
              </a:rPr>
              <a:t> block</a:t>
            </a:r>
          </a:p>
          <a:p>
            <a:pPr eaLnBrk="1" hangingPunct="1">
              <a:spcBef>
                <a:spcPct val="100000"/>
              </a:spcBef>
              <a:defRPr/>
            </a:pPr>
            <a:r>
              <a:rPr lang="en-US" smtClean="0">
                <a:cs typeface="+mn-cs"/>
              </a:rPr>
              <a:t>The </a:t>
            </a:r>
            <a:r>
              <a:rPr lang="en-US" smtClean="0">
                <a:solidFill>
                  <a:srgbClr val="3333FF"/>
                </a:solidFill>
                <a:latin typeface="Courier New" charset="0"/>
                <a:cs typeface="+mn-cs"/>
              </a:rPr>
              <a:t>try</a:t>
            </a:r>
            <a:r>
              <a:rPr lang="en-US" smtClean="0">
                <a:cs typeface="+mn-cs"/>
              </a:rPr>
              <a:t> block also contains statements that should not be executed if an exception occurs</a:t>
            </a:r>
          </a:p>
          <a:p>
            <a:pPr eaLnBrk="1" hangingPunct="1">
              <a:spcBef>
                <a:spcPct val="100000"/>
              </a:spcBef>
              <a:defRPr/>
            </a:pPr>
            <a:r>
              <a:rPr lang="en-US" smtClean="0">
                <a:cs typeface="+mn-cs"/>
              </a:rPr>
              <a:t>The </a:t>
            </a:r>
            <a:r>
              <a:rPr lang="en-US" smtClean="0">
                <a:solidFill>
                  <a:srgbClr val="3333FF"/>
                </a:solidFill>
                <a:latin typeface="Courier New" charset="0"/>
                <a:cs typeface="+mn-cs"/>
              </a:rPr>
              <a:t>try</a:t>
            </a:r>
            <a:r>
              <a:rPr lang="en-US" smtClean="0">
                <a:cs typeface="+mn-cs"/>
              </a:rPr>
              <a:t> block is followed by one or more </a:t>
            </a:r>
            <a:r>
              <a:rPr lang="en-US" smtClean="0">
                <a:solidFill>
                  <a:srgbClr val="3333FF"/>
                </a:solidFill>
                <a:latin typeface="Courier New" charset="0"/>
                <a:cs typeface="+mn-cs"/>
              </a:rPr>
              <a:t>catch</a:t>
            </a:r>
            <a:r>
              <a:rPr lang="en-US" smtClean="0">
                <a:cs typeface="+mn-cs"/>
              </a:rPr>
              <a:t> blocks</a:t>
            </a:r>
          </a:p>
        </p:txBody>
      </p:sp>
    </p:spTree>
    <p:extLst>
      <p:ext uri="{BB962C8B-B14F-4D97-AF65-F5344CB8AC3E}">
        <p14:creationId xmlns:p14="http://schemas.microsoft.com/office/powerpoint/2010/main" val="8800906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smtClean="0">
                <a:cs typeface="+mj-cs"/>
              </a:rPr>
              <a:t>try/catch Block (continued)</a:t>
            </a:r>
          </a:p>
        </p:txBody>
      </p:sp>
      <p:sp>
        <p:nvSpPr>
          <p:cNvPr id="30822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spcBef>
                <a:spcPct val="80000"/>
              </a:spcBef>
              <a:defRPr/>
            </a:pPr>
            <a:r>
              <a:rPr lang="en-US" smtClean="0">
                <a:cs typeface="+mn-cs"/>
              </a:rPr>
              <a:t>The </a:t>
            </a:r>
            <a:r>
              <a:rPr lang="en-US" smtClean="0">
                <a:solidFill>
                  <a:srgbClr val="3333FF"/>
                </a:solidFill>
                <a:latin typeface="Courier New" charset="0"/>
                <a:cs typeface="+mn-cs"/>
              </a:rPr>
              <a:t>catch</a:t>
            </a:r>
            <a:r>
              <a:rPr lang="en-US" smtClean="0">
                <a:cs typeface="+mn-cs"/>
              </a:rPr>
              <a:t> block:</a:t>
            </a:r>
          </a:p>
          <a:p>
            <a:pPr lvl="1" eaLnBrk="1" hangingPunct="1">
              <a:lnSpc>
                <a:spcPct val="90000"/>
              </a:lnSpc>
              <a:spcBef>
                <a:spcPct val="80000"/>
              </a:spcBef>
              <a:defRPr/>
            </a:pPr>
            <a:r>
              <a:rPr lang="en-US" smtClean="0"/>
              <a:t>Specifies the type of exception it can catch</a:t>
            </a:r>
          </a:p>
          <a:p>
            <a:pPr lvl="1" eaLnBrk="1" hangingPunct="1">
              <a:lnSpc>
                <a:spcPct val="90000"/>
              </a:lnSpc>
              <a:spcBef>
                <a:spcPct val="80000"/>
              </a:spcBef>
              <a:defRPr/>
            </a:pPr>
            <a:r>
              <a:rPr lang="en-US" smtClean="0"/>
              <a:t>Contains an exception handler</a:t>
            </a:r>
          </a:p>
          <a:p>
            <a:pPr eaLnBrk="1" hangingPunct="1">
              <a:lnSpc>
                <a:spcPct val="90000"/>
              </a:lnSpc>
              <a:spcBef>
                <a:spcPct val="80000"/>
              </a:spcBef>
              <a:defRPr/>
            </a:pPr>
            <a:r>
              <a:rPr lang="en-US" smtClean="0">
                <a:cs typeface="+mn-cs"/>
              </a:rPr>
              <a:t>If the heading of a </a:t>
            </a:r>
            <a:r>
              <a:rPr lang="en-US" smtClean="0">
                <a:solidFill>
                  <a:srgbClr val="3333FF"/>
                </a:solidFill>
                <a:latin typeface="Courier New" charset="0"/>
                <a:cs typeface="+mn-cs"/>
              </a:rPr>
              <a:t>catch</a:t>
            </a:r>
            <a:r>
              <a:rPr lang="en-US" smtClean="0">
                <a:cs typeface="+mn-cs"/>
              </a:rPr>
              <a:t> block contains ... (ellipses) in place of parameters</a:t>
            </a:r>
          </a:p>
          <a:p>
            <a:pPr lvl="1" eaLnBrk="1" hangingPunct="1">
              <a:lnSpc>
                <a:spcPct val="90000"/>
              </a:lnSpc>
              <a:spcBef>
                <a:spcPct val="80000"/>
              </a:spcBef>
              <a:defRPr/>
            </a:pPr>
            <a:r>
              <a:rPr lang="en-US" smtClean="0"/>
              <a:t>Catch </a:t>
            </a:r>
            <a:r>
              <a:rPr lang="en-US" smtClean="0">
                <a:solidFill>
                  <a:srgbClr val="3333FF"/>
                </a:solidFill>
                <a:latin typeface="Courier New" charset="0"/>
              </a:rPr>
              <a:t>block</a:t>
            </a:r>
            <a:r>
              <a:rPr lang="en-US" smtClean="0"/>
              <a:t> can catch exceptions of all types</a:t>
            </a:r>
          </a:p>
          <a:p>
            <a:pPr eaLnBrk="1" hangingPunct="1">
              <a:lnSpc>
                <a:spcPct val="90000"/>
              </a:lnSpc>
              <a:spcBef>
                <a:spcPct val="80000"/>
              </a:spcBef>
              <a:defRPr/>
            </a:pPr>
            <a:endParaRPr lang="en-US" smtClean="0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289212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5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2494" y="914400"/>
            <a:ext cx="4799012" cy="594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 syntax of the try/catch </a:t>
            </a:r>
            <a:r>
              <a:rPr lang="en-US" dirty="0" smtClean="0"/>
              <a:t>block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30045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8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Tx/>
              <a:buNone/>
              <a:defRPr/>
            </a:pPr>
            <a:endParaRPr lang="en-US" smtClean="0">
              <a:cs typeface="+mn-cs"/>
            </a:endParaRPr>
          </a:p>
          <a:p>
            <a:pPr eaLnBrk="1" hangingPunct="1">
              <a:defRPr/>
            </a:pPr>
            <a:endParaRPr lang="en-US" smtClean="0">
              <a:cs typeface="+mn-cs"/>
            </a:endParaRPr>
          </a:p>
        </p:txBody>
      </p:sp>
      <p:pic>
        <p:nvPicPr>
          <p:cNvPr id="19460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836613"/>
            <a:ext cx="7162800" cy="5945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try/catch Blocks in a </a:t>
            </a:r>
            <a:r>
              <a:rPr lang="en-US" dirty="0" smtClean="0"/>
              <a:t>Program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85093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Tx/>
              <a:buNone/>
              <a:defRPr/>
            </a:pPr>
            <a:endParaRPr lang="en-US" smtClean="0">
              <a:cs typeface="+mn-cs"/>
            </a:endParaRPr>
          </a:p>
          <a:p>
            <a:pPr eaLnBrk="1" hangingPunct="1">
              <a:defRPr/>
            </a:pPr>
            <a:endParaRPr lang="en-US" smtClean="0">
              <a:cs typeface="+mn-cs"/>
            </a:endParaRPr>
          </a:p>
        </p:txBody>
      </p:sp>
      <p:pic>
        <p:nvPicPr>
          <p:cNvPr id="20483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685800"/>
            <a:ext cx="8686800" cy="537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08195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mtClean="0">
                <a:cs typeface="+mj-cs"/>
              </a:rPr>
              <a:t>try/catch Block (continued)</a:t>
            </a:r>
          </a:p>
        </p:txBody>
      </p:sp>
      <p:sp>
        <p:nvSpPr>
          <p:cNvPr id="29593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spcBef>
                <a:spcPct val="80000"/>
              </a:spcBef>
              <a:defRPr/>
            </a:pPr>
            <a:r>
              <a:rPr lang="en-US" dirty="0" smtClean="0">
                <a:cs typeface="+mn-cs"/>
              </a:rPr>
              <a:t>If no exception is thrown in a </a:t>
            </a:r>
            <a:r>
              <a:rPr lang="en-US" dirty="0" smtClean="0">
                <a:solidFill>
                  <a:srgbClr val="3333FF"/>
                </a:solidFill>
                <a:latin typeface="Courier New" charset="0"/>
                <a:cs typeface="+mn-cs"/>
              </a:rPr>
              <a:t>try</a:t>
            </a:r>
            <a:r>
              <a:rPr lang="en-US" dirty="0" smtClean="0">
                <a:cs typeface="+mn-cs"/>
              </a:rPr>
              <a:t> block</a:t>
            </a:r>
          </a:p>
          <a:p>
            <a:pPr marL="457200" lvl="1" indent="0" eaLnBrk="1" hangingPunct="1">
              <a:spcBef>
                <a:spcPct val="80000"/>
              </a:spcBef>
              <a:buFontTx/>
              <a:buNone/>
              <a:defRPr/>
            </a:pPr>
            <a:r>
              <a:rPr lang="en-US" dirty="0" smtClean="0"/>
              <a:t>All </a:t>
            </a:r>
            <a:r>
              <a:rPr lang="en-US" dirty="0" smtClean="0">
                <a:solidFill>
                  <a:srgbClr val="3333FF"/>
                </a:solidFill>
                <a:latin typeface="Courier New" charset="0"/>
              </a:rPr>
              <a:t>catch</a:t>
            </a:r>
            <a:r>
              <a:rPr lang="en-US" dirty="0" smtClean="0"/>
              <a:t> blocks for that </a:t>
            </a:r>
            <a:r>
              <a:rPr lang="en-US" dirty="0" smtClean="0">
                <a:solidFill>
                  <a:srgbClr val="3333FF"/>
                </a:solidFill>
                <a:latin typeface="Courier New" charset="0"/>
              </a:rPr>
              <a:t>try</a:t>
            </a:r>
            <a:r>
              <a:rPr lang="en-US" dirty="0" smtClean="0"/>
              <a:t> block are ignored</a:t>
            </a:r>
            <a:br>
              <a:rPr lang="en-US" dirty="0" smtClean="0"/>
            </a:br>
            <a:r>
              <a:rPr lang="en-US" dirty="0" smtClean="0"/>
              <a:t>Execution resumes after the last </a:t>
            </a:r>
            <a:r>
              <a:rPr lang="en-US" dirty="0" smtClean="0">
                <a:solidFill>
                  <a:srgbClr val="3333FF"/>
                </a:solidFill>
                <a:latin typeface="Courier New" charset="0"/>
              </a:rPr>
              <a:t>catch</a:t>
            </a:r>
            <a:r>
              <a:rPr lang="en-US" dirty="0" smtClean="0"/>
              <a:t> block</a:t>
            </a:r>
          </a:p>
          <a:p>
            <a:pPr eaLnBrk="1" hangingPunct="1">
              <a:spcBef>
                <a:spcPct val="80000"/>
              </a:spcBef>
              <a:defRPr/>
            </a:pPr>
            <a:r>
              <a:rPr lang="en-US" dirty="0" smtClean="0">
                <a:cs typeface="+mn-cs"/>
              </a:rPr>
              <a:t>If an exception is thrown in a </a:t>
            </a:r>
            <a:r>
              <a:rPr lang="en-US" dirty="0" smtClean="0">
                <a:solidFill>
                  <a:srgbClr val="3333FF"/>
                </a:solidFill>
                <a:latin typeface="Courier New" charset="0"/>
                <a:cs typeface="+mn-cs"/>
              </a:rPr>
              <a:t>try</a:t>
            </a:r>
            <a:r>
              <a:rPr lang="en-US" dirty="0" smtClean="0">
                <a:cs typeface="+mn-cs"/>
              </a:rPr>
              <a:t> block</a:t>
            </a:r>
          </a:p>
          <a:p>
            <a:pPr marL="457200" lvl="1" indent="0" eaLnBrk="1" hangingPunct="1">
              <a:spcBef>
                <a:spcPct val="80000"/>
              </a:spcBef>
              <a:buFontTx/>
              <a:buNone/>
              <a:defRPr/>
            </a:pPr>
            <a:r>
              <a:rPr lang="en-US" dirty="0" smtClean="0"/>
              <a:t>Remaining statements in that </a:t>
            </a:r>
            <a:r>
              <a:rPr lang="en-US" dirty="0" smtClean="0">
                <a:solidFill>
                  <a:srgbClr val="3333FF"/>
                </a:solidFill>
                <a:latin typeface="Courier New" charset="0"/>
              </a:rPr>
              <a:t>try</a:t>
            </a:r>
            <a:r>
              <a:rPr lang="en-US" dirty="0" smtClean="0"/>
              <a:t> block are ignored</a:t>
            </a:r>
          </a:p>
        </p:txBody>
      </p:sp>
    </p:spTree>
    <p:extLst>
      <p:ext uri="{BB962C8B-B14F-4D97-AF65-F5344CB8AC3E}">
        <p14:creationId xmlns:p14="http://schemas.microsoft.com/office/powerpoint/2010/main" val="5529008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smtClean="0">
                <a:cs typeface="+mj-cs"/>
              </a:rPr>
              <a:t>try/catch Block (continued)</a:t>
            </a:r>
          </a:p>
        </p:txBody>
      </p:sp>
      <p:sp>
        <p:nvSpPr>
          <p:cNvPr id="30208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spcBef>
                <a:spcPct val="100000"/>
              </a:spcBef>
              <a:defRPr/>
            </a:pPr>
            <a:r>
              <a:rPr lang="en-US" sz="2800" dirty="0" smtClean="0">
                <a:cs typeface="+mn-cs"/>
              </a:rPr>
              <a:t>The program searches </a:t>
            </a:r>
            <a:r>
              <a:rPr lang="en-US" sz="2800" dirty="0" smtClean="0">
                <a:solidFill>
                  <a:srgbClr val="3333FF"/>
                </a:solidFill>
                <a:latin typeface="Courier New" charset="0"/>
                <a:cs typeface="+mn-cs"/>
              </a:rPr>
              <a:t>catch</a:t>
            </a:r>
            <a:r>
              <a:rPr lang="en-US" sz="2800" dirty="0" smtClean="0">
                <a:cs typeface="+mn-cs"/>
              </a:rPr>
              <a:t> blocks in order, looking for an appropriate exception handler</a:t>
            </a:r>
          </a:p>
          <a:p>
            <a:pPr eaLnBrk="1" hangingPunct="1">
              <a:spcBef>
                <a:spcPct val="100000"/>
              </a:spcBef>
              <a:defRPr/>
            </a:pPr>
            <a:r>
              <a:rPr lang="en-US" sz="2800" dirty="0" smtClean="0">
                <a:cs typeface="+mn-cs"/>
              </a:rPr>
              <a:t>If the type of thrown exception matches the parameter type in one of the </a:t>
            </a:r>
            <a:r>
              <a:rPr lang="en-US" sz="2800" dirty="0" smtClean="0">
                <a:solidFill>
                  <a:srgbClr val="3333FF"/>
                </a:solidFill>
                <a:latin typeface="Courier New" charset="0"/>
                <a:cs typeface="+mn-cs"/>
              </a:rPr>
              <a:t>catch</a:t>
            </a:r>
            <a:r>
              <a:rPr lang="en-US" sz="2800" dirty="0" smtClean="0">
                <a:cs typeface="+mn-cs"/>
              </a:rPr>
              <a:t> blocks:</a:t>
            </a:r>
          </a:p>
          <a:p>
            <a:pPr lvl="1" eaLnBrk="1" hangingPunct="1">
              <a:spcBef>
                <a:spcPct val="100000"/>
              </a:spcBef>
              <a:defRPr/>
            </a:pPr>
            <a:r>
              <a:rPr lang="en-US" sz="2400" dirty="0" smtClean="0"/>
              <a:t>Code of that </a:t>
            </a:r>
            <a:r>
              <a:rPr lang="en-US" sz="2400" dirty="0" smtClean="0">
                <a:solidFill>
                  <a:srgbClr val="3333FF"/>
                </a:solidFill>
                <a:latin typeface="Courier New" charset="0"/>
              </a:rPr>
              <a:t>catch</a:t>
            </a:r>
            <a:r>
              <a:rPr lang="en-US" sz="2400" dirty="0" smtClean="0"/>
              <a:t> block executes</a:t>
            </a:r>
          </a:p>
          <a:p>
            <a:pPr lvl="1" eaLnBrk="1" hangingPunct="1">
              <a:spcBef>
                <a:spcPct val="100000"/>
              </a:spcBef>
              <a:defRPr/>
            </a:pPr>
            <a:r>
              <a:rPr lang="en-US" sz="2400" dirty="0" smtClean="0"/>
              <a:t>Remaining </a:t>
            </a:r>
            <a:r>
              <a:rPr lang="en-US" sz="2400" dirty="0" smtClean="0">
                <a:solidFill>
                  <a:srgbClr val="3333FF"/>
                </a:solidFill>
                <a:latin typeface="Courier New" charset="0"/>
              </a:rPr>
              <a:t>catch</a:t>
            </a:r>
            <a:r>
              <a:rPr lang="en-US" sz="2400" dirty="0" smtClean="0"/>
              <a:t> blocks are ignored</a:t>
            </a:r>
          </a:p>
        </p:txBody>
      </p:sp>
    </p:spTree>
    <p:extLst>
      <p:ext uri="{BB962C8B-B14F-4D97-AF65-F5344CB8AC3E}">
        <p14:creationId xmlns:p14="http://schemas.microsoft.com/office/powerpoint/2010/main" val="2364351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143000"/>
            <a:ext cx="8382000" cy="287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829733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 smtClean="0">
                <a:cs typeface="+mj-cs"/>
              </a:rPr>
              <a:t>try/catch Block (continued)</a:t>
            </a:r>
          </a:p>
        </p:txBody>
      </p:sp>
    </p:spTree>
    <p:extLst>
      <p:ext uri="{BB962C8B-B14F-4D97-AF65-F5344CB8AC3E}">
        <p14:creationId xmlns:p14="http://schemas.microsoft.com/office/powerpoint/2010/main" val="14912650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mtClean="0">
                <a:cs typeface="+mj-cs"/>
              </a:rPr>
              <a:t>Throwing an Exception</a:t>
            </a:r>
          </a:p>
        </p:txBody>
      </p:sp>
      <p:sp>
        <p:nvSpPr>
          <p:cNvPr id="28877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spcBef>
                <a:spcPct val="80000"/>
              </a:spcBef>
              <a:defRPr/>
            </a:pPr>
            <a:r>
              <a:rPr lang="en-US" dirty="0" smtClean="0">
                <a:cs typeface="+mn-cs"/>
              </a:rPr>
              <a:t>For </a:t>
            </a:r>
            <a:r>
              <a:rPr lang="en-US" dirty="0" smtClean="0">
                <a:solidFill>
                  <a:srgbClr val="3333FF"/>
                </a:solidFill>
                <a:latin typeface="Courier New" charset="0"/>
                <a:cs typeface="+mn-cs"/>
              </a:rPr>
              <a:t>try</a:t>
            </a:r>
            <a:r>
              <a:rPr lang="en-US" dirty="0" smtClean="0">
                <a:cs typeface="+mn-cs"/>
              </a:rPr>
              <a:t>/</a:t>
            </a:r>
            <a:r>
              <a:rPr lang="en-US" dirty="0" smtClean="0">
                <a:solidFill>
                  <a:srgbClr val="3333FF"/>
                </a:solidFill>
                <a:latin typeface="Courier New" charset="0"/>
                <a:cs typeface="+mn-cs"/>
              </a:rPr>
              <a:t>catch</a:t>
            </a:r>
            <a:r>
              <a:rPr lang="en-US" dirty="0" smtClean="0">
                <a:cs typeface="+mn-cs"/>
              </a:rPr>
              <a:t> to work, the exception must be thrown in the </a:t>
            </a:r>
            <a:r>
              <a:rPr lang="en-US" dirty="0" smtClean="0">
                <a:solidFill>
                  <a:srgbClr val="3333FF"/>
                </a:solidFill>
                <a:latin typeface="Courier New" charset="0"/>
                <a:cs typeface="+mn-cs"/>
              </a:rPr>
              <a:t>try</a:t>
            </a:r>
            <a:r>
              <a:rPr lang="en-US" dirty="0" smtClean="0">
                <a:cs typeface="+mn-cs"/>
              </a:rPr>
              <a:t> block</a:t>
            </a:r>
          </a:p>
          <a:p>
            <a:pPr eaLnBrk="1" hangingPunct="1">
              <a:spcBef>
                <a:spcPct val="80000"/>
              </a:spcBef>
              <a:defRPr/>
            </a:pPr>
            <a:r>
              <a:rPr lang="en-US" dirty="0" smtClean="0">
                <a:cs typeface="+mn-cs"/>
              </a:rPr>
              <a:t>General syntax to throw an exception is:</a:t>
            </a:r>
          </a:p>
          <a:p>
            <a:pPr lvl="2" eaLnBrk="1" hangingPunct="1">
              <a:spcBef>
                <a:spcPct val="80000"/>
              </a:spcBef>
              <a:buFontTx/>
              <a:buNone/>
              <a:defRPr/>
            </a:pPr>
            <a:endParaRPr lang="en-US" dirty="0" smtClean="0">
              <a:latin typeface="Courier New" charset="0"/>
            </a:endParaRPr>
          </a:p>
          <a:p>
            <a:pPr lvl="1" eaLnBrk="1" hangingPunct="1">
              <a:spcBef>
                <a:spcPct val="80000"/>
              </a:spcBef>
              <a:buFont typeface="Arial" charset="0"/>
              <a:buNone/>
              <a:defRPr/>
            </a:pPr>
            <a:r>
              <a:rPr lang="en-US" dirty="0" smtClean="0"/>
              <a:t> where </a:t>
            </a:r>
            <a:r>
              <a:rPr lang="en-US" dirty="0" smtClean="0">
                <a:latin typeface="Courier New" charset="0"/>
              </a:rPr>
              <a:t>expression</a:t>
            </a:r>
            <a:r>
              <a:rPr lang="en-US" dirty="0" smtClean="0"/>
              <a:t> is a constant value, variable, or object</a:t>
            </a:r>
          </a:p>
        </p:txBody>
      </p:sp>
      <p:pic>
        <p:nvPicPr>
          <p:cNvPr id="2458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3190875"/>
            <a:ext cx="3810000" cy="771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784795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smtClean="0">
                <a:cs typeface="+mj-cs"/>
              </a:rPr>
              <a:t>Throwing an Exception (continued)</a:t>
            </a:r>
          </a:p>
        </p:txBody>
      </p:sp>
      <p:sp>
        <p:nvSpPr>
          <p:cNvPr id="30413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spcBef>
                <a:spcPct val="60000"/>
              </a:spcBef>
              <a:defRPr/>
            </a:pPr>
            <a:r>
              <a:rPr lang="en-US" smtClean="0">
                <a:cs typeface="+mn-cs"/>
              </a:rPr>
              <a:t>The object being thrown can be:</a:t>
            </a:r>
          </a:p>
          <a:p>
            <a:pPr lvl="1" eaLnBrk="1" hangingPunct="1">
              <a:lnSpc>
                <a:spcPct val="90000"/>
              </a:lnSpc>
              <a:spcBef>
                <a:spcPct val="60000"/>
              </a:spcBef>
              <a:defRPr/>
            </a:pPr>
            <a:r>
              <a:rPr lang="en-US" smtClean="0"/>
              <a:t>Specific object</a:t>
            </a:r>
          </a:p>
          <a:p>
            <a:pPr lvl="1" eaLnBrk="1" hangingPunct="1">
              <a:lnSpc>
                <a:spcPct val="90000"/>
              </a:lnSpc>
              <a:spcBef>
                <a:spcPct val="60000"/>
              </a:spcBef>
              <a:defRPr/>
            </a:pPr>
            <a:r>
              <a:rPr lang="en-US" smtClean="0"/>
              <a:t>Anonymous object</a:t>
            </a:r>
          </a:p>
          <a:p>
            <a:pPr eaLnBrk="1" hangingPunct="1">
              <a:lnSpc>
                <a:spcPct val="90000"/>
              </a:lnSpc>
              <a:spcBef>
                <a:spcPct val="60000"/>
              </a:spcBef>
              <a:defRPr/>
            </a:pPr>
            <a:r>
              <a:rPr lang="en-US" smtClean="0">
                <a:cs typeface="+mn-cs"/>
              </a:rPr>
              <a:t>In C++</a:t>
            </a:r>
          </a:p>
          <a:p>
            <a:pPr lvl="1" eaLnBrk="1" hangingPunct="1">
              <a:lnSpc>
                <a:spcPct val="90000"/>
              </a:lnSpc>
              <a:spcBef>
                <a:spcPct val="60000"/>
              </a:spcBef>
              <a:defRPr/>
            </a:pPr>
            <a:r>
              <a:rPr lang="en-US" smtClean="0"/>
              <a:t>An exception is a value</a:t>
            </a:r>
          </a:p>
          <a:p>
            <a:pPr lvl="1" eaLnBrk="1" hangingPunct="1">
              <a:lnSpc>
                <a:spcPct val="90000"/>
              </a:lnSpc>
              <a:spcBef>
                <a:spcPct val="60000"/>
              </a:spcBef>
              <a:defRPr/>
            </a:pPr>
            <a:r>
              <a:rPr lang="en-US" smtClean="0">
                <a:solidFill>
                  <a:srgbClr val="3333FF"/>
                </a:solidFill>
                <a:latin typeface="Courier New" charset="0"/>
              </a:rPr>
              <a:t>throw</a:t>
            </a:r>
            <a:r>
              <a:rPr lang="en-US" smtClean="0"/>
              <a:t> is a reserved word</a:t>
            </a:r>
          </a:p>
          <a:p>
            <a:pPr eaLnBrk="1" hangingPunct="1">
              <a:lnSpc>
                <a:spcPct val="90000"/>
              </a:lnSpc>
              <a:spcBef>
                <a:spcPct val="60000"/>
              </a:spcBef>
              <a:defRPr/>
            </a:pPr>
            <a:endParaRPr lang="en-US" smtClean="0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143386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8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1524000"/>
            <a:ext cx="8991600" cy="440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829733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 smtClean="0">
                <a:cs typeface="+mj-cs"/>
              </a:rPr>
              <a:t>Throwing an Exception (continued)</a:t>
            </a:r>
          </a:p>
        </p:txBody>
      </p:sp>
    </p:spTree>
    <p:extLst>
      <p:ext uri="{BB962C8B-B14F-4D97-AF65-F5344CB8AC3E}">
        <p14:creationId xmlns:p14="http://schemas.microsoft.com/office/powerpoint/2010/main" val="41273069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mtClean="0">
                <a:cs typeface="+mj-cs"/>
              </a:rPr>
              <a:t>Order of catch Blocks</a:t>
            </a:r>
          </a:p>
        </p:txBody>
      </p:sp>
      <p:sp>
        <p:nvSpPr>
          <p:cNvPr id="28979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mtClean="0">
                <a:cs typeface="+mn-cs"/>
              </a:rPr>
              <a:t>Catch block can catch</a:t>
            </a:r>
          </a:p>
          <a:p>
            <a:pPr lvl="1" eaLnBrk="1" hangingPunct="1">
              <a:defRPr/>
            </a:pPr>
            <a:r>
              <a:rPr lang="en-US" smtClean="0"/>
              <a:t>All exceptions of a specific type</a:t>
            </a:r>
          </a:p>
          <a:p>
            <a:pPr lvl="1" eaLnBrk="1" hangingPunct="1">
              <a:defRPr/>
            </a:pPr>
            <a:r>
              <a:rPr lang="en-US" smtClean="0"/>
              <a:t>All types of exceptions</a:t>
            </a:r>
          </a:p>
          <a:p>
            <a:pPr eaLnBrk="1" hangingPunct="1">
              <a:defRPr/>
            </a:pPr>
            <a:r>
              <a:rPr lang="en-US" smtClean="0">
                <a:cs typeface="+mn-cs"/>
              </a:rPr>
              <a:t>A </a:t>
            </a:r>
            <a:r>
              <a:rPr lang="en-US" smtClean="0">
                <a:solidFill>
                  <a:srgbClr val="3333FF"/>
                </a:solidFill>
                <a:latin typeface="Courier New" charset="0"/>
                <a:cs typeface="+mn-cs"/>
              </a:rPr>
              <a:t>catch</a:t>
            </a:r>
            <a:r>
              <a:rPr lang="en-US" smtClean="0">
                <a:cs typeface="+mn-cs"/>
              </a:rPr>
              <a:t> block with an ellipses (three dots) catches any type of exception</a:t>
            </a:r>
          </a:p>
          <a:p>
            <a:pPr eaLnBrk="1" hangingPunct="1">
              <a:defRPr/>
            </a:pPr>
            <a:r>
              <a:rPr lang="en-US" smtClean="0">
                <a:cs typeface="+mn-cs"/>
              </a:rPr>
              <a:t>In a sequence of </a:t>
            </a:r>
            <a:r>
              <a:rPr lang="en-US" smtClean="0">
                <a:solidFill>
                  <a:srgbClr val="3333FF"/>
                </a:solidFill>
                <a:latin typeface="Courier New" charset="0"/>
                <a:cs typeface="+mn-cs"/>
              </a:rPr>
              <a:t>try</a:t>
            </a:r>
            <a:r>
              <a:rPr lang="en-US" smtClean="0">
                <a:cs typeface="+mn-cs"/>
              </a:rPr>
              <a:t>/</a:t>
            </a:r>
            <a:r>
              <a:rPr lang="en-US" smtClean="0">
                <a:solidFill>
                  <a:srgbClr val="3333FF"/>
                </a:solidFill>
                <a:latin typeface="Courier New" charset="0"/>
                <a:cs typeface="+mn-cs"/>
              </a:rPr>
              <a:t>catch</a:t>
            </a:r>
            <a:r>
              <a:rPr lang="en-US" smtClean="0">
                <a:cs typeface="+mn-cs"/>
              </a:rPr>
              <a:t> blocks, if the </a:t>
            </a:r>
            <a:r>
              <a:rPr lang="en-US" smtClean="0">
                <a:solidFill>
                  <a:srgbClr val="3333FF"/>
                </a:solidFill>
                <a:latin typeface="Courier New" charset="0"/>
                <a:cs typeface="+mn-cs"/>
              </a:rPr>
              <a:t>catch</a:t>
            </a:r>
            <a:r>
              <a:rPr lang="en-US" smtClean="0">
                <a:cs typeface="+mn-cs"/>
              </a:rPr>
              <a:t> block with an ellipses is needed</a:t>
            </a:r>
          </a:p>
          <a:p>
            <a:pPr lvl="1" eaLnBrk="1" hangingPunct="1">
              <a:defRPr/>
            </a:pPr>
            <a:r>
              <a:rPr lang="en-US" smtClean="0"/>
              <a:t>It should be the last </a:t>
            </a:r>
            <a:r>
              <a:rPr lang="en-US" smtClean="0">
                <a:solidFill>
                  <a:srgbClr val="3333FF"/>
                </a:solidFill>
                <a:latin typeface="Courier New" charset="0"/>
              </a:rPr>
              <a:t>catch</a:t>
            </a:r>
            <a:r>
              <a:rPr lang="en-US" smtClean="0"/>
              <a:t> block of that sequence</a:t>
            </a:r>
          </a:p>
        </p:txBody>
      </p:sp>
    </p:spTree>
    <p:extLst>
      <p:ext uri="{BB962C8B-B14F-4D97-AF65-F5344CB8AC3E}">
        <p14:creationId xmlns:p14="http://schemas.microsoft.com/office/powerpoint/2010/main" val="39246795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634" name="Rectangle 2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Tx/>
              <a:buNone/>
              <a:defRPr/>
            </a:pPr>
            <a:endParaRPr lang="en-US" smtClean="0">
              <a:cs typeface="+mn-cs"/>
            </a:endParaRPr>
          </a:p>
          <a:p>
            <a:pPr eaLnBrk="1" hangingPunct="1">
              <a:defRPr/>
            </a:pPr>
            <a:endParaRPr lang="en-US" smtClean="0">
              <a:cs typeface="+mn-cs"/>
            </a:endParaRPr>
          </a:p>
        </p:txBody>
      </p:sp>
      <p:sp>
        <p:nvSpPr>
          <p:cNvPr id="28675" name="Text Box 3"/>
          <p:cNvSpPr txBox="1">
            <a:spLocks noChangeArrowheads="1"/>
          </p:cNvSpPr>
          <p:nvPr/>
        </p:nvSpPr>
        <p:spPr bwMode="auto">
          <a:xfrm>
            <a:off x="152400" y="152400"/>
            <a:ext cx="2438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2400" b="1" dirty="0">
                <a:solidFill>
                  <a:srgbClr val="FF0000"/>
                </a:solidFill>
              </a:rPr>
              <a:t>Example 15-7</a:t>
            </a:r>
          </a:p>
        </p:txBody>
      </p:sp>
      <p:pic>
        <p:nvPicPr>
          <p:cNvPr id="2867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685800"/>
            <a:ext cx="8534400" cy="534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710259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658" name="Rectangle 2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Tx/>
              <a:buNone/>
              <a:defRPr/>
            </a:pPr>
            <a:endParaRPr lang="en-US" smtClean="0">
              <a:cs typeface="+mn-cs"/>
            </a:endParaRPr>
          </a:p>
          <a:p>
            <a:pPr eaLnBrk="1" hangingPunct="1">
              <a:defRPr/>
            </a:pPr>
            <a:endParaRPr lang="en-US" smtClean="0">
              <a:cs typeface="+mn-cs"/>
            </a:endParaRPr>
          </a:p>
        </p:txBody>
      </p:sp>
      <p:pic>
        <p:nvPicPr>
          <p:cNvPr id="2969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228600"/>
            <a:ext cx="8229600" cy="6094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429427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82" name="Rectangle 2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Tx/>
              <a:buNone/>
              <a:defRPr/>
            </a:pPr>
            <a:endParaRPr lang="en-US" smtClean="0">
              <a:cs typeface="+mn-cs"/>
            </a:endParaRPr>
          </a:p>
          <a:p>
            <a:pPr eaLnBrk="1" hangingPunct="1">
              <a:defRPr/>
            </a:pPr>
            <a:endParaRPr lang="en-US" smtClean="0">
              <a:cs typeface="+mn-cs"/>
            </a:endParaRPr>
          </a:p>
        </p:txBody>
      </p:sp>
      <p:pic>
        <p:nvPicPr>
          <p:cNvPr id="3072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228600"/>
            <a:ext cx="7086600" cy="640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668901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mtClean="0">
                <a:cs typeface="+mj-cs"/>
              </a:rPr>
              <a:t>Using C++ Exception Classes</a:t>
            </a:r>
          </a:p>
        </p:txBody>
      </p:sp>
      <p:sp>
        <p:nvSpPr>
          <p:cNvPr id="29184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smtClean="0">
                <a:cs typeface="+mn-cs"/>
              </a:rPr>
              <a:t>C++ provides support to handle exceptions via hierarchy of classes</a:t>
            </a:r>
          </a:p>
          <a:p>
            <a:pPr eaLnBrk="1" hangingPunct="1">
              <a:defRPr/>
            </a:pPr>
            <a:endParaRPr lang="en-US" dirty="0" smtClean="0">
              <a:cs typeface="+mn-cs"/>
            </a:endParaRPr>
          </a:p>
          <a:p>
            <a:pPr eaLnBrk="1" hangingPunct="1">
              <a:defRPr/>
            </a:pPr>
            <a:r>
              <a:rPr lang="en-US" dirty="0" smtClean="0">
                <a:cs typeface="+mn-cs"/>
              </a:rPr>
              <a:t>The </a:t>
            </a:r>
            <a:r>
              <a:rPr lang="en-US" dirty="0" smtClean="0">
                <a:solidFill>
                  <a:srgbClr val="3333FF"/>
                </a:solidFill>
                <a:latin typeface="Courier New" charset="0"/>
                <a:cs typeface="+mn-cs"/>
              </a:rPr>
              <a:t>class</a:t>
            </a:r>
            <a:r>
              <a:rPr lang="en-US" dirty="0" smtClean="0">
                <a:cs typeface="+mn-cs"/>
              </a:rPr>
              <a:t> </a:t>
            </a:r>
            <a:r>
              <a:rPr lang="en-US" i="1" dirty="0" smtClean="0">
                <a:latin typeface="Courier New" charset="0"/>
                <a:cs typeface="+mn-cs"/>
              </a:rPr>
              <a:t>exception</a:t>
            </a:r>
            <a:r>
              <a:rPr lang="en-US" i="1" dirty="0" smtClean="0">
                <a:cs typeface="+mn-cs"/>
              </a:rPr>
              <a:t> </a:t>
            </a:r>
            <a:r>
              <a:rPr lang="en-US" dirty="0" smtClean="0">
                <a:cs typeface="+mn-cs"/>
              </a:rPr>
              <a:t>is:</a:t>
            </a:r>
          </a:p>
          <a:p>
            <a:pPr lvl="1" eaLnBrk="1" hangingPunct="1">
              <a:defRPr/>
            </a:pPr>
            <a:r>
              <a:rPr lang="en-US" dirty="0" smtClean="0"/>
              <a:t>The base class of the exception classes provided by C++</a:t>
            </a:r>
          </a:p>
        </p:txBody>
      </p:sp>
    </p:spTree>
    <p:extLst>
      <p:ext uri="{BB962C8B-B14F-4D97-AF65-F5344CB8AC3E}">
        <p14:creationId xmlns:p14="http://schemas.microsoft.com/office/powerpoint/2010/main" val="4587126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98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smtClean="0">
                <a:cs typeface="+mj-cs"/>
              </a:rPr>
              <a:t>Using C++ Exception Classes (continued)</a:t>
            </a:r>
          </a:p>
        </p:txBody>
      </p:sp>
      <p:sp>
        <p:nvSpPr>
          <p:cNvPr id="29798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spcBef>
                <a:spcPct val="60000"/>
              </a:spcBef>
              <a:defRPr/>
            </a:pPr>
            <a:r>
              <a:rPr lang="en-US" sz="2800" dirty="0" smtClean="0">
                <a:cs typeface="+mn-cs"/>
              </a:rPr>
              <a:t>Two classes derived from </a:t>
            </a:r>
            <a:r>
              <a:rPr lang="en-US" sz="2800" dirty="0" smtClean="0">
                <a:latin typeface="Courier New" charset="0"/>
                <a:cs typeface="+mn-cs"/>
              </a:rPr>
              <a:t>exception</a:t>
            </a:r>
            <a:r>
              <a:rPr lang="en-US" sz="2800" dirty="0" smtClean="0">
                <a:cs typeface="+mn-cs"/>
              </a:rPr>
              <a:t>:</a:t>
            </a:r>
          </a:p>
          <a:p>
            <a:pPr lvl="1" eaLnBrk="1" hangingPunct="1">
              <a:spcBef>
                <a:spcPct val="60000"/>
              </a:spcBef>
              <a:defRPr/>
            </a:pPr>
            <a:r>
              <a:rPr lang="en-US" sz="2400" dirty="0" err="1" smtClean="0">
                <a:latin typeface="Courier New" charset="0"/>
              </a:rPr>
              <a:t>logic_error</a:t>
            </a:r>
            <a:endParaRPr lang="en-US" sz="2400" dirty="0" smtClean="0">
              <a:latin typeface="Courier New" charset="0"/>
            </a:endParaRPr>
          </a:p>
          <a:p>
            <a:pPr lvl="1" eaLnBrk="1" hangingPunct="1">
              <a:spcBef>
                <a:spcPct val="60000"/>
              </a:spcBef>
              <a:defRPr/>
            </a:pPr>
            <a:r>
              <a:rPr lang="en-US" sz="2400" dirty="0" err="1" smtClean="0">
                <a:latin typeface="Courier New" charset="0"/>
              </a:rPr>
              <a:t>runtime_error</a:t>
            </a:r>
            <a:endParaRPr lang="en-US" sz="2400" dirty="0" smtClean="0">
              <a:latin typeface="Courier New" charset="0"/>
            </a:endParaRPr>
          </a:p>
          <a:p>
            <a:pPr eaLnBrk="1" hangingPunct="1">
              <a:spcBef>
                <a:spcPct val="60000"/>
              </a:spcBef>
              <a:defRPr/>
            </a:pPr>
            <a:endParaRPr lang="en-US" sz="2800" dirty="0" smtClean="0">
              <a:cs typeface="+mn-cs"/>
            </a:endParaRPr>
          </a:p>
          <a:p>
            <a:pPr eaLnBrk="1" hangingPunct="1">
              <a:spcBef>
                <a:spcPct val="60000"/>
              </a:spcBef>
              <a:defRPr/>
            </a:pPr>
            <a:r>
              <a:rPr lang="en-US" sz="2800" dirty="0" smtClean="0">
                <a:cs typeface="+mn-cs"/>
              </a:rPr>
              <a:t>The </a:t>
            </a:r>
            <a:r>
              <a:rPr lang="en-US" sz="2800" dirty="0" smtClean="0">
                <a:solidFill>
                  <a:srgbClr val="3333FF"/>
                </a:solidFill>
                <a:latin typeface="Courier New" charset="0"/>
                <a:cs typeface="+mn-cs"/>
              </a:rPr>
              <a:t>class</a:t>
            </a:r>
            <a:r>
              <a:rPr lang="en-US" sz="2800" dirty="0" smtClean="0">
                <a:cs typeface="+mn-cs"/>
              </a:rPr>
              <a:t> </a:t>
            </a:r>
            <a:r>
              <a:rPr lang="en-US" sz="2800" dirty="0" err="1" smtClean="0">
                <a:latin typeface="Courier New" charset="0"/>
                <a:cs typeface="+mn-cs"/>
              </a:rPr>
              <a:t>invalid_argument</a:t>
            </a:r>
            <a:r>
              <a:rPr lang="en-US" sz="2800" dirty="0" smtClean="0">
                <a:cs typeface="+mn-cs"/>
              </a:rPr>
              <a:t> deals with illegal arguments used in a function call</a:t>
            </a:r>
          </a:p>
        </p:txBody>
      </p:sp>
    </p:spTree>
    <p:extLst>
      <p:ext uri="{BB962C8B-B14F-4D97-AF65-F5344CB8AC3E}">
        <p14:creationId xmlns:p14="http://schemas.microsoft.com/office/powerpoint/2010/main" val="33553042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1371600"/>
            <a:ext cx="3644900" cy="4660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829733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smtClean="0">
                <a:cs typeface="+mj-cs"/>
              </a:rPr>
              <a:t>Using C++ Exception Classes (continued)</a:t>
            </a:r>
          </a:p>
        </p:txBody>
      </p:sp>
    </p:spTree>
    <p:extLst>
      <p:ext uri="{BB962C8B-B14F-4D97-AF65-F5344CB8AC3E}">
        <p14:creationId xmlns:p14="http://schemas.microsoft.com/office/powerpoint/2010/main" val="241245185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7" name="Image 5" descr="Capture d’écran 2012-12-05 à 3.29.06 PM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063"/>
          <a:stretch/>
        </p:blipFill>
        <p:spPr bwMode="auto">
          <a:xfrm>
            <a:off x="0" y="829732"/>
            <a:ext cx="9144000" cy="25992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Image 3" descr="Capture d’écran 2012-12-05 à 3.29.25 P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401703"/>
            <a:ext cx="9144000" cy="3581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829733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smtClean="0">
                <a:cs typeface="+mj-cs"/>
              </a:rPr>
              <a:t>Using C++ Exception Classes (continued)</a:t>
            </a:r>
          </a:p>
        </p:txBody>
      </p:sp>
    </p:spTree>
    <p:extLst>
      <p:ext uri="{BB962C8B-B14F-4D97-AF65-F5344CB8AC3E}">
        <p14:creationId xmlns:p14="http://schemas.microsoft.com/office/powerpoint/2010/main" val="298350645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15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smtClean="0">
                <a:cs typeface="+mj-cs"/>
              </a:rPr>
              <a:t>Using C++ Exception Classes (continued)</a:t>
            </a:r>
          </a:p>
        </p:txBody>
      </p:sp>
      <p:sp>
        <p:nvSpPr>
          <p:cNvPr id="30515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spcBef>
                <a:spcPct val="100000"/>
              </a:spcBef>
              <a:defRPr/>
            </a:pPr>
            <a:r>
              <a:rPr lang="en-US" sz="2800" dirty="0" smtClean="0">
                <a:cs typeface="+mn-cs"/>
              </a:rPr>
              <a:t>The </a:t>
            </a:r>
            <a:r>
              <a:rPr lang="en-US" sz="2800" dirty="0" smtClean="0">
                <a:solidFill>
                  <a:srgbClr val="3333FF"/>
                </a:solidFill>
                <a:latin typeface="Courier New" charset="0"/>
                <a:cs typeface="+mn-cs"/>
              </a:rPr>
              <a:t>class</a:t>
            </a:r>
            <a:r>
              <a:rPr lang="en-US" sz="2800" dirty="0" smtClean="0">
                <a:latin typeface="Courier New" charset="0"/>
                <a:cs typeface="+mn-cs"/>
              </a:rPr>
              <a:t> </a:t>
            </a:r>
            <a:r>
              <a:rPr lang="en-US" sz="2800" dirty="0" err="1" smtClean="0">
                <a:latin typeface="Courier New" charset="0"/>
                <a:cs typeface="+mn-cs"/>
              </a:rPr>
              <a:t>out_of_range</a:t>
            </a:r>
            <a:r>
              <a:rPr lang="en-US" sz="2800" dirty="0" smtClean="0">
                <a:cs typeface="+mn-cs"/>
              </a:rPr>
              <a:t> deals with the </a:t>
            </a:r>
            <a:r>
              <a:rPr lang="en-US" sz="2800" dirty="0" smtClean="0">
                <a:latin typeface="Courier New" charset="0"/>
                <a:cs typeface="+mn-cs"/>
              </a:rPr>
              <a:t>string</a:t>
            </a:r>
            <a:r>
              <a:rPr lang="en-US" sz="2800" dirty="0" smtClean="0">
                <a:cs typeface="+mn-cs"/>
              </a:rPr>
              <a:t> subscript </a:t>
            </a:r>
            <a:r>
              <a:rPr lang="en-US" sz="2800" dirty="0" err="1" smtClean="0">
                <a:latin typeface="Courier New" charset="0"/>
                <a:cs typeface="+mn-cs"/>
              </a:rPr>
              <a:t>out_of_range</a:t>
            </a:r>
            <a:r>
              <a:rPr lang="en-US" sz="2800" dirty="0" smtClean="0">
                <a:cs typeface="+mn-cs"/>
              </a:rPr>
              <a:t> error</a:t>
            </a:r>
          </a:p>
          <a:p>
            <a:pPr eaLnBrk="1" hangingPunct="1">
              <a:spcBef>
                <a:spcPct val="100000"/>
              </a:spcBef>
              <a:defRPr/>
            </a:pPr>
            <a:r>
              <a:rPr lang="en-US" sz="2800" dirty="0" smtClean="0">
                <a:cs typeface="+mn-cs"/>
              </a:rPr>
              <a:t>The </a:t>
            </a:r>
            <a:r>
              <a:rPr lang="en-US" sz="2800" dirty="0" smtClean="0">
                <a:solidFill>
                  <a:srgbClr val="3333FF"/>
                </a:solidFill>
                <a:latin typeface="Courier New" charset="0"/>
                <a:cs typeface="+mn-cs"/>
              </a:rPr>
              <a:t>class</a:t>
            </a:r>
            <a:r>
              <a:rPr lang="en-US" sz="2800" dirty="0" smtClean="0">
                <a:cs typeface="+mn-cs"/>
              </a:rPr>
              <a:t> </a:t>
            </a:r>
            <a:r>
              <a:rPr lang="en-US" sz="2800" dirty="0" err="1" smtClean="0">
                <a:latin typeface="Courier New" charset="0"/>
                <a:cs typeface="+mn-cs"/>
              </a:rPr>
              <a:t>length_error</a:t>
            </a:r>
            <a:r>
              <a:rPr lang="en-US" sz="2800" dirty="0" smtClean="0">
                <a:cs typeface="+mn-cs"/>
              </a:rPr>
              <a:t> handles the error if</a:t>
            </a:r>
          </a:p>
          <a:p>
            <a:pPr lvl="1" eaLnBrk="1" hangingPunct="1">
              <a:spcBef>
                <a:spcPct val="100000"/>
              </a:spcBef>
              <a:defRPr/>
            </a:pPr>
            <a:r>
              <a:rPr lang="en-US" sz="2400" dirty="0" smtClean="0"/>
              <a:t>A length greater than the maximum allowed for a </a:t>
            </a:r>
            <a:r>
              <a:rPr lang="en-US" sz="2400" dirty="0" smtClean="0">
                <a:latin typeface="Courier New" charset="0"/>
              </a:rPr>
              <a:t>string</a:t>
            </a:r>
            <a:r>
              <a:rPr lang="en-US" sz="2400" dirty="0" smtClean="0"/>
              <a:t> object is used</a:t>
            </a:r>
          </a:p>
        </p:txBody>
      </p:sp>
    </p:spTree>
    <p:extLst>
      <p:ext uri="{BB962C8B-B14F-4D97-AF65-F5344CB8AC3E}">
        <p14:creationId xmlns:p14="http://schemas.microsoft.com/office/powerpoint/2010/main" val="19060511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6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dirty="0" smtClean="0">
                <a:cs typeface="+mj-cs"/>
              </a:rPr>
              <a:t>Using C++ Exception Classes (continued)</a:t>
            </a:r>
          </a:p>
        </p:txBody>
      </p:sp>
      <p:sp>
        <p:nvSpPr>
          <p:cNvPr id="29696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US" sz="2800" dirty="0" smtClean="0">
                <a:cs typeface="+mn-cs"/>
              </a:rPr>
              <a:t>If the operator </a:t>
            </a:r>
            <a:r>
              <a:rPr lang="en-US" sz="2800" dirty="0" smtClean="0">
                <a:solidFill>
                  <a:srgbClr val="3333FF"/>
                </a:solidFill>
                <a:latin typeface="Courier New" charset="0"/>
                <a:cs typeface="+mn-cs"/>
              </a:rPr>
              <a:t>new</a:t>
            </a:r>
            <a:r>
              <a:rPr lang="en-US" sz="2800" dirty="0" smtClean="0">
                <a:cs typeface="+mn-cs"/>
              </a:rPr>
              <a:t> cannot allocate memory space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sz="2400" dirty="0" smtClean="0"/>
              <a:t>It throws a </a:t>
            </a:r>
            <a:r>
              <a:rPr lang="en-US" sz="2400" dirty="0" err="1" smtClean="0">
                <a:latin typeface="Courier New" charset="0"/>
              </a:rPr>
              <a:t>bad_alloc</a:t>
            </a:r>
            <a:r>
              <a:rPr lang="en-US" sz="2400" dirty="0" smtClean="0"/>
              <a:t> </a:t>
            </a:r>
            <a:r>
              <a:rPr lang="en-US" sz="2400" dirty="0" smtClean="0"/>
              <a:t>exception</a:t>
            </a:r>
          </a:p>
          <a:p>
            <a:pPr lvl="1" eaLnBrk="1" hangingPunct="1">
              <a:lnSpc>
                <a:spcPct val="90000"/>
              </a:lnSpc>
              <a:defRPr/>
            </a:pPr>
            <a:endParaRPr lang="en-US" sz="2400" dirty="0" smtClean="0"/>
          </a:p>
          <a:p>
            <a:pPr eaLnBrk="1" hangingPunct="1">
              <a:lnSpc>
                <a:spcPct val="90000"/>
              </a:lnSpc>
              <a:defRPr/>
            </a:pPr>
            <a:r>
              <a:rPr lang="en-US" sz="2800" dirty="0" smtClean="0">
                <a:cs typeface="+mn-cs"/>
              </a:rPr>
              <a:t>The </a:t>
            </a:r>
            <a:r>
              <a:rPr lang="en-US" sz="2800" dirty="0" smtClean="0">
                <a:solidFill>
                  <a:srgbClr val="3333FF"/>
                </a:solidFill>
                <a:latin typeface="Courier New" charset="0"/>
                <a:cs typeface="+mn-cs"/>
              </a:rPr>
              <a:t>class</a:t>
            </a:r>
            <a:r>
              <a:rPr lang="en-US" sz="2800" dirty="0" smtClean="0">
                <a:cs typeface="+mn-cs"/>
              </a:rPr>
              <a:t> </a:t>
            </a:r>
            <a:r>
              <a:rPr lang="en-US" sz="2800" dirty="0" err="1" smtClean="0">
                <a:latin typeface="Courier New" charset="0"/>
                <a:cs typeface="+mn-cs"/>
              </a:rPr>
              <a:t>runtime_error</a:t>
            </a:r>
            <a:r>
              <a:rPr lang="en-US" sz="2800" dirty="0" smtClean="0">
                <a:cs typeface="+mn-cs"/>
              </a:rPr>
              <a:t> deals with errors that occur only during program execution</a:t>
            </a:r>
          </a:p>
          <a:p>
            <a:pPr algn="l" eaLnBrk="1" hangingPunct="1">
              <a:lnSpc>
                <a:spcPct val="90000"/>
              </a:lnSpc>
              <a:defRPr/>
            </a:pPr>
            <a:r>
              <a:rPr lang="en-US" sz="2800" dirty="0" smtClean="0">
                <a:cs typeface="+mn-cs"/>
              </a:rPr>
              <a:t>Classes </a:t>
            </a:r>
            <a:r>
              <a:rPr lang="en-US" sz="2800" dirty="0" err="1" smtClean="0">
                <a:latin typeface="Courier New" charset="0"/>
                <a:cs typeface="+mn-cs"/>
              </a:rPr>
              <a:t>overflow_error</a:t>
            </a:r>
            <a:r>
              <a:rPr lang="en-US" sz="2800" dirty="0"/>
              <a:t> </a:t>
            </a:r>
            <a:r>
              <a:rPr lang="en-US" sz="2800" dirty="0" smtClean="0">
                <a:cs typeface="+mn-cs"/>
              </a:rPr>
              <a:t>and </a:t>
            </a:r>
            <a:r>
              <a:rPr lang="en-US" sz="2800" dirty="0" err="1" smtClean="0">
                <a:latin typeface="Courier New" charset="0"/>
                <a:cs typeface="+mn-cs"/>
              </a:rPr>
              <a:t>underflow_error</a:t>
            </a:r>
            <a:endParaRPr lang="en-US" sz="2800" dirty="0" smtClean="0">
              <a:latin typeface="Courier New" charset="0"/>
              <a:cs typeface="+mn-cs"/>
            </a:endParaRP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sz="2400" dirty="0" smtClean="0"/>
              <a:t>Deal with arithmetic overflow and under-flow exceptions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sz="2400" dirty="0" smtClean="0"/>
              <a:t>Derived from the </a:t>
            </a:r>
            <a:r>
              <a:rPr lang="en-US" sz="2400" dirty="0" smtClean="0">
                <a:solidFill>
                  <a:srgbClr val="3333FF"/>
                </a:solidFill>
                <a:latin typeface="Courier New" charset="0"/>
              </a:rPr>
              <a:t>class</a:t>
            </a:r>
            <a:r>
              <a:rPr lang="en-US" sz="2400" dirty="0" smtClean="0"/>
              <a:t> </a:t>
            </a:r>
            <a:r>
              <a:rPr lang="en-US" sz="2400" dirty="0" err="1" smtClean="0">
                <a:latin typeface="Courier New" charset="0"/>
              </a:rPr>
              <a:t>runtime_error</a:t>
            </a:r>
            <a:endParaRPr lang="en-US" sz="2400" dirty="0" smtClean="0">
              <a:latin typeface="Courier New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84364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mtClean="0"/>
              <a:t>Using C++ Exception Classes (continued)</a:t>
            </a:r>
            <a:endParaRPr lang="fr-FR" smtClean="0"/>
          </a:p>
        </p:txBody>
      </p:sp>
      <p:sp>
        <p:nvSpPr>
          <p:cNvPr id="3584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The function </a:t>
            </a:r>
            <a:r>
              <a:rPr lang="en-US" i="1" smtClean="0"/>
              <a:t>what</a:t>
            </a:r>
            <a:r>
              <a:rPr lang="en-US" smtClean="0"/>
              <a:t> returns the string containing exception object thrown by C++</a:t>
            </a:r>
            <a:r>
              <a:rPr lang="ja-JP" altLang="en-US" smtClean="0"/>
              <a:t>’</a:t>
            </a:r>
            <a:r>
              <a:rPr lang="en-US" altLang="ja-JP" smtClean="0"/>
              <a:t>s built-in exception classes</a:t>
            </a:r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7174646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ext Box 6"/>
          <p:cNvSpPr txBox="1">
            <a:spLocks noChangeArrowheads="1"/>
          </p:cNvSpPr>
          <p:nvPr/>
        </p:nvSpPr>
        <p:spPr bwMode="auto">
          <a:xfrm>
            <a:off x="228600" y="452438"/>
            <a:ext cx="86868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2400" b="1"/>
              <a:t>exceptions </a:t>
            </a:r>
            <a:r>
              <a:rPr lang="en-US" sz="2400" b="1">
                <a:latin typeface="Courier New" panose="02070309020205020404" pitchFamily="49" charset="0"/>
              </a:rPr>
              <a:t>out_of_range</a:t>
            </a:r>
            <a:r>
              <a:rPr lang="en-US" sz="2400" b="1"/>
              <a:t> and </a:t>
            </a:r>
            <a:r>
              <a:rPr lang="en-US" sz="2400" b="1">
                <a:latin typeface="Courier New" panose="02070309020205020404" pitchFamily="49" charset="0"/>
              </a:rPr>
              <a:t>length_error </a:t>
            </a:r>
          </a:p>
        </p:txBody>
      </p:sp>
      <p:pic>
        <p:nvPicPr>
          <p:cNvPr id="36867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447800"/>
            <a:ext cx="8610600" cy="4899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510948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9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52400"/>
            <a:ext cx="7620000" cy="6494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934613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1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295400"/>
            <a:ext cx="8610600" cy="1511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305048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ext Box 2"/>
          <p:cNvSpPr txBox="1">
            <a:spLocks noChangeArrowheads="1"/>
          </p:cNvSpPr>
          <p:nvPr/>
        </p:nvSpPr>
        <p:spPr bwMode="auto">
          <a:xfrm>
            <a:off x="228600" y="304800"/>
            <a:ext cx="8686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2400" b="1"/>
              <a:t>exception </a:t>
            </a:r>
            <a:r>
              <a:rPr lang="en-US" sz="2400" b="1">
                <a:latin typeface="Courier New" panose="02070309020205020404" pitchFamily="49" charset="0"/>
              </a:rPr>
              <a:t>bad_alloc</a:t>
            </a:r>
            <a:r>
              <a:rPr lang="en-US" sz="2400"/>
              <a:t> </a:t>
            </a:r>
          </a:p>
        </p:txBody>
      </p:sp>
      <p:pic>
        <p:nvPicPr>
          <p:cNvPr id="3993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762000"/>
            <a:ext cx="7239000" cy="5773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10228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6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914400"/>
            <a:ext cx="8686800" cy="3343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221111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55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dirty="0" smtClean="0">
                <a:cs typeface="+mj-cs"/>
              </a:rPr>
              <a:t>Creating Your Own Exception Classes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z="2800" smtClean="0"/>
              <a:t>Programmers can create exception classes to handle exceptions not covered by C++</a:t>
            </a:r>
            <a:r>
              <a:rPr lang="ja-JP" altLang="en-US" sz="2800" smtClean="0"/>
              <a:t>’</a:t>
            </a:r>
            <a:r>
              <a:rPr lang="en-US" altLang="ja-JP" sz="2800" smtClean="0"/>
              <a:t>s exception classes and their own exceptions</a:t>
            </a:r>
          </a:p>
          <a:p>
            <a:pPr eaLnBrk="1" hangingPunct="1"/>
            <a:r>
              <a:rPr lang="en-US" sz="2800" smtClean="0"/>
              <a:t>C++ uses the same mechanism to process the exceptions you define as for built-in exceptions</a:t>
            </a:r>
          </a:p>
          <a:p>
            <a:pPr eaLnBrk="1" hangingPunct="1"/>
            <a:r>
              <a:rPr lang="en-US" sz="2800" smtClean="0"/>
              <a:t>You must throw your own exceptions using the </a:t>
            </a:r>
            <a:r>
              <a:rPr lang="en-US" sz="2800" smtClean="0">
                <a:solidFill>
                  <a:srgbClr val="3333FF"/>
                </a:solidFill>
                <a:latin typeface="Courier New" panose="02070309020205020404" pitchFamily="49" charset="0"/>
              </a:rPr>
              <a:t>throw</a:t>
            </a:r>
            <a:r>
              <a:rPr lang="en-US" sz="2800" smtClean="0"/>
              <a:t> statement</a:t>
            </a:r>
          </a:p>
          <a:p>
            <a:pPr eaLnBrk="1" hangingPunct="1"/>
            <a:r>
              <a:rPr lang="en-US" sz="2800" smtClean="0"/>
              <a:t>Any </a:t>
            </a:r>
            <a:r>
              <a:rPr lang="en-US" sz="2800" smtClean="0">
                <a:solidFill>
                  <a:srgbClr val="3333FF"/>
                </a:solidFill>
                <a:latin typeface="Courier New" panose="02070309020205020404" pitchFamily="49" charset="0"/>
              </a:rPr>
              <a:t>class</a:t>
            </a:r>
            <a:r>
              <a:rPr lang="en-US" sz="2800" smtClean="0"/>
              <a:t> can be an exception class</a:t>
            </a:r>
          </a:p>
        </p:txBody>
      </p:sp>
    </p:spTree>
    <p:extLst>
      <p:ext uri="{BB962C8B-B14F-4D97-AF65-F5344CB8AC3E}">
        <p14:creationId xmlns:p14="http://schemas.microsoft.com/office/powerpoint/2010/main" val="27543807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11" name="Picture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" y="1524000"/>
            <a:ext cx="8610600" cy="3128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829733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dirty="0" smtClean="0">
                <a:cs typeface="+mj-cs"/>
              </a:rPr>
              <a:t>Creating Your Own Exception Classes</a:t>
            </a:r>
          </a:p>
        </p:txBody>
      </p:sp>
    </p:spTree>
    <p:extLst>
      <p:ext uri="{BB962C8B-B14F-4D97-AF65-F5344CB8AC3E}">
        <p14:creationId xmlns:p14="http://schemas.microsoft.com/office/powerpoint/2010/main" val="42357748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03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901700"/>
            <a:ext cx="8153400" cy="595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829733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dirty="0" smtClean="0">
                <a:cs typeface="+mj-cs"/>
              </a:rPr>
              <a:t>Creating Your Own Exception Classes</a:t>
            </a:r>
          </a:p>
        </p:txBody>
      </p:sp>
    </p:spTree>
    <p:extLst>
      <p:ext uri="{BB962C8B-B14F-4D97-AF65-F5344CB8AC3E}">
        <p14:creationId xmlns:p14="http://schemas.microsoft.com/office/powerpoint/2010/main" val="92248621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05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371600"/>
            <a:ext cx="8686800" cy="456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829733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dirty="0" smtClean="0">
                <a:cs typeface="+mj-cs"/>
              </a:rPr>
              <a:t>Creating Your Own Exception Classes</a:t>
            </a:r>
          </a:p>
        </p:txBody>
      </p:sp>
    </p:spTree>
    <p:extLst>
      <p:ext uri="{BB962C8B-B14F-4D97-AF65-F5344CB8AC3E}">
        <p14:creationId xmlns:p14="http://schemas.microsoft.com/office/powerpoint/2010/main" val="361949268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8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8700" y="755147"/>
            <a:ext cx="7086600" cy="61028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829733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dirty="0" smtClean="0">
                <a:cs typeface="+mj-cs"/>
              </a:rPr>
              <a:t>Creating Your Own Exception Classes</a:t>
            </a:r>
          </a:p>
        </p:txBody>
      </p:sp>
    </p:spTree>
    <p:extLst>
      <p:ext uri="{BB962C8B-B14F-4D97-AF65-F5344CB8AC3E}">
        <p14:creationId xmlns:p14="http://schemas.microsoft.com/office/powerpoint/2010/main" val="51883064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106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047750"/>
            <a:ext cx="7391400" cy="581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829733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dirty="0" smtClean="0">
                <a:cs typeface="+mj-cs"/>
              </a:rPr>
              <a:t>Creating Your Own Exception Classes</a:t>
            </a:r>
          </a:p>
        </p:txBody>
      </p:sp>
    </p:spTree>
    <p:extLst>
      <p:ext uri="{BB962C8B-B14F-4D97-AF65-F5344CB8AC3E}">
        <p14:creationId xmlns:p14="http://schemas.microsoft.com/office/powerpoint/2010/main" val="166820410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3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957263"/>
            <a:ext cx="8382000" cy="5900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829733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dirty="0" smtClean="0">
                <a:cs typeface="+mj-cs"/>
              </a:rPr>
              <a:t>Creating Your Own Exception Classes</a:t>
            </a:r>
          </a:p>
        </p:txBody>
      </p:sp>
    </p:spTree>
    <p:extLst>
      <p:ext uri="{BB962C8B-B14F-4D97-AF65-F5344CB8AC3E}">
        <p14:creationId xmlns:p14="http://schemas.microsoft.com/office/powerpoint/2010/main" val="264720996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15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879475"/>
            <a:ext cx="8610600" cy="590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829733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dirty="0" smtClean="0">
                <a:cs typeface="+mj-cs"/>
              </a:rPr>
              <a:t>Creating Your Own Exception Classes</a:t>
            </a:r>
          </a:p>
        </p:txBody>
      </p:sp>
    </p:spTree>
    <p:extLst>
      <p:ext uri="{BB962C8B-B14F-4D97-AF65-F5344CB8AC3E}">
        <p14:creationId xmlns:p14="http://schemas.microsoft.com/office/powerpoint/2010/main" val="383486736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7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524000"/>
            <a:ext cx="8458200" cy="443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829733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dirty="0" smtClean="0">
                <a:cs typeface="+mj-cs"/>
              </a:rPr>
              <a:t>Creating Your Own Exception Classes</a:t>
            </a:r>
          </a:p>
        </p:txBody>
      </p:sp>
    </p:spTree>
    <p:extLst>
      <p:ext uri="{BB962C8B-B14F-4D97-AF65-F5344CB8AC3E}">
        <p14:creationId xmlns:p14="http://schemas.microsoft.com/office/powerpoint/2010/main" val="317702017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0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295400"/>
            <a:ext cx="8382000" cy="420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829733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dirty="0" smtClean="0">
                <a:cs typeface="+mj-cs"/>
              </a:rPr>
              <a:t>Creating Your Own Exception Classes</a:t>
            </a:r>
          </a:p>
        </p:txBody>
      </p:sp>
    </p:spTree>
    <p:extLst>
      <p:ext uri="{BB962C8B-B14F-4D97-AF65-F5344CB8AC3E}">
        <p14:creationId xmlns:p14="http://schemas.microsoft.com/office/powerpoint/2010/main" val="58317594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57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smtClean="0">
                <a:cs typeface="+mj-cs"/>
              </a:rPr>
              <a:t>Rethrowing and Throwing an Exception</a:t>
            </a:r>
          </a:p>
        </p:txBody>
      </p:sp>
      <p:sp>
        <p:nvSpPr>
          <p:cNvPr id="28057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mtClean="0">
                <a:cs typeface="+mn-cs"/>
              </a:rPr>
              <a:t>When an exception occurs in a </a:t>
            </a:r>
            <a:r>
              <a:rPr lang="en-US" smtClean="0">
                <a:solidFill>
                  <a:srgbClr val="3333FF"/>
                </a:solidFill>
                <a:latin typeface="Courier New" charset="0"/>
                <a:cs typeface="+mn-cs"/>
              </a:rPr>
              <a:t>try</a:t>
            </a:r>
            <a:r>
              <a:rPr lang="en-US" smtClean="0">
                <a:cs typeface="+mn-cs"/>
              </a:rPr>
              <a:t> block</a:t>
            </a:r>
          </a:p>
          <a:p>
            <a:pPr lvl="1" eaLnBrk="1" hangingPunct="1">
              <a:defRPr/>
            </a:pPr>
            <a:r>
              <a:rPr lang="en-US" smtClean="0"/>
              <a:t>Control immediately passes to one of the catch blocks</a:t>
            </a:r>
          </a:p>
          <a:p>
            <a:pPr eaLnBrk="1" hangingPunct="1">
              <a:defRPr/>
            </a:pPr>
            <a:r>
              <a:rPr lang="en-US" smtClean="0">
                <a:cs typeface="+mn-cs"/>
              </a:rPr>
              <a:t>A </a:t>
            </a:r>
            <a:r>
              <a:rPr lang="en-US" smtClean="0">
                <a:solidFill>
                  <a:srgbClr val="3333FF"/>
                </a:solidFill>
                <a:latin typeface="Courier New" charset="0"/>
                <a:cs typeface="+mn-cs"/>
              </a:rPr>
              <a:t>catch</a:t>
            </a:r>
            <a:r>
              <a:rPr lang="en-US" smtClean="0">
                <a:cs typeface="+mn-cs"/>
              </a:rPr>
              <a:t> block either </a:t>
            </a:r>
          </a:p>
          <a:p>
            <a:pPr lvl="1" eaLnBrk="1" hangingPunct="1">
              <a:defRPr/>
            </a:pPr>
            <a:r>
              <a:rPr lang="en-US" smtClean="0"/>
              <a:t>Handles the exception or partially processes the exception and then rethrows the same exception OR</a:t>
            </a:r>
          </a:p>
          <a:p>
            <a:pPr lvl="1" eaLnBrk="1" hangingPunct="1">
              <a:defRPr/>
            </a:pPr>
            <a:r>
              <a:rPr lang="en-US" smtClean="0"/>
              <a:t>Rethrows another exception for the calling environment to handle</a:t>
            </a:r>
          </a:p>
        </p:txBody>
      </p:sp>
    </p:spTree>
    <p:extLst>
      <p:ext uri="{BB962C8B-B14F-4D97-AF65-F5344CB8AC3E}">
        <p14:creationId xmlns:p14="http://schemas.microsoft.com/office/powerpoint/2010/main" val="422504422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01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52400"/>
            <a:ext cx="9144000" cy="829733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dirty="0" err="1" smtClean="0">
                <a:cs typeface="+mj-cs"/>
              </a:rPr>
              <a:t>Rethrowing</a:t>
            </a:r>
            <a:r>
              <a:rPr lang="en-US" dirty="0" smtClean="0">
                <a:cs typeface="+mj-cs"/>
              </a:rPr>
              <a:t> and Throwing an Exception (continued)</a:t>
            </a:r>
          </a:p>
        </p:txBody>
      </p:sp>
      <p:sp>
        <p:nvSpPr>
          <p:cNvPr id="29901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spcBef>
                <a:spcPct val="60000"/>
              </a:spcBef>
              <a:defRPr/>
            </a:pPr>
            <a:r>
              <a:rPr lang="en-US" sz="2800" dirty="0" smtClean="0">
                <a:cs typeface="+mn-cs"/>
              </a:rPr>
              <a:t>The general syntax to </a:t>
            </a:r>
            <a:r>
              <a:rPr lang="en-US" sz="2800" dirty="0" err="1" smtClean="0">
                <a:cs typeface="+mn-cs"/>
              </a:rPr>
              <a:t>rethrow</a:t>
            </a:r>
            <a:r>
              <a:rPr lang="en-US" sz="2800" dirty="0" smtClean="0">
                <a:cs typeface="+mn-cs"/>
              </a:rPr>
              <a:t> an exception caught by a catch block is:</a:t>
            </a:r>
          </a:p>
          <a:p>
            <a:pPr lvl="1" eaLnBrk="1" hangingPunct="1">
              <a:spcBef>
                <a:spcPct val="60000"/>
              </a:spcBef>
              <a:buFont typeface="Arial" charset="0"/>
              <a:buNone/>
              <a:defRPr/>
            </a:pPr>
            <a:r>
              <a:rPr lang="en-US" sz="2400" dirty="0" smtClean="0">
                <a:latin typeface="Courier New" charset="0"/>
              </a:rPr>
              <a:t>	</a:t>
            </a:r>
          </a:p>
          <a:p>
            <a:pPr eaLnBrk="1" hangingPunct="1">
              <a:spcBef>
                <a:spcPct val="60000"/>
              </a:spcBef>
              <a:buFontTx/>
              <a:buNone/>
              <a:defRPr/>
            </a:pPr>
            <a:r>
              <a:rPr lang="en-US" sz="2800" dirty="0" smtClean="0">
                <a:cs typeface="+mn-cs"/>
              </a:rPr>
              <a:t>	(in this case, the same exception is </a:t>
            </a:r>
            <a:r>
              <a:rPr lang="en-US" sz="2800" dirty="0" err="1" smtClean="0">
                <a:cs typeface="+mn-cs"/>
              </a:rPr>
              <a:t>rethrown</a:t>
            </a:r>
            <a:r>
              <a:rPr lang="en-US" sz="2800" dirty="0" smtClean="0">
                <a:cs typeface="+mn-cs"/>
              </a:rPr>
              <a:t>) or:</a:t>
            </a:r>
          </a:p>
          <a:p>
            <a:pPr lvl="1" eaLnBrk="1" hangingPunct="1">
              <a:spcBef>
                <a:spcPct val="60000"/>
              </a:spcBef>
              <a:buFont typeface="Arial" charset="0"/>
              <a:buNone/>
              <a:defRPr/>
            </a:pPr>
            <a:r>
              <a:rPr lang="en-US" sz="2400" dirty="0" smtClean="0"/>
              <a:t>	</a:t>
            </a:r>
          </a:p>
          <a:p>
            <a:pPr eaLnBrk="1" hangingPunct="1">
              <a:spcBef>
                <a:spcPct val="60000"/>
              </a:spcBef>
              <a:buFontTx/>
              <a:buNone/>
              <a:defRPr/>
            </a:pPr>
            <a:r>
              <a:rPr lang="en-US" sz="2800" dirty="0" smtClean="0">
                <a:cs typeface="+mn-cs"/>
              </a:rPr>
              <a:t>	where </a:t>
            </a:r>
            <a:r>
              <a:rPr lang="en-US" sz="2800" dirty="0" smtClean="0">
                <a:latin typeface="Courier New" charset="0"/>
                <a:cs typeface="+mn-cs"/>
              </a:rPr>
              <a:t>expression</a:t>
            </a:r>
            <a:r>
              <a:rPr lang="en-US" sz="2800" dirty="0" smtClean="0">
                <a:cs typeface="+mn-cs"/>
              </a:rPr>
              <a:t> is a constant value, variable, or object</a:t>
            </a:r>
          </a:p>
        </p:txBody>
      </p:sp>
      <p:pic>
        <p:nvPicPr>
          <p:cNvPr id="53252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3800" y="1914478"/>
            <a:ext cx="1676400" cy="81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3253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800" y="3361519"/>
            <a:ext cx="3200400" cy="82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2998752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mtClean="0">
                <a:cs typeface="+mj-cs"/>
              </a:rPr>
              <a:t>Summary</a:t>
            </a:r>
          </a:p>
        </p:txBody>
      </p:sp>
      <p:sp>
        <p:nvSpPr>
          <p:cNvPr id="30310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US" sz="2800" u="sng" dirty="0" smtClean="0">
                <a:cs typeface="+mn-cs"/>
              </a:rPr>
              <a:t>Exception</a:t>
            </a:r>
            <a:r>
              <a:rPr lang="en-US" sz="2800" dirty="0" smtClean="0">
                <a:cs typeface="+mn-cs"/>
              </a:rPr>
              <a:t>: an undesirable event detectable during program execution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sz="2800" dirty="0" smtClean="0">
                <a:latin typeface="Courier New" charset="0"/>
                <a:cs typeface="+mn-cs"/>
              </a:rPr>
              <a:t>assert</a:t>
            </a:r>
            <a:r>
              <a:rPr lang="en-US" sz="2800" dirty="0" smtClean="0">
                <a:cs typeface="+mn-cs"/>
              </a:rPr>
              <a:t> checks whether an expression meets a specified condition and terminates if not met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sz="2800" dirty="0" smtClean="0">
                <a:solidFill>
                  <a:srgbClr val="3333FF"/>
                </a:solidFill>
                <a:latin typeface="Courier New" charset="0"/>
                <a:cs typeface="+mn-cs"/>
              </a:rPr>
              <a:t>try</a:t>
            </a:r>
            <a:r>
              <a:rPr lang="en-US" sz="2800" dirty="0" smtClean="0">
                <a:cs typeface="+mn-cs"/>
              </a:rPr>
              <a:t>/</a:t>
            </a:r>
            <a:r>
              <a:rPr lang="en-US" sz="2800" dirty="0" smtClean="0">
                <a:solidFill>
                  <a:srgbClr val="3333FF"/>
                </a:solidFill>
                <a:latin typeface="Courier New" charset="0"/>
                <a:cs typeface="+mn-cs"/>
              </a:rPr>
              <a:t>catch</a:t>
            </a:r>
            <a:r>
              <a:rPr lang="en-US" sz="2800" dirty="0" smtClean="0">
                <a:cs typeface="+mn-cs"/>
              </a:rPr>
              <a:t> block handles exceptions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sz="2800" dirty="0" smtClean="0">
                <a:cs typeface="+mn-cs"/>
              </a:rPr>
              <a:t>Statements that may generate an exception are placed in a </a:t>
            </a:r>
            <a:r>
              <a:rPr lang="en-US" sz="2800" dirty="0" smtClean="0">
                <a:solidFill>
                  <a:srgbClr val="3333FF"/>
                </a:solidFill>
                <a:latin typeface="Courier New" charset="0"/>
                <a:cs typeface="+mn-cs"/>
              </a:rPr>
              <a:t>try</a:t>
            </a:r>
            <a:r>
              <a:rPr lang="en-US" sz="2800" dirty="0" smtClean="0">
                <a:cs typeface="+mn-cs"/>
              </a:rPr>
              <a:t> block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sz="2800" dirty="0" smtClean="0">
                <a:cs typeface="+mn-cs"/>
              </a:rPr>
              <a:t>Catch block specifies the type of exception it can catch and contains an exception handler</a:t>
            </a:r>
          </a:p>
          <a:p>
            <a:pPr eaLnBrk="1" hangingPunct="1">
              <a:lnSpc>
                <a:spcPct val="90000"/>
              </a:lnSpc>
              <a:defRPr/>
            </a:pPr>
            <a:endParaRPr lang="en-US" sz="2800" dirty="0" smtClean="0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4273933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mtClean="0">
                <a:cs typeface="+mj-cs"/>
              </a:rPr>
              <a:t>Summary (continued)</a:t>
            </a:r>
          </a:p>
        </p:txBody>
      </p:sp>
      <p:sp>
        <p:nvSpPr>
          <p:cNvPr id="27545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US" sz="2800" dirty="0" smtClean="0">
                <a:cs typeface="+mn-cs"/>
              </a:rPr>
              <a:t>If no exceptions are thrown in a </a:t>
            </a:r>
            <a:r>
              <a:rPr lang="en-US" sz="2800" dirty="0" smtClean="0">
                <a:solidFill>
                  <a:srgbClr val="3333FF"/>
                </a:solidFill>
                <a:latin typeface="Courier New" charset="0"/>
                <a:cs typeface="+mn-cs"/>
              </a:rPr>
              <a:t>try</a:t>
            </a:r>
            <a:r>
              <a:rPr lang="en-US" sz="2800" dirty="0" smtClean="0">
                <a:cs typeface="+mn-cs"/>
              </a:rPr>
              <a:t> block, all </a:t>
            </a:r>
            <a:r>
              <a:rPr lang="en-US" sz="2800" dirty="0" smtClean="0">
                <a:solidFill>
                  <a:srgbClr val="3333FF"/>
                </a:solidFill>
                <a:latin typeface="Courier New" charset="0"/>
                <a:cs typeface="+mn-cs"/>
              </a:rPr>
              <a:t>catch</a:t>
            </a:r>
            <a:r>
              <a:rPr lang="en-US" sz="2800" dirty="0" smtClean="0">
                <a:cs typeface="+mn-cs"/>
              </a:rPr>
              <a:t> blocks for that </a:t>
            </a:r>
            <a:r>
              <a:rPr lang="en-US" sz="2800" dirty="0" smtClean="0">
                <a:solidFill>
                  <a:srgbClr val="3333FF"/>
                </a:solidFill>
                <a:latin typeface="Courier New" charset="0"/>
                <a:cs typeface="+mn-cs"/>
              </a:rPr>
              <a:t>try</a:t>
            </a:r>
            <a:r>
              <a:rPr lang="en-US" sz="2800" dirty="0" smtClean="0">
                <a:cs typeface="+mn-cs"/>
              </a:rPr>
              <a:t> block are ignored and execution resumes after the last </a:t>
            </a:r>
            <a:r>
              <a:rPr lang="en-US" sz="2800" dirty="0" smtClean="0">
                <a:solidFill>
                  <a:srgbClr val="3333FF"/>
                </a:solidFill>
                <a:latin typeface="Courier New" charset="0"/>
                <a:cs typeface="+mn-cs"/>
              </a:rPr>
              <a:t>catch</a:t>
            </a:r>
            <a:r>
              <a:rPr lang="en-US" sz="2800" dirty="0" smtClean="0">
                <a:cs typeface="+mn-cs"/>
              </a:rPr>
              <a:t> block</a:t>
            </a:r>
          </a:p>
          <a:p>
            <a:pPr eaLnBrk="1" hangingPunct="1">
              <a:lnSpc>
                <a:spcPct val="90000"/>
              </a:lnSpc>
              <a:defRPr/>
            </a:pPr>
            <a:endParaRPr lang="en-US" sz="2800" dirty="0" smtClean="0">
              <a:cs typeface="+mn-cs"/>
            </a:endParaRPr>
          </a:p>
          <a:p>
            <a:pPr eaLnBrk="1" hangingPunct="1">
              <a:lnSpc>
                <a:spcPct val="90000"/>
              </a:lnSpc>
              <a:defRPr/>
            </a:pPr>
            <a:r>
              <a:rPr lang="en-US" sz="2800" dirty="0" smtClean="0">
                <a:cs typeface="+mn-cs"/>
              </a:rPr>
              <a:t>Data type of </a:t>
            </a:r>
            <a:r>
              <a:rPr lang="en-US" sz="2800" dirty="0" smtClean="0">
                <a:solidFill>
                  <a:srgbClr val="3333FF"/>
                </a:solidFill>
                <a:latin typeface="Courier New" charset="0"/>
                <a:cs typeface="+mn-cs"/>
              </a:rPr>
              <a:t>catch</a:t>
            </a:r>
            <a:r>
              <a:rPr lang="en-US" sz="2800" dirty="0" smtClean="0">
                <a:cs typeface="+mn-cs"/>
              </a:rPr>
              <a:t> block parameter specifies type of exception that </a:t>
            </a:r>
            <a:r>
              <a:rPr lang="en-US" sz="2800" dirty="0" smtClean="0">
                <a:solidFill>
                  <a:srgbClr val="3333FF"/>
                </a:solidFill>
                <a:latin typeface="Courier New" charset="0"/>
                <a:cs typeface="+mn-cs"/>
              </a:rPr>
              <a:t>catch</a:t>
            </a:r>
            <a:r>
              <a:rPr lang="en-US" sz="2800" dirty="0" smtClean="0">
                <a:cs typeface="+mn-cs"/>
              </a:rPr>
              <a:t> block can catch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sz="2800" dirty="0" smtClean="0">
                <a:cs typeface="+mn-cs"/>
              </a:rPr>
              <a:t>Catch block can have at most one parameter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sz="2800" dirty="0" smtClean="0">
                <a:cs typeface="+mn-cs"/>
              </a:rPr>
              <a:t>exception is base class for exception classes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sz="2800" i="1" dirty="0" smtClean="0">
                <a:latin typeface="Courier New" charset="0"/>
                <a:cs typeface="+mn-cs"/>
              </a:rPr>
              <a:t>what</a:t>
            </a:r>
            <a:r>
              <a:rPr lang="en-US" sz="2800" dirty="0" smtClean="0">
                <a:cs typeface="+mn-cs"/>
              </a:rPr>
              <a:t> returns string containing the exception object thrown by built-in exception classes</a:t>
            </a:r>
          </a:p>
        </p:txBody>
      </p:sp>
    </p:spTree>
    <p:extLst>
      <p:ext uri="{BB962C8B-B14F-4D97-AF65-F5344CB8AC3E}">
        <p14:creationId xmlns:p14="http://schemas.microsoft.com/office/powerpoint/2010/main" val="168614950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mtClean="0">
                <a:cs typeface="+mj-cs"/>
              </a:rPr>
              <a:t>Summary (continued)</a:t>
            </a:r>
          </a:p>
        </p:txBody>
      </p:sp>
      <p:sp>
        <p:nvSpPr>
          <p:cNvPr id="28672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2800" dirty="0" smtClean="0">
                <a:cs typeface="+mn-cs"/>
              </a:rPr>
              <a:t>Class exception is in the header file exception</a:t>
            </a:r>
          </a:p>
          <a:p>
            <a:pPr eaLnBrk="1" hangingPunct="1">
              <a:defRPr/>
            </a:pPr>
            <a:r>
              <a:rPr lang="en-US" sz="2800" dirty="0" err="1" smtClean="0">
                <a:latin typeface="Courier New" charset="0"/>
                <a:cs typeface="+mn-cs"/>
              </a:rPr>
              <a:t>runtime_error</a:t>
            </a:r>
            <a:r>
              <a:rPr lang="en-US" sz="2800" dirty="0" smtClean="0">
                <a:cs typeface="+mn-cs"/>
              </a:rPr>
              <a:t> handles runtime errors</a:t>
            </a:r>
          </a:p>
          <a:p>
            <a:pPr eaLnBrk="1" hangingPunct="1">
              <a:defRPr/>
            </a:pPr>
            <a:r>
              <a:rPr lang="en-US" sz="2800" dirty="0" smtClean="0">
                <a:cs typeface="+mn-cs"/>
              </a:rPr>
              <a:t>C++ enables programmers to create their own exception classes</a:t>
            </a:r>
          </a:p>
        </p:txBody>
      </p:sp>
    </p:spTree>
    <p:extLst>
      <p:ext uri="{BB962C8B-B14F-4D97-AF65-F5344CB8AC3E}">
        <p14:creationId xmlns:p14="http://schemas.microsoft.com/office/powerpoint/2010/main" val="13389216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3471</TotalTime>
  <Words>1095</Words>
  <Application>Microsoft Office PowerPoint</Application>
  <PresentationFormat>On-screen Show (4:3)</PresentationFormat>
  <Paragraphs>149</Paragraphs>
  <Slides>53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58" baseType="lpstr">
      <vt:lpstr>ＭＳ Ｐゴシック</vt:lpstr>
      <vt:lpstr>Arial</vt:lpstr>
      <vt:lpstr>Calibri</vt:lpstr>
      <vt:lpstr>Courier New</vt:lpstr>
      <vt:lpstr>Office Theme</vt:lpstr>
      <vt:lpstr>Exception Handling </vt:lpstr>
      <vt:lpstr>Exceptions</vt:lpstr>
      <vt:lpstr>Exception Handling Techniques</vt:lpstr>
      <vt:lpstr>Terminate the Program</vt:lpstr>
      <vt:lpstr>Fix the Error and Continue</vt:lpstr>
      <vt:lpstr>Log the Error and Continue</vt:lpstr>
      <vt:lpstr>PowerPoint Presentation</vt:lpstr>
      <vt:lpstr>PowerPoint Presentation</vt:lpstr>
      <vt:lpstr>PowerPoint Presentation</vt:lpstr>
      <vt:lpstr>PowerPoint Presentation</vt:lpstr>
      <vt:lpstr>C++ Mechanisms of Exception Handling</vt:lpstr>
      <vt:lpstr>try/catch Block </vt:lpstr>
      <vt:lpstr>try/catch Block (continued)</vt:lpstr>
      <vt:lpstr>General syntax of the try/catch block</vt:lpstr>
      <vt:lpstr>Using try/catch Blocks in a Program</vt:lpstr>
      <vt:lpstr>PowerPoint Presentation</vt:lpstr>
      <vt:lpstr>try/catch Block (continued)</vt:lpstr>
      <vt:lpstr>try/catch Block (continued)</vt:lpstr>
      <vt:lpstr>try/catch Block (continued)</vt:lpstr>
      <vt:lpstr>Throwing an Exception</vt:lpstr>
      <vt:lpstr>Throwing an Exception (continued)</vt:lpstr>
      <vt:lpstr>Throwing an Exception (continued)</vt:lpstr>
      <vt:lpstr>Order of catch Blocks</vt:lpstr>
      <vt:lpstr>PowerPoint Presentation</vt:lpstr>
      <vt:lpstr>PowerPoint Presentation</vt:lpstr>
      <vt:lpstr>PowerPoint Presentation</vt:lpstr>
      <vt:lpstr>Using C++ Exception Classes</vt:lpstr>
      <vt:lpstr>Using C++ Exception Classes (continued)</vt:lpstr>
      <vt:lpstr>Using C++ Exception Classes (continued)</vt:lpstr>
      <vt:lpstr>Using C++ Exception Classes (continued)</vt:lpstr>
      <vt:lpstr>Using C++ Exception Classes (continued)</vt:lpstr>
      <vt:lpstr>Using C++ Exception Classes (continued)</vt:lpstr>
      <vt:lpstr>Using C++ Exception Classes (continued)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Creating Your Own Exception Classes</vt:lpstr>
      <vt:lpstr>Creating Your Own Exception Classes</vt:lpstr>
      <vt:lpstr>Creating Your Own Exception Classes</vt:lpstr>
      <vt:lpstr>Creating Your Own Exception Classes</vt:lpstr>
      <vt:lpstr>Creating Your Own Exception Classes</vt:lpstr>
      <vt:lpstr>Creating Your Own Exception Classes</vt:lpstr>
      <vt:lpstr>Creating Your Own Exception Classes</vt:lpstr>
      <vt:lpstr>Creating Your Own Exception Classes</vt:lpstr>
      <vt:lpstr>Creating Your Own Exception Classes</vt:lpstr>
      <vt:lpstr>Creating Your Own Exception Classes</vt:lpstr>
      <vt:lpstr>Rethrowing and Throwing an Exception</vt:lpstr>
      <vt:lpstr>Rethrowing and Throwing an Exception (continued)</vt:lpstr>
      <vt:lpstr>Summary</vt:lpstr>
      <vt:lpstr>Summary (continued)</vt:lpstr>
      <vt:lpstr>Summary (continued)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aleem</dc:creator>
  <cp:lastModifiedBy>Microsoft account</cp:lastModifiedBy>
  <cp:revision>476</cp:revision>
  <dcterms:created xsi:type="dcterms:W3CDTF">2012-08-28T12:59:58Z</dcterms:created>
  <dcterms:modified xsi:type="dcterms:W3CDTF">2024-12-17T07:26:26Z</dcterms:modified>
</cp:coreProperties>
</file>
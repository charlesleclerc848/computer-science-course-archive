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42" r:id="rId3"/>
    <p:sldId id="461" r:id="rId4"/>
    <p:sldId id="462" r:id="rId5"/>
    <p:sldId id="463" r:id="rId6"/>
    <p:sldId id="465" r:id="rId7"/>
    <p:sldId id="464" r:id="rId8"/>
    <p:sldId id="468" r:id="rId9"/>
    <p:sldId id="469" r:id="rId10"/>
    <p:sldId id="466" r:id="rId11"/>
    <p:sldId id="477" r:id="rId12"/>
    <p:sldId id="470" r:id="rId13"/>
    <p:sldId id="472" r:id="rId14"/>
    <p:sldId id="473" r:id="rId15"/>
    <p:sldId id="475" r:id="rId16"/>
    <p:sldId id="482" r:id="rId17"/>
    <p:sldId id="483" r:id="rId18"/>
    <p:sldId id="485" r:id="rId19"/>
    <p:sldId id="486" r:id="rId20"/>
    <p:sldId id="487" r:id="rId21"/>
    <p:sldId id="491" r:id="rId22"/>
    <p:sldId id="492" r:id="rId23"/>
    <p:sldId id="493" r:id="rId24"/>
    <p:sldId id="494" r:id="rId25"/>
    <p:sldId id="495" r:id="rId26"/>
    <p:sldId id="498" r:id="rId27"/>
    <p:sldId id="500" r:id="rId28"/>
    <p:sldId id="501" r:id="rId29"/>
    <p:sldId id="502" r:id="rId30"/>
    <p:sldId id="510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0000"/>
    <a:srgbClr val="2C14DE"/>
    <a:srgbClr val="008000"/>
    <a:srgbClr val="B80000"/>
    <a:srgbClr val="2F1BC7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83150" autoAdjust="0"/>
  </p:normalViewPr>
  <p:slideViewPr>
    <p:cSldViewPr>
      <p:cViewPr varScale="1">
        <p:scale>
          <a:sx n="60" d="100"/>
          <a:sy n="60" d="100"/>
        </p:scale>
        <p:origin x="159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00"/>
            <a:ext cx="8991600" cy="2438400"/>
          </a:xfrm>
        </p:spPr>
        <p:txBody>
          <a:bodyPr>
            <a:noAutofit/>
          </a:bodyPr>
          <a:lstStyle/>
          <a:p>
            <a:r>
              <a:rPr lang="en-US" b="1" dirty="0"/>
              <a:t>Association, Aggregation, and Composition</a:t>
            </a: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962400"/>
            <a:ext cx="8915400" cy="2743200"/>
          </a:xfrm>
        </p:spPr>
        <p:txBody>
          <a:bodyPr>
            <a:normAutofit/>
          </a:bodyPr>
          <a:lstStyle/>
          <a:p>
            <a:r>
              <a:rPr lang="en-US" sz="2600" dirty="0"/>
              <a:t>Department of Computer Science &amp; IT, </a:t>
            </a:r>
          </a:p>
          <a:p>
            <a:r>
              <a:rPr lang="en-US" sz="2800" dirty="0"/>
              <a:t>The University of Lahore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33600"/>
            <a:ext cx="8229600" cy="838200"/>
          </a:xfrm>
        </p:spPr>
        <p:txBody>
          <a:bodyPr>
            <a:normAutofit fontScale="90000"/>
          </a:bodyPr>
          <a:lstStyle/>
          <a:p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Part 1</a:t>
            </a:r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Identifying relationships and their types</a:t>
            </a:r>
          </a:p>
        </p:txBody>
      </p:sp>
    </p:spTree>
    <p:extLst>
      <p:ext uri="{BB962C8B-B14F-4D97-AF65-F5344CB8AC3E}">
        <p14:creationId xmlns:p14="http://schemas.microsoft.com/office/powerpoint/2010/main" val="52203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Identifying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138499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Identifying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objects / classes in real life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How is this identification possible?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83"/>
          <a:stretch/>
        </p:blipFill>
        <p:spPr bwMode="auto">
          <a:xfrm>
            <a:off x="13801" y="2687606"/>
            <a:ext cx="2729204" cy="3130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 descr="Fun Taxi Images, Stock Photos &amp; Vector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8"/>
          <a:stretch/>
        </p:blipFill>
        <p:spPr bwMode="auto">
          <a:xfrm>
            <a:off x="4204801" y="2527998"/>
            <a:ext cx="2828925" cy="246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033726" y="2687606"/>
            <a:ext cx="22237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Objects</a:t>
            </a:r>
          </a:p>
          <a:p>
            <a:r>
              <a:rPr lang="en-US" dirty="0"/>
              <a:t>Car (Body, Steering wheel, tires, engine)</a:t>
            </a:r>
          </a:p>
          <a:p>
            <a:r>
              <a:rPr lang="en-US" dirty="0"/>
              <a:t>Driver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62200" y="2687606"/>
            <a:ext cx="2604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Objects</a:t>
            </a:r>
          </a:p>
          <a:p>
            <a:r>
              <a:rPr lang="en-US" dirty="0"/>
              <a:t>Plant (Flower, Leaves)</a:t>
            </a:r>
          </a:p>
          <a:p>
            <a:r>
              <a:rPr lang="en-US" dirty="0"/>
              <a:t>Sunlight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2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Interaction between objects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Example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Plant </a:t>
            </a:r>
            <a:r>
              <a:rPr lang="en-US" b="1" dirty="0">
                <a:solidFill>
                  <a:srgbClr val="FF0000"/>
                </a:solidFill>
              </a:rPr>
              <a:t>is composed </a:t>
            </a:r>
            <a:r>
              <a:rPr lang="en-US" dirty="0"/>
              <a:t>of leaves and flowers</a:t>
            </a:r>
          </a:p>
          <a:p>
            <a:pPr>
              <a:lnSpc>
                <a:spcPct val="150000"/>
              </a:lnSpc>
            </a:pPr>
            <a:r>
              <a:rPr lang="en-US" dirty="0"/>
              <a:t>Leaves </a:t>
            </a:r>
            <a:r>
              <a:rPr lang="en-US" b="1" dirty="0">
                <a:solidFill>
                  <a:srgbClr val="FF0000"/>
                </a:solidFill>
              </a:rPr>
              <a:t>interact</a:t>
            </a:r>
            <a:r>
              <a:rPr lang="en-US" dirty="0"/>
              <a:t> with the sunlight (even if you don’t know how, exactly), </a:t>
            </a:r>
          </a:p>
          <a:p>
            <a:pPr>
              <a:lnSpc>
                <a:spcPct val="150000"/>
              </a:lnSpc>
            </a:pPr>
            <a:r>
              <a:rPr lang="en-US" dirty="0"/>
              <a:t>Flower’s </a:t>
            </a:r>
            <a:r>
              <a:rPr lang="en-US" b="1" dirty="0">
                <a:solidFill>
                  <a:srgbClr val="FF0000"/>
                </a:solidFill>
              </a:rPr>
              <a:t>existence depends on</a:t>
            </a:r>
            <a:r>
              <a:rPr lang="en-US" dirty="0"/>
              <a:t> the plant.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Car Example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Car </a:t>
            </a:r>
            <a:r>
              <a:rPr lang="en-US" b="1" dirty="0">
                <a:solidFill>
                  <a:srgbClr val="FF0000"/>
                </a:solidFill>
              </a:rPr>
              <a:t>is composed </a:t>
            </a:r>
            <a:r>
              <a:rPr lang="en-US" dirty="0"/>
              <a:t>of body, steering wheel, tires, engine etc.</a:t>
            </a:r>
          </a:p>
          <a:p>
            <a:pPr>
              <a:lnSpc>
                <a:spcPct val="150000"/>
              </a:lnSpc>
            </a:pPr>
            <a:r>
              <a:rPr lang="en-US" dirty="0"/>
              <a:t>Driver </a:t>
            </a:r>
            <a:r>
              <a:rPr lang="en-US" b="1" dirty="0">
                <a:solidFill>
                  <a:srgbClr val="FF0000"/>
                </a:solidFill>
              </a:rPr>
              <a:t>interacts</a:t>
            </a:r>
            <a:r>
              <a:rPr lang="en-US" dirty="0"/>
              <a:t> with the car</a:t>
            </a:r>
          </a:p>
        </p:txBody>
      </p:sp>
    </p:spTree>
    <p:extLst>
      <p:ext uri="{BB962C8B-B14F-4D97-AF65-F5344CB8AC3E}">
        <p14:creationId xmlns:p14="http://schemas.microsoft.com/office/powerpoint/2010/main" val="332192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7067"/>
            <a:ext cx="8001000" cy="829733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rgbClr val="D20000"/>
                </a:solidFill>
              </a:rPr>
              <a:t>Identifying</a:t>
            </a:r>
            <a:r>
              <a:rPr lang="en-US" dirty="0"/>
              <a:t> </a:t>
            </a:r>
            <a:r>
              <a:rPr lang="en-US" sz="4900" b="1" dirty="0">
                <a:solidFill>
                  <a:srgbClr val="D20000"/>
                </a:solidFill>
              </a:rPr>
              <a:t>relationships b/w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In case of real life we identify these relationships with experience and years of training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How can we identify relationships between programming objects?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Same as in real life!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Class Responsibility Collaborator (CRC) Cards (CRC)</a:t>
            </a:r>
          </a:p>
        </p:txBody>
      </p:sp>
    </p:spTree>
    <p:extLst>
      <p:ext uri="{BB962C8B-B14F-4D97-AF65-F5344CB8AC3E}">
        <p14:creationId xmlns:p14="http://schemas.microsoft.com/office/powerpoint/2010/main" val="67549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CRC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5562600" cy="48006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CRC card is divided into three sections: </a:t>
            </a:r>
            <a:r>
              <a:rPr lang="en-US" b="1" dirty="0">
                <a:solidFill>
                  <a:srgbClr val="FF0000"/>
                </a:solidFill>
              </a:rPr>
              <a:t>Class Name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Responsibilities</a:t>
            </a:r>
            <a:r>
              <a:rPr lang="en-US" dirty="0"/>
              <a:t>, and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Collaborators</a:t>
            </a:r>
          </a:p>
          <a:p>
            <a:pPr lvl="1"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</a:rPr>
              <a:t>Class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represents collection of similar objects</a:t>
            </a:r>
          </a:p>
          <a:p>
            <a:pPr lvl="1"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</a:rPr>
              <a:t>Object</a:t>
            </a:r>
            <a:r>
              <a:rPr lang="en-US" dirty="0"/>
              <a:t> is a person, thing, place, event, concept, screen or report</a:t>
            </a:r>
          </a:p>
          <a:p>
            <a:pPr lvl="1">
              <a:lnSpc>
                <a:spcPct val="170000"/>
              </a:lnSpc>
            </a:pPr>
            <a:r>
              <a:rPr lang="en-US" sz="2900" b="1" dirty="0">
                <a:solidFill>
                  <a:srgbClr val="FF0000"/>
                </a:solidFill>
              </a:rPr>
              <a:t>Responsibility</a:t>
            </a:r>
            <a:r>
              <a:rPr lang="en-US" dirty="0"/>
              <a:t> – is anything that </a:t>
            </a:r>
            <a:r>
              <a:rPr lang="en-US" sz="2900" b="1" dirty="0">
                <a:solidFill>
                  <a:srgbClr val="FF0000"/>
                </a:solidFill>
              </a:rPr>
              <a:t>a class knows </a:t>
            </a:r>
            <a:r>
              <a:rPr lang="en-US" dirty="0"/>
              <a:t>or </a:t>
            </a:r>
            <a:r>
              <a:rPr lang="en-US" sz="2900" b="1" dirty="0">
                <a:solidFill>
                  <a:srgbClr val="FF0000"/>
                </a:solidFill>
              </a:rPr>
              <a:t>does</a:t>
            </a:r>
          </a:p>
          <a:p>
            <a:pPr lvl="1">
              <a:lnSpc>
                <a:spcPct val="170000"/>
              </a:lnSpc>
            </a:pPr>
            <a:r>
              <a:rPr lang="en-US" sz="2900" b="1" dirty="0">
                <a:solidFill>
                  <a:srgbClr val="FF0000"/>
                </a:solidFill>
              </a:rPr>
              <a:t>Collaborator</a:t>
            </a:r>
            <a:r>
              <a:rPr lang="en-US" dirty="0"/>
              <a:t> – when </a:t>
            </a:r>
            <a:r>
              <a:rPr lang="en-US" sz="2900" b="1" dirty="0">
                <a:solidFill>
                  <a:srgbClr val="FF0000"/>
                </a:solidFill>
              </a:rPr>
              <a:t>a class doesn’t have information </a:t>
            </a:r>
            <a:r>
              <a:rPr lang="en-US" dirty="0"/>
              <a:t>to fulfill a responsibility it needs to collaborate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38715"/>
              </p:ext>
            </p:extLst>
          </p:nvPr>
        </p:nvGraphicFramePr>
        <p:xfrm>
          <a:off x="5562600" y="1905000"/>
          <a:ext cx="3429000" cy="1761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9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05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Class Name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569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Responsibilities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Collaborators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24600" y="1371600"/>
            <a:ext cx="1784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CRC Card</a:t>
            </a:r>
          </a:p>
        </p:txBody>
      </p:sp>
    </p:spTree>
    <p:extLst>
      <p:ext uri="{BB962C8B-B14F-4D97-AF65-F5344CB8AC3E}">
        <p14:creationId xmlns:p14="http://schemas.microsoft.com/office/powerpoint/2010/main" val="160551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CRC Modelling - example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8772"/>
            <a:ext cx="7799926" cy="6139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90800" y="2819400"/>
            <a:ext cx="1045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Garamond" panose="02020404030301010803" pitchFamily="18" charset="0"/>
                <a:ea typeface="Gadugi" panose="020B0502040204020203" pitchFamily="34" charset="0"/>
              </a:rPr>
              <a:t>Order Item</a:t>
            </a:r>
          </a:p>
          <a:p>
            <a:r>
              <a:rPr lang="en-US" sz="1400" b="1" dirty="0">
                <a:latin typeface="Garamond" panose="02020404030301010803" pitchFamily="18" charset="0"/>
                <a:ea typeface="Gadugi" panose="020B0502040204020203" pitchFamily="34" charset="0"/>
              </a:rP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3660" y="2819400"/>
            <a:ext cx="1308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Garamond" panose="02020404030301010803" pitchFamily="18" charset="0"/>
                <a:ea typeface="Gadugi" panose="020B0502040204020203" pitchFamily="34" charset="0"/>
              </a:rPr>
              <a:t>Inventory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4648200"/>
            <a:ext cx="1380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Garamond" panose="02020404030301010803" pitchFamily="18" charset="0"/>
                <a:ea typeface="Gadugi" panose="020B0502040204020203" pitchFamily="34" charset="0"/>
              </a:rPr>
              <a:t>Order</a:t>
            </a:r>
          </a:p>
          <a:p>
            <a:r>
              <a:rPr lang="en-US" sz="1400" b="1" dirty="0">
                <a:latin typeface="Garamond" panose="02020404030301010803" pitchFamily="18" charset="0"/>
                <a:ea typeface="Gadugi" panose="020B0502040204020203" pitchFamily="34" charset="0"/>
              </a:rPr>
              <a:t>Surface address</a:t>
            </a:r>
          </a:p>
        </p:txBody>
      </p:sp>
    </p:spTree>
    <p:extLst>
      <p:ext uri="{BB962C8B-B14F-4D97-AF65-F5344CB8AC3E}">
        <p14:creationId xmlns:p14="http://schemas.microsoft.com/office/powerpoint/2010/main" val="4914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Relationship</a:t>
            </a:r>
            <a:r>
              <a:rPr lang="en-US" dirty="0"/>
              <a:t> </a:t>
            </a:r>
            <a:r>
              <a:rPr lang="en-US" b="1" dirty="0">
                <a:solidFill>
                  <a:srgbClr val="D20000"/>
                </a:solidFill>
              </a:rPr>
              <a:t>type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special “</a:t>
            </a:r>
            <a:r>
              <a:rPr lang="en-US" sz="2800" b="1" dirty="0">
                <a:solidFill>
                  <a:srgbClr val="FF0000"/>
                </a:solidFill>
              </a:rPr>
              <a:t>relationship type</a:t>
            </a:r>
            <a:r>
              <a:rPr lang="en-US" dirty="0"/>
              <a:t>” words to describe these relationships. These are:</a:t>
            </a:r>
          </a:p>
          <a:p>
            <a:pPr lvl="1"/>
            <a:r>
              <a:rPr lang="en-US" dirty="0"/>
              <a:t>part-of</a:t>
            </a:r>
          </a:p>
          <a:p>
            <a:pPr lvl="1"/>
            <a:r>
              <a:rPr lang="en-US" dirty="0"/>
              <a:t>has-a</a:t>
            </a:r>
          </a:p>
          <a:p>
            <a:pPr lvl="1"/>
            <a:r>
              <a:rPr lang="en-US" dirty="0"/>
              <a:t>uses-a</a:t>
            </a:r>
          </a:p>
          <a:p>
            <a:pPr lvl="1"/>
            <a:r>
              <a:rPr lang="en-US" dirty="0"/>
              <a:t>depends-on</a:t>
            </a:r>
          </a:p>
          <a:p>
            <a:pPr lvl="1"/>
            <a:r>
              <a:rPr lang="en-US" dirty="0"/>
              <a:t>member-of</a:t>
            </a:r>
          </a:p>
          <a:p>
            <a:pPr lvl="1"/>
            <a:r>
              <a:rPr lang="en-US" dirty="0"/>
              <a:t>is-a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436456"/>
            <a:ext cx="487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Can we use these words to describe relationships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we identified?</a:t>
            </a:r>
          </a:p>
        </p:txBody>
      </p:sp>
      <p:sp>
        <p:nvSpPr>
          <p:cNvPr id="5" name="Right Brace 4"/>
          <p:cNvSpPr/>
          <p:nvPr/>
        </p:nvSpPr>
        <p:spPr>
          <a:xfrm>
            <a:off x="2362200" y="2362200"/>
            <a:ext cx="457200" cy="2819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4191000"/>
            <a:ext cx="40927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How are these words useful in context of C++ classes?</a:t>
            </a:r>
          </a:p>
        </p:txBody>
      </p:sp>
    </p:spTree>
    <p:extLst>
      <p:ext uri="{BB962C8B-B14F-4D97-AF65-F5344CB8AC3E}">
        <p14:creationId xmlns:p14="http://schemas.microsoft.com/office/powerpoint/2010/main" val="1668380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Types of Relationships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Association</a:t>
            </a:r>
          </a:p>
          <a:p>
            <a:r>
              <a:rPr lang="en-US" dirty="0"/>
              <a:t>Generalization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/>
          <p:cNvCxnSpPr>
            <a:endCxn id="6" idx="1"/>
          </p:cNvCxnSpPr>
          <p:nvPr/>
        </p:nvCxnSpPr>
        <p:spPr>
          <a:xfrm>
            <a:off x="2362200" y="1447800"/>
            <a:ext cx="1981200" cy="5026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>
          <a:xfrm>
            <a:off x="4343400" y="1447800"/>
            <a:ext cx="381000" cy="10052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744278" y="1447800"/>
            <a:ext cx="18517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Aggregation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Association</a:t>
            </a:r>
          </a:p>
        </p:txBody>
      </p:sp>
    </p:spTree>
    <p:extLst>
      <p:ext uri="{BB962C8B-B14F-4D97-AF65-F5344CB8AC3E}">
        <p14:creationId xmlns:p14="http://schemas.microsoft.com/office/powerpoint/2010/main" val="340659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Relationships between Objects</a:t>
            </a:r>
          </a:p>
        </p:txBody>
      </p:sp>
      <p:pic>
        <p:nvPicPr>
          <p:cNvPr id="19458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19200"/>
            <a:ext cx="5105400" cy="510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1066800" y="1219200"/>
            <a:ext cx="0" cy="480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219200"/>
            <a:ext cx="7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9" y="5726668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258810" y="3434833"/>
            <a:ext cx="2398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Strength of relationship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257800" y="3646004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953000" y="3771900"/>
            <a:ext cx="2590800" cy="1333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43800" y="3448734"/>
            <a:ext cx="1368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Object </a:t>
            </a:r>
          </a:p>
          <a:p>
            <a:r>
              <a:rPr lang="en-US" b="1" dirty="0">
                <a:solidFill>
                  <a:srgbClr val="FF0000"/>
                </a:solidFill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401552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33600"/>
            <a:ext cx="8229600" cy="838200"/>
          </a:xfrm>
        </p:spPr>
        <p:txBody>
          <a:bodyPr>
            <a:normAutofit fontScale="90000"/>
          </a:bodyPr>
          <a:lstStyle/>
          <a:p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Part 2</a:t>
            </a:r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65555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Object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Process of building </a:t>
            </a:r>
            <a:r>
              <a:rPr lang="en-US" b="1" dirty="0">
                <a:solidFill>
                  <a:srgbClr val="FF0000"/>
                </a:solidFill>
              </a:rPr>
              <a:t>complex objects </a:t>
            </a:r>
            <a:r>
              <a:rPr lang="en-US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simpler ones</a:t>
            </a:r>
            <a:r>
              <a:rPr lang="en-US" dirty="0"/>
              <a:t> is called </a:t>
            </a:r>
            <a:r>
              <a:rPr lang="en-US" b="1" dirty="0">
                <a:solidFill>
                  <a:srgbClr val="FF0000"/>
                </a:solidFill>
              </a:rPr>
              <a:t>object composition</a:t>
            </a:r>
          </a:p>
          <a:p>
            <a:pPr>
              <a:lnSpc>
                <a:spcPct val="150000"/>
              </a:lnSpc>
            </a:pPr>
            <a:r>
              <a:rPr lang="en-US" dirty="0"/>
              <a:t>This relationship is described using “</a:t>
            </a:r>
            <a:r>
              <a:rPr lang="en-US" b="1" dirty="0">
                <a:solidFill>
                  <a:srgbClr val="FF0000"/>
                </a:solidFill>
              </a:rPr>
              <a:t>has-a</a:t>
            </a:r>
            <a:r>
              <a:rPr lang="en-US" dirty="0"/>
              <a:t>” word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Car – engine, steering wheel, frame etc.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Computer – CPU, motherboard, memory etc.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Complex part </a:t>
            </a:r>
            <a:r>
              <a:rPr lang="en-US" dirty="0"/>
              <a:t>is called the </a:t>
            </a:r>
            <a:r>
              <a:rPr lang="en-US" dirty="0">
                <a:solidFill>
                  <a:srgbClr val="FF0000"/>
                </a:solidFill>
              </a:rPr>
              <a:t>whole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Simpler object </a:t>
            </a:r>
            <a:r>
              <a:rPr lang="en-US" dirty="0"/>
              <a:t>is called the </a:t>
            </a:r>
            <a:r>
              <a:rPr lang="en-US" dirty="0">
                <a:solidFill>
                  <a:srgbClr val="FF0000"/>
                </a:solidFill>
              </a:rPr>
              <a:t>part</a:t>
            </a:r>
          </a:p>
        </p:txBody>
      </p:sp>
    </p:spTree>
    <p:extLst>
      <p:ext uri="{BB962C8B-B14F-4D97-AF65-F5344CB8AC3E}">
        <p14:creationId xmlns:p14="http://schemas.microsoft.com/office/powerpoint/2010/main" val="207674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Composition models “</a:t>
            </a:r>
            <a:r>
              <a:rPr lang="en-US" sz="2800" b="1" dirty="0">
                <a:solidFill>
                  <a:srgbClr val="FF0000"/>
                </a:solidFill>
              </a:rPr>
              <a:t>part-of</a:t>
            </a:r>
            <a:r>
              <a:rPr lang="en-US" sz="2800" dirty="0"/>
              <a:t>” relationships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These relationships are </a:t>
            </a:r>
            <a:r>
              <a:rPr lang="en-US" sz="2800" b="1" dirty="0">
                <a:solidFill>
                  <a:srgbClr val="FF0000"/>
                </a:solidFill>
              </a:rPr>
              <a:t>part-whole</a:t>
            </a:r>
            <a:r>
              <a:rPr lang="en-US" sz="2800" dirty="0"/>
              <a:t> relationships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Composition is often used to model </a:t>
            </a:r>
            <a:r>
              <a:rPr lang="en-US" sz="2800" b="1" dirty="0">
                <a:solidFill>
                  <a:srgbClr val="FF0000"/>
                </a:solidFill>
              </a:rPr>
              <a:t>physical relationships</a:t>
            </a:r>
            <a:r>
              <a:rPr lang="en-US" sz="2800" dirty="0"/>
              <a:t>, where one object is physically contained inside another.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Heart is </a:t>
            </a:r>
            <a:r>
              <a:rPr lang="en-US" sz="2400" b="1" dirty="0">
                <a:solidFill>
                  <a:srgbClr val="FF0000"/>
                </a:solidFill>
              </a:rPr>
              <a:t>part-of</a:t>
            </a:r>
            <a:r>
              <a:rPr lang="en-US" sz="2400" dirty="0"/>
              <a:t> body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Fish are </a:t>
            </a:r>
            <a:r>
              <a:rPr lang="en-US" sz="2400" b="1" dirty="0">
                <a:solidFill>
                  <a:srgbClr val="FF0000"/>
                </a:solidFill>
              </a:rPr>
              <a:t>part-of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pond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914400" y="5334000"/>
            <a:ext cx="4419600" cy="1219200"/>
            <a:chOff x="576" y="3168"/>
            <a:chExt cx="2784" cy="768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Circle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92" y="3216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Point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V="1">
              <a:off x="1632" y="336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1488" y="3288"/>
              <a:ext cx="144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2640" y="3600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/>
                <a:t>3..*</a:t>
              </a: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2304" y="316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/>
                <a:t>1</a:t>
              </a:r>
            </a:p>
          </p:txBody>
        </p:sp>
        <p:sp>
          <p:nvSpPr>
            <p:cNvPr id="11" name="Rectangle 22"/>
            <p:cNvSpPr>
              <a:spLocks noChangeArrowheads="1"/>
            </p:cNvSpPr>
            <p:nvPr/>
          </p:nvSpPr>
          <p:spPr bwMode="auto">
            <a:xfrm>
              <a:off x="576" y="3648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Polygon</a:t>
              </a:r>
            </a:p>
          </p:txBody>
        </p:sp>
        <p:sp>
          <p:nvSpPr>
            <p:cNvPr id="12" name="AutoShape 24"/>
            <p:cNvSpPr>
              <a:spLocks noChangeArrowheads="1"/>
            </p:cNvSpPr>
            <p:nvPr/>
          </p:nvSpPr>
          <p:spPr bwMode="auto">
            <a:xfrm>
              <a:off x="1488" y="3720"/>
              <a:ext cx="144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3" name="AutoShape 26"/>
            <p:cNvCxnSpPr>
              <a:cxnSpLocks noChangeShapeType="1"/>
              <a:stCxn id="12" idx="3"/>
              <a:endCxn id="6" idx="2"/>
            </p:cNvCxnSpPr>
            <p:nvPr/>
          </p:nvCxnSpPr>
          <p:spPr bwMode="auto">
            <a:xfrm flipV="1">
              <a:off x="1632" y="3504"/>
              <a:ext cx="1344" cy="28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Group 36"/>
          <p:cNvGrpSpPr>
            <a:grpSpLocks/>
          </p:cNvGrpSpPr>
          <p:nvPr/>
        </p:nvGrpSpPr>
        <p:grpSpPr bwMode="auto">
          <a:xfrm>
            <a:off x="6324600" y="5486400"/>
            <a:ext cx="1524000" cy="1066800"/>
            <a:chOff x="3984" y="3216"/>
            <a:chExt cx="960" cy="672"/>
          </a:xfrm>
        </p:grpSpPr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3984" y="3216"/>
              <a:ext cx="960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Rectangle 29"/>
            <p:cNvSpPr>
              <a:spLocks noChangeArrowheads="1"/>
            </p:cNvSpPr>
            <p:nvPr/>
          </p:nvSpPr>
          <p:spPr bwMode="auto">
            <a:xfrm>
              <a:off x="4080" y="3504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Point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4128" y="3216"/>
              <a:ext cx="4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b="1"/>
                <a:t>Circle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2242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Composition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part</a:t>
            </a:r>
            <a:r>
              <a:rPr lang="en-US" sz="2400" dirty="0"/>
              <a:t> (member) is part of the object (class)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part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(member) can only belong to </a:t>
            </a:r>
            <a:r>
              <a:rPr lang="en-US" sz="2400" b="1" dirty="0">
                <a:solidFill>
                  <a:srgbClr val="FF0000"/>
                </a:solidFill>
              </a:rPr>
              <a:t>one object </a:t>
            </a:r>
            <a:r>
              <a:rPr lang="en-US" sz="2400" dirty="0"/>
              <a:t>(class) at a time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part</a:t>
            </a:r>
            <a:r>
              <a:rPr lang="en-US" sz="2400" dirty="0"/>
              <a:t> (member) has its </a:t>
            </a:r>
            <a:r>
              <a:rPr lang="en-US" sz="2400" b="1" dirty="0">
                <a:solidFill>
                  <a:srgbClr val="FF0000"/>
                </a:solidFill>
              </a:rPr>
              <a:t>existence</a:t>
            </a:r>
            <a:r>
              <a:rPr lang="en-US" sz="2400" dirty="0"/>
              <a:t> managed </a:t>
            </a:r>
            <a:r>
              <a:rPr lang="en-US" sz="2400" b="1" dirty="0">
                <a:solidFill>
                  <a:srgbClr val="FF0000"/>
                </a:solidFill>
              </a:rPr>
              <a:t>by the object </a:t>
            </a:r>
            <a:r>
              <a:rPr lang="en-US" sz="2400" dirty="0"/>
              <a:t>(class)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part</a:t>
            </a:r>
            <a:r>
              <a:rPr lang="en-US" sz="2400" dirty="0"/>
              <a:t> (member) does not know about the </a:t>
            </a:r>
            <a:r>
              <a:rPr lang="en-US" sz="2400" b="1" dirty="0">
                <a:solidFill>
                  <a:srgbClr val="FF0000"/>
                </a:solidFill>
              </a:rPr>
              <a:t>existence of the object </a:t>
            </a:r>
            <a:r>
              <a:rPr lang="en-US" sz="2400" dirty="0"/>
              <a:t>(class)  - </a:t>
            </a:r>
            <a:r>
              <a:rPr lang="en-US" sz="2400" b="1" dirty="0">
                <a:solidFill>
                  <a:srgbClr val="FF0000"/>
                </a:solidFill>
              </a:rPr>
              <a:t>Directional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4130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 is a part-of Car (Example)</a:t>
            </a:r>
          </a:p>
        </p:txBody>
      </p: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7463459" y="1066800"/>
            <a:ext cx="1524000" cy="1066800"/>
            <a:chOff x="3984" y="3216"/>
            <a:chExt cx="960" cy="672"/>
          </a:xfrm>
        </p:grpSpPr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3984" y="3216"/>
              <a:ext cx="960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4080" y="3504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Engine</a:t>
              </a:r>
            </a:p>
          </p:txBody>
        </p:sp>
        <p:sp>
          <p:nvSpPr>
            <p:cNvPr id="10" name="Rectangle 34"/>
            <p:cNvSpPr>
              <a:spLocks noChangeArrowheads="1"/>
            </p:cNvSpPr>
            <p:nvPr/>
          </p:nvSpPr>
          <p:spPr bwMode="auto">
            <a:xfrm>
              <a:off x="4128" y="3216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b="1" dirty="0"/>
                <a:t>Car</a:t>
              </a:r>
            </a:p>
          </p:txBody>
        </p:sp>
      </p:grp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251744"/>
            <a:ext cx="7035841" cy="423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298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33600"/>
            <a:ext cx="8229600" cy="838200"/>
          </a:xfrm>
        </p:spPr>
        <p:txBody>
          <a:bodyPr>
            <a:normAutofit fontScale="90000"/>
          </a:bodyPr>
          <a:lstStyle/>
          <a:p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Part 3</a:t>
            </a:r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2025066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 </a:t>
            </a:r>
            <a:r>
              <a:rPr lang="en-US" b="1" dirty="0">
                <a:solidFill>
                  <a:srgbClr val="FF0000"/>
                </a:solidFill>
              </a:rPr>
              <a:t>aggregation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also a </a:t>
            </a:r>
            <a:r>
              <a:rPr lang="en-US" b="1" dirty="0">
                <a:solidFill>
                  <a:srgbClr val="FF0000"/>
                </a:solidFill>
              </a:rPr>
              <a:t>part-whole</a:t>
            </a:r>
            <a:r>
              <a:rPr lang="en-US" dirty="0"/>
              <a:t> relationship</a:t>
            </a:r>
          </a:p>
          <a:p>
            <a:pPr>
              <a:lnSpc>
                <a:spcPct val="150000"/>
              </a:lnSpc>
            </a:pPr>
            <a:r>
              <a:rPr lang="en-US" dirty="0"/>
              <a:t>It models </a:t>
            </a:r>
            <a:r>
              <a:rPr lang="en-US" b="1" dirty="0">
                <a:solidFill>
                  <a:srgbClr val="FF0000"/>
                </a:solidFill>
              </a:rPr>
              <a:t>has-a</a:t>
            </a:r>
            <a:r>
              <a:rPr lang="en-US" dirty="0"/>
              <a:t> relationship </a:t>
            </a:r>
          </a:p>
          <a:p>
            <a:pPr>
              <a:lnSpc>
                <a:spcPct val="150000"/>
              </a:lnSpc>
            </a:pPr>
            <a:r>
              <a:rPr lang="en-US" dirty="0"/>
              <a:t>Similar to composition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parts</a:t>
            </a:r>
            <a:r>
              <a:rPr lang="en-US" dirty="0"/>
              <a:t> are </a:t>
            </a:r>
            <a:r>
              <a:rPr lang="en-US" b="1" dirty="0">
                <a:solidFill>
                  <a:srgbClr val="FF0000"/>
                </a:solidFill>
              </a:rPr>
              <a:t>contained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within the </a:t>
            </a:r>
            <a:r>
              <a:rPr lang="en-US" b="1" dirty="0">
                <a:solidFill>
                  <a:srgbClr val="FF0000"/>
                </a:solidFill>
              </a:rPr>
              <a:t>whole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is also a </a:t>
            </a:r>
            <a:r>
              <a:rPr lang="en-US" b="1" dirty="0">
                <a:solidFill>
                  <a:srgbClr val="FF0000"/>
                </a:solidFill>
              </a:rPr>
              <a:t>unidirectional</a:t>
            </a:r>
            <a:r>
              <a:rPr lang="en-US" dirty="0"/>
              <a:t> relationship</a:t>
            </a:r>
          </a:p>
          <a:p>
            <a:pPr>
              <a:lnSpc>
                <a:spcPct val="150000"/>
              </a:lnSpc>
            </a:pPr>
            <a:r>
              <a:rPr lang="en-US" dirty="0"/>
              <a:t>Unlike composition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Parts </a:t>
            </a:r>
            <a:r>
              <a:rPr lang="en-US" b="1" dirty="0">
                <a:solidFill>
                  <a:srgbClr val="FF0000"/>
                </a:solidFill>
              </a:rPr>
              <a:t>can belong to more than one </a:t>
            </a:r>
            <a:r>
              <a:rPr lang="en-US" dirty="0"/>
              <a:t>object at a time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Whole</a:t>
            </a:r>
            <a:r>
              <a:rPr lang="en-US" b="1" dirty="0">
                <a:solidFill>
                  <a:srgbClr val="FF0000"/>
                </a:solidFill>
              </a:rPr>
              <a:t> is not responsible for the existence </a:t>
            </a:r>
            <a:r>
              <a:rPr lang="en-US" dirty="0"/>
              <a:t>and lifespan of the parts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59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Aggregation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 part (member) </a:t>
            </a:r>
            <a:r>
              <a:rPr lang="en-US" sz="2800" b="1" dirty="0">
                <a:solidFill>
                  <a:srgbClr val="FF0000"/>
                </a:solidFill>
              </a:rPr>
              <a:t>is part of </a:t>
            </a:r>
            <a:r>
              <a:rPr lang="en-US" sz="2800" dirty="0"/>
              <a:t>the object (class)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part (member) </a:t>
            </a:r>
            <a:r>
              <a:rPr lang="en-US" sz="2800" b="1" dirty="0">
                <a:solidFill>
                  <a:srgbClr val="FF0000"/>
                </a:solidFill>
              </a:rPr>
              <a:t>can belong to more than one object </a:t>
            </a:r>
            <a:r>
              <a:rPr lang="en-US" sz="2800" dirty="0"/>
              <a:t>(class) at a time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part (member) </a:t>
            </a:r>
            <a:r>
              <a:rPr lang="en-US" sz="2800" b="1" dirty="0">
                <a:solidFill>
                  <a:srgbClr val="FF0000"/>
                </a:solidFill>
              </a:rPr>
              <a:t>does not </a:t>
            </a:r>
            <a:r>
              <a:rPr lang="en-US" sz="2800" dirty="0"/>
              <a:t>have its </a:t>
            </a:r>
            <a:r>
              <a:rPr lang="en-US" sz="2800" b="1" dirty="0">
                <a:solidFill>
                  <a:srgbClr val="FF0000"/>
                </a:solidFill>
              </a:rPr>
              <a:t>existence </a:t>
            </a:r>
            <a:r>
              <a:rPr lang="en-US" sz="2800" dirty="0"/>
              <a:t>managed by the object (class)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part (member) </a:t>
            </a:r>
            <a:r>
              <a:rPr lang="en-US" sz="2800" b="1" dirty="0">
                <a:solidFill>
                  <a:srgbClr val="FF0000"/>
                </a:solidFill>
              </a:rPr>
              <a:t>does not know </a:t>
            </a:r>
            <a:r>
              <a:rPr lang="en-US" sz="2800" dirty="0"/>
              <a:t>about the existence of the object (class)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5931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Implementing aggregation VS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4495800" cy="452596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Aggregation</a:t>
            </a:r>
          </a:p>
          <a:p>
            <a:pPr lvl="1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Parts</a:t>
            </a:r>
            <a:r>
              <a:rPr lang="en-US" sz="1600" dirty="0"/>
              <a:t> are </a:t>
            </a:r>
            <a:r>
              <a:rPr lang="en-US" sz="1600" b="1" dirty="0">
                <a:solidFill>
                  <a:srgbClr val="FF0000"/>
                </a:solidFill>
              </a:rPr>
              <a:t>added</a:t>
            </a:r>
            <a:r>
              <a:rPr lang="en-US" sz="1600" dirty="0"/>
              <a:t> as </a:t>
            </a:r>
            <a:r>
              <a:rPr lang="en-US" sz="1600" b="1" dirty="0">
                <a:solidFill>
                  <a:srgbClr val="FF0000"/>
                </a:solidFill>
              </a:rPr>
              <a:t>references</a:t>
            </a:r>
            <a:r>
              <a:rPr lang="en-US" sz="1600" dirty="0"/>
              <a:t> or </a:t>
            </a:r>
            <a:r>
              <a:rPr lang="en-US" sz="1600" b="1" dirty="0">
                <a:solidFill>
                  <a:srgbClr val="FF0000"/>
                </a:solidFill>
              </a:rPr>
              <a:t>pointers</a:t>
            </a:r>
          </a:p>
          <a:p>
            <a:pPr lvl="1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Whole</a:t>
            </a:r>
            <a:r>
              <a:rPr lang="en-US" sz="1600" dirty="0"/>
              <a:t> is </a:t>
            </a:r>
            <a:r>
              <a:rPr lang="en-US" sz="1600" b="1" dirty="0">
                <a:solidFill>
                  <a:srgbClr val="FF0000"/>
                </a:solidFill>
              </a:rPr>
              <a:t>not responsible </a:t>
            </a:r>
            <a:r>
              <a:rPr lang="en-US" sz="1600" dirty="0"/>
              <a:t>for creation and deletion</a:t>
            </a:r>
          </a:p>
          <a:p>
            <a:pPr lvl="1">
              <a:lnSpc>
                <a:spcPct val="170000"/>
              </a:lnSpc>
            </a:pPr>
            <a:r>
              <a:rPr lang="en-US" sz="1600" dirty="0"/>
              <a:t>Whole takes the objects it is going to point to as: 1) </a:t>
            </a:r>
            <a:r>
              <a:rPr lang="en-US" sz="1600" b="1" dirty="0">
                <a:solidFill>
                  <a:srgbClr val="FF0000"/>
                </a:solidFill>
              </a:rPr>
              <a:t>constructor parameters</a:t>
            </a:r>
            <a:r>
              <a:rPr lang="en-US" sz="1600" dirty="0"/>
              <a:t>; 2) </a:t>
            </a:r>
            <a:r>
              <a:rPr lang="en-US" sz="1600" b="1" dirty="0">
                <a:solidFill>
                  <a:srgbClr val="FF0000"/>
                </a:solidFill>
              </a:rPr>
              <a:t>parts are added later via access functions </a:t>
            </a:r>
          </a:p>
          <a:p>
            <a:pPr lvl="1">
              <a:lnSpc>
                <a:spcPct val="170000"/>
              </a:lnSpc>
            </a:pPr>
            <a:r>
              <a:rPr lang="en-US" sz="1600" dirty="0"/>
              <a:t>Parts exists </a:t>
            </a:r>
            <a:r>
              <a:rPr lang="en-US" sz="1600" b="1" dirty="0">
                <a:solidFill>
                  <a:srgbClr val="FF0000"/>
                </a:solidFill>
              </a:rPr>
              <a:t>outside the scope </a:t>
            </a:r>
            <a:r>
              <a:rPr lang="en-US" sz="1600" dirty="0"/>
              <a:t>of whole</a:t>
            </a:r>
          </a:p>
          <a:p>
            <a:pPr>
              <a:lnSpc>
                <a:spcPct val="170000"/>
              </a:lnSpc>
            </a:pP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4495800" cy="452596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Composition</a:t>
            </a:r>
          </a:p>
          <a:p>
            <a:pPr lvl="1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Parts</a:t>
            </a:r>
            <a:r>
              <a:rPr lang="en-US" sz="1600" dirty="0"/>
              <a:t> are </a:t>
            </a:r>
            <a:r>
              <a:rPr lang="en-US" sz="1600" b="1" dirty="0">
                <a:solidFill>
                  <a:srgbClr val="FF0000"/>
                </a:solidFill>
              </a:rPr>
              <a:t>added</a:t>
            </a:r>
            <a:r>
              <a:rPr lang="en-US" sz="1600" dirty="0"/>
              <a:t> as </a:t>
            </a:r>
            <a:r>
              <a:rPr lang="en-US" sz="1600" b="1" dirty="0">
                <a:solidFill>
                  <a:srgbClr val="FF0000"/>
                </a:solidFill>
              </a:rPr>
              <a:t>normal variables </a:t>
            </a:r>
            <a:r>
              <a:rPr lang="en-US" sz="1600" dirty="0"/>
              <a:t>(or pointers)</a:t>
            </a:r>
          </a:p>
          <a:p>
            <a:pPr lvl="1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Whole</a:t>
            </a:r>
            <a:r>
              <a:rPr lang="en-US" sz="1600" dirty="0"/>
              <a:t> is </a:t>
            </a:r>
            <a:r>
              <a:rPr lang="en-US" sz="1600" b="1" dirty="0">
                <a:solidFill>
                  <a:srgbClr val="FF0000"/>
                </a:solidFill>
              </a:rPr>
              <a:t>responsible</a:t>
            </a:r>
            <a:r>
              <a:rPr lang="en-US" sz="1600" dirty="0"/>
              <a:t> for </a:t>
            </a:r>
            <a:r>
              <a:rPr lang="en-US" sz="1600" b="1" dirty="0">
                <a:solidFill>
                  <a:srgbClr val="FF0000"/>
                </a:solidFill>
              </a:rPr>
              <a:t>creation</a:t>
            </a:r>
            <a:r>
              <a:rPr lang="en-US" sz="1600" dirty="0"/>
              <a:t> and </a:t>
            </a:r>
            <a:r>
              <a:rPr lang="en-US" sz="1600" b="1" dirty="0">
                <a:solidFill>
                  <a:srgbClr val="FF0000"/>
                </a:solidFill>
              </a:rPr>
              <a:t>deletion</a:t>
            </a:r>
          </a:p>
          <a:p>
            <a:pPr lvl="1">
              <a:lnSpc>
                <a:spcPct val="17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84974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Examples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729948" y="3495675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21904" y="4181475"/>
            <a:ext cx="280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Creation done in side whole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792" y="1297334"/>
            <a:ext cx="3505200" cy="5238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599"/>
            <a:ext cx="5105400" cy="5520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/>
          <p:cNvSpPr/>
          <p:nvPr/>
        </p:nvSpPr>
        <p:spPr>
          <a:xfrm>
            <a:off x="2128630" y="573432"/>
            <a:ext cx="771939" cy="11029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781300" y="990600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Composition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952422" y="573432"/>
            <a:ext cx="771939" cy="11029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605092" y="990600"/>
            <a:ext cx="133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241063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6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Aggregation or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838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When to do what?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580960" y="2362200"/>
            <a:ext cx="3608990" cy="514350"/>
            <a:chOff x="576" y="3216"/>
            <a:chExt cx="2969" cy="288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Engine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Car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5029200" y="2362200"/>
            <a:ext cx="3608990" cy="514350"/>
            <a:chOff x="576" y="3216"/>
            <a:chExt cx="2969" cy="288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Engine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Car</a:t>
              </a: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219200" y="2876550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Repair shop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7185" y="2876550"/>
            <a:ext cx="264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 performance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82" y="3896463"/>
            <a:ext cx="8066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Implement the simplest relationship that meets your needs!!!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4494" y="4514452"/>
            <a:ext cx="625979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dirty="0"/>
              <a:t>Not the one that seems like it would fit best in a real-life context.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72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Aggregation/Composition -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3276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Object composition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Composition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Aggregation</a:t>
            </a:r>
          </a:p>
          <a:p>
            <a:pPr>
              <a:lnSpc>
                <a:spcPct val="150000"/>
              </a:lnSpc>
            </a:pPr>
            <a:r>
              <a:rPr lang="en-US" dirty="0"/>
              <a:t>Used to model relationships where a whole is built from one or more parts</a:t>
            </a:r>
          </a:p>
        </p:txBody>
      </p:sp>
    </p:spTree>
    <p:extLst>
      <p:ext uri="{BB962C8B-B14F-4D97-AF65-F5344CB8AC3E}">
        <p14:creationId xmlns:p14="http://schemas.microsoft.com/office/powerpoint/2010/main" val="825137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33600"/>
            <a:ext cx="8229600" cy="838200"/>
          </a:xfrm>
        </p:spPr>
        <p:txBody>
          <a:bodyPr>
            <a:normAutofit fontScale="90000"/>
          </a:bodyPr>
          <a:lstStyle/>
          <a:p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Part 4</a:t>
            </a:r>
            <a:br>
              <a:rPr lang="en-US" b="1" u="sng" dirty="0">
                <a:solidFill>
                  <a:srgbClr val="B80000"/>
                </a:solidFill>
              </a:rPr>
            </a:br>
            <a:r>
              <a:rPr lang="en-US" b="1" u="sng" dirty="0">
                <a:solidFill>
                  <a:srgbClr val="B80000"/>
                </a:solidFill>
              </a:rPr>
              <a:t>Association</a:t>
            </a:r>
          </a:p>
        </p:txBody>
      </p:sp>
    </p:spTree>
    <p:extLst>
      <p:ext uri="{BB962C8B-B14F-4D97-AF65-F5344CB8AC3E}">
        <p14:creationId xmlns:p14="http://schemas.microsoft.com/office/powerpoint/2010/main" val="2285949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Relationships between Objects</a:t>
            </a:r>
          </a:p>
        </p:txBody>
      </p:sp>
      <p:pic>
        <p:nvPicPr>
          <p:cNvPr id="19458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19200"/>
            <a:ext cx="5105400" cy="510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1066800" y="1219200"/>
            <a:ext cx="0" cy="480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600" y="1219200"/>
            <a:ext cx="7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9" y="5726668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258810" y="3434833"/>
            <a:ext cx="2398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Strength of relationship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257800" y="3646004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953000" y="3771900"/>
            <a:ext cx="2590800" cy="1333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43800" y="3448734"/>
            <a:ext cx="1368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Object </a:t>
            </a:r>
          </a:p>
          <a:p>
            <a:r>
              <a:rPr lang="en-US" b="1" dirty="0">
                <a:solidFill>
                  <a:srgbClr val="FF0000"/>
                </a:solidFill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1018120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FF0000"/>
                </a:solidFill>
              </a:rPr>
              <a:t>weaker</a:t>
            </a:r>
            <a:r>
              <a:rPr lang="en-US" sz="2800" dirty="0"/>
              <a:t> type of relationship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Two otherwise </a:t>
            </a:r>
            <a:r>
              <a:rPr lang="en-US" sz="2800" b="1" dirty="0">
                <a:solidFill>
                  <a:srgbClr val="FF0000"/>
                </a:solidFill>
              </a:rPr>
              <a:t>unrelated objects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There is </a:t>
            </a:r>
            <a:r>
              <a:rPr lang="en-US" sz="2800" b="1" dirty="0">
                <a:solidFill>
                  <a:srgbClr val="FF0000"/>
                </a:solidFill>
              </a:rPr>
              <a:t>no</a:t>
            </a:r>
            <a:r>
              <a:rPr lang="en-US" sz="2800" dirty="0"/>
              <a:t> implied </a:t>
            </a:r>
            <a:r>
              <a:rPr lang="en-US" sz="2800" b="1" dirty="0">
                <a:solidFill>
                  <a:srgbClr val="FF0000"/>
                </a:solidFill>
              </a:rPr>
              <a:t>whole/part relationship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Models a </a:t>
            </a:r>
            <a:r>
              <a:rPr lang="en-US" sz="2800" b="1" dirty="0">
                <a:solidFill>
                  <a:srgbClr val="FF0000"/>
                </a:solidFill>
              </a:rPr>
              <a:t>uses-a</a:t>
            </a:r>
            <a:r>
              <a:rPr lang="en-US" sz="2800" dirty="0"/>
              <a:t> relationship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90603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Association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associated object (member) is otherwise </a:t>
            </a:r>
            <a:r>
              <a:rPr lang="en-US" sz="2400" b="1" dirty="0">
                <a:solidFill>
                  <a:srgbClr val="FF0000"/>
                </a:solidFill>
              </a:rPr>
              <a:t>unrelated</a:t>
            </a:r>
            <a:r>
              <a:rPr lang="en-US" sz="2400" dirty="0"/>
              <a:t> to the object (class)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associated object (member) can belong to </a:t>
            </a:r>
            <a:r>
              <a:rPr lang="en-US" sz="2400" b="1" dirty="0">
                <a:solidFill>
                  <a:srgbClr val="FF0000"/>
                </a:solidFill>
              </a:rPr>
              <a:t>more than one object </a:t>
            </a:r>
            <a:r>
              <a:rPr lang="en-US" sz="2400" dirty="0"/>
              <a:t>(class) at a time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associated object (member) </a:t>
            </a:r>
            <a:r>
              <a:rPr lang="en-US" sz="2400" b="1" dirty="0">
                <a:solidFill>
                  <a:srgbClr val="FF0000"/>
                </a:solidFill>
              </a:rPr>
              <a:t>does not</a:t>
            </a:r>
            <a:r>
              <a:rPr lang="en-US" sz="2400" dirty="0"/>
              <a:t> have its </a:t>
            </a:r>
            <a:r>
              <a:rPr lang="en-US" sz="2400" b="1" dirty="0">
                <a:solidFill>
                  <a:srgbClr val="FF0000"/>
                </a:solidFill>
              </a:rPr>
              <a:t>existence</a:t>
            </a:r>
            <a:r>
              <a:rPr lang="en-US" sz="2400" dirty="0"/>
              <a:t> managed by the object (class)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associated object (member) </a:t>
            </a:r>
            <a:r>
              <a:rPr lang="en-US" sz="2400" b="1" dirty="0">
                <a:solidFill>
                  <a:srgbClr val="FF0000"/>
                </a:solidFill>
              </a:rPr>
              <a:t>may or may not know about the existence </a:t>
            </a:r>
            <a:r>
              <a:rPr lang="en-US" sz="2400" dirty="0"/>
              <a:t>of the object (class)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4382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Student-Faculty association - example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" y="1219200"/>
            <a:ext cx="9072768" cy="5282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575021" y="1193442"/>
            <a:ext cx="3608990" cy="514350"/>
            <a:chOff x="576" y="3216"/>
            <a:chExt cx="2969" cy="288"/>
          </a:xfrm>
        </p:grpSpPr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7278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Student-Faculty association - 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36793"/>
            <a:ext cx="7848600" cy="5645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773010" y="1054422"/>
            <a:ext cx="3608990" cy="514350"/>
            <a:chOff x="576" y="3216"/>
            <a:chExt cx="2969" cy="288"/>
          </a:xfrm>
        </p:grpSpPr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3501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</a:rPr>
              <a:t>Student-Faculty association - example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5800725" cy="4614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33108" y="4038600"/>
            <a:ext cx="47536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It was a bi-directional association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Remember to avoid bidirectional associations!!!</a:t>
            </a:r>
          </a:p>
        </p:txBody>
      </p: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5077810" y="1219200"/>
            <a:ext cx="3608990" cy="514350"/>
            <a:chOff x="576" y="3216"/>
            <a:chExt cx="2969" cy="288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5046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84667"/>
            <a:ext cx="8244625" cy="82973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D20000"/>
                </a:solidFill>
              </a:rPr>
              <a:t>Composition vs Aggregation vs Association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1" y="1066800"/>
          <a:ext cx="8657780" cy="3139062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164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4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>
                          <a:solidFill>
                            <a:srgbClr val="FF0000"/>
                          </a:solidFill>
                        </a:rPr>
                        <a:t>Composition</a:t>
                      </a:r>
                      <a:endParaRPr lang="en-US" sz="14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>
                          <a:solidFill>
                            <a:srgbClr val="FF0000"/>
                          </a:solidFill>
                        </a:rPr>
                        <a:t>Aggregation</a:t>
                      </a:r>
                      <a:endParaRPr lang="en-US" sz="14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</a:rPr>
                        <a:t>Association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</a:rPr>
                        <a:t>Relationship type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/>
                        <a:t>Whole/part</a:t>
                      </a: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/>
                        <a:t>Whole/part</a:t>
                      </a: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Otherwise unrelated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</a:rPr>
                        <a:t>Members can belong to multiple classes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No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/>
                        <a:t>Yes</a:t>
                      </a: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Yes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>
                          <a:solidFill>
                            <a:srgbClr val="FF0000"/>
                          </a:solidFill>
                        </a:rPr>
                        <a:t>Members existence managed by class</a:t>
                      </a:r>
                      <a:endParaRPr lang="en-US" sz="14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Yes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/>
                        <a:t>No</a:t>
                      </a: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No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>
                          <a:solidFill>
                            <a:srgbClr val="FF0000"/>
                          </a:solidFill>
                        </a:rPr>
                        <a:t>Directionality</a:t>
                      </a:r>
                      <a:endParaRPr lang="en-US" sz="14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/>
                        <a:t>Unidirectional</a:t>
                      </a: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/>
                        <a:t>Unidirectional</a:t>
                      </a: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Unidirectional or bidirectional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</a:rPr>
                        <a:t>Relationship verb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Part-of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/>
                        <a:t>Has-a</a:t>
                      </a:r>
                      <a:endParaRPr 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400" kern="1200" dirty="0"/>
                        <a:t>Uses-a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28600" y="4349506"/>
            <a:ext cx="3608990" cy="514350"/>
            <a:chOff x="576" y="3216"/>
            <a:chExt cx="2969" cy="288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Engine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Car</a:t>
              </a: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5334000" y="6319905"/>
            <a:ext cx="3608990" cy="514350"/>
            <a:chOff x="576" y="3216"/>
            <a:chExt cx="2969" cy="288"/>
          </a:xfrm>
        </p:grpSpPr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35"/>
          <p:cNvGrpSpPr>
            <a:grpSpLocks/>
          </p:cNvGrpSpPr>
          <p:nvPr/>
        </p:nvGrpSpPr>
        <p:grpSpPr bwMode="auto">
          <a:xfrm>
            <a:off x="2045097" y="5029199"/>
            <a:ext cx="3608990" cy="514350"/>
            <a:chOff x="576" y="3216"/>
            <a:chExt cx="2969" cy="288"/>
          </a:xfrm>
        </p:grpSpPr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Address</a:t>
              </a: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Person</a:t>
              </a:r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9" name="Group 35"/>
          <p:cNvGrpSpPr>
            <a:grpSpLocks/>
          </p:cNvGrpSpPr>
          <p:nvPr/>
        </p:nvGrpSpPr>
        <p:grpSpPr bwMode="auto">
          <a:xfrm>
            <a:off x="5334000" y="5668113"/>
            <a:ext cx="3608990" cy="514350"/>
            <a:chOff x="576" y="3216"/>
            <a:chExt cx="2969" cy="288"/>
          </a:xfrm>
        </p:grpSpPr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Bus</a:t>
              </a:r>
            </a:p>
          </p:txBody>
        </p:sp>
        <p:sp>
          <p:nvSpPr>
            <p:cNvPr id="21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865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7342</TotalTime>
  <Words>960</Words>
  <Application>Microsoft Office PowerPoint</Application>
  <PresentationFormat>On-screen Show (4:3)</PresentationFormat>
  <Paragraphs>203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Garamond</vt:lpstr>
      <vt:lpstr>Office Theme</vt:lpstr>
      <vt:lpstr>Association, Aggregation, and Composition</vt:lpstr>
      <vt:lpstr> Part 1 Identifying relationships and their types</vt:lpstr>
      <vt:lpstr>Identifying objects</vt:lpstr>
      <vt:lpstr>Interaction between objects</vt:lpstr>
      <vt:lpstr>Identifying relationships b/w objects</vt:lpstr>
      <vt:lpstr>CRC Cards</vt:lpstr>
      <vt:lpstr>CRC Modelling - example</vt:lpstr>
      <vt:lpstr>Relationship type words</vt:lpstr>
      <vt:lpstr>Types of Relationships </vt:lpstr>
      <vt:lpstr>Relationships between Objects</vt:lpstr>
      <vt:lpstr> Part 2 Composition</vt:lpstr>
      <vt:lpstr>Object composition</vt:lpstr>
      <vt:lpstr>Composition</vt:lpstr>
      <vt:lpstr>Composition tests</vt:lpstr>
      <vt:lpstr>Engine is a part-of Car (Example)</vt:lpstr>
      <vt:lpstr> Part 3 Aggregation</vt:lpstr>
      <vt:lpstr>Aggregation</vt:lpstr>
      <vt:lpstr>Aggregation tests</vt:lpstr>
      <vt:lpstr>Implementing aggregation VS composition</vt:lpstr>
      <vt:lpstr>Examples</vt:lpstr>
      <vt:lpstr>Aggregation or Composition</vt:lpstr>
      <vt:lpstr>Aggregation/Composition - recap</vt:lpstr>
      <vt:lpstr> Part 4 Association</vt:lpstr>
      <vt:lpstr>Relationships between Objects</vt:lpstr>
      <vt:lpstr>Association</vt:lpstr>
      <vt:lpstr>Association tests</vt:lpstr>
      <vt:lpstr>Student-Faculty association - example</vt:lpstr>
      <vt:lpstr>Student-Faculty association - example</vt:lpstr>
      <vt:lpstr>Student-Faculty association - example</vt:lpstr>
      <vt:lpstr>Composition vs Aggregation vs Association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Sanaullah Imtiaz</cp:lastModifiedBy>
  <cp:revision>554</cp:revision>
  <dcterms:created xsi:type="dcterms:W3CDTF">2012-08-28T12:59:58Z</dcterms:created>
  <dcterms:modified xsi:type="dcterms:W3CDTF">2024-10-30T07:29:24Z</dcterms:modified>
</cp:coreProperties>
</file>
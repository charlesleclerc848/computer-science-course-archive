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583" r:id="rId2"/>
    <p:sldId id="581" r:id="rId3"/>
    <p:sldId id="552" r:id="rId4"/>
    <p:sldId id="590" r:id="rId5"/>
    <p:sldId id="551" r:id="rId6"/>
    <p:sldId id="505" r:id="rId7"/>
    <p:sldId id="506" r:id="rId8"/>
    <p:sldId id="508" r:id="rId9"/>
    <p:sldId id="591" r:id="rId10"/>
    <p:sldId id="509" r:id="rId11"/>
    <p:sldId id="592" r:id="rId12"/>
    <p:sldId id="593" r:id="rId13"/>
    <p:sldId id="510" r:id="rId14"/>
    <p:sldId id="511" r:id="rId15"/>
    <p:sldId id="594" r:id="rId16"/>
    <p:sldId id="595" r:id="rId17"/>
    <p:sldId id="596" r:id="rId18"/>
    <p:sldId id="597" r:id="rId19"/>
    <p:sldId id="59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2C14DE"/>
    <a:srgbClr val="FFFFFF"/>
    <a:srgbClr val="B80000"/>
    <a:srgbClr val="2F1BC7"/>
    <a:srgbClr val="27558D"/>
    <a:srgbClr val="D20000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89228" autoAdjust="0"/>
  </p:normalViewPr>
  <p:slideViewPr>
    <p:cSldViewPr>
      <p:cViewPr varScale="1">
        <p:scale>
          <a:sx n="66" d="100"/>
          <a:sy n="66" d="100"/>
        </p:scale>
        <p:origin x="154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81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68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35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6932F72-39BC-4D02-87BF-ABD9931E84B1}" type="slidenum">
              <a:rPr lang="en-US" sz="1200"/>
              <a:pPr eaLnBrk="1" hangingPunct="1"/>
              <a:t>3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b="1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0408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6932F72-39BC-4D02-87BF-ABD9931E84B1}" type="slidenum">
              <a:rPr lang="en-US" sz="1200"/>
              <a:pPr eaLnBrk="1" hangingPunct="1"/>
              <a:t>4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no purely virtual functions and hence can be instantiated. </a:t>
            </a:r>
            <a:endParaRPr lang="fr-FR" b="1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6686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6932F72-39BC-4D02-87BF-ABD9931E84B1}" type="slidenum">
              <a:rPr lang="en-US" sz="1200"/>
              <a:pPr eaLnBrk="1" hangingPunct="1"/>
              <a:t>5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0732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72A3B13-CE42-4CAA-8D96-7CD32E1AE8F4}" type="slidenum">
              <a:rPr lang="en-US" sz="1200"/>
              <a:pPr eaLnBrk="1" hangingPunct="1"/>
              <a:t>6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2491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7CAF92F-70DA-4D05-9316-5123B11F592C}" type="slidenum">
              <a:rPr lang="en-US" sz="1200"/>
              <a:pPr eaLnBrk="1" hangingPunct="1"/>
              <a:t>7</a:t>
            </a:fld>
            <a:endParaRPr 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8572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8421764-632C-4F1F-B803-98B98E0B5536}" type="slidenum">
              <a:rPr lang="en-US" sz="1200"/>
              <a:pPr eaLnBrk="1" hangingPunct="1"/>
              <a:t>8</a:t>
            </a:fld>
            <a:endParaRPr lang="en-US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5536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8421764-632C-4F1F-B803-98B98E0B5536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4497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3639EAF-E6D1-4AF4-BB7B-7388B2BB7C5F}" type="slidenum">
              <a:rPr lang="en-US" sz="1200"/>
              <a:pPr eaLnBrk="1" hangingPunct="1"/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998071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3639EAF-E6D1-4AF4-BB7B-7388B2BB7C5F}" type="slidenum">
              <a:rPr lang="en-US" sz="1200"/>
              <a:pPr eaLnBrk="1" hangingPunct="1"/>
              <a:t>11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30430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3639EAF-E6D1-4AF4-BB7B-7388B2BB7C5F}" type="slidenum">
              <a:rPr lang="en-US" sz="1200"/>
              <a:pPr eaLnBrk="1" hangingPunct="1"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81523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D37F975-A8FB-495D-B19E-1D28E32EF86F}" type="slidenum">
              <a:rPr lang="en-US" sz="1200"/>
              <a:pPr eaLnBrk="1" hangingPunct="1"/>
              <a:t>13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00800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487F8FA-B6C9-4C42-B48F-0C42596ADF35}" type="slidenum">
              <a:rPr lang="en-US" sz="1200"/>
              <a:pPr eaLnBrk="1" hangingPunct="1"/>
              <a:t>14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86435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487F8FA-B6C9-4C42-B48F-0C42596ADF35}" type="slidenum">
              <a:rPr lang="en-US" sz="1200"/>
              <a:pPr eaLnBrk="1" hangingPunct="1"/>
              <a:t>15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53285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487F8FA-B6C9-4C42-B48F-0C42596ADF35}" type="slidenum">
              <a:rPr lang="en-US" sz="1200"/>
              <a:pPr eaLnBrk="1" hangingPunct="1"/>
              <a:t>16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94378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487F8FA-B6C9-4C42-B48F-0C42596ADF35}" type="slidenum">
              <a:rPr lang="en-US" sz="1200"/>
              <a:pPr eaLnBrk="1" hangingPunct="1"/>
              <a:t>17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72017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487F8FA-B6C9-4C42-B48F-0C42596ADF35}" type="slidenum">
              <a:rPr lang="en-US" sz="1200"/>
              <a:pPr eaLnBrk="1" hangingPunct="1"/>
              <a:t>18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68632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487F8FA-B6C9-4C42-B48F-0C42596ADF35}" type="slidenum">
              <a:rPr lang="en-US" sz="1200"/>
              <a:pPr eaLnBrk="1" hangingPunct="1"/>
              <a:t>19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43855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00"/>
            <a:ext cx="8991600" cy="2438400"/>
          </a:xfrm>
        </p:spPr>
        <p:txBody>
          <a:bodyPr>
            <a:noAutofit/>
          </a:bodyPr>
          <a:lstStyle/>
          <a:p>
            <a:r>
              <a:rPr lang="en-US" b="1" dirty="0"/>
              <a:t>Concrete and Abstract Classes</a:t>
            </a:r>
            <a:br>
              <a:rPr lang="en-US" b="1" dirty="0"/>
            </a:br>
            <a:r>
              <a:rPr lang="en-US" b="1" dirty="0"/>
              <a:t>Pure Virtual Function</a:t>
            </a:r>
            <a:br>
              <a:rPr lang="en-US" b="1" dirty="0"/>
            </a:b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992880"/>
            <a:ext cx="8915400" cy="2743200"/>
          </a:xfrm>
        </p:spPr>
        <p:txBody>
          <a:bodyPr>
            <a:normAutofit/>
          </a:bodyPr>
          <a:lstStyle/>
          <a:p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smtClean="0"/>
              <a:t>Department of Computer Science, </a:t>
            </a:r>
          </a:p>
          <a:p>
            <a:r>
              <a:rPr lang="en-US" sz="2800" dirty="0" smtClean="0"/>
              <a:t>The University of Lahore, Pakistan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296501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53008"/>
            <a:ext cx="9110868" cy="9906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Contents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978" y="1043608"/>
            <a:ext cx="8842622" cy="56752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Classes in C++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Concrete and Abstract Classes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Pure Virtual Function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Usage of Pure-Virtual function and Abstract Classes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Example Code…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6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B80000"/>
                </a:solidFill>
              </a:rPr>
              <a:t>Classes in C++</a:t>
            </a:r>
          </a:p>
        </p:txBody>
      </p:sp>
      <p:sp>
        <p:nvSpPr>
          <p:cNvPr id="16387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54666" y="965199"/>
            <a:ext cx="8839200" cy="589280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008000"/>
                </a:solidFill>
              </a:rPr>
              <a:t>I</a:t>
            </a:r>
            <a:r>
              <a:rPr lang="en-US" sz="3000" b="1" dirty="0" smtClean="0">
                <a:solidFill>
                  <a:srgbClr val="008000"/>
                </a:solidFill>
              </a:rPr>
              <a:t>t </a:t>
            </a:r>
            <a:r>
              <a:rPr lang="en-US" sz="3000" b="1" dirty="0">
                <a:solidFill>
                  <a:srgbClr val="008000"/>
                </a:solidFill>
              </a:rPr>
              <a:t>is true</a:t>
            </a:r>
            <a:r>
              <a:rPr lang="en-US" sz="3000" b="1" dirty="0"/>
              <a:t> that </a:t>
            </a:r>
            <a:r>
              <a:rPr lang="en-US" sz="3000" b="1" dirty="0">
                <a:solidFill>
                  <a:srgbClr val="2C14DE"/>
                </a:solidFill>
              </a:rPr>
              <a:t>all objects </a:t>
            </a:r>
            <a:r>
              <a:rPr lang="en-US" sz="3000" b="1" dirty="0"/>
              <a:t>are </a:t>
            </a:r>
            <a:r>
              <a:rPr lang="en-US" sz="3000" b="1" dirty="0">
                <a:solidFill>
                  <a:srgbClr val="2C14DE"/>
                </a:solidFill>
              </a:rPr>
              <a:t>represented</a:t>
            </a:r>
            <a:r>
              <a:rPr lang="en-US" sz="3000" b="1" dirty="0"/>
              <a:t> by a </a:t>
            </a:r>
            <a:r>
              <a:rPr lang="en-US" sz="3000" b="1" dirty="0">
                <a:solidFill>
                  <a:srgbClr val="2C14DE"/>
                </a:solidFill>
              </a:rPr>
              <a:t>class</a:t>
            </a:r>
            <a:r>
              <a:rPr lang="en-US" sz="3000" b="1" dirty="0"/>
              <a:t>, </a:t>
            </a:r>
            <a:r>
              <a:rPr lang="en-US" sz="3000" b="1" dirty="0" smtClean="0"/>
              <a:t>the </a:t>
            </a:r>
            <a:r>
              <a:rPr lang="en-US" sz="3000" b="1" u="sng" dirty="0">
                <a:solidFill>
                  <a:srgbClr val="FF0000"/>
                </a:solidFill>
              </a:rPr>
              <a:t>converse is not true</a:t>
            </a:r>
            <a:r>
              <a:rPr lang="en-US" sz="3000" b="1" dirty="0"/>
              <a:t>. </a:t>
            </a:r>
            <a:endParaRPr lang="en-US" sz="3000" b="1" dirty="0" smtClean="0"/>
          </a:p>
          <a:p>
            <a:pPr>
              <a:lnSpc>
                <a:spcPct val="90000"/>
              </a:lnSpc>
            </a:pPr>
            <a:endParaRPr lang="en-US" sz="3000" b="1" dirty="0"/>
          </a:p>
          <a:p>
            <a:pPr>
              <a:lnSpc>
                <a:spcPct val="90000"/>
              </a:lnSpc>
            </a:pPr>
            <a:r>
              <a:rPr lang="en-US" sz="3000" b="1" dirty="0" smtClean="0">
                <a:solidFill>
                  <a:srgbClr val="FF0000"/>
                </a:solidFill>
              </a:rPr>
              <a:t>All </a:t>
            </a:r>
            <a:r>
              <a:rPr lang="en-US" sz="3000" b="1" dirty="0">
                <a:solidFill>
                  <a:srgbClr val="FF0000"/>
                </a:solidFill>
              </a:rPr>
              <a:t>classes do not necessarily represent </a:t>
            </a:r>
            <a:r>
              <a:rPr lang="en-US" sz="3000" b="1" dirty="0" smtClean="0">
                <a:solidFill>
                  <a:srgbClr val="FF0000"/>
                </a:solidFill>
              </a:rPr>
              <a:t>objects</a:t>
            </a:r>
            <a:r>
              <a:rPr lang="en-US" sz="3000" b="1" dirty="0" smtClean="0"/>
              <a:t>:</a:t>
            </a:r>
          </a:p>
          <a:p>
            <a:pPr>
              <a:lnSpc>
                <a:spcPct val="90000"/>
              </a:lnSpc>
            </a:pPr>
            <a:endParaRPr lang="en-US" sz="3000" b="1" dirty="0"/>
          </a:p>
          <a:p>
            <a:pPr>
              <a:lnSpc>
                <a:spcPct val="90000"/>
              </a:lnSpc>
            </a:pPr>
            <a:endParaRPr lang="en-US" sz="3000" b="1" dirty="0" smtClean="0"/>
          </a:p>
          <a:p>
            <a:pPr>
              <a:lnSpc>
                <a:spcPct val="90000"/>
              </a:lnSpc>
            </a:pPr>
            <a:endParaRPr lang="en-US" sz="3000" b="1" dirty="0" smtClean="0"/>
          </a:p>
          <a:p>
            <a:pPr marL="0" indent="0">
              <a:lnSpc>
                <a:spcPct val="90000"/>
              </a:lnSpc>
              <a:buNone/>
            </a:pPr>
            <a:endParaRPr lang="en-US" sz="3000" b="1" dirty="0" smtClean="0"/>
          </a:p>
          <a:p>
            <a:pPr marL="0" indent="0">
              <a:lnSpc>
                <a:spcPct val="90000"/>
              </a:lnSpc>
              <a:buNone/>
            </a:pPr>
            <a:endParaRPr lang="en-US" sz="3000" b="1" dirty="0"/>
          </a:p>
          <a:p>
            <a:pPr>
              <a:lnSpc>
                <a:spcPct val="90000"/>
              </a:lnSpc>
            </a:pPr>
            <a:r>
              <a:rPr lang="en-US" sz="3000" b="1" dirty="0" smtClean="0"/>
              <a:t>In C++, we </a:t>
            </a:r>
            <a:r>
              <a:rPr lang="en-US" sz="3000" b="1" dirty="0" smtClean="0">
                <a:solidFill>
                  <a:srgbClr val="FF0000"/>
                </a:solidFill>
              </a:rPr>
              <a:t>can classify the Classes</a:t>
            </a:r>
            <a:r>
              <a:rPr lang="en-US" sz="3000" b="1" dirty="0" smtClean="0"/>
              <a:t>: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b="1" dirty="0" smtClean="0">
                <a:solidFill>
                  <a:srgbClr val="2C14DE"/>
                </a:solidFill>
              </a:rPr>
              <a:t>Concrete</a:t>
            </a:r>
            <a:r>
              <a:rPr lang="en-US" b="1" dirty="0" smtClean="0"/>
              <a:t> Classes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b="1" dirty="0" smtClean="0">
                <a:solidFill>
                  <a:srgbClr val="2C14DE"/>
                </a:solidFill>
              </a:rPr>
              <a:t>Abstract</a:t>
            </a:r>
            <a:r>
              <a:rPr lang="en-US" b="1" dirty="0" smtClean="0"/>
              <a:t>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3750" t="21111" r="43750" b="55185"/>
          <a:stretch/>
        </p:blipFill>
        <p:spPr>
          <a:xfrm>
            <a:off x="1600200" y="2895600"/>
            <a:ext cx="55721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1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B80000"/>
                </a:solidFill>
              </a:rPr>
              <a:t>Concrete Classes</a:t>
            </a:r>
          </a:p>
        </p:txBody>
      </p:sp>
      <p:sp>
        <p:nvSpPr>
          <p:cNvPr id="16387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54666" y="838200"/>
            <a:ext cx="8839200" cy="5538777"/>
          </a:xfrm>
        </p:spPr>
        <p:txBody>
          <a:bodyPr>
            <a:noAutofit/>
          </a:bodyPr>
          <a:lstStyle/>
          <a:p>
            <a:pPr marL="457200" lvl="1" indent="0" algn="just">
              <a:lnSpc>
                <a:spcPct val="90000"/>
              </a:lnSpc>
              <a:buNone/>
            </a:pPr>
            <a:endParaRPr lang="en-US" sz="3000" b="1" dirty="0" smtClean="0"/>
          </a:p>
          <a:p>
            <a:pPr algn="just">
              <a:lnSpc>
                <a:spcPct val="90000"/>
              </a:lnSpc>
            </a:pPr>
            <a:r>
              <a:rPr lang="en-US" sz="3000" b="1" dirty="0">
                <a:solidFill>
                  <a:srgbClr val="FF0000"/>
                </a:solidFill>
              </a:rPr>
              <a:t>Concrete </a:t>
            </a:r>
            <a:r>
              <a:rPr lang="en-US" sz="3000" b="1" dirty="0" smtClean="0">
                <a:solidFill>
                  <a:srgbClr val="FF0000"/>
                </a:solidFill>
              </a:rPr>
              <a:t>Classes </a:t>
            </a:r>
            <a:r>
              <a:rPr lang="en-US" sz="3000" b="1" dirty="0" smtClean="0"/>
              <a:t>provide</a:t>
            </a:r>
            <a:r>
              <a:rPr lang="en-US" sz="3000" b="1" dirty="0" smtClean="0">
                <a:solidFill>
                  <a:srgbClr val="2C14DE"/>
                </a:solidFill>
              </a:rPr>
              <a:t> </a:t>
            </a:r>
            <a:r>
              <a:rPr lang="en-US" sz="3000" b="1" dirty="0" smtClean="0">
                <a:solidFill>
                  <a:srgbClr val="008000"/>
                </a:solidFill>
              </a:rPr>
              <a:t>full representation </a:t>
            </a:r>
            <a:r>
              <a:rPr lang="en-US" sz="3000" b="1" dirty="0" smtClean="0"/>
              <a:t>of their </a:t>
            </a:r>
            <a:r>
              <a:rPr lang="en-US" sz="3000" b="1" u="sng" dirty="0" smtClean="0"/>
              <a:t>objects</a:t>
            </a:r>
            <a:r>
              <a:rPr lang="en-US" sz="3000" b="1" dirty="0" smtClean="0"/>
              <a:t>.</a:t>
            </a:r>
          </a:p>
          <a:p>
            <a:pPr lvl="1" algn="just">
              <a:lnSpc>
                <a:spcPct val="90000"/>
              </a:lnSpc>
            </a:pPr>
            <a:r>
              <a:rPr lang="en-US" b="1" dirty="0" smtClean="0">
                <a:solidFill>
                  <a:srgbClr val="B80000"/>
                </a:solidFill>
              </a:rPr>
              <a:t>Object can be </a:t>
            </a:r>
            <a:r>
              <a:rPr lang="en-US" b="1" dirty="0" smtClean="0">
                <a:solidFill>
                  <a:srgbClr val="2C14DE"/>
                </a:solidFill>
              </a:rPr>
              <a:t>instantiated</a:t>
            </a:r>
          </a:p>
          <a:p>
            <a:pPr algn="just">
              <a:lnSpc>
                <a:spcPct val="90000"/>
              </a:lnSpc>
            </a:pPr>
            <a:endParaRPr lang="en-US" sz="3000" b="1" dirty="0" smtClean="0"/>
          </a:p>
          <a:p>
            <a:pPr algn="just">
              <a:lnSpc>
                <a:spcPct val="90000"/>
              </a:lnSpc>
            </a:pPr>
            <a:r>
              <a:rPr lang="en-US" sz="3000" b="1" dirty="0" smtClean="0">
                <a:solidFill>
                  <a:srgbClr val="2C14DE"/>
                </a:solidFill>
              </a:rPr>
              <a:t>Must</a:t>
            </a:r>
            <a:r>
              <a:rPr lang="en-US" sz="3000" dirty="0" smtClean="0">
                <a:solidFill>
                  <a:srgbClr val="2C14DE"/>
                </a:solidFill>
              </a:rPr>
              <a:t> </a:t>
            </a:r>
            <a:r>
              <a:rPr lang="en-US" sz="3000" b="1" dirty="0" smtClean="0">
                <a:solidFill>
                  <a:srgbClr val="2C14DE"/>
                </a:solidFill>
              </a:rPr>
              <a:t>provide implementation </a:t>
            </a:r>
            <a:r>
              <a:rPr lang="en-US" sz="3000" dirty="0" smtClean="0"/>
              <a:t>for </a:t>
            </a:r>
            <a:r>
              <a:rPr lang="en-US" sz="3000" b="1" dirty="0" smtClean="0">
                <a:solidFill>
                  <a:srgbClr val="2C14DE"/>
                </a:solidFill>
              </a:rPr>
              <a:t>every</a:t>
            </a:r>
            <a:r>
              <a:rPr lang="en-US" sz="3000" b="1" dirty="0" smtClean="0"/>
              <a:t> </a:t>
            </a:r>
            <a:r>
              <a:rPr lang="en-US" sz="3000" b="1" dirty="0" smtClean="0">
                <a:solidFill>
                  <a:srgbClr val="FF0000"/>
                </a:solidFill>
              </a:rPr>
              <a:t>member function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A </a:t>
            </a:r>
            <a:r>
              <a:rPr lang="en-US" sz="3000" b="1" dirty="0">
                <a:solidFill>
                  <a:srgbClr val="FF0000"/>
                </a:solidFill>
              </a:rPr>
              <a:t>concrete derived class </a:t>
            </a:r>
            <a:r>
              <a:rPr lang="en-US" sz="2800" dirty="0"/>
              <a:t>is a class derived from an abstract class that provides implementations for all pure virtual functions.</a:t>
            </a:r>
            <a:endParaRPr lang="en-US" sz="3000" b="1" dirty="0" smtClean="0"/>
          </a:p>
        </p:txBody>
      </p:sp>
      <p:sp>
        <p:nvSpPr>
          <p:cNvPr id="8" name="Rectangle 7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2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B80000"/>
                </a:solidFill>
              </a:rPr>
              <a:t>Abstract Classes</a:t>
            </a:r>
          </a:p>
        </p:txBody>
      </p:sp>
      <p:sp>
        <p:nvSpPr>
          <p:cNvPr id="16387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29266" y="1066800"/>
            <a:ext cx="9051234" cy="57912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base class contains pure virtual function then, that class is known as abstract class and you cannot create object of that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typically include at least one pure virtual function.</a:t>
            </a:r>
            <a:endParaRPr lang="en-US" sz="3000" b="1" dirty="0" smtClean="0">
              <a:solidFill>
                <a:srgbClr val="2F1BC7"/>
              </a:solidFill>
            </a:endParaRP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2400" b="1" dirty="0" smtClean="0">
                <a:solidFill>
                  <a:srgbClr val="2F1BC7"/>
                </a:solidFill>
              </a:rPr>
              <a:t>Classes</a:t>
            </a:r>
            <a:r>
              <a:rPr lang="en-US" sz="2400" b="1" dirty="0" smtClean="0"/>
              <a:t> from which it </a:t>
            </a:r>
            <a:r>
              <a:rPr lang="en-US" sz="2400" b="1" dirty="0" smtClean="0">
                <a:solidFill>
                  <a:srgbClr val="2F1BC7"/>
                </a:solidFill>
              </a:rPr>
              <a:t>is never intended to instantiate </a:t>
            </a:r>
            <a:r>
              <a:rPr lang="en-US" sz="2400" b="1" dirty="0" smtClean="0"/>
              <a:t>any </a:t>
            </a:r>
            <a:r>
              <a:rPr lang="en-US" sz="2400" b="1" dirty="0" smtClean="0">
                <a:solidFill>
                  <a:srgbClr val="2F1BC7"/>
                </a:solidFill>
              </a:rPr>
              <a:t>objects </a:t>
            </a:r>
            <a:r>
              <a:rPr lang="en-US" sz="2400" b="1" dirty="0" smtClean="0"/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Reasons</a:t>
            </a:r>
            <a:r>
              <a:rPr lang="en-US" sz="2400" b="1" dirty="0" smtClean="0"/>
              <a:t>?)</a:t>
            </a:r>
            <a:r>
              <a:rPr lang="en-US" sz="2400" b="1" dirty="0" smtClean="0">
                <a:solidFill>
                  <a:srgbClr val="2F1BC7"/>
                </a:solidFill>
              </a:rPr>
              <a:t>:</a:t>
            </a:r>
          </a:p>
          <a:p>
            <a:pPr lvl="1" algn="just">
              <a:lnSpc>
                <a:spcPct val="90000"/>
              </a:lnSpc>
              <a:spcAft>
                <a:spcPts val="1200"/>
              </a:spcAft>
            </a:pPr>
            <a:r>
              <a:rPr lang="en-US" sz="2400" b="1" dirty="0" smtClean="0">
                <a:solidFill>
                  <a:srgbClr val="B80000"/>
                </a:solidFill>
              </a:rPr>
              <a:t>Incomplete</a:t>
            </a:r>
            <a:r>
              <a:rPr lang="en-US" sz="2400" dirty="0" smtClean="0"/>
              <a:t>: </a:t>
            </a:r>
            <a:r>
              <a:rPr lang="en-US" sz="2400" b="1" dirty="0" smtClean="0">
                <a:solidFill>
                  <a:srgbClr val="2F1BC7"/>
                </a:solidFill>
              </a:rPr>
              <a:t>derived classes</a:t>
            </a:r>
            <a:r>
              <a:rPr lang="en-US" sz="2400" dirty="0" smtClean="0"/>
              <a:t> </a:t>
            </a:r>
            <a:r>
              <a:rPr lang="en-US" sz="2400" b="1" dirty="0" smtClean="0"/>
              <a:t>must </a:t>
            </a:r>
            <a:r>
              <a:rPr lang="en-US" sz="2400" b="1" dirty="0" smtClean="0">
                <a:solidFill>
                  <a:srgbClr val="2F1BC7"/>
                </a:solidFill>
              </a:rPr>
              <a:t>define</a:t>
            </a:r>
            <a:r>
              <a:rPr lang="en-US" sz="2400" b="1" dirty="0" smtClean="0"/>
              <a:t> the </a:t>
            </a:r>
            <a:r>
              <a:rPr lang="ja-JP" altLang="en-US" sz="2400" b="1" dirty="0" smtClean="0">
                <a:solidFill>
                  <a:srgbClr val="2F1BC7"/>
                </a:solidFill>
              </a:rPr>
              <a:t>“</a:t>
            </a:r>
            <a:r>
              <a:rPr lang="en-US" altLang="ja-JP" sz="2400" b="1" dirty="0" smtClean="0">
                <a:solidFill>
                  <a:srgbClr val="2F1BC7"/>
                </a:solidFill>
              </a:rPr>
              <a:t>missing pieces</a:t>
            </a:r>
            <a:r>
              <a:rPr lang="ja-JP" altLang="en-US" sz="2400" b="1" dirty="0" smtClean="0">
                <a:solidFill>
                  <a:srgbClr val="2F1BC7"/>
                </a:solidFill>
              </a:rPr>
              <a:t>”</a:t>
            </a:r>
            <a:endParaRPr lang="en-US" altLang="ja-JP" sz="2400" b="1" dirty="0" smtClean="0"/>
          </a:p>
          <a:p>
            <a:pPr lvl="1">
              <a:lnSpc>
                <a:spcPct val="90000"/>
              </a:lnSpc>
              <a:spcAft>
                <a:spcPts val="1200"/>
              </a:spcAft>
            </a:pPr>
            <a:r>
              <a:rPr lang="en-US" sz="2400" b="1" dirty="0" smtClean="0">
                <a:solidFill>
                  <a:srgbClr val="C00000"/>
                </a:solidFill>
              </a:rPr>
              <a:t>Too generic: </a:t>
            </a:r>
            <a:r>
              <a:rPr lang="en-US" sz="2400" b="1" dirty="0" smtClean="0"/>
              <a:t>to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2F1BC7"/>
                </a:solidFill>
              </a:rPr>
              <a:t>define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2F1BC7"/>
                </a:solidFill>
              </a:rPr>
              <a:t>real objects</a:t>
            </a:r>
            <a:endParaRPr lang="en-US" sz="2000" b="1" dirty="0" smtClean="0"/>
          </a:p>
          <a:p>
            <a:pPr algn="just">
              <a:lnSpc>
                <a:spcPct val="90000"/>
              </a:lnSpc>
              <a:spcAft>
                <a:spcPts val="1200"/>
              </a:spcAft>
            </a:pPr>
            <a:r>
              <a:rPr lang="en-US" sz="2400" b="1" dirty="0" smtClean="0">
                <a:solidFill>
                  <a:srgbClr val="B80000"/>
                </a:solidFill>
              </a:rPr>
              <a:t>Normally</a:t>
            </a:r>
            <a:r>
              <a:rPr lang="en-US" sz="2400" dirty="0" smtClean="0">
                <a:solidFill>
                  <a:srgbClr val="B80000"/>
                </a:solidFill>
              </a:rPr>
              <a:t> </a:t>
            </a:r>
            <a:r>
              <a:rPr lang="en-US" sz="2400" b="1" dirty="0" smtClean="0">
                <a:solidFill>
                  <a:srgbClr val="B80000"/>
                </a:solidFill>
              </a:rPr>
              <a:t>used </a:t>
            </a:r>
            <a:r>
              <a:rPr lang="en-US" sz="2400" b="1" dirty="0" smtClean="0"/>
              <a:t>as </a:t>
            </a:r>
            <a:r>
              <a:rPr lang="en-US" sz="2400" b="1" dirty="0" smtClean="0">
                <a:solidFill>
                  <a:srgbClr val="2F1BC7"/>
                </a:solidFill>
              </a:rPr>
              <a:t>base classes </a:t>
            </a:r>
            <a:r>
              <a:rPr lang="en-US" sz="2400" b="1" dirty="0" smtClean="0"/>
              <a:t>and called </a:t>
            </a:r>
            <a:r>
              <a:rPr lang="en-US" sz="2400" b="1" u="sng" dirty="0" smtClean="0">
                <a:solidFill>
                  <a:srgbClr val="2F1BC7"/>
                </a:solidFill>
              </a:rPr>
              <a:t>abstract base classes</a:t>
            </a:r>
          </a:p>
          <a:p>
            <a:pPr algn="just">
              <a:lnSpc>
                <a:spcPct val="90000"/>
              </a:lnSpc>
              <a:spcAft>
                <a:spcPts val="1200"/>
              </a:spcAft>
            </a:pPr>
            <a:r>
              <a:rPr lang="en-US" sz="2400" dirty="0" smtClean="0"/>
              <a:t>It is a </a:t>
            </a:r>
            <a:r>
              <a:rPr lang="en-US" sz="2400" b="1" dirty="0" smtClean="0">
                <a:solidFill>
                  <a:srgbClr val="C00000"/>
                </a:solidFill>
              </a:rPr>
              <a:t>common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public interface </a:t>
            </a:r>
            <a:r>
              <a:rPr lang="en-US" sz="2400" dirty="0" smtClean="0"/>
              <a:t>for the </a:t>
            </a:r>
            <a:r>
              <a:rPr lang="en-US" sz="2400" b="1" dirty="0" smtClean="0">
                <a:solidFill>
                  <a:srgbClr val="2C14DE"/>
                </a:solidFill>
              </a:rPr>
              <a:t>entire class hierarchy</a:t>
            </a:r>
            <a:endParaRPr lang="en-US" sz="2400" b="1" u="sng" dirty="0" smtClean="0">
              <a:solidFill>
                <a:srgbClr val="2C14D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3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Rectangle 7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144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Pure </a:t>
            </a:r>
            <a:r>
              <a:rPr lang="en-US" sz="3200" b="1" dirty="0" smtClean="0">
                <a:solidFill>
                  <a:srgbClr val="C00000"/>
                </a:solidFill>
                <a:latin typeface="Courier New" panose="02070309020205020404" pitchFamily="49" charset="0"/>
              </a:rPr>
              <a:t>virtual</a:t>
            </a:r>
            <a:r>
              <a:rPr lang="en-US" b="1" dirty="0" smtClean="0">
                <a:solidFill>
                  <a:srgbClr val="C00000"/>
                </a:solidFill>
              </a:rPr>
              <a:t> Functions</a:t>
            </a:r>
          </a:p>
        </p:txBody>
      </p:sp>
      <p:sp>
        <p:nvSpPr>
          <p:cNvPr id="1741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2421" y="1051444"/>
            <a:ext cx="9122466" cy="5638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type of virtual function that has no body is known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virtual function.</a:t>
            </a:r>
            <a:endParaRPr lang="en-US" b="1" dirty="0" smtClean="0"/>
          </a:p>
          <a:p>
            <a:r>
              <a:rPr lang="en-US" b="1" dirty="0" smtClean="0"/>
              <a:t>A </a:t>
            </a:r>
            <a:r>
              <a:rPr lang="en-US" b="1" dirty="0" smtClean="0">
                <a:solidFill>
                  <a:srgbClr val="2F1BC7"/>
                </a:solidFill>
              </a:rPr>
              <a:t>class</a:t>
            </a:r>
            <a:r>
              <a:rPr lang="en-US" b="1" dirty="0" smtClean="0"/>
              <a:t> is made </a:t>
            </a:r>
            <a:r>
              <a:rPr lang="en-US" b="1" i="1" dirty="0" smtClean="0">
                <a:solidFill>
                  <a:srgbClr val="C00000"/>
                </a:solidFill>
              </a:rPr>
              <a:t>abstract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by </a:t>
            </a:r>
            <a:r>
              <a:rPr lang="en-US" b="1" dirty="0" smtClean="0">
                <a:solidFill>
                  <a:srgbClr val="2F1BC7"/>
                </a:solidFill>
              </a:rPr>
              <a:t>declaring </a:t>
            </a:r>
            <a:r>
              <a:rPr lang="en-US" b="1" u="sng" dirty="0" smtClean="0">
                <a:solidFill>
                  <a:srgbClr val="2F1BC7"/>
                </a:solidFill>
              </a:rPr>
              <a:t>one or more </a:t>
            </a:r>
            <a:r>
              <a:rPr lang="en-US" b="1" dirty="0" smtClean="0"/>
              <a:t>of </a:t>
            </a:r>
            <a:r>
              <a:rPr lang="en-US" b="1" dirty="0" smtClean="0">
                <a:solidFill>
                  <a:srgbClr val="2F1BC7"/>
                </a:solidFill>
              </a:rPr>
              <a:t>its virtual functions </a:t>
            </a:r>
            <a:r>
              <a:rPr lang="en-US" b="1" dirty="0" smtClean="0"/>
              <a:t>to be </a:t>
            </a:r>
            <a:r>
              <a:rPr lang="ja-JP" altLang="en-US" b="1" dirty="0" smtClean="0"/>
              <a:t>“</a:t>
            </a:r>
            <a:r>
              <a:rPr lang="en-US" altLang="ja-JP" b="1" dirty="0" smtClean="0">
                <a:solidFill>
                  <a:srgbClr val="008000"/>
                </a:solidFill>
              </a:rPr>
              <a:t>pure</a:t>
            </a:r>
            <a:r>
              <a:rPr lang="ja-JP" altLang="en-US" b="1" dirty="0" smtClean="0"/>
              <a:t>”</a:t>
            </a:r>
            <a:endParaRPr lang="en-US" altLang="ja-JP" b="1" dirty="0" smtClean="0"/>
          </a:p>
          <a:p>
            <a:pPr lvl="1"/>
            <a:r>
              <a:rPr lang="en-US" dirty="0" smtClean="0"/>
              <a:t>I.e., by </a:t>
            </a:r>
            <a:r>
              <a:rPr lang="en-US" b="1" dirty="0" smtClean="0"/>
              <a:t>placing</a:t>
            </a:r>
            <a:r>
              <a:rPr lang="en-US" dirty="0" smtClean="0"/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= 0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 smtClean="0"/>
              <a:t> in its </a:t>
            </a:r>
            <a:r>
              <a:rPr lang="en-US" b="1" dirty="0" smtClean="0"/>
              <a:t>declaration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Example:</a:t>
            </a:r>
          </a:p>
          <a:p>
            <a:pPr lvl="1">
              <a:buFontTx/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 void draw() = 0;</a:t>
            </a:r>
            <a:endParaRPr lang="en-US" sz="24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en-US" dirty="0" smtClean="0"/>
          </a:p>
          <a:p>
            <a:pPr marL="457200" lvl="1" indent="0">
              <a:buNone/>
            </a:pPr>
            <a:r>
              <a:rPr lang="en-US" sz="2400" b="1" dirty="0" smtClean="0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 smtClean="0">
                <a:solidFill>
                  <a:srgbClr val="2F1BC7"/>
                </a:solidFill>
                <a:latin typeface="Courier New" panose="02070309020205020404" pitchFamily="49" charset="0"/>
              </a:rPr>
              <a:t>= 0</a:t>
            </a:r>
            <a:r>
              <a:rPr lang="en-US" sz="2400" b="1" dirty="0" smtClean="0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 smtClean="0"/>
              <a:t> is </a:t>
            </a:r>
            <a:r>
              <a:rPr lang="en-US" b="1" dirty="0" smtClean="0"/>
              <a:t>known</a:t>
            </a:r>
            <a:r>
              <a:rPr lang="en-US" dirty="0" smtClean="0"/>
              <a:t> as a </a:t>
            </a:r>
            <a:r>
              <a:rPr lang="en-US" b="1" i="1" dirty="0" smtClean="0">
                <a:solidFill>
                  <a:srgbClr val="2F1BC7"/>
                </a:solidFill>
              </a:rPr>
              <a:t>pure </a:t>
            </a:r>
            <a:r>
              <a:rPr lang="en-US" b="1" i="1" dirty="0" err="1" smtClean="0">
                <a:solidFill>
                  <a:srgbClr val="2F1BC7"/>
                </a:solidFill>
              </a:rPr>
              <a:t>specifier</a:t>
            </a:r>
            <a:r>
              <a:rPr lang="en-US" b="1" dirty="0" smtClean="0">
                <a:solidFill>
                  <a:srgbClr val="2F1BC7"/>
                </a:solidFill>
              </a:rPr>
              <a:t>.</a:t>
            </a:r>
          </a:p>
          <a:p>
            <a:pPr lvl="1"/>
            <a:r>
              <a:rPr lang="en-US" dirty="0" smtClean="0"/>
              <a:t>Tells </a:t>
            </a:r>
            <a:r>
              <a:rPr lang="en-US" b="1" dirty="0" smtClean="0"/>
              <a:t>compiler</a:t>
            </a:r>
            <a:r>
              <a:rPr lang="en-US" dirty="0" smtClean="0"/>
              <a:t> that </a:t>
            </a:r>
            <a:r>
              <a:rPr lang="en-US" b="1" dirty="0" smtClean="0"/>
              <a:t>there </a:t>
            </a:r>
            <a:r>
              <a:rPr lang="en-US" b="1" i="1" dirty="0" smtClean="0"/>
              <a:t>is no</a:t>
            </a:r>
            <a:r>
              <a:rPr lang="en-US" b="1" dirty="0" smtClean="0"/>
              <a:t> implementation</a:t>
            </a:r>
            <a:r>
              <a:rPr lang="en-US" dirty="0" smtClean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9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title"/>
          </p:nvPr>
        </p:nvSpPr>
        <p:spPr>
          <a:xfrm>
            <a:off x="958709" y="84667"/>
            <a:ext cx="8153400" cy="829733"/>
          </a:xfrm>
        </p:spPr>
        <p:txBody>
          <a:bodyPr/>
          <a:lstStyle/>
          <a:p>
            <a:r>
              <a:rPr lang="en-US" b="1" dirty="0" smtClean="0">
                <a:solidFill>
                  <a:srgbClr val="B80000"/>
                </a:solidFill>
              </a:rPr>
              <a:t>Pure </a:t>
            </a:r>
            <a:r>
              <a:rPr lang="en-US" sz="3200" b="1" dirty="0" smtClean="0">
                <a:solidFill>
                  <a:srgbClr val="B80000"/>
                </a:solidFill>
                <a:latin typeface="Courier New" panose="02070309020205020404" pitchFamily="49" charset="0"/>
              </a:rPr>
              <a:t>virtual</a:t>
            </a:r>
            <a:r>
              <a:rPr lang="en-US" b="1" dirty="0" smtClean="0">
                <a:solidFill>
                  <a:srgbClr val="B80000"/>
                </a:solidFill>
              </a:rPr>
              <a:t> Functions </a:t>
            </a:r>
            <a:r>
              <a:rPr lang="en-US" sz="2800" b="1" dirty="0" smtClean="0">
                <a:solidFill>
                  <a:srgbClr val="B80000"/>
                </a:solidFill>
              </a:rPr>
              <a:t>(cont.)</a:t>
            </a:r>
            <a:endParaRPr lang="en-US" b="1" dirty="0" smtClean="0">
              <a:solidFill>
                <a:srgbClr val="B80000"/>
              </a:solidFill>
            </a:endParaRPr>
          </a:p>
        </p:txBody>
      </p:sp>
      <p:sp>
        <p:nvSpPr>
          <p:cNvPr id="1843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6146" y="960119"/>
            <a:ext cx="9164054" cy="58978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 smtClean="0">
                <a:latin typeface="+mj-lt"/>
              </a:rPr>
              <a:t>Every </a:t>
            </a:r>
            <a:r>
              <a:rPr lang="en-US" sz="3000" b="1" dirty="0" smtClean="0">
                <a:solidFill>
                  <a:srgbClr val="B80000"/>
                </a:solidFill>
                <a:latin typeface="+mj-lt"/>
              </a:rPr>
              <a:t>concrete</a:t>
            </a:r>
            <a:r>
              <a:rPr lang="en-US" sz="3000" dirty="0" smtClean="0">
                <a:solidFill>
                  <a:srgbClr val="B80000"/>
                </a:solidFill>
                <a:latin typeface="+mj-lt"/>
              </a:rPr>
              <a:t> </a:t>
            </a:r>
            <a:r>
              <a:rPr lang="en-US" sz="3000" b="1" dirty="0" smtClean="0">
                <a:solidFill>
                  <a:srgbClr val="2F1BC7"/>
                </a:solidFill>
                <a:latin typeface="+mj-lt"/>
              </a:rPr>
              <a:t>derived class </a:t>
            </a:r>
            <a:r>
              <a:rPr lang="en-US" sz="3000" b="1" dirty="0" smtClean="0">
                <a:solidFill>
                  <a:srgbClr val="FF0000"/>
                </a:solidFill>
                <a:latin typeface="+mj-lt"/>
              </a:rPr>
              <a:t>must override </a:t>
            </a:r>
            <a:r>
              <a:rPr lang="en-US" sz="3000" b="1" dirty="0" smtClean="0">
                <a:latin typeface="+mj-lt"/>
              </a:rPr>
              <a:t>all base-class </a:t>
            </a:r>
            <a:r>
              <a:rPr lang="en-US" sz="3000" b="1" dirty="0" smtClean="0">
                <a:solidFill>
                  <a:srgbClr val="2C14DE"/>
                </a:solidFill>
                <a:latin typeface="+mj-lt"/>
              </a:rPr>
              <a:t>pure</a:t>
            </a:r>
            <a:r>
              <a:rPr lang="en-US" sz="3000" b="1" dirty="0" smtClean="0">
                <a:latin typeface="+mj-lt"/>
              </a:rPr>
              <a:t> </a:t>
            </a:r>
            <a:r>
              <a:rPr lang="en-US" sz="3000" b="1" dirty="0" smtClean="0">
                <a:solidFill>
                  <a:srgbClr val="2C14DE"/>
                </a:solidFill>
                <a:latin typeface="+mj-lt"/>
              </a:rPr>
              <a:t>virtual functions</a:t>
            </a:r>
          </a:p>
          <a:p>
            <a:pPr lvl="1">
              <a:lnSpc>
                <a:spcPct val="90000"/>
              </a:lnSpc>
            </a:pPr>
            <a:r>
              <a:rPr lang="en-US" sz="3000" dirty="0" smtClean="0"/>
              <a:t>with concrete implementations</a:t>
            </a:r>
          </a:p>
          <a:p>
            <a:pPr lvl="2">
              <a:lnSpc>
                <a:spcPct val="90000"/>
              </a:lnSpc>
            </a:pPr>
            <a:endParaRPr lang="en-US" sz="2000" dirty="0" smtClean="0"/>
          </a:p>
          <a:p>
            <a:pPr>
              <a:lnSpc>
                <a:spcPct val="90000"/>
              </a:lnSpc>
            </a:pPr>
            <a:r>
              <a:rPr lang="en-US" sz="3000" dirty="0" smtClean="0"/>
              <a:t>If </a:t>
            </a:r>
            <a:r>
              <a:rPr lang="en-US" sz="3000" b="1" u="sng" dirty="0" smtClean="0">
                <a:solidFill>
                  <a:srgbClr val="FF0000"/>
                </a:solidFill>
              </a:rPr>
              <a:t>even one pure virtual function is not overridden</a:t>
            </a:r>
            <a:endParaRPr lang="en-US" sz="3000" dirty="0"/>
          </a:p>
          <a:p>
            <a:pPr lvl="1">
              <a:lnSpc>
                <a:spcPct val="90000"/>
              </a:lnSpc>
            </a:pPr>
            <a:r>
              <a:rPr lang="en-US" sz="3000" dirty="0" smtClean="0"/>
              <a:t>the </a:t>
            </a:r>
            <a:r>
              <a:rPr lang="en-US" sz="3000" b="1" dirty="0" smtClean="0">
                <a:solidFill>
                  <a:srgbClr val="2C14DE"/>
                </a:solidFill>
              </a:rPr>
              <a:t>derived-class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smtClean="0"/>
              <a:t>will also be </a:t>
            </a:r>
            <a:r>
              <a:rPr lang="en-US" sz="3000" b="1" dirty="0" smtClean="0">
                <a:solidFill>
                  <a:srgbClr val="2C14DE"/>
                </a:solidFill>
              </a:rPr>
              <a:t>abstract</a:t>
            </a:r>
          </a:p>
          <a:p>
            <a:pPr lvl="1">
              <a:lnSpc>
                <a:spcPct val="90000"/>
              </a:lnSpc>
            </a:pPr>
            <a:r>
              <a:rPr lang="en-US" sz="3000" b="1" dirty="0" smtClean="0">
                <a:solidFill>
                  <a:srgbClr val="2C14DE"/>
                </a:solidFill>
              </a:rPr>
              <a:t>Compiler</a:t>
            </a:r>
            <a:r>
              <a:rPr lang="en-US" sz="3000" dirty="0" smtClean="0">
                <a:solidFill>
                  <a:srgbClr val="2C14DE"/>
                </a:solidFill>
              </a:rPr>
              <a:t> </a:t>
            </a:r>
            <a:r>
              <a:rPr lang="en-US" sz="3000" b="1" dirty="0" smtClean="0"/>
              <a:t>will </a:t>
            </a:r>
            <a:r>
              <a:rPr lang="en-US" sz="3000" b="1" dirty="0" smtClean="0">
                <a:solidFill>
                  <a:srgbClr val="2C14DE"/>
                </a:solidFill>
              </a:rPr>
              <a:t>refuse</a:t>
            </a:r>
            <a:r>
              <a:rPr lang="en-US" sz="3000" b="1" dirty="0" smtClean="0"/>
              <a:t> to create any </a:t>
            </a:r>
            <a:r>
              <a:rPr lang="en-US" sz="3000" b="1" dirty="0" smtClean="0">
                <a:solidFill>
                  <a:srgbClr val="2C14DE"/>
                </a:solidFill>
              </a:rPr>
              <a:t>objects</a:t>
            </a:r>
            <a:r>
              <a:rPr lang="en-US" sz="3000" b="1" dirty="0" smtClean="0"/>
              <a:t> </a:t>
            </a:r>
            <a:r>
              <a:rPr lang="en-US" sz="3000" dirty="0" smtClean="0"/>
              <a:t>of the </a:t>
            </a:r>
            <a:r>
              <a:rPr lang="en-US" sz="3000" b="1" dirty="0" smtClean="0"/>
              <a:t>class</a:t>
            </a:r>
          </a:p>
          <a:p>
            <a:pPr lvl="1">
              <a:lnSpc>
                <a:spcPct val="90000"/>
              </a:lnSpc>
            </a:pPr>
            <a:endParaRPr lang="en-US" sz="3000" b="1" dirty="0" smtClean="0">
              <a:solidFill>
                <a:srgbClr val="2C14DE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3000" b="1" dirty="0" smtClean="0">
                <a:solidFill>
                  <a:srgbClr val="008000"/>
                </a:solidFill>
              </a:rPr>
              <a:t>However</a:t>
            </a:r>
            <a:r>
              <a:rPr lang="en-US" sz="3000" b="1" dirty="0" smtClean="0"/>
              <a:t>,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smtClean="0"/>
              <a:t>we </a:t>
            </a:r>
            <a:r>
              <a:rPr lang="en-US" sz="3000" b="1" dirty="0" smtClean="0">
                <a:solidFill>
                  <a:srgbClr val="008000"/>
                </a:solidFill>
              </a:rPr>
              <a:t>can</a:t>
            </a:r>
            <a:r>
              <a:rPr lang="en-US" sz="3000" b="1" dirty="0" smtClean="0"/>
              <a:t> </a:t>
            </a:r>
            <a:r>
              <a:rPr lang="en-US" sz="3000" b="1" dirty="0" smtClean="0">
                <a:solidFill>
                  <a:srgbClr val="008000"/>
                </a:solidFill>
              </a:rPr>
              <a:t>create</a:t>
            </a:r>
            <a:r>
              <a:rPr lang="en-US" sz="3000" b="1" dirty="0" smtClean="0"/>
              <a:t> </a:t>
            </a:r>
            <a:r>
              <a:rPr lang="en-US" sz="3000" b="1" dirty="0" smtClean="0">
                <a:solidFill>
                  <a:srgbClr val="FF0000"/>
                </a:solidFill>
              </a:rPr>
              <a:t>Pointers</a:t>
            </a:r>
            <a:r>
              <a:rPr lang="en-US" sz="3000" dirty="0" smtClean="0">
                <a:solidFill>
                  <a:srgbClr val="FF0000"/>
                </a:solidFill>
              </a:rPr>
              <a:t> </a:t>
            </a:r>
            <a:r>
              <a:rPr lang="en-US" sz="3000" dirty="0"/>
              <a:t>and </a:t>
            </a:r>
            <a:r>
              <a:rPr lang="en-US" sz="3000" b="1" dirty="0">
                <a:solidFill>
                  <a:srgbClr val="FF0000"/>
                </a:solidFill>
              </a:rPr>
              <a:t>references</a:t>
            </a:r>
            <a:r>
              <a:rPr lang="en-US" sz="3000" dirty="0">
                <a:solidFill>
                  <a:srgbClr val="FF0000"/>
                </a:solidFill>
              </a:rPr>
              <a:t> </a:t>
            </a:r>
            <a:r>
              <a:rPr lang="en-US" sz="3000" dirty="0" smtClean="0"/>
              <a:t>of </a:t>
            </a:r>
            <a:r>
              <a:rPr lang="en-US" sz="3000" b="1" dirty="0" smtClean="0"/>
              <a:t>abstract classes</a:t>
            </a:r>
            <a:r>
              <a:rPr lang="en-US" sz="3000" b="1" dirty="0" smtClean="0">
                <a:solidFill>
                  <a:srgbClr val="2C14DE"/>
                </a:solidFill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sz="3000" b="1" dirty="0" smtClean="0"/>
              <a:t>To </a:t>
            </a:r>
            <a:r>
              <a:rPr lang="en-US" sz="3000" b="1" dirty="0" smtClean="0">
                <a:solidFill>
                  <a:srgbClr val="2C14DE"/>
                </a:solidFill>
              </a:rPr>
              <a:t>point</a:t>
            </a:r>
            <a:r>
              <a:rPr lang="en-US" sz="3000" b="1" dirty="0" smtClean="0"/>
              <a:t> or </a:t>
            </a:r>
            <a:r>
              <a:rPr lang="en-US" sz="3000" b="1" dirty="0" smtClean="0">
                <a:solidFill>
                  <a:srgbClr val="2C14DE"/>
                </a:solidFill>
              </a:rPr>
              <a:t>refer</a:t>
            </a:r>
            <a:r>
              <a:rPr lang="en-US" sz="3000" b="1" dirty="0" smtClean="0"/>
              <a:t> the </a:t>
            </a:r>
            <a:r>
              <a:rPr lang="en-US" sz="3000" b="1" dirty="0" smtClean="0">
                <a:solidFill>
                  <a:srgbClr val="2C14DE"/>
                </a:solidFill>
              </a:rPr>
              <a:t>derived class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9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>
          <a:xfrm>
            <a:off x="969066" y="84667"/>
            <a:ext cx="8153400" cy="829733"/>
          </a:xfrm>
        </p:spPr>
        <p:txBody>
          <a:bodyPr/>
          <a:lstStyle/>
          <a:p>
            <a:r>
              <a:rPr lang="en-US" b="1" dirty="0" smtClean="0">
                <a:solidFill>
                  <a:srgbClr val="B80000"/>
                </a:solidFill>
              </a:rPr>
              <a:t>Why we need abstract classes?</a:t>
            </a:r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8991600" cy="5638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3000" dirty="0" smtClean="0"/>
              <a:t>To define a </a:t>
            </a:r>
            <a:r>
              <a:rPr lang="en-US" sz="3000" b="1" u="sng" dirty="0" smtClean="0">
                <a:solidFill>
                  <a:srgbClr val="B80000"/>
                </a:solidFill>
              </a:rPr>
              <a:t>common public interface</a:t>
            </a:r>
            <a:r>
              <a:rPr lang="en-US" sz="3000" b="1" dirty="0" smtClean="0">
                <a:solidFill>
                  <a:srgbClr val="B80000"/>
                </a:solidFill>
              </a:rPr>
              <a:t> </a:t>
            </a:r>
            <a:r>
              <a:rPr lang="en-US" sz="3000" dirty="0" smtClean="0"/>
              <a:t>in a </a:t>
            </a:r>
            <a:r>
              <a:rPr lang="en-US" sz="3000" b="1" dirty="0" smtClean="0">
                <a:solidFill>
                  <a:srgbClr val="B80000"/>
                </a:solidFill>
              </a:rPr>
              <a:t>class hierarchy</a:t>
            </a:r>
          </a:p>
          <a:p>
            <a:pPr lvl="1">
              <a:lnSpc>
                <a:spcPct val="90000"/>
              </a:lnSpc>
            </a:pPr>
            <a:r>
              <a:rPr lang="en-US" sz="3000" b="1" dirty="0" smtClean="0"/>
              <a:t>To </a:t>
            </a:r>
            <a:r>
              <a:rPr lang="en-US" sz="3000" b="1" dirty="0" smtClean="0">
                <a:solidFill>
                  <a:srgbClr val="2C14DE"/>
                </a:solidFill>
              </a:rPr>
              <a:t>create</a:t>
            </a:r>
            <a:r>
              <a:rPr lang="en-US" sz="3000" b="1" dirty="0" smtClean="0"/>
              <a:t> </a:t>
            </a:r>
            <a:r>
              <a:rPr lang="en-US" sz="3000" b="1" dirty="0" smtClean="0">
                <a:solidFill>
                  <a:srgbClr val="2C14DE"/>
                </a:solidFill>
              </a:rPr>
              <a:t>Abstraction Framework </a:t>
            </a:r>
            <a:r>
              <a:rPr lang="en-US" sz="3000" b="1" dirty="0" smtClean="0"/>
              <a:t>(in our software system)</a:t>
            </a:r>
          </a:p>
          <a:p>
            <a:pPr lvl="2">
              <a:lnSpc>
                <a:spcPct val="90000"/>
              </a:lnSpc>
            </a:pPr>
            <a:endParaRPr lang="en-US" sz="3000" dirty="0" smtClean="0"/>
          </a:p>
          <a:p>
            <a:pPr>
              <a:lnSpc>
                <a:spcPct val="90000"/>
              </a:lnSpc>
            </a:pPr>
            <a:r>
              <a:rPr lang="en-US" sz="3000" dirty="0" smtClean="0"/>
              <a:t>It is a </a:t>
            </a:r>
            <a:r>
              <a:rPr lang="en-US" sz="3000" b="1" dirty="0" smtClean="0">
                <a:solidFill>
                  <a:srgbClr val="2C14DE"/>
                </a:solidFill>
              </a:rPr>
              <a:t>core feature </a:t>
            </a:r>
            <a:r>
              <a:rPr lang="en-US" sz="3000" dirty="0" smtClean="0"/>
              <a:t>of </a:t>
            </a:r>
            <a:r>
              <a:rPr lang="en-US" sz="3000" b="1" dirty="0" smtClean="0">
                <a:solidFill>
                  <a:srgbClr val="2C14DE"/>
                </a:solidFill>
              </a:rPr>
              <a:t>Object-Oriented Design</a:t>
            </a:r>
          </a:p>
          <a:p>
            <a:pPr lvl="2">
              <a:lnSpc>
                <a:spcPct val="90000"/>
              </a:lnSpc>
            </a:pPr>
            <a:endParaRPr lang="en-US" sz="3000" dirty="0" smtClean="0"/>
          </a:p>
          <a:p>
            <a:pPr>
              <a:lnSpc>
                <a:spcPct val="90000"/>
              </a:lnSpc>
            </a:pPr>
            <a:r>
              <a:rPr lang="en-US" sz="3000" b="1" dirty="0" smtClean="0">
                <a:solidFill>
                  <a:srgbClr val="C00000"/>
                </a:solidFill>
              </a:rPr>
              <a:t>Simplifies</a:t>
            </a:r>
            <a:r>
              <a:rPr lang="en-US" sz="3000" dirty="0" smtClean="0">
                <a:solidFill>
                  <a:srgbClr val="C00000"/>
                </a:solidFill>
              </a:rPr>
              <a:t> </a:t>
            </a:r>
            <a:r>
              <a:rPr lang="en-US" sz="3000" b="1" dirty="0" smtClean="0"/>
              <a:t>development of </a:t>
            </a:r>
            <a:r>
              <a:rPr lang="en-US" sz="3000" b="1" dirty="0" smtClean="0">
                <a:solidFill>
                  <a:srgbClr val="C00000"/>
                </a:solidFill>
              </a:rPr>
              <a:t>big software systems</a:t>
            </a:r>
          </a:p>
          <a:p>
            <a:pPr lvl="2">
              <a:lnSpc>
                <a:spcPct val="90000"/>
              </a:lnSpc>
            </a:pPr>
            <a:r>
              <a:rPr lang="en-US" sz="3000" b="1" dirty="0" smtClean="0">
                <a:solidFill>
                  <a:srgbClr val="008000"/>
                </a:solidFill>
              </a:rPr>
              <a:t>Enables</a:t>
            </a:r>
            <a:r>
              <a:rPr lang="en-US" sz="3000" dirty="0" smtClean="0">
                <a:solidFill>
                  <a:srgbClr val="008000"/>
                </a:solidFill>
              </a:rPr>
              <a:t> </a:t>
            </a:r>
            <a:r>
              <a:rPr lang="en-US" sz="3000" b="1" dirty="0" smtClean="0">
                <a:solidFill>
                  <a:srgbClr val="2C14DE"/>
                </a:solidFill>
              </a:rPr>
              <a:t>code</a:t>
            </a:r>
            <a:r>
              <a:rPr lang="en-US" sz="3000" dirty="0" smtClean="0">
                <a:solidFill>
                  <a:srgbClr val="2C14DE"/>
                </a:solidFill>
              </a:rPr>
              <a:t> </a:t>
            </a:r>
            <a:r>
              <a:rPr lang="en-US" sz="3000" b="1" dirty="0" smtClean="0">
                <a:solidFill>
                  <a:srgbClr val="2C14DE"/>
                </a:solidFill>
              </a:rPr>
              <a:t>re-use</a:t>
            </a:r>
            <a:r>
              <a:rPr lang="en-US" sz="3000" dirty="0" smtClean="0">
                <a:solidFill>
                  <a:srgbClr val="2C14DE"/>
                </a:solidFill>
              </a:rPr>
              <a:t>, </a:t>
            </a:r>
            <a:r>
              <a:rPr lang="en-US" sz="3000" b="1" dirty="0" smtClean="0">
                <a:solidFill>
                  <a:srgbClr val="2C14DE"/>
                </a:solidFill>
              </a:rPr>
              <a:t>Readable</a:t>
            </a:r>
            <a:r>
              <a:rPr lang="en-US" sz="3000" dirty="0" smtClean="0"/>
              <a:t>, </a:t>
            </a:r>
            <a:r>
              <a:rPr lang="en-US" sz="3000" b="1" dirty="0" smtClean="0">
                <a:solidFill>
                  <a:srgbClr val="2C14DE"/>
                </a:solidFill>
              </a:rPr>
              <a:t>maintainable</a:t>
            </a:r>
            <a:r>
              <a:rPr lang="en-US" sz="3000" dirty="0" smtClean="0"/>
              <a:t>, </a:t>
            </a:r>
            <a:r>
              <a:rPr lang="en-US" sz="3000" b="1" dirty="0" smtClean="0">
                <a:solidFill>
                  <a:srgbClr val="2C14DE"/>
                </a:solidFill>
              </a:rPr>
              <a:t>adaptable</a:t>
            </a:r>
            <a:r>
              <a:rPr lang="en-US" sz="3000" b="1" dirty="0" smtClean="0"/>
              <a:t>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9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>
          <a:xfrm>
            <a:off x="969066" y="84667"/>
            <a:ext cx="8153400" cy="829733"/>
          </a:xfrm>
        </p:spPr>
        <p:txBody>
          <a:bodyPr/>
          <a:lstStyle/>
          <a:p>
            <a:r>
              <a:rPr lang="en-US" b="1" dirty="0" smtClean="0">
                <a:solidFill>
                  <a:srgbClr val="B80000"/>
                </a:solidFill>
              </a:rPr>
              <a:t>Why we need abstract classes?</a:t>
            </a:r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8991600" cy="5638800"/>
          </a:xfrm>
        </p:spPr>
        <p:txBody>
          <a:bodyPr/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C++ programming, sometimes inheritance is used only for the better visualization of data and you do not need to create any object of base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such case, you can declare a abstract class. If you try to create object of a abstract class, compiler shows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Keep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simple and make life easier for a C++ programmer.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4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914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Case Study: Payroll System Using Polymorphism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70066" cy="5715000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Create a </a:t>
            </a:r>
            <a:r>
              <a:rPr lang="en-US" b="1" u="sng" dirty="0" smtClean="0">
                <a:solidFill>
                  <a:srgbClr val="FF0000"/>
                </a:solidFill>
              </a:rPr>
              <a:t>payroll program</a:t>
            </a:r>
          </a:p>
          <a:p>
            <a:pPr lvl="1" eaLnBrk="1" hangingPunct="1"/>
            <a:r>
              <a:rPr lang="en-US" dirty="0" smtClean="0"/>
              <a:t>Use </a:t>
            </a:r>
            <a:r>
              <a:rPr lang="en-US" b="1" dirty="0" smtClean="0"/>
              <a:t>virtual functions </a:t>
            </a:r>
            <a:r>
              <a:rPr lang="en-US" dirty="0" smtClean="0"/>
              <a:t>and </a:t>
            </a:r>
            <a:r>
              <a:rPr lang="en-US" b="1" dirty="0" smtClean="0"/>
              <a:t>polymorphism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b="1" u="sng" dirty="0" smtClean="0"/>
              <a:t>Problem statement</a:t>
            </a:r>
          </a:p>
          <a:p>
            <a:pPr lvl="1" eaLnBrk="1" hangingPunct="1"/>
            <a:r>
              <a:rPr lang="en-US" b="1" dirty="0" smtClean="0">
                <a:solidFill>
                  <a:srgbClr val="2F1BC7"/>
                </a:solidFill>
              </a:rPr>
              <a:t>4 types of employees</a:t>
            </a:r>
            <a:r>
              <a:rPr lang="en-US" dirty="0" smtClean="0"/>
              <a:t>, </a:t>
            </a:r>
            <a:r>
              <a:rPr lang="en-US" b="1" dirty="0" smtClean="0"/>
              <a:t>paid weekly:</a:t>
            </a:r>
          </a:p>
          <a:p>
            <a:pPr marL="1371600" lvl="2" indent="-457200" eaLnBrk="1" hangingPunct="1">
              <a:buFont typeface="+mj-lt"/>
              <a:buAutoNum type="arabicPeriod"/>
            </a:pPr>
            <a:r>
              <a:rPr lang="en-US" sz="2800" b="1" dirty="0" smtClean="0">
                <a:solidFill>
                  <a:srgbClr val="008000"/>
                </a:solidFill>
              </a:rPr>
              <a:t>Salaried</a:t>
            </a:r>
            <a:r>
              <a:rPr lang="en-US" sz="2800" b="1" dirty="0" smtClean="0"/>
              <a:t> (fixed salary, no matter the hours)</a:t>
            </a:r>
          </a:p>
          <a:p>
            <a:pPr marL="1371600" lvl="2" indent="-457200" eaLnBrk="1" hangingPunct="1">
              <a:buFont typeface="+mj-lt"/>
              <a:buAutoNum type="arabicPeriod"/>
            </a:pPr>
            <a:r>
              <a:rPr lang="en-US" sz="2800" b="1" dirty="0" smtClean="0">
                <a:solidFill>
                  <a:srgbClr val="008000"/>
                </a:solidFill>
              </a:rPr>
              <a:t>Hourly workers</a:t>
            </a:r>
          </a:p>
          <a:p>
            <a:pPr marL="1371600" lvl="2" indent="-457200" eaLnBrk="1" hangingPunct="1">
              <a:buFont typeface="+mj-lt"/>
              <a:buAutoNum type="arabicPeriod"/>
            </a:pPr>
            <a:r>
              <a:rPr lang="en-US" sz="2800" b="1" dirty="0" smtClean="0">
                <a:solidFill>
                  <a:srgbClr val="008000"/>
                </a:solidFill>
              </a:rPr>
              <a:t>Commission</a:t>
            </a:r>
            <a:r>
              <a:rPr lang="en-US" sz="2800" b="1" dirty="0" smtClean="0"/>
              <a:t> (paid percentage of sales)</a:t>
            </a:r>
          </a:p>
          <a:p>
            <a:pPr marL="1371600" lvl="2" indent="-457200" eaLnBrk="1" hangingPunct="1">
              <a:buFont typeface="+mj-lt"/>
              <a:buAutoNum type="arabicPeriod"/>
            </a:pPr>
            <a:r>
              <a:rPr lang="en-US" sz="2800" b="1" dirty="0" smtClean="0">
                <a:solidFill>
                  <a:srgbClr val="008000"/>
                </a:solidFill>
              </a:rPr>
              <a:t>Base-plus-commission</a:t>
            </a:r>
            <a:r>
              <a:rPr lang="en-US" sz="2800" b="1" dirty="0" smtClean="0"/>
              <a:t> (base salary + percentage of sales)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5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914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Case Study: Payroll System Using Polymorphism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70066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Design a payroll system using </a:t>
            </a:r>
            <a:r>
              <a:rPr lang="en-US" b="1" dirty="0"/>
              <a:t>Object-Oriented Programming (OOP)</a:t>
            </a:r>
            <a:r>
              <a:rPr lang="en-US" dirty="0"/>
              <a:t> principles in C++ to handle different types of employees</a:t>
            </a:r>
            <a:r>
              <a:rPr lang="en-US" dirty="0" smtClean="0"/>
              <a:t>:</a:t>
            </a:r>
          </a:p>
          <a:p>
            <a:r>
              <a:rPr lang="en-US" sz="3500" b="1" dirty="0"/>
              <a:t>Employee Types</a:t>
            </a:r>
            <a:r>
              <a:rPr lang="en-US" sz="3500" b="1" dirty="0" smtClean="0"/>
              <a:t>:</a:t>
            </a:r>
          </a:p>
          <a:p>
            <a:pPr lvl="1"/>
            <a:r>
              <a:rPr lang="en-US" sz="3000" dirty="0" smtClean="0"/>
              <a:t>Salaried </a:t>
            </a:r>
            <a:r>
              <a:rPr lang="en-US" sz="3000" dirty="0"/>
              <a:t>Employee: </a:t>
            </a:r>
            <a:r>
              <a:rPr lang="en-US" sz="3000" dirty="0" smtClean="0"/>
              <a:t>Fixed </a:t>
            </a:r>
            <a:r>
              <a:rPr lang="en-US" sz="3000" dirty="0"/>
              <a:t>weekly salary</a:t>
            </a:r>
            <a:r>
              <a:rPr lang="en-US" sz="3000" dirty="0" smtClean="0"/>
              <a:t>.</a:t>
            </a:r>
          </a:p>
          <a:p>
            <a:pPr lvl="1"/>
            <a:r>
              <a:rPr lang="en-US" sz="3000" dirty="0" smtClean="0"/>
              <a:t>Hourly </a:t>
            </a:r>
            <a:r>
              <a:rPr lang="en-US" sz="3000" dirty="0"/>
              <a:t>Worker: Paid based on hours worked (valid range: 0–168</a:t>
            </a:r>
            <a:r>
              <a:rPr lang="en-US" sz="3000" dirty="0" smtClean="0"/>
              <a:t>).</a:t>
            </a:r>
          </a:p>
          <a:p>
            <a:pPr lvl="1"/>
            <a:r>
              <a:rPr lang="en-US" sz="3000" dirty="0" smtClean="0"/>
              <a:t>Commission </a:t>
            </a:r>
            <a:r>
              <a:rPr lang="en-US" sz="3000" dirty="0"/>
              <a:t>Worker: Earns commission per item sold</a:t>
            </a:r>
            <a:r>
              <a:rPr lang="en-US" sz="3000" dirty="0" smtClean="0"/>
              <a:t>.</a:t>
            </a:r>
          </a:p>
          <a:p>
            <a:pPr lvl="1"/>
            <a:r>
              <a:rPr lang="en-US" sz="3000" dirty="0" smtClean="0"/>
              <a:t>Base-Plus-Commission </a:t>
            </a:r>
            <a:r>
              <a:rPr lang="en-US" sz="3000" dirty="0"/>
              <a:t>Employee: Commission worker with an additional base </a:t>
            </a:r>
            <a:r>
              <a:rPr lang="en-US" sz="3000" dirty="0" smtClean="0"/>
              <a:t>salary.</a:t>
            </a:r>
          </a:p>
          <a:p>
            <a:r>
              <a:rPr lang="en-US" b="1" dirty="0" smtClean="0"/>
              <a:t>Abstract </a:t>
            </a:r>
            <a:r>
              <a:rPr lang="en-US" b="1" dirty="0"/>
              <a:t>Base Class (Employee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smtClean="0"/>
              <a:t>Common </a:t>
            </a:r>
            <a:r>
              <a:rPr lang="en-US" dirty="0"/>
              <a:t>attributes: </a:t>
            </a:r>
            <a:r>
              <a:rPr lang="en-US" dirty="0" err="1"/>
              <a:t>firstName</a:t>
            </a:r>
            <a:r>
              <a:rPr lang="en-US" dirty="0"/>
              <a:t> and </a:t>
            </a:r>
            <a:r>
              <a:rPr lang="en-US" dirty="0" err="1"/>
              <a:t>lastName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Pure </a:t>
            </a:r>
            <a:r>
              <a:rPr lang="en-US" dirty="0"/>
              <a:t>virtual functions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earnings</a:t>
            </a:r>
            <a:r>
              <a:rPr lang="en-US" dirty="0"/>
              <a:t>(): </a:t>
            </a:r>
            <a:r>
              <a:rPr lang="en-US" dirty="0" smtClean="0"/>
              <a:t>Calculates </a:t>
            </a:r>
            <a:r>
              <a:rPr lang="en-US" dirty="0"/>
              <a:t>salary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print</a:t>
            </a:r>
            <a:r>
              <a:rPr lang="en-US" dirty="0"/>
              <a:t>(): </a:t>
            </a:r>
            <a:r>
              <a:rPr lang="en-US" dirty="0" smtClean="0"/>
              <a:t>Displays </a:t>
            </a:r>
            <a:r>
              <a:rPr lang="en-US" dirty="0"/>
              <a:t>employee details.</a:t>
            </a: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2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914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Case Study: Payroll System Using Polymorphism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70066" cy="5715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Derived Classes</a:t>
            </a:r>
            <a:r>
              <a:rPr lang="en-US" b="1" dirty="0" smtClean="0"/>
              <a:t>:</a:t>
            </a:r>
          </a:p>
          <a:p>
            <a:pPr lvl="1"/>
            <a:r>
              <a:rPr lang="en-US" dirty="0" smtClean="0"/>
              <a:t>Implement </a:t>
            </a:r>
            <a:r>
              <a:rPr lang="en-US" dirty="0"/>
              <a:t>specific payment </a:t>
            </a:r>
            <a:r>
              <a:rPr lang="en-US" dirty="0" smtClean="0"/>
              <a:t>structures for:</a:t>
            </a:r>
          </a:p>
          <a:p>
            <a:pPr lvl="2"/>
            <a:r>
              <a:rPr lang="en-US" dirty="0" err="1" smtClean="0"/>
              <a:t>SalariedEmployee</a:t>
            </a:r>
            <a:endParaRPr lang="en-US" dirty="0" smtClean="0"/>
          </a:p>
          <a:p>
            <a:pPr lvl="2"/>
            <a:r>
              <a:rPr lang="en-US" dirty="0" err="1" smtClean="0"/>
              <a:t>HourlyWorker</a:t>
            </a:r>
            <a:endParaRPr lang="en-US" dirty="0" smtClean="0"/>
          </a:p>
          <a:p>
            <a:pPr lvl="2"/>
            <a:r>
              <a:rPr lang="en-US" dirty="0" err="1" smtClean="0"/>
              <a:t>CommissionWorker</a:t>
            </a:r>
            <a:endParaRPr lang="en-US" dirty="0" smtClean="0"/>
          </a:p>
          <a:p>
            <a:pPr lvl="2"/>
            <a:r>
              <a:rPr lang="en-US" dirty="0" err="1" smtClean="0"/>
              <a:t>BasePlusCommissionEmployee</a:t>
            </a:r>
            <a:endParaRPr lang="en-US" dirty="0" smtClean="0"/>
          </a:p>
          <a:p>
            <a:pPr lvl="1"/>
            <a:r>
              <a:rPr lang="en-US" dirty="0" smtClean="0"/>
              <a:t>Validate </a:t>
            </a:r>
            <a:r>
              <a:rPr lang="en-US" dirty="0"/>
              <a:t>inputs (e.g., non-negative values, valid hours</a:t>
            </a:r>
            <a:r>
              <a:rPr lang="en-US" dirty="0" smtClean="0"/>
              <a:t>).</a:t>
            </a:r>
          </a:p>
          <a:p>
            <a:r>
              <a:rPr lang="en-US" b="1" dirty="0" smtClean="0"/>
              <a:t>Program </a:t>
            </a:r>
            <a:r>
              <a:rPr lang="en-US" b="1" dirty="0"/>
              <a:t>Requirements</a:t>
            </a:r>
            <a:r>
              <a:rPr lang="en-US" b="1" dirty="0" smtClean="0"/>
              <a:t>:</a:t>
            </a:r>
          </a:p>
          <a:p>
            <a:pPr lvl="1"/>
            <a:r>
              <a:rPr lang="en-US" dirty="0" smtClean="0"/>
              <a:t>Create </a:t>
            </a:r>
            <a:r>
              <a:rPr lang="en-US" dirty="0"/>
              <a:t>instances of each employee type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Store </a:t>
            </a:r>
            <a:r>
              <a:rPr lang="en-US" dirty="0"/>
              <a:t>objects in an array of Employee</a:t>
            </a:r>
            <a:r>
              <a:rPr lang="en-US" dirty="0" smtClean="0"/>
              <a:t>*.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a loop to process and display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Employee </a:t>
            </a:r>
            <a:r>
              <a:rPr lang="en-US" dirty="0"/>
              <a:t>details via print</a:t>
            </a:r>
            <a:r>
              <a:rPr lang="en-US" dirty="0" smtClean="0"/>
              <a:t>().</a:t>
            </a:r>
          </a:p>
          <a:p>
            <a:pPr lvl="2"/>
            <a:r>
              <a:rPr lang="en-US" dirty="0" smtClean="0"/>
              <a:t>Salary </a:t>
            </a:r>
            <a:r>
              <a:rPr lang="en-US" dirty="0"/>
              <a:t>via earnings().</a:t>
            </a:r>
            <a:endParaRPr lang="en-US" b="1" dirty="0" smtClean="0"/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6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857627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Case Study: Payroll System Using Polymorphism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66" y="1016892"/>
            <a:ext cx="9144000" cy="56388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Base class </a:t>
            </a:r>
            <a:r>
              <a:rPr lang="en-US" sz="2800" b="1" dirty="0" smtClean="0">
                <a:solidFill>
                  <a:srgbClr val="C00000"/>
                </a:solidFill>
                <a:latin typeface="Courier New" panose="02070309020205020404" pitchFamily="49" charset="0"/>
              </a:rPr>
              <a:t>Employee:</a:t>
            </a:r>
          </a:p>
          <a:p>
            <a:pPr lvl="1" eaLnBrk="1" hangingPunct="1"/>
            <a:r>
              <a:rPr lang="en-US" b="1" dirty="0" smtClean="0">
                <a:solidFill>
                  <a:srgbClr val="2F1BC7"/>
                </a:solidFill>
              </a:rPr>
              <a:t>Pure virtual function </a:t>
            </a:r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earnings</a:t>
            </a:r>
            <a:r>
              <a:rPr lang="en-US" dirty="0" smtClean="0">
                <a:solidFill>
                  <a:srgbClr val="008000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u="sng" dirty="0" smtClean="0"/>
              <a:t>returns pay</a:t>
            </a:r>
            <a:r>
              <a:rPr lang="en-US" dirty="0" smtClean="0"/>
              <a:t>)</a:t>
            </a:r>
          </a:p>
          <a:p>
            <a:pPr lvl="1" eaLnBrk="1" hangingPunct="1"/>
            <a:r>
              <a:rPr lang="en-US" b="1" dirty="0" smtClean="0"/>
              <a:t>Other </a:t>
            </a:r>
            <a:r>
              <a:rPr lang="en-US" b="1" dirty="0" smtClean="0">
                <a:solidFill>
                  <a:srgbClr val="2F1BC7"/>
                </a:solidFill>
              </a:rPr>
              <a:t>classes derive </a:t>
            </a:r>
            <a:r>
              <a:rPr lang="en-US" b="1" dirty="0" smtClean="0"/>
              <a:t>from </a:t>
            </a:r>
            <a:r>
              <a:rPr lang="en-US" b="1" dirty="0" smtClean="0">
                <a:solidFill>
                  <a:srgbClr val="C00000"/>
                </a:solidFill>
                <a:latin typeface="Courier New" panose="02070309020205020404" pitchFamily="49" charset="0"/>
              </a:rPr>
              <a:t>Employee</a:t>
            </a:r>
          </a:p>
          <a:p>
            <a:pPr lvl="2" eaLnBrk="1" hangingPunct="1"/>
            <a:endParaRPr lang="en-US" sz="1800" dirty="0" smtClean="0"/>
          </a:p>
        </p:txBody>
      </p:sp>
      <p:grpSp>
        <p:nvGrpSpPr>
          <p:cNvPr id="22532" name="Group 4"/>
          <p:cNvGrpSpPr>
            <a:grpSpLocks/>
          </p:cNvGrpSpPr>
          <p:nvPr/>
        </p:nvGrpSpPr>
        <p:grpSpPr bwMode="auto">
          <a:xfrm>
            <a:off x="664266" y="2895600"/>
            <a:ext cx="7848600" cy="2746375"/>
            <a:chOff x="0" y="0"/>
            <a:chExt cx="20000" cy="20000"/>
          </a:xfrm>
        </p:grpSpPr>
        <p:sp>
          <p:nvSpPr>
            <p:cNvPr id="2253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 sz="3200" b="1"/>
            </a:p>
          </p:txBody>
        </p:sp>
        <p:grpSp>
          <p:nvGrpSpPr>
            <p:cNvPr id="22534" name="Group 6"/>
            <p:cNvGrpSpPr>
              <a:grpSpLocks/>
            </p:cNvGrpSpPr>
            <p:nvPr/>
          </p:nvGrpSpPr>
          <p:grpSpPr bwMode="auto">
            <a:xfrm>
              <a:off x="1000" y="1367"/>
              <a:ext cx="18000" cy="17266"/>
              <a:chOff x="2" y="0"/>
              <a:chExt cx="19994" cy="20002"/>
            </a:xfrm>
          </p:grpSpPr>
          <p:sp>
            <p:nvSpPr>
              <p:cNvPr id="22535" name="Freeform 7"/>
              <p:cNvSpPr>
                <a:spLocks/>
              </p:cNvSpPr>
              <p:nvPr/>
            </p:nvSpPr>
            <p:spPr bwMode="auto">
              <a:xfrm>
                <a:off x="5188" y="3158"/>
                <a:ext cx="2715" cy="572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71"/>
                    </a:moveTo>
                    <a:lnTo>
                      <a:pt x="19977" y="0"/>
                    </a:lnTo>
                  </a:path>
                </a:pathLst>
              </a:custGeom>
              <a:solidFill>
                <a:srgbClr val="000000"/>
              </a:solidFill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 sz="3200" b="1"/>
              </a:p>
            </p:txBody>
          </p:sp>
          <p:grpSp>
            <p:nvGrpSpPr>
              <p:cNvPr id="22536" name="Group 8"/>
              <p:cNvGrpSpPr>
                <a:grpSpLocks/>
              </p:cNvGrpSpPr>
              <p:nvPr/>
            </p:nvGrpSpPr>
            <p:grpSpPr bwMode="auto">
              <a:xfrm>
                <a:off x="7283" y="0"/>
                <a:ext cx="5432" cy="3158"/>
                <a:chOff x="0" y="0"/>
                <a:chExt cx="20000" cy="20000"/>
              </a:xfrm>
            </p:grpSpPr>
            <p:grpSp>
              <p:nvGrpSpPr>
                <p:cNvPr id="22560" name="Group 9"/>
                <p:cNvGrpSpPr>
                  <a:grpSpLocks/>
                </p:cNvGrpSpPr>
                <p:nvPr/>
              </p:nvGrpSpPr>
              <p:grpSpPr bwMode="auto">
                <a:xfrm>
                  <a:off x="7" y="0"/>
                  <a:ext cx="19993" cy="20000"/>
                  <a:chOff x="0" y="0"/>
                  <a:chExt cx="20000" cy="20000"/>
                </a:xfrm>
              </p:grpSpPr>
              <p:sp>
                <p:nvSpPr>
                  <p:cNvPr id="22562" name="Freeform 10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89 w 20000"/>
                      <a:gd name="T1" fmla="*/ 0 h 20000"/>
                      <a:gd name="T2" fmla="*/ 19989 w 20000"/>
                      <a:gd name="T3" fmla="*/ 19947 h 20000"/>
                      <a:gd name="T4" fmla="*/ 0 w 20000"/>
                      <a:gd name="T5" fmla="*/ 19947 h 20000"/>
                      <a:gd name="T6" fmla="*/ 0 w 20000"/>
                      <a:gd name="T7" fmla="*/ 0 h 20000"/>
                      <a:gd name="T8" fmla="*/ 19989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9" y="0"/>
                        </a:moveTo>
                        <a:lnTo>
                          <a:pt x="19989" y="19947"/>
                        </a:lnTo>
                        <a:lnTo>
                          <a:pt x="0" y="19947"/>
                        </a:lnTo>
                        <a:lnTo>
                          <a:pt x="0" y="0"/>
                        </a:lnTo>
                        <a:lnTo>
                          <a:pt x="19989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2540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  <p:sp>
                <p:nvSpPr>
                  <p:cNvPr id="22563" name="Freeform 11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89 w 20000"/>
                      <a:gd name="T1" fmla="*/ 0 h 20000"/>
                      <a:gd name="T2" fmla="*/ 19989 w 20000"/>
                      <a:gd name="T3" fmla="*/ 19947 h 20000"/>
                      <a:gd name="T4" fmla="*/ 0 w 20000"/>
                      <a:gd name="T5" fmla="*/ 19947 h 20000"/>
                      <a:gd name="T6" fmla="*/ 0 w 20000"/>
                      <a:gd name="T7" fmla="*/ 0 h 20000"/>
                      <a:gd name="T8" fmla="*/ 19989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9" y="0"/>
                        </a:moveTo>
                        <a:lnTo>
                          <a:pt x="19989" y="19947"/>
                        </a:lnTo>
                        <a:lnTo>
                          <a:pt x="0" y="19947"/>
                        </a:lnTo>
                        <a:lnTo>
                          <a:pt x="0" y="0"/>
                        </a:lnTo>
                        <a:lnTo>
                          <a:pt x="19989" y="0"/>
                        </a:lnTo>
                        <a:close/>
                      </a:path>
                    </a:pathLst>
                  </a:custGeom>
                  <a:noFill/>
                  <a:ln w="254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</p:grpSp>
            <p:sp>
              <p:nvSpPr>
                <p:cNvPr id="22561" name="Rectangle 12"/>
                <p:cNvSpPr>
                  <a:spLocks noChangeArrowheads="1"/>
                </p:cNvSpPr>
                <p:nvPr/>
              </p:nvSpPr>
              <p:spPr bwMode="auto">
                <a:xfrm>
                  <a:off x="0" y="5972"/>
                  <a:ext cx="20000" cy="10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</a:pPr>
                  <a:r>
                    <a:rPr lang="en-US" sz="1400" b="1" noProof="1">
                      <a:solidFill>
                        <a:srgbClr val="000000"/>
                      </a:solidFill>
                      <a:latin typeface="Courier" charset="0"/>
                    </a:rPr>
                    <a:t>Employee</a:t>
                  </a:r>
                </a:p>
              </p:txBody>
            </p:sp>
          </p:grpSp>
          <p:grpSp>
            <p:nvGrpSpPr>
              <p:cNvPr id="22537" name="Group 13"/>
              <p:cNvGrpSpPr>
                <a:grpSpLocks/>
              </p:cNvGrpSpPr>
              <p:nvPr/>
            </p:nvGrpSpPr>
            <p:grpSpPr bwMode="auto">
              <a:xfrm>
                <a:off x="2" y="8885"/>
                <a:ext cx="5926" cy="3032"/>
                <a:chOff x="0" y="0"/>
                <a:chExt cx="20000" cy="20000"/>
              </a:xfrm>
            </p:grpSpPr>
            <p:grpSp>
              <p:nvGrpSpPr>
                <p:cNvPr id="22556" name="Group 14"/>
                <p:cNvGrpSpPr>
                  <a:grpSpLocks/>
                </p:cNvGrpSpPr>
                <p:nvPr/>
              </p:nvGrpSpPr>
              <p:grpSpPr bwMode="auto">
                <a:xfrm>
                  <a:off x="10" y="0"/>
                  <a:ext cx="19990" cy="20000"/>
                  <a:chOff x="0" y="0"/>
                  <a:chExt cx="20000" cy="20000"/>
                </a:xfrm>
              </p:grpSpPr>
              <p:sp>
                <p:nvSpPr>
                  <p:cNvPr id="22558" name="Freeform 15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90 w 20000"/>
                      <a:gd name="T1" fmla="*/ 0 h 20000"/>
                      <a:gd name="T2" fmla="*/ 19990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90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90" y="0"/>
                        </a:moveTo>
                        <a:lnTo>
                          <a:pt x="19990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90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2540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  <p:sp>
                <p:nvSpPr>
                  <p:cNvPr id="22559" name="Freeform 16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90 w 20000"/>
                      <a:gd name="T1" fmla="*/ 0 h 20000"/>
                      <a:gd name="T2" fmla="*/ 19990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90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90" y="0"/>
                        </a:moveTo>
                        <a:lnTo>
                          <a:pt x="19990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90" y="0"/>
                        </a:lnTo>
                        <a:close/>
                      </a:path>
                    </a:pathLst>
                  </a:custGeom>
                  <a:noFill/>
                  <a:ln w="254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</p:grpSp>
            <p:sp>
              <p:nvSpPr>
                <p:cNvPr id="22557" name="Rectangle 17"/>
                <p:cNvSpPr>
                  <a:spLocks noChangeArrowheads="1"/>
                </p:cNvSpPr>
                <p:nvPr/>
              </p:nvSpPr>
              <p:spPr bwMode="auto">
                <a:xfrm>
                  <a:off x="0" y="6003"/>
                  <a:ext cx="20000" cy="10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</a:pPr>
                  <a:r>
                    <a:rPr lang="en-US" sz="1400" b="1" noProof="1">
                      <a:solidFill>
                        <a:srgbClr val="000000"/>
                      </a:solidFill>
                      <a:latin typeface="Courier" charset="0"/>
                    </a:rPr>
                    <a:t>SalariedEmployee</a:t>
                  </a:r>
                </a:p>
              </p:txBody>
            </p:sp>
          </p:grpSp>
          <p:grpSp>
            <p:nvGrpSpPr>
              <p:cNvPr id="22538" name="Group 18"/>
              <p:cNvGrpSpPr>
                <a:grpSpLocks/>
              </p:cNvGrpSpPr>
              <p:nvPr/>
            </p:nvGrpSpPr>
            <p:grpSpPr bwMode="auto">
              <a:xfrm>
                <a:off x="14070" y="8885"/>
                <a:ext cx="5926" cy="3032"/>
                <a:chOff x="0" y="0"/>
                <a:chExt cx="20000" cy="20000"/>
              </a:xfrm>
            </p:grpSpPr>
            <p:grpSp>
              <p:nvGrpSpPr>
                <p:cNvPr id="22552" name="Group 19"/>
                <p:cNvGrpSpPr>
                  <a:grpSpLocks/>
                </p:cNvGrpSpPr>
                <p:nvPr/>
              </p:nvGrpSpPr>
              <p:grpSpPr bwMode="auto">
                <a:xfrm>
                  <a:off x="10" y="0"/>
                  <a:ext cx="19990" cy="20000"/>
                  <a:chOff x="0" y="0"/>
                  <a:chExt cx="20000" cy="20000"/>
                </a:xfrm>
              </p:grpSpPr>
              <p:sp>
                <p:nvSpPr>
                  <p:cNvPr id="22554" name="Freeform 20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90 w 20000"/>
                      <a:gd name="T1" fmla="*/ 0 h 20000"/>
                      <a:gd name="T2" fmla="*/ 19990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90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90" y="0"/>
                        </a:moveTo>
                        <a:lnTo>
                          <a:pt x="19990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90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2540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  <p:sp>
                <p:nvSpPr>
                  <p:cNvPr id="22555" name="Freeform 21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90 w 20000"/>
                      <a:gd name="T1" fmla="*/ 0 h 20000"/>
                      <a:gd name="T2" fmla="*/ 19990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90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90" y="0"/>
                        </a:moveTo>
                        <a:lnTo>
                          <a:pt x="19990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90" y="0"/>
                        </a:lnTo>
                        <a:close/>
                      </a:path>
                    </a:pathLst>
                  </a:custGeom>
                  <a:noFill/>
                  <a:ln w="254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</p:grpSp>
            <p:sp>
              <p:nvSpPr>
                <p:cNvPr id="22553" name="Rectangle 22"/>
                <p:cNvSpPr>
                  <a:spLocks noChangeArrowheads="1"/>
                </p:cNvSpPr>
                <p:nvPr/>
              </p:nvSpPr>
              <p:spPr bwMode="auto">
                <a:xfrm>
                  <a:off x="0" y="6003"/>
                  <a:ext cx="20000" cy="10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</a:pPr>
                  <a:r>
                    <a:rPr lang="en-US" sz="1400" b="1" noProof="1">
                      <a:solidFill>
                        <a:srgbClr val="000000"/>
                      </a:solidFill>
                      <a:latin typeface="Courier" charset="0"/>
                    </a:rPr>
                    <a:t>HourlyEmployee</a:t>
                  </a:r>
                </a:p>
              </p:txBody>
            </p:sp>
          </p:grpSp>
          <p:sp>
            <p:nvSpPr>
              <p:cNvPr id="22539" name="Freeform 23"/>
              <p:cNvSpPr>
                <a:spLocks/>
              </p:cNvSpPr>
              <p:nvPr/>
            </p:nvSpPr>
            <p:spPr bwMode="auto">
              <a:xfrm>
                <a:off x="12098" y="3158"/>
                <a:ext cx="2715" cy="572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19977" y="19971"/>
                    </a:move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 sz="3200" b="1"/>
              </a:p>
            </p:txBody>
          </p:sp>
          <p:sp>
            <p:nvSpPr>
              <p:cNvPr id="22540" name="Freeform 24"/>
              <p:cNvSpPr>
                <a:spLocks/>
              </p:cNvSpPr>
              <p:nvPr/>
            </p:nvSpPr>
            <p:spPr bwMode="auto">
              <a:xfrm>
                <a:off x="9998" y="11832"/>
                <a:ext cx="2" cy="513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67"/>
                    </a:move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 sz="3200" b="1"/>
              </a:p>
            </p:txBody>
          </p:sp>
          <p:grpSp>
            <p:nvGrpSpPr>
              <p:cNvPr id="22541" name="Group 25"/>
              <p:cNvGrpSpPr>
                <a:grpSpLocks/>
              </p:cNvGrpSpPr>
              <p:nvPr/>
            </p:nvGrpSpPr>
            <p:grpSpPr bwMode="auto">
              <a:xfrm>
                <a:off x="7035" y="8885"/>
                <a:ext cx="5928" cy="3032"/>
                <a:chOff x="0" y="0"/>
                <a:chExt cx="20000" cy="20000"/>
              </a:xfrm>
            </p:grpSpPr>
            <p:grpSp>
              <p:nvGrpSpPr>
                <p:cNvPr id="22548" name="Group 26"/>
                <p:cNvGrpSpPr>
                  <a:grpSpLocks/>
                </p:cNvGrpSpPr>
                <p:nvPr/>
              </p:nvGrpSpPr>
              <p:grpSpPr bwMode="auto">
                <a:xfrm>
                  <a:off x="13" y="0"/>
                  <a:ext cx="19987" cy="20000"/>
                  <a:chOff x="0" y="0"/>
                  <a:chExt cx="20000" cy="20000"/>
                </a:xfrm>
              </p:grpSpPr>
              <p:sp>
                <p:nvSpPr>
                  <p:cNvPr id="22550" name="Freeform 27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90 w 20000"/>
                      <a:gd name="T1" fmla="*/ 0 h 20000"/>
                      <a:gd name="T2" fmla="*/ 19990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90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90" y="0"/>
                        </a:moveTo>
                        <a:lnTo>
                          <a:pt x="19990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90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2540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  <p:sp>
                <p:nvSpPr>
                  <p:cNvPr id="22551" name="Freeform 28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90 w 20000"/>
                      <a:gd name="T1" fmla="*/ 0 h 20000"/>
                      <a:gd name="T2" fmla="*/ 19990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90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90" y="0"/>
                        </a:moveTo>
                        <a:lnTo>
                          <a:pt x="19990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90" y="0"/>
                        </a:lnTo>
                        <a:close/>
                      </a:path>
                    </a:pathLst>
                  </a:custGeom>
                  <a:noFill/>
                  <a:ln w="254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</p:grpSp>
            <p:sp>
              <p:nvSpPr>
                <p:cNvPr id="22549" name="Rectangle 29"/>
                <p:cNvSpPr>
                  <a:spLocks noChangeArrowheads="1"/>
                </p:cNvSpPr>
                <p:nvPr/>
              </p:nvSpPr>
              <p:spPr bwMode="auto">
                <a:xfrm>
                  <a:off x="0" y="6003"/>
                  <a:ext cx="20000" cy="10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</a:pPr>
                  <a:r>
                    <a:rPr lang="en-US" sz="1400" b="1" noProof="1">
                      <a:solidFill>
                        <a:srgbClr val="000000"/>
                      </a:solidFill>
                      <a:latin typeface="Courier" charset="0"/>
                    </a:rPr>
                    <a:t>CommissionEmployee</a:t>
                  </a:r>
                </a:p>
              </p:txBody>
            </p:sp>
          </p:grpSp>
          <p:sp>
            <p:nvSpPr>
              <p:cNvPr id="22542" name="Freeform 30"/>
              <p:cNvSpPr>
                <a:spLocks/>
              </p:cNvSpPr>
              <p:nvPr/>
            </p:nvSpPr>
            <p:spPr bwMode="auto">
              <a:xfrm>
                <a:off x="9998" y="3158"/>
                <a:ext cx="2" cy="572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71"/>
                    </a:move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 sz="3200" b="1"/>
              </a:p>
            </p:txBody>
          </p:sp>
          <p:grpSp>
            <p:nvGrpSpPr>
              <p:cNvPr id="22543" name="Group 31"/>
              <p:cNvGrpSpPr>
                <a:grpSpLocks/>
              </p:cNvGrpSpPr>
              <p:nvPr/>
            </p:nvGrpSpPr>
            <p:grpSpPr bwMode="auto">
              <a:xfrm>
                <a:off x="5678" y="16970"/>
                <a:ext cx="8642" cy="3032"/>
                <a:chOff x="0" y="0"/>
                <a:chExt cx="20000" cy="20000"/>
              </a:xfrm>
            </p:grpSpPr>
            <p:grpSp>
              <p:nvGrpSpPr>
                <p:cNvPr id="22544" name="Group 32"/>
                <p:cNvGrpSpPr>
                  <a:grpSpLocks/>
                </p:cNvGrpSpPr>
                <p:nvPr/>
              </p:nvGrpSpPr>
              <p:grpSpPr bwMode="auto">
                <a:xfrm>
                  <a:off x="7" y="0"/>
                  <a:ext cx="19993" cy="20000"/>
                  <a:chOff x="0" y="0"/>
                  <a:chExt cx="20000" cy="20000"/>
                </a:xfrm>
              </p:grpSpPr>
              <p:sp>
                <p:nvSpPr>
                  <p:cNvPr id="22546" name="Freeform 33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93 w 20000"/>
                      <a:gd name="T1" fmla="*/ 0 h 20000"/>
                      <a:gd name="T2" fmla="*/ 19993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93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93" y="0"/>
                        </a:moveTo>
                        <a:lnTo>
                          <a:pt x="19993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93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2540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  <p:sp>
                <p:nvSpPr>
                  <p:cNvPr id="22547" name="Freeform 34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93 w 20000"/>
                      <a:gd name="T1" fmla="*/ 0 h 20000"/>
                      <a:gd name="T2" fmla="*/ 19993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93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93" y="0"/>
                        </a:moveTo>
                        <a:lnTo>
                          <a:pt x="19993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93" y="0"/>
                        </a:lnTo>
                        <a:close/>
                      </a:path>
                    </a:pathLst>
                  </a:custGeom>
                  <a:noFill/>
                  <a:ln w="254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GB" sz="3200" b="1"/>
                  </a:p>
                </p:txBody>
              </p:sp>
            </p:grpSp>
            <p:sp>
              <p:nvSpPr>
                <p:cNvPr id="22545" name="Rectangle 35"/>
                <p:cNvSpPr>
                  <a:spLocks noChangeArrowheads="1"/>
                </p:cNvSpPr>
                <p:nvPr/>
              </p:nvSpPr>
              <p:spPr bwMode="auto">
                <a:xfrm>
                  <a:off x="0" y="6003"/>
                  <a:ext cx="20000" cy="10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</a:pPr>
                  <a:r>
                    <a:rPr lang="en-US" sz="1400" b="1" noProof="1">
                      <a:solidFill>
                        <a:srgbClr val="000000"/>
                      </a:solidFill>
                      <a:latin typeface="Courier" charset="0"/>
                    </a:rPr>
                    <a:t>BasePlusCommissionEmployee</a:t>
                  </a:r>
                </a:p>
              </p:txBody>
            </p:sp>
          </p:grpSp>
        </p:grpSp>
      </p:grpSp>
      <p:sp>
        <p:nvSpPr>
          <p:cNvPr id="36" name="Rectangle 35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8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8703"/>
            <a:ext cx="9067800" cy="8856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solidFill>
                  <a:srgbClr val="B80000"/>
                </a:solidFill>
                <a:latin typeface="Arial" panose="020B0604020202020204" pitchFamily="34" charset="0"/>
              </a:rPr>
              <a:t>Payroll System – Employee Class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930" y="1143000"/>
            <a:ext cx="811567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#include &lt;</a:t>
            </a:r>
            <a:r>
              <a:rPr lang="en-US" sz="2000" dirty="0" err="1">
                <a:latin typeface="Consolas" panose="020B0609020204030204" pitchFamily="49" charset="0"/>
              </a:rPr>
              <a:t>iostream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#include &lt;string&gt;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using namespace </a:t>
            </a:r>
            <a:r>
              <a:rPr lang="en-US" sz="2000" dirty="0" err="1">
                <a:latin typeface="Consolas" panose="020B0609020204030204" pitchFamily="49" charset="0"/>
              </a:rPr>
              <a:t>std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// Abstract Base Class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class Employee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protected: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string </a:t>
            </a:r>
            <a:r>
              <a:rPr lang="en-US" sz="2000" dirty="0" err="1">
                <a:latin typeface="Consolas" panose="020B0609020204030204" pitchFamily="49" charset="0"/>
              </a:rPr>
              <a:t>firstName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string </a:t>
            </a:r>
            <a:r>
              <a:rPr lang="en-US" sz="2000" dirty="0" err="1">
                <a:latin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public: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Employee(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&amp;first,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&amp;last) : </a:t>
            </a:r>
            <a:r>
              <a:rPr lang="en-US" sz="2000" dirty="0" err="1">
                <a:latin typeface="Consolas" panose="020B0609020204030204" pitchFamily="49" charset="0"/>
              </a:rPr>
              <a:t>firstName</a:t>
            </a:r>
            <a:r>
              <a:rPr lang="en-US" sz="2000" dirty="0">
                <a:latin typeface="Consolas" panose="020B0609020204030204" pitchFamily="49" charset="0"/>
              </a:rPr>
              <a:t>(first), </a:t>
            </a:r>
            <a:r>
              <a:rPr lang="en-US" sz="2000" dirty="0" err="1">
                <a:latin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</a:rPr>
              <a:t>(last) {}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virtual float earnings()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= 0; // Pure virtual function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virtual void print()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= 0;     // Pure virtual function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virtual ~Employee() {}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};</a:t>
            </a:r>
            <a:endParaRPr lang="en-US" sz="2000" dirty="0" smtClean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796280" y="1143000"/>
            <a:ext cx="2433320" cy="88392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DEMO: </a:t>
            </a:r>
          </a:p>
          <a:p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Payroll</a:t>
            </a:r>
            <a:r>
              <a:rPr lang="en-US" sz="2400" b="1" dirty="0" smtClean="0">
                <a:solidFill>
                  <a:schemeClr val="bg1"/>
                </a:solidFill>
              </a:rPr>
              <a:t>.cpp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44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8703"/>
            <a:ext cx="9067800" cy="8856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solidFill>
                  <a:srgbClr val="B80000"/>
                </a:solidFill>
                <a:latin typeface="Arial" panose="020B0604020202020204" pitchFamily="34" charset="0"/>
              </a:rPr>
              <a:t>Payroll System – Salaried Employee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930" y="1143000"/>
            <a:ext cx="8115670" cy="51054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// Salaried Employee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class </a:t>
            </a:r>
            <a:r>
              <a:rPr lang="en-US" sz="2000" dirty="0" err="1">
                <a:latin typeface="Consolas" panose="020B0609020204030204" pitchFamily="49" charset="0"/>
              </a:rPr>
              <a:t>SalariedEmployee</a:t>
            </a:r>
            <a:r>
              <a:rPr lang="en-US" sz="2000" dirty="0">
                <a:latin typeface="Consolas" panose="020B0609020204030204" pitchFamily="49" charset="0"/>
              </a:rPr>
              <a:t> : public Employee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private: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float </a:t>
            </a:r>
            <a:r>
              <a:rPr lang="en-US" sz="2000" dirty="0" err="1">
                <a:latin typeface="Consolas" panose="020B0609020204030204" pitchFamily="49" charset="0"/>
              </a:rPr>
              <a:t>weeklySalary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public: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SalariedEmployee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&amp;first,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&amp;last, float salary)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: Employee(first, last), </a:t>
            </a:r>
            <a:r>
              <a:rPr lang="en-US" sz="2000" dirty="0" err="1">
                <a:latin typeface="Consolas" panose="020B0609020204030204" pitchFamily="49" charset="0"/>
              </a:rPr>
              <a:t>weeklySalary</a:t>
            </a:r>
            <a:r>
              <a:rPr lang="en-US" sz="2000" dirty="0">
                <a:latin typeface="Consolas" panose="020B0609020204030204" pitchFamily="49" charset="0"/>
              </a:rPr>
              <a:t>(salary &gt; 0 ? salary : 0) {}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float earnings()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override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return </a:t>
            </a:r>
            <a:r>
              <a:rPr lang="en-US" sz="2000" dirty="0" err="1">
                <a:latin typeface="Consolas" panose="020B0609020204030204" pitchFamily="49" charset="0"/>
              </a:rPr>
              <a:t>weeklySalary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void print()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override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"Salaried Employee: " &lt;&lt; </a:t>
            </a:r>
            <a:r>
              <a:rPr lang="en-US" sz="2000" dirty="0" err="1">
                <a:latin typeface="Consolas" panose="020B0609020204030204" pitchFamily="49" charset="0"/>
              </a:rPr>
              <a:t>firstName</a:t>
            </a:r>
            <a:r>
              <a:rPr lang="en-US" sz="2000" dirty="0">
                <a:latin typeface="Consolas" panose="020B0609020204030204" pitchFamily="49" charset="0"/>
              </a:rPr>
              <a:t> &lt;&lt; " " &lt;&lt; </a:t>
            </a:r>
            <a:r>
              <a:rPr lang="en-US" sz="2000" dirty="0" err="1">
                <a:latin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};</a:t>
            </a:r>
            <a:endParaRPr lang="en-US" sz="2000" dirty="0" smtClean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7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8703"/>
            <a:ext cx="9067800" cy="88569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b="1" dirty="0" smtClean="0">
                <a:solidFill>
                  <a:srgbClr val="B80000"/>
                </a:solidFill>
                <a:latin typeface="Arial" panose="020B0604020202020204" pitchFamily="34" charset="0"/>
              </a:rPr>
              <a:t>Payroll System – Commission Worker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930" y="1143000"/>
            <a:ext cx="811567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// Commission Worker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class </a:t>
            </a:r>
            <a:r>
              <a:rPr lang="en-US" sz="2000" dirty="0" err="1">
                <a:latin typeface="Consolas" panose="020B0609020204030204" pitchFamily="49" charset="0"/>
              </a:rPr>
              <a:t>CommissionWorker</a:t>
            </a:r>
            <a:r>
              <a:rPr lang="en-US" sz="2000" dirty="0">
                <a:latin typeface="Consolas" panose="020B0609020204030204" pitchFamily="49" charset="0"/>
              </a:rPr>
              <a:t> : public Employee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private: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float commission;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quantity;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public: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CommissionWorker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&amp;first,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&amp;last, float </a:t>
            </a:r>
            <a:r>
              <a:rPr lang="en-US" sz="2000" dirty="0" err="1">
                <a:latin typeface="Consolas" panose="020B0609020204030204" pitchFamily="49" charset="0"/>
              </a:rPr>
              <a:t>comm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qty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: Employee(first, last), commission(</a:t>
            </a:r>
            <a:r>
              <a:rPr lang="en-US" sz="2000" dirty="0" err="1">
                <a:latin typeface="Consolas" panose="020B0609020204030204" pitchFamily="49" charset="0"/>
              </a:rPr>
              <a:t>comm</a:t>
            </a:r>
            <a:r>
              <a:rPr lang="en-US" sz="2000" dirty="0">
                <a:latin typeface="Consolas" panose="020B0609020204030204" pitchFamily="49" charset="0"/>
              </a:rPr>
              <a:t> &gt; 0 ? </a:t>
            </a:r>
            <a:r>
              <a:rPr lang="en-US" sz="2000" dirty="0" err="1">
                <a:latin typeface="Consolas" panose="020B0609020204030204" pitchFamily="49" charset="0"/>
              </a:rPr>
              <a:t>comm</a:t>
            </a:r>
            <a:r>
              <a:rPr lang="en-US" sz="2000" dirty="0">
                <a:latin typeface="Consolas" panose="020B0609020204030204" pitchFamily="49" charset="0"/>
              </a:rPr>
              <a:t> : 0), quantity(</a:t>
            </a:r>
            <a:r>
              <a:rPr lang="en-US" sz="2000" dirty="0" err="1">
                <a:latin typeface="Consolas" panose="020B0609020204030204" pitchFamily="49" charset="0"/>
              </a:rPr>
              <a:t>qty</a:t>
            </a:r>
            <a:r>
              <a:rPr lang="en-US" sz="2000" dirty="0">
                <a:latin typeface="Consolas" panose="020B0609020204030204" pitchFamily="49" charset="0"/>
              </a:rPr>
              <a:t> &gt; 0 ? </a:t>
            </a:r>
            <a:r>
              <a:rPr lang="en-US" sz="2000" dirty="0" err="1">
                <a:latin typeface="Consolas" panose="020B0609020204030204" pitchFamily="49" charset="0"/>
              </a:rPr>
              <a:t>qty</a:t>
            </a:r>
            <a:r>
              <a:rPr lang="en-US" sz="2000" dirty="0">
                <a:latin typeface="Consolas" panose="020B0609020204030204" pitchFamily="49" charset="0"/>
              </a:rPr>
              <a:t> : 0) {}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float earnings()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override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return commission * quantity;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void print()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override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"Commission Worker: " &lt;&lt; </a:t>
            </a:r>
            <a:r>
              <a:rPr lang="en-US" sz="2000" dirty="0" err="1">
                <a:latin typeface="Consolas" panose="020B0609020204030204" pitchFamily="49" charset="0"/>
              </a:rPr>
              <a:t>firstName</a:t>
            </a:r>
            <a:r>
              <a:rPr lang="en-US" sz="2000" dirty="0">
                <a:latin typeface="Consolas" panose="020B0609020204030204" pitchFamily="49" charset="0"/>
              </a:rPr>
              <a:t> &lt;&lt; " " &lt;&lt; </a:t>
            </a:r>
            <a:r>
              <a:rPr lang="en-US" sz="2000" dirty="0" err="1">
                <a:latin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};</a:t>
            </a:r>
            <a:endParaRPr lang="en-US" sz="2000" dirty="0" smtClean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9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8703"/>
            <a:ext cx="9067800" cy="885697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 smtClean="0">
                <a:solidFill>
                  <a:srgbClr val="B80000"/>
                </a:solidFill>
                <a:latin typeface="Arial" panose="020B0604020202020204" pitchFamily="34" charset="0"/>
              </a:rPr>
              <a:t>Payroll System – Hourly Worker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930" y="1143000"/>
            <a:ext cx="811567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// Hourly Worker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class </a:t>
            </a:r>
            <a:r>
              <a:rPr lang="en-US" sz="2000" dirty="0" err="1">
                <a:latin typeface="Consolas" panose="020B0609020204030204" pitchFamily="49" charset="0"/>
              </a:rPr>
              <a:t>HourlyWorker</a:t>
            </a:r>
            <a:r>
              <a:rPr lang="en-US" sz="2000" dirty="0">
                <a:latin typeface="Consolas" panose="020B0609020204030204" pitchFamily="49" charset="0"/>
              </a:rPr>
              <a:t> : public Employee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private: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float wage;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float hours;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public: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HourlyWorker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&amp;first,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&amp;last, float </a:t>
            </a:r>
            <a:r>
              <a:rPr lang="en-US" sz="2000" dirty="0" err="1">
                <a:latin typeface="Consolas" panose="020B0609020204030204" pitchFamily="49" charset="0"/>
              </a:rPr>
              <a:t>hourlyWage</a:t>
            </a:r>
            <a:r>
              <a:rPr lang="en-US" sz="2000" dirty="0">
                <a:latin typeface="Consolas" panose="020B0609020204030204" pitchFamily="49" charset="0"/>
              </a:rPr>
              <a:t>, float </a:t>
            </a:r>
            <a:r>
              <a:rPr lang="en-US" sz="2000" dirty="0" err="1">
                <a:latin typeface="Consolas" panose="020B0609020204030204" pitchFamily="49" charset="0"/>
              </a:rPr>
              <a:t>workedHours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: Employee(first, last), wage(</a:t>
            </a:r>
            <a:r>
              <a:rPr lang="en-US" sz="2000" dirty="0" err="1">
                <a:latin typeface="Consolas" panose="020B0609020204030204" pitchFamily="49" charset="0"/>
              </a:rPr>
              <a:t>hourlyWage</a:t>
            </a:r>
            <a:r>
              <a:rPr lang="en-US" sz="2000" dirty="0">
                <a:latin typeface="Consolas" panose="020B0609020204030204" pitchFamily="49" charset="0"/>
              </a:rPr>
              <a:t> &gt; 0 ? </a:t>
            </a:r>
            <a:r>
              <a:rPr lang="en-US" sz="2000" dirty="0" err="1">
                <a:latin typeface="Consolas" panose="020B0609020204030204" pitchFamily="49" charset="0"/>
              </a:rPr>
              <a:t>hourlyWage</a:t>
            </a:r>
            <a:r>
              <a:rPr lang="en-US" sz="2000" dirty="0">
                <a:latin typeface="Consolas" panose="020B0609020204030204" pitchFamily="49" charset="0"/>
              </a:rPr>
              <a:t> : 0), hours((</a:t>
            </a:r>
            <a:r>
              <a:rPr lang="en-US" sz="2000" dirty="0" err="1">
                <a:latin typeface="Consolas" panose="020B0609020204030204" pitchFamily="49" charset="0"/>
              </a:rPr>
              <a:t>workedHours</a:t>
            </a:r>
            <a:r>
              <a:rPr lang="en-US" sz="2000" dirty="0">
                <a:latin typeface="Consolas" panose="020B0609020204030204" pitchFamily="49" charset="0"/>
              </a:rPr>
              <a:t> &gt;= 0 &amp;&amp; </a:t>
            </a:r>
            <a:r>
              <a:rPr lang="en-US" sz="2000" dirty="0" err="1">
                <a:latin typeface="Consolas" panose="020B0609020204030204" pitchFamily="49" charset="0"/>
              </a:rPr>
              <a:t>workedHours</a:t>
            </a:r>
            <a:r>
              <a:rPr lang="en-US" sz="2000" dirty="0">
                <a:latin typeface="Consolas" panose="020B0609020204030204" pitchFamily="49" charset="0"/>
              </a:rPr>
              <a:t> &lt;= 168) ? </a:t>
            </a:r>
            <a:r>
              <a:rPr lang="en-US" sz="2000" dirty="0" err="1">
                <a:latin typeface="Consolas" panose="020B0609020204030204" pitchFamily="49" charset="0"/>
              </a:rPr>
              <a:t>workedHours</a:t>
            </a:r>
            <a:r>
              <a:rPr lang="en-US" sz="2000" dirty="0">
                <a:latin typeface="Consolas" panose="020B0609020204030204" pitchFamily="49" charset="0"/>
              </a:rPr>
              <a:t> : 0) {}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float earnings()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override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return wage * hours;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void print()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override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"Hourly Worker: " &lt;&lt; </a:t>
            </a:r>
            <a:r>
              <a:rPr lang="en-US" sz="2000" dirty="0" err="1">
                <a:latin typeface="Consolas" panose="020B0609020204030204" pitchFamily="49" charset="0"/>
              </a:rPr>
              <a:t>firstName</a:t>
            </a:r>
            <a:r>
              <a:rPr lang="en-US" sz="2000" dirty="0">
                <a:latin typeface="Consolas" panose="020B0609020204030204" pitchFamily="49" charset="0"/>
              </a:rPr>
              <a:t> &lt;&lt; " " &lt;&lt; </a:t>
            </a:r>
            <a:r>
              <a:rPr lang="en-US" sz="2000" dirty="0" err="1">
                <a:latin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};</a:t>
            </a:r>
            <a:endParaRPr lang="en-US" sz="2000" dirty="0" smtClean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0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8703"/>
            <a:ext cx="9067800" cy="885697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b="1" dirty="0" smtClean="0">
                <a:solidFill>
                  <a:srgbClr val="B80000"/>
                </a:solidFill>
                <a:latin typeface="Arial" panose="020B0604020202020204" pitchFamily="34" charset="0"/>
              </a:rPr>
              <a:t>Payroll System – Base-Plus Commission Employee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930" y="1143000"/>
            <a:ext cx="811567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// Base-Plus-Commission Employee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class </a:t>
            </a:r>
            <a:r>
              <a:rPr lang="en-US" sz="2000" dirty="0" err="1">
                <a:latin typeface="Consolas" panose="020B0609020204030204" pitchFamily="49" charset="0"/>
              </a:rPr>
              <a:t>BasePlusCommissionEmployee</a:t>
            </a:r>
            <a:r>
              <a:rPr lang="en-US" sz="2000" dirty="0">
                <a:latin typeface="Consolas" panose="020B0609020204030204" pitchFamily="49" charset="0"/>
              </a:rPr>
              <a:t> : public </a:t>
            </a:r>
            <a:r>
              <a:rPr lang="en-US" sz="2000" dirty="0" err="1">
                <a:latin typeface="Consolas" panose="020B0609020204030204" pitchFamily="49" charset="0"/>
              </a:rPr>
              <a:t>CommissionWorker</a:t>
            </a:r>
            <a:r>
              <a:rPr lang="en-US" sz="20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private: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float </a:t>
            </a:r>
            <a:r>
              <a:rPr lang="en-US" sz="2000" dirty="0" err="1">
                <a:latin typeface="Consolas" panose="020B0609020204030204" pitchFamily="49" charset="0"/>
              </a:rPr>
              <a:t>baseSalary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public: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BasePlusCommissionEmployee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&amp;first,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string &amp;last, float </a:t>
            </a:r>
            <a:r>
              <a:rPr lang="en-US" sz="2000" dirty="0" err="1">
                <a:latin typeface="Consolas" panose="020B0609020204030204" pitchFamily="49" charset="0"/>
              </a:rPr>
              <a:t>comm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qty</a:t>
            </a:r>
            <a:r>
              <a:rPr lang="en-US" sz="2000" dirty="0">
                <a:latin typeface="Consolas" panose="020B0609020204030204" pitchFamily="49" charset="0"/>
              </a:rPr>
              <a:t>, float base)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: </a:t>
            </a:r>
            <a:r>
              <a:rPr lang="en-US" sz="2000" dirty="0" err="1">
                <a:latin typeface="Consolas" panose="020B0609020204030204" pitchFamily="49" charset="0"/>
              </a:rPr>
              <a:t>CommissionWorker</a:t>
            </a:r>
            <a:r>
              <a:rPr lang="en-US" sz="2000" dirty="0">
                <a:latin typeface="Consolas" panose="020B0609020204030204" pitchFamily="49" charset="0"/>
              </a:rPr>
              <a:t>(first, last, </a:t>
            </a:r>
            <a:r>
              <a:rPr lang="en-US" sz="2000" dirty="0" err="1">
                <a:latin typeface="Consolas" panose="020B0609020204030204" pitchFamily="49" charset="0"/>
              </a:rPr>
              <a:t>comm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qty</a:t>
            </a:r>
            <a:r>
              <a:rPr lang="en-US" sz="2000" dirty="0">
                <a:latin typeface="Consolas" panose="020B0609020204030204" pitchFamily="49" charset="0"/>
              </a:rPr>
              <a:t>), </a:t>
            </a:r>
            <a:r>
              <a:rPr lang="en-US" sz="2000" dirty="0" err="1">
                <a:latin typeface="Consolas" panose="020B0609020204030204" pitchFamily="49" charset="0"/>
              </a:rPr>
              <a:t>baseSalary</a:t>
            </a:r>
            <a:r>
              <a:rPr lang="en-US" sz="2000" dirty="0">
                <a:latin typeface="Consolas" panose="020B0609020204030204" pitchFamily="49" charset="0"/>
              </a:rPr>
              <a:t>(base &gt; 0 ? base : 0) {}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float earnings()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override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return </a:t>
            </a:r>
            <a:r>
              <a:rPr lang="en-US" sz="2000" dirty="0" err="1">
                <a:latin typeface="Consolas" panose="020B0609020204030204" pitchFamily="49" charset="0"/>
              </a:rPr>
              <a:t>baseSalary</a:t>
            </a:r>
            <a:r>
              <a:rPr lang="en-US" sz="2000" dirty="0">
                <a:latin typeface="Consolas" panose="020B0609020204030204" pitchFamily="49" charset="0"/>
              </a:rPr>
              <a:t> + </a:t>
            </a:r>
            <a:r>
              <a:rPr lang="en-US" sz="2000" dirty="0" err="1">
                <a:latin typeface="Consolas" panose="020B0609020204030204" pitchFamily="49" charset="0"/>
              </a:rPr>
              <a:t>CommissionWorker</a:t>
            </a:r>
            <a:r>
              <a:rPr lang="en-US" sz="2000" dirty="0">
                <a:latin typeface="Consolas" panose="020B0609020204030204" pitchFamily="49" charset="0"/>
              </a:rPr>
              <a:t>::earnings();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void print()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override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"Base-Plus-Commission Employee: " &lt;&lt; </a:t>
            </a:r>
            <a:r>
              <a:rPr lang="en-US" sz="2000" dirty="0" err="1">
                <a:latin typeface="Consolas" panose="020B0609020204030204" pitchFamily="49" charset="0"/>
              </a:rPr>
              <a:t>firstName</a:t>
            </a:r>
            <a:r>
              <a:rPr lang="en-US" sz="2000" dirty="0">
                <a:latin typeface="Consolas" panose="020B0609020204030204" pitchFamily="49" charset="0"/>
              </a:rPr>
              <a:t> &lt;&lt; " " &lt;&lt; </a:t>
            </a:r>
            <a:r>
              <a:rPr lang="en-US" sz="2000" dirty="0" err="1">
                <a:latin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};</a:t>
            </a:r>
            <a:endParaRPr lang="en-US" sz="2000" dirty="0" smtClean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6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8703"/>
            <a:ext cx="9067800" cy="885697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 smtClean="0">
                <a:solidFill>
                  <a:srgbClr val="B80000"/>
                </a:solidFill>
                <a:latin typeface="Arial" panose="020B0604020202020204" pitchFamily="34" charset="0"/>
              </a:rPr>
              <a:t>Payroll System – main()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930" y="1143000"/>
            <a:ext cx="8115670" cy="51054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// Create different employee objects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SalariedEmployee</a:t>
            </a:r>
            <a:r>
              <a:rPr lang="en-US" sz="2000" dirty="0">
                <a:latin typeface="Consolas" panose="020B0609020204030204" pitchFamily="49" charset="0"/>
              </a:rPr>
              <a:t> salaried("</a:t>
            </a:r>
            <a:r>
              <a:rPr lang="en-US" sz="2000" dirty="0" err="1">
                <a:latin typeface="Consolas" panose="020B0609020204030204" pitchFamily="49" charset="0"/>
              </a:rPr>
              <a:t>Nauman</a:t>
            </a:r>
            <a:r>
              <a:rPr lang="en-US" sz="2000" dirty="0">
                <a:latin typeface="Consolas" panose="020B0609020204030204" pitchFamily="49" charset="0"/>
              </a:rPr>
              <a:t>", "</a:t>
            </a:r>
            <a:r>
              <a:rPr lang="en-US" sz="2000" dirty="0" err="1">
                <a:latin typeface="Consolas" panose="020B0609020204030204" pitchFamily="49" charset="0"/>
              </a:rPr>
              <a:t>Sarwar</a:t>
            </a:r>
            <a:r>
              <a:rPr lang="en-US" sz="2000" dirty="0">
                <a:latin typeface="Consolas" panose="020B0609020204030204" pitchFamily="49" charset="0"/>
              </a:rPr>
              <a:t>", 800.00);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CommissionWorker</a:t>
            </a:r>
            <a:r>
              <a:rPr lang="en-US" sz="2000" dirty="0">
                <a:latin typeface="Consolas" panose="020B0609020204030204" pitchFamily="49" charset="0"/>
              </a:rPr>
              <a:t> commission("</a:t>
            </a:r>
            <a:r>
              <a:rPr lang="en-US" sz="2000" dirty="0" err="1">
                <a:latin typeface="Consolas" panose="020B0609020204030204" pitchFamily="49" charset="0"/>
              </a:rPr>
              <a:t>Qasim</a:t>
            </a:r>
            <a:r>
              <a:rPr lang="en-US" sz="2000" dirty="0">
                <a:latin typeface="Consolas" panose="020B0609020204030204" pitchFamily="49" charset="0"/>
              </a:rPr>
              <a:t>", "Ali", 3.0, 150);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HourlyWorker</a:t>
            </a:r>
            <a:r>
              <a:rPr lang="en-US" sz="2000" dirty="0">
                <a:latin typeface="Consolas" panose="020B0609020204030204" pitchFamily="49" charset="0"/>
              </a:rPr>
              <a:t> hourly("</a:t>
            </a:r>
            <a:r>
              <a:rPr lang="en-US" sz="2000" dirty="0" err="1">
                <a:latin typeface="Consolas" panose="020B0609020204030204" pitchFamily="49" charset="0"/>
              </a:rPr>
              <a:t>Samer</a:t>
            </a:r>
            <a:r>
              <a:rPr lang="en-US" sz="2000" dirty="0">
                <a:latin typeface="Consolas" panose="020B0609020204030204" pitchFamily="49" charset="0"/>
              </a:rPr>
              <a:t>", "</a:t>
            </a:r>
            <a:r>
              <a:rPr lang="en-US" sz="2000" dirty="0" err="1">
                <a:latin typeface="Consolas" panose="020B0609020204030204" pitchFamily="49" charset="0"/>
              </a:rPr>
              <a:t>Tufail</a:t>
            </a:r>
            <a:r>
              <a:rPr lang="en-US" sz="2000" dirty="0">
                <a:latin typeface="Consolas" panose="020B0609020204030204" pitchFamily="49" charset="0"/>
              </a:rPr>
              <a:t>", 13.75, 40);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BasePlusCommissionEmployee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basePlusCommission</a:t>
            </a:r>
            <a:r>
              <a:rPr lang="en-US" sz="2000" dirty="0">
                <a:latin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</a:rPr>
              <a:t>Mehshan</a:t>
            </a:r>
            <a:r>
              <a:rPr lang="en-US" sz="2000" dirty="0">
                <a:latin typeface="Consolas" panose="020B0609020204030204" pitchFamily="49" charset="0"/>
              </a:rPr>
              <a:t>", "Mustafa", 2.5, 200, 1000.0);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// Array of Employee pointers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Employee *employees[] = {&amp;salaried, &amp;commission, &amp;hourly, &amp;</a:t>
            </a:r>
            <a:r>
              <a:rPr lang="en-US" sz="2000" dirty="0" err="1">
                <a:latin typeface="Consolas" panose="020B0609020204030204" pitchFamily="49" charset="0"/>
              </a:rPr>
              <a:t>basePlusCommission</a:t>
            </a:r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// Size of the employees array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numEmployees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sizeof</a:t>
            </a:r>
            <a:r>
              <a:rPr lang="en-US" sz="2000" dirty="0">
                <a:latin typeface="Consolas" panose="020B0609020204030204" pitchFamily="49" charset="0"/>
              </a:rPr>
              <a:t>(employees) / </a:t>
            </a:r>
            <a:r>
              <a:rPr lang="en-US" sz="2000" dirty="0" err="1">
                <a:latin typeface="Consolas" panose="020B0609020204030204" pitchFamily="49" charset="0"/>
              </a:rPr>
              <a:t>sizeof</a:t>
            </a:r>
            <a:r>
              <a:rPr lang="en-US" sz="2000" dirty="0">
                <a:latin typeface="Consolas" panose="020B0609020204030204" pitchFamily="49" charset="0"/>
              </a:rPr>
              <a:t>(employees[0]);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// Process each employee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for (</a:t>
            </a:r>
            <a:r>
              <a:rPr lang="en-US" sz="2000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= 0;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&lt; </a:t>
            </a:r>
            <a:r>
              <a:rPr lang="en-US" sz="2000" dirty="0" err="1">
                <a:latin typeface="Consolas" panose="020B0609020204030204" pitchFamily="49" charset="0"/>
              </a:rPr>
              <a:t>numEmployees</a:t>
            </a:r>
            <a:r>
              <a:rPr lang="en-US" sz="2000" dirty="0">
                <a:latin typeface="Consolas" panose="020B0609020204030204" pitchFamily="49" charset="0"/>
              </a:rPr>
              <a:t>; ++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employees[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]-&gt;print();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 earned $" &lt;&lt; employees[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]-&gt;earnings() &lt;&lt;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8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6754</TotalTime>
  <Words>1364</Words>
  <Application>Microsoft Office PowerPoint</Application>
  <PresentationFormat>On-screen Show (4:3)</PresentationFormat>
  <Paragraphs>254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MS PGothic</vt:lpstr>
      <vt:lpstr>Arial</vt:lpstr>
      <vt:lpstr>Calibri</vt:lpstr>
      <vt:lpstr>Consolas</vt:lpstr>
      <vt:lpstr>Courier</vt:lpstr>
      <vt:lpstr>Courier New</vt:lpstr>
      <vt:lpstr>Times New Roman</vt:lpstr>
      <vt:lpstr>Office Theme</vt:lpstr>
      <vt:lpstr>Concrete and Abstract Classes Pure Virtual Function </vt:lpstr>
      <vt:lpstr>Contents</vt:lpstr>
      <vt:lpstr>Classes in C++</vt:lpstr>
      <vt:lpstr>Concrete Classes</vt:lpstr>
      <vt:lpstr>Abstract Classes</vt:lpstr>
      <vt:lpstr>Pure virtual Functions</vt:lpstr>
      <vt:lpstr>Pure virtual Functions (cont.)</vt:lpstr>
      <vt:lpstr>Why we need abstract classes?</vt:lpstr>
      <vt:lpstr>Why we need abstract classes?</vt:lpstr>
      <vt:lpstr>Case Study: Payroll System Using Polymorphism</vt:lpstr>
      <vt:lpstr>Case Study: Payroll System Using Polymorphism</vt:lpstr>
      <vt:lpstr>Case Study: Payroll System Using Polymorphism</vt:lpstr>
      <vt:lpstr>Case Study: Payroll System Using Polymorphism</vt:lpstr>
      <vt:lpstr>Payroll System – Employee Class</vt:lpstr>
      <vt:lpstr>Payroll System – Salaried Employee</vt:lpstr>
      <vt:lpstr>Payroll System – Commission Worker</vt:lpstr>
      <vt:lpstr>Payroll System – Hourly Worker</vt:lpstr>
      <vt:lpstr>Payroll System – Base-Plus Commission Employee</vt:lpstr>
      <vt:lpstr>Payroll System – main()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693</cp:revision>
  <dcterms:created xsi:type="dcterms:W3CDTF">2012-08-28T12:59:58Z</dcterms:created>
  <dcterms:modified xsi:type="dcterms:W3CDTF">2024-12-17T11:58:53Z</dcterms:modified>
</cp:coreProperties>
</file>
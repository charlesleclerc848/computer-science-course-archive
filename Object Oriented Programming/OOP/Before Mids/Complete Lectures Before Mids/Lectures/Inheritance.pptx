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75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394" r:id="rId47"/>
    <p:sldId id="395" r:id="rId48"/>
    <p:sldId id="396" r:id="rId49"/>
    <p:sldId id="397" r:id="rId50"/>
    <p:sldId id="398" r:id="rId51"/>
    <p:sldId id="399" r:id="rId52"/>
    <p:sldId id="400" r:id="rId53"/>
    <p:sldId id="401" r:id="rId54"/>
    <p:sldId id="402" r:id="rId55"/>
    <p:sldId id="403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00"/>
    <a:srgbClr val="2F1BC7"/>
    <a:srgbClr val="008000"/>
    <a:srgbClr val="2C14DE"/>
    <a:srgbClr val="D20000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1741" autoAdjust="0"/>
  </p:normalViewPr>
  <p:slideViewPr>
    <p:cSldViewPr>
      <p:cViewPr varScale="1">
        <p:scale>
          <a:sx n="68" d="100"/>
          <a:sy n="68" d="100"/>
        </p:scale>
        <p:origin x="14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9E53CE6-434F-4C8B-8059-D26FDE3BFF16}" type="slidenum">
              <a:rPr lang="en-US" sz="1200"/>
              <a:pPr eaLnBrk="1" hangingPunct="1"/>
              <a:t>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85301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7668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7941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2FDA64F-90C6-40FB-B6B2-7020D33582F8}" type="slidenum">
              <a:rPr lang="en-US" sz="1200"/>
              <a:pPr eaLnBrk="1" hangingPunct="1"/>
              <a:t>38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16668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F4E40E4-6BFF-4A37-9E3E-527C35D95A75}" type="slidenum">
              <a:rPr lang="en-US" sz="1200"/>
              <a:pPr eaLnBrk="1" hangingPunct="1"/>
              <a:t>39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44431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5618278-624E-4421-8437-1CCCF4F85C03}" type="slidenum">
              <a:rPr lang="en-US" sz="1200"/>
              <a:pPr eaLnBrk="1" hangingPunct="1"/>
              <a:t>40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26683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F1DA53C-F89D-4735-936B-B7AF536EF23D}" type="slidenum">
              <a:rPr lang="en-US" sz="1200"/>
              <a:pPr eaLnBrk="1" hangingPunct="1"/>
              <a:t>41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5833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03E862-6BE5-493E-BF51-A1D7E9E810F8}" type="slidenum">
              <a:rPr lang="en-US" sz="1200"/>
              <a:pPr eaLnBrk="1" hangingPunct="1"/>
              <a:t>48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70814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676FE31-29EE-4046-B65A-58C1492872A0}" type="slidenum">
              <a:rPr lang="en-US" sz="1200"/>
              <a:pPr eaLnBrk="1" hangingPunct="1"/>
              <a:t>49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27719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1690A34-E544-457A-99DB-6891A9FEF046}" type="slidenum">
              <a:rPr lang="en-US" sz="1200"/>
              <a:pPr eaLnBrk="1" hangingPunct="1"/>
              <a:t>51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39429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FFE794E4-C9D8-4312-846B-3AA21EA6E637}" type="slidenum">
              <a:rPr lang="en-US" sz="1200"/>
              <a:pPr eaLnBrk="1" hangingPunct="1"/>
              <a:t>53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66760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49CD50A-5768-4864-9B93-C9E7735CD693}" type="slidenum">
              <a:rPr lang="en-US" sz="1200"/>
              <a:pPr eaLnBrk="1" hangingPunct="1"/>
              <a:t>54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410394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3B40ED4-331E-4608-9AC8-AD17A6222088}" type="slidenum">
              <a:rPr lang="en-US" sz="1200"/>
              <a:pPr eaLnBrk="1" hangingPunct="1"/>
              <a:t>55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4468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11/7/2024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0"/>
            <a:ext cx="8991600" cy="2438400"/>
          </a:xfrm>
        </p:spPr>
        <p:txBody>
          <a:bodyPr>
            <a:noAutofit/>
          </a:bodyPr>
          <a:lstStyle/>
          <a:p>
            <a:r>
              <a:rPr lang="en-US" b="1" dirty="0" smtClean="0"/>
              <a:t>Inheritance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962400"/>
            <a:ext cx="89154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</a:t>
            </a:r>
            <a:r>
              <a:rPr lang="en-US" sz="2600" dirty="0" smtClean="0"/>
              <a:t>Science &amp; IT, </a:t>
            </a:r>
            <a:endParaRPr lang="en-US" sz="2600" dirty="0"/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Inheritance</a:t>
            </a:r>
            <a:endParaRPr lang="en-US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773" y="1066800"/>
            <a:ext cx="8918827" cy="5638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ea typeface="ＭＳ Ｐゴシック" panose="020B0600070205080204" pitchFamily="34" charset="-128"/>
              </a:rPr>
              <a:t>Probably</a:t>
            </a:r>
            <a:r>
              <a:rPr lang="en-US" dirty="0">
                <a:ea typeface="ＭＳ Ｐゴシック" panose="020B0600070205080204" pitchFamily="34" charset="-128"/>
              </a:rPr>
              <a:t> </a:t>
            </a: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most powerful feature</a:t>
            </a:r>
            <a:r>
              <a:rPr lang="en-US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of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OOP</a:t>
            </a:r>
          </a:p>
          <a:p>
            <a:pPr>
              <a:lnSpc>
                <a:spcPct val="150000"/>
              </a:lnSpc>
            </a:pPr>
            <a:r>
              <a:rPr lang="en-US" dirty="0">
                <a:ea typeface="ＭＳ Ｐゴシック" panose="020B0600070205080204" pitchFamily="34" charset="-128"/>
              </a:rPr>
              <a:t>Concept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similar to inheritance </a:t>
            </a:r>
            <a:r>
              <a:rPr lang="en-US" dirty="0">
                <a:ea typeface="ＭＳ Ｐゴシック" panose="020B0600070205080204" pitchFamily="34" charset="-128"/>
              </a:rPr>
              <a:t>in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real life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New classes </a:t>
            </a:r>
            <a:r>
              <a:rPr lang="en-US" dirty="0">
                <a:ea typeface="ＭＳ Ｐゴシック" panose="020B0600070205080204" pitchFamily="34" charset="-128"/>
              </a:rPr>
              <a:t>are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created</a:t>
            </a:r>
            <a:r>
              <a:rPr lang="en-US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from </a:t>
            </a: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existing classes</a:t>
            </a:r>
          </a:p>
          <a:p>
            <a:pPr>
              <a:lnSpc>
                <a:spcPct val="150000"/>
              </a:lnSpc>
            </a:pP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3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Introduction - </a:t>
            </a:r>
            <a:r>
              <a:rPr lang="en-US" b="1" dirty="0">
                <a:solidFill>
                  <a:srgbClr val="D20000"/>
                </a:solidFill>
              </a:rPr>
              <a:t>Inheritance</a:t>
            </a:r>
            <a:endParaRPr lang="fr-FR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147" name="Espace réservé du contenu 2"/>
          <p:cNvSpPr>
            <a:spLocks noGrp="1"/>
          </p:cNvSpPr>
          <p:nvPr>
            <p:ph idx="1"/>
          </p:nvPr>
        </p:nvSpPr>
        <p:spPr>
          <a:xfrm>
            <a:off x="54666" y="1066800"/>
            <a:ext cx="8936934" cy="56388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New classes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absorb</a:t>
            </a:r>
            <a:r>
              <a:rPr lang="en-US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all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features</a:t>
            </a:r>
            <a:r>
              <a:rPr lang="en-US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of </a:t>
            </a:r>
            <a:r>
              <a:rPr lang="en-US" b="1" u="sng" dirty="0">
                <a:ea typeface="ＭＳ Ｐゴシック" panose="020B0600070205080204" pitchFamily="34" charset="-128"/>
              </a:rPr>
              <a:t>existing classes </a:t>
            </a:r>
            <a:r>
              <a:rPr lang="en-US" dirty="0">
                <a:ea typeface="ＭＳ Ｐゴシック" panose="020B0600070205080204" pitchFamily="34" charset="-128"/>
              </a:rPr>
              <a:t>including their </a:t>
            </a:r>
            <a:r>
              <a:rPr lang="en-US" b="1" u="sng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data</a:t>
            </a:r>
            <a:r>
              <a:rPr lang="en-US" dirty="0">
                <a:ea typeface="ＭＳ Ｐゴシック" panose="020B0600070205080204" pitchFamily="34" charset="-128"/>
              </a:rPr>
              <a:t> and </a:t>
            </a:r>
            <a:r>
              <a:rPr lang="en-US" b="1" u="sng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functions</a:t>
            </a:r>
            <a:r>
              <a:rPr lang="en-US" dirty="0">
                <a:ea typeface="ＭＳ Ｐゴシック" panose="020B0600070205080204" pitchFamily="34" charset="-128"/>
              </a:rPr>
              <a:t>. 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  <a:p>
            <a:r>
              <a:rPr lang="en-US" dirty="0">
                <a:ea typeface="ＭＳ Ｐゴシック" panose="020B0600070205080204" pitchFamily="34" charset="-128"/>
              </a:rPr>
              <a:t>Also </a:t>
            </a:r>
            <a:r>
              <a:rPr lang="en-US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enhance</a:t>
            </a:r>
            <a:r>
              <a:rPr lang="en-US" dirty="0">
                <a:ea typeface="ＭＳ Ｐゴシック" panose="020B0600070205080204" pitchFamily="34" charset="-128"/>
              </a:rPr>
              <a:t> them by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adding</a:t>
            </a:r>
            <a:r>
              <a:rPr lang="en-US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their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own new features</a:t>
            </a:r>
            <a:r>
              <a:rPr lang="en-US" dirty="0">
                <a:ea typeface="ＭＳ Ｐゴシック" panose="020B0600070205080204" pitchFamily="34" charset="-128"/>
              </a:rPr>
              <a:t> in form of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new data members </a:t>
            </a:r>
            <a:r>
              <a:rPr lang="en-US" dirty="0">
                <a:ea typeface="ＭＳ Ｐゴシック" panose="020B0600070205080204" pitchFamily="34" charset="-128"/>
              </a:rPr>
              <a:t>and </a:t>
            </a:r>
            <a:r>
              <a:rPr 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new member functions</a:t>
            </a:r>
          </a:p>
          <a:p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4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Is-A </a:t>
            </a:r>
            <a:r>
              <a:rPr lang="en-US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vs</a:t>
            </a: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Has-A relationship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581" y="1143000"/>
            <a:ext cx="9144000" cy="5638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Has-A</a:t>
            </a:r>
            <a:r>
              <a:rPr lang="en-US" sz="2800" dirty="0">
                <a:ea typeface="ＭＳ Ｐゴシック" panose="020B0600070205080204" pitchFamily="34" charset="-128"/>
              </a:rPr>
              <a:t> </a:t>
            </a:r>
            <a:r>
              <a:rPr lang="en-US" sz="2800" b="1" dirty="0">
                <a:ea typeface="ＭＳ Ｐゴシック" panose="020B0600070205080204" pitchFamily="34" charset="-128"/>
              </a:rPr>
              <a:t>relationship</a:t>
            </a:r>
            <a:r>
              <a:rPr lang="en-US" sz="2800" dirty="0">
                <a:ea typeface="ＭＳ Ｐゴシック" panose="020B0600070205080204" pitchFamily="34" charset="-128"/>
              </a:rPr>
              <a:t> is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composition</a:t>
            </a:r>
            <a:r>
              <a:rPr lang="en-US" sz="2800" dirty="0">
                <a:ea typeface="ＭＳ Ｐゴシック" panose="020B0600070205080204" pitchFamily="34" charset="-128"/>
              </a:rPr>
              <a:t> type of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relationship</a:t>
            </a:r>
            <a:r>
              <a:rPr lang="en-US" sz="2800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 </a:t>
            </a:r>
            <a:r>
              <a:rPr lang="en-US" sz="2800" dirty="0">
                <a:ea typeface="ＭＳ Ｐゴシック" panose="020B0600070205080204" pitchFamily="34" charset="-128"/>
              </a:rPr>
              <a:t>(i.e., </a:t>
            </a:r>
            <a:r>
              <a:rPr lang="en-US" sz="2800" b="1" dirty="0">
                <a:ea typeface="ＭＳ Ｐゴシック" panose="020B0600070205080204" pitchFamily="34" charset="-128"/>
              </a:rPr>
              <a:t>whole-part relationship</a:t>
            </a:r>
            <a:r>
              <a:rPr lang="en-US" sz="2800" dirty="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Car </a:t>
            </a:r>
            <a:r>
              <a:rPr lang="en-US" b="1" u="sng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has</a:t>
            </a:r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 an engine</a:t>
            </a:r>
          </a:p>
          <a:p>
            <a:pPr lvl="1" eaLnBrk="1" hangingPunct="1"/>
            <a:endParaRPr 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sz="28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Is-A</a:t>
            </a:r>
            <a:r>
              <a:rPr lang="en-US" sz="2800" dirty="0">
                <a:ea typeface="ＭＳ Ｐゴシック" panose="020B0600070205080204" pitchFamily="34" charset="-128"/>
              </a:rPr>
              <a:t> </a:t>
            </a:r>
            <a:r>
              <a:rPr lang="en-US" sz="2800" b="1" dirty="0">
                <a:ea typeface="ＭＳ Ｐゴシック" panose="020B0600070205080204" pitchFamily="34" charset="-128"/>
              </a:rPr>
              <a:t>relationship</a:t>
            </a:r>
            <a:r>
              <a:rPr lang="en-US" sz="2800" dirty="0">
                <a:ea typeface="ＭＳ Ｐゴシック" panose="020B0600070205080204" pitchFamily="34" charset="-128"/>
              </a:rPr>
              <a:t>: also called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association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Car </a:t>
            </a:r>
            <a:r>
              <a:rPr lang="en-US" b="1" u="sng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is</a:t>
            </a:r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  vehicle</a:t>
            </a:r>
          </a:p>
          <a:p>
            <a:pPr lvl="1" eaLnBrk="1" hangingPunct="1"/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Student </a:t>
            </a:r>
            <a:r>
              <a:rPr lang="en-US" b="1" u="sng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is</a:t>
            </a:r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 person</a:t>
            </a:r>
          </a:p>
          <a:p>
            <a:pPr lvl="1" eaLnBrk="1" hangingPunct="1"/>
            <a:endParaRPr 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sz="2800" b="1" u="sng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Implementation:</a:t>
            </a:r>
          </a:p>
          <a:p>
            <a:pPr lvl="1" eaLnBrk="1" hangingPunct="1"/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Composition</a:t>
            </a:r>
            <a:r>
              <a:rPr lang="en-US" dirty="0">
                <a:ea typeface="ＭＳ Ｐゴシック" panose="020B0600070205080204" pitchFamily="34" charset="-128"/>
              </a:rPr>
              <a:t>: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making member </a:t>
            </a:r>
          </a:p>
          <a:p>
            <a:pPr lvl="1" eaLnBrk="1" hangingPunct="1"/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Association</a:t>
            </a:r>
            <a:r>
              <a:rPr lang="en-US" dirty="0">
                <a:ea typeface="ＭＳ Ｐゴシック" panose="020B0600070205080204" pitchFamily="34" charset="-128"/>
              </a:rPr>
              <a:t>: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using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4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Introduction - </a:t>
            </a:r>
            <a:r>
              <a:rPr lang="en-US" b="1" dirty="0">
                <a:solidFill>
                  <a:srgbClr val="D20000"/>
                </a:solidFill>
              </a:rPr>
              <a:t>Inheritance</a:t>
            </a:r>
            <a:endParaRPr lang="en-US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715000"/>
          </a:xfrm>
        </p:spPr>
        <p:txBody>
          <a:bodyPr/>
          <a:lstStyle/>
          <a:p>
            <a:r>
              <a:rPr lang="en-US" sz="30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Existing classes </a:t>
            </a:r>
            <a:r>
              <a:rPr lang="en-US" sz="3000" dirty="0">
                <a:ea typeface="ＭＳ Ｐゴシック" panose="020B0600070205080204" pitchFamily="34" charset="-128"/>
              </a:rPr>
              <a:t>are called </a:t>
            </a:r>
            <a:r>
              <a:rPr lang="en-US" sz="3000" b="1" u="sng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base classes</a:t>
            </a:r>
          </a:p>
          <a:p>
            <a:r>
              <a:rPr lang="en-US" sz="30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New classes </a:t>
            </a:r>
            <a:r>
              <a:rPr lang="en-US" sz="3000" dirty="0">
                <a:ea typeface="ＭＳ Ｐゴシック" panose="020B0600070205080204" pitchFamily="34" charset="-128"/>
              </a:rPr>
              <a:t>are called </a:t>
            </a:r>
            <a:r>
              <a:rPr lang="en-US" sz="3000" b="1" u="sng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derived classes</a:t>
            </a:r>
          </a:p>
          <a:p>
            <a:r>
              <a:rPr lang="en-US" sz="3000" b="1" dirty="0">
                <a:ea typeface="ＭＳ Ｐゴシック" panose="020B0600070205080204" pitchFamily="34" charset="-128"/>
              </a:rPr>
              <a:t>Objects</a:t>
            </a:r>
            <a:r>
              <a:rPr lang="en-US" sz="3000" dirty="0">
                <a:ea typeface="ＭＳ Ｐゴシック" panose="020B0600070205080204" pitchFamily="34" charset="-128"/>
              </a:rPr>
              <a:t> of </a:t>
            </a:r>
            <a:r>
              <a:rPr lang="en-US" sz="3000" b="1" dirty="0">
                <a:ea typeface="ＭＳ Ｐゴシック" panose="020B0600070205080204" pitchFamily="34" charset="-128"/>
              </a:rPr>
              <a:t>derived classes </a:t>
            </a:r>
            <a:r>
              <a:rPr lang="en-US" sz="3000" dirty="0">
                <a:ea typeface="ＭＳ Ｐゴシック" panose="020B0600070205080204" pitchFamily="34" charset="-128"/>
              </a:rPr>
              <a:t>are </a:t>
            </a:r>
            <a:r>
              <a:rPr lang="en-US" sz="3000" b="1" dirty="0">
                <a:ea typeface="ＭＳ Ｐゴシック" panose="020B0600070205080204" pitchFamily="34" charset="-128"/>
              </a:rPr>
              <a:t>more</a:t>
            </a:r>
            <a:r>
              <a:rPr lang="en-US" sz="3000" dirty="0">
                <a:ea typeface="ＭＳ Ｐゴシック" panose="020B0600070205080204" pitchFamily="34" charset="-128"/>
              </a:rPr>
              <a:t> </a:t>
            </a:r>
            <a:r>
              <a:rPr lang="en-US" sz="30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specialized</a:t>
            </a:r>
            <a:r>
              <a:rPr lang="en-US" sz="3000" dirty="0">
                <a:ea typeface="ＭＳ Ｐゴシック" panose="020B0600070205080204" pitchFamily="34" charset="-128"/>
              </a:rPr>
              <a:t> as compared to </a:t>
            </a:r>
            <a:r>
              <a:rPr lang="en-US" sz="3000" b="1" dirty="0">
                <a:ea typeface="ＭＳ Ｐゴシック" panose="020B0600070205080204" pitchFamily="34" charset="-128"/>
              </a:rPr>
              <a:t>objects of their base classes</a:t>
            </a:r>
          </a:p>
          <a:p>
            <a:endParaRPr lang="en-US" sz="2800" dirty="0">
              <a:ea typeface="ＭＳ Ｐゴシック" panose="020B0600070205080204" pitchFamily="34" charset="-128"/>
            </a:endParaRPr>
          </a:p>
          <a:p>
            <a:endParaRPr lang="en-US" sz="2800" dirty="0">
              <a:ea typeface="ＭＳ Ｐゴシック" panose="020B0600070205080204" pitchFamily="34" charset="-128"/>
            </a:endParaRPr>
          </a:p>
          <a:p>
            <a:pPr algn="just"/>
            <a:r>
              <a:rPr lang="en-US" sz="30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Inheritance</a:t>
            </a:r>
            <a:r>
              <a:rPr lang="en-US" sz="3000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3000" dirty="0">
                <a:ea typeface="ＭＳ Ｐゴシック" panose="020B0600070205080204" pitchFamily="34" charset="-128"/>
              </a:rPr>
              <a:t>provides us a </a:t>
            </a:r>
            <a:r>
              <a:rPr lang="en-US" sz="3000" b="1" dirty="0">
                <a:ea typeface="ＭＳ Ｐゴシック" panose="020B0600070205080204" pitchFamily="34" charset="-128"/>
              </a:rPr>
              <a:t>mechanism</a:t>
            </a:r>
            <a:r>
              <a:rPr lang="en-US" sz="3000" dirty="0">
                <a:ea typeface="ＭＳ Ｐゴシック" panose="020B0600070205080204" pitchFamily="34" charset="-128"/>
              </a:rPr>
              <a:t> of </a:t>
            </a:r>
            <a:r>
              <a:rPr lang="en-US" sz="3000" b="1" u="sng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software reusability</a:t>
            </a:r>
            <a:r>
              <a:rPr lang="en-US" sz="3000" dirty="0">
                <a:ea typeface="ＭＳ Ｐゴシック" panose="020B0600070205080204" pitchFamily="34" charset="-128"/>
              </a:rPr>
              <a:t> which is one of the </a:t>
            </a:r>
            <a:r>
              <a:rPr lang="en-US" sz="3000" b="1" dirty="0">
                <a:ea typeface="ＭＳ Ｐゴシック" panose="020B0600070205080204" pitchFamily="34" charset="-128"/>
              </a:rPr>
              <a:t>most important principles </a:t>
            </a:r>
            <a:r>
              <a:rPr lang="en-US" sz="3000" dirty="0">
                <a:ea typeface="ＭＳ Ｐゴシック" panose="020B0600070205080204" pitchFamily="34" charset="-128"/>
              </a:rPr>
              <a:t>of </a:t>
            </a:r>
            <a:r>
              <a:rPr lang="en-US" sz="3000" b="1" dirty="0">
                <a:ea typeface="ＭＳ Ｐゴシック" panose="020B0600070205080204" pitchFamily="34" charset="-128"/>
              </a:rPr>
              <a:t>software engineering</a:t>
            </a:r>
            <a:endParaRPr lang="en-US" sz="3000" b="1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0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Inheriting Data and Functions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65" y="1066800"/>
            <a:ext cx="8927535" cy="5638800"/>
          </a:xfrm>
        </p:spPr>
        <p:txBody>
          <a:bodyPr/>
          <a:lstStyle/>
          <a:p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All data members </a:t>
            </a:r>
            <a:r>
              <a:rPr lang="en-US" dirty="0">
                <a:ea typeface="ＭＳ Ｐゴシック" panose="020B0600070205080204" pitchFamily="34" charset="-128"/>
              </a:rPr>
              <a:t>and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member functions </a:t>
            </a:r>
            <a:r>
              <a:rPr lang="en-US" dirty="0">
                <a:ea typeface="ＭＳ Ｐゴシック" panose="020B0600070205080204" pitchFamily="34" charset="-128"/>
              </a:rPr>
              <a:t>of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</a:t>
            </a:r>
            <a:r>
              <a:rPr lang="en-US" b="1" dirty="0">
                <a:ea typeface="ＭＳ Ｐゴシック" panose="020B0600070205080204" pitchFamily="34" charset="-128"/>
              </a:rPr>
              <a:t>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class</a:t>
            </a:r>
            <a:r>
              <a:rPr lang="en-US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are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inherited</a:t>
            </a:r>
            <a:r>
              <a:rPr lang="en-US" b="1" dirty="0"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to</a:t>
            </a:r>
            <a:r>
              <a:rPr lang="en-US" b="1" dirty="0">
                <a:ea typeface="ＭＳ Ｐゴシック" panose="020B0600070205080204" pitchFamily="34" charset="-128"/>
              </a:rPr>
              <a:t> derived class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  <a:p>
            <a:r>
              <a:rPr lang="en-US" b="1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Constructors</a:t>
            </a:r>
            <a:r>
              <a:rPr lang="en-US" dirty="0">
                <a:ea typeface="ＭＳ Ｐゴシック" panose="020B0600070205080204" pitchFamily="34" charset="-128"/>
              </a:rPr>
              <a:t>, </a:t>
            </a:r>
            <a:r>
              <a:rPr lang="en-US" b="1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destructors</a:t>
            </a:r>
            <a:r>
              <a:rPr lang="en-US" dirty="0">
                <a:ea typeface="ＭＳ Ｐゴシック" panose="020B0600070205080204" pitchFamily="34" charset="-128"/>
              </a:rPr>
              <a:t> and </a:t>
            </a:r>
            <a:r>
              <a:rPr lang="en-US" b="1" dirty="0">
                <a:solidFill>
                  <a:srgbClr val="00B0F0"/>
                </a:solidFill>
                <a:ea typeface="ＭＳ Ｐゴシック" panose="020B0600070205080204" pitchFamily="34" charset="-128"/>
              </a:rPr>
              <a:t>= operator </a:t>
            </a:r>
            <a:r>
              <a:rPr lang="en-US" dirty="0">
                <a:ea typeface="ＭＳ Ｐゴシック" panose="020B0600070205080204" pitchFamily="34" charset="-128"/>
              </a:rPr>
              <a:t>are </a:t>
            </a:r>
            <a:r>
              <a:rPr lang="en-US" b="1" u="sng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not inherited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1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Some definitions in class hierarchy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32" y="960118"/>
            <a:ext cx="8936934" cy="58978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Direct base class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Inherited explicitly </a:t>
            </a:r>
            <a:r>
              <a:rPr lang="en-US" dirty="0">
                <a:ea typeface="ＭＳ Ｐゴシック" panose="020B0600070205080204" pitchFamily="34" charset="-128"/>
              </a:rPr>
              <a:t>(</a:t>
            </a:r>
            <a:r>
              <a:rPr lang="en-US" b="1" dirty="0">
                <a:ea typeface="ＭＳ Ｐゴシック" panose="020B0600070205080204" pitchFamily="34" charset="-128"/>
              </a:rPr>
              <a:t>one level up </a:t>
            </a:r>
            <a:r>
              <a:rPr lang="en-US" dirty="0">
                <a:ea typeface="ＭＳ Ｐゴシック" panose="020B0600070205080204" pitchFamily="34" charset="-128"/>
              </a:rPr>
              <a:t>hierarchy)</a:t>
            </a:r>
          </a:p>
          <a:p>
            <a:pPr lvl="1"/>
            <a:endParaRPr lang="en-US" dirty="0">
              <a:ea typeface="ＭＳ Ｐゴシック" panose="020B0600070205080204" pitchFamily="34" charset="-128"/>
            </a:endParaRPr>
          </a:p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Indirect base class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Inherited</a:t>
            </a:r>
            <a:r>
              <a:rPr lang="en-US" b="1" dirty="0">
                <a:ea typeface="ＭＳ Ｐゴシック" panose="020B0600070205080204" pitchFamily="34" charset="-128"/>
              </a:rPr>
              <a:t>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two or more levels up </a:t>
            </a:r>
            <a:r>
              <a:rPr lang="en-US" b="1" dirty="0">
                <a:ea typeface="ＭＳ Ｐゴシック" panose="020B0600070205080204" pitchFamily="34" charset="-128"/>
              </a:rPr>
              <a:t>hierarchy</a:t>
            </a:r>
          </a:p>
          <a:p>
            <a:pPr lvl="1"/>
            <a:endParaRPr lang="en-US" sz="2400" dirty="0">
              <a:ea typeface="ＭＳ Ｐゴシック" panose="020B0600070205080204" pitchFamily="34" charset="-128"/>
            </a:endParaRPr>
          </a:p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Single inheritance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Inherits from one base class</a:t>
            </a:r>
          </a:p>
          <a:p>
            <a:pPr lvl="1"/>
            <a:endParaRPr lang="en-US" sz="2400" dirty="0">
              <a:ea typeface="ＭＳ Ｐゴシック" panose="020B0600070205080204" pitchFamily="34" charset="-128"/>
            </a:endParaRPr>
          </a:p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Multiple inheritance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Inheritance from multiple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83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2813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Animals: Class</a:t>
            </a:r>
            <a:r>
              <a:rPr lang="ja-JP" alt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s hierarchy</a:t>
            </a:r>
            <a:endParaRPr lang="en-US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971800" y="2743200"/>
            <a:ext cx="1563688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Mammal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1828800" y="3581400"/>
            <a:ext cx="1306513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People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5562600" y="2743200"/>
            <a:ext cx="1524000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Reptiles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70" name="Rectangle 7"/>
          <p:cNvSpPr>
            <a:spLocks noChangeArrowheads="1"/>
          </p:cNvSpPr>
          <p:nvPr/>
        </p:nvSpPr>
        <p:spPr bwMode="auto">
          <a:xfrm>
            <a:off x="4114800" y="3657600"/>
            <a:ext cx="850900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Dog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71" name="Rectangle 8"/>
          <p:cNvSpPr>
            <a:spLocks noChangeArrowheads="1"/>
          </p:cNvSpPr>
          <p:nvPr/>
        </p:nvSpPr>
        <p:spPr bwMode="auto">
          <a:xfrm>
            <a:off x="4038600" y="1752600"/>
            <a:ext cx="1285875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Animal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72" name="Rectangle 9"/>
          <p:cNvSpPr>
            <a:spLocks noChangeArrowheads="1"/>
          </p:cNvSpPr>
          <p:nvPr/>
        </p:nvSpPr>
        <p:spPr bwMode="auto">
          <a:xfrm>
            <a:off x="1219200" y="4419600"/>
            <a:ext cx="890588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man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73" name="Rectangle 10"/>
          <p:cNvSpPr>
            <a:spLocks noChangeArrowheads="1"/>
          </p:cNvSpPr>
          <p:nvPr/>
        </p:nvSpPr>
        <p:spPr bwMode="auto">
          <a:xfrm>
            <a:off x="2895600" y="4419600"/>
            <a:ext cx="1346200" cy="531813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woman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74" name="Line 11"/>
          <p:cNvSpPr>
            <a:spLocks noChangeShapeType="1"/>
          </p:cNvSpPr>
          <p:nvPr/>
        </p:nvSpPr>
        <p:spPr bwMode="auto">
          <a:xfrm flipH="1">
            <a:off x="3810000" y="2286000"/>
            <a:ext cx="838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2"/>
          <p:cNvSpPr>
            <a:spLocks noChangeShapeType="1"/>
          </p:cNvSpPr>
          <p:nvPr/>
        </p:nvSpPr>
        <p:spPr bwMode="auto">
          <a:xfrm>
            <a:off x="4800600" y="2286000"/>
            <a:ext cx="1600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3"/>
          <p:cNvSpPr>
            <a:spLocks noChangeShapeType="1"/>
          </p:cNvSpPr>
          <p:nvPr/>
        </p:nvSpPr>
        <p:spPr bwMode="auto">
          <a:xfrm flipH="1">
            <a:off x="2438400" y="3276600"/>
            <a:ext cx="11430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4"/>
          <p:cNvSpPr>
            <a:spLocks noChangeShapeType="1"/>
          </p:cNvSpPr>
          <p:nvPr/>
        </p:nvSpPr>
        <p:spPr bwMode="auto">
          <a:xfrm>
            <a:off x="3886200" y="3276600"/>
            <a:ext cx="6858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5"/>
          <p:cNvSpPr>
            <a:spLocks noChangeShapeType="1"/>
          </p:cNvSpPr>
          <p:nvPr/>
        </p:nvSpPr>
        <p:spPr bwMode="auto">
          <a:xfrm>
            <a:off x="4343400" y="3276600"/>
            <a:ext cx="2286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Line 16"/>
          <p:cNvSpPr>
            <a:spLocks noChangeShapeType="1"/>
          </p:cNvSpPr>
          <p:nvPr/>
        </p:nvSpPr>
        <p:spPr bwMode="auto">
          <a:xfrm flipH="1">
            <a:off x="1676400" y="4114800"/>
            <a:ext cx="6096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17"/>
          <p:cNvSpPr>
            <a:spLocks noChangeShapeType="1"/>
          </p:cNvSpPr>
          <p:nvPr/>
        </p:nvSpPr>
        <p:spPr bwMode="auto">
          <a:xfrm>
            <a:off x="2743200" y="4114800"/>
            <a:ext cx="8382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Oval 18"/>
          <p:cNvSpPr>
            <a:spLocks noChangeArrowheads="1"/>
          </p:cNvSpPr>
          <p:nvPr/>
        </p:nvSpPr>
        <p:spPr bwMode="auto">
          <a:xfrm>
            <a:off x="1135063" y="5473700"/>
            <a:ext cx="1290637" cy="70961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ea typeface="SimSun" panose="02010600030101010101" pitchFamily="2" charset="-122"/>
              </a:rPr>
              <a:t>John</a:t>
            </a:r>
            <a:endParaRPr lang="en-US" dirty="0">
              <a:ea typeface="SimSun" panose="02010600030101010101" pitchFamily="2" charset="-122"/>
            </a:endParaRPr>
          </a:p>
        </p:txBody>
      </p:sp>
      <p:sp>
        <p:nvSpPr>
          <p:cNvPr id="11282" name="Oval 19"/>
          <p:cNvSpPr>
            <a:spLocks noChangeArrowheads="1"/>
          </p:cNvSpPr>
          <p:nvPr/>
        </p:nvSpPr>
        <p:spPr bwMode="auto">
          <a:xfrm>
            <a:off x="3111500" y="5473700"/>
            <a:ext cx="1319213" cy="70961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Mary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283" name="Line 20"/>
          <p:cNvSpPr>
            <a:spLocks noChangeShapeType="1"/>
          </p:cNvSpPr>
          <p:nvPr/>
        </p:nvSpPr>
        <p:spPr bwMode="auto">
          <a:xfrm>
            <a:off x="1676400" y="4953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Line 21"/>
          <p:cNvSpPr>
            <a:spLocks noChangeShapeType="1"/>
          </p:cNvSpPr>
          <p:nvPr/>
        </p:nvSpPr>
        <p:spPr bwMode="auto">
          <a:xfrm>
            <a:off x="3657600" y="4953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Text Box 22"/>
          <p:cNvSpPr txBox="1">
            <a:spLocks noChangeArrowheads="1"/>
          </p:cNvSpPr>
          <p:nvPr/>
        </p:nvSpPr>
        <p:spPr bwMode="auto">
          <a:xfrm>
            <a:off x="6156325" y="3622675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400">
                <a:latin typeface="Times New Roman" panose="02020603050405020304" pitchFamily="18" charset="0"/>
                <a:ea typeface="SimSun" panose="02010600030101010101" pitchFamily="2" charset="-122"/>
              </a:rPr>
              <a:t>. . . . .</a:t>
            </a:r>
          </a:p>
        </p:txBody>
      </p:sp>
      <p:sp>
        <p:nvSpPr>
          <p:cNvPr id="11286" name="Line 23"/>
          <p:cNvSpPr>
            <a:spLocks noChangeShapeType="1"/>
          </p:cNvSpPr>
          <p:nvPr/>
        </p:nvSpPr>
        <p:spPr bwMode="auto">
          <a:xfrm>
            <a:off x="914400" y="2286000"/>
            <a:ext cx="0" cy="274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7" name="Rectangle 24"/>
          <p:cNvSpPr>
            <a:spLocks noChangeArrowheads="1"/>
          </p:cNvSpPr>
          <p:nvPr/>
        </p:nvSpPr>
        <p:spPr bwMode="auto">
          <a:xfrm>
            <a:off x="255573" y="1706403"/>
            <a:ext cx="2282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chemeClr val="tx2"/>
                </a:solidFill>
                <a:ea typeface="SimSun" panose="02010600030101010101" pitchFamily="2" charset="-122"/>
              </a:rPr>
              <a:t>Classification</a:t>
            </a:r>
            <a:endParaRPr lang="en-US" dirty="0">
              <a:solidFill>
                <a:schemeClr val="tx2"/>
              </a:solidFill>
              <a:ea typeface="SimSun" panose="02010600030101010101" pitchFamily="2" charset="-122"/>
            </a:endParaRPr>
          </a:p>
        </p:txBody>
      </p:sp>
      <p:sp>
        <p:nvSpPr>
          <p:cNvPr id="11288" name="Line 25"/>
          <p:cNvSpPr>
            <a:spLocks noChangeShapeType="1"/>
          </p:cNvSpPr>
          <p:nvPr/>
        </p:nvSpPr>
        <p:spPr bwMode="auto">
          <a:xfrm flipV="1">
            <a:off x="7696200" y="1752600"/>
            <a:ext cx="0" cy="25146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Line 26"/>
          <p:cNvSpPr>
            <a:spLocks noChangeShapeType="1"/>
          </p:cNvSpPr>
          <p:nvPr/>
        </p:nvSpPr>
        <p:spPr bwMode="auto">
          <a:xfrm>
            <a:off x="533400" y="5181600"/>
            <a:ext cx="830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0" name="Rectangle 27"/>
          <p:cNvSpPr>
            <a:spLocks noChangeArrowheads="1"/>
          </p:cNvSpPr>
          <p:nvPr/>
        </p:nvSpPr>
        <p:spPr bwMode="auto">
          <a:xfrm>
            <a:off x="6324600" y="4419600"/>
            <a:ext cx="2190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3200" dirty="0">
                <a:solidFill>
                  <a:schemeClr val="tx2"/>
                </a:solidFill>
                <a:ea typeface="SimSun" panose="02010600030101010101" pitchFamily="2" charset="-122"/>
              </a:rPr>
              <a:t>Inheritance</a:t>
            </a:r>
            <a:endParaRPr lang="en-US" sz="3200" dirty="0">
              <a:solidFill>
                <a:schemeClr val="tx2"/>
              </a:solidFill>
              <a:ea typeface="SimSun" panose="02010600030101010101" pitchFamily="2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9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Inheritance Examples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3497144"/>
              </p:ext>
            </p:extLst>
          </p:nvPr>
        </p:nvGraphicFramePr>
        <p:xfrm>
          <a:off x="542925" y="1384300"/>
          <a:ext cx="8056563" cy="488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Document" r:id="rId3" imgW="4858110" imgH="2942893" progId="Word.Document.8">
                  <p:embed/>
                </p:oleObj>
              </mc:Choice>
              <mc:Fallback>
                <p:oleObj name="Document" r:id="rId3" imgW="4858110" imgH="2942893" progId="Word.Documen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1384300"/>
                        <a:ext cx="8056563" cy="488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9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36193"/>
            <a:ext cx="9067800" cy="857569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Another example: University</a:t>
            </a:r>
            <a:r>
              <a:rPr lang="ja-JP" altLang="en-US" sz="32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32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s community member</a:t>
            </a:r>
            <a:r>
              <a:rPr lang="ja-JP" altLang="en-US" sz="32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sz="32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s hierarchy</a:t>
            </a:r>
            <a:endParaRPr lang="en-US" sz="3200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762000" y="1447800"/>
            <a:ext cx="7315200" cy="4316413"/>
            <a:chOff x="432" y="1121"/>
            <a:chExt cx="4608" cy="2719"/>
          </a:xfrm>
        </p:grpSpPr>
        <p:sp>
          <p:nvSpPr>
            <p:cNvPr id="12292" name="Freeform 5"/>
            <p:cNvSpPr>
              <a:spLocks/>
            </p:cNvSpPr>
            <p:nvPr/>
          </p:nvSpPr>
          <p:spPr bwMode="auto">
            <a:xfrm>
              <a:off x="2322" y="1121"/>
              <a:ext cx="1260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7" y="0"/>
                  </a:moveTo>
                  <a:lnTo>
                    <a:pt x="1998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8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293" name="Freeform 6"/>
            <p:cNvSpPr>
              <a:spLocks/>
            </p:cNvSpPr>
            <p:nvPr/>
          </p:nvSpPr>
          <p:spPr bwMode="auto">
            <a:xfrm>
              <a:off x="3404" y="1800"/>
              <a:ext cx="710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7" y="0"/>
                  </a:moveTo>
                  <a:lnTo>
                    <a:pt x="1997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7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294" name="Freeform 7"/>
            <p:cNvSpPr>
              <a:spLocks/>
            </p:cNvSpPr>
            <p:nvPr/>
          </p:nvSpPr>
          <p:spPr bwMode="auto">
            <a:xfrm>
              <a:off x="1789" y="1800"/>
              <a:ext cx="711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7" y="0"/>
                  </a:moveTo>
                  <a:lnTo>
                    <a:pt x="1997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7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295" name="Freeform 8"/>
            <p:cNvSpPr>
              <a:spLocks/>
            </p:cNvSpPr>
            <p:nvPr/>
          </p:nvSpPr>
          <p:spPr bwMode="auto">
            <a:xfrm>
              <a:off x="2290" y="2394"/>
              <a:ext cx="710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7" y="0"/>
                  </a:moveTo>
                  <a:lnTo>
                    <a:pt x="1997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7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296" name="Freeform 9"/>
            <p:cNvSpPr>
              <a:spLocks/>
            </p:cNvSpPr>
            <p:nvPr/>
          </p:nvSpPr>
          <p:spPr bwMode="auto">
            <a:xfrm>
              <a:off x="1757" y="2988"/>
              <a:ext cx="710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7" y="0"/>
                  </a:moveTo>
                  <a:lnTo>
                    <a:pt x="1997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7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297" name="Freeform 10"/>
            <p:cNvSpPr>
              <a:spLocks/>
            </p:cNvSpPr>
            <p:nvPr/>
          </p:nvSpPr>
          <p:spPr bwMode="auto">
            <a:xfrm>
              <a:off x="432" y="2988"/>
              <a:ext cx="1099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85" y="0"/>
                  </a:moveTo>
                  <a:lnTo>
                    <a:pt x="19985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85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298" name="Freeform 11"/>
            <p:cNvSpPr>
              <a:spLocks/>
            </p:cNvSpPr>
            <p:nvPr/>
          </p:nvSpPr>
          <p:spPr bwMode="auto">
            <a:xfrm>
              <a:off x="768" y="3582"/>
              <a:ext cx="1712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91" y="0"/>
                  </a:moveTo>
                  <a:lnTo>
                    <a:pt x="19991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91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grpSp>
          <p:nvGrpSpPr>
            <p:cNvPr id="12299" name="Group 12"/>
            <p:cNvGrpSpPr>
              <a:grpSpLocks/>
            </p:cNvGrpSpPr>
            <p:nvPr/>
          </p:nvGrpSpPr>
          <p:grpSpPr bwMode="auto">
            <a:xfrm>
              <a:off x="4289" y="1729"/>
              <a:ext cx="751" cy="319"/>
              <a:chOff x="4308" y="1729"/>
              <a:chExt cx="904" cy="319"/>
            </a:xfrm>
          </p:grpSpPr>
          <p:sp>
            <p:nvSpPr>
              <p:cNvPr id="12336" name="Freeform 13"/>
              <p:cNvSpPr>
                <a:spLocks/>
              </p:cNvSpPr>
              <p:nvPr/>
            </p:nvSpPr>
            <p:spPr bwMode="auto">
              <a:xfrm>
                <a:off x="4308" y="1729"/>
                <a:ext cx="904" cy="31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00"/>
                  <a:gd name="T22" fmla="*/ 0 h 20000"/>
                  <a:gd name="T23" fmla="*/ 20000 w 20000"/>
                  <a:gd name="T24" fmla="*/ 20000 h 200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00" h="20000">
                    <a:moveTo>
                      <a:pt x="17125" y="0"/>
                    </a:moveTo>
                    <a:lnTo>
                      <a:pt x="19982" y="5318"/>
                    </a:lnTo>
                    <a:lnTo>
                      <a:pt x="19982" y="19955"/>
                    </a:lnTo>
                    <a:lnTo>
                      <a:pt x="0" y="19955"/>
                    </a:lnTo>
                    <a:lnTo>
                      <a:pt x="0" y="18636"/>
                    </a:lnTo>
                    <a:lnTo>
                      <a:pt x="0" y="0"/>
                    </a:lnTo>
                    <a:lnTo>
                      <a:pt x="17125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37" name="Freeform 14"/>
              <p:cNvSpPr>
                <a:spLocks/>
              </p:cNvSpPr>
              <p:nvPr/>
            </p:nvSpPr>
            <p:spPr bwMode="auto">
              <a:xfrm>
                <a:off x="5083" y="1729"/>
                <a:ext cx="129" cy="8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60000 65536"/>
                  <a:gd name="T7" fmla="*/ 0 60000 65536"/>
                  <a:gd name="T8" fmla="*/ 0 60000 65536"/>
                  <a:gd name="T9" fmla="*/ 0 w 20000"/>
                  <a:gd name="T10" fmla="*/ 0 h 20000"/>
                  <a:gd name="T11" fmla="*/ 20000 w 20000"/>
                  <a:gd name="T12" fmla="*/ 20000 h 200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00" h="20000">
                    <a:moveTo>
                      <a:pt x="19875" y="19829"/>
                    </a:moveTo>
                    <a:lnTo>
                      <a:pt x="0" y="19829"/>
                    </a:ln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38" name="Rectangle 15"/>
              <p:cNvSpPr>
                <a:spLocks noChangeArrowheads="1"/>
              </p:cNvSpPr>
              <p:nvPr/>
            </p:nvSpPr>
            <p:spPr bwMode="auto">
              <a:xfrm>
                <a:off x="4388" y="1779"/>
                <a:ext cx="7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noProof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 inheritance</a:t>
                </a:r>
              </a:p>
            </p:txBody>
          </p:sp>
        </p:grpSp>
        <p:sp>
          <p:nvSpPr>
            <p:cNvPr id="12300" name="Rectangle 16"/>
            <p:cNvSpPr>
              <a:spLocks noChangeArrowheads="1"/>
            </p:cNvSpPr>
            <p:nvPr/>
          </p:nvSpPr>
          <p:spPr bwMode="auto">
            <a:xfrm>
              <a:off x="2322" y="1163"/>
              <a:ext cx="1260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CommunityMember</a:t>
              </a:r>
            </a:p>
          </p:txBody>
        </p:sp>
        <p:sp>
          <p:nvSpPr>
            <p:cNvPr id="12301" name="Rectangle 17"/>
            <p:cNvSpPr>
              <a:spLocks noChangeArrowheads="1"/>
            </p:cNvSpPr>
            <p:nvPr/>
          </p:nvSpPr>
          <p:spPr bwMode="auto">
            <a:xfrm>
              <a:off x="1788" y="1859"/>
              <a:ext cx="712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Employee</a:t>
              </a:r>
            </a:p>
          </p:txBody>
        </p:sp>
        <p:sp>
          <p:nvSpPr>
            <p:cNvPr id="12302" name="Freeform 18"/>
            <p:cNvSpPr>
              <a:spLocks/>
            </p:cNvSpPr>
            <p:nvPr/>
          </p:nvSpPr>
          <p:spPr bwMode="auto">
            <a:xfrm>
              <a:off x="2597" y="1800"/>
              <a:ext cx="709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7" y="0"/>
                  </a:moveTo>
                  <a:lnTo>
                    <a:pt x="1997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7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303" name="Rectangle 19"/>
            <p:cNvSpPr>
              <a:spLocks noChangeArrowheads="1"/>
            </p:cNvSpPr>
            <p:nvPr/>
          </p:nvSpPr>
          <p:spPr bwMode="auto">
            <a:xfrm>
              <a:off x="2596" y="1859"/>
              <a:ext cx="71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Student</a:t>
              </a:r>
            </a:p>
          </p:txBody>
        </p:sp>
        <p:sp>
          <p:nvSpPr>
            <p:cNvPr id="12304" name="Rectangle 20"/>
            <p:cNvSpPr>
              <a:spLocks noChangeArrowheads="1"/>
            </p:cNvSpPr>
            <p:nvPr/>
          </p:nvSpPr>
          <p:spPr bwMode="auto">
            <a:xfrm>
              <a:off x="432" y="3047"/>
              <a:ext cx="109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Administrator</a:t>
              </a:r>
            </a:p>
          </p:txBody>
        </p:sp>
        <p:sp>
          <p:nvSpPr>
            <p:cNvPr id="12305" name="Rectangle 21"/>
            <p:cNvSpPr>
              <a:spLocks noChangeArrowheads="1"/>
            </p:cNvSpPr>
            <p:nvPr/>
          </p:nvSpPr>
          <p:spPr bwMode="auto">
            <a:xfrm>
              <a:off x="1756" y="3047"/>
              <a:ext cx="711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Teacher</a:t>
              </a:r>
            </a:p>
          </p:txBody>
        </p:sp>
        <p:sp>
          <p:nvSpPr>
            <p:cNvPr id="12306" name="Rectangle 22"/>
            <p:cNvSpPr>
              <a:spLocks noChangeArrowheads="1"/>
            </p:cNvSpPr>
            <p:nvPr/>
          </p:nvSpPr>
          <p:spPr bwMode="auto">
            <a:xfrm>
              <a:off x="787" y="3641"/>
              <a:ext cx="1713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AdministratorTeacher</a:t>
              </a:r>
            </a:p>
          </p:txBody>
        </p:sp>
        <p:sp>
          <p:nvSpPr>
            <p:cNvPr id="12307" name="Rectangle 23"/>
            <p:cNvSpPr>
              <a:spLocks noChangeArrowheads="1"/>
            </p:cNvSpPr>
            <p:nvPr/>
          </p:nvSpPr>
          <p:spPr bwMode="auto">
            <a:xfrm>
              <a:off x="2288" y="2453"/>
              <a:ext cx="712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Staff</a:t>
              </a:r>
            </a:p>
          </p:txBody>
        </p:sp>
        <p:sp>
          <p:nvSpPr>
            <p:cNvPr id="12308" name="Freeform 24"/>
            <p:cNvSpPr>
              <a:spLocks/>
            </p:cNvSpPr>
            <p:nvPr/>
          </p:nvSpPr>
          <p:spPr bwMode="auto">
            <a:xfrm>
              <a:off x="1288" y="2394"/>
              <a:ext cx="710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19977" y="0"/>
                  </a:moveTo>
                  <a:lnTo>
                    <a:pt x="19977" y="19929"/>
                  </a:lnTo>
                  <a:lnTo>
                    <a:pt x="0" y="19929"/>
                  </a:lnTo>
                  <a:lnTo>
                    <a:pt x="0" y="0"/>
                  </a:lnTo>
                  <a:lnTo>
                    <a:pt x="19977" y="0"/>
                  </a:lnTo>
                  <a:close/>
                </a:path>
              </a:pathLst>
            </a:custGeom>
            <a:solidFill>
              <a:srgbClr val="99CCFF"/>
            </a:solidFill>
            <a:ln w="254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/>
            </a:p>
          </p:txBody>
        </p:sp>
        <p:sp>
          <p:nvSpPr>
            <p:cNvPr id="12309" name="Rectangle 25"/>
            <p:cNvSpPr>
              <a:spLocks noChangeArrowheads="1"/>
            </p:cNvSpPr>
            <p:nvPr/>
          </p:nvSpPr>
          <p:spPr bwMode="auto">
            <a:xfrm>
              <a:off x="1288" y="2453"/>
              <a:ext cx="71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Faculty</a:t>
              </a:r>
            </a:p>
          </p:txBody>
        </p:sp>
        <p:grpSp>
          <p:nvGrpSpPr>
            <p:cNvPr id="12310" name="Group 26"/>
            <p:cNvGrpSpPr>
              <a:grpSpLocks/>
            </p:cNvGrpSpPr>
            <p:nvPr/>
          </p:nvGrpSpPr>
          <p:grpSpPr bwMode="auto">
            <a:xfrm>
              <a:off x="2177" y="1319"/>
              <a:ext cx="1550" cy="481"/>
              <a:chOff x="271" y="0"/>
              <a:chExt cx="19458" cy="20000"/>
            </a:xfrm>
          </p:grpSpPr>
          <p:sp>
            <p:nvSpPr>
              <p:cNvPr id="12333" name="Freeform 27"/>
              <p:cNvSpPr>
                <a:spLocks/>
              </p:cNvSpPr>
              <p:nvPr/>
            </p:nvSpPr>
            <p:spPr bwMode="auto">
              <a:xfrm>
                <a:off x="9991" y="0"/>
                <a:ext cx="9" cy="20000"/>
              </a:xfrm>
              <a:custGeom>
                <a:avLst/>
                <a:gdLst>
                  <a:gd name="T0" fmla="*/ 0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34" name="Freeform 28"/>
              <p:cNvSpPr>
                <a:spLocks/>
              </p:cNvSpPr>
              <p:nvPr/>
            </p:nvSpPr>
            <p:spPr bwMode="auto">
              <a:xfrm>
                <a:off x="271" y="0"/>
                <a:ext cx="5271" cy="20000"/>
              </a:xfrm>
              <a:custGeom>
                <a:avLst/>
                <a:gdLst>
                  <a:gd name="T0" fmla="*/ 0 w 20000"/>
                  <a:gd name="T1" fmla="*/ 19971 h 20000"/>
                  <a:gd name="T2" fmla="*/ 7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71"/>
                    </a:moveTo>
                    <a:lnTo>
                      <a:pt x="19962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35" name="Freeform 29"/>
              <p:cNvSpPr>
                <a:spLocks/>
              </p:cNvSpPr>
              <p:nvPr/>
            </p:nvSpPr>
            <p:spPr bwMode="auto">
              <a:xfrm>
                <a:off x="14461" y="0"/>
                <a:ext cx="5268" cy="20000"/>
              </a:xfrm>
              <a:custGeom>
                <a:avLst/>
                <a:gdLst>
                  <a:gd name="T0" fmla="*/ 7 w 20000"/>
                  <a:gd name="T1" fmla="*/ 19971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62" y="19971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</p:grpSp>
        <p:grpSp>
          <p:nvGrpSpPr>
            <p:cNvPr id="12311" name="Group 30"/>
            <p:cNvGrpSpPr>
              <a:grpSpLocks/>
            </p:cNvGrpSpPr>
            <p:nvPr/>
          </p:nvGrpSpPr>
          <p:grpSpPr bwMode="auto">
            <a:xfrm>
              <a:off x="1770" y="1998"/>
              <a:ext cx="749" cy="396"/>
              <a:chOff x="0" y="0"/>
              <a:chExt cx="20000" cy="20000"/>
            </a:xfrm>
          </p:grpSpPr>
          <p:sp>
            <p:nvSpPr>
              <p:cNvPr id="12331" name="Freeform 31"/>
              <p:cNvSpPr>
                <a:spLocks/>
              </p:cNvSpPr>
              <p:nvPr/>
            </p:nvSpPr>
            <p:spPr bwMode="auto">
              <a:xfrm>
                <a:off x="13963" y="0"/>
                <a:ext cx="6037" cy="20000"/>
              </a:xfrm>
              <a:custGeom>
                <a:avLst/>
                <a:gdLst>
                  <a:gd name="T0" fmla="*/ 15 w 20000"/>
                  <a:gd name="T1" fmla="*/ 19964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29" y="19964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32" name="Freeform 32"/>
              <p:cNvSpPr>
                <a:spLocks/>
              </p:cNvSpPr>
              <p:nvPr/>
            </p:nvSpPr>
            <p:spPr bwMode="auto">
              <a:xfrm>
                <a:off x="0" y="0"/>
                <a:ext cx="6031" cy="20000"/>
              </a:xfrm>
              <a:custGeom>
                <a:avLst/>
                <a:gdLst>
                  <a:gd name="T0" fmla="*/ 0 w 20000"/>
                  <a:gd name="T1" fmla="*/ 19964 h 20000"/>
                  <a:gd name="T2" fmla="*/ 15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64"/>
                    </a:moveTo>
                    <a:lnTo>
                      <a:pt x="19929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</p:grpSp>
        <p:grpSp>
          <p:nvGrpSpPr>
            <p:cNvPr id="12312" name="Group 33"/>
            <p:cNvGrpSpPr>
              <a:grpSpLocks/>
            </p:cNvGrpSpPr>
            <p:nvPr/>
          </p:nvGrpSpPr>
          <p:grpSpPr bwMode="auto">
            <a:xfrm>
              <a:off x="1273" y="2592"/>
              <a:ext cx="748" cy="396"/>
              <a:chOff x="-1" y="0"/>
              <a:chExt cx="20001" cy="20000"/>
            </a:xfrm>
          </p:grpSpPr>
          <p:sp>
            <p:nvSpPr>
              <p:cNvPr id="12329" name="Freeform 34"/>
              <p:cNvSpPr>
                <a:spLocks/>
              </p:cNvSpPr>
              <p:nvPr/>
            </p:nvSpPr>
            <p:spPr bwMode="auto">
              <a:xfrm>
                <a:off x="13969" y="0"/>
                <a:ext cx="6031" cy="20000"/>
              </a:xfrm>
              <a:custGeom>
                <a:avLst/>
                <a:gdLst>
                  <a:gd name="T0" fmla="*/ 15 w 20000"/>
                  <a:gd name="T1" fmla="*/ 19964 h 20000"/>
                  <a:gd name="T2" fmla="*/ 0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29" y="19964"/>
                    </a:move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30" name="Freeform 35"/>
              <p:cNvSpPr>
                <a:spLocks/>
              </p:cNvSpPr>
              <p:nvPr/>
            </p:nvSpPr>
            <p:spPr bwMode="auto">
              <a:xfrm>
                <a:off x="-1" y="0"/>
                <a:ext cx="6031" cy="20000"/>
              </a:xfrm>
              <a:custGeom>
                <a:avLst/>
                <a:gdLst>
                  <a:gd name="T0" fmla="*/ 0 w 20000"/>
                  <a:gd name="T1" fmla="*/ 19964 h 20000"/>
                  <a:gd name="T2" fmla="*/ 15 w 20000"/>
                  <a:gd name="T3" fmla="*/ 0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19964"/>
                    </a:moveTo>
                    <a:lnTo>
                      <a:pt x="19929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</p:grpSp>
        <p:grpSp>
          <p:nvGrpSpPr>
            <p:cNvPr id="12313" name="Group 36"/>
            <p:cNvGrpSpPr>
              <a:grpSpLocks/>
            </p:cNvGrpSpPr>
            <p:nvPr/>
          </p:nvGrpSpPr>
          <p:grpSpPr bwMode="auto">
            <a:xfrm>
              <a:off x="1269" y="3186"/>
              <a:ext cx="749" cy="396"/>
              <a:chOff x="0" y="0"/>
              <a:chExt cx="20000" cy="20000"/>
            </a:xfrm>
          </p:grpSpPr>
          <p:sp>
            <p:nvSpPr>
              <p:cNvPr id="12327" name="Freeform 37"/>
              <p:cNvSpPr>
                <a:spLocks/>
              </p:cNvSpPr>
              <p:nvPr/>
            </p:nvSpPr>
            <p:spPr bwMode="auto">
              <a:xfrm>
                <a:off x="13963" y="0"/>
                <a:ext cx="6037" cy="20000"/>
              </a:xfrm>
              <a:custGeom>
                <a:avLst/>
                <a:gdLst>
                  <a:gd name="T0" fmla="*/ 15 w 20000"/>
                  <a:gd name="T1" fmla="*/ 0 h 20000"/>
                  <a:gd name="T2" fmla="*/ 0 w 20000"/>
                  <a:gd name="T3" fmla="*/ 19964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19929" y="0"/>
                    </a:moveTo>
                    <a:lnTo>
                      <a:pt x="0" y="19964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28" name="Freeform 38"/>
              <p:cNvSpPr>
                <a:spLocks/>
              </p:cNvSpPr>
              <p:nvPr/>
            </p:nvSpPr>
            <p:spPr bwMode="auto">
              <a:xfrm>
                <a:off x="0" y="0"/>
                <a:ext cx="6031" cy="20000"/>
              </a:xfrm>
              <a:custGeom>
                <a:avLst/>
                <a:gdLst>
                  <a:gd name="T0" fmla="*/ 0 w 20000"/>
                  <a:gd name="T1" fmla="*/ 0 h 20000"/>
                  <a:gd name="T2" fmla="*/ 15 w 20000"/>
                  <a:gd name="T3" fmla="*/ 19964 h 20000"/>
                  <a:gd name="T4" fmla="*/ 0 60000 65536"/>
                  <a:gd name="T5" fmla="*/ 0 60000 65536"/>
                  <a:gd name="T6" fmla="*/ 0 w 20000"/>
                  <a:gd name="T7" fmla="*/ 0 h 20000"/>
                  <a:gd name="T8" fmla="*/ 20000 w 20000"/>
                  <a:gd name="T9" fmla="*/ 20000 h 200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00" h="20000">
                    <a:moveTo>
                      <a:pt x="0" y="0"/>
                    </a:moveTo>
                    <a:lnTo>
                      <a:pt x="19929" y="19964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</p:grpSp>
        <p:sp>
          <p:nvSpPr>
            <p:cNvPr id="12314" name="Rectangle 39"/>
            <p:cNvSpPr>
              <a:spLocks noChangeArrowheads="1"/>
            </p:cNvSpPr>
            <p:nvPr/>
          </p:nvSpPr>
          <p:spPr bwMode="auto">
            <a:xfrm>
              <a:off x="3402" y="1859"/>
              <a:ext cx="712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b="1" noProof="1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Alumnus</a:t>
              </a:r>
            </a:p>
          </p:txBody>
        </p:sp>
        <p:grpSp>
          <p:nvGrpSpPr>
            <p:cNvPr id="12315" name="Group 40"/>
            <p:cNvGrpSpPr>
              <a:grpSpLocks/>
            </p:cNvGrpSpPr>
            <p:nvPr/>
          </p:nvGrpSpPr>
          <p:grpSpPr bwMode="auto">
            <a:xfrm>
              <a:off x="3185" y="2321"/>
              <a:ext cx="751" cy="319"/>
              <a:chOff x="4308" y="1729"/>
              <a:chExt cx="904" cy="319"/>
            </a:xfrm>
          </p:grpSpPr>
          <p:sp>
            <p:nvSpPr>
              <p:cNvPr id="12324" name="Freeform 41"/>
              <p:cNvSpPr>
                <a:spLocks/>
              </p:cNvSpPr>
              <p:nvPr/>
            </p:nvSpPr>
            <p:spPr bwMode="auto">
              <a:xfrm>
                <a:off x="4308" y="1729"/>
                <a:ext cx="904" cy="31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00"/>
                  <a:gd name="T22" fmla="*/ 0 h 20000"/>
                  <a:gd name="T23" fmla="*/ 20000 w 20000"/>
                  <a:gd name="T24" fmla="*/ 20000 h 200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00" h="20000">
                    <a:moveTo>
                      <a:pt x="17125" y="0"/>
                    </a:moveTo>
                    <a:lnTo>
                      <a:pt x="19982" y="5318"/>
                    </a:lnTo>
                    <a:lnTo>
                      <a:pt x="19982" y="19955"/>
                    </a:lnTo>
                    <a:lnTo>
                      <a:pt x="0" y="19955"/>
                    </a:lnTo>
                    <a:lnTo>
                      <a:pt x="0" y="18636"/>
                    </a:lnTo>
                    <a:lnTo>
                      <a:pt x="0" y="0"/>
                    </a:lnTo>
                    <a:lnTo>
                      <a:pt x="17125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GB" sz="28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325" name="Freeform 42"/>
              <p:cNvSpPr>
                <a:spLocks/>
              </p:cNvSpPr>
              <p:nvPr/>
            </p:nvSpPr>
            <p:spPr bwMode="auto">
              <a:xfrm>
                <a:off x="5083" y="1729"/>
                <a:ext cx="129" cy="8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60000 65536"/>
                  <a:gd name="T7" fmla="*/ 0 60000 65536"/>
                  <a:gd name="T8" fmla="*/ 0 60000 65536"/>
                  <a:gd name="T9" fmla="*/ 0 w 20000"/>
                  <a:gd name="T10" fmla="*/ 0 h 20000"/>
                  <a:gd name="T11" fmla="*/ 20000 w 20000"/>
                  <a:gd name="T12" fmla="*/ 20000 h 200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00" h="20000">
                    <a:moveTo>
                      <a:pt x="19875" y="19829"/>
                    </a:moveTo>
                    <a:lnTo>
                      <a:pt x="0" y="19829"/>
                    </a:ln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26" name="Rectangle 43"/>
              <p:cNvSpPr>
                <a:spLocks noChangeArrowheads="1"/>
              </p:cNvSpPr>
              <p:nvPr/>
            </p:nvSpPr>
            <p:spPr bwMode="auto">
              <a:xfrm>
                <a:off x="4388" y="1779"/>
                <a:ext cx="7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noProof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 inheritance</a:t>
                </a:r>
              </a:p>
            </p:txBody>
          </p:sp>
        </p:grpSp>
        <p:grpSp>
          <p:nvGrpSpPr>
            <p:cNvPr id="12316" name="Group 44"/>
            <p:cNvGrpSpPr>
              <a:grpSpLocks/>
            </p:cNvGrpSpPr>
            <p:nvPr/>
          </p:nvGrpSpPr>
          <p:grpSpPr bwMode="auto">
            <a:xfrm>
              <a:off x="2657" y="2945"/>
              <a:ext cx="751" cy="319"/>
              <a:chOff x="4308" y="1729"/>
              <a:chExt cx="904" cy="319"/>
            </a:xfrm>
          </p:grpSpPr>
          <p:sp>
            <p:nvSpPr>
              <p:cNvPr id="12321" name="Freeform 45"/>
              <p:cNvSpPr>
                <a:spLocks/>
              </p:cNvSpPr>
              <p:nvPr/>
            </p:nvSpPr>
            <p:spPr bwMode="auto">
              <a:xfrm>
                <a:off x="4308" y="1729"/>
                <a:ext cx="904" cy="31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00"/>
                  <a:gd name="T22" fmla="*/ 0 h 20000"/>
                  <a:gd name="T23" fmla="*/ 20000 w 20000"/>
                  <a:gd name="T24" fmla="*/ 20000 h 200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00" h="20000">
                    <a:moveTo>
                      <a:pt x="17125" y="0"/>
                    </a:moveTo>
                    <a:lnTo>
                      <a:pt x="19982" y="5318"/>
                    </a:lnTo>
                    <a:lnTo>
                      <a:pt x="19982" y="19955"/>
                    </a:lnTo>
                    <a:lnTo>
                      <a:pt x="0" y="19955"/>
                    </a:lnTo>
                    <a:lnTo>
                      <a:pt x="0" y="18636"/>
                    </a:lnTo>
                    <a:lnTo>
                      <a:pt x="0" y="0"/>
                    </a:lnTo>
                    <a:lnTo>
                      <a:pt x="17125" y="0"/>
                    </a:ln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GB" sz="28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322" name="Freeform 46"/>
              <p:cNvSpPr>
                <a:spLocks/>
              </p:cNvSpPr>
              <p:nvPr/>
            </p:nvSpPr>
            <p:spPr bwMode="auto">
              <a:xfrm>
                <a:off x="5083" y="1729"/>
                <a:ext cx="129" cy="8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60000 65536"/>
                  <a:gd name="T7" fmla="*/ 0 60000 65536"/>
                  <a:gd name="T8" fmla="*/ 0 60000 65536"/>
                  <a:gd name="T9" fmla="*/ 0 w 20000"/>
                  <a:gd name="T10" fmla="*/ 0 h 20000"/>
                  <a:gd name="T11" fmla="*/ 20000 w 20000"/>
                  <a:gd name="T12" fmla="*/ 20000 h 200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00" h="20000">
                    <a:moveTo>
                      <a:pt x="19875" y="19829"/>
                    </a:moveTo>
                    <a:lnTo>
                      <a:pt x="0" y="19829"/>
                    </a:lnTo>
                    <a:lnTo>
                      <a:pt x="0" y="0"/>
                    </a:lnTo>
                  </a:path>
                </a:pathLst>
              </a:custGeom>
              <a:noFill/>
              <a:ln w="254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23" name="Rectangle 47"/>
              <p:cNvSpPr>
                <a:spLocks noChangeArrowheads="1"/>
              </p:cNvSpPr>
              <p:nvPr/>
            </p:nvSpPr>
            <p:spPr bwMode="auto">
              <a:xfrm>
                <a:off x="4388" y="1779"/>
                <a:ext cx="7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noProof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 inheritance</a:t>
                </a:r>
              </a:p>
            </p:txBody>
          </p:sp>
        </p:grpSp>
        <p:grpSp>
          <p:nvGrpSpPr>
            <p:cNvPr id="12317" name="Group 48"/>
            <p:cNvGrpSpPr>
              <a:grpSpLocks/>
            </p:cNvGrpSpPr>
            <p:nvPr/>
          </p:nvGrpSpPr>
          <p:grpSpPr bwMode="auto">
            <a:xfrm>
              <a:off x="2657" y="3521"/>
              <a:ext cx="751" cy="319"/>
              <a:chOff x="4308" y="1729"/>
              <a:chExt cx="904" cy="319"/>
            </a:xfrm>
          </p:grpSpPr>
          <p:sp>
            <p:nvSpPr>
              <p:cNvPr id="12318" name="Freeform 49"/>
              <p:cNvSpPr>
                <a:spLocks/>
              </p:cNvSpPr>
              <p:nvPr/>
            </p:nvSpPr>
            <p:spPr bwMode="auto">
              <a:xfrm>
                <a:off x="4308" y="1729"/>
                <a:ext cx="904" cy="31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000"/>
                  <a:gd name="T22" fmla="*/ 0 h 20000"/>
                  <a:gd name="T23" fmla="*/ 20000 w 20000"/>
                  <a:gd name="T24" fmla="*/ 20000 h 200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000" h="20000">
                    <a:moveTo>
                      <a:pt x="17125" y="0"/>
                    </a:moveTo>
                    <a:lnTo>
                      <a:pt x="19982" y="5318"/>
                    </a:lnTo>
                    <a:lnTo>
                      <a:pt x="19982" y="19955"/>
                    </a:lnTo>
                    <a:lnTo>
                      <a:pt x="0" y="19955"/>
                    </a:lnTo>
                    <a:lnTo>
                      <a:pt x="0" y="18636"/>
                    </a:lnTo>
                    <a:lnTo>
                      <a:pt x="0" y="0"/>
                    </a:lnTo>
                    <a:lnTo>
                      <a:pt x="17125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/>
              </a:p>
            </p:txBody>
          </p:sp>
          <p:sp>
            <p:nvSpPr>
              <p:cNvPr id="12319" name="Freeform 50"/>
              <p:cNvSpPr>
                <a:spLocks/>
              </p:cNvSpPr>
              <p:nvPr/>
            </p:nvSpPr>
            <p:spPr bwMode="auto">
              <a:xfrm>
                <a:off x="5083" y="1729"/>
                <a:ext cx="129" cy="8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60000 65536"/>
                  <a:gd name="T7" fmla="*/ 0 60000 65536"/>
                  <a:gd name="T8" fmla="*/ 0 60000 65536"/>
                  <a:gd name="T9" fmla="*/ 0 w 20000"/>
                  <a:gd name="T10" fmla="*/ 0 h 20000"/>
                  <a:gd name="T11" fmla="*/ 20000 w 20000"/>
                  <a:gd name="T12" fmla="*/ 20000 h 200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00" h="20000">
                    <a:moveTo>
                      <a:pt x="19875" y="19829"/>
                    </a:moveTo>
                    <a:lnTo>
                      <a:pt x="0" y="19829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2540">
                <a:solidFill>
                  <a:srgbClr val="000000"/>
                </a:solidFill>
                <a:round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en-GB" sz="28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2320" name="Rectangle 51"/>
              <p:cNvSpPr>
                <a:spLocks noChangeArrowheads="1"/>
              </p:cNvSpPr>
              <p:nvPr/>
            </p:nvSpPr>
            <p:spPr bwMode="auto">
              <a:xfrm>
                <a:off x="4388" y="1779"/>
                <a:ext cx="7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</a:t>
                </a:r>
                <a:r>
                  <a:rPr lang="en-US" sz="1600" noProof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inheritance</a:t>
                </a:r>
              </a:p>
            </p:txBody>
          </p:sp>
        </p:grpSp>
      </p:grpSp>
      <p:sp>
        <p:nvSpPr>
          <p:cNvPr id="51" name="Rectangle 50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48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22466" cy="99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D20000"/>
                </a:solidFill>
              </a:rPr>
              <a:t>Inheritance Concept</a:t>
            </a:r>
          </a:p>
        </p:txBody>
      </p:sp>
      <p:sp>
        <p:nvSpPr>
          <p:cNvPr id="123940" name="Rectangle 36"/>
          <p:cNvSpPr>
            <a:spLocks noChangeArrowheads="1"/>
          </p:cNvSpPr>
          <p:nvPr/>
        </p:nvSpPr>
        <p:spPr bwMode="auto">
          <a:xfrm>
            <a:off x="4588566" y="1070975"/>
            <a:ext cx="4398066" cy="2586625"/>
          </a:xfrm>
          <a:prstGeom prst="rect">
            <a:avLst/>
          </a:prstGeom>
          <a:solidFill>
            <a:srgbClr val="FFCC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Rectangle{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private: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 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    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public: 			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float area();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381000" y="2590800"/>
            <a:ext cx="1828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FF00"/>
                </a:solidFill>
              </a:rPr>
              <a:t>Rectangle</a:t>
            </a:r>
          </a:p>
        </p:txBody>
      </p:sp>
      <p:sp>
        <p:nvSpPr>
          <p:cNvPr id="13318" name="AutoShape 5"/>
          <p:cNvSpPr>
            <a:spLocks noChangeArrowheads="1"/>
          </p:cNvSpPr>
          <p:nvPr/>
        </p:nvSpPr>
        <p:spPr bwMode="auto">
          <a:xfrm>
            <a:off x="2286000" y="2590799"/>
            <a:ext cx="2057400" cy="1014413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FF00"/>
                </a:solidFill>
              </a:rPr>
              <a:t>Triangle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1638300" y="1509712"/>
            <a:ext cx="1828800" cy="609600"/>
          </a:xfrm>
          <a:prstGeom prst="rect">
            <a:avLst/>
          </a:prstGeom>
          <a:solidFill>
            <a:srgbClr val="FFFF99">
              <a:alpha val="0"/>
            </a:srgbClr>
          </a:solidFill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000066"/>
                </a:solidFill>
              </a:rPr>
              <a:t>Polygon</a:t>
            </a:r>
          </a:p>
        </p:txBody>
      </p:sp>
      <p:sp>
        <p:nvSpPr>
          <p:cNvPr id="123939" name="Rectangle 35"/>
          <p:cNvSpPr>
            <a:spLocks noChangeArrowheads="1"/>
          </p:cNvSpPr>
          <p:nvPr/>
        </p:nvSpPr>
        <p:spPr bwMode="auto">
          <a:xfrm>
            <a:off x="114300" y="3883532"/>
            <a:ext cx="4343400" cy="2545131"/>
          </a:xfrm>
          <a:prstGeom prst="rect">
            <a:avLst/>
          </a:prstGeom>
          <a:solidFill>
            <a:srgbClr val="D5E3FF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Polygon{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private: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  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23941" name="Rectangle 37"/>
          <p:cNvSpPr>
            <a:spLocks noChangeArrowheads="1"/>
          </p:cNvSpPr>
          <p:nvPr/>
        </p:nvSpPr>
        <p:spPr bwMode="auto">
          <a:xfrm>
            <a:off x="4588566" y="3918237"/>
            <a:ext cx="4398066" cy="2510426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Triangle{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private: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  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float area();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13322" name="Picture 2" descr="http://upload.wikimedia.org/wikipedia/commons/thumb/8/8f/Simple_polygon.svg/220px-Simple_polyg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98218"/>
            <a:ext cx="2343150" cy="1478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6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3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40" grpId="0" animBg="1"/>
      <p:bldP spid="123940" grpId="1" animBg="1"/>
      <p:bldP spid="123939" grpId="0" animBg="1"/>
      <p:bldP spid="12394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55" name="Rectangle 23"/>
          <p:cNvSpPr>
            <a:spLocks noGrp="1" noChangeArrowheads="1"/>
          </p:cNvSpPr>
          <p:nvPr>
            <p:ph type="title"/>
          </p:nvPr>
        </p:nvSpPr>
        <p:spPr>
          <a:xfrm>
            <a:off x="0" y="-9205"/>
            <a:ext cx="9144000" cy="90772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>
                <a:solidFill>
                  <a:srgbClr val="D20000"/>
                </a:solidFill>
              </a:rPr>
              <a:t>Inheritance Concept</a:t>
            </a: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44941FD-4BEB-43B1-8E10-2189F4C9518E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14340" name="Rectangle 6"/>
          <p:cNvSpPr>
            <a:spLocks noChangeArrowheads="1"/>
          </p:cNvSpPr>
          <p:nvPr/>
        </p:nvSpPr>
        <p:spPr bwMode="auto">
          <a:xfrm>
            <a:off x="114300" y="3124200"/>
            <a:ext cx="19050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FF00"/>
                </a:solidFill>
              </a:rPr>
              <a:t>Rectangle</a:t>
            </a:r>
          </a:p>
        </p:txBody>
      </p:sp>
      <p:sp>
        <p:nvSpPr>
          <p:cNvPr id="14341" name="AutoShape 8"/>
          <p:cNvSpPr>
            <a:spLocks noChangeArrowheads="1"/>
          </p:cNvSpPr>
          <p:nvPr/>
        </p:nvSpPr>
        <p:spPr bwMode="auto">
          <a:xfrm>
            <a:off x="2305050" y="2376232"/>
            <a:ext cx="1981200" cy="1295400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FFFF00"/>
                </a:solidFill>
              </a:rPr>
              <a:t>Triangle</a:t>
            </a:r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 flipH="1">
            <a:off x="1066800" y="2362200"/>
            <a:ext cx="533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4572000" y="1447800"/>
            <a:ext cx="4419600" cy="2286000"/>
          </a:xfrm>
          <a:prstGeom prst="rect">
            <a:avLst/>
          </a:prstGeom>
          <a:solidFill>
            <a:srgbClr val="D5E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Polygon{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float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20849" name="Rectangle 17"/>
          <p:cNvSpPr>
            <a:spLocks noChangeArrowheads="1"/>
          </p:cNvSpPr>
          <p:nvPr/>
        </p:nvSpPr>
        <p:spPr bwMode="auto">
          <a:xfrm>
            <a:off x="103361" y="4191000"/>
            <a:ext cx="3992955" cy="24384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sz="800" dirty="0">
              <a:solidFill>
                <a:srgbClr val="000066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Rectangle : public Polygon{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public: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 float area();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20851" name="AutoShape 19"/>
          <p:cNvSpPr>
            <a:spLocks noChangeArrowheads="1"/>
          </p:cNvSpPr>
          <p:nvPr/>
        </p:nvSpPr>
        <p:spPr bwMode="auto">
          <a:xfrm>
            <a:off x="4136302" y="5151119"/>
            <a:ext cx="393448" cy="259081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120852" name="Rectangle 20"/>
          <p:cNvSpPr>
            <a:spLocks noChangeArrowheads="1"/>
          </p:cNvSpPr>
          <p:nvPr/>
        </p:nvSpPr>
        <p:spPr bwMode="auto">
          <a:xfrm>
            <a:off x="4553893" y="4191000"/>
            <a:ext cx="4419600" cy="24384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Rectangle{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float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float area();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spcBef>
                <a:spcPct val="20000"/>
              </a:spcBef>
            </a:pPr>
            <a:endParaRPr lang="en-US" sz="2000" dirty="0">
              <a:solidFill>
                <a:srgbClr val="000066"/>
              </a:solidFill>
            </a:endParaRPr>
          </a:p>
        </p:txBody>
      </p:sp>
      <p:sp>
        <p:nvSpPr>
          <p:cNvPr id="14347" name="Rectangle 6"/>
          <p:cNvSpPr>
            <a:spLocks noChangeArrowheads="1"/>
          </p:cNvSpPr>
          <p:nvPr/>
        </p:nvSpPr>
        <p:spPr bwMode="auto">
          <a:xfrm>
            <a:off x="1295400" y="1447800"/>
            <a:ext cx="1828800" cy="609600"/>
          </a:xfrm>
          <a:prstGeom prst="rect">
            <a:avLst/>
          </a:prstGeom>
          <a:solidFill>
            <a:srgbClr val="FFFF99">
              <a:alpha val="0"/>
            </a:srgbClr>
          </a:solidFill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000066"/>
                </a:solidFill>
              </a:rPr>
              <a:t>Polygon</a:t>
            </a:r>
          </a:p>
        </p:txBody>
      </p:sp>
      <p:pic>
        <p:nvPicPr>
          <p:cNvPr id="14348" name="Picture 2" descr="http://upload.wikimedia.org/wikipedia/commons/thumb/8/8f/Simple_polygon.svg/220px-Simple_polyg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37259"/>
            <a:ext cx="2819400" cy="158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9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44" grpId="0" animBg="1"/>
      <p:bldP spid="120849" grpId="0" animBg="1"/>
      <p:bldP spid="120851" grpId="0" animBg="1"/>
      <p:bldP spid="12085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72" name="Rectangle 16"/>
          <p:cNvSpPr>
            <a:spLocks noGrp="1" noChangeArrowheads="1"/>
          </p:cNvSpPr>
          <p:nvPr>
            <p:ph type="title"/>
          </p:nvPr>
        </p:nvSpPr>
        <p:spPr>
          <a:xfrm>
            <a:off x="0" y="39687"/>
            <a:ext cx="9079117" cy="84613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solidFill>
                  <a:srgbClr val="D20000"/>
                </a:solidFill>
              </a:rPr>
              <a:t>Inheritance Concept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0FDDDC9-D5F9-43AF-A061-EEF6D0537D7B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04800" y="32004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FF00"/>
                </a:solidFill>
              </a:rPr>
              <a:t>Rectangle</a:t>
            </a:r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2209800" y="3173994"/>
            <a:ext cx="2057400" cy="982206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dirty="0">
                <a:solidFill>
                  <a:srgbClr val="FFFF00"/>
                </a:solidFill>
              </a:rPr>
              <a:t>Triangle</a:t>
            </a:r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 flipH="1">
            <a:off x="1066800" y="2362200"/>
            <a:ext cx="533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>
            <a:off x="2590800" y="2362200"/>
            <a:ext cx="533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4638360" y="1199560"/>
            <a:ext cx="4354716" cy="2325279"/>
          </a:xfrm>
          <a:prstGeom prst="rect">
            <a:avLst/>
          </a:prstGeom>
          <a:solidFill>
            <a:srgbClr val="D5E3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Polygon{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float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spcBef>
                <a:spcPct val="20000"/>
              </a:spcBef>
            </a:pPr>
            <a:endParaRPr lang="en-US" sz="1600" b="1" dirty="0">
              <a:latin typeface="Consolas" panose="020B0609020204030204" pitchFamily="49" charset="0"/>
            </a:endParaRP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85580" y="4611986"/>
            <a:ext cx="3819840" cy="1905000"/>
          </a:xfrm>
          <a:prstGeom prst="rect">
            <a:avLst/>
          </a:prstGeom>
          <a:solidFill>
            <a:srgbClr val="FFCC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sz="800" dirty="0">
              <a:solidFill>
                <a:srgbClr val="0066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Triangle : public Polygon{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float area();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5370" name="AutoShape 12"/>
          <p:cNvSpPr>
            <a:spLocks noChangeArrowheads="1"/>
          </p:cNvSpPr>
          <p:nvPr/>
        </p:nvSpPr>
        <p:spPr bwMode="auto">
          <a:xfrm>
            <a:off x="4071780" y="5496522"/>
            <a:ext cx="381000" cy="228600"/>
          </a:xfrm>
          <a:prstGeom prst="left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15371" name="Rectangle 13"/>
          <p:cNvSpPr>
            <a:spLocks noChangeArrowheads="1"/>
          </p:cNvSpPr>
          <p:nvPr/>
        </p:nvSpPr>
        <p:spPr bwMode="auto">
          <a:xfrm>
            <a:off x="4638360" y="3941275"/>
            <a:ext cx="4354717" cy="25908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Triangle{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numVertices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float *</a:t>
            </a:r>
            <a:r>
              <a:rPr lang="en-US" sz="1600" b="1" dirty="0" err="1">
                <a:latin typeface="Consolas" panose="020B0609020204030204" pitchFamily="49" charset="0"/>
              </a:rPr>
              <a:t>xCoord</a:t>
            </a:r>
            <a:r>
              <a:rPr lang="en-US" sz="1600" b="1" dirty="0">
                <a:latin typeface="Consolas" panose="020B0609020204030204" pitchFamily="49" charset="0"/>
              </a:rPr>
              <a:t>, float *</a:t>
            </a:r>
            <a:r>
              <a:rPr lang="en-US" sz="1600" b="1" dirty="0" err="1">
                <a:latin typeface="Consolas" panose="020B0609020204030204" pitchFamily="49" charset="0"/>
              </a:rPr>
              <a:t>yCoord</a:t>
            </a:r>
            <a:r>
              <a:rPr lang="en-US" sz="1600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void set(float *x, float *y,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</a:rPr>
              <a:t>nV</a:t>
            </a:r>
            <a:r>
              <a:rPr lang="en-US" sz="16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float area();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spcBef>
                <a:spcPct val="20000"/>
              </a:spcBef>
            </a:pPr>
            <a:endParaRPr lang="en-US" sz="2000" dirty="0">
              <a:solidFill>
                <a:srgbClr val="000066"/>
              </a:solidFill>
            </a:endParaRPr>
          </a:p>
        </p:txBody>
      </p:sp>
      <p:sp>
        <p:nvSpPr>
          <p:cNvPr id="15372" name="Rectangle 6"/>
          <p:cNvSpPr>
            <a:spLocks noChangeArrowheads="1"/>
          </p:cNvSpPr>
          <p:nvPr/>
        </p:nvSpPr>
        <p:spPr bwMode="auto">
          <a:xfrm>
            <a:off x="1295400" y="1447800"/>
            <a:ext cx="1828800" cy="609600"/>
          </a:xfrm>
          <a:prstGeom prst="rect">
            <a:avLst/>
          </a:prstGeom>
          <a:solidFill>
            <a:srgbClr val="FFFF99">
              <a:alpha val="0"/>
            </a:srgbClr>
          </a:solidFill>
          <a:ln w="9525">
            <a:solidFill>
              <a:schemeClr val="tx1">
                <a:alpha val="0"/>
              </a:schemeClr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>
                <a:solidFill>
                  <a:srgbClr val="000066"/>
                </a:solidFill>
              </a:rPr>
              <a:t>Polygon</a:t>
            </a:r>
          </a:p>
        </p:txBody>
      </p:sp>
      <p:pic>
        <p:nvPicPr>
          <p:cNvPr id="15373" name="Picture 2" descr="http://upload.wikimedia.org/wikipedia/commons/thumb/8/8f/Simple_polygon.svg/220px-Simple_polyg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51025"/>
            <a:ext cx="23622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7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67800" cy="914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900" b="1" dirty="0">
                <a:solidFill>
                  <a:srgbClr val="D20000"/>
                </a:solidFill>
              </a:rPr>
              <a:t>Inheritance</a:t>
            </a:r>
            <a:r>
              <a:rPr lang="en-US" sz="4000" dirty="0">
                <a:latin typeface="Comic Sans MS" pitchFamily="66" charset="0"/>
              </a:rPr>
              <a:t> </a:t>
            </a:r>
            <a:r>
              <a:rPr lang="en-US" sz="4900" b="1" dirty="0">
                <a:solidFill>
                  <a:srgbClr val="D20000"/>
                </a:solidFill>
              </a:rPr>
              <a:t>Concept</a:t>
            </a:r>
          </a:p>
        </p:txBody>
      </p:sp>
      <p:sp>
        <p:nvSpPr>
          <p:cNvPr id="16388" name="Text Box 10"/>
          <p:cNvSpPr txBox="1">
            <a:spLocks noChangeArrowheads="1"/>
          </p:cNvSpPr>
          <p:nvPr/>
        </p:nvSpPr>
        <p:spPr bwMode="auto">
          <a:xfrm>
            <a:off x="1839913" y="1306512"/>
            <a:ext cx="827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/>
              <a:t>Point</a:t>
            </a:r>
          </a:p>
        </p:txBody>
      </p:sp>
      <p:sp>
        <p:nvSpPr>
          <p:cNvPr id="16389" name="Text Box 11"/>
          <p:cNvSpPr txBox="1">
            <a:spLocks noChangeArrowheads="1"/>
          </p:cNvSpPr>
          <p:nvPr/>
        </p:nvSpPr>
        <p:spPr bwMode="auto">
          <a:xfrm>
            <a:off x="1146175" y="2373312"/>
            <a:ext cx="92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/>
              <a:t>Circle</a:t>
            </a:r>
          </a:p>
        </p:txBody>
      </p:sp>
      <p:sp>
        <p:nvSpPr>
          <p:cNvPr id="16390" name="Text Box 12"/>
          <p:cNvSpPr txBox="1">
            <a:spLocks noChangeArrowheads="1"/>
          </p:cNvSpPr>
          <p:nvPr/>
        </p:nvSpPr>
        <p:spPr bwMode="auto">
          <a:xfrm>
            <a:off x="2301875" y="2373312"/>
            <a:ext cx="130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/>
              <a:t>3D-Point</a:t>
            </a:r>
          </a:p>
        </p:txBody>
      </p:sp>
      <p:sp>
        <p:nvSpPr>
          <p:cNvPr id="16391" name="Rectangle 21"/>
          <p:cNvSpPr>
            <a:spLocks noChangeArrowheads="1"/>
          </p:cNvSpPr>
          <p:nvPr/>
        </p:nvSpPr>
        <p:spPr bwMode="auto">
          <a:xfrm>
            <a:off x="5327964" y="1581936"/>
            <a:ext cx="3581400" cy="1882916"/>
          </a:xfrm>
          <a:prstGeom prst="rect">
            <a:avLst/>
          </a:prstGeom>
          <a:solidFill>
            <a:srgbClr val="D5E3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void set 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b);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3142" name="Rectangle 22"/>
          <p:cNvSpPr>
            <a:spLocks noChangeArrowheads="1"/>
          </p:cNvSpPr>
          <p:nvPr/>
        </p:nvSpPr>
        <p:spPr bwMode="auto">
          <a:xfrm>
            <a:off x="914400" y="4419600"/>
            <a:ext cx="3505200" cy="12954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Circle : public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private: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double r;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3143" name="Rectangle 23"/>
          <p:cNvSpPr>
            <a:spLocks noChangeArrowheads="1"/>
          </p:cNvSpPr>
          <p:nvPr/>
        </p:nvSpPr>
        <p:spPr bwMode="auto">
          <a:xfrm>
            <a:off x="5327964" y="4419600"/>
            <a:ext cx="3587436" cy="1295400"/>
          </a:xfrm>
          <a:prstGeom prst="rect">
            <a:avLst/>
          </a:prstGeom>
          <a:solidFill>
            <a:srgbClr val="FFCCFF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3D-Point: public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private: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z;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6394" name="Text Box 24"/>
          <p:cNvSpPr txBox="1">
            <a:spLocks noChangeArrowheads="1"/>
          </p:cNvSpPr>
          <p:nvPr/>
        </p:nvSpPr>
        <p:spPr bwMode="auto">
          <a:xfrm>
            <a:off x="3048000" y="1227137"/>
            <a:ext cx="3079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/>
              <a:t>x</a:t>
            </a:r>
          </a:p>
          <a:p>
            <a:pPr eaLnBrk="1" hangingPunct="1"/>
            <a:r>
              <a:rPr lang="en-US" sz="1800" b="1"/>
              <a:t>y</a:t>
            </a:r>
          </a:p>
        </p:txBody>
      </p:sp>
      <p:sp>
        <p:nvSpPr>
          <p:cNvPr id="133145" name="Text Box 25"/>
          <p:cNvSpPr txBox="1">
            <a:spLocks noChangeArrowheads="1"/>
          </p:cNvSpPr>
          <p:nvPr/>
        </p:nvSpPr>
        <p:spPr bwMode="auto">
          <a:xfrm>
            <a:off x="1524000" y="2819400"/>
            <a:ext cx="3079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/>
              <a:t>x</a:t>
            </a:r>
          </a:p>
          <a:p>
            <a:pPr eaLnBrk="1" hangingPunct="1"/>
            <a:r>
              <a:rPr lang="en-US" sz="1800" b="1"/>
              <a:t>y</a:t>
            </a:r>
          </a:p>
          <a:p>
            <a:pPr eaLnBrk="1" hangingPunct="1"/>
            <a:r>
              <a:rPr lang="en-US" sz="1800" b="1"/>
              <a:t>r</a:t>
            </a:r>
          </a:p>
        </p:txBody>
      </p:sp>
      <p:sp>
        <p:nvSpPr>
          <p:cNvPr id="133146" name="Text Box 26"/>
          <p:cNvSpPr txBox="1">
            <a:spLocks noChangeArrowheads="1"/>
          </p:cNvSpPr>
          <p:nvPr/>
        </p:nvSpPr>
        <p:spPr bwMode="auto">
          <a:xfrm>
            <a:off x="2743200" y="2819400"/>
            <a:ext cx="3079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/>
              <a:t>x</a:t>
            </a:r>
          </a:p>
          <a:p>
            <a:pPr eaLnBrk="1" hangingPunct="1"/>
            <a:r>
              <a:rPr lang="en-US" sz="1800" b="1"/>
              <a:t>y</a:t>
            </a:r>
          </a:p>
          <a:p>
            <a:pPr eaLnBrk="1" hangingPunct="1"/>
            <a:r>
              <a:rPr lang="en-US" sz="1800" b="1"/>
              <a:t>z</a:t>
            </a:r>
          </a:p>
        </p:txBody>
      </p:sp>
      <p:sp>
        <p:nvSpPr>
          <p:cNvPr id="133147" name="Line 27"/>
          <p:cNvSpPr>
            <a:spLocks noChangeShapeType="1"/>
          </p:cNvSpPr>
          <p:nvPr/>
        </p:nvSpPr>
        <p:spPr bwMode="auto">
          <a:xfrm flipH="1">
            <a:off x="1600200" y="1763712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48" name="Line 28"/>
          <p:cNvSpPr>
            <a:spLocks noChangeShapeType="1"/>
          </p:cNvSpPr>
          <p:nvPr/>
        </p:nvSpPr>
        <p:spPr bwMode="auto">
          <a:xfrm>
            <a:off x="2438400" y="1763712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2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2" grpId="0" animBg="1"/>
      <p:bldP spid="133143" grpId="0" animBg="1"/>
      <p:bldP spid="133145" grpId="0" animBg="1"/>
      <p:bldP spid="133146" grpId="0" animBg="1"/>
      <p:bldP spid="133147" grpId="0" animBg="1"/>
      <p:bldP spid="13314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352"/>
            <a:ext cx="9122466" cy="93175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Define a Class Hierarchy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79972" y="1066800"/>
            <a:ext cx="8987828" cy="5715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Syntax:</a:t>
            </a:r>
          </a:p>
          <a:p>
            <a:pPr>
              <a:buFontTx/>
              <a:buNone/>
            </a:pPr>
            <a:r>
              <a:rPr lang="en-US" sz="3600" b="1" i="1" dirty="0">
                <a:ea typeface="ＭＳ Ｐゴシック" panose="020B0600070205080204" pitchFamily="34" charset="-128"/>
              </a:rPr>
              <a:t>	</a:t>
            </a:r>
            <a:r>
              <a:rPr lang="en-US" b="1" dirty="0">
                <a:ea typeface="ＭＳ Ｐゴシック" panose="020B0600070205080204" pitchFamily="34" charset="-128"/>
              </a:rPr>
              <a:t>class </a:t>
            </a:r>
            <a:r>
              <a:rPr lang="en-US" sz="2800" b="1" i="1" dirty="0" err="1">
                <a:solidFill>
                  <a:srgbClr val="008000"/>
                </a:solidFill>
                <a:ea typeface="ＭＳ Ｐゴシック" panose="020B0600070205080204" pitchFamily="34" charset="-128"/>
              </a:rPr>
              <a:t>DerivedClassName</a:t>
            </a:r>
            <a:r>
              <a:rPr lang="en-US" sz="2800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800" b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:</a:t>
            </a:r>
            <a:r>
              <a:rPr lang="en-US" sz="28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access-level </a:t>
            </a:r>
            <a:r>
              <a:rPr lang="en-US" sz="2800" b="1" i="1" dirty="0" err="1">
                <a:solidFill>
                  <a:srgbClr val="008000"/>
                </a:solidFill>
                <a:ea typeface="ＭＳ Ｐゴシック" panose="020B0600070205080204" pitchFamily="34" charset="-128"/>
              </a:rPr>
              <a:t>BaseClassName</a:t>
            </a:r>
            <a:endParaRPr lang="en-US" sz="2800" b="1" i="1" dirty="0">
              <a:solidFill>
                <a:srgbClr val="008000"/>
              </a:solidFill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endParaRPr lang="en-US" sz="900" i="1" dirty="0">
              <a:solidFill>
                <a:srgbClr val="006600"/>
              </a:solidFill>
              <a:ea typeface="ＭＳ Ｐゴシック" panose="020B0600070205080204" pitchFamily="34" charset="-128"/>
            </a:endParaRPr>
          </a:p>
          <a:p>
            <a:pPr>
              <a:buFontTx/>
              <a:buNone/>
            </a:pPr>
            <a:r>
              <a:rPr lang="en-US" sz="2800" i="1" dirty="0">
                <a:ea typeface="ＭＳ Ｐゴシック" panose="020B0600070205080204" pitchFamily="34" charset="-128"/>
              </a:rPr>
              <a:t>	where </a:t>
            </a:r>
          </a:p>
          <a:p>
            <a:pPr lvl="1"/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access-level </a:t>
            </a:r>
            <a:r>
              <a:rPr lang="en-US" b="1" dirty="0">
                <a:ea typeface="ＭＳ Ｐゴシック" panose="020B0600070205080204" pitchFamily="34" charset="-128"/>
              </a:rPr>
              <a:t>specifies</a:t>
            </a:r>
            <a:r>
              <a:rPr lang="en-US" dirty="0">
                <a:ea typeface="ＭＳ Ｐゴシック" panose="020B0600070205080204" pitchFamily="34" charset="-128"/>
              </a:rPr>
              <a:t> the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type of derivation</a:t>
            </a:r>
          </a:p>
          <a:p>
            <a:pPr lvl="2"/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private</a:t>
            </a:r>
            <a:r>
              <a:rPr lang="en-US" sz="2800" b="1" dirty="0">
                <a:ea typeface="ＭＳ Ｐゴシック" panose="020B0600070205080204" pitchFamily="34" charset="-128"/>
              </a:rPr>
              <a:t> by default, or</a:t>
            </a:r>
          </a:p>
          <a:p>
            <a:pPr lvl="2"/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public</a:t>
            </a:r>
          </a:p>
          <a:p>
            <a:pPr lvl="2"/>
            <a:endParaRPr lang="en-US" sz="2800" b="1" dirty="0">
              <a:solidFill>
                <a:srgbClr val="2C14DE"/>
              </a:solidFill>
              <a:ea typeface="ＭＳ Ｐゴシック" panose="020B0600070205080204" pitchFamily="34" charset="-128"/>
            </a:endParaRPr>
          </a:p>
          <a:p>
            <a:r>
              <a:rPr lang="en-US" b="1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Any class can serve as a base class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Thus a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derived class </a:t>
            </a:r>
            <a:r>
              <a:rPr lang="en-US" b="1" dirty="0">
                <a:ea typeface="ＭＳ Ｐゴシック" panose="020B0600070205080204" pitchFamily="34" charset="-128"/>
              </a:rPr>
              <a:t>can also be </a:t>
            </a:r>
            <a:r>
              <a:rPr lang="en-US" dirty="0">
                <a:ea typeface="ＭＳ Ｐゴシック" panose="020B0600070205080204" pitchFamily="34" charset="-128"/>
              </a:rPr>
              <a:t>a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</a:t>
            </a: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914400" y="2362200"/>
            <a:ext cx="7239000" cy="53340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22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2574"/>
            <a:ext cx="9122466" cy="9369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Class Derivation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1563687" y="1035608"/>
            <a:ext cx="8258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b="1" dirty="0"/>
              <a:t>Point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427196" y="2035868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 dirty="0"/>
              <a:t>3D-Point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5562600" y="1224561"/>
            <a:ext cx="3340100" cy="1877765"/>
          </a:xfrm>
          <a:prstGeom prst="rect">
            <a:avLst/>
          </a:prstGeom>
          <a:solidFill>
            <a:srgbClr val="D5E3F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void set 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b);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381000" y="3719482"/>
            <a:ext cx="3585370" cy="16303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class 3D-Point : public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private: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 double z;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8440" name="Line 13"/>
          <p:cNvSpPr>
            <a:spLocks noChangeShapeType="1"/>
          </p:cNvSpPr>
          <p:nvPr/>
        </p:nvSpPr>
        <p:spPr bwMode="auto">
          <a:xfrm>
            <a:off x="2023852" y="13716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6" name="Rectangle 14"/>
          <p:cNvSpPr>
            <a:spLocks noChangeArrowheads="1"/>
          </p:cNvSpPr>
          <p:nvPr/>
        </p:nvSpPr>
        <p:spPr bwMode="auto">
          <a:xfrm>
            <a:off x="5257801" y="3738250"/>
            <a:ext cx="3652444" cy="159575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Sphere : public 3D-Point{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private: 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 double r;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6207" name="Line 15"/>
          <p:cNvSpPr>
            <a:spLocks noChangeShapeType="1"/>
          </p:cNvSpPr>
          <p:nvPr/>
        </p:nvSpPr>
        <p:spPr bwMode="auto">
          <a:xfrm>
            <a:off x="2033291" y="24052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208" name="Text Box 16"/>
          <p:cNvSpPr txBox="1">
            <a:spLocks noChangeArrowheads="1"/>
          </p:cNvSpPr>
          <p:nvPr/>
        </p:nvSpPr>
        <p:spPr bwMode="auto">
          <a:xfrm>
            <a:off x="1496303" y="2989201"/>
            <a:ext cx="10550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b="1" dirty="0"/>
              <a:t>Sphere</a:t>
            </a:r>
          </a:p>
        </p:txBody>
      </p:sp>
      <p:sp>
        <p:nvSpPr>
          <p:cNvPr id="136211" name="Text Box 19"/>
          <p:cNvSpPr txBox="1">
            <a:spLocks noChangeArrowheads="1"/>
          </p:cNvSpPr>
          <p:nvPr/>
        </p:nvSpPr>
        <p:spPr bwMode="auto">
          <a:xfrm>
            <a:off x="344032" y="5985768"/>
            <a:ext cx="756533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339933"/>
                </a:solidFill>
              </a:rPr>
              <a:t>Point</a:t>
            </a:r>
            <a:r>
              <a:rPr lang="en-US" sz="2000" b="1" dirty="0"/>
              <a:t> is the base class of </a:t>
            </a:r>
            <a:r>
              <a:rPr lang="en-US" sz="2000" b="1" dirty="0">
                <a:solidFill>
                  <a:srgbClr val="339933"/>
                </a:solidFill>
              </a:rPr>
              <a:t>3D-Point</a:t>
            </a:r>
            <a:r>
              <a:rPr lang="en-US" sz="2000" b="1" dirty="0"/>
              <a:t>, while </a:t>
            </a:r>
            <a:r>
              <a:rPr lang="en-US" sz="2000" b="1" dirty="0">
                <a:solidFill>
                  <a:srgbClr val="339933"/>
                </a:solidFill>
              </a:rPr>
              <a:t>3D-Point</a:t>
            </a:r>
            <a:r>
              <a:rPr lang="en-US" sz="2000" b="1" dirty="0"/>
              <a:t> is the base class of </a:t>
            </a:r>
            <a:r>
              <a:rPr lang="en-US" sz="2000" b="1" dirty="0">
                <a:solidFill>
                  <a:srgbClr val="339933"/>
                </a:solidFill>
              </a:rPr>
              <a:t>Sphere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7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6" grpId="0" animBg="1"/>
      <p:bldP spid="136207" grpId="0" animBg="1"/>
      <p:bldP spid="136208" grpId="0"/>
      <p:bldP spid="1362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298"/>
            <a:ext cx="9122466" cy="906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What to inherit?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8839200" cy="25908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 principle</a:t>
            </a:r>
            <a:r>
              <a:rPr lang="en-US" dirty="0">
                <a:ea typeface="ＭＳ Ｐゴシック" panose="020B0600070205080204" pitchFamily="34" charset="-128"/>
              </a:rPr>
              <a:t>,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every member </a:t>
            </a:r>
            <a:r>
              <a:rPr lang="en-US" dirty="0">
                <a:ea typeface="ＭＳ Ｐゴシック" panose="020B0600070205080204" pitchFamily="34" charset="-128"/>
              </a:rPr>
              <a:t>(</a:t>
            </a:r>
            <a:r>
              <a:rPr lang="en-US" b="1" u="sng" dirty="0">
                <a:ea typeface="ＭＳ Ｐゴシック" panose="020B0600070205080204" pitchFamily="34" charset="-128"/>
              </a:rPr>
              <a:t>but not private</a:t>
            </a:r>
            <a:r>
              <a:rPr lang="en-US" dirty="0">
                <a:ea typeface="ＭＳ Ｐゴシック" panose="020B0600070205080204" pitchFamily="34" charset="-128"/>
              </a:rPr>
              <a:t>) of a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</a:t>
            </a:r>
            <a:r>
              <a:rPr lang="en-US" dirty="0">
                <a:ea typeface="ＭＳ Ｐゴシック" panose="020B0600070205080204" pitchFamily="34" charset="-128"/>
              </a:rPr>
              <a:t>is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inherited</a:t>
            </a:r>
            <a:r>
              <a:rPr lang="en-US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by a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derived class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 </a:t>
            </a:r>
            <a:r>
              <a:rPr lang="en-US" b="1" dirty="0">
                <a:ea typeface="ＭＳ Ｐゴシック" panose="020B0600070205080204" pitchFamily="34" charset="-128"/>
              </a:rPr>
              <a:t>just with different access permission</a:t>
            </a:r>
            <a:endParaRPr lang="en-US" sz="1000" b="1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64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7058"/>
            <a:ext cx="9122466" cy="87734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Access Control Over the Members</a:t>
            </a:r>
          </a:p>
        </p:txBody>
      </p:sp>
      <p:sp>
        <p:nvSpPr>
          <p:cNvPr id="40964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3886200" y="1142999"/>
            <a:ext cx="5029200" cy="1828800"/>
          </a:xfrm>
        </p:spPr>
        <p:txBody>
          <a:bodyPr/>
          <a:lstStyle/>
          <a:p>
            <a:r>
              <a:rPr lang="en-US" b="1" dirty="0">
                <a:ea typeface="ＭＳ Ｐゴシック" panose="020B0600070205080204" pitchFamily="34" charset="-128"/>
              </a:rPr>
              <a:t>Two levels </a:t>
            </a:r>
            <a:r>
              <a:rPr lang="en-US" dirty="0">
                <a:ea typeface="ＭＳ Ｐゴシック" panose="020B0600070205080204" pitchFamily="34" charset="-128"/>
              </a:rPr>
              <a:t>of </a:t>
            </a:r>
            <a:r>
              <a:rPr lang="en-US" b="1" dirty="0">
                <a:ea typeface="ＭＳ Ｐゴシック" panose="020B0600070205080204" pitchFamily="34" charset="-128"/>
              </a:rPr>
              <a:t>access control </a:t>
            </a:r>
            <a:r>
              <a:rPr lang="en-US" dirty="0">
                <a:ea typeface="ＭＳ Ｐゴシック" panose="020B0600070205080204" pitchFamily="34" charset="-128"/>
              </a:rPr>
              <a:t>over </a:t>
            </a:r>
            <a:r>
              <a:rPr lang="en-US" b="1" dirty="0">
                <a:ea typeface="ＭＳ Ｐゴシック" panose="020B0600070205080204" pitchFamily="34" charset="-128"/>
              </a:rPr>
              <a:t>class members</a:t>
            </a:r>
          </a:p>
          <a:p>
            <a:pPr lvl="1"/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class definition</a:t>
            </a:r>
          </a:p>
          <a:p>
            <a:pPr lvl="1"/>
            <a:r>
              <a:rPr lang="en-US" b="1" dirty="0">
                <a:solidFill>
                  <a:srgbClr val="008000"/>
                </a:solidFill>
                <a:ea typeface="ＭＳ Ｐゴシック" panose="020B0600070205080204" pitchFamily="34" charset="-128"/>
              </a:rPr>
              <a:t>inheritance type</a:t>
            </a: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048079"/>
              </p:ext>
            </p:extLst>
          </p:nvPr>
        </p:nvGraphicFramePr>
        <p:xfrm>
          <a:off x="533400" y="1905000"/>
          <a:ext cx="28956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VISIO" r:id="rId3" imgW="1945307" imgH="1910002" progId="">
                  <p:embed/>
                </p:oleObj>
              </mc:Choice>
              <mc:Fallback>
                <p:oleObj name="VISIO" r:id="rId3" imgW="1945307" imgH="191000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28956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4267200" y="3390900"/>
            <a:ext cx="4572000" cy="1524000"/>
          </a:xfrm>
          <a:prstGeom prst="rect">
            <a:avLst/>
          </a:prstGeom>
          <a:solidFill>
            <a:srgbClr val="CCFFFF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000" dirty="0"/>
              <a:t>class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D20000"/>
                </a:solidFill>
              </a:rPr>
              <a:t>protected:</a:t>
            </a:r>
            <a:r>
              <a:rPr lang="en-US" sz="2000" dirty="0"/>
              <a:t> </a:t>
            </a:r>
            <a:r>
              <a:rPr lang="en-US" sz="2000" dirty="0" err="1"/>
              <a:t>int</a:t>
            </a:r>
            <a:r>
              <a:rPr lang="en-US" sz="2000" dirty="0"/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2000" dirty="0"/>
              <a:t>	</a:t>
            </a:r>
            <a:r>
              <a:rPr lang="en-US" sz="2000" b="1" dirty="0">
                <a:solidFill>
                  <a:srgbClr val="D20000"/>
                </a:solidFill>
              </a:rPr>
              <a:t>public: </a:t>
            </a:r>
            <a:r>
              <a:rPr lang="en-US" sz="2000" dirty="0"/>
              <a:t>void set(</a:t>
            </a:r>
            <a:r>
              <a:rPr lang="en-US" sz="2000" dirty="0" err="1"/>
              <a:t>int</a:t>
            </a:r>
            <a:r>
              <a:rPr lang="en-US" sz="2000" dirty="0"/>
              <a:t> a, </a:t>
            </a:r>
            <a:r>
              <a:rPr lang="en-US" sz="2000" dirty="0" err="1"/>
              <a:t>int</a:t>
            </a:r>
            <a:r>
              <a:rPr lang="en-US" sz="2000" dirty="0"/>
              <a:t> b);</a:t>
            </a:r>
          </a:p>
          <a:p>
            <a:pPr eaLnBrk="1" hangingPunct="1">
              <a:spcBef>
                <a:spcPct val="20000"/>
              </a:spcBef>
            </a:pPr>
            <a:r>
              <a:rPr lang="en-US" sz="2000" dirty="0"/>
              <a:t>};</a:t>
            </a:r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4267200" y="5334000"/>
            <a:ext cx="4572000" cy="1143000"/>
          </a:xfrm>
          <a:prstGeom prst="rect">
            <a:avLst/>
          </a:prstGeom>
          <a:solidFill>
            <a:srgbClr val="FFFF99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000" dirty="0">
                <a:solidFill>
                  <a:srgbClr val="000066"/>
                </a:solidFill>
              </a:rPr>
              <a:t>class Circle : </a:t>
            </a:r>
            <a:r>
              <a:rPr lang="en-US" sz="2000" b="1" dirty="0">
                <a:solidFill>
                  <a:srgbClr val="008000"/>
                </a:solidFill>
              </a:rPr>
              <a:t>public</a:t>
            </a:r>
            <a:r>
              <a:rPr lang="en-US" sz="2000" dirty="0">
                <a:solidFill>
                  <a:srgbClr val="008000"/>
                </a:solidFill>
              </a:rPr>
              <a:t> </a:t>
            </a:r>
            <a:r>
              <a:rPr lang="en-US" sz="2000" dirty="0">
                <a:solidFill>
                  <a:srgbClr val="000066"/>
                </a:solidFill>
              </a:rPr>
              <a:t>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2000" dirty="0">
                <a:solidFill>
                  <a:srgbClr val="000066"/>
                </a:solidFill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2000" dirty="0">
                <a:solidFill>
                  <a:srgbClr val="000066"/>
                </a:solidFill>
              </a:rPr>
              <a:t>};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5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/>
      <p:bldP spid="40967" grpId="0" animBg="1"/>
      <p:bldP spid="409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99" y="73936"/>
            <a:ext cx="9067800" cy="840464"/>
          </a:xfrm>
          <a:solidFill>
            <a:schemeClr val="bg1"/>
          </a:solidFill>
        </p:spPr>
        <p:txBody>
          <a:bodyPr lIns="92075" tIns="46038" rIns="92075" bIns="46038" anchor="b"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Constructor Rules for Derived Classes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2772" y="1066800"/>
            <a:ext cx="8918827" cy="11430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ea typeface="ＭＳ Ｐゴシック" panose="020B0600070205080204" pitchFamily="34" charset="-128"/>
              </a:rPr>
              <a:t>	The </a:t>
            </a:r>
            <a:r>
              <a:rPr lang="en-US" sz="24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default constructor </a:t>
            </a:r>
            <a:r>
              <a:rPr lang="en-US" sz="2400" dirty="0">
                <a:ea typeface="ＭＳ Ｐゴシック" panose="020B0600070205080204" pitchFamily="34" charset="-128"/>
              </a:rPr>
              <a:t>and the </a:t>
            </a:r>
            <a:r>
              <a:rPr lang="en-US" sz="24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destructor</a:t>
            </a:r>
            <a:r>
              <a:rPr lang="en-US" sz="2400" dirty="0">
                <a:ea typeface="ＭＳ Ｐゴシック" panose="020B0600070205080204" pitchFamily="34" charset="-128"/>
              </a:rPr>
              <a:t> of the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</a:t>
            </a:r>
            <a:r>
              <a:rPr lang="en-US" sz="2400" dirty="0">
                <a:ea typeface="ＭＳ Ｐゴシック" panose="020B0600070205080204" pitchFamily="34" charset="-128"/>
              </a:rPr>
              <a:t>are </a:t>
            </a:r>
            <a:r>
              <a:rPr lang="en-US" sz="2400" b="1" u="sng" dirty="0">
                <a:ea typeface="ＭＳ Ｐゴシック" panose="020B0600070205080204" pitchFamily="34" charset="-128"/>
              </a:rPr>
              <a:t>always called </a:t>
            </a:r>
            <a:r>
              <a:rPr lang="en-US" sz="2400" dirty="0">
                <a:ea typeface="ＭＳ Ｐゴシック" panose="020B0600070205080204" pitchFamily="34" charset="-128"/>
              </a:rPr>
              <a:t>when a </a:t>
            </a:r>
            <a:r>
              <a:rPr lang="en-US" sz="2400" b="1" u="sng" dirty="0">
                <a:ea typeface="ＭＳ Ｐゴシック" panose="020B0600070205080204" pitchFamily="34" charset="-128"/>
              </a:rPr>
              <a:t>new object </a:t>
            </a:r>
            <a:r>
              <a:rPr lang="en-US" sz="2400" dirty="0">
                <a:ea typeface="ＭＳ Ｐゴシック" panose="020B0600070205080204" pitchFamily="34" charset="-128"/>
              </a:rPr>
              <a:t>of a </a:t>
            </a:r>
            <a:r>
              <a:rPr lang="en-US" sz="2400" b="1" dirty="0">
                <a:ea typeface="ＭＳ Ｐゴシック" panose="020B0600070205080204" pitchFamily="34" charset="-128"/>
              </a:rPr>
              <a:t>derived class </a:t>
            </a:r>
            <a:r>
              <a:rPr lang="en-US" sz="2400" dirty="0">
                <a:ea typeface="ＭＳ Ｐゴシック" panose="020B0600070205080204" pitchFamily="34" charset="-128"/>
              </a:rPr>
              <a:t>is </a:t>
            </a:r>
            <a:r>
              <a:rPr lang="en-US" sz="2400" b="1" u="sng" dirty="0">
                <a:ea typeface="ＭＳ Ｐゴシック" panose="020B0600070205080204" pitchFamily="34" charset="-128"/>
              </a:rPr>
              <a:t>created</a:t>
            </a:r>
            <a:r>
              <a:rPr lang="en-US" sz="2400" dirty="0">
                <a:ea typeface="ＭＳ Ｐゴシック" panose="020B0600070205080204" pitchFamily="34" charset="-128"/>
              </a:rPr>
              <a:t> or </a:t>
            </a:r>
            <a:r>
              <a:rPr lang="en-US" sz="2400" b="1" u="sng" dirty="0">
                <a:ea typeface="ＭＳ Ｐゴシック" panose="020B0600070205080204" pitchFamily="34" charset="-128"/>
              </a:rPr>
              <a:t>destroyed</a:t>
            </a:r>
            <a:r>
              <a:rPr lang="en-US" sz="2400" dirty="0"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228600" y="2514601"/>
            <a:ext cx="4267200" cy="21336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A 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A ( 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{ </a:t>
            </a:r>
            <a:r>
              <a:rPr lang="en-US" sz="1600" b="1" dirty="0" err="1">
                <a:latin typeface="Consolas" panose="020B0609020204030204" pitchFamily="49" charset="0"/>
              </a:rPr>
              <a:t>cout</a:t>
            </a:r>
            <a:r>
              <a:rPr lang="en-US" sz="1600" b="1" dirty="0">
                <a:latin typeface="Consolas" panose="020B0609020204030204" pitchFamily="49" charset="0"/>
              </a:rPr>
              <a:t>&lt;&lt; </a:t>
            </a:r>
            <a:r>
              <a:rPr lang="en-US" altLang="fr-FR" sz="1600" b="1" dirty="0">
                <a:latin typeface="Consolas" panose="020B0609020204030204" pitchFamily="49" charset="0"/>
              </a:rPr>
              <a:t>“</a:t>
            </a:r>
            <a:r>
              <a:rPr lang="en-US" sz="1600" b="1" dirty="0" err="1">
                <a:latin typeface="Consolas" panose="020B0609020204030204" pitchFamily="49" charset="0"/>
              </a:rPr>
              <a:t>A:default</a:t>
            </a:r>
            <a:r>
              <a:rPr lang="en-US" altLang="fr-FR" sz="1600" b="1" dirty="0">
                <a:latin typeface="Consolas" panose="020B0609020204030204" pitchFamily="49" charset="0"/>
              </a:rPr>
              <a:t>”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latin typeface="Consolas" panose="020B0609020204030204" pitchFamily="49" charset="0"/>
              </a:rPr>
              <a:t>endl</a:t>
            </a:r>
            <a:r>
              <a:rPr lang="en-US" sz="1600" b="1" dirty="0">
                <a:latin typeface="Consolas" panose="020B0609020204030204" pitchFamily="49" charset="0"/>
              </a:rPr>
              <a:t>; 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A 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{ </a:t>
            </a:r>
            <a:r>
              <a:rPr lang="en-US" sz="1600" b="1" dirty="0" err="1">
                <a:latin typeface="Consolas" panose="020B0609020204030204" pitchFamily="49" charset="0"/>
              </a:rPr>
              <a:t>cout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altLang="fr-FR" sz="1600" b="1" dirty="0">
                <a:latin typeface="Consolas" panose="020B0609020204030204" pitchFamily="49" charset="0"/>
              </a:rPr>
              <a:t>“</a:t>
            </a:r>
            <a:r>
              <a:rPr lang="en-US" sz="1600" b="1" dirty="0" err="1">
                <a:latin typeface="Consolas" panose="020B0609020204030204" pitchFamily="49" charset="0"/>
              </a:rPr>
              <a:t>A:parameter</a:t>
            </a:r>
            <a:r>
              <a:rPr lang="en-US" altLang="fr-FR" sz="1600" b="1" dirty="0">
                <a:latin typeface="Consolas" panose="020B0609020204030204" pitchFamily="49" charset="0"/>
              </a:rPr>
              <a:t>”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latin typeface="Consolas" panose="020B0609020204030204" pitchFamily="49" charset="0"/>
              </a:rPr>
              <a:t>endl</a:t>
            </a:r>
            <a:r>
              <a:rPr lang="en-US" sz="1600" b="1" dirty="0">
                <a:latin typeface="Consolas" panose="020B0609020204030204" pitchFamily="49" charset="0"/>
              </a:rPr>
              <a:t>; 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auto">
          <a:xfrm>
            <a:off x="5410200" y="2499359"/>
            <a:ext cx="3276600" cy="2148841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B : public A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public: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B 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  { </a:t>
            </a:r>
            <a:r>
              <a:rPr lang="en-US" sz="1600" b="1" dirty="0" err="1">
                <a:latin typeface="Consolas" panose="020B0609020204030204" pitchFamily="49" charset="0"/>
              </a:rPr>
              <a:t>cout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altLang="fr-FR" sz="1600" b="1" dirty="0">
                <a:latin typeface="Consolas" panose="020B0609020204030204" pitchFamily="49" charset="0"/>
              </a:rPr>
              <a:t>“</a:t>
            </a:r>
            <a:r>
              <a:rPr lang="en-US" sz="1600" b="1" dirty="0">
                <a:latin typeface="Consolas" panose="020B0609020204030204" pitchFamily="49" charset="0"/>
              </a:rPr>
              <a:t>B</a:t>
            </a:r>
            <a:r>
              <a:rPr lang="en-US" altLang="fr-FR" sz="1600" b="1" dirty="0">
                <a:latin typeface="Consolas" panose="020B0609020204030204" pitchFamily="49" charset="0"/>
              </a:rPr>
              <a:t>”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latin typeface="Consolas" panose="020B0609020204030204" pitchFamily="49" charset="0"/>
              </a:rPr>
              <a:t>endl</a:t>
            </a:r>
            <a:r>
              <a:rPr lang="en-US" sz="1600" b="1" dirty="0">
                <a:latin typeface="Consolas" panose="020B0609020204030204" pitchFamily="49" charset="0"/>
              </a:rPr>
              <a:t>; 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2209800" y="5791200"/>
            <a:ext cx="1905000" cy="40011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>
                <a:latin typeface="Consolas" panose="020B0609020204030204" pitchFamily="49" charset="0"/>
              </a:rPr>
              <a:t>B test(1);</a:t>
            </a:r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5867400" y="5791200"/>
            <a:ext cx="1752600" cy="7080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 err="1">
                <a:solidFill>
                  <a:srgbClr val="2C14DE"/>
                </a:solidFill>
              </a:rPr>
              <a:t>A:default</a:t>
            </a:r>
            <a:endParaRPr lang="en-US" sz="2000" dirty="0">
              <a:solidFill>
                <a:srgbClr val="2C14DE"/>
              </a:solidFill>
            </a:endParaRPr>
          </a:p>
          <a:p>
            <a:pPr>
              <a:defRPr/>
            </a:pPr>
            <a:r>
              <a:rPr lang="en-US" sz="2000" dirty="0">
                <a:solidFill>
                  <a:srgbClr val="2C14DE"/>
                </a:solidFill>
              </a:rPr>
              <a:t>B</a:t>
            </a: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4784725" y="5729288"/>
            <a:ext cx="106792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b="1" u="sng" dirty="0"/>
              <a:t>output: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0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animBg="1"/>
      <p:bldP spid="101381" grpId="0" animBg="1"/>
      <p:bldP spid="101382" grpId="0" animBg="1"/>
      <p:bldP spid="101383" grpId="0" animBg="1"/>
      <p:bldP spid="10138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956"/>
            <a:ext cx="9122466" cy="807244"/>
          </a:xfrm>
        </p:spPr>
        <p:txBody>
          <a:bodyPr lIns="92075" tIns="46038" rIns="92075" bIns="46038" anchor="b">
            <a:normAutofit/>
          </a:bodyPr>
          <a:lstStyle/>
          <a:p>
            <a:r>
              <a:rPr lang="en-US" sz="40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Constructor Rules for Derived Classes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22466" cy="762000"/>
          </a:xfrm>
        </p:spPr>
        <p:txBody>
          <a:bodyPr lIns="92075" tIns="46038" rIns="92075" bIns="46038"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ea typeface="ＭＳ Ｐゴシック" panose="020B0600070205080204" pitchFamily="34" charset="-128"/>
              </a:rPr>
              <a:t>	You can also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specifically call</a:t>
            </a:r>
            <a:r>
              <a:rPr lang="en-US" sz="2800" b="1" dirty="0">
                <a:ea typeface="ＭＳ Ｐゴシック" panose="020B0600070205080204" pitchFamily="34" charset="-128"/>
              </a:rPr>
              <a:t> a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constructor</a:t>
            </a:r>
            <a:r>
              <a:rPr lang="en-US" sz="2800" b="1" dirty="0">
                <a:ea typeface="ＭＳ Ｐゴシック" panose="020B0600070205080204" pitchFamily="34" charset="-128"/>
              </a:rPr>
              <a:t> of the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</a:t>
            </a:r>
            <a:r>
              <a:rPr lang="en-US" sz="2800" b="1" u="sng" dirty="0">
                <a:ea typeface="ＭＳ Ｐゴシック" panose="020B0600070205080204" pitchFamily="34" charset="-128"/>
              </a:rPr>
              <a:t>other than</a:t>
            </a:r>
            <a:r>
              <a:rPr lang="en-US" sz="2800" b="1" dirty="0">
                <a:ea typeface="ＭＳ Ｐゴシック" panose="020B0600070205080204" pitchFamily="34" charset="-128"/>
              </a:rPr>
              <a:t> the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default constructor</a:t>
            </a:r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494922" y="3307533"/>
            <a:ext cx="4098925" cy="21336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A 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A ( 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{</a:t>
            </a:r>
            <a:r>
              <a:rPr lang="en-US" sz="1600" b="1" dirty="0" err="1">
                <a:latin typeface="Consolas" panose="020B0609020204030204" pitchFamily="49" charset="0"/>
              </a:rPr>
              <a:t>cout</a:t>
            </a:r>
            <a:r>
              <a:rPr lang="en-US" sz="1600" b="1" dirty="0">
                <a:latin typeface="Consolas" panose="020B0609020204030204" pitchFamily="49" charset="0"/>
              </a:rPr>
              <a:t>&lt;&lt; </a:t>
            </a:r>
            <a:r>
              <a:rPr lang="en-US" altLang="fr-FR" sz="1600" b="1" dirty="0">
                <a:latin typeface="Consolas" panose="020B0609020204030204" pitchFamily="49" charset="0"/>
              </a:rPr>
              <a:t>“</a:t>
            </a:r>
            <a:r>
              <a:rPr lang="en-US" sz="1600" b="1" dirty="0" err="1">
                <a:latin typeface="Consolas" panose="020B0609020204030204" pitchFamily="49" charset="0"/>
              </a:rPr>
              <a:t>A:default</a:t>
            </a:r>
            <a:r>
              <a:rPr lang="en-US" altLang="fr-FR" sz="1600" b="1" dirty="0">
                <a:latin typeface="Consolas" panose="020B0609020204030204" pitchFamily="49" charset="0"/>
              </a:rPr>
              <a:t>”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latin typeface="Consolas" panose="020B0609020204030204" pitchFamily="49" charset="0"/>
              </a:rPr>
              <a:t>endl</a:t>
            </a:r>
            <a:r>
              <a:rPr lang="en-US" sz="1600" b="1" dirty="0">
                <a:latin typeface="Consolas" panose="020B0609020204030204" pitchFamily="49" charset="0"/>
              </a:rPr>
              <a:t>;}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A 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{</a:t>
            </a:r>
            <a:r>
              <a:rPr lang="en-US" sz="1600" b="1" dirty="0" err="1">
                <a:latin typeface="Consolas" panose="020B0609020204030204" pitchFamily="49" charset="0"/>
              </a:rPr>
              <a:t>cout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altLang="fr-FR" sz="1600" b="1" dirty="0">
                <a:latin typeface="Consolas" panose="020B0609020204030204" pitchFamily="49" charset="0"/>
              </a:rPr>
              <a:t>“</a:t>
            </a:r>
            <a:r>
              <a:rPr lang="en-US" sz="1600" b="1" dirty="0" err="1">
                <a:latin typeface="Consolas" panose="020B0609020204030204" pitchFamily="49" charset="0"/>
              </a:rPr>
              <a:t>A:parameter</a:t>
            </a:r>
            <a:r>
              <a:rPr lang="en-US" altLang="fr-FR" sz="1600" b="1" dirty="0">
                <a:latin typeface="Consolas" panose="020B0609020204030204" pitchFamily="49" charset="0"/>
              </a:rPr>
              <a:t>”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latin typeface="Consolas" panose="020B0609020204030204" pitchFamily="49" charset="0"/>
              </a:rPr>
              <a:t>endl</a:t>
            </a:r>
            <a:r>
              <a:rPr lang="en-US" sz="1600" b="1" dirty="0">
                <a:latin typeface="Consolas" panose="020B0609020204030204" pitchFamily="49" charset="0"/>
              </a:rPr>
              <a:t>;}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60773" name="Rectangle 5"/>
          <p:cNvSpPr>
            <a:spLocks noChangeArrowheads="1"/>
          </p:cNvSpPr>
          <p:nvPr/>
        </p:nvSpPr>
        <p:spPr bwMode="auto">
          <a:xfrm>
            <a:off x="5410200" y="3307533"/>
            <a:ext cx="3048000" cy="1752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class C : public A 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   public: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2C14DE"/>
                </a:solidFill>
                <a:latin typeface="Consolas" panose="020B0609020204030204" pitchFamily="49" charset="0"/>
              </a:rPr>
              <a:t>C (</a:t>
            </a:r>
            <a:r>
              <a:rPr lang="en-US" sz="1600" b="1" dirty="0" err="1">
                <a:solidFill>
                  <a:srgbClr val="2C14DE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2C14DE"/>
                </a:solidFill>
                <a:latin typeface="Consolas" panose="020B0609020204030204" pitchFamily="49" charset="0"/>
              </a:rPr>
              <a:t> a) : A(a)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{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fr-FR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“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C</a:t>
            </a:r>
            <a:r>
              <a:rPr lang="en-US" altLang="fr-FR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”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endl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;}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3124200" y="5791200"/>
            <a:ext cx="1239838" cy="4000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/>
              <a:t>C test(1);</a:t>
            </a:r>
          </a:p>
        </p:txBody>
      </p:sp>
      <p:sp>
        <p:nvSpPr>
          <p:cNvPr id="160775" name="Text Box 7"/>
          <p:cNvSpPr txBox="1">
            <a:spLocks noChangeArrowheads="1"/>
          </p:cNvSpPr>
          <p:nvPr/>
        </p:nvSpPr>
        <p:spPr bwMode="auto">
          <a:xfrm>
            <a:off x="5867400" y="5791200"/>
            <a:ext cx="1752600" cy="7080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2C14DE"/>
                </a:solidFill>
              </a:rPr>
              <a:t>A:parameter</a:t>
            </a:r>
          </a:p>
          <a:p>
            <a:pPr>
              <a:defRPr/>
            </a:pPr>
            <a:r>
              <a:rPr lang="en-US" sz="2000" dirty="0">
                <a:solidFill>
                  <a:srgbClr val="2C14DE"/>
                </a:solidFill>
              </a:rPr>
              <a:t>C</a:t>
            </a:r>
          </a:p>
        </p:txBody>
      </p:sp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4784725" y="5729288"/>
            <a:ext cx="901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/>
              <a:t>output:</a:t>
            </a:r>
          </a:p>
        </p:txBody>
      </p:sp>
      <p:sp>
        <p:nvSpPr>
          <p:cNvPr id="21514" name="Text Box 9"/>
          <p:cNvSpPr txBox="1">
            <a:spLocks noChangeArrowheads="1"/>
          </p:cNvSpPr>
          <p:nvPr/>
        </p:nvSpPr>
        <p:spPr bwMode="auto">
          <a:xfrm>
            <a:off x="278158" y="1941493"/>
            <a:ext cx="8566150" cy="954107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/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DerivedClassCon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( 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derivedClass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) : 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BaseClassCon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( 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baseClass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) 	</a:t>
            </a:r>
          </a:p>
          <a:p>
            <a:pPr lvl="1" eaLnBrk="1" hangingPunct="1"/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	{  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DerivedClass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constructor body   }</a:t>
            </a:r>
          </a:p>
          <a:p>
            <a:pPr lvl="1" eaLnBrk="1" hangingPunct="1"/>
            <a:endParaRPr lang="en-US" sz="800" b="1" dirty="0">
              <a:solidFill>
                <a:schemeClr val="accent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0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 animBg="1"/>
      <p:bldP spid="160773" grpId="0" animBg="1"/>
      <p:bldP spid="160774" grpId="0" animBg="1"/>
      <p:bldP spid="160775" grpId="0" animBg="1"/>
      <p:bldP spid="1607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973"/>
            <a:ext cx="9122466" cy="94335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Define its Own Members</a:t>
            </a: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1992313" y="2655888"/>
            <a:ext cx="8867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400" dirty="0"/>
              <a:t>Point</a:t>
            </a: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1298575" y="3632531"/>
            <a:ext cx="9733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400" dirty="0"/>
              <a:t>Circle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5257800" y="1143000"/>
            <a:ext cx="3505200" cy="1970088"/>
          </a:xfrm>
          <a:prstGeom prst="rect">
            <a:avLst/>
          </a:prstGeom>
          <a:solidFill>
            <a:srgbClr val="D5E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void set(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b);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348456" y="4405644"/>
            <a:ext cx="4114800" cy="18938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Circle : public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private: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double r;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void </a:t>
            </a:r>
            <a:r>
              <a:rPr lang="en-US" sz="1600" b="1" dirty="0" err="1">
                <a:latin typeface="Consolas" panose="020B0609020204030204" pitchFamily="49" charset="0"/>
              </a:rPr>
              <a:t>set_r</a:t>
            </a:r>
            <a:r>
              <a:rPr lang="en-US" sz="1600" b="1" dirty="0">
                <a:latin typeface="Consolas" panose="020B0609020204030204" pitchFamily="49" charset="0"/>
              </a:rPr>
              <a:t>(double c);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2905125" y="2641455"/>
            <a:ext cx="3079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/>
              <a:t>x</a:t>
            </a:r>
          </a:p>
          <a:p>
            <a:pPr eaLnBrk="1" hangingPunct="1"/>
            <a:r>
              <a:rPr lang="en-US" sz="1800" b="1"/>
              <a:t>y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990600" y="3398375"/>
            <a:ext cx="3079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1800" b="1"/>
              <a:t>x</a:t>
            </a:r>
          </a:p>
          <a:p>
            <a:pPr eaLnBrk="1" hangingPunct="1"/>
            <a:r>
              <a:rPr lang="en-US" sz="1800" b="1"/>
              <a:t>y</a:t>
            </a:r>
          </a:p>
          <a:p>
            <a:pPr eaLnBrk="1" hangingPunct="1"/>
            <a:r>
              <a:rPr lang="en-US" sz="1800" b="1"/>
              <a:t>r</a:t>
            </a: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 flipH="1">
            <a:off x="1752600" y="3113088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4" name="Rectangle 12"/>
          <p:cNvSpPr>
            <a:spLocks noChangeArrowheads="1"/>
          </p:cNvSpPr>
          <p:nvPr/>
        </p:nvSpPr>
        <p:spPr bwMode="auto">
          <a:xfrm>
            <a:off x="5257800" y="3657600"/>
            <a:ext cx="3505200" cy="26670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Circle{	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protected</a:t>
            </a:r>
            <a:r>
              <a:rPr lang="en-US" sz="1600" b="1" dirty="0">
                <a:latin typeface="Consolas" panose="020B0609020204030204" pitchFamily="49" charset="0"/>
              </a:rPr>
              <a:t>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double r;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void set(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a, 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b);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void </a:t>
            </a:r>
            <a:r>
              <a:rPr lang="en-US" sz="1600" b="1" dirty="0" err="1">
                <a:latin typeface="Consolas" panose="020B0609020204030204" pitchFamily="49" charset="0"/>
              </a:rPr>
              <a:t>set_r</a:t>
            </a:r>
            <a:r>
              <a:rPr lang="en-US" sz="1600" b="1" dirty="0">
                <a:latin typeface="Consolas" panose="020B0609020204030204" pitchFamily="49" charset="0"/>
              </a:rPr>
              <a:t>(double c);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609600" y="1143000"/>
            <a:ext cx="4267200" cy="13112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dirty="0">
                <a:latin typeface="Comic Sans MS" panose="030F0702030302020204" pitchFamily="66" charset="0"/>
              </a:rPr>
              <a:t>The derived class can also define its own members,  in addition to the members inherited from the base class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1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6975"/>
            <a:ext cx="9122466" cy="9431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Even more …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80316" y="1089659"/>
            <a:ext cx="9063683" cy="2796540"/>
          </a:xfrm>
        </p:spPr>
        <p:txBody>
          <a:bodyPr>
            <a:normAutofit/>
          </a:bodyPr>
          <a:lstStyle/>
          <a:p>
            <a:r>
              <a:rPr lang="en-US" sz="2800" dirty="0">
                <a:ea typeface="ＭＳ Ｐゴシック" panose="020B0600070205080204" pitchFamily="34" charset="-128"/>
              </a:rPr>
              <a:t>A </a:t>
            </a:r>
            <a:r>
              <a:rPr lang="en-US" sz="28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derived class</a:t>
            </a:r>
            <a:r>
              <a:rPr lang="en-US" sz="2800" dirty="0">
                <a:ea typeface="ＭＳ Ｐゴシック" panose="020B0600070205080204" pitchFamily="34" charset="-128"/>
              </a:rPr>
              <a:t> can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override</a:t>
            </a:r>
            <a:r>
              <a:rPr lang="en-US" sz="2800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800" b="1" dirty="0">
                <a:ea typeface="ＭＳ Ｐゴシック" panose="020B0600070205080204" pitchFamily="34" charset="-128"/>
              </a:rPr>
              <a:t>methods</a:t>
            </a:r>
            <a:r>
              <a:rPr lang="en-US" sz="2800" dirty="0">
                <a:ea typeface="ＭＳ Ｐゴシック" panose="020B0600070205080204" pitchFamily="34" charset="-128"/>
              </a:rPr>
              <a:t> defined in </a:t>
            </a:r>
            <a:r>
              <a:rPr lang="en-US" sz="2800" b="1" dirty="0">
                <a:ea typeface="ＭＳ Ｐゴシック" panose="020B0600070205080204" pitchFamily="34" charset="-128"/>
              </a:rPr>
              <a:t>its parent class</a:t>
            </a:r>
            <a:r>
              <a:rPr lang="en-US" sz="2800" dirty="0">
                <a:ea typeface="ＭＳ Ｐゴシック" panose="020B0600070205080204" pitchFamily="34" charset="-128"/>
              </a:rPr>
              <a:t>. With overriding:</a:t>
            </a:r>
            <a:endParaRPr lang="en-US" sz="3600" dirty="0">
              <a:ea typeface="ＭＳ Ｐゴシック" panose="020B0600070205080204" pitchFamily="34" charset="-128"/>
            </a:endParaRPr>
          </a:p>
          <a:p>
            <a:pPr lvl="1"/>
            <a:r>
              <a:rPr lang="en-US" sz="2400" dirty="0">
                <a:ea typeface="ＭＳ Ｐゴシック" panose="020B0600070205080204" pitchFamily="34" charset="-128"/>
              </a:rPr>
              <a:t>the </a:t>
            </a:r>
            <a:r>
              <a:rPr lang="en-US" sz="2400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method</a:t>
            </a:r>
            <a:r>
              <a:rPr 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400" dirty="0">
                <a:ea typeface="ＭＳ Ｐゴシック" panose="020B0600070205080204" pitchFamily="34" charset="-128"/>
              </a:rPr>
              <a:t>in the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subclass</a:t>
            </a:r>
            <a:r>
              <a:rPr lang="en-US" sz="2400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400" dirty="0">
                <a:ea typeface="ＭＳ Ｐゴシック" panose="020B0600070205080204" pitchFamily="34" charset="-128"/>
              </a:rPr>
              <a:t>has the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identical signature </a:t>
            </a:r>
            <a:r>
              <a:rPr lang="en-US" sz="2400" dirty="0">
                <a:ea typeface="ＭＳ Ｐゴシック" panose="020B0600070205080204" pitchFamily="34" charset="-128"/>
              </a:rPr>
              <a:t>to the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method</a:t>
            </a:r>
            <a:r>
              <a:rPr lang="en-US" sz="2400" b="1" dirty="0">
                <a:ea typeface="ＭＳ Ｐゴシック" panose="020B0600070205080204" pitchFamily="34" charset="-128"/>
              </a:rPr>
              <a:t> </a:t>
            </a:r>
            <a:r>
              <a:rPr lang="en-US" sz="2400" dirty="0">
                <a:ea typeface="ＭＳ Ｐゴシック" panose="020B0600070205080204" pitchFamily="34" charset="-128"/>
              </a:rPr>
              <a:t>in the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</a:t>
            </a:r>
            <a:r>
              <a:rPr lang="en-US" sz="2400" b="1" dirty="0">
                <a:ea typeface="ＭＳ Ｐゴシック" panose="020B0600070205080204" pitchFamily="34" charset="-128"/>
              </a:rPr>
              <a:t>. </a:t>
            </a:r>
          </a:p>
          <a:p>
            <a:pPr lvl="1"/>
            <a:r>
              <a:rPr lang="en-US" sz="2400" dirty="0">
                <a:ea typeface="ＭＳ Ｐゴシック" panose="020B0600070205080204" pitchFamily="34" charset="-128"/>
              </a:rPr>
              <a:t>a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subclass</a:t>
            </a:r>
            <a:r>
              <a:rPr lang="en-US" sz="2400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implements</a:t>
            </a:r>
            <a:r>
              <a:rPr lang="en-US" sz="2400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400" dirty="0">
                <a:ea typeface="ＭＳ Ｐゴシック" panose="020B0600070205080204" pitchFamily="34" charset="-128"/>
              </a:rPr>
              <a:t>its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own version </a:t>
            </a:r>
            <a:r>
              <a:rPr lang="en-US" sz="2400" dirty="0">
                <a:ea typeface="ＭＳ Ｐゴシック" panose="020B0600070205080204" pitchFamily="34" charset="-128"/>
              </a:rPr>
              <a:t>of a </a:t>
            </a:r>
            <a:r>
              <a:rPr lang="en-US" sz="24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method</a:t>
            </a:r>
            <a:r>
              <a:rPr lang="en-US" sz="2400" b="1" dirty="0"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381000" y="3886198"/>
            <a:ext cx="3962400" cy="212605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class A 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</a:t>
            </a:r>
            <a:r>
              <a:rPr lang="en-US" sz="1600" b="1" dirty="0" err="1">
                <a:latin typeface="Consolas" panose="020B0609020204030204" pitchFamily="49" charset="0"/>
              </a:rPr>
              <a:t>int</a:t>
            </a:r>
            <a:r>
              <a:rPr lang="en-US" sz="16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	void print ()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   { </a:t>
            </a:r>
            <a:r>
              <a:rPr lang="en-US" sz="1600" b="1" dirty="0" err="1">
                <a:latin typeface="Consolas" panose="020B0609020204030204" pitchFamily="49" charset="0"/>
              </a:rPr>
              <a:t>cout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altLang="fr-FR" sz="1600" b="1" dirty="0">
                <a:latin typeface="Consolas" panose="020B0609020204030204" pitchFamily="49" charset="0"/>
              </a:rPr>
              <a:t>“</a:t>
            </a:r>
            <a:r>
              <a:rPr lang="en-US" sz="1600" b="1" dirty="0">
                <a:latin typeface="Consolas" panose="020B0609020204030204" pitchFamily="49" charset="0"/>
              </a:rPr>
              <a:t>From A</a:t>
            </a:r>
            <a:r>
              <a:rPr lang="en-US" altLang="fr-FR" sz="1600" b="1" dirty="0">
                <a:latin typeface="Consolas" panose="020B0609020204030204" pitchFamily="49" charset="0"/>
              </a:rPr>
              <a:t>”</a:t>
            </a:r>
            <a:r>
              <a:rPr lang="en-US" sz="1600" b="1" dirty="0"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latin typeface="Consolas" panose="020B0609020204030204" pitchFamily="49" charset="0"/>
              </a:rPr>
              <a:t>endl</a:t>
            </a:r>
            <a:r>
              <a:rPr lang="en-US" sz="1600" b="1" dirty="0">
                <a:latin typeface="Consolas" panose="020B0609020204030204" pitchFamily="49" charset="0"/>
              </a:rPr>
              <a:t>; 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52583" name="Rectangle 7"/>
          <p:cNvSpPr>
            <a:spLocks noChangeArrowheads="1"/>
          </p:cNvSpPr>
          <p:nvPr/>
        </p:nvSpPr>
        <p:spPr bwMode="auto">
          <a:xfrm>
            <a:off x="4953000" y="3886199"/>
            <a:ext cx="3733800" cy="212605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class B : public A {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   public: 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	void print ()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	    {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cout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fr-FR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“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From B</a:t>
            </a:r>
            <a:r>
              <a:rPr lang="en-US" altLang="fr-FR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”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&lt;&lt;</a:t>
            </a:r>
            <a:r>
              <a:rPr lang="en-US" sz="1600" b="1" dirty="0" err="1">
                <a:solidFill>
                  <a:srgbClr val="D20000"/>
                </a:solidFill>
                <a:latin typeface="Consolas" panose="020B0609020204030204" pitchFamily="49" charset="0"/>
              </a:rPr>
              <a:t>endl</a:t>
            </a: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;}</a:t>
            </a:r>
          </a:p>
          <a:p>
            <a:pPr eaLnBrk="1" hangingPunct="1">
              <a:spcBef>
                <a:spcPct val="20000"/>
              </a:spcBef>
            </a:pPr>
            <a:r>
              <a:rPr lang="en-US" sz="1600" b="1" dirty="0">
                <a:solidFill>
                  <a:srgbClr val="D2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52584" name="Line 8"/>
          <p:cNvSpPr>
            <a:spLocks noChangeShapeType="1"/>
          </p:cNvSpPr>
          <p:nvPr/>
        </p:nvSpPr>
        <p:spPr bwMode="auto">
          <a:xfrm flipV="1">
            <a:off x="2286000" y="4679508"/>
            <a:ext cx="3071389" cy="502092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2" grpId="0" animBg="1"/>
      <p:bldP spid="152583" grpId="0" animBg="1"/>
      <p:bldP spid="15258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152400" y="1053822"/>
            <a:ext cx="3581400" cy="3137178"/>
          </a:xfrm>
          <a:prstGeom prst="rect">
            <a:avLst/>
          </a:prstGeom>
          <a:solidFill>
            <a:srgbClr val="FF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class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 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void </a:t>
            </a:r>
            <a:r>
              <a:rPr lang="en-US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set</a:t>
            </a:r>
            <a:r>
              <a:rPr lang="en-US" sz="1800" b="1" dirty="0">
                <a:latin typeface="Consolas" panose="020B0609020204030204" pitchFamily="49" charset="0"/>
              </a:rPr>
              <a:t>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a,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b)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    { x=a; y=b; }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void </a:t>
            </a:r>
            <a:r>
              <a:rPr lang="en-US" sz="1800" b="1" dirty="0">
                <a:solidFill>
                  <a:srgbClr val="660066"/>
                </a:solidFill>
                <a:latin typeface="Consolas" panose="020B0609020204030204" pitchFamily="49" charset="0"/>
              </a:rPr>
              <a:t>foo</a:t>
            </a:r>
            <a:r>
              <a:rPr lang="en-US" sz="1800" b="1" dirty="0">
                <a:latin typeface="Consolas" panose="020B0609020204030204" pitchFamily="49" charset="0"/>
              </a:rPr>
              <a:t> 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void </a:t>
            </a:r>
            <a:r>
              <a:rPr lang="en-US" sz="1800" b="1" dirty="0">
                <a:solidFill>
                  <a:srgbClr val="00CC00"/>
                </a:solidFill>
                <a:latin typeface="Consolas" panose="020B0609020204030204" pitchFamily="49" charset="0"/>
              </a:rPr>
              <a:t>print</a:t>
            </a:r>
            <a:r>
              <a:rPr lang="en-US" sz="1800" b="1" dirty="0">
                <a:latin typeface="Consolas" panose="020B06090202040302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3886200" y="1085509"/>
            <a:ext cx="5086539" cy="310549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class Circle : public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private:  double r;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void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set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a, </a:t>
            </a:r>
            <a:r>
              <a:rPr lang="en-US" sz="1800" b="1" dirty="0" err="1">
                <a:solidFill>
                  <a:srgbClr val="000066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b, double c) {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Point :: set(a, b); </a:t>
            </a:r>
            <a:r>
              <a:rPr lang="en-US" sz="1200" b="1" dirty="0">
                <a:solidFill>
                  <a:srgbClr val="2C14DE"/>
                </a:solidFill>
                <a:latin typeface="Consolas" panose="020B0609020204030204" pitchFamily="49" charset="0"/>
              </a:rPr>
              <a:t>//same name function call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  r = c;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 }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 void </a:t>
            </a:r>
            <a:r>
              <a:rPr lang="en-US" sz="1800" b="1" dirty="0">
                <a:solidFill>
                  <a:srgbClr val="BE7100"/>
                </a:solidFill>
                <a:latin typeface="Consolas" panose="020B0609020204030204" pitchFamily="49" charset="0"/>
              </a:rPr>
              <a:t>print</a:t>
            </a: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();  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4581" name="Rectangle 9"/>
          <p:cNvSpPr>
            <a:spLocks noChangeArrowheads="1"/>
          </p:cNvSpPr>
          <p:nvPr/>
        </p:nvSpPr>
        <p:spPr bwMode="auto">
          <a:xfrm>
            <a:off x="54666" y="76200"/>
            <a:ext cx="8784534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algn="ctr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000" dirty="0">
                <a:latin typeface="Comic Sans MS" panose="030F0702030302020204" pitchFamily="66" charset="0"/>
              </a:rPr>
              <a:t>	</a:t>
            </a:r>
            <a:r>
              <a:rPr lang="en-US" sz="4800" b="1" dirty="0">
                <a:solidFill>
                  <a:srgbClr val="D20000"/>
                </a:solidFill>
                <a:latin typeface="+mj-lt"/>
                <a:cs typeface="+mj-cs"/>
              </a:rPr>
              <a:t>Access a Method</a:t>
            </a:r>
          </a:p>
        </p:txBody>
      </p:sp>
      <p:sp>
        <p:nvSpPr>
          <p:cNvPr id="163851" name="Rectangle 11"/>
          <p:cNvSpPr>
            <a:spLocks noChangeArrowheads="1"/>
          </p:cNvSpPr>
          <p:nvPr/>
        </p:nvSpPr>
        <p:spPr bwMode="auto">
          <a:xfrm>
            <a:off x="3962400" y="4664075"/>
            <a:ext cx="4724400" cy="1524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sz="1800"/>
              <a:t>	Circle C;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800"/>
              <a:t>	C.</a:t>
            </a:r>
            <a:r>
              <a:rPr lang="en-US" sz="1800">
                <a:solidFill>
                  <a:srgbClr val="FF0000"/>
                </a:solidFill>
              </a:rPr>
              <a:t>set</a:t>
            </a:r>
            <a:r>
              <a:rPr lang="en-US" sz="1800"/>
              <a:t>(10,10,100);   // from class Circle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800"/>
              <a:t>	C.</a:t>
            </a:r>
            <a:r>
              <a:rPr lang="en-US" sz="1800">
                <a:solidFill>
                  <a:srgbClr val="660066"/>
                </a:solidFill>
              </a:rPr>
              <a:t>foo </a:t>
            </a:r>
            <a:r>
              <a:rPr lang="en-US" sz="1800"/>
              <a:t>();  // from base class Point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1800"/>
              <a:t>	C.</a:t>
            </a:r>
            <a:r>
              <a:rPr lang="en-US" sz="1800">
                <a:solidFill>
                  <a:srgbClr val="BE7100"/>
                </a:solidFill>
              </a:rPr>
              <a:t>print</a:t>
            </a:r>
            <a:r>
              <a:rPr lang="en-US" sz="1800"/>
              <a:t>(); // from class Circle</a:t>
            </a:r>
          </a:p>
        </p:txBody>
      </p:sp>
      <p:sp>
        <p:nvSpPr>
          <p:cNvPr id="163852" name="Rectangle 12"/>
          <p:cNvSpPr>
            <a:spLocks noChangeArrowheads="1"/>
          </p:cNvSpPr>
          <p:nvPr/>
        </p:nvSpPr>
        <p:spPr bwMode="auto">
          <a:xfrm>
            <a:off x="152400" y="4664075"/>
            <a:ext cx="3581400" cy="1219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800" dirty="0"/>
              <a:t>Point A;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 err="1"/>
              <a:t>A.</a:t>
            </a:r>
            <a:r>
              <a:rPr lang="en-US" sz="1800" dirty="0" err="1">
                <a:solidFill>
                  <a:schemeClr val="accent2"/>
                </a:solidFill>
              </a:rPr>
              <a:t>set</a:t>
            </a:r>
            <a:r>
              <a:rPr lang="en-US" sz="1800" dirty="0"/>
              <a:t>(30,50);  </a:t>
            </a:r>
            <a:r>
              <a:rPr lang="en-US" sz="1400" dirty="0"/>
              <a:t>// from base class Point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dirty="0" err="1"/>
              <a:t>A.</a:t>
            </a:r>
            <a:r>
              <a:rPr lang="en-US" sz="1800" dirty="0" err="1">
                <a:solidFill>
                  <a:srgbClr val="00CC00"/>
                </a:solidFill>
              </a:rPr>
              <a:t>print</a:t>
            </a:r>
            <a:r>
              <a:rPr lang="en-US" sz="1800" dirty="0"/>
              <a:t>(); </a:t>
            </a:r>
            <a:r>
              <a:rPr lang="en-US" sz="1400" dirty="0"/>
              <a:t>// from base class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1" grpId="0" animBg="1" autoUpdateAnimBg="0"/>
      <p:bldP spid="163852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60119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  <a:ea typeface="ＭＳ Ｐゴシック" panose="020B0600070205080204" pitchFamily="34" charset="-128"/>
              </a:rPr>
              <a:t>point and circle classes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610600" cy="5562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Point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  protected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x,y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  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 Point(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display(void);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Point::Point(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b)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x=a;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y=b;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void Point::display(void)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&lt;&lt;"point = [" &lt;&lt;x&lt;&lt;","&lt;&lt;y&lt;&lt;"]";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70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950" y="914400"/>
            <a:ext cx="8957650" cy="5867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class Circle : public Point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  double radius;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  public: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  Circle(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,double 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  void display(void);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Circle::Circle(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b,double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c):Point(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a,b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radius = c;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void Circle::display(void)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Point::display();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 and radius = "&lt;&lt;radius;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5574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7507586" cy="5105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main(void)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Circle c(3,4,2.5);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c.display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 return 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400" b="1" u="sng" dirty="0">
                <a:solidFill>
                  <a:srgbClr val="2C14DE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Output:</a:t>
            </a:r>
          </a:p>
          <a:p>
            <a:pPr>
              <a:buFontTx/>
              <a:buNone/>
            </a:pPr>
            <a:r>
              <a:rPr lang="en-US" sz="2400" dirty="0">
                <a:solidFill>
                  <a:srgbClr val="2C14DE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point=[3,4] and radius = 2.5</a:t>
            </a:r>
          </a:p>
          <a:p>
            <a:pPr>
              <a:buFont typeface="Wingdings" panose="05000000000000000000" pitchFamily="2" charset="2"/>
              <a:buNone/>
            </a:pPr>
            <a:endParaRPr lang="en-US" sz="24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502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"/>
            <a:ext cx="8382000" cy="8763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800" b="1" dirty="0">
                <a:solidFill>
                  <a:srgbClr val="C00000"/>
                </a:solidFill>
              </a:rPr>
              <a:t>Class Derivation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5105400" y="1247285"/>
            <a:ext cx="3914869" cy="2120901"/>
          </a:xfrm>
          <a:prstGeom prst="rect">
            <a:avLst/>
          </a:prstGeom>
          <a:solidFill>
            <a:srgbClr val="D5E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class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protected: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 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x, y;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   void set (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a, </a:t>
            </a:r>
            <a:r>
              <a:rPr lang="en-US" sz="1800" b="1" dirty="0" err="1">
                <a:latin typeface="Consolas" panose="020B0609020204030204" pitchFamily="49" charset="0"/>
              </a:rPr>
              <a:t>int</a:t>
            </a:r>
            <a:r>
              <a:rPr lang="en-US" sz="1800" b="1" dirty="0">
                <a:latin typeface="Consolas" panose="020B0609020204030204" pitchFamily="49" charset="0"/>
              </a:rPr>
              <a:t> b);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228600" y="3746790"/>
            <a:ext cx="3962400" cy="1828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class 3D-Point : public 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	private: 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         double z;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>
                <a:solidFill>
                  <a:schemeClr val="accent2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6206" name="Rectangle 14"/>
          <p:cNvSpPr>
            <a:spLocks noChangeArrowheads="1"/>
          </p:cNvSpPr>
          <p:nvPr/>
        </p:nvSpPr>
        <p:spPr bwMode="auto">
          <a:xfrm>
            <a:off x="4822134" y="3746790"/>
            <a:ext cx="4198135" cy="183266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class Sphere : public 3D-Point{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private:  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   double r;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	… …</a:t>
            </a:r>
          </a:p>
          <a:p>
            <a:pPr eaLnBrk="1" hangingPunct="1">
              <a:spcBef>
                <a:spcPct val="20000"/>
              </a:spcBef>
            </a:pPr>
            <a:r>
              <a:rPr lang="en-US" sz="1800" b="1" dirty="0">
                <a:solidFill>
                  <a:srgbClr val="000066"/>
                </a:solidFill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47800" y="1394700"/>
            <a:ext cx="1133644" cy="1682617"/>
            <a:chOff x="1312651" y="1134670"/>
            <a:chExt cx="1133644" cy="1682617"/>
          </a:xfrm>
        </p:grpSpPr>
        <p:sp>
          <p:nvSpPr>
            <p:cNvPr id="8196" name="Text Box 3"/>
            <p:cNvSpPr txBox="1">
              <a:spLocks noChangeArrowheads="1"/>
            </p:cNvSpPr>
            <p:nvPr/>
          </p:nvSpPr>
          <p:spPr bwMode="auto">
            <a:xfrm>
              <a:off x="1498600" y="1134670"/>
              <a:ext cx="7617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800" b="1" dirty="0"/>
                <a:t>Point</a:t>
              </a:r>
            </a:p>
          </p:txBody>
        </p:sp>
        <p:sp>
          <p:nvSpPr>
            <p:cNvPr id="8197" name="Text Box 5"/>
            <p:cNvSpPr txBox="1">
              <a:spLocks noChangeArrowheads="1"/>
            </p:cNvSpPr>
            <p:nvPr/>
          </p:nvSpPr>
          <p:spPr bwMode="auto">
            <a:xfrm>
              <a:off x="1312651" y="1820006"/>
              <a:ext cx="11336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800" b="1" dirty="0"/>
                <a:t>3D-Point</a:t>
              </a:r>
            </a:p>
          </p:txBody>
        </p:sp>
        <p:sp>
          <p:nvSpPr>
            <p:cNvPr id="8200" name="Line 13"/>
            <p:cNvSpPr>
              <a:spLocks noChangeShapeType="1"/>
            </p:cNvSpPr>
            <p:nvPr/>
          </p:nvSpPr>
          <p:spPr bwMode="auto">
            <a:xfrm>
              <a:off x="1905000" y="1394934"/>
              <a:ext cx="0" cy="4636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1"/>
            </a:p>
          </p:txBody>
        </p:sp>
        <p:sp>
          <p:nvSpPr>
            <p:cNvPr id="136207" name="Line 15"/>
            <p:cNvSpPr>
              <a:spLocks noChangeShapeType="1"/>
            </p:cNvSpPr>
            <p:nvPr/>
          </p:nvSpPr>
          <p:spPr bwMode="auto">
            <a:xfrm>
              <a:off x="1905000" y="2057400"/>
              <a:ext cx="0" cy="39055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1"/>
            </a:p>
          </p:txBody>
        </p:sp>
        <p:sp>
          <p:nvSpPr>
            <p:cNvPr id="136208" name="Text Box 16"/>
            <p:cNvSpPr txBox="1">
              <a:spLocks noChangeArrowheads="1"/>
            </p:cNvSpPr>
            <p:nvPr/>
          </p:nvSpPr>
          <p:spPr bwMode="auto">
            <a:xfrm>
              <a:off x="1320950" y="2447955"/>
              <a:ext cx="9669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sz="1800" b="1" dirty="0"/>
                <a:t>Sphere</a:t>
              </a:r>
            </a:p>
          </p:txBody>
        </p:sp>
      </p:grpSp>
      <p:sp>
        <p:nvSpPr>
          <p:cNvPr id="136211" name="Text Box 19"/>
          <p:cNvSpPr txBox="1">
            <a:spLocks noChangeArrowheads="1"/>
          </p:cNvSpPr>
          <p:nvPr/>
        </p:nvSpPr>
        <p:spPr bwMode="auto">
          <a:xfrm>
            <a:off x="228600" y="5954802"/>
            <a:ext cx="83952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C00000"/>
                </a:solidFill>
                <a:latin typeface="+mj-lt"/>
              </a:rPr>
              <a:t>Point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000" dirty="0">
                <a:latin typeface="+mj-lt"/>
              </a:rPr>
              <a:t>is the </a:t>
            </a:r>
            <a:r>
              <a:rPr lang="en-US" sz="2000" b="1" dirty="0">
                <a:solidFill>
                  <a:srgbClr val="2C14DE"/>
                </a:solidFill>
                <a:latin typeface="+mj-lt"/>
              </a:rPr>
              <a:t>base class </a:t>
            </a:r>
            <a:r>
              <a:rPr lang="en-US" sz="2000" dirty="0">
                <a:latin typeface="+mj-lt"/>
              </a:rPr>
              <a:t>of </a:t>
            </a:r>
            <a:r>
              <a:rPr lang="en-US" sz="2000" b="1" dirty="0">
                <a:solidFill>
                  <a:srgbClr val="D20000"/>
                </a:solidFill>
                <a:latin typeface="+mj-lt"/>
              </a:rPr>
              <a:t>3D-Point</a:t>
            </a:r>
            <a:r>
              <a:rPr lang="en-US" sz="2000" dirty="0">
                <a:latin typeface="+mj-lt"/>
              </a:rPr>
              <a:t>, while </a:t>
            </a:r>
            <a:r>
              <a:rPr lang="en-US" sz="2000" b="1" dirty="0">
                <a:solidFill>
                  <a:srgbClr val="D20000"/>
                </a:solidFill>
                <a:latin typeface="+mj-lt"/>
              </a:rPr>
              <a:t>3D-Point </a:t>
            </a:r>
            <a:r>
              <a:rPr lang="en-US" sz="2000" dirty="0">
                <a:latin typeface="+mj-lt"/>
              </a:rPr>
              <a:t>is the </a:t>
            </a:r>
            <a:r>
              <a:rPr lang="en-US" sz="2000" b="1" dirty="0">
                <a:solidFill>
                  <a:srgbClr val="2C14DE"/>
                </a:solidFill>
                <a:latin typeface="+mj-lt"/>
              </a:rPr>
              <a:t>base class </a:t>
            </a:r>
            <a:r>
              <a:rPr lang="en-US" sz="2000" dirty="0">
                <a:latin typeface="+mj-lt"/>
              </a:rPr>
              <a:t>of </a:t>
            </a:r>
            <a:r>
              <a:rPr lang="en-US" sz="2000" b="1" dirty="0">
                <a:solidFill>
                  <a:srgbClr val="D20000"/>
                </a:solidFill>
                <a:latin typeface="+mj-lt"/>
              </a:rPr>
              <a:t>Sphere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06" grpId="0" animBg="1"/>
      <p:bldP spid="1362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Order of execution of Constructors/Destructors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74282" y="1066800"/>
            <a:ext cx="9048184" cy="56388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Chain</a:t>
            </a:r>
            <a:r>
              <a:rPr lang="en-US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dirty="0">
                <a:ea typeface="ＭＳ Ｐゴシック" panose="020B0600070205080204" pitchFamily="34" charset="-128"/>
              </a:rPr>
              <a:t>of </a:t>
            </a: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constructor calls</a:t>
            </a:r>
            <a:r>
              <a:rPr lang="en-US" dirty="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Last constructor </a:t>
            </a:r>
            <a:r>
              <a:rPr lang="en-US" b="1" dirty="0">
                <a:ea typeface="ＭＳ Ｐゴシック" panose="020B0600070205080204" pitchFamily="34" charset="-128"/>
              </a:rPr>
              <a:t>called</a:t>
            </a:r>
            <a:r>
              <a:rPr lang="en-US" dirty="0">
                <a:ea typeface="ＭＳ Ｐゴシック" panose="020B0600070205080204" pitchFamily="34" charset="-128"/>
              </a:rPr>
              <a:t> </a:t>
            </a:r>
            <a:r>
              <a:rPr lang="en-US" b="1" dirty="0">
                <a:ea typeface="ＭＳ Ｐゴシック" panose="020B0600070205080204" pitchFamily="34" charset="-128"/>
              </a:rPr>
              <a:t>in chain</a:t>
            </a:r>
          </a:p>
          <a:p>
            <a:pPr lvl="1"/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First constructor body</a:t>
            </a:r>
            <a:r>
              <a:rPr lang="en-US" dirty="0">
                <a:ea typeface="ＭＳ Ｐゴシック" panose="020B0600070205080204" pitchFamily="34" charset="-128"/>
              </a:rPr>
              <a:t> </a:t>
            </a:r>
            <a:r>
              <a:rPr lang="en-US" b="1" dirty="0">
                <a:ea typeface="ＭＳ Ｐゴシック" panose="020B0600070205080204" pitchFamily="34" charset="-128"/>
              </a:rPr>
              <a:t>to finish executing</a:t>
            </a:r>
          </a:p>
          <a:p>
            <a:pPr lvl="1"/>
            <a:r>
              <a:rPr lang="en-US" dirty="0">
                <a:ea typeface="ＭＳ Ｐゴシック" panose="020B0600070205080204" pitchFamily="34" charset="-128"/>
              </a:rPr>
              <a:t>Example: </a:t>
            </a: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en-US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Point</a:t>
            </a:r>
            <a:r>
              <a:rPr lang="en-US" b="1" dirty="0" err="1">
                <a:latin typeface="Courier New" panose="02070309020205020404" pitchFamily="49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Circle</a:t>
            </a:r>
            <a:r>
              <a:rPr lang="en-US" b="1" dirty="0" err="1">
                <a:latin typeface="Courier New" panose="02070309020205020404" pitchFamily="49" charset="0"/>
                <a:ea typeface="ＭＳ Ｐゴシック" panose="020B0600070205080204" pitchFamily="34" charset="-128"/>
                <a:sym typeface="Wingdings" panose="05000000000000000000" pitchFamily="2" charset="2"/>
              </a:rPr>
              <a:t></a:t>
            </a:r>
            <a:r>
              <a:rPr lang="en-US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Cylinder</a:t>
            </a:r>
            <a:r>
              <a:rPr lang="en-US" dirty="0">
                <a:ea typeface="ＭＳ Ｐゴシック" panose="020B0600070205080204" pitchFamily="34" charset="-128"/>
              </a:rPr>
              <a:t> hierarchy</a:t>
            </a:r>
          </a:p>
          <a:p>
            <a:pPr lvl="2"/>
            <a:r>
              <a:rPr lang="en-US" sz="2800" b="1" dirty="0">
                <a:solidFill>
                  <a:srgbClr val="2C14DE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Point</a:t>
            </a:r>
            <a:r>
              <a:rPr lang="en-US" sz="2800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8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constructor</a:t>
            </a:r>
            <a:r>
              <a:rPr lang="en-US" sz="2800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800" dirty="0">
                <a:ea typeface="ＭＳ Ｐゴシック" panose="020B0600070205080204" pitchFamily="34" charset="-128"/>
              </a:rPr>
              <a:t>body </a:t>
            </a:r>
            <a:r>
              <a:rPr lang="en-US" sz="2800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finishes execution first</a:t>
            </a:r>
          </a:p>
          <a:p>
            <a:pPr lvl="2"/>
            <a:r>
              <a:rPr lang="en-US" sz="2800" dirty="0">
                <a:ea typeface="ＭＳ Ｐゴシック" panose="020B0600070205080204" pitchFamily="34" charset="-128"/>
              </a:rPr>
              <a:t>Then </a:t>
            </a:r>
            <a:r>
              <a:rPr lang="en-US" sz="2800" b="1" dirty="0">
                <a:ea typeface="ＭＳ Ｐゴシック" panose="020B0600070205080204" pitchFamily="34" charset="-128"/>
              </a:rPr>
              <a:t>circle</a:t>
            </a:r>
            <a:r>
              <a:rPr lang="en-US" sz="2800" dirty="0">
                <a:ea typeface="ＭＳ Ｐゴシック" panose="020B0600070205080204" pitchFamily="34" charset="-128"/>
              </a:rPr>
              <a:t> and </a:t>
            </a:r>
            <a:r>
              <a:rPr lang="en-US" sz="2800" b="1" dirty="0">
                <a:ea typeface="ＭＳ Ｐゴシック" panose="020B0600070205080204" pitchFamily="34" charset="-128"/>
              </a:rPr>
              <a:t>last</a:t>
            </a:r>
            <a:r>
              <a:rPr lang="en-US" sz="2800" dirty="0">
                <a:ea typeface="ＭＳ Ｐゴシック" panose="020B0600070205080204" pitchFamily="34" charset="-128"/>
              </a:rPr>
              <a:t> </a:t>
            </a:r>
            <a:r>
              <a:rPr lang="en-US" sz="2800" b="1" dirty="0">
                <a:ea typeface="ＭＳ Ｐゴシック" panose="020B0600070205080204" pitchFamily="34" charset="-128"/>
              </a:rPr>
              <a:t>Cylinder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6011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Order of execution of Constructors/Destructors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Chain of destructor calls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Reverse order</a:t>
            </a:r>
            <a:r>
              <a:rPr lang="en-US" dirty="0">
                <a:ea typeface="ＭＳ Ｐゴシック" panose="020B0600070205080204" pitchFamily="34" charset="-128"/>
              </a:rPr>
              <a:t> of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constructor chain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ea typeface="ＭＳ Ｐゴシック" panose="020B0600070205080204" pitchFamily="34" charset="-128"/>
              </a:rPr>
              <a:t>Destructor</a:t>
            </a:r>
            <a:r>
              <a:rPr lang="en-US" dirty="0">
                <a:ea typeface="ＭＳ Ｐゴシック" panose="020B0600070205080204" pitchFamily="34" charset="-128"/>
              </a:rPr>
              <a:t> of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derived-class called first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ea typeface="ＭＳ Ｐゴシック" panose="020B0600070205080204" pitchFamily="34" charset="-128"/>
              </a:rPr>
              <a:t>Destructor</a:t>
            </a:r>
            <a:r>
              <a:rPr lang="en-US" dirty="0">
                <a:ea typeface="ＭＳ Ｐゴシック" panose="020B0600070205080204" pitchFamily="34" charset="-128"/>
              </a:rPr>
              <a:t> of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next base class up hierarchy next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Continue up hierarchy </a:t>
            </a:r>
            <a:r>
              <a:rPr lang="en-US" dirty="0">
                <a:ea typeface="ＭＳ Ｐゴシック" panose="020B0600070205080204" pitchFamily="34" charset="-128"/>
              </a:rPr>
              <a:t>until </a:t>
            </a:r>
            <a:r>
              <a:rPr lang="en-US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final base reached</a:t>
            </a:r>
          </a:p>
          <a:p>
            <a:pPr lvl="1">
              <a:lnSpc>
                <a:spcPct val="150000"/>
              </a:lnSpc>
            </a:pPr>
            <a:r>
              <a:rPr lang="en-US" b="1" u="sng" dirty="0">
                <a:ea typeface="ＭＳ Ｐゴシック" panose="020B0600070205080204" pitchFamily="34" charset="-128"/>
              </a:rPr>
              <a:t>After final base-class destructor, object removed from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86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991600" cy="914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Example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382000" cy="5638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solidFill>
                  <a:srgbClr val="D20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 Point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protected: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	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x,y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public: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	Point(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	void display(void);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	~Point() { 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&lt;&lt;"\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nPoint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Class Destructor\n";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Point::Point(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b)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&lt;&lt;"\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nPoint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Class Constructor\n";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x=a;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y=b;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b="1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void Point::display(void)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&lt;&lt;"point = [" &lt;&lt;x&lt;&lt;","&lt;&lt;y&lt;&lt;"]";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42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9653"/>
            <a:ext cx="8254561" cy="5867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2C14DE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 Circle : </a:t>
            </a:r>
            <a:r>
              <a:rPr lang="en-US" sz="2000" b="1" dirty="0">
                <a:solidFill>
                  <a:srgbClr val="D20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 Point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protected: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double radius;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public: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Circle(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,double);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void display(void);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~Circle() {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&lt;&lt;"\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nCircle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Class Destructor\n";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Circle::Circle(</a:t>
            </a:r>
            <a:r>
              <a:rPr lang="en-US" sz="20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a,int</a:t>
            </a: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b,double</a:t>
            </a: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c):Point(</a:t>
            </a:r>
            <a:r>
              <a:rPr lang="en-US" sz="20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a,b</a:t>
            </a: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&lt;&lt;"\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nCircle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Class Constructor\n";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radius = c;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void Circle::display(void)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Point::display();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 radius = "&lt;&lt;radius;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8297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Example – cont.</a:t>
            </a:r>
          </a:p>
        </p:txBody>
      </p:sp>
    </p:spTree>
    <p:extLst>
      <p:ext uri="{BB962C8B-B14F-4D97-AF65-F5344CB8AC3E}">
        <p14:creationId xmlns:p14="http://schemas.microsoft.com/office/powerpoint/2010/main" val="675958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Example – cont.</a:t>
            </a:r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4666" y="1044786"/>
            <a:ext cx="9067800" cy="58132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solidFill>
                  <a:srgbClr val="008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 Cylinder: </a:t>
            </a:r>
            <a:r>
              <a:rPr lang="en-US" sz="1800" b="1" dirty="0">
                <a:solidFill>
                  <a:srgbClr val="2C14DE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 Circle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double height;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public: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Cylinder(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,double ,double);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void display(void);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double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GetVolume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(void);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~Cylinder() {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&lt;&lt;"\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nCylinder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Class Destructor\n";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Cylinder::Cylinder(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a,int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b,double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r,double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h):Circle(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a,b,r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&lt;&lt;"\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nCylinder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Class Constructor\n";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height=h;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double Cylinder::</a:t>
            </a:r>
            <a:r>
              <a:rPr lang="en-US" sz="18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GetVolume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(void) 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return 3.14 * radius * radius * radius;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8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void Cylinder::display(void) 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Circle::display();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 height = "&lt;&lt;height;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11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Example – cont.</a:t>
            </a:r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915400" cy="563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main(void)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Cylinder c(3,4,2.5,3.7);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return 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000" b="1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Output: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Point Class Constructor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Circle Class Constructor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Cylinder Class Constructor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Cylinder Class Destructor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Circle Class Destructor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16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Point Class Destructor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56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Types of inheritance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2766" y="1066800"/>
            <a:ext cx="8898834" cy="56388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public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private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protected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93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/>
          <a:lstStyle/>
          <a:p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Public Inheritance</a:t>
            </a:r>
            <a:endParaRPr lang="en-US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4666" y="1143000"/>
            <a:ext cx="8936934" cy="5638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With </a:t>
            </a: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public inheritance</a:t>
            </a:r>
            <a:r>
              <a:rPr lang="en-US" altLang="zh-CN" dirty="0">
                <a:ea typeface="ＭＳ Ｐゴシック" panose="020B0600070205080204" pitchFamily="34" charset="-128"/>
              </a:rPr>
              <a:t>, </a:t>
            </a:r>
          </a:p>
          <a:p>
            <a:pPr lvl="1"/>
            <a:r>
              <a:rPr lang="en-US" altLang="zh-CN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public</a:t>
            </a:r>
            <a:r>
              <a:rPr lang="en-US" altLang="zh-CN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and </a:t>
            </a:r>
            <a:r>
              <a:rPr lang="en-US" altLang="zh-CN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protected</a:t>
            </a:r>
            <a:r>
              <a:rPr lang="en-US" altLang="zh-CN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ea typeface="ＭＳ Ｐゴシック" panose="020B0600070205080204" pitchFamily="34" charset="-128"/>
              </a:rPr>
              <a:t>members</a:t>
            </a:r>
            <a:r>
              <a:rPr lang="en-US" altLang="zh-CN" dirty="0">
                <a:ea typeface="ＭＳ Ｐゴシック" panose="020B0600070205080204" pitchFamily="34" charset="-128"/>
              </a:rPr>
              <a:t> of the </a:t>
            </a:r>
            <a:r>
              <a:rPr lang="en-US" altLang="zh-CN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</a:t>
            </a:r>
            <a:r>
              <a:rPr lang="en-US" altLang="zh-CN" b="1" dirty="0">
                <a:ea typeface="ＭＳ Ｐゴシック" panose="020B0600070205080204" pitchFamily="34" charset="-128"/>
              </a:rPr>
              <a:t>become</a:t>
            </a:r>
            <a:r>
              <a:rPr lang="en-US" altLang="zh-CN" dirty="0">
                <a:ea typeface="ＭＳ Ｐゴシック" panose="020B0600070205080204" pitchFamily="34" charset="-128"/>
              </a:rPr>
              <a:t> respectively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public</a:t>
            </a:r>
            <a:r>
              <a:rPr lang="en-US" altLang="zh-CN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and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protected</a:t>
            </a:r>
            <a:r>
              <a:rPr lang="en-US" altLang="zh-CN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members</a:t>
            </a:r>
            <a:r>
              <a:rPr lang="en-US" altLang="zh-CN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u="sng" dirty="0">
                <a:ea typeface="ＭＳ Ｐゴシック" panose="020B0600070205080204" pitchFamily="34" charset="-128"/>
              </a:rPr>
              <a:t>of the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derived class</a:t>
            </a:r>
            <a:r>
              <a:rPr lang="en-US" altLang="zh-CN" u="sng" dirty="0">
                <a:ea typeface="ＭＳ Ｐゴシック" panose="020B0600070205080204" pitchFamily="34" charset="-128"/>
              </a:rPr>
              <a:t>.</a:t>
            </a:r>
            <a:endParaRPr lang="en-US" u="sng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00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Protected Inheritance</a:t>
            </a:r>
            <a:endParaRPr lang="en-US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839200" cy="5638800"/>
          </a:xfrm>
        </p:spPr>
        <p:txBody>
          <a:bodyPr/>
          <a:lstStyle/>
          <a:p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Public</a:t>
            </a:r>
            <a:r>
              <a:rPr lang="en-US" altLang="zh-CN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and </a:t>
            </a: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protected</a:t>
            </a:r>
            <a:r>
              <a:rPr lang="en-US" altLang="zh-CN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members</a:t>
            </a:r>
            <a:r>
              <a:rPr lang="en-US" altLang="zh-CN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of the </a:t>
            </a:r>
            <a:r>
              <a:rPr lang="en-US" altLang="zh-CN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become protected members </a:t>
            </a:r>
            <a:r>
              <a:rPr lang="en-US" altLang="zh-CN" dirty="0">
                <a:ea typeface="ＭＳ Ｐゴシック" panose="020B0600070205080204" pitchFamily="34" charset="-128"/>
              </a:rPr>
              <a:t>of the </a:t>
            </a:r>
            <a:r>
              <a:rPr lang="en-US" altLang="zh-CN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derived class</a:t>
            </a:r>
            <a:r>
              <a:rPr lang="en-US" altLang="zh-CN" dirty="0">
                <a:ea typeface="ＭＳ Ｐゴシック" panose="020B0600070205080204" pitchFamily="34" charset="-128"/>
              </a:rPr>
              <a:t>.</a:t>
            </a:r>
          </a:p>
          <a:p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42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/>
          <a:lstStyle/>
          <a:p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Private Inheritance</a:t>
            </a:r>
            <a:endParaRPr lang="en-US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4666" y="1066800"/>
            <a:ext cx="8991600" cy="5638800"/>
          </a:xfrm>
        </p:spPr>
        <p:txBody>
          <a:bodyPr/>
          <a:lstStyle/>
          <a:p>
            <a:pPr algn="just"/>
            <a:r>
              <a:rPr lang="en-US" altLang="zh-CN" dirty="0">
                <a:ea typeface="ＭＳ Ｐゴシック" panose="020B0600070205080204" pitchFamily="34" charset="-128"/>
              </a:rPr>
              <a:t>With </a:t>
            </a: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private</a:t>
            </a:r>
            <a:r>
              <a:rPr lang="en-US" altLang="zh-CN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inheritance</a:t>
            </a:r>
            <a:r>
              <a:rPr lang="en-US" altLang="zh-CN" dirty="0">
                <a:ea typeface="ＭＳ Ｐゴシック" panose="020B0600070205080204" pitchFamily="34" charset="-128"/>
              </a:rPr>
              <a:t>, </a:t>
            </a:r>
            <a:r>
              <a:rPr lang="en-US" altLang="zh-CN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public</a:t>
            </a:r>
            <a:r>
              <a:rPr lang="en-US" altLang="zh-CN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and </a:t>
            </a:r>
            <a:r>
              <a:rPr lang="en-US" altLang="zh-CN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protected</a:t>
            </a:r>
            <a:r>
              <a:rPr lang="en-US" altLang="zh-CN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CN" b="1" dirty="0">
                <a:ea typeface="ＭＳ Ｐゴシック" panose="020B0600070205080204" pitchFamily="34" charset="-128"/>
              </a:rPr>
              <a:t>members</a:t>
            </a:r>
            <a:r>
              <a:rPr lang="en-US" altLang="zh-CN" dirty="0">
                <a:ea typeface="ＭＳ Ｐゴシック" panose="020B0600070205080204" pitchFamily="34" charset="-128"/>
              </a:rPr>
              <a:t> of the </a:t>
            </a:r>
            <a:r>
              <a:rPr lang="en-US" altLang="zh-CN" b="1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base class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become private members</a:t>
            </a:r>
            <a:r>
              <a:rPr lang="en-US" altLang="zh-CN" dirty="0">
                <a:ea typeface="ＭＳ Ｐゴシック" panose="020B0600070205080204" pitchFamily="34" charset="-128"/>
              </a:rPr>
              <a:t> of the </a:t>
            </a:r>
            <a:r>
              <a:rPr lang="en-US" altLang="zh-CN" b="1" u="sng" dirty="0">
                <a:solidFill>
                  <a:srgbClr val="2C14DE"/>
                </a:solidFill>
                <a:ea typeface="ＭＳ Ｐゴシック" panose="020B0600070205080204" pitchFamily="34" charset="-128"/>
              </a:rPr>
              <a:t>derived class</a:t>
            </a:r>
            <a:r>
              <a:rPr lang="en-US" altLang="zh-CN" dirty="0">
                <a:ea typeface="ＭＳ Ｐゴシック" panose="020B0600070205080204" pitchFamily="34" charset="-128"/>
              </a:rPr>
              <a:t>.</a:t>
            </a:r>
            <a:endParaRPr 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32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067800" cy="9144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sz="3600" b="1" dirty="0">
                <a:solidFill>
                  <a:srgbClr val="D20000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public, protected and private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96" name="Picture 32" descr="https://media.geeksforgeeks.org/wp-content/cdn-uploads/table-clas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97728"/>
            <a:ext cx="808521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603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4666" y="0"/>
            <a:ext cx="9089334" cy="914400"/>
          </a:xfrm>
          <a:noFill/>
        </p:spPr>
        <p:txBody>
          <a:bodyPr lIns="90488" tIns="44450" rIns="90488" bIns="44450">
            <a:normAutofit/>
          </a:bodyPr>
          <a:lstStyle/>
          <a:p>
            <a:pPr eaLnBrk="1" hangingPunct="1"/>
            <a:r>
              <a:rPr lang="en-US" altLang="zh-CN" b="1" dirty="0">
                <a:solidFill>
                  <a:srgbClr val="D20000"/>
                </a:solidFill>
                <a:ea typeface="SimSun" panose="02010600030101010101" pitchFamily="2" charset="-122"/>
              </a:rPr>
              <a:t>Multiple Inheritance</a:t>
            </a: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2009047" y="2667074"/>
            <a:ext cx="119135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1" dirty="0">
                <a:latin typeface="+mj-lt"/>
                <a:ea typeface="SimSun" panose="02010600030101010101" pitchFamily="2" charset="-122"/>
              </a:rPr>
              <a:t>Student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5726414" y="1856669"/>
            <a:ext cx="144065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1" dirty="0">
                <a:latin typeface="+mj-lt"/>
                <a:ea typeface="SimSun" panose="02010600030101010101" pitchFamily="2" charset="-122"/>
              </a:rPr>
              <a:t>Employee</a:t>
            </a: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3325559" y="4874900"/>
            <a:ext cx="2679902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1" dirty="0" err="1">
                <a:latin typeface="+mj-lt"/>
                <a:ea typeface="SimSun" panose="02010600030101010101" pitchFamily="2" charset="-122"/>
              </a:rPr>
              <a:t>Graduate_Assistant</a:t>
            </a:r>
            <a:endParaRPr lang="en-US" altLang="zh-CN" sz="2400" b="1" dirty="0">
              <a:latin typeface="+mj-lt"/>
              <a:ea typeface="SimSun" panose="02010600030101010101" pitchFamily="2" charset="-122"/>
            </a:endParaRPr>
          </a:p>
        </p:txBody>
      </p:sp>
      <p:sp>
        <p:nvSpPr>
          <p:cNvPr id="19463" name="Line 6"/>
          <p:cNvSpPr>
            <a:spLocks noChangeShapeType="1"/>
          </p:cNvSpPr>
          <p:nvPr/>
        </p:nvSpPr>
        <p:spPr bwMode="auto">
          <a:xfrm>
            <a:off x="2825750" y="3054350"/>
            <a:ext cx="1365250" cy="18986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arrow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 b="1">
              <a:latin typeface="+mj-lt"/>
            </a:endParaRPr>
          </a:p>
        </p:txBody>
      </p:sp>
      <p:sp>
        <p:nvSpPr>
          <p:cNvPr id="19464" name="Line 7"/>
          <p:cNvSpPr>
            <a:spLocks noChangeShapeType="1"/>
          </p:cNvSpPr>
          <p:nvPr/>
        </p:nvSpPr>
        <p:spPr bwMode="auto">
          <a:xfrm flipH="1">
            <a:off x="5645150" y="2285999"/>
            <a:ext cx="762000" cy="62737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arrow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 b="1">
              <a:latin typeface="+mj-lt"/>
            </a:endParaRPr>
          </a:p>
        </p:txBody>
      </p:sp>
      <p:sp>
        <p:nvSpPr>
          <p:cNvPr id="19465" name="Rectangle 8"/>
          <p:cNvSpPr>
            <a:spLocks noChangeArrowheads="1"/>
          </p:cNvSpPr>
          <p:nvPr/>
        </p:nvSpPr>
        <p:spPr bwMode="auto">
          <a:xfrm>
            <a:off x="4953000" y="2819400"/>
            <a:ext cx="1213475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b="1" dirty="0">
                <a:latin typeface="+mj-lt"/>
                <a:ea typeface="SimSun" panose="02010600030101010101" pitchFamily="2" charset="-122"/>
              </a:rPr>
              <a:t>Salaried</a:t>
            </a:r>
          </a:p>
        </p:txBody>
      </p:sp>
      <p:sp>
        <p:nvSpPr>
          <p:cNvPr id="19466" name="Line 9"/>
          <p:cNvSpPr>
            <a:spLocks noChangeShapeType="1"/>
          </p:cNvSpPr>
          <p:nvPr/>
        </p:nvSpPr>
        <p:spPr bwMode="auto">
          <a:xfrm flipH="1">
            <a:off x="4712324" y="3200400"/>
            <a:ext cx="697875" cy="17526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arrow" w="med" len="med"/>
            <a:tailEnd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 b="1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7468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474" y="0"/>
            <a:ext cx="9079526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solidFill>
                  <a:srgbClr val="D20000"/>
                </a:solidFill>
                <a:latin typeface="+mn-lt"/>
                <a:ea typeface="ＭＳ Ｐゴシック" panose="020B0600070205080204" pitchFamily="34" charset="-128"/>
              </a:rPr>
              <a:t>What is Multiple Inheritance?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4474" y="1066800"/>
            <a:ext cx="8927126" cy="5638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3000" dirty="0">
                <a:latin typeface="+mj-lt"/>
                <a:ea typeface="ＭＳ Ｐゴシック" panose="020B0600070205080204" pitchFamily="34" charset="-128"/>
              </a:rPr>
              <a:t>If </a:t>
            </a:r>
            <a:r>
              <a:rPr lang="en-US" sz="3000" b="1" dirty="0">
                <a:solidFill>
                  <a:srgbClr val="D20000"/>
                </a:solidFill>
                <a:latin typeface="+mj-lt"/>
                <a:ea typeface="ＭＳ Ｐゴシック" panose="020B0600070205080204" pitchFamily="34" charset="-128"/>
              </a:rPr>
              <a:t>class A</a:t>
            </a:r>
            <a:r>
              <a:rPr lang="en-US" sz="3000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inherits</a:t>
            </a:r>
            <a:r>
              <a:rPr lang="en-US" sz="3000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sz="3000" b="1" dirty="0">
                <a:latin typeface="+mj-lt"/>
                <a:ea typeface="ＭＳ Ｐゴシック" panose="020B0600070205080204" pitchFamily="34" charset="-128"/>
              </a:rPr>
              <a:t>from</a:t>
            </a:r>
            <a:r>
              <a:rPr lang="en-US" sz="3000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more than one class</a:t>
            </a:r>
            <a:r>
              <a:rPr lang="en-US" sz="3000" dirty="0">
                <a:latin typeface="+mj-lt"/>
                <a:ea typeface="ＭＳ Ｐゴシック" panose="020B0600070205080204" pitchFamily="34" charset="-128"/>
              </a:rPr>
              <a:t>, 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latin typeface="+mj-lt"/>
                <a:ea typeface="ＭＳ Ｐゴシック" panose="020B0600070205080204" pitchFamily="34" charset="-128"/>
              </a:rPr>
              <a:t>i.e.,  A </a:t>
            </a:r>
            <a:r>
              <a:rPr lang="en-US" dirty="0">
                <a:latin typeface="+mj-lt"/>
                <a:ea typeface="ＭＳ Ｐゴシック" panose="020B0600070205080204" pitchFamily="34" charset="-128"/>
                <a:sym typeface="Wingdings" panose="05000000000000000000" pitchFamily="2" charset="2"/>
              </a:rPr>
              <a:t> (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B</a:t>
            </a:r>
            <a:r>
              <a:rPr lang="en-US" baseline="-25000" dirty="0">
                <a:latin typeface="+mj-lt"/>
                <a:ea typeface="ＭＳ Ｐゴシック" panose="020B0600070205080204" pitchFamily="34" charset="-128"/>
              </a:rPr>
              <a:t>1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, B</a:t>
            </a:r>
            <a:r>
              <a:rPr lang="en-US" baseline="-25000" dirty="0">
                <a:latin typeface="+mj-lt"/>
                <a:ea typeface="ＭＳ Ｐゴシック" panose="020B0600070205080204" pitchFamily="34" charset="-128"/>
              </a:rPr>
              <a:t>2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, ..., </a:t>
            </a:r>
            <a:r>
              <a:rPr lang="en-US" dirty="0" err="1">
                <a:latin typeface="+mj-lt"/>
                <a:ea typeface="ＭＳ Ｐゴシック" panose="020B0600070205080204" pitchFamily="34" charset="-128"/>
              </a:rPr>
              <a:t>B</a:t>
            </a:r>
            <a:r>
              <a:rPr lang="en-US" baseline="-25000" dirty="0" err="1">
                <a:latin typeface="+mj-lt"/>
                <a:ea typeface="ＭＳ Ｐゴシック" panose="020B0600070205080204" pitchFamily="34" charset="-128"/>
              </a:rPr>
              <a:t>n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), we speak of </a:t>
            </a:r>
            <a:r>
              <a:rPr lang="en-US" b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multiple inheritance</a:t>
            </a:r>
            <a:r>
              <a:rPr lang="en-US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endParaRPr lang="en-US" sz="3000" dirty="0"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000" dirty="0">
                <a:latin typeface="+mj-lt"/>
                <a:ea typeface="ＭＳ Ｐゴシック" panose="020B0600070205080204" pitchFamily="34" charset="-128"/>
              </a:rPr>
              <a:t>This </a:t>
            </a:r>
            <a:r>
              <a:rPr lang="en-US" sz="3000" b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may introduce </a:t>
            </a:r>
            <a:r>
              <a:rPr lang="en-US" sz="3000" b="1" u="sng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naming conflicts</a:t>
            </a:r>
            <a:r>
              <a:rPr lang="en-US" sz="3000" b="1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: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latin typeface="+mj-lt"/>
                <a:ea typeface="ＭＳ Ｐゴシック" panose="020B0600070205080204" pitchFamily="34" charset="-128"/>
              </a:rPr>
              <a:t>if </a:t>
            </a:r>
            <a:r>
              <a:rPr lang="en-US" b="1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at least two 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of </a:t>
            </a:r>
            <a:r>
              <a:rPr lang="en-US" b="1" dirty="0">
                <a:latin typeface="+mj-lt"/>
                <a:ea typeface="ＭＳ Ｐゴシック" panose="020B0600070205080204" pitchFamily="34" charset="-128"/>
              </a:rPr>
              <a:t>its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b="1" dirty="0" err="1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super_classes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latin typeface="+mj-lt"/>
                <a:ea typeface="ＭＳ Ｐゴシック" panose="020B0600070205080204" pitchFamily="34" charset="-128"/>
              </a:rPr>
              <a:t>define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latin typeface="+mj-lt"/>
                <a:ea typeface="ＭＳ Ｐゴシック" panose="020B0600070205080204" pitchFamily="34" charset="-128"/>
              </a:rPr>
              <a:t>properties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 (</a:t>
            </a:r>
            <a:r>
              <a:rPr lang="en-US" b="1" i="1" dirty="0">
                <a:latin typeface="+mj-lt"/>
                <a:ea typeface="ＭＳ Ｐゴシック" panose="020B0600070205080204" pitchFamily="34" charset="-128"/>
              </a:rPr>
              <a:t>data members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 or </a:t>
            </a:r>
            <a:r>
              <a:rPr lang="en-US" b="1" i="1" dirty="0">
                <a:latin typeface="+mj-lt"/>
                <a:ea typeface="ＭＳ Ｐゴシック" panose="020B0600070205080204" pitchFamily="34" charset="-128"/>
              </a:rPr>
              <a:t>member functions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) with the </a:t>
            </a:r>
            <a:r>
              <a:rPr lang="en-US" b="1" dirty="0">
                <a:solidFill>
                  <a:srgbClr val="2C14DE"/>
                </a:solidFill>
                <a:latin typeface="+mj-lt"/>
                <a:ea typeface="ＭＳ Ｐゴシック" panose="020B0600070205080204" pitchFamily="34" charset="-128"/>
              </a:rPr>
              <a:t>same name</a:t>
            </a:r>
            <a:r>
              <a:rPr lang="en-US" dirty="0">
                <a:latin typeface="+mj-lt"/>
                <a:ea typeface="ＭＳ Ｐゴシック" panose="020B0600070205080204" pitchFamily="34" charset="-128"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32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914400"/>
            <a:ext cx="8610600" cy="5791200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//simple example showing multiple inheritance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base1 {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funbase1(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 {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&lt;&lt;"funbase1"; 	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base2 {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funbase2(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	{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&lt;&lt;"funbase2";	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derived: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base1,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base2 {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funderived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 {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&lt;&lt;"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funderived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";}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main(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{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derived der;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der.funbase1(); 	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der.funbase2();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der.funderived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();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92503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30420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latin typeface="+mn-lt"/>
                <a:ea typeface="ＭＳ Ｐゴシック" panose="020B0600070205080204" pitchFamily="34" charset="-128"/>
              </a:rPr>
              <a:t>Example  (ambiguity)</a:t>
            </a:r>
            <a:endParaRPr lang="fr-FR" b="1" dirty="0">
              <a:solidFill>
                <a:srgbClr val="D20000"/>
              </a:solidFill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319480" y="1219200"/>
            <a:ext cx="821492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fi-FI" sz="2400" dirty="0">
                <a:latin typeface="Consolas" panose="020B0609020204030204" pitchFamily="49" charset="0"/>
              </a:rPr>
              <a:t>class A { public: void Foo() {} }</a:t>
            </a:r>
          </a:p>
          <a:p>
            <a:pPr eaLnBrk="1" hangingPunct="1"/>
            <a:r>
              <a:rPr lang="en-US" sz="2400" dirty="0">
                <a:latin typeface="Consolas" panose="020B0609020204030204" pitchFamily="49" charset="0"/>
              </a:rPr>
              <a:t>class B : public A {}</a:t>
            </a:r>
          </a:p>
          <a:p>
            <a:pPr eaLnBrk="1" hangingPunct="1"/>
            <a:r>
              <a:rPr lang="en-US" sz="2400" dirty="0">
                <a:latin typeface="Consolas" panose="020B0609020204030204" pitchFamily="49" charset="0"/>
              </a:rPr>
              <a:t>class C : public A {}</a:t>
            </a:r>
          </a:p>
          <a:p>
            <a:pPr eaLnBrk="1" hangingPunct="1"/>
            <a:r>
              <a:rPr lang="en-US" sz="2400" dirty="0">
                <a:latin typeface="Consolas" panose="020B0609020204030204" pitchFamily="49" charset="0"/>
              </a:rPr>
              <a:t>class D : public B, public C {}</a:t>
            </a:r>
            <a:endParaRPr lang="fr-FR" sz="2400" dirty="0">
              <a:latin typeface="Consolas" panose="020B0609020204030204" pitchFamily="49" charset="0"/>
            </a:endParaRPr>
          </a:p>
        </p:txBody>
      </p:sp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304800" y="3733800"/>
            <a:ext cx="7696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fr-FR" sz="2400" dirty="0">
                <a:latin typeface="Consolas" panose="020B0609020204030204" pitchFamily="49" charset="0"/>
              </a:rPr>
              <a:t>D </a:t>
            </a:r>
            <a:r>
              <a:rPr lang="fr-FR" sz="2400" dirty="0" err="1">
                <a:latin typeface="Consolas" panose="020B0609020204030204" pitchFamily="49" charset="0"/>
              </a:rPr>
              <a:t>d</a:t>
            </a:r>
            <a:r>
              <a:rPr lang="fr-FR" sz="2400" dirty="0"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n-US" sz="2400" dirty="0" err="1">
                <a:latin typeface="Consolas" panose="020B0609020204030204" pitchFamily="49" charset="0"/>
              </a:rPr>
              <a:t>d.Foo</a:t>
            </a:r>
            <a:r>
              <a:rPr lang="en-US" sz="2400" dirty="0">
                <a:latin typeface="Consolas" panose="020B0609020204030204" pitchFamily="49" charset="0"/>
              </a:rPr>
              <a:t>(); </a:t>
            </a:r>
          </a:p>
          <a:p>
            <a:pPr eaLnBrk="1" hangingPunct="1"/>
            <a:endParaRPr lang="en-US" sz="240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sz="2400" dirty="0">
                <a:latin typeface="Consolas" panose="020B0609020204030204" pitchFamily="49" charset="0"/>
              </a:rPr>
              <a:t>is this B's Foo() or C's Foo() ??</a:t>
            </a:r>
            <a:endParaRPr lang="fr-FR" sz="24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/>
          <p:cNvSpPr>
            <a:spLocks noGrp="1"/>
          </p:cNvSpPr>
          <p:nvPr>
            <p:ph type="title"/>
          </p:nvPr>
        </p:nvSpPr>
        <p:spPr>
          <a:xfrm>
            <a:off x="54666" y="0"/>
            <a:ext cx="9054629" cy="914400"/>
          </a:xfrm>
        </p:spPr>
        <p:txBody>
          <a:bodyPr/>
          <a:lstStyle/>
          <a:p>
            <a:r>
              <a:rPr lang="en-US" b="1" dirty="0">
                <a:solidFill>
                  <a:srgbClr val="D20000"/>
                </a:solidFill>
                <a:latin typeface="+mn-lt"/>
                <a:ea typeface="ＭＳ Ｐゴシック" panose="020B0600070205080204" pitchFamily="34" charset="-128"/>
              </a:rPr>
              <a:t>Solution (virtual inheritance)</a:t>
            </a:r>
            <a:endParaRPr lang="fr-FR" b="1" dirty="0">
              <a:solidFill>
                <a:srgbClr val="D20000"/>
              </a:solidFill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152400" y="1058730"/>
            <a:ext cx="88392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fi-FI" sz="2000" b="1" dirty="0">
                <a:latin typeface="Consolas" panose="020B0609020204030204" pitchFamily="49" charset="0"/>
              </a:rPr>
              <a:t>class A { </a:t>
            </a:r>
          </a:p>
          <a:p>
            <a:pPr eaLnBrk="1" hangingPunct="1"/>
            <a:r>
              <a:rPr lang="fi-FI" sz="2000" b="1" dirty="0">
                <a:latin typeface="Consolas" panose="020B0609020204030204" pitchFamily="49" charset="0"/>
              </a:rPr>
              <a:t>	public: </a:t>
            </a:r>
            <a:r>
              <a:rPr lang="fi-FI" sz="1600" b="1" dirty="0">
                <a:latin typeface="Consolas" panose="020B0609020204030204" pitchFamily="49" charset="0"/>
              </a:rPr>
              <a:t>v</a:t>
            </a:r>
            <a:r>
              <a:rPr lang="fi-FI" sz="2000" b="1" dirty="0">
                <a:latin typeface="Consolas" panose="020B0609020204030204" pitchFamily="49" charset="0"/>
              </a:rPr>
              <a:t>oid Foo() {} </a:t>
            </a:r>
          </a:p>
          <a:p>
            <a:pPr eaLnBrk="1" hangingPunct="1"/>
            <a:r>
              <a:rPr lang="fi-FI" sz="2000" b="1" dirty="0">
                <a:latin typeface="Consolas" panose="020B0609020204030204" pitchFamily="49" charset="0"/>
              </a:rPr>
              <a:t>}</a:t>
            </a:r>
          </a:p>
          <a:p>
            <a:pPr eaLnBrk="1" hangingPunct="1"/>
            <a:endParaRPr lang="en-US" sz="2000" b="1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sz="2000" b="1" dirty="0">
                <a:latin typeface="Consolas" panose="020B0609020204030204" pitchFamily="49" charset="0"/>
              </a:rPr>
              <a:t>class B : public virtual A {</a:t>
            </a:r>
          </a:p>
          <a:p>
            <a:pPr eaLnBrk="1" hangingPunct="1"/>
            <a:r>
              <a:rPr lang="en-US" sz="2000" b="1" dirty="0">
                <a:latin typeface="Consolas" panose="020B0609020204030204" pitchFamily="49" charset="0"/>
              </a:rPr>
              <a:t>}</a:t>
            </a:r>
          </a:p>
          <a:p>
            <a:pPr eaLnBrk="1" hangingPunct="1"/>
            <a:endParaRPr lang="en-US" sz="2000" b="1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sz="2000" b="1" dirty="0">
                <a:latin typeface="Consolas" panose="020B0609020204030204" pitchFamily="49" charset="0"/>
              </a:rPr>
              <a:t>class C : public virtual A {</a:t>
            </a:r>
          </a:p>
          <a:p>
            <a:pPr eaLnBrk="1" hangingPunct="1"/>
            <a:r>
              <a:rPr lang="en-US" sz="2000" b="1" dirty="0">
                <a:latin typeface="Consolas" panose="020B0609020204030204" pitchFamily="49" charset="0"/>
              </a:rPr>
              <a:t>}</a:t>
            </a:r>
          </a:p>
          <a:p>
            <a:pPr eaLnBrk="1" hangingPunct="1"/>
            <a:endParaRPr lang="en-US" sz="2000" b="1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sz="2000" b="1" dirty="0">
                <a:latin typeface="Consolas" panose="020B0609020204030204" pitchFamily="49" charset="0"/>
              </a:rPr>
              <a:t>class D : public B, public C {</a:t>
            </a:r>
          </a:p>
          <a:p>
            <a:pPr eaLnBrk="1" hangingPunct="1"/>
            <a:r>
              <a:rPr lang="en-US" sz="2000" b="1" dirty="0">
                <a:latin typeface="Consolas" panose="020B0609020204030204" pitchFamily="49" charset="0"/>
              </a:rPr>
              <a:t>}</a:t>
            </a:r>
            <a:endParaRPr lang="fr-FR" sz="2000" b="1" dirty="0">
              <a:latin typeface="Consolas" panose="020B0609020204030204" pitchFamily="49" charset="0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52400" y="5334000"/>
            <a:ext cx="7696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fr-FR" sz="2400" dirty="0">
                <a:latin typeface="Consolas" panose="020B0609020204030204" pitchFamily="49" charset="0"/>
              </a:rPr>
              <a:t>D </a:t>
            </a:r>
            <a:r>
              <a:rPr lang="fr-FR" sz="2400" dirty="0" err="1">
                <a:latin typeface="Consolas" panose="020B0609020204030204" pitchFamily="49" charset="0"/>
              </a:rPr>
              <a:t>d</a:t>
            </a:r>
            <a:r>
              <a:rPr lang="fr-FR" sz="2400" dirty="0">
                <a:latin typeface="Consolas" panose="020B0609020204030204" pitchFamily="49" charset="0"/>
              </a:rPr>
              <a:t>;</a:t>
            </a:r>
          </a:p>
          <a:p>
            <a:pPr eaLnBrk="1" hangingPunct="1"/>
            <a:r>
              <a:rPr lang="es-ES_tradnl" sz="2400" dirty="0" err="1">
                <a:latin typeface="Consolas" panose="020B0609020204030204" pitchFamily="49" charset="0"/>
              </a:rPr>
              <a:t>d.Foo</a:t>
            </a:r>
            <a:r>
              <a:rPr lang="es-ES_tradnl" sz="2400" dirty="0">
                <a:latin typeface="Consolas" panose="020B0609020204030204" pitchFamily="49" charset="0"/>
              </a:rPr>
              <a:t>(); // no </a:t>
            </a:r>
            <a:r>
              <a:rPr lang="es-ES_tradnl" sz="2400" dirty="0" err="1">
                <a:latin typeface="Consolas" panose="020B0609020204030204" pitchFamily="49" charset="0"/>
              </a:rPr>
              <a:t>longer</a:t>
            </a:r>
            <a:r>
              <a:rPr lang="es-ES_tradnl" sz="2400" dirty="0">
                <a:latin typeface="Consolas" panose="020B0609020204030204" pitchFamily="49" charset="0"/>
              </a:rPr>
              <a:t> </a:t>
            </a:r>
            <a:r>
              <a:rPr lang="es-ES_tradnl" sz="2400" dirty="0" err="1">
                <a:latin typeface="Consolas" panose="020B0609020204030204" pitchFamily="49" charset="0"/>
              </a:rPr>
              <a:t>ambiguous</a:t>
            </a:r>
            <a:endParaRPr lang="fr-FR" sz="24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156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re 1"/>
          <p:cNvSpPr>
            <a:spLocks noGrp="1"/>
          </p:cNvSpPr>
          <p:nvPr>
            <p:ph type="title"/>
          </p:nvPr>
        </p:nvSpPr>
        <p:spPr>
          <a:xfrm>
            <a:off x="54666" y="0"/>
            <a:ext cx="9089334" cy="914400"/>
          </a:xfrm>
        </p:spPr>
        <p:txBody>
          <a:bodyPr/>
          <a:lstStyle/>
          <a:p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Another</a:t>
            </a:r>
            <a:r>
              <a:rPr lang="fr-FR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example</a:t>
            </a:r>
            <a:endParaRPr lang="fr-FR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4579" name="Espace réservé du contenu 3"/>
          <p:cNvSpPr>
            <a:spLocks noGrp="1"/>
          </p:cNvSpPr>
          <p:nvPr>
            <p:ph idx="1"/>
          </p:nvPr>
        </p:nvSpPr>
        <p:spPr>
          <a:xfrm>
            <a:off x="228600" y="1219200"/>
            <a:ext cx="8153400" cy="3810000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sz="2400" b="1" dirty="0">
                <a:ea typeface="ＭＳ Ｐゴシック" panose="020B0600070205080204" pitchFamily="34" charset="-128"/>
              </a:rPr>
              <a:t>class</a:t>
            </a:r>
            <a:r>
              <a:rPr lang="en-US" sz="2400" dirty="0">
                <a:ea typeface="ＭＳ Ｐゴシック" panose="020B0600070205080204" pitchFamily="34" charset="-128"/>
              </a:rPr>
              <a:t> </a:t>
            </a:r>
            <a:r>
              <a:rPr lang="en-US" sz="2400" dirty="0" err="1">
                <a:ea typeface="ＭＳ Ｐゴシック" panose="020B0600070205080204" pitchFamily="34" charset="-128"/>
              </a:rPr>
              <a:t>PoweredDevice</a:t>
            </a:r>
            <a:endParaRPr lang="en-US" sz="2400" dirty="0">
              <a:ea typeface="ＭＳ Ｐゴシック" panose="020B0600070205080204" pitchFamily="34" charset="-128"/>
            </a:endParaRPr>
          </a:p>
          <a:p>
            <a:pPr marL="0" indent="0">
              <a:buFontTx/>
              <a:buNone/>
            </a:pPr>
            <a:r>
              <a:rPr lang="fr-FR" sz="2400" dirty="0">
                <a:ea typeface="ＭＳ Ｐゴシック" panose="020B0600070205080204" pitchFamily="34" charset="-128"/>
              </a:rPr>
              <a:t>{</a:t>
            </a:r>
          </a:p>
          <a:p>
            <a:pPr marL="0" indent="0">
              <a:buFontTx/>
              <a:buNone/>
            </a:pPr>
            <a:r>
              <a:rPr lang="fr-FR" sz="2400" b="1" dirty="0">
                <a:ea typeface="ＭＳ Ｐゴシック" panose="020B0600070205080204" pitchFamily="34" charset="-128"/>
              </a:rPr>
              <a:t>	public</a:t>
            </a:r>
            <a:r>
              <a:rPr lang="fr-FR" sz="2400" dirty="0">
                <a:ea typeface="ＭＳ Ｐゴシック" panose="020B0600070205080204" pitchFamily="34" charset="-128"/>
              </a:rPr>
              <a:t>:</a:t>
            </a:r>
          </a:p>
          <a:p>
            <a:pPr marL="0" indent="0">
              <a:buFontTx/>
              <a:buNone/>
            </a:pPr>
            <a:r>
              <a:rPr lang="pl-PL" sz="2400" dirty="0">
                <a:ea typeface="ＭＳ Ｐゴシック" panose="020B0600070205080204" pitchFamily="34" charset="-128"/>
              </a:rPr>
              <a:t>    </a:t>
            </a:r>
            <a:r>
              <a:rPr lang="en-US" sz="2400" dirty="0">
                <a:ea typeface="ＭＳ Ｐゴシック" panose="020B0600070205080204" pitchFamily="34" charset="-128"/>
              </a:rPr>
              <a:t>	</a:t>
            </a:r>
            <a:r>
              <a:rPr lang="pl-PL" sz="2400" dirty="0">
                <a:ea typeface="ＭＳ Ｐゴシック" panose="020B0600070205080204" pitchFamily="34" charset="-128"/>
              </a:rPr>
              <a:t>PoweredDevice(</a:t>
            </a:r>
            <a:r>
              <a:rPr lang="pl-PL" sz="2400" b="1" dirty="0">
                <a:ea typeface="ＭＳ Ｐゴシック" panose="020B0600070205080204" pitchFamily="34" charset="-128"/>
              </a:rPr>
              <a:t>int</a:t>
            </a:r>
            <a:r>
              <a:rPr lang="pl-PL" sz="2400" dirty="0">
                <a:ea typeface="ＭＳ Ｐゴシック" panose="020B0600070205080204" pitchFamily="34" charset="-128"/>
              </a:rPr>
              <a:t> nPower)</a:t>
            </a:r>
          </a:p>
          <a:p>
            <a:pPr marL="0" indent="0">
              <a:buFontTx/>
              <a:buNone/>
            </a:pPr>
            <a:r>
              <a:rPr lang="fr-FR" sz="2400" dirty="0">
                <a:ea typeface="ＭＳ Ｐゴシック" panose="020B0600070205080204" pitchFamily="34" charset="-128"/>
              </a:rPr>
              <a:t>    	 {</a:t>
            </a:r>
          </a:p>
          <a:p>
            <a:pPr marL="0" indent="0">
              <a:buFontTx/>
              <a:buNone/>
            </a:pPr>
            <a:r>
              <a:rPr lang="en-US" sz="2400" dirty="0">
                <a:ea typeface="ＭＳ Ｐゴシック" panose="020B0600070205080204" pitchFamily="34" charset="-128"/>
              </a:rPr>
              <a:t>        		</a:t>
            </a:r>
            <a:r>
              <a:rPr lang="en-US" sz="2400" dirty="0" err="1">
                <a:ea typeface="ＭＳ Ｐゴシック" panose="020B0600070205080204" pitchFamily="34" charset="-128"/>
              </a:rPr>
              <a:t>cout</a:t>
            </a:r>
            <a:r>
              <a:rPr lang="en-US" sz="2400" dirty="0">
                <a:ea typeface="ＭＳ Ｐゴシック" panose="020B0600070205080204" pitchFamily="34" charset="-128"/>
              </a:rPr>
              <a:t> &lt;&lt; "</a:t>
            </a:r>
            <a:r>
              <a:rPr lang="en-US" sz="2400" dirty="0" err="1">
                <a:ea typeface="ＭＳ Ｐゴシック" panose="020B0600070205080204" pitchFamily="34" charset="-128"/>
              </a:rPr>
              <a:t>PoweredDevice</a:t>
            </a:r>
            <a:r>
              <a:rPr lang="en-US" sz="2400" dirty="0">
                <a:ea typeface="ＭＳ Ｐゴシック" panose="020B0600070205080204" pitchFamily="34" charset="-128"/>
              </a:rPr>
              <a:t>: " &lt;&lt; </a:t>
            </a:r>
            <a:r>
              <a:rPr lang="en-US" sz="2400" dirty="0" err="1">
                <a:ea typeface="ＭＳ Ｐゴシック" panose="020B0600070205080204" pitchFamily="34" charset="-128"/>
              </a:rPr>
              <a:t>nPower</a:t>
            </a:r>
            <a:r>
              <a:rPr lang="en-US" sz="2400" dirty="0">
                <a:ea typeface="ＭＳ Ｐゴシック" panose="020B0600070205080204" pitchFamily="34" charset="-128"/>
              </a:rPr>
              <a:t> &lt;&lt; </a:t>
            </a:r>
            <a:r>
              <a:rPr lang="en-US" sz="2400" dirty="0" err="1">
                <a:ea typeface="ＭＳ Ｐゴシック" panose="020B0600070205080204" pitchFamily="34" charset="-128"/>
              </a:rPr>
              <a:t>endl</a:t>
            </a:r>
            <a:r>
              <a:rPr lang="en-US" sz="2400" dirty="0">
                <a:ea typeface="ＭＳ Ｐゴシック" panose="020B0600070205080204" pitchFamily="34" charset="-128"/>
              </a:rPr>
              <a:t>;</a:t>
            </a:r>
          </a:p>
          <a:p>
            <a:pPr marL="0" indent="0">
              <a:buFontTx/>
              <a:buNone/>
            </a:pPr>
            <a:r>
              <a:rPr lang="fr-FR" sz="2400" dirty="0">
                <a:ea typeface="ＭＳ Ｐゴシック" panose="020B0600070205080204" pitchFamily="34" charset="-128"/>
              </a:rPr>
              <a:t>   	 }</a:t>
            </a:r>
          </a:p>
          <a:p>
            <a:pPr marL="0" indent="0">
              <a:buFontTx/>
              <a:buNone/>
            </a:pPr>
            <a:r>
              <a:rPr lang="fr-FR" sz="2400" dirty="0">
                <a:ea typeface="ＭＳ Ｐゴシック" panose="020B0600070205080204" pitchFamily="34" charset="-128"/>
              </a:rPr>
              <a:t>};</a:t>
            </a:r>
          </a:p>
          <a:p>
            <a:pPr marL="0" indent="0">
              <a:buFontTx/>
              <a:buNone/>
            </a:pPr>
            <a:r>
              <a:rPr lang="fr-FR" sz="2800" dirty="0">
                <a:ea typeface="ＭＳ Ｐゴシック" panose="020B0600070205080204" pitchFamily="34" charset="-128"/>
              </a:rPr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2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re 1"/>
          <p:cNvSpPr>
            <a:spLocks noGrp="1"/>
          </p:cNvSpPr>
          <p:nvPr>
            <p:ph type="title"/>
          </p:nvPr>
        </p:nvSpPr>
        <p:spPr>
          <a:xfrm>
            <a:off x="54666" y="0"/>
            <a:ext cx="9061010" cy="914400"/>
          </a:xfrm>
        </p:spPr>
        <p:txBody>
          <a:bodyPr>
            <a:normAutofit/>
          </a:bodyPr>
          <a:lstStyle/>
          <a:p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Another</a:t>
            </a:r>
            <a:r>
              <a:rPr lang="fr-FR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example</a:t>
            </a:r>
            <a:endParaRPr lang="fr-FR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5603" name="Espace réservé du contenu 3"/>
          <p:cNvSpPr>
            <a:spLocks noGrp="1"/>
          </p:cNvSpPr>
          <p:nvPr>
            <p:ph idx="1"/>
          </p:nvPr>
        </p:nvSpPr>
        <p:spPr>
          <a:xfrm>
            <a:off x="65982" y="1036319"/>
            <a:ext cx="9049694" cy="5821681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Scanner: </a:t>
            </a: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PoweredDevice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 marL="0" indent="0">
              <a:buFontTx/>
              <a:buNone/>
            </a:pPr>
            <a:r>
              <a:rPr lang="fr-FR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>
              <a:buFontTx/>
              <a:buNone/>
            </a:pPr>
            <a:r>
              <a:rPr lang="pl-PL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Scanner(</a:t>
            </a:r>
            <a:r>
              <a:rPr lang="pl-PL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nScanner, </a:t>
            </a:r>
            <a:r>
              <a:rPr lang="pl-PL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nPower) : PoweredDevice(nPower)</a:t>
            </a:r>
          </a:p>
          <a:p>
            <a:pPr marL="0" indent="0">
              <a:buFontTx/>
              <a:buNone/>
            </a:pP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{</a:t>
            </a:r>
          </a:p>
          <a:p>
            <a:pPr marL="0" indent="0">
              <a:buFontTx/>
              <a:buNone/>
            </a:pPr>
            <a:r>
              <a:rPr lang="cs-CZ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    cout &lt;&lt; "Scanner: " &lt;&lt; nScanner &lt;&lt; endl;</a:t>
            </a:r>
          </a:p>
          <a:p>
            <a:pPr marL="0" indent="0">
              <a:buFontTx/>
              <a:buNone/>
            </a:pP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}</a:t>
            </a:r>
          </a:p>
          <a:p>
            <a:pPr marL="0" indent="0">
              <a:buFontTx/>
              <a:buNone/>
            </a:pP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marL="0" indent="0">
              <a:buFontTx/>
              <a:buNone/>
            </a:pPr>
            <a:endParaRPr lang="fr-FR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>
              <a:buFontTx/>
              <a:buNone/>
            </a:pP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Printer: </a:t>
            </a:r>
            <a:r>
              <a:rPr lang="en-US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PoweredDevice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 marL="0" indent="0">
              <a:buFontTx/>
              <a:buNone/>
            </a:pPr>
            <a:r>
              <a:rPr lang="fr-FR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>
              <a:buFontTx/>
              <a:buNone/>
            </a:pPr>
            <a:r>
              <a:rPr lang="pl-PL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Printer(</a:t>
            </a:r>
            <a:r>
              <a:rPr lang="pl-PL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nPrinter, </a:t>
            </a:r>
            <a:r>
              <a:rPr lang="pl-PL" sz="20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nPower) : PoweredDevice(nPower)</a:t>
            </a:r>
          </a:p>
          <a:p>
            <a:pPr marL="0" indent="0">
              <a:buFontTx/>
              <a:buNone/>
            </a:pP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{</a:t>
            </a:r>
          </a:p>
          <a:p>
            <a:pPr marL="0" indent="0">
              <a:buFontTx/>
              <a:buNone/>
            </a:pPr>
            <a:r>
              <a:rPr lang="cs-CZ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    cout &lt;&lt; "Printer: " &lt;&lt; nPrinter &lt;&lt; endl;</a:t>
            </a:r>
          </a:p>
          <a:p>
            <a:pPr marL="0" indent="0">
              <a:buFontTx/>
              <a:buNone/>
            </a:pP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}</a:t>
            </a:r>
          </a:p>
          <a:p>
            <a:pPr marL="0" indent="0">
              <a:buFontTx/>
              <a:buNone/>
            </a:pPr>
            <a:r>
              <a:rPr lang="fr-FR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4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re 1"/>
          <p:cNvSpPr>
            <a:spLocks noGrp="1"/>
          </p:cNvSpPr>
          <p:nvPr>
            <p:ph type="title"/>
          </p:nvPr>
        </p:nvSpPr>
        <p:spPr>
          <a:xfrm>
            <a:off x="967966" y="-17204"/>
            <a:ext cx="8153400" cy="914400"/>
          </a:xfrm>
        </p:spPr>
        <p:txBody>
          <a:bodyPr/>
          <a:lstStyle/>
          <a:p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Another</a:t>
            </a:r>
            <a:r>
              <a:rPr lang="fr-FR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example</a:t>
            </a:r>
            <a:endParaRPr lang="fr-FR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6627" name="Espace réservé du contenu 3"/>
          <p:cNvSpPr>
            <a:spLocks noGrp="1"/>
          </p:cNvSpPr>
          <p:nvPr>
            <p:ph idx="1"/>
          </p:nvPr>
        </p:nvSpPr>
        <p:spPr>
          <a:xfrm>
            <a:off x="54666" y="1066800"/>
            <a:ext cx="8860734" cy="5638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Copier: 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Scanner, </a:t>
            </a:r>
            <a:r>
              <a:rPr lang="en-US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Printer</a:t>
            </a:r>
          </a:p>
          <a:p>
            <a:pPr marL="0" indent="0">
              <a:buFontTx/>
              <a:buNone/>
            </a:pPr>
            <a:r>
              <a:rPr lang="fr-FR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 marL="0" indent="0">
              <a:buFontTx/>
              <a:buNone/>
            </a:pPr>
            <a:r>
              <a:rPr lang="fr-FR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public</a:t>
            </a:r>
            <a:r>
              <a:rPr lang="fr-FR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>
              <a:buFontTx/>
              <a:buNone/>
            </a:pPr>
            <a:r>
              <a:rPr lang="pl-PL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Copier(</a:t>
            </a:r>
            <a:r>
              <a:rPr lang="pl-PL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nScanner, </a:t>
            </a:r>
            <a:r>
              <a:rPr lang="pl-PL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nPrinter, </a:t>
            </a:r>
            <a:r>
              <a:rPr lang="pl-PL" sz="1800" b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pl-PL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nPower)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pl-PL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 Scanner(nScanner, nPower), Printer(nPrinter, nPower)</a:t>
            </a:r>
          </a:p>
          <a:p>
            <a:pPr marL="0" indent="0">
              <a:buFontTx/>
              <a:buNone/>
            </a:pPr>
            <a:r>
              <a:rPr lang="fr-FR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{</a:t>
            </a:r>
          </a:p>
          <a:p>
            <a:pPr marL="0" indent="0">
              <a:buFontTx/>
              <a:buNone/>
            </a:pPr>
            <a:r>
              <a:rPr lang="fr-FR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}</a:t>
            </a:r>
          </a:p>
          <a:p>
            <a:pPr marL="0" indent="0">
              <a:buFontTx/>
              <a:buNone/>
            </a:pPr>
            <a:r>
              <a:rPr lang="fr-FR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	</a:t>
            </a:r>
          </a:p>
          <a:p>
            <a:pPr marL="0" indent="0">
              <a:buFontTx/>
              <a:buNone/>
            </a:pPr>
            <a:endParaRPr lang="fr-FR" sz="18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</p:txBody>
      </p:sp>
      <p:pic>
        <p:nvPicPr>
          <p:cNvPr id="26628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86200"/>
            <a:ext cx="443033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62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r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914400"/>
          </a:xfrm>
        </p:spPr>
        <p:txBody>
          <a:bodyPr/>
          <a:lstStyle/>
          <a:p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Another</a:t>
            </a:r>
            <a:r>
              <a:rPr lang="fr-FR" b="1" dirty="0">
                <a:solidFill>
                  <a:srgbClr val="D20000"/>
                </a:solidFill>
                <a:ea typeface="ＭＳ Ｐゴシック" panose="020B0600070205080204" pitchFamily="34" charset="-128"/>
              </a:rPr>
              <a:t> </a:t>
            </a:r>
            <a:r>
              <a:rPr lang="fr-FR" b="1" dirty="0" err="1">
                <a:solidFill>
                  <a:srgbClr val="D20000"/>
                </a:solidFill>
                <a:ea typeface="ＭＳ Ｐゴシック" panose="020B0600070205080204" pitchFamily="34" charset="-128"/>
              </a:rPr>
              <a:t>example</a:t>
            </a:r>
            <a:endParaRPr lang="fr-FR" b="1" dirty="0">
              <a:solidFill>
                <a:srgbClr val="D2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666" y="1066800"/>
            <a:ext cx="8708334" cy="5638800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fr-FR" sz="2400" b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int</a:t>
            </a:r>
            <a:r>
              <a:rPr lang="fr-FR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main()</a:t>
            </a:r>
          </a:p>
          <a:p>
            <a:pPr marL="0" indent="0">
              <a:buFontTx/>
              <a:buNone/>
            </a:pPr>
            <a:r>
              <a:rPr lang="fr-FR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{</a:t>
            </a:r>
          </a:p>
          <a:p>
            <a:pPr marL="0" indent="0">
              <a:buFontTx/>
              <a:buNone/>
            </a:pPr>
            <a:r>
              <a:rPr lang="pl-PL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    Copier cCopier(1, 2, 3);</a:t>
            </a:r>
          </a:p>
          <a:p>
            <a:pPr marL="0" indent="0">
              <a:buFontTx/>
              <a:buNone/>
            </a:pPr>
            <a:r>
              <a:rPr lang="fr-FR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 marL="0" indent="0">
              <a:buFontTx/>
              <a:buNone/>
            </a:pPr>
            <a:endParaRPr lang="fr-FR" sz="24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>
              <a:buFontTx/>
              <a:buNone/>
            </a:pPr>
            <a:r>
              <a:rPr lang="fr-FR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What</a:t>
            </a:r>
            <a:r>
              <a:rPr lang="fr-FR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fr-FR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should</a:t>
            </a:r>
            <a:r>
              <a:rPr lang="fr-FR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fr-FR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be</a:t>
            </a:r>
            <a:r>
              <a:rPr lang="fr-FR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the output?</a:t>
            </a:r>
          </a:p>
          <a:p>
            <a:pPr marL="0" indent="0">
              <a:buFontTx/>
              <a:buNone/>
            </a:pPr>
            <a:r>
              <a:rPr lang="en-US" sz="2000" i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i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PoweredDevice</a:t>
            </a:r>
            <a:r>
              <a:rPr lang="en-US" sz="2000" i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 3</a:t>
            </a:r>
          </a:p>
          <a:p>
            <a:pPr marL="0" indent="0">
              <a:buFontTx/>
              <a:buNone/>
            </a:pPr>
            <a:r>
              <a:rPr lang="fr-FR" sz="2000" i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Scanner: 1</a:t>
            </a:r>
          </a:p>
          <a:p>
            <a:pPr marL="0" indent="0">
              <a:buFontTx/>
              <a:buNone/>
            </a:pPr>
            <a:r>
              <a:rPr lang="en-US" sz="2000" i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i="1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PoweredDevice</a:t>
            </a:r>
            <a:r>
              <a:rPr lang="en-US" sz="2000" i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 3</a:t>
            </a:r>
          </a:p>
          <a:p>
            <a:pPr marL="0" indent="0">
              <a:buFontTx/>
              <a:buNone/>
            </a:pPr>
            <a:r>
              <a:rPr lang="fr-FR" sz="2000" i="1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Printer: 2 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08050"/>
          </a:xfrm>
          <a:noFill/>
        </p:spPr>
        <p:txBody>
          <a:bodyPr lIns="90488" tIns="44450" rIns="90488" bIns="44450">
            <a:normAutofit/>
          </a:bodyPr>
          <a:lstStyle/>
          <a:p>
            <a:pPr eaLnBrk="1" hangingPunct="1"/>
            <a:r>
              <a:rPr lang="en-US" altLang="zh-CN" b="1" dirty="0">
                <a:solidFill>
                  <a:srgbClr val="D20000"/>
                </a:solidFill>
                <a:latin typeface="+mn-lt"/>
                <a:ea typeface="SimSun" panose="02010600030101010101" pitchFamily="2" charset="-122"/>
              </a:rPr>
              <a:t>Multiple Inheritance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2286000" y="2314581"/>
            <a:ext cx="124393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dirty="0">
                <a:latin typeface="Helvetica" panose="020B0604020202020204" pitchFamily="34" charset="0"/>
                <a:ea typeface="SimSun" panose="02010600030101010101" pitchFamily="2" charset="-122"/>
              </a:rPr>
              <a:t>Student</a:t>
            </a: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6405484" y="1611315"/>
            <a:ext cx="1553311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dirty="0">
                <a:latin typeface="Helvetica" panose="020B0604020202020204" pitchFamily="34" charset="0"/>
                <a:ea typeface="SimSun" panose="02010600030101010101" pitchFamily="2" charset="-122"/>
              </a:rPr>
              <a:t>Employee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3234641" y="4606293"/>
            <a:ext cx="288701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dirty="0" err="1">
                <a:latin typeface="Helvetica" panose="020B0604020202020204" pitchFamily="34" charset="0"/>
                <a:ea typeface="SimSun" panose="02010600030101010101" pitchFamily="2" charset="-122"/>
              </a:rPr>
              <a:t>Graduate_Assistant</a:t>
            </a:r>
            <a:endParaRPr lang="en-US" altLang="zh-CN" sz="2400" dirty="0">
              <a:latin typeface="Helvetica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8679" name="Line 6"/>
          <p:cNvSpPr>
            <a:spLocks noChangeShapeType="1"/>
          </p:cNvSpPr>
          <p:nvPr/>
        </p:nvSpPr>
        <p:spPr bwMode="auto">
          <a:xfrm>
            <a:off x="3130550" y="2825750"/>
            <a:ext cx="1358900" cy="1739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lg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7"/>
          <p:cNvSpPr>
            <a:spLocks noChangeShapeType="1"/>
          </p:cNvSpPr>
          <p:nvPr/>
        </p:nvSpPr>
        <p:spPr bwMode="auto">
          <a:xfrm flipH="1">
            <a:off x="6096000" y="1981201"/>
            <a:ext cx="1219200" cy="7604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lg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auto">
          <a:xfrm>
            <a:off x="5365939" y="2672565"/>
            <a:ext cx="131446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2400" dirty="0">
                <a:latin typeface="Helvetica" panose="020B0604020202020204" pitchFamily="34" charset="0"/>
                <a:ea typeface="SimSun" panose="02010600030101010101" pitchFamily="2" charset="-122"/>
              </a:rPr>
              <a:t>Salaried</a:t>
            </a:r>
          </a:p>
        </p:txBody>
      </p:sp>
      <p:sp>
        <p:nvSpPr>
          <p:cNvPr id="28682" name="Line 9"/>
          <p:cNvSpPr>
            <a:spLocks noChangeShapeType="1"/>
          </p:cNvSpPr>
          <p:nvPr/>
        </p:nvSpPr>
        <p:spPr bwMode="auto">
          <a:xfrm flipH="1">
            <a:off x="4876800" y="3048000"/>
            <a:ext cx="1073150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arrow" w="lg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7805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>
          <a:xfrm>
            <a:off x="283266" y="1219200"/>
            <a:ext cx="8610600" cy="54864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//Example (showing ambiguity)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solidFill>
                <a:srgbClr val="00FF00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typedef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Student 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 ) { age = n;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 ) { id=n;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276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u contenu 2"/>
          <p:cNvSpPr>
            <a:spLocks noGrp="1"/>
          </p:cNvSpPr>
          <p:nvPr>
            <p:ph idx="1"/>
          </p:nvPr>
        </p:nvSpPr>
        <p:spPr>
          <a:xfrm>
            <a:off x="152400" y="1371600"/>
            <a:ext cx="8686800" cy="52578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4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Employee 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GetAge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SetAge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 ) { age = n;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SetId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n) { id=n;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GetId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private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4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marL="0" indent="0">
              <a:buFontTx/>
              <a:buNone/>
            </a:pPr>
            <a:endParaRPr lang="fr-FR" sz="24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815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1143000"/>
            <a:ext cx="8991600" cy="54864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Salaried :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Employee 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float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salary;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float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GetSalary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salary;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SetSalary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float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 ) { salary=s; }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GradAssistant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: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Student,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Salaried 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Display()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GradAssistant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::Display()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()&lt;&lt;","&lt;&lt;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GetSalary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()&lt;&lt;","&lt;&lt;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();</a:t>
            </a:r>
            <a:r>
              <a:rPr lang="en-US" sz="2000" dirty="0">
                <a:solidFill>
                  <a:srgbClr val="00FF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//ambiguity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  <a:endParaRPr lang="en-US" sz="2000" dirty="0">
              <a:solidFill>
                <a:srgbClr val="00FF00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5607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fr-FR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i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nt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main(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{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GradAssistant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ga.SetAge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(20);	</a:t>
            </a:r>
            <a:r>
              <a:rPr lang="en-US" sz="2000" dirty="0">
                <a:solidFill>
                  <a:srgbClr val="00FF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//ambiguity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ga.SetId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(15);	</a:t>
            </a:r>
            <a:r>
              <a:rPr lang="en-US" sz="2000" dirty="0">
                <a:solidFill>
                  <a:srgbClr val="00FF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//ambiguity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ga.Display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();	</a:t>
            </a:r>
            <a:r>
              <a:rPr lang="en-US" sz="2000" dirty="0">
                <a:solidFill>
                  <a:srgbClr val="00FF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//ambiguity inside display function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2000" dirty="0">
              <a:solidFill>
                <a:srgbClr val="00FF00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  <a:r>
              <a:rPr lang="en-US" sz="2000" dirty="0">
                <a:solidFill>
                  <a:srgbClr val="00FF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//program will not compile and will generate errors</a:t>
            </a:r>
          </a:p>
          <a:p>
            <a:pPr marL="0" indent="0">
              <a:buFontTx/>
              <a:buNone/>
            </a:pPr>
            <a:endParaRPr lang="fr-FR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57078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6011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>
                <a:solidFill>
                  <a:srgbClr val="B8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What is the solution?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54666" y="1066800"/>
            <a:ext cx="9144000" cy="56388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b="1" dirty="0">
                <a:solidFill>
                  <a:srgbClr val="008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Call functions explicitly</a:t>
            </a:r>
            <a:r>
              <a:rPr lang="en-US" sz="2400" dirty="0">
                <a:solidFill>
                  <a:srgbClr val="008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by </a:t>
            </a:r>
            <a:r>
              <a:rPr lang="en-US" sz="2400" b="1" dirty="0">
                <a:solidFill>
                  <a:srgbClr val="008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specifying name of class </a:t>
            </a:r>
            <a:r>
              <a:rPr lang="en-US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and using </a:t>
            </a:r>
            <a:r>
              <a:rPr lang="en-US" sz="2400" b="1" dirty="0">
                <a:solidFill>
                  <a:srgbClr val="008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scope resolution operator </a:t>
            </a:r>
            <a:r>
              <a:rPr lang="en-US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 </a:t>
            </a:r>
            <a:r>
              <a:rPr lang="en-US" sz="2400" b="1" dirty="0">
                <a:solidFill>
                  <a:srgbClr val="2C14DE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remove ambiguity: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u="sng" dirty="0">
                <a:solidFill>
                  <a:srgbClr val="2C14DE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Direct solution</a:t>
            </a:r>
            <a:r>
              <a:rPr lang="en-US" altLang="zh-CN" sz="2400" b="1" u="sng" dirty="0">
                <a:latin typeface="Arial" panose="020B0604020202020204" pitchFamily="34" charset="0"/>
                <a:ea typeface="SimSun" panose="02010600030101010101" pitchFamily="2" charset="-122"/>
              </a:rPr>
              <a:t>:</a:t>
            </a:r>
            <a:r>
              <a:rPr lang="en-US" altLang="zh-CN" sz="2400" b="1" dirty="0">
                <a:latin typeface="Arial" panose="020B0604020202020204" pitchFamily="34" charset="0"/>
                <a:ea typeface="SimSun" panose="02010600030101010101" pitchFamily="2" charset="-122"/>
              </a:rPr>
              <a:t> </a:t>
            </a:r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  <a:ea typeface="SimSun" panose="02010600030101010101" pitchFamily="2" charset="-122"/>
              </a:rPr>
              <a:t>		</a:t>
            </a:r>
            <a:r>
              <a:rPr lang="en-US" altLang="zh-CN" sz="2400" b="1" dirty="0">
                <a:latin typeface="Consolas" panose="020B0609020204030204" pitchFamily="49" charset="0"/>
                <a:ea typeface="SimSun" panose="02010600030101010101" pitchFamily="2" charset="-122"/>
              </a:rPr>
              <a:t>Student::</a:t>
            </a:r>
            <a:r>
              <a:rPr lang="en-US" altLang="zh-CN" sz="2400" b="1" dirty="0" err="1">
                <a:latin typeface="Consolas" panose="020B0609020204030204" pitchFamily="49" charset="0"/>
                <a:ea typeface="SimSun" panose="02010600030101010101" pitchFamily="2" charset="-122"/>
              </a:rPr>
              <a:t>SetAge</a:t>
            </a:r>
            <a:r>
              <a:rPr lang="en-US" altLang="zh-CN" sz="2400" b="1" dirty="0">
                <a:latin typeface="Consolas" panose="020B0609020204030204" pitchFamily="49" charset="0"/>
                <a:ea typeface="SimSun" panose="02010600030101010101" pitchFamily="2" charset="-122"/>
              </a:rPr>
              <a:t>() </a:t>
            </a:r>
            <a:r>
              <a:rPr lang="en-US" altLang="zh-CN" dirty="0">
                <a:latin typeface="Arial" panose="020B0604020202020204" pitchFamily="34" charset="0"/>
                <a:ea typeface="SimSun" panose="02010600030101010101" pitchFamily="2" charset="-122"/>
              </a:rPr>
              <a:t>or </a:t>
            </a:r>
            <a:r>
              <a:rPr lang="en-US" altLang="zh-CN" sz="2400" b="1" dirty="0">
                <a:latin typeface="Consolas" panose="020B0609020204030204" pitchFamily="49" charset="0"/>
                <a:ea typeface="SimSun" panose="02010600030101010101" pitchFamily="2" charset="-122"/>
              </a:rPr>
              <a:t>Salaried::</a:t>
            </a:r>
            <a:r>
              <a:rPr lang="en-US" altLang="zh-CN" sz="2400" b="1" dirty="0" err="1">
                <a:latin typeface="Consolas" panose="020B0609020204030204" pitchFamily="49" charset="0"/>
                <a:ea typeface="SimSun" panose="02010600030101010101" pitchFamily="2" charset="-122"/>
              </a:rPr>
              <a:t>SetAge</a:t>
            </a:r>
            <a:r>
              <a:rPr lang="en-US" altLang="zh-CN" sz="2400" b="1" dirty="0">
                <a:latin typeface="Consolas" panose="020B0609020204030204" pitchFamily="49" charset="0"/>
                <a:ea typeface="SimSun" panose="02010600030101010101" pitchFamily="2" charset="-122"/>
              </a:rPr>
              <a:t>()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2C14DE"/>
                </a:solidFill>
                <a:latin typeface="Arial" panose="020B0604020202020204" pitchFamily="34" charset="0"/>
                <a:ea typeface="SimSun" panose="02010600030101010101" pitchFamily="2" charset="-122"/>
              </a:rPr>
              <a:t>Virtual inheritance</a:t>
            </a:r>
          </a:p>
          <a:p>
            <a:pPr eaLnBrk="1" hangingPunct="1"/>
            <a:endParaRPr lang="en-US" sz="24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457200" indent="-457200" eaLnBrk="1" hangingPunct="1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666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113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758473" cy="54102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//Example 2 corrected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typedef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Student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 ) { age = n;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 ) { id=n;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Employee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SetAge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 ) { age = n;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n) { id=n;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private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age;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ulong</a:t>
            </a: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073093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idx="1"/>
          </p:nvPr>
        </p:nvSpPr>
        <p:spPr>
          <a:xfrm>
            <a:off x="76200" y="609600"/>
            <a:ext cx="8534400" cy="6169938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Salaried :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Employee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float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salary;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float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GetSalary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return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salary;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SetSalary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float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 ) { salary=s;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class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GradAssistant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: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Student,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Salaried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Display()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GradAssistant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::Display()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{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cout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&lt;&lt;Employee::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()&lt;&lt;","&lt;&lt;Salaried::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GetSalary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()&lt;&lt;",</a:t>
            </a:r>
            <a:r>
              <a:rPr lang="ja-JP" alt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“</a:t>
            </a:r>
            <a:endParaRPr lang="en-US" altLang="ja-JP" sz="1800" dirty="0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	&lt;&lt;Salaried::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GetAge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void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 {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GradAssistant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ga.Employee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SetAge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(20);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ga.Employee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SetId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(15);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ga.Salaried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::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SetSalary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(2000);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</a:t>
            </a:r>
            <a:r>
              <a:rPr lang="en-US" sz="18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ga.Display</a:t>
            </a: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();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//no ambiguity now, program will compile successfully now</a:t>
            </a:r>
          </a:p>
        </p:txBody>
      </p:sp>
    </p:spTree>
    <p:extLst>
      <p:ext uri="{BB962C8B-B14F-4D97-AF65-F5344CB8AC3E}">
        <p14:creationId xmlns:p14="http://schemas.microsoft.com/office/powerpoint/2010/main" val="1702965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5461</TotalTime>
  <Words>1474</Words>
  <Application>Microsoft Office PowerPoint</Application>
  <PresentationFormat>On-screen Show (4:3)</PresentationFormat>
  <Paragraphs>736</Paragraphs>
  <Slides>55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ＭＳ Ｐゴシック</vt:lpstr>
      <vt:lpstr>SimSun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Wingdings</vt:lpstr>
      <vt:lpstr>Office Theme</vt:lpstr>
      <vt:lpstr>Document</vt:lpstr>
      <vt:lpstr>VISIO</vt:lpstr>
      <vt:lpstr>Inheritance</vt:lpstr>
      <vt:lpstr>Inheritance</vt:lpstr>
      <vt:lpstr>Introduction - Inheritance</vt:lpstr>
      <vt:lpstr>Is-A vs Has-A relationship</vt:lpstr>
      <vt:lpstr>Introduction - Inheritance</vt:lpstr>
      <vt:lpstr>Inheriting Data and Functions</vt:lpstr>
      <vt:lpstr>Some definitions in class hierarchy</vt:lpstr>
      <vt:lpstr>Animals: Class’s hierarchy</vt:lpstr>
      <vt:lpstr>Inheritance Examples</vt:lpstr>
      <vt:lpstr>Another example: University’s community member’s hierarchy</vt:lpstr>
      <vt:lpstr>Inheritance Concept</vt:lpstr>
      <vt:lpstr>Inheritance Concept</vt:lpstr>
      <vt:lpstr>Inheritance Concept</vt:lpstr>
      <vt:lpstr>Inheritance Concept</vt:lpstr>
      <vt:lpstr>Define a Class Hierarchy</vt:lpstr>
      <vt:lpstr>Class Derivation</vt:lpstr>
      <vt:lpstr>What to inherit?</vt:lpstr>
      <vt:lpstr>Access Control Over the Members</vt:lpstr>
      <vt:lpstr>Constructor Rules for Derived Classes </vt:lpstr>
      <vt:lpstr>Constructor Rules for Derived Classes </vt:lpstr>
      <vt:lpstr>Define its Own Members</vt:lpstr>
      <vt:lpstr>Even more …</vt:lpstr>
      <vt:lpstr>PowerPoint Presentation</vt:lpstr>
      <vt:lpstr>point and circle classes</vt:lpstr>
      <vt:lpstr>PowerPoint Presentation</vt:lpstr>
      <vt:lpstr>PowerPoint Presentation</vt:lpstr>
      <vt:lpstr>Class Derivation</vt:lpstr>
      <vt:lpstr>Order of execution of Constructors/Destructors</vt:lpstr>
      <vt:lpstr>Order of execution of Constructors/Destructors</vt:lpstr>
      <vt:lpstr>Example</vt:lpstr>
      <vt:lpstr>Example – cont.</vt:lpstr>
      <vt:lpstr>Example – cont.</vt:lpstr>
      <vt:lpstr>Example – cont.</vt:lpstr>
      <vt:lpstr>Types of inheritance</vt:lpstr>
      <vt:lpstr>Public Inheritance</vt:lpstr>
      <vt:lpstr>Protected Inheritance</vt:lpstr>
      <vt:lpstr>Private Inheritance</vt:lpstr>
      <vt:lpstr>public, protected and private Inheritance</vt:lpstr>
      <vt:lpstr>Multiple Inheritance</vt:lpstr>
      <vt:lpstr>What is Multiple Inheritance?</vt:lpstr>
      <vt:lpstr>PowerPoint Presentation</vt:lpstr>
      <vt:lpstr>Example  (ambiguity)</vt:lpstr>
      <vt:lpstr>Solution (virtual inheritance)</vt:lpstr>
      <vt:lpstr>Another example</vt:lpstr>
      <vt:lpstr>Another example</vt:lpstr>
      <vt:lpstr>Another example</vt:lpstr>
      <vt:lpstr>Another example</vt:lpstr>
      <vt:lpstr>Multiple Inheritance</vt:lpstr>
      <vt:lpstr>PowerPoint Presentation</vt:lpstr>
      <vt:lpstr>PowerPoint Presentation</vt:lpstr>
      <vt:lpstr>PowerPoint Presentation</vt:lpstr>
      <vt:lpstr>PowerPoint Presentation</vt:lpstr>
      <vt:lpstr>What is the solution?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541</cp:revision>
  <dcterms:created xsi:type="dcterms:W3CDTF">2012-08-28T12:59:58Z</dcterms:created>
  <dcterms:modified xsi:type="dcterms:W3CDTF">2024-11-07T09:45:24Z</dcterms:modified>
</cp:coreProperties>
</file>
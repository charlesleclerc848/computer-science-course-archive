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553" r:id="rId3"/>
    <p:sldId id="617" r:id="rId4"/>
    <p:sldId id="618" r:id="rId5"/>
    <p:sldId id="616" r:id="rId6"/>
    <p:sldId id="497" r:id="rId7"/>
    <p:sldId id="498" r:id="rId8"/>
    <p:sldId id="499" r:id="rId9"/>
    <p:sldId id="500" r:id="rId10"/>
    <p:sldId id="623" r:id="rId11"/>
    <p:sldId id="647" r:id="rId12"/>
    <p:sldId id="648" r:id="rId13"/>
    <p:sldId id="649" r:id="rId14"/>
    <p:sldId id="650" r:id="rId15"/>
    <p:sldId id="651"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1BC7"/>
    <a:srgbClr val="E9EFF7"/>
    <a:srgbClr val="008000"/>
    <a:srgbClr val="D20000"/>
    <a:srgbClr val="2C14DE"/>
    <a:srgbClr val="B80000"/>
    <a:srgbClr val="27558D"/>
    <a:srgbClr val="39DFE7"/>
    <a:srgbClr val="160C5C"/>
    <a:srgbClr val="4F55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12" autoAdjust="0"/>
    <p:restoredTop sz="78636" autoAdjust="0"/>
  </p:normalViewPr>
  <p:slideViewPr>
    <p:cSldViewPr>
      <p:cViewPr varScale="1">
        <p:scale>
          <a:sx n="58" d="100"/>
          <a:sy n="58" d="100"/>
        </p:scale>
        <p:origin x="1794" y="84"/>
      </p:cViewPr>
      <p:guideLst>
        <p:guide orient="horz" pos="2160"/>
        <p:guide pos="2880"/>
      </p:guideLst>
    </p:cSldViewPr>
  </p:slideViewPr>
  <p:outlineViewPr>
    <p:cViewPr>
      <p:scale>
        <a:sx n="33" d="100"/>
        <a:sy n="33" d="100"/>
      </p:scale>
      <p:origin x="0" y="-492"/>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3120"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1C0C88-7267-4399-A55D-D2971BA77B10}" type="datetimeFigureOut">
              <a:rPr lang="en-US" smtClean="0"/>
              <a:t>10/22/2024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85FC15-40B4-45E5-86AE-2E64D22F0C38}" type="slidenum">
              <a:rPr lang="en-US" smtClean="0"/>
              <a:t>‹#›</a:t>
            </a:fld>
            <a:endParaRPr lang="en-US"/>
          </a:p>
        </p:txBody>
      </p:sp>
    </p:spTree>
    <p:extLst>
      <p:ext uri="{BB962C8B-B14F-4D97-AF65-F5344CB8AC3E}">
        <p14:creationId xmlns:p14="http://schemas.microsoft.com/office/powerpoint/2010/main" val="3465366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E85FC15-40B4-45E5-86AE-2E64D22F0C38}" type="slidenum">
              <a:rPr lang="en-US" smtClean="0"/>
              <a:t>1</a:t>
            </a:fld>
            <a:endParaRPr lang="en-US" dirty="0"/>
          </a:p>
        </p:txBody>
      </p:sp>
    </p:spTree>
    <p:extLst>
      <p:ext uri="{BB962C8B-B14F-4D97-AF65-F5344CB8AC3E}">
        <p14:creationId xmlns:p14="http://schemas.microsoft.com/office/powerpoint/2010/main" val="1058125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If we don’t define our own copy constructor, the C++ compiler creates a </a:t>
            </a:r>
            <a:r>
              <a:rPr lang="en-US" sz="1200" b="1" i="0" kern="1200" dirty="0">
                <a:solidFill>
                  <a:schemeClr val="tx1"/>
                </a:solidFill>
                <a:effectLst/>
                <a:latin typeface="+mn-lt"/>
                <a:ea typeface="+mn-ea"/>
                <a:cs typeface="+mn-cs"/>
              </a:rPr>
              <a:t>default copy constructor for each class </a:t>
            </a:r>
            <a:r>
              <a:rPr lang="en-US" sz="1200" b="0" i="0" kern="1200" dirty="0">
                <a:solidFill>
                  <a:schemeClr val="tx1"/>
                </a:solidFill>
                <a:effectLst/>
                <a:latin typeface="+mn-lt"/>
                <a:ea typeface="+mn-ea"/>
                <a:cs typeface="+mn-cs"/>
              </a:rPr>
              <a:t>which does a </a:t>
            </a:r>
            <a:r>
              <a:rPr lang="en-US" sz="1200" b="1" i="0" kern="1200" dirty="0">
                <a:solidFill>
                  <a:schemeClr val="tx1"/>
                </a:solidFill>
                <a:effectLst/>
                <a:latin typeface="+mn-lt"/>
                <a:ea typeface="+mn-ea"/>
                <a:cs typeface="+mn-cs"/>
              </a:rPr>
              <a:t>member-wise copy between objects</a:t>
            </a:r>
            <a:r>
              <a:rPr 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FE85FC15-40B4-45E5-86AE-2E64D22F0C38}" type="slidenum">
              <a:rPr lang="en-US" smtClean="0"/>
              <a:t>5</a:t>
            </a:fld>
            <a:endParaRPr lang="en-US"/>
          </a:p>
        </p:txBody>
      </p:sp>
    </p:spTree>
    <p:extLst>
      <p:ext uri="{BB962C8B-B14F-4D97-AF65-F5344CB8AC3E}">
        <p14:creationId xmlns:p14="http://schemas.microsoft.com/office/powerpoint/2010/main" val="3502244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Copy constructor is</a:t>
            </a:r>
            <a:r>
              <a:rPr lang="en-US" sz="1200" b="0" i="0" kern="1200" dirty="0">
                <a:solidFill>
                  <a:schemeClr val="tx1"/>
                </a:solidFill>
                <a:effectLst/>
                <a:latin typeface="+mn-lt"/>
                <a:ea typeface="+mn-ea"/>
                <a:cs typeface="+mn-cs"/>
              </a:rPr>
              <a:t> called when a new </a:t>
            </a:r>
            <a:r>
              <a:rPr lang="en-US" sz="1200" b="1" i="0" kern="1200" dirty="0">
                <a:solidFill>
                  <a:schemeClr val="tx1"/>
                </a:solidFill>
                <a:effectLst/>
                <a:latin typeface="+mn-lt"/>
                <a:ea typeface="+mn-ea"/>
                <a:cs typeface="+mn-cs"/>
              </a:rPr>
              <a:t>object is</a:t>
            </a:r>
            <a:r>
              <a:rPr lang="en-US" sz="1200" b="0" i="0" kern="1200" dirty="0">
                <a:solidFill>
                  <a:schemeClr val="tx1"/>
                </a:solidFill>
                <a:effectLst/>
                <a:latin typeface="+mn-lt"/>
                <a:ea typeface="+mn-ea"/>
                <a:cs typeface="+mn-cs"/>
              </a:rPr>
              <a:t> created from an existing </a:t>
            </a:r>
            <a:r>
              <a:rPr lang="en-US" sz="1200" b="1" i="0" kern="1200" dirty="0">
                <a:solidFill>
                  <a:schemeClr val="tx1"/>
                </a:solidFill>
                <a:effectLst/>
                <a:latin typeface="+mn-lt"/>
                <a:ea typeface="+mn-ea"/>
                <a:cs typeface="+mn-cs"/>
              </a:rPr>
              <a:t>object</a:t>
            </a:r>
            <a:r>
              <a:rPr lang="en-US" sz="1200" b="0" i="0" kern="1200" dirty="0">
                <a:solidFill>
                  <a:schemeClr val="tx1"/>
                </a:solidFill>
                <a:effectLst/>
                <a:latin typeface="+mn-lt"/>
                <a:ea typeface="+mn-ea"/>
                <a:cs typeface="+mn-cs"/>
              </a:rPr>
              <a:t>, as a </a:t>
            </a:r>
            <a:r>
              <a:rPr lang="en-US" sz="1200" b="1" i="0" kern="1200" dirty="0">
                <a:solidFill>
                  <a:schemeClr val="tx1"/>
                </a:solidFill>
                <a:effectLst/>
                <a:latin typeface="+mn-lt"/>
                <a:ea typeface="+mn-ea"/>
                <a:cs typeface="+mn-cs"/>
              </a:rPr>
              <a:t>copy</a:t>
            </a:r>
            <a:r>
              <a:rPr lang="en-US" sz="1200" b="0" i="0" kern="1200" dirty="0">
                <a:solidFill>
                  <a:schemeClr val="tx1"/>
                </a:solidFill>
                <a:effectLst/>
                <a:latin typeface="+mn-lt"/>
                <a:ea typeface="+mn-ea"/>
                <a:cs typeface="+mn-cs"/>
              </a:rPr>
              <a:t> of the existing </a:t>
            </a:r>
            <a:r>
              <a:rPr lang="en-US" sz="1200" b="1" i="0" kern="1200" dirty="0">
                <a:solidFill>
                  <a:schemeClr val="tx1"/>
                </a:solidFill>
                <a:effectLst/>
                <a:latin typeface="+mn-lt"/>
                <a:ea typeface="+mn-ea"/>
                <a:cs typeface="+mn-cs"/>
              </a:rPr>
              <a:t>object</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Assignment operator is</a:t>
            </a:r>
            <a:r>
              <a:rPr lang="en-US" sz="1200" b="0" i="0" kern="1200" dirty="0">
                <a:solidFill>
                  <a:schemeClr val="tx1"/>
                </a:solidFill>
                <a:effectLst/>
                <a:latin typeface="+mn-lt"/>
                <a:ea typeface="+mn-ea"/>
                <a:cs typeface="+mn-cs"/>
              </a:rPr>
              <a:t> called when an already initialized </a:t>
            </a:r>
            <a:r>
              <a:rPr lang="en-US" sz="1200" b="1" i="0" kern="1200" dirty="0">
                <a:solidFill>
                  <a:schemeClr val="tx1"/>
                </a:solidFill>
                <a:effectLst/>
                <a:latin typeface="+mn-lt"/>
                <a:ea typeface="+mn-ea"/>
                <a:cs typeface="+mn-cs"/>
              </a:rPr>
              <a:t>object is assigned</a:t>
            </a:r>
            <a:r>
              <a:rPr lang="en-US" sz="1200" b="0" i="0" kern="1200" dirty="0">
                <a:solidFill>
                  <a:schemeClr val="tx1"/>
                </a:solidFill>
                <a:effectLst/>
                <a:latin typeface="+mn-lt"/>
                <a:ea typeface="+mn-ea"/>
                <a:cs typeface="+mn-cs"/>
              </a:rPr>
              <a:t> a new value from another existing </a:t>
            </a:r>
            <a:r>
              <a:rPr lang="en-US" sz="1200" b="1" i="0" kern="1200" dirty="0">
                <a:solidFill>
                  <a:schemeClr val="tx1"/>
                </a:solidFill>
                <a:effectLst/>
                <a:latin typeface="+mn-lt"/>
                <a:ea typeface="+mn-ea"/>
                <a:cs typeface="+mn-cs"/>
              </a:rPr>
              <a:t>object</a:t>
            </a:r>
            <a:r>
              <a:rPr 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FE85FC15-40B4-45E5-86AE-2E64D22F0C38}" type="slidenum">
              <a:rPr lang="en-US" smtClean="0"/>
              <a:t>7</a:t>
            </a:fld>
            <a:endParaRPr lang="en-US"/>
          </a:p>
        </p:txBody>
      </p:sp>
    </p:spTree>
    <p:extLst>
      <p:ext uri="{BB962C8B-B14F-4D97-AF65-F5344CB8AC3E}">
        <p14:creationId xmlns:p14="http://schemas.microsoft.com/office/powerpoint/2010/main" val="4904648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Copy constructor is</a:t>
            </a:r>
            <a:r>
              <a:rPr lang="en-US" sz="1200" b="0" i="0" kern="1200" dirty="0">
                <a:solidFill>
                  <a:schemeClr val="tx1"/>
                </a:solidFill>
                <a:effectLst/>
                <a:latin typeface="+mn-lt"/>
                <a:ea typeface="+mn-ea"/>
                <a:cs typeface="+mn-cs"/>
              </a:rPr>
              <a:t> called when a new </a:t>
            </a:r>
            <a:r>
              <a:rPr lang="en-US" sz="1200" b="1" i="0" kern="1200" dirty="0">
                <a:solidFill>
                  <a:schemeClr val="tx1"/>
                </a:solidFill>
                <a:effectLst/>
                <a:latin typeface="+mn-lt"/>
                <a:ea typeface="+mn-ea"/>
                <a:cs typeface="+mn-cs"/>
              </a:rPr>
              <a:t>object is</a:t>
            </a:r>
            <a:r>
              <a:rPr lang="en-US" sz="1200" b="0" i="0" kern="1200" dirty="0">
                <a:solidFill>
                  <a:schemeClr val="tx1"/>
                </a:solidFill>
                <a:effectLst/>
                <a:latin typeface="+mn-lt"/>
                <a:ea typeface="+mn-ea"/>
                <a:cs typeface="+mn-cs"/>
              </a:rPr>
              <a:t> created from an existing </a:t>
            </a:r>
            <a:r>
              <a:rPr lang="en-US" sz="1200" b="1" i="0" kern="1200" dirty="0">
                <a:solidFill>
                  <a:schemeClr val="tx1"/>
                </a:solidFill>
                <a:effectLst/>
                <a:latin typeface="+mn-lt"/>
                <a:ea typeface="+mn-ea"/>
                <a:cs typeface="+mn-cs"/>
              </a:rPr>
              <a:t>object</a:t>
            </a:r>
            <a:r>
              <a:rPr lang="en-US" sz="1200" b="0" i="0" kern="1200" dirty="0">
                <a:solidFill>
                  <a:schemeClr val="tx1"/>
                </a:solidFill>
                <a:effectLst/>
                <a:latin typeface="+mn-lt"/>
                <a:ea typeface="+mn-ea"/>
                <a:cs typeface="+mn-cs"/>
              </a:rPr>
              <a:t>, as a </a:t>
            </a:r>
            <a:r>
              <a:rPr lang="en-US" sz="1200" b="1" i="0" kern="1200" dirty="0">
                <a:solidFill>
                  <a:schemeClr val="tx1"/>
                </a:solidFill>
                <a:effectLst/>
                <a:latin typeface="+mn-lt"/>
                <a:ea typeface="+mn-ea"/>
                <a:cs typeface="+mn-cs"/>
              </a:rPr>
              <a:t>copy</a:t>
            </a:r>
            <a:r>
              <a:rPr lang="en-US" sz="1200" b="0" i="0" kern="1200" dirty="0">
                <a:solidFill>
                  <a:schemeClr val="tx1"/>
                </a:solidFill>
                <a:effectLst/>
                <a:latin typeface="+mn-lt"/>
                <a:ea typeface="+mn-ea"/>
                <a:cs typeface="+mn-cs"/>
              </a:rPr>
              <a:t> of the existing </a:t>
            </a:r>
            <a:r>
              <a:rPr lang="en-US" sz="1200" b="1" i="0" kern="1200" dirty="0">
                <a:solidFill>
                  <a:schemeClr val="tx1"/>
                </a:solidFill>
                <a:effectLst/>
                <a:latin typeface="+mn-lt"/>
                <a:ea typeface="+mn-ea"/>
                <a:cs typeface="+mn-cs"/>
              </a:rPr>
              <a:t>object</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Assignment operator is</a:t>
            </a:r>
            <a:r>
              <a:rPr lang="en-US" sz="1200" b="0" i="0" kern="1200" dirty="0">
                <a:solidFill>
                  <a:schemeClr val="tx1"/>
                </a:solidFill>
                <a:effectLst/>
                <a:latin typeface="+mn-lt"/>
                <a:ea typeface="+mn-ea"/>
                <a:cs typeface="+mn-cs"/>
              </a:rPr>
              <a:t> called when an already initialized </a:t>
            </a:r>
            <a:r>
              <a:rPr lang="en-US" sz="1200" b="1" i="0" kern="1200" dirty="0">
                <a:solidFill>
                  <a:schemeClr val="tx1"/>
                </a:solidFill>
                <a:effectLst/>
                <a:latin typeface="+mn-lt"/>
                <a:ea typeface="+mn-ea"/>
                <a:cs typeface="+mn-cs"/>
              </a:rPr>
              <a:t>object is assigned</a:t>
            </a:r>
            <a:r>
              <a:rPr lang="en-US" sz="1200" b="0" i="0" kern="1200" dirty="0">
                <a:solidFill>
                  <a:schemeClr val="tx1"/>
                </a:solidFill>
                <a:effectLst/>
                <a:latin typeface="+mn-lt"/>
                <a:ea typeface="+mn-ea"/>
                <a:cs typeface="+mn-cs"/>
              </a:rPr>
              <a:t> a new value from another existing </a:t>
            </a:r>
            <a:r>
              <a:rPr lang="en-US" sz="1200" b="1" i="0" kern="1200" dirty="0">
                <a:solidFill>
                  <a:schemeClr val="tx1"/>
                </a:solidFill>
                <a:effectLst/>
                <a:latin typeface="+mn-lt"/>
                <a:ea typeface="+mn-ea"/>
                <a:cs typeface="+mn-cs"/>
              </a:rPr>
              <a:t>object</a:t>
            </a:r>
            <a:r>
              <a:rPr lang="en-US" sz="1200" b="0" i="0" kern="1200" dirty="0">
                <a:solidFill>
                  <a:schemeClr val="tx1"/>
                </a:solidFill>
                <a:effectLst/>
                <a:latin typeface="+mn-lt"/>
                <a:ea typeface="+mn-ea"/>
                <a:cs typeface="+mn-cs"/>
              </a:rPr>
              <a:t>.</a:t>
            </a:r>
            <a:endParaRPr lang="en-US" dirty="0"/>
          </a:p>
          <a:p>
            <a:endParaRPr lang="en-US" dirty="0"/>
          </a:p>
        </p:txBody>
      </p:sp>
      <p:sp>
        <p:nvSpPr>
          <p:cNvPr id="4" name="Slide Number Placeholder 3"/>
          <p:cNvSpPr>
            <a:spLocks noGrp="1"/>
          </p:cNvSpPr>
          <p:nvPr>
            <p:ph type="sldNum" sz="quarter" idx="10"/>
          </p:nvPr>
        </p:nvSpPr>
        <p:spPr/>
        <p:txBody>
          <a:bodyPr/>
          <a:lstStyle/>
          <a:p>
            <a:fld id="{FE85FC15-40B4-45E5-86AE-2E64D22F0C38}" type="slidenum">
              <a:rPr lang="en-US" smtClean="0"/>
              <a:t>8</a:t>
            </a:fld>
            <a:endParaRPr lang="en-US"/>
          </a:p>
        </p:txBody>
      </p:sp>
    </p:spTree>
    <p:extLst>
      <p:ext uri="{BB962C8B-B14F-4D97-AF65-F5344CB8AC3E}">
        <p14:creationId xmlns:p14="http://schemas.microsoft.com/office/powerpoint/2010/main" val="296742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for dynamic memory or pointers</a:t>
            </a:r>
          </a:p>
        </p:txBody>
      </p:sp>
      <p:sp>
        <p:nvSpPr>
          <p:cNvPr id="4" name="Slide Number Placeholder 3"/>
          <p:cNvSpPr>
            <a:spLocks noGrp="1"/>
          </p:cNvSpPr>
          <p:nvPr>
            <p:ph type="sldNum" sz="quarter" idx="10"/>
          </p:nvPr>
        </p:nvSpPr>
        <p:spPr/>
        <p:txBody>
          <a:bodyPr/>
          <a:lstStyle/>
          <a:p>
            <a:fld id="{FE85FC15-40B4-45E5-86AE-2E64D22F0C38}" type="slidenum">
              <a:rPr lang="en-US" smtClean="0"/>
              <a:t>10</a:t>
            </a:fld>
            <a:endParaRPr lang="en-US"/>
          </a:p>
        </p:txBody>
      </p:sp>
    </p:spTree>
    <p:extLst>
      <p:ext uri="{BB962C8B-B14F-4D97-AF65-F5344CB8AC3E}">
        <p14:creationId xmlns:p14="http://schemas.microsoft.com/office/powerpoint/2010/main" val="3321754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8B0192B-E1F2-4D51-9245-C9CE8F612D86}"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C2CBD0-4E8A-462D-9424-859647FC3ED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29733"/>
          </a:xfrm>
        </p:spPr>
        <p:txBody>
          <a:bodyPr/>
          <a:lstStyle/>
          <a:p>
            <a:r>
              <a:rPr lang="en-US" dirty="0"/>
              <a:t>Click to edit Master title style</a:t>
            </a:r>
          </a:p>
        </p:txBody>
      </p:sp>
      <p:sp>
        <p:nvSpPr>
          <p:cNvPr id="3" name="Content Placeholder 2"/>
          <p:cNvSpPr>
            <a:spLocks noGrp="1"/>
          </p:cNvSpPr>
          <p:nvPr>
            <p:ph idx="1"/>
          </p:nvPr>
        </p:nvSpPr>
        <p:spPr>
          <a:xfrm>
            <a:off x="0" y="1143000"/>
            <a:ext cx="9144000" cy="563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B0192B-E1F2-4D51-9245-C9CE8F612D86}"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C2CBD0-4E8A-462D-9424-859647FC3ED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8B0192B-E1F2-4D51-9245-C9CE8F612D86}" type="datetimeFigureOut">
              <a:rPr lang="en-US" smtClean="0"/>
              <a:pPr/>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C2CBD0-4E8A-462D-9424-859647FC3ED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8B0192B-E1F2-4D51-9245-C9CE8F612D86}" type="datetimeFigureOut">
              <a:rPr lang="en-US" smtClean="0"/>
              <a:pPr/>
              <a:t>10/22/2024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C2CBD0-4E8A-462D-9424-859647FC3ED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8B0192B-E1F2-4D51-9245-C9CE8F612D86}" type="datetimeFigureOut">
              <a:rPr lang="en-US" smtClean="0"/>
              <a:pPr/>
              <a:t>10/22/2024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C2CBD0-4E8A-462D-9424-859647FC3ED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B0192B-E1F2-4D51-9245-C9CE8F612D86}" type="datetimeFigureOut">
              <a:rPr lang="en-US" smtClean="0"/>
              <a:pPr/>
              <a:t>10/22/2024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C2CBD0-4E8A-462D-9424-859647FC3ED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B0192B-E1F2-4D51-9245-C9CE8F612D86}" type="datetimeFigureOut">
              <a:rPr lang="en-US" smtClean="0"/>
              <a:pPr/>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C2CBD0-4E8A-462D-9424-859647FC3ED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B0192B-E1F2-4D51-9245-C9CE8F612D86}" type="datetimeFigureOut">
              <a:rPr lang="en-US" smtClean="0"/>
              <a:pPr/>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C2CBD0-4E8A-462D-9424-859647FC3ED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B0192B-E1F2-4D51-9245-C9CE8F612D86}"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C2CBD0-4E8A-462D-9424-859647FC3ED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B0192B-E1F2-4D51-9245-C9CE8F612D86}"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C2CBD0-4E8A-462D-9424-859647FC3ED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B0192B-E1F2-4D51-9245-C9CE8F612D86}" type="datetimeFigureOut">
              <a:rPr lang="en-US" smtClean="0"/>
              <a:pPr/>
              <a:t>10/22/2024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C2CBD0-4E8A-462D-9424-859647FC3ED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636" y="1882775"/>
            <a:ext cx="8991600" cy="1622425"/>
          </a:xfrm>
        </p:spPr>
        <p:txBody>
          <a:bodyPr>
            <a:normAutofit fontScale="90000"/>
          </a:bodyPr>
          <a:lstStyle/>
          <a:p>
            <a:r>
              <a:rPr lang="en-US" b="1" dirty="0" smtClean="0">
                <a:solidFill>
                  <a:srgbClr val="160C5C"/>
                </a:solidFill>
              </a:rPr>
              <a:t>Copy Constructor</a:t>
            </a:r>
            <a:r>
              <a:rPr lang="en-US" b="1" smtClean="0">
                <a:solidFill>
                  <a:srgbClr val="160C5C"/>
                </a:solidFill>
              </a:rPr>
              <a:t/>
            </a:r>
            <a:br>
              <a:rPr lang="en-US" b="1" smtClean="0">
                <a:solidFill>
                  <a:srgbClr val="160C5C"/>
                </a:solidFill>
              </a:rPr>
            </a:br>
            <a:r>
              <a:rPr lang="en-US" b="1" smtClean="0">
                <a:solidFill>
                  <a:srgbClr val="160C5C"/>
                </a:solidFill>
              </a:rPr>
              <a:t>Shallow Copy</a:t>
            </a:r>
            <a:br>
              <a:rPr lang="en-US" b="1" smtClean="0">
                <a:solidFill>
                  <a:srgbClr val="160C5C"/>
                </a:solidFill>
              </a:rPr>
            </a:br>
            <a:r>
              <a:rPr lang="en-US" b="1" smtClean="0">
                <a:solidFill>
                  <a:srgbClr val="160C5C"/>
                </a:solidFill>
              </a:rPr>
              <a:t>Deep Copy</a:t>
            </a:r>
            <a:endParaRPr lang="en-US" sz="2600" dirty="0"/>
          </a:p>
        </p:txBody>
      </p:sp>
      <p:sp>
        <p:nvSpPr>
          <p:cNvPr id="3" name="Subtitle 2"/>
          <p:cNvSpPr>
            <a:spLocks noGrp="1"/>
          </p:cNvSpPr>
          <p:nvPr>
            <p:ph type="subTitle" idx="1"/>
          </p:nvPr>
        </p:nvSpPr>
        <p:spPr>
          <a:xfrm>
            <a:off x="228600" y="3962400"/>
            <a:ext cx="8686800" cy="2743200"/>
          </a:xfrm>
        </p:spPr>
        <p:txBody>
          <a:bodyPr>
            <a:normAutofit/>
          </a:bodyPr>
          <a:lstStyle/>
          <a:p>
            <a:endParaRPr lang="en-US" sz="2600" dirty="0"/>
          </a:p>
          <a:p>
            <a:endParaRPr lang="en-US" sz="2600" dirty="0"/>
          </a:p>
          <a:p>
            <a:r>
              <a:rPr lang="en-US" sz="2600" dirty="0"/>
              <a:t>Department of Computer </a:t>
            </a:r>
            <a:r>
              <a:rPr lang="en-US" sz="2600" dirty="0" smtClean="0"/>
              <a:t>Science &amp; IT, </a:t>
            </a:r>
            <a:endParaRPr lang="en-US" sz="2600" dirty="0"/>
          </a:p>
          <a:p>
            <a:r>
              <a:rPr lang="en-US" sz="2800" dirty="0" smtClean="0"/>
              <a:t>The University of Lahore.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76200" y="26988"/>
            <a:ext cx="9031356" cy="917893"/>
          </a:xfrm>
        </p:spPr>
        <p:txBody>
          <a:bodyPr>
            <a:normAutofit/>
          </a:bodyPr>
          <a:lstStyle/>
          <a:p>
            <a:r>
              <a:rPr lang="en-US" b="1" dirty="0">
                <a:solidFill>
                  <a:srgbClr val="B80000"/>
                </a:solidFill>
                <a:latin typeface="Calibri" panose="020F0502020204030204" pitchFamily="34" charset="0"/>
              </a:rPr>
              <a:t>Default Member-wise Assignment</a:t>
            </a:r>
          </a:p>
        </p:txBody>
      </p:sp>
      <p:sp>
        <p:nvSpPr>
          <p:cNvPr id="16387" name="Rectangle 3"/>
          <p:cNvSpPr>
            <a:spLocks noChangeArrowheads="1"/>
          </p:cNvSpPr>
          <p:nvPr/>
        </p:nvSpPr>
        <p:spPr bwMode="auto">
          <a:xfrm>
            <a:off x="76200" y="1125538"/>
            <a:ext cx="8964613" cy="439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eaLnBrk="0" hangingPunct="0">
              <a:tabLst>
                <a:tab pos="574675"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574675"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574675"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574675"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574675"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574675"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574675"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574675"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574675" algn="l"/>
              </a:tabLst>
              <a:defRPr>
                <a:solidFill>
                  <a:schemeClr val="tx1"/>
                </a:solidFill>
                <a:latin typeface="Arial" panose="020B0604020202020204" pitchFamily="34" charset="0"/>
                <a:ea typeface="宋体" panose="02010600030101010101" pitchFamily="2" charset="-122"/>
              </a:defRPr>
            </a:lvl9pPr>
          </a:lstStyle>
          <a:p>
            <a:pPr marL="457200" indent="-457200" algn="just">
              <a:buFont typeface="Arial" panose="020B0604020202020204" pitchFamily="34" charset="0"/>
              <a:buChar char="•"/>
            </a:pPr>
            <a:r>
              <a:rPr lang="en-US" sz="3000" dirty="0">
                <a:latin typeface="+mj-lt"/>
              </a:rPr>
              <a:t> </a:t>
            </a:r>
            <a:r>
              <a:rPr lang="en-US" sz="3000" b="1" dirty="0">
                <a:solidFill>
                  <a:srgbClr val="D20000"/>
                </a:solidFill>
                <a:latin typeface="+mj-lt"/>
              </a:rPr>
              <a:t>Assignment operator </a:t>
            </a:r>
            <a:r>
              <a:rPr lang="en-US" sz="3000" dirty="0">
                <a:latin typeface="+mj-lt"/>
              </a:rPr>
              <a:t>(</a:t>
            </a:r>
            <a:r>
              <a:rPr lang="en-US" sz="3000" b="1" dirty="0">
                <a:solidFill>
                  <a:srgbClr val="D20000"/>
                </a:solidFill>
                <a:latin typeface="+mj-lt"/>
              </a:rPr>
              <a:t>=</a:t>
            </a:r>
            <a:r>
              <a:rPr lang="en-US" sz="3000" dirty="0">
                <a:latin typeface="+mj-lt"/>
              </a:rPr>
              <a:t>) can be used </a:t>
            </a:r>
            <a:r>
              <a:rPr lang="en-US" sz="3000" b="1" dirty="0">
                <a:solidFill>
                  <a:srgbClr val="2C14DE"/>
                </a:solidFill>
                <a:latin typeface="+mj-lt"/>
              </a:rPr>
              <a:t>to assign </a:t>
            </a:r>
            <a:r>
              <a:rPr lang="en-US" sz="3000" dirty="0">
                <a:latin typeface="+mj-lt"/>
              </a:rPr>
              <a:t>an </a:t>
            </a:r>
            <a:r>
              <a:rPr lang="en-US" sz="3000" b="1" dirty="0">
                <a:solidFill>
                  <a:srgbClr val="2C14DE"/>
                </a:solidFill>
                <a:latin typeface="+mj-lt"/>
              </a:rPr>
              <a:t>object</a:t>
            </a:r>
            <a:r>
              <a:rPr lang="en-US" sz="3000" dirty="0">
                <a:latin typeface="+mj-lt"/>
              </a:rPr>
              <a:t> to </a:t>
            </a:r>
            <a:r>
              <a:rPr lang="en-US" sz="3000" b="1" dirty="0">
                <a:solidFill>
                  <a:srgbClr val="2C14DE"/>
                </a:solidFill>
                <a:latin typeface="+mj-lt"/>
              </a:rPr>
              <a:t>another object </a:t>
            </a:r>
            <a:r>
              <a:rPr lang="en-US" sz="3000" dirty="0">
                <a:latin typeface="+mj-lt"/>
              </a:rPr>
              <a:t>of the </a:t>
            </a:r>
            <a:r>
              <a:rPr lang="en-US" sz="3000" b="1" u="sng" dirty="0">
                <a:solidFill>
                  <a:srgbClr val="2C14DE"/>
                </a:solidFill>
                <a:latin typeface="+mj-lt"/>
              </a:rPr>
              <a:t>same type</a:t>
            </a:r>
            <a:r>
              <a:rPr lang="en-US" sz="3000" dirty="0">
                <a:latin typeface="+mj-lt"/>
              </a:rPr>
              <a:t>.</a:t>
            </a:r>
          </a:p>
          <a:p>
            <a:pPr algn="just"/>
            <a:endParaRPr lang="en-US" sz="3000" dirty="0">
              <a:latin typeface="+mj-lt"/>
            </a:endParaRPr>
          </a:p>
          <a:p>
            <a:pPr marL="457200" indent="-457200" algn="just">
              <a:buFont typeface="Arial" panose="020B0604020202020204" pitchFamily="34" charset="0"/>
              <a:buChar char="•"/>
            </a:pPr>
            <a:r>
              <a:rPr lang="en-US" sz="3000" b="1" dirty="0">
                <a:solidFill>
                  <a:srgbClr val="D20000"/>
                </a:solidFill>
                <a:latin typeface="+mj-lt"/>
              </a:rPr>
              <a:t>Member-wise assignment</a:t>
            </a:r>
            <a:r>
              <a:rPr lang="en-US" sz="3000" dirty="0">
                <a:latin typeface="+mj-lt"/>
              </a:rPr>
              <a:t>: each </a:t>
            </a:r>
            <a:r>
              <a:rPr lang="en-US" sz="3000" b="1" dirty="0">
                <a:solidFill>
                  <a:srgbClr val="2C14DE"/>
                </a:solidFill>
                <a:latin typeface="+mj-lt"/>
              </a:rPr>
              <a:t>data member </a:t>
            </a:r>
            <a:r>
              <a:rPr lang="en-US" sz="3000" dirty="0">
                <a:latin typeface="+mj-lt"/>
              </a:rPr>
              <a:t>of the </a:t>
            </a:r>
            <a:r>
              <a:rPr lang="en-US" sz="3000" b="1" dirty="0">
                <a:latin typeface="+mj-lt"/>
              </a:rPr>
              <a:t>object</a:t>
            </a:r>
            <a:r>
              <a:rPr lang="en-US" sz="3000" dirty="0">
                <a:latin typeface="+mj-lt"/>
              </a:rPr>
              <a:t> on the </a:t>
            </a:r>
            <a:r>
              <a:rPr lang="en-US" sz="3000" b="1" u="sng" dirty="0">
                <a:latin typeface="+mj-lt"/>
              </a:rPr>
              <a:t>right of the assignment </a:t>
            </a:r>
            <a:r>
              <a:rPr lang="en-US" sz="3000" dirty="0">
                <a:latin typeface="+mj-lt"/>
              </a:rPr>
              <a:t>operator is </a:t>
            </a:r>
            <a:r>
              <a:rPr lang="en-US" sz="3000" b="1" dirty="0">
                <a:solidFill>
                  <a:srgbClr val="2C14DE"/>
                </a:solidFill>
                <a:latin typeface="+mj-lt"/>
              </a:rPr>
              <a:t>assigned individually </a:t>
            </a:r>
            <a:r>
              <a:rPr lang="en-US" sz="3000" dirty="0">
                <a:latin typeface="+mj-lt"/>
              </a:rPr>
              <a:t>to the </a:t>
            </a:r>
            <a:r>
              <a:rPr lang="en-US" sz="3000" b="1" i="1" dirty="0">
                <a:latin typeface="+mj-lt"/>
              </a:rPr>
              <a:t>same </a:t>
            </a:r>
            <a:r>
              <a:rPr lang="en-US" sz="3000" b="1" dirty="0">
                <a:latin typeface="+mj-lt"/>
              </a:rPr>
              <a:t>data member </a:t>
            </a:r>
            <a:r>
              <a:rPr lang="en-US" sz="3000" dirty="0">
                <a:latin typeface="+mj-lt"/>
              </a:rPr>
              <a:t>in the </a:t>
            </a:r>
            <a:r>
              <a:rPr lang="en-US" sz="3000" b="1" dirty="0">
                <a:latin typeface="+mj-lt"/>
              </a:rPr>
              <a:t>object on the left</a:t>
            </a:r>
          </a:p>
          <a:p>
            <a:pPr eaLnBrk="1" hangingPunct="1">
              <a:spcBef>
                <a:spcPct val="20000"/>
              </a:spcBef>
              <a:buClr>
                <a:schemeClr val="bg2"/>
              </a:buClr>
              <a:buSzPct val="75000"/>
              <a:buFont typeface="Wingdings" panose="05000000000000000000" pitchFamily="2" charset="2"/>
              <a:buChar char="n"/>
            </a:pPr>
            <a:r>
              <a:rPr lang="en-US" sz="3200" dirty="0">
                <a:latin typeface="Calibri" panose="020F0502020204030204" pitchFamily="34" charset="0"/>
              </a:rPr>
              <a:t> </a:t>
            </a:r>
          </a:p>
        </p:txBody>
      </p:sp>
      <p:sp>
        <p:nvSpPr>
          <p:cNvPr id="1638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p>
        </p:txBody>
      </p:sp>
      <p:sp>
        <p:nvSpPr>
          <p:cNvPr id="5" name="Rectangle 4"/>
          <p:cNvSpPr/>
          <p:nvPr/>
        </p:nvSpPr>
        <p:spPr>
          <a:xfrm>
            <a:off x="39756" y="944881"/>
            <a:ext cx="90678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2130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p>
        </p:txBody>
      </p:sp>
      <p:pic>
        <p:nvPicPr>
          <p:cNvPr id="2" name="Picture 1"/>
          <p:cNvPicPr>
            <a:picLocks noChangeAspect="1"/>
          </p:cNvPicPr>
          <p:nvPr/>
        </p:nvPicPr>
        <p:blipFill rotWithShape="1">
          <a:blip r:embed="rId2"/>
          <a:srcRect l="6433" t="4698" r="-173" b="-427"/>
          <a:stretch/>
        </p:blipFill>
        <p:spPr>
          <a:xfrm>
            <a:off x="152400" y="120606"/>
            <a:ext cx="7772400" cy="310593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p:cNvPicPr>
            <a:picLocks noChangeAspect="1"/>
          </p:cNvPicPr>
          <p:nvPr/>
        </p:nvPicPr>
        <p:blipFill rotWithShape="1">
          <a:blip r:embed="rId3"/>
          <a:srcRect l="7461"/>
          <a:stretch/>
        </p:blipFill>
        <p:spPr>
          <a:xfrm>
            <a:off x="152400" y="3436788"/>
            <a:ext cx="5466080" cy="31926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895267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p>
        </p:txBody>
      </p:sp>
      <p:pic>
        <p:nvPicPr>
          <p:cNvPr id="3" name="Picture 2"/>
          <p:cNvPicPr>
            <a:picLocks noChangeAspect="1"/>
          </p:cNvPicPr>
          <p:nvPr/>
        </p:nvPicPr>
        <p:blipFill>
          <a:blip r:embed="rId2"/>
          <a:stretch>
            <a:fillRect/>
          </a:stretch>
        </p:blipFill>
        <p:spPr>
          <a:xfrm>
            <a:off x="208279" y="228600"/>
            <a:ext cx="8543199" cy="4495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p:cNvPicPr>
            <a:picLocks noChangeAspect="1"/>
          </p:cNvPicPr>
          <p:nvPr/>
        </p:nvPicPr>
        <p:blipFill>
          <a:blip r:embed="rId3"/>
          <a:stretch>
            <a:fillRect/>
          </a:stretch>
        </p:blipFill>
        <p:spPr>
          <a:xfrm>
            <a:off x="208279" y="5410200"/>
            <a:ext cx="7945121" cy="110163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61733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0" y="26988"/>
            <a:ext cx="9107556" cy="917893"/>
          </a:xfrm>
        </p:spPr>
        <p:txBody>
          <a:bodyPr>
            <a:normAutofit/>
          </a:bodyPr>
          <a:lstStyle/>
          <a:p>
            <a:r>
              <a:rPr lang="en-US" b="1" dirty="0">
                <a:solidFill>
                  <a:srgbClr val="B80000"/>
                </a:solidFill>
                <a:latin typeface="Calibri" panose="020F0502020204030204" pitchFamily="34" charset="0"/>
              </a:rPr>
              <a:t>Default copy constructor</a:t>
            </a:r>
          </a:p>
        </p:txBody>
      </p:sp>
      <p:sp>
        <p:nvSpPr>
          <p:cNvPr id="16387" name="Rectangle 3"/>
          <p:cNvSpPr>
            <a:spLocks noChangeArrowheads="1"/>
          </p:cNvSpPr>
          <p:nvPr/>
        </p:nvSpPr>
        <p:spPr bwMode="auto">
          <a:xfrm>
            <a:off x="76200" y="1125538"/>
            <a:ext cx="8964613" cy="439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eaLnBrk="0" hangingPunct="0">
              <a:tabLst>
                <a:tab pos="574675"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574675"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574675"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574675"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574675"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574675"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574675"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574675"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574675" algn="l"/>
              </a:tabLst>
              <a:defRPr>
                <a:solidFill>
                  <a:schemeClr val="tx1"/>
                </a:solidFill>
                <a:latin typeface="Arial" panose="020B0604020202020204" pitchFamily="34" charset="0"/>
                <a:ea typeface="宋体" panose="02010600030101010101" pitchFamily="2" charset="-122"/>
              </a:defRPr>
            </a:lvl9pPr>
          </a:lstStyle>
          <a:p>
            <a:pPr algn="just" eaLnBrk="1" hangingPunct="1">
              <a:spcBef>
                <a:spcPct val="20000"/>
              </a:spcBef>
              <a:buClr>
                <a:schemeClr val="bg2"/>
              </a:buClr>
              <a:buSzPct val="75000"/>
              <a:buFont typeface="Wingdings" panose="05000000000000000000" pitchFamily="2" charset="2"/>
              <a:buChar char="n"/>
            </a:pPr>
            <a:r>
              <a:rPr lang="en-US" sz="3200" dirty="0">
                <a:latin typeface="Calibri" panose="020F0502020204030204" pitchFamily="34" charset="0"/>
              </a:rPr>
              <a:t> </a:t>
            </a:r>
            <a:r>
              <a:rPr lang="en-US" sz="3200" b="1" dirty="0">
                <a:latin typeface="Calibri" panose="020F0502020204030204" pitchFamily="34" charset="0"/>
              </a:rPr>
              <a:t>A type of </a:t>
            </a:r>
            <a:r>
              <a:rPr lang="en-US" sz="3200" b="1" dirty="0">
                <a:solidFill>
                  <a:srgbClr val="B80000"/>
                </a:solidFill>
                <a:latin typeface="Calibri" panose="020F0502020204030204" pitchFamily="34" charset="0"/>
              </a:rPr>
              <a:t>constructor that is used </a:t>
            </a:r>
            <a:r>
              <a:rPr lang="en-US" sz="3200" b="1" dirty="0">
                <a:latin typeface="Calibri" panose="020F0502020204030204" pitchFamily="34" charset="0"/>
              </a:rPr>
              <a:t>to</a:t>
            </a:r>
            <a:r>
              <a:rPr lang="en-US" sz="3200" b="1" dirty="0">
                <a:solidFill>
                  <a:srgbClr val="FF0000"/>
                </a:solidFill>
                <a:latin typeface="Calibri" panose="020F0502020204030204" pitchFamily="34" charset="0"/>
              </a:rPr>
              <a:t> </a:t>
            </a:r>
            <a:r>
              <a:rPr lang="en-US" sz="3200" b="1" dirty="0">
                <a:solidFill>
                  <a:srgbClr val="2C14DE"/>
                </a:solidFill>
                <a:latin typeface="Calibri" panose="020F0502020204030204" pitchFamily="34" charset="0"/>
              </a:rPr>
              <a:t>initialize an object</a:t>
            </a:r>
            <a:r>
              <a:rPr lang="en-US" sz="3200" b="1" dirty="0">
                <a:solidFill>
                  <a:srgbClr val="FF0000"/>
                </a:solidFill>
                <a:latin typeface="Calibri" panose="020F0502020204030204" pitchFamily="34" charset="0"/>
              </a:rPr>
              <a:t> with </a:t>
            </a:r>
            <a:r>
              <a:rPr lang="en-US" sz="3200" b="1" dirty="0">
                <a:solidFill>
                  <a:srgbClr val="2C14DE"/>
                </a:solidFill>
                <a:latin typeface="Calibri" panose="020F0502020204030204" pitchFamily="34" charset="0"/>
              </a:rPr>
              <a:t>another object </a:t>
            </a:r>
            <a:r>
              <a:rPr lang="en-US" sz="3200" b="1" dirty="0">
                <a:latin typeface="Calibri" panose="020F0502020204030204" pitchFamily="34" charset="0"/>
              </a:rPr>
              <a:t>of the </a:t>
            </a:r>
            <a:r>
              <a:rPr lang="en-US" sz="3200" b="1" u="sng" dirty="0">
                <a:solidFill>
                  <a:srgbClr val="2C14DE"/>
                </a:solidFill>
                <a:latin typeface="Calibri" panose="020F0502020204030204" pitchFamily="34" charset="0"/>
              </a:rPr>
              <a:t>same type</a:t>
            </a:r>
            <a:r>
              <a:rPr lang="en-US" sz="3200" b="1" dirty="0">
                <a:solidFill>
                  <a:srgbClr val="2C14DE"/>
                </a:solidFill>
                <a:latin typeface="Calibri" panose="020F0502020204030204" pitchFamily="34" charset="0"/>
              </a:rPr>
              <a:t> </a:t>
            </a:r>
            <a:r>
              <a:rPr lang="en-US" sz="3200" b="1" dirty="0">
                <a:latin typeface="Calibri" panose="020F0502020204030204" pitchFamily="34" charset="0"/>
              </a:rPr>
              <a:t>is known as </a:t>
            </a:r>
            <a:r>
              <a:rPr lang="en-US" sz="3200" b="1" u="sng" dirty="0">
                <a:solidFill>
                  <a:srgbClr val="2C14DE"/>
                </a:solidFill>
                <a:latin typeface="Calibri" panose="020F0502020204030204" pitchFamily="34" charset="0"/>
              </a:rPr>
              <a:t>default copy constructor</a:t>
            </a:r>
            <a:r>
              <a:rPr lang="en-US" sz="3200" b="1" dirty="0">
                <a:latin typeface="Calibri" panose="020F0502020204030204" pitchFamily="34" charset="0"/>
              </a:rPr>
              <a:t>. </a:t>
            </a:r>
          </a:p>
          <a:p>
            <a:pPr eaLnBrk="1" hangingPunct="1">
              <a:spcBef>
                <a:spcPct val="20000"/>
              </a:spcBef>
              <a:buClr>
                <a:schemeClr val="bg2"/>
              </a:buClr>
              <a:buSzPct val="75000"/>
              <a:buFont typeface="Wingdings" panose="05000000000000000000" pitchFamily="2" charset="2"/>
              <a:buChar char="n"/>
            </a:pPr>
            <a:endParaRPr lang="en-US" sz="3200" dirty="0">
              <a:latin typeface="Calibri" panose="020F0502020204030204" pitchFamily="34" charset="0"/>
            </a:endParaRPr>
          </a:p>
          <a:p>
            <a:pPr eaLnBrk="1" hangingPunct="1">
              <a:spcBef>
                <a:spcPct val="20000"/>
              </a:spcBef>
              <a:buClr>
                <a:schemeClr val="bg2"/>
              </a:buClr>
              <a:buSzPct val="75000"/>
              <a:buFont typeface="Wingdings" panose="05000000000000000000" pitchFamily="2" charset="2"/>
              <a:buChar char="n"/>
            </a:pPr>
            <a:r>
              <a:rPr lang="en-US" sz="3200" dirty="0">
                <a:latin typeface="Calibri" panose="020F0502020204030204" pitchFamily="34" charset="0"/>
              </a:rPr>
              <a:t> It is </a:t>
            </a:r>
            <a:r>
              <a:rPr lang="en-US" sz="3200" b="1" u="sng" dirty="0">
                <a:solidFill>
                  <a:srgbClr val="B80000"/>
                </a:solidFill>
                <a:latin typeface="Calibri" panose="020F0502020204030204" pitchFamily="34" charset="0"/>
              </a:rPr>
              <a:t>by default available in all classes</a:t>
            </a:r>
          </a:p>
          <a:p>
            <a:pPr eaLnBrk="1" hangingPunct="1">
              <a:spcBef>
                <a:spcPct val="20000"/>
              </a:spcBef>
              <a:buClr>
                <a:schemeClr val="bg2"/>
              </a:buClr>
              <a:buSzPct val="75000"/>
              <a:buFont typeface="Wingdings" panose="05000000000000000000" pitchFamily="2" charset="2"/>
              <a:buChar char="n"/>
            </a:pPr>
            <a:endParaRPr lang="en-US" sz="3200" dirty="0">
              <a:latin typeface="Calibri" panose="020F0502020204030204" pitchFamily="34" charset="0"/>
            </a:endParaRPr>
          </a:p>
          <a:p>
            <a:pPr eaLnBrk="1" hangingPunct="1">
              <a:spcBef>
                <a:spcPct val="20000"/>
              </a:spcBef>
              <a:buClr>
                <a:schemeClr val="bg2"/>
              </a:buClr>
              <a:buSzPct val="75000"/>
              <a:buFont typeface="Wingdings" panose="05000000000000000000" pitchFamily="2" charset="2"/>
              <a:buChar char="n"/>
            </a:pPr>
            <a:r>
              <a:rPr lang="en-US" sz="3200" dirty="0">
                <a:latin typeface="Calibri" panose="020F0502020204030204" pitchFamily="34" charset="0"/>
              </a:rPr>
              <a:t> syntax is  </a:t>
            </a:r>
            <a:r>
              <a:rPr lang="en-US" sz="3200" b="1" dirty="0" err="1">
                <a:solidFill>
                  <a:srgbClr val="008000"/>
                </a:solidFill>
                <a:latin typeface="Calibri" panose="020F0502020204030204" pitchFamily="34" charset="0"/>
              </a:rPr>
              <a:t>ClassName</a:t>
            </a:r>
            <a:r>
              <a:rPr lang="en-US" sz="3200" b="1" dirty="0">
                <a:solidFill>
                  <a:srgbClr val="008000"/>
                </a:solidFill>
                <a:latin typeface="Calibri" panose="020F0502020204030204" pitchFamily="34" charset="0"/>
              </a:rPr>
              <a:t>(</a:t>
            </a:r>
            <a:r>
              <a:rPr lang="en-US" sz="3200" b="1" dirty="0" err="1">
                <a:solidFill>
                  <a:srgbClr val="008000"/>
                </a:solidFill>
                <a:latin typeface="Calibri" panose="020F0502020204030204" pitchFamily="34" charset="0"/>
              </a:rPr>
              <a:t>ClassName</a:t>
            </a:r>
            <a:r>
              <a:rPr lang="en-US" sz="3200" b="1" dirty="0">
                <a:solidFill>
                  <a:srgbClr val="008000"/>
                </a:solidFill>
                <a:latin typeface="Calibri" panose="020F0502020204030204" pitchFamily="34" charset="0"/>
              </a:rPr>
              <a:t>   &amp;Variable)</a:t>
            </a:r>
          </a:p>
          <a:p>
            <a:pPr eaLnBrk="1" hangingPunct="1">
              <a:spcBef>
                <a:spcPct val="20000"/>
              </a:spcBef>
              <a:buClr>
                <a:schemeClr val="bg2"/>
              </a:buClr>
              <a:buSzPct val="75000"/>
              <a:buFont typeface="Wingdings" panose="05000000000000000000" pitchFamily="2" charset="2"/>
              <a:buChar char="n"/>
            </a:pPr>
            <a:endParaRPr lang="en-US" sz="3200" dirty="0">
              <a:latin typeface="Calibri" panose="020F0502020204030204" pitchFamily="34" charset="0"/>
            </a:endParaRPr>
          </a:p>
        </p:txBody>
      </p:sp>
      <p:sp>
        <p:nvSpPr>
          <p:cNvPr id="1638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p>
        </p:txBody>
      </p:sp>
      <p:sp>
        <p:nvSpPr>
          <p:cNvPr id="5" name="Rectangle 4"/>
          <p:cNvSpPr/>
          <p:nvPr/>
        </p:nvSpPr>
        <p:spPr>
          <a:xfrm>
            <a:off x="39756" y="944881"/>
            <a:ext cx="90678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5366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39756" y="0"/>
            <a:ext cx="9104244" cy="944881"/>
          </a:xfrm>
        </p:spPr>
        <p:txBody>
          <a:bodyPr>
            <a:normAutofit/>
          </a:bodyPr>
          <a:lstStyle/>
          <a:p>
            <a:pPr eaLnBrk="1" hangingPunct="1"/>
            <a:r>
              <a:rPr lang="en-US" b="1" dirty="0">
                <a:solidFill>
                  <a:srgbClr val="B80000"/>
                </a:solidFill>
                <a:cs typeface="Arial" panose="020B0604020202020204" pitchFamily="34" charset="0"/>
              </a:rPr>
              <a:t>Copy Constructor for Class Date</a:t>
            </a:r>
          </a:p>
        </p:txBody>
      </p:sp>
      <p:sp>
        <p:nvSpPr>
          <p:cNvPr id="30723" name="Rectangle 3"/>
          <p:cNvSpPr>
            <a:spLocks noGrp="1" noChangeArrowheads="1"/>
          </p:cNvSpPr>
          <p:nvPr>
            <p:ph idx="1"/>
          </p:nvPr>
        </p:nvSpPr>
        <p:spPr>
          <a:xfrm>
            <a:off x="152400" y="1143000"/>
            <a:ext cx="8991600" cy="5638800"/>
          </a:xfrm>
        </p:spPr>
        <p:txBody>
          <a:bodyPr/>
          <a:lstStyle/>
          <a:p>
            <a:pPr eaLnBrk="1" hangingPunct="1">
              <a:buFont typeface="Monotype Sorts" charset="2"/>
              <a:buNone/>
            </a:pPr>
            <a:r>
              <a:rPr lang="en-US" sz="2800" b="1" dirty="0">
                <a:latin typeface="Courier New" panose="02070309020205020404" pitchFamily="49" charset="0"/>
              </a:rPr>
              <a:t>Date::Date(Date &amp;date) </a:t>
            </a:r>
          </a:p>
          <a:p>
            <a:pPr eaLnBrk="1" hangingPunct="1">
              <a:buFont typeface="Monotype Sorts" charset="2"/>
              <a:buNone/>
            </a:pPr>
            <a:r>
              <a:rPr lang="en-US" sz="2800" b="1" dirty="0">
                <a:latin typeface="Courier New" panose="02070309020205020404" pitchFamily="49" charset="0"/>
              </a:rPr>
              <a:t>{</a:t>
            </a:r>
          </a:p>
          <a:p>
            <a:pPr eaLnBrk="1" hangingPunct="1">
              <a:buFont typeface="Monotype Sorts" charset="2"/>
              <a:buNone/>
            </a:pPr>
            <a:r>
              <a:rPr lang="en-US" sz="2800" b="1" dirty="0">
                <a:latin typeface="Courier New" panose="02070309020205020404" pitchFamily="49" charset="0"/>
              </a:rPr>
              <a:t>// no need to check passed date </a:t>
            </a:r>
            <a:r>
              <a:rPr lang="en-US" sz="2800" b="1" dirty="0" err="1">
                <a:latin typeface="Courier New" panose="02070309020205020404" pitchFamily="49" charset="0"/>
              </a:rPr>
              <a:t>arg</a:t>
            </a:r>
            <a:endParaRPr lang="en-US" sz="2800" b="1" dirty="0">
              <a:latin typeface="Courier New" panose="02070309020205020404" pitchFamily="49" charset="0"/>
            </a:endParaRPr>
          </a:p>
          <a:p>
            <a:pPr eaLnBrk="1" hangingPunct="1">
              <a:buFont typeface="Monotype Sorts" charset="2"/>
              <a:buNone/>
            </a:pPr>
            <a:r>
              <a:rPr lang="en-US" sz="2800" b="1" dirty="0">
                <a:latin typeface="Courier New" panose="02070309020205020404" pitchFamily="49" charset="0"/>
              </a:rPr>
              <a:t>  month = </a:t>
            </a:r>
            <a:r>
              <a:rPr lang="en-US" sz="2800" b="1" dirty="0" err="1">
                <a:latin typeface="Courier New" panose="02070309020205020404" pitchFamily="49" charset="0"/>
              </a:rPr>
              <a:t>date.month</a:t>
            </a:r>
            <a:r>
              <a:rPr lang="en-US" sz="2800" b="1" dirty="0">
                <a:latin typeface="Courier New" panose="02070309020205020404" pitchFamily="49" charset="0"/>
              </a:rPr>
              <a:t>;</a:t>
            </a:r>
          </a:p>
          <a:p>
            <a:pPr eaLnBrk="1" hangingPunct="1">
              <a:buFont typeface="Monotype Sorts" charset="2"/>
              <a:buNone/>
            </a:pPr>
            <a:r>
              <a:rPr lang="en-US" sz="2800" b="1" dirty="0">
                <a:latin typeface="Courier New" panose="02070309020205020404" pitchFamily="49" charset="0"/>
              </a:rPr>
              <a:t>  day   = </a:t>
            </a:r>
            <a:r>
              <a:rPr lang="en-US" sz="2800" b="1" dirty="0" err="1">
                <a:latin typeface="Courier New" panose="02070309020205020404" pitchFamily="49" charset="0"/>
              </a:rPr>
              <a:t>date.day</a:t>
            </a:r>
            <a:r>
              <a:rPr lang="en-US" sz="2800" b="1" dirty="0">
                <a:latin typeface="Courier New" panose="02070309020205020404" pitchFamily="49" charset="0"/>
              </a:rPr>
              <a:t>;</a:t>
            </a:r>
          </a:p>
          <a:p>
            <a:pPr eaLnBrk="1" hangingPunct="1">
              <a:buFont typeface="Monotype Sorts" charset="2"/>
              <a:buNone/>
            </a:pPr>
            <a:r>
              <a:rPr lang="en-US" sz="2800" b="1" dirty="0">
                <a:latin typeface="Courier New" panose="02070309020205020404" pitchFamily="49" charset="0"/>
              </a:rPr>
              <a:t>  year  = </a:t>
            </a:r>
            <a:r>
              <a:rPr lang="en-US" sz="2800" b="1" dirty="0" err="1">
                <a:latin typeface="Courier New" panose="02070309020205020404" pitchFamily="49" charset="0"/>
              </a:rPr>
              <a:t>date.year</a:t>
            </a:r>
            <a:r>
              <a:rPr lang="en-US" sz="2800" b="1" dirty="0">
                <a:latin typeface="Courier New" panose="02070309020205020404" pitchFamily="49" charset="0"/>
              </a:rPr>
              <a:t>;</a:t>
            </a:r>
          </a:p>
          <a:p>
            <a:pPr eaLnBrk="1" hangingPunct="1">
              <a:buFont typeface="Monotype Sorts" charset="2"/>
              <a:buNone/>
            </a:pPr>
            <a:r>
              <a:rPr lang="en-US" sz="2800" b="1" dirty="0">
                <a:latin typeface="Courier New" panose="02070309020205020404" pitchFamily="49" charset="0"/>
              </a:rPr>
              <a:t>}</a:t>
            </a:r>
          </a:p>
          <a:p>
            <a:pPr eaLnBrk="1" hangingPunct="1">
              <a:buFont typeface="Monotype Sorts" charset="2"/>
              <a:buNone/>
            </a:pPr>
            <a:endParaRPr lang="en-US" sz="2800" b="1" dirty="0">
              <a:latin typeface="Courier New" panose="02070309020205020404" pitchFamily="49" charset="0"/>
            </a:endParaRPr>
          </a:p>
        </p:txBody>
      </p:sp>
      <p:sp>
        <p:nvSpPr>
          <p:cNvPr id="4" name="Rectangle 3"/>
          <p:cNvSpPr/>
          <p:nvPr/>
        </p:nvSpPr>
        <p:spPr>
          <a:xfrm>
            <a:off x="39756" y="944881"/>
            <a:ext cx="90678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2612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39756" y="0"/>
            <a:ext cx="9104244" cy="944881"/>
          </a:xfrm>
        </p:spPr>
        <p:txBody>
          <a:bodyPr>
            <a:normAutofit/>
          </a:bodyPr>
          <a:lstStyle/>
          <a:p>
            <a:pPr eaLnBrk="1" hangingPunct="1"/>
            <a:r>
              <a:rPr lang="en-US" b="1" dirty="0">
                <a:solidFill>
                  <a:srgbClr val="B80000"/>
                </a:solidFill>
                <a:latin typeface="+mn-lt"/>
                <a:cs typeface="Arial" panose="020B0604020202020204" pitchFamily="34" charset="0"/>
              </a:rPr>
              <a:t>Uses of the Copy Constructor</a:t>
            </a:r>
          </a:p>
        </p:txBody>
      </p:sp>
      <p:sp>
        <p:nvSpPr>
          <p:cNvPr id="31747" name="Rectangle 3"/>
          <p:cNvSpPr>
            <a:spLocks noGrp="1" noChangeArrowheads="1"/>
          </p:cNvSpPr>
          <p:nvPr>
            <p:ph idx="1"/>
          </p:nvPr>
        </p:nvSpPr>
        <p:spPr>
          <a:xfrm>
            <a:off x="152400" y="1143000"/>
            <a:ext cx="8839200" cy="4800600"/>
          </a:xfrm>
        </p:spPr>
        <p:txBody>
          <a:bodyPr>
            <a:normAutofit/>
          </a:bodyPr>
          <a:lstStyle/>
          <a:p>
            <a:pPr eaLnBrk="1" hangingPunct="1"/>
            <a:r>
              <a:rPr lang="en-US" b="1" dirty="0">
                <a:solidFill>
                  <a:srgbClr val="B80000"/>
                </a:solidFill>
              </a:rPr>
              <a:t>Implicitly</a:t>
            </a:r>
            <a:r>
              <a:rPr lang="en-US" dirty="0">
                <a:solidFill>
                  <a:srgbClr val="B80000"/>
                </a:solidFill>
              </a:rPr>
              <a:t> </a:t>
            </a:r>
            <a:r>
              <a:rPr lang="en-US" b="1" dirty="0">
                <a:solidFill>
                  <a:srgbClr val="B80000"/>
                </a:solidFill>
              </a:rPr>
              <a:t>called in 3 situations:</a:t>
            </a:r>
          </a:p>
          <a:p>
            <a:pPr marL="971550" lvl="1" indent="-514350" eaLnBrk="1" hangingPunct="1">
              <a:buFont typeface="+mj-lt"/>
              <a:buAutoNum type="arabicPeriod"/>
            </a:pPr>
            <a:r>
              <a:rPr lang="en-US" sz="3000" b="1" dirty="0">
                <a:solidFill>
                  <a:srgbClr val="2C14DE"/>
                </a:solidFill>
              </a:rPr>
              <a:t>defining</a:t>
            </a:r>
            <a:r>
              <a:rPr lang="en-US" sz="3000" dirty="0">
                <a:solidFill>
                  <a:srgbClr val="2C14DE"/>
                </a:solidFill>
              </a:rPr>
              <a:t> </a:t>
            </a:r>
            <a:r>
              <a:rPr lang="en-US" sz="3000" dirty="0"/>
              <a:t>a </a:t>
            </a:r>
            <a:r>
              <a:rPr lang="en-US" sz="3000" b="1" dirty="0">
                <a:solidFill>
                  <a:srgbClr val="2C14DE"/>
                </a:solidFill>
              </a:rPr>
              <a:t>new object </a:t>
            </a:r>
            <a:r>
              <a:rPr lang="en-US" sz="3000" dirty="0"/>
              <a:t>from an </a:t>
            </a:r>
            <a:r>
              <a:rPr lang="en-US" sz="3000" b="1" dirty="0">
                <a:solidFill>
                  <a:srgbClr val="2C14DE"/>
                </a:solidFill>
              </a:rPr>
              <a:t>existing object</a:t>
            </a:r>
          </a:p>
          <a:p>
            <a:pPr marL="971550" lvl="1" indent="-514350" eaLnBrk="1" hangingPunct="1">
              <a:buFont typeface="+mj-lt"/>
              <a:buAutoNum type="arabicPeriod"/>
            </a:pPr>
            <a:r>
              <a:rPr lang="en-US" sz="3000" b="1" dirty="0">
                <a:solidFill>
                  <a:srgbClr val="2C14DE"/>
                </a:solidFill>
              </a:rPr>
              <a:t>passing an object by value</a:t>
            </a:r>
          </a:p>
          <a:p>
            <a:pPr marL="971550" lvl="1" indent="-514350" eaLnBrk="1" hangingPunct="1">
              <a:buFont typeface="+mj-lt"/>
              <a:buAutoNum type="arabicPeriod"/>
            </a:pPr>
            <a:r>
              <a:rPr lang="en-US" sz="3000" b="1" dirty="0">
                <a:solidFill>
                  <a:srgbClr val="2C14DE"/>
                </a:solidFill>
              </a:rPr>
              <a:t>returning an object by value</a:t>
            </a:r>
          </a:p>
        </p:txBody>
      </p:sp>
      <p:sp>
        <p:nvSpPr>
          <p:cNvPr id="4" name="Rectangle 3"/>
          <p:cNvSpPr/>
          <p:nvPr/>
        </p:nvSpPr>
        <p:spPr>
          <a:xfrm>
            <a:off x="39756" y="944881"/>
            <a:ext cx="90678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54151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0" y="0"/>
            <a:ext cx="9107556" cy="944881"/>
          </a:xfrm>
          <a:solidFill>
            <a:schemeClr val="bg1"/>
          </a:solidFill>
        </p:spPr>
        <p:txBody>
          <a:bodyPr>
            <a:noAutofit/>
          </a:bodyPr>
          <a:lstStyle/>
          <a:p>
            <a:pPr eaLnBrk="1" hangingPunct="1"/>
            <a:r>
              <a:rPr lang="en-US" sz="4000" b="1" dirty="0">
                <a:solidFill>
                  <a:srgbClr val="B80000"/>
                </a:solidFill>
                <a:latin typeface="+mn-lt"/>
                <a:cs typeface="Arial" panose="020B0604020202020204" pitchFamily="34" charset="0"/>
              </a:rPr>
              <a:t>Copy Constructor:  Defining a New Object</a:t>
            </a:r>
          </a:p>
        </p:txBody>
      </p:sp>
      <p:sp>
        <p:nvSpPr>
          <p:cNvPr id="32771" name="Rectangle 3"/>
          <p:cNvSpPr>
            <a:spLocks noGrp="1" noChangeArrowheads="1"/>
          </p:cNvSpPr>
          <p:nvPr>
            <p:ph idx="1"/>
          </p:nvPr>
        </p:nvSpPr>
        <p:spPr>
          <a:xfrm>
            <a:off x="496956" y="1600200"/>
            <a:ext cx="8153400" cy="3962400"/>
          </a:xfrm>
        </p:spPr>
        <p:txBody>
          <a:bodyPr/>
          <a:lstStyle/>
          <a:p>
            <a:pPr eaLnBrk="1" hangingPunct="1">
              <a:buFont typeface="Monotype Sorts" charset="2"/>
              <a:buNone/>
            </a:pPr>
            <a:r>
              <a:rPr lang="en-US" sz="2400" b="1" dirty="0">
                <a:latin typeface="Courier New" panose="02070309020205020404" pitchFamily="49" charset="0"/>
              </a:rPr>
              <a:t>Date </a:t>
            </a:r>
            <a:r>
              <a:rPr lang="en-US" sz="2400" b="1" dirty="0">
                <a:solidFill>
                  <a:srgbClr val="2C14DE"/>
                </a:solidFill>
                <a:latin typeface="Courier New" panose="02070309020205020404" pitchFamily="49" charset="0"/>
              </a:rPr>
              <a:t>d1</a:t>
            </a:r>
            <a:r>
              <a:rPr lang="en-US" sz="2400" b="1" dirty="0">
                <a:latin typeface="Courier New" panose="02070309020205020404" pitchFamily="49" charset="0"/>
              </a:rPr>
              <a:t>(02</a:t>
            </a:r>
            <a:r>
              <a:rPr lang="en-US" altLang="ja-JP" sz="2400" b="1" dirty="0">
                <a:latin typeface="Courier New" panose="02070309020205020404" pitchFamily="49" charset="0"/>
              </a:rPr>
              <a:t>,28,2020); </a:t>
            </a:r>
          </a:p>
          <a:p>
            <a:pPr eaLnBrk="1" hangingPunct="1">
              <a:buFont typeface="Monotype Sorts" charset="2"/>
              <a:buNone/>
            </a:pPr>
            <a:endParaRPr lang="en-US" sz="2400" b="1" dirty="0">
              <a:latin typeface="Courier New" panose="02070309020205020404" pitchFamily="49" charset="0"/>
            </a:endParaRPr>
          </a:p>
          <a:p>
            <a:pPr eaLnBrk="1" hangingPunct="1">
              <a:buFont typeface="Monotype Sorts" charset="2"/>
              <a:buNone/>
            </a:pPr>
            <a:r>
              <a:rPr lang="en-US" sz="2400" b="1" dirty="0">
                <a:solidFill>
                  <a:srgbClr val="B80000"/>
                </a:solidFill>
                <a:latin typeface="Courier New" panose="02070309020205020404" pitchFamily="49" charset="0"/>
              </a:rPr>
              <a:t>// </a:t>
            </a:r>
            <a:r>
              <a:rPr lang="en-US" sz="2400" b="1" dirty="0" err="1">
                <a:solidFill>
                  <a:srgbClr val="B80000"/>
                </a:solidFill>
                <a:latin typeface="Courier New" panose="02070309020205020404" pitchFamily="49" charset="0"/>
              </a:rPr>
              <a:t>init</a:t>
            </a:r>
            <a:r>
              <a:rPr lang="en-US" sz="2400" b="1" dirty="0">
                <a:solidFill>
                  <a:srgbClr val="B80000"/>
                </a:solidFill>
                <a:latin typeface="Courier New" panose="02070309020205020404" pitchFamily="49" charset="0"/>
              </a:rPr>
              <a:t> 2 local objects from d1</a:t>
            </a:r>
          </a:p>
          <a:p>
            <a:pPr eaLnBrk="1" hangingPunct="1">
              <a:buFont typeface="Monotype Sorts" charset="2"/>
              <a:buNone/>
            </a:pPr>
            <a:r>
              <a:rPr lang="en-US" sz="2400" b="1" dirty="0">
                <a:latin typeface="Courier New" panose="02070309020205020404" pitchFamily="49" charset="0"/>
              </a:rPr>
              <a:t>Date </a:t>
            </a:r>
            <a:r>
              <a:rPr lang="en-US" sz="2400" b="1" dirty="0">
                <a:solidFill>
                  <a:srgbClr val="008000"/>
                </a:solidFill>
                <a:latin typeface="Courier New" panose="02070309020205020404" pitchFamily="49" charset="0"/>
              </a:rPr>
              <a:t>d2</a:t>
            </a:r>
            <a:r>
              <a:rPr lang="en-US" sz="2400" b="1" dirty="0">
                <a:latin typeface="Courier New" panose="02070309020205020404" pitchFamily="49" charset="0"/>
              </a:rPr>
              <a:t>(</a:t>
            </a:r>
            <a:r>
              <a:rPr lang="en-US" sz="2400" b="1" dirty="0">
                <a:solidFill>
                  <a:srgbClr val="2C14DE"/>
                </a:solidFill>
                <a:latin typeface="Courier New" panose="02070309020205020404" pitchFamily="49" charset="0"/>
              </a:rPr>
              <a:t>d1</a:t>
            </a:r>
            <a:r>
              <a:rPr lang="en-US" sz="2400" b="1" dirty="0">
                <a:latin typeface="Courier New" panose="02070309020205020404" pitchFamily="49" charset="0"/>
              </a:rPr>
              <a:t>);// pass by value</a:t>
            </a:r>
          </a:p>
          <a:p>
            <a:pPr eaLnBrk="1" hangingPunct="1">
              <a:buFont typeface="Monotype Sorts" charset="2"/>
              <a:buNone/>
            </a:pPr>
            <a:r>
              <a:rPr lang="en-US" sz="2400" b="1" dirty="0">
                <a:latin typeface="Courier New" panose="02070309020205020404" pitchFamily="49" charset="0"/>
              </a:rPr>
              <a:t>Date </a:t>
            </a:r>
            <a:r>
              <a:rPr lang="en-US" sz="2400" b="1" dirty="0">
                <a:solidFill>
                  <a:srgbClr val="FF0000"/>
                </a:solidFill>
                <a:latin typeface="Courier New" panose="02070309020205020404" pitchFamily="49" charset="0"/>
              </a:rPr>
              <a:t>d3</a:t>
            </a:r>
            <a:r>
              <a:rPr lang="en-US" sz="2400" b="1" dirty="0">
                <a:latin typeface="Courier New" panose="02070309020205020404" pitchFamily="49" charset="0"/>
              </a:rPr>
              <a:t> = </a:t>
            </a:r>
            <a:r>
              <a:rPr lang="en-US" sz="2400" b="1" dirty="0">
                <a:solidFill>
                  <a:srgbClr val="2C14DE"/>
                </a:solidFill>
                <a:latin typeface="Courier New" panose="02070309020205020404" pitchFamily="49" charset="0"/>
              </a:rPr>
              <a:t>d1</a:t>
            </a:r>
            <a:r>
              <a:rPr lang="en-US" sz="2400" b="1" dirty="0">
                <a:latin typeface="Courier New" panose="02070309020205020404" pitchFamily="49" charset="0"/>
              </a:rPr>
              <a:t>;// return value </a:t>
            </a:r>
          </a:p>
          <a:p>
            <a:pPr eaLnBrk="1" hangingPunct="1">
              <a:buFont typeface="Monotype Sorts" charset="2"/>
              <a:buNone/>
            </a:pPr>
            <a:endParaRPr lang="en-US" sz="2400" b="1" dirty="0">
              <a:latin typeface="Courier New" panose="02070309020205020404" pitchFamily="49" charset="0"/>
            </a:endParaRPr>
          </a:p>
          <a:p>
            <a:pPr eaLnBrk="1" hangingPunct="1">
              <a:buFont typeface="Monotype Sorts" charset="2"/>
              <a:buNone/>
            </a:pPr>
            <a:r>
              <a:rPr lang="en-US" sz="2400" b="1" dirty="0">
                <a:solidFill>
                  <a:srgbClr val="B80000"/>
                </a:solidFill>
                <a:latin typeface="Courier New" panose="02070309020205020404" pitchFamily="49" charset="0"/>
              </a:rPr>
              <a:t>// </a:t>
            </a:r>
            <a:r>
              <a:rPr lang="en-US" sz="2400" b="1" dirty="0" err="1">
                <a:solidFill>
                  <a:srgbClr val="B80000"/>
                </a:solidFill>
                <a:latin typeface="Courier New" panose="02070309020205020404" pitchFamily="49" charset="0"/>
              </a:rPr>
              <a:t>init</a:t>
            </a:r>
            <a:r>
              <a:rPr lang="en-US" sz="2400" b="1" dirty="0">
                <a:solidFill>
                  <a:srgbClr val="B80000"/>
                </a:solidFill>
                <a:latin typeface="Courier New" panose="02070309020205020404" pitchFamily="49" charset="0"/>
              </a:rPr>
              <a:t> a dynamic object from d1</a:t>
            </a:r>
          </a:p>
          <a:p>
            <a:pPr eaLnBrk="1" hangingPunct="1">
              <a:buFont typeface="Monotype Sorts" charset="2"/>
              <a:buNone/>
            </a:pPr>
            <a:r>
              <a:rPr lang="en-US" sz="2400" b="1" dirty="0">
                <a:latin typeface="Courier New" panose="02070309020205020404" pitchFamily="49" charset="0"/>
              </a:rPr>
              <a:t>Date* </a:t>
            </a:r>
            <a:r>
              <a:rPr lang="en-US" sz="2400" b="1" dirty="0" err="1">
                <a:solidFill>
                  <a:schemeClr val="accent5">
                    <a:lumMod val="75000"/>
                  </a:schemeClr>
                </a:solidFill>
                <a:latin typeface="Courier New" panose="02070309020205020404" pitchFamily="49" charset="0"/>
              </a:rPr>
              <a:t>pdate</a:t>
            </a:r>
            <a:r>
              <a:rPr lang="en-US" sz="2400" b="1" dirty="0">
                <a:latin typeface="Courier New" panose="02070309020205020404" pitchFamily="49" charset="0"/>
              </a:rPr>
              <a:t> = new Date(</a:t>
            </a:r>
            <a:r>
              <a:rPr lang="en-US" sz="2400" b="1" dirty="0">
                <a:solidFill>
                  <a:srgbClr val="2C14DE"/>
                </a:solidFill>
                <a:latin typeface="Courier New" panose="02070309020205020404" pitchFamily="49" charset="0"/>
              </a:rPr>
              <a:t>d1</a:t>
            </a:r>
            <a:r>
              <a:rPr lang="en-US" sz="2400" b="1" dirty="0">
                <a:latin typeface="Courier New" panose="02070309020205020404" pitchFamily="49" charset="0"/>
              </a:rPr>
              <a:t>);</a:t>
            </a:r>
            <a:endParaRPr lang="en-US" sz="2400" dirty="0">
              <a:latin typeface="Tahoma" panose="020B0604030504040204" pitchFamily="34" charset="0"/>
            </a:endParaRPr>
          </a:p>
        </p:txBody>
      </p:sp>
      <p:sp>
        <p:nvSpPr>
          <p:cNvPr id="4" name="Rectangle 3"/>
          <p:cNvSpPr/>
          <p:nvPr/>
        </p:nvSpPr>
        <p:spPr>
          <a:xfrm>
            <a:off x="39756" y="944881"/>
            <a:ext cx="90678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67816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52400" y="0"/>
            <a:ext cx="9296400" cy="944881"/>
          </a:xfrm>
          <a:solidFill>
            <a:schemeClr val="bg1"/>
          </a:solidFill>
        </p:spPr>
        <p:txBody>
          <a:bodyPr>
            <a:noAutofit/>
          </a:bodyPr>
          <a:lstStyle/>
          <a:p>
            <a:pPr eaLnBrk="1" hangingPunct="1"/>
            <a:r>
              <a:rPr lang="en-US" sz="4000" b="1" dirty="0">
                <a:solidFill>
                  <a:srgbClr val="B80000"/>
                </a:solidFill>
                <a:latin typeface="+mn-lt"/>
                <a:cs typeface="Arial" panose="020B0604020202020204" pitchFamily="34" charset="0"/>
              </a:rPr>
              <a:t>Copy </a:t>
            </a:r>
            <a:r>
              <a:rPr lang="en-US" sz="4000" b="1" dirty="0" err="1">
                <a:solidFill>
                  <a:srgbClr val="B80000"/>
                </a:solidFill>
                <a:latin typeface="+mn-lt"/>
                <a:cs typeface="Arial" panose="020B0604020202020204" pitchFamily="34" charset="0"/>
              </a:rPr>
              <a:t>Constructor:Passing</a:t>
            </a:r>
            <a:r>
              <a:rPr lang="en-US" sz="4000" b="1" dirty="0">
                <a:solidFill>
                  <a:srgbClr val="B80000"/>
                </a:solidFill>
                <a:latin typeface="+mn-lt"/>
                <a:cs typeface="Arial" panose="020B0604020202020204" pitchFamily="34" charset="0"/>
              </a:rPr>
              <a:t> Objects by Value</a:t>
            </a:r>
          </a:p>
        </p:txBody>
      </p:sp>
      <p:sp>
        <p:nvSpPr>
          <p:cNvPr id="33795" name="Rectangle 3"/>
          <p:cNvSpPr>
            <a:spLocks noGrp="1" noChangeArrowheads="1"/>
          </p:cNvSpPr>
          <p:nvPr>
            <p:ph idx="1"/>
          </p:nvPr>
        </p:nvSpPr>
        <p:spPr>
          <a:xfrm>
            <a:off x="342900" y="1485900"/>
            <a:ext cx="8305800" cy="4953000"/>
          </a:xfrm>
        </p:spPr>
        <p:txBody>
          <a:bodyPr/>
          <a:lstStyle/>
          <a:p>
            <a:pPr eaLnBrk="1" hangingPunct="1">
              <a:buFont typeface="Monotype Sorts" charset="2"/>
              <a:buNone/>
            </a:pPr>
            <a:r>
              <a:rPr lang="en-US" sz="2400" b="1" dirty="0">
                <a:solidFill>
                  <a:srgbClr val="D20000"/>
                </a:solidFill>
                <a:latin typeface="Courier New" panose="02070309020205020404" pitchFamily="49" charset="0"/>
              </a:rPr>
              <a:t>//copy constructor called for each value </a:t>
            </a:r>
            <a:r>
              <a:rPr lang="en-US" sz="2400" b="1" dirty="0" err="1">
                <a:solidFill>
                  <a:srgbClr val="D20000"/>
                </a:solidFill>
                <a:latin typeface="Courier New" panose="02070309020205020404" pitchFamily="49" charset="0"/>
              </a:rPr>
              <a:t>arg</a:t>
            </a:r>
            <a:endParaRPr lang="en-US" sz="2400" b="1" dirty="0">
              <a:solidFill>
                <a:srgbClr val="D20000"/>
              </a:solidFill>
              <a:latin typeface="Courier New" panose="02070309020205020404" pitchFamily="49" charset="0"/>
            </a:endParaRPr>
          </a:p>
          <a:p>
            <a:pPr eaLnBrk="1" hangingPunct="1">
              <a:buFont typeface="Monotype Sorts" charset="2"/>
              <a:buNone/>
            </a:pPr>
            <a:r>
              <a:rPr lang="en-US" sz="2400" b="1" dirty="0">
                <a:latin typeface="Courier New" panose="02070309020205020404" pitchFamily="49" charset="0"/>
              </a:rPr>
              <a:t>unsigned </a:t>
            </a:r>
            <a:r>
              <a:rPr lang="en-US" sz="2400" b="1" dirty="0" err="1">
                <a:latin typeface="Courier New" panose="02070309020205020404" pitchFamily="49" charset="0"/>
              </a:rPr>
              <a:t>dateDiff</a:t>
            </a:r>
            <a:r>
              <a:rPr lang="en-US" sz="2400" b="1" dirty="0">
                <a:latin typeface="Courier New" panose="02070309020205020404" pitchFamily="49" charset="0"/>
              </a:rPr>
              <a:t>(Date d1, Date d2);</a:t>
            </a:r>
          </a:p>
          <a:p>
            <a:pPr eaLnBrk="1" hangingPunct="1">
              <a:buFont typeface="Monotype Sorts" charset="2"/>
              <a:buNone/>
            </a:pPr>
            <a:r>
              <a:rPr lang="en-US" sz="2400" b="1" dirty="0">
                <a:latin typeface="Courier New" panose="02070309020205020404" pitchFamily="49" charset="0"/>
              </a:rPr>
              <a:t>...</a:t>
            </a:r>
          </a:p>
          <a:p>
            <a:pPr eaLnBrk="1" hangingPunct="1">
              <a:buFont typeface="Monotype Sorts" charset="2"/>
              <a:buNone/>
            </a:pPr>
            <a:r>
              <a:rPr lang="en-US" sz="2400" b="1" dirty="0">
                <a:latin typeface="Courier New" panose="02070309020205020404" pitchFamily="49" charset="0"/>
              </a:rPr>
              <a:t>Date today;</a:t>
            </a:r>
          </a:p>
          <a:p>
            <a:pPr eaLnBrk="1" hangingPunct="1">
              <a:buFont typeface="Monotype Sorts" charset="2"/>
              <a:buNone/>
            </a:pPr>
            <a:r>
              <a:rPr lang="en-US" sz="2400" b="1" dirty="0">
                <a:latin typeface="Courier New" panose="02070309020205020404" pitchFamily="49" charset="0"/>
              </a:rPr>
              <a:t>Date d3(02, 21, 2000);</a:t>
            </a:r>
          </a:p>
          <a:p>
            <a:pPr eaLnBrk="1" hangingPunct="1">
              <a:buFont typeface="Monotype Sorts" charset="2"/>
              <a:buNone/>
            </a:pPr>
            <a:r>
              <a:rPr lang="en-US" sz="2400" b="1" dirty="0" err="1">
                <a:latin typeface="Courier New" panose="02070309020205020404" pitchFamily="49" charset="0"/>
              </a:rPr>
              <a:t>cout</a:t>
            </a:r>
            <a:r>
              <a:rPr lang="en-US" sz="2400" b="1" dirty="0">
                <a:latin typeface="Courier New" panose="02070309020205020404" pitchFamily="49" charset="0"/>
              </a:rPr>
              <a:t> &lt;&lt; </a:t>
            </a:r>
            <a:r>
              <a:rPr lang="en-US" sz="2400" b="1" dirty="0" err="1">
                <a:latin typeface="Courier New" panose="02070309020205020404" pitchFamily="49" charset="0"/>
              </a:rPr>
              <a:t>dateDiff</a:t>
            </a:r>
            <a:r>
              <a:rPr lang="en-US" sz="2400" b="1" dirty="0">
                <a:latin typeface="Courier New" panose="02070309020205020404" pitchFamily="49" charset="0"/>
              </a:rPr>
              <a:t>(d3, today);</a:t>
            </a:r>
          </a:p>
          <a:p>
            <a:pPr eaLnBrk="1" hangingPunct="1"/>
            <a:endParaRPr lang="en-US" sz="2400" dirty="0">
              <a:latin typeface="Tahoma" panose="020B0604030504040204" pitchFamily="34" charset="0"/>
            </a:endParaRPr>
          </a:p>
        </p:txBody>
      </p:sp>
      <p:sp>
        <p:nvSpPr>
          <p:cNvPr id="6" name="Rectangle 5"/>
          <p:cNvSpPr/>
          <p:nvPr/>
        </p:nvSpPr>
        <p:spPr>
          <a:xfrm>
            <a:off x="39756" y="944881"/>
            <a:ext cx="90678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p:cNvCxnSpPr/>
          <p:nvPr/>
        </p:nvCxnSpPr>
        <p:spPr>
          <a:xfrm flipV="1">
            <a:off x="3810000" y="2209800"/>
            <a:ext cx="954156" cy="1640541"/>
          </a:xfrm>
          <a:prstGeom prst="straightConnector1">
            <a:avLst/>
          </a:prstGeom>
          <a:ln w="34925">
            <a:tailEnd type="triangle" w="lg"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5410200" y="2250141"/>
            <a:ext cx="1066800" cy="1600200"/>
          </a:xfrm>
          <a:prstGeom prst="straightConnector1">
            <a:avLst/>
          </a:prstGeom>
          <a:ln w="31750">
            <a:solidFill>
              <a:srgbClr val="2C14DE"/>
            </a:solidFill>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21526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74544" y="13447"/>
            <a:ext cx="9296400" cy="944881"/>
          </a:xfrm>
          <a:solidFill>
            <a:schemeClr val="bg1"/>
          </a:solidFill>
        </p:spPr>
        <p:txBody>
          <a:bodyPr>
            <a:noAutofit/>
          </a:bodyPr>
          <a:lstStyle/>
          <a:p>
            <a:pPr eaLnBrk="1" hangingPunct="1"/>
            <a:r>
              <a:rPr lang="en-US" sz="3600" b="1" dirty="0">
                <a:solidFill>
                  <a:srgbClr val="B80000"/>
                </a:solidFill>
                <a:latin typeface="+mn-lt"/>
                <a:cs typeface="Arial" panose="020B0604020202020204" pitchFamily="34" charset="0"/>
              </a:rPr>
              <a:t>User-defined Copy Constructor, when required?</a:t>
            </a:r>
          </a:p>
        </p:txBody>
      </p:sp>
      <p:sp>
        <p:nvSpPr>
          <p:cNvPr id="33795" name="Rectangle 3"/>
          <p:cNvSpPr>
            <a:spLocks noGrp="1" noChangeArrowheads="1"/>
          </p:cNvSpPr>
          <p:nvPr>
            <p:ph idx="1"/>
          </p:nvPr>
        </p:nvSpPr>
        <p:spPr>
          <a:xfrm>
            <a:off x="63002" y="1066800"/>
            <a:ext cx="9233397" cy="4953000"/>
          </a:xfrm>
        </p:spPr>
        <p:txBody>
          <a:bodyPr>
            <a:normAutofit/>
          </a:bodyPr>
          <a:lstStyle/>
          <a:p>
            <a:r>
              <a:rPr lang="en-US" sz="3000" b="1" dirty="0" smtClean="0">
                <a:solidFill>
                  <a:srgbClr val="C00000"/>
                </a:solidFill>
                <a:latin typeface="+mj-lt"/>
              </a:rPr>
              <a:t>Default-copy Constructor </a:t>
            </a:r>
            <a:r>
              <a:rPr lang="en-US" sz="3000" b="1" dirty="0" smtClean="0">
                <a:solidFill>
                  <a:srgbClr val="2C14DE"/>
                </a:solidFill>
                <a:latin typeface="+mj-lt"/>
              </a:rPr>
              <a:t>do only “Shallow Copy”</a:t>
            </a:r>
            <a:endParaRPr lang="en-US" sz="3000" b="1" dirty="0" smtClean="0">
              <a:latin typeface="+mj-lt"/>
            </a:endParaRPr>
          </a:p>
          <a:p>
            <a:r>
              <a:rPr lang="en-US" sz="3000" b="1" dirty="0" smtClean="0">
                <a:latin typeface="+mj-lt"/>
              </a:rPr>
              <a:t>We </a:t>
            </a:r>
            <a:r>
              <a:rPr lang="en-US" sz="3000" b="1" dirty="0">
                <a:latin typeface="+mj-lt"/>
              </a:rPr>
              <a:t>need </a:t>
            </a:r>
            <a:r>
              <a:rPr lang="en-US" sz="3000" b="1" dirty="0">
                <a:solidFill>
                  <a:srgbClr val="D20000"/>
                </a:solidFill>
                <a:latin typeface="+mj-lt"/>
              </a:rPr>
              <a:t>user-defined copy-constructor</a:t>
            </a:r>
            <a:r>
              <a:rPr lang="en-US" sz="3000" b="1" dirty="0">
                <a:latin typeface="+mj-lt"/>
              </a:rPr>
              <a:t>, </a:t>
            </a:r>
          </a:p>
          <a:p>
            <a:pPr lvl="1"/>
            <a:r>
              <a:rPr lang="en-US" sz="3000" b="1" dirty="0">
                <a:latin typeface="+mj-lt"/>
              </a:rPr>
              <a:t>When </a:t>
            </a:r>
            <a:r>
              <a:rPr lang="en-US" sz="3000" b="1" dirty="0">
                <a:solidFill>
                  <a:srgbClr val="2C14DE"/>
                </a:solidFill>
                <a:latin typeface="+mj-lt"/>
              </a:rPr>
              <a:t>we need “Deep Copy” (for Dynamic Memory)</a:t>
            </a:r>
            <a:endParaRPr lang="en-US" sz="3000" dirty="0">
              <a:solidFill>
                <a:srgbClr val="2C14DE"/>
              </a:solidFill>
              <a:latin typeface="+mj-lt"/>
            </a:endParaRPr>
          </a:p>
        </p:txBody>
      </p:sp>
      <p:sp>
        <p:nvSpPr>
          <p:cNvPr id="6" name="Rectangle 5"/>
          <p:cNvSpPr/>
          <p:nvPr/>
        </p:nvSpPr>
        <p:spPr>
          <a:xfrm>
            <a:off x="39756" y="944881"/>
            <a:ext cx="90678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descr="https://media.geeksforgeeks.org/wp-content/uploads/shallow-copy.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9534" t="17236" r="7823" b="7631"/>
          <a:stretch/>
        </p:blipFill>
        <p:spPr bwMode="auto">
          <a:xfrm>
            <a:off x="228600" y="3429000"/>
            <a:ext cx="3733800" cy="223520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https://media.geeksforgeeks.org/wp-content/uploads/deep-copy.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0400" t="16883" r="12100" b="17932"/>
          <a:stretch/>
        </p:blipFill>
        <p:spPr bwMode="auto">
          <a:xfrm>
            <a:off x="4311153" y="3429000"/>
            <a:ext cx="4724400" cy="22352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p:cNvCxnSpPr/>
          <p:nvPr/>
        </p:nvCxnSpPr>
        <p:spPr>
          <a:xfrm>
            <a:off x="4114800" y="2743200"/>
            <a:ext cx="0" cy="3962400"/>
          </a:xfrm>
          <a:prstGeom prst="line">
            <a:avLst/>
          </a:prstGeom>
          <a:ln w="1587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 name="Freeform 3"/>
          <p:cNvSpPr/>
          <p:nvPr/>
        </p:nvSpPr>
        <p:spPr>
          <a:xfrm>
            <a:off x="1499210" y="1458686"/>
            <a:ext cx="5032219" cy="2188028"/>
          </a:xfrm>
          <a:custGeom>
            <a:avLst/>
            <a:gdLst>
              <a:gd name="connsiteX0" fmla="*/ 5032219 w 5032219"/>
              <a:gd name="connsiteY0" fmla="*/ 0 h 2188028"/>
              <a:gd name="connsiteX1" fmla="*/ 329590 w 5032219"/>
              <a:gd name="connsiteY1" fmla="*/ 185057 h 2188028"/>
              <a:gd name="connsiteX2" fmla="*/ 394904 w 5032219"/>
              <a:gd name="connsiteY2" fmla="*/ 2188028 h 2188028"/>
            </a:gdLst>
            <a:ahLst/>
            <a:cxnLst>
              <a:cxn ang="0">
                <a:pos x="connsiteX0" y="connsiteY0"/>
              </a:cxn>
              <a:cxn ang="0">
                <a:pos x="connsiteX1" y="connsiteY1"/>
              </a:cxn>
              <a:cxn ang="0">
                <a:pos x="connsiteX2" y="connsiteY2"/>
              </a:cxn>
            </a:cxnLst>
            <a:rect l="l" t="t" r="r" b="b"/>
            <a:pathLst>
              <a:path w="5032219" h="2188028">
                <a:moveTo>
                  <a:pt x="5032219" y="0"/>
                </a:moveTo>
                <a:lnTo>
                  <a:pt x="329590" y="185057"/>
                </a:lnTo>
                <a:cubicBezTo>
                  <a:pt x="-443296" y="549728"/>
                  <a:pt x="384018" y="1854200"/>
                  <a:pt x="394904" y="2188028"/>
                </a:cubicBezTo>
              </a:path>
            </a:pathLst>
          </a:custGeom>
          <a:ln>
            <a:tailEnd type="stealth" w="lg" len="lg"/>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7" name="Freeform 6"/>
          <p:cNvSpPr/>
          <p:nvPr/>
        </p:nvSpPr>
        <p:spPr>
          <a:xfrm>
            <a:off x="5192486" y="2357179"/>
            <a:ext cx="1991104" cy="1311307"/>
          </a:xfrm>
          <a:custGeom>
            <a:avLst/>
            <a:gdLst>
              <a:gd name="connsiteX0" fmla="*/ 0 w 1991104"/>
              <a:gd name="connsiteY0" fmla="*/ 179192 h 1311307"/>
              <a:gd name="connsiteX1" fmla="*/ 1959428 w 1991104"/>
              <a:gd name="connsiteY1" fmla="*/ 92107 h 1311307"/>
              <a:gd name="connsiteX2" fmla="*/ 1262743 w 1991104"/>
              <a:gd name="connsiteY2" fmla="*/ 1311307 h 1311307"/>
            </a:gdLst>
            <a:ahLst/>
            <a:cxnLst>
              <a:cxn ang="0">
                <a:pos x="connsiteX0" y="connsiteY0"/>
              </a:cxn>
              <a:cxn ang="0">
                <a:pos x="connsiteX1" y="connsiteY1"/>
              </a:cxn>
              <a:cxn ang="0">
                <a:pos x="connsiteX2" y="connsiteY2"/>
              </a:cxn>
            </a:cxnLst>
            <a:rect l="l" t="t" r="r" b="b"/>
            <a:pathLst>
              <a:path w="1991104" h="1311307">
                <a:moveTo>
                  <a:pt x="0" y="179192"/>
                </a:moveTo>
                <a:cubicBezTo>
                  <a:pt x="874485" y="41306"/>
                  <a:pt x="1748971" y="-96579"/>
                  <a:pt x="1959428" y="92107"/>
                </a:cubicBezTo>
                <a:cubicBezTo>
                  <a:pt x="2169885" y="280793"/>
                  <a:pt x="1262743" y="1311307"/>
                  <a:pt x="1262743" y="1311307"/>
                </a:cubicBezTo>
              </a:path>
            </a:pathLst>
          </a:custGeom>
          <a:ln>
            <a:tailEnd type="stealth" w="lg" len="lg"/>
          </a:ln>
        </p:spPr>
        <p:style>
          <a:lnRef idx="3">
            <a:schemeClr val="accent5"/>
          </a:lnRef>
          <a:fillRef idx="0">
            <a:schemeClr val="accent5"/>
          </a:fillRef>
          <a:effectRef idx="2">
            <a:schemeClr val="accent5"/>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07880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57D929-865A-4CC9-93B7-49A42C7E8C80}"/>
              </a:ext>
            </a:extLst>
          </p:cNvPr>
          <p:cNvSpPr>
            <a:spLocks noGrp="1"/>
          </p:cNvSpPr>
          <p:nvPr>
            <p:ph type="title"/>
          </p:nvPr>
        </p:nvSpPr>
        <p:spPr/>
        <p:txBody>
          <a:bodyPr/>
          <a:lstStyle/>
          <a:p>
            <a:r>
              <a:rPr lang="en-US" dirty="0"/>
              <a:t>Shallow Copy</a:t>
            </a:r>
            <a:endParaRPr lang="aa-ET" dirty="0"/>
          </a:p>
        </p:txBody>
      </p:sp>
      <p:sp>
        <p:nvSpPr>
          <p:cNvPr id="3" name="Content Placeholder 2">
            <a:extLst>
              <a:ext uri="{FF2B5EF4-FFF2-40B4-BE49-F238E27FC236}">
                <a16:creationId xmlns="" xmlns:a16="http://schemas.microsoft.com/office/drawing/2014/main" id="{A3FB4760-DCD8-449B-871C-CD3ED074E588}"/>
              </a:ext>
            </a:extLst>
          </p:cNvPr>
          <p:cNvSpPr>
            <a:spLocks noGrp="1"/>
          </p:cNvSpPr>
          <p:nvPr>
            <p:ph idx="1"/>
          </p:nvPr>
        </p:nvSpPr>
        <p:spPr>
          <a:xfrm>
            <a:off x="0" y="862984"/>
            <a:ext cx="9144000" cy="5638800"/>
          </a:xfrm>
        </p:spPr>
        <p:txBody>
          <a:bodyPr>
            <a:noAutofit/>
          </a:bodyPr>
          <a:lstStyle/>
          <a:p>
            <a:pPr algn="l">
              <a:buFont typeface="+mj-lt"/>
              <a:buAutoNum type="arabicPeriod"/>
            </a:pPr>
            <a:r>
              <a:rPr lang="en-US" sz="1400" b="1" i="0" dirty="0">
                <a:solidFill>
                  <a:srgbClr val="006699"/>
                </a:solidFill>
                <a:effectLst/>
                <a:latin typeface="verdana" panose="020B0604030504040204" pitchFamily="34" charset="0"/>
              </a:rPr>
              <a:t>class</a:t>
            </a:r>
            <a:r>
              <a:rPr lang="en-US" sz="1400" b="0" i="0" dirty="0">
                <a:solidFill>
                  <a:srgbClr val="000000"/>
                </a:solidFill>
                <a:effectLst/>
                <a:latin typeface="verdana" panose="020B0604030504040204" pitchFamily="34" charset="0"/>
              </a:rPr>
              <a:t> Demo  </a:t>
            </a:r>
          </a:p>
          <a:p>
            <a:pPr algn="l">
              <a:buFont typeface="+mj-lt"/>
              <a:buAutoNum type="arabicPeriod"/>
            </a:pPr>
            <a:r>
              <a:rPr lang="en-US" sz="1400" b="0" i="0" dirty="0">
                <a:solidFill>
                  <a:srgbClr val="000000"/>
                </a:solidFill>
                <a:effectLst/>
                <a:latin typeface="verdana" panose="020B0604030504040204" pitchFamily="34" charset="0"/>
              </a:rPr>
              <a:t>{  </a:t>
            </a:r>
          </a:p>
          <a:p>
            <a:pPr algn="l">
              <a:buFont typeface="+mj-lt"/>
              <a:buAutoNum type="arabicPeriod"/>
            </a:pPr>
            <a:r>
              <a:rPr lang="en-US" sz="1400" b="0" i="0" dirty="0">
                <a:solidFill>
                  <a:srgbClr val="000000"/>
                </a:solidFill>
                <a:effectLst/>
                <a:latin typeface="verdana" panose="020B0604030504040204" pitchFamily="34" charset="0"/>
              </a:rPr>
              <a:t>    </a:t>
            </a:r>
            <a:r>
              <a:rPr lang="en-US" sz="1400" b="1" i="0" dirty="0">
                <a:solidFill>
                  <a:srgbClr val="2E8B57"/>
                </a:solidFill>
                <a:effectLst/>
                <a:latin typeface="verdana" panose="020B0604030504040204" pitchFamily="34" charset="0"/>
              </a:rPr>
              <a:t>int</a:t>
            </a:r>
            <a:r>
              <a:rPr lang="en-US" sz="1400" b="0" i="0" dirty="0">
                <a:solidFill>
                  <a:srgbClr val="000000"/>
                </a:solidFill>
                <a:effectLst/>
                <a:latin typeface="verdana" panose="020B0604030504040204" pitchFamily="34" charset="0"/>
              </a:rPr>
              <a:t> a;  </a:t>
            </a:r>
          </a:p>
          <a:p>
            <a:pPr algn="l">
              <a:buFont typeface="+mj-lt"/>
              <a:buAutoNum type="arabicPeriod"/>
            </a:pPr>
            <a:r>
              <a:rPr lang="en-US" sz="1400" b="0" i="0" dirty="0">
                <a:solidFill>
                  <a:srgbClr val="000000"/>
                </a:solidFill>
                <a:effectLst/>
                <a:latin typeface="verdana" panose="020B0604030504040204" pitchFamily="34" charset="0"/>
              </a:rPr>
              <a:t>    </a:t>
            </a:r>
            <a:r>
              <a:rPr lang="en-US" sz="1400" b="1" i="0" dirty="0">
                <a:solidFill>
                  <a:srgbClr val="2E8B57"/>
                </a:solidFill>
                <a:effectLst/>
                <a:latin typeface="verdana" panose="020B0604030504040204" pitchFamily="34" charset="0"/>
              </a:rPr>
              <a:t>int</a:t>
            </a:r>
            <a:r>
              <a:rPr lang="en-US" sz="1400" b="0" i="0" dirty="0">
                <a:solidFill>
                  <a:srgbClr val="000000"/>
                </a:solidFill>
                <a:effectLst/>
                <a:latin typeface="verdana" panose="020B0604030504040204" pitchFamily="34" charset="0"/>
              </a:rPr>
              <a:t> b;  </a:t>
            </a:r>
          </a:p>
          <a:p>
            <a:pPr algn="l">
              <a:buFont typeface="+mj-lt"/>
              <a:buAutoNum type="arabicPeriod"/>
            </a:pPr>
            <a:r>
              <a:rPr lang="en-US" sz="1400" b="0" i="0" dirty="0">
                <a:solidFill>
                  <a:srgbClr val="000000"/>
                </a:solidFill>
                <a:effectLst/>
                <a:latin typeface="verdana" panose="020B0604030504040204" pitchFamily="34" charset="0"/>
              </a:rPr>
              <a:t>    </a:t>
            </a:r>
            <a:r>
              <a:rPr lang="en-US" sz="1400" b="1" i="0" dirty="0">
                <a:solidFill>
                  <a:srgbClr val="2E8B57"/>
                </a:solidFill>
                <a:effectLst/>
                <a:latin typeface="verdana" panose="020B0604030504040204" pitchFamily="34" charset="0"/>
              </a:rPr>
              <a:t>int</a:t>
            </a:r>
            <a:r>
              <a:rPr lang="en-US" sz="1400" b="0" i="0" dirty="0">
                <a:solidFill>
                  <a:srgbClr val="000000"/>
                </a:solidFill>
                <a:effectLst/>
                <a:latin typeface="verdana" panose="020B0604030504040204" pitchFamily="34" charset="0"/>
              </a:rPr>
              <a:t> *p;  </a:t>
            </a:r>
          </a:p>
          <a:p>
            <a:pPr algn="l">
              <a:buFont typeface="+mj-lt"/>
              <a:buAutoNum type="arabicPeriod"/>
            </a:pPr>
            <a:r>
              <a:rPr lang="en-US" sz="1400" b="0" i="0" dirty="0">
                <a:solidFill>
                  <a:srgbClr val="000000"/>
                </a:solidFill>
                <a:effectLst/>
                <a:latin typeface="verdana" panose="020B0604030504040204" pitchFamily="34" charset="0"/>
              </a:rPr>
              <a:t>    </a:t>
            </a:r>
            <a:r>
              <a:rPr lang="en-US" sz="1400" b="1" i="0" dirty="0">
                <a:solidFill>
                  <a:srgbClr val="006699"/>
                </a:solidFill>
                <a:effectLst/>
                <a:latin typeface="verdana" panose="020B0604030504040204" pitchFamily="34" charset="0"/>
              </a:rPr>
              <a:t>public</a:t>
            </a:r>
            <a:r>
              <a:rPr lang="en-US" sz="1400" b="0" i="0" dirty="0">
                <a:solidFill>
                  <a:srgbClr val="000000"/>
                </a:solidFill>
                <a:effectLst/>
                <a:latin typeface="verdana" panose="020B0604030504040204" pitchFamily="34" charset="0"/>
              </a:rPr>
              <a:t>:  </a:t>
            </a:r>
          </a:p>
          <a:p>
            <a:pPr algn="l">
              <a:buFont typeface="+mj-lt"/>
              <a:buAutoNum type="arabicPeriod"/>
            </a:pPr>
            <a:r>
              <a:rPr lang="en-US" sz="1400" b="0" i="0" dirty="0">
                <a:solidFill>
                  <a:srgbClr val="000000"/>
                </a:solidFill>
                <a:effectLst/>
                <a:latin typeface="verdana" panose="020B0604030504040204" pitchFamily="34" charset="0"/>
              </a:rPr>
              <a:t>    Demo()  </a:t>
            </a:r>
          </a:p>
          <a:p>
            <a:pPr algn="l">
              <a:buFont typeface="+mj-lt"/>
              <a:buAutoNum type="arabicPeriod"/>
            </a:pPr>
            <a:r>
              <a:rPr lang="en-US" sz="1400" b="0" i="0" dirty="0">
                <a:solidFill>
                  <a:srgbClr val="000000"/>
                </a:solidFill>
                <a:effectLst/>
                <a:latin typeface="verdana" panose="020B0604030504040204" pitchFamily="34" charset="0"/>
              </a:rPr>
              <a:t>    {  </a:t>
            </a:r>
          </a:p>
          <a:p>
            <a:pPr algn="l">
              <a:buFont typeface="+mj-lt"/>
              <a:buAutoNum type="arabicPeriod"/>
            </a:pPr>
            <a:r>
              <a:rPr lang="en-US" sz="1400" b="0" i="0" dirty="0">
                <a:solidFill>
                  <a:srgbClr val="000000"/>
                </a:solidFill>
                <a:effectLst/>
                <a:latin typeface="verdana" panose="020B0604030504040204" pitchFamily="34" charset="0"/>
              </a:rPr>
              <a:t>        p=</a:t>
            </a:r>
            <a:r>
              <a:rPr lang="en-US" sz="1400" b="1" i="0" dirty="0">
                <a:solidFill>
                  <a:srgbClr val="006699"/>
                </a:solidFill>
                <a:effectLst/>
                <a:latin typeface="verdana" panose="020B0604030504040204" pitchFamily="34" charset="0"/>
              </a:rPr>
              <a:t>new</a:t>
            </a:r>
            <a:r>
              <a:rPr lang="en-US" sz="1400" b="0" i="0" dirty="0">
                <a:solidFill>
                  <a:srgbClr val="000000"/>
                </a:solidFill>
                <a:effectLst/>
                <a:latin typeface="verdana" panose="020B0604030504040204" pitchFamily="34" charset="0"/>
              </a:rPr>
              <a:t> </a:t>
            </a:r>
            <a:r>
              <a:rPr lang="en-US" sz="1400" b="1" i="0" dirty="0">
                <a:solidFill>
                  <a:srgbClr val="2E8B57"/>
                </a:solidFill>
                <a:effectLst/>
                <a:latin typeface="verdana" panose="020B0604030504040204" pitchFamily="34" charset="0"/>
              </a:rPr>
              <a:t>int</a:t>
            </a:r>
            <a:r>
              <a:rPr lang="en-US" sz="1400" b="0" i="0" dirty="0">
                <a:solidFill>
                  <a:srgbClr val="000000"/>
                </a:solidFill>
                <a:effectLst/>
                <a:latin typeface="verdana" panose="020B0604030504040204" pitchFamily="34" charset="0"/>
              </a:rPr>
              <a:t>;  </a:t>
            </a:r>
          </a:p>
          <a:p>
            <a:pPr algn="l">
              <a:buFont typeface="+mj-lt"/>
              <a:buAutoNum type="arabicPeriod"/>
            </a:pPr>
            <a:r>
              <a:rPr lang="en-US" sz="1400" b="0" i="0" dirty="0">
                <a:solidFill>
                  <a:srgbClr val="000000"/>
                </a:solidFill>
                <a:effectLst/>
                <a:latin typeface="verdana" panose="020B0604030504040204" pitchFamily="34" charset="0"/>
              </a:rPr>
              <a:t>    }  </a:t>
            </a:r>
          </a:p>
          <a:p>
            <a:pPr algn="l">
              <a:buFont typeface="+mj-lt"/>
              <a:buAutoNum type="arabicPeriod"/>
            </a:pPr>
            <a:r>
              <a:rPr lang="en-US" sz="1400" b="0" i="0" dirty="0">
                <a:solidFill>
                  <a:srgbClr val="000000"/>
                </a:solidFill>
                <a:effectLst/>
                <a:latin typeface="verdana" panose="020B0604030504040204" pitchFamily="34" charset="0"/>
              </a:rPr>
              <a:t>    </a:t>
            </a:r>
            <a:r>
              <a:rPr lang="en-US" sz="1400" b="1" i="0" dirty="0">
                <a:solidFill>
                  <a:srgbClr val="006699"/>
                </a:solidFill>
                <a:effectLst/>
                <a:latin typeface="verdana" panose="020B0604030504040204" pitchFamily="34" charset="0"/>
              </a:rPr>
              <a:t>void</a:t>
            </a:r>
            <a:r>
              <a:rPr lang="en-US" sz="1400" b="0" i="0" dirty="0">
                <a:solidFill>
                  <a:srgbClr val="000000"/>
                </a:solidFill>
                <a:effectLst/>
                <a:latin typeface="verdana" panose="020B0604030504040204" pitchFamily="34" charset="0"/>
              </a:rPr>
              <a:t> </a:t>
            </a:r>
            <a:r>
              <a:rPr lang="en-US" sz="1400" b="0" i="0" dirty="0" err="1">
                <a:solidFill>
                  <a:srgbClr val="000000"/>
                </a:solidFill>
                <a:effectLst/>
                <a:latin typeface="verdana" panose="020B0604030504040204" pitchFamily="34" charset="0"/>
              </a:rPr>
              <a:t>setdata</a:t>
            </a:r>
            <a:r>
              <a:rPr lang="en-US" sz="1400" b="0" i="0" dirty="0">
                <a:solidFill>
                  <a:srgbClr val="000000"/>
                </a:solidFill>
                <a:effectLst/>
                <a:latin typeface="verdana" panose="020B0604030504040204" pitchFamily="34" charset="0"/>
              </a:rPr>
              <a:t>(</a:t>
            </a:r>
            <a:r>
              <a:rPr lang="en-US" sz="1400" b="1" i="0" dirty="0">
                <a:solidFill>
                  <a:srgbClr val="2E8B57"/>
                </a:solidFill>
                <a:effectLst/>
                <a:latin typeface="verdana" panose="020B0604030504040204" pitchFamily="34" charset="0"/>
              </a:rPr>
              <a:t>int</a:t>
            </a:r>
            <a:r>
              <a:rPr lang="en-US" sz="1400" b="0" i="0" dirty="0">
                <a:solidFill>
                  <a:srgbClr val="000000"/>
                </a:solidFill>
                <a:effectLst/>
                <a:latin typeface="verdana" panose="020B0604030504040204" pitchFamily="34" charset="0"/>
              </a:rPr>
              <a:t> </a:t>
            </a:r>
            <a:r>
              <a:rPr lang="en-US" sz="1400" b="0" i="0" dirty="0" err="1">
                <a:solidFill>
                  <a:srgbClr val="000000"/>
                </a:solidFill>
                <a:effectLst/>
                <a:latin typeface="verdana" panose="020B0604030504040204" pitchFamily="34" charset="0"/>
              </a:rPr>
              <a:t>x,</a:t>
            </a:r>
            <a:r>
              <a:rPr lang="en-US" sz="1400" b="1" i="0" dirty="0" err="1">
                <a:solidFill>
                  <a:srgbClr val="2E8B57"/>
                </a:solidFill>
                <a:effectLst/>
                <a:latin typeface="verdana" panose="020B0604030504040204" pitchFamily="34" charset="0"/>
              </a:rPr>
              <a:t>int</a:t>
            </a:r>
            <a:r>
              <a:rPr lang="en-US" sz="1400" b="0" i="0" dirty="0">
                <a:solidFill>
                  <a:srgbClr val="000000"/>
                </a:solidFill>
                <a:effectLst/>
                <a:latin typeface="verdana" panose="020B0604030504040204" pitchFamily="34" charset="0"/>
              </a:rPr>
              <a:t> </a:t>
            </a:r>
            <a:r>
              <a:rPr lang="en-US" sz="1400" b="0" i="0" dirty="0" err="1">
                <a:solidFill>
                  <a:srgbClr val="000000"/>
                </a:solidFill>
                <a:effectLst/>
                <a:latin typeface="verdana" panose="020B0604030504040204" pitchFamily="34" charset="0"/>
              </a:rPr>
              <a:t>y,</a:t>
            </a:r>
            <a:r>
              <a:rPr lang="en-US" sz="1400" b="1" i="0" dirty="0" err="1">
                <a:solidFill>
                  <a:srgbClr val="2E8B57"/>
                </a:solidFill>
                <a:effectLst/>
                <a:latin typeface="verdana" panose="020B0604030504040204" pitchFamily="34" charset="0"/>
              </a:rPr>
              <a:t>int</a:t>
            </a:r>
            <a:r>
              <a:rPr lang="en-US" sz="1400" b="0" i="0" dirty="0">
                <a:solidFill>
                  <a:srgbClr val="000000"/>
                </a:solidFill>
                <a:effectLst/>
                <a:latin typeface="verdana" panose="020B0604030504040204" pitchFamily="34" charset="0"/>
              </a:rPr>
              <a:t> z)  </a:t>
            </a:r>
          </a:p>
          <a:p>
            <a:pPr algn="l">
              <a:buFont typeface="+mj-lt"/>
              <a:buAutoNum type="arabicPeriod"/>
            </a:pPr>
            <a:r>
              <a:rPr lang="en-US" sz="1400" b="0" i="0" dirty="0">
                <a:solidFill>
                  <a:srgbClr val="000000"/>
                </a:solidFill>
                <a:effectLst/>
                <a:latin typeface="verdana" panose="020B0604030504040204" pitchFamily="34" charset="0"/>
              </a:rPr>
              <a:t>    {  </a:t>
            </a:r>
          </a:p>
          <a:p>
            <a:pPr algn="l">
              <a:buFont typeface="+mj-lt"/>
              <a:buAutoNum type="arabicPeriod"/>
            </a:pPr>
            <a:r>
              <a:rPr lang="en-US" sz="1400" b="0" i="0" dirty="0">
                <a:solidFill>
                  <a:srgbClr val="000000"/>
                </a:solidFill>
                <a:effectLst/>
                <a:latin typeface="verdana" panose="020B0604030504040204" pitchFamily="34" charset="0"/>
              </a:rPr>
              <a:t>        a=x;  </a:t>
            </a:r>
          </a:p>
          <a:p>
            <a:pPr algn="l">
              <a:buFont typeface="+mj-lt"/>
              <a:buAutoNum type="arabicPeriod"/>
            </a:pPr>
            <a:r>
              <a:rPr lang="en-US" sz="1400" b="0" i="0" dirty="0">
                <a:solidFill>
                  <a:srgbClr val="000000"/>
                </a:solidFill>
                <a:effectLst/>
                <a:latin typeface="verdana" panose="020B0604030504040204" pitchFamily="34" charset="0"/>
              </a:rPr>
              <a:t>        b=y;  </a:t>
            </a:r>
          </a:p>
          <a:p>
            <a:pPr algn="l">
              <a:buFont typeface="+mj-lt"/>
              <a:buAutoNum type="arabicPeriod"/>
            </a:pPr>
            <a:r>
              <a:rPr lang="en-US" sz="1400" b="0" i="0" dirty="0">
                <a:solidFill>
                  <a:srgbClr val="000000"/>
                </a:solidFill>
                <a:effectLst/>
                <a:latin typeface="verdana" panose="020B0604030504040204" pitchFamily="34" charset="0"/>
              </a:rPr>
              <a:t>        *p=z;  </a:t>
            </a:r>
          </a:p>
          <a:p>
            <a:pPr algn="l">
              <a:buFont typeface="+mj-lt"/>
              <a:buAutoNum type="arabicPeriod"/>
            </a:pPr>
            <a:r>
              <a:rPr lang="en-US" sz="1400" b="0" i="0" dirty="0">
                <a:solidFill>
                  <a:srgbClr val="000000"/>
                </a:solidFill>
                <a:effectLst/>
                <a:latin typeface="verdana" panose="020B0604030504040204" pitchFamily="34" charset="0"/>
              </a:rPr>
              <a:t>    }  </a:t>
            </a:r>
          </a:p>
          <a:p>
            <a:pPr algn="l">
              <a:buFont typeface="+mj-lt"/>
              <a:buAutoNum type="arabicPeriod"/>
            </a:pPr>
            <a:r>
              <a:rPr lang="en-US" sz="1400" b="0" i="0" dirty="0">
                <a:solidFill>
                  <a:srgbClr val="000000"/>
                </a:solidFill>
                <a:effectLst/>
                <a:latin typeface="verdana" panose="020B0604030504040204" pitchFamily="34" charset="0"/>
              </a:rPr>
              <a:t>    </a:t>
            </a:r>
            <a:r>
              <a:rPr lang="en-US" sz="1400" b="1" i="0" dirty="0">
                <a:solidFill>
                  <a:srgbClr val="006699"/>
                </a:solidFill>
                <a:effectLst/>
                <a:latin typeface="verdana" panose="020B0604030504040204" pitchFamily="34" charset="0"/>
              </a:rPr>
              <a:t>void</a:t>
            </a:r>
            <a:r>
              <a:rPr lang="en-US" sz="1400" b="0" i="0" dirty="0">
                <a:solidFill>
                  <a:srgbClr val="000000"/>
                </a:solidFill>
                <a:effectLst/>
                <a:latin typeface="verdana" panose="020B0604030504040204" pitchFamily="34" charset="0"/>
              </a:rPr>
              <a:t> </a:t>
            </a:r>
            <a:r>
              <a:rPr lang="en-US" sz="1400" b="0" i="0" dirty="0" err="1">
                <a:solidFill>
                  <a:srgbClr val="000000"/>
                </a:solidFill>
                <a:effectLst/>
                <a:latin typeface="verdana" panose="020B0604030504040204" pitchFamily="34" charset="0"/>
              </a:rPr>
              <a:t>showdata</a:t>
            </a:r>
            <a:r>
              <a:rPr lang="en-US" sz="1400" b="0" i="0" dirty="0">
                <a:solidFill>
                  <a:srgbClr val="000000"/>
                </a:solidFill>
                <a:effectLst/>
                <a:latin typeface="verdana" panose="020B0604030504040204" pitchFamily="34" charset="0"/>
              </a:rPr>
              <a:t>()  </a:t>
            </a:r>
          </a:p>
          <a:p>
            <a:pPr algn="l">
              <a:buFont typeface="+mj-lt"/>
              <a:buAutoNum type="arabicPeriod"/>
            </a:pPr>
            <a:r>
              <a:rPr lang="en-US" sz="1400" b="0" i="0" dirty="0">
                <a:solidFill>
                  <a:srgbClr val="000000"/>
                </a:solidFill>
                <a:effectLst/>
                <a:latin typeface="verdana" panose="020B0604030504040204" pitchFamily="34" charset="0"/>
              </a:rPr>
              <a:t>    {  </a:t>
            </a:r>
          </a:p>
          <a:p>
            <a:pPr algn="l">
              <a:buFont typeface="+mj-lt"/>
              <a:buAutoNum type="arabicPeriod"/>
            </a:pPr>
            <a:r>
              <a:rPr lang="en-US" sz="1400" b="0" i="0" dirty="0">
                <a:solidFill>
                  <a:srgbClr val="000000"/>
                </a:solidFill>
                <a:effectLst/>
                <a:latin typeface="verdana" panose="020B0604030504040204" pitchFamily="34" charset="0"/>
              </a:rPr>
              <a:t>        </a:t>
            </a:r>
            <a:r>
              <a:rPr lang="en-US" sz="1400" b="0" i="0" dirty="0" err="1" smtClean="0">
                <a:solidFill>
                  <a:srgbClr val="000000"/>
                </a:solidFill>
                <a:effectLst/>
                <a:latin typeface="verdana" panose="020B0604030504040204" pitchFamily="34" charset="0"/>
              </a:rPr>
              <a:t>cout</a:t>
            </a:r>
            <a:r>
              <a:rPr lang="en-US" sz="1400" b="0" i="0" dirty="0">
                <a:solidFill>
                  <a:srgbClr val="000000"/>
                </a:solidFill>
                <a:effectLst/>
                <a:latin typeface="verdana" panose="020B0604030504040204" pitchFamily="34" charset="0"/>
              </a:rPr>
              <a:t> &lt;&lt; </a:t>
            </a:r>
            <a:r>
              <a:rPr lang="en-US" sz="1400" b="0" i="0" dirty="0">
                <a:solidFill>
                  <a:srgbClr val="0000FF"/>
                </a:solidFill>
                <a:effectLst/>
                <a:latin typeface="verdana" panose="020B0604030504040204" pitchFamily="34" charset="0"/>
              </a:rPr>
              <a:t>"value of a is : "</a:t>
            </a:r>
            <a:r>
              <a:rPr lang="en-US" sz="1400" b="0" i="0" dirty="0">
                <a:solidFill>
                  <a:srgbClr val="000000"/>
                </a:solidFill>
                <a:effectLst/>
                <a:latin typeface="verdana" panose="020B0604030504040204" pitchFamily="34" charset="0"/>
              </a:rPr>
              <a:t> &lt;&lt;a&lt;&lt; </a:t>
            </a:r>
            <a:r>
              <a:rPr lang="en-US" sz="1400" b="0" i="0" dirty="0" err="1" smtClean="0">
                <a:solidFill>
                  <a:srgbClr val="000000"/>
                </a:solidFill>
                <a:effectLst/>
                <a:latin typeface="verdana" panose="020B0604030504040204" pitchFamily="34" charset="0"/>
              </a:rPr>
              <a:t>endl</a:t>
            </a:r>
            <a:r>
              <a:rPr lang="en-US" sz="1400" b="0" i="0" dirty="0">
                <a:solidFill>
                  <a:srgbClr val="000000"/>
                </a:solidFill>
                <a:effectLst/>
                <a:latin typeface="verdana" panose="020B0604030504040204" pitchFamily="34" charset="0"/>
              </a:rPr>
              <a:t>;  </a:t>
            </a:r>
          </a:p>
          <a:p>
            <a:pPr algn="l">
              <a:buFont typeface="+mj-lt"/>
              <a:buAutoNum type="arabicPeriod"/>
            </a:pPr>
            <a:r>
              <a:rPr lang="en-US" sz="1400" b="0" i="0" dirty="0">
                <a:solidFill>
                  <a:srgbClr val="000000"/>
                </a:solidFill>
                <a:effectLst/>
                <a:latin typeface="verdana" panose="020B0604030504040204" pitchFamily="34" charset="0"/>
              </a:rPr>
              <a:t>        </a:t>
            </a:r>
            <a:r>
              <a:rPr lang="en-US" sz="1400" b="0" i="0" dirty="0" err="1" smtClean="0">
                <a:solidFill>
                  <a:srgbClr val="000000"/>
                </a:solidFill>
                <a:effectLst/>
                <a:latin typeface="verdana" panose="020B0604030504040204" pitchFamily="34" charset="0"/>
              </a:rPr>
              <a:t>cout</a:t>
            </a:r>
            <a:r>
              <a:rPr lang="en-US" sz="1400" b="0" i="0" dirty="0">
                <a:solidFill>
                  <a:srgbClr val="000000"/>
                </a:solidFill>
                <a:effectLst/>
                <a:latin typeface="verdana" panose="020B0604030504040204" pitchFamily="34" charset="0"/>
              </a:rPr>
              <a:t> &lt;&lt; </a:t>
            </a:r>
            <a:r>
              <a:rPr lang="en-US" sz="1400" b="0" i="0" dirty="0">
                <a:solidFill>
                  <a:srgbClr val="0000FF"/>
                </a:solidFill>
                <a:effectLst/>
                <a:latin typeface="verdana" panose="020B0604030504040204" pitchFamily="34" charset="0"/>
              </a:rPr>
              <a:t>"value of b is : "</a:t>
            </a:r>
            <a:r>
              <a:rPr lang="en-US" sz="1400" b="0" i="0" dirty="0">
                <a:solidFill>
                  <a:srgbClr val="000000"/>
                </a:solidFill>
                <a:effectLst/>
                <a:latin typeface="verdana" panose="020B0604030504040204" pitchFamily="34" charset="0"/>
              </a:rPr>
              <a:t> &lt;&lt;b&lt;&lt; </a:t>
            </a:r>
            <a:r>
              <a:rPr lang="en-US" sz="1400" b="0" i="0" dirty="0" err="1" smtClean="0">
                <a:solidFill>
                  <a:srgbClr val="000000"/>
                </a:solidFill>
                <a:effectLst/>
                <a:latin typeface="verdana" panose="020B0604030504040204" pitchFamily="34" charset="0"/>
              </a:rPr>
              <a:t>endl</a:t>
            </a:r>
            <a:r>
              <a:rPr lang="en-US" sz="1400" b="0" i="0" dirty="0">
                <a:solidFill>
                  <a:srgbClr val="000000"/>
                </a:solidFill>
                <a:effectLst/>
                <a:latin typeface="verdana" panose="020B0604030504040204" pitchFamily="34" charset="0"/>
              </a:rPr>
              <a:t>;  </a:t>
            </a:r>
          </a:p>
          <a:p>
            <a:pPr algn="l">
              <a:buFont typeface="+mj-lt"/>
              <a:buAutoNum type="arabicPeriod"/>
            </a:pPr>
            <a:r>
              <a:rPr lang="en-US" sz="1400" b="0" i="0" dirty="0">
                <a:solidFill>
                  <a:srgbClr val="000000"/>
                </a:solidFill>
                <a:effectLst/>
                <a:latin typeface="verdana" panose="020B0604030504040204" pitchFamily="34" charset="0"/>
              </a:rPr>
              <a:t>        </a:t>
            </a:r>
            <a:r>
              <a:rPr lang="en-US" sz="1400" b="0" i="0" dirty="0" err="1" smtClean="0">
                <a:solidFill>
                  <a:srgbClr val="000000"/>
                </a:solidFill>
                <a:effectLst/>
                <a:latin typeface="verdana" panose="020B0604030504040204" pitchFamily="34" charset="0"/>
              </a:rPr>
              <a:t>cout</a:t>
            </a:r>
            <a:r>
              <a:rPr lang="en-US" sz="1400" b="0" i="0" dirty="0">
                <a:solidFill>
                  <a:srgbClr val="000000"/>
                </a:solidFill>
                <a:effectLst/>
                <a:latin typeface="verdana" panose="020B0604030504040204" pitchFamily="34" charset="0"/>
              </a:rPr>
              <a:t> &lt;&lt; </a:t>
            </a:r>
            <a:r>
              <a:rPr lang="en-US" sz="1400" b="0" i="0" dirty="0">
                <a:solidFill>
                  <a:srgbClr val="0000FF"/>
                </a:solidFill>
                <a:effectLst/>
                <a:latin typeface="verdana" panose="020B0604030504040204" pitchFamily="34" charset="0"/>
              </a:rPr>
              <a:t>"value of *p is : "</a:t>
            </a:r>
            <a:r>
              <a:rPr lang="en-US" sz="1400" b="0" i="0" dirty="0">
                <a:solidFill>
                  <a:srgbClr val="000000"/>
                </a:solidFill>
                <a:effectLst/>
                <a:latin typeface="verdana" panose="020B0604030504040204" pitchFamily="34" charset="0"/>
              </a:rPr>
              <a:t> &lt;&lt;*p&lt;&lt; </a:t>
            </a:r>
            <a:r>
              <a:rPr lang="en-US" sz="1400" b="0" i="0" dirty="0" err="1" smtClean="0">
                <a:solidFill>
                  <a:srgbClr val="000000"/>
                </a:solidFill>
                <a:effectLst/>
                <a:latin typeface="verdana" panose="020B0604030504040204" pitchFamily="34" charset="0"/>
              </a:rPr>
              <a:t>endl</a:t>
            </a:r>
            <a:r>
              <a:rPr lang="en-US" sz="1400" b="0" i="0" dirty="0">
                <a:solidFill>
                  <a:srgbClr val="000000"/>
                </a:solidFill>
                <a:effectLst/>
                <a:latin typeface="verdana" panose="020B0604030504040204" pitchFamily="34" charset="0"/>
              </a:rPr>
              <a:t>;  </a:t>
            </a:r>
          </a:p>
          <a:p>
            <a:pPr algn="l">
              <a:buFont typeface="+mj-lt"/>
              <a:buAutoNum type="arabicPeriod"/>
            </a:pPr>
            <a:r>
              <a:rPr lang="en-US" sz="1400" b="0" i="0" dirty="0">
                <a:solidFill>
                  <a:srgbClr val="000000"/>
                </a:solidFill>
                <a:effectLst/>
                <a:latin typeface="verdana" panose="020B0604030504040204" pitchFamily="34" charset="0"/>
              </a:rPr>
              <a:t>    }  </a:t>
            </a:r>
          </a:p>
          <a:p>
            <a:pPr algn="l">
              <a:buFont typeface="+mj-lt"/>
              <a:buAutoNum type="arabicPeriod"/>
            </a:pPr>
            <a:r>
              <a:rPr lang="en-US" sz="1400" b="0" i="0" dirty="0">
                <a:solidFill>
                  <a:srgbClr val="000000"/>
                </a:solidFill>
                <a:effectLst/>
                <a:latin typeface="verdana" panose="020B0604030504040204" pitchFamily="34" charset="0"/>
              </a:rPr>
              <a:t>};  </a:t>
            </a:r>
          </a:p>
          <a:p>
            <a:endParaRPr lang="aa-ET" sz="1400" dirty="0"/>
          </a:p>
        </p:txBody>
      </p:sp>
      <p:pic>
        <p:nvPicPr>
          <p:cNvPr id="5" name="Picture 4">
            <a:extLst>
              <a:ext uri="{FF2B5EF4-FFF2-40B4-BE49-F238E27FC236}">
                <a16:creationId xmlns="" xmlns:a16="http://schemas.microsoft.com/office/drawing/2014/main" id="{6BB6DEC9-1FDE-456E-BAE0-0EFDDF2892C7}"/>
              </a:ext>
            </a:extLst>
          </p:cNvPr>
          <p:cNvPicPr>
            <a:picLocks noChangeAspect="1"/>
          </p:cNvPicPr>
          <p:nvPr/>
        </p:nvPicPr>
        <p:blipFill>
          <a:blip r:embed="rId2"/>
          <a:stretch>
            <a:fillRect/>
          </a:stretch>
        </p:blipFill>
        <p:spPr>
          <a:xfrm>
            <a:off x="4800600" y="990600"/>
            <a:ext cx="3600450" cy="2047875"/>
          </a:xfrm>
          <a:prstGeom prst="rect">
            <a:avLst/>
          </a:prstGeom>
        </p:spPr>
      </p:pic>
      <p:sp>
        <p:nvSpPr>
          <p:cNvPr id="4" name="Rectangle 3"/>
          <p:cNvSpPr/>
          <p:nvPr/>
        </p:nvSpPr>
        <p:spPr>
          <a:xfrm>
            <a:off x="5943600" y="4161595"/>
            <a:ext cx="30480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mj-lt"/>
              <a:buAutoNum type="arabicPeriod"/>
            </a:pPr>
            <a:r>
              <a:rPr lang="en-US" b="1" dirty="0" smtClean="0">
                <a:solidFill>
                  <a:srgbClr val="2E8B57"/>
                </a:solidFill>
                <a:latin typeface="verdana" panose="020B0604030504040204" pitchFamily="34" charset="0"/>
              </a:rPr>
              <a:t> </a:t>
            </a:r>
            <a:r>
              <a:rPr lang="en-US" b="1" dirty="0" err="1" smtClean="0">
                <a:solidFill>
                  <a:srgbClr val="2E8B57"/>
                </a:solidFill>
                <a:latin typeface="verdana" panose="020B0604030504040204" pitchFamily="34" charset="0"/>
              </a:rPr>
              <a:t>int</a:t>
            </a:r>
            <a:r>
              <a:rPr lang="en-US" dirty="0">
                <a:solidFill>
                  <a:srgbClr val="000000"/>
                </a:solidFill>
                <a:latin typeface="verdana" panose="020B0604030504040204" pitchFamily="34" charset="0"/>
              </a:rPr>
              <a:t> main()  </a:t>
            </a:r>
          </a:p>
          <a:p>
            <a:pPr>
              <a:buFont typeface="+mj-lt"/>
              <a:buAutoNum type="arabicPeriod"/>
            </a:pPr>
            <a:r>
              <a:rPr lang="en-US" dirty="0">
                <a:solidFill>
                  <a:srgbClr val="000000"/>
                </a:solidFill>
                <a:latin typeface="verdana" panose="020B0604030504040204" pitchFamily="34" charset="0"/>
              </a:rPr>
              <a:t>{  </a:t>
            </a:r>
          </a:p>
          <a:p>
            <a:pPr>
              <a:buFont typeface="+mj-lt"/>
              <a:buAutoNum type="arabicPeriod"/>
            </a:pPr>
            <a:r>
              <a:rPr lang="en-US" dirty="0">
                <a:solidFill>
                  <a:srgbClr val="000000"/>
                </a:solidFill>
                <a:latin typeface="verdana" panose="020B0604030504040204" pitchFamily="34" charset="0"/>
              </a:rPr>
              <a:t>  Demo d1;  </a:t>
            </a:r>
          </a:p>
          <a:p>
            <a:pPr>
              <a:buFont typeface="+mj-lt"/>
              <a:buAutoNum type="arabicPeriod"/>
            </a:pPr>
            <a:r>
              <a:rPr lang="en-US" dirty="0">
                <a:solidFill>
                  <a:srgbClr val="000000"/>
                </a:solidFill>
                <a:latin typeface="verdana" panose="020B0604030504040204" pitchFamily="34" charset="0"/>
              </a:rPr>
              <a:t>  d1.setdata(4,5,7);  </a:t>
            </a:r>
          </a:p>
          <a:p>
            <a:pPr>
              <a:buFont typeface="+mj-lt"/>
              <a:buAutoNum type="arabicPeriod"/>
            </a:pPr>
            <a:r>
              <a:rPr lang="en-US" dirty="0">
                <a:solidFill>
                  <a:srgbClr val="000000"/>
                </a:solidFill>
                <a:latin typeface="verdana" panose="020B0604030504040204" pitchFamily="34" charset="0"/>
              </a:rPr>
              <a:t>  Demo d2 = d1;  </a:t>
            </a:r>
          </a:p>
          <a:p>
            <a:pPr>
              <a:buFont typeface="+mj-lt"/>
              <a:buAutoNum type="arabicPeriod"/>
            </a:pPr>
            <a:r>
              <a:rPr lang="en-US" dirty="0">
                <a:solidFill>
                  <a:srgbClr val="000000"/>
                </a:solidFill>
                <a:latin typeface="verdana" panose="020B0604030504040204" pitchFamily="34" charset="0"/>
              </a:rPr>
              <a:t>  d2.showdata();  </a:t>
            </a:r>
          </a:p>
          <a:p>
            <a:pPr>
              <a:buFont typeface="+mj-lt"/>
              <a:buAutoNum type="arabicPeriod"/>
            </a:pPr>
            <a:r>
              <a:rPr lang="en-US" dirty="0">
                <a:solidFill>
                  <a:srgbClr val="000000"/>
                </a:solidFill>
                <a:latin typeface="verdana" panose="020B0604030504040204" pitchFamily="34" charset="0"/>
              </a:rPr>
              <a:t>    </a:t>
            </a:r>
            <a:r>
              <a:rPr lang="en-US" b="1" dirty="0">
                <a:solidFill>
                  <a:srgbClr val="006699"/>
                </a:solidFill>
                <a:latin typeface="verdana" panose="020B0604030504040204" pitchFamily="34" charset="0"/>
              </a:rPr>
              <a:t>return</a:t>
            </a:r>
            <a:r>
              <a:rPr lang="en-US" dirty="0">
                <a:solidFill>
                  <a:srgbClr val="000000"/>
                </a:solidFill>
                <a:latin typeface="verdana" panose="020B0604030504040204" pitchFamily="34" charset="0"/>
              </a:rPr>
              <a:t> 0;  </a:t>
            </a:r>
          </a:p>
          <a:p>
            <a:pPr>
              <a:buFont typeface="+mj-lt"/>
              <a:buAutoNum type="arabicPeriod"/>
            </a:pPr>
            <a:r>
              <a:rPr lang="en-US" dirty="0">
                <a:solidFill>
                  <a:srgbClr val="000000"/>
                </a:solidFill>
                <a:latin typeface="verdana" panose="020B0604030504040204" pitchFamily="34" charset="0"/>
              </a:rPr>
              <a:t>}  </a:t>
            </a:r>
          </a:p>
        </p:txBody>
      </p:sp>
    </p:spTree>
    <p:extLst>
      <p:ext uri="{BB962C8B-B14F-4D97-AF65-F5344CB8AC3E}">
        <p14:creationId xmlns:p14="http://schemas.microsoft.com/office/powerpoint/2010/main" val="41679680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7FC89C3-DD33-4296-81DA-699784A36158}"/>
              </a:ext>
            </a:extLst>
          </p:cNvPr>
          <p:cNvSpPr>
            <a:spLocks noGrp="1"/>
          </p:cNvSpPr>
          <p:nvPr>
            <p:ph type="title"/>
          </p:nvPr>
        </p:nvSpPr>
        <p:spPr/>
        <p:txBody>
          <a:bodyPr/>
          <a:lstStyle/>
          <a:p>
            <a:r>
              <a:rPr lang="en-US" dirty="0"/>
              <a:t>Deep Copy</a:t>
            </a:r>
            <a:endParaRPr lang="aa-ET" dirty="0"/>
          </a:p>
        </p:txBody>
      </p:sp>
      <p:sp>
        <p:nvSpPr>
          <p:cNvPr id="3" name="Content Placeholder 2">
            <a:extLst>
              <a:ext uri="{FF2B5EF4-FFF2-40B4-BE49-F238E27FC236}">
                <a16:creationId xmlns="" xmlns:a16="http://schemas.microsoft.com/office/drawing/2014/main" id="{7A105CFB-1A60-4C3E-B8FD-9472870F0BDB}"/>
              </a:ext>
            </a:extLst>
          </p:cNvPr>
          <p:cNvSpPr>
            <a:spLocks noGrp="1"/>
          </p:cNvSpPr>
          <p:nvPr>
            <p:ph idx="1"/>
          </p:nvPr>
        </p:nvSpPr>
        <p:spPr/>
        <p:txBody>
          <a:bodyPr>
            <a:noAutofit/>
          </a:bodyPr>
          <a:lstStyle/>
          <a:p>
            <a:pPr algn="l">
              <a:buFont typeface="+mj-lt"/>
              <a:buAutoNum type="arabicPeriod"/>
            </a:pPr>
            <a:r>
              <a:rPr lang="en-US" sz="1200" b="1" i="0" dirty="0">
                <a:solidFill>
                  <a:srgbClr val="006699"/>
                </a:solidFill>
                <a:effectLst/>
                <a:latin typeface="verdana" panose="020B0604030504040204" pitchFamily="34" charset="0"/>
              </a:rPr>
              <a:t>class</a:t>
            </a:r>
            <a:r>
              <a:rPr lang="en-US" sz="1200" b="0" i="0" dirty="0">
                <a:solidFill>
                  <a:srgbClr val="000000"/>
                </a:solidFill>
                <a:effectLst/>
                <a:latin typeface="verdana" panose="020B0604030504040204" pitchFamily="34" charset="0"/>
              </a:rPr>
              <a:t> Demo  </a:t>
            </a:r>
          </a:p>
          <a:p>
            <a:pPr algn="l">
              <a:buFont typeface="+mj-lt"/>
              <a:buAutoNum type="arabicPeriod"/>
            </a:pPr>
            <a:r>
              <a:rPr lang="en-US" sz="1200" b="0" i="0" dirty="0">
                <a:solidFill>
                  <a:srgbClr val="000000"/>
                </a:solidFill>
                <a:effectLst/>
                <a:latin typeface="verdana" panose="020B0604030504040204" pitchFamily="34" charset="0"/>
              </a:rPr>
              <a:t>{  </a:t>
            </a:r>
          </a:p>
          <a:p>
            <a:pPr algn="l">
              <a:buFont typeface="+mj-lt"/>
              <a:buAutoNum type="arabicPeriod"/>
            </a:pPr>
            <a:r>
              <a:rPr lang="en-US" sz="1200" b="0" i="0" dirty="0">
                <a:solidFill>
                  <a:srgbClr val="000000"/>
                </a:solidFill>
                <a:effectLst/>
                <a:latin typeface="verdana" panose="020B0604030504040204" pitchFamily="34" charset="0"/>
              </a:rPr>
              <a:t>    </a:t>
            </a:r>
            <a:r>
              <a:rPr lang="en-US" sz="1200" b="1" i="0" dirty="0">
                <a:solidFill>
                  <a:srgbClr val="006699"/>
                </a:solidFill>
                <a:effectLst/>
                <a:latin typeface="verdana" panose="020B0604030504040204" pitchFamily="34" charset="0"/>
              </a:rPr>
              <a:t>public</a:t>
            </a:r>
            <a:r>
              <a:rPr lang="en-US" sz="1200" b="0" i="0" dirty="0">
                <a:solidFill>
                  <a:srgbClr val="000000"/>
                </a:solidFill>
                <a:effectLst/>
                <a:latin typeface="verdana" panose="020B0604030504040204" pitchFamily="34" charset="0"/>
              </a:rPr>
              <a:t>:  </a:t>
            </a:r>
          </a:p>
          <a:p>
            <a:pPr algn="l">
              <a:buFont typeface="+mj-lt"/>
              <a:buAutoNum type="arabicPeriod"/>
            </a:pPr>
            <a:r>
              <a:rPr lang="en-US" sz="1200" b="0" i="0" dirty="0">
                <a:solidFill>
                  <a:srgbClr val="000000"/>
                </a:solidFill>
                <a:effectLst/>
                <a:latin typeface="verdana" panose="020B0604030504040204" pitchFamily="34" charset="0"/>
              </a:rPr>
              <a:t>    </a:t>
            </a:r>
            <a:r>
              <a:rPr lang="en-US" sz="1200" b="1" i="0" dirty="0">
                <a:solidFill>
                  <a:srgbClr val="2E8B57"/>
                </a:solidFill>
                <a:effectLst/>
                <a:latin typeface="verdana" panose="020B0604030504040204" pitchFamily="34" charset="0"/>
              </a:rPr>
              <a:t>int</a:t>
            </a:r>
            <a:r>
              <a:rPr lang="en-US" sz="1200" b="0" i="0" dirty="0">
                <a:solidFill>
                  <a:srgbClr val="000000"/>
                </a:solidFill>
                <a:effectLst/>
                <a:latin typeface="verdana" panose="020B0604030504040204" pitchFamily="34" charset="0"/>
              </a:rPr>
              <a:t> a;  </a:t>
            </a:r>
          </a:p>
          <a:p>
            <a:pPr algn="l">
              <a:buFont typeface="+mj-lt"/>
              <a:buAutoNum type="arabicPeriod"/>
            </a:pPr>
            <a:r>
              <a:rPr lang="en-US" sz="1200" b="0" i="0" dirty="0">
                <a:solidFill>
                  <a:srgbClr val="000000"/>
                </a:solidFill>
                <a:effectLst/>
                <a:latin typeface="verdana" panose="020B0604030504040204" pitchFamily="34" charset="0"/>
              </a:rPr>
              <a:t>    </a:t>
            </a:r>
            <a:r>
              <a:rPr lang="en-US" sz="1200" b="1" i="0" dirty="0">
                <a:solidFill>
                  <a:srgbClr val="2E8B57"/>
                </a:solidFill>
                <a:effectLst/>
                <a:latin typeface="verdana" panose="020B0604030504040204" pitchFamily="34" charset="0"/>
              </a:rPr>
              <a:t>int</a:t>
            </a:r>
            <a:r>
              <a:rPr lang="en-US" sz="1200" b="0" i="0" dirty="0">
                <a:solidFill>
                  <a:srgbClr val="000000"/>
                </a:solidFill>
                <a:effectLst/>
                <a:latin typeface="verdana" panose="020B0604030504040204" pitchFamily="34" charset="0"/>
              </a:rPr>
              <a:t> b;  </a:t>
            </a:r>
          </a:p>
          <a:p>
            <a:pPr algn="l">
              <a:buFont typeface="+mj-lt"/>
              <a:buAutoNum type="arabicPeriod"/>
            </a:pPr>
            <a:r>
              <a:rPr lang="en-US" sz="1200" b="0" i="0" dirty="0">
                <a:solidFill>
                  <a:srgbClr val="000000"/>
                </a:solidFill>
                <a:effectLst/>
                <a:latin typeface="verdana" panose="020B0604030504040204" pitchFamily="34" charset="0"/>
              </a:rPr>
              <a:t>    </a:t>
            </a:r>
            <a:r>
              <a:rPr lang="en-US" sz="1200" b="1" i="0" dirty="0">
                <a:solidFill>
                  <a:srgbClr val="2E8B57"/>
                </a:solidFill>
                <a:effectLst/>
                <a:latin typeface="verdana" panose="020B0604030504040204" pitchFamily="34" charset="0"/>
              </a:rPr>
              <a:t>int</a:t>
            </a:r>
            <a:r>
              <a:rPr lang="en-US" sz="1200" b="0" i="0" dirty="0">
                <a:solidFill>
                  <a:srgbClr val="000000"/>
                </a:solidFill>
                <a:effectLst/>
                <a:latin typeface="verdana" panose="020B0604030504040204" pitchFamily="34" charset="0"/>
              </a:rPr>
              <a:t> *p;  </a:t>
            </a:r>
          </a:p>
          <a:p>
            <a:pPr algn="l">
              <a:buFont typeface="+mj-lt"/>
              <a:buAutoNum type="arabicPeriod"/>
            </a:pPr>
            <a:r>
              <a:rPr lang="en-US" sz="1200" b="0" i="0" dirty="0">
                <a:solidFill>
                  <a:srgbClr val="000000"/>
                </a:solidFill>
                <a:effectLst/>
                <a:latin typeface="verdana" panose="020B0604030504040204" pitchFamily="34" charset="0"/>
              </a:rPr>
              <a:t>  </a:t>
            </a:r>
          </a:p>
          <a:p>
            <a:pPr algn="l">
              <a:buFont typeface="+mj-lt"/>
              <a:buAutoNum type="arabicPeriod"/>
            </a:pPr>
            <a:r>
              <a:rPr lang="en-US" sz="1200" b="0" i="0" dirty="0">
                <a:solidFill>
                  <a:srgbClr val="000000"/>
                </a:solidFill>
                <a:effectLst/>
                <a:latin typeface="verdana" panose="020B0604030504040204" pitchFamily="34" charset="0"/>
              </a:rPr>
              <a:t>    Demo()  </a:t>
            </a:r>
          </a:p>
          <a:p>
            <a:pPr algn="l">
              <a:buFont typeface="+mj-lt"/>
              <a:buAutoNum type="arabicPeriod"/>
            </a:pPr>
            <a:r>
              <a:rPr lang="en-US" sz="1200" b="0" i="0" dirty="0">
                <a:solidFill>
                  <a:srgbClr val="000000"/>
                </a:solidFill>
                <a:effectLst/>
                <a:latin typeface="verdana" panose="020B0604030504040204" pitchFamily="34" charset="0"/>
              </a:rPr>
              <a:t>    {  </a:t>
            </a:r>
          </a:p>
          <a:p>
            <a:pPr algn="l">
              <a:buFont typeface="+mj-lt"/>
              <a:buAutoNum type="arabicPeriod"/>
            </a:pPr>
            <a:r>
              <a:rPr lang="en-US" sz="1200" b="0" i="0" dirty="0">
                <a:solidFill>
                  <a:srgbClr val="000000"/>
                </a:solidFill>
                <a:effectLst/>
                <a:latin typeface="verdana" panose="020B0604030504040204" pitchFamily="34" charset="0"/>
              </a:rPr>
              <a:t>        p=</a:t>
            </a:r>
            <a:r>
              <a:rPr lang="en-US" sz="1200" b="1" i="0" dirty="0">
                <a:solidFill>
                  <a:srgbClr val="006699"/>
                </a:solidFill>
                <a:effectLst/>
                <a:latin typeface="verdana" panose="020B0604030504040204" pitchFamily="34" charset="0"/>
              </a:rPr>
              <a:t>new</a:t>
            </a:r>
            <a:r>
              <a:rPr lang="en-US" sz="1200" b="0" i="0" dirty="0">
                <a:solidFill>
                  <a:srgbClr val="000000"/>
                </a:solidFill>
                <a:effectLst/>
                <a:latin typeface="verdana" panose="020B0604030504040204" pitchFamily="34" charset="0"/>
              </a:rPr>
              <a:t> </a:t>
            </a:r>
            <a:r>
              <a:rPr lang="en-US" sz="1200" b="1" i="0" dirty="0">
                <a:solidFill>
                  <a:srgbClr val="2E8B57"/>
                </a:solidFill>
                <a:effectLst/>
                <a:latin typeface="verdana" panose="020B0604030504040204" pitchFamily="34" charset="0"/>
              </a:rPr>
              <a:t>int</a:t>
            </a:r>
            <a:r>
              <a:rPr lang="en-US" sz="1200" b="0" i="0" dirty="0">
                <a:solidFill>
                  <a:srgbClr val="000000"/>
                </a:solidFill>
                <a:effectLst/>
                <a:latin typeface="verdana" panose="020B0604030504040204" pitchFamily="34" charset="0"/>
              </a:rPr>
              <a:t>;  </a:t>
            </a:r>
          </a:p>
          <a:p>
            <a:pPr algn="l">
              <a:buFont typeface="+mj-lt"/>
              <a:buAutoNum type="arabicPeriod"/>
            </a:pPr>
            <a:r>
              <a:rPr lang="en-US" sz="1200" b="0" i="0" dirty="0">
                <a:solidFill>
                  <a:srgbClr val="000000"/>
                </a:solidFill>
                <a:effectLst/>
                <a:latin typeface="verdana" panose="020B0604030504040204" pitchFamily="34" charset="0"/>
              </a:rPr>
              <a:t>    }  </a:t>
            </a:r>
          </a:p>
          <a:p>
            <a:pPr algn="l">
              <a:buFont typeface="+mj-lt"/>
              <a:buAutoNum type="arabicPeriod"/>
            </a:pPr>
            <a:r>
              <a:rPr lang="en-US" sz="1200" b="0" i="0" dirty="0">
                <a:solidFill>
                  <a:srgbClr val="000000"/>
                </a:solidFill>
                <a:effectLst/>
                <a:latin typeface="verdana" panose="020B0604030504040204" pitchFamily="34" charset="0"/>
              </a:rPr>
              <a:t>    Demo(Demo &amp;d)  </a:t>
            </a:r>
          </a:p>
          <a:p>
            <a:pPr algn="l">
              <a:buFont typeface="+mj-lt"/>
              <a:buAutoNum type="arabicPeriod"/>
            </a:pPr>
            <a:r>
              <a:rPr lang="en-US" sz="1200" b="0" i="0" dirty="0">
                <a:solidFill>
                  <a:srgbClr val="000000"/>
                </a:solidFill>
                <a:effectLst/>
                <a:latin typeface="verdana" panose="020B0604030504040204" pitchFamily="34" charset="0"/>
              </a:rPr>
              <a:t>    {  </a:t>
            </a:r>
          </a:p>
          <a:p>
            <a:pPr algn="l">
              <a:buFont typeface="+mj-lt"/>
              <a:buAutoNum type="arabicPeriod"/>
            </a:pPr>
            <a:r>
              <a:rPr lang="en-US" sz="1200" b="0" i="0" dirty="0">
                <a:solidFill>
                  <a:srgbClr val="000000"/>
                </a:solidFill>
                <a:effectLst/>
                <a:latin typeface="verdana" panose="020B0604030504040204" pitchFamily="34" charset="0"/>
              </a:rPr>
              <a:t>        a = </a:t>
            </a:r>
            <a:r>
              <a:rPr lang="en-US" sz="1200" b="0" i="0" dirty="0" err="1">
                <a:solidFill>
                  <a:srgbClr val="000000"/>
                </a:solidFill>
                <a:effectLst/>
                <a:latin typeface="verdana" panose="020B0604030504040204" pitchFamily="34" charset="0"/>
              </a:rPr>
              <a:t>d.a</a:t>
            </a:r>
            <a:r>
              <a:rPr lang="en-US" sz="1200" b="0" i="0" dirty="0">
                <a:solidFill>
                  <a:srgbClr val="000000"/>
                </a:solidFill>
                <a:effectLst/>
                <a:latin typeface="verdana" panose="020B0604030504040204" pitchFamily="34" charset="0"/>
              </a:rPr>
              <a:t>;  </a:t>
            </a:r>
          </a:p>
          <a:p>
            <a:pPr algn="l">
              <a:buFont typeface="+mj-lt"/>
              <a:buAutoNum type="arabicPeriod"/>
            </a:pPr>
            <a:r>
              <a:rPr lang="en-US" sz="1200" b="0" i="0" dirty="0">
                <a:solidFill>
                  <a:srgbClr val="000000"/>
                </a:solidFill>
                <a:effectLst/>
                <a:latin typeface="verdana" panose="020B0604030504040204" pitchFamily="34" charset="0"/>
              </a:rPr>
              <a:t>        b = </a:t>
            </a:r>
            <a:r>
              <a:rPr lang="en-US" sz="1200" b="0" i="0" dirty="0" err="1">
                <a:solidFill>
                  <a:srgbClr val="000000"/>
                </a:solidFill>
                <a:effectLst/>
                <a:latin typeface="verdana" panose="020B0604030504040204" pitchFamily="34" charset="0"/>
              </a:rPr>
              <a:t>d.b</a:t>
            </a:r>
            <a:r>
              <a:rPr lang="en-US" sz="1200" b="0" i="0" dirty="0">
                <a:solidFill>
                  <a:srgbClr val="000000"/>
                </a:solidFill>
                <a:effectLst/>
                <a:latin typeface="verdana" panose="020B0604030504040204" pitchFamily="34" charset="0"/>
              </a:rPr>
              <a:t>;  </a:t>
            </a:r>
          </a:p>
          <a:p>
            <a:pPr algn="l">
              <a:buFont typeface="+mj-lt"/>
              <a:buAutoNum type="arabicPeriod"/>
            </a:pPr>
            <a:r>
              <a:rPr lang="en-US" sz="1200" b="0" i="0" dirty="0">
                <a:solidFill>
                  <a:srgbClr val="000000"/>
                </a:solidFill>
                <a:effectLst/>
                <a:latin typeface="verdana" panose="020B0604030504040204" pitchFamily="34" charset="0"/>
              </a:rPr>
              <a:t>        p = </a:t>
            </a:r>
            <a:r>
              <a:rPr lang="en-US" sz="1200" b="1" i="0" dirty="0">
                <a:solidFill>
                  <a:srgbClr val="006699"/>
                </a:solidFill>
                <a:effectLst/>
                <a:latin typeface="verdana" panose="020B0604030504040204" pitchFamily="34" charset="0"/>
              </a:rPr>
              <a:t>new</a:t>
            </a:r>
            <a:r>
              <a:rPr lang="en-US" sz="1200" b="0" i="0" dirty="0">
                <a:solidFill>
                  <a:srgbClr val="000000"/>
                </a:solidFill>
                <a:effectLst/>
                <a:latin typeface="verdana" panose="020B0604030504040204" pitchFamily="34" charset="0"/>
              </a:rPr>
              <a:t> </a:t>
            </a:r>
            <a:r>
              <a:rPr lang="en-US" sz="1200" b="1" i="0" dirty="0">
                <a:solidFill>
                  <a:srgbClr val="2E8B57"/>
                </a:solidFill>
                <a:effectLst/>
                <a:latin typeface="verdana" panose="020B0604030504040204" pitchFamily="34" charset="0"/>
              </a:rPr>
              <a:t>int</a:t>
            </a:r>
            <a:r>
              <a:rPr lang="en-US" sz="1200" b="0" i="0" dirty="0">
                <a:solidFill>
                  <a:srgbClr val="000000"/>
                </a:solidFill>
                <a:effectLst/>
                <a:latin typeface="verdana" panose="020B0604030504040204" pitchFamily="34" charset="0"/>
              </a:rPr>
              <a:t>;  </a:t>
            </a:r>
          </a:p>
          <a:p>
            <a:pPr algn="l">
              <a:buFont typeface="+mj-lt"/>
              <a:buAutoNum type="arabicPeriod"/>
            </a:pPr>
            <a:r>
              <a:rPr lang="en-US" sz="1200" b="0" i="0" dirty="0">
                <a:solidFill>
                  <a:srgbClr val="000000"/>
                </a:solidFill>
                <a:effectLst/>
                <a:latin typeface="verdana" panose="020B0604030504040204" pitchFamily="34" charset="0"/>
              </a:rPr>
              <a:t>        *p = *(</a:t>
            </a:r>
            <a:r>
              <a:rPr lang="en-US" sz="1200" b="0" i="0" dirty="0" err="1">
                <a:solidFill>
                  <a:srgbClr val="000000"/>
                </a:solidFill>
                <a:effectLst/>
                <a:latin typeface="verdana" panose="020B0604030504040204" pitchFamily="34" charset="0"/>
              </a:rPr>
              <a:t>d.p</a:t>
            </a:r>
            <a:r>
              <a:rPr lang="en-US" sz="1200" b="0" i="0" dirty="0">
                <a:solidFill>
                  <a:srgbClr val="000000"/>
                </a:solidFill>
                <a:effectLst/>
                <a:latin typeface="verdana" panose="020B0604030504040204" pitchFamily="34" charset="0"/>
              </a:rPr>
              <a:t>);  </a:t>
            </a:r>
          </a:p>
          <a:p>
            <a:pPr algn="l">
              <a:buFont typeface="+mj-lt"/>
              <a:buAutoNum type="arabicPeriod"/>
            </a:pPr>
            <a:r>
              <a:rPr lang="en-US" sz="1200" b="0" i="0" dirty="0">
                <a:solidFill>
                  <a:srgbClr val="000000"/>
                </a:solidFill>
                <a:effectLst/>
                <a:latin typeface="verdana" panose="020B0604030504040204" pitchFamily="34" charset="0"/>
              </a:rPr>
              <a:t>    }  </a:t>
            </a:r>
          </a:p>
          <a:p>
            <a:pPr algn="l">
              <a:buFont typeface="+mj-lt"/>
              <a:buAutoNum type="arabicPeriod"/>
            </a:pPr>
            <a:r>
              <a:rPr lang="en-US" sz="1200" b="0" i="0" dirty="0">
                <a:solidFill>
                  <a:srgbClr val="000000"/>
                </a:solidFill>
                <a:effectLst/>
                <a:latin typeface="verdana" panose="020B0604030504040204" pitchFamily="34" charset="0"/>
              </a:rPr>
              <a:t>    </a:t>
            </a:r>
            <a:r>
              <a:rPr lang="en-US" sz="1200" b="1" i="0" dirty="0">
                <a:solidFill>
                  <a:srgbClr val="006699"/>
                </a:solidFill>
                <a:effectLst/>
                <a:latin typeface="verdana" panose="020B0604030504040204" pitchFamily="34" charset="0"/>
              </a:rPr>
              <a:t>void</a:t>
            </a:r>
            <a:r>
              <a:rPr lang="en-US" sz="1200" b="0" i="0" dirty="0">
                <a:solidFill>
                  <a:srgbClr val="000000"/>
                </a:solidFill>
                <a:effectLst/>
                <a:latin typeface="verdana" panose="020B0604030504040204" pitchFamily="34" charset="0"/>
              </a:rPr>
              <a:t> </a:t>
            </a:r>
            <a:r>
              <a:rPr lang="en-US" sz="1200" b="0" i="0" dirty="0" err="1">
                <a:solidFill>
                  <a:srgbClr val="000000"/>
                </a:solidFill>
                <a:effectLst/>
                <a:latin typeface="verdana" panose="020B0604030504040204" pitchFamily="34" charset="0"/>
              </a:rPr>
              <a:t>setdata</a:t>
            </a:r>
            <a:r>
              <a:rPr lang="en-US" sz="1200" b="0" i="0" dirty="0">
                <a:solidFill>
                  <a:srgbClr val="000000"/>
                </a:solidFill>
                <a:effectLst/>
                <a:latin typeface="verdana" panose="020B0604030504040204" pitchFamily="34" charset="0"/>
              </a:rPr>
              <a:t>(</a:t>
            </a:r>
            <a:r>
              <a:rPr lang="en-US" sz="1200" b="1" i="0" dirty="0">
                <a:solidFill>
                  <a:srgbClr val="2E8B57"/>
                </a:solidFill>
                <a:effectLst/>
                <a:latin typeface="verdana" panose="020B0604030504040204" pitchFamily="34" charset="0"/>
              </a:rPr>
              <a:t>int</a:t>
            </a:r>
            <a:r>
              <a:rPr lang="en-US" sz="1200" b="0" i="0" dirty="0">
                <a:solidFill>
                  <a:srgbClr val="000000"/>
                </a:solidFill>
                <a:effectLst/>
                <a:latin typeface="verdana" panose="020B0604030504040204" pitchFamily="34" charset="0"/>
              </a:rPr>
              <a:t> </a:t>
            </a:r>
            <a:r>
              <a:rPr lang="en-US" sz="1200" b="0" i="0" dirty="0" err="1">
                <a:solidFill>
                  <a:srgbClr val="000000"/>
                </a:solidFill>
                <a:effectLst/>
                <a:latin typeface="verdana" panose="020B0604030504040204" pitchFamily="34" charset="0"/>
              </a:rPr>
              <a:t>x,</a:t>
            </a:r>
            <a:r>
              <a:rPr lang="en-US" sz="1200" b="1" i="0" dirty="0" err="1">
                <a:solidFill>
                  <a:srgbClr val="2E8B57"/>
                </a:solidFill>
                <a:effectLst/>
                <a:latin typeface="verdana" panose="020B0604030504040204" pitchFamily="34" charset="0"/>
              </a:rPr>
              <a:t>int</a:t>
            </a:r>
            <a:r>
              <a:rPr lang="en-US" sz="1200" b="0" i="0" dirty="0">
                <a:solidFill>
                  <a:srgbClr val="000000"/>
                </a:solidFill>
                <a:effectLst/>
                <a:latin typeface="verdana" panose="020B0604030504040204" pitchFamily="34" charset="0"/>
              </a:rPr>
              <a:t> </a:t>
            </a:r>
            <a:r>
              <a:rPr lang="en-US" sz="1200" b="0" i="0" dirty="0" err="1">
                <a:solidFill>
                  <a:srgbClr val="000000"/>
                </a:solidFill>
                <a:effectLst/>
                <a:latin typeface="verdana" panose="020B0604030504040204" pitchFamily="34" charset="0"/>
              </a:rPr>
              <a:t>y,</a:t>
            </a:r>
            <a:r>
              <a:rPr lang="en-US" sz="1200" b="1" i="0" dirty="0" err="1">
                <a:solidFill>
                  <a:srgbClr val="2E8B57"/>
                </a:solidFill>
                <a:effectLst/>
                <a:latin typeface="verdana" panose="020B0604030504040204" pitchFamily="34" charset="0"/>
              </a:rPr>
              <a:t>int</a:t>
            </a:r>
            <a:r>
              <a:rPr lang="en-US" sz="1200" b="0" i="0" dirty="0">
                <a:solidFill>
                  <a:srgbClr val="000000"/>
                </a:solidFill>
                <a:effectLst/>
                <a:latin typeface="verdana" panose="020B0604030504040204" pitchFamily="34" charset="0"/>
              </a:rPr>
              <a:t> z)  </a:t>
            </a:r>
          </a:p>
          <a:p>
            <a:pPr algn="l">
              <a:buFont typeface="+mj-lt"/>
              <a:buAutoNum type="arabicPeriod"/>
            </a:pPr>
            <a:r>
              <a:rPr lang="en-US" sz="1200" b="0" i="0" dirty="0">
                <a:solidFill>
                  <a:srgbClr val="000000"/>
                </a:solidFill>
                <a:effectLst/>
                <a:latin typeface="verdana" panose="020B0604030504040204" pitchFamily="34" charset="0"/>
              </a:rPr>
              <a:t>    {  </a:t>
            </a:r>
          </a:p>
          <a:p>
            <a:pPr algn="l">
              <a:buFont typeface="+mj-lt"/>
              <a:buAutoNum type="arabicPeriod"/>
            </a:pPr>
            <a:r>
              <a:rPr lang="en-US" sz="1200" b="0" i="0" dirty="0">
                <a:solidFill>
                  <a:srgbClr val="000000"/>
                </a:solidFill>
                <a:effectLst/>
                <a:latin typeface="verdana" panose="020B0604030504040204" pitchFamily="34" charset="0"/>
              </a:rPr>
              <a:t>        a=x;  </a:t>
            </a:r>
          </a:p>
          <a:p>
            <a:pPr algn="l">
              <a:buFont typeface="+mj-lt"/>
              <a:buAutoNum type="arabicPeriod"/>
            </a:pPr>
            <a:r>
              <a:rPr lang="en-US" sz="1200" b="0" i="0" dirty="0">
                <a:solidFill>
                  <a:srgbClr val="000000"/>
                </a:solidFill>
                <a:effectLst/>
                <a:latin typeface="verdana" panose="020B0604030504040204" pitchFamily="34" charset="0"/>
              </a:rPr>
              <a:t>        b=y;  </a:t>
            </a:r>
          </a:p>
          <a:p>
            <a:pPr algn="l">
              <a:buFont typeface="+mj-lt"/>
              <a:buAutoNum type="arabicPeriod"/>
            </a:pPr>
            <a:r>
              <a:rPr lang="en-US" sz="1200" b="0" i="0" dirty="0">
                <a:solidFill>
                  <a:srgbClr val="000000"/>
                </a:solidFill>
                <a:effectLst/>
                <a:latin typeface="verdana" panose="020B0604030504040204" pitchFamily="34" charset="0"/>
              </a:rPr>
              <a:t>        *p=z;  </a:t>
            </a:r>
          </a:p>
          <a:p>
            <a:pPr algn="l">
              <a:buFont typeface="+mj-lt"/>
              <a:buAutoNum type="arabicPeriod"/>
            </a:pPr>
            <a:r>
              <a:rPr lang="en-US" sz="1200" b="0" i="0" dirty="0">
                <a:solidFill>
                  <a:srgbClr val="000000"/>
                </a:solidFill>
                <a:effectLst/>
                <a:latin typeface="verdana" panose="020B0604030504040204" pitchFamily="34" charset="0"/>
              </a:rPr>
              <a:t>    } </a:t>
            </a:r>
            <a:endParaRPr lang="aa-ET" sz="1200" dirty="0"/>
          </a:p>
        </p:txBody>
      </p:sp>
    </p:spTree>
    <p:extLst>
      <p:ext uri="{BB962C8B-B14F-4D97-AF65-F5344CB8AC3E}">
        <p14:creationId xmlns:p14="http://schemas.microsoft.com/office/powerpoint/2010/main" val="13679230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BE8310-AB3E-4ADB-8585-A2580EA9A454}"/>
              </a:ext>
            </a:extLst>
          </p:cNvPr>
          <p:cNvSpPr>
            <a:spLocks noGrp="1"/>
          </p:cNvSpPr>
          <p:nvPr>
            <p:ph type="title"/>
          </p:nvPr>
        </p:nvSpPr>
        <p:spPr/>
        <p:txBody>
          <a:bodyPr/>
          <a:lstStyle/>
          <a:p>
            <a:r>
              <a:rPr lang="en-US" dirty="0"/>
              <a:t>Deep Copy</a:t>
            </a:r>
            <a:endParaRPr lang="aa-ET" dirty="0"/>
          </a:p>
        </p:txBody>
      </p:sp>
      <p:sp>
        <p:nvSpPr>
          <p:cNvPr id="3" name="Content Placeholder 2">
            <a:extLst>
              <a:ext uri="{FF2B5EF4-FFF2-40B4-BE49-F238E27FC236}">
                <a16:creationId xmlns="" xmlns:a16="http://schemas.microsoft.com/office/drawing/2014/main" id="{7897E0B7-D1DA-423F-A868-E101082F25AF}"/>
              </a:ext>
            </a:extLst>
          </p:cNvPr>
          <p:cNvSpPr>
            <a:spLocks noGrp="1"/>
          </p:cNvSpPr>
          <p:nvPr>
            <p:ph idx="1"/>
          </p:nvPr>
        </p:nvSpPr>
        <p:spPr/>
        <p:txBody>
          <a:bodyPr>
            <a:normAutofit fontScale="70000" lnSpcReduction="20000"/>
          </a:bodyPr>
          <a:lstStyle/>
          <a:p>
            <a:pPr algn="l">
              <a:buFont typeface="+mj-lt"/>
              <a:buAutoNum type="arabicPeriod"/>
            </a:pPr>
            <a:r>
              <a:rPr lang="en-US" sz="3200" b="0" i="0" dirty="0">
                <a:solidFill>
                  <a:srgbClr val="000000"/>
                </a:solidFill>
                <a:effectLst/>
                <a:latin typeface="verdana" panose="020B0604030504040204" pitchFamily="34" charset="0"/>
              </a:rPr>
              <a:t> </a:t>
            </a:r>
          </a:p>
          <a:p>
            <a:pPr algn="l">
              <a:buFont typeface="+mj-lt"/>
              <a:buAutoNum type="arabicPeriod"/>
            </a:pPr>
            <a:r>
              <a:rPr lang="en-US" sz="3200" b="0" i="0" dirty="0">
                <a:solidFill>
                  <a:srgbClr val="000000"/>
                </a:solidFill>
                <a:effectLst/>
                <a:latin typeface="verdana" panose="020B0604030504040204" pitchFamily="34" charset="0"/>
              </a:rPr>
              <a:t>    </a:t>
            </a:r>
            <a:r>
              <a:rPr lang="en-US" sz="3200" b="1" i="0" dirty="0">
                <a:solidFill>
                  <a:srgbClr val="006699"/>
                </a:solidFill>
                <a:effectLst/>
                <a:latin typeface="verdana" panose="020B0604030504040204" pitchFamily="34" charset="0"/>
              </a:rPr>
              <a:t>void</a:t>
            </a:r>
            <a:r>
              <a:rPr lang="en-US" sz="3200" b="0" i="0" dirty="0">
                <a:solidFill>
                  <a:srgbClr val="000000"/>
                </a:solidFill>
                <a:effectLst/>
                <a:latin typeface="verdana" panose="020B0604030504040204" pitchFamily="34" charset="0"/>
              </a:rPr>
              <a:t> </a:t>
            </a:r>
            <a:r>
              <a:rPr lang="en-US" sz="3200" b="0" i="0" dirty="0" err="1">
                <a:solidFill>
                  <a:srgbClr val="000000"/>
                </a:solidFill>
                <a:effectLst/>
                <a:latin typeface="verdana" panose="020B0604030504040204" pitchFamily="34" charset="0"/>
              </a:rPr>
              <a:t>showdata</a:t>
            </a:r>
            <a:r>
              <a:rPr lang="en-US" sz="3200" b="0" i="0" dirty="0">
                <a:solidFill>
                  <a:srgbClr val="000000"/>
                </a:solidFill>
                <a:effectLst/>
                <a:latin typeface="verdana" panose="020B0604030504040204" pitchFamily="34" charset="0"/>
              </a:rPr>
              <a:t>()  </a:t>
            </a:r>
          </a:p>
          <a:p>
            <a:pPr algn="l">
              <a:buFont typeface="+mj-lt"/>
              <a:buAutoNum type="arabicPeriod"/>
            </a:pPr>
            <a:r>
              <a:rPr lang="en-US" sz="3200" b="0" i="0" dirty="0">
                <a:solidFill>
                  <a:srgbClr val="000000"/>
                </a:solidFill>
                <a:effectLst/>
                <a:latin typeface="verdana" panose="020B0604030504040204" pitchFamily="34" charset="0"/>
              </a:rPr>
              <a:t>    {  </a:t>
            </a:r>
          </a:p>
          <a:p>
            <a:pPr algn="l">
              <a:buFont typeface="+mj-lt"/>
              <a:buAutoNum type="arabicPeriod"/>
            </a:pPr>
            <a:r>
              <a:rPr lang="en-US" sz="3200" b="0" i="0" dirty="0">
                <a:solidFill>
                  <a:srgbClr val="000000"/>
                </a:solidFill>
                <a:effectLst/>
                <a:latin typeface="verdana" panose="020B0604030504040204" pitchFamily="34" charset="0"/>
              </a:rPr>
              <a:t>        </a:t>
            </a:r>
            <a:r>
              <a:rPr lang="en-US" sz="3200" b="0" i="0" dirty="0" err="1" smtClean="0">
                <a:solidFill>
                  <a:srgbClr val="000000"/>
                </a:solidFill>
                <a:effectLst/>
                <a:latin typeface="verdana" panose="020B0604030504040204" pitchFamily="34" charset="0"/>
              </a:rPr>
              <a:t>cout</a:t>
            </a:r>
            <a:r>
              <a:rPr lang="en-US" sz="3200" b="0" i="0" dirty="0">
                <a:solidFill>
                  <a:srgbClr val="000000"/>
                </a:solidFill>
                <a:effectLst/>
                <a:latin typeface="verdana" panose="020B0604030504040204" pitchFamily="34" charset="0"/>
              </a:rPr>
              <a:t> &lt;&lt; </a:t>
            </a:r>
            <a:r>
              <a:rPr lang="en-US" sz="3200" b="0" i="0" dirty="0">
                <a:solidFill>
                  <a:srgbClr val="0000FF"/>
                </a:solidFill>
                <a:effectLst/>
                <a:latin typeface="verdana" panose="020B0604030504040204" pitchFamily="34" charset="0"/>
              </a:rPr>
              <a:t>"value of a is : "</a:t>
            </a:r>
            <a:r>
              <a:rPr lang="en-US" sz="3200" b="0" i="0" dirty="0">
                <a:solidFill>
                  <a:srgbClr val="000000"/>
                </a:solidFill>
                <a:effectLst/>
                <a:latin typeface="verdana" panose="020B0604030504040204" pitchFamily="34" charset="0"/>
              </a:rPr>
              <a:t> &lt;&lt;a&lt;&lt; </a:t>
            </a:r>
            <a:r>
              <a:rPr lang="en-US" sz="3200" b="0" i="0" dirty="0" err="1" smtClean="0">
                <a:solidFill>
                  <a:srgbClr val="000000"/>
                </a:solidFill>
                <a:effectLst/>
                <a:latin typeface="verdana" panose="020B0604030504040204" pitchFamily="34" charset="0"/>
              </a:rPr>
              <a:t>endl</a:t>
            </a:r>
            <a:r>
              <a:rPr lang="en-US" sz="3200" b="0" i="0" dirty="0">
                <a:solidFill>
                  <a:srgbClr val="000000"/>
                </a:solidFill>
                <a:effectLst/>
                <a:latin typeface="verdana" panose="020B0604030504040204" pitchFamily="34" charset="0"/>
              </a:rPr>
              <a:t>;  </a:t>
            </a:r>
          </a:p>
          <a:p>
            <a:pPr algn="l">
              <a:buFont typeface="+mj-lt"/>
              <a:buAutoNum type="arabicPeriod"/>
            </a:pPr>
            <a:r>
              <a:rPr lang="en-US" sz="3200" b="0" i="0" dirty="0">
                <a:solidFill>
                  <a:srgbClr val="000000"/>
                </a:solidFill>
                <a:effectLst/>
                <a:latin typeface="verdana" panose="020B0604030504040204" pitchFamily="34" charset="0"/>
              </a:rPr>
              <a:t>        </a:t>
            </a:r>
            <a:r>
              <a:rPr lang="en-US" sz="3200" b="0" i="0" dirty="0" err="1" smtClean="0">
                <a:solidFill>
                  <a:srgbClr val="000000"/>
                </a:solidFill>
                <a:effectLst/>
                <a:latin typeface="verdana" panose="020B0604030504040204" pitchFamily="34" charset="0"/>
              </a:rPr>
              <a:t>cout</a:t>
            </a:r>
            <a:r>
              <a:rPr lang="en-US" sz="3200" b="0" i="0" dirty="0">
                <a:solidFill>
                  <a:srgbClr val="000000"/>
                </a:solidFill>
                <a:effectLst/>
                <a:latin typeface="verdana" panose="020B0604030504040204" pitchFamily="34" charset="0"/>
              </a:rPr>
              <a:t> &lt;&lt; </a:t>
            </a:r>
            <a:r>
              <a:rPr lang="en-US" sz="3200" b="0" i="0" dirty="0">
                <a:solidFill>
                  <a:srgbClr val="0000FF"/>
                </a:solidFill>
                <a:effectLst/>
                <a:latin typeface="verdana" panose="020B0604030504040204" pitchFamily="34" charset="0"/>
              </a:rPr>
              <a:t>"value of b is : "</a:t>
            </a:r>
            <a:r>
              <a:rPr lang="en-US" sz="3200" b="0" i="0" dirty="0">
                <a:solidFill>
                  <a:srgbClr val="000000"/>
                </a:solidFill>
                <a:effectLst/>
                <a:latin typeface="verdana" panose="020B0604030504040204" pitchFamily="34" charset="0"/>
              </a:rPr>
              <a:t> &lt;&lt;b&lt;&lt; </a:t>
            </a:r>
            <a:r>
              <a:rPr lang="en-US" sz="3200" b="0" i="0" dirty="0" err="1" smtClean="0">
                <a:solidFill>
                  <a:srgbClr val="000000"/>
                </a:solidFill>
                <a:effectLst/>
                <a:latin typeface="verdana" panose="020B0604030504040204" pitchFamily="34" charset="0"/>
              </a:rPr>
              <a:t>endl</a:t>
            </a:r>
            <a:r>
              <a:rPr lang="en-US" sz="3200" b="0" i="0" dirty="0">
                <a:solidFill>
                  <a:srgbClr val="000000"/>
                </a:solidFill>
                <a:effectLst/>
                <a:latin typeface="verdana" panose="020B0604030504040204" pitchFamily="34" charset="0"/>
              </a:rPr>
              <a:t>;  </a:t>
            </a:r>
          </a:p>
          <a:p>
            <a:pPr algn="l">
              <a:buFont typeface="+mj-lt"/>
              <a:buAutoNum type="arabicPeriod"/>
            </a:pPr>
            <a:r>
              <a:rPr lang="en-US" sz="3200" b="0" i="0" dirty="0">
                <a:solidFill>
                  <a:srgbClr val="000000"/>
                </a:solidFill>
                <a:effectLst/>
                <a:latin typeface="verdana" panose="020B0604030504040204" pitchFamily="34" charset="0"/>
              </a:rPr>
              <a:t>        </a:t>
            </a:r>
            <a:r>
              <a:rPr lang="en-US" sz="3200" b="0" i="0" dirty="0" err="1" smtClean="0">
                <a:solidFill>
                  <a:srgbClr val="000000"/>
                </a:solidFill>
                <a:effectLst/>
                <a:latin typeface="verdana" panose="020B0604030504040204" pitchFamily="34" charset="0"/>
              </a:rPr>
              <a:t>cout</a:t>
            </a:r>
            <a:r>
              <a:rPr lang="en-US" sz="3200" b="0" i="0" dirty="0">
                <a:solidFill>
                  <a:srgbClr val="000000"/>
                </a:solidFill>
                <a:effectLst/>
                <a:latin typeface="verdana" panose="020B0604030504040204" pitchFamily="34" charset="0"/>
              </a:rPr>
              <a:t> &lt;&lt; </a:t>
            </a:r>
            <a:r>
              <a:rPr lang="en-US" sz="3200" b="0" i="0" dirty="0">
                <a:solidFill>
                  <a:srgbClr val="0000FF"/>
                </a:solidFill>
                <a:effectLst/>
                <a:latin typeface="verdana" panose="020B0604030504040204" pitchFamily="34" charset="0"/>
              </a:rPr>
              <a:t>"value of *p is : "</a:t>
            </a:r>
            <a:r>
              <a:rPr lang="en-US" sz="3200" b="0" i="0" dirty="0">
                <a:solidFill>
                  <a:srgbClr val="000000"/>
                </a:solidFill>
                <a:effectLst/>
                <a:latin typeface="verdana" panose="020B0604030504040204" pitchFamily="34" charset="0"/>
              </a:rPr>
              <a:t> &lt;&lt;*p&lt;&lt; </a:t>
            </a:r>
            <a:r>
              <a:rPr lang="en-US" sz="3200" b="0" i="0" dirty="0" err="1" smtClean="0">
                <a:solidFill>
                  <a:srgbClr val="000000"/>
                </a:solidFill>
                <a:effectLst/>
                <a:latin typeface="verdana" panose="020B0604030504040204" pitchFamily="34" charset="0"/>
              </a:rPr>
              <a:t>endl</a:t>
            </a:r>
            <a:r>
              <a:rPr lang="en-US" sz="3200" b="0" i="0" dirty="0">
                <a:solidFill>
                  <a:srgbClr val="000000"/>
                </a:solidFill>
                <a:effectLst/>
                <a:latin typeface="verdana" panose="020B0604030504040204" pitchFamily="34" charset="0"/>
              </a:rPr>
              <a:t>;  </a:t>
            </a:r>
          </a:p>
          <a:p>
            <a:pPr algn="l">
              <a:buFont typeface="+mj-lt"/>
              <a:buAutoNum type="arabicPeriod"/>
            </a:pPr>
            <a:r>
              <a:rPr lang="en-US" sz="3200" b="0" i="0" dirty="0">
                <a:solidFill>
                  <a:srgbClr val="000000"/>
                </a:solidFill>
                <a:effectLst/>
                <a:latin typeface="verdana" panose="020B0604030504040204" pitchFamily="34" charset="0"/>
              </a:rPr>
              <a:t>    }  </a:t>
            </a:r>
          </a:p>
          <a:p>
            <a:pPr algn="l">
              <a:buFont typeface="+mj-lt"/>
              <a:buAutoNum type="arabicPeriod"/>
            </a:pPr>
            <a:r>
              <a:rPr lang="en-US" sz="3200" b="0" i="0" dirty="0">
                <a:solidFill>
                  <a:srgbClr val="000000"/>
                </a:solidFill>
                <a:effectLst/>
                <a:latin typeface="verdana" panose="020B0604030504040204" pitchFamily="34" charset="0"/>
              </a:rPr>
              <a:t>};  </a:t>
            </a:r>
          </a:p>
          <a:p>
            <a:pPr algn="l">
              <a:buFont typeface="+mj-lt"/>
              <a:buAutoNum type="arabicPeriod"/>
            </a:pPr>
            <a:r>
              <a:rPr lang="en-US" sz="3200" b="1" i="0" dirty="0">
                <a:solidFill>
                  <a:srgbClr val="2E8B57"/>
                </a:solidFill>
                <a:effectLst/>
                <a:latin typeface="verdana" panose="020B0604030504040204" pitchFamily="34" charset="0"/>
              </a:rPr>
              <a:t>int</a:t>
            </a:r>
            <a:r>
              <a:rPr lang="en-US" sz="3200" b="0" i="0" dirty="0">
                <a:solidFill>
                  <a:srgbClr val="000000"/>
                </a:solidFill>
                <a:effectLst/>
                <a:latin typeface="verdana" panose="020B0604030504040204" pitchFamily="34" charset="0"/>
              </a:rPr>
              <a:t> main()  </a:t>
            </a:r>
          </a:p>
          <a:p>
            <a:pPr algn="l">
              <a:buFont typeface="+mj-lt"/>
              <a:buAutoNum type="arabicPeriod"/>
            </a:pPr>
            <a:r>
              <a:rPr lang="en-US" sz="3200" b="0" i="0" dirty="0">
                <a:solidFill>
                  <a:srgbClr val="000000"/>
                </a:solidFill>
                <a:effectLst/>
                <a:latin typeface="verdana" panose="020B0604030504040204" pitchFamily="34" charset="0"/>
              </a:rPr>
              <a:t>{  </a:t>
            </a:r>
          </a:p>
          <a:p>
            <a:pPr algn="l">
              <a:buFont typeface="+mj-lt"/>
              <a:buAutoNum type="arabicPeriod"/>
            </a:pPr>
            <a:r>
              <a:rPr lang="en-US" sz="3200" b="0" i="0" dirty="0">
                <a:solidFill>
                  <a:srgbClr val="000000"/>
                </a:solidFill>
                <a:effectLst/>
                <a:latin typeface="verdana" panose="020B0604030504040204" pitchFamily="34" charset="0"/>
              </a:rPr>
              <a:t>  Demo d1;  </a:t>
            </a:r>
          </a:p>
          <a:p>
            <a:pPr algn="l">
              <a:buFont typeface="+mj-lt"/>
              <a:buAutoNum type="arabicPeriod"/>
            </a:pPr>
            <a:r>
              <a:rPr lang="en-US" sz="3200" b="0" i="0" dirty="0">
                <a:solidFill>
                  <a:srgbClr val="000000"/>
                </a:solidFill>
                <a:effectLst/>
                <a:latin typeface="verdana" panose="020B0604030504040204" pitchFamily="34" charset="0"/>
              </a:rPr>
              <a:t>  d1.setdata(4,5,7);  </a:t>
            </a:r>
          </a:p>
          <a:p>
            <a:pPr algn="l">
              <a:buFont typeface="+mj-lt"/>
              <a:buAutoNum type="arabicPeriod"/>
            </a:pPr>
            <a:r>
              <a:rPr lang="en-US" sz="3200" b="0" i="0" dirty="0">
                <a:solidFill>
                  <a:srgbClr val="000000"/>
                </a:solidFill>
                <a:effectLst/>
                <a:latin typeface="verdana" panose="020B0604030504040204" pitchFamily="34" charset="0"/>
              </a:rPr>
              <a:t>  Demo d2 = d1;  </a:t>
            </a:r>
          </a:p>
          <a:p>
            <a:pPr algn="l">
              <a:buFont typeface="+mj-lt"/>
              <a:buAutoNum type="arabicPeriod"/>
            </a:pPr>
            <a:r>
              <a:rPr lang="en-US" sz="3200" b="0" i="0" dirty="0">
                <a:solidFill>
                  <a:srgbClr val="000000"/>
                </a:solidFill>
                <a:effectLst/>
                <a:latin typeface="verdana" panose="020B0604030504040204" pitchFamily="34" charset="0"/>
              </a:rPr>
              <a:t>  d2.showdata();  </a:t>
            </a:r>
          </a:p>
          <a:p>
            <a:pPr algn="l">
              <a:buFont typeface="+mj-lt"/>
              <a:buAutoNum type="arabicPeriod"/>
            </a:pPr>
            <a:r>
              <a:rPr lang="en-US" sz="3200" b="0" i="0" dirty="0">
                <a:solidFill>
                  <a:srgbClr val="000000"/>
                </a:solidFill>
                <a:effectLst/>
                <a:latin typeface="verdana" panose="020B0604030504040204" pitchFamily="34" charset="0"/>
              </a:rPr>
              <a:t>  </a:t>
            </a:r>
            <a:r>
              <a:rPr lang="en-US" sz="3200" b="1" i="0" dirty="0">
                <a:solidFill>
                  <a:srgbClr val="006699"/>
                </a:solidFill>
                <a:effectLst/>
                <a:latin typeface="verdana" panose="020B0604030504040204" pitchFamily="34" charset="0"/>
              </a:rPr>
              <a:t>return</a:t>
            </a:r>
            <a:r>
              <a:rPr lang="en-US" sz="3200" b="0" i="0" dirty="0">
                <a:solidFill>
                  <a:srgbClr val="000000"/>
                </a:solidFill>
                <a:effectLst/>
                <a:latin typeface="verdana" panose="020B0604030504040204" pitchFamily="34" charset="0"/>
              </a:rPr>
              <a:t> 0;  </a:t>
            </a:r>
          </a:p>
          <a:p>
            <a:pPr algn="l">
              <a:buFont typeface="+mj-lt"/>
              <a:buAutoNum type="arabicPeriod"/>
            </a:pPr>
            <a:r>
              <a:rPr lang="en-US" sz="3200" b="0" i="0" dirty="0">
                <a:solidFill>
                  <a:srgbClr val="000000"/>
                </a:solidFill>
                <a:effectLst/>
                <a:latin typeface="verdana" panose="020B0604030504040204" pitchFamily="34" charset="0"/>
              </a:rPr>
              <a:t>}  </a:t>
            </a:r>
          </a:p>
          <a:p>
            <a:endParaRPr lang="aa-ET" sz="3200" dirty="0"/>
          </a:p>
          <a:p>
            <a:endParaRPr lang="aa-ET" dirty="0"/>
          </a:p>
        </p:txBody>
      </p:sp>
      <p:pic>
        <p:nvPicPr>
          <p:cNvPr id="5" name="Picture 4">
            <a:extLst>
              <a:ext uri="{FF2B5EF4-FFF2-40B4-BE49-F238E27FC236}">
                <a16:creationId xmlns="" xmlns:a16="http://schemas.microsoft.com/office/drawing/2014/main" id="{B14FB926-5662-4FD4-BA62-A25E92CC6AAB}"/>
              </a:ext>
            </a:extLst>
          </p:cNvPr>
          <p:cNvPicPr>
            <a:picLocks noChangeAspect="1"/>
          </p:cNvPicPr>
          <p:nvPr/>
        </p:nvPicPr>
        <p:blipFill>
          <a:blip r:embed="rId2"/>
          <a:stretch>
            <a:fillRect/>
          </a:stretch>
        </p:blipFill>
        <p:spPr>
          <a:xfrm>
            <a:off x="4038600" y="3962400"/>
            <a:ext cx="3267075" cy="1581150"/>
          </a:xfrm>
          <a:prstGeom prst="rect">
            <a:avLst/>
          </a:prstGeom>
        </p:spPr>
      </p:pic>
    </p:spTree>
    <p:extLst>
      <p:ext uri="{BB962C8B-B14F-4D97-AF65-F5344CB8AC3E}">
        <p14:creationId xmlns:p14="http://schemas.microsoft.com/office/powerpoint/2010/main" val="22950132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BE8310-AB3E-4ADB-8585-A2580EA9A454}"/>
              </a:ext>
            </a:extLst>
          </p:cNvPr>
          <p:cNvSpPr>
            <a:spLocks noGrp="1"/>
          </p:cNvSpPr>
          <p:nvPr>
            <p:ph type="title"/>
          </p:nvPr>
        </p:nvSpPr>
        <p:spPr/>
        <p:txBody>
          <a:bodyPr/>
          <a:lstStyle/>
          <a:p>
            <a:r>
              <a:rPr lang="en-US" dirty="0"/>
              <a:t>Constant Reference Parameter</a:t>
            </a:r>
            <a:endParaRPr lang="aa-ET" dirty="0"/>
          </a:p>
        </p:txBody>
      </p:sp>
      <p:sp>
        <p:nvSpPr>
          <p:cNvPr id="3" name="Content Placeholder 2">
            <a:extLst>
              <a:ext uri="{FF2B5EF4-FFF2-40B4-BE49-F238E27FC236}">
                <a16:creationId xmlns="" xmlns:a16="http://schemas.microsoft.com/office/drawing/2014/main" id="{7897E0B7-D1DA-423F-A868-E101082F25AF}"/>
              </a:ext>
            </a:extLst>
          </p:cNvPr>
          <p:cNvSpPr>
            <a:spLocks noGrp="1"/>
          </p:cNvSpPr>
          <p:nvPr>
            <p:ph idx="1"/>
          </p:nvPr>
        </p:nvSpPr>
        <p:spPr>
          <a:xfrm>
            <a:off x="457200" y="1143000"/>
            <a:ext cx="8305800" cy="5638800"/>
          </a:xfrm>
        </p:spPr>
        <p:txBody>
          <a:bodyPr>
            <a:normAutofit/>
          </a:bodyPr>
          <a:lstStyle/>
          <a:p>
            <a:pPr marL="0" indent="0" algn="just">
              <a:buNone/>
            </a:pPr>
            <a:r>
              <a:rPr lang="en-US" dirty="0"/>
              <a:t>A constant reference parameter is a parameter passed by reference but declared as </a:t>
            </a:r>
            <a:r>
              <a:rPr lang="en-US" dirty="0" err="1"/>
              <a:t>const</a:t>
            </a:r>
            <a:r>
              <a:rPr lang="en-US" dirty="0"/>
              <a:t>, meaning it cannot be modified inside the function. This is useful when you want to avoid copying large objects but still ensure that the original object is not altered by the function.</a:t>
            </a:r>
            <a:endParaRPr lang="aa-ET" dirty="0"/>
          </a:p>
        </p:txBody>
      </p:sp>
    </p:spTree>
    <p:extLst>
      <p:ext uri="{BB962C8B-B14F-4D97-AF65-F5344CB8AC3E}">
        <p14:creationId xmlns:p14="http://schemas.microsoft.com/office/powerpoint/2010/main" val="4176752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BE8310-AB3E-4ADB-8585-A2580EA9A454}"/>
              </a:ext>
            </a:extLst>
          </p:cNvPr>
          <p:cNvSpPr>
            <a:spLocks noGrp="1"/>
          </p:cNvSpPr>
          <p:nvPr>
            <p:ph type="title"/>
          </p:nvPr>
        </p:nvSpPr>
        <p:spPr/>
        <p:txBody>
          <a:bodyPr/>
          <a:lstStyle/>
          <a:p>
            <a:r>
              <a:rPr lang="en-US" dirty="0"/>
              <a:t>Constant Reference Parameter</a:t>
            </a:r>
            <a:endParaRPr lang="aa-ET" dirty="0"/>
          </a:p>
        </p:txBody>
      </p:sp>
      <p:sp>
        <p:nvSpPr>
          <p:cNvPr id="3" name="Content Placeholder 2">
            <a:extLst>
              <a:ext uri="{FF2B5EF4-FFF2-40B4-BE49-F238E27FC236}">
                <a16:creationId xmlns="" xmlns:a16="http://schemas.microsoft.com/office/drawing/2014/main" id="{7897E0B7-D1DA-423F-A868-E101082F25AF}"/>
              </a:ext>
            </a:extLst>
          </p:cNvPr>
          <p:cNvSpPr>
            <a:spLocks noGrp="1"/>
          </p:cNvSpPr>
          <p:nvPr>
            <p:ph idx="1"/>
          </p:nvPr>
        </p:nvSpPr>
        <p:spPr>
          <a:xfrm>
            <a:off x="0" y="734912"/>
            <a:ext cx="5410200" cy="6123087"/>
          </a:xfrm>
        </p:spPr>
        <p:style>
          <a:lnRef idx="2">
            <a:schemeClr val="accent1"/>
          </a:lnRef>
          <a:fillRef idx="1">
            <a:schemeClr val="lt1"/>
          </a:fillRef>
          <a:effectRef idx="0">
            <a:schemeClr val="accent1"/>
          </a:effectRef>
          <a:fontRef idx="minor">
            <a:schemeClr val="dk1"/>
          </a:fontRef>
        </p:style>
        <p:txBody>
          <a:bodyPr>
            <a:noAutofit/>
          </a:bodyPr>
          <a:lstStyle/>
          <a:p>
            <a:pPr>
              <a:buFont typeface="+mj-lt"/>
              <a:buAutoNum type="arabicPeriod"/>
            </a:pPr>
            <a:r>
              <a:rPr lang="en-US" sz="1400" dirty="0">
                <a:solidFill>
                  <a:srgbClr val="000000"/>
                </a:solidFill>
                <a:latin typeface="verdana" panose="020B0604030504040204" pitchFamily="34" charset="0"/>
              </a:rPr>
              <a:t>#include &lt;</a:t>
            </a:r>
            <a:r>
              <a:rPr lang="en-US" sz="1400" dirty="0" err="1">
                <a:solidFill>
                  <a:srgbClr val="000000"/>
                </a:solidFill>
                <a:latin typeface="verdana" panose="020B0604030504040204" pitchFamily="34" charset="0"/>
              </a:rPr>
              <a:t>iostream</a:t>
            </a:r>
            <a:r>
              <a:rPr lang="en-US" sz="1400" dirty="0">
                <a:solidFill>
                  <a:srgbClr val="000000"/>
                </a:solidFill>
                <a:latin typeface="verdana" panose="020B0604030504040204" pitchFamily="34" charset="0"/>
              </a:rPr>
              <a:t>&gt;</a:t>
            </a:r>
          </a:p>
          <a:p>
            <a:pPr>
              <a:buFont typeface="+mj-lt"/>
              <a:buAutoNum type="arabicPeriod"/>
            </a:pPr>
            <a:r>
              <a:rPr lang="en-US" sz="1400" dirty="0">
                <a:solidFill>
                  <a:srgbClr val="000000"/>
                </a:solidFill>
                <a:latin typeface="verdana" panose="020B0604030504040204" pitchFamily="34" charset="0"/>
              </a:rPr>
              <a:t>using namespace </a:t>
            </a:r>
            <a:r>
              <a:rPr lang="en-US" sz="1400" dirty="0" err="1">
                <a:solidFill>
                  <a:srgbClr val="000000"/>
                </a:solidFill>
                <a:latin typeface="verdana" panose="020B0604030504040204" pitchFamily="34" charset="0"/>
              </a:rPr>
              <a:t>std</a:t>
            </a:r>
            <a:r>
              <a:rPr lang="en-US" sz="1400" dirty="0">
                <a:solidFill>
                  <a:srgbClr val="000000"/>
                </a:solidFill>
                <a:latin typeface="verdana" panose="020B0604030504040204" pitchFamily="34" charset="0"/>
              </a:rPr>
              <a:t>;</a:t>
            </a:r>
          </a:p>
          <a:p>
            <a:pPr>
              <a:buFont typeface="+mj-lt"/>
              <a:buAutoNum type="arabicPeriod"/>
            </a:pPr>
            <a:r>
              <a:rPr lang="en-US" sz="1400" dirty="0" smtClean="0">
                <a:solidFill>
                  <a:srgbClr val="000000"/>
                </a:solidFill>
                <a:latin typeface="verdana" panose="020B0604030504040204" pitchFamily="34" charset="0"/>
              </a:rPr>
              <a:t>class </a:t>
            </a:r>
            <a:r>
              <a:rPr lang="en-US" sz="1400" dirty="0">
                <a:solidFill>
                  <a:srgbClr val="000000"/>
                </a:solidFill>
                <a:latin typeface="verdana" panose="020B0604030504040204" pitchFamily="34" charset="0"/>
              </a:rPr>
              <a:t>Rectangle {</a:t>
            </a:r>
          </a:p>
          <a:p>
            <a:pPr>
              <a:buFont typeface="+mj-lt"/>
              <a:buAutoNum type="arabicPeriod"/>
            </a:pPr>
            <a:r>
              <a:rPr lang="en-US" sz="1400" dirty="0">
                <a:solidFill>
                  <a:srgbClr val="000000"/>
                </a:solidFill>
                <a:latin typeface="verdana" panose="020B0604030504040204" pitchFamily="34" charset="0"/>
              </a:rPr>
              <a:t>public:</a:t>
            </a:r>
          </a:p>
          <a:p>
            <a:pPr>
              <a:buFont typeface="+mj-lt"/>
              <a:buAutoNum type="arabicPeriod"/>
            </a:pPr>
            <a:r>
              <a:rPr lang="en-US" sz="1400" dirty="0">
                <a:solidFill>
                  <a:srgbClr val="000000"/>
                </a:solidFill>
                <a:latin typeface="verdana" panose="020B0604030504040204" pitchFamily="34" charset="0"/>
              </a:rPr>
              <a:t>    </a:t>
            </a:r>
            <a:r>
              <a:rPr lang="en-US" sz="1400" dirty="0" err="1">
                <a:solidFill>
                  <a:srgbClr val="000000"/>
                </a:solidFill>
                <a:latin typeface="verdana" panose="020B0604030504040204" pitchFamily="34" charset="0"/>
              </a:rPr>
              <a:t>int</a:t>
            </a:r>
            <a:r>
              <a:rPr lang="en-US" sz="1400" dirty="0">
                <a:solidFill>
                  <a:srgbClr val="000000"/>
                </a:solidFill>
                <a:latin typeface="verdana" panose="020B0604030504040204" pitchFamily="34" charset="0"/>
              </a:rPr>
              <a:t> length;</a:t>
            </a:r>
          </a:p>
          <a:p>
            <a:pPr>
              <a:buFont typeface="+mj-lt"/>
              <a:buAutoNum type="arabicPeriod"/>
            </a:pPr>
            <a:r>
              <a:rPr lang="en-US" sz="1400" dirty="0">
                <a:solidFill>
                  <a:srgbClr val="000000"/>
                </a:solidFill>
                <a:latin typeface="verdana" panose="020B0604030504040204" pitchFamily="34" charset="0"/>
              </a:rPr>
              <a:t>    </a:t>
            </a:r>
            <a:r>
              <a:rPr lang="en-US" sz="1400" dirty="0" err="1">
                <a:solidFill>
                  <a:srgbClr val="000000"/>
                </a:solidFill>
                <a:latin typeface="verdana" panose="020B0604030504040204" pitchFamily="34" charset="0"/>
              </a:rPr>
              <a:t>int</a:t>
            </a:r>
            <a:r>
              <a:rPr lang="en-US" sz="1400" dirty="0">
                <a:solidFill>
                  <a:srgbClr val="000000"/>
                </a:solidFill>
                <a:latin typeface="verdana" panose="020B0604030504040204" pitchFamily="34" charset="0"/>
              </a:rPr>
              <a:t> width;</a:t>
            </a:r>
          </a:p>
          <a:p>
            <a:pPr>
              <a:buFont typeface="+mj-lt"/>
              <a:buAutoNum type="arabicPeriod"/>
            </a:pPr>
            <a:r>
              <a:rPr lang="en-US" sz="1400" dirty="0" smtClean="0">
                <a:solidFill>
                  <a:srgbClr val="000000"/>
                </a:solidFill>
                <a:latin typeface="verdana" panose="020B0604030504040204" pitchFamily="34" charset="0"/>
              </a:rPr>
              <a:t>    </a:t>
            </a:r>
            <a:endParaRPr lang="en-US" sz="1400" dirty="0">
              <a:solidFill>
                <a:srgbClr val="000000"/>
              </a:solidFill>
              <a:latin typeface="verdana" panose="020B0604030504040204" pitchFamily="34" charset="0"/>
            </a:endParaRPr>
          </a:p>
          <a:p>
            <a:pPr>
              <a:buFont typeface="+mj-lt"/>
              <a:buAutoNum type="arabicPeriod"/>
            </a:pPr>
            <a:r>
              <a:rPr lang="en-US" sz="1400" dirty="0">
                <a:solidFill>
                  <a:srgbClr val="000000"/>
                </a:solidFill>
                <a:latin typeface="verdana" panose="020B0604030504040204" pitchFamily="34" charset="0"/>
              </a:rPr>
              <a:t>    Rectangle(</a:t>
            </a:r>
            <a:r>
              <a:rPr lang="en-US" sz="1400" dirty="0" err="1">
                <a:solidFill>
                  <a:srgbClr val="000000"/>
                </a:solidFill>
                <a:latin typeface="verdana" panose="020B0604030504040204" pitchFamily="34" charset="0"/>
              </a:rPr>
              <a:t>int</a:t>
            </a:r>
            <a:r>
              <a:rPr lang="en-US" sz="1400" dirty="0">
                <a:solidFill>
                  <a:srgbClr val="000000"/>
                </a:solidFill>
                <a:latin typeface="verdana" panose="020B0604030504040204" pitchFamily="34" charset="0"/>
              </a:rPr>
              <a:t> l, </a:t>
            </a:r>
            <a:r>
              <a:rPr lang="en-US" sz="1400" dirty="0" err="1">
                <a:solidFill>
                  <a:srgbClr val="000000"/>
                </a:solidFill>
                <a:latin typeface="verdana" panose="020B0604030504040204" pitchFamily="34" charset="0"/>
              </a:rPr>
              <a:t>int</a:t>
            </a:r>
            <a:r>
              <a:rPr lang="en-US" sz="1400" dirty="0">
                <a:solidFill>
                  <a:srgbClr val="000000"/>
                </a:solidFill>
                <a:latin typeface="verdana" panose="020B0604030504040204" pitchFamily="34" charset="0"/>
              </a:rPr>
              <a:t> w) : length(l), width(w) {}</a:t>
            </a:r>
          </a:p>
          <a:p>
            <a:pPr>
              <a:buFont typeface="+mj-lt"/>
              <a:buAutoNum type="arabicPeriod"/>
            </a:pPr>
            <a:r>
              <a:rPr lang="en-US" sz="1400" dirty="0" smtClean="0">
                <a:solidFill>
                  <a:srgbClr val="000000"/>
                </a:solidFill>
                <a:latin typeface="verdana" panose="020B0604030504040204" pitchFamily="34" charset="0"/>
              </a:rPr>
              <a:t>    </a:t>
            </a:r>
          </a:p>
          <a:p>
            <a:pPr>
              <a:buFont typeface="+mj-lt"/>
              <a:buAutoNum type="arabicPeriod"/>
            </a:pPr>
            <a:r>
              <a:rPr lang="en-US" sz="1400" dirty="0" smtClean="0">
                <a:solidFill>
                  <a:srgbClr val="000000"/>
                </a:solidFill>
                <a:latin typeface="verdana" panose="020B0604030504040204" pitchFamily="34" charset="0"/>
              </a:rPr>
              <a:t>    void area() </a:t>
            </a:r>
            <a:r>
              <a:rPr lang="en-US" sz="1400" dirty="0" err="1" smtClean="0">
                <a:solidFill>
                  <a:srgbClr val="000000"/>
                </a:solidFill>
                <a:latin typeface="verdana" panose="020B0604030504040204" pitchFamily="34" charset="0"/>
              </a:rPr>
              <a:t>const</a:t>
            </a:r>
            <a:r>
              <a:rPr lang="en-US" sz="1400" dirty="0" smtClean="0">
                <a:solidFill>
                  <a:srgbClr val="000000"/>
                </a:solidFill>
                <a:latin typeface="verdana" panose="020B0604030504040204" pitchFamily="34" charset="0"/>
              </a:rPr>
              <a:t> {</a:t>
            </a:r>
          </a:p>
          <a:p>
            <a:pPr>
              <a:buFont typeface="+mj-lt"/>
              <a:buAutoNum type="arabicPeriod"/>
            </a:pPr>
            <a:r>
              <a:rPr lang="en-US" sz="1400" dirty="0" smtClean="0">
                <a:solidFill>
                  <a:srgbClr val="000000"/>
                </a:solidFill>
                <a:latin typeface="verdana" panose="020B0604030504040204" pitchFamily="34" charset="0"/>
              </a:rPr>
              <a:t>        </a:t>
            </a:r>
            <a:r>
              <a:rPr lang="en-US" sz="1400" dirty="0" err="1">
                <a:solidFill>
                  <a:srgbClr val="000000"/>
                </a:solidFill>
                <a:latin typeface="verdana" panose="020B0604030504040204" pitchFamily="34" charset="0"/>
              </a:rPr>
              <a:t>cout</a:t>
            </a:r>
            <a:r>
              <a:rPr lang="en-US" sz="1400" dirty="0">
                <a:solidFill>
                  <a:srgbClr val="000000"/>
                </a:solidFill>
                <a:latin typeface="verdana" panose="020B0604030504040204" pitchFamily="34" charset="0"/>
              </a:rPr>
              <a:t> &lt;&lt; "Area: " &lt;&lt; length * width &lt;&lt; </a:t>
            </a:r>
            <a:r>
              <a:rPr lang="en-US" sz="1400" dirty="0" err="1">
                <a:solidFill>
                  <a:srgbClr val="000000"/>
                </a:solidFill>
                <a:latin typeface="verdana" panose="020B0604030504040204" pitchFamily="34" charset="0"/>
              </a:rPr>
              <a:t>endl</a:t>
            </a:r>
            <a:r>
              <a:rPr lang="en-US" sz="1400" dirty="0">
                <a:solidFill>
                  <a:srgbClr val="000000"/>
                </a:solidFill>
                <a:latin typeface="verdana" panose="020B0604030504040204" pitchFamily="34" charset="0"/>
              </a:rPr>
              <a:t>;</a:t>
            </a:r>
          </a:p>
          <a:p>
            <a:pPr>
              <a:buFont typeface="+mj-lt"/>
              <a:buAutoNum type="arabicPeriod"/>
            </a:pPr>
            <a:r>
              <a:rPr lang="en-US" sz="1400" dirty="0">
                <a:solidFill>
                  <a:srgbClr val="000000"/>
                </a:solidFill>
                <a:latin typeface="verdana" panose="020B0604030504040204" pitchFamily="34" charset="0"/>
              </a:rPr>
              <a:t>    }</a:t>
            </a:r>
          </a:p>
          <a:p>
            <a:pPr>
              <a:buFont typeface="+mj-lt"/>
              <a:buAutoNum type="arabicPeriod"/>
            </a:pPr>
            <a:endParaRPr lang="en-US" sz="1400" dirty="0">
              <a:solidFill>
                <a:srgbClr val="000000"/>
              </a:solidFill>
              <a:latin typeface="verdana" panose="020B0604030504040204" pitchFamily="34" charset="0"/>
            </a:endParaRPr>
          </a:p>
          <a:p>
            <a:pPr>
              <a:buFont typeface="+mj-lt"/>
              <a:buAutoNum type="arabicPeriod"/>
            </a:pPr>
            <a:r>
              <a:rPr lang="en-US" sz="1400" dirty="0">
                <a:solidFill>
                  <a:srgbClr val="000000"/>
                </a:solidFill>
                <a:latin typeface="verdana" panose="020B0604030504040204" pitchFamily="34" charset="0"/>
              </a:rPr>
              <a:t>    </a:t>
            </a:r>
            <a:r>
              <a:rPr lang="en-US" sz="1400" dirty="0" smtClean="0">
                <a:solidFill>
                  <a:srgbClr val="000000"/>
                </a:solidFill>
                <a:latin typeface="verdana" panose="020B0604030504040204" pitchFamily="34" charset="0"/>
              </a:rPr>
              <a:t>void </a:t>
            </a:r>
            <a:r>
              <a:rPr lang="en-US" sz="1400" dirty="0">
                <a:solidFill>
                  <a:srgbClr val="000000"/>
                </a:solidFill>
                <a:latin typeface="verdana" panose="020B0604030504040204" pitchFamily="34" charset="0"/>
              </a:rPr>
              <a:t>compare(</a:t>
            </a:r>
            <a:r>
              <a:rPr lang="en-US" sz="1400" dirty="0" err="1">
                <a:solidFill>
                  <a:srgbClr val="000000"/>
                </a:solidFill>
                <a:latin typeface="verdana" panose="020B0604030504040204" pitchFamily="34" charset="0"/>
              </a:rPr>
              <a:t>const</a:t>
            </a:r>
            <a:r>
              <a:rPr lang="en-US" sz="1400" dirty="0">
                <a:solidFill>
                  <a:srgbClr val="000000"/>
                </a:solidFill>
                <a:latin typeface="verdana" panose="020B0604030504040204" pitchFamily="34" charset="0"/>
              </a:rPr>
              <a:t> Rectangle &amp;other) </a:t>
            </a:r>
            <a:r>
              <a:rPr lang="en-US" sz="1400" dirty="0" err="1">
                <a:solidFill>
                  <a:srgbClr val="000000"/>
                </a:solidFill>
                <a:latin typeface="verdana" panose="020B0604030504040204" pitchFamily="34" charset="0"/>
              </a:rPr>
              <a:t>const</a:t>
            </a:r>
            <a:r>
              <a:rPr lang="en-US" sz="1400" dirty="0">
                <a:solidFill>
                  <a:srgbClr val="000000"/>
                </a:solidFill>
                <a:latin typeface="verdana" panose="020B0604030504040204" pitchFamily="34" charset="0"/>
              </a:rPr>
              <a:t> {</a:t>
            </a:r>
          </a:p>
          <a:p>
            <a:pPr>
              <a:buFont typeface="+mj-lt"/>
              <a:buAutoNum type="arabicPeriod"/>
            </a:pPr>
            <a:r>
              <a:rPr lang="en-US" sz="1400" dirty="0">
                <a:solidFill>
                  <a:srgbClr val="000000"/>
                </a:solidFill>
                <a:latin typeface="verdana" panose="020B0604030504040204" pitchFamily="34" charset="0"/>
              </a:rPr>
              <a:t>        if (length == </a:t>
            </a:r>
            <a:r>
              <a:rPr lang="en-US" sz="1400" dirty="0" err="1">
                <a:solidFill>
                  <a:srgbClr val="000000"/>
                </a:solidFill>
                <a:latin typeface="verdana" panose="020B0604030504040204" pitchFamily="34" charset="0"/>
              </a:rPr>
              <a:t>other.length</a:t>
            </a:r>
            <a:r>
              <a:rPr lang="en-US" sz="1400" dirty="0">
                <a:solidFill>
                  <a:srgbClr val="000000"/>
                </a:solidFill>
                <a:latin typeface="verdana" panose="020B0604030504040204" pitchFamily="34" charset="0"/>
              </a:rPr>
              <a:t> &amp;&amp; width == </a:t>
            </a:r>
            <a:r>
              <a:rPr lang="en-US" sz="1400" dirty="0" err="1">
                <a:solidFill>
                  <a:srgbClr val="000000"/>
                </a:solidFill>
                <a:latin typeface="verdana" panose="020B0604030504040204" pitchFamily="34" charset="0"/>
              </a:rPr>
              <a:t>other.width</a:t>
            </a:r>
            <a:r>
              <a:rPr lang="en-US" sz="1400" dirty="0">
                <a:solidFill>
                  <a:srgbClr val="000000"/>
                </a:solidFill>
                <a:latin typeface="verdana" panose="020B0604030504040204" pitchFamily="34" charset="0"/>
              </a:rPr>
              <a:t>) {</a:t>
            </a:r>
          </a:p>
          <a:p>
            <a:pPr>
              <a:buFont typeface="+mj-lt"/>
              <a:buAutoNum type="arabicPeriod"/>
            </a:pPr>
            <a:r>
              <a:rPr lang="en-US" sz="1400" dirty="0">
                <a:solidFill>
                  <a:srgbClr val="000000"/>
                </a:solidFill>
                <a:latin typeface="verdana" panose="020B0604030504040204" pitchFamily="34" charset="0"/>
              </a:rPr>
              <a:t>            </a:t>
            </a:r>
            <a:r>
              <a:rPr lang="en-US" sz="1400" dirty="0" err="1">
                <a:solidFill>
                  <a:srgbClr val="000000"/>
                </a:solidFill>
                <a:latin typeface="verdana" panose="020B0604030504040204" pitchFamily="34" charset="0"/>
              </a:rPr>
              <a:t>cout</a:t>
            </a:r>
            <a:r>
              <a:rPr lang="en-US" sz="1400" dirty="0">
                <a:solidFill>
                  <a:srgbClr val="000000"/>
                </a:solidFill>
                <a:latin typeface="verdana" panose="020B0604030504040204" pitchFamily="34" charset="0"/>
              </a:rPr>
              <a:t> &lt;&lt; "Both rectangles are of equal size." &lt;&lt; </a:t>
            </a:r>
            <a:r>
              <a:rPr lang="en-US" sz="1400" dirty="0" err="1">
                <a:solidFill>
                  <a:srgbClr val="000000"/>
                </a:solidFill>
                <a:latin typeface="verdana" panose="020B0604030504040204" pitchFamily="34" charset="0"/>
              </a:rPr>
              <a:t>endl</a:t>
            </a:r>
            <a:r>
              <a:rPr lang="en-US" sz="1400" dirty="0">
                <a:solidFill>
                  <a:srgbClr val="000000"/>
                </a:solidFill>
                <a:latin typeface="verdana" panose="020B0604030504040204" pitchFamily="34" charset="0"/>
              </a:rPr>
              <a:t>;</a:t>
            </a:r>
          </a:p>
          <a:p>
            <a:pPr>
              <a:buFont typeface="+mj-lt"/>
              <a:buAutoNum type="arabicPeriod"/>
            </a:pPr>
            <a:r>
              <a:rPr lang="en-US" sz="1400" dirty="0">
                <a:solidFill>
                  <a:srgbClr val="000000"/>
                </a:solidFill>
                <a:latin typeface="verdana" panose="020B0604030504040204" pitchFamily="34" charset="0"/>
              </a:rPr>
              <a:t>        } else {</a:t>
            </a:r>
          </a:p>
          <a:p>
            <a:pPr>
              <a:buFont typeface="+mj-lt"/>
              <a:buAutoNum type="arabicPeriod"/>
            </a:pPr>
            <a:r>
              <a:rPr lang="en-US" sz="1400" dirty="0">
                <a:solidFill>
                  <a:srgbClr val="000000"/>
                </a:solidFill>
                <a:latin typeface="verdana" panose="020B0604030504040204" pitchFamily="34" charset="0"/>
              </a:rPr>
              <a:t>            </a:t>
            </a:r>
            <a:r>
              <a:rPr lang="en-US" sz="1400" dirty="0" err="1">
                <a:solidFill>
                  <a:srgbClr val="000000"/>
                </a:solidFill>
                <a:latin typeface="verdana" panose="020B0604030504040204" pitchFamily="34" charset="0"/>
              </a:rPr>
              <a:t>cout</a:t>
            </a:r>
            <a:r>
              <a:rPr lang="en-US" sz="1400" dirty="0">
                <a:solidFill>
                  <a:srgbClr val="000000"/>
                </a:solidFill>
                <a:latin typeface="verdana" panose="020B0604030504040204" pitchFamily="34" charset="0"/>
              </a:rPr>
              <a:t> &lt;&lt; "The rectangles are of different sizes." &lt;&lt; </a:t>
            </a:r>
            <a:r>
              <a:rPr lang="en-US" sz="1400" dirty="0" err="1">
                <a:solidFill>
                  <a:srgbClr val="000000"/>
                </a:solidFill>
                <a:latin typeface="verdana" panose="020B0604030504040204" pitchFamily="34" charset="0"/>
              </a:rPr>
              <a:t>endl</a:t>
            </a:r>
            <a:r>
              <a:rPr lang="en-US" sz="1400" dirty="0">
                <a:solidFill>
                  <a:srgbClr val="000000"/>
                </a:solidFill>
                <a:latin typeface="verdana" panose="020B0604030504040204" pitchFamily="34" charset="0"/>
              </a:rPr>
              <a:t>;</a:t>
            </a:r>
          </a:p>
          <a:p>
            <a:pPr>
              <a:buFont typeface="+mj-lt"/>
              <a:buAutoNum type="arabicPeriod"/>
            </a:pPr>
            <a:r>
              <a:rPr lang="en-US" sz="1400" dirty="0">
                <a:solidFill>
                  <a:srgbClr val="000000"/>
                </a:solidFill>
                <a:latin typeface="verdana" panose="020B0604030504040204" pitchFamily="34" charset="0"/>
              </a:rPr>
              <a:t>        }</a:t>
            </a:r>
          </a:p>
          <a:p>
            <a:pPr>
              <a:buFont typeface="+mj-lt"/>
              <a:buAutoNum type="arabicPeriod"/>
            </a:pPr>
            <a:r>
              <a:rPr lang="en-US" sz="1400" dirty="0">
                <a:solidFill>
                  <a:srgbClr val="000000"/>
                </a:solidFill>
                <a:latin typeface="verdana" panose="020B0604030504040204" pitchFamily="34" charset="0"/>
              </a:rPr>
              <a:t>    }</a:t>
            </a:r>
          </a:p>
          <a:p>
            <a:pPr>
              <a:buFont typeface="+mj-lt"/>
              <a:buAutoNum type="arabicPeriod"/>
            </a:pPr>
            <a:r>
              <a:rPr lang="en-US" sz="1400" dirty="0" smtClean="0">
                <a:solidFill>
                  <a:srgbClr val="000000"/>
                </a:solidFill>
                <a:latin typeface="verdana" panose="020B0604030504040204" pitchFamily="34" charset="0"/>
              </a:rPr>
              <a:t>};</a:t>
            </a:r>
            <a:endParaRPr lang="en-US" sz="1400" dirty="0">
              <a:solidFill>
                <a:srgbClr val="000000"/>
              </a:solidFill>
              <a:latin typeface="verdana" panose="020B0604030504040204" pitchFamily="34" charset="0"/>
            </a:endParaRPr>
          </a:p>
        </p:txBody>
      </p:sp>
      <p:sp>
        <p:nvSpPr>
          <p:cNvPr id="4" name="Rectangle 3"/>
          <p:cNvSpPr/>
          <p:nvPr/>
        </p:nvSpPr>
        <p:spPr>
          <a:xfrm>
            <a:off x="5791200" y="2895600"/>
            <a:ext cx="2971800" cy="289310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mj-lt"/>
              <a:buAutoNum type="arabicPeriod"/>
            </a:pPr>
            <a:endParaRPr lang="en-US" sz="1400" dirty="0">
              <a:solidFill>
                <a:srgbClr val="000000"/>
              </a:solidFill>
              <a:latin typeface="verdana" panose="020B0604030504040204" pitchFamily="34" charset="0"/>
            </a:endParaRPr>
          </a:p>
          <a:p>
            <a:pPr>
              <a:buFont typeface="+mj-lt"/>
              <a:buAutoNum type="arabicPeriod"/>
            </a:pPr>
            <a:endParaRPr lang="en-US" sz="1400" dirty="0">
              <a:solidFill>
                <a:srgbClr val="000000"/>
              </a:solidFill>
              <a:latin typeface="verdana" panose="020B0604030504040204" pitchFamily="34" charset="0"/>
            </a:endParaRPr>
          </a:p>
          <a:p>
            <a:pPr>
              <a:buFont typeface="+mj-lt"/>
              <a:buAutoNum type="arabicPeriod"/>
            </a:pPr>
            <a:r>
              <a:rPr lang="en-US" sz="1400" dirty="0" err="1">
                <a:solidFill>
                  <a:srgbClr val="000000"/>
                </a:solidFill>
                <a:latin typeface="verdana" panose="020B0604030504040204" pitchFamily="34" charset="0"/>
              </a:rPr>
              <a:t>int</a:t>
            </a:r>
            <a:r>
              <a:rPr lang="en-US" sz="1400" dirty="0">
                <a:solidFill>
                  <a:srgbClr val="000000"/>
                </a:solidFill>
                <a:latin typeface="verdana" panose="020B0604030504040204" pitchFamily="34" charset="0"/>
              </a:rPr>
              <a:t> main() {</a:t>
            </a:r>
          </a:p>
          <a:p>
            <a:pPr>
              <a:buFont typeface="+mj-lt"/>
              <a:buAutoNum type="arabicPeriod"/>
            </a:pPr>
            <a:r>
              <a:rPr lang="en-US" sz="1400" dirty="0">
                <a:solidFill>
                  <a:srgbClr val="000000"/>
                </a:solidFill>
                <a:latin typeface="verdana" panose="020B0604030504040204" pitchFamily="34" charset="0"/>
              </a:rPr>
              <a:t>    </a:t>
            </a:r>
            <a:r>
              <a:rPr lang="en-US" sz="1400" dirty="0" smtClean="0">
                <a:solidFill>
                  <a:srgbClr val="000000"/>
                </a:solidFill>
                <a:latin typeface="verdana" panose="020B0604030504040204" pitchFamily="34" charset="0"/>
              </a:rPr>
              <a:t>Rectangle </a:t>
            </a:r>
            <a:r>
              <a:rPr lang="en-US" sz="1400" dirty="0">
                <a:solidFill>
                  <a:srgbClr val="000000"/>
                </a:solidFill>
                <a:latin typeface="verdana" panose="020B0604030504040204" pitchFamily="34" charset="0"/>
              </a:rPr>
              <a:t>rect1(10, 5);</a:t>
            </a:r>
          </a:p>
          <a:p>
            <a:pPr>
              <a:buFont typeface="+mj-lt"/>
              <a:buAutoNum type="arabicPeriod"/>
            </a:pPr>
            <a:r>
              <a:rPr lang="en-US" sz="1400" dirty="0">
                <a:solidFill>
                  <a:srgbClr val="000000"/>
                </a:solidFill>
                <a:latin typeface="verdana" panose="020B0604030504040204" pitchFamily="34" charset="0"/>
              </a:rPr>
              <a:t>    Rectangle rect2(12, 5);</a:t>
            </a:r>
          </a:p>
          <a:p>
            <a:pPr>
              <a:buFont typeface="+mj-lt"/>
              <a:buAutoNum type="arabicPeriod"/>
            </a:pPr>
            <a:endParaRPr lang="en-US" sz="1400" dirty="0">
              <a:solidFill>
                <a:srgbClr val="000000"/>
              </a:solidFill>
              <a:latin typeface="verdana" panose="020B0604030504040204" pitchFamily="34" charset="0"/>
            </a:endParaRPr>
          </a:p>
          <a:p>
            <a:pPr>
              <a:buFont typeface="+mj-lt"/>
              <a:buAutoNum type="arabicPeriod"/>
            </a:pPr>
            <a:r>
              <a:rPr lang="en-US" sz="1400" dirty="0">
                <a:solidFill>
                  <a:srgbClr val="000000"/>
                </a:solidFill>
                <a:latin typeface="verdana" panose="020B0604030504040204" pitchFamily="34" charset="0"/>
              </a:rPr>
              <a:t>    </a:t>
            </a:r>
            <a:r>
              <a:rPr lang="en-US" sz="1400" dirty="0" smtClean="0">
                <a:solidFill>
                  <a:srgbClr val="000000"/>
                </a:solidFill>
                <a:latin typeface="verdana" panose="020B0604030504040204" pitchFamily="34" charset="0"/>
              </a:rPr>
              <a:t>rect1.compare(rect2</a:t>
            </a:r>
            <a:r>
              <a:rPr lang="en-US" sz="1400" dirty="0">
                <a:solidFill>
                  <a:srgbClr val="000000"/>
                </a:solidFill>
                <a:latin typeface="verdana" panose="020B0604030504040204" pitchFamily="34" charset="0"/>
              </a:rPr>
              <a:t>);</a:t>
            </a:r>
          </a:p>
          <a:p>
            <a:pPr>
              <a:buFont typeface="+mj-lt"/>
              <a:buAutoNum type="arabicPeriod"/>
            </a:pPr>
            <a:endParaRPr lang="en-US" sz="1400" dirty="0">
              <a:solidFill>
                <a:srgbClr val="000000"/>
              </a:solidFill>
              <a:latin typeface="verdana" panose="020B0604030504040204" pitchFamily="34" charset="0"/>
            </a:endParaRPr>
          </a:p>
          <a:p>
            <a:pPr>
              <a:buFont typeface="+mj-lt"/>
              <a:buAutoNum type="arabicPeriod"/>
            </a:pPr>
            <a:r>
              <a:rPr lang="en-US" sz="1400" dirty="0">
                <a:solidFill>
                  <a:srgbClr val="000000"/>
                </a:solidFill>
                <a:latin typeface="verdana" panose="020B0604030504040204" pitchFamily="34" charset="0"/>
              </a:rPr>
              <a:t>    rect1.area();</a:t>
            </a:r>
          </a:p>
          <a:p>
            <a:pPr>
              <a:buFont typeface="+mj-lt"/>
              <a:buAutoNum type="arabicPeriod"/>
            </a:pPr>
            <a:r>
              <a:rPr lang="en-US" sz="1400" dirty="0">
                <a:solidFill>
                  <a:srgbClr val="000000"/>
                </a:solidFill>
                <a:latin typeface="verdana" panose="020B0604030504040204" pitchFamily="34" charset="0"/>
              </a:rPr>
              <a:t>    rect2.area();</a:t>
            </a:r>
          </a:p>
          <a:p>
            <a:pPr>
              <a:buFont typeface="+mj-lt"/>
              <a:buAutoNum type="arabicPeriod"/>
            </a:pPr>
            <a:endParaRPr lang="en-US" sz="1400" dirty="0">
              <a:solidFill>
                <a:srgbClr val="000000"/>
              </a:solidFill>
              <a:latin typeface="verdana" panose="020B0604030504040204" pitchFamily="34" charset="0"/>
            </a:endParaRPr>
          </a:p>
          <a:p>
            <a:pPr>
              <a:buFont typeface="+mj-lt"/>
              <a:buAutoNum type="arabicPeriod"/>
            </a:pPr>
            <a:r>
              <a:rPr lang="en-US" sz="1400" dirty="0">
                <a:solidFill>
                  <a:srgbClr val="000000"/>
                </a:solidFill>
                <a:latin typeface="verdana" panose="020B0604030504040204" pitchFamily="34" charset="0"/>
              </a:rPr>
              <a:t>    return 0;</a:t>
            </a:r>
          </a:p>
          <a:p>
            <a:pPr>
              <a:buFont typeface="+mj-lt"/>
              <a:buAutoNum type="arabicPeriod"/>
            </a:pPr>
            <a:r>
              <a:rPr lang="en-US" sz="1400" dirty="0">
                <a:solidFill>
                  <a:srgbClr val="000000"/>
                </a:solidFill>
                <a:latin typeface="verdana" panose="020B0604030504040204" pitchFamily="34" charset="0"/>
              </a:rPr>
              <a:t>}</a:t>
            </a:r>
            <a:endParaRPr lang="en-US" sz="1400" dirty="0">
              <a:solidFill>
                <a:srgbClr val="000000"/>
              </a:solidFill>
              <a:latin typeface="verdana" panose="020B0604030504040204" pitchFamily="34" charset="0"/>
            </a:endParaRPr>
          </a:p>
        </p:txBody>
      </p:sp>
    </p:spTree>
    <p:extLst>
      <p:ext uri="{BB962C8B-B14F-4D97-AF65-F5344CB8AC3E}">
        <p14:creationId xmlns:p14="http://schemas.microsoft.com/office/powerpoint/2010/main" val="28410005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7977</TotalTime>
  <Words>548</Words>
  <Application>Microsoft Office PowerPoint</Application>
  <PresentationFormat>On-screen Show (4:3)</PresentationFormat>
  <Paragraphs>169</Paragraphs>
  <Slides>15</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MS PGothic</vt:lpstr>
      <vt:lpstr>SimSun</vt:lpstr>
      <vt:lpstr>Arial</vt:lpstr>
      <vt:lpstr>Calibri</vt:lpstr>
      <vt:lpstr>Courier New</vt:lpstr>
      <vt:lpstr>Monotype Sorts</vt:lpstr>
      <vt:lpstr>Tahoma</vt:lpstr>
      <vt:lpstr>Verdana</vt:lpstr>
      <vt:lpstr>Wingdings</vt:lpstr>
      <vt:lpstr>Office Theme</vt:lpstr>
      <vt:lpstr>Copy Constructor Shallow Copy Deep Copy</vt:lpstr>
      <vt:lpstr>Default Member-wise Assignment</vt:lpstr>
      <vt:lpstr>PowerPoint Presentation</vt:lpstr>
      <vt:lpstr>PowerPoint Presentation</vt:lpstr>
      <vt:lpstr>Default copy constructor</vt:lpstr>
      <vt:lpstr>Copy Constructor for Class Date</vt:lpstr>
      <vt:lpstr>Uses of the Copy Constructor</vt:lpstr>
      <vt:lpstr>Copy Constructor:  Defining a New Object</vt:lpstr>
      <vt:lpstr>Copy Constructor:Passing Objects by Value</vt:lpstr>
      <vt:lpstr>User-defined Copy Constructor, when required?</vt:lpstr>
      <vt:lpstr>Shallow Copy</vt:lpstr>
      <vt:lpstr>Deep Copy</vt:lpstr>
      <vt:lpstr>Deep Copy</vt:lpstr>
      <vt:lpstr>Constant Reference Parameter</vt:lpstr>
      <vt:lpstr>Constant Reference Parameter</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aleem</dc:creator>
  <cp:lastModifiedBy>Microsoft account</cp:lastModifiedBy>
  <cp:revision>564</cp:revision>
  <dcterms:created xsi:type="dcterms:W3CDTF">2012-08-28T12:59:58Z</dcterms:created>
  <dcterms:modified xsi:type="dcterms:W3CDTF">2024-10-22T07:00:39Z</dcterms:modified>
</cp:coreProperties>
</file>
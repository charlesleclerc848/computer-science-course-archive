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90" r:id="rId3"/>
  </p:sldMasterIdLst>
  <p:notesMasterIdLst>
    <p:notesMasterId r:id="rId21"/>
  </p:notesMasterIdLst>
  <p:sldIdLst>
    <p:sldId id="256" r:id="rId4"/>
    <p:sldId id="257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67" r:id="rId13"/>
    <p:sldId id="265" r:id="rId14"/>
    <p:sldId id="268" r:id="rId15"/>
    <p:sldId id="266" r:id="rId16"/>
    <p:sldId id="269" r:id="rId17"/>
    <p:sldId id="270" r:id="rId18"/>
    <p:sldId id="272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A0050-8CB3-496A-987A-415E8012CA8D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50CDC-C968-4C7E-B68C-555140277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5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50CDC-C968-4C7E-B68C-5551402777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5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2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6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1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1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300" y="1871136"/>
            <a:ext cx="5111752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300" y="3657597"/>
            <a:ext cx="5111752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5037663"/>
            <a:ext cx="673100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5037663"/>
            <a:ext cx="3910976" cy="279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8" y="5037663"/>
            <a:ext cx="413375" cy="279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59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404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752606"/>
            <a:ext cx="6119016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2" y="3846056"/>
            <a:ext cx="6119018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3710585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639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2560320"/>
            <a:ext cx="3538728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990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2658533"/>
            <a:ext cx="3538728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3243267"/>
            <a:ext cx="3538728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95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26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351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61" y="1388534"/>
            <a:ext cx="278884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2" y="982136"/>
            <a:ext cx="4102100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61" y="3031065"/>
            <a:ext cx="2788841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912533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05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883832"/>
            <a:ext cx="4681362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5" y="1041400"/>
            <a:ext cx="2297510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3255432"/>
            <a:ext cx="468136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2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4815415"/>
            <a:ext cx="7207250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1041404"/>
            <a:ext cx="7579479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5382153"/>
            <a:ext cx="7207250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6136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3" y="982132"/>
            <a:ext cx="7194549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3" y="4343404"/>
            <a:ext cx="7194549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79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10" y="3352800"/>
            <a:ext cx="66294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4343404"/>
            <a:ext cx="7207250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82787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414019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2012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3308581"/>
            <a:ext cx="720725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777381"/>
            <a:ext cx="720725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1081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2" y="982132"/>
            <a:ext cx="6972299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9312"/>
            <a:ext cx="7207251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529667"/>
            <a:ext cx="720725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510" y="8799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259926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4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7250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2" y="3630168"/>
            <a:ext cx="7207251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4470404"/>
            <a:ext cx="72072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4290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563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2421466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767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20" y="982136"/>
            <a:ext cx="1418171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51" y="982132"/>
            <a:ext cx="5574769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0181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441615-5A44-410C-89F4-7540CC2153E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77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EEEDD-194D-4DD5-937E-553FA254329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3040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2386744"/>
            <a:ext cx="67437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9082E-3C0F-48C1-AF91-E8B1B0DF5DF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72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2638044"/>
            <a:ext cx="3203828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40" y="2638044"/>
            <a:ext cx="3202685" cy="31019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7EBE2-120C-4AA5-8863-7091BC941A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7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3143250"/>
            <a:ext cx="3202686" cy="2596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9" y="3143250"/>
            <a:ext cx="3190113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40"/>
            <a:ext cx="320268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41925D-18D4-4F2E-8E4E-BFF18070A18A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95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AE92D-E9CF-4182-918D-E2DF720104D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3757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F2CF68-0C7E-4B18-A5B7-19E18E8AD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37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2243835"/>
            <a:ext cx="3364992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A25D3-A3D3-45E1-A26B-27F22D2ABE7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121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4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5" y="2243828"/>
            <a:ext cx="3371249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3" y="0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3549925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F79975-D461-46C0-9BA3-FEABCE9F60C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6236208"/>
            <a:ext cx="3843598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58356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0C275-A2B6-4458-8506-3A566F6F2D0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2474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973956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5" y="937260"/>
            <a:ext cx="4648867" cy="49834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F9B4A-C263-434F-8630-F35A9FDD4542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0B25D-0099-473B-ABA4-79E6B069A088}" type="datetimeFigureOut">
              <a:rPr lang="en-US" smtClean="0"/>
              <a:t>1/1/1980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7F464-3C72-4EED-88FA-97AD54201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982135"/>
            <a:ext cx="7200897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2" y="2556932"/>
            <a:ext cx="7200897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5969000"/>
            <a:ext cx="12001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F7D291-EDD0-4339-A28D-B16448925DBA}" type="datetimeFigureOut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2" y="5969000"/>
            <a:ext cx="547942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7" y="5969000"/>
            <a:ext cx="4070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EDBBD-7788-4B08-B20F-C062ECC8D5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7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964692"/>
            <a:ext cx="5797296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2638048"/>
            <a:ext cx="5797296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E9F8A-BBC2-4445-9A74-6C4C5980038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1/1/1980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6236208"/>
            <a:ext cx="442589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6217920"/>
            <a:ext cx="27432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1A7195-1293-4DF7-B135-6C833F8535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964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Member Function within the class &amp; outside of class</a:t>
            </a:r>
          </a:p>
          <a:p>
            <a:r>
              <a:rPr lang="en-US" dirty="0" smtClean="0"/>
              <a:t>Lecture#04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75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Defining member function outside of the class in C</a:t>
            </a:r>
            <a:r>
              <a:rPr lang="en-US" b="1" dirty="0" smtClean="0"/>
              <a:t>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associated with a class are called member functions of that class.</a:t>
            </a:r>
          </a:p>
          <a:p>
            <a:r>
              <a:rPr lang="en-US" dirty="0">
                <a:solidFill>
                  <a:srgbClr val="FF0000"/>
                </a:solidFill>
              </a:rPr>
              <a:t>Member functions must be declared inside the class but they can be defined either inside the class or outside the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ways of defining member functions of a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ways in which the member functions can be defined 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Inside the class definition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Outside the class definition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8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Defining member function inside of the class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</a:t>
            </a:r>
            <a:r>
              <a:rPr lang="en-US" dirty="0"/>
              <a:t>member function definition with declaration</a:t>
            </a:r>
            <a:r>
              <a:rPr lang="en-US" dirty="0" smtClean="0"/>
              <a:t>)</a:t>
            </a:r>
          </a:p>
          <a:p>
            <a:r>
              <a:rPr lang="en-US" dirty="0" smtClean="0"/>
              <a:t>Syntax: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352800"/>
            <a:ext cx="4733925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9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20" y="228600"/>
            <a:ext cx="5237538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33400"/>
            <a:ext cx="1828800" cy="104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1000" y="5934671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 the above example, public member functions </a:t>
            </a:r>
            <a:r>
              <a:rPr lang="en-US" b="1" dirty="0" err="1"/>
              <a:t>init_val</a:t>
            </a:r>
            <a:r>
              <a:rPr lang="en-US" b="1" dirty="0"/>
              <a:t>()</a:t>
            </a:r>
            <a:r>
              <a:rPr lang="en-US" dirty="0"/>
              <a:t> and </a:t>
            </a:r>
            <a:r>
              <a:rPr lang="en-US" b="1" dirty="0" err="1"/>
              <a:t>print_val</a:t>
            </a:r>
            <a:r>
              <a:rPr lang="en-US" b="1" dirty="0"/>
              <a:t>()</a:t>
            </a:r>
            <a:r>
              <a:rPr lang="en-US" dirty="0"/>
              <a:t> are defined inside the class </a:t>
            </a:r>
            <a:r>
              <a:rPr lang="en-US" dirty="0" smtClean="0"/>
              <a:t>definition.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77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member function outside of the class </a:t>
            </a:r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public member function can also be defined outside of the class </a:t>
            </a:r>
            <a:r>
              <a:rPr lang="en-US" dirty="0">
                <a:solidFill>
                  <a:srgbClr val="FF0000"/>
                </a:solidFill>
              </a:rPr>
              <a:t>with a special type of operator known as Scope Resolution Operator </a:t>
            </a:r>
            <a:r>
              <a:rPr lang="en-US" dirty="0" smtClean="0">
                <a:solidFill>
                  <a:srgbClr val="FF0000"/>
                </a:solidFill>
              </a:rPr>
              <a:t>represents </a:t>
            </a:r>
            <a:r>
              <a:rPr lang="en-US" dirty="0">
                <a:solidFill>
                  <a:srgbClr val="FF0000"/>
                </a:solidFill>
              </a:rPr>
              <a:t>by </a:t>
            </a:r>
            <a:r>
              <a:rPr lang="en-US" b="1" dirty="0">
                <a:solidFill>
                  <a:srgbClr val="FF0000"/>
                </a:solidFill>
              </a:rPr>
              <a:t>::</a:t>
            </a:r>
            <a:r>
              <a:rPr lang="en-US" dirty="0">
                <a:solidFill>
                  <a:srgbClr val="FF0000"/>
                </a:solidFill>
              </a:rPr>
              <a:t> (double colon</a:t>
            </a:r>
            <a:r>
              <a:rPr lang="en-US" dirty="0" smtClean="0">
                <a:solidFill>
                  <a:srgbClr val="FF0000"/>
                </a:solidFill>
              </a:rPr>
              <a:t>).</a:t>
            </a:r>
          </a:p>
          <a:p>
            <a:r>
              <a:rPr lang="en-US" dirty="0" smtClean="0"/>
              <a:t>Syntax: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38525"/>
            <a:ext cx="5029200" cy="3568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79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152399"/>
            <a:ext cx="4972997" cy="655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1000"/>
            <a:ext cx="1645104" cy="109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96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89987" cy="701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8600"/>
            <a:ext cx="222885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842387" y="2285999"/>
            <a:ext cx="40730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ibre Franklin"/>
                <a:cs typeface="Arial" pitchFamily="34" charset="0"/>
              </a:rPr>
              <a:t>Here</a:t>
            </a:r>
            <a:r>
              <a:rPr lang="en-US" dirty="0" smtClean="0">
                <a:solidFill>
                  <a:srgbClr val="333333"/>
                </a:solidFill>
                <a:latin typeface="Libre Franklin"/>
                <a:cs typeface="Arial" pitchFamily="34" charset="0"/>
              </a:rPr>
              <a:t> 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rgbClr val="BD4147"/>
                </a:solidFill>
                <a:effectLst/>
                <a:latin typeface="Monaco"/>
                <a:cs typeface="Arial" pitchFamily="34" charset="0"/>
              </a:rPr>
              <a:t>getdata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BD4147"/>
                </a:solidFill>
                <a:effectLst/>
                <a:latin typeface="Monaco"/>
                <a:cs typeface="Arial" pitchFamily="34" charset="0"/>
              </a:rPr>
              <a:t>()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ibre Franklin"/>
                <a:cs typeface="Arial" pitchFamily="34" charset="0"/>
              </a:rPr>
              <a:t> and </a:t>
            </a:r>
            <a:r>
              <a:rPr kumimoji="0" lang="en-US" sz="1200" b="0" i="0" u="none" strike="noStrike" cap="none" normalizeH="0" baseline="0" dirty="0" err="1" smtClean="0">
                <a:ln>
                  <a:noFill/>
                </a:ln>
                <a:solidFill>
                  <a:srgbClr val="BD4147"/>
                </a:solidFill>
                <a:effectLst/>
                <a:latin typeface="Monaco"/>
                <a:cs typeface="Arial" pitchFamily="34" charset="0"/>
              </a:rPr>
              <a:t>showdata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BD4147"/>
                </a:solidFill>
                <a:effectLst/>
                <a:latin typeface="Monaco"/>
                <a:cs typeface="Arial" pitchFamily="34" charset="0"/>
              </a:rPr>
              <a:t>()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ibre Franklin"/>
                <a:cs typeface="Arial" pitchFamily="34" charset="0"/>
              </a:rPr>
              <a:t> are the member function defined inside the class</a:t>
            </a: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4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Repeat the previous example for defining member function outside of the class.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79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We’ve seen several examples of </a:t>
            </a:r>
            <a:r>
              <a:rPr lang="en-US" dirty="0" err="1">
                <a:solidFill>
                  <a:srgbClr val="FF0000"/>
                </a:solidFill>
              </a:rPr>
              <a:t>const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used on normal variables to prevent them from </a:t>
            </a:r>
            <a:r>
              <a:rPr lang="en-US" dirty="0" smtClean="0"/>
              <a:t>being  modified.</a:t>
            </a:r>
          </a:p>
          <a:p>
            <a:r>
              <a:rPr lang="en-US" dirty="0" err="1"/>
              <a:t>const</a:t>
            </a:r>
            <a:r>
              <a:rPr lang="en-US" dirty="0"/>
              <a:t> can be used with function arguments to keep </a:t>
            </a:r>
            <a:r>
              <a:rPr lang="en-US" dirty="0" smtClean="0"/>
              <a:t>a function </a:t>
            </a:r>
            <a:r>
              <a:rPr lang="en-US" dirty="0"/>
              <a:t>from modifying a variable passed to it by reference</a:t>
            </a:r>
            <a:r>
              <a:rPr lang="en-US" dirty="0" smtClean="0"/>
              <a:t>.</a:t>
            </a:r>
          </a:p>
          <a:p>
            <a:r>
              <a:rPr lang="en-US" dirty="0"/>
              <a:t>Now that we know about </a:t>
            </a:r>
            <a:r>
              <a:rPr lang="en-US" dirty="0" smtClean="0"/>
              <a:t>classes, we </a:t>
            </a:r>
            <a:r>
              <a:rPr lang="en-US" dirty="0"/>
              <a:t>can introduce some other uses of </a:t>
            </a:r>
            <a:r>
              <a:rPr lang="en-US" dirty="0" err="1"/>
              <a:t>const</a:t>
            </a:r>
            <a:r>
              <a:rPr lang="en-US" dirty="0"/>
              <a:t>: on member functions, on member function </a:t>
            </a:r>
            <a:r>
              <a:rPr lang="en-US" dirty="0" smtClean="0"/>
              <a:t>arguments, and </a:t>
            </a:r>
            <a:r>
              <a:rPr lang="en-US" dirty="0"/>
              <a:t>on </a:t>
            </a:r>
            <a:r>
              <a:rPr lang="en-US" dirty="0" smtClean="0"/>
              <a:t>objects.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8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</a:t>
            </a:r>
            <a:r>
              <a:rPr lang="en-US" b="1" dirty="0" err="1" smtClean="0"/>
              <a:t>onst</a:t>
            </a:r>
            <a:r>
              <a:rPr lang="en-US" b="1" dirty="0" smtClean="0"/>
              <a:t> </a:t>
            </a:r>
            <a:r>
              <a:rPr lang="en-US" b="1" dirty="0"/>
              <a:t>member </a:t>
            </a:r>
            <a:r>
              <a:rPr lang="en-US" b="1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Constant member functions are those functions </a:t>
            </a:r>
            <a:r>
              <a:rPr lang="en-US" dirty="0">
                <a:solidFill>
                  <a:srgbClr val="FF0000"/>
                </a:solidFill>
              </a:rPr>
              <a:t>that are denied permission to change the values of the data members of their class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A </a:t>
            </a:r>
            <a:r>
              <a:rPr lang="en-US" b="1" dirty="0" err="1">
                <a:solidFill>
                  <a:srgbClr val="FF0000"/>
                </a:solidFill>
              </a:rPr>
              <a:t>const</a:t>
            </a:r>
            <a:r>
              <a:rPr lang="en-US" b="1" dirty="0">
                <a:solidFill>
                  <a:srgbClr val="FF0000"/>
                </a:solidFill>
              </a:rPr>
              <a:t> member function guarantees that it will never modify any of its class’s member data.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To make a member function constant, the keyword </a:t>
            </a:r>
            <a:r>
              <a:rPr lang="en-US" b="1" dirty="0" err="1">
                <a:solidFill>
                  <a:srgbClr val="FF0000"/>
                </a:solidFill>
              </a:rPr>
              <a:t>const</a:t>
            </a:r>
            <a:r>
              <a:rPr lang="en-US" dirty="0"/>
              <a:t> is appended to the </a:t>
            </a:r>
            <a:r>
              <a:rPr lang="en-US" dirty="0">
                <a:solidFill>
                  <a:srgbClr val="FF0000"/>
                </a:solidFill>
              </a:rPr>
              <a:t>function prototype </a:t>
            </a:r>
            <a:r>
              <a:rPr lang="en-US" dirty="0"/>
              <a:t>and also to the </a:t>
            </a:r>
            <a:r>
              <a:rPr lang="en-US" dirty="0">
                <a:solidFill>
                  <a:srgbClr val="FF0000"/>
                </a:solidFill>
              </a:rPr>
              <a:t>function definition header</a:t>
            </a:r>
            <a:r>
              <a:rPr lang="en-US" dirty="0"/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44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const</a:t>
            </a:r>
            <a:r>
              <a:rPr lang="en-US" b="1" dirty="0" smtClean="0"/>
              <a:t> </a:t>
            </a:r>
            <a:r>
              <a:rPr lang="en-US" b="1" dirty="0"/>
              <a:t>member functions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1524000"/>
            <a:ext cx="7531147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4400" y="54102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The non-</a:t>
            </a:r>
            <a:r>
              <a:rPr lang="en-US" b="1" dirty="0" err="1"/>
              <a:t>const</a:t>
            </a:r>
            <a:r>
              <a:rPr lang="en-US" b="1" dirty="0"/>
              <a:t> function </a:t>
            </a:r>
            <a:r>
              <a:rPr lang="en-US" b="1" dirty="0" err="1">
                <a:solidFill>
                  <a:srgbClr val="FF0000"/>
                </a:solidFill>
              </a:rPr>
              <a:t>nonFunc</a:t>
            </a:r>
            <a:r>
              <a:rPr lang="en-US" b="1" dirty="0">
                <a:solidFill>
                  <a:srgbClr val="FF0000"/>
                </a:solidFill>
              </a:rPr>
              <a:t>() </a:t>
            </a:r>
            <a:r>
              <a:rPr lang="en-US" b="1" dirty="0"/>
              <a:t>can modify member data alpha, but the constant </a:t>
            </a:r>
            <a:r>
              <a:rPr lang="en-US" b="1" dirty="0" smtClean="0"/>
              <a:t>function </a:t>
            </a:r>
            <a:r>
              <a:rPr lang="en-US" b="1" dirty="0" err="1" smtClean="0">
                <a:solidFill>
                  <a:srgbClr val="FF0000"/>
                </a:solidFill>
              </a:rPr>
              <a:t>conFunc</a:t>
            </a:r>
            <a:r>
              <a:rPr lang="en-US" b="1" dirty="0">
                <a:solidFill>
                  <a:srgbClr val="FF0000"/>
                </a:solidFill>
              </a:rPr>
              <a:t>() </a:t>
            </a:r>
            <a:r>
              <a:rPr lang="en-US" b="1" dirty="0"/>
              <a:t>can’t. If it tries to, a compiler error results.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1807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const</a:t>
            </a:r>
            <a:r>
              <a:rPr lang="en-US" b="1" dirty="0" smtClean="0"/>
              <a:t> </a:t>
            </a:r>
            <a:r>
              <a:rPr lang="en-US" b="1" dirty="0"/>
              <a:t>member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is made into a constant function by placing the keyword </a:t>
            </a:r>
            <a:r>
              <a:rPr lang="en-US" dirty="0" err="1">
                <a:solidFill>
                  <a:srgbClr val="FF0000"/>
                </a:solidFill>
              </a:rPr>
              <a:t>const</a:t>
            </a:r>
            <a:r>
              <a:rPr lang="en-US" dirty="0"/>
              <a:t> after the </a:t>
            </a:r>
            <a:r>
              <a:rPr lang="en-US" dirty="0" smtClean="0"/>
              <a:t>declaration but </a:t>
            </a:r>
            <a:r>
              <a:rPr lang="en-US" dirty="0"/>
              <a:t>before the function </a:t>
            </a:r>
            <a:r>
              <a:rPr lang="en-US" dirty="0" smtClean="0"/>
              <a:t>body</a:t>
            </a:r>
          </a:p>
          <a:p>
            <a:r>
              <a:rPr lang="en-US" dirty="0">
                <a:solidFill>
                  <a:srgbClr val="FF0000"/>
                </a:solidFill>
              </a:rPr>
              <a:t>If there is a separate function declaration, </a:t>
            </a:r>
            <a:r>
              <a:rPr lang="en-US" dirty="0" err="1">
                <a:solidFill>
                  <a:srgbClr val="FF0000"/>
                </a:solidFill>
              </a:rPr>
              <a:t>const</a:t>
            </a:r>
            <a:r>
              <a:rPr lang="en-US" dirty="0">
                <a:solidFill>
                  <a:srgbClr val="FF0000"/>
                </a:solidFill>
              </a:rPr>
              <a:t> must be used </a:t>
            </a:r>
            <a:r>
              <a:rPr lang="en-US" dirty="0" smtClean="0">
                <a:solidFill>
                  <a:srgbClr val="FF0000"/>
                </a:solidFill>
              </a:rPr>
              <a:t>in both </a:t>
            </a:r>
            <a:r>
              <a:rPr lang="en-US" dirty="0">
                <a:solidFill>
                  <a:srgbClr val="FF0000"/>
                </a:solidFill>
              </a:rPr>
              <a:t>declaration and definition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Member functions that do nothing but acquire data from an </a:t>
            </a:r>
            <a:r>
              <a:rPr lang="en-US" dirty="0" smtClean="0"/>
              <a:t>object are </a:t>
            </a:r>
            <a:r>
              <a:rPr lang="en-US" dirty="0"/>
              <a:t>obvious candidates for being made </a:t>
            </a:r>
            <a:r>
              <a:rPr lang="en-US" dirty="0" err="1"/>
              <a:t>const</a:t>
            </a:r>
            <a:r>
              <a:rPr lang="en-US" dirty="0"/>
              <a:t>, because they don’t need to modify any data.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51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of </a:t>
            </a:r>
            <a:r>
              <a:rPr lang="en-US" dirty="0" err="1" smtClean="0"/>
              <a:t>const</a:t>
            </a:r>
            <a:r>
              <a:rPr lang="en-US" dirty="0" smtClean="0"/>
              <a:t> Member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Making a function </a:t>
            </a:r>
            <a:r>
              <a:rPr lang="en-US" dirty="0" err="1"/>
              <a:t>const</a:t>
            </a:r>
            <a:r>
              <a:rPr lang="en-US" dirty="0"/>
              <a:t> helps the compiler flag errors, and tells anyone looking at the </a:t>
            </a:r>
            <a:r>
              <a:rPr lang="en-US" dirty="0" smtClean="0"/>
              <a:t>listing that </a:t>
            </a:r>
            <a:r>
              <a:rPr lang="en-US" dirty="0"/>
              <a:t>you intended the function not to modify anything in its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3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</a:t>
            </a:r>
            <a:r>
              <a:rPr lang="en-US" dirty="0" err="1" smtClean="0"/>
              <a:t>onst</a:t>
            </a:r>
            <a:r>
              <a:rPr lang="en-US" dirty="0" smtClean="0"/>
              <a:t>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we’ve seen that we can apply </a:t>
            </a:r>
            <a:r>
              <a:rPr lang="en-US" dirty="0" err="1"/>
              <a:t>const</a:t>
            </a:r>
            <a:r>
              <a:rPr lang="en-US" dirty="0"/>
              <a:t> to variables of basic </a:t>
            </a:r>
            <a:r>
              <a:rPr lang="en-US" dirty="0" smtClean="0"/>
              <a:t>types such </a:t>
            </a:r>
            <a:r>
              <a:rPr lang="en-US" dirty="0"/>
              <a:t>as </a:t>
            </a:r>
            <a:r>
              <a:rPr lang="en-US" dirty="0" err="1"/>
              <a:t>int</a:t>
            </a:r>
            <a:r>
              <a:rPr lang="en-US" dirty="0"/>
              <a:t> to keep them from being modified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In a similar way, we can apply </a:t>
            </a:r>
            <a:r>
              <a:rPr lang="en-US" dirty="0" err="1">
                <a:solidFill>
                  <a:srgbClr val="FF0000"/>
                </a:solidFill>
              </a:rPr>
              <a:t>const</a:t>
            </a:r>
            <a:r>
              <a:rPr lang="en-US" dirty="0">
                <a:solidFill>
                  <a:srgbClr val="FF0000"/>
                </a:solidFill>
              </a:rPr>
              <a:t> to </a:t>
            </a:r>
            <a:r>
              <a:rPr lang="en-US" dirty="0" smtClean="0">
                <a:solidFill>
                  <a:srgbClr val="FF0000"/>
                </a:solidFill>
              </a:rPr>
              <a:t>objects of </a:t>
            </a:r>
            <a:r>
              <a:rPr lang="en-US" dirty="0">
                <a:solidFill>
                  <a:srgbClr val="FF0000"/>
                </a:solidFill>
              </a:rPr>
              <a:t>classes. </a:t>
            </a:r>
            <a:r>
              <a:rPr lang="en-US" dirty="0"/>
              <a:t>When an object is declared as </a:t>
            </a:r>
            <a:r>
              <a:rPr lang="en-US" dirty="0" err="1"/>
              <a:t>const</a:t>
            </a:r>
            <a:r>
              <a:rPr lang="en-US" dirty="0"/>
              <a:t>, you can’t modify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It follows that you </a:t>
            </a:r>
            <a:r>
              <a:rPr lang="en-US" dirty="0" smtClean="0">
                <a:solidFill>
                  <a:srgbClr val="FF0000"/>
                </a:solidFill>
              </a:rPr>
              <a:t>can use </a:t>
            </a:r>
            <a:r>
              <a:rPr lang="en-US" dirty="0">
                <a:solidFill>
                  <a:srgbClr val="FF0000"/>
                </a:solidFill>
              </a:rPr>
              <a:t>only </a:t>
            </a:r>
            <a:r>
              <a:rPr lang="en-US" dirty="0" err="1">
                <a:solidFill>
                  <a:srgbClr val="FF0000"/>
                </a:solidFill>
              </a:rPr>
              <a:t>const</a:t>
            </a:r>
            <a:r>
              <a:rPr lang="en-US" dirty="0">
                <a:solidFill>
                  <a:srgbClr val="FF0000"/>
                </a:solidFill>
              </a:rPr>
              <a:t> member functions with it, because they’re the only ones that guarantee not </a:t>
            </a:r>
            <a:r>
              <a:rPr lang="en-US" dirty="0" smtClean="0">
                <a:solidFill>
                  <a:srgbClr val="FF0000"/>
                </a:solidFill>
              </a:rPr>
              <a:t>to modify </a:t>
            </a:r>
            <a:r>
              <a:rPr lang="en-US" dirty="0">
                <a:solidFill>
                  <a:srgbClr val="FF0000"/>
                </a:solidFill>
              </a:rPr>
              <a:t>it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We will discuss it later discussion of constructor.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124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as a function 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 can be passed as a function argument and can be return from function.</a:t>
            </a:r>
          </a:p>
          <a:p>
            <a:r>
              <a:rPr lang="en-US" dirty="0" smtClean="0"/>
              <a:t>See next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45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10886"/>
            <a:ext cx="3886201" cy="4200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178756"/>
            <a:ext cx="6324600" cy="235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01097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273</TotalTime>
  <Words>546</Words>
  <Application>Microsoft Office PowerPoint</Application>
  <PresentationFormat>On-screen Show (4:3)</PresentationFormat>
  <Paragraphs>45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Theme3</vt:lpstr>
      <vt:lpstr>Organic</vt:lpstr>
      <vt:lpstr>Parcel</vt:lpstr>
      <vt:lpstr>Object Oriented Programming</vt:lpstr>
      <vt:lpstr>Defining member function outside of the class in C++</vt:lpstr>
      <vt:lpstr>Different ways of defining member functions of a class</vt:lpstr>
      <vt:lpstr>Defining member function inside of the class definition</vt:lpstr>
      <vt:lpstr>PowerPoint Presentation</vt:lpstr>
      <vt:lpstr>Defining member function outside of the class definition</vt:lpstr>
      <vt:lpstr>PowerPoint Presentation</vt:lpstr>
      <vt:lpstr>PowerPoint Presentation</vt:lpstr>
      <vt:lpstr>Class Activity</vt:lpstr>
      <vt:lpstr>const</vt:lpstr>
      <vt:lpstr>const member functions</vt:lpstr>
      <vt:lpstr>const member functions</vt:lpstr>
      <vt:lpstr>const member functions</vt:lpstr>
      <vt:lpstr>Use of const Member function</vt:lpstr>
      <vt:lpstr>const object</vt:lpstr>
      <vt:lpstr>Object as a function Argument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Cyber World</dc:creator>
  <cp:lastModifiedBy>Cyber World</cp:lastModifiedBy>
  <cp:revision>30</cp:revision>
  <dcterms:created xsi:type="dcterms:W3CDTF">2024-02-14T04:59:01Z</dcterms:created>
  <dcterms:modified xsi:type="dcterms:W3CDTF">1979-12-31T21:24:11Z</dcterms:modified>
</cp:coreProperties>
</file>
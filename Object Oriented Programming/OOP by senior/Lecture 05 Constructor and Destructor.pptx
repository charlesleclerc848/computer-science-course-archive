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  <p:sldMasterId id="2147483684" r:id="rId3"/>
  </p:sldMasterIdLst>
  <p:notesMasterIdLst>
    <p:notesMasterId r:id="rId62"/>
  </p:notesMasterIdLst>
  <p:sldIdLst>
    <p:sldId id="256" r:id="rId4"/>
    <p:sldId id="257" r:id="rId5"/>
    <p:sldId id="311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312" r:id="rId23"/>
    <p:sldId id="313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314" r:id="rId37"/>
    <p:sldId id="315" r:id="rId38"/>
    <p:sldId id="310" r:id="rId39"/>
    <p:sldId id="287" r:id="rId40"/>
    <p:sldId id="288" r:id="rId41"/>
    <p:sldId id="289" r:id="rId42"/>
    <p:sldId id="290" r:id="rId43"/>
    <p:sldId id="29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300" r:id="rId60"/>
    <p:sldId id="301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1" d="100"/>
          <a:sy n="101" d="100"/>
        </p:scale>
        <p:origin x="-138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C9F44F-978A-4F45-A3C9-BDAB2B54A2F1}" type="datetimeFigureOut">
              <a:rPr lang="en-US" smtClean="0"/>
              <a:t>1/1/1980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7B5F59-5111-4674-95ED-D076A15418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184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020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1436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676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602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252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29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0313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29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574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3978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793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026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5392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611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0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582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5305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1D8BD707-D9CF-40AE-B4C6-C98DA3205C09}" type="datetimeFigureOut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1/1/1980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B6F15528-21DE-4FAA-801E-634DDDAF4B2B}" type="slidenum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‹#›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2825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1D8BD707-D9CF-40AE-B4C6-C98DA3205C09}" type="datetimeFigureOut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1/1/1980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B6F15528-21DE-4FAA-801E-634DDDAF4B2B}" type="slidenum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‹#›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0416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1D8BD707-D9CF-40AE-B4C6-C98DA3205C09}" type="datetimeFigureOut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1/1/1980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B6F15528-21DE-4FAA-801E-634DDDAF4B2B}" type="slidenum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‹#›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7966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1D8BD707-D9CF-40AE-B4C6-C98DA3205C09}" type="datetimeFigureOut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1/1/1980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B6F15528-21DE-4FAA-801E-634DDDAF4B2B}" type="slidenum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‹#›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5363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1D8BD707-D9CF-40AE-B4C6-C98DA3205C09}" type="datetimeFigureOut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1/1/1980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B6F15528-21DE-4FAA-801E-634DDDAF4B2B}" type="slidenum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‹#›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6936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1D8BD707-D9CF-40AE-B4C6-C98DA3205C09}" type="datetimeFigureOut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1/1/1980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B6F15528-21DE-4FAA-801E-634DDDAF4B2B}" type="slidenum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‹#›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7371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1D8BD707-D9CF-40AE-B4C6-C98DA3205C09}" type="datetimeFigureOut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1/1/1980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B6F15528-21DE-4FAA-801E-634DDDAF4B2B}" type="slidenum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‹#›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2431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1D8BD707-D9CF-40AE-B4C6-C98DA3205C09}" type="datetimeFigureOut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1/1/1980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B6F15528-21DE-4FAA-801E-634DDDAF4B2B}" type="slidenum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‹#›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8251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1D8BD707-D9CF-40AE-B4C6-C98DA3205C09}" type="datetimeFigureOut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1/1/1980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B6F15528-21DE-4FAA-801E-634DDDAF4B2B}" type="slidenum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‹#›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6714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1D8BD707-D9CF-40AE-B4C6-C98DA3205C09}" type="datetimeFigureOut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1/1/1980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B6F15528-21DE-4FAA-801E-634DDDAF4B2B}" type="slidenum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‹#›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738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685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59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59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1D8BD707-D9CF-40AE-B4C6-C98DA3205C09}" type="datetimeFigureOut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1/1/1980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59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B6F15528-21DE-4FAA-801E-634DDDAF4B2B}" type="slidenum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‹#›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635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28625">
        <a:defRPr>
          <a:latin typeface="+mn-lt"/>
          <a:ea typeface="+mn-ea"/>
          <a:cs typeface="+mn-cs"/>
        </a:defRPr>
      </a:lvl2pPr>
      <a:lvl3pPr marL="857250">
        <a:defRPr>
          <a:latin typeface="+mn-lt"/>
          <a:ea typeface="+mn-ea"/>
          <a:cs typeface="+mn-cs"/>
        </a:defRPr>
      </a:lvl3pPr>
      <a:lvl4pPr marL="1285875">
        <a:defRPr>
          <a:latin typeface="+mn-lt"/>
          <a:ea typeface="+mn-ea"/>
          <a:cs typeface="+mn-cs"/>
        </a:defRPr>
      </a:lvl4pPr>
      <a:lvl5pPr marL="1714500">
        <a:defRPr>
          <a:latin typeface="+mn-lt"/>
          <a:ea typeface="+mn-ea"/>
          <a:cs typeface="+mn-cs"/>
        </a:defRPr>
      </a:lvl5pPr>
      <a:lvl6pPr marL="2143125">
        <a:defRPr>
          <a:latin typeface="+mn-lt"/>
          <a:ea typeface="+mn-ea"/>
          <a:cs typeface="+mn-cs"/>
        </a:defRPr>
      </a:lvl6pPr>
      <a:lvl7pPr marL="2571750">
        <a:defRPr>
          <a:latin typeface="+mn-lt"/>
          <a:ea typeface="+mn-ea"/>
          <a:cs typeface="+mn-cs"/>
        </a:defRPr>
      </a:lvl7pPr>
      <a:lvl8pPr marL="3000375">
        <a:defRPr>
          <a:latin typeface="+mn-lt"/>
          <a:ea typeface="+mn-ea"/>
          <a:cs typeface="+mn-cs"/>
        </a:defRPr>
      </a:lvl8pPr>
      <a:lvl9pPr marL="34290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28625">
        <a:defRPr>
          <a:latin typeface="+mn-lt"/>
          <a:ea typeface="+mn-ea"/>
          <a:cs typeface="+mn-cs"/>
        </a:defRPr>
      </a:lvl2pPr>
      <a:lvl3pPr marL="857250">
        <a:defRPr>
          <a:latin typeface="+mn-lt"/>
          <a:ea typeface="+mn-ea"/>
          <a:cs typeface="+mn-cs"/>
        </a:defRPr>
      </a:lvl3pPr>
      <a:lvl4pPr marL="1285875">
        <a:defRPr>
          <a:latin typeface="+mn-lt"/>
          <a:ea typeface="+mn-ea"/>
          <a:cs typeface="+mn-cs"/>
        </a:defRPr>
      </a:lvl4pPr>
      <a:lvl5pPr marL="1714500">
        <a:defRPr>
          <a:latin typeface="+mn-lt"/>
          <a:ea typeface="+mn-ea"/>
          <a:cs typeface="+mn-cs"/>
        </a:defRPr>
      </a:lvl5pPr>
      <a:lvl6pPr marL="2143125">
        <a:defRPr>
          <a:latin typeface="+mn-lt"/>
          <a:ea typeface="+mn-ea"/>
          <a:cs typeface="+mn-cs"/>
        </a:defRPr>
      </a:lvl6pPr>
      <a:lvl7pPr marL="2571750">
        <a:defRPr>
          <a:latin typeface="+mn-lt"/>
          <a:ea typeface="+mn-ea"/>
          <a:cs typeface="+mn-cs"/>
        </a:defRPr>
      </a:lvl7pPr>
      <a:lvl8pPr marL="3000375">
        <a:defRPr>
          <a:latin typeface="+mn-lt"/>
          <a:ea typeface="+mn-ea"/>
          <a:cs typeface="+mn-cs"/>
        </a:defRPr>
      </a:lvl8pPr>
      <a:lvl9pPr marL="34290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59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59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1D8BD707-D9CF-40AE-B4C6-C98DA3205C09}" type="datetimeFigureOut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1/1/1980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59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57250"/>
            <a:fld id="{B6F15528-21DE-4FAA-801E-634DDDAF4B2B}" type="slidenum">
              <a:rPr lang="en-US" sz="1688" smtClean="0">
                <a:solidFill>
                  <a:prstClr val="black">
                    <a:tint val="75000"/>
                  </a:prstClr>
                </a:solidFill>
              </a:rPr>
              <a:pPr defTabSz="857250"/>
              <a:t>‹#›</a:t>
            </a:fld>
            <a:endParaRPr lang="en-US" sz="1688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025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28625">
        <a:defRPr>
          <a:latin typeface="+mn-lt"/>
          <a:ea typeface="+mn-ea"/>
          <a:cs typeface="+mn-cs"/>
        </a:defRPr>
      </a:lvl2pPr>
      <a:lvl3pPr marL="857250">
        <a:defRPr>
          <a:latin typeface="+mn-lt"/>
          <a:ea typeface="+mn-ea"/>
          <a:cs typeface="+mn-cs"/>
        </a:defRPr>
      </a:lvl3pPr>
      <a:lvl4pPr marL="1285875">
        <a:defRPr>
          <a:latin typeface="+mn-lt"/>
          <a:ea typeface="+mn-ea"/>
          <a:cs typeface="+mn-cs"/>
        </a:defRPr>
      </a:lvl4pPr>
      <a:lvl5pPr marL="1714500">
        <a:defRPr>
          <a:latin typeface="+mn-lt"/>
          <a:ea typeface="+mn-ea"/>
          <a:cs typeface="+mn-cs"/>
        </a:defRPr>
      </a:lvl5pPr>
      <a:lvl6pPr marL="2143125">
        <a:defRPr>
          <a:latin typeface="+mn-lt"/>
          <a:ea typeface="+mn-ea"/>
          <a:cs typeface="+mn-cs"/>
        </a:defRPr>
      </a:lvl6pPr>
      <a:lvl7pPr marL="2571750">
        <a:defRPr>
          <a:latin typeface="+mn-lt"/>
          <a:ea typeface="+mn-ea"/>
          <a:cs typeface="+mn-cs"/>
        </a:defRPr>
      </a:lvl7pPr>
      <a:lvl8pPr marL="3000375">
        <a:defRPr>
          <a:latin typeface="+mn-lt"/>
          <a:ea typeface="+mn-ea"/>
          <a:cs typeface="+mn-cs"/>
        </a:defRPr>
      </a:lvl8pPr>
      <a:lvl9pPr marL="34290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28625">
        <a:defRPr>
          <a:latin typeface="+mn-lt"/>
          <a:ea typeface="+mn-ea"/>
          <a:cs typeface="+mn-cs"/>
        </a:defRPr>
      </a:lvl2pPr>
      <a:lvl3pPr marL="857250">
        <a:defRPr>
          <a:latin typeface="+mn-lt"/>
          <a:ea typeface="+mn-ea"/>
          <a:cs typeface="+mn-cs"/>
        </a:defRPr>
      </a:lvl3pPr>
      <a:lvl4pPr marL="1285875">
        <a:defRPr>
          <a:latin typeface="+mn-lt"/>
          <a:ea typeface="+mn-ea"/>
          <a:cs typeface="+mn-cs"/>
        </a:defRPr>
      </a:lvl4pPr>
      <a:lvl5pPr marL="1714500">
        <a:defRPr>
          <a:latin typeface="+mn-lt"/>
          <a:ea typeface="+mn-ea"/>
          <a:cs typeface="+mn-cs"/>
        </a:defRPr>
      </a:lvl5pPr>
      <a:lvl6pPr marL="2143125">
        <a:defRPr>
          <a:latin typeface="+mn-lt"/>
          <a:ea typeface="+mn-ea"/>
          <a:cs typeface="+mn-cs"/>
        </a:defRPr>
      </a:lvl6pPr>
      <a:lvl7pPr marL="2571750">
        <a:defRPr>
          <a:latin typeface="+mn-lt"/>
          <a:ea typeface="+mn-ea"/>
          <a:cs typeface="+mn-cs"/>
        </a:defRPr>
      </a:lvl7pPr>
      <a:lvl8pPr marL="3000375">
        <a:defRPr>
          <a:latin typeface="+mn-lt"/>
          <a:ea typeface="+mn-ea"/>
          <a:cs typeface="+mn-cs"/>
        </a:defRPr>
      </a:lvl8pPr>
      <a:lvl9pPr marL="34290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aminabilquees1996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Object Oriented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Course Instructure: Engr. </a:t>
            </a:r>
            <a:r>
              <a:rPr lang="en-US" smtClean="0">
                <a:hlinkClick r:id="rId2"/>
              </a:rPr>
              <a:t>Samina Bilquees</a:t>
            </a:r>
          </a:p>
          <a:p>
            <a:r>
              <a:rPr lang="en-US" dirty="0" smtClean="0">
                <a:hlinkClick r:id="rId2"/>
              </a:rPr>
              <a:t>saminabilquees1996@gmail.com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89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90500"/>
            <a:ext cx="9144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438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We see that member </a:t>
            </a:r>
            <a:r>
              <a:rPr lang="en-US" dirty="0"/>
              <a:t>functions can be used to give values to </a:t>
            </a:r>
            <a:r>
              <a:rPr lang="en-US" dirty="0" smtClean="0"/>
              <a:t>the data </a:t>
            </a:r>
            <a:r>
              <a:rPr lang="en-US" dirty="0"/>
              <a:t>items in an object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Sometimes, however, it’s convenient if an object can initialize </a:t>
            </a:r>
            <a:r>
              <a:rPr lang="en-US" dirty="0" smtClean="0"/>
              <a:t>itself when </a:t>
            </a:r>
            <a:r>
              <a:rPr lang="en-US" dirty="0"/>
              <a:t>it’s first created, without requiring a separate call to a member function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Automatic </a:t>
            </a:r>
            <a:r>
              <a:rPr lang="en-US" dirty="0" smtClean="0">
                <a:solidFill>
                  <a:srgbClr val="FF0000"/>
                </a:solidFill>
              </a:rPr>
              <a:t>initialization is </a:t>
            </a:r>
            <a:r>
              <a:rPr lang="en-US" dirty="0">
                <a:solidFill>
                  <a:srgbClr val="FF0000"/>
                </a:solidFill>
              </a:rPr>
              <a:t>carried out using a special member function called a </a:t>
            </a:r>
            <a:r>
              <a:rPr lang="en-US" i="1" dirty="0">
                <a:solidFill>
                  <a:srgbClr val="FF0000"/>
                </a:solidFill>
              </a:rPr>
              <a:t>constructor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>
                <a:solidFill>
                  <a:schemeClr val="accent4"/>
                </a:solidFill>
              </a:rPr>
              <a:t>A </a:t>
            </a:r>
            <a:r>
              <a:rPr lang="en-US" dirty="0">
                <a:solidFill>
                  <a:schemeClr val="accent4"/>
                </a:solidFill>
              </a:rPr>
              <a:t>constructor is </a:t>
            </a:r>
            <a:r>
              <a:rPr lang="en-US" dirty="0" smtClean="0">
                <a:solidFill>
                  <a:schemeClr val="accent4"/>
                </a:solidFill>
              </a:rPr>
              <a:t>a member </a:t>
            </a:r>
            <a:r>
              <a:rPr lang="en-US" dirty="0">
                <a:solidFill>
                  <a:schemeClr val="accent4"/>
                </a:solidFill>
              </a:rPr>
              <a:t>function that is executed automatically whenever an object is created.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432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90500"/>
            <a:ext cx="9144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23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6476"/>
          <a:stretch/>
        </p:blipFill>
        <p:spPr>
          <a:xfrm>
            <a:off x="1524000" y="0"/>
            <a:ext cx="9144000" cy="641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378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6476"/>
          <a:stretch/>
        </p:blipFill>
        <p:spPr>
          <a:xfrm>
            <a:off x="1524000" y="0"/>
            <a:ext cx="9144000" cy="641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65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6476"/>
          <a:stretch/>
        </p:blipFill>
        <p:spPr>
          <a:xfrm>
            <a:off x="1524000" y="0"/>
            <a:ext cx="9144000" cy="641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062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524"/>
          <a:stretch/>
        </p:blipFill>
        <p:spPr>
          <a:xfrm>
            <a:off x="1524000" y="0"/>
            <a:ext cx="9144000" cy="647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304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00025"/>
            <a:ext cx="9144000" cy="645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838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905"/>
          <a:stretch/>
        </p:blipFill>
        <p:spPr>
          <a:xfrm>
            <a:off x="1524000" y="0"/>
            <a:ext cx="9144000" cy="645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162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714"/>
          <a:stretch/>
        </p:blipFill>
        <p:spPr>
          <a:xfrm>
            <a:off x="1524000" y="0"/>
            <a:ext cx="9144000" cy="646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65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905"/>
          <a:stretch/>
        </p:blipFill>
        <p:spPr>
          <a:xfrm>
            <a:off x="1524000" y="0"/>
            <a:ext cx="9144000" cy="645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906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714"/>
          <a:stretch/>
        </p:blipFill>
        <p:spPr>
          <a:xfrm>
            <a:off x="1524000" y="0"/>
            <a:ext cx="9144000" cy="646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019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6476"/>
          <a:stretch/>
        </p:blipFill>
        <p:spPr>
          <a:xfrm>
            <a:off x="1524000" y="0"/>
            <a:ext cx="9144000" cy="641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198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524"/>
          <a:stretch/>
        </p:blipFill>
        <p:spPr>
          <a:xfrm>
            <a:off x="1524000" y="0"/>
            <a:ext cx="9144000" cy="647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999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6666"/>
          <a:stretch/>
        </p:blipFill>
        <p:spPr>
          <a:xfrm>
            <a:off x="1524000" y="0"/>
            <a:ext cx="9144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99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6666"/>
          <a:stretch/>
        </p:blipFill>
        <p:spPr>
          <a:xfrm>
            <a:off x="1524000" y="0"/>
            <a:ext cx="9144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53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497"/>
          <a:stretch/>
        </p:blipFill>
        <p:spPr>
          <a:xfrm>
            <a:off x="1524000" y="29028"/>
            <a:ext cx="9144000" cy="648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955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497"/>
          <a:stretch/>
        </p:blipFill>
        <p:spPr>
          <a:xfrm>
            <a:off x="1524000" y="0"/>
            <a:ext cx="9144000" cy="648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537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Counter Example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an example, </a:t>
            </a:r>
            <a:r>
              <a:rPr lang="en-US" dirty="0" smtClean="0"/>
              <a:t>A </a:t>
            </a:r>
            <a:r>
              <a:rPr lang="en-US" i="1" dirty="0">
                <a:solidFill>
                  <a:srgbClr val="FF0000"/>
                </a:solidFill>
              </a:rPr>
              <a:t>counter</a:t>
            </a:r>
            <a:r>
              <a:rPr lang="en-US" i="1" dirty="0"/>
              <a:t> </a:t>
            </a:r>
            <a:r>
              <a:rPr lang="en-US" dirty="0"/>
              <a:t>is a variable that counts things. </a:t>
            </a:r>
            <a:r>
              <a:rPr lang="en-US" dirty="0" smtClean="0"/>
              <a:t>Maybe </a:t>
            </a:r>
            <a:r>
              <a:rPr lang="en-US" dirty="0"/>
              <a:t>it counts file </a:t>
            </a:r>
            <a:r>
              <a:rPr lang="en-US" dirty="0" smtClean="0"/>
              <a:t>accesses, or </a:t>
            </a:r>
            <a:r>
              <a:rPr lang="en-US" dirty="0"/>
              <a:t>the number of times the user presses the Enter key, or the number of customers entering </a:t>
            </a:r>
            <a:r>
              <a:rPr lang="en-US" dirty="0" smtClean="0"/>
              <a:t>a bank</a:t>
            </a:r>
            <a:r>
              <a:rPr lang="en-US" dirty="0"/>
              <a:t>. Each time such an event takes place, the counter is incremented (1 is added to it). </a:t>
            </a:r>
            <a:r>
              <a:rPr lang="en-US" dirty="0" smtClean="0"/>
              <a:t>The counter </a:t>
            </a:r>
            <a:r>
              <a:rPr lang="en-US" dirty="0"/>
              <a:t>can also be accessed to find the current count.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10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91" y="141402"/>
            <a:ext cx="5582975" cy="5744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879" y="5738911"/>
            <a:ext cx="3714750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784915" y="697660"/>
            <a:ext cx="61776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Counter class has one data member: count, of type unsigned </a:t>
            </a:r>
            <a:r>
              <a:rPr lang="en-US" dirty="0" err="1"/>
              <a:t>int</a:t>
            </a:r>
            <a:r>
              <a:rPr lang="en-US" dirty="0"/>
              <a:t> (since the count </a:t>
            </a:r>
            <a:r>
              <a:rPr lang="en-US" dirty="0" smtClean="0"/>
              <a:t>is always </a:t>
            </a:r>
            <a:r>
              <a:rPr lang="en-US" dirty="0"/>
              <a:t>positive). </a:t>
            </a:r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has three member functions: </a:t>
            </a:r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constructor </a:t>
            </a:r>
            <a:r>
              <a:rPr lang="en-US" dirty="0">
                <a:solidFill>
                  <a:srgbClr val="FF0000"/>
                </a:solidFill>
              </a:rPr>
              <a:t>Counter(), </a:t>
            </a:r>
            <a:r>
              <a:rPr lang="en-US" dirty="0"/>
              <a:t>which we’ll </a:t>
            </a:r>
            <a:r>
              <a:rPr lang="en-US" dirty="0" smtClean="0"/>
              <a:t>look at </a:t>
            </a:r>
            <a:r>
              <a:rPr lang="en-US" dirty="0"/>
              <a:t>in </a:t>
            </a:r>
            <a:r>
              <a:rPr lang="en-US" dirty="0" smtClean="0"/>
              <a:t>a moment;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 smtClean="0">
                <a:solidFill>
                  <a:srgbClr val="FF0000"/>
                </a:solidFill>
              </a:rPr>
              <a:t>inc_count</a:t>
            </a:r>
            <a:r>
              <a:rPr lang="en-US" dirty="0">
                <a:solidFill>
                  <a:srgbClr val="FF0000"/>
                </a:solidFill>
              </a:rPr>
              <a:t>(), </a:t>
            </a:r>
            <a:r>
              <a:rPr lang="en-US" dirty="0"/>
              <a:t>which adds 1 to count; </a:t>
            </a:r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and </a:t>
            </a:r>
            <a:r>
              <a:rPr lang="en-US" dirty="0" err="1">
                <a:solidFill>
                  <a:srgbClr val="FF0000"/>
                </a:solidFill>
              </a:rPr>
              <a:t>get_count</a:t>
            </a:r>
            <a:r>
              <a:rPr lang="en-US" dirty="0">
                <a:solidFill>
                  <a:srgbClr val="FF0000"/>
                </a:solidFill>
              </a:rPr>
              <a:t>(), </a:t>
            </a:r>
            <a:r>
              <a:rPr lang="en-US" dirty="0"/>
              <a:t>which returns the </a:t>
            </a:r>
            <a:r>
              <a:rPr lang="en-US" dirty="0" smtClean="0"/>
              <a:t>current value </a:t>
            </a:r>
            <a:r>
              <a:rPr lang="en-US" dirty="0"/>
              <a:t>of count.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212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6198"/>
          <a:stretch/>
        </p:blipFill>
        <p:spPr>
          <a:xfrm>
            <a:off x="1524000" y="0"/>
            <a:ext cx="9144000" cy="643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932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6901"/>
          <a:stretch/>
        </p:blipFill>
        <p:spPr>
          <a:xfrm>
            <a:off x="1524000" y="0"/>
            <a:ext cx="9144000" cy="638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54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731"/>
          <a:stretch/>
        </p:blipFill>
        <p:spPr>
          <a:xfrm>
            <a:off x="1524000" y="0"/>
            <a:ext cx="9144000" cy="646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636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731"/>
          <a:stretch/>
        </p:blipFill>
        <p:spPr>
          <a:xfrm>
            <a:off x="1524000" y="0"/>
            <a:ext cx="9144000" cy="646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7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731"/>
          <a:stretch/>
        </p:blipFill>
        <p:spPr>
          <a:xfrm>
            <a:off x="1524000" y="0"/>
            <a:ext cx="9144000" cy="646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63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731"/>
          <a:stretch/>
        </p:blipFill>
        <p:spPr>
          <a:xfrm>
            <a:off x="1524000" y="0"/>
            <a:ext cx="9144000" cy="646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444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731"/>
          <a:stretch/>
        </p:blipFill>
        <p:spPr>
          <a:xfrm>
            <a:off x="1524000" y="0"/>
            <a:ext cx="9144000" cy="646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3385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6666"/>
          <a:stretch/>
        </p:blipFill>
        <p:spPr>
          <a:xfrm>
            <a:off x="1524000" y="0"/>
            <a:ext cx="9144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61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497"/>
          <a:stretch/>
        </p:blipFill>
        <p:spPr>
          <a:xfrm>
            <a:off x="1524000" y="0"/>
            <a:ext cx="9144000" cy="648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120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6433"/>
          <a:stretch/>
        </p:blipFill>
        <p:spPr>
          <a:xfrm>
            <a:off x="1524000" y="0"/>
            <a:ext cx="9144000" cy="641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1191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6433"/>
          <a:stretch/>
        </p:blipFill>
        <p:spPr>
          <a:xfrm>
            <a:off x="1524000" y="0"/>
            <a:ext cx="9144000" cy="641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4947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7836"/>
          <a:stretch/>
        </p:blipFill>
        <p:spPr>
          <a:xfrm>
            <a:off x="1524000" y="0"/>
            <a:ext cx="9144000" cy="632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8376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10016764" cy="3183992"/>
          </a:xfrm>
        </p:spPr>
        <p:txBody>
          <a:bodyPr>
            <a:normAutofit fontScale="92500"/>
          </a:bodyPr>
          <a:lstStyle/>
          <a:p>
            <a:r>
              <a:rPr lang="en-US" dirty="0"/>
              <a:t>One of the most common tasks a constructor carries out is initializing data members. </a:t>
            </a:r>
            <a:endParaRPr lang="en-US" dirty="0" smtClean="0"/>
          </a:p>
          <a:p>
            <a:r>
              <a:rPr lang="en-US" dirty="0" smtClean="0"/>
              <a:t>In the Counter </a:t>
            </a:r>
            <a:r>
              <a:rPr lang="en-US" dirty="0"/>
              <a:t>class the constructor must initialize the count member to 0. You might think </a:t>
            </a:r>
            <a:r>
              <a:rPr lang="en-US" dirty="0" smtClean="0"/>
              <a:t>that this would </a:t>
            </a:r>
            <a:r>
              <a:rPr lang="en-US" dirty="0"/>
              <a:t>be done in the constructor’s function body, like this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However</a:t>
            </a:r>
            <a:r>
              <a:rPr lang="en-US" dirty="0"/>
              <a:t>, this is not the preferred approach (although it does work). Here’s how you </a:t>
            </a:r>
            <a:r>
              <a:rPr lang="en-US" dirty="0" smtClean="0"/>
              <a:t>should initialize </a:t>
            </a:r>
            <a:r>
              <a:rPr lang="en-US" dirty="0"/>
              <a:t>a data member: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601" y="3911091"/>
            <a:ext cx="3247372" cy="783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835525" y="1710363"/>
            <a:ext cx="3048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 defTabSz="457200">
              <a:spcBef>
                <a:spcPct val="0"/>
              </a:spcBef>
            </a:pPr>
            <a:r>
              <a:rPr lang="en-US" sz="4400" dirty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a typeface="+mj-ea"/>
                <a:cs typeface="+mj-cs"/>
              </a:rPr>
              <a:t>Initializer List</a:t>
            </a:r>
            <a:endParaRPr lang="en-US" sz="4400" dirty="0">
              <a:ln w="3175" cmpd="sng"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05522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Initializer List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882" y="3563630"/>
            <a:ext cx="3437249" cy="776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370028" y="2640300"/>
            <a:ext cx="885805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initialization takes place following the member function </a:t>
            </a:r>
            <a:r>
              <a:rPr lang="en-US" dirty="0" err="1"/>
              <a:t>declarator</a:t>
            </a:r>
            <a:r>
              <a:rPr lang="en-US" dirty="0"/>
              <a:t> but before the function</a:t>
            </a:r>
          </a:p>
          <a:p>
            <a:r>
              <a:rPr lang="en-US" dirty="0"/>
              <a:t>body. </a:t>
            </a:r>
            <a:endParaRPr lang="en-US" dirty="0" smtClean="0"/>
          </a:p>
          <a:p>
            <a:r>
              <a:rPr lang="en-US" dirty="0" smtClean="0"/>
              <a:t>It’s </a:t>
            </a:r>
            <a:r>
              <a:rPr lang="en-US" dirty="0"/>
              <a:t>preceded by a colon. The value is placed in parentheses following the member data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Other example..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090" y="4943966"/>
            <a:ext cx="535305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91060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hangingPunct="0"/>
            <a:r>
              <a:rPr lang="en-GB" smtClean="0"/>
              <a:t>Write </a:t>
            </a:r>
            <a:r>
              <a:rPr lang="en-GB" dirty="0"/>
              <a:t>a class that contains two integer data members which are initialized to 100 when an object is created. It has a member function </a:t>
            </a:r>
            <a:r>
              <a:rPr lang="en-GB" b="1" dirty="0" err="1"/>
              <a:t>avg</a:t>
            </a:r>
            <a:r>
              <a:rPr lang="en-GB" b="1" dirty="0"/>
              <a:t> </a:t>
            </a:r>
            <a:r>
              <a:rPr lang="en-GB" dirty="0"/>
              <a:t>that displays the average of data members.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0504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7368"/>
          <a:stretch/>
        </p:blipFill>
        <p:spPr>
          <a:xfrm>
            <a:off x="1524000" y="0"/>
            <a:ext cx="9144000" cy="635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8217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731"/>
          <a:stretch/>
        </p:blipFill>
        <p:spPr>
          <a:xfrm>
            <a:off x="1524000" y="0"/>
            <a:ext cx="9144000" cy="646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7017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731"/>
          <a:stretch/>
        </p:blipFill>
        <p:spPr>
          <a:xfrm>
            <a:off x="1524000" y="0"/>
            <a:ext cx="9144000" cy="646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989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497"/>
          <a:stretch/>
        </p:blipFill>
        <p:spPr>
          <a:xfrm>
            <a:off x="1524000" y="0"/>
            <a:ext cx="9144000" cy="648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4153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7368"/>
          <a:stretch/>
        </p:blipFill>
        <p:spPr>
          <a:xfrm>
            <a:off x="1524000" y="0"/>
            <a:ext cx="9144000" cy="635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4592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497"/>
          <a:stretch/>
        </p:blipFill>
        <p:spPr>
          <a:xfrm>
            <a:off x="1524000" y="0"/>
            <a:ext cx="9144000" cy="648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578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497"/>
          <a:stretch/>
        </p:blipFill>
        <p:spPr>
          <a:xfrm>
            <a:off x="1524000" y="0"/>
            <a:ext cx="9144000" cy="648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7801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030"/>
          <a:stretch/>
        </p:blipFill>
        <p:spPr>
          <a:xfrm>
            <a:off x="1524000" y="0"/>
            <a:ext cx="9144000" cy="651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5772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497"/>
          <a:stretch/>
        </p:blipFill>
        <p:spPr>
          <a:xfrm>
            <a:off x="1524000" y="0"/>
            <a:ext cx="9144000" cy="648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663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731"/>
          <a:stretch/>
        </p:blipFill>
        <p:spPr>
          <a:xfrm>
            <a:off x="1524000" y="0"/>
            <a:ext cx="9144000" cy="646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8940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6198"/>
          <a:stretch/>
        </p:blipFill>
        <p:spPr>
          <a:xfrm>
            <a:off x="1524000" y="0"/>
            <a:ext cx="9144000" cy="643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0523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965"/>
          <a:stretch/>
        </p:blipFill>
        <p:spPr>
          <a:xfrm>
            <a:off x="1524000" y="0"/>
            <a:ext cx="9144000" cy="644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659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731"/>
          <a:stretch/>
        </p:blipFill>
        <p:spPr>
          <a:xfrm>
            <a:off x="1524000" y="0"/>
            <a:ext cx="9144000" cy="646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6902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731"/>
          <a:stretch/>
        </p:blipFill>
        <p:spPr>
          <a:xfrm>
            <a:off x="1524000" y="0"/>
            <a:ext cx="9144000" cy="646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2208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5732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6198"/>
          <a:stretch/>
        </p:blipFill>
        <p:spPr>
          <a:xfrm>
            <a:off x="1524000" y="0"/>
            <a:ext cx="9144000" cy="643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4895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965"/>
          <a:stretch/>
        </p:blipFill>
        <p:spPr>
          <a:xfrm>
            <a:off x="1524000" y="0"/>
            <a:ext cx="9144000" cy="644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8046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965"/>
          <a:stretch/>
        </p:blipFill>
        <p:spPr>
          <a:xfrm>
            <a:off x="1524000" y="0"/>
            <a:ext cx="9144000" cy="644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7096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905"/>
          <a:stretch/>
        </p:blipFill>
        <p:spPr>
          <a:xfrm>
            <a:off x="1524000" y="0"/>
            <a:ext cx="9144000" cy="645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828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905"/>
          <a:stretch/>
        </p:blipFill>
        <p:spPr>
          <a:xfrm>
            <a:off x="1524000" y="0"/>
            <a:ext cx="9144000" cy="645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7106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6666"/>
          <a:stretch/>
        </p:blipFill>
        <p:spPr>
          <a:xfrm>
            <a:off x="1524000" y="0"/>
            <a:ext cx="9144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948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905"/>
          <a:stretch/>
        </p:blipFill>
        <p:spPr>
          <a:xfrm>
            <a:off x="1524000" y="0"/>
            <a:ext cx="9144000" cy="645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5749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367</Words>
  <Application>Microsoft Office PowerPoint</Application>
  <PresentationFormat>Custom</PresentationFormat>
  <Paragraphs>32</Paragraphs>
  <Slides>58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Organic</vt:lpstr>
      <vt:lpstr>1_Office Theme</vt:lpstr>
      <vt:lpstr>2_Office Theme</vt:lpstr>
      <vt:lpstr>Object Oriented Programming</vt:lpstr>
      <vt:lpstr>PowerPoint Presentation</vt:lpstr>
      <vt:lpstr>Constructor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Counter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Initializer List</vt:lpstr>
      <vt:lpstr>Class 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Wasi</dc:creator>
  <cp:lastModifiedBy>Cyber World</cp:lastModifiedBy>
  <cp:revision>16</cp:revision>
  <dcterms:created xsi:type="dcterms:W3CDTF">2022-05-09T16:19:25Z</dcterms:created>
  <dcterms:modified xsi:type="dcterms:W3CDTF">1979-12-31T22:08:29Z</dcterms:modified>
</cp:coreProperties>
</file>
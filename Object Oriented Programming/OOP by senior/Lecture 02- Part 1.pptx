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1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5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2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6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1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1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300" y="1871136"/>
            <a:ext cx="5111752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300" y="3657597"/>
            <a:ext cx="5111752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5037663"/>
            <a:ext cx="673100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5037663"/>
            <a:ext cx="3910976" cy="279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8" y="5037663"/>
            <a:ext cx="413375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59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40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752606"/>
            <a:ext cx="6119016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2" y="3846056"/>
            <a:ext cx="6119018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3710585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639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990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95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26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351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61" y="1388534"/>
            <a:ext cx="278884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2" y="982136"/>
            <a:ext cx="4102100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61" y="3031065"/>
            <a:ext cx="2788841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912533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05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883832"/>
            <a:ext cx="4681362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5" y="1041400"/>
            <a:ext cx="2297510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3255432"/>
            <a:ext cx="468136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2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4815415"/>
            <a:ext cx="7207250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1041404"/>
            <a:ext cx="7579479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5382153"/>
            <a:ext cx="7207250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6136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3" y="982132"/>
            <a:ext cx="7194549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3" y="4343404"/>
            <a:ext cx="7194549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79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10" y="3352800"/>
            <a:ext cx="66294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4343404"/>
            <a:ext cx="7207250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82787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012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3308581"/>
            <a:ext cx="720725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777381"/>
            <a:ext cx="720725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1081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9312"/>
            <a:ext cx="7207251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529667"/>
            <a:ext cx="720725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25992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4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7250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0168"/>
            <a:ext cx="7207251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470404"/>
            <a:ext cx="72072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563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767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20" y="982136"/>
            <a:ext cx="1418171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1" y="982132"/>
            <a:ext cx="5574769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018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441615-5A44-410C-89F4-7540CC2153E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77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EEEDD-194D-4DD5-937E-553FA254329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040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9082E-3C0F-48C1-AF91-E8B1B0DF5DF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72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2638044"/>
            <a:ext cx="3203828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40" y="2638044"/>
            <a:ext cx="3202685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7EBE2-120C-4AA5-8863-7091BC941A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7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3143250"/>
            <a:ext cx="3202686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9" y="3143250"/>
            <a:ext cx="3190113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41925D-18D4-4F2E-8E4E-BFF18070A18A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95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AE92D-E9CF-4182-918D-E2DF720104D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3757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F2CF68-0C7E-4B18-A5B7-19E18E8AD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37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2243835"/>
            <a:ext cx="3364992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A25D3-A3D3-45E1-A26B-27F22D2ABE7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121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5" y="2243828"/>
            <a:ext cx="3371249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3" y="0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25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79975-D461-46C0-9BA3-FEABCE9F60C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8356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0C275-A2B6-4458-8506-3A566F6F2D0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2474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973956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5" y="937260"/>
            <a:ext cx="4648867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F9B4A-C263-434F-8630-F35A9FDD4542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DE0FF-D8D7-4FD1-B869-DCC42402CA54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E0C08-E95A-4914-9CE6-855955DAC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982135"/>
            <a:ext cx="7200897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2556932"/>
            <a:ext cx="7200897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2" y="5969000"/>
            <a:ext cx="547942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7" y="5969000"/>
            <a:ext cx="4070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7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964692"/>
            <a:ext cx="5797296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2638048"/>
            <a:ext cx="5797296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E9F8A-BBC2-4445-9A74-6C4C5980038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1/28/2024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6236208"/>
            <a:ext cx="442589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6217920"/>
            <a:ext cx="27432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96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Lecture-02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0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Lecture Contents</a:t>
            </a:r>
          </a:p>
          <a:p>
            <a:r>
              <a:rPr lang="en-US" dirty="0"/>
              <a:t>1. Information Hiding</a:t>
            </a:r>
          </a:p>
          <a:p>
            <a:r>
              <a:rPr lang="en-US" dirty="0"/>
              <a:t>2. Encapsulation</a:t>
            </a:r>
          </a:p>
          <a:p>
            <a:r>
              <a:rPr lang="en-US" dirty="0"/>
              <a:t>3. </a:t>
            </a:r>
            <a:r>
              <a:rPr lang="en-US" dirty="0" smtClean="0"/>
              <a:t>Interface</a:t>
            </a:r>
          </a:p>
          <a:p>
            <a:r>
              <a:rPr lang="en-US" dirty="0" smtClean="0"/>
              <a:t>4. Abstraction</a:t>
            </a:r>
          </a:p>
          <a:p>
            <a:r>
              <a:rPr lang="en-US" dirty="0" smtClean="0"/>
              <a:t>5.Classes</a:t>
            </a:r>
          </a:p>
          <a:p>
            <a:r>
              <a:rPr lang="en-US" dirty="0" smtClean="0"/>
              <a:t>6. Inheritance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62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Hiding: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hiding is one of the most important principles of OOP inspired from </a:t>
            </a:r>
            <a:r>
              <a:rPr lang="en-US" dirty="0" smtClean="0"/>
              <a:t>real life </a:t>
            </a:r>
            <a:r>
              <a:rPr lang="en-US" dirty="0">
                <a:solidFill>
                  <a:srgbClr val="FF0000"/>
                </a:solidFill>
              </a:rPr>
              <a:t>which says that all information should not be accessible to all </a:t>
            </a:r>
            <a:r>
              <a:rPr lang="en-US" dirty="0" smtClean="0">
                <a:solidFill>
                  <a:srgbClr val="FF0000"/>
                </a:solidFill>
              </a:rPr>
              <a:t>persons.</a:t>
            </a:r>
          </a:p>
          <a:p>
            <a:r>
              <a:rPr lang="en-US" dirty="0" smtClean="0"/>
              <a:t>Private information </a:t>
            </a:r>
            <a:r>
              <a:rPr lang="en-US" dirty="0"/>
              <a:t>should only be accessible to its owner</a:t>
            </a:r>
            <a:r>
              <a:rPr lang="en-US" dirty="0" smtClean="0"/>
              <a:t>.</a:t>
            </a:r>
          </a:p>
          <a:p>
            <a:r>
              <a:rPr lang="en-US" dirty="0"/>
              <a:t>By Information Hiding we mean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Showing only those details to the outside world </a:t>
            </a:r>
            <a:r>
              <a:rPr lang="en-US" i="1" dirty="0" smtClean="0">
                <a:solidFill>
                  <a:srgbClr val="FF0000"/>
                </a:solidFill>
              </a:rPr>
              <a:t>which are </a:t>
            </a:r>
            <a:r>
              <a:rPr lang="en-US" i="1" dirty="0">
                <a:solidFill>
                  <a:srgbClr val="FF0000"/>
                </a:solidFill>
              </a:rPr>
              <a:t>necessary for the outside world and hiding all other details from the outside world.”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18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 Life Examples of Information Hiding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Ali’s name and other personal information is stored in his brain we </a:t>
            </a:r>
            <a:r>
              <a:rPr lang="en-US" dirty="0" smtClean="0"/>
              <a:t>can’t access </a:t>
            </a:r>
            <a:r>
              <a:rPr lang="en-US" dirty="0"/>
              <a:t>this information directly. For getting this information we need to </a:t>
            </a:r>
            <a:r>
              <a:rPr lang="en-US" dirty="0" smtClean="0"/>
              <a:t>ask Ali </a:t>
            </a:r>
            <a:r>
              <a:rPr lang="en-US" dirty="0"/>
              <a:t>about it and it will be up to Ali how much details he would like to </a:t>
            </a:r>
            <a:r>
              <a:rPr lang="en-US" dirty="0" smtClean="0"/>
              <a:t>share with </a:t>
            </a:r>
            <a:r>
              <a:rPr lang="en-US" dirty="0"/>
              <a:t>us</a:t>
            </a:r>
            <a:r>
              <a:rPr lang="en-US" dirty="0" smtClean="0"/>
              <a:t>.</a:t>
            </a:r>
          </a:p>
          <a:p>
            <a:r>
              <a:rPr lang="en-US" dirty="0"/>
              <a:t>An email server may have account information of millions of people but </a:t>
            </a:r>
            <a:r>
              <a:rPr lang="en-US" dirty="0" smtClean="0"/>
              <a:t>it will </a:t>
            </a:r>
            <a:r>
              <a:rPr lang="en-US" dirty="0"/>
              <a:t>share only our account information with us if we request it to </a:t>
            </a:r>
            <a:r>
              <a:rPr lang="en-US" dirty="0" smtClean="0"/>
              <a:t>send anyone </a:t>
            </a:r>
            <a:r>
              <a:rPr lang="en-US" dirty="0"/>
              <a:t>else accounts information our request will be refused.</a:t>
            </a:r>
          </a:p>
        </p:txBody>
      </p:sp>
    </p:spTree>
    <p:extLst>
      <p:ext uri="{BB962C8B-B14F-4D97-AF65-F5344CB8AC3E}">
        <p14:creationId xmlns:p14="http://schemas.microsoft.com/office/powerpoint/2010/main" val="63328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Hiding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perspective </a:t>
            </a:r>
            <a:r>
              <a:rPr lang="en-US" dirty="0"/>
              <a:t>of </a:t>
            </a:r>
            <a:r>
              <a:rPr lang="en-US" b="1" dirty="0"/>
              <a:t>Object Oriented Programming </a:t>
            </a:r>
            <a:r>
              <a:rPr lang="en-US" dirty="0"/>
              <a:t>Information Hiding is,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“</a:t>
            </a:r>
            <a:r>
              <a:rPr lang="en-US" b="1" i="1" dirty="0">
                <a:solidFill>
                  <a:srgbClr val="FF0000"/>
                </a:solidFill>
              </a:rPr>
              <a:t>Hiding the object details (state and behavior) from the users</a:t>
            </a:r>
            <a:r>
              <a:rPr lang="en-US" b="1" i="1" dirty="0" smtClean="0">
                <a:solidFill>
                  <a:srgbClr val="FF0000"/>
                </a:solidFill>
              </a:rPr>
              <a:t>”.</a:t>
            </a:r>
          </a:p>
          <a:p>
            <a:r>
              <a:rPr lang="en-US" dirty="0"/>
              <a:t>All information related to an object is stored within the object</a:t>
            </a:r>
          </a:p>
          <a:p>
            <a:r>
              <a:rPr lang="en-US" dirty="0" smtClean="0"/>
              <a:t>It </a:t>
            </a:r>
            <a:r>
              <a:rPr lang="en-US" dirty="0"/>
              <a:t>is hidden from the outside world</a:t>
            </a:r>
          </a:p>
          <a:p>
            <a:r>
              <a:rPr lang="en-US" dirty="0" smtClean="0"/>
              <a:t>It </a:t>
            </a:r>
            <a:r>
              <a:rPr lang="en-US" dirty="0"/>
              <a:t>can only be manipulated by the object </a:t>
            </a:r>
            <a:r>
              <a:rPr lang="en-US" dirty="0" smtClean="0"/>
              <a:t>itself</a:t>
            </a:r>
          </a:p>
          <a:p>
            <a:r>
              <a:rPr lang="en-US" dirty="0">
                <a:solidFill>
                  <a:srgbClr val="FF0000"/>
                </a:solidFill>
              </a:rPr>
              <a:t>We can achieve information hiding using </a:t>
            </a:r>
            <a:r>
              <a:rPr lang="en-US" b="1" dirty="0">
                <a:solidFill>
                  <a:srgbClr val="FF0000"/>
                </a:solidFill>
              </a:rPr>
              <a:t>Encapsulation </a:t>
            </a:r>
            <a:r>
              <a:rPr lang="en-US" dirty="0">
                <a:solidFill>
                  <a:srgbClr val="FF0000"/>
                </a:solidFill>
              </a:rPr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Abstraction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15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Encapsulation means </a:t>
            </a:r>
            <a:r>
              <a:rPr lang="en-US" i="1" dirty="0">
                <a:solidFill>
                  <a:srgbClr val="FF0000"/>
                </a:solidFill>
              </a:rPr>
              <a:t>“we have enclosed all the characteristics of an object in the </a:t>
            </a:r>
            <a:r>
              <a:rPr lang="en-US" i="1" dirty="0" smtClean="0">
                <a:solidFill>
                  <a:srgbClr val="FF0000"/>
                </a:solidFill>
              </a:rPr>
              <a:t>object itself”.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dirty="0"/>
              <a:t>Encapsulation and information hiding are much related concepts (</a:t>
            </a:r>
            <a:r>
              <a:rPr lang="en-US" dirty="0" smtClean="0"/>
              <a:t>information hiding </a:t>
            </a:r>
            <a:r>
              <a:rPr lang="en-US" dirty="0"/>
              <a:t>is achieved using Encapsulation</a:t>
            </a:r>
            <a:r>
              <a:rPr lang="en-US" dirty="0" smtClean="0"/>
              <a:t>).</a:t>
            </a:r>
          </a:p>
          <a:p>
            <a:r>
              <a:rPr lang="en-US" dirty="0" smtClean="0"/>
              <a:t>We have seen in previous lecture that </a:t>
            </a:r>
            <a:r>
              <a:rPr lang="en-US" dirty="0" smtClean="0">
                <a:solidFill>
                  <a:srgbClr val="FF0000"/>
                </a:solidFill>
              </a:rPr>
              <a:t>object characteristics include data member and behavior of the object in the form of functions.</a:t>
            </a:r>
          </a:p>
          <a:p>
            <a:r>
              <a:rPr lang="en-US" b="1" dirty="0">
                <a:solidFill>
                  <a:srgbClr val="FF0000"/>
                </a:solidFill>
              </a:rPr>
              <a:t>Data and Behavior are tightly coupled inside an object </a:t>
            </a:r>
            <a:r>
              <a:rPr lang="en-US" b="1" dirty="0" smtClean="0">
                <a:solidFill>
                  <a:srgbClr val="FF0000"/>
                </a:solidFill>
              </a:rPr>
              <a:t>and both </a:t>
            </a:r>
            <a:r>
              <a:rPr lang="en-US" b="1" dirty="0">
                <a:solidFill>
                  <a:srgbClr val="FF0000"/>
                </a:solidFill>
              </a:rPr>
              <a:t>the information structure and implementation details of its operations </a:t>
            </a:r>
            <a:r>
              <a:rPr lang="en-US" b="1" dirty="0" smtClean="0">
                <a:solidFill>
                  <a:srgbClr val="FF0000"/>
                </a:solidFill>
              </a:rPr>
              <a:t>are hidden </a:t>
            </a:r>
            <a:r>
              <a:rPr lang="en-US" b="1" dirty="0">
                <a:solidFill>
                  <a:srgbClr val="FF0000"/>
                </a:solidFill>
              </a:rPr>
              <a:t>from the outer world.</a:t>
            </a:r>
          </a:p>
        </p:txBody>
      </p:sp>
    </p:spTree>
    <p:extLst>
      <p:ext uri="{BB962C8B-B14F-4D97-AF65-F5344CB8AC3E}">
        <p14:creationId xmlns:p14="http://schemas.microsoft.com/office/powerpoint/2010/main" val="293705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Encapsulation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009" y="2557463"/>
            <a:ext cx="2837982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08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Simplicity and clarity</a:t>
            </a:r>
          </a:p>
          <a:p>
            <a:r>
              <a:rPr lang="en-US" dirty="0" smtClean="0"/>
              <a:t>Low 	Complexity</a:t>
            </a:r>
          </a:p>
          <a:p>
            <a:r>
              <a:rPr lang="en-US" dirty="0" smtClean="0"/>
              <a:t>Better Understanding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5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Interface is a set of functions of an object that he wants to expose to other objects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We </a:t>
            </a:r>
            <a:r>
              <a:rPr lang="en-US" dirty="0"/>
              <a:t>discussed previously that data and behavior of each object is hidden </a:t>
            </a:r>
            <a:r>
              <a:rPr lang="en-US" dirty="0" smtClean="0"/>
              <a:t>in that </a:t>
            </a:r>
            <a:r>
              <a:rPr lang="en-US" dirty="0"/>
              <a:t>object it self so we have to use the concept of interface of the object to </a:t>
            </a:r>
            <a:r>
              <a:rPr lang="en-US" dirty="0" smtClean="0"/>
              <a:t>expose its </a:t>
            </a:r>
            <a:r>
              <a:rPr lang="en-US" dirty="0"/>
              <a:t>behavior to outer word objects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Each object </a:t>
            </a:r>
            <a:r>
              <a:rPr lang="en-US" dirty="0" smtClean="0">
                <a:solidFill>
                  <a:srgbClr val="FF0000"/>
                </a:solidFill>
              </a:rPr>
              <a:t>provides interface/s </a:t>
            </a:r>
            <a:r>
              <a:rPr lang="en-US" dirty="0">
                <a:solidFill>
                  <a:srgbClr val="FF0000"/>
                </a:solidFill>
              </a:rPr>
              <a:t>(operations) to other objects through these interfaces </a:t>
            </a:r>
            <a:r>
              <a:rPr lang="en-US" dirty="0" smtClean="0">
                <a:solidFill>
                  <a:srgbClr val="FF0000"/>
                </a:solidFill>
              </a:rPr>
              <a:t>other objects </a:t>
            </a:r>
            <a:r>
              <a:rPr lang="en-US" dirty="0">
                <a:solidFill>
                  <a:srgbClr val="FF0000"/>
                </a:solidFill>
              </a:rPr>
              <a:t>communicate with this object.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72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Interface of a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Steer Wheels</a:t>
            </a:r>
          </a:p>
          <a:p>
            <a:r>
              <a:rPr lang="en-US" dirty="0" smtClean="0"/>
              <a:t>Accelerate</a:t>
            </a:r>
            <a:endParaRPr lang="en-US" dirty="0"/>
          </a:p>
          <a:p>
            <a:r>
              <a:rPr lang="en-US" dirty="0" smtClean="0"/>
              <a:t>Change </a:t>
            </a:r>
            <a:r>
              <a:rPr lang="en-US" dirty="0"/>
              <a:t>Gear</a:t>
            </a:r>
          </a:p>
          <a:p>
            <a:r>
              <a:rPr lang="en-US" dirty="0" smtClean="0"/>
              <a:t>Apply </a:t>
            </a:r>
            <a:r>
              <a:rPr lang="en-US" dirty="0"/>
              <a:t>Brakes</a:t>
            </a:r>
          </a:p>
          <a:p>
            <a:r>
              <a:rPr lang="en-US" dirty="0" smtClean="0"/>
              <a:t>Turn </a:t>
            </a:r>
            <a:r>
              <a:rPr lang="en-US" dirty="0"/>
              <a:t>Lights On/Off</a:t>
            </a:r>
          </a:p>
        </p:txBody>
      </p:sp>
    </p:spTree>
    <p:extLst>
      <p:ext uri="{BB962C8B-B14F-4D97-AF65-F5344CB8AC3E}">
        <p14:creationId xmlns:p14="http://schemas.microsoft.com/office/powerpoint/2010/main" val="633287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– Interface of a </a:t>
            </a:r>
            <a:r>
              <a:rPr lang="en-US" dirty="0" smtClean="0"/>
              <a:t>Phone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Number</a:t>
            </a:r>
          </a:p>
          <a:p>
            <a:r>
              <a:rPr lang="en-US" dirty="0" smtClean="0"/>
              <a:t>Place </a:t>
            </a:r>
            <a:r>
              <a:rPr lang="en-US" dirty="0"/>
              <a:t>Call</a:t>
            </a:r>
          </a:p>
          <a:p>
            <a:r>
              <a:rPr lang="en-US" dirty="0" smtClean="0"/>
              <a:t>Disconnect </a:t>
            </a:r>
            <a:r>
              <a:rPr lang="en-US" dirty="0"/>
              <a:t>Call</a:t>
            </a:r>
          </a:p>
          <a:p>
            <a:r>
              <a:rPr lang="en-US" dirty="0" smtClean="0"/>
              <a:t>Add </a:t>
            </a:r>
            <a:r>
              <a:rPr lang="en-US" dirty="0"/>
              <a:t>number to address book</a:t>
            </a:r>
          </a:p>
          <a:p>
            <a:r>
              <a:rPr lang="en-US" dirty="0" smtClean="0"/>
              <a:t>Remove </a:t>
            </a:r>
            <a:r>
              <a:rPr lang="en-US" dirty="0"/>
              <a:t>number</a:t>
            </a:r>
          </a:p>
          <a:p>
            <a:r>
              <a:rPr lang="en-US" dirty="0" smtClean="0"/>
              <a:t>Update </a:t>
            </a:r>
            <a:r>
              <a:rPr lang="en-US" dirty="0"/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486534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Real life objects have a lot of attributes and many kind of behaviors but most of </a:t>
            </a:r>
            <a:r>
              <a:rPr lang="en-US" dirty="0" smtClean="0"/>
              <a:t>the time </a:t>
            </a:r>
            <a:r>
              <a:rPr lang="en-US" dirty="0"/>
              <a:t>we are interested in only that part of the objects that is related to the </a:t>
            </a:r>
            <a:r>
              <a:rPr lang="en-US" dirty="0" smtClean="0"/>
              <a:t>problem we </a:t>
            </a:r>
            <a:r>
              <a:rPr lang="en-US" dirty="0"/>
              <a:t>are currently going to </a:t>
            </a:r>
            <a:r>
              <a:rPr lang="en-US" dirty="0" smtClean="0"/>
              <a:t>solve.</a:t>
            </a:r>
          </a:p>
          <a:p>
            <a:r>
              <a:rPr lang="en-US" dirty="0" smtClean="0"/>
              <a:t>Example:  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implementing a school system </a:t>
            </a:r>
            <a:r>
              <a:rPr lang="en-US" dirty="0" smtClean="0"/>
              <a:t>we don’t </a:t>
            </a:r>
            <a:r>
              <a:rPr lang="en-US" dirty="0"/>
              <a:t>need to take care of the personnel life of a student or a teacher as it will </a:t>
            </a:r>
            <a:r>
              <a:rPr lang="en-US" dirty="0" smtClean="0"/>
              <a:t>not effect </a:t>
            </a:r>
            <a:r>
              <a:rPr lang="en-US" dirty="0"/>
              <a:t>our system in any way so we will see these objects in the perspective of </a:t>
            </a:r>
            <a:r>
              <a:rPr lang="en-US" dirty="0" smtClean="0"/>
              <a:t>school system </a:t>
            </a:r>
            <a:r>
              <a:rPr lang="en-US" dirty="0"/>
              <a:t>and will ignore their other characteristics, this concept is called “</a:t>
            </a:r>
            <a:r>
              <a:rPr lang="en-US" i="1" dirty="0"/>
              <a:t>Abstraction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4247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Principle of abstraction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“</a:t>
            </a:r>
            <a:r>
              <a:rPr lang="en-US" b="1" dirty="0">
                <a:solidFill>
                  <a:srgbClr val="FF0000"/>
                </a:solidFill>
              </a:rPr>
              <a:t>Capture only those details about an object that are </a:t>
            </a:r>
            <a:r>
              <a:rPr lang="en-US" b="1" dirty="0" smtClean="0">
                <a:solidFill>
                  <a:srgbClr val="FF0000"/>
                </a:solidFill>
              </a:rPr>
              <a:t> relevant </a:t>
            </a:r>
            <a:r>
              <a:rPr lang="en-US" b="1" dirty="0">
                <a:solidFill>
                  <a:srgbClr val="FF0000"/>
                </a:solidFill>
              </a:rPr>
              <a:t>to current perspective</a:t>
            </a:r>
            <a:r>
              <a:rPr lang="en-US" b="1" dirty="0" smtClean="0">
                <a:solidFill>
                  <a:srgbClr val="FF0000"/>
                </a:solidFill>
              </a:rPr>
              <a:t>”.</a:t>
            </a:r>
          </a:p>
          <a:p>
            <a:r>
              <a:rPr lang="en-US" dirty="0"/>
              <a:t>Abstraction is a way to cope with complexity and it is used to simplify things.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032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implement abstraction for the following statement,</a:t>
            </a:r>
          </a:p>
          <a:p>
            <a:r>
              <a:rPr lang="en-US" i="1" dirty="0"/>
              <a:t>“</a:t>
            </a:r>
            <a:r>
              <a:rPr lang="en-US" b="1" i="1" dirty="0">
                <a:solidFill>
                  <a:srgbClr val="FF0000"/>
                </a:solidFill>
              </a:rPr>
              <a:t>Ali is a PhD student and teaches BS students”</a:t>
            </a:r>
          </a:p>
          <a:p>
            <a:r>
              <a:rPr lang="en-US" i="1" dirty="0"/>
              <a:t>Here object Ali has two </a:t>
            </a:r>
            <a:r>
              <a:rPr lang="en-US" b="1" i="1" dirty="0"/>
              <a:t>perspectives </a:t>
            </a:r>
            <a:r>
              <a:rPr lang="en-US" i="1" dirty="0"/>
              <a:t>one is his </a:t>
            </a:r>
            <a:r>
              <a:rPr lang="en-US" b="1" i="1" dirty="0"/>
              <a:t>student perspective </a:t>
            </a:r>
            <a:r>
              <a:rPr lang="en-US" i="1" dirty="0"/>
              <a:t>and second is </a:t>
            </a:r>
            <a:r>
              <a:rPr lang="en-US" i="1" dirty="0" smtClean="0"/>
              <a:t>his </a:t>
            </a:r>
            <a:r>
              <a:rPr lang="en-US" b="1" i="1" dirty="0" smtClean="0"/>
              <a:t>teacher </a:t>
            </a:r>
            <a:r>
              <a:rPr lang="en-US" b="1" i="1" dirty="0"/>
              <a:t>perspective.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05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38400"/>
            <a:ext cx="7391400" cy="3733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We can sum up </a:t>
            </a:r>
            <a:r>
              <a:rPr lang="en-US" b="1" dirty="0">
                <a:solidFill>
                  <a:srgbClr val="FF0000"/>
                </a:solidFill>
              </a:rPr>
              <a:t>Ali’s attributes </a:t>
            </a:r>
            <a:r>
              <a:rPr lang="en-US" dirty="0"/>
              <a:t>as follows,</a:t>
            </a:r>
          </a:p>
          <a:p>
            <a:r>
              <a:rPr lang="en-US" dirty="0"/>
              <a:t>Name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Student Roll No</a:t>
            </a:r>
          </a:p>
          <a:p>
            <a:r>
              <a:rPr lang="en-US" dirty="0"/>
              <a:t>Year of Study</a:t>
            </a:r>
          </a:p>
          <a:p>
            <a:r>
              <a:rPr lang="en-US" dirty="0"/>
              <a:t>CGPA</a:t>
            </a:r>
          </a:p>
          <a:p>
            <a:r>
              <a:rPr lang="en-US" dirty="0"/>
              <a:t>Employee ID</a:t>
            </a:r>
          </a:p>
          <a:p>
            <a:r>
              <a:rPr lang="en-US" dirty="0"/>
              <a:t>Designation</a:t>
            </a:r>
          </a:p>
          <a:p>
            <a:r>
              <a:rPr lang="en-US" dirty="0" smtClean="0"/>
              <a:t>Salary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As you can see out of all these listed attributes some belong to Ali’s </a:t>
            </a:r>
            <a:r>
              <a:rPr lang="en-US" dirty="0" smtClean="0">
                <a:solidFill>
                  <a:srgbClr val="FF0000"/>
                </a:solidFill>
              </a:rPr>
              <a:t>student perspective(Roll </a:t>
            </a:r>
            <a:r>
              <a:rPr lang="en-US" dirty="0">
                <a:solidFill>
                  <a:srgbClr val="FF0000"/>
                </a:solidFill>
              </a:rPr>
              <a:t>No, CGPA, Year of study) and some belong to Ali’s </a:t>
            </a:r>
            <a:r>
              <a:rPr lang="en-US" dirty="0" smtClean="0">
                <a:solidFill>
                  <a:srgbClr val="FF0000"/>
                </a:solidFill>
              </a:rPr>
              <a:t>teacher perspective(Employee </a:t>
            </a:r>
            <a:r>
              <a:rPr lang="en-US" dirty="0">
                <a:solidFill>
                  <a:srgbClr val="FF0000"/>
                </a:solidFill>
              </a:rPr>
              <a:t>ID, Designation, Salary).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70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Behavior of Ali is as Follow:</a:t>
            </a:r>
          </a:p>
          <a:p>
            <a:r>
              <a:rPr lang="en-US" dirty="0"/>
              <a:t>Study</a:t>
            </a:r>
          </a:p>
          <a:p>
            <a:r>
              <a:rPr lang="en-US" dirty="0" err="1" smtClean="0"/>
              <a:t>DevelopExam</a:t>
            </a:r>
            <a:endParaRPr lang="en-US" dirty="0" smtClean="0"/>
          </a:p>
          <a:p>
            <a:r>
              <a:rPr lang="en-US" dirty="0" err="1"/>
              <a:t>GiveExam</a:t>
            </a:r>
            <a:endParaRPr lang="en-US" dirty="0"/>
          </a:p>
          <a:p>
            <a:r>
              <a:rPr lang="en-US" dirty="0" err="1"/>
              <a:t>TakeExam</a:t>
            </a:r>
            <a:endParaRPr lang="en-US" dirty="0"/>
          </a:p>
          <a:p>
            <a:r>
              <a:rPr lang="en-US" dirty="0" err="1"/>
              <a:t>PlaySports</a:t>
            </a:r>
            <a:endParaRPr lang="en-US" dirty="0"/>
          </a:p>
          <a:p>
            <a:r>
              <a:rPr lang="en-US" dirty="0"/>
              <a:t>Eat</a:t>
            </a:r>
          </a:p>
          <a:p>
            <a:r>
              <a:rPr lang="en-US" dirty="0" err="1"/>
              <a:t>DeliverLecture</a:t>
            </a:r>
            <a:endParaRPr lang="en-US" dirty="0"/>
          </a:p>
          <a:p>
            <a:r>
              <a:rPr lang="en-US" dirty="0"/>
              <a:t>Walk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4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914401"/>
            <a:ext cx="3992733" cy="2743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352800"/>
            <a:ext cx="4191000" cy="2843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2561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OOP we create a general sketch for each kind of objects and then we </a:t>
            </a:r>
            <a:r>
              <a:rPr lang="en-US" dirty="0" smtClean="0"/>
              <a:t>create different </a:t>
            </a:r>
            <a:r>
              <a:rPr lang="en-US" dirty="0"/>
              <a:t>instances using this sketch we call this sketch or prototype or map </a:t>
            </a:r>
            <a:r>
              <a:rPr lang="en-US" dirty="0" smtClean="0"/>
              <a:t>as “class</a:t>
            </a:r>
            <a:r>
              <a:rPr lang="en-US" dirty="0"/>
              <a:t>”.</a:t>
            </a:r>
          </a:p>
          <a:p>
            <a:r>
              <a:rPr lang="en-US" dirty="0">
                <a:solidFill>
                  <a:srgbClr val="FF0000"/>
                </a:solidFill>
              </a:rPr>
              <a:t>All objects of same kind exhibit identical characteristics (information structure </a:t>
            </a:r>
            <a:r>
              <a:rPr lang="en-US" dirty="0" smtClean="0">
                <a:solidFill>
                  <a:srgbClr val="FF0000"/>
                </a:solidFill>
              </a:rPr>
              <a:t>and behavior</a:t>
            </a:r>
            <a:r>
              <a:rPr lang="en-US" dirty="0">
                <a:solidFill>
                  <a:srgbClr val="FF0000"/>
                </a:solidFill>
              </a:rPr>
              <a:t>) however they have data of their own</a:t>
            </a:r>
            <a:r>
              <a:rPr lang="en-US" dirty="0" smtClean="0"/>
              <a:t>.</a:t>
            </a:r>
          </a:p>
          <a:p>
            <a:r>
              <a:rPr lang="en-US" dirty="0" smtClean="0"/>
              <a:t>Class provide the description about the object or we can say that all common characteristics( attribute+behaviour) will be the part of a Class.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77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Example1: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</a:t>
            </a:r>
            <a:r>
              <a:rPr lang="en-US" dirty="0"/>
              <a:t>the objects given below,</a:t>
            </a:r>
          </a:p>
          <a:p>
            <a:r>
              <a:rPr lang="en-US" dirty="0" smtClean="0"/>
              <a:t>Ali </a:t>
            </a:r>
            <a:r>
              <a:rPr lang="en-US" dirty="0"/>
              <a:t>studies mathematics</a:t>
            </a:r>
          </a:p>
          <a:p>
            <a:r>
              <a:rPr lang="en-US" dirty="0" err="1" smtClean="0"/>
              <a:t>Anam</a:t>
            </a:r>
            <a:r>
              <a:rPr lang="en-US" dirty="0" smtClean="0"/>
              <a:t> </a:t>
            </a:r>
            <a:r>
              <a:rPr lang="en-US" dirty="0"/>
              <a:t>studies physics</a:t>
            </a:r>
          </a:p>
          <a:p>
            <a:r>
              <a:rPr lang="en-US" dirty="0" err="1" smtClean="0"/>
              <a:t>Sohail</a:t>
            </a:r>
            <a:r>
              <a:rPr lang="en-US" dirty="0" smtClean="0"/>
              <a:t> </a:t>
            </a:r>
            <a:r>
              <a:rPr lang="en-US" dirty="0"/>
              <a:t>studies chemistry</a:t>
            </a:r>
          </a:p>
          <a:p>
            <a:r>
              <a:rPr lang="en-US" dirty="0"/>
              <a:t>Each one is a Student so we say these objects </a:t>
            </a:r>
            <a:r>
              <a:rPr lang="en-US" dirty="0">
                <a:solidFill>
                  <a:srgbClr val="FF0000"/>
                </a:solidFill>
              </a:rPr>
              <a:t>are </a:t>
            </a:r>
            <a:r>
              <a:rPr lang="en-US" i="1" dirty="0">
                <a:solidFill>
                  <a:srgbClr val="FF0000"/>
                </a:solidFill>
              </a:rPr>
              <a:t>instances </a:t>
            </a:r>
            <a:r>
              <a:rPr lang="en-US" dirty="0"/>
              <a:t>of the </a:t>
            </a:r>
            <a:r>
              <a:rPr lang="en-US" b="1" dirty="0">
                <a:solidFill>
                  <a:srgbClr val="FF0000"/>
                </a:solidFill>
              </a:rPr>
              <a:t>Student class.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849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–Example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Ahsan</a:t>
            </a:r>
            <a:r>
              <a:rPr lang="en-US" dirty="0"/>
              <a:t> teaches mathematics</a:t>
            </a:r>
          </a:p>
          <a:p>
            <a:r>
              <a:rPr lang="en-US" dirty="0" err="1" smtClean="0"/>
              <a:t>Aamir</a:t>
            </a:r>
            <a:r>
              <a:rPr lang="en-US" dirty="0" smtClean="0"/>
              <a:t> </a:t>
            </a:r>
            <a:r>
              <a:rPr lang="en-US" dirty="0"/>
              <a:t>teaches computer science</a:t>
            </a:r>
          </a:p>
          <a:p>
            <a:r>
              <a:rPr lang="en-US" dirty="0" err="1" smtClean="0"/>
              <a:t>Atif</a:t>
            </a:r>
            <a:r>
              <a:rPr lang="en-US" dirty="0" smtClean="0"/>
              <a:t> </a:t>
            </a:r>
            <a:r>
              <a:rPr lang="en-US" dirty="0"/>
              <a:t>teaches physics</a:t>
            </a:r>
          </a:p>
          <a:p>
            <a:r>
              <a:rPr lang="en-US" dirty="0"/>
              <a:t>Each one is a teacher so we say these objects are </a:t>
            </a:r>
            <a:r>
              <a:rPr lang="en-US" i="1" dirty="0"/>
              <a:t>instances </a:t>
            </a:r>
            <a:r>
              <a:rPr lang="en-US" dirty="0"/>
              <a:t>of the Teacher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454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smtClean="0"/>
              <a:t>Representation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2630488"/>
            <a:ext cx="5353050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161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Representation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756" y="2557463"/>
            <a:ext cx="5001153" cy="346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3555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62200"/>
            <a:ext cx="7620000" cy="3886200"/>
          </a:xfrm>
        </p:spPr>
        <p:txBody>
          <a:bodyPr/>
          <a:lstStyle/>
          <a:p>
            <a:r>
              <a:rPr lang="en-US" dirty="0"/>
              <a:t>A child inherits characteristics of its parents, besides inherited characteristics, a </a:t>
            </a:r>
            <a:r>
              <a:rPr lang="en-US" dirty="0" smtClean="0"/>
              <a:t>child may </a:t>
            </a:r>
            <a:r>
              <a:rPr lang="en-US" dirty="0"/>
              <a:t>have its own unique </a:t>
            </a:r>
            <a:r>
              <a:rPr lang="en-US" dirty="0" smtClean="0"/>
              <a:t>characteristics.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103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in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a class B inherits from class A then it contains all the characteristics (</a:t>
            </a:r>
            <a:r>
              <a:rPr lang="en-US" dirty="0" smtClean="0"/>
              <a:t>information structure </a:t>
            </a:r>
            <a:r>
              <a:rPr lang="en-US" dirty="0"/>
              <a:t>and </a:t>
            </a:r>
            <a:r>
              <a:rPr lang="en-US" dirty="0" err="1"/>
              <a:t>behaviour</a:t>
            </a:r>
            <a:r>
              <a:rPr lang="en-US" dirty="0"/>
              <a:t>) of class A</a:t>
            </a:r>
          </a:p>
          <a:p>
            <a:r>
              <a:rPr lang="en-US" dirty="0"/>
              <a:t>The parent class is called </a:t>
            </a:r>
            <a:r>
              <a:rPr lang="en-US" i="1" dirty="0"/>
              <a:t>base </a:t>
            </a:r>
            <a:r>
              <a:rPr lang="en-US" dirty="0"/>
              <a:t>class and the child class is called </a:t>
            </a:r>
            <a:r>
              <a:rPr lang="en-US" i="1" dirty="0"/>
              <a:t>derived </a:t>
            </a:r>
            <a:r>
              <a:rPr lang="en-US" dirty="0" smtClean="0"/>
              <a:t>class Besides </a:t>
            </a:r>
            <a:r>
              <a:rPr lang="en-US" dirty="0"/>
              <a:t>inherited characteristics, derived class may have its own </a:t>
            </a:r>
            <a:r>
              <a:rPr lang="en-US" dirty="0" smtClean="0"/>
              <a:t>unique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667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695325"/>
            <a:ext cx="7505700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7115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695325"/>
            <a:ext cx="6600825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2215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596180"/>
            <a:ext cx="7967662" cy="5804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79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itchFamily="18" charset="0"/>
              </a:rPr>
              <a:t>Inheritance –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aramond" pitchFamily="18" charset="0"/>
              </a:rPr>
              <a:t>Reuse</a:t>
            </a:r>
            <a:endParaRPr lang="en-US" dirty="0">
              <a:latin typeface="Garamond" pitchFamily="18" charset="0"/>
            </a:endParaRPr>
          </a:p>
          <a:p>
            <a:r>
              <a:rPr lang="en-US" dirty="0" smtClean="0">
                <a:latin typeface="Garamond" pitchFamily="18" charset="0"/>
              </a:rPr>
              <a:t>Less </a:t>
            </a:r>
            <a:r>
              <a:rPr lang="en-US" dirty="0">
                <a:latin typeface="Garamond" pitchFamily="18" charset="0"/>
              </a:rPr>
              <a:t>redundancy</a:t>
            </a:r>
          </a:p>
          <a:p>
            <a:r>
              <a:rPr lang="en-US" dirty="0" smtClean="0">
                <a:latin typeface="Garamond" pitchFamily="18" charset="0"/>
              </a:rPr>
              <a:t>Increased </a:t>
            </a:r>
            <a:r>
              <a:rPr lang="en-US" dirty="0">
                <a:latin typeface="Garamond" pitchFamily="18" charset="0"/>
              </a:rPr>
              <a:t>maintainability</a:t>
            </a:r>
            <a:endParaRPr lang="en-US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9564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23182495</TotalTime>
  <Words>952</Words>
  <Application>Microsoft Office PowerPoint</Application>
  <PresentationFormat>On-screen Show (4:3)</PresentationFormat>
  <Paragraphs>109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Theme3</vt:lpstr>
      <vt:lpstr>Organic</vt:lpstr>
      <vt:lpstr>Parcel</vt:lpstr>
      <vt:lpstr>Object Oriented Programming</vt:lpstr>
      <vt:lpstr>Lecture Content</vt:lpstr>
      <vt:lpstr>Information Hiding:</vt:lpstr>
      <vt:lpstr>Real Life Examples of Information Hiding</vt:lpstr>
      <vt:lpstr>Information Hiding</vt:lpstr>
      <vt:lpstr>Encapsulation</vt:lpstr>
      <vt:lpstr>Examples of Encapsulation</vt:lpstr>
      <vt:lpstr>Advantages of Encapsulation</vt:lpstr>
      <vt:lpstr>Interface</vt:lpstr>
      <vt:lpstr>Example – Interface of a Car</vt:lpstr>
      <vt:lpstr>Example – Interface of a Phone</vt:lpstr>
      <vt:lpstr>Abstraction</vt:lpstr>
      <vt:lpstr>Abstraction</vt:lpstr>
      <vt:lpstr>Abstraction Example:</vt:lpstr>
      <vt:lpstr>Abstraction Example:</vt:lpstr>
      <vt:lpstr>Abstraction Example:</vt:lpstr>
      <vt:lpstr>PowerPoint Presentation</vt:lpstr>
      <vt:lpstr>Classes</vt:lpstr>
      <vt:lpstr>Example1: Classes</vt:lpstr>
      <vt:lpstr>Class –Example 2</vt:lpstr>
      <vt:lpstr>Class Representation</vt:lpstr>
      <vt:lpstr>Class Representation</vt:lpstr>
      <vt:lpstr>Inheritance</vt:lpstr>
      <vt:lpstr>Inheritance in Classes</vt:lpstr>
      <vt:lpstr>PowerPoint Presentation</vt:lpstr>
      <vt:lpstr>PowerPoint Presentation</vt:lpstr>
      <vt:lpstr>PowerPoint Presentation</vt:lpstr>
      <vt:lpstr>Inheritance – Advantages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Cyber World</dc:creator>
  <cp:lastModifiedBy>Cyber World</cp:lastModifiedBy>
  <cp:revision>38</cp:revision>
  <dcterms:created xsi:type="dcterms:W3CDTF">1979-12-31T19:06:29Z</dcterms:created>
  <dcterms:modified xsi:type="dcterms:W3CDTF">2024-01-28T18:09:32Z</dcterms:modified>
</cp:coreProperties>
</file>
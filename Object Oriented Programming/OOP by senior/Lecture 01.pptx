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comment3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20"/>
  </p:notesMasterIdLst>
  <p:sldIdLst>
    <p:sldId id="256" r:id="rId3"/>
    <p:sldId id="271" r:id="rId4"/>
    <p:sldId id="272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taha" initials="M" lastIdx="4" clrIdx="0">
    <p:extLst>
      <p:ext uri="{19B8F6BF-5375-455C-9EA6-DF929625EA0E}">
        <p15:presenceInfo xmlns:p15="http://schemas.microsoft.com/office/powerpoint/2012/main" xmlns="" userId="Muntah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>
        <p:scale>
          <a:sx n="101" d="100"/>
          <a:sy n="101" d="100"/>
        </p:scale>
        <p:origin x="-258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5-08T17:44:34.898" idx="1">
    <p:pos x="10" y="10"/>
    <p:text>notion=tasawaur and concept</p:text>
    <p:extLst>
      <p:ext uri="{C676402C-5697-4E1C-873F-D02D1690AC5C}">
        <p15:threadingInfo xmlns:p15="http://schemas.microsoft.com/office/powerpoint/2012/main" xmlns="" timeZoneBias="-30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5-08T19:04:32.429" idx="2">
    <p:pos x="10" y="10"/>
    <p:text>project=blueprint</p:text>
    <p:extLst>
      <p:ext uri="{C676402C-5697-4E1C-873F-D02D1690AC5C}">
        <p15:threadingInfo xmlns:p15="http://schemas.microsoft.com/office/powerpoint/2012/main" xmlns="" timeZoneBias="-300"/>
      </p:ext>
    </p:extLst>
  </p:cm>
  <p:cm authorId="1" dt="2022-05-08T19:06:27.351" idx="3">
    <p:pos x="3785" y="3653"/>
    <p:text>the creation of an object=instantination</p:text>
    <p:extLst>
      <p:ext uri="{C676402C-5697-4E1C-873F-D02D1690AC5C}">
        <p15:threadingInfo xmlns:p15="http://schemas.microsoft.com/office/powerpoint/2012/main" xmlns="" timeZoneBias="-30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5-08T19:25:23.365" idx="4">
    <p:pos x="1176" y="3032"/>
    <p:text>repository=storage place</p:text>
    <p:extLst>
      <p:ext uri="{C676402C-5697-4E1C-873F-D02D1690AC5C}">
        <p15:threadingInfo xmlns:p15="http://schemas.microsoft.com/office/powerpoint/2012/main" xmlns="" timeZoneBias="-30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8C7AD-8F41-493A-87A9-DB6D2E09A953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FD387-26F0-43EE-9D10-5902CDA3A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75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8484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51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5667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0916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1053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3701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6971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5354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5128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5001D4-5429-40C6-A015-786B0AE71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3414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8F7D291-EDD0-4339-A28D-B16448925DBA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944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738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849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25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803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135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015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182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36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189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890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92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167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583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148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D291-EDD0-4339-A28D-B16448925DBA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9155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441615-5A44-410C-89F4-7540CC2153E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1/24/2024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5645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EEEDD-194D-4DD5-937E-553FA254329C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1/24/2024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3859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9082E-3C0F-48C1-AF91-E8B1B0DF5DF5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1/24/2024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9894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7EBE2-120C-4AA5-8863-7091BC941AC6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1/24/2024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81699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41925D-18D4-4F2E-8E4E-BFF18070A18A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1/24/2024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5046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AE92D-E9CF-4182-918D-E2DF720104D4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1/24/2024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56207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F2CF68-0C7E-4B18-A5B7-19E18E8ADD6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1/24/2024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5657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7A25D3-A3D3-45E1-A26B-27F22D2ABE7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1/24/2024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1751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F79975-D461-46C0-9BA3-FEABCE9F60C5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1/24/2024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9178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F0C275-A2B6-4458-8506-3A566F6F2D0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1/24/2024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33523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3F9B4A-C263-434F-8630-F35A9FDD4542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1/24/2024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7444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8F7D291-EDD0-4339-A28D-B16448925DBA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CEDBBD-7788-4B08-B20F-C062ECC8D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610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E9F8A-BBC2-4445-9A74-6C4C5980038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1/24/2024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23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aminabilquees1996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comments" Target="../comments/commen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Object Oriented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Course </a:t>
            </a:r>
            <a:r>
              <a:rPr lang="en-US" dirty="0" smtClean="0">
                <a:hlinkClick r:id="rId2"/>
              </a:rPr>
              <a:t>Instructor:</a:t>
            </a:r>
            <a:r>
              <a:rPr lang="en-US" dirty="0" smtClean="0"/>
              <a:t> </a:t>
            </a:r>
            <a:r>
              <a:rPr lang="en-US" dirty="0" err="1" smtClean="0"/>
              <a:t>Ms.Haseena</a:t>
            </a:r>
            <a:r>
              <a:rPr lang="en-US" dirty="0" smtClean="0"/>
              <a:t> </a:t>
            </a:r>
            <a:r>
              <a:rPr lang="en-US" dirty="0" err="1" smtClean="0"/>
              <a:t>Kainat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985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Material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 defTabSz="914400"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None/>
              <a:defRPr/>
            </a:pPr>
            <a:r>
              <a:rPr lang="en-US" b="1" spc="200" dirty="0">
                <a:solidFill>
                  <a:srgbClr val="262626"/>
                </a:solidFill>
                <a:latin typeface="Garamond" pitchFamily="18" charset="0"/>
              </a:rPr>
              <a:t>Recommended Book(s)</a:t>
            </a:r>
          </a:p>
          <a:p>
            <a:pPr marL="0" lvl="0" indent="0" algn="just" defTabSz="914400"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None/>
              <a:defRPr/>
            </a:pPr>
            <a:r>
              <a:rPr lang="en-US" b="1" spc="200" dirty="0">
                <a:solidFill>
                  <a:srgbClr val="262626"/>
                </a:solidFill>
                <a:latin typeface="Garamond" pitchFamily="18" charset="0"/>
              </a:rPr>
              <a:t>For C++:</a:t>
            </a:r>
          </a:p>
          <a:p>
            <a:pPr marL="457200" lvl="0" indent="-457200" algn="just" defTabSz="914400"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 spc="200" dirty="0">
                <a:solidFill>
                  <a:srgbClr val="262626"/>
                </a:solidFill>
                <a:latin typeface="Garamond" pitchFamily="18" charset="0"/>
              </a:rPr>
              <a:t>Object Oriented Programming in C++ by Robert </a:t>
            </a:r>
            <a:r>
              <a:rPr lang="en-US" spc="200" dirty="0" err="1">
                <a:solidFill>
                  <a:srgbClr val="262626"/>
                </a:solidFill>
                <a:latin typeface="Garamond" pitchFamily="18" charset="0"/>
              </a:rPr>
              <a:t>Lafore</a:t>
            </a:r>
            <a:r>
              <a:rPr lang="en-US" spc="200" dirty="0">
                <a:solidFill>
                  <a:srgbClr val="262626"/>
                </a:solidFill>
                <a:latin typeface="Garamond" pitchFamily="18" charset="0"/>
              </a:rPr>
              <a:t> (Recommended book</a:t>
            </a:r>
            <a:r>
              <a:rPr lang="en-US" spc="200" dirty="0" smtClean="0">
                <a:solidFill>
                  <a:srgbClr val="262626"/>
                </a:solidFill>
                <a:latin typeface="Garamond" pitchFamily="18" charset="0"/>
              </a:rPr>
              <a:t>).</a:t>
            </a:r>
            <a:endParaRPr lang="en-US" spc="200" dirty="0">
              <a:solidFill>
                <a:srgbClr val="262626"/>
              </a:solidFill>
              <a:latin typeface="Garamond" pitchFamily="18" charset="0"/>
            </a:endParaRPr>
          </a:p>
          <a:p>
            <a:pPr marL="457200" lvl="0" indent="-457200" algn="just" defTabSz="914400"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 spc="200" dirty="0">
                <a:solidFill>
                  <a:srgbClr val="262626"/>
                </a:solidFill>
                <a:latin typeface="Garamond" pitchFamily="18" charset="0"/>
              </a:rPr>
              <a:t>C++ How to Program by </a:t>
            </a:r>
            <a:r>
              <a:rPr lang="en-US" spc="200" dirty="0" err="1">
                <a:solidFill>
                  <a:srgbClr val="262626"/>
                </a:solidFill>
                <a:latin typeface="Garamond" pitchFamily="18" charset="0"/>
              </a:rPr>
              <a:t>Deitel</a:t>
            </a:r>
            <a:r>
              <a:rPr lang="en-US" spc="200" dirty="0">
                <a:solidFill>
                  <a:srgbClr val="262626"/>
                </a:solidFill>
                <a:latin typeface="Garamond" pitchFamily="18" charset="0"/>
              </a:rPr>
              <a:t> and </a:t>
            </a:r>
            <a:r>
              <a:rPr lang="en-US" spc="200" dirty="0" err="1">
                <a:solidFill>
                  <a:srgbClr val="262626"/>
                </a:solidFill>
                <a:latin typeface="Garamond" pitchFamily="18" charset="0"/>
              </a:rPr>
              <a:t>Deitel</a:t>
            </a:r>
            <a:r>
              <a:rPr lang="en-US" spc="200" dirty="0">
                <a:solidFill>
                  <a:srgbClr val="262626"/>
                </a:solidFill>
                <a:latin typeface="Garamond" pitchFamily="18" charset="0"/>
              </a:rPr>
              <a:t> (Alternate book</a:t>
            </a:r>
            <a:r>
              <a:rPr lang="en-US" spc="200" dirty="0" smtClean="0">
                <a:solidFill>
                  <a:srgbClr val="262626"/>
                </a:solidFill>
                <a:latin typeface="Garamond" pitchFamily="18" charset="0"/>
              </a:rPr>
              <a:t>).</a:t>
            </a:r>
            <a:endParaRPr lang="en-US" spc="200" dirty="0">
              <a:solidFill>
                <a:srgbClr val="262626"/>
              </a:solidFill>
              <a:latin typeface="Garamond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437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Concepts of 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Object-oriented programming has four basic </a:t>
            </a:r>
            <a:r>
              <a:rPr lang="en-US" dirty="0" smtClean="0"/>
              <a:t>concepts,</a:t>
            </a:r>
            <a:r>
              <a:rPr lang="en-US" dirty="0"/>
              <a:t> help you understand the basic functionality of an OOP computer program</a:t>
            </a:r>
            <a:endParaRPr lang="en-US" dirty="0" smtClean="0"/>
          </a:p>
          <a:p>
            <a:r>
              <a:rPr lang="en-US" dirty="0" smtClean="0"/>
              <a:t>Abstraction</a:t>
            </a:r>
          </a:p>
          <a:p>
            <a:r>
              <a:rPr lang="en-US" dirty="0" smtClean="0"/>
              <a:t>Encapsulation</a:t>
            </a:r>
          </a:p>
          <a:p>
            <a:r>
              <a:rPr lang="en-US" dirty="0" smtClean="0"/>
              <a:t>Inheritance</a:t>
            </a:r>
          </a:p>
          <a:p>
            <a:r>
              <a:rPr lang="en-US" dirty="0" smtClean="0"/>
              <a:t>Polymorphism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58572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280219" y="1165123"/>
            <a:ext cx="11651226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Modern computers are smaller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, but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far more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complex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than early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computers.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They can execute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many programs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at the same time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.</a:t>
            </a:r>
            <a:endParaRPr kumimoji="0" lang="en-US" sz="2800" b="0" i="0" u="none" strike="noStrike" kern="1200" cap="none" spc="2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Computer scientists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have introduced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the notion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of </a:t>
            </a:r>
            <a:r>
              <a:rPr kumimoji="0" lang="en-US" sz="2800" b="1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and </a:t>
            </a:r>
            <a:r>
              <a:rPr kumimoji="0" lang="en-US" sz="2800" b="1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object-oriented programming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to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help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manage the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growing complexity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of modern computers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Why OOP?</a:t>
            </a:r>
            <a:endParaRPr kumimoji="0" lang="en-US" sz="2800" b="1" i="0" u="none" strike="noStrike" kern="1200" cap="all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4532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280219" y="1165123"/>
            <a:ext cx="11651226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spc="200" dirty="0" smtClean="0">
                <a:solidFill>
                  <a:schemeClr val="bg1"/>
                </a:solidFill>
                <a:latin typeface="Gill Sans MT" panose="020B0502020104020203"/>
              </a:rPr>
              <a:t>Programming Paradigm for </a:t>
            </a:r>
            <a:r>
              <a:rPr lang="en-US" sz="2800" b="1" spc="200" dirty="0" smtClean="0">
                <a:solidFill>
                  <a:srgbClr val="FF0000"/>
                </a:solidFill>
                <a:latin typeface="Gill Sans MT" panose="020B0502020104020203"/>
              </a:rPr>
              <a:t>System Modeling.</a:t>
            </a:r>
            <a:endParaRPr kumimoji="0" lang="en-US" sz="2800" b="1" i="0" u="none" strike="noStrike" kern="1200" cap="none" spc="20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MT" panose="020B0502020104020203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Programming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model/style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that is associated with the concept of Class, Objects and various other concepts revolving around these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two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 Oriented Programming is a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design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concept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It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is nothing but a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technique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to design applications.</a:t>
            </a:r>
            <a:endParaRPr kumimoji="0" lang="en-US" sz="2800" b="0" i="0" u="none" strike="noStrike" kern="1200" cap="none" spc="20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20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Introduction </a:t>
            </a:r>
            <a:r>
              <a:rPr kumimoji="0" lang="en-US" sz="2800" b="1" i="0" u="none" strike="noStrike" kern="1200" cap="all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to OOP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4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Understanding Object</a:t>
            </a:r>
            <a:endParaRPr kumimoji="0" lang="en-US" sz="2800" b="1" i="0" u="none" strike="noStrike" kern="1200" cap="all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80219" y="1159717"/>
            <a:ext cx="11651226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 </a:t>
            </a:r>
            <a:r>
              <a:rPr kumimoji="0" lang="en-US" sz="2800" b="1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is anything that can be represented by data in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 computer’s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memory and manipulated by a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computer program.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 is an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instance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of a class.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Anything that we see are nothing but objects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Objects can be anything like pen, car, computer, bike, mobiles, etc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If there are objects then they will have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properties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and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behaviors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, which will differentiate one object from other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E.g.: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Take an example of a car. Car has properties (Color, Model, and Brand) and behaviors (it can move forward and backward). Likewise different objects have different properties and behaviors.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022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Understanding </a:t>
            </a:r>
            <a:r>
              <a:rPr kumimoji="0" lang="en-US" sz="2800" b="1" i="0" u="none" strike="noStrike" kern="1200" cap="all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Class</a:t>
            </a:r>
            <a:endParaRPr kumimoji="0" lang="en-US" sz="2800" b="1" i="0" u="none" strike="noStrike" kern="1200" cap="all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80219" y="1159717"/>
            <a:ext cx="8482781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Classes are something, which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defines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 object. </a:t>
            </a:r>
            <a:endParaRPr kumimoji="0" lang="en-US" sz="2800" b="0" i="0" u="none" strike="noStrike" kern="1200" cap="none" spc="20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You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can say Class is a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blueprint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of Object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. </a:t>
            </a:r>
            <a:endParaRPr kumimoji="0" lang="en-US" sz="2800" b="0" i="0" u="none" strike="noStrike" kern="1200" cap="none" spc="20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Collection of objects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is called class. </a:t>
            </a:r>
            <a:endParaRPr kumimoji="0" lang="en-US" sz="2800" b="0" i="0" u="none" strike="noStrike" kern="1200" cap="none" spc="20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It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is a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logical entity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.</a:t>
            </a:r>
            <a:endParaRPr kumimoji="0" lang="en-US" sz="2800" b="0" i="0" u="none" strike="noStrike" kern="1200" cap="none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Class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describes all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properties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and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behaviors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of an Object. </a:t>
            </a:r>
            <a:endParaRPr kumimoji="0" lang="en-US" sz="2800" b="0" i="0" u="none" strike="noStrike" kern="1200" cap="none" spc="20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Classes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define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attributes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and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methods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of the objects of its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kind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.</a:t>
            </a:r>
            <a:endParaRPr kumimoji="0" lang="en-US" sz="2800" b="0" i="0" u="none" strike="noStrike" kern="1200" cap="none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The act of creating a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new instance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of an object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is called </a:t>
            </a:r>
            <a:r>
              <a:rPr kumimoji="0" lang="en-US" sz="2800" b="1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instantiation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2050" name="Picture 2" descr="Class in Jav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0" b="8267"/>
          <a:stretch/>
        </p:blipFill>
        <p:spPr bwMode="auto">
          <a:xfrm>
            <a:off x="8903663" y="1586436"/>
            <a:ext cx="3181657" cy="431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788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Class &amp; Object</a:t>
            </a:r>
            <a:endParaRPr kumimoji="0" lang="en-US" sz="2800" b="1" i="0" u="none" strike="noStrike" kern="1200" cap="all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80219" y="1159717"/>
            <a:ext cx="11651226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11266" name="Picture 2" descr="Image result for class in c#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346" y="1454871"/>
            <a:ext cx="8428971" cy="4496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713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What is Object Oriented Programming?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80219" y="1159717"/>
            <a:ext cx="11651226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797" y="1439227"/>
            <a:ext cx="8510070" cy="396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96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all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80219" y="1159717"/>
            <a:ext cx="11651226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352" y="1305877"/>
            <a:ext cx="8160959" cy="46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9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all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80219" y="1159717"/>
            <a:ext cx="11651226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19" y="214634"/>
            <a:ext cx="6810375" cy="4695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833" y="3513123"/>
            <a:ext cx="629602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678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Object Oriented Language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80219" y="1159717"/>
            <a:ext cx="11651226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We have specialized languages to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program object-oriented-</a:t>
            </a:r>
            <a:r>
              <a:rPr kumimoji="0" lang="en-US" sz="2800" b="0" i="0" u="none" strike="noStrike" kern="1200" cap="none" spc="20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ly</a:t>
            </a:r>
            <a:endParaRPr kumimoji="0" lang="en-US" sz="2800" b="0" i="0" u="none" strike="noStrike" kern="1200" cap="none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– Research has shown that we seem to think in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the language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we speak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20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Easier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to think in terms of objects using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 oriented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language rather than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procedural languages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822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blackWhite">
          <a:xfrm>
            <a:off x="280219" y="189234"/>
            <a:ext cx="11651226" cy="8136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Characteristics of OOP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80219" y="1159717"/>
            <a:ext cx="11651226" cy="553064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Everything is an object !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Computation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is performed by objects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communicating with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each other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– Objects communicate by sending and receiving messages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Each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 has its own memory, which consists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of other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objects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Every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 is an instance of a class (has a </a:t>
            </a:r>
            <a:r>
              <a:rPr kumimoji="0" lang="en-US" sz="2800" b="1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type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)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The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class is the repository for behaviour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associated with </a:t>
            </a:r>
            <a:r>
              <a:rPr kumimoji="0" lang="en-US" sz="2800" b="0" i="0" u="none" strike="noStrike" kern="1200" cap="none" spc="2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 </a:t>
            </a:r>
            <a:r>
              <a:rPr kumimoji="0" lang="en-US" sz="28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object</a:t>
            </a:r>
            <a:endParaRPr kumimoji="0" lang="en-US" sz="2800" b="0" i="0" u="none" strike="noStrike" kern="1200" cap="none" spc="20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07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vs 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1026" name="Picture 2" descr="Understanding Classes and Objects in Java - GeeksforGeek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136" y="2390775"/>
            <a:ext cx="7729728" cy="368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2584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of a 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2050" name="Picture 2" descr="Class Vs Object: Difference Between Class and Object in OOP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620" y="2272665"/>
            <a:ext cx="3386120" cy="420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67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3074" name="Picture 2" descr="Classes &amp; Objects in C++ - Simple Snippet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6353" y="2390231"/>
            <a:ext cx="4739293" cy="310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927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Any Question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9567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arcel" id="{8BEC4385-4EB9-4D53-BFB5-0EA123736B6D}" vid="{4DB32801-28C0-48B0-8C1D-A9A58613615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171</TotalTime>
  <Words>490</Words>
  <Application>Microsoft Office PowerPoint</Application>
  <PresentationFormat>Custom</PresentationFormat>
  <Paragraphs>79</Paragraphs>
  <Slides>17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Organic</vt:lpstr>
      <vt:lpstr>Parcel</vt:lpstr>
      <vt:lpstr>Object Oriented Programming</vt:lpstr>
      <vt:lpstr>Course Material</vt:lpstr>
      <vt:lpstr>Basic Concepts of OOP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Object vs class</vt:lpstr>
      <vt:lpstr>Structure of a class</vt:lpstr>
      <vt:lpstr>PowerPoint Presentation</vt:lpstr>
      <vt:lpstr>Thanks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Wasi</dc:creator>
  <cp:lastModifiedBy>Cyber World</cp:lastModifiedBy>
  <cp:revision>15</cp:revision>
  <dcterms:created xsi:type="dcterms:W3CDTF">2022-04-24T09:46:42Z</dcterms:created>
  <dcterms:modified xsi:type="dcterms:W3CDTF">2024-01-24T06:23:31Z</dcterms:modified>
</cp:coreProperties>
</file>
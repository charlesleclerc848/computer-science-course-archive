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1"/>
  </p:notesMasterIdLst>
  <p:sldIdLst>
    <p:sldId id="256" r:id="rId2"/>
    <p:sldId id="262" r:id="rId3"/>
    <p:sldId id="260" r:id="rId4"/>
    <p:sldId id="261" r:id="rId5"/>
    <p:sldId id="265" r:id="rId6"/>
    <p:sldId id="264" r:id="rId7"/>
    <p:sldId id="263" r:id="rId8"/>
    <p:sldId id="258"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3/5/2024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3/5/2024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3/5/2024</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3/5/2024</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3/5/2024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3/5/2024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3/5/2024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3/5/2024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3/5/2024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- 04</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600" dirty="0" smtClean="0">
                <a:solidFill>
                  <a:schemeClr val="tx1"/>
                </a:solidFill>
                <a:latin typeface="Times New Roman" panose="02020603050405020304" pitchFamily="18" charset="0"/>
                <a:cs typeface="Times New Roman" panose="02020603050405020304" pitchFamily="18" charset="0"/>
              </a:rPr>
              <a:t>Write a C++ program </a:t>
            </a:r>
            <a:r>
              <a:rPr lang="en-US" sz="2600" dirty="0">
                <a:solidFill>
                  <a:schemeClr val="tx1"/>
                </a:solidFill>
                <a:latin typeface="Times New Roman" panose="02020603050405020304" pitchFamily="18" charset="0"/>
                <a:cs typeface="Times New Roman" panose="02020603050405020304" pitchFamily="18" charset="0"/>
              </a:rPr>
              <a:t>that </a:t>
            </a:r>
            <a:r>
              <a:rPr lang="en-US" sz="2600" dirty="0" smtClean="0">
                <a:solidFill>
                  <a:schemeClr val="tx1"/>
                </a:solidFill>
                <a:latin typeface="Times New Roman" panose="02020603050405020304" pitchFamily="18" charset="0"/>
                <a:cs typeface="Times New Roman" panose="02020603050405020304" pitchFamily="18" charset="0"/>
              </a:rPr>
              <a:t>input </a:t>
            </a:r>
            <a:r>
              <a:rPr lang="en-US" sz="2600" dirty="0">
                <a:solidFill>
                  <a:schemeClr val="tx1"/>
                </a:solidFill>
                <a:latin typeface="Times New Roman" panose="02020603050405020304" pitchFamily="18" charset="0"/>
                <a:cs typeface="Times New Roman" panose="02020603050405020304" pitchFamily="18" charset="0"/>
              </a:rPr>
              <a:t>a number from user and display whether it is a positive or negative </a:t>
            </a:r>
            <a:r>
              <a:rPr lang="en-US" sz="2600" dirty="0" smtClean="0">
                <a:solidFill>
                  <a:schemeClr val="tx1"/>
                </a:solidFill>
                <a:latin typeface="Times New Roman" panose="02020603050405020304" pitchFamily="18" charset="0"/>
                <a:cs typeface="Times New Roman" panose="02020603050405020304" pitchFamily="18" charset="0"/>
              </a:rPr>
              <a:t>number.</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8" name="Picture 7"/>
          <p:cNvPicPr>
            <a:picLocks noChangeAspect="1"/>
          </p:cNvPicPr>
          <p:nvPr/>
        </p:nvPicPr>
        <p:blipFill>
          <a:blip r:embed="rId3"/>
          <a:stretch>
            <a:fillRect/>
          </a:stretch>
        </p:blipFill>
        <p:spPr>
          <a:xfrm>
            <a:off x="1220127" y="3015831"/>
            <a:ext cx="9812705" cy="2975285"/>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800" dirty="0" smtClean="0">
                <a:solidFill>
                  <a:schemeClr val="tx1"/>
                </a:solidFill>
                <a:latin typeface="Times New Roman" panose="02020603050405020304" pitchFamily="18" charset="0"/>
                <a:cs typeface="Times New Roman" panose="02020603050405020304" pitchFamily="18" charset="0"/>
              </a:rPr>
              <a:t>Write a C++ program </a:t>
            </a:r>
            <a:r>
              <a:rPr lang="en-US" sz="2800" dirty="0">
                <a:solidFill>
                  <a:schemeClr val="tx1"/>
                </a:solidFill>
                <a:latin typeface="Times New Roman" panose="02020603050405020304" pitchFamily="18" charset="0"/>
                <a:cs typeface="Times New Roman" panose="02020603050405020304" pitchFamily="18" charset="0"/>
              </a:rPr>
              <a:t>that </a:t>
            </a:r>
            <a:r>
              <a:rPr lang="en-US" sz="2800" dirty="0" smtClean="0">
                <a:solidFill>
                  <a:schemeClr val="tx1"/>
                </a:solidFill>
                <a:latin typeface="Times New Roman" panose="02020603050405020304" pitchFamily="18" charset="0"/>
                <a:cs typeface="Times New Roman" panose="02020603050405020304" pitchFamily="18" charset="0"/>
              </a:rPr>
              <a:t>input </a:t>
            </a:r>
            <a:r>
              <a:rPr lang="en-US" sz="2800" dirty="0">
                <a:solidFill>
                  <a:schemeClr val="tx1"/>
                </a:solidFill>
                <a:latin typeface="Times New Roman" panose="02020603050405020304" pitchFamily="18" charset="0"/>
                <a:cs typeface="Times New Roman" panose="02020603050405020304" pitchFamily="18" charset="0"/>
              </a:rPr>
              <a:t>five values from the user and display the maximum number from the list.</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8" name="Picture 7"/>
          <p:cNvPicPr>
            <a:picLocks noChangeAspect="1"/>
          </p:cNvPicPr>
          <p:nvPr/>
        </p:nvPicPr>
        <p:blipFill>
          <a:blip r:embed="rId3"/>
          <a:stretch>
            <a:fillRect/>
          </a:stretch>
        </p:blipFill>
        <p:spPr>
          <a:xfrm>
            <a:off x="1938908" y="2914991"/>
            <a:ext cx="8375144" cy="3076125"/>
          </a:xfrm>
          <a:prstGeom prst="rect">
            <a:avLst/>
          </a:prstGeom>
        </p:spPr>
      </p:pic>
    </p:spTree>
    <p:extLst>
      <p:ext uri="{BB962C8B-B14F-4D97-AF65-F5344CB8AC3E}">
        <p14:creationId xmlns:p14="http://schemas.microsoft.com/office/powerpoint/2010/main" val="14076782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Prompt the user to enter the salary and grade of an employee. If the employee has a </a:t>
            </a:r>
            <a:r>
              <a:rPr lang="en-US" sz="2800" dirty="0" smtClean="0">
                <a:solidFill>
                  <a:schemeClr val="tx1"/>
                </a:solidFill>
                <a:latin typeface="Times New Roman" panose="02020603050405020304" pitchFamily="18" charset="0"/>
                <a:cs typeface="Times New Roman" panose="02020603050405020304" pitchFamily="18" charset="0"/>
              </a:rPr>
              <a:t>grade greater </a:t>
            </a:r>
            <a:r>
              <a:rPr lang="en-US" sz="2800" dirty="0">
                <a:solidFill>
                  <a:schemeClr val="tx1"/>
                </a:solidFill>
                <a:latin typeface="Times New Roman" panose="02020603050405020304" pitchFamily="18" charset="0"/>
                <a:cs typeface="Times New Roman" panose="02020603050405020304" pitchFamily="18" charset="0"/>
              </a:rPr>
              <a:t>than 15 then add 50% bonus to the employee’s salary. Otherwise if the employee’s grade is </a:t>
            </a:r>
            <a:r>
              <a:rPr lang="en-US" sz="2800" dirty="0" smtClean="0">
                <a:solidFill>
                  <a:schemeClr val="tx1"/>
                </a:solidFill>
                <a:latin typeface="Times New Roman" panose="02020603050405020304" pitchFamily="18" charset="0"/>
                <a:cs typeface="Times New Roman" panose="02020603050405020304" pitchFamily="18" charset="0"/>
              </a:rPr>
              <a:t>less than </a:t>
            </a:r>
            <a:r>
              <a:rPr lang="en-US" sz="2800" dirty="0">
                <a:solidFill>
                  <a:schemeClr val="tx1"/>
                </a:solidFill>
                <a:latin typeface="Times New Roman" panose="02020603050405020304" pitchFamily="18" charset="0"/>
                <a:cs typeface="Times New Roman" panose="02020603050405020304" pitchFamily="18" charset="0"/>
              </a:rPr>
              <a:t>15 then add 25% bonus to the employee’s salary.</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1719882" y="3751913"/>
            <a:ext cx="8790064" cy="2239203"/>
          </a:xfrm>
          <a:prstGeom prst="rect">
            <a:avLst/>
          </a:prstGeom>
        </p:spPr>
      </p:pic>
    </p:spTree>
    <p:extLst>
      <p:ext uri="{BB962C8B-B14F-4D97-AF65-F5344CB8AC3E}">
        <p14:creationId xmlns:p14="http://schemas.microsoft.com/office/powerpoint/2010/main" val="1437709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C++ program that accepts a character and determine either the character is a lowercase letter or uppercase letter, also convert lowercase to uppercase and uppercase to </a:t>
            </a:r>
            <a:r>
              <a:rPr lang="en-US" sz="2800" dirty="0" smtClean="0">
                <a:solidFill>
                  <a:schemeClr val="tx1"/>
                </a:solidFill>
                <a:latin typeface="Times New Roman" panose="02020603050405020304" pitchFamily="18" charset="0"/>
                <a:cs typeface="Times New Roman" panose="02020603050405020304" pitchFamily="18" charset="0"/>
              </a:rPr>
              <a:t>lowercase.</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rotWithShape="1">
          <a:blip r:embed="rId3"/>
          <a:srcRect r="7958"/>
          <a:stretch/>
        </p:blipFill>
        <p:spPr>
          <a:xfrm>
            <a:off x="1134879" y="3586500"/>
            <a:ext cx="4991601" cy="2141380"/>
          </a:xfrm>
          <a:prstGeom prst="rect">
            <a:avLst/>
          </a:prstGeom>
        </p:spPr>
      </p:pic>
      <p:pic>
        <p:nvPicPr>
          <p:cNvPr id="8" name="Picture 7"/>
          <p:cNvPicPr>
            <a:picLocks noChangeAspect="1"/>
          </p:cNvPicPr>
          <p:nvPr/>
        </p:nvPicPr>
        <p:blipFill>
          <a:blip r:embed="rId4"/>
          <a:stretch>
            <a:fillRect/>
          </a:stretch>
        </p:blipFill>
        <p:spPr>
          <a:xfrm>
            <a:off x="6209729" y="3586500"/>
            <a:ext cx="5002754" cy="2141380"/>
          </a:xfrm>
          <a:prstGeom prst="rect">
            <a:avLst/>
          </a:prstGeom>
        </p:spPr>
      </p:pic>
    </p:spTree>
    <p:extLst>
      <p:ext uri="{BB962C8B-B14F-4D97-AF65-F5344CB8AC3E}">
        <p14:creationId xmlns:p14="http://schemas.microsoft.com/office/powerpoint/2010/main" val="7418147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3"/>
            <a:ext cx="10058400" cy="4024125"/>
          </a:xfrm>
        </p:spPr>
        <p:txBody>
          <a:bodyPr>
            <a:noAutofit/>
          </a:bodyPr>
          <a:lstStyle/>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Write a program that input the salary of an employee from the user and apply the tax deductions as per a defined policy. The program should compute the tax amount and display the tax and net salary of the user. The defined tax deduction policy is as followings</a:t>
            </a:r>
            <a:r>
              <a:rPr lang="en-US" sz="2400" dirty="0" smtClean="0">
                <a:solidFill>
                  <a:schemeClr val="tx1"/>
                </a:solidFill>
                <a:latin typeface="Times New Roman" panose="02020603050405020304" pitchFamily="18" charset="0"/>
                <a:cs typeface="Times New Roman" panose="02020603050405020304" pitchFamily="18" charset="0"/>
              </a:rPr>
              <a:t>:</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No </a:t>
            </a:r>
            <a:r>
              <a:rPr lang="en-US" dirty="0">
                <a:solidFill>
                  <a:schemeClr val="tx1"/>
                </a:solidFill>
                <a:latin typeface="Times New Roman" panose="02020603050405020304" pitchFamily="18" charset="0"/>
                <a:cs typeface="Times New Roman" panose="02020603050405020304" pitchFamily="18" charset="0"/>
              </a:rPr>
              <a:t>tax should be applied for the employees having 7500 or below </a:t>
            </a:r>
            <a:r>
              <a:rPr lang="en-US" dirty="0" smtClean="0">
                <a:solidFill>
                  <a:schemeClr val="tx1"/>
                </a:solidFill>
                <a:latin typeface="Times New Roman" panose="02020603050405020304" pitchFamily="18" charset="0"/>
                <a:cs typeface="Times New Roman" panose="02020603050405020304" pitchFamily="18" charset="0"/>
              </a:rPr>
              <a:t>salary</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5</a:t>
            </a:r>
            <a:r>
              <a:rPr lang="en-US" dirty="0">
                <a:solidFill>
                  <a:schemeClr val="tx1"/>
                </a:solidFill>
                <a:latin typeface="Times New Roman" panose="02020603050405020304" pitchFamily="18" charset="0"/>
                <a:cs typeface="Times New Roman" panose="02020603050405020304" pitchFamily="18" charset="0"/>
              </a:rPr>
              <a:t>% tax should be applied if salary is more than or equals to 7501 and less than </a:t>
            </a:r>
            <a:r>
              <a:rPr lang="en-US" dirty="0" smtClean="0">
                <a:solidFill>
                  <a:schemeClr val="tx1"/>
                </a:solidFill>
                <a:latin typeface="Times New Roman" panose="02020603050405020304" pitchFamily="18" charset="0"/>
                <a:cs typeface="Times New Roman" panose="02020603050405020304" pitchFamily="18" charset="0"/>
              </a:rPr>
              <a:t>15000</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12 </a:t>
            </a:r>
            <a:r>
              <a:rPr lang="en-US" dirty="0">
                <a:solidFill>
                  <a:schemeClr val="tx1"/>
                </a:solidFill>
                <a:latin typeface="Times New Roman" panose="02020603050405020304" pitchFamily="18" charset="0"/>
                <a:cs typeface="Times New Roman" panose="02020603050405020304" pitchFamily="18" charset="0"/>
              </a:rPr>
              <a:t>% tax should be applied if salary is more than or equals to 15000 and less than </a:t>
            </a:r>
            <a:r>
              <a:rPr lang="en-US" dirty="0" smtClean="0">
                <a:solidFill>
                  <a:schemeClr val="tx1"/>
                </a:solidFill>
                <a:latin typeface="Times New Roman" panose="02020603050405020304" pitchFamily="18" charset="0"/>
                <a:cs typeface="Times New Roman" panose="02020603050405020304" pitchFamily="18" charset="0"/>
              </a:rPr>
              <a:t>25000</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18 </a:t>
            </a:r>
            <a:r>
              <a:rPr lang="en-US" dirty="0">
                <a:solidFill>
                  <a:schemeClr val="tx1"/>
                </a:solidFill>
                <a:latin typeface="Times New Roman" panose="02020603050405020304" pitchFamily="18" charset="0"/>
                <a:cs typeface="Times New Roman" panose="02020603050405020304" pitchFamily="18" charset="0"/>
              </a:rPr>
              <a:t>% tax should be applied if salary is more than or equals to 25000 and less than </a:t>
            </a:r>
            <a:r>
              <a:rPr lang="en-US" dirty="0" smtClean="0">
                <a:solidFill>
                  <a:schemeClr val="tx1"/>
                </a:solidFill>
                <a:latin typeface="Times New Roman" panose="02020603050405020304" pitchFamily="18" charset="0"/>
                <a:cs typeface="Times New Roman" panose="02020603050405020304" pitchFamily="18" charset="0"/>
              </a:rPr>
              <a:t>50000</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24 </a:t>
            </a:r>
            <a:r>
              <a:rPr lang="en-US" dirty="0">
                <a:solidFill>
                  <a:schemeClr val="tx1"/>
                </a:solidFill>
                <a:latin typeface="Times New Roman" panose="02020603050405020304" pitchFamily="18" charset="0"/>
                <a:cs typeface="Times New Roman" panose="02020603050405020304" pitchFamily="18" charset="0"/>
              </a:rPr>
              <a:t>% tax should be applied if salary is more than or equals to 50000 and less than </a:t>
            </a:r>
            <a:r>
              <a:rPr lang="en-US" dirty="0" smtClean="0">
                <a:solidFill>
                  <a:schemeClr val="tx1"/>
                </a:solidFill>
                <a:latin typeface="Times New Roman" panose="02020603050405020304" pitchFamily="18" charset="0"/>
                <a:cs typeface="Times New Roman" panose="02020603050405020304" pitchFamily="18" charset="0"/>
              </a:rPr>
              <a:t>150000</a:t>
            </a:r>
          </a:p>
          <a:p>
            <a:pPr marL="530225" indent="-354013" algn="just">
              <a:lnSpc>
                <a:spcPct val="100000"/>
              </a:lnSpc>
              <a:spcBef>
                <a:spcPts val="600"/>
              </a:spcBef>
              <a:spcAft>
                <a:spcPts val="0"/>
              </a:spcAft>
              <a:buFont typeface="Wingdings" panose="05000000000000000000" pitchFamily="2" charset="2"/>
              <a:buChar char="§"/>
              <a:tabLst>
                <a:tab pos="530225" algn="l"/>
              </a:tabLst>
            </a:pPr>
            <a:r>
              <a:rPr lang="en-US" dirty="0" smtClean="0">
                <a:solidFill>
                  <a:schemeClr val="tx1"/>
                </a:solidFill>
                <a:latin typeface="Times New Roman" panose="02020603050405020304" pitchFamily="18" charset="0"/>
                <a:cs typeface="Times New Roman" panose="02020603050405020304" pitchFamily="18" charset="0"/>
              </a:rPr>
              <a:t>27 </a:t>
            </a:r>
            <a:r>
              <a:rPr lang="en-US" dirty="0">
                <a:solidFill>
                  <a:schemeClr val="tx1"/>
                </a:solidFill>
                <a:latin typeface="Times New Roman" panose="02020603050405020304" pitchFamily="18" charset="0"/>
                <a:cs typeface="Times New Roman" panose="02020603050405020304" pitchFamily="18" charset="0"/>
              </a:rPr>
              <a:t>% tax should be applied if salary is more than or equals to 150000 or above</a:t>
            </a:r>
          </a:p>
        </p:txBody>
      </p:sp>
      <p:sp>
        <p:nvSpPr>
          <p:cNvPr id="4" name="Footer Placeholder 3"/>
          <p:cNvSpPr>
            <a:spLocks noGrp="1"/>
          </p:cNvSpPr>
          <p:nvPr>
            <p:ph type="ftr" sz="quarter" idx="11"/>
          </p:nvPr>
        </p:nvSpPr>
        <p:spPr/>
        <p:txBody>
          <a:bodyPr/>
          <a:lstStyle/>
          <a:p>
            <a:r>
              <a:rPr lang="en-US" dirty="0" smtClean="0"/>
              <a:t>The University of Lahore</a:t>
            </a:r>
            <a:endParaRPr lang="en-US" dirty="0"/>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442989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- 6</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Prompt the user to input a character and display whether it is a vowel or consonant </a:t>
            </a:r>
            <a:r>
              <a:rPr lang="en-US" sz="2800" dirty="0" smtClean="0">
                <a:solidFill>
                  <a:schemeClr val="tx1"/>
                </a:solidFill>
                <a:latin typeface="Times New Roman" panose="02020603050405020304" pitchFamily="18" charset="0"/>
                <a:cs typeface="Times New Roman" panose="02020603050405020304" pitchFamily="18" charset="0"/>
              </a:rPr>
              <a:t>using switch </a:t>
            </a:r>
            <a:r>
              <a:rPr lang="en-US" sz="2800" dirty="0">
                <a:solidFill>
                  <a:schemeClr val="tx1"/>
                </a:solidFill>
                <a:latin typeface="Times New Roman" panose="02020603050405020304" pitchFamily="18" charset="0"/>
                <a:cs typeface="Times New Roman" panose="02020603050405020304" pitchFamily="18" charset="0"/>
              </a:rPr>
              <a:t>statement.</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rotWithShape="1">
          <a:blip r:embed="rId3"/>
          <a:srcRect r="48038"/>
          <a:stretch/>
        </p:blipFill>
        <p:spPr>
          <a:xfrm>
            <a:off x="826674" y="3413362"/>
            <a:ext cx="4937506" cy="1920637"/>
          </a:xfrm>
          <a:prstGeom prst="rect">
            <a:avLst/>
          </a:prstGeom>
        </p:spPr>
      </p:pic>
      <p:pic>
        <p:nvPicPr>
          <p:cNvPr id="9" name="Picture 8"/>
          <p:cNvPicPr>
            <a:picLocks noChangeAspect="1"/>
          </p:cNvPicPr>
          <p:nvPr/>
        </p:nvPicPr>
        <p:blipFill>
          <a:blip r:embed="rId4"/>
          <a:stretch>
            <a:fillRect/>
          </a:stretch>
        </p:blipFill>
        <p:spPr>
          <a:xfrm>
            <a:off x="6232448" y="3413362"/>
            <a:ext cx="5193838" cy="1920637"/>
          </a:xfrm>
          <a:prstGeom prst="rect">
            <a:avLst/>
          </a:prstGeom>
        </p:spPr>
      </p:pic>
    </p:spTree>
    <p:extLst>
      <p:ext uri="{BB962C8B-B14F-4D97-AF65-F5344CB8AC3E}">
        <p14:creationId xmlns:p14="http://schemas.microsoft.com/office/powerpoint/2010/main" val="29847833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- 7</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600" dirty="0">
                <a:solidFill>
                  <a:schemeClr val="tx1"/>
                </a:solidFill>
                <a:latin typeface="Times New Roman" panose="02020603050405020304" pitchFamily="18" charset="0"/>
                <a:cs typeface="Times New Roman" panose="02020603050405020304" pitchFamily="18" charset="0"/>
              </a:rPr>
              <a:t>Write a program that asks the user to input a mathematical operator (+, -, *, </a:t>
            </a:r>
            <a:r>
              <a:rPr lang="en-US" sz="2600" dirty="0" smtClean="0">
                <a:solidFill>
                  <a:schemeClr val="tx1"/>
                </a:solidFill>
                <a:latin typeface="Times New Roman" panose="02020603050405020304" pitchFamily="18" charset="0"/>
                <a:cs typeface="Times New Roman" panose="02020603050405020304" pitchFamily="18" charset="0"/>
              </a:rPr>
              <a:t>/) </a:t>
            </a:r>
            <a:r>
              <a:rPr lang="en-US" sz="2600" dirty="0">
                <a:solidFill>
                  <a:schemeClr val="tx1"/>
                </a:solidFill>
                <a:latin typeface="Times New Roman" panose="02020603050405020304" pitchFamily="18" charset="0"/>
                <a:cs typeface="Times New Roman" panose="02020603050405020304" pitchFamily="18" charset="0"/>
              </a:rPr>
              <a:t>and two operands, and performs the corresponding mathematical operation using switch statement</a:t>
            </a:r>
            <a:r>
              <a:rPr lang="en-US" sz="2600" dirty="0" smtClean="0">
                <a:solidFill>
                  <a:schemeClr val="tx1"/>
                </a:solidFill>
                <a:latin typeface="Times New Roman" panose="02020603050405020304" pitchFamily="18" charset="0"/>
                <a:cs typeface="Times New Roman" panose="02020603050405020304" pitchFamily="18" charset="0"/>
              </a:rPr>
              <a:t>.</a:t>
            </a:r>
          </a:p>
          <a:p>
            <a:pPr algn="just">
              <a:lnSpc>
                <a:spcPct val="100000"/>
              </a:lnSpc>
            </a:pPr>
            <a:r>
              <a:rPr lang="en-US" sz="2600" b="1" dirty="0" smtClean="0">
                <a:solidFill>
                  <a:srgbClr val="FF0000"/>
                </a:solidFill>
                <a:latin typeface="Times New Roman" panose="02020603050405020304" pitchFamily="18" charset="0"/>
                <a:cs typeface="Times New Roman" panose="02020603050405020304" pitchFamily="18" charset="0"/>
              </a:rPr>
              <a:t>Note: </a:t>
            </a:r>
            <a:r>
              <a:rPr lang="en-US" sz="2600" dirty="0" smtClean="0">
                <a:solidFill>
                  <a:schemeClr val="tx1"/>
                </a:solidFill>
                <a:latin typeface="Times New Roman" panose="02020603050405020304" pitchFamily="18" charset="0"/>
                <a:cs typeface="Times New Roman" panose="02020603050405020304" pitchFamily="18" charset="0"/>
              </a:rPr>
              <a:t>For division if second number is zero then show </a:t>
            </a:r>
            <a:r>
              <a:rPr lang="en-US" sz="2600" smtClean="0">
                <a:solidFill>
                  <a:schemeClr val="tx1"/>
                </a:solidFill>
                <a:latin typeface="Times New Roman" panose="02020603050405020304" pitchFamily="18" charset="0"/>
                <a:cs typeface="Times New Roman" panose="02020603050405020304" pitchFamily="18" charset="0"/>
              </a:rPr>
              <a:t>error message.</a:t>
            </a:r>
            <a:endParaRPr lang="en-US" sz="2600" b="1" dirty="0" smtClean="0">
              <a:solidFill>
                <a:srgbClr val="FF0000"/>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39968130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- 8</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In the Chinese calendar, every year is associated with a particular animal. The 12-year animal cycle is rat, ox, tiger, rabbit, dragon, snake, horse, goat, monkey, rooster, dog, and boar. The year 1900 is a year of the rat; thus 1901 is a year of the ox and 1912 is another year of the rat. If you know in what year a person was born, you can compute the offset from 1900 and determine the animal associated with that person's year of birth.</a:t>
            </a:r>
          </a:p>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Create a program using SWITCH structure that determines the animal corresponding to an input year of birth. Assume that the input year is 1900 or later. The program should take as input the year of birth in a variable of type int. The program should then display the corresponding animal.</a:t>
            </a: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9</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1144914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3327</TotalTime>
  <Words>575</Words>
  <Application>Microsoft Office PowerPoint</Application>
  <PresentationFormat>Widescreen</PresentationFormat>
  <Paragraphs>44</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Calibri Light</vt:lpstr>
      <vt:lpstr>Times New Roman</vt:lpstr>
      <vt:lpstr>Wingdings</vt:lpstr>
      <vt:lpstr>Retrospect</vt:lpstr>
      <vt:lpstr>LAB - 04</vt:lpstr>
      <vt:lpstr>Task - 1</vt:lpstr>
      <vt:lpstr>Task - 2</vt:lpstr>
      <vt:lpstr>Task - 3</vt:lpstr>
      <vt:lpstr>Task - 4</vt:lpstr>
      <vt:lpstr>Task - 5</vt:lpstr>
      <vt:lpstr>Task - 6</vt:lpstr>
      <vt:lpstr>Task - 7</vt:lpstr>
      <vt:lpstr>Task - 8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Majid Hussain</cp:lastModifiedBy>
  <cp:revision>262</cp:revision>
  <dcterms:created xsi:type="dcterms:W3CDTF">2022-09-18T18:36:50Z</dcterms:created>
  <dcterms:modified xsi:type="dcterms:W3CDTF">2024-03-05T04:46:51Z</dcterms:modified>
</cp:coreProperties>
</file>
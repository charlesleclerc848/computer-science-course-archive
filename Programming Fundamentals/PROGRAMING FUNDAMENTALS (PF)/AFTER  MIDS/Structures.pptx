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08" r:id="rId1"/>
  </p:sldMasterIdLst>
  <p:notesMasterIdLst>
    <p:notesMasterId r:id="rId22"/>
  </p:notesMasterIdLst>
  <p:sldIdLst>
    <p:sldId id="256" r:id="rId2"/>
    <p:sldId id="257" r:id="rId3"/>
    <p:sldId id="268" r:id="rId4"/>
    <p:sldId id="258" r:id="rId5"/>
    <p:sldId id="259" r:id="rId6"/>
    <p:sldId id="271" r:id="rId7"/>
    <p:sldId id="270" r:id="rId8"/>
    <p:sldId id="269" r:id="rId9"/>
    <p:sldId id="260" r:id="rId10"/>
    <p:sldId id="263" r:id="rId11"/>
    <p:sldId id="264" r:id="rId12"/>
    <p:sldId id="265" r:id="rId13"/>
    <p:sldId id="262" r:id="rId14"/>
    <p:sldId id="266" r:id="rId15"/>
    <p:sldId id="267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050BB-4214-4861-9A1D-2BD3A5A69AE2}" type="datetimeFigureOut">
              <a:rPr lang="en-US" smtClean="0"/>
              <a:t>12/16/2023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8F0010-AFD5-427A-AE76-9A51A517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14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C68C3C6-AAF0-4263-9B20-B23C977E1FF3}" type="datetime1">
              <a:rPr lang="en-US" smtClean="0"/>
              <a:t>12/16/2023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9185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F96DE-ED42-4279-A969-C7A21789257B}" type="datetime1">
              <a:rPr lang="en-US" smtClean="0"/>
              <a:t>12/16/2023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65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8D04A7F-28A1-438A-91A5-25555026E24B}" type="datetime1">
              <a:rPr lang="en-US" smtClean="0"/>
              <a:t>12/16/2023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300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B5713-7B4D-487C-98D0-4B19038A993F}" type="datetime1">
              <a:rPr lang="en-US" smtClean="0"/>
              <a:t>12/16/2023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584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842EB-7D50-43E5-B4AD-EFBF6F9B6837}" type="datetime1">
              <a:rPr lang="en-US" smtClean="0"/>
              <a:t>12/16/2023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7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1E0E4-EBC3-41D9-B9A3-F367EB1D42F0}" type="datetime1">
              <a:rPr lang="en-US" smtClean="0"/>
              <a:t>12/16/2023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966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29E75-C0E9-4E4F-A456-07B1E6CE72D2}" type="datetime1">
              <a:rPr lang="en-US" smtClean="0"/>
              <a:t>12/16/2023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728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6B8EB-81EC-44D1-9031-71B1AD8BAB38}" type="datetime1">
              <a:rPr lang="en-US" smtClean="0"/>
              <a:t>12/16/2023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06429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2F0E7-BA01-4E77-A269-081C47322ACD}" type="datetime1">
              <a:rPr lang="en-US" smtClean="0"/>
              <a:t>12/16/2023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23314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96064-9498-408B-BCD9-E89A3F616EA5}" type="datetime1">
              <a:rPr lang="en-US" smtClean="0"/>
              <a:t>12/16/2023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312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793B4-AC12-49AD-9B1C-44AB708C2B50}" type="datetime1">
              <a:rPr lang="en-US" smtClean="0"/>
              <a:t>12/16/2023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085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0A0F6C0-BAA1-4085-A374-4EEFE9A33662}" type="datetime1">
              <a:rPr lang="en-US" smtClean="0"/>
              <a:t>12/16/2023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96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rogramiz.com/cpp-programming/object-clas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cpp-programming/function" TargetMode="External"/><Relationship Id="rId2" Type="http://schemas.openxmlformats.org/officeDocument/2006/relationships/hyperlink" Target="https://www.programiz.com/cpp-programming/structur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iz.com/cpp-programming/structure" TargetMode="External"/><Relationship Id="rId2" Type="http://schemas.openxmlformats.org/officeDocument/2006/relationships/hyperlink" Target="https://www.programiz.com/cpp-programming/pointer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Structures in C++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497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94401"/>
            <a:ext cx="10058400" cy="833507"/>
          </a:xfrm>
        </p:spPr>
        <p:txBody>
          <a:bodyPr/>
          <a:lstStyle/>
          <a:p>
            <a:r>
              <a:rPr lang="en-US" b="1" dirty="0"/>
              <a:t>C++ </a:t>
            </a:r>
            <a:r>
              <a:rPr lang="en-US" b="1" dirty="0" smtClean="0"/>
              <a:t>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21512"/>
            <a:ext cx="10058400" cy="4667534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A structure is a user-defined data type in C/C++. Structure is a collection of variables of different data types under a single name. </a:t>
            </a:r>
            <a:endParaRPr lang="en-US" sz="20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 smtClean="0"/>
              <a:t>It </a:t>
            </a:r>
            <a:r>
              <a:rPr lang="en-US" sz="2000" b="1" dirty="0"/>
              <a:t>is similar to a </a:t>
            </a:r>
            <a:r>
              <a:rPr lang="en-US" sz="2000" b="1" dirty="0">
                <a:hlinkClick r:id="rId2" tooltip="C++ class"/>
              </a:rPr>
              <a:t>class</a:t>
            </a:r>
            <a:r>
              <a:rPr lang="en-US" sz="2000" b="1" dirty="0"/>
              <a:t> in that, both holds a </a:t>
            </a:r>
            <a:r>
              <a:rPr lang="en-US" sz="2000" b="1" dirty="0" smtClean="0"/>
              <a:t>collection </a:t>
            </a:r>
            <a:r>
              <a:rPr lang="en-US" sz="2000" b="1" dirty="0"/>
              <a:t>of data of different data types. The only </a:t>
            </a:r>
            <a:r>
              <a:rPr lang="en-US" sz="2000" b="1" dirty="0" smtClean="0"/>
              <a:t>difference between </a:t>
            </a:r>
            <a:r>
              <a:rPr lang="en-US" sz="2000" b="1" dirty="0"/>
              <a:t>classes and </a:t>
            </a:r>
            <a:r>
              <a:rPr lang="en-US" sz="2000" b="1" dirty="0" err="1"/>
              <a:t>structs</a:t>
            </a:r>
            <a:r>
              <a:rPr lang="en-US" sz="2000" b="1" dirty="0"/>
              <a:t> is that, by default, all members of a class are </a:t>
            </a:r>
            <a:r>
              <a:rPr lang="en-US" sz="2000" b="1" dirty="0">
                <a:solidFill>
                  <a:srgbClr val="FF0000"/>
                </a:solidFill>
              </a:rPr>
              <a:t>private</a:t>
            </a:r>
            <a:r>
              <a:rPr lang="en-US" sz="2000" b="1" dirty="0"/>
              <a:t>, and, </a:t>
            </a:r>
            <a:r>
              <a:rPr lang="en-US" sz="2000" b="1" dirty="0" smtClean="0"/>
              <a:t>by default</a:t>
            </a:r>
            <a:r>
              <a:rPr lang="en-US" sz="2000" b="1" dirty="0"/>
              <a:t>, all members of a </a:t>
            </a:r>
            <a:r>
              <a:rPr lang="en-US" sz="2000" b="1" dirty="0" err="1"/>
              <a:t>struct</a:t>
            </a:r>
            <a:r>
              <a:rPr lang="en-US" sz="2000" b="1" dirty="0"/>
              <a:t> are </a:t>
            </a:r>
            <a:r>
              <a:rPr lang="en-US" sz="2000" b="1" dirty="0">
                <a:solidFill>
                  <a:srgbClr val="FF0000"/>
                </a:solidFill>
              </a:rPr>
              <a:t>public</a:t>
            </a:r>
            <a:r>
              <a:rPr lang="en-US" sz="2000" b="1" dirty="0" smtClean="0"/>
              <a:t>.</a:t>
            </a:r>
            <a:endParaRPr lang="en-US" sz="2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For example: You want to store some information about a person: his/her name, citizenship number and salary. You can easily create different </a:t>
            </a:r>
            <a:r>
              <a:rPr lang="en-US" sz="2000" b="1" dirty="0" smtClean="0"/>
              <a:t>variables </a:t>
            </a:r>
            <a:r>
              <a:rPr lang="en-US" sz="2000" b="1" i="1" dirty="0" smtClean="0"/>
              <a:t>name, </a:t>
            </a:r>
            <a:r>
              <a:rPr lang="en-US" sz="2000" b="1" i="1" dirty="0" err="1" smtClean="0"/>
              <a:t>cnic</a:t>
            </a:r>
            <a:r>
              <a:rPr lang="en-US" sz="2000" b="1" i="1" dirty="0" smtClean="0"/>
              <a:t>, salary, </a:t>
            </a:r>
            <a:r>
              <a:rPr lang="en-US" sz="2000" b="1" dirty="0"/>
              <a:t>to store these information separately</a:t>
            </a:r>
            <a:r>
              <a:rPr lang="en-US" sz="2000" b="1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 smtClean="0"/>
              <a:t>However</a:t>
            </a:r>
            <a:r>
              <a:rPr lang="en-US" sz="2000" b="1" dirty="0"/>
              <a:t>, in the future, you would want to store information about multiple persons. Now, you'd need to create different variables for each information per person</a:t>
            </a:r>
            <a:r>
              <a:rPr lang="en-US" sz="2000" b="1" dirty="0" smtClean="0"/>
              <a:t>: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i="1" dirty="0" smtClean="0"/>
              <a:t>name1, cnic1, salary1, name2, cnic2, salary2</a:t>
            </a:r>
            <a:endParaRPr lang="en-US" sz="2000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268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94401"/>
            <a:ext cx="10058400" cy="833507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Structures: Data Members and Functions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21512"/>
            <a:ext cx="10058400" cy="4667534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Structures in C++ can contain two types of members: </a:t>
            </a:r>
            <a:endParaRPr lang="en-US" sz="2000" b="1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i="1" u="sng" dirty="0">
                <a:solidFill>
                  <a:srgbClr val="FF0000"/>
                </a:solidFill>
              </a:rPr>
              <a:t>Data Member: </a:t>
            </a:r>
            <a:r>
              <a:rPr lang="en-US" sz="2000" b="1" i="1" dirty="0"/>
              <a:t>These members are normal C++ variables. We can create a structure with variables of different data types in C++.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000" b="1" i="1" u="sng" dirty="0">
                <a:solidFill>
                  <a:srgbClr val="FF0000"/>
                </a:solidFill>
              </a:rPr>
              <a:t>Member Functions: </a:t>
            </a:r>
            <a:r>
              <a:rPr lang="en-US" sz="2000" b="1" i="1" dirty="0"/>
              <a:t>These members are normal C++ functions. Along with variables, we can also include functions inside a structure declaration.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755571" y="3534501"/>
            <a:ext cx="4680857" cy="255454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 smtClean="0"/>
              <a:t>struct</a:t>
            </a:r>
            <a:r>
              <a:rPr lang="en-US" sz="1600" b="1" dirty="0" smtClean="0"/>
              <a:t> </a:t>
            </a:r>
            <a:r>
              <a:rPr lang="en-US" sz="1600" b="1" dirty="0"/>
              <a:t>Rectangle {</a:t>
            </a:r>
          </a:p>
          <a:p>
            <a:r>
              <a:rPr lang="en-US" sz="1600" b="1" dirty="0" smtClean="0"/>
              <a:t>	// </a:t>
            </a:r>
            <a:r>
              <a:rPr lang="en-US" sz="1600" b="1" dirty="0"/>
              <a:t>Data Members</a:t>
            </a:r>
            <a:endParaRPr lang="en-US" sz="1600" b="1" dirty="0" smtClean="0"/>
          </a:p>
          <a:p>
            <a:r>
              <a:rPr lang="en-US" sz="1600" b="1" dirty="0" smtClean="0"/>
              <a:t>    	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</a:t>
            </a:r>
            <a:r>
              <a:rPr lang="en-US" sz="1600" b="1" dirty="0"/>
              <a:t>length;</a:t>
            </a:r>
          </a:p>
          <a:p>
            <a:r>
              <a:rPr lang="en-US" sz="1600" b="1" dirty="0"/>
              <a:t>    </a:t>
            </a:r>
            <a:r>
              <a:rPr lang="en-US" sz="1600" b="1" dirty="0" smtClean="0"/>
              <a:t>	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</a:t>
            </a:r>
            <a:r>
              <a:rPr lang="en-US" sz="1600" b="1" dirty="0"/>
              <a:t>width;</a:t>
            </a:r>
          </a:p>
          <a:p>
            <a:endParaRPr lang="en-US" sz="1600" b="1" dirty="0"/>
          </a:p>
          <a:p>
            <a:r>
              <a:rPr lang="en-US" sz="1600" b="1" dirty="0"/>
              <a:t>    </a:t>
            </a:r>
            <a:r>
              <a:rPr lang="en-US" sz="1600" b="1" dirty="0" smtClean="0"/>
              <a:t>	// </a:t>
            </a:r>
            <a:r>
              <a:rPr lang="en-US" sz="1600" b="1" dirty="0"/>
              <a:t>Member function to calculate area</a:t>
            </a:r>
          </a:p>
          <a:p>
            <a:r>
              <a:rPr lang="en-US" sz="1600" b="1" dirty="0"/>
              <a:t>    </a:t>
            </a:r>
            <a:r>
              <a:rPr lang="en-US" sz="1600" b="1" dirty="0" smtClean="0"/>
              <a:t>	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</a:t>
            </a:r>
            <a:r>
              <a:rPr lang="en-US" sz="1600" b="1" dirty="0" err="1"/>
              <a:t>calculateArea</a:t>
            </a:r>
            <a:r>
              <a:rPr lang="en-US" sz="1600" b="1" dirty="0"/>
              <a:t>() {</a:t>
            </a:r>
          </a:p>
          <a:p>
            <a:r>
              <a:rPr lang="en-US" sz="1600" b="1" dirty="0"/>
              <a:t>        </a:t>
            </a:r>
            <a:r>
              <a:rPr lang="en-US" sz="1600" b="1" dirty="0" smtClean="0"/>
              <a:t>	return </a:t>
            </a:r>
            <a:r>
              <a:rPr lang="en-US" sz="1600" b="1" dirty="0"/>
              <a:t>length * width;</a:t>
            </a:r>
          </a:p>
          <a:p>
            <a:r>
              <a:rPr lang="en-US" sz="1600" b="1" dirty="0"/>
              <a:t>    </a:t>
            </a:r>
            <a:r>
              <a:rPr lang="en-US" sz="1600" b="1" dirty="0" smtClean="0"/>
              <a:t>	}</a:t>
            </a:r>
            <a:endParaRPr lang="en-US" sz="1600" b="1" dirty="0"/>
          </a:p>
          <a:p>
            <a:r>
              <a:rPr lang="en-US" sz="1600" b="1" dirty="0"/>
              <a:t>};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571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742069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Declaration of structure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85790"/>
            <a:ext cx="10058399" cy="37416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11848" y="5835281"/>
            <a:ext cx="59683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latin typeface="euclid_circular_a"/>
              </a:rPr>
              <a:t>When a structure is created, no memory is allocated.</a:t>
            </a:r>
            <a:endParaRPr lang="en-US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300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97" y="326572"/>
            <a:ext cx="10058400" cy="68178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How to initialize structure members?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367247" y="1099796"/>
            <a:ext cx="8717280" cy="550920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// In C++ We can Initialize the Variables with Declaration in Structure.</a:t>
            </a:r>
          </a:p>
          <a:p>
            <a:endParaRPr lang="en-US" sz="1600" b="1" dirty="0"/>
          </a:p>
          <a:p>
            <a:r>
              <a:rPr lang="en-US" sz="1600" b="1" dirty="0"/>
              <a:t>#include &lt;</a:t>
            </a:r>
            <a:r>
              <a:rPr lang="en-US" sz="1600" b="1" dirty="0" err="1"/>
              <a:t>iostream</a:t>
            </a:r>
            <a:r>
              <a:rPr lang="en-US" sz="1600" b="1" dirty="0"/>
              <a:t>&gt;</a:t>
            </a:r>
          </a:p>
          <a:p>
            <a:r>
              <a:rPr lang="en-US" sz="1600" b="1" dirty="0"/>
              <a:t>using namespace </a:t>
            </a:r>
            <a:r>
              <a:rPr lang="en-US" sz="1600" b="1" dirty="0" err="1"/>
              <a:t>std</a:t>
            </a:r>
            <a:r>
              <a:rPr lang="en-US" sz="1600" b="1" dirty="0" smtClean="0"/>
              <a:t>;</a:t>
            </a:r>
          </a:p>
          <a:p>
            <a:endParaRPr lang="en-US" sz="1600" b="1" dirty="0"/>
          </a:p>
          <a:p>
            <a:r>
              <a:rPr lang="en-US" sz="1600" b="1" dirty="0" err="1"/>
              <a:t>struct</a:t>
            </a:r>
            <a:r>
              <a:rPr lang="en-US" sz="1600" b="1" dirty="0"/>
              <a:t> Point {</a:t>
            </a:r>
          </a:p>
          <a:p>
            <a:r>
              <a:rPr lang="en-US" sz="1600" b="1" dirty="0"/>
              <a:t>	</a:t>
            </a:r>
            <a:r>
              <a:rPr lang="en-US" sz="1600" b="1" dirty="0" err="1"/>
              <a:t>int</a:t>
            </a:r>
            <a:r>
              <a:rPr lang="en-US" sz="1600" b="1" dirty="0"/>
              <a:t> x = 0; // It is Considered as Default Arguments and no Error is Raised</a:t>
            </a:r>
          </a:p>
          <a:p>
            <a:r>
              <a:rPr lang="en-US" sz="1600" b="1" dirty="0"/>
              <a:t>	</a:t>
            </a:r>
            <a:r>
              <a:rPr lang="en-US" sz="1600" b="1" dirty="0" err="1"/>
              <a:t>int</a:t>
            </a:r>
            <a:r>
              <a:rPr lang="en-US" sz="1600" b="1" dirty="0"/>
              <a:t> y = 1;</a:t>
            </a:r>
          </a:p>
          <a:p>
            <a:r>
              <a:rPr lang="en-US" sz="1600" b="1" dirty="0"/>
              <a:t>};</a:t>
            </a:r>
          </a:p>
          <a:p>
            <a:endParaRPr lang="en-US" sz="1600" b="1" dirty="0"/>
          </a:p>
          <a:p>
            <a:r>
              <a:rPr lang="en-US" sz="1600" b="1" dirty="0" err="1"/>
              <a:t>int</a:t>
            </a:r>
            <a:r>
              <a:rPr lang="en-US" sz="1600" b="1" dirty="0"/>
              <a:t> main()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	</a:t>
            </a:r>
            <a:r>
              <a:rPr lang="en-US" sz="1600" b="1" dirty="0" smtClean="0"/>
              <a:t>Point </a:t>
            </a:r>
            <a:r>
              <a:rPr lang="en-US" sz="1600" b="1" dirty="0"/>
              <a:t>p1;</a:t>
            </a:r>
          </a:p>
          <a:p>
            <a:r>
              <a:rPr lang="en-US" sz="1600" b="1" dirty="0"/>
              <a:t>	</a:t>
            </a:r>
            <a:endParaRPr lang="en-US" sz="1600" b="1" dirty="0" smtClean="0"/>
          </a:p>
          <a:p>
            <a:r>
              <a:rPr lang="en-US" sz="1600" b="1" dirty="0"/>
              <a:t>	</a:t>
            </a:r>
            <a:r>
              <a:rPr lang="en-US" sz="1600" b="1" dirty="0" smtClean="0"/>
              <a:t>// </a:t>
            </a:r>
            <a:r>
              <a:rPr lang="en-US" sz="1600" b="1" dirty="0"/>
              <a:t>No value is Initialized then the default value is considered. </a:t>
            </a:r>
            <a:r>
              <a:rPr lang="en-US" sz="1600" b="1" dirty="0" err="1"/>
              <a:t>ie</a:t>
            </a:r>
            <a:r>
              <a:rPr lang="en-US" sz="1600" b="1" dirty="0"/>
              <a:t> x=0 and y=1;</a:t>
            </a:r>
          </a:p>
          <a:p>
            <a:r>
              <a:rPr lang="en-US" sz="1600" b="1" dirty="0"/>
              <a:t>	</a:t>
            </a:r>
            <a:r>
              <a:rPr lang="en-US" sz="1600" b="1" dirty="0" err="1"/>
              <a:t>cout</a:t>
            </a:r>
            <a:r>
              <a:rPr lang="en-US" sz="1600" b="1" dirty="0"/>
              <a:t> &lt;&lt; "x = " &lt;&lt; p1.x &lt;&lt; ", y = " &lt;&lt; p1.y&lt;&lt;</a:t>
            </a:r>
            <a:r>
              <a:rPr lang="en-US" sz="1600" b="1" dirty="0" err="1"/>
              <a:t>endl</a:t>
            </a:r>
            <a:r>
              <a:rPr lang="en-US" sz="1600" b="1" dirty="0"/>
              <a:t>;</a:t>
            </a:r>
          </a:p>
          <a:p>
            <a:endParaRPr lang="en-US" sz="1600" b="1" dirty="0"/>
          </a:p>
          <a:p>
            <a:r>
              <a:rPr lang="en-US" sz="1600" b="1" dirty="0"/>
              <a:t>	// Initializing the value of y = 20;</a:t>
            </a:r>
          </a:p>
          <a:p>
            <a:r>
              <a:rPr lang="en-US" sz="1600" b="1" dirty="0"/>
              <a:t>	p1.y = 20;</a:t>
            </a:r>
          </a:p>
          <a:p>
            <a:r>
              <a:rPr lang="en-US" sz="1600" b="1" dirty="0"/>
              <a:t>	</a:t>
            </a:r>
            <a:r>
              <a:rPr lang="en-US" sz="1600" b="1" dirty="0" err="1"/>
              <a:t>cout</a:t>
            </a:r>
            <a:r>
              <a:rPr lang="en-US" sz="1600" b="1" dirty="0"/>
              <a:t> &lt;&lt; "x = " &lt;&lt; p1.x &lt;&lt; ", y = " &lt;&lt; p1.y;</a:t>
            </a:r>
          </a:p>
          <a:p>
            <a:r>
              <a:rPr lang="en-US" sz="1600" b="1" dirty="0"/>
              <a:t>	return 0;</a:t>
            </a:r>
          </a:p>
          <a:p>
            <a:r>
              <a:rPr lang="en-US" sz="1600" b="1" dirty="0" smtClean="0"/>
              <a:t>}</a:t>
            </a:r>
            <a:endParaRPr lang="en-US" sz="1600" b="1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185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296" y="532317"/>
            <a:ext cx="10058400" cy="68178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How to initialize structure members?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723605" y="2458332"/>
            <a:ext cx="6535783" cy="255454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/>
              <a:t>struct</a:t>
            </a:r>
            <a:r>
              <a:rPr lang="en-US" sz="1600" b="1" dirty="0"/>
              <a:t> Point {</a:t>
            </a:r>
          </a:p>
          <a:p>
            <a:r>
              <a:rPr lang="en-US" sz="1600" b="1" dirty="0"/>
              <a:t>	</a:t>
            </a:r>
            <a:r>
              <a:rPr lang="en-US" sz="1600" b="1" dirty="0" err="1"/>
              <a:t>int</a:t>
            </a:r>
            <a:r>
              <a:rPr lang="en-US" sz="1600" b="1" dirty="0"/>
              <a:t> x, y;</a:t>
            </a:r>
          </a:p>
          <a:p>
            <a:r>
              <a:rPr lang="en-US" sz="1600" b="1" dirty="0"/>
              <a:t>};</a:t>
            </a:r>
          </a:p>
          <a:p>
            <a:endParaRPr lang="en-US" sz="1600" b="1" dirty="0"/>
          </a:p>
          <a:p>
            <a:r>
              <a:rPr lang="en-US" sz="1600" b="1" dirty="0" err="1"/>
              <a:t>int</a:t>
            </a:r>
            <a:r>
              <a:rPr lang="en-US" sz="1600" b="1" dirty="0"/>
              <a:t> main()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	// A valid initialization. member x gets value 0 and y</a:t>
            </a:r>
          </a:p>
          <a:p>
            <a:r>
              <a:rPr lang="en-US" sz="1600" b="1" dirty="0"/>
              <a:t>	// gets value 1. The order of declaration is followed.</a:t>
            </a:r>
          </a:p>
          <a:p>
            <a:r>
              <a:rPr lang="en-US" sz="1600" b="1" dirty="0"/>
              <a:t>	</a:t>
            </a:r>
            <a:r>
              <a:rPr lang="en-US" sz="1600" b="1" dirty="0" smtClean="0"/>
              <a:t>Point </a:t>
            </a:r>
            <a:r>
              <a:rPr lang="en-US" sz="1600" b="1" dirty="0"/>
              <a:t>p1 = { 0, 1 };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371600"/>
            <a:ext cx="9618617" cy="4480560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Structure members can be initialized using curly braces ‘{}’. For example, following is a valid initialization.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424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to define a structure variable</a:t>
            </a:r>
            <a:r>
              <a:rPr lang="en-US" b="1" dirty="0" smtClean="0"/>
              <a:t>?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3614057" cy="3749040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000" b="1" dirty="0"/>
              <a:t>A structure variable can either be declared with structure declaration or as a separate declaration like basic types. </a:t>
            </a:r>
          </a:p>
        </p:txBody>
      </p:sp>
      <p:sp>
        <p:nvSpPr>
          <p:cNvPr id="7" name="Rectangle 6"/>
          <p:cNvSpPr/>
          <p:nvPr/>
        </p:nvSpPr>
        <p:spPr>
          <a:xfrm>
            <a:off x="4798422" y="1838593"/>
            <a:ext cx="6866709" cy="427809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// A variable declaration with structure declaration.</a:t>
            </a:r>
          </a:p>
          <a:p>
            <a:r>
              <a:rPr lang="en-US" sz="1600" b="1" dirty="0" err="1"/>
              <a:t>struct</a:t>
            </a:r>
            <a:r>
              <a:rPr lang="en-US" sz="1600" b="1" dirty="0"/>
              <a:t> Point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smtClean="0"/>
              <a:t>	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</a:t>
            </a:r>
            <a:r>
              <a:rPr lang="en-US" sz="1600" b="1" dirty="0"/>
              <a:t>x, y;</a:t>
            </a:r>
          </a:p>
          <a:p>
            <a:r>
              <a:rPr lang="en-US" sz="1600" b="1" dirty="0"/>
              <a:t>} p1; // The variable p1 is declared with 'Point'</a:t>
            </a:r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/>
              <a:t>// A variable declaration like basic data types</a:t>
            </a:r>
          </a:p>
          <a:p>
            <a:r>
              <a:rPr lang="en-US" sz="1600" b="1" dirty="0" err="1"/>
              <a:t>struct</a:t>
            </a:r>
            <a:r>
              <a:rPr lang="en-US" sz="1600" b="1" dirty="0"/>
              <a:t> Point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smtClean="0"/>
              <a:t>	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</a:t>
            </a:r>
            <a:r>
              <a:rPr lang="en-US" sz="1600" b="1" dirty="0"/>
              <a:t>x, y;</a:t>
            </a:r>
          </a:p>
          <a:p>
            <a:r>
              <a:rPr lang="en-US" sz="1600" b="1" dirty="0"/>
              <a:t>}; </a:t>
            </a:r>
          </a:p>
          <a:p>
            <a:endParaRPr lang="en-US" sz="1600" b="1" dirty="0"/>
          </a:p>
          <a:p>
            <a:r>
              <a:rPr lang="en-US" sz="1600" b="1" dirty="0" err="1"/>
              <a:t>int</a:t>
            </a:r>
            <a:r>
              <a:rPr lang="en-US" sz="1600" b="1" dirty="0"/>
              <a:t> main()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 smtClean="0"/>
              <a:t>	Point </a:t>
            </a:r>
            <a:r>
              <a:rPr lang="en-US" sz="1600" b="1" dirty="0"/>
              <a:t>p1; // The variable p1 is declared like a normal variable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372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to define a structure variable</a:t>
            </a:r>
            <a:r>
              <a:rPr lang="en-US" b="1" dirty="0" smtClean="0"/>
              <a:t>?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1" y="1822364"/>
            <a:ext cx="10058400" cy="459105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03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833666"/>
            <a:ext cx="10192604" cy="1371600"/>
          </a:xfrm>
        </p:spPr>
        <p:txBody>
          <a:bodyPr>
            <a:normAutofit/>
          </a:bodyPr>
          <a:lstStyle/>
          <a:p>
            <a:r>
              <a:rPr lang="en-US" sz="4000" b="1" dirty="0"/>
              <a:t>How to access members of </a:t>
            </a:r>
            <a:r>
              <a:rPr lang="en-US" sz="4000" b="1" dirty="0" smtClean="0"/>
              <a:t>a structure?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581791"/>
            <a:ext cx="10058400" cy="248463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329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577279"/>
            <a:ext cx="10058400" cy="1371600"/>
          </a:xfrm>
        </p:spPr>
        <p:txBody>
          <a:bodyPr>
            <a:normAutofit/>
          </a:bodyPr>
          <a:lstStyle/>
          <a:p>
            <a:r>
              <a:rPr lang="en-US" sz="4000" b="1" dirty="0" smtClean="0"/>
              <a:t>Example Program</a:t>
            </a:r>
            <a:endParaRPr lang="en-US" sz="4000" dirty="0"/>
          </a:p>
        </p:txBody>
      </p:sp>
      <p:sp>
        <p:nvSpPr>
          <p:cNvPr id="3" name="Rectangle 2"/>
          <p:cNvSpPr/>
          <p:nvPr/>
        </p:nvSpPr>
        <p:spPr>
          <a:xfrm>
            <a:off x="1066800" y="2520498"/>
            <a:ext cx="3591636" cy="255454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/>
              <a:t>#include &lt;</a:t>
            </a:r>
            <a:r>
              <a:rPr lang="en-US" sz="2000" b="1" dirty="0" err="1"/>
              <a:t>iostream</a:t>
            </a:r>
            <a:r>
              <a:rPr lang="en-US" sz="2000" b="1" dirty="0"/>
              <a:t>&gt;</a:t>
            </a:r>
          </a:p>
          <a:p>
            <a:r>
              <a:rPr lang="en-US" sz="2000" b="1" dirty="0"/>
              <a:t>using namespace </a:t>
            </a:r>
            <a:r>
              <a:rPr lang="en-US" sz="2000" b="1" dirty="0" err="1"/>
              <a:t>std</a:t>
            </a:r>
            <a:r>
              <a:rPr lang="en-US" sz="2000" b="1" dirty="0"/>
              <a:t>;</a:t>
            </a:r>
          </a:p>
          <a:p>
            <a:endParaRPr lang="en-US" sz="2000" b="1" dirty="0"/>
          </a:p>
          <a:p>
            <a:r>
              <a:rPr lang="en-US" sz="2000" b="1" dirty="0" err="1"/>
              <a:t>struct</a:t>
            </a:r>
            <a:r>
              <a:rPr lang="en-US" sz="2000" b="1" dirty="0"/>
              <a:t> Person {</a:t>
            </a:r>
          </a:p>
          <a:p>
            <a:r>
              <a:rPr lang="en-US" sz="2000" b="1" dirty="0"/>
              <a:t>    char name[50];</a:t>
            </a:r>
          </a:p>
          <a:p>
            <a:r>
              <a:rPr lang="en-US" sz="2000" b="1" dirty="0"/>
              <a:t>    </a:t>
            </a:r>
            <a:r>
              <a:rPr lang="en-US" sz="2000" b="1" dirty="0" err="1"/>
              <a:t>int</a:t>
            </a:r>
            <a:r>
              <a:rPr lang="en-US" sz="2000" b="1" dirty="0"/>
              <a:t> age;</a:t>
            </a:r>
          </a:p>
          <a:p>
            <a:r>
              <a:rPr lang="en-US" sz="2000" b="1" dirty="0"/>
              <a:t>    float salary;</a:t>
            </a:r>
          </a:p>
          <a:p>
            <a:r>
              <a:rPr lang="en-US" sz="2000" b="1" dirty="0"/>
              <a:t>};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641482"/>
            <a:ext cx="6096000" cy="4708981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err="1">
                <a:solidFill>
                  <a:schemeClr val="dk1"/>
                </a:solidFill>
              </a:rPr>
              <a:t>int</a:t>
            </a:r>
            <a:r>
              <a:rPr lang="en-US" sz="2000" b="1" dirty="0">
                <a:solidFill>
                  <a:schemeClr val="dk1"/>
                </a:solidFill>
              </a:rPr>
              <a:t> main() {</a:t>
            </a:r>
          </a:p>
          <a:p>
            <a:r>
              <a:rPr lang="en-US" sz="2000" b="1" dirty="0">
                <a:solidFill>
                  <a:schemeClr val="dk1"/>
                </a:solidFill>
              </a:rPr>
              <a:t>    Person </a:t>
            </a:r>
            <a:r>
              <a:rPr lang="en-US" sz="2000" b="1" dirty="0" smtClean="0">
                <a:solidFill>
                  <a:schemeClr val="dk1"/>
                </a:solidFill>
              </a:rPr>
              <a:t>bill;</a:t>
            </a:r>
            <a:endParaRPr lang="en-US" sz="2000" b="1" dirty="0">
              <a:solidFill>
                <a:schemeClr val="dk1"/>
              </a:solidFill>
            </a:endParaRPr>
          </a:p>
          <a:p>
            <a:r>
              <a:rPr lang="en-US" sz="2000" b="1" dirty="0">
                <a:solidFill>
                  <a:schemeClr val="dk1"/>
                </a:solidFill>
              </a:rPr>
              <a:t>    </a:t>
            </a:r>
            <a:r>
              <a:rPr lang="en-US" sz="2000" b="1" dirty="0" err="1">
                <a:solidFill>
                  <a:schemeClr val="dk1"/>
                </a:solidFill>
              </a:rPr>
              <a:t>cout</a:t>
            </a:r>
            <a:r>
              <a:rPr lang="en-US" sz="2000" b="1" dirty="0">
                <a:solidFill>
                  <a:schemeClr val="dk1"/>
                </a:solidFill>
              </a:rPr>
              <a:t> &lt;&lt; "Enter name: ";</a:t>
            </a:r>
          </a:p>
          <a:p>
            <a:r>
              <a:rPr lang="en-US" sz="2000" b="1" dirty="0">
                <a:solidFill>
                  <a:schemeClr val="dk1"/>
                </a:solidFill>
              </a:rPr>
              <a:t>    </a:t>
            </a:r>
            <a:r>
              <a:rPr lang="en-US" sz="2000" b="1" dirty="0" err="1"/>
              <a:t>cin</a:t>
            </a:r>
            <a:r>
              <a:rPr lang="en-US" sz="2000" b="1" dirty="0"/>
              <a:t> &gt;&gt; </a:t>
            </a:r>
            <a:r>
              <a:rPr lang="en-US" sz="2000" b="1" dirty="0" smtClean="0"/>
              <a:t>bill.name;</a:t>
            </a:r>
            <a:endParaRPr lang="en-US" sz="2000" b="1" dirty="0"/>
          </a:p>
          <a:p>
            <a:r>
              <a:rPr lang="en-US" sz="2000" b="1" dirty="0" smtClean="0">
                <a:solidFill>
                  <a:schemeClr val="dk1"/>
                </a:solidFill>
              </a:rPr>
              <a:t>    </a:t>
            </a:r>
            <a:r>
              <a:rPr lang="en-US" sz="2000" b="1" dirty="0" err="1">
                <a:solidFill>
                  <a:schemeClr val="dk1"/>
                </a:solidFill>
              </a:rPr>
              <a:t>cout</a:t>
            </a:r>
            <a:r>
              <a:rPr lang="en-US" sz="2000" b="1" dirty="0">
                <a:solidFill>
                  <a:schemeClr val="dk1"/>
                </a:solidFill>
              </a:rPr>
              <a:t> &lt;&lt; "Enter age: ";</a:t>
            </a:r>
          </a:p>
          <a:p>
            <a:r>
              <a:rPr lang="en-US" sz="2000" b="1" dirty="0">
                <a:solidFill>
                  <a:schemeClr val="dk1"/>
                </a:solidFill>
              </a:rPr>
              <a:t>    </a:t>
            </a:r>
            <a:r>
              <a:rPr lang="en-US" sz="2000" b="1" dirty="0" err="1">
                <a:solidFill>
                  <a:schemeClr val="dk1"/>
                </a:solidFill>
              </a:rPr>
              <a:t>cin</a:t>
            </a:r>
            <a:r>
              <a:rPr lang="en-US" sz="2000" b="1" dirty="0">
                <a:solidFill>
                  <a:schemeClr val="dk1"/>
                </a:solidFill>
              </a:rPr>
              <a:t> &gt;&gt; </a:t>
            </a:r>
            <a:r>
              <a:rPr lang="en-US" sz="2000" b="1" dirty="0" err="1"/>
              <a:t>bill</a:t>
            </a:r>
            <a:r>
              <a:rPr lang="en-US" sz="2000" b="1" dirty="0" err="1" smtClean="0">
                <a:solidFill>
                  <a:schemeClr val="dk1"/>
                </a:solidFill>
              </a:rPr>
              <a:t>.age</a:t>
            </a:r>
            <a:r>
              <a:rPr lang="en-US" sz="2000" b="1" dirty="0">
                <a:solidFill>
                  <a:schemeClr val="dk1"/>
                </a:solidFill>
              </a:rPr>
              <a:t>;</a:t>
            </a:r>
          </a:p>
          <a:p>
            <a:r>
              <a:rPr lang="en-US" sz="2000" b="1" dirty="0"/>
              <a:t> </a:t>
            </a:r>
            <a:r>
              <a:rPr lang="en-US" sz="2000" b="1" dirty="0" smtClean="0"/>
              <a:t>   </a:t>
            </a:r>
            <a:r>
              <a:rPr lang="en-US" sz="2000" b="1" dirty="0" err="1" smtClean="0">
                <a:solidFill>
                  <a:schemeClr val="dk1"/>
                </a:solidFill>
              </a:rPr>
              <a:t>cout</a:t>
            </a:r>
            <a:r>
              <a:rPr lang="en-US" sz="2000" b="1" dirty="0" smtClean="0">
                <a:solidFill>
                  <a:schemeClr val="dk1"/>
                </a:solidFill>
              </a:rPr>
              <a:t> </a:t>
            </a:r>
            <a:r>
              <a:rPr lang="en-US" sz="2000" b="1" dirty="0">
                <a:solidFill>
                  <a:schemeClr val="dk1"/>
                </a:solidFill>
              </a:rPr>
              <a:t>&lt;&lt; "Enter </a:t>
            </a:r>
            <a:r>
              <a:rPr lang="en-US" sz="2000" b="1" dirty="0" smtClean="0">
                <a:solidFill>
                  <a:schemeClr val="dk1"/>
                </a:solidFill>
              </a:rPr>
              <a:t>salary: </a:t>
            </a:r>
            <a:r>
              <a:rPr lang="en-US" sz="2000" b="1" dirty="0">
                <a:solidFill>
                  <a:schemeClr val="dk1"/>
                </a:solidFill>
              </a:rPr>
              <a:t>";</a:t>
            </a:r>
          </a:p>
          <a:p>
            <a:r>
              <a:rPr lang="en-US" sz="2000" b="1" dirty="0">
                <a:solidFill>
                  <a:schemeClr val="dk1"/>
                </a:solidFill>
              </a:rPr>
              <a:t>    </a:t>
            </a:r>
            <a:r>
              <a:rPr lang="en-US" sz="2000" b="1" dirty="0" err="1" smtClean="0"/>
              <a:t>cin</a:t>
            </a:r>
            <a:r>
              <a:rPr lang="en-US" sz="2000" b="1" dirty="0" smtClean="0"/>
              <a:t>&gt;&gt;</a:t>
            </a:r>
            <a:r>
              <a:rPr lang="en-US" sz="2000" b="1" dirty="0" err="1" smtClean="0"/>
              <a:t>bill.salary</a:t>
            </a:r>
            <a:r>
              <a:rPr lang="en-US" sz="2000" b="1" dirty="0" smtClean="0">
                <a:solidFill>
                  <a:schemeClr val="dk1"/>
                </a:solidFill>
              </a:rPr>
              <a:t>;</a:t>
            </a:r>
          </a:p>
          <a:p>
            <a:endParaRPr lang="en-US" sz="2000" b="1" dirty="0">
              <a:solidFill>
                <a:schemeClr val="dk1"/>
              </a:solidFill>
            </a:endParaRPr>
          </a:p>
          <a:p>
            <a:r>
              <a:rPr lang="en-US" sz="2000" b="1" dirty="0">
                <a:solidFill>
                  <a:schemeClr val="dk1"/>
                </a:solidFill>
              </a:rPr>
              <a:t>    </a:t>
            </a:r>
            <a:r>
              <a:rPr lang="en-US" sz="2000" b="1" dirty="0"/>
              <a:t>// Display the details of the bill object</a:t>
            </a:r>
          </a:p>
          <a:p>
            <a:r>
              <a:rPr lang="en-US" sz="2000" b="1" dirty="0"/>
              <a:t>    </a:t>
            </a:r>
            <a:r>
              <a:rPr lang="en-US" sz="2000" b="1" dirty="0" err="1"/>
              <a:t>cout</a:t>
            </a:r>
            <a:r>
              <a:rPr lang="en-US" sz="2000" b="1" dirty="0"/>
              <a:t> &lt;&lt; "Name: " &lt;&lt; bill.name &lt;&lt; </a:t>
            </a:r>
            <a:r>
              <a:rPr lang="en-US" sz="2000" b="1" dirty="0" err="1"/>
              <a:t>endl</a:t>
            </a:r>
            <a:r>
              <a:rPr lang="en-US" sz="2000" b="1" dirty="0"/>
              <a:t>;</a:t>
            </a:r>
          </a:p>
          <a:p>
            <a:r>
              <a:rPr lang="en-US" sz="2000" b="1" dirty="0"/>
              <a:t>    </a:t>
            </a:r>
            <a:r>
              <a:rPr lang="en-US" sz="2000" b="1" dirty="0" err="1"/>
              <a:t>cout</a:t>
            </a:r>
            <a:r>
              <a:rPr lang="en-US" sz="2000" b="1" dirty="0"/>
              <a:t> &lt;&lt; "Age: " &lt;&lt; </a:t>
            </a:r>
            <a:r>
              <a:rPr lang="en-US" sz="2000" b="1" dirty="0" err="1"/>
              <a:t>bill.age</a:t>
            </a:r>
            <a:r>
              <a:rPr lang="en-US" sz="2000" b="1" dirty="0"/>
              <a:t> &lt;&lt; </a:t>
            </a:r>
            <a:r>
              <a:rPr lang="en-US" sz="2000" b="1" dirty="0" err="1"/>
              <a:t>endl</a:t>
            </a:r>
            <a:r>
              <a:rPr lang="en-US" sz="2000" b="1" dirty="0"/>
              <a:t>;</a:t>
            </a:r>
          </a:p>
          <a:p>
            <a:r>
              <a:rPr lang="en-US" sz="2000" b="1" dirty="0"/>
              <a:t>    </a:t>
            </a:r>
            <a:r>
              <a:rPr lang="en-US" sz="2000" b="1" dirty="0" err="1"/>
              <a:t>cout</a:t>
            </a:r>
            <a:r>
              <a:rPr lang="en-US" sz="2000" b="1" dirty="0"/>
              <a:t> &lt;&lt; "Salary: " &lt;&lt; </a:t>
            </a:r>
            <a:r>
              <a:rPr lang="en-US" sz="2000" b="1" dirty="0" err="1"/>
              <a:t>bill.salary</a:t>
            </a:r>
            <a:r>
              <a:rPr lang="en-US" sz="2000" b="1" dirty="0"/>
              <a:t> &lt;&lt; </a:t>
            </a:r>
            <a:r>
              <a:rPr lang="en-US" sz="2000" b="1" dirty="0" err="1" smtClean="0"/>
              <a:t>endl</a:t>
            </a:r>
            <a:r>
              <a:rPr lang="en-US" sz="2000" b="1" dirty="0" smtClean="0"/>
              <a:t>;</a:t>
            </a:r>
          </a:p>
          <a:p>
            <a:r>
              <a:rPr lang="en-US" sz="2000" b="1" dirty="0"/>
              <a:t> </a:t>
            </a:r>
            <a:r>
              <a:rPr lang="en-US" sz="2000" b="1" dirty="0" smtClean="0"/>
              <a:t>   return </a:t>
            </a:r>
            <a:r>
              <a:rPr lang="en-US" sz="2000" b="1" dirty="0"/>
              <a:t>0;</a:t>
            </a:r>
          </a:p>
          <a:p>
            <a:r>
              <a:rPr lang="en-US" sz="2000" b="1" dirty="0" smtClean="0">
                <a:solidFill>
                  <a:schemeClr val="dk1"/>
                </a:solidFill>
              </a:rPr>
              <a:t>}</a:t>
            </a:r>
            <a:endParaRPr lang="en-US" sz="2000" b="1" dirty="0">
              <a:solidFill>
                <a:schemeClr val="dk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360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C++ Structure and </a:t>
            </a:r>
            <a:r>
              <a:rPr lang="en-US" sz="4000" b="1" dirty="0" smtClean="0"/>
              <a:t>Function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hlinkClick r:id="rId2" tooltip="C++ structures"/>
              </a:rPr>
              <a:t>Structure</a:t>
            </a:r>
            <a:r>
              <a:rPr lang="en-US" sz="2400" b="1" dirty="0"/>
              <a:t> variables can be passed to a </a:t>
            </a:r>
            <a:r>
              <a:rPr lang="en-US" sz="2400" b="1" dirty="0">
                <a:hlinkClick r:id="rId3" tooltip="C++ function"/>
              </a:rPr>
              <a:t>function</a:t>
            </a:r>
            <a:r>
              <a:rPr lang="en-US" sz="2400" b="1" dirty="0"/>
              <a:t> and returned in a similar way as normal arguments</a:t>
            </a:r>
            <a:r>
              <a:rPr lang="en-US" sz="2400" b="1" dirty="0" smtClean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66800" y="3171728"/>
            <a:ext cx="3591636" cy="2800767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#include &lt;</a:t>
            </a:r>
            <a:r>
              <a:rPr lang="en-US" sz="1600" b="1" dirty="0" err="1"/>
              <a:t>iostream</a:t>
            </a:r>
            <a:r>
              <a:rPr lang="en-US" sz="1600" b="1" dirty="0"/>
              <a:t>&gt;</a:t>
            </a:r>
          </a:p>
          <a:p>
            <a:r>
              <a:rPr lang="en-US" sz="1600" b="1" dirty="0"/>
              <a:t>using namespace </a:t>
            </a:r>
            <a:r>
              <a:rPr lang="en-US" sz="1600" b="1" dirty="0" err="1"/>
              <a:t>std</a:t>
            </a:r>
            <a:r>
              <a:rPr lang="en-US" sz="1600" b="1" dirty="0"/>
              <a:t>;</a:t>
            </a:r>
          </a:p>
          <a:p>
            <a:endParaRPr lang="en-US" sz="1600" b="1" dirty="0"/>
          </a:p>
          <a:p>
            <a:r>
              <a:rPr lang="en-US" sz="1600" b="1" dirty="0" err="1"/>
              <a:t>struct</a:t>
            </a:r>
            <a:r>
              <a:rPr lang="en-US" sz="1600" b="1" dirty="0"/>
              <a:t> Person {</a:t>
            </a:r>
          </a:p>
          <a:p>
            <a:r>
              <a:rPr lang="en-US" sz="1600" b="1" dirty="0"/>
              <a:t>    char name[50];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int</a:t>
            </a:r>
            <a:r>
              <a:rPr lang="en-US" sz="1600" b="1" dirty="0"/>
              <a:t> age;</a:t>
            </a:r>
          </a:p>
          <a:p>
            <a:r>
              <a:rPr lang="en-US" sz="1600" b="1" dirty="0"/>
              <a:t>    float salary;</a:t>
            </a:r>
          </a:p>
          <a:p>
            <a:r>
              <a:rPr lang="en-US" sz="1600" b="1" dirty="0" smtClean="0"/>
              <a:t>};</a:t>
            </a:r>
          </a:p>
          <a:p>
            <a:endParaRPr lang="en-US" sz="1600" b="1" dirty="0" smtClean="0"/>
          </a:p>
          <a:p>
            <a:r>
              <a:rPr lang="en-US" sz="1600" b="1" dirty="0"/>
              <a:t>// Function </a:t>
            </a:r>
            <a:r>
              <a:rPr lang="en-US" sz="1600" b="1" dirty="0" smtClean="0"/>
              <a:t>declaration</a:t>
            </a:r>
            <a:endParaRPr lang="en-US" sz="1600" b="1" dirty="0"/>
          </a:p>
          <a:p>
            <a:r>
              <a:rPr lang="en-US" sz="1600" b="1" dirty="0"/>
              <a:t>void </a:t>
            </a:r>
            <a:r>
              <a:rPr lang="en-US" sz="1600" b="1" dirty="0" err="1"/>
              <a:t>displayData</a:t>
            </a:r>
            <a:r>
              <a:rPr lang="en-US" sz="1600" b="1" dirty="0"/>
              <a:t>(Person);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4582" y="3045330"/>
            <a:ext cx="6096000" cy="338554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/>
              <a:t>int</a:t>
            </a:r>
            <a:r>
              <a:rPr lang="en-US" sz="1600" b="1" dirty="0"/>
              <a:t> main() {</a:t>
            </a:r>
          </a:p>
          <a:p>
            <a:r>
              <a:rPr lang="en-US" sz="1600" b="1" dirty="0"/>
              <a:t>    Person p</a:t>
            </a:r>
            <a:r>
              <a:rPr lang="en-US" sz="1600" b="1" dirty="0" smtClean="0"/>
              <a:t>;</a:t>
            </a:r>
            <a:endParaRPr lang="en-US" sz="1600" b="1" dirty="0"/>
          </a:p>
          <a:p>
            <a:r>
              <a:rPr lang="en-US" sz="1600" b="1" dirty="0"/>
              <a:t>    </a:t>
            </a:r>
            <a:r>
              <a:rPr lang="en-US" sz="1600" b="1" dirty="0" err="1"/>
              <a:t>cout</a:t>
            </a:r>
            <a:r>
              <a:rPr lang="en-US" sz="1600" b="1" dirty="0"/>
              <a:t> &lt;&lt; "Enter Full name: ";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cin.get</a:t>
            </a:r>
            <a:r>
              <a:rPr lang="en-US" sz="1600" b="1" dirty="0"/>
              <a:t>(p.name, 50);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cout</a:t>
            </a:r>
            <a:r>
              <a:rPr lang="en-US" sz="1600" b="1" dirty="0"/>
              <a:t> &lt;&lt; "Enter age: ";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cin</a:t>
            </a:r>
            <a:r>
              <a:rPr lang="en-US" sz="1600" b="1" dirty="0"/>
              <a:t> &gt;&gt; </a:t>
            </a:r>
            <a:r>
              <a:rPr lang="en-US" sz="1600" b="1" dirty="0" err="1"/>
              <a:t>p.age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cout</a:t>
            </a:r>
            <a:r>
              <a:rPr lang="en-US" sz="1600" b="1" dirty="0"/>
              <a:t> &lt;&lt; "Enter salary: ";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cin</a:t>
            </a:r>
            <a:r>
              <a:rPr lang="en-US" sz="1600" b="1" dirty="0"/>
              <a:t> &gt;&gt; </a:t>
            </a:r>
            <a:r>
              <a:rPr lang="en-US" sz="1600" b="1" dirty="0" err="1"/>
              <a:t>p.salary</a:t>
            </a:r>
            <a:r>
              <a:rPr lang="en-US" sz="1600" b="1" dirty="0" smtClean="0"/>
              <a:t>;</a:t>
            </a:r>
          </a:p>
          <a:p>
            <a:endParaRPr lang="en-US" sz="1600" b="1" dirty="0"/>
          </a:p>
          <a:p>
            <a:r>
              <a:rPr lang="en-US" sz="1600" b="1" dirty="0"/>
              <a:t>    // Function call with structure variable as an argument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displayData</a:t>
            </a:r>
            <a:r>
              <a:rPr lang="en-US" sz="1600" b="1" dirty="0"/>
              <a:t>(p</a:t>
            </a:r>
            <a:r>
              <a:rPr lang="en-US" sz="1600" b="1" dirty="0" smtClean="0"/>
              <a:t>);</a:t>
            </a:r>
            <a:endParaRPr lang="en-US" sz="1600" b="1" dirty="0"/>
          </a:p>
          <a:p>
            <a:r>
              <a:rPr lang="en-US" sz="1600" b="1" dirty="0"/>
              <a:t>    return 0;</a:t>
            </a:r>
          </a:p>
          <a:p>
            <a:r>
              <a:rPr lang="en-US" sz="1600" b="1" dirty="0"/>
              <a:t>}</a:t>
            </a:r>
            <a:endParaRPr lang="en-US" sz="1600" b="1" dirty="0">
              <a:solidFill>
                <a:schemeClr val="dk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130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C++ Structure and </a:t>
            </a:r>
            <a:r>
              <a:rPr lang="en-US" sz="4000" b="1" dirty="0" smtClean="0"/>
              <a:t>Function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1066800" y="3028034"/>
            <a:ext cx="5490754" cy="175432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/>
              <a:t>void </a:t>
            </a:r>
            <a:r>
              <a:rPr lang="en-US" b="1" dirty="0" err="1"/>
              <a:t>displayData</a:t>
            </a:r>
            <a:r>
              <a:rPr lang="en-US" b="1" dirty="0"/>
              <a:t>(Person p) {</a:t>
            </a:r>
          </a:p>
          <a:p>
            <a:r>
              <a:rPr lang="en-US" b="1" dirty="0"/>
              <a:t>    </a:t>
            </a:r>
            <a:r>
              <a:rPr lang="en-US" b="1" dirty="0" err="1"/>
              <a:t>cout</a:t>
            </a:r>
            <a:r>
              <a:rPr lang="en-US" b="1" dirty="0"/>
              <a:t> &lt;&lt; "\</a:t>
            </a:r>
            <a:r>
              <a:rPr lang="en-US" b="1" dirty="0" err="1"/>
              <a:t>nDisplaying</a:t>
            </a:r>
            <a:r>
              <a:rPr lang="en-US" b="1" dirty="0"/>
              <a:t> Information." &lt;&lt; </a:t>
            </a:r>
            <a:r>
              <a:rPr lang="en-US" b="1" dirty="0" err="1"/>
              <a:t>endl</a:t>
            </a:r>
            <a:r>
              <a:rPr lang="en-US" b="1" dirty="0"/>
              <a:t>;</a:t>
            </a:r>
          </a:p>
          <a:p>
            <a:r>
              <a:rPr lang="en-US" b="1" dirty="0"/>
              <a:t>    </a:t>
            </a:r>
            <a:r>
              <a:rPr lang="en-US" b="1" dirty="0" err="1"/>
              <a:t>cout</a:t>
            </a:r>
            <a:r>
              <a:rPr lang="en-US" b="1" dirty="0"/>
              <a:t> &lt;&lt; "Name: " &lt;&lt; p.name &lt;&lt; </a:t>
            </a:r>
            <a:r>
              <a:rPr lang="en-US" b="1" dirty="0" err="1"/>
              <a:t>endl</a:t>
            </a:r>
            <a:r>
              <a:rPr lang="en-US" b="1" dirty="0"/>
              <a:t>;</a:t>
            </a:r>
          </a:p>
          <a:p>
            <a:r>
              <a:rPr lang="en-US" b="1" dirty="0"/>
              <a:t>    </a:t>
            </a:r>
            <a:r>
              <a:rPr lang="en-US" b="1" dirty="0" err="1"/>
              <a:t>cout</a:t>
            </a:r>
            <a:r>
              <a:rPr lang="en-US" b="1" dirty="0"/>
              <a:t> &lt;&lt;"Age: " &lt;&lt; </a:t>
            </a:r>
            <a:r>
              <a:rPr lang="en-US" b="1" dirty="0" err="1"/>
              <a:t>p.age</a:t>
            </a:r>
            <a:r>
              <a:rPr lang="en-US" b="1" dirty="0"/>
              <a:t> &lt;&lt; </a:t>
            </a:r>
            <a:r>
              <a:rPr lang="en-US" b="1" dirty="0" err="1"/>
              <a:t>endl</a:t>
            </a:r>
            <a:r>
              <a:rPr lang="en-US" b="1" dirty="0"/>
              <a:t>;</a:t>
            </a:r>
          </a:p>
          <a:p>
            <a:r>
              <a:rPr lang="en-US" b="1" dirty="0"/>
              <a:t>    </a:t>
            </a:r>
            <a:r>
              <a:rPr lang="en-US" b="1" dirty="0" err="1"/>
              <a:t>cout</a:t>
            </a:r>
            <a:r>
              <a:rPr lang="en-US" b="1" dirty="0"/>
              <a:t> &lt;&lt; "Salary: " &lt;&lt; </a:t>
            </a:r>
            <a:r>
              <a:rPr lang="en-US" b="1" dirty="0" err="1"/>
              <a:t>p.salary</a:t>
            </a:r>
            <a:r>
              <a:rPr lang="en-US" b="1" dirty="0"/>
              <a:t>;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6938879" y="2431375"/>
            <a:ext cx="3681224" cy="255454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u="sng" dirty="0" smtClean="0">
                <a:solidFill>
                  <a:srgbClr val="FF0000"/>
                </a:solidFill>
              </a:rPr>
              <a:t>Output:</a:t>
            </a:r>
          </a:p>
          <a:p>
            <a:endParaRPr lang="en-US" sz="1600" b="1" dirty="0"/>
          </a:p>
          <a:p>
            <a:r>
              <a:rPr lang="en-US" sz="1600" b="1" dirty="0" smtClean="0"/>
              <a:t>Enter </a:t>
            </a:r>
            <a:r>
              <a:rPr lang="en-US" sz="1600" b="1" dirty="0"/>
              <a:t>Full name: Bill Jobs</a:t>
            </a:r>
          </a:p>
          <a:p>
            <a:r>
              <a:rPr lang="en-US" sz="1600" b="1" dirty="0"/>
              <a:t>Enter age: 55</a:t>
            </a:r>
          </a:p>
          <a:p>
            <a:r>
              <a:rPr lang="en-US" sz="1600" b="1" dirty="0"/>
              <a:t>Enter salary: 34233.4</a:t>
            </a:r>
          </a:p>
          <a:p>
            <a:endParaRPr lang="en-US" sz="1600" b="1" dirty="0"/>
          </a:p>
          <a:p>
            <a:r>
              <a:rPr lang="en-US" sz="1600" b="1" dirty="0"/>
              <a:t>Displaying Information.</a:t>
            </a:r>
          </a:p>
          <a:p>
            <a:r>
              <a:rPr lang="en-US" sz="1600" b="1" dirty="0"/>
              <a:t>Name: Bill Jobs</a:t>
            </a:r>
          </a:p>
          <a:p>
            <a:r>
              <a:rPr lang="en-US" sz="1600" b="1" dirty="0"/>
              <a:t>Age: 55</a:t>
            </a:r>
          </a:p>
          <a:p>
            <a:r>
              <a:rPr lang="en-US" sz="1600" b="1" dirty="0"/>
              <a:t>Salary: 34233.4</a:t>
            </a:r>
            <a:endParaRPr lang="en-US" sz="1600" b="1" dirty="0">
              <a:solidFill>
                <a:schemeClr val="dk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041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C++ Pointers to </a:t>
            </a:r>
            <a:r>
              <a:rPr lang="en-US" sz="4000" b="1" dirty="0" smtClean="0"/>
              <a:t>Structure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A </a:t>
            </a:r>
            <a:r>
              <a:rPr lang="en-US" sz="2400" b="1" dirty="0">
                <a:hlinkClick r:id="rId2" tooltip="C++ pointers"/>
              </a:rPr>
              <a:t>pointer</a:t>
            </a:r>
            <a:r>
              <a:rPr lang="en-US" sz="2400" b="1" dirty="0"/>
              <a:t> variable can be created not only for native types like </a:t>
            </a:r>
            <a:r>
              <a:rPr lang="en-US" sz="2400" b="1" dirty="0" smtClean="0"/>
              <a:t>(</a:t>
            </a:r>
            <a:r>
              <a:rPr lang="en-US" sz="2400" b="1" dirty="0" err="1" smtClean="0"/>
              <a:t>int</a:t>
            </a:r>
            <a:r>
              <a:rPr lang="en-US" sz="2400" b="1" dirty="0" smtClean="0"/>
              <a:t>, float, double </a:t>
            </a:r>
            <a:r>
              <a:rPr lang="en-US" sz="2400" b="1" dirty="0" err="1" smtClean="0"/>
              <a:t>etc</a:t>
            </a:r>
            <a:r>
              <a:rPr lang="en-US" sz="2400" b="1" dirty="0" smtClean="0"/>
              <a:t>) </a:t>
            </a:r>
            <a:r>
              <a:rPr lang="en-US" sz="2400" b="1" dirty="0"/>
              <a:t>but they can also be created for user defined types like </a:t>
            </a:r>
            <a:r>
              <a:rPr lang="en-US" sz="2400" b="1" dirty="0">
                <a:hlinkClick r:id="rId3" tooltip="C++ structures"/>
              </a:rPr>
              <a:t>structure</a:t>
            </a:r>
            <a:r>
              <a:rPr lang="en-US" sz="2400" b="1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This program creates a </a:t>
            </a:r>
            <a:r>
              <a:rPr lang="en-US" sz="2400" b="1" dirty="0" smtClean="0">
                <a:solidFill>
                  <a:srgbClr val="FF0000"/>
                </a:solidFill>
              </a:rPr>
              <a:t>pointer</a:t>
            </a:r>
          </a:p>
          <a:p>
            <a:pPr marL="0" indent="0" algn="just">
              <a:buNone/>
            </a:pPr>
            <a:r>
              <a:rPr lang="en-US" sz="2400" b="1" dirty="0" smtClean="0">
                <a:solidFill>
                  <a:srgbClr val="FF0000"/>
                </a:solidFill>
              </a:rPr>
              <a:t>  </a:t>
            </a:r>
            <a:r>
              <a:rPr lang="en-US" sz="2400" b="1" dirty="0" err="1" smtClean="0">
                <a:solidFill>
                  <a:srgbClr val="FF0000"/>
                </a:solidFill>
              </a:rPr>
              <a:t>ptr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/>
              <a:t>of type </a:t>
            </a:r>
            <a:r>
              <a:rPr lang="en-US" sz="2400" b="1" dirty="0">
                <a:solidFill>
                  <a:srgbClr val="FF0000"/>
                </a:solidFill>
              </a:rPr>
              <a:t>structure temp</a:t>
            </a:r>
            <a:r>
              <a:rPr lang="en-US" sz="2400" b="1" dirty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4" name="Rectangle 3"/>
          <p:cNvSpPr/>
          <p:nvPr/>
        </p:nvSpPr>
        <p:spPr>
          <a:xfrm>
            <a:off x="6096000" y="3200817"/>
            <a:ext cx="5490754" cy="3108543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#include &lt;</a:t>
            </a:r>
            <a:r>
              <a:rPr lang="en-US" sz="1600" b="1" dirty="0" err="1"/>
              <a:t>iostream</a:t>
            </a:r>
            <a:r>
              <a:rPr lang="en-US" sz="1600" b="1" dirty="0"/>
              <a:t>&gt;</a:t>
            </a:r>
          </a:p>
          <a:p>
            <a:r>
              <a:rPr lang="en-US" sz="1600" b="1" dirty="0"/>
              <a:t>using namespace </a:t>
            </a:r>
            <a:r>
              <a:rPr lang="en-US" sz="1600" b="1" dirty="0" err="1"/>
              <a:t>std</a:t>
            </a:r>
            <a:r>
              <a:rPr lang="en-US" sz="1600" b="1" dirty="0"/>
              <a:t>;</a:t>
            </a:r>
          </a:p>
          <a:p>
            <a:endParaRPr lang="en-US" sz="1600" b="1" dirty="0"/>
          </a:p>
          <a:p>
            <a:r>
              <a:rPr lang="en-US" sz="1600" b="1" dirty="0" err="1"/>
              <a:t>struct</a:t>
            </a:r>
            <a:r>
              <a:rPr lang="en-US" sz="1600" b="1" dirty="0"/>
              <a:t> temp 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int</a:t>
            </a:r>
            <a:r>
              <a:rPr lang="en-US" sz="1600" b="1" dirty="0"/>
              <a:t> </a:t>
            </a:r>
            <a:r>
              <a:rPr lang="en-US" sz="1600" b="1" dirty="0" err="1"/>
              <a:t>i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float f;</a:t>
            </a:r>
          </a:p>
          <a:p>
            <a:r>
              <a:rPr lang="en-US" sz="1600" b="1" dirty="0"/>
              <a:t>};</a:t>
            </a:r>
          </a:p>
          <a:p>
            <a:endParaRPr lang="en-US" sz="1600" b="1" dirty="0"/>
          </a:p>
          <a:p>
            <a:r>
              <a:rPr lang="en-US" sz="1600" b="1" dirty="0" err="1"/>
              <a:t>int</a:t>
            </a:r>
            <a:r>
              <a:rPr lang="en-US" sz="1600" b="1" dirty="0"/>
              <a:t> main() {</a:t>
            </a:r>
          </a:p>
          <a:p>
            <a:r>
              <a:rPr lang="en-US" sz="1600" b="1" dirty="0"/>
              <a:t>    temp *</a:t>
            </a:r>
            <a:r>
              <a:rPr lang="en-US" sz="1600" b="1" dirty="0" err="1"/>
              <a:t>ptr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return 0;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207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C++ Pointers to </a:t>
            </a:r>
            <a:r>
              <a:rPr lang="en-US" sz="4000" b="1" dirty="0" smtClean="0"/>
              <a:t>Structure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605246" y="2014194"/>
            <a:ext cx="3557451" cy="181588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#include &lt;</a:t>
            </a:r>
            <a:r>
              <a:rPr lang="en-US" sz="1600" b="1" dirty="0" err="1"/>
              <a:t>iostream</a:t>
            </a:r>
            <a:r>
              <a:rPr lang="en-US" sz="1600" b="1" dirty="0"/>
              <a:t>&gt;</a:t>
            </a:r>
          </a:p>
          <a:p>
            <a:r>
              <a:rPr lang="en-US" sz="1600" b="1" dirty="0"/>
              <a:t>using namespace </a:t>
            </a:r>
            <a:r>
              <a:rPr lang="en-US" sz="1600" b="1" dirty="0" err="1"/>
              <a:t>std</a:t>
            </a:r>
            <a:r>
              <a:rPr lang="en-US" sz="1600" b="1" dirty="0"/>
              <a:t>;</a:t>
            </a:r>
          </a:p>
          <a:p>
            <a:endParaRPr lang="en-US" sz="1600" b="1" dirty="0"/>
          </a:p>
          <a:p>
            <a:r>
              <a:rPr lang="en-US" sz="1600" b="1" dirty="0" err="1"/>
              <a:t>struct</a:t>
            </a:r>
            <a:r>
              <a:rPr lang="en-US" sz="1600" b="1" dirty="0"/>
              <a:t> Distance {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int</a:t>
            </a:r>
            <a:r>
              <a:rPr lang="en-US" sz="1600" b="1" dirty="0"/>
              <a:t> feet;</a:t>
            </a:r>
          </a:p>
          <a:p>
            <a:r>
              <a:rPr lang="en-US" sz="1600" b="1" dirty="0"/>
              <a:t>    float inch;</a:t>
            </a:r>
          </a:p>
          <a:p>
            <a:r>
              <a:rPr lang="en-US" sz="1600" b="1" dirty="0"/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3803" y="2014194"/>
            <a:ext cx="7424057" cy="378565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/>
              <a:t>int</a:t>
            </a:r>
            <a:r>
              <a:rPr lang="en-US" sz="1600" b="1" dirty="0"/>
              <a:t> main() {</a:t>
            </a:r>
          </a:p>
          <a:p>
            <a:r>
              <a:rPr lang="en-US" sz="1600" b="1" dirty="0"/>
              <a:t>    Distance *</a:t>
            </a:r>
            <a:r>
              <a:rPr lang="en-US" sz="1600" b="1" dirty="0" err="1"/>
              <a:t>ptr</a:t>
            </a:r>
            <a:r>
              <a:rPr lang="en-US" sz="1600" b="1" dirty="0"/>
              <a:t>, d;</a:t>
            </a:r>
          </a:p>
          <a:p>
            <a:endParaRPr lang="en-US" sz="1600" b="1" dirty="0"/>
          </a:p>
          <a:p>
            <a:r>
              <a:rPr lang="en-US" sz="1600" b="1" dirty="0"/>
              <a:t>    </a:t>
            </a:r>
            <a:r>
              <a:rPr lang="en-US" sz="1600" b="1" dirty="0" err="1"/>
              <a:t>ptr</a:t>
            </a:r>
            <a:r>
              <a:rPr lang="en-US" sz="1600" b="1" dirty="0"/>
              <a:t> = &amp;d;</a:t>
            </a:r>
          </a:p>
          <a:p>
            <a:r>
              <a:rPr lang="en-US" sz="1600" b="1" dirty="0"/>
              <a:t>    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cout</a:t>
            </a:r>
            <a:r>
              <a:rPr lang="en-US" sz="1600" b="1" dirty="0"/>
              <a:t> &lt;&lt; "Enter feet: ";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cin</a:t>
            </a:r>
            <a:r>
              <a:rPr lang="en-US" sz="1600" b="1" dirty="0"/>
              <a:t> &gt;&gt; (*</a:t>
            </a:r>
            <a:r>
              <a:rPr lang="en-US" sz="1600" b="1" dirty="0" err="1"/>
              <a:t>ptr</a:t>
            </a:r>
            <a:r>
              <a:rPr lang="en-US" sz="1600" b="1" dirty="0"/>
              <a:t>).feet;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cout</a:t>
            </a:r>
            <a:r>
              <a:rPr lang="en-US" sz="1600" b="1" dirty="0"/>
              <a:t> &lt;&lt; "Enter inch: ";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cin</a:t>
            </a:r>
            <a:r>
              <a:rPr lang="en-US" sz="1600" b="1" dirty="0"/>
              <a:t> &gt;&gt; (*</a:t>
            </a:r>
            <a:r>
              <a:rPr lang="en-US" sz="1600" b="1" dirty="0" err="1"/>
              <a:t>ptr</a:t>
            </a:r>
            <a:r>
              <a:rPr lang="en-US" sz="1600" b="1" dirty="0"/>
              <a:t>).inch;</a:t>
            </a:r>
          </a:p>
          <a:p>
            <a:r>
              <a:rPr lang="en-US" sz="1600" b="1" dirty="0"/>
              <a:t> 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cout</a:t>
            </a:r>
            <a:r>
              <a:rPr lang="en-US" sz="1600" b="1" dirty="0"/>
              <a:t> &lt;&lt; "Displaying information." &lt;&lt; </a:t>
            </a:r>
            <a:r>
              <a:rPr lang="en-US" sz="1600" b="1" dirty="0" err="1"/>
              <a:t>endl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cout</a:t>
            </a:r>
            <a:r>
              <a:rPr lang="en-US" sz="1600" b="1" dirty="0"/>
              <a:t> &lt;&lt; "Distance = " &lt;&lt; (*</a:t>
            </a:r>
            <a:r>
              <a:rPr lang="en-US" sz="1600" b="1" dirty="0" err="1"/>
              <a:t>ptr</a:t>
            </a:r>
            <a:r>
              <a:rPr lang="en-US" sz="1600" b="1" dirty="0"/>
              <a:t>).feet &lt;&lt; " feet " &lt;&lt; (*</a:t>
            </a:r>
            <a:r>
              <a:rPr lang="en-US" sz="1600" b="1" dirty="0" err="1"/>
              <a:t>ptr</a:t>
            </a:r>
            <a:r>
              <a:rPr lang="en-US" sz="1600" b="1" dirty="0"/>
              <a:t>).inch &lt;&lt; " inches";</a:t>
            </a:r>
          </a:p>
          <a:p>
            <a:endParaRPr lang="en-US" sz="1600" b="1" dirty="0"/>
          </a:p>
          <a:p>
            <a:r>
              <a:rPr lang="en-US" sz="1600" b="1" dirty="0"/>
              <a:t>    return 0;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245" y="4293735"/>
            <a:ext cx="3557451" cy="156966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u="sng" dirty="0" smtClean="0">
                <a:solidFill>
                  <a:srgbClr val="FF0000"/>
                </a:solidFill>
              </a:rPr>
              <a:t>Output:</a:t>
            </a:r>
          </a:p>
          <a:p>
            <a:endParaRPr lang="en-US" sz="1600" b="1" u="sng" dirty="0" smtClean="0">
              <a:solidFill>
                <a:srgbClr val="FF0000"/>
              </a:solidFill>
            </a:endParaRPr>
          </a:p>
          <a:p>
            <a:r>
              <a:rPr lang="en-US" sz="1600" b="1" dirty="0" smtClean="0"/>
              <a:t>Enter </a:t>
            </a:r>
            <a:r>
              <a:rPr lang="en-US" sz="1600" b="1" dirty="0"/>
              <a:t>feet: 4</a:t>
            </a:r>
          </a:p>
          <a:p>
            <a:r>
              <a:rPr lang="en-US" sz="1600" b="1" dirty="0"/>
              <a:t>Enter inch: 3.5</a:t>
            </a:r>
          </a:p>
          <a:p>
            <a:r>
              <a:rPr lang="en-US" sz="1600" b="1" dirty="0"/>
              <a:t>Displaying information.</a:t>
            </a:r>
          </a:p>
          <a:p>
            <a:r>
              <a:rPr lang="en-US" sz="1600" b="1" dirty="0"/>
              <a:t>Distance = 4 feet 3.5 inches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886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C++ Pointers to </a:t>
            </a:r>
            <a:r>
              <a:rPr lang="en-US" sz="4000" b="1" dirty="0" smtClean="0"/>
              <a:t>Structure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103119"/>
            <a:ext cx="10058400" cy="4349931"/>
          </a:xfrm>
        </p:spPr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Since </a:t>
            </a:r>
            <a:r>
              <a:rPr lang="en-US" sz="2400" b="1" dirty="0">
                <a:solidFill>
                  <a:srgbClr val="FF0000"/>
                </a:solidFill>
              </a:rPr>
              <a:t>pointer </a:t>
            </a:r>
            <a:r>
              <a:rPr lang="en-US" sz="2400" b="1" dirty="0" err="1">
                <a:solidFill>
                  <a:srgbClr val="FF0000"/>
                </a:solidFill>
              </a:rPr>
              <a:t>ptr</a:t>
            </a:r>
            <a:r>
              <a:rPr lang="en-US" sz="2400" b="1" dirty="0"/>
              <a:t> is pointing to </a:t>
            </a:r>
            <a:r>
              <a:rPr lang="en-US" sz="2400" b="1" dirty="0">
                <a:solidFill>
                  <a:srgbClr val="FF0000"/>
                </a:solidFill>
              </a:rPr>
              <a:t>variable d</a:t>
            </a:r>
            <a:r>
              <a:rPr lang="en-US" sz="2400" b="1" dirty="0"/>
              <a:t> in this program, </a:t>
            </a:r>
            <a:r>
              <a:rPr lang="en-US" sz="2400" b="1" dirty="0">
                <a:solidFill>
                  <a:srgbClr val="FF0000"/>
                </a:solidFill>
              </a:rPr>
              <a:t>(*</a:t>
            </a:r>
            <a:r>
              <a:rPr lang="en-US" sz="2400" b="1" dirty="0" err="1">
                <a:solidFill>
                  <a:srgbClr val="FF0000"/>
                </a:solidFill>
              </a:rPr>
              <a:t>ptr</a:t>
            </a:r>
            <a:r>
              <a:rPr lang="en-US" sz="2400" b="1" dirty="0">
                <a:solidFill>
                  <a:srgbClr val="FF0000"/>
                </a:solidFill>
              </a:rPr>
              <a:t>).inch </a:t>
            </a:r>
            <a:r>
              <a:rPr lang="en-US" sz="2400" b="1" dirty="0"/>
              <a:t>and </a:t>
            </a:r>
            <a:r>
              <a:rPr lang="en-US" sz="2400" b="1" dirty="0" err="1">
                <a:solidFill>
                  <a:srgbClr val="FF0000"/>
                </a:solidFill>
              </a:rPr>
              <a:t>d.inch</a:t>
            </a:r>
            <a:r>
              <a:rPr lang="en-US" sz="2400" b="1" dirty="0"/>
              <a:t> are equivalent. Similarly, </a:t>
            </a:r>
            <a:r>
              <a:rPr lang="en-US" sz="2400" b="1" dirty="0">
                <a:solidFill>
                  <a:srgbClr val="FF0000"/>
                </a:solidFill>
              </a:rPr>
              <a:t>(*</a:t>
            </a:r>
            <a:r>
              <a:rPr lang="en-US" sz="2400" b="1" dirty="0" err="1">
                <a:solidFill>
                  <a:srgbClr val="FF0000"/>
                </a:solidFill>
              </a:rPr>
              <a:t>ptr</a:t>
            </a:r>
            <a:r>
              <a:rPr lang="en-US" sz="2400" b="1" dirty="0">
                <a:solidFill>
                  <a:srgbClr val="FF0000"/>
                </a:solidFill>
              </a:rPr>
              <a:t>).feet </a:t>
            </a:r>
            <a:r>
              <a:rPr lang="en-US" sz="2400" b="1" dirty="0"/>
              <a:t>and </a:t>
            </a:r>
            <a:r>
              <a:rPr lang="en-US" sz="2400" b="1" dirty="0" err="1">
                <a:solidFill>
                  <a:srgbClr val="FF0000"/>
                </a:solidFill>
              </a:rPr>
              <a:t>d.feet</a:t>
            </a:r>
            <a:r>
              <a:rPr lang="en-US" sz="2400" b="1" dirty="0"/>
              <a:t> are equivalent.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However, if we are using pointers, it is far more preferable to access </a:t>
            </a:r>
            <a:r>
              <a:rPr lang="en-US" sz="2400" b="1" dirty="0" err="1"/>
              <a:t>struct</a:t>
            </a:r>
            <a:r>
              <a:rPr lang="en-US" sz="2400" b="1" dirty="0"/>
              <a:t> members using the </a:t>
            </a:r>
            <a:r>
              <a:rPr lang="en-US" sz="2400" b="1" dirty="0">
                <a:solidFill>
                  <a:srgbClr val="FF0000"/>
                </a:solidFill>
              </a:rPr>
              <a:t>-&gt; operator</a:t>
            </a:r>
            <a:r>
              <a:rPr lang="en-US" sz="2400" b="1" dirty="0"/>
              <a:t>, since the . operator has a higher precedence than the * operator</a:t>
            </a:r>
            <a:r>
              <a:rPr lang="en-US" sz="2400" b="1" dirty="0" smtClean="0"/>
              <a:t>.</a:t>
            </a:r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Hence, we enclose *</a:t>
            </a:r>
            <a:r>
              <a:rPr lang="en-US" sz="2400" b="1" dirty="0" err="1"/>
              <a:t>ptr</a:t>
            </a:r>
            <a:r>
              <a:rPr lang="en-US" sz="2400" b="1" dirty="0"/>
              <a:t> in brackets when using </a:t>
            </a:r>
            <a:r>
              <a:rPr lang="en-US" sz="2400" b="1" dirty="0">
                <a:solidFill>
                  <a:srgbClr val="FF0000"/>
                </a:solidFill>
              </a:rPr>
              <a:t>(*</a:t>
            </a:r>
            <a:r>
              <a:rPr lang="en-US" sz="2400" b="1" dirty="0" err="1">
                <a:solidFill>
                  <a:srgbClr val="FF0000"/>
                </a:solidFill>
              </a:rPr>
              <a:t>ptr</a:t>
            </a:r>
            <a:r>
              <a:rPr lang="en-US" sz="2400" b="1" dirty="0">
                <a:solidFill>
                  <a:srgbClr val="FF0000"/>
                </a:solidFill>
              </a:rPr>
              <a:t>).inch</a:t>
            </a:r>
            <a:r>
              <a:rPr lang="en-US" sz="2400" b="1" dirty="0"/>
              <a:t>. Because of this, it is easier to make mistakes if both operators are used together in a single code</a:t>
            </a:r>
            <a:r>
              <a:rPr lang="en-US" sz="2400" b="1" dirty="0" smtClean="0"/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0000"/>
                </a:solidFill>
              </a:rPr>
              <a:t>ptr</a:t>
            </a:r>
            <a:r>
              <a:rPr lang="en-US" sz="2400" b="1" dirty="0">
                <a:solidFill>
                  <a:srgbClr val="FF0000"/>
                </a:solidFill>
              </a:rPr>
              <a:t>-&gt;feet</a:t>
            </a:r>
            <a:r>
              <a:rPr lang="en-US" sz="2400" b="1" dirty="0"/>
              <a:t> is same as </a:t>
            </a:r>
            <a:r>
              <a:rPr lang="en-US" sz="2400" b="1" dirty="0">
                <a:solidFill>
                  <a:srgbClr val="FF0000"/>
                </a:solidFill>
              </a:rPr>
              <a:t>(*</a:t>
            </a:r>
            <a:r>
              <a:rPr lang="en-US" sz="2400" b="1" dirty="0" err="1">
                <a:solidFill>
                  <a:srgbClr val="FF0000"/>
                </a:solidFill>
              </a:rPr>
              <a:t>ptr</a:t>
            </a:r>
            <a:r>
              <a:rPr lang="en-US" sz="2400" b="1" dirty="0">
                <a:solidFill>
                  <a:srgbClr val="FF0000"/>
                </a:solidFill>
              </a:rPr>
              <a:t>).feet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0000"/>
                </a:solidFill>
              </a:rPr>
              <a:t>ptr</a:t>
            </a:r>
            <a:r>
              <a:rPr lang="en-US" sz="2400" b="1" dirty="0">
                <a:solidFill>
                  <a:srgbClr val="FF0000"/>
                </a:solidFill>
              </a:rPr>
              <a:t>-&gt;inch </a:t>
            </a:r>
            <a:r>
              <a:rPr lang="en-US" sz="2400" b="1" dirty="0"/>
              <a:t>is same as </a:t>
            </a:r>
            <a:r>
              <a:rPr lang="en-US" sz="2400" b="1" dirty="0">
                <a:solidFill>
                  <a:srgbClr val="FF0000"/>
                </a:solidFill>
              </a:rPr>
              <a:t>(*</a:t>
            </a:r>
            <a:r>
              <a:rPr lang="en-US" sz="2400" b="1" dirty="0" err="1">
                <a:solidFill>
                  <a:srgbClr val="FF0000"/>
                </a:solidFill>
              </a:rPr>
              <a:t>ptr</a:t>
            </a:r>
            <a:r>
              <a:rPr lang="en-US" sz="2400" b="1" dirty="0">
                <a:solidFill>
                  <a:srgbClr val="FF0000"/>
                </a:solidFill>
              </a:rPr>
              <a:t>).</a:t>
            </a:r>
            <a:r>
              <a:rPr lang="en-US" sz="2400" b="1" dirty="0" smtClean="0">
                <a:solidFill>
                  <a:srgbClr val="FF0000"/>
                </a:solidFill>
              </a:rPr>
              <a:t>inch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336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563966"/>
            <a:ext cx="10058400" cy="747097"/>
          </a:xfrm>
        </p:spPr>
        <p:txBody>
          <a:bodyPr>
            <a:normAutofit/>
          </a:bodyPr>
          <a:lstStyle/>
          <a:p>
            <a:r>
              <a:rPr lang="en-US" sz="4000" b="1" dirty="0"/>
              <a:t>Array in a Structure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360" y="1311063"/>
            <a:ext cx="10058400" cy="393192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We </a:t>
            </a:r>
            <a:r>
              <a:rPr lang="en-US" sz="2400" b="1" dirty="0"/>
              <a:t>can use arrays as data members in a 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31177" y="2939560"/>
            <a:ext cx="5146766" cy="1323439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 err="1"/>
              <a:t>struct</a:t>
            </a:r>
            <a:r>
              <a:rPr lang="en-US" sz="2000" b="1" dirty="0"/>
              <a:t> Student {</a:t>
            </a:r>
          </a:p>
          <a:p>
            <a:r>
              <a:rPr lang="en-US" sz="2000" b="1" dirty="0"/>
              <a:t>    </a:t>
            </a:r>
            <a:r>
              <a:rPr lang="en-US" sz="2000" b="1" dirty="0" smtClean="0"/>
              <a:t>string </a:t>
            </a:r>
            <a:r>
              <a:rPr lang="en-US" sz="2000" b="1" dirty="0"/>
              <a:t>name[50];</a:t>
            </a:r>
          </a:p>
          <a:p>
            <a:r>
              <a:rPr lang="en-US" sz="2000" b="1" dirty="0"/>
              <a:t>    </a:t>
            </a:r>
            <a:r>
              <a:rPr lang="en-US" sz="2000" b="1" dirty="0" err="1"/>
              <a:t>int</a:t>
            </a:r>
            <a:r>
              <a:rPr lang="en-US" sz="2000" b="1" dirty="0"/>
              <a:t> grades[5]; // Array to store grades</a:t>
            </a:r>
          </a:p>
          <a:p>
            <a:r>
              <a:rPr lang="en-US" sz="2000" b="1" dirty="0"/>
              <a:t>};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301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60" y="563966"/>
            <a:ext cx="10058400" cy="747097"/>
          </a:xfrm>
        </p:spPr>
        <p:txBody>
          <a:bodyPr>
            <a:normAutofit/>
          </a:bodyPr>
          <a:lstStyle/>
          <a:p>
            <a:r>
              <a:rPr lang="en-US" sz="4000" b="1" dirty="0"/>
              <a:t>Structural Array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360" y="1311063"/>
            <a:ext cx="10058400" cy="393192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/>
              <a:t>A structural array is an array of structures. Each element of the array is a 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8754" y="1855343"/>
            <a:ext cx="5146766" cy="4770537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#include &lt;</a:t>
            </a:r>
            <a:r>
              <a:rPr lang="en-US" sz="1600" b="1" dirty="0" err="1"/>
              <a:t>iostream</a:t>
            </a:r>
            <a:r>
              <a:rPr lang="en-US" sz="1600" b="1" dirty="0"/>
              <a:t>&gt;</a:t>
            </a:r>
          </a:p>
          <a:p>
            <a:r>
              <a:rPr lang="en-US" sz="1600" b="1" dirty="0"/>
              <a:t>using namespace </a:t>
            </a:r>
            <a:r>
              <a:rPr lang="en-US" sz="1600" b="1" dirty="0" err="1"/>
              <a:t>std</a:t>
            </a:r>
            <a:r>
              <a:rPr lang="en-US" sz="1600" b="1" dirty="0"/>
              <a:t>;</a:t>
            </a:r>
          </a:p>
          <a:p>
            <a:endParaRPr lang="en-US" sz="1600" b="1" dirty="0"/>
          </a:p>
          <a:p>
            <a:r>
              <a:rPr lang="en-US" sz="1600" b="1" dirty="0" err="1"/>
              <a:t>struct</a:t>
            </a:r>
            <a:r>
              <a:rPr lang="en-US" sz="1600" b="1" dirty="0"/>
              <a:t> Point {</a:t>
            </a:r>
          </a:p>
          <a:p>
            <a:r>
              <a:rPr lang="en-US" sz="1600" b="1" dirty="0"/>
              <a:t>	</a:t>
            </a:r>
            <a:r>
              <a:rPr lang="en-US" sz="1600" b="1" dirty="0" err="1"/>
              <a:t>int</a:t>
            </a:r>
            <a:r>
              <a:rPr lang="en-US" sz="1600" b="1" dirty="0"/>
              <a:t> x, y;</a:t>
            </a:r>
          </a:p>
          <a:p>
            <a:r>
              <a:rPr lang="en-US" sz="1600" b="1" dirty="0"/>
              <a:t>};</a:t>
            </a:r>
          </a:p>
          <a:p>
            <a:endParaRPr lang="en-US" sz="1600" b="1" dirty="0"/>
          </a:p>
          <a:p>
            <a:r>
              <a:rPr lang="en-US" sz="1600" b="1" dirty="0" err="1"/>
              <a:t>int</a:t>
            </a:r>
            <a:r>
              <a:rPr lang="en-US" sz="1600" b="1" dirty="0"/>
              <a:t> main()</a:t>
            </a:r>
          </a:p>
          <a:p>
            <a:r>
              <a:rPr lang="en-US" sz="1600" b="1" dirty="0"/>
              <a:t>{</a:t>
            </a:r>
          </a:p>
          <a:p>
            <a:r>
              <a:rPr lang="en-US" sz="1600" b="1" dirty="0"/>
              <a:t>	// Create an array of structures</a:t>
            </a:r>
          </a:p>
          <a:p>
            <a:r>
              <a:rPr lang="en-US" sz="1600" b="1" dirty="0"/>
              <a:t>	</a:t>
            </a:r>
            <a:r>
              <a:rPr lang="en-US" sz="1600" b="1" dirty="0" smtClean="0"/>
              <a:t>Point </a:t>
            </a:r>
            <a:r>
              <a:rPr lang="en-US" sz="1600" b="1" dirty="0" err="1"/>
              <a:t>arr</a:t>
            </a:r>
            <a:r>
              <a:rPr lang="en-US" sz="1600" b="1" dirty="0"/>
              <a:t>[10];</a:t>
            </a:r>
          </a:p>
          <a:p>
            <a:endParaRPr lang="en-US" sz="1600" b="1" dirty="0"/>
          </a:p>
          <a:p>
            <a:r>
              <a:rPr lang="en-US" sz="1600" b="1" dirty="0"/>
              <a:t>	// Access array members</a:t>
            </a:r>
          </a:p>
          <a:p>
            <a:r>
              <a:rPr lang="en-US" sz="1600" b="1" dirty="0"/>
              <a:t>	</a:t>
            </a:r>
            <a:r>
              <a:rPr lang="en-US" sz="1600" b="1" dirty="0" err="1"/>
              <a:t>arr</a:t>
            </a:r>
            <a:r>
              <a:rPr lang="en-US" sz="1600" b="1" dirty="0"/>
              <a:t>[0].x = 10;</a:t>
            </a:r>
          </a:p>
          <a:p>
            <a:r>
              <a:rPr lang="en-US" sz="1600" b="1" dirty="0"/>
              <a:t>	</a:t>
            </a:r>
            <a:r>
              <a:rPr lang="en-US" sz="1600" b="1" dirty="0" err="1"/>
              <a:t>arr</a:t>
            </a:r>
            <a:r>
              <a:rPr lang="en-US" sz="1600" b="1" dirty="0"/>
              <a:t>[0].y = 20;</a:t>
            </a:r>
          </a:p>
          <a:p>
            <a:endParaRPr lang="en-US" sz="1600" b="1" dirty="0"/>
          </a:p>
          <a:p>
            <a:r>
              <a:rPr lang="en-US" sz="1600" b="1" dirty="0"/>
              <a:t>	</a:t>
            </a:r>
            <a:r>
              <a:rPr lang="en-US" sz="1600" b="1" dirty="0" err="1"/>
              <a:t>cout</a:t>
            </a:r>
            <a:r>
              <a:rPr lang="en-US" sz="1600" b="1" dirty="0"/>
              <a:t> &lt;&lt; </a:t>
            </a:r>
            <a:r>
              <a:rPr lang="en-US" sz="1600" b="1" dirty="0" err="1"/>
              <a:t>arr</a:t>
            </a:r>
            <a:r>
              <a:rPr lang="en-US" sz="1600" b="1" dirty="0"/>
              <a:t>[0].x &lt;&lt; " " &lt;&lt; </a:t>
            </a:r>
            <a:r>
              <a:rPr lang="en-US" sz="1600" b="1" dirty="0" err="1"/>
              <a:t>arr</a:t>
            </a:r>
            <a:r>
              <a:rPr lang="en-US" sz="1600" b="1" dirty="0"/>
              <a:t>[0].y;</a:t>
            </a:r>
          </a:p>
          <a:p>
            <a:r>
              <a:rPr lang="en-US" sz="1600" b="1" dirty="0"/>
              <a:t>	return 0;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507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594" y="864412"/>
            <a:ext cx="10445931" cy="747097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Example of Structure for </a:t>
            </a:r>
            <a:r>
              <a:rPr lang="en-US" sz="4000" b="1" dirty="0" smtClean="0"/>
              <a:t>Employee Information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483324" y="1898892"/>
            <a:ext cx="5773782" cy="427809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#include &lt;</a:t>
            </a:r>
            <a:r>
              <a:rPr lang="en-US" sz="1600" b="1" dirty="0" err="1"/>
              <a:t>iostream</a:t>
            </a:r>
            <a:r>
              <a:rPr lang="en-US" sz="1600" b="1" dirty="0" smtClean="0"/>
              <a:t>&gt;</a:t>
            </a:r>
            <a:endParaRPr lang="en-US" sz="1600" b="1" dirty="0"/>
          </a:p>
          <a:p>
            <a:r>
              <a:rPr lang="en-US" sz="1600" b="1" dirty="0"/>
              <a:t>using namespace </a:t>
            </a:r>
            <a:r>
              <a:rPr lang="en-US" sz="1600" b="1" dirty="0" err="1"/>
              <a:t>std</a:t>
            </a:r>
            <a:r>
              <a:rPr lang="en-US" sz="1600" b="1" dirty="0"/>
              <a:t>;</a:t>
            </a:r>
          </a:p>
          <a:p>
            <a:endParaRPr lang="en-US" sz="1600" b="1" dirty="0"/>
          </a:p>
          <a:p>
            <a:r>
              <a:rPr lang="en-US" sz="1600" b="1" dirty="0"/>
              <a:t>// Definition of Structure</a:t>
            </a:r>
          </a:p>
          <a:p>
            <a:r>
              <a:rPr lang="en-US" sz="1600" b="1" dirty="0" err="1"/>
              <a:t>struct</a:t>
            </a:r>
            <a:r>
              <a:rPr lang="en-US" sz="1600" b="1" dirty="0"/>
              <a:t> Employee {</a:t>
            </a:r>
          </a:p>
          <a:p>
            <a:r>
              <a:rPr lang="en-US" sz="1600" b="1" dirty="0"/>
              <a:t>    // Data members</a:t>
            </a:r>
          </a:p>
          <a:p>
            <a:r>
              <a:rPr lang="en-US" sz="1600" b="1" dirty="0"/>
              <a:t>    </a:t>
            </a:r>
            <a:r>
              <a:rPr lang="en-US" sz="1600" b="1" dirty="0" err="1"/>
              <a:t>int</a:t>
            </a:r>
            <a:r>
              <a:rPr lang="en-US" sz="1600" b="1" dirty="0"/>
              <a:t> </a:t>
            </a:r>
            <a:r>
              <a:rPr lang="en-US" sz="1600" b="1" dirty="0" err="1"/>
              <a:t>empID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</a:t>
            </a:r>
            <a:r>
              <a:rPr lang="en-US" sz="1600" b="1" dirty="0" smtClean="0"/>
              <a:t>string </a:t>
            </a:r>
            <a:r>
              <a:rPr lang="en-US" sz="1600" b="1" dirty="0" err="1" smtClean="0"/>
              <a:t>empName</a:t>
            </a:r>
            <a:r>
              <a:rPr lang="en-US" sz="1600" b="1" dirty="0" smtClean="0"/>
              <a:t>;</a:t>
            </a:r>
            <a:endParaRPr lang="en-US" sz="1600" b="1" dirty="0"/>
          </a:p>
          <a:p>
            <a:r>
              <a:rPr lang="en-US" sz="1600" b="1" dirty="0"/>
              <a:t>    float </a:t>
            </a:r>
            <a:r>
              <a:rPr lang="en-US" sz="1600" b="1" dirty="0" err="1"/>
              <a:t>empSalary</a:t>
            </a:r>
            <a:r>
              <a:rPr lang="en-US" sz="1600" b="1" dirty="0"/>
              <a:t>;</a:t>
            </a:r>
          </a:p>
          <a:p>
            <a:endParaRPr lang="en-US" sz="1600" b="1" dirty="0"/>
          </a:p>
          <a:p>
            <a:r>
              <a:rPr lang="en-US" sz="1600" b="1" dirty="0"/>
              <a:t>    // Member function to display employee details</a:t>
            </a:r>
          </a:p>
          <a:p>
            <a:r>
              <a:rPr lang="en-US" sz="1600" b="1" dirty="0"/>
              <a:t>    void </a:t>
            </a:r>
            <a:r>
              <a:rPr lang="en-US" sz="1600" b="1" dirty="0" err="1"/>
              <a:t>displayDetails</a:t>
            </a:r>
            <a:r>
              <a:rPr lang="en-US" sz="1600" b="1" dirty="0"/>
              <a:t>() {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cout</a:t>
            </a:r>
            <a:r>
              <a:rPr lang="en-US" sz="1600" b="1" dirty="0"/>
              <a:t> &lt;&lt; "Employee ID: " &lt;&lt; </a:t>
            </a:r>
            <a:r>
              <a:rPr lang="en-US" sz="1600" b="1" dirty="0" err="1"/>
              <a:t>empID</a:t>
            </a:r>
            <a:r>
              <a:rPr lang="en-US" sz="1600" b="1" dirty="0"/>
              <a:t> &lt;&lt; </a:t>
            </a:r>
            <a:r>
              <a:rPr lang="en-US" sz="1600" b="1" dirty="0" err="1"/>
              <a:t>endl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cout</a:t>
            </a:r>
            <a:r>
              <a:rPr lang="en-US" sz="1600" b="1" dirty="0"/>
              <a:t> &lt;&lt; "Employee Name: " &lt;&lt; </a:t>
            </a:r>
            <a:r>
              <a:rPr lang="en-US" sz="1600" b="1" dirty="0" err="1"/>
              <a:t>empName</a:t>
            </a:r>
            <a:r>
              <a:rPr lang="en-US" sz="1600" b="1" dirty="0"/>
              <a:t> &lt;&lt; </a:t>
            </a:r>
            <a:r>
              <a:rPr lang="en-US" sz="1600" b="1" dirty="0" err="1"/>
              <a:t>endl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    </a:t>
            </a:r>
            <a:r>
              <a:rPr lang="en-US" sz="1600" b="1" dirty="0" err="1"/>
              <a:t>cout</a:t>
            </a:r>
            <a:r>
              <a:rPr lang="en-US" sz="1600" b="1" dirty="0"/>
              <a:t> &lt;&lt; "Employee Salary: $" &lt;&lt; </a:t>
            </a:r>
            <a:r>
              <a:rPr lang="en-US" sz="1600" b="1" dirty="0" err="1"/>
              <a:t>empSalary</a:t>
            </a:r>
            <a:r>
              <a:rPr lang="en-US" sz="1600" b="1" dirty="0"/>
              <a:t> &lt;&lt; </a:t>
            </a:r>
            <a:r>
              <a:rPr lang="en-US" sz="1600" b="1" dirty="0" err="1"/>
              <a:t>endl</a:t>
            </a:r>
            <a:r>
              <a:rPr lang="en-US" sz="1600" b="1" dirty="0"/>
              <a:t>;</a:t>
            </a:r>
          </a:p>
          <a:p>
            <a:r>
              <a:rPr lang="en-US" sz="1600" b="1" dirty="0"/>
              <a:t>    }</a:t>
            </a:r>
          </a:p>
          <a:p>
            <a:r>
              <a:rPr lang="en-US" sz="1600" b="1" dirty="0"/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6439988" y="2238528"/>
            <a:ext cx="5273040" cy="353943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/>
              <a:t>int</a:t>
            </a:r>
            <a:r>
              <a:rPr lang="en-US" sz="1600" b="1" dirty="0"/>
              <a:t> main() {</a:t>
            </a:r>
          </a:p>
          <a:p>
            <a:r>
              <a:rPr lang="en-US" sz="1600" b="1" dirty="0"/>
              <a:t>    // Creating an instance of the structure</a:t>
            </a:r>
          </a:p>
          <a:p>
            <a:r>
              <a:rPr lang="en-US" sz="1600" b="1" dirty="0"/>
              <a:t>    Employee emp1;</a:t>
            </a:r>
          </a:p>
          <a:p>
            <a:endParaRPr lang="en-US" sz="1600" b="1" dirty="0"/>
          </a:p>
          <a:p>
            <a:r>
              <a:rPr lang="en-US" sz="1600" b="1" dirty="0"/>
              <a:t>    // Initializing data members</a:t>
            </a:r>
          </a:p>
          <a:p>
            <a:r>
              <a:rPr lang="en-US" sz="1600" b="1" dirty="0"/>
              <a:t>    emp1.empID = 101;</a:t>
            </a:r>
          </a:p>
          <a:p>
            <a:r>
              <a:rPr lang="en-US" sz="1600" b="1" dirty="0" smtClean="0"/>
              <a:t>    emp1.empName = "John </a:t>
            </a:r>
            <a:r>
              <a:rPr lang="en-US" sz="1600" b="1" dirty="0"/>
              <a:t>Doe</a:t>
            </a:r>
            <a:r>
              <a:rPr lang="en-US" sz="1600" b="1" dirty="0" smtClean="0"/>
              <a:t>";</a:t>
            </a:r>
            <a:endParaRPr lang="en-US" sz="1600" b="1" dirty="0"/>
          </a:p>
          <a:p>
            <a:r>
              <a:rPr lang="en-US" sz="1600" b="1" dirty="0"/>
              <a:t>    emp1.empSalary = 50000.0;</a:t>
            </a:r>
          </a:p>
          <a:p>
            <a:endParaRPr lang="en-US" sz="1600" b="1" dirty="0"/>
          </a:p>
          <a:p>
            <a:r>
              <a:rPr lang="en-US" sz="1600" b="1" dirty="0"/>
              <a:t>    // Using the member function to display details</a:t>
            </a:r>
          </a:p>
          <a:p>
            <a:r>
              <a:rPr lang="en-US" sz="1600" b="1" dirty="0"/>
              <a:t>    emp1.displayDetails();</a:t>
            </a:r>
          </a:p>
          <a:p>
            <a:endParaRPr lang="en-US" sz="1600" b="1" dirty="0"/>
          </a:p>
          <a:p>
            <a:r>
              <a:rPr lang="en-US" sz="1600" b="1" dirty="0"/>
              <a:t>    return 0;</a:t>
            </a:r>
          </a:p>
          <a:p>
            <a:r>
              <a:rPr lang="en-US" sz="1600" b="1" dirty="0"/>
              <a:t>}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904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594" y="864412"/>
            <a:ext cx="10445931" cy="747097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Example of Array of Structures for Students</a:t>
            </a:r>
            <a:endParaRPr lang="en-US" sz="4000" dirty="0"/>
          </a:p>
        </p:txBody>
      </p:sp>
      <p:sp>
        <p:nvSpPr>
          <p:cNvPr id="4" name="Rectangle 3"/>
          <p:cNvSpPr/>
          <p:nvPr/>
        </p:nvSpPr>
        <p:spPr>
          <a:xfrm>
            <a:off x="3365861" y="1702949"/>
            <a:ext cx="5277396" cy="452431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smtClean="0"/>
              <a:t>#include &lt;</a:t>
            </a:r>
            <a:r>
              <a:rPr lang="en-US" sz="1600" b="1" dirty="0" err="1" smtClean="0"/>
              <a:t>iostream</a:t>
            </a:r>
            <a:r>
              <a:rPr lang="en-US" sz="1600" b="1" dirty="0" smtClean="0"/>
              <a:t>&gt;</a:t>
            </a:r>
          </a:p>
          <a:p>
            <a:r>
              <a:rPr lang="en-US" sz="1600" b="1" dirty="0" smtClean="0"/>
              <a:t>using namespace </a:t>
            </a:r>
            <a:r>
              <a:rPr lang="en-US" sz="1600" b="1" dirty="0" err="1" smtClean="0"/>
              <a:t>std</a:t>
            </a:r>
            <a:r>
              <a:rPr lang="en-US" sz="1600" b="1" dirty="0" smtClean="0"/>
              <a:t>;</a:t>
            </a:r>
          </a:p>
          <a:p>
            <a:endParaRPr lang="en-US" sz="1600" b="1" dirty="0" smtClean="0"/>
          </a:p>
          <a:p>
            <a:r>
              <a:rPr lang="en-US" sz="1600" b="1" dirty="0" smtClean="0"/>
              <a:t>// Definition of Structure</a:t>
            </a:r>
          </a:p>
          <a:p>
            <a:r>
              <a:rPr lang="en-US" sz="1600" b="1" dirty="0" err="1" smtClean="0"/>
              <a:t>struct</a:t>
            </a:r>
            <a:r>
              <a:rPr lang="en-US" sz="1600" b="1" dirty="0" smtClean="0"/>
              <a:t> Student {</a:t>
            </a:r>
          </a:p>
          <a:p>
            <a:r>
              <a:rPr lang="en-US" sz="1600" b="1" dirty="0" smtClean="0"/>
              <a:t>    // Data members</a:t>
            </a:r>
          </a:p>
          <a:p>
            <a:r>
              <a:rPr lang="en-US" sz="1600" b="1" dirty="0" smtClean="0"/>
              <a:t>    string name;</a:t>
            </a:r>
          </a:p>
          <a:p>
            <a:r>
              <a:rPr lang="en-US" sz="1600" b="1" dirty="0" smtClean="0"/>
              <a:t>    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grades[3]; // Assuming 3 subjects for simplicity</a:t>
            </a:r>
          </a:p>
          <a:p>
            <a:endParaRPr lang="en-US" sz="1600" b="1" dirty="0" smtClean="0"/>
          </a:p>
          <a:p>
            <a:r>
              <a:rPr lang="en-US" sz="1600" b="1" dirty="0" smtClean="0"/>
              <a:t>    // Member function to calculate average grade</a:t>
            </a:r>
          </a:p>
          <a:p>
            <a:r>
              <a:rPr lang="en-US" sz="1600" b="1" dirty="0" smtClean="0"/>
              <a:t>    float </a:t>
            </a:r>
            <a:r>
              <a:rPr lang="en-US" sz="1600" b="1" dirty="0" err="1" smtClean="0"/>
              <a:t>calculateAverage</a:t>
            </a:r>
            <a:r>
              <a:rPr lang="en-US" sz="1600" b="1" dirty="0" smtClean="0"/>
              <a:t>() {</a:t>
            </a:r>
          </a:p>
          <a:p>
            <a:r>
              <a:rPr lang="en-US" sz="1600" b="1" dirty="0" smtClean="0"/>
              <a:t>        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sum = 0;</a:t>
            </a:r>
          </a:p>
          <a:p>
            <a:r>
              <a:rPr lang="en-US" sz="1600" b="1" dirty="0" smtClean="0"/>
              <a:t>        for (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i</a:t>
            </a:r>
            <a:r>
              <a:rPr lang="en-US" sz="1600" b="1" dirty="0" smtClean="0"/>
              <a:t> = 0; </a:t>
            </a:r>
            <a:r>
              <a:rPr lang="en-US" sz="1600" b="1" dirty="0" err="1" smtClean="0"/>
              <a:t>i</a:t>
            </a:r>
            <a:r>
              <a:rPr lang="en-US" sz="1600" b="1" dirty="0" smtClean="0"/>
              <a:t> &lt; 3; ++</a:t>
            </a:r>
            <a:r>
              <a:rPr lang="en-US" sz="1600" b="1" dirty="0" err="1" smtClean="0"/>
              <a:t>i</a:t>
            </a:r>
            <a:r>
              <a:rPr lang="en-US" sz="1600" b="1" dirty="0" smtClean="0"/>
              <a:t>) {</a:t>
            </a:r>
          </a:p>
          <a:p>
            <a:r>
              <a:rPr lang="en-US" sz="1600" b="1" dirty="0" smtClean="0"/>
              <a:t>            sum += grades[</a:t>
            </a:r>
            <a:r>
              <a:rPr lang="en-US" sz="1600" b="1" dirty="0" err="1" smtClean="0"/>
              <a:t>i</a:t>
            </a:r>
            <a:r>
              <a:rPr lang="en-US" sz="1600" b="1" dirty="0" smtClean="0"/>
              <a:t>];</a:t>
            </a:r>
          </a:p>
          <a:p>
            <a:r>
              <a:rPr lang="en-US" sz="1600" b="1" dirty="0" smtClean="0"/>
              <a:t>        }</a:t>
            </a:r>
          </a:p>
          <a:p>
            <a:r>
              <a:rPr lang="en-US" sz="1600" b="1" dirty="0" smtClean="0"/>
              <a:t>        return sum/3.0;</a:t>
            </a:r>
          </a:p>
          <a:p>
            <a:r>
              <a:rPr lang="en-US" sz="1600" b="1" dirty="0" smtClean="0"/>
              <a:t>    }</a:t>
            </a:r>
          </a:p>
          <a:p>
            <a:r>
              <a:rPr lang="en-US" sz="1600" b="1" dirty="0" smtClean="0"/>
              <a:t>};</a:t>
            </a:r>
            <a:endParaRPr lang="en-US" sz="16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5616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61258" y="172080"/>
            <a:ext cx="11691256" cy="649408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 err="1" smtClean="0"/>
              <a:t>int</a:t>
            </a:r>
            <a:r>
              <a:rPr lang="en-US" sz="1600" b="1" dirty="0" smtClean="0"/>
              <a:t> main() {</a:t>
            </a:r>
          </a:p>
          <a:p>
            <a:r>
              <a:rPr lang="en-US" sz="1600" b="1" dirty="0" smtClean="0"/>
              <a:t>    // Creating an array of structures</a:t>
            </a:r>
          </a:p>
          <a:p>
            <a:r>
              <a:rPr lang="en-US" sz="1600" b="1" dirty="0" smtClean="0"/>
              <a:t>    Student </a:t>
            </a:r>
            <a:r>
              <a:rPr lang="en-US" sz="1600" b="1" dirty="0" err="1" smtClean="0"/>
              <a:t>studentsArray</a:t>
            </a:r>
            <a:r>
              <a:rPr lang="en-US" sz="1600" b="1" dirty="0" smtClean="0"/>
              <a:t>[2]; // Assuming 2 students for simplicity</a:t>
            </a:r>
          </a:p>
          <a:p>
            <a:endParaRPr lang="en-US" sz="1600" b="1" dirty="0" smtClean="0"/>
          </a:p>
          <a:p>
            <a:r>
              <a:rPr lang="en-US" sz="1600" b="1" dirty="0" smtClean="0"/>
              <a:t>    // Initializing data members for the first student</a:t>
            </a:r>
          </a:p>
          <a:p>
            <a:r>
              <a:rPr lang="en-US" sz="1600" b="1" dirty="0" smtClean="0"/>
              <a:t>    </a:t>
            </a:r>
            <a:r>
              <a:rPr lang="en-US" sz="1600" b="1" dirty="0" err="1" smtClean="0"/>
              <a:t>studentsArray</a:t>
            </a:r>
            <a:r>
              <a:rPr lang="en-US" sz="1600" b="1" dirty="0" smtClean="0"/>
              <a:t>[0].name = "Alice";</a:t>
            </a:r>
          </a:p>
          <a:p>
            <a:r>
              <a:rPr lang="en-US" sz="1600" b="1" dirty="0" smtClean="0"/>
              <a:t>    </a:t>
            </a:r>
            <a:r>
              <a:rPr lang="en-US" sz="1600" b="1" dirty="0" err="1" smtClean="0"/>
              <a:t>studentsArray</a:t>
            </a:r>
            <a:r>
              <a:rPr lang="en-US" sz="1600" b="1" dirty="0" smtClean="0"/>
              <a:t>[0].grades[0] = 90;</a:t>
            </a:r>
          </a:p>
          <a:p>
            <a:r>
              <a:rPr lang="en-US" sz="1600" b="1" dirty="0" smtClean="0"/>
              <a:t>    </a:t>
            </a:r>
            <a:r>
              <a:rPr lang="en-US" sz="1600" b="1" dirty="0" err="1" smtClean="0"/>
              <a:t>studentsArray</a:t>
            </a:r>
            <a:r>
              <a:rPr lang="en-US" sz="1600" b="1" dirty="0" smtClean="0"/>
              <a:t>[0].grades[1] = 85;</a:t>
            </a:r>
          </a:p>
          <a:p>
            <a:r>
              <a:rPr lang="en-US" sz="1600" b="1" dirty="0" smtClean="0"/>
              <a:t>    </a:t>
            </a:r>
            <a:r>
              <a:rPr lang="en-US" sz="1600" b="1" dirty="0" err="1" smtClean="0"/>
              <a:t>studentsArray</a:t>
            </a:r>
            <a:r>
              <a:rPr lang="en-US" sz="1600" b="1" dirty="0" smtClean="0"/>
              <a:t>[0].grades[2] = 88;</a:t>
            </a:r>
          </a:p>
          <a:p>
            <a:endParaRPr lang="en-US" sz="1600" b="1" dirty="0" smtClean="0"/>
          </a:p>
          <a:p>
            <a:r>
              <a:rPr lang="en-US" sz="1600" b="1" dirty="0" smtClean="0"/>
              <a:t>    // Initializing data members for the second student</a:t>
            </a:r>
          </a:p>
          <a:p>
            <a:r>
              <a:rPr lang="en-US" sz="1600" b="1" dirty="0" smtClean="0"/>
              <a:t>    </a:t>
            </a:r>
            <a:r>
              <a:rPr lang="en-US" sz="1600" b="1" dirty="0" err="1" smtClean="0"/>
              <a:t>studentsArray</a:t>
            </a:r>
            <a:r>
              <a:rPr lang="en-US" sz="1600" b="1" dirty="0" smtClean="0"/>
              <a:t>[1].name = "Bob";</a:t>
            </a:r>
          </a:p>
          <a:p>
            <a:r>
              <a:rPr lang="en-US" sz="1600" b="1" dirty="0" smtClean="0"/>
              <a:t>    </a:t>
            </a:r>
            <a:r>
              <a:rPr lang="en-US" sz="1600" b="1" dirty="0" err="1" smtClean="0"/>
              <a:t>studentsArray</a:t>
            </a:r>
            <a:r>
              <a:rPr lang="en-US" sz="1600" b="1" dirty="0" smtClean="0"/>
              <a:t>[1].grades[0] = 2;</a:t>
            </a:r>
          </a:p>
          <a:p>
            <a:r>
              <a:rPr lang="en-US" sz="1600" b="1" dirty="0" smtClean="0"/>
              <a:t>    </a:t>
            </a:r>
            <a:r>
              <a:rPr lang="en-US" sz="1600" b="1" dirty="0" err="1" smtClean="0"/>
              <a:t>studentsArray</a:t>
            </a:r>
            <a:r>
              <a:rPr lang="en-US" sz="1600" b="1" dirty="0" smtClean="0"/>
              <a:t>[1].grades[1] = 2;</a:t>
            </a:r>
          </a:p>
          <a:p>
            <a:r>
              <a:rPr lang="en-US" sz="1600" b="1" dirty="0" smtClean="0"/>
              <a:t>    </a:t>
            </a:r>
            <a:r>
              <a:rPr lang="en-US" sz="1600" b="1" dirty="0" err="1" smtClean="0"/>
              <a:t>studentsArray</a:t>
            </a:r>
            <a:r>
              <a:rPr lang="en-US" sz="1600" b="1" dirty="0" smtClean="0"/>
              <a:t>[1].grades[2] = 2;</a:t>
            </a:r>
          </a:p>
          <a:p>
            <a:endParaRPr lang="en-US" sz="1600" b="1" dirty="0" smtClean="0"/>
          </a:p>
          <a:p>
            <a:r>
              <a:rPr lang="en-US" sz="1600" b="1" dirty="0" smtClean="0"/>
              <a:t>    // Displaying information and average grades for each student</a:t>
            </a:r>
          </a:p>
          <a:p>
            <a:r>
              <a:rPr lang="en-US" sz="1600" b="1" dirty="0" smtClean="0"/>
              <a:t>    for (</a:t>
            </a:r>
            <a:r>
              <a:rPr lang="en-US" sz="1600" b="1" dirty="0" err="1" smtClean="0"/>
              <a:t>int</a:t>
            </a:r>
            <a:r>
              <a:rPr lang="en-US" sz="1600" b="1" dirty="0" smtClean="0"/>
              <a:t> </a:t>
            </a:r>
            <a:r>
              <a:rPr lang="en-US" sz="1600" b="1" dirty="0" err="1" smtClean="0"/>
              <a:t>i</a:t>
            </a:r>
            <a:r>
              <a:rPr lang="en-US" sz="1600" b="1" dirty="0" smtClean="0"/>
              <a:t> = 0; </a:t>
            </a:r>
            <a:r>
              <a:rPr lang="en-US" sz="1600" b="1" dirty="0" err="1" smtClean="0"/>
              <a:t>i</a:t>
            </a:r>
            <a:r>
              <a:rPr lang="en-US" sz="1600" b="1" dirty="0" smtClean="0"/>
              <a:t> &lt; 2; ++</a:t>
            </a:r>
            <a:r>
              <a:rPr lang="en-US" sz="1600" b="1" dirty="0" err="1" smtClean="0"/>
              <a:t>i</a:t>
            </a:r>
            <a:r>
              <a:rPr lang="en-US" sz="1600" b="1" dirty="0" smtClean="0"/>
              <a:t>) {</a:t>
            </a:r>
          </a:p>
          <a:p>
            <a:r>
              <a:rPr lang="en-US" sz="1600" b="1" dirty="0" smtClean="0"/>
              <a:t>        </a:t>
            </a:r>
            <a:r>
              <a:rPr lang="en-US" sz="1600" b="1" dirty="0" err="1" smtClean="0"/>
              <a:t>cout</a:t>
            </a:r>
            <a:r>
              <a:rPr lang="en-US" sz="1600" b="1" dirty="0" smtClean="0"/>
              <a:t> &lt;&lt; "Student Name: " &lt;&lt; </a:t>
            </a:r>
            <a:r>
              <a:rPr lang="en-US" sz="1600" b="1" dirty="0" err="1" smtClean="0"/>
              <a:t>studentsArray</a:t>
            </a:r>
            <a:r>
              <a:rPr lang="en-US" sz="1600" b="1" dirty="0" smtClean="0"/>
              <a:t>[</a:t>
            </a:r>
            <a:r>
              <a:rPr lang="en-US" sz="1600" b="1" dirty="0" err="1" smtClean="0"/>
              <a:t>i</a:t>
            </a:r>
            <a:r>
              <a:rPr lang="en-US" sz="1600" b="1" dirty="0" smtClean="0"/>
              <a:t>].name &lt;&lt; </a:t>
            </a:r>
            <a:r>
              <a:rPr lang="en-US" sz="1600" b="1" dirty="0" err="1" smtClean="0"/>
              <a:t>endl</a:t>
            </a:r>
            <a:r>
              <a:rPr lang="en-US" sz="1600" b="1" dirty="0" smtClean="0"/>
              <a:t>;</a:t>
            </a:r>
          </a:p>
          <a:p>
            <a:r>
              <a:rPr lang="en-US" sz="1600" b="1" dirty="0" smtClean="0"/>
              <a:t>        </a:t>
            </a:r>
            <a:r>
              <a:rPr lang="en-US" sz="1600" b="1" dirty="0" err="1" smtClean="0"/>
              <a:t>cout</a:t>
            </a:r>
            <a:r>
              <a:rPr lang="en-US" sz="1600" b="1" dirty="0" smtClean="0"/>
              <a:t> &lt;&lt; "Average Grade: " &lt;&lt; </a:t>
            </a:r>
            <a:r>
              <a:rPr lang="en-US" sz="1600" b="1" dirty="0" err="1" smtClean="0"/>
              <a:t>studentsArray</a:t>
            </a:r>
            <a:r>
              <a:rPr lang="en-US" sz="1600" b="1" dirty="0" smtClean="0"/>
              <a:t>[</a:t>
            </a:r>
            <a:r>
              <a:rPr lang="en-US" sz="1600" b="1" dirty="0" err="1" smtClean="0"/>
              <a:t>i</a:t>
            </a:r>
            <a:r>
              <a:rPr lang="en-US" sz="1600" b="1" dirty="0" smtClean="0"/>
              <a:t>].</a:t>
            </a:r>
            <a:r>
              <a:rPr lang="en-US" sz="1600" b="1" dirty="0" err="1" smtClean="0"/>
              <a:t>calculateAverage</a:t>
            </a:r>
            <a:r>
              <a:rPr lang="en-US" sz="1600" b="1" dirty="0" smtClean="0"/>
              <a:t>() &lt;&lt; </a:t>
            </a:r>
            <a:r>
              <a:rPr lang="en-US" sz="1600" b="1" dirty="0" err="1" smtClean="0"/>
              <a:t>endl</a:t>
            </a:r>
            <a:r>
              <a:rPr lang="en-US" sz="1600" b="1" dirty="0" smtClean="0"/>
              <a:t>;</a:t>
            </a:r>
          </a:p>
          <a:p>
            <a:r>
              <a:rPr lang="en-US" sz="1600" b="1" dirty="0" smtClean="0"/>
              <a:t>        </a:t>
            </a:r>
            <a:r>
              <a:rPr lang="en-US" sz="1600" b="1" dirty="0" err="1" smtClean="0"/>
              <a:t>cout</a:t>
            </a:r>
            <a:r>
              <a:rPr lang="en-US" sz="1600" b="1" dirty="0" smtClean="0"/>
              <a:t> &lt;&lt; "-------------------------" &lt;&lt; </a:t>
            </a:r>
            <a:r>
              <a:rPr lang="en-US" sz="1600" b="1" dirty="0" err="1" smtClean="0"/>
              <a:t>endl</a:t>
            </a:r>
            <a:r>
              <a:rPr lang="en-US" sz="1600" b="1" dirty="0" smtClean="0"/>
              <a:t>;</a:t>
            </a:r>
          </a:p>
          <a:p>
            <a:r>
              <a:rPr lang="en-US" sz="1600" b="1" dirty="0" smtClean="0"/>
              <a:t>    }</a:t>
            </a:r>
          </a:p>
          <a:p>
            <a:endParaRPr lang="en-US" sz="1600" b="1" dirty="0" smtClean="0"/>
          </a:p>
          <a:p>
            <a:r>
              <a:rPr lang="en-US" sz="1600" b="1" dirty="0" smtClean="0"/>
              <a:t>    return 0;</a:t>
            </a:r>
          </a:p>
          <a:p>
            <a:r>
              <a:rPr lang="en-US" sz="1600" b="1" dirty="0" smtClean="0"/>
              <a:t>}</a:t>
            </a:r>
            <a:endParaRPr lang="en-US" sz="16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9343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613</TotalTime>
  <Words>1852</Words>
  <Application>Microsoft Office PowerPoint</Application>
  <PresentationFormat>Widescreen</PresentationFormat>
  <Paragraphs>320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Gothic</vt:lpstr>
      <vt:lpstr>euclid_circular_a</vt:lpstr>
      <vt:lpstr>Garamond</vt:lpstr>
      <vt:lpstr>Savon</vt:lpstr>
      <vt:lpstr>Structures in C++</vt:lpstr>
      <vt:lpstr>C++ Structures</vt:lpstr>
      <vt:lpstr>Structures: Data Members and Functions</vt:lpstr>
      <vt:lpstr>Declaration of structure</vt:lpstr>
      <vt:lpstr>How to initialize structure members? </vt:lpstr>
      <vt:lpstr>How to initialize structure members? </vt:lpstr>
      <vt:lpstr>How to define a structure variable?</vt:lpstr>
      <vt:lpstr>How to define a structure variable?</vt:lpstr>
      <vt:lpstr>How to access members of a structure?</vt:lpstr>
      <vt:lpstr>Example Program</vt:lpstr>
      <vt:lpstr>C++ Structure and Function</vt:lpstr>
      <vt:lpstr>C++ Structure and Function</vt:lpstr>
      <vt:lpstr>C++ Pointers to Structure</vt:lpstr>
      <vt:lpstr>C++ Pointers to Structure</vt:lpstr>
      <vt:lpstr>C++ Pointers to Structure</vt:lpstr>
      <vt:lpstr>Array in a Structure</vt:lpstr>
      <vt:lpstr>Structural Array</vt:lpstr>
      <vt:lpstr>Example of Structure for Employee Information</vt:lpstr>
      <vt:lpstr>Example of Array of Structures for Students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Structures</dc:title>
  <dc:creator>Lenovo</dc:creator>
  <cp:lastModifiedBy>Majid Hussain</cp:lastModifiedBy>
  <cp:revision>113</cp:revision>
  <dcterms:created xsi:type="dcterms:W3CDTF">2021-12-28T13:50:56Z</dcterms:created>
  <dcterms:modified xsi:type="dcterms:W3CDTF">2023-12-16T16:09:47Z</dcterms:modified>
</cp:coreProperties>
</file>
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32" r:id="rId1"/>
  </p:sldMasterIdLst>
  <p:notesMasterIdLst>
    <p:notesMasterId r:id="rId42"/>
  </p:notesMasterIdLst>
  <p:handoutMasterIdLst>
    <p:handoutMasterId r:id="rId43"/>
  </p:handoutMasterIdLst>
  <p:sldIdLst>
    <p:sldId id="256" r:id="rId2"/>
    <p:sldId id="1112" r:id="rId3"/>
    <p:sldId id="1075" r:id="rId4"/>
    <p:sldId id="1077" r:id="rId5"/>
    <p:sldId id="1113" r:id="rId6"/>
    <p:sldId id="1114" r:id="rId7"/>
    <p:sldId id="1115" r:id="rId8"/>
    <p:sldId id="1076" r:id="rId9"/>
    <p:sldId id="1078" r:id="rId10"/>
    <p:sldId id="1079" r:id="rId11"/>
    <p:sldId id="1116" r:id="rId12"/>
    <p:sldId id="1080" r:id="rId13"/>
    <p:sldId id="1081" r:id="rId14"/>
    <p:sldId id="1104" r:id="rId15"/>
    <p:sldId id="1082" r:id="rId16"/>
    <p:sldId id="1105" r:id="rId17"/>
    <p:sldId id="1092" r:id="rId18"/>
    <p:sldId id="1093" r:id="rId19"/>
    <p:sldId id="1107" r:id="rId20"/>
    <p:sldId id="1091" r:id="rId21"/>
    <p:sldId id="1109" r:id="rId22"/>
    <p:sldId id="1117" r:id="rId23"/>
    <p:sldId id="1118" r:id="rId24"/>
    <p:sldId id="1119" r:id="rId25"/>
    <p:sldId id="1120" r:id="rId26"/>
    <p:sldId id="1121" r:id="rId27"/>
    <p:sldId id="1122" r:id="rId28"/>
    <p:sldId id="1123" r:id="rId29"/>
    <p:sldId id="1124" r:id="rId30"/>
    <p:sldId id="1125" r:id="rId31"/>
    <p:sldId id="1126" r:id="rId32"/>
    <p:sldId id="1084" r:id="rId33"/>
    <p:sldId id="1097" r:id="rId34"/>
    <p:sldId id="1098" r:id="rId35"/>
    <p:sldId id="1085" r:id="rId36"/>
    <p:sldId id="1099" r:id="rId37"/>
    <p:sldId id="1100" r:id="rId38"/>
    <p:sldId id="1101" r:id="rId39"/>
    <p:sldId id="1102" r:id="rId40"/>
    <p:sldId id="1103" r:id="rId41"/>
  </p:sldIdLst>
  <p:sldSz cx="9144000" cy="6858000" type="screen4x3"/>
  <p:notesSz cx="7010400" cy="92964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CD2"/>
    <a:srgbClr val="1F7EE7"/>
    <a:srgbClr val="7DD330"/>
    <a:srgbClr val="00CC00"/>
    <a:srgbClr val="486DA2"/>
    <a:srgbClr val="AE1517"/>
    <a:srgbClr val="CC0000"/>
    <a:srgbClr val="4F7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89946" autoAdjust="0"/>
  </p:normalViewPr>
  <p:slideViewPr>
    <p:cSldViewPr>
      <p:cViewPr varScale="1">
        <p:scale>
          <a:sx n="66" d="100"/>
          <a:sy n="66" d="100"/>
        </p:scale>
        <p:origin x="148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2838" y="-10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67D39907-CA41-4FA3-AB8C-7CF77BD0ED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41428"/>
      </p:ext>
    </p:extLst>
  </p:cSld>
  <p:clrMap bg1="lt1" tx1="dk1" bg2="lt2" tx2="dk2" accent1="accent1" accent2="accent2" accent3="accent3" accent4="accent4" accent5="accent5" accent6="accent6" hlink="hlink" folHlink="folHlink"/>
  <p:hf sldNum="0"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C95EBC4-39DD-4A71-BE51-C12854B5A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5291"/>
      </p:ext>
    </p:extLst>
  </p:cSld>
  <p:clrMap bg1="lt1" tx1="dk1" bg2="lt2" tx2="dk2" accent1="accent1" accent2="accent2" accent3="accent3" accent4="accent4" accent5="accent5" accent6="accent6" hlink="hlink" folHlink="folHlink"/>
  <p:hf sldNum="0" hd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63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52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70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20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39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86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66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84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29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58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9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77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EBCDIC, in full </a:t>
            </a:r>
            <a:r>
              <a:rPr lang="en-US" sz="1200" b="1" dirty="0" smtClean="0"/>
              <a:t>extended binary-coded decimal interchange code</a:t>
            </a:r>
            <a:r>
              <a:rPr lang="en-US" sz="1200" dirty="0" smtClean="0"/>
              <a:t>, data-encoding system, developed by IBM and used mostly on its computers, that uses a unique eight-bit binary code for each number and alphabetic character as well as punctuation marks and accented letters and </a:t>
            </a:r>
            <a:r>
              <a:rPr lang="en-US" sz="1200" dirty="0" err="1" smtClean="0"/>
              <a:t>nonalphabetic</a:t>
            </a:r>
            <a:r>
              <a:rPr lang="en-US" sz="1200" dirty="0" smtClean="0"/>
              <a:t> characters.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Unicode maps every character to a specific code, called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point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code point takes the form of </a:t>
            </a:r>
            <a:r>
              <a:rPr lang="en-US" dirty="0" smtClean="0"/>
              <a:t>U+&lt;hex-code&gt;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ranging from </a:t>
            </a:r>
            <a:r>
              <a:rPr lang="en-US" dirty="0" smtClean="0"/>
              <a:t>U+0000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 </a:t>
            </a:r>
            <a:r>
              <a:rPr lang="en-US" dirty="0" smtClean="0"/>
              <a:t>U+10FFFF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Unicode defines different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characters encodings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most used ones being UTF-8, UTF-16 and UTF-32.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UTF-8 is definitely the most popular encoding in the Unicode family, especially on the Web. This document is written in UTF-8, for example.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07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42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94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8DBC5C1-93EE-4430-A6C5-4E9FBA6CD96A}" type="slidenum">
              <a:rPr kumimoji="0" lang="ar-SA" altLang="en-US"/>
              <a:pPr>
                <a:spcBef>
                  <a:spcPct val="0"/>
                </a:spcBef>
              </a:pPr>
              <a:t>29</a:t>
            </a:fld>
            <a:endParaRPr kumimoji="0" lang="en-US" altLang="en-US"/>
          </a:p>
        </p:txBody>
      </p:sp>
    </p:spTree>
    <p:extLst>
      <p:ext uri="{BB962C8B-B14F-4D97-AF65-F5344CB8AC3E}">
        <p14:creationId xmlns:p14="http://schemas.microsoft.com/office/powerpoint/2010/main" val="794357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FF0BEB-79D9-4120-9E89-4AB31DEDC7EA}" type="slidenum">
              <a:rPr kumimoji="0" lang="ar-SA" altLang="en-US"/>
              <a:pPr>
                <a:spcBef>
                  <a:spcPct val="0"/>
                </a:spcBef>
              </a:pPr>
              <a:t>30</a:t>
            </a:fld>
            <a:endParaRPr kumimoji="0" lang="en-US" altLang="en-US"/>
          </a:p>
        </p:txBody>
      </p:sp>
    </p:spTree>
    <p:extLst>
      <p:ext uri="{BB962C8B-B14F-4D97-AF65-F5344CB8AC3E}">
        <p14:creationId xmlns:p14="http://schemas.microsoft.com/office/powerpoint/2010/main" val="3901079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72AFB1-38F5-473A-8273-80CA7A27679D}" type="slidenum">
              <a:rPr kumimoji="0" lang="ar-SA" altLang="en-US"/>
              <a:pPr>
                <a:spcBef>
                  <a:spcPct val="0"/>
                </a:spcBef>
              </a:pPr>
              <a:t>31</a:t>
            </a:fld>
            <a:endParaRPr kumimoji="0" lang="en-US" altLang="en-US"/>
          </a:p>
        </p:txBody>
      </p:sp>
    </p:spTree>
    <p:extLst>
      <p:ext uri="{BB962C8B-B14F-4D97-AF65-F5344CB8AC3E}">
        <p14:creationId xmlns:p14="http://schemas.microsoft.com/office/powerpoint/2010/main" val="3388056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02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818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2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809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34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980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628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906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92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828800"/>
            <a:ext cx="3810000" cy="4302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76800" y="1828800"/>
            <a:ext cx="3810000" cy="430212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57B75-1EF0-4EC5-9AA5-10F46EBFBA3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81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werpointstyle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5"/>
          <p:cNvSpPr txBox="1">
            <a:spLocks noChangeArrowheads="1"/>
          </p:cNvSpPr>
          <p:nvPr/>
        </p:nvSpPr>
        <p:spPr bwMode="auto">
          <a:xfrm>
            <a:off x="3348038" y="6237288"/>
            <a:ext cx="2457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dirty="0" smtClean="0">
                <a:hlinkClick r:id="rId3"/>
              </a:rPr>
              <a:t>Powerpoint Templates</a:t>
            </a:r>
            <a:endParaRPr lang="en-AU" dirty="0"/>
          </a:p>
        </p:txBody>
      </p:sp>
      <p:pic>
        <p:nvPicPr>
          <p:cNvPr id="2051" name="Picture 24" descr="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342900" y="2584597"/>
            <a:ext cx="8686800" cy="1471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180000" rIns="180000" bIns="180000">
            <a:spAutoFit/>
          </a:bodyPr>
          <a:lstStyle/>
          <a:p>
            <a:pPr algn="ctr"/>
            <a:r>
              <a:rPr lang="en-AU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Programming Fundamentals</a:t>
            </a:r>
          </a:p>
          <a:p>
            <a:pPr algn="ctr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Week #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of Computers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0"/>
              </a:spcBef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Mainframe computers</a:t>
            </a:r>
          </a:p>
          <a:p>
            <a:pPr lvl="1" algn="just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Mainframes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high-performance computers with large amounts of memory and processors that process billions of simple calculations and transactions in real time.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100000"/>
              </a:spcBef>
            </a:pP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 computers (personal computers)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544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381000" y="228600"/>
            <a:ext cx="7086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Elements </a:t>
            </a:r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Basic Commands performed by computers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Input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Storage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Arithmetic and logical operations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Components of a computer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Hardware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CPU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Main Memory (RAM)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Input /output devices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Secondary storage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Software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1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Hardware: CPU and main memory</a:t>
            </a:r>
          </a:p>
          <a:p>
            <a:pPr algn="just"/>
            <a:endParaRPr lang="en-A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CPU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Brain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Most expensive piece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Powerful CPU </a:t>
            </a:r>
            <a:r>
              <a:rPr lang="en-US" sz="2400" dirty="0" smtClean="0"/>
              <a:t>→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 faster computer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Arithmetic/logical operations performed inside CPU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components of the CPU are:</a:t>
            </a:r>
          </a:p>
          <a:p>
            <a:pPr marL="514350" indent="-514350">
              <a:buFontTx/>
              <a:buAutoNum type="arabicPeriod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</a:t>
            </a:r>
          </a:p>
          <a:p>
            <a:pPr marL="514350" indent="-514350">
              <a:buFontTx/>
              <a:buAutoNum type="arabicPeriod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and logic unit (ALU).</a:t>
            </a:r>
          </a:p>
          <a:p>
            <a:pPr marL="514350" indent="-514350">
              <a:buFontTx/>
              <a:buAutoNum type="arabicPeriod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79303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828800"/>
            <a:ext cx="7620000" cy="4419600"/>
          </a:xfrm>
        </p:spPr>
        <p:txBody>
          <a:bodyPr/>
          <a:lstStyle/>
          <a:p>
            <a:pPr marL="514350" indent="-514350" eaLnBrk="1" hangingPunct="1">
              <a:spcBef>
                <a:spcPct val="80000"/>
              </a:spcBef>
              <a:buFontTx/>
              <a:buAutoNum type="arabicPeriod"/>
            </a:pP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 (Control Unit)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Fetches and decodes instructions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flow of information in and out of MM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operation of internal CPU components</a:t>
            </a:r>
          </a:p>
          <a:p>
            <a:pPr marL="514350" indent="-514350" eaLnBrk="1" hangingPunct="1">
              <a:spcBef>
                <a:spcPct val="80000"/>
              </a:spcBef>
              <a:buFontTx/>
              <a:buAutoNum type="arabicPeriod"/>
            </a:pP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ALU (arithmetic logic unit)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carries out all arithmetic and logical operations</a:t>
            </a:r>
          </a:p>
          <a:p>
            <a:pPr marL="514350" indent="-514350" eaLnBrk="1" hangingPunct="1">
              <a:spcBef>
                <a:spcPct val="80000"/>
              </a:spcBef>
              <a:buFontTx/>
              <a:buNone/>
            </a:pPr>
            <a:endParaRPr lang="en-US" altLang="en-US" dirty="0" smtClean="0"/>
          </a:p>
          <a:p>
            <a:pPr lvl="1" eaLnBrk="1" hangingPunct="1">
              <a:spcBef>
                <a:spcPct val="80000"/>
              </a:spcBef>
            </a:pPr>
            <a:endParaRPr lang="en-US" altLang="en-US" sz="2200" dirty="0" smtClean="0"/>
          </a:p>
          <a:p>
            <a:pPr lvl="1" eaLnBrk="1" hangingPunct="1">
              <a:spcBef>
                <a:spcPct val="80000"/>
              </a:spcBef>
            </a:pPr>
            <a:endParaRPr lang="en-US" altLang="en-US" sz="22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26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793038" cy="762000"/>
          </a:xfrm>
        </p:spPr>
        <p:txBody>
          <a:bodyPr/>
          <a:lstStyle/>
          <a:p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  <a:endParaRPr lang="en-US" altLang="en-US" dirty="0" smtClean="0"/>
          </a:p>
        </p:txBody>
      </p:sp>
      <p:sp>
        <p:nvSpPr>
          <p:cNvPr id="14339" name="Rectangle 1027"/>
          <p:cNvSpPr>
            <a:spLocks noGrp="1" noChangeArrowheads="1"/>
          </p:cNvSpPr>
          <p:nvPr>
            <p:ph idx="1"/>
          </p:nvPr>
        </p:nvSpPr>
        <p:spPr>
          <a:xfrm>
            <a:off x="990600" y="2209800"/>
            <a:ext cx="7620000" cy="40386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100000"/>
              </a:spcBef>
              <a:buFontTx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Registers.</a:t>
            </a:r>
          </a:p>
          <a:p>
            <a:pPr marL="971550" lvl="1" indent="-514350" eaLnBrk="1" hangingPunct="1">
              <a:spcBef>
                <a:spcPct val="100000"/>
              </a:spcBef>
              <a:buFont typeface="Times New Roman" panose="02020603050405020304" pitchFamily="18" charset="0"/>
              <a:buAutoNum type="arabicPeriod"/>
            </a:pP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 (program counter)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points to next instruction to be executed</a:t>
            </a:r>
          </a:p>
          <a:p>
            <a:pPr marL="971550" lvl="1" indent="-514350" eaLnBrk="1" hangingPunct="1">
              <a:spcBef>
                <a:spcPct val="100000"/>
              </a:spcBef>
              <a:buFont typeface="Times New Roman" panose="02020603050405020304" pitchFamily="18" charset="0"/>
              <a:buAutoNum type="arabicPeriod"/>
            </a:pP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 (instruction register)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holds instruction currently being executed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Hardware: CPU and main memory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676400"/>
            <a:ext cx="6553200" cy="3429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Hardware: CPU and main memory</a:t>
            </a:r>
          </a:p>
          <a:p>
            <a:pPr algn="just"/>
            <a:endParaRPr lang="en-A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Main Memory (RAM)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Directly connected to CPU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All programs loaded in it before execution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data brought in it before its manipulation </a:t>
            </a: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Volatile (everything lost when turned off)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Ordered sequence of memory cells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Each with unique location in memory (cell address)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Addresses help in accessing stored information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2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Hardware: CPU and main memory</a:t>
            </a:r>
          </a:p>
          <a:p>
            <a:pPr algn="just"/>
            <a:endParaRPr lang="en-A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Main Memory (RAM)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Today, consists of millions to billions of cells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cell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can contain program instructions as well as data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Stores everything as sequence of 0s and 1s</a:t>
            </a: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Addresses are also expressed as sequence of 0s and 1s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028" descr="C01F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534400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357B75-1EF0-4EC5-9AA5-10F46EBFBA30}" type="slidenum">
              <a:rPr lang="ar-SA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24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371600"/>
            <a:ext cx="76054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Hardware: Secondary Storage</a:t>
            </a:r>
          </a:p>
          <a:p>
            <a:pPr algn="just"/>
            <a:endParaRPr lang="en-A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Program and data is loaded in main memory before processing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Main memory is volatile</a:t>
            </a: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Therefore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Information stored there needs to be transferred to other devices for  permanent storage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Device responsible for such storage is Secondary storage ,i.e., hard disks, flash drives, CD-ROMs,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For such transfer of information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oth components directly connected with each other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8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Hardware: Input / Output Devices</a:t>
            </a:r>
          </a:p>
          <a:p>
            <a:pPr algn="just"/>
            <a:endParaRPr lang="en-A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Input devices: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Responsible for feeding data/programs into computers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Keyboard, mouse, secondary storage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Output </a:t>
            </a:r>
            <a:r>
              <a:rPr lang="en-AU" sz="2400" b="1" dirty="0">
                <a:latin typeface="Times New Roman" pitchFamily="18" charset="0"/>
                <a:cs typeface="Times New Roman" pitchFamily="18" charset="0"/>
              </a:rPr>
              <a:t>devices</a:t>
            </a: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devices used for displaying results by computers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monitor, printer, 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secondary storage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1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371600"/>
            <a:ext cx="76054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Software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Programs written to perform specific tasks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Written in </a:t>
            </a: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programming languages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Types of programs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System Programs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Application Programs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7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Elements of a computer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Types of programs</a:t>
            </a:r>
          </a:p>
          <a:p>
            <a:pPr algn="just"/>
            <a:endParaRPr lang="en-A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System: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control computer like</a:t>
            </a: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 Operating system </a:t>
            </a: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loaded first when PC is turned on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Monitors overall activity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Provide services like memory management, storage management, input/output activities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Application: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perform a specific task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Word processors, spread sheets, games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OS is responsible for running application programs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4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The Language of a Computer 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Signals types: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Analog and Digital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Analog signals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are continuous wave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represent such things as sound.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Audio tapes: stores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in analog signals.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4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The Language of a Computer 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066800"/>
            <a:ext cx="8763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Signals types: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nalog and Digital</a:t>
            </a: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signals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represent information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a sequence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0s and 1s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represents a low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voltage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 represents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high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voltage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signals are more reliable carriers of information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than analog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signals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&amp; can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 copied from one device to another with exact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precision.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signals are processed inside a computer,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language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computer is called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equence of 0s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1s (called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binary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digit, 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Sometimes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sequence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0s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1s is referred to as a binary code or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binary number</a:t>
            </a:r>
            <a:endParaRPr lang="en-A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6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The Language of a Computer 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53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Binary Units</a:t>
            </a: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28465"/>
            <a:ext cx="7239000" cy="422326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0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The Language of a Computer 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534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 uses a binary number system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everything inside computer is shown as sequence of 1s and 0s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8 bit representation, add 0 on left for each ASCII 7-bit characters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EBCDIC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consists of 256 characters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Unicode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consist of 65536 characters (needs 2 bytes for each)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0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411018" y="457200"/>
            <a:ext cx="762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2800" b="1" dirty="0" smtClean="0">
                <a:latin typeface="Times New Roman" pitchFamily="18" charset="0"/>
                <a:cs typeface="Times New Roman" pitchFamily="18" charset="0"/>
              </a:rPr>
              <a:t>The Evolution of  Programming Languages</a:t>
            </a:r>
            <a:endParaRPr lang="en-A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455003"/>
            <a:ext cx="8458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Machine language: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most basic language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program instructions in </a:t>
            </a:r>
            <a:r>
              <a:rPr lang="en-A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perform the same kinds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designers of the computer may have chosen different sets of binary codes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the operations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 language of one machine is not necessarily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machine language of another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consistency among modern computers is that all data is stored and manipulated as binary codes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5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2800" b="1" dirty="0" smtClean="0">
                <a:latin typeface="Times New Roman" pitchFamily="18" charset="0"/>
                <a:cs typeface="Times New Roman" pitchFamily="18" charset="0"/>
              </a:rPr>
              <a:t>The Evolution of  Programming Languages</a:t>
            </a:r>
            <a:endParaRPr lang="en-A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912203"/>
            <a:ext cx="8534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Assembler:</a:t>
            </a:r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 program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that translates an assembly language program into an equivalent machine language program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b="1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Compiler: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program that translates instructions written in a high-level language into the equivalent machine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language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b="1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Interpreter:</a:t>
            </a:r>
            <a:r>
              <a:rPr lang="en-US" sz="2400" dirty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translates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high-level instructions into an intermediate form, which it then executes.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Moreover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it converts the program by taking a single line at a time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0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Program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#include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&lt;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iostream</a:t>
            </a:r>
            <a:r>
              <a:rPr lang="en-US" altLang="en-US" sz="1800" dirty="0" smtClean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using namespace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std</a:t>
            </a:r>
            <a:r>
              <a:rPr lang="en-US" altLang="en-US" sz="1800" dirty="0" smtClean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err="1" smtClean="0">
                <a:solidFill>
                  <a:schemeClr val="accent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main()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   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cout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&lt;&lt; "My first C++ program." &lt;&lt;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endl</a:t>
            </a:r>
            <a:r>
              <a:rPr lang="en-US" altLang="en-US" sz="1800" dirty="0" smtClean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   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cout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&lt;&lt; "The sum of 2 and 3 = " &lt;&lt; 5 &lt;&lt;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endl</a:t>
            </a:r>
            <a:r>
              <a:rPr lang="en-US" altLang="en-US" sz="1800" dirty="0" smtClean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   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cout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&lt;&lt; "7 + 8 = " &lt;&lt; 7 + 8 &lt;&lt;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endl</a:t>
            </a:r>
            <a:r>
              <a:rPr lang="en-US" altLang="en-US" sz="1800" dirty="0" smtClean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    </a:t>
            </a:r>
            <a:r>
              <a:rPr lang="en-US" altLang="en-US" sz="1800" dirty="0" smtClean="0">
                <a:solidFill>
                  <a:schemeClr val="accent1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}</a:t>
            </a:r>
            <a:r>
              <a:rPr lang="en-US" altLang="en-US" sz="2000" dirty="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/>
              <a:t>Sample Run</a:t>
            </a:r>
            <a:r>
              <a:rPr lang="en-US" altLang="en-US" sz="2000" dirty="0" smtClean="0"/>
              <a:t>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My first C++ program.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The sum of 2 and 3 = 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 smtClean="0">
                <a:latin typeface="Courier New" panose="02070309020205020404" pitchFamily="49" charset="0"/>
              </a:rPr>
              <a:t>7 + 8 = 15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3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C++ Program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8001000" cy="4302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 cout &lt;&lt; "My first C++ program." &lt;&lt; endl;</a:t>
            </a:r>
            <a:endParaRPr lang="en-US" altLang="en-US" sz="1800" smtClean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838200" y="2438400"/>
            <a:ext cx="3962400" cy="1676400"/>
          </a:xfrm>
          <a:prstGeom prst="wedgeRoundRectCallout">
            <a:avLst>
              <a:gd name="adj1" fmla="val -43048"/>
              <a:gd name="adj2" fmla="val -6214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r>
              <a:rPr lang="en-US" dirty="0">
                <a:latin typeface="Arial" charset="0"/>
              </a:rPr>
              <a:t>This is a C++ output statement.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It causes the computer to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evaluate the expression after the pair</a:t>
            </a:r>
          </a:p>
          <a:p>
            <a:pPr eaLnBrk="1" hangingPunct="1">
              <a:defRPr/>
            </a:pPr>
            <a:r>
              <a:rPr lang="en-US" dirty="0" smtClean="0">
                <a:latin typeface="Arial" charset="0"/>
              </a:rPr>
              <a:t>of </a:t>
            </a:r>
            <a:r>
              <a:rPr lang="en-US" dirty="0">
                <a:latin typeface="Arial" charset="0"/>
              </a:rPr>
              <a:t>symbols &lt;&lt; and </a:t>
            </a:r>
            <a:r>
              <a:rPr lang="en-US" dirty="0" smtClean="0">
                <a:latin typeface="Arial" charset="0"/>
              </a:rPr>
              <a:t>display </a:t>
            </a:r>
            <a:r>
              <a:rPr lang="en-US" dirty="0">
                <a:latin typeface="Arial" charset="0"/>
              </a:rPr>
              <a:t>the result </a:t>
            </a:r>
            <a:endParaRPr lang="en-US" dirty="0" smtClean="0">
              <a:latin typeface="Arial" charset="0"/>
            </a:endParaRPr>
          </a:p>
          <a:p>
            <a:pPr eaLnBrk="1" hangingPunct="1">
              <a:defRPr/>
            </a:pPr>
            <a:r>
              <a:rPr lang="en-US" dirty="0" smtClean="0">
                <a:latin typeface="Arial" charset="0"/>
              </a:rPr>
              <a:t>in </a:t>
            </a:r>
            <a:r>
              <a:rPr lang="en-US" dirty="0">
                <a:latin typeface="Arial" charset="0"/>
              </a:rPr>
              <a:t>the screen.</a:t>
            </a:r>
          </a:p>
        </p:txBody>
      </p:sp>
      <p:sp>
        <p:nvSpPr>
          <p:cNvPr id="8" name="Cloud 7"/>
          <p:cNvSpPr/>
          <p:nvPr/>
        </p:nvSpPr>
        <p:spPr bwMode="auto">
          <a:xfrm>
            <a:off x="838200" y="4343400"/>
            <a:ext cx="4876800" cy="228600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r>
              <a:rPr lang="en-US" dirty="0">
                <a:latin typeface="Arial" charset="0"/>
              </a:rPr>
              <a:t>C++ contain various types of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Expressions such as arithmetic and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strings. For example: 7+8 is arithmetic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 expression. Anything in double quotes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is a string “7+8” is a string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334000" y="2819400"/>
            <a:ext cx="3352800" cy="1295400"/>
          </a:xfrm>
          <a:prstGeom prst="wedgeRoundRectCallout">
            <a:avLst>
              <a:gd name="adj1" fmla="val -33266"/>
              <a:gd name="adj2" fmla="val -9825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r>
              <a:rPr lang="en-US" dirty="0">
                <a:latin typeface="Arial" charset="0"/>
              </a:rPr>
              <a:t>endl causes the insertion point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to move to the beginning of the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next line.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0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Program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 cout &lt;&lt; "My first C++ program." &lt;&lt; endl;</a:t>
            </a:r>
          </a:p>
          <a:p>
            <a:pPr>
              <a:buFontTx/>
              <a:buNone/>
            </a:pPr>
            <a:endParaRPr lang="en-US" altLang="en-US" sz="180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smtClean="0"/>
              <a:t>Sample Run</a:t>
            </a:r>
            <a:r>
              <a:rPr lang="en-US" altLang="en-US" sz="2000" smtClean="0"/>
              <a:t>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My first C++ program.</a:t>
            </a:r>
          </a:p>
          <a:p>
            <a:pPr>
              <a:buFontTx/>
              <a:buNone/>
            </a:pPr>
            <a:endParaRPr lang="en-US" altLang="en-US" sz="1800" smtClean="0"/>
          </a:p>
          <a:p>
            <a:pPr>
              <a:buFontTx/>
              <a:buNone/>
            </a:pPr>
            <a:endParaRPr lang="en-US" altLang="en-US" sz="180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5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C++ Program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7848600" cy="4302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 dirty="0" err="1" smtClean="0">
                <a:latin typeface="Courier New" panose="02070309020205020404" pitchFamily="49" charset="0"/>
              </a:rPr>
              <a:t>cout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&lt;&lt; "The sum of 2 and 3 = " &lt;&lt; 5 &lt;&lt; </a:t>
            </a:r>
            <a:r>
              <a:rPr lang="en-US" altLang="en-US" sz="1800" dirty="0" err="1" smtClean="0">
                <a:latin typeface="Courier New" panose="02070309020205020404" pitchFamily="49" charset="0"/>
              </a:rPr>
              <a:t>endl</a:t>
            </a:r>
            <a:r>
              <a:rPr lang="en-US" altLang="en-US" sz="1800" dirty="0" smtClean="0">
                <a:latin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b="1" dirty="0" smtClean="0"/>
              <a:t>Sample Run</a:t>
            </a:r>
            <a:r>
              <a:rPr lang="en-US" altLang="en-US" sz="2000" dirty="0" smtClean="0"/>
              <a:t>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smtClean="0">
                <a:latin typeface="Courier New" panose="02070309020205020404" pitchFamily="49" charset="0"/>
              </a:rPr>
              <a:t>The sum of 2 and 3 = 5</a:t>
            </a:r>
          </a:p>
          <a:p>
            <a:pPr>
              <a:buFontTx/>
              <a:buNone/>
            </a:pPr>
            <a:endParaRPr lang="en-US" altLang="en-US" sz="1800" dirty="0" smtClean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1800" dirty="0" smtClean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914400" y="2819400"/>
            <a:ext cx="2819400" cy="1371600"/>
          </a:xfrm>
          <a:prstGeom prst="wedgeRoundRectCallout">
            <a:avLst>
              <a:gd name="adj1" fmla="val 32299"/>
              <a:gd name="adj2" fmla="val -96912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r>
              <a:rPr lang="en-US" dirty="0">
                <a:latin typeface="Arial" charset="0"/>
              </a:rPr>
              <a:t>The first expression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“The sum </a:t>
            </a:r>
            <a:r>
              <a:rPr lang="en-US" dirty="0" smtClean="0">
                <a:latin typeface="Arial" charset="0"/>
              </a:rPr>
              <a:t>of </a:t>
            </a:r>
            <a:r>
              <a:rPr lang="en-US" dirty="0">
                <a:latin typeface="Arial" charset="0"/>
              </a:rPr>
              <a:t>2 and 3 = “ is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a string and evaluates to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itself .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733800" y="2887663"/>
            <a:ext cx="3733800" cy="990600"/>
          </a:xfrm>
          <a:prstGeom prst="wedgeRoundRectCallout">
            <a:avLst>
              <a:gd name="adj1" fmla="val 7844"/>
              <a:gd name="adj2" fmla="val -11668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r>
              <a:rPr lang="en-US" dirty="0">
                <a:latin typeface="Arial" charset="0"/>
              </a:rPr>
              <a:t>The second expression consists of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</a:rPr>
              <a:t>Number 5 and evaluates to itself.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8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3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 Program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idx="1"/>
          </p:nvPr>
        </p:nvSpPr>
        <p:spPr>
          <a:xfrm>
            <a:off x="152400" y="1143000"/>
            <a:ext cx="4648200" cy="5029200"/>
          </a:xfrm>
        </p:spPr>
        <p:txBody>
          <a:bodyPr/>
          <a:lstStyle/>
          <a:p>
            <a:pPr marL="0" indent="0">
              <a:buFontTx/>
              <a:buNone/>
              <a:tabLst>
                <a:tab pos="0" algn="l"/>
              </a:tabLst>
              <a:defRPr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steps are necessary to process a program in C++:</a:t>
            </a: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text editor to create a C++ program. This program is called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program. </a:t>
            </a: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/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/>
          </a:p>
          <a:p>
            <a:pPr marL="57150" indent="-57150">
              <a:buFontTx/>
              <a:buNone/>
              <a:tabLst>
                <a:tab pos="0" algn="l"/>
                <a:tab pos="57150" algn="l"/>
              </a:tabLst>
              <a:defRPr/>
            </a:pPr>
            <a:endParaRPr lang="en-US" sz="3200" dirty="0" smtClean="0"/>
          </a:p>
        </p:txBody>
      </p:sp>
      <p:pic>
        <p:nvPicPr>
          <p:cNvPr id="35844" name="Picture 2" descr="D:\Techno\Figures\ch1\processing program step 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90600"/>
            <a:ext cx="4267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2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9144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 Program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idx="1"/>
          </p:nvPr>
        </p:nvSpPr>
        <p:spPr>
          <a:xfrm>
            <a:off x="152400" y="1143000"/>
            <a:ext cx="4648200" cy="5029200"/>
          </a:xfrm>
        </p:spPr>
        <p:txBody>
          <a:bodyPr/>
          <a:lstStyle/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C++ program, statements that begin with the symbol # are called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 directives. </a:t>
            </a:r>
          </a:p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statements are processed by a program called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>
              <a:latin typeface="Calibri" pitchFamily="34" charset="0"/>
            </a:endParaRP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>
              <a:latin typeface="Calibri" pitchFamily="34" charset="0"/>
            </a:endParaRP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>
              <a:latin typeface="Calibri" pitchFamily="34" charset="0"/>
            </a:endParaRPr>
          </a:p>
          <a:p>
            <a:pPr marL="57150" indent="-57150">
              <a:buFontTx/>
              <a:buNone/>
              <a:tabLst>
                <a:tab pos="0" algn="l"/>
                <a:tab pos="57150" algn="l"/>
              </a:tabLst>
              <a:defRPr/>
            </a:pPr>
            <a:endParaRPr lang="en-US" sz="3200" dirty="0" smtClean="0">
              <a:latin typeface="Calibri" pitchFamily="34" charset="0"/>
            </a:endParaRPr>
          </a:p>
        </p:txBody>
      </p:sp>
      <p:pic>
        <p:nvPicPr>
          <p:cNvPr id="36868" name="Picture 3" descr="D:\Techno\Figures\ch1\processing program step 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90600"/>
            <a:ext cx="4267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8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3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 Program</a:t>
            </a:r>
            <a:endParaRPr lang="en-US" altLang="en-US" sz="3600" dirty="0" smtClean="0"/>
          </a:p>
        </p:txBody>
      </p:sp>
      <p:sp>
        <p:nvSpPr>
          <p:cNvPr id="8" name="Content Placeholder 6"/>
          <p:cNvSpPr>
            <a:spLocks noGrp="1"/>
          </p:cNvSpPr>
          <p:nvPr>
            <p:ph idx="1"/>
          </p:nvPr>
        </p:nvSpPr>
        <p:spPr>
          <a:xfrm>
            <a:off x="76200" y="1143000"/>
            <a:ext cx="4724400" cy="5029200"/>
          </a:xfrm>
        </p:spPr>
        <p:txBody>
          <a:bodyPr/>
          <a:lstStyle/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Compiler is used to:</a:t>
            </a:r>
          </a:p>
          <a:p>
            <a:pPr marL="514350" lvl="1" indent="-514350">
              <a:buClr>
                <a:srgbClr val="000066"/>
              </a:buClr>
              <a:buFont typeface="+mj-lt"/>
              <a:buAutoNum type="arabicPeriod"/>
              <a:tabLst>
                <a:tab pos="0" algn="l"/>
              </a:tabLs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that the program obeys the rules of the programming language and checks the source program for syntax errors.</a:t>
            </a:r>
          </a:p>
          <a:p>
            <a:pPr marL="514350" lvl="1" indent="-514350">
              <a:buClr>
                <a:srgbClr val="000066"/>
              </a:buClr>
              <a:buFont typeface="+mj-lt"/>
              <a:buAutoNum type="arabicPeriod"/>
              <a:tabLst>
                <a:tab pos="0" algn="l"/>
              </a:tabLst>
              <a:defRPr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-514350">
              <a:buClr>
                <a:srgbClr val="000066"/>
              </a:buClr>
              <a:buFont typeface="+mj-lt"/>
              <a:buAutoNum type="arabicPeriod"/>
              <a:tabLst>
                <a:tab pos="0" algn="l"/>
              </a:tabLs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the program into equivalent machine language </a:t>
            </a: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(object program)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>
              <a:latin typeface="Calibri" pitchFamily="34" charset="0"/>
            </a:endParaRP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/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/>
          </a:p>
          <a:p>
            <a:pPr marL="57150" indent="-57150">
              <a:buFontTx/>
              <a:buNone/>
              <a:tabLst>
                <a:tab pos="0" algn="l"/>
                <a:tab pos="57150" algn="l"/>
              </a:tabLst>
              <a:defRPr/>
            </a:pPr>
            <a:endParaRPr lang="en-US" sz="3200" dirty="0" smtClean="0"/>
          </a:p>
        </p:txBody>
      </p:sp>
      <p:pic>
        <p:nvPicPr>
          <p:cNvPr id="37892" name="Picture 2" descr="D:\Techno\Figures\ch1\processing program step 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90600"/>
            <a:ext cx="4267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4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 Program</a:t>
            </a:r>
            <a:endParaRPr lang="en-US" altLang="en-US" sz="3600" dirty="0" smtClean="0"/>
          </a:p>
        </p:txBody>
      </p:sp>
      <p:sp>
        <p:nvSpPr>
          <p:cNvPr id="8" name="Content Placeholder 6"/>
          <p:cNvSpPr>
            <a:spLocks noGrp="1"/>
          </p:cNvSpPr>
          <p:nvPr>
            <p:ph idx="1"/>
          </p:nvPr>
        </p:nvSpPr>
        <p:spPr>
          <a:xfrm>
            <a:off x="76200" y="914400"/>
            <a:ext cx="4724400" cy="5638800"/>
          </a:xfrm>
        </p:spPr>
        <p:txBody>
          <a:bodyPr>
            <a:normAutofit/>
          </a:bodyPr>
          <a:lstStyle/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 in high level languages are developed  using a software development kit (SDK).</a:t>
            </a:r>
          </a:p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1" indent="0">
              <a:buClr>
                <a:srgbClr val="000066"/>
              </a:buClr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SDK contains programs that are useful in creating your program such as mathematical functions.</a:t>
            </a:r>
          </a:p>
          <a:p>
            <a:pPr marL="0" lvl="1" indent="0">
              <a:buClr>
                <a:srgbClr val="000066"/>
              </a:buClr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Clr>
                <a:srgbClr val="000066"/>
              </a:buClr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prewritten code resides in a library.</a:t>
            </a:r>
          </a:p>
          <a:p>
            <a:pPr marL="0" lvl="1" indent="0">
              <a:buClr>
                <a:srgbClr val="000066"/>
              </a:buClr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Clr>
                <a:srgbClr val="000066"/>
              </a:buClr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the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code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program from libraries.</a:t>
            </a: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/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/>
          </a:p>
          <a:p>
            <a:pPr marL="57150" indent="-57150">
              <a:buFontTx/>
              <a:buNone/>
              <a:tabLst>
                <a:tab pos="0" algn="l"/>
                <a:tab pos="57150" algn="l"/>
              </a:tabLst>
              <a:defRPr/>
            </a:pPr>
            <a:endParaRPr lang="en-US" sz="3200" dirty="0" smtClean="0"/>
          </a:p>
        </p:txBody>
      </p:sp>
      <p:pic>
        <p:nvPicPr>
          <p:cNvPr id="38916" name="Picture 2" descr="D:\Techno\Figures\ch1\processing program step 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90600"/>
            <a:ext cx="4267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2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3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 Program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idx="1"/>
          </p:nvPr>
        </p:nvSpPr>
        <p:spPr>
          <a:xfrm>
            <a:off x="76200" y="914400"/>
            <a:ext cx="4572000" cy="5638800"/>
          </a:xfrm>
        </p:spPr>
        <p:txBody>
          <a:bodyPr/>
          <a:lstStyle/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You must load the executable program into main memory for execution. </a:t>
            </a:r>
          </a:p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Clr>
                <a:srgbClr val="000066"/>
              </a:buClr>
              <a:buFont typeface="Arial" charset="0"/>
              <a:buNone/>
              <a:tabLst>
                <a:tab pos="0" algn="l"/>
              </a:tabLst>
              <a:defRPr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Loader: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that loads an executable program into main memory.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tabLst>
                <a:tab pos="0" algn="l"/>
              </a:tabLst>
              <a:defRPr/>
            </a:pPr>
            <a:endParaRPr lang="en-US" b="1" dirty="0" smtClean="0"/>
          </a:p>
          <a:p>
            <a:pPr marL="57150" indent="-57150">
              <a:buFontTx/>
              <a:buNone/>
              <a:tabLst>
                <a:tab pos="0" algn="l"/>
                <a:tab pos="57150" algn="l"/>
              </a:tabLst>
              <a:defRPr/>
            </a:pPr>
            <a:endParaRPr lang="en-US" sz="3200" dirty="0" smtClean="0"/>
          </a:p>
        </p:txBody>
      </p:sp>
      <p:pic>
        <p:nvPicPr>
          <p:cNvPr id="40964" name="Picture 2" descr="D:\Techno\Figures\ch1\processing program step 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90600"/>
            <a:ext cx="4267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6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3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 Program</a:t>
            </a:r>
          </a:p>
        </p:txBody>
      </p:sp>
      <p:sp>
        <p:nvSpPr>
          <p:cNvPr id="43011" name="Content Placeholder 6"/>
          <p:cNvSpPr>
            <a:spLocks noGrp="1"/>
          </p:cNvSpPr>
          <p:nvPr>
            <p:ph idx="1"/>
          </p:nvPr>
        </p:nvSpPr>
        <p:spPr>
          <a:xfrm>
            <a:off x="76200" y="914400"/>
            <a:ext cx="4572000" cy="5638800"/>
          </a:xfrm>
        </p:spPr>
        <p:txBody>
          <a:bodyPr/>
          <a:lstStyle/>
          <a:p>
            <a:pPr marL="0" lvl="1" indent="0">
              <a:buClr>
                <a:srgbClr val="000066"/>
              </a:buClr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alt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step is to execute the program.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indent="-57150">
              <a:buFontTx/>
              <a:buNone/>
              <a:tabLst>
                <a:tab pos="0" algn="l"/>
              </a:tabLst>
            </a:pPr>
            <a:endParaRPr lang="en-US" altLang="en-US" sz="3200" dirty="0" smtClean="0"/>
          </a:p>
        </p:txBody>
      </p:sp>
      <p:pic>
        <p:nvPicPr>
          <p:cNvPr id="43012" name="Picture 2" descr="D:\Techno\Figures\ch1\processing program step 6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90600"/>
            <a:ext cx="4267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8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Processing a C++ Program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066800"/>
            <a:ext cx="5105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Steps required to process a C++ program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#include 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AU" sz="24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r>
              <a:rPr lang="en-AU" sz="2400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AU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sing namespace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400" dirty="0" err="1" smtClean="0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en-AU" sz="2400" dirty="0" err="1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algn="just"/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algn="just"/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&lt;&lt; “Hello to C++ 	World.” &lt;&lt; 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AU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 0;</a:t>
            </a:r>
          </a:p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838200"/>
            <a:ext cx="3276600" cy="4953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3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Processing a C++ Program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8458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Steps required to process a C++ program</a:t>
            </a: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Step 1: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Write a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source program 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in text editor (with extension </a:t>
            </a:r>
            <a:r>
              <a:rPr lang="en-AU" sz="2000" dirty="0" err="1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en-AU" sz="20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Add necessary </a:t>
            </a:r>
            <a:r>
              <a:rPr lang="en-AU" sz="2000" dirty="0" err="1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preprocessor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directives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(begin with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Step 3: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Write in correct syntax and translate in equivalent machine language i.e.,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object program 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compiler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Step 4: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Combine object program with programs from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libraries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IDE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linker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Step 5: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program in main memory for execution (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loader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AU" sz="2000" b="1" dirty="0" smtClean="0">
                <a:latin typeface="Times New Roman" pitchFamily="18" charset="0"/>
                <a:cs typeface="Times New Roman" pitchFamily="18" charset="0"/>
              </a:rPr>
              <a:t>Step 6: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Execute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the program</a:t>
            </a: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Your concern is first step and master rules of the language for this (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Dev C++ IDE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8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Processing a C++ Program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066800"/>
            <a:ext cx="8001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Source program: 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A program written in a high level language</a:t>
            </a:r>
          </a:p>
          <a:p>
            <a:pPr algn="just"/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000" dirty="0" err="1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Preprocessor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 directives: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statements that begin with the symbol #</a:t>
            </a:r>
          </a:p>
          <a:p>
            <a:pPr algn="just"/>
            <a:endParaRPr lang="en-AU" sz="2000" dirty="0" smtClean="0">
              <a:solidFill>
                <a:srgbClr val="1F7EE7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000" dirty="0" err="1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Preprocesor</a:t>
            </a:r>
            <a:r>
              <a:rPr lang="en-AU" sz="2000" dirty="0" smtClean="0">
                <a:solidFill>
                  <a:srgbClr val="1F7EE7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A program that processes pre-processor directives</a:t>
            </a:r>
          </a:p>
          <a:p>
            <a:pPr algn="just"/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program: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 language version of the high-level language program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program that combines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with other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executable code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 smtClean="0">
              <a:solidFill>
                <a:srgbClr val="1F7EE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Loader</a:t>
            </a:r>
            <a:r>
              <a:rPr lang="en-US" sz="20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program that loads an executable program into main memory.</a:t>
            </a:r>
          </a:p>
          <a:p>
            <a:endParaRPr lang="en-A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Programming with the problem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458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process of problem solving.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problem-solving technique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step-by-step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process in which a solution is arrived at in a finite amount of time.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requires the following three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problem,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problem and its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solve the problem.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in a programming language,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algorithm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program by using and modifying it if the problem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2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Programming with the problem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077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analysis–coding–execution cycle</a:t>
            </a:r>
            <a:endParaRPr lang="en-A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20334"/>
            <a:ext cx="5334000" cy="475666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0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Programming with the problem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07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examples</a:t>
            </a:r>
          </a:p>
          <a:p>
            <a:pPr algn="just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Perimeter and area of a rectangle</a:t>
            </a:r>
          </a:p>
          <a:p>
            <a:pPr algn="just"/>
            <a:endParaRPr lang="en-A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01885"/>
            <a:ext cx="5029200" cy="240351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3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Programming with the problem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3657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examples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Calculate sales tax and price of item sold in a particular state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state’s portion of the sales tax is 4%, and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city’s portion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sales tax is 1.5%.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item is a luxury item, such as a car more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 $50,000, then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10% luxury tax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95400"/>
            <a:ext cx="3810000" cy="50292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9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Programming with the problem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6106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Calculates monthly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paycheck of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salesperson 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department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salesperson has a </a:t>
            </a:r>
            <a:r>
              <a:rPr lang="en-US" sz="22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salary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salesperson also receives a </a:t>
            </a:r>
            <a:r>
              <a:rPr lang="en-US" sz="22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end of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month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based on the following criteria: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salesperson has been with the store for five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years 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less,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bonus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$10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year that he or she has worked there.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salesperson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store for more than five years,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bonus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$20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year that he or she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worked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there. 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salesperson can earn an additional bonus as follows: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sales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made for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month are at least $5,000 but less than $10,000,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e/she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3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commission on the sale.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sales made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month are at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least $10,000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e/she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a 6% commission on the sale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8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7620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Programming with the problem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45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Calculates monthly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paycheck of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salesperson 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department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6910"/>
            <a:ext cx="6781800" cy="36384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95900"/>
            <a:ext cx="6705600" cy="6477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2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4091</TotalTime>
  <Words>2146</Words>
  <Application>Microsoft Office PowerPoint</Application>
  <PresentationFormat>On-screen Show (4:3)</PresentationFormat>
  <Paragraphs>366</Paragraphs>
  <Slides>40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Courier New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PowerPoint Presentation</vt:lpstr>
      <vt:lpstr>Categories of Computers</vt:lpstr>
      <vt:lpstr>PowerPoint Presentation</vt:lpstr>
      <vt:lpstr>PowerPoint Presentation</vt:lpstr>
      <vt:lpstr>Central Processing Unit (CPU)</vt:lpstr>
      <vt:lpstr>Central Processing Unit (CPU)</vt:lpstr>
      <vt:lpstr>Central Processing Unit (CPU)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C++ Program</vt:lpstr>
      <vt:lpstr>A C++ Program</vt:lpstr>
      <vt:lpstr>C++ Program</vt:lpstr>
      <vt:lpstr>A C++ Program</vt:lpstr>
      <vt:lpstr>Processing a Program</vt:lpstr>
      <vt:lpstr>Processing a Program</vt:lpstr>
      <vt:lpstr>Processing a Program</vt:lpstr>
      <vt:lpstr>Processing a Program</vt:lpstr>
      <vt:lpstr>Processing a Program</vt:lpstr>
      <vt:lpstr>Processing a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Slides</dc:title>
  <dc:subject>PF</dc:subject>
  <dc:creator>Arshad Ali</dc:creator>
  <dc:description>By Dr. Arshad Ali</dc:description>
  <cp:lastModifiedBy>Majid Hussain</cp:lastModifiedBy>
  <cp:revision>243</cp:revision>
  <cp:lastPrinted>2018-01-06T06:41:28Z</cp:lastPrinted>
  <dcterms:created xsi:type="dcterms:W3CDTF">2009-03-23T15:23:24Z</dcterms:created>
  <dcterms:modified xsi:type="dcterms:W3CDTF">2024-02-13T07:32:53Z</dcterms:modified>
</cp:coreProperties>
</file>
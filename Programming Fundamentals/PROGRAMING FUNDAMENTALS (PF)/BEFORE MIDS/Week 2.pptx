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32" r:id="rId1"/>
  </p:sldMasterIdLst>
  <p:notesMasterIdLst>
    <p:notesMasterId r:id="rId39"/>
  </p:notesMasterIdLst>
  <p:handoutMasterIdLst>
    <p:handoutMasterId r:id="rId40"/>
  </p:handoutMasterIdLst>
  <p:sldIdLst>
    <p:sldId id="256" r:id="rId2"/>
    <p:sldId id="397" r:id="rId3"/>
    <p:sldId id="354" r:id="rId4"/>
    <p:sldId id="1077" r:id="rId5"/>
    <p:sldId id="1099" r:id="rId6"/>
    <p:sldId id="1076" r:id="rId7"/>
    <p:sldId id="1078" r:id="rId8"/>
    <p:sldId id="1081" r:id="rId9"/>
    <p:sldId id="1080" r:id="rId10"/>
    <p:sldId id="1079" r:id="rId11"/>
    <p:sldId id="1109" r:id="rId12"/>
    <p:sldId id="1110" r:id="rId13"/>
    <p:sldId id="1111" r:id="rId14"/>
    <p:sldId id="1112" r:id="rId15"/>
    <p:sldId id="1083" r:id="rId16"/>
    <p:sldId id="1113" r:id="rId17"/>
    <p:sldId id="1084" r:id="rId18"/>
    <p:sldId id="1085" r:id="rId19"/>
    <p:sldId id="1087" r:id="rId20"/>
    <p:sldId id="1088" r:id="rId21"/>
    <p:sldId id="1089" r:id="rId22"/>
    <p:sldId id="1090" r:id="rId23"/>
    <p:sldId id="1093" r:id="rId24"/>
    <p:sldId id="1094" r:id="rId25"/>
    <p:sldId id="1096" r:id="rId26"/>
    <p:sldId id="1095" r:id="rId27"/>
    <p:sldId id="1097" r:id="rId28"/>
    <p:sldId id="1100" r:id="rId29"/>
    <p:sldId id="1098" r:id="rId30"/>
    <p:sldId id="1101" r:id="rId31"/>
    <p:sldId id="1102" r:id="rId32"/>
    <p:sldId id="1103" r:id="rId33"/>
    <p:sldId id="1104" r:id="rId34"/>
    <p:sldId id="1105" r:id="rId35"/>
    <p:sldId id="1106" r:id="rId36"/>
    <p:sldId id="1107" r:id="rId37"/>
    <p:sldId id="1108" r:id="rId38"/>
  </p:sldIdLst>
  <p:sldSz cx="9144000" cy="6858000" type="screen4x3"/>
  <p:notesSz cx="7010400" cy="92964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CD2"/>
    <a:srgbClr val="1F7EE7"/>
    <a:srgbClr val="7DD330"/>
    <a:srgbClr val="00CC00"/>
    <a:srgbClr val="486DA2"/>
    <a:srgbClr val="AE1517"/>
    <a:srgbClr val="CC0000"/>
    <a:srgbClr val="4F7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94652" autoAdjust="0"/>
  </p:normalViewPr>
  <p:slideViewPr>
    <p:cSldViewPr>
      <p:cViewPr varScale="1">
        <p:scale>
          <a:sx n="69" d="100"/>
          <a:sy n="69" d="100"/>
        </p:scale>
        <p:origin x="139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2838" y="-10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67D39907-CA41-4FA3-AB8C-7CF77BD0ED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41428"/>
      </p:ext>
    </p:extLst>
  </p:cSld>
  <p:clrMap bg1="lt1" tx1="dk1" bg2="lt2" tx2="dk2" accent1="accent1" accent2="accent2" accent3="accent3" accent4="accent4" accent5="accent5" accent6="accent6" hlink="hlink" folHlink="folHlink"/>
  <p:hf sldNum="0"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C95EBC4-39DD-4A71-BE51-C12854B5A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5291"/>
      </p:ext>
    </p:extLst>
  </p:cSld>
  <p:clrMap bg1="lt1" tx1="dk1" bg2="lt2" tx2="dk2" accent1="accent1" accent2="accent2" accent3="accent3" accent4="accent4" accent5="accent5" accent6="accent6" hlink="hlink" folHlink="folHlink"/>
  <p:hf sldNum="0" hd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63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14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23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70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70B957-3B12-4E5F-8A8C-415E7D517A45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token is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smallest element of a C++ program that is meaningful to the compiler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08888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41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79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20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07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CBD392-4BC7-4ED7-8975-FF7A5B79C04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64806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692979-0F45-4821-89E3-39F86E60EB2F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81849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A91D10-0C4F-42AE-8EF3-79D2178479A9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88169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1D2695-8AD6-4572-ACCE-3441C05C640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15304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43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86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19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51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34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68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099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55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859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4BC865-4326-40A6-B80A-96106F9EC8F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429217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4BC865-4326-40A6-B80A-96106F9EC8F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49397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72CA95-B606-4830-A020-4BEDCAAA8AF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078664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F7EA6B-C4B4-4E2C-AFFF-01D20BA7E465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69218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F7EA6B-C4B4-4E2C-AFFF-01D20BA7E465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34390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2C2F25-09F4-49F4-A5D7-3560772048FC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449131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5369EC-C169-479E-9D19-92EC88EC83CB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158895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C95577-33A6-4457-895F-509A4E89820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850580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A82E66-DF0C-4413-AED2-9503433178F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978487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F30CF4-6110-429F-8E09-F7E0C83CBF19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027317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BB5953-629F-4397-93C6-BE7430FFB1C0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624674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71D035-E7C2-433F-B45A-9D9BB0E323F2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865058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3F45FD-0FD1-440F-850C-D435A6260B12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441857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2B4C96-D061-4E81-8C6D-C930E0E94061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16016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owerpointstyle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5"/>
          <p:cNvSpPr txBox="1">
            <a:spLocks noChangeArrowheads="1"/>
          </p:cNvSpPr>
          <p:nvPr/>
        </p:nvSpPr>
        <p:spPr bwMode="auto">
          <a:xfrm>
            <a:off x="3348038" y="6237288"/>
            <a:ext cx="2457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dirty="0" smtClean="0">
                <a:hlinkClick r:id="rId3"/>
              </a:rPr>
              <a:t>Powerpoint Templates</a:t>
            </a:r>
            <a:endParaRPr lang="en-AU" dirty="0"/>
          </a:p>
        </p:txBody>
      </p:sp>
      <p:pic>
        <p:nvPicPr>
          <p:cNvPr id="2051" name="Picture 24" descr="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309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24873" y="3657600"/>
            <a:ext cx="8686800" cy="1471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 tIns="180000" rIns="180000" bIns="180000">
            <a:spAutoFit/>
          </a:bodyPr>
          <a:lstStyle/>
          <a:p>
            <a:pPr algn="ctr"/>
            <a:r>
              <a:rPr lang="en-AU" sz="36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Programming Fundamentals</a:t>
            </a:r>
          </a:p>
          <a:p>
            <a:pPr algn="ctr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Week # 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1066800" y="188913"/>
            <a:ext cx="74660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200" b="1" dirty="0" smtClean="0">
                <a:latin typeface="Times New Roman" pitchFamily="18" charset="0"/>
                <a:cs typeface="Times New Roman" pitchFamily="18" charset="0"/>
              </a:rPr>
              <a:t>ACKNOWLEDGMENTS</a:t>
            </a:r>
            <a:endParaRPr lang="en-A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1999" y="1066800"/>
            <a:ext cx="777081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These lecture slides contain material from  the book “C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++ PROGRAMMING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(From Problem Analysis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to Program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Design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); Authored by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D.S. MALIK</a:t>
            </a:r>
          </a:p>
          <a:p>
            <a:pPr algn="just"/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.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Week 2: Course Plan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BASIC ELEMENTS OF C++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First C++ Program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Analysis of the program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Escape sequences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Manipulators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Example programs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AU" sz="2400" dirty="0" smtClean="0">
                <a:latin typeface="Times New Roman" pitchFamily="18" charset="0"/>
                <a:cs typeface="Times New Roman" pitchFamily="18" charset="0"/>
              </a:rPr>
              <a:t>Comments &amp; Tokens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Basic Concepts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dirty="0" smtClean="0">
                <a:latin typeface="Times New Roman" pitchFamily="18" charset="0"/>
                <a:cs typeface="Times New Roman" pitchFamily="18" charset="0"/>
              </a:rPr>
              <a:t>Computer Program: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statements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whose objective is to accomplish 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algn="just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rocess of planning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creating 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  <a:p>
            <a:pPr algn="just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and set of grammatical rules for instructing a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 computing device to perform specific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tasks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OR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rules, symbols, and special words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specify which statements (instructions) are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A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6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Programs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8040688" cy="41148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C++ program is a collection of one or more subprograms, called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subprogram or a function is a collection of statements that, when activated (executed), accomplishes something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C++ program has a function called main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individual unit of a program written in any language is called a </a:t>
            </a:r>
            <a:r>
              <a:rPr lang="en-US" altLang="en-US" sz="26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30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8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191869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1: First C++ Program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Hello to C++ World Program (already learnt)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#include 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AU" sz="24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r>
              <a:rPr lang="en-AU" sz="2400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using namespace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4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en-AU" sz="2400" dirty="0" err="1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algn="just"/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&lt;&lt; “Hello to C++ 	World.” &lt;&lt;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AU" sz="2400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0;</a:t>
            </a:r>
          </a:p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2: Analysis of the Program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output statement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0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&lt;&lt; “Hello to C++ 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World</a:t>
            </a:r>
            <a:r>
              <a:rPr lang="en-AU" sz="2000" dirty="0">
                <a:latin typeface="Times New Roman" pitchFamily="18" charset="0"/>
                <a:cs typeface="Times New Roman" pitchFamily="18" charset="0"/>
              </a:rPr>
              <a:t>.” &lt;&lt; </a:t>
            </a:r>
            <a:r>
              <a:rPr lang="en-AU" sz="20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AU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endParaRPr lang="en-A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output statement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the computer to evaluate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pair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symbols 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display the result on the screen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causes the insertion point to move to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 of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anything in double quotes</a:t>
            </a:r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6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Analysis of the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077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#include 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AU" sz="2400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(predefined object) </a:t>
            </a:r>
            <a:r>
              <a:rPr lang="en-US" sz="2400" dirty="0" err="1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output and the (manipulator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endParaRPr lang="en-US" sz="2400" dirty="0" smtClean="0">
              <a:solidFill>
                <a:srgbClr val="1F7EE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1F7EE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400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using namespace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2400" dirty="0" err="1">
                <a:latin typeface="Times New Roman" pitchFamily="18" charset="0"/>
                <a:cs typeface="Times New Roman" pitchFamily="18" charset="0"/>
              </a:rPr>
              <a:t>std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to use </a:t>
            </a:r>
            <a:r>
              <a:rPr lang="en-US" sz="2400" dirty="0" err="1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the prefix </a:t>
            </a:r>
            <a:r>
              <a:rPr lang="en-US" sz="2400" dirty="0" err="1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this statement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used as </a:t>
            </a:r>
            <a:r>
              <a:rPr lang="en-US" sz="2400" dirty="0" err="1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400" dirty="0" err="1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err="1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as </a:t>
            </a:r>
            <a:r>
              <a:rPr lang="en-US" sz="2400" dirty="0" err="1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sz="2400" dirty="0" err="1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endParaRPr lang="en-US" sz="2400" dirty="0" smtClean="0">
              <a:solidFill>
                <a:srgbClr val="0C7CD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1F7EE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3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Analysis of the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077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1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C++ program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functions, one of which is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main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Above is heading of function </a:t>
            </a: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solidFill>
                <a:srgbClr val="0C7CD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i="1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statements whose objective is to accomplish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something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function in our first program (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C++ programs require a function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1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Analysis of the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dirty="0" err="1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algn="just"/>
            <a:r>
              <a:rPr lang="en-AU" sz="24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algn="just"/>
            <a:endParaRPr lang="en-A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AU" sz="2400" dirty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Left brace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beginning of body of the function </a:t>
            </a: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 brace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Matches with left brace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end of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body of function </a:t>
            </a:r>
            <a:r>
              <a:rPr lang="en-US" sz="24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main</a:t>
            </a:r>
          </a:p>
          <a:p>
            <a:endParaRPr lang="en-US" sz="2400" dirty="0">
              <a:solidFill>
                <a:srgbClr val="0C7CD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i="1" u="sng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returns the value 0 to the operating system when the program terminates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7CD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5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AU" sz="3600" dirty="0">
                <a:latin typeface="Times New Roman" pitchFamily="18" charset="0"/>
                <a:cs typeface="Times New Roman" pitchFamily="18" charset="0"/>
              </a:rPr>
              <a:t>Analysis of the Program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8077200" cy="4606925"/>
          </a:xfrm>
        </p:spPr>
        <p:txBody>
          <a:bodyPr/>
          <a:lstStyle/>
          <a:p>
            <a:pPr marL="109728" indent="0"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 Directives</a:t>
            </a:r>
            <a:endParaRPr lang="en-US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has a small number of operations</a:t>
            </a:r>
          </a:p>
          <a:p>
            <a:pPr eaLnBrk="1" hangingPunct="1"/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functions and symbols needed to run a C++ program are provided as collection of libraries</a:t>
            </a:r>
          </a:p>
          <a:p>
            <a:pPr eaLnBrk="1" hangingPunct="1"/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library has a name and is referred to by a header file</a:t>
            </a:r>
          </a:p>
          <a:p>
            <a:pPr eaLnBrk="1" hangingPunct="1"/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 directives are commands supplied to the preprocessor</a:t>
            </a:r>
          </a:p>
          <a:p>
            <a:pPr eaLnBrk="1" hangingPunct="1"/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preprocessor commands begin with #</a:t>
            </a:r>
          </a:p>
          <a:p>
            <a:pPr eaLnBrk="1" hangingPunct="1"/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semicolon at the end of these commands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6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>
                <a:latin typeface="Times New Roman" pitchFamily="18" charset="0"/>
                <a:cs typeface="Times New Roman" pitchFamily="18" charset="0"/>
              </a:rPr>
              <a:t>Analysis of the Program</a:t>
            </a:r>
            <a:endParaRPr lang="en-US" altLang="en-US" sz="3600" dirty="0" smtClean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8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 to include a header file</a:t>
            </a:r>
          </a:p>
          <a:p>
            <a:pPr eaLnBrk="1" hangingPunct="1">
              <a:spcBef>
                <a:spcPct val="80000"/>
              </a:spcBef>
              <a:buFontTx/>
              <a:buNone/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6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headerFileName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 the preprocessor to include the header file 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program</a:t>
            </a:r>
          </a:p>
          <a:p>
            <a:pPr eaLnBrk="1" hangingPunct="1">
              <a:spcBef>
                <a:spcPct val="8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is:</a:t>
            </a:r>
          </a:p>
          <a:p>
            <a:pPr eaLnBrk="1" hangingPunct="1">
              <a:spcBef>
                <a:spcPct val="80000"/>
              </a:spcBef>
              <a:buFontTx/>
              <a:buNone/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6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0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a Program and namespace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80000"/>
              </a:spcBef>
            </a:pP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declared in the header file 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but within a namespace named 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endParaRPr lang="en-US" alt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8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a program, use the following two statements:</a:t>
            </a:r>
          </a:p>
          <a:p>
            <a:pPr eaLnBrk="1" hangingPunct="1">
              <a:spcBef>
                <a:spcPct val="80000"/>
              </a:spcBef>
              <a:buFontTx/>
              <a:buNone/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6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ct val="80000"/>
              </a:spcBef>
              <a:buFontTx/>
              <a:buNone/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6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80000"/>
              </a:spcBef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0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string Data Type in a Program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458200" cy="41148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10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use the string type, you need to access its definition from the header file string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 the following preprocessor directive:</a:t>
            </a:r>
          </a:p>
          <a:p>
            <a:pPr eaLnBrk="1" hangingPunct="1">
              <a:spcBef>
                <a:spcPct val="100000"/>
              </a:spcBef>
              <a:buFontTx/>
              <a:buNone/>
            </a:pP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6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lang="en-US" alt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&lt;string&gt;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8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3: Escape Sequences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certain special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character or string literals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7CD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879643"/>
              </p:ext>
            </p:extLst>
          </p:nvPr>
        </p:nvGraphicFramePr>
        <p:xfrm>
          <a:off x="381000" y="1981200"/>
          <a:ext cx="8374332" cy="3886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690">
                  <a:extLst>
                    <a:ext uri="{9D8B030D-6E8A-4147-A177-3AD203B41FA5}">
                      <a16:colId xmlns:a16="http://schemas.microsoft.com/office/drawing/2014/main" val="350010166"/>
                    </a:ext>
                  </a:extLst>
                </a:gridCol>
                <a:gridCol w="2476818">
                  <a:extLst>
                    <a:ext uri="{9D8B030D-6E8A-4147-A177-3AD203B41FA5}">
                      <a16:colId xmlns:a16="http://schemas.microsoft.com/office/drawing/2014/main" val="3611934643"/>
                    </a:ext>
                  </a:extLst>
                </a:gridCol>
                <a:gridCol w="3790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79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Escape Sequence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093139"/>
                  </a:ext>
                </a:extLst>
              </a:tr>
              <a:tr h="94087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 character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moves the cursor to the next tab stop.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111"/>
                  </a:ext>
                </a:extLst>
              </a:tr>
              <a:tr h="94087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\v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Vertical tab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moves the cursor to the next vertical tab stop.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148592"/>
                  </a:ext>
                </a:extLst>
              </a:tr>
              <a:tr h="531796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\a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or bell character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produces a beep or sound.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057382"/>
                  </a:ext>
                </a:extLst>
              </a:tr>
              <a:tr h="94087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\r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Carriage return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moves the cursor to the beginning of the line.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3: Escape Sequences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represent certain special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character or string literals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7CD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494682"/>
              </p:ext>
            </p:extLst>
          </p:nvPr>
        </p:nvGraphicFramePr>
        <p:xfrm>
          <a:off x="381001" y="2038530"/>
          <a:ext cx="8534400" cy="375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269">
                  <a:extLst>
                    <a:ext uri="{9D8B030D-6E8A-4147-A177-3AD203B41FA5}">
                      <a16:colId xmlns:a16="http://schemas.microsoft.com/office/drawing/2014/main" val="350010166"/>
                    </a:ext>
                  </a:extLst>
                </a:gridCol>
                <a:gridCol w="2668647">
                  <a:extLst>
                    <a:ext uri="{9D8B030D-6E8A-4147-A177-3AD203B41FA5}">
                      <a16:colId xmlns:a16="http://schemas.microsoft.com/office/drawing/2014/main" val="3611934643"/>
                    </a:ext>
                  </a:extLst>
                </a:gridCol>
                <a:gridCol w="3836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5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Escape Sequence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093139"/>
                  </a:ext>
                </a:extLst>
              </a:tr>
              <a:tr h="75053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\’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quote </a:t>
                      </a: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used to represent a single quote.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184605"/>
                  </a:ext>
                </a:extLst>
              </a:tr>
              <a:tr h="75053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\”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 quote character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used to represent a double quote.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830113"/>
                  </a:ext>
                </a:extLst>
              </a:tr>
              <a:tr h="75053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\b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Backspace character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moves the cursor back one character.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1441"/>
                  </a:ext>
                </a:extLst>
              </a:tr>
              <a:tr h="75053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line character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moves the cursor to the next line.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14233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0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: Manipulators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305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Manipulators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helping functions that can modify the input/output stream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values to be used to insert into or extract from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have special effects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only modify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I/O stream using insertion (&lt;&lt;) and extraction (&gt;&gt;)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change the value of a variable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7CD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6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5. Comments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comments in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makes it clearer to programmer and reader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are for readers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completely ignores comments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line comments (</a:t>
            </a:r>
            <a:r>
              <a:rPr lang="en-US" sz="2400" b="1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 with </a:t>
            </a: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placed anywhere in the line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Everting after // in line is ignored by compiler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 comments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b="1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Enclosed between </a:t>
            </a: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Anything between them is ignored by compiler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7CD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smtClean="0">
                <a:latin typeface="Times New Roman" pitchFamily="18" charset="0"/>
                <a:cs typeface="Times New Roman" pitchFamily="18" charset="0"/>
              </a:rPr>
              <a:t>5. Tokens / Symbols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individual unit of a program written in any language is called a </a:t>
            </a: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</a:p>
          <a:p>
            <a:endParaRPr lang="en-US" sz="2400" dirty="0" smtClean="0">
              <a:solidFill>
                <a:srgbClr val="0C7CD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symbols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solidFill>
                <a:srgbClr val="0C7CD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Reserved Word symbols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solidFill>
                <a:srgbClr val="0C7CD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solidFill>
                <a:srgbClr val="0C7CD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2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Tokens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Symbols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symbols:</a:t>
            </a:r>
            <a:r>
              <a:rPr lang="en-US" sz="2400" dirty="0" smtClean="0">
                <a:solidFill>
                  <a:srgbClr val="0C7C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      *      /</a:t>
            </a:r>
            <a:endParaRPr lang="en-US" sz="2400" dirty="0">
              <a:solidFill>
                <a:srgbClr val="1F7EE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Punctuation marks:        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 ;       ?     ,</a:t>
            </a:r>
            <a:endParaRPr lang="en-US" sz="2400" dirty="0">
              <a:solidFill>
                <a:srgbClr val="1F7EE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 made up of two characters: 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 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!=    ==     &gt;=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can come between two characters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solidFill>
                <a:srgbClr val="0C7CD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Commas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used to separate items in a list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Semicolons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used to end a C++ statement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0C7CD2"/>
                </a:solidFill>
                <a:latin typeface="Times New Roman" pitchFamily="18" charset="0"/>
                <a:cs typeface="Times New Roman" pitchFamily="18" charset="0"/>
              </a:rPr>
              <a:t>Blank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also a special symbol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Created by pressing the spacebar on keyboard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9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Tokens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7605464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Reserved Word Symbols (keywords)</a:t>
            </a:r>
          </a:p>
          <a:p>
            <a:endParaRPr lang="en-US" dirty="0" smtClean="0"/>
          </a:p>
          <a:p>
            <a:r>
              <a:rPr lang="en-US" sz="2400" dirty="0" err="1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float, double, char, </a:t>
            </a:r>
            <a:r>
              <a:rPr lang="en-US" sz="2400" dirty="0" err="1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void, 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keywords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Always in lowercase letters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is considered as a single symbol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redefined within any program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used for anything other than intended use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Tokens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066800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Identifiers</a:t>
            </a:r>
            <a:endParaRPr lang="en-US" dirty="0" smtClean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 are names of things that appear in programs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ariables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obey C++ identifier rules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C++ identifier consists of letters, digits, and underscore (</a:t>
            </a:r>
            <a:r>
              <a:rPr lang="en-US" sz="2400" b="1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character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Must begin with letter or underscore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are predefined (</a:t>
            </a:r>
            <a:r>
              <a:rPr lang="en-US" sz="2400" dirty="0" err="1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are defined by users (like length)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3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6858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AU" sz="3600" b="1" dirty="0" smtClean="0">
                <a:latin typeface="Times New Roman" pitchFamily="18" charset="0"/>
                <a:cs typeface="Times New Roman" pitchFamily="18" charset="0"/>
              </a:rPr>
              <a:t>Tokens</a:t>
            </a:r>
            <a:endParaRPr lang="en-A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066800"/>
            <a:ext cx="845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1F7E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Identifiers</a:t>
            </a:r>
            <a:endParaRPr lang="en-US" dirty="0" smtClean="0"/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Illegal Identifiers: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mployee salary: cannot be space between employee and salary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Hello! : The exclamation mark cannot be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+ two: symbols such as + cannot be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2nd: cannot start with a digit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1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06413"/>
            <a:ext cx="77724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Whitespaces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524000"/>
            <a:ext cx="78486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C++ program contains whitespaces.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Whitespaces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blanks, tabs, and newline characters.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C++ program, whitespaces are used to separate special symbols, reserved words, and identifiers.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Whitespaces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nonprintable in the sense that when they are printed on a white sheet of paper, the space between special symbols, reserved words, and identifiers is white.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utilization of whitespaces in a program is important.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make the program more readable.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4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06413"/>
            <a:ext cx="77724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of Blanks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524000"/>
            <a:ext cx="7848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of Blanks	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blanks separate input numbers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Blanks are also used to separate reserved words and identifiers from each other and other symbols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Blanks between identifiers in the second statement are meaningless: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 err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 err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a,   b,   c;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statement: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inta,b,c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no blank between the t and a changes the reserved word </a:t>
            </a:r>
            <a:r>
              <a:rPr lang="en-US" altLang="en-US" sz="2400" dirty="0" err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identifier a into a new identifier,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inta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7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Commas, Semicolons, &amp; Brackets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Commas separate items in a list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C++ statements end with a semicolon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Semicolon is also called a statement terminator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and } are not C++ statements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6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7118" y="1411386"/>
            <a:ext cx="7772400" cy="5141814"/>
          </a:xfrm>
        </p:spPr>
        <p:txBody>
          <a:bodyPr>
            <a:normAutofit/>
          </a:bodyPr>
          <a:lstStyle/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rules that gives meaning to a language is called a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to remove all syntax errors in a program and still not have it run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if it runs, it may still not do what you meant it to do 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  <a:p>
            <a:pPr lvl="1" eaLnBrk="1" hangingPunct="1">
              <a:spcBef>
                <a:spcPct val="40000"/>
              </a:spcBef>
              <a:buFont typeface="Arial" panose="020B0604020202020204" pitchFamily="34" charset="0"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+ 3 * 5  and  (2 + 3) * 5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are both syntactically correct expressions, but have different meanings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5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 lines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7118" y="1411386"/>
            <a:ext cx="7772400" cy="5141814"/>
          </a:xfrm>
        </p:spPr>
        <p:txBody>
          <a:bodyPr>
            <a:normAutofit/>
          </a:bodyPr>
          <a:lstStyle/>
          <a:p>
            <a:pPr>
              <a:spcBef>
                <a:spcPct val="400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lines are executable statements that inform the user what to do.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728" indent="0">
              <a:spcBef>
                <a:spcPct val="40000"/>
              </a:spcBef>
              <a:buNone/>
            </a:pPr>
            <a:r>
              <a:rPr lang="en-US" sz="2400" dirty="0" err="1">
                <a:solidFill>
                  <a:schemeClr val="accent1"/>
                </a:solidFill>
              </a:rPr>
              <a:t>cout</a:t>
            </a:r>
            <a:r>
              <a:rPr lang="en-US" sz="2400" dirty="0"/>
              <a:t> &lt;&lt; "Please enter a number between 1 and 10 and " &lt;&lt; "press the return key" &lt;&lt; </a:t>
            </a:r>
            <a:r>
              <a:rPr lang="en-US" sz="2400" dirty="0" err="1"/>
              <a:t>endl</a:t>
            </a:r>
            <a:r>
              <a:rPr lang="en-US" sz="2400" dirty="0"/>
              <a:t>; </a:t>
            </a:r>
            <a:endParaRPr lang="en-US" sz="2400" dirty="0" smtClean="0"/>
          </a:p>
          <a:p>
            <a:pPr marL="109728" indent="0">
              <a:spcBef>
                <a:spcPct val="40000"/>
              </a:spcBef>
              <a:buNone/>
            </a:pPr>
            <a:r>
              <a:rPr lang="en-US" sz="2400" dirty="0" err="1" smtClean="0">
                <a:solidFill>
                  <a:schemeClr val="accent1"/>
                </a:solidFill>
              </a:rPr>
              <a:t>cin</a:t>
            </a:r>
            <a:r>
              <a:rPr lang="en-US" sz="2400" dirty="0" smtClean="0">
                <a:solidFill>
                  <a:schemeClr val="accent1"/>
                </a:solidFill>
              </a:rPr>
              <a:t> </a:t>
            </a:r>
            <a:r>
              <a:rPr lang="en-US" sz="2400" dirty="0"/>
              <a:t>&gt;&gt; </a:t>
            </a:r>
            <a:r>
              <a:rPr lang="en-US" sz="2400" dirty="0" err="1"/>
              <a:t>num</a:t>
            </a:r>
            <a:r>
              <a:rPr lang="en-US" sz="2400" dirty="0" smtClean="0"/>
              <a:t>;</a:t>
            </a:r>
            <a:endParaRPr lang="en-US" sz="2400" dirty="0"/>
          </a:p>
          <a:p>
            <a:pPr marL="109728" indent="0">
              <a:spcBef>
                <a:spcPct val="40000"/>
              </a:spcBef>
              <a:buNone/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400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program, whenever input is needed from users, you must include the necessary prompt lines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7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 and Style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two ways of declaring variables: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1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400" dirty="0" err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feet, inch;</a:t>
            </a:r>
          </a:p>
          <a:p>
            <a:pPr eaLnBrk="1" hangingPunct="1">
              <a:spcBef>
                <a:spcPct val="40000"/>
              </a:spcBef>
              <a:buFontTx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x, y;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2</a:t>
            </a:r>
          </a:p>
          <a:p>
            <a:pPr lvl="1" eaLnBrk="1" hangingPunct="1">
              <a:spcBef>
                <a:spcPct val="40000"/>
              </a:spcBef>
              <a:buFont typeface="Arial" panose="020B0604020202020204" pitchFamily="34" charset="0"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400" dirty="0" err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a,b;</a:t>
            </a:r>
            <a:r>
              <a:rPr lang="en-US" altLang="en-US" sz="2400" dirty="0" err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correct, however, the second is hard to read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80000"/>
              </a:spcBef>
            </a:pPr>
            <a:r>
              <a:rPr lang="en-US" alt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type specifies the type of data that a variable can store such as integer, floating, character etc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ct val="80000"/>
              </a:spcBef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 data can be classified into three categories: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data type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type</a:t>
            </a:r>
          </a:p>
          <a:p>
            <a:pPr lvl="1" eaLnBrk="1" hangingPunct="1">
              <a:spcBef>
                <a:spcPct val="80000"/>
              </a:spcBef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7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Data Types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categories of simple data</a:t>
            </a:r>
          </a:p>
          <a:p>
            <a:pPr lvl="1" eaLnBrk="1" hangingPunct="1">
              <a:spcBef>
                <a:spcPct val="100000"/>
              </a:spcBef>
            </a:pP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Integral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integers (numbers without a decimal)</a:t>
            </a:r>
          </a:p>
          <a:p>
            <a:pPr lvl="1" eaLnBrk="1" hangingPunct="1">
              <a:spcBef>
                <a:spcPct val="100000"/>
              </a:spcBef>
            </a:pP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decimal numbers</a:t>
            </a:r>
          </a:p>
          <a:p>
            <a:pPr lvl="1" eaLnBrk="1" hangingPunct="1">
              <a:spcBef>
                <a:spcPct val="100000"/>
              </a:spcBef>
            </a:pP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Enumeration type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user-defined data type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9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5" descr="C02T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38200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9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Type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-6728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78</a:t>
            </a:r>
          </a:p>
          <a:p>
            <a:pPr eaLnBrk="1" hangingPunct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integers do not have a + sign in front of them</a:t>
            </a:r>
          </a:p>
          <a:p>
            <a:pPr eaLnBrk="1" hangingPunct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commas are used within an integer</a:t>
            </a:r>
          </a:p>
          <a:p>
            <a:pPr eaLnBrk="1" hangingPunct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Commas are used for separating items in a list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 Data Type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</a:pP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type </a:t>
            </a:r>
          </a:p>
          <a:p>
            <a:pPr lvl="1" eaLnBrk="1" hangingPunct="1">
              <a:spcBef>
                <a:spcPct val="10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two values,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lvl="1" eaLnBrk="1" hangingPunct="1">
              <a:spcBef>
                <a:spcPct val="10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 logical (Boolean) expressions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called logical values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reserved words</a:t>
            </a:r>
          </a:p>
          <a:p>
            <a:pPr eaLnBrk="1" hangingPunct="1">
              <a:spcBef>
                <a:spcPct val="100000"/>
              </a:spcBef>
            </a:pPr>
            <a:endParaRPr lang="en-US" altLang="en-US" sz="240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6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 Data Type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229600" cy="45720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integral data type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US" alt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letters, digits, and special symbols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character is enclosed in single quotes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values belonging to char data type are: 'A', 'a', '0', '*', '+', '$', '&amp;' 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blank space is a character and is written ' ', with a space left between the single quotes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1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uses scientific notation to represent real numbers (floating-point notation)</a:t>
            </a:r>
          </a:p>
        </p:txBody>
      </p:sp>
      <p:sp>
        <p:nvSpPr>
          <p:cNvPr id="34819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 Data Types</a:t>
            </a:r>
          </a:p>
        </p:txBody>
      </p:sp>
      <p:pic>
        <p:nvPicPr>
          <p:cNvPr id="34820" name="Picture 6" descr="C02T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43200"/>
            <a:ext cx="7772400" cy="314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7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 Data Types (continued)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represents any real number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Range: -3.4E+38 to 3.4E+38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for the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type is 4 bytes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represents any real number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Range: -1.7E+308 to 1.7E+308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 for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type is 8 bytes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most newer compilers, data types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same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6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4241</TotalTime>
  <Words>1919</Words>
  <Application>Microsoft Office PowerPoint</Application>
  <PresentationFormat>On-screen Show (4:3)</PresentationFormat>
  <Paragraphs>351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微軟正黑體</vt:lpstr>
      <vt:lpstr>Arial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Concourse</vt:lpstr>
      <vt:lpstr>PowerPoint Presentation</vt:lpstr>
      <vt:lpstr>PowerPoint Presentation</vt:lpstr>
      <vt:lpstr>PowerPoint Presentation</vt:lpstr>
      <vt:lpstr>PowerPoint Presentation</vt:lpstr>
      <vt:lpstr>C++ Programs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 of the Program</vt:lpstr>
      <vt:lpstr>Analysis of the Program</vt:lpstr>
      <vt:lpstr>Using cin and cout in a Program and namespace</vt:lpstr>
      <vt:lpstr>Using the string Data Type in a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Whitespaces</vt:lpstr>
      <vt:lpstr>Use of Blanks</vt:lpstr>
      <vt:lpstr>Commas, Semicolons, &amp; Brackets</vt:lpstr>
      <vt:lpstr>Semantics</vt:lpstr>
      <vt:lpstr>Prompt lines</vt:lpstr>
      <vt:lpstr>Form and Style</vt:lpstr>
      <vt:lpstr>Data Types</vt:lpstr>
      <vt:lpstr>Simple Data Types</vt:lpstr>
      <vt:lpstr>PowerPoint Presentation</vt:lpstr>
      <vt:lpstr>int Data Type</vt:lpstr>
      <vt:lpstr>bool Data Type</vt:lpstr>
      <vt:lpstr>char Data Type</vt:lpstr>
      <vt:lpstr>Floating-Point Data Types</vt:lpstr>
      <vt:lpstr>Floating-Point Data Types (continued)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Slides</dc:title>
  <dc:subject>PF</dc:subject>
  <dc:creator>Arshad Ali</dc:creator>
  <dc:description>By Dr. Arshad Ali</dc:description>
  <cp:lastModifiedBy>Majid Hussain</cp:lastModifiedBy>
  <cp:revision>343</cp:revision>
  <cp:lastPrinted>2018-01-06T06:41:28Z</cp:lastPrinted>
  <dcterms:created xsi:type="dcterms:W3CDTF">2009-03-23T15:23:24Z</dcterms:created>
  <dcterms:modified xsi:type="dcterms:W3CDTF">2024-02-13T07:39:08Z</dcterms:modified>
</cp:coreProperties>
</file>
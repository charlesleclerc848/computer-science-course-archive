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6" r:id="rId2"/>
    <p:sldId id="287" r:id="rId3"/>
    <p:sldId id="289" r:id="rId4"/>
    <p:sldId id="290" r:id="rId5"/>
    <p:sldId id="291" r:id="rId6"/>
    <p:sldId id="292" r:id="rId7"/>
    <p:sldId id="293" r:id="rId8"/>
    <p:sldId id="294" r:id="rId9"/>
    <p:sldId id="295" r:id="rId10"/>
    <p:sldId id="296" r:id="rId11"/>
    <p:sldId id="297" r:id="rId12"/>
    <p:sldId id="298" r:id="rId13"/>
    <p:sldId id="300" r:id="rId14"/>
    <p:sldId id="299" r:id="rId15"/>
    <p:sldId id="301" r:id="rId16"/>
    <p:sldId id="302" r:id="rId17"/>
    <p:sldId id="303" r:id="rId18"/>
    <p:sldId id="305" r:id="rId19"/>
    <p:sldId id="304" r:id="rId20"/>
    <p:sldId id="306" r:id="rId21"/>
    <p:sldId id="307"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varScale="1">
        <p:scale>
          <a:sx n="73" d="100"/>
          <a:sy n="73" d="100"/>
        </p:scale>
        <p:origin x="1308"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074" name="Group 2"/>
          <p:cNvGrpSpPr>
            <a:grpSpLocks/>
          </p:cNvGrpSpPr>
          <p:nvPr/>
        </p:nvGrpSpPr>
        <p:grpSpPr bwMode="auto">
          <a:xfrm>
            <a:off x="-3175" y="2438400"/>
            <a:ext cx="9147175" cy="1063625"/>
            <a:chOff x="-2" y="1536"/>
            <a:chExt cx="5762" cy="670"/>
          </a:xfrm>
        </p:grpSpPr>
        <p:grpSp>
          <p:nvGrpSpPr>
            <p:cNvPr id="3075" name="Group 3"/>
            <p:cNvGrpSpPr>
              <a:grpSpLocks/>
            </p:cNvGrpSpPr>
            <p:nvPr/>
          </p:nvGrpSpPr>
          <p:grpSpPr bwMode="auto">
            <a:xfrm flipH="1">
              <a:off x="-2" y="1562"/>
              <a:ext cx="5762" cy="638"/>
              <a:chOff x="-2" y="1562"/>
              <a:chExt cx="5762" cy="638"/>
            </a:xfrm>
          </p:grpSpPr>
          <p:sp>
            <p:nvSpPr>
              <p:cNvPr id="3076" name="Freeform 4"/>
              <p:cNvSpPr>
                <a:spLocks/>
              </p:cNvSpPr>
              <p:nvPr/>
            </p:nvSpPr>
            <p:spPr bwMode="ltGray">
              <a:xfrm rot="-5400000">
                <a:off x="2559" y="-993"/>
                <a:ext cx="624" cy="5745"/>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7" name="Freeform 5"/>
              <p:cNvSpPr>
                <a:spLocks/>
              </p:cNvSpPr>
              <p:nvPr/>
            </p:nvSpPr>
            <p:spPr bwMode="ltGray">
              <a:xfrm rot="-5400000">
                <a:off x="1323"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8" name="Freeform 6"/>
              <p:cNvSpPr>
                <a:spLocks/>
              </p:cNvSpPr>
              <p:nvPr/>
            </p:nvSpPr>
            <p:spPr bwMode="ltGray">
              <a:xfrm rot="-5400000">
                <a:off x="982"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9" name="Freeform 7"/>
              <p:cNvSpPr>
                <a:spLocks/>
              </p:cNvSpPr>
              <p:nvPr/>
            </p:nvSpPr>
            <p:spPr bwMode="ltGray">
              <a:xfrm rot="-5400000">
                <a:off x="-57" y="1752"/>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0" name="Freeform 8"/>
              <p:cNvSpPr>
                <a:spLocks/>
              </p:cNvSpPr>
              <p:nvPr/>
            </p:nvSpPr>
            <p:spPr bwMode="ltGray">
              <a:xfrm rot="-5400000">
                <a:off x="664" y="1733"/>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1" name="Freeform 9"/>
              <p:cNvSpPr>
                <a:spLocks/>
              </p:cNvSpPr>
              <p:nvPr/>
            </p:nvSpPr>
            <p:spPr bwMode="ltGray">
              <a:xfrm rot="-5400000">
                <a:off x="442" y="1699"/>
                <a:ext cx="624" cy="362"/>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2" name="Freeform 10"/>
              <p:cNvSpPr>
                <a:spLocks/>
              </p:cNvSpPr>
              <p:nvPr/>
            </p:nvSpPr>
            <p:spPr bwMode="ltGray">
              <a:xfrm rot="-5400000">
                <a:off x="156" y="1726"/>
                <a:ext cx="632" cy="315"/>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3" name="Freeform 11"/>
              <p:cNvSpPr>
                <a:spLocks/>
              </p:cNvSpPr>
              <p:nvPr/>
            </p:nvSpPr>
            <p:spPr bwMode="ltGray">
              <a:xfrm rot="-5400000">
                <a:off x="3211" y="1664"/>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4" name="Freeform 12"/>
              <p:cNvSpPr>
                <a:spLocks/>
              </p:cNvSpPr>
              <p:nvPr/>
            </p:nvSpPr>
            <p:spPr bwMode="ltGray">
              <a:xfrm rot="-5400000">
                <a:off x="2870" y="1664"/>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5" name="Freeform 13"/>
              <p:cNvSpPr>
                <a:spLocks/>
              </p:cNvSpPr>
              <p:nvPr/>
            </p:nvSpPr>
            <p:spPr bwMode="ltGray">
              <a:xfrm rot="-5400000">
                <a:off x="1830"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6" name="Freeform 14"/>
              <p:cNvSpPr>
                <a:spLocks/>
              </p:cNvSpPr>
              <p:nvPr/>
            </p:nvSpPr>
            <p:spPr bwMode="ltGray">
              <a:xfrm rot="-5400000">
                <a:off x="2551" y="1728"/>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7" name="Freeform 15"/>
              <p:cNvSpPr>
                <a:spLocks/>
              </p:cNvSpPr>
              <p:nvPr/>
            </p:nvSpPr>
            <p:spPr bwMode="ltGray">
              <a:xfrm rot="-5400000">
                <a:off x="2330"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8" name="Freeform 16"/>
              <p:cNvSpPr>
                <a:spLocks/>
              </p:cNvSpPr>
              <p:nvPr/>
            </p:nvSpPr>
            <p:spPr bwMode="ltGray">
              <a:xfrm rot="-5400000">
                <a:off x="2043"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9" name="Freeform 17"/>
              <p:cNvSpPr>
                <a:spLocks/>
              </p:cNvSpPr>
              <p:nvPr/>
            </p:nvSpPr>
            <p:spPr bwMode="ltGray">
              <a:xfrm rot="-5400000">
                <a:off x="4077"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0" name="Freeform 18"/>
              <p:cNvSpPr>
                <a:spLocks/>
              </p:cNvSpPr>
              <p:nvPr/>
            </p:nvSpPr>
            <p:spPr bwMode="ltGray">
              <a:xfrm rot="-5400000">
                <a:off x="3736"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1" name="Freeform 19"/>
              <p:cNvSpPr>
                <a:spLocks/>
              </p:cNvSpPr>
              <p:nvPr/>
            </p:nvSpPr>
            <p:spPr bwMode="ltGray">
              <a:xfrm rot="-5400000">
                <a:off x="4584"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2"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3" name="Freeform 21"/>
              <p:cNvSpPr>
                <a:spLocks/>
              </p:cNvSpPr>
              <p:nvPr/>
            </p:nvSpPr>
            <p:spPr bwMode="ltGray">
              <a:xfrm rot="-5400000">
                <a:off x="5084"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4" name="Freeform 22"/>
              <p:cNvSpPr>
                <a:spLocks/>
              </p:cNvSpPr>
              <p:nvPr/>
            </p:nvSpPr>
            <p:spPr bwMode="ltGray">
              <a:xfrm rot="-5400000">
                <a:off x="4797"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grpSp>
        <p:sp>
          <p:nvSpPr>
            <p:cNvPr id="3095" name="Freeform 23"/>
            <p:cNvSpPr>
              <a:spLocks/>
            </p:cNvSpPr>
            <p:nvPr/>
          </p:nvSpPr>
          <p:spPr bwMode="ltGray">
            <a:xfrm flipH="1">
              <a:off x="-2" y="1536"/>
              <a:ext cx="5762" cy="412"/>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3096"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smtClean="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smtClean="0"/>
              <a:t>Click to edit Master subtitle style</a:t>
            </a:r>
          </a:p>
        </p:txBody>
      </p:sp>
      <p:sp>
        <p:nvSpPr>
          <p:cNvPr id="3099" name="Rectangle 27"/>
          <p:cNvSpPr>
            <a:spLocks noGrp="1" noChangeArrowheads="1"/>
          </p:cNvSpPr>
          <p:nvPr>
            <p:ph type="dt" sz="half" idx="2"/>
          </p:nvPr>
        </p:nvSpPr>
        <p:spPr>
          <a:xfrm>
            <a:off x="1166813" y="6248400"/>
            <a:ext cx="1905000" cy="457200"/>
          </a:xfrm>
        </p:spPr>
        <p:txBody>
          <a:bodyPr/>
          <a:lstStyle>
            <a:lvl1pPr>
              <a:defRPr>
                <a:solidFill>
                  <a:srgbClr val="000000"/>
                </a:solidFill>
              </a:defRPr>
            </a:lvl1pPr>
          </a:lstStyle>
          <a:p>
            <a:endParaRPr lang="en-US"/>
          </a:p>
        </p:txBody>
      </p:sp>
      <p:sp>
        <p:nvSpPr>
          <p:cNvPr id="3100" name="Rectangle 28"/>
          <p:cNvSpPr>
            <a:spLocks noGrp="1" noChangeArrowheads="1"/>
          </p:cNvSpPr>
          <p:nvPr>
            <p:ph type="ftr" sz="quarter" idx="3"/>
          </p:nvPr>
        </p:nvSpPr>
        <p:spPr/>
        <p:txBody>
          <a:bodyPr/>
          <a:lstStyle>
            <a:lvl1pPr>
              <a:defRPr>
                <a:solidFill>
                  <a:srgbClr val="000000"/>
                </a:solidFill>
              </a:defRPr>
            </a:lvl1pPr>
          </a:lstStyle>
          <a:p>
            <a:endParaRPr lang="en-US"/>
          </a:p>
        </p:txBody>
      </p:sp>
      <p:sp>
        <p:nvSpPr>
          <p:cNvPr id="3101" name="Rectangle 29"/>
          <p:cNvSpPr>
            <a:spLocks noGrp="1" noChangeArrowheads="1"/>
          </p:cNvSpPr>
          <p:nvPr>
            <p:ph type="sldNum" sz="quarter" idx="4"/>
          </p:nvPr>
        </p:nvSpPr>
        <p:spPr/>
        <p:txBody>
          <a:bodyPr/>
          <a:lstStyle>
            <a:lvl1pPr>
              <a:defRPr>
                <a:solidFill>
                  <a:srgbClr val="000000"/>
                </a:solidFill>
              </a:defRPr>
            </a:lvl1pPr>
          </a:lstStyle>
          <a:p>
            <a:fld id="{3520DE96-266E-4586-B6BD-DEB1B281131D}" type="slidenum">
              <a:rPr lang="en-US"/>
              <a:pPr/>
              <a:t>‹#›</a:t>
            </a:fld>
            <a:endParaRPr lang="en-US"/>
          </a:p>
        </p:txBody>
      </p:sp>
    </p:spTree>
    <p:extLst>
      <p:ext uri="{BB962C8B-B14F-4D97-AF65-F5344CB8AC3E}">
        <p14:creationId xmlns:p14="http://schemas.microsoft.com/office/powerpoint/2010/main" val="97050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C85F123-173A-4DB5-A1B3-1BD03F273BC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166726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8F23864-4B50-42DA-B9FD-4DADDF163660}"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419918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173163"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35563"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EDE2CBE-4A78-40CA-B4CD-D210B918D82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247029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44C01118-C48F-4ABA-B984-6877B89A052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67992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2F8EA986-509F-4AA4-A66F-149C902CD218}"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787489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8C771956-CCF4-4338-B297-3B9532A0ACB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497032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86841323-ECAD-461B-B105-B49E937E4AD1}"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862654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B365B615-AA3E-442A-AC82-3FE9065DF10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95320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1F985312-A75A-4CCB-ADFA-5A0358B8219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87051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F565D14-8248-4B57-A779-B609919722A7}"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323668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173163"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35563"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a:xfrm>
            <a:off x="7010400" y="6248400"/>
            <a:ext cx="1905000" cy="457200"/>
          </a:xfrm>
        </p:spPr>
        <p:txBody>
          <a:bodyPr/>
          <a:lstStyle>
            <a:lvl1pPr>
              <a:defRPr/>
            </a:lvl1pPr>
          </a:lstStyle>
          <a:p>
            <a:fld id="{ED5AD940-660F-4FA7-9F43-CF2BDF87658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1352935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1173163"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5135563"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1173163"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5135563"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7010400" y="6248400"/>
            <a:ext cx="1905000" cy="457200"/>
          </a:xfrm>
        </p:spPr>
        <p:txBody>
          <a:bodyPr/>
          <a:lstStyle>
            <a:lvl1pPr>
              <a:defRPr/>
            </a:lvl1pPr>
          </a:lstStyle>
          <a:p>
            <a:fld id="{966A5A1A-9CFE-41C9-BCDD-E395DA8477B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84871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08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73"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Process</a:t>
            </a:r>
          </a:p>
        </p:txBody>
      </p:sp>
      <p:sp>
        <p:nvSpPr>
          <p:cNvPr id="2074"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Klicka här för att ändra format på bakgrundstexten</a:t>
            </a:r>
          </a:p>
          <a:p>
            <a:pPr lvl="1"/>
            <a:r>
              <a:rPr lang="en-US" smtClean="0"/>
              <a:t>Nivå två</a:t>
            </a:r>
          </a:p>
          <a:p>
            <a:pPr lvl="2"/>
            <a:r>
              <a:rPr lang="en-US" smtClean="0"/>
              <a:t>Nivå tre</a:t>
            </a:r>
          </a:p>
          <a:p>
            <a:pPr lvl="3"/>
            <a:r>
              <a:rPr lang="en-US" smtClean="0"/>
              <a:t>Nivå fyra</a:t>
            </a:r>
          </a:p>
          <a:p>
            <a:pPr lvl="4"/>
            <a:r>
              <a:rPr lang="en-US" smtClean="0"/>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latin typeface="+mn-lt"/>
              </a:defRPr>
            </a:lvl1pPr>
          </a:lstStyle>
          <a:p>
            <a:endParaRPr lang="en-US">
              <a:solidFill>
                <a:srgbClr val="000000"/>
              </a:solidFill>
            </a:endParaRPr>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latin typeface="+mn-lt"/>
              </a:defRPr>
            </a:lvl1pPr>
          </a:lstStyle>
          <a:p>
            <a:endParaRPr lang="en-US">
              <a:solidFill>
                <a:srgbClr val="000000"/>
              </a:solidFill>
            </a:endParaRPr>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latin typeface="+mn-lt"/>
              </a:defRPr>
            </a:lvl1pPr>
          </a:lstStyle>
          <a:p>
            <a:fld id="{EF6CF669-D51C-4507-8EE9-94C79FC23D25}" type="slidenum">
              <a:rPr lang="en-US">
                <a:solidFill>
                  <a:srgbClr val="000000"/>
                </a:solidFill>
              </a:rPr>
              <a:pPr/>
              <a:t>‹#›</a:t>
            </a:fld>
            <a:endParaRPr lang="en-US">
              <a:solidFill>
                <a:srgbClr val="000000"/>
              </a:solidFill>
            </a:endParaRPr>
          </a:p>
        </p:txBody>
      </p:sp>
      <p:sp>
        <p:nvSpPr>
          <p:cNvPr id="2081"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82"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2075993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pitchFamily="2" charset="2"/>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pitchFamily="2" charset="2"/>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pitchFamily="2" charset="2"/>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testing</a:t>
            </a:r>
          </a:p>
        </p:txBody>
      </p:sp>
      <p:sp>
        <p:nvSpPr>
          <p:cNvPr id="3" name="Content Placeholder 2"/>
          <p:cNvSpPr>
            <a:spLocks noGrp="1"/>
          </p:cNvSpPr>
          <p:nvPr>
            <p:ph idx="1"/>
          </p:nvPr>
        </p:nvSpPr>
        <p:spPr>
          <a:xfrm>
            <a:off x="914400" y="1600200"/>
            <a:ext cx="7772400" cy="4114800"/>
          </a:xfrm>
        </p:spPr>
        <p:txBody>
          <a:bodyPr/>
          <a:lstStyle/>
          <a:p>
            <a:pPr algn="just"/>
            <a:r>
              <a:rPr lang="en-US" sz="2400" dirty="0"/>
              <a:t>System testing during development involves integrating components to create a version of the system and then testing the integrated system.</a:t>
            </a:r>
          </a:p>
          <a:p>
            <a:pPr algn="just"/>
            <a:r>
              <a:rPr lang="en-US" sz="2400" dirty="0"/>
              <a:t>The focus in system testing is testing the interactions between components. </a:t>
            </a:r>
          </a:p>
          <a:p>
            <a:pPr algn="just"/>
            <a:r>
              <a:rPr lang="en-US" sz="2400" dirty="0"/>
              <a:t>System testing checks that components are compatible, interact correctly and transfer the right data at the right time across their interfaces. </a:t>
            </a:r>
          </a:p>
          <a:p>
            <a:pPr algn="just"/>
            <a:r>
              <a:rPr lang="en-US" sz="2400" dirty="0"/>
              <a:t>System testing tests the emergent </a:t>
            </a:r>
            <a:r>
              <a:rPr lang="en-US" sz="2400" dirty="0" smtClean="0"/>
              <a:t>behavior </a:t>
            </a:r>
            <a:r>
              <a:rPr lang="en-US" sz="2400" dirty="0"/>
              <a:t>of a system. </a:t>
            </a:r>
          </a:p>
          <a:p>
            <a:pPr algn="just"/>
            <a:endParaRPr lang="en-US" sz="2400" dirty="0"/>
          </a:p>
        </p:txBody>
      </p:sp>
    </p:spTree>
    <p:extLst>
      <p:ext uri="{BB962C8B-B14F-4D97-AF65-F5344CB8AC3E}">
        <p14:creationId xmlns:p14="http://schemas.microsoft.com/office/powerpoint/2010/main" val="1736770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dirty="0"/>
              <a:t>System </a:t>
            </a:r>
            <a:r>
              <a:rPr lang="en-US" dirty="0" smtClean="0"/>
              <a:t>testing and components </a:t>
            </a:r>
            <a:endParaRPr lang="en-US" dirty="0"/>
          </a:p>
        </p:txBody>
      </p:sp>
      <p:sp>
        <p:nvSpPr>
          <p:cNvPr id="3" name="Content Placeholder 2"/>
          <p:cNvSpPr>
            <a:spLocks noGrp="1"/>
          </p:cNvSpPr>
          <p:nvPr>
            <p:ph idx="1"/>
          </p:nvPr>
        </p:nvSpPr>
        <p:spPr>
          <a:xfrm>
            <a:off x="914400" y="1219200"/>
            <a:ext cx="7772400" cy="4114800"/>
          </a:xfrm>
        </p:spPr>
        <p:txBody>
          <a:bodyPr/>
          <a:lstStyle/>
          <a:p>
            <a:pPr algn="just"/>
            <a:r>
              <a:rPr lang="en-US" sz="2800" dirty="0"/>
              <a:t>During system testing, </a:t>
            </a:r>
            <a:r>
              <a:rPr lang="en-US" sz="2800" b="1" dirty="0"/>
              <a:t>reusable components </a:t>
            </a:r>
            <a:r>
              <a:rPr lang="en-US" sz="2800" dirty="0"/>
              <a:t>that have been separately developed and </a:t>
            </a:r>
            <a:r>
              <a:rPr lang="en-US" sz="2800" b="1" dirty="0"/>
              <a:t>off-the-shelf systems </a:t>
            </a:r>
            <a:r>
              <a:rPr lang="en-US" sz="2800" dirty="0"/>
              <a:t>may be integrated with newly developed components. The complete system is then tested.</a:t>
            </a:r>
            <a:endParaRPr lang="en-GB" sz="2800" dirty="0"/>
          </a:p>
          <a:p>
            <a:pPr algn="just"/>
            <a:r>
              <a:rPr lang="en-US" sz="2800" dirty="0"/>
              <a:t>Components developed by different team members or sub-teams may be integrated at this stage. System testing is a collective rather than an individual process. </a:t>
            </a:r>
          </a:p>
        </p:txBody>
      </p:sp>
    </p:spTree>
    <p:extLst>
      <p:ext uri="{BB962C8B-B14F-4D97-AF65-F5344CB8AC3E}">
        <p14:creationId xmlns:p14="http://schemas.microsoft.com/office/powerpoint/2010/main" val="410768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policies</a:t>
            </a:r>
          </a:p>
        </p:txBody>
      </p:sp>
      <p:sp>
        <p:nvSpPr>
          <p:cNvPr id="3" name="Content Placeholder 2"/>
          <p:cNvSpPr>
            <a:spLocks noGrp="1"/>
          </p:cNvSpPr>
          <p:nvPr>
            <p:ph idx="1"/>
          </p:nvPr>
        </p:nvSpPr>
        <p:spPr>
          <a:xfrm>
            <a:off x="1173163" y="1524000"/>
            <a:ext cx="7772400" cy="4114800"/>
          </a:xfrm>
        </p:spPr>
        <p:txBody>
          <a:bodyPr/>
          <a:lstStyle/>
          <a:p>
            <a:r>
              <a:rPr lang="en-US" sz="2400" dirty="0"/>
              <a:t>Exhaustive system testing where every possible </a:t>
            </a:r>
            <a:r>
              <a:rPr lang="en-US" sz="2400" dirty="0" smtClean="0"/>
              <a:t>program execution </a:t>
            </a:r>
            <a:r>
              <a:rPr lang="en-US" sz="2400" dirty="0"/>
              <a:t>sequence is tested, is </a:t>
            </a:r>
            <a:r>
              <a:rPr lang="en-US" sz="2400" dirty="0" smtClean="0"/>
              <a:t>impossible </a:t>
            </a:r>
          </a:p>
          <a:p>
            <a:r>
              <a:rPr lang="en-US" sz="2400" dirty="0"/>
              <a:t>S</a:t>
            </a:r>
            <a:r>
              <a:rPr lang="en-US" sz="2400" dirty="0" smtClean="0"/>
              <a:t>o </a:t>
            </a:r>
            <a:r>
              <a:rPr lang="en-US" sz="2400" dirty="0"/>
              <a:t>testing policies which define the required system test coverage may be developed.</a:t>
            </a:r>
          </a:p>
          <a:p>
            <a:r>
              <a:rPr lang="en-US" sz="2400" dirty="0"/>
              <a:t>Examples of testing policies:</a:t>
            </a:r>
          </a:p>
          <a:p>
            <a:pPr lvl="1"/>
            <a:r>
              <a:rPr lang="en-US" sz="2400" dirty="0"/>
              <a:t>All system functions that are accessed through menus should be tested.</a:t>
            </a:r>
            <a:endParaRPr lang="en-GB" sz="2400" dirty="0"/>
          </a:p>
          <a:p>
            <a:pPr lvl="1"/>
            <a:r>
              <a:rPr lang="en-US" sz="2400" dirty="0"/>
              <a:t>Combinations of functions (e.g. text formatting) that are accessed through the same menu must be tested.</a:t>
            </a:r>
            <a:endParaRPr lang="en-GB" sz="2400" dirty="0"/>
          </a:p>
          <a:p>
            <a:pPr lvl="1"/>
            <a:r>
              <a:rPr lang="en-US" sz="2400" dirty="0"/>
              <a:t>Where user input is provided, all functions must be tested with both correct and incorrect input.</a:t>
            </a:r>
            <a:endParaRPr lang="en-GB" sz="2400" dirty="0"/>
          </a:p>
          <a:p>
            <a:endParaRPr lang="en-US" sz="2400" dirty="0"/>
          </a:p>
        </p:txBody>
      </p:sp>
    </p:spTree>
    <p:extLst>
      <p:ext uri="{BB962C8B-B14F-4D97-AF65-F5344CB8AC3E}">
        <p14:creationId xmlns:p14="http://schemas.microsoft.com/office/powerpoint/2010/main" val="1999657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Test-driven development</a:t>
            </a:r>
          </a:p>
        </p:txBody>
      </p:sp>
      <p:sp>
        <p:nvSpPr>
          <p:cNvPr id="3" name="Content Placeholder 2"/>
          <p:cNvSpPr>
            <a:spLocks noGrp="1"/>
          </p:cNvSpPr>
          <p:nvPr>
            <p:ph idx="1"/>
          </p:nvPr>
        </p:nvSpPr>
        <p:spPr>
          <a:xfrm>
            <a:off x="914400" y="1524000"/>
            <a:ext cx="7772400" cy="4114800"/>
          </a:xfrm>
        </p:spPr>
        <p:txBody>
          <a:bodyPr/>
          <a:lstStyle/>
          <a:p>
            <a:pPr algn="just"/>
            <a:r>
              <a:rPr lang="en-US" sz="2400" dirty="0"/>
              <a:t>Test-driven development (TDD) is an approach to program development in which you inter-leave testing and code development.</a:t>
            </a:r>
          </a:p>
          <a:p>
            <a:pPr algn="just"/>
            <a:r>
              <a:rPr lang="en-US" sz="2400" b="1" dirty="0"/>
              <a:t>Tests are written before code </a:t>
            </a:r>
            <a:r>
              <a:rPr lang="en-US" sz="2400" dirty="0"/>
              <a:t>and ‘passing’ the tests is the critical driver of development. </a:t>
            </a:r>
          </a:p>
          <a:p>
            <a:pPr algn="just"/>
            <a:r>
              <a:rPr lang="en-US" sz="2400" dirty="0"/>
              <a:t>You develop code incrementally, along with a test for that increment. You don’t move on to the next increment until the code that you have developed passes its test. </a:t>
            </a:r>
          </a:p>
          <a:p>
            <a:pPr algn="just"/>
            <a:r>
              <a:rPr lang="en-US" sz="2400" dirty="0"/>
              <a:t>TDD was introduced as part of agile methods such as Extreme Programming. However, it can also be used in plan-driven development processes. </a:t>
            </a:r>
            <a:endParaRPr lang="en-GB" sz="2400" dirty="0"/>
          </a:p>
          <a:p>
            <a:pPr algn="just"/>
            <a:endParaRPr lang="en-US" sz="2400" dirty="0"/>
          </a:p>
        </p:txBody>
      </p:sp>
    </p:spTree>
    <p:extLst>
      <p:ext uri="{BB962C8B-B14F-4D97-AF65-F5344CB8AC3E}">
        <p14:creationId xmlns:p14="http://schemas.microsoft.com/office/powerpoint/2010/main" val="3409210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Test-driven </a:t>
            </a:r>
            <a:r>
              <a:rPr lang="en-US" dirty="0" smtClean="0"/>
              <a:t>development process</a:t>
            </a:r>
            <a:endParaRPr lang="en-US" dirty="0"/>
          </a:p>
        </p:txBody>
      </p:sp>
      <p:pic>
        <p:nvPicPr>
          <p:cNvPr id="6" name="Picture 5"/>
          <p:cNvPicPr>
            <a:picLocks noChangeAspect="1"/>
          </p:cNvPicPr>
          <p:nvPr/>
        </p:nvPicPr>
        <p:blipFill>
          <a:blip r:embed="rId2"/>
          <a:stretch>
            <a:fillRect/>
          </a:stretch>
        </p:blipFill>
        <p:spPr>
          <a:xfrm>
            <a:off x="1051383" y="2286000"/>
            <a:ext cx="7292702" cy="2209800"/>
          </a:xfrm>
          <a:prstGeom prst="rect">
            <a:avLst/>
          </a:prstGeom>
        </p:spPr>
      </p:pic>
    </p:spTree>
    <p:extLst>
      <p:ext uri="{BB962C8B-B14F-4D97-AF65-F5344CB8AC3E}">
        <p14:creationId xmlns:p14="http://schemas.microsoft.com/office/powerpoint/2010/main" val="21605609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TDD process activities</a:t>
            </a:r>
          </a:p>
        </p:txBody>
      </p:sp>
      <p:sp>
        <p:nvSpPr>
          <p:cNvPr id="3" name="Content Placeholder 2"/>
          <p:cNvSpPr>
            <a:spLocks noGrp="1"/>
          </p:cNvSpPr>
          <p:nvPr>
            <p:ph idx="1"/>
          </p:nvPr>
        </p:nvSpPr>
        <p:spPr>
          <a:xfrm>
            <a:off x="457200" y="1676400"/>
            <a:ext cx="8153400" cy="4114800"/>
          </a:xfrm>
        </p:spPr>
        <p:txBody>
          <a:bodyPr/>
          <a:lstStyle/>
          <a:p>
            <a:pPr algn="just"/>
            <a:r>
              <a:rPr lang="en-US" sz="2400" dirty="0"/>
              <a:t>Start by identifying the </a:t>
            </a:r>
            <a:r>
              <a:rPr lang="en-US" sz="2400" b="1" dirty="0"/>
              <a:t>increment of functionality</a:t>
            </a:r>
            <a:r>
              <a:rPr lang="en-US" sz="2400" dirty="0"/>
              <a:t> that is required. This should normally be small and implementable in a few lines of code.</a:t>
            </a:r>
            <a:endParaRPr lang="en-GB" sz="2400" dirty="0"/>
          </a:p>
          <a:p>
            <a:pPr algn="just"/>
            <a:r>
              <a:rPr lang="en-US" sz="2400" b="1" dirty="0"/>
              <a:t>Write a test for this functionality</a:t>
            </a:r>
            <a:r>
              <a:rPr lang="en-US" sz="2400" dirty="0"/>
              <a:t> and implement this as an automated test. </a:t>
            </a:r>
            <a:endParaRPr lang="en-GB" sz="2400" dirty="0"/>
          </a:p>
          <a:p>
            <a:pPr algn="just"/>
            <a:r>
              <a:rPr lang="en-US" sz="2400" b="1" dirty="0"/>
              <a:t>Run the test</a:t>
            </a:r>
            <a:r>
              <a:rPr lang="en-US" sz="2400" dirty="0"/>
              <a:t>, </a:t>
            </a:r>
            <a:r>
              <a:rPr lang="en-US" sz="2400" b="1" dirty="0"/>
              <a:t>along with all other tests</a:t>
            </a:r>
            <a:r>
              <a:rPr lang="en-US" sz="2400" dirty="0"/>
              <a:t> that have been implemented. Initially, you have not implemented the functionality </a:t>
            </a:r>
            <a:r>
              <a:rPr lang="en-US" sz="2400" b="1" dirty="0"/>
              <a:t>so the new test will fail</a:t>
            </a:r>
            <a:r>
              <a:rPr lang="en-US" sz="2400" dirty="0"/>
              <a:t>. </a:t>
            </a:r>
            <a:endParaRPr lang="en-GB" sz="2400" dirty="0"/>
          </a:p>
          <a:p>
            <a:pPr algn="just"/>
            <a:r>
              <a:rPr lang="en-US" sz="2400" dirty="0"/>
              <a:t>Implement the functionality and re-run the test. </a:t>
            </a:r>
            <a:endParaRPr lang="en-GB" sz="2400" dirty="0"/>
          </a:p>
          <a:p>
            <a:pPr algn="just"/>
            <a:r>
              <a:rPr lang="en-US" sz="2400" dirty="0"/>
              <a:t>Once all tests run successfully, you move on to implementing the next chunk of functionality.</a:t>
            </a:r>
            <a:endParaRPr lang="en-GB" sz="2400" dirty="0"/>
          </a:p>
          <a:p>
            <a:pPr algn="just"/>
            <a:endParaRPr lang="en-US" sz="2400" dirty="0"/>
          </a:p>
        </p:txBody>
      </p:sp>
    </p:spTree>
    <p:extLst>
      <p:ext uri="{BB962C8B-B14F-4D97-AF65-F5344CB8AC3E}">
        <p14:creationId xmlns:p14="http://schemas.microsoft.com/office/powerpoint/2010/main" val="2813471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4000" dirty="0"/>
              <a:t>Benefits of test-driven development</a:t>
            </a:r>
          </a:p>
        </p:txBody>
      </p:sp>
      <p:sp>
        <p:nvSpPr>
          <p:cNvPr id="3" name="Content Placeholder 2"/>
          <p:cNvSpPr>
            <a:spLocks noGrp="1"/>
          </p:cNvSpPr>
          <p:nvPr>
            <p:ph idx="1"/>
          </p:nvPr>
        </p:nvSpPr>
        <p:spPr>
          <a:xfrm>
            <a:off x="1066800" y="1219200"/>
            <a:ext cx="7772400" cy="4114800"/>
          </a:xfrm>
        </p:spPr>
        <p:txBody>
          <a:bodyPr/>
          <a:lstStyle/>
          <a:p>
            <a:r>
              <a:rPr lang="en-US" sz="2400" b="1" dirty="0">
                <a:solidFill>
                  <a:srgbClr val="000000"/>
                </a:solidFill>
              </a:rPr>
              <a:t>Code coverage </a:t>
            </a:r>
          </a:p>
          <a:p>
            <a:pPr lvl="1"/>
            <a:r>
              <a:rPr lang="en-US" sz="2000" dirty="0"/>
              <a:t>Every code segment that you write has at least one associated test so all code written has at least one test.</a:t>
            </a:r>
            <a:endParaRPr lang="en-GB" sz="2000" dirty="0"/>
          </a:p>
          <a:p>
            <a:r>
              <a:rPr lang="en-US" sz="2400" b="1" dirty="0">
                <a:solidFill>
                  <a:srgbClr val="000000"/>
                </a:solidFill>
              </a:rPr>
              <a:t>Regression testing</a:t>
            </a:r>
            <a:r>
              <a:rPr lang="en-US" sz="2400" dirty="0">
                <a:solidFill>
                  <a:srgbClr val="000000"/>
                </a:solidFill>
              </a:rPr>
              <a:t> </a:t>
            </a:r>
          </a:p>
          <a:p>
            <a:pPr lvl="1"/>
            <a:r>
              <a:rPr lang="en-US" sz="2000" dirty="0"/>
              <a:t>A regression test suite is developed incrementally as a program is developed. </a:t>
            </a:r>
            <a:endParaRPr lang="en-GB" sz="2000" dirty="0"/>
          </a:p>
          <a:p>
            <a:r>
              <a:rPr lang="en-US" sz="2400" b="1" dirty="0">
                <a:solidFill>
                  <a:srgbClr val="000000"/>
                </a:solidFill>
              </a:rPr>
              <a:t>Simplified debugging</a:t>
            </a:r>
            <a:r>
              <a:rPr lang="en-US" sz="2400" dirty="0">
                <a:solidFill>
                  <a:srgbClr val="000000"/>
                </a:solidFill>
              </a:rPr>
              <a:t> </a:t>
            </a:r>
          </a:p>
          <a:p>
            <a:pPr lvl="1"/>
            <a:r>
              <a:rPr lang="en-US" sz="2000" dirty="0"/>
              <a:t>When a test fails, it should be obvious where the problem lies. The newly written code needs to be checked and modified. </a:t>
            </a:r>
            <a:endParaRPr lang="en-GB" sz="2000" dirty="0"/>
          </a:p>
          <a:p>
            <a:r>
              <a:rPr lang="en-US" sz="2400" b="1" dirty="0">
                <a:solidFill>
                  <a:srgbClr val="000000"/>
                </a:solidFill>
              </a:rPr>
              <a:t>System documentation</a:t>
            </a:r>
            <a:r>
              <a:rPr lang="en-US" sz="2400" dirty="0">
                <a:solidFill>
                  <a:srgbClr val="000000"/>
                </a:solidFill>
              </a:rPr>
              <a:t> </a:t>
            </a:r>
          </a:p>
          <a:p>
            <a:pPr lvl="1"/>
            <a:r>
              <a:rPr lang="en-US" sz="2000" dirty="0"/>
              <a:t>The tests themselves are a form of documentation that describe what the code should be doing. </a:t>
            </a:r>
            <a:endParaRPr lang="en-GB" sz="2000" dirty="0"/>
          </a:p>
          <a:p>
            <a:endParaRPr lang="en-US" sz="2400" dirty="0"/>
          </a:p>
        </p:txBody>
      </p:sp>
    </p:spTree>
    <p:extLst>
      <p:ext uri="{BB962C8B-B14F-4D97-AF65-F5344CB8AC3E}">
        <p14:creationId xmlns:p14="http://schemas.microsoft.com/office/powerpoint/2010/main" val="205894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 testing</a:t>
            </a:r>
          </a:p>
        </p:txBody>
      </p:sp>
      <p:sp>
        <p:nvSpPr>
          <p:cNvPr id="3" name="Content Placeholder 2"/>
          <p:cNvSpPr>
            <a:spLocks noGrp="1"/>
          </p:cNvSpPr>
          <p:nvPr>
            <p:ph idx="1"/>
          </p:nvPr>
        </p:nvSpPr>
        <p:spPr>
          <a:xfrm>
            <a:off x="838200" y="1600200"/>
            <a:ext cx="7772400" cy="4114800"/>
          </a:xfrm>
        </p:spPr>
        <p:txBody>
          <a:bodyPr/>
          <a:lstStyle/>
          <a:p>
            <a:pPr algn="just"/>
            <a:r>
              <a:rPr lang="en-US" sz="2800" dirty="0"/>
              <a:t>Regression testing is testing the system to check that changes have not ‘broken’ previously working code.</a:t>
            </a:r>
          </a:p>
          <a:p>
            <a:pPr algn="just"/>
            <a:r>
              <a:rPr lang="en-US" sz="2800" dirty="0"/>
              <a:t>In a </a:t>
            </a:r>
            <a:r>
              <a:rPr lang="en-US" sz="2800" b="1" dirty="0"/>
              <a:t>manual testing process</a:t>
            </a:r>
            <a:r>
              <a:rPr lang="en-US" sz="2800" dirty="0"/>
              <a:t>, </a:t>
            </a:r>
            <a:r>
              <a:rPr lang="en-US" sz="2800" b="1" dirty="0"/>
              <a:t>regression testing is expensive</a:t>
            </a:r>
            <a:r>
              <a:rPr lang="en-US" sz="2800" dirty="0"/>
              <a:t> but, with </a:t>
            </a:r>
            <a:r>
              <a:rPr lang="en-US" sz="2800" b="1" dirty="0"/>
              <a:t>automated testing</a:t>
            </a:r>
            <a:r>
              <a:rPr lang="en-US" sz="2800" dirty="0"/>
              <a:t>, it is </a:t>
            </a:r>
            <a:r>
              <a:rPr lang="en-US" sz="2800" b="1" dirty="0"/>
              <a:t>simple and straightforward</a:t>
            </a:r>
            <a:r>
              <a:rPr lang="en-US" sz="2800" dirty="0"/>
              <a:t>. All tests are rerun every time a change is made to the program.</a:t>
            </a:r>
          </a:p>
          <a:p>
            <a:pPr algn="just"/>
            <a:r>
              <a:rPr lang="en-US" sz="2800" dirty="0"/>
              <a:t>Tests must run ‘successfully’ before the change is committed.</a:t>
            </a:r>
          </a:p>
          <a:p>
            <a:pPr algn="just"/>
            <a:endParaRPr lang="en-US" sz="2800" dirty="0"/>
          </a:p>
        </p:txBody>
      </p:sp>
    </p:spTree>
    <p:extLst>
      <p:ext uri="{BB962C8B-B14F-4D97-AF65-F5344CB8AC3E}">
        <p14:creationId xmlns:p14="http://schemas.microsoft.com/office/powerpoint/2010/main" val="161896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Release testing</a:t>
            </a:r>
          </a:p>
        </p:txBody>
      </p:sp>
      <p:sp>
        <p:nvSpPr>
          <p:cNvPr id="3" name="Content Placeholder 2"/>
          <p:cNvSpPr>
            <a:spLocks noGrp="1"/>
          </p:cNvSpPr>
          <p:nvPr>
            <p:ph idx="1"/>
          </p:nvPr>
        </p:nvSpPr>
        <p:spPr>
          <a:xfrm>
            <a:off x="914400" y="1676400"/>
            <a:ext cx="7772400" cy="4114800"/>
          </a:xfrm>
        </p:spPr>
        <p:txBody>
          <a:bodyPr/>
          <a:lstStyle/>
          <a:p>
            <a:pPr algn="just"/>
            <a:r>
              <a:rPr lang="en-US" sz="2400" dirty="0"/>
              <a:t>Release testing is the process of testing a particular release of a system that is intended for use outside of the development team.</a:t>
            </a:r>
            <a:r>
              <a:rPr lang="en-GB" sz="2400" dirty="0"/>
              <a:t> </a:t>
            </a:r>
          </a:p>
          <a:p>
            <a:pPr algn="just"/>
            <a:r>
              <a:rPr lang="en-US" sz="2400" dirty="0"/>
              <a:t>The primary goal of the release testing process is to convince the supplier of the system that it is good enough for use</a:t>
            </a:r>
            <a:r>
              <a:rPr lang="en-GB" sz="2400" dirty="0"/>
              <a:t>.</a:t>
            </a:r>
          </a:p>
          <a:p>
            <a:pPr lvl="1" algn="just"/>
            <a:r>
              <a:rPr lang="en-US" sz="2000" dirty="0"/>
              <a:t>Release testing, therefore, has to show that the system delivers its specified functionality, performance and dependability, and that it does not fail during normal use.</a:t>
            </a:r>
            <a:r>
              <a:rPr lang="en-GB" sz="2000" dirty="0"/>
              <a:t> </a:t>
            </a:r>
          </a:p>
          <a:p>
            <a:pPr algn="just"/>
            <a:r>
              <a:rPr lang="en-US" sz="2400" dirty="0"/>
              <a:t>Release testing is usually </a:t>
            </a:r>
            <a:r>
              <a:rPr lang="en-US" sz="2400" b="1" dirty="0"/>
              <a:t>a black-box testing </a:t>
            </a:r>
            <a:r>
              <a:rPr lang="en-US" sz="2400" dirty="0"/>
              <a:t>process where tests are only derived from the system specification. </a:t>
            </a:r>
            <a:endParaRPr lang="en-GB" sz="2400" dirty="0"/>
          </a:p>
          <a:p>
            <a:pPr algn="just"/>
            <a:endParaRPr lang="en-US" sz="2400" dirty="0"/>
          </a:p>
        </p:txBody>
      </p:sp>
    </p:spTree>
    <p:extLst>
      <p:ext uri="{BB962C8B-B14F-4D97-AF65-F5344CB8AC3E}">
        <p14:creationId xmlns:p14="http://schemas.microsoft.com/office/powerpoint/2010/main" val="596576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4000" dirty="0"/>
              <a:t>Release testing and system testing</a:t>
            </a:r>
          </a:p>
        </p:txBody>
      </p:sp>
      <p:sp>
        <p:nvSpPr>
          <p:cNvPr id="3" name="Content Placeholder 2"/>
          <p:cNvSpPr>
            <a:spLocks noGrp="1"/>
          </p:cNvSpPr>
          <p:nvPr>
            <p:ph idx="1"/>
          </p:nvPr>
        </p:nvSpPr>
        <p:spPr>
          <a:xfrm>
            <a:off x="838200" y="1371600"/>
            <a:ext cx="7772400" cy="4114800"/>
          </a:xfrm>
        </p:spPr>
        <p:txBody>
          <a:bodyPr/>
          <a:lstStyle/>
          <a:p>
            <a:pPr algn="just"/>
            <a:r>
              <a:rPr lang="en-US" sz="2800" dirty="0"/>
              <a:t>Release testing is a form of system testing.</a:t>
            </a:r>
          </a:p>
          <a:p>
            <a:pPr algn="just"/>
            <a:r>
              <a:rPr lang="en-US" sz="2800" dirty="0"/>
              <a:t>Important differences:</a:t>
            </a:r>
          </a:p>
          <a:p>
            <a:pPr lvl="1" algn="just"/>
            <a:r>
              <a:rPr lang="en-US" sz="2400" dirty="0"/>
              <a:t>A separate team that has not been involved in the system development, should be responsible for release testing.</a:t>
            </a:r>
            <a:endParaRPr lang="en-GB" sz="2400" dirty="0"/>
          </a:p>
          <a:p>
            <a:pPr lvl="1" algn="just"/>
            <a:r>
              <a:rPr lang="en-US" sz="2400" dirty="0"/>
              <a:t>System testing by the development team should focus on discovering bugs in the system (defect testing). The objective of release testing is to check that the system meets its requirements and is good enough for external use (validation testing).</a:t>
            </a:r>
            <a:endParaRPr lang="en-GB" sz="2400" dirty="0"/>
          </a:p>
          <a:p>
            <a:pPr algn="just"/>
            <a:endParaRPr lang="en-US" sz="2800" dirty="0"/>
          </a:p>
        </p:txBody>
      </p:sp>
    </p:spTree>
    <p:extLst>
      <p:ext uri="{BB962C8B-B14F-4D97-AF65-F5344CB8AC3E}">
        <p14:creationId xmlns:p14="http://schemas.microsoft.com/office/powerpoint/2010/main" val="324712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based testing</a:t>
            </a:r>
          </a:p>
        </p:txBody>
      </p:sp>
      <p:sp>
        <p:nvSpPr>
          <p:cNvPr id="3" name="Content Placeholder 2"/>
          <p:cNvSpPr>
            <a:spLocks noGrp="1"/>
          </p:cNvSpPr>
          <p:nvPr>
            <p:ph idx="1"/>
          </p:nvPr>
        </p:nvSpPr>
        <p:spPr>
          <a:xfrm>
            <a:off x="1173163" y="1676400"/>
            <a:ext cx="7772400" cy="4114800"/>
          </a:xfrm>
        </p:spPr>
        <p:txBody>
          <a:bodyPr/>
          <a:lstStyle/>
          <a:p>
            <a:r>
              <a:rPr lang="en-US" sz="2800" dirty="0"/>
              <a:t>Requirements-based testing involves examining each requirement and developing a test or tests for it.</a:t>
            </a:r>
          </a:p>
          <a:p>
            <a:r>
              <a:rPr lang="en-US" sz="2800" dirty="0"/>
              <a:t>MHC-PMS requirements:</a:t>
            </a:r>
          </a:p>
          <a:p>
            <a:pPr lvl="1"/>
            <a:r>
              <a:rPr lang="en-US" sz="2400" dirty="0"/>
              <a:t>If a patient is known to be allergic to any particular medication, then prescription of that medication shall result in a warning message being issued to the system user.</a:t>
            </a:r>
            <a:endParaRPr lang="en-GB" sz="2400" dirty="0"/>
          </a:p>
          <a:p>
            <a:pPr lvl="1"/>
            <a:r>
              <a:rPr lang="en-US" sz="2400" dirty="0"/>
              <a:t>If a prescriber chooses to ignore an allergy warning, they shall provide a reason why this has been ignored.</a:t>
            </a:r>
            <a:endParaRPr lang="en-GB" sz="2400" dirty="0"/>
          </a:p>
          <a:p>
            <a:endParaRPr lang="en-US" sz="2800" dirty="0"/>
          </a:p>
        </p:txBody>
      </p:sp>
    </p:spTree>
    <p:extLst>
      <p:ext uri="{BB962C8B-B14F-4D97-AF65-F5344CB8AC3E}">
        <p14:creationId xmlns:p14="http://schemas.microsoft.com/office/powerpoint/2010/main" val="639044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tests</a:t>
            </a:r>
          </a:p>
        </p:txBody>
      </p:sp>
      <p:sp>
        <p:nvSpPr>
          <p:cNvPr id="3" name="Content Placeholder 2"/>
          <p:cNvSpPr>
            <a:spLocks noGrp="1"/>
          </p:cNvSpPr>
          <p:nvPr>
            <p:ph idx="1"/>
          </p:nvPr>
        </p:nvSpPr>
        <p:spPr>
          <a:xfrm>
            <a:off x="1066800" y="1752600"/>
            <a:ext cx="7772400" cy="4114800"/>
          </a:xfrm>
        </p:spPr>
        <p:txBody>
          <a:bodyPr/>
          <a:lstStyle/>
          <a:p>
            <a:pPr algn="just"/>
            <a:r>
              <a:rPr lang="en-US" sz="2000" dirty="0"/>
              <a:t>Set up a patient record with </a:t>
            </a:r>
            <a:r>
              <a:rPr lang="en-US" sz="2000" b="1" dirty="0"/>
              <a:t>no known allergies</a:t>
            </a:r>
            <a:r>
              <a:rPr lang="en-US" sz="2000" dirty="0"/>
              <a:t>. Prescribe medication for allergies that are known to exist. Check that a warning message is not issued by the system.</a:t>
            </a:r>
            <a:endParaRPr lang="en-GB" sz="2000" dirty="0"/>
          </a:p>
          <a:p>
            <a:pPr algn="just"/>
            <a:r>
              <a:rPr lang="en-US" sz="2000" dirty="0"/>
              <a:t>Set up a patient record with </a:t>
            </a:r>
            <a:r>
              <a:rPr lang="en-US" sz="2000" b="1" dirty="0"/>
              <a:t>a known allergy.</a:t>
            </a:r>
            <a:r>
              <a:rPr lang="en-US" sz="2000" dirty="0"/>
              <a:t> Prescribe the medication to that the patient is allergic to, and check that the warning is issued by the system.</a:t>
            </a:r>
            <a:endParaRPr lang="en-GB" sz="2000" dirty="0"/>
          </a:p>
          <a:p>
            <a:pPr algn="just"/>
            <a:r>
              <a:rPr lang="en-US" sz="2000" dirty="0" smtClean="0"/>
              <a:t>Prescribe </a:t>
            </a:r>
            <a:r>
              <a:rPr lang="en-US" sz="2000" b="1" dirty="0"/>
              <a:t>two drugs</a:t>
            </a:r>
            <a:r>
              <a:rPr lang="en-US" sz="2000" dirty="0"/>
              <a:t> that the patient is allergic to. Check that </a:t>
            </a:r>
            <a:r>
              <a:rPr lang="en-US" sz="2000" b="1" dirty="0"/>
              <a:t>two warnings</a:t>
            </a:r>
            <a:r>
              <a:rPr lang="en-US" sz="2000" dirty="0"/>
              <a:t> are correctly issued.</a:t>
            </a:r>
            <a:endParaRPr lang="en-GB" sz="2000" dirty="0"/>
          </a:p>
          <a:p>
            <a:pPr algn="just"/>
            <a:r>
              <a:rPr lang="en-US" sz="2000" dirty="0"/>
              <a:t>Prescribe a drug that issues a warning and </a:t>
            </a:r>
            <a:r>
              <a:rPr lang="en-US" sz="2000" b="1" dirty="0"/>
              <a:t>overrule that warning</a:t>
            </a:r>
            <a:r>
              <a:rPr lang="en-US" sz="2000" dirty="0"/>
              <a:t>. Check that the system requires the user to provide information explaining why the warning was overruled. </a:t>
            </a:r>
          </a:p>
          <a:p>
            <a:pPr algn="just"/>
            <a:endParaRPr lang="en-US" sz="2000" dirty="0"/>
          </a:p>
        </p:txBody>
      </p:sp>
    </p:spTree>
    <p:extLst>
      <p:ext uri="{BB962C8B-B14F-4D97-AF65-F5344CB8AC3E}">
        <p14:creationId xmlns:p14="http://schemas.microsoft.com/office/powerpoint/2010/main" val="1388352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sz="4000" dirty="0"/>
              <a:t>A usage scenario for the MHC-PMS</a:t>
            </a:r>
            <a:r>
              <a:rPr lang="en-GB" sz="4000" dirty="0"/>
              <a:t> </a:t>
            </a:r>
            <a:endParaRPr lang="en-US" sz="4000" dirty="0"/>
          </a:p>
        </p:txBody>
      </p:sp>
      <p:sp>
        <p:nvSpPr>
          <p:cNvPr id="4" name="Rectangle 3"/>
          <p:cNvSpPr/>
          <p:nvPr/>
        </p:nvSpPr>
        <p:spPr>
          <a:xfrm>
            <a:off x="766100" y="1315819"/>
            <a:ext cx="7597071" cy="5416869"/>
          </a:xfrm>
          <a:prstGeom prst="rect">
            <a:avLst/>
          </a:prstGeom>
          <a:solidFill>
            <a:srgbClr val="FFFF00">
              <a:alpha val="34000"/>
            </a:srgbClr>
          </a:solidFill>
        </p:spPr>
        <p:txBody>
          <a:bodyPr wrap="square">
            <a:spAutoFit/>
          </a:bodyPr>
          <a:lstStyle/>
          <a:p>
            <a:pPr lvl="0" algn="just" defTabSz="914400" fontAlgn="base">
              <a:spcBef>
                <a:spcPct val="0"/>
              </a:spcBef>
              <a:spcAft>
                <a:spcPct val="0"/>
              </a:spcAft>
            </a:pPr>
            <a:r>
              <a:rPr kumimoji="0" lang="en-GB" sz="1600" b="0" i="0" u="none" strike="noStrike" cap="none" normalizeH="0" baseline="0" dirty="0" smtClean="0">
                <a:ln>
                  <a:noFill/>
                </a:ln>
                <a:solidFill>
                  <a:srgbClr val="000000"/>
                </a:solidFill>
                <a:effectLst/>
                <a:latin typeface="Arial"/>
                <a:ea typeface="ＭＳ Ｐゴシック" charset="-128"/>
              </a:rPr>
              <a:t>Kate is a nurse who specializes in mental health care. One of her responsibilities is to visit patients at home to check that their treatment is effective and that they are not suffering from medication side -effects.</a:t>
            </a:r>
          </a:p>
          <a:p>
            <a:pPr lvl="0" defTabSz="914400" fontAlgn="base">
              <a:spcBef>
                <a:spcPct val="0"/>
              </a:spcBef>
              <a:spcAft>
                <a:spcPts val="600"/>
              </a:spcAft>
            </a:pPr>
            <a:r>
              <a:rPr kumimoji="0" lang="en-US" sz="1600" b="0" i="0" u="none" strike="noStrike" cap="none" normalizeH="0" baseline="0" dirty="0" smtClean="0">
                <a:ln>
                  <a:noFill/>
                </a:ln>
                <a:solidFill>
                  <a:schemeClr val="tx1"/>
                </a:solidFill>
                <a:effectLst/>
                <a:latin typeface="Arial"/>
                <a:ea typeface="Calibri" charset="0"/>
              </a:rPr>
              <a:t>On a day for home visits, Kate </a:t>
            </a:r>
            <a:r>
              <a:rPr kumimoji="0" lang="en-US" sz="1600" b="1" i="0" u="none" strike="noStrike" cap="none" normalizeH="0" baseline="0" dirty="0" smtClean="0">
                <a:ln>
                  <a:noFill/>
                </a:ln>
                <a:solidFill>
                  <a:schemeClr val="tx1"/>
                </a:solidFill>
                <a:effectLst/>
                <a:latin typeface="Arial"/>
                <a:ea typeface="Calibri" charset="0"/>
              </a:rPr>
              <a:t>logs into the MHC-PMS</a:t>
            </a:r>
            <a:r>
              <a:rPr kumimoji="0" lang="en-US" sz="1600" b="0" i="0" u="none" strike="noStrike" cap="none" normalizeH="0" baseline="0" dirty="0" smtClean="0">
                <a:ln>
                  <a:noFill/>
                </a:ln>
                <a:solidFill>
                  <a:schemeClr val="tx1"/>
                </a:solidFill>
                <a:effectLst/>
                <a:latin typeface="Arial"/>
                <a:ea typeface="Calibri" charset="0"/>
              </a:rPr>
              <a:t> and  uses it to print her </a:t>
            </a:r>
            <a:r>
              <a:rPr kumimoji="0" lang="en-US" sz="1600" b="1" i="0" u="none" strike="noStrike" cap="none" normalizeH="0" baseline="0" dirty="0" smtClean="0">
                <a:ln>
                  <a:noFill/>
                </a:ln>
                <a:solidFill>
                  <a:schemeClr val="tx1"/>
                </a:solidFill>
                <a:effectLst/>
                <a:latin typeface="Arial"/>
                <a:ea typeface="Calibri" charset="0"/>
              </a:rPr>
              <a:t>schedule of home visits </a:t>
            </a:r>
            <a:r>
              <a:rPr kumimoji="0" lang="en-US" sz="1600" b="0" i="0" u="none" strike="noStrike" cap="none" normalizeH="0" baseline="0" dirty="0" smtClean="0">
                <a:ln>
                  <a:noFill/>
                </a:ln>
                <a:solidFill>
                  <a:schemeClr val="tx1"/>
                </a:solidFill>
                <a:effectLst/>
                <a:latin typeface="Arial"/>
                <a:ea typeface="Calibri" charset="0"/>
              </a:rPr>
              <a:t>for that day, along with summary information about the patients to be visited. She requests that t</a:t>
            </a:r>
            <a:r>
              <a:rPr kumimoji="0" lang="en-US" sz="1600" b="1" i="0" u="none" strike="noStrike" cap="none" normalizeH="0" baseline="0" dirty="0" smtClean="0">
                <a:ln>
                  <a:noFill/>
                </a:ln>
                <a:solidFill>
                  <a:schemeClr val="tx1"/>
                </a:solidFill>
                <a:effectLst/>
                <a:latin typeface="Arial"/>
                <a:ea typeface="Calibri" charset="0"/>
              </a:rPr>
              <a:t>he records</a:t>
            </a:r>
            <a:r>
              <a:rPr kumimoji="0" lang="en-US" sz="1600" b="0" i="0" u="none" strike="noStrike" cap="none" normalizeH="0" baseline="0" dirty="0" smtClean="0">
                <a:ln>
                  <a:noFill/>
                </a:ln>
                <a:solidFill>
                  <a:schemeClr val="tx1"/>
                </a:solidFill>
                <a:effectLst/>
                <a:latin typeface="Arial"/>
                <a:ea typeface="Calibri" charset="0"/>
              </a:rPr>
              <a:t> for these patients </a:t>
            </a:r>
            <a:r>
              <a:rPr kumimoji="0" lang="en-US" sz="1600" b="1" i="0" u="none" strike="noStrike" cap="none" normalizeH="0" baseline="0" dirty="0" smtClean="0">
                <a:ln>
                  <a:noFill/>
                </a:ln>
                <a:solidFill>
                  <a:schemeClr val="tx1"/>
                </a:solidFill>
                <a:effectLst/>
                <a:latin typeface="Arial"/>
                <a:ea typeface="Calibri" charset="0"/>
              </a:rPr>
              <a:t>be downloaded to her laptop</a:t>
            </a:r>
            <a:r>
              <a:rPr kumimoji="0" lang="en-US" sz="1600" b="0" i="0" u="none" strike="noStrike" cap="none" normalizeH="0" baseline="0" dirty="0" smtClean="0">
                <a:ln>
                  <a:noFill/>
                </a:ln>
                <a:solidFill>
                  <a:schemeClr val="tx1"/>
                </a:solidFill>
                <a:effectLst/>
                <a:latin typeface="Arial"/>
                <a:ea typeface="Calibri" charset="0"/>
              </a:rPr>
              <a:t>. She is prompted for her key phrase to </a:t>
            </a:r>
            <a:r>
              <a:rPr kumimoji="0" lang="en-US" sz="1600" b="1" i="0" u="none" strike="noStrike" cap="none" normalizeH="0" baseline="0" dirty="0" smtClean="0">
                <a:ln>
                  <a:noFill/>
                </a:ln>
                <a:solidFill>
                  <a:schemeClr val="tx1"/>
                </a:solidFill>
                <a:effectLst/>
                <a:latin typeface="Arial"/>
                <a:ea typeface="Calibri" charset="0"/>
              </a:rPr>
              <a:t>encrypt the records</a:t>
            </a:r>
            <a:r>
              <a:rPr kumimoji="0" lang="en-US" sz="1600" b="0" i="0" u="none" strike="noStrike" cap="none" normalizeH="0" baseline="0" dirty="0" smtClean="0">
                <a:ln>
                  <a:noFill/>
                </a:ln>
                <a:solidFill>
                  <a:schemeClr val="tx1"/>
                </a:solidFill>
                <a:effectLst/>
                <a:latin typeface="Arial"/>
                <a:ea typeface="Calibri" charset="0"/>
              </a:rPr>
              <a:t> on the laptop.</a:t>
            </a:r>
          </a:p>
          <a:p>
            <a:pPr lvl="0" defTabSz="914400" fontAlgn="base">
              <a:spcBef>
                <a:spcPct val="0"/>
              </a:spcBef>
              <a:spcAft>
                <a:spcPts val="600"/>
              </a:spcAft>
            </a:pPr>
            <a:r>
              <a:rPr kumimoji="0" lang="en-US" sz="1600" b="0" i="0" u="none" strike="noStrike" cap="none" normalizeH="0" baseline="0" dirty="0" smtClean="0">
                <a:ln>
                  <a:noFill/>
                </a:ln>
                <a:solidFill>
                  <a:schemeClr val="tx1"/>
                </a:solidFill>
                <a:effectLst/>
                <a:latin typeface="Arial"/>
                <a:ea typeface="Calibri" charset="0"/>
              </a:rPr>
              <a:t>One of the patients that she visits is Jim, who is being treated with medication for depression. Jim feels that the medication is helping him but believes that it has the side -effect of keeping him awake at night. Kate looks up Jim’s record and is prompted for her key phrase to </a:t>
            </a:r>
            <a:r>
              <a:rPr kumimoji="0" lang="en-US" sz="1600" b="1" i="0" u="none" strike="noStrike" cap="none" normalizeH="0" baseline="0" dirty="0" smtClean="0">
                <a:ln>
                  <a:noFill/>
                </a:ln>
                <a:solidFill>
                  <a:schemeClr val="tx1"/>
                </a:solidFill>
                <a:effectLst/>
                <a:latin typeface="Arial"/>
                <a:ea typeface="Calibri" charset="0"/>
              </a:rPr>
              <a:t>decrypt the record</a:t>
            </a:r>
            <a:r>
              <a:rPr kumimoji="0" lang="en-US" sz="1600" b="0" i="0" u="none" strike="noStrike" cap="none" normalizeH="0" baseline="0" dirty="0" smtClean="0">
                <a:ln>
                  <a:noFill/>
                </a:ln>
                <a:solidFill>
                  <a:schemeClr val="tx1"/>
                </a:solidFill>
                <a:effectLst/>
                <a:latin typeface="Arial"/>
                <a:ea typeface="Calibri" charset="0"/>
              </a:rPr>
              <a:t>. She checks the drug prescribed and </a:t>
            </a:r>
            <a:r>
              <a:rPr kumimoji="0" lang="en-US" sz="1600" b="1" i="0" u="none" strike="noStrike" cap="none" normalizeH="0" baseline="0" dirty="0" smtClean="0">
                <a:ln>
                  <a:noFill/>
                </a:ln>
                <a:solidFill>
                  <a:schemeClr val="tx1"/>
                </a:solidFill>
                <a:effectLst/>
                <a:latin typeface="Arial"/>
                <a:ea typeface="Calibri" charset="0"/>
              </a:rPr>
              <a:t>queries its side effects</a:t>
            </a:r>
            <a:r>
              <a:rPr kumimoji="0" lang="en-US" sz="1600" b="0" i="0" u="none" strike="noStrike" cap="none" normalizeH="0" baseline="0" dirty="0" smtClean="0">
                <a:ln>
                  <a:noFill/>
                </a:ln>
                <a:solidFill>
                  <a:schemeClr val="tx1"/>
                </a:solidFill>
                <a:effectLst/>
                <a:latin typeface="Arial"/>
                <a:ea typeface="Calibri" charset="0"/>
              </a:rPr>
              <a:t>. Sleeplessness is a known side effect so she notes the problem in Jim’s record and suggests that he visits the clinic to have his medication changed. He agrees so Kate </a:t>
            </a:r>
            <a:r>
              <a:rPr kumimoji="0" lang="en-US" sz="1600" b="1" i="0" u="none" strike="noStrike" cap="none" normalizeH="0" baseline="0" dirty="0" smtClean="0">
                <a:ln>
                  <a:noFill/>
                </a:ln>
                <a:solidFill>
                  <a:schemeClr val="tx1"/>
                </a:solidFill>
                <a:effectLst/>
                <a:latin typeface="Arial"/>
                <a:ea typeface="Calibri" charset="0"/>
              </a:rPr>
              <a:t>enters a prompt to call</a:t>
            </a:r>
            <a:r>
              <a:rPr kumimoji="0" lang="en-US" sz="1600" b="0" i="0" u="none" strike="noStrike" cap="none" normalizeH="0" baseline="0" dirty="0" smtClean="0">
                <a:ln>
                  <a:noFill/>
                </a:ln>
                <a:solidFill>
                  <a:schemeClr val="tx1"/>
                </a:solidFill>
                <a:effectLst/>
                <a:latin typeface="Arial"/>
                <a:ea typeface="Calibri" charset="0"/>
              </a:rPr>
              <a:t> him when she gets back to the clinic to make an appointment with a physician. She ends the consultation and the system </a:t>
            </a:r>
            <a:r>
              <a:rPr kumimoji="0" lang="en-US" sz="1600" b="1" i="0" u="none" strike="noStrike" cap="none" normalizeH="0" baseline="0" dirty="0" smtClean="0">
                <a:ln>
                  <a:noFill/>
                </a:ln>
                <a:solidFill>
                  <a:schemeClr val="tx1"/>
                </a:solidFill>
                <a:effectLst/>
                <a:latin typeface="Arial"/>
                <a:ea typeface="Calibri" charset="0"/>
              </a:rPr>
              <a:t>re-encrypts</a:t>
            </a:r>
            <a:r>
              <a:rPr kumimoji="0" lang="en-US" sz="1600" b="0" i="0" u="none" strike="noStrike" cap="none" normalizeH="0" baseline="0" dirty="0" smtClean="0">
                <a:ln>
                  <a:noFill/>
                </a:ln>
                <a:solidFill>
                  <a:schemeClr val="tx1"/>
                </a:solidFill>
                <a:effectLst/>
                <a:latin typeface="Arial"/>
                <a:ea typeface="Calibri" charset="0"/>
              </a:rPr>
              <a:t> Jim’s record.</a:t>
            </a:r>
          </a:p>
          <a:p>
            <a:pPr lvl="0" defTabSz="914400" fontAlgn="base">
              <a:spcBef>
                <a:spcPct val="0"/>
              </a:spcBef>
              <a:spcAft>
                <a:spcPts val="600"/>
              </a:spcAft>
            </a:pPr>
            <a:r>
              <a:rPr kumimoji="0" lang="en-US" sz="1600" b="0" i="0" u="none" strike="noStrike" cap="none" normalizeH="0" baseline="0" dirty="0" smtClean="0">
                <a:ln>
                  <a:noFill/>
                </a:ln>
                <a:solidFill>
                  <a:schemeClr val="tx1"/>
                </a:solidFill>
                <a:effectLst/>
                <a:latin typeface="Arial"/>
                <a:ea typeface="Calibri" charset="0"/>
              </a:rPr>
              <a:t>After, finishing her consultations, Kate returns to the clinic and </a:t>
            </a:r>
            <a:r>
              <a:rPr kumimoji="0" lang="en-US" sz="1600" b="1" i="0" u="none" strike="noStrike" cap="none" normalizeH="0" baseline="0" dirty="0" smtClean="0">
                <a:ln>
                  <a:noFill/>
                </a:ln>
                <a:solidFill>
                  <a:schemeClr val="tx1"/>
                </a:solidFill>
                <a:effectLst/>
                <a:latin typeface="Arial"/>
                <a:ea typeface="Calibri" charset="0"/>
              </a:rPr>
              <a:t>uploads the records of patients</a:t>
            </a:r>
            <a:r>
              <a:rPr kumimoji="0" lang="en-US" sz="1600" b="0" i="0" u="none" strike="noStrike" cap="none" normalizeH="0" baseline="0" dirty="0" smtClean="0">
                <a:ln>
                  <a:noFill/>
                </a:ln>
                <a:solidFill>
                  <a:schemeClr val="tx1"/>
                </a:solidFill>
                <a:effectLst/>
                <a:latin typeface="Arial"/>
                <a:ea typeface="Calibri" charset="0"/>
              </a:rPr>
              <a:t> visited to the database. The system </a:t>
            </a:r>
            <a:r>
              <a:rPr kumimoji="0" lang="en-US" sz="1600" b="1" i="0" u="none" strike="noStrike" cap="none" normalizeH="0" baseline="0" dirty="0" smtClean="0">
                <a:ln>
                  <a:noFill/>
                </a:ln>
                <a:solidFill>
                  <a:schemeClr val="tx1"/>
                </a:solidFill>
                <a:effectLst/>
                <a:latin typeface="Arial"/>
                <a:ea typeface="Calibri" charset="0"/>
              </a:rPr>
              <a:t>generates a call list</a:t>
            </a:r>
            <a:r>
              <a:rPr kumimoji="0" lang="en-US" sz="1600" b="0" i="0" u="none" strike="noStrike" cap="none" normalizeH="0" baseline="0" dirty="0" smtClean="0">
                <a:ln>
                  <a:noFill/>
                </a:ln>
                <a:solidFill>
                  <a:schemeClr val="tx1"/>
                </a:solidFill>
                <a:effectLst/>
                <a:latin typeface="Arial"/>
                <a:ea typeface="Calibri" charset="0"/>
              </a:rPr>
              <a:t> for Kate of those patients who she has to contact for follow-up information and make clinic appointments.</a:t>
            </a:r>
            <a:endParaRPr kumimoji="0" lang="en-US" sz="1600" b="0" i="0" u="none" strike="noStrike" cap="none" normalizeH="0" baseline="0" dirty="0">
              <a:ln>
                <a:noFill/>
              </a:ln>
              <a:solidFill>
                <a:schemeClr val="tx1"/>
              </a:solidFill>
              <a:effectLst/>
              <a:latin typeface="Arial"/>
              <a:ea typeface="Calibri" charset="0"/>
            </a:endParaRPr>
          </a:p>
        </p:txBody>
      </p:sp>
    </p:spTree>
    <p:extLst>
      <p:ext uri="{BB962C8B-B14F-4D97-AF65-F5344CB8AC3E}">
        <p14:creationId xmlns:p14="http://schemas.microsoft.com/office/powerpoint/2010/main" val="30783928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tested by scenario</a:t>
            </a:r>
          </a:p>
        </p:txBody>
      </p:sp>
      <p:sp>
        <p:nvSpPr>
          <p:cNvPr id="3" name="Content Placeholder 2"/>
          <p:cNvSpPr>
            <a:spLocks noGrp="1"/>
          </p:cNvSpPr>
          <p:nvPr>
            <p:ph idx="1"/>
          </p:nvPr>
        </p:nvSpPr>
        <p:spPr>
          <a:xfrm>
            <a:off x="1066800" y="1524000"/>
            <a:ext cx="7772400" cy="4114800"/>
          </a:xfrm>
        </p:spPr>
        <p:txBody>
          <a:bodyPr/>
          <a:lstStyle/>
          <a:p>
            <a:r>
              <a:rPr lang="en-US" sz="2800" dirty="0"/>
              <a:t>Authentication by logging on to the system.</a:t>
            </a:r>
            <a:endParaRPr lang="en-GB" sz="2800" dirty="0"/>
          </a:p>
          <a:p>
            <a:r>
              <a:rPr lang="en-US" sz="2800" dirty="0"/>
              <a:t>Downloading and uploading of specified patient records to a laptop.</a:t>
            </a:r>
            <a:endParaRPr lang="en-GB" sz="2800" dirty="0"/>
          </a:p>
          <a:p>
            <a:r>
              <a:rPr lang="en-US" sz="2800" dirty="0"/>
              <a:t>Home visit scheduling.</a:t>
            </a:r>
            <a:endParaRPr lang="en-GB" sz="2800" dirty="0"/>
          </a:p>
          <a:p>
            <a:r>
              <a:rPr lang="en-US" sz="2800" dirty="0"/>
              <a:t>Encryption and decryption of patient records on a mobile device. </a:t>
            </a:r>
            <a:endParaRPr lang="en-GB" sz="2800" dirty="0"/>
          </a:p>
          <a:p>
            <a:r>
              <a:rPr lang="en-US" sz="2800" dirty="0"/>
              <a:t>Record retrieval and modification.</a:t>
            </a:r>
            <a:endParaRPr lang="en-GB" sz="2800" dirty="0"/>
          </a:p>
          <a:p>
            <a:r>
              <a:rPr lang="en-US" sz="2800" dirty="0"/>
              <a:t>Links with the drugs database that maintains side-effect information.</a:t>
            </a:r>
            <a:endParaRPr lang="en-GB" sz="2800" dirty="0"/>
          </a:p>
          <a:p>
            <a:r>
              <a:rPr lang="en-US" sz="2800" dirty="0"/>
              <a:t>The system for call prompting.</a:t>
            </a:r>
            <a:endParaRPr lang="en-GB" sz="2800" dirty="0"/>
          </a:p>
          <a:p>
            <a:endParaRPr lang="en-US" sz="2800" dirty="0"/>
          </a:p>
        </p:txBody>
      </p:sp>
    </p:spTree>
    <p:extLst>
      <p:ext uri="{BB962C8B-B14F-4D97-AF65-F5344CB8AC3E}">
        <p14:creationId xmlns:p14="http://schemas.microsoft.com/office/powerpoint/2010/main" val="1657086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testing</a:t>
            </a:r>
          </a:p>
        </p:txBody>
      </p:sp>
      <p:sp>
        <p:nvSpPr>
          <p:cNvPr id="3" name="Content Placeholder 2"/>
          <p:cNvSpPr>
            <a:spLocks noGrp="1"/>
          </p:cNvSpPr>
          <p:nvPr>
            <p:ph idx="1"/>
          </p:nvPr>
        </p:nvSpPr>
        <p:spPr>
          <a:xfrm>
            <a:off x="1173163" y="1828800"/>
            <a:ext cx="7772400" cy="4114800"/>
          </a:xfrm>
        </p:spPr>
        <p:txBody>
          <a:bodyPr/>
          <a:lstStyle/>
          <a:p>
            <a:pPr algn="just"/>
            <a:r>
              <a:rPr lang="en-US" sz="2400" dirty="0"/>
              <a:t>Part of release testing may involve testing the emergent properties of a system, such as performance and reliability</a:t>
            </a:r>
            <a:r>
              <a:rPr lang="en-US" sz="2400" dirty="0" smtClean="0"/>
              <a:t>.</a:t>
            </a:r>
            <a:endParaRPr lang="en-US" sz="2400" dirty="0"/>
          </a:p>
          <a:p>
            <a:pPr algn="just"/>
            <a:r>
              <a:rPr lang="en-US" sz="2400" dirty="0" smtClean="0"/>
              <a:t>Performance tests usually involve planning a series of tests where the load is steadily increased until the system performance becomes unacceptable</a:t>
            </a:r>
            <a:r>
              <a:rPr lang="en-US" sz="2400" dirty="0"/>
              <a:t>.</a:t>
            </a:r>
          </a:p>
          <a:p>
            <a:pPr algn="just"/>
            <a:r>
              <a:rPr lang="en-US" sz="2400" b="1" dirty="0"/>
              <a:t>Stress testing </a:t>
            </a:r>
            <a:r>
              <a:rPr lang="en-US" sz="2400" dirty="0"/>
              <a:t>is a form of performance testing where the system is deliberately overloaded to test its failure </a:t>
            </a:r>
            <a:r>
              <a:rPr lang="en-US" sz="2400" dirty="0" err="1"/>
              <a:t>behaviour</a:t>
            </a:r>
            <a:r>
              <a:rPr lang="en-US" sz="2400" dirty="0"/>
              <a:t>.</a:t>
            </a:r>
          </a:p>
          <a:p>
            <a:pPr algn="just"/>
            <a:endParaRPr lang="en-US" sz="2400" dirty="0"/>
          </a:p>
        </p:txBody>
      </p:sp>
    </p:spTree>
    <p:extLst>
      <p:ext uri="{BB962C8B-B14F-4D97-AF65-F5344CB8AC3E}">
        <p14:creationId xmlns:p14="http://schemas.microsoft.com/office/powerpoint/2010/main" val="482648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testing</a:t>
            </a:r>
          </a:p>
        </p:txBody>
      </p:sp>
      <p:sp>
        <p:nvSpPr>
          <p:cNvPr id="3" name="Content Placeholder 2"/>
          <p:cNvSpPr>
            <a:spLocks noGrp="1"/>
          </p:cNvSpPr>
          <p:nvPr>
            <p:ph idx="1"/>
          </p:nvPr>
        </p:nvSpPr>
        <p:spPr>
          <a:xfrm>
            <a:off x="914400" y="1600200"/>
            <a:ext cx="7772400" cy="4114800"/>
          </a:xfrm>
        </p:spPr>
        <p:txBody>
          <a:bodyPr/>
          <a:lstStyle/>
          <a:p>
            <a:pPr algn="just"/>
            <a:r>
              <a:rPr lang="en-US" sz="2800" dirty="0"/>
              <a:t>User or customer testing is a stage in the testing process in which users or customers provide input and advice on system testing. </a:t>
            </a:r>
          </a:p>
          <a:p>
            <a:pPr algn="just"/>
            <a:r>
              <a:rPr lang="en-US" sz="2800" dirty="0"/>
              <a:t>User testing is essential, even when comprehensive system and release testing have been carried out. </a:t>
            </a:r>
          </a:p>
          <a:p>
            <a:pPr lvl="1" algn="just"/>
            <a:r>
              <a:rPr lang="en-US" sz="2400" dirty="0"/>
              <a:t>The reason for this is that influences from the user’s working environment have a major effect on the reliability, performance, </a:t>
            </a:r>
            <a:r>
              <a:rPr lang="en-US" sz="2400" dirty="0" smtClean="0"/>
              <a:t>and usability of </a:t>
            </a:r>
            <a:r>
              <a:rPr lang="en-US" sz="2400" dirty="0"/>
              <a:t>a system. These cannot be replicated in a testing environment.</a:t>
            </a:r>
            <a:endParaRPr lang="en-GB" sz="2400" dirty="0"/>
          </a:p>
          <a:p>
            <a:pPr algn="just"/>
            <a:endParaRPr lang="en-US" sz="2800" dirty="0"/>
          </a:p>
        </p:txBody>
      </p:sp>
    </p:spTree>
    <p:extLst>
      <p:ext uri="{BB962C8B-B14F-4D97-AF65-F5344CB8AC3E}">
        <p14:creationId xmlns:p14="http://schemas.microsoft.com/office/powerpoint/2010/main" val="328574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user testing</a:t>
            </a:r>
          </a:p>
        </p:txBody>
      </p:sp>
      <p:sp>
        <p:nvSpPr>
          <p:cNvPr id="3" name="Content Placeholder 2"/>
          <p:cNvSpPr>
            <a:spLocks noGrp="1"/>
          </p:cNvSpPr>
          <p:nvPr>
            <p:ph idx="1"/>
          </p:nvPr>
        </p:nvSpPr>
        <p:spPr>
          <a:xfrm>
            <a:off x="1173163" y="1828800"/>
            <a:ext cx="7772400" cy="4114800"/>
          </a:xfrm>
        </p:spPr>
        <p:txBody>
          <a:bodyPr/>
          <a:lstStyle/>
          <a:p>
            <a:r>
              <a:rPr lang="en-US" sz="2400" dirty="0"/>
              <a:t>Alpha testing</a:t>
            </a:r>
          </a:p>
          <a:p>
            <a:pPr lvl="1"/>
            <a:r>
              <a:rPr lang="en-US" sz="2000" dirty="0"/>
              <a:t>Users of the software work with the development team to test the software at the developer’s site.</a:t>
            </a:r>
            <a:endParaRPr lang="en-GB" sz="2000" dirty="0"/>
          </a:p>
          <a:p>
            <a:r>
              <a:rPr lang="en-US" sz="2400" dirty="0"/>
              <a:t>Beta testing</a:t>
            </a:r>
          </a:p>
          <a:p>
            <a:pPr lvl="1"/>
            <a:r>
              <a:rPr lang="en-US" sz="2000" dirty="0"/>
              <a:t>A release of the software is made available to users to allow them to experiment and to raise problems that they discover with the system developers.</a:t>
            </a:r>
            <a:endParaRPr lang="en-GB" sz="2000" dirty="0"/>
          </a:p>
          <a:p>
            <a:r>
              <a:rPr lang="en-US" sz="2400" dirty="0"/>
              <a:t>Acceptance testing</a:t>
            </a:r>
          </a:p>
          <a:p>
            <a:pPr lvl="1"/>
            <a:r>
              <a:rPr lang="en-US" sz="2000" dirty="0"/>
              <a:t>Customers test a system to decide whether or not it is ready to be accepted from the system developers and deployed in the customer environment. Primarily for custom systems.</a:t>
            </a:r>
            <a:endParaRPr lang="en-GB" sz="2000" dirty="0"/>
          </a:p>
          <a:p>
            <a:endParaRPr lang="en-US" sz="2400" dirty="0"/>
          </a:p>
        </p:txBody>
      </p:sp>
    </p:spTree>
    <p:extLst>
      <p:ext uri="{BB962C8B-B14F-4D97-AF65-F5344CB8AC3E}">
        <p14:creationId xmlns:p14="http://schemas.microsoft.com/office/powerpoint/2010/main" val="3998666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in the acceptance testing process</a:t>
            </a:r>
          </a:p>
        </p:txBody>
      </p:sp>
      <p:sp>
        <p:nvSpPr>
          <p:cNvPr id="3" name="Content Placeholder 2"/>
          <p:cNvSpPr>
            <a:spLocks noGrp="1"/>
          </p:cNvSpPr>
          <p:nvPr>
            <p:ph idx="1"/>
          </p:nvPr>
        </p:nvSpPr>
        <p:spPr/>
        <p:txBody>
          <a:bodyPr/>
          <a:lstStyle/>
          <a:p>
            <a:r>
              <a:rPr lang="en-US" dirty="0"/>
              <a:t>Define acceptance criteria</a:t>
            </a:r>
          </a:p>
          <a:p>
            <a:r>
              <a:rPr lang="en-US" dirty="0"/>
              <a:t>Plan acceptance testing</a:t>
            </a:r>
          </a:p>
          <a:p>
            <a:r>
              <a:rPr lang="en-US" dirty="0"/>
              <a:t>Derive acceptance tests</a:t>
            </a:r>
          </a:p>
          <a:p>
            <a:r>
              <a:rPr lang="en-US" dirty="0"/>
              <a:t>Run acceptance tests</a:t>
            </a:r>
          </a:p>
          <a:p>
            <a:r>
              <a:rPr lang="en-US" dirty="0"/>
              <a:t>Negotiate test results</a:t>
            </a:r>
          </a:p>
          <a:p>
            <a:r>
              <a:rPr lang="en-US" dirty="0"/>
              <a:t>Reject/accept system</a:t>
            </a:r>
          </a:p>
          <a:p>
            <a:pPr marL="0" indent="0">
              <a:buNone/>
            </a:pPr>
            <a:endParaRPr lang="en-US" dirty="0"/>
          </a:p>
        </p:txBody>
      </p:sp>
    </p:spTree>
    <p:extLst>
      <p:ext uri="{BB962C8B-B14F-4D97-AF65-F5344CB8AC3E}">
        <p14:creationId xmlns:p14="http://schemas.microsoft.com/office/powerpoint/2010/main" val="1859773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81000"/>
            <a:ext cx="7772400" cy="1143000"/>
          </a:xfrm>
        </p:spPr>
        <p:txBody>
          <a:bodyPr/>
          <a:lstStyle/>
          <a:p>
            <a:r>
              <a:rPr lang="en-US" sz="3600" dirty="0" smtClean="0"/>
              <a:t>Stages in the acceptance </a:t>
            </a:r>
            <a:r>
              <a:rPr lang="en-US" sz="3600" dirty="0"/>
              <a:t>testing process</a:t>
            </a:r>
            <a:r>
              <a:rPr lang="en-GB" sz="3600" dirty="0"/>
              <a:t> </a:t>
            </a:r>
            <a:endParaRPr lang="en-US" sz="3600" dirty="0"/>
          </a:p>
        </p:txBody>
      </p:sp>
      <p:pic>
        <p:nvPicPr>
          <p:cNvPr id="5" name="Picture 4"/>
          <p:cNvPicPr>
            <a:picLocks noChangeAspect="1"/>
          </p:cNvPicPr>
          <p:nvPr/>
        </p:nvPicPr>
        <p:blipFill>
          <a:blip r:embed="rId2"/>
          <a:stretch>
            <a:fillRect/>
          </a:stretch>
        </p:blipFill>
        <p:spPr>
          <a:xfrm>
            <a:off x="240219" y="2430918"/>
            <a:ext cx="8699001" cy="1836282"/>
          </a:xfrm>
          <a:prstGeom prst="rect">
            <a:avLst/>
          </a:prstGeom>
        </p:spPr>
      </p:pic>
      <p:sp>
        <p:nvSpPr>
          <p:cNvPr id="6" name="Rectangle 5"/>
          <p:cNvSpPr/>
          <p:nvPr/>
        </p:nvSpPr>
        <p:spPr>
          <a:xfrm>
            <a:off x="76200" y="4602499"/>
            <a:ext cx="1828800" cy="1600438"/>
          </a:xfrm>
          <a:prstGeom prst="rect">
            <a:avLst/>
          </a:prstGeom>
        </p:spPr>
        <p:txBody>
          <a:bodyPr wrap="square">
            <a:spAutoFit/>
          </a:bodyPr>
          <a:lstStyle/>
          <a:p>
            <a:pPr algn="just"/>
            <a:r>
              <a:rPr lang="en-US" sz="1400" dirty="0">
                <a:solidFill>
                  <a:srgbClr val="231F20"/>
                </a:solidFill>
                <a:latin typeface="Times-Roman"/>
              </a:rPr>
              <a:t>The acceptance </a:t>
            </a:r>
            <a:r>
              <a:rPr lang="en-US" sz="1400" dirty="0" smtClean="0">
                <a:solidFill>
                  <a:srgbClr val="231F20"/>
                </a:solidFill>
                <a:latin typeface="Times-Roman"/>
              </a:rPr>
              <a:t>criteria should </a:t>
            </a:r>
            <a:r>
              <a:rPr lang="en-US" sz="1400" dirty="0">
                <a:solidFill>
                  <a:srgbClr val="231F20"/>
                </a:solidFill>
                <a:latin typeface="Times-Roman"/>
              </a:rPr>
              <a:t>be part of the system contract and be agreed between the customer and</a:t>
            </a:r>
          </a:p>
          <a:p>
            <a:pPr algn="just"/>
            <a:r>
              <a:rPr lang="en-US" sz="1400" dirty="0">
                <a:solidFill>
                  <a:srgbClr val="231F20"/>
                </a:solidFill>
                <a:latin typeface="Times-Roman"/>
              </a:rPr>
              <a:t>the developer.</a:t>
            </a:r>
            <a:endParaRPr lang="en-US" sz="1400" dirty="0"/>
          </a:p>
        </p:txBody>
      </p:sp>
      <p:sp>
        <p:nvSpPr>
          <p:cNvPr id="7" name="Rectangle 6"/>
          <p:cNvSpPr/>
          <p:nvPr/>
        </p:nvSpPr>
        <p:spPr>
          <a:xfrm>
            <a:off x="1371600" y="1066800"/>
            <a:ext cx="2514601" cy="1169551"/>
          </a:xfrm>
          <a:prstGeom prst="rect">
            <a:avLst/>
          </a:prstGeom>
        </p:spPr>
        <p:txBody>
          <a:bodyPr wrap="square">
            <a:spAutoFit/>
          </a:bodyPr>
          <a:lstStyle/>
          <a:p>
            <a:pPr algn="just"/>
            <a:r>
              <a:rPr lang="en-US" sz="1400" dirty="0">
                <a:solidFill>
                  <a:srgbClr val="231F20"/>
                </a:solidFill>
                <a:latin typeface="Times-Roman"/>
              </a:rPr>
              <a:t>This involves deciding on the resources, time, </a:t>
            </a:r>
            <a:r>
              <a:rPr lang="en-US" sz="1400" dirty="0" smtClean="0">
                <a:solidFill>
                  <a:srgbClr val="231F20"/>
                </a:solidFill>
                <a:latin typeface="Times-Roman"/>
              </a:rPr>
              <a:t>and budget </a:t>
            </a:r>
            <a:r>
              <a:rPr lang="en-US" sz="1400" dirty="0">
                <a:solidFill>
                  <a:srgbClr val="231F20"/>
                </a:solidFill>
                <a:latin typeface="Times-Roman"/>
              </a:rPr>
              <a:t>for acceptance testing and establishing a testing schedule</a:t>
            </a:r>
            <a:endParaRPr lang="en-US" sz="1400" dirty="0"/>
          </a:p>
        </p:txBody>
      </p:sp>
      <p:sp>
        <p:nvSpPr>
          <p:cNvPr id="8" name="Rectangle 7"/>
          <p:cNvSpPr/>
          <p:nvPr/>
        </p:nvSpPr>
        <p:spPr>
          <a:xfrm>
            <a:off x="2743200" y="4648200"/>
            <a:ext cx="2171700" cy="1384995"/>
          </a:xfrm>
          <a:prstGeom prst="rect">
            <a:avLst/>
          </a:prstGeom>
        </p:spPr>
        <p:txBody>
          <a:bodyPr wrap="square">
            <a:spAutoFit/>
          </a:bodyPr>
          <a:lstStyle/>
          <a:p>
            <a:pPr algn="just"/>
            <a:r>
              <a:rPr lang="en-US" sz="1400" dirty="0">
                <a:solidFill>
                  <a:srgbClr val="231F20"/>
                </a:solidFill>
                <a:latin typeface="Times-Roman"/>
              </a:rPr>
              <a:t>Once acceptance criteria have been established, </a:t>
            </a:r>
            <a:r>
              <a:rPr lang="en-US" sz="1400" dirty="0" smtClean="0">
                <a:solidFill>
                  <a:srgbClr val="231F20"/>
                </a:solidFill>
                <a:latin typeface="Times-Roman"/>
              </a:rPr>
              <a:t>tests have </a:t>
            </a:r>
            <a:r>
              <a:rPr lang="en-US" sz="1400" dirty="0">
                <a:solidFill>
                  <a:srgbClr val="231F20"/>
                </a:solidFill>
                <a:latin typeface="Times-Roman"/>
              </a:rPr>
              <a:t>to be designed to check whether or not a system is acceptable.</a:t>
            </a:r>
            <a:endParaRPr lang="en-US" sz="1400" dirty="0"/>
          </a:p>
        </p:txBody>
      </p:sp>
      <p:sp>
        <p:nvSpPr>
          <p:cNvPr id="9" name="Rectangle 8"/>
          <p:cNvSpPr/>
          <p:nvPr/>
        </p:nvSpPr>
        <p:spPr>
          <a:xfrm>
            <a:off x="4343400" y="990600"/>
            <a:ext cx="1775026" cy="954107"/>
          </a:xfrm>
          <a:prstGeom prst="rect">
            <a:avLst/>
          </a:prstGeom>
        </p:spPr>
        <p:txBody>
          <a:bodyPr wrap="square">
            <a:spAutoFit/>
          </a:bodyPr>
          <a:lstStyle/>
          <a:p>
            <a:pPr algn="just"/>
            <a:r>
              <a:rPr lang="en-US" sz="1400" dirty="0">
                <a:solidFill>
                  <a:srgbClr val="231F20"/>
                </a:solidFill>
                <a:latin typeface="Times-Roman"/>
              </a:rPr>
              <a:t>The </a:t>
            </a:r>
            <a:r>
              <a:rPr lang="en-US" sz="1400" dirty="0" smtClean="0">
                <a:solidFill>
                  <a:srgbClr val="231F20"/>
                </a:solidFill>
                <a:latin typeface="Times-Roman"/>
              </a:rPr>
              <a:t>agreed acceptance </a:t>
            </a:r>
            <a:r>
              <a:rPr lang="en-US" sz="1400" dirty="0">
                <a:solidFill>
                  <a:srgbClr val="231F20"/>
                </a:solidFill>
                <a:latin typeface="Times-Roman"/>
              </a:rPr>
              <a:t>tests are executed on the system.</a:t>
            </a:r>
            <a:endParaRPr lang="en-US" sz="1400" dirty="0"/>
          </a:p>
        </p:txBody>
      </p:sp>
      <p:sp>
        <p:nvSpPr>
          <p:cNvPr id="10" name="Rectangle 9"/>
          <p:cNvSpPr/>
          <p:nvPr/>
        </p:nvSpPr>
        <p:spPr>
          <a:xfrm>
            <a:off x="6019800" y="4592840"/>
            <a:ext cx="1828800" cy="1384995"/>
          </a:xfrm>
          <a:prstGeom prst="rect">
            <a:avLst/>
          </a:prstGeom>
        </p:spPr>
        <p:txBody>
          <a:bodyPr wrap="square">
            <a:spAutoFit/>
          </a:bodyPr>
          <a:lstStyle/>
          <a:p>
            <a:pPr algn="just"/>
            <a:r>
              <a:rPr lang="en-US" sz="1400" dirty="0">
                <a:solidFill>
                  <a:srgbClr val="231F20"/>
                </a:solidFill>
                <a:latin typeface="Times-Roman"/>
              </a:rPr>
              <a:t>the developer and </a:t>
            </a:r>
            <a:r>
              <a:rPr lang="en-US" sz="1400" dirty="0" smtClean="0">
                <a:solidFill>
                  <a:srgbClr val="231F20"/>
                </a:solidFill>
                <a:latin typeface="Times-Roman"/>
              </a:rPr>
              <a:t>the customer </a:t>
            </a:r>
            <a:r>
              <a:rPr lang="en-US" sz="1400" dirty="0">
                <a:solidFill>
                  <a:srgbClr val="231F20"/>
                </a:solidFill>
                <a:latin typeface="Times-Roman"/>
              </a:rPr>
              <a:t>have to negotiate to decide if the system is good enough to be put </a:t>
            </a:r>
            <a:r>
              <a:rPr lang="en-US" sz="1400" dirty="0" smtClean="0">
                <a:solidFill>
                  <a:srgbClr val="231F20"/>
                </a:solidFill>
                <a:latin typeface="Times-Roman"/>
              </a:rPr>
              <a:t>into use</a:t>
            </a:r>
            <a:r>
              <a:rPr lang="en-US" sz="1400" dirty="0">
                <a:solidFill>
                  <a:srgbClr val="231F20"/>
                </a:solidFill>
                <a:latin typeface="Times-Roman"/>
              </a:rPr>
              <a:t>.</a:t>
            </a:r>
            <a:endParaRPr lang="en-US" sz="1400" dirty="0"/>
          </a:p>
        </p:txBody>
      </p:sp>
      <p:sp>
        <p:nvSpPr>
          <p:cNvPr id="11" name="Rectangle 10"/>
          <p:cNvSpPr/>
          <p:nvPr/>
        </p:nvSpPr>
        <p:spPr>
          <a:xfrm>
            <a:off x="6629400" y="977205"/>
            <a:ext cx="2362200" cy="1384995"/>
          </a:xfrm>
          <a:prstGeom prst="rect">
            <a:avLst/>
          </a:prstGeom>
        </p:spPr>
        <p:txBody>
          <a:bodyPr wrap="square">
            <a:spAutoFit/>
          </a:bodyPr>
          <a:lstStyle/>
          <a:p>
            <a:pPr algn="just"/>
            <a:r>
              <a:rPr lang="en-US" sz="1400" dirty="0">
                <a:solidFill>
                  <a:srgbClr val="231F20"/>
                </a:solidFill>
                <a:latin typeface="Times-Roman"/>
              </a:rPr>
              <a:t>This stage involves a meeting between the </a:t>
            </a:r>
            <a:r>
              <a:rPr lang="en-US" sz="1400" dirty="0" smtClean="0">
                <a:solidFill>
                  <a:srgbClr val="231F20"/>
                </a:solidFill>
                <a:latin typeface="Times-Roman"/>
              </a:rPr>
              <a:t>developers and </a:t>
            </a:r>
            <a:r>
              <a:rPr lang="en-US" sz="1400" dirty="0">
                <a:solidFill>
                  <a:srgbClr val="231F20"/>
                </a:solidFill>
                <a:latin typeface="Times-Roman"/>
              </a:rPr>
              <a:t>the customer to decide on whether or not the system should be accepted.</a:t>
            </a:r>
            <a:endParaRPr lang="en-US" sz="1400" dirty="0"/>
          </a:p>
        </p:txBody>
      </p:sp>
      <p:cxnSp>
        <p:nvCxnSpPr>
          <p:cNvPr id="13" name="Straight Arrow Connector 12"/>
          <p:cNvCxnSpPr>
            <a:stCxn id="6" idx="0"/>
          </p:cNvCxnSpPr>
          <p:nvPr/>
        </p:nvCxnSpPr>
        <p:spPr bwMode="auto">
          <a:xfrm flipV="1">
            <a:off x="990600" y="4114800"/>
            <a:ext cx="0" cy="48769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14"/>
          <p:cNvCxnSpPr/>
          <p:nvPr/>
        </p:nvCxnSpPr>
        <p:spPr bwMode="auto">
          <a:xfrm flipH="1">
            <a:off x="2438400" y="1944707"/>
            <a:ext cx="152401" cy="156049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Straight Arrow Connector 17"/>
          <p:cNvCxnSpPr>
            <a:stCxn id="8" idx="0"/>
          </p:cNvCxnSpPr>
          <p:nvPr/>
        </p:nvCxnSpPr>
        <p:spPr bwMode="auto">
          <a:xfrm flipH="1" flipV="1">
            <a:off x="3810000" y="4114800"/>
            <a:ext cx="19050" cy="5334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p:cNvCxnSpPr>
            <a:stCxn id="9" idx="2"/>
          </p:cNvCxnSpPr>
          <p:nvPr/>
        </p:nvCxnSpPr>
        <p:spPr bwMode="auto">
          <a:xfrm>
            <a:off x="5230913" y="1944707"/>
            <a:ext cx="103087" cy="156049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Arrow Connector 23"/>
          <p:cNvCxnSpPr>
            <a:stCxn id="10" idx="0"/>
          </p:cNvCxnSpPr>
          <p:nvPr/>
        </p:nvCxnSpPr>
        <p:spPr bwMode="auto">
          <a:xfrm flipH="1" flipV="1">
            <a:off x="6858000" y="4114800"/>
            <a:ext cx="76200" cy="47804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Arrow Connector 25"/>
          <p:cNvCxnSpPr/>
          <p:nvPr/>
        </p:nvCxnSpPr>
        <p:spPr bwMode="auto">
          <a:xfrm>
            <a:off x="7848600" y="2236351"/>
            <a:ext cx="609600" cy="142124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029331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acceptance testing</a:t>
            </a:r>
          </a:p>
        </p:txBody>
      </p:sp>
      <p:sp>
        <p:nvSpPr>
          <p:cNvPr id="3" name="Content Placeholder 2"/>
          <p:cNvSpPr>
            <a:spLocks noGrp="1"/>
          </p:cNvSpPr>
          <p:nvPr>
            <p:ph idx="1"/>
          </p:nvPr>
        </p:nvSpPr>
        <p:spPr/>
        <p:txBody>
          <a:bodyPr/>
          <a:lstStyle/>
          <a:p>
            <a:pPr algn="just"/>
            <a:r>
              <a:rPr lang="en-US" sz="2400" dirty="0"/>
              <a:t>In agile methods, the user/customer is part of the development team and is responsible for making decisions on the acceptability of the system.</a:t>
            </a:r>
          </a:p>
          <a:p>
            <a:pPr algn="just"/>
            <a:r>
              <a:rPr lang="en-US" sz="2400" dirty="0"/>
              <a:t>Tests are defined by the user/customer and are integrated with other tests in that they are run automatically when changes are made.</a:t>
            </a:r>
          </a:p>
          <a:p>
            <a:pPr algn="just"/>
            <a:r>
              <a:rPr lang="en-US" sz="2400" dirty="0"/>
              <a:t>There is no separate acceptance testing process.</a:t>
            </a:r>
          </a:p>
          <a:p>
            <a:pPr algn="just"/>
            <a:r>
              <a:rPr lang="en-US" sz="2400" dirty="0"/>
              <a:t>Main problem here is whether or not the embedded user is ‘typical’ and can represent the interests of all system stakeholders.</a:t>
            </a:r>
          </a:p>
          <a:p>
            <a:pPr algn="just"/>
            <a:endParaRPr lang="en-US" sz="2400" dirty="0"/>
          </a:p>
        </p:txBody>
      </p:sp>
    </p:spTree>
    <p:extLst>
      <p:ext uri="{BB962C8B-B14F-4D97-AF65-F5344CB8AC3E}">
        <p14:creationId xmlns:p14="http://schemas.microsoft.com/office/powerpoint/2010/main" val="343026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914400" y="1676400"/>
            <a:ext cx="7772400" cy="4114800"/>
          </a:xfrm>
        </p:spPr>
        <p:txBody>
          <a:bodyPr/>
          <a:lstStyle/>
          <a:p>
            <a:pPr algn="just"/>
            <a:r>
              <a:rPr lang="en-US" sz="2000" dirty="0"/>
              <a:t>When testing software, you should try to ‘break’ the software by using experience and guidelines to choose types of test case that have been effective in discovering defects in other systems.</a:t>
            </a:r>
            <a:endParaRPr lang="en-GB" sz="2000" dirty="0"/>
          </a:p>
          <a:p>
            <a:pPr algn="just"/>
            <a:r>
              <a:rPr lang="en-US" sz="2000" dirty="0"/>
              <a:t>Wherever possible, you should write automated tests. The tests are embedded in a program that can be run every time a change is made to a system.</a:t>
            </a:r>
            <a:endParaRPr lang="en-GB" sz="2000" dirty="0"/>
          </a:p>
          <a:p>
            <a:pPr algn="just"/>
            <a:r>
              <a:rPr lang="en-US" sz="2000" dirty="0"/>
              <a:t>Test-first development is an approach to development where tests are written before the code to be tested. </a:t>
            </a:r>
            <a:endParaRPr lang="en-GB" sz="2000" dirty="0"/>
          </a:p>
          <a:p>
            <a:pPr algn="just"/>
            <a:r>
              <a:rPr lang="en-US" sz="2000" dirty="0"/>
              <a:t>Scenario testing involves inventing a typical usage scenario and using this to derive test cases.</a:t>
            </a:r>
            <a:endParaRPr lang="en-GB" sz="2000" dirty="0"/>
          </a:p>
          <a:p>
            <a:pPr algn="just"/>
            <a:r>
              <a:rPr lang="en-US" sz="2000" dirty="0"/>
              <a:t>Acceptance testing is a user testing process where the aim is to decide if the software is good enough to be deployed and used in its operational environment.</a:t>
            </a:r>
            <a:endParaRPr lang="en-GB" sz="2000" dirty="0"/>
          </a:p>
          <a:p>
            <a:pPr algn="just"/>
            <a:endParaRPr lang="en-US" sz="2000" dirty="0"/>
          </a:p>
        </p:txBody>
      </p:sp>
    </p:spTree>
    <p:extLst>
      <p:ext uri="{BB962C8B-B14F-4D97-AF65-F5344CB8AC3E}">
        <p14:creationId xmlns:p14="http://schemas.microsoft.com/office/powerpoint/2010/main" val="4187680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20787</TotalTime>
  <Words>1871</Words>
  <Application>Microsoft Office PowerPoint</Application>
  <PresentationFormat>On-screen Show (4:3)</PresentationFormat>
  <Paragraphs>114</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ＭＳ Ｐゴシック</vt:lpstr>
      <vt:lpstr>Arial</vt:lpstr>
      <vt:lpstr>Calibri</vt:lpstr>
      <vt:lpstr>Monotype Sorts</vt:lpstr>
      <vt:lpstr>Times New Roman</vt:lpstr>
      <vt:lpstr>Times-Roman</vt:lpstr>
      <vt:lpstr>Min halsduk</vt:lpstr>
      <vt:lpstr>System testing</vt:lpstr>
      <vt:lpstr>System testing and components </vt:lpstr>
      <vt:lpstr>Testing policies</vt:lpstr>
      <vt:lpstr>Test-driven development</vt:lpstr>
      <vt:lpstr>Test-driven development process</vt:lpstr>
      <vt:lpstr>TDD process activities</vt:lpstr>
      <vt:lpstr>Benefits of test-driven development</vt:lpstr>
      <vt:lpstr>Regression testing</vt:lpstr>
      <vt:lpstr>Release testing</vt:lpstr>
      <vt:lpstr>Release testing and system testing</vt:lpstr>
      <vt:lpstr>Requirements based testing</vt:lpstr>
      <vt:lpstr>Requirements tests</vt:lpstr>
      <vt:lpstr>A usage scenario for the MHC-PMS </vt:lpstr>
      <vt:lpstr>Features tested by scenario</vt:lpstr>
      <vt:lpstr>Performance testing</vt:lpstr>
      <vt:lpstr>User testing</vt:lpstr>
      <vt:lpstr>Types of user testing</vt:lpstr>
      <vt:lpstr>Stages in the acceptance testing process</vt:lpstr>
      <vt:lpstr>Stages in the acceptance testing process </vt:lpstr>
      <vt:lpstr>Agile methods and acceptance testing</vt:lpstr>
      <vt:lpstr>Key points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Testing</dc:title>
  <dc:creator>Ahmad Salman Khan</dc:creator>
  <cp:lastModifiedBy>Windows User</cp:lastModifiedBy>
  <cp:revision>65</cp:revision>
  <dcterms:created xsi:type="dcterms:W3CDTF">2006-08-16T00:00:00Z</dcterms:created>
  <dcterms:modified xsi:type="dcterms:W3CDTF">2021-12-27T08:40:04Z</dcterms:modified>
</cp:coreProperties>
</file>
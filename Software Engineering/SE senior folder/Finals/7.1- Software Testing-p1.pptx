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 id="262" r:id="rId6"/>
    <p:sldId id="263" r:id="rId7"/>
    <p:sldId id="265" r:id="rId8"/>
    <p:sldId id="266" r:id="rId9"/>
    <p:sldId id="267" r:id="rId10"/>
    <p:sldId id="268" r:id="rId11"/>
    <p:sldId id="270" r:id="rId12"/>
    <p:sldId id="271" r:id="rId13"/>
    <p:sldId id="272" r:id="rId14"/>
    <p:sldId id="273" r:id="rId15"/>
    <p:sldId id="274" r:id="rId16"/>
    <p:sldId id="275" r:id="rId17"/>
    <p:sldId id="276" r:id="rId18"/>
    <p:sldId id="277" r:id="rId19"/>
    <p:sldId id="278" r:id="rId20"/>
    <p:sldId id="285" r:id="rId21"/>
    <p:sldId id="286" r:id="rId22"/>
    <p:sldId id="279" r:id="rId23"/>
    <p:sldId id="281" r:id="rId24"/>
    <p:sldId id="282" r:id="rId25"/>
    <p:sldId id="284"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73" d="100"/>
          <a:sy n="73" d="100"/>
        </p:scale>
        <p:origin x="130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smtClean="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smtClean="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97050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6672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19918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731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355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4702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6799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78748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97032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862654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95320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87051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23668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1731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35563"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35293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1173163"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5135563"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1173163"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5135563"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84871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Klicka här för att ändra format på bakgrundstexten</a:t>
            </a:r>
          </a:p>
          <a:p>
            <a:pPr lvl="1"/>
            <a:r>
              <a:rPr lang="en-US" smtClean="0"/>
              <a:t>Nivå två</a:t>
            </a:r>
          </a:p>
          <a:p>
            <a:pPr lvl="2"/>
            <a:r>
              <a:rPr lang="en-US" smtClean="0"/>
              <a:t>Nivå tre</a:t>
            </a:r>
          </a:p>
          <a:p>
            <a:pPr lvl="3"/>
            <a:r>
              <a:rPr lang="en-US" smtClean="0"/>
              <a:t>Nivå fyra</a:t>
            </a:r>
          </a:p>
          <a:p>
            <a:pPr lvl="4"/>
            <a:r>
              <a:rPr lang="en-US" smtClean="0"/>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207599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Testing</a:t>
            </a:r>
            <a:endParaRPr lang="en-US" dirty="0"/>
          </a:p>
        </p:txBody>
      </p:sp>
    </p:spTree>
    <p:extLst>
      <p:ext uri="{BB962C8B-B14F-4D97-AF65-F5344CB8AC3E}">
        <p14:creationId xmlns:p14="http://schemas.microsoft.com/office/powerpoint/2010/main" val="1737606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Development testing</a:t>
            </a:r>
            <a:endParaRPr lang="en-GB" dirty="0"/>
          </a:p>
          <a:p>
            <a:r>
              <a:rPr lang="en-US" dirty="0"/>
              <a:t>Test-driven development</a:t>
            </a:r>
            <a:endParaRPr lang="en-GB" dirty="0"/>
          </a:p>
          <a:p>
            <a:r>
              <a:rPr lang="en-US" dirty="0"/>
              <a:t>Release testing</a:t>
            </a:r>
            <a:endParaRPr lang="en-GB" dirty="0"/>
          </a:p>
          <a:p>
            <a:r>
              <a:rPr lang="en-US" dirty="0"/>
              <a:t>User testing </a:t>
            </a:r>
            <a:endParaRPr lang="en-GB" dirty="0"/>
          </a:p>
          <a:p>
            <a:endParaRPr lang="en-US" dirty="0"/>
          </a:p>
        </p:txBody>
      </p:sp>
    </p:spTree>
    <p:extLst>
      <p:ext uri="{BB962C8B-B14F-4D97-AF65-F5344CB8AC3E}">
        <p14:creationId xmlns:p14="http://schemas.microsoft.com/office/powerpoint/2010/main" val="8024679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Program testing</a:t>
            </a:r>
          </a:p>
        </p:txBody>
      </p:sp>
      <p:sp>
        <p:nvSpPr>
          <p:cNvPr id="3" name="Content Placeholder 2"/>
          <p:cNvSpPr>
            <a:spLocks noGrp="1"/>
          </p:cNvSpPr>
          <p:nvPr>
            <p:ph idx="1"/>
          </p:nvPr>
        </p:nvSpPr>
        <p:spPr>
          <a:xfrm>
            <a:off x="990600" y="1219200"/>
            <a:ext cx="7772400" cy="4114800"/>
          </a:xfrm>
        </p:spPr>
        <p:txBody>
          <a:bodyPr/>
          <a:lstStyle/>
          <a:p>
            <a:pPr algn="just"/>
            <a:r>
              <a:rPr lang="en-US" sz="2400" dirty="0"/>
              <a:t>Testing is intended to show that a </a:t>
            </a:r>
            <a:r>
              <a:rPr lang="en-US" sz="2400" b="1" dirty="0"/>
              <a:t>program does what it is intended to do</a:t>
            </a:r>
            <a:r>
              <a:rPr lang="en-US" sz="2400" dirty="0"/>
              <a:t> and </a:t>
            </a:r>
            <a:r>
              <a:rPr lang="en-US" sz="2400" b="1" dirty="0"/>
              <a:t>to discover program defects</a:t>
            </a:r>
            <a:r>
              <a:rPr lang="en-US" sz="2400" dirty="0"/>
              <a:t> before it is put into use. </a:t>
            </a:r>
          </a:p>
          <a:p>
            <a:pPr algn="just"/>
            <a:r>
              <a:rPr lang="en-US" sz="2400" dirty="0"/>
              <a:t>When you test software, you execute a program using artificial data. </a:t>
            </a:r>
          </a:p>
          <a:p>
            <a:pPr algn="just"/>
            <a:r>
              <a:rPr lang="en-US" sz="2400" dirty="0"/>
              <a:t>You check the results of the test run for </a:t>
            </a:r>
            <a:r>
              <a:rPr lang="en-US" sz="2400" dirty="0" smtClean="0"/>
              <a:t>errors or </a:t>
            </a:r>
            <a:r>
              <a:rPr lang="en-US" sz="2400" dirty="0"/>
              <a:t>information about the program’s non-functional attributes. </a:t>
            </a:r>
          </a:p>
          <a:p>
            <a:pPr algn="just"/>
            <a:r>
              <a:rPr lang="en-GB" sz="2400" dirty="0" smtClean="0"/>
              <a:t>Test can </a:t>
            </a:r>
            <a:r>
              <a:rPr lang="en-GB" sz="2400" dirty="0"/>
              <a:t>reveal the presence of errors NOT their </a:t>
            </a:r>
            <a:br>
              <a:rPr lang="en-GB" sz="2400" dirty="0"/>
            </a:br>
            <a:r>
              <a:rPr lang="en-GB" sz="2400" dirty="0"/>
              <a:t>absence.</a:t>
            </a:r>
          </a:p>
          <a:p>
            <a:pPr algn="just"/>
            <a:r>
              <a:rPr lang="en-GB" sz="2400" dirty="0"/>
              <a:t>Testing is part of a more general verification and validation process, which also </a:t>
            </a:r>
            <a:r>
              <a:rPr lang="en-GB" sz="2400" dirty="0" smtClean="0"/>
              <a:t>includes </a:t>
            </a:r>
            <a:r>
              <a:rPr lang="en-GB" sz="2400" dirty="0"/>
              <a:t>validation techniques.</a:t>
            </a:r>
            <a:endParaRPr lang="en-GB" sz="2400" i="1" dirty="0"/>
          </a:p>
          <a:p>
            <a:pPr algn="just"/>
            <a:endParaRPr lang="en-US" sz="2400" dirty="0"/>
          </a:p>
        </p:txBody>
      </p:sp>
    </p:spTree>
    <p:extLst>
      <p:ext uri="{BB962C8B-B14F-4D97-AF65-F5344CB8AC3E}">
        <p14:creationId xmlns:p14="http://schemas.microsoft.com/office/powerpoint/2010/main" val="347643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Program testing goals</a:t>
            </a:r>
          </a:p>
        </p:txBody>
      </p:sp>
      <p:sp>
        <p:nvSpPr>
          <p:cNvPr id="3" name="Content Placeholder 2"/>
          <p:cNvSpPr>
            <a:spLocks noGrp="1"/>
          </p:cNvSpPr>
          <p:nvPr>
            <p:ph idx="1"/>
          </p:nvPr>
        </p:nvSpPr>
        <p:spPr>
          <a:xfrm>
            <a:off x="1173163" y="1143000"/>
            <a:ext cx="7772400" cy="4114800"/>
          </a:xfrm>
        </p:spPr>
        <p:txBody>
          <a:bodyPr/>
          <a:lstStyle/>
          <a:p>
            <a:pPr algn="just"/>
            <a:r>
              <a:rPr lang="en-US" sz="2200" b="1" dirty="0"/>
              <a:t>To demonstrate to the developer and the customer that the software meets its requirements. </a:t>
            </a:r>
          </a:p>
          <a:p>
            <a:pPr lvl="1" algn="just"/>
            <a:r>
              <a:rPr lang="en-US" sz="2200" b="1" dirty="0"/>
              <a:t>For custom software,</a:t>
            </a:r>
            <a:r>
              <a:rPr lang="en-US" sz="2200" dirty="0"/>
              <a:t> this means that there should be at least one test for every requirement in the requirements document. </a:t>
            </a:r>
            <a:endParaRPr lang="en-US" sz="2200" dirty="0" smtClean="0"/>
          </a:p>
          <a:p>
            <a:pPr lvl="1" algn="just"/>
            <a:r>
              <a:rPr lang="en-US" sz="2200" b="1" dirty="0" smtClean="0"/>
              <a:t>For </a:t>
            </a:r>
            <a:r>
              <a:rPr lang="en-US" sz="2200" b="1" dirty="0"/>
              <a:t>generic software products</a:t>
            </a:r>
            <a:r>
              <a:rPr lang="en-US" sz="2200" dirty="0"/>
              <a:t>, it means that there should be tests for all of the system features, </a:t>
            </a:r>
            <a:r>
              <a:rPr lang="en-US" sz="2200" dirty="0" smtClean="0"/>
              <a:t>that </a:t>
            </a:r>
            <a:r>
              <a:rPr lang="en-US" sz="2200" dirty="0"/>
              <a:t>will be incorporated in the product release.  </a:t>
            </a:r>
            <a:endParaRPr lang="en-GB" sz="2200" dirty="0"/>
          </a:p>
          <a:p>
            <a:pPr algn="just"/>
            <a:r>
              <a:rPr lang="en-US" sz="2200" b="1" dirty="0"/>
              <a:t>To discover situations in which the behavior of the software is incorrect, </a:t>
            </a:r>
            <a:r>
              <a:rPr lang="en-US" sz="2200" b="1" dirty="0" smtClean="0"/>
              <a:t>and undesirable</a:t>
            </a:r>
            <a:endParaRPr lang="en-US" sz="2200" b="1" dirty="0"/>
          </a:p>
          <a:p>
            <a:pPr lvl="1" algn="just"/>
            <a:r>
              <a:rPr lang="en-US" sz="2200" b="1" dirty="0"/>
              <a:t>Defect testing</a:t>
            </a:r>
            <a:r>
              <a:rPr lang="en-US" sz="2200" dirty="0"/>
              <a:t> is concerned with rooting out undesirable system behavior such </a:t>
            </a:r>
            <a:r>
              <a:rPr lang="en-US" sz="2200" dirty="0" smtClean="0"/>
              <a:t>as.</a:t>
            </a:r>
            <a:endParaRPr lang="en-GB" sz="2200" dirty="0"/>
          </a:p>
          <a:p>
            <a:pPr algn="just"/>
            <a:r>
              <a:rPr lang="en-US" sz="2200" dirty="0"/>
              <a:t>system crashes, unwanted interactions with other systems, incorrect computations and data corruption</a:t>
            </a:r>
            <a:endParaRPr lang="en-US" sz="2200" dirty="0"/>
          </a:p>
        </p:txBody>
      </p:sp>
    </p:spTree>
    <p:extLst>
      <p:ext uri="{BB962C8B-B14F-4D97-AF65-F5344CB8AC3E}">
        <p14:creationId xmlns:p14="http://schemas.microsoft.com/office/powerpoint/2010/main" val="102237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and defect testing</a:t>
            </a:r>
          </a:p>
        </p:txBody>
      </p:sp>
      <p:sp>
        <p:nvSpPr>
          <p:cNvPr id="3" name="Content Placeholder 2"/>
          <p:cNvSpPr>
            <a:spLocks noGrp="1"/>
          </p:cNvSpPr>
          <p:nvPr>
            <p:ph idx="1"/>
          </p:nvPr>
        </p:nvSpPr>
        <p:spPr>
          <a:xfrm>
            <a:off x="762000" y="1752600"/>
            <a:ext cx="8183563" cy="4114800"/>
          </a:xfrm>
        </p:spPr>
        <p:txBody>
          <a:bodyPr/>
          <a:lstStyle/>
          <a:p>
            <a:r>
              <a:rPr lang="en-US" dirty="0"/>
              <a:t>The first goal leads to </a:t>
            </a:r>
            <a:r>
              <a:rPr lang="en-US" dirty="0">
                <a:solidFill>
                  <a:srgbClr val="FF0000"/>
                </a:solidFill>
              </a:rPr>
              <a:t>validation testing</a:t>
            </a:r>
          </a:p>
          <a:p>
            <a:pPr lvl="1"/>
            <a:r>
              <a:rPr lang="en-US" dirty="0"/>
              <a:t>You expect the system to perform correctly using a given set of test cases that reflect the system’s expected use. </a:t>
            </a:r>
          </a:p>
          <a:p>
            <a:r>
              <a:rPr lang="en-US" dirty="0"/>
              <a:t>The second goal leads to </a:t>
            </a:r>
            <a:r>
              <a:rPr lang="en-US" dirty="0" smtClean="0">
                <a:solidFill>
                  <a:srgbClr val="FF0000"/>
                </a:solidFill>
              </a:rPr>
              <a:t>verification </a:t>
            </a:r>
            <a:r>
              <a:rPr lang="en-US" dirty="0">
                <a:solidFill>
                  <a:srgbClr val="FF0000"/>
                </a:solidFill>
              </a:rPr>
              <a:t>testing</a:t>
            </a:r>
          </a:p>
          <a:p>
            <a:pPr lvl="1"/>
            <a:r>
              <a:rPr lang="en-US" dirty="0"/>
              <a:t>The test cases are designed to expose defects. The test cases in defect testing can be deliberately </a:t>
            </a:r>
            <a:r>
              <a:rPr lang="en-US" dirty="0" smtClean="0"/>
              <a:t>unclear (vague) </a:t>
            </a:r>
            <a:r>
              <a:rPr lang="en-US" dirty="0"/>
              <a:t>and need not reflect how the system is normally used. </a:t>
            </a:r>
          </a:p>
          <a:p>
            <a:endParaRPr lang="en-US" dirty="0"/>
          </a:p>
        </p:txBody>
      </p:sp>
    </p:spTree>
    <p:extLst>
      <p:ext uri="{BB962C8B-B14F-4D97-AF65-F5344CB8AC3E}">
        <p14:creationId xmlns:p14="http://schemas.microsoft.com/office/powerpoint/2010/main" val="38738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process goals</a:t>
            </a:r>
          </a:p>
        </p:txBody>
      </p:sp>
      <p:sp>
        <p:nvSpPr>
          <p:cNvPr id="3" name="Content Placeholder 2"/>
          <p:cNvSpPr>
            <a:spLocks noGrp="1"/>
          </p:cNvSpPr>
          <p:nvPr>
            <p:ph idx="1"/>
          </p:nvPr>
        </p:nvSpPr>
        <p:spPr>
          <a:xfrm>
            <a:off x="914400" y="1600200"/>
            <a:ext cx="8031163" cy="4114800"/>
          </a:xfrm>
        </p:spPr>
        <p:txBody>
          <a:bodyPr/>
          <a:lstStyle/>
          <a:p>
            <a:r>
              <a:rPr lang="en-US" sz="2800" dirty="0"/>
              <a:t>Validation testing</a:t>
            </a:r>
          </a:p>
          <a:p>
            <a:pPr lvl="1"/>
            <a:r>
              <a:rPr lang="en-US" sz="2400" dirty="0"/>
              <a:t>To demonstrate to the developer and the system customer that the software </a:t>
            </a:r>
            <a:r>
              <a:rPr lang="en-US" sz="2400" b="1" dirty="0"/>
              <a:t>meets its requirements </a:t>
            </a:r>
          </a:p>
          <a:p>
            <a:pPr lvl="1"/>
            <a:r>
              <a:rPr lang="en-US" sz="2400" dirty="0"/>
              <a:t>A </a:t>
            </a:r>
            <a:r>
              <a:rPr lang="en-US" sz="2400" b="1" dirty="0"/>
              <a:t>successful</a:t>
            </a:r>
            <a:r>
              <a:rPr lang="en-US" sz="2400" dirty="0"/>
              <a:t> </a:t>
            </a:r>
            <a:r>
              <a:rPr lang="en-US" sz="2400" b="1" dirty="0"/>
              <a:t>test</a:t>
            </a:r>
            <a:r>
              <a:rPr lang="en-US" sz="2400" dirty="0"/>
              <a:t> shows that the </a:t>
            </a:r>
            <a:r>
              <a:rPr lang="en-US" sz="2400" b="1" dirty="0"/>
              <a:t>system operates as intended.</a:t>
            </a:r>
          </a:p>
          <a:p>
            <a:r>
              <a:rPr lang="en-US" sz="2800" dirty="0">
                <a:solidFill>
                  <a:srgbClr val="000000"/>
                </a:solidFill>
              </a:rPr>
              <a:t>Defect testing</a:t>
            </a:r>
          </a:p>
          <a:p>
            <a:pPr lvl="1"/>
            <a:r>
              <a:rPr lang="en-US" sz="2400" dirty="0"/>
              <a:t>To discover faults or defects in the software where its </a:t>
            </a:r>
            <a:r>
              <a:rPr lang="en-US" sz="2400" dirty="0" smtClean="0"/>
              <a:t>behavior </a:t>
            </a:r>
            <a:r>
              <a:rPr lang="en-US" sz="2400" dirty="0"/>
              <a:t>is </a:t>
            </a:r>
            <a:r>
              <a:rPr lang="en-US" sz="2400" dirty="0" smtClean="0"/>
              <a:t>incorrect</a:t>
            </a:r>
            <a:endParaRPr lang="en-US" sz="2400" dirty="0"/>
          </a:p>
          <a:p>
            <a:pPr lvl="1"/>
            <a:r>
              <a:rPr lang="en-US" sz="2400" dirty="0"/>
              <a:t>A </a:t>
            </a:r>
            <a:r>
              <a:rPr lang="en-US" sz="2400" b="1" dirty="0"/>
              <a:t>successful test </a:t>
            </a:r>
            <a:r>
              <a:rPr lang="en-US" sz="2400" dirty="0"/>
              <a:t>is a test that makes the system </a:t>
            </a:r>
            <a:r>
              <a:rPr lang="en-US" sz="2400" b="1" dirty="0"/>
              <a:t>perform incorrectly </a:t>
            </a:r>
            <a:r>
              <a:rPr lang="en-US" sz="2400" dirty="0"/>
              <a:t>and so exposes a defect in the system.</a:t>
            </a:r>
          </a:p>
          <a:p>
            <a:endParaRPr lang="en-US" sz="3600" dirty="0"/>
          </a:p>
        </p:txBody>
      </p:sp>
    </p:spTree>
    <p:extLst>
      <p:ext uri="{BB962C8B-B14F-4D97-AF65-F5344CB8AC3E}">
        <p14:creationId xmlns:p14="http://schemas.microsoft.com/office/powerpoint/2010/main" val="342910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Verification vs validation</a:t>
            </a:r>
            <a:endParaRPr lang="en-US" dirty="0"/>
          </a:p>
        </p:txBody>
      </p:sp>
      <p:sp>
        <p:nvSpPr>
          <p:cNvPr id="3" name="Content Placeholder 2"/>
          <p:cNvSpPr>
            <a:spLocks noGrp="1"/>
          </p:cNvSpPr>
          <p:nvPr>
            <p:ph idx="1"/>
          </p:nvPr>
        </p:nvSpPr>
        <p:spPr>
          <a:xfrm>
            <a:off x="1173163" y="1828800"/>
            <a:ext cx="7772400" cy="4114800"/>
          </a:xfrm>
        </p:spPr>
        <p:txBody>
          <a:bodyPr/>
          <a:lstStyle/>
          <a:p>
            <a:r>
              <a:rPr lang="en-GB" dirty="0">
                <a:solidFill>
                  <a:srgbClr val="000000"/>
                </a:solidFill>
              </a:rPr>
              <a:t>Verification</a:t>
            </a:r>
            <a:r>
              <a:rPr lang="en-GB" dirty="0"/>
              <a:t>: </a:t>
            </a:r>
            <a:br>
              <a:rPr lang="en-GB" dirty="0"/>
            </a:br>
            <a:r>
              <a:rPr lang="en-GB" dirty="0"/>
              <a:t>	"Are we building the product right”.</a:t>
            </a:r>
          </a:p>
          <a:p>
            <a:r>
              <a:rPr lang="en-GB" dirty="0"/>
              <a:t>The software </a:t>
            </a:r>
            <a:r>
              <a:rPr lang="en-GB" dirty="0" smtClean="0"/>
              <a:t>behaviour should be correct.</a:t>
            </a:r>
            <a:endParaRPr lang="en-GB" dirty="0"/>
          </a:p>
          <a:p>
            <a:r>
              <a:rPr lang="en-GB" dirty="0">
                <a:solidFill>
                  <a:srgbClr val="000000"/>
                </a:solidFill>
              </a:rPr>
              <a:t>Validation</a:t>
            </a:r>
            <a:r>
              <a:rPr lang="en-GB" dirty="0"/>
              <a:t>:</a:t>
            </a:r>
            <a:br>
              <a:rPr lang="en-GB" dirty="0"/>
            </a:br>
            <a:r>
              <a:rPr lang="en-GB" dirty="0"/>
              <a:t>	 "Are we building the right product”.</a:t>
            </a:r>
          </a:p>
          <a:p>
            <a:r>
              <a:rPr lang="en-GB" dirty="0"/>
              <a:t>The software should do what the user really requires</a:t>
            </a:r>
            <a:r>
              <a:rPr lang="en-GB" dirty="0" smtClean="0"/>
              <a:t>.</a:t>
            </a:r>
            <a:endParaRPr lang="en-GB" dirty="0"/>
          </a:p>
        </p:txBody>
      </p:sp>
    </p:spTree>
    <p:extLst>
      <p:ext uri="{BB962C8B-B14F-4D97-AF65-F5344CB8AC3E}">
        <p14:creationId xmlns:p14="http://schemas.microsoft.com/office/powerpoint/2010/main" val="275355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V &amp; V confidence</a:t>
            </a:r>
            <a:endParaRPr lang="en-US" dirty="0"/>
          </a:p>
        </p:txBody>
      </p:sp>
      <p:sp>
        <p:nvSpPr>
          <p:cNvPr id="3" name="Content Placeholder 2"/>
          <p:cNvSpPr>
            <a:spLocks noGrp="1"/>
          </p:cNvSpPr>
          <p:nvPr>
            <p:ph idx="1"/>
          </p:nvPr>
        </p:nvSpPr>
        <p:spPr>
          <a:xfrm>
            <a:off x="838200" y="1143000"/>
            <a:ext cx="7772400" cy="4114800"/>
          </a:xfrm>
        </p:spPr>
        <p:txBody>
          <a:bodyPr/>
          <a:lstStyle/>
          <a:p>
            <a:pPr>
              <a:lnSpc>
                <a:spcPct val="90000"/>
              </a:lnSpc>
            </a:pPr>
            <a:r>
              <a:rPr lang="en-GB" sz="2000" dirty="0"/>
              <a:t>Aim of V &amp; V is to </a:t>
            </a:r>
            <a:r>
              <a:rPr lang="en-GB" sz="2000" b="1" dirty="0"/>
              <a:t>establish confidence</a:t>
            </a:r>
            <a:r>
              <a:rPr lang="en-GB" sz="2000" dirty="0"/>
              <a:t> that the system is </a:t>
            </a:r>
            <a:r>
              <a:rPr lang="en-GB" sz="2000" b="1" dirty="0"/>
              <a:t>‘fit for purpose</a:t>
            </a:r>
            <a:r>
              <a:rPr lang="en-GB" sz="2000" dirty="0" smtClean="0"/>
              <a:t>’.</a:t>
            </a:r>
          </a:p>
          <a:p>
            <a:r>
              <a:rPr lang="en-US" sz="2000" dirty="0" smtClean="0"/>
              <a:t>The </a:t>
            </a:r>
            <a:r>
              <a:rPr lang="en-US" sz="2000" dirty="0"/>
              <a:t>system </a:t>
            </a:r>
            <a:r>
              <a:rPr lang="en-US" sz="2000" dirty="0" smtClean="0"/>
              <a:t>must be </a:t>
            </a:r>
            <a:r>
              <a:rPr lang="en-US" sz="2000" dirty="0"/>
              <a:t>good enough for its intended use</a:t>
            </a:r>
            <a:endParaRPr lang="en-GB" sz="2000" dirty="0"/>
          </a:p>
          <a:p>
            <a:pPr>
              <a:lnSpc>
                <a:spcPct val="90000"/>
              </a:lnSpc>
            </a:pPr>
            <a:r>
              <a:rPr lang="en-GB" sz="2000" dirty="0"/>
              <a:t>Depends on system’s purpose, user expectations and marketing environment</a:t>
            </a:r>
          </a:p>
          <a:p>
            <a:pPr lvl="1">
              <a:lnSpc>
                <a:spcPct val="90000"/>
              </a:lnSpc>
            </a:pPr>
            <a:r>
              <a:rPr lang="en-GB" sz="2000" dirty="0">
                <a:solidFill>
                  <a:srgbClr val="000000"/>
                </a:solidFill>
              </a:rPr>
              <a:t>Software </a:t>
            </a:r>
            <a:r>
              <a:rPr lang="en-GB" sz="2000" dirty="0" smtClean="0">
                <a:solidFill>
                  <a:srgbClr val="000000"/>
                </a:solidFill>
              </a:rPr>
              <a:t>purpose</a:t>
            </a:r>
          </a:p>
          <a:p>
            <a:pPr lvl="2">
              <a:lnSpc>
                <a:spcPct val="90000"/>
              </a:lnSpc>
            </a:pPr>
            <a:r>
              <a:rPr lang="en-US" sz="2000" dirty="0" smtClean="0"/>
              <a:t>The </a:t>
            </a:r>
            <a:r>
              <a:rPr lang="en-US" sz="2000" dirty="0"/>
              <a:t>more critical the software, the more important that it </a:t>
            </a:r>
            <a:r>
              <a:rPr lang="en-US" sz="2000" dirty="0" smtClean="0"/>
              <a:t>is reliable</a:t>
            </a:r>
            <a:r>
              <a:rPr lang="en-US" sz="2000" dirty="0"/>
              <a:t>. For example, the level of confidence required for software used to </a:t>
            </a:r>
            <a:r>
              <a:rPr lang="en-US" sz="2000" dirty="0" smtClean="0"/>
              <a:t>control a </a:t>
            </a:r>
            <a:r>
              <a:rPr lang="en-US" sz="2000" dirty="0"/>
              <a:t>safety-critical system is much </a:t>
            </a:r>
            <a:r>
              <a:rPr lang="en-US" sz="2000" dirty="0" smtClean="0"/>
              <a:t>higher as compared to general purpose system</a:t>
            </a:r>
            <a:endParaRPr lang="en-GB" sz="2000" dirty="0">
              <a:solidFill>
                <a:srgbClr val="000000"/>
              </a:solidFill>
            </a:endParaRPr>
          </a:p>
          <a:p>
            <a:pPr lvl="1">
              <a:lnSpc>
                <a:spcPct val="90000"/>
              </a:lnSpc>
            </a:pPr>
            <a:r>
              <a:rPr lang="en-GB" sz="2000" dirty="0" smtClean="0">
                <a:solidFill>
                  <a:srgbClr val="000000"/>
                </a:solidFill>
              </a:rPr>
              <a:t>User </a:t>
            </a:r>
            <a:r>
              <a:rPr lang="en-GB" sz="2000" dirty="0">
                <a:solidFill>
                  <a:srgbClr val="000000"/>
                </a:solidFill>
              </a:rPr>
              <a:t>expectations</a:t>
            </a:r>
          </a:p>
          <a:p>
            <a:pPr lvl="2">
              <a:lnSpc>
                <a:spcPct val="90000"/>
              </a:lnSpc>
            </a:pPr>
            <a:r>
              <a:rPr lang="en-GB" sz="2000" dirty="0"/>
              <a:t>Users may have low expectations of certain kinds of software.</a:t>
            </a:r>
          </a:p>
          <a:p>
            <a:pPr lvl="1">
              <a:lnSpc>
                <a:spcPct val="90000"/>
              </a:lnSpc>
            </a:pPr>
            <a:r>
              <a:rPr lang="en-GB" sz="2000" dirty="0">
                <a:solidFill>
                  <a:srgbClr val="000000"/>
                </a:solidFill>
              </a:rPr>
              <a:t>Marketing environment</a:t>
            </a:r>
          </a:p>
          <a:p>
            <a:pPr lvl="2">
              <a:lnSpc>
                <a:spcPct val="90000"/>
              </a:lnSpc>
            </a:pPr>
            <a:r>
              <a:rPr lang="en-GB" sz="2000" dirty="0"/>
              <a:t>Getting a product to market early may be more important than finding defects in the program.</a:t>
            </a:r>
          </a:p>
          <a:p>
            <a:endParaRPr lang="en-US" sz="2000" dirty="0"/>
          </a:p>
        </p:txBody>
      </p:sp>
    </p:spTree>
    <p:extLst>
      <p:ext uri="{BB962C8B-B14F-4D97-AF65-F5344CB8AC3E}">
        <p14:creationId xmlns:p14="http://schemas.microsoft.com/office/powerpoint/2010/main" val="28058306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Inspections and testing</a:t>
            </a:r>
            <a:endParaRPr lang="en-US" dirty="0"/>
          </a:p>
        </p:txBody>
      </p:sp>
      <p:sp>
        <p:nvSpPr>
          <p:cNvPr id="3" name="Content Placeholder 2"/>
          <p:cNvSpPr>
            <a:spLocks noGrp="1"/>
          </p:cNvSpPr>
          <p:nvPr>
            <p:ph idx="1"/>
          </p:nvPr>
        </p:nvSpPr>
        <p:spPr>
          <a:xfrm>
            <a:off x="1173163" y="1447800"/>
            <a:ext cx="7772400" cy="4114800"/>
          </a:xfrm>
        </p:spPr>
        <p:txBody>
          <a:bodyPr/>
          <a:lstStyle/>
          <a:p>
            <a:pPr algn="just"/>
            <a:r>
              <a:rPr lang="en-GB" sz="2200" dirty="0">
                <a:solidFill>
                  <a:srgbClr val="FF0000"/>
                </a:solidFill>
              </a:rPr>
              <a:t>Software inspections</a:t>
            </a:r>
            <a:r>
              <a:rPr lang="en-GB" sz="2200" i="1" dirty="0">
                <a:solidFill>
                  <a:srgbClr val="FF0000"/>
                </a:solidFill>
              </a:rPr>
              <a:t> </a:t>
            </a:r>
            <a:r>
              <a:rPr lang="en-GB" sz="2200" dirty="0"/>
              <a:t>Concerned with analysis of </a:t>
            </a:r>
            <a:r>
              <a:rPr lang="en-GB" sz="2200" dirty="0" smtClean="0"/>
              <a:t> the </a:t>
            </a:r>
            <a:r>
              <a:rPr lang="en-GB" sz="2200" b="1" dirty="0" smtClean="0"/>
              <a:t>static </a:t>
            </a:r>
            <a:r>
              <a:rPr lang="en-GB" sz="2200" b="1" dirty="0"/>
              <a:t>system representation</a:t>
            </a:r>
            <a:r>
              <a:rPr lang="en-GB" sz="2200" dirty="0"/>
              <a:t> to discover problems</a:t>
            </a:r>
            <a:r>
              <a:rPr lang="en-GB" sz="2200" i="1" dirty="0"/>
              <a:t>  (</a:t>
            </a:r>
            <a:r>
              <a:rPr lang="en-GB" sz="2200" dirty="0"/>
              <a:t>static verification</a:t>
            </a:r>
            <a:r>
              <a:rPr lang="en-GB" sz="2200" dirty="0" smtClean="0"/>
              <a:t>)</a:t>
            </a:r>
          </a:p>
          <a:p>
            <a:r>
              <a:rPr lang="en-US" sz="2200" dirty="0"/>
              <a:t>Inspections mostly focus on the source code of a system but any readable </a:t>
            </a:r>
            <a:r>
              <a:rPr lang="en-US" sz="2200" dirty="0" smtClean="0"/>
              <a:t>representation of </a:t>
            </a:r>
            <a:r>
              <a:rPr lang="en-US" sz="2200" dirty="0"/>
              <a:t>the software, such as its requirements or a design model, can </a:t>
            </a:r>
            <a:r>
              <a:rPr lang="en-US" sz="2200" dirty="0" smtClean="0"/>
              <a:t>be inspected.</a:t>
            </a:r>
          </a:p>
          <a:p>
            <a:r>
              <a:rPr lang="en-US" sz="2200" dirty="0"/>
              <a:t>When you inspect a system, you use knowledge of the system, its </a:t>
            </a:r>
            <a:r>
              <a:rPr lang="en-US" sz="2200" dirty="0" smtClean="0"/>
              <a:t>application domain</a:t>
            </a:r>
            <a:r>
              <a:rPr lang="en-US" sz="2200" dirty="0"/>
              <a:t>, and the programming or modeling language to discover errors</a:t>
            </a:r>
            <a:r>
              <a:rPr lang="en-US" sz="2200" dirty="0" smtClean="0"/>
              <a:t>.</a:t>
            </a:r>
          </a:p>
          <a:p>
            <a:r>
              <a:rPr lang="en-GB" sz="2200" dirty="0">
                <a:solidFill>
                  <a:srgbClr val="FF0000"/>
                </a:solidFill>
              </a:rPr>
              <a:t>Software testing</a:t>
            </a:r>
            <a:r>
              <a:rPr lang="en-GB" sz="2200" i="1" dirty="0">
                <a:solidFill>
                  <a:srgbClr val="FF0000"/>
                </a:solidFill>
              </a:rPr>
              <a:t> </a:t>
            </a:r>
            <a:r>
              <a:rPr lang="en-GB" sz="2200" dirty="0"/>
              <a:t>Concerned with exercising and </a:t>
            </a:r>
            <a:br>
              <a:rPr lang="en-GB" sz="2200" dirty="0"/>
            </a:br>
            <a:r>
              <a:rPr lang="en-GB" sz="2200" dirty="0"/>
              <a:t>observing product behaviour (dynamic verification)</a:t>
            </a:r>
          </a:p>
          <a:p>
            <a:pPr lvl="1"/>
            <a:r>
              <a:rPr lang="en-GB" sz="2200" dirty="0"/>
              <a:t>The system is executed with test data and its operational behaviour is observed.</a:t>
            </a:r>
          </a:p>
          <a:p>
            <a:endParaRPr lang="en-US" sz="2200" dirty="0" smtClean="0"/>
          </a:p>
          <a:p>
            <a:endParaRPr lang="en-GB" sz="2200" dirty="0"/>
          </a:p>
          <a:p>
            <a:endParaRPr lang="en-US" sz="2200" dirty="0"/>
          </a:p>
        </p:txBody>
      </p:sp>
    </p:spTree>
    <p:extLst>
      <p:ext uri="{BB962C8B-B14F-4D97-AF65-F5344CB8AC3E}">
        <p14:creationId xmlns:p14="http://schemas.microsoft.com/office/powerpoint/2010/main" val="227401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Inspections and testing</a:t>
            </a:r>
            <a:r>
              <a:rPr lang="en-GB" dirty="0"/>
              <a:t> </a:t>
            </a:r>
            <a:endParaRPr lang="en-US" dirty="0"/>
          </a:p>
        </p:txBody>
      </p:sp>
      <p:pic>
        <p:nvPicPr>
          <p:cNvPr id="6" name="Picture 5"/>
          <p:cNvPicPr>
            <a:picLocks noChangeAspect="1"/>
          </p:cNvPicPr>
          <p:nvPr/>
        </p:nvPicPr>
        <p:blipFill>
          <a:blip r:embed="rId2" cstate="print"/>
          <a:stretch>
            <a:fillRect/>
          </a:stretch>
        </p:blipFill>
        <p:spPr>
          <a:xfrm>
            <a:off x="381000" y="1771012"/>
            <a:ext cx="8140627" cy="2953388"/>
          </a:xfrm>
          <a:prstGeom prst="rect">
            <a:avLst/>
          </a:prstGeom>
        </p:spPr>
      </p:pic>
    </p:spTree>
    <p:extLst>
      <p:ext uri="{BB962C8B-B14F-4D97-AF65-F5344CB8AC3E}">
        <p14:creationId xmlns:p14="http://schemas.microsoft.com/office/powerpoint/2010/main" val="40769490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inspections</a:t>
            </a:r>
          </a:p>
        </p:txBody>
      </p:sp>
      <p:sp>
        <p:nvSpPr>
          <p:cNvPr id="3" name="Content Placeholder 2"/>
          <p:cNvSpPr>
            <a:spLocks noGrp="1"/>
          </p:cNvSpPr>
          <p:nvPr>
            <p:ph idx="1"/>
          </p:nvPr>
        </p:nvSpPr>
        <p:spPr>
          <a:xfrm>
            <a:off x="914400" y="1600200"/>
            <a:ext cx="7772400" cy="4114800"/>
          </a:xfrm>
        </p:spPr>
        <p:txBody>
          <a:bodyPr/>
          <a:lstStyle/>
          <a:p>
            <a:pPr algn="just"/>
            <a:r>
              <a:rPr lang="en-US" sz="2400" dirty="0"/>
              <a:t>During testing, </a:t>
            </a:r>
            <a:r>
              <a:rPr lang="en-US" sz="2400" b="1" dirty="0"/>
              <a:t>errors can mask (hide) other errors</a:t>
            </a:r>
            <a:r>
              <a:rPr lang="en-US" sz="2400" dirty="0"/>
              <a:t>. Because inspection is a static process, you don’t have to be concerned with interactions between errors.</a:t>
            </a:r>
          </a:p>
          <a:p>
            <a:pPr algn="just"/>
            <a:r>
              <a:rPr lang="en-US" sz="2400" b="1" dirty="0"/>
              <a:t>Incomplete versions</a:t>
            </a:r>
            <a:r>
              <a:rPr lang="en-US" sz="2400" dirty="0"/>
              <a:t> of a system </a:t>
            </a:r>
            <a:r>
              <a:rPr lang="en-US" sz="2400" b="1" dirty="0"/>
              <a:t>can be inspected</a:t>
            </a:r>
            <a:r>
              <a:rPr lang="en-US" sz="2400" dirty="0"/>
              <a:t> without additional costs. If a program is incomplete, then you need to develop specialized </a:t>
            </a:r>
            <a:r>
              <a:rPr lang="en-US" sz="2400" dirty="0" smtClean="0"/>
              <a:t>test, to </a:t>
            </a:r>
            <a:r>
              <a:rPr lang="en-US" sz="2400" dirty="0"/>
              <a:t>test the parts that are available. </a:t>
            </a:r>
          </a:p>
          <a:p>
            <a:pPr algn="just"/>
            <a:r>
              <a:rPr lang="en-US" sz="2400" dirty="0"/>
              <a:t>As well as searching for program defects, an inspection can also consider </a:t>
            </a:r>
            <a:r>
              <a:rPr lang="en-US" sz="2400" b="1" dirty="0"/>
              <a:t>broader quality attributes</a:t>
            </a:r>
            <a:r>
              <a:rPr lang="en-US" sz="2400" dirty="0"/>
              <a:t> of a program, such as compliance with standards, </a:t>
            </a:r>
            <a:r>
              <a:rPr lang="en-US" sz="2400" dirty="0" smtClean="0"/>
              <a:t>and </a:t>
            </a:r>
            <a:r>
              <a:rPr lang="en-US" sz="2400" dirty="0"/>
              <a:t>maintainability. </a:t>
            </a:r>
          </a:p>
          <a:p>
            <a:pPr algn="just"/>
            <a:endParaRPr lang="en-US" sz="2400" dirty="0"/>
          </a:p>
        </p:txBody>
      </p:sp>
    </p:spTree>
    <p:extLst>
      <p:ext uri="{BB962C8B-B14F-4D97-AF65-F5344CB8AC3E}">
        <p14:creationId xmlns:p14="http://schemas.microsoft.com/office/powerpoint/2010/main" val="353449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Inspections and testing</a:t>
            </a:r>
            <a:endParaRPr lang="en-US" dirty="0"/>
          </a:p>
        </p:txBody>
      </p:sp>
      <p:sp>
        <p:nvSpPr>
          <p:cNvPr id="3" name="Content Placeholder 2"/>
          <p:cNvSpPr>
            <a:spLocks noGrp="1"/>
          </p:cNvSpPr>
          <p:nvPr>
            <p:ph idx="1"/>
          </p:nvPr>
        </p:nvSpPr>
        <p:spPr>
          <a:xfrm>
            <a:off x="1173163" y="1752600"/>
            <a:ext cx="7772400" cy="4114800"/>
          </a:xfrm>
        </p:spPr>
        <p:txBody>
          <a:bodyPr/>
          <a:lstStyle/>
          <a:p>
            <a:pPr algn="just"/>
            <a:r>
              <a:rPr lang="en-GB" sz="2800" dirty="0"/>
              <a:t>Inspections and testing are complementary and not opposing verification techniques.</a:t>
            </a:r>
          </a:p>
          <a:p>
            <a:pPr algn="just"/>
            <a:r>
              <a:rPr lang="en-GB" sz="2800" dirty="0"/>
              <a:t>Both should be used during the V &amp; V process.</a:t>
            </a:r>
          </a:p>
          <a:p>
            <a:pPr algn="just"/>
            <a:r>
              <a:rPr lang="en-GB" sz="2800" dirty="0" smtClean="0"/>
              <a:t>Inspections </a:t>
            </a:r>
            <a:r>
              <a:rPr lang="en-GB" sz="2800" dirty="0"/>
              <a:t>cannot check non-functional characteristics such as performance, usability, etc.</a:t>
            </a:r>
          </a:p>
          <a:p>
            <a:pPr algn="just"/>
            <a:endParaRPr lang="en-US" sz="2800" dirty="0"/>
          </a:p>
        </p:txBody>
      </p:sp>
    </p:spTree>
    <p:extLst>
      <p:ext uri="{BB962C8B-B14F-4D97-AF65-F5344CB8AC3E}">
        <p14:creationId xmlns:p14="http://schemas.microsoft.com/office/powerpoint/2010/main" val="251011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model of the software testing process</a:t>
            </a:r>
            <a:r>
              <a:rPr lang="en-GB" dirty="0"/>
              <a:t> </a:t>
            </a:r>
            <a:endParaRPr lang="en-US" dirty="0"/>
          </a:p>
        </p:txBody>
      </p:sp>
      <p:pic>
        <p:nvPicPr>
          <p:cNvPr id="6" name="Picture 5"/>
          <p:cNvPicPr>
            <a:picLocks noChangeAspect="1"/>
          </p:cNvPicPr>
          <p:nvPr/>
        </p:nvPicPr>
        <p:blipFill>
          <a:blip r:embed="rId2" cstate="print"/>
          <a:stretch>
            <a:fillRect/>
          </a:stretch>
        </p:blipFill>
        <p:spPr>
          <a:xfrm>
            <a:off x="217098" y="2667000"/>
            <a:ext cx="8728465" cy="1937160"/>
          </a:xfrm>
          <a:prstGeom prst="rect">
            <a:avLst/>
          </a:prstGeom>
        </p:spPr>
      </p:pic>
    </p:spTree>
    <p:extLst>
      <p:ext uri="{BB962C8B-B14F-4D97-AF65-F5344CB8AC3E}">
        <p14:creationId xmlns:p14="http://schemas.microsoft.com/office/powerpoint/2010/main" val="24083858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testing</a:t>
            </a:r>
          </a:p>
        </p:txBody>
      </p:sp>
      <p:sp>
        <p:nvSpPr>
          <p:cNvPr id="3" name="Content Placeholder 2"/>
          <p:cNvSpPr>
            <a:spLocks noGrp="1"/>
          </p:cNvSpPr>
          <p:nvPr>
            <p:ph idx="1"/>
          </p:nvPr>
        </p:nvSpPr>
        <p:spPr>
          <a:xfrm>
            <a:off x="1173163" y="1828800"/>
            <a:ext cx="7772400" cy="4114800"/>
          </a:xfrm>
        </p:spPr>
        <p:txBody>
          <a:bodyPr/>
          <a:lstStyle/>
          <a:p>
            <a:r>
              <a:rPr lang="en-US" sz="2800" b="1" dirty="0"/>
              <a:t>Development testing</a:t>
            </a:r>
            <a:r>
              <a:rPr lang="en-US" sz="2800" dirty="0"/>
              <a:t>, where the system is tested during development to discover bugs and defects. </a:t>
            </a:r>
          </a:p>
          <a:p>
            <a:r>
              <a:rPr lang="en-US" sz="2800" b="1" dirty="0"/>
              <a:t>Release testing</a:t>
            </a:r>
            <a:r>
              <a:rPr lang="en-US" sz="2800" dirty="0" smtClean="0"/>
              <a:t>, where a separate testing team test a complete version of the system before it is released to users. </a:t>
            </a:r>
            <a:endParaRPr lang="en-US" sz="2800" dirty="0"/>
          </a:p>
          <a:p>
            <a:r>
              <a:rPr lang="en-US" sz="2800" b="1" dirty="0"/>
              <a:t>User testing</a:t>
            </a:r>
            <a:r>
              <a:rPr lang="en-US" sz="2800" dirty="0"/>
              <a:t>, where users </a:t>
            </a:r>
            <a:r>
              <a:rPr lang="en-US" sz="2800" dirty="0" smtClean="0"/>
              <a:t>or </a:t>
            </a:r>
            <a:r>
              <a:rPr lang="en-US" sz="2800" dirty="0"/>
              <a:t>potential users of a system test the system in their own environment.</a:t>
            </a:r>
          </a:p>
          <a:p>
            <a:endParaRPr lang="en-US" sz="2800" dirty="0"/>
          </a:p>
        </p:txBody>
      </p:sp>
    </p:spTree>
    <p:extLst>
      <p:ext uri="{BB962C8B-B14F-4D97-AF65-F5344CB8AC3E}">
        <p14:creationId xmlns:p14="http://schemas.microsoft.com/office/powerpoint/2010/main" val="284587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dirty="0"/>
              <a:t>Development testing</a:t>
            </a:r>
          </a:p>
        </p:txBody>
      </p:sp>
      <p:sp>
        <p:nvSpPr>
          <p:cNvPr id="3" name="Content Placeholder 2"/>
          <p:cNvSpPr>
            <a:spLocks noGrp="1"/>
          </p:cNvSpPr>
          <p:nvPr>
            <p:ph idx="1"/>
          </p:nvPr>
        </p:nvSpPr>
        <p:spPr>
          <a:xfrm>
            <a:off x="685800" y="1524000"/>
            <a:ext cx="7772400" cy="4114800"/>
          </a:xfrm>
        </p:spPr>
        <p:txBody>
          <a:bodyPr/>
          <a:lstStyle/>
          <a:p>
            <a:pPr algn="just"/>
            <a:r>
              <a:rPr lang="en-US" sz="2400" dirty="0"/>
              <a:t>Development testing includes all testing activities that are carried out by the team developing the system. </a:t>
            </a:r>
          </a:p>
          <a:p>
            <a:pPr marL="457200" indent="-457200" algn="just">
              <a:buFont typeface="+mj-lt"/>
              <a:buAutoNum type="arabicPeriod"/>
            </a:pPr>
            <a:r>
              <a:rPr lang="en-US" sz="2400" b="1" dirty="0"/>
              <a:t>Unit testing</a:t>
            </a:r>
            <a:r>
              <a:rPr lang="en-US" sz="2400" dirty="0"/>
              <a:t>, where individual program units or object classes are tested. Unit testing should focus on testing the functionality of objects or methods.</a:t>
            </a:r>
            <a:endParaRPr lang="en-GB" sz="2400" dirty="0"/>
          </a:p>
          <a:p>
            <a:pPr marL="457200" indent="-457200" algn="just">
              <a:buFont typeface="+mj-lt"/>
              <a:buAutoNum type="arabicPeriod"/>
            </a:pPr>
            <a:r>
              <a:rPr lang="en-US" sz="2400" b="1" dirty="0"/>
              <a:t>Component testing</a:t>
            </a:r>
            <a:r>
              <a:rPr lang="en-US" sz="2400" dirty="0"/>
              <a:t>, where several individual units are integrated to create composite components. Component testing should focus on testing </a:t>
            </a:r>
            <a:r>
              <a:rPr lang="en-US" sz="2400" b="1" dirty="0"/>
              <a:t>component interfaces</a:t>
            </a:r>
            <a:r>
              <a:rPr lang="en-US" sz="2400" dirty="0"/>
              <a:t>.</a:t>
            </a:r>
            <a:endParaRPr lang="en-GB" sz="2400" dirty="0"/>
          </a:p>
          <a:p>
            <a:pPr marL="457200" indent="-457200" algn="just">
              <a:buFont typeface="+mj-lt"/>
              <a:buAutoNum type="arabicPeriod"/>
            </a:pPr>
            <a:r>
              <a:rPr lang="en-US" sz="2400" b="1" dirty="0"/>
              <a:t>System testing</a:t>
            </a:r>
            <a:r>
              <a:rPr lang="en-US" sz="2400" dirty="0"/>
              <a:t>, where some or all of the components in a system are integrated and the system is tested as a whole. System testing should focus on testing </a:t>
            </a:r>
            <a:r>
              <a:rPr lang="en-US" sz="2400" b="1" dirty="0"/>
              <a:t>component interactions</a:t>
            </a:r>
            <a:r>
              <a:rPr lang="en-US" sz="2400" dirty="0"/>
              <a:t>.</a:t>
            </a:r>
            <a:endParaRPr lang="en-GB" sz="2400" dirty="0"/>
          </a:p>
          <a:p>
            <a:pPr algn="just"/>
            <a:endParaRPr lang="en-US" sz="2400" dirty="0"/>
          </a:p>
        </p:txBody>
      </p:sp>
    </p:spTree>
    <p:extLst>
      <p:ext uri="{BB962C8B-B14F-4D97-AF65-F5344CB8AC3E}">
        <p14:creationId xmlns:p14="http://schemas.microsoft.com/office/powerpoint/2010/main" val="274008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testing</a:t>
            </a:r>
          </a:p>
        </p:txBody>
      </p:sp>
      <p:sp>
        <p:nvSpPr>
          <p:cNvPr id="3" name="Content Placeholder 2"/>
          <p:cNvSpPr>
            <a:spLocks noGrp="1"/>
          </p:cNvSpPr>
          <p:nvPr>
            <p:ph idx="1"/>
          </p:nvPr>
        </p:nvSpPr>
        <p:spPr>
          <a:xfrm>
            <a:off x="1066800" y="1828800"/>
            <a:ext cx="7772400" cy="4114800"/>
          </a:xfrm>
        </p:spPr>
        <p:txBody>
          <a:bodyPr/>
          <a:lstStyle/>
          <a:p>
            <a:r>
              <a:rPr lang="en-US" sz="2800" dirty="0"/>
              <a:t>Unit testing is the process of testing individual </a:t>
            </a:r>
            <a:r>
              <a:rPr lang="en-US" sz="2800" dirty="0" smtClean="0"/>
              <a:t>program </a:t>
            </a:r>
            <a:r>
              <a:rPr lang="en-US" sz="2800" dirty="0"/>
              <a:t>in isolation.</a:t>
            </a:r>
          </a:p>
          <a:p>
            <a:r>
              <a:rPr lang="en-US" sz="2800" dirty="0"/>
              <a:t>It is a defect testing process.</a:t>
            </a:r>
          </a:p>
          <a:p>
            <a:r>
              <a:rPr lang="en-US" sz="2800" dirty="0"/>
              <a:t>Units may be:</a:t>
            </a:r>
          </a:p>
          <a:p>
            <a:pPr lvl="1"/>
            <a:r>
              <a:rPr lang="en-US" sz="2400" dirty="0"/>
              <a:t>Individual functions or methods within an object </a:t>
            </a:r>
          </a:p>
          <a:p>
            <a:pPr lvl="1"/>
            <a:r>
              <a:rPr lang="en-US" sz="2400" dirty="0"/>
              <a:t>Object classes with several attributes and methods </a:t>
            </a:r>
          </a:p>
        </p:txBody>
      </p:sp>
    </p:spTree>
    <p:extLst>
      <p:ext uri="{BB962C8B-B14F-4D97-AF65-F5344CB8AC3E}">
        <p14:creationId xmlns:p14="http://schemas.microsoft.com/office/powerpoint/2010/main" val="352830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 class testing</a:t>
            </a:r>
            <a:endParaRPr lang="en-US" dirty="0"/>
          </a:p>
        </p:txBody>
      </p:sp>
      <p:sp>
        <p:nvSpPr>
          <p:cNvPr id="3" name="Content Placeholder 2"/>
          <p:cNvSpPr>
            <a:spLocks noGrp="1"/>
          </p:cNvSpPr>
          <p:nvPr>
            <p:ph idx="1"/>
          </p:nvPr>
        </p:nvSpPr>
        <p:spPr>
          <a:xfrm>
            <a:off x="914400" y="1676400"/>
            <a:ext cx="7772400" cy="4114800"/>
          </a:xfrm>
        </p:spPr>
        <p:txBody>
          <a:bodyPr/>
          <a:lstStyle/>
          <a:p>
            <a:pPr algn="just"/>
            <a:r>
              <a:rPr lang="en-GB" sz="2800" dirty="0"/>
              <a:t>Complete test coverage of </a:t>
            </a:r>
            <a:r>
              <a:rPr lang="en-GB" sz="2800" dirty="0" smtClean="0"/>
              <a:t>all the features of the class </a:t>
            </a:r>
          </a:p>
          <a:p>
            <a:pPr lvl="1" algn="just"/>
            <a:r>
              <a:rPr lang="en-GB" sz="2400" dirty="0" smtClean="0"/>
              <a:t>Testing </a:t>
            </a:r>
            <a:r>
              <a:rPr lang="en-GB" sz="2400" dirty="0"/>
              <a:t>all operations associated with an object</a:t>
            </a:r>
            <a:r>
              <a:rPr lang="en-US" sz="2400" dirty="0"/>
              <a:t> </a:t>
            </a:r>
            <a:endParaRPr lang="en-GB" sz="2400" dirty="0"/>
          </a:p>
          <a:p>
            <a:pPr lvl="1" algn="just"/>
            <a:r>
              <a:rPr lang="en-US" sz="2400" dirty="0"/>
              <a:t>set and check the value of all attributes associated with the </a:t>
            </a:r>
            <a:r>
              <a:rPr lang="en-US" sz="2400" dirty="0" smtClean="0"/>
              <a:t>object;</a:t>
            </a:r>
          </a:p>
          <a:p>
            <a:pPr algn="just"/>
            <a:r>
              <a:rPr lang="en-GB" sz="2800" dirty="0" smtClean="0"/>
              <a:t>Inheritance </a:t>
            </a:r>
            <a:r>
              <a:rPr lang="en-GB" sz="2800" dirty="0"/>
              <a:t>makes it more difficult to design object class tests as the information to be tested is not localised.</a:t>
            </a:r>
          </a:p>
          <a:p>
            <a:pPr algn="just"/>
            <a:endParaRPr lang="en-US" sz="2800" dirty="0"/>
          </a:p>
        </p:txBody>
      </p:sp>
    </p:spTree>
    <p:extLst>
      <p:ext uri="{BB962C8B-B14F-4D97-AF65-F5344CB8AC3E}">
        <p14:creationId xmlns:p14="http://schemas.microsoft.com/office/powerpoint/2010/main" val="67914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testing</a:t>
            </a:r>
          </a:p>
        </p:txBody>
      </p:sp>
      <p:sp>
        <p:nvSpPr>
          <p:cNvPr id="3" name="Content Placeholder 2"/>
          <p:cNvSpPr>
            <a:spLocks noGrp="1"/>
          </p:cNvSpPr>
          <p:nvPr>
            <p:ph idx="1"/>
          </p:nvPr>
        </p:nvSpPr>
        <p:spPr>
          <a:xfrm>
            <a:off x="990600" y="1828800"/>
            <a:ext cx="7772400" cy="4114800"/>
          </a:xfrm>
        </p:spPr>
        <p:txBody>
          <a:bodyPr/>
          <a:lstStyle/>
          <a:p>
            <a:r>
              <a:rPr lang="en-US" dirty="0"/>
              <a:t>Whenever possible, unit testing should be automated so that tests are run and checked without manual </a:t>
            </a:r>
            <a:r>
              <a:rPr lang="en-US" dirty="0" smtClean="0"/>
              <a:t>involvement.</a:t>
            </a:r>
            <a:endParaRPr lang="en-US" dirty="0"/>
          </a:p>
          <a:p>
            <a:r>
              <a:rPr lang="en-US" dirty="0"/>
              <a:t>In automated unit testing, you make use of a test automation framework (such as </a:t>
            </a:r>
            <a:r>
              <a:rPr lang="en-US" dirty="0" err="1"/>
              <a:t>JUnit</a:t>
            </a:r>
            <a:r>
              <a:rPr lang="en-US" dirty="0"/>
              <a:t>) to write and run your program tests. </a:t>
            </a:r>
          </a:p>
        </p:txBody>
      </p:sp>
    </p:spTree>
    <p:extLst>
      <p:ext uri="{BB962C8B-B14F-4D97-AF65-F5344CB8AC3E}">
        <p14:creationId xmlns:p14="http://schemas.microsoft.com/office/powerpoint/2010/main" val="252211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test components</a:t>
            </a:r>
          </a:p>
        </p:txBody>
      </p:sp>
      <p:sp>
        <p:nvSpPr>
          <p:cNvPr id="3" name="Content Placeholder 2"/>
          <p:cNvSpPr>
            <a:spLocks noGrp="1"/>
          </p:cNvSpPr>
          <p:nvPr>
            <p:ph idx="1"/>
          </p:nvPr>
        </p:nvSpPr>
        <p:spPr>
          <a:xfrm>
            <a:off x="838200" y="1828800"/>
            <a:ext cx="7772400" cy="4114800"/>
          </a:xfrm>
        </p:spPr>
        <p:txBody>
          <a:bodyPr/>
          <a:lstStyle/>
          <a:p>
            <a:pPr algn="just"/>
            <a:r>
              <a:rPr lang="en-US" sz="2800" dirty="0"/>
              <a:t>A </a:t>
            </a:r>
            <a:r>
              <a:rPr lang="en-US" sz="2800" b="1" dirty="0"/>
              <a:t>setup part</a:t>
            </a:r>
            <a:r>
              <a:rPr lang="en-US" sz="2800" dirty="0"/>
              <a:t>, where you initialize the system with the test case, namely the inputs and expected outputs.</a:t>
            </a:r>
            <a:endParaRPr lang="en-GB" sz="2800" dirty="0"/>
          </a:p>
          <a:p>
            <a:pPr algn="just"/>
            <a:r>
              <a:rPr lang="en-US" sz="2800" dirty="0"/>
              <a:t>A </a:t>
            </a:r>
            <a:r>
              <a:rPr lang="en-US" sz="2800" b="1" dirty="0"/>
              <a:t>call part</a:t>
            </a:r>
            <a:r>
              <a:rPr lang="en-US" sz="2800" dirty="0"/>
              <a:t>, where you call the object or method to be tested.</a:t>
            </a:r>
            <a:endParaRPr lang="en-GB" sz="2800" dirty="0"/>
          </a:p>
          <a:p>
            <a:pPr algn="just"/>
            <a:r>
              <a:rPr lang="en-US" sz="2800" dirty="0"/>
              <a:t>An </a:t>
            </a:r>
            <a:r>
              <a:rPr lang="en-US" sz="2800" b="1" dirty="0"/>
              <a:t>assertion part</a:t>
            </a:r>
            <a:r>
              <a:rPr lang="en-US" sz="2800" dirty="0"/>
              <a:t> where you compare the result of the call with the expected result. If the assertion evaluates to true, the test has been successful  if false, then it has failed.</a:t>
            </a:r>
            <a:endParaRPr lang="en-GB" sz="2800" dirty="0"/>
          </a:p>
          <a:p>
            <a:pPr algn="just"/>
            <a:endParaRPr lang="en-US" sz="2800" dirty="0"/>
          </a:p>
        </p:txBody>
      </p:sp>
    </p:spTree>
    <p:extLst>
      <p:ext uri="{BB962C8B-B14F-4D97-AF65-F5344CB8AC3E}">
        <p14:creationId xmlns:p14="http://schemas.microsoft.com/office/powerpoint/2010/main" val="343242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8229600" cy="1143000"/>
          </a:xfrm>
        </p:spPr>
        <p:txBody>
          <a:bodyPr/>
          <a:lstStyle/>
          <a:p>
            <a:r>
              <a:rPr lang="en-US" dirty="0" smtClean="0"/>
              <a:t>Person class</a:t>
            </a:r>
            <a:endParaRPr lang="en-US" dirty="0"/>
          </a:p>
        </p:txBody>
      </p:sp>
      <p:sp>
        <p:nvSpPr>
          <p:cNvPr id="4" name="Rectangle 3"/>
          <p:cNvSpPr/>
          <p:nvPr/>
        </p:nvSpPr>
        <p:spPr>
          <a:xfrm>
            <a:off x="304800" y="1508879"/>
            <a:ext cx="4572000" cy="3139321"/>
          </a:xfrm>
          <a:prstGeom prst="rect">
            <a:avLst/>
          </a:prstGeom>
        </p:spPr>
        <p:txBody>
          <a:bodyPr>
            <a:spAutoFit/>
          </a:bodyPr>
          <a:lstStyle/>
          <a:p>
            <a:r>
              <a:rPr lang="en-US" b="1" dirty="0">
                <a:solidFill>
                  <a:srgbClr val="7F0055"/>
                </a:solidFill>
                <a:latin typeface="CourierNewPS-BoldMT"/>
              </a:rPr>
              <a:t>public class </a:t>
            </a:r>
            <a:r>
              <a:rPr lang="en-US" dirty="0">
                <a:solidFill>
                  <a:srgbClr val="000000"/>
                </a:solidFill>
                <a:latin typeface="CourierNewPSMT"/>
              </a:rPr>
              <a:t>Person {</a:t>
            </a:r>
          </a:p>
          <a:p>
            <a:r>
              <a:rPr lang="en-US" dirty="0">
                <a:solidFill>
                  <a:srgbClr val="3F7F5F"/>
                </a:solidFill>
                <a:latin typeface="CourierNewPSMT"/>
              </a:rPr>
              <a:t>// fields</a:t>
            </a:r>
          </a:p>
          <a:p>
            <a:r>
              <a:rPr lang="en-US" b="1" dirty="0">
                <a:solidFill>
                  <a:srgbClr val="7F0055"/>
                </a:solidFill>
                <a:latin typeface="CourierNewPS-BoldMT"/>
              </a:rPr>
              <a:t>private </a:t>
            </a:r>
            <a:r>
              <a:rPr lang="en-US" dirty="0">
                <a:solidFill>
                  <a:srgbClr val="000000"/>
                </a:solidFill>
                <a:latin typeface="CourierNewPSMT"/>
              </a:rPr>
              <a:t>String </a:t>
            </a:r>
            <a:r>
              <a:rPr lang="en-US" dirty="0">
                <a:solidFill>
                  <a:srgbClr val="0000C1"/>
                </a:solidFill>
                <a:latin typeface="CourierNewPSMT"/>
              </a:rPr>
              <a:t>name</a:t>
            </a:r>
            <a:r>
              <a:rPr lang="en-US" dirty="0">
                <a:solidFill>
                  <a:srgbClr val="000000"/>
                </a:solidFill>
                <a:latin typeface="CourierNewPSMT"/>
              </a:rPr>
              <a:t>; </a:t>
            </a:r>
            <a:r>
              <a:rPr lang="en-US" dirty="0">
                <a:solidFill>
                  <a:srgbClr val="3F7F5F"/>
                </a:solidFill>
                <a:latin typeface="CourierNewPSMT"/>
              </a:rPr>
              <a:t>// name of the person</a:t>
            </a:r>
          </a:p>
          <a:p>
            <a:r>
              <a:rPr lang="en-US" b="1" dirty="0">
                <a:solidFill>
                  <a:srgbClr val="7F0055"/>
                </a:solidFill>
                <a:latin typeface="CourierNewPS-BoldMT"/>
              </a:rPr>
              <a:t>private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C1"/>
                </a:solidFill>
                <a:latin typeface="CourierNewPSMT"/>
              </a:rPr>
              <a:t>maximumBooks</a:t>
            </a:r>
            <a:r>
              <a:rPr lang="en-US" dirty="0">
                <a:solidFill>
                  <a:srgbClr val="000000"/>
                </a:solidFill>
                <a:latin typeface="CourierNewPSMT"/>
              </a:rPr>
              <a:t>; </a:t>
            </a:r>
            <a:r>
              <a:rPr lang="en-US" dirty="0">
                <a:solidFill>
                  <a:srgbClr val="3F7F5F"/>
                </a:solidFill>
                <a:latin typeface="CourierNewPSMT"/>
              </a:rPr>
              <a:t>// most books the person can check out</a:t>
            </a:r>
          </a:p>
          <a:p>
            <a:r>
              <a:rPr lang="en-US" dirty="0">
                <a:solidFill>
                  <a:srgbClr val="3F7F5F"/>
                </a:solidFill>
                <a:latin typeface="CourierNewPSMT"/>
              </a:rPr>
              <a:t>// constructors</a:t>
            </a:r>
          </a:p>
          <a:p>
            <a:r>
              <a:rPr lang="en-US" b="1" dirty="0">
                <a:solidFill>
                  <a:srgbClr val="7F0055"/>
                </a:solidFill>
                <a:latin typeface="CourierNewPS-BoldMT"/>
              </a:rPr>
              <a:t>public </a:t>
            </a:r>
            <a:r>
              <a:rPr lang="en-US" dirty="0">
                <a:solidFill>
                  <a:srgbClr val="000000"/>
                </a:solidFill>
                <a:latin typeface="CourierNewPSMT"/>
              </a:rPr>
              <a:t>Person() {</a:t>
            </a:r>
          </a:p>
          <a:p>
            <a:r>
              <a:rPr lang="en-US" dirty="0">
                <a:solidFill>
                  <a:srgbClr val="0000C1"/>
                </a:solidFill>
                <a:latin typeface="CourierNewPSMT"/>
              </a:rPr>
              <a:t>name </a:t>
            </a:r>
            <a:r>
              <a:rPr lang="en-US" dirty="0">
                <a:solidFill>
                  <a:srgbClr val="000000"/>
                </a:solidFill>
                <a:latin typeface="CourierNewPSMT"/>
              </a:rPr>
              <a:t>= </a:t>
            </a:r>
            <a:r>
              <a:rPr lang="en-US" dirty="0">
                <a:solidFill>
                  <a:srgbClr val="2A00FF"/>
                </a:solidFill>
                <a:latin typeface="CourierNewPSMT"/>
              </a:rPr>
              <a:t>"unknown name"</a:t>
            </a:r>
            <a:r>
              <a:rPr lang="en-US" dirty="0">
                <a:solidFill>
                  <a:srgbClr val="000000"/>
                </a:solidFill>
                <a:latin typeface="CourierNewPSMT"/>
              </a:rPr>
              <a:t>;</a:t>
            </a:r>
          </a:p>
          <a:p>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3;</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
        <p:nvSpPr>
          <p:cNvPr id="5" name="Rectangle 4"/>
          <p:cNvSpPr/>
          <p:nvPr/>
        </p:nvSpPr>
        <p:spPr>
          <a:xfrm>
            <a:off x="4892899" y="1386514"/>
            <a:ext cx="4572000" cy="2585323"/>
          </a:xfrm>
          <a:prstGeom prst="rect">
            <a:avLst/>
          </a:prstGeom>
        </p:spPr>
        <p:txBody>
          <a:bodyPr>
            <a:spAutoFit/>
          </a:bodyPr>
          <a:lstStyle/>
          <a:p>
            <a:r>
              <a:rPr lang="en-US" dirty="0">
                <a:solidFill>
                  <a:srgbClr val="3F7F5F"/>
                </a:solidFill>
                <a:latin typeface="CourierNewPSMT"/>
              </a:rPr>
              <a:t>//methods</a:t>
            </a:r>
          </a:p>
          <a:p>
            <a:r>
              <a:rPr lang="en-US" b="1" dirty="0">
                <a:solidFill>
                  <a:srgbClr val="7F0055"/>
                </a:solidFill>
                <a:latin typeface="CourierNewPS-BoldMT"/>
              </a:rPr>
              <a:t>public </a:t>
            </a:r>
            <a:r>
              <a:rPr lang="en-US" dirty="0">
                <a:solidFill>
                  <a:srgbClr val="000000"/>
                </a:solidFill>
                <a:latin typeface="CourierNewPSMT"/>
              </a:rPr>
              <a:t>String </a:t>
            </a:r>
            <a:r>
              <a:rPr lang="en-US" dirty="0" err="1">
                <a:solidFill>
                  <a:srgbClr val="000000"/>
                </a:solidFill>
                <a:latin typeface="CourierNewPSMT"/>
              </a:rPr>
              <a:t>getName</a:t>
            </a:r>
            <a:r>
              <a:rPr lang="en-US" dirty="0">
                <a:solidFill>
                  <a:srgbClr val="000000"/>
                </a:solidFill>
                <a:latin typeface="CourierNewPSMT"/>
              </a:rPr>
              <a:t>() {</a:t>
            </a:r>
          </a:p>
          <a:p>
            <a:r>
              <a:rPr lang="en-US" b="1" dirty="0">
                <a:solidFill>
                  <a:srgbClr val="7F0055"/>
                </a:solidFill>
                <a:latin typeface="CourierNewPS-BoldMT"/>
              </a:rPr>
              <a:t>return </a:t>
            </a:r>
            <a:r>
              <a:rPr lang="en-US" dirty="0">
                <a:solidFill>
                  <a:srgbClr val="0000C1"/>
                </a:solidFill>
                <a:latin typeface="CourierNewPSMT"/>
              </a:rPr>
              <a:t>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setName</a:t>
            </a:r>
            <a:r>
              <a:rPr lang="en-US" dirty="0">
                <a:solidFill>
                  <a:srgbClr val="000000"/>
                </a:solidFill>
                <a:latin typeface="CourierNewPSMT"/>
              </a:rPr>
              <a:t>(String </a:t>
            </a:r>
            <a:r>
              <a:rPr lang="en-US" dirty="0" err="1">
                <a:solidFill>
                  <a:srgbClr val="000000"/>
                </a:solidFill>
                <a:latin typeface="CourierNewPSMT"/>
              </a:rPr>
              <a:t>anyName</a:t>
            </a:r>
            <a:r>
              <a:rPr lang="en-US" dirty="0">
                <a:solidFill>
                  <a:srgbClr val="000000"/>
                </a:solidFill>
                <a:latin typeface="CourierNewPSMT"/>
              </a:rPr>
              <a:t>) {</a:t>
            </a:r>
          </a:p>
          <a:p>
            <a:r>
              <a:rPr lang="en-US" dirty="0">
                <a:solidFill>
                  <a:srgbClr val="0000C1"/>
                </a:solidFill>
                <a:latin typeface="CourierNewPSMT"/>
              </a:rPr>
              <a:t>name </a:t>
            </a:r>
            <a:r>
              <a:rPr lang="en-US" dirty="0">
                <a:solidFill>
                  <a:srgbClr val="000000"/>
                </a:solidFill>
                <a:latin typeface="CourierNewPSMT"/>
              </a:rPr>
              <a:t>= </a:t>
            </a:r>
            <a:r>
              <a:rPr lang="en-US" dirty="0" err="1">
                <a:solidFill>
                  <a:srgbClr val="000000"/>
                </a:solidFill>
                <a:latin typeface="CourierNewPSMT"/>
              </a:rPr>
              <a:t>anyName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getMaximumBooks</a:t>
            </a:r>
            <a:r>
              <a:rPr lang="en-US" dirty="0">
                <a:solidFill>
                  <a:srgbClr val="000000"/>
                </a:solidFill>
                <a:latin typeface="CourierNewPSMT"/>
              </a:rPr>
              <a:t>() </a:t>
            </a:r>
            <a:r>
              <a:rPr lang="en-US" dirty="0" smtClean="0">
                <a:solidFill>
                  <a:srgbClr val="000000"/>
                </a:solidFill>
                <a:latin typeface="CourierNewPSMT"/>
              </a:rPr>
              <a:t>{</a:t>
            </a:r>
          </a:p>
          <a:p>
            <a:endParaRPr lang="en-US" dirty="0"/>
          </a:p>
        </p:txBody>
      </p:sp>
      <p:sp>
        <p:nvSpPr>
          <p:cNvPr id="6" name="Rectangle 5"/>
          <p:cNvSpPr/>
          <p:nvPr/>
        </p:nvSpPr>
        <p:spPr>
          <a:xfrm>
            <a:off x="4892899" y="3733800"/>
            <a:ext cx="4572000" cy="2031325"/>
          </a:xfrm>
          <a:prstGeom prst="rect">
            <a:avLst/>
          </a:prstGeom>
        </p:spPr>
        <p:txBody>
          <a:bodyPr>
            <a:spAutoFit/>
          </a:bodyPr>
          <a:lstStyle/>
          <a:p>
            <a:r>
              <a:rPr lang="en-US" b="1" dirty="0">
                <a:solidFill>
                  <a:srgbClr val="7F0055"/>
                </a:solidFill>
                <a:latin typeface="CourierNewPS-BoldMT"/>
              </a:rPr>
              <a:t>return </a:t>
            </a:r>
            <a:r>
              <a:rPr lang="en-US" dirty="0" err="1">
                <a:solidFill>
                  <a:srgbClr val="0000C1"/>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setMaximumBooks</a:t>
            </a:r>
            <a:r>
              <a:rPr lang="en-US" dirty="0">
                <a:solidFill>
                  <a:srgbClr val="000000"/>
                </a:solidFill>
                <a:latin typeface="CourierNewPSMT"/>
              </a:rPr>
              <a:t>(</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maximumBooks</a:t>
            </a:r>
            <a:r>
              <a:rPr lang="en-US" dirty="0">
                <a:solidFill>
                  <a:srgbClr val="000000"/>
                </a:solidFill>
                <a:latin typeface="CourierNewPSMT"/>
              </a:rPr>
              <a:t>) {</a:t>
            </a:r>
          </a:p>
          <a:p>
            <a:r>
              <a:rPr lang="en-US" b="1" dirty="0" err="1">
                <a:solidFill>
                  <a:srgbClr val="7F0055"/>
                </a:solidFill>
                <a:latin typeface="CourierNewPS-BoldMT"/>
              </a:rPr>
              <a:t>this</a:t>
            </a:r>
            <a:r>
              <a:rPr lang="en-US" dirty="0" err="1">
                <a:solidFill>
                  <a:srgbClr val="000000"/>
                </a:solidFill>
                <a:latin typeface="CourierNewPSMT"/>
              </a:rPr>
              <a:t>.</a:t>
            </a:r>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a:t>
            </a:r>
            <a:r>
              <a:rPr lang="en-US" dirty="0" err="1">
                <a:solidFill>
                  <a:srgbClr val="000000"/>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357055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a:t>
            </a:r>
            <a:endParaRPr lang="en-US" dirty="0"/>
          </a:p>
        </p:txBody>
      </p:sp>
      <p:sp>
        <p:nvSpPr>
          <p:cNvPr id="4" name="Rectangle 3"/>
          <p:cNvSpPr/>
          <p:nvPr/>
        </p:nvSpPr>
        <p:spPr>
          <a:xfrm>
            <a:off x="304800" y="1423004"/>
            <a:ext cx="5181600" cy="1754326"/>
          </a:xfrm>
          <a:prstGeom prst="rect">
            <a:avLst/>
          </a:prstGeom>
        </p:spPr>
        <p:txBody>
          <a:bodyPr wrap="square">
            <a:spAutoFit/>
          </a:bodyPr>
          <a:lstStyle/>
          <a:p>
            <a:r>
              <a:rPr lang="en-US" b="1" dirty="0">
                <a:solidFill>
                  <a:srgbClr val="7F0055"/>
                </a:solidFill>
                <a:latin typeface="CourierNewPS-BoldMT"/>
              </a:rPr>
              <a:t>import </a:t>
            </a:r>
            <a:r>
              <a:rPr lang="en-US" dirty="0" err="1">
                <a:solidFill>
                  <a:srgbClr val="000000"/>
                </a:solidFill>
                <a:latin typeface="CourierNewPSMT"/>
              </a:rPr>
              <a:t>junit.framework.TestCase</a:t>
            </a:r>
            <a:r>
              <a:rPr lang="en-US" dirty="0">
                <a:solidFill>
                  <a:srgbClr val="000000"/>
                </a:solidFill>
                <a:latin typeface="CourierNewPSMT"/>
              </a:rPr>
              <a:t>;</a:t>
            </a:r>
          </a:p>
          <a:p>
            <a:r>
              <a:rPr lang="en-US" b="1" dirty="0">
                <a:solidFill>
                  <a:srgbClr val="7F0055"/>
                </a:solidFill>
                <a:latin typeface="CourierNewPS-BoldMT"/>
              </a:rPr>
              <a:t>public class </a:t>
            </a:r>
            <a:r>
              <a:rPr lang="en-US" dirty="0" err="1">
                <a:solidFill>
                  <a:srgbClr val="000000"/>
                </a:solidFill>
                <a:latin typeface="CourierNewPSMT"/>
              </a:rPr>
              <a:t>PersonTest</a:t>
            </a:r>
            <a:r>
              <a:rPr lang="en-US" dirty="0">
                <a:solidFill>
                  <a:srgbClr val="000000"/>
                </a:solidFill>
                <a:latin typeface="CourierNewPSMT"/>
              </a:rPr>
              <a:t> </a:t>
            </a:r>
            <a:r>
              <a:rPr lang="en-US" b="1" dirty="0">
                <a:solidFill>
                  <a:srgbClr val="7F0055"/>
                </a:solidFill>
                <a:latin typeface="CourierNewPS-BoldMT"/>
              </a:rPr>
              <a:t>extends </a:t>
            </a:r>
            <a:r>
              <a:rPr lang="en-US" dirty="0" err="1">
                <a:solidFill>
                  <a:srgbClr val="000000"/>
                </a:solidFill>
                <a:latin typeface="CourierNewPSMT"/>
              </a:rPr>
              <a:t>TestCase</a:t>
            </a:r>
            <a:r>
              <a:rPr lang="en-US" dirty="0">
                <a:solidFill>
                  <a:srgbClr val="000000"/>
                </a:solidFill>
                <a:latin typeface="CourierNewPSMT"/>
              </a:rPr>
              <a:t> {</a:t>
            </a:r>
          </a:p>
          <a:p>
            <a:r>
              <a:rPr lang="en-US" b="1" dirty="0">
                <a:solidFill>
                  <a:srgbClr val="7F0055"/>
                </a:solidFill>
                <a:latin typeface="CourierNewPS-BoldMT"/>
              </a:rPr>
              <a:t>public void </a:t>
            </a:r>
            <a:r>
              <a:rPr lang="en-US" dirty="0" err="1">
                <a:solidFill>
                  <a:srgbClr val="000000"/>
                </a:solidFill>
                <a:latin typeface="CourierNewPSMT"/>
              </a:rPr>
              <a:t>testPerson</a:t>
            </a:r>
            <a:r>
              <a:rPr lang="en-US" dirty="0">
                <a:solidFill>
                  <a:srgbClr val="000000"/>
                </a:solidFill>
                <a:latin typeface="CourierNewPSMT"/>
              </a:rPr>
              <a:t>() {</a:t>
            </a:r>
          </a:p>
          <a:p>
            <a:r>
              <a:rPr lang="en-US" dirty="0">
                <a:solidFill>
                  <a:srgbClr val="000000"/>
                </a:solidFill>
                <a:latin typeface="CourierNewPSMT"/>
              </a:rPr>
              <a:t>Person p1 = </a:t>
            </a:r>
            <a:r>
              <a:rPr lang="en-US" b="1" dirty="0">
                <a:solidFill>
                  <a:srgbClr val="7F0055"/>
                </a:solidFill>
                <a:latin typeface="CourierNewPS-BoldMT"/>
              </a:rPr>
              <a:t>new </a:t>
            </a:r>
            <a:r>
              <a:rPr lang="en-US" dirty="0">
                <a:solidFill>
                  <a:srgbClr val="000000"/>
                </a:solidFill>
                <a:latin typeface="CourierNewPSMT"/>
              </a:rPr>
              <a:t>Person();</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"unknown name"</a:t>
            </a:r>
            <a:r>
              <a:rPr lang="en-US" dirty="0">
                <a:solidFill>
                  <a:srgbClr val="000000"/>
                </a:solidFill>
                <a:latin typeface="CourierNewPSMT"/>
              </a:rPr>
              <a:t>, p1.getName</a:t>
            </a:r>
            <a:r>
              <a:rPr lang="en-US" dirty="0" smtClean="0">
                <a:solidFill>
                  <a:srgbClr val="000000"/>
                </a:solidFill>
                <a:latin typeface="CourierNewPSMT"/>
              </a:rPr>
              <a:t>());</a:t>
            </a:r>
          </a:p>
          <a:p>
            <a:endParaRPr lang="en-US" dirty="0"/>
          </a:p>
        </p:txBody>
      </p:sp>
      <p:sp>
        <p:nvSpPr>
          <p:cNvPr id="5" name="Rectangle 4"/>
          <p:cNvSpPr/>
          <p:nvPr/>
        </p:nvSpPr>
        <p:spPr>
          <a:xfrm>
            <a:off x="304800" y="2859881"/>
            <a:ext cx="4953000" cy="3693319"/>
          </a:xfrm>
          <a:prstGeom prst="rect">
            <a:avLst/>
          </a:prstGeom>
        </p:spPr>
        <p:txBody>
          <a:bodyPr wrap="square">
            <a:spAutoFit/>
          </a:bodyPr>
          <a:lstStyle/>
          <a:p>
            <a:r>
              <a:rPr lang="en-US" i="1" dirty="0" err="1">
                <a:solidFill>
                  <a:srgbClr val="000000"/>
                </a:solidFill>
                <a:latin typeface="CourierNewPS-ItalicMT"/>
              </a:rPr>
              <a:t>assertEquals</a:t>
            </a:r>
            <a:r>
              <a:rPr lang="en-US" dirty="0">
                <a:solidFill>
                  <a:srgbClr val="000000"/>
                </a:solidFill>
                <a:latin typeface="CourierNewPSMT"/>
              </a:rPr>
              <a:t>(3, p1.getMaximumBooks());</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testSetName</a:t>
            </a:r>
            <a:r>
              <a:rPr lang="en-US" dirty="0">
                <a:solidFill>
                  <a:srgbClr val="000000"/>
                </a:solidFill>
                <a:latin typeface="CourierNewPSMT"/>
              </a:rPr>
              <a:t>() {</a:t>
            </a:r>
          </a:p>
          <a:p>
            <a:r>
              <a:rPr lang="en-US" dirty="0">
                <a:solidFill>
                  <a:srgbClr val="000000"/>
                </a:solidFill>
                <a:latin typeface="CourierNewPSMT"/>
              </a:rPr>
              <a:t>Person p2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p2.setName(</a:t>
            </a:r>
            <a:r>
              <a:rPr lang="en-US" dirty="0">
                <a:solidFill>
                  <a:srgbClr val="2A00FF"/>
                </a:solidFill>
                <a:latin typeface="CourierNewPSMT"/>
              </a:rPr>
              <a:t>"Fred"</a:t>
            </a:r>
            <a:r>
              <a:rPr lang="en-US" dirty="0">
                <a:solidFill>
                  <a:srgbClr val="000000"/>
                </a:solidFill>
                <a:latin typeface="CourierNewPSMT"/>
              </a:rPr>
              <a:t>);</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"Fred"</a:t>
            </a:r>
            <a:r>
              <a:rPr lang="en-US" dirty="0">
                <a:solidFill>
                  <a:srgbClr val="000000"/>
                </a:solidFill>
                <a:latin typeface="CourierNewPSMT"/>
              </a:rPr>
              <a:t>, p2.getName());</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testSetMaximumBooks</a:t>
            </a:r>
            <a:r>
              <a:rPr lang="en-US" dirty="0">
                <a:solidFill>
                  <a:srgbClr val="000000"/>
                </a:solidFill>
                <a:latin typeface="CourierNewPSMT"/>
              </a:rPr>
              <a:t>() {</a:t>
            </a:r>
          </a:p>
          <a:p>
            <a:r>
              <a:rPr lang="en-US" dirty="0">
                <a:solidFill>
                  <a:srgbClr val="000000"/>
                </a:solidFill>
                <a:latin typeface="CourierNewPSMT"/>
              </a:rPr>
              <a:t>Person p3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p3.setMaximumBooks(10);</a:t>
            </a:r>
          </a:p>
          <a:p>
            <a:r>
              <a:rPr lang="en-US" i="1" dirty="0" err="1">
                <a:solidFill>
                  <a:srgbClr val="000000"/>
                </a:solidFill>
                <a:latin typeface="CourierNewPS-ItalicMT"/>
              </a:rPr>
              <a:t>assertEquals</a:t>
            </a:r>
            <a:r>
              <a:rPr lang="en-US" dirty="0">
                <a:solidFill>
                  <a:srgbClr val="000000"/>
                </a:solidFill>
                <a:latin typeface="CourierNewPSMT"/>
              </a:rPr>
              <a:t>(10, p3.getMaximumBooks());</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1329300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Unit test effectiveness</a:t>
            </a:r>
          </a:p>
        </p:txBody>
      </p:sp>
      <p:sp>
        <p:nvSpPr>
          <p:cNvPr id="3" name="Content Placeholder 2"/>
          <p:cNvSpPr>
            <a:spLocks noGrp="1"/>
          </p:cNvSpPr>
          <p:nvPr>
            <p:ph idx="1"/>
          </p:nvPr>
        </p:nvSpPr>
        <p:spPr>
          <a:xfrm>
            <a:off x="1066800" y="1447800"/>
            <a:ext cx="7772400" cy="4114800"/>
          </a:xfrm>
        </p:spPr>
        <p:txBody>
          <a:bodyPr/>
          <a:lstStyle/>
          <a:p>
            <a:pPr algn="just"/>
            <a:r>
              <a:rPr lang="en-US" sz="2200" dirty="0" smtClean="0"/>
              <a:t>If </a:t>
            </a:r>
            <a:r>
              <a:rPr lang="en-US" sz="2200" dirty="0"/>
              <a:t>there are defects in the </a:t>
            </a:r>
            <a:r>
              <a:rPr lang="en-US" sz="2200" dirty="0" smtClean="0"/>
              <a:t>program, </a:t>
            </a:r>
            <a:r>
              <a:rPr lang="en-US" sz="2200" dirty="0"/>
              <a:t>these should be revealed by test cases. </a:t>
            </a:r>
            <a:endParaRPr lang="en-GB" sz="2200" dirty="0"/>
          </a:p>
          <a:p>
            <a:pPr algn="just"/>
            <a:r>
              <a:rPr lang="en-US" sz="2200" dirty="0"/>
              <a:t>This leads to 2 types of unit test case:</a:t>
            </a:r>
          </a:p>
          <a:p>
            <a:pPr lvl="1" algn="just"/>
            <a:r>
              <a:rPr lang="en-US" sz="2200" dirty="0"/>
              <a:t>The first of these should reflect normal operation of a program and should show that the </a:t>
            </a:r>
            <a:r>
              <a:rPr lang="en-US" sz="2200" dirty="0" smtClean="0"/>
              <a:t>program </a:t>
            </a:r>
            <a:r>
              <a:rPr lang="en-US" sz="2200" dirty="0"/>
              <a:t>works as expected. </a:t>
            </a:r>
          </a:p>
          <a:p>
            <a:pPr lvl="1" algn="just"/>
            <a:r>
              <a:rPr lang="en-US" sz="2200" dirty="0"/>
              <a:t>The other kind of test case should be based on testing experience of where common problems arise. It should use abnormal inputs to check that these are properly processed and do not crash the component.</a:t>
            </a:r>
            <a:r>
              <a:rPr lang="en-GB" sz="2200" dirty="0"/>
              <a:t> </a:t>
            </a:r>
            <a:endParaRPr lang="en-US" sz="2200" dirty="0"/>
          </a:p>
          <a:p>
            <a:pPr algn="just"/>
            <a:endParaRPr lang="en-US" sz="2200" dirty="0"/>
          </a:p>
        </p:txBody>
      </p:sp>
    </p:spTree>
    <p:extLst>
      <p:ext uri="{BB962C8B-B14F-4D97-AF65-F5344CB8AC3E}">
        <p14:creationId xmlns:p14="http://schemas.microsoft.com/office/powerpoint/2010/main" val="332515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 Testing</a:t>
            </a:r>
            <a:endParaRPr lang="en-US" dirty="0"/>
          </a:p>
        </p:txBody>
      </p:sp>
      <p:sp>
        <p:nvSpPr>
          <p:cNvPr id="3" name="Content Placeholder 2"/>
          <p:cNvSpPr>
            <a:spLocks noGrp="1"/>
          </p:cNvSpPr>
          <p:nvPr>
            <p:ph idx="1"/>
          </p:nvPr>
        </p:nvSpPr>
        <p:spPr>
          <a:xfrm>
            <a:off x="914400" y="1600200"/>
            <a:ext cx="7772400" cy="4114800"/>
          </a:xfrm>
        </p:spPr>
        <p:txBody>
          <a:bodyPr/>
          <a:lstStyle/>
          <a:p>
            <a:r>
              <a:rPr lang="en-US" sz="2400" dirty="0"/>
              <a:t>Software components are often composite components that are made up of several interacting objects. </a:t>
            </a:r>
            <a:r>
              <a:rPr lang="en-US" sz="2000" dirty="0" smtClean="0"/>
              <a:t> </a:t>
            </a:r>
            <a:endParaRPr lang="en-US" sz="2000" dirty="0"/>
          </a:p>
          <a:p>
            <a:r>
              <a:rPr lang="en-US" sz="2400" dirty="0"/>
              <a:t>You access the functionality of these objects through the defined component interface. </a:t>
            </a:r>
          </a:p>
          <a:p>
            <a:r>
              <a:rPr lang="en-US" sz="2400" dirty="0"/>
              <a:t>Testing composite components should therefore focus on showing that the component interface behaves according to its specification. </a:t>
            </a:r>
          </a:p>
          <a:p>
            <a:pPr lvl="1"/>
            <a:r>
              <a:rPr lang="en-US" sz="2000" dirty="0"/>
              <a:t>You can assume that unit tests on the individual objects within the component have been completed.</a:t>
            </a:r>
            <a:r>
              <a:rPr lang="en-GB" sz="2000" dirty="0"/>
              <a:t> </a:t>
            </a:r>
            <a:endParaRPr lang="en-US" sz="2000" dirty="0"/>
          </a:p>
          <a:p>
            <a:endParaRPr lang="en-US" sz="2400" dirty="0"/>
          </a:p>
        </p:txBody>
      </p:sp>
    </p:spTree>
    <p:extLst>
      <p:ext uri="{BB962C8B-B14F-4D97-AF65-F5344CB8AC3E}">
        <p14:creationId xmlns:p14="http://schemas.microsoft.com/office/powerpoint/2010/main" val="16974353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testing</a:t>
            </a:r>
            <a:r>
              <a:rPr lang="en-GB" dirty="0"/>
              <a:t> </a:t>
            </a:r>
            <a:endParaRPr lang="en-US" dirty="0"/>
          </a:p>
        </p:txBody>
      </p:sp>
      <p:pic>
        <p:nvPicPr>
          <p:cNvPr id="7" name="Picture 6"/>
          <p:cNvPicPr>
            <a:picLocks noChangeAspect="1"/>
          </p:cNvPicPr>
          <p:nvPr/>
        </p:nvPicPr>
        <p:blipFill>
          <a:blip r:embed="rId2" cstate="print"/>
          <a:stretch>
            <a:fillRect/>
          </a:stretch>
        </p:blipFill>
        <p:spPr>
          <a:xfrm>
            <a:off x="1752600" y="2057400"/>
            <a:ext cx="4713007" cy="3921818"/>
          </a:xfrm>
          <a:prstGeom prst="rect">
            <a:avLst/>
          </a:prstGeom>
        </p:spPr>
      </p:pic>
    </p:spTree>
    <p:extLst>
      <p:ext uri="{BB962C8B-B14F-4D97-AF65-F5344CB8AC3E}">
        <p14:creationId xmlns:p14="http://schemas.microsoft.com/office/powerpoint/2010/main" val="11372634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Interface errors</a:t>
            </a:r>
            <a:endParaRPr lang="en-US" dirty="0"/>
          </a:p>
        </p:txBody>
      </p:sp>
      <p:sp>
        <p:nvSpPr>
          <p:cNvPr id="3" name="Content Placeholder 2"/>
          <p:cNvSpPr>
            <a:spLocks noGrp="1"/>
          </p:cNvSpPr>
          <p:nvPr>
            <p:ph idx="1"/>
          </p:nvPr>
        </p:nvSpPr>
        <p:spPr>
          <a:xfrm>
            <a:off x="762000" y="1600200"/>
            <a:ext cx="7772400" cy="4114800"/>
          </a:xfrm>
        </p:spPr>
        <p:txBody>
          <a:bodyPr/>
          <a:lstStyle/>
          <a:p>
            <a:r>
              <a:rPr lang="en-GB" sz="2200" dirty="0"/>
              <a:t>Interface misuse</a:t>
            </a:r>
          </a:p>
          <a:p>
            <a:pPr lvl="1"/>
            <a:r>
              <a:rPr lang="en-GB" sz="2200" dirty="0"/>
              <a:t>A calling </a:t>
            </a:r>
            <a:r>
              <a:rPr lang="en-GB" sz="2200" dirty="0" smtClean="0"/>
              <a:t>component </a:t>
            </a:r>
            <a:r>
              <a:rPr lang="en-GB" sz="2200" dirty="0"/>
              <a:t>calls another </a:t>
            </a:r>
            <a:r>
              <a:rPr lang="en-GB" sz="2200" dirty="0" smtClean="0"/>
              <a:t>component </a:t>
            </a:r>
            <a:r>
              <a:rPr lang="en-GB" sz="2200" dirty="0"/>
              <a:t>and makes an error in its use of its interface e.g. parameters in the wrong order.</a:t>
            </a:r>
          </a:p>
          <a:p>
            <a:r>
              <a:rPr lang="en-GB" sz="2200" dirty="0"/>
              <a:t>Interface misunderstanding</a:t>
            </a:r>
          </a:p>
          <a:p>
            <a:pPr lvl="1"/>
            <a:r>
              <a:rPr lang="en-GB" sz="2200" dirty="0"/>
              <a:t>A calling </a:t>
            </a:r>
            <a:r>
              <a:rPr lang="en-GB" sz="2200" dirty="0" smtClean="0"/>
              <a:t>component </a:t>
            </a:r>
            <a:r>
              <a:rPr lang="en-GB" sz="2200" dirty="0"/>
              <a:t>embeds assumptions about the behaviour of the called </a:t>
            </a:r>
            <a:r>
              <a:rPr lang="en-GB" sz="2200" dirty="0" smtClean="0"/>
              <a:t>component </a:t>
            </a:r>
            <a:r>
              <a:rPr lang="en-GB" sz="2200" dirty="0"/>
              <a:t>which are </a:t>
            </a:r>
            <a:r>
              <a:rPr lang="en-GB" sz="2200" dirty="0" smtClean="0"/>
              <a:t>incorrect.</a:t>
            </a:r>
          </a:p>
          <a:p>
            <a:pPr lvl="1"/>
            <a:r>
              <a:rPr lang="en-US" sz="2200" dirty="0"/>
              <a:t>B</a:t>
            </a:r>
            <a:r>
              <a:rPr lang="en-US" sz="2200" dirty="0" smtClean="0"/>
              <a:t>inary search method </a:t>
            </a:r>
            <a:r>
              <a:rPr lang="en-US" sz="2200" dirty="0"/>
              <a:t>may be called with a parameter that is an unordered array.</a:t>
            </a:r>
            <a:endParaRPr lang="en-GB" sz="2200" dirty="0" smtClean="0"/>
          </a:p>
          <a:p>
            <a:r>
              <a:rPr lang="en-GB" sz="2200" dirty="0" smtClean="0"/>
              <a:t>Timing </a:t>
            </a:r>
            <a:r>
              <a:rPr lang="en-GB" sz="2200" dirty="0"/>
              <a:t>errors</a:t>
            </a:r>
          </a:p>
          <a:p>
            <a:pPr lvl="1"/>
            <a:r>
              <a:rPr lang="en-GB" sz="2200" dirty="0"/>
              <a:t>The called and the calling component operate at different speeds and out-of-date information is accessed</a:t>
            </a:r>
            <a:r>
              <a:rPr lang="en-GB" sz="2200" dirty="0" smtClean="0"/>
              <a:t>.</a:t>
            </a:r>
            <a:endParaRPr lang="en-GB" sz="2200" dirty="0"/>
          </a:p>
        </p:txBody>
      </p:sp>
    </p:spTree>
    <p:extLst>
      <p:ext uri="{BB962C8B-B14F-4D97-AF65-F5344CB8AC3E}">
        <p14:creationId xmlns:p14="http://schemas.microsoft.com/office/powerpoint/2010/main" val="135628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1066800" y="1600200"/>
            <a:ext cx="7772400" cy="4114800"/>
          </a:xfrm>
        </p:spPr>
        <p:txBody>
          <a:bodyPr/>
          <a:lstStyle/>
          <a:p>
            <a:r>
              <a:rPr lang="en-US" sz="2400" dirty="0"/>
              <a:t>Testing can only show the presence of errors in a program. It cannot demonstrate that there are no remaining faults.</a:t>
            </a:r>
            <a:endParaRPr lang="en-GB" sz="2400" dirty="0"/>
          </a:p>
          <a:p>
            <a:r>
              <a:rPr lang="en-US" sz="2400" dirty="0"/>
              <a:t>Development testing is the responsibility of the software development team. A separate team should be responsible for testing a system before it is released to customers. </a:t>
            </a:r>
            <a:endParaRPr lang="en-GB" sz="2400" dirty="0"/>
          </a:p>
          <a:p>
            <a:r>
              <a:rPr lang="en-US" sz="2400" dirty="0"/>
              <a:t>Development testing includes unit testing, in which you test individual objects and methods </a:t>
            </a:r>
            <a:r>
              <a:rPr lang="en-US" sz="2400" dirty="0" smtClean="0"/>
              <a:t>, component </a:t>
            </a:r>
            <a:r>
              <a:rPr lang="en-US" sz="2400" dirty="0"/>
              <a:t>testing in which you test related groups of objects  and system testing, in which you test partial or complete systems.</a:t>
            </a:r>
            <a:endParaRPr lang="en-GB" sz="2400" dirty="0"/>
          </a:p>
          <a:p>
            <a:endParaRPr lang="en-US" sz="2400" dirty="0"/>
          </a:p>
        </p:txBody>
      </p:sp>
    </p:spTree>
    <p:extLst>
      <p:ext uri="{BB962C8B-B14F-4D97-AF65-F5344CB8AC3E}">
        <p14:creationId xmlns:p14="http://schemas.microsoft.com/office/powerpoint/2010/main" val="270060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25138</TotalTime>
  <Words>1541</Words>
  <Application>Microsoft Office PowerPoint</Application>
  <PresentationFormat>On-screen Show (4:3)</PresentationFormat>
  <Paragraphs>157</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CourierNewPS-BoldMT</vt:lpstr>
      <vt:lpstr>CourierNewPS-ItalicMT</vt:lpstr>
      <vt:lpstr>CourierNewPSMT</vt:lpstr>
      <vt:lpstr>Monotype Sorts</vt:lpstr>
      <vt:lpstr>Times New Roman</vt:lpstr>
      <vt:lpstr>Min halsduk</vt:lpstr>
      <vt:lpstr>Software Testing</vt:lpstr>
      <vt:lpstr>Topics covered</vt:lpstr>
      <vt:lpstr>Program testing</vt:lpstr>
      <vt:lpstr>Program testing goals</vt:lpstr>
      <vt:lpstr>Validation and defect testing</vt:lpstr>
      <vt:lpstr>Testing process goals</vt:lpstr>
      <vt:lpstr>Verification vs validation</vt:lpstr>
      <vt:lpstr>V &amp; V confidence</vt:lpstr>
      <vt:lpstr>Inspections and testing</vt:lpstr>
      <vt:lpstr>Inspections and testing </vt:lpstr>
      <vt:lpstr>Advantages of inspections</vt:lpstr>
      <vt:lpstr>Inspections and testing</vt:lpstr>
      <vt:lpstr>A model of the software testing process </vt:lpstr>
      <vt:lpstr>Stages of testing</vt:lpstr>
      <vt:lpstr>Development testing</vt:lpstr>
      <vt:lpstr>Unit testing</vt:lpstr>
      <vt:lpstr>Object class testing</vt:lpstr>
      <vt:lpstr>Automated testing</vt:lpstr>
      <vt:lpstr>Automated test components</vt:lpstr>
      <vt:lpstr>Person class</vt:lpstr>
      <vt:lpstr>Test Case</vt:lpstr>
      <vt:lpstr>Unit test effectiveness</vt:lpstr>
      <vt:lpstr>Component Testing</vt:lpstr>
      <vt:lpstr>Interface testing </vt:lpstr>
      <vt:lpstr>Interface errors</vt:lpstr>
      <vt:lpstr>Key points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dc:title>
  <dc:creator>Ahmad Salman Khan</dc:creator>
  <cp:lastModifiedBy>Windows User</cp:lastModifiedBy>
  <cp:revision>64</cp:revision>
  <dcterms:created xsi:type="dcterms:W3CDTF">2006-08-16T00:00:00Z</dcterms:created>
  <dcterms:modified xsi:type="dcterms:W3CDTF">2021-12-23T04:04:01Z</dcterms:modified>
</cp:coreProperties>
</file>
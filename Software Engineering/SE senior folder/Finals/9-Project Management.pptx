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44" autoAdjust="0"/>
    <p:restoredTop sz="94660"/>
  </p:normalViewPr>
  <p:slideViewPr>
    <p:cSldViewPr>
      <p:cViewPr varScale="1">
        <p:scale>
          <a:sx n="68" d="100"/>
          <a:sy n="68" d="100"/>
        </p:scale>
        <p:origin x="136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-3175" y="2438400"/>
            <a:ext cx="9147175" cy="1063625"/>
            <a:chOff x="-2" y="1536"/>
            <a:chExt cx="5762" cy="670"/>
          </a:xfrm>
        </p:grpSpPr>
        <p:grpSp>
          <p:nvGrpSpPr>
            <p:cNvPr id="3075" name="Group 3"/>
            <p:cNvGrpSpPr>
              <a:grpSpLocks/>
            </p:cNvGrpSpPr>
            <p:nvPr/>
          </p:nvGrpSpPr>
          <p:grpSpPr bwMode="auto">
            <a:xfrm flipH="1">
              <a:off x="-2" y="1562"/>
              <a:ext cx="5762" cy="638"/>
              <a:chOff x="-2" y="1562"/>
              <a:chExt cx="5762" cy="638"/>
            </a:xfrm>
          </p:grpSpPr>
          <p:sp>
            <p:nvSpPr>
              <p:cNvPr id="3076" name="Freeform 4"/>
              <p:cNvSpPr>
                <a:spLocks/>
              </p:cNvSpPr>
              <p:nvPr/>
            </p:nvSpPr>
            <p:spPr bwMode="ltGray">
              <a:xfrm rot="-5400000">
                <a:off x="2559" y="-993"/>
                <a:ext cx="624" cy="5745"/>
              </a:xfrm>
              <a:custGeom>
                <a:avLst/>
                <a:gdLst>
                  <a:gd name="T0" fmla="*/ 0 w 1000"/>
                  <a:gd name="T1" fmla="*/ 0 h 720"/>
                  <a:gd name="T2" fmla="*/ 0 w 1000"/>
                  <a:gd name="T3" fmla="*/ 720 h 720"/>
                  <a:gd name="T4" fmla="*/ 1000 w 1000"/>
                  <a:gd name="T5" fmla="*/ 720 h 720"/>
                  <a:gd name="T6" fmla="*/ 1000 w 1000"/>
                  <a:gd name="T7" fmla="*/ 0 h 720"/>
                  <a:gd name="T8" fmla="*/ 0 w 1000"/>
                  <a:gd name="T9" fmla="*/ 0 h 7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7" name="Freeform 5"/>
              <p:cNvSpPr>
                <a:spLocks/>
              </p:cNvSpPr>
              <p:nvPr/>
            </p:nvSpPr>
            <p:spPr bwMode="ltGray">
              <a:xfrm rot="-5400000">
                <a:off x="1323" y="1669"/>
                <a:ext cx="624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8" name="Freeform 6"/>
              <p:cNvSpPr>
                <a:spLocks/>
              </p:cNvSpPr>
              <p:nvPr/>
            </p:nvSpPr>
            <p:spPr bwMode="ltGray">
              <a:xfrm rot="-5400000">
                <a:off x="982" y="1669"/>
                <a:ext cx="624" cy="4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9" name="Freeform 7"/>
              <p:cNvSpPr>
                <a:spLocks/>
              </p:cNvSpPr>
              <p:nvPr/>
            </p:nvSpPr>
            <p:spPr bwMode="ltGray">
              <a:xfrm rot="-5400000">
                <a:off x="-57" y="1752"/>
                <a:ext cx="624" cy="255"/>
              </a:xfrm>
              <a:custGeom>
                <a:avLst/>
                <a:gdLst>
                  <a:gd name="T0" fmla="*/ 0 w 624"/>
                  <a:gd name="T1" fmla="*/ 53 h 370"/>
                  <a:gd name="T2" fmla="*/ 0 w 624"/>
                  <a:gd name="T3" fmla="*/ 325 h 370"/>
                  <a:gd name="T4" fmla="*/ 624 w 624"/>
                  <a:gd name="T5" fmla="*/ 325 h 370"/>
                  <a:gd name="T6" fmla="*/ 624 w 624"/>
                  <a:gd name="T7" fmla="*/ 53 h 370"/>
                  <a:gd name="T8" fmla="*/ 384 w 624"/>
                  <a:gd name="T9" fmla="*/ 8 h 370"/>
                  <a:gd name="T10" fmla="*/ 0 w 624"/>
                  <a:gd name="T11" fmla="*/ 53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80" name="Freeform 8"/>
              <p:cNvSpPr>
                <a:spLocks/>
              </p:cNvSpPr>
              <p:nvPr/>
            </p:nvSpPr>
            <p:spPr bwMode="ltGray">
              <a:xfrm rot="-5400000">
                <a:off x="664" y="1733"/>
                <a:ext cx="624" cy="294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81" name="Freeform 9"/>
              <p:cNvSpPr>
                <a:spLocks/>
              </p:cNvSpPr>
              <p:nvPr/>
            </p:nvSpPr>
            <p:spPr bwMode="ltGray">
              <a:xfrm rot="-5400000">
                <a:off x="442" y="1699"/>
                <a:ext cx="624" cy="362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40 w 624"/>
                  <a:gd name="T5" fmla="*/ 240 h 272"/>
                  <a:gd name="T6" fmla="*/ 624 w 624"/>
                  <a:gd name="T7" fmla="*/ 272 h 272"/>
                  <a:gd name="T8" fmla="*/ 624 w 624"/>
                  <a:gd name="T9" fmla="*/ 0 h 272"/>
                  <a:gd name="T10" fmla="*/ 0 w 624"/>
                  <a:gd name="T11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82" name="Freeform 10"/>
              <p:cNvSpPr>
                <a:spLocks/>
              </p:cNvSpPr>
              <p:nvPr/>
            </p:nvSpPr>
            <p:spPr bwMode="ltGray">
              <a:xfrm rot="-5400000">
                <a:off x="156" y="1726"/>
                <a:ext cx="632" cy="315"/>
              </a:xfrm>
              <a:custGeom>
                <a:avLst/>
                <a:gdLst>
                  <a:gd name="T0" fmla="*/ 8 w 632"/>
                  <a:gd name="T1" fmla="*/ 45 h 362"/>
                  <a:gd name="T2" fmla="*/ 8 w 632"/>
                  <a:gd name="T3" fmla="*/ 317 h 362"/>
                  <a:gd name="T4" fmla="*/ 248 w 632"/>
                  <a:gd name="T5" fmla="*/ 317 h 362"/>
                  <a:gd name="T6" fmla="*/ 632 w 632"/>
                  <a:gd name="T7" fmla="*/ 317 h 362"/>
                  <a:gd name="T8" fmla="*/ 632 w 632"/>
                  <a:gd name="T9" fmla="*/ 45 h 362"/>
                  <a:gd name="T10" fmla="*/ 104 w 632"/>
                  <a:gd name="T11" fmla="*/ 45 h 362"/>
                  <a:gd name="T12" fmla="*/ 8 w 632"/>
                  <a:gd name="T13" fmla="*/ 45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83" name="Freeform 11"/>
              <p:cNvSpPr>
                <a:spLocks/>
              </p:cNvSpPr>
              <p:nvPr/>
            </p:nvSpPr>
            <p:spPr bwMode="ltGray">
              <a:xfrm rot="-5400000">
                <a:off x="3211" y="1664"/>
                <a:ext cx="624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84" name="Freeform 12"/>
              <p:cNvSpPr>
                <a:spLocks/>
              </p:cNvSpPr>
              <p:nvPr/>
            </p:nvSpPr>
            <p:spPr bwMode="ltGray">
              <a:xfrm rot="-5400000">
                <a:off x="2870" y="1664"/>
                <a:ext cx="624" cy="4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85" name="Freeform 13"/>
              <p:cNvSpPr>
                <a:spLocks/>
              </p:cNvSpPr>
              <p:nvPr/>
            </p:nvSpPr>
            <p:spPr bwMode="ltGray">
              <a:xfrm rot="-5400000">
                <a:off x="1830" y="1747"/>
                <a:ext cx="624" cy="255"/>
              </a:xfrm>
              <a:custGeom>
                <a:avLst/>
                <a:gdLst>
                  <a:gd name="T0" fmla="*/ 0 w 624"/>
                  <a:gd name="T1" fmla="*/ 53 h 370"/>
                  <a:gd name="T2" fmla="*/ 0 w 624"/>
                  <a:gd name="T3" fmla="*/ 325 h 370"/>
                  <a:gd name="T4" fmla="*/ 624 w 624"/>
                  <a:gd name="T5" fmla="*/ 325 h 370"/>
                  <a:gd name="T6" fmla="*/ 624 w 624"/>
                  <a:gd name="T7" fmla="*/ 53 h 370"/>
                  <a:gd name="T8" fmla="*/ 384 w 624"/>
                  <a:gd name="T9" fmla="*/ 8 h 370"/>
                  <a:gd name="T10" fmla="*/ 0 w 624"/>
                  <a:gd name="T11" fmla="*/ 53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86" name="Freeform 14"/>
              <p:cNvSpPr>
                <a:spLocks/>
              </p:cNvSpPr>
              <p:nvPr/>
            </p:nvSpPr>
            <p:spPr bwMode="ltGray">
              <a:xfrm rot="-5400000">
                <a:off x="2551" y="1728"/>
                <a:ext cx="624" cy="294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87" name="Freeform 15"/>
              <p:cNvSpPr>
                <a:spLocks/>
              </p:cNvSpPr>
              <p:nvPr/>
            </p:nvSpPr>
            <p:spPr bwMode="ltGray">
              <a:xfrm rot="-5400000">
                <a:off x="2330" y="1694"/>
                <a:ext cx="624" cy="361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40 w 624"/>
                  <a:gd name="T5" fmla="*/ 240 h 272"/>
                  <a:gd name="T6" fmla="*/ 624 w 624"/>
                  <a:gd name="T7" fmla="*/ 272 h 272"/>
                  <a:gd name="T8" fmla="*/ 624 w 624"/>
                  <a:gd name="T9" fmla="*/ 0 h 272"/>
                  <a:gd name="T10" fmla="*/ 0 w 624"/>
                  <a:gd name="T11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88" name="Freeform 16"/>
              <p:cNvSpPr>
                <a:spLocks/>
              </p:cNvSpPr>
              <p:nvPr/>
            </p:nvSpPr>
            <p:spPr bwMode="ltGray">
              <a:xfrm rot="-5400000">
                <a:off x="2043" y="1721"/>
                <a:ext cx="632" cy="316"/>
              </a:xfrm>
              <a:custGeom>
                <a:avLst/>
                <a:gdLst>
                  <a:gd name="T0" fmla="*/ 8 w 632"/>
                  <a:gd name="T1" fmla="*/ 45 h 362"/>
                  <a:gd name="T2" fmla="*/ 8 w 632"/>
                  <a:gd name="T3" fmla="*/ 317 h 362"/>
                  <a:gd name="T4" fmla="*/ 248 w 632"/>
                  <a:gd name="T5" fmla="*/ 317 h 362"/>
                  <a:gd name="T6" fmla="*/ 632 w 632"/>
                  <a:gd name="T7" fmla="*/ 317 h 362"/>
                  <a:gd name="T8" fmla="*/ 632 w 632"/>
                  <a:gd name="T9" fmla="*/ 45 h 362"/>
                  <a:gd name="T10" fmla="*/ 104 w 632"/>
                  <a:gd name="T11" fmla="*/ 45 h 362"/>
                  <a:gd name="T12" fmla="*/ 8 w 632"/>
                  <a:gd name="T13" fmla="*/ 45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89" name="Freeform 17"/>
              <p:cNvSpPr>
                <a:spLocks/>
              </p:cNvSpPr>
              <p:nvPr/>
            </p:nvSpPr>
            <p:spPr bwMode="ltGray">
              <a:xfrm rot="-5400000">
                <a:off x="4077" y="1669"/>
                <a:ext cx="624" cy="421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90" name="Freeform 18"/>
              <p:cNvSpPr>
                <a:spLocks/>
              </p:cNvSpPr>
              <p:nvPr/>
            </p:nvSpPr>
            <p:spPr bwMode="ltGray">
              <a:xfrm rot="-5400000">
                <a:off x="3736" y="1669"/>
                <a:ext cx="624" cy="4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91" name="Freeform 19"/>
              <p:cNvSpPr>
                <a:spLocks/>
              </p:cNvSpPr>
              <p:nvPr/>
            </p:nvSpPr>
            <p:spPr bwMode="ltGray">
              <a:xfrm rot="-5400000">
                <a:off x="4584" y="1747"/>
                <a:ext cx="624" cy="255"/>
              </a:xfrm>
              <a:custGeom>
                <a:avLst/>
                <a:gdLst>
                  <a:gd name="T0" fmla="*/ 0 w 624"/>
                  <a:gd name="T1" fmla="*/ 53 h 370"/>
                  <a:gd name="T2" fmla="*/ 0 w 624"/>
                  <a:gd name="T3" fmla="*/ 325 h 370"/>
                  <a:gd name="T4" fmla="*/ 624 w 624"/>
                  <a:gd name="T5" fmla="*/ 325 h 370"/>
                  <a:gd name="T6" fmla="*/ 624 w 624"/>
                  <a:gd name="T7" fmla="*/ 53 h 370"/>
                  <a:gd name="T8" fmla="*/ 384 w 624"/>
                  <a:gd name="T9" fmla="*/ 8 h 370"/>
                  <a:gd name="T10" fmla="*/ 0 w 624"/>
                  <a:gd name="T11" fmla="*/ 53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92" name="Freeform 20"/>
              <p:cNvSpPr>
                <a:spLocks/>
              </p:cNvSpPr>
              <p:nvPr/>
            </p:nvSpPr>
            <p:spPr bwMode="ltGray">
              <a:xfrm>
                <a:off x="5469" y="1562"/>
                <a:ext cx="291" cy="625"/>
              </a:xfrm>
              <a:custGeom>
                <a:avLst/>
                <a:gdLst>
                  <a:gd name="T0" fmla="*/ 0 w 291"/>
                  <a:gd name="T1" fmla="*/ 624 h 625"/>
                  <a:gd name="T2" fmla="*/ 291 w 291"/>
                  <a:gd name="T3" fmla="*/ 625 h 625"/>
                  <a:gd name="T4" fmla="*/ 291 w 291"/>
                  <a:gd name="T5" fmla="*/ 6 h 625"/>
                  <a:gd name="T6" fmla="*/ 0 w 291"/>
                  <a:gd name="T7" fmla="*/ 0 h 625"/>
                  <a:gd name="T8" fmla="*/ 0 w 291"/>
                  <a:gd name="T9" fmla="*/ 624 h 6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93" name="Freeform 21"/>
              <p:cNvSpPr>
                <a:spLocks/>
              </p:cNvSpPr>
              <p:nvPr/>
            </p:nvSpPr>
            <p:spPr bwMode="ltGray">
              <a:xfrm rot="-5400000">
                <a:off x="5084" y="1694"/>
                <a:ext cx="624" cy="361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40 w 624"/>
                  <a:gd name="T5" fmla="*/ 240 h 272"/>
                  <a:gd name="T6" fmla="*/ 624 w 624"/>
                  <a:gd name="T7" fmla="*/ 272 h 272"/>
                  <a:gd name="T8" fmla="*/ 624 w 624"/>
                  <a:gd name="T9" fmla="*/ 0 h 272"/>
                  <a:gd name="T10" fmla="*/ 0 w 624"/>
                  <a:gd name="T11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94" name="Freeform 22"/>
              <p:cNvSpPr>
                <a:spLocks/>
              </p:cNvSpPr>
              <p:nvPr/>
            </p:nvSpPr>
            <p:spPr bwMode="ltGray">
              <a:xfrm rot="-5400000">
                <a:off x="4797" y="1721"/>
                <a:ext cx="632" cy="316"/>
              </a:xfrm>
              <a:custGeom>
                <a:avLst/>
                <a:gdLst>
                  <a:gd name="T0" fmla="*/ 8 w 632"/>
                  <a:gd name="T1" fmla="*/ 45 h 362"/>
                  <a:gd name="T2" fmla="*/ 8 w 632"/>
                  <a:gd name="T3" fmla="*/ 317 h 362"/>
                  <a:gd name="T4" fmla="*/ 248 w 632"/>
                  <a:gd name="T5" fmla="*/ 317 h 362"/>
                  <a:gd name="T6" fmla="*/ 632 w 632"/>
                  <a:gd name="T7" fmla="*/ 317 h 362"/>
                  <a:gd name="T8" fmla="*/ 632 w 632"/>
                  <a:gd name="T9" fmla="*/ 45 h 362"/>
                  <a:gd name="T10" fmla="*/ 104 w 632"/>
                  <a:gd name="T11" fmla="*/ 45 h 362"/>
                  <a:gd name="T12" fmla="*/ 8 w 632"/>
                  <a:gd name="T13" fmla="*/ 45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095" name="Freeform 23"/>
            <p:cNvSpPr>
              <a:spLocks/>
            </p:cNvSpPr>
            <p:nvPr/>
          </p:nvSpPr>
          <p:spPr bwMode="ltGray">
            <a:xfrm flipH="1">
              <a:off x="-2" y="1536"/>
              <a:ext cx="5762" cy="412"/>
            </a:xfrm>
            <a:custGeom>
              <a:avLst/>
              <a:gdLst>
                <a:gd name="T0" fmla="*/ 0 w 5762"/>
                <a:gd name="T1" fmla="*/ 196 h 385"/>
                <a:gd name="T2" fmla="*/ 5762 w 5762"/>
                <a:gd name="T3" fmla="*/ 188 h 385"/>
                <a:gd name="T4" fmla="*/ 5762 w 5762"/>
                <a:gd name="T5" fmla="*/ 4 h 385"/>
                <a:gd name="T6" fmla="*/ 0 w 5762"/>
                <a:gd name="T7" fmla="*/ 0 h 385"/>
                <a:gd name="T8" fmla="*/ 0 w 5762"/>
                <a:gd name="T9" fmla="*/ 196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96" name="Freeform 24"/>
            <p:cNvSpPr>
              <a:spLocks/>
            </p:cNvSpPr>
            <p:nvPr/>
          </p:nvSpPr>
          <p:spPr bwMode="ltGray">
            <a:xfrm flipH="1">
              <a:off x="-2" y="2017"/>
              <a:ext cx="5761" cy="189"/>
            </a:xfrm>
            <a:custGeom>
              <a:avLst/>
              <a:gdLst>
                <a:gd name="T0" fmla="*/ 0 w 5761"/>
                <a:gd name="T1" fmla="*/ 28 h 189"/>
                <a:gd name="T2" fmla="*/ 5761 w 5761"/>
                <a:gd name="T3" fmla="*/ 0 h 189"/>
                <a:gd name="T4" fmla="*/ 5761 w 5761"/>
                <a:gd name="T5" fmla="*/ 189 h 189"/>
                <a:gd name="T6" fmla="*/ 1 w 5761"/>
                <a:gd name="T7" fmla="*/ 189 h 189"/>
                <a:gd name="T8" fmla="*/ 0 w 5761"/>
                <a:gd name="T9" fmla="*/ 28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chemeClr val="tx1"/>
                  </a:solidFill>
                  <a:prstDash val="solid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097" name="Rectangle 25"/>
          <p:cNvSpPr>
            <a:spLocks noGrp="1" noChangeArrowheads="1"/>
          </p:cNvSpPr>
          <p:nvPr>
            <p:ph type="ctrTitle"/>
          </p:nvPr>
        </p:nvSpPr>
        <p:spPr>
          <a:xfrm>
            <a:off x="1173163" y="1341438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3098" name="Rectangle 26"/>
          <p:cNvSpPr>
            <a:spLocks noGrp="1" noChangeArrowheads="1"/>
          </p:cNvSpPr>
          <p:nvPr>
            <p:ph type="subTitle" idx="1"/>
          </p:nvPr>
        </p:nvSpPr>
        <p:spPr>
          <a:xfrm>
            <a:off x="1166813" y="3886200"/>
            <a:ext cx="6400800" cy="1752600"/>
          </a:xfrm>
        </p:spPr>
        <p:txBody>
          <a:bodyPr/>
          <a:lstStyle>
            <a:lvl1pPr marL="0" indent="0">
              <a:buFont typeface="Monotype Sorts" pitchFamily="2" charset="2"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3099" name="Rectangle 27"/>
          <p:cNvSpPr>
            <a:spLocks noGrp="1" noChangeArrowheads="1"/>
          </p:cNvSpPr>
          <p:nvPr>
            <p:ph type="dt" sz="half" idx="2"/>
          </p:nvPr>
        </p:nvSpPr>
        <p:spPr>
          <a:xfrm>
            <a:off x="1166813" y="6248400"/>
            <a:ext cx="1905000" cy="457200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100" name="Rectangle 28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101" name="Rectangle 29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3520DE96-266E-4586-B6BD-DEB1B281131D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9683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85F123-173A-4DB5-A1B3-1BD03F273BCE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63654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F23864-4B50-42DA-B9FD-4DADDF163660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86963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DE2CBE-4A78-40CA-B4CD-D210B918D82B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28478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C01118-C48F-4ABA-B984-6877B89A0524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92303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8EA986-509F-4AA4-A66F-149C902CD218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17894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771956-CCF4-4338-B297-3B9532A0ACB2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77904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841323-ECAD-461B-B105-B49E937E4AD1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19895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65B615-AA3E-442A-AC82-3FE9065DF10B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32276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985312-A75A-4CCB-ADFA-5A0358B8219A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4209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565D14-8248-4B57-A779-B609919722A7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72738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3163" y="4572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73163" y="6265863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5814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0104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ED5AD940-660F-4FA7-9F43-CF2BDF87658F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13101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1173163" y="4572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73163" y="19812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135563" y="19812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1173163" y="41148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5563" y="41148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173163" y="6265863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5814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0104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966A5A1A-9CFE-41C9-BCDD-E395DA8477BE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472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4" name="Oval 36"/>
          <p:cNvSpPr>
            <a:spLocks noChangeArrowheads="1"/>
          </p:cNvSpPr>
          <p:nvPr/>
        </p:nvSpPr>
        <p:spPr bwMode="auto">
          <a:xfrm>
            <a:off x="228600" y="228600"/>
            <a:ext cx="609600" cy="609600"/>
          </a:xfrm>
          <a:prstGeom prst="ellipse">
            <a:avLst/>
          </a:prstGeom>
          <a:solidFill>
            <a:srgbClr val="FF5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73" name="Rectangle 25"/>
          <p:cNvSpPr>
            <a:spLocks noGrp="1" noChangeArrowheads="1"/>
          </p:cNvSpPr>
          <p:nvPr>
            <p:ph type="title"/>
          </p:nvPr>
        </p:nvSpPr>
        <p:spPr bwMode="auto">
          <a:xfrm>
            <a:off x="1173163" y="4572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Process</a:t>
            </a:r>
          </a:p>
        </p:txBody>
      </p:sp>
      <p:sp>
        <p:nvSpPr>
          <p:cNvPr id="2074" name="Rectangle 2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73163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Klicka här för att ändra format på bakgrundstexten</a:t>
            </a:r>
          </a:p>
          <a:p>
            <a:pPr lvl="1"/>
            <a:r>
              <a:rPr lang="en-US" smtClean="0"/>
              <a:t>Nivå två</a:t>
            </a:r>
          </a:p>
          <a:p>
            <a:pPr lvl="2"/>
            <a:r>
              <a:rPr lang="en-US" smtClean="0"/>
              <a:t>Nivå tre</a:t>
            </a:r>
          </a:p>
          <a:p>
            <a:pPr lvl="3"/>
            <a:r>
              <a:rPr lang="en-US" smtClean="0"/>
              <a:t>Nivå fyra</a:t>
            </a:r>
          </a:p>
          <a:p>
            <a:pPr lvl="4"/>
            <a:r>
              <a:rPr lang="en-US" smtClean="0"/>
              <a:t>Nivå fem</a:t>
            </a:r>
          </a:p>
        </p:txBody>
      </p:sp>
      <p:sp>
        <p:nvSpPr>
          <p:cNvPr id="2075" name="Rectangle 2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73163" y="6265863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latin typeface="+mn-lt"/>
              </a:defRPr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076" name="Rectangle 2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latin typeface="+mn-lt"/>
              </a:defRPr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077" name="Rectangle 2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latin typeface="+mn-lt"/>
              </a:defRPr>
            </a:lvl1pPr>
          </a:lstStyle>
          <a:p>
            <a:fld id="{EF6CF669-D51C-4507-8EE9-94C79FC23D25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081" name="Rectangle 33"/>
          <p:cNvSpPr>
            <a:spLocks noChangeArrowheads="1"/>
          </p:cNvSpPr>
          <p:nvPr/>
        </p:nvSpPr>
        <p:spPr bwMode="auto">
          <a:xfrm>
            <a:off x="457200" y="609600"/>
            <a:ext cx="5334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82" name="AutoShape 34"/>
          <p:cNvSpPr>
            <a:spLocks noChangeArrowheads="1"/>
          </p:cNvSpPr>
          <p:nvPr/>
        </p:nvSpPr>
        <p:spPr bwMode="auto">
          <a:xfrm rot="2559464">
            <a:off x="152400" y="457200"/>
            <a:ext cx="609600" cy="609600"/>
          </a:xfrm>
          <a:prstGeom prst="triangle">
            <a:avLst>
              <a:gd name="adj" fmla="val 50000"/>
            </a:avLst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3567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Monotype Sorts" pitchFamily="2" charset="2"/>
        <a:buChar char="n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FF5050"/>
        </a:buClr>
        <a:buSzPct val="75000"/>
        <a:buFont typeface="Monotype Sorts" pitchFamily="2" charset="2"/>
        <a:buChar char="l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FFCC00"/>
        </a:buClr>
        <a:buSzPct val="65000"/>
        <a:buFont typeface="Monotype Sorts" pitchFamily="2" charset="2"/>
        <a:buChar char="s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505200"/>
            <a:ext cx="7772400" cy="1362075"/>
          </a:xfrm>
        </p:spPr>
        <p:txBody>
          <a:bodyPr/>
          <a:lstStyle/>
          <a:p>
            <a:r>
              <a:rPr lang="en-US" dirty="0" smtClean="0"/>
              <a:t>Project Management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641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project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76400"/>
            <a:ext cx="7772400" cy="4114800"/>
          </a:xfrm>
        </p:spPr>
        <p:txBody>
          <a:bodyPr/>
          <a:lstStyle/>
          <a:p>
            <a:pPr algn="just"/>
            <a:r>
              <a:rPr lang="en-GB" sz="2800" dirty="0"/>
              <a:t>Concerned with activities involved in ensuring </a:t>
            </a:r>
            <a:br>
              <a:rPr lang="en-GB" sz="2800" dirty="0"/>
            </a:br>
            <a:r>
              <a:rPr lang="en-GB" sz="2800" dirty="0"/>
              <a:t>that software is </a:t>
            </a:r>
            <a:r>
              <a:rPr lang="en-GB" sz="2800" b="1" dirty="0"/>
              <a:t>delivered on time </a:t>
            </a:r>
            <a:r>
              <a:rPr lang="en-GB" sz="2800" dirty="0"/>
              <a:t>and </a:t>
            </a:r>
            <a:r>
              <a:rPr lang="en-GB" sz="2800" b="1" dirty="0"/>
              <a:t>on </a:t>
            </a:r>
            <a:br>
              <a:rPr lang="en-GB" sz="2800" b="1" dirty="0"/>
            </a:br>
            <a:r>
              <a:rPr lang="en-GB" sz="2800" b="1" dirty="0"/>
              <a:t>schedule </a:t>
            </a:r>
            <a:r>
              <a:rPr lang="en-GB" sz="2800" dirty="0"/>
              <a:t>and in </a:t>
            </a:r>
            <a:r>
              <a:rPr lang="en-GB" sz="2800" b="1" dirty="0"/>
              <a:t>accordance with the </a:t>
            </a:r>
            <a:br>
              <a:rPr lang="en-GB" sz="2800" b="1" dirty="0"/>
            </a:br>
            <a:r>
              <a:rPr lang="en-GB" sz="2800" b="1" dirty="0"/>
              <a:t>requirements </a:t>
            </a:r>
            <a:r>
              <a:rPr lang="en-GB" sz="2800" dirty="0"/>
              <a:t>of the </a:t>
            </a:r>
            <a:r>
              <a:rPr lang="en-GB" sz="2800" dirty="0" smtClean="0"/>
              <a:t>customer organisation.</a:t>
            </a:r>
            <a:endParaRPr lang="en-GB" sz="2800" dirty="0"/>
          </a:p>
          <a:p>
            <a:pPr algn="just"/>
            <a:r>
              <a:rPr lang="en-GB" sz="2800" dirty="0"/>
              <a:t>Project management is needed because software development is always </a:t>
            </a:r>
            <a:r>
              <a:rPr lang="en-GB" sz="2800" b="1" dirty="0"/>
              <a:t>subject to budget and schedule constraints</a:t>
            </a:r>
            <a:r>
              <a:rPr lang="en-GB" sz="2800" dirty="0"/>
              <a:t> that are set by the organisation developing the software.</a:t>
            </a:r>
          </a:p>
          <a:p>
            <a:pPr algn="just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2092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 </a:t>
            </a:r>
            <a:r>
              <a:rPr lang="en-US" dirty="0" smtClean="0"/>
              <a:t>criteria for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63" y="1828800"/>
            <a:ext cx="7772400" cy="4114800"/>
          </a:xfrm>
        </p:spPr>
        <p:txBody>
          <a:bodyPr/>
          <a:lstStyle/>
          <a:p>
            <a:r>
              <a:rPr lang="en-GB" b="1" dirty="0"/>
              <a:t>Deliver the software</a:t>
            </a:r>
            <a:r>
              <a:rPr lang="en-GB" dirty="0"/>
              <a:t> to the customer at the </a:t>
            </a:r>
            <a:r>
              <a:rPr lang="en-GB" b="1" dirty="0"/>
              <a:t>agreed time.</a:t>
            </a:r>
          </a:p>
          <a:p>
            <a:r>
              <a:rPr lang="en-GB" dirty="0"/>
              <a:t>Keep overall </a:t>
            </a:r>
            <a:r>
              <a:rPr lang="en-GB" b="1" dirty="0"/>
              <a:t>costs within budget.</a:t>
            </a:r>
          </a:p>
          <a:p>
            <a:r>
              <a:rPr lang="en-GB" dirty="0"/>
              <a:t>Deliver software that </a:t>
            </a:r>
            <a:r>
              <a:rPr lang="en-GB" b="1" dirty="0"/>
              <a:t>meets the customer’s expectations.</a:t>
            </a:r>
          </a:p>
          <a:p>
            <a:r>
              <a:rPr lang="en-GB" dirty="0"/>
              <a:t>Maintain a </a:t>
            </a:r>
            <a:r>
              <a:rPr lang="en-GB" b="1" dirty="0"/>
              <a:t>happy and well-functioning development team</a:t>
            </a:r>
            <a:r>
              <a:rPr lang="en-GB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374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Software management distinctions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63" y="1600200"/>
            <a:ext cx="7772400" cy="4114800"/>
          </a:xfrm>
        </p:spPr>
        <p:txBody>
          <a:bodyPr/>
          <a:lstStyle/>
          <a:p>
            <a:r>
              <a:rPr lang="en-GB" sz="2400" b="1" dirty="0"/>
              <a:t>The product is intangible.</a:t>
            </a:r>
          </a:p>
          <a:p>
            <a:pPr lvl="1"/>
            <a:r>
              <a:rPr lang="en-GB" sz="2000" dirty="0"/>
              <a:t>Software cannot be seen or touched. Software project managers cannot see progress by simply looking at the artefact that is being constructed. </a:t>
            </a:r>
          </a:p>
          <a:p>
            <a:r>
              <a:rPr lang="en-GB" sz="2400" b="1" dirty="0"/>
              <a:t>Many software projects are 'one-off' projects.</a:t>
            </a:r>
          </a:p>
          <a:p>
            <a:pPr lvl="1"/>
            <a:r>
              <a:rPr lang="en-GB" sz="2000" dirty="0"/>
              <a:t>Large software projects are usually different in some ways from previous projects. Even managers who have lots of previous experience may find it difficult to anticipate problems. </a:t>
            </a:r>
          </a:p>
          <a:p>
            <a:r>
              <a:rPr lang="en-GB" sz="2400" b="1" dirty="0"/>
              <a:t>Software processes are variable and organization specific.</a:t>
            </a:r>
          </a:p>
          <a:p>
            <a:pPr lvl="1"/>
            <a:r>
              <a:rPr lang="en-GB" sz="2000" dirty="0"/>
              <a:t>We still cannot reliably predict when a particular software process is likely to lead to development problems.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92938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3163" y="152400"/>
            <a:ext cx="7772400" cy="1143000"/>
          </a:xfrm>
        </p:spPr>
        <p:txBody>
          <a:bodyPr/>
          <a:lstStyle/>
          <a:p>
            <a:r>
              <a:rPr lang="en-GB" sz="3600" dirty="0" smtClean="0"/>
              <a:t>Software Project Management </a:t>
            </a:r>
            <a:r>
              <a:rPr lang="en-GB" sz="3600" dirty="0"/>
              <a:t>activities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524000"/>
            <a:ext cx="7772400" cy="4114800"/>
          </a:xfrm>
        </p:spPr>
        <p:txBody>
          <a:bodyPr/>
          <a:lstStyle/>
          <a:p>
            <a:r>
              <a:rPr lang="en-GB" sz="2400" b="1" i="1" dirty="0"/>
              <a:t>Project planning </a:t>
            </a:r>
          </a:p>
          <a:p>
            <a:pPr lvl="1"/>
            <a:r>
              <a:rPr lang="en-GB" sz="2000" dirty="0"/>
              <a:t>Project managers are responsible for </a:t>
            </a:r>
            <a:r>
              <a:rPr lang="en-GB" sz="2000" dirty="0" smtClean="0"/>
              <a:t>planning. </a:t>
            </a:r>
            <a:r>
              <a:rPr lang="en-GB" sz="2000" b="1" dirty="0" smtClean="0"/>
              <a:t>estimating </a:t>
            </a:r>
            <a:r>
              <a:rPr lang="en-GB" sz="2000" b="1" dirty="0"/>
              <a:t>and scheduling</a:t>
            </a:r>
            <a:r>
              <a:rPr lang="en-GB" sz="2000" dirty="0"/>
              <a:t> project development and assigning people to tasks.</a:t>
            </a:r>
          </a:p>
          <a:p>
            <a:r>
              <a:rPr lang="en-GB" sz="2400" b="1" i="1" dirty="0"/>
              <a:t>Reporting</a:t>
            </a:r>
            <a:r>
              <a:rPr lang="en-GB" sz="2400" b="1" dirty="0"/>
              <a:t> </a:t>
            </a:r>
          </a:p>
          <a:p>
            <a:pPr lvl="1"/>
            <a:r>
              <a:rPr lang="en-GB" sz="2000" dirty="0"/>
              <a:t>Project managers are usually responsible for reporting on the progress of a project to customers and to the managers of the company developing the software. </a:t>
            </a:r>
          </a:p>
          <a:p>
            <a:r>
              <a:rPr lang="en-GB" sz="2400" b="1" i="1" dirty="0"/>
              <a:t>Risk management</a:t>
            </a:r>
          </a:p>
          <a:p>
            <a:pPr lvl="1"/>
            <a:r>
              <a:rPr lang="en-GB" sz="2000" dirty="0"/>
              <a:t> Project managers assess the risks that may affect a project, monitor these risks and take action when problems arise. 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96365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Software Project Management </a:t>
            </a:r>
            <a:r>
              <a:rPr lang="en-US" sz="3600" dirty="0"/>
              <a:t>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752600"/>
            <a:ext cx="7772400" cy="4114800"/>
          </a:xfrm>
        </p:spPr>
        <p:txBody>
          <a:bodyPr/>
          <a:lstStyle/>
          <a:p>
            <a:r>
              <a:rPr lang="en-GB" sz="2800" b="1" i="1" dirty="0"/>
              <a:t>People management</a:t>
            </a:r>
            <a:r>
              <a:rPr lang="en-GB" sz="2800" b="1" dirty="0"/>
              <a:t> </a:t>
            </a:r>
          </a:p>
          <a:p>
            <a:pPr lvl="1"/>
            <a:r>
              <a:rPr lang="en-GB" sz="2400" dirty="0"/>
              <a:t>Project managers have to choose people for their team and establish ways of working that leads to effective team performance </a:t>
            </a:r>
          </a:p>
          <a:p>
            <a:r>
              <a:rPr lang="en-GB" sz="2800" dirty="0"/>
              <a:t> </a:t>
            </a:r>
            <a:r>
              <a:rPr lang="en-GB" sz="2800" b="1" i="1" dirty="0"/>
              <a:t>Proposal writing</a:t>
            </a:r>
            <a:r>
              <a:rPr lang="en-GB" sz="2800" b="1" dirty="0"/>
              <a:t> </a:t>
            </a:r>
          </a:p>
          <a:p>
            <a:pPr lvl="1"/>
            <a:r>
              <a:rPr lang="en-GB" sz="2400" dirty="0"/>
              <a:t>The first stage in a software project may involve writing a proposal to win a contract to carry out an item of work. The proposal describes the objectives of the project and how it will be carried out. 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89970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Risk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2600"/>
            <a:ext cx="77724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sz="2800" dirty="0"/>
              <a:t>Risk management is concerned with identifying risks and drawing up plans to minimise their effect on a project.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A risk is a probability that some adverse circumstance will occur </a:t>
            </a:r>
          </a:p>
          <a:p>
            <a:pPr lvl="1">
              <a:lnSpc>
                <a:spcPct val="90000"/>
              </a:lnSpc>
            </a:pPr>
            <a:r>
              <a:rPr lang="en-GB" sz="2400" b="1" dirty="0"/>
              <a:t>Project risks</a:t>
            </a:r>
            <a:r>
              <a:rPr lang="en-GB" sz="2400" dirty="0"/>
              <a:t> affect schedule or resources;</a:t>
            </a:r>
          </a:p>
          <a:p>
            <a:pPr lvl="1">
              <a:lnSpc>
                <a:spcPct val="90000"/>
              </a:lnSpc>
            </a:pPr>
            <a:r>
              <a:rPr lang="en-GB" sz="2400" b="1" dirty="0"/>
              <a:t>Product risks </a:t>
            </a:r>
            <a:r>
              <a:rPr lang="en-GB" sz="2400" dirty="0"/>
              <a:t>affect the quality or performance of the software being developed;</a:t>
            </a:r>
          </a:p>
          <a:p>
            <a:pPr lvl="1">
              <a:lnSpc>
                <a:spcPct val="90000"/>
              </a:lnSpc>
            </a:pPr>
            <a:r>
              <a:rPr lang="en-GB" sz="2400" b="1" dirty="0"/>
              <a:t>Business risks </a:t>
            </a:r>
            <a:r>
              <a:rPr lang="en-GB" sz="2400" dirty="0"/>
              <a:t>affect the organisation developing or procuring the software.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54172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Examples of common project, product, and business risks</a:t>
            </a:r>
            <a:r>
              <a:rPr lang="en-GB" sz="4000" dirty="0"/>
              <a:t> </a:t>
            </a:r>
            <a:endParaRPr lang="en-US" sz="40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8045247"/>
              </p:ext>
            </p:extLst>
          </p:nvPr>
        </p:nvGraphicFramePr>
        <p:xfrm>
          <a:off x="457200" y="1640840"/>
          <a:ext cx="8229600" cy="491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0546"/>
                <a:gridCol w="2026745"/>
                <a:gridCol w="4052309"/>
              </a:tblGrid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b="1" dirty="0" smtClean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Risk</a:t>
                      </a:r>
                      <a:endParaRPr lang="en-GB" sz="1400" b="1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91440" marB="9144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Affects</a:t>
                      </a:r>
                    </a:p>
                  </a:txBody>
                  <a:tcPr marL="73025" marR="73025" marT="91440" marB="9144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b="1" dirty="0" smtClean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Description</a:t>
                      </a:r>
                      <a:endParaRPr lang="en-GB" sz="1400" b="1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91440" marB="91440"/>
                </a:tc>
              </a:tr>
              <a:tr h="3708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400" dirty="0" smtClean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Staff </a:t>
                      </a:r>
                      <a:r>
                        <a:rPr lang="en-GB" sz="1400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turnover</a:t>
                      </a:r>
                    </a:p>
                  </a:txBody>
                  <a:tcPr marL="73025" marR="73025" marT="0" marB="9144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Project</a:t>
                      </a:r>
                    </a:p>
                  </a:txBody>
                  <a:tcPr marL="73025" marR="73025" marT="0" marB="9144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Experienced staff will leave the project before it is finished.</a:t>
                      </a:r>
                    </a:p>
                  </a:txBody>
                  <a:tcPr marL="73025" marR="73025" marT="0" marB="91440"/>
                </a:tc>
              </a:tr>
              <a:tr h="3708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Management change</a:t>
                      </a:r>
                    </a:p>
                  </a:txBody>
                  <a:tcPr marL="73025" marR="73025" marT="0" marB="9144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Project </a:t>
                      </a:r>
                    </a:p>
                  </a:txBody>
                  <a:tcPr marL="73025" marR="73025" marT="0" marB="9144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There will be a change of organizational management with different priorities.</a:t>
                      </a:r>
                    </a:p>
                  </a:txBody>
                  <a:tcPr marL="73025" marR="73025" marT="0" marB="91440"/>
                </a:tc>
              </a:tr>
              <a:tr h="3708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Hardware unavailability</a:t>
                      </a:r>
                    </a:p>
                  </a:txBody>
                  <a:tcPr marL="73025" marR="73025" marT="0" marB="9144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Project</a:t>
                      </a:r>
                    </a:p>
                  </a:txBody>
                  <a:tcPr marL="73025" marR="73025" marT="0" marB="9144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Hardware that is essential for the project will not be delivered on schedule.</a:t>
                      </a:r>
                    </a:p>
                  </a:txBody>
                  <a:tcPr marL="73025" marR="73025" marT="0" marB="91440"/>
                </a:tc>
              </a:tr>
              <a:tr h="3708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Requirements change</a:t>
                      </a:r>
                    </a:p>
                  </a:txBody>
                  <a:tcPr marL="73025" marR="73025" marT="0" marB="9144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Project and product</a:t>
                      </a:r>
                    </a:p>
                  </a:txBody>
                  <a:tcPr marL="73025" marR="73025" marT="0" marB="9144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There will be a larger number of changes to the requirements than anticipated.</a:t>
                      </a:r>
                    </a:p>
                  </a:txBody>
                  <a:tcPr marL="73025" marR="73025" marT="0" marB="91440"/>
                </a:tc>
              </a:tr>
              <a:tr h="3708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Specification delays</a:t>
                      </a:r>
                    </a:p>
                  </a:txBody>
                  <a:tcPr marL="73025" marR="73025" marT="0" marB="9144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Project and product</a:t>
                      </a:r>
                    </a:p>
                  </a:txBody>
                  <a:tcPr marL="73025" marR="73025" marT="0" marB="9144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Specifications of essential interfaces are not available on schedule.</a:t>
                      </a:r>
                    </a:p>
                  </a:txBody>
                  <a:tcPr marL="73025" marR="73025" marT="0" marB="91440"/>
                </a:tc>
              </a:tr>
              <a:tr h="3708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Size underestimate</a:t>
                      </a:r>
                    </a:p>
                  </a:txBody>
                  <a:tcPr marL="73025" marR="73025" marT="0" marB="9144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Project and product</a:t>
                      </a:r>
                    </a:p>
                  </a:txBody>
                  <a:tcPr marL="73025" marR="73025" marT="0" marB="9144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The size of the system has been underestimated.</a:t>
                      </a:r>
                    </a:p>
                  </a:txBody>
                  <a:tcPr marL="73025" marR="73025" marT="0" marB="91440"/>
                </a:tc>
              </a:tr>
              <a:tr h="3708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CASE tool underperformance</a:t>
                      </a:r>
                    </a:p>
                  </a:txBody>
                  <a:tcPr marL="73025" marR="73025" marT="0" marB="9144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Product</a:t>
                      </a:r>
                    </a:p>
                  </a:txBody>
                  <a:tcPr marL="73025" marR="73025" marT="0" marB="9144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CASE tools, which support the project, do not perform as anticipated.</a:t>
                      </a:r>
                    </a:p>
                  </a:txBody>
                  <a:tcPr marL="73025" marR="73025" marT="0" marB="91440"/>
                </a:tc>
              </a:tr>
              <a:tr h="3708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Technology change</a:t>
                      </a:r>
                    </a:p>
                  </a:txBody>
                  <a:tcPr marL="73025" marR="73025" marT="0" marB="9144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Business</a:t>
                      </a:r>
                    </a:p>
                  </a:txBody>
                  <a:tcPr marL="73025" marR="73025" marT="0" marB="9144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The underlying technology on which the system is built is superseded by new technology.</a:t>
                      </a:r>
                    </a:p>
                  </a:txBody>
                  <a:tcPr marL="73025" marR="73025" marT="0" marB="91440"/>
                </a:tc>
              </a:tr>
              <a:tr h="3708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Product competition</a:t>
                      </a:r>
                    </a:p>
                  </a:txBody>
                  <a:tcPr marL="73025" marR="73025" marT="0" marB="9144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Business</a:t>
                      </a:r>
                    </a:p>
                  </a:txBody>
                  <a:tcPr marL="73025" marR="73025" marT="0" marB="9144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A competitive product is marketed before the system is completed</a:t>
                      </a:r>
                      <a:r>
                        <a:rPr lang="en-GB" sz="1400" dirty="0" smtClean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.</a:t>
                      </a:r>
                      <a:endParaRPr lang="en-GB" sz="14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73025" marR="73025" marT="0" marB="9144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8344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risk management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sz="2800" b="1" dirty="0"/>
              <a:t>Risk identification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Identify project, product and business risks;</a:t>
            </a:r>
          </a:p>
          <a:p>
            <a:pPr>
              <a:lnSpc>
                <a:spcPct val="90000"/>
              </a:lnSpc>
            </a:pPr>
            <a:r>
              <a:rPr lang="en-GB" sz="2800" b="1" dirty="0"/>
              <a:t>Risk analysis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Assess the likelihood and consequences of these risks;</a:t>
            </a:r>
          </a:p>
          <a:p>
            <a:pPr>
              <a:lnSpc>
                <a:spcPct val="90000"/>
              </a:lnSpc>
            </a:pPr>
            <a:r>
              <a:rPr lang="en-GB" sz="2800" b="1" dirty="0"/>
              <a:t>Risk planning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Draw up plans to avoid or minimise the effects of the risk;</a:t>
            </a:r>
          </a:p>
          <a:p>
            <a:pPr>
              <a:lnSpc>
                <a:spcPct val="90000"/>
              </a:lnSpc>
            </a:pPr>
            <a:r>
              <a:rPr lang="en-GB" sz="2800" b="1" dirty="0"/>
              <a:t>Risk monitoring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Monitor the risks throughout the project;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5516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risk management process</a:t>
            </a:r>
            <a:r>
              <a:rPr lang="en-GB" dirty="0"/>
              <a:t> 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51" y="2438400"/>
            <a:ext cx="8442449" cy="251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414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Managing people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752600"/>
            <a:ext cx="7772400" cy="4114800"/>
          </a:xfrm>
        </p:spPr>
        <p:txBody>
          <a:bodyPr/>
          <a:lstStyle/>
          <a:p>
            <a:r>
              <a:rPr lang="en-GB" dirty="0"/>
              <a:t>People are an organisation’s most important assets.</a:t>
            </a:r>
          </a:p>
          <a:p>
            <a:r>
              <a:rPr lang="en-GB" dirty="0"/>
              <a:t>The tasks of a manager are essentially people-oriented. Unless there is some understanding of people, management will be unsuccessful.</a:t>
            </a:r>
          </a:p>
          <a:p>
            <a:r>
              <a:rPr lang="en-GB" dirty="0"/>
              <a:t>Poor people management is an important contributor to project failure.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344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Personality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The manager </a:t>
            </a:r>
            <a:r>
              <a:rPr lang="en-GB" dirty="0"/>
              <a:t>should </a:t>
            </a:r>
            <a:r>
              <a:rPr lang="en-GB" dirty="0" smtClean="0"/>
              <a:t>take </a:t>
            </a:r>
            <a:r>
              <a:rPr lang="en-GB" dirty="0"/>
              <a:t>into account different personality types:</a:t>
            </a:r>
          </a:p>
          <a:p>
            <a:pPr lvl="1"/>
            <a:r>
              <a:rPr lang="en-GB" dirty="0"/>
              <a:t>Task-oriented;</a:t>
            </a:r>
          </a:p>
          <a:p>
            <a:pPr lvl="1"/>
            <a:r>
              <a:rPr lang="en-GB" dirty="0"/>
              <a:t>Self-oriented;</a:t>
            </a:r>
          </a:p>
          <a:p>
            <a:pPr lvl="1"/>
            <a:r>
              <a:rPr lang="en-GB" dirty="0"/>
              <a:t>Interaction-oriented.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995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Personality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63" y="1752600"/>
            <a:ext cx="7772400" cy="4114800"/>
          </a:xfrm>
        </p:spPr>
        <p:txBody>
          <a:bodyPr/>
          <a:lstStyle/>
          <a:p>
            <a:r>
              <a:rPr lang="en-GB" sz="2400" dirty="0"/>
              <a:t>Task-oriented.  </a:t>
            </a:r>
          </a:p>
          <a:p>
            <a:pPr lvl="1"/>
            <a:r>
              <a:rPr lang="en-GB" sz="2400" dirty="0"/>
              <a:t>The motivation for doing the work is the work itself;</a:t>
            </a:r>
          </a:p>
          <a:p>
            <a:r>
              <a:rPr lang="en-GB" sz="2400" dirty="0"/>
              <a:t>Self-oriented. </a:t>
            </a:r>
          </a:p>
          <a:p>
            <a:pPr lvl="1"/>
            <a:r>
              <a:rPr lang="en-GB" sz="2400" dirty="0"/>
              <a:t>The work is a means to an </a:t>
            </a:r>
            <a:r>
              <a:rPr lang="en-GB" sz="2400" dirty="0" smtClean="0"/>
              <a:t>end, </a:t>
            </a:r>
            <a:r>
              <a:rPr lang="en-GB" sz="2400" dirty="0"/>
              <a:t>which is the achievement of individual goals - e.g. </a:t>
            </a:r>
            <a:r>
              <a:rPr lang="en-GB" sz="2400" dirty="0" smtClean="0"/>
              <a:t>career progress,</a:t>
            </a:r>
          </a:p>
          <a:p>
            <a:r>
              <a:rPr lang="en-GB" sz="2400" dirty="0" smtClean="0"/>
              <a:t>Interaction-oriented</a:t>
            </a:r>
            <a:endParaRPr lang="en-GB" sz="2400" dirty="0"/>
          </a:p>
          <a:p>
            <a:pPr lvl="1"/>
            <a:r>
              <a:rPr lang="en-GB" sz="2400" dirty="0"/>
              <a:t>The principal motivation is the presence and actions of </a:t>
            </a:r>
            <a:r>
              <a:rPr lang="en-GB" sz="2400" dirty="0" smtClean="0"/>
              <a:t>co-workers. </a:t>
            </a:r>
            <a:r>
              <a:rPr lang="en-GB" sz="2400" dirty="0"/>
              <a:t>People go to work because they like to go to </a:t>
            </a:r>
            <a:r>
              <a:rPr lang="en-GB" sz="2400" dirty="0" smtClean="0"/>
              <a:t>work</a:t>
            </a:r>
            <a:r>
              <a:rPr lang="en-GB" sz="2400" dirty="0"/>
              <a:t>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4194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pricing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/>
              <a:t>Estimates are made to discover the </a:t>
            </a:r>
            <a:r>
              <a:rPr lang="en-GB" sz="2400" dirty="0" smtClean="0"/>
              <a:t>cost of </a:t>
            </a:r>
            <a:r>
              <a:rPr lang="en-GB" sz="2400" dirty="0"/>
              <a:t>producing a software system.</a:t>
            </a:r>
          </a:p>
          <a:p>
            <a:pPr lvl="1"/>
            <a:r>
              <a:rPr lang="en-GB" sz="2000" dirty="0"/>
              <a:t>You take into account, hardware, software, travel, training and effort costs.</a:t>
            </a:r>
          </a:p>
          <a:p>
            <a:r>
              <a:rPr lang="en-GB" sz="2400" dirty="0"/>
              <a:t>There is not a simple relationship between the development cost and the price charged to the customer.</a:t>
            </a:r>
          </a:p>
          <a:p>
            <a:r>
              <a:rPr lang="en-GB" sz="2400" dirty="0"/>
              <a:t>Broader organisational, economic, political and business considerations influence the price charged.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73726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affecting software pricing</a:t>
            </a:r>
            <a:r>
              <a:rPr lang="en-GB" dirty="0"/>
              <a:t> 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8448462"/>
              </p:ext>
            </p:extLst>
          </p:nvPr>
        </p:nvGraphicFramePr>
        <p:xfrm>
          <a:off x="457200" y="1823846"/>
          <a:ext cx="7784898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9968"/>
                <a:gridCol w="5494930"/>
              </a:tblGrid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Factor</a:t>
                      </a:r>
                      <a:endParaRPr lang="en-GB" sz="1400" b="1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91440" marB="9144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Description</a:t>
                      </a:r>
                      <a:endParaRPr lang="en-GB" sz="1400" b="1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91440" marB="91440"/>
                </a:tc>
              </a:tr>
              <a:tr h="3708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Market 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opportunity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 marB="9144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A development organization 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may quote a low price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 because it wishes 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to move into a new segment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 of the software market. Accepting a low profit on one project may give the organization the opportunity to make a greater profit later. The 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experience gained 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may also help it develop new products.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 marB="91440"/>
                </a:tc>
              </a:tr>
              <a:tr h="3708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Cost estimate uncertainty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 marB="9144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If an organization is 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unsure of its cost estimate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, it may increase its price by a contingency over and above its normal profit.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 marB="91440"/>
                </a:tc>
              </a:tr>
              <a:tr h="3708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Contractual terms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 marB="9144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A customer may be willing to allow the developer to retain 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ownership of the source code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 and reuse it in other projects. The price charged may then be less than if the software source code is handed over to the customer.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 marB="9144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3613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affecting software pricing</a:t>
            </a:r>
            <a:r>
              <a:rPr lang="en-GB" dirty="0"/>
              <a:t> 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2134576"/>
          <a:ext cx="7772400" cy="252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9709"/>
                <a:gridCol w="5432691"/>
              </a:tblGrid>
              <a:tr h="3708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Factor</a:t>
                      </a:r>
                      <a:endParaRPr lang="en-GB" sz="1400" b="1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91440" marB="9144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Description</a:t>
                      </a:r>
                      <a:endParaRPr lang="en-GB" sz="1400" b="1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91440" marB="91440"/>
                </a:tc>
              </a:tr>
              <a:tr h="3708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Requirements volatility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 marB="9144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If the requirements are likely to change, an organization may lower its price to win a contract. After the contract is awarded, high prices can be charged for changes to the requirements.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 marB="91440"/>
                </a:tc>
              </a:tr>
              <a:tr h="3708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Financial health</a:t>
                      </a:r>
                      <a:endParaRPr lang="en-GB" sz="160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 marB="9144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Developers in financial difficulty may lower their price to gain a contract. It is better to make a smaller than normal profit or break even than to go out of business. Cash flow is more important than profit in difficult economic times</a:t>
                      </a:r>
                      <a:r>
                        <a:rPr lang="en-US" sz="1600" dirty="0" smtClean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.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 marB="9144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9347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63" y="1752600"/>
            <a:ext cx="7772400" cy="4114800"/>
          </a:xfrm>
        </p:spPr>
        <p:txBody>
          <a:bodyPr/>
          <a:lstStyle/>
          <a:p>
            <a:r>
              <a:rPr lang="en-US" sz="2400" dirty="0"/>
              <a:t>Project scheduling is the process of deciding how the work in a project will be </a:t>
            </a:r>
            <a:r>
              <a:rPr lang="en-US" sz="2400" b="1" dirty="0"/>
              <a:t>organized as separate tasks</a:t>
            </a:r>
            <a:r>
              <a:rPr lang="en-US" sz="2400" dirty="0"/>
              <a:t>, and </a:t>
            </a:r>
            <a:r>
              <a:rPr lang="en-US" sz="2400" b="1" dirty="0"/>
              <a:t>when </a:t>
            </a:r>
            <a:r>
              <a:rPr lang="en-US" sz="2400" dirty="0"/>
              <a:t>and </a:t>
            </a:r>
            <a:r>
              <a:rPr lang="en-US" sz="2400" b="1" dirty="0"/>
              <a:t>how </a:t>
            </a:r>
            <a:r>
              <a:rPr lang="en-US" sz="2400" dirty="0"/>
              <a:t>these tasks will be executed. </a:t>
            </a:r>
          </a:p>
          <a:p>
            <a:r>
              <a:rPr lang="en-US" sz="2400" dirty="0"/>
              <a:t>You estimate the </a:t>
            </a:r>
            <a:r>
              <a:rPr lang="en-US" sz="2400" b="1" dirty="0"/>
              <a:t>calendar time</a:t>
            </a:r>
            <a:r>
              <a:rPr lang="en-US" sz="2400" dirty="0"/>
              <a:t> needed to complete each task, the </a:t>
            </a:r>
            <a:r>
              <a:rPr lang="en-US" sz="2400" b="1" dirty="0"/>
              <a:t>effort required</a:t>
            </a:r>
            <a:r>
              <a:rPr lang="en-US" sz="2400" dirty="0"/>
              <a:t> and </a:t>
            </a:r>
            <a:r>
              <a:rPr lang="en-US" sz="2400" b="1" dirty="0"/>
              <a:t>who will work </a:t>
            </a:r>
            <a:r>
              <a:rPr lang="en-US" sz="2400" dirty="0"/>
              <a:t>on the tasks that have been identified. </a:t>
            </a:r>
          </a:p>
          <a:p>
            <a:r>
              <a:rPr lang="en-US" sz="2400" dirty="0"/>
              <a:t>You also have to estimate the </a:t>
            </a:r>
            <a:r>
              <a:rPr lang="en-US" sz="2400" b="1" dirty="0"/>
              <a:t>resources</a:t>
            </a:r>
            <a:r>
              <a:rPr lang="en-US" sz="2400" dirty="0"/>
              <a:t> needed to complete each task, such as the </a:t>
            </a:r>
            <a:r>
              <a:rPr lang="en-US" sz="2400" b="1" dirty="0"/>
              <a:t>disk space</a:t>
            </a:r>
            <a:r>
              <a:rPr lang="en-US" sz="2400" dirty="0"/>
              <a:t> required on a server, the time required on </a:t>
            </a:r>
            <a:r>
              <a:rPr lang="en-US" sz="2400" b="1" dirty="0"/>
              <a:t>specialized hardware,</a:t>
            </a:r>
            <a:r>
              <a:rPr lang="en-US" sz="2400" dirty="0"/>
              <a:t> such as a simulator, and what the </a:t>
            </a:r>
            <a:r>
              <a:rPr lang="en-US" sz="2400" b="1" dirty="0"/>
              <a:t>travel budget</a:t>
            </a:r>
            <a:r>
              <a:rPr lang="en-US" sz="2400" dirty="0"/>
              <a:t> will be.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29717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scheduling activities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63" y="1905000"/>
            <a:ext cx="7772400" cy="4114800"/>
          </a:xfrm>
        </p:spPr>
        <p:txBody>
          <a:bodyPr/>
          <a:lstStyle/>
          <a:p>
            <a:r>
              <a:rPr lang="en-GB" sz="2800" b="1" dirty="0"/>
              <a:t>Split project into tasks</a:t>
            </a:r>
            <a:r>
              <a:rPr lang="en-GB" sz="2800" dirty="0"/>
              <a:t> and estimate time and resources required to complete each task.</a:t>
            </a:r>
          </a:p>
          <a:p>
            <a:r>
              <a:rPr lang="en-GB" sz="2800" b="1" dirty="0"/>
              <a:t>Organize tasks concurrently</a:t>
            </a:r>
            <a:r>
              <a:rPr lang="en-GB" sz="2800" dirty="0"/>
              <a:t> to make optimal </a:t>
            </a:r>
            <a:r>
              <a:rPr lang="en-GB" sz="2800" dirty="0" smtClean="0"/>
              <a:t> use </a:t>
            </a:r>
            <a:r>
              <a:rPr lang="en-GB" sz="2800" dirty="0"/>
              <a:t>of workforce.</a:t>
            </a:r>
          </a:p>
          <a:p>
            <a:r>
              <a:rPr lang="en-GB" sz="2800" b="1" dirty="0"/>
              <a:t>Minimize task dependencies</a:t>
            </a:r>
            <a:r>
              <a:rPr lang="en-GB" sz="2800" dirty="0"/>
              <a:t> to avoid delays </a:t>
            </a:r>
            <a:r>
              <a:rPr lang="en-GB" sz="2800" dirty="0" smtClean="0"/>
              <a:t>caused </a:t>
            </a:r>
            <a:r>
              <a:rPr lang="en-GB" sz="2800" dirty="0"/>
              <a:t>by one task waiting for another to complete.</a:t>
            </a:r>
          </a:p>
          <a:p>
            <a:r>
              <a:rPr lang="en-GB" sz="2800" dirty="0"/>
              <a:t>Dependent on project managers intuition and experience.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03330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Milestones and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Milestones</a:t>
            </a:r>
            <a:r>
              <a:rPr lang="en-US" dirty="0"/>
              <a:t> are </a:t>
            </a:r>
            <a:r>
              <a:rPr lang="en-US" b="1" dirty="0"/>
              <a:t>points in the schedule</a:t>
            </a:r>
            <a:r>
              <a:rPr lang="en-US" dirty="0"/>
              <a:t> against which you can </a:t>
            </a:r>
            <a:r>
              <a:rPr lang="en-US" b="1" dirty="0"/>
              <a:t>assess progress</a:t>
            </a:r>
            <a:r>
              <a:rPr lang="en-US" dirty="0"/>
              <a:t>, for example, the handover of the system for testing. </a:t>
            </a:r>
          </a:p>
          <a:p>
            <a:r>
              <a:rPr lang="en-US" b="1" dirty="0"/>
              <a:t>Deliverables are work products</a:t>
            </a:r>
            <a:r>
              <a:rPr lang="en-US" dirty="0"/>
              <a:t> that are delivered to the customer, e.g. a requirements document for the system</a:t>
            </a:r>
            <a:r>
              <a:rPr lang="en-US" dirty="0" smtClean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2936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project scheduling process</a:t>
            </a:r>
            <a:r>
              <a:rPr lang="en-GB" dirty="0"/>
              <a:t>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51" y="2776635"/>
            <a:ext cx="8903449" cy="194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662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Scheduling 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/>
              <a:t>Estimating the difficulty of problems and hence the cost of developing a solution is hard.</a:t>
            </a:r>
          </a:p>
          <a:p>
            <a:r>
              <a:rPr lang="en-GB" sz="2800" dirty="0"/>
              <a:t>Productivity is not proportional to the number of people working on a task.</a:t>
            </a:r>
          </a:p>
          <a:p>
            <a:r>
              <a:rPr lang="en-GB" sz="2800" dirty="0"/>
              <a:t>Adding people to a late project makes it later because of communication overheads.</a:t>
            </a:r>
          </a:p>
          <a:p>
            <a:r>
              <a:rPr lang="en-GB" sz="2800" dirty="0"/>
              <a:t>The unexpected always happens. Always allow contingency in planning.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71792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Tasks, durations, and dependencies</a:t>
            </a:r>
            <a:r>
              <a:rPr lang="en-GB" sz="4000" dirty="0"/>
              <a:t> </a:t>
            </a:r>
            <a:endParaRPr lang="en-US" sz="40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1452"/>
                <a:gridCol w="1918653"/>
                <a:gridCol w="1959187"/>
                <a:gridCol w="2890308"/>
              </a:tblGrid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Task</a:t>
                      </a:r>
                      <a:endParaRPr lang="en-GB" sz="1600" b="1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Effort (person-days)</a:t>
                      </a:r>
                      <a:endParaRPr lang="en-GB" sz="1600" b="1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Duration (days)</a:t>
                      </a:r>
                      <a:endParaRPr lang="en-GB" sz="1600" b="1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Dependencies</a:t>
                      </a:r>
                      <a:endParaRPr lang="en-GB" sz="1600" b="1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T1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15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10</a:t>
                      </a:r>
                      <a:endParaRPr lang="en-GB" sz="160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T2</a:t>
                      </a:r>
                      <a:endParaRPr lang="en-GB" sz="160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8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15</a:t>
                      </a:r>
                      <a:endParaRPr lang="en-GB" sz="160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T3</a:t>
                      </a:r>
                      <a:endParaRPr lang="en-GB" sz="160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20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15</a:t>
                      </a:r>
                      <a:endParaRPr lang="en-GB" sz="160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T1 (M1)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T4</a:t>
                      </a:r>
                      <a:endParaRPr lang="en-GB" sz="160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5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10</a:t>
                      </a:r>
                      <a:endParaRPr lang="en-GB" sz="160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60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T5</a:t>
                      </a:r>
                      <a:endParaRPr lang="en-GB" sz="160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5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10</a:t>
                      </a:r>
                      <a:endParaRPr lang="en-GB" sz="160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T2, T4 (M3)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T6</a:t>
                      </a:r>
                      <a:endParaRPr lang="en-GB" sz="160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10</a:t>
                      </a:r>
                      <a:endParaRPr lang="en-GB" sz="160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5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T1, T2 (M4)</a:t>
                      </a:r>
                      <a:endParaRPr lang="en-GB" sz="160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T7</a:t>
                      </a:r>
                      <a:endParaRPr lang="en-GB" sz="160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25</a:t>
                      </a:r>
                      <a:endParaRPr lang="en-GB" sz="160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20</a:t>
                      </a:r>
                      <a:endParaRPr lang="en-GB" sz="160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T1 (M1)</a:t>
                      </a:r>
                      <a:endParaRPr lang="en-GB" sz="160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T8</a:t>
                      </a:r>
                      <a:endParaRPr lang="en-GB" sz="160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75</a:t>
                      </a:r>
                      <a:endParaRPr lang="en-GB" sz="160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25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T4 (M2)</a:t>
                      </a:r>
                      <a:endParaRPr lang="en-GB" sz="160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T9</a:t>
                      </a:r>
                      <a:endParaRPr lang="en-GB" sz="160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10</a:t>
                      </a:r>
                      <a:endParaRPr lang="en-GB" sz="160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15</a:t>
                      </a:r>
                      <a:endParaRPr lang="en-GB" sz="160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T3, T6 (M5)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T10</a:t>
                      </a:r>
                      <a:endParaRPr lang="en-GB" sz="160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20</a:t>
                      </a:r>
                      <a:endParaRPr lang="en-GB" sz="160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15</a:t>
                      </a:r>
                      <a:endParaRPr lang="en-GB" sz="160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T7, T8 (M6)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T11</a:t>
                      </a:r>
                      <a:endParaRPr lang="en-GB" sz="160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10</a:t>
                      </a:r>
                      <a:endParaRPr lang="en-GB" sz="160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10</a:t>
                      </a:r>
                      <a:endParaRPr lang="en-GB" sz="160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T9 (M7)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T12</a:t>
                      </a:r>
                      <a:endParaRPr lang="en-GB" sz="160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20</a:t>
                      </a:r>
                      <a:endParaRPr lang="en-GB" sz="160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10</a:t>
                      </a:r>
                      <a:endParaRPr lang="en-GB" sz="160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T10, T11 (M8</a:t>
                      </a:r>
                      <a:r>
                        <a:rPr lang="en-US" sz="1600" dirty="0" smtClean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Arial"/>
                        </a:rPr>
                        <a:t>)</a:t>
                      </a:r>
                      <a:endParaRPr lang="en-GB" sz="1600" dirty="0">
                        <a:solidFill>
                          <a:srgbClr val="000000"/>
                        </a:solidFill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54610" marR="54610" marT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2754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3163" y="0"/>
            <a:ext cx="7772400" cy="1143000"/>
          </a:xfrm>
        </p:spPr>
        <p:txBody>
          <a:bodyPr/>
          <a:lstStyle/>
          <a:p>
            <a:r>
              <a:rPr lang="en-US" dirty="0"/>
              <a:t>Activity bar chart</a:t>
            </a:r>
            <a:r>
              <a:rPr lang="en-GB" dirty="0"/>
              <a:t>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163" y="1142999"/>
            <a:ext cx="6798247" cy="5424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546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Staff allocation chart</a:t>
            </a:r>
            <a:r>
              <a:rPr lang="en-GB" dirty="0"/>
              <a:t> 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447800"/>
            <a:ext cx="7007754" cy="5245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019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in halsduk">
  <a:themeElements>
    <a:clrScheme name="Min halsduk 2">
      <a:dk1>
        <a:srgbClr val="000000"/>
      </a:dk1>
      <a:lt1>
        <a:srgbClr val="FFFFFF"/>
      </a:lt1>
      <a:dk2>
        <a:srgbClr val="003366"/>
      </a:dk2>
      <a:lt2>
        <a:srgbClr val="5490A8"/>
      </a:lt2>
      <a:accent1>
        <a:srgbClr val="0099CC"/>
      </a:accent1>
      <a:accent2>
        <a:srgbClr val="3366CC"/>
      </a:accent2>
      <a:accent3>
        <a:srgbClr val="FFFFFF"/>
      </a:accent3>
      <a:accent4>
        <a:srgbClr val="000000"/>
      </a:accent4>
      <a:accent5>
        <a:srgbClr val="AACAE2"/>
      </a:accent5>
      <a:accent6>
        <a:srgbClr val="2D5CB9"/>
      </a:accent6>
      <a:hlink>
        <a:srgbClr val="99CCFF"/>
      </a:hlink>
      <a:folHlink>
        <a:srgbClr val="E1E1B7"/>
      </a:folHlink>
    </a:clrScheme>
    <a:fontScheme name="Min halsduk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Min halsduk 1">
        <a:dk1>
          <a:srgbClr val="5490A8"/>
        </a:dk1>
        <a:lt1>
          <a:srgbClr val="DDDDDD"/>
        </a:lt1>
        <a:dk2>
          <a:srgbClr val="00172E"/>
        </a:dk2>
        <a:lt2>
          <a:srgbClr val="CCECFF"/>
        </a:lt2>
        <a:accent1>
          <a:srgbClr val="0099CC"/>
        </a:accent1>
        <a:accent2>
          <a:srgbClr val="3366CC"/>
        </a:accent2>
        <a:accent3>
          <a:srgbClr val="AAABAD"/>
        </a:accent3>
        <a:accent4>
          <a:srgbClr val="BDBDBD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in halsduk 2">
        <a:dk1>
          <a:srgbClr val="000000"/>
        </a:dk1>
        <a:lt1>
          <a:srgbClr val="FFFFFF"/>
        </a:lt1>
        <a:dk2>
          <a:srgbClr val="003366"/>
        </a:dk2>
        <a:lt2>
          <a:srgbClr val="5490A8"/>
        </a:lt2>
        <a:accent1>
          <a:srgbClr val="0099CC"/>
        </a:accent1>
        <a:accent2>
          <a:srgbClr val="3366CC"/>
        </a:accent2>
        <a:accent3>
          <a:srgbClr val="FFFFFF"/>
        </a:accent3>
        <a:accent4>
          <a:srgbClr val="000000"/>
        </a:accent4>
        <a:accent5>
          <a:srgbClr val="AACAE2"/>
        </a:accent5>
        <a:accent6>
          <a:srgbClr val="2D5CB9"/>
        </a:accent6>
        <a:hlink>
          <a:srgbClr val="99CCFF"/>
        </a:hlink>
        <a:folHlink>
          <a:srgbClr val="E1E1B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n halsduk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n halsduk 4">
        <a:dk1>
          <a:srgbClr val="000000"/>
        </a:dk1>
        <a:lt1>
          <a:srgbClr val="FFFFFF"/>
        </a:lt1>
        <a:dk2>
          <a:srgbClr val="666633"/>
        </a:dk2>
        <a:lt2>
          <a:srgbClr val="908A6C"/>
        </a:lt2>
        <a:accent1>
          <a:srgbClr val="808000"/>
        </a:accent1>
        <a:accent2>
          <a:srgbClr val="996633"/>
        </a:accent2>
        <a:accent3>
          <a:srgbClr val="FFFFFF"/>
        </a:accent3>
        <a:accent4>
          <a:srgbClr val="000000"/>
        </a:accent4>
        <a:accent5>
          <a:srgbClr val="C0C0AA"/>
        </a:accent5>
        <a:accent6>
          <a:srgbClr val="8A5C2D"/>
        </a:accent6>
        <a:hlink>
          <a:srgbClr val="CCCC00"/>
        </a:hlink>
        <a:folHlink>
          <a:srgbClr val="D6DE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n halsduk 5">
        <a:dk1>
          <a:srgbClr val="000000"/>
        </a:dk1>
        <a:lt1>
          <a:srgbClr val="FFFFFF"/>
        </a:lt1>
        <a:dk2>
          <a:srgbClr val="181848"/>
        </a:dk2>
        <a:lt2>
          <a:srgbClr val="656F97"/>
        </a:lt2>
        <a:accent1>
          <a:srgbClr val="6666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B8B8FF"/>
        </a:accent5>
        <a:accent6>
          <a:srgbClr val="2D2D8A"/>
        </a:accent6>
        <a:hlink>
          <a:srgbClr val="9A9ABC"/>
        </a:hlink>
        <a:folHlink>
          <a:srgbClr val="D2B6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n halsduk 6">
        <a:dk1>
          <a:srgbClr val="CC0066"/>
        </a:dk1>
        <a:lt1>
          <a:srgbClr val="FFFFFF"/>
        </a:lt1>
        <a:dk2>
          <a:srgbClr val="000000"/>
        </a:dk2>
        <a:lt2>
          <a:srgbClr val="CC0099"/>
        </a:lt2>
        <a:accent1>
          <a:srgbClr val="FF9900"/>
        </a:accent1>
        <a:accent2>
          <a:srgbClr val="CC6600"/>
        </a:accent2>
        <a:accent3>
          <a:srgbClr val="AAAAAA"/>
        </a:accent3>
        <a:accent4>
          <a:srgbClr val="DADADA"/>
        </a:accent4>
        <a:accent5>
          <a:srgbClr val="FFCAAA"/>
        </a:accent5>
        <a:accent6>
          <a:srgbClr val="B95C00"/>
        </a:accent6>
        <a:hlink>
          <a:srgbClr val="0099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5599</TotalTime>
  <Words>1337</Words>
  <Application>Microsoft Office PowerPoint</Application>
  <PresentationFormat>On-screen Show (4:3)</PresentationFormat>
  <Paragraphs>182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Monotype Sorts</vt:lpstr>
      <vt:lpstr>Times New Roman</vt:lpstr>
      <vt:lpstr>Office Theme</vt:lpstr>
      <vt:lpstr>Min halsduk</vt:lpstr>
      <vt:lpstr>Project Management</vt:lpstr>
      <vt:lpstr>Software project management</vt:lpstr>
      <vt:lpstr>Success criteria for project</vt:lpstr>
      <vt:lpstr>Software management distinctions</vt:lpstr>
      <vt:lpstr>Software Project Management activities</vt:lpstr>
      <vt:lpstr>Software Project Management activities</vt:lpstr>
      <vt:lpstr>Risk management</vt:lpstr>
      <vt:lpstr>Examples of common project, product, and business risks </vt:lpstr>
      <vt:lpstr>The risk management process</vt:lpstr>
      <vt:lpstr>The risk management process </vt:lpstr>
      <vt:lpstr>Managing people</vt:lpstr>
      <vt:lpstr>Personality types</vt:lpstr>
      <vt:lpstr>Personality types</vt:lpstr>
      <vt:lpstr>Software pricing</vt:lpstr>
      <vt:lpstr>Factors affecting software pricing </vt:lpstr>
      <vt:lpstr>Factors affecting software pricing </vt:lpstr>
      <vt:lpstr>Project scheduling</vt:lpstr>
      <vt:lpstr>Project scheduling activities</vt:lpstr>
      <vt:lpstr>Milestones and deliverables</vt:lpstr>
      <vt:lpstr>The project scheduling process </vt:lpstr>
      <vt:lpstr>Scheduling problems</vt:lpstr>
      <vt:lpstr>Tasks, durations, and dependencies </vt:lpstr>
      <vt:lpstr>Activity bar chart </vt:lpstr>
      <vt:lpstr>Staff allocation chart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</dc:title>
  <dc:creator>Ahmad Salman Khan</dc:creator>
  <cp:lastModifiedBy>Ahmad Salman Khan</cp:lastModifiedBy>
  <cp:revision>32</cp:revision>
  <dcterms:created xsi:type="dcterms:W3CDTF">2006-08-16T00:00:00Z</dcterms:created>
  <dcterms:modified xsi:type="dcterms:W3CDTF">2015-06-10T11:58:04Z</dcterms:modified>
</cp:coreProperties>
</file>
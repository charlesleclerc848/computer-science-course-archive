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67" r:id="rId14"/>
    <p:sldId id="268" r:id="rId15"/>
    <p:sldId id="269" r:id="rId16"/>
    <p:sldId id="270" r:id="rId17"/>
    <p:sldId id="271" r:id="rId18"/>
    <p:sldId id="272" r:id="rId19"/>
    <p:sldId id="280" r:id="rId20"/>
    <p:sldId id="282" r:id="rId21"/>
    <p:sldId id="283" r:id="rId22"/>
    <p:sldId id="284" r:id="rId23"/>
    <p:sldId id="285" r:id="rId24"/>
    <p:sldId id="286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8" autoAdjust="0"/>
    <p:restoredTop sz="94660"/>
  </p:normalViewPr>
  <p:slideViewPr>
    <p:cSldViewPr>
      <p:cViewPr varScale="1">
        <p:scale>
          <a:sx n="69" d="100"/>
          <a:sy n="69" d="100"/>
        </p:scale>
        <p:origin x="-13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3076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8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1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2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6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7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8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9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0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1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3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4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95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3520DE96-266E-4586-B6BD-DEB1B281131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41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5F123-173A-4DB5-A1B3-1BD03F273BC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844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23864-4B50-42DA-B9FD-4DADDF16366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932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DE2CBE-4A78-40CA-B4CD-D210B918D82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914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C01118-C48F-4ABA-B984-6877B89A052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173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8EA986-509F-4AA4-A66F-149C902CD21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790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71956-CCF4-4338-B297-3B9532A0ACB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259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41323-ECAD-461B-B105-B49E937E4AD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3019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5B615-AA3E-442A-AC82-3FE9065DF10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3970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985312-A75A-4CCB-ADFA-5A0358B8219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0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565D14-8248-4B57-A779-B609919722A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116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D5AD940-660F-4FA7-9F43-CF2BDF87658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427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3163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35563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173163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5563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66A5A1A-9CFE-41C9-BCDD-E395DA8477B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7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Oval 36"/>
          <p:cNvSpPr>
            <a:spLocks noChangeArrowheads="1"/>
          </p:cNvSpPr>
          <p:nvPr/>
        </p:nvSpPr>
        <p:spPr bwMode="auto">
          <a:xfrm>
            <a:off x="228600" y="228600"/>
            <a:ext cx="609600" cy="609600"/>
          </a:xfrm>
          <a:prstGeom prst="ellipse">
            <a:avLst/>
          </a:prstGeom>
          <a:solidFill>
            <a:srgbClr val="FF5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73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Process</a:t>
            </a:r>
          </a:p>
        </p:txBody>
      </p:sp>
      <p:sp>
        <p:nvSpPr>
          <p:cNvPr id="2074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Klicka här för att ändra format på bakgrundstexten</a:t>
            </a:r>
          </a:p>
          <a:p>
            <a:pPr lvl="1"/>
            <a:r>
              <a:rPr lang="en-US" smtClean="0"/>
              <a:t>Nivå två</a:t>
            </a:r>
          </a:p>
          <a:p>
            <a:pPr lvl="2"/>
            <a:r>
              <a:rPr lang="en-US" smtClean="0"/>
              <a:t>Nivå tre</a:t>
            </a:r>
          </a:p>
          <a:p>
            <a:pPr lvl="3"/>
            <a:r>
              <a:rPr lang="en-US" smtClean="0"/>
              <a:t>Nivå fyra</a:t>
            </a:r>
          </a:p>
          <a:p>
            <a:pPr lvl="4"/>
            <a:r>
              <a:rPr lang="en-US" smtClean="0"/>
              <a:t>Nivå fem</a:t>
            </a:r>
          </a:p>
        </p:txBody>
      </p:sp>
      <p:sp>
        <p:nvSpPr>
          <p:cNvPr id="2075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76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77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EF6CF669-D51C-4507-8EE9-94C79FC23D2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457200" y="609600"/>
            <a:ext cx="533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82" name="AutoShape 34"/>
          <p:cNvSpPr>
            <a:spLocks noChangeArrowheads="1"/>
          </p:cNvSpPr>
          <p:nvPr/>
        </p:nvSpPr>
        <p:spPr bwMode="auto">
          <a:xfrm rot="2559464">
            <a:off x="152400" y="457200"/>
            <a:ext cx="609600" cy="60960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9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5050"/>
        </a:buClr>
        <a:buSzPct val="75000"/>
        <a:buFont typeface="Monotype Sorts" pitchFamily="2" charset="2"/>
        <a:buChar char="l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CC00"/>
        </a:buClr>
        <a:buSzPct val="65000"/>
        <a:buFont typeface="Monotype Sorts" pitchFamily="2" charset="2"/>
        <a:buChar char="s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Evolution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1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114800"/>
          </a:xfrm>
        </p:spPr>
        <p:txBody>
          <a:bodyPr/>
          <a:lstStyle/>
          <a:p>
            <a:r>
              <a:rPr lang="en-US" dirty="0"/>
              <a:t>Evolution processes</a:t>
            </a:r>
          </a:p>
          <a:p>
            <a:pPr lvl="1"/>
            <a:r>
              <a:rPr lang="en-US" dirty="0"/>
              <a:t>Change processes for software systems </a:t>
            </a:r>
            <a:endParaRPr lang="en-GB" dirty="0"/>
          </a:p>
          <a:p>
            <a:r>
              <a:rPr lang="en-US" dirty="0"/>
              <a:t>Program evolution dynamics</a:t>
            </a:r>
          </a:p>
          <a:p>
            <a:pPr lvl="1"/>
            <a:r>
              <a:rPr lang="en-US" dirty="0"/>
              <a:t>Understanding software evolution</a:t>
            </a:r>
            <a:endParaRPr lang="en-GB" dirty="0"/>
          </a:p>
          <a:p>
            <a:r>
              <a:rPr lang="en-US" dirty="0"/>
              <a:t>Software maintenance</a:t>
            </a:r>
          </a:p>
          <a:p>
            <a:pPr lvl="1"/>
            <a:r>
              <a:rPr lang="en-US" dirty="0"/>
              <a:t>Making changes to operational software systems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49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152400"/>
            <a:ext cx="7772400" cy="1143000"/>
          </a:xfrm>
        </p:spPr>
        <p:txBody>
          <a:bodyPr/>
          <a:lstStyle/>
          <a:p>
            <a:r>
              <a:rPr lang="en-GB" dirty="0"/>
              <a:t>Software 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772400" cy="4114800"/>
          </a:xfrm>
        </p:spPr>
        <p:txBody>
          <a:bodyPr/>
          <a:lstStyle/>
          <a:p>
            <a:pPr algn="just"/>
            <a:r>
              <a:rPr lang="en-GB" sz="2800" dirty="0"/>
              <a:t>Software change is inevitable</a:t>
            </a:r>
          </a:p>
          <a:p>
            <a:pPr lvl="1" algn="just"/>
            <a:r>
              <a:rPr lang="en-GB" sz="2400" dirty="0"/>
              <a:t>New requirements emerge when the software is used;</a:t>
            </a:r>
          </a:p>
          <a:p>
            <a:pPr lvl="1" algn="just"/>
            <a:r>
              <a:rPr lang="en-GB" sz="2400" dirty="0"/>
              <a:t>The business environment changes;</a:t>
            </a:r>
          </a:p>
          <a:p>
            <a:pPr lvl="1" algn="just"/>
            <a:r>
              <a:rPr lang="en-GB" sz="2400" dirty="0"/>
              <a:t>Errors must be repaired;</a:t>
            </a:r>
          </a:p>
          <a:p>
            <a:pPr lvl="1" algn="just"/>
            <a:r>
              <a:rPr lang="en-GB" sz="2400" dirty="0"/>
              <a:t>New computers and equipment is added to the system;</a:t>
            </a:r>
          </a:p>
          <a:p>
            <a:pPr lvl="1" algn="just"/>
            <a:r>
              <a:rPr lang="en-GB" sz="2400" dirty="0"/>
              <a:t>The performance or reliability of the system may have to be improved.</a:t>
            </a:r>
          </a:p>
          <a:p>
            <a:pPr algn="just"/>
            <a:r>
              <a:rPr lang="en-GB" sz="2800" dirty="0"/>
              <a:t>A key problem for all organizations is implementing and managing change to their existing software systems.</a:t>
            </a: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4478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7772400" cy="4114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 smtClean="0"/>
              <a:t>Organizations </a:t>
            </a:r>
            <a:r>
              <a:rPr lang="en-US" dirty="0"/>
              <a:t>have </a:t>
            </a:r>
            <a:r>
              <a:rPr lang="en-US" b="1" dirty="0"/>
              <a:t>huge investments </a:t>
            </a:r>
            <a:r>
              <a:rPr lang="en-US" dirty="0"/>
              <a:t>in their software systems - they are critical business assets.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To maintain the value of these assets to the business, they must be changed and updated.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The majority of the software budget in large companies is devoted to changing and evolving existing software rather than developing new software.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36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0"/>
            <a:ext cx="7772400" cy="1143000"/>
          </a:xfrm>
        </p:spPr>
        <p:txBody>
          <a:bodyPr/>
          <a:lstStyle/>
          <a:p>
            <a:r>
              <a:rPr lang="en-US" sz="3200" dirty="0"/>
              <a:t>A spiral model of development and evolution</a:t>
            </a:r>
            <a:r>
              <a:rPr lang="en-GB" sz="3200" dirty="0"/>
              <a:t> 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1600200"/>
            <a:ext cx="6971976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6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and servicing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9851" y="2974780"/>
            <a:ext cx="8731749" cy="144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6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and </a:t>
            </a:r>
            <a:r>
              <a:rPr lang="en-US" dirty="0" smtClean="0"/>
              <a:t>servicing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7772400" cy="4114800"/>
          </a:xfrm>
        </p:spPr>
        <p:txBody>
          <a:bodyPr/>
          <a:lstStyle/>
          <a:p>
            <a:pPr algn="just"/>
            <a:r>
              <a:rPr lang="en-US" sz="2400" dirty="0"/>
              <a:t>Evolution</a:t>
            </a:r>
          </a:p>
          <a:p>
            <a:pPr lvl="1" algn="just"/>
            <a:r>
              <a:rPr lang="en-US" sz="2000" dirty="0"/>
              <a:t>The stage in a software system’s life cycle where it is in operational use and is evolving as </a:t>
            </a:r>
            <a:r>
              <a:rPr lang="en-US" sz="2000" b="1" dirty="0"/>
              <a:t>new requirements</a:t>
            </a:r>
            <a:r>
              <a:rPr lang="en-US" sz="2000" dirty="0"/>
              <a:t> are proposed and implemented in the system.</a:t>
            </a:r>
          </a:p>
          <a:p>
            <a:pPr algn="just"/>
            <a:r>
              <a:rPr lang="en-US" sz="2400" dirty="0"/>
              <a:t>Servicing</a:t>
            </a:r>
          </a:p>
          <a:p>
            <a:pPr lvl="1" algn="just"/>
            <a:r>
              <a:rPr lang="en-US" sz="2000" dirty="0"/>
              <a:t>At this stage, the software remains useful but the only changes made are those required to keep it operational i.e. </a:t>
            </a:r>
            <a:r>
              <a:rPr lang="en-US" sz="2000" b="1" dirty="0"/>
              <a:t>bug fixes</a:t>
            </a:r>
            <a:r>
              <a:rPr lang="en-US" sz="2000" dirty="0"/>
              <a:t> and changes to reflect changes in the software’s environment. </a:t>
            </a:r>
            <a:r>
              <a:rPr lang="en-US" sz="2000" b="1" dirty="0"/>
              <a:t>No new functionality </a:t>
            </a:r>
            <a:r>
              <a:rPr lang="en-US" sz="2000" dirty="0"/>
              <a:t>is added.</a:t>
            </a:r>
          </a:p>
          <a:p>
            <a:pPr algn="just"/>
            <a:r>
              <a:rPr lang="en-US" sz="2400" dirty="0"/>
              <a:t>Phase-out</a:t>
            </a:r>
          </a:p>
          <a:p>
            <a:pPr lvl="1" algn="just"/>
            <a:r>
              <a:rPr lang="en-US" sz="2000" dirty="0"/>
              <a:t>The software may still be used but no further changes are made to it.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152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228600"/>
            <a:ext cx="7772400" cy="1143000"/>
          </a:xfrm>
        </p:spPr>
        <p:txBody>
          <a:bodyPr/>
          <a:lstStyle/>
          <a:p>
            <a:r>
              <a:rPr lang="en-US" dirty="0"/>
              <a:t>Evolution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772400" cy="4114800"/>
          </a:xfrm>
        </p:spPr>
        <p:txBody>
          <a:bodyPr/>
          <a:lstStyle/>
          <a:p>
            <a:r>
              <a:rPr lang="en-US" sz="2800" dirty="0"/>
              <a:t>Software evolution processes depend on</a:t>
            </a:r>
          </a:p>
          <a:p>
            <a:pPr lvl="1"/>
            <a:r>
              <a:rPr lang="en-US" sz="2400" dirty="0"/>
              <a:t>The type of software being maintained;</a:t>
            </a:r>
          </a:p>
          <a:p>
            <a:pPr lvl="1"/>
            <a:r>
              <a:rPr lang="en-US" sz="2400" dirty="0"/>
              <a:t>The </a:t>
            </a:r>
            <a:r>
              <a:rPr lang="en-US" sz="2400" dirty="0" smtClean="0"/>
              <a:t>maintenance </a:t>
            </a:r>
            <a:r>
              <a:rPr lang="en-US" sz="2400" dirty="0"/>
              <a:t>processes used;</a:t>
            </a:r>
          </a:p>
          <a:p>
            <a:pPr lvl="1"/>
            <a:r>
              <a:rPr lang="en-US" sz="2400" dirty="0"/>
              <a:t>The skills and experience of the people involved.</a:t>
            </a:r>
          </a:p>
          <a:p>
            <a:r>
              <a:rPr lang="en-US" sz="2800" dirty="0"/>
              <a:t>Proposals for change are the driver for system evolution.</a:t>
            </a:r>
          </a:p>
          <a:p>
            <a:pPr lvl="1"/>
            <a:r>
              <a:rPr lang="en-US" sz="2400" dirty="0"/>
              <a:t>Should be linked with components that are affected by the change, thus allowing the cost and impact of the change to be estimated.</a:t>
            </a:r>
          </a:p>
          <a:p>
            <a:r>
              <a:rPr lang="en-US" sz="2800" b="1" dirty="0"/>
              <a:t>Change identification</a:t>
            </a:r>
            <a:r>
              <a:rPr lang="en-US" sz="2800" dirty="0"/>
              <a:t> and evolution continues throughout the system lifetime.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3595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identification </a:t>
            </a:r>
            <a:r>
              <a:rPr lang="en-US" dirty="0" smtClean="0"/>
              <a:t>process</a:t>
            </a:r>
            <a:r>
              <a:rPr lang="en-GB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37776" y="2165952"/>
            <a:ext cx="5683599" cy="385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7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04800"/>
            <a:ext cx="7772400" cy="1143000"/>
          </a:xfrm>
        </p:spPr>
        <p:txBody>
          <a:bodyPr/>
          <a:lstStyle/>
          <a:p>
            <a:r>
              <a:rPr lang="en-US" sz="3600" dirty="0"/>
              <a:t>The software evolution process</a:t>
            </a:r>
            <a:r>
              <a:rPr lang="en-GB" sz="3600" dirty="0"/>
              <a:t> 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552" y="2512593"/>
            <a:ext cx="8746084" cy="244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0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0"/>
            <a:ext cx="7772400" cy="1143000"/>
          </a:xfrm>
        </p:spPr>
        <p:txBody>
          <a:bodyPr/>
          <a:lstStyle/>
          <a:p>
            <a:r>
              <a:rPr lang="en-US" sz="4000" dirty="0"/>
              <a:t>The software evolution process</a:t>
            </a:r>
            <a:r>
              <a:rPr lang="en-GB" sz="4000" dirty="0"/>
              <a:t> 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770" y="1295400"/>
            <a:ext cx="8488363" cy="4572000"/>
          </a:xfrm>
        </p:spPr>
        <p:txBody>
          <a:bodyPr/>
          <a:lstStyle/>
          <a:p>
            <a:pPr algn="just"/>
            <a:r>
              <a:rPr lang="en-US" sz="2000" b="1" dirty="0" smtClean="0"/>
              <a:t>Impact Analysis</a:t>
            </a:r>
          </a:p>
          <a:p>
            <a:pPr lvl="1" algn="just"/>
            <a:r>
              <a:rPr lang="en-US" sz="2000" dirty="0">
                <a:solidFill>
                  <a:srgbClr val="231F20"/>
                </a:solidFill>
                <a:latin typeface="Times-Roman"/>
              </a:rPr>
              <a:t>The cost and impact </a:t>
            </a:r>
            <a:r>
              <a:rPr lang="en-US" sz="2000" dirty="0" smtClean="0">
                <a:solidFill>
                  <a:srgbClr val="231F20"/>
                </a:solidFill>
                <a:latin typeface="Times-Roman"/>
              </a:rPr>
              <a:t>of these </a:t>
            </a:r>
            <a:r>
              <a:rPr lang="en-US" sz="2000" dirty="0">
                <a:solidFill>
                  <a:srgbClr val="231F20"/>
                </a:solidFill>
                <a:latin typeface="Times-Roman"/>
              </a:rPr>
              <a:t>changes are assessed to see how much of the system is affected by the change </a:t>
            </a:r>
            <a:r>
              <a:rPr lang="en-US" sz="2000" dirty="0" smtClean="0">
                <a:solidFill>
                  <a:srgbClr val="231F20"/>
                </a:solidFill>
                <a:latin typeface="Times-Roman"/>
              </a:rPr>
              <a:t>and how </a:t>
            </a:r>
            <a:r>
              <a:rPr lang="en-US" sz="2000" dirty="0">
                <a:solidFill>
                  <a:srgbClr val="231F20"/>
                </a:solidFill>
                <a:latin typeface="Times-Roman"/>
              </a:rPr>
              <a:t>much it might cost to implement the change</a:t>
            </a:r>
            <a:r>
              <a:rPr lang="en-US" sz="2000" dirty="0" smtClean="0">
                <a:solidFill>
                  <a:srgbClr val="231F20"/>
                </a:solidFill>
                <a:latin typeface="Times-Roman"/>
              </a:rPr>
              <a:t>.</a:t>
            </a:r>
          </a:p>
          <a:p>
            <a:pPr algn="just"/>
            <a:r>
              <a:rPr lang="en-US" sz="2000" b="1" dirty="0" smtClean="0">
                <a:solidFill>
                  <a:srgbClr val="231F20"/>
                </a:solidFill>
                <a:latin typeface="Times-Roman"/>
              </a:rPr>
              <a:t>Release Planning</a:t>
            </a:r>
          </a:p>
          <a:p>
            <a:pPr lvl="1" algn="just"/>
            <a:r>
              <a:rPr lang="en-US" sz="2000" dirty="0"/>
              <a:t>During release planning, all proposed </a:t>
            </a:r>
            <a:r>
              <a:rPr lang="en-US" sz="2000" dirty="0" smtClean="0"/>
              <a:t>changes (fault </a:t>
            </a:r>
            <a:r>
              <a:rPr lang="en-US" sz="2000" dirty="0"/>
              <a:t>repair, adaptation, and new functionality) are considered. A decision is then </a:t>
            </a:r>
            <a:r>
              <a:rPr lang="en-US" sz="2000" dirty="0" smtClean="0"/>
              <a:t>made on </a:t>
            </a:r>
            <a:r>
              <a:rPr lang="en-US" sz="2000" dirty="0"/>
              <a:t>which changes to implement in the next version of the </a:t>
            </a:r>
            <a:r>
              <a:rPr lang="en-US" sz="2000" dirty="0" smtClean="0"/>
              <a:t>system</a:t>
            </a:r>
          </a:p>
          <a:p>
            <a:pPr algn="just"/>
            <a:r>
              <a:rPr lang="en-US" sz="2000" b="1" dirty="0" smtClean="0"/>
              <a:t>Change Implementation</a:t>
            </a:r>
            <a:r>
              <a:rPr lang="en-US" sz="2000" dirty="0" smtClean="0"/>
              <a:t> </a:t>
            </a:r>
          </a:p>
          <a:p>
            <a:pPr lvl="1" algn="just"/>
            <a:r>
              <a:rPr lang="en-US" sz="2000" dirty="0" smtClean="0"/>
              <a:t>The </a:t>
            </a:r>
            <a:r>
              <a:rPr lang="en-US" sz="2000" dirty="0"/>
              <a:t>changes </a:t>
            </a:r>
            <a:r>
              <a:rPr lang="en-US" sz="2000" dirty="0" smtClean="0"/>
              <a:t>are implemented </a:t>
            </a:r>
            <a:r>
              <a:rPr lang="en-US" sz="2000" dirty="0"/>
              <a:t>and </a:t>
            </a:r>
            <a:r>
              <a:rPr lang="en-US" sz="2000" dirty="0" smtClean="0"/>
              <a:t>validated. </a:t>
            </a:r>
          </a:p>
          <a:p>
            <a:pPr algn="just"/>
            <a:r>
              <a:rPr lang="en-US" sz="2000" b="1" dirty="0" smtClean="0"/>
              <a:t>System release</a:t>
            </a:r>
            <a:endParaRPr lang="en-US" sz="2000" b="1" dirty="0"/>
          </a:p>
          <a:p>
            <a:pPr lvl="1" algn="just"/>
            <a:r>
              <a:rPr lang="en-US" sz="2000" dirty="0" smtClean="0"/>
              <a:t> A new </a:t>
            </a:r>
            <a:r>
              <a:rPr lang="en-US" sz="2000" dirty="0"/>
              <a:t>version of the system is released. The </a:t>
            </a:r>
            <a:r>
              <a:rPr lang="en-US" sz="2000" dirty="0" smtClean="0"/>
              <a:t>process then </a:t>
            </a:r>
            <a:r>
              <a:rPr lang="en-US" sz="2000" dirty="0"/>
              <a:t>iterates with a new set of changes proposed for the next release.</a:t>
            </a:r>
          </a:p>
          <a:p>
            <a:pPr algn="just"/>
            <a:endParaRPr lang="en-US" sz="2000" dirty="0" smtClean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300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implementation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254" y="2590800"/>
            <a:ext cx="8253346" cy="155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5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7772400" cy="4114800"/>
          </a:xfrm>
        </p:spPr>
        <p:txBody>
          <a:bodyPr/>
          <a:lstStyle/>
          <a:p>
            <a:pPr algn="just"/>
            <a:r>
              <a:rPr lang="en-US" sz="2400" dirty="0"/>
              <a:t>Iteration of the development process where the revisions to the system are designed, implemented and tested.</a:t>
            </a:r>
          </a:p>
          <a:p>
            <a:pPr algn="just"/>
            <a:r>
              <a:rPr lang="en-US" sz="2400" dirty="0"/>
              <a:t>A critical difference is that the first stage of change implementation may involve </a:t>
            </a:r>
            <a:r>
              <a:rPr lang="en-US" sz="2400" b="1" dirty="0"/>
              <a:t>program understanding</a:t>
            </a:r>
            <a:r>
              <a:rPr lang="en-US" sz="2400" dirty="0"/>
              <a:t>, especially if the original system developers are not responsible for  the change implementation. </a:t>
            </a:r>
          </a:p>
          <a:p>
            <a:pPr algn="just"/>
            <a:r>
              <a:rPr lang="en-US" sz="2400" dirty="0"/>
              <a:t>During the program understanding phase, you have to understand how the </a:t>
            </a:r>
            <a:r>
              <a:rPr lang="en-US" sz="2400" b="1" dirty="0"/>
              <a:t>program is structured</a:t>
            </a:r>
            <a:r>
              <a:rPr lang="en-US" sz="2400" dirty="0"/>
              <a:t>, how it delivers functionality and how the proposed change might affect the program. 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69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Emergency change </a:t>
            </a:r>
            <a:r>
              <a:rPr lang="en-US" dirty="0"/>
              <a:t>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7772400" cy="4114800"/>
          </a:xfrm>
        </p:spPr>
        <p:txBody>
          <a:bodyPr/>
          <a:lstStyle/>
          <a:p>
            <a:pPr algn="just"/>
            <a:r>
              <a:rPr lang="en-US" sz="2400" dirty="0"/>
              <a:t>Urgent changes may have to be implemented without going through all stages of the software engineering process</a:t>
            </a:r>
          </a:p>
          <a:p>
            <a:pPr lvl="1" algn="just"/>
            <a:r>
              <a:rPr lang="en-US" sz="2400" dirty="0"/>
              <a:t>If a serious system fault has to be repaired to allow </a:t>
            </a:r>
            <a:r>
              <a:rPr lang="en-US" sz="2400" b="1" dirty="0"/>
              <a:t>normal operation to continue</a:t>
            </a:r>
            <a:r>
              <a:rPr lang="en-US" sz="2400" dirty="0"/>
              <a:t>;</a:t>
            </a:r>
          </a:p>
          <a:p>
            <a:pPr lvl="1" algn="just"/>
            <a:r>
              <a:rPr lang="en-US" sz="2400" dirty="0"/>
              <a:t>If </a:t>
            </a:r>
            <a:r>
              <a:rPr lang="en-US" sz="2400" b="1" dirty="0"/>
              <a:t>changes</a:t>
            </a:r>
            <a:r>
              <a:rPr lang="en-US" sz="2400" dirty="0"/>
              <a:t> to the system’s environment (e.g. an OS upgrade) have </a:t>
            </a:r>
            <a:r>
              <a:rPr lang="en-US" sz="2400" b="1" dirty="0"/>
              <a:t>unexpected effects</a:t>
            </a:r>
            <a:r>
              <a:rPr lang="en-US" sz="2400" dirty="0"/>
              <a:t>;</a:t>
            </a:r>
          </a:p>
          <a:p>
            <a:pPr lvl="1" algn="just"/>
            <a:r>
              <a:rPr lang="en-US" sz="2400" dirty="0"/>
              <a:t>If there are business changes that require a </a:t>
            </a:r>
            <a:r>
              <a:rPr lang="en-US" sz="2400" b="1" dirty="0"/>
              <a:t>very </a:t>
            </a:r>
            <a:r>
              <a:rPr lang="en-US" sz="2400" b="1" dirty="0" smtClean="0"/>
              <a:t>rapid response</a:t>
            </a:r>
            <a:r>
              <a:rPr lang="en-US" sz="2400" dirty="0" smtClean="0"/>
              <a:t> ( e.g. the </a:t>
            </a:r>
            <a:r>
              <a:rPr lang="en-US" sz="2400" dirty="0"/>
              <a:t>introduction of new legislation </a:t>
            </a:r>
            <a:r>
              <a:rPr lang="en-US" sz="2400" dirty="0" smtClean="0"/>
              <a:t>that affects </a:t>
            </a:r>
            <a:r>
              <a:rPr lang="en-US" sz="2400" dirty="0"/>
              <a:t>the system</a:t>
            </a:r>
            <a:r>
              <a:rPr lang="en-US" sz="2400" dirty="0" smtClean="0"/>
              <a:t>)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1857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emergency repair process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2696878"/>
            <a:ext cx="8411292" cy="88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methods and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114800"/>
          </a:xfrm>
        </p:spPr>
        <p:txBody>
          <a:bodyPr/>
          <a:lstStyle/>
          <a:p>
            <a:pPr algn="just"/>
            <a:r>
              <a:rPr lang="en-US" sz="2800" dirty="0"/>
              <a:t>Agile methods are based on incremental development so the transition from development to evolution is a seamless one.</a:t>
            </a:r>
          </a:p>
          <a:p>
            <a:pPr lvl="1" algn="just"/>
            <a:r>
              <a:rPr lang="en-US" sz="2400" dirty="0"/>
              <a:t>Evolution is simply a </a:t>
            </a:r>
            <a:r>
              <a:rPr lang="en-US" sz="2400" b="1" dirty="0"/>
              <a:t>continuation of the development</a:t>
            </a:r>
            <a:r>
              <a:rPr lang="en-US" sz="2400" dirty="0"/>
              <a:t> process based on frequent system releases.</a:t>
            </a:r>
          </a:p>
          <a:p>
            <a:pPr algn="just"/>
            <a:r>
              <a:rPr lang="en-US" sz="2800" b="1" dirty="0"/>
              <a:t>Automated regression testing </a:t>
            </a:r>
            <a:r>
              <a:rPr lang="en-US" sz="2800" dirty="0"/>
              <a:t>is particularly valuable when changes are made to a system.</a:t>
            </a:r>
          </a:p>
          <a:p>
            <a:pPr algn="just"/>
            <a:r>
              <a:rPr lang="en-US" sz="2800" dirty="0"/>
              <a:t>Changes may be expressed as additional </a:t>
            </a:r>
            <a:r>
              <a:rPr lang="en-US" sz="2800" b="1" dirty="0"/>
              <a:t>user stories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8570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Handover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600200"/>
            <a:ext cx="7772400" cy="4114800"/>
          </a:xfrm>
        </p:spPr>
        <p:txBody>
          <a:bodyPr/>
          <a:lstStyle/>
          <a:p>
            <a:r>
              <a:rPr lang="en-US" sz="2400" dirty="0"/>
              <a:t>Where the </a:t>
            </a:r>
            <a:r>
              <a:rPr lang="en-US" sz="2400" b="1" dirty="0"/>
              <a:t>development team have used an agile </a:t>
            </a:r>
            <a:r>
              <a:rPr lang="en-US" sz="2400" dirty="0"/>
              <a:t>approach but the </a:t>
            </a:r>
            <a:r>
              <a:rPr lang="en-US" sz="2400" b="1" dirty="0"/>
              <a:t>evolution team </a:t>
            </a:r>
            <a:r>
              <a:rPr lang="en-US" sz="2400" dirty="0"/>
              <a:t>is unfamiliar with agile methods and </a:t>
            </a:r>
            <a:r>
              <a:rPr lang="en-US" sz="2400" b="1" dirty="0"/>
              <a:t>prefer a plan-based approach</a:t>
            </a:r>
            <a:r>
              <a:rPr lang="en-US" sz="2400" dirty="0"/>
              <a:t>. </a:t>
            </a:r>
          </a:p>
          <a:p>
            <a:pPr lvl="1"/>
            <a:r>
              <a:rPr lang="en-US" sz="2000" dirty="0"/>
              <a:t>The evolution team may expect </a:t>
            </a:r>
            <a:r>
              <a:rPr lang="en-US" sz="2000" b="1" dirty="0"/>
              <a:t>detailed documentation</a:t>
            </a:r>
            <a:r>
              <a:rPr lang="en-US" sz="2000" dirty="0"/>
              <a:t> to support evolution and this is not produced in agile processes. </a:t>
            </a:r>
            <a:endParaRPr lang="en-GB" sz="2000" dirty="0"/>
          </a:p>
          <a:p>
            <a:r>
              <a:rPr lang="en-US" sz="2400" dirty="0"/>
              <a:t>Where a </a:t>
            </a:r>
            <a:r>
              <a:rPr lang="en-US" sz="2400" b="1" dirty="0"/>
              <a:t>plan-based approach </a:t>
            </a:r>
            <a:r>
              <a:rPr lang="en-US" sz="2400" dirty="0"/>
              <a:t>has been used for development but the evolution team prefer to use agile methods. </a:t>
            </a:r>
          </a:p>
          <a:p>
            <a:pPr lvl="1"/>
            <a:r>
              <a:rPr lang="en-US" sz="2000" dirty="0"/>
              <a:t>The evolution team may have to start from scratch developing </a:t>
            </a:r>
            <a:r>
              <a:rPr lang="en-US" sz="2000" b="1" dirty="0"/>
              <a:t>automated tests</a:t>
            </a:r>
            <a:r>
              <a:rPr lang="en-US" sz="2000" dirty="0"/>
              <a:t> and the code in the system may not have been refactored and simplified as is expected in agile development.  </a:t>
            </a:r>
            <a:endParaRPr lang="en-GB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835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pPr algn="just"/>
            <a:r>
              <a:rPr lang="en-GB" sz="2800" dirty="0"/>
              <a:t>Modifying a program after it has been put into use.</a:t>
            </a:r>
          </a:p>
          <a:p>
            <a:pPr algn="just"/>
            <a:r>
              <a:rPr lang="en-GB" sz="2800" dirty="0"/>
              <a:t>The term is mostly used for changing </a:t>
            </a:r>
            <a:r>
              <a:rPr lang="en-GB" sz="2800" b="1" dirty="0"/>
              <a:t>custom software</a:t>
            </a:r>
            <a:r>
              <a:rPr lang="en-GB" sz="2800" dirty="0"/>
              <a:t>. </a:t>
            </a:r>
            <a:r>
              <a:rPr lang="en-GB" sz="2800" b="1" dirty="0"/>
              <a:t>Generic software products</a:t>
            </a:r>
            <a:r>
              <a:rPr lang="en-GB" sz="2800" dirty="0"/>
              <a:t> are said to </a:t>
            </a:r>
            <a:r>
              <a:rPr lang="en-GB" sz="2800" b="1" dirty="0"/>
              <a:t>evolve</a:t>
            </a:r>
            <a:r>
              <a:rPr lang="en-GB" sz="2800" dirty="0"/>
              <a:t> to create new versions.</a:t>
            </a:r>
          </a:p>
          <a:p>
            <a:pPr algn="just"/>
            <a:r>
              <a:rPr lang="en-GB" sz="2800" dirty="0"/>
              <a:t>Maintenance does not normally involve major changes to the system’s architecture.</a:t>
            </a:r>
          </a:p>
          <a:p>
            <a:pPr algn="just"/>
            <a:r>
              <a:rPr lang="en-GB" sz="2800" dirty="0"/>
              <a:t>Changes are implemented by modifying existing components and adding new components to the system.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8100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676400"/>
            <a:ext cx="7772400" cy="4114800"/>
          </a:xfrm>
        </p:spPr>
        <p:txBody>
          <a:bodyPr/>
          <a:lstStyle/>
          <a:p>
            <a:r>
              <a:rPr lang="en-GB" sz="2400" dirty="0" smtClean="0"/>
              <a:t>Maintenance </a:t>
            </a:r>
            <a:r>
              <a:rPr lang="en-GB" sz="2400" dirty="0"/>
              <a:t>to repair software faults</a:t>
            </a:r>
          </a:p>
          <a:p>
            <a:pPr lvl="1"/>
            <a:r>
              <a:rPr lang="en-GB" sz="2000" dirty="0"/>
              <a:t>Changing a system to correct deficiencies in the way meets its requirements.</a:t>
            </a:r>
          </a:p>
          <a:p>
            <a:r>
              <a:rPr lang="en-GB" sz="2400" dirty="0"/>
              <a:t>Maintenance to adapt software to a different operating environment</a:t>
            </a:r>
          </a:p>
          <a:p>
            <a:pPr lvl="1"/>
            <a:r>
              <a:rPr lang="en-GB" sz="2000" dirty="0"/>
              <a:t>Changing a system so that it operates in a different environment (computer, OS, etc.) from its initial implementation.</a:t>
            </a:r>
          </a:p>
          <a:p>
            <a:r>
              <a:rPr lang="en-GB" sz="2400" dirty="0"/>
              <a:t>Maintenance to add to or modify the system’s functionality</a:t>
            </a:r>
          </a:p>
          <a:p>
            <a:pPr lvl="1"/>
            <a:r>
              <a:rPr lang="en-GB" sz="2000" dirty="0"/>
              <a:t>Modifying the system to satisfy new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28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 effort distribution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9800" y="1752600"/>
            <a:ext cx="4419600" cy="421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2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Maintenance costs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752600"/>
            <a:ext cx="7772400" cy="4114800"/>
          </a:xfrm>
        </p:spPr>
        <p:txBody>
          <a:bodyPr/>
          <a:lstStyle/>
          <a:p>
            <a:r>
              <a:rPr lang="en-GB" sz="2800" dirty="0"/>
              <a:t>Usually greater than development costs (2* to </a:t>
            </a:r>
            <a:br>
              <a:rPr lang="en-GB" sz="2800" dirty="0"/>
            </a:br>
            <a:r>
              <a:rPr lang="en-GB" sz="2800" dirty="0"/>
              <a:t>100* depending on the application).</a:t>
            </a:r>
          </a:p>
          <a:p>
            <a:r>
              <a:rPr lang="en-GB" sz="2800" dirty="0"/>
              <a:t>Affected by both technical and non-technical </a:t>
            </a:r>
            <a:br>
              <a:rPr lang="en-GB" sz="2800" dirty="0"/>
            </a:br>
            <a:r>
              <a:rPr lang="en-GB" sz="2800" dirty="0"/>
              <a:t>factors.</a:t>
            </a:r>
          </a:p>
          <a:p>
            <a:r>
              <a:rPr lang="en-GB" sz="2800" dirty="0"/>
              <a:t>Increases as software is maintained. </a:t>
            </a:r>
            <a:br>
              <a:rPr lang="en-GB" sz="2800" dirty="0"/>
            </a:br>
            <a:r>
              <a:rPr lang="en-GB" sz="2800" dirty="0"/>
              <a:t>Maintenance corrupts the software structure so </a:t>
            </a:r>
            <a:r>
              <a:rPr lang="en-GB" sz="2800" dirty="0" smtClean="0"/>
              <a:t>makes </a:t>
            </a:r>
            <a:r>
              <a:rPr lang="en-GB" sz="2800" dirty="0"/>
              <a:t>further maintenance more difficult.</a:t>
            </a:r>
          </a:p>
          <a:p>
            <a:r>
              <a:rPr lang="en-GB" sz="2800" dirty="0"/>
              <a:t>Ageing software can have high support costs </a:t>
            </a:r>
            <a:br>
              <a:rPr lang="en-GB" sz="2800" dirty="0"/>
            </a:br>
            <a:r>
              <a:rPr lang="en-GB" sz="2800" dirty="0"/>
              <a:t>(e.g. old languages, compilers etc.).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214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Development and maintenance costs</a:t>
            </a:r>
            <a:r>
              <a:rPr lang="en-GB" sz="4000" dirty="0"/>
              <a:t> 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8498" y="2362200"/>
            <a:ext cx="7352588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7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Maintenance cost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6764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Team stability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Maintenance costs are reduced if the same staff are involved with them for some time.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Contractual responsibility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The developers of a system may have no contractual responsibility for maintenance so there is no incentive to design for future change.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Staff skills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Maintenance staff are often inexperienced and have limited domain knowledge.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Program age and structure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As programs age, their structure is degraded and they become harder to understand and change.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62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n halsduk">
  <a:themeElements>
    <a:clrScheme name="Min halsduk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Min halsdu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in halsduk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n halsduk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13587</TotalTime>
  <Words>992</Words>
  <Application>Microsoft Office PowerPoint</Application>
  <PresentationFormat>On-screen Show (4:3)</PresentationFormat>
  <Paragraphs>97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Min halsduk</vt:lpstr>
      <vt:lpstr>Software Evolution </vt:lpstr>
      <vt:lpstr>Topics covered</vt:lpstr>
      <vt:lpstr>Software change</vt:lpstr>
      <vt:lpstr>Importance of evolution</vt:lpstr>
      <vt:lpstr>A spiral model of development and evolution </vt:lpstr>
      <vt:lpstr>Evolution and servicing </vt:lpstr>
      <vt:lpstr>Evolution and servicing </vt:lpstr>
      <vt:lpstr>Evolution processes</vt:lpstr>
      <vt:lpstr>Change identification process </vt:lpstr>
      <vt:lpstr>The software evolution process </vt:lpstr>
      <vt:lpstr>The software evolution process </vt:lpstr>
      <vt:lpstr>Change implementation </vt:lpstr>
      <vt:lpstr>Change implementation</vt:lpstr>
      <vt:lpstr>Emergency change requests</vt:lpstr>
      <vt:lpstr>The emergency repair process</vt:lpstr>
      <vt:lpstr>Agile methods and evolution</vt:lpstr>
      <vt:lpstr>Handover problems</vt:lpstr>
      <vt:lpstr>Software maintenance</vt:lpstr>
      <vt:lpstr>Types of maintenance</vt:lpstr>
      <vt:lpstr>Maintenance effort distribution </vt:lpstr>
      <vt:lpstr>Maintenance costs</vt:lpstr>
      <vt:lpstr>Development and maintenance costs </vt:lpstr>
      <vt:lpstr>Maintenance cost factors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software requirements document</dc:title>
  <dc:creator>Ahmad Salman Khan</dc:creator>
  <cp:lastModifiedBy>Hafiza Maria Khan</cp:lastModifiedBy>
  <cp:revision>51</cp:revision>
  <dcterms:created xsi:type="dcterms:W3CDTF">2006-08-16T00:00:00Z</dcterms:created>
  <dcterms:modified xsi:type="dcterms:W3CDTF">2018-04-25T07:53:00Z</dcterms:modified>
</cp:coreProperties>
</file>
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56" r:id="rId2"/>
    <p:sldId id="258" r:id="rId3"/>
    <p:sldId id="259" r:id="rId4"/>
    <p:sldId id="257" r:id="rId5"/>
    <p:sldId id="260" r:id="rId6"/>
    <p:sldId id="261" r:id="rId7"/>
    <p:sldId id="262" r:id="rId8"/>
    <p:sldId id="263" r:id="rId9"/>
    <p:sldId id="266" r:id="rId10"/>
    <p:sldId id="267" r:id="rId11"/>
    <p:sldId id="268" r:id="rId12"/>
    <p:sldId id="269" r:id="rId13"/>
    <p:sldId id="270" r:id="rId14"/>
    <p:sldId id="272" r:id="rId15"/>
    <p:sldId id="273" r:id="rId16"/>
    <p:sldId id="274" r:id="rId17"/>
    <p:sldId id="275" r:id="rId18"/>
    <p:sldId id="282" r:id="rId19"/>
    <p:sldId id="283" r:id="rId20"/>
    <p:sldId id="285" r:id="rId21"/>
    <p:sldId id="278" r:id="rId22"/>
    <p:sldId id="279" r:id="rId23"/>
    <p:sldId id="311" r:id="rId24"/>
    <p:sldId id="280" r:id="rId25"/>
    <p:sldId id="286" r:id="rId26"/>
    <p:sldId id="287" r:id="rId27"/>
    <p:sldId id="309" r:id="rId28"/>
    <p:sldId id="310" r:id="rId29"/>
    <p:sldId id="289" r:id="rId30"/>
    <p:sldId id="292" r:id="rId31"/>
    <p:sldId id="293" r:id="rId3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255" autoAdjust="0"/>
  </p:normalViewPr>
  <p:slideViewPr>
    <p:cSldViewPr>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615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F1AC60DE-5933-4EAD-A96C-DC5B63AC9D67}" type="datetimeFigureOut">
              <a:rPr lang="en-US" smtClean="0"/>
              <a:pPr/>
              <a:t>17-Mar-22</a:t>
            </a:fld>
            <a:endParaRPr lang="en-US"/>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7F8F67FF-62C3-4B70-8F06-EE45B65B7C2F}" type="slidenum">
              <a:rPr lang="en-US" smtClean="0"/>
              <a:pPr/>
              <a:t>‹#›</a:t>
            </a:fld>
            <a:endParaRPr lang="en-US"/>
          </a:p>
        </p:txBody>
      </p:sp>
    </p:spTree>
    <p:extLst>
      <p:ext uri="{BB962C8B-B14F-4D97-AF65-F5344CB8AC3E}">
        <p14:creationId xmlns:p14="http://schemas.microsoft.com/office/powerpoint/2010/main" val="4043610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F8F67FF-62C3-4B70-8F06-EE45B65B7C2F}" type="slidenum">
              <a:rPr lang="en-US" smtClean="0"/>
              <a:pPr/>
              <a:t>4</a:t>
            </a:fld>
            <a:endParaRPr lang="en-US"/>
          </a:p>
        </p:txBody>
      </p:sp>
    </p:spTree>
    <p:extLst>
      <p:ext uri="{BB962C8B-B14F-4D97-AF65-F5344CB8AC3E}">
        <p14:creationId xmlns:p14="http://schemas.microsoft.com/office/powerpoint/2010/main" val="34292163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2438400"/>
            <a:ext cx="9147175" cy="1063625"/>
            <a:chOff x="-2" y="1536"/>
            <a:chExt cx="5762" cy="670"/>
          </a:xfrm>
        </p:grpSpPr>
        <p:grpSp>
          <p:nvGrpSpPr>
            <p:cNvPr id="5" name="Group 3"/>
            <p:cNvGrpSpPr>
              <a:grpSpLocks/>
            </p:cNvGrpSpPr>
            <p:nvPr/>
          </p:nvGrpSpPr>
          <p:grpSpPr bwMode="auto">
            <a:xfrm flipH="1">
              <a:off x="-2" y="1562"/>
              <a:ext cx="5762" cy="638"/>
              <a:chOff x="-2" y="1562"/>
              <a:chExt cx="5762" cy="638"/>
            </a:xfrm>
          </p:grpSpPr>
          <p:sp>
            <p:nvSpPr>
              <p:cNvPr id="8" name="Freeform 4"/>
              <p:cNvSpPr>
                <a:spLocks/>
              </p:cNvSpPr>
              <p:nvPr/>
            </p:nvSpPr>
            <p:spPr bwMode="ltGray">
              <a:xfrm rot="-5400000">
                <a:off x="2559" y="-993"/>
                <a:ext cx="624" cy="5745"/>
              </a:xfrm>
              <a:custGeom>
                <a:avLst/>
                <a:gdLst>
                  <a:gd name="T0" fmla="*/ 0 w 1000"/>
                  <a:gd name="T1" fmla="*/ 0 h 720"/>
                  <a:gd name="T2" fmla="*/ 0 w 1000"/>
                  <a:gd name="T3" fmla="*/ 5745 h 720"/>
                  <a:gd name="T4" fmla="*/ 624 w 1000"/>
                  <a:gd name="T5" fmla="*/ 5745 h 720"/>
                  <a:gd name="T6" fmla="*/ 624 w 1000"/>
                  <a:gd name="T7" fmla="*/ 0 h 720"/>
                  <a:gd name="T8" fmla="*/ 0 w 1000"/>
                  <a:gd name="T9" fmla="*/ 0 h 7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9" name="Freeform 5"/>
              <p:cNvSpPr>
                <a:spLocks/>
              </p:cNvSpPr>
              <p:nvPr/>
            </p:nvSpPr>
            <p:spPr bwMode="ltGray">
              <a:xfrm rot="-5400000">
                <a:off x="1323"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0" name="Freeform 6"/>
              <p:cNvSpPr>
                <a:spLocks/>
              </p:cNvSpPr>
              <p:nvPr/>
            </p:nvSpPr>
            <p:spPr bwMode="ltGray">
              <a:xfrm rot="-5400000">
                <a:off x="982"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1" name="Freeform 7"/>
              <p:cNvSpPr>
                <a:spLocks/>
              </p:cNvSpPr>
              <p:nvPr/>
            </p:nvSpPr>
            <p:spPr bwMode="ltGray">
              <a:xfrm rot="-5400000">
                <a:off x="-57" y="1752"/>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dirty="0">
                  <a:solidFill>
                    <a:srgbClr val="000000"/>
                  </a:solidFill>
                </a:endParaRPr>
              </a:p>
            </p:txBody>
          </p:sp>
          <p:sp>
            <p:nvSpPr>
              <p:cNvPr id="12" name="Freeform 8"/>
              <p:cNvSpPr>
                <a:spLocks/>
              </p:cNvSpPr>
              <p:nvPr/>
            </p:nvSpPr>
            <p:spPr bwMode="ltGray">
              <a:xfrm rot="-5400000">
                <a:off x="664" y="1733"/>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3" name="Freeform 9"/>
              <p:cNvSpPr>
                <a:spLocks/>
              </p:cNvSpPr>
              <p:nvPr/>
            </p:nvSpPr>
            <p:spPr bwMode="ltGray">
              <a:xfrm rot="-5400000">
                <a:off x="442" y="1699"/>
                <a:ext cx="624" cy="362"/>
              </a:xfrm>
              <a:custGeom>
                <a:avLst/>
                <a:gdLst>
                  <a:gd name="T0" fmla="*/ 0 w 624"/>
                  <a:gd name="T1" fmla="*/ 0 h 272"/>
                  <a:gd name="T2" fmla="*/ 0 w 624"/>
                  <a:gd name="T3" fmla="*/ 362 h 272"/>
                  <a:gd name="T4" fmla="*/ 240 w 624"/>
                  <a:gd name="T5" fmla="*/ 319 h 272"/>
                  <a:gd name="T6" fmla="*/ 624 w 624"/>
                  <a:gd name="T7" fmla="*/ 362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4" name="Freeform 10"/>
              <p:cNvSpPr>
                <a:spLocks/>
              </p:cNvSpPr>
              <p:nvPr/>
            </p:nvSpPr>
            <p:spPr bwMode="ltGray">
              <a:xfrm rot="-5400000">
                <a:off x="156" y="1726"/>
                <a:ext cx="632" cy="315"/>
              </a:xfrm>
              <a:custGeom>
                <a:avLst/>
                <a:gdLst>
                  <a:gd name="T0" fmla="*/ 8 w 632"/>
                  <a:gd name="T1" fmla="*/ 39 h 362"/>
                  <a:gd name="T2" fmla="*/ 8 w 632"/>
                  <a:gd name="T3" fmla="*/ 276 h 362"/>
                  <a:gd name="T4" fmla="*/ 248 w 632"/>
                  <a:gd name="T5" fmla="*/ 276 h 362"/>
                  <a:gd name="T6" fmla="*/ 632 w 632"/>
                  <a:gd name="T7" fmla="*/ 276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5" name="Freeform 11"/>
              <p:cNvSpPr>
                <a:spLocks/>
              </p:cNvSpPr>
              <p:nvPr/>
            </p:nvSpPr>
            <p:spPr bwMode="ltGray">
              <a:xfrm rot="-5400000">
                <a:off x="3211" y="1664"/>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6" name="Freeform 12"/>
              <p:cNvSpPr>
                <a:spLocks/>
              </p:cNvSpPr>
              <p:nvPr/>
            </p:nvSpPr>
            <p:spPr bwMode="ltGray">
              <a:xfrm rot="-5400000">
                <a:off x="2870" y="1664"/>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7" name="Freeform 13"/>
              <p:cNvSpPr>
                <a:spLocks/>
              </p:cNvSpPr>
              <p:nvPr/>
            </p:nvSpPr>
            <p:spPr bwMode="ltGray">
              <a:xfrm rot="-5400000">
                <a:off x="1830"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dirty="0">
                  <a:solidFill>
                    <a:srgbClr val="000000"/>
                  </a:solidFill>
                </a:endParaRPr>
              </a:p>
            </p:txBody>
          </p:sp>
          <p:sp>
            <p:nvSpPr>
              <p:cNvPr id="18" name="Freeform 14"/>
              <p:cNvSpPr>
                <a:spLocks/>
              </p:cNvSpPr>
              <p:nvPr/>
            </p:nvSpPr>
            <p:spPr bwMode="ltGray">
              <a:xfrm rot="-5400000">
                <a:off x="2551" y="1728"/>
                <a:ext cx="624" cy="294"/>
              </a:xfrm>
              <a:custGeom>
                <a:avLst/>
                <a:gdLst>
                  <a:gd name="T0" fmla="*/ 0 w 624"/>
                  <a:gd name="T1" fmla="*/ 0 h 317"/>
                  <a:gd name="T2" fmla="*/ 0 w 624"/>
                  <a:gd name="T3" fmla="*/ 252 h 317"/>
                  <a:gd name="T4" fmla="*/ 624 w 624"/>
                  <a:gd name="T5" fmla="*/ 25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19" name="Freeform 15"/>
              <p:cNvSpPr>
                <a:spLocks/>
              </p:cNvSpPr>
              <p:nvPr/>
            </p:nvSpPr>
            <p:spPr bwMode="ltGray">
              <a:xfrm rot="-5400000">
                <a:off x="2330"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0" name="Freeform 16"/>
              <p:cNvSpPr>
                <a:spLocks/>
              </p:cNvSpPr>
              <p:nvPr/>
            </p:nvSpPr>
            <p:spPr bwMode="ltGray">
              <a:xfrm rot="-5400000">
                <a:off x="2043"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1" name="Freeform 17"/>
              <p:cNvSpPr>
                <a:spLocks/>
              </p:cNvSpPr>
              <p:nvPr/>
            </p:nvSpPr>
            <p:spPr bwMode="ltGray">
              <a:xfrm rot="-5400000">
                <a:off x="4077" y="1669"/>
                <a:ext cx="624" cy="421"/>
              </a:xfrm>
              <a:custGeom>
                <a:avLst/>
                <a:gdLst>
                  <a:gd name="T0" fmla="*/ 0 w 624"/>
                  <a:gd name="T1" fmla="*/ 0 h 317"/>
                  <a:gd name="T2" fmla="*/ 0 w 624"/>
                  <a:gd name="T3" fmla="*/ 361 h 317"/>
                  <a:gd name="T4" fmla="*/ 624 w 624"/>
                  <a:gd name="T5" fmla="*/ 361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2" name="Freeform 18"/>
              <p:cNvSpPr>
                <a:spLocks/>
              </p:cNvSpPr>
              <p:nvPr/>
            </p:nvSpPr>
            <p:spPr bwMode="ltGray">
              <a:xfrm rot="-5400000">
                <a:off x="3736" y="1669"/>
                <a:ext cx="624" cy="422"/>
              </a:xfrm>
              <a:custGeom>
                <a:avLst/>
                <a:gdLst>
                  <a:gd name="T0" fmla="*/ 0 w 624"/>
                  <a:gd name="T1" fmla="*/ 0 h 317"/>
                  <a:gd name="T2" fmla="*/ 0 w 624"/>
                  <a:gd name="T3" fmla="*/ 362 h 317"/>
                  <a:gd name="T4" fmla="*/ 624 w 624"/>
                  <a:gd name="T5" fmla="*/ 362 h 317"/>
                  <a:gd name="T6" fmla="*/ 624 w 624"/>
                  <a:gd name="T7" fmla="*/ 0 h 317"/>
                  <a:gd name="T8" fmla="*/ 0 w 624"/>
                  <a:gd name="T9" fmla="*/ 0 h 3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3" name="Freeform 19"/>
              <p:cNvSpPr>
                <a:spLocks/>
              </p:cNvSpPr>
              <p:nvPr/>
            </p:nvSpPr>
            <p:spPr bwMode="ltGray">
              <a:xfrm rot="-5400000">
                <a:off x="4584" y="1747"/>
                <a:ext cx="624" cy="255"/>
              </a:xfrm>
              <a:custGeom>
                <a:avLst/>
                <a:gdLst>
                  <a:gd name="T0" fmla="*/ 0 w 624"/>
                  <a:gd name="T1" fmla="*/ 37 h 370"/>
                  <a:gd name="T2" fmla="*/ 0 w 624"/>
                  <a:gd name="T3" fmla="*/ 224 h 370"/>
                  <a:gd name="T4" fmla="*/ 624 w 624"/>
                  <a:gd name="T5" fmla="*/ 224 h 370"/>
                  <a:gd name="T6" fmla="*/ 624 w 624"/>
                  <a:gd name="T7" fmla="*/ 37 h 370"/>
                  <a:gd name="T8" fmla="*/ 384 w 624"/>
                  <a:gd name="T9" fmla="*/ 6 h 370"/>
                  <a:gd name="T10" fmla="*/ 0 w 624"/>
                  <a:gd name="T11" fmla="*/ 37 h 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dirty="0">
                  <a:solidFill>
                    <a:srgbClr val="000000"/>
                  </a:solidFill>
                </a:endParaRPr>
              </a:p>
            </p:txBody>
          </p:sp>
          <p:sp>
            <p:nvSpPr>
              <p:cNvPr id="24"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5" name="Freeform 21"/>
              <p:cNvSpPr>
                <a:spLocks/>
              </p:cNvSpPr>
              <p:nvPr/>
            </p:nvSpPr>
            <p:spPr bwMode="ltGray">
              <a:xfrm rot="-5400000">
                <a:off x="5084" y="1694"/>
                <a:ext cx="624" cy="361"/>
              </a:xfrm>
              <a:custGeom>
                <a:avLst/>
                <a:gdLst>
                  <a:gd name="T0" fmla="*/ 0 w 624"/>
                  <a:gd name="T1" fmla="*/ 0 h 272"/>
                  <a:gd name="T2" fmla="*/ 0 w 624"/>
                  <a:gd name="T3" fmla="*/ 361 h 272"/>
                  <a:gd name="T4" fmla="*/ 240 w 624"/>
                  <a:gd name="T5" fmla="*/ 319 h 272"/>
                  <a:gd name="T6" fmla="*/ 624 w 624"/>
                  <a:gd name="T7" fmla="*/ 361 h 272"/>
                  <a:gd name="T8" fmla="*/ 624 w 624"/>
                  <a:gd name="T9" fmla="*/ 0 h 272"/>
                  <a:gd name="T10" fmla="*/ 0 w 624"/>
                  <a:gd name="T11" fmla="*/ 0 h 2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sp>
            <p:nvSpPr>
              <p:cNvPr id="26" name="Freeform 22"/>
              <p:cNvSpPr>
                <a:spLocks/>
              </p:cNvSpPr>
              <p:nvPr/>
            </p:nvSpPr>
            <p:spPr bwMode="ltGray">
              <a:xfrm rot="-5400000">
                <a:off x="4797" y="1721"/>
                <a:ext cx="632" cy="316"/>
              </a:xfrm>
              <a:custGeom>
                <a:avLst/>
                <a:gdLst>
                  <a:gd name="T0" fmla="*/ 8 w 632"/>
                  <a:gd name="T1" fmla="*/ 39 h 362"/>
                  <a:gd name="T2" fmla="*/ 8 w 632"/>
                  <a:gd name="T3" fmla="*/ 277 h 362"/>
                  <a:gd name="T4" fmla="*/ 248 w 632"/>
                  <a:gd name="T5" fmla="*/ 277 h 362"/>
                  <a:gd name="T6" fmla="*/ 632 w 632"/>
                  <a:gd name="T7" fmla="*/ 277 h 362"/>
                  <a:gd name="T8" fmla="*/ 632 w 632"/>
                  <a:gd name="T9" fmla="*/ 39 h 362"/>
                  <a:gd name="T10" fmla="*/ 104 w 632"/>
                  <a:gd name="T11" fmla="*/ 39 h 362"/>
                  <a:gd name="T12" fmla="*/ 8 w 632"/>
                  <a:gd name="T13" fmla="*/ 39 h 3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dirty="0">
                  <a:solidFill>
                    <a:srgbClr val="000000"/>
                  </a:solidFill>
                </a:endParaRPr>
              </a:p>
            </p:txBody>
          </p:sp>
        </p:grpSp>
        <p:sp>
          <p:nvSpPr>
            <p:cNvPr id="6" name="Freeform 23"/>
            <p:cNvSpPr>
              <a:spLocks/>
            </p:cNvSpPr>
            <p:nvPr/>
          </p:nvSpPr>
          <p:spPr bwMode="ltGray">
            <a:xfrm flipH="1">
              <a:off x="-2" y="1536"/>
              <a:ext cx="5762" cy="412"/>
            </a:xfrm>
            <a:custGeom>
              <a:avLst/>
              <a:gdLst>
                <a:gd name="T0" fmla="*/ 0 w 5762"/>
                <a:gd name="T1" fmla="*/ 210 h 385"/>
                <a:gd name="T2" fmla="*/ 5762 w 5762"/>
                <a:gd name="T3" fmla="*/ 201 h 385"/>
                <a:gd name="T4" fmla="*/ 5762 w 5762"/>
                <a:gd name="T5" fmla="*/ 4 h 385"/>
                <a:gd name="T6" fmla="*/ 0 w 5762"/>
                <a:gd name="T7" fmla="*/ 0 h 385"/>
                <a:gd name="T8" fmla="*/ 0 w 5762"/>
                <a:gd name="T9" fmla="*/ 210 h 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solidFill>
                  <a:srgbClr val="000000"/>
                </a:solidFill>
              </a:endParaRPr>
            </a:p>
          </p:txBody>
        </p:sp>
        <p:sp>
          <p:nvSpPr>
            <p:cNvPr id="7"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solidFill>
                  <a:srgbClr val="000000"/>
                </a:solidFill>
              </a:endParaRPr>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27" name="Rectangle 27"/>
          <p:cNvSpPr>
            <a:spLocks noGrp="1" noChangeArrowheads="1"/>
          </p:cNvSpPr>
          <p:nvPr>
            <p:ph type="dt" sz="half" idx="10"/>
          </p:nvPr>
        </p:nvSpPr>
        <p:spPr>
          <a:xfrm>
            <a:off x="1166813" y="6248400"/>
            <a:ext cx="1905000" cy="457200"/>
          </a:xfrm>
        </p:spPr>
        <p:txBody>
          <a:bodyPr/>
          <a:lstStyle>
            <a:lvl1pPr>
              <a:defRPr>
                <a:solidFill>
                  <a:srgbClr val="000000"/>
                </a:solidFill>
              </a:defRPr>
            </a:lvl1pPr>
          </a:lstStyle>
          <a:p>
            <a:pPr>
              <a:defRPr/>
            </a:pPr>
            <a:endParaRPr lang="en-US" dirty="0"/>
          </a:p>
        </p:txBody>
      </p:sp>
      <p:sp>
        <p:nvSpPr>
          <p:cNvPr id="28" name="Rectangle 28"/>
          <p:cNvSpPr>
            <a:spLocks noGrp="1" noChangeArrowheads="1"/>
          </p:cNvSpPr>
          <p:nvPr>
            <p:ph type="ftr" sz="quarter" idx="11"/>
          </p:nvPr>
        </p:nvSpPr>
        <p:spPr/>
        <p:txBody>
          <a:bodyPr/>
          <a:lstStyle>
            <a:lvl1pPr>
              <a:defRPr>
                <a:solidFill>
                  <a:srgbClr val="000000"/>
                </a:solidFill>
              </a:defRPr>
            </a:lvl1pPr>
          </a:lstStyle>
          <a:p>
            <a:pPr>
              <a:defRPr/>
            </a:pPr>
            <a:endParaRPr lang="en-US" dirty="0"/>
          </a:p>
        </p:txBody>
      </p:sp>
      <p:sp>
        <p:nvSpPr>
          <p:cNvPr id="29" name="Rectangle 29"/>
          <p:cNvSpPr>
            <a:spLocks noGrp="1" noChangeArrowheads="1"/>
          </p:cNvSpPr>
          <p:nvPr>
            <p:ph type="sldNum" sz="quarter" idx="12"/>
          </p:nvPr>
        </p:nvSpPr>
        <p:spPr/>
        <p:txBody>
          <a:bodyPr/>
          <a:lstStyle>
            <a:lvl1pPr>
              <a:defRPr>
                <a:solidFill>
                  <a:srgbClr val="000000"/>
                </a:solidFill>
              </a:defRPr>
            </a:lvl1pPr>
          </a:lstStyle>
          <a:p>
            <a:pPr>
              <a:defRPr/>
            </a:pPr>
            <a:fld id="{8B2BD1F4-E424-42A3-B945-217E93FF70A4}" type="slidenum">
              <a:rPr lang="en-US"/>
              <a:pPr>
                <a:defRPr/>
              </a:pPr>
              <a:t>‹#›</a:t>
            </a:fld>
            <a:endParaRPr lang="en-US" dirty="0"/>
          </a:p>
        </p:txBody>
      </p:sp>
    </p:spTree>
    <p:extLst>
      <p:ext uri="{BB962C8B-B14F-4D97-AF65-F5344CB8AC3E}">
        <p14:creationId xmlns:p14="http://schemas.microsoft.com/office/powerpoint/2010/main" val="3708005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dirty="0"/>
          </a:p>
        </p:txBody>
      </p:sp>
      <p:sp>
        <p:nvSpPr>
          <p:cNvPr id="5"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29"/>
          <p:cNvSpPr>
            <a:spLocks noGrp="1" noChangeArrowheads="1"/>
          </p:cNvSpPr>
          <p:nvPr>
            <p:ph type="sldNum" sz="quarter" idx="12"/>
          </p:nvPr>
        </p:nvSpPr>
        <p:spPr>
          <a:ln/>
        </p:spPr>
        <p:txBody>
          <a:bodyPr/>
          <a:lstStyle>
            <a:lvl1pPr>
              <a:defRPr/>
            </a:lvl1pPr>
          </a:lstStyle>
          <a:p>
            <a:pPr>
              <a:defRPr/>
            </a:pPr>
            <a:fld id="{1D75F301-EDCB-4BD9-9698-56ABF50BECEE}" type="slidenum">
              <a:rPr lang="en-US"/>
              <a:pPr>
                <a:defRPr/>
              </a:pPr>
              <a:t>‹#›</a:t>
            </a:fld>
            <a:endParaRPr lang="en-US" dirty="0"/>
          </a:p>
        </p:txBody>
      </p:sp>
    </p:spTree>
    <p:extLst>
      <p:ext uri="{BB962C8B-B14F-4D97-AF65-F5344CB8AC3E}">
        <p14:creationId xmlns:p14="http://schemas.microsoft.com/office/powerpoint/2010/main" val="3540031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7"/>
          <p:cNvSpPr>
            <a:spLocks noGrp="1" noChangeArrowheads="1"/>
          </p:cNvSpPr>
          <p:nvPr>
            <p:ph type="dt" sz="half" idx="10"/>
          </p:nvPr>
        </p:nvSpPr>
        <p:spPr>
          <a:ln/>
        </p:spPr>
        <p:txBody>
          <a:bodyPr/>
          <a:lstStyle>
            <a:lvl1pPr>
              <a:defRPr/>
            </a:lvl1pPr>
          </a:lstStyle>
          <a:p>
            <a:pPr>
              <a:defRPr/>
            </a:pPr>
            <a:endParaRPr lang="en-US" dirty="0"/>
          </a:p>
        </p:txBody>
      </p:sp>
      <p:sp>
        <p:nvSpPr>
          <p:cNvPr id="5"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29"/>
          <p:cNvSpPr>
            <a:spLocks noGrp="1" noChangeArrowheads="1"/>
          </p:cNvSpPr>
          <p:nvPr>
            <p:ph type="sldNum" sz="quarter" idx="12"/>
          </p:nvPr>
        </p:nvSpPr>
        <p:spPr>
          <a:ln/>
        </p:spPr>
        <p:txBody>
          <a:bodyPr/>
          <a:lstStyle>
            <a:lvl1pPr>
              <a:defRPr/>
            </a:lvl1pPr>
          </a:lstStyle>
          <a:p>
            <a:pPr>
              <a:defRPr/>
            </a:pPr>
            <a:fld id="{6667F35D-7228-40A3-996D-E4DF2A678433}" type="slidenum">
              <a:rPr lang="en-US"/>
              <a:pPr>
                <a:defRPr/>
              </a:pPr>
              <a:t>‹#›</a:t>
            </a:fld>
            <a:endParaRPr lang="en-US" dirty="0"/>
          </a:p>
        </p:txBody>
      </p:sp>
    </p:spTree>
    <p:extLst>
      <p:ext uri="{BB962C8B-B14F-4D97-AF65-F5344CB8AC3E}">
        <p14:creationId xmlns:p14="http://schemas.microsoft.com/office/powerpoint/2010/main" val="2300986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dirty="0"/>
          </a:p>
        </p:txBody>
      </p:sp>
      <p:sp>
        <p:nvSpPr>
          <p:cNvPr id="6"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29"/>
          <p:cNvSpPr>
            <a:spLocks noGrp="1" noChangeArrowheads="1"/>
          </p:cNvSpPr>
          <p:nvPr>
            <p:ph type="sldNum" sz="quarter" idx="12"/>
          </p:nvPr>
        </p:nvSpPr>
        <p:spPr>
          <a:ln/>
        </p:spPr>
        <p:txBody>
          <a:bodyPr/>
          <a:lstStyle>
            <a:lvl1pPr>
              <a:defRPr/>
            </a:lvl1pPr>
          </a:lstStyle>
          <a:p>
            <a:pPr>
              <a:defRPr/>
            </a:pPr>
            <a:fld id="{650C38D6-2D0B-4050-BA63-50E50CEBCB03}" type="slidenum">
              <a:rPr lang="en-US"/>
              <a:pPr>
                <a:defRPr/>
              </a:pPr>
              <a:t>‹#›</a:t>
            </a:fld>
            <a:endParaRPr lang="en-US" dirty="0"/>
          </a:p>
        </p:txBody>
      </p:sp>
    </p:spTree>
    <p:extLst>
      <p:ext uri="{BB962C8B-B14F-4D97-AF65-F5344CB8AC3E}">
        <p14:creationId xmlns:p14="http://schemas.microsoft.com/office/powerpoint/2010/main" val="2099198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dirty="0"/>
          </a:p>
        </p:txBody>
      </p:sp>
      <p:sp>
        <p:nvSpPr>
          <p:cNvPr id="8"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29"/>
          <p:cNvSpPr>
            <a:spLocks noGrp="1" noChangeArrowheads="1"/>
          </p:cNvSpPr>
          <p:nvPr>
            <p:ph type="sldNum" sz="quarter" idx="12"/>
          </p:nvPr>
        </p:nvSpPr>
        <p:spPr>
          <a:ln/>
        </p:spPr>
        <p:txBody>
          <a:bodyPr/>
          <a:lstStyle>
            <a:lvl1pPr>
              <a:defRPr/>
            </a:lvl1pPr>
          </a:lstStyle>
          <a:p>
            <a:pPr>
              <a:defRPr/>
            </a:pPr>
            <a:fld id="{1A6C0ED4-5B28-43CB-9F18-44C0F6FCA9E2}" type="slidenum">
              <a:rPr lang="en-US"/>
              <a:pPr>
                <a:defRPr/>
              </a:pPr>
              <a:t>‹#›</a:t>
            </a:fld>
            <a:endParaRPr lang="en-US" dirty="0"/>
          </a:p>
        </p:txBody>
      </p:sp>
    </p:spTree>
    <p:extLst>
      <p:ext uri="{BB962C8B-B14F-4D97-AF65-F5344CB8AC3E}">
        <p14:creationId xmlns:p14="http://schemas.microsoft.com/office/powerpoint/2010/main" val="3063727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7"/>
          <p:cNvSpPr>
            <a:spLocks noGrp="1" noChangeArrowheads="1"/>
          </p:cNvSpPr>
          <p:nvPr>
            <p:ph type="dt" sz="half" idx="10"/>
          </p:nvPr>
        </p:nvSpPr>
        <p:spPr>
          <a:ln/>
        </p:spPr>
        <p:txBody>
          <a:bodyPr/>
          <a:lstStyle>
            <a:lvl1pPr>
              <a:defRPr/>
            </a:lvl1pPr>
          </a:lstStyle>
          <a:p>
            <a:pPr>
              <a:defRPr/>
            </a:pPr>
            <a:endParaRPr lang="en-US" dirty="0"/>
          </a:p>
        </p:txBody>
      </p:sp>
      <p:sp>
        <p:nvSpPr>
          <p:cNvPr id="4"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29"/>
          <p:cNvSpPr>
            <a:spLocks noGrp="1" noChangeArrowheads="1"/>
          </p:cNvSpPr>
          <p:nvPr>
            <p:ph type="sldNum" sz="quarter" idx="12"/>
          </p:nvPr>
        </p:nvSpPr>
        <p:spPr>
          <a:ln/>
        </p:spPr>
        <p:txBody>
          <a:bodyPr/>
          <a:lstStyle>
            <a:lvl1pPr>
              <a:defRPr/>
            </a:lvl1pPr>
          </a:lstStyle>
          <a:p>
            <a:pPr>
              <a:defRPr/>
            </a:pPr>
            <a:fld id="{0E3BE630-1277-4D2E-B89C-10C3ED41CA0A}" type="slidenum">
              <a:rPr lang="en-US"/>
              <a:pPr>
                <a:defRPr/>
              </a:pPr>
              <a:t>‹#›</a:t>
            </a:fld>
            <a:endParaRPr lang="en-US" dirty="0"/>
          </a:p>
        </p:txBody>
      </p:sp>
    </p:spTree>
    <p:extLst>
      <p:ext uri="{BB962C8B-B14F-4D97-AF65-F5344CB8AC3E}">
        <p14:creationId xmlns:p14="http://schemas.microsoft.com/office/powerpoint/2010/main" val="1999066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7"/>
          <p:cNvSpPr>
            <a:spLocks noGrp="1" noChangeArrowheads="1"/>
          </p:cNvSpPr>
          <p:nvPr>
            <p:ph type="dt" sz="half" idx="10"/>
          </p:nvPr>
        </p:nvSpPr>
        <p:spPr>
          <a:ln/>
        </p:spPr>
        <p:txBody>
          <a:bodyPr/>
          <a:lstStyle>
            <a:lvl1pPr>
              <a:defRPr/>
            </a:lvl1pPr>
          </a:lstStyle>
          <a:p>
            <a:pPr>
              <a:defRPr/>
            </a:pPr>
            <a:endParaRPr lang="en-US" dirty="0"/>
          </a:p>
        </p:txBody>
      </p:sp>
      <p:sp>
        <p:nvSpPr>
          <p:cNvPr id="3"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29"/>
          <p:cNvSpPr>
            <a:spLocks noGrp="1" noChangeArrowheads="1"/>
          </p:cNvSpPr>
          <p:nvPr>
            <p:ph type="sldNum" sz="quarter" idx="12"/>
          </p:nvPr>
        </p:nvSpPr>
        <p:spPr>
          <a:ln/>
        </p:spPr>
        <p:txBody>
          <a:bodyPr/>
          <a:lstStyle>
            <a:lvl1pPr>
              <a:defRPr/>
            </a:lvl1pPr>
          </a:lstStyle>
          <a:p>
            <a:pPr>
              <a:defRPr/>
            </a:pPr>
            <a:fld id="{989EB8E3-8BC4-4D72-A1AA-0860C55B0721}" type="slidenum">
              <a:rPr lang="en-US"/>
              <a:pPr>
                <a:defRPr/>
              </a:pPr>
              <a:t>‹#›</a:t>
            </a:fld>
            <a:endParaRPr lang="en-US" dirty="0"/>
          </a:p>
        </p:txBody>
      </p:sp>
    </p:spTree>
    <p:extLst>
      <p:ext uri="{BB962C8B-B14F-4D97-AF65-F5344CB8AC3E}">
        <p14:creationId xmlns:p14="http://schemas.microsoft.com/office/powerpoint/2010/main" val="4243574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dirty="0"/>
          </a:p>
        </p:txBody>
      </p:sp>
      <p:sp>
        <p:nvSpPr>
          <p:cNvPr id="6"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29"/>
          <p:cNvSpPr>
            <a:spLocks noGrp="1" noChangeArrowheads="1"/>
          </p:cNvSpPr>
          <p:nvPr>
            <p:ph type="sldNum" sz="quarter" idx="12"/>
          </p:nvPr>
        </p:nvSpPr>
        <p:spPr>
          <a:ln/>
        </p:spPr>
        <p:txBody>
          <a:bodyPr/>
          <a:lstStyle>
            <a:lvl1pPr>
              <a:defRPr/>
            </a:lvl1pPr>
          </a:lstStyle>
          <a:p>
            <a:pPr>
              <a:defRPr/>
            </a:pPr>
            <a:fld id="{CA74F7DB-1450-4CBA-8C39-1E1A90922167}" type="slidenum">
              <a:rPr lang="en-US"/>
              <a:pPr>
                <a:defRPr/>
              </a:pPr>
              <a:t>‹#›</a:t>
            </a:fld>
            <a:endParaRPr lang="en-US" dirty="0"/>
          </a:p>
        </p:txBody>
      </p:sp>
    </p:spTree>
    <p:extLst>
      <p:ext uri="{BB962C8B-B14F-4D97-AF65-F5344CB8AC3E}">
        <p14:creationId xmlns:p14="http://schemas.microsoft.com/office/powerpoint/2010/main" val="1830030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7"/>
          <p:cNvSpPr>
            <a:spLocks noGrp="1" noChangeArrowheads="1"/>
          </p:cNvSpPr>
          <p:nvPr>
            <p:ph type="dt" sz="half" idx="10"/>
          </p:nvPr>
        </p:nvSpPr>
        <p:spPr>
          <a:ln/>
        </p:spPr>
        <p:txBody>
          <a:bodyPr/>
          <a:lstStyle>
            <a:lvl1pPr>
              <a:defRPr/>
            </a:lvl1pPr>
          </a:lstStyle>
          <a:p>
            <a:pPr>
              <a:defRPr/>
            </a:pPr>
            <a:endParaRPr lang="en-US" dirty="0"/>
          </a:p>
        </p:txBody>
      </p:sp>
      <p:sp>
        <p:nvSpPr>
          <p:cNvPr id="6"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29"/>
          <p:cNvSpPr>
            <a:spLocks noGrp="1" noChangeArrowheads="1"/>
          </p:cNvSpPr>
          <p:nvPr>
            <p:ph type="sldNum" sz="quarter" idx="12"/>
          </p:nvPr>
        </p:nvSpPr>
        <p:spPr>
          <a:ln/>
        </p:spPr>
        <p:txBody>
          <a:bodyPr/>
          <a:lstStyle>
            <a:lvl1pPr>
              <a:defRPr/>
            </a:lvl1pPr>
          </a:lstStyle>
          <a:p>
            <a:pPr>
              <a:defRPr/>
            </a:pPr>
            <a:fld id="{3D818030-9537-447F-8F66-C9A84BC016B9}" type="slidenum">
              <a:rPr lang="en-US"/>
              <a:pPr>
                <a:defRPr/>
              </a:pPr>
              <a:t>‹#›</a:t>
            </a:fld>
            <a:endParaRPr lang="en-US" dirty="0"/>
          </a:p>
        </p:txBody>
      </p:sp>
    </p:spTree>
    <p:extLst>
      <p:ext uri="{BB962C8B-B14F-4D97-AF65-F5344CB8AC3E}">
        <p14:creationId xmlns:p14="http://schemas.microsoft.com/office/powerpoint/2010/main" val="2598483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dirty="0"/>
          </a:p>
        </p:txBody>
      </p:sp>
      <p:sp>
        <p:nvSpPr>
          <p:cNvPr id="5"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29"/>
          <p:cNvSpPr>
            <a:spLocks noGrp="1" noChangeArrowheads="1"/>
          </p:cNvSpPr>
          <p:nvPr>
            <p:ph type="sldNum" sz="quarter" idx="12"/>
          </p:nvPr>
        </p:nvSpPr>
        <p:spPr>
          <a:ln/>
        </p:spPr>
        <p:txBody>
          <a:bodyPr/>
          <a:lstStyle>
            <a:lvl1pPr>
              <a:defRPr/>
            </a:lvl1pPr>
          </a:lstStyle>
          <a:p>
            <a:pPr>
              <a:defRPr/>
            </a:pPr>
            <a:fld id="{C7455E96-7F07-4323-AD8A-FB6AF12C0375}" type="slidenum">
              <a:rPr lang="en-US"/>
              <a:pPr>
                <a:defRPr/>
              </a:pPr>
              <a:t>‹#›</a:t>
            </a:fld>
            <a:endParaRPr lang="en-US" dirty="0"/>
          </a:p>
        </p:txBody>
      </p:sp>
    </p:spTree>
    <p:extLst>
      <p:ext uri="{BB962C8B-B14F-4D97-AF65-F5344CB8AC3E}">
        <p14:creationId xmlns:p14="http://schemas.microsoft.com/office/powerpoint/2010/main" val="3354899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7"/>
          <p:cNvSpPr>
            <a:spLocks noGrp="1" noChangeArrowheads="1"/>
          </p:cNvSpPr>
          <p:nvPr>
            <p:ph type="dt" sz="half" idx="10"/>
          </p:nvPr>
        </p:nvSpPr>
        <p:spPr>
          <a:ln/>
        </p:spPr>
        <p:txBody>
          <a:bodyPr/>
          <a:lstStyle>
            <a:lvl1pPr>
              <a:defRPr/>
            </a:lvl1pPr>
          </a:lstStyle>
          <a:p>
            <a:pPr>
              <a:defRPr/>
            </a:pPr>
            <a:endParaRPr lang="en-US" dirty="0"/>
          </a:p>
        </p:txBody>
      </p:sp>
      <p:sp>
        <p:nvSpPr>
          <p:cNvPr id="5"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29"/>
          <p:cNvSpPr>
            <a:spLocks noGrp="1" noChangeArrowheads="1"/>
          </p:cNvSpPr>
          <p:nvPr>
            <p:ph type="sldNum" sz="quarter" idx="12"/>
          </p:nvPr>
        </p:nvSpPr>
        <p:spPr>
          <a:ln/>
        </p:spPr>
        <p:txBody>
          <a:bodyPr/>
          <a:lstStyle>
            <a:lvl1pPr>
              <a:defRPr/>
            </a:lvl1pPr>
          </a:lstStyle>
          <a:p>
            <a:pPr>
              <a:defRPr/>
            </a:pPr>
            <a:fld id="{9B21A8B6-01C7-4E3F-BA9C-CA2ECDFAEA74}" type="slidenum">
              <a:rPr lang="en-US"/>
              <a:pPr>
                <a:defRPr/>
              </a:pPr>
              <a:t>‹#›</a:t>
            </a:fld>
            <a:endParaRPr lang="en-US" dirty="0"/>
          </a:p>
        </p:txBody>
      </p:sp>
    </p:spTree>
    <p:extLst>
      <p:ext uri="{BB962C8B-B14F-4D97-AF65-F5344CB8AC3E}">
        <p14:creationId xmlns:p14="http://schemas.microsoft.com/office/powerpoint/2010/main" val="3289687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7"/>
          <p:cNvSpPr>
            <a:spLocks noGrp="1" noChangeArrowheads="1"/>
          </p:cNvSpPr>
          <p:nvPr>
            <p:ph type="dt" sz="half" idx="10"/>
          </p:nvPr>
        </p:nvSpPr>
        <p:spPr>
          <a:ln/>
        </p:spPr>
        <p:txBody>
          <a:bodyPr/>
          <a:lstStyle>
            <a:lvl1pPr>
              <a:defRPr/>
            </a:lvl1pPr>
          </a:lstStyle>
          <a:p>
            <a:pPr>
              <a:defRPr/>
            </a:pPr>
            <a:endParaRPr lang="en-US" dirty="0"/>
          </a:p>
        </p:txBody>
      </p:sp>
      <p:sp>
        <p:nvSpPr>
          <p:cNvPr id="6"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29"/>
          <p:cNvSpPr>
            <a:spLocks noGrp="1" noChangeArrowheads="1"/>
          </p:cNvSpPr>
          <p:nvPr>
            <p:ph type="sldNum" sz="quarter" idx="12"/>
          </p:nvPr>
        </p:nvSpPr>
        <p:spPr>
          <a:ln/>
        </p:spPr>
        <p:txBody>
          <a:bodyPr/>
          <a:lstStyle>
            <a:lvl1pPr>
              <a:defRPr/>
            </a:lvl1pPr>
          </a:lstStyle>
          <a:p>
            <a:pPr>
              <a:defRPr/>
            </a:pPr>
            <a:fld id="{D6C46936-761E-4CD3-9821-5E4E0EFE33DD}" type="slidenum">
              <a:rPr lang="en-US"/>
              <a:pPr>
                <a:defRPr/>
              </a:pPr>
              <a:t>‹#›</a:t>
            </a:fld>
            <a:endParaRPr lang="en-US" dirty="0"/>
          </a:p>
        </p:txBody>
      </p:sp>
    </p:spTree>
    <p:extLst>
      <p:ext uri="{BB962C8B-B14F-4D97-AF65-F5344CB8AC3E}">
        <p14:creationId xmlns:p14="http://schemas.microsoft.com/office/powerpoint/2010/main" val="4653324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7"/>
          <p:cNvSpPr>
            <a:spLocks noGrp="1" noChangeArrowheads="1"/>
          </p:cNvSpPr>
          <p:nvPr>
            <p:ph type="dt" sz="half" idx="10"/>
          </p:nvPr>
        </p:nvSpPr>
        <p:spPr>
          <a:ln/>
        </p:spPr>
        <p:txBody>
          <a:bodyPr/>
          <a:lstStyle>
            <a:lvl1pPr>
              <a:defRPr/>
            </a:lvl1pPr>
          </a:lstStyle>
          <a:p>
            <a:pPr>
              <a:defRPr/>
            </a:pPr>
            <a:endParaRPr lang="en-US" dirty="0"/>
          </a:p>
        </p:txBody>
      </p:sp>
      <p:sp>
        <p:nvSpPr>
          <p:cNvPr id="8" name="Rectangle 28"/>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29"/>
          <p:cNvSpPr>
            <a:spLocks noGrp="1" noChangeArrowheads="1"/>
          </p:cNvSpPr>
          <p:nvPr>
            <p:ph type="sldNum" sz="quarter" idx="12"/>
          </p:nvPr>
        </p:nvSpPr>
        <p:spPr>
          <a:ln/>
        </p:spPr>
        <p:txBody>
          <a:bodyPr/>
          <a:lstStyle>
            <a:lvl1pPr>
              <a:defRPr/>
            </a:lvl1pPr>
          </a:lstStyle>
          <a:p>
            <a:pPr>
              <a:defRPr/>
            </a:pPr>
            <a:fld id="{B383EA38-ADEA-4E50-A82C-56C648E5C8E1}" type="slidenum">
              <a:rPr lang="en-US"/>
              <a:pPr>
                <a:defRPr/>
              </a:pPr>
              <a:t>‹#›</a:t>
            </a:fld>
            <a:endParaRPr lang="en-US" dirty="0"/>
          </a:p>
        </p:txBody>
      </p:sp>
    </p:spTree>
    <p:extLst>
      <p:ext uri="{BB962C8B-B14F-4D97-AF65-F5344CB8AC3E}">
        <p14:creationId xmlns:p14="http://schemas.microsoft.com/office/powerpoint/2010/main" val="3849688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dirty="0">
              <a:solidFill>
                <a:srgbClr val="000000"/>
              </a:solidFill>
              <a:latin typeface="Times New Roman" panose="02020603050405020304" pitchFamily="18" charset="0"/>
            </a:endParaRPr>
          </a:p>
        </p:txBody>
      </p:sp>
      <p:sp>
        <p:nvSpPr>
          <p:cNvPr id="2051"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2052"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solidFill>
                  <a:srgbClr val="000000"/>
                </a:solidFill>
                <a:latin typeface="+mn-lt"/>
              </a:defRPr>
            </a:lvl1pPr>
          </a:lstStyle>
          <a:p>
            <a:pPr>
              <a:defRPr/>
            </a:pPr>
            <a:endParaRPr lang="en-US" dirty="0"/>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solidFill>
                  <a:srgbClr val="000000"/>
                </a:solidFill>
                <a:latin typeface="+mn-lt"/>
              </a:defRPr>
            </a:lvl1pPr>
          </a:lstStyle>
          <a:p>
            <a:pPr>
              <a:defRPr/>
            </a:pPr>
            <a:endParaRPr lang="en-US" dirty="0"/>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solidFill>
                  <a:srgbClr val="000000"/>
                </a:solidFill>
                <a:latin typeface="+mn-lt"/>
              </a:defRPr>
            </a:lvl1pPr>
          </a:lstStyle>
          <a:p>
            <a:pPr>
              <a:defRPr/>
            </a:pPr>
            <a:fld id="{F09C266B-C234-4306-899E-1A60CEFAF4E8}" type="slidenum">
              <a:rPr lang="en-US"/>
              <a:pPr>
                <a:defRPr/>
              </a:pPr>
              <a:t>‹#›</a:t>
            </a:fld>
            <a:endParaRPr lang="en-US" dirty="0"/>
          </a:p>
        </p:txBody>
      </p:sp>
      <p:sp>
        <p:nvSpPr>
          <p:cNvPr id="2056"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dirty="0">
              <a:solidFill>
                <a:srgbClr val="000000"/>
              </a:solidFill>
              <a:latin typeface="Times New Roman" panose="02020603050405020304" pitchFamily="18" charset="0"/>
            </a:endParaRPr>
          </a:p>
        </p:txBody>
      </p:sp>
      <p:sp>
        <p:nvSpPr>
          <p:cNvPr id="2057"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4875505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Agile Software Development</a:t>
            </a:r>
          </a:p>
        </p:txBody>
      </p:sp>
    </p:spTree>
    <p:extLst>
      <p:ext uri="{BB962C8B-B14F-4D97-AF65-F5344CB8AC3E}">
        <p14:creationId xmlns:p14="http://schemas.microsoft.com/office/powerpoint/2010/main" val="3283528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US" sz="3600" dirty="0"/>
              <a:t>Agile methods</a:t>
            </a:r>
          </a:p>
        </p:txBody>
      </p:sp>
      <p:sp>
        <p:nvSpPr>
          <p:cNvPr id="3" name="Content Placeholder 2"/>
          <p:cNvSpPr>
            <a:spLocks noGrp="1"/>
          </p:cNvSpPr>
          <p:nvPr>
            <p:ph idx="1"/>
          </p:nvPr>
        </p:nvSpPr>
        <p:spPr>
          <a:xfrm>
            <a:off x="914400" y="1219200"/>
            <a:ext cx="7772400" cy="4114800"/>
          </a:xfrm>
        </p:spPr>
        <p:txBody>
          <a:bodyPr/>
          <a:lstStyle/>
          <a:p>
            <a:pPr algn="just">
              <a:buFont typeface="Wingdings" panose="05000000000000000000" pitchFamily="2" charset="2"/>
              <a:buChar char="q"/>
            </a:pPr>
            <a:r>
              <a:rPr lang="en-US" sz="2400" dirty="0"/>
              <a:t>Dissatisfaction with the overheads involved in software design methods of the 1980s and 1990s led to the creation of agile methods. These methods:</a:t>
            </a:r>
          </a:p>
          <a:p>
            <a:pPr lvl="1" algn="just">
              <a:buFont typeface="Wingdings" panose="05000000000000000000" pitchFamily="2" charset="2"/>
              <a:buChar char="q"/>
            </a:pPr>
            <a:r>
              <a:rPr lang="en-US" sz="2000" dirty="0"/>
              <a:t>Focus on the code rather than the design</a:t>
            </a:r>
          </a:p>
          <a:p>
            <a:pPr lvl="1" algn="just">
              <a:buFont typeface="Wingdings" panose="05000000000000000000" pitchFamily="2" charset="2"/>
              <a:buChar char="q"/>
            </a:pPr>
            <a:r>
              <a:rPr lang="en-US" sz="2000" dirty="0"/>
              <a:t>Are based on an iterative approach to software development</a:t>
            </a:r>
          </a:p>
          <a:p>
            <a:pPr lvl="1" algn="just">
              <a:buFont typeface="Wingdings" panose="05000000000000000000" pitchFamily="2" charset="2"/>
              <a:buChar char="q"/>
            </a:pPr>
            <a:r>
              <a:rPr lang="en-US" sz="2000" dirty="0"/>
              <a:t>Are intended to deliver working software quickly and evolve this quickly to meet changing requirements.</a:t>
            </a:r>
          </a:p>
          <a:p>
            <a:pPr algn="just">
              <a:buFont typeface="Wingdings" panose="05000000000000000000" pitchFamily="2" charset="2"/>
              <a:buChar char="q"/>
            </a:pPr>
            <a:r>
              <a:rPr lang="en-US" sz="2400" dirty="0"/>
              <a:t>The aim of agile methods is to reduce overheads in the software process (e.g. by limiting documentation) and to be able to respond quickly to changing requirements without excessive rework.</a:t>
            </a:r>
          </a:p>
          <a:p>
            <a:pPr algn="just">
              <a:buFont typeface="Wingdings" panose="05000000000000000000" pitchFamily="2" charset="2"/>
              <a:buChar char="q"/>
            </a:pPr>
            <a:endParaRPr lang="en-US" dirty="0"/>
          </a:p>
        </p:txBody>
      </p:sp>
    </p:spTree>
    <p:extLst>
      <p:ext uri="{BB962C8B-B14F-4D97-AF65-F5344CB8AC3E}">
        <p14:creationId xmlns:p14="http://schemas.microsoft.com/office/powerpoint/2010/main" val="1320791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manifesto</a:t>
            </a:r>
            <a:br>
              <a:rPr lang="en-US" dirty="0"/>
            </a:br>
            <a:r>
              <a:rPr lang="en-US" dirty="0"/>
              <a:t>(strategy/platform)</a:t>
            </a:r>
          </a:p>
        </p:txBody>
      </p:sp>
      <p:sp>
        <p:nvSpPr>
          <p:cNvPr id="3" name="Content Placeholder 2"/>
          <p:cNvSpPr>
            <a:spLocks noGrp="1"/>
          </p:cNvSpPr>
          <p:nvPr>
            <p:ph idx="1"/>
          </p:nvPr>
        </p:nvSpPr>
        <p:spPr>
          <a:xfrm>
            <a:off x="228600" y="1905000"/>
            <a:ext cx="8412163" cy="4114800"/>
          </a:xfrm>
        </p:spPr>
        <p:txBody>
          <a:bodyPr/>
          <a:lstStyle/>
          <a:p>
            <a:pPr>
              <a:buFont typeface="Wingdings" panose="05000000000000000000" pitchFamily="2" charset="2"/>
              <a:buChar char="q"/>
            </a:pPr>
            <a:r>
              <a:rPr lang="en-US" sz="2400" i="1" dirty="0"/>
              <a:t>We are finding better ways of developing software by doing it and helping others do it. Through this work we have come to value:</a:t>
            </a:r>
            <a:endParaRPr lang="en-GB" sz="2400" dirty="0"/>
          </a:p>
          <a:p>
            <a:pPr lvl="1">
              <a:buFont typeface="Wingdings" panose="05000000000000000000" pitchFamily="2" charset="2"/>
              <a:buChar char="q"/>
            </a:pPr>
            <a:r>
              <a:rPr lang="en-US" sz="2400" b="1" i="1" dirty="0"/>
              <a:t>Individuals and interactions </a:t>
            </a:r>
            <a:r>
              <a:rPr lang="en-US" sz="2400" i="1" dirty="0"/>
              <a:t>over processes </a:t>
            </a:r>
            <a:br>
              <a:rPr lang="en-US" sz="2400" i="1" dirty="0"/>
            </a:br>
            <a:r>
              <a:rPr lang="en-US" sz="2400" b="1" i="1" dirty="0"/>
              <a:t>Working software</a:t>
            </a:r>
            <a:r>
              <a:rPr lang="en-US" sz="2400" i="1" dirty="0"/>
              <a:t> over comprehensive documentation </a:t>
            </a:r>
            <a:br>
              <a:rPr lang="en-US" sz="2400" i="1" dirty="0"/>
            </a:br>
            <a:r>
              <a:rPr lang="en-US" sz="2400" b="1" i="1" dirty="0"/>
              <a:t>Customer collaboration</a:t>
            </a:r>
            <a:r>
              <a:rPr lang="en-US" sz="2400" i="1" dirty="0"/>
              <a:t> over contract negotiation </a:t>
            </a:r>
            <a:br>
              <a:rPr lang="en-US" sz="2400" i="1" dirty="0"/>
            </a:br>
            <a:r>
              <a:rPr lang="en-US" sz="2400" b="1" i="1" dirty="0"/>
              <a:t>Responding to change</a:t>
            </a:r>
            <a:r>
              <a:rPr lang="en-US" sz="2400" i="1" dirty="0"/>
              <a:t> over following a plan </a:t>
            </a:r>
            <a:endParaRPr lang="en-GB" sz="2400" dirty="0"/>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658971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US" dirty="0"/>
              <a:t>Rapid software development</a:t>
            </a:r>
          </a:p>
        </p:txBody>
      </p:sp>
      <p:sp>
        <p:nvSpPr>
          <p:cNvPr id="3" name="Content Placeholder 2"/>
          <p:cNvSpPr>
            <a:spLocks noGrp="1"/>
          </p:cNvSpPr>
          <p:nvPr>
            <p:ph idx="1"/>
          </p:nvPr>
        </p:nvSpPr>
        <p:spPr>
          <a:xfrm>
            <a:off x="685800" y="1295400"/>
            <a:ext cx="7772400" cy="4114800"/>
          </a:xfrm>
        </p:spPr>
        <p:txBody>
          <a:bodyPr/>
          <a:lstStyle/>
          <a:p>
            <a:pPr>
              <a:buFont typeface="Wingdings" panose="05000000000000000000" pitchFamily="2" charset="2"/>
              <a:buChar char="q"/>
            </a:pPr>
            <a:r>
              <a:rPr lang="en-US" sz="2000" dirty="0"/>
              <a:t>Rapid development and delivery is now often the most important requirement for software systems</a:t>
            </a:r>
          </a:p>
          <a:p>
            <a:pPr lvl="1">
              <a:buFont typeface="Wingdings" panose="05000000000000000000" pitchFamily="2" charset="2"/>
              <a:buChar char="q"/>
            </a:pPr>
            <a:r>
              <a:rPr lang="en-US" sz="2000" dirty="0"/>
              <a:t>Businesses operate in a fast –changing requirement and it is practically impossible to produce a set of stable software requirements</a:t>
            </a:r>
          </a:p>
          <a:p>
            <a:pPr lvl="1">
              <a:buFont typeface="Wingdings" panose="05000000000000000000" pitchFamily="2" charset="2"/>
              <a:buChar char="q"/>
            </a:pPr>
            <a:r>
              <a:rPr lang="en-US" sz="2000" dirty="0"/>
              <a:t>Software has to evolve quickly to reflect changing business needs.</a:t>
            </a:r>
          </a:p>
          <a:p>
            <a:pPr>
              <a:buFont typeface="Wingdings" panose="05000000000000000000" pitchFamily="2" charset="2"/>
              <a:buChar char="q"/>
            </a:pPr>
            <a:r>
              <a:rPr lang="en-US" sz="2000" dirty="0"/>
              <a:t>Rapid software development</a:t>
            </a:r>
          </a:p>
          <a:p>
            <a:pPr lvl="1">
              <a:buFont typeface="Wingdings" panose="05000000000000000000" pitchFamily="2" charset="2"/>
              <a:buChar char="q"/>
            </a:pPr>
            <a:r>
              <a:rPr lang="en-US" sz="2000" dirty="0"/>
              <a:t>Specification, design and implementation are inter-leaved</a:t>
            </a:r>
          </a:p>
          <a:p>
            <a:pPr lvl="1">
              <a:buFont typeface="Wingdings" panose="05000000000000000000" pitchFamily="2" charset="2"/>
              <a:buChar char="q"/>
            </a:pPr>
            <a:r>
              <a:rPr lang="en-US" sz="2000" dirty="0"/>
              <a:t>System is developed as a series of versions with stakeholders involved in version evaluation</a:t>
            </a:r>
          </a:p>
          <a:p>
            <a:pPr lvl="1">
              <a:buFont typeface="Wingdings" panose="05000000000000000000" pitchFamily="2" charset="2"/>
              <a:buChar char="q"/>
            </a:pPr>
            <a:r>
              <a:rPr lang="en-US" sz="2000" dirty="0"/>
              <a:t>User interfaces are often developed using an IDE and graphical toolset.</a:t>
            </a:r>
          </a:p>
          <a:p>
            <a:pPr>
              <a:buFont typeface="Wingdings" panose="05000000000000000000" pitchFamily="2" charset="2"/>
              <a:buChar char="q"/>
            </a:pPr>
            <a:endParaRPr lang="en-US" sz="2000" dirty="0"/>
          </a:p>
        </p:txBody>
      </p:sp>
    </p:spTree>
    <p:extLst>
      <p:ext uri="{BB962C8B-B14F-4D97-AF65-F5344CB8AC3E}">
        <p14:creationId xmlns:p14="http://schemas.microsoft.com/office/powerpoint/2010/main" val="2006376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dirty="0"/>
              <a:t>The principles of agile methods</a:t>
            </a:r>
            <a:r>
              <a:rPr lang="en-GB" dirty="0"/>
              <a:t> </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657921241"/>
              </p:ext>
            </p:extLst>
          </p:nvPr>
        </p:nvGraphicFramePr>
        <p:xfrm>
          <a:off x="457200" y="1335291"/>
          <a:ext cx="8271317" cy="4684509"/>
        </p:xfrm>
        <a:graphic>
          <a:graphicData uri="http://schemas.openxmlformats.org/drawingml/2006/table">
            <a:tbl>
              <a:tblPr/>
              <a:tblGrid>
                <a:gridCol w="2300606">
                  <a:extLst>
                    <a:ext uri="{9D8B030D-6E8A-4147-A177-3AD203B41FA5}">
                      <a16:colId xmlns:a16="http://schemas.microsoft.com/office/drawing/2014/main" val="20000"/>
                    </a:ext>
                  </a:extLst>
                </a:gridCol>
                <a:gridCol w="5844958">
                  <a:extLst>
                    <a:ext uri="{9D8B030D-6E8A-4147-A177-3AD203B41FA5}">
                      <a16:colId xmlns:a16="http://schemas.microsoft.com/office/drawing/2014/main" val="20001"/>
                    </a:ext>
                  </a:extLst>
                </a:gridCol>
                <a:gridCol w="125753">
                  <a:extLst>
                    <a:ext uri="{9D8B030D-6E8A-4147-A177-3AD203B41FA5}">
                      <a16:colId xmlns:a16="http://schemas.microsoft.com/office/drawing/2014/main" val="20002"/>
                    </a:ext>
                  </a:extLst>
                </a:gridCol>
              </a:tblGrid>
              <a:tr h="40315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Principle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extLst>
                  <a:ext uri="{0D108BD9-81ED-4DB2-BD59-A6C34878D82A}">
                    <a16:rowId xmlns:a16="http://schemas.microsoft.com/office/drawing/2014/main" val="10000"/>
                  </a:ext>
                </a:extLst>
              </a:tr>
              <a:tr h="1083542">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Customer involvement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Customers should be closely involved throughout the development process. Their role is to provide and prioritize new system requirements and to evaluate the iterations of the system.</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a:p>
                  </a:txBody>
                  <a:tcPr/>
                </a:tc>
                <a:extLst>
                  <a:ext uri="{0D108BD9-81ED-4DB2-BD59-A6C34878D82A}">
                    <a16:rowId xmlns:a16="http://schemas.microsoft.com/office/drawing/2014/main" val="10001"/>
                  </a:ext>
                </a:extLst>
              </a:tr>
              <a:tr h="7299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Incremental delivery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The software is developed in increments with the customer specifying the requirements to be included in each increment.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extLst>
                  <a:ext uri="{0D108BD9-81ED-4DB2-BD59-A6C34878D82A}">
                    <a16:rowId xmlns:a16="http://schemas.microsoft.com/office/drawing/2014/main" val="10002"/>
                  </a:ext>
                </a:extLst>
              </a:tr>
              <a:tr h="88195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People not process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The skills of the development team should be recognized and exploited. Team members should be left to develop their own ways of working without prescriptive processes.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a:p>
                  </a:txBody>
                  <a:tcPr/>
                </a:tc>
                <a:extLst>
                  <a:ext uri="{0D108BD9-81ED-4DB2-BD59-A6C34878D82A}">
                    <a16:rowId xmlns:a16="http://schemas.microsoft.com/office/drawing/2014/main" val="10003"/>
                  </a:ext>
                </a:extLst>
              </a:tr>
              <a:tr h="68036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Embrace change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Expect the system requirements to change and so design the system to accommodate these changes.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extLst>
                  <a:ext uri="{0D108BD9-81ED-4DB2-BD59-A6C34878D82A}">
                    <a16:rowId xmlns:a16="http://schemas.microsoft.com/office/drawing/2014/main" val="10004"/>
                  </a:ext>
                </a:extLst>
              </a:tr>
              <a:tr h="88195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Maintain simplicity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Focus on simplicity in both the software being developed and in the development process. Wherever possible, actively work to eliminate complexity from the system.</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100" b="0" i="0" u="none" strike="noStrike" cap="none" normalizeH="0" baseline="0" dirty="0">
                          <a:ln>
                            <a:noFill/>
                          </a:ln>
                          <a:solidFill>
                            <a:srgbClr val="000000"/>
                          </a:solidFill>
                          <a:effectLst/>
                          <a:latin typeface="Times New Roman" charset="0"/>
                          <a:ea typeface="Calibri" charset="0"/>
                          <a:cs typeface="Times New Roman" charset="0"/>
                        </a:rPr>
                        <a:t> </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78028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 applicability</a:t>
            </a:r>
          </a:p>
        </p:txBody>
      </p:sp>
      <p:sp>
        <p:nvSpPr>
          <p:cNvPr id="3" name="Content Placeholder 2"/>
          <p:cNvSpPr>
            <a:spLocks noGrp="1"/>
          </p:cNvSpPr>
          <p:nvPr>
            <p:ph idx="1"/>
          </p:nvPr>
        </p:nvSpPr>
        <p:spPr>
          <a:xfrm>
            <a:off x="762000" y="1600200"/>
            <a:ext cx="7772400" cy="4114800"/>
          </a:xfrm>
        </p:spPr>
        <p:txBody>
          <a:bodyPr/>
          <a:lstStyle/>
          <a:p>
            <a:pPr algn="just">
              <a:buFont typeface="Wingdings" panose="05000000000000000000" pitchFamily="2" charset="2"/>
              <a:buChar char="q"/>
            </a:pPr>
            <a:r>
              <a:rPr lang="en-GB" sz="2400" dirty="0"/>
              <a:t>Product development where a software company is developing a </a:t>
            </a:r>
            <a:r>
              <a:rPr lang="en-GB" sz="2400" b="1" dirty="0"/>
              <a:t>small or medium-sized product </a:t>
            </a:r>
            <a:r>
              <a:rPr lang="en-GB" sz="2400" dirty="0"/>
              <a:t>for sale. </a:t>
            </a:r>
          </a:p>
          <a:p>
            <a:pPr algn="just">
              <a:buFont typeface="Wingdings" panose="05000000000000000000" pitchFamily="2" charset="2"/>
              <a:buChar char="q"/>
            </a:pPr>
            <a:r>
              <a:rPr lang="en-GB" sz="2400" dirty="0"/>
              <a:t>Custom system development </a:t>
            </a:r>
            <a:r>
              <a:rPr lang="en-GB" sz="2400" b="1" dirty="0"/>
              <a:t>within an organization</a:t>
            </a:r>
            <a:r>
              <a:rPr lang="en-GB" sz="2400" dirty="0"/>
              <a:t>, where there is a clear commitment from the </a:t>
            </a:r>
            <a:r>
              <a:rPr lang="en-GB" sz="2400" b="1" dirty="0"/>
              <a:t>customer to become involved</a:t>
            </a:r>
            <a:r>
              <a:rPr lang="en-GB" sz="2400" dirty="0"/>
              <a:t> in the development process and where there are </a:t>
            </a:r>
            <a:r>
              <a:rPr lang="en-GB" sz="2400" b="1" dirty="0"/>
              <a:t>not a lot of external rules</a:t>
            </a:r>
            <a:r>
              <a:rPr lang="en-GB" sz="2400" dirty="0"/>
              <a:t> and regulations that affect the software.</a:t>
            </a:r>
          </a:p>
          <a:p>
            <a:pPr algn="just">
              <a:buFont typeface="Wingdings" panose="05000000000000000000" pitchFamily="2" charset="2"/>
              <a:buChar char="q"/>
            </a:pPr>
            <a:r>
              <a:rPr lang="en-GB" sz="2400" dirty="0"/>
              <a:t>Because of their focus on small, tightly-integrated teams, there are problems in scaling agile methods to large systems. </a:t>
            </a:r>
          </a:p>
        </p:txBody>
      </p:sp>
    </p:spTree>
    <p:extLst>
      <p:ext uri="{BB962C8B-B14F-4D97-AF65-F5344CB8AC3E}">
        <p14:creationId xmlns:p14="http://schemas.microsoft.com/office/powerpoint/2010/main" val="1856004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with agile methods</a:t>
            </a:r>
          </a:p>
        </p:txBody>
      </p:sp>
      <p:sp>
        <p:nvSpPr>
          <p:cNvPr id="5" name="Rectangle 3"/>
          <p:cNvSpPr>
            <a:spLocks noGrp="1" noChangeArrowheads="1"/>
          </p:cNvSpPr>
          <p:nvPr>
            <p:ph idx="1"/>
          </p:nvPr>
        </p:nvSpPr>
        <p:spPr>
          <a:xfrm>
            <a:off x="762000" y="1524000"/>
            <a:ext cx="7772400" cy="4114800"/>
          </a:xfrm>
        </p:spPr>
        <p:txBody>
          <a:bodyPr/>
          <a:lstStyle/>
          <a:p>
            <a:pPr algn="just">
              <a:buFont typeface="Wingdings" panose="05000000000000000000" pitchFamily="2" charset="2"/>
              <a:buChar char="q"/>
            </a:pPr>
            <a:r>
              <a:rPr lang="en-US" sz="2400" dirty="0"/>
              <a:t>It can be difficult to keep the interest of customers who are involved in the process.</a:t>
            </a:r>
          </a:p>
          <a:p>
            <a:pPr algn="just">
              <a:buFont typeface="Wingdings" panose="05000000000000000000" pitchFamily="2" charset="2"/>
              <a:buChar char="q"/>
            </a:pPr>
            <a:r>
              <a:rPr lang="en-US" sz="2400" dirty="0"/>
              <a:t>Prioritizing changes can be difficult where there are multiple stakeholders.</a:t>
            </a:r>
          </a:p>
          <a:p>
            <a:pPr algn="just">
              <a:buFont typeface="Wingdings" panose="05000000000000000000" pitchFamily="2" charset="2"/>
              <a:buChar char="q"/>
            </a:pPr>
            <a:r>
              <a:rPr lang="en-US" sz="2400" dirty="0"/>
              <a:t>Maintaining simplicity requires extra work.</a:t>
            </a:r>
          </a:p>
          <a:p>
            <a:pPr>
              <a:buFont typeface="Wingdings" pitchFamily="2" charset="2"/>
              <a:buChar char="q"/>
            </a:pPr>
            <a:r>
              <a:rPr lang="en-US" sz="2400" dirty="0"/>
              <a:t>It is difficult for organizations to move to a working model in which processes are informal and defined by development teams.</a:t>
            </a:r>
          </a:p>
        </p:txBody>
      </p:sp>
    </p:spTree>
    <p:extLst>
      <p:ext uri="{BB962C8B-B14F-4D97-AF65-F5344CB8AC3E}">
        <p14:creationId xmlns:p14="http://schemas.microsoft.com/office/powerpoint/2010/main" val="1182807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Agile methods and software maintenance</a:t>
            </a:r>
          </a:p>
        </p:txBody>
      </p:sp>
      <p:sp>
        <p:nvSpPr>
          <p:cNvPr id="3" name="Content Placeholder 2"/>
          <p:cNvSpPr>
            <a:spLocks noGrp="1"/>
          </p:cNvSpPr>
          <p:nvPr>
            <p:ph idx="1"/>
          </p:nvPr>
        </p:nvSpPr>
        <p:spPr>
          <a:xfrm>
            <a:off x="762000" y="1524000"/>
            <a:ext cx="7772400" cy="4114800"/>
          </a:xfrm>
        </p:spPr>
        <p:txBody>
          <a:bodyPr/>
          <a:lstStyle/>
          <a:p>
            <a:pPr algn="just">
              <a:buFont typeface="Wingdings" panose="05000000000000000000" pitchFamily="2" charset="2"/>
              <a:buChar char="q"/>
            </a:pPr>
            <a:r>
              <a:rPr lang="en-US" sz="2000" dirty="0"/>
              <a:t>Most organizations spend more on maintaining existing software than they do on new software development. So, if agile methods are to be successful, they have to support maintenance as well as original development.</a:t>
            </a:r>
          </a:p>
          <a:p>
            <a:pPr algn="just">
              <a:buFont typeface="Wingdings" panose="05000000000000000000" pitchFamily="2" charset="2"/>
              <a:buChar char="q"/>
            </a:pPr>
            <a:r>
              <a:rPr lang="en-US" sz="2000" dirty="0"/>
              <a:t>Two key issues:</a:t>
            </a:r>
          </a:p>
          <a:p>
            <a:pPr lvl="1" algn="just">
              <a:buFont typeface="Wingdings" panose="05000000000000000000" pitchFamily="2" charset="2"/>
              <a:buChar char="q"/>
            </a:pPr>
            <a:r>
              <a:rPr lang="en-GB" sz="2000" dirty="0"/>
              <a:t>Are systems that are developed using an agile approach maintainable, given the emphasis in the development process of minimizing formal documentation?</a:t>
            </a:r>
          </a:p>
          <a:p>
            <a:pPr lvl="1" algn="just">
              <a:buFont typeface="Wingdings" panose="05000000000000000000" pitchFamily="2" charset="2"/>
              <a:buChar char="q"/>
            </a:pPr>
            <a:r>
              <a:rPr lang="en-GB" sz="2000" dirty="0"/>
              <a:t>Can agile methods be used effectively for evolving a system in response to customer change requests?</a:t>
            </a:r>
          </a:p>
          <a:p>
            <a:pPr algn="just">
              <a:buFont typeface="Wingdings" panose="05000000000000000000" pitchFamily="2" charset="2"/>
              <a:buChar char="q"/>
            </a:pPr>
            <a:endParaRPr lang="en-US" sz="2000" dirty="0"/>
          </a:p>
        </p:txBody>
      </p:sp>
    </p:spTree>
    <p:extLst>
      <p:ext uri="{BB962C8B-B14F-4D97-AF65-F5344CB8AC3E}">
        <p14:creationId xmlns:p14="http://schemas.microsoft.com/office/powerpoint/2010/main" val="3983908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sz="3600" dirty="0"/>
              <a:t>Technical, human, organizational issues</a:t>
            </a:r>
          </a:p>
        </p:txBody>
      </p:sp>
      <p:sp>
        <p:nvSpPr>
          <p:cNvPr id="3" name="Content Placeholder 2"/>
          <p:cNvSpPr>
            <a:spLocks noGrp="1"/>
          </p:cNvSpPr>
          <p:nvPr>
            <p:ph idx="1"/>
          </p:nvPr>
        </p:nvSpPr>
        <p:spPr>
          <a:xfrm>
            <a:off x="685800" y="1295400"/>
            <a:ext cx="7772400" cy="4114800"/>
          </a:xfrm>
        </p:spPr>
        <p:txBody>
          <a:bodyPr/>
          <a:lstStyle/>
          <a:p>
            <a:pPr algn="just">
              <a:buFont typeface="Wingdings" panose="05000000000000000000" pitchFamily="2" charset="2"/>
              <a:buChar char="q"/>
            </a:pPr>
            <a:r>
              <a:rPr lang="en-US" sz="2000" dirty="0"/>
              <a:t>Most projects include elements of plan-driven and agile processes. Deciding on the balance depends on:</a:t>
            </a:r>
          </a:p>
          <a:p>
            <a:pPr lvl="1" algn="just">
              <a:buFont typeface="Wingdings" panose="05000000000000000000" pitchFamily="2" charset="2"/>
              <a:buChar char="q"/>
            </a:pPr>
            <a:r>
              <a:rPr lang="en-GB" sz="2000" dirty="0"/>
              <a:t>Is it important to have a very detailed specification and design before moving to implementation? If so, you probably need to use a plan-driven approach.</a:t>
            </a:r>
          </a:p>
          <a:p>
            <a:pPr lvl="1" algn="just">
              <a:buFont typeface="Wingdings" panose="05000000000000000000" pitchFamily="2" charset="2"/>
              <a:buChar char="q"/>
            </a:pPr>
            <a:r>
              <a:rPr lang="en-GB" sz="2000" dirty="0"/>
              <a:t>Is an incremental delivery strategy, where you deliver the software to customers and get rapid feedback from them, realistic? If so, consider using agile methods.</a:t>
            </a:r>
          </a:p>
          <a:p>
            <a:pPr lvl="1" algn="just">
              <a:buFont typeface="Wingdings" panose="05000000000000000000" pitchFamily="2" charset="2"/>
              <a:buChar char="q"/>
            </a:pPr>
            <a:r>
              <a:rPr lang="en-GB" sz="2000" dirty="0"/>
              <a:t>How large is the system that is being developed? Agile methods are most effective when the system can be developed with a small co-located team who can communicate informally. This may not be possible for large systems that require larger development teams so a plan-driven approach may have to be used.</a:t>
            </a:r>
            <a:endParaRPr lang="en-US" sz="2000" dirty="0"/>
          </a:p>
        </p:txBody>
      </p:sp>
    </p:spTree>
    <p:extLst>
      <p:ext uri="{BB962C8B-B14F-4D97-AF65-F5344CB8AC3E}">
        <p14:creationId xmlns:p14="http://schemas.microsoft.com/office/powerpoint/2010/main" val="2160557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304800"/>
            <a:ext cx="7772400" cy="1143000"/>
          </a:xfrm>
        </p:spPr>
        <p:txBody>
          <a:bodyPr/>
          <a:lstStyle/>
          <a:p>
            <a:r>
              <a:rPr lang="en-US" sz="3600" dirty="0"/>
              <a:t>Technical, human, organizational issues </a:t>
            </a:r>
          </a:p>
        </p:txBody>
      </p:sp>
      <p:sp>
        <p:nvSpPr>
          <p:cNvPr id="3" name="Content Placeholder 2"/>
          <p:cNvSpPr>
            <a:spLocks noGrp="1"/>
          </p:cNvSpPr>
          <p:nvPr>
            <p:ph idx="1"/>
          </p:nvPr>
        </p:nvSpPr>
        <p:spPr>
          <a:xfrm>
            <a:off x="228600" y="1143000"/>
            <a:ext cx="8640763" cy="4114800"/>
          </a:xfrm>
        </p:spPr>
        <p:txBody>
          <a:bodyPr/>
          <a:lstStyle/>
          <a:p>
            <a:pPr algn="just">
              <a:buFont typeface="Wingdings" panose="05000000000000000000" pitchFamily="2" charset="2"/>
              <a:buChar char="q"/>
            </a:pPr>
            <a:r>
              <a:rPr lang="en-GB" sz="2400" dirty="0"/>
              <a:t>What type of system is being developed? </a:t>
            </a:r>
          </a:p>
          <a:p>
            <a:pPr lvl="2" algn="just">
              <a:buFont typeface="Wingdings" panose="05000000000000000000" pitchFamily="2" charset="2"/>
              <a:buChar char="q"/>
            </a:pPr>
            <a:r>
              <a:rPr lang="en-GB" sz="2000" dirty="0"/>
              <a:t>Plan-driven approaches may be required for systems that require a lot of analysis before implementation</a:t>
            </a:r>
          </a:p>
          <a:p>
            <a:pPr algn="just">
              <a:buFont typeface="Wingdings" panose="05000000000000000000" pitchFamily="2" charset="2"/>
              <a:buChar char="q"/>
            </a:pPr>
            <a:r>
              <a:rPr lang="en-GB" sz="2400" dirty="0"/>
              <a:t>What is the expected system lifetime? </a:t>
            </a:r>
          </a:p>
          <a:p>
            <a:pPr lvl="2" algn="just">
              <a:buFont typeface="Wingdings" panose="05000000000000000000" pitchFamily="2" charset="2"/>
              <a:buChar char="q"/>
            </a:pPr>
            <a:r>
              <a:rPr lang="en-GB" sz="2000" dirty="0"/>
              <a:t>Long-lifetime systems may require more design documentation to communicate the original intentions of the system developers to the support team. </a:t>
            </a:r>
          </a:p>
          <a:p>
            <a:pPr algn="just">
              <a:buFont typeface="Wingdings" panose="05000000000000000000" pitchFamily="2" charset="2"/>
              <a:buChar char="q"/>
            </a:pPr>
            <a:r>
              <a:rPr lang="en-GB" sz="2400" dirty="0"/>
              <a:t>What technologies are available to support system development? </a:t>
            </a:r>
          </a:p>
          <a:p>
            <a:pPr lvl="2" algn="just">
              <a:buFont typeface="Wingdings" panose="05000000000000000000" pitchFamily="2" charset="2"/>
              <a:buChar char="q"/>
            </a:pPr>
            <a:r>
              <a:rPr lang="en-GB" sz="2000" dirty="0"/>
              <a:t>Agile methods rely on good tools to keep track of an evolving design</a:t>
            </a:r>
          </a:p>
          <a:p>
            <a:pPr algn="just">
              <a:buFont typeface="Wingdings" panose="05000000000000000000" pitchFamily="2" charset="2"/>
              <a:buChar char="q"/>
            </a:pPr>
            <a:r>
              <a:rPr lang="en-GB" sz="2400" dirty="0"/>
              <a:t>How is the development team organized? </a:t>
            </a:r>
          </a:p>
          <a:p>
            <a:pPr lvl="2" algn="just">
              <a:buFont typeface="Wingdings" panose="05000000000000000000" pitchFamily="2" charset="2"/>
              <a:buChar char="q"/>
            </a:pPr>
            <a:r>
              <a:rPr lang="en-GB" sz="2000" dirty="0"/>
              <a:t>If the development team is distributed or if part of the development is being outsourced, then you may need to develop design documents to communicate across the development teams.</a:t>
            </a:r>
            <a:endParaRPr lang="en-US" sz="2000" dirty="0"/>
          </a:p>
        </p:txBody>
      </p:sp>
    </p:spTree>
    <p:extLst>
      <p:ext uri="{BB962C8B-B14F-4D97-AF65-F5344CB8AC3E}">
        <p14:creationId xmlns:p14="http://schemas.microsoft.com/office/powerpoint/2010/main" val="1031430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sz="3200" dirty="0"/>
              <a:t>Technical, human, organizational issues</a:t>
            </a:r>
          </a:p>
        </p:txBody>
      </p:sp>
      <p:sp>
        <p:nvSpPr>
          <p:cNvPr id="3" name="Content Placeholder 2"/>
          <p:cNvSpPr>
            <a:spLocks noGrp="1"/>
          </p:cNvSpPr>
          <p:nvPr>
            <p:ph idx="1"/>
          </p:nvPr>
        </p:nvSpPr>
        <p:spPr>
          <a:xfrm>
            <a:off x="427037" y="990600"/>
            <a:ext cx="8335963" cy="4114800"/>
          </a:xfrm>
        </p:spPr>
        <p:txBody>
          <a:bodyPr/>
          <a:lstStyle/>
          <a:p>
            <a:pPr algn="just">
              <a:buFont typeface="Wingdings" panose="05000000000000000000" pitchFamily="2" charset="2"/>
              <a:buChar char="q"/>
            </a:pPr>
            <a:r>
              <a:rPr lang="en-GB" sz="2400" dirty="0"/>
              <a:t>Are there cultural or organizational issues that may affect the system development? </a:t>
            </a:r>
          </a:p>
          <a:p>
            <a:pPr lvl="2" algn="just">
              <a:buFont typeface="Wingdings" panose="05000000000000000000" pitchFamily="2" charset="2"/>
              <a:buChar char="q"/>
            </a:pPr>
            <a:r>
              <a:rPr lang="en-GB" sz="2000" dirty="0"/>
              <a:t>Traditional engineering organizations have a culture of plan-based development, as this is the norm in engineering.</a:t>
            </a:r>
          </a:p>
          <a:p>
            <a:pPr algn="just">
              <a:buFont typeface="Wingdings" panose="05000000000000000000" pitchFamily="2" charset="2"/>
              <a:buChar char="q"/>
            </a:pPr>
            <a:r>
              <a:rPr lang="en-GB" sz="2400" dirty="0"/>
              <a:t>How good are the designers and programmers in the development team?</a:t>
            </a:r>
          </a:p>
          <a:p>
            <a:pPr lvl="2" algn="just">
              <a:buFont typeface="Wingdings" panose="05000000000000000000" pitchFamily="2" charset="2"/>
              <a:buChar char="q"/>
            </a:pPr>
            <a:r>
              <a:rPr lang="en-GB" sz="2000" dirty="0"/>
              <a:t> It is sometimes argued that agile methods require higher skill levels than plan-based approaches in which programmers simply translate a detailed design into code</a:t>
            </a:r>
          </a:p>
          <a:p>
            <a:pPr algn="just">
              <a:buFont typeface="Wingdings" panose="05000000000000000000" pitchFamily="2" charset="2"/>
              <a:buChar char="q"/>
            </a:pPr>
            <a:r>
              <a:rPr lang="en-GB" sz="2400" dirty="0"/>
              <a:t>Is the system subject to external regulation? </a:t>
            </a:r>
          </a:p>
          <a:p>
            <a:pPr lvl="2" algn="just">
              <a:buFont typeface="Wingdings" panose="05000000000000000000" pitchFamily="2" charset="2"/>
              <a:buChar char="q"/>
            </a:pPr>
            <a:r>
              <a:rPr lang="en-GB" sz="2000" dirty="0"/>
              <a:t>If a system has to be approved by an external regulator (e.g. the FAA approve software that is critical to the operation of an aircraft) then you will probably be required to produce detailed documentation as part of the system safety case.</a:t>
            </a:r>
            <a:endParaRPr lang="en-US" sz="2000" dirty="0"/>
          </a:p>
        </p:txBody>
      </p:sp>
    </p:spTree>
    <p:extLst>
      <p:ext uri="{BB962C8B-B14F-4D97-AF65-F5344CB8AC3E}">
        <p14:creationId xmlns:p14="http://schemas.microsoft.com/office/powerpoint/2010/main" val="823425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Extreme programming</a:t>
            </a:r>
          </a:p>
        </p:txBody>
      </p:sp>
      <p:sp>
        <p:nvSpPr>
          <p:cNvPr id="3" name="Content Placeholder 2"/>
          <p:cNvSpPr>
            <a:spLocks noGrp="1"/>
          </p:cNvSpPr>
          <p:nvPr>
            <p:ph idx="1"/>
          </p:nvPr>
        </p:nvSpPr>
        <p:spPr>
          <a:xfrm>
            <a:off x="914400" y="1600200"/>
            <a:ext cx="7772400" cy="4114800"/>
          </a:xfrm>
        </p:spPr>
        <p:txBody>
          <a:bodyPr/>
          <a:lstStyle/>
          <a:p>
            <a:pPr>
              <a:lnSpc>
                <a:spcPct val="90000"/>
              </a:lnSpc>
              <a:buFont typeface="Wingdings" panose="05000000000000000000" pitchFamily="2" charset="2"/>
              <a:buChar char="q"/>
            </a:pPr>
            <a:r>
              <a:rPr lang="en-US" sz="2400" dirty="0"/>
              <a:t>Extreme Programming (XP) takes an ‘extreme’ approach to iterative development. </a:t>
            </a:r>
          </a:p>
          <a:p>
            <a:pPr lvl="1">
              <a:lnSpc>
                <a:spcPct val="90000"/>
              </a:lnSpc>
              <a:buFont typeface="Wingdings" panose="05000000000000000000" pitchFamily="2" charset="2"/>
              <a:buChar char="q"/>
            </a:pPr>
            <a:r>
              <a:rPr lang="en-US" sz="2400" dirty="0"/>
              <a:t>New versions may be built several times per day;</a:t>
            </a:r>
          </a:p>
          <a:p>
            <a:pPr lvl="1">
              <a:lnSpc>
                <a:spcPct val="90000"/>
              </a:lnSpc>
              <a:buFont typeface="Wingdings" panose="05000000000000000000" pitchFamily="2" charset="2"/>
              <a:buChar char="q"/>
            </a:pPr>
            <a:r>
              <a:rPr lang="en-US" sz="2400" dirty="0"/>
              <a:t>Increments are delivered to customers every 2 weeks;</a:t>
            </a:r>
          </a:p>
          <a:p>
            <a:pPr lvl="1">
              <a:lnSpc>
                <a:spcPct val="90000"/>
              </a:lnSpc>
              <a:buFont typeface="Wingdings" panose="05000000000000000000" pitchFamily="2" charset="2"/>
              <a:buChar char="q"/>
            </a:pPr>
            <a:r>
              <a:rPr lang="en-US" sz="2400" dirty="0"/>
              <a:t>All tests must be run for every build and the build is only accepted if tests run successfully.</a:t>
            </a:r>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4236975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dirty="0"/>
              <a:t>XP and agile principles</a:t>
            </a:r>
          </a:p>
        </p:txBody>
      </p:sp>
      <p:sp>
        <p:nvSpPr>
          <p:cNvPr id="3" name="Content Placeholder 2"/>
          <p:cNvSpPr>
            <a:spLocks noGrp="1"/>
          </p:cNvSpPr>
          <p:nvPr>
            <p:ph idx="1"/>
          </p:nvPr>
        </p:nvSpPr>
        <p:spPr>
          <a:xfrm>
            <a:off x="990600" y="1066800"/>
            <a:ext cx="7772400" cy="4114800"/>
          </a:xfrm>
        </p:spPr>
        <p:txBody>
          <a:bodyPr/>
          <a:lstStyle/>
          <a:p>
            <a:pPr algn="just">
              <a:buFont typeface="Wingdings" panose="05000000000000000000" pitchFamily="2" charset="2"/>
              <a:buChar char="q"/>
            </a:pPr>
            <a:r>
              <a:rPr lang="en-US" sz="2400" b="1" dirty="0"/>
              <a:t>Incremental development</a:t>
            </a:r>
          </a:p>
          <a:p>
            <a:pPr lvl="1" algn="just">
              <a:buFont typeface="Wingdings" panose="05000000000000000000" pitchFamily="2" charset="2"/>
              <a:buChar char="q"/>
            </a:pPr>
            <a:r>
              <a:rPr lang="en-US" sz="2400" dirty="0"/>
              <a:t>supported through small, frequent system releases.</a:t>
            </a:r>
          </a:p>
          <a:p>
            <a:pPr algn="just">
              <a:buFont typeface="Wingdings" panose="05000000000000000000" pitchFamily="2" charset="2"/>
              <a:buChar char="q"/>
            </a:pPr>
            <a:r>
              <a:rPr lang="en-US" sz="2400" b="1" dirty="0"/>
              <a:t>People not process</a:t>
            </a:r>
            <a:r>
              <a:rPr lang="en-US" sz="2400" dirty="0"/>
              <a:t> </a:t>
            </a:r>
            <a:endParaRPr lang="en-US" sz="2400" b="1" dirty="0"/>
          </a:p>
          <a:p>
            <a:pPr lvl="1" algn="just">
              <a:buFont typeface="Wingdings" panose="05000000000000000000" pitchFamily="2" charset="2"/>
              <a:buChar char="q"/>
            </a:pPr>
            <a:r>
              <a:rPr lang="en-US" sz="2400" dirty="0"/>
              <a:t>Pair programming, collective ownership and a process that avoids long working hours.</a:t>
            </a:r>
          </a:p>
          <a:p>
            <a:pPr algn="just">
              <a:buFont typeface="Wingdings" panose="05000000000000000000" pitchFamily="2" charset="2"/>
              <a:buChar char="q"/>
            </a:pPr>
            <a:r>
              <a:rPr lang="en-US" sz="2400" b="1" dirty="0"/>
              <a:t>Customer involvement</a:t>
            </a:r>
            <a:r>
              <a:rPr lang="en-US" sz="2400" dirty="0"/>
              <a:t> means full-time customer engagement with the team.</a:t>
            </a:r>
          </a:p>
          <a:p>
            <a:pPr algn="just">
              <a:buFont typeface="Wingdings" panose="05000000000000000000" pitchFamily="2" charset="2"/>
              <a:buChar char="q"/>
            </a:pPr>
            <a:r>
              <a:rPr lang="en-US" sz="2400" b="1" dirty="0"/>
              <a:t>Change</a:t>
            </a:r>
            <a:r>
              <a:rPr lang="en-US" sz="2400" dirty="0"/>
              <a:t> </a:t>
            </a:r>
          </a:p>
          <a:p>
            <a:pPr lvl="1" algn="just">
              <a:buFont typeface="Wingdings" panose="05000000000000000000" pitchFamily="2" charset="2"/>
              <a:buChar char="q"/>
            </a:pPr>
            <a:r>
              <a:rPr lang="en-US" sz="2400" dirty="0"/>
              <a:t>supported through regular system releases.</a:t>
            </a:r>
          </a:p>
          <a:p>
            <a:pPr algn="just">
              <a:buFont typeface="Wingdings" panose="05000000000000000000" pitchFamily="2" charset="2"/>
              <a:buChar char="q"/>
            </a:pPr>
            <a:r>
              <a:rPr lang="en-US" sz="2400" b="1" dirty="0"/>
              <a:t>Maintaining simplicity</a:t>
            </a:r>
            <a:r>
              <a:rPr lang="en-US" sz="2400" dirty="0"/>
              <a:t> </a:t>
            </a:r>
          </a:p>
          <a:p>
            <a:pPr lvl="1" algn="just">
              <a:buFont typeface="Wingdings" panose="05000000000000000000" pitchFamily="2" charset="2"/>
              <a:buChar char="q"/>
            </a:pPr>
            <a:r>
              <a:rPr lang="en-US" sz="2400" dirty="0"/>
              <a:t>through constant </a:t>
            </a:r>
            <a:r>
              <a:rPr lang="en-US" sz="2400" b="1" dirty="0"/>
              <a:t>refactoring</a:t>
            </a:r>
            <a:r>
              <a:rPr lang="en-US" sz="2400" dirty="0"/>
              <a:t> of code.</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2201548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additive="base">
                                        <p:cTn id="4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The extreme programming release cycle</a:t>
            </a:r>
            <a:r>
              <a:rPr lang="en-GB" sz="3600" dirty="0"/>
              <a:t> </a:t>
            </a:r>
            <a:endParaRPr lang="en-US" sz="3600" dirty="0"/>
          </a:p>
        </p:txBody>
      </p:sp>
      <p:pic>
        <p:nvPicPr>
          <p:cNvPr id="4" name="Picture 3" descr="3.3-XP-ReleaseCycle.eps"/>
          <p:cNvPicPr>
            <a:picLocks noChangeAspect="1"/>
          </p:cNvPicPr>
          <p:nvPr/>
        </p:nvPicPr>
        <p:blipFill>
          <a:blip r:embed="rId2" cstate="print"/>
          <a:stretch>
            <a:fillRect/>
          </a:stretch>
        </p:blipFill>
        <p:spPr>
          <a:xfrm>
            <a:off x="1192427" y="2209800"/>
            <a:ext cx="6558005" cy="2856274"/>
          </a:xfrm>
          <a:prstGeom prst="rect">
            <a:avLst/>
          </a:prstGeom>
        </p:spPr>
      </p:pic>
    </p:spTree>
    <p:extLst>
      <p:ext uri="{BB962C8B-B14F-4D97-AF65-F5344CB8AC3E}">
        <p14:creationId xmlns:p14="http://schemas.microsoft.com/office/powerpoint/2010/main" val="319534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sz="3600" dirty="0"/>
              <a:t>Extreme programming practices (a)</a:t>
            </a:r>
            <a:r>
              <a:rPr lang="en-GB" sz="3600" dirty="0"/>
              <a:t> </a:t>
            </a:r>
            <a:endParaRPr lang="en-US" sz="3600" dirty="0"/>
          </a:p>
        </p:txBody>
      </p:sp>
      <p:graphicFrame>
        <p:nvGraphicFramePr>
          <p:cNvPr id="4" name="Table 3"/>
          <p:cNvGraphicFramePr>
            <a:graphicFrameLocks noGrp="1"/>
          </p:cNvGraphicFramePr>
          <p:nvPr>
            <p:extLst>
              <p:ext uri="{D42A27DB-BD31-4B8C-83A1-F6EECF244321}">
                <p14:modId xmlns:p14="http://schemas.microsoft.com/office/powerpoint/2010/main" val="2507106599"/>
              </p:ext>
            </p:extLst>
          </p:nvPr>
        </p:nvGraphicFramePr>
        <p:xfrm>
          <a:off x="457200" y="1391904"/>
          <a:ext cx="8325364" cy="4246896"/>
        </p:xfrm>
        <a:graphic>
          <a:graphicData uri="http://schemas.openxmlformats.org/drawingml/2006/table">
            <a:tbl>
              <a:tblPr/>
              <a:tblGrid>
                <a:gridCol w="2359628">
                  <a:extLst>
                    <a:ext uri="{9D8B030D-6E8A-4147-A177-3AD203B41FA5}">
                      <a16:colId xmlns:a16="http://schemas.microsoft.com/office/drawing/2014/main" val="20000"/>
                    </a:ext>
                  </a:extLst>
                </a:gridCol>
                <a:gridCol w="5965736">
                  <a:extLst>
                    <a:ext uri="{9D8B030D-6E8A-4147-A177-3AD203B41FA5}">
                      <a16:colId xmlns:a16="http://schemas.microsoft.com/office/drawing/2014/main" val="20001"/>
                    </a:ext>
                  </a:extLst>
                </a:gridCol>
              </a:tblGrid>
              <a:tr h="471672">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Principle or practice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17384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Incremental planning</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Requirements are recorded on story cards and the stories to be included in a release are determined by the time available and their relative priority. The developers break these stories into development ‘Tasks’.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95545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Small releases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The minimal useful set of functionality that provides business value is developed first. Releases of the system are frequent and incrementally add functionality to the first release.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73706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Test-first development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An automated unit test framework is used to write tests for a new piece of functionality before that functionality itself is implemented.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3"/>
                  </a:ext>
                </a:extLst>
              </a:tr>
              <a:tr h="73706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Refactoring</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All developers are expected to </a:t>
                      </a:r>
                      <a:r>
                        <a:rPr kumimoji="0" lang="en-GB" sz="1600" b="0" i="0" u="none" strike="noStrike" cap="none" normalizeH="0" baseline="0" dirty="0" err="1">
                          <a:ln>
                            <a:noFill/>
                          </a:ln>
                          <a:solidFill>
                            <a:srgbClr val="000000"/>
                          </a:solidFill>
                          <a:effectLst/>
                          <a:latin typeface="Arial"/>
                          <a:ea typeface="Times New Roman" charset="0"/>
                          <a:cs typeface="Arial"/>
                        </a:rPr>
                        <a:t>refactor</a:t>
                      </a:r>
                      <a:r>
                        <a:rPr kumimoji="0" lang="en-GB" sz="1600" b="0" i="0" u="none" strike="noStrike" cap="none" normalizeH="0" baseline="0" dirty="0">
                          <a:ln>
                            <a:noFill/>
                          </a:ln>
                          <a:solidFill>
                            <a:srgbClr val="000000"/>
                          </a:solidFill>
                          <a:effectLst/>
                          <a:latin typeface="Arial"/>
                          <a:ea typeface="Times New Roman" charset="0"/>
                          <a:cs typeface="Arial"/>
                        </a:rPr>
                        <a:t> the code continuously as soon as possible code improvements are found. This keeps the code simple and maintainable.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99886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US" sz="3600" dirty="0"/>
              <a:t>Extreme programming practices (b)</a:t>
            </a:r>
          </a:p>
        </p:txBody>
      </p:sp>
      <p:graphicFrame>
        <p:nvGraphicFramePr>
          <p:cNvPr id="4" name="Table 3"/>
          <p:cNvGraphicFramePr>
            <a:graphicFrameLocks noGrp="1"/>
          </p:cNvGraphicFramePr>
          <p:nvPr>
            <p:extLst>
              <p:ext uri="{D42A27DB-BD31-4B8C-83A1-F6EECF244321}">
                <p14:modId xmlns:p14="http://schemas.microsoft.com/office/powerpoint/2010/main" val="2437106262"/>
              </p:ext>
            </p:extLst>
          </p:nvPr>
        </p:nvGraphicFramePr>
        <p:xfrm>
          <a:off x="457199" y="1447800"/>
          <a:ext cx="8217271" cy="1660468"/>
        </p:xfrm>
        <a:graphic>
          <a:graphicData uri="http://schemas.openxmlformats.org/drawingml/2006/table">
            <a:tbl>
              <a:tblPr firstRow="1" bandRow="1">
                <a:tableStyleId>{69CF1AB2-1976-4502-BF36-3FF5EA218861}</a:tableStyleId>
              </a:tblPr>
              <a:tblGrid>
                <a:gridCol w="2285663">
                  <a:extLst>
                    <a:ext uri="{9D8B030D-6E8A-4147-A177-3AD203B41FA5}">
                      <a16:colId xmlns:a16="http://schemas.microsoft.com/office/drawing/2014/main" val="20000"/>
                    </a:ext>
                  </a:extLst>
                </a:gridCol>
                <a:gridCol w="5931608">
                  <a:extLst>
                    <a:ext uri="{9D8B030D-6E8A-4147-A177-3AD203B41FA5}">
                      <a16:colId xmlns:a16="http://schemas.microsoft.com/office/drawing/2014/main" val="20001"/>
                    </a:ext>
                  </a:extLst>
                </a:gridCol>
              </a:tblGrid>
              <a:tr h="830234">
                <a:tc>
                  <a:txBody>
                    <a:bodyPr/>
                    <a:lstStyle/>
                    <a:p>
                      <a:pPr algn="just">
                        <a:spcAft>
                          <a:spcPts val="0"/>
                        </a:spcAft>
                      </a:pPr>
                      <a:r>
                        <a:rPr lang="en-GB" sz="1600" b="0" dirty="0">
                          <a:latin typeface="Arial"/>
                          <a:cs typeface="Arial"/>
                        </a:rPr>
                        <a:t>Continuous integration</a:t>
                      </a:r>
                      <a:endParaRPr lang="en-GB" sz="1600" b="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b="0" dirty="0">
                          <a:latin typeface="Arial"/>
                          <a:cs typeface="Arial"/>
                        </a:rPr>
                        <a:t>As soon as the work on a task is complete, it is integrated into the whole system. After any such integration, all the unit tests in the system must pass.</a:t>
                      </a:r>
                      <a:endParaRPr lang="en-GB" sz="1600" b="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0"/>
                  </a:ext>
                </a:extLst>
              </a:tr>
              <a:tr h="830234">
                <a:tc>
                  <a:txBody>
                    <a:bodyPr/>
                    <a:lstStyle/>
                    <a:p>
                      <a:pPr algn="just">
                        <a:spcAft>
                          <a:spcPts val="0"/>
                        </a:spcAft>
                      </a:pPr>
                      <a:r>
                        <a:rPr lang="en-GB" sz="1600" dirty="0">
                          <a:latin typeface="Arial"/>
                          <a:cs typeface="Arial"/>
                        </a:rPr>
                        <a:t>Sustainable pace</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Large amounts of overtime are not considered acceptable as the net effect is often to reduce code quality and medium term productivity</a:t>
                      </a:r>
                      <a:endParaRPr lang="en-GB" sz="1600" dirty="0">
                        <a:solidFill>
                          <a:srgbClr val="000000"/>
                        </a:solidFill>
                        <a:latin typeface="Arial"/>
                        <a:ea typeface="Times New Roman"/>
                        <a:cs typeface="Arial"/>
                      </a:endParaRPr>
                    </a:p>
                  </a:txBody>
                  <a:tcPr marL="73025" marR="73025" marT="0" marB="9144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2260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dirty="0"/>
              <a:t>Requirements scenarios</a:t>
            </a:r>
          </a:p>
        </p:txBody>
      </p:sp>
      <p:sp>
        <p:nvSpPr>
          <p:cNvPr id="3" name="Content Placeholder 2"/>
          <p:cNvSpPr>
            <a:spLocks noGrp="1"/>
          </p:cNvSpPr>
          <p:nvPr>
            <p:ph idx="1"/>
          </p:nvPr>
        </p:nvSpPr>
        <p:spPr>
          <a:xfrm>
            <a:off x="1143000" y="1143000"/>
            <a:ext cx="7772400" cy="4114800"/>
          </a:xfrm>
        </p:spPr>
        <p:txBody>
          <a:bodyPr/>
          <a:lstStyle/>
          <a:p>
            <a:pPr>
              <a:buFont typeface="Wingdings" panose="05000000000000000000" pitchFamily="2" charset="2"/>
              <a:buChar char="q"/>
            </a:pPr>
            <a:r>
              <a:rPr lang="en-US" sz="2400" dirty="0"/>
              <a:t>In XP, a </a:t>
            </a:r>
            <a:r>
              <a:rPr lang="en-US" sz="2400" b="1" dirty="0"/>
              <a:t>customer</a:t>
            </a:r>
            <a:r>
              <a:rPr lang="en-US" sz="2400" dirty="0"/>
              <a:t> or user is part of the XP team and is responsible for making decisions on requirements.</a:t>
            </a:r>
          </a:p>
          <a:p>
            <a:pPr>
              <a:buFont typeface="Wingdings" panose="05000000000000000000" pitchFamily="2" charset="2"/>
              <a:buChar char="q"/>
            </a:pPr>
            <a:r>
              <a:rPr lang="en-US" sz="2400" dirty="0"/>
              <a:t>User requirements are expressed as </a:t>
            </a:r>
            <a:r>
              <a:rPr lang="en-US" sz="2400" b="1" dirty="0"/>
              <a:t>scenarios or user stories</a:t>
            </a:r>
            <a:r>
              <a:rPr lang="en-US" sz="2400" dirty="0"/>
              <a:t>.</a:t>
            </a:r>
          </a:p>
          <a:p>
            <a:pPr>
              <a:buFont typeface="Wingdings" panose="05000000000000000000" pitchFamily="2" charset="2"/>
              <a:buChar char="q"/>
            </a:pPr>
            <a:r>
              <a:rPr lang="en-US" sz="2400" dirty="0"/>
              <a:t>These are written on </a:t>
            </a:r>
            <a:r>
              <a:rPr lang="en-US" sz="2400" b="1" dirty="0"/>
              <a:t>cards</a:t>
            </a:r>
            <a:r>
              <a:rPr lang="en-US" sz="2400" dirty="0"/>
              <a:t> and the development team break them down into implementation </a:t>
            </a:r>
            <a:r>
              <a:rPr lang="en-US" sz="2400" b="1" dirty="0"/>
              <a:t>tasks</a:t>
            </a:r>
            <a:r>
              <a:rPr lang="en-US" sz="2400" dirty="0"/>
              <a:t>. These tasks are the basis of </a:t>
            </a:r>
            <a:r>
              <a:rPr lang="en-US" sz="2400" b="1" dirty="0"/>
              <a:t>schedule</a:t>
            </a:r>
            <a:r>
              <a:rPr lang="en-US" sz="2400" dirty="0"/>
              <a:t> and </a:t>
            </a:r>
            <a:r>
              <a:rPr lang="en-US" sz="2400" b="1" dirty="0"/>
              <a:t>cost</a:t>
            </a:r>
            <a:r>
              <a:rPr lang="en-US" sz="2400" dirty="0"/>
              <a:t> estimates.</a:t>
            </a:r>
          </a:p>
          <a:p>
            <a:pPr>
              <a:buFont typeface="Wingdings" panose="05000000000000000000" pitchFamily="2" charset="2"/>
              <a:buChar char="q"/>
            </a:pPr>
            <a:r>
              <a:rPr lang="en-US" sz="2400" dirty="0"/>
              <a:t>The customer chooses the stories for inclusion in the next release based on their </a:t>
            </a:r>
            <a:r>
              <a:rPr lang="en-US" sz="2400" b="1" dirty="0"/>
              <a:t>priorities</a:t>
            </a:r>
            <a:r>
              <a:rPr lang="en-US" sz="2400" dirty="0"/>
              <a:t> and the schedule estimates.</a:t>
            </a:r>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2464323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66800" y="0"/>
            <a:ext cx="7772400" cy="1143000"/>
          </a:xfrm>
        </p:spPr>
        <p:txBody>
          <a:bodyPr/>
          <a:lstStyle/>
          <a:p>
            <a:r>
              <a:rPr lang="en-US" dirty="0"/>
              <a:t>A ‘prescribing medication’ story</a:t>
            </a:r>
            <a:r>
              <a:rPr lang="en-GB" dirty="0"/>
              <a:t> </a:t>
            </a:r>
            <a:endParaRPr lang="en-US" dirty="0"/>
          </a:p>
        </p:txBody>
      </p:sp>
      <p:sp>
        <p:nvSpPr>
          <p:cNvPr id="3" name="Content Placeholder 2"/>
          <p:cNvSpPr>
            <a:spLocks noGrp="1"/>
          </p:cNvSpPr>
          <p:nvPr>
            <p:ph idx="1"/>
          </p:nvPr>
        </p:nvSpPr>
        <p:spPr>
          <a:xfrm>
            <a:off x="762000" y="1143000"/>
            <a:ext cx="7772400" cy="4114800"/>
          </a:xfrm>
        </p:spPr>
        <p:txBody>
          <a:bodyPr/>
          <a:lstStyle/>
          <a:p>
            <a:pPr algn="just">
              <a:buFont typeface="Wingdings" panose="05000000000000000000" pitchFamily="2" charset="2"/>
              <a:buChar char="q"/>
            </a:pPr>
            <a:r>
              <a:rPr lang="en-US" sz="2000" dirty="0"/>
              <a:t>Kate is a doctor who wishes to prescribe medication for a patient attending a clinic. The patient record is already displayed on her computer  so she clicks on the medication field and can select ‘</a:t>
            </a:r>
            <a:r>
              <a:rPr lang="en-US" sz="2000" b="1" dirty="0"/>
              <a:t>current medication</a:t>
            </a:r>
            <a:r>
              <a:rPr lang="en-US" sz="2000" dirty="0"/>
              <a:t>’, ‘</a:t>
            </a:r>
            <a:r>
              <a:rPr lang="en-US" sz="2000" b="1" dirty="0"/>
              <a:t>new medication</a:t>
            </a:r>
            <a:r>
              <a:rPr lang="en-US" sz="2000" dirty="0"/>
              <a:t>’ or ‘</a:t>
            </a:r>
            <a:r>
              <a:rPr lang="en-US" sz="2000" b="1" dirty="0"/>
              <a:t>formulary</a:t>
            </a:r>
            <a:r>
              <a:rPr lang="en-US" sz="2000" dirty="0"/>
              <a:t>’.</a:t>
            </a:r>
          </a:p>
          <a:p>
            <a:pPr algn="just">
              <a:buFont typeface="Wingdings" panose="05000000000000000000" pitchFamily="2" charset="2"/>
              <a:buChar char="q"/>
            </a:pPr>
            <a:r>
              <a:rPr lang="en-US" sz="2000" dirty="0"/>
              <a:t>If she selects ‘current medication’, the system asks her to check the dose. If she </a:t>
            </a:r>
            <a:r>
              <a:rPr lang="en-US" sz="2000" dirty="0">
                <a:solidFill>
                  <a:srgbClr val="FF0000"/>
                </a:solidFill>
              </a:rPr>
              <a:t>wants to change the dose</a:t>
            </a:r>
            <a:r>
              <a:rPr lang="en-US" sz="2000" dirty="0"/>
              <a:t>, she enters the dose and then confirms the prescription.</a:t>
            </a:r>
          </a:p>
          <a:p>
            <a:pPr algn="just">
              <a:buFont typeface="Wingdings" panose="05000000000000000000" pitchFamily="2" charset="2"/>
              <a:buChar char="q"/>
            </a:pPr>
            <a:r>
              <a:rPr lang="en-US" sz="2000" dirty="0"/>
              <a:t>If she chooses ‘new medication’, the system assumes that she knows which medication to prescribe. She types the first few letters of the drug name. The system displays a list of possible drugs starting with these letters. She chooses the required medication and the system responds by asking her to check that the medication selected is correct. She enters the dose and then confirms the prescription.</a:t>
            </a:r>
          </a:p>
        </p:txBody>
      </p:sp>
    </p:spTree>
    <p:extLst>
      <p:ext uri="{BB962C8B-B14F-4D97-AF65-F5344CB8AC3E}">
        <p14:creationId xmlns:p14="http://schemas.microsoft.com/office/powerpoint/2010/main" val="1817798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81000"/>
            <a:ext cx="7772400" cy="1143000"/>
          </a:xfrm>
        </p:spPr>
        <p:txBody>
          <a:bodyPr/>
          <a:lstStyle/>
          <a:p>
            <a:r>
              <a:rPr lang="en-US" dirty="0"/>
              <a:t>A ‘prescribing medication’ story</a:t>
            </a:r>
            <a:r>
              <a:rPr lang="en-GB" dirty="0"/>
              <a:t> </a:t>
            </a:r>
            <a:endParaRPr lang="en-US" dirty="0"/>
          </a:p>
        </p:txBody>
      </p:sp>
      <p:sp>
        <p:nvSpPr>
          <p:cNvPr id="3" name="Content Placeholder 2"/>
          <p:cNvSpPr>
            <a:spLocks noGrp="1"/>
          </p:cNvSpPr>
          <p:nvPr>
            <p:ph idx="1"/>
          </p:nvPr>
        </p:nvSpPr>
        <p:spPr>
          <a:xfrm>
            <a:off x="609600" y="1447800"/>
            <a:ext cx="7772400" cy="4114800"/>
          </a:xfrm>
        </p:spPr>
        <p:txBody>
          <a:bodyPr/>
          <a:lstStyle/>
          <a:p>
            <a:pPr algn="just">
              <a:buFont typeface="Wingdings" panose="05000000000000000000" pitchFamily="2" charset="2"/>
              <a:buChar char="q"/>
            </a:pPr>
            <a:r>
              <a:rPr lang="en-US" sz="2000" dirty="0"/>
              <a:t>If she chooses ‘formulary’, the system displays a search box for the approved formulary. She can then search for the drug required. She selects a drug and is asked to check that the medication is correct. She enters the dose and then confirms the prescription.</a:t>
            </a:r>
          </a:p>
          <a:p>
            <a:pPr algn="just">
              <a:buFont typeface="Wingdings" panose="05000000000000000000" pitchFamily="2" charset="2"/>
              <a:buChar char="q"/>
            </a:pPr>
            <a:r>
              <a:rPr lang="en-US" sz="2000" dirty="0"/>
              <a:t>The system always checks that the dose is within the approved range. If it isn’t, Kate is asked to change the dose. After Kate has confirmed the prescription, it will be displayed for checking. She either clicks ‘OK’ or ‘Change’. If she clicks ‘OK’, the prescription is recorded on the database. If she clicks on ‘Change’, she reenters the ‘Prescribing medication’ process.</a:t>
            </a:r>
          </a:p>
          <a:p>
            <a:pPr algn="just">
              <a:buFont typeface="Wingdings" panose="05000000000000000000" pitchFamily="2" charset="2"/>
              <a:buChar char="q"/>
            </a:pPr>
            <a:endParaRPr lang="en-US" sz="2000" dirty="0"/>
          </a:p>
        </p:txBody>
      </p:sp>
    </p:spTree>
    <p:extLst>
      <p:ext uri="{BB962C8B-B14F-4D97-AF65-F5344CB8AC3E}">
        <p14:creationId xmlns:p14="http://schemas.microsoft.com/office/powerpoint/2010/main" val="17983061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sz="3200" dirty="0"/>
              <a:t>Examples of task cards for prescribing medication </a:t>
            </a:r>
          </a:p>
        </p:txBody>
      </p:sp>
      <p:pic>
        <p:nvPicPr>
          <p:cNvPr id="4" name="Picture 3"/>
          <p:cNvPicPr>
            <a:picLocks noChangeAspect="1"/>
          </p:cNvPicPr>
          <p:nvPr/>
        </p:nvPicPr>
        <p:blipFill>
          <a:blip r:embed="rId2" cstate="print"/>
          <a:stretch>
            <a:fillRect/>
          </a:stretch>
        </p:blipFill>
        <p:spPr>
          <a:xfrm>
            <a:off x="1110104" y="1066800"/>
            <a:ext cx="6738496" cy="4597964"/>
          </a:xfrm>
          <a:prstGeom prst="rect">
            <a:avLst/>
          </a:prstGeom>
        </p:spPr>
      </p:pic>
    </p:spTree>
    <p:extLst>
      <p:ext uri="{BB962C8B-B14F-4D97-AF65-F5344CB8AC3E}">
        <p14:creationId xmlns:p14="http://schemas.microsoft.com/office/powerpoint/2010/main" val="4183859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XP and change</a:t>
            </a:r>
          </a:p>
        </p:txBody>
      </p:sp>
      <p:sp>
        <p:nvSpPr>
          <p:cNvPr id="3" name="Content Placeholder 2"/>
          <p:cNvSpPr>
            <a:spLocks noGrp="1"/>
          </p:cNvSpPr>
          <p:nvPr>
            <p:ph idx="1"/>
          </p:nvPr>
        </p:nvSpPr>
        <p:spPr>
          <a:xfrm>
            <a:off x="838200" y="1600200"/>
            <a:ext cx="7772400" cy="4114800"/>
          </a:xfrm>
        </p:spPr>
        <p:txBody>
          <a:bodyPr/>
          <a:lstStyle/>
          <a:p>
            <a:pPr algn="just">
              <a:lnSpc>
                <a:spcPct val="90000"/>
              </a:lnSpc>
              <a:buFont typeface="Wingdings" panose="05000000000000000000" pitchFamily="2" charset="2"/>
              <a:buChar char="q"/>
            </a:pPr>
            <a:r>
              <a:rPr lang="en-US" sz="2400" dirty="0"/>
              <a:t>Conventional wisdom in software engineering is to design for change. It is worth spending time and effort anticipating changes as this reduces costs later in the life cycle.</a:t>
            </a:r>
          </a:p>
          <a:p>
            <a:pPr algn="just">
              <a:lnSpc>
                <a:spcPct val="90000"/>
              </a:lnSpc>
              <a:buFont typeface="Wingdings" panose="05000000000000000000" pitchFamily="2" charset="2"/>
              <a:buChar char="q"/>
            </a:pPr>
            <a:r>
              <a:rPr lang="en-US" sz="2400" dirty="0"/>
              <a:t>XP, however, maintains that this is not worthwhile as changes cannot be constantly expected.</a:t>
            </a:r>
          </a:p>
          <a:p>
            <a:pPr algn="just">
              <a:lnSpc>
                <a:spcPct val="90000"/>
              </a:lnSpc>
              <a:buFont typeface="Wingdings" panose="05000000000000000000" pitchFamily="2" charset="2"/>
              <a:buChar char="q"/>
            </a:pPr>
            <a:r>
              <a:rPr lang="en-US" sz="2400" dirty="0"/>
              <a:t>Rather, it proposes constant code improvement (refactoring) to make changes easier when they have to be implemented.</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3195346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US" dirty="0"/>
              <a:t>Refactoring</a:t>
            </a:r>
          </a:p>
        </p:txBody>
      </p:sp>
      <p:sp>
        <p:nvSpPr>
          <p:cNvPr id="3" name="Content Placeholder 2"/>
          <p:cNvSpPr>
            <a:spLocks noGrp="1"/>
          </p:cNvSpPr>
          <p:nvPr>
            <p:ph idx="1"/>
          </p:nvPr>
        </p:nvSpPr>
        <p:spPr>
          <a:xfrm>
            <a:off x="1173163" y="1524000"/>
            <a:ext cx="7772400" cy="4114800"/>
          </a:xfrm>
        </p:spPr>
        <p:txBody>
          <a:bodyPr/>
          <a:lstStyle/>
          <a:p>
            <a:pPr algn="just">
              <a:buFont typeface="Wingdings" panose="05000000000000000000" pitchFamily="2" charset="2"/>
              <a:buChar char="q"/>
            </a:pPr>
            <a:r>
              <a:rPr lang="en-US" sz="2400" dirty="0"/>
              <a:t>Programming team look for possible software improvements and make these improvements even where there is no immediate need for them.</a:t>
            </a:r>
          </a:p>
          <a:p>
            <a:pPr algn="just">
              <a:buFont typeface="Wingdings" panose="05000000000000000000" pitchFamily="2" charset="2"/>
              <a:buChar char="q"/>
            </a:pPr>
            <a:r>
              <a:rPr lang="en-US" sz="2400" dirty="0"/>
              <a:t>This improves the understandability of the software and so reduces the need for documentation.</a:t>
            </a:r>
          </a:p>
          <a:p>
            <a:pPr algn="just">
              <a:buFont typeface="Wingdings" panose="05000000000000000000" pitchFamily="2" charset="2"/>
              <a:buChar char="q"/>
            </a:pPr>
            <a:r>
              <a:rPr lang="en-US" sz="2400" dirty="0"/>
              <a:t>Changes are easier to make because the code is well-structured and clear.</a:t>
            </a:r>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104542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Code Refactoring </a:t>
            </a:r>
          </a:p>
        </p:txBody>
      </p:sp>
      <p:sp>
        <p:nvSpPr>
          <p:cNvPr id="6" name="Rectangle 5"/>
          <p:cNvSpPr/>
          <p:nvPr/>
        </p:nvSpPr>
        <p:spPr>
          <a:xfrm>
            <a:off x="685800" y="1600200"/>
            <a:ext cx="3581400" cy="4524315"/>
          </a:xfrm>
          <a:prstGeom prst="rect">
            <a:avLst/>
          </a:prstGeom>
        </p:spPr>
        <p:txBody>
          <a:bodyPr wrap="square">
            <a:spAutoFit/>
          </a:bodyPr>
          <a:lstStyle/>
          <a:p>
            <a:r>
              <a:rPr lang="en-US" dirty="0"/>
              <a:t>extern </a:t>
            </a:r>
            <a:r>
              <a:rPr lang="en-US" dirty="0" err="1"/>
              <a:t>int</a:t>
            </a:r>
            <a:r>
              <a:rPr lang="en-US" dirty="0"/>
              <a:t> </a:t>
            </a:r>
            <a:r>
              <a:rPr lang="en-US" dirty="0" err="1"/>
              <a:t>array_a</a:t>
            </a:r>
            <a:r>
              <a:rPr lang="en-US" dirty="0"/>
              <a:t>[];</a:t>
            </a:r>
          </a:p>
          <a:p>
            <a:r>
              <a:rPr lang="en-US" dirty="0"/>
              <a:t>extern </a:t>
            </a:r>
            <a:r>
              <a:rPr lang="en-US" dirty="0" err="1"/>
              <a:t>int</a:t>
            </a:r>
            <a:r>
              <a:rPr lang="en-US" dirty="0"/>
              <a:t> </a:t>
            </a:r>
            <a:r>
              <a:rPr lang="en-US" dirty="0" err="1"/>
              <a:t>array_b</a:t>
            </a:r>
            <a:r>
              <a:rPr lang="en-US" dirty="0"/>
              <a:t>[];</a:t>
            </a:r>
          </a:p>
          <a:p>
            <a:r>
              <a:rPr lang="en-US" dirty="0"/>
              <a:t> </a:t>
            </a:r>
          </a:p>
          <a:p>
            <a:r>
              <a:rPr lang="en-US" dirty="0" err="1"/>
              <a:t>int</a:t>
            </a:r>
            <a:r>
              <a:rPr lang="en-US" dirty="0"/>
              <a:t> </a:t>
            </a:r>
            <a:r>
              <a:rPr lang="en-US" dirty="0" err="1"/>
              <a:t>sum_a</a:t>
            </a:r>
            <a:r>
              <a:rPr lang="en-US" dirty="0"/>
              <a:t> = 0; </a:t>
            </a:r>
          </a:p>
          <a:p>
            <a:endParaRPr lang="en-US" dirty="0"/>
          </a:p>
          <a:p>
            <a:r>
              <a:rPr lang="en-US" dirty="0"/>
              <a:t>for (</a:t>
            </a:r>
            <a:r>
              <a:rPr lang="en-US" dirty="0" err="1"/>
              <a:t>int</a:t>
            </a:r>
            <a:r>
              <a:rPr lang="en-US" dirty="0"/>
              <a:t> </a:t>
            </a:r>
            <a:r>
              <a:rPr lang="en-US" dirty="0" err="1"/>
              <a:t>i</a:t>
            </a:r>
            <a:r>
              <a:rPr lang="en-US" dirty="0"/>
              <a:t> = 0; </a:t>
            </a:r>
            <a:r>
              <a:rPr lang="en-US" dirty="0" err="1"/>
              <a:t>i</a:t>
            </a:r>
            <a:r>
              <a:rPr lang="en-US" dirty="0"/>
              <a:t> &lt; 4; </a:t>
            </a:r>
            <a:r>
              <a:rPr lang="en-US" dirty="0" err="1"/>
              <a:t>i</a:t>
            </a:r>
            <a:r>
              <a:rPr lang="en-US" dirty="0"/>
              <a:t>++)</a:t>
            </a:r>
          </a:p>
          <a:p>
            <a:r>
              <a:rPr lang="en-US" dirty="0"/>
              <a:t>   </a:t>
            </a:r>
            <a:r>
              <a:rPr lang="en-US" dirty="0" err="1"/>
              <a:t>sum_a</a:t>
            </a:r>
            <a:r>
              <a:rPr lang="en-US" dirty="0"/>
              <a:t> += </a:t>
            </a:r>
            <a:r>
              <a:rPr lang="en-US" dirty="0" err="1"/>
              <a:t>array_a</a:t>
            </a:r>
            <a:r>
              <a:rPr lang="en-US" dirty="0"/>
              <a:t>[</a:t>
            </a:r>
            <a:r>
              <a:rPr lang="en-US" dirty="0" err="1"/>
              <a:t>i</a:t>
            </a:r>
            <a:r>
              <a:rPr lang="en-US" dirty="0"/>
              <a:t>];</a:t>
            </a:r>
          </a:p>
          <a:p>
            <a:endParaRPr lang="en-US" dirty="0"/>
          </a:p>
          <a:p>
            <a:r>
              <a:rPr lang="en-US" dirty="0" err="1"/>
              <a:t>int</a:t>
            </a:r>
            <a:r>
              <a:rPr lang="en-US" dirty="0"/>
              <a:t> </a:t>
            </a:r>
            <a:r>
              <a:rPr lang="en-US" dirty="0" err="1"/>
              <a:t>average_a</a:t>
            </a:r>
            <a:r>
              <a:rPr lang="en-US" dirty="0"/>
              <a:t> = </a:t>
            </a:r>
            <a:r>
              <a:rPr lang="en-US" dirty="0" err="1"/>
              <a:t>sum_a</a:t>
            </a:r>
            <a:r>
              <a:rPr lang="en-US" dirty="0"/>
              <a:t> / 4;</a:t>
            </a:r>
          </a:p>
          <a:p>
            <a:r>
              <a:rPr lang="en-US" dirty="0"/>
              <a:t> </a:t>
            </a:r>
          </a:p>
          <a:p>
            <a:r>
              <a:rPr lang="en-US" dirty="0" err="1"/>
              <a:t>int</a:t>
            </a:r>
            <a:r>
              <a:rPr lang="en-US" dirty="0"/>
              <a:t> </a:t>
            </a:r>
            <a:r>
              <a:rPr lang="en-US" dirty="0" err="1"/>
              <a:t>sum_b</a:t>
            </a:r>
            <a:r>
              <a:rPr lang="en-US" dirty="0"/>
              <a:t> = 0;</a:t>
            </a:r>
          </a:p>
          <a:p>
            <a:endParaRPr lang="en-US" dirty="0"/>
          </a:p>
          <a:p>
            <a:r>
              <a:rPr lang="en-US" dirty="0"/>
              <a:t>for (</a:t>
            </a:r>
            <a:r>
              <a:rPr lang="en-US" dirty="0" err="1"/>
              <a:t>int</a:t>
            </a:r>
            <a:r>
              <a:rPr lang="en-US" dirty="0"/>
              <a:t> </a:t>
            </a:r>
            <a:r>
              <a:rPr lang="en-US" dirty="0" err="1"/>
              <a:t>i</a:t>
            </a:r>
            <a:r>
              <a:rPr lang="en-US" dirty="0"/>
              <a:t> = 0; </a:t>
            </a:r>
            <a:r>
              <a:rPr lang="en-US" dirty="0" err="1"/>
              <a:t>i</a:t>
            </a:r>
            <a:r>
              <a:rPr lang="en-US" dirty="0"/>
              <a:t> &lt; 4; </a:t>
            </a:r>
            <a:r>
              <a:rPr lang="en-US" dirty="0" err="1"/>
              <a:t>i</a:t>
            </a:r>
            <a:r>
              <a:rPr lang="en-US" dirty="0"/>
              <a:t>++)</a:t>
            </a:r>
          </a:p>
          <a:p>
            <a:r>
              <a:rPr lang="en-US" dirty="0"/>
              <a:t>   </a:t>
            </a:r>
            <a:r>
              <a:rPr lang="en-US" dirty="0" err="1"/>
              <a:t>sum_b</a:t>
            </a:r>
            <a:r>
              <a:rPr lang="en-US" dirty="0"/>
              <a:t> += </a:t>
            </a:r>
            <a:r>
              <a:rPr lang="en-US" dirty="0" err="1"/>
              <a:t>array_b</a:t>
            </a:r>
            <a:r>
              <a:rPr lang="en-US" dirty="0"/>
              <a:t>[</a:t>
            </a:r>
            <a:r>
              <a:rPr lang="en-US" dirty="0" err="1"/>
              <a:t>i</a:t>
            </a:r>
            <a:r>
              <a:rPr lang="en-US" dirty="0"/>
              <a:t>];</a:t>
            </a:r>
          </a:p>
          <a:p>
            <a:endParaRPr lang="en-US" dirty="0"/>
          </a:p>
          <a:p>
            <a:r>
              <a:rPr lang="en-US" dirty="0" err="1"/>
              <a:t>int</a:t>
            </a:r>
            <a:r>
              <a:rPr lang="en-US" dirty="0"/>
              <a:t> </a:t>
            </a:r>
            <a:r>
              <a:rPr lang="en-US" dirty="0" err="1"/>
              <a:t>average_b</a:t>
            </a:r>
            <a:r>
              <a:rPr lang="en-US" dirty="0"/>
              <a:t> = </a:t>
            </a:r>
            <a:r>
              <a:rPr lang="en-US" dirty="0" err="1"/>
              <a:t>sum_b</a:t>
            </a:r>
            <a:r>
              <a:rPr lang="en-US" dirty="0"/>
              <a:t> / 4;</a:t>
            </a:r>
          </a:p>
        </p:txBody>
      </p:sp>
      <p:sp>
        <p:nvSpPr>
          <p:cNvPr id="7" name="Rectangle 6"/>
          <p:cNvSpPr/>
          <p:nvPr/>
        </p:nvSpPr>
        <p:spPr>
          <a:xfrm>
            <a:off x="4419600" y="1600200"/>
            <a:ext cx="4572000" cy="2031325"/>
          </a:xfrm>
          <a:prstGeom prst="rect">
            <a:avLst/>
          </a:prstGeom>
        </p:spPr>
        <p:txBody>
          <a:bodyPr>
            <a:spAutoFit/>
          </a:bodyPr>
          <a:lstStyle/>
          <a:p>
            <a:r>
              <a:rPr lang="en-US" dirty="0" err="1"/>
              <a:t>int</a:t>
            </a:r>
            <a:r>
              <a:rPr lang="en-US" dirty="0"/>
              <a:t> </a:t>
            </a:r>
            <a:r>
              <a:rPr lang="en-US" dirty="0" err="1"/>
              <a:t>calc_average_of_four</a:t>
            </a:r>
            <a:r>
              <a:rPr lang="en-US" dirty="0"/>
              <a:t>(</a:t>
            </a:r>
            <a:r>
              <a:rPr lang="en-US" dirty="0" err="1"/>
              <a:t>int</a:t>
            </a:r>
            <a:r>
              <a:rPr lang="en-US" dirty="0"/>
              <a:t>* array) {</a:t>
            </a:r>
          </a:p>
          <a:p>
            <a:r>
              <a:rPr lang="en-US" dirty="0"/>
              <a:t>   </a:t>
            </a:r>
            <a:r>
              <a:rPr lang="en-US" dirty="0" err="1"/>
              <a:t>int</a:t>
            </a:r>
            <a:r>
              <a:rPr lang="en-US" dirty="0"/>
              <a:t> sum = 0;</a:t>
            </a:r>
          </a:p>
          <a:p>
            <a:r>
              <a:rPr lang="en-US" dirty="0"/>
              <a:t>   for (</a:t>
            </a:r>
            <a:r>
              <a:rPr lang="en-US" dirty="0" err="1"/>
              <a:t>int</a:t>
            </a:r>
            <a:r>
              <a:rPr lang="en-US" dirty="0"/>
              <a:t> </a:t>
            </a:r>
            <a:r>
              <a:rPr lang="en-US" dirty="0" err="1"/>
              <a:t>i</a:t>
            </a:r>
            <a:r>
              <a:rPr lang="en-US" dirty="0"/>
              <a:t> = 0; </a:t>
            </a:r>
            <a:r>
              <a:rPr lang="en-US" dirty="0" err="1"/>
              <a:t>i</a:t>
            </a:r>
            <a:r>
              <a:rPr lang="en-US" dirty="0"/>
              <a:t> &lt; 4; </a:t>
            </a:r>
            <a:r>
              <a:rPr lang="en-US" dirty="0" err="1"/>
              <a:t>i</a:t>
            </a:r>
            <a:r>
              <a:rPr lang="en-US" dirty="0"/>
              <a:t>++)</a:t>
            </a:r>
          </a:p>
          <a:p>
            <a:r>
              <a:rPr lang="en-US" dirty="0"/>
              <a:t>       sum += array[</a:t>
            </a:r>
            <a:r>
              <a:rPr lang="en-US" dirty="0" err="1"/>
              <a:t>i</a:t>
            </a:r>
            <a:r>
              <a:rPr lang="en-US" dirty="0"/>
              <a:t>];</a:t>
            </a:r>
          </a:p>
          <a:p>
            <a:endParaRPr lang="en-US" dirty="0"/>
          </a:p>
          <a:p>
            <a:r>
              <a:rPr lang="en-US" dirty="0"/>
              <a:t>   return sum / 4;</a:t>
            </a:r>
          </a:p>
          <a:p>
            <a:r>
              <a:rPr lang="en-US" dirty="0"/>
              <a:t>}</a:t>
            </a:r>
          </a:p>
        </p:txBody>
      </p:sp>
      <p:sp>
        <p:nvSpPr>
          <p:cNvPr id="8" name="Rectangle 7"/>
          <p:cNvSpPr/>
          <p:nvPr/>
        </p:nvSpPr>
        <p:spPr>
          <a:xfrm>
            <a:off x="4419600" y="4191000"/>
            <a:ext cx="4572000" cy="1477328"/>
          </a:xfrm>
          <a:prstGeom prst="rect">
            <a:avLst/>
          </a:prstGeom>
        </p:spPr>
        <p:txBody>
          <a:bodyPr>
            <a:spAutoFit/>
          </a:bodyPr>
          <a:lstStyle/>
          <a:p>
            <a:r>
              <a:rPr lang="en-US" dirty="0"/>
              <a:t>extern </a:t>
            </a:r>
            <a:r>
              <a:rPr lang="en-US" dirty="0" err="1"/>
              <a:t>int</a:t>
            </a:r>
            <a:r>
              <a:rPr lang="en-US" dirty="0"/>
              <a:t> array1[];</a:t>
            </a:r>
          </a:p>
          <a:p>
            <a:r>
              <a:rPr lang="en-US" dirty="0"/>
              <a:t>extern </a:t>
            </a:r>
            <a:r>
              <a:rPr lang="en-US" dirty="0" err="1"/>
              <a:t>int</a:t>
            </a:r>
            <a:r>
              <a:rPr lang="en-US" dirty="0"/>
              <a:t> array2[];</a:t>
            </a:r>
          </a:p>
          <a:p>
            <a:endParaRPr lang="en-US" dirty="0"/>
          </a:p>
          <a:p>
            <a:r>
              <a:rPr lang="en-US" dirty="0" err="1"/>
              <a:t>int</a:t>
            </a:r>
            <a:r>
              <a:rPr lang="en-US" dirty="0"/>
              <a:t> average1 = </a:t>
            </a:r>
            <a:r>
              <a:rPr lang="en-US" dirty="0" err="1"/>
              <a:t>calcAverage</a:t>
            </a:r>
            <a:r>
              <a:rPr lang="en-US" dirty="0"/>
              <a:t>(array1);</a:t>
            </a:r>
          </a:p>
          <a:p>
            <a:r>
              <a:rPr lang="en-US" dirty="0" err="1"/>
              <a:t>int</a:t>
            </a:r>
            <a:r>
              <a:rPr lang="en-US" dirty="0"/>
              <a:t> average2 = </a:t>
            </a:r>
            <a:r>
              <a:rPr lang="en-US" dirty="0" err="1"/>
              <a:t>calcAverage</a:t>
            </a:r>
            <a:r>
              <a:rPr lang="en-US" dirty="0"/>
              <a:t>(array2);</a:t>
            </a:r>
          </a:p>
        </p:txBody>
      </p:sp>
    </p:spTree>
    <p:extLst>
      <p:ext uri="{BB962C8B-B14F-4D97-AF65-F5344CB8AC3E}">
        <p14:creationId xmlns:p14="http://schemas.microsoft.com/office/powerpoint/2010/main" val="1231299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refactoring</a:t>
            </a:r>
          </a:p>
        </p:txBody>
      </p:sp>
      <p:sp>
        <p:nvSpPr>
          <p:cNvPr id="3" name="Content Placeholder 2"/>
          <p:cNvSpPr>
            <a:spLocks noGrp="1"/>
          </p:cNvSpPr>
          <p:nvPr>
            <p:ph idx="1"/>
          </p:nvPr>
        </p:nvSpPr>
        <p:spPr>
          <a:xfrm>
            <a:off x="838200" y="1447800"/>
            <a:ext cx="7772400" cy="4114800"/>
          </a:xfrm>
        </p:spPr>
        <p:txBody>
          <a:bodyPr/>
          <a:lstStyle/>
          <a:p>
            <a:pPr algn="just">
              <a:buFont typeface="Wingdings" panose="05000000000000000000" pitchFamily="2" charset="2"/>
              <a:buChar char="q"/>
            </a:pPr>
            <a:r>
              <a:rPr lang="en-US" sz="2400" dirty="0"/>
              <a:t>Renaming attributes and methods to make them easier to understand.</a:t>
            </a:r>
          </a:p>
          <a:p>
            <a:pPr algn="just">
              <a:buFont typeface="Wingdings" panose="05000000000000000000" pitchFamily="2" charset="2"/>
              <a:buChar char="q"/>
            </a:pPr>
            <a:r>
              <a:rPr lang="en-US" sz="2400" dirty="0"/>
              <a:t>Duplicate code</a:t>
            </a:r>
          </a:p>
          <a:p>
            <a:pPr lvl="1" algn="just">
              <a:buFont typeface="Wingdings" panose="05000000000000000000" pitchFamily="2" charset="2"/>
              <a:buChar char="q"/>
            </a:pPr>
            <a:r>
              <a:rPr lang="en-US" sz="2400" dirty="0"/>
              <a:t>Same code structure at more than one places</a:t>
            </a:r>
          </a:p>
          <a:p>
            <a:pPr lvl="1" algn="just">
              <a:buFont typeface="Wingdings" panose="05000000000000000000" pitchFamily="2" charset="2"/>
              <a:buChar char="q"/>
            </a:pPr>
            <a:r>
              <a:rPr lang="en-US" sz="2400" dirty="0"/>
              <a:t>Extract method and invoke the code from both places</a:t>
            </a:r>
          </a:p>
          <a:p>
            <a:pPr algn="just">
              <a:buFont typeface="Wingdings" panose="05000000000000000000" pitchFamily="2" charset="2"/>
              <a:buChar char="q"/>
            </a:pPr>
            <a:r>
              <a:rPr lang="en-US" sz="2400" dirty="0"/>
              <a:t>Low coupling and high cohesion</a:t>
            </a:r>
          </a:p>
          <a:p>
            <a:pPr marL="0" indent="0" algn="just">
              <a:buNone/>
            </a:pPr>
            <a:endParaRPr lang="en-US" sz="2400" dirty="0"/>
          </a:p>
        </p:txBody>
      </p:sp>
      <p:grpSp>
        <p:nvGrpSpPr>
          <p:cNvPr id="4" name="Group 4"/>
          <p:cNvGrpSpPr>
            <a:grpSpLocks/>
          </p:cNvGrpSpPr>
          <p:nvPr/>
        </p:nvGrpSpPr>
        <p:grpSpPr bwMode="auto">
          <a:xfrm>
            <a:off x="1044575" y="4852988"/>
            <a:ext cx="1676400" cy="1066800"/>
            <a:chOff x="658" y="2403"/>
            <a:chExt cx="1056" cy="672"/>
          </a:xfrm>
        </p:grpSpPr>
        <p:sp>
          <p:nvSpPr>
            <p:cNvPr id="5" name="Rectangle 4"/>
            <p:cNvSpPr>
              <a:spLocks noChangeArrowheads="1"/>
            </p:cNvSpPr>
            <p:nvPr/>
          </p:nvSpPr>
          <p:spPr bwMode="auto">
            <a:xfrm>
              <a:off x="658" y="2403"/>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6" name="Rectangle 5"/>
            <p:cNvSpPr>
              <a:spLocks noChangeArrowheads="1"/>
            </p:cNvSpPr>
            <p:nvPr/>
          </p:nvSpPr>
          <p:spPr bwMode="auto">
            <a:xfrm>
              <a:off x="658" y="2835"/>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7" name="Rectangle 6"/>
            <p:cNvSpPr>
              <a:spLocks noChangeArrowheads="1"/>
            </p:cNvSpPr>
            <p:nvPr/>
          </p:nvSpPr>
          <p:spPr bwMode="auto">
            <a:xfrm>
              <a:off x="1282" y="2835"/>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8" name="Rectangle 7"/>
            <p:cNvSpPr>
              <a:spLocks noChangeArrowheads="1"/>
            </p:cNvSpPr>
            <p:nvPr/>
          </p:nvSpPr>
          <p:spPr bwMode="auto">
            <a:xfrm>
              <a:off x="1282" y="2403"/>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grpSp>
      <p:sp>
        <p:nvSpPr>
          <p:cNvPr id="9" name="Text Box 20"/>
          <p:cNvSpPr txBox="1">
            <a:spLocks noChangeArrowheads="1"/>
          </p:cNvSpPr>
          <p:nvPr/>
        </p:nvSpPr>
        <p:spPr bwMode="auto">
          <a:xfrm>
            <a:off x="815975" y="6002338"/>
            <a:ext cx="2162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lgn="ctr">
              <a:spcBef>
                <a:spcPct val="0"/>
              </a:spcBef>
              <a:buClrTx/>
              <a:buSzTx/>
              <a:buFontTx/>
              <a:buNone/>
            </a:pPr>
            <a:r>
              <a:rPr lang="en-US" altLang="en-US" sz="2000"/>
              <a:t>No dependencies</a:t>
            </a:r>
          </a:p>
        </p:txBody>
      </p:sp>
      <p:sp>
        <p:nvSpPr>
          <p:cNvPr id="10" name="Text Box 21"/>
          <p:cNvSpPr txBox="1">
            <a:spLocks noChangeArrowheads="1"/>
          </p:cNvSpPr>
          <p:nvPr/>
        </p:nvSpPr>
        <p:spPr bwMode="auto">
          <a:xfrm>
            <a:off x="3449638" y="5978525"/>
            <a:ext cx="22288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lgn="ctr">
              <a:spcBef>
                <a:spcPct val="0"/>
              </a:spcBef>
              <a:buClrTx/>
              <a:buSzTx/>
              <a:buFontTx/>
              <a:buNone/>
            </a:pPr>
            <a:r>
              <a:rPr lang="en-US" altLang="en-US" sz="1800"/>
              <a:t>Loosely coupled</a:t>
            </a:r>
          </a:p>
          <a:p>
            <a:pPr algn="ctr">
              <a:spcBef>
                <a:spcPct val="0"/>
              </a:spcBef>
              <a:buClrTx/>
              <a:buSzTx/>
              <a:buFontTx/>
              <a:buNone/>
            </a:pPr>
            <a:r>
              <a:rPr lang="en-US" altLang="en-US" sz="1800"/>
              <a:t>some dependencies</a:t>
            </a:r>
          </a:p>
        </p:txBody>
      </p:sp>
      <p:grpSp>
        <p:nvGrpSpPr>
          <p:cNvPr id="11" name="Group 11"/>
          <p:cNvGrpSpPr>
            <a:grpSpLocks/>
          </p:cNvGrpSpPr>
          <p:nvPr/>
        </p:nvGrpSpPr>
        <p:grpSpPr bwMode="auto">
          <a:xfrm>
            <a:off x="3711575" y="4852988"/>
            <a:ext cx="1676400" cy="1066800"/>
            <a:chOff x="2338" y="2283"/>
            <a:chExt cx="1056" cy="672"/>
          </a:xfrm>
        </p:grpSpPr>
        <p:sp>
          <p:nvSpPr>
            <p:cNvPr id="12" name="Rectangle 12"/>
            <p:cNvSpPr>
              <a:spLocks noChangeArrowheads="1"/>
            </p:cNvSpPr>
            <p:nvPr/>
          </p:nvSpPr>
          <p:spPr bwMode="auto">
            <a:xfrm>
              <a:off x="2338" y="2283"/>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3" name="Rectangle 13"/>
            <p:cNvSpPr>
              <a:spLocks noChangeArrowheads="1"/>
            </p:cNvSpPr>
            <p:nvPr/>
          </p:nvSpPr>
          <p:spPr bwMode="auto">
            <a:xfrm>
              <a:off x="2338" y="2715"/>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4" name="Rectangle 14"/>
            <p:cNvSpPr>
              <a:spLocks noChangeArrowheads="1"/>
            </p:cNvSpPr>
            <p:nvPr/>
          </p:nvSpPr>
          <p:spPr bwMode="auto">
            <a:xfrm>
              <a:off x="2962" y="2715"/>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5" name="Rectangle 15"/>
            <p:cNvSpPr>
              <a:spLocks noChangeArrowheads="1"/>
            </p:cNvSpPr>
            <p:nvPr/>
          </p:nvSpPr>
          <p:spPr bwMode="auto">
            <a:xfrm>
              <a:off x="2962" y="2283"/>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6" name="Line 22"/>
            <p:cNvSpPr>
              <a:spLocks noChangeShapeType="1"/>
            </p:cNvSpPr>
            <p:nvPr/>
          </p:nvSpPr>
          <p:spPr bwMode="auto">
            <a:xfrm>
              <a:off x="2770" y="2379"/>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 name="Line 23"/>
            <p:cNvSpPr>
              <a:spLocks noChangeShapeType="1"/>
            </p:cNvSpPr>
            <p:nvPr/>
          </p:nvSpPr>
          <p:spPr bwMode="auto">
            <a:xfrm>
              <a:off x="2434" y="2523"/>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 name="Line 24"/>
            <p:cNvSpPr>
              <a:spLocks noChangeShapeType="1"/>
            </p:cNvSpPr>
            <p:nvPr/>
          </p:nvSpPr>
          <p:spPr bwMode="auto">
            <a:xfrm>
              <a:off x="3154" y="2523"/>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 name="Line 25"/>
            <p:cNvSpPr>
              <a:spLocks noChangeShapeType="1"/>
            </p:cNvSpPr>
            <p:nvPr/>
          </p:nvSpPr>
          <p:spPr bwMode="auto">
            <a:xfrm flipV="1">
              <a:off x="2578" y="2523"/>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 name="Line 26"/>
            <p:cNvSpPr>
              <a:spLocks noChangeShapeType="1"/>
            </p:cNvSpPr>
            <p:nvPr/>
          </p:nvSpPr>
          <p:spPr bwMode="auto">
            <a:xfrm flipV="1">
              <a:off x="3298" y="2523"/>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 name="Line 27"/>
            <p:cNvSpPr>
              <a:spLocks noChangeShapeType="1"/>
            </p:cNvSpPr>
            <p:nvPr/>
          </p:nvSpPr>
          <p:spPr bwMode="auto">
            <a:xfrm flipH="1">
              <a:off x="2770" y="2859"/>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2" name="Group 22"/>
          <p:cNvGrpSpPr>
            <a:grpSpLocks/>
          </p:cNvGrpSpPr>
          <p:nvPr/>
        </p:nvGrpSpPr>
        <p:grpSpPr bwMode="auto">
          <a:xfrm>
            <a:off x="6507163" y="4852988"/>
            <a:ext cx="1676400" cy="1066800"/>
            <a:chOff x="4134" y="2327"/>
            <a:chExt cx="1056" cy="672"/>
          </a:xfrm>
        </p:grpSpPr>
        <p:sp>
          <p:nvSpPr>
            <p:cNvPr id="23" name="Rectangle 16"/>
            <p:cNvSpPr>
              <a:spLocks noChangeArrowheads="1"/>
            </p:cNvSpPr>
            <p:nvPr/>
          </p:nvSpPr>
          <p:spPr bwMode="auto">
            <a:xfrm>
              <a:off x="4134" y="2327"/>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24" name="Rectangle 17"/>
            <p:cNvSpPr>
              <a:spLocks noChangeArrowheads="1"/>
            </p:cNvSpPr>
            <p:nvPr/>
          </p:nvSpPr>
          <p:spPr bwMode="auto">
            <a:xfrm>
              <a:off x="4134" y="2759"/>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25" name="Rectangle 18"/>
            <p:cNvSpPr>
              <a:spLocks noChangeArrowheads="1"/>
            </p:cNvSpPr>
            <p:nvPr/>
          </p:nvSpPr>
          <p:spPr bwMode="auto">
            <a:xfrm>
              <a:off x="4758" y="2759"/>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26" name="Rectangle 19"/>
            <p:cNvSpPr>
              <a:spLocks noChangeArrowheads="1"/>
            </p:cNvSpPr>
            <p:nvPr/>
          </p:nvSpPr>
          <p:spPr bwMode="auto">
            <a:xfrm>
              <a:off x="4758" y="2327"/>
              <a:ext cx="432" cy="24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27" name="Line 28"/>
            <p:cNvSpPr>
              <a:spLocks noChangeShapeType="1"/>
            </p:cNvSpPr>
            <p:nvPr/>
          </p:nvSpPr>
          <p:spPr bwMode="auto">
            <a:xfrm flipV="1">
              <a:off x="4230" y="2567"/>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 name="Line 29"/>
            <p:cNvSpPr>
              <a:spLocks noChangeShapeType="1"/>
            </p:cNvSpPr>
            <p:nvPr/>
          </p:nvSpPr>
          <p:spPr bwMode="auto">
            <a:xfrm flipV="1">
              <a:off x="4326" y="2567"/>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 name="Line 30"/>
            <p:cNvSpPr>
              <a:spLocks noChangeShapeType="1"/>
            </p:cNvSpPr>
            <p:nvPr/>
          </p:nvSpPr>
          <p:spPr bwMode="auto">
            <a:xfrm flipV="1">
              <a:off x="4422" y="2567"/>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 name="Line 31"/>
            <p:cNvSpPr>
              <a:spLocks noChangeShapeType="1"/>
            </p:cNvSpPr>
            <p:nvPr/>
          </p:nvSpPr>
          <p:spPr bwMode="auto">
            <a:xfrm flipV="1">
              <a:off x="4806" y="2567"/>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 name="Line 32"/>
            <p:cNvSpPr>
              <a:spLocks noChangeShapeType="1"/>
            </p:cNvSpPr>
            <p:nvPr/>
          </p:nvSpPr>
          <p:spPr bwMode="auto">
            <a:xfrm flipV="1">
              <a:off x="4902" y="2567"/>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 name="Line 34"/>
            <p:cNvSpPr>
              <a:spLocks noChangeShapeType="1"/>
            </p:cNvSpPr>
            <p:nvPr/>
          </p:nvSpPr>
          <p:spPr bwMode="auto">
            <a:xfrm>
              <a:off x="4566" y="2375"/>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 name="Line 35"/>
            <p:cNvSpPr>
              <a:spLocks noChangeShapeType="1"/>
            </p:cNvSpPr>
            <p:nvPr/>
          </p:nvSpPr>
          <p:spPr bwMode="auto">
            <a:xfrm>
              <a:off x="4566" y="2519"/>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 name="Line 36"/>
            <p:cNvSpPr>
              <a:spLocks noChangeShapeType="1"/>
            </p:cNvSpPr>
            <p:nvPr/>
          </p:nvSpPr>
          <p:spPr bwMode="auto">
            <a:xfrm>
              <a:off x="4566" y="2855"/>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 name="Line 37"/>
            <p:cNvSpPr>
              <a:spLocks noChangeShapeType="1"/>
            </p:cNvSpPr>
            <p:nvPr/>
          </p:nvSpPr>
          <p:spPr bwMode="auto">
            <a:xfrm flipH="1">
              <a:off x="4566" y="2423"/>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 name="Line 38"/>
            <p:cNvSpPr>
              <a:spLocks noChangeShapeType="1"/>
            </p:cNvSpPr>
            <p:nvPr/>
          </p:nvSpPr>
          <p:spPr bwMode="auto">
            <a:xfrm>
              <a:off x="4566" y="2471"/>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 name="Line 39"/>
            <p:cNvSpPr>
              <a:spLocks noChangeShapeType="1"/>
            </p:cNvSpPr>
            <p:nvPr/>
          </p:nvSpPr>
          <p:spPr bwMode="auto">
            <a:xfrm flipH="1">
              <a:off x="4566" y="2903"/>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 name="Line 40"/>
            <p:cNvSpPr>
              <a:spLocks noChangeShapeType="1"/>
            </p:cNvSpPr>
            <p:nvPr/>
          </p:nvSpPr>
          <p:spPr bwMode="auto">
            <a:xfrm flipH="1">
              <a:off x="4566" y="2951"/>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 name="Line 41"/>
            <p:cNvSpPr>
              <a:spLocks noChangeShapeType="1"/>
            </p:cNvSpPr>
            <p:nvPr/>
          </p:nvSpPr>
          <p:spPr bwMode="auto">
            <a:xfrm flipV="1">
              <a:off x="4458" y="2567"/>
              <a:ext cx="300" cy="18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 name="Line 42"/>
            <p:cNvSpPr>
              <a:spLocks noChangeShapeType="1"/>
            </p:cNvSpPr>
            <p:nvPr/>
          </p:nvSpPr>
          <p:spPr bwMode="auto">
            <a:xfrm flipV="1">
              <a:off x="4518" y="2615"/>
              <a:ext cx="240"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41" name="Text Box 43"/>
          <p:cNvSpPr txBox="1">
            <a:spLocks noChangeArrowheads="1"/>
          </p:cNvSpPr>
          <p:nvPr/>
        </p:nvSpPr>
        <p:spPr bwMode="auto">
          <a:xfrm>
            <a:off x="6249988" y="5988050"/>
            <a:ext cx="22288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1600">
                <a:solidFill>
                  <a:schemeClr val="tx1"/>
                </a:solidFill>
                <a:latin typeface="Arial" panose="020B0604020202020204" pitchFamily="34" charset="0"/>
              </a:defRPr>
            </a:lvl9pPr>
          </a:lstStyle>
          <a:p>
            <a:pPr algn="ctr">
              <a:spcBef>
                <a:spcPct val="0"/>
              </a:spcBef>
              <a:buClrTx/>
              <a:buSzTx/>
              <a:buFontTx/>
              <a:buNone/>
            </a:pPr>
            <a:r>
              <a:rPr lang="en-US" altLang="en-US" sz="1800" dirty="0"/>
              <a:t>Highly coupled</a:t>
            </a:r>
          </a:p>
          <a:p>
            <a:pPr algn="ctr">
              <a:spcBef>
                <a:spcPct val="0"/>
              </a:spcBef>
              <a:buClrTx/>
              <a:buSzTx/>
              <a:buFontTx/>
              <a:buNone/>
            </a:pPr>
            <a:r>
              <a:rPr lang="en-US" altLang="en-US" sz="1800" dirty="0"/>
              <a:t>many dependencies</a:t>
            </a:r>
          </a:p>
        </p:txBody>
      </p:sp>
    </p:spTree>
    <p:extLst>
      <p:ext uri="{BB962C8B-B14F-4D97-AF65-F5344CB8AC3E}">
        <p14:creationId xmlns:p14="http://schemas.microsoft.com/office/powerpoint/2010/main" val="1311732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 in XP</a:t>
            </a:r>
          </a:p>
        </p:txBody>
      </p:sp>
      <p:sp>
        <p:nvSpPr>
          <p:cNvPr id="3" name="Content Placeholder 2"/>
          <p:cNvSpPr>
            <a:spLocks noGrp="1"/>
          </p:cNvSpPr>
          <p:nvPr>
            <p:ph idx="1"/>
          </p:nvPr>
        </p:nvSpPr>
        <p:spPr>
          <a:xfrm>
            <a:off x="838200" y="1600200"/>
            <a:ext cx="7772400" cy="4114800"/>
          </a:xfrm>
        </p:spPr>
        <p:txBody>
          <a:bodyPr/>
          <a:lstStyle/>
          <a:p>
            <a:pPr>
              <a:buFont typeface="Wingdings" panose="05000000000000000000" pitchFamily="2" charset="2"/>
              <a:buChar char="q"/>
            </a:pPr>
            <a:r>
              <a:rPr lang="en-US" sz="2400" dirty="0"/>
              <a:t>Testing is central to XP and XP has developed an approach where the program is tested after every change has been made.</a:t>
            </a:r>
          </a:p>
          <a:p>
            <a:pPr>
              <a:buFont typeface="Wingdings" panose="05000000000000000000" pitchFamily="2" charset="2"/>
              <a:buChar char="q"/>
            </a:pPr>
            <a:r>
              <a:rPr lang="en-US" sz="2400" dirty="0"/>
              <a:t>XP testing features:</a:t>
            </a:r>
          </a:p>
          <a:p>
            <a:pPr lvl="1">
              <a:buFont typeface="Wingdings" panose="05000000000000000000" pitchFamily="2" charset="2"/>
              <a:buChar char="q"/>
            </a:pPr>
            <a:r>
              <a:rPr lang="en-US" sz="2400" dirty="0"/>
              <a:t>Test-first development.</a:t>
            </a:r>
          </a:p>
          <a:p>
            <a:pPr lvl="1">
              <a:buFont typeface="Wingdings" panose="05000000000000000000" pitchFamily="2" charset="2"/>
              <a:buChar char="q"/>
            </a:pPr>
            <a:r>
              <a:rPr lang="en-US" sz="2400" dirty="0"/>
              <a:t>Incremental test development from scenarios.</a:t>
            </a:r>
          </a:p>
          <a:p>
            <a:pPr lvl="1">
              <a:buFont typeface="Wingdings" panose="05000000000000000000" pitchFamily="2" charset="2"/>
              <a:buChar char="q"/>
            </a:pPr>
            <a:r>
              <a:rPr lang="en-US" sz="2400" dirty="0"/>
              <a:t>User involvement in test development and validation.</a:t>
            </a:r>
          </a:p>
          <a:p>
            <a:pPr lvl="1">
              <a:buFont typeface="Wingdings" panose="05000000000000000000" pitchFamily="2" charset="2"/>
              <a:buChar char="q"/>
            </a:pPr>
            <a:r>
              <a:rPr lang="en-US" sz="2400" dirty="0"/>
              <a:t>Automated test are used to run all component tests each time that a new release is built.</a:t>
            </a:r>
          </a:p>
        </p:txBody>
      </p:sp>
    </p:spTree>
    <p:extLst>
      <p:ext uri="{BB962C8B-B14F-4D97-AF65-F5344CB8AC3E}">
        <p14:creationId xmlns:p14="http://schemas.microsoft.com/office/powerpoint/2010/main" val="9674727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Test-first development</a:t>
            </a:r>
          </a:p>
        </p:txBody>
      </p:sp>
      <p:sp>
        <p:nvSpPr>
          <p:cNvPr id="3" name="Content Placeholder 2"/>
          <p:cNvSpPr>
            <a:spLocks noGrp="1"/>
          </p:cNvSpPr>
          <p:nvPr>
            <p:ph idx="1"/>
          </p:nvPr>
        </p:nvSpPr>
        <p:spPr>
          <a:xfrm>
            <a:off x="685800" y="1752600"/>
            <a:ext cx="7772400" cy="4114800"/>
          </a:xfrm>
        </p:spPr>
        <p:txBody>
          <a:bodyPr/>
          <a:lstStyle/>
          <a:p>
            <a:pPr>
              <a:lnSpc>
                <a:spcPct val="90000"/>
              </a:lnSpc>
              <a:buFont typeface="Wingdings" panose="05000000000000000000" pitchFamily="2" charset="2"/>
              <a:buChar char="q"/>
            </a:pPr>
            <a:r>
              <a:rPr lang="en-US" sz="2400" dirty="0"/>
              <a:t>Writing tests before code clarifies the requirements to be implemented.</a:t>
            </a:r>
          </a:p>
          <a:p>
            <a:pPr>
              <a:lnSpc>
                <a:spcPct val="90000"/>
              </a:lnSpc>
              <a:buFont typeface="Wingdings" panose="05000000000000000000" pitchFamily="2" charset="2"/>
              <a:buChar char="q"/>
            </a:pPr>
            <a:r>
              <a:rPr lang="en-US" sz="2400" dirty="0"/>
              <a:t>Tests are written as programs so that they can be executed automatically. The test includes a check that it has executed correctly.</a:t>
            </a:r>
          </a:p>
          <a:p>
            <a:pPr lvl="1">
              <a:lnSpc>
                <a:spcPct val="90000"/>
              </a:lnSpc>
              <a:buFont typeface="Wingdings" panose="05000000000000000000" pitchFamily="2" charset="2"/>
              <a:buChar char="q"/>
            </a:pPr>
            <a:r>
              <a:rPr lang="en-US" sz="2400" dirty="0"/>
              <a:t>Usually relies on a testing framework such as </a:t>
            </a:r>
            <a:r>
              <a:rPr lang="en-US" sz="2400" dirty="0" err="1"/>
              <a:t>Junit</a:t>
            </a:r>
            <a:r>
              <a:rPr lang="en-US" sz="2400" dirty="0"/>
              <a:t>.</a:t>
            </a:r>
          </a:p>
          <a:p>
            <a:pPr>
              <a:lnSpc>
                <a:spcPct val="90000"/>
              </a:lnSpc>
              <a:buFont typeface="Wingdings" panose="05000000000000000000" pitchFamily="2" charset="2"/>
              <a:buChar char="q"/>
            </a:pPr>
            <a:r>
              <a:rPr lang="en-US" sz="2400" dirty="0"/>
              <a:t>All previous and new tests are run when new functionality is added, thus checking that the new functionality has not introduced errors.</a:t>
            </a:r>
          </a:p>
          <a:p>
            <a:pPr>
              <a:buFont typeface="Wingdings" panose="05000000000000000000" pitchFamily="2" charset="2"/>
              <a:buChar char="q"/>
            </a:pPr>
            <a:endParaRPr lang="en-US" sz="2400" dirty="0"/>
          </a:p>
        </p:txBody>
      </p:sp>
    </p:spTree>
    <p:extLst>
      <p:ext uri="{BB962C8B-B14F-4D97-AF65-F5344CB8AC3E}">
        <p14:creationId xmlns:p14="http://schemas.microsoft.com/office/powerpoint/2010/main" val="1900511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8229600" cy="1143000"/>
          </a:xfrm>
        </p:spPr>
        <p:txBody>
          <a:bodyPr/>
          <a:lstStyle/>
          <a:p>
            <a:r>
              <a:rPr lang="en-US" dirty="0"/>
              <a:t>Person class</a:t>
            </a:r>
          </a:p>
        </p:txBody>
      </p:sp>
      <p:sp>
        <p:nvSpPr>
          <p:cNvPr id="4" name="Rectangle 3"/>
          <p:cNvSpPr/>
          <p:nvPr/>
        </p:nvSpPr>
        <p:spPr>
          <a:xfrm>
            <a:off x="304800" y="1508879"/>
            <a:ext cx="4572000" cy="3139321"/>
          </a:xfrm>
          <a:prstGeom prst="rect">
            <a:avLst/>
          </a:prstGeom>
        </p:spPr>
        <p:txBody>
          <a:bodyPr>
            <a:spAutoFit/>
          </a:bodyPr>
          <a:lstStyle/>
          <a:p>
            <a:r>
              <a:rPr lang="en-US" b="1" dirty="0">
                <a:solidFill>
                  <a:srgbClr val="7F0055"/>
                </a:solidFill>
                <a:latin typeface="CourierNewPS-BoldMT"/>
              </a:rPr>
              <a:t>public class </a:t>
            </a:r>
            <a:r>
              <a:rPr lang="en-US" dirty="0">
                <a:solidFill>
                  <a:srgbClr val="000000"/>
                </a:solidFill>
                <a:latin typeface="CourierNewPSMT"/>
              </a:rPr>
              <a:t>Person {</a:t>
            </a:r>
          </a:p>
          <a:p>
            <a:r>
              <a:rPr lang="en-US" dirty="0">
                <a:solidFill>
                  <a:srgbClr val="3F7F5F"/>
                </a:solidFill>
                <a:latin typeface="CourierNewPSMT"/>
              </a:rPr>
              <a:t>// fields</a:t>
            </a:r>
          </a:p>
          <a:p>
            <a:r>
              <a:rPr lang="en-US" b="1" dirty="0">
                <a:solidFill>
                  <a:srgbClr val="7F0055"/>
                </a:solidFill>
                <a:latin typeface="CourierNewPS-BoldMT"/>
              </a:rPr>
              <a:t>private </a:t>
            </a:r>
            <a:r>
              <a:rPr lang="en-US" dirty="0">
                <a:solidFill>
                  <a:srgbClr val="000000"/>
                </a:solidFill>
                <a:latin typeface="CourierNewPSMT"/>
              </a:rPr>
              <a:t>String </a:t>
            </a:r>
            <a:r>
              <a:rPr lang="en-US" dirty="0">
                <a:solidFill>
                  <a:srgbClr val="0000C1"/>
                </a:solidFill>
                <a:latin typeface="CourierNewPSMT"/>
              </a:rPr>
              <a:t>name</a:t>
            </a:r>
            <a:r>
              <a:rPr lang="en-US" dirty="0">
                <a:solidFill>
                  <a:srgbClr val="000000"/>
                </a:solidFill>
                <a:latin typeface="CourierNewPSMT"/>
              </a:rPr>
              <a:t>; </a:t>
            </a:r>
            <a:r>
              <a:rPr lang="en-US" dirty="0">
                <a:solidFill>
                  <a:srgbClr val="3F7F5F"/>
                </a:solidFill>
                <a:latin typeface="CourierNewPSMT"/>
              </a:rPr>
              <a:t>// name of the person</a:t>
            </a:r>
          </a:p>
          <a:p>
            <a:r>
              <a:rPr lang="en-US" b="1" dirty="0">
                <a:solidFill>
                  <a:srgbClr val="7F0055"/>
                </a:solidFill>
                <a:latin typeface="CourierNewPS-BoldMT"/>
              </a:rPr>
              <a:t>private </a:t>
            </a:r>
            <a:r>
              <a:rPr lang="en-US" b="1" dirty="0" err="1">
                <a:solidFill>
                  <a:srgbClr val="7F0055"/>
                </a:solidFill>
                <a:latin typeface="CourierNewPS-BoldMT"/>
              </a:rPr>
              <a:t>int</a:t>
            </a:r>
            <a:r>
              <a:rPr lang="en-US" b="1" dirty="0">
                <a:solidFill>
                  <a:srgbClr val="7F0055"/>
                </a:solidFill>
                <a:latin typeface="CourierNewPS-BoldMT"/>
              </a:rPr>
              <a:t> </a:t>
            </a:r>
            <a:r>
              <a:rPr lang="en-US" dirty="0" err="1">
                <a:solidFill>
                  <a:srgbClr val="0000C1"/>
                </a:solidFill>
                <a:latin typeface="CourierNewPSMT"/>
              </a:rPr>
              <a:t>maximumBooks</a:t>
            </a:r>
            <a:r>
              <a:rPr lang="en-US" dirty="0">
                <a:solidFill>
                  <a:srgbClr val="000000"/>
                </a:solidFill>
                <a:latin typeface="CourierNewPSMT"/>
              </a:rPr>
              <a:t>; </a:t>
            </a:r>
            <a:r>
              <a:rPr lang="en-US" dirty="0">
                <a:solidFill>
                  <a:srgbClr val="3F7F5F"/>
                </a:solidFill>
                <a:latin typeface="CourierNewPSMT"/>
              </a:rPr>
              <a:t>// most books the person can check out</a:t>
            </a:r>
          </a:p>
          <a:p>
            <a:r>
              <a:rPr lang="en-US" dirty="0">
                <a:solidFill>
                  <a:srgbClr val="3F7F5F"/>
                </a:solidFill>
                <a:latin typeface="CourierNewPSMT"/>
              </a:rPr>
              <a:t>// constructors</a:t>
            </a:r>
          </a:p>
          <a:p>
            <a:r>
              <a:rPr lang="en-US" b="1" dirty="0">
                <a:solidFill>
                  <a:srgbClr val="7F0055"/>
                </a:solidFill>
                <a:latin typeface="CourierNewPS-BoldMT"/>
              </a:rPr>
              <a:t>public </a:t>
            </a:r>
            <a:r>
              <a:rPr lang="en-US" dirty="0">
                <a:solidFill>
                  <a:srgbClr val="000000"/>
                </a:solidFill>
                <a:latin typeface="CourierNewPSMT"/>
              </a:rPr>
              <a:t>Person() {</a:t>
            </a:r>
          </a:p>
          <a:p>
            <a:r>
              <a:rPr lang="en-US" dirty="0">
                <a:solidFill>
                  <a:srgbClr val="0000C1"/>
                </a:solidFill>
                <a:latin typeface="CourierNewPSMT"/>
              </a:rPr>
              <a:t>name </a:t>
            </a:r>
            <a:r>
              <a:rPr lang="en-US" dirty="0">
                <a:solidFill>
                  <a:srgbClr val="000000"/>
                </a:solidFill>
                <a:latin typeface="CourierNewPSMT"/>
              </a:rPr>
              <a:t>= </a:t>
            </a:r>
            <a:r>
              <a:rPr lang="en-US" dirty="0">
                <a:solidFill>
                  <a:srgbClr val="2A00FF"/>
                </a:solidFill>
                <a:latin typeface="CourierNewPSMT"/>
              </a:rPr>
              <a:t>"unknown name"</a:t>
            </a:r>
            <a:r>
              <a:rPr lang="en-US" dirty="0">
                <a:solidFill>
                  <a:srgbClr val="000000"/>
                </a:solidFill>
                <a:latin typeface="CourierNewPSMT"/>
              </a:rPr>
              <a:t>;</a:t>
            </a:r>
          </a:p>
          <a:p>
            <a:r>
              <a:rPr lang="en-US" dirty="0" err="1">
                <a:solidFill>
                  <a:srgbClr val="0000C1"/>
                </a:solidFill>
                <a:latin typeface="CourierNewPSMT"/>
              </a:rPr>
              <a:t>maximumBooks</a:t>
            </a:r>
            <a:r>
              <a:rPr lang="en-US" dirty="0">
                <a:solidFill>
                  <a:srgbClr val="0000C1"/>
                </a:solidFill>
                <a:latin typeface="CourierNewPSMT"/>
              </a:rPr>
              <a:t> </a:t>
            </a:r>
            <a:r>
              <a:rPr lang="en-US" dirty="0">
                <a:solidFill>
                  <a:srgbClr val="000000"/>
                </a:solidFill>
                <a:latin typeface="CourierNewPSMT"/>
              </a:rPr>
              <a:t>= 3;</a:t>
            </a:r>
          </a:p>
          <a:p>
            <a:r>
              <a:rPr lang="en-US" dirty="0">
                <a:solidFill>
                  <a:srgbClr val="000000"/>
                </a:solidFill>
                <a:latin typeface="CourierNewPSMT"/>
              </a:rPr>
              <a:t>}</a:t>
            </a:r>
          </a:p>
          <a:p>
            <a:r>
              <a:rPr lang="en-US" dirty="0">
                <a:solidFill>
                  <a:srgbClr val="000000"/>
                </a:solidFill>
                <a:latin typeface="CourierNewPSMT"/>
              </a:rPr>
              <a:t>}</a:t>
            </a:r>
            <a:endParaRPr lang="en-US" dirty="0"/>
          </a:p>
        </p:txBody>
      </p:sp>
      <p:sp>
        <p:nvSpPr>
          <p:cNvPr id="5" name="Rectangle 4"/>
          <p:cNvSpPr/>
          <p:nvPr/>
        </p:nvSpPr>
        <p:spPr>
          <a:xfrm>
            <a:off x="4892899" y="1386514"/>
            <a:ext cx="4572000" cy="2585323"/>
          </a:xfrm>
          <a:prstGeom prst="rect">
            <a:avLst/>
          </a:prstGeom>
        </p:spPr>
        <p:txBody>
          <a:bodyPr>
            <a:spAutoFit/>
          </a:bodyPr>
          <a:lstStyle/>
          <a:p>
            <a:r>
              <a:rPr lang="en-US" dirty="0">
                <a:solidFill>
                  <a:srgbClr val="3F7F5F"/>
                </a:solidFill>
                <a:latin typeface="CourierNewPSMT"/>
              </a:rPr>
              <a:t>//methods</a:t>
            </a:r>
          </a:p>
          <a:p>
            <a:r>
              <a:rPr lang="en-US" b="1" dirty="0">
                <a:solidFill>
                  <a:srgbClr val="7F0055"/>
                </a:solidFill>
                <a:latin typeface="CourierNewPS-BoldMT"/>
              </a:rPr>
              <a:t>public </a:t>
            </a:r>
            <a:r>
              <a:rPr lang="en-US" dirty="0">
                <a:solidFill>
                  <a:srgbClr val="000000"/>
                </a:solidFill>
                <a:latin typeface="CourierNewPSMT"/>
              </a:rPr>
              <a:t>String </a:t>
            </a:r>
            <a:r>
              <a:rPr lang="en-US" dirty="0" err="1">
                <a:solidFill>
                  <a:srgbClr val="000000"/>
                </a:solidFill>
                <a:latin typeface="CourierNewPSMT"/>
              </a:rPr>
              <a:t>getName</a:t>
            </a:r>
            <a:r>
              <a:rPr lang="en-US" dirty="0">
                <a:solidFill>
                  <a:srgbClr val="000000"/>
                </a:solidFill>
                <a:latin typeface="CourierNewPSMT"/>
              </a:rPr>
              <a:t>() {</a:t>
            </a:r>
          </a:p>
          <a:p>
            <a:r>
              <a:rPr lang="en-US" b="1" dirty="0">
                <a:solidFill>
                  <a:srgbClr val="7F0055"/>
                </a:solidFill>
                <a:latin typeface="CourierNewPS-BoldMT"/>
              </a:rPr>
              <a:t>return </a:t>
            </a:r>
            <a:r>
              <a:rPr lang="en-US" dirty="0">
                <a:solidFill>
                  <a:srgbClr val="0000C1"/>
                </a:solidFill>
                <a:latin typeface="CourierNewPSMT"/>
              </a:rPr>
              <a:t>name</a:t>
            </a:r>
            <a:r>
              <a:rPr lang="en-US" dirty="0">
                <a:solidFill>
                  <a:srgbClr val="000000"/>
                </a:solidFill>
                <a:latin typeface="CourierNewPSMT"/>
              </a:rPr>
              <a:t>;</a:t>
            </a:r>
          </a:p>
          <a:p>
            <a:r>
              <a:rPr lang="en-US" dirty="0">
                <a:solidFill>
                  <a:srgbClr val="000000"/>
                </a:solidFill>
                <a:latin typeface="CourierNewPSMT"/>
              </a:rPr>
              <a:t>}</a:t>
            </a:r>
          </a:p>
          <a:p>
            <a:r>
              <a:rPr lang="en-US" b="1" dirty="0">
                <a:solidFill>
                  <a:srgbClr val="7F0055"/>
                </a:solidFill>
                <a:latin typeface="CourierNewPS-BoldMT"/>
              </a:rPr>
              <a:t>public void </a:t>
            </a:r>
            <a:r>
              <a:rPr lang="en-US" dirty="0" err="1">
                <a:solidFill>
                  <a:srgbClr val="000000"/>
                </a:solidFill>
                <a:latin typeface="CourierNewPSMT"/>
              </a:rPr>
              <a:t>setName</a:t>
            </a:r>
            <a:r>
              <a:rPr lang="en-US" dirty="0">
                <a:solidFill>
                  <a:srgbClr val="000000"/>
                </a:solidFill>
                <a:latin typeface="CourierNewPSMT"/>
              </a:rPr>
              <a:t>(String </a:t>
            </a:r>
            <a:r>
              <a:rPr lang="en-US" dirty="0" err="1">
                <a:solidFill>
                  <a:srgbClr val="000000"/>
                </a:solidFill>
                <a:latin typeface="CourierNewPSMT"/>
              </a:rPr>
              <a:t>anyName</a:t>
            </a:r>
            <a:r>
              <a:rPr lang="en-US" dirty="0">
                <a:solidFill>
                  <a:srgbClr val="000000"/>
                </a:solidFill>
                <a:latin typeface="CourierNewPSMT"/>
              </a:rPr>
              <a:t>) {</a:t>
            </a:r>
          </a:p>
          <a:p>
            <a:r>
              <a:rPr lang="en-US" dirty="0">
                <a:solidFill>
                  <a:srgbClr val="0000C1"/>
                </a:solidFill>
                <a:latin typeface="CourierNewPSMT"/>
              </a:rPr>
              <a:t>name </a:t>
            </a:r>
            <a:r>
              <a:rPr lang="en-US" dirty="0">
                <a:solidFill>
                  <a:srgbClr val="000000"/>
                </a:solidFill>
                <a:latin typeface="CourierNewPSMT"/>
              </a:rPr>
              <a:t>= </a:t>
            </a:r>
            <a:r>
              <a:rPr lang="en-US" dirty="0" err="1">
                <a:solidFill>
                  <a:srgbClr val="000000"/>
                </a:solidFill>
                <a:latin typeface="CourierNewPSMT"/>
              </a:rPr>
              <a:t>anyName</a:t>
            </a:r>
            <a:r>
              <a:rPr lang="en-US" dirty="0">
                <a:solidFill>
                  <a:srgbClr val="000000"/>
                </a:solidFill>
                <a:latin typeface="CourierNewPSMT"/>
              </a:rPr>
              <a:t>;</a:t>
            </a:r>
          </a:p>
          <a:p>
            <a:r>
              <a:rPr lang="en-US" dirty="0">
                <a:solidFill>
                  <a:srgbClr val="000000"/>
                </a:solidFill>
                <a:latin typeface="CourierNewPSMT"/>
              </a:rPr>
              <a:t>}</a:t>
            </a:r>
          </a:p>
          <a:p>
            <a:r>
              <a:rPr lang="en-US" b="1" dirty="0">
                <a:solidFill>
                  <a:srgbClr val="7F0055"/>
                </a:solidFill>
                <a:latin typeface="CourierNewPS-BoldMT"/>
              </a:rPr>
              <a:t>public </a:t>
            </a:r>
            <a:r>
              <a:rPr lang="en-US" b="1" dirty="0" err="1">
                <a:solidFill>
                  <a:srgbClr val="7F0055"/>
                </a:solidFill>
                <a:latin typeface="CourierNewPS-BoldMT"/>
              </a:rPr>
              <a:t>int</a:t>
            </a:r>
            <a:r>
              <a:rPr lang="en-US" b="1" dirty="0">
                <a:solidFill>
                  <a:srgbClr val="7F0055"/>
                </a:solidFill>
                <a:latin typeface="CourierNewPS-BoldMT"/>
              </a:rPr>
              <a:t> </a:t>
            </a:r>
            <a:r>
              <a:rPr lang="en-US" dirty="0" err="1">
                <a:solidFill>
                  <a:srgbClr val="000000"/>
                </a:solidFill>
                <a:latin typeface="CourierNewPSMT"/>
              </a:rPr>
              <a:t>getMaximumBooks</a:t>
            </a:r>
            <a:r>
              <a:rPr lang="en-US" dirty="0">
                <a:solidFill>
                  <a:srgbClr val="000000"/>
                </a:solidFill>
                <a:latin typeface="CourierNewPSMT"/>
              </a:rPr>
              <a:t>() {</a:t>
            </a:r>
          </a:p>
          <a:p>
            <a:endParaRPr lang="en-US" dirty="0"/>
          </a:p>
        </p:txBody>
      </p:sp>
      <p:sp>
        <p:nvSpPr>
          <p:cNvPr id="6" name="Rectangle 5"/>
          <p:cNvSpPr/>
          <p:nvPr/>
        </p:nvSpPr>
        <p:spPr>
          <a:xfrm>
            <a:off x="4892899" y="3733800"/>
            <a:ext cx="4572000" cy="2308324"/>
          </a:xfrm>
          <a:prstGeom prst="rect">
            <a:avLst/>
          </a:prstGeom>
        </p:spPr>
        <p:txBody>
          <a:bodyPr wrap="square">
            <a:spAutoFit/>
          </a:bodyPr>
          <a:lstStyle/>
          <a:p>
            <a:r>
              <a:rPr lang="en-US" b="1" dirty="0">
                <a:solidFill>
                  <a:srgbClr val="7F0055"/>
                </a:solidFill>
                <a:latin typeface="CourierNewPS-BoldMT"/>
              </a:rPr>
              <a:t>return </a:t>
            </a:r>
            <a:r>
              <a:rPr lang="en-US" dirty="0" err="1">
                <a:solidFill>
                  <a:srgbClr val="0000C1"/>
                </a:solidFill>
                <a:latin typeface="CourierNewPSMT"/>
              </a:rPr>
              <a:t>maximumBooks</a:t>
            </a:r>
            <a:r>
              <a:rPr lang="en-US" dirty="0">
                <a:solidFill>
                  <a:srgbClr val="000000"/>
                </a:solidFill>
                <a:latin typeface="CourierNewPSMT"/>
              </a:rPr>
              <a:t>;</a:t>
            </a:r>
          </a:p>
          <a:p>
            <a:r>
              <a:rPr lang="en-US" dirty="0">
                <a:solidFill>
                  <a:srgbClr val="000000"/>
                </a:solidFill>
                <a:latin typeface="CourierNewPSMT"/>
              </a:rPr>
              <a:t>}</a:t>
            </a:r>
          </a:p>
          <a:p>
            <a:r>
              <a:rPr lang="en-US" b="1" dirty="0">
                <a:solidFill>
                  <a:srgbClr val="7F0055"/>
                </a:solidFill>
                <a:latin typeface="CourierNewPS-BoldMT"/>
              </a:rPr>
              <a:t>public void </a:t>
            </a:r>
            <a:r>
              <a:rPr lang="en-US" dirty="0" err="1">
                <a:solidFill>
                  <a:srgbClr val="000000"/>
                </a:solidFill>
                <a:latin typeface="CourierNewPSMT"/>
              </a:rPr>
              <a:t>setMaximumBooks</a:t>
            </a:r>
            <a:r>
              <a:rPr lang="en-US" dirty="0">
                <a:solidFill>
                  <a:srgbClr val="000000"/>
                </a:solidFill>
                <a:latin typeface="CourierNewPSMT"/>
              </a:rPr>
              <a:t>(</a:t>
            </a:r>
            <a:r>
              <a:rPr lang="en-US" b="1" dirty="0" err="1">
                <a:solidFill>
                  <a:srgbClr val="7F0055"/>
                </a:solidFill>
                <a:latin typeface="CourierNewPS-BoldMT"/>
              </a:rPr>
              <a:t>int</a:t>
            </a:r>
            <a:r>
              <a:rPr lang="en-US" b="1" dirty="0">
                <a:solidFill>
                  <a:srgbClr val="7F0055"/>
                </a:solidFill>
                <a:latin typeface="CourierNewPS-BoldMT"/>
              </a:rPr>
              <a:t> </a:t>
            </a:r>
            <a:r>
              <a:rPr lang="en-US" dirty="0" err="1">
                <a:solidFill>
                  <a:srgbClr val="000000"/>
                </a:solidFill>
                <a:latin typeface="CourierNewPSMT"/>
              </a:rPr>
              <a:t>maximumBooks</a:t>
            </a:r>
            <a:r>
              <a:rPr lang="en-US" dirty="0">
                <a:solidFill>
                  <a:srgbClr val="000000"/>
                </a:solidFill>
                <a:latin typeface="CourierNewPSMT"/>
              </a:rPr>
              <a:t>) {</a:t>
            </a:r>
          </a:p>
          <a:p>
            <a:r>
              <a:rPr lang="en-US" b="1" dirty="0" err="1">
                <a:solidFill>
                  <a:srgbClr val="7F0055"/>
                </a:solidFill>
                <a:latin typeface="CourierNewPS-BoldMT"/>
              </a:rPr>
              <a:t>this</a:t>
            </a:r>
            <a:r>
              <a:rPr lang="en-US" dirty="0" err="1">
                <a:solidFill>
                  <a:srgbClr val="000000"/>
                </a:solidFill>
                <a:latin typeface="CourierNewPSMT"/>
              </a:rPr>
              <a:t>.</a:t>
            </a:r>
            <a:r>
              <a:rPr lang="en-US" dirty="0" err="1">
                <a:solidFill>
                  <a:srgbClr val="0000C1"/>
                </a:solidFill>
                <a:latin typeface="CourierNewPSMT"/>
              </a:rPr>
              <a:t>maximumBooks</a:t>
            </a:r>
            <a:r>
              <a:rPr lang="en-US" dirty="0">
                <a:solidFill>
                  <a:srgbClr val="0000C1"/>
                </a:solidFill>
                <a:latin typeface="CourierNewPSMT"/>
              </a:rPr>
              <a:t> </a:t>
            </a:r>
            <a:r>
              <a:rPr lang="en-US" dirty="0">
                <a:solidFill>
                  <a:srgbClr val="000000"/>
                </a:solidFill>
                <a:latin typeface="CourierNewPSMT"/>
              </a:rPr>
              <a:t>= </a:t>
            </a:r>
            <a:r>
              <a:rPr lang="en-US" dirty="0" err="1">
                <a:solidFill>
                  <a:srgbClr val="000000"/>
                </a:solidFill>
                <a:latin typeface="CourierNewPSMT"/>
              </a:rPr>
              <a:t>maximumBooks</a:t>
            </a:r>
            <a:r>
              <a:rPr lang="en-US" dirty="0">
                <a:solidFill>
                  <a:srgbClr val="000000"/>
                </a:solidFill>
                <a:latin typeface="CourierNewPSMT"/>
              </a:rPr>
              <a:t>;</a:t>
            </a:r>
          </a:p>
          <a:p>
            <a:r>
              <a:rPr lang="en-US" dirty="0">
                <a:solidFill>
                  <a:srgbClr val="000000"/>
                </a:solidFill>
                <a:latin typeface="CourierNewPSMT"/>
              </a:rPr>
              <a:t>}</a:t>
            </a:r>
          </a:p>
          <a:p>
            <a:r>
              <a:rPr lang="en-US" dirty="0">
                <a:solidFill>
                  <a:srgbClr val="000000"/>
                </a:solidFill>
                <a:latin typeface="CourierNewPSMT"/>
              </a:rPr>
              <a:t>}</a:t>
            </a:r>
            <a:endParaRPr lang="en-US" dirty="0"/>
          </a:p>
        </p:txBody>
      </p:sp>
    </p:spTree>
    <p:extLst>
      <p:ext uri="{BB962C8B-B14F-4D97-AF65-F5344CB8AC3E}">
        <p14:creationId xmlns:p14="http://schemas.microsoft.com/office/powerpoint/2010/main" val="4241821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 Case</a:t>
            </a:r>
          </a:p>
        </p:txBody>
      </p:sp>
      <p:sp>
        <p:nvSpPr>
          <p:cNvPr id="4" name="Rectangle 3"/>
          <p:cNvSpPr/>
          <p:nvPr/>
        </p:nvSpPr>
        <p:spPr>
          <a:xfrm>
            <a:off x="304800" y="1423004"/>
            <a:ext cx="8382000" cy="1754326"/>
          </a:xfrm>
          <a:prstGeom prst="rect">
            <a:avLst/>
          </a:prstGeom>
        </p:spPr>
        <p:txBody>
          <a:bodyPr wrap="square">
            <a:spAutoFit/>
          </a:bodyPr>
          <a:lstStyle/>
          <a:p>
            <a:r>
              <a:rPr lang="en-US" b="1" dirty="0">
                <a:solidFill>
                  <a:srgbClr val="7F0055"/>
                </a:solidFill>
                <a:latin typeface="CourierNewPS-BoldMT"/>
              </a:rPr>
              <a:t>import </a:t>
            </a:r>
            <a:r>
              <a:rPr lang="en-US" dirty="0" err="1">
                <a:solidFill>
                  <a:srgbClr val="000000"/>
                </a:solidFill>
                <a:latin typeface="CourierNewPSMT"/>
              </a:rPr>
              <a:t>junit.framework.TestCase</a:t>
            </a:r>
            <a:r>
              <a:rPr lang="en-US" dirty="0">
                <a:solidFill>
                  <a:srgbClr val="000000"/>
                </a:solidFill>
                <a:latin typeface="CourierNewPSMT"/>
              </a:rPr>
              <a:t>;</a:t>
            </a:r>
          </a:p>
          <a:p>
            <a:r>
              <a:rPr lang="en-US" b="1" dirty="0">
                <a:solidFill>
                  <a:srgbClr val="7F0055"/>
                </a:solidFill>
                <a:latin typeface="CourierNewPS-BoldMT"/>
              </a:rPr>
              <a:t>public class </a:t>
            </a:r>
            <a:r>
              <a:rPr lang="en-US" dirty="0" err="1">
                <a:solidFill>
                  <a:srgbClr val="000000"/>
                </a:solidFill>
                <a:latin typeface="CourierNewPSMT"/>
              </a:rPr>
              <a:t>PersonTest</a:t>
            </a:r>
            <a:r>
              <a:rPr lang="en-US" dirty="0">
                <a:solidFill>
                  <a:srgbClr val="000000"/>
                </a:solidFill>
                <a:latin typeface="CourierNewPSMT"/>
              </a:rPr>
              <a:t> </a:t>
            </a:r>
            <a:r>
              <a:rPr lang="en-US" b="1" dirty="0">
                <a:solidFill>
                  <a:srgbClr val="7F0055"/>
                </a:solidFill>
                <a:latin typeface="CourierNewPS-BoldMT"/>
              </a:rPr>
              <a:t>extends </a:t>
            </a:r>
            <a:r>
              <a:rPr lang="en-US" dirty="0" err="1">
                <a:solidFill>
                  <a:srgbClr val="000000"/>
                </a:solidFill>
                <a:latin typeface="CourierNewPSMT"/>
              </a:rPr>
              <a:t>TestCase</a:t>
            </a:r>
            <a:r>
              <a:rPr lang="en-US" dirty="0">
                <a:solidFill>
                  <a:srgbClr val="000000"/>
                </a:solidFill>
                <a:latin typeface="CourierNewPSMT"/>
              </a:rPr>
              <a:t> {</a:t>
            </a:r>
          </a:p>
          <a:p>
            <a:r>
              <a:rPr lang="en-US" b="1" dirty="0">
                <a:solidFill>
                  <a:srgbClr val="7F0055"/>
                </a:solidFill>
                <a:latin typeface="CourierNewPS-BoldMT"/>
              </a:rPr>
              <a:t>public void </a:t>
            </a:r>
            <a:r>
              <a:rPr lang="en-US" dirty="0" err="1">
                <a:solidFill>
                  <a:srgbClr val="000000"/>
                </a:solidFill>
                <a:latin typeface="CourierNewPSMT"/>
              </a:rPr>
              <a:t>testPerson</a:t>
            </a:r>
            <a:r>
              <a:rPr lang="en-US" dirty="0">
                <a:solidFill>
                  <a:srgbClr val="000000"/>
                </a:solidFill>
                <a:latin typeface="CourierNewPSMT"/>
              </a:rPr>
              <a:t>() {</a:t>
            </a:r>
          </a:p>
          <a:p>
            <a:r>
              <a:rPr lang="en-US" dirty="0">
                <a:solidFill>
                  <a:srgbClr val="000000"/>
                </a:solidFill>
                <a:latin typeface="CourierNewPSMT"/>
              </a:rPr>
              <a:t>Person p1 = </a:t>
            </a:r>
            <a:r>
              <a:rPr lang="en-US" b="1" dirty="0">
                <a:solidFill>
                  <a:srgbClr val="7F0055"/>
                </a:solidFill>
                <a:latin typeface="CourierNewPS-BoldMT"/>
              </a:rPr>
              <a:t>new </a:t>
            </a:r>
            <a:r>
              <a:rPr lang="en-US" dirty="0">
                <a:solidFill>
                  <a:srgbClr val="000000"/>
                </a:solidFill>
                <a:latin typeface="CourierNewPSMT"/>
              </a:rPr>
              <a:t>Person();</a:t>
            </a:r>
          </a:p>
          <a:p>
            <a:r>
              <a:rPr lang="en-US" i="1" dirty="0" err="1">
                <a:solidFill>
                  <a:srgbClr val="000000"/>
                </a:solidFill>
                <a:latin typeface="CourierNewPS-ItalicMT"/>
              </a:rPr>
              <a:t>assertEquals</a:t>
            </a:r>
            <a:r>
              <a:rPr lang="en-US" dirty="0">
                <a:solidFill>
                  <a:srgbClr val="000000"/>
                </a:solidFill>
                <a:latin typeface="CourierNewPSMT"/>
              </a:rPr>
              <a:t>(</a:t>
            </a:r>
            <a:r>
              <a:rPr lang="en-US" dirty="0">
                <a:solidFill>
                  <a:srgbClr val="2A00FF"/>
                </a:solidFill>
                <a:latin typeface="CourierNewPSMT"/>
              </a:rPr>
              <a:t>"unknown name"</a:t>
            </a:r>
            <a:r>
              <a:rPr lang="en-US" dirty="0">
                <a:solidFill>
                  <a:srgbClr val="000000"/>
                </a:solidFill>
                <a:latin typeface="CourierNewPSMT"/>
              </a:rPr>
              <a:t>, p1.getName());</a:t>
            </a:r>
          </a:p>
          <a:p>
            <a:endParaRPr lang="en-US" dirty="0"/>
          </a:p>
        </p:txBody>
      </p:sp>
      <p:sp>
        <p:nvSpPr>
          <p:cNvPr id="5" name="Rectangle 4"/>
          <p:cNvSpPr/>
          <p:nvPr/>
        </p:nvSpPr>
        <p:spPr>
          <a:xfrm>
            <a:off x="304800" y="2859881"/>
            <a:ext cx="7467600" cy="3693319"/>
          </a:xfrm>
          <a:prstGeom prst="rect">
            <a:avLst/>
          </a:prstGeom>
        </p:spPr>
        <p:txBody>
          <a:bodyPr wrap="square">
            <a:spAutoFit/>
          </a:bodyPr>
          <a:lstStyle/>
          <a:p>
            <a:r>
              <a:rPr lang="en-US" i="1" dirty="0" err="1">
                <a:solidFill>
                  <a:srgbClr val="000000"/>
                </a:solidFill>
                <a:latin typeface="CourierNewPS-ItalicMT"/>
              </a:rPr>
              <a:t>assertEquals</a:t>
            </a:r>
            <a:r>
              <a:rPr lang="en-US" dirty="0">
                <a:solidFill>
                  <a:srgbClr val="000000"/>
                </a:solidFill>
                <a:latin typeface="CourierNewPSMT"/>
              </a:rPr>
              <a:t>(3, p1.getMaximumBooks());</a:t>
            </a:r>
          </a:p>
          <a:p>
            <a:r>
              <a:rPr lang="en-US" dirty="0">
                <a:solidFill>
                  <a:srgbClr val="000000"/>
                </a:solidFill>
                <a:latin typeface="CourierNewPSMT"/>
              </a:rPr>
              <a:t>}</a:t>
            </a:r>
          </a:p>
          <a:p>
            <a:r>
              <a:rPr lang="en-US" b="1" dirty="0">
                <a:solidFill>
                  <a:srgbClr val="7F0055"/>
                </a:solidFill>
                <a:latin typeface="CourierNewPS-BoldMT"/>
              </a:rPr>
              <a:t>public void </a:t>
            </a:r>
            <a:r>
              <a:rPr lang="en-US" dirty="0" err="1">
                <a:solidFill>
                  <a:srgbClr val="000000"/>
                </a:solidFill>
                <a:latin typeface="CourierNewPSMT"/>
              </a:rPr>
              <a:t>testSetName</a:t>
            </a:r>
            <a:r>
              <a:rPr lang="en-US" dirty="0">
                <a:solidFill>
                  <a:srgbClr val="000000"/>
                </a:solidFill>
                <a:latin typeface="CourierNewPSMT"/>
              </a:rPr>
              <a:t>() {</a:t>
            </a:r>
          </a:p>
          <a:p>
            <a:r>
              <a:rPr lang="en-US" dirty="0">
                <a:solidFill>
                  <a:srgbClr val="000000"/>
                </a:solidFill>
                <a:latin typeface="CourierNewPSMT"/>
              </a:rPr>
              <a:t>Person p2 = </a:t>
            </a:r>
            <a:r>
              <a:rPr lang="en-US" b="1" dirty="0">
                <a:solidFill>
                  <a:srgbClr val="7F0055"/>
                </a:solidFill>
                <a:latin typeface="CourierNewPS-BoldMT"/>
              </a:rPr>
              <a:t>new </a:t>
            </a:r>
            <a:r>
              <a:rPr lang="en-US" dirty="0">
                <a:solidFill>
                  <a:srgbClr val="000000"/>
                </a:solidFill>
                <a:latin typeface="CourierNewPSMT"/>
              </a:rPr>
              <a:t>Person();</a:t>
            </a:r>
          </a:p>
          <a:p>
            <a:r>
              <a:rPr lang="en-US" dirty="0">
                <a:solidFill>
                  <a:srgbClr val="000000"/>
                </a:solidFill>
                <a:latin typeface="CourierNewPSMT"/>
              </a:rPr>
              <a:t>p2.setName(</a:t>
            </a:r>
            <a:r>
              <a:rPr lang="en-US" dirty="0">
                <a:solidFill>
                  <a:srgbClr val="2A00FF"/>
                </a:solidFill>
                <a:latin typeface="CourierNewPSMT"/>
              </a:rPr>
              <a:t>"Fred"</a:t>
            </a:r>
            <a:r>
              <a:rPr lang="en-US" dirty="0">
                <a:solidFill>
                  <a:srgbClr val="000000"/>
                </a:solidFill>
                <a:latin typeface="CourierNewPSMT"/>
              </a:rPr>
              <a:t>);</a:t>
            </a:r>
          </a:p>
          <a:p>
            <a:r>
              <a:rPr lang="en-US" i="1" dirty="0" err="1">
                <a:solidFill>
                  <a:srgbClr val="000000"/>
                </a:solidFill>
                <a:latin typeface="CourierNewPS-ItalicMT"/>
              </a:rPr>
              <a:t>assertEquals</a:t>
            </a:r>
            <a:r>
              <a:rPr lang="en-US" dirty="0">
                <a:solidFill>
                  <a:srgbClr val="000000"/>
                </a:solidFill>
                <a:latin typeface="CourierNewPSMT"/>
              </a:rPr>
              <a:t>(</a:t>
            </a:r>
            <a:r>
              <a:rPr lang="en-US" dirty="0">
                <a:solidFill>
                  <a:srgbClr val="2A00FF"/>
                </a:solidFill>
                <a:latin typeface="CourierNewPSMT"/>
              </a:rPr>
              <a:t>"Fred"</a:t>
            </a:r>
            <a:r>
              <a:rPr lang="en-US" dirty="0">
                <a:solidFill>
                  <a:srgbClr val="000000"/>
                </a:solidFill>
                <a:latin typeface="CourierNewPSMT"/>
              </a:rPr>
              <a:t>, p2.getName());</a:t>
            </a:r>
          </a:p>
          <a:p>
            <a:r>
              <a:rPr lang="en-US" dirty="0">
                <a:solidFill>
                  <a:srgbClr val="000000"/>
                </a:solidFill>
                <a:latin typeface="CourierNewPSMT"/>
              </a:rPr>
              <a:t>}</a:t>
            </a:r>
          </a:p>
          <a:p>
            <a:r>
              <a:rPr lang="en-US" b="1" dirty="0">
                <a:solidFill>
                  <a:srgbClr val="7F0055"/>
                </a:solidFill>
                <a:latin typeface="CourierNewPS-BoldMT"/>
              </a:rPr>
              <a:t>public void </a:t>
            </a:r>
            <a:r>
              <a:rPr lang="en-US" dirty="0" err="1">
                <a:solidFill>
                  <a:srgbClr val="000000"/>
                </a:solidFill>
                <a:latin typeface="CourierNewPSMT"/>
              </a:rPr>
              <a:t>testSetMaximumBooks</a:t>
            </a:r>
            <a:r>
              <a:rPr lang="en-US" dirty="0">
                <a:solidFill>
                  <a:srgbClr val="000000"/>
                </a:solidFill>
                <a:latin typeface="CourierNewPSMT"/>
              </a:rPr>
              <a:t>() {</a:t>
            </a:r>
          </a:p>
          <a:p>
            <a:r>
              <a:rPr lang="en-US" dirty="0">
                <a:solidFill>
                  <a:srgbClr val="000000"/>
                </a:solidFill>
                <a:latin typeface="CourierNewPSMT"/>
              </a:rPr>
              <a:t>Person p3 = </a:t>
            </a:r>
            <a:r>
              <a:rPr lang="en-US" b="1" dirty="0">
                <a:solidFill>
                  <a:srgbClr val="7F0055"/>
                </a:solidFill>
                <a:latin typeface="CourierNewPS-BoldMT"/>
              </a:rPr>
              <a:t>new </a:t>
            </a:r>
            <a:r>
              <a:rPr lang="en-US" dirty="0">
                <a:solidFill>
                  <a:srgbClr val="000000"/>
                </a:solidFill>
                <a:latin typeface="CourierNewPSMT"/>
              </a:rPr>
              <a:t>Person();</a:t>
            </a:r>
          </a:p>
          <a:p>
            <a:r>
              <a:rPr lang="en-US" dirty="0">
                <a:solidFill>
                  <a:srgbClr val="000000"/>
                </a:solidFill>
                <a:latin typeface="CourierNewPSMT"/>
              </a:rPr>
              <a:t>p3.setMaximumBooks(10);</a:t>
            </a:r>
          </a:p>
          <a:p>
            <a:r>
              <a:rPr lang="en-US" i="1" dirty="0" err="1">
                <a:solidFill>
                  <a:srgbClr val="000000"/>
                </a:solidFill>
                <a:latin typeface="CourierNewPS-ItalicMT"/>
              </a:rPr>
              <a:t>assertEquals</a:t>
            </a:r>
            <a:r>
              <a:rPr lang="en-US" dirty="0">
                <a:solidFill>
                  <a:srgbClr val="000000"/>
                </a:solidFill>
                <a:latin typeface="CourierNewPSMT"/>
              </a:rPr>
              <a:t>(10,p3.getMaximumBook());</a:t>
            </a:r>
          </a:p>
          <a:p>
            <a:r>
              <a:rPr lang="en-US" dirty="0">
                <a:solidFill>
                  <a:srgbClr val="000000"/>
                </a:solidFill>
                <a:latin typeface="CourierNewPSMT"/>
              </a:rPr>
              <a:t>}</a:t>
            </a:r>
          </a:p>
          <a:p>
            <a:r>
              <a:rPr lang="en-US" dirty="0">
                <a:solidFill>
                  <a:srgbClr val="000000"/>
                </a:solidFill>
                <a:latin typeface="CourierNewPSMT"/>
              </a:rPr>
              <a:t>}</a:t>
            </a:r>
            <a:endParaRPr lang="en-US" dirty="0"/>
          </a:p>
        </p:txBody>
      </p:sp>
    </p:spTree>
    <p:extLst>
      <p:ext uri="{BB962C8B-B14F-4D97-AF65-F5344CB8AC3E}">
        <p14:creationId xmlns:p14="http://schemas.microsoft.com/office/powerpoint/2010/main" val="13388206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173163" y="0"/>
            <a:ext cx="7772400" cy="1143000"/>
          </a:xfrm>
        </p:spPr>
        <p:txBody>
          <a:bodyPr/>
          <a:lstStyle/>
          <a:p>
            <a:r>
              <a:rPr lang="en-US" dirty="0"/>
              <a:t>Test – Dose checking </a:t>
            </a:r>
          </a:p>
        </p:txBody>
      </p:sp>
      <p:sp>
        <p:nvSpPr>
          <p:cNvPr id="6" name="Content Placeholder 5"/>
          <p:cNvSpPr>
            <a:spLocks noGrp="1"/>
          </p:cNvSpPr>
          <p:nvPr>
            <p:ph idx="1"/>
          </p:nvPr>
        </p:nvSpPr>
        <p:spPr>
          <a:xfrm>
            <a:off x="381000" y="990600"/>
            <a:ext cx="8382000" cy="4114800"/>
          </a:xfrm>
        </p:spPr>
        <p:txBody>
          <a:bodyPr/>
          <a:lstStyle/>
          <a:p>
            <a:pPr algn="just">
              <a:buFont typeface="Wingdings" panose="05000000000000000000" pitchFamily="2" charset="2"/>
              <a:buChar char="q"/>
            </a:pPr>
            <a:r>
              <a:rPr lang="en-US" sz="2000" b="1" dirty="0"/>
              <a:t>Input:</a:t>
            </a:r>
          </a:p>
          <a:p>
            <a:pPr lvl="1" algn="just">
              <a:buFont typeface="Wingdings" panose="05000000000000000000" pitchFamily="2" charset="2"/>
              <a:buChar char="q"/>
            </a:pPr>
            <a:r>
              <a:rPr lang="en-US" sz="2000" dirty="0"/>
              <a:t>1. A number in mg representing a single dose of the drug.</a:t>
            </a:r>
          </a:p>
          <a:p>
            <a:pPr lvl="1" algn="just">
              <a:buFont typeface="Wingdings" panose="05000000000000000000" pitchFamily="2" charset="2"/>
              <a:buChar char="q"/>
            </a:pPr>
            <a:r>
              <a:rPr lang="en-US" sz="2000" dirty="0"/>
              <a:t>2. A number representing the number of single doses per day.</a:t>
            </a:r>
          </a:p>
          <a:p>
            <a:pPr algn="just">
              <a:buFont typeface="Wingdings" panose="05000000000000000000" pitchFamily="2" charset="2"/>
              <a:buChar char="q"/>
            </a:pPr>
            <a:r>
              <a:rPr lang="en-US" sz="2000" b="1" dirty="0"/>
              <a:t>Tests:</a:t>
            </a:r>
          </a:p>
          <a:p>
            <a:pPr lvl="1" algn="just">
              <a:buFont typeface="Wingdings" panose="05000000000000000000" pitchFamily="2" charset="2"/>
              <a:buChar char="q"/>
            </a:pPr>
            <a:r>
              <a:rPr lang="en-US" sz="2000" dirty="0"/>
              <a:t>1. Test for inputs where the single dose is too high and too low.</a:t>
            </a:r>
          </a:p>
          <a:p>
            <a:pPr lvl="1" algn="just">
              <a:buFont typeface="Wingdings" panose="05000000000000000000" pitchFamily="2" charset="2"/>
              <a:buChar char="q"/>
            </a:pPr>
            <a:r>
              <a:rPr lang="en-US" sz="2000" dirty="0"/>
              <a:t>2. Test for inputs where the single dose is correct but the frequency is too high.</a:t>
            </a:r>
          </a:p>
          <a:p>
            <a:pPr lvl="1" algn="just">
              <a:buFont typeface="Wingdings" panose="05000000000000000000" pitchFamily="2" charset="2"/>
              <a:buChar char="q"/>
            </a:pPr>
            <a:r>
              <a:rPr lang="en-US" sz="2000" dirty="0"/>
              <a:t>3. Test for inputs where the single dose × frequency is too high and too low.</a:t>
            </a:r>
          </a:p>
          <a:p>
            <a:pPr lvl="1" algn="just">
              <a:buFont typeface="Wingdings" panose="05000000000000000000" pitchFamily="2" charset="2"/>
              <a:buChar char="q"/>
            </a:pPr>
            <a:r>
              <a:rPr lang="en-US" sz="2000" dirty="0"/>
              <a:t>4. Test for inputs where single dose × frequency is in the permitted range.</a:t>
            </a:r>
          </a:p>
          <a:p>
            <a:pPr>
              <a:buFont typeface="Wingdings" panose="05000000000000000000" pitchFamily="2" charset="2"/>
              <a:buChar char="q"/>
            </a:pPr>
            <a:r>
              <a:rPr lang="en-US" sz="2000" b="1" dirty="0"/>
              <a:t>Output:</a:t>
            </a:r>
          </a:p>
          <a:p>
            <a:pPr lvl="1">
              <a:buFont typeface="Wingdings" panose="05000000000000000000" pitchFamily="2" charset="2"/>
              <a:buChar char="q"/>
            </a:pPr>
            <a:r>
              <a:rPr lang="en-US" sz="2000" dirty="0"/>
              <a:t>OK or error message indicating that the dose is outside the safe range.</a:t>
            </a:r>
          </a:p>
        </p:txBody>
      </p:sp>
    </p:spTree>
    <p:extLst>
      <p:ext uri="{BB962C8B-B14F-4D97-AF65-F5344CB8AC3E}">
        <p14:creationId xmlns:p14="http://schemas.microsoft.com/office/powerpoint/2010/main" val="4109165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 calcmode="lin" valueType="num">
                                      <p:cBhvr additive="base">
                                        <p:cTn id="1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 calcmode="lin" valueType="num">
                                      <p:cBhvr additive="base">
                                        <p:cTn id="15"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 calcmode="lin" valueType="num">
                                      <p:cBhvr additive="base">
                                        <p:cTn id="2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anim calcmode="lin" valueType="num">
                                      <p:cBhvr additive="base">
                                        <p:cTn id="29"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6">
                                            <p:txEl>
                                              <p:pRg st="6" end="6"/>
                                            </p:txEl>
                                          </p:spTgt>
                                        </p:tgtEl>
                                        <p:attrNameLst>
                                          <p:attrName>style.visibility</p:attrName>
                                        </p:attrNameLst>
                                      </p:cBhvr>
                                      <p:to>
                                        <p:strVal val="visible"/>
                                      </p:to>
                                    </p:set>
                                    <p:anim calcmode="lin" valueType="num">
                                      <p:cBhvr additive="base">
                                        <p:cTn id="33"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anim calcmode="lin" valueType="num">
                                      <p:cBhvr additive="base">
                                        <p:cTn id="37"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xEl>
                                              <p:pRg st="8" end="8"/>
                                            </p:txEl>
                                          </p:spTgt>
                                        </p:tgtEl>
                                        <p:attrNameLst>
                                          <p:attrName>style.visibility</p:attrName>
                                        </p:attrNameLst>
                                      </p:cBhvr>
                                      <p:to>
                                        <p:strVal val="visible"/>
                                      </p:to>
                                    </p:set>
                                    <p:anim calcmode="lin" valueType="num">
                                      <p:cBhvr additive="base">
                                        <p:cTn id="43"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6">
                                            <p:txEl>
                                              <p:pRg st="9" end="9"/>
                                            </p:txEl>
                                          </p:spTgt>
                                        </p:tgtEl>
                                        <p:attrNameLst>
                                          <p:attrName>style.visibility</p:attrName>
                                        </p:attrNameLst>
                                      </p:cBhvr>
                                      <p:to>
                                        <p:strVal val="visible"/>
                                      </p:to>
                                    </p:set>
                                    <p:anim calcmode="lin" valueType="num">
                                      <p:cBhvr additive="base">
                                        <p:cTn id="47" dur="500" fill="hold"/>
                                        <p:tgtEl>
                                          <p:spTgt spid="6">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Pair programming</a:t>
            </a:r>
          </a:p>
        </p:txBody>
      </p:sp>
      <p:sp>
        <p:nvSpPr>
          <p:cNvPr id="3" name="Content Placeholder 2"/>
          <p:cNvSpPr>
            <a:spLocks noGrp="1"/>
          </p:cNvSpPr>
          <p:nvPr>
            <p:ph idx="1"/>
          </p:nvPr>
        </p:nvSpPr>
        <p:spPr>
          <a:xfrm>
            <a:off x="914400" y="1752600"/>
            <a:ext cx="7772400" cy="4114800"/>
          </a:xfrm>
        </p:spPr>
        <p:txBody>
          <a:bodyPr/>
          <a:lstStyle/>
          <a:p>
            <a:pPr algn="just">
              <a:lnSpc>
                <a:spcPct val="90000"/>
              </a:lnSpc>
              <a:buFont typeface="Wingdings" panose="05000000000000000000" pitchFamily="2" charset="2"/>
              <a:buChar char="q"/>
            </a:pPr>
            <a:r>
              <a:rPr lang="en-GB" sz="2400" dirty="0"/>
              <a:t>In pair programming, programmers sit together at the same workstation to develop the software.</a:t>
            </a:r>
            <a:endParaRPr lang="en-US" sz="2400" dirty="0"/>
          </a:p>
          <a:p>
            <a:pPr algn="just">
              <a:lnSpc>
                <a:spcPct val="90000"/>
              </a:lnSpc>
              <a:buFont typeface="Wingdings" panose="05000000000000000000" pitchFamily="2" charset="2"/>
              <a:buChar char="q"/>
            </a:pPr>
            <a:r>
              <a:rPr lang="en-US" sz="2400" dirty="0"/>
              <a:t>This helps develop common </a:t>
            </a:r>
            <a:r>
              <a:rPr lang="en-US" sz="2400" b="1" dirty="0"/>
              <a:t>ownership of code</a:t>
            </a:r>
            <a:r>
              <a:rPr lang="en-US" sz="2400" dirty="0"/>
              <a:t> and spreads knowledge across the team.</a:t>
            </a:r>
          </a:p>
          <a:p>
            <a:pPr algn="just">
              <a:lnSpc>
                <a:spcPct val="90000"/>
              </a:lnSpc>
              <a:buFont typeface="Wingdings" panose="05000000000000000000" pitchFamily="2" charset="2"/>
              <a:buChar char="q"/>
            </a:pPr>
            <a:r>
              <a:rPr lang="en-US" sz="2400" dirty="0"/>
              <a:t>It serves as an informal review process as each line of code is looked at by more than 1 person.</a:t>
            </a:r>
          </a:p>
          <a:p>
            <a:pPr algn="just">
              <a:lnSpc>
                <a:spcPct val="90000"/>
              </a:lnSpc>
              <a:buFont typeface="Wingdings" panose="05000000000000000000" pitchFamily="2" charset="2"/>
              <a:buChar char="q"/>
            </a:pPr>
            <a:r>
              <a:rPr lang="en-GB" sz="2400" dirty="0"/>
              <a:t>Pairs are created dynamically so that all team members work with each other during the development process.</a:t>
            </a:r>
          </a:p>
          <a:p>
            <a:pPr algn="just">
              <a:lnSpc>
                <a:spcPct val="90000"/>
              </a:lnSpc>
              <a:buFont typeface="Wingdings" panose="05000000000000000000" pitchFamily="2" charset="2"/>
              <a:buChar char="q"/>
            </a:pPr>
            <a:endParaRPr lang="en-US" sz="2400" dirty="0"/>
          </a:p>
          <a:p>
            <a:pPr algn="just">
              <a:buFont typeface="Wingdings" panose="05000000000000000000" pitchFamily="2" charset="2"/>
              <a:buChar char="q"/>
            </a:pPr>
            <a:endParaRPr lang="en-US" sz="2400" dirty="0"/>
          </a:p>
        </p:txBody>
      </p:sp>
    </p:spTree>
    <p:extLst>
      <p:ext uri="{BB962C8B-B14F-4D97-AF65-F5344CB8AC3E}">
        <p14:creationId xmlns:p14="http://schemas.microsoft.com/office/powerpoint/2010/main" val="3635860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Pair programming</a:t>
            </a:r>
          </a:p>
        </p:txBody>
      </p:sp>
      <p:sp>
        <p:nvSpPr>
          <p:cNvPr id="3" name="Content Placeholder 2"/>
          <p:cNvSpPr>
            <a:spLocks noGrp="1"/>
          </p:cNvSpPr>
          <p:nvPr>
            <p:ph idx="1"/>
          </p:nvPr>
        </p:nvSpPr>
        <p:spPr>
          <a:xfrm>
            <a:off x="838200" y="1752600"/>
            <a:ext cx="7772400" cy="4114800"/>
          </a:xfrm>
        </p:spPr>
        <p:txBody>
          <a:bodyPr/>
          <a:lstStyle/>
          <a:p>
            <a:pPr algn="just">
              <a:buFont typeface="Wingdings" panose="05000000000000000000" pitchFamily="2" charset="2"/>
              <a:buChar char="q"/>
            </a:pPr>
            <a:r>
              <a:rPr lang="en-GB" sz="2800" dirty="0"/>
              <a:t>The sharing of knowledge that happens during pair programming is very important as it reduces the overall risks to a project when </a:t>
            </a:r>
            <a:r>
              <a:rPr lang="en-GB" sz="2800" b="1" dirty="0"/>
              <a:t>team members leave</a:t>
            </a:r>
            <a:r>
              <a:rPr lang="en-GB" sz="2800" dirty="0"/>
              <a:t>.</a:t>
            </a:r>
          </a:p>
          <a:p>
            <a:pPr algn="just">
              <a:buFont typeface="Wingdings" panose="05000000000000000000" pitchFamily="2" charset="2"/>
              <a:buChar char="q"/>
            </a:pPr>
            <a:r>
              <a:rPr lang="en-GB" sz="2800" dirty="0"/>
              <a:t>Pair programming is not necessarily inefficient and there is evidence that a pair working together is more efficient than 2 programmers working separately. </a:t>
            </a:r>
            <a:endParaRPr lang="en-US" sz="2800" dirty="0"/>
          </a:p>
          <a:p>
            <a:pPr algn="just">
              <a:buFont typeface="Wingdings" panose="05000000000000000000" pitchFamily="2" charset="2"/>
              <a:buChar char="q"/>
            </a:pPr>
            <a:endParaRPr lang="en-US" sz="2800" dirty="0"/>
          </a:p>
        </p:txBody>
      </p:sp>
    </p:spTree>
    <p:extLst>
      <p:ext uri="{BB962C8B-B14F-4D97-AF65-F5344CB8AC3E}">
        <p14:creationId xmlns:p14="http://schemas.microsoft.com/office/powerpoint/2010/main" val="473662109"/>
      </p:ext>
    </p:extLst>
  </p:cSld>
  <p:clrMapOvr>
    <a:masterClrMapping/>
  </p:clrMapOvr>
</p:sld>
</file>

<file path=ppt/theme/theme1.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23038</TotalTime>
  <Words>2597</Words>
  <Application>Microsoft Office PowerPoint</Application>
  <PresentationFormat>On-screen Show (4:3)</PresentationFormat>
  <Paragraphs>236</Paragraphs>
  <Slides>31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Arial</vt:lpstr>
      <vt:lpstr>Calibri</vt:lpstr>
      <vt:lpstr>CourierNewPS-BoldMT</vt:lpstr>
      <vt:lpstr>CourierNewPS-ItalicMT</vt:lpstr>
      <vt:lpstr>CourierNewPSMT</vt:lpstr>
      <vt:lpstr>Monotype Sorts</vt:lpstr>
      <vt:lpstr>Times New Roman</vt:lpstr>
      <vt:lpstr>Wingdings</vt:lpstr>
      <vt:lpstr>Min halsduk</vt:lpstr>
      <vt:lpstr>Agile Software Development</vt:lpstr>
      <vt:lpstr>Agile methods</vt:lpstr>
      <vt:lpstr>Agile manifesto (strategy/platform)</vt:lpstr>
      <vt:lpstr>Rapid software development</vt:lpstr>
      <vt:lpstr>The principles of agile methods </vt:lpstr>
      <vt:lpstr>Agile method applicability</vt:lpstr>
      <vt:lpstr>Problems with agile methods</vt:lpstr>
      <vt:lpstr>Agile methods and software maintenance</vt:lpstr>
      <vt:lpstr>Technical, human, organizational issues</vt:lpstr>
      <vt:lpstr>Technical, human, organizational issues </vt:lpstr>
      <vt:lpstr>Technical, human, organizational issues</vt:lpstr>
      <vt:lpstr>Extreme programming</vt:lpstr>
      <vt:lpstr>XP and agile principles</vt:lpstr>
      <vt:lpstr>The extreme programming release cycle </vt:lpstr>
      <vt:lpstr>Extreme programming practices (a) </vt:lpstr>
      <vt:lpstr>Extreme programming practices (b)</vt:lpstr>
      <vt:lpstr>Requirements scenarios</vt:lpstr>
      <vt:lpstr>A ‘prescribing medication’ story </vt:lpstr>
      <vt:lpstr>A ‘prescribing medication’ story </vt:lpstr>
      <vt:lpstr>Examples of task cards for prescribing medication </vt:lpstr>
      <vt:lpstr>XP and change</vt:lpstr>
      <vt:lpstr>Refactoring</vt:lpstr>
      <vt:lpstr>Code Refactoring </vt:lpstr>
      <vt:lpstr>Examples of refactoring</vt:lpstr>
      <vt:lpstr>Testing in XP</vt:lpstr>
      <vt:lpstr>Test-first development</vt:lpstr>
      <vt:lpstr>Person class</vt:lpstr>
      <vt:lpstr>Test Case</vt:lpstr>
      <vt:lpstr>Test – Dose checking </vt:lpstr>
      <vt:lpstr>Pair programming</vt:lpstr>
      <vt:lpstr>Pair programming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Software Development</dc:title>
  <dc:creator>Ahmad Salman Khan</dc:creator>
  <cp:lastModifiedBy>ch waqar</cp:lastModifiedBy>
  <cp:revision>100</cp:revision>
  <dcterms:created xsi:type="dcterms:W3CDTF">2006-08-16T00:00:00Z</dcterms:created>
  <dcterms:modified xsi:type="dcterms:W3CDTF">2022-03-17T01:42:15Z</dcterms:modified>
</cp:coreProperties>
</file>
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82" r:id="rId8"/>
    <p:sldId id="283" r:id="rId9"/>
    <p:sldId id="265" r:id="rId10"/>
    <p:sldId id="266" r:id="rId11"/>
    <p:sldId id="267" r:id="rId12"/>
    <p:sldId id="268" r:id="rId13"/>
    <p:sldId id="269" r:id="rId14"/>
    <p:sldId id="270" r:id="rId15"/>
    <p:sldId id="287" r:id="rId16"/>
    <p:sldId id="273" r:id="rId17"/>
    <p:sldId id="274" r:id="rId18"/>
    <p:sldId id="286" r:id="rId19"/>
    <p:sldId id="272" r:id="rId20"/>
    <p:sldId id="285" r:id="rId21"/>
    <p:sldId id="276" r:id="rId22"/>
    <p:sldId id="277" r:id="rId23"/>
    <p:sldId id="288" r:id="rId24"/>
    <p:sldId id="278" r:id="rId25"/>
    <p:sldId id="279" r:id="rId26"/>
    <p:sldId id="280" r:id="rId27"/>
    <p:sldId id="281"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63" d="100"/>
          <a:sy n="63" d="100"/>
        </p:scale>
        <p:origin x="138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438400"/>
            <a:ext cx="9147175" cy="1063625"/>
            <a:chOff x="-2" y="1536"/>
            <a:chExt cx="5762" cy="670"/>
          </a:xfrm>
        </p:grpSpPr>
        <p:grpSp>
          <p:nvGrpSpPr>
            <p:cNvPr id="5" name="Group 3"/>
            <p:cNvGrpSpPr>
              <a:grpSpLocks/>
            </p:cNvGrpSpPr>
            <p:nvPr/>
          </p:nvGrpSpPr>
          <p:grpSpPr bwMode="auto">
            <a:xfrm flipH="1">
              <a:off x="-2" y="1562"/>
              <a:ext cx="5762" cy="638"/>
              <a:chOff x="-2" y="1562"/>
              <a:chExt cx="5762" cy="638"/>
            </a:xfrm>
          </p:grpSpPr>
          <p:sp>
            <p:nvSpPr>
              <p:cNvPr id="8" name="Freeform 4"/>
              <p:cNvSpPr>
                <a:spLocks/>
              </p:cNvSpPr>
              <p:nvPr/>
            </p:nvSpPr>
            <p:spPr bwMode="ltGray">
              <a:xfrm rot="-5400000">
                <a:off x="2559" y="-993"/>
                <a:ext cx="624" cy="5745"/>
              </a:xfrm>
              <a:custGeom>
                <a:avLst/>
                <a:gdLst>
                  <a:gd name="T0" fmla="*/ 0 w 1000"/>
                  <a:gd name="T1" fmla="*/ 0 h 720"/>
                  <a:gd name="T2" fmla="*/ 0 w 1000"/>
                  <a:gd name="T3" fmla="*/ 5745 h 720"/>
                  <a:gd name="T4" fmla="*/ 624 w 1000"/>
                  <a:gd name="T5" fmla="*/ 5745 h 720"/>
                  <a:gd name="T6" fmla="*/ 62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9" name="Freeform 5"/>
              <p:cNvSpPr>
                <a:spLocks/>
              </p:cNvSpPr>
              <p:nvPr/>
            </p:nvSpPr>
            <p:spPr bwMode="ltGray">
              <a:xfrm rot="-5400000">
                <a:off x="1323"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0" name="Freeform 6"/>
              <p:cNvSpPr>
                <a:spLocks/>
              </p:cNvSpPr>
              <p:nvPr/>
            </p:nvSpPr>
            <p:spPr bwMode="ltGray">
              <a:xfrm rot="-5400000">
                <a:off x="982"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1" name="Freeform 7"/>
              <p:cNvSpPr>
                <a:spLocks/>
              </p:cNvSpPr>
              <p:nvPr/>
            </p:nvSpPr>
            <p:spPr bwMode="ltGray">
              <a:xfrm rot="-5400000">
                <a:off x="-57" y="1752"/>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dirty="0">
                  <a:solidFill>
                    <a:srgbClr val="000000"/>
                  </a:solidFill>
                </a:endParaRPr>
              </a:p>
            </p:txBody>
          </p:sp>
          <p:sp>
            <p:nvSpPr>
              <p:cNvPr id="12" name="Freeform 8"/>
              <p:cNvSpPr>
                <a:spLocks/>
              </p:cNvSpPr>
              <p:nvPr/>
            </p:nvSpPr>
            <p:spPr bwMode="ltGray">
              <a:xfrm rot="-5400000">
                <a:off x="664" y="1733"/>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3" name="Freeform 9"/>
              <p:cNvSpPr>
                <a:spLocks/>
              </p:cNvSpPr>
              <p:nvPr/>
            </p:nvSpPr>
            <p:spPr bwMode="ltGray">
              <a:xfrm rot="-5400000">
                <a:off x="442" y="1699"/>
                <a:ext cx="624" cy="362"/>
              </a:xfrm>
              <a:custGeom>
                <a:avLst/>
                <a:gdLst>
                  <a:gd name="T0" fmla="*/ 0 w 624"/>
                  <a:gd name="T1" fmla="*/ 0 h 272"/>
                  <a:gd name="T2" fmla="*/ 0 w 624"/>
                  <a:gd name="T3" fmla="*/ 362 h 272"/>
                  <a:gd name="T4" fmla="*/ 240 w 624"/>
                  <a:gd name="T5" fmla="*/ 319 h 272"/>
                  <a:gd name="T6" fmla="*/ 624 w 624"/>
                  <a:gd name="T7" fmla="*/ 362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4" name="Freeform 10"/>
              <p:cNvSpPr>
                <a:spLocks/>
              </p:cNvSpPr>
              <p:nvPr/>
            </p:nvSpPr>
            <p:spPr bwMode="ltGray">
              <a:xfrm rot="-5400000">
                <a:off x="156" y="1726"/>
                <a:ext cx="632" cy="315"/>
              </a:xfrm>
              <a:custGeom>
                <a:avLst/>
                <a:gdLst>
                  <a:gd name="T0" fmla="*/ 8 w 632"/>
                  <a:gd name="T1" fmla="*/ 39 h 362"/>
                  <a:gd name="T2" fmla="*/ 8 w 632"/>
                  <a:gd name="T3" fmla="*/ 276 h 362"/>
                  <a:gd name="T4" fmla="*/ 248 w 632"/>
                  <a:gd name="T5" fmla="*/ 276 h 362"/>
                  <a:gd name="T6" fmla="*/ 632 w 632"/>
                  <a:gd name="T7" fmla="*/ 276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5" name="Freeform 11"/>
              <p:cNvSpPr>
                <a:spLocks/>
              </p:cNvSpPr>
              <p:nvPr/>
            </p:nvSpPr>
            <p:spPr bwMode="ltGray">
              <a:xfrm rot="-5400000">
                <a:off x="3211" y="1664"/>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6" name="Freeform 12"/>
              <p:cNvSpPr>
                <a:spLocks/>
              </p:cNvSpPr>
              <p:nvPr/>
            </p:nvSpPr>
            <p:spPr bwMode="ltGray">
              <a:xfrm rot="-5400000">
                <a:off x="2870" y="1664"/>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7" name="Freeform 13"/>
              <p:cNvSpPr>
                <a:spLocks/>
              </p:cNvSpPr>
              <p:nvPr/>
            </p:nvSpPr>
            <p:spPr bwMode="ltGray">
              <a:xfrm rot="-5400000">
                <a:off x="1830"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dirty="0">
                  <a:solidFill>
                    <a:srgbClr val="000000"/>
                  </a:solidFill>
                </a:endParaRPr>
              </a:p>
            </p:txBody>
          </p:sp>
          <p:sp>
            <p:nvSpPr>
              <p:cNvPr id="18" name="Freeform 14"/>
              <p:cNvSpPr>
                <a:spLocks/>
              </p:cNvSpPr>
              <p:nvPr/>
            </p:nvSpPr>
            <p:spPr bwMode="ltGray">
              <a:xfrm rot="-5400000">
                <a:off x="2551" y="1728"/>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9" name="Freeform 15"/>
              <p:cNvSpPr>
                <a:spLocks/>
              </p:cNvSpPr>
              <p:nvPr/>
            </p:nvSpPr>
            <p:spPr bwMode="ltGray">
              <a:xfrm rot="-5400000">
                <a:off x="2330"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0" name="Freeform 16"/>
              <p:cNvSpPr>
                <a:spLocks/>
              </p:cNvSpPr>
              <p:nvPr/>
            </p:nvSpPr>
            <p:spPr bwMode="ltGray">
              <a:xfrm rot="-5400000">
                <a:off x="2043"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1" name="Freeform 17"/>
              <p:cNvSpPr>
                <a:spLocks/>
              </p:cNvSpPr>
              <p:nvPr/>
            </p:nvSpPr>
            <p:spPr bwMode="ltGray">
              <a:xfrm rot="-5400000">
                <a:off x="4077"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2" name="Freeform 18"/>
              <p:cNvSpPr>
                <a:spLocks/>
              </p:cNvSpPr>
              <p:nvPr/>
            </p:nvSpPr>
            <p:spPr bwMode="ltGray">
              <a:xfrm rot="-5400000">
                <a:off x="3736"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3" name="Freeform 19"/>
              <p:cNvSpPr>
                <a:spLocks/>
              </p:cNvSpPr>
              <p:nvPr/>
            </p:nvSpPr>
            <p:spPr bwMode="ltGray">
              <a:xfrm rot="-5400000">
                <a:off x="4584"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dirty="0">
                  <a:solidFill>
                    <a:srgbClr val="000000"/>
                  </a:solidFill>
                </a:endParaRPr>
              </a:p>
            </p:txBody>
          </p:sp>
          <p:sp>
            <p:nvSpPr>
              <p:cNvPr id="24"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5" name="Freeform 21"/>
              <p:cNvSpPr>
                <a:spLocks/>
              </p:cNvSpPr>
              <p:nvPr/>
            </p:nvSpPr>
            <p:spPr bwMode="ltGray">
              <a:xfrm rot="-5400000">
                <a:off x="5084"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6" name="Freeform 22"/>
              <p:cNvSpPr>
                <a:spLocks/>
              </p:cNvSpPr>
              <p:nvPr/>
            </p:nvSpPr>
            <p:spPr bwMode="ltGray">
              <a:xfrm rot="-5400000">
                <a:off x="4797"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grpSp>
        <p:sp>
          <p:nvSpPr>
            <p:cNvPr id="6" name="Freeform 23"/>
            <p:cNvSpPr>
              <a:spLocks/>
            </p:cNvSpPr>
            <p:nvPr/>
          </p:nvSpPr>
          <p:spPr bwMode="ltGray">
            <a:xfrm flipH="1">
              <a:off x="-2" y="1536"/>
              <a:ext cx="5762" cy="412"/>
            </a:xfrm>
            <a:custGeom>
              <a:avLst/>
              <a:gdLst>
                <a:gd name="T0" fmla="*/ 0 w 5762"/>
                <a:gd name="T1" fmla="*/ 210 h 385"/>
                <a:gd name="T2" fmla="*/ 5762 w 5762"/>
                <a:gd name="T3" fmla="*/ 201 h 385"/>
                <a:gd name="T4" fmla="*/ 5762 w 5762"/>
                <a:gd name="T5" fmla="*/ 4 h 385"/>
                <a:gd name="T6" fmla="*/ 0 w 5762"/>
                <a:gd name="T7" fmla="*/ 0 h 385"/>
                <a:gd name="T8" fmla="*/ 0 w 5762"/>
                <a:gd name="T9" fmla="*/ 210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solidFill>
                  <a:srgbClr val="000000"/>
                </a:solidFill>
              </a:endParaRPr>
            </a:p>
          </p:txBody>
        </p:sp>
        <p:sp>
          <p:nvSpPr>
            <p:cNvPr id="7"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solidFill>
                  <a:srgbClr val="000000"/>
                </a:solidFill>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27" name="Rectangle 27"/>
          <p:cNvSpPr>
            <a:spLocks noGrp="1" noChangeArrowheads="1"/>
          </p:cNvSpPr>
          <p:nvPr>
            <p:ph type="dt" sz="half" idx="10"/>
          </p:nvPr>
        </p:nvSpPr>
        <p:spPr>
          <a:xfrm>
            <a:off x="1166813" y="6248400"/>
            <a:ext cx="1905000" cy="457200"/>
          </a:xfrm>
        </p:spPr>
        <p:txBody>
          <a:bodyPr/>
          <a:lstStyle>
            <a:lvl1pPr>
              <a:defRPr>
                <a:solidFill>
                  <a:srgbClr val="000000"/>
                </a:solidFill>
              </a:defRPr>
            </a:lvl1pPr>
          </a:lstStyle>
          <a:p>
            <a:pPr>
              <a:defRPr/>
            </a:pPr>
            <a:endParaRPr lang="en-US" dirty="0"/>
          </a:p>
        </p:txBody>
      </p:sp>
      <p:sp>
        <p:nvSpPr>
          <p:cNvPr id="28" name="Rectangle 28"/>
          <p:cNvSpPr>
            <a:spLocks noGrp="1" noChangeArrowheads="1"/>
          </p:cNvSpPr>
          <p:nvPr>
            <p:ph type="ftr" sz="quarter" idx="11"/>
          </p:nvPr>
        </p:nvSpPr>
        <p:spPr/>
        <p:txBody>
          <a:bodyPr/>
          <a:lstStyle>
            <a:lvl1pPr>
              <a:defRPr>
                <a:solidFill>
                  <a:srgbClr val="000000"/>
                </a:solidFill>
              </a:defRPr>
            </a:lvl1pPr>
          </a:lstStyle>
          <a:p>
            <a:pPr>
              <a:defRPr/>
            </a:pPr>
            <a:endParaRPr lang="en-US" dirty="0"/>
          </a:p>
        </p:txBody>
      </p:sp>
      <p:sp>
        <p:nvSpPr>
          <p:cNvPr id="29" name="Rectangle 29"/>
          <p:cNvSpPr>
            <a:spLocks noGrp="1" noChangeArrowheads="1"/>
          </p:cNvSpPr>
          <p:nvPr>
            <p:ph type="sldNum" sz="quarter" idx="12"/>
          </p:nvPr>
        </p:nvSpPr>
        <p:spPr/>
        <p:txBody>
          <a:bodyPr/>
          <a:lstStyle>
            <a:lvl1pPr>
              <a:defRPr>
                <a:solidFill>
                  <a:srgbClr val="000000"/>
                </a:solidFill>
              </a:defRPr>
            </a:lvl1pPr>
          </a:lstStyle>
          <a:p>
            <a:pPr>
              <a:defRPr/>
            </a:pPr>
            <a:fld id="{8B2BD1F4-E424-42A3-B945-217E93FF70A4}" type="slidenum">
              <a:rPr lang="en-US"/>
              <a:pPr>
                <a:defRPr/>
              </a:pPr>
              <a:t>‹#›</a:t>
            </a:fld>
            <a:endParaRPr lang="en-US" dirty="0"/>
          </a:p>
        </p:txBody>
      </p:sp>
    </p:spTree>
    <p:extLst>
      <p:ext uri="{BB962C8B-B14F-4D97-AF65-F5344CB8AC3E}">
        <p14:creationId xmlns:p14="http://schemas.microsoft.com/office/powerpoint/2010/main" val="2554236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dirty="0"/>
          </a:p>
        </p:txBody>
      </p:sp>
      <p:sp>
        <p:nvSpPr>
          <p:cNvPr id="5"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29"/>
          <p:cNvSpPr>
            <a:spLocks noGrp="1" noChangeArrowheads="1"/>
          </p:cNvSpPr>
          <p:nvPr>
            <p:ph type="sldNum" sz="quarter" idx="12"/>
          </p:nvPr>
        </p:nvSpPr>
        <p:spPr>
          <a:ln/>
        </p:spPr>
        <p:txBody>
          <a:bodyPr/>
          <a:lstStyle>
            <a:lvl1pPr>
              <a:defRPr/>
            </a:lvl1pPr>
          </a:lstStyle>
          <a:p>
            <a:pPr>
              <a:defRPr/>
            </a:pPr>
            <a:fld id="{1D75F301-EDCB-4BD9-9698-56ABF50BECEE}" type="slidenum">
              <a:rPr lang="en-US"/>
              <a:pPr>
                <a:defRPr/>
              </a:pPr>
              <a:t>‹#›</a:t>
            </a:fld>
            <a:endParaRPr lang="en-US" dirty="0"/>
          </a:p>
        </p:txBody>
      </p:sp>
    </p:spTree>
    <p:extLst>
      <p:ext uri="{BB962C8B-B14F-4D97-AF65-F5344CB8AC3E}">
        <p14:creationId xmlns:p14="http://schemas.microsoft.com/office/powerpoint/2010/main" val="663700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7"/>
          <p:cNvSpPr>
            <a:spLocks noGrp="1" noChangeArrowheads="1"/>
          </p:cNvSpPr>
          <p:nvPr>
            <p:ph type="dt" sz="half" idx="10"/>
          </p:nvPr>
        </p:nvSpPr>
        <p:spPr>
          <a:ln/>
        </p:spPr>
        <p:txBody>
          <a:bodyPr/>
          <a:lstStyle>
            <a:lvl1pPr>
              <a:defRPr/>
            </a:lvl1pPr>
          </a:lstStyle>
          <a:p>
            <a:pPr>
              <a:defRPr/>
            </a:pPr>
            <a:endParaRPr lang="en-US" dirty="0"/>
          </a:p>
        </p:txBody>
      </p:sp>
      <p:sp>
        <p:nvSpPr>
          <p:cNvPr id="5"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29"/>
          <p:cNvSpPr>
            <a:spLocks noGrp="1" noChangeArrowheads="1"/>
          </p:cNvSpPr>
          <p:nvPr>
            <p:ph type="sldNum" sz="quarter" idx="12"/>
          </p:nvPr>
        </p:nvSpPr>
        <p:spPr>
          <a:ln/>
        </p:spPr>
        <p:txBody>
          <a:bodyPr/>
          <a:lstStyle>
            <a:lvl1pPr>
              <a:defRPr/>
            </a:lvl1pPr>
          </a:lstStyle>
          <a:p>
            <a:pPr>
              <a:defRPr/>
            </a:pPr>
            <a:fld id="{6667F35D-7228-40A3-996D-E4DF2A678433}" type="slidenum">
              <a:rPr lang="en-US"/>
              <a:pPr>
                <a:defRPr/>
              </a:pPr>
              <a:t>‹#›</a:t>
            </a:fld>
            <a:endParaRPr lang="en-US" dirty="0"/>
          </a:p>
        </p:txBody>
      </p:sp>
    </p:spTree>
    <p:extLst>
      <p:ext uri="{BB962C8B-B14F-4D97-AF65-F5344CB8AC3E}">
        <p14:creationId xmlns:p14="http://schemas.microsoft.com/office/powerpoint/2010/main" val="2831514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dirty="0"/>
          </a:p>
        </p:txBody>
      </p:sp>
      <p:sp>
        <p:nvSpPr>
          <p:cNvPr id="6"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29"/>
          <p:cNvSpPr>
            <a:spLocks noGrp="1" noChangeArrowheads="1"/>
          </p:cNvSpPr>
          <p:nvPr>
            <p:ph type="sldNum" sz="quarter" idx="12"/>
          </p:nvPr>
        </p:nvSpPr>
        <p:spPr>
          <a:ln/>
        </p:spPr>
        <p:txBody>
          <a:bodyPr/>
          <a:lstStyle>
            <a:lvl1pPr>
              <a:defRPr/>
            </a:lvl1pPr>
          </a:lstStyle>
          <a:p>
            <a:pPr>
              <a:defRPr/>
            </a:pPr>
            <a:fld id="{650C38D6-2D0B-4050-BA63-50E50CEBCB03}" type="slidenum">
              <a:rPr lang="en-US"/>
              <a:pPr>
                <a:defRPr/>
              </a:pPr>
              <a:t>‹#›</a:t>
            </a:fld>
            <a:endParaRPr lang="en-US" dirty="0"/>
          </a:p>
        </p:txBody>
      </p:sp>
    </p:spTree>
    <p:extLst>
      <p:ext uri="{BB962C8B-B14F-4D97-AF65-F5344CB8AC3E}">
        <p14:creationId xmlns:p14="http://schemas.microsoft.com/office/powerpoint/2010/main" val="928812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dirty="0"/>
          </a:p>
        </p:txBody>
      </p:sp>
      <p:sp>
        <p:nvSpPr>
          <p:cNvPr id="8"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29"/>
          <p:cNvSpPr>
            <a:spLocks noGrp="1" noChangeArrowheads="1"/>
          </p:cNvSpPr>
          <p:nvPr>
            <p:ph type="sldNum" sz="quarter" idx="12"/>
          </p:nvPr>
        </p:nvSpPr>
        <p:spPr>
          <a:ln/>
        </p:spPr>
        <p:txBody>
          <a:bodyPr/>
          <a:lstStyle>
            <a:lvl1pPr>
              <a:defRPr/>
            </a:lvl1pPr>
          </a:lstStyle>
          <a:p>
            <a:pPr>
              <a:defRPr/>
            </a:pPr>
            <a:fld id="{1A6C0ED4-5B28-43CB-9F18-44C0F6FCA9E2}" type="slidenum">
              <a:rPr lang="en-US"/>
              <a:pPr>
                <a:defRPr/>
              </a:pPr>
              <a:t>‹#›</a:t>
            </a:fld>
            <a:endParaRPr lang="en-US" dirty="0"/>
          </a:p>
        </p:txBody>
      </p:sp>
    </p:spTree>
    <p:extLst>
      <p:ext uri="{BB962C8B-B14F-4D97-AF65-F5344CB8AC3E}">
        <p14:creationId xmlns:p14="http://schemas.microsoft.com/office/powerpoint/2010/main" val="318383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7"/>
          <p:cNvSpPr>
            <a:spLocks noGrp="1" noChangeArrowheads="1"/>
          </p:cNvSpPr>
          <p:nvPr>
            <p:ph type="dt" sz="half" idx="10"/>
          </p:nvPr>
        </p:nvSpPr>
        <p:spPr>
          <a:ln/>
        </p:spPr>
        <p:txBody>
          <a:bodyPr/>
          <a:lstStyle>
            <a:lvl1pPr>
              <a:defRPr/>
            </a:lvl1pPr>
          </a:lstStyle>
          <a:p>
            <a:pPr>
              <a:defRPr/>
            </a:pPr>
            <a:endParaRPr lang="en-US" dirty="0"/>
          </a:p>
        </p:txBody>
      </p:sp>
      <p:sp>
        <p:nvSpPr>
          <p:cNvPr id="4"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29"/>
          <p:cNvSpPr>
            <a:spLocks noGrp="1" noChangeArrowheads="1"/>
          </p:cNvSpPr>
          <p:nvPr>
            <p:ph type="sldNum" sz="quarter" idx="12"/>
          </p:nvPr>
        </p:nvSpPr>
        <p:spPr>
          <a:ln/>
        </p:spPr>
        <p:txBody>
          <a:bodyPr/>
          <a:lstStyle>
            <a:lvl1pPr>
              <a:defRPr/>
            </a:lvl1pPr>
          </a:lstStyle>
          <a:p>
            <a:pPr>
              <a:defRPr/>
            </a:pPr>
            <a:fld id="{0E3BE630-1277-4D2E-B89C-10C3ED41CA0A}" type="slidenum">
              <a:rPr lang="en-US"/>
              <a:pPr>
                <a:defRPr/>
              </a:pPr>
              <a:t>‹#›</a:t>
            </a:fld>
            <a:endParaRPr lang="en-US" dirty="0"/>
          </a:p>
        </p:txBody>
      </p:sp>
    </p:spTree>
    <p:extLst>
      <p:ext uri="{BB962C8B-B14F-4D97-AF65-F5344CB8AC3E}">
        <p14:creationId xmlns:p14="http://schemas.microsoft.com/office/powerpoint/2010/main" val="3493971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a:ln/>
        </p:spPr>
        <p:txBody>
          <a:bodyPr/>
          <a:lstStyle>
            <a:lvl1pPr>
              <a:defRPr/>
            </a:lvl1pPr>
          </a:lstStyle>
          <a:p>
            <a:pPr>
              <a:defRPr/>
            </a:pPr>
            <a:endParaRPr lang="en-US" dirty="0"/>
          </a:p>
        </p:txBody>
      </p:sp>
      <p:sp>
        <p:nvSpPr>
          <p:cNvPr id="3"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29"/>
          <p:cNvSpPr>
            <a:spLocks noGrp="1" noChangeArrowheads="1"/>
          </p:cNvSpPr>
          <p:nvPr>
            <p:ph type="sldNum" sz="quarter" idx="12"/>
          </p:nvPr>
        </p:nvSpPr>
        <p:spPr>
          <a:ln/>
        </p:spPr>
        <p:txBody>
          <a:bodyPr/>
          <a:lstStyle>
            <a:lvl1pPr>
              <a:defRPr/>
            </a:lvl1pPr>
          </a:lstStyle>
          <a:p>
            <a:pPr>
              <a:defRPr/>
            </a:pPr>
            <a:fld id="{989EB8E3-8BC4-4D72-A1AA-0860C55B0721}" type="slidenum">
              <a:rPr lang="en-US"/>
              <a:pPr>
                <a:defRPr/>
              </a:pPr>
              <a:t>‹#›</a:t>
            </a:fld>
            <a:endParaRPr lang="en-US" dirty="0"/>
          </a:p>
        </p:txBody>
      </p:sp>
    </p:spTree>
    <p:extLst>
      <p:ext uri="{BB962C8B-B14F-4D97-AF65-F5344CB8AC3E}">
        <p14:creationId xmlns:p14="http://schemas.microsoft.com/office/powerpoint/2010/main" val="891251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dirty="0"/>
          </a:p>
        </p:txBody>
      </p:sp>
      <p:sp>
        <p:nvSpPr>
          <p:cNvPr id="6"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29"/>
          <p:cNvSpPr>
            <a:spLocks noGrp="1" noChangeArrowheads="1"/>
          </p:cNvSpPr>
          <p:nvPr>
            <p:ph type="sldNum" sz="quarter" idx="12"/>
          </p:nvPr>
        </p:nvSpPr>
        <p:spPr>
          <a:ln/>
        </p:spPr>
        <p:txBody>
          <a:bodyPr/>
          <a:lstStyle>
            <a:lvl1pPr>
              <a:defRPr/>
            </a:lvl1pPr>
          </a:lstStyle>
          <a:p>
            <a:pPr>
              <a:defRPr/>
            </a:pPr>
            <a:fld id="{CA74F7DB-1450-4CBA-8C39-1E1A90922167}" type="slidenum">
              <a:rPr lang="en-US"/>
              <a:pPr>
                <a:defRPr/>
              </a:pPr>
              <a:t>‹#›</a:t>
            </a:fld>
            <a:endParaRPr lang="en-US" dirty="0"/>
          </a:p>
        </p:txBody>
      </p:sp>
    </p:spTree>
    <p:extLst>
      <p:ext uri="{BB962C8B-B14F-4D97-AF65-F5344CB8AC3E}">
        <p14:creationId xmlns:p14="http://schemas.microsoft.com/office/powerpoint/2010/main" val="184824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dirty="0"/>
          </a:p>
        </p:txBody>
      </p:sp>
      <p:sp>
        <p:nvSpPr>
          <p:cNvPr id="6"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29"/>
          <p:cNvSpPr>
            <a:spLocks noGrp="1" noChangeArrowheads="1"/>
          </p:cNvSpPr>
          <p:nvPr>
            <p:ph type="sldNum" sz="quarter" idx="12"/>
          </p:nvPr>
        </p:nvSpPr>
        <p:spPr>
          <a:ln/>
        </p:spPr>
        <p:txBody>
          <a:bodyPr/>
          <a:lstStyle>
            <a:lvl1pPr>
              <a:defRPr/>
            </a:lvl1pPr>
          </a:lstStyle>
          <a:p>
            <a:pPr>
              <a:defRPr/>
            </a:pPr>
            <a:fld id="{3D818030-9537-447F-8F66-C9A84BC016B9}" type="slidenum">
              <a:rPr lang="en-US"/>
              <a:pPr>
                <a:defRPr/>
              </a:pPr>
              <a:t>‹#›</a:t>
            </a:fld>
            <a:endParaRPr lang="en-US" dirty="0"/>
          </a:p>
        </p:txBody>
      </p:sp>
    </p:spTree>
    <p:extLst>
      <p:ext uri="{BB962C8B-B14F-4D97-AF65-F5344CB8AC3E}">
        <p14:creationId xmlns:p14="http://schemas.microsoft.com/office/powerpoint/2010/main" val="3898387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dirty="0"/>
          </a:p>
        </p:txBody>
      </p:sp>
      <p:sp>
        <p:nvSpPr>
          <p:cNvPr id="5"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29"/>
          <p:cNvSpPr>
            <a:spLocks noGrp="1" noChangeArrowheads="1"/>
          </p:cNvSpPr>
          <p:nvPr>
            <p:ph type="sldNum" sz="quarter" idx="12"/>
          </p:nvPr>
        </p:nvSpPr>
        <p:spPr>
          <a:ln/>
        </p:spPr>
        <p:txBody>
          <a:bodyPr/>
          <a:lstStyle>
            <a:lvl1pPr>
              <a:defRPr/>
            </a:lvl1pPr>
          </a:lstStyle>
          <a:p>
            <a:pPr>
              <a:defRPr/>
            </a:pPr>
            <a:fld id="{C7455E96-7F07-4323-AD8A-FB6AF12C0375}" type="slidenum">
              <a:rPr lang="en-US"/>
              <a:pPr>
                <a:defRPr/>
              </a:pPr>
              <a:t>‹#›</a:t>
            </a:fld>
            <a:endParaRPr lang="en-US" dirty="0"/>
          </a:p>
        </p:txBody>
      </p:sp>
    </p:spTree>
    <p:extLst>
      <p:ext uri="{BB962C8B-B14F-4D97-AF65-F5344CB8AC3E}">
        <p14:creationId xmlns:p14="http://schemas.microsoft.com/office/powerpoint/2010/main" val="2687124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dirty="0"/>
          </a:p>
        </p:txBody>
      </p:sp>
      <p:sp>
        <p:nvSpPr>
          <p:cNvPr id="5"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29"/>
          <p:cNvSpPr>
            <a:spLocks noGrp="1" noChangeArrowheads="1"/>
          </p:cNvSpPr>
          <p:nvPr>
            <p:ph type="sldNum" sz="quarter" idx="12"/>
          </p:nvPr>
        </p:nvSpPr>
        <p:spPr>
          <a:ln/>
        </p:spPr>
        <p:txBody>
          <a:bodyPr/>
          <a:lstStyle>
            <a:lvl1pPr>
              <a:defRPr/>
            </a:lvl1pPr>
          </a:lstStyle>
          <a:p>
            <a:pPr>
              <a:defRPr/>
            </a:pPr>
            <a:fld id="{9B21A8B6-01C7-4E3F-BA9C-CA2ECDFAEA74}" type="slidenum">
              <a:rPr lang="en-US"/>
              <a:pPr>
                <a:defRPr/>
              </a:pPr>
              <a:t>‹#›</a:t>
            </a:fld>
            <a:endParaRPr lang="en-US" dirty="0"/>
          </a:p>
        </p:txBody>
      </p:sp>
    </p:spTree>
    <p:extLst>
      <p:ext uri="{BB962C8B-B14F-4D97-AF65-F5344CB8AC3E}">
        <p14:creationId xmlns:p14="http://schemas.microsoft.com/office/powerpoint/2010/main" val="12680912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dirty="0"/>
          </a:p>
        </p:txBody>
      </p:sp>
      <p:sp>
        <p:nvSpPr>
          <p:cNvPr id="6"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29"/>
          <p:cNvSpPr>
            <a:spLocks noGrp="1" noChangeArrowheads="1"/>
          </p:cNvSpPr>
          <p:nvPr>
            <p:ph type="sldNum" sz="quarter" idx="12"/>
          </p:nvPr>
        </p:nvSpPr>
        <p:spPr>
          <a:ln/>
        </p:spPr>
        <p:txBody>
          <a:bodyPr/>
          <a:lstStyle>
            <a:lvl1pPr>
              <a:defRPr/>
            </a:lvl1pPr>
          </a:lstStyle>
          <a:p>
            <a:pPr>
              <a:defRPr/>
            </a:pPr>
            <a:fld id="{D6C46936-761E-4CD3-9821-5E4E0EFE33DD}" type="slidenum">
              <a:rPr lang="en-US"/>
              <a:pPr>
                <a:defRPr/>
              </a:pPr>
              <a:t>‹#›</a:t>
            </a:fld>
            <a:endParaRPr lang="en-US" dirty="0"/>
          </a:p>
        </p:txBody>
      </p:sp>
    </p:spTree>
    <p:extLst>
      <p:ext uri="{BB962C8B-B14F-4D97-AF65-F5344CB8AC3E}">
        <p14:creationId xmlns:p14="http://schemas.microsoft.com/office/powerpoint/2010/main" val="21054063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dirty="0"/>
          </a:p>
        </p:txBody>
      </p:sp>
      <p:sp>
        <p:nvSpPr>
          <p:cNvPr id="8"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29"/>
          <p:cNvSpPr>
            <a:spLocks noGrp="1" noChangeArrowheads="1"/>
          </p:cNvSpPr>
          <p:nvPr>
            <p:ph type="sldNum" sz="quarter" idx="12"/>
          </p:nvPr>
        </p:nvSpPr>
        <p:spPr>
          <a:ln/>
        </p:spPr>
        <p:txBody>
          <a:bodyPr/>
          <a:lstStyle>
            <a:lvl1pPr>
              <a:defRPr/>
            </a:lvl1pPr>
          </a:lstStyle>
          <a:p>
            <a:pPr>
              <a:defRPr/>
            </a:pPr>
            <a:fld id="{B383EA38-ADEA-4E50-A82C-56C648E5C8E1}" type="slidenum">
              <a:rPr lang="en-US"/>
              <a:pPr>
                <a:defRPr/>
              </a:pPr>
              <a:t>‹#›</a:t>
            </a:fld>
            <a:endParaRPr lang="en-US" dirty="0"/>
          </a:p>
        </p:txBody>
      </p:sp>
    </p:spTree>
    <p:extLst>
      <p:ext uri="{BB962C8B-B14F-4D97-AF65-F5344CB8AC3E}">
        <p14:creationId xmlns:p14="http://schemas.microsoft.com/office/powerpoint/2010/main" val="3056600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dirty="0">
              <a:solidFill>
                <a:srgbClr val="000000"/>
              </a:solidFill>
              <a:latin typeface="Times New Roman" panose="02020603050405020304" pitchFamily="18" charset="0"/>
            </a:endParaRPr>
          </a:p>
        </p:txBody>
      </p:sp>
      <p:sp>
        <p:nvSpPr>
          <p:cNvPr id="2051"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52"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solidFill>
                  <a:srgbClr val="000000"/>
                </a:solidFill>
                <a:latin typeface="+mn-lt"/>
              </a:defRPr>
            </a:lvl1pPr>
          </a:lstStyle>
          <a:p>
            <a:pPr>
              <a:defRPr/>
            </a:pPr>
            <a:endParaRPr lang="en-US" dirty="0"/>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solidFill>
                  <a:srgbClr val="000000"/>
                </a:solidFill>
                <a:latin typeface="+mn-lt"/>
              </a:defRPr>
            </a:lvl1pPr>
          </a:lstStyle>
          <a:p>
            <a:pPr>
              <a:defRPr/>
            </a:pPr>
            <a:endParaRPr lang="en-US" dirty="0"/>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solidFill>
                  <a:srgbClr val="000000"/>
                </a:solidFill>
                <a:latin typeface="+mn-lt"/>
              </a:defRPr>
            </a:lvl1pPr>
          </a:lstStyle>
          <a:p>
            <a:pPr>
              <a:defRPr/>
            </a:pPr>
            <a:fld id="{F09C266B-C234-4306-899E-1A60CEFAF4E8}" type="slidenum">
              <a:rPr lang="en-US"/>
              <a:pPr>
                <a:defRPr/>
              </a:pPr>
              <a:t>‹#›</a:t>
            </a:fld>
            <a:endParaRPr lang="en-US" dirty="0"/>
          </a:p>
        </p:txBody>
      </p:sp>
      <p:sp>
        <p:nvSpPr>
          <p:cNvPr id="2056"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dirty="0">
              <a:solidFill>
                <a:srgbClr val="000000"/>
              </a:solidFill>
              <a:latin typeface="Times New Roman" panose="02020603050405020304" pitchFamily="18" charset="0"/>
            </a:endParaRPr>
          </a:p>
        </p:txBody>
      </p:sp>
      <p:sp>
        <p:nvSpPr>
          <p:cNvPr id="2057"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5832345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3888" y="1219200"/>
            <a:ext cx="8139112" cy="2852737"/>
          </a:xfrm>
        </p:spPr>
        <p:txBody>
          <a:bodyPr/>
          <a:lstStyle/>
          <a:p>
            <a:r>
              <a:rPr lang="en-US" dirty="0"/>
              <a:t>Requirement Engineering</a:t>
            </a:r>
          </a:p>
        </p:txBody>
      </p:sp>
    </p:spTree>
    <p:extLst>
      <p:ext uri="{BB962C8B-B14F-4D97-AF65-F5344CB8AC3E}">
        <p14:creationId xmlns:p14="http://schemas.microsoft.com/office/powerpoint/2010/main" val="1508496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a:xfrm>
            <a:off x="457201" y="1676400"/>
            <a:ext cx="8488362" cy="4114800"/>
          </a:xfrm>
        </p:spPr>
        <p:txBody>
          <a:bodyPr/>
          <a:lstStyle/>
          <a:p>
            <a:pPr>
              <a:buFont typeface="Wingdings" panose="05000000000000000000" pitchFamily="2" charset="2"/>
              <a:buChar char="q"/>
            </a:pPr>
            <a:r>
              <a:rPr lang="en-US" dirty="0"/>
              <a:t>Functional and non-functional requirements</a:t>
            </a:r>
            <a:endParaRPr lang="en-GB" dirty="0"/>
          </a:p>
          <a:p>
            <a:pPr>
              <a:buFont typeface="Wingdings" panose="05000000000000000000" pitchFamily="2" charset="2"/>
              <a:buChar char="q"/>
            </a:pPr>
            <a:r>
              <a:rPr lang="en-US" dirty="0"/>
              <a:t>The software requirements document </a:t>
            </a:r>
            <a:endParaRPr lang="en-GB" dirty="0"/>
          </a:p>
          <a:p>
            <a:pPr>
              <a:buFont typeface="Wingdings" panose="05000000000000000000" pitchFamily="2" charset="2"/>
              <a:buChar char="q"/>
            </a:pPr>
            <a:r>
              <a:rPr lang="en-US" dirty="0"/>
              <a:t>Requirements specification</a:t>
            </a:r>
            <a:endParaRPr lang="en-GB" dirty="0"/>
          </a:p>
          <a:p>
            <a:pPr>
              <a:buFont typeface="Wingdings" panose="05000000000000000000" pitchFamily="2" charset="2"/>
              <a:buChar char="q"/>
            </a:pPr>
            <a:r>
              <a:rPr lang="en-US" dirty="0"/>
              <a:t>Requirements engineering processes</a:t>
            </a:r>
            <a:endParaRPr lang="en-GB" dirty="0"/>
          </a:p>
          <a:p>
            <a:pPr>
              <a:buFont typeface="Wingdings" panose="05000000000000000000" pitchFamily="2" charset="2"/>
              <a:buChar char="q"/>
            </a:pPr>
            <a:r>
              <a:rPr lang="en-US" dirty="0"/>
              <a:t>Requirements elicitation and analysis</a:t>
            </a:r>
            <a:endParaRPr lang="en-GB" dirty="0"/>
          </a:p>
          <a:p>
            <a:pPr>
              <a:buFont typeface="Wingdings" panose="05000000000000000000" pitchFamily="2" charset="2"/>
              <a:buChar char="q"/>
            </a:pPr>
            <a:r>
              <a:rPr lang="en-US" dirty="0"/>
              <a:t>Requirements validation</a:t>
            </a:r>
            <a:endParaRPr lang="en-GB" dirty="0"/>
          </a:p>
          <a:p>
            <a:pPr>
              <a:buFont typeface="Wingdings" panose="05000000000000000000" pitchFamily="2" charset="2"/>
              <a:buChar char="q"/>
            </a:pPr>
            <a:r>
              <a:rPr lang="en-US" dirty="0"/>
              <a:t>Requirements management</a:t>
            </a:r>
            <a:endParaRPr lang="en-GB" dirty="0"/>
          </a:p>
          <a:p>
            <a:pPr>
              <a:buFont typeface="Wingdings" panose="05000000000000000000" pitchFamily="2" charset="2"/>
              <a:buChar char="q"/>
            </a:pPr>
            <a:endParaRPr lang="en-US" dirty="0"/>
          </a:p>
        </p:txBody>
      </p:sp>
    </p:spTree>
    <p:extLst>
      <p:ext uri="{BB962C8B-B14F-4D97-AF65-F5344CB8AC3E}">
        <p14:creationId xmlns:p14="http://schemas.microsoft.com/office/powerpoint/2010/main" val="186896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engineering</a:t>
            </a:r>
            <a:endParaRPr lang="en-US" dirty="0"/>
          </a:p>
        </p:txBody>
      </p:sp>
      <p:sp>
        <p:nvSpPr>
          <p:cNvPr id="3" name="Content Placeholder 2"/>
          <p:cNvSpPr>
            <a:spLocks noGrp="1"/>
          </p:cNvSpPr>
          <p:nvPr>
            <p:ph idx="1"/>
          </p:nvPr>
        </p:nvSpPr>
        <p:spPr>
          <a:xfrm>
            <a:off x="609600" y="1828800"/>
            <a:ext cx="7772400" cy="4114800"/>
          </a:xfrm>
        </p:spPr>
        <p:txBody>
          <a:bodyPr/>
          <a:lstStyle/>
          <a:p>
            <a:pPr algn="just">
              <a:buFont typeface="Wingdings" panose="05000000000000000000" pitchFamily="2" charset="2"/>
              <a:buChar char="q"/>
            </a:pPr>
            <a:r>
              <a:rPr lang="en-GB" dirty="0"/>
              <a:t>The process of establishing the </a:t>
            </a:r>
            <a:r>
              <a:rPr lang="en-GB" b="1" dirty="0"/>
              <a:t>services</a:t>
            </a:r>
            <a:r>
              <a:rPr lang="en-GB" dirty="0"/>
              <a:t> that the customer requires from a system and the </a:t>
            </a:r>
            <a:r>
              <a:rPr lang="en-GB" b="1" dirty="0"/>
              <a:t>constraints</a:t>
            </a:r>
            <a:r>
              <a:rPr lang="en-GB" dirty="0"/>
              <a:t> under which it operates and is developed.</a:t>
            </a:r>
          </a:p>
          <a:p>
            <a:pPr algn="just">
              <a:buFont typeface="Wingdings" panose="05000000000000000000" pitchFamily="2" charset="2"/>
              <a:buChar char="q"/>
            </a:pPr>
            <a:r>
              <a:rPr lang="en-GB" dirty="0"/>
              <a:t>The requirements themselves are the descriptions of the system services and constraints that are generated during the requirements engineering process.</a:t>
            </a:r>
          </a:p>
          <a:p>
            <a:pPr algn="just">
              <a:buFont typeface="Wingdings" panose="05000000000000000000" pitchFamily="2" charset="2"/>
              <a:buChar char="q"/>
            </a:pPr>
            <a:endParaRPr lang="en-US" dirty="0"/>
          </a:p>
        </p:txBody>
      </p:sp>
    </p:spTree>
    <p:extLst>
      <p:ext uri="{BB962C8B-B14F-4D97-AF65-F5344CB8AC3E}">
        <p14:creationId xmlns:p14="http://schemas.microsoft.com/office/powerpoint/2010/main" val="3250384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GB" dirty="0"/>
              <a:t>What is a requirement?</a:t>
            </a:r>
            <a:endParaRPr lang="en-US" dirty="0"/>
          </a:p>
        </p:txBody>
      </p:sp>
      <p:sp>
        <p:nvSpPr>
          <p:cNvPr id="3" name="Content Placeholder 2"/>
          <p:cNvSpPr>
            <a:spLocks noGrp="1"/>
          </p:cNvSpPr>
          <p:nvPr>
            <p:ph idx="1"/>
          </p:nvPr>
        </p:nvSpPr>
        <p:spPr>
          <a:xfrm>
            <a:off x="381000" y="1371600"/>
            <a:ext cx="7772400" cy="4114800"/>
          </a:xfrm>
        </p:spPr>
        <p:txBody>
          <a:bodyPr/>
          <a:lstStyle/>
          <a:p>
            <a:pPr algn="just">
              <a:lnSpc>
                <a:spcPct val="90000"/>
              </a:lnSpc>
              <a:buFont typeface="Wingdings" panose="05000000000000000000" pitchFamily="2" charset="2"/>
              <a:buChar char="q"/>
            </a:pPr>
            <a:r>
              <a:rPr lang="en-GB" dirty="0"/>
              <a:t>It may range from a high-level abstract statement of a service or of a system constraint to a detailed mathematical functional specification.</a:t>
            </a:r>
          </a:p>
          <a:p>
            <a:pPr algn="just">
              <a:lnSpc>
                <a:spcPct val="90000"/>
              </a:lnSpc>
              <a:buFont typeface="Wingdings" panose="05000000000000000000" pitchFamily="2" charset="2"/>
              <a:buChar char="q"/>
            </a:pPr>
            <a:r>
              <a:rPr lang="en-GB" dirty="0"/>
              <a:t>Requirements may serve a dual function</a:t>
            </a:r>
          </a:p>
          <a:p>
            <a:pPr lvl="1" algn="just">
              <a:lnSpc>
                <a:spcPct val="90000"/>
              </a:lnSpc>
              <a:buFont typeface="Wingdings" panose="05000000000000000000" pitchFamily="2" charset="2"/>
              <a:buChar char="q"/>
            </a:pPr>
            <a:r>
              <a:rPr lang="en-GB" dirty="0"/>
              <a:t>May be the basis for a bid for a contract - therefore must be open to interpretation;</a:t>
            </a:r>
          </a:p>
          <a:p>
            <a:pPr lvl="1" algn="just">
              <a:lnSpc>
                <a:spcPct val="90000"/>
              </a:lnSpc>
              <a:buFont typeface="Wingdings" panose="05000000000000000000" pitchFamily="2" charset="2"/>
              <a:buChar char="q"/>
            </a:pPr>
            <a:r>
              <a:rPr lang="en-GB" dirty="0"/>
              <a:t>May be the basis for the contract itself - therefore must be defined in detail;</a:t>
            </a:r>
          </a:p>
          <a:p>
            <a:pPr lvl="1" algn="just">
              <a:lnSpc>
                <a:spcPct val="90000"/>
              </a:lnSpc>
              <a:buFont typeface="Wingdings" panose="05000000000000000000" pitchFamily="2" charset="2"/>
              <a:buChar char="q"/>
            </a:pPr>
            <a:r>
              <a:rPr lang="en-GB" dirty="0"/>
              <a:t>Both these statements may be called requirements.</a:t>
            </a:r>
          </a:p>
          <a:p>
            <a:pPr algn="just">
              <a:buFont typeface="Wingdings" panose="05000000000000000000" pitchFamily="2" charset="2"/>
              <a:buChar char="q"/>
            </a:pPr>
            <a:endParaRPr lang="en-US" dirty="0"/>
          </a:p>
        </p:txBody>
      </p:sp>
    </p:spTree>
    <p:extLst>
      <p:ext uri="{BB962C8B-B14F-4D97-AF65-F5344CB8AC3E}">
        <p14:creationId xmlns:p14="http://schemas.microsoft.com/office/powerpoint/2010/main" val="350328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GB" dirty="0"/>
              <a:t>Requirements abstraction </a:t>
            </a:r>
            <a:endParaRPr lang="en-US" dirty="0"/>
          </a:p>
        </p:txBody>
      </p:sp>
      <p:sp>
        <p:nvSpPr>
          <p:cNvPr id="3" name="Content Placeholder 2"/>
          <p:cNvSpPr>
            <a:spLocks noGrp="1"/>
          </p:cNvSpPr>
          <p:nvPr>
            <p:ph idx="1"/>
          </p:nvPr>
        </p:nvSpPr>
        <p:spPr>
          <a:xfrm>
            <a:off x="1066800" y="1371600"/>
            <a:ext cx="7772400" cy="4114800"/>
          </a:xfrm>
        </p:spPr>
        <p:txBody>
          <a:bodyPr/>
          <a:lstStyle/>
          <a:p>
            <a:pPr algn="just">
              <a:buFont typeface="Wingdings" panose="05000000000000000000" pitchFamily="2" charset="2"/>
              <a:buChar char="q"/>
            </a:pPr>
            <a:r>
              <a:rPr lang="en-US" sz="2400" dirty="0">
                <a:solidFill>
                  <a:srgbClr val="000000"/>
                </a:solidFill>
                <a:ea typeface="Times New Roman"/>
                <a:cs typeface="Arial"/>
              </a:rPr>
              <a:t>“If a company wishes to </a:t>
            </a:r>
            <a:r>
              <a:rPr lang="en-US" sz="2400" b="1" dirty="0">
                <a:solidFill>
                  <a:srgbClr val="000000"/>
                </a:solidFill>
                <a:ea typeface="Times New Roman"/>
                <a:cs typeface="Arial"/>
              </a:rPr>
              <a:t>let a contract</a:t>
            </a:r>
            <a:r>
              <a:rPr lang="en-US" sz="2400" dirty="0">
                <a:solidFill>
                  <a:srgbClr val="000000"/>
                </a:solidFill>
                <a:ea typeface="Times New Roman"/>
                <a:cs typeface="Arial"/>
              </a:rPr>
              <a:t> for a large software development project, it must define its needs in a </a:t>
            </a:r>
            <a:r>
              <a:rPr lang="en-US" sz="2400" b="1" dirty="0">
                <a:solidFill>
                  <a:srgbClr val="000000"/>
                </a:solidFill>
                <a:ea typeface="Times New Roman"/>
                <a:cs typeface="Arial"/>
              </a:rPr>
              <a:t>sufficiently abstract</a:t>
            </a:r>
            <a:r>
              <a:rPr lang="en-US" sz="2400" dirty="0">
                <a:solidFill>
                  <a:srgbClr val="000000"/>
                </a:solidFill>
                <a:ea typeface="Times New Roman"/>
                <a:cs typeface="Arial"/>
              </a:rPr>
              <a:t> way that a </a:t>
            </a:r>
            <a:r>
              <a:rPr lang="en-US" sz="2400" b="1" dirty="0">
                <a:solidFill>
                  <a:srgbClr val="000000"/>
                </a:solidFill>
                <a:ea typeface="Times New Roman"/>
                <a:cs typeface="Arial"/>
              </a:rPr>
              <a:t>solution is not pre-defined</a:t>
            </a:r>
            <a:r>
              <a:rPr lang="en-US" sz="2400" dirty="0">
                <a:solidFill>
                  <a:srgbClr val="000000"/>
                </a:solidFill>
                <a:ea typeface="Times New Roman"/>
                <a:cs typeface="Arial"/>
              </a:rPr>
              <a:t>. </a:t>
            </a:r>
          </a:p>
          <a:p>
            <a:pPr algn="just">
              <a:buFont typeface="Wingdings" panose="05000000000000000000" pitchFamily="2" charset="2"/>
              <a:buChar char="q"/>
            </a:pPr>
            <a:r>
              <a:rPr lang="en-US" sz="2400" dirty="0">
                <a:solidFill>
                  <a:srgbClr val="000000"/>
                </a:solidFill>
                <a:ea typeface="Times New Roman"/>
                <a:cs typeface="Arial"/>
              </a:rPr>
              <a:t>The requirements must be written so that </a:t>
            </a:r>
            <a:r>
              <a:rPr lang="en-US" sz="2400" b="1" dirty="0">
                <a:solidFill>
                  <a:srgbClr val="000000"/>
                </a:solidFill>
                <a:ea typeface="Times New Roman"/>
                <a:cs typeface="Arial"/>
              </a:rPr>
              <a:t>several contractors can bid</a:t>
            </a:r>
            <a:r>
              <a:rPr lang="en-US" sz="2400" dirty="0">
                <a:solidFill>
                  <a:srgbClr val="000000"/>
                </a:solidFill>
                <a:ea typeface="Times New Roman"/>
                <a:cs typeface="Arial"/>
              </a:rPr>
              <a:t> for the contract, offering, perhaps, </a:t>
            </a:r>
            <a:r>
              <a:rPr lang="en-US" sz="2400" b="1" dirty="0">
                <a:solidFill>
                  <a:srgbClr val="000000"/>
                </a:solidFill>
                <a:ea typeface="Times New Roman"/>
                <a:cs typeface="Arial"/>
              </a:rPr>
              <a:t>different ways</a:t>
            </a:r>
            <a:r>
              <a:rPr lang="en-US" sz="2400" dirty="0">
                <a:solidFill>
                  <a:srgbClr val="000000"/>
                </a:solidFill>
                <a:ea typeface="Times New Roman"/>
                <a:cs typeface="Arial"/>
              </a:rPr>
              <a:t> of meeting the client organization’s needs. </a:t>
            </a:r>
          </a:p>
          <a:p>
            <a:pPr algn="just">
              <a:buFont typeface="Wingdings" panose="05000000000000000000" pitchFamily="2" charset="2"/>
              <a:buChar char="q"/>
            </a:pPr>
            <a:r>
              <a:rPr lang="en-US" sz="2400" dirty="0">
                <a:solidFill>
                  <a:srgbClr val="000000"/>
                </a:solidFill>
                <a:ea typeface="Times New Roman"/>
                <a:cs typeface="Arial"/>
              </a:rPr>
              <a:t>Once a contract has been </a:t>
            </a:r>
            <a:r>
              <a:rPr lang="en-US" sz="2400" b="1" dirty="0">
                <a:solidFill>
                  <a:srgbClr val="000000"/>
                </a:solidFill>
                <a:ea typeface="Times New Roman"/>
                <a:cs typeface="Arial"/>
              </a:rPr>
              <a:t>awarded</a:t>
            </a:r>
            <a:r>
              <a:rPr lang="en-US" sz="2400" dirty="0">
                <a:solidFill>
                  <a:srgbClr val="000000"/>
                </a:solidFill>
                <a:ea typeface="Times New Roman"/>
                <a:cs typeface="Arial"/>
              </a:rPr>
              <a:t>, the contractor must write a </a:t>
            </a:r>
            <a:r>
              <a:rPr lang="en-US" sz="2400" b="1" dirty="0">
                <a:solidFill>
                  <a:srgbClr val="000000"/>
                </a:solidFill>
                <a:ea typeface="Times New Roman"/>
                <a:cs typeface="Arial"/>
              </a:rPr>
              <a:t>system definition for the client in more detail</a:t>
            </a:r>
            <a:r>
              <a:rPr lang="en-US" sz="2400" dirty="0">
                <a:solidFill>
                  <a:srgbClr val="000000"/>
                </a:solidFill>
                <a:ea typeface="Times New Roman"/>
                <a:cs typeface="Arial"/>
              </a:rPr>
              <a:t> so that the </a:t>
            </a:r>
            <a:r>
              <a:rPr lang="en-US" sz="2400" b="1" dirty="0">
                <a:solidFill>
                  <a:srgbClr val="000000"/>
                </a:solidFill>
                <a:ea typeface="Times New Roman"/>
                <a:cs typeface="Arial"/>
              </a:rPr>
              <a:t>client understands and can validate</a:t>
            </a:r>
            <a:r>
              <a:rPr lang="en-US" sz="2400" dirty="0">
                <a:solidFill>
                  <a:srgbClr val="000000"/>
                </a:solidFill>
                <a:ea typeface="Times New Roman"/>
                <a:cs typeface="Arial"/>
              </a:rPr>
              <a:t> what the software will do. Both of these documents may be called the requirements document for the system.”</a:t>
            </a:r>
            <a:endParaRPr lang="en-US" sz="2400" dirty="0">
              <a:cs typeface="Arial"/>
            </a:endParaRP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1175764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requirement</a:t>
            </a:r>
            <a:endParaRPr lang="en-US" dirty="0"/>
          </a:p>
        </p:txBody>
      </p:sp>
      <p:sp>
        <p:nvSpPr>
          <p:cNvPr id="3" name="Content Placeholder 2"/>
          <p:cNvSpPr>
            <a:spLocks noGrp="1"/>
          </p:cNvSpPr>
          <p:nvPr>
            <p:ph idx="1"/>
          </p:nvPr>
        </p:nvSpPr>
        <p:spPr>
          <a:xfrm>
            <a:off x="685800" y="1676400"/>
            <a:ext cx="7772400" cy="4114800"/>
          </a:xfrm>
        </p:spPr>
        <p:txBody>
          <a:bodyPr/>
          <a:lstStyle/>
          <a:p>
            <a:pPr algn="just">
              <a:buFont typeface="Wingdings" panose="05000000000000000000" pitchFamily="2" charset="2"/>
              <a:buChar char="q"/>
            </a:pPr>
            <a:r>
              <a:rPr lang="en-GB" sz="2400" dirty="0"/>
              <a:t>User requirements</a:t>
            </a:r>
          </a:p>
          <a:p>
            <a:pPr lvl="1" algn="just">
              <a:buFont typeface="Wingdings" panose="05000000000000000000" pitchFamily="2" charset="2"/>
              <a:buChar char="q"/>
            </a:pPr>
            <a:r>
              <a:rPr lang="en-GB" sz="2400" dirty="0"/>
              <a:t>Statements in natural language plus diagrams of the services the system provides and its operational constraints. Written for customers.</a:t>
            </a:r>
          </a:p>
          <a:p>
            <a:pPr algn="just">
              <a:buFont typeface="Wingdings" panose="05000000000000000000" pitchFamily="2" charset="2"/>
              <a:buChar char="q"/>
            </a:pPr>
            <a:r>
              <a:rPr lang="en-GB" sz="2400" dirty="0"/>
              <a:t>System requirements</a:t>
            </a:r>
          </a:p>
          <a:p>
            <a:pPr lvl="1" algn="just">
              <a:buFont typeface="Wingdings" panose="05000000000000000000" pitchFamily="2" charset="2"/>
              <a:buChar char="q"/>
            </a:pPr>
            <a:r>
              <a:rPr lang="en-GB" sz="2400" dirty="0"/>
              <a:t>A structured document setting out detailed descriptions of the system’s functions, services and operational constraints. Defines what should be implemented so may be part of a contract between client and contractor.</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464367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and system requirements</a:t>
            </a:r>
            <a:r>
              <a:rPr lang="en-GB" dirty="0"/>
              <a:t> </a:t>
            </a:r>
            <a:endParaRPr lang="en-US" dirty="0"/>
          </a:p>
        </p:txBody>
      </p:sp>
      <p:pic>
        <p:nvPicPr>
          <p:cNvPr id="4" name="Picture 3"/>
          <p:cNvPicPr>
            <a:picLocks noChangeAspect="1"/>
          </p:cNvPicPr>
          <p:nvPr/>
        </p:nvPicPr>
        <p:blipFill>
          <a:blip r:embed="rId2"/>
          <a:stretch>
            <a:fillRect/>
          </a:stretch>
        </p:blipFill>
        <p:spPr>
          <a:xfrm>
            <a:off x="1081710" y="1600200"/>
            <a:ext cx="6919290" cy="4985044"/>
          </a:xfrm>
          <a:prstGeom prst="rect">
            <a:avLst/>
          </a:prstGeom>
        </p:spPr>
      </p:pic>
    </p:spTree>
    <p:extLst>
      <p:ext uri="{BB962C8B-B14F-4D97-AF65-F5344CB8AC3E}">
        <p14:creationId xmlns:p14="http://schemas.microsoft.com/office/powerpoint/2010/main" val="315480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Readers of different types of requirements specification</a:t>
            </a:r>
            <a:r>
              <a:rPr lang="en-GB" dirty="0"/>
              <a:t> </a:t>
            </a:r>
            <a:endParaRPr lang="en-US" dirty="0"/>
          </a:p>
        </p:txBody>
      </p:sp>
      <p:pic>
        <p:nvPicPr>
          <p:cNvPr id="4" name="Picture 3"/>
          <p:cNvPicPr>
            <a:picLocks noChangeAspect="1"/>
          </p:cNvPicPr>
          <p:nvPr/>
        </p:nvPicPr>
        <p:blipFill>
          <a:blip r:embed="rId2"/>
          <a:stretch>
            <a:fillRect/>
          </a:stretch>
        </p:blipFill>
        <p:spPr>
          <a:xfrm>
            <a:off x="884170" y="1981200"/>
            <a:ext cx="7559576" cy="3962400"/>
          </a:xfrm>
          <a:prstGeom prst="rect">
            <a:avLst/>
          </a:prstGeom>
        </p:spPr>
      </p:pic>
    </p:spTree>
    <p:extLst>
      <p:ext uri="{BB962C8B-B14F-4D97-AF65-F5344CB8AC3E}">
        <p14:creationId xmlns:p14="http://schemas.microsoft.com/office/powerpoint/2010/main" val="3767316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GB" sz="3600" dirty="0"/>
              <a:t>Functional and non-functional requirements</a:t>
            </a:r>
            <a:endParaRPr lang="en-US" sz="3600" dirty="0"/>
          </a:p>
        </p:txBody>
      </p:sp>
      <p:sp>
        <p:nvSpPr>
          <p:cNvPr id="3" name="Content Placeholder 2"/>
          <p:cNvSpPr>
            <a:spLocks noGrp="1"/>
          </p:cNvSpPr>
          <p:nvPr>
            <p:ph idx="1"/>
          </p:nvPr>
        </p:nvSpPr>
        <p:spPr>
          <a:xfrm>
            <a:off x="609600" y="1600200"/>
            <a:ext cx="7772400" cy="4114800"/>
          </a:xfrm>
        </p:spPr>
        <p:txBody>
          <a:bodyPr/>
          <a:lstStyle/>
          <a:p>
            <a:pPr>
              <a:lnSpc>
                <a:spcPct val="90000"/>
              </a:lnSpc>
              <a:buFont typeface="Wingdings" panose="05000000000000000000" pitchFamily="2" charset="2"/>
              <a:buChar char="q"/>
            </a:pPr>
            <a:r>
              <a:rPr lang="en-GB" sz="2400" dirty="0"/>
              <a:t>Functional requirements</a:t>
            </a:r>
          </a:p>
          <a:p>
            <a:pPr lvl="1">
              <a:lnSpc>
                <a:spcPct val="90000"/>
              </a:lnSpc>
              <a:buFont typeface="Wingdings" panose="05000000000000000000" pitchFamily="2" charset="2"/>
              <a:buChar char="q"/>
            </a:pPr>
            <a:r>
              <a:rPr lang="en-GB" sz="2400" dirty="0"/>
              <a:t>Statements of services the system should provide, how the system should react to particular inputs and how the system should behave in particular situations.</a:t>
            </a:r>
          </a:p>
          <a:p>
            <a:pPr>
              <a:lnSpc>
                <a:spcPct val="90000"/>
              </a:lnSpc>
              <a:buFont typeface="Wingdings" panose="05000000000000000000" pitchFamily="2" charset="2"/>
              <a:buChar char="q"/>
            </a:pPr>
            <a:r>
              <a:rPr lang="en-GB" sz="2400" dirty="0"/>
              <a:t>Non-functional requirements</a:t>
            </a:r>
          </a:p>
          <a:p>
            <a:pPr lvl="1">
              <a:lnSpc>
                <a:spcPct val="90000"/>
              </a:lnSpc>
              <a:buFont typeface="Wingdings" panose="05000000000000000000" pitchFamily="2" charset="2"/>
              <a:buChar char="q"/>
            </a:pPr>
            <a:r>
              <a:rPr lang="en-GB" sz="2400" dirty="0"/>
              <a:t>Constraints on the services or functions offered by the system such as timing constraints, constraints on the development process, standards, etc.</a:t>
            </a:r>
          </a:p>
          <a:p>
            <a:pPr lvl="1">
              <a:lnSpc>
                <a:spcPct val="90000"/>
              </a:lnSpc>
              <a:buFont typeface="Wingdings" panose="05000000000000000000" pitchFamily="2" charset="2"/>
              <a:buChar char="q"/>
            </a:pPr>
            <a:r>
              <a:rPr lang="en-GB" sz="2400" dirty="0"/>
              <a:t>Often apply to the system as a whole rather than individual features or services.</a:t>
            </a:r>
          </a:p>
          <a:p>
            <a:pPr marL="0" indent="0">
              <a:buNone/>
            </a:pPr>
            <a:endParaRPr lang="en-US" sz="2400" dirty="0"/>
          </a:p>
        </p:txBody>
      </p:sp>
    </p:spTree>
    <p:extLst>
      <p:ext uri="{BB962C8B-B14F-4D97-AF65-F5344CB8AC3E}">
        <p14:creationId xmlns:p14="http://schemas.microsoft.com/office/powerpoint/2010/main" val="284173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GB" dirty="0"/>
              <a:t>Functional requirements</a:t>
            </a:r>
            <a:endParaRPr lang="en-US" dirty="0"/>
          </a:p>
        </p:txBody>
      </p:sp>
      <p:sp>
        <p:nvSpPr>
          <p:cNvPr id="3" name="Content Placeholder 2"/>
          <p:cNvSpPr>
            <a:spLocks noGrp="1"/>
          </p:cNvSpPr>
          <p:nvPr>
            <p:ph idx="1"/>
          </p:nvPr>
        </p:nvSpPr>
        <p:spPr>
          <a:xfrm>
            <a:off x="762000" y="1371600"/>
            <a:ext cx="7772400" cy="4114800"/>
          </a:xfrm>
        </p:spPr>
        <p:txBody>
          <a:bodyPr/>
          <a:lstStyle/>
          <a:p>
            <a:pPr algn="just">
              <a:buFont typeface="Wingdings" panose="05000000000000000000" pitchFamily="2" charset="2"/>
              <a:buChar char="q"/>
            </a:pPr>
            <a:r>
              <a:rPr lang="en-US" sz="2400" dirty="0"/>
              <a:t>The functional requirements for a system describe what the system should do.</a:t>
            </a:r>
            <a:endParaRPr lang="en-GB" sz="2400" dirty="0"/>
          </a:p>
          <a:p>
            <a:pPr algn="just">
              <a:buFont typeface="Wingdings" panose="05000000000000000000" pitchFamily="2" charset="2"/>
              <a:buChar char="q"/>
            </a:pPr>
            <a:r>
              <a:rPr lang="en-GB" sz="2400" dirty="0"/>
              <a:t>Describe functionality or system services.</a:t>
            </a:r>
          </a:p>
          <a:p>
            <a:pPr algn="just">
              <a:buFont typeface="Wingdings" panose="05000000000000000000" pitchFamily="2" charset="2"/>
              <a:buChar char="q"/>
            </a:pPr>
            <a:r>
              <a:rPr lang="en-GB" sz="2400" dirty="0"/>
              <a:t>Depend on the type of software, expected users and the type of system where the software is used.</a:t>
            </a:r>
          </a:p>
          <a:p>
            <a:pPr>
              <a:buFont typeface="Wingdings" panose="05000000000000000000" pitchFamily="2" charset="2"/>
              <a:buChar char="q"/>
            </a:pPr>
            <a:r>
              <a:rPr lang="en-US" sz="2400" dirty="0"/>
              <a:t>When expressed as user requirements, functional requirements are usually described in an abstract way that can be understood by system users.</a:t>
            </a:r>
            <a:endParaRPr lang="en-GB" sz="2400" dirty="0"/>
          </a:p>
          <a:p>
            <a:pPr>
              <a:buFont typeface="Wingdings" panose="05000000000000000000" pitchFamily="2" charset="2"/>
              <a:buChar char="q"/>
            </a:pPr>
            <a:r>
              <a:rPr lang="en-US" sz="2400" dirty="0"/>
              <a:t>More specific functional system requirements describe the system functions, its inputs and outputs, exceptions, etc., in detail. </a:t>
            </a:r>
            <a:endParaRPr lang="en-GB" sz="2400" dirty="0"/>
          </a:p>
          <a:p>
            <a:pPr algn="just">
              <a:buFont typeface="Wingdings" panose="05000000000000000000" pitchFamily="2" charset="2"/>
              <a:buChar char="q"/>
            </a:pPr>
            <a:endParaRPr lang="en-US" sz="2800" dirty="0"/>
          </a:p>
        </p:txBody>
      </p:sp>
    </p:spTree>
    <p:extLst>
      <p:ext uri="{BB962C8B-B14F-4D97-AF65-F5344CB8AC3E}">
        <p14:creationId xmlns:p14="http://schemas.microsoft.com/office/powerpoint/2010/main" val="2224198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requirements for the MHC-PMS</a:t>
            </a:r>
          </a:p>
        </p:txBody>
      </p:sp>
      <p:sp>
        <p:nvSpPr>
          <p:cNvPr id="3" name="Content Placeholder 2"/>
          <p:cNvSpPr>
            <a:spLocks noGrp="1"/>
          </p:cNvSpPr>
          <p:nvPr>
            <p:ph idx="1"/>
          </p:nvPr>
        </p:nvSpPr>
        <p:spPr>
          <a:xfrm>
            <a:off x="990600" y="1828800"/>
            <a:ext cx="7772400" cy="4114800"/>
          </a:xfrm>
        </p:spPr>
        <p:txBody>
          <a:bodyPr/>
          <a:lstStyle/>
          <a:p>
            <a:pPr>
              <a:buFont typeface="Wingdings" panose="05000000000000000000" pitchFamily="2" charset="2"/>
              <a:buChar char="q"/>
            </a:pPr>
            <a:r>
              <a:rPr lang="en-US" dirty="0"/>
              <a:t>A user shall be able to search the appointments lists for all clinics.</a:t>
            </a:r>
            <a:endParaRPr lang="en-GB" dirty="0"/>
          </a:p>
          <a:p>
            <a:pPr>
              <a:buFont typeface="Wingdings" panose="05000000000000000000" pitchFamily="2" charset="2"/>
              <a:buChar char="q"/>
            </a:pPr>
            <a:r>
              <a:rPr lang="en-US" dirty="0"/>
              <a:t>The system shall generate each day, for each clinic, a list of patients who are expected to attend appointments that day. </a:t>
            </a:r>
            <a:endParaRPr lang="en-GB" dirty="0"/>
          </a:p>
          <a:p>
            <a:pPr>
              <a:buFont typeface="Wingdings" panose="05000000000000000000" pitchFamily="2" charset="2"/>
              <a:buChar char="q"/>
            </a:pPr>
            <a:r>
              <a:rPr lang="en-US" dirty="0"/>
              <a:t>Each staff member using the system shall be uniquely identified by his or her 8-digit employee number.</a:t>
            </a:r>
            <a:r>
              <a:rPr lang="en-GB" dirty="0"/>
              <a:t> </a:t>
            </a:r>
            <a:endParaRPr lang="en-US" dirty="0"/>
          </a:p>
          <a:p>
            <a:pPr>
              <a:buFont typeface="Wingdings" panose="05000000000000000000" pitchFamily="2" charset="2"/>
              <a:buChar char="q"/>
            </a:pPr>
            <a:endParaRPr lang="en-US" dirty="0"/>
          </a:p>
        </p:txBody>
      </p:sp>
    </p:spTree>
    <p:extLst>
      <p:ext uri="{BB962C8B-B14F-4D97-AF65-F5344CB8AC3E}">
        <p14:creationId xmlns:p14="http://schemas.microsoft.com/office/powerpoint/2010/main" val="1398170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GB" dirty="0"/>
              <a:t>Requirements imprecision</a:t>
            </a:r>
            <a:endParaRPr lang="en-US" dirty="0"/>
          </a:p>
        </p:txBody>
      </p:sp>
      <p:sp>
        <p:nvSpPr>
          <p:cNvPr id="3" name="Content Placeholder 2"/>
          <p:cNvSpPr>
            <a:spLocks noGrp="1"/>
          </p:cNvSpPr>
          <p:nvPr>
            <p:ph idx="1"/>
          </p:nvPr>
        </p:nvSpPr>
        <p:spPr>
          <a:xfrm>
            <a:off x="1173163" y="1219200"/>
            <a:ext cx="7772400" cy="4114800"/>
          </a:xfrm>
        </p:spPr>
        <p:txBody>
          <a:bodyPr/>
          <a:lstStyle/>
          <a:p>
            <a:pPr>
              <a:buFont typeface="Wingdings" panose="05000000000000000000" pitchFamily="2" charset="2"/>
              <a:buChar char="q"/>
            </a:pPr>
            <a:r>
              <a:rPr lang="en-GB" sz="2800" dirty="0"/>
              <a:t>Problems arise when requirements are not precisely stated.</a:t>
            </a:r>
          </a:p>
          <a:p>
            <a:pPr>
              <a:buFont typeface="Wingdings" panose="05000000000000000000" pitchFamily="2" charset="2"/>
              <a:buChar char="q"/>
            </a:pPr>
            <a:r>
              <a:rPr lang="en-GB" sz="2800" dirty="0"/>
              <a:t>Ambiguous requirements may be interpreted in different ways by developers and users.</a:t>
            </a:r>
          </a:p>
          <a:p>
            <a:pPr>
              <a:buFont typeface="Wingdings" panose="05000000000000000000" pitchFamily="2" charset="2"/>
              <a:buChar char="q"/>
            </a:pPr>
            <a:r>
              <a:rPr lang="en-GB" sz="2800" dirty="0"/>
              <a:t>Consider the term ‘search’ in requirement 1</a:t>
            </a:r>
          </a:p>
          <a:p>
            <a:pPr lvl="1">
              <a:buFont typeface="Wingdings" panose="05000000000000000000" pitchFamily="2" charset="2"/>
              <a:buChar char="q"/>
            </a:pPr>
            <a:r>
              <a:rPr lang="en-GB" dirty="0"/>
              <a:t>User intention – search for a patient name across all appointments in all clinics;</a:t>
            </a:r>
          </a:p>
          <a:p>
            <a:pPr lvl="1">
              <a:buFont typeface="Wingdings" panose="05000000000000000000" pitchFamily="2" charset="2"/>
              <a:buChar char="q"/>
            </a:pPr>
            <a:r>
              <a:rPr lang="en-GB" dirty="0"/>
              <a:t>Developer interpretation – search for a patient name in an individual clinic. User chooses clinic then search.</a:t>
            </a:r>
          </a:p>
          <a:p>
            <a:pPr>
              <a:buFont typeface="Wingdings" panose="05000000000000000000" pitchFamily="2" charset="2"/>
              <a:buChar char="q"/>
            </a:pPr>
            <a:endParaRPr lang="en-US" sz="2800" dirty="0"/>
          </a:p>
        </p:txBody>
      </p:sp>
    </p:spTree>
    <p:extLst>
      <p:ext uri="{BB962C8B-B14F-4D97-AF65-F5344CB8AC3E}">
        <p14:creationId xmlns:p14="http://schemas.microsoft.com/office/powerpoint/2010/main" val="4284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completeness and consistency</a:t>
            </a:r>
            <a:endParaRPr lang="en-US" dirty="0"/>
          </a:p>
        </p:txBody>
      </p:sp>
      <p:sp>
        <p:nvSpPr>
          <p:cNvPr id="3" name="Content Placeholder 2"/>
          <p:cNvSpPr>
            <a:spLocks noGrp="1"/>
          </p:cNvSpPr>
          <p:nvPr>
            <p:ph idx="1"/>
          </p:nvPr>
        </p:nvSpPr>
        <p:spPr>
          <a:xfrm>
            <a:off x="1173163" y="1752600"/>
            <a:ext cx="7772400" cy="4114800"/>
          </a:xfrm>
        </p:spPr>
        <p:txBody>
          <a:bodyPr/>
          <a:lstStyle/>
          <a:p>
            <a:pPr>
              <a:buFont typeface="Wingdings" panose="05000000000000000000" pitchFamily="2" charset="2"/>
              <a:buChar char="q"/>
            </a:pPr>
            <a:r>
              <a:rPr lang="en-GB" sz="2400" dirty="0"/>
              <a:t>In principle, requirements should be both complete and consistent.</a:t>
            </a:r>
          </a:p>
          <a:p>
            <a:pPr>
              <a:buFont typeface="Wingdings" panose="05000000000000000000" pitchFamily="2" charset="2"/>
              <a:buChar char="q"/>
            </a:pPr>
            <a:r>
              <a:rPr lang="en-GB" sz="2400" dirty="0"/>
              <a:t>Complete</a:t>
            </a:r>
          </a:p>
          <a:p>
            <a:pPr lvl="1">
              <a:buFont typeface="Wingdings" panose="05000000000000000000" pitchFamily="2" charset="2"/>
              <a:buChar char="q"/>
            </a:pPr>
            <a:r>
              <a:rPr lang="en-GB" sz="2400" dirty="0"/>
              <a:t>They should include descriptions of all functionality required.</a:t>
            </a:r>
          </a:p>
          <a:p>
            <a:pPr>
              <a:buFont typeface="Wingdings" panose="05000000000000000000" pitchFamily="2" charset="2"/>
              <a:buChar char="q"/>
            </a:pPr>
            <a:r>
              <a:rPr lang="en-GB" sz="2400" dirty="0"/>
              <a:t>Consistent</a:t>
            </a:r>
          </a:p>
          <a:p>
            <a:pPr lvl="1">
              <a:buFont typeface="Wingdings" panose="05000000000000000000" pitchFamily="2" charset="2"/>
              <a:buChar char="q"/>
            </a:pPr>
            <a:r>
              <a:rPr lang="en-GB" sz="2400" dirty="0"/>
              <a:t>There should be no conflicts or contradictions in the descriptions of the system facilities.</a:t>
            </a:r>
          </a:p>
          <a:p>
            <a:pPr>
              <a:buFont typeface="Wingdings" panose="05000000000000000000" pitchFamily="2" charset="2"/>
              <a:buChar char="q"/>
            </a:pPr>
            <a:r>
              <a:rPr lang="en-GB" sz="2400" dirty="0"/>
              <a:t>In practice, it is impossible to produce a complete and consistent requirements document.</a:t>
            </a:r>
            <a:endParaRPr lang="en-US" sz="2400" dirty="0"/>
          </a:p>
        </p:txBody>
      </p:sp>
    </p:spTree>
    <p:extLst>
      <p:ext uri="{BB962C8B-B14F-4D97-AF65-F5344CB8AC3E}">
        <p14:creationId xmlns:p14="http://schemas.microsoft.com/office/powerpoint/2010/main" val="1493294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GB" dirty="0"/>
              <a:t>Non-functional requirements</a:t>
            </a:r>
            <a:endParaRPr lang="en-US" dirty="0"/>
          </a:p>
        </p:txBody>
      </p:sp>
      <p:sp>
        <p:nvSpPr>
          <p:cNvPr id="3" name="Content Placeholder 2"/>
          <p:cNvSpPr>
            <a:spLocks noGrp="1"/>
          </p:cNvSpPr>
          <p:nvPr>
            <p:ph idx="1"/>
          </p:nvPr>
        </p:nvSpPr>
        <p:spPr>
          <a:xfrm>
            <a:off x="1173163" y="1371600"/>
            <a:ext cx="7772400" cy="4114800"/>
          </a:xfrm>
        </p:spPr>
        <p:txBody>
          <a:bodyPr/>
          <a:lstStyle/>
          <a:p>
            <a:pPr>
              <a:lnSpc>
                <a:spcPct val="90000"/>
              </a:lnSpc>
              <a:buFont typeface="Wingdings" panose="05000000000000000000" pitchFamily="2" charset="2"/>
              <a:buChar char="q"/>
            </a:pPr>
            <a:r>
              <a:rPr lang="en-US" sz="2400" dirty="0"/>
              <a:t>Non-functional requirements, as the name suggests, are requirements that are not directly concerned with the specific services delivered by the system to its users</a:t>
            </a:r>
            <a:endParaRPr lang="en-GB" sz="2400" dirty="0"/>
          </a:p>
          <a:p>
            <a:pPr>
              <a:lnSpc>
                <a:spcPct val="90000"/>
              </a:lnSpc>
              <a:buFont typeface="Wingdings" panose="05000000000000000000" pitchFamily="2" charset="2"/>
              <a:buChar char="q"/>
            </a:pPr>
            <a:r>
              <a:rPr lang="en-GB" sz="2400" dirty="0"/>
              <a:t>These define system properties and constraints </a:t>
            </a:r>
          </a:p>
          <a:p>
            <a:pPr lvl="1">
              <a:lnSpc>
                <a:spcPct val="90000"/>
              </a:lnSpc>
              <a:buFont typeface="Wingdings" panose="05000000000000000000" pitchFamily="2" charset="2"/>
              <a:buChar char="q"/>
            </a:pPr>
            <a:r>
              <a:rPr lang="en-GB" sz="2000" dirty="0"/>
              <a:t>System properties such as reliability, response time and storage requirements. </a:t>
            </a:r>
          </a:p>
          <a:p>
            <a:pPr lvl="1">
              <a:lnSpc>
                <a:spcPct val="90000"/>
              </a:lnSpc>
              <a:buFont typeface="Wingdings" panose="05000000000000000000" pitchFamily="2" charset="2"/>
              <a:buChar char="q"/>
            </a:pPr>
            <a:r>
              <a:rPr lang="en-GB" sz="2000" dirty="0"/>
              <a:t>Constraints on system implementation, such as I/O device capability, processor speed, network bandwidth, data representation used in interfaces with other systems</a:t>
            </a:r>
          </a:p>
          <a:p>
            <a:pPr>
              <a:lnSpc>
                <a:spcPct val="90000"/>
              </a:lnSpc>
              <a:buFont typeface="Wingdings" panose="05000000000000000000" pitchFamily="2" charset="2"/>
              <a:buChar char="q"/>
            </a:pPr>
            <a:r>
              <a:rPr lang="en-GB" sz="2400" dirty="0"/>
              <a:t>Process requirements may also be specified mandating a particular IDE, programming language or development method.</a:t>
            </a:r>
          </a:p>
          <a:p>
            <a:pPr>
              <a:buFont typeface="Wingdings" panose="05000000000000000000" pitchFamily="2" charset="2"/>
              <a:buChar char="q"/>
            </a:pPr>
            <a:endParaRPr lang="en-US" sz="2800" dirty="0"/>
          </a:p>
        </p:txBody>
      </p:sp>
    </p:spTree>
    <p:extLst>
      <p:ext uri="{BB962C8B-B14F-4D97-AF65-F5344CB8AC3E}">
        <p14:creationId xmlns:p14="http://schemas.microsoft.com/office/powerpoint/2010/main" val="2211603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F8CC-9ED0-090D-FB62-3FEA92556FCC}"/>
              </a:ext>
            </a:extLst>
          </p:cNvPr>
          <p:cNvSpPr>
            <a:spLocks noGrp="1"/>
          </p:cNvSpPr>
          <p:nvPr>
            <p:ph type="title"/>
          </p:nvPr>
        </p:nvSpPr>
        <p:spPr>
          <a:xfrm>
            <a:off x="1173163" y="457200"/>
            <a:ext cx="7772400" cy="685800"/>
          </a:xfrm>
        </p:spPr>
        <p:txBody>
          <a:bodyPr/>
          <a:lstStyle/>
          <a:p>
            <a:r>
              <a:rPr lang="en-US" dirty="0"/>
              <a:t>Non-Functional Requirements</a:t>
            </a:r>
          </a:p>
        </p:txBody>
      </p:sp>
      <p:sp>
        <p:nvSpPr>
          <p:cNvPr id="3" name="Content Placeholder 2">
            <a:extLst>
              <a:ext uri="{FF2B5EF4-FFF2-40B4-BE49-F238E27FC236}">
                <a16:creationId xmlns:a16="http://schemas.microsoft.com/office/drawing/2014/main" id="{402D04A6-CA36-27BE-1A45-D437B1313872}"/>
              </a:ext>
            </a:extLst>
          </p:cNvPr>
          <p:cNvSpPr>
            <a:spLocks noGrp="1"/>
          </p:cNvSpPr>
          <p:nvPr>
            <p:ph idx="1"/>
          </p:nvPr>
        </p:nvSpPr>
        <p:spPr>
          <a:xfrm>
            <a:off x="1173163" y="1219200"/>
            <a:ext cx="7772400" cy="4876800"/>
          </a:xfrm>
        </p:spPr>
        <p:txBody>
          <a:bodyPr/>
          <a:lstStyle/>
          <a:p>
            <a:pPr>
              <a:buFont typeface="Wingdings" panose="05000000000000000000" pitchFamily="2" charset="2"/>
              <a:buChar char="q"/>
            </a:pPr>
            <a:r>
              <a:rPr lang="en-GB" sz="2800" dirty="0"/>
              <a:t>Non-functional requirements may be more critical than functional requirements. If these are not met, the system may be useless.</a:t>
            </a:r>
            <a:endParaRPr lang="en-US" sz="2800" dirty="0"/>
          </a:p>
          <a:p>
            <a:pPr>
              <a:buFont typeface="Wingdings" panose="05000000000000000000" pitchFamily="2" charset="2"/>
              <a:buChar char="q"/>
            </a:pPr>
            <a:r>
              <a:rPr lang="en-US" sz="2800" dirty="0"/>
              <a:t>For example, if an aircraft system does not meet its reliability requirements, it will not be certified as safe for operation.</a:t>
            </a:r>
          </a:p>
          <a:p>
            <a:pPr>
              <a:buFont typeface="Wingdings" panose="05000000000000000000" pitchFamily="2" charset="2"/>
              <a:buChar char="q"/>
            </a:pPr>
            <a:r>
              <a:rPr lang="en-US" sz="2800" dirty="0"/>
              <a:t>Non-functional requirements arise through user needs, because of budget constraints, organizational policies, the need for interoperability with other software or hardware systems, or external factors such as safety regulations or privacy legislation.</a:t>
            </a:r>
          </a:p>
        </p:txBody>
      </p:sp>
    </p:spTree>
    <p:extLst>
      <p:ext uri="{BB962C8B-B14F-4D97-AF65-F5344CB8AC3E}">
        <p14:creationId xmlns:p14="http://schemas.microsoft.com/office/powerpoint/2010/main" val="4078448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GB" dirty="0"/>
              <a:t>Non-functional classifications</a:t>
            </a:r>
            <a:endParaRPr lang="en-US" dirty="0"/>
          </a:p>
        </p:txBody>
      </p:sp>
      <p:sp>
        <p:nvSpPr>
          <p:cNvPr id="3" name="Content Placeholder 2"/>
          <p:cNvSpPr>
            <a:spLocks noGrp="1"/>
          </p:cNvSpPr>
          <p:nvPr>
            <p:ph idx="1"/>
          </p:nvPr>
        </p:nvSpPr>
        <p:spPr>
          <a:xfrm>
            <a:off x="990600" y="1066800"/>
            <a:ext cx="7772400" cy="4267200"/>
          </a:xfrm>
        </p:spPr>
        <p:txBody>
          <a:bodyPr/>
          <a:lstStyle/>
          <a:p>
            <a:pPr algn="just">
              <a:buFont typeface="Wingdings" panose="05000000000000000000" pitchFamily="2" charset="2"/>
              <a:buChar char="q"/>
            </a:pPr>
            <a:r>
              <a:rPr lang="en-GB" sz="2000" dirty="0"/>
              <a:t>Product requirements</a:t>
            </a:r>
          </a:p>
          <a:p>
            <a:pPr lvl="1" algn="just">
              <a:buFont typeface="Wingdings" panose="05000000000000000000" pitchFamily="2" charset="2"/>
              <a:buChar char="q"/>
            </a:pPr>
            <a:r>
              <a:rPr lang="en-GB" sz="2000" dirty="0"/>
              <a:t>Requirements which specify that the delivered product must behave in a particular way e.g. execution speed, reliability, etc.</a:t>
            </a:r>
          </a:p>
          <a:p>
            <a:pPr algn="just">
              <a:buFont typeface="Wingdings" panose="05000000000000000000" pitchFamily="2" charset="2"/>
              <a:buChar char="q"/>
            </a:pPr>
            <a:r>
              <a:rPr lang="en-GB" sz="2000" dirty="0"/>
              <a:t>Organisational requirements</a:t>
            </a:r>
          </a:p>
          <a:p>
            <a:pPr lvl="1" algn="just">
              <a:buFont typeface="Wingdings" panose="05000000000000000000" pitchFamily="2" charset="2"/>
              <a:buChar char="q"/>
            </a:pPr>
            <a:r>
              <a:rPr lang="en-GB" sz="2000" dirty="0"/>
              <a:t>Requirements which are a consequence of organisational policies and procedures e.g. process standards used, development process requirements (programming language) operational requirements (how the system will be used), etc.</a:t>
            </a:r>
          </a:p>
          <a:p>
            <a:pPr algn="just">
              <a:buFont typeface="Wingdings" panose="05000000000000000000" pitchFamily="2" charset="2"/>
              <a:buChar char="q"/>
            </a:pPr>
            <a:r>
              <a:rPr lang="en-GB" sz="2000" dirty="0"/>
              <a:t>External requirements</a:t>
            </a:r>
          </a:p>
          <a:p>
            <a:pPr lvl="1" algn="just">
              <a:buFont typeface="Wingdings" panose="05000000000000000000" pitchFamily="2" charset="2"/>
              <a:buChar char="q"/>
            </a:pPr>
            <a:r>
              <a:rPr lang="en-GB" sz="2000" dirty="0"/>
              <a:t>Requirements which arise from factors which are external to the system and its development process e.g. regulatory requirements (</a:t>
            </a:r>
            <a:r>
              <a:rPr lang="en-US" sz="2000" dirty="0"/>
              <a:t>such as a central bank;</a:t>
            </a:r>
            <a:r>
              <a:rPr lang="en-GB" sz="2000" dirty="0"/>
              <a:t>), legislative requirements (</a:t>
            </a:r>
            <a:r>
              <a:rPr lang="en-US" sz="2000" dirty="0"/>
              <a:t>ensure that the system operates within the law</a:t>
            </a:r>
            <a:r>
              <a:rPr lang="en-GB" sz="2000" dirty="0"/>
              <a:t>), etc.</a:t>
            </a:r>
          </a:p>
          <a:p>
            <a:pPr algn="just">
              <a:buFont typeface="Wingdings" panose="05000000000000000000" pitchFamily="2" charset="2"/>
              <a:buChar char="q"/>
            </a:pPr>
            <a:endParaRPr lang="en-US" sz="2000" dirty="0"/>
          </a:p>
        </p:txBody>
      </p:sp>
    </p:spTree>
    <p:extLst>
      <p:ext uri="{BB962C8B-B14F-4D97-AF65-F5344CB8AC3E}">
        <p14:creationId xmlns:p14="http://schemas.microsoft.com/office/powerpoint/2010/main" val="291453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nonfunctional requirements in the MHC-PMS</a:t>
            </a:r>
            <a:r>
              <a:rPr lang="en-GB" dirty="0"/>
              <a:t> </a:t>
            </a:r>
            <a:endParaRPr lang="en-US" dirty="0"/>
          </a:p>
        </p:txBody>
      </p:sp>
      <p:graphicFrame>
        <p:nvGraphicFramePr>
          <p:cNvPr id="4" name="Table 3"/>
          <p:cNvGraphicFramePr>
            <a:graphicFrameLocks noGrp="1"/>
          </p:cNvGraphicFramePr>
          <p:nvPr/>
        </p:nvGraphicFramePr>
        <p:xfrm>
          <a:off x="968632" y="1905000"/>
          <a:ext cx="6781800" cy="4495800"/>
        </p:xfrm>
        <a:graphic>
          <a:graphicData uri="http://schemas.openxmlformats.org/drawingml/2006/table">
            <a:tbl>
              <a:tblPr firstRow="1" bandRow="1">
                <a:tableStyleId>{69CF1AB2-1976-4502-BF36-3FF5EA218861}</a:tableStyleId>
              </a:tblPr>
              <a:tblGrid>
                <a:gridCol w="6781800">
                  <a:extLst>
                    <a:ext uri="{9D8B030D-6E8A-4147-A177-3AD203B41FA5}">
                      <a16:colId xmlns:a16="http://schemas.microsoft.com/office/drawing/2014/main" val="20000"/>
                    </a:ext>
                  </a:extLst>
                </a:gridCol>
              </a:tblGrid>
              <a:tr h="4495800">
                <a:tc>
                  <a:txBody>
                    <a:bodyPr/>
                    <a:lstStyle/>
                    <a:p>
                      <a:r>
                        <a:rPr lang="en-GB" sz="1800" b="1" kern="1200" dirty="0"/>
                        <a:t>Product requirement</a:t>
                      </a:r>
                    </a:p>
                    <a:p>
                      <a:r>
                        <a:rPr lang="en-GB" sz="1800" b="0" kern="1200" dirty="0"/>
                        <a:t>The MHC-PMS shall be available to all clinics during normal working hours (Mon–Fri, 0830–17.30). Downtime within normal working hours shall not exceed five seconds in any one day.</a:t>
                      </a:r>
                    </a:p>
                    <a:p>
                      <a:endParaRPr lang="en-GB" sz="1800" b="0" kern="1200" dirty="0"/>
                    </a:p>
                    <a:p>
                      <a:r>
                        <a:rPr lang="en-GB" sz="1800" b="1" kern="1200" dirty="0"/>
                        <a:t>Organizational requirement</a:t>
                      </a:r>
                      <a:br>
                        <a:rPr lang="en-GB" sz="1800" b="0" kern="1200" dirty="0"/>
                      </a:br>
                      <a:r>
                        <a:rPr lang="en-GB" sz="1800" b="0" kern="1200" dirty="0"/>
                        <a:t>Users of the MHC-PMS system shall authenticate themselves using their health authority identity card.</a:t>
                      </a:r>
                    </a:p>
                    <a:p>
                      <a:endParaRPr lang="en-GB" sz="1800" b="0" kern="1200" dirty="0"/>
                    </a:p>
                    <a:p>
                      <a:r>
                        <a:rPr lang="en-GB" sz="1800" b="1" kern="1200" dirty="0"/>
                        <a:t>External requirement</a:t>
                      </a:r>
                      <a:br>
                        <a:rPr lang="en-GB" sz="1800" b="0" kern="1200" dirty="0"/>
                      </a:br>
                      <a:r>
                        <a:rPr lang="en-GB" sz="1800" b="0" kern="1200" dirty="0"/>
                        <a:t>The system shall implement patient privacy provisions as set out in HStan-03-2006-priv. </a:t>
                      </a:r>
                    </a:p>
                    <a:p>
                      <a:endParaRPr lang="en-US" b="0"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7033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US" altLang="en-US" sz="3200" dirty="0"/>
              <a:t>Types of Non-Functional Requirements</a:t>
            </a:r>
          </a:p>
        </p:txBody>
      </p:sp>
      <p:graphicFrame>
        <p:nvGraphicFramePr>
          <p:cNvPr id="71683" name="Object 7"/>
          <p:cNvGraphicFramePr>
            <a:graphicFrameLocks noChangeAspect="1"/>
          </p:cNvGraphicFramePr>
          <p:nvPr>
            <p:extLst>
              <p:ext uri="{D42A27DB-BD31-4B8C-83A1-F6EECF244321}">
                <p14:modId xmlns:p14="http://schemas.microsoft.com/office/powerpoint/2010/main" val="1826163103"/>
              </p:ext>
            </p:extLst>
          </p:nvPr>
        </p:nvGraphicFramePr>
        <p:xfrm>
          <a:off x="1066800" y="1524000"/>
          <a:ext cx="6553200" cy="4635500"/>
        </p:xfrm>
        <a:graphic>
          <a:graphicData uri="http://schemas.openxmlformats.org/presentationml/2006/ole">
            <mc:AlternateContent xmlns:mc="http://schemas.openxmlformats.org/markup-compatibility/2006">
              <mc:Choice xmlns:v="urn:schemas-microsoft-com:vml" Requires="v">
                <p:oleObj name="Picture" r:id="rId2" imgW="4267080" imgH="2756880" progId="Word.Picture.8">
                  <p:embed/>
                </p:oleObj>
              </mc:Choice>
              <mc:Fallback>
                <p:oleObj name="Picture" r:id="rId2" imgW="4267080" imgH="2756880" progId="Word.Picture.8">
                  <p:embed/>
                  <p:pic>
                    <p:nvPicPr>
                      <p:cNvPr id="0" name=""/>
                      <p:cNvPicPr>
                        <a:picLocks noChangeAspect="1" noChangeArrowheads="1"/>
                      </p:cNvPicPr>
                      <p:nvPr/>
                    </p:nvPicPr>
                    <p:blipFill>
                      <a:blip r:embed="rId3"/>
                      <a:srcRect/>
                      <a:stretch>
                        <a:fillRect/>
                      </a:stretch>
                    </p:blipFill>
                    <p:spPr bwMode="auto">
                      <a:xfrm>
                        <a:off x="1066800" y="1524000"/>
                        <a:ext cx="6553200"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75197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Non-functional requirements implementation</a:t>
            </a:r>
          </a:p>
        </p:txBody>
      </p:sp>
      <p:sp>
        <p:nvSpPr>
          <p:cNvPr id="3" name="Content Placeholder 2"/>
          <p:cNvSpPr>
            <a:spLocks noGrp="1"/>
          </p:cNvSpPr>
          <p:nvPr>
            <p:ph idx="1"/>
          </p:nvPr>
        </p:nvSpPr>
        <p:spPr>
          <a:xfrm>
            <a:off x="838200" y="1524000"/>
            <a:ext cx="7772400" cy="4114800"/>
          </a:xfrm>
        </p:spPr>
        <p:txBody>
          <a:bodyPr/>
          <a:lstStyle/>
          <a:p>
            <a:pPr>
              <a:buFont typeface="Wingdings" panose="05000000000000000000" pitchFamily="2" charset="2"/>
              <a:buChar char="q"/>
            </a:pPr>
            <a:r>
              <a:rPr lang="en-US" sz="2400" dirty="0"/>
              <a:t>Non-functional requirements may affect the overall architecture of a system rather than the individual components. </a:t>
            </a:r>
          </a:p>
          <a:p>
            <a:pPr lvl="1">
              <a:buFont typeface="Wingdings" panose="05000000000000000000" pitchFamily="2" charset="2"/>
              <a:buChar char="q"/>
            </a:pPr>
            <a:r>
              <a:rPr lang="en-US" sz="2400" dirty="0"/>
              <a:t>For example, to ensure that performance requirements are met, you may have to organize the system to minimize communications between components.</a:t>
            </a:r>
            <a:endParaRPr lang="en-GB" sz="2400" dirty="0"/>
          </a:p>
          <a:p>
            <a:pPr>
              <a:buFont typeface="Wingdings" panose="05000000000000000000" pitchFamily="2" charset="2"/>
              <a:buChar char="q"/>
            </a:pPr>
            <a:r>
              <a:rPr lang="en-US" sz="2400" dirty="0"/>
              <a:t>A single non-functional requirement, such as a security requirement, may generate a number of related functional requirements that define system services that are required. </a:t>
            </a:r>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3363346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Non-Functional requirements</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sz="2400" dirty="0"/>
              <a:t>A common problem with non-functional requirements is that users or customers often propose these requirements as general goals, </a:t>
            </a:r>
          </a:p>
          <a:p>
            <a:pPr lvl="1">
              <a:buFont typeface="Wingdings" panose="05000000000000000000" pitchFamily="2" charset="2"/>
              <a:buChar char="q"/>
            </a:pPr>
            <a:r>
              <a:rPr lang="en-US" sz="2400" dirty="0"/>
              <a:t>Such as ease of use, the ability of the system to recover from failure, or rapid user response.</a:t>
            </a:r>
          </a:p>
          <a:p>
            <a:pPr lvl="1">
              <a:buFont typeface="Wingdings" panose="05000000000000000000" pitchFamily="2" charset="2"/>
              <a:buChar char="q"/>
            </a:pPr>
            <a:r>
              <a:rPr lang="en-US" sz="2400" dirty="0"/>
              <a:t>Causes problems for system developers as they leave scope for interpretation and subsequent dispute once the system is delivered.</a:t>
            </a:r>
          </a:p>
        </p:txBody>
      </p:sp>
    </p:spTree>
    <p:extLst>
      <p:ext uri="{BB962C8B-B14F-4D97-AF65-F5344CB8AC3E}">
        <p14:creationId xmlns:p14="http://schemas.microsoft.com/office/powerpoint/2010/main" val="493584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Usability requirements</a:t>
            </a:r>
          </a:p>
        </p:txBody>
      </p:sp>
      <p:sp>
        <p:nvSpPr>
          <p:cNvPr id="3" name="Content Placeholder 2"/>
          <p:cNvSpPr>
            <a:spLocks noGrp="1"/>
          </p:cNvSpPr>
          <p:nvPr>
            <p:ph idx="1"/>
          </p:nvPr>
        </p:nvSpPr>
        <p:spPr>
          <a:xfrm>
            <a:off x="838200" y="1600200"/>
            <a:ext cx="7772400" cy="4114800"/>
          </a:xfrm>
        </p:spPr>
        <p:txBody>
          <a:bodyPr/>
          <a:lstStyle/>
          <a:p>
            <a:pPr>
              <a:buFont typeface="Wingdings" panose="05000000000000000000" pitchFamily="2" charset="2"/>
              <a:buChar char="q"/>
            </a:pPr>
            <a:r>
              <a:rPr lang="en-US" sz="2800" dirty="0"/>
              <a:t>The system should be easy to use by medical staff and should be organized in such a way that user errors are minimized. (Goal)</a:t>
            </a:r>
          </a:p>
          <a:p>
            <a:pPr>
              <a:buFont typeface="Wingdings" panose="05000000000000000000" pitchFamily="2" charset="2"/>
              <a:buChar char="q"/>
            </a:pPr>
            <a:r>
              <a:rPr lang="en-US" sz="2800" dirty="0"/>
              <a:t>Medical staff shall be able to use all the system functions after four hours of training. After this training, the average number of errors made by experienced users shall not exceed two per hour of system use. (Testable non-functional requirement)</a:t>
            </a:r>
            <a:endParaRPr lang="en-GB" sz="2800" dirty="0"/>
          </a:p>
          <a:p>
            <a:pPr>
              <a:buFont typeface="Wingdings" panose="05000000000000000000" pitchFamily="2" charset="2"/>
              <a:buChar char="q"/>
            </a:pPr>
            <a:endParaRPr lang="en-US" sz="2800" dirty="0"/>
          </a:p>
        </p:txBody>
      </p:sp>
    </p:spTree>
    <p:extLst>
      <p:ext uri="{BB962C8B-B14F-4D97-AF65-F5344CB8AC3E}">
        <p14:creationId xmlns:p14="http://schemas.microsoft.com/office/powerpoint/2010/main" val="90624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04800"/>
            <a:ext cx="7772400" cy="1143000"/>
          </a:xfrm>
        </p:spPr>
        <p:txBody>
          <a:bodyPr/>
          <a:lstStyle/>
          <a:p>
            <a:r>
              <a:rPr lang="en-US" sz="3200" dirty="0"/>
              <a:t>Metrics for specifying nonfunctional requirements</a:t>
            </a:r>
          </a:p>
        </p:txBody>
      </p:sp>
      <p:graphicFrame>
        <p:nvGraphicFramePr>
          <p:cNvPr id="4" name="Table 3"/>
          <p:cNvGraphicFramePr>
            <a:graphicFrameLocks noGrp="1"/>
          </p:cNvGraphicFramePr>
          <p:nvPr>
            <p:extLst>
              <p:ext uri="{D42A27DB-BD31-4B8C-83A1-F6EECF244321}">
                <p14:modId xmlns:p14="http://schemas.microsoft.com/office/powerpoint/2010/main" val="4169733697"/>
              </p:ext>
            </p:extLst>
          </p:nvPr>
        </p:nvGraphicFramePr>
        <p:xfrm>
          <a:off x="990600" y="1600200"/>
          <a:ext cx="7620000" cy="4160520"/>
        </p:xfrm>
        <a:graphic>
          <a:graphicData uri="http://schemas.openxmlformats.org/drawingml/2006/table">
            <a:tbl>
              <a:tblPr/>
              <a:tblGrid>
                <a:gridCol w="29527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Performance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5052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Capacity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048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42672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846660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590B3-FE98-DF49-1A4D-ACEAEEB44131}"/>
              </a:ext>
            </a:extLst>
          </p:cNvPr>
          <p:cNvSpPr>
            <a:spLocks noGrp="1"/>
          </p:cNvSpPr>
          <p:nvPr>
            <p:ph type="title"/>
          </p:nvPr>
        </p:nvSpPr>
        <p:spPr/>
        <p:txBody>
          <a:bodyPr/>
          <a:lstStyle/>
          <a:p>
            <a:r>
              <a:rPr lang="en-US" dirty="0"/>
              <a:t>Domain Requirements</a:t>
            </a:r>
          </a:p>
        </p:txBody>
      </p:sp>
      <p:sp>
        <p:nvSpPr>
          <p:cNvPr id="3" name="Content Placeholder 2">
            <a:extLst>
              <a:ext uri="{FF2B5EF4-FFF2-40B4-BE49-F238E27FC236}">
                <a16:creationId xmlns:a16="http://schemas.microsoft.com/office/drawing/2014/main" id="{D9B3FFF5-8E65-C472-F1C4-6CB90FC27C95}"/>
              </a:ext>
            </a:extLst>
          </p:cNvPr>
          <p:cNvSpPr>
            <a:spLocks noGrp="1"/>
          </p:cNvSpPr>
          <p:nvPr>
            <p:ph idx="1"/>
          </p:nvPr>
        </p:nvSpPr>
        <p:spPr>
          <a:xfrm>
            <a:off x="1173163" y="1600200"/>
            <a:ext cx="7772400" cy="4495800"/>
          </a:xfrm>
        </p:spPr>
        <p:txBody>
          <a:bodyPr/>
          <a:lstStyle/>
          <a:p>
            <a:pPr>
              <a:buFont typeface="Wingdings" panose="05000000000000000000" pitchFamily="2" charset="2"/>
              <a:buChar char="q"/>
            </a:pPr>
            <a:r>
              <a:rPr lang="en-US" dirty="0"/>
              <a:t>Domain requirements are derived from the application domain of the system rather than from the specific needs of system users.</a:t>
            </a:r>
          </a:p>
          <a:p>
            <a:pPr>
              <a:buFont typeface="Wingdings" panose="05000000000000000000" pitchFamily="2" charset="2"/>
              <a:buChar char="q"/>
            </a:pPr>
            <a:r>
              <a:rPr lang="en-US" dirty="0"/>
              <a:t>They may be new functional requirements in their own right, constrain existing functional requirements, or set out how particular computations must be carried out.</a:t>
            </a:r>
          </a:p>
        </p:txBody>
      </p:sp>
    </p:spTree>
    <p:extLst>
      <p:ext uri="{BB962C8B-B14F-4D97-AF65-F5344CB8AC3E}">
        <p14:creationId xmlns:p14="http://schemas.microsoft.com/office/powerpoint/2010/main" val="3379229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Domain requirements</a:t>
            </a:r>
            <a:endParaRPr lang="en-US" dirty="0"/>
          </a:p>
        </p:txBody>
      </p:sp>
      <p:sp>
        <p:nvSpPr>
          <p:cNvPr id="3" name="Content Placeholder 2"/>
          <p:cNvSpPr>
            <a:spLocks noGrp="1"/>
          </p:cNvSpPr>
          <p:nvPr>
            <p:ph idx="1"/>
          </p:nvPr>
        </p:nvSpPr>
        <p:spPr>
          <a:xfrm>
            <a:off x="1173163" y="1752600"/>
            <a:ext cx="7772400" cy="4114800"/>
          </a:xfrm>
        </p:spPr>
        <p:txBody>
          <a:bodyPr/>
          <a:lstStyle/>
          <a:p>
            <a:pPr>
              <a:buFont typeface="Wingdings" panose="05000000000000000000" pitchFamily="2" charset="2"/>
              <a:buChar char="q"/>
            </a:pPr>
            <a:r>
              <a:rPr lang="en-GB" sz="2000" dirty="0"/>
              <a:t>The system’s operational domain imposes requirements on the system.</a:t>
            </a:r>
          </a:p>
          <a:p>
            <a:pPr lvl="1">
              <a:buFont typeface="Wingdings" panose="05000000000000000000" pitchFamily="2" charset="2"/>
              <a:buChar char="q"/>
            </a:pPr>
            <a:r>
              <a:rPr lang="en-US" sz="2000" dirty="0"/>
              <a:t>The system safety shall be assured according to standard IEC 60601-1:Medical Electrical Equipment – Part 1:General Requirements for Basic Safety and Essential Performance</a:t>
            </a:r>
            <a:r>
              <a:rPr lang="en-US" sz="2000" i="1" dirty="0"/>
              <a:t>.</a:t>
            </a:r>
            <a:endParaRPr lang="en-GB" sz="2000" i="1" dirty="0"/>
          </a:p>
          <a:p>
            <a:pPr lvl="1">
              <a:buFont typeface="Wingdings" panose="05000000000000000000" pitchFamily="2" charset="2"/>
              <a:buChar char="q"/>
            </a:pPr>
            <a:r>
              <a:rPr lang="en-GB" sz="2000" dirty="0"/>
              <a:t>A train control system has to take into account the braking characteristics in different weather conditions.</a:t>
            </a:r>
          </a:p>
          <a:p>
            <a:pPr>
              <a:buFont typeface="Wingdings" panose="05000000000000000000" pitchFamily="2" charset="2"/>
              <a:buChar char="q"/>
            </a:pPr>
            <a:r>
              <a:rPr lang="en-GB" sz="2000" dirty="0"/>
              <a:t>Domain requirements be new functional requirements, constraints on existing requirements or define specific computations.</a:t>
            </a:r>
          </a:p>
          <a:p>
            <a:pPr>
              <a:buFont typeface="Wingdings" panose="05000000000000000000" pitchFamily="2" charset="2"/>
              <a:buChar char="q"/>
            </a:pPr>
            <a:r>
              <a:rPr lang="en-GB" sz="2000" dirty="0"/>
              <a:t>If domain requirements are not satisfied, the system may be unworkable.</a:t>
            </a:r>
          </a:p>
          <a:p>
            <a:pPr>
              <a:buFont typeface="Wingdings" panose="05000000000000000000" pitchFamily="2" charset="2"/>
              <a:buChar char="q"/>
            </a:pPr>
            <a:endParaRPr lang="en-US" sz="2000" dirty="0"/>
          </a:p>
        </p:txBody>
      </p:sp>
    </p:spTree>
    <p:extLst>
      <p:ext uri="{BB962C8B-B14F-4D97-AF65-F5344CB8AC3E}">
        <p14:creationId xmlns:p14="http://schemas.microsoft.com/office/powerpoint/2010/main" val="69428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Train protection system</a:t>
            </a:r>
            <a:endParaRPr lang="en-US" dirty="0"/>
          </a:p>
        </p:txBody>
      </p:sp>
      <p:sp>
        <p:nvSpPr>
          <p:cNvPr id="3" name="Content Placeholder 2"/>
          <p:cNvSpPr>
            <a:spLocks noGrp="1"/>
          </p:cNvSpPr>
          <p:nvPr>
            <p:ph idx="1"/>
          </p:nvPr>
        </p:nvSpPr>
        <p:spPr>
          <a:xfrm>
            <a:off x="1173163" y="1600200"/>
            <a:ext cx="7772400" cy="4114800"/>
          </a:xfrm>
        </p:spPr>
        <p:txBody>
          <a:bodyPr/>
          <a:lstStyle/>
          <a:p>
            <a:pPr>
              <a:buFont typeface="Wingdings" panose="05000000000000000000" pitchFamily="2" charset="2"/>
              <a:buChar char="q"/>
            </a:pPr>
            <a:r>
              <a:rPr lang="en-GB" sz="2400" dirty="0"/>
              <a:t>This is a domain requirement for a train protection system:</a:t>
            </a:r>
          </a:p>
          <a:p>
            <a:pPr>
              <a:buFont typeface="Wingdings" panose="05000000000000000000" pitchFamily="2" charset="2"/>
              <a:buChar char="q"/>
            </a:pPr>
            <a:r>
              <a:rPr lang="en-GB" sz="2400" dirty="0"/>
              <a:t>The deceleration of the train shall be computed as:</a:t>
            </a:r>
          </a:p>
          <a:p>
            <a:pPr lvl="1">
              <a:buFont typeface="Wingdings" panose="05000000000000000000" pitchFamily="2" charset="2"/>
              <a:buChar char="q"/>
            </a:pPr>
            <a:r>
              <a:rPr lang="en-GB" sz="2400" dirty="0" err="1"/>
              <a:t>Dtrain</a:t>
            </a:r>
            <a:r>
              <a:rPr lang="en-GB" sz="2400" dirty="0"/>
              <a:t> = </a:t>
            </a:r>
            <a:r>
              <a:rPr lang="en-GB" sz="2400" dirty="0" err="1"/>
              <a:t>Dcontrol</a:t>
            </a:r>
            <a:r>
              <a:rPr lang="en-GB" sz="2400" dirty="0"/>
              <a:t> + </a:t>
            </a:r>
            <a:r>
              <a:rPr lang="en-GB" sz="2400" dirty="0" err="1"/>
              <a:t>Dgradient</a:t>
            </a:r>
            <a:r>
              <a:rPr lang="en-GB" sz="2400" dirty="0"/>
              <a:t> </a:t>
            </a:r>
          </a:p>
          <a:p>
            <a:pPr lvl="1">
              <a:buFont typeface="Wingdings" panose="05000000000000000000" pitchFamily="2" charset="2"/>
              <a:buChar char="q"/>
            </a:pPr>
            <a:r>
              <a:rPr lang="en-GB" sz="2400" dirty="0"/>
              <a:t>where </a:t>
            </a:r>
            <a:r>
              <a:rPr lang="en-GB" sz="2400" dirty="0" err="1"/>
              <a:t>Dgradient</a:t>
            </a:r>
            <a:r>
              <a:rPr lang="en-GB" sz="2400" dirty="0"/>
              <a:t> is 9.81ms2 * compensated gradient/alpha and where the values of 9.81ms2 /alpha are known for different types of train.</a:t>
            </a:r>
          </a:p>
          <a:p>
            <a:pPr>
              <a:buFont typeface="Wingdings" panose="05000000000000000000" pitchFamily="2" charset="2"/>
              <a:buChar char="q"/>
            </a:pPr>
            <a:r>
              <a:rPr lang="en-GB" sz="2400" dirty="0"/>
              <a:t>It is difficult for a non-specialist to understand the implications of this and how it interacts with other requirements.</a:t>
            </a:r>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2162020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Domain requirements problems</a:t>
            </a:r>
            <a:endParaRPr lang="en-US" dirty="0"/>
          </a:p>
        </p:txBody>
      </p:sp>
      <p:sp>
        <p:nvSpPr>
          <p:cNvPr id="3" name="Content Placeholder 2"/>
          <p:cNvSpPr>
            <a:spLocks noGrp="1"/>
          </p:cNvSpPr>
          <p:nvPr>
            <p:ph idx="1"/>
          </p:nvPr>
        </p:nvSpPr>
        <p:spPr>
          <a:xfrm>
            <a:off x="1173163" y="1828800"/>
            <a:ext cx="7772400" cy="4114800"/>
          </a:xfrm>
        </p:spPr>
        <p:txBody>
          <a:bodyPr/>
          <a:lstStyle/>
          <a:p>
            <a:pPr>
              <a:buFont typeface="Wingdings" panose="05000000000000000000" pitchFamily="2" charset="2"/>
              <a:buChar char="q"/>
            </a:pPr>
            <a:r>
              <a:rPr lang="en-GB" dirty="0"/>
              <a:t>Understandability</a:t>
            </a:r>
          </a:p>
          <a:p>
            <a:pPr lvl="1">
              <a:buFont typeface="Wingdings" panose="05000000000000000000" pitchFamily="2" charset="2"/>
              <a:buChar char="q"/>
            </a:pPr>
            <a:r>
              <a:rPr lang="en-GB" dirty="0"/>
              <a:t>Requirements are expressed in the language of the application domain;</a:t>
            </a:r>
          </a:p>
          <a:p>
            <a:pPr lvl="1">
              <a:buFont typeface="Wingdings" panose="05000000000000000000" pitchFamily="2" charset="2"/>
              <a:buChar char="q"/>
            </a:pPr>
            <a:r>
              <a:rPr lang="en-GB" dirty="0"/>
              <a:t>This is often not understood by software engineers developing the system.</a:t>
            </a:r>
          </a:p>
          <a:p>
            <a:pPr>
              <a:buFont typeface="Wingdings" panose="05000000000000000000" pitchFamily="2" charset="2"/>
              <a:buChar char="q"/>
            </a:pPr>
            <a:r>
              <a:rPr lang="en-GB" dirty="0"/>
              <a:t>Implicitness</a:t>
            </a:r>
          </a:p>
          <a:p>
            <a:pPr lvl="1">
              <a:buFont typeface="Wingdings" panose="05000000000000000000" pitchFamily="2" charset="2"/>
              <a:buChar char="q"/>
            </a:pPr>
            <a:r>
              <a:rPr lang="en-GB" dirty="0"/>
              <a:t>Domain specialists understand the area so well that they do not think of making the domain requirements explicit.</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3590514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1173163" y="1600200"/>
            <a:ext cx="7772400" cy="4114800"/>
          </a:xfrm>
        </p:spPr>
        <p:txBody>
          <a:bodyPr/>
          <a:lstStyle/>
          <a:p>
            <a:pPr>
              <a:buFont typeface="Wingdings" panose="05000000000000000000" pitchFamily="2" charset="2"/>
              <a:buChar char="q"/>
            </a:pPr>
            <a:r>
              <a:rPr lang="en-US" sz="2400" dirty="0"/>
              <a:t>Requirements for a software system set out what the system should do and define constraints on its operation and implementation.</a:t>
            </a:r>
            <a:endParaRPr lang="en-GB" sz="2400" dirty="0"/>
          </a:p>
          <a:p>
            <a:pPr>
              <a:buFont typeface="Wingdings" panose="05000000000000000000" pitchFamily="2" charset="2"/>
              <a:buChar char="q"/>
            </a:pPr>
            <a:r>
              <a:rPr lang="en-US" sz="2400" dirty="0"/>
              <a:t>Functional requirements are statements of the services that the system must provide or are descriptions of how some computations must be carried out. </a:t>
            </a:r>
            <a:endParaRPr lang="en-GB" sz="2400" dirty="0"/>
          </a:p>
          <a:p>
            <a:pPr>
              <a:buFont typeface="Wingdings" panose="05000000000000000000" pitchFamily="2" charset="2"/>
              <a:buChar char="q"/>
            </a:pPr>
            <a:r>
              <a:rPr lang="en-US" sz="2400" dirty="0"/>
              <a:t>Non-functional requirements often constrain the system being developed and the development process being used. </a:t>
            </a:r>
          </a:p>
          <a:p>
            <a:pPr>
              <a:buFont typeface="Wingdings" panose="05000000000000000000" pitchFamily="2" charset="2"/>
              <a:buChar char="q"/>
            </a:pPr>
            <a:r>
              <a:rPr lang="en-US" sz="2400" dirty="0"/>
              <a:t>They often relate to the properties of the system and therefore apply to the system as a whole.</a:t>
            </a:r>
            <a:endParaRPr lang="en-GB" sz="2400" dirty="0"/>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1783886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8784</TotalTime>
  <Words>1649</Words>
  <Application>Microsoft Office PowerPoint</Application>
  <PresentationFormat>On-screen Show (4:3)</PresentationFormat>
  <Paragraphs>142</Paragraphs>
  <Slides>27</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3" baseType="lpstr">
      <vt:lpstr>Arial</vt:lpstr>
      <vt:lpstr>Monotype Sorts</vt:lpstr>
      <vt:lpstr>Times New Roman</vt:lpstr>
      <vt:lpstr>Wingdings</vt:lpstr>
      <vt:lpstr>Min halsduk</vt:lpstr>
      <vt:lpstr>Picture</vt:lpstr>
      <vt:lpstr>Requirement Engineering</vt:lpstr>
      <vt:lpstr>Topics covered</vt:lpstr>
      <vt:lpstr>Requirements engineering</vt:lpstr>
      <vt:lpstr>What is a requirement?</vt:lpstr>
      <vt:lpstr>Requirements abstraction </vt:lpstr>
      <vt:lpstr>Types of requirement</vt:lpstr>
      <vt:lpstr>User and system requirements </vt:lpstr>
      <vt:lpstr>Readers of different types of requirements specification </vt:lpstr>
      <vt:lpstr>Functional and non-functional requirements</vt:lpstr>
      <vt:lpstr>Functional requirements</vt:lpstr>
      <vt:lpstr>Functional requirements for the MHC-PMS</vt:lpstr>
      <vt:lpstr>Requirements imprecision</vt:lpstr>
      <vt:lpstr>Requirements completeness and consistency</vt:lpstr>
      <vt:lpstr>Non-functional requirements</vt:lpstr>
      <vt:lpstr>Non-Functional Requirements</vt:lpstr>
      <vt:lpstr>Non-functional classifications</vt:lpstr>
      <vt:lpstr>Examples of nonfunctional requirements in the MHC-PMS </vt:lpstr>
      <vt:lpstr>Types of Non-Functional Requirements</vt:lpstr>
      <vt:lpstr>Non-functional requirements implementation</vt:lpstr>
      <vt:lpstr>Non-Functional requirements</vt:lpstr>
      <vt:lpstr>Usability requirements</vt:lpstr>
      <vt:lpstr>Metrics for specifying nonfunctional requirements</vt:lpstr>
      <vt:lpstr>Domain Requirements</vt:lpstr>
      <vt:lpstr>Domain requirements</vt:lpstr>
      <vt:lpstr>Train protection system</vt:lpstr>
      <vt:lpstr>Domain requirements problems</vt:lpstr>
      <vt:lpstr>Key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 Engineering</dc:title>
  <dc:creator>Ahmad Salman Khan</dc:creator>
  <cp:lastModifiedBy>ABDULLAH KHAN</cp:lastModifiedBy>
  <cp:revision>55</cp:revision>
  <dcterms:created xsi:type="dcterms:W3CDTF">2006-08-16T00:00:00Z</dcterms:created>
  <dcterms:modified xsi:type="dcterms:W3CDTF">2023-03-22T06:01:08Z</dcterms:modified>
</cp:coreProperties>
</file>
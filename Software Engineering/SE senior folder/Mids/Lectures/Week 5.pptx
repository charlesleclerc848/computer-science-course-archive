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94" r:id="rId3"/>
    <p:sldId id="295" r:id="rId4"/>
    <p:sldId id="307" r:id="rId5"/>
    <p:sldId id="308" r:id="rId6"/>
    <p:sldId id="300" r:id="rId7"/>
    <p:sldId id="301" r:id="rId8"/>
    <p:sldId id="303" r:id="rId9"/>
    <p:sldId id="304" r:id="rId10"/>
    <p:sldId id="305" r:id="rId11"/>
    <p:sldId id="306" r:id="rId1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55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1AC60DE-5933-4EAD-A96C-DC5B63AC9D67}" type="datetimeFigureOut">
              <a:rPr lang="en-US" smtClean="0"/>
              <a:pPr/>
              <a:t>17-Mar-22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F8F67FF-62C3-4B70-8F06-EE45B65B7C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1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5745 h 720"/>
                  <a:gd name="T4" fmla="*/ 624 w 1000"/>
                  <a:gd name="T5" fmla="*/ 5745 h 720"/>
                  <a:gd name="T6" fmla="*/ 624 w 1000"/>
                  <a:gd name="T7" fmla="*/ 0 h 720"/>
                  <a:gd name="T8" fmla="*/ 0 w 1000"/>
                  <a:gd name="T9" fmla="*/ 0 h 7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1 h 317"/>
                  <a:gd name="T4" fmla="*/ 624 w 624"/>
                  <a:gd name="T5" fmla="*/ 36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2 h 317"/>
                  <a:gd name="T4" fmla="*/ 624 w 624"/>
                  <a:gd name="T5" fmla="*/ 36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37 h 370"/>
                  <a:gd name="T2" fmla="*/ 0 w 624"/>
                  <a:gd name="T3" fmla="*/ 224 h 370"/>
                  <a:gd name="T4" fmla="*/ 624 w 624"/>
                  <a:gd name="T5" fmla="*/ 224 h 370"/>
                  <a:gd name="T6" fmla="*/ 624 w 624"/>
                  <a:gd name="T7" fmla="*/ 37 h 370"/>
                  <a:gd name="T8" fmla="*/ 384 w 624"/>
                  <a:gd name="T9" fmla="*/ 6 h 370"/>
                  <a:gd name="T10" fmla="*/ 0 w 624"/>
                  <a:gd name="T11" fmla="*/ 37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52 h 317"/>
                  <a:gd name="T4" fmla="*/ 624 w 624"/>
                  <a:gd name="T5" fmla="*/ 25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362 h 272"/>
                  <a:gd name="T4" fmla="*/ 240 w 624"/>
                  <a:gd name="T5" fmla="*/ 319 h 272"/>
                  <a:gd name="T6" fmla="*/ 624 w 624"/>
                  <a:gd name="T7" fmla="*/ 362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39 h 362"/>
                  <a:gd name="T2" fmla="*/ 8 w 632"/>
                  <a:gd name="T3" fmla="*/ 276 h 362"/>
                  <a:gd name="T4" fmla="*/ 248 w 632"/>
                  <a:gd name="T5" fmla="*/ 276 h 362"/>
                  <a:gd name="T6" fmla="*/ 632 w 632"/>
                  <a:gd name="T7" fmla="*/ 276 h 362"/>
                  <a:gd name="T8" fmla="*/ 632 w 632"/>
                  <a:gd name="T9" fmla="*/ 39 h 362"/>
                  <a:gd name="T10" fmla="*/ 104 w 632"/>
                  <a:gd name="T11" fmla="*/ 39 h 362"/>
                  <a:gd name="T12" fmla="*/ 8 w 632"/>
                  <a:gd name="T13" fmla="*/ 3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1 h 317"/>
                  <a:gd name="T4" fmla="*/ 624 w 624"/>
                  <a:gd name="T5" fmla="*/ 36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2 h 317"/>
                  <a:gd name="T4" fmla="*/ 624 w 624"/>
                  <a:gd name="T5" fmla="*/ 36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37 h 370"/>
                  <a:gd name="T2" fmla="*/ 0 w 624"/>
                  <a:gd name="T3" fmla="*/ 224 h 370"/>
                  <a:gd name="T4" fmla="*/ 624 w 624"/>
                  <a:gd name="T5" fmla="*/ 224 h 370"/>
                  <a:gd name="T6" fmla="*/ 624 w 624"/>
                  <a:gd name="T7" fmla="*/ 37 h 370"/>
                  <a:gd name="T8" fmla="*/ 384 w 624"/>
                  <a:gd name="T9" fmla="*/ 6 h 370"/>
                  <a:gd name="T10" fmla="*/ 0 w 624"/>
                  <a:gd name="T11" fmla="*/ 37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52 h 317"/>
                  <a:gd name="T4" fmla="*/ 624 w 624"/>
                  <a:gd name="T5" fmla="*/ 25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9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361 h 272"/>
                  <a:gd name="T4" fmla="*/ 240 w 624"/>
                  <a:gd name="T5" fmla="*/ 319 h 272"/>
                  <a:gd name="T6" fmla="*/ 624 w 624"/>
                  <a:gd name="T7" fmla="*/ 361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39 h 362"/>
                  <a:gd name="T2" fmla="*/ 8 w 632"/>
                  <a:gd name="T3" fmla="*/ 277 h 362"/>
                  <a:gd name="T4" fmla="*/ 248 w 632"/>
                  <a:gd name="T5" fmla="*/ 277 h 362"/>
                  <a:gd name="T6" fmla="*/ 632 w 632"/>
                  <a:gd name="T7" fmla="*/ 277 h 362"/>
                  <a:gd name="T8" fmla="*/ 632 w 632"/>
                  <a:gd name="T9" fmla="*/ 39 h 362"/>
                  <a:gd name="T10" fmla="*/ 104 w 632"/>
                  <a:gd name="T11" fmla="*/ 39 h 362"/>
                  <a:gd name="T12" fmla="*/ 8 w 632"/>
                  <a:gd name="T13" fmla="*/ 3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1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1 h 317"/>
                  <a:gd name="T4" fmla="*/ 624 w 624"/>
                  <a:gd name="T5" fmla="*/ 361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362 h 317"/>
                  <a:gd name="T4" fmla="*/ 624 w 624"/>
                  <a:gd name="T5" fmla="*/ 362 h 317"/>
                  <a:gd name="T6" fmla="*/ 624 w 624"/>
                  <a:gd name="T7" fmla="*/ 0 h 317"/>
                  <a:gd name="T8" fmla="*/ 0 w 624"/>
                  <a:gd name="T9" fmla="*/ 0 h 3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37 h 370"/>
                  <a:gd name="T2" fmla="*/ 0 w 624"/>
                  <a:gd name="T3" fmla="*/ 224 h 370"/>
                  <a:gd name="T4" fmla="*/ 624 w 624"/>
                  <a:gd name="T5" fmla="*/ 224 h 370"/>
                  <a:gd name="T6" fmla="*/ 624 w 624"/>
                  <a:gd name="T7" fmla="*/ 37 h 370"/>
                  <a:gd name="T8" fmla="*/ 384 w 624"/>
                  <a:gd name="T9" fmla="*/ 6 h 370"/>
                  <a:gd name="T10" fmla="*/ 0 w 624"/>
                  <a:gd name="T11" fmla="*/ 37 h 3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361 h 272"/>
                  <a:gd name="T4" fmla="*/ 240 w 624"/>
                  <a:gd name="T5" fmla="*/ 319 h 272"/>
                  <a:gd name="T6" fmla="*/ 624 w 624"/>
                  <a:gd name="T7" fmla="*/ 361 h 272"/>
                  <a:gd name="T8" fmla="*/ 624 w 624"/>
                  <a:gd name="T9" fmla="*/ 0 h 272"/>
                  <a:gd name="T10" fmla="*/ 0 w 624"/>
                  <a:gd name="T11" fmla="*/ 0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39 h 362"/>
                  <a:gd name="T2" fmla="*/ 8 w 632"/>
                  <a:gd name="T3" fmla="*/ 277 h 362"/>
                  <a:gd name="T4" fmla="*/ 248 w 632"/>
                  <a:gd name="T5" fmla="*/ 277 h 362"/>
                  <a:gd name="T6" fmla="*/ 632 w 632"/>
                  <a:gd name="T7" fmla="*/ 277 h 362"/>
                  <a:gd name="T8" fmla="*/ 632 w 632"/>
                  <a:gd name="T9" fmla="*/ 39 h 362"/>
                  <a:gd name="T10" fmla="*/ 104 w 632"/>
                  <a:gd name="T11" fmla="*/ 39 h 362"/>
                  <a:gd name="T12" fmla="*/ 8 w 632"/>
                  <a:gd name="T13" fmla="*/ 39 h 3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210 h 385"/>
                <a:gd name="T2" fmla="*/ 5762 w 5762"/>
                <a:gd name="T3" fmla="*/ 201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210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7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27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" name="Rectangle 2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9" name="Rectangle 2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8B2BD1F4-E424-42A3-B945-217E93FF70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0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5F301-EDCB-4BD9-9698-56ABF50BEC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03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7F35D-7228-40A3-996D-E4DF2A6784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8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0C38D6-2D0B-4050-BA63-50E50CEBCB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19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C0ED4-5B28-43CB-9F18-44C0F6FCA9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2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BE630-1277-4D2E-B89C-10C3ED41CA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06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EB8E3-8BC4-4D72-A1AA-0860C55B07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74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4F7DB-1450-4CBA-8C39-1E1A909221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3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18030-9537-447F-8F66-C9A84BC016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48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55E96-7F07-4323-AD8A-FB6AF12C03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89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1A8B6-01C7-4E3F-BA9C-CA2ECDFAEA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87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46936-761E-4CD3-9821-5E4E0EFE33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32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3163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35563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173163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5563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83EA38-ADEA-4E50-A82C-56C648E5C8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68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val 36"/>
          <p:cNvSpPr>
            <a:spLocks noChangeArrowheads="1"/>
          </p:cNvSpPr>
          <p:nvPr/>
        </p:nvSpPr>
        <p:spPr bwMode="auto">
          <a:xfrm>
            <a:off x="228600" y="228600"/>
            <a:ext cx="609600" cy="609600"/>
          </a:xfrm>
          <a:prstGeom prst="ellipse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Process</a:t>
            </a:r>
          </a:p>
        </p:txBody>
      </p:sp>
      <p:sp>
        <p:nvSpPr>
          <p:cNvPr id="2052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77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F09C266B-C234-4306-899E-1A60CEFAF4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56" name="Rectangle 33"/>
          <p:cNvSpPr>
            <a:spLocks noChangeArrowheads="1"/>
          </p:cNvSpPr>
          <p:nvPr/>
        </p:nvSpPr>
        <p:spPr bwMode="auto">
          <a:xfrm>
            <a:off x="457200" y="609600"/>
            <a:ext cx="53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7" name="AutoShape 34"/>
          <p:cNvSpPr>
            <a:spLocks noChangeArrowheads="1"/>
          </p:cNvSpPr>
          <p:nvPr/>
        </p:nvSpPr>
        <p:spPr bwMode="auto">
          <a:xfrm rot="2559464">
            <a:off x="152400" y="457200"/>
            <a:ext cx="609600" cy="6096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55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5050"/>
        </a:buClr>
        <a:buSzPct val="75000"/>
        <a:buFont typeface="Monotype Sorts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CC00"/>
        </a:buClr>
        <a:buSzPct val="65000"/>
        <a:buFont typeface="Monotype Sorts"/>
        <a:buChar char="s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283528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The principal responsibility of software project managers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000" dirty="0"/>
              <a:t>to manage the project so that the software is delivered on time and within the planned budget for the project.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The standard approach to project management is plan-driven.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000" dirty="0"/>
              <a:t>Managers draw up a plan for the project showing what should be delivered, when it should be delivered and who will work on the development of the project deliverables.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Agile project management requires a different approach, which is adapted to incremental development and the particular strengths of agile methods.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922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7772400" cy="1143000"/>
          </a:xfrm>
        </p:spPr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The Scrum approach is a general agile method that  focus is on managing iterative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There are three phases in Scrum.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The initial phase is an outline planning phase where you establish the general objectives for the project and design the software architecture.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This is followed by a series of </a:t>
            </a:r>
            <a:r>
              <a:rPr lang="en-GB" sz="2400" b="1" dirty="0"/>
              <a:t>sprint cycles</a:t>
            </a:r>
            <a:r>
              <a:rPr lang="en-GB" sz="2400" dirty="0"/>
              <a:t>, where each cycle develops an increment of the system.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The project closure phase wraps up the project, completes required documentation such as user manuals and assesses the lessons learned from the project.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289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4053" y="513673"/>
            <a:ext cx="8448948" cy="54299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447800" y="5867400"/>
            <a:ext cx="4419600" cy="68580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000" dirty="0"/>
              <a:t>list of work to be done on the project.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4191000" y="76200"/>
            <a:ext cx="4953000" cy="838200"/>
          </a:xfrm>
          <a:prstGeom prst="wedgeRect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dirty="0"/>
              <a:t>This means that everyone on the team knows what is going on and, if problems arise, can re-plan short-term work to cope with them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0" y="1828800"/>
            <a:ext cx="4419600" cy="914401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i="1" dirty="0"/>
              <a:t>Sprints</a:t>
            </a:r>
            <a:r>
              <a:rPr lang="en-US" dirty="0"/>
              <a:t>—consist of work units that are required to achieve a requirement defined</a:t>
            </a:r>
          </a:p>
          <a:p>
            <a:pPr algn="just"/>
            <a:r>
              <a:rPr lang="en-US" dirty="0"/>
              <a:t>in the backlog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4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76200"/>
            <a:ext cx="7772400" cy="1143000"/>
          </a:xfrm>
        </p:spPr>
        <p:txBody>
          <a:bodyPr/>
          <a:lstStyle/>
          <a:p>
            <a:r>
              <a:rPr lang="en-US" dirty="0"/>
              <a:t>Scrum roles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066800"/>
            <a:ext cx="8229600" cy="534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b="1" dirty="0"/>
              <a:t>Product owner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/>
              <a:t>ensures that the team delivers value to the business. The Product Owner writes customer-centric items (typically user stories), ranks and prioritizes them, and adds them to the product backlog.</a:t>
            </a:r>
            <a:r>
              <a:rPr lang="en-GB" sz="2000" dirty="0"/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b="1" dirty="0"/>
              <a:t>Scrum master</a:t>
            </a:r>
            <a:r>
              <a:rPr lang="en-GB" sz="2400" dirty="0"/>
              <a:t>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000" dirty="0"/>
              <a:t>protects the development team from external distractions.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000" dirty="0"/>
              <a:t>a facilitator who arranges daily meetings, tracks the backlog of work to be done, records decisions, measures progress against the backlog and communicates with customers and management outside of the team.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b="1" dirty="0"/>
              <a:t>Development team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/>
              <a:t>Consists of 3 to 9 software engineers from cross functional area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/>
              <a:t>Include architects, programmers, analysts, QA experts, testers, and UI designers. </a:t>
            </a:r>
          </a:p>
        </p:txBody>
      </p:sp>
    </p:spTree>
    <p:extLst>
      <p:ext uri="{BB962C8B-B14F-4D97-AF65-F5344CB8AC3E}">
        <p14:creationId xmlns:p14="http://schemas.microsoft.com/office/powerpoint/2010/main" val="370339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agile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64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Agile methods have proved to be successful for small and medium sized projects that can be developed by a small co-located team.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It is sometimes argued that the success of these methods comes because of improved communications which is possible when everyone is working together.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Scaling up agile methods involves changing these to cope with larger, longer projects where there are multiple development teams, perhaps working in different locations.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481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0"/>
            <a:ext cx="7772400" cy="1143000"/>
          </a:xfrm>
        </p:spPr>
        <p:txBody>
          <a:bodyPr/>
          <a:lstStyle/>
          <a:p>
            <a:r>
              <a:rPr lang="en-US" sz="3600" dirty="0"/>
              <a:t>Large systems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Large systems are usually </a:t>
            </a:r>
            <a:r>
              <a:rPr lang="en-GB" sz="2400" b="1" dirty="0"/>
              <a:t>collections of separate, communicating systems,</a:t>
            </a:r>
            <a:r>
              <a:rPr lang="en-GB" sz="2400" dirty="0"/>
              <a:t> where </a:t>
            </a:r>
            <a:r>
              <a:rPr lang="en-GB" sz="2400" b="1" dirty="0"/>
              <a:t>separate teams develop each system</a:t>
            </a:r>
            <a:r>
              <a:rPr lang="en-GB" sz="2400" dirty="0"/>
              <a:t>. Frequently, these teams are working in </a:t>
            </a:r>
            <a:r>
              <a:rPr lang="en-GB" sz="2400" b="1" dirty="0"/>
              <a:t>different places</a:t>
            </a:r>
            <a:r>
              <a:rPr lang="en-GB" sz="2400" dirty="0"/>
              <a:t>, sometimes in different </a:t>
            </a:r>
            <a:r>
              <a:rPr lang="en-GB" sz="2400" b="1" dirty="0"/>
              <a:t>time zones</a:t>
            </a:r>
            <a:r>
              <a:rPr lang="en-GB" sz="2400" dirty="0"/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Large systems have a </a:t>
            </a:r>
            <a:r>
              <a:rPr lang="en-GB" sz="2400" b="1" dirty="0"/>
              <a:t>long procurement and development time</a:t>
            </a:r>
            <a:r>
              <a:rPr lang="en-GB" sz="2400" dirty="0"/>
              <a:t>. It is difficult to maintain coherent teams who know about the system over that period as, inevitably, people move on to other jobs and projects.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Large systems usually have a </a:t>
            </a:r>
            <a:r>
              <a:rPr lang="en-GB" sz="2400" b="1" dirty="0"/>
              <a:t>diverse set of stakeholders</a:t>
            </a:r>
            <a:r>
              <a:rPr lang="en-GB" sz="2400" dirty="0"/>
              <a:t>. It is practically impossible to involve all of these different stakeholders in the development process.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7980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dirty="0"/>
              <a:t>Scaling out and scaling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‘Scaling up’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is concerned with using agile methods for developing </a:t>
            </a:r>
            <a:r>
              <a:rPr lang="en-GB" sz="2400" b="1" dirty="0"/>
              <a:t>large software systems</a:t>
            </a:r>
            <a:r>
              <a:rPr lang="en-GB" sz="2400" dirty="0"/>
              <a:t> that cannot be developed by a small team.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‘Scaling out’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is concerned with how agile methods can be introduced across a </a:t>
            </a:r>
            <a:r>
              <a:rPr lang="en-GB" sz="2400" b="1" dirty="0"/>
              <a:t>large organization</a:t>
            </a:r>
            <a:r>
              <a:rPr lang="en-GB" sz="2400" dirty="0"/>
              <a:t> with many years of software development experience.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When scaling agile methods it is essential to maintain agile fundamentals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GB" sz="2400" dirty="0"/>
              <a:t>Flexible planning, frequent system releases, continuous integration, test-driven development and good team communications.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747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up to large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For large systems development, it is not possible to focus only on the code of the system. You need to do more up-front design and system documentation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b="1" dirty="0"/>
              <a:t>Cross-team communication mechanisms </a:t>
            </a:r>
            <a:r>
              <a:rPr lang="en-GB" sz="2400" dirty="0"/>
              <a:t>have to be designed and used. This should involve regular </a:t>
            </a:r>
            <a:r>
              <a:rPr lang="en-GB" sz="2400" b="1" dirty="0"/>
              <a:t>phone and video conferences</a:t>
            </a:r>
            <a:r>
              <a:rPr lang="en-GB" sz="2400" dirty="0"/>
              <a:t> between team members and frequent, short electronic meetings where teams update each other on progress.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b="1" dirty="0"/>
              <a:t>Continuous integration</a:t>
            </a:r>
            <a:r>
              <a:rPr lang="en-GB" sz="2400" dirty="0"/>
              <a:t>, where the whole system is built every time any developer checks in a change, is practically impossible. However, it is </a:t>
            </a:r>
            <a:r>
              <a:rPr lang="en-GB" sz="2400" b="1" dirty="0"/>
              <a:t>essential to maintain frequent system builds</a:t>
            </a:r>
            <a:r>
              <a:rPr lang="en-GB" sz="2400" dirty="0"/>
              <a:t> and regular releases of the system. </a:t>
            </a:r>
            <a:endParaRPr lang="en-US" sz="24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627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0"/>
            <a:ext cx="7772400" cy="1143000"/>
          </a:xfrm>
        </p:spPr>
        <p:txBody>
          <a:bodyPr/>
          <a:lstStyle/>
          <a:p>
            <a:r>
              <a:rPr lang="en-US" dirty="0"/>
              <a:t>Scaling out to large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200" dirty="0"/>
              <a:t>Project managers who do not have experience of agile methods may be refuse to accept the risk of a new approach.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200" dirty="0"/>
              <a:t>Large organizations often have </a:t>
            </a:r>
            <a:r>
              <a:rPr lang="en-GB" sz="2200" b="1" dirty="0"/>
              <a:t>quality procedures and standards </a:t>
            </a:r>
            <a:r>
              <a:rPr lang="en-GB" sz="2200" dirty="0"/>
              <a:t>that all projects are expected to follow and, because of their bureaucratic nature, these are likely to be incompatible with agile methods.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200" dirty="0"/>
              <a:t>Agile methods seem to work best when team members have a </a:t>
            </a:r>
            <a:r>
              <a:rPr lang="en-GB" sz="2200" b="1" dirty="0"/>
              <a:t>relatively high skill </a:t>
            </a:r>
            <a:r>
              <a:rPr lang="en-GB" sz="2200" dirty="0"/>
              <a:t>level. However, within large organizations, there are likely to be a wide range of skills and abilities.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200" dirty="0"/>
              <a:t>There may be cultural resistance to agile methods, especially in those organizations that have a long history of using conventional systems engineering processes.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8567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A particular strength of extreme programming is the development of automated tests before a program feature is created. All tests must successfully execute when an increment is integrated into a system.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The Scrum method is an agile method that provides a project management framework. It is centred round a set of sprints, which are fixed time periods when a system increment is developed.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/>
              <a:t>Scaling agile methods for large systems is difficult. Large systems need up-front design and some documentation.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3195741"/>
      </p:ext>
    </p:extLst>
  </p:cSld>
  <p:clrMapOvr>
    <a:masterClrMapping/>
  </p:clrMapOvr>
</p:sld>
</file>

<file path=ppt/theme/theme1.xml><?xml version="1.0" encoding="utf-8"?>
<a:theme xmlns:a="http://schemas.openxmlformats.org/drawingml/2006/main" name="Min halsduk">
  <a:themeElements>
    <a:clrScheme name="Min halsduk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Min halsdu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in halsduk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 halsduk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23037</TotalTime>
  <Words>929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Monotype Sorts</vt:lpstr>
      <vt:lpstr>Times New Roman</vt:lpstr>
      <vt:lpstr>Wingdings</vt:lpstr>
      <vt:lpstr>Min halsduk</vt:lpstr>
      <vt:lpstr>Agile Software Development</vt:lpstr>
      <vt:lpstr>Agile project management</vt:lpstr>
      <vt:lpstr>Scrum</vt:lpstr>
      <vt:lpstr>PowerPoint Presentation</vt:lpstr>
      <vt:lpstr>Scrum roles</vt:lpstr>
      <vt:lpstr>Scaling agile methods</vt:lpstr>
      <vt:lpstr>Large systems development</vt:lpstr>
      <vt:lpstr>Scaling out and scaling up</vt:lpstr>
      <vt:lpstr>Scaling up to large systems</vt:lpstr>
      <vt:lpstr>Scaling out to large companies</vt:lpstr>
      <vt:lpstr>Key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Software Development</dc:title>
  <dc:creator>Ahmad Salman Khan</dc:creator>
  <cp:lastModifiedBy>ch waqar</cp:lastModifiedBy>
  <cp:revision>100</cp:revision>
  <dcterms:created xsi:type="dcterms:W3CDTF">2006-08-16T00:00:00Z</dcterms:created>
  <dcterms:modified xsi:type="dcterms:W3CDTF">2022-03-17T01:44:00Z</dcterms:modified>
</cp:coreProperties>
</file>
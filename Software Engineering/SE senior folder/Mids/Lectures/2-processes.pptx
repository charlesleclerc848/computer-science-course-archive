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2"/>
  </p:notesMasterIdLst>
  <p:sldIdLst>
    <p:sldId id="311" r:id="rId2"/>
    <p:sldId id="258" r:id="rId3"/>
    <p:sldId id="259" r:id="rId4"/>
    <p:sldId id="260" r:id="rId5"/>
    <p:sldId id="313" r:id="rId6"/>
    <p:sldId id="261" r:id="rId7"/>
    <p:sldId id="318" r:id="rId8"/>
    <p:sldId id="262" r:id="rId9"/>
    <p:sldId id="264" r:id="rId10"/>
    <p:sldId id="317" r:id="rId11"/>
    <p:sldId id="265" r:id="rId12"/>
    <p:sldId id="266" r:id="rId13"/>
    <p:sldId id="267" r:id="rId14"/>
    <p:sldId id="268" r:id="rId15"/>
    <p:sldId id="269" r:id="rId16"/>
    <p:sldId id="270" r:id="rId17"/>
    <p:sldId id="314" r:id="rId18"/>
    <p:sldId id="271" r:id="rId19"/>
    <p:sldId id="272" r:id="rId20"/>
    <p:sldId id="273" r:id="rId21"/>
    <p:sldId id="274" r:id="rId22"/>
    <p:sldId id="275" r:id="rId23"/>
    <p:sldId id="316" r:id="rId24"/>
    <p:sldId id="315" r:id="rId25"/>
    <p:sldId id="277" r:id="rId26"/>
    <p:sldId id="278" r:id="rId27"/>
    <p:sldId id="279" r:id="rId28"/>
    <p:sldId id="280" r:id="rId29"/>
    <p:sldId id="281" r:id="rId30"/>
    <p:sldId id="282" r:id="rId31"/>
    <p:sldId id="283" r:id="rId32"/>
    <p:sldId id="284" r:id="rId33"/>
    <p:sldId id="285" r:id="rId34"/>
    <p:sldId id="286" r:id="rId35"/>
    <p:sldId id="287" r:id="rId36"/>
    <p:sldId id="319"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20" r:id="rId56"/>
    <p:sldId id="306" r:id="rId57"/>
    <p:sldId id="307" r:id="rId58"/>
    <p:sldId id="308" r:id="rId59"/>
    <p:sldId id="309" r:id="rId60"/>
    <p:sldId id="310" r:id="rId6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309" autoAdjust="0"/>
    <p:restoredTop sz="94660"/>
  </p:normalViewPr>
  <p:slideViewPr>
    <p:cSldViewPr>
      <p:cViewPr>
        <p:scale>
          <a:sx n="63" d="100"/>
          <a:sy n="63" d="100"/>
        </p:scale>
        <p:origin x="1468" y="5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3764B8-3234-43AF-8191-F856ADA48659}" type="datetimeFigureOut">
              <a:rPr lang="en-US" smtClean="0"/>
              <a:pPr/>
              <a:t>3/1/2023</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DD9CB63-C12F-4E70-9EEA-2285449E3C44}" type="slidenum">
              <a:rPr lang="en-US" smtClean="0"/>
              <a:pPr/>
              <a:t>‹#›</a:t>
            </a:fld>
            <a:endParaRPr lang="en-US"/>
          </a:p>
        </p:txBody>
      </p:sp>
    </p:spTree>
    <p:extLst>
      <p:ext uri="{BB962C8B-B14F-4D97-AF65-F5344CB8AC3E}">
        <p14:creationId xmlns:p14="http://schemas.microsoft.com/office/powerpoint/2010/main" val="9940169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 data model picture</a:t>
            </a:r>
          </a:p>
        </p:txBody>
      </p:sp>
      <p:sp>
        <p:nvSpPr>
          <p:cNvPr id="4" name="Slide Number Placeholder 3"/>
          <p:cNvSpPr>
            <a:spLocks noGrp="1"/>
          </p:cNvSpPr>
          <p:nvPr>
            <p:ph type="sldNum" sz="quarter" idx="10"/>
          </p:nvPr>
        </p:nvSpPr>
        <p:spPr/>
        <p:txBody>
          <a:bodyPr/>
          <a:lstStyle/>
          <a:p>
            <a:fld id="{9DD9CB63-C12F-4E70-9EEA-2285449E3C44}" type="slidenum">
              <a:rPr lang="en-US" smtClean="0"/>
              <a:pPr/>
              <a:t>3</a:t>
            </a:fld>
            <a:endParaRPr lang="en-US"/>
          </a:p>
        </p:txBody>
      </p:sp>
    </p:spTree>
    <p:extLst>
      <p:ext uri="{BB962C8B-B14F-4D97-AF65-F5344CB8AC3E}">
        <p14:creationId xmlns:p14="http://schemas.microsoft.com/office/powerpoint/2010/main" val="37436822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p:cNvGrpSpPr>
            <a:grpSpLocks/>
          </p:cNvGrpSpPr>
          <p:nvPr/>
        </p:nvGrpSpPr>
        <p:grpSpPr bwMode="auto">
          <a:xfrm>
            <a:off x="-3175" y="2438400"/>
            <a:ext cx="9147175" cy="1063625"/>
            <a:chOff x="-2" y="1536"/>
            <a:chExt cx="5762" cy="670"/>
          </a:xfrm>
        </p:grpSpPr>
        <p:grpSp>
          <p:nvGrpSpPr>
            <p:cNvPr id="5" name="Group 3"/>
            <p:cNvGrpSpPr>
              <a:grpSpLocks/>
            </p:cNvGrpSpPr>
            <p:nvPr/>
          </p:nvGrpSpPr>
          <p:grpSpPr bwMode="auto">
            <a:xfrm flipH="1">
              <a:off x="-2" y="1562"/>
              <a:ext cx="5762" cy="638"/>
              <a:chOff x="-2" y="1562"/>
              <a:chExt cx="5762" cy="638"/>
            </a:xfrm>
          </p:grpSpPr>
          <p:sp>
            <p:nvSpPr>
              <p:cNvPr id="8" name="Freeform 4"/>
              <p:cNvSpPr>
                <a:spLocks/>
              </p:cNvSpPr>
              <p:nvPr/>
            </p:nvSpPr>
            <p:spPr bwMode="ltGray">
              <a:xfrm rot="-5400000">
                <a:off x="2559" y="-993"/>
                <a:ext cx="624" cy="5745"/>
              </a:xfrm>
              <a:custGeom>
                <a:avLst/>
                <a:gdLst>
                  <a:gd name="T0" fmla="*/ 0 w 1000"/>
                  <a:gd name="T1" fmla="*/ 0 h 720"/>
                  <a:gd name="T2" fmla="*/ 0 w 1000"/>
                  <a:gd name="T3" fmla="*/ 5745 h 720"/>
                  <a:gd name="T4" fmla="*/ 624 w 1000"/>
                  <a:gd name="T5" fmla="*/ 5745 h 720"/>
                  <a:gd name="T6" fmla="*/ 624 w 1000"/>
                  <a:gd name="T7" fmla="*/ 0 h 720"/>
                  <a:gd name="T8" fmla="*/ 0 w 1000"/>
                  <a:gd name="T9" fmla="*/ 0 h 7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00" h="720">
                    <a:moveTo>
                      <a:pt x="0" y="0"/>
                    </a:moveTo>
                    <a:lnTo>
                      <a:pt x="0" y="720"/>
                    </a:lnTo>
                    <a:lnTo>
                      <a:pt x="1000" y="720"/>
                    </a:lnTo>
                    <a:lnTo>
                      <a:pt x="1000" y="0"/>
                    </a:lnTo>
                    <a:lnTo>
                      <a:pt x="0" y="0"/>
                    </a:lnTo>
                    <a:close/>
                  </a:path>
                </a:pathLst>
              </a:custGeom>
              <a:solidFill>
                <a:schemeClr val="accent1"/>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solidFill>
                    <a:srgbClr val="000000"/>
                  </a:solidFill>
                </a:endParaRPr>
              </a:p>
            </p:txBody>
          </p:sp>
          <p:sp>
            <p:nvSpPr>
              <p:cNvPr id="9" name="Freeform 5"/>
              <p:cNvSpPr>
                <a:spLocks/>
              </p:cNvSpPr>
              <p:nvPr/>
            </p:nvSpPr>
            <p:spPr bwMode="ltGray">
              <a:xfrm rot="-5400000">
                <a:off x="1323" y="1669"/>
                <a:ext cx="624" cy="421"/>
              </a:xfrm>
              <a:custGeom>
                <a:avLst/>
                <a:gdLst>
                  <a:gd name="T0" fmla="*/ 0 w 624"/>
                  <a:gd name="T1" fmla="*/ 0 h 317"/>
                  <a:gd name="T2" fmla="*/ 0 w 624"/>
                  <a:gd name="T3" fmla="*/ 361 h 317"/>
                  <a:gd name="T4" fmla="*/ 624 w 624"/>
                  <a:gd name="T5" fmla="*/ 361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cubicBezTo>
                      <a:pt x="0" y="0"/>
                      <a:pt x="0" y="272"/>
                      <a:pt x="0" y="272"/>
                    </a:cubicBezTo>
                    <a:cubicBezTo>
                      <a:pt x="432" y="224"/>
                      <a:pt x="520" y="317"/>
                      <a:pt x="624" y="272"/>
                    </a:cubicBezTo>
                    <a:lnTo>
                      <a:pt x="624" y="0"/>
                    </a:lnTo>
                    <a:lnTo>
                      <a:pt x="0" y="0"/>
                    </a:lnTo>
                    <a:close/>
                  </a:path>
                </a:pathLst>
              </a:custGeom>
              <a:solidFill>
                <a:schemeClr val="bg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solidFill>
                    <a:srgbClr val="000000"/>
                  </a:solidFill>
                </a:endParaRPr>
              </a:p>
            </p:txBody>
          </p:sp>
          <p:sp>
            <p:nvSpPr>
              <p:cNvPr id="10" name="Freeform 6"/>
              <p:cNvSpPr>
                <a:spLocks/>
              </p:cNvSpPr>
              <p:nvPr/>
            </p:nvSpPr>
            <p:spPr bwMode="ltGray">
              <a:xfrm rot="-5400000">
                <a:off x="982" y="1669"/>
                <a:ext cx="624" cy="422"/>
              </a:xfrm>
              <a:custGeom>
                <a:avLst/>
                <a:gdLst>
                  <a:gd name="T0" fmla="*/ 0 w 624"/>
                  <a:gd name="T1" fmla="*/ 0 h 317"/>
                  <a:gd name="T2" fmla="*/ 0 w 624"/>
                  <a:gd name="T3" fmla="*/ 362 h 317"/>
                  <a:gd name="T4" fmla="*/ 624 w 624"/>
                  <a:gd name="T5" fmla="*/ 362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lnTo>
                      <a:pt x="0" y="272"/>
                    </a:lnTo>
                    <a:cubicBezTo>
                      <a:pt x="104" y="317"/>
                      <a:pt x="432" y="240"/>
                      <a:pt x="624" y="272"/>
                    </a:cubicBezTo>
                    <a:lnTo>
                      <a:pt x="624" y="0"/>
                    </a:lnTo>
                    <a:lnTo>
                      <a:pt x="0" y="0"/>
                    </a:lnTo>
                    <a:close/>
                  </a:path>
                </a:pathLst>
              </a:custGeom>
              <a:solidFill>
                <a:schemeClr val="folHlink"/>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solidFill>
                    <a:srgbClr val="000000"/>
                  </a:solidFill>
                </a:endParaRPr>
              </a:p>
            </p:txBody>
          </p:sp>
          <p:sp>
            <p:nvSpPr>
              <p:cNvPr id="11" name="Freeform 7"/>
              <p:cNvSpPr>
                <a:spLocks/>
              </p:cNvSpPr>
              <p:nvPr/>
            </p:nvSpPr>
            <p:spPr bwMode="ltGray">
              <a:xfrm rot="-5400000">
                <a:off x="-57" y="1752"/>
                <a:ext cx="624" cy="255"/>
              </a:xfrm>
              <a:custGeom>
                <a:avLst/>
                <a:gdLst>
                  <a:gd name="T0" fmla="*/ 0 w 624"/>
                  <a:gd name="T1" fmla="*/ 37 h 370"/>
                  <a:gd name="T2" fmla="*/ 0 w 624"/>
                  <a:gd name="T3" fmla="*/ 224 h 370"/>
                  <a:gd name="T4" fmla="*/ 624 w 624"/>
                  <a:gd name="T5" fmla="*/ 224 h 370"/>
                  <a:gd name="T6" fmla="*/ 624 w 624"/>
                  <a:gd name="T7" fmla="*/ 37 h 370"/>
                  <a:gd name="T8" fmla="*/ 384 w 624"/>
                  <a:gd name="T9" fmla="*/ 6 h 370"/>
                  <a:gd name="T10" fmla="*/ 0 w 624"/>
                  <a:gd name="T11" fmla="*/ 37 h 37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24" h="370">
                    <a:moveTo>
                      <a:pt x="0" y="53"/>
                    </a:moveTo>
                    <a:lnTo>
                      <a:pt x="0" y="325"/>
                    </a:lnTo>
                    <a:cubicBezTo>
                      <a:pt x="104" y="370"/>
                      <a:pt x="520" y="370"/>
                      <a:pt x="624" y="325"/>
                    </a:cubicBezTo>
                    <a:lnTo>
                      <a:pt x="624" y="53"/>
                    </a:lnTo>
                    <a:cubicBezTo>
                      <a:pt x="584" y="0"/>
                      <a:pt x="488" y="8"/>
                      <a:pt x="384" y="8"/>
                    </a:cubicBezTo>
                    <a:cubicBezTo>
                      <a:pt x="280" y="8"/>
                      <a:pt x="80" y="44"/>
                      <a:pt x="0" y="53"/>
                    </a:cubicBezTo>
                    <a:close/>
                  </a:path>
                </a:pathLst>
              </a:custGeom>
              <a:solidFill>
                <a:schemeClr val="bg2"/>
              </a:solidFill>
              <a:ln>
                <a:noFill/>
              </a:ln>
              <a:extLst>
                <a:ext uri="{91240B29-F687-4F45-9708-019B960494DF}">
                  <a14:hiddenLine xmlns:a14="http://schemas.microsoft.com/office/drawing/2010/main" w="9525">
                    <a:solidFill>
                      <a:schemeClr val="tx2"/>
                    </a:solidFill>
                    <a:round/>
                    <a:headEnd/>
                    <a:tailEnd/>
                  </a14:hiddenLine>
                </a:ext>
              </a:extLst>
            </p:spPr>
            <p:txBody>
              <a:bodyPr wrap="none" anchor="ctr"/>
              <a:lstStyle/>
              <a:p>
                <a:endParaRPr lang="en-US">
                  <a:solidFill>
                    <a:srgbClr val="000000"/>
                  </a:solidFill>
                </a:endParaRPr>
              </a:p>
            </p:txBody>
          </p:sp>
          <p:sp>
            <p:nvSpPr>
              <p:cNvPr id="12" name="Freeform 8"/>
              <p:cNvSpPr>
                <a:spLocks/>
              </p:cNvSpPr>
              <p:nvPr/>
            </p:nvSpPr>
            <p:spPr bwMode="ltGray">
              <a:xfrm rot="-5400000">
                <a:off x="664" y="1733"/>
                <a:ext cx="624" cy="294"/>
              </a:xfrm>
              <a:custGeom>
                <a:avLst/>
                <a:gdLst>
                  <a:gd name="T0" fmla="*/ 0 w 624"/>
                  <a:gd name="T1" fmla="*/ 0 h 317"/>
                  <a:gd name="T2" fmla="*/ 0 w 624"/>
                  <a:gd name="T3" fmla="*/ 252 h 317"/>
                  <a:gd name="T4" fmla="*/ 624 w 624"/>
                  <a:gd name="T5" fmla="*/ 252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lnTo>
                      <a:pt x="0" y="272"/>
                    </a:lnTo>
                    <a:cubicBezTo>
                      <a:pt x="104" y="317"/>
                      <a:pt x="520" y="317"/>
                      <a:pt x="624" y="272"/>
                    </a:cubicBezTo>
                    <a:lnTo>
                      <a:pt x="624" y="0"/>
                    </a:lnTo>
                    <a:cubicBezTo>
                      <a:pt x="240" y="42"/>
                      <a:pt x="130" y="0"/>
                      <a:pt x="0" y="0"/>
                    </a:cubicBezTo>
                    <a:close/>
                  </a:path>
                </a:pathLst>
              </a:custGeom>
              <a:solidFill>
                <a:schemeClr val="tx1"/>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solidFill>
                    <a:srgbClr val="000000"/>
                  </a:solidFill>
                </a:endParaRPr>
              </a:p>
            </p:txBody>
          </p:sp>
          <p:sp>
            <p:nvSpPr>
              <p:cNvPr id="13" name="Freeform 9"/>
              <p:cNvSpPr>
                <a:spLocks/>
              </p:cNvSpPr>
              <p:nvPr/>
            </p:nvSpPr>
            <p:spPr bwMode="ltGray">
              <a:xfrm rot="-5400000">
                <a:off x="442" y="1699"/>
                <a:ext cx="624" cy="362"/>
              </a:xfrm>
              <a:custGeom>
                <a:avLst/>
                <a:gdLst>
                  <a:gd name="T0" fmla="*/ 0 w 624"/>
                  <a:gd name="T1" fmla="*/ 0 h 272"/>
                  <a:gd name="T2" fmla="*/ 0 w 624"/>
                  <a:gd name="T3" fmla="*/ 362 h 272"/>
                  <a:gd name="T4" fmla="*/ 240 w 624"/>
                  <a:gd name="T5" fmla="*/ 319 h 272"/>
                  <a:gd name="T6" fmla="*/ 624 w 624"/>
                  <a:gd name="T7" fmla="*/ 362 h 272"/>
                  <a:gd name="T8" fmla="*/ 624 w 624"/>
                  <a:gd name="T9" fmla="*/ 0 h 272"/>
                  <a:gd name="T10" fmla="*/ 0 w 624"/>
                  <a:gd name="T11" fmla="*/ 0 h 2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24" h="272">
                    <a:moveTo>
                      <a:pt x="0" y="0"/>
                    </a:moveTo>
                    <a:cubicBezTo>
                      <a:pt x="0" y="0"/>
                      <a:pt x="0" y="272"/>
                      <a:pt x="0" y="272"/>
                    </a:cubicBezTo>
                    <a:cubicBezTo>
                      <a:pt x="96" y="240"/>
                      <a:pt x="136" y="240"/>
                      <a:pt x="240" y="240"/>
                    </a:cubicBezTo>
                    <a:cubicBezTo>
                      <a:pt x="344" y="240"/>
                      <a:pt x="528" y="272"/>
                      <a:pt x="624" y="272"/>
                    </a:cubicBezTo>
                    <a:lnTo>
                      <a:pt x="624" y="0"/>
                    </a:lnTo>
                    <a:lnTo>
                      <a:pt x="0" y="0"/>
                    </a:lnTo>
                    <a:close/>
                  </a:path>
                </a:pathLst>
              </a:custGeom>
              <a:solidFill>
                <a:schemeClr val="accent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solidFill>
                    <a:srgbClr val="000000"/>
                  </a:solidFill>
                </a:endParaRPr>
              </a:p>
            </p:txBody>
          </p:sp>
          <p:sp>
            <p:nvSpPr>
              <p:cNvPr id="14" name="Freeform 10"/>
              <p:cNvSpPr>
                <a:spLocks/>
              </p:cNvSpPr>
              <p:nvPr/>
            </p:nvSpPr>
            <p:spPr bwMode="ltGray">
              <a:xfrm rot="-5400000">
                <a:off x="156" y="1726"/>
                <a:ext cx="632" cy="315"/>
              </a:xfrm>
              <a:custGeom>
                <a:avLst/>
                <a:gdLst>
                  <a:gd name="T0" fmla="*/ 8 w 632"/>
                  <a:gd name="T1" fmla="*/ 39 h 362"/>
                  <a:gd name="T2" fmla="*/ 8 w 632"/>
                  <a:gd name="T3" fmla="*/ 276 h 362"/>
                  <a:gd name="T4" fmla="*/ 248 w 632"/>
                  <a:gd name="T5" fmla="*/ 276 h 362"/>
                  <a:gd name="T6" fmla="*/ 632 w 632"/>
                  <a:gd name="T7" fmla="*/ 276 h 362"/>
                  <a:gd name="T8" fmla="*/ 632 w 632"/>
                  <a:gd name="T9" fmla="*/ 39 h 362"/>
                  <a:gd name="T10" fmla="*/ 104 w 632"/>
                  <a:gd name="T11" fmla="*/ 39 h 362"/>
                  <a:gd name="T12" fmla="*/ 8 w 632"/>
                  <a:gd name="T13" fmla="*/ 39 h 36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32" h="362">
                    <a:moveTo>
                      <a:pt x="8" y="45"/>
                    </a:moveTo>
                    <a:lnTo>
                      <a:pt x="8" y="317"/>
                    </a:lnTo>
                    <a:cubicBezTo>
                      <a:pt x="48" y="362"/>
                      <a:pt x="144" y="317"/>
                      <a:pt x="248" y="317"/>
                    </a:cubicBezTo>
                    <a:cubicBezTo>
                      <a:pt x="352" y="317"/>
                      <a:pt x="568" y="362"/>
                      <a:pt x="632" y="317"/>
                    </a:cubicBezTo>
                    <a:lnTo>
                      <a:pt x="632" y="45"/>
                    </a:lnTo>
                    <a:cubicBezTo>
                      <a:pt x="544" y="0"/>
                      <a:pt x="208" y="45"/>
                      <a:pt x="104" y="45"/>
                    </a:cubicBezTo>
                    <a:cubicBezTo>
                      <a:pt x="0" y="45"/>
                      <a:pt x="28" y="45"/>
                      <a:pt x="8" y="45"/>
                    </a:cubicBezTo>
                    <a:close/>
                  </a:path>
                </a:pathLst>
              </a:custGeom>
              <a:solidFill>
                <a:schemeClr val="tx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solidFill>
                    <a:srgbClr val="000000"/>
                  </a:solidFill>
                </a:endParaRPr>
              </a:p>
            </p:txBody>
          </p:sp>
          <p:sp>
            <p:nvSpPr>
              <p:cNvPr id="15" name="Freeform 11"/>
              <p:cNvSpPr>
                <a:spLocks/>
              </p:cNvSpPr>
              <p:nvPr/>
            </p:nvSpPr>
            <p:spPr bwMode="ltGray">
              <a:xfrm rot="-5400000">
                <a:off x="3211" y="1664"/>
                <a:ext cx="624" cy="421"/>
              </a:xfrm>
              <a:custGeom>
                <a:avLst/>
                <a:gdLst>
                  <a:gd name="T0" fmla="*/ 0 w 624"/>
                  <a:gd name="T1" fmla="*/ 0 h 317"/>
                  <a:gd name="T2" fmla="*/ 0 w 624"/>
                  <a:gd name="T3" fmla="*/ 361 h 317"/>
                  <a:gd name="T4" fmla="*/ 624 w 624"/>
                  <a:gd name="T5" fmla="*/ 361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cubicBezTo>
                      <a:pt x="0" y="0"/>
                      <a:pt x="0" y="272"/>
                      <a:pt x="0" y="272"/>
                    </a:cubicBezTo>
                    <a:cubicBezTo>
                      <a:pt x="432" y="224"/>
                      <a:pt x="520" y="317"/>
                      <a:pt x="624" y="272"/>
                    </a:cubicBezTo>
                    <a:lnTo>
                      <a:pt x="624" y="0"/>
                    </a:lnTo>
                    <a:lnTo>
                      <a:pt x="0" y="0"/>
                    </a:lnTo>
                    <a:close/>
                  </a:path>
                </a:pathLst>
              </a:custGeom>
              <a:solidFill>
                <a:schemeClr val="bg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solidFill>
                    <a:srgbClr val="000000"/>
                  </a:solidFill>
                </a:endParaRPr>
              </a:p>
            </p:txBody>
          </p:sp>
          <p:sp>
            <p:nvSpPr>
              <p:cNvPr id="16" name="Freeform 12"/>
              <p:cNvSpPr>
                <a:spLocks/>
              </p:cNvSpPr>
              <p:nvPr/>
            </p:nvSpPr>
            <p:spPr bwMode="ltGray">
              <a:xfrm rot="-5400000">
                <a:off x="2870" y="1664"/>
                <a:ext cx="624" cy="422"/>
              </a:xfrm>
              <a:custGeom>
                <a:avLst/>
                <a:gdLst>
                  <a:gd name="T0" fmla="*/ 0 w 624"/>
                  <a:gd name="T1" fmla="*/ 0 h 317"/>
                  <a:gd name="T2" fmla="*/ 0 w 624"/>
                  <a:gd name="T3" fmla="*/ 362 h 317"/>
                  <a:gd name="T4" fmla="*/ 624 w 624"/>
                  <a:gd name="T5" fmla="*/ 362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lnTo>
                      <a:pt x="0" y="272"/>
                    </a:lnTo>
                    <a:cubicBezTo>
                      <a:pt x="104" y="317"/>
                      <a:pt x="432" y="240"/>
                      <a:pt x="624" y="272"/>
                    </a:cubicBezTo>
                    <a:lnTo>
                      <a:pt x="624" y="0"/>
                    </a:lnTo>
                    <a:lnTo>
                      <a:pt x="0" y="0"/>
                    </a:lnTo>
                    <a:close/>
                  </a:path>
                </a:pathLst>
              </a:custGeom>
              <a:solidFill>
                <a:schemeClr val="tx1"/>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solidFill>
                    <a:srgbClr val="000000"/>
                  </a:solidFill>
                </a:endParaRPr>
              </a:p>
            </p:txBody>
          </p:sp>
          <p:sp>
            <p:nvSpPr>
              <p:cNvPr id="17" name="Freeform 13"/>
              <p:cNvSpPr>
                <a:spLocks/>
              </p:cNvSpPr>
              <p:nvPr/>
            </p:nvSpPr>
            <p:spPr bwMode="ltGray">
              <a:xfrm rot="-5400000">
                <a:off x="1830" y="1747"/>
                <a:ext cx="624" cy="255"/>
              </a:xfrm>
              <a:custGeom>
                <a:avLst/>
                <a:gdLst>
                  <a:gd name="T0" fmla="*/ 0 w 624"/>
                  <a:gd name="T1" fmla="*/ 37 h 370"/>
                  <a:gd name="T2" fmla="*/ 0 w 624"/>
                  <a:gd name="T3" fmla="*/ 224 h 370"/>
                  <a:gd name="T4" fmla="*/ 624 w 624"/>
                  <a:gd name="T5" fmla="*/ 224 h 370"/>
                  <a:gd name="T6" fmla="*/ 624 w 624"/>
                  <a:gd name="T7" fmla="*/ 37 h 370"/>
                  <a:gd name="T8" fmla="*/ 384 w 624"/>
                  <a:gd name="T9" fmla="*/ 6 h 370"/>
                  <a:gd name="T10" fmla="*/ 0 w 624"/>
                  <a:gd name="T11" fmla="*/ 37 h 37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24" h="370">
                    <a:moveTo>
                      <a:pt x="0" y="53"/>
                    </a:moveTo>
                    <a:lnTo>
                      <a:pt x="0" y="325"/>
                    </a:lnTo>
                    <a:cubicBezTo>
                      <a:pt x="104" y="370"/>
                      <a:pt x="520" y="370"/>
                      <a:pt x="624" y="325"/>
                    </a:cubicBezTo>
                    <a:lnTo>
                      <a:pt x="624" y="53"/>
                    </a:lnTo>
                    <a:cubicBezTo>
                      <a:pt x="584" y="0"/>
                      <a:pt x="488" y="8"/>
                      <a:pt x="384" y="8"/>
                    </a:cubicBezTo>
                    <a:cubicBezTo>
                      <a:pt x="280" y="8"/>
                      <a:pt x="80" y="44"/>
                      <a:pt x="0" y="53"/>
                    </a:cubicBezTo>
                    <a:close/>
                  </a:path>
                </a:pathLst>
              </a:custGeom>
              <a:solidFill>
                <a:schemeClr val="tx2"/>
              </a:solidFill>
              <a:ln>
                <a:noFill/>
              </a:ln>
              <a:extLst>
                <a:ext uri="{91240B29-F687-4F45-9708-019B960494DF}">
                  <a14:hiddenLine xmlns:a14="http://schemas.microsoft.com/office/drawing/2010/main" w="9525">
                    <a:solidFill>
                      <a:schemeClr val="tx2"/>
                    </a:solidFill>
                    <a:round/>
                    <a:headEnd/>
                    <a:tailEnd/>
                  </a14:hiddenLine>
                </a:ext>
              </a:extLst>
            </p:spPr>
            <p:txBody>
              <a:bodyPr wrap="none" anchor="ctr"/>
              <a:lstStyle/>
              <a:p>
                <a:endParaRPr lang="en-US">
                  <a:solidFill>
                    <a:srgbClr val="000000"/>
                  </a:solidFill>
                </a:endParaRPr>
              </a:p>
            </p:txBody>
          </p:sp>
          <p:sp>
            <p:nvSpPr>
              <p:cNvPr id="18" name="Freeform 14"/>
              <p:cNvSpPr>
                <a:spLocks/>
              </p:cNvSpPr>
              <p:nvPr/>
            </p:nvSpPr>
            <p:spPr bwMode="ltGray">
              <a:xfrm rot="-5400000">
                <a:off x="2551" y="1728"/>
                <a:ext cx="624" cy="294"/>
              </a:xfrm>
              <a:custGeom>
                <a:avLst/>
                <a:gdLst>
                  <a:gd name="T0" fmla="*/ 0 w 624"/>
                  <a:gd name="T1" fmla="*/ 0 h 317"/>
                  <a:gd name="T2" fmla="*/ 0 w 624"/>
                  <a:gd name="T3" fmla="*/ 252 h 317"/>
                  <a:gd name="T4" fmla="*/ 624 w 624"/>
                  <a:gd name="T5" fmla="*/ 252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lnTo>
                      <a:pt x="0" y="272"/>
                    </a:lnTo>
                    <a:cubicBezTo>
                      <a:pt x="104" y="317"/>
                      <a:pt x="520" y="317"/>
                      <a:pt x="624" y="272"/>
                    </a:cubicBezTo>
                    <a:lnTo>
                      <a:pt x="624" y="0"/>
                    </a:lnTo>
                    <a:cubicBezTo>
                      <a:pt x="240" y="42"/>
                      <a:pt x="130" y="0"/>
                      <a:pt x="0" y="0"/>
                    </a:cubicBezTo>
                    <a:close/>
                  </a:path>
                </a:pathLst>
              </a:custGeom>
              <a:solidFill>
                <a:schemeClr val="folHlink"/>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solidFill>
                    <a:srgbClr val="000000"/>
                  </a:solidFill>
                </a:endParaRPr>
              </a:p>
            </p:txBody>
          </p:sp>
          <p:sp>
            <p:nvSpPr>
              <p:cNvPr id="19" name="Freeform 15"/>
              <p:cNvSpPr>
                <a:spLocks/>
              </p:cNvSpPr>
              <p:nvPr/>
            </p:nvSpPr>
            <p:spPr bwMode="ltGray">
              <a:xfrm rot="-5400000">
                <a:off x="2330" y="1694"/>
                <a:ext cx="624" cy="361"/>
              </a:xfrm>
              <a:custGeom>
                <a:avLst/>
                <a:gdLst>
                  <a:gd name="T0" fmla="*/ 0 w 624"/>
                  <a:gd name="T1" fmla="*/ 0 h 272"/>
                  <a:gd name="T2" fmla="*/ 0 w 624"/>
                  <a:gd name="T3" fmla="*/ 361 h 272"/>
                  <a:gd name="T4" fmla="*/ 240 w 624"/>
                  <a:gd name="T5" fmla="*/ 319 h 272"/>
                  <a:gd name="T6" fmla="*/ 624 w 624"/>
                  <a:gd name="T7" fmla="*/ 361 h 272"/>
                  <a:gd name="T8" fmla="*/ 624 w 624"/>
                  <a:gd name="T9" fmla="*/ 0 h 272"/>
                  <a:gd name="T10" fmla="*/ 0 w 624"/>
                  <a:gd name="T11" fmla="*/ 0 h 2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24" h="272">
                    <a:moveTo>
                      <a:pt x="0" y="0"/>
                    </a:moveTo>
                    <a:cubicBezTo>
                      <a:pt x="0" y="0"/>
                      <a:pt x="0" y="272"/>
                      <a:pt x="0" y="272"/>
                    </a:cubicBezTo>
                    <a:cubicBezTo>
                      <a:pt x="96" y="240"/>
                      <a:pt x="136" y="240"/>
                      <a:pt x="240" y="240"/>
                    </a:cubicBezTo>
                    <a:cubicBezTo>
                      <a:pt x="344" y="240"/>
                      <a:pt x="528" y="272"/>
                      <a:pt x="624" y="272"/>
                    </a:cubicBezTo>
                    <a:lnTo>
                      <a:pt x="624" y="0"/>
                    </a:lnTo>
                    <a:lnTo>
                      <a:pt x="0" y="0"/>
                    </a:lnTo>
                    <a:close/>
                  </a:path>
                </a:pathLst>
              </a:custGeom>
              <a:solidFill>
                <a:schemeClr val="accent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solidFill>
                    <a:srgbClr val="000000"/>
                  </a:solidFill>
                </a:endParaRPr>
              </a:p>
            </p:txBody>
          </p:sp>
          <p:sp>
            <p:nvSpPr>
              <p:cNvPr id="20" name="Freeform 16"/>
              <p:cNvSpPr>
                <a:spLocks/>
              </p:cNvSpPr>
              <p:nvPr/>
            </p:nvSpPr>
            <p:spPr bwMode="ltGray">
              <a:xfrm rot="-5400000">
                <a:off x="2043" y="1721"/>
                <a:ext cx="632" cy="316"/>
              </a:xfrm>
              <a:custGeom>
                <a:avLst/>
                <a:gdLst>
                  <a:gd name="T0" fmla="*/ 8 w 632"/>
                  <a:gd name="T1" fmla="*/ 39 h 362"/>
                  <a:gd name="T2" fmla="*/ 8 w 632"/>
                  <a:gd name="T3" fmla="*/ 277 h 362"/>
                  <a:gd name="T4" fmla="*/ 248 w 632"/>
                  <a:gd name="T5" fmla="*/ 277 h 362"/>
                  <a:gd name="T6" fmla="*/ 632 w 632"/>
                  <a:gd name="T7" fmla="*/ 277 h 362"/>
                  <a:gd name="T8" fmla="*/ 632 w 632"/>
                  <a:gd name="T9" fmla="*/ 39 h 362"/>
                  <a:gd name="T10" fmla="*/ 104 w 632"/>
                  <a:gd name="T11" fmla="*/ 39 h 362"/>
                  <a:gd name="T12" fmla="*/ 8 w 632"/>
                  <a:gd name="T13" fmla="*/ 39 h 36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32" h="362">
                    <a:moveTo>
                      <a:pt x="8" y="45"/>
                    </a:moveTo>
                    <a:lnTo>
                      <a:pt x="8" y="317"/>
                    </a:lnTo>
                    <a:cubicBezTo>
                      <a:pt x="48" y="362"/>
                      <a:pt x="144" y="317"/>
                      <a:pt x="248" y="317"/>
                    </a:cubicBezTo>
                    <a:cubicBezTo>
                      <a:pt x="352" y="317"/>
                      <a:pt x="568" y="362"/>
                      <a:pt x="632" y="317"/>
                    </a:cubicBezTo>
                    <a:lnTo>
                      <a:pt x="632" y="45"/>
                    </a:lnTo>
                    <a:cubicBezTo>
                      <a:pt x="544" y="0"/>
                      <a:pt x="208" y="45"/>
                      <a:pt x="104" y="45"/>
                    </a:cubicBezTo>
                    <a:cubicBezTo>
                      <a:pt x="0" y="45"/>
                      <a:pt x="28" y="45"/>
                      <a:pt x="8" y="45"/>
                    </a:cubicBezTo>
                    <a:close/>
                  </a:path>
                </a:pathLst>
              </a:custGeom>
              <a:solidFill>
                <a:schemeClr val="hlink"/>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solidFill>
                    <a:srgbClr val="000000"/>
                  </a:solidFill>
                </a:endParaRPr>
              </a:p>
            </p:txBody>
          </p:sp>
          <p:sp>
            <p:nvSpPr>
              <p:cNvPr id="21" name="Freeform 17"/>
              <p:cNvSpPr>
                <a:spLocks/>
              </p:cNvSpPr>
              <p:nvPr/>
            </p:nvSpPr>
            <p:spPr bwMode="ltGray">
              <a:xfrm rot="-5400000">
                <a:off x="4077" y="1669"/>
                <a:ext cx="624" cy="421"/>
              </a:xfrm>
              <a:custGeom>
                <a:avLst/>
                <a:gdLst>
                  <a:gd name="T0" fmla="*/ 0 w 624"/>
                  <a:gd name="T1" fmla="*/ 0 h 317"/>
                  <a:gd name="T2" fmla="*/ 0 w 624"/>
                  <a:gd name="T3" fmla="*/ 361 h 317"/>
                  <a:gd name="T4" fmla="*/ 624 w 624"/>
                  <a:gd name="T5" fmla="*/ 361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cubicBezTo>
                      <a:pt x="0" y="0"/>
                      <a:pt x="0" y="272"/>
                      <a:pt x="0" y="272"/>
                    </a:cubicBezTo>
                    <a:cubicBezTo>
                      <a:pt x="432" y="224"/>
                      <a:pt x="520" y="317"/>
                      <a:pt x="624" y="272"/>
                    </a:cubicBezTo>
                    <a:lnTo>
                      <a:pt x="624" y="0"/>
                    </a:lnTo>
                    <a:lnTo>
                      <a:pt x="0" y="0"/>
                    </a:lnTo>
                    <a:close/>
                  </a:path>
                </a:pathLst>
              </a:custGeom>
              <a:solidFill>
                <a:schemeClr val="hlink"/>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solidFill>
                    <a:srgbClr val="000000"/>
                  </a:solidFill>
                </a:endParaRPr>
              </a:p>
            </p:txBody>
          </p:sp>
          <p:sp>
            <p:nvSpPr>
              <p:cNvPr id="22" name="Freeform 18"/>
              <p:cNvSpPr>
                <a:spLocks/>
              </p:cNvSpPr>
              <p:nvPr/>
            </p:nvSpPr>
            <p:spPr bwMode="ltGray">
              <a:xfrm rot="-5400000">
                <a:off x="3736" y="1669"/>
                <a:ext cx="624" cy="422"/>
              </a:xfrm>
              <a:custGeom>
                <a:avLst/>
                <a:gdLst>
                  <a:gd name="T0" fmla="*/ 0 w 624"/>
                  <a:gd name="T1" fmla="*/ 0 h 317"/>
                  <a:gd name="T2" fmla="*/ 0 w 624"/>
                  <a:gd name="T3" fmla="*/ 362 h 317"/>
                  <a:gd name="T4" fmla="*/ 624 w 624"/>
                  <a:gd name="T5" fmla="*/ 362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lnTo>
                      <a:pt x="0" y="272"/>
                    </a:lnTo>
                    <a:cubicBezTo>
                      <a:pt x="104" y="317"/>
                      <a:pt x="432" y="240"/>
                      <a:pt x="624" y="272"/>
                    </a:cubicBezTo>
                    <a:lnTo>
                      <a:pt x="624" y="0"/>
                    </a:lnTo>
                    <a:lnTo>
                      <a:pt x="0" y="0"/>
                    </a:lnTo>
                    <a:close/>
                  </a:path>
                </a:pathLst>
              </a:custGeom>
              <a:solidFill>
                <a:schemeClr val="tx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solidFill>
                    <a:srgbClr val="000000"/>
                  </a:solidFill>
                </a:endParaRPr>
              </a:p>
            </p:txBody>
          </p:sp>
          <p:sp>
            <p:nvSpPr>
              <p:cNvPr id="23" name="Freeform 19"/>
              <p:cNvSpPr>
                <a:spLocks/>
              </p:cNvSpPr>
              <p:nvPr/>
            </p:nvSpPr>
            <p:spPr bwMode="ltGray">
              <a:xfrm rot="-5400000">
                <a:off x="4584" y="1747"/>
                <a:ext cx="624" cy="255"/>
              </a:xfrm>
              <a:custGeom>
                <a:avLst/>
                <a:gdLst>
                  <a:gd name="T0" fmla="*/ 0 w 624"/>
                  <a:gd name="T1" fmla="*/ 37 h 370"/>
                  <a:gd name="T2" fmla="*/ 0 w 624"/>
                  <a:gd name="T3" fmla="*/ 224 h 370"/>
                  <a:gd name="T4" fmla="*/ 624 w 624"/>
                  <a:gd name="T5" fmla="*/ 224 h 370"/>
                  <a:gd name="T6" fmla="*/ 624 w 624"/>
                  <a:gd name="T7" fmla="*/ 37 h 370"/>
                  <a:gd name="T8" fmla="*/ 384 w 624"/>
                  <a:gd name="T9" fmla="*/ 6 h 370"/>
                  <a:gd name="T10" fmla="*/ 0 w 624"/>
                  <a:gd name="T11" fmla="*/ 37 h 37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24" h="370">
                    <a:moveTo>
                      <a:pt x="0" y="53"/>
                    </a:moveTo>
                    <a:lnTo>
                      <a:pt x="0" y="325"/>
                    </a:lnTo>
                    <a:cubicBezTo>
                      <a:pt x="104" y="370"/>
                      <a:pt x="520" y="370"/>
                      <a:pt x="624" y="325"/>
                    </a:cubicBezTo>
                    <a:lnTo>
                      <a:pt x="624" y="53"/>
                    </a:lnTo>
                    <a:cubicBezTo>
                      <a:pt x="584" y="0"/>
                      <a:pt x="488" y="8"/>
                      <a:pt x="384" y="8"/>
                    </a:cubicBezTo>
                    <a:cubicBezTo>
                      <a:pt x="280" y="8"/>
                      <a:pt x="80" y="44"/>
                      <a:pt x="0" y="53"/>
                    </a:cubicBezTo>
                    <a:close/>
                  </a:path>
                </a:pathLst>
              </a:custGeom>
              <a:solidFill>
                <a:schemeClr val="folHlink"/>
              </a:solidFill>
              <a:ln>
                <a:noFill/>
              </a:ln>
              <a:extLst>
                <a:ext uri="{91240B29-F687-4F45-9708-019B960494DF}">
                  <a14:hiddenLine xmlns:a14="http://schemas.microsoft.com/office/drawing/2010/main" w="9525">
                    <a:solidFill>
                      <a:schemeClr val="tx2"/>
                    </a:solidFill>
                    <a:round/>
                    <a:headEnd/>
                    <a:tailEnd/>
                  </a14:hiddenLine>
                </a:ext>
              </a:extLst>
            </p:spPr>
            <p:txBody>
              <a:bodyPr wrap="none" anchor="ctr"/>
              <a:lstStyle/>
              <a:p>
                <a:endParaRPr lang="en-US">
                  <a:solidFill>
                    <a:srgbClr val="000000"/>
                  </a:solidFill>
                </a:endParaRPr>
              </a:p>
            </p:txBody>
          </p:sp>
          <p:sp>
            <p:nvSpPr>
              <p:cNvPr id="24" name="Freeform 20"/>
              <p:cNvSpPr>
                <a:spLocks/>
              </p:cNvSpPr>
              <p:nvPr/>
            </p:nvSpPr>
            <p:spPr bwMode="ltGray">
              <a:xfrm>
                <a:off x="5469" y="1562"/>
                <a:ext cx="291" cy="625"/>
              </a:xfrm>
              <a:custGeom>
                <a:avLst/>
                <a:gdLst>
                  <a:gd name="T0" fmla="*/ 0 w 291"/>
                  <a:gd name="T1" fmla="*/ 624 h 625"/>
                  <a:gd name="T2" fmla="*/ 291 w 291"/>
                  <a:gd name="T3" fmla="*/ 625 h 625"/>
                  <a:gd name="T4" fmla="*/ 291 w 291"/>
                  <a:gd name="T5" fmla="*/ 6 h 625"/>
                  <a:gd name="T6" fmla="*/ 0 w 291"/>
                  <a:gd name="T7" fmla="*/ 0 h 625"/>
                  <a:gd name="T8" fmla="*/ 0 w 291"/>
                  <a:gd name="T9" fmla="*/ 624 h 6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1" h="625">
                    <a:moveTo>
                      <a:pt x="0" y="624"/>
                    </a:moveTo>
                    <a:lnTo>
                      <a:pt x="291" y="625"/>
                    </a:lnTo>
                    <a:lnTo>
                      <a:pt x="291" y="6"/>
                    </a:lnTo>
                    <a:lnTo>
                      <a:pt x="0" y="0"/>
                    </a:lnTo>
                    <a:cubicBezTo>
                      <a:pt x="39" y="384"/>
                      <a:pt x="0" y="494"/>
                      <a:pt x="0" y="624"/>
                    </a:cubicBezTo>
                    <a:close/>
                  </a:path>
                </a:pathLst>
              </a:custGeom>
              <a:solidFill>
                <a:schemeClr val="tx1"/>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solidFill>
                    <a:srgbClr val="000000"/>
                  </a:solidFill>
                </a:endParaRPr>
              </a:p>
            </p:txBody>
          </p:sp>
          <p:sp>
            <p:nvSpPr>
              <p:cNvPr id="25" name="Freeform 21"/>
              <p:cNvSpPr>
                <a:spLocks/>
              </p:cNvSpPr>
              <p:nvPr/>
            </p:nvSpPr>
            <p:spPr bwMode="ltGray">
              <a:xfrm rot="-5400000">
                <a:off x="5084" y="1694"/>
                <a:ext cx="624" cy="361"/>
              </a:xfrm>
              <a:custGeom>
                <a:avLst/>
                <a:gdLst>
                  <a:gd name="T0" fmla="*/ 0 w 624"/>
                  <a:gd name="T1" fmla="*/ 0 h 272"/>
                  <a:gd name="T2" fmla="*/ 0 w 624"/>
                  <a:gd name="T3" fmla="*/ 361 h 272"/>
                  <a:gd name="T4" fmla="*/ 240 w 624"/>
                  <a:gd name="T5" fmla="*/ 319 h 272"/>
                  <a:gd name="T6" fmla="*/ 624 w 624"/>
                  <a:gd name="T7" fmla="*/ 361 h 272"/>
                  <a:gd name="T8" fmla="*/ 624 w 624"/>
                  <a:gd name="T9" fmla="*/ 0 h 272"/>
                  <a:gd name="T10" fmla="*/ 0 w 624"/>
                  <a:gd name="T11" fmla="*/ 0 h 2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24" h="272">
                    <a:moveTo>
                      <a:pt x="0" y="0"/>
                    </a:moveTo>
                    <a:cubicBezTo>
                      <a:pt x="0" y="0"/>
                      <a:pt x="0" y="272"/>
                      <a:pt x="0" y="272"/>
                    </a:cubicBezTo>
                    <a:cubicBezTo>
                      <a:pt x="96" y="240"/>
                      <a:pt x="136" y="240"/>
                      <a:pt x="240" y="240"/>
                    </a:cubicBezTo>
                    <a:cubicBezTo>
                      <a:pt x="344" y="240"/>
                      <a:pt x="528" y="272"/>
                      <a:pt x="624" y="272"/>
                    </a:cubicBezTo>
                    <a:lnTo>
                      <a:pt x="624" y="0"/>
                    </a:lnTo>
                    <a:lnTo>
                      <a:pt x="0" y="0"/>
                    </a:lnTo>
                    <a:close/>
                  </a:path>
                </a:pathLst>
              </a:custGeom>
              <a:solidFill>
                <a:schemeClr val="accent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solidFill>
                    <a:srgbClr val="000000"/>
                  </a:solidFill>
                </a:endParaRPr>
              </a:p>
            </p:txBody>
          </p:sp>
          <p:sp>
            <p:nvSpPr>
              <p:cNvPr id="26" name="Freeform 22"/>
              <p:cNvSpPr>
                <a:spLocks/>
              </p:cNvSpPr>
              <p:nvPr/>
            </p:nvSpPr>
            <p:spPr bwMode="ltGray">
              <a:xfrm rot="-5400000">
                <a:off x="4797" y="1721"/>
                <a:ext cx="632" cy="316"/>
              </a:xfrm>
              <a:custGeom>
                <a:avLst/>
                <a:gdLst>
                  <a:gd name="T0" fmla="*/ 8 w 632"/>
                  <a:gd name="T1" fmla="*/ 39 h 362"/>
                  <a:gd name="T2" fmla="*/ 8 w 632"/>
                  <a:gd name="T3" fmla="*/ 277 h 362"/>
                  <a:gd name="T4" fmla="*/ 248 w 632"/>
                  <a:gd name="T5" fmla="*/ 277 h 362"/>
                  <a:gd name="T6" fmla="*/ 632 w 632"/>
                  <a:gd name="T7" fmla="*/ 277 h 362"/>
                  <a:gd name="T8" fmla="*/ 632 w 632"/>
                  <a:gd name="T9" fmla="*/ 39 h 362"/>
                  <a:gd name="T10" fmla="*/ 104 w 632"/>
                  <a:gd name="T11" fmla="*/ 39 h 362"/>
                  <a:gd name="T12" fmla="*/ 8 w 632"/>
                  <a:gd name="T13" fmla="*/ 39 h 36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32" h="362">
                    <a:moveTo>
                      <a:pt x="8" y="45"/>
                    </a:moveTo>
                    <a:lnTo>
                      <a:pt x="8" y="317"/>
                    </a:lnTo>
                    <a:cubicBezTo>
                      <a:pt x="48" y="362"/>
                      <a:pt x="144" y="317"/>
                      <a:pt x="248" y="317"/>
                    </a:cubicBezTo>
                    <a:cubicBezTo>
                      <a:pt x="352" y="317"/>
                      <a:pt x="568" y="362"/>
                      <a:pt x="632" y="317"/>
                    </a:cubicBezTo>
                    <a:lnTo>
                      <a:pt x="632" y="45"/>
                    </a:lnTo>
                    <a:cubicBezTo>
                      <a:pt x="544" y="0"/>
                      <a:pt x="208" y="45"/>
                      <a:pt x="104" y="45"/>
                    </a:cubicBezTo>
                    <a:cubicBezTo>
                      <a:pt x="0" y="45"/>
                      <a:pt x="28" y="45"/>
                      <a:pt x="8" y="45"/>
                    </a:cubicBezTo>
                    <a:close/>
                  </a:path>
                </a:pathLst>
              </a:custGeom>
              <a:solidFill>
                <a:schemeClr val="tx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solidFill>
                    <a:srgbClr val="000000"/>
                  </a:solidFill>
                </a:endParaRPr>
              </a:p>
            </p:txBody>
          </p:sp>
        </p:grpSp>
        <p:sp>
          <p:nvSpPr>
            <p:cNvPr id="6" name="Freeform 23"/>
            <p:cNvSpPr>
              <a:spLocks/>
            </p:cNvSpPr>
            <p:nvPr/>
          </p:nvSpPr>
          <p:spPr bwMode="ltGray">
            <a:xfrm flipH="1">
              <a:off x="-2" y="1536"/>
              <a:ext cx="5762" cy="412"/>
            </a:xfrm>
            <a:custGeom>
              <a:avLst/>
              <a:gdLst>
                <a:gd name="T0" fmla="*/ 0 w 5762"/>
                <a:gd name="T1" fmla="*/ 210 h 385"/>
                <a:gd name="T2" fmla="*/ 5762 w 5762"/>
                <a:gd name="T3" fmla="*/ 201 h 385"/>
                <a:gd name="T4" fmla="*/ 5762 w 5762"/>
                <a:gd name="T5" fmla="*/ 4 h 385"/>
                <a:gd name="T6" fmla="*/ 0 w 5762"/>
                <a:gd name="T7" fmla="*/ 0 h 385"/>
                <a:gd name="T8" fmla="*/ 0 w 5762"/>
                <a:gd name="T9" fmla="*/ 210 h 38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762" h="385">
                  <a:moveTo>
                    <a:pt x="0" y="196"/>
                  </a:moveTo>
                  <a:cubicBezTo>
                    <a:pt x="1667" y="385"/>
                    <a:pt x="2275" y="93"/>
                    <a:pt x="5762" y="188"/>
                  </a:cubicBezTo>
                  <a:lnTo>
                    <a:pt x="5762" y="4"/>
                  </a:lnTo>
                  <a:lnTo>
                    <a:pt x="0" y="0"/>
                  </a:lnTo>
                  <a:lnTo>
                    <a:pt x="0" y="196"/>
                  </a:lnTo>
                  <a:close/>
                </a:path>
              </a:pathLst>
            </a:custGeom>
            <a:gradFill rotWithShape="0">
              <a:gsLst>
                <a:gs pos="0">
                  <a:schemeClr val="bg1"/>
                </a:gs>
                <a:gs pos="100000">
                  <a:srgbClr val="767676"/>
                </a:gs>
              </a:gsLst>
              <a:lin ang="5400000" scaled="1"/>
            </a:gradFill>
            <a:ln>
              <a:noFill/>
            </a:ln>
            <a:effectLst/>
            <a:extLst>
              <a:ext uri="{91240B29-F687-4F45-9708-019B960494DF}">
                <a14:hiddenLine xmlns:a14="http://schemas.microsoft.com/office/drawing/2010/main" w="9525" cap="flat">
                  <a:solidFill>
                    <a:schemeClr val="tx1"/>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solidFill>
                  <a:srgbClr val="000000"/>
                </a:solidFill>
              </a:endParaRPr>
            </a:p>
          </p:txBody>
        </p:sp>
        <p:sp>
          <p:nvSpPr>
            <p:cNvPr id="7" name="Freeform 24"/>
            <p:cNvSpPr>
              <a:spLocks/>
            </p:cNvSpPr>
            <p:nvPr/>
          </p:nvSpPr>
          <p:spPr bwMode="ltGray">
            <a:xfrm flipH="1">
              <a:off x="-2" y="2017"/>
              <a:ext cx="5761" cy="189"/>
            </a:xfrm>
            <a:custGeom>
              <a:avLst/>
              <a:gdLst>
                <a:gd name="T0" fmla="*/ 0 w 5761"/>
                <a:gd name="T1" fmla="*/ 28 h 189"/>
                <a:gd name="T2" fmla="*/ 5761 w 5761"/>
                <a:gd name="T3" fmla="*/ 0 h 189"/>
                <a:gd name="T4" fmla="*/ 5761 w 5761"/>
                <a:gd name="T5" fmla="*/ 189 h 189"/>
                <a:gd name="T6" fmla="*/ 1 w 5761"/>
                <a:gd name="T7" fmla="*/ 189 h 189"/>
                <a:gd name="T8" fmla="*/ 0 w 5761"/>
                <a:gd name="T9" fmla="*/ 28 h 18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761" h="189">
                  <a:moveTo>
                    <a:pt x="0" y="28"/>
                  </a:moveTo>
                  <a:cubicBezTo>
                    <a:pt x="961" y="0"/>
                    <a:pt x="4971" y="161"/>
                    <a:pt x="5761" y="0"/>
                  </a:cubicBezTo>
                  <a:lnTo>
                    <a:pt x="5761" y="189"/>
                  </a:lnTo>
                  <a:lnTo>
                    <a:pt x="1" y="189"/>
                  </a:lnTo>
                  <a:lnTo>
                    <a:pt x="0" y="28"/>
                  </a:lnTo>
                  <a:close/>
                </a:path>
              </a:pathLst>
            </a:custGeom>
            <a:gradFill rotWithShape="0">
              <a:gsLst>
                <a:gs pos="0">
                  <a:srgbClr val="767676"/>
                </a:gs>
                <a:gs pos="100000">
                  <a:schemeClr val="bg1"/>
                </a:gs>
              </a:gsLst>
              <a:lin ang="5400000" scaled="1"/>
            </a:gradFill>
            <a:ln>
              <a:noFill/>
            </a:ln>
            <a:effectLst/>
            <a:extLst>
              <a:ext uri="{91240B29-F687-4F45-9708-019B960494DF}">
                <a14:hiddenLine xmlns:a14="http://schemas.microsoft.com/office/drawing/2010/main" w="9525" cap="flat">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solidFill>
                  <a:srgbClr val="000000"/>
                </a:solidFill>
              </a:endParaRPr>
            </a:p>
          </p:txBody>
        </p:sp>
      </p:grpSp>
      <p:sp>
        <p:nvSpPr>
          <p:cNvPr id="3097" name="Rectangle 25"/>
          <p:cNvSpPr>
            <a:spLocks noGrp="1" noChangeArrowheads="1"/>
          </p:cNvSpPr>
          <p:nvPr>
            <p:ph type="ctrTitle"/>
          </p:nvPr>
        </p:nvSpPr>
        <p:spPr>
          <a:xfrm>
            <a:off x="1173163" y="1341438"/>
            <a:ext cx="7772400" cy="1143000"/>
          </a:xfrm>
        </p:spPr>
        <p:txBody>
          <a:bodyPr/>
          <a:lstStyle>
            <a:lvl1pPr>
              <a:defRPr/>
            </a:lvl1pPr>
          </a:lstStyle>
          <a:p>
            <a:pPr lvl="0"/>
            <a:r>
              <a:rPr lang="en-US" noProof="0"/>
              <a:t>Click to edit Master title style</a:t>
            </a:r>
          </a:p>
        </p:txBody>
      </p:sp>
      <p:sp>
        <p:nvSpPr>
          <p:cNvPr id="3098" name="Rectangle 26"/>
          <p:cNvSpPr>
            <a:spLocks noGrp="1" noChangeArrowheads="1"/>
          </p:cNvSpPr>
          <p:nvPr>
            <p:ph type="subTitle" idx="1"/>
          </p:nvPr>
        </p:nvSpPr>
        <p:spPr>
          <a:xfrm>
            <a:off x="1166813" y="3886200"/>
            <a:ext cx="6400800" cy="1752600"/>
          </a:xfrm>
        </p:spPr>
        <p:txBody>
          <a:bodyPr/>
          <a:lstStyle>
            <a:lvl1pPr marL="0" indent="0">
              <a:buFont typeface="Monotype Sorts" pitchFamily="2" charset="2"/>
              <a:buNone/>
              <a:defRPr/>
            </a:lvl1pPr>
          </a:lstStyle>
          <a:p>
            <a:pPr lvl="0"/>
            <a:r>
              <a:rPr lang="en-US" noProof="0"/>
              <a:t>Click to edit Master subtitle style</a:t>
            </a:r>
          </a:p>
        </p:txBody>
      </p:sp>
      <p:sp>
        <p:nvSpPr>
          <p:cNvPr id="27" name="Rectangle 27"/>
          <p:cNvSpPr>
            <a:spLocks noGrp="1" noChangeArrowheads="1"/>
          </p:cNvSpPr>
          <p:nvPr>
            <p:ph type="dt" sz="half" idx="10"/>
          </p:nvPr>
        </p:nvSpPr>
        <p:spPr>
          <a:xfrm>
            <a:off x="1166813" y="6248400"/>
            <a:ext cx="1905000" cy="457200"/>
          </a:xfrm>
        </p:spPr>
        <p:txBody>
          <a:bodyPr/>
          <a:lstStyle>
            <a:lvl1pPr>
              <a:defRPr>
                <a:solidFill>
                  <a:srgbClr val="000000"/>
                </a:solidFill>
              </a:defRPr>
            </a:lvl1pPr>
          </a:lstStyle>
          <a:p>
            <a:pPr>
              <a:defRPr/>
            </a:pPr>
            <a:endParaRPr lang="en-US"/>
          </a:p>
        </p:txBody>
      </p:sp>
      <p:sp>
        <p:nvSpPr>
          <p:cNvPr id="28" name="Rectangle 28"/>
          <p:cNvSpPr>
            <a:spLocks noGrp="1" noChangeArrowheads="1"/>
          </p:cNvSpPr>
          <p:nvPr>
            <p:ph type="ftr" sz="quarter" idx="11"/>
          </p:nvPr>
        </p:nvSpPr>
        <p:spPr/>
        <p:txBody>
          <a:bodyPr/>
          <a:lstStyle>
            <a:lvl1pPr>
              <a:defRPr>
                <a:solidFill>
                  <a:srgbClr val="000000"/>
                </a:solidFill>
              </a:defRPr>
            </a:lvl1pPr>
          </a:lstStyle>
          <a:p>
            <a:pPr>
              <a:defRPr/>
            </a:pPr>
            <a:endParaRPr lang="en-US"/>
          </a:p>
        </p:txBody>
      </p:sp>
      <p:sp>
        <p:nvSpPr>
          <p:cNvPr id="29" name="Rectangle 29"/>
          <p:cNvSpPr>
            <a:spLocks noGrp="1" noChangeArrowheads="1"/>
          </p:cNvSpPr>
          <p:nvPr>
            <p:ph type="sldNum" sz="quarter" idx="12"/>
          </p:nvPr>
        </p:nvSpPr>
        <p:spPr/>
        <p:txBody>
          <a:bodyPr/>
          <a:lstStyle>
            <a:lvl1pPr>
              <a:defRPr>
                <a:solidFill>
                  <a:srgbClr val="000000"/>
                </a:solidFill>
              </a:defRPr>
            </a:lvl1pPr>
          </a:lstStyle>
          <a:p>
            <a:pPr>
              <a:defRPr/>
            </a:pPr>
            <a:fld id="{8B2BD1F4-E424-42A3-B945-217E93FF70A4}" type="slidenum">
              <a:rPr lang="en-US"/>
              <a:pPr>
                <a:defRPr/>
              </a:pPr>
              <a:t>‹#›</a:t>
            </a:fld>
            <a:endParaRPr lang="en-US"/>
          </a:p>
        </p:txBody>
      </p:sp>
    </p:spTree>
    <p:extLst>
      <p:ext uri="{BB962C8B-B14F-4D97-AF65-F5344CB8AC3E}">
        <p14:creationId xmlns:p14="http://schemas.microsoft.com/office/powerpoint/2010/main" val="26996123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7"/>
          <p:cNvSpPr>
            <a:spLocks noGrp="1" noChangeArrowheads="1"/>
          </p:cNvSpPr>
          <p:nvPr>
            <p:ph type="dt" sz="half" idx="10"/>
          </p:nvPr>
        </p:nvSpPr>
        <p:spPr>
          <a:ln/>
        </p:spPr>
        <p:txBody>
          <a:bodyPr/>
          <a:lstStyle>
            <a:lvl1pPr>
              <a:defRPr/>
            </a:lvl1pPr>
          </a:lstStyle>
          <a:p>
            <a:pPr>
              <a:defRPr/>
            </a:pPr>
            <a:endParaRPr lang="en-US"/>
          </a:p>
        </p:txBody>
      </p:sp>
      <p:sp>
        <p:nvSpPr>
          <p:cNvPr id="5" name="Rectangle 28"/>
          <p:cNvSpPr>
            <a:spLocks noGrp="1" noChangeArrowheads="1"/>
          </p:cNvSpPr>
          <p:nvPr>
            <p:ph type="ftr" sz="quarter" idx="11"/>
          </p:nvPr>
        </p:nvSpPr>
        <p:spPr>
          <a:ln/>
        </p:spPr>
        <p:txBody>
          <a:bodyPr/>
          <a:lstStyle>
            <a:lvl1pPr>
              <a:defRPr/>
            </a:lvl1pPr>
          </a:lstStyle>
          <a:p>
            <a:pPr>
              <a:defRPr/>
            </a:pPr>
            <a:endParaRPr lang="en-US"/>
          </a:p>
        </p:txBody>
      </p:sp>
      <p:sp>
        <p:nvSpPr>
          <p:cNvPr id="6" name="Rectangle 29"/>
          <p:cNvSpPr>
            <a:spLocks noGrp="1" noChangeArrowheads="1"/>
          </p:cNvSpPr>
          <p:nvPr>
            <p:ph type="sldNum" sz="quarter" idx="12"/>
          </p:nvPr>
        </p:nvSpPr>
        <p:spPr>
          <a:ln/>
        </p:spPr>
        <p:txBody>
          <a:bodyPr/>
          <a:lstStyle>
            <a:lvl1pPr>
              <a:defRPr/>
            </a:lvl1pPr>
          </a:lstStyle>
          <a:p>
            <a:pPr>
              <a:defRPr/>
            </a:pPr>
            <a:fld id="{1D75F301-EDCB-4BD9-9698-56ABF50BECEE}" type="slidenum">
              <a:rPr lang="en-US"/>
              <a:pPr>
                <a:defRPr/>
              </a:pPr>
              <a:t>‹#›</a:t>
            </a:fld>
            <a:endParaRPr lang="en-US"/>
          </a:p>
        </p:txBody>
      </p:sp>
    </p:spTree>
    <p:extLst>
      <p:ext uri="{BB962C8B-B14F-4D97-AF65-F5344CB8AC3E}">
        <p14:creationId xmlns:p14="http://schemas.microsoft.com/office/powerpoint/2010/main" val="10553746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Rectangle 27"/>
          <p:cNvSpPr>
            <a:spLocks noGrp="1" noChangeArrowheads="1"/>
          </p:cNvSpPr>
          <p:nvPr>
            <p:ph type="dt" sz="half" idx="10"/>
          </p:nvPr>
        </p:nvSpPr>
        <p:spPr>
          <a:ln/>
        </p:spPr>
        <p:txBody>
          <a:bodyPr/>
          <a:lstStyle>
            <a:lvl1pPr>
              <a:defRPr/>
            </a:lvl1pPr>
          </a:lstStyle>
          <a:p>
            <a:pPr>
              <a:defRPr/>
            </a:pPr>
            <a:endParaRPr lang="en-US"/>
          </a:p>
        </p:txBody>
      </p:sp>
      <p:sp>
        <p:nvSpPr>
          <p:cNvPr id="5" name="Rectangle 28"/>
          <p:cNvSpPr>
            <a:spLocks noGrp="1" noChangeArrowheads="1"/>
          </p:cNvSpPr>
          <p:nvPr>
            <p:ph type="ftr" sz="quarter" idx="11"/>
          </p:nvPr>
        </p:nvSpPr>
        <p:spPr>
          <a:ln/>
        </p:spPr>
        <p:txBody>
          <a:bodyPr/>
          <a:lstStyle>
            <a:lvl1pPr>
              <a:defRPr/>
            </a:lvl1pPr>
          </a:lstStyle>
          <a:p>
            <a:pPr>
              <a:defRPr/>
            </a:pPr>
            <a:endParaRPr lang="en-US"/>
          </a:p>
        </p:txBody>
      </p:sp>
      <p:sp>
        <p:nvSpPr>
          <p:cNvPr id="6" name="Rectangle 29"/>
          <p:cNvSpPr>
            <a:spLocks noGrp="1" noChangeArrowheads="1"/>
          </p:cNvSpPr>
          <p:nvPr>
            <p:ph type="sldNum" sz="quarter" idx="12"/>
          </p:nvPr>
        </p:nvSpPr>
        <p:spPr>
          <a:ln/>
        </p:spPr>
        <p:txBody>
          <a:bodyPr/>
          <a:lstStyle>
            <a:lvl1pPr>
              <a:defRPr/>
            </a:lvl1pPr>
          </a:lstStyle>
          <a:p>
            <a:pPr>
              <a:defRPr/>
            </a:pPr>
            <a:fld id="{6667F35D-7228-40A3-996D-E4DF2A678433}" type="slidenum">
              <a:rPr lang="en-US"/>
              <a:pPr>
                <a:defRPr/>
              </a:pPr>
              <a:t>‹#›</a:t>
            </a:fld>
            <a:endParaRPr lang="en-US"/>
          </a:p>
        </p:txBody>
      </p:sp>
    </p:spTree>
    <p:extLst>
      <p:ext uri="{BB962C8B-B14F-4D97-AF65-F5344CB8AC3E}">
        <p14:creationId xmlns:p14="http://schemas.microsoft.com/office/powerpoint/2010/main" val="34987996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173163"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135563"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27"/>
          <p:cNvSpPr>
            <a:spLocks noGrp="1" noChangeArrowheads="1"/>
          </p:cNvSpPr>
          <p:nvPr>
            <p:ph type="dt" sz="half" idx="10"/>
          </p:nvPr>
        </p:nvSpPr>
        <p:spPr>
          <a:ln/>
        </p:spPr>
        <p:txBody>
          <a:bodyPr/>
          <a:lstStyle>
            <a:lvl1pPr>
              <a:defRPr/>
            </a:lvl1pPr>
          </a:lstStyle>
          <a:p>
            <a:pPr>
              <a:defRPr/>
            </a:pPr>
            <a:endParaRPr lang="en-US"/>
          </a:p>
        </p:txBody>
      </p:sp>
      <p:sp>
        <p:nvSpPr>
          <p:cNvPr id="6" name="Rectangle 28"/>
          <p:cNvSpPr>
            <a:spLocks noGrp="1" noChangeArrowheads="1"/>
          </p:cNvSpPr>
          <p:nvPr>
            <p:ph type="ftr" sz="quarter" idx="11"/>
          </p:nvPr>
        </p:nvSpPr>
        <p:spPr>
          <a:ln/>
        </p:spPr>
        <p:txBody>
          <a:bodyPr/>
          <a:lstStyle>
            <a:lvl1pPr>
              <a:defRPr/>
            </a:lvl1pPr>
          </a:lstStyle>
          <a:p>
            <a:pPr>
              <a:defRPr/>
            </a:pPr>
            <a:endParaRPr lang="en-US"/>
          </a:p>
        </p:txBody>
      </p:sp>
      <p:sp>
        <p:nvSpPr>
          <p:cNvPr id="7" name="Rectangle 29"/>
          <p:cNvSpPr>
            <a:spLocks noGrp="1" noChangeArrowheads="1"/>
          </p:cNvSpPr>
          <p:nvPr>
            <p:ph type="sldNum" sz="quarter" idx="12"/>
          </p:nvPr>
        </p:nvSpPr>
        <p:spPr>
          <a:ln/>
        </p:spPr>
        <p:txBody>
          <a:bodyPr/>
          <a:lstStyle>
            <a:lvl1pPr>
              <a:defRPr/>
            </a:lvl1pPr>
          </a:lstStyle>
          <a:p>
            <a:pPr>
              <a:defRPr/>
            </a:pPr>
            <a:fld id="{650C38D6-2D0B-4050-BA63-50E50CEBCB03}" type="slidenum">
              <a:rPr lang="en-US"/>
              <a:pPr>
                <a:defRPr/>
              </a:pPr>
              <a:t>‹#›</a:t>
            </a:fld>
            <a:endParaRPr lang="en-US"/>
          </a:p>
        </p:txBody>
      </p:sp>
    </p:spTree>
    <p:extLst>
      <p:ext uri="{BB962C8B-B14F-4D97-AF65-F5344CB8AC3E}">
        <p14:creationId xmlns:p14="http://schemas.microsoft.com/office/powerpoint/2010/main" val="18003768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27"/>
          <p:cNvSpPr>
            <a:spLocks noGrp="1" noChangeArrowheads="1"/>
          </p:cNvSpPr>
          <p:nvPr>
            <p:ph type="dt" sz="half" idx="10"/>
          </p:nvPr>
        </p:nvSpPr>
        <p:spPr>
          <a:ln/>
        </p:spPr>
        <p:txBody>
          <a:bodyPr/>
          <a:lstStyle>
            <a:lvl1pPr>
              <a:defRPr/>
            </a:lvl1pPr>
          </a:lstStyle>
          <a:p>
            <a:pPr>
              <a:defRPr/>
            </a:pPr>
            <a:endParaRPr lang="en-US"/>
          </a:p>
        </p:txBody>
      </p:sp>
      <p:sp>
        <p:nvSpPr>
          <p:cNvPr id="8" name="Rectangle 28"/>
          <p:cNvSpPr>
            <a:spLocks noGrp="1" noChangeArrowheads="1"/>
          </p:cNvSpPr>
          <p:nvPr>
            <p:ph type="ftr" sz="quarter" idx="11"/>
          </p:nvPr>
        </p:nvSpPr>
        <p:spPr>
          <a:ln/>
        </p:spPr>
        <p:txBody>
          <a:bodyPr/>
          <a:lstStyle>
            <a:lvl1pPr>
              <a:defRPr/>
            </a:lvl1pPr>
          </a:lstStyle>
          <a:p>
            <a:pPr>
              <a:defRPr/>
            </a:pPr>
            <a:endParaRPr lang="en-US"/>
          </a:p>
        </p:txBody>
      </p:sp>
      <p:sp>
        <p:nvSpPr>
          <p:cNvPr id="9" name="Rectangle 29"/>
          <p:cNvSpPr>
            <a:spLocks noGrp="1" noChangeArrowheads="1"/>
          </p:cNvSpPr>
          <p:nvPr>
            <p:ph type="sldNum" sz="quarter" idx="12"/>
          </p:nvPr>
        </p:nvSpPr>
        <p:spPr>
          <a:ln/>
        </p:spPr>
        <p:txBody>
          <a:bodyPr/>
          <a:lstStyle>
            <a:lvl1pPr>
              <a:defRPr/>
            </a:lvl1pPr>
          </a:lstStyle>
          <a:p>
            <a:pPr>
              <a:defRPr/>
            </a:pPr>
            <a:fld id="{1A6C0ED4-5B28-43CB-9F18-44C0F6FCA9E2}" type="slidenum">
              <a:rPr lang="en-US"/>
              <a:pPr>
                <a:defRPr/>
              </a:pPr>
              <a:t>‹#›</a:t>
            </a:fld>
            <a:endParaRPr lang="en-US"/>
          </a:p>
        </p:txBody>
      </p:sp>
    </p:spTree>
    <p:extLst>
      <p:ext uri="{BB962C8B-B14F-4D97-AF65-F5344CB8AC3E}">
        <p14:creationId xmlns:p14="http://schemas.microsoft.com/office/powerpoint/2010/main" val="28773871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27"/>
          <p:cNvSpPr>
            <a:spLocks noGrp="1" noChangeArrowheads="1"/>
          </p:cNvSpPr>
          <p:nvPr>
            <p:ph type="dt" sz="half" idx="10"/>
          </p:nvPr>
        </p:nvSpPr>
        <p:spPr>
          <a:ln/>
        </p:spPr>
        <p:txBody>
          <a:bodyPr/>
          <a:lstStyle>
            <a:lvl1pPr>
              <a:defRPr/>
            </a:lvl1pPr>
          </a:lstStyle>
          <a:p>
            <a:pPr>
              <a:defRPr/>
            </a:pPr>
            <a:endParaRPr lang="en-US"/>
          </a:p>
        </p:txBody>
      </p:sp>
      <p:sp>
        <p:nvSpPr>
          <p:cNvPr id="4" name="Rectangle 28"/>
          <p:cNvSpPr>
            <a:spLocks noGrp="1" noChangeArrowheads="1"/>
          </p:cNvSpPr>
          <p:nvPr>
            <p:ph type="ftr" sz="quarter" idx="11"/>
          </p:nvPr>
        </p:nvSpPr>
        <p:spPr>
          <a:ln/>
        </p:spPr>
        <p:txBody>
          <a:bodyPr/>
          <a:lstStyle>
            <a:lvl1pPr>
              <a:defRPr/>
            </a:lvl1pPr>
          </a:lstStyle>
          <a:p>
            <a:pPr>
              <a:defRPr/>
            </a:pPr>
            <a:endParaRPr lang="en-US"/>
          </a:p>
        </p:txBody>
      </p:sp>
      <p:sp>
        <p:nvSpPr>
          <p:cNvPr id="5" name="Rectangle 29"/>
          <p:cNvSpPr>
            <a:spLocks noGrp="1" noChangeArrowheads="1"/>
          </p:cNvSpPr>
          <p:nvPr>
            <p:ph type="sldNum" sz="quarter" idx="12"/>
          </p:nvPr>
        </p:nvSpPr>
        <p:spPr>
          <a:ln/>
        </p:spPr>
        <p:txBody>
          <a:bodyPr/>
          <a:lstStyle>
            <a:lvl1pPr>
              <a:defRPr/>
            </a:lvl1pPr>
          </a:lstStyle>
          <a:p>
            <a:pPr>
              <a:defRPr/>
            </a:pPr>
            <a:fld id="{0E3BE630-1277-4D2E-B89C-10C3ED41CA0A}" type="slidenum">
              <a:rPr lang="en-US"/>
              <a:pPr>
                <a:defRPr/>
              </a:pPr>
              <a:t>‹#›</a:t>
            </a:fld>
            <a:endParaRPr lang="en-US"/>
          </a:p>
        </p:txBody>
      </p:sp>
    </p:spTree>
    <p:extLst>
      <p:ext uri="{BB962C8B-B14F-4D97-AF65-F5344CB8AC3E}">
        <p14:creationId xmlns:p14="http://schemas.microsoft.com/office/powerpoint/2010/main" val="356614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27"/>
          <p:cNvSpPr>
            <a:spLocks noGrp="1" noChangeArrowheads="1"/>
          </p:cNvSpPr>
          <p:nvPr>
            <p:ph type="dt" sz="half" idx="10"/>
          </p:nvPr>
        </p:nvSpPr>
        <p:spPr>
          <a:ln/>
        </p:spPr>
        <p:txBody>
          <a:bodyPr/>
          <a:lstStyle>
            <a:lvl1pPr>
              <a:defRPr/>
            </a:lvl1pPr>
          </a:lstStyle>
          <a:p>
            <a:pPr>
              <a:defRPr/>
            </a:pPr>
            <a:endParaRPr lang="en-US"/>
          </a:p>
        </p:txBody>
      </p:sp>
      <p:sp>
        <p:nvSpPr>
          <p:cNvPr id="3" name="Rectangle 28"/>
          <p:cNvSpPr>
            <a:spLocks noGrp="1" noChangeArrowheads="1"/>
          </p:cNvSpPr>
          <p:nvPr>
            <p:ph type="ftr" sz="quarter" idx="11"/>
          </p:nvPr>
        </p:nvSpPr>
        <p:spPr>
          <a:ln/>
        </p:spPr>
        <p:txBody>
          <a:bodyPr/>
          <a:lstStyle>
            <a:lvl1pPr>
              <a:defRPr/>
            </a:lvl1pPr>
          </a:lstStyle>
          <a:p>
            <a:pPr>
              <a:defRPr/>
            </a:pPr>
            <a:endParaRPr lang="en-US"/>
          </a:p>
        </p:txBody>
      </p:sp>
      <p:sp>
        <p:nvSpPr>
          <p:cNvPr id="4" name="Rectangle 29"/>
          <p:cNvSpPr>
            <a:spLocks noGrp="1" noChangeArrowheads="1"/>
          </p:cNvSpPr>
          <p:nvPr>
            <p:ph type="sldNum" sz="quarter" idx="12"/>
          </p:nvPr>
        </p:nvSpPr>
        <p:spPr>
          <a:ln/>
        </p:spPr>
        <p:txBody>
          <a:bodyPr/>
          <a:lstStyle>
            <a:lvl1pPr>
              <a:defRPr/>
            </a:lvl1pPr>
          </a:lstStyle>
          <a:p>
            <a:pPr>
              <a:defRPr/>
            </a:pPr>
            <a:fld id="{989EB8E3-8BC4-4D72-A1AA-0860C55B0721}" type="slidenum">
              <a:rPr lang="en-US"/>
              <a:pPr>
                <a:defRPr/>
              </a:pPr>
              <a:t>‹#›</a:t>
            </a:fld>
            <a:endParaRPr lang="en-US"/>
          </a:p>
        </p:txBody>
      </p:sp>
    </p:spTree>
    <p:extLst>
      <p:ext uri="{BB962C8B-B14F-4D97-AF65-F5344CB8AC3E}">
        <p14:creationId xmlns:p14="http://schemas.microsoft.com/office/powerpoint/2010/main" val="23450055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27"/>
          <p:cNvSpPr>
            <a:spLocks noGrp="1" noChangeArrowheads="1"/>
          </p:cNvSpPr>
          <p:nvPr>
            <p:ph type="dt" sz="half" idx="10"/>
          </p:nvPr>
        </p:nvSpPr>
        <p:spPr>
          <a:ln/>
        </p:spPr>
        <p:txBody>
          <a:bodyPr/>
          <a:lstStyle>
            <a:lvl1pPr>
              <a:defRPr/>
            </a:lvl1pPr>
          </a:lstStyle>
          <a:p>
            <a:pPr>
              <a:defRPr/>
            </a:pPr>
            <a:endParaRPr lang="en-US"/>
          </a:p>
        </p:txBody>
      </p:sp>
      <p:sp>
        <p:nvSpPr>
          <p:cNvPr id="6" name="Rectangle 28"/>
          <p:cNvSpPr>
            <a:spLocks noGrp="1" noChangeArrowheads="1"/>
          </p:cNvSpPr>
          <p:nvPr>
            <p:ph type="ftr" sz="quarter" idx="11"/>
          </p:nvPr>
        </p:nvSpPr>
        <p:spPr>
          <a:ln/>
        </p:spPr>
        <p:txBody>
          <a:bodyPr/>
          <a:lstStyle>
            <a:lvl1pPr>
              <a:defRPr/>
            </a:lvl1pPr>
          </a:lstStyle>
          <a:p>
            <a:pPr>
              <a:defRPr/>
            </a:pPr>
            <a:endParaRPr lang="en-US"/>
          </a:p>
        </p:txBody>
      </p:sp>
      <p:sp>
        <p:nvSpPr>
          <p:cNvPr id="7" name="Rectangle 29"/>
          <p:cNvSpPr>
            <a:spLocks noGrp="1" noChangeArrowheads="1"/>
          </p:cNvSpPr>
          <p:nvPr>
            <p:ph type="sldNum" sz="quarter" idx="12"/>
          </p:nvPr>
        </p:nvSpPr>
        <p:spPr>
          <a:ln/>
        </p:spPr>
        <p:txBody>
          <a:bodyPr/>
          <a:lstStyle>
            <a:lvl1pPr>
              <a:defRPr/>
            </a:lvl1pPr>
          </a:lstStyle>
          <a:p>
            <a:pPr>
              <a:defRPr/>
            </a:pPr>
            <a:fld id="{CA74F7DB-1450-4CBA-8C39-1E1A90922167}" type="slidenum">
              <a:rPr lang="en-US"/>
              <a:pPr>
                <a:defRPr/>
              </a:pPr>
              <a:t>‹#›</a:t>
            </a:fld>
            <a:endParaRPr lang="en-US"/>
          </a:p>
        </p:txBody>
      </p:sp>
    </p:spTree>
    <p:extLst>
      <p:ext uri="{BB962C8B-B14F-4D97-AF65-F5344CB8AC3E}">
        <p14:creationId xmlns:p14="http://schemas.microsoft.com/office/powerpoint/2010/main" val="40981377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27"/>
          <p:cNvSpPr>
            <a:spLocks noGrp="1" noChangeArrowheads="1"/>
          </p:cNvSpPr>
          <p:nvPr>
            <p:ph type="dt" sz="half" idx="10"/>
          </p:nvPr>
        </p:nvSpPr>
        <p:spPr>
          <a:ln/>
        </p:spPr>
        <p:txBody>
          <a:bodyPr/>
          <a:lstStyle>
            <a:lvl1pPr>
              <a:defRPr/>
            </a:lvl1pPr>
          </a:lstStyle>
          <a:p>
            <a:pPr>
              <a:defRPr/>
            </a:pPr>
            <a:endParaRPr lang="en-US"/>
          </a:p>
        </p:txBody>
      </p:sp>
      <p:sp>
        <p:nvSpPr>
          <p:cNvPr id="6" name="Rectangle 28"/>
          <p:cNvSpPr>
            <a:spLocks noGrp="1" noChangeArrowheads="1"/>
          </p:cNvSpPr>
          <p:nvPr>
            <p:ph type="ftr" sz="quarter" idx="11"/>
          </p:nvPr>
        </p:nvSpPr>
        <p:spPr>
          <a:ln/>
        </p:spPr>
        <p:txBody>
          <a:bodyPr/>
          <a:lstStyle>
            <a:lvl1pPr>
              <a:defRPr/>
            </a:lvl1pPr>
          </a:lstStyle>
          <a:p>
            <a:pPr>
              <a:defRPr/>
            </a:pPr>
            <a:endParaRPr lang="en-US"/>
          </a:p>
        </p:txBody>
      </p:sp>
      <p:sp>
        <p:nvSpPr>
          <p:cNvPr id="7" name="Rectangle 29"/>
          <p:cNvSpPr>
            <a:spLocks noGrp="1" noChangeArrowheads="1"/>
          </p:cNvSpPr>
          <p:nvPr>
            <p:ph type="sldNum" sz="quarter" idx="12"/>
          </p:nvPr>
        </p:nvSpPr>
        <p:spPr>
          <a:ln/>
        </p:spPr>
        <p:txBody>
          <a:bodyPr/>
          <a:lstStyle>
            <a:lvl1pPr>
              <a:defRPr/>
            </a:lvl1pPr>
          </a:lstStyle>
          <a:p>
            <a:pPr>
              <a:defRPr/>
            </a:pPr>
            <a:fld id="{3D818030-9537-447F-8F66-C9A84BC016B9}" type="slidenum">
              <a:rPr lang="en-US"/>
              <a:pPr>
                <a:defRPr/>
              </a:pPr>
              <a:t>‹#›</a:t>
            </a:fld>
            <a:endParaRPr lang="en-US"/>
          </a:p>
        </p:txBody>
      </p:sp>
    </p:spTree>
    <p:extLst>
      <p:ext uri="{BB962C8B-B14F-4D97-AF65-F5344CB8AC3E}">
        <p14:creationId xmlns:p14="http://schemas.microsoft.com/office/powerpoint/2010/main" val="21275226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7"/>
          <p:cNvSpPr>
            <a:spLocks noGrp="1" noChangeArrowheads="1"/>
          </p:cNvSpPr>
          <p:nvPr>
            <p:ph type="dt" sz="half" idx="10"/>
          </p:nvPr>
        </p:nvSpPr>
        <p:spPr>
          <a:ln/>
        </p:spPr>
        <p:txBody>
          <a:bodyPr/>
          <a:lstStyle>
            <a:lvl1pPr>
              <a:defRPr/>
            </a:lvl1pPr>
          </a:lstStyle>
          <a:p>
            <a:pPr>
              <a:defRPr/>
            </a:pPr>
            <a:endParaRPr lang="en-US"/>
          </a:p>
        </p:txBody>
      </p:sp>
      <p:sp>
        <p:nvSpPr>
          <p:cNvPr id="5" name="Rectangle 28"/>
          <p:cNvSpPr>
            <a:spLocks noGrp="1" noChangeArrowheads="1"/>
          </p:cNvSpPr>
          <p:nvPr>
            <p:ph type="ftr" sz="quarter" idx="11"/>
          </p:nvPr>
        </p:nvSpPr>
        <p:spPr>
          <a:ln/>
        </p:spPr>
        <p:txBody>
          <a:bodyPr/>
          <a:lstStyle>
            <a:lvl1pPr>
              <a:defRPr/>
            </a:lvl1pPr>
          </a:lstStyle>
          <a:p>
            <a:pPr>
              <a:defRPr/>
            </a:pPr>
            <a:endParaRPr lang="en-US"/>
          </a:p>
        </p:txBody>
      </p:sp>
      <p:sp>
        <p:nvSpPr>
          <p:cNvPr id="6" name="Rectangle 29"/>
          <p:cNvSpPr>
            <a:spLocks noGrp="1" noChangeArrowheads="1"/>
          </p:cNvSpPr>
          <p:nvPr>
            <p:ph type="sldNum" sz="quarter" idx="12"/>
          </p:nvPr>
        </p:nvSpPr>
        <p:spPr>
          <a:ln/>
        </p:spPr>
        <p:txBody>
          <a:bodyPr/>
          <a:lstStyle>
            <a:lvl1pPr>
              <a:defRPr/>
            </a:lvl1pPr>
          </a:lstStyle>
          <a:p>
            <a:pPr>
              <a:defRPr/>
            </a:pPr>
            <a:fld id="{C7455E96-7F07-4323-AD8A-FB6AF12C0375}" type="slidenum">
              <a:rPr lang="en-US"/>
              <a:pPr>
                <a:defRPr/>
              </a:pPr>
              <a:t>‹#›</a:t>
            </a:fld>
            <a:endParaRPr lang="en-US"/>
          </a:p>
        </p:txBody>
      </p:sp>
    </p:spTree>
    <p:extLst>
      <p:ext uri="{BB962C8B-B14F-4D97-AF65-F5344CB8AC3E}">
        <p14:creationId xmlns:p14="http://schemas.microsoft.com/office/powerpoint/2010/main" val="36673201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02463" y="457200"/>
            <a:ext cx="1943100" cy="56388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173163" y="457200"/>
            <a:ext cx="56769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7"/>
          <p:cNvSpPr>
            <a:spLocks noGrp="1" noChangeArrowheads="1"/>
          </p:cNvSpPr>
          <p:nvPr>
            <p:ph type="dt" sz="half" idx="10"/>
          </p:nvPr>
        </p:nvSpPr>
        <p:spPr>
          <a:ln/>
        </p:spPr>
        <p:txBody>
          <a:bodyPr/>
          <a:lstStyle>
            <a:lvl1pPr>
              <a:defRPr/>
            </a:lvl1pPr>
          </a:lstStyle>
          <a:p>
            <a:pPr>
              <a:defRPr/>
            </a:pPr>
            <a:endParaRPr lang="en-US"/>
          </a:p>
        </p:txBody>
      </p:sp>
      <p:sp>
        <p:nvSpPr>
          <p:cNvPr id="5" name="Rectangle 28"/>
          <p:cNvSpPr>
            <a:spLocks noGrp="1" noChangeArrowheads="1"/>
          </p:cNvSpPr>
          <p:nvPr>
            <p:ph type="ftr" sz="quarter" idx="11"/>
          </p:nvPr>
        </p:nvSpPr>
        <p:spPr>
          <a:ln/>
        </p:spPr>
        <p:txBody>
          <a:bodyPr/>
          <a:lstStyle>
            <a:lvl1pPr>
              <a:defRPr/>
            </a:lvl1pPr>
          </a:lstStyle>
          <a:p>
            <a:pPr>
              <a:defRPr/>
            </a:pPr>
            <a:endParaRPr lang="en-US"/>
          </a:p>
        </p:txBody>
      </p:sp>
      <p:sp>
        <p:nvSpPr>
          <p:cNvPr id="6" name="Rectangle 29"/>
          <p:cNvSpPr>
            <a:spLocks noGrp="1" noChangeArrowheads="1"/>
          </p:cNvSpPr>
          <p:nvPr>
            <p:ph type="sldNum" sz="quarter" idx="12"/>
          </p:nvPr>
        </p:nvSpPr>
        <p:spPr>
          <a:ln/>
        </p:spPr>
        <p:txBody>
          <a:bodyPr/>
          <a:lstStyle>
            <a:lvl1pPr>
              <a:defRPr/>
            </a:lvl1pPr>
          </a:lstStyle>
          <a:p>
            <a:pPr>
              <a:defRPr/>
            </a:pPr>
            <a:fld id="{9B21A8B6-01C7-4E3F-BA9C-CA2ECDFAEA74}" type="slidenum">
              <a:rPr lang="en-US"/>
              <a:pPr>
                <a:defRPr/>
              </a:pPr>
              <a:t>‹#›</a:t>
            </a:fld>
            <a:endParaRPr lang="en-US"/>
          </a:p>
        </p:txBody>
      </p:sp>
    </p:spTree>
    <p:extLst>
      <p:ext uri="{BB962C8B-B14F-4D97-AF65-F5344CB8AC3E}">
        <p14:creationId xmlns:p14="http://schemas.microsoft.com/office/powerpoint/2010/main" val="478369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173163" y="457200"/>
            <a:ext cx="7772400" cy="1143000"/>
          </a:xfrm>
        </p:spPr>
        <p:txBody>
          <a:bodyPr/>
          <a:lstStyle/>
          <a:p>
            <a:r>
              <a:rPr lang="en-US"/>
              <a:t>Click to edit Master title style</a:t>
            </a:r>
          </a:p>
        </p:txBody>
      </p:sp>
      <p:sp>
        <p:nvSpPr>
          <p:cNvPr id="3" name="Text Placeholder 2"/>
          <p:cNvSpPr>
            <a:spLocks noGrp="1"/>
          </p:cNvSpPr>
          <p:nvPr>
            <p:ph type="body" sz="half" idx="1"/>
          </p:nvPr>
        </p:nvSpPr>
        <p:spPr>
          <a:xfrm>
            <a:off x="1173163"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135563"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27"/>
          <p:cNvSpPr>
            <a:spLocks noGrp="1" noChangeArrowheads="1"/>
          </p:cNvSpPr>
          <p:nvPr>
            <p:ph type="dt" sz="half" idx="10"/>
          </p:nvPr>
        </p:nvSpPr>
        <p:spPr>
          <a:ln/>
        </p:spPr>
        <p:txBody>
          <a:bodyPr/>
          <a:lstStyle>
            <a:lvl1pPr>
              <a:defRPr/>
            </a:lvl1pPr>
          </a:lstStyle>
          <a:p>
            <a:pPr>
              <a:defRPr/>
            </a:pPr>
            <a:endParaRPr lang="en-US"/>
          </a:p>
        </p:txBody>
      </p:sp>
      <p:sp>
        <p:nvSpPr>
          <p:cNvPr id="6" name="Rectangle 28"/>
          <p:cNvSpPr>
            <a:spLocks noGrp="1" noChangeArrowheads="1"/>
          </p:cNvSpPr>
          <p:nvPr>
            <p:ph type="ftr" sz="quarter" idx="11"/>
          </p:nvPr>
        </p:nvSpPr>
        <p:spPr>
          <a:ln/>
        </p:spPr>
        <p:txBody>
          <a:bodyPr/>
          <a:lstStyle>
            <a:lvl1pPr>
              <a:defRPr/>
            </a:lvl1pPr>
          </a:lstStyle>
          <a:p>
            <a:pPr>
              <a:defRPr/>
            </a:pPr>
            <a:endParaRPr lang="en-US"/>
          </a:p>
        </p:txBody>
      </p:sp>
      <p:sp>
        <p:nvSpPr>
          <p:cNvPr id="7" name="Rectangle 29"/>
          <p:cNvSpPr>
            <a:spLocks noGrp="1" noChangeArrowheads="1"/>
          </p:cNvSpPr>
          <p:nvPr>
            <p:ph type="sldNum" sz="quarter" idx="12"/>
          </p:nvPr>
        </p:nvSpPr>
        <p:spPr>
          <a:ln/>
        </p:spPr>
        <p:txBody>
          <a:bodyPr/>
          <a:lstStyle>
            <a:lvl1pPr>
              <a:defRPr/>
            </a:lvl1pPr>
          </a:lstStyle>
          <a:p>
            <a:pPr>
              <a:defRPr/>
            </a:pPr>
            <a:fld id="{D6C46936-761E-4CD3-9821-5E4E0EFE33DD}" type="slidenum">
              <a:rPr lang="en-US"/>
              <a:pPr>
                <a:defRPr/>
              </a:pPr>
              <a:t>‹#›</a:t>
            </a:fld>
            <a:endParaRPr lang="en-US"/>
          </a:p>
        </p:txBody>
      </p:sp>
    </p:spTree>
    <p:extLst>
      <p:ext uri="{BB962C8B-B14F-4D97-AF65-F5344CB8AC3E}">
        <p14:creationId xmlns:p14="http://schemas.microsoft.com/office/powerpoint/2010/main" val="16794584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fourObj" preserve="1">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1173163" y="457200"/>
            <a:ext cx="7772400" cy="1143000"/>
          </a:xfrm>
        </p:spPr>
        <p:txBody>
          <a:bodyPr/>
          <a:lstStyle/>
          <a:p>
            <a:r>
              <a:rPr lang="en-US"/>
              <a:t>Click to edit Master title style</a:t>
            </a:r>
          </a:p>
        </p:txBody>
      </p:sp>
      <p:sp>
        <p:nvSpPr>
          <p:cNvPr id="3" name="Content Placeholder 2"/>
          <p:cNvSpPr>
            <a:spLocks noGrp="1"/>
          </p:cNvSpPr>
          <p:nvPr>
            <p:ph sz="quarter" idx="1"/>
          </p:nvPr>
        </p:nvSpPr>
        <p:spPr>
          <a:xfrm>
            <a:off x="1173163" y="19812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5135563" y="19812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1173163" y="41148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5135563" y="41148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27"/>
          <p:cNvSpPr>
            <a:spLocks noGrp="1" noChangeArrowheads="1"/>
          </p:cNvSpPr>
          <p:nvPr>
            <p:ph type="dt" sz="half" idx="10"/>
          </p:nvPr>
        </p:nvSpPr>
        <p:spPr>
          <a:ln/>
        </p:spPr>
        <p:txBody>
          <a:bodyPr/>
          <a:lstStyle>
            <a:lvl1pPr>
              <a:defRPr/>
            </a:lvl1pPr>
          </a:lstStyle>
          <a:p>
            <a:pPr>
              <a:defRPr/>
            </a:pPr>
            <a:endParaRPr lang="en-US"/>
          </a:p>
        </p:txBody>
      </p:sp>
      <p:sp>
        <p:nvSpPr>
          <p:cNvPr id="8" name="Rectangle 28"/>
          <p:cNvSpPr>
            <a:spLocks noGrp="1" noChangeArrowheads="1"/>
          </p:cNvSpPr>
          <p:nvPr>
            <p:ph type="ftr" sz="quarter" idx="11"/>
          </p:nvPr>
        </p:nvSpPr>
        <p:spPr>
          <a:ln/>
        </p:spPr>
        <p:txBody>
          <a:bodyPr/>
          <a:lstStyle>
            <a:lvl1pPr>
              <a:defRPr/>
            </a:lvl1pPr>
          </a:lstStyle>
          <a:p>
            <a:pPr>
              <a:defRPr/>
            </a:pPr>
            <a:endParaRPr lang="en-US"/>
          </a:p>
        </p:txBody>
      </p:sp>
      <p:sp>
        <p:nvSpPr>
          <p:cNvPr id="9" name="Rectangle 29"/>
          <p:cNvSpPr>
            <a:spLocks noGrp="1" noChangeArrowheads="1"/>
          </p:cNvSpPr>
          <p:nvPr>
            <p:ph type="sldNum" sz="quarter" idx="12"/>
          </p:nvPr>
        </p:nvSpPr>
        <p:spPr>
          <a:ln/>
        </p:spPr>
        <p:txBody>
          <a:bodyPr/>
          <a:lstStyle>
            <a:lvl1pPr>
              <a:defRPr/>
            </a:lvl1pPr>
          </a:lstStyle>
          <a:p>
            <a:pPr>
              <a:defRPr/>
            </a:pPr>
            <a:fld id="{B383EA38-ADEA-4E50-A82C-56C648E5C8E1}" type="slidenum">
              <a:rPr lang="en-US"/>
              <a:pPr>
                <a:defRPr/>
              </a:pPr>
              <a:t>‹#›</a:t>
            </a:fld>
            <a:endParaRPr lang="en-US"/>
          </a:p>
        </p:txBody>
      </p:sp>
    </p:spTree>
    <p:extLst>
      <p:ext uri="{BB962C8B-B14F-4D97-AF65-F5344CB8AC3E}">
        <p14:creationId xmlns:p14="http://schemas.microsoft.com/office/powerpoint/2010/main" val="26278146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Oval 36"/>
          <p:cNvSpPr>
            <a:spLocks noChangeArrowheads="1"/>
          </p:cNvSpPr>
          <p:nvPr/>
        </p:nvSpPr>
        <p:spPr bwMode="auto">
          <a:xfrm>
            <a:off x="228600" y="228600"/>
            <a:ext cx="609600" cy="609600"/>
          </a:xfrm>
          <a:prstGeom prst="ellipse">
            <a:avLst/>
          </a:prstGeom>
          <a:solidFill>
            <a:srgbClr val="FF5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US" sz="2400">
              <a:solidFill>
                <a:srgbClr val="000000"/>
              </a:solidFill>
              <a:latin typeface="Times New Roman" panose="02020603050405020304" pitchFamily="18" charset="0"/>
            </a:endParaRPr>
          </a:p>
        </p:txBody>
      </p:sp>
      <p:sp>
        <p:nvSpPr>
          <p:cNvPr id="2051" name="Rectangle 25"/>
          <p:cNvSpPr>
            <a:spLocks noGrp="1" noChangeArrowheads="1"/>
          </p:cNvSpPr>
          <p:nvPr>
            <p:ph type="title"/>
          </p:nvPr>
        </p:nvSpPr>
        <p:spPr bwMode="auto">
          <a:xfrm>
            <a:off x="1173163" y="457200"/>
            <a:ext cx="7772400" cy="1143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Process</a:t>
            </a:r>
          </a:p>
        </p:txBody>
      </p:sp>
      <p:sp>
        <p:nvSpPr>
          <p:cNvPr id="2052" name="Rectangle 26"/>
          <p:cNvSpPr>
            <a:spLocks noGrp="1" noChangeArrowheads="1"/>
          </p:cNvSpPr>
          <p:nvPr>
            <p:ph type="body" idx="1"/>
          </p:nvPr>
        </p:nvSpPr>
        <p:spPr bwMode="auto">
          <a:xfrm>
            <a:off x="1173163" y="1981200"/>
            <a:ext cx="7772400" cy="4114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Klicka här för att ändra format på bakgrundstexten</a:t>
            </a:r>
          </a:p>
          <a:p>
            <a:pPr lvl="1"/>
            <a:r>
              <a:rPr lang="en-US"/>
              <a:t>Nivå två</a:t>
            </a:r>
          </a:p>
          <a:p>
            <a:pPr lvl="2"/>
            <a:r>
              <a:rPr lang="en-US"/>
              <a:t>Nivå tre</a:t>
            </a:r>
          </a:p>
          <a:p>
            <a:pPr lvl="3"/>
            <a:r>
              <a:rPr lang="en-US"/>
              <a:t>Nivå fyra</a:t>
            </a:r>
          </a:p>
          <a:p>
            <a:pPr lvl="4"/>
            <a:r>
              <a:rPr lang="en-US"/>
              <a:t>Nivå fem</a:t>
            </a:r>
          </a:p>
        </p:txBody>
      </p:sp>
      <p:sp>
        <p:nvSpPr>
          <p:cNvPr id="2075" name="Rectangle 27"/>
          <p:cNvSpPr>
            <a:spLocks noGrp="1" noChangeArrowheads="1"/>
          </p:cNvSpPr>
          <p:nvPr>
            <p:ph type="dt" sz="half" idx="2"/>
          </p:nvPr>
        </p:nvSpPr>
        <p:spPr bwMode="auto">
          <a:xfrm>
            <a:off x="1173163" y="6265863"/>
            <a:ext cx="19050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50000"/>
              </a:spcBef>
              <a:defRPr sz="1400">
                <a:solidFill>
                  <a:srgbClr val="000000"/>
                </a:solidFill>
                <a:latin typeface="+mn-lt"/>
              </a:defRPr>
            </a:lvl1pPr>
          </a:lstStyle>
          <a:p>
            <a:pPr>
              <a:defRPr/>
            </a:pPr>
            <a:endParaRPr lang="en-US"/>
          </a:p>
        </p:txBody>
      </p:sp>
      <p:sp>
        <p:nvSpPr>
          <p:cNvPr id="2076" name="Rectangle 28"/>
          <p:cNvSpPr>
            <a:spLocks noGrp="1" noChangeArrowheads="1"/>
          </p:cNvSpPr>
          <p:nvPr>
            <p:ph type="ftr" sz="quarter" idx="3"/>
          </p:nvPr>
        </p:nvSpPr>
        <p:spPr bwMode="auto">
          <a:xfrm>
            <a:off x="3581400" y="6248400"/>
            <a:ext cx="28956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ctr">
              <a:spcBef>
                <a:spcPct val="50000"/>
              </a:spcBef>
              <a:defRPr sz="1400">
                <a:solidFill>
                  <a:srgbClr val="000000"/>
                </a:solidFill>
                <a:latin typeface="+mn-lt"/>
              </a:defRPr>
            </a:lvl1pPr>
          </a:lstStyle>
          <a:p>
            <a:pPr>
              <a:defRPr/>
            </a:pPr>
            <a:endParaRPr lang="en-US"/>
          </a:p>
        </p:txBody>
      </p:sp>
      <p:sp>
        <p:nvSpPr>
          <p:cNvPr id="2077" name="Rectangle 29"/>
          <p:cNvSpPr>
            <a:spLocks noGrp="1" noChangeArrowheads="1"/>
          </p:cNvSpPr>
          <p:nvPr>
            <p:ph type="sldNum" sz="quarter" idx="4"/>
          </p:nvPr>
        </p:nvSpPr>
        <p:spPr bwMode="auto">
          <a:xfrm>
            <a:off x="7010400" y="6248400"/>
            <a:ext cx="19050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r">
              <a:spcBef>
                <a:spcPct val="50000"/>
              </a:spcBef>
              <a:defRPr sz="1400">
                <a:solidFill>
                  <a:srgbClr val="000000"/>
                </a:solidFill>
                <a:latin typeface="+mn-lt"/>
              </a:defRPr>
            </a:lvl1pPr>
          </a:lstStyle>
          <a:p>
            <a:pPr>
              <a:defRPr/>
            </a:pPr>
            <a:fld id="{F09C266B-C234-4306-899E-1A60CEFAF4E8}" type="slidenum">
              <a:rPr lang="en-US"/>
              <a:pPr>
                <a:defRPr/>
              </a:pPr>
              <a:t>‹#›</a:t>
            </a:fld>
            <a:endParaRPr lang="en-US"/>
          </a:p>
        </p:txBody>
      </p:sp>
      <p:sp>
        <p:nvSpPr>
          <p:cNvPr id="2056" name="Rectangle 33"/>
          <p:cNvSpPr>
            <a:spLocks noChangeArrowheads="1"/>
          </p:cNvSpPr>
          <p:nvPr/>
        </p:nvSpPr>
        <p:spPr bwMode="auto">
          <a:xfrm>
            <a:off x="457200" y="609600"/>
            <a:ext cx="533400" cy="457200"/>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US" sz="2400">
              <a:solidFill>
                <a:srgbClr val="000000"/>
              </a:solidFill>
              <a:latin typeface="Times New Roman" panose="02020603050405020304" pitchFamily="18" charset="0"/>
            </a:endParaRPr>
          </a:p>
        </p:txBody>
      </p:sp>
      <p:sp>
        <p:nvSpPr>
          <p:cNvPr id="2057" name="AutoShape 34"/>
          <p:cNvSpPr>
            <a:spLocks noChangeArrowheads="1"/>
          </p:cNvSpPr>
          <p:nvPr/>
        </p:nvSpPr>
        <p:spPr bwMode="auto">
          <a:xfrm rot="2559464">
            <a:off x="152400" y="457200"/>
            <a:ext cx="609600" cy="609600"/>
          </a:xfrm>
          <a:prstGeom prst="triangle">
            <a:avLst>
              <a:gd name="adj" fmla="val 50000"/>
            </a:avLst>
          </a:prstGeom>
          <a:solidFill>
            <a:srgbClr val="FFCC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US" sz="2400">
              <a:solidFill>
                <a:srgbClr val="000000"/>
              </a:solidFill>
              <a:latin typeface="Times New Roman" panose="02020603050405020304" pitchFamily="18" charset="0"/>
            </a:endParaRPr>
          </a:p>
        </p:txBody>
      </p:sp>
    </p:spTree>
    <p:extLst>
      <p:ext uri="{BB962C8B-B14F-4D97-AF65-F5344CB8AC3E}">
        <p14:creationId xmlns:p14="http://schemas.microsoft.com/office/powerpoint/2010/main" val="67661269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l" rtl="0" eaLnBrk="1" fontAlgn="base" hangingPunct="1">
        <a:spcBef>
          <a:spcPct val="0"/>
        </a:spcBef>
        <a:spcAft>
          <a:spcPct val="0"/>
        </a:spcAft>
        <a:defRPr kumimoji="1" sz="4400" kern="1200">
          <a:solidFill>
            <a:schemeClr val="tx2"/>
          </a:solidFill>
          <a:latin typeface="+mj-lt"/>
          <a:ea typeface="+mj-ea"/>
          <a:cs typeface="+mj-cs"/>
        </a:defRPr>
      </a:lvl1pPr>
      <a:lvl2pPr algn="l" rtl="0" eaLnBrk="1" fontAlgn="base" hangingPunct="1">
        <a:spcBef>
          <a:spcPct val="0"/>
        </a:spcBef>
        <a:spcAft>
          <a:spcPct val="0"/>
        </a:spcAft>
        <a:defRPr kumimoji="1" sz="4400">
          <a:solidFill>
            <a:schemeClr val="tx2"/>
          </a:solidFill>
          <a:latin typeface="Times New Roman" panose="02020603050405020304" pitchFamily="18" charset="0"/>
        </a:defRPr>
      </a:lvl2pPr>
      <a:lvl3pPr algn="l" rtl="0" eaLnBrk="1" fontAlgn="base" hangingPunct="1">
        <a:spcBef>
          <a:spcPct val="0"/>
        </a:spcBef>
        <a:spcAft>
          <a:spcPct val="0"/>
        </a:spcAft>
        <a:defRPr kumimoji="1" sz="4400">
          <a:solidFill>
            <a:schemeClr val="tx2"/>
          </a:solidFill>
          <a:latin typeface="Times New Roman" panose="02020603050405020304" pitchFamily="18" charset="0"/>
        </a:defRPr>
      </a:lvl3pPr>
      <a:lvl4pPr algn="l" rtl="0" eaLnBrk="1" fontAlgn="base" hangingPunct="1">
        <a:spcBef>
          <a:spcPct val="0"/>
        </a:spcBef>
        <a:spcAft>
          <a:spcPct val="0"/>
        </a:spcAft>
        <a:defRPr kumimoji="1" sz="4400">
          <a:solidFill>
            <a:schemeClr val="tx2"/>
          </a:solidFill>
          <a:latin typeface="Times New Roman" panose="02020603050405020304" pitchFamily="18" charset="0"/>
        </a:defRPr>
      </a:lvl4pPr>
      <a:lvl5pPr algn="l" rtl="0" eaLnBrk="1" fontAlgn="base" hangingPunct="1">
        <a:spcBef>
          <a:spcPct val="0"/>
        </a:spcBef>
        <a:spcAft>
          <a:spcPct val="0"/>
        </a:spcAft>
        <a:defRPr kumimoji="1" sz="4400">
          <a:solidFill>
            <a:schemeClr val="tx2"/>
          </a:solidFill>
          <a:latin typeface="Times New Roman" panose="02020603050405020304" pitchFamily="18" charset="0"/>
        </a:defRPr>
      </a:lvl5pPr>
      <a:lvl6pPr marL="457200" algn="l" rtl="0" eaLnBrk="1" fontAlgn="base" hangingPunct="1">
        <a:spcBef>
          <a:spcPct val="0"/>
        </a:spcBef>
        <a:spcAft>
          <a:spcPct val="0"/>
        </a:spcAft>
        <a:defRPr kumimoji="1" sz="4400">
          <a:solidFill>
            <a:schemeClr val="tx2"/>
          </a:solidFill>
          <a:latin typeface="Times New Roman" panose="02020603050405020304" pitchFamily="18" charset="0"/>
        </a:defRPr>
      </a:lvl6pPr>
      <a:lvl7pPr marL="914400" algn="l" rtl="0" eaLnBrk="1" fontAlgn="base" hangingPunct="1">
        <a:spcBef>
          <a:spcPct val="0"/>
        </a:spcBef>
        <a:spcAft>
          <a:spcPct val="0"/>
        </a:spcAft>
        <a:defRPr kumimoji="1" sz="4400">
          <a:solidFill>
            <a:schemeClr val="tx2"/>
          </a:solidFill>
          <a:latin typeface="Times New Roman" panose="02020603050405020304" pitchFamily="18" charset="0"/>
        </a:defRPr>
      </a:lvl7pPr>
      <a:lvl8pPr marL="1371600" algn="l" rtl="0" eaLnBrk="1" fontAlgn="base" hangingPunct="1">
        <a:spcBef>
          <a:spcPct val="0"/>
        </a:spcBef>
        <a:spcAft>
          <a:spcPct val="0"/>
        </a:spcAft>
        <a:defRPr kumimoji="1" sz="4400">
          <a:solidFill>
            <a:schemeClr val="tx2"/>
          </a:solidFill>
          <a:latin typeface="Times New Roman" panose="02020603050405020304" pitchFamily="18" charset="0"/>
        </a:defRPr>
      </a:lvl8pPr>
      <a:lvl9pPr marL="1828800" algn="l" rtl="0" eaLnBrk="1" fontAlgn="base" hangingPunct="1">
        <a:spcBef>
          <a:spcPct val="0"/>
        </a:spcBef>
        <a:spcAft>
          <a:spcPct val="0"/>
        </a:spcAft>
        <a:defRPr kumimoji="1" sz="4400">
          <a:solidFill>
            <a:schemeClr val="tx2"/>
          </a:solidFill>
          <a:latin typeface="Times New Roman" panose="02020603050405020304" pitchFamily="18" charset="0"/>
        </a:defRPr>
      </a:lvl9pPr>
    </p:titleStyle>
    <p:bodyStyle>
      <a:lvl1pPr marL="342900" indent="-342900" algn="l" rtl="0" eaLnBrk="1" fontAlgn="base" hangingPunct="1">
        <a:spcBef>
          <a:spcPct val="20000"/>
        </a:spcBef>
        <a:spcAft>
          <a:spcPct val="0"/>
        </a:spcAft>
        <a:buClr>
          <a:schemeClr val="accent1"/>
        </a:buClr>
        <a:buSzPct val="70000"/>
        <a:buFont typeface="Monotype Sorts"/>
        <a:buChar char="n"/>
        <a:defRPr kumimoji="1" sz="3200" kern="1200">
          <a:solidFill>
            <a:schemeClr val="tx1"/>
          </a:solidFill>
          <a:latin typeface="+mn-lt"/>
          <a:ea typeface="+mn-ea"/>
          <a:cs typeface="+mn-cs"/>
        </a:defRPr>
      </a:lvl1pPr>
      <a:lvl2pPr marL="742950" indent="-285750" algn="l" rtl="0" eaLnBrk="1" fontAlgn="base" hangingPunct="1">
        <a:spcBef>
          <a:spcPct val="20000"/>
        </a:spcBef>
        <a:spcAft>
          <a:spcPct val="0"/>
        </a:spcAft>
        <a:buClr>
          <a:srgbClr val="FF5050"/>
        </a:buClr>
        <a:buSzPct val="75000"/>
        <a:buFont typeface="Monotype Sorts"/>
        <a:buChar char="l"/>
        <a:defRPr kumimoji="1" sz="2800" kern="1200">
          <a:solidFill>
            <a:schemeClr val="tx1"/>
          </a:solidFill>
          <a:latin typeface="+mn-lt"/>
          <a:ea typeface="+mn-ea"/>
          <a:cs typeface="+mn-cs"/>
        </a:defRPr>
      </a:lvl2pPr>
      <a:lvl3pPr marL="1143000" indent="-228600" algn="l" rtl="0" eaLnBrk="1" fontAlgn="base" hangingPunct="1">
        <a:spcBef>
          <a:spcPct val="20000"/>
        </a:spcBef>
        <a:spcAft>
          <a:spcPct val="0"/>
        </a:spcAft>
        <a:buClr>
          <a:srgbClr val="FFCC00"/>
        </a:buClr>
        <a:buSzPct val="65000"/>
        <a:buFont typeface="Monotype Sorts"/>
        <a:buChar char="s"/>
        <a:defRPr kumimoji="1"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kumimoji="1"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104900" y="1143000"/>
            <a:ext cx="7886700" cy="2852737"/>
          </a:xfrm>
        </p:spPr>
        <p:txBody>
          <a:bodyPr/>
          <a:lstStyle/>
          <a:p>
            <a:r>
              <a:rPr lang="en-US" dirty="0"/>
              <a:t>Software Processes</a:t>
            </a:r>
          </a:p>
        </p:txBody>
      </p:sp>
    </p:spTree>
    <p:extLst>
      <p:ext uri="{BB962C8B-B14F-4D97-AF65-F5344CB8AC3E}">
        <p14:creationId xmlns:p14="http://schemas.microsoft.com/office/powerpoint/2010/main" val="12676876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0"/>
            <a:ext cx="7772400" cy="1143000"/>
          </a:xfrm>
        </p:spPr>
        <p:txBody>
          <a:bodyPr/>
          <a:lstStyle/>
          <a:p>
            <a:r>
              <a:rPr lang="en-GB" dirty="0"/>
              <a:t>The software process</a:t>
            </a:r>
            <a:endParaRPr lang="en-US" dirty="0"/>
          </a:p>
        </p:txBody>
      </p:sp>
      <p:sp>
        <p:nvSpPr>
          <p:cNvPr id="3" name="Content Placeholder 2"/>
          <p:cNvSpPr>
            <a:spLocks noGrp="1"/>
          </p:cNvSpPr>
          <p:nvPr>
            <p:ph idx="1"/>
          </p:nvPr>
        </p:nvSpPr>
        <p:spPr>
          <a:xfrm>
            <a:off x="457200" y="1066800"/>
            <a:ext cx="8488363" cy="4495800"/>
          </a:xfrm>
        </p:spPr>
        <p:txBody>
          <a:bodyPr/>
          <a:lstStyle/>
          <a:p>
            <a:pPr algn="just">
              <a:buFont typeface="Wingdings" panose="05000000000000000000" pitchFamily="2" charset="2"/>
              <a:buChar char="q"/>
            </a:pPr>
            <a:r>
              <a:rPr lang="en-GB" sz="2400" dirty="0"/>
              <a:t>A structured set of activities required to develop a </a:t>
            </a:r>
            <a:br>
              <a:rPr lang="en-GB" sz="2400" dirty="0"/>
            </a:br>
            <a:r>
              <a:rPr lang="en-GB" sz="2400" dirty="0"/>
              <a:t>software system. </a:t>
            </a:r>
          </a:p>
          <a:p>
            <a:pPr algn="just">
              <a:buFont typeface="Wingdings" panose="05000000000000000000" pitchFamily="2" charset="2"/>
              <a:buChar char="q"/>
            </a:pPr>
            <a:r>
              <a:rPr lang="en-GB" sz="2400" dirty="0"/>
              <a:t>Many different software processes but all involve:</a:t>
            </a:r>
          </a:p>
          <a:p>
            <a:pPr lvl="1" algn="just">
              <a:buFont typeface="Wingdings" panose="05000000000000000000" pitchFamily="2" charset="2"/>
              <a:buChar char="q"/>
            </a:pPr>
            <a:r>
              <a:rPr lang="en-GB" sz="2400" b="1" dirty="0"/>
              <a:t>Specification</a:t>
            </a:r>
            <a:r>
              <a:rPr lang="en-GB" sz="2400" dirty="0"/>
              <a:t> –</a:t>
            </a:r>
            <a:r>
              <a:rPr lang="en-US" sz="2400" dirty="0"/>
              <a:t>The functionality of the software and constraints on its operation must be defined.</a:t>
            </a:r>
            <a:endParaRPr lang="en-GB" sz="2400" dirty="0"/>
          </a:p>
          <a:p>
            <a:pPr lvl="1" algn="just">
              <a:buFont typeface="Wingdings" panose="05000000000000000000" pitchFamily="2" charset="2"/>
              <a:buChar char="q"/>
            </a:pPr>
            <a:r>
              <a:rPr lang="en-GB" sz="2400" b="1" dirty="0"/>
              <a:t>Design and implementation</a:t>
            </a:r>
            <a:r>
              <a:rPr lang="en-GB" sz="2400" dirty="0"/>
              <a:t> – </a:t>
            </a:r>
            <a:r>
              <a:rPr lang="en-US" sz="2400" dirty="0"/>
              <a:t>The software to meet the specification must be produced</a:t>
            </a:r>
            <a:endParaRPr lang="en-GB" sz="2400" dirty="0"/>
          </a:p>
          <a:p>
            <a:pPr lvl="1" algn="just">
              <a:buFont typeface="Wingdings" panose="05000000000000000000" pitchFamily="2" charset="2"/>
              <a:buChar char="q"/>
            </a:pPr>
            <a:r>
              <a:rPr lang="en-GB" sz="2400" b="1" dirty="0"/>
              <a:t>Validation</a:t>
            </a:r>
            <a:r>
              <a:rPr lang="en-GB" sz="2400" dirty="0"/>
              <a:t> – checking that it does what the customer wants;</a:t>
            </a:r>
          </a:p>
          <a:p>
            <a:pPr lvl="1" algn="just">
              <a:buFont typeface="Wingdings" panose="05000000000000000000" pitchFamily="2" charset="2"/>
              <a:buChar char="q"/>
            </a:pPr>
            <a:r>
              <a:rPr lang="en-GB" sz="2400" b="1" dirty="0"/>
              <a:t>Evolution</a:t>
            </a:r>
            <a:r>
              <a:rPr lang="en-GB" sz="2400" dirty="0"/>
              <a:t> – changing the system in response to changing customer needs.</a:t>
            </a:r>
          </a:p>
          <a:p>
            <a:pPr algn="just">
              <a:buFont typeface="Wingdings" panose="05000000000000000000" pitchFamily="2" charset="2"/>
              <a:buChar char="q"/>
            </a:pPr>
            <a:r>
              <a:rPr lang="en-GB" sz="2400" dirty="0"/>
              <a:t>A software process model is an abstract representation of a process. It presents a description of a process from some particular perspective.</a:t>
            </a:r>
            <a:endParaRPr lang="en-US" sz="2400" dirty="0"/>
          </a:p>
        </p:txBody>
      </p:sp>
    </p:spTree>
    <p:extLst>
      <p:ext uri="{BB962C8B-B14F-4D97-AF65-F5344CB8AC3E}">
        <p14:creationId xmlns:p14="http://schemas.microsoft.com/office/powerpoint/2010/main" val="39782881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 calcmode="lin" valueType="num">
                                      <p:cBhvr additive="base">
                                        <p:cTn id="3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76200"/>
            <a:ext cx="7772400" cy="609600"/>
          </a:xfrm>
        </p:spPr>
        <p:txBody>
          <a:bodyPr/>
          <a:lstStyle/>
          <a:p>
            <a:r>
              <a:rPr lang="en-US" dirty="0"/>
              <a:t>Software process descriptions</a:t>
            </a:r>
          </a:p>
        </p:txBody>
      </p:sp>
      <p:sp>
        <p:nvSpPr>
          <p:cNvPr id="3" name="Content Placeholder 2"/>
          <p:cNvSpPr>
            <a:spLocks noGrp="1"/>
          </p:cNvSpPr>
          <p:nvPr>
            <p:ph idx="1"/>
          </p:nvPr>
        </p:nvSpPr>
        <p:spPr>
          <a:xfrm>
            <a:off x="762000" y="838200"/>
            <a:ext cx="7772400" cy="5562600"/>
          </a:xfrm>
        </p:spPr>
        <p:txBody>
          <a:bodyPr/>
          <a:lstStyle/>
          <a:p>
            <a:pPr algn="just">
              <a:buFont typeface="Wingdings" panose="05000000000000000000" pitchFamily="2" charset="2"/>
              <a:buChar char="q"/>
            </a:pPr>
            <a:r>
              <a:rPr lang="en-GB" sz="2000" dirty="0"/>
              <a:t>When we describe and discuss processes, we usually talk about the activities in these processes such as specifying a data model, designing a user interface, etc. and the ordering of these activities.</a:t>
            </a:r>
          </a:p>
          <a:p>
            <a:pPr algn="just">
              <a:buFont typeface="Wingdings" panose="05000000000000000000" pitchFamily="2" charset="2"/>
              <a:buChar char="q"/>
            </a:pPr>
            <a:r>
              <a:rPr lang="en-GB" sz="2000" dirty="0"/>
              <a:t>Process descriptions may also include:</a:t>
            </a:r>
          </a:p>
          <a:p>
            <a:pPr lvl="1" algn="just">
              <a:buFont typeface="Wingdings" panose="05000000000000000000" pitchFamily="2" charset="2"/>
              <a:buChar char="q"/>
            </a:pPr>
            <a:r>
              <a:rPr lang="en-GB" sz="2000" b="1" dirty="0"/>
              <a:t>Products</a:t>
            </a:r>
            <a:r>
              <a:rPr lang="en-GB" sz="2000" dirty="0"/>
              <a:t>, which are the outcomes of a process activity; e.g. model of software architecture</a:t>
            </a:r>
          </a:p>
          <a:p>
            <a:pPr lvl="1" algn="just">
              <a:buFont typeface="Wingdings" panose="05000000000000000000" pitchFamily="2" charset="2"/>
              <a:buChar char="q"/>
            </a:pPr>
            <a:r>
              <a:rPr lang="en-GB" sz="2000" b="1" dirty="0"/>
              <a:t>Roles</a:t>
            </a:r>
            <a:r>
              <a:rPr lang="en-GB" sz="2000" dirty="0"/>
              <a:t>, which reflect the responsibilities of the people involved in the process;</a:t>
            </a:r>
          </a:p>
          <a:p>
            <a:pPr lvl="1" algn="just">
              <a:buFont typeface="Wingdings" panose="05000000000000000000" pitchFamily="2" charset="2"/>
              <a:buChar char="q"/>
            </a:pPr>
            <a:r>
              <a:rPr lang="en-GB" sz="2000" b="1" dirty="0"/>
              <a:t>Pre- and post-conditions</a:t>
            </a:r>
            <a:r>
              <a:rPr lang="en-GB" sz="2000" dirty="0"/>
              <a:t>, which are statements that are true before and after a process activity has been enacted or a product produced.</a:t>
            </a:r>
          </a:p>
          <a:p>
            <a:pPr lvl="2" algn="just">
              <a:buFont typeface="Wingdings" panose="05000000000000000000" pitchFamily="2" charset="2"/>
              <a:buChar char="q"/>
            </a:pPr>
            <a:r>
              <a:rPr lang="en-GB" sz="1800" b="1" dirty="0"/>
              <a:t>Pre-condition- </a:t>
            </a:r>
            <a:r>
              <a:rPr lang="en-US" sz="1800" dirty="0"/>
              <a:t>before architectural design begins, a pre-condition may be that all requirements have been approved by the customer.</a:t>
            </a:r>
            <a:endParaRPr lang="en-GB" sz="1800" dirty="0"/>
          </a:p>
          <a:p>
            <a:pPr lvl="2" algn="just">
              <a:buFont typeface="Wingdings" panose="05000000000000000000" pitchFamily="2" charset="2"/>
              <a:buChar char="q"/>
            </a:pPr>
            <a:r>
              <a:rPr lang="en-GB" sz="1800" b="1" dirty="0"/>
              <a:t>Post condition</a:t>
            </a:r>
            <a:r>
              <a:rPr lang="en-GB" sz="1800" dirty="0"/>
              <a:t>- </a:t>
            </a:r>
            <a:r>
              <a:rPr lang="en-US" sz="1800" dirty="0"/>
              <a:t>after this activity is finished, a post-condition might be that the UML models describing the architecture have been reviewed.</a:t>
            </a:r>
          </a:p>
        </p:txBody>
      </p:sp>
    </p:spTree>
    <p:extLst>
      <p:ext uri="{BB962C8B-B14F-4D97-AF65-F5344CB8AC3E}">
        <p14:creationId xmlns:p14="http://schemas.microsoft.com/office/powerpoint/2010/main" val="18654293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 calcmode="lin" valueType="num">
                                      <p:cBhvr additive="base">
                                        <p:cTn id="3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76200"/>
            <a:ext cx="7772400" cy="1143000"/>
          </a:xfrm>
        </p:spPr>
        <p:txBody>
          <a:bodyPr/>
          <a:lstStyle/>
          <a:p>
            <a:r>
              <a:rPr lang="en-US" sz="3600" dirty="0"/>
              <a:t>Plan-driven and agile processes</a:t>
            </a:r>
          </a:p>
        </p:txBody>
      </p:sp>
      <p:sp>
        <p:nvSpPr>
          <p:cNvPr id="3" name="Content Placeholder 2"/>
          <p:cNvSpPr>
            <a:spLocks noGrp="1"/>
          </p:cNvSpPr>
          <p:nvPr>
            <p:ph idx="1"/>
          </p:nvPr>
        </p:nvSpPr>
        <p:spPr>
          <a:xfrm>
            <a:off x="762000" y="990600"/>
            <a:ext cx="8077200" cy="4114800"/>
          </a:xfrm>
        </p:spPr>
        <p:txBody>
          <a:bodyPr/>
          <a:lstStyle/>
          <a:p>
            <a:pPr algn="just">
              <a:buFont typeface="Wingdings" panose="05000000000000000000" pitchFamily="2" charset="2"/>
              <a:buChar char="q"/>
            </a:pPr>
            <a:r>
              <a:rPr lang="en-GB" sz="2800" b="1" dirty="0"/>
              <a:t>Plan-driven processes</a:t>
            </a:r>
            <a:r>
              <a:rPr lang="en-GB" sz="2800" dirty="0"/>
              <a:t> are processes where all of the process activities are planned in advance and progress is measured against this plan. </a:t>
            </a:r>
          </a:p>
          <a:p>
            <a:pPr algn="just">
              <a:buFont typeface="Wingdings" panose="05000000000000000000" pitchFamily="2" charset="2"/>
              <a:buChar char="q"/>
            </a:pPr>
            <a:r>
              <a:rPr lang="en-GB" sz="2800" dirty="0"/>
              <a:t>In </a:t>
            </a:r>
            <a:r>
              <a:rPr lang="en-GB" sz="2800" b="1" dirty="0"/>
              <a:t>agile processes</a:t>
            </a:r>
            <a:r>
              <a:rPr lang="en-GB" sz="2800" dirty="0"/>
              <a:t>, planning is incremental, and it is easier to change the process to reflect changing customer requirements. </a:t>
            </a:r>
          </a:p>
          <a:p>
            <a:pPr algn="just">
              <a:buFont typeface="Wingdings" panose="05000000000000000000" pitchFamily="2" charset="2"/>
              <a:buChar char="q"/>
            </a:pPr>
            <a:r>
              <a:rPr lang="en-GB" sz="2800" dirty="0"/>
              <a:t>There are no right or wrong software processes.</a:t>
            </a:r>
            <a:endParaRPr lang="en-US" sz="2800" dirty="0"/>
          </a:p>
        </p:txBody>
      </p:sp>
    </p:spTree>
    <p:extLst>
      <p:ext uri="{BB962C8B-B14F-4D97-AF65-F5344CB8AC3E}">
        <p14:creationId xmlns:p14="http://schemas.microsoft.com/office/powerpoint/2010/main" val="26684125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Plan-driven and agile processes</a:t>
            </a:r>
          </a:p>
        </p:txBody>
      </p:sp>
      <p:graphicFrame>
        <p:nvGraphicFramePr>
          <p:cNvPr id="4" name="Table 3"/>
          <p:cNvGraphicFramePr>
            <a:graphicFrameLocks noGrp="1"/>
          </p:cNvGraphicFramePr>
          <p:nvPr>
            <p:extLst>
              <p:ext uri="{D42A27DB-BD31-4B8C-83A1-F6EECF244321}">
                <p14:modId xmlns:p14="http://schemas.microsoft.com/office/powerpoint/2010/main" val="2375902077"/>
              </p:ext>
            </p:extLst>
          </p:nvPr>
        </p:nvGraphicFramePr>
        <p:xfrm>
          <a:off x="533400" y="1905000"/>
          <a:ext cx="8305800" cy="3474720"/>
        </p:xfrm>
        <a:graphic>
          <a:graphicData uri="http://schemas.openxmlformats.org/drawingml/2006/table">
            <a:tbl>
              <a:tblPr/>
              <a:tblGrid>
                <a:gridCol w="4152900">
                  <a:extLst>
                    <a:ext uri="{9D8B030D-6E8A-4147-A177-3AD203B41FA5}">
                      <a16:colId xmlns:a16="http://schemas.microsoft.com/office/drawing/2014/main" val="20000"/>
                    </a:ext>
                  </a:extLst>
                </a:gridCol>
                <a:gridCol w="4152900">
                  <a:extLst>
                    <a:ext uri="{9D8B030D-6E8A-4147-A177-3AD203B41FA5}">
                      <a16:colId xmlns:a16="http://schemas.microsoft.com/office/drawing/2014/main" val="20001"/>
                    </a:ext>
                  </a:extLst>
                </a:gridCol>
              </a:tblGrid>
              <a:tr h="0">
                <a:tc>
                  <a:txBody>
                    <a:bodyPr/>
                    <a:lstStyle/>
                    <a:p>
                      <a:pPr algn="ctr"/>
                      <a:r>
                        <a:rPr lang="en-US" sz="2400" b="1" dirty="0">
                          <a:effectLst/>
                        </a:rPr>
                        <a:t>Plan-driven methods</a:t>
                      </a:r>
                    </a:p>
                  </a:txBody>
                  <a:tcPr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chemeClr val="accent2"/>
                    </a:solidFill>
                  </a:tcPr>
                </a:tc>
                <a:tc>
                  <a:txBody>
                    <a:bodyPr/>
                    <a:lstStyle/>
                    <a:p>
                      <a:pPr algn="ctr"/>
                      <a:r>
                        <a:rPr lang="en-US" sz="2400" b="1" dirty="0">
                          <a:effectLst/>
                        </a:rPr>
                        <a:t>Agile methods</a:t>
                      </a:r>
                    </a:p>
                  </a:txBody>
                  <a:tcPr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chemeClr val="accent2"/>
                    </a:solidFill>
                  </a:tcPr>
                </a:tc>
                <a:extLst>
                  <a:ext uri="{0D108BD9-81ED-4DB2-BD59-A6C34878D82A}">
                    <a16:rowId xmlns:a16="http://schemas.microsoft.com/office/drawing/2014/main" val="10000"/>
                  </a:ext>
                </a:extLst>
              </a:tr>
              <a:tr h="0">
                <a:tc>
                  <a:txBody>
                    <a:bodyPr/>
                    <a:lstStyle/>
                    <a:p>
                      <a:pPr algn="ctr"/>
                      <a:r>
                        <a:rPr lang="en-US" sz="2400" dirty="0">
                          <a:effectLst/>
                        </a:rPr>
                        <a:t>High criticality</a:t>
                      </a:r>
                    </a:p>
                  </a:txBody>
                  <a:tcPr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chemeClr val="tx2">
                        <a:lumMod val="20000"/>
                        <a:lumOff val="80000"/>
                      </a:schemeClr>
                    </a:solidFill>
                  </a:tcPr>
                </a:tc>
                <a:tc>
                  <a:txBody>
                    <a:bodyPr/>
                    <a:lstStyle/>
                    <a:p>
                      <a:pPr algn="ctr"/>
                      <a:r>
                        <a:rPr lang="en-US" sz="2400" dirty="0">
                          <a:effectLst/>
                        </a:rPr>
                        <a:t>Low criticality</a:t>
                      </a:r>
                    </a:p>
                  </a:txBody>
                  <a:tcPr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001"/>
                  </a:ext>
                </a:extLst>
              </a:tr>
              <a:tr h="0">
                <a:tc>
                  <a:txBody>
                    <a:bodyPr/>
                    <a:lstStyle/>
                    <a:p>
                      <a:pPr algn="ctr"/>
                      <a:r>
                        <a:rPr lang="en-US" sz="2400" dirty="0">
                          <a:effectLst/>
                        </a:rPr>
                        <a:t>Junior developers</a:t>
                      </a:r>
                    </a:p>
                  </a:txBody>
                  <a:tcPr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chemeClr val="tx2">
                        <a:lumMod val="20000"/>
                        <a:lumOff val="80000"/>
                      </a:schemeClr>
                    </a:solidFill>
                  </a:tcPr>
                </a:tc>
                <a:tc>
                  <a:txBody>
                    <a:bodyPr/>
                    <a:lstStyle/>
                    <a:p>
                      <a:pPr algn="ctr"/>
                      <a:r>
                        <a:rPr lang="en-US" sz="2400" dirty="0">
                          <a:effectLst/>
                        </a:rPr>
                        <a:t>Senior developers</a:t>
                      </a:r>
                    </a:p>
                  </a:txBody>
                  <a:tcPr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002"/>
                  </a:ext>
                </a:extLst>
              </a:tr>
              <a:tr h="0">
                <a:tc>
                  <a:txBody>
                    <a:bodyPr/>
                    <a:lstStyle/>
                    <a:p>
                      <a:pPr algn="ctr"/>
                      <a:r>
                        <a:rPr lang="en-US" sz="2400" dirty="0">
                          <a:effectLst/>
                        </a:rPr>
                        <a:t>Requirements do not change often</a:t>
                      </a:r>
                    </a:p>
                  </a:txBody>
                  <a:tcPr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chemeClr val="tx2">
                        <a:lumMod val="20000"/>
                        <a:lumOff val="80000"/>
                      </a:schemeClr>
                    </a:solidFill>
                  </a:tcPr>
                </a:tc>
                <a:tc>
                  <a:txBody>
                    <a:bodyPr/>
                    <a:lstStyle/>
                    <a:p>
                      <a:pPr algn="ctr"/>
                      <a:r>
                        <a:rPr lang="en-US" sz="2400" dirty="0">
                          <a:effectLst/>
                        </a:rPr>
                        <a:t>Requirements change often</a:t>
                      </a:r>
                    </a:p>
                  </a:txBody>
                  <a:tcPr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003"/>
                  </a:ext>
                </a:extLst>
              </a:tr>
              <a:tr h="0">
                <a:tc>
                  <a:txBody>
                    <a:bodyPr/>
                    <a:lstStyle/>
                    <a:p>
                      <a:pPr algn="ctr"/>
                      <a:r>
                        <a:rPr lang="en-US" sz="2400" dirty="0">
                          <a:effectLst/>
                        </a:rPr>
                        <a:t>Large number of developers</a:t>
                      </a:r>
                    </a:p>
                  </a:txBody>
                  <a:tcPr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chemeClr val="tx2">
                        <a:lumMod val="20000"/>
                        <a:lumOff val="80000"/>
                      </a:schemeClr>
                    </a:solidFill>
                  </a:tcPr>
                </a:tc>
                <a:tc>
                  <a:txBody>
                    <a:bodyPr/>
                    <a:lstStyle/>
                    <a:p>
                      <a:pPr algn="ctr"/>
                      <a:r>
                        <a:rPr lang="en-US" sz="2400" dirty="0">
                          <a:effectLst/>
                        </a:rPr>
                        <a:t>Small number of developers</a:t>
                      </a:r>
                    </a:p>
                  </a:txBody>
                  <a:tcPr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004"/>
                  </a:ext>
                </a:extLst>
              </a:tr>
              <a:tr h="0">
                <a:tc>
                  <a:txBody>
                    <a:bodyPr/>
                    <a:lstStyle/>
                    <a:p>
                      <a:pPr algn="ctr"/>
                      <a:r>
                        <a:rPr lang="en-US" sz="2400" dirty="0">
                          <a:effectLst/>
                        </a:rPr>
                        <a:t>Culture that demands order</a:t>
                      </a:r>
                    </a:p>
                  </a:txBody>
                  <a:tcPr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chemeClr val="tx2">
                        <a:lumMod val="20000"/>
                        <a:lumOff val="80000"/>
                      </a:schemeClr>
                    </a:solidFill>
                  </a:tcPr>
                </a:tc>
                <a:tc>
                  <a:txBody>
                    <a:bodyPr/>
                    <a:lstStyle/>
                    <a:p>
                      <a:pPr algn="ctr"/>
                      <a:r>
                        <a:rPr lang="en-US" sz="2400" dirty="0">
                          <a:effectLst/>
                        </a:rPr>
                        <a:t>Culture that responds to change</a:t>
                      </a:r>
                    </a:p>
                  </a:txBody>
                  <a:tcPr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2115362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Software process models</a:t>
            </a:r>
            <a:endParaRPr lang="en-US" dirty="0"/>
          </a:p>
        </p:txBody>
      </p:sp>
      <p:sp>
        <p:nvSpPr>
          <p:cNvPr id="3" name="Content Placeholder 2"/>
          <p:cNvSpPr>
            <a:spLocks noGrp="1"/>
          </p:cNvSpPr>
          <p:nvPr>
            <p:ph idx="1"/>
          </p:nvPr>
        </p:nvSpPr>
        <p:spPr>
          <a:xfrm>
            <a:off x="685800" y="1447800"/>
            <a:ext cx="8259763" cy="4114800"/>
          </a:xfrm>
        </p:spPr>
        <p:txBody>
          <a:bodyPr/>
          <a:lstStyle/>
          <a:p>
            <a:pPr>
              <a:buFont typeface="Wingdings" panose="05000000000000000000" pitchFamily="2" charset="2"/>
              <a:buChar char="q"/>
            </a:pPr>
            <a:r>
              <a:rPr lang="en-GB" sz="2400" b="1" dirty="0"/>
              <a:t>The waterfall model</a:t>
            </a:r>
          </a:p>
          <a:p>
            <a:pPr lvl="1">
              <a:buFont typeface="Wingdings" panose="05000000000000000000" pitchFamily="2" charset="2"/>
              <a:buChar char="q"/>
            </a:pPr>
            <a:r>
              <a:rPr lang="en-GB" sz="2400" dirty="0"/>
              <a:t>Plan-driven model. Activities are planned in advance and progress is measured against plan</a:t>
            </a:r>
          </a:p>
          <a:p>
            <a:pPr>
              <a:buFont typeface="Wingdings" panose="05000000000000000000" pitchFamily="2" charset="2"/>
              <a:buChar char="q"/>
            </a:pPr>
            <a:r>
              <a:rPr lang="en-GB" sz="2400" b="1" dirty="0"/>
              <a:t>Incremental development</a:t>
            </a:r>
          </a:p>
          <a:p>
            <a:pPr lvl="1">
              <a:buFont typeface="Wingdings" panose="05000000000000000000" pitchFamily="2" charset="2"/>
              <a:buChar char="q"/>
            </a:pPr>
            <a:r>
              <a:rPr lang="en-GB" sz="2400" dirty="0"/>
              <a:t>Specification, development and validation are interleaved. </a:t>
            </a:r>
          </a:p>
          <a:p>
            <a:pPr lvl="1">
              <a:buFont typeface="Wingdings" panose="05000000000000000000" pitchFamily="2" charset="2"/>
              <a:buChar char="q"/>
            </a:pPr>
            <a:r>
              <a:rPr lang="en-GB" sz="2400" dirty="0"/>
              <a:t>System is developed as a series of versions (increments)</a:t>
            </a:r>
          </a:p>
          <a:p>
            <a:pPr>
              <a:buFont typeface="Wingdings" panose="05000000000000000000" pitchFamily="2" charset="2"/>
              <a:buChar char="q"/>
            </a:pPr>
            <a:r>
              <a:rPr lang="en-GB" sz="2400" b="1" dirty="0"/>
              <a:t>Reuse-oriented software engineering</a:t>
            </a:r>
          </a:p>
          <a:p>
            <a:pPr lvl="1">
              <a:buFont typeface="Wingdings" panose="05000000000000000000" pitchFamily="2" charset="2"/>
              <a:buChar char="q"/>
            </a:pPr>
            <a:r>
              <a:rPr lang="en-GB" sz="2400" dirty="0"/>
              <a:t>The system is assembled from existing components. May be plan-driven or agile.</a:t>
            </a:r>
          </a:p>
          <a:p>
            <a:pPr>
              <a:buFont typeface="Wingdings" panose="05000000000000000000" pitchFamily="2" charset="2"/>
              <a:buChar char="q"/>
            </a:pPr>
            <a:r>
              <a:rPr lang="en-GB" sz="2000" dirty="0"/>
              <a:t>In practice, most large systems are developed using a process that incorporates elements from all of these models</a:t>
            </a:r>
            <a:r>
              <a:rPr lang="en-GB" sz="2400" dirty="0"/>
              <a:t>.</a:t>
            </a:r>
          </a:p>
          <a:p>
            <a:pPr>
              <a:buFont typeface="Wingdings" panose="05000000000000000000" pitchFamily="2" charset="2"/>
              <a:buChar char="q"/>
            </a:pPr>
            <a:endParaRPr lang="en-US" sz="2400" dirty="0"/>
          </a:p>
        </p:txBody>
      </p:sp>
    </p:spTree>
    <p:extLst>
      <p:ext uri="{BB962C8B-B14F-4D97-AF65-F5344CB8AC3E}">
        <p14:creationId xmlns:p14="http://schemas.microsoft.com/office/powerpoint/2010/main" val="35121816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 calcmode="lin" valueType="num">
                                      <p:cBhvr additive="base">
                                        <p:cTn id="3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3">
                                            <p:txEl>
                                              <p:pRg st="7" end="7"/>
                                            </p:txEl>
                                          </p:spTgt>
                                        </p:tgtEl>
                                        <p:attrNameLst>
                                          <p:attrName>style.visibility</p:attrName>
                                        </p:attrNameLst>
                                      </p:cBhvr>
                                      <p:to>
                                        <p:strVal val="visible"/>
                                      </p:to>
                                    </p:set>
                                    <p:anim calcmode="lin" valueType="num">
                                      <p:cBhvr additive="base">
                                        <p:cTn id="41"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87819C-0C37-438F-17F1-0461F75F3727}"/>
              </a:ext>
            </a:extLst>
          </p:cNvPr>
          <p:cNvSpPr>
            <a:spLocks noGrp="1"/>
          </p:cNvSpPr>
          <p:nvPr>
            <p:ph type="title"/>
          </p:nvPr>
        </p:nvSpPr>
        <p:spPr/>
        <p:txBody>
          <a:bodyPr/>
          <a:lstStyle/>
          <a:p>
            <a:r>
              <a:rPr lang="en-US" dirty="0"/>
              <a:t>The Waterfall Model</a:t>
            </a:r>
          </a:p>
        </p:txBody>
      </p:sp>
      <p:sp>
        <p:nvSpPr>
          <p:cNvPr id="3" name="Content Placeholder 2">
            <a:extLst>
              <a:ext uri="{FF2B5EF4-FFF2-40B4-BE49-F238E27FC236}">
                <a16:creationId xmlns:a16="http://schemas.microsoft.com/office/drawing/2014/main" id="{8EA0A3E9-A704-4FC0-760D-96FFA862C43F}"/>
              </a:ext>
            </a:extLst>
          </p:cNvPr>
          <p:cNvSpPr>
            <a:spLocks noGrp="1"/>
          </p:cNvSpPr>
          <p:nvPr>
            <p:ph idx="1"/>
          </p:nvPr>
        </p:nvSpPr>
        <p:spPr/>
        <p:txBody>
          <a:bodyPr/>
          <a:lstStyle/>
          <a:p>
            <a:pPr>
              <a:buFont typeface="Wingdings" panose="05000000000000000000" pitchFamily="2" charset="2"/>
              <a:buChar char="q"/>
            </a:pPr>
            <a:r>
              <a:rPr lang="en-US" dirty="0"/>
              <a:t>The waterfall model is an example of a plan-driven process—in principle, you must plan and schedule all of the process activities before starting work on them.</a:t>
            </a:r>
          </a:p>
          <a:p>
            <a:pPr>
              <a:buFont typeface="Wingdings" panose="05000000000000000000" pitchFamily="2" charset="2"/>
              <a:buChar char="q"/>
            </a:pPr>
            <a:endParaRPr lang="en-US" dirty="0"/>
          </a:p>
        </p:txBody>
      </p:sp>
    </p:spTree>
    <p:extLst>
      <p:ext uri="{BB962C8B-B14F-4D97-AF65-F5344CB8AC3E}">
        <p14:creationId xmlns:p14="http://schemas.microsoft.com/office/powerpoint/2010/main" val="33794839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76200"/>
            <a:ext cx="7772400" cy="1143000"/>
          </a:xfrm>
        </p:spPr>
        <p:txBody>
          <a:bodyPr/>
          <a:lstStyle/>
          <a:p>
            <a:r>
              <a:rPr lang="en-GB" dirty="0"/>
              <a:t>The waterfall model</a:t>
            </a:r>
            <a:endParaRPr lang="en-US" dirty="0"/>
          </a:p>
        </p:txBody>
      </p:sp>
      <p:pic>
        <p:nvPicPr>
          <p:cNvPr id="4" name="Picture 3" descr="2.1.Waterfall-model.eps"/>
          <p:cNvPicPr>
            <a:picLocks noChangeAspect="1"/>
          </p:cNvPicPr>
          <p:nvPr/>
        </p:nvPicPr>
        <p:blipFill>
          <a:blip r:embed="rId2" cstate="print"/>
          <a:stretch>
            <a:fillRect/>
          </a:stretch>
        </p:blipFill>
        <p:spPr>
          <a:xfrm>
            <a:off x="911053" y="1398542"/>
            <a:ext cx="7183698" cy="4039465"/>
          </a:xfrm>
          <a:prstGeom prst="rect">
            <a:avLst/>
          </a:prstGeom>
        </p:spPr>
      </p:pic>
      <p:sp>
        <p:nvSpPr>
          <p:cNvPr id="3" name="TextBox 2"/>
          <p:cNvSpPr txBox="1"/>
          <p:nvPr/>
        </p:nvSpPr>
        <p:spPr>
          <a:xfrm>
            <a:off x="2057400" y="1047690"/>
            <a:ext cx="6477000" cy="400110"/>
          </a:xfrm>
          <a:prstGeom prst="rect">
            <a:avLst/>
          </a:prstGeom>
          <a:solidFill>
            <a:schemeClr val="accent1">
              <a:lumMod val="20000"/>
              <a:lumOff val="80000"/>
            </a:schemeClr>
          </a:solidFill>
        </p:spPr>
        <p:txBody>
          <a:bodyPr wrap="square" rtlCol="0">
            <a:spAutoFit/>
          </a:bodyPr>
          <a:lstStyle/>
          <a:p>
            <a:pPr marL="0" lvl="2"/>
            <a:r>
              <a:rPr lang="en-GB" sz="2000" dirty="0"/>
              <a:t>System services, constraints and goals are established</a:t>
            </a:r>
          </a:p>
        </p:txBody>
      </p:sp>
      <p:sp>
        <p:nvSpPr>
          <p:cNvPr id="5" name="TextBox 4"/>
          <p:cNvSpPr txBox="1"/>
          <p:nvPr/>
        </p:nvSpPr>
        <p:spPr>
          <a:xfrm>
            <a:off x="3810000" y="1466671"/>
            <a:ext cx="5257800" cy="1200329"/>
          </a:xfrm>
          <a:prstGeom prst="rect">
            <a:avLst/>
          </a:prstGeom>
          <a:solidFill>
            <a:schemeClr val="accent1">
              <a:lumMod val="20000"/>
              <a:lumOff val="80000"/>
            </a:schemeClr>
          </a:solidFill>
        </p:spPr>
        <p:txBody>
          <a:bodyPr wrap="square" rtlCol="0">
            <a:spAutoFit/>
          </a:bodyPr>
          <a:lstStyle/>
          <a:p>
            <a:pPr algn="just"/>
            <a:r>
              <a:rPr lang="en-US" dirty="0"/>
              <a:t>allocates the requirements to either hardware or software, identify and describe the fundamental</a:t>
            </a:r>
          </a:p>
          <a:p>
            <a:pPr algn="just"/>
            <a:r>
              <a:rPr lang="en-US" dirty="0"/>
              <a:t>software system abstractions and their relationships</a:t>
            </a:r>
          </a:p>
        </p:txBody>
      </p:sp>
      <p:sp>
        <p:nvSpPr>
          <p:cNvPr id="6" name="Rectangle 5"/>
          <p:cNvSpPr/>
          <p:nvPr/>
        </p:nvSpPr>
        <p:spPr>
          <a:xfrm>
            <a:off x="5181600" y="2718137"/>
            <a:ext cx="3962400" cy="1015663"/>
          </a:xfrm>
          <a:prstGeom prst="rect">
            <a:avLst/>
          </a:prstGeom>
          <a:solidFill>
            <a:schemeClr val="accent1">
              <a:lumMod val="20000"/>
              <a:lumOff val="80000"/>
            </a:schemeClr>
          </a:solidFill>
        </p:spPr>
        <p:txBody>
          <a:bodyPr wrap="square">
            <a:spAutoFit/>
          </a:bodyPr>
          <a:lstStyle/>
          <a:p>
            <a:r>
              <a:rPr lang="en-US" sz="2000" dirty="0">
                <a:solidFill>
                  <a:srgbClr val="231F20"/>
                </a:solidFill>
                <a:latin typeface="Times-Roman"/>
              </a:rPr>
              <a:t>software design is realized</a:t>
            </a:r>
          </a:p>
          <a:p>
            <a:r>
              <a:rPr lang="en-US" sz="2000" dirty="0">
                <a:solidFill>
                  <a:srgbClr val="231F20"/>
                </a:solidFill>
                <a:latin typeface="Times-Roman"/>
              </a:rPr>
              <a:t>as a set of programs or program units</a:t>
            </a:r>
            <a:endParaRPr lang="en-US" sz="2000" dirty="0"/>
          </a:p>
        </p:txBody>
      </p:sp>
      <p:sp>
        <p:nvSpPr>
          <p:cNvPr id="7" name="Rectangle 6"/>
          <p:cNvSpPr/>
          <p:nvPr/>
        </p:nvSpPr>
        <p:spPr>
          <a:xfrm>
            <a:off x="76200" y="3925669"/>
            <a:ext cx="5105400" cy="1015663"/>
          </a:xfrm>
          <a:prstGeom prst="rect">
            <a:avLst/>
          </a:prstGeom>
          <a:solidFill>
            <a:schemeClr val="accent1">
              <a:lumMod val="20000"/>
              <a:lumOff val="80000"/>
            </a:schemeClr>
          </a:solidFill>
        </p:spPr>
        <p:txBody>
          <a:bodyPr wrap="square">
            <a:spAutoFit/>
          </a:bodyPr>
          <a:lstStyle/>
          <a:p>
            <a:r>
              <a:rPr lang="en-US" sz="2000" dirty="0">
                <a:solidFill>
                  <a:srgbClr val="231F20"/>
                </a:solidFill>
                <a:latin typeface="Times-Roman"/>
              </a:rPr>
              <a:t>The individual program units or programs</a:t>
            </a:r>
          </a:p>
          <a:p>
            <a:r>
              <a:rPr lang="en-US" sz="2000" dirty="0">
                <a:solidFill>
                  <a:srgbClr val="231F20"/>
                </a:solidFill>
                <a:latin typeface="Times-Roman"/>
              </a:rPr>
              <a:t>are integrated and tested as a complete system</a:t>
            </a:r>
            <a:endParaRPr lang="en-US" sz="2000" dirty="0"/>
          </a:p>
        </p:txBody>
      </p:sp>
      <p:sp>
        <p:nvSpPr>
          <p:cNvPr id="8" name="Rectangle 7"/>
          <p:cNvSpPr/>
          <p:nvPr/>
        </p:nvSpPr>
        <p:spPr>
          <a:xfrm>
            <a:off x="152400" y="4953000"/>
            <a:ext cx="6553200" cy="1323439"/>
          </a:xfrm>
          <a:prstGeom prst="rect">
            <a:avLst/>
          </a:prstGeom>
          <a:solidFill>
            <a:schemeClr val="accent1">
              <a:lumMod val="20000"/>
              <a:lumOff val="80000"/>
            </a:schemeClr>
          </a:solidFill>
        </p:spPr>
        <p:txBody>
          <a:bodyPr wrap="square">
            <a:spAutoFit/>
          </a:bodyPr>
          <a:lstStyle/>
          <a:p>
            <a:pPr algn="just"/>
            <a:r>
              <a:rPr lang="en-US" sz="2000" dirty="0">
                <a:solidFill>
                  <a:srgbClr val="231F20"/>
                </a:solidFill>
                <a:latin typeface="Times-Roman"/>
              </a:rPr>
              <a:t>The system is installed and put into practical use.</a:t>
            </a:r>
          </a:p>
          <a:p>
            <a:pPr algn="just"/>
            <a:r>
              <a:rPr lang="en-US" sz="2000" dirty="0"/>
              <a:t>Maintenance involves correcting errors, improving the implementation and enhancing system with new requirements</a:t>
            </a:r>
          </a:p>
        </p:txBody>
      </p:sp>
    </p:spTree>
    <p:extLst>
      <p:ext uri="{BB962C8B-B14F-4D97-AF65-F5344CB8AC3E}">
        <p14:creationId xmlns:p14="http://schemas.microsoft.com/office/powerpoint/2010/main" val="31040595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00" fill="hold"/>
                                        <p:tgtEl>
                                          <p:spTgt spid="7"/>
                                        </p:tgtEl>
                                        <p:attrNameLst>
                                          <p:attrName>ppt_x</p:attrName>
                                        </p:attrNameLst>
                                      </p:cBhvr>
                                      <p:tavLst>
                                        <p:tav tm="0">
                                          <p:val>
                                            <p:strVal val="#ppt_x"/>
                                          </p:val>
                                        </p:tav>
                                        <p:tav tm="100000">
                                          <p:val>
                                            <p:strVal val="#ppt_x"/>
                                          </p:val>
                                        </p:tav>
                                      </p:tavLst>
                                    </p:anim>
                                    <p:anim calcmode="lin" valueType="num">
                                      <p:cBhvr additive="base">
                                        <p:cTn id="2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anim calcmode="lin" valueType="num">
                                      <p:cBhvr additive="base">
                                        <p:cTn id="31" dur="500" fill="hold"/>
                                        <p:tgtEl>
                                          <p:spTgt spid="8"/>
                                        </p:tgtEl>
                                        <p:attrNameLst>
                                          <p:attrName>ppt_x</p:attrName>
                                        </p:attrNameLst>
                                      </p:cBhvr>
                                      <p:tavLst>
                                        <p:tav tm="0">
                                          <p:val>
                                            <p:strVal val="#ppt_x"/>
                                          </p:val>
                                        </p:tav>
                                        <p:tav tm="100000">
                                          <p:val>
                                            <p:strVal val="#ppt_x"/>
                                          </p:val>
                                        </p:tav>
                                      </p:tavLst>
                                    </p:anim>
                                    <p:anim calcmode="lin" valueType="num">
                                      <p:cBhvr additive="base">
                                        <p:cTn id="3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P spid="7" grpId="0" animBg="1"/>
      <p:bldP spid="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0"/>
            <a:ext cx="7772400" cy="1143000"/>
          </a:xfrm>
        </p:spPr>
        <p:txBody>
          <a:bodyPr/>
          <a:lstStyle/>
          <a:p>
            <a:r>
              <a:rPr lang="en-GB" dirty="0"/>
              <a:t>Waterfall model problems</a:t>
            </a:r>
            <a:endParaRPr lang="en-US" dirty="0"/>
          </a:p>
        </p:txBody>
      </p:sp>
      <p:sp>
        <p:nvSpPr>
          <p:cNvPr id="3" name="Content Placeholder 2"/>
          <p:cNvSpPr>
            <a:spLocks noGrp="1"/>
          </p:cNvSpPr>
          <p:nvPr>
            <p:ph idx="1"/>
          </p:nvPr>
        </p:nvSpPr>
        <p:spPr>
          <a:xfrm>
            <a:off x="685801" y="1219200"/>
            <a:ext cx="8153400" cy="4495800"/>
          </a:xfrm>
        </p:spPr>
        <p:txBody>
          <a:bodyPr/>
          <a:lstStyle/>
          <a:p>
            <a:pPr algn="just">
              <a:buFont typeface="Wingdings" panose="05000000000000000000" pitchFamily="2" charset="2"/>
              <a:buChar char="q"/>
            </a:pPr>
            <a:r>
              <a:rPr lang="en-GB" sz="2400" dirty="0"/>
              <a:t>The main drawback of the waterfall model is the </a:t>
            </a:r>
            <a:r>
              <a:rPr lang="en-GB" sz="2400" b="1" dirty="0"/>
              <a:t>difficulty of accommodating change</a:t>
            </a:r>
            <a:r>
              <a:rPr lang="en-GB" sz="2400" dirty="0"/>
              <a:t> after the process is underway. In principle, a phase has to be completed before moving onto the next phase.</a:t>
            </a:r>
          </a:p>
          <a:p>
            <a:pPr lvl="1" algn="just">
              <a:buFont typeface="Wingdings" panose="05000000000000000000" pitchFamily="2" charset="2"/>
              <a:buChar char="q"/>
            </a:pPr>
            <a:r>
              <a:rPr lang="en-GB" sz="2400" dirty="0"/>
              <a:t>Therefore, this model is only appropriate when the </a:t>
            </a:r>
            <a:r>
              <a:rPr lang="en-GB" sz="2400" b="1" dirty="0"/>
              <a:t>requirements are well-understood,</a:t>
            </a:r>
            <a:r>
              <a:rPr lang="en-GB" sz="2400" dirty="0"/>
              <a:t> and changes will be fairly limited during the design process. </a:t>
            </a:r>
          </a:p>
          <a:p>
            <a:pPr lvl="1" algn="just">
              <a:buFont typeface="Wingdings" panose="05000000000000000000" pitchFamily="2" charset="2"/>
              <a:buChar char="q"/>
            </a:pPr>
            <a:r>
              <a:rPr lang="en-GB" sz="2400" dirty="0"/>
              <a:t>Few business systems have stable requirements.</a:t>
            </a:r>
          </a:p>
          <a:p>
            <a:pPr algn="just">
              <a:buFont typeface="Wingdings" panose="05000000000000000000" pitchFamily="2" charset="2"/>
              <a:buChar char="q"/>
            </a:pPr>
            <a:r>
              <a:rPr lang="en-GB" sz="2400" dirty="0"/>
              <a:t>The waterfall model is mostly used for large systems engineering projects where a </a:t>
            </a:r>
            <a:r>
              <a:rPr lang="en-GB" sz="2400" b="1" dirty="0"/>
              <a:t>system is developed at several sites</a:t>
            </a:r>
            <a:r>
              <a:rPr lang="en-GB" sz="2400" dirty="0"/>
              <a:t>.</a:t>
            </a:r>
          </a:p>
          <a:p>
            <a:pPr lvl="1" algn="just">
              <a:buFont typeface="Wingdings" panose="05000000000000000000" pitchFamily="2" charset="2"/>
              <a:buChar char="q"/>
            </a:pPr>
            <a:r>
              <a:rPr lang="en-GB" sz="2400" dirty="0"/>
              <a:t>In those circumstances, the plan-driven nature of the waterfall model helps coordinate the work.</a:t>
            </a:r>
            <a:endParaRPr lang="en-US" sz="2400" dirty="0"/>
          </a:p>
        </p:txBody>
      </p:sp>
    </p:spTree>
    <p:extLst>
      <p:ext uri="{BB962C8B-B14F-4D97-AF65-F5344CB8AC3E}">
        <p14:creationId xmlns:p14="http://schemas.microsoft.com/office/powerpoint/2010/main" val="7641643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04B4EE-D2FF-9F38-1AB2-AEA93914AD7B}"/>
              </a:ext>
            </a:extLst>
          </p:cNvPr>
          <p:cNvSpPr>
            <a:spLocks noGrp="1"/>
          </p:cNvSpPr>
          <p:nvPr>
            <p:ph type="title"/>
          </p:nvPr>
        </p:nvSpPr>
        <p:spPr>
          <a:xfrm>
            <a:off x="1142683" y="76200"/>
            <a:ext cx="7772400" cy="1143000"/>
          </a:xfrm>
        </p:spPr>
        <p:txBody>
          <a:bodyPr/>
          <a:lstStyle/>
          <a:p>
            <a:r>
              <a:rPr lang="en-US" dirty="0"/>
              <a:t>Incremental Development</a:t>
            </a:r>
          </a:p>
        </p:txBody>
      </p:sp>
      <p:sp>
        <p:nvSpPr>
          <p:cNvPr id="3" name="Content Placeholder 2">
            <a:extLst>
              <a:ext uri="{FF2B5EF4-FFF2-40B4-BE49-F238E27FC236}">
                <a16:creationId xmlns:a16="http://schemas.microsoft.com/office/drawing/2014/main" id="{3999BA15-17EC-F020-DB19-425C0921FB62}"/>
              </a:ext>
            </a:extLst>
          </p:cNvPr>
          <p:cNvSpPr>
            <a:spLocks noGrp="1"/>
          </p:cNvSpPr>
          <p:nvPr>
            <p:ph idx="1"/>
          </p:nvPr>
        </p:nvSpPr>
        <p:spPr>
          <a:xfrm>
            <a:off x="1173163" y="1219200"/>
            <a:ext cx="7772400" cy="4876800"/>
          </a:xfrm>
        </p:spPr>
        <p:txBody>
          <a:bodyPr/>
          <a:lstStyle/>
          <a:p>
            <a:pPr>
              <a:buFont typeface="Wingdings" panose="05000000000000000000" pitchFamily="2" charset="2"/>
              <a:buChar char="q"/>
            </a:pPr>
            <a:r>
              <a:rPr lang="en-US" sz="2400" dirty="0"/>
              <a:t>Incremental development is based on the idea of developing an initial implementation, exposing this to user comment and evolving it through several versions until an adequate system has been developed.</a:t>
            </a:r>
          </a:p>
          <a:p>
            <a:pPr>
              <a:buFont typeface="Wingdings" panose="05000000000000000000" pitchFamily="2" charset="2"/>
              <a:buChar char="q"/>
            </a:pPr>
            <a:r>
              <a:rPr lang="en-US" sz="2400" dirty="0"/>
              <a:t>Specification, development, and validation activities are interleaved rather than separate, with rapid feedback across activities. </a:t>
            </a:r>
          </a:p>
          <a:p>
            <a:pPr>
              <a:buFont typeface="Wingdings" panose="05000000000000000000" pitchFamily="2" charset="2"/>
              <a:buChar char="q"/>
            </a:pPr>
            <a:r>
              <a:rPr lang="en-US" sz="2400" dirty="0"/>
              <a:t>Each increment or version of the system incorporates some of the functionality that is needed by the customer. Generally, the early increments of the system include the most important or most urgently required functionality.</a:t>
            </a:r>
          </a:p>
        </p:txBody>
      </p:sp>
    </p:spTree>
    <p:extLst>
      <p:ext uri="{BB962C8B-B14F-4D97-AF65-F5344CB8AC3E}">
        <p14:creationId xmlns:p14="http://schemas.microsoft.com/office/powerpoint/2010/main" val="41751216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Incremental development </a:t>
            </a:r>
            <a:br>
              <a:rPr lang="en-GB" dirty="0"/>
            </a:br>
            <a:endParaRPr lang="en-US" dirty="0"/>
          </a:p>
        </p:txBody>
      </p:sp>
      <p:pic>
        <p:nvPicPr>
          <p:cNvPr id="4" name="Picture 3" descr="2.2 Incremental-dev.eps"/>
          <p:cNvPicPr>
            <a:picLocks noChangeAspect="1"/>
          </p:cNvPicPr>
          <p:nvPr/>
        </p:nvPicPr>
        <p:blipFill>
          <a:blip r:embed="rId2" cstate="print"/>
          <a:stretch>
            <a:fillRect/>
          </a:stretch>
        </p:blipFill>
        <p:spPr>
          <a:xfrm>
            <a:off x="457200" y="1600200"/>
            <a:ext cx="7517728" cy="4051928"/>
          </a:xfrm>
          <a:prstGeom prst="rect">
            <a:avLst/>
          </a:prstGeom>
        </p:spPr>
      </p:pic>
    </p:spTree>
    <p:extLst>
      <p:ext uri="{BB962C8B-B14F-4D97-AF65-F5344CB8AC3E}">
        <p14:creationId xmlns:p14="http://schemas.microsoft.com/office/powerpoint/2010/main" val="12943551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600" dirty="0"/>
              <a:t>Incremental development benefits</a:t>
            </a:r>
            <a:endParaRPr lang="en-US" sz="3600" dirty="0"/>
          </a:p>
        </p:txBody>
      </p:sp>
      <p:sp>
        <p:nvSpPr>
          <p:cNvPr id="3" name="Content Placeholder 2"/>
          <p:cNvSpPr>
            <a:spLocks noGrp="1"/>
          </p:cNvSpPr>
          <p:nvPr>
            <p:ph idx="1"/>
          </p:nvPr>
        </p:nvSpPr>
        <p:spPr>
          <a:xfrm>
            <a:off x="762000" y="1447800"/>
            <a:ext cx="7772400" cy="4114800"/>
          </a:xfrm>
        </p:spPr>
        <p:txBody>
          <a:bodyPr/>
          <a:lstStyle/>
          <a:p>
            <a:pPr algn="just">
              <a:buFont typeface="Wingdings" panose="05000000000000000000" pitchFamily="2" charset="2"/>
              <a:buChar char="q"/>
            </a:pPr>
            <a:r>
              <a:rPr lang="en-GB" sz="2000" dirty="0"/>
              <a:t>The cost of accommodating changing customer requirements is reduced. </a:t>
            </a:r>
          </a:p>
          <a:p>
            <a:pPr lvl="1" algn="just">
              <a:buFont typeface="Wingdings" panose="05000000000000000000" pitchFamily="2" charset="2"/>
              <a:buChar char="q"/>
            </a:pPr>
            <a:r>
              <a:rPr lang="en-GB" sz="2000" dirty="0"/>
              <a:t>The amount of analysis and documentation that has to be redone is much less than is required with the waterfall model.</a:t>
            </a:r>
          </a:p>
          <a:p>
            <a:pPr algn="just">
              <a:buFont typeface="Wingdings" panose="05000000000000000000" pitchFamily="2" charset="2"/>
              <a:buChar char="q"/>
            </a:pPr>
            <a:r>
              <a:rPr lang="en-GB" sz="2000" dirty="0"/>
              <a:t>It is easier to get customer feedback on the development work that has been done. </a:t>
            </a:r>
          </a:p>
          <a:p>
            <a:pPr lvl="1" algn="just">
              <a:buFont typeface="Wingdings" panose="05000000000000000000" pitchFamily="2" charset="2"/>
              <a:buChar char="q"/>
            </a:pPr>
            <a:r>
              <a:rPr lang="en-GB" sz="2000" dirty="0"/>
              <a:t>Customers can comment on demonstrations of the software and see how much has been implemented. </a:t>
            </a:r>
          </a:p>
          <a:p>
            <a:pPr algn="just">
              <a:buFont typeface="Wingdings" panose="05000000000000000000" pitchFamily="2" charset="2"/>
              <a:buChar char="q"/>
            </a:pPr>
            <a:r>
              <a:rPr lang="en-GB" sz="2000" dirty="0"/>
              <a:t>More rapid delivery and deployment of useful software to the customer is possible. </a:t>
            </a:r>
          </a:p>
          <a:p>
            <a:pPr lvl="1" algn="just">
              <a:buFont typeface="Wingdings" panose="05000000000000000000" pitchFamily="2" charset="2"/>
              <a:buChar char="q"/>
            </a:pPr>
            <a:r>
              <a:rPr lang="en-GB" sz="2000" dirty="0"/>
              <a:t>Customers are able to use and gain value from the software earlier than is possible with a waterfall process.</a:t>
            </a:r>
            <a:endParaRPr lang="en-US" sz="2000" dirty="0"/>
          </a:p>
        </p:txBody>
      </p:sp>
    </p:spTree>
    <p:extLst>
      <p:ext uri="{BB962C8B-B14F-4D97-AF65-F5344CB8AC3E}">
        <p14:creationId xmlns:p14="http://schemas.microsoft.com/office/powerpoint/2010/main" val="31050301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Incremental development problems</a:t>
            </a:r>
          </a:p>
        </p:txBody>
      </p:sp>
      <p:sp>
        <p:nvSpPr>
          <p:cNvPr id="3" name="Content Placeholder 2"/>
          <p:cNvSpPr>
            <a:spLocks noGrp="1"/>
          </p:cNvSpPr>
          <p:nvPr>
            <p:ph idx="1"/>
          </p:nvPr>
        </p:nvSpPr>
        <p:spPr>
          <a:xfrm>
            <a:off x="914400" y="1524000"/>
            <a:ext cx="7772400" cy="4114800"/>
          </a:xfrm>
        </p:spPr>
        <p:txBody>
          <a:bodyPr/>
          <a:lstStyle/>
          <a:p>
            <a:pPr algn="just">
              <a:buFont typeface="Wingdings" panose="05000000000000000000" pitchFamily="2" charset="2"/>
              <a:buChar char="q"/>
            </a:pPr>
            <a:r>
              <a:rPr lang="en-GB" sz="2400" dirty="0"/>
              <a:t>The process is not visible. </a:t>
            </a:r>
          </a:p>
          <a:p>
            <a:pPr lvl="1" algn="just">
              <a:buFont typeface="Wingdings" panose="05000000000000000000" pitchFamily="2" charset="2"/>
              <a:buChar char="q"/>
            </a:pPr>
            <a:r>
              <a:rPr lang="en-GB" sz="2400" dirty="0"/>
              <a:t>Managers need regular deliverables to measure progress. If systems are developed quickly, it is not cost-effective to produce documents that reflect every version of the system. </a:t>
            </a:r>
          </a:p>
          <a:p>
            <a:pPr algn="just">
              <a:buFont typeface="Wingdings" panose="05000000000000000000" pitchFamily="2" charset="2"/>
              <a:buChar char="q"/>
            </a:pPr>
            <a:r>
              <a:rPr lang="en-GB" sz="2400" dirty="0"/>
              <a:t>System structure tends to degrade as new increments are added</a:t>
            </a:r>
            <a:r>
              <a:rPr lang="en-GB" sz="2400" i="1" dirty="0"/>
              <a:t>. </a:t>
            </a:r>
            <a:r>
              <a:rPr lang="en-GB" sz="2400" dirty="0"/>
              <a:t> </a:t>
            </a:r>
          </a:p>
          <a:p>
            <a:pPr lvl="1" algn="just">
              <a:buFont typeface="Wingdings" panose="05000000000000000000" pitchFamily="2" charset="2"/>
              <a:buChar char="q"/>
            </a:pPr>
            <a:r>
              <a:rPr lang="en-GB" sz="2400" dirty="0"/>
              <a:t>Unless time and money is spent on refactoring to improve the software, regular change tends to corrupt its structure. Incorporating further software changes becomes increasingly difficult and costly. </a:t>
            </a:r>
          </a:p>
          <a:p>
            <a:pPr algn="just">
              <a:buFont typeface="Wingdings" panose="05000000000000000000" pitchFamily="2" charset="2"/>
              <a:buChar char="q"/>
            </a:pPr>
            <a:endParaRPr lang="en-US" sz="2400" dirty="0"/>
          </a:p>
        </p:txBody>
      </p:sp>
    </p:spTree>
    <p:extLst>
      <p:ext uri="{BB962C8B-B14F-4D97-AF65-F5344CB8AC3E}">
        <p14:creationId xmlns:p14="http://schemas.microsoft.com/office/powerpoint/2010/main" val="16507431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200" dirty="0"/>
              <a:t>Reuse-oriented software engineering</a:t>
            </a:r>
            <a:endParaRPr lang="en-US" sz="3200" dirty="0"/>
          </a:p>
        </p:txBody>
      </p:sp>
      <p:sp>
        <p:nvSpPr>
          <p:cNvPr id="3" name="Content Placeholder 2"/>
          <p:cNvSpPr>
            <a:spLocks noGrp="1"/>
          </p:cNvSpPr>
          <p:nvPr>
            <p:ph idx="1"/>
          </p:nvPr>
        </p:nvSpPr>
        <p:spPr>
          <a:xfrm>
            <a:off x="838200" y="1524000"/>
            <a:ext cx="7772400" cy="4343400"/>
          </a:xfrm>
        </p:spPr>
        <p:txBody>
          <a:bodyPr/>
          <a:lstStyle/>
          <a:p>
            <a:pPr algn="just">
              <a:buFont typeface="Wingdings" panose="05000000000000000000" pitchFamily="2" charset="2"/>
              <a:buChar char="q"/>
            </a:pPr>
            <a:r>
              <a:rPr lang="en-GB" sz="2400" dirty="0"/>
              <a:t>Based on systematic reuse where systems are integrated from existing components or COTS (Commercial-off-the-shelf) systems. e.g., Word processor</a:t>
            </a:r>
          </a:p>
          <a:p>
            <a:pPr algn="just">
              <a:buFont typeface="Wingdings" panose="05000000000000000000" pitchFamily="2" charset="2"/>
              <a:buChar char="q"/>
            </a:pPr>
            <a:r>
              <a:rPr lang="en-GB" sz="2400" dirty="0"/>
              <a:t>Process stages</a:t>
            </a:r>
          </a:p>
          <a:p>
            <a:pPr lvl="1" algn="just">
              <a:buFont typeface="Wingdings" panose="05000000000000000000" pitchFamily="2" charset="2"/>
              <a:buChar char="q"/>
            </a:pPr>
            <a:r>
              <a:rPr lang="en-GB" sz="2400" dirty="0"/>
              <a:t>Component analysis;</a:t>
            </a:r>
          </a:p>
          <a:p>
            <a:pPr lvl="1" algn="just">
              <a:buFont typeface="Wingdings" panose="05000000000000000000" pitchFamily="2" charset="2"/>
              <a:buChar char="q"/>
            </a:pPr>
            <a:r>
              <a:rPr lang="en-GB" sz="2400" dirty="0"/>
              <a:t>Requirements modification;</a:t>
            </a:r>
          </a:p>
          <a:p>
            <a:pPr lvl="1" algn="just">
              <a:buFont typeface="Wingdings" panose="05000000000000000000" pitchFamily="2" charset="2"/>
              <a:buChar char="q"/>
            </a:pPr>
            <a:r>
              <a:rPr lang="en-GB" sz="2400" dirty="0"/>
              <a:t>System design with reuse;</a:t>
            </a:r>
          </a:p>
          <a:p>
            <a:pPr lvl="1" algn="just">
              <a:buFont typeface="Wingdings" panose="05000000000000000000" pitchFamily="2" charset="2"/>
              <a:buChar char="q"/>
            </a:pPr>
            <a:r>
              <a:rPr lang="en-GB" sz="2400" dirty="0"/>
              <a:t>Development and integration.</a:t>
            </a:r>
          </a:p>
          <a:p>
            <a:pPr algn="just">
              <a:buFont typeface="Wingdings" panose="05000000000000000000" pitchFamily="2" charset="2"/>
              <a:buChar char="q"/>
            </a:pPr>
            <a:r>
              <a:rPr lang="en-GB" sz="2400" dirty="0"/>
              <a:t>Reuse is now the standard approach for building many types of business system</a:t>
            </a:r>
          </a:p>
          <a:p>
            <a:pPr algn="just">
              <a:buFont typeface="Wingdings" panose="05000000000000000000" pitchFamily="2" charset="2"/>
              <a:buChar char="q"/>
            </a:pPr>
            <a:endParaRPr lang="en-US" sz="2400" dirty="0"/>
          </a:p>
        </p:txBody>
      </p:sp>
    </p:spTree>
    <p:extLst>
      <p:ext uri="{BB962C8B-B14F-4D97-AF65-F5344CB8AC3E}">
        <p14:creationId xmlns:p14="http://schemas.microsoft.com/office/powerpoint/2010/main" val="37202881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 calcmode="lin" valueType="num">
                                      <p:cBhvr additive="base">
                                        <p:cTn id="3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76200"/>
            <a:ext cx="7772400" cy="1143000"/>
          </a:xfrm>
        </p:spPr>
        <p:txBody>
          <a:bodyPr/>
          <a:lstStyle/>
          <a:p>
            <a:r>
              <a:rPr lang="en-GB" sz="3600" dirty="0"/>
              <a:t>Reuse-oriented software engineering</a:t>
            </a:r>
            <a:endParaRPr lang="en-US" sz="3600" dirty="0"/>
          </a:p>
        </p:txBody>
      </p:sp>
      <p:pic>
        <p:nvPicPr>
          <p:cNvPr id="4" name="Picture 3" descr="2.3 Reuse_based_process.eps"/>
          <p:cNvPicPr>
            <a:picLocks noChangeAspect="1"/>
          </p:cNvPicPr>
          <p:nvPr/>
        </p:nvPicPr>
        <p:blipFill>
          <a:blip r:embed="rId2" cstate="print"/>
          <a:stretch>
            <a:fillRect/>
          </a:stretch>
        </p:blipFill>
        <p:spPr>
          <a:xfrm>
            <a:off x="457200" y="2667000"/>
            <a:ext cx="8494383" cy="1773312"/>
          </a:xfrm>
          <a:prstGeom prst="rect">
            <a:avLst/>
          </a:prstGeom>
        </p:spPr>
      </p:pic>
      <p:sp>
        <p:nvSpPr>
          <p:cNvPr id="5" name="Rectangle 4"/>
          <p:cNvSpPr/>
          <p:nvPr/>
        </p:nvSpPr>
        <p:spPr>
          <a:xfrm>
            <a:off x="304800" y="1143000"/>
            <a:ext cx="8686800" cy="707886"/>
          </a:xfrm>
          <a:prstGeom prst="rect">
            <a:avLst/>
          </a:prstGeom>
          <a:solidFill>
            <a:schemeClr val="tx2">
              <a:lumMod val="20000"/>
              <a:lumOff val="80000"/>
            </a:schemeClr>
          </a:solidFill>
        </p:spPr>
        <p:txBody>
          <a:bodyPr wrap="square">
            <a:spAutoFit/>
          </a:bodyPr>
          <a:lstStyle/>
          <a:p>
            <a:r>
              <a:rPr lang="en-US" b="1" dirty="0">
                <a:solidFill>
                  <a:srgbClr val="231F20"/>
                </a:solidFill>
                <a:latin typeface="Times-Roman"/>
              </a:rPr>
              <a:t>Component analysis</a:t>
            </a:r>
            <a:r>
              <a:rPr lang="en-US" dirty="0">
                <a:solidFill>
                  <a:srgbClr val="231F20"/>
                </a:solidFill>
                <a:latin typeface="Times-Roman"/>
              </a:rPr>
              <a:t>: </a:t>
            </a:r>
            <a:r>
              <a:rPr lang="en-US" sz="2000" dirty="0">
                <a:solidFill>
                  <a:srgbClr val="231F20"/>
                </a:solidFill>
                <a:latin typeface="Times-Roman"/>
              </a:rPr>
              <a:t>a search is made for components to implement that specification. Usually, there is no exact match</a:t>
            </a:r>
            <a:endParaRPr lang="en-US" sz="2000" dirty="0"/>
          </a:p>
        </p:txBody>
      </p:sp>
      <p:sp>
        <p:nvSpPr>
          <p:cNvPr id="8" name="Rectangle 7"/>
          <p:cNvSpPr/>
          <p:nvPr/>
        </p:nvSpPr>
        <p:spPr>
          <a:xfrm>
            <a:off x="228600" y="1944469"/>
            <a:ext cx="8915400" cy="677108"/>
          </a:xfrm>
          <a:prstGeom prst="rect">
            <a:avLst/>
          </a:prstGeom>
          <a:solidFill>
            <a:schemeClr val="tx2">
              <a:lumMod val="20000"/>
              <a:lumOff val="80000"/>
            </a:schemeClr>
          </a:solidFill>
        </p:spPr>
        <p:txBody>
          <a:bodyPr wrap="square">
            <a:spAutoFit/>
          </a:bodyPr>
          <a:lstStyle/>
          <a:p>
            <a:r>
              <a:rPr lang="en-US" sz="1900" b="1" i="1" dirty="0">
                <a:solidFill>
                  <a:srgbClr val="231F20"/>
                </a:solidFill>
                <a:latin typeface="Times-Italic"/>
              </a:rPr>
              <a:t>Requirements modification</a:t>
            </a:r>
            <a:r>
              <a:rPr lang="en-US" sz="1900" i="1" dirty="0">
                <a:solidFill>
                  <a:srgbClr val="231F20"/>
                </a:solidFill>
                <a:latin typeface="Times-Italic"/>
              </a:rPr>
              <a:t> </a:t>
            </a:r>
            <a:r>
              <a:rPr lang="en-US" sz="1900" dirty="0">
                <a:solidFill>
                  <a:srgbClr val="231F20"/>
                </a:solidFill>
                <a:latin typeface="Times-Roman"/>
              </a:rPr>
              <a:t>the requirements are analyzed using information about the components that have been discovered. They are then modified</a:t>
            </a:r>
            <a:endParaRPr lang="en-US" sz="1900" dirty="0"/>
          </a:p>
        </p:txBody>
      </p:sp>
      <p:sp>
        <p:nvSpPr>
          <p:cNvPr id="9" name="Rectangle 8"/>
          <p:cNvSpPr/>
          <p:nvPr/>
        </p:nvSpPr>
        <p:spPr>
          <a:xfrm>
            <a:off x="152400" y="4495800"/>
            <a:ext cx="8716963" cy="923330"/>
          </a:xfrm>
          <a:prstGeom prst="rect">
            <a:avLst/>
          </a:prstGeom>
          <a:solidFill>
            <a:schemeClr val="tx2">
              <a:lumMod val="20000"/>
              <a:lumOff val="80000"/>
            </a:schemeClr>
          </a:solidFill>
        </p:spPr>
        <p:txBody>
          <a:bodyPr wrap="square">
            <a:spAutoFit/>
          </a:bodyPr>
          <a:lstStyle/>
          <a:p>
            <a:pPr algn="just"/>
            <a:r>
              <a:rPr lang="en-US" b="1" i="1" dirty="0">
                <a:solidFill>
                  <a:srgbClr val="231F20"/>
                </a:solidFill>
                <a:latin typeface="Times-Italic"/>
              </a:rPr>
              <a:t>System design with reuse:</a:t>
            </a:r>
            <a:r>
              <a:rPr lang="en-US" i="1" dirty="0">
                <a:solidFill>
                  <a:srgbClr val="231F20"/>
                </a:solidFill>
                <a:latin typeface="Times-Italic"/>
              </a:rPr>
              <a:t> F</a:t>
            </a:r>
            <a:r>
              <a:rPr lang="en-US" dirty="0">
                <a:solidFill>
                  <a:srgbClr val="231F20"/>
                </a:solidFill>
                <a:latin typeface="Times-Roman"/>
              </a:rPr>
              <a:t>ramework of the system is designed, or an existing framework is reused by </a:t>
            </a:r>
            <a:r>
              <a:rPr lang="en-US" dirty="0"/>
              <a:t>taking into account the components that are reused. if reusable components not available, some new software may have to be designed</a:t>
            </a:r>
          </a:p>
        </p:txBody>
      </p:sp>
      <p:sp>
        <p:nvSpPr>
          <p:cNvPr id="10" name="Rectangle 9"/>
          <p:cNvSpPr/>
          <p:nvPr/>
        </p:nvSpPr>
        <p:spPr>
          <a:xfrm>
            <a:off x="122238" y="5486400"/>
            <a:ext cx="8823326" cy="923330"/>
          </a:xfrm>
          <a:prstGeom prst="rect">
            <a:avLst/>
          </a:prstGeom>
          <a:solidFill>
            <a:schemeClr val="tx2">
              <a:lumMod val="20000"/>
              <a:lumOff val="80000"/>
            </a:schemeClr>
          </a:solidFill>
        </p:spPr>
        <p:txBody>
          <a:bodyPr wrap="square">
            <a:spAutoFit/>
          </a:bodyPr>
          <a:lstStyle/>
          <a:p>
            <a:r>
              <a:rPr lang="en-US" b="1" i="1" dirty="0">
                <a:solidFill>
                  <a:srgbClr val="231F20"/>
                </a:solidFill>
                <a:latin typeface="Times-Italic"/>
              </a:rPr>
              <a:t>Development and integration</a:t>
            </a:r>
            <a:r>
              <a:rPr lang="en-US" i="1" dirty="0">
                <a:solidFill>
                  <a:srgbClr val="231F20"/>
                </a:solidFill>
                <a:latin typeface="Times-Italic"/>
              </a:rPr>
              <a:t> </a:t>
            </a:r>
            <a:r>
              <a:rPr lang="en-US" dirty="0">
                <a:solidFill>
                  <a:srgbClr val="231F20"/>
                </a:solidFill>
                <a:latin typeface="Times-Roman"/>
              </a:rPr>
              <a:t>Software that cannot be externally procured is</a:t>
            </a:r>
          </a:p>
          <a:p>
            <a:r>
              <a:rPr lang="en-US" dirty="0">
                <a:solidFill>
                  <a:srgbClr val="231F20"/>
                </a:solidFill>
                <a:latin typeface="Times-Roman"/>
              </a:rPr>
              <a:t>developed, and the components and COTS systems are integrated to create the</a:t>
            </a:r>
          </a:p>
          <a:p>
            <a:r>
              <a:rPr lang="en-US" dirty="0">
                <a:solidFill>
                  <a:srgbClr val="231F20"/>
                </a:solidFill>
                <a:latin typeface="Times-Roman"/>
              </a:rPr>
              <a:t>new system.</a:t>
            </a:r>
            <a:endParaRPr lang="en-US" dirty="0"/>
          </a:p>
        </p:txBody>
      </p:sp>
    </p:spTree>
    <p:extLst>
      <p:ext uri="{BB962C8B-B14F-4D97-AF65-F5344CB8AC3E}">
        <p14:creationId xmlns:p14="http://schemas.microsoft.com/office/powerpoint/2010/main" val="6507348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ppt_x"/>
                                          </p:val>
                                        </p:tav>
                                        <p:tav tm="100000">
                                          <p:val>
                                            <p:strVal val="#ppt_x"/>
                                          </p:val>
                                        </p:tav>
                                      </p:tavLst>
                                    </p:anim>
                                    <p:anim calcmode="lin" valueType="num">
                                      <p:cBhvr additive="base">
                                        <p:cTn id="2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additive="base">
                                        <p:cTn id="25" dur="500" fill="hold"/>
                                        <p:tgtEl>
                                          <p:spTgt spid="10"/>
                                        </p:tgtEl>
                                        <p:attrNameLst>
                                          <p:attrName>ppt_x</p:attrName>
                                        </p:attrNameLst>
                                      </p:cBhvr>
                                      <p:tavLst>
                                        <p:tav tm="0">
                                          <p:val>
                                            <p:strVal val="#ppt_x"/>
                                          </p:val>
                                        </p:tav>
                                        <p:tav tm="100000">
                                          <p:val>
                                            <p:strVal val="#ppt_x"/>
                                          </p:val>
                                        </p:tav>
                                      </p:tavLst>
                                    </p:anim>
                                    <p:anim calcmode="lin" valueType="num">
                                      <p:cBhvr additive="base">
                                        <p:cTn id="26"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animBg="1"/>
      <p:bldP spid="9" grpId="0" animBg="1"/>
      <p:bldP spid="10"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457200"/>
            <a:ext cx="7772400" cy="1371600"/>
          </a:xfrm>
        </p:spPr>
        <p:txBody>
          <a:bodyPr/>
          <a:lstStyle/>
          <a:p>
            <a:r>
              <a:rPr lang="en-US" dirty="0"/>
              <a:t>Types of software component that may be used in a reuse-oriented process:</a:t>
            </a:r>
          </a:p>
        </p:txBody>
      </p:sp>
      <p:sp>
        <p:nvSpPr>
          <p:cNvPr id="3" name="Content Placeholder 2"/>
          <p:cNvSpPr>
            <a:spLocks noGrp="1"/>
          </p:cNvSpPr>
          <p:nvPr>
            <p:ph idx="1"/>
          </p:nvPr>
        </p:nvSpPr>
        <p:spPr>
          <a:xfrm>
            <a:off x="990600" y="2286000"/>
            <a:ext cx="7772400" cy="4114800"/>
          </a:xfrm>
        </p:spPr>
        <p:txBody>
          <a:bodyPr/>
          <a:lstStyle/>
          <a:p>
            <a:pPr>
              <a:buFont typeface="Wingdings" panose="05000000000000000000" pitchFamily="2" charset="2"/>
              <a:buChar char="q"/>
            </a:pPr>
            <a:r>
              <a:rPr lang="en-GB" sz="2800" dirty="0"/>
              <a:t>Web services that are developed according to service standards and which are available for remote invocation. </a:t>
            </a:r>
          </a:p>
          <a:p>
            <a:pPr>
              <a:buFont typeface="Wingdings" panose="05000000000000000000" pitchFamily="2" charset="2"/>
              <a:buChar char="q"/>
            </a:pPr>
            <a:r>
              <a:rPr lang="en-GB" sz="2800" dirty="0"/>
              <a:t>Collections of objects that are developed as a package to be integrated with a component framework.</a:t>
            </a:r>
          </a:p>
          <a:p>
            <a:pPr>
              <a:buFont typeface="Wingdings" panose="05000000000000000000" pitchFamily="2" charset="2"/>
              <a:buChar char="q"/>
            </a:pPr>
            <a:r>
              <a:rPr lang="en-GB" sz="2800" dirty="0"/>
              <a:t>Stand-alone software systems (COTS) that are configured for use in a particular environment.</a:t>
            </a:r>
          </a:p>
          <a:p>
            <a:pPr>
              <a:buFont typeface="Wingdings" panose="05000000000000000000" pitchFamily="2" charset="2"/>
              <a:buChar char="q"/>
            </a:pPr>
            <a:endParaRPr lang="en-US" sz="2800" dirty="0"/>
          </a:p>
        </p:txBody>
      </p:sp>
    </p:spTree>
    <p:extLst>
      <p:ext uri="{BB962C8B-B14F-4D97-AF65-F5344CB8AC3E}">
        <p14:creationId xmlns:p14="http://schemas.microsoft.com/office/powerpoint/2010/main" val="18707295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304800"/>
            <a:ext cx="7772400" cy="1143000"/>
          </a:xfrm>
        </p:spPr>
        <p:txBody>
          <a:bodyPr/>
          <a:lstStyle/>
          <a:p>
            <a:r>
              <a:rPr lang="en-GB" dirty="0"/>
              <a:t>Reuse-oriented SE: Pros and cons</a:t>
            </a:r>
            <a:endParaRPr lang="en-US" dirty="0"/>
          </a:p>
        </p:txBody>
      </p:sp>
      <p:sp>
        <p:nvSpPr>
          <p:cNvPr id="3" name="Content Placeholder 2"/>
          <p:cNvSpPr>
            <a:spLocks noGrp="1"/>
          </p:cNvSpPr>
          <p:nvPr>
            <p:ph idx="1"/>
          </p:nvPr>
        </p:nvSpPr>
        <p:spPr>
          <a:xfrm>
            <a:off x="1173163" y="1752600"/>
            <a:ext cx="7772400" cy="4114800"/>
          </a:xfrm>
        </p:spPr>
        <p:txBody>
          <a:bodyPr/>
          <a:lstStyle/>
          <a:p>
            <a:pPr algn="just">
              <a:buFont typeface="Wingdings" panose="05000000000000000000" pitchFamily="2" charset="2"/>
              <a:buChar char="q"/>
            </a:pPr>
            <a:r>
              <a:rPr lang="en-US" sz="2400" dirty="0"/>
              <a:t>Reduce the amount of software to be developed and so reducing cost and risks</a:t>
            </a:r>
          </a:p>
          <a:p>
            <a:pPr algn="just">
              <a:buFont typeface="Wingdings" panose="05000000000000000000" pitchFamily="2" charset="2"/>
              <a:buChar char="q"/>
            </a:pPr>
            <a:r>
              <a:rPr lang="en-US" sz="2400" dirty="0"/>
              <a:t>It usually also leads to faster delivery of the software.</a:t>
            </a:r>
          </a:p>
          <a:p>
            <a:pPr algn="just">
              <a:buFont typeface="Wingdings" panose="05000000000000000000" pitchFamily="2" charset="2"/>
              <a:buChar char="q"/>
            </a:pPr>
            <a:r>
              <a:rPr lang="en-US" sz="2400" dirty="0"/>
              <a:t>Requirements compromises are inevitable, and this may lead to a system that does not meet the real needs of users</a:t>
            </a:r>
          </a:p>
          <a:p>
            <a:pPr algn="just">
              <a:buFont typeface="Wingdings" panose="05000000000000000000" pitchFamily="2" charset="2"/>
              <a:buChar char="q"/>
            </a:pPr>
            <a:r>
              <a:rPr lang="en-US" sz="2400" dirty="0"/>
              <a:t>Some control over the system evolution is lost as new versions of the reusable components are not under the control of the organization using them.</a:t>
            </a:r>
          </a:p>
        </p:txBody>
      </p:sp>
    </p:spTree>
    <p:extLst>
      <p:ext uri="{BB962C8B-B14F-4D97-AF65-F5344CB8AC3E}">
        <p14:creationId xmlns:p14="http://schemas.microsoft.com/office/powerpoint/2010/main" val="25174077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381000"/>
            <a:ext cx="7772400" cy="1143000"/>
          </a:xfrm>
        </p:spPr>
        <p:txBody>
          <a:bodyPr/>
          <a:lstStyle/>
          <a:p>
            <a:r>
              <a:rPr lang="en-US" dirty="0"/>
              <a:t>Software Process activities</a:t>
            </a:r>
          </a:p>
        </p:txBody>
      </p:sp>
      <p:sp>
        <p:nvSpPr>
          <p:cNvPr id="3" name="Content Placeholder 2"/>
          <p:cNvSpPr>
            <a:spLocks noGrp="1"/>
          </p:cNvSpPr>
          <p:nvPr>
            <p:ph idx="1"/>
          </p:nvPr>
        </p:nvSpPr>
        <p:spPr>
          <a:xfrm>
            <a:off x="1173163" y="1676400"/>
            <a:ext cx="7772400" cy="4114800"/>
          </a:xfrm>
        </p:spPr>
        <p:txBody>
          <a:bodyPr/>
          <a:lstStyle/>
          <a:p>
            <a:pPr algn="just">
              <a:buFont typeface="Wingdings" panose="05000000000000000000" pitchFamily="2" charset="2"/>
              <a:buChar char="q"/>
            </a:pPr>
            <a:r>
              <a:rPr lang="en-GB" sz="2400" dirty="0"/>
              <a:t>Real software processes are sequences of </a:t>
            </a:r>
            <a:r>
              <a:rPr lang="en-GB" sz="2400" b="1" dirty="0"/>
              <a:t>technical</a:t>
            </a:r>
            <a:r>
              <a:rPr lang="en-GB" sz="2400" dirty="0"/>
              <a:t>, </a:t>
            </a:r>
            <a:r>
              <a:rPr lang="en-GB" sz="2400" b="1" dirty="0"/>
              <a:t>collaborative</a:t>
            </a:r>
            <a:r>
              <a:rPr lang="en-GB" sz="2400" dirty="0"/>
              <a:t> and </a:t>
            </a:r>
            <a:r>
              <a:rPr lang="en-GB" sz="2400" b="1" dirty="0"/>
              <a:t>managerial</a:t>
            </a:r>
            <a:r>
              <a:rPr lang="en-GB" sz="2400" dirty="0"/>
              <a:t> activities with the overall goal of specifying, designing, implementing and testing a software system. </a:t>
            </a:r>
          </a:p>
          <a:p>
            <a:pPr algn="just">
              <a:buFont typeface="Wingdings" panose="05000000000000000000" pitchFamily="2" charset="2"/>
              <a:buChar char="q"/>
            </a:pPr>
            <a:r>
              <a:rPr lang="en-GB" sz="2400" dirty="0"/>
              <a:t>The four basic process activities of </a:t>
            </a:r>
            <a:r>
              <a:rPr lang="en-GB" sz="2400" b="1" dirty="0"/>
              <a:t>specification</a:t>
            </a:r>
            <a:r>
              <a:rPr lang="en-GB" sz="2400" dirty="0"/>
              <a:t>, </a:t>
            </a:r>
            <a:r>
              <a:rPr lang="en-GB" sz="2400" b="1" dirty="0"/>
              <a:t>development</a:t>
            </a:r>
            <a:r>
              <a:rPr lang="en-GB" sz="2400" dirty="0"/>
              <a:t>, </a:t>
            </a:r>
            <a:r>
              <a:rPr lang="en-GB" sz="2400" b="1" dirty="0"/>
              <a:t>validation</a:t>
            </a:r>
            <a:r>
              <a:rPr lang="en-GB" sz="2400" dirty="0"/>
              <a:t> and </a:t>
            </a:r>
            <a:r>
              <a:rPr lang="en-GB" sz="2400" b="1" dirty="0"/>
              <a:t>evolution</a:t>
            </a:r>
            <a:r>
              <a:rPr lang="en-GB" sz="2400" dirty="0"/>
              <a:t> are organized differently in different development processes. In the waterfall model, they are organized in sequence, whereas in incremental development they are inter-leaved.</a:t>
            </a:r>
            <a:endParaRPr lang="en-US" sz="2400" dirty="0"/>
          </a:p>
        </p:txBody>
      </p:sp>
    </p:spTree>
    <p:extLst>
      <p:ext uri="{BB962C8B-B14F-4D97-AF65-F5344CB8AC3E}">
        <p14:creationId xmlns:p14="http://schemas.microsoft.com/office/powerpoint/2010/main" val="2396256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0" y="0"/>
            <a:ext cx="7772400" cy="1143000"/>
          </a:xfrm>
        </p:spPr>
        <p:txBody>
          <a:bodyPr/>
          <a:lstStyle/>
          <a:p>
            <a:r>
              <a:rPr lang="en-GB" dirty="0"/>
              <a:t>Software specification</a:t>
            </a:r>
            <a:endParaRPr lang="en-US" dirty="0"/>
          </a:p>
        </p:txBody>
      </p:sp>
      <p:sp>
        <p:nvSpPr>
          <p:cNvPr id="3" name="Content Placeholder 2"/>
          <p:cNvSpPr>
            <a:spLocks noGrp="1"/>
          </p:cNvSpPr>
          <p:nvPr>
            <p:ph idx="1"/>
          </p:nvPr>
        </p:nvSpPr>
        <p:spPr>
          <a:xfrm>
            <a:off x="1127078" y="886239"/>
            <a:ext cx="7772400" cy="4495800"/>
          </a:xfrm>
        </p:spPr>
        <p:txBody>
          <a:bodyPr/>
          <a:lstStyle/>
          <a:p>
            <a:pPr algn="just">
              <a:buFont typeface="Wingdings" panose="05000000000000000000" pitchFamily="2" charset="2"/>
              <a:buChar char="q"/>
            </a:pPr>
            <a:r>
              <a:rPr lang="en-US" sz="1800" dirty="0"/>
              <a:t>Software specification or requirements engineering is the process of understanding and defining what services are required from the system and identifying the constraints on the system’s operation and development</a:t>
            </a:r>
            <a:r>
              <a:rPr lang="en-GB" sz="1800" dirty="0"/>
              <a:t>.</a:t>
            </a:r>
          </a:p>
          <a:p>
            <a:pPr algn="just">
              <a:buFont typeface="Wingdings" panose="05000000000000000000" pitchFamily="2" charset="2"/>
              <a:buChar char="q"/>
            </a:pPr>
            <a:r>
              <a:rPr lang="en-GB" sz="1600" dirty="0"/>
              <a:t>Requirements engineering process</a:t>
            </a:r>
          </a:p>
          <a:p>
            <a:pPr lvl="1" algn="just">
              <a:buFont typeface="Wingdings" panose="05000000000000000000" pitchFamily="2" charset="2"/>
              <a:buChar char="q"/>
            </a:pPr>
            <a:r>
              <a:rPr lang="en-GB" sz="1600" dirty="0"/>
              <a:t>Feasibility study</a:t>
            </a:r>
          </a:p>
          <a:p>
            <a:pPr lvl="2" algn="just">
              <a:buFont typeface="Wingdings" panose="05000000000000000000" pitchFamily="2" charset="2"/>
              <a:buChar char="q"/>
            </a:pPr>
            <a:r>
              <a:rPr lang="en-GB" sz="1600" dirty="0"/>
              <a:t>Is it technically and financially feasible to build the system?</a:t>
            </a:r>
          </a:p>
          <a:p>
            <a:pPr lvl="1" algn="just">
              <a:buFont typeface="Wingdings" panose="05000000000000000000" pitchFamily="2" charset="2"/>
              <a:buChar char="q"/>
            </a:pPr>
            <a:r>
              <a:rPr lang="en-GB" sz="1600" dirty="0"/>
              <a:t>Requirements elicitation and analysis</a:t>
            </a:r>
          </a:p>
          <a:p>
            <a:pPr lvl="2" algn="just">
              <a:buFont typeface="Wingdings" panose="05000000000000000000" pitchFamily="2" charset="2"/>
              <a:buChar char="q"/>
            </a:pPr>
            <a:r>
              <a:rPr lang="en-GB" sz="1600" dirty="0"/>
              <a:t>What do the system stakeholders require or expect from the system? </a:t>
            </a:r>
            <a:r>
              <a:rPr lang="en-US" sz="1600" dirty="0"/>
              <a:t>This may involve the development of one or more system models and prototypes. These help you understand the system to be specified</a:t>
            </a:r>
            <a:endParaRPr lang="en-GB" sz="1600" dirty="0"/>
          </a:p>
          <a:p>
            <a:pPr lvl="1" algn="just">
              <a:buFont typeface="Wingdings" panose="05000000000000000000" pitchFamily="2" charset="2"/>
              <a:buChar char="q"/>
            </a:pPr>
            <a:r>
              <a:rPr lang="en-GB" sz="1600" dirty="0"/>
              <a:t>Requirements specification	</a:t>
            </a:r>
          </a:p>
          <a:p>
            <a:pPr lvl="2" algn="just">
              <a:buFont typeface="Wingdings" panose="05000000000000000000" pitchFamily="2" charset="2"/>
              <a:buChar char="q"/>
            </a:pPr>
            <a:r>
              <a:rPr lang="en-GB" sz="1600" dirty="0"/>
              <a:t>Defining the requirements in detail. </a:t>
            </a:r>
            <a:r>
              <a:rPr lang="en-US" sz="1600" b="1" dirty="0"/>
              <a:t>User requirements </a:t>
            </a:r>
            <a:r>
              <a:rPr lang="en-US" sz="1600" dirty="0"/>
              <a:t>are abstract statements of the system requirements for the customer and end-user of the system; </a:t>
            </a:r>
            <a:r>
              <a:rPr lang="en-US" sz="1600" b="1" dirty="0"/>
              <a:t>system requirements </a:t>
            </a:r>
            <a:r>
              <a:rPr lang="en-US" sz="1600" dirty="0"/>
              <a:t>are a more detailed description of the functionality to be provided.</a:t>
            </a:r>
            <a:endParaRPr lang="en-GB" sz="1600" dirty="0"/>
          </a:p>
          <a:p>
            <a:pPr lvl="1" algn="just">
              <a:buFont typeface="Wingdings" panose="05000000000000000000" pitchFamily="2" charset="2"/>
              <a:buChar char="q"/>
            </a:pPr>
            <a:r>
              <a:rPr lang="en-GB" sz="1600" dirty="0"/>
              <a:t>Requirements validation</a:t>
            </a:r>
          </a:p>
          <a:p>
            <a:pPr lvl="2" algn="just">
              <a:buFont typeface="Wingdings" panose="05000000000000000000" pitchFamily="2" charset="2"/>
              <a:buChar char="q"/>
            </a:pPr>
            <a:r>
              <a:rPr lang="en-GB" sz="1600" dirty="0"/>
              <a:t>Checking the requirements for consistency and completeness. </a:t>
            </a:r>
            <a:r>
              <a:rPr lang="en-US" sz="1600" dirty="0"/>
              <a:t>During this process, errors in the requirements document are inevitably discovered.</a:t>
            </a:r>
            <a:endParaRPr lang="en-GB" sz="1600" dirty="0"/>
          </a:p>
          <a:p>
            <a:pPr algn="just">
              <a:buFont typeface="Wingdings" panose="05000000000000000000" pitchFamily="2" charset="2"/>
              <a:buChar char="q"/>
            </a:pPr>
            <a:endParaRPr lang="en-US" sz="2000" dirty="0"/>
          </a:p>
        </p:txBody>
      </p:sp>
      <p:sp>
        <p:nvSpPr>
          <p:cNvPr id="4" name="Rounded Rectangle 3"/>
          <p:cNvSpPr/>
          <p:nvPr/>
        </p:nvSpPr>
        <p:spPr bwMode="auto">
          <a:xfrm>
            <a:off x="304800" y="228600"/>
            <a:ext cx="838200" cy="1295400"/>
          </a:xfrm>
          <a:prstGeom prst="roundRect">
            <a:avLst>
              <a:gd name="adj" fmla="val 42538"/>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vert"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a:ln>
                  <a:noFill/>
                </a:ln>
                <a:solidFill>
                  <a:schemeClr val="tx1"/>
                </a:solidFill>
                <a:effectLst/>
                <a:latin typeface="Times New Roman" panose="02020603050405020304" pitchFamily="18" charset="0"/>
              </a:rPr>
              <a:t>Feasibility study</a:t>
            </a:r>
          </a:p>
        </p:txBody>
      </p:sp>
      <p:sp>
        <p:nvSpPr>
          <p:cNvPr id="5" name="Rounded Rectangle 4"/>
          <p:cNvSpPr/>
          <p:nvPr/>
        </p:nvSpPr>
        <p:spPr bwMode="auto">
          <a:xfrm>
            <a:off x="304800" y="1828800"/>
            <a:ext cx="822278" cy="1447800"/>
          </a:xfrm>
          <a:prstGeom prst="roundRect">
            <a:avLst>
              <a:gd name="adj" fmla="val 42538"/>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vert"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err="1">
                <a:ln>
                  <a:noFill/>
                </a:ln>
                <a:solidFill>
                  <a:schemeClr val="tx1"/>
                </a:solidFill>
                <a:effectLst/>
                <a:latin typeface="Times New Roman" panose="02020603050405020304" pitchFamily="18" charset="0"/>
              </a:rPr>
              <a:t>Req</a:t>
            </a:r>
            <a:r>
              <a:rPr kumimoji="0" lang="en-US" b="0" i="0" u="none" strike="noStrike" cap="none" normalizeH="0" baseline="0" dirty="0">
                <a:ln>
                  <a:noFill/>
                </a:ln>
                <a:solidFill>
                  <a:schemeClr val="tx1"/>
                </a:solidFill>
                <a:effectLst/>
                <a:latin typeface="Times New Roman" panose="02020603050405020304" pitchFamily="18" charset="0"/>
              </a:rPr>
              <a:t> Elicit</a:t>
            </a:r>
            <a:r>
              <a:rPr kumimoji="0" lang="en-US" b="0" i="0" u="none" strike="noStrike" cap="none" normalizeH="0" dirty="0">
                <a:ln>
                  <a:noFill/>
                </a:ln>
                <a:solidFill>
                  <a:schemeClr val="tx1"/>
                </a:solidFill>
                <a:effectLst/>
                <a:latin typeface="Times New Roman" panose="02020603050405020304" pitchFamily="18" charset="0"/>
              </a:rPr>
              <a:t> and analysis</a:t>
            </a:r>
            <a:endParaRPr kumimoji="0" lang="en-US" b="0" i="0" u="none" strike="noStrike" cap="none" normalizeH="0" baseline="0" dirty="0">
              <a:ln>
                <a:noFill/>
              </a:ln>
              <a:solidFill>
                <a:schemeClr val="tx1"/>
              </a:solidFill>
              <a:effectLst/>
              <a:latin typeface="Times New Roman" panose="02020603050405020304" pitchFamily="18" charset="0"/>
            </a:endParaRPr>
          </a:p>
        </p:txBody>
      </p:sp>
      <p:sp>
        <p:nvSpPr>
          <p:cNvPr id="6" name="Rounded Rectangle 5"/>
          <p:cNvSpPr/>
          <p:nvPr/>
        </p:nvSpPr>
        <p:spPr bwMode="auto">
          <a:xfrm>
            <a:off x="304800" y="3505200"/>
            <a:ext cx="838200" cy="1600200"/>
          </a:xfrm>
          <a:prstGeom prst="roundRect">
            <a:avLst>
              <a:gd name="adj" fmla="val 42538"/>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vert"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err="1">
                <a:ln>
                  <a:noFill/>
                </a:ln>
                <a:solidFill>
                  <a:schemeClr val="tx1"/>
                </a:solidFill>
                <a:effectLst/>
                <a:latin typeface="Times New Roman" panose="02020603050405020304" pitchFamily="18" charset="0"/>
              </a:rPr>
              <a:t>Req</a:t>
            </a:r>
            <a:r>
              <a:rPr kumimoji="0" lang="en-US" b="0" i="0" u="none" strike="noStrike" cap="none" normalizeH="0" baseline="0" dirty="0">
                <a:ln>
                  <a:noFill/>
                </a:ln>
                <a:solidFill>
                  <a:schemeClr val="tx1"/>
                </a:solidFill>
                <a:effectLst/>
                <a:latin typeface="Times New Roman" panose="02020603050405020304" pitchFamily="18" charset="0"/>
              </a:rPr>
              <a:t> Specification</a:t>
            </a:r>
          </a:p>
        </p:txBody>
      </p:sp>
      <p:sp>
        <p:nvSpPr>
          <p:cNvPr id="7" name="Rounded Rectangle 6"/>
          <p:cNvSpPr/>
          <p:nvPr/>
        </p:nvSpPr>
        <p:spPr bwMode="auto">
          <a:xfrm>
            <a:off x="304800" y="5257800"/>
            <a:ext cx="838200" cy="1447800"/>
          </a:xfrm>
          <a:prstGeom prst="roundRect">
            <a:avLst>
              <a:gd name="adj" fmla="val 42538"/>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vert"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err="1">
                <a:ln>
                  <a:noFill/>
                </a:ln>
                <a:solidFill>
                  <a:schemeClr val="tx1"/>
                </a:solidFill>
                <a:effectLst/>
                <a:latin typeface="Times New Roman" panose="02020603050405020304" pitchFamily="18" charset="0"/>
              </a:rPr>
              <a:t>Req</a:t>
            </a:r>
            <a:r>
              <a:rPr kumimoji="0" lang="en-US" b="0" i="0" u="none" strike="noStrike" cap="none" normalizeH="0" baseline="0" dirty="0">
                <a:ln>
                  <a:noFill/>
                </a:ln>
                <a:solidFill>
                  <a:schemeClr val="tx1"/>
                </a:solidFill>
                <a:effectLst/>
                <a:latin typeface="Times New Roman" panose="02020603050405020304" pitchFamily="18" charset="0"/>
              </a:rPr>
              <a:t> Validation</a:t>
            </a:r>
          </a:p>
        </p:txBody>
      </p:sp>
      <p:cxnSp>
        <p:nvCxnSpPr>
          <p:cNvPr id="9" name="Straight Arrow Connector 8"/>
          <p:cNvCxnSpPr/>
          <p:nvPr/>
        </p:nvCxnSpPr>
        <p:spPr bwMode="auto">
          <a:xfrm>
            <a:off x="1219200" y="457200"/>
            <a:ext cx="1" cy="6019800"/>
          </a:xfrm>
          <a:prstGeom prst="straightConnector1">
            <a:avLst/>
          </a:prstGeom>
          <a:solidFill>
            <a:schemeClr val="accent1"/>
          </a:solidFill>
          <a:ln w="38100" cap="flat" cmpd="sng" algn="ctr">
            <a:solidFill>
              <a:schemeClr val="tx1"/>
            </a:solidFill>
            <a:prstDash val="solid"/>
            <a:round/>
            <a:headEnd type="none" w="med" len="med"/>
            <a:tailEnd type="triangl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2499190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 calcmode="lin" valueType="num">
                                      <p:cBhvr additive="base">
                                        <p:cTn id="3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 calcmode="lin" valueType="num">
                                      <p:cBhvr additive="base">
                                        <p:cTn id="3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7" end="7"/>
                                            </p:txEl>
                                          </p:spTgt>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3">
                                            <p:txEl>
                                              <p:pRg st="8" end="8"/>
                                            </p:txEl>
                                          </p:spTgt>
                                        </p:tgtEl>
                                        <p:attrNameLst>
                                          <p:attrName>style.visibility</p:attrName>
                                        </p:attrNameLst>
                                      </p:cBhvr>
                                      <p:to>
                                        <p:strVal val="visible"/>
                                      </p:to>
                                    </p:set>
                                    <p:anim calcmode="lin" valueType="num">
                                      <p:cBhvr additive="base">
                                        <p:cTn id="41"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
                                            <p:txEl>
                                              <p:pRg st="8" end="8"/>
                                            </p:txEl>
                                          </p:spTgt>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3">
                                            <p:txEl>
                                              <p:pRg st="9" end="9"/>
                                            </p:txEl>
                                          </p:spTgt>
                                        </p:tgtEl>
                                        <p:attrNameLst>
                                          <p:attrName>style.visibility</p:attrName>
                                        </p:attrNameLst>
                                      </p:cBhvr>
                                      <p:to>
                                        <p:strVal val="visible"/>
                                      </p:to>
                                    </p:set>
                                    <p:anim calcmode="lin" valueType="num">
                                      <p:cBhvr additive="base">
                                        <p:cTn id="45"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600" dirty="0"/>
              <a:t>The requirements engineering process</a:t>
            </a:r>
            <a:br>
              <a:rPr lang="en-GB" sz="3600" dirty="0"/>
            </a:br>
            <a:endParaRPr lang="en-US" sz="3600" dirty="0"/>
          </a:p>
        </p:txBody>
      </p:sp>
      <p:pic>
        <p:nvPicPr>
          <p:cNvPr id="4" name="Picture 3" descr="2.4 RE-process.eps"/>
          <p:cNvPicPr>
            <a:picLocks noChangeAspect="1"/>
          </p:cNvPicPr>
          <p:nvPr/>
        </p:nvPicPr>
        <p:blipFill>
          <a:blip r:embed="rId2" cstate="print"/>
          <a:stretch>
            <a:fillRect/>
          </a:stretch>
        </p:blipFill>
        <p:spPr>
          <a:xfrm>
            <a:off x="784268" y="2084840"/>
            <a:ext cx="7395542" cy="3859548"/>
          </a:xfrm>
          <a:prstGeom prst="rect">
            <a:avLst/>
          </a:prstGeom>
        </p:spPr>
      </p:pic>
    </p:spTree>
    <p:extLst>
      <p:ext uri="{BB962C8B-B14F-4D97-AF65-F5344CB8AC3E}">
        <p14:creationId xmlns:p14="http://schemas.microsoft.com/office/powerpoint/2010/main" val="7984696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4000" dirty="0"/>
              <a:t>Software design and implementation</a:t>
            </a:r>
            <a:endParaRPr lang="en-US" sz="4000" dirty="0"/>
          </a:p>
        </p:txBody>
      </p:sp>
      <p:sp>
        <p:nvSpPr>
          <p:cNvPr id="3" name="Content Placeholder 2"/>
          <p:cNvSpPr>
            <a:spLocks noGrp="1"/>
          </p:cNvSpPr>
          <p:nvPr>
            <p:ph idx="1"/>
          </p:nvPr>
        </p:nvSpPr>
        <p:spPr>
          <a:xfrm>
            <a:off x="685800" y="1600200"/>
            <a:ext cx="8259763" cy="4267200"/>
          </a:xfrm>
        </p:spPr>
        <p:txBody>
          <a:bodyPr/>
          <a:lstStyle/>
          <a:p>
            <a:pPr algn="just">
              <a:buFont typeface="Wingdings" panose="05000000000000000000" pitchFamily="2" charset="2"/>
              <a:buChar char="q"/>
            </a:pPr>
            <a:r>
              <a:rPr lang="en-GB" sz="2400" dirty="0"/>
              <a:t>The process of converting the system specification into an executable system.</a:t>
            </a:r>
          </a:p>
          <a:p>
            <a:pPr algn="just">
              <a:buFont typeface="Wingdings" panose="05000000000000000000" pitchFamily="2" charset="2"/>
              <a:buChar char="q"/>
            </a:pPr>
            <a:r>
              <a:rPr lang="en-GB" sz="2400" dirty="0"/>
              <a:t>Software design</a:t>
            </a:r>
          </a:p>
          <a:p>
            <a:pPr lvl="1" algn="just">
              <a:buFont typeface="Wingdings" panose="05000000000000000000" pitchFamily="2" charset="2"/>
              <a:buChar char="q"/>
            </a:pPr>
            <a:r>
              <a:rPr lang="en-GB" sz="2400" dirty="0"/>
              <a:t>Design a software structure that realises the specification; </a:t>
            </a:r>
            <a:r>
              <a:rPr lang="en-US" sz="2400" dirty="0"/>
              <a:t>Designers do not arrive at a finished design immediately but develop the design iteratively.</a:t>
            </a:r>
            <a:endParaRPr lang="en-GB" sz="2400" dirty="0"/>
          </a:p>
          <a:p>
            <a:pPr algn="just">
              <a:buFont typeface="Wingdings" panose="05000000000000000000" pitchFamily="2" charset="2"/>
              <a:buChar char="q"/>
            </a:pPr>
            <a:r>
              <a:rPr lang="en-GB" sz="2400" dirty="0"/>
              <a:t>Implementation</a:t>
            </a:r>
          </a:p>
          <a:p>
            <a:pPr lvl="1" algn="just">
              <a:buFont typeface="Wingdings" panose="05000000000000000000" pitchFamily="2" charset="2"/>
              <a:buChar char="q"/>
            </a:pPr>
            <a:r>
              <a:rPr lang="en-GB" sz="2400" dirty="0"/>
              <a:t>Translate this structure into an executable program;</a:t>
            </a:r>
          </a:p>
          <a:p>
            <a:pPr algn="just">
              <a:buFont typeface="Wingdings" panose="05000000000000000000" pitchFamily="2" charset="2"/>
              <a:buChar char="q"/>
            </a:pPr>
            <a:r>
              <a:rPr lang="en-GB" sz="2400" dirty="0"/>
              <a:t>The activities of design and implementation are closely related and may be inter-leaved.</a:t>
            </a:r>
          </a:p>
          <a:p>
            <a:pPr algn="just">
              <a:buFont typeface="Wingdings" panose="05000000000000000000" pitchFamily="2" charset="2"/>
              <a:buChar char="q"/>
            </a:pPr>
            <a:endParaRPr lang="en-US" sz="2400" dirty="0"/>
          </a:p>
        </p:txBody>
      </p:sp>
    </p:spTree>
    <p:extLst>
      <p:ext uri="{BB962C8B-B14F-4D97-AF65-F5344CB8AC3E}">
        <p14:creationId xmlns:p14="http://schemas.microsoft.com/office/powerpoint/2010/main" val="4205212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600" dirty="0"/>
              <a:t>A general model of the design process </a:t>
            </a:r>
            <a:br>
              <a:rPr lang="en-GB" sz="3600" dirty="0"/>
            </a:br>
            <a:endParaRPr lang="en-US" sz="3600" dirty="0"/>
          </a:p>
        </p:txBody>
      </p:sp>
      <p:pic>
        <p:nvPicPr>
          <p:cNvPr id="4" name="Picture 3" descr="2.5 Design-process.eps"/>
          <p:cNvPicPr>
            <a:picLocks noChangeAspect="1"/>
          </p:cNvPicPr>
          <p:nvPr/>
        </p:nvPicPr>
        <p:blipFill>
          <a:blip r:embed="rId2" cstate="print"/>
          <a:stretch>
            <a:fillRect/>
          </a:stretch>
        </p:blipFill>
        <p:spPr>
          <a:xfrm>
            <a:off x="1314243" y="1638390"/>
            <a:ext cx="6211739" cy="4638099"/>
          </a:xfrm>
          <a:prstGeom prst="rect">
            <a:avLst/>
          </a:prstGeom>
        </p:spPr>
      </p:pic>
    </p:spTree>
    <p:extLst>
      <p:ext uri="{BB962C8B-B14F-4D97-AF65-F5344CB8AC3E}">
        <p14:creationId xmlns:p14="http://schemas.microsoft.com/office/powerpoint/2010/main" val="5423060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22049-EBCE-48BB-96F7-1F502B3A4904}"/>
              </a:ext>
            </a:extLst>
          </p:cNvPr>
          <p:cNvSpPr>
            <a:spLocks noGrp="1"/>
          </p:cNvSpPr>
          <p:nvPr>
            <p:ph type="title"/>
          </p:nvPr>
        </p:nvSpPr>
        <p:spPr/>
        <p:txBody>
          <a:bodyPr/>
          <a:lstStyle/>
          <a:p>
            <a:r>
              <a:rPr lang="en-US" dirty="0"/>
              <a:t>Design inputs</a:t>
            </a:r>
          </a:p>
        </p:txBody>
      </p:sp>
      <p:sp>
        <p:nvSpPr>
          <p:cNvPr id="3" name="Content Placeholder 2">
            <a:extLst>
              <a:ext uri="{FF2B5EF4-FFF2-40B4-BE49-F238E27FC236}">
                <a16:creationId xmlns:a16="http://schemas.microsoft.com/office/drawing/2014/main" id="{7A01CA4A-E1DB-4D23-A762-FD5FD1AD04B0}"/>
              </a:ext>
            </a:extLst>
          </p:cNvPr>
          <p:cNvSpPr>
            <a:spLocks noGrp="1"/>
          </p:cNvSpPr>
          <p:nvPr>
            <p:ph idx="1"/>
          </p:nvPr>
        </p:nvSpPr>
        <p:spPr>
          <a:xfrm>
            <a:off x="1166537" y="1524000"/>
            <a:ext cx="7772400" cy="4114800"/>
          </a:xfrm>
        </p:spPr>
        <p:txBody>
          <a:bodyPr/>
          <a:lstStyle/>
          <a:p>
            <a:pPr marL="0" indent="0">
              <a:buNone/>
            </a:pPr>
            <a:r>
              <a:rPr lang="en-US" sz="2000" b="1" dirty="0"/>
              <a:t>Platform Information</a:t>
            </a:r>
          </a:p>
          <a:p>
            <a:pPr>
              <a:buFont typeface="Wingdings" panose="05000000000000000000" pitchFamily="2" charset="2"/>
              <a:buChar char="q"/>
            </a:pPr>
            <a:r>
              <a:rPr lang="en-US" sz="2000" dirty="0"/>
              <a:t>the environment in which the software will execute. Information about this platform is an essential input to the design process, as designers must decide how best to integrate it with the software’s environment.</a:t>
            </a:r>
          </a:p>
          <a:p>
            <a:pPr marL="0" indent="0">
              <a:buNone/>
            </a:pPr>
            <a:r>
              <a:rPr lang="en-US" sz="2000" b="1" dirty="0"/>
              <a:t>Requirement Specification</a:t>
            </a:r>
          </a:p>
          <a:p>
            <a:pPr>
              <a:buFont typeface="Wingdings" panose="05000000000000000000" pitchFamily="2" charset="2"/>
              <a:buChar char="q"/>
            </a:pPr>
            <a:r>
              <a:rPr lang="en-US" sz="2000" dirty="0"/>
              <a:t>The requirements specification is a description of the functionality the software must provide and its performance and dependability requirements.</a:t>
            </a:r>
          </a:p>
          <a:p>
            <a:pPr marL="0" indent="0">
              <a:buNone/>
            </a:pPr>
            <a:r>
              <a:rPr lang="en-US" sz="2000" b="1" dirty="0"/>
              <a:t>Data Description</a:t>
            </a:r>
          </a:p>
          <a:p>
            <a:pPr>
              <a:buFont typeface="Wingdings" panose="05000000000000000000" pitchFamily="2" charset="2"/>
              <a:buChar char="q"/>
            </a:pPr>
            <a:r>
              <a:rPr lang="en-US" sz="2000" dirty="0"/>
              <a:t>If the system is to process existing data, then the description of that data may be included in the platform specification; otherwise, the data description must be an input to the design process so that the system data organization to be defined.</a:t>
            </a:r>
          </a:p>
        </p:txBody>
      </p:sp>
    </p:spTree>
    <p:extLst>
      <p:ext uri="{BB962C8B-B14F-4D97-AF65-F5344CB8AC3E}">
        <p14:creationId xmlns:p14="http://schemas.microsoft.com/office/powerpoint/2010/main" val="34522851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990600" y="457200"/>
            <a:ext cx="7924800" cy="5940088"/>
          </a:xfrm>
          <a:prstGeom prst="rect">
            <a:avLst/>
          </a:prstGeom>
        </p:spPr>
        <p:txBody>
          <a:bodyPr wrap="square">
            <a:spAutoFit/>
          </a:bodyPr>
          <a:lstStyle/>
          <a:p>
            <a:pPr algn="just"/>
            <a:r>
              <a:rPr lang="en-GB" sz="2000" b="1" i="1" dirty="0"/>
              <a:t>Architectural design</a:t>
            </a:r>
            <a:r>
              <a:rPr lang="en-GB" sz="2000" i="1" dirty="0"/>
              <a:t>,</a:t>
            </a:r>
            <a:r>
              <a:rPr lang="en-GB" sz="2000" dirty="0"/>
              <a:t> where you identify the overall structure of the system, the principal components (sometimes called sub-systems or modules), their relationships and how they are distributed.</a:t>
            </a:r>
          </a:p>
          <a:p>
            <a:pPr algn="just"/>
            <a:endParaRPr lang="en-GB" sz="2000" dirty="0"/>
          </a:p>
          <a:p>
            <a:pPr algn="just"/>
            <a:r>
              <a:rPr lang="en-GB" sz="2000" b="1" i="1" dirty="0"/>
              <a:t>Interface design,</a:t>
            </a:r>
            <a:r>
              <a:rPr lang="en-GB" sz="2000" dirty="0"/>
              <a:t> where you define the interfaces between system components.</a:t>
            </a:r>
          </a:p>
          <a:p>
            <a:pPr algn="just"/>
            <a:endParaRPr lang="en-GB" sz="2000" dirty="0"/>
          </a:p>
          <a:p>
            <a:pPr algn="just"/>
            <a:r>
              <a:rPr lang="en-GB" sz="2000" b="1" i="1" dirty="0"/>
              <a:t>Component design,</a:t>
            </a:r>
            <a:r>
              <a:rPr lang="en-GB" sz="2000" i="1" dirty="0"/>
              <a:t> </a:t>
            </a:r>
            <a:r>
              <a:rPr lang="en-GB" sz="2000" dirty="0"/>
              <a:t>where you take each system component and design how it will operate. </a:t>
            </a:r>
            <a:r>
              <a:rPr lang="en-US" sz="2000" dirty="0"/>
              <a:t>This may be a simple statement of the expected functionality to be implemented or may be a list of changes to be made to a reusable component or a detailed design model.</a:t>
            </a:r>
            <a:endParaRPr lang="en-GB" sz="2000" dirty="0"/>
          </a:p>
          <a:p>
            <a:pPr algn="just"/>
            <a:endParaRPr lang="en-GB" sz="2000" dirty="0"/>
          </a:p>
          <a:p>
            <a:pPr algn="just"/>
            <a:r>
              <a:rPr lang="en-GB" sz="2000" b="1" i="1" dirty="0"/>
              <a:t>Database design,</a:t>
            </a:r>
            <a:r>
              <a:rPr lang="en-GB" sz="2000" i="1" dirty="0"/>
              <a:t> </a:t>
            </a:r>
            <a:r>
              <a:rPr lang="en-GB" sz="2000" dirty="0"/>
              <a:t>where you design the system data structures and how these are to be represented in a database. </a:t>
            </a:r>
            <a:r>
              <a:rPr lang="en-US" sz="2000" dirty="0"/>
              <a:t>Again, the work here depends on whether an existing database is to be reused or a new database is to be created.</a:t>
            </a:r>
          </a:p>
          <a:p>
            <a:pPr algn="just"/>
            <a:endParaRPr lang="en-US" sz="2000" dirty="0"/>
          </a:p>
          <a:p>
            <a:pPr algn="just"/>
            <a:r>
              <a:rPr lang="en-GB" sz="2000" dirty="0"/>
              <a:t> </a:t>
            </a:r>
          </a:p>
          <a:p>
            <a:pPr algn="just"/>
            <a:endParaRPr lang="en-US" sz="2000" dirty="0"/>
          </a:p>
        </p:txBody>
      </p:sp>
      <p:sp>
        <p:nvSpPr>
          <p:cNvPr id="7" name="Title 1"/>
          <p:cNvSpPr txBox="1">
            <a:spLocks/>
          </p:cNvSpPr>
          <p:nvPr/>
        </p:nvSpPr>
        <p:spPr>
          <a:xfrm rot="5400000">
            <a:off x="-1409700" y="2552700"/>
            <a:ext cx="3962400" cy="1143000"/>
          </a:xfrm>
          <a:prstGeom prst="rect">
            <a:avLst/>
          </a:prstGeom>
        </p:spPr>
        <p:txBody>
          <a:bodyPr/>
          <a:lstStyle>
            <a:lvl1pPr algn="l" rtl="0" eaLnBrk="1" fontAlgn="base" hangingPunct="1">
              <a:spcBef>
                <a:spcPct val="0"/>
              </a:spcBef>
              <a:spcAft>
                <a:spcPct val="0"/>
              </a:spcAft>
              <a:defRPr kumimoji="1" sz="4400" kern="1200">
                <a:solidFill>
                  <a:schemeClr val="tx2"/>
                </a:solidFill>
                <a:latin typeface="+mj-lt"/>
                <a:ea typeface="+mj-ea"/>
                <a:cs typeface="+mj-cs"/>
              </a:defRPr>
            </a:lvl1pPr>
            <a:lvl2pPr algn="l" rtl="0" eaLnBrk="1" fontAlgn="base" hangingPunct="1">
              <a:spcBef>
                <a:spcPct val="0"/>
              </a:spcBef>
              <a:spcAft>
                <a:spcPct val="0"/>
              </a:spcAft>
              <a:defRPr kumimoji="1" sz="4400">
                <a:solidFill>
                  <a:schemeClr val="tx2"/>
                </a:solidFill>
                <a:latin typeface="Times New Roman" panose="02020603050405020304" pitchFamily="18" charset="0"/>
              </a:defRPr>
            </a:lvl2pPr>
            <a:lvl3pPr algn="l" rtl="0" eaLnBrk="1" fontAlgn="base" hangingPunct="1">
              <a:spcBef>
                <a:spcPct val="0"/>
              </a:spcBef>
              <a:spcAft>
                <a:spcPct val="0"/>
              </a:spcAft>
              <a:defRPr kumimoji="1" sz="4400">
                <a:solidFill>
                  <a:schemeClr val="tx2"/>
                </a:solidFill>
                <a:latin typeface="Times New Roman" panose="02020603050405020304" pitchFamily="18" charset="0"/>
              </a:defRPr>
            </a:lvl3pPr>
            <a:lvl4pPr algn="l" rtl="0" eaLnBrk="1" fontAlgn="base" hangingPunct="1">
              <a:spcBef>
                <a:spcPct val="0"/>
              </a:spcBef>
              <a:spcAft>
                <a:spcPct val="0"/>
              </a:spcAft>
              <a:defRPr kumimoji="1" sz="4400">
                <a:solidFill>
                  <a:schemeClr val="tx2"/>
                </a:solidFill>
                <a:latin typeface="Times New Roman" panose="02020603050405020304" pitchFamily="18" charset="0"/>
              </a:defRPr>
            </a:lvl4pPr>
            <a:lvl5pPr algn="l" rtl="0" eaLnBrk="1" fontAlgn="base" hangingPunct="1">
              <a:spcBef>
                <a:spcPct val="0"/>
              </a:spcBef>
              <a:spcAft>
                <a:spcPct val="0"/>
              </a:spcAft>
              <a:defRPr kumimoji="1" sz="4400">
                <a:solidFill>
                  <a:schemeClr val="tx2"/>
                </a:solidFill>
                <a:latin typeface="Times New Roman" panose="02020603050405020304" pitchFamily="18" charset="0"/>
              </a:defRPr>
            </a:lvl5pPr>
            <a:lvl6pPr marL="457200" algn="l" rtl="0" eaLnBrk="1" fontAlgn="base" hangingPunct="1">
              <a:spcBef>
                <a:spcPct val="0"/>
              </a:spcBef>
              <a:spcAft>
                <a:spcPct val="0"/>
              </a:spcAft>
              <a:defRPr kumimoji="1" sz="4400">
                <a:solidFill>
                  <a:schemeClr val="tx2"/>
                </a:solidFill>
                <a:latin typeface="Times New Roman" panose="02020603050405020304" pitchFamily="18" charset="0"/>
              </a:defRPr>
            </a:lvl6pPr>
            <a:lvl7pPr marL="914400" algn="l" rtl="0" eaLnBrk="1" fontAlgn="base" hangingPunct="1">
              <a:spcBef>
                <a:spcPct val="0"/>
              </a:spcBef>
              <a:spcAft>
                <a:spcPct val="0"/>
              </a:spcAft>
              <a:defRPr kumimoji="1" sz="4400">
                <a:solidFill>
                  <a:schemeClr val="tx2"/>
                </a:solidFill>
                <a:latin typeface="Times New Roman" panose="02020603050405020304" pitchFamily="18" charset="0"/>
              </a:defRPr>
            </a:lvl7pPr>
            <a:lvl8pPr marL="1371600" algn="l" rtl="0" eaLnBrk="1" fontAlgn="base" hangingPunct="1">
              <a:spcBef>
                <a:spcPct val="0"/>
              </a:spcBef>
              <a:spcAft>
                <a:spcPct val="0"/>
              </a:spcAft>
              <a:defRPr kumimoji="1" sz="4400">
                <a:solidFill>
                  <a:schemeClr val="tx2"/>
                </a:solidFill>
                <a:latin typeface="Times New Roman" panose="02020603050405020304" pitchFamily="18" charset="0"/>
              </a:defRPr>
            </a:lvl8pPr>
            <a:lvl9pPr marL="1828800" algn="l" rtl="0" eaLnBrk="1" fontAlgn="base" hangingPunct="1">
              <a:spcBef>
                <a:spcPct val="0"/>
              </a:spcBef>
              <a:spcAft>
                <a:spcPct val="0"/>
              </a:spcAft>
              <a:defRPr kumimoji="1" sz="4400">
                <a:solidFill>
                  <a:schemeClr val="tx2"/>
                </a:solidFill>
                <a:latin typeface="Times New Roman" panose="02020603050405020304" pitchFamily="18" charset="0"/>
              </a:defRPr>
            </a:lvl9pPr>
          </a:lstStyle>
          <a:p>
            <a:r>
              <a:rPr lang="en-US" dirty="0"/>
              <a:t>Design activities</a:t>
            </a:r>
          </a:p>
        </p:txBody>
      </p:sp>
    </p:spTree>
    <p:extLst>
      <p:ext uri="{BB962C8B-B14F-4D97-AF65-F5344CB8AC3E}">
        <p14:creationId xmlns:p14="http://schemas.microsoft.com/office/powerpoint/2010/main" val="24908559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Software validation</a:t>
            </a:r>
            <a:endParaRPr lang="en-US" dirty="0"/>
          </a:p>
        </p:txBody>
      </p:sp>
      <p:sp>
        <p:nvSpPr>
          <p:cNvPr id="3" name="Content Placeholder 2"/>
          <p:cNvSpPr>
            <a:spLocks noGrp="1"/>
          </p:cNvSpPr>
          <p:nvPr>
            <p:ph idx="1"/>
          </p:nvPr>
        </p:nvSpPr>
        <p:spPr>
          <a:xfrm>
            <a:off x="655637" y="1752600"/>
            <a:ext cx="7954963" cy="4343400"/>
          </a:xfrm>
        </p:spPr>
        <p:txBody>
          <a:bodyPr/>
          <a:lstStyle/>
          <a:p>
            <a:pPr algn="just">
              <a:buFont typeface="Wingdings" panose="05000000000000000000" pitchFamily="2" charset="2"/>
              <a:buChar char="q"/>
            </a:pPr>
            <a:r>
              <a:rPr lang="en-GB" sz="2400" dirty="0"/>
              <a:t>Verification and validation (V &amp; V) is intended to show that a system conforms to its specification and meets the requirements of the system customer.</a:t>
            </a:r>
          </a:p>
          <a:p>
            <a:pPr algn="just">
              <a:buFont typeface="Wingdings" panose="05000000000000000000" pitchFamily="2" charset="2"/>
              <a:buChar char="q"/>
            </a:pPr>
            <a:r>
              <a:rPr lang="en-GB" sz="2400" dirty="0"/>
              <a:t>Involves checking and review processes and system testing.</a:t>
            </a:r>
          </a:p>
          <a:p>
            <a:pPr algn="just">
              <a:buFont typeface="Wingdings" panose="05000000000000000000" pitchFamily="2" charset="2"/>
              <a:buChar char="q"/>
            </a:pPr>
            <a:r>
              <a:rPr lang="en-GB" sz="2400" dirty="0"/>
              <a:t>System testing involves executing the system with test cases that are derived from the specification of the real data to be processed by the system.</a:t>
            </a:r>
          </a:p>
          <a:p>
            <a:pPr algn="just">
              <a:buFont typeface="Wingdings" panose="05000000000000000000" pitchFamily="2" charset="2"/>
              <a:buChar char="q"/>
            </a:pPr>
            <a:r>
              <a:rPr lang="en-GB" sz="2400" dirty="0"/>
              <a:t>Testing is the most commonly used V &amp; V activity.</a:t>
            </a:r>
          </a:p>
          <a:p>
            <a:pPr algn="just">
              <a:buFont typeface="Wingdings" panose="05000000000000000000" pitchFamily="2" charset="2"/>
              <a:buChar char="q"/>
            </a:pPr>
            <a:endParaRPr lang="en-US" sz="2400" dirty="0"/>
          </a:p>
        </p:txBody>
      </p:sp>
    </p:spTree>
    <p:extLst>
      <p:ext uri="{BB962C8B-B14F-4D97-AF65-F5344CB8AC3E}">
        <p14:creationId xmlns:p14="http://schemas.microsoft.com/office/powerpoint/2010/main" val="20120065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Stages of testing</a:t>
            </a:r>
            <a:endParaRPr lang="en-US" dirty="0"/>
          </a:p>
        </p:txBody>
      </p:sp>
      <p:pic>
        <p:nvPicPr>
          <p:cNvPr id="4" name="Picture 3" descr="2.6 Testing-process.eps"/>
          <p:cNvPicPr>
            <a:picLocks noChangeAspect="1"/>
          </p:cNvPicPr>
          <p:nvPr/>
        </p:nvPicPr>
        <p:blipFill>
          <a:blip r:embed="rId2" cstate="print"/>
          <a:stretch>
            <a:fillRect/>
          </a:stretch>
        </p:blipFill>
        <p:spPr>
          <a:xfrm>
            <a:off x="1486409" y="2829344"/>
            <a:ext cx="6277535" cy="1707049"/>
          </a:xfrm>
          <a:prstGeom prst="rect">
            <a:avLst/>
          </a:prstGeom>
        </p:spPr>
      </p:pic>
    </p:spTree>
    <p:extLst>
      <p:ext uri="{BB962C8B-B14F-4D97-AF65-F5344CB8AC3E}">
        <p14:creationId xmlns:p14="http://schemas.microsoft.com/office/powerpoint/2010/main" val="405851525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0"/>
            <a:ext cx="7772400" cy="1143000"/>
          </a:xfrm>
        </p:spPr>
        <p:txBody>
          <a:bodyPr/>
          <a:lstStyle/>
          <a:p>
            <a:r>
              <a:rPr lang="en-GB" dirty="0"/>
              <a:t>Testing stages</a:t>
            </a:r>
            <a:endParaRPr lang="en-US" dirty="0"/>
          </a:p>
        </p:txBody>
      </p:sp>
      <p:sp>
        <p:nvSpPr>
          <p:cNvPr id="3" name="Content Placeholder 2"/>
          <p:cNvSpPr>
            <a:spLocks noGrp="1"/>
          </p:cNvSpPr>
          <p:nvPr>
            <p:ph idx="1"/>
          </p:nvPr>
        </p:nvSpPr>
        <p:spPr>
          <a:xfrm>
            <a:off x="594518" y="1066800"/>
            <a:ext cx="8320882" cy="5715000"/>
          </a:xfrm>
        </p:spPr>
        <p:txBody>
          <a:bodyPr/>
          <a:lstStyle/>
          <a:p>
            <a:pPr>
              <a:buFont typeface="Wingdings" panose="05000000000000000000" pitchFamily="2" charset="2"/>
              <a:buChar char="q"/>
            </a:pPr>
            <a:r>
              <a:rPr lang="en-GB" sz="2000" dirty="0"/>
              <a:t>Development or component testing</a:t>
            </a:r>
          </a:p>
          <a:p>
            <a:pPr lvl="1">
              <a:buFont typeface="Wingdings" panose="05000000000000000000" pitchFamily="2" charset="2"/>
              <a:buChar char="q"/>
            </a:pPr>
            <a:r>
              <a:rPr lang="en-US" sz="1600" dirty="0"/>
              <a:t>The components making up the system are tested by the people developing the system.</a:t>
            </a:r>
            <a:endParaRPr lang="en-GB" sz="1600" dirty="0"/>
          </a:p>
          <a:p>
            <a:pPr lvl="1">
              <a:buFont typeface="Wingdings" panose="05000000000000000000" pitchFamily="2" charset="2"/>
              <a:buChar char="q"/>
            </a:pPr>
            <a:r>
              <a:rPr lang="en-GB" sz="1600" dirty="0"/>
              <a:t>Individual components are tested independently;</a:t>
            </a:r>
          </a:p>
          <a:p>
            <a:pPr lvl="1">
              <a:buFont typeface="Wingdings" panose="05000000000000000000" pitchFamily="2" charset="2"/>
              <a:buChar char="q"/>
            </a:pPr>
            <a:r>
              <a:rPr lang="en-US" sz="1600" dirty="0"/>
              <a:t>Test automation tools, such as JUnit that can re-run component tests when new versions of the component are created, are commonly used.</a:t>
            </a:r>
            <a:endParaRPr lang="en-GB" sz="1600" dirty="0"/>
          </a:p>
          <a:p>
            <a:pPr>
              <a:buFont typeface="Wingdings" panose="05000000000000000000" pitchFamily="2" charset="2"/>
              <a:buChar char="q"/>
            </a:pPr>
            <a:r>
              <a:rPr lang="en-GB" sz="2000" dirty="0"/>
              <a:t>System testing</a:t>
            </a:r>
          </a:p>
          <a:p>
            <a:pPr lvl="1">
              <a:buFont typeface="Wingdings" panose="05000000000000000000" pitchFamily="2" charset="2"/>
              <a:buChar char="q"/>
            </a:pPr>
            <a:r>
              <a:rPr lang="en-GB" sz="1600" dirty="0"/>
              <a:t>Testing of the system as a whole. </a:t>
            </a:r>
          </a:p>
          <a:p>
            <a:pPr lvl="1">
              <a:buFont typeface="Wingdings" panose="05000000000000000000" pitchFamily="2" charset="2"/>
              <a:buChar char="q"/>
            </a:pPr>
            <a:r>
              <a:rPr lang="en-US" sz="1600" dirty="0"/>
              <a:t>Finding errors that result from unexpected interactions between components and component interface problems</a:t>
            </a:r>
            <a:r>
              <a:rPr lang="en-GB" sz="1600" dirty="0"/>
              <a:t>.</a:t>
            </a:r>
          </a:p>
          <a:p>
            <a:pPr>
              <a:buFont typeface="Wingdings" panose="05000000000000000000" pitchFamily="2" charset="2"/>
              <a:buChar char="q"/>
            </a:pPr>
            <a:r>
              <a:rPr lang="en-GB" sz="2000" dirty="0"/>
              <a:t>Acceptance testing/alpha testing</a:t>
            </a:r>
          </a:p>
          <a:p>
            <a:pPr lvl="1">
              <a:buFont typeface="Wingdings" panose="05000000000000000000" pitchFamily="2" charset="2"/>
              <a:buChar char="q"/>
            </a:pPr>
            <a:r>
              <a:rPr lang="en-GB" sz="1600" dirty="0"/>
              <a:t>Testing with customer data to check that the system meets the customer’s needs.</a:t>
            </a:r>
          </a:p>
          <a:p>
            <a:pPr>
              <a:buFont typeface="Wingdings" panose="05000000000000000000" pitchFamily="2" charset="2"/>
              <a:buChar char="q"/>
            </a:pPr>
            <a:r>
              <a:rPr lang="en-US" sz="2000" dirty="0"/>
              <a:t>Beta testing</a:t>
            </a:r>
          </a:p>
          <a:p>
            <a:pPr lvl="1">
              <a:buFont typeface="Wingdings" panose="05000000000000000000" pitchFamily="2" charset="2"/>
              <a:buChar char="q"/>
            </a:pPr>
            <a:r>
              <a:rPr lang="en-US" sz="1600" dirty="0"/>
              <a:t>When a system is to be marketed as a software product, a testing process called ‘beta testing’ is often used. Beta testing involves delivering a system to several potential customers who agree to use that system. They report problems to the system developers. This exposes the product to real use and detects errors that may not have been anticipated by the system builders. After this feedback, the system is modified and released either for further beta testing or for general sale.</a:t>
            </a:r>
          </a:p>
        </p:txBody>
      </p:sp>
    </p:spTree>
    <p:extLst>
      <p:ext uri="{BB962C8B-B14F-4D97-AF65-F5344CB8AC3E}">
        <p14:creationId xmlns:p14="http://schemas.microsoft.com/office/powerpoint/2010/main" val="8621207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 calcmode="lin" valueType="num">
                                      <p:cBhvr additive="base">
                                        <p:cTn id="3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anim calcmode="lin" valueType="num">
                                      <p:cBhvr additive="base">
                                        <p:cTn id="3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7" end="7"/>
                                            </p:txEl>
                                          </p:spTgt>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3">
                                            <p:txEl>
                                              <p:pRg st="8" end="8"/>
                                            </p:txEl>
                                          </p:spTgt>
                                        </p:tgtEl>
                                        <p:attrNameLst>
                                          <p:attrName>style.visibility</p:attrName>
                                        </p:attrNameLst>
                                      </p:cBhvr>
                                      <p:to>
                                        <p:strVal val="visible"/>
                                      </p:to>
                                    </p:set>
                                    <p:anim calcmode="lin" valueType="num">
                                      <p:cBhvr additive="base">
                                        <p:cTn id="43"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9" end="9"/>
                                            </p:txEl>
                                          </p:spTgt>
                                        </p:tgtEl>
                                        <p:attrNameLst>
                                          <p:attrName>style.visibility</p:attrName>
                                        </p:attrNameLst>
                                      </p:cBhvr>
                                      <p:to>
                                        <p:strVal val="visible"/>
                                      </p:to>
                                    </p:set>
                                    <p:anim calcmode="lin" valueType="num">
                                      <p:cBhvr additive="base">
                                        <p:cTn id="49"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9" end="9"/>
                                            </p:txEl>
                                          </p:spTgt>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3">
                                            <p:txEl>
                                              <p:pRg st="10" end="10"/>
                                            </p:txEl>
                                          </p:spTgt>
                                        </p:tgtEl>
                                        <p:attrNameLst>
                                          <p:attrName>style.visibility</p:attrName>
                                        </p:attrNameLst>
                                      </p:cBhvr>
                                      <p:to>
                                        <p:strVal val="visible"/>
                                      </p:to>
                                    </p:set>
                                    <p:anim calcmode="lin" valueType="num">
                                      <p:cBhvr additive="base">
                                        <p:cTn id="53"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600" dirty="0"/>
              <a:t>Testing phases in a plan-driven software process</a:t>
            </a:r>
            <a:br>
              <a:rPr lang="en-GB" sz="3600" dirty="0"/>
            </a:br>
            <a:endParaRPr lang="en-US" sz="3600" dirty="0"/>
          </a:p>
        </p:txBody>
      </p:sp>
      <p:pic>
        <p:nvPicPr>
          <p:cNvPr id="4" name="Picture 3" descr="2.7 Testing-phases.eps"/>
          <p:cNvPicPr>
            <a:picLocks noChangeAspect="1"/>
          </p:cNvPicPr>
          <p:nvPr/>
        </p:nvPicPr>
        <p:blipFill>
          <a:blip r:embed="rId2" cstate="print"/>
          <a:stretch>
            <a:fillRect/>
          </a:stretch>
        </p:blipFill>
        <p:spPr>
          <a:xfrm>
            <a:off x="248957" y="2186304"/>
            <a:ext cx="8647437" cy="2988016"/>
          </a:xfrm>
          <a:prstGeom prst="rect">
            <a:avLst/>
          </a:prstGeom>
        </p:spPr>
      </p:pic>
    </p:spTree>
    <p:extLst>
      <p:ext uri="{BB962C8B-B14F-4D97-AF65-F5344CB8AC3E}">
        <p14:creationId xmlns:p14="http://schemas.microsoft.com/office/powerpoint/2010/main" val="12202203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Software evolution</a:t>
            </a:r>
            <a:endParaRPr lang="en-US" dirty="0"/>
          </a:p>
        </p:txBody>
      </p:sp>
      <p:sp>
        <p:nvSpPr>
          <p:cNvPr id="3" name="Content Placeholder 2"/>
          <p:cNvSpPr>
            <a:spLocks noGrp="1"/>
          </p:cNvSpPr>
          <p:nvPr>
            <p:ph idx="1"/>
          </p:nvPr>
        </p:nvSpPr>
        <p:spPr>
          <a:xfrm>
            <a:off x="914400" y="1752600"/>
            <a:ext cx="7772400" cy="4114800"/>
          </a:xfrm>
        </p:spPr>
        <p:txBody>
          <a:bodyPr/>
          <a:lstStyle/>
          <a:p>
            <a:pPr algn="just">
              <a:buFont typeface="Wingdings" panose="05000000000000000000" pitchFamily="2" charset="2"/>
              <a:buChar char="q"/>
            </a:pPr>
            <a:r>
              <a:rPr lang="en-GB" sz="2400" dirty="0"/>
              <a:t>Software is inherently flexible and can change. </a:t>
            </a:r>
          </a:p>
          <a:p>
            <a:pPr algn="just">
              <a:buFont typeface="Wingdings" panose="05000000000000000000" pitchFamily="2" charset="2"/>
              <a:buChar char="q"/>
            </a:pPr>
            <a:r>
              <a:rPr lang="en-GB" sz="2400" dirty="0"/>
              <a:t>As requirements change through changing business circumstances, the software that supports the business must also evolve and change.</a:t>
            </a:r>
          </a:p>
          <a:p>
            <a:pPr algn="just">
              <a:buFont typeface="Wingdings" panose="05000000000000000000" pitchFamily="2" charset="2"/>
              <a:buChar char="q"/>
            </a:pPr>
            <a:r>
              <a:rPr lang="en-GB" sz="2400" dirty="0"/>
              <a:t>Although there has been a differentiation between development and evolution (maintenance) this is increasingly irrelevant as fewer and fewer systems are completely new.</a:t>
            </a:r>
            <a:endParaRPr lang="en-US" sz="2400" dirty="0"/>
          </a:p>
        </p:txBody>
      </p:sp>
    </p:spTree>
    <p:extLst>
      <p:ext uri="{BB962C8B-B14F-4D97-AF65-F5344CB8AC3E}">
        <p14:creationId xmlns:p14="http://schemas.microsoft.com/office/powerpoint/2010/main" val="38626089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System evolution </a:t>
            </a:r>
            <a:endParaRPr lang="en-US" dirty="0"/>
          </a:p>
        </p:txBody>
      </p:sp>
      <p:pic>
        <p:nvPicPr>
          <p:cNvPr id="4" name="Picture 3" descr="2.8 System evolution.eps"/>
          <p:cNvPicPr>
            <a:picLocks noChangeAspect="1"/>
          </p:cNvPicPr>
          <p:nvPr/>
        </p:nvPicPr>
        <p:blipFill>
          <a:blip r:embed="rId2" cstate="print"/>
          <a:stretch>
            <a:fillRect/>
          </a:stretch>
        </p:blipFill>
        <p:spPr>
          <a:xfrm>
            <a:off x="572521" y="2707496"/>
            <a:ext cx="7545538" cy="2321704"/>
          </a:xfrm>
          <a:prstGeom prst="rect">
            <a:avLst/>
          </a:prstGeom>
        </p:spPr>
      </p:pic>
    </p:spTree>
    <p:extLst>
      <p:ext uri="{BB962C8B-B14F-4D97-AF65-F5344CB8AC3E}">
        <p14:creationId xmlns:p14="http://schemas.microsoft.com/office/powerpoint/2010/main" val="380464265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points</a:t>
            </a:r>
          </a:p>
        </p:txBody>
      </p:sp>
      <p:sp>
        <p:nvSpPr>
          <p:cNvPr id="3" name="Content Placeholder 2"/>
          <p:cNvSpPr>
            <a:spLocks noGrp="1"/>
          </p:cNvSpPr>
          <p:nvPr>
            <p:ph idx="1"/>
          </p:nvPr>
        </p:nvSpPr>
        <p:spPr>
          <a:xfrm>
            <a:off x="1173163" y="1828800"/>
            <a:ext cx="7772400" cy="4114800"/>
          </a:xfrm>
        </p:spPr>
        <p:txBody>
          <a:bodyPr/>
          <a:lstStyle/>
          <a:p>
            <a:pPr algn="just">
              <a:buFont typeface="Wingdings" panose="05000000000000000000" pitchFamily="2" charset="2"/>
              <a:buChar char="q"/>
            </a:pPr>
            <a:r>
              <a:rPr lang="en-GB" sz="2800" dirty="0"/>
              <a:t>Software processes are the activities involved in producing a software system. Software process models are abstract representations of these processes.</a:t>
            </a:r>
          </a:p>
          <a:p>
            <a:pPr algn="just">
              <a:buFont typeface="Wingdings" panose="05000000000000000000" pitchFamily="2" charset="2"/>
              <a:buChar char="q"/>
            </a:pPr>
            <a:r>
              <a:rPr lang="en-GB" sz="2800" dirty="0"/>
              <a:t>General process models describe the organization of software processes. Examples of these general models include the ‘waterfall’ model,  incremental development, and reuse-oriented development.</a:t>
            </a:r>
          </a:p>
          <a:p>
            <a:pPr algn="just">
              <a:buFont typeface="Wingdings" panose="05000000000000000000" pitchFamily="2" charset="2"/>
              <a:buChar char="q"/>
            </a:pPr>
            <a:endParaRPr lang="en-US" sz="2800" dirty="0"/>
          </a:p>
        </p:txBody>
      </p:sp>
    </p:spTree>
    <p:extLst>
      <p:ext uri="{BB962C8B-B14F-4D97-AF65-F5344CB8AC3E}">
        <p14:creationId xmlns:p14="http://schemas.microsoft.com/office/powerpoint/2010/main" val="34286466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points</a:t>
            </a:r>
          </a:p>
        </p:txBody>
      </p:sp>
      <p:sp>
        <p:nvSpPr>
          <p:cNvPr id="3" name="Content Placeholder 2"/>
          <p:cNvSpPr>
            <a:spLocks noGrp="1"/>
          </p:cNvSpPr>
          <p:nvPr>
            <p:ph idx="1"/>
          </p:nvPr>
        </p:nvSpPr>
        <p:spPr>
          <a:xfrm>
            <a:off x="838200" y="1524000"/>
            <a:ext cx="7772400" cy="4114800"/>
          </a:xfrm>
        </p:spPr>
        <p:txBody>
          <a:bodyPr/>
          <a:lstStyle/>
          <a:p>
            <a:pPr algn="just">
              <a:buFont typeface="Wingdings" panose="05000000000000000000" pitchFamily="2" charset="2"/>
              <a:buChar char="q"/>
            </a:pPr>
            <a:r>
              <a:rPr lang="en-GB" sz="2400" dirty="0"/>
              <a:t>Requirements engineering is the process of developing a software specification.</a:t>
            </a:r>
          </a:p>
          <a:p>
            <a:pPr algn="just">
              <a:buFont typeface="Wingdings" panose="05000000000000000000" pitchFamily="2" charset="2"/>
              <a:buChar char="q"/>
            </a:pPr>
            <a:r>
              <a:rPr lang="en-GB" sz="2400" dirty="0"/>
              <a:t>Design and implementation processes are concerned with transforming a requirements specification into an executable software system. </a:t>
            </a:r>
          </a:p>
          <a:p>
            <a:pPr algn="just">
              <a:buFont typeface="Wingdings" panose="05000000000000000000" pitchFamily="2" charset="2"/>
              <a:buChar char="q"/>
            </a:pPr>
            <a:r>
              <a:rPr lang="en-GB" sz="2400" dirty="0"/>
              <a:t>Software validation is the process of checking that the system conforms to its specification and that it meets the real needs of the users of the system.</a:t>
            </a:r>
          </a:p>
          <a:p>
            <a:pPr algn="just">
              <a:buFont typeface="Wingdings" panose="05000000000000000000" pitchFamily="2" charset="2"/>
              <a:buChar char="q"/>
            </a:pPr>
            <a:r>
              <a:rPr lang="en-GB" sz="2400" dirty="0"/>
              <a:t>Software evolution takes place when you change existing software systems to meet new requirements. The software must evolve to remain useful.</a:t>
            </a:r>
          </a:p>
          <a:p>
            <a:pPr algn="just">
              <a:buFont typeface="Wingdings" panose="05000000000000000000" pitchFamily="2" charset="2"/>
              <a:buChar char="q"/>
            </a:pPr>
            <a:endParaRPr lang="en-US" sz="2400" dirty="0"/>
          </a:p>
        </p:txBody>
      </p:sp>
    </p:spTree>
    <p:extLst>
      <p:ext uri="{BB962C8B-B14F-4D97-AF65-F5344CB8AC3E}">
        <p14:creationId xmlns:p14="http://schemas.microsoft.com/office/powerpoint/2010/main" val="15087597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23888" y="1143000"/>
            <a:ext cx="7886700" cy="2852737"/>
          </a:xfrm>
        </p:spPr>
        <p:txBody>
          <a:bodyPr/>
          <a:lstStyle/>
          <a:p>
            <a:r>
              <a:rPr lang="en-US" dirty="0"/>
              <a:t>Coping with change</a:t>
            </a:r>
            <a:endParaRPr lang="en-US" b="1" dirty="0"/>
          </a:p>
        </p:txBody>
      </p:sp>
    </p:spTree>
    <p:extLst>
      <p:ext uri="{BB962C8B-B14F-4D97-AF65-F5344CB8AC3E}">
        <p14:creationId xmlns:p14="http://schemas.microsoft.com/office/powerpoint/2010/main" val="271225467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173163" y="76200"/>
            <a:ext cx="7772400" cy="1143000"/>
          </a:xfrm>
        </p:spPr>
        <p:txBody>
          <a:bodyPr/>
          <a:lstStyle/>
          <a:p>
            <a:r>
              <a:rPr lang="en-US" dirty="0"/>
              <a:t>Coping with change</a:t>
            </a:r>
          </a:p>
        </p:txBody>
      </p:sp>
      <p:sp>
        <p:nvSpPr>
          <p:cNvPr id="5" name="Content Placeholder 4"/>
          <p:cNvSpPr>
            <a:spLocks noGrp="1"/>
          </p:cNvSpPr>
          <p:nvPr>
            <p:ph idx="1"/>
          </p:nvPr>
        </p:nvSpPr>
        <p:spPr>
          <a:xfrm>
            <a:off x="762000" y="1239078"/>
            <a:ext cx="8183563" cy="5542722"/>
          </a:xfrm>
        </p:spPr>
        <p:txBody>
          <a:bodyPr/>
          <a:lstStyle/>
          <a:p>
            <a:pPr algn="just">
              <a:buFont typeface="Wingdings" panose="05000000000000000000" pitchFamily="2" charset="2"/>
              <a:buChar char="q"/>
            </a:pPr>
            <a:r>
              <a:rPr lang="en-US" sz="2400" dirty="0"/>
              <a:t>Change is inevitable in all large software projects.</a:t>
            </a:r>
          </a:p>
          <a:p>
            <a:pPr lvl="1" algn="just">
              <a:buFont typeface="Wingdings" panose="05000000000000000000" pitchFamily="2" charset="2"/>
              <a:buChar char="q"/>
            </a:pPr>
            <a:r>
              <a:rPr lang="en-US" sz="2000" dirty="0"/>
              <a:t>Business changes lead to new and changed system requirements.</a:t>
            </a:r>
          </a:p>
          <a:p>
            <a:pPr lvl="1" algn="just">
              <a:buFont typeface="Wingdings" panose="05000000000000000000" pitchFamily="2" charset="2"/>
              <a:buChar char="q"/>
            </a:pPr>
            <a:r>
              <a:rPr lang="en-US" sz="2000" dirty="0"/>
              <a:t>New technologies open up new possibilities for improving implementations.</a:t>
            </a:r>
          </a:p>
          <a:p>
            <a:pPr lvl="1" algn="just">
              <a:buFont typeface="Wingdings" panose="05000000000000000000" pitchFamily="2" charset="2"/>
              <a:buChar char="q"/>
            </a:pPr>
            <a:r>
              <a:rPr lang="en-US" sz="2000" dirty="0"/>
              <a:t>Changing platforms require application changes.</a:t>
            </a:r>
          </a:p>
          <a:p>
            <a:pPr lvl="1" algn="just">
              <a:buFont typeface="Wingdings" panose="05000000000000000000" pitchFamily="2" charset="2"/>
              <a:buChar char="q"/>
            </a:pPr>
            <a:r>
              <a:rPr lang="en-US" sz="2000" dirty="0"/>
              <a:t>Therefore, whatever software process model is used, it is essential that it can accommodate changes to the software being developed.</a:t>
            </a:r>
          </a:p>
          <a:p>
            <a:pPr algn="just">
              <a:buFont typeface="Wingdings" panose="05000000000000000000" pitchFamily="2" charset="2"/>
              <a:buChar char="q"/>
            </a:pPr>
            <a:r>
              <a:rPr lang="en-US" sz="2400" dirty="0"/>
              <a:t>Change adds to the costs of software development because it usually means that work that has been completed has to be redone. This is called rework.</a:t>
            </a:r>
          </a:p>
          <a:p>
            <a:pPr algn="just">
              <a:buFont typeface="Wingdings" panose="05000000000000000000" pitchFamily="2" charset="2"/>
              <a:buChar char="q"/>
            </a:pPr>
            <a:r>
              <a:rPr lang="en-US" sz="2400" dirty="0"/>
              <a:t>Change leads to rework so the costs of change include both rework (e.g., re-analyzing requirements) as well as the costs of implementing new functionality.</a:t>
            </a:r>
          </a:p>
        </p:txBody>
      </p:sp>
    </p:spTree>
    <p:extLst>
      <p:ext uri="{BB962C8B-B14F-4D97-AF65-F5344CB8AC3E}">
        <p14:creationId xmlns:p14="http://schemas.microsoft.com/office/powerpoint/2010/main" val="3812814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anim calcmode="lin" valueType="num">
                                      <p:cBhvr additive="base">
                                        <p:cTn id="11"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anim calcmode="lin" valueType="num">
                                      <p:cBhvr additive="base">
                                        <p:cTn id="15"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5">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anim calcmode="lin" valueType="num">
                                      <p:cBhvr additive="base">
                                        <p:cTn id="19"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anim calcmode="lin" valueType="num">
                                      <p:cBhvr additive="base">
                                        <p:cTn id="23"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5">
                                            <p:txEl>
                                              <p:pRg st="5" end="5"/>
                                            </p:txEl>
                                          </p:spTgt>
                                        </p:tgtEl>
                                        <p:attrNameLst>
                                          <p:attrName>style.visibility</p:attrName>
                                        </p:attrNameLst>
                                      </p:cBhvr>
                                      <p:to>
                                        <p:strVal val="visible"/>
                                      </p:to>
                                    </p:set>
                                    <p:anim calcmode="lin" valueType="num">
                                      <p:cBhvr additive="base">
                                        <p:cTn id="29" dur="500" fill="hold"/>
                                        <p:tgtEl>
                                          <p:spTgt spid="5">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5">
                                            <p:txEl>
                                              <p:pRg st="6" end="6"/>
                                            </p:txEl>
                                          </p:spTgt>
                                        </p:tgtEl>
                                        <p:attrNameLst>
                                          <p:attrName>style.visibility</p:attrName>
                                        </p:attrNameLst>
                                      </p:cBhvr>
                                      <p:to>
                                        <p:strVal val="visible"/>
                                      </p:to>
                                    </p:set>
                                    <p:anim calcmode="lin" valueType="num">
                                      <p:cBhvr additive="base">
                                        <p:cTn id="35"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5">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0"/>
            <a:ext cx="7772400" cy="1143000"/>
          </a:xfrm>
        </p:spPr>
        <p:txBody>
          <a:bodyPr/>
          <a:lstStyle/>
          <a:p>
            <a:r>
              <a:rPr lang="en-US" sz="3600" dirty="0"/>
              <a:t>Reducing the costs of rework</a:t>
            </a:r>
          </a:p>
        </p:txBody>
      </p:sp>
      <p:sp>
        <p:nvSpPr>
          <p:cNvPr id="3" name="Content Placeholder 2"/>
          <p:cNvSpPr>
            <a:spLocks noGrp="1"/>
          </p:cNvSpPr>
          <p:nvPr>
            <p:ph idx="1"/>
          </p:nvPr>
        </p:nvSpPr>
        <p:spPr>
          <a:xfrm>
            <a:off x="685800" y="838200"/>
            <a:ext cx="8259763" cy="4495800"/>
          </a:xfrm>
        </p:spPr>
        <p:txBody>
          <a:bodyPr/>
          <a:lstStyle/>
          <a:p>
            <a:pPr algn="just">
              <a:buFont typeface="Wingdings" panose="05000000000000000000" pitchFamily="2" charset="2"/>
              <a:buChar char="q"/>
            </a:pPr>
            <a:r>
              <a:rPr lang="en-GB" sz="2400" b="1" dirty="0"/>
              <a:t>Change avoidance</a:t>
            </a:r>
            <a:r>
              <a:rPr lang="en-GB" sz="2400" dirty="0"/>
              <a:t>, where the software process includes activities that can anticipate possible changes before significant rework is required. </a:t>
            </a:r>
          </a:p>
          <a:p>
            <a:pPr lvl="1" algn="just">
              <a:buFont typeface="Wingdings" panose="05000000000000000000" pitchFamily="2" charset="2"/>
              <a:buChar char="q"/>
            </a:pPr>
            <a:r>
              <a:rPr lang="en-GB" sz="2400" dirty="0"/>
              <a:t>For example, a </a:t>
            </a:r>
            <a:r>
              <a:rPr lang="en-GB" sz="2400" b="1" dirty="0"/>
              <a:t>prototype</a:t>
            </a:r>
            <a:r>
              <a:rPr lang="en-GB" sz="2400" dirty="0"/>
              <a:t> system may be developed to show some key features of the system to customers. </a:t>
            </a:r>
          </a:p>
          <a:p>
            <a:pPr lvl="1" algn="just">
              <a:buFont typeface="Wingdings" panose="05000000000000000000" pitchFamily="2" charset="2"/>
              <a:buChar char="q"/>
            </a:pPr>
            <a:r>
              <a:rPr lang="en-US" sz="2400" dirty="0"/>
              <a:t>This supports change avoidance as it allows users to experiment with the system before delivery and so refine their requirements.</a:t>
            </a:r>
            <a:endParaRPr lang="en-GB" sz="2400" dirty="0"/>
          </a:p>
          <a:p>
            <a:pPr algn="just">
              <a:buFont typeface="Wingdings" panose="05000000000000000000" pitchFamily="2" charset="2"/>
              <a:buChar char="q"/>
            </a:pPr>
            <a:r>
              <a:rPr lang="en-GB" sz="2400" b="1" dirty="0"/>
              <a:t>Change tolerance</a:t>
            </a:r>
            <a:r>
              <a:rPr lang="en-GB" sz="2400" dirty="0"/>
              <a:t>, where the process is designed so that changes can be accommodated at relatively low cost.</a:t>
            </a:r>
          </a:p>
          <a:p>
            <a:pPr lvl="1" algn="just">
              <a:buFont typeface="Wingdings" panose="05000000000000000000" pitchFamily="2" charset="2"/>
              <a:buChar char="q"/>
            </a:pPr>
            <a:r>
              <a:rPr lang="en-GB" sz="2400" dirty="0"/>
              <a:t>This normally involves some form of </a:t>
            </a:r>
            <a:r>
              <a:rPr lang="en-GB" sz="2400" b="1" dirty="0"/>
              <a:t>incremental development</a:t>
            </a:r>
            <a:r>
              <a:rPr lang="en-GB" sz="2400" dirty="0"/>
              <a:t>. </a:t>
            </a:r>
          </a:p>
          <a:p>
            <a:pPr algn="just">
              <a:buFont typeface="Wingdings" panose="05000000000000000000" pitchFamily="2" charset="2"/>
              <a:buChar char="q"/>
            </a:pPr>
            <a:endParaRPr lang="en-US" sz="2400" dirty="0"/>
          </a:p>
        </p:txBody>
      </p:sp>
    </p:spTree>
    <p:extLst>
      <p:ext uri="{BB962C8B-B14F-4D97-AF65-F5344CB8AC3E}">
        <p14:creationId xmlns:p14="http://schemas.microsoft.com/office/powerpoint/2010/main" val="38674384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840033-954F-BE27-5023-545E09932473}"/>
              </a:ext>
            </a:extLst>
          </p:cNvPr>
          <p:cNvSpPr>
            <a:spLocks noGrp="1"/>
          </p:cNvSpPr>
          <p:nvPr>
            <p:ph type="title"/>
          </p:nvPr>
        </p:nvSpPr>
        <p:spPr>
          <a:xfrm>
            <a:off x="1173163" y="457200"/>
            <a:ext cx="7772400" cy="1524000"/>
          </a:xfrm>
        </p:spPr>
        <p:txBody>
          <a:bodyPr/>
          <a:lstStyle/>
          <a:p>
            <a:r>
              <a:rPr lang="en-US" dirty="0"/>
              <a:t>Two ways of coping with change and changing system requirements.</a:t>
            </a:r>
          </a:p>
        </p:txBody>
      </p:sp>
      <p:sp>
        <p:nvSpPr>
          <p:cNvPr id="3" name="Content Placeholder 2">
            <a:extLst>
              <a:ext uri="{FF2B5EF4-FFF2-40B4-BE49-F238E27FC236}">
                <a16:creationId xmlns:a16="http://schemas.microsoft.com/office/drawing/2014/main" id="{FF70FD7E-9871-E7BC-BB8D-99CD5D2DC75C}"/>
              </a:ext>
            </a:extLst>
          </p:cNvPr>
          <p:cNvSpPr>
            <a:spLocks noGrp="1"/>
          </p:cNvSpPr>
          <p:nvPr>
            <p:ph idx="1"/>
          </p:nvPr>
        </p:nvSpPr>
        <p:spPr>
          <a:xfrm>
            <a:off x="1173163" y="2438400"/>
            <a:ext cx="7772400" cy="3657600"/>
          </a:xfrm>
        </p:spPr>
        <p:txBody>
          <a:bodyPr/>
          <a:lstStyle/>
          <a:p>
            <a:pPr>
              <a:buFont typeface="Wingdings" panose="05000000000000000000" pitchFamily="2" charset="2"/>
              <a:buChar char="q"/>
            </a:pPr>
            <a:r>
              <a:rPr lang="en-US" sz="2800" b="1" dirty="0"/>
              <a:t>System prototyping</a:t>
            </a:r>
            <a:r>
              <a:rPr lang="en-US" sz="2800" dirty="0"/>
              <a:t>, where a version of the system or part of the system is developed quickly to check the customer’s requirements and the feasibility of some design decisions.</a:t>
            </a:r>
          </a:p>
          <a:p>
            <a:pPr>
              <a:buFont typeface="Wingdings" panose="05000000000000000000" pitchFamily="2" charset="2"/>
              <a:buChar char="q"/>
            </a:pPr>
            <a:r>
              <a:rPr lang="en-US" sz="2800" b="1" dirty="0"/>
              <a:t>Incremental delivery</a:t>
            </a:r>
            <a:r>
              <a:rPr lang="en-US" sz="2800" dirty="0"/>
              <a:t>, where system increments are delivered to the customer for comment and experimentation.</a:t>
            </a:r>
          </a:p>
        </p:txBody>
      </p:sp>
    </p:spTree>
    <p:extLst>
      <p:ext uri="{BB962C8B-B14F-4D97-AF65-F5344CB8AC3E}">
        <p14:creationId xmlns:p14="http://schemas.microsoft.com/office/powerpoint/2010/main" val="221518937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prototyping</a:t>
            </a:r>
          </a:p>
        </p:txBody>
      </p:sp>
      <p:sp>
        <p:nvSpPr>
          <p:cNvPr id="3" name="Content Placeholder 2"/>
          <p:cNvSpPr>
            <a:spLocks noGrp="1"/>
          </p:cNvSpPr>
          <p:nvPr>
            <p:ph idx="1"/>
          </p:nvPr>
        </p:nvSpPr>
        <p:spPr>
          <a:xfrm>
            <a:off x="1173163" y="1752600"/>
            <a:ext cx="7772400" cy="4343400"/>
          </a:xfrm>
        </p:spPr>
        <p:txBody>
          <a:bodyPr/>
          <a:lstStyle/>
          <a:p>
            <a:pPr algn="just">
              <a:buFont typeface="Wingdings" panose="05000000000000000000" pitchFamily="2" charset="2"/>
              <a:buChar char="q"/>
            </a:pPr>
            <a:r>
              <a:rPr lang="en-US" sz="2400" dirty="0"/>
              <a:t>A prototype is an initial version of a system used to demonstrate concepts and try out design options.</a:t>
            </a:r>
          </a:p>
          <a:p>
            <a:pPr algn="just">
              <a:buFont typeface="Wingdings" panose="05000000000000000000" pitchFamily="2" charset="2"/>
              <a:buChar char="q"/>
            </a:pPr>
            <a:r>
              <a:rPr lang="en-US" sz="2400" dirty="0"/>
              <a:t>A prototype can be used in:</a:t>
            </a:r>
          </a:p>
          <a:p>
            <a:pPr lvl="1" algn="just">
              <a:buFont typeface="Wingdings" panose="05000000000000000000" pitchFamily="2" charset="2"/>
              <a:buChar char="q"/>
            </a:pPr>
            <a:r>
              <a:rPr lang="en-US" sz="2400" dirty="0"/>
              <a:t>The </a:t>
            </a:r>
            <a:r>
              <a:rPr lang="en-US" sz="2400" b="1" dirty="0"/>
              <a:t>requirements engineering process </a:t>
            </a:r>
            <a:r>
              <a:rPr lang="en-US" sz="2400" dirty="0"/>
              <a:t>to help with requirements elicitation and validation;</a:t>
            </a:r>
          </a:p>
          <a:p>
            <a:pPr lvl="1" algn="just">
              <a:buFont typeface="Wingdings" panose="05000000000000000000" pitchFamily="2" charset="2"/>
              <a:buChar char="q"/>
            </a:pPr>
            <a:r>
              <a:rPr lang="en-US" sz="2400" dirty="0"/>
              <a:t>In </a:t>
            </a:r>
            <a:r>
              <a:rPr lang="en-US" sz="2400" b="1" dirty="0"/>
              <a:t>design processes </a:t>
            </a:r>
            <a:r>
              <a:rPr lang="en-US" sz="2400" dirty="0"/>
              <a:t>to explore options and develop a UI design;</a:t>
            </a:r>
          </a:p>
          <a:p>
            <a:pPr algn="just">
              <a:buFont typeface="Wingdings" panose="05000000000000000000" pitchFamily="2" charset="2"/>
              <a:buChar char="q"/>
            </a:pPr>
            <a:endParaRPr lang="en-US" sz="2400" dirty="0"/>
          </a:p>
        </p:txBody>
      </p:sp>
    </p:spTree>
    <p:extLst>
      <p:ext uri="{BB962C8B-B14F-4D97-AF65-F5344CB8AC3E}">
        <p14:creationId xmlns:p14="http://schemas.microsoft.com/office/powerpoint/2010/main" val="32226432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Benefits of prototyping</a:t>
            </a:r>
          </a:p>
        </p:txBody>
      </p:sp>
      <p:sp>
        <p:nvSpPr>
          <p:cNvPr id="3" name="Content Placeholder 2"/>
          <p:cNvSpPr>
            <a:spLocks noGrp="1"/>
          </p:cNvSpPr>
          <p:nvPr>
            <p:ph idx="1"/>
          </p:nvPr>
        </p:nvSpPr>
        <p:spPr/>
        <p:txBody>
          <a:bodyPr/>
          <a:lstStyle/>
          <a:p>
            <a:pPr>
              <a:buFont typeface="Wingdings" panose="05000000000000000000" pitchFamily="2" charset="2"/>
              <a:buChar char="q"/>
            </a:pPr>
            <a:r>
              <a:rPr lang="en-US" dirty="0"/>
              <a:t>Improved system usability.</a:t>
            </a:r>
          </a:p>
          <a:p>
            <a:pPr>
              <a:buFont typeface="Wingdings" panose="05000000000000000000" pitchFamily="2" charset="2"/>
              <a:buChar char="q"/>
            </a:pPr>
            <a:r>
              <a:rPr lang="en-US" dirty="0"/>
              <a:t>A closer match to users’ real needs.</a:t>
            </a:r>
          </a:p>
          <a:p>
            <a:pPr>
              <a:buFont typeface="Wingdings" panose="05000000000000000000" pitchFamily="2" charset="2"/>
              <a:buChar char="q"/>
            </a:pPr>
            <a:r>
              <a:rPr lang="en-US" dirty="0"/>
              <a:t>Improved design quality</a:t>
            </a:r>
          </a:p>
          <a:p>
            <a:pPr>
              <a:buFont typeface="Wingdings" panose="05000000000000000000" pitchFamily="2" charset="2"/>
              <a:buChar char="q"/>
            </a:pPr>
            <a:r>
              <a:rPr lang="en-US" dirty="0"/>
              <a:t>Improved maintainability.</a:t>
            </a:r>
          </a:p>
          <a:p>
            <a:pPr>
              <a:buFont typeface="Wingdings" panose="05000000000000000000" pitchFamily="2" charset="2"/>
              <a:buChar char="q"/>
            </a:pPr>
            <a:r>
              <a:rPr lang="en-US" dirty="0"/>
              <a:t>Reduced development effort.</a:t>
            </a:r>
          </a:p>
          <a:p>
            <a:pPr>
              <a:buFont typeface="Wingdings" panose="05000000000000000000" pitchFamily="2" charset="2"/>
              <a:buChar char="q"/>
            </a:pPr>
            <a:endParaRPr lang="en-US" dirty="0"/>
          </a:p>
        </p:txBody>
      </p:sp>
    </p:spTree>
    <p:extLst>
      <p:ext uri="{BB962C8B-B14F-4D97-AF65-F5344CB8AC3E}">
        <p14:creationId xmlns:p14="http://schemas.microsoft.com/office/powerpoint/2010/main" val="41818713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600" dirty="0"/>
              <a:t>The process of prototype development</a:t>
            </a:r>
            <a:br>
              <a:rPr lang="en-GB" sz="3600" dirty="0"/>
            </a:br>
            <a:endParaRPr lang="en-US" sz="3600" dirty="0"/>
          </a:p>
        </p:txBody>
      </p:sp>
      <p:pic>
        <p:nvPicPr>
          <p:cNvPr id="4" name="Content Placeholder 3" descr="2.9 PrototypeProcess.eps"/>
          <p:cNvPicPr>
            <a:picLocks noGrp="1" noChangeAspect="1"/>
          </p:cNvPicPr>
          <p:nvPr>
            <p:ph idx="1"/>
          </p:nvPr>
        </p:nvPicPr>
        <p:blipFill>
          <a:blip r:embed="rId2" cstate="print"/>
          <a:stretch>
            <a:fillRect/>
          </a:stretch>
        </p:blipFill>
        <p:spPr>
          <a:xfrm>
            <a:off x="914400" y="1219200"/>
            <a:ext cx="6781800" cy="1923197"/>
          </a:xfrm>
          <a:prstGeom prst="rect">
            <a:avLst/>
          </a:prstGeom>
        </p:spPr>
      </p:pic>
      <p:sp>
        <p:nvSpPr>
          <p:cNvPr id="3" name="Rectangle 2"/>
          <p:cNvSpPr/>
          <p:nvPr/>
        </p:nvSpPr>
        <p:spPr>
          <a:xfrm>
            <a:off x="228599" y="3429000"/>
            <a:ext cx="8716963" cy="707886"/>
          </a:xfrm>
          <a:prstGeom prst="rect">
            <a:avLst/>
          </a:prstGeom>
          <a:solidFill>
            <a:schemeClr val="tx2">
              <a:lumMod val="20000"/>
              <a:lumOff val="80000"/>
            </a:schemeClr>
          </a:solidFill>
        </p:spPr>
        <p:txBody>
          <a:bodyPr wrap="square">
            <a:spAutoFit/>
          </a:bodyPr>
          <a:lstStyle/>
          <a:p>
            <a:pPr algn="just"/>
            <a:r>
              <a:rPr lang="en-US" sz="2000" b="1" u="sng" dirty="0">
                <a:solidFill>
                  <a:srgbClr val="231F20"/>
                </a:solidFill>
                <a:latin typeface="Times-Roman"/>
              </a:rPr>
              <a:t>Objectives:</a:t>
            </a:r>
            <a:r>
              <a:rPr lang="en-US" sz="2000" b="1" dirty="0">
                <a:solidFill>
                  <a:srgbClr val="231F20"/>
                </a:solidFill>
                <a:latin typeface="Times-Roman"/>
              </a:rPr>
              <a:t> </a:t>
            </a:r>
            <a:r>
              <a:rPr lang="en-US" sz="2000" dirty="0">
                <a:solidFill>
                  <a:srgbClr val="231F20"/>
                </a:solidFill>
                <a:latin typeface="Times-Roman"/>
              </a:rPr>
              <a:t>(1)</a:t>
            </a:r>
            <a:r>
              <a:rPr lang="en-US" sz="2000" b="1" dirty="0">
                <a:solidFill>
                  <a:srgbClr val="231F20"/>
                </a:solidFill>
                <a:latin typeface="Times-Roman"/>
              </a:rPr>
              <a:t> </a:t>
            </a:r>
            <a:r>
              <a:rPr lang="en-US" sz="2000" dirty="0">
                <a:solidFill>
                  <a:srgbClr val="231F20"/>
                </a:solidFill>
                <a:latin typeface="Times-Roman"/>
              </a:rPr>
              <a:t>To develop a system to prototype the user interface, (2) To develop a system to validate functional system requirements </a:t>
            </a:r>
            <a:r>
              <a:rPr lang="en-US" sz="2000" dirty="0" err="1">
                <a:solidFill>
                  <a:srgbClr val="231F20"/>
                </a:solidFill>
                <a:latin typeface="Times-Roman"/>
              </a:rPr>
              <a:t>etc</a:t>
            </a:r>
            <a:endParaRPr lang="en-US" sz="2000" dirty="0"/>
          </a:p>
        </p:txBody>
      </p:sp>
      <p:sp>
        <p:nvSpPr>
          <p:cNvPr id="5" name="Rectangle 4"/>
          <p:cNvSpPr/>
          <p:nvPr/>
        </p:nvSpPr>
        <p:spPr>
          <a:xfrm>
            <a:off x="228598" y="4136886"/>
            <a:ext cx="8716964" cy="1015663"/>
          </a:xfrm>
          <a:prstGeom prst="rect">
            <a:avLst/>
          </a:prstGeom>
          <a:solidFill>
            <a:schemeClr val="tx2">
              <a:lumMod val="20000"/>
              <a:lumOff val="80000"/>
            </a:schemeClr>
          </a:solidFill>
        </p:spPr>
        <p:txBody>
          <a:bodyPr wrap="square">
            <a:spAutoFit/>
          </a:bodyPr>
          <a:lstStyle/>
          <a:p>
            <a:pPr algn="just"/>
            <a:r>
              <a:rPr lang="en-US" sz="2000" b="1" u="sng" dirty="0">
                <a:solidFill>
                  <a:srgbClr val="231F20"/>
                </a:solidFill>
                <a:latin typeface="Times-Roman"/>
              </a:rPr>
              <a:t>Functionality:</a:t>
            </a:r>
            <a:r>
              <a:rPr lang="en-US" sz="2000" b="1" dirty="0">
                <a:solidFill>
                  <a:srgbClr val="231F20"/>
                </a:solidFill>
                <a:latin typeface="Times-Roman"/>
              </a:rPr>
              <a:t> </a:t>
            </a:r>
            <a:r>
              <a:rPr lang="en-US" sz="2000" dirty="0">
                <a:solidFill>
                  <a:srgbClr val="231F20"/>
                </a:solidFill>
                <a:latin typeface="Times-Roman"/>
              </a:rPr>
              <a:t>Relax non-functional requirements such as response</a:t>
            </a:r>
          </a:p>
          <a:p>
            <a:pPr algn="just"/>
            <a:r>
              <a:rPr lang="en-US" sz="2000" dirty="0">
                <a:solidFill>
                  <a:srgbClr val="231F20"/>
                </a:solidFill>
                <a:latin typeface="Times-Roman"/>
              </a:rPr>
              <a:t>time and memory utilization, </a:t>
            </a:r>
            <a:r>
              <a:rPr lang="en-US" sz="2000" dirty="0">
                <a:solidFill>
                  <a:srgbClr val="231F20"/>
                </a:solidFill>
                <a:latin typeface="+mj-lt"/>
              </a:rPr>
              <a:t>s</a:t>
            </a:r>
            <a:r>
              <a:rPr lang="en-US" sz="2000" dirty="0">
                <a:latin typeface="+mj-lt"/>
              </a:rPr>
              <a:t>tandards of reliability and program quality may be reduced.</a:t>
            </a:r>
          </a:p>
        </p:txBody>
      </p:sp>
      <p:sp>
        <p:nvSpPr>
          <p:cNvPr id="6" name="Rectangle 5"/>
          <p:cNvSpPr/>
          <p:nvPr/>
        </p:nvSpPr>
        <p:spPr>
          <a:xfrm>
            <a:off x="228600" y="5105400"/>
            <a:ext cx="8716962" cy="1631216"/>
          </a:xfrm>
          <a:prstGeom prst="rect">
            <a:avLst/>
          </a:prstGeom>
          <a:solidFill>
            <a:schemeClr val="tx2">
              <a:lumMod val="20000"/>
              <a:lumOff val="80000"/>
            </a:schemeClr>
          </a:solidFill>
        </p:spPr>
        <p:txBody>
          <a:bodyPr wrap="square">
            <a:spAutoFit/>
          </a:bodyPr>
          <a:lstStyle/>
          <a:p>
            <a:pPr algn="just"/>
            <a:r>
              <a:rPr lang="en-US" sz="2000" b="1" u="sng" dirty="0">
                <a:solidFill>
                  <a:srgbClr val="231F20"/>
                </a:solidFill>
                <a:latin typeface="Times-Roman"/>
              </a:rPr>
              <a:t>Evaluation:</a:t>
            </a:r>
            <a:r>
              <a:rPr lang="en-US" sz="2000" b="1" dirty="0">
                <a:solidFill>
                  <a:srgbClr val="231F20"/>
                </a:solidFill>
                <a:latin typeface="Times-Roman"/>
              </a:rPr>
              <a:t> </a:t>
            </a:r>
            <a:r>
              <a:rPr lang="en-US" sz="2000" dirty="0">
                <a:solidFill>
                  <a:srgbClr val="231F20"/>
                </a:solidFill>
                <a:latin typeface="Times-Roman"/>
              </a:rPr>
              <a:t>Provision must be made for user training; </a:t>
            </a:r>
          </a:p>
          <a:p>
            <a:pPr algn="just"/>
            <a:r>
              <a:rPr lang="en-US" sz="2000" dirty="0">
                <a:latin typeface="+mj-lt"/>
              </a:rPr>
              <a:t>prototype objectives should be used to derive a plan for evaluation; </a:t>
            </a:r>
          </a:p>
          <a:p>
            <a:pPr algn="just"/>
            <a:r>
              <a:rPr lang="en-US" sz="2000" dirty="0">
                <a:latin typeface="+mj-lt"/>
              </a:rPr>
              <a:t>Users need time to become comfortable with a new system and to settle into a normal pattern of usage.</a:t>
            </a:r>
            <a:r>
              <a:rPr lang="en-US" sz="2000" dirty="0"/>
              <a:t> </a:t>
            </a:r>
            <a:r>
              <a:rPr lang="en-US" sz="2000" dirty="0">
                <a:latin typeface="+mj-lt"/>
              </a:rPr>
              <a:t>Once they are using the system normally, they then discover requirements errors and omissions.</a:t>
            </a:r>
          </a:p>
        </p:txBody>
      </p:sp>
    </p:spTree>
    <p:extLst>
      <p:ext uri="{BB962C8B-B14F-4D97-AF65-F5344CB8AC3E}">
        <p14:creationId xmlns:p14="http://schemas.microsoft.com/office/powerpoint/2010/main" val="19751292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Prototype development</a:t>
            </a:r>
          </a:p>
        </p:txBody>
      </p:sp>
      <p:sp>
        <p:nvSpPr>
          <p:cNvPr id="3" name="Content Placeholder 2"/>
          <p:cNvSpPr>
            <a:spLocks noGrp="1"/>
          </p:cNvSpPr>
          <p:nvPr>
            <p:ph idx="1"/>
          </p:nvPr>
        </p:nvSpPr>
        <p:spPr>
          <a:xfrm>
            <a:off x="1173163" y="1524000"/>
            <a:ext cx="7772400" cy="4114800"/>
          </a:xfrm>
        </p:spPr>
        <p:txBody>
          <a:bodyPr/>
          <a:lstStyle/>
          <a:p>
            <a:pPr>
              <a:buFont typeface="Wingdings" panose="05000000000000000000" pitchFamily="2" charset="2"/>
              <a:buChar char="q"/>
            </a:pPr>
            <a:r>
              <a:rPr lang="en-US" dirty="0"/>
              <a:t>May be based on rapid prototyping languages or tools.</a:t>
            </a:r>
          </a:p>
          <a:p>
            <a:pPr>
              <a:buFont typeface="Wingdings" panose="05000000000000000000" pitchFamily="2" charset="2"/>
              <a:buChar char="q"/>
            </a:pPr>
            <a:r>
              <a:rPr lang="en-US" dirty="0"/>
              <a:t>May involve leaving out functionality</a:t>
            </a:r>
          </a:p>
          <a:p>
            <a:pPr lvl="1">
              <a:buFont typeface="Wingdings" panose="05000000000000000000" pitchFamily="2" charset="2"/>
              <a:buChar char="q"/>
            </a:pPr>
            <a:r>
              <a:rPr lang="en-US" dirty="0"/>
              <a:t>Prototype should focus on areas of the product that are not well-understood;</a:t>
            </a:r>
          </a:p>
          <a:p>
            <a:pPr lvl="1">
              <a:buFont typeface="Wingdings" panose="05000000000000000000" pitchFamily="2" charset="2"/>
              <a:buChar char="q"/>
            </a:pPr>
            <a:r>
              <a:rPr lang="en-US" dirty="0"/>
              <a:t>Error checking and recovery may not be included in the prototype;</a:t>
            </a:r>
          </a:p>
          <a:p>
            <a:pPr lvl="1">
              <a:buFont typeface="Wingdings" panose="05000000000000000000" pitchFamily="2" charset="2"/>
              <a:buChar char="q"/>
            </a:pPr>
            <a:r>
              <a:rPr lang="en-US" dirty="0"/>
              <a:t>Focus on functional rather than non-functional requirements such as reliability and security</a:t>
            </a:r>
          </a:p>
          <a:p>
            <a:pPr>
              <a:buFont typeface="Wingdings" panose="05000000000000000000" pitchFamily="2" charset="2"/>
              <a:buChar char="q"/>
            </a:pPr>
            <a:endParaRPr lang="en-US" dirty="0"/>
          </a:p>
        </p:txBody>
      </p:sp>
    </p:spTree>
    <p:extLst>
      <p:ext uri="{BB962C8B-B14F-4D97-AF65-F5344CB8AC3E}">
        <p14:creationId xmlns:p14="http://schemas.microsoft.com/office/powerpoint/2010/main" val="29846216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Throw-away prototypes</a:t>
            </a:r>
          </a:p>
        </p:txBody>
      </p:sp>
      <p:sp>
        <p:nvSpPr>
          <p:cNvPr id="3" name="Content Placeholder 2"/>
          <p:cNvSpPr>
            <a:spLocks noGrp="1"/>
          </p:cNvSpPr>
          <p:nvPr>
            <p:ph idx="1"/>
          </p:nvPr>
        </p:nvSpPr>
        <p:spPr>
          <a:xfrm>
            <a:off x="1173163" y="1676400"/>
            <a:ext cx="7772400" cy="4114800"/>
          </a:xfrm>
        </p:spPr>
        <p:txBody>
          <a:bodyPr/>
          <a:lstStyle/>
          <a:p>
            <a:pPr>
              <a:buFont typeface="Wingdings" panose="05000000000000000000" pitchFamily="2" charset="2"/>
              <a:buChar char="q"/>
            </a:pPr>
            <a:r>
              <a:rPr lang="en-US" dirty="0"/>
              <a:t>Prototypes should be discarded after development as they are not a good basis for a production system:</a:t>
            </a:r>
          </a:p>
          <a:p>
            <a:pPr lvl="1">
              <a:buFont typeface="Wingdings" panose="05000000000000000000" pitchFamily="2" charset="2"/>
              <a:buChar char="q"/>
            </a:pPr>
            <a:r>
              <a:rPr lang="en-US" sz="2000" dirty="0"/>
              <a:t>It may be impossible to tune the system to meet non-functional requirements;</a:t>
            </a:r>
          </a:p>
          <a:p>
            <a:pPr lvl="1">
              <a:buFont typeface="Wingdings" panose="05000000000000000000" pitchFamily="2" charset="2"/>
              <a:buChar char="q"/>
            </a:pPr>
            <a:r>
              <a:rPr lang="en-US" sz="2000" dirty="0"/>
              <a:t>Rapid change during development inevitably means that prototypes are normally undocumented;</a:t>
            </a:r>
          </a:p>
          <a:p>
            <a:pPr lvl="1">
              <a:buFont typeface="Wingdings" panose="05000000000000000000" pitchFamily="2" charset="2"/>
              <a:buChar char="q"/>
            </a:pPr>
            <a:r>
              <a:rPr lang="en-US" sz="2000" dirty="0"/>
              <a:t>The prototype structure is usually degraded through rapid change;</a:t>
            </a:r>
          </a:p>
          <a:p>
            <a:pPr lvl="1">
              <a:buFont typeface="Wingdings" panose="05000000000000000000" pitchFamily="2" charset="2"/>
              <a:buChar char="q"/>
            </a:pPr>
            <a:r>
              <a:rPr lang="en-US" sz="2000" dirty="0"/>
              <a:t>The prototype probably will not meet normal organizational quality standards.</a:t>
            </a:r>
          </a:p>
          <a:p>
            <a:pPr>
              <a:buFont typeface="Wingdings" panose="05000000000000000000" pitchFamily="2" charset="2"/>
              <a:buChar char="q"/>
            </a:pPr>
            <a:endParaRPr lang="en-US" dirty="0"/>
          </a:p>
        </p:txBody>
      </p:sp>
    </p:spTree>
    <p:extLst>
      <p:ext uri="{BB962C8B-B14F-4D97-AF65-F5344CB8AC3E}">
        <p14:creationId xmlns:p14="http://schemas.microsoft.com/office/powerpoint/2010/main" val="16556927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additive="base">
                                        <p:cTn id="2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Incremental delivery</a:t>
            </a:r>
            <a:endParaRPr lang="en-US" dirty="0"/>
          </a:p>
        </p:txBody>
      </p:sp>
      <p:sp>
        <p:nvSpPr>
          <p:cNvPr id="3" name="Content Placeholder 2"/>
          <p:cNvSpPr>
            <a:spLocks noGrp="1"/>
          </p:cNvSpPr>
          <p:nvPr>
            <p:ph idx="1"/>
          </p:nvPr>
        </p:nvSpPr>
        <p:spPr>
          <a:xfrm>
            <a:off x="381000" y="1676400"/>
            <a:ext cx="8107363" cy="4114800"/>
          </a:xfrm>
        </p:spPr>
        <p:txBody>
          <a:bodyPr/>
          <a:lstStyle/>
          <a:p>
            <a:pPr algn="just">
              <a:buFont typeface="Wingdings" panose="05000000000000000000" pitchFamily="2" charset="2"/>
              <a:buChar char="q"/>
            </a:pPr>
            <a:r>
              <a:rPr lang="en-GB" sz="2400" dirty="0"/>
              <a:t>Rather than deliver the system as a single delivery, the development and delivery is broken down into increments with each increment delivering part of the required functionality.</a:t>
            </a:r>
          </a:p>
          <a:p>
            <a:pPr algn="just">
              <a:buFont typeface="Wingdings" panose="05000000000000000000" pitchFamily="2" charset="2"/>
              <a:buChar char="q"/>
            </a:pPr>
            <a:r>
              <a:rPr lang="en-GB" sz="2400" dirty="0"/>
              <a:t>User requirements are prioritised, and the highest priority requirements are included in early increments.</a:t>
            </a:r>
          </a:p>
          <a:p>
            <a:pPr algn="just">
              <a:buFont typeface="Wingdings" panose="05000000000000000000" pitchFamily="2" charset="2"/>
              <a:buChar char="q"/>
            </a:pPr>
            <a:r>
              <a:rPr lang="en-GB" sz="2400" dirty="0"/>
              <a:t>Once the development of an increment is started, the requirements are frozen though requirements for later increments can continue to evolve.</a:t>
            </a:r>
          </a:p>
          <a:p>
            <a:pPr algn="just">
              <a:buFont typeface="Wingdings" panose="05000000000000000000" pitchFamily="2" charset="2"/>
              <a:buChar char="q"/>
            </a:pPr>
            <a:endParaRPr lang="en-US" sz="2400" dirty="0"/>
          </a:p>
        </p:txBody>
      </p:sp>
    </p:spTree>
    <p:extLst>
      <p:ext uri="{BB962C8B-B14F-4D97-AF65-F5344CB8AC3E}">
        <p14:creationId xmlns:p14="http://schemas.microsoft.com/office/powerpoint/2010/main" val="40050309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Incremental development and delivery</a:t>
            </a:r>
          </a:p>
        </p:txBody>
      </p:sp>
      <p:sp>
        <p:nvSpPr>
          <p:cNvPr id="3" name="Content Placeholder 2"/>
          <p:cNvSpPr>
            <a:spLocks noGrp="1"/>
          </p:cNvSpPr>
          <p:nvPr>
            <p:ph idx="1"/>
          </p:nvPr>
        </p:nvSpPr>
        <p:spPr>
          <a:xfrm>
            <a:off x="1173163" y="1752600"/>
            <a:ext cx="7772400" cy="4114800"/>
          </a:xfrm>
        </p:spPr>
        <p:txBody>
          <a:bodyPr/>
          <a:lstStyle/>
          <a:p>
            <a:pPr>
              <a:buFont typeface="Wingdings" panose="05000000000000000000" pitchFamily="2" charset="2"/>
              <a:buChar char="q"/>
            </a:pPr>
            <a:r>
              <a:rPr lang="en-US" sz="2000" dirty="0"/>
              <a:t>Incremental development</a:t>
            </a:r>
          </a:p>
          <a:p>
            <a:pPr lvl="1">
              <a:buFont typeface="Wingdings" panose="05000000000000000000" pitchFamily="2" charset="2"/>
              <a:buChar char="q"/>
            </a:pPr>
            <a:r>
              <a:rPr lang="en-US" sz="2000" b="1" dirty="0"/>
              <a:t>Develop</a:t>
            </a:r>
            <a:r>
              <a:rPr lang="en-US" sz="2000" dirty="0"/>
              <a:t> the system in increments and </a:t>
            </a:r>
            <a:r>
              <a:rPr lang="en-US" sz="2000" b="1" dirty="0"/>
              <a:t>evaluate</a:t>
            </a:r>
            <a:r>
              <a:rPr lang="en-US" sz="2000" dirty="0"/>
              <a:t> each increment before proceeding to the development of the next increment;</a:t>
            </a:r>
          </a:p>
          <a:p>
            <a:pPr lvl="1">
              <a:buFont typeface="Wingdings" panose="05000000000000000000" pitchFamily="2" charset="2"/>
              <a:buChar char="q"/>
            </a:pPr>
            <a:r>
              <a:rPr lang="en-US" sz="2000" dirty="0"/>
              <a:t>Normal approach used in agile methods;</a:t>
            </a:r>
          </a:p>
          <a:p>
            <a:pPr lvl="1">
              <a:buFont typeface="Wingdings" panose="05000000000000000000" pitchFamily="2" charset="2"/>
              <a:buChar char="q"/>
            </a:pPr>
            <a:r>
              <a:rPr lang="en-US" sz="2000" dirty="0"/>
              <a:t>Evaluation done by user/customer.</a:t>
            </a:r>
          </a:p>
          <a:p>
            <a:pPr>
              <a:buFont typeface="Wingdings" panose="05000000000000000000" pitchFamily="2" charset="2"/>
              <a:buChar char="q"/>
            </a:pPr>
            <a:r>
              <a:rPr lang="en-US" sz="2000" dirty="0"/>
              <a:t>Incremental delivery</a:t>
            </a:r>
          </a:p>
          <a:p>
            <a:pPr lvl="1">
              <a:buFont typeface="Wingdings" panose="05000000000000000000" pitchFamily="2" charset="2"/>
              <a:buChar char="q"/>
            </a:pPr>
            <a:r>
              <a:rPr lang="en-US" sz="2000" dirty="0"/>
              <a:t>Deploy an increment for use by end-users;</a:t>
            </a:r>
          </a:p>
          <a:p>
            <a:pPr lvl="1">
              <a:buFont typeface="Wingdings" panose="05000000000000000000" pitchFamily="2" charset="2"/>
              <a:buChar char="q"/>
            </a:pPr>
            <a:r>
              <a:rPr lang="en-US" sz="2000" dirty="0"/>
              <a:t>More realistic evaluation about practical use of software;</a:t>
            </a:r>
          </a:p>
          <a:p>
            <a:pPr lvl="1">
              <a:buFont typeface="Wingdings" panose="05000000000000000000" pitchFamily="2" charset="2"/>
              <a:buChar char="q"/>
            </a:pPr>
            <a:r>
              <a:rPr lang="en-US" sz="2000" b="1" dirty="0"/>
              <a:t>Difficult to implement for replacement systems </a:t>
            </a:r>
            <a:r>
              <a:rPr lang="en-US" sz="2000" dirty="0"/>
              <a:t>as increments have less functionality than the system being replaced.</a:t>
            </a:r>
          </a:p>
        </p:txBody>
      </p:sp>
    </p:spTree>
    <p:extLst>
      <p:ext uri="{BB962C8B-B14F-4D97-AF65-F5344CB8AC3E}">
        <p14:creationId xmlns:p14="http://schemas.microsoft.com/office/powerpoint/2010/main" val="34614165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 calcmode="lin" valueType="num">
                                      <p:cBhvr additive="base">
                                        <p:cTn id="3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 calcmode="lin" valueType="num">
                                      <p:cBhvr additive="base">
                                        <p:cTn id="3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Incremental delivery</a:t>
            </a:r>
            <a:endParaRPr lang="en-US" dirty="0"/>
          </a:p>
        </p:txBody>
      </p:sp>
      <p:pic>
        <p:nvPicPr>
          <p:cNvPr id="4" name="Picture 3" descr="2.10 Incremental-delivery.eps"/>
          <p:cNvPicPr>
            <a:picLocks noChangeAspect="1"/>
          </p:cNvPicPr>
          <p:nvPr/>
        </p:nvPicPr>
        <p:blipFill>
          <a:blip r:embed="rId2" cstate="print"/>
          <a:stretch>
            <a:fillRect/>
          </a:stretch>
        </p:blipFill>
        <p:spPr>
          <a:xfrm>
            <a:off x="457200" y="2353036"/>
            <a:ext cx="8172017" cy="2767244"/>
          </a:xfrm>
          <a:prstGeom prst="rect">
            <a:avLst/>
          </a:prstGeom>
        </p:spPr>
      </p:pic>
    </p:spTree>
    <p:extLst>
      <p:ext uri="{BB962C8B-B14F-4D97-AF65-F5344CB8AC3E}">
        <p14:creationId xmlns:p14="http://schemas.microsoft.com/office/powerpoint/2010/main" val="148814165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Incremental delivery advantages</a:t>
            </a:r>
            <a:endParaRPr lang="en-US" dirty="0"/>
          </a:p>
        </p:txBody>
      </p:sp>
      <p:sp>
        <p:nvSpPr>
          <p:cNvPr id="3" name="Content Placeholder 2"/>
          <p:cNvSpPr>
            <a:spLocks noGrp="1"/>
          </p:cNvSpPr>
          <p:nvPr>
            <p:ph idx="1"/>
          </p:nvPr>
        </p:nvSpPr>
        <p:spPr>
          <a:xfrm>
            <a:off x="1173163" y="1676400"/>
            <a:ext cx="7772400" cy="4114800"/>
          </a:xfrm>
        </p:spPr>
        <p:txBody>
          <a:bodyPr/>
          <a:lstStyle/>
          <a:p>
            <a:pPr>
              <a:buFont typeface="Wingdings" panose="05000000000000000000" pitchFamily="2" charset="2"/>
              <a:buChar char="q"/>
            </a:pPr>
            <a:r>
              <a:rPr lang="en-GB" b="1" dirty="0"/>
              <a:t>Customer value</a:t>
            </a:r>
            <a:r>
              <a:rPr lang="en-GB" dirty="0"/>
              <a:t> can be delivered with each increment so system functionality is </a:t>
            </a:r>
            <a:r>
              <a:rPr lang="en-GB" b="1" dirty="0"/>
              <a:t>available earlier</a:t>
            </a:r>
            <a:r>
              <a:rPr lang="en-GB" dirty="0"/>
              <a:t>.</a:t>
            </a:r>
          </a:p>
          <a:p>
            <a:pPr>
              <a:buFont typeface="Wingdings" panose="05000000000000000000" pitchFamily="2" charset="2"/>
              <a:buChar char="q"/>
            </a:pPr>
            <a:r>
              <a:rPr lang="en-GB" dirty="0"/>
              <a:t>Early increments act as a prototype to help </a:t>
            </a:r>
            <a:r>
              <a:rPr lang="en-GB" b="1" dirty="0"/>
              <a:t>elicit requirements</a:t>
            </a:r>
            <a:r>
              <a:rPr lang="en-GB" dirty="0"/>
              <a:t> for later increments.</a:t>
            </a:r>
          </a:p>
          <a:p>
            <a:pPr>
              <a:buFont typeface="Wingdings" panose="05000000000000000000" pitchFamily="2" charset="2"/>
              <a:buChar char="q"/>
            </a:pPr>
            <a:r>
              <a:rPr lang="en-GB" dirty="0"/>
              <a:t>Lower risk of overall project failure.</a:t>
            </a:r>
          </a:p>
          <a:p>
            <a:pPr>
              <a:buFont typeface="Wingdings" panose="05000000000000000000" pitchFamily="2" charset="2"/>
              <a:buChar char="q"/>
            </a:pPr>
            <a:r>
              <a:rPr lang="en-GB" dirty="0"/>
              <a:t>The </a:t>
            </a:r>
            <a:r>
              <a:rPr lang="en-GB" b="1" dirty="0"/>
              <a:t>highest priority system services</a:t>
            </a:r>
            <a:r>
              <a:rPr lang="en-GB" dirty="0"/>
              <a:t> tend to receive the most testing.</a:t>
            </a:r>
          </a:p>
        </p:txBody>
      </p:sp>
    </p:spTree>
    <p:extLst>
      <p:ext uri="{BB962C8B-B14F-4D97-AF65-F5344CB8AC3E}">
        <p14:creationId xmlns:p14="http://schemas.microsoft.com/office/powerpoint/2010/main" val="22613946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Incremental delivery problems</a:t>
            </a:r>
          </a:p>
        </p:txBody>
      </p:sp>
      <p:sp>
        <p:nvSpPr>
          <p:cNvPr id="3" name="Content Placeholder 2"/>
          <p:cNvSpPr>
            <a:spLocks noGrp="1"/>
          </p:cNvSpPr>
          <p:nvPr>
            <p:ph idx="1"/>
          </p:nvPr>
        </p:nvSpPr>
        <p:spPr>
          <a:xfrm>
            <a:off x="685800" y="1447800"/>
            <a:ext cx="7772400" cy="4114800"/>
          </a:xfrm>
        </p:spPr>
        <p:txBody>
          <a:bodyPr/>
          <a:lstStyle/>
          <a:p>
            <a:pPr>
              <a:buFont typeface="Wingdings" panose="05000000000000000000" pitchFamily="2" charset="2"/>
              <a:buChar char="q"/>
            </a:pPr>
            <a:r>
              <a:rPr lang="en-GB" sz="2400" dirty="0"/>
              <a:t>Most systems require a set of </a:t>
            </a:r>
            <a:r>
              <a:rPr lang="en-GB" sz="2400" b="1" dirty="0"/>
              <a:t>basic facilities</a:t>
            </a:r>
            <a:r>
              <a:rPr lang="en-GB" sz="2400" dirty="0"/>
              <a:t> that are used by different parts of the system. </a:t>
            </a:r>
          </a:p>
          <a:p>
            <a:pPr lvl="1">
              <a:buFont typeface="Wingdings" panose="05000000000000000000" pitchFamily="2" charset="2"/>
              <a:buChar char="q"/>
            </a:pPr>
            <a:r>
              <a:rPr lang="en-GB" sz="2400" dirty="0"/>
              <a:t>As requirements are not defined in detail until an increment is to be implemented, it can be hard to identify common facilities that are needed by all increments. </a:t>
            </a:r>
          </a:p>
          <a:p>
            <a:pPr>
              <a:buFont typeface="Wingdings" panose="05000000000000000000" pitchFamily="2" charset="2"/>
              <a:buChar char="q"/>
            </a:pPr>
            <a:r>
              <a:rPr lang="en-GB" sz="2400" dirty="0"/>
              <a:t>The essence of iterative processes is that the specification is developed in conjunction with the software. </a:t>
            </a:r>
          </a:p>
          <a:p>
            <a:pPr lvl="1">
              <a:buFont typeface="Wingdings" panose="05000000000000000000" pitchFamily="2" charset="2"/>
              <a:buChar char="q"/>
            </a:pPr>
            <a:r>
              <a:rPr lang="en-GB" sz="2400" dirty="0"/>
              <a:t>However, this conflicts with the procurement model of many organizations, where the complete system specification is part of the system development contract.</a:t>
            </a:r>
            <a:endParaRPr lang="en-US" sz="2400" dirty="0"/>
          </a:p>
        </p:txBody>
      </p:sp>
    </p:spTree>
    <p:extLst>
      <p:ext uri="{BB962C8B-B14F-4D97-AF65-F5344CB8AC3E}">
        <p14:creationId xmlns:p14="http://schemas.microsoft.com/office/powerpoint/2010/main" val="30313406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228600"/>
            <a:ext cx="7772400" cy="1143000"/>
          </a:xfrm>
        </p:spPr>
        <p:txBody>
          <a:bodyPr/>
          <a:lstStyle/>
          <a:p>
            <a:r>
              <a:rPr lang="en-GB" dirty="0"/>
              <a:t>Boehm’s spiral model</a:t>
            </a:r>
            <a:endParaRPr lang="en-US" dirty="0"/>
          </a:p>
        </p:txBody>
      </p:sp>
      <p:sp>
        <p:nvSpPr>
          <p:cNvPr id="3" name="Content Placeholder 2"/>
          <p:cNvSpPr>
            <a:spLocks noGrp="1"/>
          </p:cNvSpPr>
          <p:nvPr>
            <p:ph idx="1"/>
          </p:nvPr>
        </p:nvSpPr>
        <p:spPr>
          <a:xfrm>
            <a:off x="1173163" y="1371600"/>
            <a:ext cx="7772400" cy="4114800"/>
          </a:xfrm>
        </p:spPr>
        <p:txBody>
          <a:bodyPr/>
          <a:lstStyle/>
          <a:p>
            <a:pPr>
              <a:buFont typeface="Wingdings" panose="05000000000000000000" pitchFamily="2" charset="2"/>
              <a:buChar char="q"/>
            </a:pPr>
            <a:r>
              <a:rPr lang="en-US" sz="2200" dirty="0"/>
              <a:t>A risk-driven software process framework (the spiral model) was proposed by Boehm (1988).</a:t>
            </a:r>
            <a:endParaRPr lang="en-GB" sz="2200" dirty="0"/>
          </a:p>
          <a:p>
            <a:pPr>
              <a:buFont typeface="Wingdings" panose="05000000000000000000" pitchFamily="2" charset="2"/>
              <a:buChar char="q"/>
            </a:pPr>
            <a:r>
              <a:rPr lang="en-GB" sz="2200" dirty="0"/>
              <a:t>Process is represented as a spiral rather than as a sequence of activities with backtracking.</a:t>
            </a:r>
          </a:p>
          <a:p>
            <a:pPr>
              <a:buFont typeface="Wingdings" panose="05000000000000000000" pitchFamily="2" charset="2"/>
              <a:buChar char="q"/>
            </a:pPr>
            <a:r>
              <a:rPr lang="en-GB" sz="2200" dirty="0"/>
              <a:t>Each loop in the spiral represents a phase in the process. </a:t>
            </a:r>
          </a:p>
          <a:p>
            <a:pPr>
              <a:buFont typeface="Wingdings" panose="05000000000000000000" pitchFamily="2" charset="2"/>
              <a:buChar char="q"/>
            </a:pPr>
            <a:r>
              <a:rPr lang="en-GB" sz="2200" dirty="0"/>
              <a:t>No fixed phases such as specification or design - loops in the spiral are chosen depending on what is required.</a:t>
            </a:r>
          </a:p>
          <a:p>
            <a:pPr>
              <a:buFont typeface="Wingdings" panose="05000000000000000000" pitchFamily="2" charset="2"/>
              <a:buChar char="q"/>
            </a:pPr>
            <a:r>
              <a:rPr lang="en-GB" sz="2200" b="1" dirty="0"/>
              <a:t>Risks</a:t>
            </a:r>
            <a:r>
              <a:rPr lang="en-GB" sz="2200" dirty="0"/>
              <a:t> are explicitly assessed and resolved throughout the process.</a:t>
            </a:r>
          </a:p>
          <a:p>
            <a:pPr algn="l">
              <a:buFont typeface="Wingdings" panose="05000000000000000000" pitchFamily="2" charset="2"/>
              <a:buChar char="q"/>
            </a:pPr>
            <a:r>
              <a:rPr lang="en-US" sz="2200" dirty="0"/>
              <a:t>Thus, the innermost loop might be concerned with system feasibility, the next loop with requirements definition, the next loop with system design, and so on.</a:t>
            </a:r>
            <a:endParaRPr lang="en-GB" sz="2200" dirty="0"/>
          </a:p>
          <a:p>
            <a:pPr>
              <a:buFont typeface="Wingdings" panose="05000000000000000000" pitchFamily="2" charset="2"/>
              <a:buChar char="q"/>
            </a:pPr>
            <a:endParaRPr lang="en-US" sz="2400" dirty="0"/>
          </a:p>
        </p:txBody>
      </p:sp>
    </p:spTree>
    <p:extLst>
      <p:ext uri="{BB962C8B-B14F-4D97-AF65-F5344CB8AC3E}">
        <p14:creationId xmlns:p14="http://schemas.microsoft.com/office/powerpoint/2010/main" val="161132528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Boehm’s spiral model of the software process </a:t>
            </a:r>
            <a:endParaRPr lang="en-US" dirty="0"/>
          </a:p>
        </p:txBody>
      </p:sp>
      <p:pic>
        <p:nvPicPr>
          <p:cNvPr id="4" name="Picture 3" descr="2.11 Spiral-model.eps"/>
          <p:cNvPicPr>
            <a:picLocks noChangeAspect="1"/>
          </p:cNvPicPr>
          <p:nvPr/>
        </p:nvPicPr>
        <p:blipFill>
          <a:blip r:embed="rId2" cstate="print"/>
          <a:stretch>
            <a:fillRect/>
          </a:stretch>
        </p:blipFill>
        <p:spPr>
          <a:xfrm>
            <a:off x="685800" y="1752600"/>
            <a:ext cx="6986169" cy="4753301"/>
          </a:xfrm>
          <a:prstGeom prst="rect">
            <a:avLst/>
          </a:prstGeom>
        </p:spPr>
      </p:pic>
    </p:spTree>
    <p:extLst>
      <p:ext uri="{BB962C8B-B14F-4D97-AF65-F5344CB8AC3E}">
        <p14:creationId xmlns:p14="http://schemas.microsoft.com/office/powerpoint/2010/main" val="105669478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0"/>
            <a:ext cx="7772400" cy="1143000"/>
          </a:xfrm>
        </p:spPr>
        <p:txBody>
          <a:bodyPr/>
          <a:lstStyle/>
          <a:p>
            <a:r>
              <a:rPr lang="en-GB" dirty="0"/>
              <a:t>Spiral model sectors</a:t>
            </a:r>
            <a:endParaRPr lang="en-US" dirty="0"/>
          </a:p>
        </p:txBody>
      </p:sp>
      <p:sp>
        <p:nvSpPr>
          <p:cNvPr id="3" name="Content Placeholder 2"/>
          <p:cNvSpPr>
            <a:spLocks noGrp="1"/>
          </p:cNvSpPr>
          <p:nvPr>
            <p:ph idx="1"/>
          </p:nvPr>
        </p:nvSpPr>
        <p:spPr>
          <a:xfrm>
            <a:off x="914400" y="990600"/>
            <a:ext cx="7772400" cy="4114800"/>
          </a:xfrm>
        </p:spPr>
        <p:txBody>
          <a:bodyPr/>
          <a:lstStyle/>
          <a:p>
            <a:pPr>
              <a:buFont typeface="Wingdings" panose="05000000000000000000" pitchFamily="2" charset="2"/>
              <a:buChar char="q"/>
            </a:pPr>
            <a:r>
              <a:rPr lang="en-GB" sz="1800" dirty="0"/>
              <a:t>Objective setting</a:t>
            </a:r>
          </a:p>
          <a:p>
            <a:pPr lvl="1">
              <a:buFont typeface="Wingdings" panose="05000000000000000000" pitchFamily="2" charset="2"/>
              <a:buChar char="q"/>
            </a:pPr>
            <a:r>
              <a:rPr lang="en-GB" sz="1800" dirty="0"/>
              <a:t>Specific objectives for the phase are identified. Project risks are identified</a:t>
            </a:r>
          </a:p>
          <a:p>
            <a:pPr>
              <a:buFont typeface="Wingdings" panose="05000000000000000000" pitchFamily="2" charset="2"/>
              <a:buChar char="q"/>
            </a:pPr>
            <a:r>
              <a:rPr lang="en-GB" sz="1800" dirty="0"/>
              <a:t>Risk assessment and reduction</a:t>
            </a:r>
          </a:p>
          <a:p>
            <a:pPr lvl="1">
              <a:buFont typeface="Wingdings" panose="05000000000000000000" pitchFamily="2" charset="2"/>
              <a:buChar char="q"/>
            </a:pPr>
            <a:r>
              <a:rPr lang="en-GB" sz="1800" dirty="0"/>
              <a:t>Risks are assessed and activities put in place to reduce the key risks. </a:t>
            </a:r>
            <a:r>
              <a:rPr lang="en-US" sz="1800" dirty="0"/>
              <a:t>For example, if there is a risk that the requirements are inappropriate, a prototype system may be developed.</a:t>
            </a:r>
            <a:endParaRPr lang="en-GB" sz="1800" dirty="0"/>
          </a:p>
          <a:p>
            <a:pPr>
              <a:buFont typeface="Wingdings" panose="05000000000000000000" pitchFamily="2" charset="2"/>
              <a:buChar char="q"/>
            </a:pPr>
            <a:r>
              <a:rPr lang="en-GB" sz="1800" dirty="0"/>
              <a:t>Development and validation</a:t>
            </a:r>
          </a:p>
          <a:p>
            <a:pPr lvl="1">
              <a:buFont typeface="Wingdings" panose="05000000000000000000" pitchFamily="2" charset="2"/>
              <a:buChar char="q"/>
            </a:pPr>
            <a:r>
              <a:rPr lang="en-GB" sz="1800" dirty="0"/>
              <a:t>A development model for the system is chosen  which can be any of the generic models.</a:t>
            </a:r>
          </a:p>
          <a:p>
            <a:pPr lvl="1">
              <a:buFont typeface="Wingdings" panose="05000000000000000000" pitchFamily="2" charset="2"/>
              <a:buChar char="q"/>
            </a:pPr>
            <a:r>
              <a:rPr lang="en-US" sz="1800" dirty="0"/>
              <a:t>For example, throwaway prototyping may be the best development approach if user interface risks are dominant. If the main identified risk is sub-system integration, the waterfall model may be the best development model to use. </a:t>
            </a:r>
            <a:endParaRPr lang="en-GB" sz="1800" dirty="0"/>
          </a:p>
          <a:p>
            <a:pPr>
              <a:buFont typeface="Wingdings" panose="05000000000000000000" pitchFamily="2" charset="2"/>
              <a:buChar char="q"/>
            </a:pPr>
            <a:r>
              <a:rPr lang="en-GB" sz="1800" dirty="0"/>
              <a:t>Planning</a:t>
            </a:r>
          </a:p>
          <a:p>
            <a:pPr lvl="1">
              <a:buFont typeface="Wingdings" panose="05000000000000000000" pitchFamily="2" charset="2"/>
              <a:buChar char="q"/>
            </a:pPr>
            <a:r>
              <a:rPr lang="en-GB" sz="1800" dirty="0"/>
              <a:t>The project is reviewed, and the next phase of the spiral is planned.</a:t>
            </a:r>
          </a:p>
          <a:p>
            <a:pPr>
              <a:buFont typeface="Wingdings" panose="05000000000000000000" pitchFamily="2" charset="2"/>
              <a:buChar char="q"/>
            </a:pPr>
            <a:endParaRPr lang="en-US" sz="1800" dirty="0"/>
          </a:p>
        </p:txBody>
      </p:sp>
    </p:spTree>
    <p:extLst>
      <p:ext uri="{BB962C8B-B14F-4D97-AF65-F5344CB8AC3E}">
        <p14:creationId xmlns:p14="http://schemas.microsoft.com/office/powerpoint/2010/main" val="234935039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Spiral model usage</a:t>
            </a:r>
          </a:p>
        </p:txBody>
      </p:sp>
      <p:sp>
        <p:nvSpPr>
          <p:cNvPr id="3" name="Content Placeholder 2"/>
          <p:cNvSpPr>
            <a:spLocks noGrp="1"/>
          </p:cNvSpPr>
          <p:nvPr>
            <p:ph idx="1"/>
          </p:nvPr>
        </p:nvSpPr>
        <p:spPr>
          <a:xfrm>
            <a:off x="685800" y="1600200"/>
            <a:ext cx="7772400" cy="4114800"/>
          </a:xfrm>
        </p:spPr>
        <p:txBody>
          <a:bodyPr/>
          <a:lstStyle/>
          <a:p>
            <a:pPr>
              <a:buFont typeface="Wingdings" panose="05000000000000000000" pitchFamily="2" charset="2"/>
              <a:buChar char="q"/>
            </a:pPr>
            <a:r>
              <a:rPr lang="en-US" dirty="0"/>
              <a:t>Spiral model has been very influential in helping people think about iteration in software processes and introducing the risk-driven approach to development.</a:t>
            </a:r>
          </a:p>
          <a:p>
            <a:pPr>
              <a:buFont typeface="Wingdings" panose="05000000000000000000" pitchFamily="2" charset="2"/>
              <a:buChar char="q"/>
            </a:pPr>
            <a:r>
              <a:rPr lang="en-US" dirty="0"/>
              <a:t>In practice, however, the model is rarely used as published for practical software development.</a:t>
            </a:r>
          </a:p>
          <a:p>
            <a:pPr>
              <a:buFont typeface="Wingdings" panose="05000000000000000000" pitchFamily="2" charset="2"/>
              <a:buChar char="q"/>
            </a:pPr>
            <a:endParaRPr lang="en-US" dirty="0"/>
          </a:p>
        </p:txBody>
      </p:sp>
    </p:spTree>
    <p:extLst>
      <p:ext uri="{BB962C8B-B14F-4D97-AF65-F5344CB8AC3E}">
        <p14:creationId xmlns:p14="http://schemas.microsoft.com/office/powerpoint/2010/main" val="269314605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Rational Unified Process</a:t>
            </a:r>
          </a:p>
        </p:txBody>
      </p:sp>
      <p:sp>
        <p:nvSpPr>
          <p:cNvPr id="3" name="Content Placeholder 2"/>
          <p:cNvSpPr>
            <a:spLocks noGrp="1"/>
          </p:cNvSpPr>
          <p:nvPr>
            <p:ph idx="1"/>
          </p:nvPr>
        </p:nvSpPr>
        <p:spPr>
          <a:xfrm>
            <a:off x="1173163" y="1752600"/>
            <a:ext cx="7772400" cy="4114800"/>
          </a:xfrm>
        </p:spPr>
        <p:txBody>
          <a:bodyPr/>
          <a:lstStyle/>
          <a:p>
            <a:pPr>
              <a:buFont typeface="Wingdings" panose="05000000000000000000" pitchFamily="2" charset="2"/>
              <a:buChar char="q"/>
            </a:pPr>
            <a:r>
              <a:rPr lang="en-US" sz="2400" dirty="0"/>
              <a:t>A modern generic process derived from the work on the UML and associated process.</a:t>
            </a:r>
          </a:p>
          <a:p>
            <a:pPr>
              <a:buFont typeface="Wingdings" panose="05000000000000000000" pitchFamily="2" charset="2"/>
              <a:buChar char="q"/>
            </a:pPr>
            <a:r>
              <a:rPr lang="en-US" sz="2400" dirty="0"/>
              <a:t>Brings together aspects of the 3 generic process models discussed previously.</a:t>
            </a:r>
          </a:p>
          <a:p>
            <a:pPr>
              <a:buFont typeface="Wingdings" panose="05000000000000000000" pitchFamily="2" charset="2"/>
              <a:buChar char="q"/>
            </a:pPr>
            <a:r>
              <a:rPr lang="en-US" sz="2400" dirty="0"/>
              <a:t>Normally described from 3 perspectives</a:t>
            </a:r>
          </a:p>
          <a:p>
            <a:pPr lvl="1">
              <a:buFont typeface="Wingdings" panose="05000000000000000000" pitchFamily="2" charset="2"/>
              <a:buChar char="q"/>
            </a:pPr>
            <a:r>
              <a:rPr lang="en-US" sz="2400" dirty="0"/>
              <a:t>A dynamic perspective that shows phases over time;</a:t>
            </a:r>
          </a:p>
          <a:p>
            <a:pPr lvl="1">
              <a:buFont typeface="Wingdings" panose="05000000000000000000" pitchFamily="2" charset="2"/>
              <a:buChar char="q"/>
            </a:pPr>
            <a:r>
              <a:rPr lang="en-US" sz="2400" dirty="0"/>
              <a:t>A static perspective that shows process activities;</a:t>
            </a:r>
          </a:p>
          <a:p>
            <a:pPr lvl="1">
              <a:buFont typeface="Wingdings" panose="05000000000000000000" pitchFamily="2" charset="2"/>
              <a:buChar char="q"/>
            </a:pPr>
            <a:r>
              <a:rPr lang="en-US" sz="2400" dirty="0"/>
              <a:t>A practice perspective that suggests good practice.</a:t>
            </a:r>
          </a:p>
          <a:p>
            <a:pPr>
              <a:buFont typeface="Wingdings" panose="05000000000000000000" pitchFamily="2" charset="2"/>
              <a:buChar char="q"/>
            </a:pPr>
            <a:endParaRPr lang="en-US" sz="2400" dirty="0"/>
          </a:p>
        </p:txBody>
      </p:sp>
    </p:spTree>
    <p:extLst>
      <p:ext uri="{BB962C8B-B14F-4D97-AF65-F5344CB8AC3E}">
        <p14:creationId xmlns:p14="http://schemas.microsoft.com/office/powerpoint/2010/main" val="113396801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Phases in the Rational Unified Process </a:t>
            </a:r>
            <a:endParaRPr lang="en-US" dirty="0"/>
          </a:p>
        </p:txBody>
      </p:sp>
      <p:pic>
        <p:nvPicPr>
          <p:cNvPr id="4" name="Picture 3" descr="2.12 RUP phases.eps"/>
          <p:cNvPicPr>
            <a:picLocks noChangeAspect="1"/>
          </p:cNvPicPr>
          <p:nvPr/>
        </p:nvPicPr>
        <p:blipFill>
          <a:blip r:embed="rId2" cstate="print"/>
          <a:stretch>
            <a:fillRect/>
          </a:stretch>
        </p:blipFill>
        <p:spPr>
          <a:xfrm>
            <a:off x="457200" y="2775338"/>
            <a:ext cx="7968480" cy="1831561"/>
          </a:xfrm>
          <a:prstGeom prst="rect">
            <a:avLst/>
          </a:prstGeom>
        </p:spPr>
      </p:pic>
    </p:spTree>
    <p:extLst>
      <p:ext uri="{BB962C8B-B14F-4D97-AF65-F5344CB8AC3E}">
        <p14:creationId xmlns:p14="http://schemas.microsoft.com/office/powerpoint/2010/main" val="204848695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16565"/>
            <a:ext cx="7772400" cy="1143000"/>
          </a:xfrm>
        </p:spPr>
        <p:txBody>
          <a:bodyPr/>
          <a:lstStyle/>
          <a:p>
            <a:r>
              <a:rPr lang="en-US" dirty="0"/>
              <a:t>RUP phases</a:t>
            </a:r>
          </a:p>
        </p:txBody>
      </p:sp>
      <p:sp>
        <p:nvSpPr>
          <p:cNvPr id="3" name="Content Placeholder 2"/>
          <p:cNvSpPr>
            <a:spLocks noGrp="1"/>
          </p:cNvSpPr>
          <p:nvPr>
            <p:ph idx="1"/>
          </p:nvPr>
        </p:nvSpPr>
        <p:spPr>
          <a:xfrm>
            <a:off x="685800" y="990600"/>
            <a:ext cx="7772400" cy="4114800"/>
          </a:xfrm>
        </p:spPr>
        <p:txBody>
          <a:bodyPr/>
          <a:lstStyle/>
          <a:p>
            <a:pPr>
              <a:buFont typeface="Wingdings" panose="05000000000000000000" pitchFamily="2" charset="2"/>
              <a:buChar char="q"/>
            </a:pPr>
            <a:r>
              <a:rPr lang="en-US" sz="1800" dirty="0"/>
              <a:t>Inception</a:t>
            </a:r>
          </a:p>
          <a:p>
            <a:pPr lvl="1">
              <a:buFont typeface="Wingdings" panose="05000000000000000000" pitchFamily="2" charset="2"/>
              <a:buChar char="q"/>
            </a:pPr>
            <a:r>
              <a:rPr lang="en-US" sz="1800" dirty="0"/>
              <a:t>Establish the business case for the system.</a:t>
            </a:r>
          </a:p>
          <a:p>
            <a:pPr lvl="2">
              <a:buFont typeface="Wingdings" panose="05000000000000000000" pitchFamily="2" charset="2"/>
              <a:buChar char="q"/>
            </a:pPr>
            <a:r>
              <a:rPr lang="en-US" sz="1800" dirty="0"/>
              <a:t>You should identify all external entities (people and systems) that will interact with the system and define these interactions</a:t>
            </a:r>
          </a:p>
          <a:p>
            <a:pPr>
              <a:buFont typeface="Wingdings" panose="05000000000000000000" pitchFamily="2" charset="2"/>
              <a:buChar char="q"/>
            </a:pPr>
            <a:r>
              <a:rPr lang="en-US" sz="1800" dirty="0"/>
              <a:t>Elaboration</a:t>
            </a:r>
          </a:p>
          <a:p>
            <a:pPr lvl="1">
              <a:buFont typeface="Wingdings" panose="05000000000000000000" pitchFamily="2" charset="2"/>
              <a:buChar char="q"/>
            </a:pPr>
            <a:r>
              <a:rPr lang="en-US" sz="1800" dirty="0"/>
              <a:t>Develop an understanding of the problem domain, requirement model, key project risks, project plan, development plan and the system architecture.</a:t>
            </a:r>
          </a:p>
          <a:p>
            <a:pPr lvl="1">
              <a:buFont typeface="Wingdings" panose="05000000000000000000" pitchFamily="2" charset="2"/>
              <a:buChar char="q"/>
            </a:pPr>
            <a:r>
              <a:rPr lang="en-US" sz="1800" dirty="0"/>
              <a:t>On completion of this phase, you should have a requirements model for the system, which may be a set of UML use-cases, an architectural description, and a development plan for the software.</a:t>
            </a:r>
          </a:p>
          <a:p>
            <a:pPr>
              <a:buFont typeface="Wingdings" panose="05000000000000000000" pitchFamily="2" charset="2"/>
              <a:buChar char="q"/>
            </a:pPr>
            <a:r>
              <a:rPr lang="en-US" sz="1800" dirty="0"/>
              <a:t>Construction</a:t>
            </a:r>
          </a:p>
          <a:p>
            <a:pPr lvl="1">
              <a:buFont typeface="Wingdings" panose="05000000000000000000" pitchFamily="2" charset="2"/>
              <a:buChar char="q"/>
            </a:pPr>
            <a:r>
              <a:rPr lang="en-US" sz="1800" dirty="0"/>
              <a:t>It involves system design, programming and testing. On completion of this phase, you should have a working software system and associated documentation that is ready for delivery to users.</a:t>
            </a:r>
          </a:p>
          <a:p>
            <a:pPr>
              <a:buFont typeface="Wingdings" panose="05000000000000000000" pitchFamily="2" charset="2"/>
              <a:buChar char="q"/>
            </a:pPr>
            <a:r>
              <a:rPr lang="en-US" sz="1800" dirty="0"/>
              <a:t>Transition</a:t>
            </a:r>
          </a:p>
          <a:p>
            <a:pPr lvl="1">
              <a:buFont typeface="Wingdings" panose="05000000000000000000" pitchFamily="2" charset="2"/>
              <a:buChar char="q"/>
            </a:pPr>
            <a:r>
              <a:rPr lang="en-US" sz="1800" dirty="0"/>
              <a:t>Deploy the system in its operating environment. On completion of this phase, you should have a documented software system that is working correctly in its operational environment. </a:t>
            </a:r>
          </a:p>
          <a:p>
            <a:pPr>
              <a:buFont typeface="Wingdings" panose="05000000000000000000" pitchFamily="2" charset="2"/>
              <a:buChar char="q"/>
            </a:pPr>
            <a:endParaRPr lang="en-US" sz="1800" dirty="0"/>
          </a:p>
        </p:txBody>
      </p:sp>
    </p:spTree>
    <p:extLst>
      <p:ext uri="{BB962C8B-B14F-4D97-AF65-F5344CB8AC3E}">
        <p14:creationId xmlns:p14="http://schemas.microsoft.com/office/powerpoint/2010/main" val="27190105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 calcmode="lin" valueType="num">
                                      <p:cBhvr additive="base">
                                        <p:cTn id="3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anim calcmode="lin" valueType="num">
                                      <p:cBhvr additive="base">
                                        <p:cTn id="3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grpId="0" nodeType="clickEffect">
                                  <p:stCondLst>
                                    <p:cond delay="0"/>
                                  </p:stCondLst>
                                  <p:childTnLst>
                                    <p:set>
                                      <p:cBhvr>
                                        <p:cTn id="44" dur="1" fill="hold">
                                          <p:stCondLst>
                                            <p:cond delay="0"/>
                                          </p:stCondLst>
                                        </p:cTn>
                                        <p:tgtEl>
                                          <p:spTgt spid="3">
                                            <p:txEl>
                                              <p:pRg st="8" end="8"/>
                                            </p:txEl>
                                          </p:spTgt>
                                        </p:tgtEl>
                                        <p:attrNameLst>
                                          <p:attrName>style.visibility</p:attrName>
                                        </p:attrNameLst>
                                      </p:cBhvr>
                                      <p:to>
                                        <p:strVal val="visible"/>
                                      </p:to>
                                    </p:set>
                                    <p:anim calcmode="lin" valueType="num">
                                      <p:cBhvr additive="base">
                                        <p:cTn id="4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3">
                                            <p:txEl>
                                              <p:pRg st="8" end="8"/>
                                            </p:txEl>
                                          </p:spTgt>
                                        </p:tgtEl>
                                        <p:attrNameLst>
                                          <p:attrName>ppt_y</p:attrName>
                                        </p:attrNameLst>
                                      </p:cBhvr>
                                      <p:tavLst>
                                        <p:tav tm="0">
                                          <p:val>
                                            <p:strVal val="1+#ppt_h/2"/>
                                          </p:val>
                                        </p:tav>
                                        <p:tav tm="100000">
                                          <p:val>
                                            <p:strVal val="#ppt_y"/>
                                          </p:val>
                                        </p:tav>
                                      </p:tavLst>
                                    </p:anim>
                                  </p:childTnLst>
                                </p:cTn>
                              </p:par>
                              <p:par>
                                <p:cTn id="47" presetID="2" presetClass="entr" presetSubtype="4" fill="hold" grpId="0" nodeType="withEffect">
                                  <p:stCondLst>
                                    <p:cond delay="0"/>
                                  </p:stCondLst>
                                  <p:childTnLst>
                                    <p:set>
                                      <p:cBhvr>
                                        <p:cTn id="48" dur="1" fill="hold">
                                          <p:stCondLst>
                                            <p:cond delay="0"/>
                                          </p:stCondLst>
                                        </p:cTn>
                                        <p:tgtEl>
                                          <p:spTgt spid="3">
                                            <p:txEl>
                                              <p:pRg st="9" end="9"/>
                                            </p:txEl>
                                          </p:spTgt>
                                        </p:tgtEl>
                                        <p:attrNameLst>
                                          <p:attrName>style.visibility</p:attrName>
                                        </p:attrNameLst>
                                      </p:cBhvr>
                                      <p:to>
                                        <p:strVal val="visible"/>
                                      </p:to>
                                    </p:set>
                                    <p:anim calcmode="lin" valueType="num">
                                      <p:cBhvr additive="base">
                                        <p:cTn id="49"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RUP iteration</a:t>
            </a:r>
          </a:p>
        </p:txBody>
      </p:sp>
      <p:sp>
        <p:nvSpPr>
          <p:cNvPr id="3" name="Content Placeholder 2"/>
          <p:cNvSpPr>
            <a:spLocks noGrp="1"/>
          </p:cNvSpPr>
          <p:nvPr>
            <p:ph idx="1"/>
          </p:nvPr>
        </p:nvSpPr>
        <p:spPr>
          <a:xfrm>
            <a:off x="1173163" y="1828800"/>
            <a:ext cx="7772400" cy="4114800"/>
          </a:xfrm>
        </p:spPr>
        <p:txBody>
          <a:bodyPr/>
          <a:lstStyle/>
          <a:p>
            <a:pPr>
              <a:buFont typeface="Wingdings" panose="05000000000000000000" pitchFamily="2" charset="2"/>
              <a:buChar char="q"/>
            </a:pPr>
            <a:r>
              <a:rPr lang="en-US" sz="2800" dirty="0"/>
              <a:t>In-phase iteration</a:t>
            </a:r>
          </a:p>
          <a:p>
            <a:pPr lvl="1">
              <a:buFont typeface="Wingdings" panose="05000000000000000000" pitchFamily="2" charset="2"/>
              <a:buChar char="q"/>
            </a:pPr>
            <a:r>
              <a:rPr lang="en-US" dirty="0"/>
              <a:t>Each phase is iterative with results developed incrementally.</a:t>
            </a:r>
          </a:p>
          <a:p>
            <a:pPr>
              <a:buFont typeface="Wingdings" panose="05000000000000000000" pitchFamily="2" charset="2"/>
              <a:buChar char="q"/>
            </a:pPr>
            <a:r>
              <a:rPr lang="en-US" sz="2800" dirty="0"/>
              <a:t>Cross-phase iteration</a:t>
            </a:r>
          </a:p>
          <a:p>
            <a:pPr lvl="1">
              <a:buFont typeface="Wingdings" panose="05000000000000000000" pitchFamily="2" charset="2"/>
              <a:buChar char="q"/>
            </a:pPr>
            <a:r>
              <a:rPr lang="en-US" dirty="0"/>
              <a:t>As shown by the loop in the RUP model, the whole set of phases may be passed incrementally.</a:t>
            </a:r>
          </a:p>
          <a:p>
            <a:pPr>
              <a:buFont typeface="Wingdings" panose="05000000000000000000" pitchFamily="2" charset="2"/>
              <a:buChar char="q"/>
            </a:pPr>
            <a:endParaRPr lang="en-US" sz="2800" dirty="0"/>
          </a:p>
        </p:txBody>
      </p:sp>
    </p:spTree>
    <p:extLst>
      <p:ext uri="{BB962C8B-B14F-4D97-AF65-F5344CB8AC3E}">
        <p14:creationId xmlns:p14="http://schemas.microsoft.com/office/powerpoint/2010/main" val="402567797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189F12-4710-3E2F-F356-E2F07A8A1748}"/>
              </a:ext>
            </a:extLst>
          </p:cNvPr>
          <p:cNvSpPr>
            <a:spLocks noGrp="1"/>
          </p:cNvSpPr>
          <p:nvPr>
            <p:ph type="title"/>
          </p:nvPr>
        </p:nvSpPr>
        <p:spPr/>
        <p:txBody>
          <a:bodyPr/>
          <a:lstStyle/>
          <a:p>
            <a:r>
              <a:rPr lang="en-US" dirty="0"/>
              <a:t>Static View of RUP</a:t>
            </a:r>
          </a:p>
        </p:txBody>
      </p:sp>
      <p:sp>
        <p:nvSpPr>
          <p:cNvPr id="3" name="Content Placeholder 2">
            <a:extLst>
              <a:ext uri="{FF2B5EF4-FFF2-40B4-BE49-F238E27FC236}">
                <a16:creationId xmlns:a16="http://schemas.microsoft.com/office/drawing/2014/main" id="{F3B43B72-BEC2-94D4-A0D9-31AA3474574D}"/>
              </a:ext>
            </a:extLst>
          </p:cNvPr>
          <p:cNvSpPr>
            <a:spLocks noGrp="1"/>
          </p:cNvSpPr>
          <p:nvPr>
            <p:ph idx="1"/>
          </p:nvPr>
        </p:nvSpPr>
        <p:spPr/>
        <p:txBody>
          <a:bodyPr/>
          <a:lstStyle/>
          <a:p>
            <a:pPr>
              <a:buFont typeface="Wingdings" panose="05000000000000000000" pitchFamily="2" charset="2"/>
              <a:buChar char="q"/>
            </a:pPr>
            <a:r>
              <a:rPr lang="en-US" dirty="0"/>
              <a:t>The static view of the RUP focuses on the activities that take place during the development process. </a:t>
            </a:r>
          </a:p>
          <a:p>
            <a:pPr>
              <a:buFont typeface="Wingdings" panose="05000000000000000000" pitchFamily="2" charset="2"/>
              <a:buChar char="q"/>
            </a:pPr>
            <a:r>
              <a:rPr lang="en-US" dirty="0"/>
              <a:t>These are called </a:t>
            </a:r>
            <a:r>
              <a:rPr lang="en-US" b="1" dirty="0"/>
              <a:t>workflows </a:t>
            </a:r>
            <a:r>
              <a:rPr lang="en-US" dirty="0"/>
              <a:t>in the RUP description. </a:t>
            </a:r>
          </a:p>
          <a:p>
            <a:pPr>
              <a:buFont typeface="Wingdings" panose="05000000000000000000" pitchFamily="2" charset="2"/>
              <a:buChar char="q"/>
            </a:pPr>
            <a:r>
              <a:rPr lang="en-US" dirty="0"/>
              <a:t>There are six core process workflows identified in the process and three core supporting workflows.</a:t>
            </a:r>
          </a:p>
        </p:txBody>
      </p:sp>
    </p:spTree>
    <p:extLst>
      <p:ext uri="{BB962C8B-B14F-4D97-AF65-F5344CB8AC3E}">
        <p14:creationId xmlns:p14="http://schemas.microsoft.com/office/powerpoint/2010/main" val="393473624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200" dirty="0"/>
              <a:t>Static workflows in the Rational Unified Process</a:t>
            </a:r>
            <a:endParaRPr lang="en-US" sz="3200" dirty="0"/>
          </a:p>
        </p:txBody>
      </p:sp>
      <p:graphicFrame>
        <p:nvGraphicFramePr>
          <p:cNvPr id="4" name="Table 3"/>
          <p:cNvGraphicFramePr>
            <a:graphicFrameLocks noGrp="1"/>
          </p:cNvGraphicFramePr>
          <p:nvPr>
            <p:extLst>
              <p:ext uri="{D42A27DB-BD31-4B8C-83A1-F6EECF244321}">
                <p14:modId xmlns:p14="http://schemas.microsoft.com/office/powerpoint/2010/main" val="3244770334"/>
              </p:ext>
            </p:extLst>
          </p:nvPr>
        </p:nvGraphicFramePr>
        <p:xfrm>
          <a:off x="861369" y="1837356"/>
          <a:ext cx="7367218" cy="4215113"/>
        </p:xfrm>
        <a:graphic>
          <a:graphicData uri="http://schemas.openxmlformats.org/drawingml/2006/table">
            <a:tbl>
              <a:tblPr firstRow="1" bandRow="1">
                <a:tableStyleId>{3C2FFA5D-87B4-456A-9821-1D502468CF0F}</a:tableStyleId>
              </a:tblPr>
              <a:tblGrid>
                <a:gridCol w="2327377">
                  <a:extLst>
                    <a:ext uri="{9D8B030D-6E8A-4147-A177-3AD203B41FA5}">
                      <a16:colId xmlns:a16="http://schemas.microsoft.com/office/drawing/2014/main" val="20000"/>
                    </a:ext>
                  </a:extLst>
                </a:gridCol>
                <a:gridCol w="5039841">
                  <a:extLst>
                    <a:ext uri="{9D8B030D-6E8A-4147-A177-3AD203B41FA5}">
                      <a16:colId xmlns:a16="http://schemas.microsoft.com/office/drawing/2014/main" val="20001"/>
                    </a:ext>
                  </a:extLst>
                </a:gridCol>
              </a:tblGrid>
              <a:tr h="465474">
                <a:tc>
                  <a:txBody>
                    <a:bodyPr/>
                    <a:lstStyle/>
                    <a:p>
                      <a:pPr algn="just">
                        <a:spcAft>
                          <a:spcPts val="0"/>
                        </a:spcAft>
                      </a:pPr>
                      <a:r>
                        <a:rPr lang="en-GB" sz="1600" dirty="0">
                          <a:latin typeface="Arial"/>
                          <a:cs typeface="Arial"/>
                        </a:rPr>
                        <a:t>Workflow</a:t>
                      </a:r>
                      <a:endParaRPr lang="en-GB" sz="1600" b="1" dirty="0">
                        <a:solidFill>
                          <a:srgbClr val="000000"/>
                        </a:solidFill>
                        <a:latin typeface="Arial"/>
                        <a:ea typeface="Times New Roman"/>
                        <a:cs typeface="Arial"/>
                      </a:endParaRPr>
                    </a:p>
                  </a:txBody>
                  <a:tcPr marL="73025" marR="73025" marT="91440" marB="91440"/>
                </a:tc>
                <a:tc>
                  <a:txBody>
                    <a:bodyPr/>
                    <a:lstStyle/>
                    <a:p>
                      <a:pPr algn="just">
                        <a:spcAft>
                          <a:spcPts val="0"/>
                        </a:spcAft>
                      </a:pPr>
                      <a:r>
                        <a:rPr lang="en-GB" sz="1600" dirty="0">
                          <a:latin typeface="Arial"/>
                          <a:cs typeface="Arial"/>
                        </a:rPr>
                        <a:t>Description</a:t>
                      </a:r>
                      <a:endParaRPr lang="en-GB" sz="1600" b="1" dirty="0">
                        <a:solidFill>
                          <a:srgbClr val="000000"/>
                        </a:solidFill>
                        <a:latin typeface="Arial"/>
                        <a:ea typeface="Times New Roman"/>
                        <a:cs typeface="Arial"/>
                      </a:endParaRPr>
                    </a:p>
                  </a:txBody>
                  <a:tcPr marL="73025" marR="73025" marT="91440" marB="91440"/>
                </a:tc>
                <a:extLst>
                  <a:ext uri="{0D108BD9-81ED-4DB2-BD59-A6C34878D82A}">
                    <a16:rowId xmlns:a16="http://schemas.microsoft.com/office/drawing/2014/main" val="10000"/>
                  </a:ext>
                </a:extLst>
              </a:tr>
              <a:tr h="614165">
                <a:tc>
                  <a:txBody>
                    <a:bodyPr/>
                    <a:lstStyle/>
                    <a:p>
                      <a:pPr algn="just">
                        <a:spcAft>
                          <a:spcPts val="0"/>
                        </a:spcAft>
                      </a:pPr>
                      <a:r>
                        <a:rPr lang="en-GB" sz="1600" dirty="0">
                          <a:latin typeface="Arial"/>
                          <a:cs typeface="Arial"/>
                        </a:rPr>
                        <a:t>Business modelling</a:t>
                      </a:r>
                      <a:endParaRPr lang="en-GB" sz="1600" dirty="0">
                        <a:solidFill>
                          <a:srgbClr val="000000"/>
                        </a:solidFill>
                        <a:latin typeface="Arial"/>
                        <a:ea typeface="Times New Roman"/>
                        <a:cs typeface="Arial"/>
                      </a:endParaRPr>
                    </a:p>
                  </a:txBody>
                  <a:tcPr marL="73025" marR="73025" marT="0" marB="91440"/>
                </a:tc>
                <a:tc>
                  <a:txBody>
                    <a:bodyPr/>
                    <a:lstStyle/>
                    <a:p>
                      <a:pPr algn="just">
                        <a:spcAft>
                          <a:spcPts val="0"/>
                        </a:spcAft>
                      </a:pPr>
                      <a:r>
                        <a:rPr lang="en-GB" sz="1600" dirty="0">
                          <a:latin typeface="Arial"/>
                          <a:cs typeface="Arial"/>
                        </a:rPr>
                        <a:t>The business processes are modelled using business use cases.</a:t>
                      </a:r>
                      <a:endParaRPr lang="en-GB" sz="1600" dirty="0">
                        <a:solidFill>
                          <a:srgbClr val="000000"/>
                        </a:solidFill>
                        <a:latin typeface="Arial"/>
                        <a:ea typeface="Times New Roman"/>
                        <a:cs typeface="Arial"/>
                      </a:endParaRPr>
                    </a:p>
                  </a:txBody>
                  <a:tcPr marL="73025" marR="73025" marT="0" marB="91440"/>
                </a:tc>
                <a:extLst>
                  <a:ext uri="{0D108BD9-81ED-4DB2-BD59-A6C34878D82A}">
                    <a16:rowId xmlns:a16="http://schemas.microsoft.com/office/drawing/2014/main" val="10001"/>
                  </a:ext>
                </a:extLst>
              </a:tr>
              <a:tr h="872761">
                <a:tc>
                  <a:txBody>
                    <a:bodyPr/>
                    <a:lstStyle/>
                    <a:p>
                      <a:pPr algn="just">
                        <a:spcAft>
                          <a:spcPts val="0"/>
                        </a:spcAft>
                      </a:pPr>
                      <a:r>
                        <a:rPr lang="en-GB" sz="1600" dirty="0">
                          <a:latin typeface="Arial"/>
                          <a:cs typeface="Arial"/>
                        </a:rPr>
                        <a:t>Requirements</a:t>
                      </a:r>
                      <a:endParaRPr lang="en-GB" sz="1600" dirty="0">
                        <a:solidFill>
                          <a:srgbClr val="000000"/>
                        </a:solidFill>
                        <a:latin typeface="Arial"/>
                        <a:ea typeface="Times New Roman"/>
                        <a:cs typeface="Arial"/>
                      </a:endParaRPr>
                    </a:p>
                  </a:txBody>
                  <a:tcPr marL="73025" marR="73025" marT="0" marB="91440"/>
                </a:tc>
                <a:tc>
                  <a:txBody>
                    <a:bodyPr/>
                    <a:lstStyle/>
                    <a:p>
                      <a:pPr algn="just">
                        <a:spcAft>
                          <a:spcPts val="0"/>
                        </a:spcAft>
                      </a:pPr>
                      <a:r>
                        <a:rPr lang="en-GB" sz="1600" dirty="0">
                          <a:latin typeface="Arial"/>
                          <a:cs typeface="Arial"/>
                        </a:rPr>
                        <a:t>Actors who interact with the system are identified and use cases are developed to model the system requirements.</a:t>
                      </a:r>
                      <a:endParaRPr lang="en-GB" sz="1600" dirty="0">
                        <a:solidFill>
                          <a:srgbClr val="000000"/>
                        </a:solidFill>
                        <a:latin typeface="Arial"/>
                        <a:ea typeface="Times New Roman"/>
                        <a:cs typeface="Arial"/>
                      </a:endParaRPr>
                    </a:p>
                  </a:txBody>
                  <a:tcPr marL="73025" marR="73025" marT="0" marB="91440"/>
                </a:tc>
                <a:extLst>
                  <a:ext uri="{0D108BD9-81ED-4DB2-BD59-A6C34878D82A}">
                    <a16:rowId xmlns:a16="http://schemas.microsoft.com/office/drawing/2014/main" val="10002"/>
                  </a:ext>
                </a:extLst>
              </a:tr>
              <a:tr h="872761">
                <a:tc>
                  <a:txBody>
                    <a:bodyPr/>
                    <a:lstStyle/>
                    <a:p>
                      <a:pPr algn="just">
                        <a:spcAft>
                          <a:spcPts val="0"/>
                        </a:spcAft>
                      </a:pPr>
                      <a:r>
                        <a:rPr lang="en-GB" sz="1600">
                          <a:latin typeface="Arial"/>
                          <a:cs typeface="Arial"/>
                        </a:rPr>
                        <a:t>Analysis and design</a:t>
                      </a:r>
                      <a:endParaRPr lang="en-GB" sz="1600">
                        <a:solidFill>
                          <a:srgbClr val="000000"/>
                        </a:solidFill>
                        <a:latin typeface="Arial"/>
                        <a:ea typeface="Times New Roman"/>
                        <a:cs typeface="Arial"/>
                      </a:endParaRPr>
                    </a:p>
                  </a:txBody>
                  <a:tcPr marL="73025" marR="73025" marT="0" marB="91440"/>
                </a:tc>
                <a:tc>
                  <a:txBody>
                    <a:bodyPr/>
                    <a:lstStyle/>
                    <a:p>
                      <a:pPr algn="just">
                        <a:spcAft>
                          <a:spcPts val="0"/>
                        </a:spcAft>
                      </a:pPr>
                      <a:r>
                        <a:rPr lang="en-GB" sz="1600" dirty="0">
                          <a:latin typeface="Arial"/>
                          <a:cs typeface="Arial"/>
                        </a:rPr>
                        <a:t>A design model is created and documented using architectural models, component models, and sequence models.</a:t>
                      </a:r>
                      <a:endParaRPr lang="en-GB" sz="1600" dirty="0">
                        <a:solidFill>
                          <a:srgbClr val="000000"/>
                        </a:solidFill>
                        <a:latin typeface="Arial"/>
                        <a:ea typeface="Times New Roman"/>
                        <a:cs typeface="Arial"/>
                      </a:endParaRPr>
                    </a:p>
                  </a:txBody>
                  <a:tcPr marL="73025" marR="73025" marT="0" marB="91440"/>
                </a:tc>
                <a:extLst>
                  <a:ext uri="{0D108BD9-81ED-4DB2-BD59-A6C34878D82A}">
                    <a16:rowId xmlns:a16="http://schemas.microsoft.com/office/drawing/2014/main" val="10003"/>
                  </a:ext>
                </a:extLst>
              </a:tr>
              <a:tr h="1389952">
                <a:tc>
                  <a:txBody>
                    <a:bodyPr/>
                    <a:lstStyle/>
                    <a:p>
                      <a:pPr algn="just">
                        <a:spcAft>
                          <a:spcPts val="0"/>
                        </a:spcAft>
                      </a:pPr>
                      <a:r>
                        <a:rPr lang="en-GB" sz="1600" dirty="0">
                          <a:latin typeface="Arial"/>
                          <a:cs typeface="Arial"/>
                        </a:rPr>
                        <a:t>Implementation</a:t>
                      </a:r>
                      <a:endParaRPr lang="en-GB" sz="1600" dirty="0">
                        <a:solidFill>
                          <a:srgbClr val="000000"/>
                        </a:solidFill>
                        <a:latin typeface="Arial"/>
                        <a:ea typeface="Times New Roman"/>
                        <a:cs typeface="Arial"/>
                      </a:endParaRPr>
                    </a:p>
                  </a:txBody>
                  <a:tcPr marL="73025" marR="73025" marT="0" marB="91440"/>
                </a:tc>
                <a:tc>
                  <a:txBody>
                    <a:bodyPr/>
                    <a:lstStyle/>
                    <a:p>
                      <a:pPr algn="just">
                        <a:spcAft>
                          <a:spcPts val="0"/>
                        </a:spcAft>
                      </a:pPr>
                      <a:r>
                        <a:rPr lang="en-GB" sz="1600" dirty="0">
                          <a:latin typeface="Arial"/>
                          <a:cs typeface="Arial"/>
                        </a:rPr>
                        <a:t>The components in the system are implemented and structured into implementation sub-systems. Automatic code generation from design models helps accelerate this process.</a:t>
                      </a:r>
                      <a:endParaRPr lang="en-GB" sz="1600" dirty="0">
                        <a:solidFill>
                          <a:srgbClr val="000000"/>
                        </a:solidFill>
                        <a:latin typeface="Arial"/>
                        <a:ea typeface="Times New Roman"/>
                        <a:cs typeface="Arial"/>
                      </a:endParaRPr>
                    </a:p>
                  </a:txBody>
                  <a:tcPr marL="73025" marR="73025" marT="0" marB="91440"/>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6808702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Static workflows in the Rational Unified Process</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993778734"/>
              </p:ext>
            </p:extLst>
          </p:nvPr>
        </p:nvGraphicFramePr>
        <p:xfrm>
          <a:off x="457200" y="2005500"/>
          <a:ext cx="8229600" cy="3302000"/>
        </p:xfrm>
        <a:graphic>
          <a:graphicData uri="http://schemas.openxmlformats.org/drawingml/2006/table">
            <a:tbl>
              <a:tblPr firstRow="1" bandRow="1">
                <a:tableStyleId>{3C2FFA5D-87B4-456A-9821-1D502468CF0F}</a:tableStyleId>
              </a:tblPr>
              <a:tblGrid>
                <a:gridCol w="2231616">
                  <a:extLst>
                    <a:ext uri="{9D8B030D-6E8A-4147-A177-3AD203B41FA5}">
                      <a16:colId xmlns:a16="http://schemas.microsoft.com/office/drawing/2014/main" val="20000"/>
                    </a:ext>
                  </a:extLst>
                </a:gridCol>
                <a:gridCol w="5997984">
                  <a:extLst>
                    <a:ext uri="{9D8B030D-6E8A-4147-A177-3AD203B41FA5}">
                      <a16:colId xmlns:a16="http://schemas.microsoft.com/office/drawing/2014/main" val="20001"/>
                    </a:ext>
                  </a:extLst>
                </a:gridCol>
              </a:tblGrid>
              <a:tr h="370840">
                <a:tc>
                  <a:txBody>
                    <a:bodyPr/>
                    <a:lstStyle/>
                    <a:p>
                      <a:r>
                        <a:rPr lang="en-US" sz="1600" dirty="0">
                          <a:latin typeface="Arial"/>
                          <a:cs typeface="Arial"/>
                        </a:rPr>
                        <a:t>Workflow</a:t>
                      </a:r>
                    </a:p>
                  </a:txBody>
                  <a:tcPr/>
                </a:tc>
                <a:tc>
                  <a:txBody>
                    <a:bodyPr/>
                    <a:lstStyle/>
                    <a:p>
                      <a:r>
                        <a:rPr lang="en-US" sz="1600" dirty="0">
                          <a:latin typeface="Arial"/>
                          <a:cs typeface="Arial"/>
                        </a:rPr>
                        <a:t>Description</a:t>
                      </a:r>
                    </a:p>
                  </a:txBody>
                  <a:tcPr/>
                </a:tc>
                <a:extLst>
                  <a:ext uri="{0D108BD9-81ED-4DB2-BD59-A6C34878D82A}">
                    <a16:rowId xmlns:a16="http://schemas.microsoft.com/office/drawing/2014/main" val="10000"/>
                  </a:ext>
                </a:extLst>
              </a:tr>
              <a:tr h="370840">
                <a:tc>
                  <a:txBody>
                    <a:bodyPr/>
                    <a:lstStyle/>
                    <a:p>
                      <a:pPr algn="just">
                        <a:spcAft>
                          <a:spcPts val="0"/>
                        </a:spcAft>
                      </a:pPr>
                      <a:r>
                        <a:rPr lang="en-GB" sz="1600" dirty="0">
                          <a:latin typeface="Arial"/>
                          <a:cs typeface="Arial"/>
                        </a:rPr>
                        <a:t>Testing</a:t>
                      </a:r>
                      <a:endParaRPr lang="en-GB" sz="1600" dirty="0">
                        <a:solidFill>
                          <a:srgbClr val="000000"/>
                        </a:solidFill>
                        <a:latin typeface="Arial"/>
                        <a:ea typeface="Times New Roman"/>
                        <a:cs typeface="Arial"/>
                      </a:endParaRPr>
                    </a:p>
                  </a:txBody>
                  <a:tcPr marL="73025" marR="73025" marT="0" marB="91440"/>
                </a:tc>
                <a:tc>
                  <a:txBody>
                    <a:bodyPr/>
                    <a:lstStyle/>
                    <a:p>
                      <a:pPr algn="just">
                        <a:spcAft>
                          <a:spcPts val="0"/>
                        </a:spcAft>
                      </a:pPr>
                      <a:r>
                        <a:rPr lang="en-GB" sz="1600" dirty="0">
                          <a:latin typeface="Arial"/>
                          <a:cs typeface="Arial"/>
                        </a:rPr>
                        <a:t>Testing is an iterative process that is carried out in conjunction with implementation. System testing follows the completion of the implementation.</a:t>
                      </a:r>
                      <a:endParaRPr lang="en-GB" sz="1600" dirty="0">
                        <a:solidFill>
                          <a:srgbClr val="000000"/>
                        </a:solidFill>
                        <a:latin typeface="Arial"/>
                        <a:ea typeface="Times New Roman"/>
                        <a:cs typeface="Arial"/>
                      </a:endParaRPr>
                    </a:p>
                  </a:txBody>
                  <a:tcPr marL="73025" marR="73025" marT="0" marB="91440"/>
                </a:tc>
                <a:extLst>
                  <a:ext uri="{0D108BD9-81ED-4DB2-BD59-A6C34878D82A}">
                    <a16:rowId xmlns:a16="http://schemas.microsoft.com/office/drawing/2014/main" val="10001"/>
                  </a:ext>
                </a:extLst>
              </a:tr>
              <a:tr h="370840">
                <a:tc>
                  <a:txBody>
                    <a:bodyPr/>
                    <a:lstStyle/>
                    <a:p>
                      <a:pPr algn="just">
                        <a:spcAft>
                          <a:spcPts val="0"/>
                        </a:spcAft>
                      </a:pPr>
                      <a:r>
                        <a:rPr lang="en-GB" sz="1600" dirty="0">
                          <a:latin typeface="Arial"/>
                          <a:cs typeface="Arial"/>
                        </a:rPr>
                        <a:t>Deployment</a:t>
                      </a:r>
                      <a:endParaRPr lang="en-GB" sz="1600" dirty="0">
                        <a:solidFill>
                          <a:srgbClr val="000000"/>
                        </a:solidFill>
                        <a:latin typeface="Arial"/>
                        <a:ea typeface="Times New Roman"/>
                        <a:cs typeface="Arial"/>
                      </a:endParaRPr>
                    </a:p>
                  </a:txBody>
                  <a:tcPr marL="73025" marR="73025" marT="0" marB="91440"/>
                </a:tc>
                <a:tc>
                  <a:txBody>
                    <a:bodyPr/>
                    <a:lstStyle/>
                    <a:p>
                      <a:pPr algn="just">
                        <a:spcAft>
                          <a:spcPts val="0"/>
                        </a:spcAft>
                      </a:pPr>
                      <a:r>
                        <a:rPr lang="en-GB" sz="1600" dirty="0">
                          <a:latin typeface="Arial"/>
                          <a:cs typeface="Arial"/>
                        </a:rPr>
                        <a:t>A product release is created, distributed to users and installed in their workplace.</a:t>
                      </a:r>
                      <a:endParaRPr lang="en-GB" sz="1600" dirty="0">
                        <a:solidFill>
                          <a:srgbClr val="000000"/>
                        </a:solidFill>
                        <a:latin typeface="Arial"/>
                        <a:ea typeface="Times New Roman"/>
                        <a:cs typeface="Arial"/>
                      </a:endParaRPr>
                    </a:p>
                  </a:txBody>
                  <a:tcPr marL="73025" marR="73025" marT="0" marB="91440"/>
                </a:tc>
                <a:extLst>
                  <a:ext uri="{0D108BD9-81ED-4DB2-BD59-A6C34878D82A}">
                    <a16:rowId xmlns:a16="http://schemas.microsoft.com/office/drawing/2014/main" val="10002"/>
                  </a:ext>
                </a:extLst>
              </a:tr>
              <a:tr h="370840">
                <a:tc>
                  <a:txBody>
                    <a:bodyPr/>
                    <a:lstStyle/>
                    <a:p>
                      <a:pPr algn="just">
                        <a:spcAft>
                          <a:spcPts val="0"/>
                        </a:spcAft>
                      </a:pPr>
                      <a:r>
                        <a:rPr lang="en-GB" sz="1600">
                          <a:latin typeface="Arial"/>
                          <a:cs typeface="Arial"/>
                        </a:rPr>
                        <a:t>Configuration and change management</a:t>
                      </a:r>
                      <a:endParaRPr lang="en-GB" sz="1600">
                        <a:solidFill>
                          <a:srgbClr val="000000"/>
                        </a:solidFill>
                        <a:latin typeface="Arial"/>
                        <a:ea typeface="Times New Roman"/>
                        <a:cs typeface="Arial"/>
                      </a:endParaRPr>
                    </a:p>
                  </a:txBody>
                  <a:tcPr marL="73025" marR="73025" marT="0" marB="91440"/>
                </a:tc>
                <a:tc>
                  <a:txBody>
                    <a:bodyPr/>
                    <a:lstStyle/>
                    <a:p>
                      <a:pPr algn="just">
                        <a:spcAft>
                          <a:spcPts val="0"/>
                        </a:spcAft>
                      </a:pPr>
                      <a:r>
                        <a:rPr lang="en-GB" sz="1600" dirty="0">
                          <a:latin typeface="Arial"/>
                          <a:cs typeface="Arial"/>
                        </a:rPr>
                        <a:t>This supporting workflow managed changes to the system .</a:t>
                      </a:r>
                      <a:endParaRPr lang="en-GB" sz="1600" dirty="0">
                        <a:solidFill>
                          <a:srgbClr val="000000"/>
                        </a:solidFill>
                        <a:latin typeface="Arial"/>
                        <a:ea typeface="Times New Roman"/>
                        <a:cs typeface="Arial"/>
                      </a:endParaRPr>
                    </a:p>
                  </a:txBody>
                  <a:tcPr marL="73025" marR="73025" marT="0" marB="91440"/>
                </a:tc>
                <a:extLst>
                  <a:ext uri="{0D108BD9-81ED-4DB2-BD59-A6C34878D82A}">
                    <a16:rowId xmlns:a16="http://schemas.microsoft.com/office/drawing/2014/main" val="10003"/>
                  </a:ext>
                </a:extLst>
              </a:tr>
              <a:tr h="370840">
                <a:tc>
                  <a:txBody>
                    <a:bodyPr/>
                    <a:lstStyle/>
                    <a:p>
                      <a:pPr algn="just">
                        <a:spcAft>
                          <a:spcPts val="0"/>
                        </a:spcAft>
                      </a:pPr>
                      <a:r>
                        <a:rPr lang="en-GB" sz="1600">
                          <a:latin typeface="Arial"/>
                          <a:cs typeface="Arial"/>
                        </a:rPr>
                        <a:t>Project management</a:t>
                      </a:r>
                      <a:endParaRPr lang="en-GB" sz="1600">
                        <a:solidFill>
                          <a:srgbClr val="000000"/>
                        </a:solidFill>
                        <a:latin typeface="Arial"/>
                        <a:ea typeface="Times New Roman"/>
                        <a:cs typeface="Arial"/>
                      </a:endParaRPr>
                    </a:p>
                  </a:txBody>
                  <a:tcPr marL="73025" marR="73025" marT="0" marB="91440"/>
                </a:tc>
                <a:tc>
                  <a:txBody>
                    <a:bodyPr/>
                    <a:lstStyle/>
                    <a:p>
                      <a:pPr algn="just">
                        <a:spcAft>
                          <a:spcPts val="0"/>
                        </a:spcAft>
                      </a:pPr>
                      <a:r>
                        <a:rPr lang="en-GB" sz="1600" dirty="0">
                          <a:latin typeface="Arial"/>
                          <a:cs typeface="Arial"/>
                        </a:rPr>
                        <a:t>This supporting workflow manages the system development .</a:t>
                      </a:r>
                      <a:endParaRPr lang="en-GB" sz="1600" dirty="0">
                        <a:solidFill>
                          <a:srgbClr val="000000"/>
                        </a:solidFill>
                        <a:latin typeface="Arial"/>
                        <a:ea typeface="Times New Roman"/>
                        <a:cs typeface="Arial"/>
                      </a:endParaRPr>
                    </a:p>
                  </a:txBody>
                  <a:tcPr marL="73025" marR="73025" marT="0" marB="91440"/>
                </a:tc>
                <a:extLst>
                  <a:ext uri="{0D108BD9-81ED-4DB2-BD59-A6C34878D82A}">
                    <a16:rowId xmlns:a16="http://schemas.microsoft.com/office/drawing/2014/main" val="10004"/>
                  </a:ext>
                </a:extLst>
              </a:tr>
              <a:tr h="370840">
                <a:tc>
                  <a:txBody>
                    <a:bodyPr/>
                    <a:lstStyle/>
                    <a:p>
                      <a:pPr algn="just">
                        <a:spcAft>
                          <a:spcPts val="0"/>
                        </a:spcAft>
                      </a:pPr>
                      <a:r>
                        <a:rPr lang="en-GB" sz="1600" dirty="0">
                          <a:latin typeface="Arial"/>
                          <a:cs typeface="Arial"/>
                        </a:rPr>
                        <a:t>Environment</a:t>
                      </a:r>
                      <a:endParaRPr lang="en-GB" sz="1600" dirty="0">
                        <a:solidFill>
                          <a:srgbClr val="000000"/>
                        </a:solidFill>
                        <a:latin typeface="Arial"/>
                        <a:ea typeface="Times New Roman"/>
                        <a:cs typeface="Arial"/>
                      </a:endParaRPr>
                    </a:p>
                  </a:txBody>
                  <a:tcPr marL="73025" marR="73025" marT="0" marB="91440"/>
                </a:tc>
                <a:tc>
                  <a:txBody>
                    <a:bodyPr/>
                    <a:lstStyle/>
                    <a:p>
                      <a:pPr algn="just">
                        <a:spcAft>
                          <a:spcPts val="0"/>
                        </a:spcAft>
                      </a:pPr>
                      <a:r>
                        <a:rPr lang="en-GB" sz="1600" dirty="0">
                          <a:latin typeface="Arial"/>
                          <a:cs typeface="Arial"/>
                        </a:rPr>
                        <a:t>This workflow is concerned with making appropriate software tools available to the software development team.</a:t>
                      </a:r>
                      <a:endParaRPr lang="en-GB" sz="1600" dirty="0">
                        <a:solidFill>
                          <a:srgbClr val="000000"/>
                        </a:solidFill>
                        <a:latin typeface="Arial"/>
                        <a:ea typeface="Times New Roman"/>
                        <a:cs typeface="Arial"/>
                      </a:endParaRPr>
                    </a:p>
                  </a:txBody>
                  <a:tcPr marL="73025" marR="73025" marT="0" marB="91440"/>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67066726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RUP good practice</a:t>
            </a:r>
          </a:p>
        </p:txBody>
      </p:sp>
      <p:sp>
        <p:nvSpPr>
          <p:cNvPr id="3" name="Content Placeholder 2"/>
          <p:cNvSpPr>
            <a:spLocks noGrp="1"/>
          </p:cNvSpPr>
          <p:nvPr>
            <p:ph idx="1"/>
          </p:nvPr>
        </p:nvSpPr>
        <p:spPr>
          <a:xfrm>
            <a:off x="914400" y="1524000"/>
            <a:ext cx="7772400" cy="4114800"/>
          </a:xfrm>
        </p:spPr>
        <p:txBody>
          <a:bodyPr/>
          <a:lstStyle/>
          <a:p>
            <a:pPr>
              <a:buFont typeface="Wingdings" panose="05000000000000000000" pitchFamily="2" charset="2"/>
              <a:buChar char="q"/>
            </a:pPr>
            <a:r>
              <a:rPr lang="en-US" sz="2400" dirty="0"/>
              <a:t>Develop software iteratively</a:t>
            </a:r>
          </a:p>
          <a:p>
            <a:pPr lvl="1">
              <a:buFont typeface="Wingdings" panose="05000000000000000000" pitchFamily="2" charset="2"/>
              <a:buChar char="q"/>
            </a:pPr>
            <a:r>
              <a:rPr lang="en-US" sz="2400" dirty="0"/>
              <a:t>Plan increments based on customer priorities and deliver highest priority increments first.</a:t>
            </a:r>
          </a:p>
          <a:p>
            <a:pPr>
              <a:buFont typeface="Wingdings" panose="05000000000000000000" pitchFamily="2" charset="2"/>
              <a:buChar char="q"/>
            </a:pPr>
            <a:r>
              <a:rPr lang="en-US" sz="2400" dirty="0"/>
              <a:t>Manage requirements</a:t>
            </a:r>
          </a:p>
          <a:p>
            <a:pPr lvl="1">
              <a:buFont typeface="Wingdings" panose="05000000000000000000" pitchFamily="2" charset="2"/>
              <a:buChar char="q"/>
            </a:pPr>
            <a:r>
              <a:rPr lang="en-US" sz="2400" dirty="0"/>
              <a:t>Explicitly document customer requirements and keep track of changes to these requirements.</a:t>
            </a:r>
          </a:p>
          <a:p>
            <a:pPr>
              <a:buFont typeface="Wingdings" panose="05000000000000000000" pitchFamily="2" charset="2"/>
              <a:buChar char="q"/>
            </a:pPr>
            <a:r>
              <a:rPr lang="en-US" sz="2400" dirty="0"/>
              <a:t>Use component-based architectures</a:t>
            </a:r>
          </a:p>
          <a:p>
            <a:pPr lvl="1">
              <a:buFont typeface="Wingdings" panose="05000000000000000000" pitchFamily="2" charset="2"/>
              <a:buChar char="q"/>
            </a:pPr>
            <a:r>
              <a:rPr lang="en-US" sz="2400" dirty="0"/>
              <a:t>Organize the system architecture as a set of reusable components.</a:t>
            </a:r>
          </a:p>
          <a:p>
            <a:pPr>
              <a:buFont typeface="Wingdings" panose="05000000000000000000" pitchFamily="2" charset="2"/>
              <a:buChar char="q"/>
            </a:pPr>
            <a:endParaRPr lang="en-US" sz="2400" dirty="0"/>
          </a:p>
        </p:txBody>
      </p:sp>
    </p:spTree>
    <p:extLst>
      <p:ext uri="{BB962C8B-B14F-4D97-AF65-F5344CB8AC3E}">
        <p14:creationId xmlns:p14="http://schemas.microsoft.com/office/powerpoint/2010/main" val="17064127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RUP good practice</a:t>
            </a:r>
          </a:p>
        </p:txBody>
      </p:sp>
      <p:sp>
        <p:nvSpPr>
          <p:cNvPr id="3" name="Content Placeholder 2"/>
          <p:cNvSpPr>
            <a:spLocks noGrp="1"/>
          </p:cNvSpPr>
          <p:nvPr>
            <p:ph idx="1"/>
          </p:nvPr>
        </p:nvSpPr>
        <p:spPr>
          <a:xfrm>
            <a:off x="1173163" y="1676400"/>
            <a:ext cx="7772400" cy="4114800"/>
          </a:xfrm>
        </p:spPr>
        <p:txBody>
          <a:bodyPr/>
          <a:lstStyle/>
          <a:p>
            <a:pPr>
              <a:buFont typeface="Wingdings" panose="05000000000000000000" pitchFamily="2" charset="2"/>
              <a:buChar char="q"/>
            </a:pPr>
            <a:r>
              <a:rPr lang="en-US" sz="2400" dirty="0"/>
              <a:t>Visually model software</a:t>
            </a:r>
          </a:p>
          <a:p>
            <a:pPr lvl="1">
              <a:buFont typeface="Wingdings" panose="05000000000000000000" pitchFamily="2" charset="2"/>
              <a:buChar char="q"/>
            </a:pPr>
            <a:r>
              <a:rPr lang="en-US" sz="2400" dirty="0"/>
              <a:t>Use graphical UML models to present static and dynamic views of the software.</a:t>
            </a:r>
          </a:p>
          <a:p>
            <a:pPr>
              <a:buFont typeface="Wingdings" panose="05000000000000000000" pitchFamily="2" charset="2"/>
              <a:buChar char="q"/>
            </a:pPr>
            <a:r>
              <a:rPr lang="en-US" sz="2400" dirty="0"/>
              <a:t>Verify software quality</a:t>
            </a:r>
          </a:p>
          <a:p>
            <a:pPr lvl="1">
              <a:buFont typeface="Wingdings" panose="05000000000000000000" pitchFamily="2" charset="2"/>
              <a:buChar char="q"/>
            </a:pPr>
            <a:r>
              <a:rPr lang="en-US" sz="2400" dirty="0"/>
              <a:t>Ensure that the software meet’s organizational quality standards.</a:t>
            </a:r>
          </a:p>
          <a:p>
            <a:pPr>
              <a:buFont typeface="Wingdings" panose="05000000000000000000" pitchFamily="2" charset="2"/>
              <a:buChar char="q"/>
            </a:pPr>
            <a:r>
              <a:rPr lang="en-US" sz="2400" dirty="0"/>
              <a:t>Control changes to software</a:t>
            </a:r>
          </a:p>
          <a:p>
            <a:pPr lvl="1">
              <a:buFont typeface="Wingdings" panose="05000000000000000000" pitchFamily="2" charset="2"/>
              <a:buChar char="q"/>
            </a:pPr>
            <a:r>
              <a:rPr lang="en-US" sz="2400" dirty="0"/>
              <a:t>Manage software changes using a change management system and configuration management tools.</a:t>
            </a:r>
          </a:p>
          <a:p>
            <a:pPr>
              <a:buFont typeface="Wingdings" panose="05000000000000000000" pitchFamily="2" charset="2"/>
              <a:buChar char="q"/>
            </a:pPr>
            <a:endParaRPr lang="en-US" sz="2400" dirty="0"/>
          </a:p>
        </p:txBody>
      </p:sp>
    </p:spTree>
    <p:extLst>
      <p:ext uri="{BB962C8B-B14F-4D97-AF65-F5344CB8AC3E}">
        <p14:creationId xmlns:p14="http://schemas.microsoft.com/office/powerpoint/2010/main" val="1225872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points</a:t>
            </a:r>
          </a:p>
        </p:txBody>
      </p:sp>
      <p:sp>
        <p:nvSpPr>
          <p:cNvPr id="3" name="Content Placeholder 2"/>
          <p:cNvSpPr>
            <a:spLocks noGrp="1"/>
          </p:cNvSpPr>
          <p:nvPr>
            <p:ph idx="1"/>
          </p:nvPr>
        </p:nvSpPr>
        <p:spPr>
          <a:xfrm>
            <a:off x="838200" y="1524000"/>
            <a:ext cx="7772400" cy="4114800"/>
          </a:xfrm>
        </p:spPr>
        <p:txBody>
          <a:bodyPr/>
          <a:lstStyle/>
          <a:p>
            <a:pPr algn="just">
              <a:buFont typeface="Wingdings" panose="05000000000000000000" pitchFamily="2" charset="2"/>
              <a:buChar char="q"/>
            </a:pPr>
            <a:r>
              <a:rPr lang="en-GB" sz="2400" dirty="0"/>
              <a:t>Processes should include activities to cope with change. This may involve a prototyping phase that helps avoid poor decisions on requirements and design. </a:t>
            </a:r>
          </a:p>
          <a:p>
            <a:pPr algn="just">
              <a:buFont typeface="Wingdings" panose="05000000000000000000" pitchFamily="2" charset="2"/>
              <a:buChar char="q"/>
            </a:pPr>
            <a:r>
              <a:rPr lang="en-GB" sz="2400" dirty="0"/>
              <a:t>Processes may be structured for iterative development and delivery so that changes may be made without disrupting the system as a whole.</a:t>
            </a:r>
          </a:p>
          <a:p>
            <a:pPr algn="just">
              <a:buFont typeface="Wingdings" panose="05000000000000000000" pitchFamily="2" charset="2"/>
              <a:buChar char="q"/>
            </a:pPr>
            <a:r>
              <a:rPr lang="en-GB" sz="2400" dirty="0"/>
              <a:t>The Rational Unified Process is a modern generic process model that is organized into phases (inception, elaboration, construction and transition) but separates activities (requirements, analysis and design, etc.) from these phases.</a:t>
            </a:r>
          </a:p>
          <a:p>
            <a:pPr algn="just">
              <a:buFont typeface="Wingdings" panose="05000000000000000000" pitchFamily="2" charset="2"/>
              <a:buChar char="q"/>
            </a:pPr>
            <a:endParaRPr lang="en-US" sz="2400" dirty="0"/>
          </a:p>
        </p:txBody>
      </p:sp>
    </p:spTree>
    <p:extLst>
      <p:ext uri="{BB962C8B-B14F-4D97-AF65-F5344CB8AC3E}">
        <p14:creationId xmlns:p14="http://schemas.microsoft.com/office/powerpoint/2010/main" val="10785138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Min halsduk">
  <a:themeElements>
    <a:clrScheme name="Min halsduk 2">
      <a:dk1>
        <a:srgbClr val="000000"/>
      </a:dk1>
      <a:lt1>
        <a:srgbClr val="FFFFFF"/>
      </a:lt1>
      <a:dk2>
        <a:srgbClr val="003366"/>
      </a:dk2>
      <a:lt2>
        <a:srgbClr val="5490A8"/>
      </a:lt2>
      <a:accent1>
        <a:srgbClr val="0099CC"/>
      </a:accent1>
      <a:accent2>
        <a:srgbClr val="3366CC"/>
      </a:accent2>
      <a:accent3>
        <a:srgbClr val="FFFFFF"/>
      </a:accent3>
      <a:accent4>
        <a:srgbClr val="000000"/>
      </a:accent4>
      <a:accent5>
        <a:srgbClr val="AACAE2"/>
      </a:accent5>
      <a:accent6>
        <a:srgbClr val="2D5CB9"/>
      </a:accent6>
      <a:hlink>
        <a:srgbClr val="99CCFF"/>
      </a:hlink>
      <a:folHlink>
        <a:srgbClr val="E1E1B7"/>
      </a:folHlink>
    </a:clrScheme>
    <a:fontScheme name="Min halsduk">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anose="02020603050405020304" pitchFamily="18" charset="0"/>
          </a:defRPr>
        </a:defPPr>
      </a:lstStyle>
    </a:lnDef>
  </a:objectDefaults>
  <a:extraClrSchemeLst>
    <a:extraClrScheme>
      <a:clrScheme name="Min halsduk 1">
        <a:dk1>
          <a:srgbClr val="5490A8"/>
        </a:dk1>
        <a:lt1>
          <a:srgbClr val="DDDDDD"/>
        </a:lt1>
        <a:dk2>
          <a:srgbClr val="00172E"/>
        </a:dk2>
        <a:lt2>
          <a:srgbClr val="CCECFF"/>
        </a:lt2>
        <a:accent1>
          <a:srgbClr val="0099CC"/>
        </a:accent1>
        <a:accent2>
          <a:srgbClr val="3366CC"/>
        </a:accent2>
        <a:accent3>
          <a:srgbClr val="AAABAD"/>
        </a:accent3>
        <a:accent4>
          <a:srgbClr val="BDBDBD"/>
        </a:accent4>
        <a:accent5>
          <a:srgbClr val="AACAE2"/>
        </a:accent5>
        <a:accent6>
          <a:srgbClr val="2D5CB9"/>
        </a:accent6>
        <a:hlink>
          <a:srgbClr val="99CCFF"/>
        </a:hlink>
        <a:folHlink>
          <a:srgbClr val="E1E1B7"/>
        </a:folHlink>
      </a:clrScheme>
      <a:clrMap bg1="dk2" tx1="lt1" bg2="dk1" tx2="lt2" accent1="accent1" accent2="accent2" accent3="accent3" accent4="accent4" accent5="accent5" accent6="accent6" hlink="hlink" folHlink="folHlink"/>
    </a:extraClrScheme>
    <a:extraClrScheme>
      <a:clrScheme name="Min halsduk 2">
        <a:dk1>
          <a:srgbClr val="000000"/>
        </a:dk1>
        <a:lt1>
          <a:srgbClr val="FFFFFF"/>
        </a:lt1>
        <a:dk2>
          <a:srgbClr val="003366"/>
        </a:dk2>
        <a:lt2>
          <a:srgbClr val="5490A8"/>
        </a:lt2>
        <a:accent1>
          <a:srgbClr val="0099CC"/>
        </a:accent1>
        <a:accent2>
          <a:srgbClr val="3366CC"/>
        </a:accent2>
        <a:accent3>
          <a:srgbClr val="FFFFFF"/>
        </a:accent3>
        <a:accent4>
          <a:srgbClr val="000000"/>
        </a:accent4>
        <a:accent5>
          <a:srgbClr val="AACAE2"/>
        </a:accent5>
        <a:accent6>
          <a:srgbClr val="2D5CB9"/>
        </a:accent6>
        <a:hlink>
          <a:srgbClr val="99CCFF"/>
        </a:hlink>
        <a:folHlink>
          <a:srgbClr val="E1E1B7"/>
        </a:folHlink>
      </a:clrScheme>
      <a:clrMap bg1="lt1" tx1="dk1" bg2="lt2" tx2="dk2" accent1="accent1" accent2="accent2" accent3="accent3" accent4="accent4" accent5="accent5" accent6="accent6" hlink="hlink" folHlink="folHlink"/>
    </a:extraClrScheme>
    <a:extraClrScheme>
      <a:clrScheme name="Min halsduk 3">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Min halsduk 4">
        <a:dk1>
          <a:srgbClr val="000000"/>
        </a:dk1>
        <a:lt1>
          <a:srgbClr val="FFFFFF"/>
        </a:lt1>
        <a:dk2>
          <a:srgbClr val="666633"/>
        </a:dk2>
        <a:lt2>
          <a:srgbClr val="908A6C"/>
        </a:lt2>
        <a:accent1>
          <a:srgbClr val="808000"/>
        </a:accent1>
        <a:accent2>
          <a:srgbClr val="996633"/>
        </a:accent2>
        <a:accent3>
          <a:srgbClr val="FFFFFF"/>
        </a:accent3>
        <a:accent4>
          <a:srgbClr val="000000"/>
        </a:accent4>
        <a:accent5>
          <a:srgbClr val="C0C0AA"/>
        </a:accent5>
        <a:accent6>
          <a:srgbClr val="8A5C2D"/>
        </a:accent6>
        <a:hlink>
          <a:srgbClr val="CCCC00"/>
        </a:hlink>
        <a:folHlink>
          <a:srgbClr val="D6DEB2"/>
        </a:folHlink>
      </a:clrScheme>
      <a:clrMap bg1="lt1" tx1="dk1" bg2="lt2" tx2="dk2" accent1="accent1" accent2="accent2" accent3="accent3" accent4="accent4" accent5="accent5" accent6="accent6" hlink="hlink" folHlink="folHlink"/>
    </a:extraClrScheme>
    <a:extraClrScheme>
      <a:clrScheme name="Min halsduk 5">
        <a:dk1>
          <a:srgbClr val="000000"/>
        </a:dk1>
        <a:lt1>
          <a:srgbClr val="FFFFFF"/>
        </a:lt1>
        <a:dk2>
          <a:srgbClr val="181848"/>
        </a:dk2>
        <a:lt2>
          <a:srgbClr val="656F97"/>
        </a:lt2>
        <a:accent1>
          <a:srgbClr val="6666FF"/>
        </a:accent1>
        <a:accent2>
          <a:srgbClr val="333399"/>
        </a:accent2>
        <a:accent3>
          <a:srgbClr val="FFFFFF"/>
        </a:accent3>
        <a:accent4>
          <a:srgbClr val="000000"/>
        </a:accent4>
        <a:accent5>
          <a:srgbClr val="B8B8FF"/>
        </a:accent5>
        <a:accent6>
          <a:srgbClr val="2D2D8A"/>
        </a:accent6>
        <a:hlink>
          <a:srgbClr val="9A9ABC"/>
        </a:hlink>
        <a:folHlink>
          <a:srgbClr val="D2B6CE"/>
        </a:folHlink>
      </a:clrScheme>
      <a:clrMap bg1="lt1" tx1="dk1" bg2="lt2" tx2="dk2" accent1="accent1" accent2="accent2" accent3="accent3" accent4="accent4" accent5="accent5" accent6="accent6" hlink="hlink" folHlink="folHlink"/>
    </a:extraClrScheme>
    <a:extraClrScheme>
      <a:clrScheme name="Min halsduk 6">
        <a:dk1>
          <a:srgbClr val="CC0066"/>
        </a:dk1>
        <a:lt1>
          <a:srgbClr val="FFFFFF"/>
        </a:lt1>
        <a:dk2>
          <a:srgbClr val="000000"/>
        </a:dk2>
        <a:lt2>
          <a:srgbClr val="CC0099"/>
        </a:lt2>
        <a:accent1>
          <a:srgbClr val="FF9900"/>
        </a:accent1>
        <a:accent2>
          <a:srgbClr val="CC6600"/>
        </a:accent2>
        <a:accent3>
          <a:srgbClr val="AAAAAA"/>
        </a:accent3>
        <a:accent4>
          <a:srgbClr val="DADADA"/>
        </a:accent4>
        <a:accent5>
          <a:srgbClr val="FFCAAA"/>
        </a:accent5>
        <a:accent6>
          <a:srgbClr val="B95C00"/>
        </a:accent6>
        <a:hlink>
          <a:srgbClr val="009900"/>
        </a:hlink>
        <a:folHlink>
          <a:srgbClr val="A50021"/>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12855</TotalTime>
  <Words>4097</Words>
  <Application>Microsoft Office PowerPoint</Application>
  <PresentationFormat>On-screen Show (4:3)</PresentationFormat>
  <Paragraphs>343</Paragraphs>
  <Slides>60</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60</vt:i4>
      </vt:variant>
    </vt:vector>
  </HeadingPairs>
  <TitlesOfParts>
    <vt:vector size="68" baseType="lpstr">
      <vt:lpstr>Arial</vt:lpstr>
      <vt:lpstr>Calibri</vt:lpstr>
      <vt:lpstr>Monotype Sorts</vt:lpstr>
      <vt:lpstr>Times New Roman</vt:lpstr>
      <vt:lpstr>Times-Italic</vt:lpstr>
      <vt:lpstr>Times-Roman</vt:lpstr>
      <vt:lpstr>Wingdings</vt:lpstr>
      <vt:lpstr>Min halsduk</vt:lpstr>
      <vt:lpstr>Software Processes</vt:lpstr>
      <vt:lpstr>The software process</vt:lpstr>
      <vt:lpstr>Software process descriptions</vt:lpstr>
      <vt:lpstr>Plan-driven and agile processes</vt:lpstr>
      <vt:lpstr>Plan-driven and agile processes</vt:lpstr>
      <vt:lpstr>Software process models</vt:lpstr>
      <vt:lpstr>The Waterfall Model</vt:lpstr>
      <vt:lpstr>The waterfall model</vt:lpstr>
      <vt:lpstr>Waterfall model problems</vt:lpstr>
      <vt:lpstr>Incremental Development</vt:lpstr>
      <vt:lpstr>Incremental development  </vt:lpstr>
      <vt:lpstr>Incremental development benefits</vt:lpstr>
      <vt:lpstr>Incremental development problems</vt:lpstr>
      <vt:lpstr>Reuse-oriented software engineering</vt:lpstr>
      <vt:lpstr>Reuse-oriented software engineering</vt:lpstr>
      <vt:lpstr>Types of software component that may be used in a reuse-oriented process:</vt:lpstr>
      <vt:lpstr>Reuse-oriented SE: Pros and cons</vt:lpstr>
      <vt:lpstr>Software Process activities</vt:lpstr>
      <vt:lpstr>Software specification</vt:lpstr>
      <vt:lpstr>The requirements engineering process </vt:lpstr>
      <vt:lpstr>Software design and implementation</vt:lpstr>
      <vt:lpstr>A general model of the design process  </vt:lpstr>
      <vt:lpstr>Design inputs</vt:lpstr>
      <vt:lpstr>PowerPoint Presentation</vt:lpstr>
      <vt:lpstr>Software validation</vt:lpstr>
      <vt:lpstr>Stages of testing</vt:lpstr>
      <vt:lpstr>Testing stages</vt:lpstr>
      <vt:lpstr>Testing phases in a plan-driven software process </vt:lpstr>
      <vt:lpstr>Software evolution</vt:lpstr>
      <vt:lpstr>System evolution </vt:lpstr>
      <vt:lpstr>Key points</vt:lpstr>
      <vt:lpstr>Key points</vt:lpstr>
      <vt:lpstr>Coping with change</vt:lpstr>
      <vt:lpstr>Coping with change</vt:lpstr>
      <vt:lpstr>Reducing the costs of rework</vt:lpstr>
      <vt:lpstr>Two ways of coping with change and changing system requirements.</vt:lpstr>
      <vt:lpstr>Software prototyping</vt:lpstr>
      <vt:lpstr>Benefits of prototyping</vt:lpstr>
      <vt:lpstr>The process of prototype development </vt:lpstr>
      <vt:lpstr>Prototype development</vt:lpstr>
      <vt:lpstr>Throw-away prototypes</vt:lpstr>
      <vt:lpstr>Incremental delivery</vt:lpstr>
      <vt:lpstr>Incremental development and delivery</vt:lpstr>
      <vt:lpstr>Incremental delivery</vt:lpstr>
      <vt:lpstr>Incremental delivery advantages</vt:lpstr>
      <vt:lpstr>Incremental delivery problems</vt:lpstr>
      <vt:lpstr>Boehm’s spiral model</vt:lpstr>
      <vt:lpstr>Boehm’s spiral model of the software process </vt:lpstr>
      <vt:lpstr>Spiral model sectors</vt:lpstr>
      <vt:lpstr>Spiral model usage</vt:lpstr>
      <vt:lpstr>The Rational Unified Process</vt:lpstr>
      <vt:lpstr>Phases in the Rational Unified Process </vt:lpstr>
      <vt:lpstr>RUP phases</vt:lpstr>
      <vt:lpstr>RUP iteration</vt:lpstr>
      <vt:lpstr>Static View of RUP</vt:lpstr>
      <vt:lpstr>Static workflows in the Rational Unified Process</vt:lpstr>
      <vt:lpstr>Static workflows in the Rational Unified Process</vt:lpstr>
      <vt:lpstr>RUP good practice</vt:lpstr>
      <vt:lpstr>RUP good practice</vt:lpstr>
      <vt:lpstr>Key points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Processes</dc:title>
  <dc:creator>Ahmad Salman Khan</dc:creator>
  <cp:lastModifiedBy>ABDULLAH KHAN</cp:lastModifiedBy>
  <cp:revision>143</cp:revision>
  <dcterms:created xsi:type="dcterms:W3CDTF">2006-08-16T00:00:00Z</dcterms:created>
  <dcterms:modified xsi:type="dcterms:W3CDTF">2023-03-01T07:09:35Z</dcterms:modified>
</cp:coreProperties>
</file>
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5"/>
  </p:notesMasterIdLst>
  <p:sldIdLst>
    <p:sldId id="259" r:id="rId2"/>
    <p:sldId id="321" r:id="rId3"/>
    <p:sldId id="322" r:id="rId4"/>
    <p:sldId id="262" r:id="rId5"/>
    <p:sldId id="264" r:id="rId6"/>
    <p:sldId id="269" r:id="rId7"/>
    <p:sldId id="270" r:id="rId8"/>
    <p:sldId id="272" r:id="rId9"/>
    <p:sldId id="307" r:id="rId10"/>
    <p:sldId id="308" r:id="rId11"/>
    <p:sldId id="273" r:id="rId12"/>
    <p:sldId id="323" r:id="rId13"/>
    <p:sldId id="324" r:id="rId14"/>
    <p:sldId id="309" r:id="rId15"/>
    <p:sldId id="325" r:id="rId16"/>
    <p:sldId id="275" r:id="rId17"/>
    <p:sldId id="326" r:id="rId18"/>
    <p:sldId id="276" r:id="rId19"/>
    <p:sldId id="277" r:id="rId20"/>
    <p:sldId id="327" r:id="rId21"/>
    <p:sldId id="278" r:id="rId22"/>
    <p:sldId id="279" r:id="rId23"/>
    <p:sldId id="280" r:id="rId24"/>
    <p:sldId id="281" r:id="rId25"/>
    <p:sldId id="282" r:id="rId26"/>
    <p:sldId id="311" r:id="rId27"/>
    <p:sldId id="285" r:id="rId28"/>
    <p:sldId id="286" r:id="rId29"/>
    <p:sldId id="312" r:id="rId30"/>
    <p:sldId id="288" r:id="rId31"/>
    <p:sldId id="289" r:id="rId32"/>
    <p:sldId id="328" r:id="rId33"/>
    <p:sldId id="313" r:id="rId34"/>
    <p:sldId id="291" r:id="rId35"/>
    <p:sldId id="292" r:id="rId36"/>
    <p:sldId id="293" r:id="rId37"/>
    <p:sldId id="294" r:id="rId38"/>
    <p:sldId id="314" r:id="rId39"/>
    <p:sldId id="295" r:id="rId40"/>
    <p:sldId id="297" r:id="rId41"/>
    <p:sldId id="298" r:id="rId42"/>
    <p:sldId id="299" r:id="rId43"/>
    <p:sldId id="319" r:id="rId44"/>
    <p:sldId id="315" r:id="rId45"/>
    <p:sldId id="301" r:id="rId46"/>
    <p:sldId id="316" r:id="rId47"/>
    <p:sldId id="302" r:id="rId48"/>
    <p:sldId id="303" r:id="rId49"/>
    <p:sldId id="304" r:id="rId50"/>
    <p:sldId id="320" r:id="rId51"/>
    <p:sldId id="305" r:id="rId52"/>
    <p:sldId id="317" r:id="rId53"/>
    <p:sldId id="306" r:id="rId5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176" autoAdjust="0"/>
    <p:restoredTop sz="93923" autoAdjust="0"/>
  </p:normalViewPr>
  <p:slideViewPr>
    <p:cSldViewPr>
      <p:cViewPr varScale="1">
        <p:scale>
          <a:sx n="68" d="100"/>
          <a:sy n="68" d="100"/>
        </p:scale>
        <p:origin x="1626"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9EE44C-78A6-47AC-AB5F-8E481804D138}" type="datetimeFigureOut">
              <a:rPr lang="en-US" smtClean="0"/>
              <a:t>26-May-22</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B98A1B-B9BC-422D-AA05-9F0C90AAF636}" type="slidenum">
              <a:rPr lang="en-US" smtClean="0"/>
              <a:t>‹#›</a:t>
            </a:fld>
            <a:endParaRPr lang="en-US"/>
          </a:p>
        </p:txBody>
      </p:sp>
    </p:spTree>
    <p:extLst>
      <p:ext uri="{BB962C8B-B14F-4D97-AF65-F5344CB8AC3E}">
        <p14:creationId xmlns:p14="http://schemas.microsoft.com/office/powerpoint/2010/main" val="4096923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B98A1B-B9BC-422D-AA05-9F0C90AAF636}" type="slidenum">
              <a:rPr lang="en-US" smtClean="0"/>
              <a:t>30</a:t>
            </a:fld>
            <a:endParaRPr lang="en-US"/>
          </a:p>
        </p:txBody>
      </p:sp>
    </p:spTree>
    <p:extLst>
      <p:ext uri="{BB962C8B-B14F-4D97-AF65-F5344CB8AC3E}">
        <p14:creationId xmlns:p14="http://schemas.microsoft.com/office/powerpoint/2010/main" val="31614374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4"/>
                </a:solidFill>
                <a:effectLst/>
                <a:latin typeface="arial" panose="020B0604020202020204" pitchFamily="34" charset="0"/>
              </a:rPr>
              <a:t>A CDN (</a:t>
            </a:r>
            <a:r>
              <a:rPr lang="en-US" b="1" i="0" dirty="0">
                <a:solidFill>
                  <a:srgbClr val="202124"/>
                </a:solidFill>
                <a:effectLst/>
                <a:latin typeface="arial" panose="020B0604020202020204" pitchFamily="34" charset="0"/>
              </a:rPr>
              <a:t>Content Delivery Network</a:t>
            </a:r>
            <a:r>
              <a:rPr lang="en-US" b="0" i="0" dirty="0">
                <a:solidFill>
                  <a:srgbClr val="202124"/>
                </a:solidFill>
                <a:effectLst/>
                <a:latin typeface="arial" panose="020B0604020202020204" pitchFamily="34" charset="0"/>
              </a:rPr>
              <a:t>) is a highly-distributed platform of servers that helps minimize delays in loading web page content by reducing the physical distance between the server and the user.</a:t>
            </a:r>
            <a:endParaRPr lang="en-US" dirty="0"/>
          </a:p>
        </p:txBody>
      </p:sp>
      <p:sp>
        <p:nvSpPr>
          <p:cNvPr id="4" name="Slide Number Placeholder 3"/>
          <p:cNvSpPr>
            <a:spLocks noGrp="1"/>
          </p:cNvSpPr>
          <p:nvPr>
            <p:ph type="sldNum" sz="quarter" idx="5"/>
          </p:nvPr>
        </p:nvSpPr>
        <p:spPr/>
        <p:txBody>
          <a:bodyPr/>
          <a:lstStyle/>
          <a:p>
            <a:fld id="{A7B98A1B-B9BC-422D-AA05-9F0C90AAF636}" type="slidenum">
              <a:rPr lang="en-US" smtClean="0"/>
              <a:t>32</a:t>
            </a:fld>
            <a:endParaRPr lang="en-US"/>
          </a:p>
        </p:txBody>
      </p:sp>
    </p:spTree>
    <p:extLst>
      <p:ext uri="{BB962C8B-B14F-4D97-AF65-F5344CB8AC3E}">
        <p14:creationId xmlns:p14="http://schemas.microsoft.com/office/powerpoint/2010/main" val="32437104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074" name="Group 2"/>
          <p:cNvGrpSpPr>
            <a:grpSpLocks/>
          </p:cNvGrpSpPr>
          <p:nvPr/>
        </p:nvGrpSpPr>
        <p:grpSpPr bwMode="auto">
          <a:xfrm>
            <a:off x="-3175" y="2438400"/>
            <a:ext cx="9147175" cy="1063625"/>
            <a:chOff x="-2" y="1536"/>
            <a:chExt cx="5762" cy="670"/>
          </a:xfrm>
        </p:grpSpPr>
        <p:grpSp>
          <p:nvGrpSpPr>
            <p:cNvPr id="3075" name="Group 3"/>
            <p:cNvGrpSpPr>
              <a:grpSpLocks/>
            </p:cNvGrpSpPr>
            <p:nvPr/>
          </p:nvGrpSpPr>
          <p:grpSpPr bwMode="auto">
            <a:xfrm flipH="1">
              <a:off x="-2" y="1562"/>
              <a:ext cx="5762" cy="638"/>
              <a:chOff x="-2" y="1562"/>
              <a:chExt cx="5762" cy="638"/>
            </a:xfrm>
          </p:grpSpPr>
          <p:sp>
            <p:nvSpPr>
              <p:cNvPr id="3076" name="Freeform 4"/>
              <p:cNvSpPr>
                <a:spLocks/>
              </p:cNvSpPr>
              <p:nvPr/>
            </p:nvSpPr>
            <p:spPr bwMode="ltGray">
              <a:xfrm rot="-5400000">
                <a:off x="2559" y="-993"/>
                <a:ext cx="624" cy="5745"/>
              </a:xfrm>
              <a:custGeom>
                <a:avLst/>
                <a:gdLst>
                  <a:gd name="T0" fmla="*/ 0 w 1000"/>
                  <a:gd name="T1" fmla="*/ 0 h 720"/>
                  <a:gd name="T2" fmla="*/ 0 w 1000"/>
                  <a:gd name="T3" fmla="*/ 720 h 720"/>
                  <a:gd name="T4" fmla="*/ 1000 w 1000"/>
                  <a:gd name="T5" fmla="*/ 720 h 720"/>
                  <a:gd name="T6" fmla="*/ 1000 w 1000"/>
                  <a:gd name="T7" fmla="*/ 0 h 720"/>
                  <a:gd name="T8" fmla="*/ 0 w 1000"/>
                  <a:gd name="T9" fmla="*/ 0 h 720"/>
                </a:gdLst>
                <a:ahLst/>
                <a:cxnLst>
                  <a:cxn ang="0">
                    <a:pos x="T0" y="T1"/>
                  </a:cxn>
                  <a:cxn ang="0">
                    <a:pos x="T2" y="T3"/>
                  </a:cxn>
                  <a:cxn ang="0">
                    <a:pos x="T4" y="T5"/>
                  </a:cxn>
                  <a:cxn ang="0">
                    <a:pos x="T6" y="T7"/>
                  </a:cxn>
                  <a:cxn ang="0">
                    <a:pos x="T8" y="T9"/>
                  </a:cxn>
                </a:cxnLst>
                <a:rect l="0" t="0" r="r" b="b"/>
                <a:pathLst>
                  <a:path w="1000" h="720">
                    <a:moveTo>
                      <a:pt x="0" y="0"/>
                    </a:moveTo>
                    <a:lnTo>
                      <a:pt x="0" y="720"/>
                    </a:lnTo>
                    <a:lnTo>
                      <a:pt x="1000" y="720"/>
                    </a:lnTo>
                    <a:lnTo>
                      <a:pt x="1000" y="0"/>
                    </a:lnTo>
                    <a:lnTo>
                      <a:pt x="0" y="0"/>
                    </a:lnTo>
                    <a:close/>
                  </a:path>
                </a:pathLst>
              </a:custGeom>
              <a:solidFill>
                <a:schemeClr val="accent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77" name="Freeform 5"/>
              <p:cNvSpPr>
                <a:spLocks/>
              </p:cNvSpPr>
              <p:nvPr/>
            </p:nvSpPr>
            <p:spPr bwMode="ltGray">
              <a:xfrm rot="-5400000">
                <a:off x="1323" y="1669"/>
                <a:ext cx="624" cy="421"/>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78" name="Freeform 6"/>
              <p:cNvSpPr>
                <a:spLocks/>
              </p:cNvSpPr>
              <p:nvPr/>
            </p:nvSpPr>
            <p:spPr bwMode="ltGray">
              <a:xfrm rot="-5400000">
                <a:off x="982" y="1669"/>
                <a:ext cx="624" cy="422"/>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79" name="Freeform 7"/>
              <p:cNvSpPr>
                <a:spLocks/>
              </p:cNvSpPr>
              <p:nvPr/>
            </p:nvSpPr>
            <p:spPr bwMode="ltGray">
              <a:xfrm rot="-5400000">
                <a:off x="-57" y="1752"/>
                <a:ext cx="624" cy="255"/>
              </a:xfrm>
              <a:custGeom>
                <a:avLst/>
                <a:gdLst>
                  <a:gd name="T0" fmla="*/ 0 w 624"/>
                  <a:gd name="T1" fmla="*/ 53 h 370"/>
                  <a:gd name="T2" fmla="*/ 0 w 624"/>
                  <a:gd name="T3" fmla="*/ 325 h 370"/>
                  <a:gd name="T4" fmla="*/ 624 w 624"/>
                  <a:gd name="T5" fmla="*/ 325 h 370"/>
                  <a:gd name="T6" fmla="*/ 624 w 624"/>
                  <a:gd name="T7" fmla="*/ 53 h 370"/>
                  <a:gd name="T8" fmla="*/ 384 w 624"/>
                  <a:gd name="T9" fmla="*/ 8 h 370"/>
                  <a:gd name="T10" fmla="*/ 0 w 624"/>
                  <a:gd name="T11" fmla="*/ 53 h 370"/>
                </a:gdLst>
                <a:ahLst/>
                <a:cxnLst>
                  <a:cxn ang="0">
                    <a:pos x="T0" y="T1"/>
                  </a:cxn>
                  <a:cxn ang="0">
                    <a:pos x="T2" y="T3"/>
                  </a:cxn>
                  <a:cxn ang="0">
                    <a:pos x="T4" y="T5"/>
                  </a:cxn>
                  <a:cxn ang="0">
                    <a:pos x="T6" y="T7"/>
                  </a:cxn>
                  <a:cxn ang="0">
                    <a:pos x="T8" y="T9"/>
                  </a:cxn>
                  <a:cxn ang="0">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bg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0" name="Freeform 8"/>
              <p:cNvSpPr>
                <a:spLocks/>
              </p:cNvSpPr>
              <p:nvPr/>
            </p:nvSpPr>
            <p:spPr bwMode="ltGray">
              <a:xfrm rot="-5400000">
                <a:off x="664" y="1733"/>
                <a:ext cx="624" cy="294"/>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1" name="Freeform 9"/>
              <p:cNvSpPr>
                <a:spLocks/>
              </p:cNvSpPr>
              <p:nvPr/>
            </p:nvSpPr>
            <p:spPr bwMode="ltGray">
              <a:xfrm rot="-5400000">
                <a:off x="442" y="1699"/>
                <a:ext cx="624" cy="362"/>
              </a:xfrm>
              <a:custGeom>
                <a:avLst/>
                <a:gdLst>
                  <a:gd name="T0" fmla="*/ 0 w 624"/>
                  <a:gd name="T1" fmla="*/ 0 h 272"/>
                  <a:gd name="T2" fmla="*/ 0 w 624"/>
                  <a:gd name="T3" fmla="*/ 272 h 272"/>
                  <a:gd name="T4" fmla="*/ 240 w 624"/>
                  <a:gd name="T5" fmla="*/ 240 h 272"/>
                  <a:gd name="T6" fmla="*/ 624 w 624"/>
                  <a:gd name="T7" fmla="*/ 272 h 272"/>
                  <a:gd name="T8" fmla="*/ 624 w 624"/>
                  <a:gd name="T9" fmla="*/ 0 h 272"/>
                  <a:gd name="T10" fmla="*/ 0 w 624"/>
                  <a:gd name="T11" fmla="*/ 0 h 272"/>
                </a:gdLst>
                <a:ahLst/>
                <a:cxnLst>
                  <a:cxn ang="0">
                    <a:pos x="T0" y="T1"/>
                  </a:cxn>
                  <a:cxn ang="0">
                    <a:pos x="T2" y="T3"/>
                  </a:cxn>
                  <a:cxn ang="0">
                    <a:pos x="T4" y="T5"/>
                  </a:cxn>
                  <a:cxn ang="0">
                    <a:pos x="T6" y="T7"/>
                  </a:cxn>
                  <a:cxn ang="0">
                    <a:pos x="T8" y="T9"/>
                  </a:cxn>
                  <a:cxn ang="0">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2" name="Freeform 10"/>
              <p:cNvSpPr>
                <a:spLocks/>
              </p:cNvSpPr>
              <p:nvPr/>
            </p:nvSpPr>
            <p:spPr bwMode="ltGray">
              <a:xfrm rot="-5400000">
                <a:off x="156" y="1726"/>
                <a:ext cx="632" cy="315"/>
              </a:xfrm>
              <a:custGeom>
                <a:avLst/>
                <a:gdLst>
                  <a:gd name="T0" fmla="*/ 8 w 632"/>
                  <a:gd name="T1" fmla="*/ 45 h 362"/>
                  <a:gd name="T2" fmla="*/ 8 w 632"/>
                  <a:gd name="T3" fmla="*/ 317 h 362"/>
                  <a:gd name="T4" fmla="*/ 248 w 632"/>
                  <a:gd name="T5" fmla="*/ 317 h 362"/>
                  <a:gd name="T6" fmla="*/ 632 w 632"/>
                  <a:gd name="T7" fmla="*/ 317 h 362"/>
                  <a:gd name="T8" fmla="*/ 632 w 632"/>
                  <a:gd name="T9" fmla="*/ 45 h 362"/>
                  <a:gd name="T10" fmla="*/ 104 w 632"/>
                  <a:gd name="T11" fmla="*/ 45 h 362"/>
                  <a:gd name="T12" fmla="*/ 8 w 632"/>
                  <a:gd name="T13" fmla="*/ 45 h 362"/>
                </a:gdLst>
                <a:ahLst/>
                <a:cxnLst>
                  <a:cxn ang="0">
                    <a:pos x="T0" y="T1"/>
                  </a:cxn>
                  <a:cxn ang="0">
                    <a:pos x="T2" y="T3"/>
                  </a:cxn>
                  <a:cxn ang="0">
                    <a:pos x="T4" y="T5"/>
                  </a:cxn>
                  <a:cxn ang="0">
                    <a:pos x="T6" y="T7"/>
                  </a:cxn>
                  <a:cxn ang="0">
                    <a:pos x="T8" y="T9"/>
                  </a:cxn>
                  <a:cxn ang="0">
                    <a:pos x="T10" y="T11"/>
                  </a:cxn>
                  <a:cxn ang="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3" name="Freeform 11"/>
              <p:cNvSpPr>
                <a:spLocks/>
              </p:cNvSpPr>
              <p:nvPr/>
            </p:nvSpPr>
            <p:spPr bwMode="ltGray">
              <a:xfrm rot="-5400000">
                <a:off x="3211" y="1664"/>
                <a:ext cx="624" cy="421"/>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4" name="Freeform 12"/>
              <p:cNvSpPr>
                <a:spLocks/>
              </p:cNvSpPr>
              <p:nvPr/>
            </p:nvSpPr>
            <p:spPr bwMode="ltGray">
              <a:xfrm rot="-5400000">
                <a:off x="2870" y="1664"/>
                <a:ext cx="624" cy="422"/>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5" name="Freeform 13"/>
              <p:cNvSpPr>
                <a:spLocks/>
              </p:cNvSpPr>
              <p:nvPr/>
            </p:nvSpPr>
            <p:spPr bwMode="ltGray">
              <a:xfrm rot="-5400000">
                <a:off x="1830" y="1747"/>
                <a:ext cx="624" cy="255"/>
              </a:xfrm>
              <a:custGeom>
                <a:avLst/>
                <a:gdLst>
                  <a:gd name="T0" fmla="*/ 0 w 624"/>
                  <a:gd name="T1" fmla="*/ 53 h 370"/>
                  <a:gd name="T2" fmla="*/ 0 w 624"/>
                  <a:gd name="T3" fmla="*/ 325 h 370"/>
                  <a:gd name="T4" fmla="*/ 624 w 624"/>
                  <a:gd name="T5" fmla="*/ 325 h 370"/>
                  <a:gd name="T6" fmla="*/ 624 w 624"/>
                  <a:gd name="T7" fmla="*/ 53 h 370"/>
                  <a:gd name="T8" fmla="*/ 384 w 624"/>
                  <a:gd name="T9" fmla="*/ 8 h 370"/>
                  <a:gd name="T10" fmla="*/ 0 w 624"/>
                  <a:gd name="T11" fmla="*/ 53 h 370"/>
                </a:gdLst>
                <a:ahLst/>
                <a:cxnLst>
                  <a:cxn ang="0">
                    <a:pos x="T0" y="T1"/>
                  </a:cxn>
                  <a:cxn ang="0">
                    <a:pos x="T2" y="T3"/>
                  </a:cxn>
                  <a:cxn ang="0">
                    <a:pos x="T4" y="T5"/>
                  </a:cxn>
                  <a:cxn ang="0">
                    <a:pos x="T6" y="T7"/>
                  </a:cxn>
                  <a:cxn ang="0">
                    <a:pos x="T8" y="T9"/>
                  </a:cxn>
                  <a:cxn ang="0">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tx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6" name="Freeform 14"/>
              <p:cNvSpPr>
                <a:spLocks/>
              </p:cNvSpPr>
              <p:nvPr/>
            </p:nvSpPr>
            <p:spPr bwMode="ltGray">
              <a:xfrm rot="-5400000">
                <a:off x="2551" y="1728"/>
                <a:ext cx="624" cy="294"/>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7" name="Freeform 15"/>
              <p:cNvSpPr>
                <a:spLocks/>
              </p:cNvSpPr>
              <p:nvPr/>
            </p:nvSpPr>
            <p:spPr bwMode="ltGray">
              <a:xfrm rot="-5400000">
                <a:off x="2330" y="1694"/>
                <a:ext cx="624" cy="361"/>
              </a:xfrm>
              <a:custGeom>
                <a:avLst/>
                <a:gdLst>
                  <a:gd name="T0" fmla="*/ 0 w 624"/>
                  <a:gd name="T1" fmla="*/ 0 h 272"/>
                  <a:gd name="T2" fmla="*/ 0 w 624"/>
                  <a:gd name="T3" fmla="*/ 272 h 272"/>
                  <a:gd name="T4" fmla="*/ 240 w 624"/>
                  <a:gd name="T5" fmla="*/ 240 h 272"/>
                  <a:gd name="T6" fmla="*/ 624 w 624"/>
                  <a:gd name="T7" fmla="*/ 272 h 272"/>
                  <a:gd name="T8" fmla="*/ 624 w 624"/>
                  <a:gd name="T9" fmla="*/ 0 h 272"/>
                  <a:gd name="T10" fmla="*/ 0 w 624"/>
                  <a:gd name="T11" fmla="*/ 0 h 272"/>
                </a:gdLst>
                <a:ahLst/>
                <a:cxnLst>
                  <a:cxn ang="0">
                    <a:pos x="T0" y="T1"/>
                  </a:cxn>
                  <a:cxn ang="0">
                    <a:pos x="T2" y="T3"/>
                  </a:cxn>
                  <a:cxn ang="0">
                    <a:pos x="T4" y="T5"/>
                  </a:cxn>
                  <a:cxn ang="0">
                    <a:pos x="T6" y="T7"/>
                  </a:cxn>
                  <a:cxn ang="0">
                    <a:pos x="T8" y="T9"/>
                  </a:cxn>
                  <a:cxn ang="0">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8" name="Freeform 16"/>
              <p:cNvSpPr>
                <a:spLocks/>
              </p:cNvSpPr>
              <p:nvPr/>
            </p:nvSpPr>
            <p:spPr bwMode="ltGray">
              <a:xfrm rot="-5400000">
                <a:off x="2043" y="1721"/>
                <a:ext cx="632" cy="316"/>
              </a:xfrm>
              <a:custGeom>
                <a:avLst/>
                <a:gdLst>
                  <a:gd name="T0" fmla="*/ 8 w 632"/>
                  <a:gd name="T1" fmla="*/ 45 h 362"/>
                  <a:gd name="T2" fmla="*/ 8 w 632"/>
                  <a:gd name="T3" fmla="*/ 317 h 362"/>
                  <a:gd name="T4" fmla="*/ 248 w 632"/>
                  <a:gd name="T5" fmla="*/ 317 h 362"/>
                  <a:gd name="T6" fmla="*/ 632 w 632"/>
                  <a:gd name="T7" fmla="*/ 317 h 362"/>
                  <a:gd name="T8" fmla="*/ 632 w 632"/>
                  <a:gd name="T9" fmla="*/ 45 h 362"/>
                  <a:gd name="T10" fmla="*/ 104 w 632"/>
                  <a:gd name="T11" fmla="*/ 45 h 362"/>
                  <a:gd name="T12" fmla="*/ 8 w 632"/>
                  <a:gd name="T13" fmla="*/ 45 h 362"/>
                </a:gdLst>
                <a:ahLst/>
                <a:cxnLst>
                  <a:cxn ang="0">
                    <a:pos x="T0" y="T1"/>
                  </a:cxn>
                  <a:cxn ang="0">
                    <a:pos x="T2" y="T3"/>
                  </a:cxn>
                  <a:cxn ang="0">
                    <a:pos x="T4" y="T5"/>
                  </a:cxn>
                  <a:cxn ang="0">
                    <a:pos x="T6" y="T7"/>
                  </a:cxn>
                  <a:cxn ang="0">
                    <a:pos x="T8" y="T9"/>
                  </a:cxn>
                  <a:cxn ang="0">
                    <a:pos x="T10" y="T11"/>
                  </a:cxn>
                  <a:cxn ang="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9" name="Freeform 17"/>
              <p:cNvSpPr>
                <a:spLocks/>
              </p:cNvSpPr>
              <p:nvPr/>
            </p:nvSpPr>
            <p:spPr bwMode="ltGray">
              <a:xfrm rot="-5400000">
                <a:off x="4077" y="1669"/>
                <a:ext cx="624" cy="421"/>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0" name="Freeform 18"/>
              <p:cNvSpPr>
                <a:spLocks/>
              </p:cNvSpPr>
              <p:nvPr/>
            </p:nvSpPr>
            <p:spPr bwMode="ltGray">
              <a:xfrm rot="-5400000">
                <a:off x="3736" y="1669"/>
                <a:ext cx="624" cy="422"/>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1" name="Freeform 19"/>
              <p:cNvSpPr>
                <a:spLocks/>
              </p:cNvSpPr>
              <p:nvPr/>
            </p:nvSpPr>
            <p:spPr bwMode="ltGray">
              <a:xfrm rot="-5400000">
                <a:off x="4584" y="1747"/>
                <a:ext cx="624" cy="255"/>
              </a:xfrm>
              <a:custGeom>
                <a:avLst/>
                <a:gdLst>
                  <a:gd name="T0" fmla="*/ 0 w 624"/>
                  <a:gd name="T1" fmla="*/ 53 h 370"/>
                  <a:gd name="T2" fmla="*/ 0 w 624"/>
                  <a:gd name="T3" fmla="*/ 325 h 370"/>
                  <a:gd name="T4" fmla="*/ 624 w 624"/>
                  <a:gd name="T5" fmla="*/ 325 h 370"/>
                  <a:gd name="T6" fmla="*/ 624 w 624"/>
                  <a:gd name="T7" fmla="*/ 53 h 370"/>
                  <a:gd name="T8" fmla="*/ 384 w 624"/>
                  <a:gd name="T9" fmla="*/ 8 h 370"/>
                  <a:gd name="T10" fmla="*/ 0 w 624"/>
                  <a:gd name="T11" fmla="*/ 53 h 370"/>
                </a:gdLst>
                <a:ahLst/>
                <a:cxnLst>
                  <a:cxn ang="0">
                    <a:pos x="T0" y="T1"/>
                  </a:cxn>
                  <a:cxn ang="0">
                    <a:pos x="T2" y="T3"/>
                  </a:cxn>
                  <a:cxn ang="0">
                    <a:pos x="T4" y="T5"/>
                  </a:cxn>
                  <a:cxn ang="0">
                    <a:pos x="T6" y="T7"/>
                  </a:cxn>
                  <a:cxn ang="0">
                    <a:pos x="T8" y="T9"/>
                  </a:cxn>
                  <a:cxn ang="0">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folHlink"/>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2" name="Freeform 20"/>
              <p:cNvSpPr>
                <a:spLocks/>
              </p:cNvSpPr>
              <p:nvPr/>
            </p:nvSpPr>
            <p:spPr bwMode="ltGray">
              <a:xfrm>
                <a:off x="5469" y="1562"/>
                <a:ext cx="291" cy="625"/>
              </a:xfrm>
              <a:custGeom>
                <a:avLst/>
                <a:gdLst>
                  <a:gd name="T0" fmla="*/ 0 w 291"/>
                  <a:gd name="T1" fmla="*/ 624 h 625"/>
                  <a:gd name="T2" fmla="*/ 291 w 291"/>
                  <a:gd name="T3" fmla="*/ 625 h 625"/>
                  <a:gd name="T4" fmla="*/ 291 w 291"/>
                  <a:gd name="T5" fmla="*/ 6 h 625"/>
                  <a:gd name="T6" fmla="*/ 0 w 291"/>
                  <a:gd name="T7" fmla="*/ 0 h 625"/>
                  <a:gd name="T8" fmla="*/ 0 w 291"/>
                  <a:gd name="T9" fmla="*/ 624 h 625"/>
                </a:gdLst>
                <a:ahLst/>
                <a:cxnLst>
                  <a:cxn ang="0">
                    <a:pos x="T0" y="T1"/>
                  </a:cxn>
                  <a:cxn ang="0">
                    <a:pos x="T2" y="T3"/>
                  </a:cxn>
                  <a:cxn ang="0">
                    <a:pos x="T4" y="T5"/>
                  </a:cxn>
                  <a:cxn ang="0">
                    <a:pos x="T6" y="T7"/>
                  </a:cxn>
                  <a:cxn ang="0">
                    <a:pos x="T8" y="T9"/>
                  </a:cxn>
                </a:cxnLst>
                <a:rect l="0" t="0" r="r" b="b"/>
                <a:pathLst>
                  <a:path w="291" h="625">
                    <a:moveTo>
                      <a:pt x="0" y="624"/>
                    </a:moveTo>
                    <a:lnTo>
                      <a:pt x="291" y="625"/>
                    </a:lnTo>
                    <a:lnTo>
                      <a:pt x="291" y="6"/>
                    </a:lnTo>
                    <a:lnTo>
                      <a:pt x="0" y="0"/>
                    </a:lnTo>
                    <a:cubicBezTo>
                      <a:pt x="39" y="384"/>
                      <a:pt x="0" y="494"/>
                      <a:pt x="0" y="624"/>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3" name="Freeform 21"/>
              <p:cNvSpPr>
                <a:spLocks/>
              </p:cNvSpPr>
              <p:nvPr/>
            </p:nvSpPr>
            <p:spPr bwMode="ltGray">
              <a:xfrm rot="-5400000">
                <a:off x="5084" y="1694"/>
                <a:ext cx="624" cy="361"/>
              </a:xfrm>
              <a:custGeom>
                <a:avLst/>
                <a:gdLst>
                  <a:gd name="T0" fmla="*/ 0 w 624"/>
                  <a:gd name="T1" fmla="*/ 0 h 272"/>
                  <a:gd name="T2" fmla="*/ 0 w 624"/>
                  <a:gd name="T3" fmla="*/ 272 h 272"/>
                  <a:gd name="T4" fmla="*/ 240 w 624"/>
                  <a:gd name="T5" fmla="*/ 240 h 272"/>
                  <a:gd name="T6" fmla="*/ 624 w 624"/>
                  <a:gd name="T7" fmla="*/ 272 h 272"/>
                  <a:gd name="T8" fmla="*/ 624 w 624"/>
                  <a:gd name="T9" fmla="*/ 0 h 272"/>
                  <a:gd name="T10" fmla="*/ 0 w 624"/>
                  <a:gd name="T11" fmla="*/ 0 h 272"/>
                </a:gdLst>
                <a:ahLst/>
                <a:cxnLst>
                  <a:cxn ang="0">
                    <a:pos x="T0" y="T1"/>
                  </a:cxn>
                  <a:cxn ang="0">
                    <a:pos x="T2" y="T3"/>
                  </a:cxn>
                  <a:cxn ang="0">
                    <a:pos x="T4" y="T5"/>
                  </a:cxn>
                  <a:cxn ang="0">
                    <a:pos x="T6" y="T7"/>
                  </a:cxn>
                  <a:cxn ang="0">
                    <a:pos x="T8" y="T9"/>
                  </a:cxn>
                  <a:cxn ang="0">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4" name="Freeform 22"/>
              <p:cNvSpPr>
                <a:spLocks/>
              </p:cNvSpPr>
              <p:nvPr/>
            </p:nvSpPr>
            <p:spPr bwMode="ltGray">
              <a:xfrm rot="-5400000">
                <a:off x="4797" y="1721"/>
                <a:ext cx="632" cy="316"/>
              </a:xfrm>
              <a:custGeom>
                <a:avLst/>
                <a:gdLst>
                  <a:gd name="T0" fmla="*/ 8 w 632"/>
                  <a:gd name="T1" fmla="*/ 45 h 362"/>
                  <a:gd name="T2" fmla="*/ 8 w 632"/>
                  <a:gd name="T3" fmla="*/ 317 h 362"/>
                  <a:gd name="T4" fmla="*/ 248 w 632"/>
                  <a:gd name="T5" fmla="*/ 317 h 362"/>
                  <a:gd name="T6" fmla="*/ 632 w 632"/>
                  <a:gd name="T7" fmla="*/ 317 h 362"/>
                  <a:gd name="T8" fmla="*/ 632 w 632"/>
                  <a:gd name="T9" fmla="*/ 45 h 362"/>
                  <a:gd name="T10" fmla="*/ 104 w 632"/>
                  <a:gd name="T11" fmla="*/ 45 h 362"/>
                  <a:gd name="T12" fmla="*/ 8 w 632"/>
                  <a:gd name="T13" fmla="*/ 45 h 362"/>
                </a:gdLst>
                <a:ahLst/>
                <a:cxnLst>
                  <a:cxn ang="0">
                    <a:pos x="T0" y="T1"/>
                  </a:cxn>
                  <a:cxn ang="0">
                    <a:pos x="T2" y="T3"/>
                  </a:cxn>
                  <a:cxn ang="0">
                    <a:pos x="T4" y="T5"/>
                  </a:cxn>
                  <a:cxn ang="0">
                    <a:pos x="T6" y="T7"/>
                  </a:cxn>
                  <a:cxn ang="0">
                    <a:pos x="T8" y="T9"/>
                  </a:cxn>
                  <a:cxn ang="0">
                    <a:pos x="T10" y="T11"/>
                  </a:cxn>
                  <a:cxn ang="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grpSp>
        <p:sp>
          <p:nvSpPr>
            <p:cNvPr id="3095" name="Freeform 23"/>
            <p:cNvSpPr>
              <a:spLocks/>
            </p:cNvSpPr>
            <p:nvPr/>
          </p:nvSpPr>
          <p:spPr bwMode="ltGray">
            <a:xfrm flipH="1">
              <a:off x="-2" y="1536"/>
              <a:ext cx="5762" cy="412"/>
            </a:xfrm>
            <a:custGeom>
              <a:avLst/>
              <a:gdLst>
                <a:gd name="T0" fmla="*/ 0 w 5762"/>
                <a:gd name="T1" fmla="*/ 196 h 385"/>
                <a:gd name="T2" fmla="*/ 5762 w 5762"/>
                <a:gd name="T3" fmla="*/ 188 h 385"/>
                <a:gd name="T4" fmla="*/ 5762 w 5762"/>
                <a:gd name="T5" fmla="*/ 4 h 385"/>
                <a:gd name="T6" fmla="*/ 0 w 5762"/>
                <a:gd name="T7" fmla="*/ 0 h 385"/>
                <a:gd name="T8" fmla="*/ 0 w 5762"/>
                <a:gd name="T9" fmla="*/ 196 h 385"/>
              </a:gdLst>
              <a:ahLst/>
              <a:cxnLst>
                <a:cxn ang="0">
                  <a:pos x="T0" y="T1"/>
                </a:cxn>
                <a:cxn ang="0">
                  <a:pos x="T2" y="T3"/>
                </a:cxn>
                <a:cxn ang="0">
                  <a:pos x="T4" y="T5"/>
                </a:cxn>
                <a:cxn ang="0">
                  <a:pos x="T6" y="T7"/>
                </a:cxn>
                <a:cxn ang="0">
                  <a:pos x="T8" y="T9"/>
                </a:cxn>
              </a:cxnLst>
              <a:rect l="0" t="0" r="r" b="b"/>
              <a:pathLst>
                <a:path w="5762" h="385">
                  <a:moveTo>
                    <a:pt x="0" y="196"/>
                  </a:moveTo>
                  <a:cubicBezTo>
                    <a:pt x="1667" y="385"/>
                    <a:pt x="2275" y="93"/>
                    <a:pt x="5762" y="188"/>
                  </a:cubicBezTo>
                  <a:lnTo>
                    <a:pt x="5762" y="4"/>
                  </a:lnTo>
                  <a:lnTo>
                    <a:pt x="0" y="0"/>
                  </a:lnTo>
                  <a:lnTo>
                    <a:pt x="0" y="196"/>
                  </a:lnTo>
                  <a:close/>
                </a:path>
              </a:pathLst>
            </a:custGeom>
            <a:gradFill rotWithShape="0">
              <a:gsLst>
                <a:gs pos="0">
                  <a:schemeClr val="bg1"/>
                </a:gs>
                <a:gs pos="100000">
                  <a:srgbClr val="767676"/>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sp>
          <p:nvSpPr>
            <p:cNvPr id="3096" name="Freeform 24"/>
            <p:cNvSpPr>
              <a:spLocks/>
            </p:cNvSpPr>
            <p:nvPr/>
          </p:nvSpPr>
          <p:spPr bwMode="ltGray">
            <a:xfrm flipH="1">
              <a:off x="-2" y="2017"/>
              <a:ext cx="5761" cy="189"/>
            </a:xfrm>
            <a:custGeom>
              <a:avLst/>
              <a:gdLst>
                <a:gd name="T0" fmla="*/ 0 w 5761"/>
                <a:gd name="T1" fmla="*/ 28 h 189"/>
                <a:gd name="T2" fmla="*/ 5761 w 5761"/>
                <a:gd name="T3" fmla="*/ 0 h 189"/>
                <a:gd name="T4" fmla="*/ 5761 w 5761"/>
                <a:gd name="T5" fmla="*/ 189 h 189"/>
                <a:gd name="T6" fmla="*/ 1 w 5761"/>
                <a:gd name="T7" fmla="*/ 189 h 189"/>
                <a:gd name="T8" fmla="*/ 0 w 5761"/>
                <a:gd name="T9" fmla="*/ 28 h 189"/>
              </a:gdLst>
              <a:ahLst/>
              <a:cxnLst>
                <a:cxn ang="0">
                  <a:pos x="T0" y="T1"/>
                </a:cxn>
                <a:cxn ang="0">
                  <a:pos x="T2" y="T3"/>
                </a:cxn>
                <a:cxn ang="0">
                  <a:pos x="T4" y="T5"/>
                </a:cxn>
                <a:cxn ang="0">
                  <a:pos x="T6" y="T7"/>
                </a:cxn>
                <a:cxn ang="0">
                  <a:pos x="T8" y="T9"/>
                </a:cxn>
              </a:cxnLst>
              <a:rect l="0" t="0" r="r" b="b"/>
              <a:pathLst>
                <a:path w="5761" h="189">
                  <a:moveTo>
                    <a:pt x="0" y="28"/>
                  </a:moveTo>
                  <a:cubicBezTo>
                    <a:pt x="961" y="0"/>
                    <a:pt x="4971" y="161"/>
                    <a:pt x="5761" y="0"/>
                  </a:cubicBezTo>
                  <a:lnTo>
                    <a:pt x="5761" y="189"/>
                  </a:lnTo>
                  <a:lnTo>
                    <a:pt x="1" y="189"/>
                  </a:lnTo>
                  <a:lnTo>
                    <a:pt x="0" y="28"/>
                  </a:lnTo>
                  <a:close/>
                </a:path>
              </a:pathLst>
            </a:custGeom>
            <a:gradFill rotWithShape="0">
              <a:gsLst>
                <a:gs pos="0">
                  <a:srgbClr val="767676"/>
                </a:gs>
                <a:gs pos="100000">
                  <a:schemeClr val="bg1"/>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grpSp>
      <p:sp>
        <p:nvSpPr>
          <p:cNvPr id="3097" name="Rectangle 25"/>
          <p:cNvSpPr>
            <a:spLocks noGrp="1" noChangeArrowheads="1"/>
          </p:cNvSpPr>
          <p:nvPr>
            <p:ph type="ctrTitle"/>
          </p:nvPr>
        </p:nvSpPr>
        <p:spPr>
          <a:xfrm>
            <a:off x="1173163" y="1341438"/>
            <a:ext cx="7772400" cy="1143000"/>
          </a:xfrm>
        </p:spPr>
        <p:txBody>
          <a:bodyPr/>
          <a:lstStyle>
            <a:lvl1pPr>
              <a:defRPr/>
            </a:lvl1pPr>
          </a:lstStyle>
          <a:p>
            <a:pPr lvl="0"/>
            <a:r>
              <a:rPr lang="en-US" noProof="0"/>
              <a:t>Click to edit Master title style</a:t>
            </a:r>
          </a:p>
        </p:txBody>
      </p:sp>
      <p:sp>
        <p:nvSpPr>
          <p:cNvPr id="3098" name="Rectangle 26"/>
          <p:cNvSpPr>
            <a:spLocks noGrp="1" noChangeArrowheads="1"/>
          </p:cNvSpPr>
          <p:nvPr>
            <p:ph type="subTitle" idx="1"/>
          </p:nvPr>
        </p:nvSpPr>
        <p:spPr>
          <a:xfrm>
            <a:off x="1166813" y="3886200"/>
            <a:ext cx="6400800" cy="1752600"/>
          </a:xfrm>
        </p:spPr>
        <p:txBody>
          <a:bodyPr/>
          <a:lstStyle>
            <a:lvl1pPr marL="0" indent="0">
              <a:buFont typeface="Monotype Sorts" pitchFamily="2" charset="2"/>
              <a:buNone/>
              <a:defRPr/>
            </a:lvl1pPr>
          </a:lstStyle>
          <a:p>
            <a:pPr lvl="0"/>
            <a:r>
              <a:rPr lang="en-US" noProof="0"/>
              <a:t>Click to edit Master subtitle style</a:t>
            </a:r>
          </a:p>
        </p:txBody>
      </p:sp>
      <p:sp>
        <p:nvSpPr>
          <p:cNvPr id="3099" name="Rectangle 27"/>
          <p:cNvSpPr>
            <a:spLocks noGrp="1" noChangeArrowheads="1"/>
          </p:cNvSpPr>
          <p:nvPr>
            <p:ph type="dt" sz="half" idx="2"/>
          </p:nvPr>
        </p:nvSpPr>
        <p:spPr>
          <a:xfrm>
            <a:off x="1166813" y="6248400"/>
            <a:ext cx="1905000" cy="457200"/>
          </a:xfrm>
        </p:spPr>
        <p:txBody>
          <a:bodyPr/>
          <a:lstStyle>
            <a:lvl1pPr>
              <a:defRPr>
                <a:solidFill>
                  <a:srgbClr val="000000"/>
                </a:solidFill>
              </a:defRPr>
            </a:lvl1pPr>
          </a:lstStyle>
          <a:p>
            <a:endParaRPr lang="en-US"/>
          </a:p>
        </p:txBody>
      </p:sp>
      <p:sp>
        <p:nvSpPr>
          <p:cNvPr id="3100" name="Rectangle 28"/>
          <p:cNvSpPr>
            <a:spLocks noGrp="1" noChangeArrowheads="1"/>
          </p:cNvSpPr>
          <p:nvPr>
            <p:ph type="ftr" sz="quarter" idx="3"/>
          </p:nvPr>
        </p:nvSpPr>
        <p:spPr/>
        <p:txBody>
          <a:bodyPr/>
          <a:lstStyle>
            <a:lvl1pPr>
              <a:defRPr>
                <a:solidFill>
                  <a:srgbClr val="000000"/>
                </a:solidFill>
              </a:defRPr>
            </a:lvl1pPr>
          </a:lstStyle>
          <a:p>
            <a:endParaRPr lang="en-US"/>
          </a:p>
        </p:txBody>
      </p:sp>
      <p:sp>
        <p:nvSpPr>
          <p:cNvPr id="3101" name="Rectangle 29"/>
          <p:cNvSpPr>
            <a:spLocks noGrp="1" noChangeArrowheads="1"/>
          </p:cNvSpPr>
          <p:nvPr>
            <p:ph type="sldNum" sz="quarter" idx="4"/>
          </p:nvPr>
        </p:nvSpPr>
        <p:spPr/>
        <p:txBody>
          <a:bodyPr/>
          <a:lstStyle>
            <a:lvl1pPr>
              <a:defRPr>
                <a:solidFill>
                  <a:srgbClr val="000000"/>
                </a:solidFill>
              </a:defRPr>
            </a:lvl1pPr>
          </a:lstStyle>
          <a:p>
            <a:fld id="{3520DE96-266E-4586-B6BD-DEB1B281131D}" type="slidenum">
              <a:rPr lang="en-US"/>
              <a:pPr/>
              <a:t>‹#›</a:t>
            </a:fld>
            <a:endParaRPr lang="en-US"/>
          </a:p>
        </p:txBody>
      </p:sp>
    </p:spTree>
    <p:extLst>
      <p:ext uri="{BB962C8B-B14F-4D97-AF65-F5344CB8AC3E}">
        <p14:creationId xmlns:p14="http://schemas.microsoft.com/office/powerpoint/2010/main" val="2890667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0C85F123-173A-4DB5-A1B3-1BD03F273BCE}"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963851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68F23864-4B50-42DA-B9FD-4DADDF163660}"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6036051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0EDE2CBE-4A78-40CA-B4CD-D210B918D82B}"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618660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solidFill>
                <a:srgbClr val="000000"/>
              </a:solidFill>
            </a:endParaRPr>
          </a:p>
        </p:txBody>
      </p:sp>
      <p:sp>
        <p:nvSpPr>
          <p:cNvPr id="8" name="Footer Placeholder 7"/>
          <p:cNvSpPr>
            <a:spLocks noGrp="1"/>
          </p:cNvSpPr>
          <p:nvPr>
            <p:ph type="ftr" sz="quarter" idx="11"/>
          </p:nvPr>
        </p:nvSpPr>
        <p:spPr/>
        <p:txBody>
          <a:bodyPr/>
          <a:lstStyle>
            <a:lvl1pPr>
              <a:defRPr/>
            </a:lvl1pPr>
          </a:lstStyle>
          <a:p>
            <a:endParaRPr lang="en-US">
              <a:solidFill>
                <a:srgbClr val="000000"/>
              </a:solidFill>
            </a:endParaRPr>
          </a:p>
        </p:txBody>
      </p:sp>
      <p:sp>
        <p:nvSpPr>
          <p:cNvPr id="9" name="Slide Number Placeholder 8"/>
          <p:cNvSpPr>
            <a:spLocks noGrp="1"/>
          </p:cNvSpPr>
          <p:nvPr>
            <p:ph type="sldNum" sz="quarter" idx="12"/>
          </p:nvPr>
        </p:nvSpPr>
        <p:spPr/>
        <p:txBody>
          <a:bodyPr/>
          <a:lstStyle>
            <a:lvl1pPr>
              <a:defRPr/>
            </a:lvl1pPr>
          </a:lstStyle>
          <a:p>
            <a:fld id="{44C01118-C48F-4ABA-B984-6877B89A0524}"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4374993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solidFill>
                <a:srgbClr val="000000"/>
              </a:solidFill>
            </a:endParaRPr>
          </a:p>
        </p:txBody>
      </p:sp>
      <p:sp>
        <p:nvSpPr>
          <p:cNvPr id="4" name="Footer Placeholder 3"/>
          <p:cNvSpPr>
            <a:spLocks noGrp="1"/>
          </p:cNvSpPr>
          <p:nvPr>
            <p:ph type="ftr" sz="quarter" idx="11"/>
          </p:nvPr>
        </p:nvSpPr>
        <p:spPr/>
        <p:txBody>
          <a:bodyPr/>
          <a:lstStyle>
            <a:lvl1pPr>
              <a:defRPr/>
            </a:lvl1pPr>
          </a:lstStyle>
          <a:p>
            <a:endParaRPr lang="en-US">
              <a:solidFill>
                <a:srgbClr val="000000"/>
              </a:solidFill>
            </a:endParaRPr>
          </a:p>
        </p:txBody>
      </p:sp>
      <p:sp>
        <p:nvSpPr>
          <p:cNvPr id="5" name="Slide Number Placeholder 4"/>
          <p:cNvSpPr>
            <a:spLocks noGrp="1"/>
          </p:cNvSpPr>
          <p:nvPr>
            <p:ph type="sldNum" sz="quarter" idx="12"/>
          </p:nvPr>
        </p:nvSpPr>
        <p:spPr/>
        <p:txBody>
          <a:bodyPr/>
          <a:lstStyle>
            <a:lvl1pPr>
              <a:defRPr/>
            </a:lvl1pPr>
          </a:lstStyle>
          <a:p>
            <a:fld id="{2F8EA986-509F-4AA4-A66F-149C902CD218}"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1900254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solidFill>
                <a:srgbClr val="000000"/>
              </a:solidFill>
            </a:endParaRPr>
          </a:p>
        </p:txBody>
      </p:sp>
      <p:sp>
        <p:nvSpPr>
          <p:cNvPr id="3" name="Footer Placeholder 2"/>
          <p:cNvSpPr>
            <a:spLocks noGrp="1"/>
          </p:cNvSpPr>
          <p:nvPr>
            <p:ph type="ftr" sz="quarter" idx="11"/>
          </p:nvPr>
        </p:nvSpPr>
        <p:spPr/>
        <p:txBody>
          <a:bodyPr/>
          <a:lstStyle>
            <a:lvl1pPr>
              <a:defRPr/>
            </a:lvl1pPr>
          </a:lstStyle>
          <a:p>
            <a:endParaRPr lang="en-US">
              <a:solidFill>
                <a:srgbClr val="000000"/>
              </a:solidFill>
            </a:endParaRPr>
          </a:p>
        </p:txBody>
      </p:sp>
      <p:sp>
        <p:nvSpPr>
          <p:cNvPr id="4" name="Slide Number Placeholder 3"/>
          <p:cNvSpPr>
            <a:spLocks noGrp="1"/>
          </p:cNvSpPr>
          <p:nvPr>
            <p:ph type="sldNum" sz="quarter" idx="12"/>
          </p:nvPr>
        </p:nvSpPr>
        <p:spPr/>
        <p:txBody>
          <a:bodyPr/>
          <a:lstStyle>
            <a:lvl1pPr>
              <a:defRPr/>
            </a:lvl1pPr>
          </a:lstStyle>
          <a:p>
            <a:fld id="{8C771956-CCF4-4338-B297-3B9532A0ACB2}"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1860707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86841323-ECAD-461B-B105-B49E937E4AD1}"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23305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B365B615-AA3E-442A-AC82-3FE9065DF10B}"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003675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1F985312-A75A-4CCB-ADFA-5A0358B8219A}"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14383507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2463" y="457200"/>
            <a:ext cx="194310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73163" y="457200"/>
            <a:ext cx="56769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4F565D14-8248-4B57-A779-B609919722A7}"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9988391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73163" y="4572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173163" y="6265863"/>
            <a:ext cx="1905000" cy="457200"/>
          </a:xfrm>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a:xfrm>
            <a:off x="3581400" y="6248400"/>
            <a:ext cx="2895600" cy="457200"/>
          </a:xfrm>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a:xfrm>
            <a:off x="7010400" y="6248400"/>
            <a:ext cx="1905000" cy="457200"/>
          </a:xfrm>
        </p:spPr>
        <p:txBody>
          <a:bodyPr/>
          <a:lstStyle>
            <a:lvl1pPr>
              <a:defRPr/>
            </a:lvl1pPr>
          </a:lstStyle>
          <a:p>
            <a:fld id="{ED5AD940-660F-4FA7-9F43-CF2BDF87658F}"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13380052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173163" y="457200"/>
            <a:ext cx="7772400" cy="1143000"/>
          </a:xfrm>
        </p:spPr>
        <p:txBody>
          <a:bodyPr/>
          <a:lstStyle/>
          <a:p>
            <a:r>
              <a:rPr lang="en-US"/>
              <a:t>Click to edit Master title style</a:t>
            </a:r>
          </a:p>
        </p:txBody>
      </p:sp>
      <p:sp>
        <p:nvSpPr>
          <p:cNvPr id="3" name="Content Placeholder 2"/>
          <p:cNvSpPr>
            <a:spLocks noGrp="1"/>
          </p:cNvSpPr>
          <p:nvPr>
            <p:ph sz="quarter" idx="1"/>
          </p:nvPr>
        </p:nvSpPr>
        <p:spPr>
          <a:xfrm>
            <a:off x="11731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1355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11731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51355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173163" y="6265863"/>
            <a:ext cx="1905000" cy="457200"/>
          </a:xfrm>
        </p:spPr>
        <p:txBody>
          <a:bodyPr/>
          <a:lstStyle>
            <a:lvl1pPr>
              <a:defRPr/>
            </a:lvl1pPr>
          </a:lstStyle>
          <a:p>
            <a:endParaRPr lang="en-US">
              <a:solidFill>
                <a:srgbClr val="000000"/>
              </a:solidFill>
            </a:endParaRPr>
          </a:p>
        </p:txBody>
      </p:sp>
      <p:sp>
        <p:nvSpPr>
          <p:cNvPr id="8" name="Footer Placeholder 7"/>
          <p:cNvSpPr>
            <a:spLocks noGrp="1"/>
          </p:cNvSpPr>
          <p:nvPr>
            <p:ph type="ftr" sz="quarter" idx="11"/>
          </p:nvPr>
        </p:nvSpPr>
        <p:spPr>
          <a:xfrm>
            <a:off x="3581400" y="6248400"/>
            <a:ext cx="2895600" cy="457200"/>
          </a:xfrm>
        </p:spPr>
        <p:txBody>
          <a:bodyPr/>
          <a:lstStyle>
            <a:lvl1pPr>
              <a:defRPr/>
            </a:lvl1pPr>
          </a:lstStyle>
          <a:p>
            <a:endParaRPr lang="en-US">
              <a:solidFill>
                <a:srgbClr val="000000"/>
              </a:solidFill>
            </a:endParaRPr>
          </a:p>
        </p:txBody>
      </p:sp>
      <p:sp>
        <p:nvSpPr>
          <p:cNvPr id="9" name="Slide Number Placeholder 8"/>
          <p:cNvSpPr>
            <a:spLocks noGrp="1"/>
          </p:cNvSpPr>
          <p:nvPr>
            <p:ph type="sldNum" sz="quarter" idx="12"/>
          </p:nvPr>
        </p:nvSpPr>
        <p:spPr>
          <a:xfrm>
            <a:off x="7010400" y="6248400"/>
            <a:ext cx="1905000" cy="457200"/>
          </a:xfrm>
        </p:spPr>
        <p:txBody>
          <a:bodyPr/>
          <a:lstStyle>
            <a:lvl1pPr>
              <a:defRPr/>
            </a:lvl1pPr>
          </a:lstStyle>
          <a:p>
            <a:fld id="{966A5A1A-9CFE-41C9-BCDD-E395DA8477BE}"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6479964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a:outerShdw dist="107763" dir="2700000" algn="ctr" rotWithShape="0">
            <a:srgbClr val="000000"/>
          </a:outerShdw>
        </a:effectLst>
      </p:bgPr>
    </p:bg>
    <p:spTree>
      <p:nvGrpSpPr>
        <p:cNvPr id="1" name=""/>
        <p:cNvGrpSpPr/>
        <p:nvPr/>
      </p:nvGrpSpPr>
      <p:grpSpPr>
        <a:xfrm>
          <a:off x="0" y="0"/>
          <a:ext cx="0" cy="0"/>
          <a:chOff x="0" y="0"/>
          <a:chExt cx="0" cy="0"/>
        </a:xfrm>
      </p:grpSpPr>
      <p:sp>
        <p:nvSpPr>
          <p:cNvPr id="2084" name="Oval 36"/>
          <p:cNvSpPr>
            <a:spLocks noChangeArrowheads="1"/>
          </p:cNvSpPr>
          <p:nvPr/>
        </p:nvSpPr>
        <p:spPr bwMode="auto">
          <a:xfrm>
            <a:off x="228600" y="228600"/>
            <a:ext cx="609600" cy="609600"/>
          </a:xfrm>
          <a:prstGeom prst="ellipse">
            <a:avLst/>
          </a:prstGeom>
          <a:solidFill>
            <a:srgbClr val="FF5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sp>
        <p:nvSpPr>
          <p:cNvPr id="2073" name="Rectangle 25"/>
          <p:cNvSpPr>
            <a:spLocks noGrp="1" noChangeArrowheads="1"/>
          </p:cNvSpPr>
          <p:nvPr>
            <p:ph type="title"/>
          </p:nvPr>
        </p:nvSpPr>
        <p:spPr bwMode="auto">
          <a:xfrm>
            <a:off x="1173163" y="457200"/>
            <a:ext cx="77724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Process</a:t>
            </a:r>
          </a:p>
        </p:txBody>
      </p:sp>
      <p:sp>
        <p:nvSpPr>
          <p:cNvPr id="2074" name="Rectangle 26"/>
          <p:cNvSpPr>
            <a:spLocks noGrp="1" noChangeArrowheads="1"/>
          </p:cNvSpPr>
          <p:nvPr>
            <p:ph type="body" idx="1"/>
          </p:nvPr>
        </p:nvSpPr>
        <p:spPr bwMode="auto">
          <a:xfrm>
            <a:off x="1173163" y="1981200"/>
            <a:ext cx="77724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Klicka här för att ändra format på bakgrundstexten</a:t>
            </a:r>
          </a:p>
          <a:p>
            <a:pPr lvl="1"/>
            <a:r>
              <a:rPr lang="en-US"/>
              <a:t>Nivå två</a:t>
            </a:r>
          </a:p>
          <a:p>
            <a:pPr lvl="2"/>
            <a:r>
              <a:rPr lang="en-US"/>
              <a:t>Nivå tre</a:t>
            </a:r>
          </a:p>
          <a:p>
            <a:pPr lvl="3"/>
            <a:r>
              <a:rPr lang="en-US"/>
              <a:t>Nivå fyra</a:t>
            </a:r>
          </a:p>
          <a:p>
            <a:pPr lvl="4"/>
            <a:r>
              <a:rPr lang="en-US"/>
              <a:t>Nivå fem</a:t>
            </a:r>
          </a:p>
        </p:txBody>
      </p:sp>
      <p:sp>
        <p:nvSpPr>
          <p:cNvPr id="2075" name="Rectangle 27"/>
          <p:cNvSpPr>
            <a:spLocks noGrp="1" noChangeArrowheads="1"/>
          </p:cNvSpPr>
          <p:nvPr>
            <p:ph type="dt" sz="half" idx="2"/>
          </p:nvPr>
        </p:nvSpPr>
        <p:spPr bwMode="auto">
          <a:xfrm>
            <a:off x="1173163" y="6265863"/>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50000"/>
              </a:spcBef>
              <a:defRPr sz="1400">
                <a:latin typeface="+mn-lt"/>
              </a:defRPr>
            </a:lvl1pPr>
          </a:lstStyle>
          <a:p>
            <a:endParaRPr lang="en-US">
              <a:solidFill>
                <a:srgbClr val="000000"/>
              </a:solidFill>
            </a:endParaRPr>
          </a:p>
        </p:txBody>
      </p:sp>
      <p:sp>
        <p:nvSpPr>
          <p:cNvPr id="2076" name="Rectangle 28"/>
          <p:cNvSpPr>
            <a:spLocks noGrp="1" noChangeArrowheads="1"/>
          </p:cNvSpPr>
          <p:nvPr>
            <p:ph type="ftr" sz="quarter" idx="3"/>
          </p:nvPr>
        </p:nvSpPr>
        <p:spPr bwMode="auto">
          <a:xfrm>
            <a:off x="3581400" y="62484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ctr">
              <a:spcBef>
                <a:spcPct val="50000"/>
              </a:spcBef>
              <a:defRPr sz="1400">
                <a:latin typeface="+mn-lt"/>
              </a:defRPr>
            </a:lvl1pPr>
          </a:lstStyle>
          <a:p>
            <a:endParaRPr lang="en-US">
              <a:solidFill>
                <a:srgbClr val="000000"/>
              </a:solidFill>
            </a:endParaRPr>
          </a:p>
        </p:txBody>
      </p:sp>
      <p:sp>
        <p:nvSpPr>
          <p:cNvPr id="2077" name="Rectangle 29"/>
          <p:cNvSpPr>
            <a:spLocks noGrp="1" noChangeArrowheads="1"/>
          </p:cNvSpPr>
          <p:nvPr>
            <p:ph type="sldNum" sz="quarter" idx="4"/>
          </p:nvPr>
        </p:nvSpPr>
        <p:spPr bwMode="auto">
          <a:xfrm>
            <a:off x="70104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spcBef>
                <a:spcPct val="50000"/>
              </a:spcBef>
              <a:defRPr sz="1400">
                <a:latin typeface="+mn-lt"/>
              </a:defRPr>
            </a:lvl1pPr>
          </a:lstStyle>
          <a:p>
            <a:fld id="{EF6CF669-D51C-4507-8EE9-94C79FC23D25}" type="slidenum">
              <a:rPr lang="en-US">
                <a:solidFill>
                  <a:srgbClr val="000000"/>
                </a:solidFill>
              </a:rPr>
              <a:pPr/>
              <a:t>‹#›</a:t>
            </a:fld>
            <a:endParaRPr lang="en-US">
              <a:solidFill>
                <a:srgbClr val="000000"/>
              </a:solidFill>
            </a:endParaRPr>
          </a:p>
        </p:txBody>
      </p:sp>
      <p:sp>
        <p:nvSpPr>
          <p:cNvPr id="2081" name="Rectangle 33"/>
          <p:cNvSpPr>
            <a:spLocks noChangeArrowheads="1"/>
          </p:cNvSpPr>
          <p:nvPr/>
        </p:nvSpPr>
        <p:spPr bwMode="auto">
          <a:xfrm>
            <a:off x="457200" y="609600"/>
            <a:ext cx="533400" cy="457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sp>
        <p:nvSpPr>
          <p:cNvPr id="2082" name="AutoShape 34"/>
          <p:cNvSpPr>
            <a:spLocks noChangeArrowheads="1"/>
          </p:cNvSpPr>
          <p:nvPr/>
        </p:nvSpPr>
        <p:spPr bwMode="auto">
          <a:xfrm rot="2559464">
            <a:off x="152400" y="457200"/>
            <a:ext cx="609600" cy="609600"/>
          </a:xfrm>
          <a:prstGeom prst="triangle">
            <a:avLst>
              <a:gd name="adj" fmla="val 50000"/>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3046694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rtl="0" eaLnBrk="1" fontAlgn="base" hangingPunct="1">
        <a:spcBef>
          <a:spcPct val="0"/>
        </a:spcBef>
        <a:spcAft>
          <a:spcPct val="0"/>
        </a:spcAft>
        <a:defRPr kumimoji="1" sz="4400"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imes New Roman" panose="02020603050405020304" pitchFamily="18" charset="0"/>
        </a:defRPr>
      </a:lvl2pPr>
      <a:lvl3pPr algn="l" rtl="0" eaLnBrk="1" fontAlgn="base" hangingPunct="1">
        <a:spcBef>
          <a:spcPct val="0"/>
        </a:spcBef>
        <a:spcAft>
          <a:spcPct val="0"/>
        </a:spcAft>
        <a:defRPr kumimoji="1" sz="4400">
          <a:solidFill>
            <a:schemeClr val="tx2"/>
          </a:solidFill>
          <a:latin typeface="Times New Roman" panose="02020603050405020304" pitchFamily="18" charset="0"/>
        </a:defRPr>
      </a:lvl3pPr>
      <a:lvl4pPr algn="l" rtl="0" eaLnBrk="1" fontAlgn="base" hangingPunct="1">
        <a:spcBef>
          <a:spcPct val="0"/>
        </a:spcBef>
        <a:spcAft>
          <a:spcPct val="0"/>
        </a:spcAft>
        <a:defRPr kumimoji="1" sz="4400">
          <a:solidFill>
            <a:schemeClr val="tx2"/>
          </a:solidFill>
          <a:latin typeface="Times New Roman" panose="02020603050405020304" pitchFamily="18" charset="0"/>
        </a:defRPr>
      </a:lvl4pPr>
      <a:lvl5pPr algn="l" rtl="0" eaLnBrk="1" fontAlgn="base" hangingPunct="1">
        <a:spcBef>
          <a:spcPct val="0"/>
        </a:spcBef>
        <a:spcAft>
          <a:spcPct val="0"/>
        </a:spcAft>
        <a:defRPr kumimoji="1" sz="4400">
          <a:solidFill>
            <a:schemeClr val="tx2"/>
          </a:solidFill>
          <a:latin typeface="Times New Roman" panose="02020603050405020304" pitchFamily="18" charset="0"/>
        </a:defRPr>
      </a:lvl5pPr>
      <a:lvl6pPr marL="457200" algn="l" rtl="0" eaLnBrk="1" fontAlgn="base" hangingPunct="1">
        <a:spcBef>
          <a:spcPct val="0"/>
        </a:spcBef>
        <a:spcAft>
          <a:spcPct val="0"/>
        </a:spcAft>
        <a:defRPr kumimoji="1" sz="4400">
          <a:solidFill>
            <a:schemeClr val="tx2"/>
          </a:solidFill>
          <a:latin typeface="Times New Roman" panose="02020603050405020304" pitchFamily="18" charset="0"/>
        </a:defRPr>
      </a:lvl6pPr>
      <a:lvl7pPr marL="914400" algn="l" rtl="0" eaLnBrk="1" fontAlgn="base" hangingPunct="1">
        <a:spcBef>
          <a:spcPct val="0"/>
        </a:spcBef>
        <a:spcAft>
          <a:spcPct val="0"/>
        </a:spcAft>
        <a:defRPr kumimoji="1"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kumimoji="1"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kumimoji="1" sz="4400">
          <a:solidFill>
            <a:schemeClr val="tx2"/>
          </a:solidFill>
          <a:latin typeface="Times New Roman" panose="02020603050405020304" pitchFamily="18" charset="0"/>
        </a:defRPr>
      </a:lvl9pPr>
    </p:titleStyle>
    <p:bodyStyle>
      <a:lvl1pPr marL="342900" indent="-342900" algn="l" rtl="0" eaLnBrk="1" fontAlgn="base" hangingPunct="1">
        <a:spcBef>
          <a:spcPct val="20000"/>
        </a:spcBef>
        <a:spcAft>
          <a:spcPct val="0"/>
        </a:spcAft>
        <a:buClr>
          <a:schemeClr val="accent1"/>
        </a:buClr>
        <a:buSzPct val="70000"/>
        <a:buFont typeface="Monotype Sorts" pitchFamily="2" charset="2"/>
        <a:buChar char="n"/>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Clr>
          <a:srgbClr val="FF5050"/>
        </a:buClr>
        <a:buSzPct val="75000"/>
        <a:buFont typeface="Monotype Sorts" pitchFamily="2" charset="2"/>
        <a:buChar char="l"/>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Clr>
          <a:srgbClr val="FFCC00"/>
        </a:buClr>
        <a:buSzPct val="65000"/>
        <a:buFont typeface="Monotype Sorts" pitchFamily="2" charset="2"/>
        <a:buChar char="s"/>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Architectural Design</a:t>
            </a:r>
          </a:p>
        </p:txBody>
      </p:sp>
    </p:spTree>
    <p:extLst>
      <p:ext uri="{BB962C8B-B14F-4D97-AF65-F5344CB8AC3E}">
        <p14:creationId xmlns:p14="http://schemas.microsoft.com/office/powerpoint/2010/main" val="18286040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covered</a:t>
            </a:r>
          </a:p>
        </p:txBody>
      </p:sp>
      <p:sp>
        <p:nvSpPr>
          <p:cNvPr id="3" name="Content Placeholder 2"/>
          <p:cNvSpPr>
            <a:spLocks noGrp="1"/>
          </p:cNvSpPr>
          <p:nvPr>
            <p:ph idx="1"/>
          </p:nvPr>
        </p:nvSpPr>
        <p:spPr/>
        <p:txBody>
          <a:bodyPr/>
          <a:lstStyle/>
          <a:p>
            <a:r>
              <a:rPr lang="en-US" dirty="0"/>
              <a:t>Architectural design</a:t>
            </a:r>
            <a:endParaRPr lang="en-GB" dirty="0"/>
          </a:p>
          <a:p>
            <a:r>
              <a:rPr lang="en-US" dirty="0"/>
              <a:t>Architectural views</a:t>
            </a:r>
            <a:endParaRPr lang="en-GB" dirty="0"/>
          </a:p>
          <a:p>
            <a:r>
              <a:rPr lang="en-US" dirty="0"/>
              <a:t>Architectural patterns</a:t>
            </a:r>
            <a:endParaRPr lang="en-GB" dirty="0"/>
          </a:p>
          <a:p>
            <a:r>
              <a:rPr lang="en-US" dirty="0"/>
              <a:t>Application architectures</a:t>
            </a:r>
            <a:endParaRPr lang="en-GB" dirty="0"/>
          </a:p>
          <a:p>
            <a:endParaRPr lang="en-US" dirty="0"/>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GB"/>
              <a:t>Software architecture</a:t>
            </a:r>
          </a:p>
        </p:txBody>
      </p:sp>
      <p:sp>
        <p:nvSpPr>
          <p:cNvPr id="44035" name="Rectangle 3"/>
          <p:cNvSpPr>
            <a:spLocks noGrp="1" noChangeArrowheads="1"/>
          </p:cNvSpPr>
          <p:nvPr>
            <p:ph idx="1"/>
          </p:nvPr>
        </p:nvSpPr>
        <p:spPr/>
        <p:txBody>
          <a:bodyPr/>
          <a:lstStyle/>
          <a:p>
            <a:pPr algn="just"/>
            <a:r>
              <a:rPr lang="en-GB" dirty="0"/>
              <a:t>The design process for identifying the sub-systems making up a system and the framework for sub-system control and communication is </a:t>
            </a:r>
            <a:r>
              <a:rPr lang="en-GB" dirty="0">
                <a:solidFill>
                  <a:schemeClr val="accent1"/>
                </a:solidFill>
              </a:rPr>
              <a:t>architectural design</a:t>
            </a:r>
            <a:r>
              <a:rPr lang="en-GB" i="1" dirty="0"/>
              <a:t>.</a:t>
            </a:r>
          </a:p>
          <a:p>
            <a:pPr algn="just"/>
            <a:r>
              <a:rPr lang="en-GB" dirty="0"/>
              <a:t>The output of this design process is a description of the</a:t>
            </a:r>
            <a:r>
              <a:rPr lang="en-GB" i="1" dirty="0"/>
              <a:t> </a:t>
            </a:r>
            <a:r>
              <a:rPr lang="en-GB" dirty="0">
                <a:solidFill>
                  <a:schemeClr val="accent1"/>
                </a:solidFill>
              </a:rPr>
              <a:t>software architecture.</a:t>
            </a:r>
          </a:p>
          <a:p>
            <a:endParaRPr lang="en-GB" dirty="0"/>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Architectural design</a:t>
            </a:r>
            <a:endParaRPr lang="en-US" dirty="0"/>
          </a:p>
        </p:txBody>
      </p:sp>
      <p:sp>
        <p:nvSpPr>
          <p:cNvPr id="3" name="Content Placeholder 2"/>
          <p:cNvSpPr>
            <a:spLocks noGrp="1"/>
          </p:cNvSpPr>
          <p:nvPr>
            <p:ph idx="1"/>
          </p:nvPr>
        </p:nvSpPr>
        <p:spPr>
          <a:xfrm>
            <a:off x="1173163" y="1676400"/>
            <a:ext cx="7772400" cy="4114800"/>
          </a:xfrm>
        </p:spPr>
        <p:txBody>
          <a:bodyPr/>
          <a:lstStyle/>
          <a:p>
            <a:r>
              <a:rPr lang="en-GB" sz="2400" dirty="0"/>
              <a:t>An early stage of the system design process.</a:t>
            </a:r>
          </a:p>
          <a:p>
            <a:r>
              <a:rPr lang="en-GB" sz="2400" dirty="0"/>
              <a:t>Represents the </a:t>
            </a:r>
            <a:r>
              <a:rPr lang="en-GB" sz="2400" b="1" dirty="0"/>
              <a:t>link between specification and design </a:t>
            </a:r>
            <a:r>
              <a:rPr lang="en-GB" sz="2400" dirty="0"/>
              <a:t>processes.</a:t>
            </a:r>
          </a:p>
          <a:p>
            <a:r>
              <a:rPr lang="en-GB" sz="2400" dirty="0"/>
              <a:t>Often carried out in parallel with some specification activities.</a:t>
            </a:r>
          </a:p>
          <a:p>
            <a:r>
              <a:rPr lang="en-GB" sz="2400" dirty="0"/>
              <a:t>It involves identifying </a:t>
            </a:r>
            <a:r>
              <a:rPr lang="en-GB" sz="2400" b="1" dirty="0"/>
              <a:t>major system components </a:t>
            </a:r>
            <a:r>
              <a:rPr lang="en-GB" sz="2400" dirty="0"/>
              <a:t>and their c</a:t>
            </a:r>
            <a:r>
              <a:rPr lang="en-GB" sz="2400" b="1" dirty="0"/>
              <a:t>ommunications</a:t>
            </a:r>
            <a:r>
              <a:rPr lang="en-GB" sz="2400" dirty="0"/>
              <a:t>.</a:t>
            </a:r>
          </a:p>
          <a:p>
            <a:endParaRPr lang="en-US" sz="2400" dirty="0"/>
          </a:p>
        </p:txBody>
      </p:sp>
    </p:spTree>
    <p:extLst>
      <p:ext uri="{BB962C8B-B14F-4D97-AF65-F5344CB8AC3E}">
        <p14:creationId xmlns:p14="http://schemas.microsoft.com/office/powerpoint/2010/main" val="2368477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abstraction</a:t>
            </a:r>
          </a:p>
        </p:txBody>
      </p:sp>
      <p:sp>
        <p:nvSpPr>
          <p:cNvPr id="3" name="Content Placeholder 2"/>
          <p:cNvSpPr>
            <a:spLocks noGrp="1"/>
          </p:cNvSpPr>
          <p:nvPr>
            <p:ph idx="1"/>
          </p:nvPr>
        </p:nvSpPr>
        <p:spPr>
          <a:xfrm>
            <a:off x="914400" y="1752600"/>
            <a:ext cx="7772400" cy="4114800"/>
          </a:xfrm>
        </p:spPr>
        <p:txBody>
          <a:bodyPr/>
          <a:lstStyle/>
          <a:p>
            <a:r>
              <a:rPr lang="en-US" sz="2400" dirty="0">
                <a:solidFill>
                  <a:srgbClr val="FF0000"/>
                </a:solidFill>
              </a:rPr>
              <a:t>Architecture in the small </a:t>
            </a:r>
            <a:r>
              <a:rPr lang="en-US" sz="2400" dirty="0"/>
              <a:t>is concerned with the </a:t>
            </a:r>
            <a:r>
              <a:rPr lang="en-US" sz="2400" b="1" dirty="0"/>
              <a:t>architecture of individual programs</a:t>
            </a:r>
            <a:r>
              <a:rPr lang="en-US" sz="2400" dirty="0"/>
              <a:t>. At this level, we are concerned with the way that an individual program is decomposed into components.  </a:t>
            </a:r>
            <a:endParaRPr lang="en-GB" sz="2400" dirty="0"/>
          </a:p>
          <a:p>
            <a:r>
              <a:rPr lang="en-US" sz="2400" dirty="0">
                <a:solidFill>
                  <a:srgbClr val="FF0000"/>
                </a:solidFill>
              </a:rPr>
              <a:t>Architecture in the large </a:t>
            </a:r>
            <a:r>
              <a:rPr lang="en-US" sz="2400" dirty="0"/>
              <a:t>is concerned with the architecture of </a:t>
            </a:r>
            <a:r>
              <a:rPr lang="en-US" sz="2400" b="1" dirty="0"/>
              <a:t>complex enterprise systems </a:t>
            </a:r>
            <a:r>
              <a:rPr lang="en-US" sz="2400" dirty="0"/>
              <a:t>that include other systems, programs, and program components. These enterprise systems are distributed over different computers, which may be owned and managed by different companies.  </a:t>
            </a:r>
          </a:p>
          <a:p>
            <a:endParaRPr lang="en-US" sz="2400" dirty="0"/>
          </a:p>
        </p:txBody>
      </p:sp>
    </p:spTree>
    <p:extLst>
      <p:ext uri="{BB962C8B-B14F-4D97-AF65-F5344CB8AC3E}">
        <p14:creationId xmlns:p14="http://schemas.microsoft.com/office/powerpoint/2010/main" val="2850394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design decisions</a:t>
            </a:r>
          </a:p>
        </p:txBody>
      </p:sp>
      <p:sp>
        <p:nvSpPr>
          <p:cNvPr id="3" name="Content Placeholder 2"/>
          <p:cNvSpPr>
            <a:spLocks noGrp="1"/>
          </p:cNvSpPr>
          <p:nvPr>
            <p:ph idx="1"/>
          </p:nvPr>
        </p:nvSpPr>
        <p:spPr>
          <a:xfrm>
            <a:off x="1143000" y="1600200"/>
            <a:ext cx="7772400" cy="4114800"/>
          </a:xfrm>
        </p:spPr>
        <p:txBody>
          <a:bodyPr/>
          <a:lstStyle/>
          <a:p>
            <a:pPr algn="just"/>
            <a:r>
              <a:rPr lang="en-US" dirty="0"/>
              <a:t>Architectural design is a creative process so the process differs depending on the type of system being developed.</a:t>
            </a:r>
          </a:p>
          <a:p>
            <a:pPr algn="just"/>
            <a:r>
              <a:rPr lang="en-US" dirty="0"/>
              <a:t>During the architectural design process, system architects have to make a number of structural decisions by considering fundamental questions about the system.</a:t>
            </a:r>
          </a:p>
        </p:txBody>
      </p:sp>
    </p:spTree>
    <p:extLst>
      <p:ext uri="{BB962C8B-B14F-4D97-AF65-F5344CB8AC3E}">
        <p14:creationId xmlns:p14="http://schemas.microsoft.com/office/powerpoint/2010/main" val="2920140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design decisions</a:t>
            </a:r>
          </a:p>
        </p:txBody>
      </p:sp>
      <p:sp>
        <p:nvSpPr>
          <p:cNvPr id="3" name="Content Placeholder 2"/>
          <p:cNvSpPr>
            <a:spLocks noGrp="1"/>
          </p:cNvSpPr>
          <p:nvPr>
            <p:ph idx="1"/>
          </p:nvPr>
        </p:nvSpPr>
        <p:spPr>
          <a:xfrm>
            <a:off x="1173163" y="1676400"/>
            <a:ext cx="7772400" cy="4114800"/>
          </a:xfrm>
        </p:spPr>
        <p:txBody>
          <a:bodyPr/>
          <a:lstStyle/>
          <a:p>
            <a:r>
              <a:rPr lang="en-US" sz="2400" dirty="0"/>
              <a:t>Is there a generic application architecture that can be used?</a:t>
            </a:r>
          </a:p>
          <a:p>
            <a:r>
              <a:rPr lang="en-US" sz="2400" dirty="0"/>
              <a:t>How will the system be distributed?</a:t>
            </a:r>
          </a:p>
          <a:p>
            <a:r>
              <a:rPr lang="en-US" sz="2400" dirty="0"/>
              <a:t>What architectural styles are appropriate?</a:t>
            </a:r>
          </a:p>
          <a:p>
            <a:r>
              <a:rPr lang="en-US" sz="2400" dirty="0"/>
              <a:t>What approach will be used to structure the system?</a:t>
            </a:r>
          </a:p>
          <a:p>
            <a:r>
              <a:rPr lang="en-US" sz="2400" dirty="0"/>
              <a:t>How will the system be decomposed into modules?</a:t>
            </a:r>
          </a:p>
          <a:p>
            <a:r>
              <a:rPr lang="en-US" sz="2400" dirty="0"/>
              <a:t>How will the architectural design be evaluated?</a:t>
            </a:r>
          </a:p>
          <a:p>
            <a:r>
              <a:rPr lang="en-US" sz="2400" dirty="0"/>
              <a:t>How should the architecture be documented?</a:t>
            </a:r>
          </a:p>
          <a:p>
            <a:endParaRPr lang="en-US" sz="2400" dirty="0"/>
          </a:p>
        </p:txBody>
      </p:sp>
    </p:spTree>
    <p:extLst>
      <p:ext uri="{BB962C8B-B14F-4D97-AF65-F5344CB8AC3E}">
        <p14:creationId xmlns:p14="http://schemas.microsoft.com/office/powerpoint/2010/main" val="1551738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0"/>
            <a:ext cx="7772400" cy="1143000"/>
          </a:xfrm>
        </p:spPr>
        <p:txBody>
          <a:bodyPr/>
          <a:lstStyle/>
          <a:p>
            <a:r>
              <a:rPr lang="en-US" sz="3200" dirty="0"/>
              <a:t>Architecture and non functional requirements</a:t>
            </a:r>
          </a:p>
        </p:txBody>
      </p:sp>
      <p:sp>
        <p:nvSpPr>
          <p:cNvPr id="3" name="Content Placeholder 2"/>
          <p:cNvSpPr>
            <a:spLocks noGrp="1"/>
          </p:cNvSpPr>
          <p:nvPr>
            <p:ph idx="1"/>
          </p:nvPr>
        </p:nvSpPr>
        <p:spPr>
          <a:xfrm>
            <a:off x="838200" y="990600"/>
            <a:ext cx="7772400" cy="4114800"/>
          </a:xfrm>
        </p:spPr>
        <p:txBody>
          <a:bodyPr/>
          <a:lstStyle/>
          <a:p>
            <a:pPr algn="just">
              <a:lnSpc>
                <a:spcPct val="90000"/>
              </a:lnSpc>
            </a:pPr>
            <a:r>
              <a:rPr lang="en-US" sz="2400" b="1" dirty="0"/>
              <a:t>Performance</a:t>
            </a:r>
          </a:p>
          <a:p>
            <a:pPr lvl="1" algn="just">
              <a:lnSpc>
                <a:spcPct val="90000"/>
              </a:lnSpc>
            </a:pPr>
            <a:r>
              <a:rPr lang="en-US" sz="2400" dirty="0"/>
              <a:t>If performance is a critical requirement, the architecture should be designed to localize critical operations within a </a:t>
            </a:r>
            <a:r>
              <a:rPr lang="en-US" sz="2400" b="1" dirty="0"/>
              <a:t>small number of components </a:t>
            </a:r>
          </a:p>
          <a:p>
            <a:pPr lvl="1" algn="just"/>
            <a:r>
              <a:rPr lang="en-US" sz="2400" dirty="0"/>
              <a:t>These components all deployed on the same computer rather than distributed across the network.</a:t>
            </a:r>
          </a:p>
          <a:p>
            <a:pPr lvl="1" algn="just"/>
            <a:r>
              <a:rPr lang="en-US" sz="2400" dirty="0"/>
              <a:t>This may mean using a few relatively large components rather than small, fine-grain components, which reduces the number of component communications. </a:t>
            </a:r>
          </a:p>
          <a:p>
            <a:pPr lvl="1" algn="just"/>
            <a:r>
              <a:rPr lang="en-US" sz="2400" dirty="0"/>
              <a:t>You may also consider run-time system organizations that allow the system to be replicated and executed on </a:t>
            </a:r>
            <a:r>
              <a:rPr lang="en-US" sz="2400" b="1" dirty="0"/>
              <a:t>different processors</a:t>
            </a:r>
            <a:r>
              <a:rPr lang="en-US" sz="2400" dirty="0"/>
              <a:t>.</a:t>
            </a:r>
          </a:p>
          <a:p>
            <a:pPr algn="just"/>
            <a:endParaRPr lang="en-US" sz="2400" dirty="0"/>
          </a:p>
        </p:txBody>
      </p:sp>
    </p:spTree>
    <p:extLst>
      <p:ext uri="{BB962C8B-B14F-4D97-AF65-F5344CB8AC3E}">
        <p14:creationId xmlns:p14="http://schemas.microsoft.com/office/powerpoint/2010/main" val="4607409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0"/>
            <a:ext cx="7772400" cy="1143000"/>
          </a:xfrm>
        </p:spPr>
        <p:txBody>
          <a:bodyPr/>
          <a:lstStyle/>
          <a:p>
            <a:r>
              <a:rPr lang="en-US" sz="3200" dirty="0"/>
              <a:t>Architecture and non functional requirements</a:t>
            </a:r>
          </a:p>
        </p:txBody>
      </p:sp>
      <p:sp>
        <p:nvSpPr>
          <p:cNvPr id="3" name="Content Placeholder 2"/>
          <p:cNvSpPr>
            <a:spLocks noGrp="1"/>
          </p:cNvSpPr>
          <p:nvPr>
            <p:ph idx="1"/>
          </p:nvPr>
        </p:nvSpPr>
        <p:spPr>
          <a:xfrm>
            <a:off x="990600" y="1066800"/>
            <a:ext cx="7772400" cy="4114800"/>
          </a:xfrm>
        </p:spPr>
        <p:txBody>
          <a:bodyPr/>
          <a:lstStyle/>
          <a:p>
            <a:pPr>
              <a:lnSpc>
                <a:spcPct val="90000"/>
              </a:lnSpc>
            </a:pPr>
            <a:r>
              <a:rPr lang="en-US" sz="2400" dirty="0"/>
              <a:t>Security</a:t>
            </a:r>
          </a:p>
          <a:p>
            <a:pPr lvl="1"/>
            <a:r>
              <a:rPr lang="en-US" sz="2400" dirty="0"/>
              <a:t>If security is a critical requirement, a layered structure for the architecture should be used, with the most critical assets protected in the innermost layers, with a high level of security validation applied to these layers.</a:t>
            </a:r>
          </a:p>
          <a:p>
            <a:pPr>
              <a:lnSpc>
                <a:spcPct val="90000"/>
              </a:lnSpc>
            </a:pPr>
            <a:r>
              <a:rPr lang="en-US" sz="2400" dirty="0"/>
              <a:t>Safety</a:t>
            </a:r>
          </a:p>
          <a:p>
            <a:pPr lvl="1"/>
            <a:r>
              <a:rPr lang="en-US" sz="2400" dirty="0"/>
              <a:t>the architecture should be designed so that safety-related operations are all located in either a single component or in a small number of components. </a:t>
            </a:r>
          </a:p>
          <a:p>
            <a:pPr lvl="1"/>
            <a:r>
              <a:rPr lang="en-US" sz="2400" dirty="0"/>
              <a:t>This reduces the costs and problems of safety validation and makes it possible to provide related protection systems that can safely shut down the system in the event of failure.</a:t>
            </a:r>
          </a:p>
        </p:txBody>
      </p:sp>
    </p:spTree>
    <p:extLst>
      <p:ext uri="{BB962C8B-B14F-4D97-AF65-F5344CB8AC3E}">
        <p14:creationId xmlns:p14="http://schemas.microsoft.com/office/powerpoint/2010/main" val="1703111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Architecture and non functional requirements</a:t>
            </a:r>
          </a:p>
        </p:txBody>
      </p:sp>
      <p:sp>
        <p:nvSpPr>
          <p:cNvPr id="3" name="Content Placeholder 2"/>
          <p:cNvSpPr>
            <a:spLocks noGrp="1"/>
          </p:cNvSpPr>
          <p:nvPr>
            <p:ph idx="1"/>
          </p:nvPr>
        </p:nvSpPr>
        <p:spPr>
          <a:xfrm>
            <a:off x="914400" y="1676400"/>
            <a:ext cx="7772400" cy="4114800"/>
          </a:xfrm>
        </p:spPr>
        <p:txBody>
          <a:bodyPr/>
          <a:lstStyle/>
          <a:p>
            <a:pPr algn="just">
              <a:lnSpc>
                <a:spcPct val="90000"/>
              </a:lnSpc>
            </a:pPr>
            <a:r>
              <a:rPr lang="en-US" sz="2400" dirty="0"/>
              <a:t>Availability</a:t>
            </a:r>
          </a:p>
          <a:p>
            <a:pPr lvl="1" algn="just"/>
            <a:r>
              <a:rPr lang="en-US" sz="2400" dirty="0"/>
              <a:t>If availability is a critical requirement, the architecture should be designed to include redundant components so that it is possible to replace and update components without stopping the system.</a:t>
            </a:r>
          </a:p>
          <a:p>
            <a:pPr algn="just">
              <a:lnSpc>
                <a:spcPct val="90000"/>
              </a:lnSpc>
            </a:pPr>
            <a:r>
              <a:rPr lang="en-US" sz="2400" dirty="0"/>
              <a:t>Maintainability</a:t>
            </a:r>
          </a:p>
          <a:p>
            <a:pPr lvl="1" algn="just"/>
            <a:r>
              <a:rPr lang="en-US" sz="2400" dirty="0"/>
              <a:t>If maintainability is a critical requirement, the system architecture should be designed using fine-grain, replaceable components that may readily be changed.</a:t>
            </a:r>
          </a:p>
          <a:p>
            <a:pPr algn="just"/>
            <a:endParaRPr lang="en-US" sz="2400" dirty="0"/>
          </a:p>
        </p:txBody>
      </p:sp>
    </p:spTree>
    <p:extLst>
      <p:ext uri="{BB962C8B-B14F-4D97-AF65-F5344CB8AC3E}">
        <p14:creationId xmlns:p14="http://schemas.microsoft.com/office/powerpoint/2010/main" val="3575989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views</a:t>
            </a:r>
          </a:p>
        </p:txBody>
      </p:sp>
      <p:sp>
        <p:nvSpPr>
          <p:cNvPr id="3" name="Content Placeholder 2"/>
          <p:cNvSpPr>
            <a:spLocks noGrp="1"/>
          </p:cNvSpPr>
          <p:nvPr>
            <p:ph idx="1"/>
          </p:nvPr>
        </p:nvSpPr>
        <p:spPr>
          <a:xfrm>
            <a:off x="1173163" y="1524000"/>
            <a:ext cx="7772400" cy="4114800"/>
          </a:xfrm>
        </p:spPr>
        <p:txBody>
          <a:bodyPr/>
          <a:lstStyle/>
          <a:p>
            <a:r>
              <a:rPr lang="en-US" sz="2400" dirty="0"/>
              <a:t>What views or perspectives are useful when designing and documenting a system’s architecture?</a:t>
            </a:r>
          </a:p>
          <a:p>
            <a:r>
              <a:rPr lang="en-US" sz="2400" dirty="0"/>
              <a:t>Each architectural model only shows one view or perspective of the system. </a:t>
            </a:r>
          </a:p>
          <a:p>
            <a:pPr lvl="1"/>
            <a:r>
              <a:rPr lang="en-US" sz="2400" dirty="0"/>
              <a:t>It might show how a system is </a:t>
            </a:r>
            <a:r>
              <a:rPr lang="en-US" sz="2400" b="1" dirty="0"/>
              <a:t>decomposed into modules,</a:t>
            </a:r>
            <a:r>
              <a:rPr lang="en-US" sz="2400" dirty="0"/>
              <a:t> how the </a:t>
            </a:r>
            <a:r>
              <a:rPr lang="en-US" sz="2400" b="1" dirty="0"/>
              <a:t>run-time processes interact </a:t>
            </a:r>
            <a:r>
              <a:rPr lang="en-US" sz="2400" dirty="0"/>
              <a:t>or the different ways in which system </a:t>
            </a:r>
            <a:r>
              <a:rPr lang="en-US" sz="2400" b="1" dirty="0"/>
              <a:t>components are distributed</a:t>
            </a:r>
            <a:r>
              <a:rPr lang="en-US" sz="2400" dirty="0"/>
              <a:t> across a network. For both design and documentation, you usually need to present multiple views of the software architecture.</a:t>
            </a:r>
            <a:r>
              <a:rPr lang="en-GB" sz="2400" dirty="0"/>
              <a:t> </a:t>
            </a:r>
          </a:p>
          <a:p>
            <a:endParaRPr lang="en-US" sz="2400" dirty="0"/>
          </a:p>
        </p:txBody>
      </p:sp>
    </p:spTree>
    <p:extLst>
      <p:ext uri="{BB962C8B-B14F-4D97-AF65-F5344CB8AC3E}">
        <p14:creationId xmlns:p14="http://schemas.microsoft.com/office/powerpoint/2010/main" val="1374637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4 + 1 view model of software architecture</a:t>
            </a:r>
          </a:p>
        </p:txBody>
      </p:sp>
      <p:sp>
        <p:nvSpPr>
          <p:cNvPr id="3" name="Content Placeholder 2"/>
          <p:cNvSpPr>
            <a:spLocks noGrp="1"/>
          </p:cNvSpPr>
          <p:nvPr>
            <p:ph idx="1"/>
          </p:nvPr>
        </p:nvSpPr>
        <p:spPr/>
        <p:txBody>
          <a:bodyPr>
            <a:normAutofit fontScale="92500" lnSpcReduction="20000"/>
          </a:bodyPr>
          <a:lstStyle/>
          <a:p>
            <a:r>
              <a:rPr lang="en-US" dirty="0"/>
              <a:t>The </a:t>
            </a:r>
            <a:r>
              <a:rPr lang="en-US" b="1" dirty="0"/>
              <a:t>logical view </a:t>
            </a:r>
            <a:r>
              <a:rPr lang="en-US" dirty="0"/>
              <a:t>is concerned with the functionality that the system provides to end-users. </a:t>
            </a:r>
          </a:p>
          <a:p>
            <a:pPr lvl="1"/>
            <a:r>
              <a:rPr lang="en-US" dirty="0"/>
              <a:t>UML diagrams used to represent the logical view include, </a:t>
            </a:r>
            <a:r>
              <a:rPr lang="en-US" b="1" i="1" dirty="0">
                <a:solidFill>
                  <a:srgbClr val="FF0000"/>
                </a:solidFill>
              </a:rPr>
              <a:t>class diagrams and state diagrams.</a:t>
            </a:r>
            <a:r>
              <a:rPr lang="en-US" dirty="0"/>
              <a:t> </a:t>
            </a:r>
            <a:endParaRPr lang="en-GB" dirty="0"/>
          </a:p>
          <a:p>
            <a:r>
              <a:rPr lang="en-US" dirty="0"/>
              <a:t>A </a:t>
            </a:r>
            <a:r>
              <a:rPr lang="en-US" b="1" dirty="0"/>
              <a:t>process view</a:t>
            </a:r>
            <a:r>
              <a:rPr lang="en-US" dirty="0"/>
              <a:t>, which shows how, at run-time, the system is composed of interacting processes. </a:t>
            </a:r>
          </a:p>
          <a:p>
            <a:pPr lvl="1"/>
            <a:r>
              <a:rPr lang="en-US" b="1" i="1" dirty="0">
                <a:solidFill>
                  <a:srgbClr val="FF0000"/>
                </a:solidFill>
              </a:rPr>
              <a:t>UML activity Diagrams</a:t>
            </a:r>
            <a:endParaRPr lang="en-GB" b="1" i="1" dirty="0">
              <a:solidFill>
                <a:srgbClr val="FF0000"/>
              </a:solidFill>
            </a:endParaRP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4 + 1 view model of software architecture</a:t>
            </a:r>
          </a:p>
        </p:txBody>
      </p:sp>
      <p:sp>
        <p:nvSpPr>
          <p:cNvPr id="3" name="Content Placeholder 2"/>
          <p:cNvSpPr>
            <a:spLocks noGrp="1"/>
          </p:cNvSpPr>
          <p:nvPr>
            <p:ph idx="1"/>
          </p:nvPr>
        </p:nvSpPr>
        <p:spPr/>
        <p:txBody>
          <a:bodyPr>
            <a:normAutofit fontScale="85000" lnSpcReduction="20000"/>
          </a:bodyPr>
          <a:lstStyle/>
          <a:p>
            <a:r>
              <a:rPr lang="en-US" dirty="0"/>
              <a:t>A </a:t>
            </a:r>
            <a:r>
              <a:rPr lang="en-US" b="1" dirty="0"/>
              <a:t>development view, </a:t>
            </a:r>
            <a:r>
              <a:rPr lang="en-US" dirty="0"/>
              <a:t>which shows how the software is decomposed for development.</a:t>
            </a:r>
          </a:p>
          <a:p>
            <a:pPr lvl="1"/>
            <a:r>
              <a:rPr lang="en-US" dirty="0"/>
              <a:t>It uses the </a:t>
            </a:r>
            <a:r>
              <a:rPr lang="en-US" b="1" i="1" dirty="0">
                <a:solidFill>
                  <a:srgbClr val="FF0000"/>
                </a:solidFill>
              </a:rPr>
              <a:t>UML Component diagram</a:t>
            </a:r>
            <a:r>
              <a:rPr lang="en-US" dirty="0"/>
              <a:t> to describe system components. </a:t>
            </a:r>
          </a:p>
          <a:p>
            <a:pPr lvl="1"/>
            <a:r>
              <a:rPr lang="en-US" dirty="0"/>
              <a:t>UML Diagrams used to represent the development view include the </a:t>
            </a:r>
            <a:r>
              <a:rPr lang="en-US" b="1" i="1" dirty="0">
                <a:solidFill>
                  <a:srgbClr val="FF0000"/>
                </a:solidFill>
              </a:rPr>
              <a:t>Package diagram.</a:t>
            </a:r>
            <a:endParaRPr lang="en-GB" b="1" i="1" dirty="0">
              <a:solidFill>
                <a:srgbClr val="FF0000"/>
              </a:solidFill>
            </a:endParaRPr>
          </a:p>
          <a:p>
            <a:r>
              <a:rPr lang="en-US" dirty="0"/>
              <a:t>A </a:t>
            </a:r>
            <a:r>
              <a:rPr lang="en-US" b="1" dirty="0"/>
              <a:t>physical view, </a:t>
            </a:r>
            <a:r>
              <a:rPr lang="en-US" dirty="0"/>
              <a:t>which shows the system hardware and how software components are distributed across the processors in the system.</a:t>
            </a:r>
          </a:p>
          <a:p>
            <a:pPr lvl="1"/>
            <a:r>
              <a:rPr lang="en-US" dirty="0"/>
              <a:t>This view is also known as the deployment view. UML diagrams used to represent the physical view include the </a:t>
            </a:r>
            <a:r>
              <a:rPr lang="en-US" b="1" i="1" dirty="0">
                <a:solidFill>
                  <a:srgbClr val="FF0000"/>
                </a:solidFill>
              </a:rPr>
              <a:t>deployment diagram.</a:t>
            </a:r>
          </a:p>
          <a:p>
            <a:endParaRPr lang="en-US" dirty="0"/>
          </a:p>
          <a:p>
            <a:endParaRPr lang="en-US" dirty="0"/>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13</a:t>
            </a:fld>
            <a:endParaRPr lang="en-US"/>
          </a:p>
        </p:txBody>
      </p:sp>
    </p:spTree>
    <p:extLst>
      <p:ext uri="{BB962C8B-B14F-4D97-AF65-F5344CB8AC3E}">
        <p14:creationId xmlns:p14="http://schemas.microsoft.com/office/powerpoint/2010/main" val="34388877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304800"/>
            <a:ext cx="7772400" cy="1143000"/>
          </a:xfrm>
        </p:spPr>
        <p:txBody>
          <a:bodyPr/>
          <a:lstStyle/>
          <a:p>
            <a:r>
              <a:rPr lang="en-US" sz="3200" dirty="0"/>
              <a:t>4 + 1 view model of software architecture</a:t>
            </a:r>
          </a:p>
        </p:txBody>
      </p:sp>
      <p:sp>
        <p:nvSpPr>
          <p:cNvPr id="3" name="Content Placeholder 2"/>
          <p:cNvSpPr>
            <a:spLocks noGrp="1"/>
          </p:cNvSpPr>
          <p:nvPr>
            <p:ph idx="1"/>
          </p:nvPr>
        </p:nvSpPr>
        <p:spPr>
          <a:xfrm>
            <a:off x="457201" y="1143000"/>
            <a:ext cx="8488362" cy="4114800"/>
          </a:xfrm>
        </p:spPr>
        <p:txBody>
          <a:bodyPr/>
          <a:lstStyle/>
          <a:p>
            <a:r>
              <a:rPr lang="en-US" sz="2000" b="1" dirty="0"/>
              <a:t>conceptual view (+1)</a:t>
            </a:r>
          </a:p>
          <a:p>
            <a:pPr lvl="1"/>
            <a:r>
              <a:rPr lang="en-US" sz="2000" dirty="0"/>
              <a:t>This view is an abstract view of the system that can be the basis for decomposing </a:t>
            </a:r>
            <a:r>
              <a:rPr lang="en-US" sz="2000" dirty="0">
                <a:solidFill>
                  <a:srgbClr val="FF0000"/>
                </a:solidFill>
              </a:rPr>
              <a:t>high-level requirements into more detailed specifications</a:t>
            </a:r>
            <a:r>
              <a:rPr lang="en-US" sz="2000" dirty="0"/>
              <a:t>. </a:t>
            </a:r>
          </a:p>
          <a:p>
            <a:pPr lvl="1"/>
            <a:r>
              <a:rPr lang="en-US" sz="2000" dirty="0"/>
              <a:t>It help engineers make decisions about </a:t>
            </a:r>
            <a:r>
              <a:rPr lang="en-US" sz="2000" b="1" dirty="0"/>
              <a:t>components that can be reused</a:t>
            </a:r>
            <a:r>
              <a:rPr lang="en-US" sz="2000" dirty="0"/>
              <a:t>, and represent a product line.</a:t>
            </a:r>
          </a:p>
        </p:txBody>
      </p:sp>
    </p:spTree>
    <p:extLst>
      <p:ext uri="{BB962C8B-B14F-4D97-AF65-F5344CB8AC3E}">
        <p14:creationId xmlns:p14="http://schemas.microsoft.com/office/powerpoint/2010/main" val="3357773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15</a:t>
            </a:fld>
            <a:endParaRPr lang="en-US"/>
          </a:p>
        </p:txBody>
      </p:sp>
      <p:pic>
        <p:nvPicPr>
          <p:cNvPr id="1026" name="Picture 2" descr="Image result for architectural views in software engine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222" y="290940"/>
            <a:ext cx="8547960" cy="64176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57636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patterns</a:t>
            </a:r>
          </a:p>
        </p:txBody>
      </p:sp>
      <p:sp>
        <p:nvSpPr>
          <p:cNvPr id="3" name="Content Placeholder 2"/>
          <p:cNvSpPr>
            <a:spLocks noGrp="1"/>
          </p:cNvSpPr>
          <p:nvPr>
            <p:ph idx="1"/>
          </p:nvPr>
        </p:nvSpPr>
        <p:spPr>
          <a:xfrm>
            <a:off x="1173163" y="1752600"/>
            <a:ext cx="7772400" cy="4114800"/>
          </a:xfrm>
        </p:spPr>
        <p:txBody>
          <a:bodyPr/>
          <a:lstStyle/>
          <a:p>
            <a:r>
              <a:rPr lang="en-US" sz="2400" dirty="0"/>
              <a:t>Patterns are a means of representing, sharing and reusing knowledge.</a:t>
            </a:r>
          </a:p>
          <a:p>
            <a:r>
              <a:rPr lang="en-US" sz="2400" dirty="0"/>
              <a:t>Patterns should include information about when they are and when the are not useful.</a:t>
            </a:r>
          </a:p>
          <a:p>
            <a:r>
              <a:rPr lang="en-US" sz="2400" dirty="0"/>
              <a:t>Patterns may be represented using tabular and graphical descriptions.</a:t>
            </a:r>
          </a:p>
          <a:p>
            <a:endParaRPr lang="en-US" sz="2400" dirty="0"/>
          </a:p>
        </p:txBody>
      </p:sp>
    </p:spTree>
    <p:extLst>
      <p:ext uri="{BB962C8B-B14F-4D97-AF65-F5344CB8AC3E}">
        <p14:creationId xmlns:p14="http://schemas.microsoft.com/office/powerpoint/2010/main" val="910674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MVC</a:t>
            </a:r>
            <a:br>
              <a:rPr lang="en-US" dirty="0"/>
            </a:br>
            <a:r>
              <a:rPr lang="en-US" dirty="0"/>
              <a:t>Model, View and Controller.</a:t>
            </a:r>
            <a:br>
              <a:rPr lang="en-US" dirty="0"/>
            </a:br>
            <a:endParaRPr lang="en-US" dirty="0"/>
          </a:p>
        </p:txBody>
      </p:sp>
      <p:sp>
        <p:nvSpPr>
          <p:cNvPr id="3" name="Content Placeholder 2"/>
          <p:cNvSpPr>
            <a:spLocks noGrp="1"/>
          </p:cNvSpPr>
          <p:nvPr>
            <p:ph idx="1"/>
          </p:nvPr>
        </p:nvSpPr>
        <p:spPr/>
        <p:txBody>
          <a:bodyPr>
            <a:normAutofit fontScale="77500" lnSpcReduction="20000"/>
          </a:bodyPr>
          <a:lstStyle/>
          <a:p>
            <a:r>
              <a:rPr lang="en-US" dirty="0"/>
              <a:t>MVC separates application into three components:</a:t>
            </a:r>
          </a:p>
          <a:p>
            <a:pPr lvl="1"/>
            <a:r>
              <a:rPr lang="en-US" b="1" u="sng" dirty="0"/>
              <a:t>Model:</a:t>
            </a:r>
            <a:r>
              <a:rPr lang="en-US" dirty="0"/>
              <a:t> represents shape of the data and business logic. </a:t>
            </a:r>
          </a:p>
          <a:p>
            <a:pPr lvl="1"/>
            <a:r>
              <a:rPr lang="en-US" b="1" u="sng" dirty="0"/>
              <a:t>View:</a:t>
            </a:r>
            <a:r>
              <a:rPr lang="en-US" dirty="0"/>
              <a:t> is a user interface. View display data using model to the user and also enables them to modify the data.</a:t>
            </a:r>
          </a:p>
          <a:p>
            <a:pPr lvl="1"/>
            <a:r>
              <a:rPr lang="en-US" b="1" u="sng" dirty="0"/>
              <a:t>Controller: </a:t>
            </a:r>
            <a:r>
              <a:rPr lang="en-US" dirty="0"/>
              <a:t>Controllers are the components that handle user interaction, work with the model, and ultimately select a view to render that displays UI. </a:t>
            </a:r>
          </a:p>
          <a:p>
            <a:pPr marL="457200" lvl="1" indent="0" algn="ctr">
              <a:buNone/>
            </a:pPr>
            <a:r>
              <a:rPr lang="en-US" b="1" i="1" u="sng" dirty="0">
                <a:solidFill>
                  <a:srgbClr val="FF0000"/>
                </a:solidFill>
              </a:rPr>
              <a:t>In an MVC application, the view only displays information; the controller handles and responds to user input and interaction. </a:t>
            </a:r>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17</a:t>
            </a:fld>
            <a:endParaRPr lang="en-US"/>
          </a:p>
        </p:txBody>
      </p:sp>
    </p:spTree>
    <p:extLst>
      <p:ext uri="{BB962C8B-B14F-4D97-AF65-F5344CB8AC3E}">
        <p14:creationId xmlns:p14="http://schemas.microsoft.com/office/powerpoint/2010/main" val="9392366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Model-View-Controller (MVC) pattern</a:t>
            </a:r>
            <a:r>
              <a:rPr lang="en-GB" dirty="0"/>
              <a:t>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749653261"/>
              </p:ext>
            </p:extLst>
          </p:nvPr>
        </p:nvGraphicFramePr>
        <p:xfrm>
          <a:off x="457200" y="1981200"/>
          <a:ext cx="8229600" cy="4210627"/>
        </p:xfrm>
        <a:graphic>
          <a:graphicData uri="http://schemas.openxmlformats.org/drawingml/2006/table">
            <a:tbl>
              <a:tblPr firstRow="1" bandRow="1">
                <a:tableStyleId>{5C22544A-7EE6-4342-B048-85BDC9FD1C3A}</a:tableStyleId>
              </a:tblPr>
              <a:tblGrid>
                <a:gridCol w="2001917">
                  <a:extLst>
                    <a:ext uri="{9D8B030D-6E8A-4147-A177-3AD203B41FA5}">
                      <a16:colId xmlns:a16="http://schemas.microsoft.com/office/drawing/2014/main" val="20000"/>
                    </a:ext>
                  </a:extLst>
                </a:gridCol>
                <a:gridCol w="6227683">
                  <a:extLst>
                    <a:ext uri="{9D8B030D-6E8A-4147-A177-3AD203B41FA5}">
                      <a16:colId xmlns:a16="http://schemas.microsoft.com/office/drawing/2014/main" val="20001"/>
                    </a:ext>
                  </a:extLst>
                </a:gridCol>
              </a:tblGrid>
              <a:tr h="429115">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MVC (Model-View-Controller)</a:t>
                      </a:r>
                    </a:p>
                  </a:txBody>
                  <a:tcPr marL="68580" marR="68580" marT="0" marB="0"/>
                </a:tc>
                <a:extLst>
                  <a:ext uri="{0D108BD9-81ED-4DB2-BD59-A6C34878D82A}">
                    <a16:rowId xmlns:a16="http://schemas.microsoft.com/office/drawing/2014/main" val="10000"/>
                  </a:ext>
                </a:extLst>
              </a:tr>
              <a:tr h="155202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Description</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Separates presentation and interaction from the system data. The system is structured into three logical components that interact with each other. The Model component manages the system data and associated operations on that data. The View component defines and manages how the data is presented to the user. The Controller component manages user interaction (e.g., key presses, mouse clicks, etc.) and passes these interactions to the View and the Model. See Figure 6.3.</a:t>
                      </a:r>
                    </a:p>
                  </a:txBody>
                  <a:tcPr marL="68580" marR="68580" marT="0" marB="0"/>
                </a:tc>
                <a:extLst>
                  <a:ext uri="{0D108BD9-81ED-4DB2-BD59-A6C34878D82A}">
                    <a16:rowId xmlns:a16="http://schemas.microsoft.com/office/drawing/2014/main" val="10001"/>
                  </a:ext>
                </a:extLst>
              </a:tr>
              <a:tr h="449594">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Example</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Figure 6.4 shows the architecture of a web-based application system organized using the MVC pattern.</a:t>
                      </a:r>
                    </a:p>
                  </a:txBody>
                  <a:tcPr marL="68580" marR="68580" marT="0" marB="0"/>
                </a:tc>
                <a:extLst>
                  <a:ext uri="{0D108BD9-81ED-4DB2-BD59-A6C34878D82A}">
                    <a16:rowId xmlns:a16="http://schemas.microsoft.com/office/drawing/2014/main" val="10002"/>
                  </a:ext>
                </a:extLst>
              </a:tr>
              <a:tr h="665152">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When used</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Used when there are multiple ways to view and interact with data. Also used when the future requirements for interaction and presentation of data are unknown. </a:t>
                      </a:r>
                    </a:p>
                  </a:txBody>
                  <a:tcPr marL="68580" marR="68580" marT="0" marB="0"/>
                </a:tc>
                <a:extLst>
                  <a:ext uri="{0D108BD9-81ED-4DB2-BD59-A6C34878D82A}">
                    <a16:rowId xmlns:a16="http://schemas.microsoft.com/office/drawing/2014/main" val="10003"/>
                  </a:ext>
                </a:extLst>
              </a:tr>
              <a:tr h="665152">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Advantages</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Allows the data to change independently of its representation and vice versa. Supports presentation of the same data in different ways with changes made in one representation shown in all of them. </a:t>
                      </a:r>
                    </a:p>
                  </a:txBody>
                  <a:tcPr marL="68580" marR="68580" marT="0" marB="0"/>
                </a:tc>
                <a:extLst>
                  <a:ext uri="{0D108BD9-81ED-4DB2-BD59-A6C34878D82A}">
                    <a16:rowId xmlns:a16="http://schemas.microsoft.com/office/drawing/2014/main" val="10004"/>
                  </a:ext>
                </a:extLst>
              </a:tr>
              <a:tr h="449594">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Disadvantages</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Can involve additional code and code complexity when the data model and interactions are simple.</a:t>
                      </a:r>
                    </a:p>
                  </a:txBody>
                  <a:tcPr marL="68580" marR="68580"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3757324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228600"/>
            <a:ext cx="7772400" cy="1143000"/>
          </a:xfrm>
        </p:spPr>
        <p:txBody>
          <a:bodyPr/>
          <a:lstStyle/>
          <a:p>
            <a:r>
              <a:rPr lang="en-US" sz="2800" b="1" dirty="0"/>
              <a:t>The organization of the Model-View-Controller</a:t>
            </a:r>
            <a:r>
              <a:rPr lang="en-GB" sz="2800" b="1" dirty="0"/>
              <a:t> </a:t>
            </a:r>
            <a:endParaRPr lang="en-US" sz="2800" b="1" dirty="0"/>
          </a:p>
        </p:txBody>
      </p:sp>
      <p:pic>
        <p:nvPicPr>
          <p:cNvPr id="5" name="Picture 4"/>
          <p:cNvPicPr>
            <a:picLocks noChangeAspect="1"/>
          </p:cNvPicPr>
          <p:nvPr/>
        </p:nvPicPr>
        <p:blipFill>
          <a:blip r:embed="rId2"/>
          <a:stretch>
            <a:fillRect/>
          </a:stretch>
        </p:blipFill>
        <p:spPr>
          <a:xfrm>
            <a:off x="1455559" y="2016241"/>
            <a:ext cx="5772068" cy="3788607"/>
          </a:xfrm>
          <a:prstGeom prst="rect">
            <a:avLst/>
          </a:prstGeom>
        </p:spPr>
      </p:pic>
      <p:sp>
        <p:nvSpPr>
          <p:cNvPr id="6" name="Rectangle 5"/>
          <p:cNvSpPr/>
          <p:nvPr/>
        </p:nvSpPr>
        <p:spPr>
          <a:xfrm>
            <a:off x="2283821" y="6068489"/>
            <a:ext cx="4704521" cy="646331"/>
          </a:xfrm>
          <a:prstGeom prst="rect">
            <a:avLst/>
          </a:prstGeom>
        </p:spPr>
        <p:txBody>
          <a:bodyPr wrap="square">
            <a:spAutoFit/>
          </a:bodyPr>
          <a:lstStyle/>
          <a:p>
            <a:r>
              <a:rPr lang="en-GB" dirty="0">
                <a:solidFill>
                  <a:srgbClr val="000000"/>
                </a:solidFill>
                <a:latin typeface="Helvetica"/>
                <a:ea typeface="Times New Roman"/>
                <a:cs typeface="Helvetica"/>
              </a:rPr>
              <a:t>Model component manages the system data and associated operations on that data. </a:t>
            </a:r>
            <a:endParaRPr lang="en-US" dirty="0"/>
          </a:p>
        </p:txBody>
      </p:sp>
      <p:cxnSp>
        <p:nvCxnSpPr>
          <p:cNvPr id="8" name="Straight Arrow Connector 7"/>
          <p:cNvCxnSpPr>
            <a:stCxn id="6" idx="0"/>
          </p:cNvCxnSpPr>
          <p:nvPr/>
        </p:nvCxnSpPr>
        <p:spPr bwMode="auto">
          <a:xfrm flipV="1">
            <a:off x="4636082" y="5724220"/>
            <a:ext cx="9939" cy="344269"/>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Rectangle 8"/>
          <p:cNvSpPr/>
          <p:nvPr/>
        </p:nvSpPr>
        <p:spPr>
          <a:xfrm>
            <a:off x="4953000" y="990600"/>
            <a:ext cx="4572000" cy="646331"/>
          </a:xfrm>
          <a:prstGeom prst="rect">
            <a:avLst/>
          </a:prstGeom>
        </p:spPr>
        <p:txBody>
          <a:bodyPr>
            <a:spAutoFit/>
          </a:bodyPr>
          <a:lstStyle/>
          <a:p>
            <a:r>
              <a:rPr lang="en-GB" dirty="0">
                <a:solidFill>
                  <a:srgbClr val="000000"/>
                </a:solidFill>
                <a:latin typeface="Helvetica"/>
                <a:ea typeface="Times New Roman"/>
                <a:cs typeface="Helvetica"/>
              </a:rPr>
              <a:t>View component defines and manages how the data is presented to the user</a:t>
            </a:r>
            <a:endParaRPr lang="en-US" dirty="0"/>
          </a:p>
        </p:txBody>
      </p:sp>
      <p:cxnSp>
        <p:nvCxnSpPr>
          <p:cNvPr id="11" name="Straight Arrow Connector 10"/>
          <p:cNvCxnSpPr>
            <a:stCxn id="9" idx="2"/>
          </p:cNvCxnSpPr>
          <p:nvPr/>
        </p:nvCxnSpPr>
        <p:spPr bwMode="auto">
          <a:xfrm flipH="1">
            <a:off x="7010400" y="1636931"/>
            <a:ext cx="228600" cy="365662"/>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Rectangle 12"/>
          <p:cNvSpPr/>
          <p:nvPr/>
        </p:nvSpPr>
        <p:spPr>
          <a:xfrm>
            <a:off x="152400" y="829270"/>
            <a:ext cx="4800600" cy="923330"/>
          </a:xfrm>
          <a:prstGeom prst="rect">
            <a:avLst/>
          </a:prstGeom>
        </p:spPr>
        <p:txBody>
          <a:bodyPr wrap="square">
            <a:spAutoFit/>
          </a:bodyPr>
          <a:lstStyle/>
          <a:p>
            <a:r>
              <a:rPr lang="en-GB" dirty="0">
                <a:solidFill>
                  <a:srgbClr val="000000"/>
                </a:solidFill>
                <a:latin typeface="Helvetica"/>
                <a:ea typeface="Times New Roman"/>
                <a:cs typeface="Helvetica"/>
              </a:rPr>
              <a:t>manages user interaction (e.g., key presses, mouse clicks, etc.) and passes these interactions to the View and the Model</a:t>
            </a:r>
            <a:endParaRPr lang="en-US" dirty="0"/>
          </a:p>
        </p:txBody>
      </p:sp>
      <p:cxnSp>
        <p:nvCxnSpPr>
          <p:cNvPr id="15" name="Straight Arrow Connector 14"/>
          <p:cNvCxnSpPr>
            <a:stCxn id="13" idx="2"/>
          </p:cNvCxnSpPr>
          <p:nvPr/>
        </p:nvCxnSpPr>
        <p:spPr bwMode="auto">
          <a:xfrm flipH="1">
            <a:off x="2514600" y="1752600"/>
            <a:ext cx="38100" cy="38100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4806994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E0EED9-6117-41F0-96F9-85216DC2D2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4727" y="457200"/>
            <a:ext cx="6234545" cy="6172200"/>
          </a:xfrm>
          <a:prstGeom prst="rect">
            <a:avLst/>
          </a:prstGeom>
        </p:spPr>
      </p:pic>
    </p:spTree>
    <p:extLst>
      <p:ext uri="{BB962C8B-B14F-4D97-AF65-F5344CB8AC3E}">
        <p14:creationId xmlns:p14="http://schemas.microsoft.com/office/powerpoint/2010/main" val="42794775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0"/>
            <a:ext cx="7772400" cy="1143000"/>
          </a:xfrm>
        </p:spPr>
        <p:txBody>
          <a:bodyPr/>
          <a:lstStyle/>
          <a:p>
            <a:r>
              <a:rPr lang="en-US" sz="2800" dirty="0"/>
              <a:t>Web application architecture using the MVC pattern</a:t>
            </a:r>
            <a:r>
              <a:rPr lang="en-GB" sz="2800" dirty="0"/>
              <a:t> </a:t>
            </a:r>
            <a:endParaRPr lang="en-US" sz="2800" dirty="0"/>
          </a:p>
        </p:txBody>
      </p:sp>
      <p:pic>
        <p:nvPicPr>
          <p:cNvPr id="5" name="Picture 4"/>
          <p:cNvPicPr>
            <a:picLocks noChangeAspect="1"/>
          </p:cNvPicPr>
          <p:nvPr/>
        </p:nvPicPr>
        <p:blipFill>
          <a:blip r:embed="rId2"/>
          <a:stretch>
            <a:fillRect/>
          </a:stretch>
        </p:blipFill>
        <p:spPr>
          <a:xfrm>
            <a:off x="1866901" y="1120726"/>
            <a:ext cx="5867401" cy="4981502"/>
          </a:xfrm>
          <a:prstGeom prst="rect">
            <a:avLst/>
          </a:prstGeom>
        </p:spPr>
      </p:pic>
      <p:sp>
        <p:nvSpPr>
          <p:cNvPr id="6" name="TextBox 5"/>
          <p:cNvSpPr txBox="1"/>
          <p:nvPr/>
        </p:nvSpPr>
        <p:spPr>
          <a:xfrm>
            <a:off x="1600200" y="6182336"/>
            <a:ext cx="2362200" cy="646331"/>
          </a:xfrm>
          <a:prstGeom prst="rect">
            <a:avLst/>
          </a:prstGeom>
          <a:noFill/>
        </p:spPr>
        <p:txBody>
          <a:bodyPr wrap="square" rtlCol="0">
            <a:spAutoFit/>
          </a:bodyPr>
          <a:lstStyle/>
          <a:p>
            <a:r>
              <a:rPr lang="en-US" dirty="0"/>
              <a:t>How data can be created or stored</a:t>
            </a:r>
          </a:p>
        </p:txBody>
      </p:sp>
      <p:cxnSp>
        <p:nvCxnSpPr>
          <p:cNvPr id="8" name="Straight Arrow Connector 7"/>
          <p:cNvCxnSpPr/>
          <p:nvPr/>
        </p:nvCxnSpPr>
        <p:spPr bwMode="auto">
          <a:xfrm flipV="1">
            <a:off x="3429000" y="5715000"/>
            <a:ext cx="914400" cy="46733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0469378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GB" dirty="0"/>
              <a:t>Layered architecture</a:t>
            </a:r>
            <a:endParaRPr lang="en-US" dirty="0"/>
          </a:p>
        </p:txBody>
      </p:sp>
      <p:sp>
        <p:nvSpPr>
          <p:cNvPr id="3" name="Content Placeholder 2"/>
          <p:cNvSpPr>
            <a:spLocks noGrp="1"/>
          </p:cNvSpPr>
          <p:nvPr>
            <p:ph idx="1"/>
          </p:nvPr>
        </p:nvSpPr>
        <p:spPr>
          <a:xfrm>
            <a:off x="1066800" y="1600200"/>
            <a:ext cx="7772400" cy="4114800"/>
          </a:xfrm>
        </p:spPr>
        <p:txBody>
          <a:bodyPr/>
          <a:lstStyle/>
          <a:p>
            <a:r>
              <a:rPr lang="en-GB" sz="2400" dirty="0"/>
              <a:t>Used to model the interfacing of sub-systems.</a:t>
            </a:r>
          </a:p>
          <a:p>
            <a:r>
              <a:rPr lang="en-GB" sz="2400" dirty="0"/>
              <a:t>Organises the system into </a:t>
            </a:r>
            <a:r>
              <a:rPr lang="en-GB" sz="2400" b="1" dirty="0"/>
              <a:t>a set of layers,</a:t>
            </a:r>
            <a:r>
              <a:rPr lang="en-GB" sz="2400" dirty="0"/>
              <a:t> each of which provide a set of services.</a:t>
            </a:r>
          </a:p>
          <a:p>
            <a:r>
              <a:rPr lang="en-US" sz="2400" dirty="0"/>
              <a:t>Each layer only relies on the facilities and services offered by the layer immediately beneath (below)it.</a:t>
            </a:r>
            <a:endParaRPr lang="en-GB" sz="2400" dirty="0"/>
          </a:p>
          <a:p>
            <a:r>
              <a:rPr lang="en-GB" sz="2400" dirty="0"/>
              <a:t>Supports the incremental development of sub-systems in different layers. When a layer interface changes, only the adjacent layer is affected.</a:t>
            </a:r>
          </a:p>
          <a:p>
            <a:endParaRPr lang="en-US" sz="2400" dirty="0"/>
          </a:p>
        </p:txBody>
      </p:sp>
    </p:spTree>
    <p:extLst>
      <p:ext uri="{BB962C8B-B14F-4D97-AF65-F5344CB8AC3E}">
        <p14:creationId xmlns:p14="http://schemas.microsoft.com/office/powerpoint/2010/main" val="1399488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Layered architecture pattern</a:t>
            </a:r>
            <a:r>
              <a:rPr lang="en-GB" dirty="0"/>
              <a:t>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860935359"/>
              </p:ext>
            </p:extLst>
          </p:nvPr>
        </p:nvGraphicFramePr>
        <p:xfrm>
          <a:off x="1024689" y="1621197"/>
          <a:ext cx="7190386" cy="4638040"/>
        </p:xfrm>
        <a:graphic>
          <a:graphicData uri="http://schemas.openxmlformats.org/drawingml/2006/table">
            <a:tbl>
              <a:tblPr firstRow="1" bandRow="1">
                <a:tableStyleId>{5C22544A-7EE6-4342-B048-85BDC9FD1C3A}</a:tableStyleId>
              </a:tblPr>
              <a:tblGrid>
                <a:gridCol w="1961618">
                  <a:extLst>
                    <a:ext uri="{9D8B030D-6E8A-4147-A177-3AD203B41FA5}">
                      <a16:colId xmlns:a16="http://schemas.microsoft.com/office/drawing/2014/main" val="20000"/>
                    </a:ext>
                  </a:extLst>
                </a:gridCol>
                <a:gridCol w="5228768">
                  <a:extLst>
                    <a:ext uri="{9D8B030D-6E8A-4147-A177-3AD203B41FA5}">
                      <a16:colId xmlns:a16="http://schemas.microsoft.com/office/drawing/2014/main" val="20001"/>
                    </a:ext>
                  </a:extLst>
                </a:gridCol>
              </a:tblGrid>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Layered architecture</a:t>
                      </a:r>
                    </a:p>
                  </a:txBody>
                  <a:tcPr marL="68580" marR="68580" marT="0" marB="0"/>
                </a:tc>
                <a:extLst>
                  <a:ext uri="{0D108BD9-81ED-4DB2-BD59-A6C34878D82A}">
                    <a16:rowId xmlns:a16="http://schemas.microsoft.com/office/drawing/2014/main" val="10000"/>
                  </a:ext>
                </a:extLst>
              </a:tr>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Description</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Organizes the system into layers with related functionality associated with each layer. A layer provides services to the layer above it so the lowest-level layers represent core services that are likely to be used throughout the system. See Figure 6.6.</a:t>
                      </a:r>
                    </a:p>
                  </a:txBody>
                  <a:tcPr marL="68580" marR="68580" marT="0" marB="0"/>
                </a:tc>
                <a:extLst>
                  <a:ext uri="{0D108BD9-81ED-4DB2-BD59-A6C34878D82A}">
                    <a16:rowId xmlns:a16="http://schemas.microsoft.com/office/drawing/2014/main" val="10001"/>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Example</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A layered model of a system for sharing copyright documents held in different libraries, as shown in Figure 6.7.</a:t>
                      </a:r>
                    </a:p>
                  </a:txBody>
                  <a:tcPr marL="68580" marR="68580" marT="0" marB="0"/>
                </a:tc>
                <a:extLst>
                  <a:ext uri="{0D108BD9-81ED-4DB2-BD59-A6C34878D82A}">
                    <a16:rowId xmlns:a16="http://schemas.microsoft.com/office/drawing/2014/main" val="10002"/>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When used</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Used when building new facilities on top of existing systems; when the development is spread across several teams with each team responsibility for a layer of functionality; when there is a requirement for </a:t>
                      </a:r>
                      <a:r>
                        <a:rPr lang="en-GB" sz="1400" b="1" dirty="0">
                          <a:solidFill>
                            <a:srgbClr val="000000"/>
                          </a:solidFill>
                          <a:latin typeface="Helvetica"/>
                          <a:ea typeface="Times New Roman"/>
                          <a:cs typeface="Helvetica"/>
                        </a:rPr>
                        <a:t>multi-level security</a:t>
                      </a:r>
                      <a:r>
                        <a:rPr lang="en-GB" sz="1400" dirty="0">
                          <a:solidFill>
                            <a:srgbClr val="000000"/>
                          </a:solidFill>
                          <a:latin typeface="Helvetica"/>
                          <a:ea typeface="Times New Roman"/>
                          <a:cs typeface="Helvetica"/>
                        </a:rPr>
                        <a:t>.</a:t>
                      </a:r>
                    </a:p>
                  </a:txBody>
                  <a:tcPr marL="68580" marR="68580" marT="0" marB="0"/>
                </a:tc>
                <a:extLst>
                  <a:ext uri="{0D108BD9-81ED-4DB2-BD59-A6C34878D82A}">
                    <a16:rowId xmlns:a16="http://schemas.microsoft.com/office/drawing/2014/main" val="10003"/>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Advantages</a:t>
                      </a: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Allows replacement of entire layers</a:t>
                      </a:r>
                      <a:r>
                        <a:rPr lang="en-GB" sz="1400" dirty="0">
                          <a:solidFill>
                            <a:srgbClr val="000000"/>
                          </a:solidFill>
                          <a:latin typeface="Helvetica"/>
                          <a:ea typeface="Times New Roman"/>
                          <a:cs typeface="Helvetica"/>
                        </a:rPr>
                        <a:t> so long as the interface is maintained. Redundant facilities (e.g., authentication) can be provided in each layer to increase the dependability of the system.</a:t>
                      </a:r>
                    </a:p>
                  </a:txBody>
                  <a:tcPr marL="68580" marR="68580" marT="0" marB="0"/>
                </a:tc>
                <a:extLst>
                  <a:ext uri="{0D108BD9-81ED-4DB2-BD59-A6C34878D82A}">
                    <a16:rowId xmlns:a16="http://schemas.microsoft.com/office/drawing/2014/main" val="10004"/>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Disadvantages</a:t>
                      </a:r>
                    </a:p>
                  </a:txBody>
                  <a:tcPr marL="68580" marR="68580" marT="0" marB="0"/>
                </a:tc>
                <a:tc>
                  <a:txBody>
                    <a:bodyPr/>
                    <a:lstStyle/>
                    <a:p>
                      <a:pPr algn="l">
                        <a:spcAft>
                          <a:spcPts val="0"/>
                        </a:spcAft>
                        <a:tabLst>
                          <a:tab pos="342900" algn="l"/>
                          <a:tab pos="685800" algn="l"/>
                          <a:tab pos="1028700" algn="l"/>
                        </a:tabLst>
                      </a:pPr>
                      <a:r>
                        <a:rPr lang="en-GB" sz="1400" dirty="0">
                          <a:solidFill>
                            <a:srgbClr val="000000"/>
                          </a:solidFill>
                          <a:latin typeface="Helvetica"/>
                          <a:ea typeface="Times New Roman"/>
                          <a:cs typeface="Helvetica"/>
                        </a:rPr>
                        <a:t>In practice, providing a clean separation between layers is often difficult and a high-level layer may have to interact directly with lower-level layers rather than through the layer immediately below it. </a:t>
                      </a:r>
                      <a:r>
                        <a:rPr lang="en-GB" sz="1400" b="1" dirty="0">
                          <a:solidFill>
                            <a:srgbClr val="000000"/>
                          </a:solidFill>
                          <a:latin typeface="Helvetica"/>
                          <a:ea typeface="Times New Roman"/>
                          <a:cs typeface="Helvetica"/>
                        </a:rPr>
                        <a:t>Performance can be a problem </a:t>
                      </a:r>
                      <a:r>
                        <a:rPr lang="en-GB" sz="1400" dirty="0">
                          <a:solidFill>
                            <a:srgbClr val="000000"/>
                          </a:solidFill>
                          <a:latin typeface="Helvetica"/>
                          <a:ea typeface="Times New Roman"/>
                          <a:cs typeface="Helvetica"/>
                        </a:rPr>
                        <a:t>because of multiple levels of interpretation of a service request as it is processed at each layer.</a:t>
                      </a:r>
                    </a:p>
                  </a:txBody>
                  <a:tcPr marL="68580" marR="68580"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9880573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generic layered architecture</a:t>
            </a:r>
            <a:r>
              <a:rPr lang="en-GB" dirty="0"/>
              <a:t> </a:t>
            </a:r>
            <a:endParaRPr lang="en-US" dirty="0"/>
          </a:p>
        </p:txBody>
      </p:sp>
      <p:pic>
        <p:nvPicPr>
          <p:cNvPr id="6" name="Picture 5"/>
          <p:cNvPicPr>
            <a:picLocks noChangeAspect="1"/>
          </p:cNvPicPr>
          <p:nvPr/>
        </p:nvPicPr>
        <p:blipFill>
          <a:blip r:embed="rId2"/>
          <a:stretch>
            <a:fillRect/>
          </a:stretch>
        </p:blipFill>
        <p:spPr>
          <a:xfrm>
            <a:off x="1371891" y="1676400"/>
            <a:ext cx="6095709" cy="4209325"/>
          </a:xfrm>
          <a:prstGeom prst="rect">
            <a:avLst/>
          </a:prstGeom>
        </p:spPr>
      </p:pic>
    </p:spTree>
    <p:extLst>
      <p:ext uri="{BB962C8B-B14F-4D97-AF65-F5344CB8AC3E}">
        <p14:creationId xmlns:p14="http://schemas.microsoft.com/office/powerpoint/2010/main" val="35256608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US" sz="3200" dirty="0"/>
              <a:t>The architecture of the LIBSYS system</a:t>
            </a:r>
            <a:r>
              <a:rPr lang="en-GB" sz="3200" dirty="0"/>
              <a:t> </a:t>
            </a:r>
            <a:endParaRPr lang="en-US" sz="3200" dirty="0"/>
          </a:p>
        </p:txBody>
      </p:sp>
      <p:pic>
        <p:nvPicPr>
          <p:cNvPr id="6" name="Picture 5"/>
          <p:cNvPicPr>
            <a:picLocks noChangeAspect="1"/>
          </p:cNvPicPr>
          <p:nvPr/>
        </p:nvPicPr>
        <p:blipFill>
          <a:blip r:embed="rId2"/>
          <a:stretch>
            <a:fillRect/>
          </a:stretch>
        </p:blipFill>
        <p:spPr>
          <a:xfrm>
            <a:off x="1931335" y="1676400"/>
            <a:ext cx="5612465" cy="4936666"/>
          </a:xfrm>
          <a:prstGeom prst="rect">
            <a:avLst/>
          </a:prstGeom>
        </p:spPr>
      </p:pic>
    </p:spTree>
    <p:extLst>
      <p:ext uri="{BB962C8B-B14F-4D97-AF65-F5344CB8AC3E}">
        <p14:creationId xmlns:p14="http://schemas.microsoft.com/office/powerpoint/2010/main" val="10735658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Repository architecture</a:t>
            </a:r>
            <a:endParaRPr lang="en-US" dirty="0"/>
          </a:p>
        </p:txBody>
      </p:sp>
      <p:sp>
        <p:nvSpPr>
          <p:cNvPr id="3" name="Content Placeholder 2"/>
          <p:cNvSpPr>
            <a:spLocks noGrp="1"/>
          </p:cNvSpPr>
          <p:nvPr>
            <p:ph idx="1"/>
          </p:nvPr>
        </p:nvSpPr>
        <p:spPr>
          <a:xfrm>
            <a:off x="1173163" y="1676400"/>
            <a:ext cx="7772400" cy="4114800"/>
          </a:xfrm>
        </p:spPr>
        <p:txBody>
          <a:bodyPr/>
          <a:lstStyle/>
          <a:p>
            <a:r>
              <a:rPr lang="en-US" sz="2400" dirty="0"/>
              <a:t>Repository pattern describes how a set of interacting </a:t>
            </a:r>
            <a:r>
              <a:rPr lang="en-US" sz="2400" b="1" dirty="0"/>
              <a:t>components</a:t>
            </a:r>
            <a:r>
              <a:rPr lang="en-US" sz="2400" dirty="0"/>
              <a:t> can </a:t>
            </a:r>
            <a:r>
              <a:rPr lang="en-US" sz="2400" b="1" dirty="0"/>
              <a:t>share data</a:t>
            </a:r>
            <a:r>
              <a:rPr lang="en-US" sz="2400" dirty="0"/>
              <a:t>.</a:t>
            </a:r>
          </a:p>
          <a:p>
            <a:r>
              <a:rPr lang="en-US" sz="2400" dirty="0"/>
              <a:t>The majority of systems that use large amounts of data are organized around a shared database or repository</a:t>
            </a:r>
          </a:p>
          <a:p>
            <a:r>
              <a:rPr lang="en-US" sz="2400" dirty="0"/>
              <a:t>This model is therefore suited to applications in which data is generated by one component and used by another.</a:t>
            </a:r>
          </a:p>
          <a:p>
            <a:r>
              <a:rPr lang="en-US" sz="2400" dirty="0"/>
              <a:t>Examples of this type of system include command and control systems, management information systems, and interactive development environments for software</a:t>
            </a:r>
          </a:p>
        </p:txBody>
      </p:sp>
    </p:spTree>
    <p:extLst>
      <p:ext uri="{BB962C8B-B14F-4D97-AF65-F5344CB8AC3E}">
        <p14:creationId xmlns:p14="http://schemas.microsoft.com/office/powerpoint/2010/main" val="1778361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Repository pattern</a:t>
            </a:r>
            <a:r>
              <a:rPr lang="en-GB" dirty="0"/>
              <a:t>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20622447"/>
              </p:ext>
            </p:extLst>
          </p:nvPr>
        </p:nvGraphicFramePr>
        <p:xfrm>
          <a:off x="1213851" y="1417638"/>
          <a:ext cx="6595874" cy="5064760"/>
        </p:xfrm>
        <a:graphic>
          <a:graphicData uri="http://schemas.openxmlformats.org/drawingml/2006/table">
            <a:tbl>
              <a:tblPr firstRow="1" bandRow="1">
                <a:tableStyleId>{5C22544A-7EE6-4342-B048-85BDC9FD1C3A}</a:tableStyleId>
              </a:tblPr>
              <a:tblGrid>
                <a:gridCol w="1550354">
                  <a:extLst>
                    <a:ext uri="{9D8B030D-6E8A-4147-A177-3AD203B41FA5}">
                      <a16:colId xmlns:a16="http://schemas.microsoft.com/office/drawing/2014/main" val="20000"/>
                    </a:ext>
                  </a:extLst>
                </a:gridCol>
                <a:gridCol w="5045520">
                  <a:extLst>
                    <a:ext uri="{9D8B030D-6E8A-4147-A177-3AD203B41FA5}">
                      <a16:colId xmlns:a16="http://schemas.microsoft.com/office/drawing/2014/main" val="20001"/>
                    </a:ext>
                  </a:extLst>
                </a:gridCol>
              </a:tblGrid>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Repository </a:t>
                      </a:r>
                    </a:p>
                  </a:txBody>
                  <a:tcPr marL="68580" marR="68580" marT="0" marB="0"/>
                </a:tc>
                <a:extLst>
                  <a:ext uri="{0D108BD9-81ED-4DB2-BD59-A6C34878D82A}">
                    <a16:rowId xmlns:a16="http://schemas.microsoft.com/office/drawing/2014/main" val="10000"/>
                  </a:ext>
                </a:extLst>
              </a:tr>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Description</a:t>
                      </a:r>
                      <a:endParaRPr lang="en-GB" sz="1400"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All data in a system is managed in a central repository that is accessible to all system components. Components do not interact directly, only through the repository. </a:t>
                      </a:r>
                    </a:p>
                  </a:txBody>
                  <a:tcPr marL="68580" marR="68580" marT="0" marB="0"/>
                </a:tc>
                <a:extLst>
                  <a:ext uri="{0D108BD9-81ED-4DB2-BD59-A6C34878D82A}">
                    <a16:rowId xmlns:a16="http://schemas.microsoft.com/office/drawing/2014/main" val="10001"/>
                  </a:ext>
                </a:extLst>
              </a:tr>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Example</a:t>
                      </a:r>
                      <a:endParaRPr lang="en-GB" sz="1400"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Figure 6.9 is an example of an IDE where the components use a repository of system design information. Each software tool generates information which is then available for use by other tools.</a:t>
                      </a:r>
                    </a:p>
                  </a:txBody>
                  <a:tcPr marL="68580" marR="68580" marT="0" marB="0"/>
                </a:tc>
                <a:extLst>
                  <a:ext uri="{0D108BD9-81ED-4DB2-BD59-A6C34878D82A}">
                    <a16:rowId xmlns:a16="http://schemas.microsoft.com/office/drawing/2014/main" val="10002"/>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When used</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You should use this pattern when you have a system in which large volumes of information are generated that has to be stored for a long time. You may also use it in data-driven systems where the inclusion of data in the repository triggers an action.</a:t>
                      </a:r>
                    </a:p>
                  </a:txBody>
                  <a:tcPr marL="68580" marR="68580" marT="0" marB="0"/>
                </a:tc>
                <a:extLst>
                  <a:ext uri="{0D108BD9-81ED-4DB2-BD59-A6C34878D82A}">
                    <a16:rowId xmlns:a16="http://schemas.microsoft.com/office/drawing/2014/main" val="10003"/>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Advantages</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Components can be independent</a:t>
                      </a:r>
                      <a:r>
                        <a:rPr lang="en-GB" sz="1400" dirty="0">
                          <a:solidFill>
                            <a:srgbClr val="000000"/>
                          </a:solidFill>
                          <a:latin typeface="Helvetica"/>
                          <a:ea typeface="Times New Roman"/>
                          <a:cs typeface="Helvetica"/>
                        </a:rPr>
                        <a:t>—they do not need to know of the existence of other components. Changes made by one component can be propagated to all components. All data can be managed consistently (e.g., backups done at the same time) as it is all in one place. </a:t>
                      </a:r>
                    </a:p>
                  </a:txBody>
                  <a:tcPr marL="68580" marR="68580" marT="0" marB="0"/>
                </a:tc>
                <a:extLst>
                  <a:ext uri="{0D108BD9-81ED-4DB2-BD59-A6C34878D82A}">
                    <a16:rowId xmlns:a16="http://schemas.microsoft.com/office/drawing/2014/main" val="10004"/>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Disadvantages</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The repository is a single point of failure </a:t>
                      </a:r>
                      <a:r>
                        <a:rPr lang="en-GB" sz="1400" dirty="0">
                          <a:solidFill>
                            <a:srgbClr val="000000"/>
                          </a:solidFill>
                          <a:latin typeface="Helvetica"/>
                          <a:ea typeface="Times New Roman"/>
                          <a:cs typeface="Helvetica"/>
                        </a:rPr>
                        <a:t>so problems in the repository affect the whole system. May be inefficiencies in organizing all communication through the repository. Distributing the repository across several computers may be difficult.</a:t>
                      </a:r>
                    </a:p>
                  </a:txBody>
                  <a:tcPr marL="68580" marR="68580"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8536661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repository architecture for an IDE</a:t>
            </a:r>
            <a:r>
              <a:rPr lang="en-GB" dirty="0"/>
              <a:t> </a:t>
            </a:r>
            <a:endParaRPr lang="en-US" dirty="0"/>
          </a:p>
        </p:txBody>
      </p:sp>
      <p:pic>
        <p:nvPicPr>
          <p:cNvPr id="6" name="Picture 5"/>
          <p:cNvPicPr>
            <a:picLocks noChangeAspect="1"/>
          </p:cNvPicPr>
          <p:nvPr/>
        </p:nvPicPr>
        <p:blipFill>
          <a:blip r:embed="rId2"/>
          <a:stretch>
            <a:fillRect/>
          </a:stretch>
        </p:blipFill>
        <p:spPr>
          <a:xfrm>
            <a:off x="408321" y="2273530"/>
            <a:ext cx="7835290" cy="3441470"/>
          </a:xfrm>
          <a:prstGeom prst="rect">
            <a:avLst/>
          </a:prstGeom>
        </p:spPr>
      </p:pic>
    </p:spTree>
    <p:extLst>
      <p:ext uri="{BB962C8B-B14F-4D97-AF65-F5344CB8AC3E}">
        <p14:creationId xmlns:p14="http://schemas.microsoft.com/office/powerpoint/2010/main" val="23314313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Client-server architecture</a:t>
            </a:r>
            <a:endParaRPr lang="en-US" dirty="0"/>
          </a:p>
        </p:txBody>
      </p:sp>
      <p:sp>
        <p:nvSpPr>
          <p:cNvPr id="3" name="Content Placeholder 2"/>
          <p:cNvSpPr>
            <a:spLocks noGrp="1"/>
          </p:cNvSpPr>
          <p:nvPr>
            <p:ph idx="1"/>
          </p:nvPr>
        </p:nvSpPr>
        <p:spPr>
          <a:xfrm>
            <a:off x="1173163" y="1600200"/>
            <a:ext cx="7772400" cy="4114800"/>
          </a:xfrm>
        </p:spPr>
        <p:txBody>
          <a:bodyPr/>
          <a:lstStyle/>
          <a:p>
            <a:pPr algn="just"/>
            <a:r>
              <a:rPr lang="en-US" sz="2400" dirty="0"/>
              <a:t>Client–server pattern is organized as a set of services and associated servers, and clients that access and use the services</a:t>
            </a:r>
          </a:p>
          <a:p>
            <a:pPr algn="just"/>
            <a:r>
              <a:rPr lang="en-US" sz="2400" dirty="0"/>
              <a:t>Examples of servers include print servers that offer printing services, and file servers that offer file management service</a:t>
            </a:r>
          </a:p>
          <a:p>
            <a:pPr algn="just"/>
            <a:r>
              <a:rPr lang="en-US" sz="2400" dirty="0"/>
              <a:t>A set of clients call on the services offered by servers. There will normally be several instances of a client program executing concurrently on different computers.</a:t>
            </a:r>
          </a:p>
          <a:p>
            <a:pPr algn="just"/>
            <a:r>
              <a:rPr lang="en-US" sz="2400" dirty="0"/>
              <a:t>A network that allows the clients to access these services. Most client–server systems are implemented as distributed systems</a:t>
            </a:r>
          </a:p>
        </p:txBody>
      </p:sp>
    </p:spTree>
    <p:extLst>
      <p:ext uri="{BB962C8B-B14F-4D97-AF65-F5344CB8AC3E}">
        <p14:creationId xmlns:p14="http://schemas.microsoft.com/office/powerpoint/2010/main" val="2925763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Client–server pattern</a:t>
            </a:r>
            <a:r>
              <a:rPr lang="en-GB" dirty="0"/>
              <a:t> </a:t>
            </a:r>
            <a:endParaRPr lang="en-US" dirty="0"/>
          </a:p>
        </p:txBody>
      </p:sp>
      <p:graphicFrame>
        <p:nvGraphicFramePr>
          <p:cNvPr id="4" name="Content Placeholder 3"/>
          <p:cNvGraphicFramePr>
            <a:graphicFrameLocks noGrp="1"/>
          </p:cNvGraphicFramePr>
          <p:nvPr>
            <p:ph idx="1"/>
          </p:nvPr>
        </p:nvGraphicFramePr>
        <p:xfrm>
          <a:off x="930107" y="1600200"/>
          <a:ext cx="7298479" cy="4211320"/>
        </p:xfrm>
        <a:graphic>
          <a:graphicData uri="http://schemas.openxmlformats.org/drawingml/2006/table">
            <a:tbl>
              <a:tblPr firstRow="1" bandRow="1">
                <a:tableStyleId>{5C22544A-7EE6-4342-B048-85BDC9FD1C3A}</a:tableStyleId>
              </a:tblPr>
              <a:tblGrid>
                <a:gridCol w="1847313">
                  <a:extLst>
                    <a:ext uri="{9D8B030D-6E8A-4147-A177-3AD203B41FA5}">
                      <a16:colId xmlns:a16="http://schemas.microsoft.com/office/drawing/2014/main" val="20000"/>
                    </a:ext>
                  </a:extLst>
                </a:gridCol>
                <a:gridCol w="5451166">
                  <a:extLst>
                    <a:ext uri="{9D8B030D-6E8A-4147-A177-3AD203B41FA5}">
                      <a16:colId xmlns:a16="http://schemas.microsoft.com/office/drawing/2014/main" val="20001"/>
                    </a:ext>
                  </a:extLst>
                </a:gridCol>
              </a:tblGrid>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Client-server</a:t>
                      </a:r>
                    </a:p>
                  </a:txBody>
                  <a:tcPr marL="68580" marR="68580" marT="0" marB="0"/>
                </a:tc>
                <a:extLst>
                  <a:ext uri="{0D108BD9-81ED-4DB2-BD59-A6C34878D82A}">
                    <a16:rowId xmlns:a16="http://schemas.microsoft.com/office/drawing/2014/main" val="10000"/>
                  </a:ext>
                </a:extLst>
              </a:tr>
              <a:tr h="339165">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Description</a:t>
                      </a:r>
                      <a:endParaRPr lang="en-GB" sz="1400"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In a client–server architecture, the functionality of the system is organized into services, with each service delivered from a separate server. Clients are users of these services and access servers to make use of them.</a:t>
                      </a:r>
                    </a:p>
                  </a:txBody>
                  <a:tcPr marL="68580" marR="68580" marT="0" marB="0"/>
                </a:tc>
                <a:extLst>
                  <a:ext uri="{0D108BD9-81ED-4DB2-BD59-A6C34878D82A}">
                    <a16:rowId xmlns:a16="http://schemas.microsoft.com/office/drawing/2014/main" val="10001"/>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Example</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Figure 6.11 is an example of a film and video/DVD library organized as a client–server system.</a:t>
                      </a:r>
                    </a:p>
                  </a:txBody>
                  <a:tcPr marL="68580" marR="68580" marT="0" marB="0"/>
                </a:tc>
                <a:extLst>
                  <a:ext uri="{0D108BD9-81ED-4DB2-BD59-A6C34878D82A}">
                    <a16:rowId xmlns:a16="http://schemas.microsoft.com/office/drawing/2014/main" val="10002"/>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When used</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Used when data in a shared database has to be accessed from a range of locations. Because servers can be replicated, may also be used when the load on a system is variable.</a:t>
                      </a:r>
                    </a:p>
                  </a:txBody>
                  <a:tcPr marL="68580" marR="68580" marT="0" marB="0"/>
                </a:tc>
                <a:extLst>
                  <a:ext uri="{0D108BD9-81ED-4DB2-BD59-A6C34878D82A}">
                    <a16:rowId xmlns:a16="http://schemas.microsoft.com/office/drawing/2014/main" val="10003"/>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Advantages</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The principal advantage of this model is that servers can be distributed across a network. General functionality (e.g., a printing service) can be available to all clients and does not need to be implemented by all services. </a:t>
                      </a:r>
                    </a:p>
                  </a:txBody>
                  <a:tcPr marL="68580" marR="68580" marT="0" marB="0"/>
                </a:tc>
                <a:extLst>
                  <a:ext uri="{0D108BD9-81ED-4DB2-BD59-A6C34878D82A}">
                    <a16:rowId xmlns:a16="http://schemas.microsoft.com/office/drawing/2014/main" val="10004"/>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Disadvantages</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Each service is a single point of failure so susceptible to denial of service attacks or server failure. Performance may be unpredictable because it depends on the network as well as the system. May be management problems if servers are owned by different organizations.</a:t>
                      </a:r>
                    </a:p>
                  </a:txBody>
                  <a:tcPr marL="68580" marR="68580"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927157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A client–server architecture for a film library</a:t>
            </a:r>
            <a:r>
              <a:rPr lang="en-GB" sz="3200" dirty="0"/>
              <a:t> </a:t>
            </a:r>
            <a:endParaRPr lang="en-US" sz="3200" dirty="0"/>
          </a:p>
        </p:txBody>
      </p:sp>
      <p:pic>
        <p:nvPicPr>
          <p:cNvPr id="5" name="Picture 4"/>
          <p:cNvPicPr>
            <a:picLocks noChangeAspect="1"/>
          </p:cNvPicPr>
          <p:nvPr/>
        </p:nvPicPr>
        <p:blipFill>
          <a:blip r:embed="rId2"/>
          <a:stretch>
            <a:fillRect/>
          </a:stretch>
        </p:blipFill>
        <p:spPr>
          <a:xfrm>
            <a:off x="795878" y="2057400"/>
            <a:ext cx="7126308" cy="3882732"/>
          </a:xfrm>
          <a:prstGeom prst="rect">
            <a:avLst/>
          </a:prstGeom>
        </p:spPr>
      </p:pic>
    </p:spTree>
    <p:extLst>
      <p:ext uri="{BB962C8B-B14F-4D97-AF65-F5344CB8AC3E}">
        <p14:creationId xmlns:p14="http://schemas.microsoft.com/office/powerpoint/2010/main" val="24972444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4D0DC06-2E6F-4959-8E43-77E2E58E6B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304" y="1471515"/>
            <a:ext cx="8775391" cy="3914970"/>
          </a:xfrm>
          <a:prstGeom prst="rect">
            <a:avLst/>
          </a:prstGeom>
        </p:spPr>
      </p:pic>
    </p:spTree>
    <p:extLst>
      <p:ext uri="{BB962C8B-B14F-4D97-AF65-F5344CB8AC3E}">
        <p14:creationId xmlns:p14="http://schemas.microsoft.com/office/powerpoint/2010/main" val="28687548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Pipe and filter architecture</a:t>
            </a:r>
            <a:endParaRPr lang="en-US" dirty="0"/>
          </a:p>
        </p:txBody>
      </p:sp>
      <p:sp>
        <p:nvSpPr>
          <p:cNvPr id="3" name="Content Placeholder 2"/>
          <p:cNvSpPr>
            <a:spLocks noGrp="1"/>
          </p:cNvSpPr>
          <p:nvPr>
            <p:ph idx="1"/>
          </p:nvPr>
        </p:nvSpPr>
        <p:spPr/>
        <p:txBody>
          <a:bodyPr/>
          <a:lstStyle/>
          <a:p>
            <a:r>
              <a:rPr lang="en-US" sz="2400" dirty="0"/>
              <a:t>Each processing step is implemented as a transform.</a:t>
            </a:r>
          </a:p>
          <a:p>
            <a:r>
              <a:rPr lang="en-US" sz="2400" dirty="0"/>
              <a:t>Output of each processing step is input of next processing step.</a:t>
            </a:r>
          </a:p>
          <a:p>
            <a:r>
              <a:rPr lang="en-US" sz="2400" dirty="0"/>
              <a:t>Input data flows through these transforms until converted to output.</a:t>
            </a:r>
          </a:p>
          <a:p>
            <a:r>
              <a:rPr lang="en-US" sz="2400" dirty="0"/>
              <a:t>The transformations may execute sequentially or in parallel. </a:t>
            </a:r>
          </a:p>
          <a:p>
            <a:r>
              <a:rPr lang="en-US" sz="2400" dirty="0"/>
              <a:t>The data can be processed by each transform item by item or in a single batch.</a:t>
            </a:r>
            <a:endParaRPr lang="en-GB" sz="2400" dirty="0"/>
          </a:p>
          <a:p>
            <a:endParaRPr lang="en-US" sz="2400" dirty="0"/>
          </a:p>
        </p:txBody>
      </p:sp>
    </p:spTree>
    <p:extLst>
      <p:ext uri="{BB962C8B-B14F-4D97-AF65-F5344CB8AC3E}">
        <p14:creationId xmlns:p14="http://schemas.microsoft.com/office/powerpoint/2010/main" val="1663863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pipe and filter pattern</a:t>
            </a:r>
            <a:r>
              <a:rPr lang="en-GB" dirty="0"/>
              <a:t>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844004770"/>
              </p:ext>
            </p:extLst>
          </p:nvPr>
        </p:nvGraphicFramePr>
        <p:xfrm>
          <a:off x="822014" y="1600200"/>
          <a:ext cx="7190386" cy="4211320"/>
        </p:xfrm>
        <a:graphic>
          <a:graphicData uri="http://schemas.openxmlformats.org/drawingml/2006/table">
            <a:tbl>
              <a:tblPr firstRow="1" bandRow="1">
                <a:tableStyleId>{5C22544A-7EE6-4342-B048-85BDC9FD1C3A}</a:tableStyleId>
              </a:tblPr>
              <a:tblGrid>
                <a:gridCol w="1477596">
                  <a:extLst>
                    <a:ext uri="{9D8B030D-6E8A-4147-A177-3AD203B41FA5}">
                      <a16:colId xmlns:a16="http://schemas.microsoft.com/office/drawing/2014/main" val="20000"/>
                    </a:ext>
                  </a:extLst>
                </a:gridCol>
                <a:gridCol w="5712790">
                  <a:extLst>
                    <a:ext uri="{9D8B030D-6E8A-4147-A177-3AD203B41FA5}">
                      <a16:colId xmlns:a16="http://schemas.microsoft.com/office/drawing/2014/main" val="20001"/>
                    </a:ext>
                  </a:extLst>
                </a:gridCol>
              </a:tblGrid>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Pipe and filter</a:t>
                      </a:r>
                    </a:p>
                  </a:txBody>
                  <a:tcPr marL="68580" marR="68580" marT="0" marB="0"/>
                </a:tc>
                <a:extLst>
                  <a:ext uri="{0D108BD9-81ED-4DB2-BD59-A6C34878D82A}">
                    <a16:rowId xmlns:a16="http://schemas.microsoft.com/office/drawing/2014/main" val="10000"/>
                  </a:ext>
                </a:extLst>
              </a:tr>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Description</a:t>
                      </a:r>
                      <a:endParaRPr lang="en-GB" sz="1400"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The processing of the data in a system is organized so that each processing component (filter) is discrete and carries out one type of data transformation. The data flows (as in a pipe) from one component to another for processing. </a:t>
                      </a:r>
                    </a:p>
                  </a:txBody>
                  <a:tcPr marL="68580" marR="68580" marT="0" marB="0"/>
                </a:tc>
                <a:extLst>
                  <a:ext uri="{0D108BD9-81ED-4DB2-BD59-A6C34878D82A}">
                    <a16:rowId xmlns:a16="http://schemas.microsoft.com/office/drawing/2014/main" val="10001"/>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Example</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Figure 6.13 is an example of a pipe and filter system used for processing invoices.</a:t>
                      </a:r>
                    </a:p>
                  </a:txBody>
                  <a:tcPr marL="68580" marR="68580" marT="0" marB="0"/>
                </a:tc>
                <a:extLst>
                  <a:ext uri="{0D108BD9-81ED-4DB2-BD59-A6C34878D82A}">
                    <a16:rowId xmlns:a16="http://schemas.microsoft.com/office/drawing/2014/main" val="10002"/>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When used</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Commonly used in data processing applications (both batch- and transaction-based) where inputs are processed in separate stages to generate related outputs.</a:t>
                      </a:r>
                    </a:p>
                  </a:txBody>
                  <a:tcPr marL="68580" marR="68580" marT="0" marB="0"/>
                </a:tc>
                <a:extLst>
                  <a:ext uri="{0D108BD9-81ED-4DB2-BD59-A6C34878D82A}">
                    <a16:rowId xmlns:a16="http://schemas.microsoft.com/office/drawing/2014/main" val="10003"/>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Advantages</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Easy to understand and supports transformation reuse. Workflow style matches the structure of many business processes. Evolution by adding transformations is straightforward. Can be implemented as either a sequential or concurrent system.</a:t>
                      </a:r>
                    </a:p>
                  </a:txBody>
                  <a:tcPr marL="68580" marR="68580" marT="0" marB="0"/>
                </a:tc>
                <a:extLst>
                  <a:ext uri="{0D108BD9-81ED-4DB2-BD59-A6C34878D82A}">
                    <a16:rowId xmlns:a16="http://schemas.microsoft.com/office/drawing/2014/main" val="10004"/>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Disadvantages</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The format for data transfer has to be agreed upon </a:t>
                      </a:r>
                      <a:r>
                        <a:rPr lang="en-GB" sz="1400" dirty="0">
                          <a:solidFill>
                            <a:srgbClr val="000000"/>
                          </a:solidFill>
                          <a:latin typeface="Helvetica"/>
                          <a:ea typeface="Times New Roman"/>
                          <a:cs typeface="Helvetica"/>
                        </a:rPr>
                        <a:t>between communicating transformations. Each transformation must parse its input and </a:t>
                      </a:r>
                      <a:r>
                        <a:rPr lang="en-GB" sz="1400" dirty="0" err="1">
                          <a:solidFill>
                            <a:srgbClr val="000000"/>
                          </a:solidFill>
                          <a:latin typeface="Helvetica"/>
                          <a:ea typeface="Times New Roman"/>
                          <a:cs typeface="Helvetica"/>
                        </a:rPr>
                        <a:t>unparse</a:t>
                      </a:r>
                      <a:r>
                        <a:rPr lang="en-GB" sz="1400" dirty="0">
                          <a:solidFill>
                            <a:srgbClr val="000000"/>
                          </a:solidFill>
                          <a:latin typeface="Helvetica"/>
                          <a:ea typeface="Times New Roman"/>
                          <a:cs typeface="Helvetica"/>
                        </a:rPr>
                        <a:t> its output to the agreed form. This increases system overhead and may mean that it is impossible to reuse functional transformations that use incompatible data structures.</a:t>
                      </a:r>
                    </a:p>
                  </a:txBody>
                  <a:tcPr marL="68580" marR="68580"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076615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example of the pipe and filter architecture</a:t>
            </a:r>
            <a:r>
              <a:rPr lang="en-GB" dirty="0"/>
              <a:t> </a:t>
            </a:r>
            <a:endParaRPr lang="en-US" dirty="0"/>
          </a:p>
        </p:txBody>
      </p:sp>
      <p:pic>
        <p:nvPicPr>
          <p:cNvPr id="5" name="Picture 4"/>
          <p:cNvPicPr>
            <a:picLocks noChangeAspect="1"/>
          </p:cNvPicPr>
          <p:nvPr/>
        </p:nvPicPr>
        <p:blipFill>
          <a:blip r:embed="rId2"/>
          <a:stretch>
            <a:fillRect/>
          </a:stretch>
        </p:blipFill>
        <p:spPr>
          <a:xfrm>
            <a:off x="76200" y="2286000"/>
            <a:ext cx="8948622" cy="2667000"/>
          </a:xfrm>
          <a:prstGeom prst="rect">
            <a:avLst/>
          </a:prstGeom>
        </p:spPr>
      </p:pic>
    </p:spTree>
    <p:extLst>
      <p:ext uri="{BB962C8B-B14F-4D97-AF65-F5344CB8AC3E}">
        <p14:creationId xmlns:p14="http://schemas.microsoft.com/office/powerpoint/2010/main" val="39629569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US" dirty="0"/>
              <a:t>Application architectures</a:t>
            </a:r>
          </a:p>
        </p:txBody>
      </p:sp>
      <p:sp>
        <p:nvSpPr>
          <p:cNvPr id="3" name="Content Placeholder 2"/>
          <p:cNvSpPr>
            <a:spLocks noGrp="1"/>
          </p:cNvSpPr>
          <p:nvPr>
            <p:ph idx="1"/>
          </p:nvPr>
        </p:nvSpPr>
        <p:spPr>
          <a:xfrm>
            <a:off x="838200" y="1219200"/>
            <a:ext cx="7772400" cy="4114800"/>
          </a:xfrm>
        </p:spPr>
        <p:txBody>
          <a:bodyPr/>
          <a:lstStyle/>
          <a:p>
            <a:pPr algn="just"/>
            <a:r>
              <a:rPr lang="en-US" sz="2400" dirty="0"/>
              <a:t>Application systems are designed to meet an organizational need.</a:t>
            </a:r>
          </a:p>
          <a:p>
            <a:pPr algn="just"/>
            <a:r>
              <a:rPr lang="en-US" sz="2400" dirty="0"/>
              <a:t>As businesses have much in common, their application systems also tend to have a common architecture that reflects the application requirements.</a:t>
            </a:r>
          </a:p>
          <a:p>
            <a:pPr algn="just"/>
            <a:r>
              <a:rPr lang="en-US" sz="2400" dirty="0"/>
              <a:t>For example, all phone companies need systems to connect calls, manage their network, issue bills to customers, etc.</a:t>
            </a:r>
          </a:p>
          <a:p>
            <a:pPr algn="just"/>
            <a:r>
              <a:rPr lang="en-US" sz="2400" dirty="0"/>
              <a:t>A generic application architecture is an architecture for a type of software system that may be configured and adapted to create a system that meets specific requirements.</a:t>
            </a:r>
          </a:p>
          <a:p>
            <a:pPr algn="just"/>
            <a:endParaRPr lang="en-US" sz="2400" dirty="0"/>
          </a:p>
        </p:txBody>
      </p:sp>
    </p:spTree>
    <p:extLst>
      <p:ext uri="{BB962C8B-B14F-4D97-AF65-F5344CB8AC3E}">
        <p14:creationId xmlns:p14="http://schemas.microsoft.com/office/powerpoint/2010/main" val="646897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152400"/>
            <a:ext cx="7772400" cy="1143000"/>
          </a:xfrm>
        </p:spPr>
        <p:txBody>
          <a:bodyPr/>
          <a:lstStyle/>
          <a:p>
            <a:r>
              <a:rPr lang="en-US" sz="3200" dirty="0"/>
              <a:t>Use of application architectures</a:t>
            </a:r>
          </a:p>
        </p:txBody>
      </p:sp>
      <p:sp>
        <p:nvSpPr>
          <p:cNvPr id="3" name="Content Placeholder 2"/>
          <p:cNvSpPr>
            <a:spLocks noGrp="1"/>
          </p:cNvSpPr>
          <p:nvPr>
            <p:ph idx="1"/>
          </p:nvPr>
        </p:nvSpPr>
        <p:spPr>
          <a:xfrm>
            <a:off x="990600" y="914400"/>
            <a:ext cx="7772400" cy="4114800"/>
          </a:xfrm>
        </p:spPr>
        <p:txBody>
          <a:bodyPr/>
          <a:lstStyle/>
          <a:p>
            <a:pPr algn="just">
              <a:lnSpc>
                <a:spcPct val="90000"/>
              </a:lnSpc>
            </a:pPr>
            <a:r>
              <a:rPr lang="en-US" sz="2400" b="1" dirty="0"/>
              <a:t>As a starting point for architectural design.</a:t>
            </a:r>
          </a:p>
          <a:p>
            <a:pPr lvl="1" algn="just"/>
            <a:r>
              <a:rPr lang="en-US" sz="2400" dirty="0"/>
              <a:t>If you are unfamiliar with the type of application that you are developing, you can base your initial design on a generic application architecture.</a:t>
            </a:r>
          </a:p>
          <a:p>
            <a:pPr algn="just">
              <a:lnSpc>
                <a:spcPct val="90000"/>
              </a:lnSpc>
            </a:pPr>
            <a:r>
              <a:rPr lang="en-US" sz="2400" b="1" dirty="0"/>
              <a:t>As a design checklist.</a:t>
            </a:r>
          </a:p>
          <a:p>
            <a:pPr lvl="1" algn="just">
              <a:lnSpc>
                <a:spcPct val="90000"/>
              </a:lnSpc>
            </a:pPr>
            <a:r>
              <a:rPr lang="en-US" sz="2400" dirty="0"/>
              <a:t>If you have developed an architectural design for an application system, you can compare this with the generic application architecture. You can check that your design is consistent with the generic architecture.</a:t>
            </a:r>
          </a:p>
          <a:p>
            <a:pPr algn="just">
              <a:lnSpc>
                <a:spcPct val="90000"/>
              </a:lnSpc>
            </a:pPr>
            <a:r>
              <a:rPr lang="en-US" sz="2400" b="1" dirty="0"/>
              <a:t>As a way of organizing the work of the development team.</a:t>
            </a:r>
          </a:p>
          <a:p>
            <a:pPr lvl="1" algn="just"/>
            <a:r>
              <a:rPr lang="en-US" sz="2400" dirty="0"/>
              <a:t>The application architectures identify stable structural features of the system architectures. You can assign work to group members to implement different components within the architecture</a:t>
            </a:r>
          </a:p>
          <a:p>
            <a:pPr algn="just"/>
            <a:endParaRPr lang="en-US" sz="2400" b="1" dirty="0"/>
          </a:p>
        </p:txBody>
      </p:sp>
    </p:spTree>
    <p:extLst>
      <p:ext uri="{BB962C8B-B14F-4D97-AF65-F5344CB8AC3E}">
        <p14:creationId xmlns:p14="http://schemas.microsoft.com/office/powerpoint/2010/main" val="3815175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of application architectures</a:t>
            </a:r>
          </a:p>
        </p:txBody>
      </p:sp>
      <p:sp>
        <p:nvSpPr>
          <p:cNvPr id="3" name="Content Placeholder 2"/>
          <p:cNvSpPr>
            <a:spLocks noGrp="1"/>
          </p:cNvSpPr>
          <p:nvPr>
            <p:ph idx="1"/>
          </p:nvPr>
        </p:nvSpPr>
        <p:spPr>
          <a:xfrm>
            <a:off x="1173163" y="1752600"/>
            <a:ext cx="7772400" cy="4114800"/>
          </a:xfrm>
        </p:spPr>
        <p:txBody>
          <a:bodyPr/>
          <a:lstStyle/>
          <a:p>
            <a:r>
              <a:rPr lang="en-US" sz="2400" b="1" dirty="0"/>
              <a:t>As a means of assessing components for reuse</a:t>
            </a:r>
            <a:r>
              <a:rPr lang="en-US" sz="2400" dirty="0"/>
              <a:t>.</a:t>
            </a:r>
          </a:p>
          <a:p>
            <a:pPr lvl="1"/>
            <a:r>
              <a:rPr lang="en-US" sz="2400" dirty="0"/>
              <a:t>If you have components you might be able to reuse, you can compare these with the generic structures to see whether there are comparable components in the application architecture.</a:t>
            </a:r>
          </a:p>
          <a:p>
            <a:pPr algn="just">
              <a:lnSpc>
                <a:spcPct val="90000"/>
              </a:lnSpc>
            </a:pPr>
            <a:r>
              <a:rPr lang="en-US" sz="2400" b="1" dirty="0"/>
              <a:t>As a vocabulary for talking about application types.</a:t>
            </a:r>
          </a:p>
          <a:p>
            <a:pPr lvl="1"/>
            <a:r>
              <a:rPr lang="en-US" sz="2400" dirty="0"/>
              <a:t>If you are discussing a specific application or trying to compare applications of the same types, then you can use the concepts identified in the generic architecture to talk about the applications</a:t>
            </a:r>
          </a:p>
          <a:p>
            <a:endParaRPr lang="en-US" sz="2400" dirty="0"/>
          </a:p>
        </p:txBody>
      </p:sp>
    </p:spTree>
    <p:extLst>
      <p:ext uri="{BB962C8B-B14F-4D97-AF65-F5344CB8AC3E}">
        <p14:creationId xmlns:p14="http://schemas.microsoft.com/office/powerpoint/2010/main" val="2974060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application types</a:t>
            </a:r>
          </a:p>
        </p:txBody>
      </p:sp>
      <p:sp>
        <p:nvSpPr>
          <p:cNvPr id="3" name="Content Placeholder 2"/>
          <p:cNvSpPr>
            <a:spLocks noGrp="1"/>
          </p:cNvSpPr>
          <p:nvPr>
            <p:ph idx="1"/>
          </p:nvPr>
        </p:nvSpPr>
        <p:spPr>
          <a:xfrm>
            <a:off x="1173163" y="1752600"/>
            <a:ext cx="7772400" cy="4114800"/>
          </a:xfrm>
        </p:spPr>
        <p:txBody>
          <a:bodyPr/>
          <a:lstStyle/>
          <a:p>
            <a:r>
              <a:rPr lang="en-US" sz="2400" b="1" dirty="0"/>
              <a:t>Transaction processing applications</a:t>
            </a:r>
          </a:p>
          <a:p>
            <a:pPr lvl="1"/>
            <a:r>
              <a:rPr lang="en-US" sz="2400" dirty="0"/>
              <a:t>Data-centered applications that process user requests and update information in a system database.</a:t>
            </a:r>
          </a:p>
          <a:p>
            <a:pPr lvl="1">
              <a:lnSpc>
                <a:spcPct val="90000"/>
              </a:lnSpc>
            </a:pPr>
            <a:r>
              <a:rPr lang="en-US" sz="2400" dirty="0"/>
              <a:t>E-commerce systems;</a:t>
            </a:r>
          </a:p>
          <a:p>
            <a:pPr lvl="1">
              <a:lnSpc>
                <a:spcPct val="90000"/>
              </a:lnSpc>
            </a:pPr>
            <a:r>
              <a:rPr lang="en-US" sz="2400" dirty="0"/>
              <a:t>Reservation systems.</a:t>
            </a:r>
          </a:p>
          <a:p>
            <a:r>
              <a:rPr lang="en-US" sz="2400" b="1" dirty="0"/>
              <a:t>Language processing systems</a:t>
            </a:r>
          </a:p>
          <a:p>
            <a:pPr lvl="1"/>
            <a:r>
              <a:rPr lang="en-US" sz="2400" dirty="0"/>
              <a:t>Applications where the users’ intentions are specified in a formal language (such as Java) that is processed and interpreted by the system.</a:t>
            </a:r>
          </a:p>
          <a:p>
            <a:pPr lvl="1"/>
            <a:r>
              <a:rPr lang="en-US" sz="2400" dirty="0"/>
              <a:t>Compilers</a:t>
            </a:r>
          </a:p>
          <a:p>
            <a:pPr marL="457200" lvl="1" indent="0">
              <a:buNone/>
            </a:pPr>
            <a:endParaRPr lang="en-US" sz="2400" dirty="0"/>
          </a:p>
          <a:p>
            <a:endParaRPr lang="en-US" sz="2400" dirty="0"/>
          </a:p>
        </p:txBody>
      </p:sp>
    </p:spTree>
    <p:extLst>
      <p:ext uri="{BB962C8B-B14F-4D97-AF65-F5344CB8AC3E}">
        <p14:creationId xmlns:p14="http://schemas.microsoft.com/office/powerpoint/2010/main" val="1756576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Transaction processing systems</a:t>
            </a:r>
          </a:p>
        </p:txBody>
      </p:sp>
      <p:sp>
        <p:nvSpPr>
          <p:cNvPr id="3" name="Content Placeholder 2"/>
          <p:cNvSpPr>
            <a:spLocks noGrp="1"/>
          </p:cNvSpPr>
          <p:nvPr>
            <p:ph idx="1"/>
          </p:nvPr>
        </p:nvSpPr>
        <p:spPr/>
        <p:txBody>
          <a:bodyPr/>
          <a:lstStyle/>
          <a:p>
            <a:pPr>
              <a:lnSpc>
                <a:spcPct val="90000"/>
              </a:lnSpc>
            </a:pPr>
            <a:r>
              <a:rPr lang="en-US" sz="2400" dirty="0"/>
              <a:t>Process user requests for information from a database or requests to update the database.</a:t>
            </a:r>
          </a:p>
          <a:p>
            <a:pPr>
              <a:lnSpc>
                <a:spcPct val="90000"/>
              </a:lnSpc>
            </a:pPr>
            <a:r>
              <a:rPr lang="en-US" sz="2400" dirty="0"/>
              <a:t>From a user perspective a transaction is:</a:t>
            </a:r>
          </a:p>
          <a:p>
            <a:pPr lvl="1">
              <a:lnSpc>
                <a:spcPct val="90000"/>
              </a:lnSpc>
            </a:pPr>
            <a:r>
              <a:rPr lang="en-US" sz="2400" dirty="0"/>
              <a:t>Any coherent sequence of operations that satisfies a goal;</a:t>
            </a:r>
          </a:p>
          <a:p>
            <a:pPr lvl="1">
              <a:lnSpc>
                <a:spcPct val="90000"/>
              </a:lnSpc>
            </a:pPr>
            <a:r>
              <a:rPr lang="en-US" sz="2400" dirty="0"/>
              <a:t>For example - find the times of flights from London to Paris.</a:t>
            </a:r>
          </a:p>
          <a:p>
            <a:pPr>
              <a:lnSpc>
                <a:spcPct val="90000"/>
              </a:lnSpc>
            </a:pPr>
            <a:r>
              <a:rPr lang="en-US" sz="2400" dirty="0"/>
              <a:t>Users make requests for service which are then processed by a transaction manager.</a:t>
            </a:r>
          </a:p>
        </p:txBody>
      </p:sp>
    </p:spTree>
    <p:extLst>
      <p:ext uri="{BB962C8B-B14F-4D97-AF65-F5344CB8AC3E}">
        <p14:creationId xmlns:p14="http://schemas.microsoft.com/office/powerpoint/2010/main" val="1859994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structure of transaction processing applications</a:t>
            </a:r>
            <a:r>
              <a:rPr lang="en-GB" dirty="0"/>
              <a:t> </a:t>
            </a:r>
            <a:endParaRPr lang="en-US" dirty="0"/>
          </a:p>
        </p:txBody>
      </p:sp>
      <p:pic>
        <p:nvPicPr>
          <p:cNvPr id="5" name="Picture 4"/>
          <p:cNvPicPr>
            <a:picLocks noChangeAspect="1"/>
          </p:cNvPicPr>
          <p:nvPr/>
        </p:nvPicPr>
        <p:blipFill>
          <a:blip r:embed="rId2"/>
          <a:stretch>
            <a:fillRect/>
          </a:stretch>
        </p:blipFill>
        <p:spPr>
          <a:xfrm>
            <a:off x="228600" y="2895600"/>
            <a:ext cx="8805752" cy="952754"/>
          </a:xfrm>
          <a:prstGeom prst="rect">
            <a:avLst/>
          </a:prstGeom>
        </p:spPr>
      </p:pic>
      <p:sp>
        <p:nvSpPr>
          <p:cNvPr id="3" name="Rectangle 2"/>
          <p:cNvSpPr/>
          <p:nvPr/>
        </p:nvSpPr>
        <p:spPr>
          <a:xfrm>
            <a:off x="228600" y="4820588"/>
            <a:ext cx="2133600" cy="1754326"/>
          </a:xfrm>
          <a:prstGeom prst="rect">
            <a:avLst/>
          </a:prstGeom>
        </p:spPr>
        <p:txBody>
          <a:bodyPr wrap="square">
            <a:spAutoFit/>
          </a:bodyPr>
          <a:lstStyle/>
          <a:p>
            <a:pPr algn="just"/>
            <a:r>
              <a:rPr lang="en-US" dirty="0">
                <a:solidFill>
                  <a:srgbClr val="231F20"/>
                </a:solidFill>
                <a:latin typeface="Times-Roman"/>
              </a:rPr>
              <a:t>User makes a request to the system</a:t>
            </a:r>
          </a:p>
          <a:p>
            <a:pPr algn="just"/>
            <a:r>
              <a:rPr lang="en-US" dirty="0">
                <a:solidFill>
                  <a:srgbClr val="231F20"/>
                </a:solidFill>
                <a:latin typeface="Times-Roman"/>
              </a:rPr>
              <a:t>through an I/O processing component</a:t>
            </a:r>
            <a:endParaRPr lang="en-US" dirty="0"/>
          </a:p>
        </p:txBody>
      </p:sp>
      <p:cxnSp>
        <p:nvCxnSpPr>
          <p:cNvPr id="6" name="Straight Arrow Connector 5"/>
          <p:cNvCxnSpPr>
            <a:stCxn id="3" idx="0"/>
          </p:cNvCxnSpPr>
          <p:nvPr/>
        </p:nvCxnSpPr>
        <p:spPr bwMode="auto">
          <a:xfrm flipV="1">
            <a:off x="1295400" y="4038600"/>
            <a:ext cx="0" cy="78198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Rectangle 6"/>
          <p:cNvSpPr/>
          <p:nvPr/>
        </p:nvSpPr>
        <p:spPr>
          <a:xfrm>
            <a:off x="2514600" y="4895671"/>
            <a:ext cx="1981200" cy="1477328"/>
          </a:xfrm>
          <a:prstGeom prst="rect">
            <a:avLst/>
          </a:prstGeom>
        </p:spPr>
        <p:txBody>
          <a:bodyPr wrap="square">
            <a:spAutoFit/>
          </a:bodyPr>
          <a:lstStyle/>
          <a:p>
            <a:pPr algn="just"/>
            <a:r>
              <a:rPr lang="en-US" dirty="0">
                <a:solidFill>
                  <a:srgbClr val="231F20"/>
                </a:solidFill>
                <a:latin typeface="Times-Roman"/>
              </a:rPr>
              <a:t>The request is processed by some application specific</a:t>
            </a:r>
          </a:p>
          <a:p>
            <a:pPr algn="just"/>
            <a:r>
              <a:rPr lang="en-US" dirty="0">
                <a:solidFill>
                  <a:srgbClr val="231F20"/>
                </a:solidFill>
                <a:latin typeface="Times-Roman"/>
              </a:rPr>
              <a:t>logic.</a:t>
            </a:r>
            <a:endParaRPr lang="en-US" dirty="0"/>
          </a:p>
        </p:txBody>
      </p:sp>
      <p:cxnSp>
        <p:nvCxnSpPr>
          <p:cNvPr id="11" name="Straight Arrow Connector 10"/>
          <p:cNvCxnSpPr/>
          <p:nvPr/>
        </p:nvCxnSpPr>
        <p:spPr bwMode="auto">
          <a:xfrm flipV="1">
            <a:off x="3429000" y="4038600"/>
            <a:ext cx="0" cy="78198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Rectangle 11"/>
          <p:cNvSpPr/>
          <p:nvPr/>
        </p:nvSpPr>
        <p:spPr>
          <a:xfrm>
            <a:off x="4507173" y="4840765"/>
            <a:ext cx="2274627" cy="2031325"/>
          </a:xfrm>
          <a:prstGeom prst="rect">
            <a:avLst/>
          </a:prstGeom>
        </p:spPr>
        <p:txBody>
          <a:bodyPr wrap="square">
            <a:spAutoFit/>
          </a:bodyPr>
          <a:lstStyle/>
          <a:p>
            <a:pPr algn="just"/>
            <a:r>
              <a:rPr lang="en-US" dirty="0">
                <a:solidFill>
                  <a:srgbClr val="231F20"/>
                </a:solidFill>
                <a:latin typeface="Times-Roman"/>
              </a:rPr>
              <a:t>ensures that the transaction is properly completed. it signals to the application</a:t>
            </a:r>
          </a:p>
          <a:p>
            <a:pPr algn="just"/>
            <a:r>
              <a:rPr lang="en-US" dirty="0">
                <a:solidFill>
                  <a:srgbClr val="231F20"/>
                </a:solidFill>
                <a:latin typeface="Times-Roman"/>
              </a:rPr>
              <a:t>that processing has finished</a:t>
            </a:r>
            <a:endParaRPr lang="en-US" dirty="0"/>
          </a:p>
        </p:txBody>
      </p:sp>
      <p:cxnSp>
        <p:nvCxnSpPr>
          <p:cNvPr id="14" name="Straight Arrow Connector 13"/>
          <p:cNvCxnSpPr>
            <a:stCxn id="12" idx="0"/>
          </p:cNvCxnSpPr>
          <p:nvPr/>
        </p:nvCxnSpPr>
        <p:spPr bwMode="auto">
          <a:xfrm flipH="1" flipV="1">
            <a:off x="5638800" y="4038600"/>
            <a:ext cx="5687" cy="802165"/>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4982041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software architecture of an ATM system</a:t>
            </a:r>
            <a:r>
              <a:rPr lang="en-GB" dirty="0"/>
              <a:t> </a:t>
            </a:r>
            <a:endParaRPr lang="en-US" dirty="0"/>
          </a:p>
        </p:txBody>
      </p:sp>
      <p:pic>
        <p:nvPicPr>
          <p:cNvPr id="5" name="Picture 4"/>
          <p:cNvPicPr>
            <a:picLocks noChangeAspect="1"/>
          </p:cNvPicPr>
          <p:nvPr/>
        </p:nvPicPr>
        <p:blipFill>
          <a:blip r:embed="rId2"/>
          <a:stretch>
            <a:fillRect/>
          </a:stretch>
        </p:blipFill>
        <p:spPr>
          <a:xfrm>
            <a:off x="483568" y="2281500"/>
            <a:ext cx="8357274" cy="3738300"/>
          </a:xfrm>
          <a:prstGeom prst="rect">
            <a:avLst/>
          </a:prstGeom>
        </p:spPr>
      </p:pic>
    </p:spTree>
    <p:extLst>
      <p:ext uri="{BB962C8B-B14F-4D97-AF65-F5344CB8AC3E}">
        <p14:creationId xmlns:p14="http://schemas.microsoft.com/office/powerpoint/2010/main" val="12183398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Payroll system</a:t>
            </a:r>
          </a:p>
        </p:txBody>
      </p:sp>
      <p:pic>
        <p:nvPicPr>
          <p:cNvPr id="4" name="Picture 3"/>
          <p:cNvPicPr>
            <a:picLocks noChangeAspect="1"/>
          </p:cNvPicPr>
          <p:nvPr/>
        </p:nvPicPr>
        <p:blipFill>
          <a:blip r:embed="rId2"/>
          <a:stretch>
            <a:fillRect/>
          </a:stretch>
        </p:blipFill>
        <p:spPr>
          <a:xfrm>
            <a:off x="685800" y="1752600"/>
            <a:ext cx="8029575" cy="4676775"/>
          </a:xfrm>
          <a:prstGeom prst="rect">
            <a:avLst/>
          </a:prstGeom>
        </p:spPr>
      </p:pic>
    </p:spTree>
    <p:extLst>
      <p:ext uri="{BB962C8B-B14F-4D97-AF65-F5344CB8AC3E}">
        <p14:creationId xmlns:p14="http://schemas.microsoft.com/office/powerpoint/2010/main" val="14338613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152400"/>
            <a:ext cx="7772400" cy="1143000"/>
          </a:xfrm>
        </p:spPr>
        <p:txBody>
          <a:bodyPr/>
          <a:lstStyle/>
          <a:p>
            <a:r>
              <a:rPr lang="en-US" sz="2800" b="1" dirty="0"/>
              <a:t>Information systems architecture</a:t>
            </a:r>
          </a:p>
        </p:txBody>
      </p:sp>
      <p:sp>
        <p:nvSpPr>
          <p:cNvPr id="3" name="Content Placeholder 2"/>
          <p:cNvSpPr>
            <a:spLocks noGrp="1"/>
          </p:cNvSpPr>
          <p:nvPr>
            <p:ph idx="1"/>
          </p:nvPr>
        </p:nvSpPr>
        <p:spPr>
          <a:xfrm>
            <a:off x="1173163" y="914400"/>
            <a:ext cx="7772400" cy="4114800"/>
          </a:xfrm>
        </p:spPr>
        <p:txBody>
          <a:bodyPr/>
          <a:lstStyle/>
          <a:p>
            <a:pPr algn="just"/>
            <a:r>
              <a:rPr lang="en-US" sz="2000" dirty="0"/>
              <a:t>An information system allows controlled access to a large base of information, such as a library catalog, or the records of patients in a hospital.</a:t>
            </a:r>
          </a:p>
          <a:p>
            <a:pPr algn="just"/>
            <a:r>
              <a:rPr lang="en-US" sz="2000" dirty="0"/>
              <a:t>The information system can be modeled using a layered approach</a:t>
            </a:r>
          </a:p>
          <a:p>
            <a:pPr algn="just"/>
            <a:r>
              <a:rPr lang="en-US" sz="2000" dirty="0"/>
              <a:t>Layers include:</a:t>
            </a:r>
          </a:p>
          <a:p>
            <a:pPr lvl="1" algn="just"/>
            <a:r>
              <a:rPr lang="en-US" sz="2000" b="1" dirty="0"/>
              <a:t>The user interface</a:t>
            </a:r>
          </a:p>
          <a:p>
            <a:pPr lvl="2" algn="just"/>
            <a:r>
              <a:rPr lang="en-US" sz="2000" dirty="0"/>
              <a:t> top layer supports the user interface</a:t>
            </a:r>
          </a:p>
          <a:p>
            <a:pPr lvl="1" algn="just"/>
            <a:r>
              <a:rPr lang="en-US" sz="2000" b="1" dirty="0"/>
              <a:t>User communications</a:t>
            </a:r>
          </a:p>
          <a:p>
            <a:pPr lvl="2" algn="just"/>
            <a:r>
              <a:rPr lang="en-US" sz="2000" dirty="0"/>
              <a:t>The user communications layer handles all input and output from the user interface</a:t>
            </a:r>
          </a:p>
          <a:p>
            <a:pPr lvl="1" algn="just"/>
            <a:r>
              <a:rPr lang="en-US" sz="2000" b="1" dirty="0"/>
              <a:t>Information retrieval</a:t>
            </a:r>
          </a:p>
          <a:p>
            <a:pPr lvl="2" algn="just"/>
            <a:r>
              <a:rPr lang="en-US" sz="2000" dirty="0"/>
              <a:t>Information retrieval layer includes application-specific logic for accessing and updating the database</a:t>
            </a:r>
          </a:p>
          <a:p>
            <a:pPr lvl="1" algn="just"/>
            <a:r>
              <a:rPr lang="en-US" sz="2000" dirty="0"/>
              <a:t> </a:t>
            </a:r>
            <a:r>
              <a:rPr lang="en-US" sz="2000" b="1" dirty="0"/>
              <a:t>System database</a:t>
            </a:r>
          </a:p>
          <a:p>
            <a:pPr lvl="2" algn="just"/>
            <a:r>
              <a:rPr lang="en-US" sz="2000" dirty="0"/>
              <a:t>bottom layer is the system database</a:t>
            </a:r>
          </a:p>
          <a:p>
            <a:pPr algn="just"/>
            <a:endParaRPr lang="en-US" sz="2000" dirty="0"/>
          </a:p>
        </p:txBody>
      </p:sp>
    </p:spTree>
    <p:extLst>
      <p:ext uri="{BB962C8B-B14F-4D97-AF65-F5344CB8AC3E}">
        <p14:creationId xmlns:p14="http://schemas.microsoft.com/office/powerpoint/2010/main" val="3915594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 calcmode="lin" valueType="num">
                                      <p:cBhvr additive="base">
                                        <p:cTn id="4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anim calcmode="lin" valueType="num">
                                      <p:cBhvr additive="base">
                                        <p:cTn id="5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US" sz="3200" dirty="0"/>
              <a:t>Layered information system architecture</a:t>
            </a:r>
            <a:r>
              <a:rPr lang="en-GB" sz="3200" dirty="0"/>
              <a:t> </a:t>
            </a:r>
            <a:endParaRPr lang="en-US" sz="3200" dirty="0"/>
          </a:p>
        </p:txBody>
      </p:sp>
      <p:pic>
        <p:nvPicPr>
          <p:cNvPr id="5" name="Picture 4"/>
          <p:cNvPicPr>
            <a:picLocks noChangeAspect="1"/>
          </p:cNvPicPr>
          <p:nvPr/>
        </p:nvPicPr>
        <p:blipFill>
          <a:blip r:embed="rId2"/>
          <a:stretch>
            <a:fillRect/>
          </a:stretch>
        </p:blipFill>
        <p:spPr>
          <a:xfrm>
            <a:off x="1289941" y="1600200"/>
            <a:ext cx="6711059" cy="4704849"/>
          </a:xfrm>
          <a:prstGeom prst="rect">
            <a:avLst/>
          </a:prstGeom>
        </p:spPr>
      </p:pic>
    </p:spTree>
    <p:extLst>
      <p:ext uri="{BB962C8B-B14F-4D97-AF65-F5344CB8AC3E}">
        <p14:creationId xmlns:p14="http://schemas.microsoft.com/office/powerpoint/2010/main" val="32057151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0"/>
            <a:ext cx="7772400" cy="1143000"/>
          </a:xfrm>
        </p:spPr>
        <p:txBody>
          <a:bodyPr/>
          <a:lstStyle/>
          <a:p>
            <a:r>
              <a:rPr lang="en-US" sz="3600" dirty="0"/>
              <a:t>The architecture of the MHC-PMS</a:t>
            </a:r>
            <a:r>
              <a:rPr lang="en-GB" sz="3600" dirty="0"/>
              <a:t> </a:t>
            </a:r>
            <a:endParaRPr lang="en-US" sz="3600" dirty="0"/>
          </a:p>
        </p:txBody>
      </p:sp>
      <p:sp>
        <p:nvSpPr>
          <p:cNvPr id="3" name="Content Placeholder 2"/>
          <p:cNvSpPr>
            <a:spLocks noGrp="1"/>
          </p:cNvSpPr>
          <p:nvPr>
            <p:ph idx="1"/>
          </p:nvPr>
        </p:nvSpPr>
        <p:spPr>
          <a:xfrm>
            <a:off x="1173163" y="1066800"/>
            <a:ext cx="7772400" cy="4114800"/>
          </a:xfrm>
        </p:spPr>
        <p:txBody>
          <a:bodyPr/>
          <a:lstStyle/>
          <a:p>
            <a:pPr algn="just"/>
            <a:r>
              <a:rPr lang="en-US" sz="2000" dirty="0"/>
              <a:t>The </a:t>
            </a:r>
            <a:r>
              <a:rPr lang="en-US" sz="2400" b="1" dirty="0">
                <a:solidFill>
                  <a:srgbClr val="FF0000"/>
                </a:solidFill>
              </a:rPr>
              <a:t>top layer</a:t>
            </a:r>
            <a:r>
              <a:rPr lang="en-US" sz="2000" dirty="0">
                <a:solidFill>
                  <a:srgbClr val="FF0000"/>
                </a:solidFill>
              </a:rPr>
              <a:t> </a:t>
            </a:r>
            <a:r>
              <a:rPr lang="en-US" sz="2000" dirty="0"/>
              <a:t>is responsible for implementing the user interface. In this case, the UI has been implemented using a web browser.</a:t>
            </a:r>
          </a:p>
          <a:p>
            <a:pPr algn="just"/>
            <a:r>
              <a:rPr lang="en-US" sz="2400" b="1" dirty="0">
                <a:solidFill>
                  <a:srgbClr val="FF0000"/>
                </a:solidFill>
              </a:rPr>
              <a:t>Second layer</a:t>
            </a:r>
            <a:r>
              <a:rPr lang="en-US" sz="2000" dirty="0">
                <a:solidFill>
                  <a:srgbClr val="FF0000"/>
                </a:solidFill>
              </a:rPr>
              <a:t> </a:t>
            </a:r>
            <a:r>
              <a:rPr lang="en-US" sz="2000" dirty="0"/>
              <a:t>includes components to </a:t>
            </a:r>
            <a:r>
              <a:rPr lang="en-US" sz="2000" b="1" dirty="0"/>
              <a:t>allow users to log in</a:t>
            </a:r>
            <a:r>
              <a:rPr lang="en-US" sz="2000" dirty="0"/>
              <a:t> to the system and </a:t>
            </a:r>
            <a:r>
              <a:rPr lang="en-US" sz="2000" b="1" dirty="0"/>
              <a:t>checking components</a:t>
            </a:r>
            <a:r>
              <a:rPr lang="en-US" sz="2000" dirty="0"/>
              <a:t> that ensure that the operations they use are allowed by their role. This layer includes </a:t>
            </a:r>
            <a:r>
              <a:rPr lang="en-US" sz="2000" b="1" dirty="0"/>
              <a:t>form and menu management components</a:t>
            </a:r>
            <a:r>
              <a:rPr lang="en-US" sz="2000" dirty="0"/>
              <a:t> that present information to users, and </a:t>
            </a:r>
            <a:r>
              <a:rPr lang="en-US" sz="2000" b="1" dirty="0"/>
              <a:t>data validation</a:t>
            </a:r>
            <a:r>
              <a:rPr lang="en-US" sz="2000" dirty="0"/>
              <a:t> components that check information consistency.</a:t>
            </a:r>
          </a:p>
          <a:p>
            <a:pPr algn="just"/>
            <a:r>
              <a:rPr lang="en-US" sz="2000" dirty="0"/>
              <a:t>The </a:t>
            </a:r>
            <a:r>
              <a:rPr lang="en-US" sz="2400" b="1" dirty="0">
                <a:solidFill>
                  <a:srgbClr val="FF0000"/>
                </a:solidFill>
              </a:rPr>
              <a:t>third layer</a:t>
            </a:r>
            <a:r>
              <a:rPr lang="en-US" sz="2000" dirty="0"/>
              <a:t> implements the functionality of the system and provides components that implement </a:t>
            </a:r>
            <a:r>
              <a:rPr lang="en-US" sz="2000" b="1" dirty="0"/>
              <a:t>system security</a:t>
            </a:r>
            <a:r>
              <a:rPr lang="en-US" sz="2000" dirty="0"/>
              <a:t>, </a:t>
            </a:r>
            <a:r>
              <a:rPr lang="en-US" sz="2000" b="1" dirty="0"/>
              <a:t>patient information creation</a:t>
            </a:r>
            <a:r>
              <a:rPr lang="en-US" sz="2000" dirty="0"/>
              <a:t> and updating, </a:t>
            </a:r>
            <a:r>
              <a:rPr lang="en-US" sz="2000" b="1" dirty="0"/>
              <a:t>import and export of patient data</a:t>
            </a:r>
            <a:r>
              <a:rPr lang="en-US" sz="2000" dirty="0"/>
              <a:t> from other databases, and </a:t>
            </a:r>
            <a:r>
              <a:rPr lang="en-US" sz="2000" b="1" dirty="0"/>
              <a:t>report generators</a:t>
            </a:r>
          </a:p>
          <a:p>
            <a:pPr algn="just"/>
            <a:r>
              <a:rPr lang="en-US" sz="2000" dirty="0"/>
              <a:t>The </a:t>
            </a:r>
            <a:r>
              <a:rPr lang="en-US" sz="2400" b="1" dirty="0">
                <a:solidFill>
                  <a:srgbClr val="FF0000"/>
                </a:solidFill>
              </a:rPr>
              <a:t>lowest layer</a:t>
            </a:r>
            <a:r>
              <a:rPr lang="en-US" sz="2000" dirty="0"/>
              <a:t>, which is built using a commercial database management system, provides transaction management and data storage.</a:t>
            </a:r>
            <a:endParaRPr lang="en-US" sz="2000" b="1" dirty="0"/>
          </a:p>
        </p:txBody>
      </p:sp>
    </p:spTree>
    <p:extLst>
      <p:ext uri="{BB962C8B-B14F-4D97-AF65-F5344CB8AC3E}">
        <p14:creationId xmlns:p14="http://schemas.microsoft.com/office/powerpoint/2010/main" val="145676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0"/>
            <a:ext cx="7772400" cy="1143000"/>
          </a:xfrm>
        </p:spPr>
        <p:txBody>
          <a:bodyPr/>
          <a:lstStyle/>
          <a:p>
            <a:r>
              <a:rPr lang="en-US" sz="3600" dirty="0"/>
              <a:t>The architecture of the MHC-PMS</a:t>
            </a:r>
            <a:r>
              <a:rPr lang="en-GB" sz="3600" dirty="0"/>
              <a:t> </a:t>
            </a:r>
            <a:endParaRPr lang="en-US" sz="3600" dirty="0"/>
          </a:p>
        </p:txBody>
      </p:sp>
      <p:pic>
        <p:nvPicPr>
          <p:cNvPr id="5" name="Picture 4"/>
          <p:cNvPicPr>
            <a:picLocks noChangeAspect="1"/>
          </p:cNvPicPr>
          <p:nvPr/>
        </p:nvPicPr>
        <p:blipFill>
          <a:blip r:embed="rId2"/>
          <a:stretch>
            <a:fillRect/>
          </a:stretch>
        </p:blipFill>
        <p:spPr>
          <a:xfrm>
            <a:off x="1246544" y="1524000"/>
            <a:ext cx="6294611" cy="4038599"/>
          </a:xfrm>
          <a:prstGeom prst="rect">
            <a:avLst/>
          </a:prstGeom>
        </p:spPr>
      </p:pic>
    </p:spTree>
    <p:extLst>
      <p:ext uri="{BB962C8B-B14F-4D97-AF65-F5344CB8AC3E}">
        <p14:creationId xmlns:p14="http://schemas.microsoft.com/office/powerpoint/2010/main" val="35881445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Web-based information systems</a:t>
            </a:r>
          </a:p>
        </p:txBody>
      </p:sp>
      <p:sp>
        <p:nvSpPr>
          <p:cNvPr id="3" name="Content Placeholder 2"/>
          <p:cNvSpPr>
            <a:spLocks noGrp="1"/>
          </p:cNvSpPr>
          <p:nvPr>
            <p:ph idx="1"/>
          </p:nvPr>
        </p:nvSpPr>
        <p:spPr>
          <a:xfrm>
            <a:off x="1173163" y="1524000"/>
            <a:ext cx="7772400" cy="4114800"/>
          </a:xfrm>
        </p:spPr>
        <p:txBody>
          <a:bodyPr/>
          <a:lstStyle/>
          <a:p>
            <a:r>
              <a:rPr lang="en-US" sz="2400" dirty="0"/>
              <a:t>Information and resource management systems are now usually web-based systems where the user interfaces are implemented using a web browser. </a:t>
            </a:r>
          </a:p>
          <a:p>
            <a:r>
              <a:rPr lang="en-US" sz="2400" dirty="0"/>
              <a:t>For example, e-commerce systems are Internet-based resource management systems that accept electronic orders for </a:t>
            </a:r>
            <a:r>
              <a:rPr lang="en-US" sz="2400" b="1" dirty="0"/>
              <a:t>goods or services </a:t>
            </a:r>
            <a:r>
              <a:rPr lang="en-US" sz="2400" dirty="0"/>
              <a:t>and then arrange delivery of these goods or services to the customer</a:t>
            </a:r>
            <a:r>
              <a:rPr lang="en-US" sz="2400" i="1" dirty="0"/>
              <a:t>. </a:t>
            </a:r>
          </a:p>
          <a:p>
            <a:r>
              <a:rPr lang="en-US" sz="2400" dirty="0"/>
              <a:t>In an e-commerce system, the application-specific layer includes additional functionality supporting a ‘shopping cart’ in which users can place a number of items in separate transactions, then pay for them all together in a single transaction.</a:t>
            </a:r>
            <a:endParaRPr lang="en-GB" sz="2400" dirty="0"/>
          </a:p>
          <a:p>
            <a:endParaRPr lang="en-US" sz="2400" dirty="0"/>
          </a:p>
        </p:txBody>
      </p:sp>
    </p:spTree>
    <p:extLst>
      <p:ext uri="{BB962C8B-B14F-4D97-AF65-F5344CB8AC3E}">
        <p14:creationId xmlns:p14="http://schemas.microsoft.com/office/powerpoint/2010/main" val="1427231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Web based information system: Server implementation</a:t>
            </a:r>
          </a:p>
        </p:txBody>
      </p:sp>
      <p:sp>
        <p:nvSpPr>
          <p:cNvPr id="3" name="Content Placeholder 2"/>
          <p:cNvSpPr>
            <a:spLocks noGrp="1"/>
          </p:cNvSpPr>
          <p:nvPr>
            <p:ph idx="1"/>
          </p:nvPr>
        </p:nvSpPr>
        <p:spPr>
          <a:xfrm>
            <a:off x="1173163" y="1752600"/>
            <a:ext cx="7772400" cy="4114800"/>
          </a:xfrm>
        </p:spPr>
        <p:txBody>
          <a:bodyPr/>
          <a:lstStyle/>
          <a:p>
            <a:r>
              <a:rPr lang="en-US" sz="2400" dirty="0"/>
              <a:t>These systems are often implemented as multi-tier client server/architectures </a:t>
            </a:r>
            <a:endParaRPr lang="en-GB" sz="2400" dirty="0"/>
          </a:p>
          <a:p>
            <a:pPr lvl="1"/>
            <a:r>
              <a:rPr lang="en-US" sz="2400" dirty="0"/>
              <a:t>The </a:t>
            </a:r>
            <a:r>
              <a:rPr lang="en-US" sz="2400" b="1" dirty="0"/>
              <a:t>web server </a:t>
            </a:r>
            <a:r>
              <a:rPr lang="en-US" sz="2400" dirty="0"/>
              <a:t>is responsible for all user communications, with the user interface implemented using a web browser;</a:t>
            </a:r>
            <a:endParaRPr lang="en-GB" sz="2400" dirty="0"/>
          </a:p>
          <a:p>
            <a:pPr lvl="1"/>
            <a:r>
              <a:rPr lang="en-US" sz="2400" dirty="0"/>
              <a:t>The </a:t>
            </a:r>
            <a:r>
              <a:rPr lang="en-US" sz="2400" b="1" dirty="0"/>
              <a:t>application server </a:t>
            </a:r>
            <a:r>
              <a:rPr lang="en-US" sz="2400" dirty="0"/>
              <a:t>is responsible for implementing application-specific logic as well as information storage and retrieval requests; </a:t>
            </a:r>
            <a:endParaRPr lang="en-GB" sz="2400" dirty="0"/>
          </a:p>
          <a:p>
            <a:pPr lvl="1"/>
            <a:r>
              <a:rPr lang="en-US" sz="2400" dirty="0"/>
              <a:t>The </a:t>
            </a:r>
            <a:r>
              <a:rPr lang="en-US" sz="2400" b="1" dirty="0"/>
              <a:t>database server </a:t>
            </a:r>
            <a:r>
              <a:rPr lang="en-US" sz="2400" dirty="0"/>
              <a:t>moves information to and from the database and handles transaction management. </a:t>
            </a:r>
            <a:endParaRPr lang="en-GB" sz="2400" dirty="0"/>
          </a:p>
          <a:p>
            <a:endParaRPr lang="en-US" sz="2400" dirty="0"/>
          </a:p>
        </p:txBody>
      </p:sp>
    </p:spTree>
    <p:extLst>
      <p:ext uri="{BB962C8B-B14F-4D97-AF65-F5344CB8AC3E}">
        <p14:creationId xmlns:p14="http://schemas.microsoft.com/office/powerpoint/2010/main" val="4247772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474784" y="457200"/>
            <a:ext cx="6450016" cy="5791200"/>
          </a:xfrm>
          <a:prstGeom prst="rect">
            <a:avLst/>
          </a:prstGeom>
        </p:spPr>
      </p:pic>
    </p:spTree>
    <p:extLst>
      <p:ext uri="{BB962C8B-B14F-4D97-AF65-F5344CB8AC3E}">
        <p14:creationId xmlns:p14="http://schemas.microsoft.com/office/powerpoint/2010/main" val="19101173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Language processing systems</a:t>
            </a:r>
          </a:p>
        </p:txBody>
      </p:sp>
      <p:sp>
        <p:nvSpPr>
          <p:cNvPr id="3" name="Content Placeholder 2"/>
          <p:cNvSpPr>
            <a:spLocks noGrp="1"/>
          </p:cNvSpPr>
          <p:nvPr>
            <p:ph idx="1"/>
          </p:nvPr>
        </p:nvSpPr>
        <p:spPr>
          <a:xfrm>
            <a:off x="1173163" y="1828800"/>
            <a:ext cx="7772400" cy="4114800"/>
          </a:xfrm>
        </p:spPr>
        <p:txBody>
          <a:bodyPr/>
          <a:lstStyle/>
          <a:p>
            <a:r>
              <a:rPr lang="en-US" dirty="0"/>
              <a:t>Accept an artificial language as input and generate some other representation of that language. </a:t>
            </a:r>
          </a:p>
          <a:p>
            <a:r>
              <a:rPr lang="en-US" dirty="0"/>
              <a:t>In software engineering, compilers translate an artificial programming language into machine code.</a:t>
            </a:r>
          </a:p>
          <a:p>
            <a:endParaRPr lang="en-US" dirty="0"/>
          </a:p>
        </p:txBody>
      </p:sp>
    </p:spTree>
    <p:extLst>
      <p:ext uri="{BB962C8B-B14F-4D97-AF65-F5344CB8AC3E}">
        <p14:creationId xmlns:p14="http://schemas.microsoft.com/office/powerpoint/2010/main" val="2578216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The architecture of a language processing system </a:t>
            </a:r>
          </a:p>
        </p:txBody>
      </p:sp>
      <p:sp>
        <p:nvSpPr>
          <p:cNvPr id="3" name="Content Placeholder 2"/>
          <p:cNvSpPr>
            <a:spLocks noGrp="1"/>
          </p:cNvSpPr>
          <p:nvPr>
            <p:ph idx="1"/>
          </p:nvPr>
        </p:nvSpPr>
        <p:spPr/>
        <p:txBody>
          <a:bodyPr/>
          <a:lstStyle/>
          <a:p>
            <a:r>
              <a:rPr lang="en-US" sz="2400" dirty="0"/>
              <a:t>Source language instructions</a:t>
            </a:r>
          </a:p>
          <a:p>
            <a:pPr lvl="1"/>
            <a:r>
              <a:rPr lang="en-US" sz="2400" dirty="0"/>
              <a:t>define the program to be executed</a:t>
            </a:r>
          </a:p>
          <a:p>
            <a:r>
              <a:rPr lang="en-US" sz="2400" dirty="0"/>
              <a:t>Translator</a:t>
            </a:r>
          </a:p>
          <a:p>
            <a:pPr lvl="1"/>
            <a:r>
              <a:rPr lang="en-US" sz="2400" dirty="0"/>
              <a:t>converts source language instructions  into instructions for an abstract machine.</a:t>
            </a:r>
          </a:p>
          <a:p>
            <a:r>
              <a:rPr lang="en-US" sz="2400" dirty="0"/>
              <a:t>Interpreter</a:t>
            </a:r>
          </a:p>
          <a:p>
            <a:pPr lvl="1"/>
            <a:r>
              <a:rPr lang="en-US" sz="2400" dirty="0"/>
              <a:t>fetches the instructions for execution and executes them using (if necessary) data from the environment.</a:t>
            </a:r>
            <a:endParaRPr lang="en-US" sz="2400" b="1" dirty="0"/>
          </a:p>
        </p:txBody>
      </p:sp>
    </p:spTree>
    <p:extLst>
      <p:ext uri="{BB962C8B-B14F-4D97-AF65-F5344CB8AC3E}">
        <p14:creationId xmlns:p14="http://schemas.microsoft.com/office/powerpoint/2010/main" val="886680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architecture of a language processing system </a:t>
            </a:r>
          </a:p>
        </p:txBody>
      </p:sp>
      <p:pic>
        <p:nvPicPr>
          <p:cNvPr id="5" name="Picture 4"/>
          <p:cNvPicPr>
            <a:picLocks noChangeAspect="1"/>
          </p:cNvPicPr>
          <p:nvPr/>
        </p:nvPicPr>
        <p:blipFill>
          <a:blip r:embed="rId2"/>
          <a:stretch>
            <a:fillRect/>
          </a:stretch>
        </p:blipFill>
        <p:spPr>
          <a:xfrm>
            <a:off x="1141605" y="1831265"/>
            <a:ext cx="6746550" cy="4645735"/>
          </a:xfrm>
          <a:prstGeom prst="rect">
            <a:avLst/>
          </a:prstGeom>
        </p:spPr>
      </p:pic>
    </p:spTree>
    <p:extLst>
      <p:ext uri="{BB962C8B-B14F-4D97-AF65-F5344CB8AC3E}">
        <p14:creationId xmlns:p14="http://schemas.microsoft.com/office/powerpoint/2010/main" val="2027485801"/>
      </p:ext>
    </p:extLst>
  </p:cSld>
  <p:clrMapOvr>
    <a:masterClrMapping/>
  </p:clrMapOvr>
</p:sld>
</file>

<file path=ppt/theme/theme1.xml><?xml version="1.0" encoding="utf-8"?>
<a:theme xmlns:a="http://schemas.openxmlformats.org/drawingml/2006/main" name="Min halsduk">
  <a:themeElements>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fontScheme name="Min halsduk">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Min halsduk 1">
        <a:dk1>
          <a:srgbClr val="5490A8"/>
        </a:dk1>
        <a:lt1>
          <a:srgbClr val="DDDDDD"/>
        </a:lt1>
        <a:dk2>
          <a:srgbClr val="00172E"/>
        </a:dk2>
        <a:lt2>
          <a:srgbClr val="CCECFF"/>
        </a:lt2>
        <a:accent1>
          <a:srgbClr val="0099CC"/>
        </a:accent1>
        <a:accent2>
          <a:srgbClr val="3366CC"/>
        </a:accent2>
        <a:accent3>
          <a:srgbClr val="AAABAD"/>
        </a:accent3>
        <a:accent4>
          <a:srgbClr val="BDBDBD"/>
        </a:accent4>
        <a:accent5>
          <a:srgbClr val="AACAE2"/>
        </a:accent5>
        <a:accent6>
          <a:srgbClr val="2D5CB9"/>
        </a:accent6>
        <a:hlink>
          <a:srgbClr val="99CCFF"/>
        </a:hlink>
        <a:folHlink>
          <a:srgbClr val="E1E1B7"/>
        </a:folHlink>
      </a:clrScheme>
      <a:clrMap bg1="dk2" tx1="lt1" bg2="dk1" tx2="lt2" accent1="accent1" accent2="accent2" accent3="accent3" accent4="accent4" accent5="accent5" accent6="accent6" hlink="hlink" folHlink="folHlink"/>
    </a:extraClrScheme>
    <a:extraClrScheme>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clrMap bg1="lt1" tx1="dk1" bg2="lt2" tx2="dk2" accent1="accent1" accent2="accent2" accent3="accent3" accent4="accent4" accent5="accent5" accent6="accent6" hlink="hlink" folHlink="folHlink"/>
    </a:extraClrScheme>
    <a:extraClrScheme>
      <a:clrScheme name="Min halsduk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in halsduk 4">
        <a:dk1>
          <a:srgbClr val="000000"/>
        </a:dk1>
        <a:lt1>
          <a:srgbClr val="FFFFFF"/>
        </a:lt1>
        <a:dk2>
          <a:srgbClr val="666633"/>
        </a:dk2>
        <a:lt2>
          <a:srgbClr val="908A6C"/>
        </a:lt2>
        <a:accent1>
          <a:srgbClr val="808000"/>
        </a:accent1>
        <a:accent2>
          <a:srgbClr val="996633"/>
        </a:accent2>
        <a:accent3>
          <a:srgbClr val="FFFFFF"/>
        </a:accent3>
        <a:accent4>
          <a:srgbClr val="000000"/>
        </a:accent4>
        <a:accent5>
          <a:srgbClr val="C0C0AA"/>
        </a:accent5>
        <a:accent6>
          <a:srgbClr val="8A5C2D"/>
        </a:accent6>
        <a:hlink>
          <a:srgbClr val="CCCC00"/>
        </a:hlink>
        <a:folHlink>
          <a:srgbClr val="D6DEB2"/>
        </a:folHlink>
      </a:clrScheme>
      <a:clrMap bg1="lt1" tx1="dk1" bg2="lt2" tx2="dk2" accent1="accent1" accent2="accent2" accent3="accent3" accent4="accent4" accent5="accent5" accent6="accent6" hlink="hlink" folHlink="folHlink"/>
    </a:extraClrScheme>
    <a:extraClrScheme>
      <a:clrScheme name="Min halsduk 5">
        <a:dk1>
          <a:srgbClr val="000000"/>
        </a:dk1>
        <a:lt1>
          <a:srgbClr val="FFFFFF"/>
        </a:lt1>
        <a:dk2>
          <a:srgbClr val="181848"/>
        </a:dk2>
        <a:lt2>
          <a:srgbClr val="656F97"/>
        </a:lt2>
        <a:accent1>
          <a:srgbClr val="6666FF"/>
        </a:accent1>
        <a:accent2>
          <a:srgbClr val="333399"/>
        </a:accent2>
        <a:accent3>
          <a:srgbClr val="FFFFFF"/>
        </a:accent3>
        <a:accent4>
          <a:srgbClr val="000000"/>
        </a:accent4>
        <a:accent5>
          <a:srgbClr val="B8B8FF"/>
        </a:accent5>
        <a:accent6>
          <a:srgbClr val="2D2D8A"/>
        </a:accent6>
        <a:hlink>
          <a:srgbClr val="9A9ABC"/>
        </a:hlink>
        <a:folHlink>
          <a:srgbClr val="D2B6CE"/>
        </a:folHlink>
      </a:clrScheme>
      <a:clrMap bg1="lt1" tx1="dk1" bg2="lt2" tx2="dk2" accent1="accent1" accent2="accent2" accent3="accent3" accent4="accent4" accent5="accent5" accent6="accent6" hlink="hlink" folHlink="folHlink"/>
    </a:extraClrScheme>
    <a:extraClrScheme>
      <a:clrScheme name="Min halsduk 6">
        <a:dk1>
          <a:srgbClr val="CC0066"/>
        </a:dk1>
        <a:lt1>
          <a:srgbClr val="FFFFFF"/>
        </a:lt1>
        <a:dk2>
          <a:srgbClr val="000000"/>
        </a:dk2>
        <a:lt2>
          <a:srgbClr val="CC0099"/>
        </a:lt2>
        <a:accent1>
          <a:srgbClr val="FF9900"/>
        </a:accent1>
        <a:accent2>
          <a:srgbClr val="CC6600"/>
        </a:accent2>
        <a:accent3>
          <a:srgbClr val="AAAAAA"/>
        </a:accent3>
        <a:accent4>
          <a:srgbClr val="DADADA"/>
        </a:accent4>
        <a:accent5>
          <a:srgbClr val="FFCAAA"/>
        </a:accent5>
        <a:accent6>
          <a:srgbClr val="B95C00"/>
        </a:accent6>
        <a:hlink>
          <a:srgbClr val="009900"/>
        </a:hlink>
        <a:folHlink>
          <a:srgbClr val="A50021"/>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8210</TotalTime>
  <Words>3389</Words>
  <Application>Microsoft Office PowerPoint</Application>
  <PresentationFormat>On-screen Show (4:3)</PresentationFormat>
  <Paragraphs>265</Paragraphs>
  <Slides>53</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53</vt:i4>
      </vt:variant>
    </vt:vector>
  </HeadingPairs>
  <TitlesOfParts>
    <vt:vector size="61" baseType="lpstr">
      <vt:lpstr>Arial</vt:lpstr>
      <vt:lpstr>Arial</vt:lpstr>
      <vt:lpstr>Calibri</vt:lpstr>
      <vt:lpstr>Helvetica</vt:lpstr>
      <vt:lpstr>Monotype Sorts</vt:lpstr>
      <vt:lpstr>Times New Roman</vt:lpstr>
      <vt:lpstr>Times-Roman</vt:lpstr>
      <vt:lpstr>Min halsduk</vt:lpstr>
      <vt:lpstr>Architectural Design</vt:lpstr>
      <vt:lpstr>Topics covered</vt:lpstr>
      <vt:lpstr>Software architecture</vt:lpstr>
      <vt:lpstr>Architectural design</vt:lpstr>
      <vt:lpstr>Architectural abstraction</vt:lpstr>
      <vt:lpstr>Architectural design decisions</vt:lpstr>
      <vt:lpstr>Architectural design decisions</vt:lpstr>
      <vt:lpstr>Architecture and non functional requirements</vt:lpstr>
      <vt:lpstr>Architecture and non functional requirements</vt:lpstr>
      <vt:lpstr>Architecture and non functional requirements</vt:lpstr>
      <vt:lpstr>Architectural views</vt:lpstr>
      <vt:lpstr>4 + 1 view model of software architecture</vt:lpstr>
      <vt:lpstr>4 + 1 view model of software architecture</vt:lpstr>
      <vt:lpstr>4 + 1 view model of software architecture</vt:lpstr>
      <vt:lpstr>PowerPoint Presentation</vt:lpstr>
      <vt:lpstr>Architectural patterns</vt:lpstr>
      <vt:lpstr> MVC Model, View and Controller. </vt:lpstr>
      <vt:lpstr>The Model-View-Controller (MVC) pattern </vt:lpstr>
      <vt:lpstr>The organization of the Model-View-Controller </vt:lpstr>
      <vt:lpstr>PowerPoint Presentation</vt:lpstr>
      <vt:lpstr>Web application architecture using the MVC pattern </vt:lpstr>
      <vt:lpstr>Layered architecture</vt:lpstr>
      <vt:lpstr>The Layered architecture pattern </vt:lpstr>
      <vt:lpstr>A generic layered architecture </vt:lpstr>
      <vt:lpstr>The architecture of the LIBSYS system </vt:lpstr>
      <vt:lpstr>Repository architecture</vt:lpstr>
      <vt:lpstr>The Repository pattern </vt:lpstr>
      <vt:lpstr>A repository architecture for an IDE </vt:lpstr>
      <vt:lpstr>Client-server architecture</vt:lpstr>
      <vt:lpstr>The Client–server pattern </vt:lpstr>
      <vt:lpstr>A client–server architecture for a film library </vt:lpstr>
      <vt:lpstr>PowerPoint Presentation</vt:lpstr>
      <vt:lpstr>Pipe and filter architecture</vt:lpstr>
      <vt:lpstr>The pipe and filter pattern </vt:lpstr>
      <vt:lpstr>An example of the pipe and filter architecture </vt:lpstr>
      <vt:lpstr>Application architectures</vt:lpstr>
      <vt:lpstr>Use of application architectures</vt:lpstr>
      <vt:lpstr>Use of application architectures</vt:lpstr>
      <vt:lpstr>Examples of application types</vt:lpstr>
      <vt:lpstr>Transaction processing systems</vt:lpstr>
      <vt:lpstr>The structure of transaction processing applications </vt:lpstr>
      <vt:lpstr>The software architecture of an ATM system </vt:lpstr>
      <vt:lpstr>Payroll system</vt:lpstr>
      <vt:lpstr>Information systems architecture</vt:lpstr>
      <vt:lpstr>Layered information system architecture </vt:lpstr>
      <vt:lpstr>The architecture of the MHC-PMS </vt:lpstr>
      <vt:lpstr>The architecture of the MHC-PMS </vt:lpstr>
      <vt:lpstr>Web-based information systems</vt:lpstr>
      <vt:lpstr>Web based information system: Server implementation</vt:lpstr>
      <vt:lpstr>PowerPoint Presentation</vt:lpstr>
      <vt:lpstr>Language processing systems</vt:lpstr>
      <vt:lpstr>The architecture of a language processing system </vt:lpstr>
      <vt:lpstr>The architecture of a language processing system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Architectural Design</dc:title>
  <dc:creator/>
  <cp:lastModifiedBy>ch waqar</cp:lastModifiedBy>
  <cp:revision>98</cp:revision>
  <dcterms:created xsi:type="dcterms:W3CDTF">2006-08-16T00:00:00Z</dcterms:created>
  <dcterms:modified xsi:type="dcterms:W3CDTF">2022-05-26T07:28:59Z</dcterms:modified>
</cp:coreProperties>
</file>
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73" r:id="rId12"/>
    <p:sldId id="271" r:id="rId13"/>
    <p:sldId id="272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Software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07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Architecture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03673"/>
            <a:ext cx="8803550" cy="4337690"/>
          </a:xfrm>
        </p:spPr>
        <p:txBody>
          <a:bodyPr>
            <a:noAutofit/>
          </a:bodyPr>
          <a:lstStyle/>
          <a:p>
            <a:r>
              <a:rPr lang="en-US" sz="1600" b="1" dirty="0" smtClean="0"/>
              <a:t>What </a:t>
            </a:r>
            <a:r>
              <a:rPr lang="en-US" sz="1600" b="1" dirty="0"/>
              <a:t>is Software Architecture</a:t>
            </a:r>
            <a:r>
              <a:rPr lang="en-US" sz="1600" b="1" dirty="0" smtClean="0"/>
              <a:t>?</a:t>
            </a: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>It’s </a:t>
            </a:r>
            <a:r>
              <a:rPr lang="en-US" sz="1600" dirty="0"/>
              <a:t>the </a:t>
            </a:r>
            <a:r>
              <a:rPr lang="en-US" sz="1600" b="1" dirty="0"/>
              <a:t>overall structure</a:t>
            </a:r>
            <a:r>
              <a:rPr lang="en-US" sz="1600" dirty="0"/>
              <a:t> of a </a:t>
            </a:r>
            <a:r>
              <a:rPr lang="en-US" sz="1600" dirty="0" smtClean="0"/>
              <a:t>system like </a:t>
            </a:r>
            <a:r>
              <a:rPr lang="en-US" sz="1600" dirty="0"/>
              <a:t>blueprint of </a:t>
            </a:r>
            <a:r>
              <a:rPr lang="en-US" sz="1600" dirty="0" smtClean="0"/>
              <a:t>building– </a:t>
            </a:r>
            <a:r>
              <a:rPr lang="en-US" sz="1600" dirty="0"/>
              <a:t>how it's divided into parts (subsystems) and how these parts communicate</a:t>
            </a:r>
            <a:r>
              <a:rPr lang="en-US" sz="1600" dirty="0" smtClean="0"/>
              <a:t>.</a:t>
            </a:r>
          </a:p>
          <a:p>
            <a:r>
              <a:rPr lang="en-US" sz="1600" b="1" dirty="0"/>
              <a:t>Types of Architecture Levels</a:t>
            </a:r>
          </a:p>
          <a:p>
            <a:pPr marL="0" indent="0">
              <a:buNone/>
            </a:pPr>
            <a:r>
              <a:rPr lang="en-US" sz="1600" b="1" dirty="0"/>
              <a:t>Small</a:t>
            </a:r>
            <a:r>
              <a:rPr lang="en-US" sz="1600" dirty="0"/>
              <a:t>: Architecture of a single program.</a:t>
            </a:r>
          </a:p>
          <a:p>
            <a:pPr marL="0" indent="0">
              <a:buNone/>
            </a:pPr>
            <a:r>
              <a:rPr lang="en-US" sz="1600" b="1" dirty="0"/>
              <a:t>Large</a:t>
            </a:r>
            <a:r>
              <a:rPr lang="en-US" sz="1600" dirty="0"/>
              <a:t>: Architecture of big systems with many programs (e.g., banking or airline systems</a:t>
            </a:r>
            <a:r>
              <a:rPr lang="en-US" sz="1600" dirty="0" smtClean="0"/>
              <a:t>).</a:t>
            </a:r>
          </a:p>
          <a:p>
            <a:r>
              <a:rPr lang="en-US" sz="1600" b="1" dirty="0"/>
              <a:t>Architects decide:</a:t>
            </a:r>
          </a:p>
          <a:p>
            <a:pPr marL="0" indent="0">
              <a:buNone/>
            </a:pPr>
            <a:r>
              <a:rPr lang="en-US" sz="1600" dirty="0"/>
              <a:t>How to split the system (modules)?</a:t>
            </a:r>
          </a:p>
          <a:p>
            <a:pPr marL="0" indent="0">
              <a:buNone/>
            </a:pPr>
            <a:r>
              <a:rPr lang="en-US" sz="1600" dirty="0"/>
              <a:t>How parts will communicate?</a:t>
            </a:r>
          </a:p>
          <a:p>
            <a:pPr marL="0" indent="0">
              <a:buNone/>
            </a:pPr>
            <a:r>
              <a:rPr lang="en-US" sz="1600" dirty="0"/>
              <a:t>What style to use (e.g., layered, MVC)?</a:t>
            </a:r>
          </a:p>
          <a:p>
            <a:pPr marL="0" indent="0">
              <a:buNone/>
            </a:pPr>
            <a:r>
              <a:rPr lang="en-US" sz="1600" dirty="0"/>
              <a:t>How to meet performance or security needs?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/>
            </a:r>
            <a:br>
              <a:rPr lang="en-US" sz="1600" dirty="0" smtClean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21836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Architecture and Non-functional Needs</a:t>
            </a:r>
            <a:b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en-US" sz="7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975392"/>
              </p:ext>
            </p:extLst>
          </p:nvPr>
        </p:nvGraphicFramePr>
        <p:xfrm>
          <a:off x="677863" y="2455386"/>
          <a:ext cx="8596311" cy="3291840"/>
        </p:xfrm>
        <a:graphic>
          <a:graphicData uri="http://schemas.openxmlformats.org/drawingml/2006/table">
            <a:tbl>
              <a:tblPr/>
              <a:tblGrid>
                <a:gridCol w="2865437">
                  <a:extLst>
                    <a:ext uri="{9D8B030D-6E8A-4147-A177-3AD203B41FA5}">
                      <a16:colId xmlns:a16="http://schemas.microsoft.com/office/drawing/2014/main" val="3686619045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157908951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40241256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Need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How to Design 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9103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Performance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Fewer components, same machine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Gaming app running 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8026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Security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Layered design, protect inner layers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Online banking 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9228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Safety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Put critical parts in one 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Airplane control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0772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Availability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Add backup components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Cloud storage 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8554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Maintainability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 small, replaceable parts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News website with changing layout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2861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5114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sz="4000" b="1" dirty="0">
                <a:solidFill>
                  <a:schemeClr val="tx1"/>
                </a:solidFill>
                <a:latin typeface="Arial" panose="020B0604020202020204" pitchFamily="34" charset="0"/>
              </a:rPr>
              <a:t>Architectural Views (4+1 Model)</a:t>
            </a:r>
            <a:br>
              <a:rPr lang="en-US" altLang="en-US" sz="4000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40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en-US" altLang="en-US" sz="4000" b="1" dirty="0" smtClean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2200" dirty="0" smtClean="0">
                <a:solidFill>
                  <a:schemeClr val="tx1"/>
                </a:solidFill>
                <a:latin typeface="Arial" panose="020B0604020202020204" pitchFamily="34" charset="0"/>
              </a:rPr>
              <a:t>Helps 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see the system from different angles:</a:t>
            </a:r>
            <a:r>
              <a:rPr lang="en-US" altLang="en-US" sz="8000" dirty="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en-US" altLang="en-US" sz="80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en-US" sz="8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5991540"/>
              </p:ext>
            </p:extLst>
          </p:nvPr>
        </p:nvGraphicFramePr>
        <p:xfrm>
          <a:off x="677863" y="2592546"/>
          <a:ext cx="8596311" cy="2743200"/>
        </p:xfrm>
        <a:graphic>
          <a:graphicData uri="http://schemas.openxmlformats.org/drawingml/2006/table">
            <a:tbl>
              <a:tblPr/>
              <a:tblGrid>
                <a:gridCol w="2865437">
                  <a:extLst>
                    <a:ext uri="{9D8B030D-6E8A-4147-A177-3AD203B41FA5}">
                      <a16:colId xmlns:a16="http://schemas.microsoft.com/office/drawing/2014/main" val="92753995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940597349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433243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What it shows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1006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Logical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What system does (functions)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 diagrams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5713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Process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Running system behavior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Activity diagrams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3233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Development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How code is organized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component </a:t>
                      </a:r>
                      <a:r>
                        <a:rPr lang="en-US" dirty="0"/>
                        <a:t>diagrams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119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Physical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Hardware and deployment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Deployment diagrams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6546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+1 Conceptual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Big picture 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Use case diagrams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4043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3577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mage result for architectural views in software engineer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95" y="117684"/>
            <a:ext cx="8977704" cy="6740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5113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Model-View-Controller (MVC)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584" y="1579183"/>
            <a:ext cx="8596668" cy="3880773"/>
          </a:xfrm>
        </p:spPr>
        <p:txBody>
          <a:bodyPr>
            <a:noAutofit/>
          </a:bodyPr>
          <a:lstStyle/>
          <a:p>
            <a:r>
              <a:rPr lang="en-US" sz="1600" b="1" dirty="0" smtClean="0"/>
              <a:t>What </a:t>
            </a:r>
            <a:r>
              <a:rPr lang="en-US" sz="1600" b="1" dirty="0"/>
              <a:t>is it?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Separates the system into 3 parts:</a:t>
            </a:r>
          </a:p>
          <a:p>
            <a:r>
              <a:rPr lang="en-US" sz="1600" b="1" dirty="0"/>
              <a:t>Model</a:t>
            </a:r>
            <a:r>
              <a:rPr lang="en-US" sz="1600" dirty="0"/>
              <a:t> – Manages data and logic</a:t>
            </a:r>
          </a:p>
          <a:p>
            <a:r>
              <a:rPr lang="en-US" sz="1600" b="1" dirty="0"/>
              <a:t>View</a:t>
            </a:r>
            <a:r>
              <a:rPr lang="en-US" sz="1600" dirty="0"/>
              <a:t> – Displays the data (UI)</a:t>
            </a:r>
          </a:p>
          <a:p>
            <a:r>
              <a:rPr lang="en-US" sz="1600" b="1" dirty="0"/>
              <a:t>Controller</a:t>
            </a:r>
            <a:r>
              <a:rPr lang="en-US" sz="1600" dirty="0"/>
              <a:t> – Handles user actions (input)</a:t>
            </a:r>
          </a:p>
          <a:p>
            <a:r>
              <a:rPr lang="en-US" sz="1600" dirty="0"/>
              <a:t>🖼️ </a:t>
            </a:r>
            <a:r>
              <a:rPr lang="en-US" sz="1600" b="1" dirty="0"/>
              <a:t>Example</a:t>
            </a:r>
            <a:r>
              <a:rPr lang="en-US" sz="1600" dirty="0"/>
              <a:t>:</a:t>
            </a:r>
            <a:br>
              <a:rPr lang="en-US" sz="1600" dirty="0"/>
            </a:br>
            <a:r>
              <a:rPr lang="en-US" sz="1600" dirty="0"/>
              <a:t>A </a:t>
            </a:r>
            <a:r>
              <a:rPr lang="en-US" sz="1600" b="1" dirty="0"/>
              <a:t>shopping website</a:t>
            </a:r>
            <a:r>
              <a:rPr lang="en-US" sz="1600" dirty="0"/>
              <a:t>:</a:t>
            </a:r>
          </a:p>
          <a:p>
            <a:r>
              <a:rPr lang="en-US" sz="1600" b="1" dirty="0"/>
              <a:t>Model</a:t>
            </a:r>
            <a:r>
              <a:rPr lang="en-US" sz="1600" dirty="0"/>
              <a:t>: Product info, user accounts</a:t>
            </a:r>
          </a:p>
          <a:p>
            <a:r>
              <a:rPr lang="en-US" sz="1600" b="1" dirty="0"/>
              <a:t>View</a:t>
            </a:r>
            <a:r>
              <a:rPr lang="en-US" sz="1600" dirty="0"/>
              <a:t>: Web pages showing products</a:t>
            </a:r>
          </a:p>
          <a:p>
            <a:r>
              <a:rPr lang="en-US" sz="1600" b="1" dirty="0"/>
              <a:t>Controller</a:t>
            </a:r>
            <a:r>
              <a:rPr lang="en-US" sz="1600" dirty="0"/>
              <a:t>: Handles actions like "Add to Cart" or "Login"</a:t>
            </a:r>
          </a:p>
          <a:p>
            <a:r>
              <a:rPr lang="en-US" sz="1600" dirty="0"/>
              <a:t>✅ </a:t>
            </a:r>
            <a:r>
              <a:rPr lang="en-US" sz="1600" b="1" dirty="0"/>
              <a:t>Why use it?</a:t>
            </a:r>
            <a:endParaRPr lang="en-US" sz="1600" dirty="0"/>
          </a:p>
          <a:p>
            <a:r>
              <a:rPr lang="en-US" sz="1600" dirty="0"/>
              <a:t>Easy to update UI without touching logic</a:t>
            </a:r>
          </a:p>
          <a:p>
            <a:r>
              <a:rPr lang="en-US" sz="1600" dirty="0"/>
              <a:t>Allows different views for same data (e.g., list view, grid view)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DE0EED9-6117-41F0-96F9-85216DC2D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1918" y="1270000"/>
            <a:ext cx="3740727" cy="37033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25BAC5C-DBA5-42F5-A7D6-D955DD103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979" y="3519570"/>
            <a:ext cx="3837277" cy="3338431"/>
          </a:xfrm>
          <a:prstGeom prst="rect">
            <a:avLst/>
          </a:prstGeom>
          <a:ln w="31750" cap="sq">
            <a:noFill/>
            <a:miter lim="800000"/>
          </a:ln>
        </p:spPr>
      </p:pic>
    </p:spTree>
    <p:extLst>
      <p:ext uri="{BB962C8B-B14F-4D97-AF65-F5344CB8AC3E}">
        <p14:creationId xmlns:p14="http://schemas.microsoft.com/office/powerpoint/2010/main" val="1897041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Layered Architecture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What </a:t>
            </a:r>
            <a:r>
              <a:rPr lang="en-US" b="1" dirty="0"/>
              <a:t>is it?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system is divided into </a:t>
            </a:r>
            <a:r>
              <a:rPr lang="en-US" b="1" dirty="0"/>
              <a:t>layers</a:t>
            </a:r>
            <a:r>
              <a:rPr lang="en-US" dirty="0"/>
              <a:t>. Each layer provides services to the layer above it.</a:t>
            </a:r>
          </a:p>
          <a:p>
            <a:r>
              <a:rPr lang="en-US" b="1" dirty="0" smtClean="0"/>
              <a:t>Example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An </a:t>
            </a:r>
            <a:r>
              <a:rPr lang="en-US" b="1" dirty="0"/>
              <a:t>online banking system</a:t>
            </a:r>
            <a:r>
              <a:rPr lang="en-US" dirty="0"/>
              <a:t>:</a:t>
            </a:r>
          </a:p>
          <a:p>
            <a:r>
              <a:rPr lang="en-US" b="1" dirty="0"/>
              <a:t>UI Layer</a:t>
            </a:r>
            <a:r>
              <a:rPr lang="en-US" dirty="0"/>
              <a:t>: User interface</a:t>
            </a:r>
          </a:p>
          <a:p>
            <a:r>
              <a:rPr lang="en-US" b="1" dirty="0"/>
              <a:t>Business Layer</a:t>
            </a:r>
            <a:r>
              <a:rPr lang="en-US" dirty="0"/>
              <a:t>: Manages transactions</a:t>
            </a:r>
          </a:p>
          <a:p>
            <a:r>
              <a:rPr lang="en-US" b="1" dirty="0"/>
              <a:t>Data Layer</a:t>
            </a:r>
            <a:r>
              <a:rPr lang="en-US" dirty="0"/>
              <a:t>: Interacts with the database</a:t>
            </a:r>
          </a:p>
          <a:p>
            <a:r>
              <a:rPr lang="en-US" dirty="0"/>
              <a:t>✅ </a:t>
            </a:r>
            <a:r>
              <a:rPr lang="en-US" b="1" dirty="0"/>
              <a:t>Why use it?</a:t>
            </a:r>
            <a:endParaRPr lang="en-US" dirty="0"/>
          </a:p>
          <a:p>
            <a:r>
              <a:rPr lang="en-US" dirty="0"/>
              <a:t>Easy to maintain and update</a:t>
            </a:r>
          </a:p>
          <a:p>
            <a:r>
              <a:rPr lang="en-US" dirty="0"/>
              <a:t>Each layer can be developed separately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3350" t="8236"/>
          <a:stretch/>
        </p:blipFill>
        <p:spPr>
          <a:xfrm>
            <a:off x="6410423" y="3135130"/>
            <a:ext cx="5781577" cy="372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Client-Server Architecture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🧩 </a:t>
            </a:r>
            <a:r>
              <a:rPr lang="en-US" b="1" dirty="0"/>
              <a:t>What is it?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Divides the system into </a:t>
            </a:r>
            <a:r>
              <a:rPr lang="en-US" b="1" dirty="0"/>
              <a:t>clients</a:t>
            </a:r>
            <a:r>
              <a:rPr lang="en-US" dirty="0"/>
              <a:t> (users) and </a:t>
            </a:r>
            <a:r>
              <a:rPr lang="en-US" b="1" dirty="0"/>
              <a:t>servers</a:t>
            </a:r>
            <a:r>
              <a:rPr lang="en-US" dirty="0"/>
              <a:t> (service providers).</a:t>
            </a:r>
          </a:p>
          <a:p>
            <a:r>
              <a:rPr lang="en-US" dirty="0"/>
              <a:t>🖼️ </a:t>
            </a:r>
            <a:r>
              <a:rPr lang="en-US" b="1" dirty="0"/>
              <a:t>Example</a:t>
            </a:r>
            <a:r>
              <a:rPr lang="en-US" dirty="0"/>
              <a:t>:</a:t>
            </a:r>
            <a:br>
              <a:rPr lang="en-US" dirty="0"/>
            </a:br>
            <a:r>
              <a:rPr lang="en-US" b="1" dirty="0"/>
              <a:t>ATM system</a:t>
            </a:r>
            <a:r>
              <a:rPr lang="en-US" dirty="0"/>
              <a:t>:</a:t>
            </a:r>
          </a:p>
          <a:p>
            <a:r>
              <a:rPr lang="en-US" b="1" dirty="0"/>
              <a:t>Client</a:t>
            </a:r>
            <a:r>
              <a:rPr lang="en-US" dirty="0"/>
              <a:t>: ATM machine</a:t>
            </a:r>
          </a:p>
          <a:p>
            <a:r>
              <a:rPr lang="en-US" b="1" dirty="0"/>
              <a:t>Server</a:t>
            </a:r>
            <a:r>
              <a:rPr lang="en-US" dirty="0"/>
              <a:t>: Bank database and processing center</a:t>
            </a:r>
          </a:p>
          <a:p>
            <a:r>
              <a:rPr lang="en-US" dirty="0"/>
              <a:t>✅ </a:t>
            </a:r>
            <a:r>
              <a:rPr lang="en-US" b="1" dirty="0"/>
              <a:t>Why use it?</a:t>
            </a:r>
            <a:endParaRPr lang="en-US" dirty="0"/>
          </a:p>
          <a:p>
            <a:r>
              <a:rPr lang="en-US" dirty="0"/>
              <a:t>Centralized control</a:t>
            </a:r>
          </a:p>
          <a:p>
            <a:r>
              <a:rPr lang="en-US" dirty="0"/>
              <a:t>Multiple clients can use the same services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286" y="3429992"/>
            <a:ext cx="6291714" cy="342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990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Repository Architecture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🧩 </a:t>
            </a:r>
            <a:r>
              <a:rPr lang="en-US" b="1" dirty="0"/>
              <a:t>What is it?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All data is stored in a </a:t>
            </a:r>
            <a:r>
              <a:rPr lang="en-US" b="1" dirty="0"/>
              <a:t>shared repository</a:t>
            </a:r>
            <a:r>
              <a:rPr lang="en-US" dirty="0"/>
              <a:t> (central database), and components interact with it.</a:t>
            </a:r>
          </a:p>
          <a:p>
            <a:r>
              <a:rPr lang="en-US" dirty="0"/>
              <a:t>🖼️ </a:t>
            </a:r>
            <a:r>
              <a:rPr lang="en-US" b="1" dirty="0"/>
              <a:t>Example</a:t>
            </a:r>
            <a:r>
              <a:rPr lang="en-US" dirty="0"/>
              <a:t>:</a:t>
            </a:r>
            <a:br>
              <a:rPr lang="en-US" dirty="0"/>
            </a:br>
            <a:r>
              <a:rPr lang="en-US" b="1" dirty="0"/>
              <a:t>Integrated Development Environment (IDE)</a:t>
            </a:r>
            <a:r>
              <a:rPr lang="en-US" dirty="0"/>
              <a:t>:</a:t>
            </a:r>
          </a:p>
          <a:p>
            <a:r>
              <a:rPr lang="en-US" dirty="0"/>
              <a:t>Tools like editor, debugger, compiler all use the same project data</a:t>
            </a:r>
          </a:p>
          <a:p>
            <a:r>
              <a:rPr lang="en-US" dirty="0"/>
              <a:t>✅ </a:t>
            </a:r>
            <a:r>
              <a:rPr lang="en-US" b="1" dirty="0"/>
              <a:t>Why use it?</a:t>
            </a:r>
            <a:endParaRPr lang="en-US" dirty="0"/>
          </a:p>
          <a:p>
            <a:r>
              <a:rPr lang="en-US" dirty="0"/>
              <a:t>All components share the same data</a:t>
            </a:r>
          </a:p>
          <a:p>
            <a:r>
              <a:rPr lang="en-US" dirty="0"/>
              <a:t>Easy to manage large volumes of data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4269" y="4230005"/>
            <a:ext cx="5983228" cy="262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936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Pipe and Filter Architecture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🧩 </a:t>
            </a:r>
            <a:r>
              <a:rPr lang="en-US" b="1" dirty="0"/>
              <a:t>What is it?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Data flows through </a:t>
            </a:r>
            <a:r>
              <a:rPr lang="en-US" b="1" dirty="0"/>
              <a:t>a series of processing steps</a:t>
            </a:r>
            <a:r>
              <a:rPr lang="en-US" dirty="0"/>
              <a:t> (filters). Each step modifies the data.</a:t>
            </a:r>
          </a:p>
          <a:p>
            <a:r>
              <a:rPr lang="en-US" dirty="0"/>
              <a:t>🖼️ </a:t>
            </a:r>
            <a:r>
              <a:rPr lang="en-US" b="1" dirty="0"/>
              <a:t>Example</a:t>
            </a:r>
            <a:r>
              <a:rPr lang="en-US" dirty="0"/>
              <a:t>:</a:t>
            </a:r>
            <a:br>
              <a:rPr lang="en-US" dirty="0"/>
            </a:br>
            <a:r>
              <a:rPr lang="en-US" b="1" dirty="0"/>
              <a:t>Invoice processing system</a:t>
            </a:r>
            <a:r>
              <a:rPr lang="en-US" dirty="0"/>
              <a:t>:</a:t>
            </a:r>
          </a:p>
          <a:p>
            <a:r>
              <a:rPr lang="en-US" dirty="0"/>
              <a:t>Step 1: Read invoice → Step 2: Validate data → Step 3: Generate report</a:t>
            </a:r>
          </a:p>
          <a:p>
            <a:r>
              <a:rPr lang="en-US" dirty="0"/>
              <a:t>✅ </a:t>
            </a:r>
            <a:r>
              <a:rPr lang="en-US" b="1" dirty="0"/>
              <a:t>Why use it?</a:t>
            </a:r>
            <a:endParaRPr lang="en-US" dirty="0"/>
          </a:p>
          <a:p>
            <a:r>
              <a:rPr lang="en-US" dirty="0"/>
              <a:t>Easy to reuse and add steps</a:t>
            </a:r>
          </a:p>
          <a:p>
            <a:r>
              <a:rPr lang="en-US" dirty="0"/>
              <a:t>Good for data processing or transformation tasks</a:t>
            </a:r>
          </a:p>
        </p:txBody>
      </p:sp>
    </p:spTree>
    <p:extLst>
      <p:ext uri="{BB962C8B-B14F-4D97-AF65-F5344CB8AC3E}">
        <p14:creationId xmlns:p14="http://schemas.microsoft.com/office/powerpoint/2010/main" val="1585514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of the pipe and filter architecture</a:t>
            </a:r>
            <a:r>
              <a:rPr lang="en-GB" dirty="0"/>
              <a:t>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48" y="2228248"/>
            <a:ext cx="8948622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245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6E532-865C-4AD1-91AC-A4B5A11D9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Application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AB75D-4787-4A81-9528-B4465CBAC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web application architecture describes the interactions between applications, databases, and middleware systems on the web. </a:t>
            </a:r>
          </a:p>
          <a:p>
            <a:r>
              <a:rPr lang="en-US" dirty="0"/>
              <a:t>It ensures that multiple applications work simultaneously. Let us understand it with a simple example of opening a webpage.</a:t>
            </a:r>
          </a:p>
          <a:p>
            <a:r>
              <a:rPr lang="en-US" dirty="0"/>
              <a:t>Example: visiting the website</a:t>
            </a:r>
          </a:p>
          <a:p>
            <a:endParaRPr lang="en-US" dirty="0"/>
          </a:p>
        </p:txBody>
      </p:sp>
      <p:pic>
        <p:nvPicPr>
          <p:cNvPr id="8194" name="Picture 2" descr="What Is Web Application Archite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569" y="3759779"/>
            <a:ext cx="7048500" cy="283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756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18A3E-29E6-4067-9494-4C058295C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it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F4782-136B-4024-A419-EAF999578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any typical web application, there are two different codes (sub-programs) running side-by-side. These are:</a:t>
            </a:r>
          </a:p>
          <a:p>
            <a:r>
              <a:rPr lang="en-US" b="1" dirty="0"/>
              <a:t>Client-side Code - </a:t>
            </a:r>
            <a:r>
              <a:rPr lang="en-US" dirty="0"/>
              <a:t>The code that is in the browser and responds to some user input</a:t>
            </a:r>
          </a:p>
          <a:p>
            <a:r>
              <a:rPr lang="en-US" b="1" dirty="0"/>
              <a:t>Server-side Code -</a:t>
            </a:r>
            <a:r>
              <a:rPr lang="en-US" dirty="0"/>
              <a:t> The code that is on the server and responds to the HTTP requests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589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Quick Comparison Table</a:t>
            </a:r>
            <a:b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en-US" sz="4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77863" y="2729706"/>
          <a:ext cx="8596311" cy="2743200"/>
        </p:xfrm>
        <a:graphic>
          <a:graphicData uri="http://schemas.openxmlformats.org/drawingml/2006/table">
            <a:tbl>
              <a:tblPr/>
              <a:tblGrid>
                <a:gridCol w="2865437">
                  <a:extLst>
                    <a:ext uri="{9D8B030D-6E8A-4147-A177-3AD203B41FA5}">
                      <a16:colId xmlns:a16="http://schemas.microsoft.com/office/drawing/2014/main" val="4202395728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3093847465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6976165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Pattern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Best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1623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MVC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UI-based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Social media 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1073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Layered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Clear separation of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Library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7760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Client-Server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Central services accessed by many 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ATM, Web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3856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Repository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Shared data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IDE, Management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8765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Pipe and Filter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Step-by-step data 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Invoice system, Compiler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0778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519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Application Architectures</a:t>
            </a:r>
            <a:b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en-US" sz="7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77863" y="3095466"/>
          <a:ext cx="8596311" cy="2011680"/>
        </p:xfrm>
        <a:graphic>
          <a:graphicData uri="http://schemas.openxmlformats.org/drawingml/2006/table">
            <a:tbl>
              <a:tblPr/>
              <a:tblGrid>
                <a:gridCol w="2865437">
                  <a:extLst>
                    <a:ext uri="{9D8B030D-6E8A-4147-A177-3AD203B41FA5}">
                      <a16:colId xmlns:a16="http://schemas.microsoft.com/office/drawing/2014/main" val="798043517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4073003708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9656672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692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Transaction Processing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Handle user requests and database updates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ATM, Ticket Booking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355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Language Processing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Translate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Java Compiler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795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Information Systems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Access large databases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Hospital system, Library catalog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4426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3392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Web-Based Information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it?</a:t>
            </a:r>
          </a:p>
          <a:p>
            <a:r>
              <a:rPr lang="en-US" dirty="0"/>
              <a:t>A </a:t>
            </a:r>
            <a:r>
              <a:rPr lang="en-US" b="1" dirty="0"/>
              <a:t>web-based system</a:t>
            </a:r>
            <a:r>
              <a:rPr lang="en-US" dirty="0"/>
              <a:t> is an application that runs on the internet and is accessed using a </a:t>
            </a:r>
            <a:r>
              <a:rPr lang="en-US" b="1" dirty="0"/>
              <a:t>web browser</a:t>
            </a:r>
            <a:r>
              <a:rPr lang="en-US" dirty="0"/>
              <a:t>.</a:t>
            </a:r>
          </a:p>
          <a:p>
            <a:r>
              <a:rPr lang="en-US" b="1" dirty="0"/>
              <a:t>📦 Example: E-Commerce Website</a:t>
            </a:r>
          </a:p>
          <a:p>
            <a:r>
              <a:rPr lang="en-US" dirty="0"/>
              <a:t>An online store like </a:t>
            </a:r>
            <a:r>
              <a:rPr lang="en-US" b="1" dirty="0"/>
              <a:t>Amazon</a:t>
            </a:r>
            <a:r>
              <a:rPr lang="en-US" dirty="0"/>
              <a:t>:</a:t>
            </a:r>
          </a:p>
          <a:p>
            <a:r>
              <a:rPr lang="en-US" dirty="0"/>
              <a:t>Users browse products (UI in browser)</a:t>
            </a:r>
          </a:p>
          <a:p>
            <a:r>
              <a:rPr lang="en-US" dirty="0"/>
              <a:t>Add items to a </a:t>
            </a:r>
            <a:r>
              <a:rPr lang="en-US" b="1" dirty="0"/>
              <a:t>shopping cart</a:t>
            </a:r>
            <a:endParaRPr lang="en-US" dirty="0"/>
          </a:p>
          <a:p>
            <a:r>
              <a:rPr lang="en-US" dirty="0"/>
              <a:t>Make payment in one final transaction</a:t>
            </a:r>
          </a:p>
        </p:txBody>
      </p:sp>
    </p:spTree>
    <p:extLst>
      <p:ext uri="{BB962C8B-B14F-4D97-AF65-F5344CB8AC3E}">
        <p14:creationId xmlns:p14="http://schemas.microsoft.com/office/powerpoint/2010/main" val="3491108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Architecture (Multi-tier Client-Server)</a:t>
            </a:r>
            <a:b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2024800"/>
              </p:ext>
            </p:extLst>
          </p:nvPr>
        </p:nvGraphicFramePr>
        <p:xfrm>
          <a:off x="918495" y="3920833"/>
          <a:ext cx="8596311" cy="2286000"/>
        </p:xfrm>
        <a:graphic>
          <a:graphicData uri="http://schemas.openxmlformats.org/drawingml/2006/table">
            <a:tbl>
              <a:tblPr/>
              <a:tblGrid>
                <a:gridCol w="2865437">
                  <a:extLst>
                    <a:ext uri="{9D8B030D-6E8A-4147-A177-3AD203B41FA5}">
                      <a16:colId xmlns:a16="http://schemas.microsoft.com/office/drawing/2014/main" val="1827688806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839249722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7140770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Tier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42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Web Server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Handles user interaction (UI)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Browser displays website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247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Application Server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Handles business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Adds items to cart, calculates total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9447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Database Server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Stores and manages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Stores product info, user details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944211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0396" y="1848051"/>
            <a:ext cx="83836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latin typeface="Arial" panose="020B0604020202020204" pitchFamily="34" charset="0"/>
              </a:rPr>
              <a:t>Web-based systems are usually split </a:t>
            </a:r>
            <a:r>
              <a:rPr lang="en-US" altLang="en-US" dirty="0" smtClean="0">
                <a:latin typeface="Arial" panose="020B0604020202020204" pitchFamily="34" charset="0"/>
              </a:rPr>
              <a:t>into </a:t>
            </a:r>
            <a:r>
              <a:rPr lang="en-US" altLang="en-US" b="1" dirty="0" smtClean="0">
                <a:latin typeface="Arial" panose="020B0604020202020204" pitchFamily="34" charset="0"/>
              </a:rPr>
              <a:t>3 tiers</a:t>
            </a:r>
            <a:r>
              <a:rPr lang="en-US" altLang="en-US" dirty="0" smtClean="0">
                <a:latin typeface="Arial" panose="020B0604020202020204" pitchFamily="34" charset="0"/>
              </a:rPr>
              <a:t>:</a:t>
            </a:r>
          </a:p>
          <a:p>
            <a:r>
              <a:rPr lang="en-US" altLang="en-US" b="1" dirty="0" smtClean="0">
                <a:latin typeface="Arial" panose="020B0604020202020204" pitchFamily="34" charset="0"/>
              </a:rPr>
              <a:t>Why </a:t>
            </a:r>
            <a:r>
              <a:rPr lang="en-US" altLang="en-US" b="1" dirty="0">
                <a:latin typeface="Arial" panose="020B0604020202020204" pitchFamily="34" charset="0"/>
              </a:rPr>
              <a:t>use this?</a:t>
            </a:r>
            <a:r>
              <a:rPr lang="en-US" altLang="en-US" dirty="0">
                <a:latin typeface="Arial" panose="020B0604020202020204" pitchFamily="34" charset="0"/>
              </a:rPr>
              <a:t/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Keeps user interface, logic, and data separate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Easier to manage and scale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Each layer can be maintained independently</a:t>
            </a:r>
            <a:br>
              <a:rPr lang="en-US" altLang="en-US" dirty="0">
                <a:latin typeface="Arial" panose="020B06040202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64586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1306</TotalTime>
  <Words>920</Words>
  <Application>Microsoft Office PowerPoint</Application>
  <PresentationFormat>Widescreen</PresentationFormat>
  <Paragraphs>159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Trebuchet MS</vt:lpstr>
      <vt:lpstr>Wingdings 3</vt:lpstr>
      <vt:lpstr>Facet</vt:lpstr>
      <vt:lpstr>Software Engineering</vt:lpstr>
      <vt:lpstr>Architecture Design</vt:lpstr>
      <vt:lpstr>Architecture and Non-functional Needs </vt:lpstr>
      <vt:lpstr>Architectural Views (4+1 Model)  Helps see the system from different angles: </vt:lpstr>
      <vt:lpstr>PowerPoint Presentation</vt:lpstr>
      <vt:lpstr>Model-View-Controller (MVC) </vt:lpstr>
      <vt:lpstr>Layered Architecture </vt:lpstr>
      <vt:lpstr>Client-Server Architecture </vt:lpstr>
      <vt:lpstr>Repository Architecture </vt:lpstr>
      <vt:lpstr>Pipe and Filter Architecture </vt:lpstr>
      <vt:lpstr>An example of the pipe and filter architecture </vt:lpstr>
      <vt:lpstr>Web Application Architecture </vt:lpstr>
      <vt:lpstr>How Does it work?</vt:lpstr>
      <vt:lpstr>Quick Comparison Table </vt:lpstr>
      <vt:lpstr>Application Architectures </vt:lpstr>
      <vt:lpstr>Web-Based Information Systems</vt:lpstr>
      <vt:lpstr>Architecture (Multi-tier Client-Server)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Atifa Arooj</dc:creator>
  <cp:lastModifiedBy>Atifa Arooj</cp:lastModifiedBy>
  <cp:revision>13</cp:revision>
  <dcterms:created xsi:type="dcterms:W3CDTF">2025-05-19T10:53:20Z</dcterms:created>
  <dcterms:modified xsi:type="dcterms:W3CDTF">2025-05-20T08:39:41Z</dcterms:modified>
</cp:coreProperties>
</file>
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7" r:id="rId1"/>
  </p:sldMasterIdLst>
  <p:notesMasterIdLst>
    <p:notesMasterId r:id="rId30"/>
  </p:notesMasterIdLst>
  <p:sldIdLst>
    <p:sldId id="256" r:id="rId2"/>
    <p:sldId id="257" r:id="rId3"/>
    <p:sldId id="275" r:id="rId4"/>
    <p:sldId id="278" r:id="rId5"/>
    <p:sldId id="279" r:id="rId6"/>
    <p:sldId id="280" r:id="rId7"/>
    <p:sldId id="266" r:id="rId8"/>
    <p:sldId id="276" r:id="rId9"/>
    <p:sldId id="281" r:id="rId10"/>
    <p:sldId id="258" r:id="rId11"/>
    <p:sldId id="282" r:id="rId12"/>
    <p:sldId id="259" r:id="rId13"/>
    <p:sldId id="283" r:id="rId14"/>
    <p:sldId id="261" r:id="rId15"/>
    <p:sldId id="262" r:id="rId16"/>
    <p:sldId id="284" r:id="rId17"/>
    <p:sldId id="260" r:id="rId18"/>
    <p:sldId id="263" r:id="rId19"/>
    <p:sldId id="264" r:id="rId20"/>
    <p:sldId id="286" r:id="rId21"/>
    <p:sldId id="267" r:id="rId22"/>
    <p:sldId id="268" r:id="rId23"/>
    <p:sldId id="269" r:id="rId24"/>
    <p:sldId id="270" r:id="rId25"/>
    <p:sldId id="285" r:id="rId26"/>
    <p:sldId id="272" r:id="rId27"/>
    <p:sldId id="273" r:id="rId28"/>
    <p:sldId id="274"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1654" autoAdjust="0"/>
  </p:normalViewPr>
  <p:slideViewPr>
    <p:cSldViewPr snapToGrid="0">
      <p:cViewPr varScale="1">
        <p:scale>
          <a:sx n="46" d="100"/>
          <a:sy n="46" d="100"/>
        </p:scale>
        <p:origin x="137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9E10A8-AB9D-46D0-A70D-6CB185F871D1}" type="datetimeFigureOut">
              <a:rPr lang="en-US" smtClean="0"/>
              <a:t>3/24/2025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B27DCF-4B8D-4EF9-A64E-DFF9A66429BD}" type="slidenum">
              <a:rPr lang="en-US" smtClean="0"/>
              <a:t>‹#›</a:t>
            </a:fld>
            <a:endParaRPr lang="en-US"/>
          </a:p>
        </p:txBody>
      </p:sp>
    </p:spTree>
    <p:extLst>
      <p:ext uri="{BB962C8B-B14F-4D97-AF65-F5344CB8AC3E}">
        <p14:creationId xmlns:p14="http://schemas.microsoft.com/office/powerpoint/2010/main" val="3595676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statement that defines what a system must do or a constraint it must follow.</a:t>
            </a:r>
            <a:endParaRPr lang="en-US" dirty="0"/>
          </a:p>
        </p:txBody>
      </p:sp>
      <p:sp>
        <p:nvSpPr>
          <p:cNvPr id="4" name="Slide Number Placeholder 3"/>
          <p:cNvSpPr>
            <a:spLocks noGrp="1"/>
          </p:cNvSpPr>
          <p:nvPr>
            <p:ph type="sldNum" sz="quarter" idx="10"/>
          </p:nvPr>
        </p:nvSpPr>
        <p:spPr/>
        <p:txBody>
          <a:bodyPr/>
          <a:lstStyle/>
          <a:p>
            <a:fld id="{A5B27DCF-4B8D-4EF9-A64E-DFF9A66429BD}" type="slidenum">
              <a:rPr lang="en-US" smtClean="0"/>
              <a:t>3</a:t>
            </a:fld>
            <a:endParaRPr lang="en-US"/>
          </a:p>
        </p:txBody>
      </p:sp>
    </p:spTree>
    <p:extLst>
      <p:ext uri="{BB962C8B-B14F-4D97-AF65-F5344CB8AC3E}">
        <p14:creationId xmlns:p14="http://schemas.microsoft.com/office/powerpoint/2010/main" val="3478348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Abstract (General Idea) </a:t>
            </a:r>
            <a:r>
              <a:rPr lang="en-US" dirty="0" smtClean="0"/>
              <a:t>"A vehicle should be fast.“</a:t>
            </a:r>
          </a:p>
          <a:p>
            <a:r>
              <a:rPr lang="en-US" dirty="0" smtClean="0"/>
              <a:t>"A student should complete assignments on time.“ </a:t>
            </a:r>
            <a:endParaRPr lang="en-US" b="1" dirty="0" smtClean="0"/>
          </a:p>
          <a:p>
            <a:r>
              <a:rPr lang="en-US" b="1" dirty="0" smtClean="0"/>
              <a:t>Detailed (Specific Information) </a:t>
            </a:r>
            <a:r>
              <a:rPr lang="en-US" dirty="0" smtClean="0"/>
              <a:t>"A car should have a top speed of 200 km/h.“</a:t>
            </a:r>
          </a:p>
          <a:p>
            <a:r>
              <a:rPr lang="en-US" dirty="0" smtClean="0"/>
              <a:t>"A student must submit assignments before Friday at 5 PM."</a:t>
            </a:r>
            <a:endParaRPr lang="en-US" dirty="0"/>
          </a:p>
        </p:txBody>
      </p:sp>
      <p:sp>
        <p:nvSpPr>
          <p:cNvPr id="4" name="Slide Number Placeholder 3"/>
          <p:cNvSpPr>
            <a:spLocks noGrp="1"/>
          </p:cNvSpPr>
          <p:nvPr>
            <p:ph type="sldNum" sz="quarter" idx="10"/>
          </p:nvPr>
        </p:nvSpPr>
        <p:spPr/>
        <p:txBody>
          <a:bodyPr/>
          <a:lstStyle/>
          <a:p>
            <a:fld id="{A5B27DCF-4B8D-4EF9-A64E-DFF9A66429BD}" type="slidenum">
              <a:rPr lang="en-US" smtClean="0"/>
              <a:t>7</a:t>
            </a:fld>
            <a:endParaRPr lang="en-US"/>
          </a:p>
        </p:txBody>
      </p:sp>
    </p:spTree>
    <p:extLst>
      <p:ext uri="{BB962C8B-B14F-4D97-AF65-F5344CB8AC3E}">
        <p14:creationId xmlns:p14="http://schemas.microsoft.com/office/powerpoint/2010/main" val="2950961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Why is an SRD Important?</a:t>
            </a:r>
          </a:p>
          <a:p>
            <a:r>
              <a:rPr lang="en-US" dirty="0" smtClean="0"/>
              <a:t>✅ </a:t>
            </a:r>
            <a:r>
              <a:rPr lang="en-US" b="1" dirty="0" smtClean="0"/>
              <a:t>Prevents misunderstandings</a:t>
            </a:r>
            <a:r>
              <a:rPr lang="en-US" dirty="0" smtClean="0"/>
              <a:t> – Ensures that everyone (developers, testers, stakeholders) is on the same page.</a:t>
            </a:r>
            <a:br>
              <a:rPr lang="en-US" dirty="0" smtClean="0"/>
            </a:br>
            <a:r>
              <a:rPr lang="en-US" dirty="0" smtClean="0"/>
              <a:t>✅ </a:t>
            </a:r>
            <a:r>
              <a:rPr lang="en-US" b="1" dirty="0" smtClean="0"/>
              <a:t>Saves time &amp; cost</a:t>
            </a:r>
            <a:r>
              <a:rPr lang="en-US" dirty="0" smtClean="0"/>
              <a:t> – Helps avoid rework due to unclear requirements.</a:t>
            </a:r>
            <a:br>
              <a:rPr lang="en-US" dirty="0" smtClean="0"/>
            </a:br>
            <a:r>
              <a:rPr lang="en-US" dirty="0" smtClean="0"/>
              <a:t>✅ </a:t>
            </a:r>
            <a:r>
              <a:rPr lang="en-US" b="1" dirty="0" smtClean="0"/>
              <a:t>Acts as a contract</a:t>
            </a:r>
            <a:r>
              <a:rPr lang="en-US" dirty="0" smtClean="0"/>
              <a:t> – Defines what is expected from the final software.</a:t>
            </a:r>
          </a:p>
          <a:p>
            <a:endParaRPr lang="en-US" dirty="0"/>
          </a:p>
        </p:txBody>
      </p:sp>
      <p:sp>
        <p:nvSpPr>
          <p:cNvPr id="4" name="Slide Number Placeholder 3"/>
          <p:cNvSpPr>
            <a:spLocks noGrp="1"/>
          </p:cNvSpPr>
          <p:nvPr>
            <p:ph type="sldNum" sz="quarter" idx="10"/>
          </p:nvPr>
        </p:nvSpPr>
        <p:spPr/>
        <p:txBody>
          <a:bodyPr/>
          <a:lstStyle/>
          <a:p>
            <a:fld id="{A5B27DCF-4B8D-4EF9-A64E-DFF9A66429BD}" type="slidenum">
              <a:rPr lang="en-US" smtClean="0"/>
              <a:t>13</a:t>
            </a:fld>
            <a:endParaRPr lang="en-US"/>
          </a:p>
        </p:txBody>
      </p:sp>
    </p:spTree>
    <p:extLst>
      <p:ext uri="{BB962C8B-B14F-4D97-AF65-F5344CB8AC3E}">
        <p14:creationId xmlns:p14="http://schemas.microsoft.com/office/powerpoint/2010/main" val="1044874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B27DCF-4B8D-4EF9-A64E-DFF9A66429BD}" type="slidenum">
              <a:rPr lang="en-US" smtClean="0"/>
              <a:t>16</a:t>
            </a:fld>
            <a:endParaRPr lang="en-US"/>
          </a:p>
        </p:txBody>
      </p:sp>
    </p:spTree>
    <p:extLst>
      <p:ext uri="{BB962C8B-B14F-4D97-AF65-F5344CB8AC3E}">
        <p14:creationId xmlns:p14="http://schemas.microsoft.com/office/powerpoint/2010/main" val="33624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smtClean="0"/>
              <a:t>FR</a:t>
            </a:r>
            <a:r>
              <a:rPr lang="en-US" sz="1100" baseline="0" dirty="0" smtClean="0"/>
              <a:t> (functional requirements)</a:t>
            </a:r>
          </a:p>
          <a:p>
            <a:r>
              <a:rPr lang="en-US" sz="1100" b="1" dirty="0" smtClean="0"/>
              <a:t>FR-002</a:t>
            </a:r>
            <a:r>
              <a:rPr lang="en-US" sz="1100" dirty="0" smtClean="0"/>
              <a:t>: The system shall allow users to transfer money using a phone number or QR code. </a:t>
            </a:r>
          </a:p>
          <a:p>
            <a:r>
              <a:rPr lang="en-US" sz="1100" b="1" dirty="0" smtClean="0"/>
              <a:t>FR-003</a:t>
            </a:r>
            <a:r>
              <a:rPr lang="en-US" sz="1100" dirty="0" smtClean="0"/>
              <a:t>: The system shall enable users to check their account balance in real time. </a:t>
            </a:r>
          </a:p>
          <a:p>
            <a:r>
              <a:rPr lang="en-US" sz="1100" b="1" dirty="0" smtClean="0"/>
              <a:t>FR-004</a:t>
            </a:r>
            <a:r>
              <a:rPr lang="en-US" sz="1100" dirty="0" smtClean="0"/>
              <a:t>: The system shall send an SMS notification after every transaction. </a:t>
            </a:r>
            <a:r>
              <a:rPr lang="en-US" sz="1100" b="1" dirty="0" smtClean="0"/>
              <a:t>FR-005</a:t>
            </a:r>
            <a:r>
              <a:rPr lang="en-US" sz="1100" dirty="0" smtClean="0"/>
              <a:t>: The system shall allow users to generate mini-statements of their last five transactions.</a:t>
            </a:r>
            <a:endParaRPr lang="en-US" sz="1100" baseline="0" dirty="0" smtClean="0"/>
          </a:p>
          <a:p>
            <a:r>
              <a:rPr lang="en-US" sz="1100" baseline="0" dirty="0" smtClean="0"/>
              <a:t>NFR (non functional requirements)</a:t>
            </a:r>
          </a:p>
          <a:p>
            <a:r>
              <a:rPr lang="en-US" sz="1100" b="1" dirty="0" smtClean="0"/>
              <a:t>NFR-002</a:t>
            </a:r>
            <a:r>
              <a:rPr lang="en-US" sz="1100" dirty="0" smtClean="0"/>
              <a:t>: Transactions should be </a:t>
            </a:r>
            <a:r>
              <a:rPr lang="en-US" sz="1100" b="1" dirty="0" smtClean="0"/>
              <a:t>completed within 3 seconds</a:t>
            </a:r>
            <a:r>
              <a:rPr lang="en-US" sz="1100" dirty="0" smtClean="0"/>
              <a:t> of user confirmation. </a:t>
            </a:r>
          </a:p>
          <a:p>
            <a:r>
              <a:rPr lang="en-US" sz="1100" b="1" dirty="0" smtClean="0"/>
              <a:t>NFR-003</a:t>
            </a:r>
            <a:r>
              <a:rPr lang="en-US" sz="1100" dirty="0" smtClean="0"/>
              <a:t>: The system should follow </a:t>
            </a:r>
            <a:r>
              <a:rPr lang="en-US" sz="1100" b="1" dirty="0" smtClean="0"/>
              <a:t>PCI DSS security standards</a:t>
            </a:r>
            <a:r>
              <a:rPr lang="en-US" sz="1100" dirty="0" smtClean="0"/>
              <a:t> for safe transactions. </a:t>
            </a:r>
          </a:p>
          <a:p>
            <a:r>
              <a:rPr lang="en-US" sz="1100" b="1" dirty="0" smtClean="0"/>
              <a:t>NFR-004</a:t>
            </a:r>
            <a:r>
              <a:rPr lang="en-US" sz="1100" dirty="0" smtClean="0"/>
              <a:t>: The mobile app should work on </a:t>
            </a:r>
            <a:r>
              <a:rPr lang="en-US" sz="1100" b="1" dirty="0" smtClean="0"/>
              <a:t>Android and iOS devices with at least 2GB RAM</a:t>
            </a:r>
            <a:r>
              <a:rPr lang="en-US" sz="1100" dirty="0" smtClean="0"/>
              <a:t>. </a:t>
            </a:r>
          </a:p>
          <a:p>
            <a:r>
              <a:rPr lang="en-US" sz="1100" b="1" dirty="0" smtClean="0"/>
              <a:t>NFR-005</a:t>
            </a:r>
            <a:r>
              <a:rPr lang="en-US" sz="1100" dirty="0" smtClean="0"/>
              <a:t>: The system should be available </a:t>
            </a:r>
            <a:r>
              <a:rPr lang="en-US" sz="1100" b="1" dirty="0" smtClean="0"/>
              <a:t>24/7 with 99.9% uptime</a:t>
            </a:r>
            <a:r>
              <a:rPr lang="en-US" sz="1100" dirty="0" smtClean="0"/>
              <a:t>.</a:t>
            </a:r>
            <a:endParaRPr lang="en-US" sz="1100" dirty="0"/>
          </a:p>
        </p:txBody>
      </p:sp>
      <p:sp>
        <p:nvSpPr>
          <p:cNvPr id="4" name="Slide Number Placeholder 3"/>
          <p:cNvSpPr>
            <a:spLocks noGrp="1"/>
          </p:cNvSpPr>
          <p:nvPr>
            <p:ph type="sldNum" sz="quarter" idx="10"/>
          </p:nvPr>
        </p:nvSpPr>
        <p:spPr/>
        <p:txBody>
          <a:bodyPr/>
          <a:lstStyle/>
          <a:p>
            <a:fld id="{A5B27DCF-4B8D-4EF9-A64E-DFF9A66429BD}" type="slidenum">
              <a:rPr lang="en-US" smtClean="0"/>
              <a:t>17</a:t>
            </a:fld>
            <a:endParaRPr lang="en-US"/>
          </a:p>
        </p:txBody>
      </p:sp>
    </p:spTree>
    <p:extLst>
      <p:ext uri="{BB962C8B-B14F-4D97-AF65-F5344CB8AC3E}">
        <p14:creationId xmlns:p14="http://schemas.microsoft.com/office/powerpoint/2010/main" val="3881861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lang="en-US" sz="2400" b="1" dirty="0" smtClean="0"/>
              <a:t>Example:</a:t>
            </a:r>
            <a:endParaRPr lang="en-US" sz="2400" dirty="0" smtClean="0"/>
          </a:p>
          <a:p>
            <a:pPr marL="0" lvl="0" indent="0">
              <a:buNone/>
            </a:pPr>
            <a:r>
              <a:rPr lang="en-US" sz="2400" dirty="0" smtClean="0"/>
              <a:t>(Review)A </a:t>
            </a:r>
            <a:r>
              <a:rPr lang="en-US" sz="2400" b="1" dirty="0" smtClean="0"/>
              <a:t>bank manager</a:t>
            </a:r>
            <a:r>
              <a:rPr lang="en-US" sz="2400" dirty="0" smtClean="0"/>
              <a:t> checks if all necessary banking functions (money transfer, bill payments) are included.</a:t>
            </a:r>
          </a:p>
          <a:p>
            <a:pPr marL="0" lvl="0" indent="0">
              <a:buNone/>
            </a:pPr>
            <a:r>
              <a:rPr lang="en-US" sz="2400" dirty="0" smtClean="0"/>
              <a:t>A </a:t>
            </a:r>
            <a:r>
              <a:rPr lang="en-US" sz="2400" b="1" dirty="0" smtClean="0"/>
              <a:t>cybersecurity expert</a:t>
            </a:r>
            <a:r>
              <a:rPr lang="en-US" sz="2400" dirty="0" smtClean="0"/>
              <a:t> verifies that security requirements (two-factor authentication) are correctly defined.</a:t>
            </a:r>
          </a:p>
          <a:p>
            <a:r>
              <a:rPr lang="en-US" sz="2400" dirty="0" smtClean="0"/>
              <a:t>(Prototype) A prototype interface for </a:t>
            </a:r>
            <a:r>
              <a:rPr lang="en-US" sz="2400" b="1" dirty="0" smtClean="0"/>
              <a:t>"Money Transfer"</a:t>
            </a:r>
            <a:r>
              <a:rPr lang="en-US" sz="2400" dirty="0" smtClean="0"/>
              <a:t> is tested with real users to see if they find it easy to use. Users interact with a basic </a:t>
            </a:r>
            <a:r>
              <a:rPr lang="en-US" sz="2400" b="1" dirty="0" smtClean="0"/>
              <a:t>login and authentication flow</a:t>
            </a:r>
            <a:r>
              <a:rPr lang="en-US" sz="2400" dirty="0" smtClean="0"/>
              <a:t> to check usability.</a:t>
            </a:r>
            <a:br>
              <a:rPr lang="en-US" sz="2400" dirty="0" smtClean="0"/>
            </a:br>
            <a:r>
              <a:rPr lang="en-US" sz="2400" dirty="0" smtClean="0"/>
              <a:t>(Test case) </a:t>
            </a:r>
            <a:r>
              <a:rPr lang="en-US" b="1" dirty="0" smtClean="0"/>
              <a:t>FR-002:</a:t>
            </a:r>
            <a:r>
              <a:rPr lang="en-US" dirty="0" smtClean="0"/>
              <a:t> </a:t>
            </a:r>
            <a:r>
              <a:rPr lang="en-US" i="1" dirty="0" smtClean="0"/>
              <a:t>The system shall allow users to transfer money using a phone number or QR code.</a:t>
            </a:r>
            <a:r>
              <a:rPr lang="en-US" dirty="0" smtClean="0"/>
              <a:t> </a:t>
            </a:r>
          </a:p>
          <a:p>
            <a:r>
              <a:rPr lang="en-US" dirty="0" smtClean="0"/>
              <a:t>✅ </a:t>
            </a:r>
            <a:r>
              <a:rPr lang="en-US" b="1" dirty="0" smtClean="0"/>
              <a:t>Test Case:</a:t>
            </a:r>
            <a:r>
              <a:rPr lang="en-US" dirty="0" smtClean="0"/>
              <a:t> Enter a valid phone number, transfer money, and verify if the transaction is successful.</a:t>
            </a:r>
          </a:p>
          <a:p>
            <a:r>
              <a:rPr lang="en-US" dirty="0" smtClean="0"/>
              <a:t>❌ </a:t>
            </a:r>
            <a:r>
              <a:rPr lang="en-US" b="1" dirty="0" smtClean="0"/>
              <a:t>Failure Case:</a:t>
            </a:r>
            <a:r>
              <a:rPr lang="en-US" dirty="0" smtClean="0"/>
              <a:t> Enter an incorrect phone number and check if the system prevents the transaction.</a:t>
            </a:r>
          </a:p>
          <a:p>
            <a:r>
              <a:rPr lang="en-US" b="1" dirty="0" smtClean="0"/>
              <a:t>NFR-002:</a:t>
            </a:r>
            <a:r>
              <a:rPr lang="en-US" dirty="0" smtClean="0"/>
              <a:t> </a:t>
            </a:r>
            <a:r>
              <a:rPr lang="en-US" i="1" dirty="0" smtClean="0"/>
              <a:t>Transactions should be completed within 3 seconds.</a:t>
            </a:r>
            <a:r>
              <a:rPr lang="en-US" dirty="0" smtClean="0"/>
              <a:t> </a:t>
            </a:r>
          </a:p>
          <a:p>
            <a:r>
              <a:rPr lang="en-US" dirty="0" smtClean="0"/>
              <a:t>✅ </a:t>
            </a:r>
            <a:r>
              <a:rPr lang="en-US" b="1" dirty="0" smtClean="0"/>
              <a:t>Test Case:</a:t>
            </a:r>
            <a:r>
              <a:rPr lang="en-US" dirty="0" smtClean="0"/>
              <a:t> Measure transaction time and confirm it meets the 3-second limit.</a:t>
            </a:r>
          </a:p>
          <a:p>
            <a:pPr marL="457200" lvl="1" indent="0">
              <a:buNone/>
            </a:pPr>
            <a:endParaRPr lang="en-US" sz="2400" dirty="0" smtClean="0"/>
          </a:p>
          <a:p>
            <a:endParaRPr lang="en-US" dirty="0"/>
          </a:p>
        </p:txBody>
      </p:sp>
      <p:sp>
        <p:nvSpPr>
          <p:cNvPr id="4" name="Slide Number Placeholder 3"/>
          <p:cNvSpPr>
            <a:spLocks noGrp="1"/>
          </p:cNvSpPr>
          <p:nvPr>
            <p:ph type="sldNum" sz="quarter" idx="10"/>
          </p:nvPr>
        </p:nvSpPr>
        <p:spPr/>
        <p:txBody>
          <a:bodyPr/>
          <a:lstStyle/>
          <a:p>
            <a:fld id="{A5B27DCF-4B8D-4EF9-A64E-DFF9A66429BD}" type="slidenum">
              <a:rPr lang="en-US" smtClean="0"/>
              <a:t>18</a:t>
            </a:fld>
            <a:endParaRPr lang="en-US"/>
          </a:p>
        </p:txBody>
      </p:sp>
    </p:spTree>
    <p:extLst>
      <p:ext uri="{BB962C8B-B14F-4D97-AF65-F5344CB8AC3E}">
        <p14:creationId xmlns:p14="http://schemas.microsoft.com/office/powerpoint/2010/main" val="21782131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How Developers Handle Changes?</a:t>
            </a:r>
          </a:p>
          <a:p>
            <a:r>
              <a:rPr lang="en-US" b="1" dirty="0" smtClean="0"/>
              <a:t>Version Control</a:t>
            </a:r>
            <a:r>
              <a:rPr lang="en-US" dirty="0" smtClean="0"/>
              <a:t> – Keeping track of requirement updates.</a:t>
            </a:r>
          </a:p>
          <a:p>
            <a:r>
              <a:rPr lang="en-US" b="1" dirty="0" smtClean="0"/>
              <a:t>Impact Analysis</a:t>
            </a:r>
            <a:r>
              <a:rPr lang="en-US" dirty="0" smtClean="0"/>
              <a:t> – Checking how changes affect the system.</a:t>
            </a:r>
          </a:p>
          <a:p>
            <a:r>
              <a:rPr lang="en-US" b="1" dirty="0" smtClean="0"/>
              <a:t>Stakeholder Approval</a:t>
            </a:r>
            <a:r>
              <a:rPr lang="en-US" dirty="0" smtClean="0"/>
              <a:t> – Ensuring all parties agree before implementing new requirements.</a:t>
            </a:r>
          </a:p>
          <a:p>
            <a:endParaRPr lang="en-US" dirty="0"/>
          </a:p>
        </p:txBody>
      </p:sp>
      <p:sp>
        <p:nvSpPr>
          <p:cNvPr id="4" name="Slide Number Placeholder 3"/>
          <p:cNvSpPr>
            <a:spLocks noGrp="1"/>
          </p:cNvSpPr>
          <p:nvPr>
            <p:ph type="sldNum" sz="quarter" idx="10"/>
          </p:nvPr>
        </p:nvSpPr>
        <p:spPr/>
        <p:txBody>
          <a:bodyPr/>
          <a:lstStyle/>
          <a:p>
            <a:fld id="{A5B27DCF-4B8D-4EF9-A64E-DFF9A66429BD}" type="slidenum">
              <a:rPr lang="en-US" smtClean="0"/>
              <a:t>19</a:t>
            </a:fld>
            <a:endParaRPr lang="en-US"/>
          </a:p>
        </p:txBody>
      </p:sp>
    </p:spTree>
    <p:extLst>
      <p:ext uri="{BB962C8B-B14F-4D97-AF65-F5344CB8AC3E}">
        <p14:creationId xmlns:p14="http://schemas.microsoft.com/office/powerpoint/2010/main" val="3851106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Why Imprecise Requirements Are a Problem?</a:t>
            </a:r>
          </a:p>
          <a:p>
            <a:r>
              <a:rPr lang="en-US" b="1" dirty="0" smtClean="0"/>
              <a:t>Different interpretations</a:t>
            </a:r>
            <a:r>
              <a:rPr lang="en-US" dirty="0" smtClean="0"/>
              <a:t> by developers, testers, and users.</a:t>
            </a:r>
          </a:p>
          <a:p>
            <a:r>
              <a:rPr lang="en-US" b="1" dirty="0" smtClean="0"/>
              <a:t>Incorrect system behavior</a:t>
            </a:r>
            <a:r>
              <a:rPr lang="en-US" dirty="0" smtClean="0"/>
              <a:t>, leading to user dissatisfaction.</a:t>
            </a:r>
          </a:p>
          <a:p>
            <a:r>
              <a:rPr lang="en-US" b="1" dirty="0" smtClean="0"/>
              <a:t>Increased cost and delays</a:t>
            </a:r>
            <a:r>
              <a:rPr lang="en-US" dirty="0" smtClean="0"/>
              <a:t> due to requirement changes later.</a:t>
            </a:r>
          </a:p>
          <a:p>
            <a:r>
              <a:rPr lang="en-US" b="1" dirty="0" smtClean="0"/>
              <a:t>How to Avoid Requirements Imprecision?</a:t>
            </a:r>
          </a:p>
          <a:p>
            <a:r>
              <a:rPr lang="en-US" dirty="0" smtClean="0"/>
              <a:t>✅ Use </a:t>
            </a:r>
            <a:r>
              <a:rPr lang="en-US" b="1" dirty="0" smtClean="0"/>
              <a:t>specific and measurable</a:t>
            </a:r>
            <a:r>
              <a:rPr lang="en-US" dirty="0" smtClean="0"/>
              <a:t> terms (e.g., response time, encryption method).</a:t>
            </a:r>
            <a:br>
              <a:rPr lang="en-US" dirty="0" smtClean="0"/>
            </a:br>
            <a:r>
              <a:rPr lang="en-US" dirty="0" smtClean="0"/>
              <a:t>✅ Provide </a:t>
            </a:r>
            <a:r>
              <a:rPr lang="en-US" b="1" dirty="0" smtClean="0"/>
              <a:t>examples and scenarios</a:t>
            </a:r>
            <a:r>
              <a:rPr lang="en-US" dirty="0" smtClean="0"/>
              <a:t> for clarity.</a:t>
            </a:r>
            <a:br>
              <a:rPr lang="en-US" dirty="0" smtClean="0"/>
            </a:br>
            <a:r>
              <a:rPr lang="en-US" dirty="0" smtClean="0"/>
              <a:t>✅ Use </a:t>
            </a:r>
            <a:r>
              <a:rPr lang="en-US" b="1" dirty="0" smtClean="0"/>
              <a:t>prototypes or wireframes</a:t>
            </a:r>
            <a:r>
              <a:rPr lang="en-US" dirty="0" smtClean="0"/>
              <a:t> to validate requirements.</a:t>
            </a:r>
            <a:br>
              <a:rPr lang="en-US" dirty="0" smtClean="0"/>
            </a:br>
            <a:r>
              <a:rPr lang="en-US" dirty="0" smtClean="0"/>
              <a:t>✅ Conduct </a:t>
            </a:r>
            <a:r>
              <a:rPr lang="en-US" b="1" dirty="0" smtClean="0"/>
              <a:t>requirement reviews</a:t>
            </a:r>
            <a:r>
              <a:rPr lang="en-US" dirty="0" smtClean="0"/>
              <a:t> with stakeholders to prevent misunderstandings.</a:t>
            </a:r>
          </a:p>
          <a:p>
            <a:r>
              <a:rPr lang="en-US" dirty="0" smtClean="0"/>
              <a:t>📌 </a:t>
            </a:r>
            <a:r>
              <a:rPr lang="en-US" b="1" dirty="0" smtClean="0"/>
              <a:t>Clear, precise requirements = fewer errors, faster development, and happy users!</a:t>
            </a:r>
            <a:r>
              <a:rPr lang="en-US" dirty="0" smtClean="0"/>
              <a:t> </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A5B27DCF-4B8D-4EF9-A64E-DFF9A66429BD}" type="slidenum">
              <a:rPr lang="en-US" smtClean="0"/>
              <a:t>20</a:t>
            </a:fld>
            <a:endParaRPr lang="en-US"/>
          </a:p>
        </p:txBody>
      </p:sp>
    </p:spTree>
    <p:extLst>
      <p:ext uri="{BB962C8B-B14F-4D97-AF65-F5344CB8AC3E}">
        <p14:creationId xmlns:p14="http://schemas.microsoft.com/office/powerpoint/2010/main" val="34367202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Completeness</a:t>
            </a:r>
            <a:r>
              <a:rPr lang="en-US" dirty="0" smtClean="0"/>
              <a:t> means that all necessary requirements are included in the specification. If some requirements are missing, the system may not function as expected.</a:t>
            </a:r>
            <a:br>
              <a:rPr lang="en-US" dirty="0" smtClean="0"/>
            </a:br>
            <a:r>
              <a:rPr lang="en-US" b="1" dirty="0" smtClean="0"/>
              <a:t>Consistency</a:t>
            </a:r>
            <a:r>
              <a:rPr lang="en-US" dirty="0" smtClean="0"/>
              <a:t> ensures that there are no contradictions in the requirements. If two or more requirements conflict, developers won’t know which one to follow.</a:t>
            </a:r>
          </a:p>
          <a:p>
            <a:r>
              <a:rPr lang="en-US" dirty="0" smtClean="0"/>
              <a:t>Example:</a:t>
            </a:r>
            <a:r>
              <a:rPr lang="en-US" baseline="0" dirty="0" smtClean="0"/>
              <a:t> </a:t>
            </a:r>
            <a:r>
              <a:rPr lang="en-US" dirty="0" smtClean="0"/>
              <a:t>These two statements contradict each other. The first one says the system should support many languages, while the second one says only English is supported. This will cause confusion for developers and testers.</a:t>
            </a:r>
            <a:endParaRPr lang="en-US" dirty="0"/>
          </a:p>
        </p:txBody>
      </p:sp>
      <p:sp>
        <p:nvSpPr>
          <p:cNvPr id="4" name="Slide Number Placeholder 3"/>
          <p:cNvSpPr>
            <a:spLocks noGrp="1"/>
          </p:cNvSpPr>
          <p:nvPr>
            <p:ph type="sldNum" sz="quarter" idx="10"/>
          </p:nvPr>
        </p:nvSpPr>
        <p:spPr/>
        <p:txBody>
          <a:bodyPr/>
          <a:lstStyle/>
          <a:p>
            <a:fld id="{A5B27DCF-4B8D-4EF9-A64E-DFF9A66429BD}" type="slidenum">
              <a:rPr lang="en-US" smtClean="0"/>
              <a:t>21</a:t>
            </a:fld>
            <a:endParaRPr lang="en-US"/>
          </a:p>
        </p:txBody>
      </p:sp>
    </p:spTree>
    <p:extLst>
      <p:ext uri="{BB962C8B-B14F-4D97-AF65-F5344CB8AC3E}">
        <p14:creationId xmlns:p14="http://schemas.microsoft.com/office/powerpoint/2010/main" val="15570890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banking industry, security is a critical concern. Regulatory bodies require strong authentication to protect user accounts. MFA (e.g., password + OTP via SMS) ensures </a:t>
            </a:r>
            <a:r>
              <a:rPr lang="en-US" b="1" dirty="0" smtClean="0"/>
              <a:t>enhanced security</a:t>
            </a:r>
            <a:r>
              <a:rPr lang="en-US" dirty="0" smtClean="0"/>
              <a:t> against unauthorized access.</a:t>
            </a:r>
          </a:p>
          <a:p>
            <a:r>
              <a:rPr lang="en-US" dirty="0" smtClean="0"/>
              <a:t>(</a:t>
            </a:r>
            <a:r>
              <a:rPr lang="en-US" b="1" dirty="0" smtClean="0"/>
              <a:t>Health Insurance Portability and Accountability Act</a:t>
            </a:r>
            <a:r>
              <a:rPr lang="en-US" dirty="0" smtClean="0"/>
              <a:t>) </a:t>
            </a:r>
          </a:p>
          <a:p>
            <a:r>
              <a:rPr lang="en-US" b="1" dirty="0" smtClean="0"/>
              <a:t>Why Are Domain Requirements Important?</a:t>
            </a:r>
          </a:p>
          <a:p>
            <a:r>
              <a:rPr lang="en-US" dirty="0" smtClean="0"/>
              <a:t>Ensure </a:t>
            </a:r>
            <a:r>
              <a:rPr lang="en-US" b="1" dirty="0" smtClean="0"/>
              <a:t>compliance</a:t>
            </a:r>
            <a:r>
              <a:rPr lang="en-US" dirty="0" smtClean="0"/>
              <a:t> with industry regulations.</a:t>
            </a:r>
          </a:p>
          <a:p>
            <a:r>
              <a:rPr lang="en-US" dirty="0" smtClean="0"/>
              <a:t>Address </a:t>
            </a:r>
            <a:r>
              <a:rPr lang="en-US" b="1" dirty="0" smtClean="0"/>
              <a:t>specific needs</a:t>
            </a:r>
            <a:r>
              <a:rPr lang="en-US" dirty="0" smtClean="0"/>
              <a:t> that only apply to that domain.</a:t>
            </a:r>
          </a:p>
          <a:p>
            <a:r>
              <a:rPr lang="en-US" dirty="0" smtClean="0"/>
              <a:t>Help developers design systems that meet </a:t>
            </a:r>
            <a:r>
              <a:rPr lang="en-US" b="1" dirty="0" smtClean="0"/>
              <a:t>real-world operational constraints</a:t>
            </a:r>
            <a:r>
              <a:rPr lang="en-US" dirty="0" smtClean="0"/>
              <a:t>.</a:t>
            </a:r>
          </a:p>
          <a:p>
            <a:endParaRPr lang="en-US" dirty="0"/>
          </a:p>
        </p:txBody>
      </p:sp>
      <p:sp>
        <p:nvSpPr>
          <p:cNvPr id="4" name="Slide Number Placeholder 3"/>
          <p:cNvSpPr>
            <a:spLocks noGrp="1"/>
          </p:cNvSpPr>
          <p:nvPr>
            <p:ph type="sldNum" sz="quarter" idx="10"/>
          </p:nvPr>
        </p:nvSpPr>
        <p:spPr/>
        <p:txBody>
          <a:bodyPr/>
          <a:lstStyle/>
          <a:p>
            <a:fld id="{A5B27DCF-4B8D-4EF9-A64E-DFF9A66429BD}" type="slidenum">
              <a:rPr lang="en-US" smtClean="0"/>
              <a:t>22</a:t>
            </a:fld>
            <a:endParaRPr lang="en-US"/>
          </a:p>
        </p:txBody>
      </p:sp>
    </p:spTree>
    <p:extLst>
      <p:ext uri="{BB962C8B-B14F-4D97-AF65-F5344CB8AC3E}">
        <p14:creationId xmlns:p14="http://schemas.microsoft.com/office/powerpoint/2010/main" val="1968140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Usability</a:t>
            </a:r>
            <a:r>
              <a:rPr lang="en-US" dirty="0" smtClean="0"/>
              <a:t>: </a:t>
            </a:r>
            <a:r>
              <a:rPr lang="en-US" i="1" dirty="0" smtClean="0"/>
              <a:t>"The mobile banking app should be user-friendly."</a:t>
            </a:r>
            <a:r>
              <a:rPr lang="en-US" dirty="0" smtClean="0"/>
              <a:t/>
            </a:r>
            <a:br>
              <a:rPr lang="en-US" dirty="0" smtClean="0"/>
            </a:br>
            <a:r>
              <a:rPr lang="en-US" b="1" dirty="0" smtClean="0"/>
              <a:t>Implementation:</a:t>
            </a:r>
            <a:r>
              <a:rPr lang="en-US" dirty="0" smtClean="0"/>
              <a:t> Follow </a:t>
            </a:r>
            <a:r>
              <a:rPr lang="en-US" b="1" dirty="0" smtClean="0"/>
              <a:t>UI/UX best practices</a:t>
            </a:r>
            <a:r>
              <a:rPr lang="en-US" dirty="0" smtClean="0"/>
              <a:t>, provide </a:t>
            </a:r>
            <a:r>
              <a:rPr lang="en-US" b="1" dirty="0" smtClean="0"/>
              <a:t>tooltips and tutorials</a:t>
            </a:r>
            <a:r>
              <a:rPr lang="en-US" dirty="0" smtClean="0"/>
              <a:t>.</a:t>
            </a:r>
            <a:endParaRPr lang="en-US" dirty="0"/>
          </a:p>
        </p:txBody>
      </p:sp>
      <p:sp>
        <p:nvSpPr>
          <p:cNvPr id="4" name="Slide Number Placeholder 3"/>
          <p:cNvSpPr>
            <a:spLocks noGrp="1"/>
          </p:cNvSpPr>
          <p:nvPr>
            <p:ph type="sldNum" sz="quarter" idx="10"/>
          </p:nvPr>
        </p:nvSpPr>
        <p:spPr/>
        <p:txBody>
          <a:bodyPr/>
          <a:lstStyle/>
          <a:p>
            <a:fld id="{A5B27DCF-4B8D-4EF9-A64E-DFF9A66429BD}" type="slidenum">
              <a:rPr lang="en-US" smtClean="0"/>
              <a:t>23</a:t>
            </a:fld>
            <a:endParaRPr lang="en-US"/>
          </a:p>
        </p:txBody>
      </p:sp>
    </p:spTree>
    <p:extLst>
      <p:ext uri="{BB962C8B-B14F-4D97-AF65-F5344CB8AC3E}">
        <p14:creationId xmlns:p14="http://schemas.microsoft.com/office/powerpoint/2010/main" val="584606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3/24/2025</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87641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425612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53738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3/24/2025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668279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3/24/2025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222748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3/24/2025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75490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3/24/2025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81975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3/24/2025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92958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93510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3/24/2025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075967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635068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4880046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1417346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275582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812128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696575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3316538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750557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8A87A34-81AB-432B-8DAE-1953F412C126}" type="datetimeFigureOut">
              <a:rPr lang="en-US" smtClean="0"/>
              <a:pPr/>
              <a:t>3/24/2025</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933164571"/>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 id="2147483705" r:id="rId18"/>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Requirement </a:t>
            </a:r>
            <a:r>
              <a:rPr lang="en-US" b="1" dirty="0" smtClean="0"/>
              <a:t>Engineering 1 </a:t>
            </a:r>
            <a:r>
              <a:rPr lang="en-US" dirty="0"/>
              <a:t/>
            </a:r>
            <a:br>
              <a:rPr lang="en-US" dirty="0"/>
            </a:br>
            <a:endParaRPr lang="en-US" dirty="0"/>
          </a:p>
        </p:txBody>
      </p:sp>
    </p:spTree>
    <p:extLst>
      <p:ext uri="{BB962C8B-B14F-4D97-AF65-F5344CB8AC3E}">
        <p14:creationId xmlns:p14="http://schemas.microsoft.com/office/powerpoint/2010/main" val="19303448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 Engineering</a:t>
            </a:r>
            <a:endParaRPr lang="en-US" dirty="0"/>
          </a:p>
        </p:txBody>
      </p:sp>
      <p:sp>
        <p:nvSpPr>
          <p:cNvPr id="3" name="Content Placeholder 2"/>
          <p:cNvSpPr>
            <a:spLocks noGrp="1"/>
          </p:cNvSpPr>
          <p:nvPr>
            <p:ph sz="quarter" idx="13"/>
          </p:nvPr>
        </p:nvSpPr>
        <p:spPr>
          <a:xfrm>
            <a:off x="1221782" y="2367092"/>
            <a:ext cx="10363826" cy="3424107"/>
          </a:xfrm>
        </p:spPr>
        <p:txBody>
          <a:bodyPr>
            <a:normAutofit fontScale="92500"/>
          </a:bodyPr>
          <a:lstStyle/>
          <a:p>
            <a:r>
              <a:rPr lang="en-US" dirty="0"/>
              <a:t>Requirement Engineering (RE) is the process of </a:t>
            </a:r>
            <a:r>
              <a:rPr lang="en-US" b="1" dirty="0"/>
              <a:t>gathering, documenting, and managing software requirements</a:t>
            </a:r>
            <a:r>
              <a:rPr lang="en-US" dirty="0"/>
              <a:t> to ensure the final system meets user needs.</a:t>
            </a:r>
          </a:p>
          <a:p>
            <a:r>
              <a:rPr lang="en-US" b="1" dirty="0" smtClean="0"/>
              <a:t>Example</a:t>
            </a:r>
            <a:r>
              <a:rPr lang="en-US" b="1" dirty="0"/>
              <a:t>:</a:t>
            </a:r>
            <a:r>
              <a:rPr lang="en-US" dirty="0"/>
              <a:t/>
            </a:r>
            <a:br>
              <a:rPr lang="en-US" dirty="0"/>
            </a:br>
            <a:r>
              <a:rPr lang="en-US" dirty="0"/>
              <a:t>A company wants to build a </a:t>
            </a:r>
            <a:r>
              <a:rPr lang="en-US" b="1" dirty="0"/>
              <a:t>food delivery app</a:t>
            </a:r>
            <a:r>
              <a:rPr lang="en-US" dirty="0"/>
              <a:t>. The requirement engineering process will identify features like:</a:t>
            </a:r>
          </a:p>
          <a:p>
            <a:pPr lvl="0"/>
            <a:r>
              <a:rPr lang="en-US" dirty="0"/>
              <a:t>Order food from restaurants.</a:t>
            </a:r>
          </a:p>
          <a:p>
            <a:pPr lvl="0"/>
            <a:r>
              <a:rPr lang="en-US" dirty="0"/>
              <a:t>Real-time tracking of deliveries.</a:t>
            </a:r>
          </a:p>
          <a:p>
            <a:pPr lvl="0"/>
            <a:r>
              <a:rPr lang="en-US" dirty="0"/>
              <a:t>Secure online payment.</a:t>
            </a:r>
          </a:p>
        </p:txBody>
      </p:sp>
    </p:spTree>
    <p:extLst>
      <p:ext uri="{BB962C8B-B14F-4D97-AF65-F5344CB8AC3E}">
        <p14:creationId xmlns:p14="http://schemas.microsoft.com/office/powerpoint/2010/main" val="38584112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a Requirement?</a:t>
            </a:r>
          </a:p>
        </p:txBody>
      </p:sp>
      <p:sp>
        <p:nvSpPr>
          <p:cNvPr id="3" name="Content Placeholder 2"/>
          <p:cNvSpPr>
            <a:spLocks noGrp="1"/>
          </p:cNvSpPr>
          <p:nvPr>
            <p:ph idx="1"/>
          </p:nvPr>
        </p:nvSpPr>
        <p:spPr/>
        <p:txBody>
          <a:bodyPr/>
          <a:lstStyle/>
          <a:p>
            <a:r>
              <a:rPr dirty="0" smtClean="0"/>
              <a:t>Statement </a:t>
            </a:r>
            <a:r>
              <a:rPr dirty="0"/>
              <a:t>defining a system’s function, behavior, or constraint.</a:t>
            </a:r>
          </a:p>
          <a:p>
            <a:r>
              <a:rPr dirty="0"/>
              <a:t>Can be </a:t>
            </a:r>
            <a:r>
              <a:rPr dirty="0" smtClean="0"/>
              <a:t>high-level</a:t>
            </a:r>
            <a:r>
              <a:rPr lang="en-US" dirty="0" smtClean="0"/>
              <a:t>(general)</a:t>
            </a:r>
            <a:r>
              <a:rPr dirty="0" smtClean="0"/>
              <a:t> </a:t>
            </a:r>
            <a:r>
              <a:rPr dirty="0"/>
              <a:t>or detailed</a:t>
            </a:r>
            <a:r>
              <a:rPr dirty="0" smtClean="0"/>
              <a:t>.</a:t>
            </a:r>
            <a:endParaRPr dirty="0"/>
          </a:p>
          <a:p>
            <a:r>
              <a:rPr dirty="0"/>
              <a:t>Example:</a:t>
            </a:r>
          </a:p>
          <a:p>
            <a:r>
              <a:rPr dirty="0"/>
              <a:t>- 'The system shall allow users to log in using a username and password.'</a:t>
            </a:r>
          </a:p>
          <a:p>
            <a:r>
              <a:rPr dirty="0"/>
              <a:t>- 'The system should respond to user requests within 2 seconds.'</a:t>
            </a:r>
          </a:p>
        </p:txBody>
      </p:sp>
    </p:spTree>
    <p:extLst>
      <p:ext uri="{BB962C8B-B14F-4D97-AF65-F5344CB8AC3E}">
        <p14:creationId xmlns:p14="http://schemas.microsoft.com/office/powerpoint/2010/main" val="42130471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0711" y="330200"/>
            <a:ext cx="8607955" cy="1329267"/>
          </a:xfrm>
        </p:spPr>
        <p:txBody>
          <a:bodyPr>
            <a:normAutofit/>
          </a:bodyPr>
          <a:lstStyle/>
          <a:p>
            <a:r>
              <a:rPr lang="en-US" sz="3200" dirty="0"/>
              <a:t>Two Ways Requirements Are Used</a:t>
            </a:r>
          </a:p>
        </p:txBody>
      </p:sp>
      <p:sp>
        <p:nvSpPr>
          <p:cNvPr id="3" name="Content Placeholder 2"/>
          <p:cNvSpPr>
            <a:spLocks noGrp="1"/>
          </p:cNvSpPr>
          <p:nvPr>
            <p:ph idx="1"/>
          </p:nvPr>
        </p:nvSpPr>
        <p:spPr/>
        <p:txBody>
          <a:bodyPr>
            <a:normAutofit fontScale="85000" lnSpcReduction="10000"/>
          </a:bodyPr>
          <a:lstStyle/>
          <a:p>
            <a:r>
              <a:rPr lang="en-US" b="1" dirty="0"/>
              <a:t>For Selecting a Vendor (General Requirements)</a:t>
            </a:r>
            <a:endParaRPr lang="en-US" dirty="0"/>
          </a:p>
          <a:p>
            <a:r>
              <a:rPr lang="en-US" dirty="0"/>
              <a:t>When a company needs software but hasn’t chosen a developer yet, they write broad (general</a:t>
            </a:r>
            <a:r>
              <a:rPr lang="en-US" dirty="0" smtClean="0"/>
              <a:t>) requirements</a:t>
            </a:r>
            <a:r>
              <a:rPr lang="en-US" dirty="0"/>
              <a:t>.</a:t>
            </a:r>
          </a:p>
          <a:p>
            <a:r>
              <a:rPr lang="en-US" dirty="0"/>
              <a:t>These requirements should be </a:t>
            </a:r>
            <a:r>
              <a:rPr lang="en-US" b="1" dirty="0"/>
              <a:t>flexible</a:t>
            </a:r>
            <a:r>
              <a:rPr lang="en-US" dirty="0"/>
              <a:t> so multiple vendors can propose different solutions</a:t>
            </a:r>
            <a:r>
              <a:rPr lang="en-US" dirty="0" smtClean="0"/>
              <a:t>.</a:t>
            </a:r>
          </a:p>
          <a:p>
            <a:r>
              <a:rPr lang="en-US" b="1" dirty="0"/>
              <a:t>For Contract &amp; Development (Detailed Requirements)</a:t>
            </a:r>
            <a:endParaRPr lang="en-US" dirty="0"/>
          </a:p>
          <a:p>
            <a:r>
              <a:rPr lang="en-US" dirty="0"/>
              <a:t>Once a vendor is selected, requirements must be very </a:t>
            </a:r>
            <a:r>
              <a:rPr lang="en-US" b="1" dirty="0"/>
              <a:t>specific</a:t>
            </a:r>
            <a:r>
              <a:rPr lang="en-US" dirty="0"/>
              <a:t> and leave no room for confusion.</a:t>
            </a:r>
          </a:p>
          <a:p>
            <a:r>
              <a:rPr lang="en-US" dirty="0"/>
              <a:t>These requirements act as a contract between the client and the developer.</a:t>
            </a:r>
          </a:p>
          <a:p>
            <a:endParaRPr lang="en-US" dirty="0"/>
          </a:p>
        </p:txBody>
      </p:sp>
    </p:spTree>
    <p:extLst>
      <p:ext uri="{BB962C8B-B14F-4D97-AF65-F5344CB8AC3E}">
        <p14:creationId xmlns:p14="http://schemas.microsoft.com/office/powerpoint/2010/main" val="25803011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10267" y="135467"/>
            <a:ext cx="10481733" cy="6722533"/>
          </a:xfrm>
        </p:spPr>
        <p:txBody>
          <a:bodyPr>
            <a:noAutofit/>
          </a:bodyPr>
          <a:lstStyle/>
          <a:p>
            <a:pPr>
              <a:spcBef>
                <a:spcPts val="0"/>
              </a:spcBef>
              <a:spcAft>
                <a:spcPts val="0"/>
              </a:spcAft>
            </a:pPr>
            <a:r>
              <a:rPr lang="en-US" b="1" dirty="0"/>
              <a:t>Example </a:t>
            </a:r>
            <a:r>
              <a:rPr lang="en-US" b="1" dirty="0" smtClean="0"/>
              <a:t>: </a:t>
            </a:r>
            <a:r>
              <a:rPr lang="en-US" b="1" dirty="0"/>
              <a:t>Building a School Management System</a:t>
            </a:r>
          </a:p>
          <a:p>
            <a:pPr marL="0" indent="0">
              <a:spcBef>
                <a:spcPts val="0"/>
              </a:spcBef>
              <a:spcAft>
                <a:spcPts val="0"/>
              </a:spcAft>
              <a:buNone/>
            </a:pPr>
            <a:r>
              <a:rPr lang="en-US" b="1" dirty="0"/>
              <a:t>1. General Requirement (For Bidding, Open to Interpretation)</a:t>
            </a:r>
          </a:p>
          <a:p>
            <a:pPr>
              <a:spcBef>
                <a:spcPts val="0"/>
              </a:spcBef>
              <a:spcAft>
                <a:spcPts val="0"/>
              </a:spcAft>
            </a:pPr>
            <a:r>
              <a:rPr lang="en-US" dirty="0"/>
              <a:t>A school wants a </a:t>
            </a:r>
            <a:r>
              <a:rPr lang="en-US" b="1" dirty="0"/>
              <a:t>School Management System</a:t>
            </a:r>
            <a:r>
              <a:rPr lang="en-US" dirty="0"/>
              <a:t> but hasn’t chosen a software company yet.</a:t>
            </a:r>
          </a:p>
          <a:p>
            <a:pPr marL="0" indent="0">
              <a:spcBef>
                <a:spcPts val="0"/>
              </a:spcBef>
              <a:spcAft>
                <a:spcPts val="0"/>
              </a:spcAft>
              <a:buNone/>
            </a:pPr>
            <a:r>
              <a:rPr lang="en-US" dirty="0"/>
              <a:t>The requirement they write:</a:t>
            </a:r>
            <a:br>
              <a:rPr lang="en-US" dirty="0"/>
            </a:br>
            <a:r>
              <a:rPr lang="en-US" b="1" dirty="0"/>
              <a:t>"The system should allow teachers to manage student attendance and grades."</a:t>
            </a:r>
            <a:endParaRPr lang="en-US" dirty="0"/>
          </a:p>
          <a:p>
            <a:pPr>
              <a:spcBef>
                <a:spcPts val="0"/>
              </a:spcBef>
              <a:spcAft>
                <a:spcPts val="0"/>
              </a:spcAft>
            </a:pPr>
            <a:r>
              <a:rPr lang="en-US" dirty="0"/>
              <a:t>✅ This requirement is broad. Different vendors might propose different solutions:</a:t>
            </a:r>
          </a:p>
          <a:p>
            <a:pPr>
              <a:spcBef>
                <a:spcPts val="0"/>
              </a:spcBef>
              <a:spcAft>
                <a:spcPts val="0"/>
              </a:spcAft>
            </a:pPr>
            <a:r>
              <a:rPr lang="en-US" dirty="0"/>
              <a:t>One company may suggest </a:t>
            </a:r>
            <a:r>
              <a:rPr lang="en-US" b="1" dirty="0"/>
              <a:t>a web-based portal</a:t>
            </a:r>
            <a:r>
              <a:rPr lang="en-US" dirty="0"/>
              <a:t>.</a:t>
            </a:r>
          </a:p>
          <a:p>
            <a:pPr>
              <a:spcBef>
                <a:spcPts val="0"/>
              </a:spcBef>
              <a:spcAft>
                <a:spcPts val="0"/>
              </a:spcAft>
            </a:pPr>
            <a:r>
              <a:rPr lang="en-US" dirty="0"/>
              <a:t>Another may propose </a:t>
            </a:r>
            <a:r>
              <a:rPr lang="en-US" b="1" dirty="0"/>
              <a:t>a mobile app</a:t>
            </a:r>
            <a:r>
              <a:rPr lang="en-US" dirty="0"/>
              <a:t>.</a:t>
            </a:r>
          </a:p>
          <a:p>
            <a:pPr>
              <a:spcBef>
                <a:spcPts val="0"/>
              </a:spcBef>
              <a:spcAft>
                <a:spcPts val="0"/>
              </a:spcAft>
            </a:pPr>
            <a:r>
              <a:rPr lang="en-US" dirty="0"/>
              <a:t>A third company may offer </a:t>
            </a:r>
            <a:r>
              <a:rPr lang="en-US" b="1" dirty="0"/>
              <a:t>an automated biometric system</a:t>
            </a:r>
            <a:r>
              <a:rPr lang="en-US" dirty="0"/>
              <a:t> for attendance.</a:t>
            </a:r>
          </a:p>
          <a:p>
            <a:pPr marL="0" indent="0">
              <a:spcBef>
                <a:spcPts val="0"/>
              </a:spcBef>
              <a:spcAft>
                <a:spcPts val="0"/>
              </a:spcAft>
              <a:buNone/>
            </a:pPr>
            <a:r>
              <a:rPr lang="en-US" dirty="0"/>
              <a:t>❗ The school </a:t>
            </a:r>
            <a:r>
              <a:rPr lang="en-US" b="1" dirty="0"/>
              <a:t>does not</a:t>
            </a:r>
            <a:r>
              <a:rPr lang="en-US" dirty="0"/>
              <a:t> specify exactly how the system should work because they want different companies to suggest solutions.</a:t>
            </a:r>
          </a:p>
          <a:p>
            <a:pPr marL="0" indent="0">
              <a:spcBef>
                <a:spcPts val="0"/>
              </a:spcBef>
              <a:spcAft>
                <a:spcPts val="0"/>
              </a:spcAft>
              <a:buNone/>
            </a:pPr>
            <a:endParaRPr lang="en-US" dirty="0"/>
          </a:p>
        </p:txBody>
      </p:sp>
    </p:spTree>
    <p:extLst>
      <p:ext uri="{BB962C8B-B14F-4D97-AF65-F5344CB8AC3E}">
        <p14:creationId xmlns:p14="http://schemas.microsoft.com/office/powerpoint/2010/main" val="35735304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9466" y="541866"/>
            <a:ext cx="10532534" cy="5632311"/>
          </a:xfrm>
          <a:prstGeom prst="rect">
            <a:avLst/>
          </a:prstGeom>
        </p:spPr>
        <p:txBody>
          <a:bodyPr wrap="square">
            <a:spAutoFit/>
          </a:bodyPr>
          <a:lstStyle/>
          <a:p>
            <a:r>
              <a:rPr lang="en-US" sz="2400" b="1" dirty="0" smtClean="0"/>
              <a:t>2. Detailed </a:t>
            </a:r>
            <a:r>
              <a:rPr lang="en-US" sz="2400" b="1" dirty="0"/>
              <a:t>Requirement (For Contract, Specific &amp; Clear)</a:t>
            </a:r>
          </a:p>
          <a:p>
            <a:pPr>
              <a:spcBef>
                <a:spcPts val="0"/>
              </a:spcBef>
              <a:spcAft>
                <a:spcPts val="0"/>
              </a:spcAft>
            </a:pPr>
            <a:r>
              <a:rPr lang="en-US" sz="2400" dirty="0"/>
              <a:t>After selecting a vendor, the school needs to give detailed requirements to avoid misunderstandings.</a:t>
            </a:r>
          </a:p>
          <a:p>
            <a:r>
              <a:rPr lang="en-US" sz="2400" dirty="0"/>
              <a:t>Now, they write:</a:t>
            </a:r>
            <a:br>
              <a:rPr lang="en-US" sz="2400" dirty="0"/>
            </a:br>
            <a:r>
              <a:rPr lang="en-US" sz="2400" b="1" dirty="0"/>
              <a:t>"The system shall provide a web-based portal where teachers can log in using their school ID. The attendance page shall allow teachers to mark each student as 'Present', 'Absent', or 'Late'. A grading module shall allow teachers to enter marks out of 100, and the system shall calculate the percentage automatically."</a:t>
            </a:r>
            <a:endParaRPr lang="en-US" sz="2400" dirty="0"/>
          </a:p>
          <a:p>
            <a:pPr>
              <a:spcBef>
                <a:spcPts val="0"/>
              </a:spcBef>
              <a:spcAft>
                <a:spcPts val="0"/>
              </a:spcAft>
            </a:pPr>
            <a:r>
              <a:rPr lang="en-US" sz="2400" dirty="0"/>
              <a:t> This requirement is now very specific:</a:t>
            </a:r>
          </a:p>
          <a:p>
            <a:pPr>
              <a:spcBef>
                <a:spcPts val="0"/>
              </a:spcBef>
              <a:spcAft>
                <a:spcPts val="0"/>
              </a:spcAft>
            </a:pPr>
            <a:r>
              <a:rPr lang="en-US" sz="2400" dirty="0"/>
              <a:t>The system </a:t>
            </a:r>
            <a:r>
              <a:rPr lang="en-US" sz="2400" b="1" dirty="0"/>
              <a:t>must</a:t>
            </a:r>
            <a:r>
              <a:rPr lang="en-US" sz="2400" dirty="0"/>
              <a:t> be web-based.</a:t>
            </a:r>
          </a:p>
          <a:p>
            <a:pPr>
              <a:spcBef>
                <a:spcPts val="0"/>
              </a:spcBef>
              <a:spcAft>
                <a:spcPts val="0"/>
              </a:spcAft>
            </a:pPr>
            <a:r>
              <a:rPr lang="en-US" sz="2400" dirty="0"/>
              <a:t>Teachers </a:t>
            </a:r>
            <a:r>
              <a:rPr lang="en-US" sz="2400" b="1" dirty="0"/>
              <a:t>must</a:t>
            </a:r>
            <a:r>
              <a:rPr lang="en-US" sz="2400" dirty="0"/>
              <a:t> log in using school ID.</a:t>
            </a:r>
          </a:p>
          <a:p>
            <a:pPr>
              <a:spcBef>
                <a:spcPts val="0"/>
              </a:spcBef>
              <a:spcAft>
                <a:spcPts val="0"/>
              </a:spcAft>
            </a:pPr>
            <a:r>
              <a:rPr lang="en-US" sz="2400" dirty="0"/>
              <a:t>Attendance must include </a:t>
            </a:r>
            <a:r>
              <a:rPr lang="en-US" sz="2400" b="1" dirty="0"/>
              <a:t>three categories</a:t>
            </a:r>
            <a:r>
              <a:rPr lang="en-US" sz="2400" dirty="0"/>
              <a:t> (Present, Absent, Late).</a:t>
            </a:r>
          </a:p>
          <a:p>
            <a:pPr>
              <a:spcBef>
                <a:spcPts val="0"/>
              </a:spcBef>
              <a:spcAft>
                <a:spcPts val="0"/>
              </a:spcAft>
            </a:pPr>
            <a:r>
              <a:rPr lang="en-US" sz="2400" dirty="0"/>
              <a:t>Grading must include </a:t>
            </a:r>
            <a:r>
              <a:rPr lang="en-US" sz="2400" b="1" dirty="0"/>
              <a:t>automatic percentage calculation</a:t>
            </a:r>
            <a:r>
              <a:rPr lang="en-US" sz="2400" dirty="0"/>
              <a:t>.</a:t>
            </a:r>
          </a:p>
          <a:p>
            <a:pPr>
              <a:spcBef>
                <a:spcPts val="0"/>
              </a:spcBef>
              <a:spcAft>
                <a:spcPts val="0"/>
              </a:spcAft>
            </a:pPr>
            <a:r>
              <a:rPr lang="en-US" sz="2400" dirty="0"/>
              <a:t>💡 This ensures that the vendor </a:t>
            </a:r>
            <a:r>
              <a:rPr lang="en-US" sz="2400" b="1" dirty="0"/>
              <a:t>knows exactly what to build</a:t>
            </a:r>
            <a:r>
              <a:rPr lang="en-US" sz="2400" dirty="0"/>
              <a:t>.</a:t>
            </a:r>
          </a:p>
        </p:txBody>
      </p:sp>
    </p:spTree>
    <p:extLst>
      <p:ext uri="{BB962C8B-B14F-4D97-AF65-F5344CB8AC3E}">
        <p14:creationId xmlns:p14="http://schemas.microsoft.com/office/powerpoint/2010/main" val="19527949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Requirements Abstraction</a:t>
            </a:r>
            <a:r>
              <a:rPr lang="en-US" dirty="0"/>
              <a:t/>
            </a:r>
            <a:br>
              <a:rPr lang="en-US" dirty="0"/>
            </a:br>
            <a:endParaRPr lang="en-US" dirty="0"/>
          </a:p>
        </p:txBody>
      </p:sp>
      <p:sp>
        <p:nvSpPr>
          <p:cNvPr id="3" name="Content Placeholder 2"/>
          <p:cNvSpPr>
            <a:spLocks noGrp="1"/>
          </p:cNvSpPr>
          <p:nvPr>
            <p:ph sz="quarter" idx="13"/>
          </p:nvPr>
        </p:nvSpPr>
        <p:spPr>
          <a:xfrm>
            <a:off x="1484311" y="2096158"/>
            <a:ext cx="10626246" cy="4203042"/>
          </a:xfrm>
        </p:spPr>
        <p:txBody>
          <a:bodyPr>
            <a:normAutofit lnSpcReduction="10000"/>
          </a:bodyPr>
          <a:lstStyle/>
          <a:p>
            <a:r>
              <a:rPr lang="en-US" b="1" dirty="0"/>
              <a:t>Requirements abstraction</a:t>
            </a:r>
            <a:r>
              <a:rPr lang="en-US" dirty="0"/>
              <a:t> means that at the </a:t>
            </a:r>
            <a:r>
              <a:rPr lang="en-US" b="1" dirty="0"/>
              <a:t>start of a project</a:t>
            </a:r>
            <a:r>
              <a:rPr lang="en-US" dirty="0"/>
              <a:t>, requirements are written in a </a:t>
            </a:r>
            <a:r>
              <a:rPr lang="en-US" b="1" dirty="0"/>
              <a:t>broad and flexible</a:t>
            </a:r>
            <a:r>
              <a:rPr lang="en-US" dirty="0"/>
              <a:t> way. This allows different vendors (software companies) to propose their own solutions.</a:t>
            </a:r>
          </a:p>
          <a:p>
            <a:r>
              <a:rPr lang="en-US" dirty="0"/>
              <a:t>Once a vendor is </a:t>
            </a:r>
            <a:r>
              <a:rPr lang="en-US" b="1" dirty="0"/>
              <a:t>selected</a:t>
            </a:r>
            <a:r>
              <a:rPr lang="en-US" dirty="0"/>
              <a:t>, the requirements become </a:t>
            </a:r>
            <a:r>
              <a:rPr lang="en-US" b="1" dirty="0"/>
              <a:t>detailed and specific</a:t>
            </a:r>
            <a:r>
              <a:rPr lang="en-US" dirty="0"/>
              <a:t> so that there is no confusion about what the final software should do</a:t>
            </a:r>
            <a:r>
              <a:rPr lang="en-US" dirty="0" smtClean="0"/>
              <a:t>.</a:t>
            </a:r>
          </a:p>
          <a:p>
            <a:r>
              <a:rPr lang="en-US" b="1" dirty="0"/>
              <a:t>Why Is This Important?</a:t>
            </a:r>
          </a:p>
          <a:p>
            <a:r>
              <a:rPr lang="en-US" b="1" dirty="0"/>
              <a:t>Before selecting a vendor</a:t>
            </a:r>
            <a:r>
              <a:rPr lang="en-US" dirty="0"/>
              <a:t> → Requirements should be general so that multiple companies can bid with different approaches.</a:t>
            </a:r>
          </a:p>
          <a:p>
            <a:r>
              <a:rPr lang="en-US" b="1" dirty="0"/>
              <a:t>After selecting a vendor</a:t>
            </a:r>
            <a:r>
              <a:rPr lang="en-US" dirty="0"/>
              <a:t> → Requirements must be detailed so that the developer and client understand exactly what needs to be built.</a:t>
            </a:r>
          </a:p>
        </p:txBody>
      </p:sp>
    </p:spTree>
    <p:extLst>
      <p:ext uri="{BB962C8B-B14F-4D97-AF65-F5344CB8AC3E}">
        <p14:creationId xmlns:p14="http://schemas.microsoft.com/office/powerpoint/2010/main" val="36537406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1534" y="-202203"/>
            <a:ext cx="10018713" cy="1752599"/>
          </a:xfrm>
        </p:spPr>
        <p:txBody>
          <a:bodyPr/>
          <a:lstStyle/>
          <a:p>
            <a:r>
              <a:rPr dirty="0"/>
              <a:t>Types of Requirements</a:t>
            </a:r>
          </a:p>
        </p:txBody>
      </p:sp>
      <p:sp>
        <p:nvSpPr>
          <p:cNvPr id="3" name="Content Placeholder 2"/>
          <p:cNvSpPr>
            <a:spLocks noGrp="1"/>
          </p:cNvSpPr>
          <p:nvPr>
            <p:ph idx="1"/>
          </p:nvPr>
        </p:nvSpPr>
        <p:spPr>
          <a:xfrm>
            <a:off x="1681534" y="1676400"/>
            <a:ext cx="10510466" cy="5012267"/>
          </a:xfrm>
        </p:spPr>
        <p:txBody>
          <a:bodyPr>
            <a:normAutofit/>
          </a:bodyPr>
          <a:lstStyle/>
          <a:p>
            <a:r>
              <a:rPr sz="2600" b="1" dirty="0"/>
              <a:t>User Requirements: </a:t>
            </a:r>
            <a:endParaRPr lang="en-US" sz="2600" b="1" dirty="0" smtClean="0"/>
          </a:p>
          <a:p>
            <a:r>
              <a:rPr lang="en-US" sz="2600" dirty="0" smtClean="0"/>
              <a:t>These </a:t>
            </a:r>
            <a:r>
              <a:rPr lang="en-US" sz="2600" dirty="0"/>
              <a:t>are high-level statements describing what the system should do.</a:t>
            </a:r>
          </a:p>
          <a:p>
            <a:r>
              <a:rPr lang="en-US" sz="2600" dirty="0"/>
              <a:t>Written in </a:t>
            </a:r>
            <a:r>
              <a:rPr lang="en-US" sz="2600" b="1" dirty="0"/>
              <a:t>natural language</a:t>
            </a:r>
            <a:r>
              <a:rPr lang="en-US" sz="2600" dirty="0"/>
              <a:t> (easy to understand) with diagrams.</a:t>
            </a:r>
          </a:p>
          <a:p>
            <a:r>
              <a:rPr lang="en-US" sz="2600" dirty="0"/>
              <a:t>Focuses on the needs of the </a:t>
            </a:r>
            <a:r>
              <a:rPr lang="en-US" sz="2600" b="1" dirty="0"/>
              <a:t>end users</a:t>
            </a:r>
            <a:r>
              <a:rPr lang="en-US" sz="2600" dirty="0"/>
              <a:t> and stakeholders.</a:t>
            </a:r>
          </a:p>
          <a:p>
            <a:r>
              <a:rPr lang="en-US" sz="2600" dirty="0"/>
              <a:t>Helps </a:t>
            </a:r>
            <a:r>
              <a:rPr lang="en-US" sz="2600" b="1" dirty="0"/>
              <a:t>customers</a:t>
            </a:r>
            <a:r>
              <a:rPr lang="en-US" sz="2600" dirty="0"/>
              <a:t> understand the system’s purpose</a:t>
            </a:r>
            <a:r>
              <a:rPr lang="en-US" sz="2600" dirty="0" smtClean="0"/>
              <a:t>.</a:t>
            </a:r>
            <a:endParaRPr lang="en-US" sz="2600" b="1" dirty="0"/>
          </a:p>
          <a:p>
            <a:pPr marL="0" indent="0">
              <a:buNone/>
            </a:pPr>
            <a:r>
              <a:rPr sz="2600" dirty="0" smtClean="0"/>
              <a:t>Example</a:t>
            </a:r>
            <a:r>
              <a:rPr sz="2600" dirty="0"/>
              <a:t>: </a:t>
            </a:r>
            <a:endParaRPr lang="en-US" sz="2600" dirty="0"/>
          </a:p>
          <a:p>
            <a:pPr marL="0" indent="0">
              <a:buNone/>
            </a:pPr>
            <a:r>
              <a:rPr sz="2600" dirty="0" smtClean="0"/>
              <a:t>A </a:t>
            </a:r>
            <a:r>
              <a:rPr sz="2600" dirty="0"/>
              <a:t>user should be able to reset their password using a registered email address</a:t>
            </a:r>
            <a:r>
              <a:rPr sz="2600" dirty="0" smtClean="0"/>
              <a:t>.</a:t>
            </a:r>
            <a:endParaRPr lang="en-US" sz="2600" dirty="0" smtClean="0"/>
          </a:p>
          <a:p>
            <a:pPr marL="0" indent="0">
              <a:buNone/>
            </a:pPr>
            <a:r>
              <a:rPr lang="en-US" sz="2600" dirty="0"/>
              <a:t>A customer should be able to </a:t>
            </a:r>
            <a:r>
              <a:rPr lang="en-US" sz="2600" b="1" dirty="0"/>
              <a:t>order food online</a:t>
            </a:r>
            <a:r>
              <a:rPr lang="en-US" sz="2600" dirty="0"/>
              <a:t> from restaurants</a:t>
            </a:r>
            <a:r>
              <a:rPr lang="en-US" sz="2600" dirty="0" smtClean="0"/>
              <a:t>.</a:t>
            </a:r>
            <a:endParaRPr sz="2600" dirty="0"/>
          </a:p>
          <a:p>
            <a:endParaRPr sz="2600" dirty="0"/>
          </a:p>
        </p:txBody>
      </p:sp>
    </p:spTree>
    <p:extLst>
      <p:ext uri="{BB962C8B-B14F-4D97-AF65-F5344CB8AC3E}">
        <p14:creationId xmlns:p14="http://schemas.microsoft.com/office/powerpoint/2010/main" val="36232153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56267" y="812799"/>
            <a:ext cx="10447866" cy="5478423"/>
          </a:xfrm>
          <a:prstGeom prst="rect">
            <a:avLst/>
          </a:prstGeom>
        </p:spPr>
        <p:txBody>
          <a:bodyPr wrap="square">
            <a:spAutoFit/>
          </a:bodyPr>
          <a:lstStyle/>
          <a:p>
            <a:r>
              <a:rPr lang="en-US" sz="2800" b="1" dirty="0" smtClean="0"/>
              <a:t>System </a:t>
            </a:r>
            <a:r>
              <a:rPr lang="en-US" sz="2800" b="1" dirty="0"/>
              <a:t>Requirements</a:t>
            </a:r>
            <a:endParaRPr lang="en-US" sz="2800" dirty="0"/>
          </a:p>
          <a:p>
            <a:pPr marL="457200" indent="-457200">
              <a:buClr>
                <a:srgbClr val="0070C0"/>
              </a:buClr>
              <a:buFont typeface="Arial" panose="020B0604020202020204" pitchFamily="34" charset="0"/>
              <a:buChar char="•"/>
            </a:pPr>
            <a:r>
              <a:rPr lang="en-US" sz="2800" dirty="0"/>
              <a:t>A more </a:t>
            </a:r>
            <a:r>
              <a:rPr lang="en-US" sz="2800" b="1" dirty="0"/>
              <a:t>detailed, structured</a:t>
            </a:r>
            <a:r>
              <a:rPr lang="en-US" sz="2800" dirty="0"/>
              <a:t> document describing system functions, services, and </a:t>
            </a:r>
            <a:r>
              <a:rPr lang="en-US" sz="2800" dirty="0" smtClean="0"/>
              <a:t>constraints.</a:t>
            </a:r>
          </a:p>
          <a:p>
            <a:pPr marL="457200" indent="-457200">
              <a:buClr>
                <a:srgbClr val="0070C0"/>
              </a:buClr>
              <a:buFont typeface="Arial" panose="020B0604020202020204" pitchFamily="34" charset="0"/>
              <a:buChar char="•"/>
            </a:pPr>
            <a:r>
              <a:rPr lang="en-US" sz="2800" dirty="0" smtClean="0"/>
              <a:t>Defines </a:t>
            </a:r>
            <a:r>
              <a:rPr lang="en-US" sz="2800" b="1" dirty="0"/>
              <a:t>what should be implemented</a:t>
            </a:r>
            <a:r>
              <a:rPr lang="en-US" sz="2800" dirty="0"/>
              <a:t> in a precise </a:t>
            </a:r>
            <a:r>
              <a:rPr lang="en-US" sz="2800" dirty="0" smtClean="0"/>
              <a:t>way.</a:t>
            </a:r>
          </a:p>
          <a:p>
            <a:pPr marL="457200" indent="-457200">
              <a:buClr>
                <a:srgbClr val="0070C0"/>
              </a:buClr>
              <a:buFont typeface="Arial" panose="020B0604020202020204" pitchFamily="34" charset="0"/>
              <a:buChar char="•"/>
            </a:pPr>
            <a:r>
              <a:rPr lang="en-US" sz="2800" dirty="0" smtClean="0"/>
              <a:t>May </a:t>
            </a:r>
            <a:r>
              <a:rPr lang="en-US" sz="2800" dirty="0"/>
              <a:t>be used as part of a </a:t>
            </a:r>
            <a:r>
              <a:rPr lang="en-US" sz="2800" b="1" dirty="0"/>
              <a:t>contract</a:t>
            </a:r>
            <a:r>
              <a:rPr lang="en-US" sz="2800" dirty="0"/>
              <a:t> between the client and the software development team.</a:t>
            </a:r>
          </a:p>
          <a:p>
            <a:r>
              <a:rPr lang="en-US" sz="2600" dirty="0" smtClean="0"/>
              <a:t>Example</a:t>
            </a:r>
            <a:r>
              <a:rPr lang="en-US" sz="2600" dirty="0"/>
              <a:t>: </a:t>
            </a:r>
          </a:p>
          <a:p>
            <a:r>
              <a:rPr lang="en-US" sz="2600" dirty="0" smtClean="0"/>
              <a:t>The system shall send a password reset link to the user’s registered email when they request a reset.</a:t>
            </a:r>
          </a:p>
          <a:p>
            <a:r>
              <a:rPr lang="en-US" sz="2600" dirty="0" smtClean="0"/>
              <a:t>The search function shall return results within 2 seconds for a database of up to 1 million products.</a:t>
            </a:r>
          </a:p>
          <a:p>
            <a:r>
              <a:rPr lang="en-US" sz="2600" dirty="0" smtClean="0"/>
              <a:t>The </a:t>
            </a:r>
            <a:r>
              <a:rPr lang="en-US" sz="2600" dirty="0"/>
              <a:t>system shall provide an </a:t>
            </a:r>
            <a:r>
              <a:rPr lang="en-US" sz="2600" b="1" dirty="0"/>
              <a:t>order tracking feature</a:t>
            </a:r>
            <a:r>
              <a:rPr lang="en-US" sz="2600" dirty="0"/>
              <a:t>.</a:t>
            </a:r>
          </a:p>
          <a:p>
            <a:endParaRPr lang="en-US" sz="2600" dirty="0"/>
          </a:p>
        </p:txBody>
      </p:sp>
    </p:spTree>
    <p:extLst>
      <p:ext uri="{BB962C8B-B14F-4D97-AF65-F5344CB8AC3E}">
        <p14:creationId xmlns:p14="http://schemas.microsoft.com/office/powerpoint/2010/main" val="13420762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0"/>
            <a:ext cx="10018713" cy="1752599"/>
          </a:xfrm>
        </p:spPr>
        <p:txBody>
          <a:bodyPr>
            <a:normAutofit/>
          </a:bodyPr>
          <a:lstStyle/>
          <a:p>
            <a:r>
              <a:rPr lang="en-US" sz="2800" b="1" dirty="0"/>
              <a:t>Functional and Non-Functional Requirements</a:t>
            </a:r>
            <a:endParaRPr lang="en-US" sz="2800" dirty="0"/>
          </a:p>
        </p:txBody>
      </p:sp>
      <p:sp>
        <p:nvSpPr>
          <p:cNvPr id="3" name="Content Placeholder 2"/>
          <p:cNvSpPr>
            <a:spLocks noGrp="1"/>
          </p:cNvSpPr>
          <p:nvPr>
            <p:ph sz="quarter" idx="13"/>
          </p:nvPr>
        </p:nvSpPr>
        <p:spPr>
          <a:xfrm>
            <a:off x="1721378" y="1613285"/>
            <a:ext cx="10470622" cy="5244715"/>
          </a:xfrm>
        </p:spPr>
        <p:txBody>
          <a:bodyPr>
            <a:normAutofit/>
          </a:bodyPr>
          <a:lstStyle/>
          <a:p>
            <a:r>
              <a:rPr lang="en-US" b="1" dirty="0">
                <a:latin typeface="Times New Roman" panose="02020603050405020304" pitchFamily="18" charset="0"/>
                <a:cs typeface="Times New Roman" panose="02020603050405020304" pitchFamily="18" charset="0"/>
              </a:rPr>
              <a:t>Functional Requirements</a:t>
            </a:r>
          </a:p>
          <a:p>
            <a:pPr marL="0" indent="0">
              <a:buNone/>
            </a:pPr>
            <a:r>
              <a:rPr lang="en-US" dirty="0">
                <a:latin typeface="Times New Roman" panose="02020603050405020304" pitchFamily="18" charset="0"/>
                <a:cs typeface="Times New Roman" panose="02020603050405020304" pitchFamily="18" charset="0"/>
              </a:rPr>
              <a:t>These define </a:t>
            </a:r>
            <a:r>
              <a:rPr lang="en-US" b="1" dirty="0">
                <a:latin typeface="Times New Roman" panose="02020603050405020304" pitchFamily="18" charset="0"/>
                <a:cs typeface="Times New Roman" panose="02020603050405020304" pitchFamily="18" charset="0"/>
              </a:rPr>
              <a:t>what a system must do</a:t>
            </a:r>
            <a:r>
              <a:rPr lang="en-US" dirty="0">
                <a:latin typeface="Times New Roman" panose="02020603050405020304" pitchFamily="18" charset="0"/>
                <a:cs typeface="Times New Roman" panose="02020603050405020304" pitchFamily="18" charset="0"/>
              </a:rPr>
              <a:t>—its functions and features</a:t>
            </a:r>
            <a:r>
              <a:rPr lang="en-US" dirty="0" smtClean="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Describe functionality or system </a:t>
            </a:r>
            <a:r>
              <a:rPr lang="en-US" dirty="0" smtClean="0">
                <a:latin typeface="Times New Roman" panose="02020603050405020304" pitchFamily="18" charset="0"/>
                <a:cs typeface="Times New Roman" panose="02020603050405020304" pitchFamily="18" charset="0"/>
              </a:rPr>
              <a:t>services, its </a:t>
            </a:r>
            <a:r>
              <a:rPr lang="en-US" dirty="0">
                <a:latin typeface="Times New Roman" panose="02020603050405020304" pitchFamily="18" charset="0"/>
                <a:cs typeface="Times New Roman" panose="02020603050405020304" pitchFamily="18" charset="0"/>
              </a:rPr>
              <a:t>inputs and outputs, exceptions, etc., in detail.</a:t>
            </a:r>
            <a:endParaRPr lang="en-US" dirty="0"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Non-Functional Requirements</a:t>
            </a:r>
            <a:endParaRPr lang="en-US" dirty="0" smtClean="0">
              <a:latin typeface="Times New Roman" panose="02020603050405020304" pitchFamily="18" charset="0"/>
              <a:cs typeface="Times New Roman" panose="02020603050405020304" pitchFamily="18" charset="0"/>
            </a:endParaRPr>
          </a:p>
          <a:p>
            <a:pPr marL="0" lvl="0" indent="0" defTabSz="914400" eaLnBrk="0" fontAlgn="base" hangingPunct="0">
              <a:spcBef>
                <a:spcPct val="0"/>
              </a:spcBef>
              <a:spcAft>
                <a:spcPct val="0"/>
              </a:spcAft>
              <a:buClrTx/>
              <a:buSzTx/>
              <a:buFontTx/>
              <a:buChar char="•"/>
            </a:pPr>
            <a:r>
              <a:rPr lang="en-US" dirty="0" smtClean="0">
                <a:latin typeface="Times New Roman" panose="02020603050405020304" pitchFamily="18" charset="0"/>
                <a:cs typeface="Times New Roman" panose="02020603050405020304" pitchFamily="18" charset="0"/>
              </a:rPr>
              <a:t>These </a:t>
            </a:r>
            <a:r>
              <a:rPr lang="en-US" dirty="0">
                <a:latin typeface="Times New Roman" panose="02020603050405020304" pitchFamily="18" charset="0"/>
                <a:cs typeface="Times New Roman" panose="02020603050405020304" pitchFamily="18" charset="0"/>
              </a:rPr>
              <a:t>define </a:t>
            </a:r>
            <a:r>
              <a:rPr lang="en-US" b="1" dirty="0">
                <a:latin typeface="Times New Roman" panose="02020603050405020304" pitchFamily="18" charset="0"/>
                <a:cs typeface="Times New Roman" panose="02020603050405020304" pitchFamily="18" charset="0"/>
              </a:rPr>
              <a:t>how the system should behave</a:t>
            </a:r>
            <a:r>
              <a:rPr lang="en-US" dirty="0">
                <a:latin typeface="Times New Roman" panose="02020603050405020304" pitchFamily="18" charset="0"/>
                <a:cs typeface="Times New Roman" panose="02020603050405020304" pitchFamily="18" charset="0"/>
              </a:rPr>
              <a:t>, including constraints </a:t>
            </a:r>
            <a:r>
              <a:rPr lang="en-US" dirty="0" smtClean="0">
                <a:latin typeface="Times New Roman" panose="02020603050405020304" pitchFamily="18" charset="0"/>
                <a:cs typeface="Times New Roman" panose="02020603050405020304" pitchFamily="18" charset="0"/>
              </a:rPr>
              <a:t> </a:t>
            </a:r>
          </a:p>
          <a:p>
            <a:pPr marL="0" lvl="0" indent="0" defTabSz="914400" eaLnBrk="0" fontAlgn="base" hangingPunct="0">
              <a:spcBef>
                <a:spcPct val="0"/>
              </a:spcBef>
              <a:spcAft>
                <a:spcPct val="0"/>
              </a:spcAft>
              <a:buClrTx/>
              <a:buSzTx/>
              <a:buFontTx/>
              <a:buChar char="•"/>
            </a:pPr>
            <a:r>
              <a:rPr lang="en-US" b="1" dirty="0" smtClean="0">
                <a:latin typeface="Times New Roman" panose="02020603050405020304" pitchFamily="18" charset="0"/>
                <a:cs typeface="Times New Roman" panose="02020603050405020304" pitchFamily="18" charset="0"/>
              </a:rPr>
              <a:t>S</a:t>
            </a:r>
            <a:r>
              <a:rPr lang="en-US" b="1" dirty="0" smtClean="0">
                <a:latin typeface="Times New Roman" panose="02020603050405020304" pitchFamily="18" charset="0"/>
                <a:cs typeface="Times New Roman" panose="02020603050405020304" pitchFamily="18" charset="0"/>
              </a:rPr>
              <a:t>ecurity</a:t>
            </a:r>
          </a:p>
          <a:p>
            <a:pPr marL="0" lvl="0" indent="0" defTabSz="914400" eaLnBrk="0" fontAlgn="base" hangingPunct="0">
              <a:spcBef>
                <a:spcPct val="0"/>
              </a:spcBef>
              <a:spcAft>
                <a:spcPct val="0"/>
              </a:spcAft>
              <a:buClrTx/>
              <a:buSzTx/>
              <a:buFontTx/>
              <a:buChar char="•"/>
            </a:pPr>
            <a:r>
              <a:rPr lang="en-US" b="1" dirty="0" smtClean="0">
                <a:latin typeface="Times New Roman" panose="02020603050405020304" pitchFamily="18" charset="0"/>
                <a:cs typeface="Times New Roman" panose="02020603050405020304" pitchFamily="18" charset="0"/>
              </a:rPr>
              <a:t>Usability</a:t>
            </a:r>
          </a:p>
          <a:p>
            <a:pPr marL="0" lvl="0" indent="0" defTabSz="914400" eaLnBrk="0" fontAlgn="base" hangingPunct="0">
              <a:spcBef>
                <a:spcPct val="0"/>
              </a:spcBef>
              <a:spcAft>
                <a:spcPct val="0"/>
              </a:spcAft>
              <a:buClrTx/>
              <a:buSzTx/>
              <a:buFontTx/>
              <a:buChar char="•"/>
            </a:pPr>
            <a:r>
              <a:rPr lang="en-US" b="1" dirty="0" smtClean="0">
                <a:latin typeface="Times New Roman" panose="02020603050405020304" pitchFamily="18" charset="0"/>
                <a:cs typeface="Times New Roman" panose="02020603050405020304" pitchFamily="18" charset="0"/>
              </a:rPr>
              <a:t>P</a:t>
            </a:r>
            <a:r>
              <a:rPr lang="en-US" b="1" dirty="0" smtClean="0">
                <a:latin typeface="Times New Roman" panose="02020603050405020304" pitchFamily="18" charset="0"/>
                <a:cs typeface="Times New Roman" panose="02020603050405020304" pitchFamily="18" charset="0"/>
              </a:rPr>
              <a:t>erformance</a:t>
            </a:r>
          </a:p>
          <a:p>
            <a:pPr marL="0" lvl="0" indent="0" defTabSz="914400" eaLnBrk="0" fontAlgn="base" hangingPunct="0">
              <a:spcBef>
                <a:spcPct val="0"/>
              </a:spcBef>
              <a:spcAft>
                <a:spcPct val="0"/>
              </a:spcAft>
              <a:buClrTx/>
              <a:buSzTx/>
              <a:buFontTx/>
              <a:buChar char="•"/>
            </a:pPr>
            <a:r>
              <a:rPr lang="en-US" altLang="en-US" b="1" dirty="0" smtClean="0">
                <a:latin typeface="Times New Roman" panose="02020603050405020304" pitchFamily="18" charset="0"/>
                <a:cs typeface="Times New Roman" panose="02020603050405020304" pitchFamily="18" charset="0"/>
              </a:rPr>
              <a:t>Availability</a:t>
            </a:r>
          </a:p>
          <a:p>
            <a:pPr marL="0" lvl="0" indent="0" defTabSz="914400" eaLnBrk="0" fontAlgn="base" hangingPunct="0">
              <a:spcBef>
                <a:spcPct val="0"/>
              </a:spcBef>
              <a:spcAft>
                <a:spcPct val="0"/>
              </a:spcAft>
              <a:buClrTx/>
              <a:buSzTx/>
              <a:buFontTx/>
              <a:buChar char="•"/>
            </a:pPr>
            <a:r>
              <a:rPr lang="en-US" altLang="en-US" b="1" dirty="0" smtClean="0">
                <a:latin typeface="Times New Roman" panose="02020603050405020304" pitchFamily="18" charset="0"/>
                <a:cs typeface="Times New Roman" panose="02020603050405020304" pitchFamily="18" charset="0"/>
              </a:rPr>
              <a:t>Scalability</a:t>
            </a:r>
            <a:endParaRPr lang="en-US" b="1"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0307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8473" y="244641"/>
            <a:ext cx="11014364" cy="6555641"/>
          </a:xfrm>
          <a:prstGeom prst="rect">
            <a:avLst/>
          </a:prstGeom>
        </p:spPr>
        <p:txBody>
          <a:bodyPr wrap="square">
            <a:spAutoFit/>
          </a:bodyPr>
          <a:lstStyle/>
          <a:p>
            <a:pPr>
              <a:lnSpc>
                <a:spcPct val="150000"/>
              </a:lnSpc>
            </a:pPr>
            <a:r>
              <a:rPr lang="en-US" sz="2400" dirty="0" smtClean="0"/>
              <a:t>Example: </a:t>
            </a:r>
            <a:r>
              <a:rPr lang="en-US" sz="2400" b="1" dirty="0" smtClean="0"/>
              <a:t>mobile </a:t>
            </a:r>
            <a:r>
              <a:rPr lang="en-US" sz="2400" b="1" dirty="0"/>
              <a:t>banking app</a:t>
            </a:r>
            <a:r>
              <a:rPr lang="en-US" sz="2400" dirty="0"/>
              <a:t> </a:t>
            </a:r>
          </a:p>
          <a:p>
            <a:r>
              <a:rPr lang="en-US" sz="2400" b="1" dirty="0"/>
              <a:t>1. Functional Requirements </a:t>
            </a:r>
            <a:r>
              <a:rPr lang="en-US" sz="2400" b="1" dirty="0" smtClean="0"/>
              <a:t>(what </a:t>
            </a:r>
            <a:r>
              <a:rPr lang="en-US" sz="2400" b="1" dirty="0"/>
              <a:t>the system must do</a:t>
            </a:r>
            <a:r>
              <a:rPr lang="en-US" sz="2400" dirty="0"/>
              <a:t>—its </a:t>
            </a:r>
            <a:r>
              <a:rPr lang="en-US" sz="2400" b="1" dirty="0"/>
              <a:t>features and </a:t>
            </a:r>
            <a:r>
              <a:rPr lang="en-US" sz="2400" b="1" dirty="0" smtClean="0"/>
              <a:t>functions)</a:t>
            </a:r>
            <a:r>
              <a:rPr lang="en-US" sz="2400" dirty="0" smtClean="0"/>
              <a:t>.</a:t>
            </a:r>
            <a:r>
              <a:rPr lang="en-US" sz="2400" dirty="0"/>
              <a:t/>
            </a:r>
            <a:br>
              <a:rPr lang="en-US" sz="2400" dirty="0"/>
            </a:br>
            <a:r>
              <a:rPr lang="en-US" sz="2400" i="1" dirty="0" smtClean="0"/>
              <a:t>The </a:t>
            </a:r>
            <a:r>
              <a:rPr lang="en-US" sz="2400" i="1" dirty="0"/>
              <a:t>user can log in using a username and password.</a:t>
            </a:r>
            <a:r>
              <a:rPr lang="en-US" sz="2400" dirty="0"/>
              <a:t/>
            </a:r>
            <a:br>
              <a:rPr lang="en-US" sz="2400" dirty="0"/>
            </a:br>
            <a:r>
              <a:rPr lang="en-US" sz="2400" i="1" dirty="0" smtClean="0"/>
              <a:t>The </a:t>
            </a:r>
            <a:r>
              <a:rPr lang="en-US" sz="2400" i="1" dirty="0"/>
              <a:t>app should allow users to transfer money to another account.</a:t>
            </a:r>
            <a:r>
              <a:rPr lang="en-US" sz="2400" dirty="0"/>
              <a:t/>
            </a:r>
            <a:br>
              <a:rPr lang="en-US" sz="2400" dirty="0"/>
            </a:br>
            <a:r>
              <a:rPr lang="en-US" sz="2400" i="1" dirty="0" smtClean="0"/>
              <a:t>Users </a:t>
            </a:r>
            <a:r>
              <a:rPr lang="en-US" sz="2400" i="1" dirty="0"/>
              <a:t>should receive a notification when they send or receive money.</a:t>
            </a:r>
            <a:endParaRPr lang="en-US" sz="2400" dirty="0"/>
          </a:p>
          <a:p>
            <a:r>
              <a:rPr lang="en-US" sz="2400" dirty="0" smtClean="0"/>
              <a:t> </a:t>
            </a:r>
            <a:r>
              <a:rPr lang="en-US" sz="2400" dirty="0"/>
              <a:t>Functional requirements are like a </a:t>
            </a:r>
            <a:r>
              <a:rPr lang="en-US" sz="2400" b="1" dirty="0"/>
              <a:t>"To-Do List"</a:t>
            </a:r>
            <a:r>
              <a:rPr lang="en-US" sz="2400" dirty="0"/>
              <a:t> for the system.</a:t>
            </a:r>
          </a:p>
          <a:p>
            <a:r>
              <a:rPr lang="en-US" sz="2400" b="1" dirty="0"/>
              <a:t>2. Non-Functional </a:t>
            </a:r>
            <a:r>
              <a:rPr lang="en-US" sz="2400" b="1" dirty="0" smtClean="0"/>
              <a:t>Requirements</a:t>
            </a:r>
            <a:r>
              <a:rPr lang="en-US" sz="2400" dirty="0" smtClean="0"/>
              <a:t> (</a:t>
            </a:r>
            <a:r>
              <a:rPr lang="en-US" sz="2400" b="1" dirty="0" smtClean="0"/>
              <a:t>rules </a:t>
            </a:r>
            <a:r>
              <a:rPr lang="en-US" sz="2400" b="1" dirty="0"/>
              <a:t>or constraints</a:t>
            </a:r>
            <a:r>
              <a:rPr lang="en-US" sz="2400" dirty="0"/>
              <a:t> about </a:t>
            </a:r>
            <a:r>
              <a:rPr lang="en-US" sz="2400" b="1" dirty="0"/>
              <a:t>how well</a:t>
            </a:r>
            <a:r>
              <a:rPr lang="en-US" sz="2400" dirty="0"/>
              <a:t> the system should </a:t>
            </a:r>
            <a:r>
              <a:rPr lang="en-US" sz="2400" dirty="0" smtClean="0"/>
              <a:t>work).</a:t>
            </a:r>
            <a:r>
              <a:rPr lang="en-US" sz="2400" dirty="0"/>
              <a:t/>
            </a:r>
            <a:br>
              <a:rPr lang="en-US" sz="2400" dirty="0"/>
            </a:br>
            <a:r>
              <a:rPr lang="en-US" sz="2400" b="1" dirty="0" smtClean="0"/>
              <a:t>Performance</a:t>
            </a:r>
            <a:r>
              <a:rPr lang="en-US" sz="2400" b="1" dirty="0"/>
              <a:t>:</a:t>
            </a:r>
            <a:r>
              <a:rPr lang="en-US" sz="2400" dirty="0"/>
              <a:t> </a:t>
            </a:r>
            <a:r>
              <a:rPr lang="en-US" sz="2400" i="1" dirty="0"/>
              <a:t>The app should load in less than 2 seconds.</a:t>
            </a:r>
            <a:r>
              <a:rPr lang="en-US" sz="2400" dirty="0"/>
              <a:t/>
            </a:r>
            <a:br>
              <a:rPr lang="en-US" sz="2400" dirty="0"/>
            </a:br>
            <a:r>
              <a:rPr lang="en-US" sz="2400" b="1" dirty="0" smtClean="0"/>
              <a:t>Security</a:t>
            </a:r>
            <a:r>
              <a:rPr lang="en-US" sz="2400" b="1" dirty="0"/>
              <a:t>:</a:t>
            </a:r>
            <a:r>
              <a:rPr lang="en-US" sz="2400" dirty="0"/>
              <a:t> </a:t>
            </a:r>
            <a:r>
              <a:rPr lang="en-US" sz="2400" i="1" dirty="0"/>
              <a:t>Users must verify their identity using fingerprint or OTP before transferring money.</a:t>
            </a:r>
            <a:r>
              <a:rPr lang="en-US" sz="2400" dirty="0"/>
              <a:t/>
            </a:r>
            <a:br>
              <a:rPr lang="en-US" sz="2400" dirty="0"/>
            </a:br>
            <a:r>
              <a:rPr lang="en-US" sz="2400" b="1" dirty="0" smtClean="0"/>
              <a:t>Usability</a:t>
            </a:r>
            <a:r>
              <a:rPr lang="en-US" sz="2400" b="1" dirty="0"/>
              <a:t>:</a:t>
            </a:r>
            <a:r>
              <a:rPr lang="en-US" sz="2400" dirty="0"/>
              <a:t> </a:t>
            </a:r>
            <a:r>
              <a:rPr lang="en-US" sz="2400" i="1" dirty="0"/>
              <a:t>The app should be easy to use, even for first-time users.</a:t>
            </a:r>
            <a:endParaRPr lang="en-US" sz="2400" dirty="0"/>
          </a:p>
          <a:p>
            <a:r>
              <a:rPr lang="en-US" sz="2400" dirty="0" smtClean="0"/>
              <a:t>Non-functional </a:t>
            </a:r>
            <a:r>
              <a:rPr lang="en-US" sz="2400" dirty="0"/>
              <a:t>requirements make sure the system is </a:t>
            </a:r>
            <a:r>
              <a:rPr lang="en-US" sz="2400" b="1" dirty="0"/>
              <a:t>fast, secure, and user-friendly</a:t>
            </a:r>
            <a:r>
              <a:rPr lang="en-US" sz="2400" dirty="0" smtClean="0"/>
              <a:t>.</a:t>
            </a:r>
            <a:endParaRPr lang="en-US" sz="2400" dirty="0" smtClean="0"/>
          </a:p>
          <a:p>
            <a:pPr lvl="0" defTabSz="914400" eaLnBrk="0" fontAlgn="base" hangingPunct="0">
              <a:spcBef>
                <a:spcPct val="0"/>
              </a:spcBef>
              <a:spcAft>
                <a:spcPct val="0"/>
              </a:spcAft>
            </a:pPr>
            <a:r>
              <a:rPr lang="en-US" altLang="en-US" sz="2400" b="1" dirty="0"/>
              <a:t>Availability:</a:t>
            </a:r>
            <a:r>
              <a:rPr lang="en-US" altLang="en-US" sz="2400" dirty="0"/>
              <a:t> The system should have at least 99.9% uptime.</a:t>
            </a:r>
          </a:p>
          <a:p>
            <a:pPr lvl="0" defTabSz="914400" eaLnBrk="0" fontAlgn="base" hangingPunct="0">
              <a:spcBef>
                <a:spcPct val="0"/>
              </a:spcBef>
              <a:spcAft>
                <a:spcPct val="0"/>
              </a:spcAft>
            </a:pPr>
            <a:r>
              <a:rPr lang="en-US" altLang="en-US" sz="2400" b="1" dirty="0"/>
              <a:t>Scalability:</a:t>
            </a:r>
            <a:r>
              <a:rPr lang="en-US" altLang="en-US" sz="2400" dirty="0"/>
              <a:t> The system should support a 20% increase in user load without performance degradation</a:t>
            </a:r>
          </a:p>
          <a:p>
            <a:endParaRPr lang="en-US" sz="2400" dirty="0" smtClean="0"/>
          </a:p>
        </p:txBody>
      </p:sp>
    </p:spTree>
    <p:extLst>
      <p:ext uri="{BB962C8B-B14F-4D97-AF65-F5344CB8AC3E}">
        <p14:creationId xmlns:p14="http://schemas.microsoft.com/office/powerpoint/2010/main" val="28255521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575734"/>
            <a:ext cx="9979024" cy="1862666"/>
          </a:xfrm>
        </p:spPr>
        <p:txBody>
          <a:bodyPr/>
          <a:lstStyle/>
          <a:p>
            <a:r>
              <a:rPr lang="en-US" b="1" dirty="0"/>
              <a:t>The Software Requirements Document (SRD)</a:t>
            </a:r>
            <a:endParaRPr lang="en-US" dirty="0"/>
          </a:p>
        </p:txBody>
      </p:sp>
      <p:sp>
        <p:nvSpPr>
          <p:cNvPr id="3" name="Content Placeholder 2"/>
          <p:cNvSpPr>
            <a:spLocks noGrp="1"/>
          </p:cNvSpPr>
          <p:nvPr>
            <p:ph sz="quarter" idx="13"/>
          </p:nvPr>
        </p:nvSpPr>
        <p:spPr>
          <a:xfrm>
            <a:off x="1667191" y="2059083"/>
            <a:ext cx="10191133" cy="4447595"/>
          </a:xfrm>
        </p:spPr>
        <p:txBody>
          <a:bodyPr>
            <a:normAutofit/>
          </a:bodyPr>
          <a:lstStyle/>
          <a:p>
            <a:pPr marL="0" indent="0">
              <a:buNone/>
            </a:pPr>
            <a:r>
              <a:rPr lang="en-US" sz="2800" dirty="0" smtClean="0"/>
              <a:t>An </a:t>
            </a:r>
            <a:r>
              <a:rPr lang="en-US" sz="2800" b="1" dirty="0"/>
              <a:t>SRD</a:t>
            </a:r>
            <a:r>
              <a:rPr lang="en-US" sz="2800" dirty="0"/>
              <a:t> is a document that describes </a:t>
            </a:r>
            <a:r>
              <a:rPr lang="en-US" sz="2800" b="1" dirty="0"/>
              <a:t>all the requirements</a:t>
            </a:r>
            <a:r>
              <a:rPr lang="en-US" sz="2800" dirty="0"/>
              <a:t> of a system in a </a:t>
            </a:r>
            <a:r>
              <a:rPr lang="en-US" sz="2800" b="1" dirty="0"/>
              <a:t>clear, structured, and detailed manner</a:t>
            </a:r>
            <a:r>
              <a:rPr lang="en-US" sz="2800" dirty="0"/>
              <a:t>. It serves as a </a:t>
            </a:r>
            <a:r>
              <a:rPr lang="en-US" sz="2800" b="1" dirty="0"/>
              <a:t>guide</a:t>
            </a:r>
            <a:r>
              <a:rPr lang="en-US" sz="2800" dirty="0"/>
              <a:t> for:</a:t>
            </a:r>
            <a:br>
              <a:rPr lang="en-US" sz="2800" dirty="0"/>
            </a:br>
            <a:r>
              <a:rPr lang="en-US" sz="2800" dirty="0" smtClean="0"/>
              <a:t> </a:t>
            </a:r>
            <a:r>
              <a:rPr lang="en-US" sz="2800" b="1" dirty="0"/>
              <a:t>Developers</a:t>
            </a:r>
            <a:r>
              <a:rPr lang="en-US" sz="2800" dirty="0"/>
              <a:t> (to build the system)</a:t>
            </a:r>
            <a:br>
              <a:rPr lang="en-US" sz="2800" dirty="0"/>
            </a:br>
            <a:r>
              <a:rPr lang="en-US" sz="2800" dirty="0" smtClean="0"/>
              <a:t> </a:t>
            </a:r>
            <a:r>
              <a:rPr lang="en-US" sz="2800" b="1" dirty="0"/>
              <a:t>Testers</a:t>
            </a:r>
            <a:r>
              <a:rPr lang="en-US" sz="2800" dirty="0"/>
              <a:t> (to check if the system works correctly)</a:t>
            </a:r>
            <a:br>
              <a:rPr lang="en-US" sz="2800" dirty="0"/>
            </a:br>
            <a:r>
              <a:rPr lang="en-US" sz="2800" dirty="0" smtClean="0"/>
              <a:t> </a:t>
            </a:r>
            <a:r>
              <a:rPr lang="en-US" sz="2800" b="1" dirty="0"/>
              <a:t>Stakeholders</a:t>
            </a:r>
            <a:r>
              <a:rPr lang="en-US" sz="2800" dirty="0"/>
              <a:t> (to ensure it meets business needs</a:t>
            </a:r>
            <a:r>
              <a:rPr lang="en-US" sz="2800" dirty="0" smtClean="0"/>
              <a:t>)</a:t>
            </a:r>
          </a:p>
        </p:txBody>
      </p:sp>
    </p:spTree>
    <p:extLst>
      <p:ext uri="{BB962C8B-B14F-4D97-AF65-F5344CB8AC3E}">
        <p14:creationId xmlns:p14="http://schemas.microsoft.com/office/powerpoint/2010/main" val="292161329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946772456"/>
              </p:ext>
            </p:extLst>
          </p:nvPr>
        </p:nvGraphicFramePr>
        <p:xfrm>
          <a:off x="254000" y="1507069"/>
          <a:ext cx="11633201" cy="5350931"/>
        </p:xfrm>
        <a:graphic>
          <a:graphicData uri="http://schemas.openxmlformats.org/drawingml/2006/table">
            <a:tbl>
              <a:tblPr>
                <a:tableStyleId>{D7AC3CCA-C797-4891-BE02-D94E43425B78}</a:tableStyleId>
              </a:tblPr>
              <a:tblGrid>
                <a:gridCol w="2552432">
                  <a:extLst>
                    <a:ext uri="{9D8B030D-6E8A-4147-A177-3AD203B41FA5}">
                      <a16:colId xmlns:a16="http://schemas.microsoft.com/office/drawing/2014/main" val="2986920711"/>
                    </a:ext>
                  </a:extLst>
                </a:gridCol>
                <a:gridCol w="2820749">
                  <a:extLst>
                    <a:ext uri="{9D8B030D-6E8A-4147-A177-3AD203B41FA5}">
                      <a16:colId xmlns:a16="http://schemas.microsoft.com/office/drawing/2014/main" val="2683612649"/>
                    </a:ext>
                  </a:extLst>
                </a:gridCol>
                <a:gridCol w="6260020">
                  <a:extLst>
                    <a:ext uri="{9D8B030D-6E8A-4147-A177-3AD203B41FA5}">
                      <a16:colId xmlns:a16="http://schemas.microsoft.com/office/drawing/2014/main" val="2321920275"/>
                    </a:ext>
                  </a:extLst>
                </a:gridCol>
              </a:tblGrid>
              <a:tr h="755373">
                <a:tc>
                  <a:txBody>
                    <a:bodyPr/>
                    <a:lstStyle/>
                    <a:p>
                      <a:r>
                        <a:rPr lang="en-US" sz="2000"/>
                        <a:t>Section</a:t>
                      </a:r>
                    </a:p>
                  </a:txBody>
                  <a:tcPr marL="65087" marR="65087" marT="32544" marB="32544" anchor="ctr"/>
                </a:tc>
                <a:tc>
                  <a:txBody>
                    <a:bodyPr/>
                    <a:lstStyle/>
                    <a:p>
                      <a:r>
                        <a:rPr lang="en-US" sz="2000"/>
                        <a:t>Description</a:t>
                      </a:r>
                    </a:p>
                  </a:txBody>
                  <a:tcPr marL="65087" marR="65087" marT="32544" marB="32544" anchor="ctr"/>
                </a:tc>
                <a:tc>
                  <a:txBody>
                    <a:bodyPr/>
                    <a:lstStyle/>
                    <a:p>
                      <a:r>
                        <a:rPr lang="en-US" sz="2000"/>
                        <a:t>Example (Hospital Management System)</a:t>
                      </a:r>
                    </a:p>
                  </a:txBody>
                  <a:tcPr marL="65087" marR="65087" marT="32544" marB="32544" anchor="ctr"/>
                </a:tc>
                <a:extLst>
                  <a:ext uri="{0D108BD9-81ED-4DB2-BD59-A6C34878D82A}">
                    <a16:rowId xmlns:a16="http://schemas.microsoft.com/office/drawing/2014/main" val="2961849334"/>
                  </a:ext>
                </a:extLst>
              </a:tr>
              <a:tr h="1079772">
                <a:tc>
                  <a:txBody>
                    <a:bodyPr/>
                    <a:lstStyle/>
                    <a:p>
                      <a:endParaRPr lang="en-US" sz="2000" dirty="0" smtClean="0"/>
                    </a:p>
                    <a:p>
                      <a:r>
                        <a:rPr lang="en-US" sz="2000" dirty="0" smtClean="0"/>
                        <a:t>1</a:t>
                      </a:r>
                      <a:r>
                        <a:rPr lang="en-US" sz="2000" dirty="0"/>
                        <a:t>. Introduction</a:t>
                      </a:r>
                    </a:p>
                  </a:txBody>
                  <a:tcPr marL="65087" marR="65087" marT="32544" marB="32544" anchor="ctr"/>
                </a:tc>
                <a:tc>
                  <a:txBody>
                    <a:bodyPr/>
                    <a:lstStyle/>
                    <a:p>
                      <a:r>
                        <a:rPr lang="en-US" sz="2000"/>
                        <a:t>Overview of the system, its purpose, and scope</a:t>
                      </a:r>
                    </a:p>
                  </a:txBody>
                  <a:tcPr marL="65087" marR="65087" marT="32544" marB="32544" anchor="ctr"/>
                </a:tc>
                <a:tc>
                  <a:txBody>
                    <a:bodyPr/>
                    <a:lstStyle/>
                    <a:p>
                      <a:r>
                        <a:rPr lang="en-US" sz="2000"/>
                        <a:t>A system for managing patient records, appointments, and billing</a:t>
                      </a:r>
                    </a:p>
                  </a:txBody>
                  <a:tcPr marL="65087" marR="65087" marT="32544" marB="32544" anchor="ctr"/>
                </a:tc>
                <a:extLst>
                  <a:ext uri="{0D108BD9-81ED-4DB2-BD59-A6C34878D82A}">
                    <a16:rowId xmlns:a16="http://schemas.microsoft.com/office/drawing/2014/main" val="1214998624"/>
                  </a:ext>
                </a:extLst>
              </a:tr>
              <a:tr h="755373">
                <a:tc>
                  <a:txBody>
                    <a:bodyPr/>
                    <a:lstStyle/>
                    <a:p>
                      <a:r>
                        <a:rPr lang="en-US" sz="2000"/>
                        <a:t>2. Functional Requirements</a:t>
                      </a:r>
                    </a:p>
                  </a:txBody>
                  <a:tcPr marL="65087" marR="65087" marT="32544" marB="32544" anchor="ctr"/>
                </a:tc>
                <a:tc>
                  <a:txBody>
                    <a:bodyPr/>
                    <a:lstStyle/>
                    <a:p>
                      <a:r>
                        <a:rPr lang="en-US" sz="2000"/>
                        <a:t>Features the system must have</a:t>
                      </a:r>
                    </a:p>
                  </a:txBody>
                  <a:tcPr marL="65087" marR="65087" marT="32544" marB="32544" anchor="ctr"/>
                </a:tc>
                <a:tc>
                  <a:txBody>
                    <a:bodyPr/>
                    <a:lstStyle/>
                    <a:p>
                      <a:r>
                        <a:rPr lang="en-US" sz="2000"/>
                        <a:t>"Doctors should be able to view patient history."</a:t>
                      </a:r>
                    </a:p>
                  </a:txBody>
                  <a:tcPr marL="65087" marR="65087" marT="32544" marB="32544" anchor="ctr"/>
                </a:tc>
                <a:extLst>
                  <a:ext uri="{0D108BD9-81ED-4DB2-BD59-A6C34878D82A}">
                    <a16:rowId xmlns:a16="http://schemas.microsoft.com/office/drawing/2014/main" val="585966036"/>
                  </a:ext>
                </a:extLst>
              </a:tr>
              <a:tr h="755373">
                <a:tc>
                  <a:txBody>
                    <a:bodyPr/>
                    <a:lstStyle/>
                    <a:p>
                      <a:r>
                        <a:rPr lang="en-US" sz="2000"/>
                        <a:t>3. Non-Functional Requirements</a:t>
                      </a:r>
                    </a:p>
                  </a:txBody>
                  <a:tcPr marL="65087" marR="65087" marT="32544" marB="32544" anchor="ctr"/>
                </a:tc>
                <a:tc>
                  <a:txBody>
                    <a:bodyPr/>
                    <a:lstStyle/>
                    <a:p>
                      <a:r>
                        <a:rPr lang="en-US" sz="2000"/>
                        <a:t>Performance, security, usability constraints</a:t>
                      </a:r>
                    </a:p>
                  </a:txBody>
                  <a:tcPr marL="65087" marR="65087" marT="32544" marB="32544" anchor="ctr"/>
                </a:tc>
                <a:tc>
                  <a:txBody>
                    <a:bodyPr/>
                    <a:lstStyle/>
                    <a:p>
                      <a:r>
                        <a:rPr lang="en-US" sz="2000"/>
                        <a:t>"The system must respond to requests within 2 seconds."</a:t>
                      </a:r>
                    </a:p>
                  </a:txBody>
                  <a:tcPr marL="65087" marR="65087" marT="32544" marB="32544" anchor="ctr"/>
                </a:tc>
                <a:extLst>
                  <a:ext uri="{0D108BD9-81ED-4DB2-BD59-A6C34878D82A}">
                    <a16:rowId xmlns:a16="http://schemas.microsoft.com/office/drawing/2014/main" val="64445671"/>
                  </a:ext>
                </a:extLst>
              </a:tr>
              <a:tr h="755373">
                <a:tc>
                  <a:txBody>
                    <a:bodyPr/>
                    <a:lstStyle/>
                    <a:p>
                      <a:r>
                        <a:rPr lang="en-US" sz="2000"/>
                        <a:t>4. User Requirements</a:t>
                      </a:r>
                    </a:p>
                  </a:txBody>
                  <a:tcPr marL="65087" marR="65087" marT="32544" marB="32544" anchor="ctr"/>
                </a:tc>
                <a:tc>
                  <a:txBody>
                    <a:bodyPr/>
                    <a:lstStyle/>
                    <a:p>
                      <a:r>
                        <a:rPr lang="en-US" sz="2000"/>
                        <a:t>What end-users expect</a:t>
                      </a:r>
                    </a:p>
                  </a:txBody>
                  <a:tcPr marL="65087" marR="65087" marT="32544" marB="32544" anchor="ctr"/>
                </a:tc>
                <a:tc>
                  <a:txBody>
                    <a:bodyPr/>
                    <a:lstStyle/>
                    <a:p>
                      <a:r>
                        <a:rPr lang="en-US" sz="2000"/>
                        <a:t>"Patients should be able to book appointments online."</a:t>
                      </a:r>
                    </a:p>
                  </a:txBody>
                  <a:tcPr marL="65087" marR="65087" marT="32544" marB="32544" anchor="ctr"/>
                </a:tc>
                <a:extLst>
                  <a:ext uri="{0D108BD9-81ED-4DB2-BD59-A6C34878D82A}">
                    <a16:rowId xmlns:a16="http://schemas.microsoft.com/office/drawing/2014/main" val="2075096036"/>
                  </a:ext>
                </a:extLst>
              </a:tr>
              <a:tr h="1249667">
                <a:tc>
                  <a:txBody>
                    <a:bodyPr/>
                    <a:lstStyle/>
                    <a:p>
                      <a:r>
                        <a:rPr lang="en-US" sz="2000"/>
                        <a:t>5. System Constraints</a:t>
                      </a:r>
                    </a:p>
                  </a:txBody>
                  <a:tcPr marL="65087" marR="65087" marT="32544" marB="32544" anchor="ctr"/>
                </a:tc>
                <a:tc>
                  <a:txBody>
                    <a:bodyPr/>
                    <a:lstStyle/>
                    <a:p>
                      <a:r>
                        <a:rPr lang="en-US" sz="2000"/>
                        <a:t>Limitations like budget, hardware, or regulatory requirements</a:t>
                      </a:r>
                    </a:p>
                  </a:txBody>
                  <a:tcPr marL="65087" marR="65087" marT="32544" marB="32544" anchor="ctr"/>
                </a:tc>
                <a:tc>
                  <a:txBody>
                    <a:bodyPr/>
                    <a:lstStyle/>
                    <a:p>
                      <a:r>
                        <a:rPr lang="en-US" sz="2000" dirty="0"/>
                        <a:t>"The system must work on Windows and Linux servers."</a:t>
                      </a:r>
                    </a:p>
                  </a:txBody>
                  <a:tcPr marL="65087" marR="65087" marT="32544" marB="32544" anchor="ctr"/>
                </a:tc>
                <a:extLst>
                  <a:ext uri="{0D108BD9-81ED-4DB2-BD59-A6C34878D82A}">
                    <a16:rowId xmlns:a16="http://schemas.microsoft.com/office/drawing/2014/main" val="4152007981"/>
                  </a:ext>
                </a:extLst>
              </a:tr>
            </a:tbl>
          </a:graphicData>
        </a:graphic>
      </p:graphicFrame>
      <p:sp>
        <p:nvSpPr>
          <p:cNvPr id="3" name="Rectangle 1"/>
          <p:cNvSpPr>
            <a:spLocks noChangeArrowheads="1"/>
          </p:cNvSpPr>
          <p:nvPr/>
        </p:nvSpPr>
        <p:spPr bwMode="auto">
          <a:xfrm>
            <a:off x="1606549" y="283892"/>
            <a:ext cx="809625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smtClean="0">
                <a:ln>
                  <a:noFill/>
                </a:ln>
                <a:solidFill>
                  <a:schemeClr val="tx1"/>
                </a:solidFill>
                <a:effectLst/>
                <a:latin typeface="Arial" panose="020B0604020202020204" pitchFamily="34" charset="0"/>
              </a:rPr>
              <a:t>Contents of an SRD (with Examples)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374153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Requirements Engineering Processes</a:t>
            </a:r>
            <a:r>
              <a:rPr lang="en-US" dirty="0"/>
              <a:t/>
            </a:r>
            <a:br>
              <a:rPr lang="en-US" dirty="0"/>
            </a:br>
            <a:endParaRPr lang="en-US" dirty="0"/>
          </a:p>
        </p:txBody>
      </p:sp>
      <p:sp>
        <p:nvSpPr>
          <p:cNvPr id="3" name="Content Placeholder 2"/>
          <p:cNvSpPr>
            <a:spLocks noGrp="1"/>
          </p:cNvSpPr>
          <p:nvPr>
            <p:ph sz="quarter" idx="13"/>
          </p:nvPr>
        </p:nvSpPr>
        <p:spPr>
          <a:xfrm>
            <a:off x="1884982" y="1868810"/>
            <a:ext cx="11098554" cy="4684296"/>
          </a:xfrm>
        </p:spPr>
        <p:txBody>
          <a:bodyPr>
            <a:normAutofit fontScale="92500" lnSpcReduction="20000"/>
          </a:bodyPr>
          <a:lstStyle/>
          <a:p>
            <a:r>
              <a:rPr lang="en-US" dirty="0" smtClean="0"/>
              <a:t>The </a:t>
            </a:r>
            <a:r>
              <a:rPr lang="en-US" dirty="0"/>
              <a:t>requirement engineering process consists of </a:t>
            </a:r>
            <a:r>
              <a:rPr lang="en-US" b="1" dirty="0"/>
              <a:t>four key steps:</a:t>
            </a:r>
            <a:endParaRPr lang="en-US" dirty="0"/>
          </a:p>
          <a:p>
            <a:pPr lvl="0"/>
            <a:r>
              <a:rPr lang="en-US" b="1" dirty="0"/>
              <a:t>Elicitation:</a:t>
            </a:r>
            <a:r>
              <a:rPr lang="en-US" dirty="0"/>
              <a:t> Collecting requirements from stakeholders.</a:t>
            </a:r>
          </a:p>
          <a:p>
            <a:pPr lvl="0"/>
            <a:r>
              <a:rPr lang="en-US" b="1" dirty="0"/>
              <a:t>Analysis:</a:t>
            </a:r>
            <a:r>
              <a:rPr lang="en-US" dirty="0"/>
              <a:t> Identifying conflicts and refining requirements.</a:t>
            </a:r>
          </a:p>
          <a:p>
            <a:pPr lvl="0"/>
            <a:r>
              <a:rPr lang="en-US" b="1" dirty="0"/>
              <a:t>Specification:</a:t>
            </a:r>
            <a:r>
              <a:rPr lang="en-US" dirty="0"/>
              <a:t> Documenting requirements clearly.</a:t>
            </a:r>
          </a:p>
          <a:p>
            <a:pPr lvl="0"/>
            <a:r>
              <a:rPr lang="en-US" b="1" dirty="0"/>
              <a:t>Validation:</a:t>
            </a:r>
            <a:r>
              <a:rPr lang="en-US" dirty="0"/>
              <a:t> Ensuring that requirements are correct.</a:t>
            </a:r>
          </a:p>
          <a:p>
            <a:pPr marL="0" indent="0">
              <a:buNone/>
            </a:pPr>
            <a:r>
              <a:rPr lang="en-US" dirty="0" smtClean="0"/>
              <a:t> </a:t>
            </a:r>
            <a:r>
              <a:rPr lang="en-US" b="1" dirty="0"/>
              <a:t>Example:</a:t>
            </a:r>
            <a:r>
              <a:rPr lang="en-US" dirty="0"/>
              <a:t/>
            </a:r>
            <a:br>
              <a:rPr lang="en-US" dirty="0"/>
            </a:br>
            <a:r>
              <a:rPr lang="en-US" dirty="0"/>
              <a:t>For a </a:t>
            </a:r>
            <a:r>
              <a:rPr lang="en-US" b="1" dirty="0"/>
              <a:t>hotel booking system</a:t>
            </a:r>
            <a:r>
              <a:rPr lang="en-US" dirty="0"/>
              <a:t>, requirement engineering involves:</a:t>
            </a:r>
          </a:p>
          <a:p>
            <a:pPr lvl="0"/>
            <a:r>
              <a:rPr lang="en-US" b="1" dirty="0"/>
              <a:t>Elicitation:</a:t>
            </a:r>
            <a:r>
              <a:rPr lang="en-US" dirty="0"/>
              <a:t> Asking hotel managers what features they need.</a:t>
            </a:r>
          </a:p>
          <a:p>
            <a:pPr lvl="0"/>
            <a:r>
              <a:rPr lang="en-US" b="1" dirty="0"/>
              <a:t>Analysis:</a:t>
            </a:r>
            <a:r>
              <a:rPr lang="en-US" dirty="0"/>
              <a:t> Checking if online and offline bookings can be integrated.</a:t>
            </a:r>
          </a:p>
          <a:p>
            <a:pPr lvl="0"/>
            <a:r>
              <a:rPr lang="en-US" b="1" dirty="0"/>
              <a:t>Specification:</a:t>
            </a:r>
            <a:r>
              <a:rPr lang="en-US" dirty="0"/>
              <a:t> Writing detailed documentation for developers.</a:t>
            </a:r>
          </a:p>
          <a:p>
            <a:r>
              <a:rPr lang="en-US" b="1" dirty="0"/>
              <a:t>Validation:</a:t>
            </a:r>
            <a:r>
              <a:rPr lang="en-US" dirty="0"/>
              <a:t> Confirming with the hotel staff that the system meets their needs.</a:t>
            </a:r>
          </a:p>
        </p:txBody>
      </p:sp>
    </p:spTree>
    <p:extLst>
      <p:ext uri="{BB962C8B-B14F-4D97-AF65-F5344CB8AC3E}">
        <p14:creationId xmlns:p14="http://schemas.microsoft.com/office/powerpoint/2010/main" val="3525890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9206" y="630766"/>
            <a:ext cx="10018713" cy="1752599"/>
          </a:xfrm>
        </p:spPr>
        <p:txBody>
          <a:bodyPr/>
          <a:lstStyle/>
          <a:p>
            <a:r>
              <a:rPr lang="en-US" b="1" dirty="0"/>
              <a:t>Requirements </a:t>
            </a:r>
            <a:r>
              <a:rPr lang="en-US" b="1" dirty="0" smtClean="0"/>
              <a:t>Elicitation</a:t>
            </a:r>
            <a:r>
              <a:rPr lang="en-US" dirty="0"/>
              <a:t/>
            </a:r>
            <a:br>
              <a:rPr lang="en-US" dirty="0"/>
            </a:br>
            <a:endParaRPr lang="en-US" dirty="0"/>
          </a:p>
        </p:txBody>
      </p:sp>
      <p:sp>
        <p:nvSpPr>
          <p:cNvPr id="3" name="Content Placeholder 2"/>
          <p:cNvSpPr>
            <a:spLocks noGrp="1"/>
          </p:cNvSpPr>
          <p:nvPr>
            <p:ph sz="quarter" idx="13"/>
          </p:nvPr>
        </p:nvSpPr>
        <p:spPr>
          <a:xfrm>
            <a:off x="1249206" y="1507065"/>
            <a:ext cx="10942794" cy="5702077"/>
          </a:xfrm>
        </p:spPr>
        <p:txBody>
          <a:bodyPr>
            <a:noAutofit/>
          </a:bodyPr>
          <a:lstStyle/>
          <a:p>
            <a:pPr>
              <a:spcBef>
                <a:spcPts val="0"/>
              </a:spcBef>
              <a:spcAft>
                <a:spcPts val="0"/>
              </a:spcAft>
              <a:buClr>
                <a:srgbClr val="0070C0"/>
              </a:buClr>
            </a:pPr>
            <a:r>
              <a:rPr lang="en-US" sz="2800" b="1" dirty="0" smtClean="0"/>
              <a:t>Elicitation </a:t>
            </a:r>
            <a:r>
              <a:rPr lang="en-US" sz="2800" b="1" dirty="0"/>
              <a:t>(Gathering </a:t>
            </a:r>
            <a:r>
              <a:rPr lang="en-US" sz="2800" b="1" dirty="0" smtClean="0"/>
              <a:t>Requirements): </a:t>
            </a:r>
            <a:r>
              <a:rPr lang="en-US" sz="2800" dirty="0" smtClean="0"/>
              <a:t>Techniques </a:t>
            </a:r>
            <a:r>
              <a:rPr lang="en-US" sz="2800" dirty="0"/>
              <a:t>to gather requirements:</a:t>
            </a:r>
          </a:p>
          <a:p>
            <a:pPr lvl="0">
              <a:spcBef>
                <a:spcPts val="0"/>
              </a:spcBef>
              <a:spcAft>
                <a:spcPts val="0"/>
              </a:spcAft>
              <a:buClr>
                <a:srgbClr val="0070C0"/>
              </a:buClr>
            </a:pPr>
            <a:r>
              <a:rPr lang="en-US" sz="2800" b="1" dirty="0"/>
              <a:t>Interviews:</a:t>
            </a:r>
            <a:r>
              <a:rPr lang="en-US" sz="2800" dirty="0"/>
              <a:t> Talking to users.</a:t>
            </a:r>
          </a:p>
          <a:p>
            <a:pPr lvl="0">
              <a:spcBef>
                <a:spcPts val="0"/>
              </a:spcBef>
              <a:spcAft>
                <a:spcPts val="0"/>
              </a:spcAft>
              <a:buClr>
                <a:srgbClr val="0070C0"/>
              </a:buClr>
            </a:pPr>
            <a:r>
              <a:rPr lang="en-US" sz="2800" b="1" dirty="0"/>
              <a:t>Surveys:</a:t>
            </a:r>
            <a:r>
              <a:rPr lang="en-US" sz="2800" dirty="0"/>
              <a:t> Collecting data from stakeholders.</a:t>
            </a:r>
          </a:p>
          <a:p>
            <a:pPr lvl="0">
              <a:spcBef>
                <a:spcPts val="0"/>
              </a:spcBef>
              <a:spcAft>
                <a:spcPts val="0"/>
              </a:spcAft>
              <a:buClr>
                <a:srgbClr val="0070C0"/>
              </a:buClr>
            </a:pPr>
            <a:r>
              <a:rPr lang="en-US" sz="2800" b="1" dirty="0"/>
              <a:t>Prototyping:</a:t>
            </a:r>
            <a:r>
              <a:rPr lang="en-US" sz="2800" dirty="0"/>
              <a:t> Creating a simple model of the system.</a:t>
            </a:r>
          </a:p>
          <a:p>
            <a:pPr marL="0" indent="0">
              <a:spcBef>
                <a:spcPts val="0"/>
              </a:spcBef>
              <a:spcAft>
                <a:spcPts val="0"/>
              </a:spcAft>
              <a:buClr>
                <a:srgbClr val="0070C0"/>
              </a:buClr>
              <a:buNone/>
            </a:pPr>
            <a:r>
              <a:rPr lang="en-US" sz="2800" b="1" dirty="0" smtClean="0"/>
              <a:t>Example</a:t>
            </a:r>
            <a:r>
              <a:rPr lang="en-US" sz="2800" b="1" dirty="0"/>
              <a:t>:</a:t>
            </a:r>
            <a:r>
              <a:rPr lang="en-US" sz="2800" dirty="0"/>
              <a:t/>
            </a:r>
            <a:br>
              <a:rPr lang="en-US" sz="2800" dirty="0"/>
            </a:br>
            <a:r>
              <a:rPr lang="en-US" sz="2800" dirty="0"/>
              <a:t>A bank wants a </a:t>
            </a:r>
            <a:r>
              <a:rPr lang="en-US" sz="2800" b="1" dirty="0"/>
              <a:t>mobile banking app</a:t>
            </a:r>
            <a:r>
              <a:rPr lang="en-US" sz="2800" dirty="0"/>
              <a:t>. The development team interviews customers and learns they need:</a:t>
            </a:r>
          </a:p>
          <a:p>
            <a:pPr lvl="1">
              <a:spcBef>
                <a:spcPts val="0"/>
              </a:spcBef>
              <a:spcAft>
                <a:spcPts val="0"/>
              </a:spcAft>
              <a:buClr>
                <a:srgbClr val="0070C0"/>
              </a:buClr>
            </a:pPr>
            <a:r>
              <a:rPr lang="en-US" sz="2800" dirty="0"/>
              <a:t>A feature to </a:t>
            </a:r>
            <a:r>
              <a:rPr lang="en-US" sz="2800" b="1" dirty="0"/>
              <a:t>transfer money instantly</a:t>
            </a:r>
            <a:r>
              <a:rPr lang="en-US" sz="2800" dirty="0"/>
              <a:t>.</a:t>
            </a:r>
          </a:p>
          <a:p>
            <a:pPr lvl="1">
              <a:spcBef>
                <a:spcPts val="0"/>
              </a:spcBef>
              <a:spcAft>
                <a:spcPts val="0"/>
              </a:spcAft>
              <a:buClr>
                <a:srgbClr val="0070C0"/>
              </a:buClr>
            </a:pPr>
            <a:r>
              <a:rPr lang="en-US" sz="2800" dirty="0"/>
              <a:t>A </a:t>
            </a:r>
            <a:r>
              <a:rPr lang="en-US" sz="2800" b="1" dirty="0"/>
              <a:t>QR code scanner for payments</a:t>
            </a:r>
            <a:r>
              <a:rPr lang="en-US" sz="2800" dirty="0" smtClean="0"/>
              <a:t>.</a:t>
            </a:r>
            <a:endParaRPr lang="en-US" sz="2800" dirty="0"/>
          </a:p>
        </p:txBody>
      </p:sp>
    </p:spTree>
    <p:extLst>
      <p:ext uri="{BB962C8B-B14F-4D97-AF65-F5344CB8AC3E}">
        <p14:creationId xmlns:p14="http://schemas.microsoft.com/office/powerpoint/2010/main" val="37084776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Requirements</a:t>
            </a:r>
            <a:r>
              <a:rPr lang="en-US" b="1" dirty="0" smtClean="0"/>
              <a:t> </a:t>
            </a:r>
            <a:r>
              <a:rPr lang="en-US" b="1" dirty="0"/>
              <a:t>Analysis</a:t>
            </a:r>
            <a:endParaRPr lang="en-US" dirty="0"/>
          </a:p>
        </p:txBody>
      </p:sp>
      <p:sp>
        <p:nvSpPr>
          <p:cNvPr id="3" name="Content Placeholder 2"/>
          <p:cNvSpPr>
            <a:spLocks noGrp="1"/>
          </p:cNvSpPr>
          <p:nvPr>
            <p:ph idx="1"/>
          </p:nvPr>
        </p:nvSpPr>
        <p:spPr>
          <a:xfrm>
            <a:off x="1507067" y="2658533"/>
            <a:ext cx="9995956" cy="3132667"/>
          </a:xfrm>
        </p:spPr>
        <p:txBody>
          <a:bodyPr>
            <a:noAutofit/>
          </a:bodyPr>
          <a:lstStyle/>
          <a:p>
            <a:pPr>
              <a:spcBef>
                <a:spcPts val="0"/>
              </a:spcBef>
              <a:spcAft>
                <a:spcPts val="0"/>
              </a:spcAft>
              <a:buClr>
                <a:srgbClr val="0070C0"/>
              </a:buClr>
            </a:pPr>
            <a:r>
              <a:rPr lang="en-US" sz="2800" b="1" dirty="0"/>
              <a:t>Analysis (Refining Requirements)</a:t>
            </a:r>
            <a:r>
              <a:rPr lang="en-US" sz="2800" dirty="0"/>
              <a:t>: After gathering requirements, the team analyzes them to remove conflicts and ambiguities.</a:t>
            </a:r>
          </a:p>
          <a:p>
            <a:pPr marL="0" indent="0">
              <a:spcBef>
                <a:spcPts val="0"/>
              </a:spcBef>
              <a:spcAft>
                <a:spcPts val="0"/>
              </a:spcAft>
              <a:buClr>
                <a:srgbClr val="0070C0"/>
              </a:buClr>
              <a:buNone/>
            </a:pPr>
            <a:r>
              <a:rPr lang="en-US" sz="2800" b="1" dirty="0"/>
              <a:t>Example:</a:t>
            </a:r>
            <a:r>
              <a:rPr lang="en-US" sz="2800" dirty="0"/>
              <a:t/>
            </a:r>
            <a:br>
              <a:rPr lang="en-US" sz="2800" dirty="0"/>
            </a:br>
            <a:r>
              <a:rPr lang="en-US" sz="2800" dirty="0"/>
              <a:t>For the mobile banking app, the requirement </a:t>
            </a:r>
            <a:r>
              <a:rPr lang="en-US" sz="2800" b="1" dirty="0"/>
              <a:t>"User should send money easily"</a:t>
            </a:r>
            <a:r>
              <a:rPr lang="en-US" sz="2800" dirty="0"/>
              <a:t> is too vague. A clearer requirement would be:</a:t>
            </a:r>
          </a:p>
          <a:p>
            <a:pPr lvl="1">
              <a:spcBef>
                <a:spcPts val="0"/>
              </a:spcBef>
              <a:spcAft>
                <a:spcPts val="0"/>
              </a:spcAft>
              <a:buClr>
                <a:srgbClr val="0070C0"/>
              </a:buClr>
            </a:pPr>
            <a:r>
              <a:rPr lang="en-US" sz="2800" dirty="0"/>
              <a:t>"The system shall allow users to </a:t>
            </a:r>
            <a:r>
              <a:rPr lang="en-US" sz="2800" b="1" dirty="0"/>
              <a:t>transfer money using a phone number or QR code</a:t>
            </a:r>
            <a:r>
              <a:rPr lang="en-US" sz="2800" dirty="0"/>
              <a:t>."</a:t>
            </a:r>
          </a:p>
        </p:txBody>
      </p:sp>
    </p:spTree>
    <p:extLst>
      <p:ext uri="{BB962C8B-B14F-4D97-AF65-F5344CB8AC3E}">
        <p14:creationId xmlns:p14="http://schemas.microsoft.com/office/powerpoint/2010/main" val="42435550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Requirements Specification</a:t>
            </a:r>
            <a:endParaRPr lang="en-US" dirty="0"/>
          </a:p>
        </p:txBody>
      </p:sp>
      <p:sp>
        <p:nvSpPr>
          <p:cNvPr id="3" name="Content Placeholder 2"/>
          <p:cNvSpPr>
            <a:spLocks noGrp="1"/>
          </p:cNvSpPr>
          <p:nvPr>
            <p:ph sz="quarter" idx="13"/>
          </p:nvPr>
        </p:nvSpPr>
        <p:spPr>
          <a:xfrm>
            <a:off x="1670577" y="2438399"/>
            <a:ext cx="10041467" cy="3725332"/>
          </a:xfrm>
        </p:spPr>
        <p:txBody>
          <a:bodyPr>
            <a:noAutofit/>
          </a:bodyPr>
          <a:lstStyle/>
          <a:p>
            <a:r>
              <a:rPr lang="en-US" sz="2800" dirty="0"/>
              <a:t>Requirements Specification is the </a:t>
            </a:r>
            <a:r>
              <a:rPr lang="en-US" sz="2800" b="1" dirty="0"/>
              <a:t>detailed description of requirements</a:t>
            </a:r>
            <a:r>
              <a:rPr lang="en-US" sz="2800" dirty="0"/>
              <a:t> in a structured format.</a:t>
            </a:r>
          </a:p>
          <a:p>
            <a:pPr marL="0" indent="0">
              <a:buNone/>
            </a:pPr>
            <a:r>
              <a:rPr lang="en-US" sz="2800" b="1" dirty="0"/>
              <a:t>Mobile Banking App</a:t>
            </a:r>
            <a:r>
              <a:rPr lang="en-US" sz="2800" dirty="0"/>
              <a:t> in a structured </a:t>
            </a:r>
            <a:r>
              <a:rPr lang="en-US" sz="2800" dirty="0" smtClean="0"/>
              <a:t>format:</a:t>
            </a:r>
          </a:p>
          <a:p>
            <a:r>
              <a:rPr lang="en-US" sz="2800" b="1" dirty="0"/>
              <a:t>FR-001</a:t>
            </a:r>
            <a:r>
              <a:rPr lang="en-US" sz="2800" dirty="0"/>
              <a:t>: The system shall allow users to log in using a username and password. </a:t>
            </a:r>
          </a:p>
          <a:p>
            <a:pPr lvl="0"/>
            <a:r>
              <a:rPr lang="en-US" sz="2800" b="1" dirty="0"/>
              <a:t>NFR-001</a:t>
            </a:r>
            <a:r>
              <a:rPr lang="en-US" sz="2800" dirty="0"/>
              <a:t>: The system should be able to handle </a:t>
            </a:r>
            <a:r>
              <a:rPr lang="en-US" sz="2800" b="1" dirty="0"/>
              <a:t>5,000 concurrent users</a:t>
            </a:r>
            <a:r>
              <a:rPr lang="en-US" sz="2800" dirty="0"/>
              <a:t> without slowing down.</a:t>
            </a:r>
          </a:p>
        </p:txBody>
      </p:sp>
    </p:spTree>
    <p:extLst>
      <p:ext uri="{BB962C8B-B14F-4D97-AF65-F5344CB8AC3E}">
        <p14:creationId xmlns:p14="http://schemas.microsoft.com/office/powerpoint/2010/main" val="86084565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1244" y="419099"/>
            <a:ext cx="10018713" cy="1752599"/>
          </a:xfrm>
        </p:spPr>
        <p:txBody>
          <a:bodyPr/>
          <a:lstStyle/>
          <a:p>
            <a:r>
              <a:rPr lang="en-US" b="1" dirty="0"/>
              <a:t>Requirements Validation</a:t>
            </a:r>
            <a:r>
              <a:rPr lang="en-US" dirty="0"/>
              <a:t/>
            </a:r>
            <a:br>
              <a:rPr lang="en-US" dirty="0"/>
            </a:br>
            <a:endParaRPr lang="en-US" dirty="0"/>
          </a:p>
        </p:txBody>
      </p:sp>
      <p:sp>
        <p:nvSpPr>
          <p:cNvPr id="3" name="Content Placeholder 2"/>
          <p:cNvSpPr>
            <a:spLocks noGrp="1"/>
          </p:cNvSpPr>
          <p:nvPr>
            <p:ph sz="quarter" idx="13"/>
          </p:nvPr>
        </p:nvSpPr>
        <p:spPr>
          <a:xfrm>
            <a:off x="1311754" y="1295399"/>
            <a:ext cx="10880246" cy="5029201"/>
          </a:xfrm>
        </p:spPr>
        <p:txBody>
          <a:bodyPr>
            <a:noAutofit/>
          </a:bodyPr>
          <a:lstStyle/>
          <a:p>
            <a:r>
              <a:rPr lang="en-US" sz="2600" dirty="0" smtClean="0"/>
              <a:t>Ensures </a:t>
            </a:r>
            <a:r>
              <a:rPr lang="en-US" sz="2600" dirty="0"/>
              <a:t>that requirements are </a:t>
            </a:r>
            <a:r>
              <a:rPr lang="en-US" sz="2600" b="1" dirty="0"/>
              <a:t>complete, consistent, and </a:t>
            </a:r>
            <a:r>
              <a:rPr lang="en-US" sz="2600" b="1" dirty="0" smtClean="0"/>
              <a:t>correct</a:t>
            </a:r>
            <a:r>
              <a:rPr lang="en-US" sz="2600" dirty="0" smtClean="0"/>
              <a:t>.</a:t>
            </a:r>
          </a:p>
          <a:p>
            <a:pPr marL="0" indent="0">
              <a:buNone/>
            </a:pPr>
            <a:r>
              <a:rPr lang="en-US" sz="2600" b="1" dirty="0" smtClean="0"/>
              <a:t>Methods</a:t>
            </a:r>
            <a:r>
              <a:rPr lang="en-US" sz="2600" b="1" dirty="0"/>
              <a:t>:</a:t>
            </a:r>
            <a:endParaRPr lang="en-US" sz="2600" dirty="0"/>
          </a:p>
          <a:p>
            <a:r>
              <a:rPr lang="en-US" sz="2600" b="1" dirty="0"/>
              <a:t>Reviews:</a:t>
            </a:r>
            <a:r>
              <a:rPr lang="en-US" sz="2600" dirty="0"/>
              <a:t> </a:t>
            </a:r>
            <a:r>
              <a:rPr lang="en-US" sz="2800" b="1" dirty="0"/>
              <a:t>Reviews (Stakeholder Validation)</a:t>
            </a:r>
          </a:p>
          <a:p>
            <a:pPr marL="457200" lvl="1" indent="0">
              <a:buNone/>
            </a:pPr>
            <a:r>
              <a:rPr lang="en-US" sz="2400" b="1" dirty="0"/>
              <a:t>Process:</a:t>
            </a:r>
            <a:r>
              <a:rPr lang="en-US" sz="2400" dirty="0"/>
              <a:t> Stakeholders (bank officials, security experts, end-users) review the documented </a:t>
            </a:r>
            <a:r>
              <a:rPr lang="en-US" sz="2400" dirty="0" smtClean="0"/>
              <a:t>requirements.</a:t>
            </a:r>
          </a:p>
          <a:p>
            <a:r>
              <a:rPr lang="en-US" sz="2800" b="1" dirty="0" smtClean="0"/>
              <a:t>Prototyping:</a:t>
            </a:r>
            <a:r>
              <a:rPr lang="en-US" sz="2800" dirty="0" smtClean="0"/>
              <a:t> A simple version of the system is tested.</a:t>
            </a:r>
          </a:p>
          <a:p>
            <a:pPr lvl="0"/>
            <a:r>
              <a:rPr lang="en-US" sz="2600" b="1" dirty="0" smtClean="0"/>
              <a:t>Test </a:t>
            </a:r>
            <a:r>
              <a:rPr lang="en-US" sz="2600" b="1" dirty="0"/>
              <a:t>Cases:</a:t>
            </a:r>
            <a:r>
              <a:rPr lang="en-US" sz="2600" dirty="0"/>
              <a:t> </a:t>
            </a:r>
            <a:r>
              <a:rPr lang="en-US" sz="2800" dirty="0"/>
              <a:t>Writing test cases to ensure each requirement can be tested.</a:t>
            </a:r>
            <a:endParaRPr lang="en-US" sz="2600" dirty="0"/>
          </a:p>
        </p:txBody>
      </p:sp>
    </p:spTree>
    <p:extLst>
      <p:ext uri="{BB962C8B-B14F-4D97-AF65-F5344CB8AC3E}">
        <p14:creationId xmlns:p14="http://schemas.microsoft.com/office/powerpoint/2010/main" val="26982131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6867" y="433940"/>
            <a:ext cx="10018713" cy="1752599"/>
          </a:xfrm>
        </p:spPr>
        <p:txBody>
          <a:bodyPr/>
          <a:lstStyle/>
          <a:p>
            <a:r>
              <a:rPr lang="en-US" b="1" dirty="0"/>
              <a:t>Requirements Management</a:t>
            </a:r>
            <a:r>
              <a:rPr lang="en-US" dirty="0"/>
              <a:t/>
            </a:r>
            <a:br>
              <a:rPr lang="en-US" dirty="0"/>
            </a:br>
            <a:endParaRPr lang="en-US" dirty="0"/>
          </a:p>
        </p:txBody>
      </p:sp>
      <p:sp>
        <p:nvSpPr>
          <p:cNvPr id="3" name="Content Placeholder 2"/>
          <p:cNvSpPr>
            <a:spLocks noGrp="1"/>
          </p:cNvSpPr>
          <p:nvPr>
            <p:ph sz="quarter" idx="13"/>
          </p:nvPr>
        </p:nvSpPr>
        <p:spPr>
          <a:xfrm>
            <a:off x="1656867" y="2034139"/>
            <a:ext cx="10707689" cy="4671462"/>
          </a:xfrm>
        </p:spPr>
        <p:txBody>
          <a:bodyPr>
            <a:noAutofit/>
          </a:bodyPr>
          <a:lstStyle/>
          <a:p>
            <a:r>
              <a:rPr lang="en-US" sz="2000" b="1" dirty="0"/>
              <a:t>Requirements Management</a:t>
            </a:r>
            <a:r>
              <a:rPr lang="en-US" sz="2000" dirty="0"/>
              <a:t> is the process of tracking and updating requirements </a:t>
            </a:r>
            <a:r>
              <a:rPr lang="en-US" sz="2000" b="1" dirty="0"/>
              <a:t>throughout the project lifecycle</a:t>
            </a:r>
            <a:r>
              <a:rPr lang="en-US" sz="2000" dirty="0"/>
              <a:t> to ensure they stay relevant</a:t>
            </a:r>
            <a:r>
              <a:rPr lang="en-US" sz="2000" dirty="0" smtClean="0"/>
              <a:t>.</a:t>
            </a:r>
          </a:p>
          <a:p>
            <a:pPr marL="0" indent="0">
              <a:spcBef>
                <a:spcPts val="0"/>
              </a:spcBef>
              <a:spcAft>
                <a:spcPts val="0"/>
              </a:spcAft>
              <a:buNone/>
            </a:pPr>
            <a:r>
              <a:rPr lang="en-US" sz="2000" b="1" dirty="0"/>
              <a:t>Why is it Important?</a:t>
            </a:r>
          </a:p>
          <a:p>
            <a:pPr>
              <a:spcBef>
                <a:spcPts val="0"/>
              </a:spcBef>
              <a:spcAft>
                <a:spcPts val="0"/>
              </a:spcAft>
            </a:pPr>
            <a:r>
              <a:rPr lang="en-US" sz="2000" b="1" dirty="0"/>
              <a:t>Business needs evolve</a:t>
            </a:r>
            <a:r>
              <a:rPr lang="en-US" sz="2000" dirty="0"/>
              <a:t> → New features may be required.</a:t>
            </a:r>
          </a:p>
          <a:p>
            <a:pPr>
              <a:spcBef>
                <a:spcPts val="0"/>
              </a:spcBef>
              <a:spcAft>
                <a:spcPts val="0"/>
              </a:spcAft>
            </a:pPr>
            <a:r>
              <a:rPr lang="en-US" sz="2000" b="1" dirty="0"/>
              <a:t>Technology changes</a:t>
            </a:r>
            <a:r>
              <a:rPr lang="en-US" sz="2000" dirty="0"/>
              <a:t> → New constraints or capabilities emerge.</a:t>
            </a:r>
          </a:p>
          <a:p>
            <a:pPr>
              <a:spcBef>
                <a:spcPts val="0"/>
              </a:spcBef>
              <a:spcAft>
                <a:spcPts val="0"/>
              </a:spcAft>
            </a:pPr>
            <a:r>
              <a:rPr lang="en-US" sz="2000" b="1" dirty="0"/>
              <a:t>Stakeholders provide feedback</a:t>
            </a:r>
            <a:r>
              <a:rPr lang="en-US" sz="2000" dirty="0"/>
              <a:t> → Adjustments may be needed</a:t>
            </a:r>
            <a:r>
              <a:rPr lang="en-US" sz="2000" dirty="0" smtClean="0"/>
              <a:t>.</a:t>
            </a:r>
            <a:endParaRPr lang="en-US" sz="2000" b="1" dirty="0"/>
          </a:p>
          <a:p>
            <a:pPr marL="0" indent="0">
              <a:spcBef>
                <a:spcPts val="0"/>
              </a:spcBef>
              <a:spcAft>
                <a:spcPts val="0"/>
              </a:spcAft>
              <a:buNone/>
            </a:pPr>
            <a:r>
              <a:rPr lang="en-US" sz="2000" b="1" dirty="0"/>
              <a:t>Example: Travel Booking Website</a:t>
            </a:r>
          </a:p>
          <a:p>
            <a:pPr>
              <a:spcBef>
                <a:spcPts val="0"/>
              </a:spcBef>
              <a:spcAft>
                <a:spcPts val="0"/>
              </a:spcAft>
            </a:pPr>
            <a:r>
              <a:rPr lang="en-US" sz="2000" b="1" dirty="0" smtClean="0"/>
              <a:t>Initial </a:t>
            </a:r>
            <a:r>
              <a:rPr lang="en-US" sz="2000" b="1" dirty="0"/>
              <a:t>Requirement:</a:t>
            </a:r>
            <a:endParaRPr lang="en-US" sz="2000" dirty="0"/>
          </a:p>
          <a:p>
            <a:pPr marL="0" indent="0">
              <a:spcBef>
                <a:spcPts val="0"/>
              </a:spcBef>
              <a:spcAft>
                <a:spcPts val="0"/>
              </a:spcAft>
              <a:buNone/>
            </a:pPr>
            <a:r>
              <a:rPr lang="en-US" sz="2000" dirty="0"/>
              <a:t>The system shall allow users to </a:t>
            </a:r>
            <a:r>
              <a:rPr lang="en-US" sz="2000" b="1" dirty="0"/>
              <a:t>book flights</a:t>
            </a:r>
            <a:r>
              <a:rPr lang="en-US" sz="2000" dirty="0"/>
              <a:t> online.</a:t>
            </a:r>
          </a:p>
          <a:p>
            <a:pPr>
              <a:spcBef>
                <a:spcPts val="0"/>
              </a:spcBef>
              <a:spcAft>
                <a:spcPts val="0"/>
              </a:spcAft>
            </a:pPr>
            <a:r>
              <a:rPr lang="en-US" sz="2000" b="1" dirty="0" smtClean="0"/>
              <a:t>New </a:t>
            </a:r>
            <a:r>
              <a:rPr lang="en-US" sz="2000" b="1" dirty="0"/>
              <a:t>Requirement (After User Feedback):</a:t>
            </a:r>
            <a:endParaRPr lang="en-US" sz="2000" dirty="0"/>
          </a:p>
          <a:p>
            <a:pPr marL="0" indent="0">
              <a:spcBef>
                <a:spcPts val="0"/>
              </a:spcBef>
              <a:spcAft>
                <a:spcPts val="0"/>
              </a:spcAft>
              <a:buNone/>
            </a:pPr>
            <a:r>
              <a:rPr lang="en-US" sz="2000" dirty="0"/>
              <a:t>Users requested the ability to book </a:t>
            </a:r>
            <a:r>
              <a:rPr lang="en-US" sz="2000" b="1" dirty="0"/>
              <a:t>hotels</a:t>
            </a:r>
            <a:r>
              <a:rPr lang="en-US" sz="2000" dirty="0"/>
              <a:t> along with flights.</a:t>
            </a:r>
          </a:p>
          <a:p>
            <a:pPr marL="0" indent="0">
              <a:spcBef>
                <a:spcPts val="0"/>
              </a:spcBef>
              <a:spcAft>
                <a:spcPts val="0"/>
              </a:spcAft>
              <a:buNone/>
            </a:pPr>
            <a:r>
              <a:rPr lang="en-US" sz="2000" dirty="0"/>
              <a:t>The requirement was updated to: </a:t>
            </a:r>
            <a:r>
              <a:rPr lang="en-US" sz="2000" i="1" dirty="0"/>
              <a:t>"The system shall allow users to book flights and hotels through a single platform."</a:t>
            </a:r>
            <a:endParaRPr lang="en-US" sz="2000" dirty="0"/>
          </a:p>
          <a:p>
            <a:pPr>
              <a:spcBef>
                <a:spcPts val="0"/>
              </a:spcBef>
              <a:spcAft>
                <a:spcPts val="0"/>
              </a:spcAft>
            </a:pPr>
            <a:r>
              <a:rPr lang="en-US" sz="2000" dirty="0" smtClean="0"/>
              <a:t> </a:t>
            </a:r>
            <a:r>
              <a:rPr lang="en-US" sz="2000" b="1" dirty="0"/>
              <a:t>Further </a:t>
            </a:r>
            <a:r>
              <a:rPr lang="en-US" sz="2000" b="1" dirty="0" smtClean="0"/>
              <a:t>Updates:</a:t>
            </a:r>
            <a:r>
              <a:rPr lang="en-US" sz="2000" dirty="0" smtClean="0"/>
              <a:t> Later</a:t>
            </a:r>
            <a:r>
              <a:rPr lang="en-US" sz="2000" dirty="0"/>
              <a:t>, </a:t>
            </a:r>
            <a:r>
              <a:rPr lang="en-US" sz="2000" b="1" dirty="0"/>
              <a:t>car rentals</a:t>
            </a:r>
            <a:r>
              <a:rPr lang="en-US" sz="2000" dirty="0"/>
              <a:t> were added as an additional service</a:t>
            </a:r>
          </a:p>
        </p:txBody>
      </p:sp>
    </p:spTree>
    <p:extLst>
      <p:ext uri="{BB962C8B-B14F-4D97-AF65-F5344CB8AC3E}">
        <p14:creationId xmlns:p14="http://schemas.microsoft.com/office/powerpoint/2010/main" val="214123930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Imprecision</a:t>
            </a:r>
          </a:p>
        </p:txBody>
      </p:sp>
      <p:sp>
        <p:nvSpPr>
          <p:cNvPr id="3" name="Content Placeholder 2"/>
          <p:cNvSpPr>
            <a:spLocks noGrp="1"/>
          </p:cNvSpPr>
          <p:nvPr>
            <p:ph idx="1"/>
          </p:nvPr>
        </p:nvSpPr>
        <p:spPr/>
        <p:txBody>
          <a:bodyPr>
            <a:normAutofit/>
          </a:bodyPr>
          <a:lstStyle/>
          <a:p>
            <a:r>
              <a:rPr lang="en-US" dirty="0"/>
              <a:t>Requirements imprecision occurs when requirements are </a:t>
            </a:r>
            <a:r>
              <a:rPr lang="en-US" b="1" dirty="0"/>
              <a:t>not clearly defined</a:t>
            </a:r>
            <a:r>
              <a:rPr lang="en-US" dirty="0"/>
              <a:t>, leading to </a:t>
            </a:r>
            <a:r>
              <a:rPr lang="en-US" b="1" dirty="0"/>
              <a:t>misinterpretation</a:t>
            </a:r>
            <a:r>
              <a:rPr lang="en-US" dirty="0"/>
              <a:t> by developers, testers, or stakeholders. This can cause </a:t>
            </a:r>
            <a:r>
              <a:rPr lang="en-US" b="1" dirty="0"/>
              <a:t>delays, rework, and project failures</a:t>
            </a:r>
            <a:r>
              <a:rPr lang="en-US" dirty="0" smtClean="0"/>
              <a:t>.</a:t>
            </a:r>
            <a:endParaRPr lang="en-US" dirty="0"/>
          </a:p>
          <a:p>
            <a:pPr>
              <a:spcBef>
                <a:spcPts val="0"/>
              </a:spcBef>
              <a:spcAft>
                <a:spcPts val="0"/>
              </a:spcAft>
            </a:pPr>
            <a:r>
              <a:rPr lang="en-US" dirty="0"/>
              <a:t>Imprecise </a:t>
            </a:r>
            <a:r>
              <a:rPr lang="en-US" dirty="0" smtClean="0"/>
              <a:t>Requirement</a:t>
            </a:r>
          </a:p>
          <a:p>
            <a:pPr marL="0" indent="0">
              <a:spcBef>
                <a:spcPts val="0"/>
              </a:spcBef>
              <a:spcAft>
                <a:spcPts val="0"/>
              </a:spcAft>
              <a:buNone/>
            </a:pPr>
            <a:r>
              <a:rPr lang="en-US" dirty="0" smtClean="0"/>
              <a:t>The </a:t>
            </a:r>
            <a:r>
              <a:rPr lang="en-US" dirty="0"/>
              <a:t>system should be </a:t>
            </a:r>
            <a:r>
              <a:rPr lang="en-US" dirty="0" smtClean="0"/>
              <a:t>fast.</a:t>
            </a:r>
          </a:p>
          <a:p>
            <a:pPr>
              <a:spcBef>
                <a:spcPts val="0"/>
              </a:spcBef>
              <a:spcAft>
                <a:spcPts val="0"/>
              </a:spcAft>
            </a:pPr>
            <a:r>
              <a:rPr lang="en-US" dirty="0" smtClean="0"/>
              <a:t>Precise Requirement</a:t>
            </a:r>
          </a:p>
          <a:p>
            <a:pPr marL="0" indent="0">
              <a:spcBef>
                <a:spcPts val="0"/>
              </a:spcBef>
              <a:spcAft>
                <a:spcPts val="0"/>
              </a:spcAft>
              <a:buNone/>
            </a:pPr>
            <a:r>
              <a:rPr lang="en-US" dirty="0"/>
              <a:t>The system should process user requests within </a:t>
            </a:r>
            <a:r>
              <a:rPr lang="en-US" b="1" dirty="0"/>
              <a:t>2 seconds</a:t>
            </a:r>
            <a:endParaRPr lang="en-US" dirty="0"/>
          </a:p>
        </p:txBody>
      </p:sp>
    </p:spTree>
    <p:extLst>
      <p:ext uri="{BB962C8B-B14F-4D97-AF65-F5344CB8AC3E}">
        <p14:creationId xmlns:p14="http://schemas.microsoft.com/office/powerpoint/2010/main" val="25717412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Requirements Completeness and Consistency</a:t>
            </a:r>
            <a:r>
              <a:rPr lang="en-US" dirty="0"/>
              <a:t/>
            </a:r>
            <a:br>
              <a:rPr lang="en-US" dirty="0"/>
            </a:br>
            <a:endParaRPr lang="en-US" dirty="0"/>
          </a:p>
        </p:txBody>
      </p:sp>
      <p:sp>
        <p:nvSpPr>
          <p:cNvPr id="3" name="Content Placeholder 2"/>
          <p:cNvSpPr>
            <a:spLocks noGrp="1"/>
          </p:cNvSpPr>
          <p:nvPr>
            <p:ph sz="quarter" idx="13"/>
          </p:nvPr>
        </p:nvSpPr>
        <p:spPr>
          <a:xfrm>
            <a:off x="1388534" y="2189017"/>
            <a:ext cx="10803466" cy="3998258"/>
          </a:xfrm>
        </p:spPr>
        <p:txBody>
          <a:bodyPr>
            <a:normAutofit lnSpcReduction="10000"/>
          </a:bodyPr>
          <a:lstStyle/>
          <a:p>
            <a:pPr lvl="0"/>
            <a:r>
              <a:rPr lang="en-US" sz="2800" b="1" dirty="0" smtClean="0"/>
              <a:t>Completeness</a:t>
            </a:r>
            <a:r>
              <a:rPr lang="en-US" sz="2800" b="1" dirty="0"/>
              <a:t>:</a:t>
            </a:r>
            <a:r>
              <a:rPr lang="en-US" sz="2800" dirty="0"/>
              <a:t> All necessary requirements are included.</a:t>
            </a:r>
          </a:p>
          <a:p>
            <a:pPr lvl="0"/>
            <a:r>
              <a:rPr lang="en-US" sz="2800" b="1" dirty="0"/>
              <a:t>Consistency:</a:t>
            </a:r>
            <a:r>
              <a:rPr lang="en-US" sz="2800" dirty="0"/>
              <a:t> No conflicting requirements exist.</a:t>
            </a:r>
          </a:p>
          <a:p>
            <a:r>
              <a:rPr lang="en-US" sz="2800" b="1" dirty="0" smtClean="0"/>
              <a:t>Example </a:t>
            </a:r>
            <a:r>
              <a:rPr lang="en-US" sz="2800" b="1" dirty="0"/>
              <a:t>of an inconsistency:</a:t>
            </a:r>
            <a:r>
              <a:rPr lang="en-US" sz="2800" dirty="0"/>
              <a:t/>
            </a:r>
            <a:br>
              <a:rPr lang="en-US" sz="2800" dirty="0"/>
            </a:br>
            <a:r>
              <a:rPr lang="en-US" sz="2800" dirty="0"/>
              <a:t>❌ "The system should support </a:t>
            </a:r>
            <a:r>
              <a:rPr lang="en-US" sz="2800" b="1" dirty="0"/>
              <a:t>multiple languages</a:t>
            </a:r>
            <a:r>
              <a:rPr lang="en-US" sz="2800" dirty="0"/>
              <a:t>."</a:t>
            </a:r>
            <a:br>
              <a:rPr lang="en-US" sz="2800" dirty="0"/>
            </a:br>
            <a:r>
              <a:rPr lang="en-US" sz="2800" dirty="0"/>
              <a:t>❌ "The system shall support </a:t>
            </a:r>
            <a:r>
              <a:rPr lang="en-US" sz="2800" b="1" dirty="0"/>
              <a:t>only English</a:t>
            </a:r>
            <a:r>
              <a:rPr lang="en-US" sz="2800" dirty="0" smtClean="0"/>
              <a:t>.“</a:t>
            </a:r>
          </a:p>
          <a:p>
            <a:pPr marL="0" indent="0">
              <a:buNone/>
            </a:pPr>
            <a:r>
              <a:rPr lang="en-US" sz="2800" b="1" dirty="0"/>
              <a:t>Corrected Version</a:t>
            </a:r>
            <a:r>
              <a:rPr lang="en-US" sz="2800" b="1" dirty="0" smtClean="0"/>
              <a:t>:</a:t>
            </a:r>
          </a:p>
          <a:p>
            <a:pPr marL="0" indent="0">
              <a:buNone/>
            </a:pPr>
            <a:r>
              <a:rPr lang="en-US" sz="2800" dirty="0"/>
              <a:t>The system shall support English as the default language, with options for additional languages in future versions.</a:t>
            </a:r>
          </a:p>
        </p:txBody>
      </p:sp>
    </p:spTree>
    <p:extLst>
      <p:ext uri="{BB962C8B-B14F-4D97-AF65-F5344CB8AC3E}">
        <p14:creationId xmlns:p14="http://schemas.microsoft.com/office/powerpoint/2010/main" val="35535199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Domain Requirements</a:t>
            </a:r>
            <a:r>
              <a:rPr lang="en-US" dirty="0"/>
              <a:t/>
            </a:r>
            <a:br>
              <a:rPr lang="en-US" dirty="0"/>
            </a:br>
            <a:endParaRPr lang="en-US" dirty="0"/>
          </a:p>
        </p:txBody>
      </p:sp>
      <p:sp>
        <p:nvSpPr>
          <p:cNvPr id="3" name="Content Placeholder 2"/>
          <p:cNvSpPr>
            <a:spLocks noGrp="1"/>
          </p:cNvSpPr>
          <p:nvPr>
            <p:ph sz="quarter" idx="13"/>
          </p:nvPr>
        </p:nvSpPr>
        <p:spPr>
          <a:xfrm>
            <a:off x="1326150" y="2223247"/>
            <a:ext cx="10662650" cy="4016187"/>
          </a:xfrm>
        </p:spPr>
        <p:txBody>
          <a:bodyPr>
            <a:normAutofit/>
          </a:bodyPr>
          <a:lstStyle/>
          <a:p>
            <a:r>
              <a:rPr lang="en-US" b="1" dirty="0"/>
              <a:t>Domain requirements</a:t>
            </a:r>
            <a:r>
              <a:rPr lang="en-US" dirty="0"/>
              <a:t> are </a:t>
            </a:r>
            <a:r>
              <a:rPr lang="en-US" b="1" dirty="0"/>
              <a:t>specific</a:t>
            </a:r>
            <a:r>
              <a:rPr lang="en-US" dirty="0"/>
              <a:t> to a particular industry, defining rules, constraints, and features that must be followed based on that industry's </a:t>
            </a:r>
            <a:r>
              <a:rPr lang="en-US" b="1" dirty="0"/>
              <a:t>standards and regulations</a:t>
            </a:r>
            <a:r>
              <a:rPr lang="en-US" dirty="0"/>
              <a:t>. These requirements often introduce unique </a:t>
            </a:r>
            <a:r>
              <a:rPr lang="en-US" b="1" dirty="0"/>
              <a:t>functional constraints</a:t>
            </a:r>
            <a:r>
              <a:rPr lang="en-US" dirty="0"/>
              <a:t> that general systems do not have.</a:t>
            </a:r>
          </a:p>
          <a:p>
            <a:r>
              <a:rPr lang="en-US" b="1" dirty="0" smtClean="0"/>
              <a:t>Example</a:t>
            </a:r>
            <a:r>
              <a:rPr lang="en-US" b="1" dirty="0"/>
              <a:t>:</a:t>
            </a:r>
            <a:r>
              <a:rPr lang="en-US" dirty="0"/>
              <a:t/>
            </a:r>
            <a:br>
              <a:rPr lang="en-US" dirty="0"/>
            </a:br>
            <a:r>
              <a:rPr lang="en-US" dirty="0"/>
              <a:t>Multi-factor authentication (MFA) </a:t>
            </a:r>
            <a:r>
              <a:rPr lang="en-US" b="1" dirty="0"/>
              <a:t>must</a:t>
            </a:r>
            <a:r>
              <a:rPr lang="en-US" dirty="0"/>
              <a:t> be implemented for online banking logins. </a:t>
            </a:r>
            <a:r>
              <a:rPr lang="en-US" b="1" dirty="0"/>
              <a:t>Use real-world analogies</a:t>
            </a:r>
            <a:r>
              <a:rPr lang="en-US" dirty="0"/>
              <a:t/>
            </a:r>
            <a:br>
              <a:rPr lang="en-US" dirty="0"/>
            </a:br>
            <a:r>
              <a:rPr lang="en-US" b="1" dirty="0"/>
              <a:t>Example: </a:t>
            </a:r>
            <a:r>
              <a:rPr lang="en-US" dirty="0"/>
              <a:t>Healthcare systems must follow </a:t>
            </a:r>
            <a:r>
              <a:rPr lang="en-US" b="1" dirty="0"/>
              <a:t>HIPAA regulations</a:t>
            </a:r>
            <a:r>
              <a:rPr lang="en-US" dirty="0"/>
              <a:t> for patient data privacy, while e-commerce sites don’t have the same strict data laws.</a:t>
            </a:r>
          </a:p>
          <a:p>
            <a:endParaRPr lang="en-US" dirty="0"/>
          </a:p>
        </p:txBody>
      </p:sp>
    </p:spTree>
    <p:extLst>
      <p:ext uri="{BB962C8B-B14F-4D97-AF65-F5344CB8AC3E}">
        <p14:creationId xmlns:p14="http://schemas.microsoft.com/office/powerpoint/2010/main" val="224833365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Non-Functional Requirements Implementation</a:t>
            </a:r>
            <a:r>
              <a:rPr lang="en-US" dirty="0"/>
              <a:t/>
            </a:r>
            <a:br>
              <a:rPr lang="en-US" dirty="0"/>
            </a:br>
            <a:endParaRPr lang="en-US" dirty="0"/>
          </a:p>
        </p:txBody>
      </p:sp>
      <p:sp>
        <p:nvSpPr>
          <p:cNvPr id="3" name="Content Placeholder 2"/>
          <p:cNvSpPr>
            <a:spLocks noGrp="1"/>
          </p:cNvSpPr>
          <p:nvPr>
            <p:ph sz="quarter" idx="13"/>
          </p:nvPr>
        </p:nvSpPr>
        <p:spPr>
          <a:xfrm>
            <a:off x="1484311" y="1744133"/>
            <a:ext cx="10363826" cy="5621866"/>
          </a:xfrm>
        </p:spPr>
        <p:txBody>
          <a:bodyPr>
            <a:normAutofit/>
          </a:bodyPr>
          <a:lstStyle/>
          <a:p>
            <a:r>
              <a:rPr lang="en-US" dirty="0"/>
              <a:t>Non-functional requirements (NFRs) define </a:t>
            </a:r>
            <a:r>
              <a:rPr lang="en-US" b="1" dirty="0"/>
              <a:t>how</a:t>
            </a:r>
            <a:r>
              <a:rPr lang="en-US" dirty="0"/>
              <a:t> a system should operate rather than what it should do. They impact the </a:t>
            </a:r>
            <a:r>
              <a:rPr lang="en-US" b="1" dirty="0"/>
              <a:t>overall system architecture</a:t>
            </a:r>
            <a:r>
              <a:rPr lang="en-US" dirty="0"/>
              <a:t>, affecting performance, security, usability, and scalability</a:t>
            </a:r>
            <a:r>
              <a:rPr lang="en-US" dirty="0" smtClean="0"/>
              <a:t>.</a:t>
            </a:r>
          </a:p>
          <a:p>
            <a:pPr marL="0" indent="0">
              <a:buNone/>
            </a:pPr>
            <a:r>
              <a:rPr lang="en-US" b="1" dirty="0" smtClean="0"/>
              <a:t>Example</a:t>
            </a:r>
            <a:r>
              <a:rPr lang="en-US" b="1" dirty="0"/>
              <a:t>:</a:t>
            </a:r>
            <a:r>
              <a:rPr lang="en-US" dirty="0"/>
              <a:t/>
            </a:r>
            <a:br>
              <a:rPr lang="en-US" dirty="0"/>
            </a:br>
            <a:r>
              <a:rPr lang="en-US" dirty="0"/>
              <a:t>For a </a:t>
            </a:r>
            <a:r>
              <a:rPr lang="en-US" b="1" dirty="0"/>
              <a:t>stock trading application</a:t>
            </a:r>
            <a:r>
              <a:rPr lang="en-US" dirty="0"/>
              <a:t>:</a:t>
            </a:r>
          </a:p>
          <a:p>
            <a:pPr lvl="0"/>
            <a:r>
              <a:rPr lang="en-US" b="1" dirty="0"/>
              <a:t>Security requirement:</a:t>
            </a:r>
            <a:r>
              <a:rPr lang="en-US" dirty="0"/>
              <a:t> "All transactions should be </a:t>
            </a:r>
            <a:r>
              <a:rPr lang="en-US" b="1" dirty="0"/>
              <a:t>encrypted</a:t>
            </a:r>
            <a:r>
              <a:rPr lang="en-US" dirty="0" smtClean="0"/>
              <a:t>.“</a:t>
            </a:r>
          </a:p>
          <a:p>
            <a:pPr lvl="0"/>
            <a:r>
              <a:rPr lang="en-US" dirty="0"/>
              <a:t>Implement </a:t>
            </a:r>
            <a:r>
              <a:rPr lang="en-US" b="1" dirty="0"/>
              <a:t>multi-factor authentication (MFA)</a:t>
            </a:r>
            <a:r>
              <a:rPr lang="en-US" dirty="0"/>
              <a:t> for user logins.</a:t>
            </a:r>
          </a:p>
          <a:p>
            <a:pPr lvl="0"/>
            <a:r>
              <a:rPr lang="en-US" b="1" dirty="0"/>
              <a:t>Performance requirement:</a:t>
            </a:r>
            <a:r>
              <a:rPr lang="en-US" dirty="0"/>
              <a:t> "Data should be updated </a:t>
            </a:r>
            <a:r>
              <a:rPr lang="en-US" b="1" dirty="0"/>
              <a:t>in </a:t>
            </a:r>
            <a:r>
              <a:rPr lang="en-US" b="1" dirty="0" smtClean="0"/>
              <a:t>real-time</a:t>
            </a:r>
            <a:r>
              <a:rPr lang="en-US" dirty="0" smtClean="0"/>
              <a:t>.</a:t>
            </a:r>
          </a:p>
          <a:p>
            <a:pPr lvl="0"/>
            <a:r>
              <a:rPr lang="en-US" altLang="en-US" dirty="0" smtClean="0"/>
              <a:t>Implement </a:t>
            </a:r>
            <a:r>
              <a:rPr lang="en-US" altLang="en-US" b="1" dirty="0"/>
              <a:t>caching</a:t>
            </a:r>
            <a:r>
              <a:rPr lang="en-US" altLang="en-US" dirty="0"/>
              <a:t> (e.g., </a:t>
            </a:r>
            <a:r>
              <a:rPr lang="en-US" altLang="en-US" dirty="0" err="1"/>
              <a:t>Redis</a:t>
            </a:r>
            <a:r>
              <a:rPr lang="en-US" altLang="en-US" dirty="0"/>
              <a:t>) to reduce database load. </a:t>
            </a:r>
            <a:endParaRPr lang="en-US" altLang="en-US" dirty="0" smtClean="0"/>
          </a:p>
          <a:p>
            <a:pPr lvl="0"/>
            <a:r>
              <a:rPr lang="en-US" altLang="en-US" dirty="0" smtClean="0"/>
              <a:t>Optimize </a:t>
            </a:r>
            <a:r>
              <a:rPr lang="en-US" altLang="en-US" b="1" dirty="0"/>
              <a:t>database queries</a:t>
            </a:r>
            <a:r>
              <a:rPr lang="en-US" altLang="en-US" dirty="0"/>
              <a:t> for faster data retrieval. </a:t>
            </a:r>
          </a:p>
          <a:p>
            <a:pPr lvl="0"/>
            <a:endParaRPr lang="en-US" dirty="0" smtClean="0"/>
          </a:p>
          <a:p>
            <a:pPr lvl="0"/>
            <a:endParaRPr lang="en-US" dirty="0"/>
          </a:p>
        </p:txBody>
      </p:sp>
    </p:spTree>
    <p:extLst>
      <p:ext uri="{BB962C8B-B14F-4D97-AF65-F5344CB8AC3E}">
        <p14:creationId xmlns:p14="http://schemas.microsoft.com/office/powerpoint/2010/main" val="254018720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Usability Requirements</a:t>
            </a:r>
            <a:r>
              <a:rPr lang="en-US" dirty="0"/>
              <a:t/>
            </a:r>
            <a:br>
              <a:rPr lang="en-US" dirty="0"/>
            </a:br>
            <a:endParaRPr lang="en-US" dirty="0"/>
          </a:p>
        </p:txBody>
      </p:sp>
      <p:sp>
        <p:nvSpPr>
          <p:cNvPr id="3" name="Content Placeholder 2"/>
          <p:cNvSpPr>
            <a:spLocks noGrp="1"/>
          </p:cNvSpPr>
          <p:nvPr>
            <p:ph sz="quarter" idx="13"/>
          </p:nvPr>
        </p:nvSpPr>
        <p:spPr>
          <a:xfrm>
            <a:off x="1484311" y="2295375"/>
            <a:ext cx="10363826" cy="3424107"/>
          </a:xfrm>
        </p:spPr>
        <p:txBody>
          <a:bodyPr/>
          <a:lstStyle/>
          <a:p>
            <a:r>
              <a:rPr lang="en-US" dirty="0" smtClean="0"/>
              <a:t>Ensuring </a:t>
            </a:r>
            <a:r>
              <a:rPr lang="en-US" dirty="0"/>
              <a:t>the system is </a:t>
            </a:r>
            <a:r>
              <a:rPr lang="en-US" b="1" dirty="0"/>
              <a:t>easy to use</a:t>
            </a:r>
            <a:r>
              <a:rPr lang="en-US" dirty="0"/>
              <a:t> and </a:t>
            </a:r>
            <a:r>
              <a:rPr lang="en-US" b="1" dirty="0"/>
              <a:t>user-friendly</a:t>
            </a:r>
            <a:r>
              <a:rPr lang="en-US" dirty="0"/>
              <a:t>.</a:t>
            </a:r>
          </a:p>
          <a:p>
            <a:r>
              <a:rPr lang="en-US" dirty="0"/>
              <a:t>🔹 </a:t>
            </a:r>
            <a:r>
              <a:rPr lang="en-US" b="1" dirty="0"/>
              <a:t>Example:</a:t>
            </a:r>
            <a:r>
              <a:rPr lang="en-US" dirty="0"/>
              <a:t/>
            </a:r>
            <a:br>
              <a:rPr lang="en-US" dirty="0"/>
            </a:br>
            <a:r>
              <a:rPr lang="en-US" dirty="0"/>
              <a:t>A </a:t>
            </a:r>
            <a:r>
              <a:rPr lang="en-US" b="1" dirty="0"/>
              <a:t>hospital management system</a:t>
            </a:r>
            <a:r>
              <a:rPr lang="en-US" dirty="0"/>
              <a:t> should allow doctors to:</a:t>
            </a:r>
          </a:p>
          <a:p>
            <a:pPr lvl="0"/>
            <a:r>
              <a:rPr lang="en-US" b="1" dirty="0"/>
              <a:t>Find patient records within 5 seconds</a:t>
            </a:r>
            <a:r>
              <a:rPr lang="en-US" dirty="0"/>
              <a:t>.</a:t>
            </a:r>
          </a:p>
          <a:p>
            <a:pPr lvl="0"/>
            <a:r>
              <a:rPr lang="en-US" b="1" dirty="0"/>
              <a:t>Use the system after 2 hours of training</a:t>
            </a:r>
            <a:r>
              <a:rPr lang="en-US" dirty="0"/>
              <a:t>.</a:t>
            </a:r>
          </a:p>
        </p:txBody>
      </p:sp>
    </p:spTree>
    <p:extLst>
      <p:ext uri="{BB962C8B-B14F-4D97-AF65-F5344CB8AC3E}">
        <p14:creationId xmlns:p14="http://schemas.microsoft.com/office/powerpoint/2010/main" val="200123781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97163" y="304800"/>
            <a:ext cx="7772400" cy="1143000"/>
          </a:xfrm>
        </p:spPr>
        <p:txBody>
          <a:bodyPr/>
          <a:lstStyle/>
          <a:p>
            <a:r>
              <a:rPr lang="en-US" sz="3200" dirty="0"/>
              <a:t>Metrics for specifying nonfunctional requirements</a:t>
            </a:r>
          </a:p>
        </p:txBody>
      </p:sp>
      <p:graphicFrame>
        <p:nvGraphicFramePr>
          <p:cNvPr id="4" name="Table 3"/>
          <p:cNvGraphicFramePr>
            <a:graphicFrameLocks noGrp="1"/>
          </p:cNvGraphicFramePr>
          <p:nvPr>
            <p:extLst/>
          </p:nvPr>
        </p:nvGraphicFramePr>
        <p:xfrm>
          <a:off x="2514600" y="1600200"/>
          <a:ext cx="7620000" cy="4160520"/>
        </p:xfrm>
        <a:graphic>
          <a:graphicData uri="http://schemas.openxmlformats.org/drawingml/2006/table">
            <a:tbl>
              <a:tblPr/>
              <a:tblGrid>
                <a:gridCol w="2952750">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Performance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5052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Capacity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048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42672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events causing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Portability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target dependent statements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target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2190684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4685" y="329665"/>
            <a:ext cx="10018713" cy="1752599"/>
          </a:xfrm>
        </p:spPr>
        <p:txBody>
          <a:bodyPr/>
          <a:lstStyle/>
          <a:p>
            <a:r>
              <a:rPr lang="en-US" b="1" dirty="0"/>
              <a:t>Case Study 1: Online Banking System</a:t>
            </a:r>
            <a:br>
              <a:rPr lang="en-US" b="1" dirty="0"/>
            </a:br>
            <a:endParaRPr lang="en-US" dirty="0"/>
          </a:p>
        </p:txBody>
      </p:sp>
      <p:sp>
        <p:nvSpPr>
          <p:cNvPr id="3" name="Content Placeholder 2"/>
          <p:cNvSpPr>
            <a:spLocks noGrp="1"/>
          </p:cNvSpPr>
          <p:nvPr>
            <p:ph sz="quarter" idx="13"/>
          </p:nvPr>
        </p:nvSpPr>
        <p:spPr>
          <a:xfrm>
            <a:off x="1712669" y="1465846"/>
            <a:ext cx="10732795" cy="5183204"/>
          </a:xfrm>
        </p:spPr>
        <p:txBody>
          <a:bodyPr>
            <a:normAutofit fontScale="77500" lnSpcReduction="20000"/>
          </a:bodyPr>
          <a:lstStyle/>
          <a:p>
            <a:r>
              <a:rPr lang="en-US" b="1" dirty="0" smtClean="0"/>
              <a:t>Context</a:t>
            </a:r>
            <a:r>
              <a:rPr lang="en-US" b="1" dirty="0"/>
              <a:t>:</a:t>
            </a:r>
          </a:p>
          <a:p>
            <a:pPr marL="0" indent="0">
              <a:buNone/>
            </a:pPr>
            <a:r>
              <a:rPr lang="en-US" dirty="0"/>
              <a:t>A bank wants to develop a </a:t>
            </a:r>
            <a:r>
              <a:rPr lang="en-US" b="1" dirty="0"/>
              <a:t>new online banking system</a:t>
            </a:r>
            <a:r>
              <a:rPr lang="en-US" dirty="0"/>
              <a:t> to provide users with account management, money transfers, and bill payments.</a:t>
            </a:r>
          </a:p>
          <a:p>
            <a:r>
              <a:rPr lang="en-US" b="1" dirty="0" smtClean="0"/>
              <a:t> </a:t>
            </a:r>
            <a:r>
              <a:rPr lang="en-US" b="1" dirty="0"/>
              <a:t>Functional Requirements (FRs):</a:t>
            </a:r>
          </a:p>
          <a:p>
            <a:pPr lvl="1"/>
            <a:r>
              <a:rPr lang="en-US" dirty="0"/>
              <a:t>Users </a:t>
            </a:r>
            <a:r>
              <a:rPr lang="en-US" b="1" dirty="0"/>
              <a:t>must log in</a:t>
            </a:r>
            <a:r>
              <a:rPr lang="en-US" dirty="0"/>
              <a:t> using a username, password, and OTP.</a:t>
            </a:r>
          </a:p>
          <a:p>
            <a:pPr lvl="1"/>
            <a:r>
              <a:rPr lang="en-US" dirty="0"/>
              <a:t>Users </a:t>
            </a:r>
            <a:r>
              <a:rPr lang="en-US" b="1" dirty="0"/>
              <a:t>can transfer money</a:t>
            </a:r>
            <a:r>
              <a:rPr lang="en-US" dirty="0"/>
              <a:t> to other bank accounts.</a:t>
            </a:r>
          </a:p>
          <a:p>
            <a:pPr lvl="1"/>
            <a:r>
              <a:rPr lang="en-US" dirty="0"/>
              <a:t>Users </a:t>
            </a:r>
            <a:r>
              <a:rPr lang="en-US" b="1" dirty="0"/>
              <a:t>can view transaction history</a:t>
            </a:r>
            <a:r>
              <a:rPr lang="en-US" dirty="0"/>
              <a:t> for the last 6 months.</a:t>
            </a:r>
          </a:p>
          <a:p>
            <a:pPr lvl="1"/>
            <a:r>
              <a:rPr lang="en-US" dirty="0"/>
              <a:t>Users </a:t>
            </a:r>
            <a:r>
              <a:rPr lang="en-US" b="1" dirty="0"/>
              <a:t>can pay utility bills</a:t>
            </a:r>
            <a:r>
              <a:rPr lang="en-US" dirty="0"/>
              <a:t> directly from their account.</a:t>
            </a:r>
          </a:p>
          <a:p>
            <a:r>
              <a:rPr lang="en-US" b="1" dirty="0" smtClean="0"/>
              <a:t> </a:t>
            </a:r>
            <a:r>
              <a:rPr lang="en-US" b="1" dirty="0"/>
              <a:t>Non-Functional Requirements (NFRs):</a:t>
            </a:r>
          </a:p>
          <a:p>
            <a:pPr lvl="1"/>
            <a:r>
              <a:rPr lang="en-US" dirty="0"/>
              <a:t>The system should process transactions </a:t>
            </a:r>
            <a:r>
              <a:rPr lang="en-US" b="1" dirty="0"/>
              <a:t>within 5 seconds</a:t>
            </a:r>
            <a:r>
              <a:rPr lang="en-US" dirty="0"/>
              <a:t>.</a:t>
            </a:r>
          </a:p>
          <a:p>
            <a:pPr lvl="1"/>
            <a:r>
              <a:rPr lang="en-US" dirty="0"/>
              <a:t>The system should support </a:t>
            </a:r>
            <a:r>
              <a:rPr lang="en-US" b="1" dirty="0"/>
              <a:t>at least 1 million users per day</a:t>
            </a:r>
            <a:r>
              <a:rPr lang="en-US" dirty="0"/>
              <a:t>.</a:t>
            </a:r>
          </a:p>
          <a:p>
            <a:pPr lvl="1"/>
            <a:r>
              <a:rPr lang="en-US" dirty="0"/>
              <a:t>The system should be </a:t>
            </a:r>
            <a:r>
              <a:rPr lang="en-US" b="1" dirty="0"/>
              <a:t>available 24/7 with 99.9% uptime</a:t>
            </a:r>
            <a:r>
              <a:rPr lang="en-US" dirty="0"/>
              <a:t>.</a:t>
            </a:r>
          </a:p>
          <a:p>
            <a:pPr lvl="1"/>
            <a:r>
              <a:rPr lang="en-US" dirty="0"/>
              <a:t>Users should receive </a:t>
            </a:r>
            <a:r>
              <a:rPr lang="en-US" b="1" dirty="0"/>
              <a:t>email &amp; SMS alerts</a:t>
            </a:r>
            <a:r>
              <a:rPr lang="en-US" dirty="0"/>
              <a:t> for every transaction.</a:t>
            </a:r>
          </a:p>
          <a:p>
            <a:r>
              <a:rPr lang="en-US" b="1" dirty="0" smtClean="0"/>
              <a:t>Requirements </a:t>
            </a:r>
            <a:r>
              <a:rPr lang="en-US" b="1" dirty="0"/>
              <a:t>Validation:</a:t>
            </a:r>
          </a:p>
          <a:p>
            <a:pPr lvl="1"/>
            <a:r>
              <a:rPr lang="en-US" dirty="0"/>
              <a:t>✅ A stakeholder review found that customers also need </a:t>
            </a:r>
            <a:r>
              <a:rPr lang="en-US" b="1" dirty="0"/>
              <a:t>mobile banking support</a:t>
            </a:r>
            <a:r>
              <a:rPr lang="en-US" dirty="0"/>
              <a:t>.</a:t>
            </a:r>
            <a:br>
              <a:rPr lang="en-US" dirty="0"/>
            </a:br>
            <a:r>
              <a:rPr lang="en-US" dirty="0"/>
              <a:t>✅ The system should support </a:t>
            </a:r>
            <a:r>
              <a:rPr lang="en-US" b="1" dirty="0"/>
              <a:t>biometric login</a:t>
            </a:r>
            <a:r>
              <a:rPr lang="en-US" dirty="0"/>
              <a:t> </a:t>
            </a:r>
            <a:r>
              <a:rPr lang="en-US" dirty="0" smtClean="0"/>
              <a:t>(Fingerprint</a:t>
            </a:r>
            <a:r>
              <a:rPr lang="en-US" dirty="0"/>
              <a:t>) for mobile users.</a:t>
            </a:r>
          </a:p>
        </p:txBody>
      </p:sp>
    </p:spTree>
    <p:extLst>
      <p:ext uri="{BB962C8B-B14F-4D97-AF65-F5344CB8AC3E}">
        <p14:creationId xmlns:p14="http://schemas.microsoft.com/office/powerpoint/2010/main" val="188692211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5810" y="377791"/>
            <a:ext cx="10018713" cy="1752599"/>
          </a:xfrm>
        </p:spPr>
        <p:txBody>
          <a:bodyPr/>
          <a:lstStyle/>
          <a:p>
            <a:r>
              <a:rPr lang="en-US" b="1" dirty="0"/>
              <a:t>Case Study </a:t>
            </a:r>
            <a:r>
              <a:rPr lang="en-US" b="1" dirty="0" smtClean="0"/>
              <a:t>: </a:t>
            </a:r>
            <a:r>
              <a:rPr lang="en-US" b="1" dirty="0"/>
              <a:t>University Student Portal</a:t>
            </a:r>
            <a:br>
              <a:rPr lang="en-US" b="1" dirty="0"/>
            </a:br>
            <a:endParaRPr lang="en-US" dirty="0"/>
          </a:p>
        </p:txBody>
      </p:sp>
      <p:sp>
        <p:nvSpPr>
          <p:cNvPr id="3" name="Content Placeholder 2"/>
          <p:cNvSpPr>
            <a:spLocks noGrp="1"/>
          </p:cNvSpPr>
          <p:nvPr>
            <p:ph sz="quarter" idx="13"/>
          </p:nvPr>
        </p:nvSpPr>
        <p:spPr>
          <a:xfrm>
            <a:off x="1905177" y="1550471"/>
            <a:ext cx="9866521" cy="5105399"/>
          </a:xfrm>
        </p:spPr>
        <p:txBody>
          <a:bodyPr>
            <a:normAutofit fontScale="70000" lnSpcReduction="20000"/>
          </a:bodyPr>
          <a:lstStyle/>
          <a:p>
            <a:r>
              <a:rPr lang="en-US" b="1" dirty="0" smtClean="0"/>
              <a:t>Context</a:t>
            </a:r>
            <a:r>
              <a:rPr lang="en-US" b="1" dirty="0"/>
              <a:t>:</a:t>
            </a:r>
          </a:p>
          <a:p>
            <a:pPr marL="0" indent="0">
              <a:buNone/>
            </a:pPr>
            <a:r>
              <a:rPr lang="en-US" dirty="0"/>
              <a:t>A university wants to develop a </a:t>
            </a:r>
            <a:r>
              <a:rPr lang="en-US" b="1" dirty="0"/>
              <a:t>portal for students</a:t>
            </a:r>
            <a:r>
              <a:rPr lang="en-US" dirty="0"/>
              <a:t> to register for courses, check grades, and pay fees.</a:t>
            </a:r>
          </a:p>
          <a:p>
            <a:r>
              <a:rPr lang="en-US" b="1" dirty="0" smtClean="0"/>
              <a:t>Functional </a:t>
            </a:r>
            <a:r>
              <a:rPr lang="en-US" b="1" dirty="0"/>
              <a:t>Requirements (FRs):</a:t>
            </a:r>
          </a:p>
          <a:p>
            <a:pPr lvl="1"/>
            <a:r>
              <a:rPr lang="en-US" dirty="0"/>
              <a:t>Students should be able to </a:t>
            </a:r>
            <a:r>
              <a:rPr lang="en-US" b="1" dirty="0"/>
              <a:t>register for courses online</a:t>
            </a:r>
            <a:r>
              <a:rPr lang="en-US" dirty="0"/>
              <a:t>.</a:t>
            </a:r>
          </a:p>
          <a:p>
            <a:pPr lvl="1"/>
            <a:r>
              <a:rPr lang="en-US" dirty="0"/>
              <a:t>Professors should be able to </a:t>
            </a:r>
            <a:r>
              <a:rPr lang="en-US" b="1" dirty="0"/>
              <a:t>upload course materials</a:t>
            </a:r>
            <a:r>
              <a:rPr lang="en-US" dirty="0"/>
              <a:t>.</a:t>
            </a:r>
          </a:p>
          <a:p>
            <a:pPr lvl="1"/>
            <a:r>
              <a:rPr lang="en-US" dirty="0"/>
              <a:t>Students should be able to </a:t>
            </a:r>
            <a:r>
              <a:rPr lang="en-US" b="1" dirty="0"/>
              <a:t>view their grades</a:t>
            </a:r>
            <a:r>
              <a:rPr lang="en-US" dirty="0"/>
              <a:t> for each course.</a:t>
            </a:r>
          </a:p>
          <a:p>
            <a:pPr lvl="1"/>
            <a:r>
              <a:rPr lang="en-US" dirty="0"/>
              <a:t>The system should allow </a:t>
            </a:r>
            <a:r>
              <a:rPr lang="en-US" b="1" dirty="0"/>
              <a:t>online fee payment</a:t>
            </a:r>
            <a:r>
              <a:rPr lang="en-US" dirty="0"/>
              <a:t>.</a:t>
            </a:r>
          </a:p>
          <a:p>
            <a:r>
              <a:rPr lang="en-US" b="1" dirty="0" smtClean="0"/>
              <a:t>Non-Functional </a:t>
            </a:r>
            <a:r>
              <a:rPr lang="en-US" b="1" dirty="0"/>
              <a:t>Requirements (NFRs):</a:t>
            </a:r>
          </a:p>
          <a:p>
            <a:pPr lvl="1"/>
            <a:r>
              <a:rPr lang="en-US" dirty="0"/>
              <a:t>The system should be accessible </a:t>
            </a:r>
            <a:r>
              <a:rPr lang="en-US" b="1" dirty="0"/>
              <a:t>24/7 with 99.5% uptime</a:t>
            </a:r>
            <a:r>
              <a:rPr lang="en-US" dirty="0"/>
              <a:t>.</a:t>
            </a:r>
          </a:p>
          <a:p>
            <a:pPr lvl="1"/>
            <a:r>
              <a:rPr lang="en-US" dirty="0"/>
              <a:t>It should support </a:t>
            </a:r>
            <a:r>
              <a:rPr lang="en-US" b="1" dirty="0"/>
              <a:t>5,000 concurrent users</a:t>
            </a:r>
            <a:r>
              <a:rPr lang="en-US" dirty="0"/>
              <a:t> during peak times.</a:t>
            </a:r>
          </a:p>
          <a:p>
            <a:pPr lvl="1"/>
            <a:r>
              <a:rPr lang="en-US" dirty="0"/>
              <a:t>Course material uploads should support </a:t>
            </a:r>
            <a:r>
              <a:rPr lang="en-US" b="1" dirty="0"/>
              <a:t>PDF, DOCX, and PPTX files</a:t>
            </a:r>
            <a:r>
              <a:rPr lang="en-US" dirty="0"/>
              <a:t>.</a:t>
            </a:r>
          </a:p>
          <a:p>
            <a:r>
              <a:rPr lang="en-US" b="1" dirty="0" smtClean="0"/>
              <a:t>Usability </a:t>
            </a:r>
            <a:r>
              <a:rPr lang="en-US" b="1" dirty="0"/>
              <a:t>Requirements:</a:t>
            </a:r>
          </a:p>
          <a:p>
            <a:pPr lvl="1"/>
            <a:r>
              <a:rPr lang="en-US" dirty="0"/>
              <a:t>Students should be able to </a:t>
            </a:r>
            <a:r>
              <a:rPr lang="en-US" b="1" dirty="0"/>
              <a:t>register for courses in under 2 minutes</a:t>
            </a:r>
            <a:r>
              <a:rPr lang="en-US" dirty="0"/>
              <a:t>.</a:t>
            </a:r>
          </a:p>
          <a:p>
            <a:pPr lvl="1"/>
            <a:r>
              <a:rPr lang="en-US" dirty="0"/>
              <a:t>The system should be </a:t>
            </a:r>
            <a:r>
              <a:rPr lang="en-US" b="1" dirty="0"/>
              <a:t>accessible on mobile and desktop</a:t>
            </a:r>
            <a:r>
              <a:rPr lang="en-US" dirty="0"/>
              <a:t>.</a:t>
            </a:r>
          </a:p>
          <a:p>
            <a:r>
              <a:rPr lang="en-US" b="1" dirty="0" smtClean="0"/>
              <a:t>Requirement </a:t>
            </a:r>
            <a:r>
              <a:rPr lang="en-US" b="1" dirty="0"/>
              <a:t>Change After Validation:</a:t>
            </a:r>
            <a:r>
              <a:rPr lang="en-US" dirty="0"/>
              <a:t/>
            </a:r>
            <a:br>
              <a:rPr lang="en-US" dirty="0"/>
            </a:br>
            <a:r>
              <a:rPr lang="en-US" dirty="0" smtClean="0"/>
              <a:t>	❌ </a:t>
            </a:r>
            <a:r>
              <a:rPr lang="en-US" dirty="0"/>
              <a:t>Students complained that they couldn’t </a:t>
            </a:r>
            <a:r>
              <a:rPr lang="en-US" b="1" dirty="0"/>
              <a:t>change courses after registration</a:t>
            </a:r>
            <a:r>
              <a:rPr lang="en-US" dirty="0"/>
              <a:t>.</a:t>
            </a:r>
            <a:br>
              <a:rPr lang="en-US" dirty="0"/>
            </a:br>
            <a:r>
              <a:rPr lang="en-US" dirty="0" smtClean="0"/>
              <a:t>✅ </a:t>
            </a:r>
            <a:r>
              <a:rPr lang="en-US" dirty="0"/>
              <a:t>New </a:t>
            </a:r>
            <a:r>
              <a:rPr lang="en-US" sz="2600" b="1" dirty="0"/>
              <a:t>requirement</a:t>
            </a:r>
            <a:r>
              <a:rPr lang="en-US" dirty="0"/>
              <a:t>: </a:t>
            </a:r>
            <a:r>
              <a:rPr lang="en-US" b="1" dirty="0"/>
              <a:t>"Students can modify course selection within the first week of classes."</a:t>
            </a:r>
            <a:endParaRPr lang="en-US" dirty="0"/>
          </a:p>
        </p:txBody>
      </p:sp>
    </p:spTree>
    <p:extLst>
      <p:ext uri="{BB962C8B-B14F-4D97-AF65-F5344CB8AC3E}">
        <p14:creationId xmlns:p14="http://schemas.microsoft.com/office/powerpoint/2010/main" val="16533518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Takeaways from Case Studies</a:t>
            </a:r>
            <a:br>
              <a:rPr lang="en-US" b="1" dirty="0"/>
            </a:br>
            <a:endParaRPr lang="en-US" dirty="0"/>
          </a:p>
        </p:txBody>
      </p:sp>
      <p:sp>
        <p:nvSpPr>
          <p:cNvPr id="3" name="Content Placeholder 2"/>
          <p:cNvSpPr>
            <a:spLocks noGrp="1"/>
          </p:cNvSpPr>
          <p:nvPr>
            <p:ph sz="quarter" idx="13"/>
          </p:nvPr>
        </p:nvSpPr>
        <p:spPr>
          <a:xfrm>
            <a:off x="1484311" y="2438399"/>
            <a:ext cx="10363826" cy="3424107"/>
          </a:xfrm>
        </p:spPr>
        <p:txBody>
          <a:bodyPr/>
          <a:lstStyle/>
          <a:p>
            <a:pPr marL="0" indent="0">
              <a:buNone/>
            </a:pPr>
            <a:r>
              <a:rPr lang="en-US" dirty="0" smtClean="0"/>
              <a:t>✅ </a:t>
            </a:r>
            <a:r>
              <a:rPr lang="en-US" b="1" dirty="0"/>
              <a:t>Functional requirements</a:t>
            </a:r>
            <a:r>
              <a:rPr lang="en-US" dirty="0"/>
              <a:t> describe </a:t>
            </a:r>
            <a:r>
              <a:rPr lang="en-US" b="1" dirty="0"/>
              <a:t>what the system does</a:t>
            </a:r>
            <a:r>
              <a:rPr lang="en-US" dirty="0"/>
              <a:t> (features &amp; capabilities).</a:t>
            </a:r>
            <a:br>
              <a:rPr lang="en-US" dirty="0"/>
            </a:br>
            <a:r>
              <a:rPr lang="en-US" dirty="0"/>
              <a:t>✅ </a:t>
            </a:r>
            <a:r>
              <a:rPr lang="en-US" b="1" dirty="0"/>
              <a:t>Non-functional requirements</a:t>
            </a:r>
            <a:r>
              <a:rPr lang="en-US" dirty="0"/>
              <a:t> describe </a:t>
            </a:r>
            <a:r>
              <a:rPr lang="en-US" b="1" dirty="0"/>
              <a:t>how the system behaves</a:t>
            </a:r>
            <a:r>
              <a:rPr lang="en-US" dirty="0"/>
              <a:t> (performance, security, scalability).</a:t>
            </a:r>
            <a:br>
              <a:rPr lang="en-US" dirty="0"/>
            </a:br>
            <a:r>
              <a:rPr lang="en-US" dirty="0"/>
              <a:t>✅ </a:t>
            </a:r>
            <a:r>
              <a:rPr lang="en-US" b="1" dirty="0"/>
              <a:t>Validation is essential</a:t>
            </a:r>
            <a:r>
              <a:rPr lang="en-US" dirty="0"/>
              <a:t> to ensure requirements match user expectations.</a:t>
            </a:r>
            <a:br>
              <a:rPr lang="en-US" dirty="0"/>
            </a:br>
            <a:r>
              <a:rPr lang="en-US" dirty="0"/>
              <a:t>✅ </a:t>
            </a:r>
            <a:r>
              <a:rPr lang="en-US" b="1" dirty="0"/>
              <a:t>Requirements evolve</a:t>
            </a:r>
            <a:r>
              <a:rPr lang="en-US" dirty="0"/>
              <a:t> as users provide feedback and new needs arise.</a:t>
            </a:r>
          </a:p>
        </p:txBody>
      </p:sp>
    </p:spTree>
    <p:extLst>
      <p:ext uri="{BB962C8B-B14F-4D97-AF65-F5344CB8AC3E}">
        <p14:creationId xmlns:p14="http://schemas.microsoft.com/office/powerpoint/2010/main" val="369125114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320</TotalTime>
  <Words>3214</Words>
  <Application>Microsoft Office PowerPoint</Application>
  <PresentationFormat>Widescreen</PresentationFormat>
  <Paragraphs>287</Paragraphs>
  <Slides>28</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Corbel</vt:lpstr>
      <vt:lpstr>Times New Roman</vt:lpstr>
      <vt:lpstr>Parallax</vt:lpstr>
      <vt:lpstr>Requirement Engineering 1  </vt:lpstr>
      <vt:lpstr>Requirement Engineering</vt:lpstr>
      <vt:lpstr>What is a Requirement?</vt:lpstr>
      <vt:lpstr>Two Ways Requirements Are Used</vt:lpstr>
      <vt:lpstr>PowerPoint Presentation</vt:lpstr>
      <vt:lpstr>PowerPoint Presentation</vt:lpstr>
      <vt:lpstr>Requirements Abstraction </vt:lpstr>
      <vt:lpstr>Types of Requirements</vt:lpstr>
      <vt:lpstr>PowerPoint Presentation</vt:lpstr>
      <vt:lpstr>Functional and Non-Functional Requirements</vt:lpstr>
      <vt:lpstr>PowerPoint Presentation</vt:lpstr>
      <vt:lpstr>The Software Requirements Document (SRD)</vt:lpstr>
      <vt:lpstr>PowerPoint Presentation</vt:lpstr>
      <vt:lpstr>Requirements Engineering Processes </vt:lpstr>
      <vt:lpstr>Requirements Elicitation </vt:lpstr>
      <vt:lpstr>Requirements Analysis</vt:lpstr>
      <vt:lpstr>Requirements Specification</vt:lpstr>
      <vt:lpstr>Requirements Validation </vt:lpstr>
      <vt:lpstr>Requirements Management </vt:lpstr>
      <vt:lpstr>Requirements Imprecision</vt:lpstr>
      <vt:lpstr>Requirements Completeness and Consistency </vt:lpstr>
      <vt:lpstr>Domain Requirements </vt:lpstr>
      <vt:lpstr>Non-Functional Requirements Implementation </vt:lpstr>
      <vt:lpstr>Usability Requirements </vt:lpstr>
      <vt:lpstr>Metrics for specifying nonfunctional requirements</vt:lpstr>
      <vt:lpstr>Case Study 1: Online Banking System </vt:lpstr>
      <vt:lpstr>Case Study : University Student Portal </vt:lpstr>
      <vt:lpstr>Key Takeaways from Case Studies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 Engineering</dc:title>
  <dc:creator>Atifa Arooj</dc:creator>
  <cp:lastModifiedBy>Atifa Arooj</cp:lastModifiedBy>
  <cp:revision>33</cp:revision>
  <dcterms:created xsi:type="dcterms:W3CDTF">2025-03-13T07:27:08Z</dcterms:created>
  <dcterms:modified xsi:type="dcterms:W3CDTF">2025-03-24T08:56:18Z</dcterms:modified>
</cp:coreProperties>
</file>
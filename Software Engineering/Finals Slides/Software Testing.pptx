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4" r:id="rId1"/>
  </p:sldMasterIdLst>
  <p:notesMasterIdLst>
    <p:notesMasterId r:id="rId18"/>
  </p:notesMasterIdLst>
  <p:handoutMasterIdLst>
    <p:handoutMasterId r:id="rId19"/>
  </p:handoutMasterIdLst>
  <p:sldIdLst>
    <p:sldId id="325" r:id="rId2"/>
    <p:sldId id="524" r:id="rId3"/>
    <p:sldId id="525" r:id="rId4"/>
    <p:sldId id="380" r:id="rId5"/>
    <p:sldId id="526" r:id="rId6"/>
    <p:sldId id="527" r:id="rId7"/>
    <p:sldId id="528" r:id="rId8"/>
    <p:sldId id="529" r:id="rId9"/>
    <p:sldId id="530" r:id="rId10"/>
    <p:sldId id="531" r:id="rId11"/>
    <p:sldId id="533" r:id="rId12"/>
    <p:sldId id="534" r:id="rId13"/>
    <p:sldId id="535" r:id="rId14"/>
    <p:sldId id="536" r:id="rId15"/>
    <p:sldId id="537" r:id="rId16"/>
    <p:sldId id="538" r:id="rId17"/>
  </p:sldIdLst>
  <p:sldSz cx="9906000" cy="6858000" type="A4"/>
  <p:notesSz cx="6858000" cy="97663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ctr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25C818"/>
    <a:srgbClr val="000000"/>
    <a:srgbClr val="FF00FF"/>
    <a:srgbClr val="640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60" autoAdjust="0"/>
  </p:normalViewPr>
  <p:slideViewPr>
    <p:cSldViewPr>
      <p:cViewPr varScale="1">
        <p:scale>
          <a:sx n="61" d="100"/>
          <a:sy n="61" d="100"/>
        </p:scale>
        <p:origin x="1224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14070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185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notes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847725"/>
            <a:ext cx="4953000" cy="3429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</p:spTree>
    <p:extLst>
      <p:ext uri="{BB962C8B-B14F-4D97-AF65-F5344CB8AC3E}">
        <p14:creationId xmlns:p14="http://schemas.microsoft.com/office/powerpoint/2010/main" val="632130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8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2750" y="1676402"/>
            <a:ext cx="3838575" cy="413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425" y="1676402"/>
            <a:ext cx="3838575" cy="413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2" y="273053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3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4437" y="263525"/>
            <a:ext cx="1960563" cy="5543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2750" y="263525"/>
            <a:ext cx="5716588" cy="5543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27517" y="1371600"/>
            <a:ext cx="8640233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Times" pitchFamily="18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40080" y="263526"/>
            <a:ext cx="8502650" cy="1108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840" tIns="44623" rIns="90840" bIns="44623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0080" y="1676401"/>
            <a:ext cx="8502650" cy="413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840" tIns="44623" rIns="90840" bIns="446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640080" y="6523039"/>
            <a:ext cx="8502651" cy="2747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840" tIns="44623" rIns="90840" bIns="44623">
            <a:spAutoFit/>
          </a:bodyPr>
          <a:lstStyle/>
          <a:p>
            <a:pPr algn="l" defTabSz="917575">
              <a:defRPr/>
            </a:pPr>
            <a:r>
              <a:rPr lang="en-GB" sz="1200" dirty="0">
                <a:solidFill>
                  <a:schemeClr val="tx2"/>
                </a:solidFill>
                <a:latin typeface="Times" pitchFamily="18" charset="0"/>
              </a:rPr>
              <a:t>          Chapter 8                                                                      </a:t>
            </a:r>
            <a:r>
              <a:rPr lang="en-GB" sz="1200" baseline="0" dirty="0">
                <a:solidFill>
                  <a:schemeClr val="tx2"/>
                </a:solidFill>
                <a:latin typeface="Times" pitchFamily="18" charset="0"/>
              </a:rPr>
              <a:t>Software Testing                                                                      </a:t>
            </a:r>
            <a:r>
              <a:rPr lang="en-GB" sz="1200" dirty="0">
                <a:solidFill>
                  <a:schemeClr val="tx2"/>
                </a:solidFill>
                <a:latin typeface="Times" pitchFamily="18" charset="0"/>
              </a:rPr>
              <a:t>Slide  </a:t>
            </a:r>
            <a:fld id="{12FF2E27-7D82-42CE-BD66-A137919E8416}" type="slidenum">
              <a:rPr lang="en-GB" sz="1200">
                <a:solidFill>
                  <a:schemeClr val="tx2"/>
                </a:solidFill>
                <a:latin typeface="Times" pitchFamily="18" charset="0"/>
              </a:rPr>
              <a:pPr algn="l" defTabSz="917575">
                <a:defRPr/>
              </a:pPr>
              <a:t>‹#›</a:t>
            </a:fld>
            <a:endParaRPr lang="en-GB" sz="1200" dirty="0">
              <a:solidFill>
                <a:schemeClr val="tx2"/>
              </a:solidFill>
              <a:latin typeface="Times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7575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917575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2pPr>
      <a:lvl3pPr algn="l" defTabSz="917575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3pPr>
      <a:lvl4pPr algn="l" defTabSz="917575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4pPr>
      <a:lvl5pPr algn="l" defTabSz="917575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5pPr>
      <a:lvl6pPr marL="457200" algn="l" defTabSz="917575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6pPr>
      <a:lvl7pPr marL="914400" algn="l" defTabSz="917575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7pPr>
      <a:lvl8pPr marL="1371600" algn="l" defTabSz="917575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8pPr>
      <a:lvl9pPr marL="1828800" algn="l" defTabSz="917575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9pPr>
    </p:titleStyle>
    <p:bodyStyle>
      <a:lvl1pPr marL="466725" indent="-466725" algn="l" defTabSz="917575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1039813" indent="-458788" algn="l" defTabSz="9175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itchFamily="34" charset="0"/>
        <a:buChar char="•"/>
        <a:defRPr sz="2400">
          <a:solidFill>
            <a:schemeClr val="tx1"/>
          </a:solidFill>
          <a:latin typeface="+mn-lt"/>
        </a:defRPr>
      </a:lvl2pPr>
      <a:lvl3pPr marL="1382713" indent="-228600" algn="l" defTabSz="9175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»"/>
        <a:defRPr sz="2000">
          <a:solidFill>
            <a:schemeClr val="tx1"/>
          </a:solidFill>
          <a:latin typeface="+mn-lt"/>
        </a:defRPr>
      </a:lvl3pPr>
      <a:lvl4pPr marL="1727200" indent="-228600" algn="l" defTabSz="917575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pitchFamily="2" charset="2"/>
        <a:buChar char=""/>
        <a:defRPr sz="2000">
          <a:solidFill>
            <a:schemeClr val="tx1"/>
          </a:solidFill>
          <a:latin typeface="+mn-lt"/>
        </a:defRPr>
      </a:lvl4pPr>
      <a:lvl5pPr marL="2071688" indent="-228600" algn="l" defTabSz="9175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</a:defRPr>
      </a:lvl5pPr>
      <a:lvl6pPr marL="2528888" indent="-228600" algn="l" defTabSz="9175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</a:defRPr>
      </a:lvl6pPr>
      <a:lvl7pPr marL="2986088" indent="-228600" algn="l" defTabSz="9175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</a:defRPr>
      </a:lvl7pPr>
      <a:lvl8pPr marL="3443288" indent="-228600" algn="l" defTabSz="9175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</a:defRPr>
      </a:lvl8pPr>
      <a:lvl9pPr marL="3900488" indent="-228600" algn="l" defTabSz="9175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886200"/>
            <a:ext cx="9906000" cy="1752600"/>
          </a:xfrm>
        </p:spPr>
        <p:txBody>
          <a:bodyPr lIns="91426" tIns="45713" rIns="91426" bIns="45713"/>
          <a:lstStyle/>
          <a:p>
            <a:r>
              <a:rPr lang="en-US" sz="4400" b="1" dirty="0"/>
              <a:t>Software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6200"/>
            <a:ext cx="8502650" cy="1108075"/>
          </a:xfrm>
        </p:spPr>
        <p:txBody>
          <a:bodyPr/>
          <a:lstStyle/>
          <a:p>
            <a:r>
              <a:rPr lang="en-US" dirty="0"/>
              <a:t>Why Software Testing?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4CB501-0E9C-42AA-A009-DF851049A931}"/>
              </a:ext>
            </a:extLst>
          </p:cNvPr>
          <p:cNvSpPr txBox="1"/>
          <p:nvPr/>
        </p:nvSpPr>
        <p:spPr>
          <a:xfrm>
            <a:off x="1066800" y="1720840"/>
            <a:ext cx="7112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endParaRPr lang="en-US" sz="2400" b="1" dirty="0">
              <a:effectLst/>
            </a:endParaRPr>
          </a:p>
          <a:p>
            <a:pPr marL="342900" indent="-342900" algn="l">
              <a:buFont typeface="Wingdings" pitchFamily="2" charset="2"/>
              <a:buChar char="q"/>
            </a:pPr>
            <a:r>
              <a:rPr lang="en-US" sz="2400" b="1" dirty="0">
                <a:effectLst/>
              </a:rPr>
              <a:t>Error Free</a:t>
            </a:r>
          </a:p>
          <a:p>
            <a:pPr algn="l"/>
            <a:endParaRPr lang="en-US" sz="2400" b="1" dirty="0">
              <a:effectLst/>
            </a:endParaRPr>
          </a:p>
          <a:p>
            <a:pPr marL="342900" indent="-342900" algn="l">
              <a:buFont typeface="Wingdings" pitchFamily="2" charset="2"/>
              <a:buChar char="q"/>
            </a:pPr>
            <a:r>
              <a:rPr lang="en-US" sz="2400" b="1" dirty="0">
                <a:effectLst/>
              </a:rPr>
              <a:t>Efficient</a:t>
            </a:r>
          </a:p>
          <a:p>
            <a:pPr algn="l"/>
            <a:endParaRPr lang="en-US" sz="2400" b="1" dirty="0">
              <a:effectLst/>
            </a:endParaRPr>
          </a:p>
          <a:p>
            <a:pPr marL="342900" indent="-342900" algn="l">
              <a:buFont typeface="Wingdings" pitchFamily="2" charset="2"/>
              <a:buChar char="q"/>
            </a:pPr>
            <a:r>
              <a:rPr lang="en-US" sz="2400" b="1" dirty="0">
                <a:effectLst/>
              </a:rPr>
              <a:t>Secured</a:t>
            </a:r>
          </a:p>
          <a:p>
            <a:pPr algn="l"/>
            <a:endParaRPr lang="en-US" sz="2400" b="1" dirty="0">
              <a:effectLst/>
            </a:endParaRPr>
          </a:p>
          <a:p>
            <a:pPr marL="342900" indent="-342900" algn="l">
              <a:buFont typeface="Wingdings" pitchFamily="2" charset="2"/>
              <a:buChar char="q"/>
            </a:pPr>
            <a:r>
              <a:rPr lang="en-US" sz="2400" b="1" dirty="0" smtClean="0">
                <a:effectLst/>
              </a:rPr>
              <a:t>Flexible</a:t>
            </a:r>
          </a:p>
          <a:p>
            <a:pPr algn="l"/>
            <a:endParaRPr lang="en-US" sz="2400" b="1" dirty="0"/>
          </a:p>
          <a:p>
            <a:pPr algn="l"/>
            <a:r>
              <a:rPr lang="en-US" altLang="en-US" sz="2400" b="1" dirty="0">
                <a:latin typeface="Arial" panose="020B0604020202020204" pitchFamily="34" charset="0"/>
              </a:rPr>
              <a:t>Example</a:t>
            </a:r>
            <a:r>
              <a:rPr lang="en-US" altLang="en-US" sz="2400" dirty="0">
                <a:latin typeface="Arial" panose="020B0604020202020204" pitchFamily="34" charset="0"/>
              </a:rPr>
              <a:t>: An online banking app must be tested to avoid errors in money transfers.</a:t>
            </a:r>
          </a:p>
          <a:p>
            <a:pPr algn="l"/>
            <a:r>
              <a:rPr lang="en-US" sz="2400" b="1" dirty="0">
                <a:effectLst/>
              </a:rPr>
              <a:t/>
            </a:r>
            <a:br>
              <a:rPr lang="en-US" sz="2400" b="1" dirty="0">
                <a:effectLst/>
              </a:rPr>
            </a:br>
            <a:endParaRPr lang="en-US" sz="24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39423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02650" cy="1108075"/>
          </a:xfrm>
        </p:spPr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Verification vs. </a:t>
            </a:r>
            <a:r>
              <a:rPr lang="en-US" altLang="en-US" sz="3200" dirty="0" smtClean="0">
                <a:solidFill>
                  <a:schemeClr val="tx1"/>
                </a:solidFill>
                <a:latin typeface="Arial" panose="020B0604020202020204" pitchFamily="34" charset="0"/>
              </a:rPr>
              <a:t>Validation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0080" y="2715412"/>
            <a:ext cx="873252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Are we building the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 product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Does a food delivery app really help users order food easily?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Verification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Are we building the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right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Does the login feature match the design specifications?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808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4925"/>
            <a:ext cx="8502650" cy="1108075"/>
          </a:xfrm>
        </p:spPr>
        <p:txBody>
          <a:bodyPr/>
          <a:lstStyle/>
          <a:p>
            <a:r>
              <a:rPr lang="en-US" dirty="0"/>
              <a:t>Program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981201"/>
            <a:ext cx="8732520" cy="3733799"/>
          </a:xfrm>
        </p:spPr>
        <p:txBody>
          <a:bodyPr/>
          <a:lstStyle/>
          <a:p>
            <a:r>
              <a:rPr lang="en-GB" sz="2400" dirty="0"/>
              <a:t>The term “</a:t>
            </a:r>
            <a:r>
              <a:rPr lang="en-GB" sz="2400" dirty="0">
                <a:solidFill>
                  <a:srgbClr val="FF0000"/>
                </a:solidFill>
              </a:rPr>
              <a:t>testing</a:t>
            </a:r>
            <a:r>
              <a:rPr lang="en-GB" sz="2400" dirty="0"/>
              <a:t>” can refer to </a:t>
            </a:r>
            <a:r>
              <a:rPr lang="en-GB" sz="2400" dirty="0">
                <a:solidFill>
                  <a:srgbClr val="FF0000"/>
                </a:solidFill>
              </a:rPr>
              <a:t>two distinct activities</a:t>
            </a:r>
            <a:r>
              <a:rPr lang="en-GB" sz="2400" dirty="0"/>
              <a:t>:</a:t>
            </a:r>
          </a:p>
          <a:p>
            <a:pPr lvl="1">
              <a:buFont typeface="+mj-lt"/>
              <a:buAutoNum type="arabicPeriod"/>
            </a:pPr>
            <a:r>
              <a:rPr lang="en-GB" sz="2000" dirty="0"/>
              <a:t>Attempting to </a:t>
            </a:r>
            <a:r>
              <a:rPr lang="en-GB" sz="2000" i="1" dirty="0">
                <a:solidFill>
                  <a:srgbClr val="FF0000"/>
                </a:solidFill>
              </a:rPr>
              <a:t>Debugging</a:t>
            </a:r>
            <a:r>
              <a:rPr lang="en-GB" sz="2000" i="1" dirty="0"/>
              <a:t> the program</a:t>
            </a:r>
            <a:endParaRPr lang="en-GB" sz="2000" dirty="0"/>
          </a:p>
          <a:p>
            <a:pPr lvl="1">
              <a:buFont typeface="+mj-lt"/>
              <a:buAutoNum type="arabicPeriod"/>
            </a:pPr>
            <a:r>
              <a:rPr lang="en-GB" sz="2000" dirty="0"/>
              <a:t>Attempting to </a:t>
            </a:r>
            <a:r>
              <a:rPr lang="en-GB" sz="2000" i="1" dirty="0"/>
              <a:t>discover </a:t>
            </a:r>
            <a:r>
              <a:rPr lang="en-GB" sz="2000" i="1" dirty="0">
                <a:solidFill>
                  <a:srgbClr val="FF0000"/>
                </a:solidFill>
              </a:rPr>
              <a:t>program defects </a:t>
            </a:r>
            <a:endParaRPr lang="en-GB" sz="2000" dirty="0">
              <a:solidFill>
                <a:srgbClr val="FF0000"/>
              </a:solidFill>
            </a:endParaRPr>
          </a:p>
          <a:p>
            <a:r>
              <a:rPr lang="en-GB" sz="2400" dirty="0"/>
              <a:t>Testing can reveal the presence of </a:t>
            </a:r>
            <a:r>
              <a:rPr lang="en-GB" sz="2400" dirty="0" smtClean="0"/>
              <a:t>errors</a:t>
            </a:r>
            <a:endParaRPr lang="en-GB" sz="2400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502650" cy="1108075"/>
          </a:xfrm>
        </p:spPr>
        <p:txBody>
          <a:bodyPr/>
          <a:lstStyle/>
          <a:p>
            <a:r>
              <a:rPr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Types of </a:t>
            </a:r>
            <a:r>
              <a:rPr lang="en-US" altLang="en-US" sz="4400" dirty="0" smtClean="0">
                <a:solidFill>
                  <a:schemeClr val="tx1"/>
                </a:solidFill>
                <a:latin typeface="Arial" panose="020B0604020202020204" pitchFamily="34" charset="0"/>
              </a:rPr>
              <a:t>Testing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0080" y="2156690"/>
            <a:ext cx="809067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Testing (done during coding)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 Testing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Test smallest parts like functions/methods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Test if the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add(x, y)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function returns correct sum.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 Testing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Test combined units/modules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Test a login form combining username and password fields.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Testing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Test full system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Check if the full e-commerce website works end-to-end.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185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502650" cy="1108075"/>
          </a:xfrm>
        </p:spPr>
        <p:txBody>
          <a:bodyPr/>
          <a:lstStyle/>
          <a:p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Release Testing (before giving it to users</a:t>
            </a:r>
            <a:r>
              <a:rPr lang="en-US" altLang="en-US" sz="2800" dirty="0" smtClean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0080" y="2402912"/>
            <a:ext cx="880872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>
              <a:spcBef>
                <a:spcPct val="0"/>
              </a:spcBef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Requirements-based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If a user with a food allergy orders a dish, the app shows a warning.</a:t>
            </a:r>
          </a:p>
          <a:p>
            <a:pPr defTabSz="914400">
              <a:spcBef>
                <a:spcPct val="0"/>
              </a:spcBef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 Testing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>
              <a:spcBef>
                <a:spcPct val="0"/>
              </a:spcBef>
              <a:buClrTx/>
              <a:buSzTx/>
              <a:buNone/>
            </a:pP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sz="1800" dirty="0"/>
              <a:t>A user wants to order food from a restaurant using a food delivery app like </a:t>
            </a:r>
            <a:r>
              <a:rPr lang="en-US" sz="1800" b="1" dirty="0" err="1"/>
              <a:t>Foodpanda</a:t>
            </a:r>
            <a:r>
              <a:rPr lang="en-US" sz="1800" dirty="0"/>
              <a:t> or </a:t>
            </a:r>
            <a:r>
              <a:rPr lang="en-US" sz="1800" b="1" dirty="0"/>
              <a:t>Uber Eats</a:t>
            </a:r>
            <a:r>
              <a:rPr lang="en-US" sz="1800" dirty="0" smtClean="0"/>
              <a:t>.</a:t>
            </a:r>
          </a:p>
          <a:p>
            <a:pPr defTabSz="914400">
              <a:spcBef>
                <a:spcPct val="0"/>
              </a:spcBef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How the ticket booking website performs when 1000 users try to buy tickets at the same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358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380730" cy="762001"/>
          </a:xfrm>
        </p:spPr>
        <p:txBody>
          <a:bodyPr/>
          <a:lstStyle/>
          <a:p>
            <a:pPr lvl="0" defTabSz="914400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User Testing 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81000" y="1746765"/>
            <a:ext cx="8763000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Alpha Testing</a:t>
            </a:r>
            <a:r>
              <a:rPr lang="en-US" altLang="en-US" sz="2000" dirty="0" smtClean="0">
                <a:latin typeface="Arial" panose="020B0604020202020204" pitchFamily="34" charset="0"/>
              </a:rPr>
              <a:t>:  </a:t>
            </a:r>
            <a:r>
              <a:rPr lang="en-US" altLang="en-US" sz="1800" dirty="0">
                <a:latin typeface="Arial" panose="020B0604020202020204" pitchFamily="34" charset="0"/>
              </a:rPr>
              <a:t>Done </a:t>
            </a:r>
            <a:r>
              <a:rPr lang="en-US" altLang="en-US" sz="1800" b="1" dirty="0">
                <a:latin typeface="Arial" panose="020B0604020202020204" pitchFamily="34" charset="0"/>
              </a:rPr>
              <a:t>at the developer’s site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defTabSz="9144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</a:rPr>
              <a:t>Users work with developers to test early versions</a:t>
            </a:r>
          </a:p>
          <a:p>
            <a:pPr marL="0" lvl="0" indent="0" defTabSz="9144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</a:rPr>
              <a:t>Developers can fix bugs immediately</a:t>
            </a:r>
          </a:p>
          <a:p>
            <a:pPr marL="0" lvl="0" indent="0" defTabSz="914400">
              <a:spcBef>
                <a:spcPct val="0"/>
              </a:spcBef>
              <a:buClrTx/>
              <a:buSz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Example</a:t>
            </a:r>
            <a:r>
              <a:rPr lang="en-US" altLang="en-US" sz="1800" dirty="0">
                <a:latin typeface="Arial" panose="020B0604020202020204" pitchFamily="34" charset="0"/>
              </a:rPr>
              <a:t>: Office staff from a company test new payroll software at the software company’s office</a:t>
            </a:r>
          </a:p>
          <a:p>
            <a:pPr marL="0" lvl="0" indent="0" defTabSz="914400">
              <a:spcBef>
                <a:spcPct val="0"/>
              </a:spcBef>
              <a:buClrTx/>
              <a:buSzTx/>
              <a:buNone/>
            </a:pPr>
            <a:r>
              <a:rPr lang="en-US" altLang="en-US" sz="2000" b="1" dirty="0" smtClean="0">
                <a:latin typeface="Arial" panose="020B0604020202020204" pitchFamily="34" charset="0"/>
              </a:rPr>
              <a:t>Beta Testing: </a:t>
            </a:r>
            <a:r>
              <a:rPr lang="en-US" altLang="en-US" sz="2000" dirty="0" smtClean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</a:rPr>
              <a:t>Done </a:t>
            </a:r>
            <a:r>
              <a:rPr lang="en-US" altLang="en-US" sz="1800" b="1" dirty="0">
                <a:latin typeface="Arial" panose="020B0604020202020204" pitchFamily="34" charset="0"/>
              </a:rPr>
              <a:t>at the user's location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defTabSz="9144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</a:rPr>
              <a:t>Real </a:t>
            </a:r>
            <a:r>
              <a:rPr lang="en-US" altLang="en-US" sz="1800" dirty="0">
                <a:latin typeface="Arial" panose="020B0604020202020204" pitchFamily="34" charset="0"/>
              </a:rPr>
              <a:t>users test the software in their </a:t>
            </a:r>
            <a:r>
              <a:rPr lang="en-US" altLang="en-US" sz="1800" b="1" dirty="0">
                <a:latin typeface="Arial" panose="020B0604020202020204" pitchFamily="34" charset="0"/>
              </a:rPr>
              <a:t>own environment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defTabSz="9144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</a:rPr>
              <a:t>Feedback is collected to improve the system</a:t>
            </a:r>
          </a:p>
          <a:p>
            <a:pPr marL="0" lvl="0" indent="0" defTabSz="914400">
              <a:spcBef>
                <a:spcPct val="0"/>
              </a:spcBef>
              <a:buClrTx/>
              <a:buSz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Example</a:t>
            </a:r>
            <a:r>
              <a:rPr lang="en-US" altLang="en-US" sz="1800" dirty="0">
                <a:latin typeface="Arial" panose="020B0604020202020204" pitchFamily="34" charset="0"/>
              </a:rPr>
              <a:t>: The company installs the payroll software in their own office and lets HR staff use it for real pay calculations in parallel with the old system.</a:t>
            </a:r>
          </a:p>
          <a:p>
            <a:pPr marL="0" lvl="0" indent="0" defTabSz="914400">
              <a:spcBef>
                <a:spcPct val="0"/>
              </a:spcBef>
              <a:buClrTx/>
              <a:buSzTx/>
              <a:buNone/>
            </a:pPr>
            <a:r>
              <a:rPr lang="en-US" altLang="en-US" sz="2000" b="1" dirty="0" smtClean="0">
                <a:latin typeface="Arial" panose="020B0604020202020204" pitchFamily="34" charset="0"/>
              </a:rPr>
              <a:t>Acceptance Testing: </a:t>
            </a:r>
            <a:r>
              <a:rPr lang="en-US" altLang="en-US" sz="2000" dirty="0" smtClean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</a:rPr>
              <a:t>Final testing done by the </a:t>
            </a:r>
            <a:r>
              <a:rPr lang="en-US" altLang="en-US" sz="1800" b="1" dirty="0">
                <a:latin typeface="Arial" panose="020B0604020202020204" pitchFamily="34" charset="0"/>
              </a:rPr>
              <a:t>client or customer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defTabSz="9144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</a:rPr>
              <a:t>Based on </a:t>
            </a:r>
            <a:r>
              <a:rPr lang="en-US" altLang="en-US" sz="1800" b="1" dirty="0">
                <a:latin typeface="Arial" panose="020B0604020202020204" pitchFamily="34" charset="0"/>
              </a:rPr>
              <a:t>requirements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defTabSz="9144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</a:rPr>
              <a:t>They </a:t>
            </a:r>
            <a:r>
              <a:rPr lang="en-US" altLang="en-US" sz="1800" dirty="0">
                <a:latin typeface="Arial" panose="020B0604020202020204" pitchFamily="34" charset="0"/>
              </a:rPr>
              <a:t>decide to </a:t>
            </a:r>
            <a:r>
              <a:rPr lang="en-US" altLang="en-US" sz="1800" b="1" dirty="0">
                <a:latin typeface="Arial" panose="020B0604020202020204" pitchFamily="34" charset="0"/>
              </a:rPr>
              <a:t>accept or reject</a:t>
            </a:r>
            <a:r>
              <a:rPr lang="en-US" altLang="en-US" sz="1800" dirty="0">
                <a:latin typeface="Arial" panose="020B0604020202020204" pitchFamily="34" charset="0"/>
              </a:rPr>
              <a:t> the system</a:t>
            </a:r>
          </a:p>
          <a:p>
            <a:pPr marL="0" lvl="0" indent="0" defTabSz="914400">
              <a:spcBef>
                <a:spcPct val="0"/>
              </a:spcBef>
              <a:buClrTx/>
              <a:buSz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Example</a:t>
            </a:r>
            <a:r>
              <a:rPr lang="en-US" altLang="en-US" sz="1800" dirty="0">
                <a:latin typeface="Arial" panose="020B0604020202020204" pitchFamily="34" charset="0"/>
              </a:rPr>
              <a:t>: After testing the payroll software, the company checks if it meets all salary, tax, and reporting needs. If satisfied, they officially approve and start using it</a:t>
            </a:r>
            <a:r>
              <a:rPr lang="en-US" altLang="en-US" sz="1800" dirty="0" smtClean="0">
                <a:latin typeface="Arial" panose="020B0604020202020204" pitchFamily="34" charset="0"/>
              </a:rPr>
              <a:t>.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137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Testing Techniques</a:t>
            </a:r>
            <a:b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sz="18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0080" y="2587578"/>
            <a:ext cx="880241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Partition Testing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Divide inputs into groups and test from each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Test a form with age input – one test with age = 0, another with age = 100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Guideline-based Testing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 past mistakes to guide tests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Test with empty fields, invalid inputs, or long text to find bugs.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634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defTabSz="914400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Inspections vs Testing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0080" y="2587578"/>
            <a:ext cx="634019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Inspections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Human reviews (no execution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Check code for missing comments or bad naming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 Execute code to see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Run the program to see if it crashes.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161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9296400" cy="1219201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Test-Driven Development (TDD)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81000" y="1786760"/>
            <a:ext cx="847764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tests first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then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Write a test for a login feature, then write the code until the test passes.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Benefits: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quality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debugging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Built-in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documentation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Content Placeholder 3"/>
          <p:cNvSpPr>
            <a:spLocks noGrp="1" noChangeArrowheads="1"/>
          </p:cNvSpPr>
          <p:nvPr>
            <p:ph idx="1"/>
          </p:nvPr>
        </p:nvSpPr>
        <p:spPr bwMode="auto">
          <a:xfrm>
            <a:off x="381000" y="3930880"/>
            <a:ext cx="8238153" cy="1415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tools like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JUnit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run tests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Run 1000 test cases instantly to check changes didn’t break the app.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748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defTabSz="914400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Interface Testing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idx="1"/>
          </p:nvPr>
        </p:nvSpPr>
        <p:spPr bwMode="auto">
          <a:xfrm>
            <a:off x="510540" y="1752600"/>
            <a:ext cx="917751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interaction between modules.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Errors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Interface misuse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Pass wrong data to a function (e.g., reversed parameters)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Interface misunderstanding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Assume function returns a number, but it returns a string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Timing error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One module is too slow, another moves on without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3733800"/>
            <a:ext cx="928419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en-US" b="1" dirty="0">
                <a:latin typeface="Arial" panose="020B0604020202020204" pitchFamily="34" charset="0"/>
              </a:rPr>
              <a:t>Minimum Viable Quality (MVQ)</a:t>
            </a:r>
            <a:r>
              <a:rPr lang="en-US" altLang="en-US" dirty="0">
                <a:latin typeface="Arial" panose="020B0604020202020204" pitchFamily="34" charset="0"/>
              </a:rPr>
              <a:t/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US" altLang="en-US" b="1" kern="0" dirty="0">
              <a:latin typeface="Arial" panose="020B0604020202020204" pitchFamily="34" charset="0"/>
            </a:endParaRPr>
          </a:p>
          <a:p>
            <a:pPr algn="l"/>
            <a:r>
              <a:rPr lang="en-US" altLang="en-US" sz="1800" kern="0" dirty="0">
                <a:latin typeface="Arial" panose="020B0604020202020204" pitchFamily="34" charset="0"/>
              </a:rPr>
              <a:t>Release software </a:t>
            </a:r>
            <a:r>
              <a:rPr lang="en-US" altLang="en-US" sz="1800" b="1" kern="0" dirty="0">
                <a:latin typeface="Arial" panose="020B0604020202020204" pitchFamily="34" charset="0"/>
              </a:rPr>
              <a:t>fast</a:t>
            </a:r>
            <a:r>
              <a:rPr lang="en-US" altLang="en-US" sz="1800" kern="0" dirty="0">
                <a:latin typeface="Arial" panose="020B0604020202020204" pitchFamily="34" charset="0"/>
              </a:rPr>
              <a:t>, even with some bugs</a:t>
            </a:r>
          </a:p>
          <a:p>
            <a:pPr algn="l">
              <a:buFontTx/>
              <a:buChar char="•"/>
            </a:pPr>
            <a:r>
              <a:rPr lang="en-US" altLang="en-US" sz="1800" kern="0" dirty="0">
                <a:latin typeface="Arial" panose="020B0604020202020204" pitchFamily="34" charset="0"/>
              </a:rPr>
              <a:t>Let real users test features early</a:t>
            </a:r>
          </a:p>
          <a:p>
            <a:pPr algn="l"/>
            <a:r>
              <a:rPr lang="en-US" altLang="en-US" sz="1800" i="1" kern="0" dirty="0">
                <a:latin typeface="Arial" panose="020B0604020202020204" pitchFamily="34" charset="0"/>
              </a:rPr>
              <a:t>Example</a:t>
            </a:r>
            <a:r>
              <a:rPr lang="en-US" altLang="en-US" sz="1800" kern="0" dirty="0">
                <a:latin typeface="Arial" panose="020B0604020202020204" pitchFamily="34" charset="0"/>
              </a:rPr>
              <a:t>: Instagram releases a new feature to a few users first—if bugs appear, they roll it back.</a:t>
            </a:r>
          </a:p>
        </p:txBody>
      </p:sp>
    </p:spTree>
    <p:extLst>
      <p:ext uri="{BB962C8B-B14F-4D97-AF65-F5344CB8AC3E}">
        <p14:creationId xmlns:p14="http://schemas.microsoft.com/office/powerpoint/2010/main" val="3044497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defTabSz="914400"/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Regression Testing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33401" y="2141835"/>
            <a:ext cx="89154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 testing is a type of software testing where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previously tested features are tested again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after a change (like a bug fix or update) to make sure: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Nothing else is broken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process.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01493" y="3060539"/>
            <a:ext cx="74676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is it Important?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changes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didn’t affect existing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stability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after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unexpected side effects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caused by code changes.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12379" y="4671739"/>
            <a:ext cx="412484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is Regression Testing Done?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fixing a bug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adding a new feature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performance or security updates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508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idx="1"/>
          </p:nvPr>
        </p:nvSpPr>
        <p:spPr bwMode="auto">
          <a:xfrm>
            <a:off x="596801" y="1977045"/>
            <a:ext cx="854592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>
              <a:spcBef>
                <a:spcPct val="0"/>
              </a:spcBef>
              <a:buClrTx/>
              <a:buSzTx/>
              <a:buNone/>
            </a:pPr>
            <a:r>
              <a:rPr lang="en-US" altLang="en-US" sz="1800" b="1" dirty="0" smtClean="0">
                <a:latin typeface="Arial" panose="020B0604020202020204" pitchFamily="34" charset="0"/>
              </a:rPr>
              <a:t>Example</a:t>
            </a:r>
            <a:r>
              <a:rPr lang="en-US" altLang="en-US" sz="1800" b="1" dirty="0">
                <a:latin typeface="Arial" panose="020B0604020202020204" pitchFamily="34" charset="0"/>
              </a:rPr>
              <a:t>:</a:t>
            </a:r>
          </a:p>
          <a:p>
            <a:pPr marL="0" lvl="0" indent="0" defTabSz="914400">
              <a:spcBef>
                <a:spcPct val="0"/>
              </a:spcBef>
              <a:buClrTx/>
              <a:buSz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In a </a:t>
            </a:r>
            <a:r>
              <a:rPr lang="en-US" altLang="en-US" sz="1800" b="1" dirty="0">
                <a:latin typeface="Arial" panose="020B0604020202020204" pitchFamily="34" charset="0"/>
              </a:rPr>
              <a:t>ticket booking system</a:t>
            </a:r>
            <a:r>
              <a:rPr lang="en-US" altLang="en-US" sz="1800" dirty="0">
                <a:latin typeface="Arial" panose="020B0604020202020204" pitchFamily="34" charset="0"/>
              </a:rPr>
              <a:t>, suppose a bug is fixed in the </a:t>
            </a:r>
            <a:r>
              <a:rPr lang="en-US" altLang="en-US" sz="1800" b="1" dirty="0">
                <a:latin typeface="Arial" panose="020B0604020202020204" pitchFamily="34" charset="0"/>
              </a:rPr>
              <a:t>seat selection</a:t>
            </a:r>
            <a:r>
              <a:rPr lang="en-US" altLang="en-US" sz="1800" dirty="0">
                <a:latin typeface="Arial" panose="020B0604020202020204" pitchFamily="34" charset="0"/>
              </a:rPr>
              <a:t> feature.</a:t>
            </a:r>
          </a:p>
          <a:p>
            <a:pPr marL="0" lvl="0" indent="0" defTabSz="914400">
              <a:spcBef>
                <a:spcPct val="0"/>
              </a:spcBef>
              <a:buClrTx/>
              <a:buSzTx/>
              <a:buNone/>
            </a:pPr>
            <a:r>
              <a:rPr lang="en-US" altLang="en-US" sz="1800" b="1" dirty="0" smtClean="0">
                <a:latin typeface="Arial" panose="020B0604020202020204" pitchFamily="34" charset="0"/>
              </a:rPr>
              <a:t>With </a:t>
            </a:r>
            <a:r>
              <a:rPr lang="en-US" altLang="en-US" sz="1800" b="1" dirty="0">
                <a:latin typeface="Arial" panose="020B0604020202020204" pitchFamily="34" charset="0"/>
              </a:rPr>
              <a:t>regression testing:</a:t>
            </a:r>
          </a:p>
          <a:p>
            <a:pPr marL="0" lvl="0" indent="0" defTabSz="9144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You re-test </a:t>
            </a:r>
            <a:r>
              <a:rPr lang="en-US" altLang="en-US" sz="1800" b="1" dirty="0">
                <a:latin typeface="Arial" panose="020B0604020202020204" pitchFamily="34" charset="0"/>
              </a:rPr>
              <a:t>seat selection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defTabSz="9144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You also test related features:</a:t>
            </a:r>
          </a:p>
          <a:p>
            <a:pPr marL="457200" lvl="1" indent="0" defTabSz="9144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Payment processing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457200" lvl="1" indent="0" defTabSz="9144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Booking confirmation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457200" lvl="1" indent="0" defTabSz="9144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Emailing e-ticket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defTabSz="914400">
              <a:spcBef>
                <a:spcPct val="0"/>
              </a:spcBef>
              <a:buClrTx/>
              <a:buSzTx/>
              <a:buNone/>
            </a:pPr>
            <a:r>
              <a:rPr lang="en-US" altLang="en-US" sz="1800" dirty="0" smtClean="0">
                <a:latin typeface="Arial" panose="020B0604020202020204" pitchFamily="34" charset="0"/>
              </a:rPr>
              <a:t>To </a:t>
            </a:r>
            <a:r>
              <a:rPr lang="en-US" altLang="en-US" sz="1800" dirty="0">
                <a:latin typeface="Arial" panose="020B0604020202020204" pitchFamily="34" charset="0"/>
              </a:rPr>
              <a:t>ensure all work properly after the fix.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Benefits: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Saves time and money in the long run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Builds user confidence in the software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"fix one, break another"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situations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494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dirty="0" smtClean="0"/>
              <a:t>est 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 </a:t>
            </a:r>
            <a:r>
              <a:rPr lang="en-US" sz="2000" b="1" dirty="0"/>
              <a:t>test case</a:t>
            </a:r>
            <a:r>
              <a:rPr lang="en-US" sz="2000" dirty="0"/>
              <a:t> is a set of steps, conditions, and expected results created to test whether a particular feature of the software </a:t>
            </a:r>
            <a:r>
              <a:rPr lang="en-US" sz="2000" b="1" dirty="0"/>
              <a:t>works correctly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b="1" dirty="0"/>
              <a:t>Why Is a Test Case Important?</a:t>
            </a:r>
          </a:p>
          <a:p>
            <a:r>
              <a:rPr lang="en-US" sz="2000" dirty="0"/>
              <a:t>Helps verify that the software behaves as expected</a:t>
            </a:r>
          </a:p>
          <a:p>
            <a:r>
              <a:rPr lang="en-US" sz="2000" dirty="0"/>
              <a:t>Makes testing </a:t>
            </a:r>
            <a:r>
              <a:rPr lang="en-US" sz="2000" b="1" dirty="0"/>
              <a:t>organized and repeatable</a:t>
            </a:r>
            <a:endParaRPr lang="en-US" sz="2000" dirty="0"/>
          </a:p>
          <a:p>
            <a:r>
              <a:rPr lang="en-US" sz="2000" dirty="0"/>
              <a:t>Useful for </a:t>
            </a:r>
            <a:r>
              <a:rPr lang="en-US" sz="2000" b="1" dirty="0"/>
              <a:t>manual or automated testing</a:t>
            </a:r>
            <a:endParaRPr lang="en-US" sz="2000" dirty="0"/>
          </a:p>
          <a:p>
            <a:r>
              <a:rPr lang="en-US" sz="2000" dirty="0"/>
              <a:t>Helps catch bugs early and improves software </a:t>
            </a:r>
            <a:r>
              <a:rPr lang="en-US" sz="2000" dirty="0" smtClean="0"/>
              <a:t>quality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34967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defTabSz="914400"/>
            <a:r>
              <a:rPr lang="en-US" altLang="en-US" sz="3600" dirty="0">
                <a:solidFill>
                  <a:schemeClr val="tx1"/>
                </a:solidFill>
                <a:latin typeface="Arial" panose="020B0604020202020204" pitchFamily="34" charset="0"/>
              </a:rPr>
              <a:t>Common Parts of a Test </a:t>
            </a:r>
            <a:r>
              <a:rPr lang="en-US" altLang="en-US" sz="3600" dirty="0" smtClean="0">
                <a:solidFill>
                  <a:schemeClr val="tx1"/>
                </a:solidFill>
                <a:latin typeface="Arial" panose="020B0604020202020204" pitchFamily="34" charset="0"/>
              </a:rPr>
              <a:t>Case:</a:t>
            </a:r>
            <a:endParaRPr lang="en-US" altLang="en-US" sz="857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39763" y="2095817"/>
          <a:ext cx="8502650" cy="3291840"/>
        </p:xfrm>
        <a:graphic>
          <a:graphicData uri="http://schemas.openxmlformats.org/drawingml/2006/table">
            <a:tbl>
              <a:tblPr/>
              <a:tblGrid>
                <a:gridCol w="4251325">
                  <a:extLst>
                    <a:ext uri="{9D8B030D-6E8A-4147-A177-3AD203B41FA5}">
                      <a16:colId xmlns:a16="http://schemas.microsoft.com/office/drawing/2014/main" val="1315463670"/>
                    </a:ext>
                  </a:extLst>
                </a:gridCol>
                <a:gridCol w="4251325">
                  <a:extLst>
                    <a:ext uri="{9D8B030D-6E8A-4147-A177-3AD203B41FA5}">
                      <a16:colId xmlns:a16="http://schemas.microsoft.com/office/drawing/2014/main" val="27269347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634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Test Case ID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unique name or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0202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Test Description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What is being tested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69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Preconditions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What needs to be ready before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3134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Test Steps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Steps to perform the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0102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Test Data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Input values used in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4259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Expected Result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What should happen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149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Actual Result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What actually happened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1961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Status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 or Fail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57802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925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defTabSz="914400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Password Reset Functionality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7094928"/>
              </p:ext>
            </p:extLst>
          </p:nvPr>
        </p:nvGraphicFramePr>
        <p:xfrm>
          <a:off x="1334649" y="1676400"/>
          <a:ext cx="7112878" cy="4130676"/>
        </p:xfrm>
        <a:graphic>
          <a:graphicData uri="http://schemas.openxmlformats.org/drawingml/2006/table">
            <a:tbl>
              <a:tblPr/>
              <a:tblGrid>
                <a:gridCol w="3556439">
                  <a:extLst>
                    <a:ext uri="{9D8B030D-6E8A-4147-A177-3AD203B41FA5}">
                      <a16:colId xmlns:a16="http://schemas.microsoft.com/office/drawing/2014/main" val="4153090410"/>
                    </a:ext>
                  </a:extLst>
                </a:gridCol>
                <a:gridCol w="3556439">
                  <a:extLst>
                    <a:ext uri="{9D8B030D-6E8A-4147-A177-3AD203B41FA5}">
                      <a16:colId xmlns:a16="http://schemas.microsoft.com/office/drawing/2014/main" val="4124974160"/>
                    </a:ext>
                  </a:extLst>
                </a:gridCol>
              </a:tblGrid>
              <a:tr h="305976">
                <a:tc>
                  <a:txBody>
                    <a:bodyPr/>
                    <a:lstStyle/>
                    <a:p>
                      <a:r>
                        <a:rPr lang="en-US" sz="1500" b="1"/>
                        <a:t>Field</a:t>
                      </a:r>
                      <a:endParaRPr lang="en-US" sz="1500"/>
                    </a:p>
                  </a:txBody>
                  <a:tcPr marL="76494" marR="76494" marT="38247" marB="38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Example</a:t>
                      </a:r>
                      <a:endParaRPr lang="en-US" sz="1500"/>
                    </a:p>
                  </a:txBody>
                  <a:tcPr marL="76494" marR="76494" marT="38247" marB="38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1917262"/>
                  </a:ext>
                </a:extLst>
              </a:tr>
              <a:tr h="305976">
                <a:tc>
                  <a:txBody>
                    <a:bodyPr/>
                    <a:lstStyle/>
                    <a:p>
                      <a:r>
                        <a:rPr lang="en-US" sz="1500" b="1"/>
                        <a:t>Test Case ID</a:t>
                      </a:r>
                      <a:endParaRPr lang="en-US" sz="1500"/>
                    </a:p>
                  </a:txBody>
                  <a:tcPr marL="76494" marR="76494" marT="38247" marB="38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smtClean="0"/>
                        <a:t>TC001</a:t>
                      </a:r>
                      <a:endParaRPr lang="en-US" sz="1500"/>
                    </a:p>
                  </a:txBody>
                  <a:tcPr marL="76494" marR="76494" marT="38247" marB="38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0241743"/>
                  </a:ext>
                </a:extLst>
              </a:tr>
              <a:tr h="535458">
                <a:tc>
                  <a:txBody>
                    <a:bodyPr/>
                    <a:lstStyle/>
                    <a:p>
                      <a:r>
                        <a:rPr lang="en-US" sz="1500" b="1"/>
                        <a:t>Description</a:t>
                      </a:r>
                      <a:endParaRPr lang="en-US" sz="1500"/>
                    </a:p>
                  </a:txBody>
                  <a:tcPr marL="76494" marR="76494" marT="38247" marB="38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Verify that the password reset link works correctly</a:t>
                      </a:r>
                    </a:p>
                  </a:txBody>
                  <a:tcPr marL="76494" marR="76494" marT="38247" marB="38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899826"/>
                  </a:ext>
                </a:extLst>
              </a:tr>
              <a:tr h="535458">
                <a:tc>
                  <a:txBody>
                    <a:bodyPr/>
                    <a:lstStyle/>
                    <a:p>
                      <a:r>
                        <a:rPr lang="en-US" sz="1500" b="1"/>
                        <a:t>Preconditions</a:t>
                      </a:r>
                      <a:endParaRPr lang="en-US" sz="1500"/>
                    </a:p>
                  </a:txBody>
                  <a:tcPr marL="76494" marR="76494" marT="38247" marB="38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User must have a valid email address registered in the system</a:t>
                      </a:r>
                    </a:p>
                  </a:txBody>
                  <a:tcPr marL="76494" marR="76494" marT="38247" marB="38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84722"/>
                  </a:ext>
                </a:extLst>
              </a:tr>
              <a:tr h="994422">
                <a:tc>
                  <a:txBody>
                    <a:bodyPr/>
                    <a:lstStyle/>
                    <a:p>
                      <a:r>
                        <a:rPr lang="en-US" sz="1500" b="1"/>
                        <a:t>Test Steps</a:t>
                      </a:r>
                      <a:endParaRPr lang="en-US" sz="1500"/>
                    </a:p>
                  </a:txBody>
                  <a:tcPr marL="76494" marR="76494" marT="38247" marB="38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1. Go to login page</a:t>
                      </a:r>
                      <a:br>
                        <a:rPr lang="en-US" sz="1500"/>
                      </a:br>
                      <a:r>
                        <a:rPr lang="en-US" sz="1500"/>
                        <a:t>2. Click on “Forgot Password”</a:t>
                      </a:r>
                      <a:br>
                        <a:rPr lang="en-US" sz="1500"/>
                      </a:br>
                      <a:r>
                        <a:rPr lang="en-US" sz="1500"/>
                        <a:t>3. Enter registered email</a:t>
                      </a:r>
                      <a:br>
                        <a:rPr lang="en-US" sz="1500"/>
                      </a:br>
                      <a:r>
                        <a:rPr lang="en-US" sz="1500"/>
                        <a:t>4. Click “Send Link”</a:t>
                      </a:r>
                    </a:p>
                  </a:txBody>
                  <a:tcPr marL="76494" marR="76494" marT="38247" marB="38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1155617"/>
                  </a:ext>
                </a:extLst>
              </a:tr>
              <a:tr h="305976">
                <a:tc>
                  <a:txBody>
                    <a:bodyPr/>
                    <a:lstStyle/>
                    <a:p>
                      <a:r>
                        <a:rPr lang="en-US" sz="1500" b="1"/>
                        <a:t>Test Data</a:t>
                      </a:r>
                      <a:endParaRPr lang="en-US" sz="1500"/>
                    </a:p>
                  </a:txBody>
                  <a:tcPr marL="76494" marR="76494" marT="38247" marB="38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Email: exampleuser@gmail.com</a:t>
                      </a:r>
                    </a:p>
                  </a:txBody>
                  <a:tcPr marL="76494" marR="76494" marT="38247" marB="38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571221"/>
                  </a:ext>
                </a:extLst>
              </a:tr>
              <a:tr h="535458">
                <a:tc>
                  <a:txBody>
                    <a:bodyPr/>
                    <a:lstStyle/>
                    <a:p>
                      <a:r>
                        <a:rPr lang="en-US" sz="1500" b="1"/>
                        <a:t>Expected Result</a:t>
                      </a:r>
                      <a:endParaRPr lang="en-US" sz="1500"/>
                    </a:p>
                  </a:txBody>
                  <a:tcPr marL="76494" marR="76494" marT="38247" marB="38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 reset password link is sent to the entered email address</a:t>
                      </a:r>
                    </a:p>
                  </a:txBody>
                  <a:tcPr marL="76494" marR="76494" marT="38247" marB="38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770659"/>
                  </a:ext>
                </a:extLst>
              </a:tr>
              <a:tr h="305976">
                <a:tc>
                  <a:txBody>
                    <a:bodyPr/>
                    <a:lstStyle/>
                    <a:p>
                      <a:r>
                        <a:rPr lang="en-US" sz="1500" b="1"/>
                        <a:t>Actual Result</a:t>
                      </a:r>
                      <a:endParaRPr lang="en-US" sz="1500"/>
                    </a:p>
                  </a:txBody>
                  <a:tcPr marL="76494" marR="76494" marT="38247" marB="38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(Filled after testing)</a:t>
                      </a:r>
                    </a:p>
                  </a:txBody>
                  <a:tcPr marL="76494" marR="76494" marT="38247" marB="38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507031"/>
                  </a:ext>
                </a:extLst>
              </a:tr>
              <a:tr h="305976">
                <a:tc>
                  <a:txBody>
                    <a:bodyPr/>
                    <a:lstStyle/>
                    <a:p>
                      <a:r>
                        <a:rPr lang="en-US" sz="1500" b="1"/>
                        <a:t>Status</a:t>
                      </a:r>
                      <a:endParaRPr lang="en-US" sz="1500"/>
                    </a:p>
                  </a:txBody>
                  <a:tcPr marL="76494" marR="76494" marT="38247" marB="38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Pass / Fail</a:t>
                      </a:r>
                    </a:p>
                  </a:txBody>
                  <a:tcPr marL="76494" marR="76494" marT="38247" marB="38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063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2107275"/>
      </p:ext>
    </p:extLst>
  </p:cSld>
  <p:clrMapOvr>
    <a:masterClrMapping/>
  </p:clrMapOvr>
</p:sld>
</file>

<file path=ppt/theme/theme1.xml><?xml version="1.0" encoding="utf-8"?>
<a:theme xmlns:a="http://schemas.openxmlformats.org/drawingml/2006/main" name="untitled 3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untitled 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untitled 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titled 3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ntitled 3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titled 3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titled 3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titled 3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titled 3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19740</TotalTime>
  <Pages>29</Pages>
  <Words>1043</Words>
  <Application>Microsoft Office PowerPoint</Application>
  <PresentationFormat>A4 Paper (210x297 mm)</PresentationFormat>
  <Paragraphs>159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Unicode MS</vt:lpstr>
      <vt:lpstr>Monotype Sorts</vt:lpstr>
      <vt:lpstr>Times</vt:lpstr>
      <vt:lpstr>Wingdings</vt:lpstr>
      <vt:lpstr>untitled 3</vt:lpstr>
      <vt:lpstr>PowerPoint Presentation</vt:lpstr>
      <vt:lpstr>Why Software Testing?</vt:lpstr>
      <vt:lpstr>Verification vs. Validation</vt:lpstr>
      <vt:lpstr>Program Testing</vt:lpstr>
      <vt:lpstr>Types of Testing</vt:lpstr>
      <vt:lpstr>Release Testing (before giving it to users)</vt:lpstr>
      <vt:lpstr>User Testing </vt:lpstr>
      <vt:lpstr>Testing Techniques </vt:lpstr>
      <vt:lpstr>Inspections vs Testing</vt:lpstr>
      <vt:lpstr>Test-Driven Development (TDD) </vt:lpstr>
      <vt:lpstr>Interface Testing</vt:lpstr>
      <vt:lpstr>Regression Testing</vt:lpstr>
      <vt:lpstr>PowerPoint Presentation</vt:lpstr>
      <vt:lpstr>Test case</vt:lpstr>
      <vt:lpstr>Common Parts of a Test Case:</vt:lpstr>
      <vt:lpstr>Password Reset Functionality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Requirements</dc:title>
  <dc:creator>smt</dc:creator>
  <cp:lastModifiedBy>Atifa Arooj</cp:lastModifiedBy>
  <cp:revision>451</cp:revision>
  <cp:lastPrinted>2001-08-10T22:23:14Z</cp:lastPrinted>
  <dcterms:created xsi:type="dcterms:W3CDTF">1995-12-21T21:11:30Z</dcterms:created>
  <dcterms:modified xsi:type="dcterms:W3CDTF">2025-05-20T05:34:14Z</dcterms:modified>
</cp:coreProperties>
</file>
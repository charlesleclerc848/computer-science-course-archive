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UML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071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Use Case Diagram?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 </a:t>
            </a:r>
            <a:r>
              <a:rPr lang="en-US" b="1" dirty="0"/>
              <a:t>Use Case Diagram</a:t>
            </a:r>
            <a:r>
              <a:rPr lang="en-US" dirty="0"/>
              <a:t> is a type of diagram used in </a:t>
            </a:r>
            <a:r>
              <a:rPr lang="en-US" b="1" dirty="0"/>
              <a:t>Software Engineering</a:t>
            </a:r>
            <a:r>
              <a:rPr lang="en-US" dirty="0"/>
              <a:t> to </a:t>
            </a:r>
            <a:r>
              <a:rPr lang="en-US" b="1" dirty="0"/>
              <a:t>show how a system interacts with users</a:t>
            </a:r>
            <a:r>
              <a:rPr lang="en-US" dirty="0"/>
              <a:t> (called </a:t>
            </a:r>
            <a:r>
              <a:rPr lang="en-US" b="1" dirty="0"/>
              <a:t>actors</a:t>
            </a:r>
            <a:r>
              <a:rPr lang="en-US" dirty="0"/>
              <a:t>). It focuses on </a:t>
            </a:r>
            <a:r>
              <a:rPr lang="en-US" b="1" dirty="0"/>
              <a:t>what</a:t>
            </a:r>
            <a:r>
              <a:rPr lang="en-US" dirty="0"/>
              <a:t> the system does, not </a:t>
            </a:r>
            <a:r>
              <a:rPr lang="en-US" b="1" dirty="0"/>
              <a:t>how</a:t>
            </a:r>
            <a:r>
              <a:rPr lang="en-US" dirty="0"/>
              <a:t> it does it.</a:t>
            </a:r>
          </a:p>
        </p:txBody>
      </p:sp>
    </p:spTree>
    <p:extLst>
      <p:ext uri="{BB962C8B-B14F-4D97-AF65-F5344CB8AC3E}">
        <p14:creationId xmlns:p14="http://schemas.microsoft.com/office/powerpoint/2010/main" val="2277698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Elements of a Use Case Diagram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8530411"/>
              </p:ext>
            </p:extLst>
          </p:nvPr>
        </p:nvGraphicFramePr>
        <p:xfrm>
          <a:off x="2589212" y="1730785"/>
          <a:ext cx="8915400" cy="292608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695056">
                  <a:extLst>
                    <a:ext uri="{9D8B030D-6E8A-4147-A177-3AD203B41FA5}">
                      <a16:colId xmlns:a16="http://schemas.microsoft.com/office/drawing/2014/main" val="1882285051"/>
                    </a:ext>
                  </a:extLst>
                </a:gridCol>
                <a:gridCol w="6220344">
                  <a:extLst>
                    <a:ext uri="{9D8B030D-6E8A-4147-A177-3AD203B41FA5}">
                      <a16:colId xmlns:a16="http://schemas.microsoft.com/office/drawing/2014/main" val="15287463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554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Actor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person or system that interacts with your software. Example: "User", "Admin".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554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Use </a:t>
                      </a:r>
                      <a:r>
                        <a:rPr lang="en-US" dirty="0"/>
                        <a:t>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task or function the system performs. Example: "Login", "Register", "Upload File".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2274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System </a:t>
                      </a:r>
                      <a:r>
                        <a:rPr lang="en-US" dirty="0"/>
                        <a:t>Boundary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 box that shows the scope of the system. All use cases are inside it.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83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Relationships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Connect actors to use cases. Different types show different interactions.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6916477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2198" t="30283" r="32695" b="35485"/>
          <a:stretch/>
        </p:blipFill>
        <p:spPr>
          <a:xfrm>
            <a:off x="4571999" y="4970735"/>
            <a:ext cx="4066163" cy="158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152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92925" y="1949814"/>
            <a:ext cx="885094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Imagine you're using a mobile app. Everything you do with the app (like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 message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your balance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)—those are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(the person using the app) are an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actor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5010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ATM Machine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784231"/>
              </p:ext>
            </p:extLst>
          </p:nvPr>
        </p:nvGraphicFramePr>
        <p:xfrm>
          <a:off x="2175309" y="4206240"/>
          <a:ext cx="8963544" cy="240792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987848">
                  <a:extLst>
                    <a:ext uri="{9D8B030D-6E8A-4147-A177-3AD203B41FA5}">
                      <a16:colId xmlns:a16="http://schemas.microsoft.com/office/drawing/2014/main" val="2154817199"/>
                    </a:ext>
                  </a:extLst>
                </a:gridCol>
                <a:gridCol w="2987848">
                  <a:extLst>
                    <a:ext uri="{9D8B030D-6E8A-4147-A177-3AD203B41FA5}">
                      <a16:colId xmlns:a16="http://schemas.microsoft.com/office/drawing/2014/main" val="2679664165"/>
                    </a:ext>
                  </a:extLst>
                </a:gridCol>
                <a:gridCol w="2987848">
                  <a:extLst>
                    <a:ext uri="{9D8B030D-6E8A-4147-A177-3AD203B41FA5}">
                      <a16:colId xmlns:a16="http://schemas.microsoft.com/office/drawing/2014/main" val="99570962"/>
                    </a:ext>
                  </a:extLst>
                </a:gridCol>
              </a:tblGrid>
              <a:tr h="326982">
                <a:tc>
                  <a:txBody>
                    <a:bodyPr/>
                    <a:lstStyle/>
                    <a:p>
                      <a:r>
                        <a:rPr lang="en-US" sz="1600" b="1" dirty="0"/>
                        <a:t>Actor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Use Case</a:t>
                      </a:r>
                      <a:endParaRPr lang="en-US"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Description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0758781"/>
                  </a:ext>
                </a:extLst>
              </a:tr>
              <a:tr h="572219">
                <a:tc>
                  <a:txBody>
                    <a:bodyPr/>
                    <a:lstStyle/>
                    <a:p>
                      <a:r>
                        <a:rPr lang="en-US" sz="1600" dirty="0"/>
                        <a:t>Customer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Insert Card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User inserts ATM card to access services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0907329"/>
                  </a:ext>
                </a:extLst>
              </a:tr>
              <a:tr h="572219">
                <a:tc>
                  <a:txBody>
                    <a:bodyPr/>
                    <a:lstStyle/>
                    <a:p>
                      <a:r>
                        <a:rPr lang="en-US" sz="1600"/>
                        <a:t>Customer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Enter PIN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Enters their secret PIN to verify identity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4625888"/>
                  </a:ext>
                </a:extLst>
              </a:tr>
              <a:tr h="572219">
                <a:tc>
                  <a:txBody>
                    <a:bodyPr/>
                    <a:lstStyle/>
                    <a:p>
                      <a:r>
                        <a:rPr lang="en-US" sz="1600"/>
                        <a:t>Customer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Withdraw Cash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Takes out money from their account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506609"/>
                  </a:ext>
                </a:extLst>
              </a:tr>
              <a:tr h="326982">
                <a:tc>
                  <a:txBody>
                    <a:bodyPr/>
                    <a:lstStyle/>
                    <a:p>
                      <a:r>
                        <a:rPr lang="en-US" sz="1600"/>
                        <a:t>Customer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Check Balance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Views account balance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484404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544161" y="2145385"/>
            <a:ext cx="450460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Actors: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Bank Server (system)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37120" y="2145385"/>
            <a:ext cx="395919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Use Cases: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Insert Card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Enter PIN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Withdraw Cash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Check Balance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6667" y="3685516"/>
            <a:ext cx="34547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Simple Use Case Description:</a:t>
            </a:r>
          </a:p>
        </p:txBody>
      </p:sp>
    </p:spTree>
    <p:extLst>
      <p:ext uri="{BB962C8B-B14F-4D97-AF65-F5344CB8AC3E}">
        <p14:creationId xmlns:p14="http://schemas.microsoft.com/office/powerpoint/2010/main" val="2543531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9552" y="624110"/>
            <a:ext cx="8911687" cy="1280890"/>
          </a:xfrm>
        </p:spPr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Types of Relationships</a:t>
            </a:r>
            <a:b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906846" y="2254836"/>
            <a:ext cx="7839262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Association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Shows which actor uses which use case.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 User — Login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(&lt;&lt;include&gt;&gt;)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Reuse of a common use case.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 Register &lt;&lt;include&gt;&gt; Verify Email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Extend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(&lt;&lt;extend&gt;&gt;)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Optional behavior that happens under certain conditions.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 Checkout &lt;&lt;extend&gt;&gt; Apply Discount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Generalization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        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Used when one actor or use case is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special type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of another.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 Admin is a type of User.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197643" y="5245769"/>
            <a:ext cx="4042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4846321" y="2451434"/>
            <a:ext cx="553452" cy="962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876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 Case Diagram Relationships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smtClean="0"/>
              <a:t>In </a:t>
            </a:r>
            <a:r>
              <a:rPr lang="en-US" dirty="0"/>
              <a:t>a Use Case Diagram, relationships play a crucial role in depicting the interactions between actors and use cases. These relationships provide a comprehensive view of the system's functionality and its various scenarios. Let's delve into the key types of relationships and explore examples to illustrate their usage.</a:t>
            </a:r>
          </a:p>
        </p:txBody>
      </p:sp>
    </p:spTree>
    <p:extLst>
      <p:ext uri="{BB962C8B-B14F-4D97-AF65-F5344CB8AC3E}">
        <p14:creationId xmlns:p14="http://schemas.microsoft.com/office/powerpoint/2010/main" val="1968222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b="1" dirty="0" smtClean="0"/>
              <a:t>Association </a:t>
            </a:r>
            <a:r>
              <a:rPr lang="en-US" b="1" dirty="0"/>
              <a:t>Relationship</a:t>
            </a:r>
            <a:br>
              <a:rPr lang="en-US" b="1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4094" y="1905000"/>
            <a:ext cx="9591472" cy="40062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Association Relationship represents a communication or interaction between an actor and a use case. It is depicted by a line connecting the actor to the use case. This relationship signifies that the actor is involved in the functionality described by the use case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Example: Online Banking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Actor: Customer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Case: Transfer Funds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Association: A line connecting the "Customer" actor to the "Transfer Funds" use case, indicating the customer's involvement in the funds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transfer process.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1627" r="4142" b="28199"/>
          <a:stretch/>
        </p:blipFill>
        <p:spPr>
          <a:xfrm>
            <a:off x="3385226" y="4883285"/>
            <a:ext cx="6167336" cy="197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682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1824" y="1744494"/>
            <a:ext cx="9602788" cy="26329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Include Relationship indicates that a use case includes the functionality of another use case. It is denoted by a dashed arrow pointing from the including use case to the included use case. This relationship promotes modular and reusable design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Example: Social Media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Posting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Cases: Compose Post, Add Image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Include Relationship: The "Compose Post" use case includes the functionality of "Add Image." Therefore, composing a post includes the action of adding an image.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8607" b="19213"/>
          <a:stretch/>
        </p:blipFill>
        <p:spPr>
          <a:xfrm>
            <a:off x="2592925" y="4341340"/>
            <a:ext cx="6940181" cy="251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18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 Relationship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1498332"/>
            <a:ext cx="9326865" cy="29966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Extend Relationship illustrates that a use case can be extended by another use case under specific conditions. It is represented by a dashed arrow with the keyword "extend." This relationship is useful for handling optional or exceptional behavior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Example: Flight Booking System</a:t>
            </a:r>
          </a:p>
          <a:p>
            <a:pPr marL="0" indent="0">
              <a:buNone/>
            </a:pPr>
            <a:r>
              <a:rPr lang="en-US" dirty="0" smtClean="0"/>
              <a:t>Use </a:t>
            </a:r>
            <a:r>
              <a:rPr lang="en-US" dirty="0"/>
              <a:t>Cases: Book Flight, Select Seat</a:t>
            </a:r>
          </a:p>
          <a:p>
            <a:pPr marL="0" indent="0">
              <a:buNone/>
            </a:pPr>
            <a:r>
              <a:rPr lang="en-US" dirty="0"/>
              <a:t>Extend Relationship: The "Select Seat" use case may extend the "Book Flight" use case when the user wants to choose a specific seat, but it is an optional step.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27572"/>
          <a:stretch/>
        </p:blipFill>
        <p:spPr>
          <a:xfrm>
            <a:off x="2985487" y="4463799"/>
            <a:ext cx="7284670" cy="239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457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 Relationship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1633086"/>
            <a:ext cx="9377429" cy="28137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Generalization Relationship establishes an "is-a" connection between two use cases, indicating that one use case is a specialized version of another. It is represented by an arrow pointing from the specialized use case to the general use case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Example: Vehicle Rental </a:t>
            </a:r>
            <a:r>
              <a:rPr lang="en-US" dirty="0" smtClean="0"/>
              <a:t>System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Use Cases: Rent Car, Rent Bike</a:t>
            </a:r>
          </a:p>
          <a:p>
            <a:pPr marL="0" indent="0">
              <a:buNone/>
            </a:pPr>
            <a:r>
              <a:rPr lang="en-US" dirty="0"/>
              <a:t>Generalization Relationship: Both "Rent Car" and "Rent Bike" are specialized versions of the general use case "Rent Vehicle."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3887" t="12702" r="5087" b="21585"/>
          <a:stretch/>
        </p:blipFill>
        <p:spPr>
          <a:xfrm>
            <a:off x="3796084" y="4363976"/>
            <a:ext cx="5858056" cy="249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861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draw a Use Case diagram in UML?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3332" y="1635491"/>
            <a:ext cx="9708668" cy="51021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b="1" dirty="0" smtClean="0"/>
              <a:t>Step </a:t>
            </a:r>
            <a:r>
              <a:rPr lang="en-US" sz="1700" b="1" dirty="0"/>
              <a:t>1: </a:t>
            </a:r>
            <a:r>
              <a:rPr lang="en-US" sz="1700" dirty="0"/>
              <a:t>Identify Actors: Determine who or what interacts with the system. These are your actors. They can be users, other systems, or external entities.</a:t>
            </a:r>
          </a:p>
          <a:p>
            <a:pPr marL="0" indent="0">
              <a:buNone/>
            </a:pPr>
            <a:r>
              <a:rPr lang="en-US" sz="1700" b="1" dirty="0"/>
              <a:t>Step 2: </a:t>
            </a:r>
            <a:r>
              <a:rPr lang="en-US" sz="1700" dirty="0"/>
              <a:t>Identify Use Cases: Identify the main functionalities or actions the system must perform. These are your use cases. Each use case should represent a specific piece of functionality.</a:t>
            </a:r>
          </a:p>
          <a:p>
            <a:pPr marL="0" indent="0">
              <a:buNone/>
            </a:pPr>
            <a:r>
              <a:rPr lang="en-US" sz="1700" b="1" dirty="0"/>
              <a:t>Step 3: </a:t>
            </a:r>
            <a:r>
              <a:rPr lang="en-US" sz="1700" dirty="0"/>
              <a:t>Connect Actors and Use Cases: Draw lines (associations) between actors and the use cases they are involved in. This represents the interactions between actors and the system.</a:t>
            </a:r>
          </a:p>
          <a:p>
            <a:pPr marL="0" indent="0">
              <a:buNone/>
            </a:pPr>
            <a:r>
              <a:rPr lang="en-US" sz="1700" b="1" dirty="0"/>
              <a:t>Step 4: </a:t>
            </a:r>
            <a:r>
              <a:rPr lang="en-US" sz="1700" dirty="0"/>
              <a:t>Add System Boundary: Draw a box around the actors and use cases to represent the system boundary. This defines the scope of your system.</a:t>
            </a:r>
          </a:p>
          <a:p>
            <a:pPr marL="0" indent="0">
              <a:buNone/>
            </a:pPr>
            <a:r>
              <a:rPr lang="en-US" sz="1700" b="1" dirty="0"/>
              <a:t>Step 5: </a:t>
            </a:r>
            <a:r>
              <a:rPr lang="en-US" sz="1700" dirty="0"/>
              <a:t>Define Relationships: If certain use cases are related or if one use case is an extension of another, you can indicate these relationships with appropriate notations</a:t>
            </a:r>
            <a:r>
              <a:rPr lang="en-US" sz="1700" b="1" dirty="0"/>
              <a:t>.</a:t>
            </a:r>
          </a:p>
          <a:p>
            <a:pPr marL="0" indent="0">
              <a:buNone/>
            </a:pPr>
            <a:r>
              <a:rPr lang="en-US" sz="1700" b="1" dirty="0"/>
              <a:t>Step 6: </a:t>
            </a:r>
            <a:r>
              <a:rPr lang="en-US" sz="1700" dirty="0"/>
              <a:t>Review and Refine: Step back and review your diagram. Ensure that it accurately represents the interactions and relationships in your system. Refine as needed.</a:t>
            </a:r>
          </a:p>
          <a:p>
            <a:pPr marL="0" indent="0">
              <a:buNone/>
            </a:pPr>
            <a:r>
              <a:rPr lang="en-US" sz="1700" b="1" dirty="0"/>
              <a:t>Step 7: </a:t>
            </a:r>
            <a:r>
              <a:rPr lang="en-US" sz="1700" dirty="0"/>
              <a:t>Validate: Share your use case diagram with stakeholders and gather feedback. Ensure that it aligns with their understanding of the system's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1794374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Use Case Diagram example(Online Shopping System)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base"/>
            <a:r>
              <a:rPr lang="en-US" dirty="0" smtClean="0"/>
              <a:t>Let's </a:t>
            </a:r>
            <a:r>
              <a:rPr lang="en-US" dirty="0"/>
              <a:t>understand how to draw a Use Case diagram with the help of an Online Shopping System:</a:t>
            </a:r>
          </a:p>
          <a:p>
            <a:pPr fontAlgn="base"/>
            <a:r>
              <a:rPr lang="en-US" b="1" dirty="0"/>
              <a:t>Actors:</a:t>
            </a:r>
            <a:endParaRPr lang="en-US" dirty="0"/>
          </a:p>
          <a:p>
            <a:pPr lvl="1" fontAlgn="base"/>
            <a:r>
              <a:rPr lang="en-US" dirty="0"/>
              <a:t>Customer</a:t>
            </a:r>
          </a:p>
          <a:p>
            <a:pPr lvl="1" fontAlgn="base"/>
            <a:r>
              <a:rPr lang="en-US" dirty="0"/>
              <a:t>Admin</a:t>
            </a:r>
          </a:p>
          <a:p>
            <a:pPr fontAlgn="base"/>
            <a:r>
              <a:rPr lang="en-US" b="1" dirty="0"/>
              <a:t>Use Cases:</a:t>
            </a:r>
            <a:endParaRPr lang="en-US" dirty="0"/>
          </a:p>
          <a:p>
            <a:pPr lvl="1" fontAlgn="base"/>
            <a:r>
              <a:rPr lang="en-US" dirty="0"/>
              <a:t>Browse Products</a:t>
            </a:r>
          </a:p>
          <a:p>
            <a:pPr lvl="1" fontAlgn="base"/>
            <a:r>
              <a:rPr lang="en-US" dirty="0"/>
              <a:t>Add to Cart</a:t>
            </a:r>
          </a:p>
          <a:p>
            <a:pPr lvl="1" fontAlgn="base"/>
            <a:r>
              <a:rPr lang="en-US" dirty="0"/>
              <a:t>Checkout</a:t>
            </a:r>
          </a:p>
          <a:p>
            <a:pPr lvl="1" fontAlgn="base"/>
            <a:r>
              <a:rPr lang="en-US" dirty="0"/>
              <a:t>Manage Inventory (Admin)</a:t>
            </a:r>
          </a:p>
          <a:p>
            <a:pPr fontAlgn="base"/>
            <a:r>
              <a:rPr lang="en-US" b="1" dirty="0"/>
              <a:t>Relations:</a:t>
            </a:r>
            <a:endParaRPr lang="en-US" dirty="0"/>
          </a:p>
          <a:p>
            <a:pPr lvl="1" fontAlgn="base"/>
            <a:r>
              <a:rPr lang="en-US" dirty="0"/>
              <a:t>The Customer can browse products, add to the cart, and complete the checkout.</a:t>
            </a:r>
          </a:p>
          <a:p>
            <a:pPr lvl="1" fontAlgn="base"/>
            <a:r>
              <a:rPr lang="en-US" dirty="0"/>
              <a:t>The Admin can manage the inventory.</a:t>
            </a:r>
          </a:p>
        </p:txBody>
      </p:sp>
    </p:spTree>
    <p:extLst>
      <p:ext uri="{BB962C8B-B14F-4D97-AF65-F5344CB8AC3E}">
        <p14:creationId xmlns:p14="http://schemas.microsoft.com/office/powerpoint/2010/main" val="1857276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144" t="9002" r="7275" b="23489"/>
          <a:stretch/>
        </p:blipFill>
        <p:spPr>
          <a:xfrm>
            <a:off x="1559292" y="1414913"/>
            <a:ext cx="10299941" cy="4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1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Common Mistakes while making Use Case Diagram?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smtClean="0"/>
              <a:t>Avoiding </a:t>
            </a:r>
            <a:r>
              <a:rPr lang="en-US" dirty="0"/>
              <a:t>common mistakes ensures the accuracy and effectiveness of the Use Case Diagram. Here are key points for each mistake:</a:t>
            </a:r>
          </a:p>
          <a:p>
            <a:pPr fontAlgn="base"/>
            <a:r>
              <a:rPr lang="en-US" dirty="0"/>
              <a:t>Adding too much detail can confuse people.</a:t>
            </a:r>
          </a:p>
          <a:p>
            <a:pPr fontAlgn="base"/>
            <a:r>
              <a:rPr lang="en-US" dirty="0"/>
              <a:t>Unclear connections lead to misunderstandings about system interactions.</a:t>
            </a:r>
          </a:p>
          <a:p>
            <a:pPr fontAlgn="base"/>
            <a:r>
              <a:rPr lang="en-US" dirty="0"/>
              <a:t>Different names for the same elements create confusion.</a:t>
            </a:r>
          </a:p>
          <a:p>
            <a:pPr fontAlgn="base"/>
            <a:r>
              <a:rPr lang="en-US" dirty="0"/>
              <a:t>Incorrectly using generalization can misrepresent relationships.</a:t>
            </a:r>
          </a:p>
          <a:p>
            <a:pPr fontAlgn="base"/>
            <a:r>
              <a:rPr lang="en-US" dirty="0"/>
              <a:t>Failing to define the system’s limits makes its scope unclear.</a:t>
            </a:r>
          </a:p>
          <a:p>
            <a:pPr fontAlgn="base"/>
            <a:r>
              <a:rPr lang="en-US" dirty="0"/>
              <a:t>Treating the diagram as static can make it outdated and inaccurate.</a:t>
            </a:r>
          </a:p>
        </p:txBody>
      </p:sp>
    </p:spTree>
    <p:extLst>
      <p:ext uri="{BB962C8B-B14F-4D97-AF65-F5344CB8AC3E}">
        <p14:creationId xmlns:p14="http://schemas.microsoft.com/office/powerpoint/2010/main" val="1468605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Purpose and Benefits of Use Case Diagrams?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b="1" dirty="0"/>
              <a:t> </a:t>
            </a:r>
            <a:r>
              <a:rPr lang="en-US" dirty="0" smtClean="0"/>
              <a:t>The </a:t>
            </a:r>
            <a:r>
              <a:rPr lang="en-US" dirty="0"/>
              <a:t>Use Case Diagram offers numerous benefits throughout the system development process. Here are some key advantages of using Use Case Diagrams:</a:t>
            </a:r>
          </a:p>
          <a:p>
            <a:pPr fontAlgn="base"/>
            <a:r>
              <a:rPr lang="en-US" dirty="0"/>
              <a:t>Use Case Diagrams offer a clear visual representation of a system’s functions and its interactions with external users. This representation helps stakeholders, including those without technical expertise, in grasping the system’s overall behavior.</a:t>
            </a:r>
          </a:p>
          <a:p>
            <a:pPr fontAlgn="base"/>
            <a:r>
              <a:rPr lang="en-US" dirty="0"/>
              <a:t>They establish a shared language for articulating system requirements, ensuring that all team members have a common understanding.</a:t>
            </a:r>
          </a:p>
          <a:p>
            <a:pPr fontAlgn="base"/>
            <a:r>
              <a:rPr lang="en-US" dirty="0"/>
              <a:t>Use Case Diagram illustrate the different ways users engage with the system, contributing to a thorough comprehension of its functionalities.</a:t>
            </a:r>
          </a:p>
          <a:p>
            <a:pPr fontAlgn="base"/>
            <a:r>
              <a:rPr lang="en-US" dirty="0"/>
              <a:t>In the design phase, Use Case Diagrams help outline how users (actors) will interact with the system. They support the planning of user interfaces and aid in structuring system functionalities.</a:t>
            </a:r>
          </a:p>
        </p:txBody>
      </p:sp>
    </p:spTree>
    <p:extLst>
      <p:ext uri="{BB962C8B-B14F-4D97-AF65-F5344CB8AC3E}">
        <p14:creationId xmlns:p14="http://schemas.microsoft.com/office/powerpoint/2010/main" val="3900538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 smtClean="0"/>
              <a:t>Common </a:t>
            </a:r>
            <a:r>
              <a:rPr lang="en-US" b="1" dirty="0"/>
              <a:t>Use Case Diagram Tools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 smtClean="0"/>
              <a:t>Lucidchart:</a:t>
            </a:r>
            <a:endParaRPr lang="en-US" dirty="0"/>
          </a:p>
          <a:p>
            <a:pPr fontAlgn="base"/>
            <a:r>
              <a:rPr lang="en-US" b="1" dirty="0" smtClean="0"/>
              <a:t>draw.io</a:t>
            </a:r>
            <a:r>
              <a:rPr lang="en-US" b="1" dirty="0"/>
              <a:t>:</a:t>
            </a:r>
            <a:endParaRPr lang="en-US" dirty="0"/>
          </a:p>
          <a:p>
            <a:pPr fontAlgn="base"/>
            <a:r>
              <a:rPr lang="en-US" b="1" dirty="0" smtClean="0"/>
              <a:t>Microsoft </a:t>
            </a:r>
            <a:r>
              <a:rPr lang="en-US" b="1" dirty="0"/>
              <a:t>Visio:</a:t>
            </a:r>
            <a:endParaRPr lang="en-US" dirty="0"/>
          </a:p>
          <a:p>
            <a:pPr fontAlgn="base"/>
            <a:r>
              <a:rPr lang="en-US" b="1" dirty="0" smtClean="0"/>
              <a:t>SmartDraw</a:t>
            </a:r>
            <a:r>
              <a:rPr lang="en-US" b="1" dirty="0"/>
              <a:t>:</a:t>
            </a:r>
            <a:endParaRPr lang="en-US" dirty="0"/>
          </a:p>
          <a:p>
            <a:pPr fontAlgn="base"/>
            <a:r>
              <a:rPr lang="en-US" b="1" dirty="0" err="1" smtClean="0"/>
              <a:t>PlantUML</a:t>
            </a:r>
            <a:r>
              <a:rPr lang="en-US" b="1" smtClean="0"/>
              <a:t>: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442112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03621" y="122516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b="1" dirty="0">
                <a:solidFill>
                  <a:srgbClr val="2B2B35"/>
                </a:solidFill>
                <a:latin typeface="Inter"/>
              </a:rPr>
              <a:t>Restaurant use case diagram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7635" t="22133" r="6978" b="4096"/>
          <a:stretch/>
        </p:blipFill>
        <p:spPr>
          <a:xfrm>
            <a:off x="3022333" y="1905802"/>
            <a:ext cx="7372311" cy="474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856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638" y="0"/>
            <a:ext cx="8048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952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6252" t="11841" r="4946" b="6685"/>
          <a:stretch/>
        </p:blipFill>
        <p:spPr>
          <a:xfrm>
            <a:off x="1841500" y="0"/>
            <a:ext cx="843298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617620" y="209034"/>
            <a:ext cx="33137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HarmonyOS Sans"/>
              </a:rPr>
              <a:t>Railway Reservation System</a:t>
            </a:r>
            <a:endParaRPr lang="en-US" b="1" i="0" dirty="0">
              <a:solidFill>
                <a:srgbClr val="000000"/>
              </a:solidFill>
              <a:effectLst/>
              <a:latin typeface="HarmonyOS Sans"/>
            </a:endParaRPr>
          </a:p>
        </p:txBody>
      </p:sp>
    </p:spTree>
    <p:extLst>
      <p:ext uri="{BB962C8B-B14F-4D97-AF65-F5344CB8AC3E}">
        <p14:creationId xmlns:p14="http://schemas.microsoft.com/office/powerpoint/2010/main" val="1168646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57060" y="2137429"/>
            <a:ext cx="2852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2B2B35"/>
                </a:solidFill>
                <a:latin typeface="Inter"/>
              </a:rPr>
              <a:t>Travel use case diagram</a:t>
            </a:r>
            <a:endParaRPr lang="en-US" b="1" i="0" dirty="0">
              <a:solidFill>
                <a:srgbClr val="2B2B35"/>
              </a:solidFill>
              <a:effectLst/>
              <a:latin typeface="Inter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57060" y="2820823"/>
            <a:ext cx="30957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2B2B35"/>
                </a:solidFill>
                <a:latin typeface="Inter"/>
              </a:rPr>
              <a:t>Banking use case diagram</a:t>
            </a:r>
            <a:endParaRPr lang="en-US" b="1" i="0" dirty="0">
              <a:solidFill>
                <a:srgbClr val="2B2B35"/>
              </a:solidFill>
              <a:effectLst/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57060" y="3438973"/>
            <a:ext cx="54296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 smtClean="0">
                <a:solidFill>
                  <a:srgbClr val="2B2B35"/>
                </a:solidFill>
                <a:latin typeface="Inter"/>
              </a:rPr>
              <a:t>Hospital Management system </a:t>
            </a:r>
            <a:r>
              <a:rPr lang="en-US" b="1" dirty="0">
                <a:solidFill>
                  <a:srgbClr val="2B2B35"/>
                </a:solidFill>
                <a:latin typeface="Inter"/>
              </a:rPr>
              <a:t>use case diagram</a:t>
            </a:r>
            <a:endParaRPr lang="en-US" b="1" i="0" dirty="0">
              <a:solidFill>
                <a:srgbClr val="2B2B35"/>
              </a:solidFill>
              <a:effectLst/>
              <a:latin typeface="Inte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57060" y="4057123"/>
            <a:ext cx="5404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 smtClean="0">
                <a:solidFill>
                  <a:srgbClr val="2B2B35"/>
                </a:solidFill>
                <a:latin typeface="Inter"/>
              </a:rPr>
              <a:t>Student Management System use </a:t>
            </a:r>
            <a:r>
              <a:rPr lang="en-US" b="1" dirty="0">
                <a:solidFill>
                  <a:srgbClr val="2B2B35"/>
                </a:solidFill>
                <a:latin typeface="Inter"/>
              </a:rPr>
              <a:t>case diagram</a:t>
            </a:r>
            <a:endParaRPr lang="en-US" b="1" i="0" dirty="0">
              <a:solidFill>
                <a:srgbClr val="2B2B35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41539999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104</TotalTime>
  <Words>1325</Words>
  <Application>Microsoft Office PowerPoint</Application>
  <PresentationFormat>Widescreen</PresentationFormat>
  <Paragraphs>126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Century Gothic</vt:lpstr>
      <vt:lpstr>HarmonyOS Sans</vt:lpstr>
      <vt:lpstr>Inter</vt:lpstr>
      <vt:lpstr>Wingdings 3</vt:lpstr>
      <vt:lpstr>Wisp</vt:lpstr>
      <vt:lpstr>UML </vt:lpstr>
      <vt:lpstr>What is a Use Case Diagram? </vt:lpstr>
      <vt:lpstr>Main Elements of a Use Case Diagram</vt:lpstr>
      <vt:lpstr>Example</vt:lpstr>
      <vt:lpstr>ATM Machine</vt:lpstr>
      <vt:lpstr>Types of Relationships </vt:lpstr>
      <vt:lpstr>Use Case Diagram Relationships </vt:lpstr>
      <vt:lpstr>Association Relationship  </vt:lpstr>
      <vt:lpstr>Include Relationship</vt:lpstr>
      <vt:lpstr>Extend Relationship </vt:lpstr>
      <vt:lpstr>Generalization Relationship </vt:lpstr>
      <vt:lpstr>How to draw a Use Case diagram in UML? </vt:lpstr>
      <vt:lpstr>Use Case Diagram example(Online Shopping System) </vt:lpstr>
      <vt:lpstr>PowerPoint Presentation</vt:lpstr>
      <vt:lpstr>Common Mistakes while making Use Case Diagram? </vt:lpstr>
      <vt:lpstr>Purpose and Benefits of Use Case Diagrams? </vt:lpstr>
      <vt:lpstr>Common Use Case Diagram Tools 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</dc:title>
  <dc:creator>Atifa Arooj</dc:creator>
  <cp:lastModifiedBy>Atifa Arooj</cp:lastModifiedBy>
  <cp:revision>10</cp:revision>
  <dcterms:created xsi:type="dcterms:W3CDTF">2025-04-22T04:47:21Z</dcterms:created>
  <dcterms:modified xsi:type="dcterms:W3CDTF">2025-04-23T04:12:05Z</dcterms:modified>
</cp:coreProperties>
</file>
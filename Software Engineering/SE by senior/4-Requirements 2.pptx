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57"/>
  </p:notesMasterIdLst>
  <p:sldIdLst>
    <p:sldId id="285" r:id="rId3"/>
    <p:sldId id="257" r:id="rId4"/>
    <p:sldId id="258" r:id="rId5"/>
    <p:sldId id="259" r:id="rId6"/>
    <p:sldId id="260" r:id="rId7"/>
    <p:sldId id="320" r:id="rId8"/>
    <p:sldId id="321" r:id="rId9"/>
    <p:sldId id="322" r:id="rId10"/>
    <p:sldId id="263" r:id="rId11"/>
    <p:sldId id="264" r:id="rId12"/>
    <p:sldId id="269" r:id="rId13"/>
    <p:sldId id="267" r:id="rId14"/>
    <p:sldId id="268" r:id="rId15"/>
    <p:sldId id="286" r:id="rId16"/>
    <p:sldId id="270" r:id="rId17"/>
    <p:sldId id="271" r:id="rId18"/>
    <p:sldId id="272" r:id="rId19"/>
    <p:sldId id="273" r:id="rId20"/>
    <p:sldId id="287" r:id="rId21"/>
    <p:sldId id="274" r:id="rId22"/>
    <p:sldId id="275" r:id="rId23"/>
    <p:sldId id="276" r:id="rId24"/>
    <p:sldId id="278" r:id="rId25"/>
    <p:sldId id="280" r:id="rId26"/>
    <p:sldId id="282" r:id="rId27"/>
    <p:sldId id="279" r:id="rId28"/>
    <p:sldId id="288" r:id="rId29"/>
    <p:sldId id="289" r:id="rId30"/>
    <p:sldId id="290" r:id="rId31"/>
    <p:sldId id="291" r:id="rId32"/>
    <p:sldId id="292" r:id="rId33"/>
    <p:sldId id="293" r:id="rId34"/>
    <p:sldId id="294" r:id="rId35"/>
    <p:sldId id="295" r:id="rId36"/>
    <p:sldId id="296" r:id="rId37"/>
    <p:sldId id="297" r:id="rId38"/>
    <p:sldId id="315" r:id="rId39"/>
    <p:sldId id="298" r:id="rId40"/>
    <p:sldId id="318" r:id="rId41"/>
    <p:sldId id="319" r:id="rId42"/>
    <p:sldId id="299" r:id="rId43"/>
    <p:sldId id="302" r:id="rId44"/>
    <p:sldId id="303" r:id="rId45"/>
    <p:sldId id="316" r:id="rId46"/>
    <p:sldId id="304" r:id="rId47"/>
    <p:sldId id="307" r:id="rId48"/>
    <p:sldId id="308" r:id="rId49"/>
    <p:sldId id="309" r:id="rId50"/>
    <p:sldId id="310" r:id="rId51"/>
    <p:sldId id="311" r:id="rId52"/>
    <p:sldId id="312" r:id="rId53"/>
    <p:sldId id="317" r:id="rId54"/>
    <p:sldId id="313" r:id="rId55"/>
    <p:sldId id="314"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61" autoAdjust="0"/>
    <p:restoredTop sz="89767" autoAdjust="0"/>
  </p:normalViewPr>
  <p:slideViewPr>
    <p:cSldViewPr>
      <p:cViewPr varScale="1">
        <p:scale>
          <a:sx n="57" d="100"/>
          <a:sy n="57" d="100"/>
        </p:scale>
        <p:origin x="1772"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44837A-A567-4AF8-9BE6-AB468FB3D1EB}" type="datetimeFigureOut">
              <a:rPr lang="en-US" smtClean="0"/>
              <a:pPr/>
              <a:t>3/4/2024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6E3FF7-7252-4908-BC0C-EC7E883A3E51}" type="slidenum">
              <a:rPr lang="en-US" smtClean="0"/>
              <a:pPr/>
              <a:t>‹#›</a:t>
            </a:fld>
            <a:endParaRPr lang="en-US"/>
          </a:p>
        </p:txBody>
      </p:sp>
    </p:spTree>
    <p:extLst>
      <p:ext uri="{BB962C8B-B14F-4D97-AF65-F5344CB8AC3E}">
        <p14:creationId xmlns:p14="http://schemas.microsoft.com/office/powerpoint/2010/main" val="578430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86E3FF7-7252-4908-BC0C-EC7E883A3E51}" type="slidenum">
              <a:rPr lang="en-US" smtClean="0"/>
              <a:pPr/>
              <a:t>54</a:t>
            </a:fld>
            <a:endParaRPr lang="en-US"/>
          </a:p>
        </p:txBody>
      </p:sp>
    </p:spTree>
    <p:extLst>
      <p:ext uri="{BB962C8B-B14F-4D97-AF65-F5344CB8AC3E}">
        <p14:creationId xmlns:p14="http://schemas.microsoft.com/office/powerpoint/2010/main" val="2051524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91785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4391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411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12345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8" name="Footer Placeholder 7"/>
          <p:cNvSpPr>
            <a:spLocks noGrp="1"/>
          </p:cNvSpPr>
          <p:nvPr>
            <p:ph type="ftr" sz="quarter" idx="11"/>
          </p:nvPr>
        </p:nvSpPr>
        <p:spPr/>
        <p:txBody>
          <a:bodyPr/>
          <a:lstStyle>
            <a:lvl1pPr>
              <a:defRPr/>
            </a:lvl1pPr>
          </a:lstStyle>
          <a:p>
            <a:endParaRPr lang="en-US" dirty="0"/>
          </a:p>
        </p:txBody>
      </p:sp>
      <p:sp>
        <p:nvSpPr>
          <p:cNvPr id="9" name="Slide Number Placeholder 8"/>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63733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4" name="Footer Placeholder 3"/>
          <p:cNvSpPr>
            <a:spLocks noGrp="1"/>
          </p:cNvSpPr>
          <p:nvPr>
            <p:ph type="ftr" sz="quarter" idx="11"/>
          </p:nvPr>
        </p:nvSpPr>
        <p:spPr/>
        <p:txBody>
          <a:bodyPr/>
          <a:lstStyle>
            <a:lvl1pPr>
              <a:defRPr/>
            </a:lvl1pPr>
          </a:lstStyle>
          <a:p>
            <a:endParaRPr lang="en-US" dirty="0"/>
          </a:p>
        </p:txBody>
      </p:sp>
      <p:sp>
        <p:nvSpPr>
          <p:cNvPr id="5" name="Slide Number Placeholder 4"/>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51108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3" name="Footer Placeholder 2"/>
          <p:cNvSpPr>
            <a:spLocks noGrp="1"/>
          </p:cNvSpPr>
          <p:nvPr>
            <p:ph type="ftr" sz="quarter" idx="11"/>
          </p:nvPr>
        </p:nvSpPr>
        <p:spPr/>
        <p:txBody>
          <a:bodyPr/>
          <a:lstStyle>
            <a:lvl1pPr>
              <a:defRPr/>
            </a:lvl1pPr>
          </a:lstStyle>
          <a:p>
            <a:endParaRPr lang="en-US" dirty="0"/>
          </a:p>
        </p:txBody>
      </p:sp>
      <p:sp>
        <p:nvSpPr>
          <p:cNvPr id="4" name="Slide Number Placeholder 3"/>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4766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29249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94786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74294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3/4/2024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0532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dirty="0"/>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dirty="0"/>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dirty="0"/>
          </a:p>
        </p:txBody>
      </p:sp>
    </p:spTree>
    <p:extLst>
      <p:ext uri="{BB962C8B-B14F-4D97-AF65-F5344CB8AC3E}">
        <p14:creationId xmlns:p14="http://schemas.microsoft.com/office/powerpoint/2010/main" val="3245169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dirty="0">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580336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dirty="0">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414202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dirty="0">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dirty="0">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605183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dirty="0">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dirty="0">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881179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dirty="0">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dirty="0">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4064920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dirty="0">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dirty="0">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2595140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dirty="0">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dirty="0">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4846867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dirty="0">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dirty="0">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1145142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dirty="0">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7213750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dirty="0">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6125030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dirty="0">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dirty="0">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5223430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dirty="0">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dirty="0">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2374568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fld id="{1D8BD707-D9CF-40AE-B4C6-C98DA3205C09}" type="datetimeFigureOut">
              <a:rPr lang="en-US" smtClean="0"/>
              <a:pPr/>
              <a:t>3/4/2024</a:t>
            </a:fld>
            <a:endParaRPr lang="en-US"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307814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dirty="0">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dirty="0">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dirty="0">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3620558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package" Target="../embeddings/Microsoft_Word_Document.docx"/><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package" Target="../embeddings/Microsoft_Word_Document1.docx"/><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sz="4000" dirty="0"/>
              <a:t>The software requirements document</a:t>
            </a:r>
            <a:endParaRPr lang="en-US" sz="4000" dirty="0"/>
          </a:p>
        </p:txBody>
      </p:sp>
    </p:spTree>
    <p:extLst>
      <p:ext uri="{BB962C8B-B14F-4D97-AF65-F5344CB8AC3E}">
        <p14:creationId xmlns:p14="http://schemas.microsoft.com/office/powerpoint/2010/main" val="1096660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The software requirements document</a:t>
            </a:r>
            <a:endParaRPr lang="en-US" dirty="0"/>
          </a:p>
        </p:txBody>
      </p:sp>
      <p:sp>
        <p:nvSpPr>
          <p:cNvPr id="3" name="Content Placeholder 2"/>
          <p:cNvSpPr>
            <a:spLocks noGrp="1"/>
          </p:cNvSpPr>
          <p:nvPr>
            <p:ph idx="1"/>
          </p:nvPr>
        </p:nvSpPr>
        <p:spPr>
          <a:xfrm>
            <a:off x="914400" y="1600200"/>
            <a:ext cx="7772400" cy="4114800"/>
          </a:xfrm>
        </p:spPr>
        <p:txBody>
          <a:bodyPr>
            <a:normAutofit fontScale="92500" lnSpcReduction="10000"/>
          </a:bodyPr>
          <a:lstStyle/>
          <a:p>
            <a:r>
              <a:rPr lang="en-GB" dirty="0"/>
              <a:t>The software requirements 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it.</a:t>
            </a:r>
          </a:p>
          <a:p>
            <a:endParaRPr lang="en-US" dirty="0"/>
          </a:p>
        </p:txBody>
      </p:sp>
    </p:spTree>
    <p:extLst>
      <p:ext uri="{BB962C8B-B14F-4D97-AF65-F5344CB8AC3E}">
        <p14:creationId xmlns:p14="http://schemas.microsoft.com/office/powerpoint/2010/main" val="370315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requirements</a:t>
            </a:r>
          </a:p>
        </p:txBody>
      </p:sp>
      <p:sp>
        <p:nvSpPr>
          <p:cNvPr id="3" name="Content Placeholder 2"/>
          <p:cNvSpPr>
            <a:spLocks noGrp="1"/>
          </p:cNvSpPr>
          <p:nvPr>
            <p:ph idx="1"/>
          </p:nvPr>
        </p:nvSpPr>
        <p:spPr>
          <a:xfrm>
            <a:off x="1173163" y="1447800"/>
            <a:ext cx="7772400" cy="4114800"/>
          </a:xfrm>
        </p:spPr>
        <p:txBody>
          <a:bodyPr>
            <a:noAutofit/>
          </a:bodyPr>
          <a:lstStyle/>
          <a:p>
            <a:pPr algn="just">
              <a:lnSpc>
                <a:spcPct val="120000"/>
              </a:lnSpc>
            </a:pPr>
            <a:r>
              <a:rPr lang="en-US" sz="2400" dirty="0"/>
              <a:t>Many agile methods argue that producing a requirements document is a waste of time as requirements change so quickly.</a:t>
            </a:r>
          </a:p>
          <a:p>
            <a:pPr algn="just">
              <a:lnSpc>
                <a:spcPct val="120000"/>
              </a:lnSpc>
            </a:pPr>
            <a:r>
              <a:rPr lang="en-US" sz="2400" dirty="0"/>
              <a:t>The document is therefore always out of date.</a:t>
            </a:r>
          </a:p>
          <a:p>
            <a:pPr algn="just">
              <a:lnSpc>
                <a:spcPct val="120000"/>
              </a:lnSpc>
            </a:pPr>
            <a:r>
              <a:rPr lang="en-US" sz="2400" dirty="0"/>
              <a:t>Methods such as XP use incremental requirements engineering and express requirements as ‘user stories’.</a:t>
            </a:r>
          </a:p>
          <a:p>
            <a:pPr algn="just">
              <a:lnSpc>
                <a:spcPct val="120000"/>
              </a:lnSpc>
            </a:pPr>
            <a:r>
              <a:rPr lang="en-US" sz="2400" dirty="0"/>
              <a:t>This is practical for business systems but problematic for systems that require a lot of pre-delivery analysis (e.g. critical systems) or systems developed by several teams.</a:t>
            </a:r>
          </a:p>
          <a:p>
            <a:pPr algn="just">
              <a:lnSpc>
                <a:spcPct val="120000"/>
              </a:lnSpc>
            </a:pPr>
            <a:endParaRPr lang="en-US" sz="2400" dirty="0"/>
          </a:p>
        </p:txBody>
      </p:sp>
    </p:spTree>
    <p:extLst>
      <p:ext uri="{BB962C8B-B14F-4D97-AF65-F5344CB8AC3E}">
        <p14:creationId xmlns:p14="http://schemas.microsoft.com/office/powerpoint/2010/main" val="126387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Users of a requirements document</a:t>
            </a:r>
            <a:r>
              <a:rPr lang="en-GB" sz="3200" dirty="0"/>
              <a:t> </a:t>
            </a:r>
            <a:endParaRPr lang="en-US" sz="3200" dirty="0"/>
          </a:p>
        </p:txBody>
      </p:sp>
      <p:pic>
        <p:nvPicPr>
          <p:cNvPr id="3" name="Picture 2"/>
          <p:cNvPicPr>
            <a:picLocks noChangeAspect="1"/>
          </p:cNvPicPr>
          <p:nvPr/>
        </p:nvPicPr>
        <p:blipFill>
          <a:blip r:embed="rId2" cstate="print"/>
          <a:stretch>
            <a:fillRect/>
          </a:stretch>
        </p:blipFill>
        <p:spPr>
          <a:xfrm>
            <a:off x="2057401" y="901969"/>
            <a:ext cx="4800600" cy="5685820"/>
          </a:xfrm>
          <a:prstGeom prst="rect">
            <a:avLst/>
          </a:prstGeom>
        </p:spPr>
      </p:pic>
    </p:spTree>
    <p:extLst>
      <p:ext uri="{BB962C8B-B14F-4D97-AF65-F5344CB8AC3E}">
        <p14:creationId xmlns:p14="http://schemas.microsoft.com/office/powerpoint/2010/main" val="1228526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document variability </a:t>
            </a:r>
          </a:p>
        </p:txBody>
      </p:sp>
      <p:sp>
        <p:nvSpPr>
          <p:cNvPr id="3" name="Content Placeholder 2"/>
          <p:cNvSpPr>
            <a:spLocks noGrp="1"/>
          </p:cNvSpPr>
          <p:nvPr>
            <p:ph idx="1"/>
          </p:nvPr>
        </p:nvSpPr>
        <p:spPr/>
        <p:txBody>
          <a:bodyPr>
            <a:noAutofit/>
          </a:bodyPr>
          <a:lstStyle/>
          <a:p>
            <a:pPr algn="just">
              <a:lnSpc>
                <a:spcPct val="120000"/>
              </a:lnSpc>
            </a:pPr>
            <a:r>
              <a:rPr lang="en-US" sz="2400" dirty="0"/>
              <a:t>Information in requirements document depends on type of system and the approach to development used.</a:t>
            </a:r>
          </a:p>
          <a:p>
            <a:pPr algn="just">
              <a:lnSpc>
                <a:spcPct val="120000"/>
              </a:lnSpc>
            </a:pPr>
            <a:r>
              <a:rPr lang="en-US" sz="2400" dirty="0"/>
              <a:t>Requirements documents standards have been designed e.g. IEEE standard. These are mostly applicable to the requirements for large systems engineering projects.</a:t>
            </a:r>
          </a:p>
          <a:p>
            <a:pPr algn="just">
              <a:lnSpc>
                <a:spcPct val="120000"/>
              </a:lnSpc>
            </a:pPr>
            <a:endParaRPr lang="en-US" sz="2400" dirty="0"/>
          </a:p>
        </p:txBody>
      </p:sp>
    </p:spTree>
    <p:extLst>
      <p:ext uri="{BB962C8B-B14F-4D97-AF65-F5344CB8AC3E}">
        <p14:creationId xmlns:p14="http://schemas.microsoft.com/office/powerpoint/2010/main" val="42475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5F6A7-DEB9-CDE9-B17A-8EB645D3CE00}"/>
              </a:ext>
            </a:extLst>
          </p:cNvPr>
          <p:cNvSpPr>
            <a:spLocks noGrp="1"/>
          </p:cNvSpPr>
          <p:nvPr>
            <p:ph type="title"/>
          </p:nvPr>
        </p:nvSpPr>
        <p:spPr/>
        <p:txBody>
          <a:bodyPr/>
          <a:lstStyle/>
          <a:p>
            <a:r>
              <a:rPr lang="en-US" dirty="0"/>
              <a:t>Requirements Document</a:t>
            </a:r>
          </a:p>
        </p:txBody>
      </p:sp>
      <p:sp>
        <p:nvSpPr>
          <p:cNvPr id="3" name="Content Placeholder 2">
            <a:extLst>
              <a:ext uri="{FF2B5EF4-FFF2-40B4-BE49-F238E27FC236}">
                <a16:creationId xmlns:a16="http://schemas.microsoft.com/office/drawing/2014/main" id="{3B02E936-6102-18D8-4EC9-0895C32153CD}"/>
              </a:ext>
            </a:extLst>
          </p:cNvPr>
          <p:cNvSpPr>
            <a:spLocks noGrp="1"/>
          </p:cNvSpPr>
          <p:nvPr>
            <p:ph idx="1"/>
          </p:nvPr>
        </p:nvSpPr>
        <p:spPr/>
        <p:txBody>
          <a:bodyPr/>
          <a:lstStyle/>
          <a:p>
            <a:r>
              <a:rPr lang="en-US" dirty="0"/>
              <a:t>Naturally, the information that is included in a requirements document depends on the type of software being developed and the approach to development that is to be used.</a:t>
            </a:r>
          </a:p>
          <a:p>
            <a:pPr marL="0" indent="0">
              <a:buNone/>
            </a:pPr>
            <a:endParaRPr lang="en-US" dirty="0"/>
          </a:p>
        </p:txBody>
      </p:sp>
    </p:spTree>
    <p:extLst>
      <p:ext uri="{BB962C8B-B14F-4D97-AF65-F5344CB8AC3E}">
        <p14:creationId xmlns:p14="http://schemas.microsoft.com/office/powerpoint/2010/main" val="15089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F9C73-15AA-255E-EAE3-23CE4E955BF7}"/>
              </a:ext>
            </a:extLst>
          </p:cNvPr>
          <p:cNvSpPr>
            <a:spLocks noGrp="1"/>
          </p:cNvSpPr>
          <p:nvPr>
            <p:ph type="title"/>
          </p:nvPr>
        </p:nvSpPr>
        <p:spPr/>
        <p:txBody>
          <a:bodyPr/>
          <a:lstStyle/>
          <a:p>
            <a:r>
              <a:rPr lang="en-US" dirty="0"/>
              <a:t>The structure of a requirements document</a:t>
            </a:r>
          </a:p>
        </p:txBody>
      </p:sp>
      <p:pic>
        <p:nvPicPr>
          <p:cNvPr id="5" name="Content Placeholder 4">
            <a:extLst>
              <a:ext uri="{FF2B5EF4-FFF2-40B4-BE49-F238E27FC236}">
                <a16:creationId xmlns:a16="http://schemas.microsoft.com/office/drawing/2014/main" id="{582FFB94-A38E-A7C3-6548-3CDB56A064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1752600"/>
            <a:ext cx="6324599" cy="4857677"/>
          </a:xfrm>
        </p:spPr>
      </p:pic>
    </p:spTree>
    <p:extLst>
      <p:ext uri="{BB962C8B-B14F-4D97-AF65-F5344CB8AC3E}">
        <p14:creationId xmlns:p14="http://schemas.microsoft.com/office/powerpoint/2010/main" val="1458625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ue text box with black text&#10;&#10;Description automatically generated">
            <a:extLst>
              <a:ext uri="{FF2B5EF4-FFF2-40B4-BE49-F238E27FC236}">
                <a16:creationId xmlns:a16="http://schemas.microsoft.com/office/drawing/2014/main" id="{F7D94FE0-D7FA-C8EE-35D3-FDF3E8DCD8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1790700"/>
            <a:ext cx="8636823" cy="3276600"/>
          </a:xfrm>
        </p:spPr>
      </p:pic>
    </p:spTree>
    <p:extLst>
      <p:ext uri="{BB962C8B-B14F-4D97-AF65-F5344CB8AC3E}">
        <p14:creationId xmlns:p14="http://schemas.microsoft.com/office/powerpoint/2010/main" val="3486012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Requirements specification</a:t>
            </a:r>
          </a:p>
        </p:txBody>
      </p:sp>
      <p:sp>
        <p:nvSpPr>
          <p:cNvPr id="3" name="Content Placeholder 2"/>
          <p:cNvSpPr>
            <a:spLocks noGrp="1"/>
          </p:cNvSpPr>
          <p:nvPr>
            <p:ph idx="1"/>
          </p:nvPr>
        </p:nvSpPr>
        <p:spPr>
          <a:xfrm>
            <a:off x="914400" y="1066800"/>
            <a:ext cx="7772400" cy="4114800"/>
          </a:xfrm>
        </p:spPr>
        <p:txBody>
          <a:bodyPr>
            <a:noAutofit/>
          </a:bodyPr>
          <a:lstStyle/>
          <a:p>
            <a:pPr>
              <a:lnSpc>
                <a:spcPct val="120000"/>
              </a:lnSpc>
            </a:pPr>
            <a:r>
              <a:rPr lang="en-US" sz="2400" dirty="0"/>
              <a:t>The </a:t>
            </a:r>
            <a:r>
              <a:rPr lang="en-US" sz="2400" b="1" dirty="0"/>
              <a:t>process of writing down</a:t>
            </a:r>
            <a:r>
              <a:rPr lang="en-US" sz="2400" dirty="0"/>
              <a:t> the user and system </a:t>
            </a:r>
            <a:r>
              <a:rPr lang="en-US" sz="2400" b="1" dirty="0"/>
              <a:t>requirements</a:t>
            </a:r>
            <a:r>
              <a:rPr lang="en-US" sz="2400" dirty="0"/>
              <a:t> in a requirements document.</a:t>
            </a:r>
          </a:p>
          <a:p>
            <a:pPr>
              <a:lnSpc>
                <a:spcPct val="120000"/>
              </a:lnSpc>
            </a:pPr>
            <a:r>
              <a:rPr lang="en-US" sz="2400" b="1" dirty="0"/>
              <a:t>User requirements</a:t>
            </a:r>
            <a:r>
              <a:rPr lang="en-US" sz="2400" dirty="0"/>
              <a:t> have to be understandable by end-users and customers who do not have a technical background.</a:t>
            </a:r>
          </a:p>
          <a:p>
            <a:pPr>
              <a:lnSpc>
                <a:spcPct val="120000"/>
              </a:lnSpc>
            </a:pPr>
            <a:r>
              <a:rPr lang="en-US" sz="2400" b="1" dirty="0"/>
              <a:t>System requirements</a:t>
            </a:r>
            <a:r>
              <a:rPr lang="en-US" sz="2400" dirty="0"/>
              <a:t> are more detailed requirements and may include more technical information.</a:t>
            </a:r>
          </a:p>
          <a:p>
            <a:pPr>
              <a:lnSpc>
                <a:spcPct val="120000"/>
              </a:lnSpc>
            </a:pPr>
            <a:r>
              <a:rPr lang="en-US" sz="2400" dirty="0"/>
              <a:t>The requirements may be part of a contract for the system development</a:t>
            </a:r>
          </a:p>
          <a:p>
            <a:pPr lvl="1">
              <a:lnSpc>
                <a:spcPct val="120000"/>
              </a:lnSpc>
            </a:pPr>
            <a:r>
              <a:rPr lang="en-US" sz="2400" dirty="0"/>
              <a:t>It is therefore important that these are as complete as possible.</a:t>
            </a:r>
          </a:p>
          <a:p>
            <a:pPr>
              <a:lnSpc>
                <a:spcPct val="120000"/>
              </a:lnSpc>
            </a:pPr>
            <a:endParaRPr lang="en-US" sz="2400" dirty="0"/>
          </a:p>
        </p:txBody>
      </p:sp>
    </p:spTree>
    <p:extLst>
      <p:ext uri="{BB962C8B-B14F-4D97-AF65-F5344CB8AC3E}">
        <p14:creationId xmlns:p14="http://schemas.microsoft.com/office/powerpoint/2010/main" val="156934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Ways of writing a system requirements specification </a:t>
            </a:r>
          </a:p>
        </p:txBody>
      </p:sp>
      <p:graphicFrame>
        <p:nvGraphicFramePr>
          <p:cNvPr id="4" name="Table 3"/>
          <p:cNvGraphicFramePr>
            <a:graphicFrameLocks noGrp="1"/>
          </p:cNvGraphicFramePr>
          <p:nvPr/>
        </p:nvGraphicFramePr>
        <p:xfrm>
          <a:off x="685800" y="1595479"/>
          <a:ext cx="7924800" cy="3823308"/>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3"/>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88954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requirements for the insulin pump software system</a:t>
            </a:r>
            <a:r>
              <a:rPr lang="en-GB" dirty="0"/>
              <a:t> </a:t>
            </a:r>
            <a:endParaRPr lang="en-US" dirty="0"/>
          </a:p>
        </p:txBody>
      </p:sp>
      <p:graphicFrame>
        <p:nvGraphicFramePr>
          <p:cNvPr id="5" name="Table 4"/>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extLst>
                    <a:ext uri="{9D8B030D-6E8A-4147-A177-3AD203B41FA5}">
                      <a16:colId xmlns:a16="http://schemas.microsoft.com/office/drawing/2014/main" val="20000"/>
                    </a:ext>
                  </a:extLst>
                </a:gridCol>
              </a:tblGrid>
              <a:tr h="370840">
                <a:tc>
                  <a:txBody>
                    <a:bodyPr/>
                    <a:lstStyle/>
                    <a:p>
                      <a:r>
                        <a:rPr lang="en-GB" sz="1800" b="0" kern="1200" dirty="0"/>
                        <a:t>3.2 The system shall measure the blood sugar and deliver insulin, if required, every 10 minutes.</a:t>
                      </a:r>
                      <a:r>
                        <a:rPr lang="en-GB" sz="1800" b="0" i="1" kern="1200" dirty="0"/>
                        <a:t> (Changes in blood sugar are relatively slow so more frequent measurement is unnecessary; less frequent measurement could lead to unnecessarily high sugar levels.)</a:t>
                      </a:r>
                    </a:p>
                    <a:p>
                      <a:endParaRPr lang="en-GB" sz="1800" b="0" kern="1200" dirty="0"/>
                    </a:p>
                    <a:p>
                      <a:r>
                        <a:rPr lang="en-GB" sz="1800" b="0" kern="1200" dirty="0"/>
                        <a:t>3.6 The system shall run a self-test routine every minute with the conditions to be tested and the associated actions defined in Table 1.</a:t>
                      </a:r>
                      <a:r>
                        <a:rPr lang="en-GB" sz="1800" b="0" i="1" kern="1200" dirty="0"/>
                        <a:t> (A self-test routine can discover hardware and software problems and alert the user to the fact the normal operation may be impossible.)</a:t>
                      </a:r>
                    </a:p>
                    <a:p>
                      <a:endParaRPr lang="en-US"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003691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Guidelines for writing requirements</a:t>
            </a:r>
            <a:endParaRPr lang="en-US" dirty="0"/>
          </a:p>
        </p:txBody>
      </p:sp>
      <p:sp>
        <p:nvSpPr>
          <p:cNvPr id="3" name="Content Placeholder 2"/>
          <p:cNvSpPr>
            <a:spLocks noGrp="1"/>
          </p:cNvSpPr>
          <p:nvPr>
            <p:ph idx="1"/>
          </p:nvPr>
        </p:nvSpPr>
        <p:spPr>
          <a:xfrm>
            <a:off x="1173163" y="1828800"/>
            <a:ext cx="7772400" cy="4114800"/>
          </a:xfrm>
        </p:spPr>
        <p:txBody>
          <a:bodyPr>
            <a:normAutofit fontScale="85000" lnSpcReduction="20000"/>
          </a:bodyPr>
          <a:lstStyle/>
          <a:p>
            <a:r>
              <a:rPr lang="en-GB" b="1" dirty="0"/>
              <a:t>Invent a standard format</a:t>
            </a:r>
            <a:r>
              <a:rPr lang="en-GB" dirty="0"/>
              <a:t> and use it for all requirements.(single sentence!!)</a:t>
            </a:r>
          </a:p>
          <a:p>
            <a:r>
              <a:rPr lang="en-GB" b="1" dirty="0"/>
              <a:t>Use language in a consistent way.</a:t>
            </a:r>
            <a:r>
              <a:rPr lang="en-GB" dirty="0"/>
              <a:t> Use shall for mandatory requirements, should for desirable requirements.</a:t>
            </a:r>
          </a:p>
          <a:p>
            <a:r>
              <a:rPr lang="en-GB" b="1" dirty="0"/>
              <a:t>Use text highlighting</a:t>
            </a:r>
            <a:r>
              <a:rPr lang="en-GB" dirty="0"/>
              <a:t> to identify key parts of the requirement.</a:t>
            </a:r>
          </a:p>
          <a:p>
            <a:r>
              <a:rPr lang="en-GB" b="1" dirty="0"/>
              <a:t>Avoid </a:t>
            </a:r>
            <a:r>
              <a:rPr lang="en-GB" dirty="0"/>
              <a:t>the use of </a:t>
            </a:r>
            <a:r>
              <a:rPr lang="en-GB" b="1" dirty="0"/>
              <a:t>computer jargon</a:t>
            </a:r>
            <a:r>
              <a:rPr lang="en-GB" dirty="0"/>
              <a:t> (specialised words).</a:t>
            </a:r>
          </a:p>
          <a:p>
            <a:r>
              <a:rPr lang="en-GB" b="1" dirty="0"/>
              <a:t>Include an explanation</a:t>
            </a:r>
            <a:r>
              <a:rPr lang="en-GB" dirty="0"/>
              <a:t> (rationale) of why a requirement is necessary.</a:t>
            </a:r>
          </a:p>
          <a:p>
            <a:endParaRPr lang="en-US" dirty="0"/>
          </a:p>
        </p:txBody>
      </p:sp>
    </p:spTree>
    <p:extLst>
      <p:ext uri="{BB962C8B-B14F-4D97-AF65-F5344CB8AC3E}">
        <p14:creationId xmlns:p14="http://schemas.microsoft.com/office/powerpoint/2010/main" val="43434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Problems with natural language</a:t>
            </a:r>
            <a:endParaRPr lang="en-US" dirty="0"/>
          </a:p>
        </p:txBody>
      </p:sp>
      <p:sp>
        <p:nvSpPr>
          <p:cNvPr id="3" name="Content Placeholder 2"/>
          <p:cNvSpPr>
            <a:spLocks noGrp="1"/>
          </p:cNvSpPr>
          <p:nvPr>
            <p:ph idx="1"/>
          </p:nvPr>
        </p:nvSpPr>
        <p:spPr>
          <a:xfrm>
            <a:off x="914400" y="1676400"/>
            <a:ext cx="7772400" cy="4114800"/>
          </a:xfrm>
        </p:spPr>
        <p:txBody>
          <a:bodyPr>
            <a:normAutofit fontScale="92500" lnSpcReduction="20000"/>
          </a:bodyPr>
          <a:lstStyle/>
          <a:p>
            <a:r>
              <a:rPr lang="en-GB" dirty="0"/>
              <a:t>Lack of clarity </a:t>
            </a:r>
          </a:p>
          <a:p>
            <a:pPr lvl="1"/>
            <a:r>
              <a:rPr lang="en-US" dirty="0"/>
              <a:t>it is sometimes difficult to use language in a precise and unambiguous way, without making the document wordy and difficult to read</a:t>
            </a:r>
            <a:endParaRPr lang="en-GB" dirty="0"/>
          </a:p>
          <a:p>
            <a:r>
              <a:rPr lang="en-GB" dirty="0"/>
              <a:t>Requirements confusion</a:t>
            </a:r>
          </a:p>
          <a:p>
            <a:pPr lvl="1"/>
            <a:r>
              <a:rPr lang="en-GB" dirty="0"/>
              <a:t>Functional, non-functional requirements and design information tend to be mixed-up.</a:t>
            </a:r>
          </a:p>
          <a:p>
            <a:r>
              <a:rPr lang="en-GB" dirty="0"/>
              <a:t>Requirements amalgamation</a:t>
            </a:r>
          </a:p>
          <a:p>
            <a:pPr lvl="1"/>
            <a:r>
              <a:rPr lang="en-GB" dirty="0"/>
              <a:t>Several different requirements may be expressed together in a single requirement.</a:t>
            </a:r>
          </a:p>
          <a:p>
            <a:endParaRPr lang="en-US" dirty="0"/>
          </a:p>
        </p:txBody>
      </p:sp>
    </p:spTree>
    <p:extLst>
      <p:ext uri="{BB962C8B-B14F-4D97-AF65-F5344CB8AC3E}">
        <p14:creationId xmlns:p14="http://schemas.microsoft.com/office/powerpoint/2010/main" val="260304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Ways of writing a system requirements specification </a:t>
            </a:r>
          </a:p>
        </p:txBody>
      </p:sp>
      <p:graphicFrame>
        <p:nvGraphicFramePr>
          <p:cNvPr id="4" name="Table 3"/>
          <p:cNvGraphicFramePr>
            <a:graphicFrameLocks noGrp="1"/>
          </p:cNvGraphicFramePr>
          <p:nvPr/>
        </p:nvGraphicFramePr>
        <p:xfrm>
          <a:off x="685800" y="1595479"/>
          <a:ext cx="7924800" cy="3823308"/>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3"/>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96143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a:xfrm>
            <a:off x="1066800" y="1524000"/>
            <a:ext cx="7772400" cy="4114800"/>
          </a:xfrm>
        </p:spPr>
        <p:txBody>
          <a:bodyPr/>
          <a:lstStyle/>
          <a:p>
            <a:r>
              <a:rPr lang="en-US" dirty="0"/>
              <a:t>An approach to writing requirements where the freedom of the requirements writer is limited and requirements are written in a standard way.</a:t>
            </a:r>
          </a:p>
          <a:p>
            <a:r>
              <a:rPr lang="en-US" dirty="0"/>
              <a:t>This works well for some types of requirements </a:t>
            </a:r>
          </a:p>
          <a:p>
            <a:pPr lvl="1"/>
            <a:r>
              <a:rPr lang="en-US" dirty="0"/>
              <a:t>e.g. requirements for embedded control system but is sometimes too rigid for writing business system requirements.</a:t>
            </a:r>
          </a:p>
          <a:p>
            <a:endParaRPr lang="en-US" dirty="0"/>
          </a:p>
        </p:txBody>
      </p:sp>
    </p:spTree>
    <p:extLst>
      <p:ext uri="{BB962C8B-B14F-4D97-AF65-F5344CB8AC3E}">
        <p14:creationId xmlns:p14="http://schemas.microsoft.com/office/powerpoint/2010/main" val="159770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Form-based specifications</a:t>
            </a:r>
            <a:endParaRPr lang="en-US" dirty="0"/>
          </a:p>
        </p:txBody>
      </p:sp>
      <p:sp>
        <p:nvSpPr>
          <p:cNvPr id="3" name="Content Placeholder 2"/>
          <p:cNvSpPr>
            <a:spLocks noGrp="1"/>
          </p:cNvSpPr>
          <p:nvPr>
            <p:ph idx="1"/>
          </p:nvPr>
        </p:nvSpPr>
        <p:spPr>
          <a:xfrm>
            <a:off x="1173163" y="1752600"/>
            <a:ext cx="7772400" cy="4114800"/>
          </a:xfrm>
        </p:spPr>
        <p:txBody>
          <a:bodyPr>
            <a:normAutofit fontScale="92500" lnSpcReduction="10000"/>
          </a:bodyPr>
          <a:lstStyle/>
          <a:p>
            <a:r>
              <a:rPr lang="en-GB" dirty="0"/>
              <a:t>Definition of the function.</a:t>
            </a:r>
          </a:p>
          <a:p>
            <a:r>
              <a:rPr lang="en-GB" dirty="0"/>
              <a:t>Description of inputs and where they come from.</a:t>
            </a:r>
          </a:p>
          <a:p>
            <a:r>
              <a:rPr lang="en-GB" dirty="0"/>
              <a:t>Description of outputs and where they go to.</a:t>
            </a:r>
          </a:p>
          <a:p>
            <a:r>
              <a:rPr lang="en-GB" dirty="0"/>
              <a:t>Description of the action to be taken.</a:t>
            </a:r>
          </a:p>
          <a:p>
            <a:r>
              <a:rPr lang="en-GB" dirty="0"/>
              <a:t>Pre and post conditions (if appropriate).</a:t>
            </a:r>
          </a:p>
          <a:p>
            <a:r>
              <a:rPr lang="en-GB" dirty="0"/>
              <a:t>The side effects (if any) of the function.</a:t>
            </a:r>
          </a:p>
          <a:p>
            <a:endParaRPr lang="en-US" dirty="0"/>
          </a:p>
        </p:txBody>
      </p:sp>
    </p:spTree>
    <p:extLst>
      <p:ext uri="{BB962C8B-B14F-4D97-AF65-F5344CB8AC3E}">
        <p14:creationId xmlns:p14="http://schemas.microsoft.com/office/powerpoint/2010/main" val="48868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structured specification of a requirement for an insulin pump</a:t>
            </a:r>
            <a:r>
              <a:rPr lang="en-GB" dirty="0"/>
              <a:t> </a:t>
            </a:r>
            <a:endParaRPr lang="en-US" dirty="0"/>
          </a:p>
        </p:txBody>
      </p:sp>
      <p:graphicFrame>
        <p:nvGraphicFramePr>
          <p:cNvPr id="4"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name="Document" r:id="rId2" imgW="5943381" imgH="3314578" progId="Word.Document.12">
                  <p:embed/>
                </p:oleObj>
              </mc:Choice>
              <mc:Fallback>
                <p:oleObj name="Document" r:id="rId2" imgW="5943381" imgH="3314578" progId="Word.Document.12">
                  <p:embed/>
                  <p:pic>
                    <p:nvPicPr>
                      <p:cNvPr id="0"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86728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structured specification of a requirement for an insulin pump</a:t>
            </a:r>
            <a:r>
              <a:rPr lang="en-GB" dirty="0"/>
              <a:t> </a:t>
            </a:r>
            <a:endParaRPr lang="en-US" dirty="0"/>
          </a:p>
        </p:txBody>
      </p:sp>
      <p:graphicFrame>
        <p:nvGraphicFramePr>
          <p:cNvPr id="4"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name="Document" r:id="rId2" imgW="5943381" imgH="4444836" progId="Word.Document.12">
                  <p:embed/>
                </p:oleObj>
              </mc:Choice>
              <mc:Fallback>
                <p:oleObj name="Document" r:id="rId2" imgW="5943381" imgH="4444836" progId="Word.Document.12">
                  <p:embed/>
                  <p:pic>
                    <p:nvPicPr>
                      <p:cNvPr id="0"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72469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Ways of writing a system requirements specification </a:t>
            </a:r>
          </a:p>
        </p:txBody>
      </p:sp>
      <p:graphicFrame>
        <p:nvGraphicFramePr>
          <p:cNvPr id="4" name="Table 3"/>
          <p:cNvGraphicFramePr>
            <a:graphicFrameLocks noGrp="1"/>
          </p:cNvGraphicFramePr>
          <p:nvPr>
            <p:extLst>
              <p:ext uri="{D42A27DB-BD31-4B8C-83A1-F6EECF244321}">
                <p14:modId xmlns:p14="http://schemas.microsoft.com/office/powerpoint/2010/main" val="392250987"/>
              </p:ext>
            </p:extLst>
          </p:nvPr>
        </p:nvGraphicFramePr>
        <p:xfrm>
          <a:off x="685800" y="1595479"/>
          <a:ext cx="7924800" cy="3823308"/>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70576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3"/>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13316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Tabular specification</a:t>
            </a:r>
          </a:p>
        </p:txBody>
      </p:sp>
      <p:sp>
        <p:nvSpPr>
          <p:cNvPr id="3" name="Content Placeholder 2"/>
          <p:cNvSpPr>
            <a:spLocks noGrp="1"/>
          </p:cNvSpPr>
          <p:nvPr>
            <p:ph idx="1"/>
          </p:nvPr>
        </p:nvSpPr>
        <p:spPr>
          <a:xfrm>
            <a:off x="1173163" y="1752600"/>
            <a:ext cx="7772400" cy="4114800"/>
          </a:xfrm>
        </p:spPr>
        <p:txBody>
          <a:bodyPr>
            <a:normAutofit fontScale="85000" lnSpcReduction="20000"/>
          </a:bodyPr>
          <a:lstStyle/>
          <a:p>
            <a:pPr>
              <a:lnSpc>
                <a:spcPct val="120000"/>
              </a:lnSpc>
            </a:pPr>
            <a:r>
              <a:rPr lang="en-US" dirty="0"/>
              <a:t>Used to supplement natural language.</a:t>
            </a:r>
          </a:p>
          <a:p>
            <a:pPr>
              <a:lnSpc>
                <a:spcPct val="120000"/>
              </a:lnSpc>
            </a:pPr>
            <a:r>
              <a:rPr lang="en-US" dirty="0"/>
              <a:t>Particularly useful when you have to define a number of possible alternative courses of action.</a:t>
            </a:r>
          </a:p>
          <a:p>
            <a:pPr>
              <a:lnSpc>
                <a:spcPct val="120000"/>
              </a:lnSpc>
            </a:pPr>
            <a:r>
              <a:rPr lang="en-US" dirty="0"/>
              <a:t>For example, the insulin pump systems bases its computations on the rate of change of blood sugar level and the tabular specification explains how to calculate the insulin requirement for different scenarios.</a:t>
            </a:r>
          </a:p>
          <a:p>
            <a:pPr>
              <a:lnSpc>
                <a:spcPct val="120000"/>
              </a:lnSpc>
            </a:pPr>
            <a:endParaRPr lang="en-US" dirty="0"/>
          </a:p>
        </p:txBody>
      </p:sp>
    </p:spTree>
    <p:extLst>
      <p:ext uri="{BB962C8B-B14F-4D97-AF65-F5344CB8AC3E}">
        <p14:creationId xmlns:p14="http://schemas.microsoft.com/office/powerpoint/2010/main" val="1981046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Tabular specification of computation for an insulin pump</a:t>
            </a:r>
            <a:r>
              <a:rPr lang="en-GB" dirty="0"/>
              <a:t> </a:t>
            </a:r>
            <a:endParaRPr lang="en-US" dirty="0"/>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extLst>
                    <a:ext uri="{9D8B030D-6E8A-4147-A177-3AD203B41FA5}">
                      <a16:colId xmlns:a16="http://schemas.microsoft.com/office/drawing/2014/main" val="20000"/>
                    </a:ext>
                  </a:extLst>
                </a:gridCol>
                <a:gridCol w="2651125">
                  <a:extLst>
                    <a:ext uri="{9D8B030D-6E8A-4147-A177-3AD203B41FA5}">
                      <a16:colId xmlns:a16="http://schemas.microsoft.com/office/drawing/2014/main" val="20001"/>
                    </a:ext>
                  </a:extLst>
                </a:gridCol>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Action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      round ((r2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1632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normAutofit fontScale="90000"/>
          </a:bodyPr>
          <a:lstStyle/>
          <a:p>
            <a:r>
              <a:rPr lang="en-GB" dirty="0"/>
              <a:t>Requirements engineering processes</a:t>
            </a:r>
            <a:endParaRPr lang="en-US" dirty="0"/>
          </a:p>
        </p:txBody>
      </p:sp>
      <p:sp>
        <p:nvSpPr>
          <p:cNvPr id="4" name="Rectangle 3"/>
          <p:cNvSpPr txBox="1">
            <a:spLocks noChangeArrowheads="1"/>
          </p:cNvSpPr>
          <p:nvPr/>
        </p:nvSpPr>
        <p:spPr>
          <a:xfrm>
            <a:off x="457200" y="1219200"/>
            <a:ext cx="82296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20000"/>
              </a:lnSpc>
              <a:buFont typeface="Wingdings" panose="05000000000000000000" pitchFamily="2" charset="2"/>
              <a:buChar char="q"/>
            </a:pPr>
            <a:r>
              <a:rPr lang="en-GB" sz="2400" dirty="0"/>
              <a:t>The processes used for RE vary widely depending on the application domain, the people involved and the organisation developing the requirements.</a:t>
            </a:r>
          </a:p>
          <a:p>
            <a:pPr algn="just">
              <a:lnSpc>
                <a:spcPct val="120000"/>
              </a:lnSpc>
              <a:buFont typeface="Wingdings" panose="05000000000000000000" pitchFamily="2" charset="2"/>
              <a:buChar char="q"/>
            </a:pPr>
            <a:r>
              <a:rPr lang="en-GB" sz="2400" dirty="0"/>
              <a:t>However, there are a number of generic activities common to all processes</a:t>
            </a:r>
          </a:p>
          <a:p>
            <a:pPr lvl="1" algn="just">
              <a:lnSpc>
                <a:spcPct val="120000"/>
              </a:lnSpc>
              <a:buFont typeface="Wingdings" panose="05000000000000000000" pitchFamily="2" charset="2"/>
              <a:buChar char="q"/>
            </a:pPr>
            <a:r>
              <a:rPr lang="en-GB" sz="2400" dirty="0"/>
              <a:t>Requirements elicitation;</a:t>
            </a:r>
          </a:p>
          <a:p>
            <a:pPr lvl="1" algn="just">
              <a:lnSpc>
                <a:spcPct val="120000"/>
              </a:lnSpc>
              <a:buFont typeface="Wingdings" panose="05000000000000000000" pitchFamily="2" charset="2"/>
              <a:buChar char="q"/>
            </a:pPr>
            <a:r>
              <a:rPr lang="en-GB" sz="2400" dirty="0"/>
              <a:t>Requirements analysis;</a:t>
            </a:r>
          </a:p>
          <a:p>
            <a:pPr lvl="1" algn="just">
              <a:lnSpc>
                <a:spcPct val="120000"/>
              </a:lnSpc>
              <a:buFont typeface="Wingdings" panose="05000000000000000000" pitchFamily="2" charset="2"/>
              <a:buChar char="q"/>
            </a:pPr>
            <a:r>
              <a:rPr lang="en-GB" sz="2400" dirty="0"/>
              <a:t>Requirements validation;</a:t>
            </a:r>
          </a:p>
          <a:p>
            <a:pPr lvl="1" algn="just">
              <a:lnSpc>
                <a:spcPct val="120000"/>
              </a:lnSpc>
              <a:buFont typeface="Wingdings" panose="05000000000000000000" pitchFamily="2" charset="2"/>
              <a:buChar char="q"/>
            </a:pPr>
            <a:r>
              <a:rPr lang="en-GB" sz="2400" dirty="0"/>
              <a:t>Requirements management.</a:t>
            </a:r>
          </a:p>
          <a:p>
            <a:pPr algn="just">
              <a:lnSpc>
                <a:spcPct val="120000"/>
              </a:lnSpc>
              <a:buFont typeface="Wingdings" panose="05000000000000000000" pitchFamily="2" charset="2"/>
              <a:buChar char="q"/>
            </a:pPr>
            <a:r>
              <a:rPr lang="en-GB" sz="2400" dirty="0"/>
              <a:t>In practice, RE is an iterative activity in which these processes are interleaved.</a:t>
            </a:r>
          </a:p>
        </p:txBody>
      </p:sp>
    </p:spTree>
    <p:extLst>
      <p:ext uri="{BB962C8B-B14F-4D97-AF65-F5344CB8AC3E}">
        <p14:creationId xmlns:p14="http://schemas.microsoft.com/office/powerpoint/2010/main" val="94945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Requirements elicitation and analysis</a:t>
            </a:r>
            <a:endParaRPr lang="en-US" dirty="0"/>
          </a:p>
        </p:txBody>
      </p:sp>
      <p:sp>
        <p:nvSpPr>
          <p:cNvPr id="3" name="Content Placeholder 2"/>
          <p:cNvSpPr>
            <a:spLocks noGrp="1"/>
          </p:cNvSpPr>
          <p:nvPr>
            <p:ph idx="1"/>
          </p:nvPr>
        </p:nvSpPr>
        <p:spPr>
          <a:xfrm>
            <a:off x="990600" y="1905000"/>
            <a:ext cx="7772400" cy="4114800"/>
          </a:xfrm>
        </p:spPr>
        <p:txBody>
          <a:bodyPr>
            <a:normAutofit fontScale="85000" lnSpcReduction="20000"/>
          </a:bodyPr>
          <a:lstStyle/>
          <a:p>
            <a:pPr>
              <a:lnSpc>
                <a:spcPct val="120000"/>
              </a:lnSpc>
            </a:pPr>
            <a:r>
              <a:rPr lang="en-US" dirty="0"/>
              <a:t>software engineers work with </a:t>
            </a:r>
            <a:r>
              <a:rPr lang="en-US" b="1" dirty="0"/>
              <a:t>customers</a:t>
            </a:r>
            <a:r>
              <a:rPr lang="en-US" dirty="0"/>
              <a:t> and </a:t>
            </a:r>
            <a:r>
              <a:rPr lang="en-US" b="1" dirty="0"/>
              <a:t>system end-users</a:t>
            </a:r>
            <a:r>
              <a:rPr lang="en-US" dirty="0"/>
              <a:t> to find out about the </a:t>
            </a:r>
            <a:r>
              <a:rPr lang="en-US" b="1" dirty="0"/>
              <a:t>application domain</a:t>
            </a:r>
            <a:r>
              <a:rPr lang="en-US" dirty="0"/>
              <a:t>, what </a:t>
            </a:r>
            <a:r>
              <a:rPr lang="en-US" b="1" dirty="0"/>
              <a:t>services</a:t>
            </a:r>
            <a:r>
              <a:rPr lang="en-US" dirty="0"/>
              <a:t> the system should provide, the required performance of the system, and hardware </a:t>
            </a:r>
            <a:r>
              <a:rPr lang="en-US" b="1" dirty="0"/>
              <a:t>constraints</a:t>
            </a:r>
            <a:r>
              <a:rPr lang="en-US" dirty="0"/>
              <a:t>.</a:t>
            </a:r>
            <a:endParaRPr lang="en-GB" dirty="0"/>
          </a:p>
          <a:p>
            <a:pPr>
              <a:lnSpc>
                <a:spcPct val="120000"/>
              </a:lnSpc>
            </a:pPr>
            <a:r>
              <a:rPr lang="en-GB" dirty="0"/>
              <a:t>May involve end-users, managers, engineers involved in maintenance, domain experts, etc. These are called </a:t>
            </a:r>
            <a:r>
              <a:rPr lang="en-GB" i="1" dirty="0"/>
              <a:t>stakeholders.</a:t>
            </a:r>
          </a:p>
          <a:p>
            <a:pPr>
              <a:lnSpc>
                <a:spcPct val="120000"/>
              </a:lnSpc>
            </a:pPr>
            <a:endParaRPr lang="en-US" dirty="0"/>
          </a:p>
        </p:txBody>
      </p:sp>
    </p:spTree>
    <p:extLst>
      <p:ext uri="{BB962C8B-B14F-4D97-AF65-F5344CB8AC3E}">
        <p14:creationId xmlns:p14="http://schemas.microsoft.com/office/powerpoint/2010/main" val="315650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elicitation and analysis process activities</a:t>
            </a:r>
          </a:p>
        </p:txBody>
      </p:sp>
      <p:pic>
        <p:nvPicPr>
          <p:cNvPr id="5" name="Picture 4"/>
          <p:cNvPicPr>
            <a:picLocks noChangeAspect="1"/>
          </p:cNvPicPr>
          <p:nvPr/>
        </p:nvPicPr>
        <p:blipFill>
          <a:blip r:embed="rId2" cstate="print"/>
          <a:stretch>
            <a:fillRect/>
          </a:stretch>
        </p:blipFill>
        <p:spPr>
          <a:xfrm>
            <a:off x="1654715" y="2241656"/>
            <a:ext cx="5451054" cy="3701944"/>
          </a:xfrm>
          <a:prstGeom prst="rect">
            <a:avLst/>
          </a:prstGeom>
        </p:spPr>
      </p:pic>
    </p:spTree>
    <p:extLst>
      <p:ext uri="{BB962C8B-B14F-4D97-AF65-F5344CB8AC3E}">
        <p14:creationId xmlns:p14="http://schemas.microsoft.com/office/powerpoint/2010/main" val="1920147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Requirements Elicitation and Analysis Process activities</a:t>
            </a:r>
            <a:endParaRPr lang="en-US" sz="3200" dirty="0"/>
          </a:p>
        </p:txBody>
      </p:sp>
      <p:sp>
        <p:nvSpPr>
          <p:cNvPr id="3" name="Content Placeholder 2"/>
          <p:cNvSpPr>
            <a:spLocks noGrp="1"/>
          </p:cNvSpPr>
          <p:nvPr>
            <p:ph idx="1"/>
          </p:nvPr>
        </p:nvSpPr>
        <p:spPr>
          <a:xfrm>
            <a:off x="914400" y="1676400"/>
            <a:ext cx="7772400" cy="4114800"/>
          </a:xfrm>
        </p:spPr>
        <p:txBody>
          <a:bodyPr/>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 specification</a:t>
            </a:r>
          </a:p>
          <a:p>
            <a:pPr lvl="1">
              <a:lnSpc>
                <a:spcPct val="90000"/>
              </a:lnSpc>
            </a:pPr>
            <a:r>
              <a:rPr lang="en-GB" sz="2000" dirty="0"/>
              <a:t>Requirements are documented and input into the next round of iteration.</a:t>
            </a:r>
          </a:p>
          <a:p>
            <a:endParaRPr lang="en-US" dirty="0"/>
          </a:p>
        </p:txBody>
      </p:sp>
    </p:spTree>
    <p:extLst>
      <p:ext uri="{BB962C8B-B14F-4D97-AF65-F5344CB8AC3E}">
        <p14:creationId xmlns:p14="http://schemas.microsoft.com/office/powerpoint/2010/main" val="996173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GB" sz="4000" dirty="0"/>
              <a:t>Problems of requirements analysis</a:t>
            </a:r>
            <a:endParaRPr lang="en-US" sz="4000" dirty="0"/>
          </a:p>
        </p:txBody>
      </p:sp>
      <p:sp>
        <p:nvSpPr>
          <p:cNvPr id="3" name="Content Placeholder 2"/>
          <p:cNvSpPr>
            <a:spLocks noGrp="1"/>
          </p:cNvSpPr>
          <p:nvPr>
            <p:ph idx="1"/>
          </p:nvPr>
        </p:nvSpPr>
        <p:spPr>
          <a:xfrm>
            <a:off x="1173163" y="1143000"/>
            <a:ext cx="7772400" cy="4114800"/>
          </a:xfrm>
        </p:spPr>
        <p:txBody>
          <a:bodyPr>
            <a:noAutofit/>
          </a:bodyPr>
          <a:lstStyle/>
          <a:p>
            <a:pPr algn="just">
              <a:lnSpc>
                <a:spcPct val="120000"/>
              </a:lnSpc>
            </a:pPr>
            <a:r>
              <a:rPr lang="en-GB" sz="2000" dirty="0"/>
              <a:t>Stakeholders </a:t>
            </a:r>
            <a:r>
              <a:rPr lang="en-GB" sz="2000" b="1" dirty="0"/>
              <a:t>don’t know </a:t>
            </a:r>
            <a:r>
              <a:rPr lang="en-GB" sz="2000" dirty="0"/>
              <a:t>what they really want.</a:t>
            </a:r>
          </a:p>
          <a:p>
            <a:pPr algn="just">
              <a:lnSpc>
                <a:spcPct val="120000"/>
              </a:lnSpc>
            </a:pPr>
            <a:r>
              <a:rPr lang="en-GB" sz="2000" dirty="0"/>
              <a:t>Stakeholders express requirements in their </a:t>
            </a:r>
            <a:r>
              <a:rPr lang="en-GB" sz="2000" b="1" dirty="0"/>
              <a:t>own terms</a:t>
            </a:r>
            <a:r>
              <a:rPr lang="en-GB" sz="2000" dirty="0"/>
              <a:t>. </a:t>
            </a:r>
            <a:r>
              <a:rPr lang="en-US" sz="2000" dirty="0"/>
              <a:t>Requirements engineers, without experience in the </a:t>
            </a:r>
            <a:r>
              <a:rPr lang="en-US" sz="2000" b="1" dirty="0"/>
              <a:t>customer’s domain</a:t>
            </a:r>
            <a:r>
              <a:rPr lang="en-US" sz="2000" dirty="0"/>
              <a:t>, may not understand these requirements</a:t>
            </a:r>
            <a:r>
              <a:rPr lang="en-GB" sz="2000" dirty="0"/>
              <a:t>. </a:t>
            </a:r>
          </a:p>
          <a:p>
            <a:pPr algn="just">
              <a:lnSpc>
                <a:spcPct val="120000"/>
              </a:lnSpc>
            </a:pPr>
            <a:r>
              <a:rPr lang="en-GB" sz="2000" dirty="0"/>
              <a:t>Different stakeholders may have </a:t>
            </a:r>
            <a:r>
              <a:rPr lang="en-GB" sz="2000" b="1" dirty="0"/>
              <a:t>conflicting requirements</a:t>
            </a:r>
            <a:r>
              <a:rPr lang="en-GB" sz="2000" dirty="0"/>
              <a:t>. </a:t>
            </a:r>
            <a:r>
              <a:rPr lang="en-US" sz="2000" dirty="0"/>
              <a:t>Requirements engineers have to discover all potential sources of requirements and </a:t>
            </a:r>
            <a:r>
              <a:rPr lang="en-US" sz="2000" b="1" dirty="0"/>
              <a:t>discover commonalities and conflict</a:t>
            </a:r>
            <a:r>
              <a:rPr lang="en-US" sz="2000" dirty="0"/>
              <a:t>.</a:t>
            </a:r>
            <a:endParaRPr lang="en-GB" sz="2000" dirty="0"/>
          </a:p>
          <a:p>
            <a:pPr algn="just">
              <a:lnSpc>
                <a:spcPct val="120000"/>
              </a:lnSpc>
            </a:pPr>
            <a:r>
              <a:rPr lang="en-GB" sz="2000" dirty="0"/>
              <a:t>Organisational and political factors may influence the system requirements. </a:t>
            </a:r>
            <a:r>
              <a:rPr lang="en-US" sz="2000" dirty="0"/>
              <a:t>Managers may demand specific system requirements because these will allow them to increase their influence in the organization.</a:t>
            </a:r>
            <a:endParaRPr lang="en-GB" sz="2000" dirty="0"/>
          </a:p>
          <a:p>
            <a:pPr algn="just">
              <a:lnSpc>
                <a:spcPct val="120000"/>
              </a:lnSpc>
            </a:pPr>
            <a:r>
              <a:rPr lang="en-GB" sz="2000" dirty="0"/>
              <a:t>The </a:t>
            </a:r>
            <a:r>
              <a:rPr lang="en-GB" sz="2000" b="1" dirty="0"/>
              <a:t>requirements change</a:t>
            </a:r>
            <a:r>
              <a:rPr lang="en-GB" sz="2000" dirty="0"/>
              <a:t> during the analysis process. New stakeholders may emerge and the business environment may change.</a:t>
            </a:r>
          </a:p>
          <a:p>
            <a:pPr algn="just">
              <a:lnSpc>
                <a:spcPct val="120000"/>
              </a:lnSpc>
            </a:pPr>
            <a:endParaRPr lang="en-US" sz="2000" dirty="0"/>
          </a:p>
        </p:txBody>
      </p:sp>
    </p:spTree>
    <p:extLst>
      <p:ext uri="{BB962C8B-B14F-4D97-AF65-F5344CB8AC3E}">
        <p14:creationId xmlns:p14="http://schemas.microsoft.com/office/powerpoint/2010/main" val="869813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dirty="0"/>
              <a:t>Requirement discovery</a:t>
            </a:r>
          </a:p>
        </p:txBody>
      </p:sp>
      <p:sp>
        <p:nvSpPr>
          <p:cNvPr id="3" name="Content Placeholder 2"/>
          <p:cNvSpPr>
            <a:spLocks noGrp="1"/>
          </p:cNvSpPr>
          <p:nvPr>
            <p:ph idx="1"/>
          </p:nvPr>
        </p:nvSpPr>
        <p:spPr>
          <a:xfrm>
            <a:off x="914400" y="1295400"/>
            <a:ext cx="7772400" cy="4114800"/>
          </a:xfrm>
        </p:spPr>
        <p:txBody>
          <a:bodyPr/>
          <a:lstStyle/>
          <a:p>
            <a:pPr algn="just"/>
            <a:r>
              <a:rPr lang="en-US" sz="2800" dirty="0"/>
              <a:t>The process of </a:t>
            </a:r>
            <a:r>
              <a:rPr lang="en-US" sz="2800" b="1" dirty="0"/>
              <a:t>gathering information</a:t>
            </a:r>
            <a:r>
              <a:rPr lang="en-US" sz="2800" dirty="0"/>
              <a:t> about the required and existing systems and extracting the user and system requirements from this information.</a:t>
            </a:r>
          </a:p>
          <a:p>
            <a:pPr algn="just"/>
            <a:r>
              <a:rPr lang="en-US" sz="2800" dirty="0"/>
              <a:t>Sources of information during the requirements discovery phase include </a:t>
            </a:r>
            <a:r>
              <a:rPr lang="en-US" sz="2800" b="1" dirty="0"/>
              <a:t>documentation</a:t>
            </a:r>
            <a:r>
              <a:rPr lang="en-US" sz="2800" dirty="0"/>
              <a:t>, </a:t>
            </a:r>
            <a:r>
              <a:rPr lang="en-US" sz="2800" b="1" dirty="0"/>
              <a:t>system stakeholders</a:t>
            </a:r>
            <a:r>
              <a:rPr lang="en-US" sz="2800" dirty="0"/>
              <a:t>, and </a:t>
            </a:r>
            <a:r>
              <a:rPr lang="en-US" sz="2800" b="1" dirty="0"/>
              <a:t>specifications of similar systems</a:t>
            </a:r>
            <a:r>
              <a:rPr lang="en-US" sz="2800" dirty="0"/>
              <a:t>.</a:t>
            </a:r>
          </a:p>
          <a:p>
            <a:pPr algn="just"/>
            <a:r>
              <a:rPr lang="en-US" sz="2800" dirty="0"/>
              <a:t>Systems normally have a range of stakeholders.</a:t>
            </a:r>
          </a:p>
          <a:p>
            <a:pPr algn="just"/>
            <a:endParaRPr lang="en-US" sz="2800" dirty="0"/>
          </a:p>
        </p:txBody>
      </p:sp>
    </p:spTree>
    <p:extLst>
      <p:ext uri="{BB962C8B-B14F-4D97-AF65-F5344CB8AC3E}">
        <p14:creationId xmlns:p14="http://schemas.microsoft.com/office/powerpoint/2010/main" val="361374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MHC-PMS</a:t>
            </a:r>
          </a:p>
        </p:txBody>
      </p:sp>
      <p:sp>
        <p:nvSpPr>
          <p:cNvPr id="3" name="Content Placeholder 2"/>
          <p:cNvSpPr>
            <a:spLocks noGrp="1"/>
          </p:cNvSpPr>
          <p:nvPr>
            <p:ph idx="1"/>
          </p:nvPr>
        </p:nvSpPr>
        <p:spPr>
          <a:xfrm>
            <a:off x="1173163" y="1752600"/>
            <a:ext cx="7772400" cy="4114800"/>
          </a:xfrm>
        </p:spPr>
        <p:txBody>
          <a:bodyPr/>
          <a:lstStyle/>
          <a:p>
            <a:pPr algn="just"/>
            <a:r>
              <a:rPr lang="en-US" sz="2400" b="1" dirty="0"/>
              <a:t>Patients</a:t>
            </a:r>
            <a:r>
              <a:rPr lang="en-US" sz="2400" i="1" dirty="0"/>
              <a:t> </a:t>
            </a:r>
            <a:r>
              <a:rPr lang="en-US" sz="2400" dirty="0"/>
              <a:t>whose information is recorded in the system.</a:t>
            </a:r>
            <a:endParaRPr lang="en-GB" sz="2400" dirty="0"/>
          </a:p>
          <a:p>
            <a:pPr algn="just"/>
            <a:r>
              <a:rPr lang="en-US" sz="2400" b="1" dirty="0"/>
              <a:t>Doctors</a:t>
            </a:r>
            <a:r>
              <a:rPr lang="en-US" sz="2400" i="1" dirty="0"/>
              <a:t> </a:t>
            </a:r>
            <a:r>
              <a:rPr lang="en-US" sz="2400" dirty="0"/>
              <a:t>who are responsible for assessing and treating patients.</a:t>
            </a:r>
            <a:endParaRPr lang="en-GB" sz="2400" dirty="0"/>
          </a:p>
          <a:p>
            <a:pPr algn="just"/>
            <a:r>
              <a:rPr lang="en-US" sz="2400" b="1" dirty="0"/>
              <a:t>Nurses</a:t>
            </a:r>
            <a:r>
              <a:rPr lang="en-US" sz="2400" dirty="0"/>
              <a:t> who coordinate with doctors and administer some treatments.</a:t>
            </a:r>
            <a:endParaRPr lang="en-GB" sz="2400" dirty="0"/>
          </a:p>
          <a:p>
            <a:pPr algn="just"/>
            <a:r>
              <a:rPr lang="en-US" sz="2400" b="1" dirty="0"/>
              <a:t>Medical receptionists</a:t>
            </a:r>
            <a:r>
              <a:rPr lang="en-US" sz="2400" i="1" dirty="0"/>
              <a:t> </a:t>
            </a:r>
            <a:r>
              <a:rPr lang="en-US" sz="2400" dirty="0"/>
              <a:t>who manage patients’ appointments.</a:t>
            </a:r>
            <a:endParaRPr lang="en-GB" sz="2400" dirty="0"/>
          </a:p>
          <a:p>
            <a:pPr algn="just"/>
            <a:r>
              <a:rPr lang="en-US" sz="2400" b="1" dirty="0"/>
              <a:t>IT staff</a:t>
            </a:r>
            <a:r>
              <a:rPr lang="en-US" sz="2400" dirty="0"/>
              <a:t> who are responsible for installing and maintaining the system.</a:t>
            </a:r>
            <a:endParaRPr lang="en-GB" sz="2400" dirty="0"/>
          </a:p>
          <a:p>
            <a:pPr algn="just"/>
            <a:endParaRPr lang="en-US" sz="2400" dirty="0"/>
          </a:p>
        </p:txBody>
      </p:sp>
    </p:spTree>
    <p:extLst>
      <p:ext uri="{BB962C8B-B14F-4D97-AF65-F5344CB8AC3E}">
        <p14:creationId xmlns:p14="http://schemas.microsoft.com/office/powerpoint/2010/main" val="176277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MHC-PMS</a:t>
            </a:r>
          </a:p>
        </p:txBody>
      </p:sp>
      <p:sp>
        <p:nvSpPr>
          <p:cNvPr id="3" name="Content Placeholder 2"/>
          <p:cNvSpPr>
            <a:spLocks noGrp="1"/>
          </p:cNvSpPr>
          <p:nvPr>
            <p:ph idx="1"/>
          </p:nvPr>
        </p:nvSpPr>
        <p:spPr>
          <a:xfrm>
            <a:off x="990600" y="1600200"/>
            <a:ext cx="7772400" cy="4114800"/>
          </a:xfrm>
        </p:spPr>
        <p:txBody>
          <a:bodyPr/>
          <a:lstStyle/>
          <a:p>
            <a:pPr algn="just"/>
            <a:r>
              <a:rPr lang="en-US" sz="2800" dirty="0"/>
              <a:t>A </a:t>
            </a:r>
            <a:r>
              <a:rPr lang="en-US" sz="2800" b="1" dirty="0"/>
              <a:t>medical ethics manager</a:t>
            </a:r>
            <a:r>
              <a:rPr lang="en-US" sz="2800" dirty="0"/>
              <a:t> who must ensure that the system meets current ethical guidelines for patient care.</a:t>
            </a:r>
            <a:endParaRPr lang="en-GB" sz="2800" dirty="0"/>
          </a:p>
          <a:p>
            <a:pPr algn="just"/>
            <a:r>
              <a:rPr lang="en-US" sz="2800" b="1" dirty="0"/>
              <a:t>Health care managers</a:t>
            </a:r>
            <a:r>
              <a:rPr lang="en-US" sz="2800" i="1" dirty="0"/>
              <a:t> </a:t>
            </a:r>
            <a:r>
              <a:rPr lang="en-US" sz="2800" dirty="0"/>
              <a:t>who obtain management information from the system.</a:t>
            </a:r>
            <a:endParaRPr lang="en-GB" sz="2800" dirty="0"/>
          </a:p>
          <a:p>
            <a:pPr algn="just"/>
            <a:r>
              <a:rPr lang="en-US" sz="2800" b="1" dirty="0"/>
              <a:t>Medical records staff</a:t>
            </a:r>
            <a:r>
              <a:rPr lang="en-US" sz="2800" i="1" dirty="0"/>
              <a:t> </a:t>
            </a:r>
            <a:r>
              <a:rPr lang="en-US" sz="2800" dirty="0"/>
              <a:t>who are responsible for ensuring that system information can be maintained and preserved, and that record keeping procedures have been properly implemented.</a:t>
            </a:r>
            <a:endParaRPr lang="en-GB" sz="2800" dirty="0"/>
          </a:p>
          <a:p>
            <a:pPr algn="just"/>
            <a:endParaRPr lang="en-US" sz="2800" dirty="0"/>
          </a:p>
        </p:txBody>
      </p:sp>
    </p:spTree>
    <p:extLst>
      <p:ext uri="{BB962C8B-B14F-4D97-AF65-F5344CB8AC3E}">
        <p14:creationId xmlns:p14="http://schemas.microsoft.com/office/powerpoint/2010/main" val="110384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dirty="0"/>
              <a:t>Interviewing</a:t>
            </a:r>
          </a:p>
        </p:txBody>
      </p:sp>
      <p:sp>
        <p:nvSpPr>
          <p:cNvPr id="3" name="Content Placeholder 2"/>
          <p:cNvSpPr>
            <a:spLocks noGrp="1"/>
          </p:cNvSpPr>
          <p:nvPr>
            <p:ph idx="1"/>
          </p:nvPr>
        </p:nvSpPr>
        <p:spPr>
          <a:xfrm>
            <a:off x="685800" y="1524000"/>
            <a:ext cx="7772400" cy="4114800"/>
          </a:xfrm>
        </p:spPr>
        <p:txBody>
          <a:bodyPr/>
          <a:lstStyle/>
          <a:p>
            <a:r>
              <a:rPr lang="en-US" sz="2000" dirty="0"/>
              <a:t>Formal or informal interviews with stakeholders are part of most RE processes.</a:t>
            </a:r>
          </a:p>
          <a:p>
            <a:r>
              <a:rPr lang="en-US" sz="2000" dirty="0"/>
              <a:t>Types of interview</a:t>
            </a:r>
          </a:p>
          <a:p>
            <a:pPr lvl="1"/>
            <a:r>
              <a:rPr lang="en-US" sz="2000" b="1" dirty="0"/>
              <a:t>Closed interviews</a:t>
            </a:r>
            <a:r>
              <a:rPr lang="en-US" sz="2000" dirty="0"/>
              <a:t> based on pre-determined list of questions</a:t>
            </a:r>
          </a:p>
          <a:p>
            <a:pPr lvl="1"/>
            <a:r>
              <a:rPr lang="en-US" sz="2000" b="1" dirty="0"/>
              <a:t>Open interviews</a:t>
            </a:r>
            <a:r>
              <a:rPr lang="en-US" sz="2000" dirty="0"/>
              <a:t> where there is no predefined agenda. Various issues are explored with stakeholders.</a:t>
            </a:r>
          </a:p>
          <a:p>
            <a:r>
              <a:rPr lang="en-US" sz="2000" dirty="0"/>
              <a:t>Effective interviewing</a:t>
            </a:r>
          </a:p>
          <a:p>
            <a:pPr lvl="1"/>
            <a:r>
              <a:rPr lang="en-US" sz="2000" b="1" dirty="0"/>
              <a:t>Be open-minded</a:t>
            </a:r>
            <a:r>
              <a:rPr lang="en-US" sz="2000" dirty="0"/>
              <a:t>, avoid pre-conceived ideas about the requirements and are willing to listen to stakeholders. </a:t>
            </a:r>
            <a:endParaRPr lang="en-GB" sz="2000" dirty="0"/>
          </a:p>
          <a:p>
            <a:pPr lvl="1"/>
            <a:r>
              <a:rPr lang="en-US" sz="2000" dirty="0"/>
              <a:t>Prompt the interviewee to get discussions going using a requirements proposal, or by working together on a prototype system. </a:t>
            </a:r>
          </a:p>
          <a:p>
            <a:endParaRPr lang="en-US" sz="2000" dirty="0"/>
          </a:p>
        </p:txBody>
      </p:sp>
    </p:spTree>
    <p:extLst>
      <p:ext uri="{BB962C8B-B14F-4D97-AF65-F5344CB8AC3E}">
        <p14:creationId xmlns:p14="http://schemas.microsoft.com/office/powerpoint/2010/main" val="111456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Interviews in practice</a:t>
            </a:r>
          </a:p>
        </p:txBody>
      </p:sp>
      <p:sp>
        <p:nvSpPr>
          <p:cNvPr id="3" name="Content Placeholder 2"/>
          <p:cNvSpPr>
            <a:spLocks noGrp="1"/>
          </p:cNvSpPr>
          <p:nvPr>
            <p:ph idx="1"/>
          </p:nvPr>
        </p:nvSpPr>
        <p:spPr>
          <a:xfrm>
            <a:off x="731837" y="1066800"/>
            <a:ext cx="8183563" cy="4495800"/>
          </a:xfrm>
        </p:spPr>
        <p:txBody>
          <a:bodyPr/>
          <a:lstStyle/>
          <a:p>
            <a:r>
              <a:rPr lang="en-US" sz="2200" dirty="0"/>
              <a:t>Normally a mix of closed and open-ended interviewing.</a:t>
            </a:r>
          </a:p>
          <a:p>
            <a:r>
              <a:rPr lang="en-US" sz="2200" dirty="0"/>
              <a:t>Interviews are good for getting an overall understanding of what stakeholders do and how they might interact with the system.</a:t>
            </a:r>
          </a:p>
          <a:p>
            <a:r>
              <a:rPr lang="en-US" sz="2200" dirty="0"/>
              <a:t>Interviews are not good for understanding domain requirements</a:t>
            </a:r>
          </a:p>
          <a:p>
            <a:pPr lvl="1"/>
            <a:r>
              <a:rPr lang="en-US" sz="2200" dirty="0"/>
              <a:t>Requirements engineers cannot understand specific domain terminology; It is impossible for stakeholders to discuss domain requirements without using this terminology.</a:t>
            </a:r>
          </a:p>
          <a:p>
            <a:pPr lvl="1"/>
            <a:r>
              <a:rPr lang="en-US" sz="2200" dirty="0"/>
              <a:t>Some domain knowledge is so familiar that people find it hard to articulate or think that it isn’t worth articulating. </a:t>
            </a:r>
          </a:p>
          <a:p>
            <a:pPr lvl="2"/>
            <a:r>
              <a:rPr lang="en-US" sz="2200" dirty="0"/>
              <a:t>For a librarian, it goes without saying that all purchases are arranged before they are added to the library.</a:t>
            </a:r>
          </a:p>
          <a:p>
            <a:endParaRPr lang="en-US" sz="2200" dirty="0"/>
          </a:p>
        </p:txBody>
      </p:sp>
    </p:spTree>
    <p:extLst>
      <p:ext uri="{BB962C8B-B14F-4D97-AF65-F5344CB8AC3E}">
        <p14:creationId xmlns:p14="http://schemas.microsoft.com/office/powerpoint/2010/main" val="137896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a:xfrm>
            <a:off x="914400" y="1600200"/>
            <a:ext cx="7772400" cy="4114800"/>
          </a:xfrm>
        </p:spPr>
        <p:txBody>
          <a:bodyPr/>
          <a:lstStyle/>
          <a:p>
            <a:r>
              <a:rPr lang="en-US" sz="2400" dirty="0"/>
              <a:t>Scenarios are real-life examples of how a system can be used.</a:t>
            </a:r>
          </a:p>
          <a:p>
            <a:r>
              <a:rPr lang="en-US" sz="2400" dirty="0"/>
              <a:t>They should include</a:t>
            </a:r>
          </a:p>
          <a:p>
            <a:pPr lvl="1"/>
            <a:r>
              <a:rPr lang="en-US" sz="2400" dirty="0"/>
              <a:t>A description of the starting situation;</a:t>
            </a:r>
          </a:p>
          <a:p>
            <a:pPr lvl="1"/>
            <a:r>
              <a:rPr lang="en-US" sz="2400" dirty="0"/>
              <a:t>A description of the normal flow of events;</a:t>
            </a:r>
          </a:p>
          <a:p>
            <a:pPr lvl="1"/>
            <a:r>
              <a:rPr lang="en-US" sz="2400" dirty="0"/>
              <a:t>A description of what can go wrong;</a:t>
            </a:r>
          </a:p>
          <a:p>
            <a:pPr lvl="1"/>
            <a:r>
              <a:rPr lang="en-US" sz="2400" dirty="0"/>
              <a:t>Information about other concurrent activities;</a:t>
            </a:r>
          </a:p>
          <a:p>
            <a:pPr lvl="1"/>
            <a:r>
              <a:rPr lang="en-US" sz="2400" dirty="0"/>
              <a:t>A description of the state when the scenario finishes.</a:t>
            </a:r>
          </a:p>
          <a:p>
            <a:endParaRPr lang="en-US" sz="2400" dirty="0"/>
          </a:p>
        </p:txBody>
      </p:sp>
    </p:spTree>
    <p:extLst>
      <p:ext uri="{BB962C8B-B14F-4D97-AF65-F5344CB8AC3E}">
        <p14:creationId xmlns:p14="http://schemas.microsoft.com/office/powerpoint/2010/main" val="44289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Scenario for collecting medical history in MHC-PMS</a:t>
            </a:r>
            <a:r>
              <a:rPr lang="en-GB" sz="3200" dirty="0"/>
              <a:t> </a:t>
            </a:r>
            <a:endParaRPr lang="en-US" sz="3200" dirty="0"/>
          </a:p>
        </p:txBody>
      </p:sp>
      <p:pic>
        <p:nvPicPr>
          <p:cNvPr id="4" name="Picture 3"/>
          <p:cNvPicPr>
            <a:picLocks noChangeAspect="1"/>
          </p:cNvPicPr>
          <p:nvPr/>
        </p:nvPicPr>
        <p:blipFill>
          <a:blip r:embed="rId2" cstate="print"/>
          <a:stretch>
            <a:fillRect/>
          </a:stretch>
        </p:blipFill>
        <p:spPr>
          <a:xfrm>
            <a:off x="315471" y="1613848"/>
            <a:ext cx="8612371" cy="4482152"/>
          </a:xfrm>
          <a:prstGeom prst="rect">
            <a:avLst/>
          </a:prstGeom>
        </p:spPr>
      </p:pic>
    </p:spTree>
    <p:extLst>
      <p:ext uri="{BB962C8B-B14F-4D97-AF65-F5344CB8AC3E}">
        <p14:creationId xmlns:p14="http://schemas.microsoft.com/office/powerpoint/2010/main" val="2605343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for collecting medical history in MHC-PMS</a:t>
            </a:r>
            <a:r>
              <a:rPr lang="en-GB" dirty="0"/>
              <a:t> </a:t>
            </a:r>
            <a:endParaRPr lang="en-US" dirty="0"/>
          </a:p>
        </p:txBody>
      </p:sp>
      <p:pic>
        <p:nvPicPr>
          <p:cNvPr id="4" name="Picture 3"/>
          <p:cNvPicPr>
            <a:picLocks noChangeAspect="1"/>
          </p:cNvPicPr>
          <p:nvPr/>
        </p:nvPicPr>
        <p:blipFill>
          <a:blip r:embed="rId2" cstate="print"/>
          <a:stretch>
            <a:fillRect/>
          </a:stretch>
        </p:blipFill>
        <p:spPr>
          <a:xfrm>
            <a:off x="409117" y="1848693"/>
            <a:ext cx="8593876" cy="4247307"/>
          </a:xfrm>
          <a:prstGeom prst="rect">
            <a:avLst/>
          </a:prstGeom>
        </p:spPr>
      </p:pic>
    </p:spTree>
    <p:extLst>
      <p:ext uri="{BB962C8B-B14F-4D97-AF65-F5344CB8AC3E}">
        <p14:creationId xmlns:p14="http://schemas.microsoft.com/office/powerpoint/2010/main" val="2240422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GB" dirty="0"/>
              <a:t>Use cases</a:t>
            </a:r>
            <a:endParaRPr lang="en-US" dirty="0"/>
          </a:p>
        </p:txBody>
      </p:sp>
      <p:sp>
        <p:nvSpPr>
          <p:cNvPr id="3" name="Content Placeholder 2"/>
          <p:cNvSpPr>
            <a:spLocks noGrp="1"/>
          </p:cNvSpPr>
          <p:nvPr>
            <p:ph idx="1"/>
          </p:nvPr>
        </p:nvSpPr>
        <p:spPr>
          <a:xfrm>
            <a:off x="381000" y="1524000"/>
            <a:ext cx="7772400" cy="4114800"/>
          </a:xfrm>
        </p:spPr>
        <p:txBody>
          <a:bodyPr/>
          <a:lstStyle/>
          <a:p>
            <a:pPr algn="just"/>
            <a:r>
              <a:rPr lang="en-GB" sz="2400" dirty="0"/>
              <a:t>Use-cases are a scenario based technique in the UML which identify the actors in an interaction and the interaction itself.</a:t>
            </a:r>
          </a:p>
          <a:p>
            <a:pPr algn="just"/>
            <a:r>
              <a:rPr lang="en-GB" sz="2400" dirty="0"/>
              <a:t>A set of use cases should describe all possible interactions with the system.</a:t>
            </a:r>
          </a:p>
          <a:p>
            <a:pPr algn="just"/>
            <a:r>
              <a:rPr lang="en-GB" sz="2400" dirty="0"/>
              <a:t>High-level graphical model supplemented by more detailed tabular description.</a:t>
            </a:r>
          </a:p>
          <a:p>
            <a:pPr algn="just"/>
            <a:r>
              <a:rPr lang="en-GB" sz="2400" dirty="0"/>
              <a:t>Sequence diagrams may be used to add detail to use-cases by showing the sequence of event processing in the system.</a:t>
            </a:r>
          </a:p>
          <a:p>
            <a:pPr algn="just"/>
            <a:endParaRPr lang="en-US" sz="2400" dirty="0"/>
          </a:p>
        </p:txBody>
      </p:sp>
    </p:spTree>
    <p:extLst>
      <p:ext uri="{BB962C8B-B14F-4D97-AF65-F5344CB8AC3E}">
        <p14:creationId xmlns:p14="http://schemas.microsoft.com/office/powerpoint/2010/main" val="213963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for the MHC-PMS</a:t>
            </a:r>
            <a:r>
              <a:rPr lang="en-GB" dirty="0"/>
              <a:t> </a:t>
            </a:r>
            <a:endParaRPr lang="en-US" dirty="0"/>
          </a:p>
        </p:txBody>
      </p:sp>
      <p:pic>
        <p:nvPicPr>
          <p:cNvPr id="4" name="Picture 3" descr="4.15 UseCases.eps"/>
          <p:cNvPicPr>
            <a:picLocks noChangeAspect="1"/>
          </p:cNvPicPr>
          <p:nvPr/>
        </p:nvPicPr>
        <p:blipFill>
          <a:blip r:embed="rId2" cstate="print"/>
          <a:stretch>
            <a:fillRect/>
          </a:stretch>
        </p:blipFill>
        <p:spPr>
          <a:xfrm>
            <a:off x="1143000" y="1600200"/>
            <a:ext cx="6555509" cy="3886200"/>
          </a:xfrm>
          <a:prstGeom prst="rect">
            <a:avLst/>
          </a:prstGeom>
        </p:spPr>
      </p:pic>
    </p:spTree>
    <p:extLst>
      <p:ext uri="{BB962C8B-B14F-4D97-AF65-F5344CB8AC3E}">
        <p14:creationId xmlns:p14="http://schemas.microsoft.com/office/powerpoint/2010/main" val="30657509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of the Setup Consultation use case</a:t>
            </a:r>
          </a:p>
        </p:txBody>
      </p:sp>
      <p:sp>
        <p:nvSpPr>
          <p:cNvPr id="3" name="Content Placeholder 2"/>
          <p:cNvSpPr>
            <a:spLocks noGrp="1"/>
          </p:cNvSpPr>
          <p:nvPr>
            <p:ph idx="1"/>
          </p:nvPr>
        </p:nvSpPr>
        <p:spPr>
          <a:xfrm>
            <a:off x="914400" y="1981200"/>
            <a:ext cx="7772400" cy="4114800"/>
          </a:xfrm>
        </p:spPr>
        <p:txBody>
          <a:bodyPr/>
          <a:lstStyle/>
          <a:p>
            <a:pPr marL="0" indent="0" algn="just">
              <a:buNone/>
            </a:pPr>
            <a:r>
              <a:rPr lang="en-US" sz="2400" i="1" dirty="0"/>
              <a:t>Setup consultation allows two or more doctors, working in different offices, to view the same record at the same time. One doctor initiates the consultation by choosing the people involved from a drop-down menu of doctors who are online. The patient record is then displayed on their screens but only the initiating doctor can edit the record. In addition, a text chat window is created to help coordinate actions. It is assumed that a phone conference for voice communication will be separately set up.</a:t>
            </a:r>
            <a:endParaRPr lang="en-US" sz="2400" dirty="0"/>
          </a:p>
        </p:txBody>
      </p:sp>
    </p:spTree>
    <p:extLst>
      <p:ext uri="{BB962C8B-B14F-4D97-AF65-F5344CB8AC3E}">
        <p14:creationId xmlns:p14="http://schemas.microsoft.com/office/powerpoint/2010/main" val="747478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7772400" cy="1143000"/>
          </a:xfrm>
        </p:spPr>
        <p:txBody>
          <a:bodyPr/>
          <a:lstStyle/>
          <a:p>
            <a:r>
              <a:rPr lang="en-GB" dirty="0"/>
              <a:t>Ethnography</a:t>
            </a:r>
            <a:endParaRPr lang="en-US" dirty="0"/>
          </a:p>
        </p:txBody>
      </p:sp>
      <p:sp>
        <p:nvSpPr>
          <p:cNvPr id="3" name="Content Placeholder 2"/>
          <p:cNvSpPr>
            <a:spLocks noGrp="1"/>
          </p:cNvSpPr>
          <p:nvPr>
            <p:ph idx="1"/>
          </p:nvPr>
        </p:nvSpPr>
        <p:spPr>
          <a:xfrm>
            <a:off x="914400" y="1371600"/>
            <a:ext cx="7772400" cy="4114800"/>
          </a:xfrm>
        </p:spPr>
        <p:txBody>
          <a:bodyPr/>
          <a:lstStyle/>
          <a:p>
            <a:pPr algn="just"/>
            <a:r>
              <a:rPr lang="en-US" sz="2400" dirty="0"/>
              <a:t>People often find it very difficult to explain how they carry out their routine tasks and how they work together in particular situation.</a:t>
            </a:r>
          </a:p>
          <a:p>
            <a:pPr lvl="1" algn="just"/>
            <a:r>
              <a:rPr lang="en-US" sz="2000" dirty="0"/>
              <a:t>How to tie a shoelace?</a:t>
            </a:r>
          </a:p>
          <a:p>
            <a:pPr lvl="1" algn="just"/>
            <a:r>
              <a:rPr lang="en-US" sz="2000" dirty="0"/>
              <a:t>Difficult to describe but easy to demonstrate process</a:t>
            </a:r>
          </a:p>
          <a:p>
            <a:pPr algn="just"/>
            <a:r>
              <a:rPr lang="en-US" sz="2400" dirty="0"/>
              <a:t>Observation is a better way of understanding this type of tasks to understand what support people need from a computer-based system </a:t>
            </a:r>
          </a:p>
          <a:p>
            <a:pPr algn="just"/>
            <a:r>
              <a:rPr lang="en-US" sz="2400" dirty="0"/>
              <a:t>Ethnography is an observational technique that can be used to understand operational processes and help derive requirements for these processes.</a:t>
            </a:r>
            <a:endParaRPr lang="en-GB" sz="2400" dirty="0"/>
          </a:p>
          <a:p>
            <a:pPr algn="just"/>
            <a:r>
              <a:rPr lang="en-GB" sz="2400" dirty="0"/>
              <a:t>A social scientist spends a considerable time observing and analysing how people actually work.</a:t>
            </a:r>
          </a:p>
        </p:txBody>
      </p:sp>
    </p:spTree>
    <p:extLst>
      <p:ext uri="{BB962C8B-B14F-4D97-AF65-F5344CB8AC3E}">
        <p14:creationId xmlns:p14="http://schemas.microsoft.com/office/powerpoint/2010/main" val="269678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600" dirty="0"/>
              <a:t>Ethnography</a:t>
            </a:r>
          </a:p>
        </p:txBody>
      </p:sp>
      <p:sp>
        <p:nvSpPr>
          <p:cNvPr id="3" name="Content Placeholder 2"/>
          <p:cNvSpPr>
            <a:spLocks noGrp="1"/>
          </p:cNvSpPr>
          <p:nvPr>
            <p:ph idx="1"/>
          </p:nvPr>
        </p:nvSpPr>
        <p:spPr>
          <a:xfrm>
            <a:off x="1066800" y="990600"/>
            <a:ext cx="7772400" cy="4114800"/>
          </a:xfrm>
        </p:spPr>
        <p:txBody>
          <a:bodyPr/>
          <a:lstStyle/>
          <a:p>
            <a:pPr algn="just"/>
            <a:r>
              <a:rPr lang="en-GB" sz="2000" dirty="0"/>
              <a:t>People do not have to explain or articulate their work.</a:t>
            </a:r>
          </a:p>
          <a:p>
            <a:pPr algn="just"/>
            <a:r>
              <a:rPr lang="en-GB" sz="2000" dirty="0"/>
              <a:t>Ethnographic studies have shown that work is usually richer and more complex than suggested by simple system models.</a:t>
            </a:r>
          </a:p>
          <a:p>
            <a:pPr algn="just"/>
            <a:r>
              <a:rPr lang="en-GB" sz="2000" dirty="0"/>
              <a:t>For example, observing workers in a bank to understand their everyday work and hence derive requirements for computer support.</a:t>
            </a:r>
          </a:p>
          <a:p>
            <a:pPr algn="just"/>
            <a:r>
              <a:rPr lang="en-GB" sz="2000" dirty="0"/>
              <a:t>Ethnography studies cannot be carried out according to a formula</a:t>
            </a:r>
          </a:p>
          <a:p>
            <a:pPr lvl="1" algn="just"/>
            <a:r>
              <a:rPr lang="en-GB" sz="2000" dirty="0"/>
              <a:t>They are dependent on the personality of ethnographer</a:t>
            </a:r>
          </a:p>
          <a:p>
            <a:pPr lvl="1" algn="just"/>
            <a:r>
              <a:rPr lang="en-GB" sz="2000" dirty="0"/>
              <a:t>The type of process being studied</a:t>
            </a:r>
          </a:p>
          <a:p>
            <a:pPr lvl="1" algn="just"/>
            <a:r>
              <a:rPr lang="en-GB" sz="2000" dirty="0"/>
              <a:t>People involved in the process</a:t>
            </a:r>
          </a:p>
          <a:p>
            <a:pPr lvl="1" algn="just"/>
            <a:r>
              <a:rPr lang="en-GB" sz="2000" dirty="0"/>
              <a:t>To be effective, the ethnographer must be accepted by the people being studied</a:t>
            </a:r>
          </a:p>
          <a:p>
            <a:pPr lvl="1" algn="just"/>
            <a:r>
              <a:rPr lang="en-GB" sz="2000" dirty="0"/>
              <a:t>The people must feel comfortable to carry on their daily tasks in the presence of ethnographer.  </a:t>
            </a:r>
          </a:p>
          <a:p>
            <a:pPr algn="just"/>
            <a:endParaRPr lang="en-US" sz="2000" dirty="0"/>
          </a:p>
          <a:p>
            <a:endParaRPr lang="en-US" sz="2000" dirty="0"/>
          </a:p>
        </p:txBody>
      </p:sp>
    </p:spTree>
    <p:extLst>
      <p:ext uri="{BB962C8B-B14F-4D97-AF65-F5344CB8AC3E}">
        <p14:creationId xmlns:p14="http://schemas.microsoft.com/office/powerpoint/2010/main" val="2963422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762000"/>
          </a:xfrm>
        </p:spPr>
        <p:txBody>
          <a:bodyPr/>
          <a:lstStyle/>
          <a:p>
            <a:r>
              <a:rPr lang="en-US" sz="3600" dirty="0"/>
              <a:t>Ethnography study process</a:t>
            </a:r>
          </a:p>
        </p:txBody>
      </p:sp>
      <p:sp>
        <p:nvSpPr>
          <p:cNvPr id="3" name="Content Placeholder 2"/>
          <p:cNvSpPr>
            <a:spLocks noGrp="1"/>
          </p:cNvSpPr>
          <p:nvPr>
            <p:ph idx="1"/>
          </p:nvPr>
        </p:nvSpPr>
        <p:spPr>
          <a:xfrm>
            <a:off x="600075" y="1524000"/>
            <a:ext cx="8345489" cy="4114800"/>
          </a:xfrm>
        </p:spPr>
        <p:txBody>
          <a:bodyPr/>
          <a:lstStyle/>
          <a:p>
            <a:pPr algn="just"/>
            <a:r>
              <a:rPr lang="en-US" sz="2000" dirty="0"/>
              <a:t>Assume that people you are studying are good at doing their jobs and look for non-standard ways of working. </a:t>
            </a:r>
          </a:p>
          <a:p>
            <a:pPr lvl="1" algn="just"/>
            <a:r>
              <a:rPr lang="en-US" sz="1600" dirty="0"/>
              <a:t>These often points to the efficiencies which has been introduced through individual experiences</a:t>
            </a:r>
          </a:p>
          <a:p>
            <a:pPr algn="just"/>
            <a:r>
              <a:rPr lang="en-US" sz="2000" dirty="0"/>
              <a:t>It is important to spend time getting to know people involved and establish a relationship of trust. </a:t>
            </a:r>
          </a:p>
          <a:p>
            <a:pPr lvl="1" algn="just"/>
            <a:r>
              <a:rPr lang="en-US" sz="1600" dirty="0"/>
              <a:t>For this reason, ethnography is best carried out by an external organization. </a:t>
            </a:r>
          </a:p>
          <a:p>
            <a:pPr algn="just"/>
            <a:r>
              <a:rPr lang="en-US" sz="2000" dirty="0"/>
              <a:t>Detailed notes of all work practices should be made during the observation and written up on regular basis.  </a:t>
            </a:r>
          </a:p>
          <a:p>
            <a:pPr lvl="1" algn="just"/>
            <a:r>
              <a:rPr lang="en-US" sz="1600" dirty="0"/>
              <a:t>The ethnographer must analyze the notes and draw conclusions from them. </a:t>
            </a:r>
          </a:p>
          <a:p>
            <a:pPr algn="just"/>
            <a:r>
              <a:rPr lang="en-US" sz="2000" dirty="0"/>
              <a:t>Open ended interviewing can be combined with ethnography to develop an understanding of what is going on.</a:t>
            </a:r>
          </a:p>
          <a:p>
            <a:pPr algn="just"/>
            <a:endParaRPr lang="en-US" sz="2000" dirty="0"/>
          </a:p>
        </p:txBody>
      </p:sp>
    </p:spTree>
    <p:extLst>
      <p:ext uri="{BB962C8B-B14F-4D97-AF65-F5344CB8AC3E}">
        <p14:creationId xmlns:p14="http://schemas.microsoft.com/office/powerpoint/2010/main" val="147674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Scope of ethnography</a:t>
            </a:r>
            <a:endParaRPr lang="en-US" dirty="0"/>
          </a:p>
        </p:txBody>
      </p:sp>
      <p:sp>
        <p:nvSpPr>
          <p:cNvPr id="3" name="Content Placeholder 2"/>
          <p:cNvSpPr>
            <a:spLocks noGrp="1"/>
          </p:cNvSpPr>
          <p:nvPr>
            <p:ph idx="1"/>
          </p:nvPr>
        </p:nvSpPr>
        <p:spPr>
          <a:xfrm>
            <a:off x="914400" y="1524000"/>
            <a:ext cx="7772400" cy="4114800"/>
          </a:xfrm>
        </p:spPr>
        <p:txBody>
          <a:bodyPr/>
          <a:lstStyle/>
          <a:p>
            <a:r>
              <a:rPr lang="en-GB" sz="2400" dirty="0"/>
              <a:t>Requirements that are derived from the way that people actually work, rather than the way in which process definitions suggest that they ought to work.</a:t>
            </a:r>
          </a:p>
          <a:p>
            <a:r>
              <a:rPr lang="en-GB" sz="2400" dirty="0"/>
              <a:t>Requirements that are derived from cooperation and awareness of other people’s activities.</a:t>
            </a:r>
          </a:p>
          <a:p>
            <a:r>
              <a:rPr lang="en-GB" sz="2400" dirty="0"/>
              <a:t>Ethnography is effective for understanding existing processes but cannot identify new features that should be added to a system.</a:t>
            </a:r>
          </a:p>
          <a:p>
            <a:endParaRPr lang="en-US" sz="2400" dirty="0"/>
          </a:p>
        </p:txBody>
      </p:sp>
    </p:spTree>
    <p:extLst>
      <p:ext uri="{BB962C8B-B14F-4D97-AF65-F5344CB8AC3E}">
        <p14:creationId xmlns:p14="http://schemas.microsoft.com/office/powerpoint/2010/main" val="381359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validation</a:t>
            </a:r>
            <a:endParaRPr lang="en-US" dirty="0"/>
          </a:p>
        </p:txBody>
      </p:sp>
      <p:sp>
        <p:nvSpPr>
          <p:cNvPr id="3" name="Content Placeholder 2"/>
          <p:cNvSpPr>
            <a:spLocks noGrp="1"/>
          </p:cNvSpPr>
          <p:nvPr>
            <p:ph idx="1"/>
          </p:nvPr>
        </p:nvSpPr>
        <p:spPr>
          <a:xfrm>
            <a:off x="838200" y="1524000"/>
            <a:ext cx="7772400" cy="4114800"/>
          </a:xfrm>
        </p:spPr>
        <p:txBody>
          <a:bodyPr/>
          <a:lstStyle/>
          <a:p>
            <a:r>
              <a:rPr lang="en-US" dirty="0"/>
              <a:t>Requirements validation is the process of checking that requirements actually define the system that the customer really wants</a:t>
            </a:r>
            <a:r>
              <a:rPr lang="en-GB" dirty="0"/>
              <a:t>.</a:t>
            </a:r>
          </a:p>
          <a:p>
            <a:r>
              <a:rPr lang="en-GB" dirty="0"/>
              <a:t>Requirements error costs are high so validation is very important</a:t>
            </a:r>
          </a:p>
          <a:p>
            <a:pPr lvl="1"/>
            <a:r>
              <a:rPr lang="en-GB" dirty="0"/>
              <a:t>Fixing a requirements error after delivery may cost up to 100 times the cost of fixing an implementation error.</a:t>
            </a:r>
          </a:p>
          <a:p>
            <a:endParaRPr lang="en-US" dirty="0"/>
          </a:p>
        </p:txBody>
      </p:sp>
    </p:spTree>
    <p:extLst>
      <p:ext uri="{BB962C8B-B14F-4D97-AF65-F5344CB8AC3E}">
        <p14:creationId xmlns:p14="http://schemas.microsoft.com/office/powerpoint/2010/main" val="20033791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Requirements validation checking</a:t>
            </a:r>
            <a:endParaRPr lang="en-US" sz="3600" dirty="0"/>
          </a:p>
        </p:txBody>
      </p:sp>
      <p:sp>
        <p:nvSpPr>
          <p:cNvPr id="3" name="Content Placeholder 2"/>
          <p:cNvSpPr>
            <a:spLocks noGrp="1"/>
          </p:cNvSpPr>
          <p:nvPr>
            <p:ph idx="1"/>
          </p:nvPr>
        </p:nvSpPr>
        <p:spPr>
          <a:xfrm>
            <a:off x="1173163" y="1524000"/>
            <a:ext cx="7772400" cy="4114800"/>
          </a:xfrm>
        </p:spPr>
        <p:txBody>
          <a:bodyPr/>
          <a:lstStyle/>
          <a:p>
            <a:r>
              <a:rPr lang="en-GB" sz="2000" b="1" dirty="0"/>
              <a:t>Validity </a:t>
            </a:r>
          </a:p>
          <a:p>
            <a:pPr lvl="1"/>
            <a:r>
              <a:rPr lang="en-GB" sz="2000" dirty="0"/>
              <a:t>Does the system provide the functions which best support the customer’s needs? </a:t>
            </a:r>
          </a:p>
          <a:p>
            <a:pPr lvl="1"/>
            <a:r>
              <a:rPr lang="en-US" sz="2000" dirty="0"/>
              <a:t>A user may think that a system is needed to perform certain functions. However, further analysis may identify additional or different functions that are required</a:t>
            </a:r>
            <a:endParaRPr lang="en-GB" sz="2000" dirty="0"/>
          </a:p>
          <a:p>
            <a:r>
              <a:rPr lang="en-GB" sz="2000" b="1" dirty="0"/>
              <a:t>Consistency</a:t>
            </a:r>
            <a:r>
              <a:rPr lang="en-GB" sz="2000" dirty="0"/>
              <a:t> </a:t>
            </a:r>
          </a:p>
          <a:p>
            <a:pPr lvl="1"/>
            <a:r>
              <a:rPr lang="en-US" sz="2000" dirty="0"/>
              <a:t>Requirements in the document should not conflict. </a:t>
            </a:r>
          </a:p>
          <a:p>
            <a:pPr lvl="1"/>
            <a:r>
              <a:rPr lang="en-US" sz="2000" dirty="0"/>
              <a:t>That is, there should not be contradictory constraints or different descriptions of the same system function.</a:t>
            </a:r>
            <a:endParaRPr lang="en-GB" sz="2000" dirty="0"/>
          </a:p>
          <a:p>
            <a:r>
              <a:rPr lang="en-GB" sz="2000" b="1" dirty="0"/>
              <a:t>Completeness</a:t>
            </a:r>
            <a:r>
              <a:rPr lang="en-GB" sz="2000" dirty="0"/>
              <a:t> </a:t>
            </a:r>
          </a:p>
          <a:p>
            <a:pPr lvl="1"/>
            <a:r>
              <a:rPr lang="en-US" sz="2000" dirty="0"/>
              <a:t>The requirements document should include requirements that define all functions and the constraints intended by the system user.</a:t>
            </a:r>
            <a:endParaRPr lang="en-GB" sz="2000" dirty="0"/>
          </a:p>
          <a:p>
            <a:endParaRPr lang="en-US" sz="2000" dirty="0"/>
          </a:p>
        </p:txBody>
      </p:sp>
    </p:spTree>
    <p:extLst>
      <p:ext uri="{BB962C8B-B14F-4D97-AF65-F5344CB8AC3E}">
        <p14:creationId xmlns:p14="http://schemas.microsoft.com/office/powerpoint/2010/main" val="797764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validity checking</a:t>
            </a:r>
            <a:endParaRPr lang="en-US" dirty="0"/>
          </a:p>
        </p:txBody>
      </p:sp>
      <p:sp>
        <p:nvSpPr>
          <p:cNvPr id="3" name="Content Placeholder 2"/>
          <p:cNvSpPr>
            <a:spLocks noGrp="1"/>
          </p:cNvSpPr>
          <p:nvPr>
            <p:ph idx="1"/>
          </p:nvPr>
        </p:nvSpPr>
        <p:spPr>
          <a:xfrm>
            <a:off x="914400" y="1676400"/>
            <a:ext cx="7772400" cy="4114800"/>
          </a:xfrm>
        </p:spPr>
        <p:txBody>
          <a:bodyPr/>
          <a:lstStyle/>
          <a:p>
            <a:r>
              <a:rPr lang="en-GB" sz="2000" b="1" dirty="0"/>
              <a:t>Realism </a:t>
            </a:r>
          </a:p>
          <a:p>
            <a:pPr lvl="1"/>
            <a:r>
              <a:rPr lang="en-US" sz="2000" dirty="0"/>
              <a:t>Using knowledge of existing technology, the requirements should be checked to ensure that they can actually be implemented. These checks should also take account of the budget and schedule for the system development.</a:t>
            </a:r>
            <a:endParaRPr lang="en-GB" sz="2000" dirty="0"/>
          </a:p>
          <a:p>
            <a:r>
              <a:rPr lang="en-GB" sz="2000" b="1" dirty="0"/>
              <a:t>Verifiability</a:t>
            </a:r>
          </a:p>
          <a:p>
            <a:pPr lvl="1"/>
            <a:r>
              <a:rPr lang="en-US" sz="2000" dirty="0"/>
              <a:t>To reduce the potential for dispute between customer and contractor, system requirements should always be written so that they are verifiable.</a:t>
            </a:r>
          </a:p>
          <a:p>
            <a:pPr lvl="1"/>
            <a:r>
              <a:rPr lang="en-US" sz="2000" dirty="0"/>
              <a:t>This means that you should be able to write a set of tests that can demonstrate that the delivered system meets each specified requirement.</a:t>
            </a:r>
            <a:r>
              <a:rPr lang="en-GB" sz="2000" dirty="0"/>
              <a:t> </a:t>
            </a:r>
          </a:p>
          <a:p>
            <a:endParaRPr lang="en-US" sz="2000" dirty="0"/>
          </a:p>
        </p:txBody>
      </p:sp>
    </p:spTree>
    <p:extLst>
      <p:ext uri="{BB962C8B-B14F-4D97-AF65-F5344CB8AC3E}">
        <p14:creationId xmlns:p14="http://schemas.microsoft.com/office/powerpoint/2010/main" val="193211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Requirements validation techniques</a:t>
            </a:r>
            <a:endParaRPr lang="en-US" sz="3600" dirty="0"/>
          </a:p>
        </p:txBody>
      </p:sp>
      <p:sp>
        <p:nvSpPr>
          <p:cNvPr id="3" name="Content Placeholder 2"/>
          <p:cNvSpPr>
            <a:spLocks noGrp="1"/>
          </p:cNvSpPr>
          <p:nvPr>
            <p:ph idx="1"/>
          </p:nvPr>
        </p:nvSpPr>
        <p:spPr>
          <a:xfrm>
            <a:off x="990600" y="1524000"/>
            <a:ext cx="7772400" cy="4114800"/>
          </a:xfrm>
        </p:spPr>
        <p:txBody>
          <a:bodyPr/>
          <a:lstStyle/>
          <a:p>
            <a:pPr>
              <a:lnSpc>
                <a:spcPct val="90000"/>
              </a:lnSpc>
            </a:pPr>
            <a:r>
              <a:rPr lang="en-GB" sz="2000" dirty="0"/>
              <a:t>Requirements reviews</a:t>
            </a:r>
          </a:p>
          <a:p>
            <a:pPr lvl="1"/>
            <a:r>
              <a:rPr lang="en-US" sz="2000" dirty="0"/>
              <a:t>The requirements are analyzed systematically by a team of reviewers who check for errors and inconsistencies.</a:t>
            </a:r>
          </a:p>
          <a:p>
            <a:pPr lvl="1"/>
            <a:r>
              <a:rPr lang="en-GB" sz="2000" dirty="0"/>
              <a:t>Both client and contractor staff should be involved in reviews.</a:t>
            </a:r>
          </a:p>
          <a:p>
            <a:pPr>
              <a:lnSpc>
                <a:spcPct val="90000"/>
              </a:lnSpc>
            </a:pPr>
            <a:r>
              <a:rPr lang="en-GB" sz="2000" dirty="0"/>
              <a:t>Prototyping</a:t>
            </a:r>
          </a:p>
          <a:p>
            <a:pPr lvl="1">
              <a:lnSpc>
                <a:spcPct val="90000"/>
              </a:lnSpc>
            </a:pPr>
            <a:r>
              <a:rPr lang="en-GB" sz="2000" dirty="0"/>
              <a:t>Using an executable model of the system to check requirements. </a:t>
            </a:r>
          </a:p>
          <a:p>
            <a:pPr lvl="1">
              <a:lnSpc>
                <a:spcPct val="90000"/>
              </a:lnSpc>
            </a:pPr>
            <a:r>
              <a:rPr lang="en-US" sz="2000" dirty="0"/>
              <a:t>Client can experiment with this model to see if it meets their real needs.</a:t>
            </a:r>
            <a:endParaRPr lang="en-GB" sz="2000" dirty="0"/>
          </a:p>
          <a:p>
            <a:pPr>
              <a:lnSpc>
                <a:spcPct val="90000"/>
              </a:lnSpc>
            </a:pPr>
            <a:r>
              <a:rPr lang="en-GB" sz="2000" dirty="0"/>
              <a:t>Test-case generation</a:t>
            </a:r>
          </a:p>
          <a:p>
            <a:pPr lvl="1">
              <a:lnSpc>
                <a:spcPct val="90000"/>
              </a:lnSpc>
            </a:pPr>
            <a:r>
              <a:rPr lang="en-GB" sz="2000" dirty="0"/>
              <a:t>Developing tests for requirements to check testability.</a:t>
            </a:r>
          </a:p>
          <a:p>
            <a:pPr lvl="1"/>
            <a:r>
              <a:rPr lang="en-US" sz="2000" dirty="0"/>
              <a:t>If a test is difficult or impossible to design, this usually means that the requirements will be difficult to implement and should be reconsidered.</a:t>
            </a:r>
            <a:endParaRPr lang="en-GB" sz="2000" dirty="0"/>
          </a:p>
          <a:p>
            <a:endParaRPr lang="en-US" sz="2000" dirty="0"/>
          </a:p>
        </p:txBody>
      </p:sp>
    </p:spTree>
    <p:extLst>
      <p:ext uri="{BB962C8B-B14F-4D97-AF65-F5344CB8AC3E}">
        <p14:creationId xmlns:p14="http://schemas.microsoft.com/office/powerpoint/2010/main" val="124458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management</a:t>
            </a:r>
            <a:endParaRPr lang="en-US" dirty="0"/>
          </a:p>
        </p:txBody>
      </p:sp>
      <p:sp>
        <p:nvSpPr>
          <p:cNvPr id="3" name="Content Placeholder 2"/>
          <p:cNvSpPr>
            <a:spLocks noGrp="1"/>
          </p:cNvSpPr>
          <p:nvPr>
            <p:ph idx="1"/>
          </p:nvPr>
        </p:nvSpPr>
        <p:spPr>
          <a:xfrm>
            <a:off x="838200" y="1600200"/>
            <a:ext cx="7772400" cy="4114800"/>
          </a:xfrm>
        </p:spPr>
        <p:txBody>
          <a:bodyPr/>
          <a:lstStyle/>
          <a:p>
            <a:pPr algn="just"/>
            <a:r>
              <a:rPr lang="en-GB" sz="2400" dirty="0"/>
              <a:t>Requirements management is the process of managing changing requirements during the requirements engineering process and system development.</a:t>
            </a:r>
          </a:p>
          <a:p>
            <a:pPr algn="just"/>
            <a:r>
              <a:rPr lang="en-GB" sz="2400" dirty="0"/>
              <a:t>New requirements emerge as a system is being developed and after it has gone into use.</a:t>
            </a:r>
          </a:p>
          <a:p>
            <a:pPr algn="just"/>
            <a:r>
              <a:rPr lang="en-US" sz="2400" dirty="0"/>
              <a:t>You need to keep track of individual requirements and maintain links between dependent requirements so that you can assess the impact of requirements changes. </a:t>
            </a:r>
          </a:p>
          <a:p>
            <a:pPr algn="just"/>
            <a:r>
              <a:rPr lang="en-US" sz="2400" dirty="0"/>
              <a:t>You need to establish a formal process for making change proposals and linking these to system requirements.</a:t>
            </a:r>
            <a:r>
              <a:rPr lang="en-GB" sz="2400" dirty="0"/>
              <a:t> </a:t>
            </a:r>
          </a:p>
          <a:p>
            <a:pPr algn="just"/>
            <a:endParaRPr lang="en-US" sz="2400" dirty="0"/>
          </a:p>
        </p:txBody>
      </p:sp>
    </p:spTree>
    <p:extLst>
      <p:ext uri="{BB962C8B-B14F-4D97-AF65-F5344CB8AC3E}">
        <p14:creationId xmlns:p14="http://schemas.microsoft.com/office/powerpoint/2010/main" val="4081334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a:xfrm>
            <a:off x="990600" y="1676400"/>
            <a:ext cx="7772400" cy="4114800"/>
          </a:xfrm>
        </p:spPr>
        <p:txBody>
          <a:bodyPr/>
          <a:lstStyle/>
          <a:p>
            <a:r>
              <a:rPr lang="en-US" sz="2000" dirty="0"/>
              <a:t>The business and technical environment of the system always changes after installation. </a:t>
            </a:r>
          </a:p>
          <a:p>
            <a:pPr lvl="1"/>
            <a:r>
              <a:rPr lang="en-US" sz="2000" b="1" dirty="0"/>
              <a:t>New hardware </a:t>
            </a:r>
            <a:r>
              <a:rPr lang="en-US" sz="2000" dirty="0"/>
              <a:t>may be introduced, it may be necessary to </a:t>
            </a:r>
            <a:r>
              <a:rPr lang="en-US" sz="2000" b="1" dirty="0"/>
              <a:t>interface the system </a:t>
            </a:r>
            <a:r>
              <a:rPr lang="en-US" sz="2000" dirty="0"/>
              <a:t>with other systems, </a:t>
            </a:r>
            <a:r>
              <a:rPr lang="en-US" sz="2000" b="1" dirty="0"/>
              <a:t>business priorities</a:t>
            </a:r>
            <a:r>
              <a:rPr lang="en-US" sz="2000" dirty="0"/>
              <a:t> may change, and </a:t>
            </a:r>
            <a:r>
              <a:rPr lang="en-US" sz="2000" b="1" dirty="0"/>
              <a:t>new legislation</a:t>
            </a:r>
            <a:r>
              <a:rPr lang="en-US" sz="2000" dirty="0"/>
              <a:t> and regulations may be introduced that the system must necessarily abide by. </a:t>
            </a:r>
            <a:endParaRPr lang="en-GB" sz="2000" dirty="0"/>
          </a:p>
          <a:p>
            <a:r>
              <a:rPr lang="en-US" sz="2000" dirty="0"/>
              <a:t>The people who pay for a system and the users of that system are rarely the same people. </a:t>
            </a:r>
          </a:p>
          <a:p>
            <a:pPr lvl="1"/>
            <a:r>
              <a:rPr lang="en-US" sz="2000" dirty="0"/>
              <a:t>System customers impose requirements because of organizational and </a:t>
            </a:r>
            <a:r>
              <a:rPr lang="en-US" sz="2000" b="1" dirty="0"/>
              <a:t>budgetary constraints</a:t>
            </a:r>
            <a:r>
              <a:rPr lang="en-US" sz="2000" dirty="0"/>
              <a:t>. These may conflict with end-user requirements and, after delivery, new features may have to be added for user support if the system is to meet its goals.</a:t>
            </a:r>
            <a:endParaRPr lang="en-GB" sz="2000" dirty="0"/>
          </a:p>
          <a:p>
            <a:endParaRPr lang="en-US" sz="2000" dirty="0"/>
          </a:p>
        </p:txBody>
      </p:sp>
    </p:spTree>
    <p:extLst>
      <p:ext uri="{BB962C8B-B14F-4D97-AF65-F5344CB8AC3E}">
        <p14:creationId xmlns:p14="http://schemas.microsoft.com/office/powerpoint/2010/main" val="238360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a:xfrm>
            <a:off x="914400" y="1676400"/>
            <a:ext cx="7772400" cy="4114800"/>
          </a:xfrm>
        </p:spPr>
        <p:txBody>
          <a:bodyPr/>
          <a:lstStyle/>
          <a:p>
            <a:r>
              <a:rPr lang="en-US" dirty="0"/>
              <a:t>Large systems usually have a diverse user community, with many users having different requirements and priorities that may be conflicting. </a:t>
            </a:r>
          </a:p>
          <a:p>
            <a:pPr lvl="1"/>
            <a:r>
              <a:rPr lang="en-US" dirty="0"/>
              <a:t>The final system requirements are inevitably a compromise between them and, with experience, it is often discovered that the balance of support given to different users has to be changed.</a:t>
            </a:r>
          </a:p>
          <a:p>
            <a:endParaRPr lang="en-US" dirty="0"/>
          </a:p>
        </p:txBody>
      </p:sp>
    </p:spTree>
    <p:extLst>
      <p:ext uri="{BB962C8B-B14F-4D97-AF65-F5344CB8AC3E}">
        <p14:creationId xmlns:p14="http://schemas.microsoft.com/office/powerpoint/2010/main" val="14563606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evolution</a:t>
            </a:r>
            <a:r>
              <a:rPr lang="en-GB" dirty="0"/>
              <a:t> </a:t>
            </a:r>
            <a:endParaRPr lang="en-US" dirty="0"/>
          </a:p>
        </p:txBody>
      </p:sp>
      <p:pic>
        <p:nvPicPr>
          <p:cNvPr id="4" name="Picture 3" descr="4.17 ReqEvolution.eps"/>
          <p:cNvPicPr>
            <a:picLocks noChangeAspect="1"/>
          </p:cNvPicPr>
          <p:nvPr/>
        </p:nvPicPr>
        <p:blipFill>
          <a:blip r:embed="rId2" cstate="print"/>
          <a:stretch>
            <a:fillRect/>
          </a:stretch>
        </p:blipFill>
        <p:spPr>
          <a:xfrm>
            <a:off x="2069042" y="2171700"/>
            <a:ext cx="5005917" cy="2514600"/>
          </a:xfrm>
          <a:prstGeom prst="rect">
            <a:avLst/>
          </a:prstGeom>
        </p:spPr>
      </p:pic>
    </p:spTree>
    <p:extLst>
      <p:ext uri="{BB962C8B-B14F-4D97-AF65-F5344CB8AC3E}">
        <p14:creationId xmlns:p14="http://schemas.microsoft.com/office/powerpoint/2010/main" val="27545221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3200" dirty="0"/>
              <a:t>Requirements management planning</a:t>
            </a:r>
          </a:p>
        </p:txBody>
      </p:sp>
      <p:sp>
        <p:nvSpPr>
          <p:cNvPr id="3" name="Content Placeholder 2"/>
          <p:cNvSpPr>
            <a:spLocks noGrp="1"/>
          </p:cNvSpPr>
          <p:nvPr>
            <p:ph idx="1"/>
          </p:nvPr>
        </p:nvSpPr>
        <p:spPr>
          <a:xfrm>
            <a:off x="762000" y="1295400"/>
            <a:ext cx="7772400" cy="4114800"/>
          </a:xfrm>
        </p:spPr>
        <p:txBody>
          <a:bodyPr/>
          <a:lstStyle/>
          <a:p>
            <a:r>
              <a:rPr lang="en-US" sz="2000" dirty="0"/>
              <a:t>Establishes the level of requirements management detail that is required.</a:t>
            </a:r>
          </a:p>
          <a:p>
            <a:r>
              <a:rPr lang="en-US" sz="2000" dirty="0"/>
              <a:t>During the requirements management planning, you have to decide on:</a:t>
            </a:r>
          </a:p>
          <a:p>
            <a:pPr lvl="1"/>
            <a:r>
              <a:rPr lang="en-US" sz="2000" i="1" dirty="0">
                <a:solidFill>
                  <a:srgbClr val="FF0000"/>
                </a:solidFill>
              </a:rPr>
              <a:t>Requirements identification</a:t>
            </a:r>
            <a:r>
              <a:rPr lang="en-US" sz="2000" dirty="0">
                <a:solidFill>
                  <a:srgbClr val="FF0000"/>
                </a:solidFill>
              </a:rPr>
              <a:t> </a:t>
            </a:r>
            <a:r>
              <a:rPr lang="en-US" sz="2000" dirty="0"/>
              <a:t>Each requirement must be uniquely identified so that it can be cross-referenced with other requirements. </a:t>
            </a:r>
            <a:endParaRPr lang="en-GB" sz="2000" dirty="0"/>
          </a:p>
          <a:p>
            <a:pPr lvl="1"/>
            <a:r>
              <a:rPr lang="en-US" sz="2000" i="1" dirty="0">
                <a:solidFill>
                  <a:srgbClr val="FF0000"/>
                </a:solidFill>
              </a:rPr>
              <a:t>A change management process</a:t>
            </a:r>
            <a:r>
              <a:rPr lang="en-US" sz="2000" dirty="0">
                <a:solidFill>
                  <a:srgbClr val="FF0000"/>
                </a:solidFill>
              </a:rPr>
              <a:t> </a:t>
            </a:r>
            <a:r>
              <a:rPr lang="en-US" sz="2000" dirty="0"/>
              <a:t>This is the set of activities that assess the impact and cost of changes. </a:t>
            </a:r>
          </a:p>
          <a:p>
            <a:pPr lvl="1"/>
            <a:r>
              <a:rPr lang="en-US" sz="2000" i="1" dirty="0">
                <a:solidFill>
                  <a:srgbClr val="FF0000"/>
                </a:solidFill>
              </a:rPr>
              <a:t>Traceability policies</a:t>
            </a:r>
            <a:r>
              <a:rPr lang="en-US" sz="2000" dirty="0">
                <a:solidFill>
                  <a:srgbClr val="FF0000"/>
                </a:solidFill>
              </a:rPr>
              <a:t> </a:t>
            </a:r>
            <a:r>
              <a:rPr lang="en-US" sz="2000" dirty="0"/>
              <a:t>These policies define the relationships between each requirement and between the requirements and the system design that should be recorded. </a:t>
            </a:r>
            <a:endParaRPr lang="en-GB" sz="2000" dirty="0"/>
          </a:p>
          <a:p>
            <a:pPr lvl="1"/>
            <a:r>
              <a:rPr lang="en-US" sz="2000" i="1" dirty="0">
                <a:solidFill>
                  <a:srgbClr val="FF0000"/>
                </a:solidFill>
              </a:rPr>
              <a:t>Tool support</a:t>
            </a:r>
            <a:r>
              <a:rPr lang="en-US" sz="2000" dirty="0">
                <a:solidFill>
                  <a:srgbClr val="FF0000"/>
                </a:solidFill>
              </a:rPr>
              <a:t> </a:t>
            </a:r>
            <a:r>
              <a:rPr lang="en-US" sz="2000" dirty="0"/>
              <a:t>Tools that may be used range from specialist requirements management systems to spreadsheets and simple database systems.</a:t>
            </a:r>
          </a:p>
        </p:txBody>
      </p:sp>
    </p:spTree>
    <p:extLst>
      <p:ext uri="{BB962C8B-B14F-4D97-AF65-F5344CB8AC3E}">
        <p14:creationId xmlns:p14="http://schemas.microsoft.com/office/powerpoint/2010/main" val="228767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Requirements change management stages</a:t>
            </a:r>
          </a:p>
        </p:txBody>
      </p:sp>
      <p:sp>
        <p:nvSpPr>
          <p:cNvPr id="3" name="Content Placeholder 2"/>
          <p:cNvSpPr>
            <a:spLocks noGrp="1"/>
          </p:cNvSpPr>
          <p:nvPr>
            <p:ph idx="1"/>
          </p:nvPr>
        </p:nvSpPr>
        <p:spPr>
          <a:xfrm>
            <a:off x="838200" y="914400"/>
            <a:ext cx="7772400" cy="4114800"/>
          </a:xfrm>
        </p:spPr>
        <p:txBody>
          <a:bodyPr/>
          <a:lstStyle/>
          <a:p>
            <a:r>
              <a:rPr lang="en-US" sz="2000" dirty="0"/>
              <a:t>Deciding if a requirements change should be accepted</a:t>
            </a:r>
          </a:p>
          <a:p>
            <a:pPr lvl="1"/>
            <a:r>
              <a:rPr lang="en-US" sz="2000" i="1" dirty="0">
                <a:solidFill>
                  <a:srgbClr val="FF0000"/>
                </a:solidFill>
              </a:rPr>
              <a:t>Problem analysis and change specification</a:t>
            </a:r>
            <a:r>
              <a:rPr lang="en-US" sz="2000" dirty="0">
                <a:solidFill>
                  <a:srgbClr val="FF0000"/>
                </a:solidFill>
              </a:rPr>
              <a:t> </a:t>
            </a:r>
          </a:p>
          <a:p>
            <a:pPr lvl="2"/>
            <a:r>
              <a:rPr lang="en-US" sz="2000" dirty="0"/>
              <a:t>During this stage, the problem or the change proposal is analyzed to check that </a:t>
            </a:r>
            <a:r>
              <a:rPr lang="en-US" sz="2000" b="1" dirty="0"/>
              <a:t>it is valid</a:t>
            </a:r>
            <a:r>
              <a:rPr lang="en-US" sz="2000" dirty="0"/>
              <a:t>. This analysis is fed back to the change requestor who may respond with a more specific requirements change proposal or decide to withdraw the request.</a:t>
            </a:r>
            <a:endParaRPr lang="en-GB" sz="2000" dirty="0"/>
          </a:p>
          <a:p>
            <a:pPr lvl="1"/>
            <a:r>
              <a:rPr lang="en-US" sz="2000" i="1" dirty="0">
                <a:solidFill>
                  <a:srgbClr val="FF0000"/>
                </a:solidFill>
              </a:rPr>
              <a:t>Change analysis and costing</a:t>
            </a:r>
            <a:r>
              <a:rPr lang="en-US" sz="2000" dirty="0">
                <a:solidFill>
                  <a:srgbClr val="FF0000"/>
                </a:solidFill>
              </a:rPr>
              <a:t> </a:t>
            </a:r>
          </a:p>
          <a:p>
            <a:pPr lvl="2"/>
            <a:r>
              <a:rPr lang="en-US" sz="2000" dirty="0"/>
              <a:t>The effect of the proposed change is assessed using </a:t>
            </a:r>
            <a:r>
              <a:rPr lang="en-US" sz="2000" b="1" dirty="0"/>
              <a:t>traceability information </a:t>
            </a:r>
            <a:r>
              <a:rPr lang="en-US" sz="2000" dirty="0"/>
              <a:t>and general knowledge of the system requirements.</a:t>
            </a:r>
          </a:p>
          <a:p>
            <a:pPr lvl="2"/>
            <a:r>
              <a:rPr lang="en-US" sz="2000" dirty="0"/>
              <a:t>The cost of making the change is estimated both in terms of </a:t>
            </a:r>
            <a:r>
              <a:rPr lang="en-US" sz="2000" b="1" dirty="0"/>
              <a:t>modifications to the requirements document </a:t>
            </a:r>
            <a:r>
              <a:rPr lang="en-US" sz="2000" dirty="0"/>
              <a:t>and, if appropriate, to the </a:t>
            </a:r>
            <a:r>
              <a:rPr lang="en-US" sz="2000" b="1" dirty="0"/>
              <a:t>system design</a:t>
            </a:r>
            <a:r>
              <a:rPr lang="en-US" sz="2000" dirty="0"/>
              <a:t> and </a:t>
            </a:r>
            <a:r>
              <a:rPr lang="en-US" sz="2000" b="1" dirty="0"/>
              <a:t>implementation</a:t>
            </a:r>
            <a:r>
              <a:rPr lang="en-US" sz="2000" dirty="0"/>
              <a:t>. </a:t>
            </a:r>
          </a:p>
          <a:p>
            <a:pPr lvl="2"/>
            <a:r>
              <a:rPr lang="en-US" sz="2000" dirty="0"/>
              <a:t>Once this analysis is completed, a decision is made whether or not to proceed with the requirements change.</a:t>
            </a:r>
            <a:endParaRPr lang="en-GB" sz="2000" dirty="0"/>
          </a:p>
          <a:p>
            <a:endParaRPr lang="en-US" sz="2000" dirty="0"/>
          </a:p>
        </p:txBody>
      </p:sp>
    </p:spTree>
    <p:extLst>
      <p:ext uri="{BB962C8B-B14F-4D97-AF65-F5344CB8AC3E}">
        <p14:creationId xmlns:p14="http://schemas.microsoft.com/office/powerpoint/2010/main" val="68721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Requirements change management stages</a:t>
            </a:r>
          </a:p>
        </p:txBody>
      </p:sp>
      <p:sp>
        <p:nvSpPr>
          <p:cNvPr id="3" name="Content Placeholder 2"/>
          <p:cNvSpPr>
            <a:spLocks noGrp="1"/>
          </p:cNvSpPr>
          <p:nvPr>
            <p:ph idx="1"/>
          </p:nvPr>
        </p:nvSpPr>
        <p:spPr>
          <a:xfrm>
            <a:off x="533400" y="1981200"/>
            <a:ext cx="7772400" cy="4114800"/>
          </a:xfrm>
        </p:spPr>
        <p:txBody>
          <a:bodyPr/>
          <a:lstStyle/>
          <a:p>
            <a:pPr lvl="1" algn="just"/>
            <a:r>
              <a:rPr lang="en-US" sz="2000" dirty="0">
                <a:solidFill>
                  <a:srgbClr val="FF0000"/>
                </a:solidFill>
              </a:rPr>
              <a:t>Change implementation</a:t>
            </a:r>
            <a:r>
              <a:rPr lang="en-US" sz="2000" dirty="0"/>
              <a:t> </a:t>
            </a:r>
          </a:p>
          <a:p>
            <a:pPr lvl="2" algn="just"/>
            <a:r>
              <a:rPr lang="en-US" sz="2000" dirty="0"/>
              <a:t>The requirements document and, where necessary, the system design and implementation, are modified.</a:t>
            </a:r>
          </a:p>
          <a:p>
            <a:pPr lvl="2" algn="just"/>
            <a:r>
              <a:rPr lang="en-US" sz="2000" dirty="0"/>
              <a:t>You should organize the requirements document so that you can make changes to it without extensive rewriting or reorganization.</a:t>
            </a:r>
          </a:p>
          <a:p>
            <a:pPr lvl="2" algn="just"/>
            <a:r>
              <a:rPr lang="en-US" sz="2000" dirty="0"/>
              <a:t>Changeability in documents is achieved by minimizing external references and making the document sections as modular as possible.</a:t>
            </a:r>
          </a:p>
        </p:txBody>
      </p:sp>
    </p:spTree>
    <p:extLst>
      <p:ext uri="{BB962C8B-B14F-4D97-AF65-F5344CB8AC3E}">
        <p14:creationId xmlns:p14="http://schemas.microsoft.com/office/powerpoint/2010/main" val="2602910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r>
              <a:rPr lang="en-GB" dirty="0"/>
              <a:t> </a:t>
            </a:r>
            <a:endParaRPr lang="en-US" dirty="0"/>
          </a:p>
        </p:txBody>
      </p:sp>
      <p:pic>
        <p:nvPicPr>
          <p:cNvPr id="4" name="Picture 3" descr="4.18 ReqChangeMan.eps"/>
          <p:cNvPicPr>
            <a:picLocks noChangeAspect="1"/>
          </p:cNvPicPr>
          <p:nvPr/>
        </p:nvPicPr>
        <p:blipFill>
          <a:blip r:embed="rId2" cstate="print"/>
          <a:stretch>
            <a:fillRect/>
          </a:stretch>
        </p:blipFill>
        <p:spPr>
          <a:xfrm>
            <a:off x="241024" y="2901950"/>
            <a:ext cx="8661952" cy="1054100"/>
          </a:xfrm>
          <a:prstGeom prst="rect">
            <a:avLst/>
          </a:prstGeom>
        </p:spPr>
      </p:pic>
    </p:spTree>
    <p:extLst>
      <p:ext uri="{BB962C8B-B14F-4D97-AF65-F5344CB8AC3E}">
        <p14:creationId xmlns:p14="http://schemas.microsoft.com/office/powerpoint/2010/main" val="26108835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990600" y="1752600"/>
            <a:ext cx="7772400" cy="4114800"/>
          </a:xfrm>
        </p:spPr>
        <p:txBody>
          <a:bodyPr/>
          <a:lstStyle/>
          <a:p>
            <a:r>
              <a:rPr lang="en-US" sz="2400" dirty="0"/>
              <a:t>You can use a range of techniques for requirements elicitation including interviews, scenarios, use-cases and ethnography.</a:t>
            </a:r>
          </a:p>
          <a:p>
            <a:r>
              <a:rPr lang="en-US" sz="2400" dirty="0"/>
              <a:t>Requirements validation is the process of checking the requirements for validity, consistency, completeness, realism and verifiability. </a:t>
            </a:r>
            <a:endParaRPr lang="en-GB" sz="2400" dirty="0"/>
          </a:p>
          <a:p>
            <a:r>
              <a:rPr lang="en-US" sz="2400" dirty="0"/>
              <a:t>Business, organizational and technical changes inevitably lead to changes to the requirements for a software system. Requirements management is the process of managing and controlling these changes.</a:t>
            </a:r>
            <a:endParaRPr lang="en-GB" sz="2400" dirty="0"/>
          </a:p>
          <a:p>
            <a:endParaRPr lang="en-US" sz="2400" dirty="0"/>
          </a:p>
        </p:txBody>
      </p:sp>
    </p:spTree>
    <p:extLst>
      <p:ext uri="{BB962C8B-B14F-4D97-AF65-F5344CB8AC3E}">
        <p14:creationId xmlns:p14="http://schemas.microsoft.com/office/powerpoint/2010/main" val="414113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Theme mir">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 mir" id="{48C1A78B-EDE2-4A2D-924B-AC95E6D066A2}" vid="{A49DAA6B-68BA-4F52-A6EF-37BF286FBD30}"/>
    </a:ext>
  </a:extLst>
</a:theme>
</file>

<file path=ppt/theme/theme2.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 mir</Template>
  <TotalTime>32817</TotalTime>
  <Words>3493</Words>
  <Application>Microsoft Office PowerPoint</Application>
  <PresentationFormat>On-screen Show (4:3)</PresentationFormat>
  <Paragraphs>275</Paragraphs>
  <Slides>54</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54</vt:i4>
      </vt:variant>
    </vt:vector>
  </HeadingPairs>
  <TitlesOfParts>
    <vt:vector size="62" baseType="lpstr">
      <vt:lpstr>Arial</vt:lpstr>
      <vt:lpstr>Calibri</vt:lpstr>
      <vt:lpstr>Monotype Sorts</vt:lpstr>
      <vt:lpstr>Times New Roman</vt:lpstr>
      <vt:lpstr>Wingdings</vt:lpstr>
      <vt:lpstr>Theme mir</vt:lpstr>
      <vt:lpstr>Min halsduk</vt:lpstr>
      <vt:lpstr>Document</vt:lpstr>
      <vt:lpstr>The software requirements document</vt:lpstr>
      <vt:lpstr>The software requirements document</vt:lpstr>
      <vt:lpstr>Agile methods and requirements</vt:lpstr>
      <vt:lpstr>Users of a requirements document </vt:lpstr>
      <vt:lpstr>Requirements document variability </vt:lpstr>
      <vt:lpstr>Requirements Document</vt:lpstr>
      <vt:lpstr>The structure of a requirements document</vt:lpstr>
      <vt:lpstr>PowerPoint Presentation</vt:lpstr>
      <vt:lpstr>Requirements specification</vt:lpstr>
      <vt:lpstr>Ways of writing a system requirements specification </vt:lpstr>
      <vt:lpstr>Example requirements for the insulin pump software system </vt:lpstr>
      <vt:lpstr>Guidelines for writing requirements</vt:lpstr>
      <vt:lpstr>Problems with natural language</vt:lpstr>
      <vt:lpstr>Ways of writing a system requirements specification </vt:lpstr>
      <vt:lpstr>Structured specifications</vt:lpstr>
      <vt:lpstr>Form-based specifications</vt:lpstr>
      <vt:lpstr>A structured specification of a requirement for an insulin pump </vt:lpstr>
      <vt:lpstr>A structured specification of a requirement for an insulin pump </vt:lpstr>
      <vt:lpstr>Ways of writing a system requirements specification </vt:lpstr>
      <vt:lpstr>Tabular specification</vt:lpstr>
      <vt:lpstr>Tabular specification of computation for an insulin pump </vt:lpstr>
      <vt:lpstr>Requirements engineering processes</vt:lpstr>
      <vt:lpstr>Requirements elicitation and analysis</vt:lpstr>
      <vt:lpstr>Requirements elicitation and analysis process activities</vt:lpstr>
      <vt:lpstr>Requirements Elicitation and Analysis Process activities</vt:lpstr>
      <vt:lpstr>Problems of requirements analysis</vt:lpstr>
      <vt:lpstr>Requirement discovery</vt:lpstr>
      <vt:lpstr>Stakeholders in the MHC-PMS</vt:lpstr>
      <vt:lpstr>Stakeholders in the MHC-PMS</vt:lpstr>
      <vt:lpstr>Interviewing</vt:lpstr>
      <vt:lpstr>Interviews in practice</vt:lpstr>
      <vt:lpstr>Scenarios</vt:lpstr>
      <vt:lpstr>Scenario for collecting medical history in MHC-PMS </vt:lpstr>
      <vt:lpstr>Scenario for collecting medical history in MHC-PMS </vt:lpstr>
      <vt:lpstr>Use cases</vt:lpstr>
      <vt:lpstr>Use cases for the MHC-PMS </vt:lpstr>
      <vt:lpstr>Description of the Setup Consultation use case</vt:lpstr>
      <vt:lpstr>Ethnography</vt:lpstr>
      <vt:lpstr>Ethnography</vt:lpstr>
      <vt:lpstr>Ethnography study process</vt:lpstr>
      <vt:lpstr>Scope of ethnography</vt:lpstr>
      <vt:lpstr>Requirements validation</vt:lpstr>
      <vt:lpstr>Requirements validation checking</vt:lpstr>
      <vt:lpstr>Requirements validity checking</vt:lpstr>
      <vt:lpstr>Requirements validation techniques</vt:lpstr>
      <vt:lpstr>Requirements management</vt:lpstr>
      <vt:lpstr>Changing requirements</vt:lpstr>
      <vt:lpstr>Changing requirements</vt:lpstr>
      <vt:lpstr>Requirements evolution </vt:lpstr>
      <vt:lpstr>Requirements management planning</vt:lpstr>
      <vt:lpstr>Requirements change management stages</vt:lpstr>
      <vt:lpstr>Requirements change management stages</vt:lpstr>
      <vt:lpstr>Requirements change management </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software requirements document</dc:title>
  <dc:creator>Ahmad Salman Khan</dc:creator>
  <cp:lastModifiedBy>Saman Asad</cp:lastModifiedBy>
  <cp:revision>112</cp:revision>
  <dcterms:created xsi:type="dcterms:W3CDTF">2006-08-16T00:00:00Z</dcterms:created>
  <dcterms:modified xsi:type="dcterms:W3CDTF">2024-03-04T04:23:53Z</dcterms:modified>
</cp:coreProperties>
</file>
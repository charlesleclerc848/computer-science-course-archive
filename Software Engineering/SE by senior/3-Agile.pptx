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256" r:id="rId2"/>
    <p:sldId id="313" r:id="rId3"/>
    <p:sldId id="258" r:id="rId4"/>
    <p:sldId id="259" r:id="rId5"/>
    <p:sldId id="257" r:id="rId6"/>
    <p:sldId id="260" r:id="rId7"/>
    <p:sldId id="261" r:id="rId8"/>
    <p:sldId id="262" r:id="rId9"/>
    <p:sldId id="263" r:id="rId10"/>
    <p:sldId id="266" r:id="rId11"/>
    <p:sldId id="267" r:id="rId12"/>
    <p:sldId id="268" r:id="rId13"/>
    <p:sldId id="269" r:id="rId14"/>
    <p:sldId id="312" r:id="rId15"/>
    <p:sldId id="270" r:id="rId16"/>
    <p:sldId id="272" r:id="rId17"/>
    <p:sldId id="273" r:id="rId18"/>
    <p:sldId id="274" r:id="rId19"/>
    <p:sldId id="275" r:id="rId20"/>
    <p:sldId id="282" r:id="rId21"/>
    <p:sldId id="283" r:id="rId22"/>
    <p:sldId id="285" r:id="rId23"/>
    <p:sldId id="278" r:id="rId24"/>
    <p:sldId id="279" r:id="rId25"/>
    <p:sldId id="311" r:id="rId26"/>
    <p:sldId id="280" r:id="rId27"/>
    <p:sldId id="286" r:id="rId28"/>
    <p:sldId id="287" r:id="rId29"/>
    <p:sldId id="309" r:id="rId30"/>
    <p:sldId id="310" r:id="rId31"/>
    <p:sldId id="289" r:id="rId32"/>
    <p:sldId id="292" r:id="rId33"/>
    <p:sldId id="293" r:id="rId34"/>
    <p:sldId id="294" r:id="rId35"/>
    <p:sldId id="295" r:id="rId36"/>
    <p:sldId id="314" r:id="rId37"/>
    <p:sldId id="315" r:id="rId38"/>
    <p:sldId id="307" r:id="rId39"/>
    <p:sldId id="308" r:id="rId40"/>
    <p:sldId id="300" r:id="rId41"/>
    <p:sldId id="301" r:id="rId42"/>
    <p:sldId id="303" r:id="rId43"/>
    <p:sldId id="304" r:id="rId44"/>
    <p:sldId id="305" r:id="rId45"/>
    <p:sldId id="306" r:id="rId46"/>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55" autoAdjust="0"/>
  </p:normalViewPr>
  <p:slideViewPr>
    <p:cSldViewPr>
      <p:cViewPr>
        <p:scale>
          <a:sx n="55" d="100"/>
          <a:sy n="55" d="100"/>
        </p:scale>
        <p:origin x="1600" y="12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61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1E56F2-7576-4B94-8DD7-F26CB46C354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EF5E762-2C43-4275-97B1-6E86D11C5800}">
      <dgm:prSet/>
      <dgm:spPr/>
      <dgm:t>
        <a:bodyPr/>
        <a:lstStyle/>
        <a:p>
          <a:pPr>
            <a:lnSpc>
              <a:spcPct val="100000"/>
            </a:lnSpc>
          </a:pPr>
          <a:r>
            <a:rPr kumimoji="1" lang="en-US" dirty="0"/>
            <a:t>In extreme programming, requirements are expressed as scenarios (called user stories), which are implemented directly as a series of tasks.</a:t>
          </a:r>
          <a:endParaRPr lang="en-US" dirty="0"/>
        </a:p>
      </dgm:t>
    </dgm:pt>
    <dgm:pt modelId="{93CDA987-D530-4CD4-AFBC-4885990837E7}" type="parTrans" cxnId="{98D1158C-4A4A-43F3-8EFE-A2924034A5FE}">
      <dgm:prSet/>
      <dgm:spPr/>
      <dgm:t>
        <a:bodyPr/>
        <a:lstStyle/>
        <a:p>
          <a:endParaRPr lang="en-US"/>
        </a:p>
      </dgm:t>
    </dgm:pt>
    <dgm:pt modelId="{86D8F2D7-1C3C-48D5-B556-17FF52B084E1}" type="sibTrans" cxnId="{98D1158C-4A4A-43F3-8EFE-A2924034A5FE}">
      <dgm:prSet/>
      <dgm:spPr/>
      <dgm:t>
        <a:bodyPr/>
        <a:lstStyle/>
        <a:p>
          <a:endParaRPr lang="en-US"/>
        </a:p>
      </dgm:t>
    </dgm:pt>
    <dgm:pt modelId="{298FE3C8-FCAF-4067-8513-3E33F7571893}">
      <dgm:prSet/>
      <dgm:spPr/>
      <dgm:t>
        <a:bodyPr/>
        <a:lstStyle/>
        <a:p>
          <a:pPr>
            <a:lnSpc>
              <a:spcPct val="100000"/>
            </a:lnSpc>
          </a:pPr>
          <a:r>
            <a:rPr kumimoji="1" lang="en-US"/>
            <a:t>Programmers work in pairs and develop tests for each task before writing the code.</a:t>
          </a:r>
          <a:endParaRPr lang="en-US"/>
        </a:p>
      </dgm:t>
    </dgm:pt>
    <dgm:pt modelId="{6094AD67-493E-4022-BE4D-EE7DC41B1577}" type="parTrans" cxnId="{A28A06B6-A57B-4D69-90C4-761F104709CE}">
      <dgm:prSet/>
      <dgm:spPr/>
      <dgm:t>
        <a:bodyPr/>
        <a:lstStyle/>
        <a:p>
          <a:endParaRPr lang="en-US"/>
        </a:p>
      </dgm:t>
    </dgm:pt>
    <dgm:pt modelId="{FB585A0B-7B53-4785-BC34-1C9A9765D42C}" type="sibTrans" cxnId="{A28A06B6-A57B-4D69-90C4-761F104709CE}">
      <dgm:prSet/>
      <dgm:spPr/>
      <dgm:t>
        <a:bodyPr/>
        <a:lstStyle/>
        <a:p>
          <a:endParaRPr lang="en-US"/>
        </a:p>
      </dgm:t>
    </dgm:pt>
    <dgm:pt modelId="{74D14897-0939-4196-B249-5D9E6B0D4B95}">
      <dgm:prSet/>
      <dgm:spPr/>
      <dgm:t>
        <a:bodyPr/>
        <a:lstStyle/>
        <a:p>
          <a:pPr>
            <a:lnSpc>
              <a:spcPct val="100000"/>
            </a:lnSpc>
          </a:pPr>
          <a:r>
            <a:rPr kumimoji="1" lang="en-US"/>
            <a:t>All tests must be successfully executed when new code is integrated into the system. There is a short time gap between releases of the system.</a:t>
          </a:r>
          <a:endParaRPr lang="en-US"/>
        </a:p>
      </dgm:t>
    </dgm:pt>
    <dgm:pt modelId="{CF7167D8-9C83-4F81-BA05-0F0500882800}" type="parTrans" cxnId="{C3370F4F-DB80-4088-992D-DEAF10D03E7D}">
      <dgm:prSet/>
      <dgm:spPr/>
      <dgm:t>
        <a:bodyPr/>
        <a:lstStyle/>
        <a:p>
          <a:endParaRPr lang="en-US"/>
        </a:p>
      </dgm:t>
    </dgm:pt>
    <dgm:pt modelId="{21BBCE03-B751-4274-9303-1265B1445E7D}" type="sibTrans" cxnId="{C3370F4F-DB80-4088-992D-DEAF10D03E7D}">
      <dgm:prSet/>
      <dgm:spPr/>
      <dgm:t>
        <a:bodyPr/>
        <a:lstStyle/>
        <a:p>
          <a:endParaRPr lang="en-US"/>
        </a:p>
      </dgm:t>
    </dgm:pt>
    <dgm:pt modelId="{39261415-6C70-4A50-8E04-DD8C6FA3040C}" type="pres">
      <dgm:prSet presAssocID="{AE1E56F2-7576-4B94-8DD7-F26CB46C3541}" presName="root" presStyleCnt="0">
        <dgm:presLayoutVars>
          <dgm:dir/>
          <dgm:resizeHandles val="exact"/>
        </dgm:presLayoutVars>
      </dgm:prSet>
      <dgm:spPr/>
    </dgm:pt>
    <dgm:pt modelId="{648D5C7C-2373-49D0-892D-D3F6BCF7EE08}" type="pres">
      <dgm:prSet presAssocID="{0EF5E762-2C43-4275-97B1-6E86D11C5800}" presName="compNode" presStyleCnt="0"/>
      <dgm:spPr/>
    </dgm:pt>
    <dgm:pt modelId="{AB2D777A-6AB6-4459-A995-D5B385211293}" type="pres">
      <dgm:prSet presAssocID="{0EF5E762-2C43-4275-97B1-6E86D11C5800}" presName="bgRect" presStyleLbl="bgShp" presStyleIdx="0" presStyleCnt="3"/>
      <dgm:spPr/>
    </dgm:pt>
    <dgm:pt modelId="{FC34F59C-E368-49B4-ABAA-2BCF21475899}" type="pres">
      <dgm:prSet presAssocID="{0EF5E762-2C43-4275-97B1-6E86D11C580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F3FC38C4-3441-4903-B390-6A7FD14D2992}" type="pres">
      <dgm:prSet presAssocID="{0EF5E762-2C43-4275-97B1-6E86D11C5800}" presName="spaceRect" presStyleCnt="0"/>
      <dgm:spPr/>
    </dgm:pt>
    <dgm:pt modelId="{A187E758-7323-46B4-8747-4E6A11B5E59A}" type="pres">
      <dgm:prSet presAssocID="{0EF5E762-2C43-4275-97B1-6E86D11C5800}" presName="parTx" presStyleLbl="revTx" presStyleIdx="0" presStyleCnt="3">
        <dgm:presLayoutVars>
          <dgm:chMax val="0"/>
          <dgm:chPref val="0"/>
        </dgm:presLayoutVars>
      </dgm:prSet>
      <dgm:spPr/>
    </dgm:pt>
    <dgm:pt modelId="{03AFB477-538F-487D-B908-9EB885E5623C}" type="pres">
      <dgm:prSet presAssocID="{86D8F2D7-1C3C-48D5-B556-17FF52B084E1}" presName="sibTrans" presStyleCnt="0"/>
      <dgm:spPr/>
    </dgm:pt>
    <dgm:pt modelId="{AB984343-9ED6-45E9-BE19-44FE93ACBA8B}" type="pres">
      <dgm:prSet presAssocID="{298FE3C8-FCAF-4067-8513-3E33F7571893}" presName="compNode" presStyleCnt="0"/>
      <dgm:spPr/>
    </dgm:pt>
    <dgm:pt modelId="{145E3282-BA41-4ECA-87FA-602A35709979}" type="pres">
      <dgm:prSet presAssocID="{298FE3C8-FCAF-4067-8513-3E33F7571893}" presName="bgRect" presStyleLbl="bgShp" presStyleIdx="1" presStyleCnt="3"/>
      <dgm:spPr/>
    </dgm:pt>
    <dgm:pt modelId="{84C6C96B-5508-420D-82B7-5F53A4EA0AD5}" type="pres">
      <dgm:prSet presAssocID="{298FE3C8-FCAF-4067-8513-3E33F757189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owchart"/>
        </a:ext>
      </dgm:extLst>
    </dgm:pt>
    <dgm:pt modelId="{806EEFD6-66EA-4AAD-A3C7-3D09BBA5CE57}" type="pres">
      <dgm:prSet presAssocID="{298FE3C8-FCAF-4067-8513-3E33F7571893}" presName="spaceRect" presStyleCnt="0"/>
      <dgm:spPr/>
    </dgm:pt>
    <dgm:pt modelId="{689D232D-BDC7-4D2F-9613-3F555A0E1596}" type="pres">
      <dgm:prSet presAssocID="{298FE3C8-FCAF-4067-8513-3E33F7571893}" presName="parTx" presStyleLbl="revTx" presStyleIdx="1" presStyleCnt="3">
        <dgm:presLayoutVars>
          <dgm:chMax val="0"/>
          <dgm:chPref val="0"/>
        </dgm:presLayoutVars>
      </dgm:prSet>
      <dgm:spPr/>
    </dgm:pt>
    <dgm:pt modelId="{0A3B46D5-1E99-4348-8BB5-A235909E7A5B}" type="pres">
      <dgm:prSet presAssocID="{FB585A0B-7B53-4785-BC34-1C9A9765D42C}" presName="sibTrans" presStyleCnt="0"/>
      <dgm:spPr/>
    </dgm:pt>
    <dgm:pt modelId="{D8833A49-3C75-4E49-AF2D-25B52BE4026A}" type="pres">
      <dgm:prSet presAssocID="{74D14897-0939-4196-B249-5D9E6B0D4B95}" presName="compNode" presStyleCnt="0"/>
      <dgm:spPr/>
    </dgm:pt>
    <dgm:pt modelId="{D1EC1A41-2F7E-407E-86E2-8A941F1F45DF}" type="pres">
      <dgm:prSet presAssocID="{74D14897-0939-4196-B249-5D9E6B0D4B95}" presName="bgRect" presStyleLbl="bgShp" presStyleIdx="2" presStyleCnt="3"/>
      <dgm:spPr/>
    </dgm:pt>
    <dgm:pt modelId="{5B9F55CD-AABB-4376-AE1E-B224B6C5D95A}" type="pres">
      <dgm:prSet presAssocID="{74D14897-0939-4196-B249-5D9E6B0D4B9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sconnected"/>
        </a:ext>
      </dgm:extLst>
    </dgm:pt>
    <dgm:pt modelId="{F914F93B-0558-4E49-8526-FE1219D60F4B}" type="pres">
      <dgm:prSet presAssocID="{74D14897-0939-4196-B249-5D9E6B0D4B95}" presName="spaceRect" presStyleCnt="0"/>
      <dgm:spPr/>
    </dgm:pt>
    <dgm:pt modelId="{907F37C5-12D7-48B9-B0B3-6D14A900EA30}" type="pres">
      <dgm:prSet presAssocID="{74D14897-0939-4196-B249-5D9E6B0D4B95}" presName="parTx" presStyleLbl="revTx" presStyleIdx="2" presStyleCnt="3">
        <dgm:presLayoutVars>
          <dgm:chMax val="0"/>
          <dgm:chPref val="0"/>
        </dgm:presLayoutVars>
      </dgm:prSet>
      <dgm:spPr/>
    </dgm:pt>
  </dgm:ptLst>
  <dgm:cxnLst>
    <dgm:cxn modelId="{07F04019-7428-49A9-8925-F9CD3535CE38}" type="presOf" srcId="{AE1E56F2-7576-4B94-8DD7-F26CB46C3541}" destId="{39261415-6C70-4A50-8E04-DD8C6FA3040C}" srcOrd="0" destOrd="0" presId="urn:microsoft.com/office/officeart/2018/2/layout/IconVerticalSolidList"/>
    <dgm:cxn modelId="{C764006F-FE9B-4CB8-A50D-AAF6DAE1CFB6}" type="presOf" srcId="{0EF5E762-2C43-4275-97B1-6E86D11C5800}" destId="{A187E758-7323-46B4-8747-4E6A11B5E59A}" srcOrd="0" destOrd="0" presId="urn:microsoft.com/office/officeart/2018/2/layout/IconVerticalSolidList"/>
    <dgm:cxn modelId="{C3370F4F-DB80-4088-992D-DEAF10D03E7D}" srcId="{AE1E56F2-7576-4B94-8DD7-F26CB46C3541}" destId="{74D14897-0939-4196-B249-5D9E6B0D4B95}" srcOrd="2" destOrd="0" parTransId="{CF7167D8-9C83-4F81-BA05-0F0500882800}" sibTransId="{21BBCE03-B751-4274-9303-1265B1445E7D}"/>
    <dgm:cxn modelId="{A8A9A28A-720D-4114-BEE2-75F54FEDBCC4}" type="presOf" srcId="{74D14897-0939-4196-B249-5D9E6B0D4B95}" destId="{907F37C5-12D7-48B9-B0B3-6D14A900EA30}" srcOrd="0" destOrd="0" presId="urn:microsoft.com/office/officeart/2018/2/layout/IconVerticalSolidList"/>
    <dgm:cxn modelId="{98D1158C-4A4A-43F3-8EFE-A2924034A5FE}" srcId="{AE1E56F2-7576-4B94-8DD7-F26CB46C3541}" destId="{0EF5E762-2C43-4275-97B1-6E86D11C5800}" srcOrd="0" destOrd="0" parTransId="{93CDA987-D530-4CD4-AFBC-4885990837E7}" sibTransId="{86D8F2D7-1C3C-48D5-B556-17FF52B084E1}"/>
    <dgm:cxn modelId="{A28A06B6-A57B-4D69-90C4-761F104709CE}" srcId="{AE1E56F2-7576-4B94-8DD7-F26CB46C3541}" destId="{298FE3C8-FCAF-4067-8513-3E33F7571893}" srcOrd="1" destOrd="0" parTransId="{6094AD67-493E-4022-BE4D-EE7DC41B1577}" sibTransId="{FB585A0B-7B53-4785-BC34-1C9A9765D42C}"/>
    <dgm:cxn modelId="{6C5638E7-D9E1-4249-ADD3-81709D6CA206}" type="presOf" srcId="{298FE3C8-FCAF-4067-8513-3E33F7571893}" destId="{689D232D-BDC7-4D2F-9613-3F555A0E1596}" srcOrd="0" destOrd="0" presId="urn:microsoft.com/office/officeart/2018/2/layout/IconVerticalSolidList"/>
    <dgm:cxn modelId="{E0DF1E92-A64E-499B-8089-63B54D9F6559}" type="presParOf" srcId="{39261415-6C70-4A50-8E04-DD8C6FA3040C}" destId="{648D5C7C-2373-49D0-892D-D3F6BCF7EE08}" srcOrd="0" destOrd="0" presId="urn:microsoft.com/office/officeart/2018/2/layout/IconVerticalSolidList"/>
    <dgm:cxn modelId="{CDC5B344-965D-42CB-A2FA-E216F5E84567}" type="presParOf" srcId="{648D5C7C-2373-49D0-892D-D3F6BCF7EE08}" destId="{AB2D777A-6AB6-4459-A995-D5B385211293}" srcOrd="0" destOrd="0" presId="urn:microsoft.com/office/officeart/2018/2/layout/IconVerticalSolidList"/>
    <dgm:cxn modelId="{2513AB09-15C7-4FE4-BEB7-0C1506905AED}" type="presParOf" srcId="{648D5C7C-2373-49D0-892D-D3F6BCF7EE08}" destId="{FC34F59C-E368-49B4-ABAA-2BCF21475899}" srcOrd="1" destOrd="0" presId="urn:microsoft.com/office/officeart/2018/2/layout/IconVerticalSolidList"/>
    <dgm:cxn modelId="{B2391085-C394-47C5-A773-01AA45084E2D}" type="presParOf" srcId="{648D5C7C-2373-49D0-892D-D3F6BCF7EE08}" destId="{F3FC38C4-3441-4903-B390-6A7FD14D2992}" srcOrd="2" destOrd="0" presId="urn:microsoft.com/office/officeart/2018/2/layout/IconVerticalSolidList"/>
    <dgm:cxn modelId="{742B4DFC-C5D7-4C3A-A5A7-2E9BED16E469}" type="presParOf" srcId="{648D5C7C-2373-49D0-892D-D3F6BCF7EE08}" destId="{A187E758-7323-46B4-8747-4E6A11B5E59A}" srcOrd="3" destOrd="0" presId="urn:microsoft.com/office/officeart/2018/2/layout/IconVerticalSolidList"/>
    <dgm:cxn modelId="{B5146955-9CF6-4FCC-91ED-56BA48CA7972}" type="presParOf" srcId="{39261415-6C70-4A50-8E04-DD8C6FA3040C}" destId="{03AFB477-538F-487D-B908-9EB885E5623C}" srcOrd="1" destOrd="0" presId="urn:microsoft.com/office/officeart/2018/2/layout/IconVerticalSolidList"/>
    <dgm:cxn modelId="{18B06299-E8ED-4ED2-B2E2-2296BB0BD095}" type="presParOf" srcId="{39261415-6C70-4A50-8E04-DD8C6FA3040C}" destId="{AB984343-9ED6-45E9-BE19-44FE93ACBA8B}" srcOrd="2" destOrd="0" presId="urn:microsoft.com/office/officeart/2018/2/layout/IconVerticalSolidList"/>
    <dgm:cxn modelId="{882F6502-5750-4EB1-B153-94D01F2968C2}" type="presParOf" srcId="{AB984343-9ED6-45E9-BE19-44FE93ACBA8B}" destId="{145E3282-BA41-4ECA-87FA-602A35709979}" srcOrd="0" destOrd="0" presId="urn:microsoft.com/office/officeart/2018/2/layout/IconVerticalSolidList"/>
    <dgm:cxn modelId="{BD3BFA6C-259E-4A4E-88C6-BB6DFFF2186E}" type="presParOf" srcId="{AB984343-9ED6-45E9-BE19-44FE93ACBA8B}" destId="{84C6C96B-5508-420D-82B7-5F53A4EA0AD5}" srcOrd="1" destOrd="0" presId="urn:microsoft.com/office/officeart/2018/2/layout/IconVerticalSolidList"/>
    <dgm:cxn modelId="{0D5A5B9C-281A-4012-8343-27978EB2AFFB}" type="presParOf" srcId="{AB984343-9ED6-45E9-BE19-44FE93ACBA8B}" destId="{806EEFD6-66EA-4AAD-A3C7-3D09BBA5CE57}" srcOrd="2" destOrd="0" presId="urn:microsoft.com/office/officeart/2018/2/layout/IconVerticalSolidList"/>
    <dgm:cxn modelId="{DAD1DF75-F1A0-46FC-BB90-D4D83FC1956C}" type="presParOf" srcId="{AB984343-9ED6-45E9-BE19-44FE93ACBA8B}" destId="{689D232D-BDC7-4D2F-9613-3F555A0E1596}" srcOrd="3" destOrd="0" presId="urn:microsoft.com/office/officeart/2018/2/layout/IconVerticalSolidList"/>
    <dgm:cxn modelId="{571C2989-65EA-4F27-B68F-6300D752CB7B}" type="presParOf" srcId="{39261415-6C70-4A50-8E04-DD8C6FA3040C}" destId="{0A3B46D5-1E99-4348-8BB5-A235909E7A5B}" srcOrd="3" destOrd="0" presId="urn:microsoft.com/office/officeart/2018/2/layout/IconVerticalSolidList"/>
    <dgm:cxn modelId="{444FACC7-5CFA-4358-AA2C-232C7B858775}" type="presParOf" srcId="{39261415-6C70-4A50-8E04-DD8C6FA3040C}" destId="{D8833A49-3C75-4E49-AF2D-25B52BE4026A}" srcOrd="4" destOrd="0" presId="urn:microsoft.com/office/officeart/2018/2/layout/IconVerticalSolidList"/>
    <dgm:cxn modelId="{7883C93F-F2C1-4433-93E2-2D75ABBC86D5}" type="presParOf" srcId="{D8833A49-3C75-4E49-AF2D-25B52BE4026A}" destId="{D1EC1A41-2F7E-407E-86E2-8A941F1F45DF}" srcOrd="0" destOrd="0" presId="urn:microsoft.com/office/officeart/2018/2/layout/IconVerticalSolidList"/>
    <dgm:cxn modelId="{25FBAC98-2EC9-4105-B546-A3F3C912AD4F}" type="presParOf" srcId="{D8833A49-3C75-4E49-AF2D-25B52BE4026A}" destId="{5B9F55CD-AABB-4376-AE1E-B224B6C5D95A}" srcOrd="1" destOrd="0" presId="urn:microsoft.com/office/officeart/2018/2/layout/IconVerticalSolidList"/>
    <dgm:cxn modelId="{E32C3C4C-4A6D-4F37-9A4C-54B495F7AF4C}" type="presParOf" srcId="{D8833A49-3C75-4E49-AF2D-25B52BE4026A}" destId="{F914F93B-0558-4E49-8526-FE1219D60F4B}" srcOrd="2" destOrd="0" presId="urn:microsoft.com/office/officeart/2018/2/layout/IconVerticalSolidList"/>
    <dgm:cxn modelId="{1CA5ECCA-C654-46E1-91AB-E94EC98B5020}" type="presParOf" srcId="{D8833A49-3C75-4E49-AF2D-25B52BE4026A}" destId="{907F37C5-12D7-48B9-B0B3-6D14A900EA3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2D777A-6AB6-4459-A995-D5B385211293}">
      <dsp:nvSpPr>
        <dsp:cNvPr id="0" name=""/>
        <dsp:cNvSpPr/>
      </dsp:nvSpPr>
      <dsp:spPr>
        <a:xfrm>
          <a:off x="0" y="431"/>
          <a:ext cx="7747254" cy="10096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34F59C-E368-49B4-ABAA-2BCF21475899}">
      <dsp:nvSpPr>
        <dsp:cNvPr id="0" name=""/>
        <dsp:cNvSpPr/>
      </dsp:nvSpPr>
      <dsp:spPr>
        <a:xfrm>
          <a:off x="305413" y="227598"/>
          <a:ext cx="555296" cy="5552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87E758-7323-46B4-8747-4E6A11B5E59A}">
      <dsp:nvSpPr>
        <dsp:cNvPr id="0" name=""/>
        <dsp:cNvSpPr/>
      </dsp:nvSpPr>
      <dsp:spPr>
        <a:xfrm>
          <a:off x="1166123" y="431"/>
          <a:ext cx="6581130" cy="1009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853" tIns="106853" rIns="106853" bIns="106853" numCol="1" spcCol="1270" anchor="ctr" anchorCtr="0">
          <a:noAutofit/>
        </a:bodyPr>
        <a:lstStyle/>
        <a:p>
          <a:pPr marL="0" lvl="0" indent="0" algn="l" defTabSz="800100">
            <a:lnSpc>
              <a:spcPct val="100000"/>
            </a:lnSpc>
            <a:spcBef>
              <a:spcPct val="0"/>
            </a:spcBef>
            <a:spcAft>
              <a:spcPct val="35000"/>
            </a:spcAft>
            <a:buNone/>
          </a:pPr>
          <a:r>
            <a:rPr kumimoji="1" lang="en-US" sz="1800" kern="1200" dirty="0"/>
            <a:t>In extreme programming, requirements are expressed as scenarios (called user stories), which are implemented directly as a series of tasks.</a:t>
          </a:r>
          <a:endParaRPr lang="en-US" sz="1800" kern="1200" dirty="0"/>
        </a:p>
      </dsp:txBody>
      <dsp:txXfrm>
        <a:off x="1166123" y="431"/>
        <a:ext cx="6581130" cy="1009630"/>
      </dsp:txXfrm>
    </dsp:sp>
    <dsp:sp modelId="{145E3282-BA41-4ECA-87FA-602A35709979}">
      <dsp:nvSpPr>
        <dsp:cNvPr id="0" name=""/>
        <dsp:cNvSpPr/>
      </dsp:nvSpPr>
      <dsp:spPr>
        <a:xfrm>
          <a:off x="0" y="1262469"/>
          <a:ext cx="7747254" cy="10096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C6C96B-5508-420D-82B7-5F53A4EA0AD5}">
      <dsp:nvSpPr>
        <dsp:cNvPr id="0" name=""/>
        <dsp:cNvSpPr/>
      </dsp:nvSpPr>
      <dsp:spPr>
        <a:xfrm>
          <a:off x="305413" y="1489636"/>
          <a:ext cx="555296" cy="5552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9D232D-BDC7-4D2F-9613-3F555A0E1596}">
      <dsp:nvSpPr>
        <dsp:cNvPr id="0" name=""/>
        <dsp:cNvSpPr/>
      </dsp:nvSpPr>
      <dsp:spPr>
        <a:xfrm>
          <a:off x="1166123" y="1262469"/>
          <a:ext cx="6581130" cy="1009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853" tIns="106853" rIns="106853" bIns="106853" numCol="1" spcCol="1270" anchor="ctr" anchorCtr="0">
          <a:noAutofit/>
        </a:bodyPr>
        <a:lstStyle/>
        <a:p>
          <a:pPr marL="0" lvl="0" indent="0" algn="l" defTabSz="800100">
            <a:lnSpc>
              <a:spcPct val="100000"/>
            </a:lnSpc>
            <a:spcBef>
              <a:spcPct val="0"/>
            </a:spcBef>
            <a:spcAft>
              <a:spcPct val="35000"/>
            </a:spcAft>
            <a:buNone/>
          </a:pPr>
          <a:r>
            <a:rPr kumimoji="1" lang="en-US" sz="1800" kern="1200"/>
            <a:t>Programmers work in pairs and develop tests for each task before writing the code.</a:t>
          </a:r>
          <a:endParaRPr lang="en-US" sz="1800" kern="1200"/>
        </a:p>
      </dsp:txBody>
      <dsp:txXfrm>
        <a:off x="1166123" y="1262469"/>
        <a:ext cx="6581130" cy="1009630"/>
      </dsp:txXfrm>
    </dsp:sp>
    <dsp:sp modelId="{D1EC1A41-2F7E-407E-86E2-8A941F1F45DF}">
      <dsp:nvSpPr>
        <dsp:cNvPr id="0" name=""/>
        <dsp:cNvSpPr/>
      </dsp:nvSpPr>
      <dsp:spPr>
        <a:xfrm>
          <a:off x="0" y="2524507"/>
          <a:ext cx="7747254" cy="10096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9F55CD-AABB-4376-AE1E-B224B6C5D95A}">
      <dsp:nvSpPr>
        <dsp:cNvPr id="0" name=""/>
        <dsp:cNvSpPr/>
      </dsp:nvSpPr>
      <dsp:spPr>
        <a:xfrm>
          <a:off x="305413" y="2751674"/>
          <a:ext cx="555296" cy="5552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7F37C5-12D7-48B9-B0B3-6D14A900EA30}">
      <dsp:nvSpPr>
        <dsp:cNvPr id="0" name=""/>
        <dsp:cNvSpPr/>
      </dsp:nvSpPr>
      <dsp:spPr>
        <a:xfrm>
          <a:off x="1166123" y="2524507"/>
          <a:ext cx="6581130" cy="1009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853" tIns="106853" rIns="106853" bIns="106853" numCol="1" spcCol="1270" anchor="ctr" anchorCtr="0">
          <a:noAutofit/>
        </a:bodyPr>
        <a:lstStyle/>
        <a:p>
          <a:pPr marL="0" lvl="0" indent="0" algn="l" defTabSz="800100">
            <a:lnSpc>
              <a:spcPct val="100000"/>
            </a:lnSpc>
            <a:spcBef>
              <a:spcPct val="0"/>
            </a:spcBef>
            <a:spcAft>
              <a:spcPct val="35000"/>
            </a:spcAft>
            <a:buNone/>
          </a:pPr>
          <a:r>
            <a:rPr kumimoji="1" lang="en-US" sz="1800" kern="1200"/>
            <a:t>All tests must be successfully executed when new code is integrated into the system. There is a short time gap between releases of the system.</a:t>
          </a:r>
          <a:endParaRPr lang="en-US" sz="1800" kern="1200"/>
        </a:p>
      </dsp:txBody>
      <dsp:txXfrm>
        <a:off x="1166123" y="2524507"/>
        <a:ext cx="6581130" cy="100963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F1AC60DE-5933-4EAD-A96C-DC5B63AC9D67}" type="datetimeFigureOut">
              <a:rPr lang="en-US" smtClean="0"/>
              <a:pPr/>
              <a:t>10/11/2024</a:t>
            </a:fld>
            <a:endParaRPr lang="en-US"/>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7F8F67FF-62C3-4B70-8F06-EE45B65B7C2F}" type="slidenum">
              <a:rPr lang="en-US" smtClean="0"/>
              <a:pPr/>
              <a:t>‹#›</a:t>
            </a:fld>
            <a:endParaRPr lang="en-US"/>
          </a:p>
        </p:txBody>
      </p:sp>
    </p:spTree>
    <p:extLst>
      <p:ext uri="{BB962C8B-B14F-4D97-AF65-F5344CB8AC3E}">
        <p14:creationId xmlns:p14="http://schemas.microsoft.com/office/powerpoint/2010/main" val="4043610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8F67FF-62C3-4B70-8F06-EE45B65B7C2F}" type="slidenum">
              <a:rPr lang="en-US" smtClean="0"/>
              <a:pPr/>
              <a:t>5</a:t>
            </a:fld>
            <a:endParaRPr lang="en-US"/>
          </a:p>
        </p:txBody>
      </p:sp>
    </p:spTree>
    <p:extLst>
      <p:ext uri="{BB962C8B-B14F-4D97-AF65-F5344CB8AC3E}">
        <p14:creationId xmlns:p14="http://schemas.microsoft.com/office/powerpoint/2010/main" val="3429216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438400"/>
            <a:ext cx="9147175" cy="1063625"/>
            <a:chOff x="-2" y="1536"/>
            <a:chExt cx="5762" cy="670"/>
          </a:xfrm>
        </p:grpSpPr>
        <p:grpSp>
          <p:nvGrpSpPr>
            <p:cNvPr id="5" name="Group 3"/>
            <p:cNvGrpSpPr>
              <a:grpSpLocks/>
            </p:cNvGrpSpPr>
            <p:nvPr/>
          </p:nvGrpSpPr>
          <p:grpSpPr bwMode="auto">
            <a:xfrm flipH="1">
              <a:off x="-2" y="1562"/>
              <a:ext cx="5762" cy="638"/>
              <a:chOff x="-2" y="1562"/>
              <a:chExt cx="5762" cy="638"/>
            </a:xfrm>
          </p:grpSpPr>
          <p:sp>
            <p:nvSpPr>
              <p:cNvPr id="8" name="Freeform 4"/>
              <p:cNvSpPr>
                <a:spLocks/>
              </p:cNvSpPr>
              <p:nvPr/>
            </p:nvSpPr>
            <p:spPr bwMode="ltGray">
              <a:xfrm rot="-5400000">
                <a:off x="2559" y="-993"/>
                <a:ext cx="624" cy="5745"/>
              </a:xfrm>
              <a:custGeom>
                <a:avLst/>
                <a:gdLst>
                  <a:gd name="T0" fmla="*/ 0 w 1000"/>
                  <a:gd name="T1" fmla="*/ 0 h 720"/>
                  <a:gd name="T2" fmla="*/ 0 w 1000"/>
                  <a:gd name="T3" fmla="*/ 5745 h 720"/>
                  <a:gd name="T4" fmla="*/ 624 w 1000"/>
                  <a:gd name="T5" fmla="*/ 5745 h 720"/>
                  <a:gd name="T6" fmla="*/ 62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9" name="Freeform 5"/>
              <p:cNvSpPr>
                <a:spLocks/>
              </p:cNvSpPr>
              <p:nvPr/>
            </p:nvSpPr>
            <p:spPr bwMode="ltGray">
              <a:xfrm rot="-5400000">
                <a:off x="1323"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0" name="Freeform 6"/>
              <p:cNvSpPr>
                <a:spLocks/>
              </p:cNvSpPr>
              <p:nvPr/>
            </p:nvSpPr>
            <p:spPr bwMode="ltGray">
              <a:xfrm rot="-5400000">
                <a:off x="982"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1" name="Freeform 7"/>
              <p:cNvSpPr>
                <a:spLocks/>
              </p:cNvSpPr>
              <p:nvPr/>
            </p:nvSpPr>
            <p:spPr bwMode="ltGray">
              <a:xfrm rot="-5400000">
                <a:off x="-57" y="1752"/>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dirty="0">
                  <a:solidFill>
                    <a:srgbClr val="000000"/>
                  </a:solidFill>
                </a:endParaRPr>
              </a:p>
            </p:txBody>
          </p:sp>
          <p:sp>
            <p:nvSpPr>
              <p:cNvPr id="12" name="Freeform 8"/>
              <p:cNvSpPr>
                <a:spLocks/>
              </p:cNvSpPr>
              <p:nvPr/>
            </p:nvSpPr>
            <p:spPr bwMode="ltGray">
              <a:xfrm rot="-5400000">
                <a:off x="664" y="1733"/>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3" name="Freeform 9"/>
              <p:cNvSpPr>
                <a:spLocks/>
              </p:cNvSpPr>
              <p:nvPr/>
            </p:nvSpPr>
            <p:spPr bwMode="ltGray">
              <a:xfrm rot="-5400000">
                <a:off x="442" y="1699"/>
                <a:ext cx="624" cy="362"/>
              </a:xfrm>
              <a:custGeom>
                <a:avLst/>
                <a:gdLst>
                  <a:gd name="T0" fmla="*/ 0 w 624"/>
                  <a:gd name="T1" fmla="*/ 0 h 272"/>
                  <a:gd name="T2" fmla="*/ 0 w 624"/>
                  <a:gd name="T3" fmla="*/ 362 h 272"/>
                  <a:gd name="T4" fmla="*/ 240 w 624"/>
                  <a:gd name="T5" fmla="*/ 319 h 272"/>
                  <a:gd name="T6" fmla="*/ 624 w 624"/>
                  <a:gd name="T7" fmla="*/ 362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4" name="Freeform 10"/>
              <p:cNvSpPr>
                <a:spLocks/>
              </p:cNvSpPr>
              <p:nvPr/>
            </p:nvSpPr>
            <p:spPr bwMode="ltGray">
              <a:xfrm rot="-5400000">
                <a:off x="156" y="1726"/>
                <a:ext cx="632" cy="315"/>
              </a:xfrm>
              <a:custGeom>
                <a:avLst/>
                <a:gdLst>
                  <a:gd name="T0" fmla="*/ 8 w 632"/>
                  <a:gd name="T1" fmla="*/ 39 h 362"/>
                  <a:gd name="T2" fmla="*/ 8 w 632"/>
                  <a:gd name="T3" fmla="*/ 276 h 362"/>
                  <a:gd name="T4" fmla="*/ 248 w 632"/>
                  <a:gd name="T5" fmla="*/ 276 h 362"/>
                  <a:gd name="T6" fmla="*/ 632 w 632"/>
                  <a:gd name="T7" fmla="*/ 276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5" name="Freeform 11"/>
              <p:cNvSpPr>
                <a:spLocks/>
              </p:cNvSpPr>
              <p:nvPr/>
            </p:nvSpPr>
            <p:spPr bwMode="ltGray">
              <a:xfrm rot="-5400000">
                <a:off x="3211" y="1664"/>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6" name="Freeform 12"/>
              <p:cNvSpPr>
                <a:spLocks/>
              </p:cNvSpPr>
              <p:nvPr/>
            </p:nvSpPr>
            <p:spPr bwMode="ltGray">
              <a:xfrm rot="-5400000">
                <a:off x="2870" y="1664"/>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7" name="Freeform 13"/>
              <p:cNvSpPr>
                <a:spLocks/>
              </p:cNvSpPr>
              <p:nvPr/>
            </p:nvSpPr>
            <p:spPr bwMode="ltGray">
              <a:xfrm rot="-5400000">
                <a:off x="1830"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dirty="0">
                  <a:solidFill>
                    <a:srgbClr val="000000"/>
                  </a:solidFill>
                </a:endParaRPr>
              </a:p>
            </p:txBody>
          </p:sp>
          <p:sp>
            <p:nvSpPr>
              <p:cNvPr id="18" name="Freeform 14"/>
              <p:cNvSpPr>
                <a:spLocks/>
              </p:cNvSpPr>
              <p:nvPr/>
            </p:nvSpPr>
            <p:spPr bwMode="ltGray">
              <a:xfrm rot="-5400000">
                <a:off x="2551" y="1728"/>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9" name="Freeform 15"/>
              <p:cNvSpPr>
                <a:spLocks/>
              </p:cNvSpPr>
              <p:nvPr/>
            </p:nvSpPr>
            <p:spPr bwMode="ltGray">
              <a:xfrm rot="-5400000">
                <a:off x="2330"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0" name="Freeform 16"/>
              <p:cNvSpPr>
                <a:spLocks/>
              </p:cNvSpPr>
              <p:nvPr/>
            </p:nvSpPr>
            <p:spPr bwMode="ltGray">
              <a:xfrm rot="-5400000">
                <a:off x="2043"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1" name="Freeform 17"/>
              <p:cNvSpPr>
                <a:spLocks/>
              </p:cNvSpPr>
              <p:nvPr/>
            </p:nvSpPr>
            <p:spPr bwMode="ltGray">
              <a:xfrm rot="-5400000">
                <a:off x="4077"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2" name="Freeform 18"/>
              <p:cNvSpPr>
                <a:spLocks/>
              </p:cNvSpPr>
              <p:nvPr/>
            </p:nvSpPr>
            <p:spPr bwMode="ltGray">
              <a:xfrm rot="-5400000">
                <a:off x="3736"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3" name="Freeform 19"/>
              <p:cNvSpPr>
                <a:spLocks/>
              </p:cNvSpPr>
              <p:nvPr/>
            </p:nvSpPr>
            <p:spPr bwMode="ltGray">
              <a:xfrm rot="-5400000">
                <a:off x="4584"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dirty="0">
                  <a:solidFill>
                    <a:srgbClr val="000000"/>
                  </a:solidFill>
                </a:endParaRPr>
              </a:p>
            </p:txBody>
          </p:sp>
          <p:sp>
            <p:nvSpPr>
              <p:cNvPr id="24"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5" name="Freeform 21"/>
              <p:cNvSpPr>
                <a:spLocks/>
              </p:cNvSpPr>
              <p:nvPr/>
            </p:nvSpPr>
            <p:spPr bwMode="ltGray">
              <a:xfrm rot="-5400000">
                <a:off x="5084"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6" name="Freeform 22"/>
              <p:cNvSpPr>
                <a:spLocks/>
              </p:cNvSpPr>
              <p:nvPr/>
            </p:nvSpPr>
            <p:spPr bwMode="ltGray">
              <a:xfrm rot="-5400000">
                <a:off x="4797"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grpSp>
        <p:sp>
          <p:nvSpPr>
            <p:cNvPr id="6" name="Freeform 23"/>
            <p:cNvSpPr>
              <a:spLocks/>
            </p:cNvSpPr>
            <p:nvPr/>
          </p:nvSpPr>
          <p:spPr bwMode="ltGray">
            <a:xfrm flipH="1">
              <a:off x="-2" y="1536"/>
              <a:ext cx="5762" cy="412"/>
            </a:xfrm>
            <a:custGeom>
              <a:avLst/>
              <a:gdLst>
                <a:gd name="T0" fmla="*/ 0 w 5762"/>
                <a:gd name="T1" fmla="*/ 210 h 385"/>
                <a:gd name="T2" fmla="*/ 5762 w 5762"/>
                <a:gd name="T3" fmla="*/ 201 h 385"/>
                <a:gd name="T4" fmla="*/ 5762 w 5762"/>
                <a:gd name="T5" fmla="*/ 4 h 385"/>
                <a:gd name="T6" fmla="*/ 0 w 5762"/>
                <a:gd name="T7" fmla="*/ 0 h 385"/>
                <a:gd name="T8" fmla="*/ 0 w 5762"/>
                <a:gd name="T9" fmla="*/ 210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solidFill>
                  <a:srgbClr val="000000"/>
                </a:solidFill>
              </a:endParaRPr>
            </a:p>
          </p:txBody>
        </p:sp>
        <p:sp>
          <p:nvSpPr>
            <p:cNvPr id="7"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solidFill>
                  <a:srgbClr val="000000"/>
                </a:solidFill>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27" name="Rectangle 27"/>
          <p:cNvSpPr>
            <a:spLocks noGrp="1" noChangeArrowheads="1"/>
          </p:cNvSpPr>
          <p:nvPr>
            <p:ph type="dt" sz="half" idx="10"/>
          </p:nvPr>
        </p:nvSpPr>
        <p:spPr>
          <a:xfrm>
            <a:off x="1166813" y="6248400"/>
            <a:ext cx="1905000" cy="457200"/>
          </a:xfrm>
        </p:spPr>
        <p:txBody>
          <a:bodyPr/>
          <a:lstStyle>
            <a:lvl1pPr>
              <a:defRPr>
                <a:solidFill>
                  <a:srgbClr val="000000"/>
                </a:solidFill>
              </a:defRPr>
            </a:lvl1pPr>
          </a:lstStyle>
          <a:p>
            <a:pPr>
              <a:defRPr/>
            </a:pPr>
            <a:endParaRPr lang="en-US" dirty="0"/>
          </a:p>
        </p:txBody>
      </p:sp>
      <p:sp>
        <p:nvSpPr>
          <p:cNvPr id="28" name="Rectangle 28"/>
          <p:cNvSpPr>
            <a:spLocks noGrp="1" noChangeArrowheads="1"/>
          </p:cNvSpPr>
          <p:nvPr>
            <p:ph type="ftr" sz="quarter" idx="11"/>
          </p:nvPr>
        </p:nvSpPr>
        <p:spPr/>
        <p:txBody>
          <a:bodyPr/>
          <a:lstStyle>
            <a:lvl1pPr>
              <a:defRPr>
                <a:solidFill>
                  <a:srgbClr val="000000"/>
                </a:solidFill>
              </a:defRPr>
            </a:lvl1pPr>
          </a:lstStyle>
          <a:p>
            <a:pPr>
              <a:defRPr/>
            </a:pPr>
            <a:endParaRPr lang="en-US" dirty="0"/>
          </a:p>
        </p:txBody>
      </p:sp>
      <p:sp>
        <p:nvSpPr>
          <p:cNvPr id="29" name="Rectangle 29"/>
          <p:cNvSpPr>
            <a:spLocks noGrp="1" noChangeArrowheads="1"/>
          </p:cNvSpPr>
          <p:nvPr>
            <p:ph type="sldNum" sz="quarter" idx="12"/>
          </p:nvPr>
        </p:nvSpPr>
        <p:spPr/>
        <p:txBody>
          <a:bodyPr/>
          <a:lstStyle>
            <a:lvl1pPr>
              <a:defRPr>
                <a:solidFill>
                  <a:srgbClr val="000000"/>
                </a:solidFill>
              </a:defRPr>
            </a:lvl1pPr>
          </a:lstStyle>
          <a:p>
            <a:pPr>
              <a:defRPr/>
            </a:pPr>
            <a:fld id="{8B2BD1F4-E424-42A3-B945-217E93FF70A4}" type="slidenum">
              <a:rPr lang="en-US"/>
              <a:pPr>
                <a:defRPr/>
              </a:pPr>
              <a:t>‹#›</a:t>
            </a:fld>
            <a:endParaRPr lang="en-US" dirty="0"/>
          </a:p>
        </p:txBody>
      </p:sp>
    </p:spTree>
    <p:extLst>
      <p:ext uri="{BB962C8B-B14F-4D97-AF65-F5344CB8AC3E}">
        <p14:creationId xmlns:p14="http://schemas.microsoft.com/office/powerpoint/2010/main" val="3708005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dirty="0"/>
          </a:p>
        </p:txBody>
      </p:sp>
      <p:sp>
        <p:nvSpPr>
          <p:cNvPr id="5"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29"/>
          <p:cNvSpPr>
            <a:spLocks noGrp="1" noChangeArrowheads="1"/>
          </p:cNvSpPr>
          <p:nvPr>
            <p:ph type="sldNum" sz="quarter" idx="12"/>
          </p:nvPr>
        </p:nvSpPr>
        <p:spPr>
          <a:ln/>
        </p:spPr>
        <p:txBody>
          <a:bodyPr/>
          <a:lstStyle>
            <a:lvl1pPr>
              <a:defRPr/>
            </a:lvl1pPr>
          </a:lstStyle>
          <a:p>
            <a:pPr>
              <a:defRPr/>
            </a:pPr>
            <a:fld id="{1D75F301-EDCB-4BD9-9698-56ABF50BECEE}" type="slidenum">
              <a:rPr lang="en-US"/>
              <a:pPr>
                <a:defRPr/>
              </a:pPr>
              <a:t>‹#›</a:t>
            </a:fld>
            <a:endParaRPr lang="en-US" dirty="0"/>
          </a:p>
        </p:txBody>
      </p:sp>
    </p:spTree>
    <p:extLst>
      <p:ext uri="{BB962C8B-B14F-4D97-AF65-F5344CB8AC3E}">
        <p14:creationId xmlns:p14="http://schemas.microsoft.com/office/powerpoint/2010/main" val="3540031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7"/>
          <p:cNvSpPr>
            <a:spLocks noGrp="1" noChangeArrowheads="1"/>
          </p:cNvSpPr>
          <p:nvPr>
            <p:ph type="dt" sz="half" idx="10"/>
          </p:nvPr>
        </p:nvSpPr>
        <p:spPr>
          <a:ln/>
        </p:spPr>
        <p:txBody>
          <a:bodyPr/>
          <a:lstStyle>
            <a:lvl1pPr>
              <a:defRPr/>
            </a:lvl1pPr>
          </a:lstStyle>
          <a:p>
            <a:pPr>
              <a:defRPr/>
            </a:pPr>
            <a:endParaRPr lang="en-US" dirty="0"/>
          </a:p>
        </p:txBody>
      </p:sp>
      <p:sp>
        <p:nvSpPr>
          <p:cNvPr id="5"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29"/>
          <p:cNvSpPr>
            <a:spLocks noGrp="1" noChangeArrowheads="1"/>
          </p:cNvSpPr>
          <p:nvPr>
            <p:ph type="sldNum" sz="quarter" idx="12"/>
          </p:nvPr>
        </p:nvSpPr>
        <p:spPr>
          <a:ln/>
        </p:spPr>
        <p:txBody>
          <a:bodyPr/>
          <a:lstStyle>
            <a:lvl1pPr>
              <a:defRPr/>
            </a:lvl1pPr>
          </a:lstStyle>
          <a:p>
            <a:pPr>
              <a:defRPr/>
            </a:pPr>
            <a:fld id="{6667F35D-7228-40A3-996D-E4DF2A678433}" type="slidenum">
              <a:rPr lang="en-US"/>
              <a:pPr>
                <a:defRPr/>
              </a:pPr>
              <a:t>‹#›</a:t>
            </a:fld>
            <a:endParaRPr lang="en-US" dirty="0"/>
          </a:p>
        </p:txBody>
      </p:sp>
    </p:spTree>
    <p:extLst>
      <p:ext uri="{BB962C8B-B14F-4D97-AF65-F5344CB8AC3E}">
        <p14:creationId xmlns:p14="http://schemas.microsoft.com/office/powerpoint/2010/main" val="2300986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dirty="0"/>
          </a:p>
        </p:txBody>
      </p:sp>
      <p:sp>
        <p:nvSpPr>
          <p:cNvPr id="6"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29"/>
          <p:cNvSpPr>
            <a:spLocks noGrp="1" noChangeArrowheads="1"/>
          </p:cNvSpPr>
          <p:nvPr>
            <p:ph type="sldNum" sz="quarter" idx="12"/>
          </p:nvPr>
        </p:nvSpPr>
        <p:spPr>
          <a:ln/>
        </p:spPr>
        <p:txBody>
          <a:bodyPr/>
          <a:lstStyle>
            <a:lvl1pPr>
              <a:defRPr/>
            </a:lvl1pPr>
          </a:lstStyle>
          <a:p>
            <a:pPr>
              <a:defRPr/>
            </a:pPr>
            <a:fld id="{650C38D6-2D0B-4050-BA63-50E50CEBCB03}" type="slidenum">
              <a:rPr lang="en-US"/>
              <a:pPr>
                <a:defRPr/>
              </a:pPr>
              <a:t>‹#›</a:t>
            </a:fld>
            <a:endParaRPr lang="en-US" dirty="0"/>
          </a:p>
        </p:txBody>
      </p:sp>
    </p:spTree>
    <p:extLst>
      <p:ext uri="{BB962C8B-B14F-4D97-AF65-F5344CB8AC3E}">
        <p14:creationId xmlns:p14="http://schemas.microsoft.com/office/powerpoint/2010/main" val="2099198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dirty="0"/>
          </a:p>
        </p:txBody>
      </p:sp>
      <p:sp>
        <p:nvSpPr>
          <p:cNvPr id="8"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29"/>
          <p:cNvSpPr>
            <a:spLocks noGrp="1" noChangeArrowheads="1"/>
          </p:cNvSpPr>
          <p:nvPr>
            <p:ph type="sldNum" sz="quarter" idx="12"/>
          </p:nvPr>
        </p:nvSpPr>
        <p:spPr>
          <a:ln/>
        </p:spPr>
        <p:txBody>
          <a:bodyPr/>
          <a:lstStyle>
            <a:lvl1pPr>
              <a:defRPr/>
            </a:lvl1pPr>
          </a:lstStyle>
          <a:p>
            <a:pPr>
              <a:defRPr/>
            </a:pPr>
            <a:fld id="{1A6C0ED4-5B28-43CB-9F18-44C0F6FCA9E2}" type="slidenum">
              <a:rPr lang="en-US"/>
              <a:pPr>
                <a:defRPr/>
              </a:pPr>
              <a:t>‹#›</a:t>
            </a:fld>
            <a:endParaRPr lang="en-US" dirty="0"/>
          </a:p>
        </p:txBody>
      </p:sp>
    </p:spTree>
    <p:extLst>
      <p:ext uri="{BB962C8B-B14F-4D97-AF65-F5344CB8AC3E}">
        <p14:creationId xmlns:p14="http://schemas.microsoft.com/office/powerpoint/2010/main" val="3063727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7"/>
          <p:cNvSpPr>
            <a:spLocks noGrp="1" noChangeArrowheads="1"/>
          </p:cNvSpPr>
          <p:nvPr>
            <p:ph type="dt" sz="half" idx="10"/>
          </p:nvPr>
        </p:nvSpPr>
        <p:spPr>
          <a:ln/>
        </p:spPr>
        <p:txBody>
          <a:bodyPr/>
          <a:lstStyle>
            <a:lvl1pPr>
              <a:defRPr/>
            </a:lvl1pPr>
          </a:lstStyle>
          <a:p>
            <a:pPr>
              <a:defRPr/>
            </a:pPr>
            <a:endParaRPr lang="en-US" dirty="0"/>
          </a:p>
        </p:txBody>
      </p:sp>
      <p:sp>
        <p:nvSpPr>
          <p:cNvPr id="4"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29"/>
          <p:cNvSpPr>
            <a:spLocks noGrp="1" noChangeArrowheads="1"/>
          </p:cNvSpPr>
          <p:nvPr>
            <p:ph type="sldNum" sz="quarter" idx="12"/>
          </p:nvPr>
        </p:nvSpPr>
        <p:spPr>
          <a:ln/>
        </p:spPr>
        <p:txBody>
          <a:bodyPr/>
          <a:lstStyle>
            <a:lvl1pPr>
              <a:defRPr/>
            </a:lvl1pPr>
          </a:lstStyle>
          <a:p>
            <a:pPr>
              <a:defRPr/>
            </a:pPr>
            <a:fld id="{0E3BE630-1277-4D2E-B89C-10C3ED41CA0A}" type="slidenum">
              <a:rPr lang="en-US"/>
              <a:pPr>
                <a:defRPr/>
              </a:pPr>
              <a:t>‹#›</a:t>
            </a:fld>
            <a:endParaRPr lang="en-US" dirty="0"/>
          </a:p>
        </p:txBody>
      </p:sp>
    </p:spTree>
    <p:extLst>
      <p:ext uri="{BB962C8B-B14F-4D97-AF65-F5344CB8AC3E}">
        <p14:creationId xmlns:p14="http://schemas.microsoft.com/office/powerpoint/2010/main" val="1999066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a:ln/>
        </p:spPr>
        <p:txBody>
          <a:bodyPr/>
          <a:lstStyle>
            <a:lvl1pPr>
              <a:defRPr/>
            </a:lvl1pPr>
          </a:lstStyle>
          <a:p>
            <a:pPr>
              <a:defRPr/>
            </a:pPr>
            <a:endParaRPr lang="en-US" dirty="0"/>
          </a:p>
        </p:txBody>
      </p:sp>
      <p:sp>
        <p:nvSpPr>
          <p:cNvPr id="3"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29"/>
          <p:cNvSpPr>
            <a:spLocks noGrp="1" noChangeArrowheads="1"/>
          </p:cNvSpPr>
          <p:nvPr>
            <p:ph type="sldNum" sz="quarter" idx="12"/>
          </p:nvPr>
        </p:nvSpPr>
        <p:spPr>
          <a:ln/>
        </p:spPr>
        <p:txBody>
          <a:bodyPr/>
          <a:lstStyle>
            <a:lvl1pPr>
              <a:defRPr/>
            </a:lvl1pPr>
          </a:lstStyle>
          <a:p>
            <a:pPr>
              <a:defRPr/>
            </a:pPr>
            <a:fld id="{989EB8E3-8BC4-4D72-A1AA-0860C55B0721}" type="slidenum">
              <a:rPr lang="en-US"/>
              <a:pPr>
                <a:defRPr/>
              </a:pPr>
              <a:t>‹#›</a:t>
            </a:fld>
            <a:endParaRPr lang="en-US" dirty="0"/>
          </a:p>
        </p:txBody>
      </p:sp>
    </p:spTree>
    <p:extLst>
      <p:ext uri="{BB962C8B-B14F-4D97-AF65-F5344CB8AC3E}">
        <p14:creationId xmlns:p14="http://schemas.microsoft.com/office/powerpoint/2010/main" val="4243574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dirty="0"/>
          </a:p>
        </p:txBody>
      </p:sp>
      <p:sp>
        <p:nvSpPr>
          <p:cNvPr id="6"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29"/>
          <p:cNvSpPr>
            <a:spLocks noGrp="1" noChangeArrowheads="1"/>
          </p:cNvSpPr>
          <p:nvPr>
            <p:ph type="sldNum" sz="quarter" idx="12"/>
          </p:nvPr>
        </p:nvSpPr>
        <p:spPr>
          <a:ln/>
        </p:spPr>
        <p:txBody>
          <a:bodyPr/>
          <a:lstStyle>
            <a:lvl1pPr>
              <a:defRPr/>
            </a:lvl1pPr>
          </a:lstStyle>
          <a:p>
            <a:pPr>
              <a:defRPr/>
            </a:pPr>
            <a:fld id="{CA74F7DB-1450-4CBA-8C39-1E1A90922167}" type="slidenum">
              <a:rPr lang="en-US"/>
              <a:pPr>
                <a:defRPr/>
              </a:pPr>
              <a:t>‹#›</a:t>
            </a:fld>
            <a:endParaRPr lang="en-US" dirty="0"/>
          </a:p>
        </p:txBody>
      </p:sp>
    </p:spTree>
    <p:extLst>
      <p:ext uri="{BB962C8B-B14F-4D97-AF65-F5344CB8AC3E}">
        <p14:creationId xmlns:p14="http://schemas.microsoft.com/office/powerpoint/2010/main" val="1830030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dirty="0"/>
          </a:p>
        </p:txBody>
      </p:sp>
      <p:sp>
        <p:nvSpPr>
          <p:cNvPr id="6"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29"/>
          <p:cNvSpPr>
            <a:spLocks noGrp="1" noChangeArrowheads="1"/>
          </p:cNvSpPr>
          <p:nvPr>
            <p:ph type="sldNum" sz="quarter" idx="12"/>
          </p:nvPr>
        </p:nvSpPr>
        <p:spPr>
          <a:ln/>
        </p:spPr>
        <p:txBody>
          <a:bodyPr/>
          <a:lstStyle>
            <a:lvl1pPr>
              <a:defRPr/>
            </a:lvl1pPr>
          </a:lstStyle>
          <a:p>
            <a:pPr>
              <a:defRPr/>
            </a:pPr>
            <a:fld id="{3D818030-9537-447F-8F66-C9A84BC016B9}" type="slidenum">
              <a:rPr lang="en-US"/>
              <a:pPr>
                <a:defRPr/>
              </a:pPr>
              <a:t>‹#›</a:t>
            </a:fld>
            <a:endParaRPr lang="en-US" dirty="0"/>
          </a:p>
        </p:txBody>
      </p:sp>
    </p:spTree>
    <p:extLst>
      <p:ext uri="{BB962C8B-B14F-4D97-AF65-F5344CB8AC3E}">
        <p14:creationId xmlns:p14="http://schemas.microsoft.com/office/powerpoint/2010/main" val="2598483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dirty="0"/>
          </a:p>
        </p:txBody>
      </p:sp>
      <p:sp>
        <p:nvSpPr>
          <p:cNvPr id="5"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29"/>
          <p:cNvSpPr>
            <a:spLocks noGrp="1" noChangeArrowheads="1"/>
          </p:cNvSpPr>
          <p:nvPr>
            <p:ph type="sldNum" sz="quarter" idx="12"/>
          </p:nvPr>
        </p:nvSpPr>
        <p:spPr>
          <a:ln/>
        </p:spPr>
        <p:txBody>
          <a:bodyPr/>
          <a:lstStyle>
            <a:lvl1pPr>
              <a:defRPr/>
            </a:lvl1pPr>
          </a:lstStyle>
          <a:p>
            <a:pPr>
              <a:defRPr/>
            </a:pPr>
            <a:fld id="{C7455E96-7F07-4323-AD8A-FB6AF12C0375}" type="slidenum">
              <a:rPr lang="en-US"/>
              <a:pPr>
                <a:defRPr/>
              </a:pPr>
              <a:t>‹#›</a:t>
            </a:fld>
            <a:endParaRPr lang="en-US" dirty="0"/>
          </a:p>
        </p:txBody>
      </p:sp>
    </p:spTree>
    <p:extLst>
      <p:ext uri="{BB962C8B-B14F-4D97-AF65-F5344CB8AC3E}">
        <p14:creationId xmlns:p14="http://schemas.microsoft.com/office/powerpoint/2010/main" val="3354899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dirty="0"/>
          </a:p>
        </p:txBody>
      </p:sp>
      <p:sp>
        <p:nvSpPr>
          <p:cNvPr id="5"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29"/>
          <p:cNvSpPr>
            <a:spLocks noGrp="1" noChangeArrowheads="1"/>
          </p:cNvSpPr>
          <p:nvPr>
            <p:ph type="sldNum" sz="quarter" idx="12"/>
          </p:nvPr>
        </p:nvSpPr>
        <p:spPr>
          <a:ln/>
        </p:spPr>
        <p:txBody>
          <a:bodyPr/>
          <a:lstStyle>
            <a:lvl1pPr>
              <a:defRPr/>
            </a:lvl1pPr>
          </a:lstStyle>
          <a:p>
            <a:pPr>
              <a:defRPr/>
            </a:pPr>
            <a:fld id="{9B21A8B6-01C7-4E3F-BA9C-CA2ECDFAEA74}" type="slidenum">
              <a:rPr lang="en-US"/>
              <a:pPr>
                <a:defRPr/>
              </a:pPr>
              <a:t>‹#›</a:t>
            </a:fld>
            <a:endParaRPr lang="en-US" dirty="0"/>
          </a:p>
        </p:txBody>
      </p:sp>
    </p:spTree>
    <p:extLst>
      <p:ext uri="{BB962C8B-B14F-4D97-AF65-F5344CB8AC3E}">
        <p14:creationId xmlns:p14="http://schemas.microsoft.com/office/powerpoint/2010/main" val="3289687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dirty="0"/>
          </a:p>
        </p:txBody>
      </p:sp>
      <p:sp>
        <p:nvSpPr>
          <p:cNvPr id="6"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29"/>
          <p:cNvSpPr>
            <a:spLocks noGrp="1" noChangeArrowheads="1"/>
          </p:cNvSpPr>
          <p:nvPr>
            <p:ph type="sldNum" sz="quarter" idx="12"/>
          </p:nvPr>
        </p:nvSpPr>
        <p:spPr>
          <a:ln/>
        </p:spPr>
        <p:txBody>
          <a:bodyPr/>
          <a:lstStyle>
            <a:lvl1pPr>
              <a:defRPr/>
            </a:lvl1pPr>
          </a:lstStyle>
          <a:p>
            <a:pPr>
              <a:defRPr/>
            </a:pPr>
            <a:fld id="{D6C46936-761E-4CD3-9821-5E4E0EFE33DD}" type="slidenum">
              <a:rPr lang="en-US"/>
              <a:pPr>
                <a:defRPr/>
              </a:pPr>
              <a:t>‹#›</a:t>
            </a:fld>
            <a:endParaRPr lang="en-US" dirty="0"/>
          </a:p>
        </p:txBody>
      </p:sp>
    </p:spTree>
    <p:extLst>
      <p:ext uri="{BB962C8B-B14F-4D97-AF65-F5344CB8AC3E}">
        <p14:creationId xmlns:p14="http://schemas.microsoft.com/office/powerpoint/2010/main" val="4653324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dirty="0"/>
          </a:p>
        </p:txBody>
      </p:sp>
      <p:sp>
        <p:nvSpPr>
          <p:cNvPr id="8"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29"/>
          <p:cNvSpPr>
            <a:spLocks noGrp="1" noChangeArrowheads="1"/>
          </p:cNvSpPr>
          <p:nvPr>
            <p:ph type="sldNum" sz="quarter" idx="12"/>
          </p:nvPr>
        </p:nvSpPr>
        <p:spPr>
          <a:ln/>
        </p:spPr>
        <p:txBody>
          <a:bodyPr/>
          <a:lstStyle>
            <a:lvl1pPr>
              <a:defRPr/>
            </a:lvl1pPr>
          </a:lstStyle>
          <a:p>
            <a:pPr>
              <a:defRPr/>
            </a:pPr>
            <a:fld id="{B383EA38-ADEA-4E50-A82C-56C648E5C8E1}" type="slidenum">
              <a:rPr lang="en-US"/>
              <a:pPr>
                <a:defRPr/>
              </a:pPr>
              <a:t>‹#›</a:t>
            </a:fld>
            <a:endParaRPr lang="en-US" dirty="0"/>
          </a:p>
        </p:txBody>
      </p:sp>
    </p:spTree>
    <p:extLst>
      <p:ext uri="{BB962C8B-B14F-4D97-AF65-F5344CB8AC3E}">
        <p14:creationId xmlns:p14="http://schemas.microsoft.com/office/powerpoint/2010/main" val="3849688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dirty="0">
              <a:solidFill>
                <a:srgbClr val="000000"/>
              </a:solidFill>
              <a:latin typeface="Times New Roman" panose="02020603050405020304" pitchFamily="18" charset="0"/>
            </a:endParaRPr>
          </a:p>
        </p:txBody>
      </p:sp>
      <p:sp>
        <p:nvSpPr>
          <p:cNvPr id="2051"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52"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solidFill>
                  <a:srgbClr val="000000"/>
                </a:solidFill>
                <a:latin typeface="+mn-lt"/>
              </a:defRPr>
            </a:lvl1pPr>
          </a:lstStyle>
          <a:p>
            <a:pPr>
              <a:defRPr/>
            </a:pPr>
            <a:endParaRPr lang="en-US" dirty="0"/>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solidFill>
                  <a:srgbClr val="000000"/>
                </a:solidFill>
                <a:latin typeface="+mn-lt"/>
              </a:defRPr>
            </a:lvl1pPr>
          </a:lstStyle>
          <a:p>
            <a:pPr>
              <a:defRPr/>
            </a:pPr>
            <a:endParaRPr lang="en-US" dirty="0"/>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solidFill>
                  <a:srgbClr val="000000"/>
                </a:solidFill>
                <a:latin typeface="+mn-lt"/>
              </a:defRPr>
            </a:lvl1pPr>
          </a:lstStyle>
          <a:p>
            <a:pPr>
              <a:defRPr/>
            </a:pPr>
            <a:fld id="{F09C266B-C234-4306-899E-1A60CEFAF4E8}" type="slidenum">
              <a:rPr lang="en-US"/>
              <a:pPr>
                <a:defRPr/>
              </a:pPr>
              <a:t>‹#›</a:t>
            </a:fld>
            <a:endParaRPr lang="en-US" dirty="0"/>
          </a:p>
        </p:txBody>
      </p:sp>
      <p:sp>
        <p:nvSpPr>
          <p:cNvPr id="2056"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dirty="0">
              <a:solidFill>
                <a:srgbClr val="000000"/>
              </a:solidFill>
              <a:latin typeface="Times New Roman" panose="02020603050405020304" pitchFamily="18" charset="0"/>
            </a:endParaRPr>
          </a:p>
        </p:txBody>
      </p:sp>
      <p:sp>
        <p:nvSpPr>
          <p:cNvPr id="2057"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4875505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Person writing on a notepad">
            <a:extLst>
              <a:ext uri="{FF2B5EF4-FFF2-40B4-BE49-F238E27FC236}">
                <a16:creationId xmlns:a16="http://schemas.microsoft.com/office/drawing/2014/main" id="{B3C6B192-985F-15E7-36EE-AD8BC9705AC4}"/>
              </a:ext>
            </a:extLst>
          </p:cNvPr>
          <p:cNvPicPr>
            <a:picLocks noChangeAspect="1"/>
          </p:cNvPicPr>
          <p:nvPr/>
        </p:nvPicPr>
        <p:blipFill>
          <a:blip r:embed="rId2">
            <a:alphaModFix amt="50000"/>
          </a:blip>
          <a:srcRect t="2670" r="-1" b="2669"/>
          <a:stretch/>
        </p:blipFill>
        <p:spPr>
          <a:xfrm>
            <a:off x="20" y="10"/>
            <a:ext cx="9141693" cy="6857990"/>
          </a:xfrm>
          <a:prstGeom prst="rect">
            <a:avLst/>
          </a:prstGeom>
        </p:spPr>
      </p:pic>
      <p:sp>
        <p:nvSpPr>
          <p:cNvPr id="4" name="Title 3"/>
          <p:cNvSpPr>
            <a:spLocks noGrp="1"/>
          </p:cNvSpPr>
          <p:nvPr>
            <p:ph type="title"/>
          </p:nvPr>
        </p:nvSpPr>
        <p:spPr>
          <a:xfrm>
            <a:off x="1145286" y="1124712"/>
            <a:ext cx="6858000" cy="3063240"/>
          </a:xfrm>
        </p:spPr>
        <p:txBody>
          <a:bodyPr vert="horz" lIns="91440" tIns="45720" rIns="91440" bIns="45720" rtlCol="0" anchor="b">
            <a:normAutofit/>
          </a:bodyPr>
          <a:lstStyle/>
          <a:p>
            <a:pPr algn="ctr">
              <a:lnSpc>
                <a:spcPct val="90000"/>
              </a:lnSpc>
            </a:pPr>
            <a:r>
              <a:rPr lang="en-US" sz="5700">
                <a:solidFill>
                  <a:schemeClr val="bg1"/>
                </a:solidFill>
              </a:rPr>
              <a:t>Agile Software Development</a:t>
            </a:r>
          </a:p>
        </p:txBody>
      </p:sp>
      <p:sp>
        <p:nvSpPr>
          <p:cNvPr id="27" name="sketchy line">
            <a:extLst>
              <a:ext uri="{FF2B5EF4-FFF2-40B4-BE49-F238E27FC236}">
                <a16:creationId xmlns:a16="http://schemas.microsoft.com/office/drawing/2014/main" id="{DEF0EFD6-A3C2-4C94-A80A-BA9709D99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3528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FA4035B-3A0D-CD91-AEF9-56734ADCA2DD}"/>
              </a:ext>
            </a:extLst>
          </p:cNvPr>
          <p:cNvSpPr>
            <a:spLocks noGrp="1"/>
          </p:cNvSpPr>
          <p:nvPr>
            <p:ph type="title"/>
          </p:nvPr>
        </p:nvSpPr>
        <p:spPr>
          <a:xfrm>
            <a:off x="628650" y="365125"/>
            <a:ext cx="7886700" cy="1325563"/>
          </a:xfrm>
        </p:spPr>
        <p:txBody>
          <a:bodyPr>
            <a:normAutofit/>
          </a:bodyPr>
          <a:lstStyle/>
          <a:p>
            <a:r>
              <a:rPr lang="en-US" sz="4700"/>
              <a:t>Agile Methods</a:t>
            </a:r>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13E44B18-1836-F798-4320-3B983046B4BE}"/>
              </a:ext>
            </a:extLst>
          </p:cNvPr>
          <p:cNvSpPr>
            <a:spLocks noGrp="1"/>
          </p:cNvSpPr>
          <p:nvPr>
            <p:ph idx="1"/>
          </p:nvPr>
        </p:nvSpPr>
        <p:spPr>
          <a:xfrm>
            <a:off x="628650" y="1929384"/>
            <a:ext cx="7886700" cy="4251960"/>
          </a:xfrm>
        </p:spPr>
        <p:txBody>
          <a:bodyPr>
            <a:normAutofit/>
          </a:bodyPr>
          <a:lstStyle/>
          <a:p>
            <a:r>
              <a:rPr lang="en-US" sz="1900" dirty="0"/>
              <a:t>In the 1980s and early 1990s, there was a widespread view that the best way to achieve better software was through careful project planning, formalized quality assurance, the use of analysis and design methods supported by CASE tools and controlled and rigorous software development processes. This view came from the software engineering community that was responsible for developing large, long-lived software systems such as aerospace and government systems.</a:t>
            </a:r>
          </a:p>
        </p:txBody>
      </p:sp>
    </p:spTree>
    <p:extLst>
      <p:ext uri="{BB962C8B-B14F-4D97-AF65-F5344CB8AC3E}">
        <p14:creationId xmlns:p14="http://schemas.microsoft.com/office/powerpoint/2010/main" val="1323126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Agile methods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US" sz="1900"/>
              <a:t>Dissatisfaction with the overheads involved in software design methods of the 1980s and 1990s led to the creation of agile methods. These methods:</a:t>
            </a:r>
          </a:p>
          <a:p>
            <a:pPr lvl="1">
              <a:buFont typeface="Wingdings" panose="05000000000000000000" pitchFamily="2" charset="2"/>
              <a:buChar char="q"/>
            </a:pPr>
            <a:r>
              <a:rPr lang="en-US" sz="1900"/>
              <a:t>Focus on the code rather than the design</a:t>
            </a:r>
          </a:p>
          <a:p>
            <a:pPr lvl="1">
              <a:buFont typeface="Wingdings" panose="05000000000000000000" pitchFamily="2" charset="2"/>
              <a:buChar char="q"/>
            </a:pPr>
            <a:r>
              <a:rPr lang="en-US" sz="1900"/>
              <a:t>Are based on an iterative approach to software development</a:t>
            </a:r>
          </a:p>
          <a:p>
            <a:pPr lvl="1">
              <a:buFont typeface="Wingdings" panose="05000000000000000000" pitchFamily="2" charset="2"/>
              <a:buChar char="q"/>
            </a:pPr>
            <a:r>
              <a:rPr lang="en-US" sz="1900"/>
              <a:t>Are intended to deliver working software quickly and evolve this quickly to meet changing requirements.</a:t>
            </a:r>
          </a:p>
          <a:p>
            <a:pPr>
              <a:buFont typeface="Wingdings" panose="05000000000000000000" pitchFamily="2" charset="2"/>
              <a:buChar char="q"/>
            </a:pPr>
            <a:r>
              <a:rPr lang="en-US" sz="1900"/>
              <a:t>The aim of agile methods is to reduce overheads in the software process (e.g. by limiting documentation) and to be able to respond quickly to changing requirements without excessive rework.</a:t>
            </a:r>
          </a:p>
          <a:p>
            <a:pPr>
              <a:buFont typeface="Wingdings" panose="05000000000000000000" pitchFamily="2" charset="2"/>
              <a:buChar char="q"/>
            </a:pPr>
            <a:endParaRPr lang="en-US" sz="1900"/>
          </a:p>
        </p:txBody>
      </p:sp>
    </p:spTree>
    <p:extLst>
      <p:ext uri="{BB962C8B-B14F-4D97-AF65-F5344CB8AC3E}">
        <p14:creationId xmlns:p14="http://schemas.microsoft.com/office/powerpoint/2010/main" val="1320791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pPr>
              <a:lnSpc>
                <a:spcPct val="90000"/>
              </a:lnSpc>
            </a:pPr>
            <a:r>
              <a:rPr lang="en-US" sz="4300"/>
              <a:t>Agile manifesto</a:t>
            </a:r>
            <a:br>
              <a:rPr lang="en-US" sz="4300"/>
            </a:br>
            <a:r>
              <a:rPr lang="en-US" sz="4300"/>
              <a:t>(strategy/platform)</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US" sz="2400" i="1" dirty="0"/>
              <a:t>We are finding better ways of developing software by doing it and helping others do it. Through this work we have come to value:</a:t>
            </a:r>
            <a:endParaRPr lang="en-GB" sz="2400" dirty="0"/>
          </a:p>
          <a:p>
            <a:pPr lvl="1">
              <a:buFont typeface="Wingdings" panose="05000000000000000000" pitchFamily="2" charset="2"/>
              <a:buChar char="q"/>
            </a:pPr>
            <a:r>
              <a:rPr lang="en-US" sz="2400" b="1" i="1" dirty="0"/>
              <a:t>Individuals and interactions </a:t>
            </a:r>
            <a:r>
              <a:rPr lang="en-US" sz="2400" i="1" dirty="0"/>
              <a:t>over processes</a:t>
            </a:r>
          </a:p>
          <a:p>
            <a:pPr lvl="1">
              <a:buFont typeface="Wingdings" panose="05000000000000000000" pitchFamily="2" charset="2"/>
              <a:buChar char="q"/>
            </a:pPr>
            <a:r>
              <a:rPr lang="en-US" sz="2400" b="1" i="1" dirty="0"/>
              <a:t>Working software</a:t>
            </a:r>
            <a:r>
              <a:rPr lang="en-US" sz="2400" i="1" dirty="0"/>
              <a:t> over comprehensive documentation </a:t>
            </a:r>
          </a:p>
          <a:p>
            <a:pPr lvl="1">
              <a:buFont typeface="Wingdings" panose="05000000000000000000" pitchFamily="2" charset="2"/>
              <a:buChar char="q"/>
            </a:pPr>
            <a:r>
              <a:rPr lang="en-US" sz="2400" b="1" i="1" dirty="0"/>
              <a:t>Customer collaboration</a:t>
            </a:r>
            <a:r>
              <a:rPr lang="en-US" sz="2400" i="1" dirty="0"/>
              <a:t> over contract negotiation </a:t>
            </a:r>
          </a:p>
          <a:p>
            <a:pPr lvl="1">
              <a:buFont typeface="Wingdings" panose="05000000000000000000" pitchFamily="2" charset="2"/>
              <a:buChar char="q"/>
            </a:pPr>
            <a:r>
              <a:rPr lang="en-US" sz="2400" b="1" i="1" dirty="0"/>
              <a:t>Responding to change</a:t>
            </a:r>
            <a:r>
              <a:rPr lang="en-US" sz="2400" i="1" dirty="0"/>
              <a:t> over following a plan </a:t>
            </a:r>
            <a:endParaRPr lang="en-GB" sz="2400" dirty="0"/>
          </a:p>
          <a:p>
            <a:pPr>
              <a:buFont typeface="Wingdings" panose="05000000000000000000" pitchFamily="2" charset="2"/>
              <a:buChar char="q"/>
            </a:pPr>
            <a:endParaRPr lang="en-US" sz="1900" dirty="0"/>
          </a:p>
        </p:txBody>
      </p:sp>
    </p:spTree>
    <p:extLst>
      <p:ext uri="{BB962C8B-B14F-4D97-AF65-F5344CB8AC3E}">
        <p14:creationId xmlns:p14="http://schemas.microsoft.com/office/powerpoint/2010/main" val="658971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Rapid software development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US" sz="1900"/>
              <a:t>Rapid development and delivery is now often the most important requirement for software systems</a:t>
            </a:r>
          </a:p>
          <a:p>
            <a:pPr lvl="1">
              <a:buFont typeface="Wingdings" panose="05000000000000000000" pitchFamily="2" charset="2"/>
              <a:buChar char="q"/>
            </a:pPr>
            <a:r>
              <a:rPr lang="en-US" sz="1900"/>
              <a:t>Businesses operate in a fast –changing requirement and it is practically impossible to produce a set of stable software requirements</a:t>
            </a:r>
          </a:p>
          <a:p>
            <a:pPr lvl="1">
              <a:buFont typeface="Wingdings" panose="05000000000000000000" pitchFamily="2" charset="2"/>
              <a:buChar char="q"/>
            </a:pPr>
            <a:r>
              <a:rPr lang="en-US" sz="1900"/>
              <a:t>Software has to evolve quickly to reflect changing business needs.</a:t>
            </a:r>
          </a:p>
          <a:p>
            <a:pPr>
              <a:buFont typeface="Wingdings" panose="05000000000000000000" pitchFamily="2" charset="2"/>
              <a:buChar char="q"/>
            </a:pPr>
            <a:r>
              <a:rPr lang="en-US" sz="1900"/>
              <a:t>Rapid software development</a:t>
            </a:r>
          </a:p>
          <a:p>
            <a:pPr lvl="1">
              <a:buFont typeface="Wingdings" panose="05000000000000000000" pitchFamily="2" charset="2"/>
              <a:buChar char="q"/>
            </a:pPr>
            <a:r>
              <a:rPr lang="en-US" sz="1900"/>
              <a:t>Specification, design and implementation are inter-leaved</a:t>
            </a:r>
          </a:p>
          <a:p>
            <a:pPr lvl="1">
              <a:buFont typeface="Wingdings" panose="05000000000000000000" pitchFamily="2" charset="2"/>
              <a:buChar char="q"/>
            </a:pPr>
            <a:r>
              <a:rPr lang="en-US" sz="1900"/>
              <a:t>System is developed as a series of versions with stakeholders involved in version evaluation</a:t>
            </a:r>
          </a:p>
          <a:p>
            <a:pPr lvl="1">
              <a:buFont typeface="Wingdings" panose="05000000000000000000" pitchFamily="2" charset="2"/>
              <a:buChar char="q"/>
            </a:pPr>
            <a:r>
              <a:rPr lang="en-US" sz="1900"/>
              <a:t>User interfaces are often developed using an IDE and graphical toolset.</a:t>
            </a:r>
          </a:p>
          <a:p>
            <a:pPr>
              <a:buFont typeface="Wingdings" panose="05000000000000000000" pitchFamily="2" charset="2"/>
              <a:buChar char="q"/>
            </a:pPr>
            <a:endParaRPr lang="en-US" sz="1900"/>
          </a:p>
        </p:txBody>
      </p:sp>
    </p:spTree>
    <p:extLst>
      <p:ext uri="{BB962C8B-B14F-4D97-AF65-F5344CB8AC3E}">
        <p14:creationId xmlns:p14="http://schemas.microsoft.com/office/powerpoint/2010/main" val="2006376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9160" y="417576"/>
            <a:ext cx="8182230" cy="1249394"/>
          </a:xfrm>
        </p:spPr>
        <p:txBody>
          <a:bodyPr vert="horz" lIns="91440" tIns="45720" rIns="91440" bIns="45720" rtlCol="0" anchor="ctr">
            <a:normAutofit/>
          </a:bodyPr>
          <a:lstStyle/>
          <a:p>
            <a:pPr algn="ctr">
              <a:lnSpc>
                <a:spcPct val="90000"/>
              </a:lnSpc>
            </a:pPr>
            <a:r>
              <a:rPr lang="en-US" sz="4800" kern="1200">
                <a:solidFill>
                  <a:schemeClr val="tx1"/>
                </a:solidFill>
                <a:latin typeface="+mj-lt"/>
                <a:ea typeface="+mj-ea"/>
                <a:cs typeface="+mj-cs"/>
              </a:rPr>
              <a:t>The principles of agile methods </a:t>
            </a:r>
          </a:p>
        </p:txBody>
      </p:sp>
      <p:sp>
        <p:nvSpPr>
          <p:cNvPr id="14"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55776" y="1733454"/>
            <a:ext cx="3429000" cy="18288"/>
          </a:xfrm>
          <a:custGeom>
            <a:avLst/>
            <a:gdLst>
              <a:gd name="connsiteX0" fmla="*/ 0 w 3429000"/>
              <a:gd name="connsiteY0" fmla="*/ 0 h 18288"/>
              <a:gd name="connsiteX1" fmla="*/ 685800 w 3429000"/>
              <a:gd name="connsiteY1" fmla="*/ 0 h 18288"/>
              <a:gd name="connsiteX2" fmla="*/ 1371600 w 3429000"/>
              <a:gd name="connsiteY2" fmla="*/ 0 h 18288"/>
              <a:gd name="connsiteX3" fmla="*/ 2057400 w 3429000"/>
              <a:gd name="connsiteY3" fmla="*/ 0 h 18288"/>
              <a:gd name="connsiteX4" fmla="*/ 2674620 w 3429000"/>
              <a:gd name="connsiteY4" fmla="*/ 0 h 18288"/>
              <a:gd name="connsiteX5" fmla="*/ 3429000 w 3429000"/>
              <a:gd name="connsiteY5" fmla="*/ 0 h 18288"/>
              <a:gd name="connsiteX6" fmla="*/ 3429000 w 3429000"/>
              <a:gd name="connsiteY6" fmla="*/ 18288 h 18288"/>
              <a:gd name="connsiteX7" fmla="*/ 2811780 w 3429000"/>
              <a:gd name="connsiteY7" fmla="*/ 18288 h 18288"/>
              <a:gd name="connsiteX8" fmla="*/ 2228850 w 3429000"/>
              <a:gd name="connsiteY8" fmla="*/ 18288 h 18288"/>
              <a:gd name="connsiteX9" fmla="*/ 1543050 w 3429000"/>
              <a:gd name="connsiteY9" fmla="*/ 18288 h 18288"/>
              <a:gd name="connsiteX10" fmla="*/ 925830 w 3429000"/>
              <a:gd name="connsiteY10" fmla="*/ 18288 h 18288"/>
              <a:gd name="connsiteX11" fmla="*/ 0 w 3429000"/>
              <a:gd name="connsiteY11" fmla="*/ 18288 h 18288"/>
              <a:gd name="connsiteX12" fmla="*/ 0 w 342900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29000" h="18288" fill="none" extrusionOk="0">
                <a:moveTo>
                  <a:pt x="0" y="0"/>
                </a:moveTo>
                <a:cubicBezTo>
                  <a:pt x="219865" y="20479"/>
                  <a:pt x="493281" y="26186"/>
                  <a:pt x="685800" y="0"/>
                </a:cubicBezTo>
                <a:cubicBezTo>
                  <a:pt x="878319" y="-26186"/>
                  <a:pt x="1121382" y="-11869"/>
                  <a:pt x="1371600" y="0"/>
                </a:cubicBezTo>
                <a:cubicBezTo>
                  <a:pt x="1621818" y="11869"/>
                  <a:pt x="1878793" y="32281"/>
                  <a:pt x="2057400" y="0"/>
                </a:cubicBezTo>
                <a:cubicBezTo>
                  <a:pt x="2236007" y="-32281"/>
                  <a:pt x="2433797" y="-18251"/>
                  <a:pt x="2674620" y="0"/>
                </a:cubicBezTo>
                <a:cubicBezTo>
                  <a:pt x="2915443" y="18251"/>
                  <a:pt x="3205923" y="-1443"/>
                  <a:pt x="3429000" y="0"/>
                </a:cubicBezTo>
                <a:cubicBezTo>
                  <a:pt x="3429442" y="4516"/>
                  <a:pt x="3428173" y="12266"/>
                  <a:pt x="3429000" y="18288"/>
                </a:cubicBezTo>
                <a:cubicBezTo>
                  <a:pt x="3221081" y="48608"/>
                  <a:pt x="3088001" y="8066"/>
                  <a:pt x="2811780" y="18288"/>
                </a:cubicBezTo>
                <a:cubicBezTo>
                  <a:pt x="2535559" y="28510"/>
                  <a:pt x="2481355" y="24898"/>
                  <a:pt x="2228850" y="18288"/>
                </a:cubicBezTo>
                <a:cubicBezTo>
                  <a:pt x="1976345" y="11679"/>
                  <a:pt x="1807520" y="48356"/>
                  <a:pt x="1543050" y="18288"/>
                </a:cubicBezTo>
                <a:cubicBezTo>
                  <a:pt x="1278580" y="-11780"/>
                  <a:pt x="1181944" y="5123"/>
                  <a:pt x="925830" y="18288"/>
                </a:cubicBezTo>
                <a:cubicBezTo>
                  <a:pt x="669716" y="31453"/>
                  <a:pt x="410304" y="34815"/>
                  <a:pt x="0" y="18288"/>
                </a:cubicBezTo>
                <a:cubicBezTo>
                  <a:pt x="-306" y="11477"/>
                  <a:pt x="485" y="4355"/>
                  <a:pt x="0" y="0"/>
                </a:cubicBezTo>
                <a:close/>
              </a:path>
              <a:path w="3429000" h="18288" stroke="0" extrusionOk="0">
                <a:moveTo>
                  <a:pt x="0" y="0"/>
                </a:moveTo>
                <a:cubicBezTo>
                  <a:pt x="174095" y="-12874"/>
                  <a:pt x="443087" y="-14090"/>
                  <a:pt x="617220" y="0"/>
                </a:cubicBezTo>
                <a:cubicBezTo>
                  <a:pt x="791353" y="14090"/>
                  <a:pt x="1072677" y="8451"/>
                  <a:pt x="1200150" y="0"/>
                </a:cubicBezTo>
                <a:cubicBezTo>
                  <a:pt x="1327623" y="-8451"/>
                  <a:pt x="1526638" y="19866"/>
                  <a:pt x="1817370" y="0"/>
                </a:cubicBezTo>
                <a:cubicBezTo>
                  <a:pt x="2108102" y="-19866"/>
                  <a:pt x="2221289" y="26161"/>
                  <a:pt x="2503170" y="0"/>
                </a:cubicBezTo>
                <a:cubicBezTo>
                  <a:pt x="2785051" y="-26161"/>
                  <a:pt x="3022134" y="39178"/>
                  <a:pt x="3429000" y="0"/>
                </a:cubicBezTo>
                <a:cubicBezTo>
                  <a:pt x="3429577" y="4624"/>
                  <a:pt x="3429819" y="11191"/>
                  <a:pt x="3429000" y="18288"/>
                </a:cubicBezTo>
                <a:cubicBezTo>
                  <a:pt x="3103464" y="593"/>
                  <a:pt x="2887909" y="22940"/>
                  <a:pt x="2743200" y="18288"/>
                </a:cubicBezTo>
                <a:cubicBezTo>
                  <a:pt x="2598491" y="13636"/>
                  <a:pt x="2362615" y="10656"/>
                  <a:pt x="1988820" y="18288"/>
                </a:cubicBezTo>
                <a:cubicBezTo>
                  <a:pt x="1615025" y="25920"/>
                  <a:pt x="1580494" y="3693"/>
                  <a:pt x="1405890" y="18288"/>
                </a:cubicBezTo>
                <a:cubicBezTo>
                  <a:pt x="1231286" y="32884"/>
                  <a:pt x="885259" y="-16285"/>
                  <a:pt x="651510" y="18288"/>
                </a:cubicBezTo>
                <a:cubicBezTo>
                  <a:pt x="417761" y="52861"/>
                  <a:pt x="138362" y="-13856"/>
                  <a:pt x="0" y="18288"/>
                </a:cubicBezTo>
                <a:cubicBezTo>
                  <a:pt x="-171" y="12755"/>
                  <a:pt x="-690" y="793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p:cNvGraphicFramePr>
            <a:graphicFrameLocks noGrp="1"/>
          </p:cNvGraphicFramePr>
          <p:nvPr>
            <p:extLst>
              <p:ext uri="{D42A27DB-BD31-4B8C-83A1-F6EECF244321}">
                <p14:modId xmlns:p14="http://schemas.microsoft.com/office/powerpoint/2010/main" val="2229615628"/>
              </p:ext>
            </p:extLst>
          </p:nvPr>
        </p:nvGraphicFramePr>
        <p:xfrm>
          <a:off x="152400" y="1981200"/>
          <a:ext cx="8915400" cy="4821934"/>
        </p:xfrm>
        <a:graphic>
          <a:graphicData uri="http://schemas.openxmlformats.org/drawingml/2006/table">
            <a:tbl>
              <a:tblPr firstRow="1" bandRow="1"/>
              <a:tblGrid>
                <a:gridCol w="2477021">
                  <a:extLst>
                    <a:ext uri="{9D8B030D-6E8A-4147-A177-3AD203B41FA5}">
                      <a16:colId xmlns:a16="http://schemas.microsoft.com/office/drawing/2014/main" val="20000"/>
                    </a:ext>
                  </a:extLst>
                </a:gridCol>
                <a:gridCol w="6292455">
                  <a:extLst>
                    <a:ext uri="{9D8B030D-6E8A-4147-A177-3AD203B41FA5}">
                      <a16:colId xmlns:a16="http://schemas.microsoft.com/office/drawing/2014/main" val="20001"/>
                    </a:ext>
                  </a:extLst>
                </a:gridCol>
                <a:gridCol w="145924">
                  <a:extLst>
                    <a:ext uri="{9D8B030D-6E8A-4147-A177-3AD203B41FA5}">
                      <a16:colId xmlns:a16="http://schemas.microsoft.com/office/drawing/2014/main" val="20002"/>
                    </a:ext>
                  </a:extLst>
                </a:gridCol>
              </a:tblGrid>
              <a:tr h="52277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1" i="0" u="none" strike="noStrike" cap="none" normalizeH="0" baseline="0" dirty="0">
                          <a:ln>
                            <a:noFill/>
                          </a:ln>
                          <a:solidFill>
                            <a:srgbClr val="000000"/>
                          </a:solidFill>
                          <a:effectLst/>
                          <a:latin typeface="Arial"/>
                          <a:ea typeface="Times New Roman" charset="0"/>
                          <a:cs typeface="Arial"/>
                        </a:rPr>
                        <a:t>Principle</a:t>
                      </a:r>
                    </a:p>
                  </a:txBody>
                  <a:tcPr marL="61286" marR="61286" marT="76741" marB="7674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1" i="0" u="none" strike="noStrike" cap="none" normalizeH="0" baseline="0" dirty="0">
                          <a:ln>
                            <a:noFill/>
                          </a:ln>
                          <a:solidFill>
                            <a:srgbClr val="000000"/>
                          </a:solidFill>
                          <a:effectLst/>
                          <a:latin typeface="Arial"/>
                          <a:ea typeface="Times New Roman" charset="0"/>
                          <a:cs typeface="Arial"/>
                        </a:rPr>
                        <a:t>Description</a:t>
                      </a:r>
                    </a:p>
                  </a:txBody>
                  <a:tcPr marL="61286" marR="61286" marT="76741" marB="7674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a16="http://schemas.microsoft.com/office/drawing/2014/main" val="10000"/>
                  </a:ext>
                </a:extLst>
              </a:tr>
              <a:tr h="96989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a:ln>
                            <a:noFill/>
                          </a:ln>
                          <a:solidFill>
                            <a:srgbClr val="000000"/>
                          </a:solidFill>
                          <a:effectLst/>
                          <a:latin typeface="Arial"/>
                          <a:ea typeface="Times New Roman" charset="0"/>
                          <a:cs typeface="Arial"/>
                        </a:rPr>
                        <a:t>Customer involvement </a:t>
                      </a:r>
                    </a:p>
                  </a:txBody>
                  <a:tcPr marL="61286" marR="61286" marT="0" marB="7674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a:ln>
                            <a:noFill/>
                          </a:ln>
                          <a:solidFill>
                            <a:srgbClr val="000000"/>
                          </a:solidFill>
                          <a:effectLst/>
                          <a:latin typeface="Arial"/>
                          <a:ea typeface="Times New Roman" charset="0"/>
                          <a:cs typeface="Arial"/>
                        </a:rPr>
                        <a:t>Customers should be closely involved throughout the development process. Their role is to provide and prioritize new system requirements and to evaluate the iterations of the system.</a:t>
                      </a:r>
                    </a:p>
                  </a:txBody>
                  <a:tcPr marL="61286" marR="61286" marT="0" marB="7674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extLst>
                  <a:ext uri="{0D108BD9-81ED-4DB2-BD59-A6C34878D82A}">
                    <a16:rowId xmlns:a16="http://schemas.microsoft.com/office/drawing/2014/main" val="10001"/>
                  </a:ext>
                </a:extLst>
              </a:tr>
              <a:tr h="69474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a:ln>
                            <a:noFill/>
                          </a:ln>
                          <a:solidFill>
                            <a:srgbClr val="000000"/>
                          </a:solidFill>
                          <a:effectLst/>
                          <a:latin typeface="Arial"/>
                          <a:ea typeface="Times New Roman" charset="0"/>
                          <a:cs typeface="Arial"/>
                        </a:rPr>
                        <a:t>Incremental delivery</a:t>
                      </a:r>
                    </a:p>
                  </a:txBody>
                  <a:tcPr marL="61286" marR="61286" marT="0" marB="7674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a:ln>
                            <a:noFill/>
                          </a:ln>
                          <a:solidFill>
                            <a:srgbClr val="000000"/>
                          </a:solidFill>
                          <a:effectLst/>
                          <a:latin typeface="Arial"/>
                          <a:ea typeface="Times New Roman" charset="0"/>
                          <a:cs typeface="Arial"/>
                        </a:rPr>
                        <a:t>The software is developed in increments with the customer specifying the requirements to be included in each increment.</a:t>
                      </a:r>
                    </a:p>
                  </a:txBody>
                  <a:tcPr marL="61286" marR="61286" marT="0" marB="7674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2"/>
                  </a:ext>
                </a:extLst>
              </a:tr>
              <a:tr h="96989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a:ln>
                            <a:noFill/>
                          </a:ln>
                          <a:solidFill>
                            <a:srgbClr val="000000"/>
                          </a:solidFill>
                          <a:effectLst/>
                          <a:latin typeface="Arial"/>
                          <a:ea typeface="Times New Roman" charset="0"/>
                          <a:cs typeface="Arial"/>
                        </a:rPr>
                        <a:t>People not process</a:t>
                      </a:r>
                    </a:p>
                  </a:txBody>
                  <a:tcPr marL="61286" marR="61286" marT="0" marB="7674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dirty="0">
                          <a:ln>
                            <a:noFill/>
                          </a:ln>
                          <a:solidFill>
                            <a:srgbClr val="000000"/>
                          </a:solidFill>
                          <a:effectLst/>
                          <a:latin typeface="Arial"/>
                          <a:ea typeface="Times New Roman" charset="0"/>
                          <a:cs typeface="Arial"/>
                        </a:rPr>
                        <a:t>The skills of the development team should be recognized and exploited. Team members should be left to develop their own ways of working without prescriptive processes.</a:t>
                      </a:r>
                    </a:p>
                  </a:txBody>
                  <a:tcPr marL="61286" marR="61286" marT="0" marB="7674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extLst>
                  <a:ext uri="{0D108BD9-81ED-4DB2-BD59-A6C34878D82A}">
                    <a16:rowId xmlns:a16="http://schemas.microsoft.com/office/drawing/2014/main" val="10003"/>
                  </a:ext>
                </a:extLst>
              </a:tr>
              <a:tr h="69474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a:ln>
                            <a:noFill/>
                          </a:ln>
                          <a:solidFill>
                            <a:srgbClr val="000000"/>
                          </a:solidFill>
                          <a:effectLst/>
                          <a:latin typeface="Arial"/>
                          <a:ea typeface="Times New Roman" charset="0"/>
                          <a:cs typeface="Arial"/>
                        </a:rPr>
                        <a:t>Embrace change</a:t>
                      </a:r>
                    </a:p>
                  </a:txBody>
                  <a:tcPr marL="61286" marR="61286" marT="0" marB="7674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a:ln>
                            <a:noFill/>
                          </a:ln>
                          <a:solidFill>
                            <a:srgbClr val="000000"/>
                          </a:solidFill>
                          <a:effectLst/>
                          <a:latin typeface="Arial"/>
                          <a:ea typeface="Times New Roman" charset="0"/>
                          <a:cs typeface="Arial"/>
                        </a:rPr>
                        <a:t>Expect the system requirements to change and so design the system to accommodate these changes.</a:t>
                      </a:r>
                    </a:p>
                  </a:txBody>
                  <a:tcPr marL="61286" marR="61286" marT="0" marB="7674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4"/>
                  </a:ext>
                </a:extLst>
              </a:tr>
              <a:tr h="96989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a:ln>
                            <a:noFill/>
                          </a:ln>
                          <a:solidFill>
                            <a:srgbClr val="000000"/>
                          </a:solidFill>
                          <a:effectLst/>
                          <a:latin typeface="Arial"/>
                          <a:ea typeface="Times New Roman" charset="0"/>
                          <a:cs typeface="Arial"/>
                        </a:rPr>
                        <a:t>Maintain simplicity</a:t>
                      </a:r>
                    </a:p>
                  </a:txBody>
                  <a:tcPr marL="61286" marR="61286" marT="0" marB="7674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a:ln>
                            <a:noFill/>
                          </a:ln>
                          <a:solidFill>
                            <a:srgbClr val="000000"/>
                          </a:solidFill>
                          <a:effectLst/>
                          <a:latin typeface="Arial"/>
                          <a:ea typeface="Times New Roman" charset="0"/>
                          <a:cs typeface="Arial"/>
                        </a:rPr>
                        <a:t>Focus on simplicity in both the software being developed and in the development process. Wherever possible, actively work to eliminate complexity from the system.</a:t>
                      </a:r>
                    </a:p>
                  </a:txBody>
                  <a:tcPr marL="61286" marR="61286" marT="0" marB="7674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900" b="0" i="0" u="none" strike="noStrike" cap="none" normalizeH="0" baseline="0" dirty="0">
                          <a:ln>
                            <a:noFill/>
                          </a:ln>
                          <a:solidFill>
                            <a:srgbClr val="000000"/>
                          </a:solidFill>
                          <a:effectLst/>
                          <a:latin typeface="Times New Roman" charset="0"/>
                          <a:ea typeface="Calibri" charset="0"/>
                          <a:cs typeface="Times New Roman" charset="0"/>
                        </a:rPr>
                        <a:t> </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78028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Agile method applicability</a:t>
            </a:r>
          </a:p>
        </p:txBody>
      </p:sp>
      <p:sp>
        <p:nvSpPr>
          <p:cNvPr id="25"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Autofit/>
          </a:bodyPr>
          <a:lstStyle/>
          <a:p>
            <a:pPr>
              <a:buFont typeface="Wingdings" panose="05000000000000000000" pitchFamily="2" charset="2"/>
              <a:buChar char="q"/>
            </a:pPr>
            <a:r>
              <a:rPr lang="en-GB" sz="2400" dirty="0"/>
              <a:t>Product development where a software company is developing a </a:t>
            </a:r>
            <a:r>
              <a:rPr lang="en-GB" sz="2400" b="1" dirty="0"/>
              <a:t>small or medium-sized product </a:t>
            </a:r>
            <a:r>
              <a:rPr lang="en-GB" sz="2400" dirty="0"/>
              <a:t>for sale. </a:t>
            </a:r>
          </a:p>
          <a:p>
            <a:pPr>
              <a:buFont typeface="Wingdings" panose="05000000000000000000" pitchFamily="2" charset="2"/>
              <a:buChar char="q"/>
            </a:pPr>
            <a:r>
              <a:rPr lang="en-GB" sz="2400" dirty="0"/>
              <a:t>Custom system development </a:t>
            </a:r>
            <a:r>
              <a:rPr lang="en-GB" sz="2400" b="1" dirty="0"/>
              <a:t>within an organization</a:t>
            </a:r>
            <a:r>
              <a:rPr lang="en-GB" sz="2400" dirty="0"/>
              <a:t>, where there is a clear commitment from the </a:t>
            </a:r>
            <a:r>
              <a:rPr lang="en-GB" sz="2400" b="1" dirty="0"/>
              <a:t>customer to become involved</a:t>
            </a:r>
            <a:r>
              <a:rPr lang="en-GB" sz="2400" dirty="0"/>
              <a:t> in the development process and where there are </a:t>
            </a:r>
            <a:r>
              <a:rPr lang="en-GB" sz="2400" b="1" dirty="0"/>
              <a:t>not a lot of external rules</a:t>
            </a:r>
            <a:r>
              <a:rPr lang="en-GB" sz="2400" dirty="0"/>
              <a:t> and regulations that affect the software.</a:t>
            </a:r>
          </a:p>
          <a:p>
            <a:pPr>
              <a:buFont typeface="Wingdings" panose="05000000000000000000" pitchFamily="2" charset="2"/>
              <a:buChar char="q"/>
            </a:pPr>
            <a:r>
              <a:rPr lang="en-GB" sz="2400" dirty="0"/>
              <a:t>Because of their focus on small, tightly-integrated teams, there are problems in scaling agile methods to large systems. </a:t>
            </a:r>
          </a:p>
        </p:txBody>
      </p:sp>
    </p:spTree>
    <p:extLst>
      <p:ext uri="{BB962C8B-B14F-4D97-AF65-F5344CB8AC3E}">
        <p14:creationId xmlns:p14="http://schemas.microsoft.com/office/powerpoint/2010/main" val="1856004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Problems with agile methods</a:t>
            </a:r>
          </a:p>
        </p:txBody>
      </p:sp>
      <p:sp>
        <p:nvSpPr>
          <p:cNvPr id="1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3"/>
          <p:cNvSpPr>
            <a:spLocks noGrp="1" noChangeArrowheads="1"/>
          </p:cNvSpPr>
          <p:nvPr>
            <p:ph idx="1"/>
          </p:nvPr>
        </p:nvSpPr>
        <p:spPr>
          <a:xfrm>
            <a:off x="628650" y="1929384"/>
            <a:ext cx="7886700" cy="4251960"/>
          </a:xfrm>
        </p:spPr>
        <p:txBody>
          <a:bodyPr>
            <a:normAutofit/>
          </a:bodyPr>
          <a:lstStyle/>
          <a:p>
            <a:pPr>
              <a:buFont typeface="Wingdings" panose="05000000000000000000" pitchFamily="2" charset="2"/>
              <a:buChar char="q"/>
            </a:pPr>
            <a:r>
              <a:rPr lang="en-US" sz="2800" dirty="0"/>
              <a:t>It can be difficult to keep the interest of customers who are involved in the process.</a:t>
            </a:r>
          </a:p>
          <a:p>
            <a:pPr>
              <a:buFont typeface="Wingdings" panose="05000000000000000000" pitchFamily="2" charset="2"/>
              <a:buChar char="q"/>
            </a:pPr>
            <a:r>
              <a:rPr lang="en-US" sz="2800" dirty="0"/>
              <a:t>Prioritizing changes can be difficult where there are multiple stakeholders.</a:t>
            </a:r>
          </a:p>
          <a:p>
            <a:pPr>
              <a:buFont typeface="Wingdings" panose="05000000000000000000" pitchFamily="2" charset="2"/>
              <a:buChar char="q"/>
            </a:pPr>
            <a:r>
              <a:rPr lang="en-US" sz="2800" dirty="0"/>
              <a:t>Maintaining simplicity requires extra work.</a:t>
            </a:r>
          </a:p>
          <a:p>
            <a:pPr>
              <a:buFont typeface="Wingdings" panose="05000000000000000000" pitchFamily="2" charset="2"/>
              <a:buChar char="q"/>
            </a:pPr>
            <a:r>
              <a:rPr lang="en-US" sz="2800" dirty="0"/>
              <a:t>It is difficult for organizations to move to a working model in which processes are informal and defined by development teams.</a:t>
            </a:r>
          </a:p>
        </p:txBody>
      </p:sp>
    </p:spTree>
    <p:extLst>
      <p:ext uri="{BB962C8B-B14F-4D97-AF65-F5344CB8AC3E}">
        <p14:creationId xmlns:p14="http://schemas.microsoft.com/office/powerpoint/2010/main" val="1182807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pPr>
              <a:lnSpc>
                <a:spcPct val="90000"/>
              </a:lnSpc>
            </a:pPr>
            <a:r>
              <a:rPr lang="en-US" sz="4300"/>
              <a:t>Agile methods and software maintenance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US" sz="2000" dirty="0"/>
              <a:t>Most organizations spend more on maintaining existing software than they do on new software development. So, if agile methods are to be successful, they have to support maintenance as well as original development.</a:t>
            </a:r>
          </a:p>
          <a:p>
            <a:pPr>
              <a:buFont typeface="Wingdings" panose="05000000000000000000" pitchFamily="2" charset="2"/>
              <a:buChar char="q"/>
            </a:pPr>
            <a:r>
              <a:rPr lang="en-US" sz="2000" dirty="0"/>
              <a:t>Two key issues:</a:t>
            </a:r>
          </a:p>
          <a:p>
            <a:pPr lvl="1">
              <a:buFont typeface="Wingdings" panose="05000000000000000000" pitchFamily="2" charset="2"/>
              <a:buChar char="q"/>
            </a:pPr>
            <a:r>
              <a:rPr lang="en-GB" sz="2000" dirty="0"/>
              <a:t>Are systems that are developed using an agile approach maintainable, given the emphasis in the development process of minimizing formal documentation?</a:t>
            </a:r>
          </a:p>
          <a:p>
            <a:pPr lvl="1">
              <a:buFont typeface="Wingdings" panose="05000000000000000000" pitchFamily="2" charset="2"/>
              <a:buChar char="q"/>
            </a:pPr>
            <a:r>
              <a:rPr lang="en-GB" sz="2000" dirty="0"/>
              <a:t>Can agile methods be used effectively for evolving a system in response to customer change requests?</a:t>
            </a:r>
          </a:p>
          <a:p>
            <a:pPr>
              <a:buFont typeface="Wingdings" panose="05000000000000000000" pitchFamily="2" charset="2"/>
              <a:buChar char="q"/>
            </a:pPr>
            <a:endParaRPr lang="en-US" sz="1900" dirty="0"/>
          </a:p>
        </p:txBody>
      </p:sp>
    </p:spTree>
    <p:extLst>
      <p:ext uri="{BB962C8B-B14F-4D97-AF65-F5344CB8AC3E}">
        <p14:creationId xmlns:p14="http://schemas.microsoft.com/office/powerpoint/2010/main" val="3983908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pPr>
              <a:lnSpc>
                <a:spcPct val="90000"/>
              </a:lnSpc>
            </a:pPr>
            <a:r>
              <a:rPr lang="en-US" sz="4300"/>
              <a:t>Technical, human, organizational issues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lnSpc>
                <a:spcPct val="90000"/>
              </a:lnSpc>
              <a:buFont typeface="Wingdings" panose="05000000000000000000" pitchFamily="2" charset="2"/>
              <a:buChar char="q"/>
            </a:pPr>
            <a:r>
              <a:rPr lang="en-US" sz="1900"/>
              <a:t>Most projects include elements of plan-driven and agile processes. Deciding on the balance depends on:</a:t>
            </a:r>
          </a:p>
          <a:p>
            <a:pPr lvl="1">
              <a:lnSpc>
                <a:spcPct val="90000"/>
              </a:lnSpc>
              <a:buFont typeface="Wingdings" panose="05000000000000000000" pitchFamily="2" charset="2"/>
              <a:buChar char="q"/>
            </a:pPr>
            <a:r>
              <a:rPr lang="en-GB" sz="1900"/>
              <a:t>Is it important to have a very detailed specification and design before moving to implementation? If so, you probably need to use a plan-driven approach.</a:t>
            </a:r>
          </a:p>
          <a:p>
            <a:pPr lvl="1">
              <a:lnSpc>
                <a:spcPct val="90000"/>
              </a:lnSpc>
              <a:buFont typeface="Wingdings" panose="05000000000000000000" pitchFamily="2" charset="2"/>
              <a:buChar char="q"/>
            </a:pPr>
            <a:r>
              <a:rPr lang="en-GB" sz="1900"/>
              <a:t>Is an incremental delivery strategy, where you deliver the software to customers and get rapid feedback from them, realistic? If so, consider using agile methods.</a:t>
            </a:r>
          </a:p>
          <a:p>
            <a:pPr lvl="1">
              <a:lnSpc>
                <a:spcPct val="90000"/>
              </a:lnSpc>
              <a:buFont typeface="Wingdings" panose="05000000000000000000" pitchFamily="2" charset="2"/>
              <a:buChar char="q"/>
            </a:pPr>
            <a:r>
              <a:rPr lang="en-GB" sz="1900"/>
              <a:t>How large is the system that is being developed? Agile methods are most effective when the system can be developed with a small co-located team who can communicate informally. This may not be possible for large systems that require larger development teams so a plan-driven approach may have to be used.</a:t>
            </a:r>
            <a:endParaRPr lang="en-US" sz="1900"/>
          </a:p>
        </p:txBody>
      </p:sp>
    </p:spTree>
    <p:extLst>
      <p:ext uri="{BB962C8B-B14F-4D97-AF65-F5344CB8AC3E}">
        <p14:creationId xmlns:p14="http://schemas.microsoft.com/office/powerpoint/2010/main" val="2160557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pPr>
              <a:lnSpc>
                <a:spcPct val="90000"/>
              </a:lnSpc>
            </a:pPr>
            <a:r>
              <a:rPr lang="en-US" sz="4300"/>
              <a:t>Technical, human, organizational issues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lnSpc>
                <a:spcPct val="90000"/>
              </a:lnSpc>
              <a:buFont typeface="Wingdings" panose="05000000000000000000" pitchFamily="2" charset="2"/>
              <a:buChar char="q"/>
            </a:pPr>
            <a:r>
              <a:rPr lang="en-GB" sz="1800"/>
              <a:t>What type of system is being developed? </a:t>
            </a:r>
          </a:p>
          <a:p>
            <a:pPr lvl="2">
              <a:lnSpc>
                <a:spcPct val="90000"/>
              </a:lnSpc>
              <a:buFont typeface="Wingdings" panose="05000000000000000000" pitchFamily="2" charset="2"/>
              <a:buChar char="q"/>
            </a:pPr>
            <a:r>
              <a:rPr lang="en-GB" sz="1800"/>
              <a:t>Plan-driven approaches may be required for systems that require a lot of analysis before implementation</a:t>
            </a:r>
          </a:p>
          <a:p>
            <a:pPr>
              <a:lnSpc>
                <a:spcPct val="90000"/>
              </a:lnSpc>
              <a:buFont typeface="Wingdings" panose="05000000000000000000" pitchFamily="2" charset="2"/>
              <a:buChar char="q"/>
            </a:pPr>
            <a:r>
              <a:rPr lang="en-GB" sz="1800"/>
              <a:t>What is the expected system lifetime? </a:t>
            </a:r>
          </a:p>
          <a:p>
            <a:pPr lvl="2">
              <a:lnSpc>
                <a:spcPct val="90000"/>
              </a:lnSpc>
              <a:buFont typeface="Wingdings" panose="05000000000000000000" pitchFamily="2" charset="2"/>
              <a:buChar char="q"/>
            </a:pPr>
            <a:r>
              <a:rPr lang="en-GB" sz="1800"/>
              <a:t>Long-lifetime systems may require more design documentation to communicate the original intentions of the system developers to the support team. </a:t>
            </a:r>
          </a:p>
          <a:p>
            <a:pPr>
              <a:lnSpc>
                <a:spcPct val="90000"/>
              </a:lnSpc>
              <a:buFont typeface="Wingdings" panose="05000000000000000000" pitchFamily="2" charset="2"/>
              <a:buChar char="q"/>
            </a:pPr>
            <a:r>
              <a:rPr lang="en-GB" sz="1800"/>
              <a:t>What technologies are available to support system development? </a:t>
            </a:r>
          </a:p>
          <a:p>
            <a:pPr lvl="2">
              <a:lnSpc>
                <a:spcPct val="90000"/>
              </a:lnSpc>
              <a:buFont typeface="Wingdings" panose="05000000000000000000" pitchFamily="2" charset="2"/>
              <a:buChar char="q"/>
            </a:pPr>
            <a:r>
              <a:rPr lang="en-GB" sz="1800"/>
              <a:t>Agile methods rely on good tools to keep track of an evolving design</a:t>
            </a:r>
          </a:p>
          <a:p>
            <a:pPr>
              <a:lnSpc>
                <a:spcPct val="90000"/>
              </a:lnSpc>
              <a:buFont typeface="Wingdings" panose="05000000000000000000" pitchFamily="2" charset="2"/>
              <a:buChar char="q"/>
            </a:pPr>
            <a:r>
              <a:rPr lang="en-GB" sz="1800"/>
              <a:t>How is the development team organized? </a:t>
            </a:r>
          </a:p>
          <a:p>
            <a:pPr lvl="2">
              <a:lnSpc>
                <a:spcPct val="90000"/>
              </a:lnSpc>
              <a:buFont typeface="Wingdings" panose="05000000000000000000" pitchFamily="2" charset="2"/>
              <a:buChar char="q"/>
            </a:pPr>
            <a:r>
              <a:rPr lang="en-GB" sz="1800"/>
              <a:t>If the development team is distributed or if part of the development is being outsourced, then you may need to develop design documents to communicate across the development teams.</a:t>
            </a:r>
            <a:endParaRPr lang="en-US" sz="1800"/>
          </a:p>
        </p:txBody>
      </p:sp>
    </p:spTree>
    <p:extLst>
      <p:ext uri="{BB962C8B-B14F-4D97-AF65-F5344CB8AC3E}">
        <p14:creationId xmlns:p14="http://schemas.microsoft.com/office/powerpoint/2010/main" val="1031430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pPr>
              <a:lnSpc>
                <a:spcPct val="90000"/>
              </a:lnSpc>
            </a:pPr>
            <a:r>
              <a:rPr lang="en-US" sz="4300"/>
              <a:t>Technical, human, organizational issues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lnSpc>
                <a:spcPct val="90000"/>
              </a:lnSpc>
              <a:buFont typeface="Wingdings" panose="05000000000000000000" pitchFamily="2" charset="2"/>
              <a:buChar char="q"/>
            </a:pPr>
            <a:r>
              <a:rPr lang="en-GB" sz="1900"/>
              <a:t>Are there cultural or organizational issues that may affect the system development? </a:t>
            </a:r>
          </a:p>
          <a:p>
            <a:pPr lvl="2">
              <a:lnSpc>
                <a:spcPct val="90000"/>
              </a:lnSpc>
              <a:buFont typeface="Wingdings" panose="05000000000000000000" pitchFamily="2" charset="2"/>
              <a:buChar char="q"/>
            </a:pPr>
            <a:r>
              <a:rPr lang="en-GB" sz="1900"/>
              <a:t>Traditional engineering organizations have a culture of plan-based development, as this is the norm in engineering.</a:t>
            </a:r>
          </a:p>
          <a:p>
            <a:pPr>
              <a:lnSpc>
                <a:spcPct val="90000"/>
              </a:lnSpc>
              <a:buFont typeface="Wingdings" panose="05000000000000000000" pitchFamily="2" charset="2"/>
              <a:buChar char="q"/>
            </a:pPr>
            <a:r>
              <a:rPr lang="en-GB" sz="1900"/>
              <a:t>How good are the designers and programmers in the development team?</a:t>
            </a:r>
          </a:p>
          <a:p>
            <a:pPr lvl="2">
              <a:lnSpc>
                <a:spcPct val="90000"/>
              </a:lnSpc>
              <a:buFont typeface="Wingdings" panose="05000000000000000000" pitchFamily="2" charset="2"/>
              <a:buChar char="q"/>
            </a:pPr>
            <a:r>
              <a:rPr lang="en-GB" sz="1900"/>
              <a:t> It is sometimes argued that agile methods require higher skill levels than plan-based approaches in which programmers simply translate a detailed design into code</a:t>
            </a:r>
          </a:p>
          <a:p>
            <a:pPr>
              <a:lnSpc>
                <a:spcPct val="90000"/>
              </a:lnSpc>
              <a:buFont typeface="Wingdings" panose="05000000000000000000" pitchFamily="2" charset="2"/>
              <a:buChar char="q"/>
            </a:pPr>
            <a:r>
              <a:rPr lang="en-GB" sz="1900"/>
              <a:t>Is the system subject to external regulation? </a:t>
            </a:r>
          </a:p>
          <a:p>
            <a:pPr lvl="2">
              <a:lnSpc>
                <a:spcPct val="90000"/>
              </a:lnSpc>
              <a:buFont typeface="Wingdings" panose="05000000000000000000" pitchFamily="2" charset="2"/>
              <a:buChar char="q"/>
            </a:pPr>
            <a:r>
              <a:rPr lang="en-GB" sz="1900"/>
              <a:t>If a system has to be approved by an external regulator (e.g. the FAA approve software that is critical to the operation of an aircraft) then you will probably be required to produce detailed documentation as part of the system safety case.</a:t>
            </a:r>
            <a:endParaRPr lang="en-US" sz="1900"/>
          </a:p>
        </p:txBody>
      </p:sp>
    </p:spTree>
    <p:extLst>
      <p:ext uri="{BB962C8B-B14F-4D97-AF65-F5344CB8AC3E}">
        <p14:creationId xmlns:p14="http://schemas.microsoft.com/office/powerpoint/2010/main" val="823425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Extreme programming</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US" sz="2400" dirty="0"/>
              <a:t>Extreme programming (XP) is perhaps the best known and most widely used of the agile methods.</a:t>
            </a:r>
          </a:p>
          <a:p>
            <a:pPr>
              <a:buFont typeface="Wingdings" panose="05000000000000000000" pitchFamily="2" charset="2"/>
              <a:buChar char="q"/>
            </a:pPr>
            <a:r>
              <a:rPr lang="en-US" sz="2400" dirty="0"/>
              <a:t>Extreme Programming (XP) takes an ‘extreme’ approach to iterative development. </a:t>
            </a:r>
          </a:p>
          <a:p>
            <a:pPr lvl="1">
              <a:buFont typeface="Wingdings" panose="05000000000000000000" pitchFamily="2" charset="2"/>
              <a:buChar char="q"/>
            </a:pPr>
            <a:r>
              <a:rPr lang="en-US" sz="2400" dirty="0"/>
              <a:t>New versions may be built several times per day;</a:t>
            </a:r>
          </a:p>
          <a:p>
            <a:pPr lvl="1">
              <a:buFont typeface="Wingdings" panose="05000000000000000000" pitchFamily="2" charset="2"/>
              <a:buChar char="q"/>
            </a:pPr>
            <a:r>
              <a:rPr lang="en-US" sz="2400" dirty="0"/>
              <a:t>Increments are delivered to customers every 2 weeks;</a:t>
            </a:r>
          </a:p>
          <a:p>
            <a:pPr lvl="1">
              <a:buFont typeface="Wingdings" panose="05000000000000000000" pitchFamily="2" charset="2"/>
              <a:buChar char="q"/>
            </a:pPr>
            <a:r>
              <a:rPr lang="en-US" sz="2400" dirty="0"/>
              <a:t>All tests must be run for every build and the build is only accepted if tests run successfully.</a:t>
            </a:r>
          </a:p>
          <a:p>
            <a:pPr>
              <a:buFont typeface="Wingdings" panose="05000000000000000000" pitchFamily="2" charset="2"/>
              <a:buChar char="q"/>
            </a:pPr>
            <a:endParaRPr lang="en-US" sz="1900" dirty="0"/>
          </a:p>
        </p:txBody>
      </p:sp>
    </p:spTree>
    <p:extLst>
      <p:ext uri="{BB962C8B-B14F-4D97-AF65-F5344CB8AC3E}">
        <p14:creationId xmlns:p14="http://schemas.microsoft.com/office/powerpoint/2010/main" val="4236975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36ADE5-EEF9-A2A6-148A-93DE300A1617}"/>
              </a:ext>
            </a:extLst>
          </p:cNvPr>
          <p:cNvSpPr>
            <a:spLocks noGrp="1"/>
          </p:cNvSpPr>
          <p:nvPr>
            <p:ph type="title"/>
          </p:nvPr>
        </p:nvSpPr>
        <p:spPr>
          <a:xfrm>
            <a:off x="2133599" y="329184"/>
            <a:ext cx="6528055" cy="1783080"/>
          </a:xfrm>
        </p:spPr>
        <p:txBody>
          <a:bodyPr anchor="b">
            <a:normAutofit/>
          </a:bodyPr>
          <a:lstStyle/>
          <a:p>
            <a:r>
              <a:rPr lang="en-US" sz="4700" dirty="0"/>
              <a:t>Extreme Programming</a:t>
            </a:r>
          </a:p>
        </p:txBody>
      </p:sp>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Content Placeholder 2">
            <a:extLst>
              <a:ext uri="{FF2B5EF4-FFF2-40B4-BE49-F238E27FC236}">
                <a16:creationId xmlns:a16="http://schemas.microsoft.com/office/drawing/2014/main" id="{FAC66466-CEA2-2D66-75BA-FDAEE0BCCB3C}"/>
              </a:ext>
            </a:extLst>
          </p:cNvPr>
          <p:cNvGraphicFramePr>
            <a:graphicFrameLocks noGrp="1"/>
          </p:cNvGraphicFramePr>
          <p:nvPr>
            <p:ph idx="1"/>
            <p:extLst>
              <p:ext uri="{D42A27DB-BD31-4B8C-83A1-F6EECF244321}">
                <p14:modId xmlns:p14="http://schemas.microsoft.com/office/powerpoint/2010/main" val="626035394"/>
              </p:ext>
            </p:extLst>
          </p:nvPr>
        </p:nvGraphicFramePr>
        <p:xfrm>
          <a:off x="914401" y="2655918"/>
          <a:ext cx="7747254" cy="35345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65632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XP and agile principles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lnSpc>
                <a:spcPct val="90000"/>
              </a:lnSpc>
              <a:buFont typeface="Wingdings" panose="05000000000000000000" pitchFamily="2" charset="2"/>
              <a:buChar char="q"/>
            </a:pPr>
            <a:r>
              <a:rPr lang="en-US" sz="1800" b="1"/>
              <a:t>Incremental development</a:t>
            </a:r>
          </a:p>
          <a:p>
            <a:pPr lvl="1">
              <a:lnSpc>
                <a:spcPct val="90000"/>
              </a:lnSpc>
              <a:buFont typeface="Wingdings" panose="05000000000000000000" pitchFamily="2" charset="2"/>
              <a:buChar char="q"/>
            </a:pPr>
            <a:r>
              <a:rPr lang="en-US" sz="1800"/>
              <a:t>supported through small, frequent system releases.</a:t>
            </a:r>
          </a:p>
          <a:p>
            <a:pPr>
              <a:lnSpc>
                <a:spcPct val="90000"/>
              </a:lnSpc>
              <a:buFont typeface="Wingdings" panose="05000000000000000000" pitchFamily="2" charset="2"/>
              <a:buChar char="q"/>
            </a:pPr>
            <a:r>
              <a:rPr lang="en-US" sz="1800" b="1"/>
              <a:t>People not process</a:t>
            </a:r>
            <a:r>
              <a:rPr lang="en-US" sz="1800"/>
              <a:t> </a:t>
            </a:r>
            <a:endParaRPr lang="en-US" sz="1800" b="1"/>
          </a:p>
          <a:p>
            <a:pPr lvl="1">
              <a:lnSpc>
                <a:spcPct val="90000"/>
              </a:lnSpc>
              <a:buFont typeface="Wingdings" panose="05000000000000000000" pitchFamily="2" charset="2"/>
              <a:buChar char="q"/>
            </a:pPr>
            <a:r>
              <a:rPr lang="en-US" sz="1800"/>
              <a:t>Pair programming, collective ownership and a process that avoids long working hours.</a:t>
            </a:r>
          </a:p>
          <a:p>
            <a:pPr>
              <a:lnSpc>
                <a:spcPct val="90000"/>
              </a:lnSpc>
              <a:buFont typeface="Wingdings" panose="05000000000000000000" pitchFamily="2" charset="2"/>
              <a:buChar char="q"/>
            </a:pPr>
            <a:r>
              <a:rPr lang="en-US" sz="1800" b="1"/>
              <a:t>Customer involvement</a:t>
            </a:r>
            <a:r>
              <a:rPr lang="en-US" sz="1800"/>
              <a:t> means full-time customer engagement with the team. The customer representative takes part in the development and is responsible for defining acceptance tests for the system.</a:t>
            </a:r>
          </a:p>
          <a:p>
            <a:pPr>
              <a:lnSpc>
                <a:spcPct val="90000"/>
              </a:lnSpc>
              <a:buFont typeface="Wingdings" panose="05000000000000000000" pitchFamily="2" charset="2"/>
              <a:buChar char="q"/>
            </a:pPr>
            <a:r>
              <a:rPr lang="en-US" sz="1800" b="1"/>
              <a:t>Change</a:t>
            </a:r>
            <a:r>
              <a:rPr lang="en-US" sz="1800"/>
              <a:t> </a:t>
            </a:r>
          </a:p>
          <a:p>
            <a:pPr lvl="1">
              <a:lnSpc>
                <a:spcPct val="90000"/>
              </a:lnSpc>
              <a:buFont typeface="Wingdings" panose="05000000000000000000" pitchFamily="2" charset="2"/>
              <a:buChar char="q"/>
            </a:pPr>
            <a:r>
              <a:rPr lang="en-US" sz="1800"/>
              <a:t>supported through regular system releases.</a:t>
            </a:r>
          </a:p>
          <a:p>
            <a:pPr>
              <a:lnSpc>
                <a:spcPct val="90000"/>
              </a:lnSpc>
              <a:buFont typeface="Wingdings" panose="05000000000000000000" pitchFamily="2" charset="2"/>
              <a:buChar char="q"/>
            </a:pPr>
            <a:r>
              <a:rPr lang="en-US" sz="1800" b="1"/>
              <a:t>Maintaining simplicity</a:t>
            </a:r>
            <a:r>
              <a:rPr lang="en-US" sz="1800"/>
              <a:t> </a:t>
            </a:r>
          </a:p>
          <a:p>
            <a:pPr lvl="1">
              <a:lnSpc>
                <a:spcPct val="90000"/>
              </a:lnSpc>
              <a:buFont typeface="Wingdings" panose="05000000000000000000" pitchFamily="2" charset="2"/>
              <a:buChar char="q"/>
            </a:pPr>
            <a:r>
              <a:rPr lang="en-US" sz="1800"/>
              <a:t>through constant </a:t>
            </a:r>
            <a:r>
              <a:rPr lang="en-US" sz="1800" b="1"/>
              <a:t>refactoring</a:t>
            </a:r>
            <a:r>
              <a:rPr lang="en-US" sz="1800"/>
              <a:t> of code that improves code quality and by using simple designs that do not unnecessarily anticipate future changes to the system.</a:t>
            </a:r>
          </a:p>
          <a:p>
            <a:pPr>
              <a:lnSpc>
                <a:spcPct val="90000"/>
              </a:lnSpc>
              <a:buFont typeface="Wingdings" panose="05000000000000000000" pitchFamily="2" charset="2"/>
              <a:buChar char="q"/>
            </a:pPr>
            <a:endParaRPr lang="en-US" sz="1800"/>
          </a:p>
        </p:txBody>
      </p:sp>
    </p:spTree>
    <p:extLst>
      <p:ext uri="{BB962C8B-B14F-4D97-AF65-F5344CB8AC3E}">
        <p14:creationId xmlns:p14="http://schemas.microsoft.com/office/powerpoint/2010/main" val="2201548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B1ED02B1-1BC5-458F-9994-627281CFE7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23691"/>
            <a:ext cx="9144000" cy="1934309"/>
          </a:xfrm>
          <a:prstGeom prst="rect">
            <a:avLst/>
          </a:prstGeom>
          <a:solidFill>
            <a:srgbClr val="465E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73352" y="4388020"/>
            <a:ext cx="5797296" cy="1188720"/>
          </a:xfrm>
          <a:solidFill>
            <a:schemeClr val="bg1"/>
          </a:solidFill>
          <a:ln w="31750">
            <a:solidFill>
              <a:schemeClr val="tx1">
                <a:lumMod val="75000"/>
                <a:lumOff val="25000"/>
              </a:schemeClr>
            </a:solidFill>
          </a:ln>
        </p:spPr>
        <p:txBody>
          <a:bodyPr vert="horz" lIns="91440" tIns="45720" rIns="91440" bIns="45720" rtlCol="0" anchor="ctr">
            <a:normAutofit/>
          </a:bodyPr>
          <a:lstStyle/>
          <a:p>
            <a:pPr algn="ctr">
              <a:lnSpc>
                <a:spcPct val="90000"/>
              </a:lnSpc>
            </a:pPr>
            <a:r>
              <a:rPr lang="en-US" sz="2800" kern="1200">
                <a:solidFill>
                  <a:schemeClr val="tx1"/>
                </a:solidFill>
                <a:latin typeface="+mj-lt"/>
                <a:ea typeface="+mj-ea"/>
                <a:cs typeface="+mj-cs"/>
              </a:rPr>
              <a:t>The extreme programming release cycle </a:t>
            </a:r>
          </a:p>
        </p:txBody>
      </p:sp>
      <p:pic>
        <p:nvPicPr>
          <p:cNvPr id="4" name="Picture 3" descr="3.3-XP-ReleaseCycle.eps"/>
          <p:cNvPicPr>
            <a:picLocks noChangeAspect="1"/>
          </p:cNvPicPr>
          <p:nvPr/>
        </p:nvPicPr>
        <p:blipFill>
          <a:blip r:embed="rId2" cstate="print"/>
          <a:stretch>
            <a:fillRect/>
          </a:stretch>
        </p:blipFill>
        <p:spPr>
          <a:xfrm>
            <a:off x="1673352" y="1253205"/>
            <a:ext cx="5797296" cy="2524955"/>
          </a:xfrm>
          <a:prstGeom prst="rect">
            <a:avLst/>
          </a:prstGeom>
        </p:spPr>
      </p:pic>
    </p:spTree>
    <p:extLst>
      <p:ext uri="{BB962C8B-B14F-4D97-AF65-F5344CB8AC3E}">
        <p14:creationId xmlns:p14="http://schemas.microsoft.com/office/powerpoint/2010/main" val="319534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59AB4C8-9178-4F7A-8404-6890510B5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79160" y="457201"/>
            <a:ext cx="8182230" cy="1832654"/>
          </a:xfrm>
        </p:spPr>
        <p:txBody>
          <a:bodyPr vert="horz" lIns="91440" tIns="45720" rIns="91440" bIns="45720" rtlCol="0" anchor="b">
            <a:normAutofit/>
          </a:bodyPr>
          <a:lstStyle/>
          <a:p>
            <a:pPr algn="ctr">
              <a:lnSpc>
                <a:spcPct val="90000"/>
              </a:lnSpc>
            </a:pPr>
            <a:r>
              <a:rPr lang="en-US" sz="5700" kern="1200">
                <a:solidFill>
                  <a:schemeClr val="tx1"/>
                </a:solidFill>
                <a:latin typeface="+mj-lt"/>
                <a:ea typeface="+mj-ea"/>
                <a:cs typeface="+mj-cs"/>
              </a:rPr>
              <a:t>Extreme programming practices (a) </a:t>
            </a:r>
          </a:p>
        </p:txBody>
      </p:sp>
      <p:sp>
        <p:nvSpPr>
          <p:cNvPr id="14" name="sketch line">
            <a:extLst>
              <a:ext uri="{FF2B5EF4-FFF2-40B4-BE49-F238E27FC236}">
                <a16:creationId xmlns:a16="http://schemas.microsoft.com/office/drawing/2014/main" id="{4CFDFB37-4BC7-42C6-915D-A6609139B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55776" y="2343912"/>
            <a:ext cx="3429000" cy="18288"/>
          </a:xfrm>
          <a:custGeom>
            <a:avLst/>
            <a:gdLst>
              <a:gd name="connsiteX0" fmla="*/ 0 w 3429000"/>
              <a:gd name="connsiteY0" fmla="*/ 0 h 18288"/>
              <a:gd name="connsiteX1" fmla="*/ 685800 w 3429000"/>
              <a:gd name="connsiteY1" fmla="*/ 0 h 18288"/>
              <a:gd name="connsiteX2" fmla="*/ 1371600 w 3429000"/>
              <a:gd name="connsiteY2" fmla="*/ 0 h 18288"/>
              <a:gd name="connsiteX3" fmla="*/ 2057400 w 3429000"/>
              <a:gd name="connsiteY3" fmla="*/ 0 h 18288"/>
              <a:gd name="connsiteX4" fmla="*/ 2674620 w 3429000"/>
              <a:gd name="connsiteY4" fmla="*/ 0 h 18288"/>
              <a:gd name="connsiteX5" fmla="*/ 3429000 w 3429000"/>
              <a:gd name="connsiteY5" fmla="*/ 0 h 18288"/>
              <a:gd name="connsiteX6" fmla="*/ 3429000 w 3429000"/>
              <a:gd name="connsiteY6" fmla="*/ 18288 h 18288"/>
              <a:gd name="connsiteX7" fmla="*/ 2811780 w 3429000"/>
              <a:gd name="connsiteY7" fmla="*/ 18288 h 18288"/>
              <a:gd name="connsiteX8" fmla="*/ 2228850 w 3429000"/>
              <a:gd name="connsiteY8" fmla="*/ 18288 h 18288"/>
              <a:gd name="connsiteX9" fmla="*/ 1543050 w 3429000"/>
              <a:gd name="connsiteY9" fmla="*/ 18288 h 18288"/>
              <a:gd name="connsiteX10" fmla="*/ 925830 w 3429000"/>
              <a:gd name="connsiteY10" fmla="*/ 18288 h 18288"/>
              <a:gd name="connsiteX11" fmla="*/ 0 w 3429000"/>
              <a:gd name="connsiteY11" fmla="*/ 18288 h 18288"/>
              <a:gd name="connsiteX12" fmla="*/ 0 w 342900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29000" h="18288" fill="none" extrusionOk="0">
                <a:moveTo>
                  <a:pt x="0" y="0"/>
                </a:moveTo>
                <a:cubicBezTo>
                  <a:pt x="219865" y="20479"/>
                  <a:pt x="493281" y="26186"/>
                  <a:pt x="685800" y="0"/>
                </a:cubicBezTo>
                <a:cubicBezTo>
                  <a:pt x="878319" y="-26186"/>
                  <a:pt x="1121382" y="-11869"/>
                  <a:pt x="1371600" y="0"/>
                </a:cubicBezTo>
                <a:cubicBezTo>
                  <a:pt x="1621818" y="11869"/>
                  <a:pt x="1878793" y="32281"/>
                  <a:pt x="2057400" y="0"/>
                </a:cubicBezTo>
                <a:cubicBezTo>
                  <a:pt x="2236007" y="-32281"/>
                  <a:pt x="2433797" y="-18251"/>
                  <a:pt x="2674620" y="0"/>
                </a:cubicBezTo>
                <a:cubicBezTo>
                  <a:pt x="2915443" y="18251"/>
                  <a:pt x="3205923" y="-1443"/>
                  <a:pt x="3429000" y="0"/>
                </a:cubicBezTo>
                <a:cubicBezTo>
                  <a:pt x="3429442" y="4516"/>
                  <a:pt x="3428173" y="12266"/>
                  <a:pt x="3429000" y="18288"/>
                </a:cubicBezTo>
                <a:cubicBezTo>
                  <a:pt x="3221081" y="48608"/>
                  <a:pt x="3088001" y="8066"/>
                  <a:pt x="2811780" y="18288"/>
                </a:cubicBezTo>
                <a:cubicBezTo>
                  <a:pt x="2535559" y="28510"/>
                  <a:pt x="2481355" y="24898"/>
                  <a:pt x="2228850" y="18288"/>
                </a:cubicBezTo>
                <a:cubicBezTo>
                  <a:pt x="1976345" y="11679"/>
                  <a:pt x="1807520" y="48356"/>
                  <a:pt x="1543050" y="18288"/>
                </a:cubicBezTo>
                <a:cubicBezTo>
                  <a:pt x="1278580" y="-11780"/>
                  <a:pt x="1181944" y="5123"/>
                  <a:pt x="925830" y="18288"/>
                </a:cubicBezTo>
                <a:cubicBezTo>
                  <a:pt x="669716" y="31453"/>
                  <a:pt x="410304" y="34815"/>
                  <a:pt x="0" y="18288"/>
                </a:cubicBezTo>
                <a:cubicBezTo>
                  <a:pt x="-306" y="11477"/>
                  <a:pt x="485" y="4355"/>
                  <a:pt x="0" y="0"/>
                </a:cubicBezTo>
                <a:close/>
              </a:path>
              <a:path w="3429000" h="18288" stroke="0" extrusionOk="0">
                <a:moveTo>
                  <a:pt x="0" y="0"/>
                </a:moveTo>
                <a:cubicBezTo>
                  <a:pt x="174095" y="-12874"/>
                  <a:pt x="443087" y="-14090"/>
                  <a:pt x="617220" y="0"/>
                </a:cubicBezTo>
                <a:cubicBezTo>
                  <a:pt x="791353" y="14090"/>
                  <a:pt x="1072677" y="8451"/>
                  <a:pt x="1200150" y="0"/>
                </a:cubicBezTo>
                <a:cubicBezTo>
                  <a:pt x="1327623" y="-8451"/>
                  <a:pt x="1526638" y="19866"/>
                  <a:pt x="1817370" y="0"/>
                </a:cubicBezTo>
                <a:cubicBezTo>
                  <a:pt x="2108102" y="-19866"/>
                  <a:pt x="2221289" y="26161"/>
                  <a:pt x="2503170" y="0"/>
                </a:cubicBezTo>
                <a:cubicBezTo>
                  <a:pt x="2785051" y="-26161"/>
                  <a:pt x="3022134" y="39178"/>
                  <a:pt x="3429000" y="0"/>
                </a:cubicBezTo>
                <a:cubicBezTo>
                  <a:pt x="3429577" y="4624"/>
                  <a:pt x="3429819" y="11191"/>
                  <a:pt x="3429000" y="18288"/>
                </a:cubicBezTo>
                <a:cubicBezTo>
                  <a:pt x="3103464" y="593"/>
                  <a:pt x="2887909" y="22940"/>
                  <a:pt x="2743200" y="18288"/>
                </a:cubicBezTo>
                <a:cubicBezTo>
                  <a:pt x="2598491" y="13636"/>
                  <a:pt x="2362615" y="10656"/>
                  <a:pt x="1988820" y="18288"/>
                </a:cubicBezTo>
                <a:cubicBezTo>
                  <a:pt x="1615025" y="25920"/>
                  <a:pt x="1580494" y="3693"/>
                  <a:pt x="1405890" y="18288"/>
                </a:cubicBezTo>
                <a:cubicBezTo>
                  <a:pt x="1231286" y="32884"/>
                  <a:pt x="885259" y="-16285"/>
                  <a:pt x="651510" y="18288"/>
                </a:cubicBezTo>
                <a:cubicBezTo>
                  <a:pt x="417761" y="52861"/>
                  <a:pt x="138362" y="-13856"/>
                  <a:pt x="0" y="18288"/>
                </a:cubicBezTo>
                <a:cubicBezTo>
                  <a:pt x="-171" y="12755"/>
                  <a:pt x="-690" y="793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p:cNvGraphicFramePr>
            <a:graphicFrameLocks noGrp="1"/>
          </p:cNvGraphicFramePr>
          <p:nvPr>
            <p:extLst>
              <p:ext uri="{D42A27DB-BD31-4B8C-83A1-F6EECF244321}">
                <p14:modId xmlns:p14="http://schemas.microsoft.com/office/powerpoint/2010/main" val="1952527096"/>
              </p:ext>
            </p:extLst>
          </p:nvPr>
        </p:nvGraphicFramePr>
        <p:xfrm>
          <a:off x="240030" y="2765345"/>
          <a:ext cx="8661654" cy="3903679"/>
        </p:xfrm>
        <a:graphic>
          <a:graphicData uri="http://schemas.openxmlformats.org/drawingml/2006/table">
            <a:tbl>
              <a:tblPr firstRow="1" bandRow="1"/>
              <a:tblGrid>
                <a:gridCol w="2469521">
                  <a:extLst>
                    <a:ext uri="{9D8B030D-6E8A-4147-A177-3AD203B41FA5}">
                      <a16:colId xmlns:a16="http://schemas.microsoft.com/office/drawing/2014/main" val="20000"/>
                    </a:ext>
                  </a:extLst>
                </a:gridCol>
                <a:gridCol w="6192133">
                  <a:extLst>
                    <a:ext uri="{9D8B030D-6E8A-4147-A177-3AD203B41FA5}">
                      <a16:colId xmlns:a16="http://schemas.microsoft.com/office/drawing/2014/main" val="20001"/>
                    </a:ext>
                  </a:extLst>
                </a:gridCol>
              </a:tblGrid>
              <a:tr h="52978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1" i="0" u="none" strike="noStrike" cap="none" normalizeH="0" baseline="0">
                          <a:ln>
                            <a:noFill/>
                          </a:ln>
                          <a:solidFill>
                            <a:srgbClr val="000000"/>
                          </a:solidFill>
                          <a:effectLst/>
                          <a:latin typeface="Arial"/>
                          <a:ea typeface="Times New Roman" charset="0"/>
                          <a:cs typeface="Arial"/>
                        </a:rPr>
                        <a:t>Principle or practice</a:t>
                      </a:r>
                    </a:p>
                  </a:txBody>
                  <a:tcPr marL="57390" marR="57390" marT="71862" marB="7186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1" i="0" u="none" strike="noStrike" cap="none" normalizeH="0" baseline="0">
                          <a:ln>
                            <a:noFill/>
                          </a:ln>
                          <a:solidFill>
                            <a:srgbClr val="000000"/>
                          </a:solidFill>
                          <a:effectLst/>
                          <a:latin typeface="Arial"/>
                          <a:ea typeface="Times New Roman" charset="0"/>
                          <a:cs typeface="Arial"/>
                        </a:rPr>
                        <a:t>Description</a:t>
                      </a:r>
                    </a:p>
                  </a:txBody>
                  <a:tcPr marL="57390" marR="57390" marT="71862" marB="7186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98289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a:ln>
                            <a:noFill/>
                          </a:ln>
                          <a:solidFill>
                            <a:srgbClr val="000000"/>
                          </a:solidFill>
                          <a:effectLst/>
                          <a:latin typeface="Arial"/>
                          <a:ea typeface="Times New Roman" charset="0"/>
                          <a:cs typeface="Arial"/>
                        </a:rPr>
                        <a:t>Incremental planning</a:t>
                      </a:r>
                    </a:p>
                  </a:txBody>
                  <a:tcPr marL="57390" marR="57390" marT="0" marB="7186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dirty="0">
                          <a:ln>
                            <a:noFill/>
                          </a:ln>
                          <a:solidFill>
                            <a:srgbClr val="000000"/>
                          </a:solidFill>
                          <a:effectLst/>
                          <a:latin typeface="Arial"/>
                          <a:ea typeface="Times New Roman" charset="0"/>
                          <a:cs typeface="Arial"/>
                        </a:rPr>
                        <a:t>Requirements are recorded on story cards and the stories to be included in a release are determined by the time available and their relative priority. The developers break these stories into development ‘Tasks’.</a:t>
                      </a:r>
                    </a:p>
                  </a:txBody>
                  <a:tcPr marL="57390" marR="57390" marT="0" marB="7186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98289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a:ln>
                            <a:noFill/>
                          </a:ln>
                          <a:solidFill>
                            <a:srgbClr val="000000"/>
                          </a:solidFill>
                          <a:effectLst/>
                          <a:latin typeface="Arial"/>
                          <a:ea typeface="Times New Roman" charset="0"/>
                          <a:cs typeface="Arial"/>
                        </a:rPr>
                        <a:t>Small releases</a:t>
                      </a:r>
                    </a:p>
                  </a:txBody>
                  <a:tcPr marL="57390" marR="57390" marT="0" marB="7186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a:ln>
                            <a:noFill/>
                          </a:ln>
                          <a:solidFill>
                            <a:srgbClr val="000000"/>
                          </a:solidFill>
                          <a:effectLst/>
                          <a:latin typeface="Arial"/>
                          <a:ea typeface="Times New Roman" charset="0"/>
                          <a:cs typeface="Arial"/>
                        </a:rPr>
                        <a:t>The minimal useful set of functionality that provides business value is developed first. Releases of the system are frequent and incrementally add functionality to the first release.</a:t>
                      </a:r>
                    </a:p>
                  </a:txBody>
                  <a:tcPr marL="57390" marR="57390" marT="0" marB="7186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70405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a:ln>
                            <a:noFill/>
                          </a:ln>
                          <a:solidFill>
                            <a:srgbClr val="000000"/>
                          </a:solidFill>
                          <a:effectLst/>
                          <a:latin typeface="Arial"/>
                          <a:ea typeface="Times New Roman" charset="0"/>
                          <a:cs typeface="Arial"/>
                        </a:rPr>
                        <a:t>Test-first development</a:t>
                      </a:r>
                    </a:p>
                  </a:txBody>
                  <a:tcPr marL="57390" marR="57390" marT="0" marB="7186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a:ln>
                            <a:noFill/>
                          </a:ln>
                          <a:solidFill>
                            <a:srgbClr val="000000"/>
                          </a:solidFill>
                          <a:effectLst/>
                          <a:latin typeface="Arial"/>
                          <a:ea typeface="Times New Roman" charset="0"/>
                          <a:cs typeface="Arial"/>
                        </a:rPr>
                        <a:t>An automated unit test framework is used to write tests for a new piece of functionality before that functionality itself is implemented.</a:t>
                      </a:r>
                    </a:p>
                  </a:txBody>
                  <a:tcPr marL="57390" marR="57390" marT="0" marB="7186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3"/>
                  </a:ext>
                </a:extLst>
              </a:tr>
              <a:tr h="70405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a:ln>
                            <a:noFill/>
                          </a:ln>
                          <a:solidFill>
                            <a:srgbClr val="000000"/>
                          </a:solidFill>
                          <a:effectLst/>
                          <a:latin typeface="Arial"/>
                          <a:ea typeface="Times New Roman" charset="0"/>
                          <a:cs typeface="Arial"/>
                        </a:rPr>
                        <a:t>Refactoring</a:t>
                      </a:r>
                    </a:p>
                  </a:txBody>
                  <a:tcPr marL="57390" marR="57390" marT="0" marB="7186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i="0" u="none" strike="noStrike" cap="none" normalizeH="0" baseline="0" dirty="0">
                          <a:ln>
                            <a:noFill/>
                          </a:ln>
                          <a:solidFill>
                            <a:srgbClr val="000000"/>
                          </a:solidFill>
                          <a:effectLst/>
                          <a:latin typeface="Arial"/>
                          <a:ea typeface="Times New Roman" charset="0"/>
                          <a:cs typeface="Arial"/>
                        </a:rPr>
                        <a:t>All developers are expected to refactor the code continuously as soon as possible code improvements are found. This keeps the code simple and maintainable.</a:t>
                      </a:r>
                    </a:p>
                  </a:txBody>
                  <a:tcPr marL="57390" marR="57390" marT="0" marB="7186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99886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59AB4C8-9178-4F7A-8404-6890510B5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79160" y="457201"/>
            <a:ext cx="8182230" cy="1832654"/>
          </a:xfrm>
        </p:spPr>
        <p:txBody>
          <a:bodyPr vert="horz" lIns="91440" tIns="45720" rIns="91440" bIns="45720" rtlCol="0" anchor="b">
            <a:normAutofit/>
          </a:bodyPr>
          <a:lstStyle/>
          <a:p>
            <a:pPr algn="ctr">
              <a:lnSpc>
                <a:spcPct val="90000"/>
              </a:lnSpc>
            </a:pPr>
            <a:r>
              <a:rPr lang="en-US" sz="5700" kern="1200">
                <a:solidFill>
                  <a:schemeClr val="tx1"/>
                </a:solidFill>
                <a:latin typeface="+mj-lt"/>
                <a:ea typeface="+mj-ea"/>
                <a:cs typeface="+mj-cs"/>
              </a:rPr>
              <a:t>Extreme programming practices (b)</a:t>
            </a:r>
          </a:p>
        </p:txBody>
      </p:sp>
      <p:sp>
        <p:nvSpPr>
          <p:cNvPr id="11" name="sketch line">
            <a:extLst>
              <a:ext uri="{FF2B5EF4-FFF2-40B4-BE49-F238E27FC236}">
                <a16:creationId xmlns:a16="http://schemas.microsoft.com/office/drawing/2014/main" id="{4CFDFB37-4BC7-42C6-915D-A6609139B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55776" y="2343912"/>
            <a:ext cx="3429000" cy="18288"/>
          </a:xfrm>
          <a:custGeom>
            <a:avLst/>
            <a:gdLst>
              <a:gd name="connsiteX0" fmla="*/ 0 w 3429000"/>
              <a:gd name="connsiteY0" fmla="*/ 0 h 18288"/>
              <a:gd name="connsiteX1" fmla="*/ 685800 w 3429000"/>
              <a:gd name="connsiteY1" fmla="*/ 0 h 18288"/>
              <a:gd name="connsiteX2" fmla="*/ 1371600 w 3429000"/>
              <a:gd name="connsiteY2" fmla="*/ 0 h 18288"/>
              <a:gd name="connsiteX3" fmla="*/ 2057400 w 3429000"/>
              <a:gd name="connsiteY3" fmla="*/ 0 h 18288"/>
              <a:gd name="connsiteX4" fmla="*/ 2674620 w 3429000"/>
              <a:gd name="connsiteY4" fmla="*/ 0 h 18288"/>
              <a:gd name="connsiteX5" fmla="*/ 3429000 w 3429000"/>
              <a:gd name="connsiteY5" fmla="*/ 0 h 18288"/>
              <a:gd name="connsiteX6" fmla="*/ 3429000 w 3429000"/>
              <a:gd name="connsiteY6" fmla="*/ 18288 h 18288"/>
              <a:gd name="connsiteX7" fmla="*/ 2811780 w 3429000"/>
              <a:gd name="connsiteY7" fmla="*/ 18288 h 18288"/>
              <a:gd name="connsiteX8" fmla="*/ 2228850 w 3429000"/>
              <a:gd name="connsiteY8" fmla="*/ 18288 h 18288"/>
              <a:gd name="connsiteX9" fmla="*/ 1543050 w 3429000"/>
              <a:gd name="connsiteY9" fmla="*/ 18288 h 18288"/>
              <a:gd name="connsiteX10" fmla="*/ 925830 w 3429000"/>
              <a:gd name="connsiteY10" fmla="*/ 18288 h 18288"/>
              <a:gd name="connsiteX11" fmla="*/ 0 w 3429000"/>
              <a:gd name="connsiteY11" fmla="*/ 18288 h 18288"/>
              <a:gd name="connsiteX12" fmla="*/ 0 w 342900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29000" h="18288" fill="none" extrusionOk="0">
                <a:moveTo>
                  <a:pt x="0" y="0"/>
                </a:moveTo>
                <a:cubicBezTo>
                  <a:pt x="219865" y="20479"/>
                  <a:pt x="493281" y="26186"/>
                  <a:pt x="685800" y="0"/>
                </a:cubicBezTo>
                <a:cubicBezTo>
                  <a:pt x="878319" y="-26186"/>
                  <a:pt x="1121382" y="-11869"/>
                  <a:pt x="1371600" y="0"/>
                </a:cubicBezTo>
                <a:cubicBezTo>
                  <a:pt x="1621818" y="11869"/>
                  <a:pt x="1878793" y="32281"/>
                  <a:pt x="2057400" y="0"/>
                </a:cubicBezTo>
                <a:cubicBezTo>
                  <a:pt x="2236007" y="-32281"/>
                  <a:pt x="2433797" y="-18251"/>
                  <a:pt x="2674620" y="0"/>
                </a:cubicBezTo>
                <a:cubicBezTo>
                  <a:pt x="2915443" y="18251"/>
                  <a:pt x="3205923" y="-1443"/>
                  <a:pt x="3429000" y="0"/>
                </a:cubicBezTo>
                <a:cubicBezTo>
                  <a:pt x="3429442" y="4516"/>
                  <a:pt x="3428173" y="12266"/>
                  <a:pt x="3429000" y="18288"/>
                </a:cubicBezTo>
                <a:cubicBezTo>
                  <a:pt x="3221081" y="48608"/>
                  <a:pt x="3088001" y="8066"/>
                  <a:pt x="2811780" y="18288"/>
                </a:cubicBezTo>
                <a:cubicBezTo>
                  <a:pt x="2535559" y="28510"/>
                  <a:pt x="2481355" y="24898"/>
                  <a:pt x="2228850" y="18288"/>
                </a:cubicBezTo>
                <a:cubicBezTo>
                  <a:pt x="1976345" y="11679"/>
                  <a:pt x="1807520" y="48356"/>
                  <a:pt x="1543050" y="18288"/>
                </a:cubicBezTo>
                <a:cubicBezTo>
                  <a:pt x="1278580" y="-11780"/>
                  <a:pt x="1181944" y="5123"/>
                  <a:pt x="925830" y="18288"/>
                </a:cubicBezTo>
                <a:cubicBezTo>
                  <a:pt x="669716" y="31453"/>
                  <a:pt x="410304" y="34815"/>
                  <a:pt x="0" y="18288"/>
                </a:cubicBezTo>
                <a:cubicBezTo>
                  <a:pt x="-306" y="11477"/>
                  <a:pt x="485" y="4355"/>
                  <a:pt x="0" y="0"/>
                </a:cubicBezTo>
                <a:close/>
              </a:path>
              <a:path w="3429000" h="18288" stroke="0" extrusionOk="0">
                <a:moveTo>
                  <a:pt x="0" y="0"/>
                </a:moveTo>
                <a:cubicBezTo>
                  <a:pt x="174095" y="-12874"/>
                  <a:pt x="443087" y="-14090"/>
                  <a:pt x="617220" y="0"/>
                </a:cubicBezTo>
                <a:cubicBezTo>
                  <a:pt x="791353" y="14090"/>
                  <a:pt x="1072677" y="8451"/>
                  <a:pt x="1200150" y="0"/>
                </a:cubicBezTo>
                <a:cubicBezTo>
                  <a:pt x="1327623" y="-8451"/>
                  <a:pt x="1526638" y="19866"/>
                  <a:pt x="1817370" y="0"/>
                </a:cubicBezTo>
                <a:cubicBezTo>
                  <a:pt x="2108102" y="-19866"/>
                  <a:pt x="2221289" y="26161"/>
                  <a:pt x="2503170" y="0"/>
                </a:cubicBezTo>
                <a:cubicBezTo>
                  <a:pt x="2785051" y="-26161"/>
                  <a:pt x="3022134" y="39178"/>
                  <a:pt x="3429000" y="0"/>
                </a:cubicBezTo>
                <a:cubicBezTo>
                  <a:pt x="3429577" y="4624"/>
                  <a:pt x="3429819" y="11191"/>
                  <a:pt x="3429000" y="18288"/>
                </a:cubicBezTo>
                <a:cubicBezTo>
                  <a:pt x="3103464" y="593"/>
                  <a:pt x="2887909" y="22940"/>
                  <a:pt x="2743200" y="18288"/>
                </a:cubicBezTo>
                <a:cubicBezTo>
                  <a:pt x="2598491" y="13636"/>
                  <a:pt x="2362615" y="10656"/>
                  <a:pt x="1988820" y="18288"/>
                </a:cubicBezTo>
                <a:cubicBezTo>
                  <a:pt x="1615025" y="25920"/>
                  <a:pt x="1580494" y="3693"/>
                  <a:pt x="1405890" y="18288"/>
                </a:cubicBezTo>
                <a:cubicBezTo>
                  <a:pt x="1231286" y="32884"/>
                  <a:pt x="885259" y="-16285"/>
                  <a:pt x="651510" y="18288"/>
                </a:cubicBezTo>
                <a:cubicBezTo>
                  <a:pt x="417761" y="52861"/>
                  <a:pt x="138362" y="-13856"/>
                  <a:pt x="0" y="18288"/>
                </a:cubicBezTo>
                <a:cubicBezTo>
                  <a:pt x="-171" y="12755"/>
                  <a:pt x="-690" y="793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p:cNvGraphicFramePr>
            <a:graphicFrameLocks noGrp="1"/>
          </p:cNvGraphicFramePr>
          <p:nvPr>
            <p:extLst>
              <p:ext uri="{D42A27DB-BD31-4B8C-83A1-F6EECF244321}">
                <p14:modId xmlns:p14="http://schemas.microsoft.com/office/powerpoint/2010/main" val="1886214083"/>
              </p:ext>
            </p:extLst>
          </p:nvPr>
        </p:nvGraphicFramePr>
        <p:xfrm>
          <a:off x="240030" y="3360041"/>
          <a:ext cx="8661655" cy="2631183"/>
        </p:xfrm>
        <a:graphic>
          <a:graphicData uri="http://schemas.openxmlformats.org/drawingml/2006/table">
            <a:tbl>
              <a:tblPr firstRow="1" bandRow="1">
                <a:tableStyleId>{69CF1AB2-1976-4502-BF36-3FF5EA218861}</a:tableStyleId>
              </a:tblPr>
              <a:tblGrid>
                <a:gridCol w="2449710">
                  <a:extLst>
                    <a:ext uri="{9D8B030D-6E8A-4147-A177-3AD203B41FA5}">
                      <a16:colId xmlns:a16="http://schemas.microsoft.com/office/drawing/2014/main" val="20000"/>
                    </a:ext>
                  </a:extLst>
                </a:gridCol>
                <a:gridCol w="6211945">
                  <a:extLst>
                    <a:ext uri="{9D8B030D-6E8A-4147-A177-3AD203B41FA5}">
                      <a16:colId xmlns:a16="http://schemas.microsoft.com/office/drawing/2014/main" val="20001"/>
                    </a:ext>
                  </a:extLst>
                </a:gridCol>
              </a:tblGrid>
              <a:tr h="1479019">
                <a:tc>
                  <a:txBody>
                    <a:bodyPr/>
                    <a:lstStyle/>
                    <a:p>
                      <a:pPr algn="just">
                        <a:spcAft>
                          <a:spcPts val="0"/>
                        </a:spcAft>
                      </a:pPr>
                      <a:r>
                        <a:rPr lang="en-GB" sz="2100" b="0">
                          <a:latin typeface="Arial"/>
                          <a:cs typeface="Arial"/>
                        </a:rPr>
                        <a:t>Continuous integration</a:t>
                      </a:r>
                      <a:endParaRPr lang="en-GB" sz="2100" b="0">
                        <a:solidFill>
                          <a:srgbClr val="000000"/>
                        </a:solidFill>
                        <a:latin typeface="Arial"/>
                        <a:ea typeface="Times New Roman"/>
                        <a:cs typeface="Arial"/>
                      </a:endParaRPr>
                    </a:p>
                  </a:txBody>
                  <a:tcPr marL="97886" marR="97886" marT="0" marB="122571"/>
                </a:tc>
                <a:tc>
                  <a:txBody>
                    <a:bodyPr/>
                    <a:lstStyle/>
                    <a:p>
                      <a:pPr algn="just">
                        <a:spcAft>
                          <a:spcPts val="0"/>
                        </a:spcAft>
                      </a:pPr>
                      <a:r>
                        <a:rPr lang="en-GB" sz="2100" b="0">
                          <a:latin typeface="Arial"/>
                          <a:cs typeface="Arial"/>
                        </a:rPr>
                        <a:t>As soon as the work on a task is complete, it is integrated into the whole system. After any such integration, all the unit tests in the system must pass.</a:t>
                      </a:r>
                      <a:endParaRPr lang="en-GB" sz="2100" b="0">
                        <a:solidFill>
                          <a:srgbClr val="000000"/>
                        </a:solidFill>
                        <a:latin typeface="Arial"/>
                        <a:ea typeface="Times New Roman"/>
                        <a:cs typeface="Arial"/>
                      </a:endParaRPr>
                    </a:p>
                  </a:txBody>
                  <a:tcPr marL="97886" marR="97886" marT="0" marB="122571"/>
                </a:tc>
                <a:extLst>
                  <a:ext uri="{0D108BD9-81ED-4DB2-BD59-A6C34878D82A}">
                    <a16:rowId xmlns:a16="http://schemas.microsoft.com/office/drawing/2014/main" val="10000"/>
                  </a:ext>
                </a:extLst>
              </a:tr>
              <a:tr h="1152164">
                <a:tc>
                  <a:txBody>
                    <a:bodyPr/>
                    <a:lstStyle/>
                    <a:p>
                      <a:pPr algn="just">
                        <a:spcAft>
                          <a:spcPts val="0"/>
                        </a:spcAft>
                      </a:pPr>
                      <a:r>
                        <a:rPr lang="en-GB" sz="2100">
                          <a:latin typeface="Arial"/>
                          <a:cs typeface="Arial"/>
                        </a:rPr>
                        <a:t>Sustainable pace</a:t>
                      </a:r>
                      <a:endParaRPr lang="en-GB" sz="2100">
                        <a:solidFill>
                          <a:srgbClr val="000000"/>
                        </a:solidFill>
                        <a:latin typeface="Arial"/>
                        <a:ea typeface="Times New Roman"/>
                        <a:cs typeface="Arial"/>
                      </a:endParaRPr>
                    </a:p>
                  </a:txBody>
                  <a:tcPr marL="97886" marR="97886" marT="0" marB="122571"/>
                </a:tc>
                <a:tc>
                  <a:txBody>
                    <a:bodyPr/>
                    <a:lstStyle/>
                    <a:p>
                      <a:pPr algn="just">
                        <a:spcAft>
                          <a:spcPts val="0"/>
                        </a:spcAft>
                      </a:pPr>
                      <a:r>
                        <a:rPr lang="en-GB" sz="2100">
                          <a:latin typeface="Arial"/>
                          <a:cs typeface="Arial"/>
                        </a:rPr>
                        <a:t>Large amounts of overtime are not considered acceptable as the net effect is often to reduce code quality and medium term productivity</a:t>
                      </a:r>
                      <a:endParaRPr lang="en-GB" sz="2100">
                        <a:solidFill>
                          <a:srgbClr val="000000"/>
                        </a:solidFill>
                        <a:latin typeface="Arial"/>
                        <a:ea typeface="Times New Roman"/>
                        <a:cs typeface="Arial"/>
                      </a:endParaRPr>
                    </a:p>
                  </a:txBody>
                  <a:tcPr marL="97886" marR="97886" marT="0" marB="122571"/>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22609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548640"/>
            <a:ext cx="2700645" cy="5431536"/>
          </a:xfrm>
        </p:spPr>
        <p:txBody>
          <a:bodyPr>
            <a:normAutofit/>
          </a:bodyPr>
          <a:lstStyle/>
          <a:p>
            <a:r>
              <a:rPr lang="en-US" sz="3300"/>
              <a:t>Requirements scenarios</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onnsiteX0" fmla="*/ 0 w 4480560"/>
              <a:gd name="connsiteY0" fmla="*/ 0 h 13716"/>
              <a:gd name="connsiteX1" fmla="*/ 595274 w 4480560"/>
              <a:gd name="connsiteY1" fmla="*/ 0 h 13716"/>
              <a:gd name="connsiteX2" fmla="*/ 1100938 w 4480560"/>
              <a:gd name="connsiteY2" fmla="*/ 0 h 13716"/>
              <a:gd name="connsiteX3" fmla="*/ 1651406 w 4480560"/>
              <a:gd name="connsiteY3" fmla="*/ 0 h 13716"/>
              <a:gd name="connsiteX4" fmla="*/ 2336292 w 4480560"/>
              <a:gd name="connsiteY4" fmla="*/ 0 h 13716"/>
              <a:gd name="connsiteX5" fmla="*/ 2931566 w 4480560"/>
              <a:gd name="connsiteY5" fmla="*/ 0 h 13716"/>
              <a:gd name="connsiteX6" fmla="*/ 3482035 w 4480560"/>
              <a:gd name="connsiteY6" fmla="*/ 0 h 13716"/>
              <a:gd name="connsiteX7" fmla="*/ 4480560 w 4480560"/>
              <a:gd name="connsiteY7" fmla="*/ 0 h 13716"/>
              <a:gd name="connsiteX8" fmla="*/ 4480560 w 4480560"/>
              <a:gd name="connsiteY8" fmla="*/ 13716 h 13716"/>
              <a:gd name="connsiteX9" fmla="*/ 3840480 w 4480560"/>
              <a:gd name="connsiteY9" fmla="*/ 13716 h 13716"/>
              <a:gd name="connsiteX10" fmla="*/ 3290011 w 4480560"/>
              <a:gd name="connsiteY10" fmla="*/ 13716 h 13716"/>
              <a:gd name="connsiteX11" fmla="*/ 2560320 w 4480560"/>
              <a:gd name="connsiteY11" fmla="*/ 13716 h 13716"/>
              <a:gd name="connsiteX12" fmla="*/ 1965046 w 4480560"/>
              <a:gd name="connsiteY12" fmla="*/ 13716 h 13716"/>
              <a:gd name="connsiteX13" fmla="*/ 1459382 w 4480560"/>
              <a:gd name="connsiteY13" fmla="*/ 13716 h 13716"/>
              <a:gd name="connsiteX14" fmla="*/ 774497 w 4480560"/>
              <a:gd name="connsiteY14" fmla="*/ 13716 h 13716"/>
              <a:gd name="connsiteX15" fmla="*/ 0 w 4480560"/>
              <a:gd name="connsiteY15" fmla="*/ 13716 h 13716"/>
              <a:gd name="connsiteX16" fmla="*/ 0 w 4480560"/>
              <a:gd name="connsiteY1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44813" y="552091"/>
            <a:ext cx="4668251" cy="5431536"/>
          </a:xfrm>
        </p:spPr>
        <p:txBody>
          <a:bodyPr anchor="ctr">
            <a:normAutofit/>
          </a:bodyPr>
          <a:lstStyle/>
          <a:p>
            <a:pPr>
              <a:buFont typeface="Wingdings" panose="05000000000000000000" pitchFamily="2" charset="2"/>
              <a:buChar char="q"/>
            </a:pPr>
            <a:r>
              <a:rPr lang="en-US" sz="1900"/>
              <a:t>In XP, a </a:t>
            </a:r>
            <a:r>
              <a:rPr lang="en-US" sz="1900" b="1"/>
              <a:t>customer</a:t>
            </a:r>
            <a:r>
              <a:rPr lang="en-US" sz="1900"/>
              <a:t> or user is part of the XP team and is responsible for making decisions on requirements.</a:t>
            </a:r>
          </a:p>
          <a:p>
            <a:pPr>
              <a:buFont typeface="Wingdings" panose="05000000000000000000" pitchFamily="2" charset="2"/>
              <a:buChar char="q"/>
            </a:pPr>
            <a:r>
              <a:rPr lang="en-US" sz="1900"/>
              <a:t>User requirements are expressed as </a:t>
            </a:r>
            <a:r>
              <a:rPr lang="en-US" sz="1900" b="1"/>
              <a:t>scenarios or user stories</a:t>
            </a:r>
            <a:r>
              <a:rPr lang="en-US" sz="1900"/>
              <a:t>.</a:t>
            </a:r>
          </a:p>
          <a:p>
            <a:pPr>
              <a:buFont typeface="Wingdings" panose="05000000000000000000" pitchFamily="2" charset="2"/>
              <a:buChar char="q"/>
            </a:pPr>
            <a:r>
              <a:rPr lang="en-US" sz="1900"/>
              <a:t>These are written on </a:t>
            </a:r>
            <a:r>
              <a:rPr lang="en-US" sz="1900" b="1"/>
              <a:t>cards</a:t>
            </a:r>
            <a:r>
              <a:rPr lang="en-US" sz="1900"/>
              <a:t> and the development team break them down into implementation </a:t>
            </a:r>
            <a:r>
              <a:rPr lang="en-US" sz="1900" b="1"/>
              <a:t>tasks</a:t>
            </a:r>
            <a:r>
              <a:rPr lang="en-US" sz="1900"/>
              <a:t>. These tasks are the basis of </a:t>
            </a:r>
            <a:r>
              <a:rPr lang="en-US" sz="1900" b="1"/>
              <a:t>schedule</a:t>
            </a:r>
            <a:r>
              <a:rPr lang="en-US" sz="1900"/>
              <a:t> and </a:t>
            </a:r>
            <a:r>
              <a:rPr lang="en-US" sz="1900" b="1"/>
              <a:t>cost</a:t>
            </a:r>
            <a:r>
              <a:rPr lang="en-US" sz="1900"/>
              <a:t> estimates.</a:t>
            </a:r>
          </a:p>
          <a:p>
            <a:pPr>
              <a:buFont typeface="Wingdings" panose="05000000000000000000" pitchFamily="2" charset="2"/>
              <a:buChar char="q"/>
            </a:pPr>
            <a:r>
              <a:rPr lang="en-US" sz="1900"/>
              <a:t>The customer chooses the stories for inclusion in the next release based on their </a:t>
            </a:r>
            <a:r>
              <a:rPr lang="en-US" sz="1900" b="1"/>
              <a:t>priorities</a:t>
            </a:r>
            <a:r>
              <a:rPr lang="en-US" sz="1900"/>
              <a:t> and the schedule estimates.</a:t>
            </a:r>
          </a:p>
          <a:p>
            <a:pPr>
              <a:buFont typeface="Wingdings" panose="05000000000000000000" pitchFamily="2" charset="2"/>
              <a:buChar char="q"/>
            </a:pPr>
            <a:endParaRPr lang="en-US" sz="1900"/>
          </a:p>
        </p:txBody>
      </p:sp>
    </p:spTree>
    <p:extLst>
      <p:ext uri="{BB962C8B-B14F-4D97-AF65-F5344CB8AC3E}">
        <p14:creationId xmlns:p14="http://schemas.microsoft.com/office/powerpoint/2010/main" val="246432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628650" y="365125"/>
            <a:ext cx="7886700" cy="1325563"/>
          </a:xfrm>
        </p:spPr>
        <p:txBody>
          <a:bodyPr>
            <a:normAutofit/>
          </a:bodyPr>
          <a:lstStyle/>
          <a:p>
            <a:r>
              <a:rPr lang="en-US" sz="4300"/>
              <a:t>A ‘prescribing medication’ story</a:t>
            </a:r>
            <a:r>
              <a:rPr lang="en-GB" sz="4300"/>
              <a:t> </a:t>
            </a:r>
            <a:endParaRPr lang="en-US" sz="4300"/>
          </a:p>
        </p:txBody>
      </p:sp>
      <p:sp>
        <p:nvSpPr>
          <p:cNvPr id="1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lnSpc>
                <a:spcPct val="90000"/>
              </a:lnSpc>
              <a:buFont typeface="Wingdings" panose="05000000000000000000" pitchFamily="2" charset="2"/>
              <a:buChar char="q"/>
            </a:pPr>
            <a:r>
              <a:rPr lang="en-US" sz="1900"/>
              <a:t>Kate is a doctor who wishes to prescribe medication for a patient attending a clinic. The patient record is already displayed on her computer  so she clicks on the medication field and can select ‘</a:t>
            </a:r>
            <a:r>
              <a:rPr lang="en-US" sz="1900" b="1"/>
              <a:t>current medication</a:t>
            </a:r>
            <a:r>
              <a:rPr lang="en-US" sz="1900"/>
              <a:t>’, ‘</a:t>
            </a:r>
            <a:r>
              <a:rPr lang="en-US" sz="1900" b="1"/>
              <a:t>new medication</a:t>
            </a:r>
            <a:r>
              <a:rPr lang="en-US" sz="1900"/>
              <a:t>’ or ‘</a:t>
            </a:r>
            <a:r>
              <a:rPr lang="en-US" sz="1900" b="1"/>
              <a:t>formulary</a:t>
            </a:r>
            <a:r>
              <a:rPr lang="en-US" sz="1900"/>
              <a:t>’.</a:t>
            </a:r>
          </a:p>
          <a:p>
            <a:pPr>
              <a:lnSpc>
                <a:spcPct val="90000"/>
              </a:lnSpc>
              <a:buFont typeface="Wingdings" panose="05000000000000000000" pitchFamily="2" charset="2"/>
              <a:buChar char="q"/>
            </a:pPr>
            <a:r>
              <a:rPr lang="en-US" sz="1900"/>
              <a:t>If she selects ‘current medication’, the system asks her to check the dose. If she wants to change the dose, she enters the dose and then confirms the prescription.</a:t>
            </a:r>
          </a:p>
          <a:p>
            <a:pPr>
              <a:lnSpc>
                <a:spcPct val="90000"/>
              </a:lnSpc>
              <a:buFont typeface="Wingdings" panose="05000000000000000000" pitchFamily="2" charset="2"/>
              <a:buChar char="q"/>
            </a:pPr>
            <a:r>
              <a:rPr lang="en-US" sz="1900"/>
              <a:t>If she chooses ‘new medication’, the system assumes that she knows which medication to prescribe. She types the first few letters of the drug name. The system displays a list of possible drugs starting with these letters. She chooses the required medication, and the system responds by asking her to check that the medication selected is correct. She enters the dose and then confirms the prescription.</a:t>
            </a:r>
          </a:p>
        </p:txBody>
      </p:sp>
    </p:spTree>
    <p:extLst>
      <p:ext uri="{BB962C8B-B14F-4D97-AF65-F5344CB8AC3E}">
        <p14:creationId xmlns:p14="http://schemas.microsoft.com/office/powerpoint/2010/main" val="1817798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300"/>
              <a:t>A ‘prescribing medication’ story</a:t>
            </a:r>
            <a:r>
              <a:rPr lang="en-GB" sz="4300"/>
              <a:t> </a:t>
            </a:r>
            <a:endParaRPr lang="en-US" sz="43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US" sz="1900"/>
              <a:t>If she chooses ‘formulary’, the system displays a search box for the approved formulary. She can then search for the drug required. She selects a drug and is asked to check that the medication is correct. She enters the dose and then confirms the prescription.</a:t>
            </a:r>
          </a:p>
          <a:p>
            <a:pPr>
              <a:buFont typeface="Wingdings" panose="05000000000000000000" pitchFamily="2" charset="2"/>
              <a:buChar char="q"/>
            </a:pPr>
            <a:r>
              <a:rPr lang="en-US" sz="1900"/>
              <a:t>The system always checks that the dose is within the approved range. If it isn’t, Kate is asked to change the dose. After Kate has confirmed the prescription, it will be displayed for checking. She either clicks ‘OK’ or ‘Change’. If she clicks ‘OK’, the prescription is recorded on the database. If she clicks on ‘Change’, she reenters the ‘Prescribing medication’ process.</a:t>
            </a:r>
          </a:p>
          <a:p>
            <a:pPr>
              <a:buFont typeface="Wingdings" panose="05000000000000000000" pitchFamily="2" charset="2"/>
              <a:buChar char="q"/>
            </a:pPr>
            <a:endParaRPr lang="en-US" sz="1900"/>
          </a:p>
        </p:txBody>
      </p:sp>
    </p:spTree>
    <p:extLst>
      <p:ext uri="{BB962C8B-B14F-4D97-AF65-F5344CB8AC3E}">
        <p14:creationId xmlns:p14="http://schemas.microsoft.com/office/powerpoint/2010/main" val="17983061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9160" y="417576"/>
            <a:ext cx="8182230" cy="1249394"/>
          </a:xfrm>
        </p:spPr>
        <p:txBody>
          <a:bodyPr vert="horz" lIns="91440" tIns="45720" rIns="91440" bIns="45720" rtlCol="0" anchor="ctr">
            <a:normAutofit/>
          </a:bodyPr>
          <a:lstStyle/>
          <a:p>
            <a:pPr algn="ctr">
              <a:lnSpc>
                <a:spcPct val="90000"/>
              </a:lnSpc>
            </a:pPr>
            <a:r>
              <a:rPr lang="en-US" sz="4000" kern="1200">
                <a:solidFill>
                  <a:schemeClr val="tx1"/>
                </a:solidFill>
                <a:latin typeface="+mj-lt"/>
                <a:ea typeface="+mj-ea"/>
                <a:cs typeface="+mj-cs"/>
              </a:rPr>
              <a:t>Examples of task cards for prescribing medication </a:t>
            </a:r>
          </a:p>
        </p:txBody>
      </p:sp>
      <p:sp>
        <p:nvSpPr>
          <p:cNvPr id="14"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55776" y="1733454"/>
            <a:ext cx="3429000" cy="18288"/>
          </a:xfrm>
          <a:custGeom>
            <a:avLst/>
            <a:gdLst>
              <a:gd name="connsiteX0" fmla="*/ 0 w 3429000"/>
              <a:gd name="connsiteY0" fmla="*/ 0 h 18288"/>
              <a:gd name="connsiteX1" fmla="*/ 685800 w 3429000"/>
              <a:gd name="connsiteY1" fmla="*/ 0 h 18288"/>
              <a:gd name="connsiteX2" fmla="*/ 1371600 w 3429000"/>
              <a:gd name="connsiteY2" fmla="*/ 0 h 18288"/>
              <a:gd name="connsiteX3" fmla="*/ 2057400 w 3429000"/>
              <a:gd name="connsiteY3" fmla="*/ 0 h 18288"/>
              <a:gd name="connsiteX4" fmla="*/ 2674620 w 3429000"/>
              <a:gd name="connsiteY4" fmla="*/ 0 h 18288"/>
              <a:gd name="connsiteX5" fmla="*/ 3429000 w 3429000"/>
              <a:gd name="connsiteY5" fmla="*/ 0 h 18288"/>
              <a:gd name="connsiteX6" fmla="*/ 3429000 w 3429000"/>
              <a:gd name="connsiteY6" fmla="*/ 18288 h 18288"/>
              <a:gd name="connsiteX7" fmla="*/ 2811780 w 3429000"/>
              <a:gd name="connsiteY7" fmla="*/ 18288 h 18288"/>
              <a:gd name="connsiteX8" fmla="*/ 2228850 w 3429000"/>
              <a:gd name="connsiteY8" fmla="*/ 18288 h 18288"/>
              <a:gd name="connsiteX9" fmla="*/ 1543050 w 3429000"/>
              <a:gd name="connsiteY9" fmla="*/ 18288 h 18288"/>
              <a:gd name="connsiteX10" fmla="*/ 925830 w 3429000"/>
              <a:gd name="connsiteY10" fmla="*/ 18288 h 18288"/>
              <a:gd name="connsiteX11" fmla="*/ 0 w 3429000"/>
              <a:gd name="connsiteY11" fmla="*/ 18288 h 18288"/>
              <a:gd name="connsiteX12" fmla="*/ 0 w 342900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29000" h="18288" fill="none" extrusionOk="0">
                <a:moveTo>
                  <a:pt x="0" y="0"/>
                </a:moveTo>
                <a:cubicBezTo>
                  <a:pt x="219865" y="20479"/>
                  <a:pt x="493281" y="26186"/>
                  <a:pt x="685800" y="0"/>
                </a:cubicBezTo>
                <a:cubicBezTo>
                  <a:pt x="878319" y="-26186"/>
                  <a:pt x="1121382" y="-11869"/>
                  <a:pt x="1371600" y="0"/>
                </a:cubicBezTo>
                <a:cubicBezTo>
                  <a:pt x="1621818" y="11869"/>
                  <a:pt x="1878793" y="32281"/>
                  <a:pt x="2057400" y="0"/>
                </a:cubicBezTo>
                <a:cubicBezTo>
                  <a:pt x="2236007" y="-32281"/>
                  <a:pt x="2433797" y="-18251"/>
                  <a:pt x="2674620" y="0"/>
                </a:cubicBezTo>
                <a:cubicBezTo>
                  <a:pt x="2915443" y="18251"/>
                  <a:pt x="3205923" y="-1443"/>
                  <a:pt x="3429000" y="0"/>
                </a:cubicBezTo>
                <a:cubicBezTo>
                  <a:pt x="3429442" y="4516"/>
                  <a:pt x="3428173" y="12266"/>
                  <a:pt x="3429000" y="18288"/>
                </a:cubicBezTo>
                <a:cubicBezTo>
                  <a:pt x="3221081" y="48608"/>
                  <a:pt x="3088001" y="8066"/>
                  <a:pt x="2811780" y="18288"/>
                </a:cubicBezTo>
                <a:cubicBezTo>
                  <a:pt x="2535559" y="28510"/>
                  <a:pt x="2481355" y="24898"/>
                  <a:pt x="2228850" y="18288"/>
                </a:cubicBezTo>
                <a:cubicBezTo>
                  <a:pt x="1976345" y="11679"/>
                  <a:pt x="1807520" y="48356"/>
                  <a:pt x="1543050" y="18288"/>
                </a:cubicBezTo>
                <a:cubicBezTo>
                  <a:pt x="1278580" y="-11780"/>
                  <a:pt x="1181944" y="5123"/>
                  <a:pt x="925830" y="18288"/>
                </a:cubicBezTo>
                <a:cubicBezTo>
                  <a:pt x="669716" y="31453"/>
                  <a:pt x="410304" y="34815"/>
                  <a:pt x="0" y="18288"/>
                </a:cubicBezTo>
                <a:cubicBezTo>
                  <a:pt x="-306" y="11477"/>
                  <a:pt x="485" y="4355"/>
                  <a:pt x="0" y="0"/>
                </a:cubicBezTo>
                <a:close/>
              </a:path>
              <a:path w="3429000" h="18288" stroke="0" extrusionOk="0">
                <a:moveTo>
                  <a:pt x="0" y="0"/>
                </a:moveTo>
                <a:cubicBezTo>
                  <a:pt x="174095" y="-12874"/>
                  <a:pt x="443087" y="-14090"/>
                  <a:pt x="617220" y="0"/>
                </a:cubicBezTo>
                <a:cubicBezTo>
                  <a:pt x="791353" y="14090"/>
                  <a:pt x="1072677" y="8451"/>
                  <a:pt x="1200150" y="0"/>
                </a:cubicBezTo>
                <a:cubicBezTo>
                  <a:pt x="1327623" y="-8451"/>
                  <a:pt x="1526638" y="19866"/>
                  <a:pt x="1817370" y="0"/>
                </a:cubicBezTo>
                <a:cubicBezTo>
                  <a:pt x="2108102" y="-19866"/>
                  <a:pt x="2221289" y="26161"/>
                  <a:pt x="2503170" y="0"/>
                </a:cubicBezTo>
                <a:cubicBezTo>
                  <a:pt x="2785051" y="-26161"/>
                  <a:pt x="3022134" y="39178"/>
                  <a:pt x="3429000" y="0"/>
                </a:cubicBezTo>
                <a:cubicBezTo>
                  <a:pt x="3429577" y="4624"/>
                  <a:pt x="3429819" y="11191"/>
                  <a:pt x="3429000" y="18288"/>
                </a:cubicBezTo>
                <a:cubicBezTo>
                  <a:pt x="3103464" y="593"/>
                  <a:pt x="2887909" y="22940"/>
                  <a:pt x="2743200" y="18288"/>
                </a:cubicBezTo>
                <a:cubicBezTo>
                  <a:pt x="2598491" y="13636"/>
                  <a:pt x="2362615" y="10656"/>
                  <a:pt x="1988820" y="18288"/>
                </a:cubicBezTo>
                <a:cubicBezTo>
                  <a:pt x="1615025" y="25920"/>
                  <a:pt x="1580494" y="3693"/>
                  <a:pt x="1405890" y="18288"/>
                </a:cubicBezTo>
                <a:cubicBezTo>
                  <a:pt x="1231286" y="32884"/>
                  <a:pt x="885259" y="-16285"/>
                  <a:pt x="651510" y="18288"/>
                </a:cubicBezTo>
                <a:cubicBezTo>
                  <a:pt x="417761" y="52861"/>
                  <a:pt x="138362" y="-13856"/>
                  <a:pt x="0" y="18288"/>
                </a:cubicBezTo>
                <a:cubicBezTo>
                  <a:pt x="-171" y="12755"/>
                  <a:pt x="-690" y="793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cstate="print"/>
          <a:stretch>
            <a:fillRect/>
          </a:stretch>
        </p:blipFill>
        <p:spPr>
          <a:xfrm>
            <a:off x="1371600" y="1818226"/>
            <a:ext cx="6938938" cy="4727582"/>
          </a:xfrm>
          <a:prstGeom prst="rect">
            <a:avLst/>
          </a:prstGeom>
        </p:spPr>
      </p:pic>
    </p:spTree>
    <p:extLst>
      <p:ext uri="{BB962C8B-B14F-4D97-AF65-F5344CB8AC3E}">
        <p14:creationId xmlns:p14="http://schemas.microsoft.com/office/powerpoint/2010/main" val="4183859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XP and change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US" sz="1900"/>
              <a:t>Conventional wisdom in software engineering is to design for change. It is worth spending time and effort anticipating changes as this reduces costs later in the life cycle.</a:t>
            </a:r>
          </a:p>
          <a:p>
            <a:pPr>
              <a:buFont typeface="Wingdings" panose="05000000000000000000" pitchFamily="2" charset="2"/>
              <a:buChar char="q"/>
            </a:pPr>
            <a:r>
              <a:rPr lang="en-US" sz="1900"/>
              <a:t>XP, however, maintains that this is not worthwhile as changes cannot be constantly expected.</a:t>
            </a:r>
          </a:p>
          <a:p>
            <a:pPr>
              <a:buFont typeface="Wingdings" panose="05000000000000000000" pitchFamily="2" charset="2"/>
              <a:buChar char="q"/>
            </a:pPr>
            <a:r>
              <a:rPr lang="en-US" sz="1900"/>
              <a:t>Rather, it proposes constant code improvement (refactoring) to make changes easier when they have to be implemented.</a:t>
            </a:r>
          </a:p>
          <a:p>
            <a:pPr>
              <a:buFont typeface="Wingdings" panose="05000000000000000000" pitchFamily="2" charset="2"/>
              <a:buChar char="q"/>
            </a:pPr>
            <a:endParaRPr lang="en-US" sz="1900"/>
          </a:p>
        </p:txBody>
      </p:sp>
    </p:spTree>
    <p:extLst>
      <p:ext uri="{BB962C8B-B14F-4D97-AF65-F5344CB8AC3E}">
        <p14:creationId xmlns:p14="http://schemas.microsoft.com/office/powerpoint/2010/main" val="3195346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Refactoring</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US" sz="1900"/>
              <a:t>Programming team look for possible software improvements and make these improvements even where there is no immediate need for them.</a:t>
            </a:r>
          </a:p>
          <a:p>
            <a:pPr>
              <a:buFont typeface="Wingdings" panose="05000000000000000000" pitchFamily="2" charset="2"/>
              <a:buChar char="q"/>
            </a:pPr>
            <a:r>
              <a:rPr lang="en-US" sz="1900"/>
              <a:t>This improves the understandability of the software and so reduces the need for documentation.</a:t>
            </a:r>
          </a:p>
          <a:p>
            <a:pPr>
              <a:buFont typeface="Wingdings" panose="05000000000000000000" pitchFamily="2" charset="2"/>
              <a:buChar char="q"/>
            </a:pPr>
            <a:r>
              <a:rPr lang="en-US" sz="1900"/>
              <a:t>Changes are easier to make because the code is well-structured and clear.</a:t>
            </a:r>
          </a:p>
          <a:p>
            <a:pPr>
              <a:buFont typeface="Wingdings" panose="05000000000000000000" pitchFamily="2" charset="2"/>
              <a:buChar char="q"/>
            </a:pPr>
            <a:r>
              <a:rPr lang="en-US" sz="1900"/>
              <a:t>Examples of refactoring include the reorganization of a class hierarchy to remove duplicate code, the tidying up and renaming of attributes and methods, and the replacement of code with calls to methods defined in a program library.</a:t>
            </a:r>
          </a:p>
        </p:txBody>
      </p:sp>
    </p:spTree>
    <p:extLst>
      <p:ext uri="{BB962C8B-B14F-4D97-AF65-F5344CB8AC3E}">
        <p14:creationId xmlns:p14="http://schemas.microsoft.com/office/powerpoint/2010/main" val="104542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Code Refactoring </a:t>
            </a:r>
          </a:p>
        </p:txBody>
      </p:sp>
      <p:sp>
        <p:nvSpPr>
          <p:cNvPr id="6" name="Rectangle 5"/>
          <p:cNvSpPr/>
          <p:nvPr/>
        </p:nvSpPr>
        <p:spPr>
          <a:xfrm>
            <a:off x="685800" y="1600200"/>
            <a:ext cx="3581400" cy="4524315"/>
          </a:xfrm>
          <a:prstGeom prst="rect">
            <a:avLst/>
          </a:prstGeom>
        </p:spPr>
        <p:txBody>
          <a:bodyPr wrap="square">
            <a:spAutoFit/>
          </a:bodyPr>
          <a:lstStyle/>
          <a:p>
            <a:r>
              <a:rPr lang="en-US" dirty="0"/>
              <a:t>extern </a:t>
            </a:r>
            <a:r>
              <a:rPr lang="en-US" dirty="0" err="1"/>
              <a:t>int</a:t>
            </a:r>
            <a:r>
              <a:rPr lang="en-US" dirty="0"/>
              <a:t> </a:t>
            </a:r>
            <a:r>
              <a:rPr lang="en-US" dirty="0" err="1"/>
              <a:t>array_a</a:t>
            </a:r>
            <a:r>
              <a:rPr lang="en-US" dirty="0"/>
              <a:t>[];</a:t>
            </a:r>
          </a:p>
          <a:p>
            <a:r>
              <a:rPr lang="en-US" dirty="0"/>
              <a:t>extern </a:t>
            </a:r>
            <a:r>
              <a:rPr lang="en-US" dirty="0" err="1"/>
              <a:t>int</a:t>
            </a:r>
            <a:r>
              <a:rPr lang="en-US" dirty="0"/>
              <a:t> </a:t>
            </a:r>
            <a:r>
              <a:rPr lang="en-US" dirty="0" err="1"/>
              <a:t>array_b</a:t>
            </a:r>
            <a:r>
              <a:rPr lang="en-US" dirty="0"/>
              <a:t>[];</a:t>
            </a:r>
          </a:p>
          <a:p>
            <a:r>
              <a:rPr lang="en-US" dirty="0"/>
              <a:t> </a:t>
            </a:r>
          </a:p>
          <a:p>
            <a:r>
              <a:rPr lang="en-US" dirty="0" err="1"/>
              <a:t>int</a:t>
            </a:r>
            <a:r>
              <a:rPr lang="en-US" dirty="0"/>
              <a:t> </a:t>
            </a:r>
            <a:r>
              <a:rPr lang="en-US" dirty="0" err="1"/>
              <a:t>sum_a</a:t>
            </a:r>
            <a:r>
              <a:rPr lang="en-US" dirty="0"/>
              <a:t> = 0; </a:t>
            </a:r>
          </a:p>
          <a:p>
            <a:endParaRPr lang="en-US" dirty="0"/>
          </a:p>
          <a:p>
            <a:r>
              <a:rPr lang="en-US" dirty="0"/>
              <a:t>for (</a:t>
            </a:r>
            <a:r>
              <a:rPr lang="en-US" dirty="0" err="1"/>
              <a:t>int</a:t>
            </a:r>
            <a:r>
              <a:rPr lang="en-US" dirty="0"/>
              <a:t> </a:t>
            </a:r>
            <a:r>
              <a:rPr lang="en-US" dirty="0" err="1"/>
              <a:t>i</a:t>
            </a:r>
            <a:r>
              <a:rPr lang="en-US" dirty="0"/>
              <a:t> = 0; </a:t>
            </a:r>
            <a:r>
              <a:rPr lang="en-US" dirty="0" err="1"/>
              <a:t>i</a:t>
            </a:r>
            <a:r>
              <a:rPr lang="en-US" dirty="0"/>
              <a:t> &lt; 4; </a:t>
            </a:r>
            <a:r>
              <a:rPr lang="en-US" dirty="0" err="1"/>
              <a:t>i</a:t>
            </a:r>
            <a:r>
              <a:rPr lang="en-US" dirty="0"/>
              <a:t>++)</a:t>
            </a:r>
          </a:p>
          <a:p>
            <a:r>
              <a:rPr lang="en-US" dirty="0"/>
              <a:t>   </a:t>
            </a:r>
            <a:r>
              <a:rPr lang="en-US" dirty="0" err="1"/>
              <a:t>sum_a</a:t>
            </a:r>
            <a:r>
              <a:rPr lang="en-US" dirty="0"/>
              <a:t> += </a:t>
            </a:r>
            <a:r>
              <a:rPr lang="en-US" dirty="0" err="1"/>
              <a:t>array_a</a:t>
            </a:r>
            <a:r>
              <a:rPr lang="en-US" dirty="0"/>
              <a:t>[</a:t>
            </a:r>
            <a:r>
              <a:rPr lang="en-US" dirty="0" err="1"/>
              <a:t>i</a:t>
            </a:r>
            <a:r>
              <a:rPr lang="en-US" dirty="0"/>
              <a:t>];</a:t>
            </a:r>
          </a:p>
          <a:p>
            <a:endParaRPr lang="en-US" dirty="0"/>
          </a:p>
          <a:p>
            <a:r>
              <a:rPr lang="en-US" dirty="0" err="1"/>
              <a:t>int</a:t>
            </a:r>
            <a:r>
              <a:rPr lang="en-US" dirty="0"/>
              <a:t> </a:t>
            </a:r>
            <a:r>
              <a:rPr lang="en-US" dirty="0" err="1"/>
              <a:t>average_a</a:t>
            </a:r>
            <a:r>
              <a:rPr lang="en-US" dirty="0"/>
              <a:t> = </a:t>
            </a:r>
            <a:r>
              <a:rPr lang="en-US" dirty="0" err="1"/>
              <a:t>sum_a</a:t>
            </a:r>
            <a:r>
              <a:rPr lang="en-US" dirty="0"/>
              <a:t> / 4;</a:t>
            </a:r>
          </a:p>
          <a:p>
            <a:r>
              <a:rPr lang="en-US" dirty="0"/>
              <a:t> </a:t>
            </a:r>
          </a:p>
          <a:p>
            <a:r>
              <a:rPr lang="en-US" dirty="0" err="1"/>
              <a:t>int</a:t>
            </a:r>
            <a:r>
              <a:rPr lang="en-US" dirty="0"/>
              <a:t> </a:t>
            </a:r>
            <a:r>
              <a:rPr lang="en-US" dirty="0" err="1"/>
              <a:t>sum_b</a:t>
            </a:r>
            <a:r>
              <a:rPr lang="en-US" dirty="0"/>
              <a:t> = 0;</a:t>
            </a:r>
          </a:p>
          <a:p>
            <a:endParaRPr lang="en-US" dirty="0"/>
          </a:p>
          <a:p>
            <a:r>
              <a:rPr lang="en-US" dirty="0"/>
              <a:t>for (</a:t>
            </a:r>
            <a:r>
              <a:rPr lang="en-US" dirty="0" err="1"/>
              <a:t>int</a:t>
            </a:r>
            <a:r>
              <a:rPr lang="en-US" dirty="0"/>
              <a:t> </a:t>
            </a:r>
            <a:r>
              <a:rPr lang="en-US" dirty="0" err="1"/>
              <a:t>i</a:t>
            </a:r>
            <a:r>
              <a:rPr lang="en-US" dirty="0"/>
              <a:t> = 0; </a:t>
            </a:r>
            <a:r>
              <a:rPr lang="en-US" dirty="0" err="1"/>
              <a:t>i</a:t>
            </a:r>
            <a:r>
              <a:rPr lang="en-US" dirty="0"/>
              <a:t> &lt; 4; </a:t>
            </a:r>
            <a:r>
              <a:rPr lang="en-US" dirty="0" err="1"/>
              <a:t>i</a:t>
            </a:r>
            <a:r>
              <a:rPr lang="en-US" dirty="0"/>
              <a:t>++)</a:t>
            </a:r>
          </a:p>
          <a:p>
            <a:r>
              <a:rPr lang="en-US" dirty="0"/>
              <a:t>   </a:t>
            </a:r>
            <a:r>
              <a:rPr lang="en-US" dirty="0" err="1"/>
              <a:t>sum_b</a:t>
            </a:r>
            <a:r>
              <a:rPr lang="en-US" dirty="0"/>
              <a:t> += </a:t>
            </a:r>
            <a:r>
              <a:rPr lang="en-US" dirty="0" err="1"/>
              <a:t>array_b</a:t>
            </a:r>
            <a:r>
              <a:rPr lang="en-US" dirty="0"/>
              <a:t>[</a:t>
            </a:r>
            <a:r>
              <a:rPr lang="en-US" dirty="0" err="1"/>
              <a:t>i</a:t>
            </a:r>
            <a:r>
              <a:rPr lang="en-US" dirty="0"/>
              <a:t>];</a:t>
            </a:r>
          </a:p>
          <a:p>
            <a:endParaRPr lang="en-US" dirty="0"/>
          </a:p>
          <a:p>
            <a:r>
              <a:rPr lang="en-US" dirty="0" err="1"/>
              <a:t>int</a:t>
            </a:r>
            <a:r>
              <a:rPr lang="en-US" dirty="0"/>
              <a:t> </a:t>
            </a:r>
            <a:r>
              <a:rPr lang="en-US" dirty="0" err="1"/>
              <a:t>average_b</a:t>
            </a:r>
            <a:r>
              <a:rPr lang="en-US" dirty="0"/>
              <a:t> = </a:t>
            </a:r>
            <a:r>
              <a:rPr lang="en-US" dirty="0" err="1"/>
              <a:t>sum_b</a:t>
            </a:r>
            <a:r>
              <a:rPr lang="en-US" dirty="0"/>
              <a:t> / 4;</a:t>
            </a:r>
          </a:p>
        </p:txBody>
      </p:sp>
      <p:sp>
        <p:nvSpPr>
          <p:cNvPr id="7" name="Rectangle 6"/>
          <p:cNvSpPr/>
          <p:nvPr/>
        </p:nvSpPr>
        <p:spPr>
          <a:xfrm>
            <a:off x="4419600" y="1600200"/>
            <a:ext cx="4572000" cy="2031325"/>
          </a:xfrm>
          <a:prstGeom prst="rect">
            <a:avLst/>
          </a:prstGeom>
        </p:spPr>
        <p:txBody>
          <a:bodyPr>
            <a:spAutoFit/>
          </a:bodyPr>
          <a:lstStyle/>
          <a:p>
            <a:r>
              <a:rPr lang="en-US" dirty="0" err="1"/>
              <a:t>int</a:t>
            </a:r>
            <a:r>
              <a:rPr lang="en-US" dirty="0"/>
              <a:t> </a:t>
            </a:r>
            <a:r>
              <a:rPr lang="en-US" dirty="0" err="1"/>
              <a:t>calc_average_of_four</a:t>
            </a:r>
            <a:r>
              <a:rPr lang="en-US" dirty="0"/>
              <a:t>(</a:t>
            </a:r>
            <a:r>
              <a:rPr lang="en-US" dirty="0" err="1"/>
              <a:t>int</a:t>
            </a:r>
            <a:r>
              <a:rPr lang="en-US" dirty="0"/>
              <a:t>* array) {</a:t>
            </a:r>
          </a:p>
          <a:p>
            <a:r>
              <a:rPr lang="en-US" dirty="0"/>
              <a:t>   </a:t>
            </a:r>
            <a:r>
              <a:rPr lang="en-US" dirty="0" err="1"/>
              <a:t>int</a:t>
            </a:r>
            <a:r>
              <a:rPr lang="en-US" dirty="0"/>
              <a:t> sum = 0;</a:t>
            </a:r>
          </a:p>
          <a:p>
            <a:r>
              <a:rPr lang="en-US" dirty="0"/>
              <a:t>   for (</a:t>
            </a:r>
            <a:r>
              <a:rPr lang="en-US" dirty="0" err="1"/>
              <a:t>int</a:t>
            </a:r>
            <a:r>
              <a:rPr lang="en-US" dirty="0"/>
              <a:t> </a:t>
            </a:r>
            <a:r>
              <a:rPr lang="en-US" dirty="0" err="1"/>
              <a:t>i</a:t>
            </a:r>
            <a:r>
              <a:rPr lang="en-US" dirty="0"/>
              <a:t> = 0; </a:t>
            </a:r>
            <a:r>
              <a:rPr lang="en-US" dirty="0" err="1"/>
              <a:t>i</a:t>
            </a:r>
            <a:r>
              <a:rPr lang="en-US" dirty="0"/>
              <a:t> &lt; 4; </a:t>
            </a:r>
            <a:r>
              <a:rPr lang="en-US" dirty="0" err="1"/>
              <a:t>i</a:t>
            </a:r>
            <a:r>
              <a:rPr lang="en-US" dirty="0"/>
              <a:t>++)</a:t>
            </a:r>
          </a:p>
          <a:p>
            <a:r>
              <a:rPr lang="en-US" dirty="0"/>
              <a:t>       sum += array[</a:t>
            </a:r>
            <a:r>
              <a:rPr lang="en-US" dirty="0" err="1"/>
              <a:t>i</a:t>
            </a:r>
            <a:r>
              <a:rPr lang="en-US" dirty="0"/>
              <a:t>];</a:t>
            </a:r>
          </a:p>
          <a:p>
            <a:endParaRPr lang="en-US" dirty="0"/>
          </a:p>
          <a:p>
            <a:r>
              <a:rPr lang="en-US" dirty="0"/>
              <a:t>   return sum / 4;</a:t>
            </a:r>
          </a:p>
          <a:p>
            <a:r>
              <a:rPr lang="en-US" dirty="0"/>
              <a:t>}</a:t>
            </a:r>
          </a:p>
        </p:txBody>
      </p:sp>
      <p:sp>
        <p:nvSpPr>
          <p:cNvPr id="8" name="Rectangle 7"/>
          <p:cNvSpPr/>
          <p:nvPr/>
        </p:nvSpPr>
        <p:spPr>
          <a:xfrm>
            <a:off x="4419600" y="4191000"/>
            <a:ext cx="4572000" cy="1477328"/>
          </a:xfrm>
          <a:prstGeom prst="rect">
            <a:avLst/>
          </a:prstGeom>
        </p:spPr>
        <p:txBody>
          <a:bodyPr>
            <a:spAutoFit/>
          </a:bodyPr>
          <a:lstStyle/>
          <a:p>
            <a:r>
              <a:rPr lang="en-US" dirty="0"/>
              <a:t>extern </a:t>
            </a:r>
            <a:r>
              <a:rPr lang="en-US" dirty="0" err="1"/>
              <a:t>int</a:t>
            </a:r>
            <a:r>
              <a:rPr lang="en-US" dirty="0"/>
              <a:t> array1[];</a:t>
            </a:r>
          </a:p>
          <a:p>
            <a:r>
              <a:rPr lang="en-US" dirty="0"/>
              <a:t>extern </a:t>
            </a:r>
            <a:r>
              <a:rPr lang="en-US" dirty="0" err="1"/>
              <a:t>int</a:t>
            </a:r>
            <a:r>
              <a:rPr lang="en-US" dirty="0"/>
              <a:t> array2[];</a:t>
            </a:r>
          </a:p>
          <a:p>
            <a:endParaRPr lang="en-US" dirty="0"/>
          </a:p>
          <a:p>
            <a:r>
              <a:rPr lang="en-US" dirty="0" err="1"/>
              <a:t>int</a:t>
            </a:r>
            <a:r>
              <a:rPr lang="en-US" dirty="0"/>
              <a:t> average1 = </a:t>
            </a:r>
            <a:r>
              <a:rPr lang="en-US" dirty="0" err="1"/>
              <a:t>calcAverage</a:t>
            </a:r>
            <a:r>
              <a:rPr lang="en-US" dirty="0"/>
              <a:t>(array1);</a:t>
            </a:r>
          </a:p>
          <a:p>
            <a:r>
              <a:rPr lang="en-US" dirty="0" err="1"/>
              <a:t>int</a:t>
            </a:r>
            <a:r>
              <a:rPr lang="en-US" dirty="0"/>
              <a:t> average2 = </a:t>
            </a:r>
            <a:r>
              <a:rPr lang="en-US" dirty="0" err="1"/>
              <a:t>calcAverage</a:t>
            </a:r>
            <a:r>
              <a:rPr lang="en-US" dirty="0"/>
              <a:t>(array2);</a:t>
            </a:r>
          </a:p>
        </p:txBody>
      </p:sp>
    </p:spTree>
    <p:extLst>
      <p:ext uri="{BB962C8B-B14F-4D97-AF65-F5344CB8AC3E}">
        <p14:creationId xmlns:p14="http://schemas.microsoft.com/office/powerpoint/2010/main" val="123129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refactoring</a:t>
            </a:r>
          </a:p>
        </p:txBody>
      </p:sp>
      <p:sp>
        <p:nvSpPr>
          <p:cNvPr id="3" name="Content Placeholder 2"/>
          <p:cNvSpPr>
            <a:spLocks noGrp="1"/>
          </p:cNvSpPr>
          <p:nvPr>
            <p:ph idx="1"/>
          </p:nvPr>
        </p:nvSpPr>
        <p:spPr>
          <a:xfrm>
            <a:off x="838200" y="1447800"/>
            <a:ext cx="7772400" cy="4114800"/>
          </a:xfrm>
        </p:spPr>
        <p:txBody>
          <a:bodyPr/>
          <a:lstStyle/>
          <a:p>
            <a:pPr algn="just">
              <a:buFont typeface="Wingdings" panose="05000000000000000000" pitchFamily="2" charset="2"/>
              <a:buChar char="q"/>
            </a:pPr>
            <a:r>
              <a:rPr lang="en-US" sz="2400" dirty="0"/>
              <a:t>Renaming attributes and methods to make them easier to understand.</a:t>
            </a:r>
          </a:p>
          <a:p>
            <a:pPr algn="just">
              <a:buFont typeface="Wingdings" panose="05000000000000000000" pitchFamily="2" charset="2"/>
              <a:buChar char="q"/>
            </a:pPr>
            <a:r>
              <a:rPr lang="en-US" sz="2400" dirty="0"/>
              <a:t>Duplicate code</a:t>
            </a:r>
          </a:p>
          <a:p>
            <a:pPr lvl="1" algn="just">
              <a:buFont typeface="Wingdings" panose="05000000000000000000" pitchFamily="2" charset="2"/>
              <a:buChar char="q"/>
            </a:pPr>
            <a:r>
              <a:rPr lang="en-US" sz="2400" dirty="0"/>
              <a:t>Same code structure at more than one places</a:t>
            </a:r>
          </a:p>
          <a:p>
            <a:pPr lvl="1" algn="just">
              <a:buFont typeface="Wingdings" panose="05000000000000000000" pitchFamily="2" charset="2"/>
              <a:buChar char="q"/>
            </a:pPr>
            <a:r>
              <a:rPr lang="en-US" sz="2400" dirty="0"/>
              <a:t>Extract method and invoke the code from both places</a:t>
            </a:r>
          </a:p>
          <a:p>
            <a:pPr algn="just">
              <a:buFont typeface="Wingdings" panose="05000000000000000000" pitchFamily="2" charset="2"/>
              <a:buChar char="q"/>
            </a:pPr>
            <a:r>
              <a:rPr lang="en-US" sz="2400" dirty="0"/>
              <a:t>Low coupling and high cohesion</a:t>
            </a:r>
          </a:p>
          <a:p>
            <a:pPr marL="0" indent="0" algn="just">
              <a:buNone/>
            </a:pPr>
            <a:endParaRPr lang="en-US" sz="2400" dirty="0"/>
          </a:p>
        </p:txBody>
      </p:sp>
      <p:grpSp>
        <p:nvGrpSpPr>
          <p:cNvPr id="4" name="Group 4"/>
          <p:cNvGrpSpPr>
            <a:grpSpLocks/>
          </p:cNvGrpSpPr>
          <p:nvPr/>
        </p:nvGrpSpPr>
        <p:grpSpPr bwMode="auto">
          <a:xfrm>
            <a:off x="1044575" y="4852988"/>
            <a:ext cx="1676400" cy="1066800"/>
            <a:chOff x="658" y="2403"/>
            <a:chExt cx="1056" cy="672"/>
          </a:xfrm>
        </p:grpSpPr>
        <p:sp>
          <p:nvSpPr>
            <p:cNvPr id="5" name="Rectangle 4"/>
            <p:cNvSpPr>
              <a:spLocks noChangeArrowheads="1"/>
            </p:cNvSpPr>
            <p:nvPr/>
          </p:nvSpPr>
          <p:spPr bwMode="auto">
            <a:xfrm>
              <a:off x="658" y="2403"/>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6" name="Rectangle 5"/>
            <p:cNvSpPr>
              <a:spLocks noChangeArrowheads="1"/>
            </p:cNvSpPr>
            <p:nvPr/>
          </p:nvSpPr>
          <p:spPr bwMode="auto">
            <a:xfrm>
              <a:off x="658" y="2835"/>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7" name="Rectangle 6"/>
            <p:cNvSpPr>
              <a:spLocks noChangeArrowheads="1"/>
            </p:cNvSpPr>
            <p:nvPr/>
          </p:nvSpPr>
          <p:spPr bwMode="auto">
            <a:xfrm>
              <a:off x="1282" y="2835"/>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8" name="Rectangle 7"/>
            <p:cNvSpPr>
              <a:spLocks noChangeArrowheads="1"/>
            </p:cNvSpPr>
            <p:nvPr/>
          </p:nvSpPr>
          <p:spPr bwMode="auto">
            <a:xfrm>
              <a:off x="1282" y="2403"/>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grpSp>
      <p:sp>
        <p:nvSpPr>
          <p:cNvPr id="9" name="Text Box 20"/>
          <p:cNvSpPr txBox="1">
            <a:spLocks noChangeArrowheads="1"/>
          </p:cNvSpPr>
          <p:nvPr/>
        </p:nvSpPr>
        <p:spPr bwMode="auto">
          <a:xfrm>
            <a:off x="815975" y="6002338"/>
            <a:ext cx="2162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lgn="ctr">
              <a:spcBef>
                <a:spcPct val="0"/>
              </a:spcBef>
              <a:buClrTx/>
              <a:buSzTx/>
              <a:buFontTx/>
              <a:buNone/>
            </a:pPr>
            <a:r>
              <a:rPr lang="en-US" altLang="en-US" sz="2000"/>
              <a:t>No dependencies</a:t>
            </a:r>
          </a:p>
        </p:txBody>
      </p:sp>
      <p:sp>
        <p:nvSpPr>
          <p:cNvPr id="10" name="Text Box 21"/>
          <p:cNvSpPr txBox="1">
            <a:spLocks noChangeArrowheads="1"/>
          </p:cNvSpPr>
          <p:nvPr/>
        </p:nvSpPr>
        <p:spPr bwMode="auto">
          <a:xfrm>
            <a:off x="3449638" y="5978525"/>
            <a:ext cx="22288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lgn="ctr">
              <a:spcBef>
                <a:spcPct val="0"/>
              </a:spcBef>
              <a:buClrTx/>
              <a:buSzTx/>
              <a:buFontTx/>
              <a:buNone/>
            </a:pPr>
            <a:r>
              <a:rPr lang="en-US" altLang="en-US" sz="1800"/>
              <a:t>Loosely coupled</a:t>
            </a:r>
          </a:p>
          <a:p>
            <a:pPr algn="ctr">
              <a:spcBef>
                <a:spcPct val="0"/>
              </a:spcBef>
              <a:buClrTx/>
              <a:buSzTx/>
              <a:buFontTx/>
              <a:buNone/>
            </a:pPr>
            <a:r>
              <a:rPr lang="en-US" altLang="en-US" sz="1800"/>
              <a:t>some dependencies</a:t>
            </a:r>
          </a:p>
        </p:txBody>
      </p:sp>
      <p:grpSp>
        <p:nvGrpSpPr>
          <p:cNvPr id="11" name="Group 11"/>
          <p:cNvGrpSpPr>
            <a:grpSpLocks/>
          </p:cNvGrpSpPr>
          <p:nvPr/>
        </p:nvGrpSpPr>
        <p:grpSpPr bwMode="auto">
          <a:xfrm>
            <a:off x="3711575" y="4852988"/>
            <a:ext cx="1676400" cy="1066800"/>
            <a:chOff x="2338" y="2283"/>
            <a:chExt cx="1056" cy="672"/>
          </a:xfrm>
        </p:grpSpPr>
        <p:sp>
          <p:nvSpPr>
            <p:cNvPr id="12" name="Rectangle 12"/>
            <p:cNvSpPr>
              <a:spLocks noChangeArrowheads="1"/>
            </p:cNvSpPr>
            <p:nvPr/>
          </p:nvSpPr>
          <p:spPr bwMode="auto">
            <a:xfrm>
              <a:off x="2338" y="2283"/>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3" name="Rectangle 13"/>
            <p:cNvSpPr>
              <a:spLocks noChangeArrowheads="1"/>
            </p:cNvSpPr>
            <p:nvPr/>
          </p:nvSpPr>
          <p:spPr bwMode="auto">
            <a:xfrm>
              <a:off x="2338" y="2715"/>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4" name="Rectangle 14"/>
            <p:cNvSpPr>
              <a:spLocks noChangeArrowheads="1"/>
            </p:cNvSpPr>
            <p:nvPr/>
          </p:nvSpPr>
          <p:spPr bwMode="auto">
            <a:xfrm>
              <a:off x="2962" y="2715"/>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5" name="Rectangle 15"/>
            <p:cNvSpPr>
              <a:spLocks noChangeArrowheads="1"/>
            </p:cNvSpPr>
            <p:nvPr/>
          </p:nvSpPr>
          <p:spPr bwMode="auto">
            <a:xfrm>
              <a:off x="2962" y="2283"/>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6" name="Line 22"/>
            <p:cNvSpPr>
              <a:spLocks noChangeShapeType="1"/>
            </p:cNvSpPr>
            <p:nvPr/>
          </p:nvSpPr>
          <p:spPr bwMode="auto">
            <a:xfrm>
              <a:off x="2770" y="2379"/>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 name="Line 23"/>
            <p:cNvSpPr>
              <a:spLocks noChangeShapeType="1"/>
            </p:cNvSpPr>
            <p:nvPr/>
          </p:nvSpPr>
          <p:spPr bwMode="auto">
            <a:xfrm>
              <a:off x="2434" y="2523"/>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 name="Line 24"/>
            <p:cNvSpPr>
              <a:spLocks noChangeShapeType="1"/>
            </p:cNvSpPr>
            <p:nvPr/>
          </p:nvSpPr>
          <p:spPr bwMode="auto">
            <a:xfrm>
              <a:off x="3154" y="2523"/>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 name="Line 25"/>
            <p:cNvSpPr>
              <a:spLocks noChangeShapeType="1"/>
            </p:cNvSpPr>
            <p:nvPr/>
          </p:nvSpPr>
          <p:spPr bwMode="auto">
            <a:xfrm flipV="1">
              <a:off x="2578" y="2523"/>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 name="Line 26"/>
            <p:cNvSpPr>
              <a:spLocks noChangeShapeType="1"/>
            </p:cNvSpPr>
            <p:nvPr/>
          </p:nvSpPr>
          <p:spPr bwMode="auto">
            <a:xfrm flipV="1">
              <a:off x="3298" y="2523"/>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 name="Line 27"/>
            <p:cNvSpPr>
              <a:spLocks noChangeShapeType="1"/>
            </p:cNvSpPr>
            <p:nvPr/>
          </p:nvSpPr>
          <p:spPr bwMode="auto">
            <a:xfrm flipH="1">
              <a:off x="2770" y="2859"/>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2" name="Group 22"/>
          <p:cNvGrpSpPr>
            <a:grpSpLocks/>
          </p:cNvGrpSpPr>
          <p:nvPr/>
        </p:nvGrpSpPr>
        <p:grpSpPr bwMode="auto">
          <a:xfrm>
            <a:off x="6507163" y="4852988"/>
            <a:ext cx="1676400" cy="1066800"/>
            <a:chOff x="4134" y="2327"/>
            <a:chExt cx="1056" cy="672"/>
          </a:xfrm>
        </p:grpSpPr>
        <p:sp>
          <p:nvSpPr>
            <p:cNvPr id="23" name="Rectangle 16"/>
            <p:cNvSpPr>
              <a:spLocks noChangeArrowheads="1"/>
            </p:cNvSpPr>
            <p:nvPr/>
          </p:nvSpPr>
          <p:spPr bwMode="auto">
            <a:xfrm>
              <a:off x="4134" y="2327"/>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24" name="Rectangle 17"/>
            <p:cNvSpPr>
              <a:spLocks noChangeArrowheads="1"/>
            </p:cNvSpPr>
            <p:nvPr/>
          </p:nvSpPr>
          <p:spPr bwMode="auto">
            <a:xfrm>
              <a:off x="4134" y="2759"/>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25" name="Rectangle 18"/>
            <p:cNvSpPr>
              <a:spLocks noChangeArrowheads="1"/>
            </p:cNvSpPr>
            <p:nvPr/>
          </p:nvSpPr>
          <p:spPr bwMode="auto">
            <a:xfrm>
              <a:off x="4758" y="2759"/>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26" name="Rectangle 19"/>
            <p:cNvSpPr>
              <a:spLocks noChangeArrowheads="1"/>
            </p:cNvSpPr>
            <p:nvPr/>
          </p:nvSpPr>
          <p:spPr bwMode="auto">
            <a:xfrm>
              <a:off x="4758" y="2327"/>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27" name="Line 28"/>
            <p:cNvSpPr>
              <a:spLocks noChangeShapeType="1"/>
            </p:cNvSpPr>
            <p:nvPr/>
          </p:nvSpPr>
          <p:spPr bwMode="auto">
            <a:xfrm flipV="1">
              <a:off x="4230" y="2567"/>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 name="Line 29"/>
            <p:cNvSpPr>
              <a:spLocks noChangeShapeType="1"/>
            </p:cNvSpPr>
            <p:nvPr/>
          </p:nvSpPr>
          <p:spPr bwMode="auto">
            <a:xfrm flipV="1">
              <a:off x="4326" y="2567"/>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 name="Line 30"/>
            <p:cNvSpPr>
              <a:spLocks noChangeShapeType="1"/>
            </p:cNvSpPr>
            <p:nvPr/>
          </p:nvSpPr>
          <p:spPr bwMode="auto">
            <a:xfrm flipV="1">
              <a:off x="4422" y="2567"/>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 name="Line 31"/>
            <p:cNvSpPr>
              <a:spLocks noChangeShapeType="1"/>
            </p:cNvSpPr>
            <p:nvPr/>
          </p:nvSpPr>
          <p:spPr bwMode="auto">
            <a:xfrm flipV="1">
              <a:off x="4806" y="2567"/>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 name="Line 32"/>
            <p:cNvSpPr>
              <a:spLocks noChangeShapeType="1"/>
            </p:cNvSpPr>
            <p:nvPr/>
          </p:nvSpPr>
          <p:spPr bwMode="auto">
            <a:xfrm flipV="1">
              <a:off x="4902" y="2567"/>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 name="Line 34"/>
            <p:cNvSpPr>
              <a:spLocks noChangeShapeType="1"/>
            </p:cNvSpPr>
            <p:nvPr/>
          </p:nvSpPr>
          <p:spPr bwMode="auto">
            <a:xfrm>
              <a:off x="4566" y="2375"/>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 name="Line 35"/>
            <p:cNvSpPr>
              <a:spLocks noChangeShapeType="1"/>
            </p:cNvSpPr>
            <p:nvPr/>
          </p:nvSpPr>
          <p:spPr bwMode="auto">
            <a:xfrm>
              <a:off x="4566" y="2519"/>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 name="Line 36"/>
            <p:cNvSpPr>
              <a:spLocks noChangeShapeType="1"/>
            </p:cNvSpPr>
            <p:nvPr/>
          </p:nvSpPr>
          <p:spPr bwMode="auto">
            <a:xfrm>
              <a:off x="4566" y="2855"/>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 name="Line 37"/>
            <p:cNvSpPr>
              <a:spLocks noChangeShapeType="1"/>
            </p:cNvSpPr>
            <p:nvPr/>
          </p:nvSpPr>
          <p:spPr bwMode="auto">
            <a:xfrm flipH="1">
              <a:off x="4566" y="2423"/>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 name="Line 38"/>
            <p:cNvSpPr>
              <a:spLocks noChangeShapeType="1"/>
            </p:cNvSpPr>
            <p:nvPr/>
          </p:nvSpPr>
          <p:spPr bwMode="auto">
            <a:xfrm>
              <a:off x="4566" y="2471"/>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 name="Line 39"/>
            <p:cNvSpPr>
              <a:spLocks noChangeShapeType="1"/>
            </p:cNvSpPr>
            <p:nvPr/>
          </p:nvSpPr>
          <p:spPr bwMode="auto">
            <a:xfrm flipH="1">
              <a:off x="4566" y="2903"/>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 name="Line 40"/>
            <p:cNvSpPr>
              <a:spLocks noChangeShapeType="1"/>
            </p:cNvSpPr>
            <p:nvPr/>
          </p:nvSpPr>
          <p:spPr bwMode="auto">
            <a:xfrm flipH="1">
              <a:off x="4566" y="2951"/>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 name="Line 41"/>
            <p:cNvSpPr>
              <a:spLocks noChangeShapeType="1"/>
            </p:cNvSpPr>
            <p:nvPr/>
          </p:nvSpPr>
          <p:spPr bwMode="auto">
            <a:xfrm flipV="1">
              <a:off x="4458" y="2567"/>
              <a:ext cx="300" cy="1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 name="Line 42"/>
            <p:cNvSpPr>
              <a:spLocks noChangeShapeType="1"/>
            </p:cNvSpPr>
            <p:nvPr/>
          </p:nvSpPr>
          <p:spPr bwMode="auto">
            <a:xfrm flipV="1">
              <a:off x="4518" y="2615"/>
              <a:ext cx="24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41" name="Text Box 43"/>
          <p:cNvSpPr txBox="1">
            <a:spLocks noChangeArrowheads="1"/>
          </p:cNvSpPr>
          <p:nvPr/>
        </p:nvSpPr>
        <p:spPr bwMode="auto">
          <a:xfrm>
            <a:off x="6249988" y="5988050"/>
            <a:ext cx="22288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lgn="ctr">
              <a:spcBef>
                <a:spcPct val="0"/>
              </a:spcBef>
              <a:buClrTx/>
              <a:buSzTx/>
              <a:buFontTx/>
              <a:buNone/>
            </a:pPr>
            <a:r>
              <a:rPr lang="en-US" altLang="en-US" sz="1800" dirty="0"/>
              <a:t>Highly coupled</a:t>
            </a:r>
          </a:p>
          <a:p>
            <a:pPr algn="ctr">
              <a:spcBef>
                <a:spcPct val="0"/>
              </a:spcBef>
              <a:buClrTx/>
              <a:buSzTx/>
              <a:buFontTx/>
              <a:buNone/>
            </a:pPr>
            <a:r>
              <a:rPr lang="en-US" altLang="en-US" sz="1800" dirty="0"/>
              <a:t>many dependencies</a:t>
            </a:r>
          </a:p>
        </p:txBody>
      </p:sp>
    </p:spTree>
    <p:extLst>
      <p:ext uri="{BB962C8B-B14F-4D97-AF65-F5344CB8AC3E}">
        <p14:creationId xmlns:p14="http://schemas.microsoft.com/office/powerpoint/2010/main" val="1311732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Testing in XP</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US" sz="1900"/>
              <a:t>Testing is central to XP and XP has developed an approach where the program is tested after every change has been made.</a:t>
            </a:r>
          </a:p>
          <a:p>
            <a:pPr>
              <a:buFont typeface="Wingdings" panose="05000000000000000000" pitchFamily="2" charset="2"/>
              <a:buChar char="q"/>
            </a:pPr>
            <a:r>
              <a:rPr lang="en-US" sz="1900"/>
              <a:t>XP testing features:</a:t>
            </a:r>
          </a:p>
          <a:p>
            <a:pPr lvl="1">
              <a:buFont typeface="Wingdings" panose="05000000000000000000" pitchFamily="2" charset="2"/>
              <a:buChar char="q"/>
            </a:pPr>
            <a:r>
              <a:rPr lang="en-US" sz="1900"/>
              <a:t>Test-first development.</a:t>
            </a:r>
          </a:p>
          <a:p>
            <a:pPr lvl="1">
              <a:buFont typeface="Wingdings" panose="05000000000000000000" pitchFamily="2" charset="2"/>
              <a:buChar char="q"/>
            </a:pPr>
            <a:r>
              <a:rPr lang="en-US" sz="1900"/>
              <a:t>Incremental test development from scenarios.</a:t>
            </a:r>
          </a:p>
          <a:p>
            <a:pPr lvl="1">
              <a:buFont typeface="Wingdings" panose="05000000000000000000" pitchFamily="2" charset="2"/>
              <a:buChar char="q"/>
            </a:pPr>
            <a:r>
              <a:rPr lang="en-US" sz="1900"/>
              <a:t>User involvement in test development and validation.</a:t>
            </a:r>
          </a:p>
          <a:p>
            <a:pPr lvl="1">
              <a:buFont typeface="Wingdings" panose="05000000000000000000" pitchFamily="2" charset="2"/>
              <a:buChar char="q"/>
            </a:pPr>
            <a:r>
              <a:rPr lang="en-US" sz="1900"/>
              <a:t>Automated test are used to run all component tests each time that a new release is built.</a:t>
            </a:r>
          </a:p>
        </p:txBody>
      </p:sp>
    </p:spTree>
    <p:extLst>
      <p:ext uri="{BB962C8B-B14F-4D97-AF65-F5344CB8AC3E}">
        <p14:creationId xmlns:p14="http://schemas.microsoft.com/office/powerpoint/2010/main" val="9674727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Test-first development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US" sz="1900"/>
              <a:t>Writing tests before code clarifies the requirements to be implemented.</a:t>
            </a:r>
          </a:p>
          <a:p>
            <a:pPr>
              <a:buFont typeface="Wingdings" panose="05000000000000000000" pitchFamily="2" charset="2"/>
              <a:buChar char="q"/>
            </a:pPr>
            <a:r>
              <a:rPr lang="en-US" sz="1900"/>
              <a:t>Tests are written as programs so that they can be executed automatically. The test includes a check that it has executed correctly.</a:t>
            </a:r>
          </a:p>
          <a:p>
            <a:pPr lvl="1">
              <a:buFont typeface="Wingdings" panose="05000000000000000000" pitchFamily="2" charset="2"/>
              <a:buChar char="q"/>
            </a:pPr>
            <a:r>
              <a:rPr lang="en-US" sz="1900"/>
              <a:t>Usually relies on a testing framework such as Junit.</a:t>
            </a:r>
          </a:p>
          <a:p>
            <a:pPr>
              <a:buFont typeface="Wingdings" panose="05000000000000000000" pitchFamily="2" charset="2"/>
              <a:buChar char="q"/>
            </a:pPr>
            <a:r>
              <a:rPr lang="en-US" sz="1900"/>
              <a:t>All previous and new tests are run when new functionality is added, thus checking that the new functionality has not introduced errors.</a:t>
            </a:r>
          </a:p>
          <a:p>
            <a:pPr>
              <a:buFont typeface="Wingdings" panose="05000000000000000000" pitchFamily="2" charset="2"/>
              <a:buChar char="q"/>
            </a:pPr>
            <a:endParaRPr lang="en-US" sz="1900"/>
          </a:p>
        </p:txBody>
      </p:sp>
    </p:spTree>
    <p:extLst>
      <p:ext uri="{BB962C8B-B14F-4D97-AF65-F5344CB8AC3E}">
        <p14:creationId xmlns:p14="http://schemas.microsoft.com/office/powerpoint/2010/main" val="190051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8229600" cy="1143000"/>
          </a:xfrm>
        </p:spPr>
        <p:txBody>
          <a:bodyPr/>
          <a:lstStyle/>
          <a:p>
            <a:r>
              <a:rPr lang="en-US" dirty="0"/>
              <a:t>Person class</a:t>
            </a:r>
          </a:p>
        </p:txBody>
      </p:sp>
      <p:sp>
        <p:nvSpPr>
          <p:cNvPr id="4" name="Rectangle 3"/>
          <p:cNvSpPr/>
          <p:nvPr/>
        </p:nvSpPr>
        <p:spPr>
          <a:xfrm>
            <a:off x="304800" y="1508879"/>
            <a:ext cx="4572000" cy="3139321"/>
          </a:xfrm>
          <a:prstGeom prst="rect">
            <a:avLst/>
          </a:prstGeom>
        </p:spPr>
        <p:txBody>
          <a:bodyPr>
            <a:spAutoFit/>
          </a:bodyPr>
          <a:lstStyle/>
          <a:p>
            <a:r>
              <a:rPr lang="en-US" b="1" dirty="0">
                <a:solidFill>
                  <a:srgbClr val="7F0055"/>
                </a:solidFill>
                <a:latin typeface="CourierNewPS-BoldMT"/>
              </a:rPr>
              <a:t>public class </a:t>
            </a:r>
            <a:r>
              <a:rPr lang="en-US" dirty="0">
                <a:solidFill>
                  <a:srgbClr val="000000"/>
                </a:solidFill>
                <a:latin typeface="CourierNewPSMT"/>
              </a:rPr>
              <a:t>Person {</a:t>
            </a:r>
          </a:p>
          <a:p>
            <a:r>
              <a:rPr lang="en-US" dirty="0">
                <a:solidFill>
                  <a:srgbClr val="3F7F5F"/>
                </a:solidFill>
                <a:latin typeface="CourierNewPSMT"/>
              </a:rPr>
              <a:t>// fields</a:t>
            </a:r>
          </a:p>
          <a:p>
            <a:r>
              <a:rPr lang="en-US" b="1" dirty="0">
                <a:solidFill>
                  <a:srgbClr val="7F0055"/>
                </a:solidFill>
                <a:latin typeface="CourierNewPS-BoldMT"/>
              </a:rPr>
              <a:t>private </a:t>
            </a:r>
            <a:r>
              <a:rPr lang="en-US" dirty="0">
                <a:solidFill>
                  <a:srgbClr val="000000"/>
                </a:solidFill>
                <a:latin typeface="CourierNewPSMT"/>
              </a:rPr>
              <a:t>String </a:t>
            </a:r>
            <a:r>
              <a:rPr lang="en-US" dirty="0">
                <a:solidFill>
                  <a:srgbClr val="0000C1"/>
                </a:solidFill>
                <a:latin typeface="CourierNewPSMT"/>
              </a:rPr>
              <a:t>name</a:t>
            </a:r>
            <a:r>
              <a:rPr lang="en-US" dirty="0">
                <a:solidFill>
                  <a:srgbClr val="000000"/>
                </a:solidFill>
                <a:latin typeface="CourierNewPSMT"/>
              </a:rPr>
              <a:t>; </a:t>
            </a:r>
            <a:r>
              <a:rPr lang="en-US" dirty="0">
                <a:solidFill>
                  <a:srgbClr val="3F7F5F"/>
                </a:solidFill>
                <a:latin typeface="CourierNewPSMT"/>
              </a:rPr>
              <a:t>// name of the person</a:t>
            </a:r>
          </a:p>
          <a:p>
            <a:r>
              <a:rPr lang="en-US" b="1" dirty="0">
                <a:solidFill>
                  <a:srgbClr val="7F0055"/>
                </a:solidFill>
                <a:latin typeface="CourierNewPS-BoldMT"/>
              </a:rPr>
              <a:t>private </a:t>
            </a:r>
            <a:r>
              <a:rPr lang="en-US" b="1" dirty="0" err="1">
                <a:solidFill>
                  <a:srgbClr val="7F0055"/>
                </a:solidFill>
                <a:latin typeface="CourierNewPS-BoldMT"/>
              </a:rPr>
              <a:t>int</a:t>
            </a:r>
            <a:r>
              <a:rPr lang="en-US" b="1" dirty="0">
                <a:solidFill>
                  <a:srgbClr val="7F0055"/>
                </a:solidFill>
                <a:latin typeface="CourierNewPS-BoldMT"/>
              </a:rPr>
              <a:t> </a:t>
            </a:r>
            <a:r>
              <a:rPr lang="en-US" dirty="0" err="1">
                <a:solidFill>
                  <a:srgbClr val="0000C1"/>
                </a:solidFill>
                <a:latin typeface="CourierNewPSMT"/>
              </a:rPr>
              <a:t>maximumBooks</a:t>
            </a:r>
            <a:r>
              <a:rPr lang="en-US" dirty="0">
                <a:solidFill>
                  <a:srgbClr val="000000"/>
                </a:solidFill>
                <a:latin typeface="CourierNewPSMT"/>
              </a:rPr>
              <a:t>; </a:t>
            </a:r>
            <a:r>
              <a:rPr lang="en-US" dirty="0">
                <a:solidFill>
                  <a:srgbClr val="3F7F5F"/>
                </a:solidFill>
                <a:latin typeface="CourierNewPSMT"/>
              </a:rPr>
              <a:t>// most books the person can check out</a:t>
            </a:r>
          </a:p>
          <a:p>
            <a:r>
              <a:rPr lang="en-US" dirty="0">
                <a:solidFill>
                  <a:srgbClr val="3F7F5F"/>
                </a:solidFill>
                <a:latin typeface="CourierNewPSMT"/>
              </a:rPr>
              <a:t>// constructors</a:t>
            </a:r>
          </a:p>
          <a:p>
            <a:r>
              <a:rPr lang="en-US" b="1" dirty="0">
                <a:solidFill>
                  <a:srgbClr val="7F0055"/>
                </a:solidFill>
                <a:latin typeface="CourierNewPS-BoldMT"/>
              </a:rPr>
              <a:t>public </a:t>
            </a:r>
            <a:r>
              <a:rPr lang="en-US" dirty="0">
                <a:solidFill>
                  <a:srgbClr val="000000"/>
                </a:solidFill>
                <a:latin typeface="CourierNewPSMT"/>
              </a:rPr>
              <a:t>Person() {</a:t>
            </a:r>
          </a:p>
          <a:p>
            <a:r>
              <a:rPr lang="en-US" dirty="0">
                <a:solidFill>
                  <a:srgbClr val="0000C1"/>
                </a:solidFill>
                <a:latin typeface="CourierNewPSMT"/>
              </a:rPr>
              <a:t>name </a:t>
            </a:r>
            <a:r>
              <a:rPr lang="en-US" dirty="0">
                <a:solidFill>
                  <a:srgbClr val="000000"/>
                </a:solidFill>
                <a:latin typeface="CourierNewPSMT"/>
              </a:rPr>
              <a:t>= </a:t>
            </a:r>
            <a:r>
              <a:rPr lang="en-US" dirty="0">
                <a:solidFill>
                  <a:srgbClr val="2A00FF"/>
                </a:solidFill>
                <a:latin typeface="CourierNewPSMT"/>
              </a:rPr>
              <a:t>"unknown name"</a:t>
            </a:r>
            <a:r>
              <a:rPr lang="en-US" dirty="0">
                <a:solidFill>
                  <a:srgbClr val="000000"/>
                </a:solidFill>
                <a:latin typeface="CourierNewPSMT"/>
              </a:rPr>
              <a:t>;</a:t>
            </a:r>
          </a:p>
          <a:p>
            <a:r>
              <a:rPr lang="en-US" dirty="0" err="1">
                <a:solidFill>
                  <a:srgbClr val="0000C1"/>
                </a:solidFill>
                <a:latin typeface="CourierNewPSMT"/>
              </a:rPr>
              <a:t>maximumBooks</a:t>
            </a:r>
            <a:r>
              <a:rPr lang="en-US" dirty="0">
                <a:solidFill>
                  <a:srgbClr val="0000C1"/>
                </a:solidFill>
                <a:latin typeface="CourierNewPSMT"/>
              </a:rPr>
              <a:t> </a:t>
            </a:r>
            <a:r>
              <a:rPr lang="en-US" dirty="0">
                <a:solidFill>
                  <a:srgbClr val="000000"/>
                </a:solidFill>
                <a:latin typeface="CourierNewPSMT"/>
              </a:rPr>
              <a:t>= 3;</a:t>
            </a:r>
          </a:p>
          <a:p>
            <a:r>
              <a:rPr lang="en-US" dirty="0">
                <a:solidFill>
                  <a:srgbClr val="000000"/>
                </a:solidFill>
                <a:latin typeface="CourierNewPSMT"/>
              </a:rPr>
              <a:t>}</a:t>
            </a:r>
          </a:p>
          <a:p>
            <a:r>
              <a:rPr lang="en-US" dirty="0">
                <a:solidFill>
                  <a:srgbClr val="000000"/>
                </a:solidFill>
                <a:latin typeface="CourierNewPSMT"/>
              </a:rPr>
              <a:t>}</a:t>
            </a:r>
            <a:endParaRPr lang="en-US" dirty="0"/>
          </a:p>
        </p:txBody>
      </p:sp>
      <p:sp>
        <p:nvSpPr>
          <p:cNvPr id="5" name="Rectangle 4"/>
          <p:cNvSpPr/>
          <p:nvPr/>
        </p:nvSpPr>
        <p:spPr>
          <a:xfrm>
            <a:off x="4892899" y="1386514"/>
            <a:ext cx="4572000" cy="2585323"/>
          </a:xfrm>
          <a:prstGeom prst="rect">
            <a:avLst/>
          </a:prstGeom>
        </p:spPr>
        <p:txBody>
          <a:bodyPr>
            <a:spAutoFit/>
          </a:bodyPr>
          <a:lstStyle/>
          <a:p>
            <a:r>
              <a:rPr lang="en-US" dirty="0">
                <a:solidFill>
                  <a:srgbClr val="3F7F5F"/>
                </a:solidFill>
                <a:latin typeface="CourierNewPSMT"/>
              </a:rPr>
              <a:t>//methods</a:t>
            </a:r>
          </a:p>
          <a:p>
            <a:r>
              <a:rPr lang="en-US" b="1" dirty="0">
                <a:solidFill>
                  <a:srgbClr val="7F0055"/>
                </a:solidFill>
                <a:latin typeface="CourierNewPS-BoldMT"/>
              </a:rPr>
              <a:t>public </a:t>
            </a:r>
            <a:r>
              <a:rPr lang="en-US" dirty="0">
                <a:solidFill>
                  <a:srgbClr val="000000"/>
                </a:solidFill>
                <a:latin typeface="CourierNewPSMT"/>
              </a:rPr>
              <a:t>String </a:t>
            </a:r>
            <a:r>
              <a:rPr lang="en-US" dirty="0" err="1">
                <a:solidFill>
                  <a:srgbClr val="000000"/>
                </a:solidFill>
                <a:latin typeface="CourierNewPSMT"/>
              </a:rPr>
              <a:t>getName</a:t>
            </a:r>
            <a:r>
              <a:rPr lang="en-US" dirty="0">
                <a:solidFill>
                  <a:srgbClr val="000000"/>
                </a:solidFill>
                <a:latin typeface="CourierNewPSMT"/>
              </a:rPr>
              <a:t>() {</a:t>
            </a:r>
          </a:p>
          <a:p>
            <a:r>
              <a:rPr lang="en-US" b="1" dirty="0">
                <a:solidFill>
                  <a:srgbClr val="7F0055"/>
                </a:solidFill>
                <a:latin typeface="CourierNewPS-BoldMT"/>
              </a:rPr>
              <a:t>return </a:t>
            </a:r>
            <a:r>
              <a:rPr lang="en-US" dirty="0">
                <a:solidFill>
                  <a:srgbClr val="0000C1"/>
                </a:solidFill>
                <a:latin typeface="CourierNewPSMT"/>
              </a:rPr>
              <a:t>name</a:t>
            </a:r>
            <a:r>
              <a:rPr lang="en-US" dirty="0">
                <a:solidFill>
                  <a:srgbClr val="000000"/>
                </a:solidFill>
                <a:latin typeface="CourierNewPSMT"/>
              </a:rPr>
              <a:t>;</a:t>
            </a:r>
          </a:p>
          <a:p>
            <a:r>
              <a:rPr lang="en-US" dirty="0">
                <a:solidFill>
                  <a:srgbClr val="000000"/>
                </a:solidFill>
                <a:latin typeface="CourierNewPSMT"/>
              </a:rPr>
              <a:t>}</a:t>
            </a:r>
          </a:p>
          <a:p>
            <a:r>
              <a:rPr lang="en-US" b="1" dirty="0">
                <a:solidFill>
                  <a:srgbClr val="7F0055"/>
                </a:solidFill>
                <a:latin typeface="CourierNewPS-BoldMT"/>
              </a:rPr>
              <a:t>public void </a:t>
            </a:r>
            <a:r>
              <a:rPr lang="en-US" dirty="0" err="1">
                <a:solidFill>
                  <a:srgbClr val="000000"/>
                </a:solidFill>
                <a:latin typeface="CourierNewPSMT"/>
              </a:rPr>
              <a:t>setName</a:t>
            </a:r>
            <a:r>
              <a:rPr lang="en-US" dirty="0">
                <a:solidFill>
                  <a:srgbClr val="000000"/>
                </a:solidFill>
                <a:latin typeface="CourierNewPSMT"/>
              </a:rPr>
              <a:t>(String </a:t>
            </a:r>
            <a:r>
              <a:rPr lang="en-US" dirty="0" err="1">
                <a:solidFill>
                  <a:srgbClr val="000000"/>
                </a:solidFill>
                <a:latin typeface="CourierNewPSMT"/>
              </a:rPr>
              <a:t>anyName</a:t>
            </a:r>
            <a:r>
              <a:rPr lang="en-US" dirty="0">
                <a:solidFill>
                  <a:srgbClr val="000000"/>
                </a:solidFill>
                <a:latin typeface="CourierNewPSMT"/>
              </a:rPr>
              <a:t>) {</a:t>
            </a:r>
          </a:p>
          <a:p>
            <a:r>
              <a:rPr lang="en-US" dirty="0">
                <a:solidFill>
                  <a:srgbClr val="0000C1"/>
                </a:solidFill>
                <a:latin typeface="CourierNewPSMT"/>
              </a:rPr>
              <a:t>name </a:t>
            </a:r>
            <a:r>
              <a:rPr lang="en-US" dirty="0">
                <a:solidFill>
                  <a:srgbClr val="000000"/>
                </a:solidFill>
                <a:latin typeface="CourierNewPSMT"/>
              </a:rPr>
              <a:t>= </a:t>
            </a:r>
            <a:r>
              <a:rPr lang="en-US" dirty="0" err="1">
                <a:solidFill>
                  <a:srgbClr val="000000"/>
                </a:solidFill>
                <a:latin typeface="CourierNewPSMT"/>
              </a:rPr>
              <a:t>anyName</a:t>
            </a:r>
            <a:r>
              <a:rPr lang="en-US" dirty="0">
                <a:solidFill>
                  <a:srgbClr val="000000"/>
                </a:solidFill>
                <a:latin typeface="CourierNewPSMT"/>
              </a:rPr>
              <a:t>;</a:t>
            </a:r>
          </a:p>
          <a:p>
            <a:r>
              <a:rPr lang="en-US" dirty="0">
                <a:solidFill>
                  <a:srgbClr val="000000"/>
                </a:solidFill>
                <a:latin typeface="CourierNewPSMT"/>
              </a:rPr>
              <a:t>}</a:t>
            </a:r>
          </a:p>
          <a:p>
            <a:r>
              <a:rPr lang="en-US" b="1" dirty="0">
                <a:solidFill>
                  <a:srgbClr val="7F0055"/>
                </a:solidFill>
                <a:latin typeface="CourierNewPS-BoldMT"/>
              </a:rPr>
              <a:t>public </a:t>
            </a:r>
            <a:r>
              <a:rPr lang="en-US" b="1" dirty="0" err="1">
                <a:solidFill>
                  <a:srgbClr val="7F0055"/>
                </a:solidFill>
                <a:latin typeface="CourierNewPS-BoldMT"/>
              </a:rPr>
              <a:t>int</a:t>
            </a:r>
            <a:r>
              <a:rPr lang="en-US" b="1" dirty="0">
                <a:solidFill>
                  <a:srgbClr val="7F0055"/>
                </a:solidFill>
                <a:latin typeface="CourierNewPS-BoldMT"/>
              </a:rPr>
              <a:t> </a:t>
            </a:r>
            <a:r>
              <a:rPr lang="en-US" dirty="0" err="1">
                <a:solidFill>
                  <a:srgbClr val="000000"/>
                </a:solidFill>
                <a:latin typeface="CourierNewPSMT"/>
              </a:rPr>
              <a:t>getMaximumBooks</a:t>
            </a:r>
            <a:r>
              <a:rPr lang="en-US" dirty="0">
                <a:solidFill>
                  <a:srgbClr val="000000"/>
                </a:solidFill>
                <a:latin typeface="CourierNewPSMT"/>
              </a:rPr>
              <a:t>() {</a:t>
            </a:r>
          </a:p>
          <a:p>
            <a:endParaRPr lang="en-US" dirty="0"/>
          </a:p>
        </p:txBody>
      </p:sp>
      <p:sp>
        <p:nvSpPr>
          <p:cNvPr id="6" name="Rectangle 5"/>
          <p:cNvSpPr/>
          <p:nvPr/>
        </p:nvSpPr>
        <p:spPr>
          <a:xfrm>
            <a:off x="4892899" y="3733800"/>
            <a:ext cx="4572000" cy="2308324"/>
          </a:xfrm>
          <a:prstGeom prst="rect">
            <a:avLst/>
          </a:prstGeom>
        </p:spPr>
        <p:txBody>
          <a:bodyPr wrap="square">
            <a:spAutoFit/>
          </a:bodyPr>
          <a:lstStyle/>
          <a:p>
            <a:r>
              <a:rPr lang="en-US" b="1" dirty="0">
                <a:solidFill>
                  <a:srgbClr val="7F0055"/>
                </a:solidFill>
                <a:latin typeface="CourierNewPS-BoldMT"/>
              </a:rPr>
              <a:t>return </a:t>
            </a:r>
            <a:r>
              <a:rPr lang="en-US" dirty="0" err="1">
                <a:solidFill>
                  <a:srgbClr val="0000C1"/>
                </a:solidFill>
                <a:latin typeface="CourierNewPSMT"/>
              </a:rPr>
              <a:t>maximumBooks</a:t>
            </a:r>
            <a:r>
              <a:rPr lang="en-US" dirty="0">
                <a:solidFill>
                  <a:srgbClr val="000000"/>
                </a:solidFill>
                <a:latin typeface="CourierNewPSMT"/>
              </a:rPr>
              <a:t>;</a:t>
            </a:r>
          </a:p>
          <a:p>
            <a:r>
              <a:rPr lang="en-US" dirty="0">
                <a:solidFill>
                  <a:srgbClr val="000000"/>
                </a:solidFill>
                <a:latin typeface="CourierNewPSMT"/>
              </a:rPr>
              <a:t>}</a:t>
            </a:r>
          </a:p>
          <a:p>
            <a:r>
              <a:rPr lang="en-US" b="1" dirty="0">
                <a:solidFill>
                  <a:srgbClr val="7F0055"/>
                </a:solidFill>
                <a:latin typeface="CourierNewPS-BoldMT"/>
              </a:rPr>
              <a:t>public void </a:t>
            </a:r>
            <a:r>
              <a:rPr lang="en-US" dirty="0" err="1">
                <a:solidFill>
                  <a:srgbClr val="000000"/>
                </a:solidFill>
                <a:latin typeface="CourierNewPSMT"/>
              </a:rPr>
              <a:t>setMaximumBooks</a:t>
            </a:r>
            <a:r>
              <a:rPr lang="en-US" dirty="0">
                <a:solidFill>
                  <a:srgbClr val="000000"/>
                </a:solidFill>
                <a:latin typeface="CourierNewPSMT"/>
              </a:rPr>
              <a:t>(</a:t>
            </a:r>
            <a:r>
              <a:rPr lang="en-US" b="1" dirty="0" err="1">
                <a:solidFill>
                  <a:srgbClr val="7F0055"/>
                </a:solidFill>
                <a:latin typeface="CourierNewPS-BoldMT"/>
              </a:rPr>
              <a:t>int</a:t>
            </a:r>
            <a:r>
              <a:rPr lang="en-US" b="1" dirty="0">
                <a:solidFill>
                  <a:srgbClr val="7F0055"/>
                </a:solidFill>
                <a:latin typeface="CourierNewPS-BoldMT"/>
              </a:rPr>
              <a:t> </a:t>
            </a:r>
            <a:r>
              <a:rPr lang="en-US" dirty="0" err="1">
                <a:solidFill>
                  <a:srgbClr val="000000"/>
                </a:solidFill>
                <a:latin typeface="CourierNewPSMT"/>
              </a:rPr>
              <a:t>maximumBooks</a:t>
            </a:r>
            <a:r>
              <a:rPr lang="en-US" dirty="0">
                <a:solidFill>
                  <a:srgbClr val="000000"/>
                </a:solidFill>
                <a:latin typeface="CourierNewPSMT"/>
              </a:rPr>
              <a:t>) {</a:t>
            </a:r>
          </a:p>
          <a:p>
            <a:r>
              <a:rPr lang="en-US" b="1" dirty="0" err="1">
                <a:solidFill>
                  <a:srgbClr val="7F0055"/>
                </a:solidFill>
                <a:latin typeface="CourierNewPS-BoldMT"/>
              </a:rPr>
              <a:t>this</a:t>
            </a:r>
            <a:r>
              <a:rPr lang="en-US" dirty="0" err="1">
                <a:solidFill>
                  <a:srgbClr val="000000"/>
                </a:solidFill>
                <a:latin typeface="CourierNewPSMT"/>
              </a:rPr>
              <a:t>.</a:t>
            </a:r>
            <a:r>
              <a:rPr lang="en-US" dirty="0" err="1">
                <a:solidFill>
                  <a:srgbClr val="0000C1"/>
                </a:solidFill>
                <a:latin typeface="CourierNewPSMT"/>
              </a:rPr>
              <a:t>maximumBooks</a:t>
            </a:r>
            <a:r>
              <a:rPr lang="en-US" dirty="0">
                <a:solidFill>
                  <a:srgbClr val="0000C1"/>
                </a:solidFill>
                <a:latin typeface="CourierNewPSMT"/>
              </a:rPr>
              <a:t> </a:t>
            </a:r>
            <a:r>
              <a:rPr lang="en-US" dirty="0">
                <a:solidFill>
                  <a:srgbClr val="000000"/>
                </a:solidFill>
                <a:latin typeface="CourierNewPSMT"/>
              </a:rPr>
              <a:t>= </a:t>
            </a:r>
            <a:r>
              <a:rPr lang="en-US" dirty="0" err="1">
                <a:solidFill>
                  <a:srgbClr val="000000"/>
                </a:solidFill>
                <a:latin typeface="CourierNewPSMT"/>
              </a:rPr>
              <a:t>maximumBooks</a:t>
            </a:r>
            <a:r>
              <a:rPr lang="en-US" dirty="0">
                <a:solidFill>
                  <a:srgbClr val="000000"/>
                </a:solidFill>
                <a:latin typeface="CourierNewPSMT"/>
              </a:rPr>
              <a:t>;</a:t>
            </a:r>
          </a:p>
          <a:p>
            <a:r>
              <a:rPr lang="en-US" dirty="0">
                <a:solidFill>
                  <a:srgbClr val="000000"/>
                </a:solidFill>
                <a:latin typeface="CourierNewPSMT"/>
              </a:rPr>
              <a:t>}</a:t>
            </a:r>
          </a:p>
          <a:p>
            <a:r>
              <a:rPr lang="en-US" dirty="0">
                <a:solidFill>
                  <a:srgbClr val="000000"/>
                </a:solidFill>
                <a:latin typeface="CourierNewPSMT"/>
              </a:rPr>
              <a:t>}</a:t>
            </a:r>
            <a:endParaRPr lang="en-US" dirty="0"/>
          </a:p>
        </p:txBody>
      </p:sp>
    </p:spTree>
    <p:extLst>
      <p:ext uri="{BB962C8B-B14F-4D97-AF65-F5344CB8AC3E}">
        <p14:creationId xmlns:p14="http://schemas.microsoft.com/office/powerpoint/2010/main" val="4241821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 Case</a:t>
            </a:r>
          </a:p>
        </p:txBody>
      </p:sp>
      <p:sp>
        <p:nvSpPr>
          <p:cNvPr id="4" name="Rectangle 3"/>
          <p:cNvSpPr/>
          <p:nvPr/>
        </p:nvSpPr>
        <p:spPr>
          <a:xfrm>
            <a:off x="304800" y="1423004"/>
            <a:ext cx="8382000" cy="1754326"/>
          </a:xfrm>
          <a:prstGeom prst="rect">
            <a:avLst/>
          </a:prstGeom>
        </p:spPr>
        <p:txBody>
          <a:bodyPr wrap="square">
            <a:spAutoFit/>
          </a:bodyPr>
          <a:lstStyle/>
          <a:p>
            <a:r>
              <a:rPr lang="en-US" b="1" dirty="0">
                <a:solidFill>
                  <a:srgbClr val="7F0055"/>
                </a:solidFill>
                <a:latin typeface="CourierNewPS-BoldMT"/>
              </a:rPr>
              <a:t>import </a:t>
            </a:r>
            <a:r>
              <a:rPr lang="en-US" dirty="0" err="1">
                <a:solidFill>
                  <a:srgbClr val="000000"/>
                </a:solidFill>
                <a:latin typeface="CourierNewPSMT"/>
              </a:rPr>
              <a:t>junit.framework.TestCase</a:t>
            </a:r>
            <a:r>
              <a:rPr lang="en-US" dirty="0">
                <a:solidFill>
                  <a:srgbClr val="000000"/>
                </a:solidFill>
                <a:latin typeface="CourierNewPSMT"/>
              </a:rPr>
              <a:t>;</a:t>
            </a:r>
          </a:p>
          <a:p>
            <a:r>
              <a:rPr lang="en-US" b="1" dirty="0">
                <a:solidFill>
                  <a:srgbClr val="7F0055"/>
                </a:solidFill>
                <a:latin typeface="CourierNewPS-BoldMT"/>
              </a:rPr>
              <a:t>public class </a:t>
            </a:r>
            <a:r>
              <a:rPr lang="en-US" dirty="0" err="1">
                <a:solidFill>
                  <a:srgbClr val="000000"/>
                </a:solidFill>
                <a:latin typeface="CourierNewPSMT"/>
              </a:rPr>
              <a:t>PersonTest</a:t>
            </a:r>
            <a:r>
              <a:rPr lang="en-US" dirty="0">
                <a:solidFill>
                  <a:srgbClr val="000000"/>
                </a:solidFill>
                <a:latin typeface="CourierNewPSMT"/>
              </a:rPr>
              <a:t> </a:t>
            </a:r>
            <a:r>
              <a:rPr lang="en-US" b="1" dirty="0">
                <a:solidFill>
                  <a:srgbClr val="7F0055"/>
                </a:solidFill>
                <a:latin typeface="CourierNewPS-BoldMT"/>
              </a:rPr>
              <a:t>extends </a:t>
            </a:r>
            <a:r>
              <a:rPr lang="en-US" dirty="0" err="1">
                <a:solidFill>
                  <a:srgbClr val="000000"/>
                </a:solidFill>
                <a:latin typeface="CourierNewPSMT"/>
              </a:rPr>
              <a:t>TestCase</a:t>
            </a:r>
            <a:r>
              <a:rPr lang="en-US" dirty="0">
                <a:solidFill>
                  <a:srgbClr val="000000"/>
                </a:solidFill>
                <a:latin typeface="CourierNewPSMT"/>
              </a:rPr>
              <a:t> {</a:t>
            </a:r>
          </a:p>
          <a:p>
            <a:r>
              <a:rPr lang="en-US" b="1" dirty="0">
                <a:solidFill>
                  <a:srgbClr val="7F0055"/>
                </a:solidFill>
                <a:latin typeface="CourierNewPS-BoldMT"/>
              </a:rPr>
              <a:t>public void </a:t>
            </a:r>
            <a:r>
              <a:rPr lang="en-US" dirty="0" err="1">
                <a:solidFill>
                  <a:srgbClr val="000000"/>
                </a:solidFill>
                <a:latin typeface="CourierNewPSMT"/>
              </a:rPr>
              <a:t>testPerson</a:t>
            </a:r>
            <a:r>
              <a:rPr lang="en-US" dirty="0">
                <a:solidFill>
                  <a:srgbClr val="000000"/>
                </a:solidFill>
                <a:latin typeface="CourierNewPSMT"/>
              </a:rPr>
              <a:t>() {</a:t>
            </a:r>
          </a:p>
          <a:p>
            <a:r>
              <a:rPr lang="en-US" dirty="0">
                <a:solidFill>
                  <a:srgbClr val="000000"/>
                </a:solidFill>
                <a:latin typeface="CourierNewPSMT"/>
              </a:rPr>
              <a:t>Person p1 = </a:t>
            </a:r>
            <a:r>
              <a:rPr lang="en-US" b="1" dirty="0">
                <a:solidFill>
                  <a:srgbClr val="7F0055"/>
                </a:solidFill>
                <a:latin typeface="CourierNewPS-BoldMT"/>
              </a:rPr>
              <a:t>new </a:t>
            </a:r>
            <a:r>
              <a:rPr lang="en-US" dirty="0">
                <a:solidFill>
                  <a:srgbClr val="000000"/>
                </a:solidFill>
                <a:latin typeface="CourierNewPSMT"/>
              </a:rPr>
              <a:t>Person();</a:t>
            </a:r>
          </a:p>
          <a:p>
            <a:r>
              <a:rPr lang="en-US" i="1" dirty="0" err="1">
                <a:solidFill>
                  <a:srgbClr val="000000"/>
                </a:solidFill>
                <a:latin typeface="CourierNewPS-ItalicMT"/>
              </a:rPr>
              <a:t>assertEquals</a:t>
            </a:r>
            <a:r>
              <a:rPr lang="en-US" dirty="0">
                <a:solidFill>
                  <a:srgbClr val="000000"/>
                </a:solidFill>
                <a:latin typeface="CourierNewPSMT"/>
              </a:rPr>
              <a:t>(</a:t>
            </a:r>
            <a:r>
              <a:rPr lang="en-US" dirty="0">
                <a:solidFill>
                  <a:srgbClr val="2A00FF"/>
                </a:solidFill>
                <a:latin typeface="CourierNewPSMT"/>
              </a:rPr>
              <a:t>"unknown name"</a:t>
            </a:r>
            <a:r>
              <a:rPr lang="en-US" dirty="0">
                <a:solidFill>
                  <a:srgbClr val="000000"/>
                </a:solidFill>
                <a:latin typeface="CourierNewPSMT"/>
              </a:rPr>
              <a:t>, p1.getName());</a:t>
            </a:r>
          </a:p>
          <a:p>
            <a:endParaRPr lang="en-US" dirty="0"/>
          </a:p>
        </p:txBody>
      </p:sp>
      <p:sp>
        <p:nvSpPr>
          <p:cNvPr id="5" name="Rectangle 4"/>
          <p:cNvSpPr/>
          <p:nvPr/>
        </p:nvSpPr>
        <p:spPr>
          <a:xfrm>
            <a:off x="304800" y="2859881"/>
            <a:ext cx="7467600" cy="3693319"/>
          </a:xfrm>
          <a:prstGeom prst="rect">
            <a:avLst/>
          </a:prstGeom>
        </p:spPr>
        <p:txBody>
          <a:bodyPr wrap="square">
            <a:spAutoFit/>
          </a:bodyPr>
          <a:lstStyle/>
          <a:p>
            <a:r>
              <a:rPr lang="en-US" i="1" dirty="0" err="1">
                <a:solidFill>
                  <a:srgbClr val="000000"/>
                </a:solidFill>
                <a:latin typeface="CourierNewPS-ItalicMT"/>
              </a:rPr>
              <a:t>assertEquals</a:t>
            </a:r>
            <a:r>
              <a:rPr lang="en-US" dirty="0">
                <a:solidFill>
                  <a:srgbClr val="000000"/>
                </a:solidFill>
                <a:latin typeface="CourierNewPSMT"/>
              </a:rPr>
              <a:t>(3, p1.getMaximumBooks());</a:t>
            </a:r>
          </a:p>
          <a:p>
            <a:r>
              <a:rPr lang="en-US" dirty="0">
                <a:solidFill>
                  <a:srgbClr val="000000"/>
                </a:solidFill>
                <a:latin typeface="CourierNewPSMT"/>
              </a:rPr>
              <a:t>}</a:t>
            </a:r>
          </a:p>
          <a:p>
            <a:r>
              <a:rPr lang="en-US" b="1" dirty="0">
                <a:solidFill>
                  <a:srgbClr val="7F0055"/>
                </a:solidFill>
                <a:latin typeface="CourierNewPS-BoldMT"/>
              </a:rPr>
              <a:t>public void </a:t>
            </a:r>
            <a:r>
              <a:rPr lang="en-US" dirty="0" err="1">
                <a:solidFill>
                  <a:srgbClr val="000000"/>
                </a:solidFill>
                <a:latin typeface="CourierNewPSMT"/>
              </a:rPr>
              <a:t>testSetName</a:t>
            </a:r>
            <a:r>
              <a:rPr lang="en-US" dirty="0">
                <a:solidFill>
                  <a:srgbClr val="000000"/>
                </a:solidFill>
                <a:latin typeface="CourierNewPSMT"/>
              </a:rPr>
              <a:t>() {</a:t>
            </a:r>
          </a:p>
          <a:p>
            <a:r>
              <a:rPr lang="en-US" dirty="0">
                <a:solidFill>
                  <a:srgbClr val="000000"/>
                </a:solidFill>
                <a:latin typeface="CourierNewPSMT"/>
              </a:rPr>
              <a:t>Person p2 = </a:t>
            </a:r>
            <a:r>
              <a:rPr lang="en-US" b="1" dirty="0">
                <a:solidFill>
                  <a:srgbClr val="7F0055"/>
                </a:solidFill>
                <a:latin typeface="CourierNewPS-BoldMT"/>
              </a:rPr>
              <a:t>new </a:t>
            </a:r>
            <a:r>
              <a:rPr lang="en-US" dirty="0">
                <a:solidFill>
                  <a:srgbClr val="000000"/>
                </a:solidFill>
                <a:latin typeface="CourierNewPSMT"/>
              </a:rPr>
              <a:t>Person();</a:t>
            </a:r>
          </a:p>
          <a:p>
            <a:r>
              <a:rPr lang="en-US" dirty="0">
                <a:solidFill>
                  <a:srgbClr val="000000"/>
                </a:solidFill>
                <a:latin typeface="CourierNewPSMT"/>
              </a:rPr>
              <a:t>p2.setName(</a:t>
            </a:r>
            <a:r>
              <a:rPr lang="en-US" dirty="0">
                <a:solidFill>
                  <a:srgbClr val="2A00FF"/>
                </a:solidFill>
                <a:latin typeface="CourierNewPSMT"/>
              </a:rPr>
              <a:t>"Fred"</a:t>
            </a:r>
            <a:r>
              <a:rPr lang="en-US" dirty="0">
                <a:solidFill>
                  <a:srgbClr val="000000"/>
                </a:solidFill>
                <a:latin typeface="CourierNewPSMT"/>
              </a:rPr>
              <a:t>);</a:t>
            </a:r>
          </a:p>
          <a:p>
            <a:r>
              <a:rPr lang="en-US" i="1" dirty="0" err="1">
                <a:solidFill>
                  <a:srgbClr val="000000"/>
                </a:solidFill>
                <a:latin typeface="CourierNewPS-ItalicMT"/>
              </a:rPr>
              <a:t>assertEquals</a:t>
            </a:r>
            <a:r>
              <a:rPr lang="en-US" dirty="0">
                <a:solidFill>
                  <a:srgbClr val="000000"/>
                </a:solidFill>
                <a:latin typeface="CourierNewPSMT"/>
              </a:rPr>
              <a:t>(</a:t>
            </a:r>
            <a:r>
              <a:rPr lang="en-US" dirty="0">
                <a:solidFill>
                  <a:srgbClr val="2A00FF"/>
                </a:solidFill>
                <a:latin typeface="CourierNewPSMT"/>
              </a:rPr>
              <a:t>"Fred"</a:t>
            </a:r>
            <a:r>
              <a:rPr lang="en-US" dirty="0">
                <a:solidFill>
                  <a:srgbClr val="000000"/>
                </a:solidFill>
                <a:latin typeface="CourierNewPSMT"/>
              </a:rPr>
              <a:t>, p2.getName());</a:t>
            </a:r>
          </a:p>
          <a:p>
            <a:r>
              <a:rPr lang="en-US" dirty="0">
                <a:solidFill>
                  <a:srgbClr val="000000"/>
                </a:solidFill>
                <a:latin typeface="CourierNewPSMT"/>
              </a:rPr>
              <a:t>}</a:t>
            </a:r>
          </a:p>
          <a:p>
            <a:r>
              <a:rPr lang="en-US" b="1" dirty="0">
                <a:solidFill>
                  <a:srgbClr val="7F0055"/>
                </a:solidFill>
                <a:latin typeface="CourierNewPS-BoldMT"/>
              </a:rPr>
              <a:t>public void </a:t>
            </a:r>
            <a:r>
              <a:rPr lang="en-US" dirty="0" err="1">
                <a:solidFill>
                  <a:srgbClr val="000000"/>
                </a:solidFill>
                <a:latin typeface="CourierNewPSMT"/>
              </a:rPr>
              <a:t>testSetMaximumBooks</a:t>
            </a:r>
            <a:r>
              <a:rPr lang="en-US" dirty="0">
                <a:solidFill>
                  <a:srgbClr val="000000"/>
                </a:solidFill>
                <a:latin typeface="CourierNewPSMT"/>
              </a:rPr>
              <a:t>() {</a:t>
            </a:r>
          </a:p>
          <a:p>
            <a:r>
              <a:rPr lang="en-US" dirty="0">
                <a:solidFill>
                  <a:srgbClr val="000000"/>
                </a:solidFill>
                <a:latin typeface="CourierNewPSMT"/>
              </a:rPr>
              <a:t>Person p3 = </a:t>
            </a:r>
            <a:r>
              <a:rPr lang="en-US" b="1" dirty="0">
                <a:solidFill>
                  <a:srgbClr val="7F0055"/>
                </a:solidFill>
                <a:latin typeface="CourierNewPS-BoldMT"/>
              </a:rPr>
              <a:t>new </a:t>
            </a:r>
            <a:r>
              <a:rPr lang="en-US" dirty="0">
                <a:solidFill>
                  <a:srgbClr val="000000"/>
                </a:solidFill>
                <a:latin typeface="CourierNewPSMT"/>
              </a:rPr>
              <a:t>Person();</a:t>
            </a:r>
          </a:p>
          <a:p>
            <a:r>
              <a:rPr lang="en-US" dirty="0">
                <a:solidFill>
                  <a:srgbClr val="000000"/>
                </a:solidFill>
                <a:latin typeface="CourierNewPSMT"/>
              </a:rPr>
              <a:t>p3.setMaximumBooks(10);</a:t>
            </a:r>
          </a:p>
          <a:p>
            <a:r>
              <a:rPr lang="en-US" i="1" dirty="0" err="1">
                <a:solidFill>
                  <a:srgbClr val="000000"/>
                </a:solidFill>
                <a:latin typeface="CourierNewPS-ItalicMT"/>
              </a:rPr>
              <a:t>assertEquals</a:t>
            </a:r>
            <a:r>
              <a:rPr lang="en-US" dirty="0">
                <a:solidFill>
                  <a:srgbClr val="000000"/>
                </a:solidFill>
                <a:latin typeface="CourierNewPSMT"/>
              </a:rPr>
              <a:t>(10,p3.getMaximumBook());</a:t>
            </a:r>
          </a:p>
          <a:p>
            <a:r>
              <a:rPr lang="en-US" dirty="0">
                <a:solidFill>
                  <a:srgbClr val="000000"/>
                </a:solidFill>
                <a:latin typeface="CourierNewPSMT"/>
              </a:rPr>
              <a:t>}</a:t>
            </a:r>
          </a:p>
          <a:p>
            <a:r>
              <a:rPr lang="en-US" dirty="0">
                <a:solidFill>
                  <a:srgbClr val="000000"/>
                </a:solidFill>
                <a:latin typeface="CourierNewPSMT"/>
              </a:rPr>
              <a:t>}</a:t>
            </a:r>
            <a:endParaRPr lang="en-US" dirty="0"/>
          </a:p>
        </p:txBody>
      </p:sp>
    </p:spTree>
    <p:extLst>
      <p:ext uri="{BB962C8B-B14F-4D97-AF65-F5344CB8AC3E}">
        <p14:creationId xmlns:p14="http://schemas.microsoft.com/office/powerpoint/2010/main" val="1338820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p:cNvSpPr>
            <a:spLocks noGrp="1"/>
          </p:cNvSpPr>
          <p:nvPr>
            <p:ph type="title"/>
          </p:nvPr>
        </p:nvSpPr>
        <p:spPr>
          <a:xfrm>
            <a:off x="628650" y="365125"/>
            <a:ext cx="7886700" cy="1325563"/>
          </a:xfrm>
        </p:spPr>
        <p:txBody>
          <a:bodyPr>
            <a:normAutofit/>
          </a:bodyPr>
          <a:lstStyle/>
          <a:p>
            <a:r>
              <a:rPr lang="en-US" sz="4700"/>
              <a:t>Test – Dose checking </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p:cNvSpPr>
            <a:spLocks noGrp="1"/>
          </p:cNvSpPr>
          <p:nvPr>
            <p:ph idx="1"/>
          </p:nvPr>
        </p:nvSpPr>
        <p:spPr>
          <a:xfrm>
            <a:off x="628650" y="1929384"/>
            <a:ext cx="7886700" cy="4251960"/>
          </a:xfrm>
        </p:spPr>
        <p:txBody>
          <a:bodyPr>
            <a:normAutofit/>
          </a:bodyPr>
          <a:lstStyle/>
          <a:p>
            <a:pPr>
              <a:lnSpc>
                <a:spcPct val="90000"/>
              </a:lnSpc>
              <a:buFont typeface="Wingdings" panose="05000000000000000000" pitchFamily="2" charset="2"/>
              <a:buChar char="q"/>
            </a:pPr>
            <a:r>
              <a:rPr lang="en-US" sz="1800" b="1"/>
              <a:t>Input:</a:t>
            </a:r>
          </a:p>
          <a:p>
            <a:pPr lvl="1">
              <a:lnSpc>
                <a:spcPct val="90000"/>
              </a:lnSpc>
              <a:buFont typeface="Wingdings" panose="05000000000000000000" pitchFamily="2" charset="2"/>
              <a:buChar char="q"/>
            </a:pPr>
            <a:r>
              <a:rPr lang="en-US" sz="1800"/>
              <a:t>1. A number in mg representing a single dose of the drug.</a:t>
            </a:r>
          </a:p>
          <a:p>
            <a:pPr lvl="1">
              <a:lnSpc>
                <a:spcPct val="90000"/>
              </a:lnSpc>
              <a:buFont typeface="Wingdings" panose="05000000000000000000" pitchFamily="2" charset="2"/>
              <a:buChar char="q"/>
            </a:pPr>
            <a:r>
              <a:rPr lang="en-US" sz="1800"/>
              <a:t>2. A number representing the number of single doses per day.</a:t>
            </a:r>
          </a:p>
          <a:p>
            <a:pPr>
              <a:lnSpc>
                <a:spcPct val="90000"/>
              </a:lnSpc>
              <a:buFont typeface="Wingdings" panose="05000000000000000000" pitchFamily="2" charset="2"/>
              <a:buChar char="q"/>
            </a:pPr>
            <a:r>
              <a:rPr lang="en-US" sz="1800" b="1"/>
              <a:t>Tests:</a:t>
            </a:r>
          </a:p>
          <a:p>
            <a:pPr lvl="1">
              <a:lnSpc>
                <a:spcPct val="90000"/>
              </a:lnSpc>
              <a:buFont typeface="Wingdings" panose="05000000000000000000" pitchFamily="2" charset="2"/>
              <a:buChar char="q"/>
            </a:pPr>
            <a:r>
              <a:rPr lang="en-US" sz="1800"/>
              <a:t>1. Test for inputs where the single dose is too high and too low.</a:t>
            </a:r>
          </a:p>
          <a:p>
            <a:pPr lvl="1">
              <a:lnSpc>
                <a:spcPct val="90000"/>
              </a:lnSpc>
              <a:buFont typeface="Wingdings" panose="05000000000000000000" pitchFamily="2" charset="2"/>
              <a:buChar char="q"/>
            </a:pPr>
            <a:r>
              <a:rPr lang="en-US" sz="1800"/>
              <a:t>2. Test for inputs where the single dose is correct but the frequency is too high.</a:t>
            </a:r>
          </a:p>
          <a:p>
            <a:pPr lvl="1">
              <a:lnSpc>
                <a:spcPct val="90000"/>
              </a:lnSpc>
              <a:buFont typeface="Wingdings" panose="05000000000000000000" pitchFamily="2" charset="2"/>
              <a:buChar char="q"/>
            </a:pPr>
            <a:r>
              <a:rPr lang="en-US" sz="1800"/>
              <a:t>3. Test for inputs where the single dose × frequency is too high and too low.</a:t>
            </a:r>
          </a:p>
          <a:p>
            <a:pPr lvl="1">
              <a:lnSpc>
                <a:spcPct val="90000"/>
              </a:lnSpc>
              <a:buFont typeface="Wingdings" panose="05000000000000000000" pitchFamily="2" charset="2"/>
              <a:buChar char="q"/>
            </a:pPr>
            <a:r>
              <a:rPr lang="en-US" sz="1800"/>
              <a:t>4. Test for inputs where single dose × frequency is in the permitted range.</a:t>
            </a:r>
          </a:p>
          <a:p>
            <a:pPr>
              <a:lnSpc>
                <a:spcPct val="90000"/>
              </a:lnSpc>
              <a:buFont typeface="Wingdings" panose="05000000000000000000" pitchFamily="2" charset="2"/>
              <a:buChar char="q"/>
            </a:pPr>
            <a:r>
              <a:rPr lang="en-US" sz="1800" b="1"/>
              <a:t>Output:</a:t>
            </a:r>
          </a:p>
          <a:p>
            <a:pPr lvl="1">
              <a:lnSpc>
                <a:spcPct val="90000"/>
              </a:lnSpc>
              <a:buFont typeface="Wingdings" panose="05000000000000000000" pitchFamily="2" charset="2"/>
              <a:buChar char="q"/>
            </a:pPr>
            <a:r>
              <a:rPr lang="en-US" sz="1800"/>
              <a:t>OK or error message indicating that the dose is outside the safe range.</a:t>
            </a:r>
          </a:p>
        </p:txBody>
      </p:sp>
    </p:spTree>
    <p:extLst>
      <p:ext uri="{BB962C8B-B14F-4D97-AF65-F5344CB8AC3E}">
        <p14:creationId xmlns:p14="http://schemas.microsoft.com/office/powerpoint/2010/main" val="4109165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 calcmode="lin" valueType="num">
                                      <p:cBhvr additive="base">
                                        <p:cTn id="1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 calcmode="lin" valueType="num">
                                      <p:cBhvr additive="base">
                                        <p:cTn id="1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 calcmode="lin" valueType="num">
                                      <p:cBhvr additive="base">
                                        <p:cTn id="2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 calcmode="lin" valueType="num">
                                      <p:cBhvr additive="base">
                                        <p:cTn id="2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6">
                                            <p:txEl>
                                              <p:pRg st="6" end="6"/>
                                            </p:txEl>
                                          </p:spTgt>
                                        </p:tgtEl>
                                        <p:attrNameLst>
                                          <p:attrName>style.visibility</p:attrName>
                                        </p:attrNameLst>
                                      </p:cBhvr>
                                      <p:to>
                                        <p:strVal val="visible"/>
                                      </p:to>
                                    </p:set>
                                    <p:anim calcmode="lin" valueType="num">
                                      <p:cBhvr additive="base">
                                        <p:cTn id="33"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 calcmode="lin" valueType="num">
                                      <p:cBhvr additive="base">
                                        <p:cTn id="37"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8" end="8"/>
                                            </p:txEl>
                                          </p:spTgt>
                                        </p:tgtEl>
                                        <p:attrNameLst>
                                          <p:attrName>style.visibility</p:attrName>
                                        </p:attrNameLst>
                                      </p:cBhvr>
                                      <p:to>
                                        <p:strVal val="visible"/>
                                      </p:to>
                                    </p:set>
                                    <p:anim calcmode="lin" valueType="num">
                                      <p:cBhvr additive="base">
                                        <p:cTn id="43"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6">
                                            <p:txEl>
                                              <p:pRg st="9" end="9"/>
                                            </p:txEl>
                                          </p:spTgt>
                                        </p:tgtEl>
                                        <p:attrNameLst>
                                          <p:attrName>style.visibility</p:attrName>
                                        </p:attrNameLst>
                                      </p:cBhvr>
                                      <p:to>
                                        <p:strVal val="visible"/>
                                      </p:to>
                                    </p:set>
                                    <p:anim calcmode="lin" valueType="num">
                                      <p:cBhvr additive="base">
                                        <p:cTn id="47"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Pair programming</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GB" sz="1900"/>
              <a:t>In pair programming, programmers sit together at the same workstation to develop the software.</a:t>
            </a:r>
            <a:endParaRPr lang="en-US" sz="1900"/>
          </a:p>
          <a:p>
            <a:pPr>
              <a:buFont typeface="Wingdings" panose="05000000000000000000" pitchFamily="2" charset="2"/>
              <a:buChar char="q"/>
            </a:pPr>
            <a:r>
              <a:rPr lang="en-US" sz="1900"/>
              <a:t>This helps develop common </a:t>
            </a:r>
            <a:r>
              <a:rPr lang="en-US" sz="1900" b="1"/>
              <a:t>ownership of code</a:t>
            </a:r>
            <a:r>
              <a:rPr lang="en-US" sz="1900"/>
              <a:t> and spreads knowledge across the team.</a:t>
            </a:r>
          </a:p>
          <a:p>
            <a:pPr>
              <a:buFont typeface="Wingdings" panose="05000000000000000000" pitchFamily="2" charset="2"/>
              <a:buChar char="q"/>
            </a:pPr>
            <a:r>
              <a:rPr lang="en-US" sz="1900"/>
              <a:t>It serves as an informal review process as each line of code is looked at by more than 1 person.</a:t>
            </a:r>
          </a:p>
          <a:p>
            <a:pPr>
              <a:buFont typeface="Wingdings" panose="05000000000000000000" pitchFamily="2" charset="2"/>
              <a:buChar char="q"/>
            </a:pPr>
            <a:r>
              <a:rPr lang="en-GB" sz="1900"/>
              <a:t>Pairs are created dynamically so that all team members work with each other during the development process.</a:t>
            </a:r>
          </a:p>
          <a:p>
            <a:pPr>
              <a:buFont typeface="Wingdings" panose="05000000000000000000" pitchFamily="2" charset="2"/>
              <a:buChar char="q"/>
            </a:pPr>
            <a:endParaRPr lang="en-US" sz="1900"/>
          </a:p>
          <a:p>
            <a:pPr>
              <a:buFont typeface="Wingdings" panose="05000000000000000000" pitchFamily="2" charset="2"/>
              <a:buChar char="q"/>
            </a:pPr>
            <a:endParaRPr lang="en-US" sz="1900"/>
          </a:p>
        </p:txBody>
      </p:sp>
    </p:spTree>
    <p:extLst>
      <p:ext uri="{BB962C8B-B14F-4D97-AF65-F5344CB8AC3E}">
        <p14:creationId xmlns:p14="http://schemas.microsoft.com/office/powerpoint/2010/main" val="3635860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Pair programming</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GB" sz="1900"/>
              <a:t>The sharing of knowledge that happens during pair programming is very important as it reduces the overall risks to a project when </a:t>
            </a:r>
            <a:r>
              <a:rPr lang="en-GB" sz="1900" b="1"/>
              <a:t>team members leave</a:t>
            </a:r>
            <a:r>
              <a:rPr lang="en-GB" sz="1900"/>
              <a:t>.</a:t>
            </a:r>
          </a:p>
          <a:p>
            <a:pPr>
              <a:buFont typeface="Wingdings" panose="05000000000000000000" pitchFamily="2" charset="2"/>
              <a:buChar char="q"/>
            </a:pPr>
            <a:r>
              <a:rPr lang="en-GB" sz="1900"/>
              <a:t>Pair programming is not necessarily inefficient and there is evidence that a pair working together is more efficient than 2 programmers working separately. </a:t>
            </a:r>
            <a:endParaRPr lang="en-US" sz="1900"/>
          </a:p>
          <a:p>
            <a:pPr>
              <a:buFont typeface="Wingdings" panose="05000000000000000000" pitchFamily="2" charset="2"/>
              <a:buChar char="q"/>
            </a:pPr>
            <a:endParaRPr lang="en-US" sz="1900"/>
          </a:p>
        </p:txBody>
      </p:sp>
    </p:spTree>
    <p:extLst>
      <p:ext uri="{BB962C8B-B14F-4D97-AF65-F5344CB8AC3E}">
        <p14:creationId xmlns:p14="http://schemas.microsoft.com/office/powerpoint/2010/main" val="4736621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Agile project management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GB" sz="1900"/>
              <a:t>The principal responsibility of software project managers </a:t>
            </a:r>
          </a:p>
          <a:p>
            <a:pPr lvl="1">
              <a:buFont typeface="Wingdings" panose="05000000000000000000" pitchFamily="2" charset="2"/>
              <a:buChar char="q"/>
            </a:pPr>
            <a:r>
              <a:rPr lang="en-GB" sz="1900"/>
              <a:t>to manage the project so that the software is delivered on time and within the planned budget for the project. </a:t>
            </a:r>
          </a:p>
          <a:p>
            <a:pPr>
              <a:buFont typeface="Wingdings" panose="05000000000000000000" pitchFamily="2" charset="2"/>
              <a:buChar char="q"/>
            </a:pPr>
            <a:r>
              <a:rPr lang="en-GB" sz="1900"/>
              <a:t>The standard approach to project management is plan-driven. </a:t>
            </a:r>
          </a:p>
          <a:p>
            <a:pPr lvl="1">
              <a:buFont typeface="Wingdings" panose="05000000000000000000" pitchFamily="2" charset="2"/>
              <a:buChar char="q"/>
            </a:pPr>
            <a:r>
              <a:rPr lang="en-GB" sz="1900"/>
              <a:t>Managers draw up a plan for the project showing what should be delivered, when it should be delivered and who will work on the development of the project deliverables. </a:t>
            </a:r>
          </a:p>
          <a:p>
            <a:pPr>
              <a:buFont typeface="Wingdings" panose="05000000000000000000" pitchFamily="2" charset="2"/>
              <a:buChar char="q"/>
            </a:pPr>
            <a:r>
              <a:rPr lang="en-GB" sz="1900"/>
              <a:t>Agile project management requires a different approach, which is adapted to incremental development and the particular strengths of agile methods. </a:t>
            </a:r>
            <a:endParaRPr lang="en-US" sz="1900"/>
          </a:p>
          <a:p>
            <a:pPr>
              <a:buFont typeface="Wingdings" panose="05000000000000000000" pitchFamily="2" charset="2"/>
              <a:buChar char="q"/>
            </a:pPr>
            <a:endParaRPr lang="en-US" sz="1900"/>
          </a:p>
        </p:txBody>
      </p:sp>
    </p:spTree>
    <p:extLst>
      <p:ext uri="{BB962C8B-B14F-4D97-AF65-F5344CB8AC3E}">
        <p14:creationId xmlns:p14="http://schemas.microsoft.com/office/powerpoint/2010/main" val="9292269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Scrum</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GB" sz="1900"/>
              <a:t>The Scrum approach is a general agile method that  focus is on managing iterative development.</a:t>
            </a:r>
          </a:p>
          <a:p>
            <a:pPr>
              <a:buFont typeface="Wingdings" panose="05000000000000000000" pitchFamily="2" charset="2"/>
              <a:buChar char="q"/>
            </a:pPr>
            <a:r>
              <a:rPr lang="en-GB" sz="1900"/>
              <a:t>There are three phases in Scrum. </a:t>
            </a:r>
          </a:p>
          <a:p>
            <a:pPr lvl="1">
              <a:buFont typeface="Wingdings" panose="05000000000000000000" pitchFamily="2" charset="2"/>
              <a:buChar char="q"/>
            </a:pPr>
            <a:r>
              <a:rPr lang="en-GB" sz="1900"/>
              <a:t>The initial phase is an outline planning phase where you establish the general objectives for the project and design the software architecture. </a:t>
            </a:r>
          </a:p>
          <a:p>
            <a:pPr lvl="1">
              <a:buFont typeface="Wingdings" panose="05000000000000000000" pitchFamily="2" charset="2"/>
              <a:buChar char="q"/>
            </a:pPr>
            <a:r>
              <a:rPr lang="en-GB" sz="1900"/>
              <a:t>This is followed by a series of </a:t>
            </a:r>
            <a:r>
              <a:rPr lang="en-GB" sz="1900" b="1"/>
              <a:t>sprint cycles</a:t>
            </a:r>
            <a:r>
              <a:rPr lang="en-GB" sz="1900"/>
              <a:t>, where each cycle develops an increment of the system. </a:t>
            </a:r>
          </a:p>
          <a:p>
            <a:pPr lvl="1">
              <a:buFont typeface="Wingdings" panose="05000000000000000000" pitchFamily="2" charset="2"/>
              <a:buChar char="q"/>
            </a:pPr>
            <a:r>
              <a:rPr lang="en-GB" sz="1900"/>
              <a:t>The project closure phase wraps up the project, completes required documentation such as user manuals and assesses the lessons learned from the project.</a:t>
            </a:r>
          </a:p>
          <a:p>
            <a:pPr>
              <a:buFont typeface="Wingdings" panose="05000000000000000000" pitchFamily="2" charset="2"/>
              <a:buChar char="q"/>
            </a:pPr>
            <a:endParaRPr lang="en-US" sz="1900"/>
          </a:p>
        </p:txBody>
      </p:sp>
    </p:spTree>
    <p:extLst>
      <p:ext uri="{BB962C8B-B14F-4D97-AF65-F5344CB8AC3E}">
        <p14:creationId xmlns:p14="http://schemas.microsoft.com/office/powerpoint/2010/main" val="25228970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3A1666-DE82-37E9-AF37-6D7D94529974}"/>
              </a:ext>
            </a:extLst>
          </p:cNvPr>
          <p:cNvSpPr>
            <a:spLocks noGrp="1"/>
          </p:cNvSpPr>
          <p:nvPr>
            <p:ph type="title"/>
          </p:nvPr>
        </p:nvSpPr>
        <p:spPr>
          <a:xfrm>
            <a:off x="628650" y="365125"/>
            <a:ext cx="7886700" cy="1325563"/>
          </a:xfrm>
        </p:spPr>
        <p:txBody>
          <a:bodyPr>
            <a:normAutofit/>
          </a:bodyPr>
          <a:lstStyle/>
          <a:p>
            <a:r>
              <a:rPr lang="en-US" sz="4700"/>
              <a:t>Scrum</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BA694D8-930E-5674-1AD5-935746788339}"/>
              </a:ext>
            </a:extLst>
          </p:cNvPr>
          <p:cNvSpPr>
            <a:spLocks noGrp="1"/>
          </p:cNvSpPr>
          <p:nvPr>
            <p:ph idx="1"/>
          </p:nvPr>
        </p:nvSpPr>
        <p:spPr>
          <a:xfrm>
            <a:off x="628650" y="1929384"/>
            <a:ext cx="7886700" cy="4251960"/>
          </a:xfrm>
        </p:spPr>
        <p:txBody>
          <a:bodyPr>
            <a:normAutofit/>
          </a:bodyPr>
          <a:lstStyle/>
          <a:p>
            <a:r>
              <a:rPr lang="en-US" sz="1900"/>
              <a:t>The innovative feature of Scrum is its central phase, namely the sprint cycles. A Scrum sprint is a planning unit in which the work to be done is assessed, features are selected for development, and the software is implemented. At the end of a sprint, the completed functionality is delivered to stakeholders. Key characteristics of this process are as follows:</a:t>
            </a:r>
          </a:p>
          <a:p>
            <a:r>
              <a:rPr lang="en-US" sz="1900"/>
              <a:t>Sprints are fixed length, normally 2–4 weeks. </a:t>
            </a:r>
          </a:p>
          <a:p>
            <a:r>
              <a:rPr lang="en-US" sz="1900"/>
              <a:t>The starting point for planning is the product backlog, which is the list of work to be done on the project. During the assessment phase of the sprint, this is reviewed, and priorities and risks are assigned. The customer is closely involved in this process and can introduce new requirements or tasks at the beginning of each sprint. </a:t>
            </a:r>
          </a:p>
          <a:p>
            <a:endParaRPr lang="en-US" sz="1900"/>
          </a:p>
        </p:txBody>
      </p:sp>
    </p:spTree>
    <p:extLst>
      <p:ext uri="{BB962C8B-B14F-4D97-AF65-F5344CB8AC3E}">
        <p14:creationId xmlns:p14="http://schemas.microsoft.com/office/powerpoint/2010/main" val="40281510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C2CA89-4185-D2E2-B09C-A00AAB67E556}"/>
              </a:ext>
            </a:extLst>
          </p:cNvPr>
          <p:cNvSpPr>
            <a:spLocks noGrp="1"/>
          </p:cNvSpPr>
          <p:nvPr>
            <p:ph type="title"/>
          </p:nvPr>
        </p:nvSpPr>
        <p:spPr>
          <a:xfrm>
            <a:off x="628650" y="365125"/>
            <a:ext cx="7886700" cy="1325563"/>
          </a:xfrm>
        </p:spPr>
        <p:txBody>
          <a:bodyPr>
            <a:normAutofit/>
          </a:bodyPr>
          <a:lstStyle/>
          <a:p>
            <a:r>
              <a:rPr lang="en-US" sz="4700"/>
              <a:t>Scrum</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12C91D0-E7E4-A376-02F7-4294C1B7AB61}"/>
              </a:ext>
            </a:extLst>
          </p:cNvPr>
          <p:cNvSpPr>
            <a:spLocks noGrp="1"/>
          </p:cNvSpPr>
          <p:nvPr>
            <p:ph idx="1"/>
          </p:nvPr>
        </p:nvSpPr>
        <p:spPr>
          <a:xfrm>
            <a:off x="628650" y="1929384"/>
            <a:ext cx="7886700" cy="4251960"/>
          </a:xfrm>
        </p:spPr>
        <p:txBody>
          <a:bodyPr>
            <a:normAutofit/>
          </a:bodyPr>
          <a:lstStyle/>
          <a:p>
            <a:r>
              <a:rPr lang="en-US" sz="1900"/>
              <a:t>The selection phase involves all of the project team who work with the customer to select the features and functionality to be developed during the sprint.</a:t>
            </a:r>
          </a:p>
          <a:p>
            <a:r>
              <a:rPr lang="en-US" sz="1900"/>
              <a:t>Once these are agreed, the team organizes themselves to develop the software. Short daily meetings involving all team members are held to review progress and if necessary, reprioritize work. During this stage the team is isolated from the customer and the organization, with all communications channelled through the so-called ‘Scrum master’.</a:t>
            </a:r>
          </a:p>
          <a:p>
            <a:r>
              <a:rPr lang="en-US" sz="1900"/>
              <a:t>At the end of the sprint, the work done is reviewed and presented to stakeholders. The next sprint cycle then begins.</a:t>
            </a:r>
          </a:p>
          <a:p>
            <a:endParaRPr lang="en-US" sz="1900"/>
          </a:p>
        </p:txBody>
      </p:sp>
    </p:spTree>
    <p:extLst>
      <p:ext uri="{BB962C8B-B14F-4D97-AF65-F5344CB8AC3E}">
        <p14:creationId xmlns:p14="http://schemas.microsoft.com/office/powerpoint/2010/main" val="11163015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314053" y="513673"/>
            <a:ext cx="8448948" cy="5429926"/>
          </a:xfrm>
          <a:prstGeom prst="rect">
            <a:avLst/>
          </a:prstGeom>
        </p:spPr>
      </p:pic>
      <p:sp>
        <p:nvSpPr>
          <p:cNvPr id="7" name="Rectangle 6"/>
          <p:cNvSpPr/>
          <p:nvPr/>
        </p:nvSpPr>
        <p:spPr bwMode="auto">
          <a:xfrm>
            <a:off x="1447800" y="5867400"/>
            <a:ext cx="4419600" cy="685801"/>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GB" sz="2000" dirty="0"/>
              <a:t>list of work to be done on the project.</a:t>
            </a:r>
            <a:endParaRPr kumimoji="0" lang="en-US" sz="2000" b="0" i="0" u="none" strike="noStrike" cap="none" normalizeH="0" baseline="0" dirty="0">
              <a:ln>
                <a:noFill/>
              </a:ln>
              <a:solidFill>
                <a:schemeClr val="tx1"/>
              </a:solidFill>
              <a:effectLst/>
              <a:latin typeface="Times New Roman" panose="02020603050405020304" pitchFamily="18" charset="0"/>
            </a:endParaRPr>
          </a:p>
        </p:txBody>
      </p:sp>
      <p:sp>
        <p:nvSpPr>
          <p:cNvPr id="9" name="Rectangular Callout 8"/>
          <p:cNvSpPr/>
          <p:nvPr/>
        </p:nvSpPr>
        <p:spPr bwMode="auto">
          <a:xfrm>
            <a:off x="4191000" y="76200"/>
            <a:ext cx="4953000" cy="838200"/>
          </a:xfrm>
          <a:prstGeom prst="wedgeRectCallou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GB" dirty="0"/>
              <a:t>This means that everyone on the team knows what is going on and, if problems arise, can re-plan short-term work to cope with them</a:t>
            </a:r>
            <a:endParaRPr kumimoji="0" lang="en-US" b="0" i="0" u="none" strike="noStrike" cap="none" normalizeH="0" baseline="0" dirty="0">
              <a:ln>
                <a:noFill/>
              </a:ln>
              <a:solidFill>
                <a:schemeClr val="tx1"/>
              </a:solidFill>
              <a:effectLst/>
              <a:latin typeface="Times New Roman" panose="02020603050405020304" pitchFamily="18" charset="0"/>
            </a:endParaRPr>
          </a:p>
        </p:txBody>
      </p:sp>
      <p:sp>
        <p:nvSpPr>
          <p:cNvPr id="12" name="Rectangle 11"/>
          <p:cNvSpPr/>
          <p:nvPr/>
        </p:nvSpPr>
        <p:spPr bwMode="auto">
          <a:xfrm>
            <a:off x="0" y="1828800"/>
            <a:ext cx="4419600" cy="914401"/>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just"/>
            <a:r>
              <a:rPr lang="en-US" i="1" dirty="0"/>
              <a:t>Sprints</a:t>
            </a:r>
            <a:r>
              <a:rPr lang="en-US" dirty="0"/>
              <a:t>—consist of work units that are required to achieve a requirement defined</a:t>
            </a:r>
          </a:p>
          <a:p>
            <a:pPr algn="just"/>
            <a:r>
              <a:rPr lang="en-US" dirty="0"/>
              <a:t>in the backlog</a:t>
            </a:r>
            <a:endParaRPr kumimoji="0" lang="en-US" b="0" i="0" u="none" strike="noStrike" cap="none" normalizeH="0" baseline="0" dirty="0">
              <a:ln>
                <a:noFill/>
              </a:ln>
              <a:solidFill>
                <a:schemeClr val="tx1"/>
              </a:solidFill>
              <a:effectLst/>
              <a:latin typeface="Times New Roman" panose="02020603050405020304" pitchFamily="18" charset="0"/>
            </a:endParaRPr>
          </a:p>
        </p:txBody>
      </p:sp>
    </p:spTree>
    <p:extLst>
      <p:ext uri="{BB962C8B-B14F-4D97-AF65-F5344CB8AC3E}">
        <p14:creationId xmlns:p14="http://schemas.microsoft.com/office/powerpoint/2010/main" val="836440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548640"/>
            <a:ext cx="2700645" cy="5431536"/>
          </a:xfrm>
        </p:spPr>
        <p:txBody>
          <a:bodyPr>
            <a:normAutofit/>
          </a:bodyPr>
          <a:lstStyle/>
          <a:p>
            <a:r>
              <a:rPr lang="en-US" sz="4700"/>
              <a:t>Scrum roles</a:t>
            </a:r>
          </a:p>
        </p:txBody>
      </p:sp>
      <p:sp>
        <p:nvSpPr>
          <p:cNvPr id="14"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onnsiteX0" fmla="*/ 0 w 4480560"/>
              <a:gd name="connsiteY0" fmla="*/ 0 h 13716"/>
              <a:gd name="connsiteX1" fmla="*/ 595274 w 4480560"/>
              <a:gd name="connsiteY1" fmla="*/ 0 h 13716"/>
              <a:gd name="connsiteX2" fmla="*/ 1100938 w 4480560"/>
              <a:gd name="connsiteY2" fmla="*/ 0 h 13716"/>
              <a:gd name="connsiteX3" fmla="*/ 1651406 w 4480560"/>
              <a:gd name="connsiteY3" fmla="*/ 0 h 13716"/>
              <a:gd name="connsiteX4" fmla="*/ 2336292 w 4480560"/>
              <a:gd name="connsiteY4" fmla="*/ 0 h 13716"/>
              <a:gd name="connsiteX5" fmla="*/ 2931566 w 4480560"/>
              <a:gd name="connsiteY5" fmla="*/ 0 h 13716"/>
              <a:gd name="connsiteX6" fmla="*/ 3482035 w 4480560"/>
              <a:gd name="connsiteY6" fmla="*/ 0 h 13716"/>
              <a:gd name="connsiteX7" fmla="*/ 4480560 w 4480560"/>
              <a:gd name="connsiteY7" fmla="*/ 0 h 13716"/>
              <a:gd name="connsiteX8" fmla="*/ 4480560 w 4480560"/>
              <a:gd name="connsiteY8" fmla="*/ 13716 h 13716"/>
              <a:gd name="connsiteX9" fmla="*/ 3840480 w 4480560"/>
              <a:gd name="connsiteY9" fmla="*/ 13716 h 13716"/>
              <a:gd name="connsiteX10" fmla="*/ 3290011 w 4480560"/>
              <a:gd name="connsiteY10" fmla="*/ 13716 h 13716"/>
              <a:gd name="connsiteX11" fmla="*/ 2560320 w 4480560"/>
              <a:gd name="connsiteY11" fmla="*/ 13716 h 13716"/>
              <a:gd name="connsiteX12" fmla="*/ 1965046 w 4480560"/>
              <a:gd name="connsiteY12" fmla="*/ 13716 h 13716"/>
              <a:gd name="connsiteX13" fmla="*/ 1459382 w 4480560"/>
              <a:gd name="connsiteY13" fmla="*/ 13716 h 13716"/>
              <a:gd name="connsiteX14" fmla="*/ 774497 w 4480560"/>
              <a:gd name="connsiteY14" fmla="*/ 13716 h 13716"/>
              <a:gd name="connsiteX15" fmla="*/ 0 w 4480560"/>
              <a:gd name="connsiteY15" fmla="*/ 13716 h 13716"/>
              <a:gd name="connsiteX16" fmla="*/ 0 w 4480560"/>
              <a:gd name="connsiteY1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3844813" y="552091"/>
            <a:ext cx="4668251" cy="5431536"/>
          </a:xfrm>
          <a:prstGeom prst="rect">
            <a:avLst/>
          </a:prstGeom>
        </p:spPr>
        <p:txBody>
          <a:bodyPr anchor="ctr">
            <a:normAutofit/>
          </a:bodyPr>
          <a:lstStyle/>
          <a:p>
            <a:pPr>
              <a:lnSpc>
                <a:spcPct val="90000"/>
              </a:lnSpc>
              <a:buFont typeface="Wingdings" panose="05000000000000000000" pitchFamily="2" charset="2"/>
              <a:buChar char="q"/>
            </a:pPr>
            <a:r>
              <a:rPr lang="en-GB" sz="1600" b="1"/>
              <a:t>Product owner</a:t>
            </a:r>
          </a:p>
          <a:p>
            <a:pPr lvl="1">
              <a:lnSpc>
                <a:spcPct val="90000"/>
              </a:lnSpc>
              <a:buFont typeface="Wingdings" panose="05000000000000000000" pitchFamily="2" charset="2"/>
              <a:buChar char="q"/>
            </a:pPr>
            <a:r>
              <a:rPr lang="en-US" sz="1600"/>
              <a:t>ensures that the team delivers value to the business. The Product Owner writes customer-centric items (typically user stories), ranks and prioritizes them, and adds them to the product backlog.</a:t>
            </a:r>
            <a:r>
              <a:rPr lang="en-GB" sz="1600"/>
              <a:t> </a:t>
            </a:r>
          </a:p>
          <a:p>
            <a:pPr>
              <a:lnSpc>
                <a:spcPct val="90000"/>
              </a:lnSpc>
              <a:buFont typeface="Wingdings" panose="05000000000000000000" pitchFamily="2" charset="2"/>
              <a:buChar char="q"/>
            </a:pPr>
            <a:r>
              <a:rPr lang="en-GB" sz="1600" b="1"/>
              <a:t>Scrum master</a:t>
            </a:r>
            <a:r>
              <a:rPr lang="en-GB" sz="1600"/>
              <a:t> </a:t>
            </a:r>
          </a:p>
          <a:p>
            <a:pPr lvl="1">
              <a:lnSpc>
                <a:spcPct val="90000"/>
              </a:lnSpc>
              <a:buFont typeface="Wingdings" panose="05000000000000000000" pitchFamily="2" charset="2"/>
              <a:buChar char="q"/>
            </a:pPr>
            <a:r>
              <a:rPr lang="en-GB" sz="1600"/>
              <a:t>protects the development team from external distractions.</a:t>
            </a:r>
          </a:p>
          <a:p>
            <a:pPr lvl="1">
              <a:lnSpc>
                <a:spcPct val="90000"/>
              </a:lnSpc>
              <a:buFont typeface="Wingdings" panose="05000000000000000000" pitchFamily="2" charset="2"/>
              <a:buChar char="q"/>
            </a:pPr>
            <a:r>
              <a:rPr lang="en-GB" sz="1600"/>
              <a:t>a facilitator who arranges daily meetings, tracks the backlog of work to be done, records decisions, measures progress against the backlog and communicates with customers and management outside of the team.</a:t>
            </a:r>
          </a:p>
          <a:p>
            <a:pPr>
              <a:lnSpc>
                <a:spcPct val="90000"/>
              </a:lnSpc>
              <a:buFont typeface="Wingdings" panose="05000000000000000000" pitchFamily="2" charset="2"/>
              <a:buChar char="q"/>
            </a:pPr>
            <a:r>
              <a:rPr lang="en-GB" sz="1600" b="1"/>
              <a:t>Development team</a:t>
            </a:r>
          </a:p>
          <a:p>
            <a:pPr lvl="1">
              <a:lnSpc>
                <a:spcPct val="90000"/>
              </a:lnSpc>
              <a:buFont typeface="Wingdings" panose="05000000000000000000" pitchFamily="2" charset="2"/>
              <a:buChar char="q"/>
            </a:pPr>
            <a:r>
              <a:rPr lang="en-US" sz="1600"/>
              <a:t>Consists of 3 to 9 software engineers from cross functional area</a:t>
            </a:r>
          </a:p>
          <a:p>
            <a:pPr lvl="1">
              <a:lnSpc>
                <a:spcPct val="90000"/>
              </a:lnSpc>
              <a:buFont typeface="Wingdings" panose="05000000000000000000" pitchFamily="2" charset="2"/>
              <a:buChar char="q"/>
            </a:pPr>
            <a:r>
              <a:rPr lang="en-US" sz="1600"/>
              <a:t>Include architects, programmers, analysts, QA experts, testers, and UI designers. </a:t>
            </a:r>
          </a:p>
        </p:txBody>
      </p:sp>
    </p:spTree>
    <p:extLst>
      <p:ext uri="{BB962C8B-B14F-4D97-AF65-F5344CB8AC3E}">
        <p14:creationId xmlns:p14="http://schemas.microsoft.com/office/powerpoint/2010/main" val="3703396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 calcmode="lin" valueType="num">
                                      <p:cBhvr additive="base">
                                        <p:cTn id="3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 calcmode="lin" valueType="num">
                                      <p:cBhvr additive="base">
                                        <p:cTn id="3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anim calcmode="lin" valueType="num">
                                      <p:cBhvr additive="base">
                                        <p:cTn id="3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Scaling agile methods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US" sz="1900"/>
              <a:t>Agile methods have proved to be successful for small and medium sized projects that can be developed by a small co-located team.</a:t>
            </a:r>
          </a:p>
          <a:p>
            <a:pPr>
              <a:buFont typeface="Wingdings" panose="05000000000000000000" pitchFamily="2" charset="2"/>
              <a:buChar char="q"/>
            </a:pPr>
            <a:r>
              <a:rPr lang="en-US" sz="1900"/>
              <a:t>It is sometimes argued that the success of these methods comes because of improved communications which is possible when everyone is working together.</a:t>
            </a:r>
          </a:p>
          <a:p>
            <a:pPr>
              <a:buFont typeface="Wingdings" panose="05000000000000000000" pitchFamily="2" charset="2"/>
              <a:buChar char="q"/>
            </a:pPr>
            <a:r>
              <a:rPr lang="en-US" sz="1900"/>
              <a:t>Scaling up agile methods involves changing these to cope with larger, longer projects where there are multiple development teams, perhaps working in different locations.</a:t>
            </a:r>
          </a:p>
          <a:p>
            <a:pPr>
              <a:buFont typeface="Wingdings" panose="05000000000000000000" pitchFamily="2" charset="2"/>
              <a:buChar char="q"/>
            </a:pPr>
            <a:endParaRPr lang="en-US" sz="1900"/>
          </a:p>
        </p:txBody>
      </p:sp>
    </p:spTree>
    <p:extLst>
      <p:ext uri="{BB962C8B-B14F-4D97-AF65-F5344CB8AC3E}">
        <p14:creationId xmlns:p14="http://schemas.microsoft.com/office/powerpoint/2010/main" val="1964818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Large systems development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GB" sz="1900"/>
              <a:t>Large systems are usually </a:t>
            </a:r>
            <a:r>
              <a:rPr lang="en-GB" sz="1900" b="1"/>
              <a:t>collections of separate, communicating systems,</a:t>
            </a:r>
            <a:r>
              <a:rPr lang="en-GB" sz="1900"/>
              <a:t> where </a:t>
            </a:r>
            <a:r>
              <a:rPr lang="en-GB" sz="1900" b="1"/>
              <a:t>separate teams develop each system</a:t>
            </a:r>
            <a:r>
              <a:rPr lang="en-GB" sz="1900"/>
              <a:t>. Frequently, these teams are working in </a:t>
            </a:r>
            <a:r>
              <a:rPr lang="en-GB" sz="1900" b="1"/>
              <a:t>different places</a:t>
            </a:r>
            <a:r>
              <a:rPr lang="en-GB" sz="1900"/>
              <a:t>, sometimes in different </a:t>
            </a:r>
            <a:r>
              <a:rPr lang="en-GB" sz="1900" b="1"/>
              <a:t>time zones</a:t>
            </a:r>
            <a:r>
              <a:rPr lang="en-GB" sz="1900"/>
              <a:t>. </a:t>
            </a:r>
          </a:p>
          <a:p>
            <a:pPr>
              <a:buFont typeface="Wingdings" panose="05000000000000000000" pitchFamily="2" charset="2"/>
              <a:buChar char="q"/>
            </a:pPr>
            <a:r>
              <a:rPr lang="en-GB" sz="1900"/>
              <a:t>Large systems have a </a:t>
            </a:r>
            <a:r>
              <a:rPr lang="en-GB" sz="1900" b="1"/>
              <a:t>long procurement and development time</a:t>
            </a:r>
            <a:r>
              <a:rPr lang="en-GB" sz="1900"/>
              <a:t>. It is difficult to maintain coherent teams who know about the system over that period as, inevitably, people move on to other jobs and projects. </a:t>
            </a:r>
          </a:p>
          <a:p>
            <a:pPr>
              <a:buFont typeface="Wingdings" panose="05000000000000000000" pitchFamily="2" charset="2"/>
              <a:buChar char="q"/>
            </a:pPr>
            <a:r>
              <a:rPr lang="en-GB" sz="1900"/>
              <a:t>Large systems usually have a </a:t>
            </a:r>
            <a:r>
              <a:rPr lang="en-GB" sz="1900" b="1"/>
              <a:t>diverse set of stakeholders</a:t>
            </a:r>
            <a:r>
              <a:rPr lang="en-GB" sz="1900"/>
              <a:t>. It is practically impossible to involve all of these different stakeholders in the development process. </a:t>
            </a:r>
            <a:endParaRPr lang="en-US" sz="1900"/>
          </a:p>
          <a:p>
            <a:pPr>
              <a:buFont typeface="Wingdings" panose="05000000000000000000" pitchFamily="2" charset="2"/>
              <a:buChar char="q"/>
            </a:pPr>
            <a:endParaRPr lang="en-GB" sz="1900"/>
          </a:p>
        </p:txBody>
      </p:sp>
    </p:spTree>
    <p:extLst>
      <p:ext uri="{BB962C8B-B14F-4D97-AF65-F5344CB8AC3E}">
        <p14:creationId xmlns:p14="http://schemas.microsoft.com/office/powerpoint/2010/main" val="3779801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Scaling out and scaling up</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GB" sz="1900"/>
              <a:t>‘Scaling up’ </a:t>
            </a:r>
          </a:p>
          <a:p>
            <a:pPr lvl="1">
              <a:buFont typeface="Wingdings" panose="05000000000000000000" pitchFamily="2" charset="2"/>
              <a:buChar char="q"/>
            </a:pPr>
            <a:r>
              <a:rPr lang="en-GB" sz="1900"/>
              <a:t>is concerned with using agile methods for developing </a:t>
            </a:r>
            <a:r>
              <a:rPr lang="en-GB" sz="1900" b="1"/>
              <a:t>large software systems</a:t>
            </a:r>
            <a:r>
              <a:rPr lang="en-GB" sz="1900"/>
              <a:t> that cannot be developed by a small team.</a:t>
            </a:r>
          </a:p>
          <a:p>
            <a:pPr>
              <a:buFont typeface="Wingdings" panose="05000000000000000000" pitchFamily="2" charset="2"/>
              <a:buChar char="q"/>
            </a:pPr>
            <a:r>
              <a:rPr lang="en-GB" sz="1900"/>
              <a:t>‘Scaling out’ </a:t>
            </a:r>
          </a:p>
          <a:p>
            <a:pPr lvl="1">
              <a:buFont typeface="Wingdings" panose="05000000000000000000" pitchFamily="2" charset="2"/>
              <a:buChar char="q"/>
            </a:pPr>
            <a:r>
              <a:rPr lang="en-GB" sz="1900"/>
              <a:t>is concerned with how agile methods can be introduced across a </a:t>
            </a:r>
            <a:r>
              <a:rPr lang="en-GB" sz="1900" b="1"/>
              <a:t>large organization</a:t>
            </a:r>
            <a:r>
              <a:rPr lang="en-GB" sz="1900"/>
              <a:t> with many years of software development experience.</a:t>
            </a:r>
          </a:p>
          <a:p>
            <a:pPr>
              <a:buFont typeface="Wingdings" panose="05000000000000000000" pitchFamily="2" charset="2"/>
              <a:buChar char="q"/>
            </a:pPr>
            <a:r>
              <a:rPr lang="en-GB" sz="1900"/>
              <a:t>When scaling agile methods, it is essential to maintain agile fundamentals</a:t>
            </a:r>
          </a:p>
          <a:p>
            <a:pPr lvl="1">
              <a:buFont typeface="Wingdings" panose="05000000000000000000" pitchFamily="2" charset="2"/>
              <a:buChar char="q"/>
            </a:pPr>
            <a:r>
              <a:rPr lang="en-GB" sz="1900"/>
              <a:t>Flexible planning, frequent system releases, continuous integration, test-driven development and good team communications. </a:t>
            </a:r>
          </a:p>
          <a:p>
            <a:pPr>
              <a:buFont typeface="Wingdings" panose="05000000000000000000" pitchFamily="2" charset="2"/>
              <a:buChar char="q"/>
            </a:pPr>
            <a:endParaRPr lang="en-US" sz="1900"/>
          </a:p>
        </p:txBody>
      </p:sp>
    </p:spTree>
    <p:extLst>
      <p:ext uri="{BB962C8B-B14F-4D97-AF65-F5344CB8AC3E}">
        <p14:creationId xmlns:p14="http://schemas.microsoft.com/office/powerpoint/2010/main" val="577475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Scaling up to large systems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GB" sz="1900"/>
              <a:t>For large systems development, it is not possible to focus only on the code of the system. You need to do more up-front design and system documentation</a:t>
            </a:r>
          </a:p>
          <a:p>
            <a:pPr>
              <a:buFont typeface="Wingdings" panose="05000000000000000000" pitchFamily="2" charset="2"/>
              <a:buChar char="q"/>
            </a:pPr>
            <a:r>
              <a:rPr lang="en-GB" sz="1900" b="1"/>
              <a:t>Cross-team communication mechanisms </a:t>
            </a:r>
            <a:r>
              <a:rPr lang="en-GB" sz="1900"/>
              <a:t>have to be designed and used. This should involve regular </a:t>
            </a:r>
            <a:r>
              <a:rPr lang="en-GB" sz="1900" b="1"/>
              <a:t>phone and video conferences</a:t>
            </a:r>
            <a:r>
              <a:rPr lang="en-GB" sz="1900"/>
              <a:t> between team members and frequent, short electronic meetings where teams update each other on progress. </a:t>
            </a:r>
          </a:p>
          <a:p>
            <a:pPr>
              <a:buFont typeface="Wingdings" panose="05000000000000000000" pitchFamily="2" charset="2"/>
              <a:buChar char="q"/>
            </a:pPr>
            <a:r>
              <a:rPr lang="en-GB" sz="1900" b="1"/>
              <a:t>Continuous integration</a:t>
            </a:r>
            <a:r>
              <a:rPr lang="en-GB" sz="1900"/>
              <a:t>, where the whole system is built every time any developer checks in a change, is practically impossible. However, it is </a:t>
            </a:r>
            <a:r>
              <a:rPr lang="en-GB" sz="1900" b="1"/>
              <a:t>essential to maintain frequent system builds</a:t>
            </a:r>
            <a:r>
              <a:rPr lang="en-GB" sz="1900"/>
              <a:t> and regular releases of the system. </a:t>
            </a:r>
            <a:endParaRPr lang="en-US" sz="1900"/>
          </a:p>
          <a:p>
            <a:pPr>
              <a:buFont typeface="Wingdings" panose="05000000000000000000" pitchFamily="2" charset="2"/>
              <a:buChar char="q"/>
            </a:pPr>
            <a:endParaRPr lang="en-US" sz="1900"/>
          </a:p>
        </p:txBody>
      </p:sp>
    </p:spTree>
    <p:extLst>
      <p:ext uri="{BB962C8B-B14F-4D97-AF65-F5344CB8AC3E}">
        <p14:creationId xmlns:p14="http://schemas.microsoft.com/office/powerpoint/2010/main" val="3562735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Scaling out to large companies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buFont typeface="Wingdings" panose="05000000000000000000" pitchFamily="2" charset="2"/>
              <a:buChar char="q"/>
            </a:pPr>
            <a:r>
              <a:rPr lang="en-GB" sz="1900"/>
              <a:t>Project managers who do not have experience of agile methods may be refuse to accept the risk of a new approach.</a:t>
            </a:r>
          </a:p>
          <a:p>
            <a:pPr>
              <a:buFont typeface="Wingdings" panose="05000000000000000000" pitchFamily="2" charset="2"/>
              <a:buChar char="q"/>
            </a:pPr>
            <a:r>
              <a:rPr lang="en-GB" sz="1900"/>
              <a:t>Large organizations often have </a:t>
            </a:r>
            <a:r>
              <a:rPr lang="en-GB" sz="1900" b="1"/>
              <a:t>quality procedures and standards </a:t>
            </a:r>
            <a:r>
              <a:rPr lang="en-GB" sz="1900"/>
              <a:t>that all projects are expected to follow and, because of their bureaucratic nature, these are likely to be incompatible with agile methods. </a:t>
            </a:r>
          </a:p>
          <a:p>
            <a:pPr>
              <a:buFont typeface="Wingdings" panose="05000000000000000000" pitchFamily="2" charset="2"/>
              <a:buChar char="q"/>
            </a:pPr>
            <a:r>
              <a:rPr lang="en-GB" sz="1900"/>
              <a:t>Agile methods seem to work best when team members have a </a:t>
            </a:r>
            <a:r>
              <a:rPr lang="en-GB" sz="1900" b="1"/>
              <a:t>relatively high skill </a:t>
            </a:r>
            <a:r>
              <a:rPr lang="en-GB" sz="1900"/>
              <a:t>level. However, within large organizations, there are likely to be a wide range of skills and abilities. </a:t>
            </a:r>
          </a:p>
          <a:p>
            <a:pPr>
              <a:buFont typeface="Wingdings" panose="05000000000000000000" pitchFamily="2" charset="2"/>
              <a:buChar char="q"/>
            </a:pPr>
            <a:r>
              <a:rPr lang="en-GB" sz="1900"/>
              <a:t>There may be cultural resistance to agile methods, especially in those organizations that have a long history of using conventional systems engineering processes.</a:t>
            </a:r>
          </a:p>
          <a:p>
            <a:pPr>
              <a:buFont typeface="Wingdings" panose="05000000000000000000" pitchFamily="2" charset="2"/>
              <a:buChar char="q"/>
            </a:pPr>
            <a:endParaRPr lang="en-US" sz="1900"/>
          </a:p>
        </p:txBody>
      </p:sp>
    </p:spTree>
    <p:extLst>
      <p:ext uri="{BB962C8B-B14F-4D97-AF65-F5344CB8AC3E}">
        <p14:creationId xmlns:p14="http://schemas.microsoft.com/office/powerpoint/2010/main" val="1685676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548640"/>
            <a:ext cx="2700645" cy="5431536"/>
          </a:xfrm>
        </p:spPr>
        <p:txBody>
          <a:bodyPr>
            <a:normAutofit/>
          </a:bodyPr>
          <a:lstStyle/>
          <a:p>
            <a:r>
              <a:rPr lang="en-US" sz="4700"/>
              <a:t>Key points</a:t>
            </a:r>
          </a:p>
        </p:txBody>
      </p:sp>
      <p:sp>
        <p:nvSpPr>
          <p:cNvPr id="13"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onnsiteX0" fmla="*/ 0 w 4480560"/>
              <a:gd name="connsiteY0" fmla="*/ 0 h 13716"/>
              <a:gd name="connsiteX1" fmla="*/ 595274 w 4480560"/>
              <a:gd name="connsiteY1" fmla="*/ 0 h 13716"/>
              <a:gd name="connsiteX2" fmla="*/ 1100938 w 4480560"/>
              <a:gd name="connsiteY2" fmla="*/ 0 h 13716"/>
              <a:gd name="connsiteX3" fmla="*/ 1651406 w 4480560"/>
              <a:gd name="connsiteY3" fmla="*/ 0 h 13716"/>
              <a:gd name="connsiteX4" fmla="*/ 2336292 w 4480560"/>
              <a:gd name="connsiteY4" fmla="*/ 0 h 13716"/>
              <a:gd name="connsiteX5" fmla="*/ 2931566 w 4480560"/>
              <a:gd name="connsiteY5" fmla="*/ 0 h 13716"/>
              <a:gd name="connsiteX6" fmla="*/ 3482035 w 4480560"/>
              <a:gd name="connsiteY6" fmla="*/ 0 h 13716"/>
              <a:gd name="connsiteX7" fmla="*/ 4480560 w 4480560"/>
              <a:gd name="connsiteY7" fmla="*/ 0 h 13716"/>
              <a:gd name="connsiteX8" fmla="*/ 4480560 w 4480560"/>
              <a:gd name="connsiteY8" fmla="*/ 13716 h 13716"/>
              <a:gd name="connsiteX9" fmla="*/ 3840480 w 4480560"/>
              <a:gd name="connsiteY9" fmla="*/ 13716 h 13716"/>
              <a:gd name="connsiteX10" fmla="*/ 3290011 w 4480560"/>
              <a:gd name="connsiteY10" fmla="*/ 13716 h 13716"/>
              <a:gd name="connsiteX11" fmla="*/ 2560320 w 4480560"/>
              <a:gd name="connsiteY11" fmla="*/ 13716 h 13716"/>
              <a:gd name="connsiteX12" fmla="*/ 1965046 w 4480560"/>
              <a:gd name="connsiteY12" fmla="*/ 13716 h 13716"/>
              <a:gd name="connsiteX13" fmla="*/ 1459382 w 4480560"/>
              <a:gd name="connsiteY13" fmla="*/ 13716 h 13716"/>
              <a:gd name="connsiteX14" fmla="*/ 774497 w 4480560"/>
              <a:gd name="connsiteY14" fmla="*/ 13716 h 13716"/>
              <a:gd name="connsiteX15" fmla="*/ 0 w 4480560"/>
              <a:gd name="connsiteY15" fmla="*/ 13716 h 13716"/>
              <a:gd name="connsiteX16" fmla="*/ 0 w 4480560"/>
              <a:gd name="connsiteY1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44813" y="552091"/>
            <a:ext cx="4668251" cy="5431536"/>
          </a:xfrm>
        </p:spPr>
        <p:txBody>
          <a:bodyPr anchor="ctr">
            <a:normAutofit/>
          </a:bodyPr>
          <a:lstStyle/>
          <a:p>
            <a:pPr>
              <a:buFont typeface="Wingdings" panose="05000000000000000000" pitchFamily="2" charset="2"/>
              <a:buChar char="q"/>
            </a:pPr>
            <a:r>
              <a:rPr lang="en-GB" sz="1900"/>
              <a:t>A particular strength of extreme programming is the development of automated tests before a program feature is created. All tests must successfully execute when an increment is integrated into a system.</a:t>
            </a:r>
          </a:p>
          <a:p>
            <a:pPr>
              <a:buFont typeface="Wingdings" panose="05000000000000000000" pitchFamily="2" charset="2"/>
              <a:buChar char="q"/>
            </a:pPr>
            <a:r>
              <a:rPr lang="en-GB" sz="1900"/>
              <a:t>The Scrum method is an agile method that provides a project management framework. It is centred round a set of sprints, which are fixed time periods when a system increment is developed. </a:t>
            </a:r>
          </a:p>
          <a:p>
            <a:pPr>
              <a:buFont typeface="Wingdings" panose="05000000000000000000" pitchFamily="2" charset="2"/>
              <a:buChar char="q"/>
            </a:pPr>
            <a:r>
              <a:rPr lang="en-GB" sz="1900"/>
              <a:t>Scaling agile methods for large systems is difficult. Large systems need up-front design and some documentation.</a:t>
            </a:r>
          </a:p>
          <a:p>
            <a:pPr>
              <a:buFont typeface="Wingdings" panose="05000000000000000000" pitchFamily="2" charset="2"/>
              <a:buChar char="q"/>
            </a:pPr>
            <a:endParaRPr lang="en-US" sz="1900"/>
          </a:p>
        </p:txBody>
      </p:sp>
    </p:spTree>
    <p:extLst>
      <p:ext uri="{BB962C8B-B14F-4D97-AF65-F5344CB8AC3E}">
        <p14:creationId xmlns:p14="http://schemas.microsoft.com/office/powerpoint/2010/main" val="1583195741"/>
      </p:ext>
    </p:extLst>
  </p:cSld>
  <p:clrMapOvr>
    <a:masterClrMapping/>
  </p:clrMapOvr>
</p:sld>
</file>

<file path=ppt/theme/theme1.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23387</TotalTime>
  <Words>4015</Words>
  <Application>Microsoft Office PowerPoint</Application>
  <PresentationFormat>On-screen Show (4:3)</PresentationFormat>
  <Paragraphs>308</Paragraphs>
  <Slides>45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45</vt:i4>
      </vt:variant>
    </vt:vector>
  </HeadingPairs>
  <TitlesOfParts>
    <vt:vector size="54" baseType="lpstr">
      <vt:lpstr>Arial</vt:lpstr>
      <vt:lpstr>Calibri</vt:lpstr>
      <vt:lpstr>CourierNewPS-BoldMT</vt:lpstr>
      <vt:lpstr>CourierNewPS-ItalicMT</vt:lpstr>
      <vt:lpstr>CourierNewPSMT</vt:lpstr>
      <vt:lpstr>Monotype Sorts</vt:lpstr>
      <vt:lpstr>Times New Roman</vt:lpstr>
      <vt:lpstr>Wingdings</vt:lpstr>
      <vt:lpstr>Min halsduk</vt:lpstr>
      <vt:lpstr>Agile Software Development</vt:lpstr>
      <vt:lpstr>Agile Methods</vt:lpstr>
      <vt:lpstr>Agile methods</vt:lpstr>
      <vt:lpstr>Agile manifesto (strategy/platform)</vt:lpstr>
      <vt:lpstr>Rapid software development</vt:lpstr>
      <vt:lpstr>The principles of agile methods </vt:lpstr>
      <vt:lpstr>Agile method applicability</vt:lpstr>
      <vt:lpstr>Problems with agile methods</vt:lpstr>
      <vt:lpstr>Agile methods and software maintenance</vt:lpstr>
      <vt:lpstr>Technical, human, organizational issues</vt:lpstr>
      <vt:lpstr>Technical, human, organizational issues </vt:lpstr>
      <vt:lpstr>Technical, human, organizational issues</vt:lpstr>
      <vt:lpstr>Extreme programming</vt:lpstr>
      <vt:lpstr>Extreme Programming</vt:lpstr>
      <vt:lpstr>XP and agile principles</vt:lpstr>
      <vt:lpstr>The extreme programming release cycle </vt:lpstr>
      <vt:lpstr>Extreme programming practices (a) </vt:lpstr>
      <vt:lpstr>Extreme programming practices (b)</vt:lpstr>
      <vt:lpstr>Requirements scenarios</vt:lpstr>
      <vt:lpstr>A ‘prescribing medication’ story </vt:lpstr>
      <vt:lpstr>A ‘prescribing medication’ story </vt:lpstr>
      <vt:lpstr>Examples of task cards for prescribing medication </vt:lpstr>
      <vt:lpstr>XP and change</vt:lpstr>
      <vt:lpstr>Refactoring</vt:lpstr>
      <vt:lpstr>Code Refactoring </vt:lpstr>
      <vt:lpstr>Examples of refactoring</vt:lpstr>
      <vt:lpstr>Testing in XP</vt:lpstr>
      <vt:lpstr>Test-first development</vt:lpstr>
      <vt:lpstr>Person class</vt:lpstr>
      <vt:lpstr>Test Case</vt:lpstr>
      <vt:lpstr>Test – Dose checking </vt:lpstr>
      <vt:lpstr>Pair programming</vt:lpstr>
      <vt:lpstr>Pair programming</vt:lpstr>
      <vt:lpstr>Agile project management</vt:lpstr>
      <vt:lpstr>Scrum</vt:lpstr>
      <vt:lpstr>Scrum</vt:lpstr>
      <vt:lpstr>Scrum</vt:lpstr>
      <vt:lpstr>PowerPoint Presentation</vt:lpstr>
      <vt:lpstr>Scrum roles</vt:lpstr>
      <vt:lpstr>Scaling agile methods</vt:lpstr>
      <vt:lpstr>Large systems development</vt:lpstr>
      <vt:lpstr>Scaling out and scaling up</vt:lpstr>
      <vt:lpstr>Scaling up to large systems</vt:lpstr>
      <vt:lpstr>Scaling out to large companies</vt:lpstr>
      <vt:lpstr>Key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Software Development</dc:title>
  <dc:creator>Ahmad Salman Khan</dc:creator>
  <cp:lastModifiedBy>Saman Asad</cp:lastModifiedBy>
  <cp:revision>114</cp:revision>
  <dcterms:created xsi:type="dcterms:W3CDTF">2006-08-16T00:00:00Z</dcterms:created>
  <dcterms:modified xsi:type="dcterms:W3CDTF">2024-10-11T05:27:32Z</dcterms:modified>
</cp:coreProperties>
</file>
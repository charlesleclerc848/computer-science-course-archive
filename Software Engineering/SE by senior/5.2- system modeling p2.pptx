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14"/>
  </p:notesMasterIdLst>
  <p:handoutMasterIdLst>
    <p:handoutMasterId r:id="rId15"/>
  </p:handoutMasterIdLst>
  <p:sldIdLst>
    <p:sldId id="256" r:id="rId2"/>
    <p:sldId id="292" r:id="rId3"/>
    <p:sldId id="293" r:id="rId4"/>
    <p:sldId id="295" r:id="rId5"/>
    <p:sldId id="296" r:id="rId6"/>
    <p:sldId id="312" r:id="rId7"/>
    <p:sldId id="297" r:id="rId8"/>
    <p:sldId id="299" r:id="rId9"/>
    <p:sldId id="298" r:id="rId10"/>
    <p:sldId id="310" r:id="rId11"/>
    <p:sldId id="302" r:id="rId12"/>
    <p:sldId id="313" r:id="rId13"/>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824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CAD25C6-313E-4545-B4B5-AC2334263EEA}" type="datetimeFigureOut">
              <a:rPr lang="en-US" smtClean="0"/>
              <a:pPr/>
              <a:t>12/13/2024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91F3E5A-B7A4-4146-BBFE-14EF41541C3E}" type="slidenum">
              <a:rPr lang="en-US" smtClean="0"/>
              <a:pPr/>
              <a:t>‹#›</a:t>
            </a:fld>
            <a:endParaRPr lang="en-US"/>
          </a:p>
        </p:txBody>
      </p:sp>
    </p:spTree>
    <p:extLst>
      <p:ext uri="{BB962C8B-B14F-4D97-AF65-F5344CB8AC3E}">
        <p14:creationId xmlns:p14="http://schemas.microsoft.com/office/powerpoint/2010/main" val="210389619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4D3C50A-ECEA-8349-9BCF-E4AC4170F50E}" type="datetimeFigureOut">
              <a:rPr lang="en-US" smtClean="0"/>
              <a:pPr/>
              <a:t>12/13/2024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99B78F-7C08-ED42-8E36-4ED23DEF8F74}" type="slidenum">
              <a:rPr lang="en-US" smtClean="0"/>
              <a:pPr/>
              <a:t>‹#›</a:t>
            </a:fld>
            <a:endParaRPr lang="en-US"/>
          </a:p>
        </p:txBody>
      </p:sp>
    </p:spTree>
    <p:extLst>
      <p:ext uri="{BB962C8B-B14F-4D97-AF65-F5344CB8AC3E}">
        <p14:creationId xmlns:p14="http://schemas.microsoft.com/office/powerpoint/2010/main" val="2853524995"/>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fld id="{7822F52E-DFEC-CF4E-9154-12D1BED15C4B}" type="datetime1">
              <a:rPr lang="en-US" smtClean="0"/>
              <a:pPr>
                <a:defRPr/>
              </a:pPr>
              <a:t>12/13/2024</a:t>
            </a:fld>
            <a:endParaRPr lang="en-US"/>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6" name="Slide Number Placeholder 5"/>
          <p:cNvSpPr>
            <a:spLocks noGrp="1"/>
          </p:cNvSpPr>
          <p:nvPr>
            <p:ph type="sldNum" sz="quarter" idx="12"/>
          </p:nvPr>
        </p:nvSpPr>
        <p:spPr/>
        <p:txBody>
          <a:bodyPr/>
          <a:lstStyle/>
          <a:p>
            <a:pPr>
              <a:defRPr/>
            </a:pPr>
            <a:fld id="{9FE8DFF9-44C4-6B4E-B5A3-96ED369AFD93}" type="slidenum">
              <a:rPr lang="en-US" smtClean="0"/>
              <a:pPr>
                <a:defRPr/>
              </a:pPr>
              <a:t>‹#›</a:t>
            </a:fld>
            <a:endParaRPr lang="en-US"/>
          </a:p>
        </p:txBody>
      </p:sp>
    </p:spTree>
    <p:extLst>
      <p:ext uri="{BB962C8B-B14F-4D97-AF65-F5344CB8AC3E}">
        <p14:creationId xmlns:p14="http://schemas.microsoft.com/office/powerpoint/2010/main" val="1599162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FFDF728F-A2D9-DE49-9AC0-08E4CCFC3CBD}" type="datetime1">
              <a:rPr lang="en-US" smtClean="0"/>
              <a:pPr>
                <a:defRPr/>
              </a:pPr>
              <a:t>12/13/2024</a:t>
            </a:fld>
            <a:endParaRPr lang="en-US"/>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6" name="Slide Number Placeholder 5"/>
          <p:cNvSpPr>
            <a:spLocks noGrp="1"/>
          </p:cNvSpPr>
          <p:nvPr>
            <p:ph type="sldNum" sz="quarter" idx="12"/>
          </p:nvPr>
        </p:nvSpPr>
        <p:spPr/>
        <p:txBody>
          <a:bodyPr/>
          <a:lstStyle/>
          <a:p>
            <a:pPr>
              <a:defRPr/>
            </a:pPr>
            <a:fld id="{DEC9DA09-039A-A841-BA90-58CFCFBF8E01}" type="slidenum">
              <a:rPr lang="en-US" smtClean="0"/>
              <a:pPr>
                <a:defRPr/>
              </a:pPr>
              <a:t>‹#›</a:t>
            </a:fld>
            <a:endParaRPr lang="en-US"/>
          </a:p>
        </p:txBody>
      </p:sp>
    </p:spTree>
    <p:extLst>
      <p:ext uri="{BB962C8B-B14F-4D97-AF65-F5344CB8AC3E}">
        <p14:creationId xmlns:p14="http://schemas.microsoft.com/office/powerpoint/2010/main" val="3820453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B6C57837-DD6D-C848-91B2-CB84389E4898}" type="datetime1">
              <a:rPr lang="en-US" smtClean="0"/>
              <a:pPr>
                <a:defRPr/>
              </a:pPr>
              <a:t>12/13/2024</a:t>
            </a:fld>
            <a:endParaRPr lang="en-US"/>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6" name="Slide Number Placeholder 5"/>
          <p:cNvSpPr>
            <a:spLocks noGrp="1"/>
          </p:cNvSpPr>
          <p:nvPr>
            <p:ph type="sldNum" sz="quarter" idx="12"/>
          </p:nvPr>
        </p:nvSpPr>
        <p:spPr/>
        <p:txBody>
          <a:bodyPr/>
          <a:lstStyle/>
          <a:p>
            <a:pPr>
              <a:defRPr/>
            </a:pPr>
            <a:fld id="{50F2F7EC-46EB-964D-B691-B03AC1106FC0}" type="slidenum">
              <a:rPr lang="en-US" smtClean="0"/>
              <a:pPr>
                <a:defRPr/>
              </a:pPr>
              <a:t>‹#›</a:t>
            </a:fld>
            <a:endParaRPr lang="en-US"/>
          </a:p>
        </p:txBody>
      </p:sp>
    </p:spTree>
    <p:extLst>
      <p:ext uri="{BB962C8B-B14F-4D97-AF65-F5344CB8AC3E}">
        <p14:creationId xmlns:p14="http://schemas.microsoft.com/office/powerpoint/2010/main" val="1818533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fld id="{D0B8C665-7139-DE43-9391-7A97C447FA1A}" type="datetime1">
              <a:rPr lang="en-US" smtClean="0"/>
              <a:pPr>
                <a:defRPr/>
              </a:pPr>
              <a:t>12/13/2024</a:t>
            </a:fld>
            <a:endParaRPr lang="en-US"/>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7" name="Slide Number Placeholder 6"/>
          <p:cNvSpPr>
            <a:spLocks noGrp="1"/>
          </p:cNvSpPr>
          <p:nvPr>
            <p:ph type="sldNum" sz="quarter" idx="12"/>
          </p:nvPr>
        </p:nvSpPr>
        <p:spPr/>
        <p:txBody>
          <a:bodyPr/>
          <a:lstStyle/>
          <a:p>
            <a:pPr>
              <a:defRPr/>
            </a:pPr>
            <a:fld id="{31F6D4F7-D30A-2D46-8C56-BBD860B78FB6}" type="slidenum">
              <a:rPr lang="en-US" smtClean="0"/>
              <a:pPr>
                <a:defRPr/>
              </a:pPr>
              <a:t>‹#›</a:t>
            </a:fld>
            <a:endParaRPr lang="en-US"/>
          </a:p>
        </p:txBody>
      </p:sp>
    </p:spTree>
    <p:extLst>
      <p:ext uri="{BB962C8B-B14F-4D97-AF65-F5344CB8AC3E}">
        <p14:creationId xmlns:p14="http://schemas.microsoft.com/office/powerpoint/2010/main" val="1360617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fld id="{B36C6B15-2585-5C47-A65D-F349E6DD2A9B}" type="datetime1">
              <a:rPr lang="en-US" smtClean="0"/>
              <a:pPr>
                <a:defRPr/>
              </a:pPr>
              <a:t>12/13/2024</a:t>
            </a:fld>
            <a:endParaRPr lang="en-US"/>
          </a:p>
        </p:txBody>
      </p:sp>
      <p:sp>
        <p:nvSpPr>
          <p:cNvPr id="8" name="Footer Placeholder 7"/>
          <p:cNvSpPr>
            <a:spLocks noGrp="1"/>
          </p:cNvSpPr>
          <p:nvPr>
            <p:ph type="ftr" sz="quarter" idx="11"/>
          </p:nvPr>
        </p:nvSpPr>
        <p:spPr/>
        <p:txBody>
          <a:bodyPr/>
          <a:lstStyle/>
          <a:p>
            <a:pPr>
              <a:defRPr/>
            </a:pPr>
            <a:r>
              <a:rPr lang="en-US"/>
              <a:t>Chapter 5 System modeling</a:t>
            </a:r>
          </a:p>
        </p:txBody>
      </p:sp>
      <p:sp>
        <p:nvSpPr>
          <p:cNvPr id="9" name="Slide Number Placeholder 8"/>
          <p:cNvSpPr>
            <a:spLocks noGrp="1"/>
          </p:cNvSpPr>
          <p:nvPr>
            <p:ph type="sldNum" sz="quarter" idx="12"/>
          </p:nvPr>
        </p:nvSpPr>
        <p:spPr/>
        <p:txBody>
          <a:bodyPr/>
          <a:lstStyle/>
          <a:p>
            <a:pPr>
              <a:defRPr/>
            </a:pPr>
            <a:fld id="{D227A3EF-D9D8-3141-91A2-80F03BEF3F96}" type="slidenum">
              <a:rPr lang="en-US" smtClean="0"/>
              <a:pPr>
                <a:defRPr/>
              </a:pPr>
              <a:t>‹#›</a:t>
            </a:fld>
            <a:endParaRPr lang="en-US"/>
          </a:p>
        </p:txBody>
      </p:sp>
    </p:spTree>
    <p:extLst>
      <p:ext uri="{BB962C8B-B14F-4D97-AF65-F5344CB8AC3E}">
        <p14:creationId xmlns:p14="http://schemas.microsoft.com/office/powerpoint/2010/main" val="1031301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F1CC1C80-1CA0-B74D-B2D0-A4B5EA1E22AD}" type="datetime1">
              <a:rPr lang="en-US" smtClean="0"/>
              <a:pPr>
                <a:defRPr/>
              </a:pPr>
              <a:t>12/13/2024</a:t>
            </a:fld>
            <a:endParaRPr lang="en-US"/>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a:t>
            </a:fld>
            <a:endParaRPr lang="en-US"/>
          </a:p>
        </p:txBody>
      </p:sp>
    </p:spTree>
    <p:extLst>
      <p:ext uri="{BB962C8B-B14F-4D97-AF65-F5344CB8AC3E}">
        <p14:creationId xmlns:p14="http://schemas.microsoft.com/office/powerpoint/2010/main" val="3716914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8A237EE1-1982-F94A-9074-6B57976F77EF}" type="datetime1">
              <a:rPr lang="en-US" smtClean="0"/>
              <a:pPr>
                <a:defRPr/>
              </a:pPr>
              <a:t>12/13/2024</a:t>
            </a:fld>
            <a:endParaRPr lang="en-US"/>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941E2DB-6B26-1148-BBB7-224489DC4320}" type="slidenum">
              <a:rPr lang="en-US" smtClean="0"/>
              <a:pPr>
                <a:defRPr/>
              </a:pPr>
              <a:t>‹#›</a:t>
            </a:fld>
            <a:endParaRPr lang="en-US"/>
          </a:p>
        </p:txBody>
      </p:sp>
    </p:spTree>
    <p:extLst>
      <p:ext uri="{BB962C8B-B14F-4D97-AF65-F5344CB8AC3E}">
        <p14:creationId xmlns:p14="http://schemas.microsoft.com/office/powerpoint/2010/main" val="2979080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C7AB28E7-72C6-6642-A20C-3227154F59A3}" type="datetime1">
              <a:rPr lang="en-US" smtClean="0"/>
              <a:pPr>
                <a:defRPr/>
              </a:pPr>
              <a:t>12/13/2024</a:t>
            </a:fld>
            <a:endParaRPr lang="en-US"/>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7" name="Slide Number Placeholder 6"/>
          <p:cNvSpPr>
            <a:spLocks noGrp="1"/>
          </p:cNvSpPr>
          <p:nvPr>
            <p:ph type="sldNum" sz="quarter" idx="12"/>
          </p:nvPr>
        </p:nvSpPr>
        <p:spPr/>
        <p:txBody>
          <a:bodyPr/>
          <a:lstStyle/>
          <a:p>
            <a:pPr>
              <a:defRPr/>
            </a:pPr>
            <a:fld id="{0C7EC744-B227-4A42-B0B8-DD1F9FC186DB}" type="slidenum">
              <a:rPr lang="en-US" smtClean="0"/>
              <a:pPr>
                <a:defRPr/>
              </a:pPr>
              <a:t>‹#›</a:t>
            </a:fld>
            <a:endParaRPr lang="en-US"/>
          </a:p>
        </p:txBody>
      </p:sp>
    </p:spTree>
    <p:extLst>
      <p:ext uri="{BB962C8B-B14F-4D97-AF65-F5344CB8AC3E}">
        <p14:creationId xmlns:p14="http://schemas.microsoft.com/office/powerpoint/2010/main" val="31819180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B2E3FBCA-5989-E440-A1A0-93004286AB6A}" type="datetime1">
              <a:rPr lang="en-US" smtClean="0"/>
              <a:pPr>
                <a:defRPr/>
              </a:pPr>
              <a:t>12/13/2024</a:t>
            </a:fld>
            <a:endParaRPr lang="en-US"/>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7" name="Slide Number Placeholder 6"/>
          <p:cNvSpPr>
            <a:spLocks noGrp="1"/>
          </p:cNvSpPr>
          <p:nvPr>
            <p:ph type="sldNum" sz="quarter" idx="12"/>
          </p:nvPr>
        </p:nvSpPr>
        <p:spPr/>
        <p:txBody>
          <a:bodyPr/>
          <a:lstStyle/>
          <a:p>
            <a:pPr>
              <a:defRPr/>
            </a:pPr>
            <a:fld id="{026C30EE-4725-9040-82E4-7631508820E2}" type="slidenum">
              <a:rPr lang="en-US" smtClean="0"/>
              <a:pPr>
                <a:defRPr/>
              </a:pPr>
              <a:t>‹#›</a:t>
            </a:fld>
            <a:endParaRPr lang="en-US"/>
          </a:p>
        </p:txBody>
      </p:sp>
    </p:spTree>
    <p:extLst>
      <p:ext uri="{BB962C8B-B14F-4D97-AF65-F5344CB8AC3E}">
        <p14:creationId xmlns:p14="http://schemas.microsoft.com/office/powerpoint/2010/main" val="1341576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A72FE822-76AE-3746-8338-468ADE492E9E}" type="datetime1">
              <a:rPr lang="en-US" smtClean="0"/>
              <a:pPr>
                <a:defRPr/>
              </a:pPr>
              <a:t>12/13/2024</a:t>
            </a:fld>
            <a:endParaRPr lang="en-US"/>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6" name="Slide Number Placeholder 5"/>
          <p:cNvSpPr>
            <a:spLocks noGrp="1"/>
          </p:cNvSpPr>
          <p:nvPr>
            <p:ph type="sldNum" sz="quarter" idx="12"/>
          </p:nvPr>
        </p:nvSpPr>
        <p:spPr/>
        <p:txBody>
          <a:bodyPr/>
          <a:lstStyle/>
          <a:p>
            <a:pPr>
              <a:defRPr/>
            </a:pPr>
            <a:fld id="{8869BD90-93E8-7D4C-B473-7191F00429CB}" type="slidenum">
              <a:rPr lang="en-US" smtClean="0"/>
              <a:pPr>
                <a:defRPr/>
              </a:pPr>
              <a:t>‹#›</a:t>
            </a:fld>
            <a:endParaRPr lang="en-US"/>
          </a:p>
        </p:txBody>
      </p:sp>
    </p:spTree>
    <p:extLst>
      <p:ext uri="{BB962C8B-B14F-4D97-AF65-F5344CB8AC3E}">
        <p14:creationId xmlns:p14="http://schemas.microsoft.com/office/powerpoint/2010/main" val="2614458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DC00C6F-8C67-1B43-80E9-CFE97FD9DFA1}" type="datetime1">
              <a:rPr lang="en-US" smtClean="0"/>
              <a:pPr>
                <a:defRPr/>
              </a:pPr>
              <a:t>12/13/2024</a:t>
            </a:fld>
            <a:endParaRPr lang="en-US"/>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6" name="Slide Number Placeholder 5"/>
          <p:cNvSpPr>
            <a:spLocks noGrp="1"/>
          </p:cNvSpPr>
          <p:nvPr>
            <p:ph type="sldNum" sz="quarter" idx="12"/>
          </p:nvPr>
        </p:nvSpPr>
        <p:spPr/>
        <p:txBody>
          <a:bodyPr/>
          <a:lstStyle/>
          <a:p>
            <a:pPr>
              <a:defRPr/>
            </a:pPr>
            <a:fld id="{BA7DC435-2897-F34A-8447-1EC8A691D119}" type="slidenum">
              <a:rPr lang="en-US" smtClean="0"/>
              <a:pPr>
                <a:defRPr/>
              </a:pPr>
              <a:t>‹#›</a:t>
            </a:fld>
            <a:endParaRPr lang="en-US"/>
          </a:p>
        </p:txBody>
      </p:sp>
    </p:spTree>
    <p:extLst>
      <p:ext uri="{BB962C8B-B14F-4D97-AF65-F5344CB8AC3E}">
        <p14:creationId xmlns:p14="http://schemas.microsoft.com/office/powerpoint/2010/main" val="40308334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7823DC5D-7ACB-A846-A411-E90AA88C6704}" type="datetime1">
              <a:rPr lang="en-US" smtClean="0"/>
              <a:pPr>
                <a:defRPr/>
              </a:pPr>
              <a:t>12/13/2024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US"/>
              <a:t>Chapter 5 System modeling</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5AC5F77F-66C9-B04B-B94C-B68F71024283}" type="slidenum">
              <a:rPr lang="en-US" smtClean="0"/>
              <a:pPr>
                <a:defRPr/>
              </a:pPr>
              <a:t>‹#›</a:t>
            </a:fld>
            <a:endParaRPr lang="en-US"/>
          </a:p>
        </p:txBody>
      </p:sp>
    </p:spTree>
    <p:extLst>
      <p:ext uri="{BB962C8B-B14F-4D97-AF65-F5344CB8AC3E}">
        <p14:creationId xmlns:p14="http://schemas.microsoft.com/office/powerpoint/2010/main" val="415351784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3"/>
          <p:cNvSpPr>
            <a:spLocks noGrp="1"/>
          </p:cNvSpPr>
          <p:nvPr>
            <p:ph type="title"/>
          </p:nvPr>
        </p:nvSpPr>
        <p:spPr>
          <a:xfrm>
            <a:off x="457200" y="1993900"/>
            <a:ext cx="7293232" cy="1143000"/>
          </a:xfrm>
        </p:spPr>
        <p:txBody>
          <a:bodyPr/>
          <a:lstStyle/>
          <a:p>
            <a:r>
              <a:rPr lang="en-US" dirty="0"/>
              <a:t>Chapter 5 – System Modeling</a:t>
            </a:r>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diagram</a:t>
            </a:r>
          </a:p>
        </p:txBody>
      </p:sp>
      <p:sp>
        <p:nvSpPr>
          <p:cNvPr id="3" name="Content Placeholder 2"/>
          <p:cNvSpPr>
            <a:spLocks noGrp="1"/>
          </p:cNvSpPr>
          <p:nvPr>
            <p:ph idx="1"/>
          </p:nvPr>
        </p:nvSpPr>
        <p:spPr/>
        <p:txBody>
          <a:bodyPr>
            <a:normAutofit lnSpcReduction="10000"/>
          </a:bodyPr>
          <a:lstStyle/>
          <a:p>
            <a:r>
              <a:rPr lang="en-US" dirty="0"/>
              <a:t>Activity diagram is basically a </a:t>
            </a:r>
            <a:r>
              <a:rPr lang="en-US" b="1" dirty="0"/>
              <a:t>flow chart </a:t>
            </a:r>
            <a:r>
              <a:rPr lang="en-US" dirty="0"/>
              <a:t>to represent the flow form one activity to another activity. </a:t>
            </a:r>
          </a:p>
          <a:p>
            <a:r>
              <a:rPr lang="en-US" dirty="0"/>
              <a:t>The activity can be described as an operation of the system.</a:t>
            </a:r>
          </a:p>
          <a:p>
            <a:r>
              <a:rPr lang="en-US" dirty="0"/>
              <a:t>Other diagrams are used to show the message flow from one object to another but activity diagram is used to show message flow from one activity to another.</a:t>
            </a:r>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2</a:t>
            </a:fld>
            <a:endParaRPr lang="en-US"/>
          </a:p>
        </p:txBody>
      </p:sp>
    </p:spTree>
    <p:extLst>
      <p:ext uri="{BB962C8B-B14F-4D97-AF65-F5344CB8AC3E}">
        <p14:creationId xmlns:p14="http://schemas.microsoft.com/office/powerpoint/2010/main" val="32998522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Purpose of Activity diagram</a:t>
            </a:r>
          </a:p>
        </p:txBody>
      </p:sp>
      <p:sp>
        <p:nvSpPr>
          <p:cNvPr id="3" name="Content Placeholder 2"/>
          <p:cNvSpPr>
            <a:spLocks noGrp="1"/>
          </p:cNvSpPr>
          <p:nvPr>
            <p:ph idx="1"/>
          </p:nvPr>
        </p:nvSpPr>
        <p:spPr/>
        <p:txBody>
          <a:bodyPr>
            <a:normAutofit/>
          </a:bodyPr>
          <a:lstStyle/>
          <a:p>
            <a:r>
              <a:rPr lang="en-US" dirty="0"/>
              <a:t>Purposes can be described as:</a:t>
            </a:r>
          </a:p>
          <a:p>
            <a:pPr lvl="1"/>
            <a:r>
              <a:rPr lang="en-US" dirty="0"/>
              <a:t>Draw the activity flow of a system.</a:t>
            </a:r>
          </a:p>
          <a:p>
            <a:pPr lvl="1"/>
            <a:r>
              <a:rPr lang="en-US" dirty="0"/>
              <a:t>Describe the sequence from one activity to another.</a:t>
            </a:r>
          </a:p>
          <a:p>
            <a:pPr lvl="1"/>
            <a:r>
              <a:rPr lang="en-US" dirty="0"/>
              <a:t>Describe the parallel, branched and concurrent flow of the system.</a:t>
            </a:r>
          </a:p>
          <a:p>
            <a:endParaRPr lang="en-US" dirty="0"/>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3</a:t>
            </a:fld>
            <a:endParaRPr lang="en-US"/>
          </a:p>
        </p:txBody>
      </p:sp>
    </p:spTree>
    <p:extLst>
      <p:ext uri="{BB962C8B-B14F-4D97-AF65-F5344CB8AC3E}">
        <p14:creationId xmlns:p14="http://schemas.microsoft.com/office/powerpoint/2010/main" val="2550468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draw activity diagram?</a:t>
            </a:r>
          </a:p>
        </p:txBody>
      </p:sp>
      <p:sp>
        <p:nvSpPr>
          <p:cNvPr id="3" name="Content Placeholder 2"/>
          <p:cNvSpPr>
            <a:spLocks noGrp="1"/>
          </p:cNvSpPr>
          <p:nvPr>
            <p:ph idx="1"/>
          </p:nvPr>
        </p:nvSpPr>
        <p:spPr/>
        <p:txBody>
          <a:bodyPr>
            <a:normAutofit/>
          </a:bodyPr>
          <a:lstStyle/>
          <a:p>
            <a:r>
              <a:rPr lang="en-US" sz="2800" dirty="0"/>
              <a:t>The start of a process is indicated by a filled circle</a:t>
            </a:r>
          </a:p>
          <a:p>
            <a:r>
              <a:rPr lang="en-US" sz="2800" dirty="0"/>
              <a:t> The end by a filled circle inside another circle.</a:t>
            </a:r>
          </a:p>
          <a:p>
            <a:r>
              <a:rPr lang="en-US" sz="2800" dirty="0"/>
              <a:t>Rectangles with round corners represent activities</a:t>
            </a:r>
          </a:p>
          <a:p>
            <a:r>
              <a:rPr lang="en-US" sz="2800" dirty="0"/>
              <a:t>Arrows represent the flow of work from one activity to another.</a:t>
            </a:r>
          </a:p>
          <a:p>
            <a:r>
              <a:rPr lang="en-US" sz="2800" dirty="0"/>
              <a:t>Arrows may be annotated with guards that indicate the condition when that flow is taken.</a:t>
            </a:r>
          </a:p>
          <a:p>
            <a:pPr marL="0" indent="0">
              <a:buNone/>
            </a:pPr>
            <a:endParaRPr lang="en-US" sz="2800" dirty="0"/>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4</a:t>
            </a:fld>
            <a:endParaRPr lang="en-US"/>
          </a:p>
        </p:txBody>
      </p:sp>
    </p:spTree>
    <p:extLst>
      <p:ext uri="{BB962C8B-B14F-4D97-AF65-F5344CB8AC3E}">
        <p14:creationId xmlns:p14="http://schemas.microsoft.com/office/powerpoint/2010/main" val="35700655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draw activity diagram?</a:t>
            </a:r>
          </a:p>
        </p:txBody>
      </p:sp>
      <p:sp>
        <p:nvSpPr>
          <p:cNvPr id="3" name="Content Placeholder 2"/>
          <p:cNvSpPr>
            <a:spLocks noGrp="1"/>
          </p:cNvSpPr>
          <p:nvPr>
            <p:ph idx="1"/>
          </p:nvPr>
        </p:nvSpPr>
        <p:spPr/>
        <p:txBody>
          <a:bodyPr>
            <a:normAutofit/>
          </a:bodyPr>
          <a:lstStyle/>
          <a:p>
            <a:r>
              <a:rPr lang="en-US" sz="2800" dirty="0"/>
              <a:t>A solid bar is used to indicate activity coordination. </a:t>
            </a:r>
          </a:p>
          <a:p>
            <a:r>
              <a:rPr lang="en-US" sz="2800" dirty="0"/>
              <a:t>When the flow from more than one activity leads to a solid bar then all of these activities must be complete before progress is possible. </a:t>
            </a:r>
          </a:p>
          <a:p>
            <a:r>
              <a:rPr lang="en-US" sz="2800" dirty="0"/>
              <a:t>When the flow from a solid bar leads to a number of activities, these may be executed in parallel.</a:t>
            </a:r>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5</a:t>
            </a:fld>
            <a:endParaRPr lang="en-US"/>
          </a:p>
        </p:txBody>
      </p:sp>
    </p:spTree>
    <p:extLst>
      <p:ext uri="{BB962C8B-B14F-4D97-AF65-F5344CB8AC3E}">
        <p14:creationId xmlns:p14="http://schemas.microsoft.com/office/powerpoint/2010/main" val="2868893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E2D7C-54D7-4002-9CBF-ED8BFCB61372}"/>
              </a:ext>
            </a:extLst>
          </p:cNvPr>
          <p:cNvSpPr>
            <a:spLocks noGrp="1"/>
          </p:cNvSpPr>
          <p:nvPr>
            <p:ph type="title"/>
          </p:nvPr>
        </p:nvSpPr>
        <p:spPr/>
        <p:txBody>
          <a:bodyPr/>
          <a:lstStyle/>
          <a:p>
            <a:r>
              <a:rPr lang="en-US" dirty="0"/>
              <a:t>Key parts of Activity Diagram</a:t>
            </a:r>
          </a:p>
        </p:txBody>
      </p:sp>
      <p:pic>
        <p:nvPicPr>
          <p:cNvPr id="7" name="Content Placeholder 6">
            <a:extLst>
              <a:ext uri="{FF2B5EF4-FFF2-40B4-BE49-F238E27FC236}">
                <a16:creationId xmlns:a16="http://schemas.microsoft.com/office/drawing/2014/main" id="{C9652CA7-9069-43A8-ADC8-C41DD72FF0EC}"/>
              </a:ext>
            </a:extLst>
          </p:cNvPr>
          <p:cNvPicPr>
            <a:picLocks noGrp="1" noChangeAspect="1"/>
          </p:cNvPicPr>
          <p:nvPr>
            <p:ph idx="1"/>
          </p:nvPr>
        </p:nvPicPr>
        <p:blipFill>
          <a:blip r:embed="rId2"/>
          <a:stretch>
            <a:fillRect/>
          </a:stretch>
        </p:blipFill>
        <p:spPr>
          <a:xfrm>
            <a:off x="1758462" y="1870317"/>
            <a:ext cx="5934903" cy="2996998"/>
          </a:xfrm>
        </p:spPr>
      </p:pic>
      <p:sp>
        <p:nvSpPr>
          <p:cNvPr id="4" name="Footer Placeholder 3">
            <a:extLst>
              <a:ext uri="{FF2B5EF4-FFF2-40B4-BE49-F238E27FC236}">
                <a16:creationId xmlns:a16="http://schemas.microsoft.com/office/drawing/2014/main" id="{888A67B6-51ED-4934-9862-E0DAEB6B1BCF}"/>
              </a:ext>
            </a:extLst>
          </p:cNvPr>
          <p:cNvSpPr>
            <a:spLocks noGrp="1"/>
          </p:cNvSpPr>
          <p:nvPr>
            <p:ph type="ftr" sz="quarter" idx="11"/>
          </p:nvPr>
        </p:nvSpPr>
        <p:spPr/>
        <p:txBody>
          <a:bodyPr/>
          <a:lstStyle/>
          <a:p>
            <a:pPr>
              <a:defRPr/>
            </a:pPr>
            <a:r>
              <a:rPr lang="en-US"/>
              <a:t>Chapter 5 System modeling</a:t>
            </a:r>
          </a:p>
        </p:txBody>
      </p:sp>
      <p:sp>
        <p:nvSpPr>
          <p:cNvPr id="5" name="Slide Number Placeholder 4">
            <a:extLst>
              <a:ext uri="{FF2B5EF4-FFF2-40B4-BE49-F238E27FC236}">
                <a16:creationId xmlns:a16="http://schemas.microsoft.com/office/drawing/2014/main" id="{C8A1C1DD-6239-447A-A1AC-1FC313E1D954}"/>
              </a:ext>
            </a:extLst>
          </p:cNvPr>
          <p:cNvSpPr>
            <a:spLocks noGrp="1"/>
          </p:cNvSpPr>
          <p:nvPr>
            <p:ph type="sldNum" sz="quarter" idx="12"/>
          </p:nvPr>
        </p:nvSpPr>
        <p:spPr/>
        <p:txBody>
          <a:bodyPr/>
          <a:lstStyle/>
          <a:p>
            <a:pPr>
              <a:defRPr/>
            </a:pPr>
            <a:fld id="{DEC9DA09-039A-A841-BA90-58CFCFBF8E01}" type="slidenum">
              <a:rPr lang="en-US" smtClean="0"/>
              <a:pPr>
                <a:defRPr/>
              </a:pPr>
              <a:t>6</a:t>
            </a:fld>
            <a:endParaRPr lang="en-US"/>
          </a:p>
        </p:txBody>
      </p:sp>
      <p:pic>
        <p:nvPicPr>
          <p:cNvPr id="9" name="Picture 8">
            <a:extLst>
              <a:ext uri="{FF2B5EF4-FFF2-40B4-BE49-F238E27FC236}">
                <a16:creationId xmlns:a16="http://schemas.microsoft.com/office/drawing/2014/main" id="{C0C51BB0-2682-467A-A07F-8A5AA090DEF3}"/>
              </a:ext>
            </a:extLst>
          </p:cNvPr>
          <p:cNvPicPr>
            <a:picLocks noChangeAspect="1"/>
          </p:cNvPicPr>
          <p:nvPr/>
        </p:nvPicPr>
        <p:blipFill>
          <a:blip r:embed="rId3"/>
          <a:stretch>
            <a:fillRect/>
          </a:stretch>
        </p:blipFill>
        <p:spPr>
          <a:xfrm>
            <a:off x="1604548" y="4987683"/>
            <a:ext cx="5934903" cy="1733792"/>
          </a:xfrm>
          <a:prstGeom prst="rect">
            <a:avLst/>
          </a:prstGeom>
        </p:spPr>
      </p:pic>
    </p:spTree>
    <p:extLst>
      <p:ext uri="{BB962C8B-B14F-4D97-AF65-F5344CB8AC3E}">
        <p14:creationId xmlns:p14="http://schemas.microsoft.com/office/powerpoint/2010/main" val="2931455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solidFill>
              </a:rPr>
              <a:t>h</a:t>
            </a:r>
          </a:p>
        </p:txBody>
      </p:sp>
      <p:sp>
        <p:nvSpPr>
          <p:cNvPr id="3" name="Content Placeholder 2"/>
          <p:cNvSpPr>
            <a:spLocks noGrp="1"/>
          </p:cNvSpPr>
          <p:nvPr>
            <p:ph idx="1"/>
          </p:nvPr>
        </p:nvSpPr>
        <p:spPr>
          <a:xfrm>
            <a:off x="457200" y="2557463"/>
            <a:ext cx="8229600" cy="3568700"/>
          </a:xfrm>
        </p:spPr>
        <p:txBody>
          <a:bodyPr>
            <a:normAutofit/>
          </a:bodyPr>
          <a:lstStyle/>
          <a:p>
            <a:pPr marL="0" indent="0" algn="ctr">
              <a:buNone/>
            </a:pPr>
            <a:r>
              <a:rPr lang="en-US" sz="2400" b="1" i="1" dirty="0">
                <a:solidFill>
                  <a:srgbClr val="7030A0"/>
                </a:solidFill>
              </a:rPr>
              <a:t>One important point should be clearly understood that an activity diagram cannot be exactly matched with the code. The activity diagram is made to understand the flow of activities and mainly used by the business users.</a:t>
            </a:r>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7</a:t>
            </a:fld>
            <a:endParaRPr lang="en-US"/>
          </a:p>
        </p:txBody>
      </p:sp>
    </p:spTree>
    <p:extLst>
      <p:ext uri="{BB962C8B-B14F-4D97-AF65-F5344CB8AC3E}">
        <p14:creationId xmlns:p14="http://schemas.microsoft.com/office/powerpoint/2010/main" val="14143514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Activity diagram for order management system</a:t>
            </a:r>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14425" y="1702911"/>
            <a:ext cx="7229475" cy="4379595"/>
          </a:xfrm>
        </p:spPr>
      </p:pic>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8</a:t>
            </a:fld>
            <a:endParaRPr lang="en-US"/>
          </a:p>
        </p:txBody>
      </p:sp>
    </p:spTree>
    <p:extLst>
      <p:ext uri="{BB962C8B-B14F-4D97-AF65-F5344CB8AC3E}">
        <p14:creationId xmlns:p14="http://schemas.microsoft.com/office/powerpoint/2010/main" val="24220090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Activity diagram for order management system</a:t>
            </a:r>
          </a:p>
        </p:txBody>
      </p:sp>
      <p:sp>
        <p:nvSpPr>
          <p:cNvPr id="3" name="Content Placeholder 2"/>
          <p:cNvSpPr>
            <a:spLocks noGrp="1"/>
          </p:cNvSpPr>
          <p:nvPr>
            <p:ph idx="1"/>
          </p:nvPr>
        </p:nvSpPr>
        <p:spPr/>
        <p:txBody>
          <a:bodyPr>
            <a:normAutofit fontScale="92500" lnSpcReduction="10000"/>
          </a:bodyPr>
          <a:lstStyle/>
          <a:p>
            <a:r>
              <a:rPr lang="en-US" sz="3000" dirty="0"/>
              <a:t>In the diagram four activities are identified which are associated with conditions. </a:t>
            </a:r>
          </a:p>
          <a:p>
            <a:pPr marL="1371600" lvl="2" indent="-514350">
              <a:buFont typeface="+mj-lt"/>
              <a:buAutoNum type="arabicPeriod"/>
            </a:pPr>
            <a:r>
              <a:rPr lang="en-US" b="1" i="1" dirty="0">
                <a:solidFill>
                  <a:srgbClr val="FF0000"/>
                </a:solidFill>
              </a:rPr>
              <a:t>Send order by the customer</a:t>
            </a:r>
          </a:p>
          <a:p>
            <a:pPr marL="1371600" lvl="2" indent="-514350">
              <a:buFont typeface="+mj-lt"/>
              <a:buAutoNum type="arabicPeriod"/>
            </a:pPr>
            <a:r>
              <a:rPr lang="en-US" b="1" i="1" dirty="0">
                <a:solidFill>
                  <a:srgbClr val="FF0000"/>
                </a:solidFill>
              </a:rPr>
              <a:t>Receipt of the order</a:t>
            </a:r>
          </a:p>
          <a:p>
            <a:pPr marL="1371600" lvl="2" indent="-514350">
              <a:buFont typeface="+mj-lt"/>
              <a:buAutoNum type="arabicPeriod"/>
            </a:pPr>
            <a:r>
              <a:rPr lang="en-US" b="1" i="1" dirty="0">
                <a:solidFill>
                  <a:srgbClr val="FF0000"/>
                </a:solidFill>
              </a:rPr>
              <a:t>Confirm order</a:t>
            </a:r>
          </a:p>
          <a:p>
            <a:pPr marL="1371600" lvl="2" indent="-514350">
              <a:buFont typeface="+mj-lt"/>
              <a:buAutoNum type="arabicPeriod"/>
            </a:pPr>
            <a:r>
              <a:rPr lang="en-US" b="1" i="1" dirty="0">
                <a:solidFill>
                  <a:srgbClr val="FF0000"/>
                </a:solidFill>
              </a:rPr>
              <a:t>Dispatch order</a:t>
            </a:r>
          </a:p>
          <a:p>
            <a:r>
              <a:rPr lang="en-US" sz="3000" dirty="0"/>
              <a:t>After receiving the order request condition checks are performed to check if it is normal or special order. After the type of order is identified dispatch activity is performed and that is marked as the termination of the process.</a:t>
            </a:r>
          </a:p>
          <a:p>
            <a:endParaRPr lang="en-US" sz="3000" dirty="0"/>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9</a:t>
            </a:fld>
            <a:endParaRPr lang="en-US"/>
          </a:p>
        </p:txBody>
      </p:sp>
    </p:spTree>
    <p:extLst>
      <p:ext uri="{BB962C8B-B14F-4D97-AF65-F5344CB8AC3E}">
        <p14:creationId xmlns:p14="http://schemas.microsoft.com/office/powerpoint/2010/main" val="11319761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152400"/>
            <a:ext cx="7772400" cy="1143000"/>
          </a:xfrm>
        </p:spPr>
        <p:txBody>
          <a:bodyPr/>
          <a:lstStyle/>
          <a:p>
            <a:r>
              <a:rPr lang="en-US" sz="3200" dirty="0"/>
              <a:t>Activity diagram for Book Issue</a:t>
            </a:r>
          </a:p>
        </p:txBody>
      </p:sp>
      <p:pic>
        <p:nvPicPr>
          <p:cNvPr id="1026" name="Picture 2" descr="C:\Users\hafiza.maria\Desktop\c019215ca831c0b0b75bdc2775e8e05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8795" y="1066800"/>
            <a:ext cx="7247005" cy="5638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13292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Fork </a:t>
            </a:r>
            <a:r>
              <a:rPr lang="en-US"/>
              <a:t>and Join</a:t>
            </a:r>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5799" y="1717010"/>
            <a:ext cx="6843713" cy="4742686"/>
          </a:xfrm>
        </p:spPr>
      </p:pic>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11</a:t>
            </a:fld>
            <a:endParaRPr lang="en-US"/>
          </a:p>
        </p:txBody>
      </p:sp>
    </p:spTree>
    <p:extLst>
      <p:ext uri="{BB962C8B-B14F-4D97-AF65-F5344CB8AC3E}">
        <p14:creationId xmlns:p14="http://schemas.microsoft.com/office/powerpoint/2010/main" val="38628727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25C9A61-9A7B-4818-BE32-8972626A9F68}"/>
              </a:ext>
            </a:extLst>
          </p:cNvPr>
          <p:cNvSpPr>
            <a:spLocks noGrp="1"/>
          </p:cNvSpPr>
          <p:nvPr>
            <p:ph type="ftr" sz="quarter" idx="11"/>
          </p:nvPr>
        </p:nvSpPr>
        <p:spPr/>
        <p:txBody>
          <a:bodyPr/>
          <a:lstStyle/>
          <a:p>
            <a:pPr>
              <a:defRPr/>
            </a:pPr>
            <a:r>
              <a:rPr lang="en-US"/>
              <a:t>Chapter 5 System modeling</a:t>
            </a:r>
          </a:p>
        </p:txBody>
      </p:sp>
      <p:sp>
        <p:nvSpPr>
          <p:cNvPr id="3" name="Slide Number Placeholder 2">
            <a:extLst>
              <a:ext uri="{FF2B5EF4-FFF2-40B4-BE49-F238E27FC236}">
                <a16:creationId xmlns:a16="http://schemas.microsoft.com/office/drawing/2014/main" id="{C9685F80-1945-4E52-8A53-54D87C637E4A}"/>
              </a:ext>
            </a:extLst>
          </p:cNvPr>
          <p:cNvSpPr>
            <a:spLocks noGrp="1"/>
          </p:cNvSpPr>
          <p:nvPr>
            <p:ph type="sldNum" sz="quarter" idx="12"/>
          </p:nvPr>
        </p:nvSpPr>
        <p:spPr/>
        <p:txBody>
          <a:bodyPr/>
          <a:lstStyle/>
          <a:p>
            <a:pPr>
              <a:defRPr/>
            </a:pPr>
            <a:fld id="{9941E2DB-6B26-1148-BBB7-224489DC4320}" type="slidenum">
              <a:rPr lang="en-US" smtClean="0"/>
              <a:pPr>
                <a:defRPr/>
              </a:pPr>
              <a:t>12</a:t>
            </a:fld>
            <a:endParaRPr lang="en-US"/>
          </a:p>
        </p:txBody>
      </p:sp>
      <p:pic>
        <p:nvPicPr>
          <p:cNvPr id="5" name="Picture 4">
            <a:extLst>
              <a:ext uri="{FF2B5EF4-FFF2-40B4-BE49-F238E27FC236}">
                <a16:creationId xmlns:a16="http://schemas.microsoft.com/office/drawing/2014/main" id="{FFF2A005-FE7E-4309-8766-59ADCC2C2D98}"/>
              </a:ext>
            </a:extLst>
          </p:cNvPr>
          <p:cNvPicPr>
            <a:picLocks noChangeAspect="1"/>
          </p:cNvPicPr>
          <p:nvPr/>
        </p:nvPicPr>
        <p:blipFill>
          <a:blip r:embed="rId2"/>
          <a:stretch>
            <a:fillRect/>
          </a:stretch>
        </p:blipFill>
        <p:spPr>
          <a:xfrm>
            <a:off x="480318" y="1125415"/>
            <a:ext cx="8620641" cy="4853353"/>
          </a:xfrm>
          <a:prstGeom prst="rect">
            <a:avLst/>
          </a:prstGeom>
        </p:spPr>
      </p:pic>
    </p:spTree>
    <p:extLst>
      <p:ext uri="{BB962C8B-B14F-4D97-AF65-F5344CB8AC3E}">
        <p14:creationId xmlns:p14="http://schemas.microsoft.com/office/powerpoint/2010/main" val="25899308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985</TotalTime>
  <Words>416</Words>
  <Application>Microsoft Office PowerPoint</Application>
  <PresentationFormat>On-screen Show (4:3)</PresentationFormat>
  <Paragraphs>55</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Chapter 5 – System Modeling</vt:lpstr>
      <vt:lpstr>Activity diagram</vt:lpstr>
      <vt:lpstr>Purpose of Activity diagram</vt:lpstr>
      <vt:lpstr>How to draw activity diagram?</vt:lpstr>
      <vt:lpstr>How to draw activity diagram?</vt:lpstr>
      <vt:lpstr>Key parts of Activity Diagram</vt:lpstr>
      <vt:lpstr>h</vt:lpstr>
      <vt:lpstr>Activity diagram for order management system</vt:lpstr>
      <vt:lpstr>Activity diagram for order management system</vt:lpstr>
      <vt:lpstr>Activity diagram for Book Issue</vt:lpstr>
      <vt:lpstr>Fork and Join</vt:lpstr>
      <vt:lpstr>PowerPoint Presentation</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5</dc:title>
  <dc:creator>Ian Sommerville</dc:creator>
  <cp:lastModifiedBy>Saman Asad</cp:lastModifiedBy>
  <cp:revision>45</cp:revision>
  <dcterms:created xsi:type="dcterms:W3CDTF">2010-01-15T13:50:47Z</dcterms:created>
  <dcterms:modified xsi:type="dcterms:W3CDTF">2024-12-13T08:50:33Z</dcterms:modified>
</cp:coreProperties>
</file>
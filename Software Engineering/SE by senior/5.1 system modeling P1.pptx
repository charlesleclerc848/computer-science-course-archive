
<file path=[Content_Types].xml><?xml version="1.0" encoding="utf-8"?>
<Types xmlns="http://schemas.openxmlformats.org/package/2006/content-types">
  <Default Extension="png" ContentType="image/png"/>
  <Default Extension="emf" ContentType="image/x-emf"/>
  <Default Extension="jpeg" ContentType="image/jpeg"/>
  <Default Extension="wmf" ContentType="image/x-wmf"/>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317" r:id="rId3"/>
    <p:sldId id="318" r:id="rId4"/>
    <p:sldId id="319" r:id="rId5"/>
    <p:sldId id="320" r:id="rId6"/>
    <p:sldId id="259" r:id="rId7"/>
    <p:sldId id="260" r:id="rId8"/>
    <p:sldId id="262" r:id="rId9"/>
    <p:sldId id="261" r:id="rId10"/>
    <p:sldId id="263" r:id="rId11"/>
    <p:sldId id="264" r:id="rId12"/>
    <p:sldId id="265" r:id="rId13"/>
    <p:sldId id="296" r:id="rId14"/>
    <p:sldId id="267" r:id="rId15"/>
    <p:sldId id="268" r:id="rId16"/>
    <p:sldId id="338" r:id="rId17"/>
    <p:sldId id="339" r:id="rId18"/>
    <p:sldId id="340" r:id="rId19"/>
    <p:sldId id="269" r:id="rId20"/>
    <p:sldId id="314" r:id="rId21"/>
    <p:sldId id="270" r:id="rId22"/>
    <p:sldId id="271" r:id="rId23"/>
    <p:sldId id="342" r:id="rId24"/>
    <p:sldId id="343" r:id="rId25"/>
    <p:sldId id="334" r:id="rId26"/>
    <p:sldId id="276" r:id="rId27"/>
    <p:sldId id="323" r:id="rId28"/>
    <p:sldId id="344" r:id="rId29"/>
    <p:sldId id="336" r:id="rId30"/>
    <p:sldId id="354" r:id="rId31"/>
    <p:sldId id="322" r:id="rId32"/>
    <p:sldId id="257" r:id="rId33"/>
    <p:sldId id="345" r:id="rId34"/>
    <p:sldId id="346" r:id="rId35"/>
    <p:sldId id="353" r:id="rId36"/>
    <p:sldId id="316" r:id="rId37"/>
    <p:sldId id="341" r:id="rId38"/>
    <p:sldId id="315" r:id="rId39"/>
    <p:sldId id="347" r:id="rId40"/>
    <p:sldId id="348" r:id="rId41"/>
    <p:sldId id="349" r:id="rId42"/>
    <p:sldId id="350" r:id="rId43"/>
    <p:sldId id="266" r:id="rId44"/>
    <p:sldId id="351" r:id="rId45"/>
    <p:sldId id="330" r:id="rId46"/>
    <p:sldId id="331" r:id="rId47"/>
    <p:sldId id="352" r:id="rId48"/>
    <p:sldId id="279" r:id="rId49"/>
    <p:sldId id="280" r:id="rId50"/>
    <p:sldId id="281" r:id="rId51"/>
    <p:sldId id="283" r:id="rId52"/>
    <p:sldId id="324" r:id="rId53"/>
    <p:sldId id="325" r:id="rId54"/>
    <p:sldId id="326" r:id="rId55"/>
    <p:sldId id="327" r:id="rId56"/>
    <p:sldId id="332" r:id="rId57"/>
    <p:sldId id="333" r:id="rId5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p:cViewPr>
        <p:scale>
          <a:sx n="60" d="100"/>
          <a:sy n="60" d="100"/>
        </p:scale>
        <p:origin x="1656" y="36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15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074" name="Group 2"/>
          <p:cNvGrpSpPr>
            <a:grpSpLocks/>
          </p:cNvGrpSpPr>
          <p:nvPr/>
        </p:nvGrpSpPr>
        <p:grpSpPr bwMode="auto">
          <a:xfrm>
            <a:off x="-3175" y="2438400"/>
            <a:ext cx="9147175" cy="1063625"/>
            <a:chOff x="-2" y="1536"/>
            <a:chExt cx="5762" cy="670"/>
          </a:xfrm>
        </p:grpSpPr>
        <p:grpSp>
          <p:nvGrpSpPr>
            <p:cNvPr id="3075" name="Group 3"/>
            <p:cNvGrpSpPr>
              <a:grpSpLocks/>
            </p:cNvGrpSpPr>
            <p:nvPr/>
          </p:nvGrpSpPr>
          <p:grpSpPr bwMode="auto">
            <a:xfrm flipH="1">
              <a:off x="-2" y="1562"/>
              <a:ext cx="5762" cy="638"/>
              <a:chOff x="-2" y="1562"/>
              <a:chExt cx="5762" cy="638"/>
            </a:xfrm>
          </p:grpSpPr>
          <p:sp>
            <p:nvSpPr>
              <p:cNvPr id="3076" name="Freeform 4"/>
              <p:cNvSpPr>
                <a:spLocks/>
              </p:cNvSpPr>
              <p:nvPr/>
            </p:nvSpPr>
            <p:spPr bwMode="ltGray">
              <a:xfrm rot="-5400000">
                <a:off x="2559" y="-993"/>
                <a:ext cx="624" cy="5745"/>
              </a:xfrm>
              <a:custGeom>
                <a:avLst/>
                <a:gdLst>
                  <a:gd name="T0" fmla="*/ 0 w 1000"/>
                  <a:gd name="T1" fmla="*/ 0 h 720"/>
                  <a:gd name="T2" fmla="*/ 0 w 1000"/>
                  <a:gd name="T3" fmla="*/ 720 h 720"/>
                  <a:gd name="T4" fmla="*/ 1000 w 1000"/>
                  <a:gd name="T5" fmla="*/ 720 h 720"/>
                  <a:gd name="T6" fmla="*/ 1000 w 1000"/>
                  <a:gd name="T7" fmla="*/ 0 h 720"/>
                  <a:gd name="T8" fmla="*/ 0 w 1000"/>
                  <a:gd name="T9" fmla="*/ 0 h 720"/>
                </a:gdLst>
                <a:ahLst/>
                <a:cxnLst>
                  <a:cxn ang="0">
                    <a:pos x="T0" y="T1"/>
                  </a:cxn>
                  <a:cxn ang="0">
                    <a:pos x="T2" y="T3"/>
                  </a:cxn>
                  <a:cxn ang="0">
                    <a:pos x="T4" y="T5"/>
                  </a:cxn>
                  <a:cxn ang="0">
                    <a:pos x="T6" y="T7"/>
                  </a:cxn>
                  <a:cxn ang="0">
                    <a:pos x="T8" y="T9"/>
                  </a:cxn>
                </a:cxnLst>
                <a:rect l="0" t="0" r="r" b="b"/>
                <a:pathLst>
                  <a:path w="1000" h="720">
                    <a:moveTo>
                      <a:pt x="0" y="0"/>
                    </a:moveTo>
                    <a:lnTo>
                      <a:pt x="0" y="720"/>
                    </a:lnTo>
                    <a:lnTo>
                      <a:pt x="1000" y="720"/>
                    </a:lnTo>
                    <a:lnTo>
                      <a:pt x="1000" y="0"/>
                    </a:lnTo>
                    <a:lnTo>
                      <a:pt x="0" y="0"/>
                    </a:lnTo>
                    <a:close/>
                  </a:path>
                </a:pathLst>
              </a:custGeom>
              <a:solidFill>
                <a:schemeClr val="accent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77" name="Freeform 5"/>
              <p:cNvSpPr>
                <a:spLocks/>
              </p:cNvSpPr>
              <p:nvPr/>
            </p:nvSpPr>
            <p:spPr bwMode="ltGray">
              <a:xfrm rot="-5400000">
                <a:off x="1323" y="1669"/>
                <a:ext cx="624" cy="421"/>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78" name="Freeform 6"/>
              <p:cNvSpPr>
                <a:spLocks/>
              </p:cNvSpPr>
              <p:nvPr/>
            </p:nvSpPr>
            <p:spPr bwMode="ltGray">
              <a:xfrm rot="-5400000">
                <a:off x="982" y="1669"/>
                <a:ext cx="624" cy="4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79" name="Freeform 7"/>
              <p:cNvSpPr>
                <a:spLocks/>
              </p:cNvSpPr>
              <p:nvPr/>
            </p:nvSpPr>
            <p:spPr bwMode="ltGray">
              <a:xfrm rot="-5400000">
                <a:off x="-57" y="1752"/>
                <a:ext cx="624" cy="255"/>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bg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0" name="Freeform 8"/>
              <p:cNvSpPr>
                <a:spLocks/>
              </p:cNvSpPr>
              <p:nvPr/>
            </p:nvSpPr>
            <p:spPr bwMode="ltGray">
              <a:xfrm rot="-5400000">
                <a:off x="664" y="1733"/>
                <a:ext cx="624" cy="294"/>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1" name="Freeform 9"/>
              <p:cNvSpPr>
                <a:spLocks/>
              </p:cNvSpPr>
              <p:nvPr/>
            </p:nvSpPr>
            <p:spPr bwMode="ltGray">
              <a:xfrm rot="-5400000">
                <a:off x="442" y="1699"/>
                <a:ext cx="624" cy="362"/>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2" name="Freeform 10"/>
              <p:cNvSpPr>
                <a:spLocks/>
              </p:cNvSpPr>
              <p:nvPr/>
            </p:nvSpPr>
            <p:spPr bwMode="ltGray">
              <a:xfrm rot="-5400000">
                <a:off x="156" y="1726"/>
                <a:ext cx="632" cy="315"/>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3" name="Freeform 11"/>
              <p:cNvSpPr>
                <a:spLocks/>
              </p:cNvSpPr>
              <p:nvPr/>
            </p:nvSpPr>
            <p:spPr bwMode="ltGray">
              <a:xfrm rot="-5400000">
                <a:off x="3211" y="1664"/>
                <a:ext cx="624" cy="421"/>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4" name="Freeform 12"/>
              <p:cNvSpPr>
                <a:spLocks/>
              </p:cNvSpPr>
              <p:nvPr/>
            </p:nvSpPr>
            <p:spPr bwMode="ltGray">
              <a:xfrm rot="-5400000">
                <a:off x="2870" y="1664"/>
                <a:ext cx="624" cy="4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5" name="Freeform 13"/>
              <p:cNvSpPr>
                <a:spLocks/>
              </p:cNvSpPr>
              <p:nvPr/>
            </p:nvSpPr>
            <p:spPr bwMode="ltGray">
              <a:xfrm rot="-5400000">
                <a:off x="1830" y="1747"/>
                <a:ext cx="624" cy="255"/>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tx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6" name="Freeform 14"/>
              <p:cNvSpPr>
                <a:spLocks/>
              </p:cNvSpPr>
              <p:nvPr/>
            </p:nvSpPr>
            <p:spPr bwMode="ltGray">
              <a:xfrm rot="-5400000">
                <a:off x="2551" y="1728"/>
                <a:ext cx="624" cy="294"/>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7" name="Freeform 15"/>
              <p:cNvSpPr>
                <a:spLocks/>
              </p:cNvSpPr>
              <p:nvPr/>
            </p:nvSpPr>
            <p:spPr bwMode="ltGray">
              <a:xfrm rot="-5400000">
                <a:off x="2330" y="1694"/>
                <a:ext cx="624" cy="361"/>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8" name="Freeform 16"/>
              <p:cNvSpPr>
                <a:spLocks/>
              </p:cNvSpPr>
              <p:nvPr/>
            </p:nvSpPr>
            <p:spPr bwMode="ltGray">
              <a:xfrm rot="-5400000">
                <a:off x="2043" y="1721"/>
                <a:ext cx="632" cy="316"/>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89" name="Freeform 17"/>
              <p:cNvSpPr>
                <a:spLocks/>
              </p:cNvSpPr>
              <p:nvPr/>
            </p:nvSpPr>
            <p:spPr bwMode="ltGray">
              <a:xfrm rot="-5400000">
                <a:off x="4077" y="1669"/>
                <a:ext cx="624" cy="421"/>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0" name="Freeform 18"/>
              <p:cNvSpPr>
                <a:spLocks/>
              </p:cNvSpPr>
              <p:nvPr/>
            </p:nvSpPr>
            <p:spPr bwMode="ltGray">
              <a:xfrm rot="-5400000">
                <a:off x="3736" y="1669"/>
                <a:ext cx="624" cy="4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1" name="Freeform 19"/>
              <p:cNvSpPr>
                <a:spLocks/>
              </p:cNvSpPr>
              <p:nvPr/>
            </p:nvSpPr>
            <p:spPr bwMode="ltGray">
              <a:xfrm rot="-5400000">
                <a:off x="4584" y="1747"/>
                <a:ext cx="624" cy="255"/>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folHlink"/>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2" name="Freeform 20"/>
              <p:cNvSpPr>
                <a:spLocks/>
              </p:cNvSpPr>
              <p:nvPr/>
            </p:nvSpPr>
            <p:spPr bwMode="ltGray">
              <a:xfrm>
                <a:off x="5469" y="1562"/>
                <a:ext cx="291" cy="625"/>
              </a:xfrm>
              <a:custGeom>
                <a:avLst/>
                <a:gdLst>
                  <a:gd name="T0" fmla="*/ 0 w 291"/>
                  <a:gd name="T1" fmla="*/ 624 h 625"/>
                  <a:gd name="T2" fmla="*/ 291 w 291"/>
                  <a:gd name="T3" fmla="*/ 625 h 625"/>
                  <a:gd name="T4" fmla="*/ 291 w 291"/>
                  <a:gd name="T5" fmla="*/ 6 h 625"/>
                  <a:gd name="T6" fmla="*/ 0 w 291"/>
                  <a:gd name="T7" fmla="*/ 0 h 625"/>
                  <a:gd name="T8" fmla="*/ 0 w 291"/>
                  <a:gd name="T9" fmla="*/ 624 h 625"/>
                </a:gdLst>
                <a:ahLst/>
                <a:cxnLst>
                  <a:cxn ang="0">
                    <a:pos x="T0" y="T1"/>
                  </a:cxn>
                  <a:cxn ang="0">
                    <a:pos x="T2" y="T3"/>
                  </a:cxn>
                  <a:cxn ang="0">
                    <a:pos x="T4" y="T5"/>
                  </a:cxn>
                  <a:cxn ang="0">
                    <a:pos x="T6" y="T7"/>
                  </a:cxn>
                  <a:cxn ang="0">
                    <a:pos x="T8" y="T9"/>
                  </a:cxn>
                </a:cxnLst>
                <a:rect l="0" t="0" r="r" b="b"/>
                <a:pathLst>
                  <a:path w="291" h="625">
                    <a:moveTo>
                      <a:pt x="0" y="624"/>
                    </a:moveTo>
                    <a:lnTo>
                      <a:pt x="291" y="625"/>
                    </a:lnTo>
                    <a:lnTo>
                      <a:pt x="291" y="6"/>
                    </a:lnTo>
                    <a:lnTo>
                      <a:pt x="0" y="0"/>
                    </a:lnTo>
                    <a:cubicBezTo>
                      <a:pt x="39" y="384"/>
                      <a:pt x="0" y="494"/>
                      <a:pt x="0" y="624"/>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3" name="Freeform 21"/>
              <p:cNvSpPr>
                <a:spLocks/>
              </p:cNvSpPr>
              <p:nvPr/>
            </p:nvSpPr>
            <p:spPr bwMode="ltGray">
              <a:xfrm rot="-5400000">
                <a:off x="5084" y="1694"/>
                <a:ext cx="624" cy="361"/>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sp>
            <p:nvSpPr>
              <p:cNvPr id="3094" name="Freeform 22"/>
              <p:cNvSpPr>
                <a:spLocks/>
              </p:cNvSpPr>
              <p:nvPr/>
            </p:nvSpPr>
            <p:spPr bwMode="ltGray">
              <a:xfrm rot="-5400000">
                <a:off x="4797" y="1721"/>
                <a:ext cx="632" cy="316"/>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a:solidFill>
                    <a:srgbClr val="000000"/>
                  </a:solidFill>
                  <a:latin typeface="Times New Roman" panose="02020603050405020304" pitchFamily="18" charset="0"/>
                </a:endParaRPr>
              </a:p>
            </p:txBody>
          </p:sp>
        </p:grpSp>
        <p:sp>
          <p:nvSpPr>
            <p:cNvPr id="3095" name="Freeform 23"/>
            <p:cNvSpPr>
              <a:spLocks/>
            </p:cNvSpPr>
            <p:nvPr/>
          </p:nvSpPr>
          <p:spPr bwMode="ltGray">
            <a:xfrm flipH="1">
              <a:off x="-2" y="1536"/>
              <a:ext cx="5762" cy="412"/>
            </a:xfrm>
            <a:custGeom>
              <a:avLst/>
              <a:gdLst>
                <a:gd name="T0" fmla="*/ 0 w 5762"/>
                <a:gd name="T1" fmla="*/ 196 h 385"/>
                <a:gd name="T2" fmla="*/ 5762 w 5762"/>
                <a:gd name="T3" fmla="*/ 188 h 385"/>
                <a:gd name="T4" fmla="*/ 5762 w 5762"/>
                <a:gd name="T5" fmla="*/ 4 h 385"/>
                <a:gd name="T6" fmla="*/ 0 w 5762"/>
                <a:gd name="T7" fmla="*/ 0 h 385"/>
                <a:gd name="T8" fmla="*/ 0 w 5762"/>
                <a:gd name="T9" fmla="*/ 196 h 385"/>
              </a:gdLst>
              <a:ahLst/>
              <a:cxnLst>
                <a:cxn ang="0">
                  <a:pos x="T0" y="T1"/>
                </a:cxn>
                <a:cxn ang="0">
                  <a:pos x="T2" y="T3"/>
                </a:cxn>
                <a:cxn ang="0">
                  <a:pos x="T4" y="T5"/>
                </a:cxn>
                <a:cxn ang="0">
                  <a:pos x="T6" y="T7"/>
                </a:cxn>
                <a:cxn ang="0">
                  <a:pos x="T8" y="T9"/>
                </a:cxn>
              </a:cxnLst>
              <a:rect l="0" t="0" r="r" b="b"/>
              <a:pathLst>
                <a:path w="5762" h="385">
                  <a:moveTo>
                    <a:pt x="0" y="196"/>
                  </a:moveTo>
                  <a:cubicBezTo>
                    <a:pt x="1667" y="385"/>
                    <a:pt x="2275" y="93"/>
                    <a:pt x="5762" y="188"/>
                  </a:cubicBezTo>
                  <a:lnTo>
                    <a:pt x="5762" y="4"/>
                  </a:lnTo>
                  <a:lnTo>
                    <a:pt x="0" y="0"/>
                  </a:lnTo>
                  <a:lnTo>
                    <a:pt x="0" y="196"/>
                  </a:lnTo>
                  <a:close/>
                </a:path>
              </a:pathLst>
            </a:custGeom>
            <a:gradFill rotWithShape="0">
              <a:gsLst>
                <a:gs pos="0">
                  <a:schemeClr val="bg1"/>
                </a:gs>
                <a:gs pos="100000">
                  <a:srgbClr val="767676"/>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
          <p:nvSpPr>
            <p:cNvPr id="3096" name="Freeform 24"/>
            <p:cNvSpPr>
              <a:spLocks/>
            </p:cNvSpPr>
            <p:nvPr/>
          </p:nvSpPr>
          <p:spPr bwMode="ltGray">
            <a:xfrm flipH="1">
              <a:off x="-2" y="2017"/>
              <a:ext cx="5761" cy="189"/>
            </a:xfrm>
            <a:custGeom>
              <a:avLst/>
              <a:gdLst>
                <a:gd name="T0" fmla="*/ 0 w 5761"/>
                <a:gd name="T1" fmla="*/ 28 h 189"/>
                <a:gd name="T2" fmla="*/ 5761 w 5761"/>
                <a:gd name="T3" fmla="*/ 0 h 189"/>
                <a:gd name="T4" fmla="*/ 5761 w 5761"/>
                <a:gd name="T5" fmla="*/ 189 h 189"/>
                <a:gd name="T6" fmla="*/ 1 w 5761"/>
                <a:gd name="T7" fmla="*/ 189 h 189"/>
                <a:gd name="T8" fmla="*/ 0 w 5761"/>
                <a:gd name="T9" fmla="*/ 28 h 189"/>
              </a:gdLst>
              <a:ahLst/>
              <a:cxnLst>
                <a:cxn ang="0">
                  <a:pos x="T0" y="T1"/>
                </a:cxn>
                <a:cxn ang="0">
                  <a:pos x="T2" y="T3"/>
                </a:cxn>
                <a:cxn ang="0">
                  <a:pos x="T4" y="T5"/>
                </a:cxn>
                <a:cxn ang="0">
                  <a:pos x="T6" y="T7"/>
                </a:cxn>
                <a:cxn ang="0">
                  <a:pos x="T8" y="T9"/>
                </a:cxn>
              </a:cxnLst>
              <a:rect l="0" t="0" r="r" b="b"/>
              <a:pathLst>
                <a:path w="5761" h="189">
                  <a:moveTo>
                    <a:pt x="0" y="28"/>
                  </a:moveTo>
                  <a:cubicBezTo>
                    <a:pt x="961" y="0"/>
                    <a:pt x="4971" y="161"/>
                    <a:pt x="5761" y="0"/>
                  </a:cubicBezTo>
                  <a:lnTo>
                    <a:pt x="5761" y="189"/>
                  </a:lnTo>
                  <a:lnTo>
                    <a:pt x="1" y="189"/>
                  </a:lnTo>
                  <a:lnTo>
                    <a:pt x="0" y="28"/>
                  </a:lnTo>
                  <a:close/>
                </a:path>
              </a:pathLst>
            </a:custGeom>
            <a:gradFill rotWithShape="0">
              <a:gsLst>
                <a:gs pos="0">
                  <a:srgbClr val="767676"/>
                </a:gs>
                <a:gs pos="100000">
                  <a:schemeClr val="bg1"/>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grpSp>
      <p:sp>
        <p:nvSpPr>
          <p:cNvPr id="3097" name="Rectangle 25"/>
          <p:cNvSpPr>
            <a:spLocks noGrp="1" noChangeArrowheads="1"/>
          </p:cNvSpPr>
          <p:nvPr>
            <p:ph type="ctrTitle"/>
          </p:nvPr>
        </p:nvSpPr>
        <p:spPr>
          <a:xfrm>
            <a:off x="1173163" y="1341438"/>
            <a:ext cx="7772400" cy="1143000"/>
          </a:xfrm>
        </p:spPr>
        <p:txBody>
          <a:bodyPr/>
          <a:lstStyle>
            <a:lvl1pPr>
              <a:defRPr/>
            </a:lvl1pPr>
          </a:lstStyle>
          <a:p>
            <a:pPr lvl="0"/>
            <a:r>
              <a:rPr lang="en-US" noProof="0"/>
              <a:t>Click to edit Master title style</a:t>
            </a:r>
          </a:p>
        </p:txBody>
      </p:sp>
      <p:sp>
        <p:nvSpPr>
          <p:cNvPr id="3098" name="Rectangle 26"/>
          <p:cNvSpPr>
            <a:spLocks noGrp="1" noChangeArrowheads="1"/>
          </p:cNvSpPr>
          <p:nvPr>
            <p:ph type="subTitle" idx="1"/>
          </p:nvPr>
        </p:nvSpPr>
        <p:spPr>
          <a:xfrm>
            <a:off x="1166813" y="3886200"/>
            <a:ext cx="6400800" cy="1752600"/>
          </a:xfrm>
        </p:spPr>
        <p:txBody>
          <a:bodyPr/>
          <a:lstStyle>
            <a:lvl1pPr marL="0" indent="0">
              <a:buFont typeface="Monotype Sorts" pitchFamily="2" charset="2"/>
              <a:buNone/>
              <a:defRPr/>
            </a:lvl1pPr>
          </a:lstStyle>
          <a:p>
            <a:pPr lvl="0"/>
            <a:r>
              <a:rPr lang="en-US" noProof="0"/>
              <a:t>Click to edit Master subtitle style</a:t>
            </a:r>
          </a:p>
        </p:txBody>
      </p:sp>
      <p:sp>
        <p:nvSpPr>
          <p:cNvPr id="3099" name="Rectangle 27"/>
          <p:cNvSpPr>
            <a:spLocks noGrp="1" noChangeArrowheads="1"/>
          </p:cNvSpPr>
          <p:nvPr>
            <p:ph type="dt" sz="half" idx="2"/>
          </p:nvPr>
        </p:nvSpPr>
        <p:spPr>
          <a:xfrm>
            <a:off x="1166813" y="6248400"/>
            <a:ext cx="1905000" cy="457200"/>
          </a:xfrm>
        </p:spPr>
        <p:txBody>
          <a:bodyPr/>
          <a:lstStyle>
            <a:lvl1pPr>
              <a:defRPr>
                <a:solidFill>
                  <a:srgbClr val="000000"/>
                </a:solidFill>
              </a:defRPr>
            </a:lvl1pPr>
          </a:lstStyle>
          <a:p>
            <a:endParaRPr lang="en-US"/>
          </a:p>
        </p:txBody>
      </p:sp>
      <p:sp>
        <p:nvSpPr>
          <p:cNvPr id="3100" name="Rectangle 28"/>
          <p:cNvSpPr>
            <a:spLocks noGrp="1" noChangeArrowheads="1"/>
          </p:cNvSpPr>
          <p:nvPr>
            <p:ph type="ftr" sz="quarter" idx="3"/>
          </p:nvPr>
        </p:nvSpPr>
        <p:spPr/>
        <p:txBody>
          <a:bodyPr/>
          <a:lstStyle>
            <a:lvl1pPr>
              <a:defRPr>
                <a:solidFill>
                  <a:srgbClr val="000000"/>
                </a:solidFill>
              </a:defRPr>
            </a:lvl1pPr>
          </a:lstStyle>
          <a:p>
            <a:endParaRPr lang="en-US"/>
          </a:p>
        </p:txBody>
      </p:sp>
      <p:sp>
        <p:nvSpPr>
          <p:cNvPr id="3101" name="Rectangle 29"/>
          <p:cNvSpPr>
            <a:spLocks noGrp="1" noChangeArrowheads="1"/>
          </p:cNvSpPr>
          <p:nvPr>
            <p:ph type="sldNum" sz="quarter" idx="4"/>
          </p:nvPr>
        </p:nvSpPr>
        <p:spPr/>
        <p:txBody>
          <a:bodyPr/>
          <a:lstStyle>
            <a:lvl1pPr>
              <a:defRPr>
                <a:solidFill>
                  <a:srgbClr val="000000"/>
                </a:solidFill>
              </a:defRPr>
            </a:lvl1pPr>
          </a:lstStyle>
          <a:p>
            <a:fld id="{3520DE96-266E-4586-B6BD-DEB1B281131D}" type="slidenum">
              <a:rPr lang="en-US"/>
              <a:pPr/>
              <a:t>‹#›</a:t>
            </a:fld>
            <a:endParaRPr lang="en-US"/>
          </a:p>
        </p:txBody>
      </p:sp>
    </p:spTree>
    <p:extLst>
      <p:ext uri="{BB962C8B-B14F-4D97-AF65-F5344CB8AC3E}">
        <p14:creationId xmlns:p14="http://schemas.microsoft.com/office/powerpoint/2010/main" val="3846361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0C85F123-173A-4DB5-A1B3-1BD03F273BCE}"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803528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68F23864-4B50-42DA-B9FD-4DADDF163660}"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755070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0EDE2CBE-4A78-40CA-B4CD-D210B918D82B}"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4029035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solidFill>
                <a:srgbClr val="000000"/>
              </a:solidFill>
            </a:endParaRPr>
          </a:p>
        </p:txBody>
      </p:sp>
      <p:sp>
        <p:nvSpPr>
          <p:cNvPr id="8" name="Footer Placeholder 7"/>
          <p:cNvSpPr>
            <a:spLocks noGrp="1"/>
          </p:cNvSpPr>
          <p:nvPr>
            <p:ph type="ftr" sz="quarter" idx="11"/>
          </p:nvPr>
        </p:nvSpPr>
        <p:spPr/>
        <p:txBody>
          <a:bodyPr/>
          <a:lstStyle>
            <a:lvl1pPr>
              <a:defRPr/>
            </a:lvl1pPr>
          </a:lstStyle>
          <a:p>
            <a:endParaRPr lang="en-US">
              <a:solidFill>
                <a:srgbClr val="000000"/>
              </a:solidFill>
            </a:endParaRPr>
          </a:p>
        </p:txBody>
      </p:sp>
      <p:sp>
        <p:nvSpPr>
          <p:cNvPr id="9" name="Slide Number Placeholder 8"/>
          <p:cNvSpPr>
            <a:spLocks noGrp="1"/>
          </p:cNvSpPr>
          <p:nvPr>
            <p:ph type="sldNum" sz="quarter" idx="12"/>
          </p:nvPr>
        </p:nvSpPr>
        <p:spPr/>
        <p:txBody>
          <a:bodyPr/>
          <a:lstStyle>
            <a:lvl1pPr>
              <a:defRPr/>
            </a:lvl1pPr>
          </a:lstStyle>
          <a:p>
            <a:fld id="{44C01118-C48F-4ABA-B984-6877B89A0524}"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247901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solidFill>
                <a:srgbClr val="000000"/>
              </a:solidFill>
            </a:endParaRPr>
          </a:p>
        </p:txBody>
      </p:sp>
      <p:sp>
        <p:nvSpPr>
          <p:cNvPr id="4" name="Footer Placeholder 3"/>
          <p:cNvSpPr>
            <a:spLocks noGrp="1"/>
          </p:cNvSpPr>
          <p:nvPr>
            <p:ph type="ftr" sz="quarter" idx="11"/>
          </p:nvPr>
        </p:nvSpPr>
        <p:spPr/>
        <p:txBody>
          <a:bodyPr/>
          <a:lstStyle>
            <a:lvl1pPr>
              <a:defRPr/>
            </a:lvl1pPr>
          </a:lstStyle>
          <a:p>
            <a:endParaRPr lang="en-US">
              <a:solidFill>
                <a:srgbClr val="000000"/>
              </a:solidFill>
            </a:endParaRPr>
          </a:p>
        </p:txBody>
      </p:sp>
      <p:sp>
        <p:nvSpPr>
          <p:cNvPr id="5" name="Slide Number Placeholder 4"/>
          <p:cNvSpPr>
            <a:spLocks noGrp="1"/>
          </p:cNvSpPr>
          <p:nvPr>
            <p:ph type="sldNum" sz="quarter" idx="12"/>
          </p:nvPr>
        </p:nvSpPr>
        <p:spPr/>
        <p:txBody>
          <a:bodyPr/>
          <a:lstStyle>
            <a:lvl1pPr>
              <a:defRPr/>
            </a:lvl1pPr>
          </a:lstStyle>
          <a:p>
            <a:fld id="{2F8EA986-509F-4AA4-A66F-149C902CD218}"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4069944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solidFill>
                <a:srgbClr val="000000"/>
              </a:solidFill>
            </a:endParaRPr>
          </a:p>
        </p:txBody>
      </p:sp>
      <p:sp>
        <p:nvSpPr>
          <p:cNvPr id="3" name="Footer Placeholder 2"/>
          <p:cNvSpPr>
            <a:spLocks noGrp="1"/>
          </p:cNvSpPr>
          <p:nvPr>
            <p:ph type="ftr" sz="quarter" idx="11"/>
          </p:nvPr>
        </p:nvSpPr>
        <p:spPr/>
        <p:txBody>
          <a:bodyPr/>
          <a:lstStyle>
            <a:lvl1pPr>
              <a:defRPr/>
            </a:lvl1pPr>
          </a:lstStyle>
          <a:p>
            <a:endParaRPr lang="en-US">
              <a:solidFill>
                <a:srgbClr val="000000"/>
              </a:solidFill>
            </a:endParaRPr>
          </a:p>
        </p:txBody>
      </p:sp>
      <p:sp>
        <p:nvSpPr>
          <p:cNvPr id="4" name="Slide Number Placeholder 3"/>
          <p:cNvSpPr>
            <a:spLocks noGrp="1"/>
          </p:cNvSpPr>
          <p:nvPr>
            <p:ph type="sldNum" sz="quarter" idx="12"/>
          </p:nvPr>
        </p:nvSpPr>
        <p:spPr/>
        <p:txBody>
          <a:bodyPr/>
          <a:lstStyle>
            <a:lvl1pPr>
              <a:defRPr/>
            </a:lvl1pPr>
          </a:lstStyle>
          <a:p>
            <a:fld id="{8C771956-CCF4-4338-B297-3B9532A0ACB2}"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7402611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86841323-ECAD-461B-B105-B49E937E4AD1}"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9276066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B365B615-AA3E-442A-AC82-3FE9065DF10B}"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182257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1F985312-A75A-4CCB-ADFA-5A0358B8219A}"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278707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2463" y="457200"/>
            <a:ext cx="19431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73163" y="457200"/>
            <a:ext cx="56769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4F565D14-8248-4B57-A779-B609919722A7}"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178629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73163" y="4572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173163" y="6265863"/>
            <a:ext cx="1905000" cy="457200"/>
          </a:xfrm>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a:xfrm>
            <a:off x="3581400" y="6248400"/>
            <a:ext cx="2895600" cy="457200"/>
          </a:xfrm>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a:xfrm>
            <a:off x="7010400" y="6248400"/>
            <a:ext cx="1905000" cy="457200"/>
          </a:xfrm>
        </p:spPr>
        <p:txBody>
          <a:bodyPr/>
          <a:lstStyle>
            <a:lvl1pPr>
              <a:defRPr/>
            </a:lvl1pPr>
          </a:lstStyle>
          <a:p>
            <a:fld id="{ED5AD940-660F-4FA7-9F43-CF2BDF87658F}"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3309769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173163" y="457200"/>
            <a:ext cx="7772400" cy="1143000"/>
          </a:xfrm>
        </p:spPr>
        <p:txBody>
          <a:bodyPr/>
          <a:lstStyle/>
          <a:p>
            <a:r>
              <a:rPr lang="en-US"/>
              <a:t>Click to edit Master title style</a:t>
            </a:r>
          </a:p>
        </p:txBody>
      </p:sp>
      <p:sp>
        <p:nvSpPr>
          <p:cNvPr id="3" name="Content Placeholder 2"/>
          <p:cNvSpPr>
            <a:spLocks noGrp="1"/>
          </p:cNvSpPr>
          <p:nvPr>
            <p:ph sz="quarter" idx="1"/>
          </p:nvPr>
        </p:nvSpPr>
        <p:spPr>
          <a:xfrm>
            <a:off x="11731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1355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11731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51355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173163" y="6265863"/>
            <a:ext cx="1905000" cy="457200"/>
          </a:xfrm>
        </p:spPr>
        <p:txBody>
          <a:bodyPr/>
          <a:lstStyle>
            <a:lvl1pPr>
              <a:defRPr/>
            </a:lvl1pPr>
          </a:lstStyle>
          <a:p>
            <a:endParaRPr lang="en-US">
              <a:solidFill>
                <a:srgbClr val="000000"/>
              </a:solidFill>
            </a:endParaRPr>
          </a:p>
        </p:txBody>
      </p:sp>
      <p:sp>
        <p:nvSpPr>
          <p:cNvPr id="8" name="Footer Placeholder 7"/>
          <p:cNvSpPr>
            <a:spLocks noGrp="1"/>
          </p:cNvSpPr>
          <p:nvPr>
            <p:ph type="ftr" sz="quarter" idx="11"/>
          </p:nvPr>
        </p:nvSpPr>
        <p:spPr>
          <a:xfrm>
            <a:off x="3581400" y="6248400"/>
            <a:ext cx="2895600" cy="457200"/>
          </a:xfrm>
        </p:spPr>
        <p:txBody>
          <a:bodyPr/>
          <a:lstStyle>
            <a:lvl1pPr>
              <a:defRPr/>
            </a:lvl1pPr>
          </a:lstStyle>
          <a:p>
            <a:endParaRPr lang="en-US">
              <a:solidFill>
                <a:srgbClr val="000000"/>
              </a:solidFill>
            </a:endParaRPr>
          </a:p>
        </p:txBody>
      </p:sp>
      <p:sp>
        <p:nvSpPr>
          <p:cNvPr id="9" name="Slide Number Placeholder 8"/>
          <p:cNvSpPr>
            <a:spLocks noGrp="1"/>
          </p:cNvSpPr>
          <p:nvPr>
            <p:ph type="sldNum" sz="quarter" idx="12"/>
          </p:nvPr>
        </p:nvSpPr>
        <p:spPr>
          <a:xfrm>
            <a:off x="7010400" y="6248400"/>
            <a:ext cx="1905000" cy="457200"/>
          </a:xfrm>
        </p:spPr>
        <p:txBody>
          <a:bodyPr/>
          <a:lstStyle>
            <a:lvl1pPr>
              <a:defRPr/>
            </a:lvl1pPr>
          </a:lstStyle>
          <a:p>
            <a:fld id="{966A5A1A-9CFE-41C9-BCDD-E395DA8477BE}"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0247247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2084" name="Oval 36"/>
          <p:cNvSpPr>
            <a:spLocks noChangeArrowheads="1"/>
          </p:cNvSpPr>
          <p:nvPr/>
        </p:nvSpPr>
        <p:spPr bwMode="auto">
          <a:xfrm>
            <a:off x="228600" y="228600"/>
            <a:ext cx="609600" cy="609600"/>
          </a:xfrm>
          <a:prstGeom prst="ellipse">
            <a:avLst/>
          </a:prstGeom>
          <a:solidFill>
            <a:srgbClr val="FF5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
        <p:nvSpPr>
          <p:cNvPr id="2073" name="Rectangle 25"/>
          <p:cNvSpPr>
            <a:spLocks noGrp="1" noChangeArrowheads="1"/>
          </p:cNvSpPr>
          <p:nvPr>
            <p:ph type="title"/>
          </p:nvPr>
        </p:nvSpPr>
        <p:spPr bwMode="auto">
          <a:xfrm>
            <a:off x="1173163" y="4572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Process</a:t>
            </a:r>
          </a:p>
        </p:txBody>
      </p:sp>
      <p:sp>
        <p:nvSpPr>
          <p:cNvPr id="2074" name="Rectangle 26"/>
          <p:cNvSpPr>
            <a:spLocks noGrp="1" noChangeArrowheads="1"/>
          </p:cNvSpPr>
          <p:nvPr>
            <p:ph type="body" idx="1"/>
          </p:nvPr>
        </p:nvSpPr>
        <p:spPr bwMode="auto">
          <a:xfrm>
            <a:off x="1173163"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Klicka här för att ändra format på bakgrundstexten</a:t>
            </a:r>
          </a:p>
          <a:p>
            <a:pPr lvl="1"/>
            <a:r>
              <a:rPr lang="en-US"/>
              <a:t>Nivå två</a:t>
            </a:r>
          </a:p>
          <a:p>
            <a:pPr lvl="2"/>
            <a:r>
              <a:rPr lang="en-US"/>
              <a:t>Nivå tre</a:t>
            </a:r>
          </a:p>
          <a:p>
            <a:pPr lvl="3"/>
            <a:r>
              <a:rPr lang="en-US"/>
              <a:t>Nivå fyra</a:t>
            </a:r>
          </a:p>
          <a:p>
            <a:pPr lvl="4"/>
            <a:r>
              <a:rPr lang="en-US"/>
              <a:t>Nivå fem</a:t>
            </a:r>
          </a:p>
        </p:txBody>
      </p:sp>
      <p:sp>
        <p:nvSpPr>
          <p:cNvPr id="2075" name="Rectangle 27"/>
          <p:cNvSpPr>
            <a:spLocks noGrp="1" noChangeArrowheads="1"/>
          </p:cNvSpPr>
          <p:nvPr>
            <p:ph type="dt" sz="half" idx="2"/>
          </p:nvPr>
        </p:nvSpPr>
        <p:spPr bwMode="auto">
          <a:xfrm>
            <a:off x="1173163" y="6265863"/>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50000"/>
              </a:spcBef>
              <a:defRPr sz="1400">
                <a:latin typeface="+mn-lt"/>
              </a:defRPr>
            </a:lvl1pPr>
          </a:lstStyle>
          <a:p>
            <a:endParaRPr lang="en-US">
              <a:solidFill>
                <a:srgbClr val="000000"/>
              </a:solidFill>
            </a:endParaRPr>
          </a:p>
        </p:txBody>
      </p:sp>
      <p:sp>
        <p:nvSpPr>
          <p:cNvPr id="2076" name="Rectangle 28"/>
          <p:cNvSpPr>
            <a:spLocks noGrp="1" noChangeArrowheads="1"/>
          </p:cNvSpPr>
          <p:nvPr>
            <p:ph type="ftr" sz="quarter" idx="3"/>
          </p:nvPr>
        </p:nvSpPr>
        <p:spPr bwMode="auto">
          <a:xfrm>
            <a:off x="35814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a:spcBef>
                <a:spcPct val="50000"/>
              </a:spcBef>
              <a:defRPr sz="1400">
                <a:latin typeface="+mn-lt"/>
              </a:defRPr>
            </a:lvl1pPr>
          </a:lstStyle>
          <a:p>
            <a:endParaRPr lang="en-US">
              <a:solidFill>
                <a:srgbClr val="000000"/>
              </a:solidFill>
            </a:endParaRPr>
          </a:p>
        </p:txBody>
      </p:sp>
      <p:sp>
        <p:nvSpPr>
          <p:cNvPr id="2077" name="Rectangle 29"/>
          <p:cNvSpPr>
            <a:spLocks noGrp="1" noChangeArrowheads="1"/>
          </p:cNvSpPr>
          <p:nvPr>
            <p:ph type="sldNum" sz="quarter" idx="4"/>
          </p:nvPr>
        </p:nvSpPr>
        <p:spPr bwMode="auto">
          <a:xfrm>
            <a:off x="70104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spcBef>
                <a:spcPct val="50000"/>
              </a:spcBef>
              <a:defRPr sz="1400">
                <a:latin typeface="+mn-lt"/>
              </a:defRPr>
            </a:lvl1pPr>
          </a:lstStyle>
          <a:p>
            <a:fld id="{EF6CF669-D51C-4507-8EE9-94C79FC23D25}" type="slidenum">
              <a:rPr lang="en-US">
                <a:solidFill>
                  <a:srgbClr val="000000"/>
                </a:solidFill>
              </a:rPr>
              <a:pPr/>
              <a:t>‹#›</a:t>
            </a:fld>
            <a:endParaRPr lang="en-US">
              <a:solidFill>
                <a:srgbClr val="000000"/>
              </a:solidFill>
            </a:endParaRPr>
          </a:p>
        </p:txBody>
      </p:sp>
      <p:sp>
        <p:nvSpPr>
          <p:cNvPr id="2081" name="Rectangle 33"/>
          <p:cNvSpPr>
            <a:spLocks noChangeArrowheads="1"/>
          </p:cNvSpPr>
          <p:nvPr/>
        </p:nvSpPr>
        <p:spPr bwMode="auto">
          <a:xfrm>
            <a:off x="457200" y="609600"/>
            <a:ext cx="5334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
        <p:nvSpPr>
          <p:cNvPr id="2082" name="AutoShape 34"/>
          <p:cNvSpPr>
            <a:spLocks noChangeArrowheads="1"/>
          </p:cNvSpPr>
          <p:nvPr/>
        </p:nvSpPr>
        <p:spPr bwMode="auto">
          <a:xfrm rot="2559464">
            <a:off x="152400" y="457200"/>
            <a:ext cx="609600" cy="609600"/>
          </a:xfrm>
          <a:prstGeom prst="triangle">
            <a:avLst>
              <a:gd name="adj" fmla="val 50000"/>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6756317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accent1"/>
        </a:buClr>
        <a:buSzPct val="70000"/>
        <a:buFont typeface="Monotype Sorts" pitchFamily="2" charset="2"/>
        <a:buChar char="n"/>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Clr>
          <a:srgbClr val="FF5050"/>
        </a:buClr>
        <a:buSzPct val="75000"/>
        <a:buFont typeface="Monotype Sorts" pitchFamily="2" charset="2"/>
        <a:buChar char="l"/>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rgbClr val="FFCC00"/>
        </a:buClr>
        <a:buSzPct val="65000"/>
        <a:buFont typeface="Monotype Sorts" pitchFamily="2" charset="2"/>
        <a:buChar char="s"/>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www.smartdraw.com/sequence-diagram/"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en.wikipedia.org/wiki/Association_(object-oriented_programming)"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emf"/><Relationship Id="rId1" Type="http://schemas.openxmlformats.org/officeDocument/2006/relationships/slideLayout" Target="../slideLayouts/slideLayout2.xml"/><Relationship Id="rId4" Type="http://schemas.openxmlformats.org/officeDocument/2006/relationships/image" Target="../media/image22.e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2971800"/>
            <a:ext cx="7772400" cy="1143000"/>
          </a:xfrm>
        </p:spPr>
        <p:txBody>
          <a:bodyPr/>
          <a:lstStyle/>
          <a:p>
            <a:r>
              <a:rPr lang="en-US" dirty="0"/>
              <a:t>System modeling</a:t>
            </a:r>
          </a:p>
        </p:txBody>
      </p:sp>
    </p:spTree>
    <p:extLst>
      <p:ext uri="{BB962C8B-B14F-4D97-AF65-F5344CB8AC3E}">
        <p14:creationId xmlns:p14="http://schemas.microsoft.com/office/powerpoint/2010/main" val="158352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cstate="print"/>
          <a:stretch>
            <a:fillRect/>
          </a:stretch>
        </p:blipFill>
        <p:spPr>
          <a:xfrm>
            <a:off x="838200" y="57868"/>
            <a:ext cx="7315200" cy="6604666"/>
          </a:xfrm>
          <a:prstGeom prst="rect">
            <a:avLst/>
          </a:prstGeom>
        </p:spPr>
      </p:pic>
    </p:spTree>
    <p:extLst>
      <p:ext uri="{BB962C8B-B14F-4D97-AF65-F5344CB8AC3E}">
        <p14:creationId xmlns:p14="http://schemas.microsoft.com/office/powerpoint/2010/main" val="1798188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533400"/>
            <a:ext cx="7772400" cy="1143000"/>
          </a:xfrm>
        </p:spPr>
        <p:txBody>
          <a:bodyPr/>
          <a:lstStyle/>
          <a:p>
            <a:r>
              <a:rPr lang="en-US" dirty="0"/>
              <a:t>Limitations of the Human Brain</a:t>
            </a:r>
            <a:br>
              <a:rPr lang="en-US" dirty="0"/>
            </a:br>
            <a:r>
              <a:rPr lang="en-US" dirty="0"/>
              <a:t/>
            </a:r>
            <a:br>
              <a:rPr lang="en-US" dirty="0"/>
            </a:br>
            <a:endParaRPr lang="en-US" dirty="0"/>
          </a:p>
        </p:txBody>
      </p:sp>
      <p:sp>
        <p:nvSpPr>
          <p:cNvPr id="3" name="Content Placeholder 2"/>
          <p:cNvSpPr>
            <a:spLocks noGrp="1"/>
          </p:cNvSpPr>
          <p:nvPr>
            <p:ph idx="1"/>
          </p:nvPr>
        </p:nvSpPr>
        <p:spPr>
          <a:xfrm>
            <a:off x="1066800" y="838200"/>
            <a:ext cx="7772400" cy="4114800"/>
          </a:xfrm>
        </p:spPr>
        <p:txBody>
          <a:bodyPr/>
          <a:lstStyle/>
          <a:p>
            <a:r>
              <a:rPr lang="en-US" sz="2000" dirty="0"/>
              <a:t>Traditional practices unfortunately support the use of thousands of “system shall“ requirements</a:t>
            </a:r>
          </a:p>
          <a:p>
            <a:r>
              <a:rPr lang="en-US" sz="2000" dirty="0"/>
              <a:t>These requirements are typically generated via interviews and working sessions with business stakeholders.</a:t>
            </a:r>
          </a:p>
          <a:p>
            <a:r>
              <a:rPr lang="en-US" sz="2000" dirty="0"/>
              <a:t> It is nearly impossible to read the thousands of requirements and emerge confident that the requirements are complete.</a:t>
            </a:r>
          </a:p>
          <a:p>
            <a:r>
              <a:rPr lang="en-US" sz="2000" dirty="0"/>
              <a:t>Analysts who use traditional practices to create software requirements experience common problems during analysis, organization, and consumption of the requirements.</a:t>
            </a:r>
          </a:p>
          <a:p>
            <a:r>
              <a:rPr lang="en-US" sz="2000" dirty="0"/>
              <a:t>Traditional practices use long lists of text requirements in the form of shall statements or, more recently, user stories and product backlogs. </a:t>
            </a:r>
          </a:p>
          <a:p>
            <a:r>
              <a:rPr lang="en-US" sz="2000" dirty="0"/>
              <a:t>The challenge of working with long lists of items results from a fundamental limitation of human cognition.</a:t>
            </a:r>
          </a:p>
          <a:p>
            <a:r>
              <a:rPr lang="en-US" sz="2000" dirty="0"/>
              <a:t>Miller magic number</a:t>
            </a:r>
          </a:p>
          <a:p>
            <a:pPr lvl="1"/>
            <a:r>
              <a:rPr lang="en-US" sz="1600" dirty="0"/>
              <a:t>In the 1950s, cognitive psychologist George A. Miller found that humans can only remember and process seven plus or minus two items simultaneously</a:t>
            </a:r>
          </a:p>
        </p:txBody>
      </p:sp>
    </p:spTree>
    <p:extLst>
      <p:ext uri="{BB962C8B-B14F-4D97-AF65-F5344CB8AC3E}">
        <p14:creationId xmlns:p14="http://schemas.microsoft.com/office/powerpoint/2010/main" val="1177429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 calcmode="lin" valueType="num">
                                      <p:cBhvr additive="base">
                                        <p:cTn id="4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76200"/>
            <a:ext cx="8183563" cy="1143000"/>
          </a:xfrm>
        </p:spPr>
        <p:txBody>
          <a:bodyPr/>
          <a:lstStyle/>
          <a:p>
            <a:r>
              <a:rPr lang="en-US" dirty="0"/>
              <a:t>Pictures Are Easy, Words Are Hard</a:t>
            </a:r>
          </a:p>
        </p:txBody>
      </p:sp>
      <p:sp>
        <p:nvSpPr>
          <p:cNvPr id="3" name="Content Placeholder 2"/>
          <p:cNvSpPr>
            <a:spLocks noGrp="1"/>
          </p:cNvSpPr>
          <p:nvPr>
            <p:ph idx="1"/>
          </p:nvPr>
        </p:nvSpPr>
        <p:spPr>
          <a:xfrm>
            <a:off x="533400" y="1219200"/>
            <a:ext cx="8305800" cy="4114800"/>
          </a:xfrm>
        </p:spPr>
        <p:txBody>
          <a:bodyPr/>
          <a:lstStyle/>
          <a:p>
            <a:pPr algn="just"/>
            <a:r>
              <a:rPr lang="en-US" dirty="0"/>
              <a:t>Where is elevator??</a:t>
            </a:r>
          </a:p>
          <a:p>
            <a:pPr algn="just"/>
            <a:r>
              <a:rPr lang="en-US" dirty="0"/>
              <a:t>“From here you are going to go out to the right, then follow the path to the left, pass the bar, pass the slots, at the fountain go right, you’ll go past a restaurant, and another, then you will reach a hall where you can turn left by some shops, and at the end of that you’ll find elevators near the pool entrance.”</a:t>
            </a:r>
          </a:p>
        </p:txBody>
      </p:sp>
      <p:pic>
        <p:nvPicPr>
          <p:cNvPr id="4" name="Picture 3"/>
          <p:cNvPicPr>
            <a:picLocks noChangeAspect="1"/>
          </p:cNvPicPr>
          <p:nvPr/>
        </p:nvPicPr>
        <p:blipFill>
          <a:blip r:embed="rId2" cstate="print"/>
          <a:stretch>
            <a:fillRect/>
          </a:stretch>
        </p:blipFill>
        <p:spPr>
          <a:xfrm>
            <a:off x="427036" y="1066800"/>
            <a:ext cx="8412163" cy="5760052"/>
          </a:xfrm>
          <a:prstGeom prst="rect">
            <a:avLst/>
          </a:prstGeom>
        </p:spPr>
      </p:pic>
    </p:spTree>
    <p:extLst>
      <p:ext uri="{BB962C8B-B14F-4D97-AF65-F5344CB8AC3E}">
        <p14:creationId xmlns:p14="http://schemas.microsoft.com/office/powerpoint/2010/main" val="2707560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8123237" cy="1143000"/>
          </a:xfrm>
        </p:spPr>
        <p:txBody>
          <a:bodyPr/>
          <a:lstStyle/>
          <a:p>
            <a:r>
              <a:rPr lang="en-US" dirty="0"/>
              <a:t>Pictures Are Easy, Words Are Hard</a:t>
            </a:r>
          </a:p>
        </p:txBody>
      </p:sp>
      <p:sp>
        <p:nvSpPr>
          <p:cNvPr id="3" name="Content Placeholder 2"/>
          <p:cNvSpPr>
            <a:spLocks noGrp="1"/>
          </p:cNvSpPr>
          <p:nvPr>
            <p:ph idx="1"/>
          </p:nvPr>
        </p:nvSpPr>
        <p:spPr/>
        <p:txBody>
          <a:bodyPr/>
          <a:lstStyle/>
          <a:p>
            <a:r>
              <a:rPr lang="en-US" dirty="0"/>
              <a:t>A picture is worth a thousand words</a:t>
            </a:r>
          </a:p>
          <a:p>
            <a:r>
              <a:rPr lang="en-US" i="1" dirty="0"/>
              <a:t>Models </a:t>
            </a:r>
            <a:r>
              <a:rPr lang="en-US" dirty="0"/>
              <a:t>are visual representations (pictures) of information related to the processes, data, and interactions within and surrounding the solution being developed.</a:t>
            </a:r>
          </a:p>
          <a:p>
            <a:endParaRPr lang="en-US" dirty="0"/>
          </a:p>
        </p:txBody>
      </p:sp>
    </p:spTree>
    <p:extLst>
      <p:ext uri="{BB962C8B-B14F-4D97-AF65-F5344CB8AC3E}">
        <p14:creationId xmlns:p14="http://schemas.microsoft.com/office/powerpoint/2010/main" val="361896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modeling</a:t>
            </a:r>
          </a:p>
        </p:txBody>
      </p:sp>
      <p:sp>
        <p:nvSpPr>
          <p:cNvPr id="3" name="Content Placeholder 2"/>
          <p:cNvSpPr>
            <a:spLocks noGrp="1"/>
          </p:cNvSpPr>
          <p:nvPr>
            <p:ph idx="1"/>
          </p:nvPr>
        </p:nvSpPr>
        <p:spPr>
          <a:xfrm>
            <a:off x="838200" y="1600200"/>
            <a:ext cx="7954963" cy="4114800"/>
          </a:xfrm>
        </p:spPr>
        <p:txBody>
          <a:bodyPr/>
          <a:lstStyle/>
          <a:p>
            <a:r>
              <a:rPr lang="en-US" sz="2400" dirty="0"/>
              <a:t>System modeling is the process of developing </a:t>
            </a:r>
            <a:r>
              <a:rPr lang="en-US" sz="2400" b="1" dirty="0"/>
              <a:t>abstract models</a:t>
            </a:r>
            <a:r>
              <a:rPr lang="en-US" sz="2400" dirty="0"/>
              <a:t> of a system, with each model presenting a </a:t>
            </a:r>
            <a:r>
              <a:rPr lang="en-US" sz="2400" b="1" dirty="0"/>
              <a:t>different view </a:t>
            </a:r>
            <a:r>
              <a:rPr lang="en-US" sz="2400" dirty="0"/>
              <a:t>or </a:t>
            </a:r>
            <a:r>
              <a:rPr lang="en-US" sz="2400" b="1" dirty="0"/>
              <a:t>perspective</a:t>
            </a:r>
            <a:r>
              <a:rPr lang="en-US" sz="2400" dirty="0"/>
              <a:t> of that system. </a:t>
            </a:r>
          </a:p>
          <a:p>
            <a:r>
              <a:rPr lang="en-US" sz="2400" dirty="0"/>
              <a:t>System modeling represents a system using some kind of </a:t>
            </a:r>
            <a:r>
              <a:rPr lang="en-US" sz="2400" b="1" dirty="0"/>
              <a:t>graphical notation</a:t>
            </a:r>
            <a:r>
              <a:rPr lang="en-US" sz="2400" dirty="0"/>
              <a:t>, which is now almost always based on notations in the Unified Modeling Language (UML). </a:t>
            </a:r>
          </a:p>
          <a:p>
            <a:r>
              <a:rPr lang="en-GB" sz="2400" dirty="0"/>
              <a:t>System modelling helps the analyst to </a:t>
            </a:r>
            <a:r>
              <a:rPr lang="en-GB" sz="2400" b="1" dirty="0"/>
              <a:t>understand the functionality</a:t>
            </a:r>
            <a:r>
              <a:rPr lang="en-GB" sz="2400" dirty="0"/>
              <a:t> of the system and they are used for </a:t>
            </a:r>
            <a:r>
              <a:rPr lang="en-GB" sz="2400" b="1" dirty="0"/>
              <a:t>communication with customers</a:t>
            </a:r>
            <a:r>
              <a:rPr lang="en-GB" sz="2400" dirty="0"/>
              <a:t>.</a:t>
            </a:r>
          </a:p>
          <a:p>
            <a:endParaRPr lang="en-US" sz="2400" dirty="0"/>
          </a:p>
        </p:txBody>
      </p:sp>
    </p:spTree>
    <p:extLst>
      <p:ext uri="{BB962C8B-B14F-4D97-AF65-F5344CB8AC3E}">
        <p14:creationId xmlns:p14="http://schemas.microsoft.com/office/powerpoint/2010/main" val="446525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GB" sz="3600" dirty="0"/>
              <a:t>Existing and planned system models</a:t>
            </a:r>
            <a:endParaRPr lang="en-US" sz="3600" dirty="0"/>
          </a:p>
        </p:txBody>
      </p:sp>
      <p:sp>
        <p:nvSpPr>
          <p:cNvPr id="3" name="Content Placeholder 2"/>
          <p:cNvSpPr>
            <a:spLocks noGrp="1"/>
          </p:cNvSpPr>
          <p:nvPr>
            <p:ph idx="1"/>
          </p:nvPr>
        </p:nvSpPr>
        <p:spPr>
          <a:xfrm>
            <a:off x="1143000" y="838200"/>
            <a:ext cx="7772400" cy="4114800"/>
          </a:xfrm>
        </p:spPr>
        <p:txBody>
          <a:bodyPr/>
          <a:lstStyle/>
          <a:p>
            <a:r>
              <a:rPr lang="en-US" sz="2400" b="1" dirty="0"/>
              <a:t>Models of the</a:t>
            </a:r>
            <a:r>
              <a:rPr lang="en-US" sz="2400" dirty="0"/>
              <a:t> </a:t>
            </a:r>
            <a:r>
              <a:rPr lang="en-US" sz="2400" b="1" dirty="0"/>
              <a:t>existing system </a:t>
            </a:r>
            <a:r>
              <a:rPr lang="en-US" sz="2400" dirty="0"/>
              <a:t>are used during requirements engineering. They help </a:t>
            </a:r>
            <a:r>
              <a:rPr lang="en-US" sz="2400" b="1" dirty="0"/>
              <a:t>clarify</a:t>
            </a:r>
            <a:r>
              <a:rPr lang="en-US" sz="2400" dirty="0"/>
              <a:t> </a:t>
            </a:r>
            <a:r>
              <a:rPr lang="en-US" sz="2400" b="1" dirty="0"/>
              <a:t>what the existing system</a:t>
            </a:r>
            <a:r>
              <a:rPr lang="en-US" sz="2400" dirty="0"/>
              <a:t> does and can be used as a basis for discussing its strengths and weaknesses. These then </a:t>
            </a:r>
            <a:r>
              <a:rPr lang="en-US" sz="2400" b="1" dirty="0"/>
              <a:t>lead to requirements for the new system.</a:t>
            </a:r>
            <a:endParaRPr lang="en-GB" sz="2400" b="1" dirty="0"/>
          </a:p>
          <a:p>
            <a:r>
              <a:rPr lang="en-US" sz="2400" b="1" dirty="0"/>
              <a:t>Models of the</a:t>
            </a:r>
            <a:r>
              <a:rPr lang="en-US" sz="2400" dirty="0"/>
              <a:t> </a:t>
            </a:r>
            <a:r>
              <a:rPr lang="en-US" sz="2400" b="1" dirty="0"/>
              <a:t>new system</a:t>
            </a:r>
            <a:r>
              <a:rPr lang="en-US" sz="2400" dirty="0"/>
              <a:t> are used during requirements engineering to help </a:t>
            </a:r>
            <a:r>
              <a:rPr lang="en-US" sz="2400" b="1" dirty="0"/>
              <a:t>explain the proposed requirements</a:t>
            </a:r>
            <a:r>
              <a:rPr lang="en-US" sz="2400" dirty="0"/>
              <a:t> to other system stakeholders. Engineers use these models to discuss design proposals and to document the system for implementation. </a:t>
            </a:r>
          </a:p>
          <a:p>
            <a:r>
              <a:rPr lang="en-US" sz="2400" dirty="0"/>
              <a:t>In a </a:t>
            </a:r>
            <a:r>
              <a:rPr lang="en-US" sz="2400" b="1" dirty="0"/>
              <a:t>model-driven engineering </a:t>
            </a:r>
            <a:r>
              <a:rPr lang="en-US" sz="2400" dirty="0"/>
              <a:t>process, it is possible to generate a complete or partial system implementation from the system model. </a:t>
            </a:r>
            <a:endParaRPr lang="en-GB" sz="2400" dirty="0"/>
          </a:p>
          <a:p>
            <a:endParaRPr lang="en-US" sz="2400" dirty="0"/>
          </a:p>
        </p:txBody>
      </p:sp>
    </p:spTree>
    <p:extLst>
      <p:ext uri="{BB962C8B-B14F-4D97-AF65-F5344CB8AC3E}">
        <p14:creationId xmlns:p14="http://schemas.microsoft.com/office/powerpoint/2010/main" val="1709642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Uses of graphical models</a:t>
            </a:r>
          </a:p>
        </p:txBody>
      </p:sp>
      <p:sp>
        <p:nvSpPr>
          <p:cNvPr id="3" name="Content Placeholder 2"/>
          <p:cNvSpPr>
            <a:spLocks noGrp="1"/>
          </p:cNvSpPr>
          <p:nvPr>
            <p:ph idx="1"/>
          </p:nvPr>
        </p:nvSpPr>
        <p:spPr>
          <a:xfrm>
            <a:off x="914400" y="1600200"/>
            <a:ext cx="7772400" cy="4114800"/>
          </a:xfrm>
        </p:spPr>
        <p:txBody>
          <a:bodyPr/>
          <a:lstStyle/>
          <a:p>
            <a:r>
              <a:rPr lang="en-US" sz="2400" dirty="0"/>
              <a:t>As a means of </a:t>
            </a:r>
            <a:r>
              <a:rPr lang="en-US" sz="2400" b="1" dirty="0"/>
              <a:t>facilitating discussion about an existing or proposed system</a:t>
            </a:r>
          </a:p>
          <a:p>
            <a:pPr lvl="1"/>
            <a:r>
              <a:rPr lang="en-US" sz="2400" dirty="0"/>
              <a:t>Incomplete and incorrect models are OK as their role is to support discussion.</a:t>
            </a:r>
            <a:endParaRPr lang="en-GB" sz="2400" dirty="0"/>
          </a:p>
          <a:p>
            <a:r>
              <a:rPr lang="en-US" sz="2400" b="1" dirty="0"/>
              <a:t>As a way of documenting an existing system</a:t>
            </a:r>
          </a:p>
          <a:p>
            <a:pPr lvl="1"/>
            <a:r>
              <a:rPr lang="en-US" sz="2400" dirty="0"/>
              <a:t>Models should be an accurate representation of the system but need not be complete.</a:t>
            </a:r>
            <a:endParaRPr lang="en-GB" sz="2400" dirty="0"/>
          </a:p>
          <a:p>
            <a:r>
              <a:rPr lang="en-US" sz="2400" b="1" dirty="0"/>
              <a:t>As a detailed system description</a:t>
            </a:r>
            <a:r>
              <a:rPr lang="en-US" sz="2400" dirty="0"/>
              <a:t> that can be used to generate a system implementation</a:t>
            </a:r>
          </a:p>
          <a:p>
            <a:pPr lvl="1"/>
            <a:r>
              <a:rPr lang="en-US" sz="2400" dirty="0"/>
              <a:t>Models have to be both correct and complete.</a:t>
            </a:r>
            <a:endParaRPr lang="en-GB" sz="2400" dirty="0"/>
          </a:p>
          <a:p>
            <a:endParaRPr lang="en-US" sz="2400" dirty="0"/>
          </a:p>
        </p:txBody>
      </p:sp>
    </p:spTree>
    <p:extLst>
      <p:ext uri="{BB962C8B-B14F-4D97-AF65-F5344CB8AC3E}">
        <p14:creationId xmlns:p14="http://schemas.microsoft.com/office/powerpoint/2010/main" val="151447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152400"/>
            <a:ext cx="7772400" cy="1143000"/>
          </a:xfrm>
        </p:spPr>
        <p:txBody>
          <a:bodyPr/>
          <a:lstStyle/>
          <a:p>
            <a:r>
              <a:rPr lang="en-US" dirty="0"/>
              <a:t>Types of System perspectives</a:t>
            </a:r>
          </a:p>
        </p:txBody>
      </p:sp>
      <p:sp>
        <p:nvSpPr>
          <p:cNvPr id="3" name="Content Placeholder 2"/>
          <p:cNvSpPr>
            <a:spLocks noGrp="1"/>
          </p:cNvSpPr>
          <p:nvPr>
            <p:ph idx="1"/>
          </p:nvPr>
        </p:nvSpPr>
        <p:spPr>
          <a:xfrm>
            <a:off x="838200" y="1600200"/>
            <a:ext cx="7772400" cy="4114800"/>
          </a:xfrm>
        </p:spPr>
        <p:txBody>
          <a:bodyPr/>
          <a:lstStyle/>
          <a:p>
            <a:r>
              <a:rPr lang="en-US" sz="2400" dirty="0"/>
              <a:t>An </a:t>
            </a:r>
            <a:r>
              <a:rPr lang="en-US" sz="2400" b="1" dirty="0"/>
              <a:t>external perspective</a:t>
            </a:r>
            <a:r>
              <a:rPr lang="en-US" sz="2400" dirty="0"/>
              <a:t>, where you model the </a:t>
            </a:r>
            <a:r>
              <a:rPr lang="en-US" sz="2400" b="1" dirty="0"/>
              <a:t>context</a:t>
            </a:r>
            <a:r>
              <a:rPr lang="en-US" sz="2400" dirty="0"/>
              <a:t> or environment of the system. </a:t>
            </a:r>
            <a:endParaRPr lang="en-GB" sz="2400" dirty="0"/>
          </a:p>
          <a:p>
            <a:r>
              <a:rPr lang="en-US" sz="2400" dirty="0"/>
              <a:t>An </a:t>
            </a:r>
            <a:r>
              <a:rPr lang="en-US" sz="2400" b="1" dirty="0"/>
              <a:t>interaction perspective</a:t>
            </a:r>
            <a:r>
              <a:rPr lang="en-US" sz="2400" dirty="0"/>
              <a:t>, where you model the </a:t>
            </a:r>
            <a:r>
              <a:rPr lang="en-US" sz="2400" b="1" dirty="0"/>
              <a:t>interactions</a:t>
            </a:r>
            <a:r>
              <a:rPr lang="en-US" sz="2400" dirty="0"/>
              <a:t> between a system and its environment, or between the components of a system.</a:t>
            </a:r>
          </a:p>
          <a:p>
            <a:r>
              <a:rPr lang="en-US" sz="2400" dirty="0"/>
              <a:t> A </a:t>
            </a:r>
            <a:r>
              <a:rPr lang="en-US" sz="2400" b="1" dirty="0"/>
              <a:t>structural perspective</a:t>
            </a:r>
            <a:r>
              <a:rPr lang="en-US" sz="2400" dirty="0"/>
              <a:t>, where you model the </a:t>
            </a:r>
            <a:r>
              <a:rPr lang="en-US" sz="2400" b="1" i="1" dirty="0"/>
              <a:t>organization of a system</a:t>
            </a:r>
            <a:r>
              <a:rPr lang="en-US" sz="2400" b="1" dirty="0"/>
              <a:t> </a:t>
            </a:r>
            <a:r>
              <a:rPr lang="en-US" sz="2400" dirty="0"/>
              <a:t>or the structure of the data that is processed by the system. </a:t>
            </a:r>
          </a:p>
          <a:p>
            <a:r>
              <a:rPr lang="en-US" sz="2400" dirty="0"/>
              <a:t>A </a:t>
            </a:r>
            <a:r>
              <a:rPr lang="en-US" sz="2400" b="1" dirty="0"/>
              <a:t>behavioral perspective</a:t>
            </a:r>
            <a:r>
              <a:rPr lang="en-US" sz="2400" dirty="0"/>
              <a:t>, where you model the dynamic behavior of the system and how it responds to events. </a:t>
            </a:r>
            <a:endParaRPr lang="en-GB" sz="2400" dirty="0"/>
          </a:p>
          <a:p>
            <a:endParaRPr lang="en-US" sz="2400" dirty="0"/>
          </a:p>
        </p:txBody>
      </p:sp>
    </p:spTree>
    <p:extLst>
      <p:ext uri="{BB962C8B-B14F-4D97-AF65-F5344CB8AC3E}">
        <p14:creationId xmlns:p14="http://schemas.microsoft.com/office/powerpoint/2010/main" val="2849671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152400"/>
            <a:ext cx="7772400" cy="1143000"/>
          </a:xfrm>
        </p:spPr>
        <p:txBody>
          <a:bodyPr/>
          <a:lstStyle/>
          <a:p>
            <a:r>
              <a:rPr lang="en-GB" dirty="0"/>
              <a:t>Context models</a:t>
            </a:r>
            <a:endParaRPr lang="en-US" dirty="0"/>
          </a:p>
        </p:txBody>
      </p:sp>
      <p:sp>
        <p:nvSpPr>
          <p:cNvPr id="3" name="Content Placeholder 2"/>
          <p:cNvSpPr>
            <a:spLocks noGrp="1"/>
          </p:cNvSpPr>
          <p:nvPr>
            <p:ph idx="1"/>
          </p:nvPr>
        </p:nvSpPr>
        <p:spPr>
          <a:xfrm>
            <a:off x="914400" y="1295400"/>
            <a:ext cx="7772400" cy="4114800"/>
          </a:xfrm>
        </p:spPr>
        <p:txBody>
          <a:bodyPr/>
          <a:lstStyle/>
          <a:p>
            <a:r>
              <a:rPr lang="en-GB" sz="2400" dirty="0"/>
              <a:t>Context models are used to illustrate the operational context of a system - they show </a:t>
            </a:r>
            <a:r>
              <a:rPr lang="en-GB" sz="2400" b="1" dirty="0"/>
              <a:t>what lies outside the system boundaries</a:t>
            </a:r>
            <a:r>
              <a:rPr lang="en-GB" sz="2400" dirty="0"/>
              <a:t>.</a:t>
            </a:r>
            <a:endParaRPr lang="en-US" sz="2400" dirty="0"/>
          </a:p>
          <a:p>
            <a:r>
              <a:rPr lang="en-US" sz="2400" dirty="0"/>
              <a:t>At an early stage in the specification of a system, you should decide on the system boundaries</a:t>
            </a:r>
          </a:p>
          <a:p>
            <a:r>
              <a:rPr lang="en-US" sz="2400" dirty="0"/>
              <a:t>This involves working with system stakeholders to decide</a:t>
            </a:r>
            <a:r>
              <a:rPr lang="en-US" sz="2400" b="1" dirty="0"/>
              <a:t> what functionality</a:t>
            </a:r>
            <a:r>
              <a:rPr lang="en-US" sz="2400" dirty="0"/>
              <a:t> should be </a:t>
            </a:r>
            <a:r>
              <a:rPr lang="en-US" sz="2400" b="1" dirty="0"/>
              <a:t>included</a:t>
            </a:r>
            <a:r>
              <a:rPr lang="en-US" sz="2400" dirty="0"/>
              <a:t> in the system and what is provided by the </a:t>
            </a:r>
            <a:r>
              <a:rPr lang="en-US" sz="2400" b="1" dirty="0"/>
              <a:t>system’s environment</a:t>
            </a:r>
            <a:r>
              <a:rPr lang="en-US" sz="2400" dirty="0"/>
              <a:t>.</a:t>
            </a:r>
          </a:p>
          <a:p>
            <a:endParaRPr lang="en-US" sz="2400" dirty="0"/>
          </a:p>
        </p:txBody>
      </p:sp>
    </p:spTree>
    <p:extLst>
      <p:ext uri="{BB962C8B-B14F-4D97-AF65-F5344CB8AC3E}">
        <p14:creationId xmlns:p14="http://schemas.microsoft.com/office/powerpoint/2010/main" val="1114067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6563" y="-76200"/>
            <a:ext cx="6751637" cy="1143000"/>
          </a:xfrm>
        </p:spPr>
        <p:txBody>
          <a:bodyPr/>
          <a:lstStyle/>
          <a:p>
            <a:r>
              <a:rPr lang="en-US" sz="3200" dirty="0"/>
              <a:t>Context model for E-restaurant</a:t>
            </a:r>
          </a:p>
        </p:txBody>
      </p:sp>
      <p:grpSp>
        <p:nvGrpSpPr>
          <p:cNvPr id="3" name="Group 2"/>
          <p:cNvGrpSpPr/>
          <p:nvPr/>
        </p:nvGrpSpPr>
        <p:grpSpPr>
          <a:xfrm>
            <a:off x="76200" y="1066800"/>
            <a:ext cx="9220200" cy="5562600"/>
            <a:chOff x="76200" y="1066800"/>
            <a:chExt cx="9220200" cy="5562600"/>
          </a:xfrm>
        </p:grpSpPr>
        <p:sp>
          <p:nvSpPr>
            <p:cNvPr id="5" name="Rectangle 4"/>
            <p:cNvSpPr/>
            <p:nvPr/>
          </p:nvSpPr>
          <p:spPr bwMode="auto">
            <a:xfrm>
              <a:off x="1828800" y="2514600"/>
              <a:ext cx="5638800" cy="312420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dirty="0">
                <a:solidFill>
                  <a:srgbClr val="000000"/>
                </a:solidFill>
                <a:latin typeface="Times New Roman" panose="02020603050405020304" pitchFamily="18" charset="0"/>
              </a:endParaRPr>
            </a:p>
          </p:txBody>
        </p:sp>
        <p:sp>
          <p:nvSpPr>
            <p:cNvPr id="7" name="Rectangle 6"/>
            <p:cNvSpPr/>
            <p:nvPr/>
          </p:nvSpPr>
          <p:spPr bwMode="auto">
            <a:xfrm>
              <a:off x="2166582" y="3124200"/>
              <a:ext cx="2634018" cy="820003"/>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2400" dirty="0">
                  <a:solidFill>
                    <a:srgbClr val="000000"/>
                  </a:solidFill>
                  <a:latin typeface="Times New Roman" panose="02020603050405020304" pitchFamily="18" charset="0"/>
                </a:rPr>
                <a:t>Order meal</a:t>
              </a:r>
            </a:p>
          </p:txBody>
        </p:sp>
        <p:sp>
          <p:nvSpPr>
            <p:cNvPr id="8" name="Rectangle 7"/>
            <p:cNvSpPr/>
            <p:nvPr/>
          </p:nvSpPr>
          <p:spPr bwMode="auto">
            <a:xfrm>
              <a:off x="4038600" y="4284829"/>
              <a:ext cx="1524000" cy="806355"/>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2400" dirty="0">
                  <a:solidFill>
                    <a:srgbClr val="000000"/>
                  </a:solidFill>
                  <a:latin typeface="Times New Roman" panose="02020603050405020304" pitchFamily="18" charset="0"/>
                </a:rPr>
                <a:t>Pay for meal</a:t>
              </a:r>
            </a:p>
          </p:txBody>
        </p:sp>
        <p:sp>
          <p:nvSpPr>
            <p:cNvPr id="9" name="Rectangle 8"/>
            <p:cNvSpPr/>
            <p:nvPr/>
          </p:nvSpPr>
          <p:spPr bwMode="auto">
            <a:xfrm>
              <a:off x="5372100" y="3132101"/>
              <a:ext cx="1752600" cy="8382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2400" dirty="0">
                  <a:solidFill>
                    <a:srgbClr val="000000"/>
                  </a:solidFill>
                  <a:latin typeface="Times New Roman" panose="02020603050405020304" pitchFamily="18" charset="0"/>
                </a:rPr>
                <a:t>Update menu</a:t>
              </a:r>
            </a:p>
          </p:txBody>
        </p:sp>
        <p:sp>
          <p:nvSpPr>
            <p:cNvPr id="10" name="Rectangle 9"/>
            <p:cNvSpPr/>
            <p:nvPr/>
          </p:nvSpPr>
          <p:spPr bwMode="auto">
            <a:xfrm>
              <a:off x="3124200" y="6019800"/>
              <a:ext cx="2819400" cy="6096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2400" dirty="0">
                  <a:solidFill>
                    <a:srgbClr val="000000"/>
                  </a:solidFill>
                  <a:latin typeface="Times New Roman" panose="02020603050405020304" pitchFamily="18" charset="0"/>
                </a:rPr>
                <a:t>Deliver meal</a:t>
              </a:r>
            </a:p>
          </p:txBody>
        </p:sp>
        <p:sp>
          <p:nvSpPr>
            <p:cNvPr id="11" name="TextBox 10"/>
            <p:cNvSpPr txBox="1"/>
            <p:nvPr/>
          </p:nvSpPr>
          <p:spPr>
            <a:xfrm>
              <a:off x="76200" y="2907268"/>
              <a:ext cx="1219200" cy="369332"/>
            </a:xfrm>
            <a:prstGeom prst="rect">
              <a:avLst/>
            </a:prstGeom>
            <a:noFill/>
          </p:spPr>
          <p:txBody>
            <a:bodyPr wrap="square" rtlCol="0">
              <a:spAutoFit/>
            </a:bodyPr>
            <a:lstStyle/>
            <a:p>
              <a:r>
                <a:rPr lang="en-US" dirty="0">
                  <a:solidFill>
                    <a:srgbClr val="000000"/>
                  </a:solidFill>
                </a:rPr>
                <a:t>Customer</a:t>
              </a:r>
            </a:p>
          </p:txBody>
        </p:sp>
        <p:cxnSp>
          <p:nvCxnSpPr>
            <p:cNvPr id="13" name="Straight Connector 12"/>
            <p:cNvCxnSpPr/>
            <p:nvPr/>
          </p:nvCxnSpPr>
          <p:spPr bwMode="auto">
            <a:xfrm>
              <a:off x="1447800" y="3048000"/>
              <a:ext cx="3810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TextBox 13"/>
            <p:cNvSpPr txBox="1"/>
            <p:nvPr/>
          </p:nvSpPr>
          <p:spPr>
            <a:xfrm>
              <a:off x="7848600" y="3276600"/>
              <a:ext cx="1447800" cy="646331"/>
            </a:xfrm>
            <a:prstGeom prst="rect">
              <a:avLst/>
            </a:prstGeom>
            <a:noFill/>
          </p:spPr>
          <p:txBody>
            <a:bodyPr wrap="square" rtlCol="0">
              <a:spAutoFit/>
            </a:bodyPr>
            <a:lstStyle/>
            <a:p>
              <a:r>
                <a:rPr lang="en-US" dirty="0">
                  <a:solidFill>
                    <a:srgbClr val="000000"/>
                  </a:solidFill>
                </a:rPr>
                <a:t>Restaurant</a:t>
              </a:r>
            </a:p>
            <a:p>
              <a:r>
                <a:rPr lang="en-US" dirty="0">
                  <a:solidFill>
                    <a:srgbClr val="000000"/>
                  </a:solidFill>
                </a:rPr>
                <a:t>Manager</a:t>
              </a:r>
            </a:p>
          </p:txBody>
        </p:sp>
        <p:sp>
          <p:nvSpPr>
            <p:cNvPr id="15" name="Rectangle 14"/>
            <p:cNvSpPr/>
            <p:nvPr/>
          </p:nvSpPr>
          <p:spPr bwMode="auto">
            <a:xfrm>
              <a:off x="3124200" y="1066800"/>
              <a:ext cx="3124200" cy="896771"/>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2400" dirty="0">
                  <a:solidFill>
                    <a:srgbClr val="000000"/>
                  </a:solidFill>
                  <a:latin typeface="Times New Roman" panose="02020603050405020304" pitchFamily="18" charset="0"/>
                </a:rPr>
                <a:t>Credit/debit  card authentication</a:t>
              </a:r>
            </a:p>
          </p:txBody>
        </p:sp>
        <p:cxnSp>
          <p:nvCxnSpPr>
            <p:cNvPr id="17" name="Straight Connector 16"/>
            <p:cNvCxnSpPr>
              <a:stCxn id="15" idx="2"/>
              <a:endCxn id="5" idx="0"/>
            </p:cNvCxnSpPr>
            <p:nvPr/>
          </p:nvCxnSpPr>
          <p:spPr bwMode="auto">
            <a:xfrm flipH="1">
              <a:off x="4648200" y="1963571"/>
              <a:ext cx="38100" cy="55102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Straight Connector 18"/>
            <p:cNvCxnSpPr/>
            <p:nvPr/>
          </p:nvCxnSpPr>
          <p:spPr bwMode="auto">
            <a:xfrm flipV="1">
              <a:off x="4495800" y="5638800"/>
              <a:ext cx="38100" cy="381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Connector 21"/>
            <p:cNvCxnSpPr>
              <a:stCxn id="14" idx="1"/>
            </p:cNvCxnSpPr>
            <p:nvPr/>
          </p:nvCxnSpPr>
          <p:spPr bwMode="auto">
            <a:xfrm flipH="1" flipV="1">
              <a:off x="7543800" y="3429000"/>
              <a:ext cx="304800" cy="17076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TextBox 23"/>
            <p:cNvSpPr txBox="1"/>
            <p:nvPr/>
          </p:nvSpPr>
          <p:spPr>
            <a:xfrm>
              <a:off x="7772400" y="4382869"/>
              <a:ext cx="1447800" cy="646331"/>
            </a:xfrm>
            <a:prstGeom prst="rect">
              <a:avLst/>
            </a:prstGeom>
            <a:noFill/>
          </p:spPr>
          <p:txBody>
            <a:bodyPr wrap="square" rtlCol="0">
              <a:spAutoFit/>
            </a:bodyPr>
            <a:lstStyle/>
            <a:p>
              <a:r>
                <a:rPr lang="en-US" dirty="0">
                  <a:solidFill>
                    <a:srgbClr val="000000"/>
                  </a:solidFill>
                </a:rPr>
                <a:t>Restaurant</a:t>
              </a:r>
            </a:p>
            <a:p>
              <a:r>
                <a:rPr lang="en-US" dirty="0">
                  <a:solidFill>
                    <a:srgbClr val="000000"/>
                  </a:solidFill>
                </a:rPr>
                <a:t>operator</a:t>
              </a:r>
            </a:p>
          </p:txBody>
        </p:sp>
        <p:cxnSp>
          <p:nvCxnSpPr>
            <p:cNvPr id="25" name="Straight Connector 24"/>
            <p:cNvCxnSpPr/>
            <p:nvPr/>
          </p:nvCxnSpPr>
          <p:spPr bwMode="auto">
            <a:xfrm flipH="1" flipV="1">
              <a:off x="7467600" y="4325034"/>
              <a:ext cx="304800" cy="17076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3186236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boundaries</a:t>
            </a:r>
          </a:p>
        </p:txBody>
      </p:sp>
      <p:sp>
        <p:nvSpPr>
          <p:cNvPr id="3" name="Content Placeholder 2"/>
          <p:cNvSpPr>
            <a:spLocks noGrp="1"/>
          </p:cNvSpPr>
          <p:nvPr>
            <p:ph idx="1"/>
          </p:nvPr>
        </p:nvSpPr>
        <p:spPr>
          <a:xfrm>
            <a:off x="914400" y="1524000"/>
            <a:ext cx="7772400" cy="4114800"/>
          </a:xfrm>
        </p:spPr>
        <p:txBody>
          <a:bodyPr/>
          <a:lstStyle/>
          <a:p>
            <a:endParaRPr lang="en-US" sz="2400" dirty="0"/>
          </a:p>
          <a:p>
            <a:r>
              <a:rPr lang="en-US" sz="2400" dirty="0"/>
              <a:t>System boundaries are established to define what is inside and what is outside the system.</a:t>
            </a:r>
          </a:p>
          <a:p>
            <a:pPr lvl="1"/>
            <a:r>
              <a:rPr lang="en-US" sz="2400" dirty="0"/>
              <a:t>They show other systems that are used or depend on the system being developed.</a:t>
            </a:r>
          </a:p>
          <a:p>
            <a:pPr lvl="1"/>
            <a:endParaRPr lang="en-US" sz="2400" dirty="0"/>
          </a:p>
          <a:p>
            <a:r>
              <a:rPr lang="en-US" sz="2400" dirty="0"/>
              <a:t>The position of the system boundary has a profound effect on the system requirements. </a:t>
            </a:r>
          </a:p>
          <a:p>
            <a:endParaRPr lang="en-US" sz="2400" dirty="0"/>
          </a:p>
        </p:txBody>
      </p:sp>
    </p:spTree>
    <p:extLst>
      <p:ext uri="{BB962C8B-B14F-4D97-AF65-F5344CB8AC3E}">
        <p14:creationId xmlns:p14="http://schemas.microsoft.com/office/powerpoint/2010/main" val="696935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US" dirty="0"/>
              <a:t>UML diagram types</a:t>
            </a:r>
          </a:p>
        </p:txBody>
      </p:sp>
      <p:sp>
        <p:nvSpPr>
          <p:cNvPr id="3" name="Content Placeholder 2"/>
          <p:cNvSpPr>
            <a:spLocks noGrp="1"/>
          </p:cNvSpPr>
          <p:nvPr>
            <p:ph idx="1"/>
          </p:nvPr>
        </p:nvSpPr>
        <p:spPr>
          <a:xfrm>
            <a:off x="990600" y="1219200"/>
            <a:ext cx="7772400" cy="4114800"/>
          </a:xfrm>
        </p:spPr>
        <p:txBody>
          <a:bodyPr/>
          <a:lstStyle/>
          <a:p>
            <a:r>
              <a:rPr lang="en-US" sz="2400" dirty="0"/>
              <a:t>UML has become a standard modelling language</a:t>
            </a:r>
          </a:p>
          <a:p>
            <a:r>
              <a:rPr lang="en-US" sz="2400" b="1" dirty="0"/>
              <a:t>Use case diagrams</a:t>
            </a:r>
            <a:r>
              <a:rPr lang="en-US" sz="2400" dirty="0"/>
              <a:t>, which show the interactions between a system and its environment. </a:t>
            </a:r>
            <a:endParaRPr lang="en-GB" sz="2400" dirty="0"/>
          </a:p>
          <a:p>
            <a:r>
              <a:rPr lang="en-US" sz="2400" b="1" dirty="0"/>
              <a:t>Sequence diagrams</a:t>
            </a:r>
            <a:r>
              <a:rPr lang="en-US" sz="2400" dirty="0"/>
              <a:t>, which show interactions between actors and the system and between system components.</a:t>
            </a:r>
            <a:endParaRPr lang="en-GB" sz="2400" dirty="0"/>
          </a:p>
          <a:p>
            <a:r>
              <a:rPr lang="en-US" sz="2400" b="1" dirty="0"/>
              <a:t>Class diagrams</a:t>
            </a:r>
            <a:r>
              <a:rPr lang="en-US" sz="2400" dirty="0"/>
              <a:t>, which show the object classes in the system and the associations between these classes.</a:t>
            </a:r>
            <a:endParaRPr lang="en-GB" sz="2400" dirty="0"/>
          </a:p>
          <a:p>
            <a:r>
              <a:rPr lang="en-US" sz="2400" b="1" dirty="0"/>
              <a:t>State diagrams</a:t>
            </a:r>
            <a:r>
              <a:rPr lang="en-US" sz="2400" dirty="0"/>
              <a:t>, which show how the system reacts to internal and external events.</a:t>
            </a:r>
          </a:p>
          <a:p>
            <a:r>
              <a:rPr lang="en-US" sz="2400" b="1" dirty="0"/>
              <a:t>Activity diagrams</a:t>
            </a:r>
            <a:r>
              <a:rPr lang="en-US" sz="2400" dirty="0"/>
              <a:t>, which show the activities involved in a process or in data processing . </a:t>
            </a:r>
            <a:endParaRPr lang="en-GB" sz="2400" dirty="0"/>
          </a:p>
          <a:p>
            <a:endParaRPr lang="en-US" sz="2400" dirty="0"/>
          </a:p>
        </p:txBody>
      </p:sp>
    </p:spTree>
    <p:extLst>
      <p:ext uri="{BB962C8B-B14F-4D97-AF65-F5344CB8AC3E}">
        <p14:creationId xmlns:p14="http://schemas.microsoft.com/office/powerpoint/2010/main" val="4062336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228600"/>
            <a:ext cx="7772400" cy="1143000"/>
          </a:xfrm>
        </p:spPr>
        <p:txBody>
          <a:bodyPr/>
          <a:lstStyle/>
          <a:p>
            <a:r>
              <a:rPr lang="en-US" dirty="0"/>
              <a:t>Interaction models</a:t>
            </a:r>
          </a:p>
        </p:txBody>
      </p:sp>
      <p:sp>
        <p:nvSpPr>
          <p:cNvPr id="3" name="Content Placeholder 2"/>
          <p:cNvSpPr>
            <a:spLocks noGrp="1"/>
          </p:cNvSpPr>
          <p:nvPr>
            <p:ph idx="1"/>
          </p:nvPr>
        </p:nvSpPr>
        <p:spPr>
          <a:xfrm>
            <a:off x="685800" y="1524000"/>
            <a:ext cx="7772400" cy="4114800"/>
          </a:xfrm>
        </p:spPr>
        <p:txBody>
          <a:bodyPr/>
          <a:lstStyle/>
          <a:p>
            <a:pPr algn="just"/>
            <a:r>
              <a:rPr lang="en-US" sz="2000" dirty="0"/>
              <a:t>All systems involve interaction of some kind. This can be </a:t>
            </a:r>
          </a:p>
          <a:p>
            <a:pPr lvl="1" algn="just"/>
            <a:r>
              <a:rPr lang="en-US" sz="1800" b="1" dirty="0"/>
              <a:t>user interaction</a:t>
            </a:r>
            <a:r>
              <a:rPr lang="en-US" sz="1800" dirty="0"/>
              <a:t>, which involves user inputs and outputs, </a:t>
            </a:r>
          </a:p>
          <a:p>
            <a:pPr lvl="1" algn="just"/>
            <a:r>
              <a:rPr lang="en-US" sz="1800" dirty="0"/>
              <a:t>interaction between the </a:t>
            </a:r>
            <a:r>
              <a:rPr lang="en-US" sz="1800" b="1" dirty="0"/>
              <a:t>system being developed and other systems</a:t>
            </a:r>
            <a:r>
              <a:rPr lang="en-US" sz="1800" dirty="0"/>
              <a:t> or</a:t>
            </a:r>
          </a:p>
          <a:p>
            <a:pPr lvl="1" algn="just"/>
            <a:r>
              <a:rPr lang="en-US" sz="1800" dirty="0"/>
              <a:t>interaction between the </a:t>
            </a:r>
            <a:r>
              <a:rPr lang="en-US" sz="1800" b="1" dirty="0"/>
              <a:t>components of the system</a:t>
            </a:r>
            <a:r>
              <a:rPr lang="en-US" sz="1800" dirty="0"/>
              <a:t>.</a:t>
            </a:r>
          </a:p>
          <a:p>
            <a:pPr algn="just"/>
            <a:r>
              <a:rPr lang="en-US" sz="2000" dirty="0"/>
              <a:t>Modeling </a:t>
            </a:r>
            <a:r>
              <a:rPr lang="en-US" sz="2000" b="1" dirty="0"/>
              <a:t>user interaction</a:t>
            </a:r>
            <a:r>
              <a:rPr lang="en-US" sz="2000" dirty="0"/>
              <a:t> is important as it helps to identify user requirements.  </a:t>
            </a:r>
          </a:p>
          <a:p>
            <a:pPr algn="just"/>
            <a:r>
              <a:rPr lang="en-US" sz="2000" dirty="0"/>
              <a:t>Modeling </a:t>
            </a:r>
            <a:r>
              <a:rPr lang="en-US" sz="2000" b="1" dirty="0"/>
              <a:t>system-to-system</a:t>
            </a:r>
            <a:r>
              <a:rPr lang="en-US" sz="2000" dirty="0"/>
              <a:t> </a:t>
            </a:r>
            <a:r>
              <a:rPr lang="en-US" sz="2000" b="1" dirty="0"/>
              <a:t>interaction</a:t>
            </a:r>
            <a:r>
              <a:rPr lang="en-US" sz="2000" dirty="0"/>
              <a:t> highlights the communication problems that may arise. </a:t>
            </a:r>
          </a:p>
          <a:p>
            <a:pPr algn="just"/>
            <a:r>
              <a:rPr lang="en-US" sz="2000" dirty="0"/>
              <a:t>Modeling </a:t>
            </a:r>
            <a:r>
              <a:rPr lang="en-US" sz="2000" b="1" dirty="0"/>
              <a:t>component interaction</a:t>
            </a:r>
            <a:r>
              <a:rPr lang="en-US" sz="2000" dirty="0"/>
              <a:t> helps us understand if a proposed system structure is likely to deliver the required system performance and dependability.</a:t>
            </a:r>
            <a:r>
              <a:rPr lang="en-GB" sz="2000" dirty="0"/>
              <a:t> </a:t>
            </a:r>
          </a:p>
          <a:p>
            <a:pPr algn="just"/>
            <a:r>
              <a:rPr lang="en-GB" sz="2000" dirty="0"/>
              <a:t>Use case diagrams and sequence diagrams may be used for interaction modelling.</a:t>
            </a:r>
          </a:p>
          <a:p>
            <a:pPr algn="just"/>
            <a:endParaRPr lang="en-US" sz="2000" dirty="0"/>
          </a:p>
        </p:txBody>
      </p:sp>
    </p:spTree>
    <p:extLst>
      <p:ext uri="{BB962C8B-B14F-4D97-AF65-F5344CB8AC3E}">
        <p14:creationId xmlns:p14="http://schemas.microsoft.com/office/powerpoint/2010/main" val="4202337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228600"/>
            <a:ext cx="7772400" cy="1143000"/>
          </a:xfrm>
        </p:spPr>
        <p:txBody>
          <a:bodyPr/>
          <a:lstStyle/>
          <a:p>
            <a:r>
              <a:rPr lang="en-US" dirty="0"/>
              <a:t>Use case modeling</a:t>
            </a:r>
          </a:p>
        </p:txBody>
      </p:sp>
      <p:sp>
        <p:nvSpPr>
          <p:cNvPr id="3" name="Content Placeholder 2"/>
          <p:cNvSpPr>
            <a:spLocks noGrp="1"/>
          </p:cNvSpPr>
          <p:nvPr>
            <p:ph idx="1"/>
          </p:nvPr>
        </p:nvSpPr>
        <p:spPr>
          <a:xfrm>
            <a:off x="715963" y="1371600"/>
            <a:ext cx="7589837" cy="4114800"/>
          </a:xfrm>
        </p:spPr>
        <p:txBody>
          <a:bodyPr/>
          <a:lstStyle/>
          <a:p>
            <a:r>
              <a:rPr lang="en-US" sz="2400" dirty="0"/>
              <a:t>Use cases were developed originally to support requirements elicitation and now incorporated into the UML.</a:t>
            </a:r>
          </a:p>
          <a:p>
            <a:r>
              <a:rPr lang="en-US" sz="2400" dirty="0"/>
              <a:t>Each use case represents a </a:t>
            </a:r>
            <a:r>
              <a:rPr lang="en-US" sz="2400" b="1" dirty="0"/>
              <a:t>discrete task </a:t>
            </a:r>
            <a:r>
              <a:rPr lang="en-US" sz="2400" dirty="0"/>
              <a:t>that involves </a:t>
            </a:r>
            <a:r>
              <a:rPr lang="en-US" sz="2400" b="1" dirty="0"/>
              <a:t>external interaction </a:t>
            </a:r>
            <a:r>
              <a:rPr lang="en-US" sz="2400" dirty="0"/>
              <a:t>with a system.</a:t>
            </a:r>
          </a:p>
          <a:p>
            <a:r>
              <a:rPr lang="en-US" sz="2400" dirty="0"/>
              <a:t>Actors in a use case may be </a:t>
            </a:r>
            <a:r>
              <a:rPr lang="en-US" sz="2400" b="1" dirty="0"/>
              <a:t>people</a:t>
            </a:r>
            <a:r>
              <a:rPr lang="en-US" sz="2400" dirty="0"/>
              <a:t> or </a:t>
            </a:r>
            <a:r>
              <a:rPr lang="en-US" sz="2400" b="1" dirty="0"/>
              <a:t>other systems</a:t>
            </a:r>
            <a:r>
              <a:rPr lang="en-US" sz="2400" dirty="0"/>
              <a:t>.</a:t>
            </a:r>
          </a:p>
          <a:p>
            <a:r>
              <a:rPr lang="en-US" sz="2400" dirty="0"/>
              <a:t>A use case is shown as an </a:t>
            </a:r>
            <a:r>
              <a:rPr lang="en-US" sz="2400" b="1" dirty="0"/>
              <a:t>ellipse</a:t>
            </a:r>
            <a:r>
              <a:rPr lang="en-US" sz="2400" dirty="0"/>
              <a:t> with the actors involved in the use case represented as </a:t>
            </a:r>
            <a:r>
              <a:rPr lang="en-US" sz="2400" b="1" dirty="0"/>
              <a:t>stick figures</a:t>
            </a:r>
          </a:p>
          <a:p>
            <a:r>
              <a:rPr lang="en-US" sz="2400" dirty="0"/>
              <a:t>Represented diagrammatically to provide an overview of the use case and in a more detailed textual form.</a:t>
            </a:r>
          </a:p>
          <a:p>
            <a:endParaRPr lang="en-US" sz="2400" dirty="0"/>
          </a:p>
        </p:txBody>
      </p:sp>
    </p:spTree>
    <p:extLst>
      <p:ext uri="{BB962C8B-B14F-4D97-AF65-F5344CB8AC3E}">
        <p14:creationId xmlns:p14="http://schemas.microsoft.com/office/powerpoint/2010/main" val="1032161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Online Shopping System use cases example</a:t>
            </a:r>
          </a:p>
        </p:txBody>
      </p:sp>
      <p:sp>
        <p:nvSpPr>
          <p:cNvPr id="3" name="Content Placeholder 2"/>
          <p:cNvSpPr>
            <a:spLocks noGrp="1"/>
          </p:cNvSpPr>
          <p:nvPr>
            <p:ph idx="1"/>
          </p:nvPr>
        </p:nvSpPr>
        <p:spPr>
          <a:xfrm>
            <a:off x="838200" y="1524000"/>
            <a:ext cx="7772400" cy="4114800"/>
          </a:xfrm>
        </p:spPr>
        <p:txBody>
          <a:bodyPr/>
          <a:lstStyle/>
          <a:p>
            <a:pPr algn="just"/>
            <a:r>
              <a:rPr lang="en-US" sz="1800" dirty="0"/>
              <a:t>The Online Shopping system facilitates the customer to view the products, inquire about the product details, and product availability.  It allows the customer to get register in order to purchase products. The customer can search products by browsing different product categories or by entering search keywords. Customer can place order and pay online. There are two acceptable payment methods. These are (1) pay by credit card and (2) pay by PayPal.  </a:t>
            </a:r>
          </a:p>
          <a:p>
            <a:pPr algn="just"/>
            <a:r>
              <a:rPr lang="en-US" sz="1800" dirty="0"/>
              <a:t>The system provide service to seller to place the products for selling. The seller creates account to become the member and places his products under suitable product category. </a:t>
            </a:r>
          </a:p>
          <a:p>
            <a:pPr algn="just"/>
            <a:r>
              <a:rPr lang="en-US" sz="1800" dirty="0"/>
              <a:t>The systems allows the administrator to manage the products. It facilitates the administrator to modify the existing products categories or to add new products categories. </a:t>
            </a:r>
          </a:p>
          <a:p>
            <a:pPr algn="just"/>
            <a:r>
              <a:rPr lang="en-US" sz="1800" dirty="0"/>
              <a:t>The system facilitate site manager to view different reports including (1) order placed by customers, (2) products added by sellers, and (3) accounts created by users.  </a:t>
            </a:r>
          </a:p>
        </p:txBody>
      </p:sp>
    </p:spTree>
    <p:extLst>
      <p:ext uri="{BB962C8B-B14F-4D97-AF65-F5344CB8AC3E}">
        <p14:creationId xmlns:p14="http://schemas.microsoft.com/office/powerpoint/2010/main" val="344460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dirty="0"/>
              <a:t>Online Shopping System</a:t>
            </a:r>
            <a:br>
              <a:rPr lang="en-US" sz="3200" dirty="0"/>
            </a:br>
            <a:r>
              <a:rPr lang="en-US" sz="3200" dirty="0"/>
              <a:t>Stakeholders and associated use cases</a:t>
            </a:r>
          </a:p>
        </p:txBody>
      </p:sp>
      <p:sp>
        <p:nvSpPr>
          <p:cNvPr id="3" name="Content Placeholder 2"/>
          <p:cNvSpPr>
            <a:spLocks noGrp="1"/>
          </p:cNvSpPr>
          <p:nvPr>
            <p:ph idx="1"/>
          </p:nvPr>
        </p:nvSpPr>
        <p:spPr>
          <a:xfrm>
            <a:off x="1173163" y="1600200"/>
            <a:ext cx="7772400" cy="4114800"/>
          </a:xfrm>
        </p:spPr>
        <p:txBody>
          <a:bodyPr/>
          <a:lstStyle/>
          <a:p>
            <a:pPr lvl="0">
              <a:buFont typeface="Wingdings" panose="05000000000000000000" pitchFamily="2" charset="2"/>
              <a:buChar char="q"/>
            </a:pPr>
            <a:r>
              <a:rPr lang="en-US" sz="2400" b="1" dirty="0"/>
              <a:t>Customer</a:t>
            </a:r>
          </a:p>
          <a:p>
            <a:pPr lvl="1">
              <a:buFont typeface="Wingdings" panose="05000000000000000000" pitchFamily="2" charset="2"/>
              <a:buChar char="q"/>
            </a:pPr>
            <a:r>
              <a:rPr lang="en-US" sz="2000" dirty="0"/>
              <a:t>view the </a:t>
            </a:r>
            <a:r>
              <a:rPr lang="en-US" sz="2000" i="1" dirty="0"/>
              <a:t>products</a:t>
            </a:r>
            <a:endParaRPr lang="en-US" sz="2000" dirty="0"/>
          </a:p>
          <a:p>
            <a:pPr lvl="1">
              <a:buFont typeface="Wingdings" panose="05000000000000000000" pitchFamily="2" charset="2"/>
              <a:buChar char="q"/>
            </a:pPr>
            <a:r>
              <a:rPr lang="en-US" sz="2000" dirty="0"/>
              <a:t>inquire about the product details</a:t>
            </a:r>
          </a:p>
          <a:p>
            <a:pPr lvl="1">
              <a:buFont typeface="Wingdings" panose="05000000000000000000" pitchFamily="2" charset="2"/>
              <a:buChar char="q"/>
            </a:pPr>
            <a:r>
              <a:rPr lang="en-US" sz="2000" dirty="0"/>
              <a:t>inquire about products availability</a:t>
            </a:r>
          </a:p>
          <a:p>
            <a:pPr lvl="1">
              <a:buFont typeface="Wingdings" panose="05000000000000000000" pitchFamily="2" charset="2"/>
              <a:buChar char="q"/>
            </a:pPr>
            <a:r>
              <a:rPr lang="en-US" sz="2000" dirty="0"/>
              <a:t>get register</a:t>
            </a:r>
          </a:p>
          <a:p>
            <a:pPr lvl="1">
              <a:buFont typeface="Wingdings" panose="05000000000000000000" pitchFamily="2" charset="2"/>
              <a:buChar char="q"/>
            </a:pPr>
            <a:r>
              <a:rPr lang="en-US" sz="2000" dirty="0"/>
              <a:t>purchase products</a:t>
            </a:r>
          </a:p>
          <a:p>
            <a:pPr lvl="1">
              <a:buFont typeface="Wingdings" panose="05000000000000000000" pitchFamily="2" charset="2"/>
              <a:buChar char="q"/>
            </a:pPr>
            <a:r>
              <a:rPr lang="en-US" sz="2000" dirty="0"/>
              <a:t>search products</a:t>
            </a:r>
          </a:p>
          <a:p>
            <a:pPr lvl="2">
              <a:buFont typeface="Wingdings" panose="05000000000000000000" pitchFamily="2" charset="2"/>
              <a:buChar char="q"/>
            </a:pPr>
            <a:r>
              <a:rPr lang="en-US" sz="1800" dirty="0"/>
              <a:t>by category</a:t>
            </a:r>
          </a:p>
          <a:p>
            <a:pPr lvl="2">
              <a:buFont typeface="Wingdings" panose="05000000000000000000" pitchFamily="2" charset="2"/>
              <a:buChar char="q"/>
            </a:pPr>
            <a:r>
              <a:rPr lang="en-US" sz="1800" dirty="0"/>
              <a:t>by keyword</a:t>
            </a:r>
          </a:p>
          <a:p>
            <a:pPr lvl="1">
              <a:buFont typeface="Wingdings" panose="05000000000000000000" pitchFamily="2" charset="2"/>
              <a:buChar char="q"/>
            </a:pPr>
            <a:r>
              <a:rPr lang="en-US" sz="2000" dirty="0"/>
              <a:t>pay online</a:t>
            </a:r>
          </a:p>
          <a:p>
            <a:pPr lvl="2">
              <a:buFont typeface="Wingdings" panose="05000000000000000000" pitchFamily="2" charset="2"/>
              <a:buChar char="q"/>
            </a:pPr>
            <a:r>
              <a:rPr lang="en-US" sz="1800" dirty="0"/>
              <a:t>pay by credit card</a:t>
            </a:r>
          </a:p>
          <a:p>
            <a:pPr lvl="2">
              <a:buFont typeface="Wingdings" panose="05000000000000000000" pitchFamily="2" charset="2"/>
              <a:buChar char="q"/>
            </a:pPr>
            <a:r>
              <a:rPr lang="en-US" sz="1800" dirty="0"/>
              <a:t>pay by </a:t>
            </a:r>
            <a:r>
              <a:rPr lang="en-US" sz="1800" dirty="0" err="1"/>
              <a:t>paypal</a:t>
            </a:r>
            <a:endParaRPr lang="en-US" sz="1800" dirty="0"/>
          </a:p>
        </p:txBody>
      </p:sp>
    </p:spTree>
    <p:extLst>
      <p:ext uri="{BB962C8B-B14F-4D97-AF65-F5344CB8AC3E}">
        <p14:creationId xmlns:p14="http://schemas.microsoft.com/office/powerpoint/2010/main" val="390017481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73163" y="1752600"/>
            <a:ext cx="7772400" cy="4114800"/>
          </a:xfrm>
        </p:spPr>
        <p:txBody>
          <a:bodyPr/>
          <a:lstStyle/>
          <a:p>
            <a:pPr lvl="0">
              <a:buFont typeface="Wingdings" panose="05000000000000000000" pitchFamily="2" charset="2"/>
              <a:buChar char="q"/>
            </a:pPr>
            <a:r>
              <a:rPr lang="en-US" sz="2000" b="1" dirty="0"/>
              <a:t>Seller</a:t>
            </a:r>
          </a:p>
          <a:p>
            <a:pPr lvl="1">
              <a:buFont typeface="Wingdings" panose="05000000000000000000" pitchFamily="2" charset="2"/>
              <a:buChar char="q"/>
            </a:pPr>
            <a:r>
              <a:rPr lang="en-US" sz="2000" dirty="0"/>
              <a:t>place the products for selling</a:t>
            </a:r>
          </a:p>
          <a:p>
            <a:pPr lvl="1">
              <a:buFont typeface="Wingdings" panose="05000000000000000000" pitchFamily="2" charset="2"/>
              <a:buChar char="q"/>
            </a:pPr>
            <a:r>
              <a:rPr lang="en-US" sz="2000" dirty="0"/>
              <a:t>create account</a:t>
            </a:r>
          </a:p>
          <a:p>
            <a:pPr lvl="1">
              <a:buFont typeface="Wingdings" panose="05000000000000000000" pitchFamily="2" charset="2"/>
              <a:buChar char="q"/>
            </a:pPr>
            <a:r>
              <a:rPr lang="en-US" sz="2000" dirty="0"/>
              <a:t>place products product category</a:t>
            </a:r>
          </a:p>
          <a:p>
            <a:pPr>
              <a:buFont typeface="Wingdings" panose="05000000000000000000" pitchFamily="2" charset="2"/>
              <a:buChar char="q"/>
            </a:pPr>
            <a:r>
              <a:rPr lang="en-US" sz="2000" b="1" dirty="0"/>
              <a:t> Administrator</a:t>
            </a:r>
          </a:p>
          <a:p>
            <a:pPr lvl="1">
              <a:buFont typeface="Wingdings" panose="05000000000000000000" pitchFamily="2" charset="2"/>
              <a:buChar char="q"/>
            </a:pPr>
            <a:r>
              <a:rPr lang="en-US" sz="2000" dirty="0"/>
              <a:t>Manage products</a:t>
            </a:r>
          </a:p>
          <a:p>
            <a:pPr lvl="1">
              <a:buFont typeface="Wingdings" panose="05000000000000000000" pitchFamily="2" charset="2"/>
              <a:buChar char="q"/>
            </a:pPr>
            <a:r>
              <a:rPr lang="en-US" sz="2000" dirty="0"/>
              <a:t>modify the existing products categories </a:t>
            </a:r>
          </a:p>
          <a:p>
            <a:pPr lvl="1">
              <a:buFont typeface="Wingdings" panose="05000000000000000000" pitchFamily="2" charset="2"/>
              <a:buChar char="q"/>
            </a:pPr>
            <a:r>
              <a:rPr lang="en-US" sz="2000" dirty="0"/>
              <a:t>add new products categories</a:t>
            </a:r>
          </a:p>
          <a:p>
            <a:pPr lvl="0">
              <a:buFont typeface="Wingdings" panose="05000000000000000000" pitchFamily="2" charset="2"/>
              <a:buChar char="q"/>
            </a:pPr>
            <a:r>
              <a:rPr lang="en-US" sz="2000" b="1" dirty="0"/>
              <a:t>Site manager</a:t>
            </a:r>
          </a:p>
          <a:p>
            <a:pPr lvl="1">
              <a:buFont typeface="Wingdings" panose="05000000000000000000" pitchFamily="2" charset="2"/>
              <a:buChar char="q"/>
            </a:pPr>
            <a:r>
              <a:rPr lang="en-US" sz="2000" dirty="0"/>
              <a:t>view order placed by customers</a:t>
            </a:r>
          </a:p>
          <a:p>
            <a:pPr lvl="1">
              <a:buFont typeface="Wingdings" panose="05000000000000000000" pitchFamily="2" charset="2"/>
              <a:buChar char="q"/>
            </a:pPr>
            <a:r>
              <a:rPr lang="en-US" sz="2000" dirty="0"/>
              <a:t>view products added by sellers, </a:t>
            </a:r>
          </a:p>
          <a:p>
            <a:pPr lvl="1">
              <a:buFont typeface="Wingdings" panose="05000000000000000000" pitchFamily="2" charset="2"/>
              <a:buChar char="q"/>
            </a:pPr>
            <a:r>
              <a:rPr lang="en-US" sz="2000" dirty="0"/>
              <a:t>view accounts created by users.  </a:t>
            </a:r>
          </a:p>
          <a:p>
            <a:pPr lvl="1">
              <a:buFont typeface="Wingdings" panose="05000000000000000000" pitchFamily="2" charset="2"/>
              <a:buChar char="q"/>
            </a:pPr>
            <a:endParaRPr lang="en-US" sz="2000" dirty="0"/>
          </a:p>
        </p:txBody>
      </p:sp>
      <p:sp>
        <p:nvSpPr>
          <p:cNvPr id="5" name="Title 1"/>
          <p:cNvSpPr>
            <a:spLocks noGrp="1"/>
          </p:cNvSpPr>
          <p:nvPr>
            <p:ph type="title"/>
          </p:nvPr>
        </p:nvSpPr>
        <p:spPr/>
        <p:txBody>
          <a:bodyPr/>
          <a:lstStyle/>
          <a:p>
            <a:pPr algn="ctr"/>
            <a:r>
              <a:rPr lang="en-US" sz="3200" dirty="0"/>
              <a:t>Online Shopping System</a:t>
            </a:r>
            <a:br>
              <a:rPr lang="en-US" sz="3200" dirty="0"/>
            </a:br>
            <a:r>
              <a:rPr lang="en-US" sz="3200" dirty="0"/>
              <a:t>Stakeholders and associated use cases</a:t>
            </a:r>
          </a:p>
        </p:txBody>
      </p:sp>
    </p:spTree>
    <p:extLst>
      <p:ext uri="{BB962C8B-B14F-4D97-AF65-F5344CB8AC3E}">
        <p14:creationId xmlns:p14="http://schemas.microsoft.com/office/powerpoint/2010/main" val="160604402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Transfer-data use case</a:t>
            </a:r>
            <a:r>
              <a:rPr lang="en-GB" dirty="0"/>
              <a:t> </a:t>
            </a:r>
            <a:endParaRPr lang="en-US" dirty="0"/>
          </a:p>
        </p:txBody>
      </p:sp>
      <p:sp>
        <p:nvSpPr>
          <p:cNvPr id="3" name="Content Placeholder 2"/>
          <p:cNvSpPr>
            <a:spLocks noGrp="1"/>
          </p:cNvSpPr>
          <p:nvPr>
            <p:ph idx="1"/>
          </p:nvPr>
        </p:nvSpPr>
        <p:spPr>
          <a:xfrm>
            <a:off x="1173163" y="1981200"/>
            <a:ext cx="7772400" cy="533400"/>
          </a:xfrm>
        </p:spPr>
        <p:txBody>
          <a:bodyPr/>
          <a:lstStyle/>
          <a:p>
            <a:r>
              <a:rPr lang="en-US" dirty="0"/>
              <a:t>A use case in the MHC-PMS</a:t>
            </a:r>
          </a:p>
          <a:p>
            <a:pPr marL="0" indent="0">
              <a:buNone/>
            </a:pPr>
            <a:endParaRPr lang="en-US" dirty="0"/>
          </a:p>
        </p:txBody>
      </p:sp>
      <p:pic>
        <p:nvPicPr>
          <p:cNvPr id="5" name="Picture 4"/>
          <p:cNvPicPr>
            <a:picLocks noChangeAspect="1"/>
          </p:cNvPicPr>
          <p:nvPr/>
        </p:nvPicPr>
        <p:blipFill>
          <a:blip r:embed="rId2" cstate="print"/>
          <a:stretch>
            <a:fillRect/>
          </a:stretch>
        </p:blipFill>
        <p:spPr>
          <a:xfrm>
            <a:off x="1066800" y="3074390"/>
            <a:ext cx="6477000" cy="1161704"/>
          </a:xfrm>
          <a:prstGeom prst="rect">
            <a:avLst/>
          </a:prstGeom>
        </p:spPr>
      </p:pic>
    </p:spTree>
    <p:extLst>
      <p:ext uri="{BB962C8B-B14F-4D97-AF65-F5344CB8AC3E}">
        <p14:creationId xmlns:p14="http://schemas.microsoft.com/office/powerpoint/2010/main" val="113075972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Tabular description of the ‘Transfer data’ use-case</a:t>
            </a:r>
            <a:r>
              <a:rPr lang="en-GB" dirty="0"/>
              <a:t> </a:t>
            </a:r>
            <a:endParaRPr lang="en-US" dirty="0"/>
          </a:p>
        </p:txBody>
      </p:sp>
      <p:graphicFrame>
        <p:nvGraphicFramePr>
          <p:cNvPr id="4" name="Table 3"/>
          <p:cNvGraphicFramePr>
            <a:graphicFrameLocks noGrp="1"/>
          </p:cNvGraphicFramePr>
          <p:nvPr/>
        </p:nvGraphicFramePr>
        <p:xfrm>
          <a:off x="909638" y="1866900"/>
          <a:ext cx="7205662" cy="4051935"/>
        </p:xfrm>
        <a:graphic>
          <a:graphicData uri="http://schemas.openxmlformats.org/drawingml/2006/table">
            <a:tbl>
              <a:tblPr/>
              <a:tblGrid>
                <a:gridCol w="1935162">
                  <a:extLst>
                    <a:ext uri="{9D8B030D-6E8A-4147-A177-3AD203B41FA5}">
                      <a16:colId xmlns:a16="http://schemas.microsoft.com/office/drawing/2014/main" xmlns="" val="20000"/>
                    </a:ext>
                  </a:extLst>
                </a:gridCol>
                <a:gridCol w="5270500">
                  <a:extLst>
                    <a:ext uri="{9D8B030D-6E8A-4147-A177-3AD203B41FA5}">
                      <a16:colId xmlns:a16="http://schemas.microsoft.com/office/drawing/2014/main" xmlns="" val="20001"/>
                    </a:ext>
                  </a:extLst>
                </a:gridCol>
              </a:tblGrid>
              <a:tr h="371475">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charset="0"/>
                          <a:ea typeface="Times New Roman" charset="0"/>
                        </a:rPr>
                        <a:t>MHC-PMS: Transfer data</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hMerge="1">
                  <a:txBody>
                    <a:bodyPr/>
                    <a:lstStyle/>
                    <a:p>
                      <a:endParaRPr lang="en-US"/>
                    </a:p>
                  </a:txBody>
                  <a:tcPr/>
                </a:tc>
                <a:extLst>
                  <a:ext uri="{0D108BD9-81ED-4DB2-BD59-A6C34878D82A}">
                    <a16:rowId xmlns:a16="http://schemas.microsoft.com/office/drawing/2014/main" xmlns="" val="10000"/>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Actors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Medical receptionist, patient records system (PRS)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xmlns="" val="10001"/>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Description</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A receptionist may transfer data from the MHC-PMS to a general patient record database that is maintained by a health authority. The information transferred may either be updated personal information (address, phone number, etc.) or a summary of the patient’s diagnosis and treatment.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xmlns="" val="10002"/>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Data</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Patient’s personal information, treatment summary</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xmlns="" val="10003"/>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Stimulus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User command issued by medical receptionist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xmlns="" val="10004"/>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Response</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Confirmation that PRS has been updated</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xmlns="" val="10005"/>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Comments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receptionist must have appropriate security permissions to access the patient information and the PRS.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xmlns="" val="10006"/>
                  </a:ext>
                </a:extLst>
              </a:tr>
            </a:tbl>
          </a:graphicData>
        </a:graphic>
      </p:graphicFrame>
    </p:spTree>
    <p:extLst>
      <p:ext uri="{BB962C8B-B14F-4D97-AF65-F5344CB8AC3E}">
        <p14:creationId xmlns:p14="http://schemas.microsoft.com/office/powerpoint/2010/main" val="308324489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Use cases in the MHC-PMS involving the role ‘Medical Receptionist’</a:t>
            </a:r>
            <a:r>
              <a:rPr lang="en-GB" sz="2800" dirty="0"/>
              <a:t> </a:t>
            </a:r>
            <a:endParaRPr lang="en-US" sz="2800" dirty="0"/>
          </a:p>
        </p:txBody>
      </p:sp>
      <p:pic>
        <p:nvPicPr>
          <p:cNvPr id="3" name="Picture 2"/>
          <p:cNvPicPr>
            <a:picLocks noChangeAspect="1"/>
          </p:cNvPicPr>
          <p:nvPr/>
        </p:nvPicPr>
        <p:blipFill>
          <a:blip r:embed="rId2" cstate="print"/>
          <a:stretch>
            <a:fillRect/>
          </a:stretch>
        </p:blipFill>
        <p:spPr>
          <a:xfrm>
            <a:off x="2362200" y="1600199"/>
            <a:ext cx="4038600" cy="4462761"/>
          </a:xfrm>
          <a:prstGeom prst="rect">
            <a:avLst/>
          </a:prstGeom>
        </p:spPr>
      </p:pic>
    </p:spTree>
    <p:extLst>
      <p:ext uri="{BB962C8B-B14F-4D97-AF65-F5344CB8AC3E}">
        <p14:creationId xmlns:p14="http://schemas.microsoft.com/office/powerpoint/2010/main" val="368174729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cases for the MHC-PMS</a:t>
            </a:r>
            <a:r>
              <a:rPr lang="en-GB" dirty="0"/>
              <a:t> </a:t>
            </a:r>
            <a:endParaRPr lang="en-US" dirty="0"/>
          </a:p>
        </p:txBody>
      </p:sp>
      <p:pic>
        <p:nvPicPr>
          <p:cNvPr id="4" name="Picture 3" descr="4.15 UseCases.eps"/>
          <p:cNvPicPr>
            <a:picLocks noChangeAspect="1"/>
          </p:cNvPicPr>
          <p:nvPr/>
        </p:nvPicPr>
        <p:blipFill>
          <a:blip r:embed="rId2" cstate="print"/>
          <a:stretch>
            <a:fillRect/>
          </a:stretch>
        </p:blipFill>
        <p:spPr>
          <a:xfrm>
            <a:off x="1143000" y="1600200"/>
            <a:ext cx="6555509" cy="3886200"/>
          </a:xfrm>
          <a:prstGeom prst="rect">
            <a:avLst/>
          </a:prstGeom>
        </p:spPr>
      </p:pic>
    </p:spTree>
    <p:extLst>
      <p:ext uri="{BB962C8B-B14F-4D97-AF65-F5344CB8AC3E}">
        <p14:creationId xmlns:p14="http://schemas.microsoft.com/office/powerpoint/2010/main" val="105296889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Actor and Use Case Diagram</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1613" y="1814478"/>
            <a:ext cx="6860773" cy="4097406"/>
          </a:xfrm>
        </p:spPr>
      </p:pic>
    </p:spTree>
    <p:extLst>
      <p:ext uri="{BB962C8B-B14F-4D97-AF65-F5344CB8AC3E}">
        <p14:creationId xmlns:p14="http://schemas.microsoft.com/office/powerpoint/2010/main" val="115852126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Cases and Actors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00" y="2362200"/>
            <a:ext cx="5410200" cy="838200"/>
          </a:xfr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3749501"/>
            <a:ext cx="7414946" cy="746299"/>
          </a:xfrm>
          <a:prstGeom prst="rect">
            <a:avLst/>
          </a:prstGeom>
        </p:spPr>
      </p:pic>
    </p:spTree>
    <p:extLst>
      <p:ext uri="{BB962C8B-B14F-4D97-AF65-F5344CB8AC3E}">
        <p14:creationId xmlns:p14="http://schemas.microsoft.com/office/powerpoint/2010/main" val="160661518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 Diagram : Online Hotel Reservation</a:t>
            </a:r>
          </a:p>
        </p:txBody>
      </p:sp>
      <p:pic>
        <p:nvPicPr>
          <p:cNvPr id="4" name="Picture 3"/>
          <p:cNvPicPr>
            <a:picLocks noChangeAspect="1"/>
          </p:cNvPicPr>
          <p:nvPr/>
        </p:nvPicPr>
        <p:blipFill>
          <a:blip r:embed="rId2" cstate="print"/>
          <a:stretch>
            <a:fillRect/>
          </a:stretch>
        </p:blipFill>
        <p:spPr>
          <a:xfrm>
            <a:off x="457200" y="2438400"/>
            <a:ext cx="7995912" cy="2531100"/>
          </a:xfrm>
          <a:prstGeom prst="rect">
            <a:avLst/>
          </a:prstGeom>
        </p:spPr>
      </p:pic>
    </p:spTree>
    <p:extLst>
      <p:ext uri="{BB962C8B-B14F-4D97-AF65-F5344CB8AC3E}">
        <p14:creationId xmlns:p14="http://schemas.microsoft.com/office/powerpoint/2010/main" val="353640443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Include and extends</a:t>
            </a:r>
          </a:p>
        </p:txBody>
      </p:sp>
      <p:sp>
        <p:nvSpPr>
          <p:cNvPr id="3" name="Content Placeholder 2"/>
          <p:cNvSpPr>
            <a:spLocks noGrp="1"/>
          </p:cNvSpPr>
          <p:nvPr>
            <p:ph idx="1"/>
          </p:nvPr>
        </p:nvSpPr>
        <p:spPr/>
        <p:txBody>
          <a:bodyPr/>
          <a:lstStyle/>
          <a:p>
            <a:r>
              <a:rPr lang="en-US" dirty="0"/>
              <a:t>Include is used for use case that are in the flow of events of main use case.</a:t>
            </a:r>
          </a:p>
          <a:p>
            <a:r>
              <a:rPr lang="en-US" dirty="0"/>
              <a:t>Extends is used for exceptional conditions.</a:t>
            </a:r>
          </a:p>
        </p:txBody>
      </p:sp>
    </p:spTree>
    <p:extLst>
      <p:ext uri="{BB962C8B-B14F-4D97-AF65-F5344CB8AC3E}">
        <p14:creationId xmlns:p14="http://schemas.microsoft.com/office/powerpoint/2010/main" val="152166493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228600"/>
            <a:ext cx="7772400" cy="1143000"/>
          </a:xfrm>
        </p:spPr>
        <p:txBody>
          <a:bodyPr/>
          <a:lstStyle/>
          <a:p>
            <a:r>
              <a:rPr lang="en-US" sz="4000" dirty="0"/>
              <a:t>Use case “&lt;&lt;include&gt;&gt;” example</a:t>
            </a:r>
          </a:p>
        </p:txBody>
      </p:sp>
      <p:pic>
        <p:nvPicPr>
          <p:cNvPr id="3074" name="Picture 2" descr="UML include relationship example - Deposit Funds and Withdraw Cash use cases include Customer Authentication use cas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62199" y="2209800"/>
            <a:ext cx="5067729" cy="2566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600890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Relationship Between Use Cases &lt;&lt;extends&gt;&gt;</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524000"/>
            <a:ext cx="8348164" cy="4648200"/>
          </a:xfrm>
        </p:spPr>
      </p:pic>
    </p:spTree>
    <p:extLst>
      <p:ext uri="{BB962C8B-B14F-4D97-AF65-F5344CB8AC3E}">
        <p14:creationId xmlns:p14="http://schemas.microsoft.com/office/powerpoint/2010/main" val="371602369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dirty="0"/>
              <a:t>&lt;&lt;include&gt;&gt; and &lt;&lt;extend&gt;&gt;</a:t>
            </a: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09600" y="1195039"/>
            <a:ext cx="6773863" cy="4330830"/>
          </a:xfrm>
        </p:spPr>
      </p:pic>
    </p:spTree>
    <p:extLst>
      <p:ext uri="{BB962C8B-B14F-4D97-AF65-F5344CB8AC3E}">
        <p14:creationId xmlns:p14="http://schemas.microsoft.com/office/powerpoint/2010/main" val="242478894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8200957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0"/>
            <a:ext cx="7772400" cy="1143000"/>
          </a:xfrm>
        </p:spPr>
        <p:txBody>
          <a:bodyPr/>
          <a:lstStyle/>
          <a:p>
            <a:r>
              <a:rPr lang="en-US" dirty="0"/>
              <a:t>USE Case: Online Auction</a:t>
            </a:r>
          </a:p>
        </p:txBody>
      </p:sp>
      <p:pic>
        <p:nvPicPr>
          <p:cNvPr id="2050" name="Picture 2" descr="use case example of ebay, next imag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2850" y="1600200"/>
            <a:ext cx="6882466" cy="419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970545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Sequence Diagrams</a:t>
            </a:r>
          </a:p>
        </p:txBody>
      </p:sp>
      <p:sp>
        <p:nvSpPr>
          <p:cNvPr id="3" name="Content Placeholder 2"/>
          <p:cNvSpPr>
            <a:spLocks noGrp="1"/>
          </p:cNvSpPr>
          <p:nvPr>
            <p:ph idx="1"/>
          </p:nvPr>
        </p:nvSpPr>
        <p:spPr/>
        <p:txBody>
          <a:bodyPr/>
          <a:lstStyle/>
          <a:p>
            <a:pPr algn="just"/>
            <a:r>
              <a:rPr lang="en-US" dirty="0"/>
              <a:t>Sequence diagrams are part of the UML and are used to model the interactions between the actors and the objects within a system.</a:t>
            </a:r>
          </a:p>
          <a:p>
            <a:pPr algn="just"/>
            <a:r>
              <a:rPr lang="en-US" dirty="0"/>
              <a:t>A sequence diagram shows the sequence of interactions that take place during a particular use case.</a:t>
            </a:r>
          </a:p>
        </p:txBody>
      </p:sp>
    </p:spTree>
    <p:extLst>
      <p:ext uri="{BB962C8B-B14F-4D97-AF65-F5344CB8AC3E}">
        <p14:creationId xmlns:p14="http://schemas.microsoft.com/office/powerpoint/2010/main" val="19792837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Sequence Diagram Key Parts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599" y="1673434"/>
            <a:ext cx="8002739" cy="4422566"/>
          </a:xfrm>
        </p:spPr>
      </p:pic>
    </p:spTree>
    <p:extLst>
      <p:ext uri="{BB962C8B-B14F-4D97-AF65-F5344CB8AC3E}">
        <p14:creationId xmlns:p14="http://schemas.microsoft.com/office/powerpoint/2010/main" val="16340131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S.D (Make a Phone Call)</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5800" y="1676400"/>
            <a:ext cx="7772400" cy="4508702"/>
          </a:xfrm>
        </p:spPr>
      </p:pic>
    </p:spTree>
    <p:extLst>
      <p:ext uri="{BB962C8B-B14F-4D97-AF65-F5344CB8AC3E}">
        <p14:creationId xmlns:p14="http://schemas.microsoft.com/office/powerpoint/2010/main" val="6356503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1F6470AD-C99B-49CA-98D2-E818BF8FE1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887015"/>
            <a:ext cx="6553200" cy="4858015"/>
          </a:xfrm>
          <a:prstGeom prst="rect">
            <a:avLst/>
          </a:prstGeom>
        </p:spPr>
      </p:pic>
    </p:spTree>
    <p:extLst>
      <p:ext uri="{BB962C8B-B14F-4D97-AF65-F5344CB8AC3E}">
        <p14:creationId xmlns:p14="http://schemas.microsoft.com/office/powerpoint/2010/main" val="34489085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1633537" y="261937"/>
            <a:ext cx="5876925" cy="6334125"/>
          </a:xfrm>
          <a:prstGeom prst="rect">
            <a:avLst/>
          </a:prstGeom>
        </p:spPr>
      </p:pic>
      <p:sp>
        <p:nvSpPr>
          <p:cNvPr id="7" name="TextBox 6"/>
          <p:cNvSpPr txBox="1"/>
          <p:nvPr/>
        </p:nvSpPr>
        <p:spPr>
          <a:xfrm>
            <a:off x="6553200" y="457200"/>
            <a:ext cx="1905000" cy="830997"/>
          </a:xfrm>
          <a:prstGeom prst="rect">
            <a:avLst/>
          </a:prstGeom>
          <a:noFill/>
        </p:spPr>
        <p:txBody>
          <a:bodyPr wrap="square" rtlCol="0">
            <a:spAutoFit/>
          </a:bodyPr>
          <a:lstStyle/>
          <a:p>
            <a:r>
              <a:rPr lang="en-US" sz="2400" b="1" dirty="0"/>
              <a:t>ATM Transaction</a:t>
            </a:r>
          </a:p>
        </p:txBody>
      </p:sp>
    </p:spTree>
    <p:extLst>
      <p:ext uri="{BB962C8B-B14F-4D97-AF65-F5344CB8AC3E}">
        <p14:creationId xmlns:p14="http://schemas.microsoft.com/office/powerpoint/2010/main" val="42500005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Sequence Diagram Tutorial </a:t>
            </a:r>
          </a:p>
        </p:txBody>
      </p:sp>
      <p:sp>
        <p:nvSpPr>
          <p:cNvPr id="3" name="Content Placeholder 2"/>
          <p:cNvSpPr>
            <a:spLocks noGrp="1"/>
          </p:cNvSpPr>
          <p:nvPr>
            <p:ph idx="1"/>
          </p:nvPr>
        </p:nvSpPr>
        <p:spPr/>
        <p:txBody>
          <a:bodyPr/>
          <a:lstStyle/>
          <a:p>
            <a:endParaRPr lang="en-US" dirty="0"/>
          </a:p>
          <a:p>
            <a:r>
              <a:rPr lang="en-US" dirty="0">
                <a:hlinkClick r:id="rId2"/>
              </a:rPr>
              <a:t>https://www.smartdraw.com/sequence-diagram/</a:t>
            </a:r>
            <a:endParaRPr lang="en-US" dirty="0"/>
          </a:p>
          <a:p>
            <a:endParaRPr lang="en-US" dirty="0"/>
          </a:p>
          <a:p>
            <a:r>
              <a:rPr lang="en-US" dirty="0"/>
              <a:t>https://www.youtube.com/watch?v=zLUOxlV2FGc</a:t>
            </a:r>
          </a:p>
        </p:txBody>
      </p:sp>
    </p:spTree>
    <p:extLst>
      <p:ext uri="{BB962C8B-B14F-4D97-AF65-F5344CB8AC3E}">
        <p14:creationId xmlns:p14="http://schemas.microsoft.com/office/powerpoint/2010/main" val="38866266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Structural models</a:t>
            </a:r>
          </a:p>
        </p:txBody>
      </p:sp>
      <p:sp>
        <p:nvSpPr>
          <p:cNvPr id="3" name="Content Placeholder 2"/>
          <p:cNvSpPr>
            <a:spLocks noGrp="1"/>
          </p:cNvSpPr>
          <p:nvPr>
            <p:ph idx="1"/>
          </p:nvPr>
        </p:nvSpPr>
        <p:spPr>
          <a:xfrm>
            <a:off x="1066800" y="1752600"/>
            <a:ext cx="7772400" cy="4114800"/>
          </a:xfrm>
        </p:spPr>
        <p:txBody>
          <a:bodyPr/>
          <a:lstStyle/>
          <a:p>
            <a:r>
              <a:rPr lang="en-US" sz="2400" dirty="0"/>
              <a:t>Structural models of software display the organization of a system in terms of the </a:t>
            </a:r>
            <a:r>
              <a:rPr lang="en-US" sz="2400" b="1" dirty="0"/>
              <a:t>components</a:t>
            </a:r>
            <a:r>
              <a:rPr lang="en-US" sz="2400" dirty="0"/>
              <a:t> that make up that system and their </a:t>
            </a:r>
            <a:r>
              <a:rPr lang="en-US" sz="2400" b="1" dirty="0"/>
              <a:t>relationships</a:t>
            </a:r>
            <a:r>
              <a:rPr lang="en-US" sz="2400" dirty="0"/>
              <a:t>. </a:t>
            </a:r>
          </a:p>
          <a:p>
            <a:r>
              <a:rPr lang="en-US" sz="2400" dirty="0"/>
              <a:t>You create structural models of a system when you are discussing and designing the system architecture. </a:t>
            </a:r>
          </a:p>
          <a:p>
            <a:endParaRPr lang="en-US" sz="2400" dirty="0"/>
          </a:p>
        </p:txBody>
      </p:sp>
    </p:spTree>
    <p:extLst>
      <p:ext uri="{BB962C8B-B14F-4D97-AF65-F5344CB8AC3E}">
        <p14:creationId xmlns:p14="http://schemas.microsoft.com/office/powerpoint/2010/main" val="607190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Class Diagram</a:t>
            </a:r>
          </a:p>
        </p:txBody>
      </p:sp>
      <p:sp>
        <p:nvSpPr>
          <p:cNvPr id="3" name="Content Placeholder 2"/>
          <p:cNvSpPr>
            <a:spLocks noGrp="1"/>
          </p:cNvSpPr>
          <p:nvPr>
            <p:ph idx="1"/>
          </p:nvPr>
        </p:nvSpPr>
        <p:spPr/>
        <p:txBody>
          <a:bodyPr/>
          <a:lstStyle/>
          <a:p>
            <a:r>
              <a:rPr lang="en-US" dirty="0"/>
              <a:t>Class diagram shows:</a:t>
            </a:r>
          </a:p>
          <a:p>
            <a:pPr lvl="1">
              <a:buFont typeface="Wingdings" panose="05000000000000000000" pitchFamily="2" charset="2"/>
              <a:buChar char="Ø"/>
            </a:pPr>
            <a:r>
              <a:rPr lang="en-US" sz="2100" dirty="0"/>
              <a:t>The system's classes</a:t>
            </a:r>
          </a:p>
          <a:p>
            <a:pPr lvl="1">
              <a:buFont typeface="Wingdings" panose="05000000000000000000" pitchFamily="2" charset="2"/>
              <a:buChar char="Ø"/>
            </a:pPr>
            <a:r>
              <a:rPr lang="en-US" sz="2100" dirty="0"/>
              <a:t>their attributes</a:t>
            </a:r>
          </a:p>
          <a:p>
            <a:pPr lvl="1">
              <a:buFont typeface="Wingdings" panose="05000000000000000000" pitchFamily="2" charset="2"/>
              <a:buChar char="Ø"/>
            </a:pPr>
            <a:r>
              <a:rPr lang="en-US" sz="2100" dirty="0"/>
              <a:t>operations (or methods)</a:t>
            </a:r>
          </a:p>
          <a:p>
            <a:pPr lvl="1">
              <a:buFont typeface="Wingdings" panose="05000000000000000000" pitchFamily="2" charset="2"/>
              <a:buChar char="Ø"/>
            </a:pPr>
            <a:r>
              <a:rPr lang="en-US" sz="2100" dirty="0"/>
              <a:t>and the relationships among objects. </a:t>
            </a:r>
          </a:p>
        </p:txBody>
      </p:sp>
    </p:spTree>
    <p:extLst>
      <p:ext uri="{BB962C8B-B14F-4D97-AF65-F5344CB8AC3E}">
        <p14:creationId xmlns:p14="http://schemas.microsoft.com/office/powerpoint/2010/main" val="3682813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Class diagram usability</a:t>
            </a:r>
          </a:p>
        </p:txBody>
      </p:sp>
      <p:sp>
        <p:nvSpPr>
          <p:cNvPr id="3" name="Content Placeholder 2"/>
          <p:cNvSpPr>
            <a:spLocks noGrp="1"/>
          </p:cNvSpPr>
          <p:nvPr>
            <p:ph idx="1"/>
          </p:nvPr>
        </p:nvSpPr>
        <p:spPr/>
        <p:txBody>
          <a:bodyPr/>
          <a:lstStyle/>
          <a:p>
            <a:r>
              <a:rPr lang="en-US" dirty="0"/>
              <a:t>In the </a:t>
            </a:r>
            <a:r>
              <a:rPr lang="en-US" b="1" dirty="0"/>
              <a:t>design of a system</a:t>
            </a:r>
            <a:r>
              <a:rPr lang="en-US" dirty="0"/>
              <a:t>, a number of classes are identified and grouped together in a class diagram that helps to determine the static relations between them. </a:t>
            </a:r>
          </a:p>
          <a:p>
            <a:r>
              <a:rPr lang="en-US" dirty="0"/>
              <a:t>With </a:t>
            </a:r>
            <a:r>
              <a:rPr lang="en-US" b="1" dirty="0"/>
              <a:t>detailed modelling</a:t>
            </a:r>
            <a:r>
              <a:rPr lang="en-US" dirty="0"/>
              <a:t>, the classes of the conceptual design are often split into a number of subclasses. </a:t>
            </a:r>
          </a:p>
        </p:txBody>
      </p:sp>
    </p:spTree>
    <p:extLst>
      <p:ext uri="{BB962C8B-B14F-4D97-AF65-F5344CB8AC3E}">
        <p14:creationId xmlns:p14="http://schemas.microsoft.com/office/powerpoint/2010/main" val="34138736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kumimoji="0" lang="en-US" altLang="en-US" b="1" i="0" u="none" strike="noStrike" cap="none" normalizeH="0" baseline="0" dirty="0">
                <a:ln>
                  <a:noFill/>
                </a:ln>
                <a:solidFill>
                  <a:srgbClr val="000000"/>
                </a:solidFill>
                <a:effectLst/>
                <a:latin typeface="Arial" panose="020B0604020202020204" pitchFamily="34" charset="0"/>
              </a:rPr>
              <a:t>Class Visibility in UML</a:t>
            </a:r>
            <a:endParaRPr lang="en-US" dirty="0"/>
          </a:p>
        </p:txBody>
      </p:sp>
      <p:graphicFrame>
        <p:nvGraphicFramePr>
          <p:cNvPr id="4" name="Content Placeholder 3"/>
          <p:cNvGraphicFramePr>
            <a:graphicFrameLocks noGrp="1"/>
          </p:cNvGraphicFramePr>
          <p:nvPr>
            <p:ph idx="1"/>
          </p:nvPr>
        </p:nvGraphicFramePr>
        <p:xfrm>
          <a:off x="284788" y="2847675"/>
          <a:ext cx="4344361" cy="2170592"/>
        </p:xfrm>
        <a:graphic>
          <a:graphicData uri="http://schemas.openxmlformats.org/drawingml/2006/table">
            <a:tbl>
              <a:tblPr/>
              <a:tblGrid>
                <a:gridCol w="431366">
                  <a:extLst>
                    <a:ext uri="{9D8B030D-6E8A-4147-A177-3AD203B41FA5}">
                      <a16:colId xmlns:a16="http://schemas.microsoft.com/office/drawing/2014/main" xmlns="" val="20000"/>
                    </a:ext>
                  </a:extLst>
                </a:gridCol>
                <a:gridCol w="3912995">
                  <a:extLst>
                    <a:ext uri="{9D8B030D-6E8A-4147-A177-3AD203B41FA5}">
                      <a16:colId xmlns:a16="http://schemas.microsoft.com/office/drawing/2014/main" xmlns="" val="20001"/>
                    </a:ext>
                  </a:extLst>
                </a:gridCol>
              </a:tblGrid>
              <a:tr h="418823">
                <a:tc>
                  <a:txBody>
                    <a:bodyPr/>
                    <a:lstStyle/>
                    <a:p>
                      <a:pPr algn="ctr"/>
                      <a:r>
                        <a:rPr lang="en-US" sz="1400" dirty="0">
                          <a:effectLst/>
                        </a:rPr>
                        <a:t>+</a:t>
                      </a:r>
                    </a:p>
                  </a:txBody>
                  <a:tcPr marL="68580" marR="68580" marT="34290" marB="34290" anchor="ctr">
                    <a:lnL>
                      <a:noFill/>
                    </a:lnL>
                    <a:lnR>
                      <a:noFill/>
                    </a:lnR>
                    <a:lnT>
                      <a:noFill/>
                    </a:lnT>
                    <a:lnB>
                      <a:noFill/>
                    </a:lnB>
                  </a:tcPr>
                </a:tc>
                <a:tc>
                  <a:txBody>
                    <a:bodyPr/>
                    <a:lstStyle/>
                    <a:p>
                      <a:r>
                        <a:rPr lang="en-US" sz="1400">
                          <a:effectLst/>
                        </a:rPr>
                        <a:t>Public </a:t>
                      </a:r>
                    </a:p>
                  </a:txBody>
                  <a:tcPr marL="68580" marR="68580" marT="34290" marB="34290" anchor="ctr">
                    <a:lnL>
                      <a:noFill/>
                    </a:lnL>
                    <a:lnR>
                      <a:noFill/>
                    </a:lnR>
                    <a:lnT>
                      <a:noFill/>
                    </a:lnT>
                    <a:lnB>
                      <a:noFill/>
                    </a:lnB>
                  </a:tcPr>
                </a:tc>
                <a:extLst>
                  <a:ext uri="{0D108BD9-81ED-4DB2-BD59-A6C34878D82A}">
                    <a16:rowId xmlns:a16="http://schemas.microsoft.com/office/drawing/2014/main" xmlns="" val="10000"/>
                  </a:ext>
                </a:extLst>
              </a:tr>
              <a:tr h="418823">
                <a:tc>
                  <a:txBody>
                    <a:bodyPr/>
                    <a:lstStyle/>
                    <a:p>
                      <a:pPr algn="ctr"/>
                      <a:r>
                        <a:rPr lang="en-US" sz="1400">
                          <a:effectLst/>
                        </a:rPr>
                        <a:t>-</a:t>
                      </a:r>
                    </a:p>
                  </a:txBody>
                  <a:tcPr marL="68580" marR="68580" marT="34290" marB="34290" anchor="ctr">
                    <a:lnL>
                      <a:noFill/>
                    </a:lnL>
                    <a:lnR>
                      <a:noFill/>
                    </a:lnR>
                    <a:lnT>
                      <a:noFill/>
                    </a:lnT>
                    <a:lnB>
                      <a:noFill/>
                    </a:lnB>
                  </a:tcPr>
                </a:tc>
                <a:tc>
                  <a:txBody>
                    <a:bodyPr/>
                    <a:lstStyle/>
                    <a:p>
                      <a:r>
                        <a:rPr lang="en-US" sz="1400" dirty="0">
                          <a:effectLst/>
                        </a:rPr>
                        <a:t>Private </a:t>
                      </a:r>
                    </a:p>
                  </a:txBody>
                  <a:tcPr marL="68580" marR="68580" marT="34290" marB="34290" anchor="ctr">
                    <a:lnL>
                      <a:noFill/>
                    </a:lnL>
                    <a:lnR>
                      <a:noFill/>
                    </a:lnR>
                    <a:lnT>
                      <a:noFill/>
                    </a:lnT>
                    <a:lnB>
                      <a:noFill/>
                    </a:lnB>
                  </a:tcPr>
                </a:tc>
                <a:extLst>
                  <a:ext uri="{0D108BD9-81ED-4DB2-BD59-A6C34878D82A}">
                    <a16:rowId xmlns:a16="http://schemas.microsoft.com/office/drawing/2014/main" xmlns="" val="10001"/>
                  </a:ext>
                </a:extLst>
              </a:tr>
              <a:tr h="418823">
                <a:tc>
                  <a:txBody>
                    <a:bodyPr/>
                    <a:lstStyle/>
                    <a:p>
                      <a:pPr algn="ctr"/>
                      <a:r>
                        <a:rPr lang="en-US" sz="1400">
                          <a:effectLst/>
                        </a:rPr>
                        <a:t>#</a:t>
                      </a:r>
                    </a:p>
                  </a:txBody>
                  <a:tcPr marL="68580" marR="68580" marT="34290" marB="34290" anchor="ctr">
                    <a:lnL>
                      <a:noFill/>
                    </a:lnL>
                    <a:lnR>
                      <a:noFill/>
                    </a:lnR>
                    <a:lnT>
                      <a:noFill/>
                    </a:lnT>
                    <a:lnB>
                      <a:noFill/>
                    </a:lnB>
                  </a:tcPr>
                </a:tc>
                <a:tc>
                  <a:txBody>
                    <a:bodyPr/>
                    <a:lstStyle/>
                    <a:p>
                      <a:r>
                        <a:rPr lang="en-US" sz="1400" dirty="0">
                          <a:effectLst/>
                        </a:rPr>
                        <a:t>Protected </a:t>
                      </a:r>
                    </a:p>
                  </a:txBody>
                  <a:tcPr marL="68580" marR="68580" marT="34290" marB="34290" anchor="ctr">
                    <a:lnL>
                      <a:noFill/>
                    </a:lnL>
                    <a:lnR>
                      <a:noFill/>
                    </a:lnR>
                    <a:lnT>
                      <a:noFill/>
                    </a:lnT>
                    <a:lnB>
                      <a:noFill/>
                    </a:lnB>
                  </a:tcPr>
                </a:tc>
                <a:extLst>
                  <a:ext uri="{0D108BD9-81ED-4DB2-BD59-A6C34878D82A}">
                    <a16:rowId xmlns:a16="http://schemas.microsoft.com/office/drawing/2014/main" xmlns="" val="10002"/>
                  </a:ext>
                </a:extLst>
              </a:tr>
              <a:tr h="418823">
                <a:tc>
                  <a:txBody>
                    <a:bodyPr/>
                    <a:lstStyle/>
                    <a:p>
                      <a:pPr algn="ctr"/>
                      <a:r>
                        <a:rPr lang="en-US" sz="1400">
                          <a:effectLst/>
                        </a:rPr>
                        <a:t>/</a:t>
                      </a:r>
                    </a:p>
                  </a:txBody>
                  <a:tcPr marL="68580" marR="68580" marT="34290" marB="34290" anchor="ctr">
                    <a:lnL>
                      <a:noFill/>
                    </a:lnL>
                    <a:lnR>
                      <a:noFill/>
                    </a:lnR>
                    <a:lnT>
                      <a:noFill/>
                    </a:lnT>
                    <a:lnB>
                      <a:noFill/>
                    </a:lnB>
                  </a:tcPr>
                </a:tc>
                <a:tc>
                  <a:txBody>
                    <a:bodyPr/>
                    <a:lstStyle/>
                    <a:p>
                      <a:r>
                        <a:rPr lang="en-US" sz="1400" dirty="0">
                          <a:effectLst/>
                        </a:rPr>
                        <a:t>Derived (can be combined with one of the others) </a:t>
                      </a:r>
                    </a:p>
                  </a:txBody>
                  <a:tcPr marL="68580" marR="68580" marT="34290" marB="34290" anchor="ctr">
                    <a:lnL>
                      <a:noFill/>
                    </a:lnL>
                    <a:lnR>
                      <a:noFill/>
                    </a:lnR>
                    <a:lnT>
                      <a:noFill/>
                    </a:lnT>
                    <a:lnB>
                      <a:noFill/>
                    </a:lnB>
                  </a:tcPr>
                </a:tc>
                <a:extLst>
                  <a:ext uri="{0D108BD9-81ED-4DB2-BD59-A6C34878D82A}">
                    <a16:rowId xmlns:a16="http://schemas.microsoft.com/office/drawing/2014/main" xmlns="" val="10003"/>
                  </a:ext>
                </a:extLst>
              </a:tr>
              <a:tr h="418823">
                <a:tc>
                  <a:txBody>
                    <a:bodyPr/>
                    <a:lstStyle/>
                    <a:p>
                      <a:pPr algn="ctr"/>
                      <a:r>
                        <a:rPr lang="en-US" sz="1400">
                          <a:effectLst/>
                        </a:rPr>
                        <a:t>~</a:t>
                      </a:r>
                    </a:p>
                  </a:txBody>
                  <a:tcPr marL="68580" marR="68580" marT="34290" marB="34290" anchor="ctr">
                    <a:lnL>
                      <a:noFill/>
                    </a:lnL>
                    <a:lnR>
                      <a:noFill/>
                    </a:lnR>
                    <a:lnT>
                      <a:noFill/>
                    </a:lnT>
                    <a:lnB>
                      <a:noFill/>
                    </a:lnB>
                  </a:tcPr>
                </a:tc>
                <a:tc>
                  <a:txBody>
                    <a:bodyPr/>
                    <a:lstStyle/>
                    <a:p>
                      <a:r>
                        <a:rPr lang="en-US" sz="1400" dirty="0">
                          <a:effectLst/>
                        </a:rPr>
                        <a:t>Package </a:t>
                      </a:r>
                    </a:p>
                  </a:txBody>
                  <a:tcPr marL="68580" marR="68580" marT="34290" marB="34290" anchor="ctr">
                    <a:lnL>
                      <a:noFill/>
                    </a:lnL>
                    <a:lnR>
                      <a:noFill/>
                    </a:lnR>
                    <a:lnT>
                      <a:noFill/>
                    </a:lnT>
                    <a:lnB>
                      <a:noFill/>
                    </a:lnB>
                  </a:tcPr>
                </a:tc>
                <a:extLst>
                  <a:ext uri="{0D108BD9-81ED-4DB2-BD59-A6C34878D82A}">
                    <a16:rowId xmlns:a16="http://schemas.microsoft.com/office/drawing/2014/main" xmlns="" val="10004"/>
                  </a:ext>
                </a:extLst>
              </a:tr>
            </a:tbl>
          </a:graphicData>
        </a:graphic>
      </p:graphicFrame>
      <p:sp>
        <p:nvSpPr>
          <p:cNvPr id="6" name="Rectangle 5"/>
          <p:cNvSpPr/>
          <p:nvPr/>
        </p:nvSpPr>
        <p:spPr>
          <a:xfrm>
            <a:off x="460562" y="1902772"/>
            <a:ext cx="8054788" cy="507831"/>
          </a:xfrm>
          <a:prstGeom prst="rect">
            <a:avLst/>
          </a:prstGeom>
        </p:spPr>
        <p:txBody>
          <a:bodyPr wrap="square">
            <a:spAutoFit/>
          </a:bodyPr>
          <a:lstStyle/>
          <a:p>
            <a:r>
              <a:rPr lang="en-US" sz="1350" dirty="0">
                <a:solidFill>
                  <a:srgbClr val="222222"/>
                </a:solidFill>
                <a:latin typeface="Arial" panose="020B0604020202020204" pitchFamily="34" charset="0"/>
              </a:rPr>
              <a:t>To specify the visibility of a class member (i.e. any attribute or method), these notations must be placed before the member's name</a:t>
            </a:r>
            <a:endParaRPr lang="en-US" sz="1350" dirty="0"/>
          </a:p>
        </p:txBody>
      </p:sp>
    </p:spTree>
    <p:extLst>
      <p:ext uri="{BB962C8B-B14F-4D97-AF65-F5344CB8AC3E}">
        <p14:creationId xmlns:p14="http://schemas.microsoft.com/office/powerpoint/2010/main" val="11315673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Multiplicity</a:t>
            </a:r>
            <a:endParaRPr lang="en-US" dirty="0"/>
          </a:p>
        </p:txBody>
      </p:sp>
      <p:graphicFrame>
        <p:nvGraphicFramePr>
          <p:cNvPr id="4" name="Content Placeholder 3"/>
          <p:cNvGraphicFramePr>
            <a:graphicFrameLocks noGrp="1"/>
          </p:cNvGraphicFramePr>
          <p:nvPr>
            <p:ph idx="1"/>
          </p:nvPr>
        </p:nvGraphicFramePr>
        <p:xfrm>
          <a:off x="628650" y="2999116"/>
          <a:ext cx="7886700" cy="1771546"/>
        </p:xfrm>
        <a:graphic>
          <a:graphicData uri="http://schemas.openxmlformats.org/drawingml/2006/table">
            <a:tbl>
              <a:tblPr/>
              <a:tblGrid>
                <a:gridCol w="3943350">
                  <a:extLst>
                    <a:ext uri="{9D8B030D-6E8A-4147-A177-3AD203B41FA5}">
                      <a16:colId xmlns:a16="http://schemas.microsoft.com/office/drawing/2014/main" xmlns="" val="20000"/>
                    </a:ext>
                  </a:extLst>
                </a:gridCol>
                <a:gridCol w="3943350">
                  <a:extLst>
                    <a:ext uri="{9D8B030D-6E8A-4147-A177-3AD203B41FA5}">
                      <a16:colId xmlns:a16="http://schemas.microsoft.com/office/drawing/2014/main" xmlns="" val="20001"/>
                    </a:ext>
                  </a:extLst>
                </a:gridCol>
              </a:tblGrid>
              <a:tr h="245459">
                <a:tc>
                  <a:txBody>
                    <a:bodyPr/>
                    <a:lstStyle/>
                    <a:p>
                      <a:pPr algn="ctr"/>
                      <a:r>
                        <a:rPr lang="en-US" sz="1400" b="1">
                          <a:effectLst/>
                        </a:rPr>
                        <a:t>0</a:t>
                      </a:r>
                      <a:endParaRPr lang="en-US" sz="1400">
                        <a:effectLst/>
                      </a:endParaRP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400">
                          <a:effectLst/>
                        </a:rPr>
                        <a:t>No instances (rare) </a:t>
                      </a: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xmlns="" val="10000"/>
                  </a:ext>
                </a:extLst>
              </a:tr>
              <a:tr h="245459">
                <a:tc>
                  <a:txBody>
                    <a:bodyPr/>
                    <a:lstStyle/>
                    <a:p>
                      <a:pPr algn="ctr"/>
                      <a:r>
                        <a:rPr lang="en-US" sz="1400" b="1">
                          <a:effectLst/>
                        </a:rPr>
                        <a:t>0..1</a:t>
                      </a:r>
                      <a:endParaRPr lang="en-US" sz="1400">
                        <a:effectLst/>
                      </a:endParaRP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400">
                          <a:effectLst/>
                        </a:rPr>
                        <a:t>No instances, or one instance </a:t>
                      </a: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xmlns="" val="10001"/>
                  </a:ext>
                </a:extLst>
              </a:tr>
              <a:tr h="245459">
                <a:tc>
                  <a:txBody>
                    <a:bodyPr/>
                    <a:lstStyle/>
                    <a:p>
                      <a:pPr algn="ctr"/>
                      <a:r>
                        <a:rPr lang="en-US" sz="1400" b="1">
                          <a:effectLst/>
                        </a:rPr>
                        <a:t>1</a:t>
                      </a:r>
                      <a:endParaRPr lang="en-US" sz="1400">
                        <a:effectLst/>
                      </a:endParaRP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400">
                          <a:effectLst/>
                        </a:rPr>
                        <a:t>Exactly one instance </a:t>
                      </a: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xmlns="" val="10002"/>
                  </a:ext>
                </a:extLst>
              </a:tr>
              <a:tr h="245459">
                <a:tc>
                  <a:txBody>
                    <a:bodyPr/>
                    <a:lstStyle/>
                    <a:p>
                      <a:r>
                        <a:rPr lang="en-US" sz="1400" b="1" dirty="0">
                          <a:solidFill>
                            <a:srgbClr val="222222"/>
                          </a:solidFill>
                          <a:effectLst/>
                        </a:rPr>
                        <a:t>                                               1..1</a:t>
                      </a:r>
                      <a:r>
                        <a:rPr lang="en-US" sz="1400" dirty="0">
                          <a:effectLst/>
                        </a:rPr>
                        <a:t> </a:t>
                      </a: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400" dirty="0">
                          <a:effectLst/>
                        </a:rPr>
                        <a:t>Exactly one instance </a:t>
                      </a: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xmlns="" val="10003"/>
                  </a:ext>
                </a:extLst>
              </a:tr>
              <a:tr h="245459">
                <a:tc>
                  <a:txBody>
                    <a:bodyPr/>
                    <a:lstStyle/>
                    <a:p>
                      <a:pPr algn="ctr"/>
                      <a:r>
                        <a:rPr lang="en-US" sz="1400" b="1">
                          <a:effectLst/>
                        </a:rPr>
                        <a:t>0..*</a:t>
                      </a:r>
                      <a:endParaRPr lang="en-US" sz="1400">
                        <a:effectLst/>
                      </a:endParaRP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400">
                          <a:effectLst/>
                        </a:rPr>
                        <a:t>Zero or more instances </a:t>
                      </a: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xmlns="" val="10004"/>
                  </a:ext>
                </a:extLst>
              </a:tr>
              <a:tr h="245459">
                <a:tc>
                  <a:txBody>
                    <a:bodyPr/>
                    <a:lstStyle/>
                    <a:p>
                      <a:pPr algn="ctr"/>
                      <a:r>
                        <a:rPr lang="en-US" sz="1400" b="1">
                          <a:effectLst/>
                        </a:rPr>
                        <a:t>*</a:t>
                      </a:r>
                      <a:endParaRPr lang="en-US" sz="1400">
                        <a:effectLst/>
                      </a:endParaRP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400">
                          <a:effectLst/>
                        </a:rPr>
                        <a:t>Zero or more instances </a:t>
                      </a: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xmlns="" val="10005"/>
                  </a:ext>
                </a:extLst>
              </a:tr>
              <a:tr h="245459">
                <a:tc>
                  <a:txBody>
                    <a:bodyPr/>
                    <a:lstStyle/>
                    <a:p>
                      <a:pPr algn="ctr"/>
                      <a:r>
                        <a:rPr lang="en-US" sz="1400" b="1">
                          <a:effectLst/>
                        </a:rPr>
                        <a:t>1..*</a:t>
                      </a:r>
                      <a:endParaRPr lang="en-US" sz="1400">
                        <a:effectLst/>
                      </a:endParaRP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n-US" sz="1400" dirty="0">
                          <a:effectLst/>
                        </a:rPr>
                        <a:t>One or more instances </a:t>
                      </a:r>
                    </a:p>
                  </a:txBody>
                  <a:tcPr marL="39791" marR="39791" marT="19859" marB="19859"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xmlns="" val="10006"/>
                  </a:ext>
                </a:extLst>
              </a:tr>
            </a:tbl>
          </a:graphicData>
        </a:graphic>
      </p:graphicFrame>
    </p:spTree>
    <p:extLst>
      <p:ext uri="{BB962C8B-B14F-4D97-AF65-F5344CB8AC3E}">
        <p14:creationId xmlns:p14="http://schemas.microsoft.com/office/powerpoint/2010/main" val="15484225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t>UML Association</a:t>
            </a:r>
            <a:r>
              <a:rPr lang="en-US" b="1" dirty="0"/>
              <a:t/>
            </a:r>
            <a:br>
              <a:rPr lang="en-US" b="1" dirty="0"/>
            </a:br>
            <a:endParaRPr lang="en-US" dirty="0"/>
          </a:p>
        </p:txBody>
      </p:sp>
      <p:sp>
        <p:nvSpPr>
          <p:cNvPr id="3" name="Content Placeholder 2"/>
          <p:cNvSpPr>
            <a:spLocks noGrp="1"/>
          </p:cNvSpPr>
          <p:nvPr>
            <p:ph idx="1"/>
          </p:nvPr>
        </p:nvSpPr>
        <p:spPr/>
        <p:txBody>
          <a:bodyPr/>
          <a:lstStyle/>
          <a:p>
            <a:r>
              <a:rPr lang="en-US" dirty="0"/>
              <a:t>An </a:t>
            </a:r>
            <a:r>
              <a:rPr lang="en-US" i="1" dirty="0">
                <a:hlinkClick r:id="rId2" tooltip="Association (object-oriented programming)"/>
              </a:rPr>
              <a:t>association</a:t>
            </a:r>
            <a:r>
              <a:rPr lang="en-US" dirty="0"/>
              <a:t> represents a family of links. An association can link any number of classes.</a:t>
            </a:r>
          </a:p>
          <a:p>
            <a:pPr marL="0" indent="0">
              <a:buNone/>
            </a:pPr>
            <a:r>
              <a:rPr lang="en-US" b="1" dirty="0"/>
              <a:t>Types of association:</a:t>
            </a:r>
          </a:p>
          <a:p>
            <a:pPr marL="0" indent="0">
              <a:buNone/>
            </a:pPr>
            <a:r>
              <a:rPr lang="en-US" dirty="0"/>
              <a:t>1</a:t>
            </a:r>
            <a:r>
              <a:rPr lang="en-US" b="1" dirty="0"/>
              <a:t>. </a:t>
            </a:r>
            <a:r>
              <a:rPr lang="en-US" dirty="0"/>
              <a:t>Binary: Link 2 classes</a:t>
            </a:r>
          </a:p>
          <a:p>
            <a:pPr>
              <a:buFont typeface="Wingdings" panose="05000000000000000000" pitchFamily="2" charset="2"/>
              <a:buChar char="ü"/>
            </a:pPr>
            <a:r>
              <a:rPr lang="en-US" dirty="0"/>
              <a:t>Aggregation</a:t>
            </a:r>
          </a:p>
          <a:p>
            <a:pPr>
              <a:buFont typeface="Wingdings" panose="05000000000000000000" pitchFamily="2" charset="2"/>
              <a:buChar char="ü"/>
            </a:pPr>
            <a:r>
              <a:rPr lang="en-US" dirty="0"/>
              <a:t>Composition  </a:t>
            </a:r>
          </a:p>
          <a:p>
            <a:pPr marL="0" indent="0">
              <a:buNone/>
            </a:pPr>
            <a:r>
              <a:rPr lang="en-US" dirty="0"/>
              <a:t>2. N-</a:t>
            </a:r>
            <a:r>
              <a:rPr lang="en-US" dirty="0" err="1"/>
              <a:t>ary</a:t>
            </a:r>
            <a:r>
              <a:rPr lang="en-US" dirty="0"/>
              <a:t>: Link N classes</a:t>
            </a:r>
          </a:p>
          <a:p>
            <a:endParaRPr lang="en-US" dirty="0"/>
          </a:p>
        </p:txBody>
      </p:sp>
    </p:spTree>
    <p:extLst>
      <p:ext uri="{BB962C8B-B14F-4D97-AF65-F5344CB8AC3E}">
        <p14:creationId xmlns:p14="http://schemas.microsoft.com/office/powerpoint/2010/main" val="6044162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Aggregation and Composition</a:t>
            </a:r>
          </a:p>
        </p:txBody>
      </p:sp>
      <p:sp>
        <p:nvSpPr>
          <p:cNvPr id="5" name="Content Placeholder 4"/>
          <p:cNvSpPr>
            <a:spLocks noGrp="1"/>
          </p:cNvSpPr>
          <p:nvPr>
            <p:ph idx="1"/>
          </p:nvPr>
        </p:nvSpPr>
        <p:spPr/>
        <p:txBody>
          <a:bodyPr/>
          <a:lstStyle/>
          <a:p>
            <a:r>
              <a:rPr lang="en-US" sz="2400" dirty="0"/>
              <a:t>A relationship </a:t>
            </a:r>
            <a:r>
              <a:rPr lang="en-US" sz="2400" b="1" dirty="0"/>
              <a:t>between</a:t>
            </a:r>
            <a:r>
              <a:rPr lang="en-US" sz="2400" dirty="0"/>
              <a:t> two objects is referred as an </a:t>
            </a:r>
            <a:r>
              <a:rPr lang="en-US" sz="2400" b="1" dirty="0"/>
              <a:t>association</a:t>
            </a:r>
          </a:p>
          <a:p>
            <a:r>
              <a:rPr lang="en-US" sz="2400" dirty="0"/>
              <a:t>an </a:t>
            </a:r>
            <a:r>
              <a:rPr lang="en-US" sz="2400" b="1" dirty="0"/>
              <a:t>association</a:t>
            </a:r>
            <a:r>
              <a:rPr lang="en-US" sz="2400" dirty="0"/>
              <a:t> is known as </a:t>
            </a:r>
            <a:r>
              <a:rPr lang="en-US" sz="2400" b="1" dirty="0"/>
              <a:t>composition </a:t>
            </a:r>
            <a:r>
              <a:rPr lang="en-US" sz="2400" dirty="0"/>
              <a:t>when one object owns other(part-whole)</a:t>
            </a:r>
          </a:p>
          <a:p>
            <a:pPr lvl="1">
              <a:buFont typeface="Wingdings" panose="05000000000000000000" pitchFamily="2" charset="2"/>
              <a:buChar char="Ø"/>
            </a:pPr>
            <a:r>
              <a:rPr lang="en-US" sz="2000" dirty="0"/>
              <a:t>University and Departments</a:t>
            </a:r>
          </a:p>
          <a:p>
            <a:r>
              <a:rPr lang="en-US" sz="2400" dirty="0"/>
              <a:t>an </a:t>
            </a:r>
            <a:r>
              <a:rPr lang="en-US" sz="2400" b="1" dirty="0"/>
              <a:t>association</a:t>
            </a:r>
            <a:r>
              <a:rPr lang="en-US" sz="2400" dirty="0"/>
              <a:t> is known as </a:t>
            </a:r>
            <a:r>
              <a:rPr lang="en-US" sz="2400" b="1" dirty="0"/>
              <a:t>aggregation</a:t>
            </a:r>
            <a:r>
              <a:rPr lang="en-US" sz="2400" dirty="0"/>
              <a:t> when one object uses another object. (has-A)</a:t>
            </a:r>
          </a:p>
          <a:p>
            <a:pPr lvl="1">
              <a:buFont typeface="Wingdings" panose="05000000000000000000" pitchFamily="2" charset="2"/>
              <a:buChar char="Ø"/>
            </a:pPr>
            <a:r>
              <a:rPr lang="en-US" sz="2000" dirty="0"/>
              <a:t>Library and Students. Here the student can exist without library, the relation between student and library is aggregation.</a:t>
            </a:r>
          </a:p>
          <a:p>
            <a:pPr lvl="1">
              <a:buFont typeface="Wingdings" panose="05000000000000000000" pitchFamily="2" charset="2"/>
              <a:buChar char="Ø"/>
            </a:pPr>
            <a:endParaRPr lang="en-US" sz="2000" dirty="0"/>
          </a:p>
        </p:txBody>
      </p:sp>
    </p:spTree>
    <p:extLst>
      <p:ext uri="{BB962C8B-B14F-4D97-AF65-F5344CB8AC3E}">
        <p14:creationId xmlns:p14="http://schemas.microsoft.com/office/powerpoint/2010/main" val="16673440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Aggregation example</a:t>
            </a:r>
          </a:p>
        </p:txBody>
      </p:sp>
      <p:sp>
        <p:nvSpPr>
          <p:cNvPr id="4" name="Rectangle 3"/>
          <p:cNvSpPr/>
          <p:nvPr/>
        </p:nvSpPr>
        <p:spPr bwMode="auto">
          <a:xfrm>
            <a:off x="1219200" y="2362200"/>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Pond</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sp>
        <p:nvSpPr>
          <p:cNvPr id="5" name="Rectangle 4"/>
          <p:cNvSpPr/>
          <p:nvPr/>
        </p:nvSpPr>
        <p:spPr bwMode="auto">
          <a:xfrm>
            <a:off x="5105400" y="2329818"/>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Duck</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cxnSp>
        <p:nvCxnSpPr>
          <p:cNvPr id="9" name="Straight Connector 8"/>
          <p:cNvCxnSpPr>
            <a:stCxn id="5" idx="1"/>
          </p:cNvCxnSpPr>
          <p:nvPr/>
        </p:nvCxnSpPr>
        <p:spPr bwMode="auto">
          <a:xfrm flipH="1">
            <a:off x="3200400" y="2536509"/>
            <a:ext cx="1905000" cy="323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Diamond 9"/>
          <p:cNvSpPr/>
          <p:nvPr/>
        </p:nvSpPr>
        <p:spPr bwMode="auto">
          <a:xfrm>
            <a:off x="2679342" y="2362200"/>
            <a:ext cx="571500" cy="424818"/>
          </a:xfrm>
          <a:prstGeom prst="diamond">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ndParaRPr>
          </a:p>
        </p:txBody>
      </p:sp>
      <p:sp>
        <p:nvSpPr>
          <p:cNvPr id="14" name="Rectangle 13"/>
          <p:cNvSpPr/>
          <p:nvPr/>
        </p:nvSpPr>
        <p:spPr bwMode="auto">
          <a:xfrm>
            <a:off x="1219200" y="3537582"/>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Office</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sp>
        <p:nvSpPr>
          <p:cNvPr id="15" name="Rectangle 14"/>
          <p:cNvSpPr/>
          <p:nvPr/>
        </p:nvSpPr>
        <p:spPr bwMode="auto">
          <a:xfrm>
            <a:off x="5105400" y="3505200"/>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Chair</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cxnSp>
        <p:nvCxnSpPr>
          <p:cNvPr id="16" name="Straight Connector 15"/>
          <p:cNvCxnSpPr>
            <a:stCxn id="15" idx="1"/>
          </p:cNvCxnSpPr>
          <p:nvPr/>
        </p:nvCxnSpPr>
        <p:spPr bwMode="auto">
          <a:xfrm flipH="1">
            <a:off x="3200400" y="3711891"/>
            <a:ext cx="1905000" cy="323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Diamond 16"/>
          <p:cNvSpPr/>
          <p:nvPr/>
        </p:nvSpPr>
        <p:spPr bwMode="auto">
          <a:xfrm>
            <a:off x="2679342" y="3537582"/>
            <a:ext cx="571500" cy="424818"/>
          </a:xfrm>
          <a:prstGeom prst="diamond">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ndParaRPr>
          </a:p>
        </p:txBody>
      </p:sp>
    </p:spTree>
    <p:extLst>
      <p:ext uri="{BB962C8B-B14F-4D97-AF65-F5344CB8AC3E}">
        <p14:creationId xmlns:p14="http://schemas.microsoft.com/office/powerpoint/2010/main" val="3453935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4" grpId="0" animBg="1"/>
      <p:bldP spid="1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152400"/>
            <a:ext cx="7772400" cy="1143000"/>
          </a:xfrm>
        </p:spPr>
        <p:txBody>
          <a:bodyPr/>
          <a:lstStyle/>
          <a:p>
            <a:r>
              <a:rPr lang="en-US" dirty="0"/>
              <a:t>Composition example</a:t>
            </a:r>
          </a:p>
        </p:txBody>
      </p:sp>
      <p:sp>
        <p:nvSpPr>
          <p:cNvPr id="5" name="Rectangle 4"/>
          <p:cNvSpPr/>
          <p:nvPr/>
        </p:nvSpPr>
        <p:spPr bwMode="auto">
          <a:xfrm>
            <a:off x="3054439" y="1339218"/>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Person</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sp>
        <p:nvSpPr>
          <p:cNvPr id="6" name="Rectangle 5"/>
          <p:cNvSpPr/>
          <p:nvPr/>
        </p:nvSpPr>
        <p:spPr bwMode="auto">
          <a:xfrm>
            <a:off x="2209800" y="3503971"/>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Leg</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cxnSp>
        <p:nvCxnSpPr>
          <p:cNvPr id="7" name="Straight Connector 6"/>
          <p:cNvCxnSpPr>
            <a:stCxn id="8" idx="2"/>
            <a:endCxn id="6" idx="0"/>
          </p:cNvCxnSpPr>
          <p:nvPr/>
        </p:nvCxnSpPr>
        <p:spPr bwMode="auto">
          <a:xfrm flipH="1">
            <a:off x="2933700" y="2290512"/>
            <a:ext cx="362353" cy="121345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Diamond 7"/>
          <p:cNvSpPr/>
          <p:nvPr/>
        </p:nvSpPr>
        <p:spPr bwMode="auto">
          <a:xfrm rot="1397655">
            <a:off x="3251305" y="1757836"/>
            <a:ext cx="309093" cy="555309"/>
          </a:xfrm>
          <a:prstGeom prst="diamond">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ndParaRPr>
          </a:p>
        </p:txBody>
      </p:sp>
      <p:sp>
        <p:nvSpPr>
          <p:cNvPr id="13" name="Rectangle 12"/>
          <p:cNvSpPr/>
          <p:nvPr/>
        </p:nvSpPr>
        <p:spPr bwMode="auto">
          <a:xfrm>
            <a:off x="4114800" y="3537219"/>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Hand</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cxnSp>
        <p:nvCxnSpPr>
          <p:cNvPr id="14" name="Straight Connector 13"/>
          <p:cNvCxnSpPr>
            <a:endCxn id="13" idx="0"/>
          </p:cNvCxnSpPr>
          <p:nvPr/>
        </p:nvCxnSpPr>
        <p:spPr bwMode="auto">
          <a:xfrm>
            <a:off x="4350479" y="2217195"/>
            <a:ext cx="488221" cy="132002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Diamond 14"/>
          <p:cNvSpPr/>
          <p:nvPr/>
        </p:nvSpPr>
        <p:spPr bwMode="auto">
          <a:xfrm rot="19765311">
            <a:off x="4058677" y="1715306"/>
            <a:ext cx="309093" cy="555309"/>
          </a:xfrm>
          <a:prstGeom prst="diamond">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ndParaRPr>
          </a:p>
        </p:txBody>
      </p:sp>
      <p:sp>
        <p:nvSpPr>
          <p:cNvPr id="18" name="Rectangle 17"/>
          <p:cNvSpPr/>
          <p:nvPr/>
        </p:nvSpPr>
        <p:spPr bwMode="auto">
          <a:xfrm>
            <a:off x="1219200" y="5137782"/>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Company</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sp>
        <p:nvSpPr>
          <p:cNvPr id="19" name="Rectangle 18"/>
          <p:cNvSpPr/>
          <p:nvPr/>
        </p:nvSpPr>
        <p:spPr bwMode="auto">
          <a:xfrm>
            <a:off x="5105400" y="5105400"/>
            <a:ext cx="16764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Department</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cxnSp>
        <p:nvCxnSpPr>
          <p:cNvPr id="20" name="Straight Connector 19"/>
          <p:cNvCxnSpPr>
            <a:stCxn id="19" idx="1"/>
          </p:cNvCxnSpPr>
          <p:nvPr/>
        </p:nvCxnSpPr>
        <p:spPr bwMode="auto">
          <a:xfrm flipH="1">
            <a:off x="3200400" y="5312091"/>
            <a:ext cx="1905000" cy="323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Diamond 20"/>
          <p:cNvSpPr/>
          <p:nvPr/>
        </p:nvSpPr>
        <p:spPr bwMode="auto">
          <a:xfrm>
            <a:off x="2679342" y="5137782"/>
            <a:ext cx="571500" cy="424818"/>
          </a:xfrm>
          <a:prstGeom prst="diamond">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ndParaRPr>
          </a:p>
        </p:txBody>
      </p:sp>
    </p:spTree>
    <p:extLst>
      <p:ext uri="{BB962C8B-B14F-4D97-AF65-F5344CB8AC3E}">
        <p14:creationId xmlns:p14="http://schemas.microsoft.com/office/powerpoint/2010/main" val="1787959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ppt_x"/>
                                          </p:val>
                                        </p:tav>
                                        <p:tav tm="100000">
                                          <p:val>
                                            <p:strVal val="#ppt_x"/>
                                          </p:val>
                                        </p:tav>
                                      </p:tavLst>
                                    </p:anim>
                                    <p:anim calcmode="lin" valueType="num">
                                      <p:cBhvr additive="base">
                                        <p:cTn id="2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ppt_x"/>
                                          </p:val>
                                        </p:tav>
                                        <p:tav tm="100000">
                                          <p:val>
                                            <p:strVal val="#ppt_x"/>
                                          </p:val>
                                        </p:tav>
                                      </p:tavLst>
                                    </p:anim>
                                    <p:anim calcmode="lin" valueType="num">
                                      <p:cBhvr additive="base">
                                        <p:cTn id="3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3" grpId="0" animBg="1"/>
      <p:bldP spid="18" grpId="0" animBg="1"/>
      <p:bldP spid="19"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t>UML Relation Notations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01150" y="2255778"/>
            <a:ext cx="3928928" cy="2619286"/>
          </a:xfrm>
        </p:spPr>
      </p:pic>
    </p:spTree>
    <p:extLst>
      <p:ext uri="{BB962C8B-B14F-4D97-AF65-F5344CB8AC3E}">
        <p14:creationId xmlns:p14="http://schemas.microsoft.com/office/powerpoint/2010/main" val="15695079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dirty="0"/>
              <a:t>UML classes and association</a:t>
            </a:r>
            <a:r>
              <a:rPr lang="en-GB" dirty="0"/>
              <a:t> </a:t>
            </a:r>
            <a:endParaRPr lang="en-US" dirty="0"/>
          </a:p>
        </p:txBody>
      </p:sp>
      <p:pic>
        <p:nvPicPr>
          <p:cNvPr id="3" name="Picture 2"/>
          <p:cNvPicPr>
            <a:picLocks noChangeAspect="1"/>
          </p:cNvPicPr>
          <p:nvPr/>
        </p:nvPicPr>
        <p:blipFill>
          <a:blip r:embed="rId2" cstate="print"/>
          <a:stretch>
            <a:fillRect/>
          </a:stretch>
        </p:blipFill>
        <p:spPr>
          <a:xfrm>
            <a:off x="2637526" y="2339784"/>
            <a:ext cx="3963789" cy="936816"/>
          </a:xfrm>
          <a:prstGeom prst="rect">
            <a:avLst/>
          </a:prstGeom>
        </p:spPr>
      </p:pic>
      <p:sp>
        <p:nvSpPr>
          <p:cNvPr id="5" name="Rectangle 4"/>
          <p:cNvSpPr/>
          <p:nvPr/>
        </p:nvSpPr>
        <p:spPr>
          <a:xfrm>
            <a:off x="2029315" y="3745468"/>
            <a:ext cx="6200285" cy="369332"/>
          </a:xfrm>
          <a:prstGeom prst="rect">
            <a:avLst/>
          </a:prstGeom>
        </p:spPr>
        <p:txBody>
          <a:bodyPr wrap="square">
            <a:spAutoFit/>
          </a:bodyPr>
          <a:lstStyle/>
          <a:p>
            <a:r>
              <a:rPr lang="en-US" dirty="0">
                <a:solidFill>
                  <a:srgbClr val="231F20"/>
                </a:solidFill>
                <a:latin typeface="Times-Roman"/>
              </a:rPr>
              <a:t>Show how many objects are involved in the association</a:t>
            </a:r>
            <a:endParaRPr lang="en-US" dirty="0"/>
          </a:p>
        </p:txBody>
      </p:sp>
      <p:cxnSp>
        <p:nvCxnSpPr>
          <p:cNvPr id="7" name="Straight Arrow Connector 6"/>
          <p:cNvCxnSpPr>
            <a:stCxn id="5" idx="0"/>
          </p:cNvCxnSpPr>
          <p:nvPr/>
        </p:nvCxnSpPr>
        <p:spPr bwMode="auto">
          <a:xfrm flipH="1" flipV="1">
            <a:off x="4191000" y="3028666"/>
            <a:ext cx="938458" cy="71680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Straight Arrow Connector 8"/>
          <p:cNvCxnSpPr/>
          <p:nvPr/>
        </p:nvCxnSpPr>
        <p:spPr bwMode="auto">
          <a:xfrm flipV="1">
            <a:off x="5129458" y="2971800"/>
            <a:ext cx="52142" cy="77366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Rectangle 10"/>
          <p:cNvSpPr/>
          <p:nvPr/>
        </p:nvSpPr>
        <p:spPr>
          <a:xfrm>
            <a:off x="1981200" y="4154269"/>
            <a:ext cx="6696154" cy="646331"/>
          </a:xfrm>
          <a:prstGeom prst="rect">
            <a:avLst/>
          </a:prstGeom>
        </p:spPr>
        <p:txBody>
          <a:bodyPr wrap="square">
            <a:spAutoFit/>
          </a:bodyPr>
          <a:lstStyle/>
          <a:p>
            <a:r>
              <a:rPr lang="en-US" dirty="0">
                <a:solidFill>
                  <a:srgbClr val="231F20"/>
                </a:solidFill>
                <a:latin typeface="Times-Roman"/>
              </a:rPr>
              <a:t>That is, each patient has exactly one record and each record</a:t>
            </a:r>
          </a:p>
          <a:p>
            <a:r>
              <a:rPr lang="en-US" dirty="0">
                <a:solidFill>
                  <a:srgbClr val="231F20"/>
                </a:solidFill>
                <a:latin typeface="Times-Roman"/>
              </a:rPr>
              <a:t>maintains information about exactly one patient</a:t>
            </a:r>
            <a:endParaRPr lang="en-US" dirty="0"/>
          </a:p>
        </p:txBody>
      </p:sp>
    </p:spTree>
    <p:extLst>
      <p:ext uri="{BB962C8B-B14F-4D97-AF65-F5344CB8AC3E}">
        <p14:creationId xmlns:p14="http://schemas.microsoft.com/office/powerpoint/2010/main" val="1175685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UML classes and association</a:t>
            </a:r>
            <a:r>
              <a:rPr lang="en-GB" dirty="0"/>
              <a:t> </a:t>
            </a:r>
            <a:endParaRPr lang="en-US" dirty="0"/>
          </a:p>
        </p:txBody>
      </p:sp>
      <p:sp>
        <p:nvSpPr>
          <p:cNvPr id="3" name="Rectangle 2"/>
          <p:cNvSpPr/>
          <p:nvPr/>
        </p:nvSpPr>
        <p:spPr bwMode="auto">
          <a:xfrm>
            <a:off x="838200" y="2362200"/>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rPr>
              <a:t>Teacher</a:t>
            </a:r>
          </a:p>
        </p:txBody>
      </p:sp>
      <p:sp>
        <p:nvSpPr>
          <p:cNvPr id="8" name="Rectangle 7"/>
          <p:cNvSpPr/>
          <p:nvPr/>
        </p:nvSpPr>
        <p:spPr bwMode="auto">
          <a:xfrm>
            <a:off x="5562600" y="2362200"/>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Student</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cxnSp>
        <p:nvCxnSpPr>
          <p:cNvPr id="11" name="Straight Connector 10"/>
          <p:cNvCxnSpPr>
            <a:stCxn id="3" idx="3"/>
            <a:endCxn id="8" idx="1"/>
          </p:cNvCxnSpPr>
          <p:nvPr/>
        </p:nvCxnSpPr>
        <p:spPr bwMode="auto">
          <a:xfrm>
            <a:off x="2286000" y="2568891"/>
            <a:ext cx="32766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TextBox 11"/>
          <p:cNvSpPr txBox="1"/>
          <p:nvPr/>
        </p:nvSpPr>
        <p:spPr>
          <a:xfrm>
            <a:off x="2286000" y="2218609"/>
            <a:ext cx="457200" cy="369332"/>
          </a:xfrm>
          <a:prstGeom prst="rect">
            <a:avLst/>
          </a:prstGeom>
          <a:noFill/>
        </p:spPr>
        <p:txBody>
          <a:bodyPr wrap="square" rtlCol="0">
            <a:spAutoFit/>
          </a:bodyPr>
          <a:lstStyle/>
          <a:p>
            <a:r>
              <a:rPr lang="en-US" dirty="0"/>
              <a:t>1</a:t>
            </a:r>
          </a:p>
        </p:txBody>
      </p:sp>
      <p:sp>
        <p:nvSpPr>
          <p:cNvPr id="13" name="TextBox 12"/>
          <p:cNvSpPr txBox="1"/>
          <p:nvPr/>
        </p:nvSpPr>
        <p:spPr>
          <a:xfrm>
            <a:off x="5105400" y="2209800"/>
            <a:ext cx="457200" cy="369332"/>
          </a:xfrm>
          <a:prstGeom prst="rect">
            <a:avLst/>
          </a:prstGeom>
          <a:noFill/>
        </p:spPr>
        <p:txBody>
          <a:bodyPr wrap="square" rtlCol="0">
            <a:spAutoFit/>
          </a:bodyPr>
          <a:lstStyle/>
          <a:p>
            <a:r>
              <a:rPr lang="en-US" dirty="0"/>
              <a:t>*</a:t>
            </a:r>
          </a:p>
        </p:txBody>
      </p:sp>
      <p:sp>
        <p:nvSpPr>
          <p:cNvPr id="14" name="TextBox 13"/>
          <p:cNvSpPr txBox="1"/>
          <p:nvPr/>
        </p:nvSpPr>
        <p:spPr>
          <a:xfrm>
            <a:off x="3124200" y="2218609"/>
            <a:ext cx="1037476" cy="369332"/>
          </a:xfrm>
          <a:prstGeom prst="rect">
            <a:avLst/>
          </a:prstGeom>
          <a:noFill/>
        </p:spPr>
        <p:txBody>
          <a:bodyPr wrap="square" rtlCol="0">
            <a:spAutoFit/>
          </a:bodyPr>
          <a:lstStyle/>
          <a:p>
            <a:r>
              <a:rPr lang="en-US" dirty="0"/>
              <a:t>teaches</a:t>
            </a:r>
          </a:p>
        </p:txBody>
      </p:sp>
      <p:sp>
        <p:nvSpPr>
          <p:cNvPr id="15" name="Rectangle 14"/>
          <p:cNvSpPr/>
          <p:nvPr/>
        </p:nvSpPr>
        <p:spPr bwMode="auto">
          <a:xfrm>
            <a:off x="838200" y="3549018"/>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rPr>
              <a:t>Tricycle</a:t>
            </a:r>
          </a:p>
        </p:txBody>
      </p:sp>
      <p:sp>
        <p:nvSpPr>
          <p:cNvPr id="16" name="Rectangle 15"/>
          <p:cNvSpPr/>
          <p:nvPr/>
        </p:nvSpPr>
        <p:spPr bwMode="auto">
          <a:xfrm>
            <a:off x="5562600" y="3549018"/>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wheels</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cxnSp>
        <p:nvCxnSpPr>
          <p:cNvPr id="17" name="Straight Connector 16"/>
          <p:cNvCxnSpPr>
            <a:stCxn id="15" idx="3"/>
            <a:endCxn id="16" idx="1"/>
          </p:cNvCxnSpPr>
          <p:nvPr/>
        </p:nvCxnSpPr>
        <p:spPr bwMode="auto">
          <a:xfrm>
            <a:off x="2286000" y="3755709"/>
            <a:ext cx="32766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TextBox 17"/>
          <p:cNvSpPr txBox="1"/>
          <p:nvPr/>
        </p:nvSpPr>
        <p:spPr>
          <a:xfrm>
            <a:off x="2286000" y="3405427"/>
            <a:ext cx="457200" cy="369332"/>
          </a:xfrm>
          <a:prstGeom prst="rect">
            <a:avLst/>
          </a:prstGeom>
          <a:noFill/>
        </p:spPr>
        <p:txBody>
          <a:bodyPr wrap="square" rtlCol="0">
            <a:spAutoFit/>
          </a:bodyPr>
          <a:lstStyle/>
          <a:p>
            <a:r>
              <a:rPr lang="en-US" dirty="0"/>
              <a:t>1</a:t>
            </a:r>
          </a:p>
        </p:txBody>
      </p:sp>
      <p:sp>
        <p:nvSpPr>
          <p:cNvPr id="19" name="TextBox 18"/>
          <p:cNvSpPr txBox="1"/>
          <p:nvPr/>
        </p:nvSpPr>
        <p:spPr>
          <a:xfrm>
            <a:off x="5105400" y="3396618"/>
            <a:ext cx="457200" cy="369332"/>
          </a:xfrm>
          <a:prstGeom prst="rect">
            <a:avLst/>
          </a:prstGeom>
          <a:noFill/>
        </p:spPr>
        <p:txBody>
          <a:bodyPr wrap="square" rtlCol="0">
            <a:spAutoFit/>
          </a:bodyPr>
          <a:lstStyle/>
          <a:p>
            <a:r>
              <a:rPr lang="en-US" dirty="0"/>
              <a:t>3</a:t>
            </a:r>
          </a:p>
        </p:txBody>
      </p:sp>
      <p:sp>
        <p:nvSpPr>
          <p:cNvPr id="20" name="TextBox 19"/>
          <p:cNvSpPr txBox="1"/>
          <p:nvPr/>
        </p:nvSpPr>
        <p:spPr>
          <a:xfrm>
            <a:off x="3124200" y="3405427"/>
            <a:ext cx="1037476" cy="369332"/>
          </a:xfrm>
          <a:prstGeom prst="rect">
            <a:avLst/>
          </a:prstGeom>
          <a:noFill/>
        </p:spPr>
        <p:txBody>
          <a:bodyPr wrap="square" rtlCol="0">
            <a:spAutoFit/>
          </a:bodyPr>
          <a:lstStyle/>
          <a:p>
            <a:r>
              <a:rPr lang="en-US" dirty="0"/>
              <a:t>has</a:t>
            </a:r>
          </a:p>
        </p:txBody>
      </p:sp>
      <p:sp>
        <p:nvSpPr>
          <p:cNvPr id="21" name="Rectangle 20"/>
          <p:cNvSpPr/>
          <p:nvPr/>
        </p:nvSpPr>
        <p:spPr bwMode="auto">
          <a:xfrm>
            <a:off x="838200" y="4844418"/>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2400" dirty="0" err="1">
                <a:latin typeface="Times New Roman" panose="02020603050405020304" pitchFamily="18" charset="0"/>
              </a:rPr>
              <a:t>Eggbox</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sp>
        <p:nvSpPr>
          <p:cNvPr id="22" name="Rectangle 21"/>
          <p:cNvSpPr/>
          <p:nvPr/>
        </p:nvSpPr>
        <p:spPr bwMode="auto">
          <a:xfrm>
            <a:off x="5562600" y="4844418"/>
            <a:ext cx="1447800" cy="41338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Egg</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cxnSp>
        <p:nvCxnSpPr>
          <p:cNvPr id="23" name="Straight Connector 22"/>
          <p:cNvCxnSpPr>
            <a:stCxn id="21" idx="3"/>
            <a:endCxn id="22" idx="1"/>
          </p:cNvCxnSpPr>
          <p:nvPr/>
        </p:nvCxnSpPr>
        <p:spPr bwMode="auto">
          <a:xfrm>
            <a:off x="2286000" y="5051109"/>
            <a:ext cx="32766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TextBox 23"/>
          <p:cNvSpPr txBox="1"/>
          <p:nvPr/>
        </p:nvSpPr>
        <p:spPr>
          <a:xfrm>
            <a:off x="2286000" y="4700827"/>
            <a:ext cx="457200" cy="369332"/>
          </a:xfrm>
          <a:prstGeom prst="rect">
            <a:avLst/>
          </a:prstGeom>
          <a:noFill/>
        </p:spPr>
        <p:txBody>
          <a:bodyPr wrap="square" rtlCol="0">
            <a:spAutoFit/>
          </a:bodyPr>
          <a:lstStyle/>
          <a:p>
            <a:r>
              <a:rPr lang="en-US" dirty="0"/>
              <a:t>1</a:t>
            </a:r>
          </a:p>
        </p:txBody>
      </p:sp>
      <p:sp>
        <p:nvSpPr>
          <p:cNvPr id="25" name="TextBox 24"/>
          <p:cNvSpPr txBox="1"/>
          <p:nvPr/>
        </p:nvSpPr>
        <p:spPr>
          <a:xfrm>
            <a:off x="4800600" y="4692018"/>
            <a:ext cx="762000" cy="369332"/>
          </a:xfrm>
          <a:prstGeom prst="rect">
            <a:avLst/>
          </a:prstGeom>
          <a:noFill/>
        </p:spPr>
        <p:txBody>
          <a:bodyPr wrap="square" rtlCol="0">
            <a:spAutoFit/>
          </a:bodyPr>
          <a:lstStyle/>
          <a:p>
            <a:r>
              <a:rPr lang="en-US" dirty="0"/>
              <a:t>12,24</a:t>
            </a:r>
          </a:p>
        </p:txBody>
      </p:sp>
      <p:sp>
        <p:nvSpPr>
          <p:cNvPr id="26" name="TextBox 25"/>
          <p:cNvSpPr txBox="1"/>
          <p:nvPr/>
        </p:nvSpPr>
        <p:spPr>
          <a:xfrm>
            <a:off x="3124200" y="4700827"/>
            <a:ext cx="1037476" cy="369332"/>
          </a:xfrm>
          <a:prstGeom prst="rect">
            <a:avLst/>
          </a:prstGeom>
          <a:noFill/>
        </p:spPr>
        <p:txBody>
          <a:bodyPr wrap="square" rtlCol="0">
            <a:spAutoFit/>
          </a:bodyPr>
          <a:lstStyle/>
          <a:p>
            <a:r>
              <a:rPr lang="en-US" dirty="0"/>
              <a:t>holds</a:t>
            </a:r>
          </a:p>
        </p:txBody>
      </p:sp>
      <p:sp>
        <p:nvSpPr>
          <p:cNvPr id="27" name="TextBox 26"/>
          <p:cNvSpPr txBox="1"/>
          <p:nvPr/>
        </p:nvSpPr>
        <p:spPr>
          <a:xfrm>
            <a:off x="7162800" y="2362200"/>
            <a:ext cx="1682064" cy="369332"/>
          </a:xfrm>
          <a:prstGeom prst="rect">
            <a:avLst/>
          </a:prstGeom>
          <a:noFill/>
        </p:spPr>
        <p:txBody>
          <a:bodyPr wrap="square" rtlCol="0">
            <a:spAutoFit/>
          </a:bodyPr>
          <a:lstStyle/>
          <a:p>
            <a:r>
              <a:rPr lang="en-US" dirty="0"/>
              <a:t>One- to-many</a:t>
            </a:r>
          </a:p>
        </p:txBody>
      </p:sp>
      <p:sp>
        <p:nvSpPr>
          <p:cNvPr id="28" name="TextBox 27"/>
          <p:cNvSpPr txBox="1"/>
          <p:nvPr/>
        </p:nvSpPr>
        <p:spPr>
          <a:xfrm>
            <a:off x="7162800" y="3593068"/>
            <a:ext cx="1682064" cy="369332"/>
          </a:xfrm>
          <a:prstGeom prst="rect">
            <a:avLst/>
          </a:prstGeom>
          <a:noFill/>
        </p:spPr>
        <p:txBody>
          <a:bodyPr wrap="square" rtlCol="0">
            <a:spAutoFit/>
          </a:bodyPr>
          <a:lstStyle/>
          <a:p>
            <a:r>
              <a:rPr lang="en-US" dirty="0"/>
              <a:t>One -to -three</a:t>
            </a:r>
          </a:p>
        </p:txBody>
      </p:sp>
      <p:sp>
        <p:nvSpPr>
          <p:cNvPr id="29" name="TextBox 28"/>
          <p:cNvSpPr txBox="1"/>
          <p:nvPr/>
        </p:nvSpPr>
        <p:spPr>
          <a:xfrm>
            <a:off x="7086600" y="4888468"/>
            <a:ext cx="1905000" cy="369332"/>
          </a:xfrm>
          <a:prstGeom prst="rect">
            <a:avLst/>
          </a:prstGeom>
          <a:noFill/>
        </p:spPr>
        <p:txBody>
          <a:bodyPr wrap="square" rtlCol="0">
            <a:spAutoFit/>
          </a:bodyPr>
          <a:lstStyle/>
          <a:p>
            <a:r>
              <a:rPr lang="en-US" dirty="0"/>
              <a:t>One- to-12 or 24 </a:t>
            </a:r>
          </a:p>
        </p:txBody>
      </p:sp>
    </p:spTree>
    <p:extLst>
      <p:ext uri="{BB962C8B-B14F-4D97-AF65-F5344CB8AC3E}">
        <p14:creationId xmlns:p14="http://schemas.microsoft.com/office/powerpoint/2010/main" val="3756523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ppt_x"/>
                                          </p:val>
                                        </p:tav>
                                        <p:tav tm="100000">
                                          <p:val>
                                            <p:strVal val="#ppt_x"/>
                                          </p:val>
                                        </p:tav>
                                      </p:tavLst>
                                    </p:anim>
                                    <p:anim calcmode="lin" valueType="num">
                                      <p:cBhvr additive="base">
                                        <p:cTn id="28" dur="500" fill="hold"/>
                                        <p:tgtEl>
                                          <p:spTgt spid="14"/>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anim calcmode="lin" valueType="num">
                                      <p:cBhvr additive="base">
                                        <p:cTn id="31" dur="500" fill="hold"/>
                                        <p:tgtEl>
                                          <p:spTgt spid="27"/>
                                        </p:tgtEl>
                                        <p:attrNameLst>
                                          <p:attrName>ppt_x</p:attrName>
                                        </p:attrNameLst>
                                      </p:cBhvr>
                                      <p:tavLst>
                                        <p:tav tm="0">
                                          <p:val>
                                            <p:strVal val="#ppt_x"/>
                                          </p:val>
                                        </p:tav>
                                        <p:tav tm="100000">
                                          <p:val>
                                            <p:strVal val="#ppt_x"/>
                                          </p:val>
                                        </p:tav>
                                      </p:tavLst>
                                    </p:anim>
                                    <p:anim calcmode="lin" valueType="num">
                                      <p:cBhvr additive="base">
                                        <p:cTn id="32"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500" fill="hold"/>
                                        <p:tgtEl>
                                          <p:spTgt spid="15"/>
                                        </p:tgtEl>
                                        <p:attrNameLst>
                                          <p:attrName>ppt_x</p:attrName>
                                        </p:attrNameLst>
                                      </p:cBhvr>
                                      <p:tavLst>
                                        <p:tav tm="0">
                                          <p:val>
                                            <p:strVal val="#ppt_x"/>
                                          </p:val>
                                        </p:tav>
                                        <p:tav tm="100000">
                                          <p:val>
                                            <p:strVal val="#ppt_x"/>
                                          </p:val>
                                        </p:tav>
                                      </p:tavLst>
                                    </p:anim>
                                    <p:anim calcmode="lin" valueType="num">
                                      <p:cBhvr additive="base">
                                        <p:cTn id="38" dur="500" fill="hold"/>
                                        <p:tgtEl>
                                          <p:spTgt spid="15"/>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 calcmode="lin" valueType="num">
                                      <p:cBhvr additive="base">
                                        <p:cTn id="41" dur="500" fill="hold"/>
                                        <p:tgtEl>
                                          <p:spTgt spid="16"/>
                                        </p:tgtEl>
                                        <p:attrNameLst>
                                          <p:attrName>ppt_x</p:attrName>
                                        </p:attrNameLst>
                                      </p:cBhvr>
                                      <p:tavLst>
                                        <p:tav tm="0">
                                          <p:val>
                                            <p:strVal val="#ppt_x"/>
                                          </p:val>
                                        </p:tav>
                                        <p:tav tm="100000">
                                          <p:val>
                                            <p:strVal val="#ppt_x"/>
                                          </p:val>
                                        </p:tav>
                                      </p:tavLst>
                                    </p:anim>
                                    <p:anim calcmode="lin" valueType="num">
                                      <p:cBhvr additive="base">
                                        <p:cTn id="42" dur="500" fill="hold"/>
                                        <p:tgtEl>
                                          <p:spTgt spid="16"/>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anim calcmode="lin" valueType="num">
                                      <p:cBhvr additive="base">
                                        <p:cTn id="45" dur="500" fill="hold"/>
                                        <p:tgtEl>
                                          <p:spTgt spid="17"/>
                                        </p:tgtEl>
                                        <p:attrNameLst>
                                          <p:attrName>ppt_x</p:attrName>
                                        </p:attrNameLst>
                                      </p:cBhvr>
                                      <p:tavLst>
                                        <p:tav tm="0">
                                          <p:val>
                                            <p:strVal val="#ppt_x"/>
                                          </p:val>
                                        </p:tav>
                                        <p:tav tm="100000">
                                          <p:val>
                                            <p:strVal val="#ppt_x"/>
                                          </p:val>
                                        </p:tav>
                                      </p:tavLst>
                                    </p:anim>
                                    <p:anim calcmode="lin" valueType="num">
                                      <p:cBhvr additive="base">
                                        <p:cTn id="46" dur="500" fill="hold"/>
                                        <p:tgtEl>
                                          <p:spTgt spid="17"/>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 calcmode="lin" valueType="num">
                                      <p:cBhvr additive="base">
                                        <p:cTn id="49" dur="500" fill="hold"/>
                                        <p:tgtEl>
                                          <p:spTgt spid="18"/>
                                        </p:tgtEl>
                                        <p:attrNameLst>
                                          <p:attrName>ppt_x</p:attrName>
                                        </p:attrNameLst>
                                      </p:cBhvr>
                                      <p:tavLst>
                                        <p:tav tm="0">
                                          <p:val>
                                            <p:strVal val="#ppt_x"/>
                                          </p:val>
                                        </p:tav>
                                        <p:tav tm="100000">
                                          <p:val>
                                            <p:strVal val="#ppt_x"/>
                                          </p:val>
                                        </p:tav>
                                      </p:tavLst>
                                    </p:anim>
                                    <p:anim calcmode="lin" valueType="num">
                                      <p:cBhvr additive="base">
                                        <p:cTn id="50" dur="500" fill="hold"/>
                                        <p:tgtEl>
                                          <p:spTgt spid="18"/>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 calcmode="lin" valueType="num">
                                      <p:cBhvr additive="base">
                                        <p:cTn id="53" dur="500" fill="hold"/>
                                        <p:tgtEl>
                                          <p:spTgt spid="19"/>
                                        </p:tgtEl>
                                        <p:attrNameLst>
                                          <p:attrName>ppt_x</p:attrName>
                                        </p:attrNameLst>
                                      </p:cBhvr>
                                      <p:tavLst>
                                        <p:tav tm="0">
                                          <p:val>
                                            <p:strVal val="#ppt_x"/>
                                          </p:val>
                                        </p:tav>
                                        <p:tav tm="100000">
                                          <p:val>
                                            <p:strVal val="#ppt_x"/>
                                          </p:val>
                                        </p:tav>
                                      </p:tavLst>
                                    </p:anim>
                                    <p:anim calcmode="lin" valueType="num">
                                      <p:cBhvr additive="base">
                                        <p:cTn id="54" dur="500" fill="hold"/>
                                        <p:tgtEl>
                                          <p:spTgt spid="19"/>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 calcmode="lin" valueType="num">
                                      <p:cBhvr additive="base">
                                        <p:cTn id="57" dur="500" fill="hold"/>
                                        <p:tgtEl>
                                          <p:spTgt spid="20"/>
                                        </p:tgtEl>
                                        <p:attrNameLst>
                                          <p:attrName>ppt_x</p:attrName>
                                        </p:attrNameLst>
                                      </p:cBhvr>
                                      <p:tavLst>
                                        <p:tav tm="0">
                                          <p:val>
                                            <p:strVal val="#ppt_x"/>
                                          </p:val>
                                        </p:tav>
                                        <p:tav tm="100000">
                                          <p:val>
                                            <p:strVal val="#ppt_x"/>
                                          </p:val>
                                        </p:tav>
                                      </p:tavLst>
                                    </p:anim>
                                    <p:anim calcmode="lin" valueType="num">
                                      <p:cBhvr additive="base">
                                        <p:cTn id="58" dur="500" fill="hold"/>
                                        <p:tgtEl>
                                          <p:spTgt spid="20"/>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anim calcmode="lin" valueType="num">
                                      <p:cBhvr additive="base">
                                        <p:cTn id="61" dur="500" fill="hold"/>
                                        <p:tgtEl>
                                          <p:spTgt spid="28"/>
                                        </p:tgtEl>
                                        <p:attrNameLst>
                                          <p:attrName>ppt_x</p:attrName>
                                        </p:attrNameLst>
                                      </p:cBhvr>
                                      <p:tavLst>
                                        <p:tav tm="0">
                                          <p:val>
                                            <p:strVal val="#ppt_x"/>
                                          </p:val>
                                        </p:tav>
                                        <p:tav tm="100000">
                                          <p:val>
                                            <p:strVal val="#ppt_x"/>
                                          </p:val>
                                        </p:tav>
                                      </p:tavLst>
                                    </p:anim>
                                    <p:anim calcmode="lin" valueType="num">
                                      <p:cBhvr additive="base">
                                        <p:cTn id="62"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ppt_x"/>
                                          </p:val>
                                        </p:tav>
                                        <p:tav tm="100000">
                                          <p:val>
                                            <p:strVal val="#ppt_x"/>
                                          </p:val>
                                        </p:tav>
                                      </p:tavLst>
                                    </p:anim>
                                    <p:anim calcmode="lin" valueType="num">
                                      <p:cBhvr additive="base">
                                        <p:cTn id="68" dur="500" fill="hold"/>
                                        <p:tgtEl>
                                          <p:spTgt spid="21"/>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22"/>
                                        </p:tgtEl>
                                        <p:attrNameLst>
                                          <p:attrName>style.visibility</p:attrName>
                                        </p:attrNameLst>
                                      </p:cBhvr>
                                      <p:to>
                                        <p:strVal val="visible"/>
                                      </p:to>
                                    </p:set>
                                    <p:anim calcmode="lin" valueType="num">
                                      <p:cBhvr additive="base">
                                        <p:cTn id="71" dur="500" fill="hold"/>
                                        <p:tgtEl>
                                          <p:spTgt spid="22"/>
                                        </p:tgtEl>
                                        <p:attrNameLst>
                                          <p:attrName>ppt_x</p:attrName>
                                        </p:attrNameLst>
                                      </p:cBhvr>
                                      <p:tavLst>
                                        <p:tav tm="0">
                                          <p:val>
                                            <p:strVal val="#ppt_x"/>
                                          </p:val>
                                        </p:tav>
                                        <p:tav tm="100000">
                                          <p:val>
                                            <p:strVal val="#ppt_x"/>
                                          </p:val>
                                        </p:tav>
                                      </p:tavLst>
                                    </p:anim>
                                    <p:anim calcmode="lin" valueType="num">
                                      <p:cBhvr additive="base">
                                        <p:cTn id="72" dur="500" fill="hold"/>
                                        <p:tgtEl>
                                          <p:spTgt spid="22"/>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23"/>
                                        </p:tgtEl>
                                        <p:attrNameLst>
                                          <p:attrName>style.visibility</p:attrName>
                                        </p:attrNameLst>
                                      </p:cBhvr>
                                      <p:to>
                                        <p:strVal val="visible"/>
                                      </p:to>
                                    </p:set>
                                    <p:anim calcmode="lin" valueType="num">
                                      <p:cBhvr additive="base">
                                        <p:cTn id="75" dur="500" fill="hold"/>
                                        <p:tgtEl>
                                          <p:spTgt spid="23"/>
                                        </p:tgtEl>
                                        <p:attrNameLst>
                                          <p:attrName>ppt_x</p:attrName>
                                        </p:attrNameLst>
                                      </p:cBhvr>
                                      <p:tavLst>
                                        <p:tav tm="0">
                                          <p:val>
                                            <p:strVal val="#ppt_x"/>
                                          </p:val>
                                        </p:tav>
                                        <p:tav tm="100000">
                                          <p:val>
                                            <p:strVal val="#ppt_x"/>
                                          </p:val>
                                        </p:tav>
                                      </p:tavLst>
                                    </p:anim>
                                    <p:anim calcmode="lin" valueType="num">
                                      <p:cBhvr additive="base">
                                        <p:cTn id="76" dur="500" fill="hold"/>
                                        <p:tgtEl>
                                          <p:spTgt spid="23"/>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24"/>
                                        </p:tgtEl>
                                        <p:attrNameLst>
                                          <p:attrName>style.visibility</p:attrName>
                                        </p:attrNameLst>
                                      </p:cBhvr>
                                      <p:to>
                                        <p:strVal val="visible"/>
                                      </p:to>
                                    </p:set>
                                    <p:anim calcmode="lin" valueType="num">
                                      <p:cBhvr additive="base">
                                        <p:cTn id="79" dur="500" fill="hold"/>
                                        <p:tgtEl>
                                          <p:spTgt spid="24"/>
                                        </p:tgtEl>
                                        <p:attrNameLst>
                                          <p:attrName>ppt_x</p:attrName>
                                        </p:attrNameLst>
                                      </p:cBhvr>
                                      <p:tavLst>
                                        <p:tav tm="0">
                                          <p:val>
                                            <p:strVal val="#ppt_x"/>
                                          </p:val>
                                        </p:tav>
                                        <p:tav tm="100000">
                                          <p:val>
                                            <p:strVal val="#ppt_x"/>
                                          </p:val>
                                        </p:tav>
                                      </p:tavLst>
                                    </p:anim>
                                    <p:anim calcmode="lin" valueType="num">
                                      <p:cBhvr additive="base">
                                        <p:cTn id="80" dur="500" fill="hold"/>
                                        <p:tgtEl>
                                          <p:spTgt spid="24"/>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25"/>
                                        </p:tgtEl>
                                        <p:attrNameLst>
                                          <p:attrName>style.visibility</p:attrName>
                                        </p:attrNameLst>
                                      </p:cBhvr>
                                      <p:to>
                                        <p:strVal val="visible"/>
                                      </p:to>
                                    </p:set>
                                    <p:anim calcmode="lin" valueType="num">
                                      <p:cBhvr additive="base">
                                        <p:cTn id="83" dur="500" fill="hold"/>
                                        <p:tgtEl>
                                          <p:spTgt spid="25"/>
                                        </p:tgtEl>
                                        <p:attrNameLst>
                                          <p:attrName>ppt_x</p:attrName>
                                        </p:attrNameLst>
                                      </p:cBhvr>
                                      <p:tavLst>
                                        <p:tav tm="0">
                                          <p:val>
                                            <p:strVal val="#ppt_x"/>
                                          </p:val>
                                        </p:tav>
                                        <p:tav tm="100000">
                                          <p:val>
                                            <p:strVal val="#ppt_x"/>
                                          </p:val>
                                        </p:tav>
                                      </p:tavLst>
                                    </p:anim>
                                    <p:anim calcmode="lin" valueType="num">
                                      <p:cBhvr additive="base">
                                        <p:cTn id="84" dur="500" fill="hold"/>
                                        <p:tgtEl>
                                          <p:spTgt spid="25"/>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26"/>
                                        </p:tgtEl>
                                        <p:attrNameLst>
                                          <p:attrName>style.visibility</p:attrName>
                                        </p:attrNameLst>
                                      </p:cBhvr>
                                      <p:to>
                                        <p:strVal val="visible"/>
                                      </p:to>
                                    </p:set>
                                    <p:anim calcmode="lin" valueType="num">
                                      <p:cBhvr additive="base">
                                        <p:cTn id="87" dur="500" fill="hold"/>
                                        <p:tgtEl>
                                          <p:spTgt spid="26"/>
                                        </p:tgtEl>
                                        <p:attrNameLst>
                                          <p:attrName>ppt_x</p:attrName>
                                        </p:attrNameLst>
                                      </p:cBhvr>
                                      <p:tavLst>
                                        <p:tav tm="0">
                                          <p:val>
                                            <p:strVal val="#ppt_x"/>
                                          </p:val>
                                        </p:tav>
                                        <p:tav tm="100000">
                                          <p:val>
                                            <p:strVal val="#ppt_x"/>
                                          </p:val>
                                        </p:tav>
                                      </p:tavLst>
                                    </p:anim>
                                    <p:anim calcmode="lin" valueType="num">
                                      <p:cBhvr additive="base">
                                        <p:cTn id="88" dur="500" fill="hold"/>
                                        <p:tgtEl>
                                          <p:spTgt spid="26"/>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29"/>
                                        </p:tgtEl>
                                        <p:attrNameLst>
                                          <p:attrName>style.visibility</p:attrName>
                                        </p:attrNameLst>
                                      </p:cBhvr>
                                      <p:to>
                                        <p:strVal val="visible"/>
                                      </p:to>
                                    </p:set>
                                    <p:anim calcmode="lin" valueType="num">
                                      <p:cBhvr additive="base">
                                        <p:cTn id="91" dur="500" fill="hold"/>
                                        <p:tgtEl>
                                          <p:spTgt spid="29"/>
                                        </p:tgtEl>
                                        <p:attrNameLst>
                                          <p:attrName>ppt_x</p:attrName>
                                        </p:attrNameLst>
                                      </p:cBhvr>
                                      <p:tavLst>
                                        <p:tav tm="0">
                                          <p:val>
                                            <p:strVal val="#ppt_x"/>
                                          </p:val>
                                        </p:tav>
                                        <p:tav tm="100000">
                                          <p:val>
                                            <p:strVal val="#ppt_x"/>
                                          </p:val>
                                        </p:tav>
                                      </p:tavLst>
                                    </p:anim>
                                    <p:anim calcmode="lin" valueType="num">
                                      <p:cBhvr additive="base">
                                        <p:cTn id="92"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12" grpId="0"/>
      <p:bldP spid="13" grpId="0"/>
      <p:bldP spid="14" grpId="0"/>
      <p:bldP spid="15" grpId="0" animBg="1"/>
      <p:bldP spid="16" grpId="0" animBg="1"/>
      <p:bldP spid="18" grpId="0"/>
      <p:bldP spid="19" grpId="0"/>
      <p:bldP spid="20" grpId="0"/>
      <p:bldP spid="21" grpId="0" animBg="1"/>
      <p:bldP spid="22" grpId="0" animBg="1"/>
      <p:bldP spid="24" grpId="0"/>
      <p:bldP spid="25" grpId="0"/>
      <p:bldP spid="26" grpId="0"/>
      <p:bldP spid="27" grpId="0"/>
      <p:bldP spid="28" grpId="0"/>
      <p:bldP spid="29"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Classes and associations in Bank </a:t>
            </a:r>
          </a:p>
        </p:txBody>
      </p:sp>
      <p:sp>
        <p:nvSpPr>
          <p:cNvPr id="4" name="Rectangle 3"/>
          <p:cNvSpPr/>
          <p:nvPr/>
        </p:nvSpPr>
        <p:spPr bwMode="auto">
          <a:xfrm>
            <a:off x="990600" y="1981200"/>
            <a:ext cx="1295400" cy="4572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rPr>
              <a:t>Bank</a:t>
            </a:r>
          </a:p>
        </p:txBody>
      </p:sp>
      <p:sp>
        <p:nvSpPr>
          <p:cNvPr id="5" name="Rectangle 4"/>
          <p:cNvSpPr/>
          <p:nvPr/>
        </p:nvSpPr>
        <p:spPr bwMode="auto">
          <a:xfrm>
            <a:off x="4335463" y="1981200"/>
            <a:ext cx="1303337" cy="4572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rPr>
              <a:t> ATM </a:t>
            </a:r>
          </a:p>
        </p:txBody>
      </p:sp>
      <p:cxnSp>
        <p:nvCxnSpPr>
          <p:cNvPr id="7" name="Straight Connector 6"/>
          <p:cNvCxnSpPr>
            <a:stCxn id="4" idx="3"/>
            <a:endCxn id="5" idx="1"/>
          </p:cNvCxnSpPr>
          <p:nvPr/>
        </p:nvCxnSpPr>
        <p:spPr bwMode="auto">
          <a:xfrm>
            <a:off x="2286000" y="2209800"/>
            <a:ext cx="2049463"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TextBox 7"/>
          <p:cNvSpPr txBox="1"/>
          <p:nvPr/>
        </p:nvSpPr>
        <p:spPr>
          <a:xfrm>
            <a:off x="2362200" y="1981200"/>
            <a:ext cx="304800" cy="276999"/>
          </a:xfrm>
          <a:prstGeom prst="rect">
            <a:avLst/>
          </a:prstGeom>
          <a:noFill/>
        </p:spPr>
        <p:txBody>
          <a:bodyPr wrap="square" rtlCol="0">
            <a:spAutoFit/>
          </a:bodyPr>
          <a:lstStyle/>
          <a:p>
            <a:r>
              <a:rPr lang="en-US" sz="1200" dirty="0"/>
              <a:t>1</a:t>
            </a:r>
          </a:p>
        </p:txBody>
      </p:sp>
      <p:sp>
        <p:nvSpPr>
          <p:cNvPr id="9" name="TextBox 8"/>
          <p:cNvSpPr txBox="1"/>
          <p:nvPr/>
        </p:nvSpPr>
        <p:spPr>
          <a:xfrm>
            <a:off x="4038600" y="1981200"/>
            <a:ext cx="304800" cy="276999"/>
          </a:xfrm>
          <a:prstGeom prst="rect">
            <a:avLst/>
          </a:prstGeom>
          <a:noFill/>
        </p:spPr>
        <p:txBody>
          <a:bodyPr wrap="square" rtlCol="0">
            <a:spAutoFit/>
          </a:bodyPr>
          <a:lstStyle/>
          <a:p>
            <a:r>
              <a:rPr lang="en-US" sz="1200" dirty="0"/>
              <a:t>1</a:t>
            </a:r>
          </a:p>
        </p:txBody>
      </p:sp>
      <p:sp>
        <p:nvSpPr>
          <p:cNvPr id="10" name="TextBox 9"/>
          <p:cNvSpPr txBox="1"/>
          <p:nvPr/>
        </p:nvSpPr>
        <p:spPr>
          <a:xfrm>
            <a:off x="2819400" y="1905000"/>
            <a:ext cx="982663" cy="307777"/>
          </a:xfrm>
          <a:prstGeom prst="rect">
            <a:avLst/>
          </a:prstGeom>
          <a:noFill/>
        </p:spPr>
        <p:txBody>
          <a:bodyPr wrap="square" rtlCol="0">
            <a:spAutoFit/>
          </a:bodyPr>
          <a:lstStyle/>
          <a:p>
            <a:r>
              <a:rPr lang="en-US" sz="1400" dirty="0"/>
              <a:t>maintains</a:t>
            </a:r>
          </a:p>
        </p:txBody>
      </p:sp>
      <p:sp>
        <p:nvSpPr>
          <p:cNvPr id="11" name="Rectangle 10"/>
          <p:cNvSpPr/>
          <p:nvPr/>
        </p:nvSpPr>
        <p:spPr bwMode="auto">
          <a:xfrm>
            <a:off x="2667000" y="3200400"/>
            <a:ext cx="1371600" cy="4572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Customer</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cxnSp>
        <p:nvCxnSpPr>
          <p:cNvPr id="13" name="Straight Connector 12"/>
          <p:cNvCxnSpPr>
            <a:stCxn id="4" idx="2"/>
          </p:cNvCxnSpPr>
          <p:nvPr/>
        </p:nvCxnSpPr>
        <p:spPr bwMode="auto">
          <a:xfrm>
            <a:off x="1638300" y="2438400"/>
            <a:ext cx="1638300" cy="762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TextBox 13"/>
          <p:cNvSpPr txBox="1"/>
          <p:nvPr/>
        </p:nvSpPr>
        <p:spPr>
          <a:xfrm>
            <a:off x="1447800" y="2466201"/>
            <a:ext cx="304800" cy="276999"/>
          </a:xfrm>
          <a:prstGeom prst="rect">
            <a:avLst/>
          </a:prstGeom>
          <a:noFill/>
        </p:spPr>
        <p:txBody>
          <a:bodyPr wrap="square" rtlCol="0">
            <a:spAutoFit/>
          </a:bodyPr>
          <a:lstStyle/>
          <a:p>
            <a:r>
              <a:rPr lang="en-US" sz="1200" dirty="0"/>
              <a:t>1</a:t>
            </a:r>
          </a:p>
        </p:txBody>
      </p:sp>
      <p:sp>
        <p:nvSpPr>
          <p:cNvPr id="15" name="TextBox 14"/>
          <p:cNvSpPr txBox="1"/>
          <p:nvPr/>
        </p:nvSpPr>
        <p:spPr>
          <a:xfrm>
            <a:off x="3200399" y="2923401"/>
            <a:ext cx="601663" cy="276999"/>
          </a:xfrm>
          <a:prstGeom prst="rect">
            <a:avLst/>
          </a:prstGeom>
          <a:noFill/>
        </p:spPr>
        <p:txBody>
          <a:bodyPr wrap="square" rtlCol="0">
            <a:spAutoFit/>
          </a:bodyPr>
          <a:lstStyle/>
          <a:p>
            <a:r>
              <a:rPr lang="en-US" sz="1200" dirty="0"/>
              <a:t>1…*</a:t>
            </a:r>
          </a:p>
        </p:txBody>
      </p:sp>
      <p:sp>
        <p:nvSpPr>
          <p:cNvPr id="16" name="Rectangle 15"/>
          <p:cNvSpPr/>
          <p:nvPr/>
        </p:nvSpPr>
        <p:spPr bwMode="auto">
          <a:xfrm>
            <a:off x="2743200" y="4495800"/>
            <a:ext cx="1371600" cy="4572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rPr>
              <a:t>Account</a:t>
            </a:r>
          </a:p>
        </p:txBody>
      </p:sp>
      <p:cxnSp>
        <p:nvCxnSpPr>
          <p:cNvPr id="22" name="Straight Connector 21"/>
          <p:cNvCxnSpPr>
            <a:stCxn id="11" idx="2"/>
            <a:endCxn id="16" idx="0"/>
          </p:cNvCxnSpPr>
          <p:nvPr/>
        </p:nvCxnSpPr>
        <p:spPr bwMode="auto">
          <a:xfrm>
            <a:off x="3352800" y="3657600"/>
            <a:ext cx="76200" cy="8382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TextBox 22"/>
          <p:cNvSpPr txBox="1"/>
          <p:nvPr/>
        </p:nvSpPr>
        <p:spPr>
          <a:xfrm>
            <a:off x="3436937" y="3657600"/>
            <a:ext cx="601663" cy="276999"/>
          </a:xfrm>
          <a:prstGeom prst="rect">
            <a:avLst/>
          </a:prstGeom>
          <a:noFill/>
        </p:spPr>
        <p:txBody>
          <a:bodyPr wrap="square" rtlCol="0">
            <a:spAutoFit/>
          </a:bodyPr>
          <a:lstStyle/>
          <a:p>
            <a:r>
              <a:rPr lang="en-US" sz="1200" dirty="0"/>
              <a:t>1</a:t>
            </a:r>
          </a:p>
        </p:txBody>
      </p:sp>
      <p:sp>
        <p:nvSpPr>
          <p:cNvPr id="24" name="TextBox 23"/>
          <p:cNvSpPr txBox="1"/>
          <p:nvPr/>
        </p:nvSpPr>
        <p:spPr>
          <a:xfrm>
            <a:off x="2903537" y="4267200"/>
            <a:ext cx="601663" cy="276999"/>
          </a:xfrm>
          <a:prstGeom prst="rect">
            <a:avLst/>
          </a:prstGeom>
          <a:noFill/>
        </p:spPr>
        <p:txBody>
          <a:bodyPr wrap="square" rtlCol="0">
            <a:spAutoFit/>
          </a:bodyPr>
          <a:lstStyle/>
          <a:p>
            <a:r>
              <a:rPr lang="en-US" sz="1200" dirty="0"/>
              <a:t>1…*</a:t>
            </a:r>
          </a:p>
        </p:txBody>
      </p:sp>
      <p:sp>
        <p:nvSpPr>
          <p:cNvPr id="25" name="TextBox 24"/>
          <p:cNvSpPr txBox="1"/>
          <p:nvPr/>
        </p:nvSpPr>
        <p:spPr>
          <a:xfrm>
            <a:off x="2370137" y="2514600"/>
            <a:ext cx="982663" cy="307777"/>
          </a:xfrm>
          <a:prstGeom prst="rect">
            <a:avLst/>
          </a:prstGeom>
          <a:noFill/>
        </p:spPr>
        <p:txBody>
          <a:bodyPr wrap="square" rtlCol="0">
            <a:spAutoFit/>
          </a:bodyPr>
          <a:lstStyle/>
          <a:p>
            <a:r>
              <a:rPr lang="en-US" sz="1400" dirty="0"/>
              <a:t>has</a:t>
            </a:r>
          </a:p>
        </p:txBody>
      </p:sp>
      <p:sp>
        <p:nvSpPr>
          <p:cNvPr id="26" name="Rectangle 25"/>
          <p:cNvSpPr/>
          <p:nvPr/>
        </p:nvSpPr>
        <p:spPr bwMode="auto">
          <a:xfrm>
            <a:off x="6477000" y="4495800"/>
            <a:ext cx="1600200" cy="4572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2400" dirty="0">
                <a:latin typeface="Times New Roman" panose="02020603050405020304" pitchFamily="18" charset="0"/>
              </a:rPr>
              <a:t>Debit card</a:t>
            </a:r>
            <a:endParaRPr kumimoji="0" lang="en-US" sz="2400" b="0" i="0" u="none" strike="noStrike" cap="none" normalizeH="0" baseline="0" dirty="0">
              <a:ln>
                <a:noFill/>
              </a:ln>
              <a:solidFill>
                <a:schemeClr val="tx1"/>
              </a:solidFill>
              <a:effectLst/>
              <a:latin typeface="Times New Roman" panose="02020603050405020304" pitchFamily="18" charset="0"/>
            </a:endParaRPr>
          </a:p>
        </p:txBody>
      </p:sp>
      <p:cxnSp>
        <p:nvCxnSpPr>
          <p:cNvPr id="28" name="Straight Connector 27"/>
          <p:cNvCxnSpPr>
            <a:stCxn id="16" idx="3"/>
            <a:endCxn id="26" idx="1"/>
          </p:cNvCxnSpPr>
          <p:nvPr/>
        </p:nvCxnSpPr>
        <p:spPr bwMode="auto">
          <a:xfrm>
            <a:off x="4114800" y="4724400"/>
            <a:ext cx="23622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TextBox 28"/>
          <p:cNvSpPr txBox="1"/>
          <p:nvPr/>
        </p:nvSpPr>
        <p:spPr>
          <a:xfrm>
            <a:off x="4198937" y="4800601"/>
            <a:ext cx="373063" cy="276999"/>
          </a:xfrm>
          <a:prstGeom prst="rect">
            <a:avLst/>
          </a:prstGeom>
          <a:noFill/>
        </p:spPr>
        <p:txBody>
          <a:bodyPr wrap="square" rtlCol="0">
            <a:spAutoFit/>
          </a:bodyPr>
          <a:lstStyle/>
          <a:p>
            <a:r>
              <a:rPr lang="en-US" sz="1200" dirty="0"/>
              <a:t>1</a:t>
            </a:r>
          </a:p>
        </p:txBody>
      </p:sp>
      <p:sp>
        <p:nvSpPr>
          <p:cNvPr id="31" name="TextBox 30"/>
          <p:cNvSpPr txBox="1"/>
          <p:nvPr/>
        </p:nvSpPr>
        <p:spPr>
          <a:xfrm>
            <a:off x="6103937" y="4800600"/>
            <a:ext cx="373063" cy="276999"/>
          </a:xfrm>
          <a:prstGeom prst="rect">
            <a:avLst/>
          </a:prstGeom>
          <a:noFill/>
        </p:spPr>
        <p:txBody>
          <a:bodyPr wrap="square" rtlCol="0">
            <a:spAutoFit/>
          </a:bodyPr>
          <a:lstStyle/>
          <a:p>
            <a:r>
              <a:rPr lang="en-US" sz="1200" dirty="0"/>
              <a:t>1</a:t>
            </a:r>
          </a:p>
        </p:txBody>
      </p:sp>
      <p:sp>
        <p:nvSpPr>
          <p:cNvPr id="33" name="TextBox 32"/>
          <p:cNvSpPr txBox="1"/>
          <p:nvPr/>
        </p:nvSpPr>
        <p:spPr>
          <a:xfrm>
            <a:off x="4427537" y="4416623"/>
            <a:ext cx="1744663" cy="307777"/>
          </a:xfrm>
          <a:prstGeom prst="rect">
            <a:avLst/>
          </a:prstGeom>
          <a:noFill/>
        </p:spPr>
        <p:txBody>
          <a:bodyPr wrap="square" rtlCol="0">
            <a:spAutoFit/>
          </a:bodyPr>
          <a:lstStyle/>
          <a:p>
            <a:r>
              <a:rPr lang="en-US" sz="1400" dirty="0"/>
              <a:t>Provide access to</a:t>
            </a:r>
          </a:p>
        </p:txBody>
      </p:sp>
      <p:sp>
        <p:nvSpPr>
          <p:cNvPr id="35" name="Rectangle 34"/>
          <p:cNvSpPr/>
          <p:nvPr/>
        </p:nvSpPr>
        <p:spPr bwMode="auto">
          <a:xfrm>
            <a:off x="7383463" y="1828800"/>
            <a:ext cx="1684337" cy="7620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anose="02020603050405020304" pitchFamily="18" charset="0"/>
              </a:rPr>
              <a:t> ATM transaction </a:t>
            </a:r>
          </a:p>
        </p:txBody>
      </p:sp>
      <p:cxnSp>
        <p:nvCxnSpPr>
          <p:cNvPr id="37" name="Straight Connector 36"/>
          <p:cNvCxnSpPr>
            <a:stCxn id="5" idx="3"/>
            <a:endCxn id="35" idx="1"/>
          </p:cNvCxnSpPr>
          <p:nvPr/>
        </p:nvCxnSpPr>
        <p:spPr bwMode="auto">
          <a:xfrm>
            <a:off x="5638800" y="2209800"/>
            <a:ext cx="1744663"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 name="TextBox 37"/>
          <p:cNvSpPr txBox="1"/>
          <p:nvPr/>
        </p:nvSpPr>
        <p:spPr>
          <a:xfrm>
            <a:off x="6103937" y="2283023"/>
            <a:ext cx="982663" cy="307777"/>
          </a:xfrm>
          <a:prstGeom prst="rect">
            <a:avLst/>
          </a:prstGeom>
          <a:noFill/>
        </p:spPr>
        <p:txBody>
          <a:bodyPr wrap="square" rtlCol="0">
            <a:spAutoFit/>
          </a:bodyPr>
          <a:lstStyle/>
          <a:p>
            <a:r>
              <a:rPr lang="en-US" sz="1400" dirty="0"/>
              <a:t>performs</a:t>
            </a:r>
          </a:p>
        </p:txBody>
      </p:sp>
      <p:sp>
        <p:nvSpPr>
          <p:cNvPr id="39" name="TextBox 38"/>
          <p:cNvSpPr txBox="1"/>
          <p:nvPr/>
        </p:nvSpPr>
        <p:spPr>
          <a:xfrm>
            <a:off x="5638800" y="1932801"/>
            <a:ext cx="373063" cy="276999"/>
          </a:xfrm>
          <a:prstGeom prst="rect">
            <a:avLst/>
          </a:prstGeom>
          <a:noFill/>
        </p:spPr>
        <p:txBody>
          <a:bodyPr wrap="square" rtlCol="0">
            <a:spAutoFit/>
          </a:bodyPr>
          <a:lstStyle/>
          <a:p>
            <a:r>
              <a:rPr lang="en-US" sz="1200" dirty="0"/>
              <a:t>1</a:t>
            </a:r>
          </a:p>
        </p:txBody>
      </p:sp>
      <p:sp>
        <p:nvSpPr>
          <p:cNvPr id="40" name="TextBox 39"/>
          <p:cNvSpPr txBox="1"/>
          <p:nvPr/>
        </p:nvSpPr>
        <p:spPr>
          <a:xfrm>
            <a:off x="6850063" y="1905000"/>
            <a:ext cx="541337" cy="276999"/>
          </a:xfrm>
          <a:prstGeom prst="rect">
            <a:avLst/>
          </a:prstGeom>
          <a:noFill/>
        </p:spPr>
        <p:txBody>
          <a:bodyPr wrap="square" rtlCol="0">
            <a:spAutoFit/>
          </a:bodyPr>
          <a:lstStyle/>
          <a:p>
            <a:r>
              <a:rPr lang="en-US" sz="1200" dirty="0"/>
              <a:t>0..*</a:t>
            </a:r>
          </a:p>
        </p:txBody>
      </p:sp>
    </p:spTree>
    <p:extLst>
      <p:ext uri="{BB962C8B-B14F-4D97-AF65-F5344CB8AC3E}">
        <p14:creationId xmlns:p14="http://schemas.microsoft.com/office/powerpoint/2010/main" val="27284521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stretch>
            <a:fillRect/>
          </a:stretch>
        </p:blipFill>
        <p:spPr>
          <a:xfrm>
            <a:off x="359775" y="834917"/>
            <a:ext cx="2383425" cy="4270483"/>
          </a:xfrm>
          <a:prstGeom prst="rect">
            <a:avLst/>
          </a:prstGeom>
        </p:spPr>
      </p:pic>
      <p:pic>
        <p:nvPicPr>
          <p:cNvPr id="6" name="Picture 5"/>
          <p:cNvPicPr>
            <a:picLocks noChangeAspect="1"/>
          </p:cNvPicPr>
          <p:nvPr/>
        </p:nvPicPr>
        <p:blipFill>
          <a:blip r:embed="rId3" cstate="print"/>
          <a:stretch>
            <a:fillRect/>
          </a:stretch>
        </p:blipFill>
        <p:spPr>
          <a:xfrm>
            <a:off x="3276600" y="762000"/>
            <a:ext cx="4655939" cy="2514600"/>
          </a:xfrm>
          <a:prstGeom prst="rect">
            <a:avLst/>
          </a:prstGeom>
        </p:spPr>
      </p:pic>
      <p:sp>
        <p:nvSpPr>
          <p:cNvPr id="7" name="Title 1"/>
          <p:cNvSpPr txBox="1">
            <a:spLocks/>
          </p:cNvSpPr>
          <p:nvPr/>
        </p:nvSpPr>
        <p:spPr bwMode="auto">
          <a:xfrm>
            <a:off x="1219200" y="-152400"/>
            <a:ext cx="76200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a:lstStyle>
          <a:p>
            <a:r>
              <a:rPr lang="en-US" sz="2800" dirty="0"/>
              <a:t>UML class examples with attributes and operations</a:t>
            </a:r>
          </a:p>
        </p:txBody>
      </p:sp>
      <p:pic>
        <p:nvPicPr>
          <p:cNvPr id="8" name="Picture 7"/>
          <p:cNvPicPr>
            <a:picLocks noChangeAspect="1"/>
          </p:cNvPicPr>
          <p:nvPr/>
        </p:nvPicPr>
        <p:blipFill>
          <a:blip r:embed="rId4" cstate="print"/>
          <a:stretch>
            <a:fillRect/>
          </a:stretch>
        </p:blipFill>
        <p:spPr>
          <a:xfrm>
            <a:off x="4343400" y="3352800"/>
            <a:ext cx="2286000" cy="3026067"/>
          </a:xfrm>
          <a:prstGeom prst="rect">
            <a:avLst/>
          </a:prstGeom>
        </p:spPr>
      </p:pic>
    </p:spTree>
    <p:extLst>
      <p:ext uri="{BB962C8B-B14F-4D97-AF65-F5344CB8AC3E}">
        <p14:creationId xmlns:p14="http://schemas.microsoft.com/office/powerpoint/2010/main" val="1609244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Generalization</a:t>
            </a:r>
          </a:p>
        </p:txBody>
      </p:sp>
      <p:sp>
        <p:nvSpPr>
          <p:cNvPr id="3" name="Content Placeholder 2"/>
          <p:cNvSpPr>
            <a:spLocks noGrp="1"/>
          </p:cNvSpPr>
          <p:nvPr>
            <p:ph idx="1"/>
          </p:nvPr>
        </p:nvSpPr>
        <p:spPr>
          <a:xfrm>
            <a:off x="990600" y="1676400"/>
            <a:ext cx="7772400" cy="4114800"/>
          </a:xfrm>
        </p:spPr>
        <p:txBody>
          <a:bodyPr/>
          <a:lstStyle/>
          <a:p>
            <a:r>
              <a:rPr lang="en-US" sz="2800" dirty="0"/>
              <a:t>Generalization is an everyday technique that we use to manage complexity. </a:t>
            </a:r>
          </a:p>
          <a:p>
            <a:r>
              <a:rPr lang="en-US" sz="2800" dirty="0"/>
              <a:t>Rather than learn the detailed characteristics of every entity that we experience, we place these entities in more general classes (animals, cars, houses, etc.) and learn the characteristics of these classes. </a:t>
            </a:r>
          </a:p>
          <a:p>
            <a:r>
              <a:rPr lang="en-US" sz="2800" dirty="0"/>
              <a:t>This allows us to infer that different members of these classes have some common characteristics </a:t>
            </a:r>
          </a:p>
          <a:p>
            <a:endParaRPr lang="en-US" sz="2800" dirty="0"/>
          </a:p>
        </p:txBody>
      </p:sp>
    </p:spTree>
    <p:extLst>
      <p:ext uri="{BB962C8B-B14F-4D97-AF65-F5344CB8AC3E}">
        <p14:creationId xmlns:p14="http://schemas.microsoft.com/office/powerpoint/2010/main" val="557832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Generalization</a:t>
            </a:r>
          </a:p>
        </p:txBody>
      </p:sp>
      <p:sp>
        <p:nvSpPr>
          <p:cNvPr id="3" name="Content Placeholder 2"/>
          <p:cNvSpPr>
            <a:spLocks noGrp="1"/>
          </p:cNvSpPr>
          <p:nvPr>
            <p:ph idx="1"/>
          </p:nvPr>
        </p:nvSpPr>
        <p:spPr>
          <a:xfrm>
            <a:off x="914400" y="1524000"/>
            <a:ext cx="7772400" cy="4114800"/>
          </a:xfrm>
        </p:spPr>
        <p:txBody>
          <a:bodyPr/>
          <a:lstStyle/>
          <a:p>
            <a:pPr algn="just"/>
            <a:r>
              <a:rPr lang="en-US" sz="2400" dirty="0"/>
              <a:t>One class (the </a:t>
            </a:r>
            <a:r>
              <a:rPr lang="en-US" sz="2400" b="1" dirty="0"/>
              <a:t>child class</a:t>
            </a:r>
            <a:r>
              <a:rPr lang="en-US" sz="2400" dirty="0"/>
              <a:t> or subclass) can inherit attributes and operations from another (the </a:t>
            </a:r>
            <a:r>
              <a:rPr lang="en-US" sz="2400" b="1" dirty="0"/>
              <a:t>parent class</a:t>
            </a:r>
            <a:r>
              <a:rPr lang="en-US" sz="2400" dirty="0"/>
              <a:t> or superclass). The parent class is more general than the child class.</a:t>
            </a:r>
          </a:p>
          <a:p>
            <a:pPr algn="just"/>
            <a:r>
              <a:rPr lang="en-US" sz="2400" dirty="0"/>
              <a:t>The lower-level classes are subclasses inherit the attributes and operations from their </a:t>
            </a:r>
            <a:r>
              <a:rPr lang="en-US" sz="2400" dirty="0" err="1"/>
              <a:t>superclasses</a:t>
            </a:r>
            <a:r>
              <a:rPr lang="en-US" sz="2400" dirty="0"/>
              <a:t>. These lower-level classes then add more specific attributes and operations.</a:t>
            </a:r>
          </a:p>
          <a:p>
            <a:pPr algn="just"/>
            <a:r>
              <a:rPr lang="en-US" sz="2400" dirty="0"/>
              <a:t>The inheritance hierarchy doesn't have to end at two levels: A child class can be a parent class for still another child class. </a:t>
            </a:r>
          </a:p>
        </p:txBody>
      </p:sp>
    </p:spTree>
    <p:extLst>
      <p:ext uri="{BB962C8B-B14F-4D97-AF65-F5344CB8AC3E}">
        <p14:creationId xmlns:p14="http://schemas.microsoft.com/office/powerpoint/2010/main" val="3128551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Generalization example</a:t>
            </a:r>
          </a:p>
        </p:txBody>
      </p:sp>
      <p:pic>
        <p:nvPicPr>
          <p:cNvPr id="4" name="Picture 3"/>
          <p:cNvPicPr>
            <a:picLocks noChangeAspect="1"/>
          </p:cNvPicPr>
          <p:nvPr/>
        </p:nvPicPr>
        <p:blipFill>
          <a:blip r:embed="rId2" cstate="print"/>
          <a:stretch>
            <a:fillRect/>
          </a:stretch>
        </p:blipFill>
        <p:spPr>
          <a:xfrm>
            <a:off x="547491" y="1909762"/>
            <a:ext cx="7592531" cy="3881438"/>
          </a:xfrm>
          <a:prstGeom prst="rect">
            <a:avLst/>
          </a:prstGeom>
        </p:spPr>
      </p:pic>
      <p:sp>
        <p:nvSpPr>
          <p:cNvPr id="5" name="TextBox 4"/>
          <p:cNvSpPr txBox="1"/>
          <p:nvPr/>
        </p:nvSpPr>
        <p:spPr>
          <a:xfrm>
            <a:off x="180722" y="1570272"/>
            <a:ext cx="5610478" cy="1477328"/>
          </a:xfrm>
          <a:prstGeom prst="rect">
            <a:avLst/>
          </a:prstGeom>
          <a:noFill/>
        </p:spPr>
        <p:txBody>
          <a:bodyPr wrap="square" rtlCol="0">
            <a:spAutoFit/>
          </a:bodyPr>
          <a:lstStyle/>
          <a:p>
            <a:r>
              <a:rPr lang="en-US" b="1" dirty="0"/>
              <a:t>Attributes: </a:t>
            </a:r>
            <a:r>
              <a:rPr lang="en-US" dirty="0"/>
              <a:t>Weight, passenger capacity, fuel tank capacity, </a:t>
            </a:r>
            <a:r>
              <a:rPr lang="en-US" dirty="0" err="1"/>
              <a:t>colour</a:t>
            </a:r>
            <a:r>
              <a:rPr lang="en-US" dirty="0"/>
              <a:t>, registration number, engine properties</a:t>
            </a:r>
          </a:p>
          <a:p>
            <a:r>
              <a:rPr lang="en-US" b="1" dirty="0"/>
              <a:t>Operation: </a:t>
            </a:r>
            <a:r>
              <a:rPr lang="en-US" dirty="0" err="1"/>
              <a:t>startEngine</a:t>
            </a:r>
            <a:r>
              <a:rPr lang="en-US" dirty="0"/>
              <a:t>(), </a:t>
            </a:r>
            <a:r>
              <a:rPr lang="en-US" dirty="0" err="1"/>
              <a:t>stopEngine</a:t>
            </a:r>
            <a:r>
              <a:rPr lang="en-US" dirty="0"/>
              <a:t>(), </a:t>
            </a:r>
            <a:r>
              <a:rPr lang="en-US" dirty="0" err="1"/>
              <a:t>applyBrake</a:t>
            </a:r>
            <a:r>
              <a:rPr lang="en-US" dirty="0"/>
              <a:t>(), accelerate()</a:t>
            </a:r>
          </a:p>
        </p:txBody>
      </p:sp>
      <p:sp>
        <p:nvSpPr>
          <p:cNvPr id="6" name="TextBox 5"/>
          <p:cNvSpPr txBox="1"/>
          <p:nvPr/>
        </p:nvSpPr>
        <p:spPr>
          <a:xfrm>
            <a:off x="990600" y="3276600"/>
            <a:ext cx="2362200" cy="369332"/>
          </a:xfrm>
          <a:prstGeom prst="rect">
            <a:avLst/>
          </a:prstGeom>
          <a:noFill/>
        </p:spPr>
        <p:txBody>
          <a:bodyPr wrap="square" rtlCol="0">
            <a:spAutoFit/>
          </a:bodyPr>
          <a:lstStyle/>
          <a:p>
            <a:r>
              <a:rPr lang="en-US" dirty="0"/>
              <a:t>Number of wheels</a:t>
            </a:r>
          </a:p>
        </p:txBody>
      </p:sp>
      <p:cxnSp>
        <p:nvCxnSpPr>
          <p:cNvPr id="8" name="Straight Arrow Connector 7"/>
          <p:cNvCxnSpPr/>
          <p:nvPr/>
        </p:nvCxnSpPr>
        <p:spPr bwMode="auto">
          <a:xfrm>
            <a:off x="4457700" y="2286000"/>
            <a:ext cx="1087185"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Straight Arrow Connector 10"/>
          <p:cNvCxnSpPr/>
          <p:nvPr/>
        </p:nvCxnSpPr>
        <p:spPr bwMode="auto">
          <a:xfrm>
            <a:off x="8140022" y="3110091"/>
            <a:ext cx="0" cy="16650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Straight Arrow Connector 12"/>
          <p:cNvCxnSpPr/>
          <p:nvPr/>
        </p:nvCxnSpPr>
        <p:spPr bwMode="auto">
          <a:xfrm>
            <a:off x="3048000" y="3429000"/>
            <a:ext cx="533400"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TextBox 13"/>
          <p:cNvSpPr txBox="1"/>
          <p:nvPr/>
        </p:nvSpPr>
        <p:spPr>
          <a:xfrm>
            <a:off x="1752600" y="5791200"/>
            <a:ext cx="2133600" cy="923330"/>
          </a:xfrm>
          <a:prstGeom prst="rect">
            <a:avLst/>
          </a:prstGeom>
          <a:noFill/>
        </p:spPr>
        <p:txBody>
          <a:bodyPr wrap="square" rtlCol="0">
            <a:spAutoFit/>
          </a:bodyPr>
          <a:lstStyle/>
          <a:p>
            <a:r>
              <a:rPr lang="en-US" dirty="0" err="1"/>
              <a:t>NumOfdoors</a:t>
            </a:r>
            <a:endParaRPr lang="en-US" dirty="0"/>
          </a:p>
          <a:p>
            <a:r>
              <a:rPr lang="en-US" dirty="0" err="1"/>
              <a:t>SwitchACON</a:t>
            </a:r>
            <a:r>
              <a:rPr lang="en-US" dirty="0"/>
              <a:t>(),</a:t>
            </a:r>
          </a:p>
          <a:p>
            <a:r>
              <a:rPr lang="en-US" dirty="0" err="1"/>
              <a:t>SwitchACOFF</a:t>
            </a:r>
            <a:r>
              <a:rPr lang="en-US" dirty="0"/>
              <a:t>()</a:t>
            </a:r>
          </a:p>
        </p:txBody>
      </p:sp>
    </p:spTree>
    <p:extLst>
      <p:ext uri="{BB962C8B-B14F-4D97-AF65-F5344CB8AC3E}">
        <p14:creationId xmlns:p14="http://schemas.microsoft.com/office/powerpoint/2010/main" val="2526768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additive="base">
                                        <p:cTn id="29" dur="500" fill="hold"/>
                                        <p:tgtEl>
                                          <p:spTgt spid="14"/>
                                        </p:tgtEl>
                                        <p:attrNameLst>
                                          <p:attrName>ppt_x</p:attrName>
                                        </p:attrNameLst>
                                      </p:cBhvr>
                                      <p:tavLst>
                                        <p:tav tm="0">
                                          <p:val>
                                            <p:strVal val="#ppt_x"/>
                                          </p:val>
                                        </p:tav>
                                        <p:tav tm="100000">
                                          <p:val>
                                            <p:strVal val="#ppt_x"/>
                                          </p:val>
                                        </p:tav>
                                      </p:tavLst>
                                    </p:anim>
                                    <p:anim calcmode="lin" valueType="num">
                                      <p:cBhvr additive="base">
                                        <p:cTn id="3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4"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Generalization example</a:t>
            </a:r>
          </a:p>
        </p:txBody>
      </p:sp>
      <p:pic>
        <p:nvPicPr>
          <p:cNvPr id="5" name="Picture 4"/>
          <p:cNvPicPr>
            <a:picLocks noChangeAspect="1"/>
          </p:cNvPicPr>
          <p:nvPr/>
        </p:nvPicPr>
        <p:blipFill>
          <a:blip r:embed="rId2" cstate="print"/>
          <a:stretch>
            <a:fillRect/>
          </a:stretch>
        </p:blipFill>
        <p:spPr>
          <a:xfrm>
            <a:off x="1550275" y="1905000"/>
            <a:ext cx="6069725" cy="2514600"/>
          </a:xfrm>
          <a:prstGeom prst="rect">
            <a:avLst/>
          </a:prstGeom>
        </p:spPr>
      </p:pic>
    </p:spTree>
    <p:extLst>
      <p:ext uri="{BB962C8B-B14F-4D97-AF65-F5344CB8AC3E}">
        <p14:creationId xmlns:p14="http://schemas.microsoft.com/office/powerpoint/2010/main" val="34558804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generalization hierarchy with added detail</a:t>
            </a:r>
            <a:r>
              <a:rPr lang="en-GB" dirty="0"/>
              <a:t> </a:t>
            </a:r>
            <a:endParaRPr lang="en-US" dirty="0"/>
          </a:p>
        </p:txBody>
      </p:sp>
      <p:pic>
        <p:nvPicPr>
          <p:cNvPr id="4" name="Picture 3"/>
          <p:cNvPicPr>
            <a:picLocks noChangeAspect="1"/>
          </p:cNvPicPr>
          <p:nvPr/>
        </p:nvPicPr>
        <p:blipFill>
          <a:blip r:embed="rId2" cstate="print"/>
          <a:stretch>
            <a:fillRect/>
          </a:stretch>
        </p:blipFill>
        <p:spPr>
          <a:xfrm>
            <a:off x="1969221" y="1981200"/>
            <a:ext cx="4964979" cy="4069989"/>
          </a:xfrm>
          <a:prstGeom prst="rect">
            <a:avLst/>
          </a:prstGeom>
        </p:spPr>
      </p:pic>
    </p:spTree>
    <p:extLst>
      <p:ext uri="{BB962C8B-B14F-4D97-AF65-F5344CB8AC3E}">
        <p14:creationId xmlns:p14="http://schemas.microsoft.com/office/powerpoint/2010/main" val="32308983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3175" y="457200"/>
            <a:ext cx="7804150" cy="91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165" tIns="46748" rIns="95165" bIns="46748" numCol="1" anchor="b"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GB" sz="4000" b="0" i="0" u="none" strike="noStrike" cap="none" normalizeH="0" baseline="0" dirty="0">
                <a:ln>
                  <a:noFill/>
                </a:ln>
                <a:solidFill>
                  <a:schemeClr val="tx1"/>
                </a:solidFill>
                <a:effectLst/>
                <a:latin typeface="Arial" panose="020B0604020202020204" pitchFamily="34" charset="0"/>
              </a:rPr>
              <a:t>Library User class hierarchy</a:t>
            </a:r>
            <a:endParaRPr kumimoji="0" lang="en-US" sz="4400" b="0" i="0" u="none" strike="noStrike" cap="none" normalizeH="0" baseline="0" dirty="0">
              <a:ln>
                <a:noFill/>
              </a:ln>
              <a:solidFill>
                <a:schemeClr val="tx2"/>
              </a:solidFill>
              <a:effectLst/>
              <a:latin typeface="Arial" panose="020B0604020202020204" pitchFamily="34" charset="0"/>
            </a:endParaRPr>
          </a:p>
        </p:txBody>
      </p:sp>
      <p:sp>
        <p:nvSpPr>
          <p:cNvPr id="5" name="Rectangle 3"/>
          <p:cNvSpPr>
            <a:spLocks noChangeArrowheads="1"/>
          </p:cNvSpPr>
          <p:nvPr/>
        </p:nvSpPr>
        <p:spPr bwMode="auto">
          <a:xfrm>
            <a:off x="476250" y="1751013"/>
            <a:ext cx="7162800" cy="4648200"/>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p>
            <a:endParaRPr lang="en-US"/>
          </a:p>
        </p:txBody>
      </p:sp>
      <p:pic>
        <p:nvPicPr>
          <p:cNvPr id="2052"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14450" y="1903413"/>
            <a:ext cx="5257800" cy="4192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0040205"/>
      </p:ext>
    </p:extLst>
  </p:cSld>
  <p:clrMapOvr>
    <a:masterClrMapping/>
  </p:clrMapOvr>
</p:sld>
</file>

<file path=ppt/theme/theme1.xml><?xml version="1.0" encoding="utf-8"?>
<a:theme xmlns:a="http://schemas.openxmlformats.org/drawingml/2006/main" name="Min halsduk">
  <a:themeElements>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fontScheme name="Min halsduk">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Min halsduk 1">
        <a:dk1>
          <a:srgbClr val="5490A8"/>
        </a:dk1>
        <a:lt1>
          <a:srgbClr val="DDDDDD"/>
        </a:lt1>
        <a:dk2>
          <a:srgbClr val="00172E"/>
        </a:dk2>
        <a:lt2>
          <a:srgbClr val="CCECFF"/>
        </a:lt2>
        <a:accent1>
          <a:srgbClr val="0099CC"/>
        </a:accent1>
        <a:accent2>
          <a:srgbClr val="3366CC"/>
        </a:accent2>
        <a:accent3>
          <a:srgbClr val="AAABAD"/>
        </a:accent3>
        <a:accent4>
          <a:srgbClr val="BDBDBD"/>
        </a:accent4>
        <a:accent5>
          <a:srgbClr val="AACAE2"/>
        </a:accent5>
        <a:accent6>
          <a:srgbClr val="2D5CB9"/>
        </a:accent6>
        <a:hlink>
          <a:srgbClr val="99CCFF"/>
        </a:hlink>
        <a:folHlink>
          <a:srgbClr val="E1E1B7"/>
        </a:folHlink>
      </a:clrScheme>
      <a:clrMap bg1="dk2" tx1="lt1" bg2="dk1" tx2="lt2" accent1="accent1" accent2="accent2" accent3="accent3" accent4="accent4" accent5="accent5" accent6="accent6" hlink="hlink" folHlink="folHlink"/>
    </a:extraClrScheme>
    <a:extraClrScheme>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clrMap bg1="lt1" tx1="dk1" bg2="lt2" tx2="dk2" accent1="accent1" accent2="accent2" accent3="accent3" accent4="accent4" accent5="accent5" accent6="accent6" hlink="hlink" folHlink="folHlink"/>
    </a:extraClrScheme>
    <a:extraClrScheme>
      <a:clrScheme name="Min halsduk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in halsduk 4">
        <a:dk1>
          <a:srgbClr val="000000"/>
        </a:dk1>
        <a:lt1>
          <a:srgbClr val="FFFFFF"/>
        </a:lt1>
        <a:dk2>
          <a:srgbClr val="666633"/>
        </a:dk2>
        <a:lt2>
          <a:srgbClr val="908A6C"/>
        </a:lt2>
        <a:accent1>
          <a:srgbClr val="808000"/>
        </a:accent1>
        <a:accent2>
          <a:srgbClr val="996633"/>
        </a:accent2>
        <a:accent3>
          <a:srgbClr val="FFFFFF"/>
        </a:accent3>
        <a:accent4>
          <a:srgbClr val="000000"/>
        </a:accent4>
        <a:accent5>
          <a:srgbClr val="C0C0AA"/>
        </a:accent5>
        <a:accent6>
          <a:srgbClr val="8A5C2D"/>
        </a:accent6>
        <a:hlink>
          <a:srgbClr val="CCCC00"/>
        </a:hlink>
        <a:folHlink>
          <a:srgbClr val="D6DEB2"/>
        </a:folHlink>
      </a:clrScheme>
      <a:clrMap bg1="lt1" tx1="dk1" bg2="lt2" tx2="dk2" accent1="accent1" accent2="accent2" accent3="accent3" accent4="accent4" accent5="accent5" accent6="accent6" hlink="hlink" folHlink="folHlink"/>
    </a:extraClrScheme>
    <a:extraClrScheme>
      <a:clrScheme name="Min halsduk 5">
        <a:dk1>
          <a:srgbClr val="000000"/>
        </a:dk1>
        <a:lt1>
          <a:srgbClr val="FFFFFF"/>
        </a:lt1>
        <a:dk2>
          <a:srgbClr val="181848"/>
        </a:dk2>
        <a:lt2>
          <a:srgbClr val="656F97"/>
        </a:lt2>
        <a:accent1>
          <a:srgbClr val="6666FF"/>
        </a:accent1>
        <a:accent2>
          <a:srgbClr val="333399"/>
        </a:accent2>
        <a:accent3>
          <a:srgbClr val="FFFFFF"/>
        </a:accent3>
        <a:accent4>
          <a:srgbClr val="000000"/>
        </a:accent4>
        <a:accent5>
          <a:srgbClr val="B8B8FF"/>
        </a:accent5>
        <a:accent6>
          <a:srgbClr val="2D2D8A"/>
        </a:accent6>
        <a:hlink>
          <a:srgbClr val="9A9ABC"/>
        </a:hlink>
        <a:folHlink>
          <a:srgbClr val="D2B6CE"/>
        </a:folHlink>
      </a:clrScheme>
      <a:clrMap bg1="lt1" tx1="dk1" bg2="lt2" tx2="dk2" accent1="accent1" accent2="accent2" accent3="accent3" accent4="accent4" accent5="accent5" accent6="accent6" hlink="hlink" folHlink="folHlink"/>
    </a:extraClrScheme>
    <a:extraClrScheme>
      <a:clrScheme name="Min halsduk 6">
        <a:dk1>
          <a:srgbClr val="CC0066"/>
        </a:dk1>
        <a:lt1>
          <a:srgbClr val="FFFFFF"/>
        </a:lt1>
        <a:dk2>
          <a:srgbClr val="000000"/>
        </a:dk2>
        <a:lt2>
          <a:srgbClr val="CC0099"/>
        </a:lt2>
        <a:accent1>
          <a:srgbClr val="FF9900"/>
        </a:accent1>
        <a:accent2>
          <a:srgbClr val="CC6600"/>
        </a:accent2>
        <a:accent3>
          <a:srgbClr val="AAAAAA"/>
        </a:accent3>
        <a:accent4>
          <a:srgbClr val="DADADA"/>
        </a:accent4>
        <a:accent5>
          <a:srgbClr val="FFCAAA"/>
        </a:accent5>
        <a:accent6>
          <a:srgbClr val="B95C00"/>
        </a:accent6>
        <a:hlink>
          <a:srgbClr val="009900"/>
        </a:hlink>
        <a:folHlink>
          <a:srgbClr val="A50021"/>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10248</TotalTime>
  <Words>2168</Words>
  <Application>Microsoft Office PowerPoint</Application>
  <PresentationFormat>On-screen Show (4:3)</PresentationFormat>
  <Paragraphs>276</Paragraphs>
  <Slides>57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57</vt:i4>
      </vt:variant>
    </vt:vector>
  </HeadingPairs>
  <TitlesOfParts>
    <vt:vector size="63" baseType="lpstr">
      <vt:lpstr>Arial</vt:lpstr>
      <vt:lpstr>Monotype Sorts</vt:lpstr>
      <vt:lpstr>Times New Roman</vt:lpstr>
      <vt:lpstr>Times-Roman</vt:lpstr>
      <vt:lpstr>Wingdings</vt:lpstr>
      <vt:lpstr>Min halsduk</vt:lpstr>
      <vt:lpstr>System modeling</vt:lpstr>
      <vt:lpstr>PowerPoint Presentation</vt:lpstr>
      <vt:lpstr>Limitations of the Human Brain  </vt:lpstr>
      <vt:lpstr>Pictures Are Easy, Words Are Hard</vt:lpstr>
      <vt:lpstr>Pictures Are Easy, Words Are Hard</vt:lpstr>
      <vt:lpstr>System modeling</vt:lpstr>
      <vt:lpstr>Existing and planned system models</vt:lpstr>
      <vt:lpstr>Uses of graphical models</vt:lpstr>
      <vt:lpstr>Types of System perspectives</vt:lpstr>
      <vt:lpstr>Context models</vt:lpstr>
      <vt:lpstr>Context model for E-restaurant</vt:lpstr>
      <vt:lpstr>System boundaries</vt:lpstr>
      <vt:lpstr>UML diagram types</vt:lpstr>
      <vt:lpstr>Interaction models</vt:lpstr>
      <vt:lpstr>Use case modeling</vt:lpstr>
      <vt:lpstr>Online Shopping System use cases example</vt:lpstr>
      <vt:lpstr>Online Shopping System Stakeholders and associated use cases</vt:lpstr>
      <vt:lpstr>Online Shopping System Stakeholders and associated use cases</vt:lpstr>
      <vt:lpstr>Transfer-data use case </vt:lpstr>
      <vt:lpstr>Tabular description of the ‘Transfer data’ use-case </vt:lpstr>
      <vt:lpstr>Use cases in the MHC-PMS involving the role ‘Medical Receptionist’ </vt:lpstr>
      <vt:lpstr>Use cases for the MHC-PMS </vt:lpstr>
      <vt:lpstr>Actor and Use Case Diagram</vt:lpstr>
      <vt:lpstr>Use Cases and Actors</vt:lpstr>
      <vt:lpstr>Use Case Diagram : Online Hotel Reservation</vt:lpstr>
      <vt:lpstr>Include and extends</vt:lpstr>
      <vt:lpstr>Use case “&lt;&lt;include&gt;&gt;” example</vt:lpstr>
      <vt:lpstr>Relationship Between Use Cases &lt;&lt;extends&gt;&gt;</vt:lpstr>
      <vt:lpstr>&lt;&lt;include&gt;&gt; and &lt;&lt;extend&gt;&gt;</vt:lpstr>
      <vt:lpstr>PowerPoint Presentation</vt:lpstr>
      <vt:lpstr>USE Case: Online Auction</vt:lpstr>
      <vt:lpstr>Sequence Diagrams</vt:lpstr>
      <vt:lpstr>Sequence Diagram Key Parts</vt:lpstr>
      <vt:lpstr>S.D (Make a Phone Call)</vt:lpstr>
      <vt:lpstr>PowerPoint Presentation</vt:lpstr>
      <vt:lpstr>PowerPoint Presentation</vt:lpstr>
      <vt:lpstr>Sequence Diagram Tutorial </vt:lpstr>
      <vt:lpstr>Structural models</vt:lpstr>
      <vt:lpstr>Class Diagram</vt:lpstr>
      <vt:lpstr>Class diagram usability</vt:lpstr>
      <vt:lpstr>Class Visibility in UML</vt:lpstr>
      <vt:lpstr>Multiplicity</vt:lpstr>
      <vt:lpstr>UML Association </vt:lpstr>
      <vt:lpstr>Aggregation and Composition</vt:lpstr>
      <vt:lpstr>Aggregation example</vt:lpstr>
      <vt:lpstr>Composition example</vt:lpstr>
      <vt:lpstr>UML Relation Notations</vt:lpstr>
      <vt:lpstr>UML classes and association </vt:lpstr>
      <vt:lpstr>UML classes and association </vt:lpstr>
      <vt:lpstr>Classes and associations in Bank </vt:lpstr>
      <vt:lpstr>PowerPoint Presentation</vt:lpstr>
      <vt:lpstr>Generalization</vt:lpstr>
      <vt:lpstr>Generalization</vt:lpstr>
      <vt:lpstr>Generalization example</vt:lpstr>
      <vt:lpstr>Generalization example</vt:lpstr>
      <vt:lpstr>A generalization hierarchy with added detail </vt:lpstr>
      <vt:lpstr>Library User class hierarchy</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modeling</dc:title>
  <dc:creator>Ahmad Salman Khan</dc:creator>
  <cp:lastModifiedBy>Windows User</cp:lastModifiedBy>
  <cp:revision>95</cp:revision>
  <dcterms:created xsi:type="dcterms:W3CDTF">2006-08-16T00:00:00Z</dcterms:created>
  <dcterms:modified xsi:type="dcterms:W3CDTF">2021-11-29T08:55:59Z</dcterms:modified>
</cp:coreProperties>
</file>
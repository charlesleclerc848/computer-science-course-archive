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7" r:id="rId19"/>
    <p:sldId id="273" r:id="rId20"/>
    <p:sldId id="274" r:id="rId21"/>
    <p:sldId id="275" r:id="rId22"/>
    <p:sldId id="276" r:id="rId23"/>
    <p:sldId id="278" r:id="rId24"/>
    <p:sldId id="282" r:id="rId25"/>
    <p:sldId id="281" r:id="rId26"/>
    <p:sldId id="279" r:id="rId27"/>
    <p:sldId id="280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1" autoAdjust="0"/>
    <p:restoredTop sz="91361" autoAdjust="0"/>
  </p:normalViewPr>
  <p:slideViewPr>
    <p:cSldViewPr snapToGrid="0">
      <p:cViewPr varScale="1">
        <p:scale>
          <a:sx n="60" d="100"/>
          <a:sy n="60" d="100"/>
        </p:scale>
        <p:origin x="7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287C39-25D3-47E8-8FBA-242425ACDFC7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741A13-39BC-4F25-B4F9-A175CE2B1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90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Why is an SRD Important?</a:t>
            </a:r>
          </a:p>
          <a:p>
            <a:r>
              <a:rPr lang="en-US" b="1" dirty="0" smtClean="0"/>
              <a:t>Ensures clarity</a:t>
            </a:r>
            <a:r>
              <a:rPr lang="en-US" dirty="0" smtClean="0"/>
              <a:t>: Developers and stakeholders know what needs to be built.</a:t>
            </a:r>
          </a:p>
          <a:p>
            <a:r>
              <a:rPr lang="en-US" b="1" dirty="0" smtClean="0"/>
              <a:t>Reduces errors</a:t>
            </a:r>
            <a:r>
              <a:rPr lang="en-US" dirty="0" smtClean="0"/>
              <a:t>: Avoids miscommunication and ensures alignment.</a:t>
            </a:r>
          </a:p>
          <a:p>
            <a:r>
              <a:rPr lang="en-US" b="1" dirty="0" smtClean="0"/>
              <a:t>Helps in testing</a:t>
            </a:r>
            <a:r>
              <a:rPr lang="en-US" dirty="0" smtClean="0"/>
              <a:t>: Testers can verify if the software meets requirements.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741A13-39BC-4F25-B4F9-A175CE2B16D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538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It follows a simple format User:</a:t>
            </a:r>
            <a:br>
              <a:rPr lang="en-US" dirty="0" smtClean="0"/>
            </a:br>
            <a:r>
              <a:rPr lang="en-US" dirty="0" smtClean="0"/>
              <a:t>📝 </a:t>
            </a:r>
            <a:r>
              <a:rPr lang="en-US" b="1" dirty="0" smtClean="0"/>
              <a:t>"As a [user role], I want [goal] so that [reason].“</a:t>
            </a:r>
            <a:br>
              <a:rPr lang="en-US" b="1" dirty="0" smtClean="0"/>
            </a:br>
            <a:r>
              <a:rPr lang="en-US" b="1" dirty="0" smtClean="0"/>
              <a:t>Real-World Example: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Imagine a </a:t>
            </a:r>
            <a:r>
              <a:rPr lang="en-US" b="1" dirty="0" smtClean="0"/>
              <a:t>banking app</a:t>
            </a:r>
            <a:r>
              <a:rPr lang="en-US" dirty="0" smtClean="0"/>
              <a:t>. Instead of a long requirement document, Agile teams might define:</a:t>
            </a:r>
          </a:p>
          <a:p>
            <a:r>
              <a:rPr lang="en-US" i="1" dirty="0" smtClean="0"/>
              <a:t>"As a user, I want to view my transaction history so that I can track my spending."</a:t>
            </a:r>
            <a:endParaRPr lang="en-US" dirty="0" smtClean="0"/>
          </a:p>
          <a:p>
            <a:r>
              <a:rPr lang="en-US" i="1" dirty="0" smtClean="0"/>
              <a:t>"As a user, I want to receive an alert for suspicious transactions so that I can take action."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741A13-39BC-4F25-B4F9-A175CE2B16D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24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Agile replaces traditional requirement documents with </a:t>
            </a:r>
            <a:r>
              <a:rPr lang="en-US" b="1" dirty="0" smtClean="0"/>
              <a:t>user stories</a:t>
            </a:r>
            <a:r>
              <a:rPr lang="en-US" dirty="0" smtClean="0"/>
              <a:t> and </a:t>
            </a:r>
            <a:r>
              <a:rPr lang="en-US" b="1" dirty="0" smtClean="0"/>
              <a:t>incremental updates</a:t>
            </a:r>
            <a:r>
              <a:rPr lang="en-US" dirty="0" smtClean="0"/>
              <a:t>. This approach is </a:t>
            </a:r>
            <a:r>
              <a:rPr lang="en-US" b="1" dirty="0" smtClean="0"/>
              <a:t>flexible and fast</a:t>
            </a:r>
            <a:r>
              <a:rPr lang="en-US" dirty="0" smtClean="0"/>
              <a:t> but may not be suitable for </a:t>
            </a:r>
            <a:r>
              <a:rPr lang="en-US" b="1" dirty="0" smtClean="0"/>
              <a:t>critical or large-scale systems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Solution?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 mix of </a:t>
            </a:r>
            <a:r>
              <a:rPr lang="en-US" b="1" dirty="0" smtClean="0"/>
              <a:t>Agile + Traditional Methods</a:t>
            </a:r>
            <a:r>
              <a:rPr lang="en-US" dirty="0" smtClean="0"/>
              <a:t> (e.g., Agile for UI features, Waterfall for core safety functions).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741A13-39BC-4F25-B4F9-A175CE2B16D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577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Requirements Document</a:t>
            </a:r>
            <a:r>
              <a:rPr lang="en-US" dirty="0" smtClean="0"/>
              <a:t> is not always the same—it </a:t>
            </a:r>
            <a:r>
              <a:rPr lang="en-US" b="1" dirty="0" smtClean="0"/>
              <a:t>changes based on two factors</a:t>
            </a:r>
            <a:r>
              <a:rPr lang="en-US" dirty="0" smtClean="0"/>
              <a:t>:</a:t>
            </a:r>
          </a:p>
          <a:p>
            <a:r>
              <a:rPr lang="en-US" dirty="0" smtClean="0"/>
              <a:t>1️</a:t>
            </a:r>
            <a:r>
              <a:rPr lang="en-US" baseline="0" dirty="0" smtClean="0"/>
              <a:t> </a:t>
            </a:r>
            <a:r>
              <a:rPr lang="en-US" b="1" dirty="0" smtClean="0"/>
              <a:t>The type of system</a:t>
            </a:r>
            <a:r>
              <a:rPr lang="en-US" dirty="0" smtClean="0"/>
              <a:t> being developed</a:t>
            </a:r>
          </a:p>
          <a:p>
            <a:r>
              <a:rPr lang="en-US" dirty="0" smtClean="0"/>
              <a:t>A </a:t>
            </a:r>
            <a:r>
              <a:rPr lang="en-US" b="1" dirty="0" smtClean="0"/>
              <a:t>small app</a:t>
            </a:r>
            <a:r>
              <a:rPr lang="en-US" dirty="0" smtClean="0"/>
              <a:t> (e.g., a to-do list) may have a short, simple document.</a:t>
            </a:r>
          </a:p>
          <a:p>
            <a:r>
              <a:rPr lang="en-US" dirty="0" smtClean="0"/>
              <a:t>A </a:t>
            </a:r>
            <a:r>
              <a:rPr lang="en-US" b="1" dirty="0" smtClean="0"/>
              <a:t>large system</a:t>
            </a:r>
            <a:r>
              <a:rPr lang="en-US" dirty="0" smtClean="0"/>
              <a:t> (e.g., banking software) needs a detailed and structured document.</a:t>
            </a:r>
          </a:p>
          <a:p>
            <a:r>
              <a:rPr lang="en-US" dirty="0" smtClean="0"/>
              <a:t>2️</a:t>
            </a:r>
            <a:r>
              <a:rPr lang="en-US" baseline="0" dirty="0" smtClean="0"/>
              <a:t> </a:t>
            </a:r>
            <a:r>
              <a:rPr lang="en-US" b="1" dirty="0" smtClean="0"/>
              <a:t>The development approach</a:t>
            </a:r>
            <a:r>
              <a:rPr lang="en-US" dirty="0" smtClean="0"/>
              <a:t> used</a:t>
            </a:r>
          </a:p>
          <a:p>
            <a:r>
              <a:rPr lang="en-US" b="1" dirty="0" smtClean="0"/>
              <a:t>Agile projects</a:t>
            </a:r>
            <a:r>
              <a:rPr lang="en-US" dirty="0" smtClean="0"/>
              <a:t> use minimal documentation and focus on user stories.</a:t>
            </a:r>
          </a:p>
          <a:p>
            <a:r>
              <a:rPr lang="en-US" b="1" dirty="0" smtClean="0"/>
              <a:t>Waterfall projects</a:t>
            </a:r>
            <a:r>
              <a:rPr lang="en-US" dirty="0" smtClean="0"/>
              <a:t> require complete documentation before development starts.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741A13-39BC-4F25-B4F9-A175CE2B16D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947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Why Include a Rationale?</a:t>
            </a:r>
          </a:p>
          <a:p>
            <a:r>
              <a:rPr lang="en-US" dirty="0" smtClean="0"/>
              <a:t>✔ </a:t>
            </a:r>
            <a:r>
              <a:rPr lang="en-US" b="1" dirty="0" smtClean="0"/>
              <a:t>Clarity</a:t>
            </a:r>
            <a:r>
              <a:rPr lang="en-US" dirty="0" smtClean="0"/>
              <a:t> – Helps avoid confusion about why a requirement exists.</a:t>
            </a:r>
            <a:br>
              <a:rPr lang="en-US" dirty="0" smtClean="0"/>
            </a:br>
            <a:r>
              <a:rPr lang="en-US" dirty="0" smtClean="0"/>
              <a:t>✔ </a:t>
            </a:r>
            <a:r>
              <a:rPr lang="en-US" b="1" dirty="0" smtClean="0"/>
              <a:t>Justification</a:t>
            </a:r>
            <a:r>
              <a:rPr lang="en-US" dirty="0" smtClean="0"/>
              <a:t> – Provides reasoning for stakeholders and developers.</a:t>
            </a:r>
            <a:br>
              <a:rPr lang="en-US" dirty="0" smtClean="0"/>
            </a:br>
            <a:r>
              <a:rPr lang="en-US" dirty="0" smtClean="0"/>
              <a:t>✔ </a:t>
            </a:r>
            <a:r>
              <a:rPr lang="en-US" b="1" dirty="0" smtClean="0"/>
              <a:t>Decision-Making</a:t>
            </a:r>
            <a:r>
              <a:rPr lang="en-US" dirty="0" smtClean="0"/>
              <a:t> – Supports future discussions if changes are needed.</a:t>
            </a:r>
          </a:p>
          <a:p>
            <a:r>
              <a:rPr lang="en-US" b="1" dirty="0" smtClean="0"/>
              <a:t>Example with Rationale:</a:t>
            </a:r>
          </a:p>
          <a:p>
            <a:r>
              <a:rPr lang="en-US" dirty="0" smtClean="0"/>
              <a:t>🔹 </a:t>
            </a:r>
            <a:r>
              <a:rPr lang="en-US" b="1" dirty="0" smtClean="0"/>
              <a:t>Requirement:</a:t>
            </a:r>
            <a:r>
              <a:rPr lang="en-US" dirty="0" smtClean="0"/>
              <a:t> "The system shall automatically log out users after 10 minutes of inactivity."</a:t>
            </a:r>
            <a:br>
              <a:rPr lang="en-US" dirty="0" smtClean="0"/>
            </a:br>
            <a:r>
              <a:rPr lang="en-US" dirty="0" smtClean="0"/>
              <a:t>🔹 </a:t>
            </a:r>
            <a:r>
              <a:rPr lang="en-US" b="1" dirty="0" smtClean="0"/>
              <a:t>Rationale:</a:t>
            </a:r>
            <a:r>
              <a:rPr lang="en-US" dirty="0" smtClean="0"/>
              <a:t> "This prevents unauthorized access if a user leaves their device unattended."</a:t>
            </a:r>
          </a:p>
          <a:p>
            <a:endParaRPr lang="en-US" dirty="0" smtClean="0"/>
          </a:p>
          <a:p>
            <a:r>
              <a:rPr lang="en-US" dirty="0" smtClean="0"/>
              <a:t>Final Thoughts</a:t>
            </a:r>
            <a:br>
              <a:rPr lang="en-US" dirty="0" smtClean="0"/>
            </a:br>
            <a:r>
              <a:rPr lang="en-US" dirty="0" smtClean="0"/>
              <a:t>Writing </a:t>
            </a:r>
            <a:r>
              <a:rPr lang="en-US" b="1" dirty="0" smtClean="0"/>
              <a:t>clear and structured requirements</a:t>
            </a:r>
            <a:r>
              <a:rPr lang="en-US" dirty="0" smtClean="0"/>
              <a:t> helps prevent misunderstandings. The </a:t>
            </a:r>
            <a:r>
              <a:rPr lang="en-US" b="1" dirty="0" smtClean="0"/>
              <a:t>choice of notation</a:t>
            </a:r>
            <a:r>
              <a:rPr lang="en-US" dirty="0" smtClean="0"/>
              <a:t> depends on the </a:t>
            </a:r>
            <a:r>
              <a:rPr lang="en-US" b="1" dirty="0" smtClean="0"/>
              <a:t>complexity of the system</a:t>
            </a:r>
            <a:r>
              <a:rPr lang="en-US" dirty="0" smtClean="0"/>
              <a:t> and the </a:t>
            </a:r>
            <a:r>
              <a:rPr lang="en-US" b="1" dirty="0" smtClean="0"/>
              <a:t>audience</a:t>
            </a:r>
            <a:r>
              <a:rPr lang="en-US" dirty="0" smtClean="0"/>
              <a:t> (users vs. developers). </a:t>
            </a:r>
            <a:r>
              <a:rPr lang="en-US" b="1" dirty="0" smtClean="0"/>
              <a:t>Standardization (like IEEE 830-1998)</a:t>
            </a:r>
            <a:r>
              <a:rPr lang="en-US" dirty="0" smtClean="0"/>
              <a:t> helps in large projects where multiple teams collaborate.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741A13-39BC-4F25-B4F9-A175CE2B16D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017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Natural language is commonly used for writing software requirements because it's easy to understand. However, it has several challenges:</a:t>
            </a:r>
          </a:p>
          <a:p>
            <a:r>
              <a:rPr lang="en-US" b="1" dirty="0" smtClean="0"/>
              <a:t>Example: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❌ </a:t>
            </a:r>
            <a:r>
              <a:rPr lang="en-US" i="1" dirty="0" smtClean="0"/>
              <a:t>"The system should be user-friendly."</a:t>
            </a:r>
            <a:r>
              <a:rPr lang="en-US" dirty="0" smtClean="0"/>
              <a:t> (Vague)</a:t>
            </a:r>
            <a:br>
              <a:rPr lang="en-US" dirty="0" smtClean="0"/>
            </a:br>
            <a:r>
              <a:rPr lang="en-US" dirty="0" smtClean="0"/>
              <a:t>✅ </a:t>
            </a:r>
            <a:r>
              <a:rPr lang="en-US" i="1" dirty="0" smtClean="0"/>
              <a:t>"The system shall provide a graphical user interface with tooltips and error messages to guide users."</a:t>
            </a:r>
            <a:r>
              <a:rPr lang="en-US" dirty="0" smtClean="0"/>
              <a:t> (Clear)</a:t>
            </a:r>
          </a:p>
          <a:p>
            <a:r>
              <a:rPr lang="en-US" b="1" dirty="0" smtClean="0"/>
              <a:t>Example: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❌ </a:t>
            </a:r>
            <a:r>
              <a:rPr lang="en-US" i="1" dirty="0" smtClean="0"/>
              <a:t>"The system shall allow users to log in with high security."</a:t>
            </a:r>
            <a:r>
              <a:rPr lang="en-US" dirty="0" smtClean="0"/>
              <a:t> (Mixed functional &amp; non-functional)</a:t>
            </a:r>
            <a:br>
              <a:rPr lang="en-US" dirty="0" smtClean="0"/>
            </a:br>
            <a:r>
              <a:rPr lang="en-US" dirty="0" smtClean="0"/>
              <a:t>✅ </a:t>
            </a:r>
            <a:r>
              <a:rPr lang="en-US" i="1" dirty="0" smtClean="0"/>
              <a:t>Functional Requirement:</a:t>
            </a:r>
            <a:r>
              <a:rPr lang="en-US" dirty="0" smtClean="0"/>
              <a:t> "The system shall allow users to log in using a username and password."</a:t>
            </a:r>
            <a:br>
              <a:rPr lang="en-US" dirty="0" smtClean="0"/>
            </a:br>
            <a:r>
              <a:rPr lang="en-US" dirty="0" smtClean="0"/>
              <a:t>✅ </a:t>
            </a:r>
            <a:r>
              <a:rPr lang="en-US" i="1" dirty="0" smtClean="0"/>
              <a:t>Non-functional Requirement:</a:t>
            </a:r>
            <a:r>
              <a:rPr lang="en-US" dirty="0" smtClean="0"/>
              <a:t> "The system shall encrypt passwords using SHA-256.“</a:t>
            </a:r>
          </a:p>
          <a:p>
            <a:r>
              <a:rPr lang="en-US" dirty="0" smtClean="0"/>
              <a:t>✅ </a:t>
            </a:r>
            <a:r>
              <a:rPr lang="en-US" b="1" dirty="0" smtClean="0"/>
              <a:t>Example: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❌ </a:t>
            </a:r>
            <a:r>
              <a:rPr lang="en-US" i="1" dirty="0" smtClean="0"/>
              <a:t>"The system shall allow users to register, reset their password, and update their profile easily."</a:t>
            </a:r>
            <a:r>
              <a:rPr lang="en-US" dirty="0" smtClean="0"/>
              <a:t> (Too many requirements in one)</a:t>
            </a:r>
            <a:br>
              <a:rPr lang="en-US" dirty="0" smtClean="0"/>
            </a:br>
            <a:r>
              <a:rPr lang="en-US" dirty="0" smtClean="0"/>
              <a:t>✅ </a:t>
            </a:r>
            <a:r>
              <a:rPr lang="en-US" b="1" dirty="0" smtClean="0"/>
              <a:t>Better Approach:</a:t>
            </a:r>
            <a:endParaRPr lang="en-US" dirty="0" smtClean="0"/>
          </a:p>
          <a:p>
            <a:r>
              <a:rPr lang="en-US" i="1" dirty="0" smtClean="0"/>
              <a:t>Requirement 1:</a:t>
            </a:r>
            <a:r>
              <a:rPr lang="en-US" dirty="0" smtClean="0"/>
              <a:t> "The system shall allow users to register with a valid email and password."</a:t>
            </a:r>
          </a:p>
          <a:p>
            <a:r>
              <a:rPr lang="en-US" i="1" dirty="0" smtClean="0"/>
              <a:t>Requirement 2:</a:t>
            </a:r>
            <a:r>
              <a:rPr lang="en-US" dirty="0" smtClean="0"/>
              <a:t> "The system shall allow users to reset their password via email verification."</a:t>
            </a:r>
          </a:p>
          <a:p>
            <a:r>
              <a:rPr lang="en-US" i="1" dirty="0" smtClean="0"/>
              <a:t>Requirement 3:</a:t>
            </a:r>
            <a:r>
              <a:rPr lang="en-US" dirty="0" smtClean="0"/>
              <a:t> "The system shall allow users to update their profile information, including name and contact details."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741A13-39BC-4F25-B4F9-A175CE2B16D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73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When writing software requirements, there are different approaches to ensure clarity and consistency. Two such approaches are </a:t>
            </a:r>
            <a:r>
              <a:rPr lang="en-US" b="1" dirty="0" smtClean="0"/>
              <a:t>Structured Specifications</a:t>
            </a:r>
            <a:r>
              <a:rPr lang="en-US" dirty="0" smtClean="0"/>
              <a:t> and </a:t>
            </a:r>
            <a:r>
              <a:rPr lang="en-US" b="1" dirty="0" smtClean="0"/>
              <a:t>Form-Based Specifications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741A13-39BC-4F25-B4F9-A175CE2B16D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5494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Why Use Tabular Specification?</a:t>
            </a:r>
          </a:p>
          <a:p>
            <a:r>
              <a:rPr lang="en-US" dirty="0" smtClean="0"/>
              <a:t>✅ </a:t>
            </a:r>
            <a:r>
              <a:rPr lang="en-US" b="1" dirty="0" smtClean="0"/>
              <a:t>Clear representation</a:t>
            </a:r>
            <a:r>
              <a:rPr lang="en-US" dirty="0" smtClean="0"/>
              <a:t> of different scenarios.</a:t>
            </a:r>
            <a:br>
              <a:rPr lang="en-US" dirty="0" smtClean="0"/>
            </a:br>
            <a:r>
              <a:rPr lang="en-US" dirty="0" smtClean="0"/>
              <a:t>✅ </a:t>
            </a:r>
            <a:r>
              <a:rPr lang="en-US" b="1" dirty="0" smtClean="0"/>
              <a:t>Easy to read</a:t>
            </a:r>
            <a:r>
              <a:rPr lang="en-US" dirty="0" smtClean="0"/>
              <a:t> compared to lengthy text descriptions.</a:t>
            </a:r>
            <a:br>
              <a:rPr lang="en-US" dirty="0" smtClean="0"/>
            </a:br>
            <a:r>
              <a:rPr lang="en-US" dirty="0" smtClean="0"/>
              <a:t>✅ </a:t>
            </a:r>
            <a:r>
              <a:rPr lang="en-US" b="1" dirty="0" smtClean="0"/>
              <a:t>Useful for systems with multiple conditions</a:t>
            </a:r>
            <a:r>
              <a:rPr lang="en-US" dirty="0" smtClean="0"/>
              <a:t> (e.g., medical devices, automated systems).</a:t>
            </a:r>
          </a:p>
          <a:p>
            <a:r>
              <a:rPr lang="en-US" b="1" dirty="0" smtClean="0"/>
              <a:t>Explanation:</a:t>
            </a:r>
            <a:endParaRPr lang="en-US" dirty="0" smtClean="0"/>
          </a:p>
          <a:p>
            <a:r>
              <a:rPr lang="en-US" dirty="0" smtClean="0"/>
              <a:t>If the timer reaches </a:t>
            </a:r>
            <a:r>
              <a:rPr lang="en-US" b="1" dirty="0" smtClean="0"/>
              <a:t>60 seconds</a:t>
            </a:r>
            <a:r>
              <a:rPr lang="en-US" dirty="0" smtClean="0"/>
              <a:t>, the </a:t>
            </a:r>
            <a:r>
              <a:rPr lang="en-US" b="1" dirty="0" smtClean="0"/>
              <a:t>Green</a:t>
            </a:r>
            <a:r>
              <a:rPr lang="en-US" dirty="0" smtClean="0"/>
              <a:t> light changes to </a:t>
            </a:r>
            <a:r>
              <a:rPr lang="en-US" b="1" dirty="0" smtClean="0"/>
              <a:t>Yellow</a:t>
            </a:r>
            <a:r>
              <a:rPr lang="en-US" dirty="0" smtClean="0"/>
              <a:t>.</a:t>
            </a:r>
          </a:p>
          <a:p>
            <a:r>
              <a:rPr lang="en-US" dirty="0" smtClean="0"/>
              <a:t>After </a:t>
            </a:r>
            <a:r>
              <a:rPr lang="en-US" b="1" dirty="0" smtClean="0"/>
              <a:t>5 seconds</a:t>
            </a:r>
            <a:r>
              <a:rPr lang="en-US" dirty="0" smtClean="0"/>
              <a:t>, </a:t>
            </a:r>
            <a:r>
              <a:rPr lang="en-US" b="1" dirty="0" smtClean="0"/>
              <a:t>Yellow</a:t>
            </a:r>
            <a:r>
              <a:rPr lang="en-US" dirty="0" smtClean="0"/>
              <a:t> changes to </a:t>
            </a:r>
            <a:r>
              <a:rPr lang="en-US" b="1" dirty="0" smtClean="0"/>
              <a:t>Red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After </a:t>
            </a:r>
            <a:r>
              <a:rPr lang="en-US" b="1" dirty="0" smtClean="0"/>
              <a:t>60 seconds</a:t>
            </a:r>
            <a:r>
              <a:rPr lang="en-US" dirty="0" smtClean="0"/>
              <a:t>, </a:t>
            </a:r>
            <a:r>
              <a:rPr lang="en-US" b="1" dirty="0" smtClean="0"/>
              <a:t>Red</a:t>
            </a:r>
            <a:r>
              <a:rPr lang="en-US" dirty="0" smtClean="0"/>
              <a:t> changes back to </a:t>
            </a:r>
            <a:r>
              <a:rPr lang="en-US" b="1" dirty="0" smtClean="0"/>
              <a:t>Green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Use case:</a:t>
            </a:r>
            <a:r>
              <a:rPr lang="en-US" dirty="0" smtClean="0"/>
              <a:t> Tabular specification is useful for systems like medical devices, traffic control, or any system with multiple possible outcomes.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741A13-39BC-4F25-B4F9-A175CE2B16D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2790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📌 </a:t>
            </a:r>
            <a:r>
              <a:rPr lang="en-US" b="1" dirty="0" smtClean="0"/>
              <a:t>Key Takeaways:</a:t>
            </a:r>
            <a:endParaRPr lang="en-US" dirty="0" smtClean="0"/>
          </a:p>
          <a:p>
            <a:r>
              <a:rPr lang="en-US" dirty="0" smtClean="0"/>
              <a:t>Use </a:t>
            </a:r>
            <a:r>
              <a:rPr lang="en-US" b="1" dirty="0" smtClean="0"/>
              <a:t>interviews, scenarios, and use-cases</a:t>
            </a:r>
            <a:r>
              <a:rPr lang="en-US" dirty="0" smtClean="0"/>
              <a:t> to gather requirements.</a:t>
            </a:r>
          </a:p>
          <a:p>
            <a:r>
              <a:rPr lang="en-US" b="1" dirty="0" smtClean="0"/>
              <a:t>Validation</a:t>
            </a:r>
            <a:r>
              <a:rPr lang="en-US" dirty="0" smtClean="0"/>
              <a:t> ensures quality before development starts.</a:t>
            </a:r>
          </a:p>
          <a:p>
            <a:r>
              <a:rPr lang="en-US" b="1" dirty="0" smtClean="0"/>
              <a:t>Change management</a:t>
            </a:r>
            <a:r>
              <a:rPr lang="en-US" dirty="0" smtClean="0"/>
              <a:t> helps keep software up-to-date.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741A13-39BC-4F25-B4F9-A175CE2B16D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1828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💡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Scenarios Matter?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Help developers understand how users will actually use the system.</a:t>
            </a:r>
            <a:b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Identify potential issues before development starts.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741A13-39BC-4F25-B4F9-A175CE2B16D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28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68CD-5D83-474C-9F34-76919F5351DC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73FE-EA96-4870-B0C6-ACB9DBB719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242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68CD-5D83-474C-9F34-76919F5351DC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A76273FE-EA96-4870-B0C6-ACB9DBB719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522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68CD-5D83-474C-9F34-76919F5351DC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73FE-EA96-4870-B0C6-ACB9DBB719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515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68CD-5D83-474C-9F34-76919F5351DC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73FE-EA96-4870-B0C6-ACB9DBB719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421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68CD-5D83-474C-9F34-76919F5351DC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73FE-EA96-4870-B0C6-ACB9DBB719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491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68CD-5D83-474C-9F34-76919F5351DC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73FE-EA96-4870-B0C6-ACB9DBB719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1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68CD-5D83-474C-9F34-76919F5351DC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73FE-EA96-4870-B0C6-ACB9DBB719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030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68CD-5D83-474C-9F34-76919F5351DC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73FE-EA96-4870-B0C6-ACB9DBB719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395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68CD-5D83-474C-9F34-76919F5351DC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73FE-EA96-4870-B0C6-ACB9DBB719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13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68CD-5D83-474C-9F34-76919F5351DC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73FE-EA96-4870-B0C6-ACB9DBB719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84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68CD-5D83-474C-9F34-76919F5351DC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73FE-EA96-4870-B0C6-ACB9DBB719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1022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68CD-5D83-474C-9F34-76919F5351DC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73FE-EA96-4870-B0C6-ACB9DBB719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9750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68CD-5D83-474C-9F34-76919F5351DC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73FE-EA96-4870-B0C6-ACB9DBB719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136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68CD-5D83-474C-9F34-76919F5351DC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73FE-EA96-4870-B0C6-ACB9DBB719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1499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68CD-5D83-474C-9F34-76919F5351DC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73FE-EA96-4870-B0C6-ACB9DBB719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5804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68CD-5D83-474C-9F34-76919F5351DC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73FE-EA96-4870-B0C6-ACB9DBB719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005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68CD-5D83-474C-9F34-76919F5351DC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73FE-EA96-4870-B0C6-ACB9DBB719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282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EDD68CD-5D83-474C-9F34-76919F5351DC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76273FE-EA96-4870-B0C6-ACB9DBB719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723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17898" y="1380068"/>
            <a:ext cx="9259553" cy="2616199"/>
          </a:xfrm>
        </p:spPr>
        <p:txBody>
          <a:bodyPr/>
          <a:lstStyle/>
          <a:p>
            <a:r>
              <a:rPr lang="en-US" dirty="0" smtClean="0"/>
              <a:t>Requirements engineering II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742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Software Requirements Document (SRD)?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Software Requirements Document (SRD)</a:t>
            </a:r>
            <a:r>
              <a:rPr lang="en-US" dirty="0"/>
              <a:t> is a formal document that describes what a software system should do. It serves as a guide for developers, testers, and stakeholders to ensure that everyone understands the project's requirements before development begins.</a:t>
            </a:r>
          </a:p>
          <a:p>
            <a:r>
              <a:rPr lang="en-US" dirty="0"/>
              <a:t>It acts as an agreement between the </a:t>
            </a:r>
            <a:r>
              <a:rPr lang="en-US" b="1" dirty="0"/>
              <a:t>client (who needs the software)</a:t>
            </a:r>
            <a:r>
              <a:rPr lang="en-US" dirty="0"/>
              <a:t> and the </a:t>
            </a:r>
            <a:r>
              <a:rPr lang="en-US" b="1" dirty="0"/>
              <a:t>developers (who build the software)</a:t>
            </a:r>
            <a:r>
              <a:rPr lang="en-US" dirty="0"/>
              <a:t>.</a:t>
            </a:r>
          </a:p>
          <a:p>
            <a:r>
              <a:rPr lang="en-US" dirty="0"/>
              <a:t>It provides a detailed list of </a:t>
            </a:r>
            <a:r>
              <a:rPr lang="en-US" b="1" dirty="0"/>
              <a:t>features, functionalities, and constraints</a:t>
            </a:r>
            <a:r>
              <a:rPr lang="en-US" dirty="0"/>
              <a:t> of the system.</a:t>
            </a:r>
          </a:p>
          <a:p>
            <a:r>
              <a:rPr lang="en-US" dirty="0"/>
              <a:t>It helps in </a:t>
            </a:r>
            <a:r>
              <a:rPr lang="en-US" b="1" dirty="0"/>
              <a:t>avoiding misunderstandings</a:t>
            </a:r>
            <a:r>
              <a:rPr lang="en-US" dirty="0"/>
              <a:t> and ensures smooth development.</a:t>
            </a:r>
          </a:p>
        </p:txBody>
      </p:sp>
    </p:spTree>
    <p:extLst>
      <p:ext uri="{BB962C8B-B14F-4D97-AF65-F5344CB8AC3E}">
        <p14:creationId xmlns:p14="http://schemas.microsoft.com/office/powerpoint/2010/main" val="1935514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an SRD Include?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An SRD has two major parts:</a:t>
            </a:r>
          </a:p>
          <a:p>
            <a:r>
              <a:rPr lang="en-US" b="1" dirty="0"/>
              <a:t>User Requirements</a:t>
            </a:r>
            <a:r>
              <a:rPr lang="en-US" dirty="0"/>
              <a:t> – What the end user needs from the software.</a:t>
            </a:r>
          </a:p>
          <a:p>
            <a:r>
              <a:rPr lang="en-US" b="1" dirty="0"/>
              <a:t>System Requirements</a:t>
            </a:r>
            <a:r>
              <a:rPr lang="en-US" dirty="0"/>
              <a:t> – Technical specifications that developers must follow.</a:t>
            </a:r>
          </a:p>
          <a:p>
            <a:r>
              <a:rPr lang="en-US" b="1" dirty="0" smtClean="0"/>
              <a:t>Example </a:t>
            </a:r>
            <a:r>
              <a:rPr lang="en-US" b="1" dirty="0"/>
              <a:t>1 (User Requirements)</a:t>
            </a:r>
            <a:r>
              <a:rPr lang="en-US" dirty="0"/>
              <a:t>:</a:t>
            </a:r>
            <a:br>
              <a:rPr lang="en-US" dirty="0"/>
            </a:br>
            <a:r>
              <a:rPr lang="en-US" i="1" dirty="0"/>
              <a:t>A user should be able to register on an e-commerce website using an email and password.</a:t>
            </a:r>
            <a:endParaRPr lang="en-US" dirty="0"/>
          </a:p>
          <a:p>
            <a:r>
              <a:rPr lang="en-US" b="1" dirty="0" smtClean="0"/>
              <a:t>Example </a:t>
            </a:r>
            <a:r>
              <a:rPr lang="en-US" b="1" dirty="0"/>
              <a:t>2 (System Requirements)</a:t>
            </a:r>
            <a:r>
              <a:rPr lang="en-US" dirty="0"/>
              <a:t>:</a:t>
            </a:r>
            <a:br>
              <a:rPr lang="en-US" dirty="0"/>
            </a:br>
            <a:r>
              <a:rPr lang="en-US" i="1" dirty="0"/>
              <a:t>The system should store user </a:t>
            </a:r>
            <a:r>
              <a:rPr lang="en-US" i="1" dirty="0" smtClean="0"/>
              <a:t>IDs </a:t>
            </a:r>
            <a:r>
              <a:rPr lang="en-US" i="1" dirty="0"/>
              <a:t>securely using encryption and allow password recovery via email.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88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an SRD is NOT?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</a:t>
            </a:r>
            <a:r>
              <a:rPr lang="en-US" b="1" dirty="0"/>
              <a:t>does NOT describe how</a:t>
            </a:r>
            <a:r>
              <a:rPr lang="en-US" dirty="0"/>
              <a:t> the software will be designed or implemented.</a:t>
            </a:r>
          </a:p>
          <a:p>
            <a:r>
              <a:rPr lang="en-US" dirty="0"/>
              <a:t>It </a:t>
            </a:r>
            <a:r>
              <a:rPr lang="en-US" b="1" dirty="0"/>
              <a:t>only defines what</a:t>
            </a:r>
            <a:r>
              <a:rPr lang="en-US" dirty="0"/>
              <a:t> the software must do.</a:t>
            </a:r>
          </a:p>
          <a:p>
            <a:r>
              <a:rPr lang="en-US" dirty="0"/>
              <a:t>🔹 </a:t>
            </a:r>
            <a:r>
              <a:rPr lang="en-US" b="1" dirty="0"/>
              <a:t>Example (Difference Between Requirement and Design)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Requirement</a:t>
            </a:r>
            <a:r>
              <a:rPr lang="en-US" dirty="0"/>
              <a:t>: "The system should allow users to reset their password if they forget it."</a:t>
            </a:r>
            <a:br>
              <a:rPr lang="en-US" dirty="0"/>
            </a:br>
            <a:r>
              <a:rPr lang="en-US" dirty="0"/>
              <a:t>❌ </a:t>
            </a:r>
            <a:r>
              <a:rPr lang="en-US" b="1" dirty="0"/>
              <a:t>Design (Not Part of SRD)</a:t>
            </a:r>
            <a:r>
              <a:rPr lang="en-US" dirty="0"/>
              <a:t>: "The system will use a password reset token stored in a database with a 15-minute expiration time."</a:t>
            </a:r>
          </a:p>
        </p:txBody>
      </p:sp>
    </p:spTree>
    <p:extLst>
      <p:ext uri="{BB962C8B-B14F-4D97-AF65-F5344CB8AC3E}">
        <p14:creationId xmlns:p14="http://schemas.microsoft.com/office/powerpoint/2010/main" val="2398792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Methods and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8393" y="2165130"/>
            <a:ext cx="10018714" cy="448791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Agile Methods and Requirements</a:t>
            </a:r>
          </a:p>
          <a:p>
            <a:r>
              <a:rPr lang="en-US" dirty="0"/>
              <a:t>Agile development focuses on flexibility and adaptability. Unlike traditional methods, Agile teams prefer </a:t>
            </a:r>
            <a:r>
              <a:rPr lang="en-US" b="1" dirty="0"/>
              <a:t>incremental and iterative</a:t>
            </a:r>
            <a:r>
              <a:rPr lang="en-US" dirty="0"/>
              <a:t> development, where requirements evolve based on customer feedback rather than being fixed in a formal document.</a:t>
            </a:r>
          </a:p>
          <a:p>
            <a:r>
              <a:rPr lang="en-US" b="1" dirty="0"/>
              <a:t>Why Some Agile Methods Avoid Detailed Requirements Documents?</a:t>
            </a:r>
          </a:p>
          <a:p>
            <a:r>
              <a:rPr lang="en-US" b="1" dirty="0"/>
              <a:t>Requirements Change Frequently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In fast-changing environments, formal documents become outdated quickly.</a:t>
            </a:r>
          </a:p>
          <a:p>
            <a:pPr lvl="1"/>
            <a:r>
              <a:rPr lang="en-US" dirty="0"/>
              <a:t>Agile teams prefer </a:t>
            </a:r>
            <a:r>
              <a:rPr lang="en-US" b="1" dirty="0"/>
              <a:t>ongoing communication</a:t>
            </a:r>
            <a:r>
              <a:rPr lang="en-US" dirty="0"/>
              <a:t> over rigid documentation.</a:t>
            </a:r>
          </a:p>
          <a:p>
            <a:r>
              <a:rPr lang="en-US" b="1" dirty="0"/>
              <a:t>Faster Development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Writing and maintaining large requirement documents takes time.</a:t>
            </a:r>
          </a:p>
          <a:p>
            <a:pPr lvl="1"/>
            <a:r>
              <a:rPr lang="en-US" dirty="0"/>
              <a:t>Agile methods </a:t>
            </a:r>
            <a:r>
              <a:rPr lang="en-US" b="1" dirty="0"/>
              <a:t>prioritize working software over documentation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0008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3936" y="223787"/>
            <a:ext cx="10018713" cy="1752599"/>
          </a:xfrm>
        </p:spPr>
        <p:txBody>
          <a:bodyPr/>
          <a:lstStyle/>
          <a:p>
            <a:r>
              <a:rPr lang="en-US" dirty="0"/>
              <a:t>How Agile Handles Requirements?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3443" y="1790299"/>
            <a:ext cx="10018713" cy="494738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Instead of a formal </a:t>
            </a:r>
            <a:r>
              <a:rPr lang="en-US" b="1" dirty="0"/>
              <a:t>Software Requirements Document (SRD)</a:t>
            </a:r>
            <a:r>
              <a:rPr lang="en-US" dirty="0"/>
              <a:t>, Agile teams use:</a:t>
            </a:r>
          </a:p>
          <a:p>
            <a:pPr marL="0" indent="0">
              <a:buNone/>
            </a:pPr>
            <a:r>
              <a:rPr lang="en-US" b="1" dirty="0"/>
              <a:t>1. User Stories (Used in XP &amp; Scrum)</a:t>
            </a:r>
          </a:p>
          <a:p>
            <a:r>
              <a:rPr lang="en-US" dirty="0"/>
              <a:t>User stories are </a:t>
            </a:r>
            <a:r>
              <a:rPr lang="en-US" b="1" dirty="0"/>
              <a:t>short and simple descriptions</a:t>
            </a:r>
            <a:r>
              <a:rPr lang="en-US" dirty="0"/>
              <a:t> of a feature from the user's perspective.</a:t>
            </a:r>
          </a:p>
          <a:p>
            <a:pPr marL="0" indent="0">
              <a:buNone/>
            </a:pPr>
            <a:r>
              <a:rPr lang="en-US" dirty="0"/>
              <a:t>🔹 </a:t>
            </a:r>
            <a:r>
              <a:rPr lang="en-US" b="1" dirty="0"/>
              <a:t>Example:</a:t>
            </a:r>
            <a:r>
              <a:rPr lang="en-US" dirty="0"/>
              <a:t/>
            </a:r>
            <a:br>
              <a:rPr lang="en-US" dirty="0"/>
            </a:br>
            <a:r>
              <a:rPr lang="en-US" i="1" dirty="0"/>
              <a:t>"As a customer, I want to reset my password so that I can access my account if I forget it."</a:t>
            </a:r>
            <a:endParaRPr lang="en-US" dirty="0"/>
          </a:p>
          <a:p>
            <a:r>
              <a:rPr lang="en-US" dirty="0"/>
              <a:t>User stories help teams focus on what </a:t>
            </a:r>
            <a:r>
              <a:rPr lang="en-US" b="1" dirty="0"/>
              <a:t>really matters to users</a:t>
            </a:r>
            <a:r>
              <a:rPr lang="en-US" dirty="0"/>
              <a:t>.</a:t>
            </a:r>
          </a:p>
          <a:p>
            <a:r>
              <a:rPr lang="en-US" dirty="0"/>
              <a:t>They are refined and updated as development progresses.</a:t>
            </a:r>
          </a:p>
          <a:p>
            <a:pPr marL="0" indent="0">
              <a:buNone/>
            </a:pPr>
            <a:r>
              <a:rPr lang="en-US" b="1" dirty="0"/>
              <a:t>2. Incremental Requirements Engineering</a:t>
            </a:r>
          </a:p>
          <a:p>
            <a:r>
              <a:rPr lang="en-US" dirty="0"/>
              <a:t>Agile teams </a:t>
            </a:r>
            <a:r>
              <a:rPr lang="en-US" b="1" dirty="0"/>
              <a:t>add, modify, and refine requirements</a:t>
            </a:r>
            <a:r>
              <a:rPr lang="en-US" dirty="0"/>
              <a:t> throughout development.</a:t>
            </a:r>
          </a:p>
          <a:p>
            <a:r>
              <a:rPr lang="en-US" dirty="0"/>
              <a:t>Instead of writing everything upfront, they build small features and adjust as needed.</a:t>
            </a:r>
          </a:p>
          <a:p>
            <a:pPr marL="0" indent="0">
              <a:buNone/>
            </a:pPr>
            <a:r>
              <a:rPr lang="en-US" dirty="0"/>
              <a:t>🔹 </a:t>
            </a:r>
            <a:r>
              <a:rPr lang="en-US" b="1" dirty="0"/>
              <a:t>Example: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 food delivery app starts with:</a:t>
            </a:r>
            <a:br>
              <a:rPr lang="en-US" dirty="0"/>
            </a:br>
            <a:r>
              <a:rPr lang="en-US" dirty="0"/>
              <a:t>✅ </a:t>
            </a:r>
            <a:r>
              <a:rPr lang="en-US" i="1" dirty="0"/>
              <a:t>“Users can browse restaurants.”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Later, the team adds:</a:t>
            </a:r>
            <a:br>
              <a:rPr lang="en-US" dirty="0"/>
            </a:br>
            <a:r>
              <a:rPr lang="en-US" dirty="0"/>
              <a:t>✅ </a:t>
            </a:r>
            <a:r>
              <a:rPr lang="en-US" i="1" dirty="0"/>
              <a:t>“Users can filter restaurants by cuisine.”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06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 of Agile for Certain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8654" y="1767015"/>
            <a:ext cx="10650025" cy="5090985"/>
          </a:xfrm>
        </p:spPr>
        <p:txBody>
          <a:bodyPr>
            <a:normAutofit/>
          </a:bodyPr>
          <a:lstStyle/>
          <a:p>
            <a:r>
              <a:rPr lang="en-US" dirty="0" smtClean="0"/>
              <a:t>While </a:t>
            </a:r>
            <a:r>
              <a:rPr lang="en-US" dirty="0"/>
              <a:t>Agile works well for </a:t>
            </a:r>
            <a:r>
              <a:rPr lang="en-US" b="1" dirty="0"/>
              <a:t>business applications</a:t>
            </a:r>
            <a:r>
              <a:rPr lang="en-US" dirty="0"/>
              <a:t>, it has challenges for:</a:t>
            </a:r>
          </a:p>
          <a:p>
            <a:r>
              <a:rPr lang="en-US" b="1" dirty="0"/>
              <a:t>Critical Systems (e.g., Medical, Aviation, Banking)</a:t>
            </a:r>
            <a:endParaRPr lang="en-US" dirty="0"/>
          </a:p>
          <a:p>
            <a:pPr lvl="1"/>
            <a:r>
              <a:rPr lang="en-US" dirty="0"/>
              <a:t>These require </a:t>
            </a:r>
            <a:r>
              <a:rPr lang="en-US" b="1" dirty="0"/>
              <a:t>detailed pre-analysis</a:t>
            </a:r>
            <a:r>
              <a:rPr lang="en-US" dirty="0"/>
              <a:t> to ensure safety and compliance.</a:t>
            </a:r>
          </a:p>
          <a:p>
            <a:pPr lvl="1"/>
            <a:r>
              <a:rPr lang="en-US" dirty="0"/>
              <a:t>Example: An </a:t>
            </a:r>
            <a:r>
              <a:rPr lang="en-US" b="1" dirty="0"/>
              <a:t>air traffic control system</a:t>
            </a:r>
            <a:r>
              <a:rPr lang="en-US" dirty="0"/>
              <a:t> needs precise, well-documented requirements before development begins.</a:t>
            </a:r>
          </a:p>
          <a:p>
            <a:r>
              <a:rPr lang="en-US" b="1" dirty="0"/>
              <a:t>Large-Scale Projects with Multiple Teams</a:t>
            </a:r>
            <a:endParaRPr lang="en-US" dirty="0"/>
          </a:p>
          <a:p>
            <a:pPr lvl="1"/>
            <a:r>
              <a:rPr lang="en-US" dirty="0"/>
              <a:t>If multiple teams work on different parts of a system, clear documentation helps maintain </a:t>
            </a:r>
            <a:r>
              <a:rPr lang="en-US" b="1" dirty="0"/>
              <a:t>consistency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Example: Developing </a:t>
            </a:r>
            <a:r>
              <a:rPr lang="en-US" b="1" dirty="0"/>
              <a:t>banking software</a:t>
            </a:r>
            <a:r>
              <a:rPr lang="en-US" dirty="0"/>
              <a:t> across teams in different countries requires a structured requirements document.</a:t>
            </a:r>
          </a:p>
        </p:txBody>
      </p:sp>
    </p:spTree>
    <p:extLst>
      <p:ext uri="{BB962C8B-B14F-4D97-AF65-F5344CB8AC3E}">
        <p14:creationId xmlns:p14="http://schemas.microsoft.com/office/powerpoint/2010/main" val="893420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7163" y="0"/>
            <a:ext cx="7772400" cy="1143000"/>
          </a:xfrm>
        </p:spPr>
        <p:txBody>
          <a:bodyPr/>
          <a:lstStyle/>
          <a:p>
            <a:r>
              <a:rPr lang="en-US" sz="3200" dirty="0"/>
              <a:t>Users of a requirements document</a:t>
            </a:r>
            <a:r>
              <a:rPr lang="en-GB" sz="3200" dirty="0"/>
              <a:t> 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81401" y="901969"/>
            <a:ext cx="4800600" cy="5685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167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Document Variability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7453" y="2038865"/>
            <a:ext cx="10724547" cy="462142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The structure and content of a </a:t>
            </a:r>
            <a:r>
              <a:rPr lang="en-US" b="1" dirty="0"/>
              <a:t>Requirements Document</a:t>
            </a:r>
            <a:r>
              <a:rPr lang="en-US" dirty="0"/>
              <a:t> depend on:</a:t>
            </a:r>
          </a:p>
          <a:p>
            <a:r>
              <a:rPr lang="en-US" dirty="0"/>
              <a:t>The </a:t>
            </a:r>
            <a:r>
              <a:rPr lang="en-US" b="1" dirty="0"/>
              <a:t>type of system</a:t>
            </a:r>
            <a:r>
              <a:rPr lang="en-US" dirty="0"/>
              <a:t> being developed (e.g., a small web app vs. a large banking system).</a:t>
            </a:r>
          </a:p>
          <a:p>
            <a:r>
              <a:rPr lang="en-US" dirty="0"/>
              <a:t>The </a:t>
            </a:r>
            <a:r>
              <a:rPr lang="en-US" b="1" dirty="0"/>
              <a:t>development approach</a:t>
            </a:r>
            <a:r>
              <a:rPr lang="en-US" dirty="0"/>
              <a:t> (e.g., Agile vs. Waterfall).</a:t>
            </a:r>
          </a:p>
          <a:p>
            <a:pPr marL="0" indent="0">
              <a:buNone/>
            </a:pPr>
            <a:r>
              <a:rPr lang="en-US" b="1" dirty="0"/>
              <a:t>Standardization of Requirements Documents</a:t>
            </a:r>
          </a:p>
          <a:p>
            <a:pPr marL="0" indent="0">
              <a:buNone/>
            </a:pPr>
            <a:r>
              <a:rPr lang="en-US" dirty="0"/>
              <a:t>To maintain consistency in large projects, standard formats are followed, such as the </a:t>
            </a:r>
            <a:r>
              <a:rPr lang="en-US" b="1" dirty="0"/>
              <a:t>IEEE Standard for Software Requirements Specification (IEEE 830-1998)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smtClean="0"/>
              <a:t>Example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 small </a:t>
            </a:r>
            <a:r>
              <a:rPr lang="en-US" b="1" dirty="0"/>
              <a:t>mobile app</a:t>
            </a:r>
            <a:r>
              <a:rPr lang="en-US" dirty="0"/>
              <a:t> may have simple user stories.</a:t>
            </a:r>
          </a:p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medical device software</a:t>
            </a:r>
            <a:r>
              <a:rPr lang="en-US" dirty="0"/>
              <a:t> (e.g., an insulin pump) requires highly detailed, structured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3676240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Specification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9221650"/>
              </p:ext>
            </p:extLst>
          </p:nvPr>
        </p:nvGraphicFramePr>
        <p:xfrm>
          <a:off x="1099751" y="3131820"/>
          <a:ext cx="11092248" cy="2887980"/>
        </p:xfrm>
        <a:graphic>
          <a:graphicData uri="http://schemas.openxmlformats.org/drawingml/2006/table">
            <a:tbl>
              <a:tblPr/>
              <a:tblGrid>
                <a:gridCol w="2953265">
                  <a:extLst>
                    <a:ext uri="{9D8B030D-6E8A-4147-A177-3AD203B41FA5}">
                      <a16:colId xmlns:a16="http://schemas.microsoft.com/office/drawing/2014/main" val="317717748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54866725"/>
                    </a:ext>
                  </a:extLst>
                </a:gridCol>
                <a:gridCol w="4024183">
                  <a:extLst>
                    <a:ext uri="{9D8B030D-6E8A-4147-A177-3AD203B41FA5}">
                      <a16:colId xmlns:a16="http://schemas.microsoft.com/office/drawing/2014/main" val="1826585268"/>
                    </a:ext>
                  </a:extLst>
                </a:gridCol>
              </a:tblGrid>
              <a:tr h="481330">
                <a:tc>
                  <a:txBody>
                    <a:bodyPr/>
                    <a:lstStyle/>
                    <a:p>
                      <a:r>
                        <a:rPr lang="en-US" sz="2000" b="1"/>
                        <a:t>Type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Description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Example (E-commerce System)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9487493"/>
                  </a:ext>
                </a:extLst>
              </a:tr>
              <a:tr h="1203325">
                <a:tc>
                  <a:txBody>
                    <a:bodyPr/>
                    <a:lstStyle/>
                    <a:p>
                      <a:r>
                        <a:rPr lang="en-US" sz="2000" b="1"/>
                        <a:t>User Requirements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High-level requirements, understandable by non-technical users.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i="1" dirty="0"/>
                        <a:t>"Users shall be able to search for products by name and category."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7218888"/>
                  </a:ext>
                </a:extLst>
              </a:tr>
              <a:tr h="1203325">
                <a:tc>
                  <a:txBody>
                    <a:bodyPr/>
                    <a:lstStyle/>
                    <a:p>
                      <a:r>
                        <a:rPr lang="en-US" sz="2000" b="1"/>
                        <a:t>System Requirements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Detailed, technical specifications meant for developers.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i="1" dirty="0"/>
                        <a:t>"The system shall store product details in a relational database using MySQL."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98810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05404" y="2023824"/>
            <a:ext cx="10986596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process of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writing user and system requirements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a structured document.</a:t>
            </a:r>
            <a:endParaRPr kumimoji="0" lang="en-US" altLang="en-US" sz="105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vs. System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6651" y="6019801"/>
            <a:ext cx="95993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smtClean="0">
                <a:latin typeface="Arial" panose="020B0604020202020204" pitchFamily="34" charset="0"/>
              </a:rPr>
              <a:t>Key </a:t>
            </a:r>
            <a:r>
              <a:rPr lang="en-US" altLang="en-US" b="1" dirty="0">
                <a:latin typeface="Arial" panose="020B0604020202020204" pitchFamily="34" charset="0"/>
              </a:rPr>
              <a:t>Point:</a:t>
            </a:r>
            <a:r>
              <a:rPr lang="en-US" altLang="en-US" dirty="0">
                <a:latin typeface="Arial" panose="020B0604020202020204" pitchFamily="34" charset="0"/>
              </a:rPr>
              <a:t> Since </a:t>
            </a:r>
            <a:r>
              <a:rPr lang="en-US" altLang="en-US" b="1" dirty="0">
                <a:latin typeface="Arial" panose="020B0604020202020204" pitchFamily="34" charset="0"/>
              </a:rPr>
              <a:t>requirements may be legally binding</a:t>
            </a:r>
            <a:r>
              <a:rPr lang="en-US" altLang="en-US" dirty="0">
                <a:latin typeface="Arial" panose="020B0604020202020204" pitchFamily="34" charset="0"/>
              </a:rPr>
              <a:t> in contracts, they should be </a:t>
            </a:r>
            <a:r>
              <a:rPr lang="en-US" altLang="en-US" b="1" dirty="0">
                <a:latin typeface="Arial" panose="020B0604020202020204" pitchFamily="34" charset="0"/>
              </a:rPr>
              <a:t>clear, complete, and unambiguous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4451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Ways of Writing a System Requirements Specification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6623002"/>
              </p:ext>
            </p:extLst>
          </p:nvPr>
        </p:nvGraphicFramePr>
        <p:xfrm>
          <a:off x="1717589" y="2273644"/>
          <a:ext cx="10474411" cy="4312508"/>
        </p:xfrm>
        <a:graphic>
          <a:graphicData uri="http://schemas.openxmlformats.org/drawingml/2006/table">
            <a:tbl>
              <a:tblPr/>
              <a:tblGrid>
                <a:gridCol w="2197428">
                  <a:extLst>
                    <a:ext uri="{9D8B030D-6E8A-4147-A177-3AD203B41FA5}">
                      <a16:colId xmlns:a16="http://schemas.microsoft.com/office/drawing/2014/main" val="6136418"/>
                    </a:ext>
                  </a:extLst>
                </a:gridCol>
                <a:gridCol w="3897545">
                  <a:extLst>
                    <a:ext uri="{9D8B030D-6E8A-4147-A177-3AD203B41FA5}">
                      <a16:colId xmlns:a16="http://schemas.microsoft.com/office/drawing/2014/main" val="813245761"/>
                    </a:ext>
                  </a:extLst>
                </a:gridCol>
                <a:gridCol w="4379438">
                  <a:extLst>
                    <a:ext uri="{9D8B030D-6E8A-4147-A177-3AD203B41FA5}">
                      <a16:colId xmlns:a16="http://schemas.microsoft.com/office/drawing/2014/main" val="4158412090"/>
                    </a:ext>
                  </a:extLst>
                </a:gridCol>
              </a:tblGrid>
              <a:tr h="359498">
                <a:tc>
                  <a:txBody>
                    <a:bodyPr/>
                    <a:lstStyle/>
                    <a:p>
                      <a:r>
                        <a:rPr lang="en-US" sz="1800" b="1"/>
                        <a:t>Notation Type</a:t>
                      </a:r>
                      <a:endParaRPr lang="en-US" sz="1800"/>
                    </a:p>
                  </a:txBody>
                  <a:tcPr marL="62484" marR="62484" marT="31242" marB="31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Description</a:t>
                      </a:r>
                      <a:endParaRPr lang="en-US" sz="1800"/>
                    </a:p>
                  </a:txBody>
                  <a:tcPr marL="62484" marR="62484" marT="31242" marB="31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Example</a:t>
                      </a:r>
                      <a:endParaRPr lang="en-US" sz="1800"/>
                    </a:p>
                  </a:txBody>
                  <a:tcPr marL="62484" marR="62484" marT="31242" marB="31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842231"/>
                  </a:ext>
                </a:extLst>
              </a:tr>
              <a:tr h="1044675">
                <a:tc>
                  <a:txBody>
                    <a:bodyPr/>
                    <a:lstStyle/>
                    <a:p>
                      <a:r>
                        <a:rPr lang="en-US" sz="1800" b="1"/>
                        <a:t>Natural Language</a:t>
                      </a:r>
                      <a:endParaRPr lang="en-US" sz="1800"/>
                    </a:p>
                  </a:txBody>
                  <a:tcPr marL="62484" marR="62484" marT="31242" marB="31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Requirements written as numbered sentences. Each sentence should express one requirement.</a:t>
                      </a:r>
                    </a:p>
                  </a:txBody>
                  <a:tcPr marL="62484" marR="62484" marT="31242" marB="31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/>
                        <a:t>"The system shall allow users to reset their password."</a:t>
                      </a:r>
                      <a:endParaRPr lang="en-US" sz="1800"/>
                    </a:p>
                  </a:txBody>
                  <a:tcPr marL="62484" marR="62484" marT="31242" marB="31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682427"/>
                  </a:ext>
                </a:extLst>
              </a:tr>
              <a:tr h="1044675">
                <a:tc>
                  <a:txBody>
                    <a:bodyPr/>
                    <a:lstStyle/>
                    <a:p>
                      <a:r>
                        <a:rPr lang="en-US" sz="1800" b="1"/>
                        <a:t>Structured Natural Language</a:t>
                      </a:r>
                      <a:endParaRPr lang="en-US" sz="1800"/>
                    </a:p>
                  </a:txBody>
                  <a:tcPr marL="62484" marR="62484" marT="31242" marB="31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Uses a predefined template or format.</a:t>
                      </a:r>
                    </a:p>
                  </a:txBody>
                  <a:tcPr marL="62484" marR="62484" marT="31242" marB="31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Requirement ID:</a:t>
                      </a:r>
                      <a:r>
                        <a:rPr lang="en-US" sz="1800"/>
                        <a:t> 3.2 </a:t>
                      </a:r>
                      <a:r>
                        <a:rPr lang="en-US" sz="1800" b="1"/>
                        <a:t>Description:</a:t>
                      </a:r>
                      <a:r>
                        <a:rPr lang="en-US" sz="1800"/>
                        <a:t> The system shall authenticate users using a one-time password (OTP).</a:t>
                      </a:r>
                    </a:p>
                  </a:txBody>
                  <a:tcPr marL="62484" marR="62484" marT="31242" marB="31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959547"/>
                  </a:ext>
                </a:extLst>
              </a:tr>
              <a:tr h="931830">
                <a:tc>
                  <a:txBody>
                    <a:bodyPr/>
                    <a:lstStyle/>
                    <a:p>
                      <a:r>
                        <a:rPr lang="en-US" sz="1800" b="1"/>
                        <a:t>Graphical Notations</a:t>
                      </a:r>
                      <a:endParaRPr lang="en-US" sz="1800"/>
                    </a:p>
                  </a:txBody>
                  <a:tcPr marL="62484" marR="62484" marT="31242" marB="31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Uses diagrams (e.g., UML use cases, sequence diagrams) to visualize system behavior.</a:t>
                      </a:r>
                    </a:p>
                  </a:txBody>
                  <a:tcPr marL="62484" marR="62484" marT="31242" marB="31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Example:</a:t>
                      </a:r>
                      <a:r>
                        <a:rPr lang="en-US" sz="1800" dirty="0"/>
                        <a:t> A </a:t>
                      </a:r>
                      <a:r>
                        <a:rPr lang="en-US" sz="1800" b="1" dirty="0"/>
                        <a:t>UML use case</a:t>
                      </a:r>
                      <a:r>
                        <a:rPr lang="en-US" sz="1800" dirty="0"/>
                        <a:t> showing user login flow.</a:t>
                      </a:r>
                    </a:p>
                  </a:txBody>
                  <a:tcPr marL="62484" marR="62484" marT="31242" marB="31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341402"/>
                  </a:ext>
                </a:extLst>
              </a:tr>
              <a:tr h="931830">
                <a:tc>
                  <a:txBody>
                    <a:bodyPr/>
                    <a:lstStyle/>
                    <a:p>
                      <a:r>
                        <a:rPr lang="en-US" sz="1800" b="1"/>
                        <a:t>Mathematical Specifications</a:t>
                      </a:r>
                      <a:endParaRPr lang="en-US" sz="1800"/>
                    </a:p>
                  </a:txBody>
                  <a:tcPr marL="62484" marR="62484" marT="31242" marB="31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Uses mathematical models for precision but is difficult for customers to understand.</a:t>
                      </a:r>
                    </a:p>
                  </a:txBody>
                  <a:tcPr marL="62484" marR="62484" marT="31242" marB="31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Example:</a:t>
                      </a:r>
                      <a:r>
                        <a:rPr lang="en-US" sz="1800" dirty="0"/>
                        <a:t> Finite-state machine model for an </a:t>
                      </a:r>
                      <a:r>
                        <a:rPr lang="en-US" sz="1800" b="1" dirty="0"/>
                        <a:t>ATM withdrawal process</a:t>
                      </a:r>
                      <a:r>
                        <a:rPr lang="en-US" sz="1800" dirty="0"/>
                        <a:t>.</a:t>
                      </a:r>
                    </a:p>
                  </a:txBody>
                  <a:tcPr marL="62484" marR="62484" marT="31242" marB="31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3802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2548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0808" y="191530"/>
            <a:ext cx="10018713" cy="1752599"/>
          </a:xfrm>
        </p:spPr>
        <p:txBody>
          <a:bodyPr/>
          <a:lstStyle/>
          <a:p>
            <a:r>
              <a:rPr lang="en-US" dirty="0"/>
              <a:t>Guidelines for Writing Good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0714" y="2038864"/>
            <a:ext cx="9056385" cy="4534929"/>
          </a:xfrm>
        </p:spPr>
        <p:txBody>
          <a:bodyPr>
            <a:noAutofit/>
          </a:bodyPr>
          <a:lstStyle/>
          <a:p>
            <a:r>
              <a:rPr lang="en-US" sz="1600" b="1" dirty="0"/>
              <a:t>Use a Standard Format</a:t>
            </a:r>
            <a:endParaRPr lang="en-US" sz="1600" dirty="0"/>
          </a:p>
          <a:p>
            <a:r>
              <a:rPr lang="en-US" sz="1600" dirty="0"/>
              <a:t>Follow a structured template for consistency.</a:t>
            </a:r>
          </a:p>
          <a:p>
            <a:pPr marL="0" indent="0">
              <a:buNone/>
            </a:pPr>
            <a:r>
              <a:rPr lang="en-US" sz="1600" dirty="0"/>
              <a:t>✅ </a:t>
            </a:r>
            <a:r>
              <a:rPr lang="en-US" sz="1600" b="1" dirty="0"/>
              <a:t>Use Clear Language</a:t>
            </a:r>
            <a:endParaRPr lang="en-US" sz="1600" dirty="0"/>
          </a:p>
          <a:p>
            <a:r>
              <a:rPr lang="en-US" sz="1600" dirty="0"/>
              <a:t>Avoid ambiguous words like "fast" or "good performance."</a:t>
            </a:r>
          </a:p>
          <a:p>
            <a:pPr marL="0" indent="0">
              <a:buNone/>
            </a:pPr>
            <a:r>
              <a:rPr lang="en-US" sz="1600" dirty="0"/>
              <a:t>✅ </a:t>
            </a:r>
            <a:r>
              <a:rPr lang="en-US" sz="1600" b="1" dirty="0"/>
              <a:t>Use "Shall" and "Should" Correctly</a:t>
            </a:r>
            <a:endParaRPr lang="en-US" sz="1600" dirty="0"/>
          </a:p>
          <a:p>
            <a:r>
              <a:rPr lang="en-US" sz="1600" b="1" dirty="0"/>
              <a:t>Shall</a:t>
            </a:r>
            <a:r>
              <a:rPr lang="en-US" sz="1600" dirty="0"/>
              <a:t> = Mandatory (e.g., </a:t>
            </a:r>
            <a:r>
              <a:rPr lang="en-US" sz="1600" i="1" dirty="0"/>
              <a:t>"The system shall encrypt all passwords."</a:t>
            </a:r>
            <a:r>
              <a:rPr lang="en-US" sz="1600" dirty="0"/>
              <a:t>)</a:t>
            </a:r>
          </a:p>
          <a:p>
            <a:r>
              <a:rPr lang="en-US" sz="1600" b="1" dirty="0"/>
              <a:t>Should</a:t>
            </a:r>
            <a:r>
              <a:rPr lang="en-US" sz="1600" dirty="0"/>
              <a:t> = Recommended but not mandatory (e.g., </a:t>
            </a:r>
            <a:r>
              <a:rPr lang="en-US" sz="1600" i="1" dirty="0"/>
              <a:t>"The system should provide a dark mode option."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/>
              <a:t>✅ </a:t>
            </a:r>
            <a:r>
              <a:rPr lang="en-US" sz="1600" b="1" dirty="0"/>
              <a:t>Highlight Key Parts</a:t>
            </a:r>
            <a:endParaRPr lang="en-US" sz="1600" dirty="0"/>
          </a:p>
          <a:p>
            <a:r>
              <a:rPr lang="en-US" sz="1600" dirty="0"/>
              <a:t>Example: </a:t>
            </a:r>
            <a:r>
              <a:rPr lang="en-US" sz="1600" i="1" dirty="0"/>
              <a:t>"The </a:t>
            </a:r>
            <a:r>
              <a:rPr lang="en-US" sz="1600" b="1" i="1" dirty="0"/>
              <a:t>system shall</a:t>
            </a:r>
            <a:r>
              <a:rPr lang="en-US" sz="1600" i="1" dirty="0"/>
              <a:t> generate a </a:t>
            </a:r>
            <a:r>
              <a:rPr lang="en-US" sz="1600" b="1" i="1" dirty="0"/>
              <a:t>daily summary report</a:t>
            </a:r>
            <a:r>
              <a:rPr lang="en-US" sz="1600" i="1" dirty="0"/>
              <a:t> for administrators."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✅ </a:t>
            </a:r>
            <a:r>
              <a:rPr lang="en-US" sz="1600" b="1" dirty="0"/>
              <a:t>Avoid Technical Jargon for User Requirements</a:t>
            </a:r>
            <a:endParaRPr lang="en-US" sz="1600" dirty="0"/>
          </a:p>
          <a:p>
            <a:r>
              <a:rPr lang="en-US" sz="1600" dirty="0"/>
              <a:t>❌ </a:t>
            </a:r>
            <a:r>
              <a:rPr lang="en-US" sz="1600" i="1" dirty="0"/>
              <a:t>"The app shall use AES-256 encryption for password storage."</a:t>
            </a:r>
            <a:r>
              <a:rPr lang="en-US" sz="1600" dirty="0"/>
              <a:t> (Too technical for end-users)</a:t>
            </a:r>
          </a:p>
          <a:p>
            <a:pPr marL="0" indent="0">
              <a:buNone/>
            </a:pPr>
            <a:r>
              <a:rPr lang="en-US" sz="1600" dirty="0"/>
              <a:t>✅ </a:t>
            </a:r>
            <a:r>
              <a:rPr lang="en-US" sz="1600" i="1" dirty="0"/>
              <a:t>"The app shall securely store user passwords."</a:t>
            </a:r>
            <a:r>
              <a:rPr lang="en-US" sz="1600" dirty="0"/>
              <a:t> (Clear and understandable)</a:t>
            </a:r>
          </a:p>
          <a:p>
            <a:pPr marL="0" indent="0">
              <a:buNone/>
            </a:pPr>
            <a:r>
              <a:rPr lang="en-US" sz="1600" dirty="0"/>
              <a:t>✅ </a:t>
            </a:r>
            <a:r>
              <a:rPr lang="en-US" sz="1600" b="1" dirty="0"/>
              <a:t>Include a Rationale for Each Requirement</a:t>
            </a:r>
            <a:endParaRPr lang="en-US" sz="1600" dirty="0"/>
          </a:p>
          <a:p>
            <a:r>
              <a:rPr lang="en-US" sz="1600" dirty="0"/>
              <a:t>Helps developers understand </a:t>
            </a:r>
            <a:r>
              <a:rPr lang="en-US" sz="1600" b="1" dirty="0"/>
              <a:t>why</a:t>
            </a:r>
            <a:r>
              <a:rPr lang="en-US" sz="1600" dirty="0"/>
              <a:t> the requirement exists.</a:t>
            </a:r>
          </a:p>
        </p:txBody>
      </p:sp>
    </p:spTree>
    <p:extLst>
      <p:ext uri="{BB962C8B-B14F-4D97-AF65-F5344CB8AC3E}">
        <p14:creationId xmlns:p14="http://schemas.microsoft.com/office/powerpoint/2010/main" val="2789361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natural language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1402" y="2024447"/>
            <a:ext cx="10600598" cy="483355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1. Lack of Clarity</a:t>
            </a:r>
          </a:p>
          <a:p>
            <a:r>
              <a:rPr lang="en-US" dirty="0"/>
              <a:t>It can be difficult to write requirements in a way that is both </a:t>
            </a:r>
            <a:r>
              <a:rPr lang="en-US" b="1" dirty="0"/>
              <a:t>precise and unambiguous</a:t>
            </a:r>
            <a:r>
              <a:rPr lang="en-US" dirty="0"/>
              <a:t>.</a:t>
            </a:r>
          </a:p>
          <a:p>
            <a:r>
              <a:rPr lang="en-US" dirty="0"/>
              <a:t>If too much detail is included, the document becomes lengthy and hard to read.</a:t>
            </a:r>
          </a:p>
          <a:p>
            <a:r>
              <a:rPr lang="en-US" dirty="0"/>
              <a:t>If too little detail is included, the requirement may be </a:t>
            </a:r>
            <a:r>
              <a:rPr lang="en-US" b="1" dirty="0"/>
              <a:t>misinterpreted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/>
              <a:t>2. Requirements Confusion</a:t>
            </a:r>
          </a:p>
          <a:p>
            <a:r>
              <a:rPr lang="en-US" dirty="0"/>
              <a:t>Functional, non-functional, and design requirements can sometimes get mixed up.</a:t>
            </a:r>
          </a:p>
          <a:p>
            <a:r>
              <a:rPr lang="en-US" dirty="0"/>
              <a:t>This can cause misunderstandings between </a:t>
            </a:r>
            <a:r>
              <a:rPr lang="en-US" b="1" dirty="0"/>
              <a:t>developers, testers, and stakeholders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/>
              <a:t>3. Requirements Amalgamation</a:t>
            </a:r>
          </a:p>
          <a:p>
            <a:r>
              <a:rPr lang="en-US" b="1" dirty="0"/>
              <a:t>Multiple requirements</a:t>
            </a:r>
            <a:r>
              <a:rPr lang="en-US" dirty="0"/>
              <a:t> may be combined into one sentence, making it hard to separate them.</a:t>
            </a:r>
          </a:p>
          <a:p>
            <a:r>
              <a:rPr lang="en-US" dirty="0"/>
              <a:t>This makes it </a:t>
            </a:r>
            <a:r>
              <a:rPr lang="en-US" b="1" dirty="0"/>
              <a:t>difficult to track, test, and update</a:t>
            </a:r>
            <a:r>
              <a:rPr lang="en-US" dirty="0"/>
              <a:t> individual requirements.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634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and Form-Based Specifications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4505" y="1890585"/>
            <a:ext cx="10612955" cy="4967415"/>
          </a:xfrm>
        </p:spPr>
        <p:txBody>
          <a:bodyPr>
            <a:normAutofit fontScale="85000" lnSpcReduction="20000"/>
          </a:bodyPr>
          <a:lstStyle/>
          <a:p>
            <a:pPr marL="0" indent="0">
              <a:spcBef>
                <a:spcPts val="90"/>
              </a:spcBef>
              <a:spcAft>
                <a:spcPts val="90"/>
              </a:spcAft>
              <a:buNone/>
            </a:pPr>
            <a:r>
              <a:rPr lang="en-US" b="1" dirty="0"/>
              <a:t>Structured Specifications</a:t>
            </a:r>
          </a:p>
          <a:p>
            <a:pPr marL="0" indent="0">
              <a:spcBef>
                <a:spcPts val="90"/>
              </a:spcBef>
              <a:spcAft>
                <a:spcPts val="90"/>
              </a:spcAft>
              <a:buNone/>
            </a:pPr>
            <a:r>
              <a:rPr lang="en-US" dirty="0" smtClean="0"/>
              <a:t>	A </a:t>
            </a:r>
            <a:r>
              <a:rPr lang="en-US" dirty="0"/>
              <a:t>method of writing requirements in a </a:t>
            </a:r>
            <a:r>
              <a:rPr lang="en-US" b="1" dirty="0"/>
              <a:t>fixed, standardized format</a:t>
            </a:r>
            <a:r>
              <a:rPr lang="en-US" dirty="0"/>
              <a:t>.</a:t>
            </a:r>
          </a:p>
          <a:p>
            <a:pPr marL="0">
              <a:spcBef>
                <a:spcPts val="90"/>
              </a:spcBef>
              <a:spcAft>
                <a:spcPts val="90"/>
              </a:spcAft>
            </a:pPr>
            <a:r>
              <a:rPr lang="en-US" dirty="0"/>
              <a:t>It limits the freedom of the writer to avoid ambiguity.</a:t>
            </a:r>
          </a:p>
          <a:p>
            <a:pPr marL="0">
              <a:spcBef>
                <a:spcPts val="90"/>
              </a:spcBef>
              <a:spcAft>
                <a:spcPts val="90"/>
              </a:spcAft>
            </a:pPr>
            <a:r>
              <a:rPr lang="en-US" dirty="0"/>
              <a:t>Works best for </a:t>
            </a:r>
            <a:r>
              <a:rPr lang="en-US" b="1" dirty="0"/>
              <a:t>technical systems</a:t>
            </a:r>
            <a:r>
              <a:rPr lang="en-US" dirty="0"/>
              <a:t> where precise specifications are needed.</a:t>
            </a:r>
          </a:p>
          <a:p>
            <a:pPr marL="0" indent="0">
              <a:spcBef>
                <a:spcPts val="90"/>
              </a:spcBef>
              <a:spcAft>
                <a:spcPts val="90"/>
              </a:spcAft>
              <a:buNone/>
            </a:pPr>
            <a:r>
              <a:rPr lang="en-US" b="1" dirty="0" smtClean="0"/>
              <a:t>Example</a:t>
            </a:r>
            <a:r>
              <a:rPr lang="en-US" b="1" dirty="0"/>
              <a:t>:</a:t>
            </a:r>
            <a:r>
              <a:rPr lang="en-US" dirty="0"/>
              <a:t> (For an Embedded Control System in a Smart Car)</a:t>
            </a:r>
            <a:br>
              <a:rPr lang="en-US" dirty="0"/>
            </a:br>
            <a:r>
              <a:rPr lang="en-US" dirty="0"/>
              <a:t>❌ </a:t>
            </a:r>
            <a:r>
              <a:rPr lang="en-US" b="1" dirty="0"/>
              <a:t>Unstructured Requirement:</a:t>
            </a:r>
            <a:r>
              <a:rPr lang="en-US" dirty="0"/>
              <a:t> "The car should have an automatic braking system."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Structured Requirement:</a:t>
            </a:r>
            <a:endParaRPr lang="en-US" dirty="0"/>
          </a:p>
          <a:p>
            <a:pPr marL="0">
              <a:spcBef>
                <a:spcPts val="90"/>
              </a:spcBef>
              <a:spcAft>
                <a:spcPts val="90"/>
              </a:spcAft>
            </a:pPr>
            <a:r>
              <a:rPr lang="en-US" b="1" dirty="0"/>
              <a:t>Requirement ID:</a:t>
            </a:r>
            <a:r>
              <a:rPr lang="en-US" dirty="0"/>
              <a:t> 3.2</a:t>
            </a:r>
          </a:p>
          <a:p>
            <a:pPr marL="0">
              <a:spcBef>
                <a:spcPts val="90"/>
              </a:spcBef>
              <a:spcAft>
                <a:spcPts val="90"/>
              </a:spcAft>
            </a:pPr>
            <a:r>
              <a:rPr lang="en-US" b="1" dirty="0"/>
              <a:t>Description:</a:t>
            </a:r>
            <a:r>
              <a:rPr lang="en-US" dirty="0"/>
              <a:t> "The vehicle shall automatically engage the braking system if an obstacle is detected within 5 meters at speeds above 30 km/h."</a:t>
            </a:r>
          </a:p>
          <a:p>
            <a:pPr marL="0" indent="0">
              <a:spcBef>
                <a:spcPts val="90"/>
              </a:spcBef>
              <a:spcAft>
                <a:spcPts val="90"/>
              </a:spcAft>
              <a:buNone/>
            </a:pPr>
            <a:r>
              <a:rPr lang="en-US" b="1" dirty="0"/>
              <a:t>Priority:</a:t>
            </a:r>
            <a:r>
              <a:rPr lang="en-US" dirty="0"/>
              <a:t> High</a:t>
            </a:r>
          </a:p>
          <a:p>
            <a:pPr marL="0" indent="0">
              <a:spcBef>
                <a:spcPts val="90"/>
              </a:spcBef>
              <a:spcAft>
                <a:spcPts val="90"/>
              </a:spcAft>
              <a:buNone/>
            </a:pPr>
            <a:r>
              <a:rPr lang="en-US" b="1" dirty="0"/>
              <a:t>Rationale:</a:t>
            </a:r>
            <a:r>
              <a:rPr lang="en-US" dirty="0"/>
              <a:t> "Prevents collisions and improves road safety."</a:t>
            </a:r>
          </a:p>
          <a:p>
            <a:pPr marL="0">
              <a:spcBef>
                <a:spcPts val="90"/>
              </a:spcBef>
              <a:spcAft>
                <a:spcPts val="90"/>
              </a:spcAft>
            </a:pPr>
            <a:r>
              <a:rPr lang="en-US" b="1" dirty="0" smtClean="0"/>
              <a:t>When </a:t>
            </a:r>
            <a:r>
              <a:rPr lang="en-US" b="1" dirty="0"/>
              <a:t>to Use Structured Specifications?</a:t>
            </a:r>
            <a:endParaRPr lang="en-US" dirty="0"/>
          </a:p>
          <a:p>
            <a:pPr marL="0">
              <a:spcBef>
                <a:spcPts val="90"/>
              </a:spcBef>
              <a:spcAft>
                <a:spcPts val="90"/>
              </a:spcAft>
            </a:pPr>
            <a:r>
              <a:rPr lang="en-US" b="1" dirty="0"/>
              <a:t>Embedded systems</a:t>
            </a:r>
            <a:r>
              <a:rPr lang="en-US" dirty="0"/>
              <a:t> (e.g., medical devices, aircraft control).</a:t>
            </a:r>
          </a:p>
          <a:p>
            <a:pPr marL="0">
              <a:spcBef>
                <a:spcPts val="90"/>
              </a:spcBef>
              <a:spcAft>
                <a:spcPts val="90"/>
              </a:spcAft>
            </a:pPr>
            <a:r>
              <a:rPr lang="en-US" b="1" dirty="0"/>
              <a:t>Safety-critical applications</a:t>
            </a:r>
            <a:r>
              <a:rPr lang="en-US" dirty="0"/>
              <a:t> where precision is essential.</a:t>
            </a:r>
          </a:p>
          <a:p>
            <a:pPr marL="0">
              <a:spcBef>
                <a:spcPts val="90"/>
              </a:spcBef>
              <a:spcAft>
                <a:spcPts val="90"/>
              </a:spcAft>
            </a:pPr>
            <a:r>
              <a:rPr lang="en-US" b="1" dirty="0" smtClean="0"/>
              <a:t>Limitation</a:t>
            </a:r>
            <a:r>
              <a:rPr lang="en-US" b="1" dirty="0"/>
              <a:t>:</a:t>
            </a:r>
            <a:endParaRPr lang="en-US" dirty="0"/>
          </a:p>
          <a:p>
            <a:pPr marL="0">
              <a:spcBef>
                <a:spcPts val="90"/>
              </a:spcBef>
              <a:spcAft>
                <a:spcPts val="90"/>
              </a:spcAft>
            </a:pPr>
            <a:r>
              <a:rPr lang="en-US" dirty="0"/>
              <a:t>Can be </a:t>
            </a:r>
            <a:r>
              <a:rPr lang="en-US" b="1" dirty="0"/>
              <a:t>too rigid</a:t>
            </a:r>
            <a:r>
              <a:rPr lang="en-US" dirty="0"/>
              <a:t> for </a:t>
            </a:r>
            <a:r>
              <a:rPr lang="en-US" b="1" dirty="0"/>
              <a:t>business applications</a:t>
            </a:r>
            <a:r>
              <a:rPr lang="en-US" dirty="0"/>
              <a:t>, which often require flexibility.</a:t>
            </a:r>
          </a:p>
        </p:txBody>
      </p:sp>
    </p:spTree>
    <p:extLst>
      <p:ext uri="{BB962C8B-B14F-4D97-AF65-F5344CB8AC3E}">
        <p14:creationId xmlns:p14="http://schemas.microsoft.com/office/powerpoint/2010/main" val="2958307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0"/>
            <a:ext cx="10018713" cy="1488989"/>
          </a:xfrm>
        </p:spPr>
        <p:txBody>
          <a:bodyPr/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dirty="0">
                <a:ln>
                  <a:noFill/>
                </a:ln>
                <a:latin typeface="Arial" panose="020B0604020202020204" pitchFamily="34" charset="0"/>
              </a:rPr>
              <a:t>Form-Based Specifications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6984819"/>
              </p:ext>
            </p:extLst>
          </p:nvPr>
        </p:nvGraphicFramePr>
        <p:xfrm>
          <a:off x="2238073" y="2339436"/>
          <a:ext cx="8722370" cy="2926080"/>
        </p:xfrm>
        <a:graphic>
          <a:graphicData uri="http://schemas.openxmlformats.org/drawingml/2006/table">
            <a:tbl>
              <a:tblPr/>
              <a:tblGrid>
                <a:gridCol w="2343477">
                  <a:extLst>
                    <a:ext uri="{9D8B030D-6E8A-4147-A177-3AD203B41FA5}">
                      <a16:colId xmlns:a16="http://schemas.microsoft.com/office/drawing/2014/main" val="1778615130"/>
                    </a:ext>
                  </a:extLst>
                </a:gridCol>
                <a:gridCol w="6378893">
                  <a:extLst>
                    <a:ext uri="{9D8B030D-6E8A-4147-A177-3AD203B41FA5}">
                      <a16:colId xmlns:a16="http://schemas.microsoft.com/office/drawing/2014/main" val="2218145466"/>
                    </a:ext>
                  </a:extLst>
                </a:gridCol>
              </a:tblGrid>
              <a:tr h="306249">
                <a:tc>
                  <a:txBody>
                    <a:bodyPr/>
                    <a:lstStyle/>
                    <a:p>
                      <a:r>
                        <a:rPr lang="en-US" b="1"/>
                        <a:t>Requirement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Description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3609527"/>
                  </a:ext>
                </a:extLst>
              </a:tr>
              <a:tr h="306249">
                <a:tc>
                  <a:txBody>
                    <a:bodyPr/>
                    <a:lstStyle/>
                    <a:p>
                      <a:r>
                        <a:rPr lang="en-US" b="1" dirty="0"/>
                        <a:t>Function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User Login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8152501"/>
                  </a:ext>
                </a:extLst>
              </a:tr>
              <a:tr h="306249">
                <a:tc>
                  <a:txBody>
                    <a:bodyPr/>
                    <a:lstStyle/>
                    <a:p>
                      <a:r>
                        <a:rPr lang="en-US" b="1"/>
                        <a:t>Inputs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Username, Password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5876178"/>
                  </a:ext>
                </a:extLst>
              </a:tr>
              <a:tr h="306249">
                <a:tc>
                  <a:txBody>
                    <a:bodyPr/>
                    <a:lstStyle/>
                    <a:p>
                      <a:r>
                        <a:rPr lang="en-US" b="1"/>
                        <a:t>Outputs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Success message or error message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6965624"/>
                  </a:ext>
                </a:extLst>
              </a:tr>
              <a:tr h="306249">
                <a:tc>
                  <a:txBody>
                    <a:bodyPr/>
                    <a:lstStyle/>
                    <a:p>
                      <a:r>
                        <a:rPr lang="en-US" b="1"/>
                        <a:t>Action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Authenticate user credentials against 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36438"/>
                  </a:ext>
                </a:extLst>
              </a:tr>
              <a:tr h="306249">
                <a:tc>
                  <a:txBody>
                    <a:bodyPr/>
                    <a:lstStyle/>
                    <a:p>
                      <a:r>
                        <a:rPr lang="en-US" b="1"/>
                        <a:t>Pre-condition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must be registered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8587448"/>
                  </a:ext>
                </a:extLst>
              </a:tr>
              <a:tr h="306249">
                <a:tc>
                  <a:txBody>
                    <a:bodyPr/>
                    <a:lstStyle/>
                    <a:p>
                      <a:r>
                        <a:rPr lang="en-US" b="1"/>
                        <a:t>Post-condition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User gets access to the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1212362"/>
                  </a:ext>
                </a:extLst>
              </a:tr>
              <a:tr h="306249">
                <a:tc>
                  <a:txBody>
                    <a:bodyPr/>
                    <a:lstStyle/>
                    <a:p>
                      <a:r>
                        <a:rPr lang="en-US" b="1"/>
                        <a:t>Side Effects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Account locks after 5 failed attempts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0081862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089794" y="1238503"/>
            <a:ext cx="10102206" cy="5878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a structured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 or template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describe each requirement.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Clearly defines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inputs, outputs, and actions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	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Useful for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function-based systems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calculators, sensors, online booking).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(For a Login System)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 smtClean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to Use Form-Based Specifications?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for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functions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where input/output is clear.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developers quickly understand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expected behavior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Limitation: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 structured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 systems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requiring flexibility.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11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Tabular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method of representing </a:t>
            </a:r>
            <a:r>
              <a:rPr lang="en-US" b="1" dirty="0"/>
              <a:t>requirements in a table format</a:t>
            </a:r>
            <a:r>
              <a:rPr lang="en-US" dirty="0"/>
              <a:t> instead of long text descriptions.</a:t>
            </a:r>
          </a:p>
          <a:p>
            <a:r>
              <a:rPr lang="en-US" dirty="0"/>
              <a:t>Helps in cases where there are </a:t>
            </a:r>
            <a:r>
              <a:rPr lang="en-US" b="1" dirty="0"/>
              <a:t>multiple conditions and possible actions</a:t>
            </a:r>
            <a:r>
              <a:rPr lang="en-US" dirty="0"/>
              <a:t>.</a:t>
            </a:r>
          </a:p>
          <a:p>
            <a:r>
              <a:rPr lang="en-US" b="1" dirty="0"/>
              <a:t>Reduces ambiguity</a:t>
            </a:r>
            <a:r>
              <a:rPr lang="en-US" dirty="0"/>
              <a:t> and makes complex decision-making easier to understand</a:t>
            </a:r>
            <a:r>
              <a:rPr lang="en-US" dirty="0" smtClean="0"/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Traffic Light System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Let’s say we need to specify how a traffic light changes based on the timer.</a:t>
            </a:r>
            <a:endParaRPr lang="en-US" altLang="en-US" sz="48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6000" dirty="0">
              <a:latin typeface="Arial" panose="020B0604020202020204" pitchFamily="34" charset="0"/>
            </a:endParaRP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072688"/>
              </p:ext>
            </p:extLst>
          </p:nvPr>
        </p:nvGraphicFramePr>
        <p:xfrm>
          <a:off x="2685087" y="4942722"/>
          <a:ext cx="7617158" cy="1463040"/>
        </p:xfrm>
        <a:graphic>
          <a:graphicData uri="http://schemas.openxmlformats.org/drawingml/2006/table">
            <a:tbl>
              <a:tblPr/>
              <a:tblGrid>
                <a:gridCol w="3808579">
                  <a:extLst>
                    <a:ext uri="{9D8B030D-6E8A-4147-A177-3AD203B41FA5}">
                      <a16:colId xmlns:a16="http://schemas.microsoft.com/office/drawing/2014/main" val="2670830022"/>
                    </a:ext>
                  </a:extLst>
                </a:gridCol>
                <a:gridCol w="3808579">
                  <a:extLst>
                    <a:ext uri="{9D8B030D-6E8A-4147-A177-3AD203B41FA5}">
                      <a16:colId xmlns:a16="http://schemas.microsoft.com/office/drawing/2014/main" val="33985759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Condition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Action (Light Change)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3046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Timer = 60 seconds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Green → Yellow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6049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Timer = 5 seconds (after Yellow)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Yellow → 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471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Timer = 60 seconds (after Red)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 → Green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8222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4207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8789" y="430620"/>
            <a:ext cx="9509754" cy="579474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Requirement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9552" y="1509823"/>
            <a:ext cx="10182447" cy="534817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Requirements </a:t>
            </a:r>
            <a:r>
              <a:rPr lang="en-US" dirty="0"/>
              <a:t>Engineering (RE) is the process of gathering, analyzing, and managing the needs of a software system.</a:t>
            </a:r>
          </a:p>
          <a:p>
            <a:r>
              <a:rPr lang="en-US" dirty="0" smtClean="0"/>
              <a:t> </a:t>
            </a:r>
            <a:r>
              <a:rPr lang="en-US" b="1" dirty="0"/>
              <a:t>Key RE Activities: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b="1" dirty="0"/>
              <a:t>Requirements Elicitation</a:t>
            </a:r>
            <a:r>
              <a:rPr lang="en-US" dirty="0"/>
              <a:t> – Finding out what users need.</a:t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b="1" dirty="0"/>
              <a:t>Requirements Analysis</a:t>
            </a:r>
            <a:r>
              <a:rPr lang="en-US" dirty="0"/>
              <a:t> – Understanding and organizing the requirements.</a:t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b="1" dirty="0"/>
              <a:t>Requirements Validation</a:t>
            </a:r>
            <a:r>
              <a:rPr lang="en-US" dirty="0"/>
              <a:t> – Ensuring requirements are correct.</a:t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b="1" dirty="0"/>
              <a:t>Requirements Management</a:t>
            </a:r>
            <a:r>
              <a:rPr lang="en-US" dirty="0"/>
              <a:t> – Keeping track of changes.</a:t>
            </a:r>
          </a:p>
          <a:p>
            <a:r>
              <a:rPr lang="en-US" dirty="0" smtClean="0"/>
              <a:t> </a:t>
            </a:r>
            <a:r>
              <a:rPr lang="en-US" b="1" dirty="0"/>
              <a:t>Elicitation &amp; Analysis Process: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b="1" dirty="0" smtClean="0"/>
              <a:t>Discovery</a:t>
            </a:r>
            <a:r>
              <a:rPr lang="en-US" dirty="0" smtClean="0"/>
              <a:t> </a:t>
            </a:r>
            <a:r>
              <a:rPr lang="en-US" dirty="0"/>
              <a:t>– Talking to stakeholders (users, managers, etc.) to gather needs.</a:t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b="1" dirty="0"/>
              <a:t>Classification &amp; Organization</a:t>
            </a:r>
            <a:r>
              <a:rPr lang="en-US" dirty="0"/>
              <a:t> – Grouping related requirements.</a:t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b="1" dirty="0"/>
              <a:t>Prioritization &amp; Negotiation</a:t>
            </a:r>
            <a:r>
              <a:rPr lang="en-US" dirty="0"/>
              <a:t> – Resolving conflicts between requirements.</a:t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b="1" dirty="0"/>
              <a:t>Specification</a:t>
            </a:r>
            <a:r>
              <a:rPr lang="en-US" dirty="0"/>
              <a:t> – Writing down clear requirements.</a:t>
            </a:r>
          </a:p>
          <a:p>
            <a:r>
              <a:rPr lang="en-US" dirty="0" smtClean="0"/>
              <a:t> </a:t>
            </a:r>
            <a:r>
              <a:rPr lang="en-US" b="1" dirty="0"/>
              <a:t>Challenges in Requirements Analysis: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dirty="0"/>
              <a:t>Users may not know what they want.</a:t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dirty="0"/>
              <a:t>Different stakeholders may have conflicting needs.</a:t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dirty="0"/>
              <a:t>Business &amp; political factors may influence requirements.</a:t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dirty="0"/>
              <a:t>Requirements change over time as new needs emerge.</a:t>
            </a:r>
          </a:p>
          <a:p>
            <a:r>
              <a:rPr lang="en-US" dirty="0" smtClean="0"/>
              <a:t> </a:t>
            </a:r>
            <a:r>
              <a:rPr lang="en-US" b="1" dirty="0"/>
              <a:t>Requirement Discovery: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dirty="0"/>
              <a:t>Involves collecting data from users, documents, and similar systems.</a:t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dirty="0"/>
              <a:t>Helps understand system needs before development starts.</a:t>
            </a:r>
          </a:p>
        </p:txBody>
      </p:sp>
    </p:spTree>
    <p:extLst>
      <p:ext uri="{BB962C8B-B14F-4D97-AF65-F5344CB8AC3E}">
        <p14:creationId xmlns:p14="http://schemas.microsoft.com/office/powerpoint/2010/main" val="1014530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196702"/>
            <a:ext cx="10018713" cy="1752599"/>
          </a:xfrm>
        </p:spPr>
        <p:txBody>
          <a:bodyPr/>
          <a:lstStyle/>
          <a:p>
            <a:r>
              <a:rPr lang="en-US" dirty="0"/>
              <a:t>Requirements Validation &amp;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2923" y="1765004"/>
            <a:ext cx="11179067" cy="4795285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Requirements Validation</a:t>
            </a:r>
            <a:endParaRPr lang="en-US" sz="18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Ensures the system meets customer needs.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Fixing requirement errors late is </a:t>
            </a:r>
            <a:r>
              <a:rPr lang="en-US" sz="1800" b="1" dirty="0"/>
              <a:t>very costly</a:t>
            </a:r>
            <a:r>
              <a:rPr lang="en-US" sz="1800" dirty="0"/>
              <a:t> (up to 100x).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Key Checks: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✔ </a:t>
            </a:r>
            <a:r>
              <a:rPr lang="en-US" sz="1800" b="1" dirty="0"/>
              <a:t>Validity</a:t>
            </a:r>
            <a:r>
              <a:rPr lang="en-US" sz="1800" dirty="0"/>
              <a:t> – Does it meet actual needs</a:t>
            </a:r>
            <a:r>
              <a:rPr lang="en-US" sz="1800" dirty="0" smtClean="0"/>
              <a:t>?					✔ </a:t>
            </a:r>
            <a:r>
              <a:rPr lang="en-US" sz="1800" b="1" dirty="0"/>
              <a:t>Consistency</a:t>
            </a:r>
            <a:r>
              <a:rPr lang="en-US" sz="1800" dirty="0"/>
              <a:t> – No contradictions.</a:t>
            </a:r>
            <a:br>
              <a:rPr lang="en-US" sz="1800" dirty="0"/>
            </a:br>
            <a:r>
              <a:rPr lang="en-US" sz="1800" dirty="0"/>
              <a:t>✔ </a:t>
            </a:r>
            <a:r>
              <a:rPr lang="en-US" sz="1800" b="1" dirty="0"/>
              <a:t>Completeness</a:t>
            </a:r>
            <a:r>
              <a:rPr lang="en-US" sz="1800" dirty="0"/>
              <a:t> – Covers all necessary functions</a:t>
            </a:r>
            <a:r>
              <a:rPr lang="en-US" sz="1800" dirty="0" smtClean="0"/>
              <a:t>.			✔ </a:t>
            </a:r>
            <a:r>
              <a:rPr lang="en-US" sz="1800" b="1" dirty="0"/>
              <a:t>Realism</a:t>
            </a:r>
            <a:r>
              <a:rPr lang="en-US" sz="1800" dirty="0"/>
              <a:t> – Feasible with current tech &amp; budget.</a:t>
            </a:r>
            <a:br>
              <a:rPr lang="en-US" sz="1800" dirty="0"/>
            </a:br>
            <a:r>
              <a:rPr lang="en-US" sz="1800" dirty="0"/>
              <a:t>✔ </a:t>
            </a:r>
            <a:r>
              <a:rPr lang="en-US" sz="1800" b="1" dirty="0"/>
              <a:t>Verifiability</a:t>
            </a:r>
            <a:r>
              <a:rPr lang="en-US" sz="1800" dirty="0"/>
              <a:t> – Can be tested.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Validation Methods: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✔ </a:t>
            </a:r>
            <a:r>
              <a:rPr lang="en-US" sz="1800" b="1" dirty="0"/>
              <a:t>Reviews</a:t>
            </a:r>
            <a:r>
              <a:rPr lang="en-US" sz="1800" dirty="0"/>
              <a:t> – Team analyzes requirements</a:t>
            </a:r>
            <a:r>
              <a:rPr lang="en-US" sz="1800" dirty="0" smtClean="0"/>
              <a:t>.				✔ </a:t>
            </a:r>
            <a:r>
              <a:rPr lang="en-US" sz="1800" b="1" dirty="0"/>
              <a:t>Prototyping</a:t>
            </a:r>
            <a:r>
              <a:rPr lang="en-US" sz="1800" dirty="0"/>
              <a:t> – Early system model for testing.</a:t>
            </a:r>
            <a:br>
              <a:rPr lang="en-US" sz="1800" dirty="0"/>
            </a:br>
            <a:r>
              <a:rPr lang="en-US" sz="1800" dirty="0"/>
              <a:t>✔ </a:t>
            </a:r>
            <a:r>
              <a:rPr lang="en-US" sz="1800" b="1" dirty="0"/>
              <a:t>Test Cases</a:t>
            </a:r>
            <a:r>
              <a:rPr lang="en-US" sz="1800" dirty="0"/>
              <a:t> – Checking if requirements can be tested</a:t>
            </a:r>
            <a:r>
              <a:rPr lang="en-US" sz="1800" dirty="0" smtClean="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Requirements Management</a:t>
            </a:r>
            <a:endParaRPr lang="en-US" sz="18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Tracks and controls </a:t>
            </a:r>
            <a:r>
              <a:rPr lang="en-US" sz="1800" b="1" dirty="0"/>
              <a:t>requirement changes</a:t>
            </a:r>
            <a:r>
              <a:rPr lang="en-US" sz="1800" dirty="0"/>
              <a:t> over time.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New requirements arise </a:t>
            </a:r>
            <a:r>
              <a:rPr lang="en-US" sz="1800" b="1" dirty="0"/>
              <a:t>during &amp; after development</a:t>
            </a:r>
            <a:r>
              <a:rPr lang="en-US" sz="1800" dirty="0"/>
              <a:t> due to business needs, tech changes, or user feedback.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Change Management Steps: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✔ </a:t>
            </a:r>
            <a:r>
              <a:rPr lang="en-US" sz="1800" b="1" dirty="0"/>
              <a:t>Analyze request</a:t>
            </a:r>
            <a:r>
              <a:rPr lang="en-US" sz="1800" dirty="0"/>
              <a:t> – Check if change is valid</a:t>
            </a:r>
            <a:r>
              <a:rPr lang="en-US" sz="1800" dirty="0" smtClean="0"/>
              <a:t>.				✔ </a:t>
            </a:r>
            <a:r>
              <a:rPr lang="en-US" sz="1800" b="1" dirty="0"/>
              <a:t>Cost &amp; Impact</a:t>
            </a:r>
            <a:r>
              <a:rPr lang="en-US" sz="1800" dirty="0"/>
              <a:t> – Assess its effect.</a:t>
            </a:r>
            <a:br>
              <a:rPr lang="en-US" sz="1800" dirty="0"/>
            </a:br>
            <a:r>
              <a:rPr lang="en-US" sz="1800" dirty="0"/>
              <a:t>✔ </a:t>
            </a:r>
            <a:r>
              <a:rPr lang="en-US" sz="1800" b="1" dirty="0"/>
              <a:t>Implement</a:t>
            </a:r>
            <a:r>
              <a:rPr lang="en-US" sz="1800" dirty="0"/>
              <a:t> – Update documents &amp; system.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50492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Interviewing in Requirements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5816" y="2197393"/>
            <a:ext cx="10018713" cy="4660607"/>
          </a:xfrm>
        </p:spPr>
        <p:txBody>
          <a:bodyPr>
            <a:noAutofit/>
          </a:bodyPr>
          <a:lstStyle/>
          <a:p>
            <a:r>
              <a:rPr lang="en-US" sz="1800" dirty="0"/>
              <a:t>Interviewing is talking to stakeholders (users, managers, domain experts) to understand system requirements</a:t>
            </a:r>
            <a:r>
              <a:rPr lang="en-US" sz="1800" dirty="0" smtClean="0"/>
              <a:t>.</a:t>
            </a:r>
          </a:p>
          <a:p>
            <a:r>
              <a:rPr lang="en-US" sz="1800" b="1" dirty="0"/>
              <a:t>Types of Interviews: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 smtClean="0"/>
              <a:t> </a:t>
            </a:r>
            <a:r>
              <a:rPr lang="en-US" sz="1800" b="1" dirty="0"/>
              <a:t>Closed Interviews:</a:t>
            </a:r>
            <a:r>
              <a:rPr lang="en-US" sz="1800" dirty="0"/>
              <a:t> Pre-planned, structured questions. (E.g., “What </a:t>
            </a:r>
            <a:r>
              <a:rPr lang="en-US" sz="1800" dirty="0" smtClean="0"/>
              <a:t>features </a:t>
            </a:r>
            <a:r>
              <a:rPr lang="en-US" sz="1800" dirty="0"/>
              <a:t>do you need in a banking app?”)</a:t>
            </a:r>
            <a:br>
              <a:rPr lang="en-US" sz="1800" dirty="0"/>
            </a:br>
            <a:r>
              <a:rPr lang="en-US" sz="1800" dirty="0" smtClean="0"/>
              <a:t> </a:t>
            </a:r>
            <a:r>
              <a:rPr lang="en-US" sz="1800" b="1" dirty="0"/>
              <a:t>Open Interviews:</a:t>
            </a:r>
            <a:r>
              <a:rPr lang="en-US" sz="1800" dirty="0"/>
              <a:t> No fixed agenda, open discussion to explore ideas. (E.g., “How do you usually handle transactions</a:t>
            </a:r>
            <a:r>
              <a:rPr lang="en-US" sz="1800" dirty="0" smtClean="0"/>
              <a:t>?”)</a:t>
            </a:r>
          </a:p>
          <a:p>
            <a:r>
              <a:rPr lang="en-US" sz="1800" b="1" dirty="0"/>
              <a:t>Best Practices for Effective Interviews: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 smtClean="0"/>
              <a:t> </a:t>
            </a:r>
            <a:r>
              <a:rPr lang="en-US" sz="1800" dirty="0"/>
              <a:t>Be open-minded and listen carefully.</a:t>
            </a:r>
            <a:br>
              <a:rPr lang="en-US" sz="1800" dirty="0"/>
            </a:br>
            <a:r>
              <a:rPr lang="en-US" sz="1800" dirty="0" smtClean="0"/>
              <a:t> </a:t>
            </a:r>
            <a:r>
              <a:rPr lang="en-US" sz="1800" dirty="0"/>
              <a:t>Use a prototype or requirement proposal to guide discussions.</a:t>
            </a:r>
          </a:p>
          <a:p>
            <a:r>
              <a:rPr lang="en-US" sz="1800" dirty="0" smtClean="0"/>
              <a:t> </a:t>
            </a:r>
            <a:r>
              <a:rPr lang="en-US" sz="1800" b="1" dirty="0"/>
              <a:t>Limitations of Interviews: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 smtClean="0"/>
              <a:t> </a:t>
            </a:r>
            <a:r>
              <a:rPr lang="en-US" sz="1800" dirty="0"/>
              <a:t>Interviews help understand user needs but are not great for complex </a:t>
            </a:r>
            <a:r>
              <a:rPr lang="en-US" sz="1800" b="1" dirty="0"/>
              <a:t>domain requirements</a:t>
            </a:r>
            <a:r>
              <a:rPr lang="en-US" sz="1800" dirty="0"/>
              <a:t> (specific industry rules).</a:t>
            </a:r>
            <a:br>
              <a:rPr lang="en-US" sz="1800" dirty="0"/>
            </a:br>
            <a:r>
              <a:rPr lang="en-US" sz="1800" dirty="0" smtClean="0"/>
              <a:t> </a:t>
            </a:r>
            <a:r>
              <a:rPr lang="en-US" sz="1800" dirty="0"/>
              <a:t>Experts may use technical terms that engineers don’t understand.</a:t>
            </a:r>
            <a:br>
              <a:rPr lang="en-US" sz="1800" dirty="0"/>
            </a:br>
            <a:r>
              <a:rPr lang="en-US" sz="1800" dirty="0" smtClean="0"/>
              <a:t> </a:t>
            </a:r>
            <a:r>
              <a:rPr lang="en-US" sz="1800" dirty="0"/>
              <a:t>Some knowledge is so obvious to users that they forget to mention it.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026636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Scenarios in Requirements Engineering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9242546"/>
              </p:ext>
            </p:extLst>
          </p:nvPr>
        </p:nvGraphicFramePr>
        <p:xfrm>
          <a:off x="2967426" y="4663440"/>
          <a:ext cx="7321074" cy="2194560"/>
        </p:xfrm>
        <a:graphic>
          <a:graphicData uri="http://schemas.openxmlformats.org/drawingml/2006/table">
            <a:tbl>
              <a:tblPr/>
              <a:tblGrid>
                <a:gridCol w="2311718">
                  <a:extLst>
                    <a:ext uri="{9D8B030D-6E8A-4147-A177-3AD203B41FA5}">
                      <a16:colId xmlns:a16="http://schemas.microsoft.com/office/drawing/2014/main" val="18549984"/>
                    </a:ext>
                  </a:extLst>
                </a:gridCol>
                <a:gridCol w="5009356">
                  <a:extLst>
                    <a:ext uri="{9D8B030D-6E8A-4147-A177-3AD203B41FA5}">
                      <a16:colId xmlns:a16="http://schemas.microsoft.com/office/drawing/2014/main" val="257278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Step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Description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049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Start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User inserts ATM card and enters PIN.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9052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Normal Flow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User selects "Withdraw Cash" and enters amount.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306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What Can Go Wrong?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Wrong PIN → User gets 2 more attempts.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6391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Other Activities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Another user is using a nearby ATM.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5857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End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ATM dispenses cash, and user takes their card.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1122089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66087" y="2355116"/>
            <a:ext cx="993693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scenario is 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example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how the system will be used.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Good Scenario Includes: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Starting situation (Initial setup).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Normal flow of events (Typical usage).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What can go wrong (Errors or failures).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Other ongoing activities (Parallel processes).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Ending state (Final outcome).</a:t>
            </a:r>
            <a:endParaRPr kumimoji="0" lang="en-US" altLang="en-US" sz="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of a Scenario: ATM Cash Withdrawal</a:t>
            </a:r>
          </a:p>
        </p:txBody>
      </p:sp>
    </p:spTree>
    <p:extLst>
      <p:ext uri="{BB962C8B-B14F-4D97-AF65-F5344CB8AC3E}">
        <p14:creationId xmlns:p14="http://schemas.microsoft.com/office/powerpoint/2010/main" val="20656702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1269" y="473149"/>
            <a:ext cx="10018713" cy="632637"/>
          </a:xfrm>
        </p:spPr>
        <p:txBody>
          <a:bodyPr>
            <a:normAutofit fontScale="90000"/>
          </a:bodyPr>
          <a:lstStyle/>
          <a:p>
            <a:r>
              <a:rPr lang="en-US" dirty="0"/>
              <a:t>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985" y="1189074"/>
            <a:ext cx="10018713" cy="3124201"/>
          </a:xfrm>
        </p:spPr>
        <p:txBody>
          <a:bodyPr>
            <a:normAutofit fontScale="92500"/>
          </a:bodyPr>
          <a:lstStyle/>
          <a:p>
            <a:r>
              <a:rPr lang="en-US" dirty="0"/>
              <a:t>A </a:t>
            </a:r>
            <a:r>
              <a:rPr lang="en-US" b="1" dirty="0"/>
              <a:t>use case</a:t>
            </a:r>
            <a:r>
              <a:rPr lang="en-US" dirty="0"/>
              <a:t> is a scenario-based technique in UML (Unified Modeling Language) that shows </a:t>
            </a:r>
            <a:r>
              <a:rPr lang="en-US" b="1" dirty="0"/>
              <a:t>who (actor)</a:t>
            </a:r>
            <a:r>
              <a:rPr lang="en-US" dirty="0"/>
              <a:t> interacts with </a:t>
            </a:r>
            <a:r>
              <a:rPr lang="en-US" b="1" dirty="0"/>
              <a:t>what (system function</a:t>
            </a:r>
            <a:r>
              <a:rPr lang="en-US" b="1" dirty="0" smtClean="0"/>
              <a:t>).</a:t>
            </a:r>
          </a:p>
          <a:p>
            <a:r>
              <a:rPr lang="en-US" b="1" dirty="0"/>
              <a:t>Key Points: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✔ Identifies </a:t>
            </a:r>
            <a:r>
              <a:rPr lang="en-US" b="1" dirty="0"/>
              <a:t>actors</a:t>
            </a:r>
            <a:r>
              <a:rPr lang="en-US" dirty="0"/>
              <a:t> (users or external systems).</a:t>
            </a:r>
            <a:br>
              <a:rPr lang="en-US" dirty="0"/>
            </a:br>
            <a:r>
              <a:rPr lang="en-US" dirty="0"/>
              <a:t>✔ Describes </a:t>
            </a:r>
            <a:r>
              <a:rPr lang="en-US" b="1" dirty="0"/>
              <a:t>interactions</a:t>
            </a:r>
            <a:r>
              <a:rPr lang="en-US" dirty="0"/>
              <a:t> between actors and the system.</a:t>
            </a:r>
            <a:br>
              <a:rPr lang="en-US" dirty="0"/>
            </a:br>
            <a:r>
              <a:rPr lang="en-US" dirty="0"/>
              <a:t>✔ Covers </a:t>
            </a:r>
            <a:r>
              <a:rPr lang="en-US" b="1" dirty="0"/>
              <a:t>all possible user actions</a:t>
            </a:r>
            <a:r>
              <a:rPr lang="en-US" dirty="0"/>
              <a:t> in the system.</a:t>
            </a:r>
            <a:br>
              <a:rPr lang="en-US" dirty="0"/>
            </a:br>
            <a:r>
              <a:rPr lang="en-US" dirty="0"/>
              <a:t>✔ Uses </a:t>
            </a:r>
            <a:r>
              <a:rPr lang="en-US" b="1" dirty="0"/>
              <a:t>a graphical model</a:t>
            </a:r>
            <a:r>
              <a:rPr lang="en-US" dirty="0"/>
              <a:t> (Use Case Diagram) + </a:t>
            </a:r>
            <a:r>
              <a:rPr lang="en-US" b="1" dirty="0"/>
              <a:t>detailed descriptions</a:t>
            </a:r>
            <a:r>
              <a:rPr lang="en-US" dirty="0"/>
              <a:t> (tables).</a:t>
            </a:r>
            <a:br>
              <a:rPr lang="en-US" dirty="0"/>
            </a:br>
            <a:r>
              <a:rPr lang="en-US" dirty="0"/>
              <a:t>✔ </a:t>
            </a:r>
            <a:r>
              <a:rPr lang="en-US" b="1" dirty="0"/>
              <a:t>Sequence Diagrams</a:t>
            </a:r>
            <a:r>
              <a:rPr lang="en-US" dirty="0"/>
              <a:t> can be used to show step-by-step event processing.</a:t>
            </a:r>
          </a:p>
        </p:txBody>
      </p:sp>
    </p:spTree>
    <p:extLst>
      <p:ext uri="{BB962C8B-B14F-4D97-AF65-F5344CB8AC3E}">
        <p14:creationId xmlns:p14="http://schemas.microsoft.com/office/powerpoint/2010/main" val="3588173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algn="l" defTabSz="914400" eaLnBrk="0" fontAlgn="base" hangingPunct="0">
              <a:spcAft>
                <a:spcPct val="0"/>
              </a:spcAft>
            </a:pPr>
            <a:r>
              <a:rPr lang="en-US" altLang="en-US" sz="4400" b="1" dirty="0">
                <a:ln>
                  <a:noFill/>
                </a:ln>
                <a:latin typeface="Arial" panose="020B0604020202020204" pitchFamily="34" charset="0"/>
              </a:rPr>
              <a:t>Use Case for ATM Withdrawal</a:t>
            </a:r>
            <a:br>
              <a:rPr lang="en-US" altLang="en-US" sz="4400" b="1" dirty="0">
                <a:ln>
                  <a:noFill/>
                </a:ln>
                <a:latin typeface="Arial" panose="020B0604020202020204" pitchFamily="34" charset="0"/>
              </a:rPr>
            </a:br>
            <a:r>
              <a:rPr lang="en-US" altLang="en-US" b="1" dirty="0">
                <a:ln>
                  <a:noFill/>
                </a:ln>
                <a:latin typeface="Arial" panose="020B0604020202020204" pitchFamily="34" charset="0"/>
              </a:rPr>
              <a:t/>
            </a:r>
            <a:br>
              <a:rPr lang="en-US" altLang="en-US" b="1" dirty="0">
                <a:ln>
                  <a:noFill/>
                </a:ln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484310" y="1813300"/>
            <a:ext cx="10018713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lang="en-US" altLang="en-US" sz="1100" b="1" dirty="0">
                <a:latin typeface="Arial" panose="020B0604020202020204" pitchFamily="34" charset="0"/>
              </a:rPr>
              <a:t>Graphical Representation (Use Case Diagram</a:t>
            </a:r>
            <a:r>
              <a:rPr lang="en-US" altLang="en-US" sz="1100" b="1" dirty="0" smtClean="0">
                <a:latin typeface="Arial" panose="020B0604020202020204" pitchFamily="34" charset="0"/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Actors: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Withdraws cash. ,</a:t>
            </a:r>
            <a:r>
              <a:rPr kumimoji="0" lang="en-US" altLang="en-US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			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Bank System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Processes transaction.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Cases: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inserts card &amp; enters PIN</a:t>
            </a:r>
            <a:r>
              <a:rPr lang="en-US" altLang="en-US" sz="1600" dirty="0" smtClean="0">
                <a:latin typeface="Arial" panose="020B0604020202020204" pitchFamily="34" charset="0"/>
              </a:rPr>
              <a:t>, 		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selects “Withdraw Cash”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checks balance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sufficient balance → Dispense cash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insufficient balance → Show error message</a:t>
            </a:r>
            <a:endParaRPr kumimoji="0" lang="en-US" altLang="en-US" sz="7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Detailed Table Format (Use Case Description)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492233"/>
              </p:ext>
            </p:extLst>
          </p:nvPr>
        </p:nvGraphicFramePr>
        <p:xfrm>
          <a:off x="2239222" y="4312566"/>
          <a:ext cx="9580639" cy="2194560"/>
        </p:xfrm>
        <a:graphic>
          <a:graphicData uri="http://schemas.openxmlformats.org/drawingml/2006/table">
            <a:tbl>
              <a:tblPr/>
              <a:tblGrid>
                <a:gridCol w="2533642">
                  <a:extLst>
                    <a:ext uri="{9D8B030D-6E8A-4147-A177-3AD203B41FA5}">
                      <a16:colId xmlns:a16="http://schemas.microsoft.com/office/drawing/2014/main" val="3082166207"/>
                    </a:ext>
                  </a:extLst>
                </a:gridCol>
                <a:gridCol w="7046997">
                  <a:extLst>
                    <a:ext uri="{9D8B030D-6E8A-4147-A177-3AD203B41FA5}">
                      <a16:colId xmlns:a16="http://schemas.microsoft.com/office/drawing/2014/main" val="3827056817"/>
                    </a:ext>
                  </a:extLst>
                </a:gridCol>
              </a:tblGrid>
              <a:tr h="268989">
                <a:tc>
                  <a:txBody>
                    <a:bodyPr/>
                    <a:lstStyle/>
                    <a:p>
                      <a:r>
                        <a:rPr lang="en-US" b="1"/>
                        <a:t>Use Case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Withdraw Cash from ATM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7636639"/>
                  </a:ext>
                </a:extLst>
              </a:tr>
              <a:tr h="268989">
                <a:tc>
                  <a:txBody>
                    <a:bodyPr/>
                    <a:lstStyle/>
                    <a:p>
                      <a:r>
                        <a:rPr lang="en-US" b="1"/>
                        <a:t>Actors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User, Bank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3592309"/>
                  </a:ext>
                </a:extLst>
              </a:tr>
              <a:tr h="356586">
                <a:tc>
                  <a:txBody>
                    <a:bodyPr/>
                    <a:lstStyle/>
                    <a:p>
                      <a:r>
                        <a:rPr lang="en-US" b="1"/>
                        <a:t>Precondition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must have a valid ATM card &amp; sufficient balance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282546"/>
                  </a:ext>
                </a:extLst>
              </a:tr>
              <a:tr h="356586">
                <a:tc>
                  <a:txBody>
                    <a:bodyPr/>
                    <a:lstStyle/>
                    <a:p>
                      <a:r>
                        <a:rPr lang="en-US" b="1"/>
                        <a:t>Main Flow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Insert card → Enter PIN → Select Amount → Withdraw Cash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772114"/>
                  </a:ext>
                </a:extLst>
              </a:tr>
              <a:tr h="356586">
                <a:tc>
                  <a:txBody>
                    <a:bodyPr/>
                    <a:lstStyle/>
                    <a:p>
                      <a:r>
                        <a:rPr lang="en-US" b="1"/>
                        <a:t>Alternative Flow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Incorrect PIN → Retry OR Low Balance → Show 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6143394"/>
                  </a:ext>
                </a:extLst>
              </a:tr>
              <a:tr h="268989">
                <a:tc>
                  <a:txBody>
                    <a:bodyPr/>
                    <a:lstStyle/>
                    <a:p>
                      <a:r>
                        <a:rPr lang="en-US" b="1" dirty="0"/>
                        <a:t>Post-condition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Transaction complete, card ejected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2107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4968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484313" y="1056418"/>
            <a:ext cx="10505668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Smart Home Lighting System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Imagine you are designing a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Smart Home Lighting System (SHLS)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that allows users to control lights remotely via a mobile app.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1. Software Requirements Document (SRD)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This is the official document stating what the system must do.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User Requirements (Natural Language - High Level)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system shall allow users to turn lights on/off using a mobile app.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system shall allow users to adjust brightness levels.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system shall support automatic scheduling for turning lights on/off.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system shall allow integration with voice assistants (e.g., Alexa, Google Assistant).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system shall provide energy consumption reports.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(These are simple, clear, and understandable by end-users.)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222701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94885" y="932375"/>
            <a:ext cx="1018599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2. System Requirements (Detailed - Technical)</a:t>
            </a:r>
            <a:endParaRPr lang="en-US" altLang="en-US" sz="1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System requirements provide more technical details.</a:t>
            </a:r>
            <a:endParaRPr lang="en-US" altLang="en-US" sz="1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40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Lighting Control</a:t>
            </a:r>
            <a:endParaRPr lang="en-US" altLang="en-US" sz="1200" dirty="0"/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system shall communicate with smart bulbs using </a:t>
            </a:r>
            <a:r>
              <a:rPr lang="en-US" altLang="en-US" sz="2400" dirty="0" err="1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WiFi</a:t>
            </a:r>
            <a:r>
              <a:rPr lang="en-US" alt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or Bluetooth.</a:t>
            </a:r>
            <a:endParaRPr lang="en-US" altLang="en-US" sz="2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response time for switching lights on/off shall be ≤ 1 second.</a:t>
            </a:r>
            <a:endParaRPr lang="en-US" altLang="en-US" sz="1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40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User Authentication</a:t>
            </a:r>
            <a:endParaRPr lang="en-US" altLang="en-US" sz="1200" dirty="0"/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app shall require a username and password for access.</a:t>
            </a:r>
            <a:endParaRPr lang="en-US" altLang="en-US" sz="2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Multi-factor authentication shall be supported.</a:t>
            </a:r>
            <a:endParaRPr lang="en-US" altLang="en-US" sz="1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40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Voice Assistant Integration</a:t>
            </a:r>
            <a:endParaRPr lang="en-US" altLang="en-US" sz="1200" dirty="0"/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system shall support API connections to Alexa and Google Assistant.</a:t>
            </a:r>
            <a:endParaRPr lang="en-US" altLang="en-US" sz="2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voice command processing time shall not exceed 2 seconds.</a:t>
            </a:r>
            <a:endParaRPr lang="en-US" altLang="en-US" sz="1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i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(These are more detailed and precise, ensuring developers understand what needs to be built.)</a:t>
            </a:r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7284115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1440" y="1511227"/>
            <a:ext cx="3890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3. Ways to Write System Requirements</a:t>
            </a:r>
            <a:endParaRPr lang="en-US" altLang="en-US" sz="10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325744"/>
              </p:ext>
            </p:extLst>
          </p:nvPr>
        </p:nvGraphicFramePr>
        <p:xfrm>
          <a:off x="1439422" y="2524615"/>
          <a:ext cx="10550560" cy="30302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10031">
                  <a:extLst>
                    <a:ext uri="{9D8B030D-6E8A-4147-A177-3AD203B41FA5}">
                      <a16:colId xmlns:a16="http://schemas.microsoft.com/office/drawing/2014/main" val="3004393291"/>
                    </a:ext>
                  </a:extLst>
                </a:gridCol>
                <a:gridCol w="6640529">
                  <a:extLst>
                    <a:ext uri="{9D8B030D-6E8A-4147-A177-3AD203B41FA5}">
                      <a16:colId xmlns:a16="http://schemas.microsoft.com/office/drawing/2014/main" val="3644150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Notation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Example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32026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Natural Language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"The system shall allow users to control lights remotely."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771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Structured Natural Language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Requirement ID: SHLS-001 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Description: The system shall allow users to control lights remotely using a mobile app. 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Rationale: Users need remote access for convenience. 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Constraints: Must work on iOS and Android.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25394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Graphical Notations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UML Use Case Diagram showing interactions between users and the system.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15724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Mathematical Specifications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If </a:t>
                      </a:r>
                      <a:r>
                        <a:rPr lang="en-US" sz="1200" dirty="0" err="1">
                          <a:effectLst/>
                        </a:rPr>
                        <a:t>time_now</a:t>
                      </a:r>
                      <a:r>
                        <a:rPr lang="en-US" sz="1200" dirty="0">
                          <a:effectLst/>
                        </a:rPr>
                        <a:t> = </a:t>
                      </a:r>
                      <a:r>
                        <a:rPr lang="en-US" sz="1200" dirty="0" err="1">
                          <a:effectLst/>
                        </a:rPr>
                        <a:t>scheduled_time</a:t>
                      </a:r>
                      <a:r>
                        <a:rPr lang="en-US" sz="1800" dirty="0">
                          <a:effectLst/>
                        </a:rPr>
                        <a:t>, then </a:t>
                      </a:r>
                      <a:r>
                        <a:rPr lang="en-US" sz="1200" dirty="0" err="1">
                          <a:effectLst/>
                        </a:rPr>
                        <a:t>light_status</a:t>
                      </a:r>
                      <a:r>
                        <a:rPr lang="en-US" sz="1200" dirty="0">
                          <a:effectLst/>
                        </a:rPr>
                        <a:t> = ON</a:t>
                      </a:r>
                      <a:r>
                        <a:rPr lang="en-US" sz="1800" dirty="0">
                          <a:effectLst/>
                        </a:rPr>
                        <a:t>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88004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93612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92596" y="687080"/>
            <a:ext cx="10139916" cy="6170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4. Example of a Use Case</a:t>
            </a:r>
            <a:endParaRPr lang="en-US" altLang="en-US" sz="105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Use Case: Turn Lights </a:t>
            </a:r>
            <a:r>
              <a:rPr lang="en-US" altLang="en-US" b="1" dirty="0" smtClean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On/Off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 smtClean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 smtClean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 smtClean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50" b="1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50" b="1" dirty="0" smtClean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50" b="1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50" b="1" dirty="0" smtClean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50" b="1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50" b="1" dirty="0" smtClean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50" b="1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50" b="1" dirty="0" smtClean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50" b="1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50" b="1" dirty="0" smtClean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50" b="1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50" b="1" dirty="0" smtClean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50" b="1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5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5. Scenario-Based Example</a:t>
            </a:r>
            <a:endParaRPr lang="en-US" altLang="en-US" sz="105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Scenario: User Schedules Lights to Turn On at 7 PM</a:t>
            </a:r>
            <a:endParaRPr lang="en-US" altLang="en-US" sz="105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user opens the mobile app and selects the "Schedule" option.</a:t>
            </a:r>
            <a:endParaRPr lang="en-US" altLang="en-US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user sets the light to turn on at 7 PM.</a:t>
            </a:r>
            <a:endParaRPr lang="en-US" altLang="en-US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At 7 PM, the system sends a command to the smart bulb.</a:t>
            </a:r>
            <a:endParaRPr lang="en-US" altLang="en-US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light turns on, and the app updates the status.</a:t>
            </a:r>
            <a:endParaRPr lang="en-US" altLang="en-US" sz="105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982492"/>
              </p:ext>
            </p:extLst>
          </p:nvPr>
        </p:nvGraphicFramePr>
        <p:xfrm>
          <a:off x="2083983" y="1482682"/>
          <a:ext cx="8794708" cy="3068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29372">
                  <a:extLst>
                    <a:ext uri="{9D8B030D-6E8A-4147-A177-3AD203B41FA5}">
                      <a16:colId xmlns:a16="http://schemas.microsoft.com/office/drawing/2014/main" val="53550419"/>
                    </a:ext>
                  </a:extLst>
                </a:gridCol>
                <a:gridCol w="6965336">
                  <a:extLst>
                    <a:ext uri="{9D8B030D-6E8A-4147-A177-3AD203B41FA5}">
                      <a16:colId xmlns:a16="http://schemas.microsoft.com/office/drawing/2014/main" val="3588818972"/>
                    </a:ext>
                  </a:extLst>
                </a:gridCol>
              </a:tblGrid>
              <a:tr h="2179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Use Case Element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11625471"/>
                  </a:ext>
                </a:extLst>
              </a:tr>
              <a:tr h="2179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Actor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User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33619946"/>
                  </a:ext>
                </a:extLst>
              </a:tr>
              <a:tr h="2179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Precondition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User is logged into the app.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25744938"/>
                  </a:ext>
                </a:extLst>
              </a:tr>
              <a:tr h="2179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Trigger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User presses the "Turn On" button.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76395739"/>
                  </a:ext>
                </a:extLst>
              </a:tr>
              <a:tr h="81389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Normal Flow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1. User selects a room. 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2. User presses "Turn On". 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3. System sends a signal to the smart bulb. 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4. Bulb turns on and confirmation is sent back.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0496536"/>
                  </a:ext>
                </a:extLst>
              </a:tr>
              <a:tr h="2179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Alternative Flow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If no internet connection, display error message.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87587211"/>
                  </a:ext>
                </a:extLst>
              </a:tr>
              <a:tr h="2179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Postcondition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Light status is updated in the app.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89693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82896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8047" y="720566"/>
            <a:ext cx="9282223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6. Requirements Validation Example</a:t>
            </a:r>
            <a:endParaRPr lang="en-US" altLang="en-US" sz="105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 validate requirements, we check:</a:t>
            </a:r>
            <a:br>
              <a:rPr lang="en-US" alt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altLang="en-US" dirty="0">
                <a:latin typeface="Calibri" panose="020F050202020403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alt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Correctness:</a:t>
            </a:r>
            <a:r>
              <a:rPr lang="en-US" alt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Does the system do what users need?</a:t>
            </a:r>
            <a:br>
              <a:rPr lang="en-US" alt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altLang="en-US" dirty="0">
                <a:latin typeface="Calibri" panose="020F050202020403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alt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Consistency:</a:t>
            </a:r>
            <a:r>
              <a:rPr lang="en-US" alt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Do any requirements contradict each other?</a:t>
            </a:r>
            <a:br>
              <a:rPr lang="en-US" alt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altLang="en-US" dirty="0">
                <a:latin typeface="Calibri" panose="020F050202020403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alt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Completeness:</a:t>
            </a:r>
            <a:r>
              <a:rPr lang="en-US" alt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Have all functions been specified?</a:t>
            </a:r>
            <a:br>
              <a:rPr lang="en-US" alt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altLang="en-US" dirty="0">
                <a:latin typeface="Calibri" panose="020F050202020403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alt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Feasibility:</a:t>
            </a:r>
            <a:r>
              <a:rPr lang="en-US" alt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Can we implement this with existing technology?</a:t>
            </a:r>
            <a:endParaRPr lang="en-US" altLang="en-US" sz="105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Example Validation Check:</a:t>
            </a:r>
            <a:endParaRPr lang="en-US" altLang="en-US" sz="105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Requirement:</a:t>
            </a:r>
            <a:r>
              <a:rPr lang="en-US" alt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"The system shall support unlimited users."</a:t>
            </a:r>
            <a:endParaRPr lang="en-US" altLang="en-US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Issue:</a:t>
            </a:r>
            <a:r>
              <a:rPr lang="en-US" alt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This might not be feasible due to server limitations.</a:t>
            </a:r>
            <a:endParaRPr lang="en-US" altLang="en-US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Fix:</a:t>
            </a:r>
            <a:r>
              <a:rPr lang="en-US" alt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"The system shall support up to 1000 users per server instance."</a:t>
            </a:r>
            <a:endParaRPr lang="en-US" altLang="en-US" sz="105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7. Requirements Change Management Example</a:t>
            </a:r>
            <a:endParaRPr lang="en-US" altLang="en-US" sz="105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Let’s say the customer later requests a new feature:</a:t>
            </a:r>
            <a:br>
              <a:rPr lang="en-US" alt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altLang="en-US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"The system should allow lights to change colors."</a:t>
            </a:r>
            <a:endParaRPr lang="en-US" altLang="en-US" sz="105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We must:</a:t>
            </a:r>
            <a:endParaRPr lang="en-US" altLang="en-US" sz="105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Analyze the impact: Do our smart bulbs support color change?</a:t>
            </a:r>
            <a:endParaRPr lang="en-US" altLang="en-US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Modify the requirements document.</a:t>
            </a:r>
            <a:endParaRPr lang="en-US" altLang="en-US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Update the development plan.</a:t>
            </a:r>
            <a:endParaRPr lang="en-US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2004156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289</TotalTime>
  <Words>3912</Words>
  <Application>Microsoft Office PowerPoint</Application>
  <PresentationFormat>Widescreen</PresentationFormat>
  <Paragraphs>373</Paragraphs>
  <Slides>27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Corbel</vt:lpstr>
      <vt:lpstr>Segoe UI Symbol</vt:lpstr>
      <vt:lpstr>Times New Roman</vt:lpstr>
      <vt:lpstr>Parallax</vt:lpstr>
      <vt:lpstr>Requirements engineering II</vt:lpstr>
      <vt:lpstr>What is a Software Requirements Document (SRD)?</vt:lpstr>
      <vt:lpstr>What Does an SRD Include?</vt:lpstr>
      <vt:lpstr>What an SRD is NOT?</vt:lpstr>
      <vt:lpstr>Agile Methods and Requirements</vt:lpstr>
      <vt:lpstr>How Agile Handles Requirements?</vt:lpstr>
      <vt:lpstr>Challenges of Agile for Certain Systems</vt:lpstr>
      <vt:lpstr>Users of a requirements document </vt:lpstr>
      <vt:lpstr>Requirements Document Variability</vt:lpstr>
      <vt:lpstr>Requirements Specification</vt:lpstr>
      <vt:lpstr>Ways of Writing a System Requirements Specification</vt:lpstr>
      <vt:lpstr>Guidelines for Writing Good Requirements</vt:lpstr>
      <vt:lpstr>Problems with natural language </vt:lpstr>
      <vt:lpstr>Structured and Form-Based Specifications </vt:lpstr>
      <vt:lpstr>Form-Based Specifications</vt:lpstr>
      <vt:lpstr>Tabular specification</vt:lpstr>
      <vt:lpstr>Requirement Engineering</vt:lpstr>
      <vt:lpstr>Requirements Validation &amp; Management</vt:lpstr>
      <vt:lpstr>Interviewing in Requirements Engineering</vt:lpstr>
      <vt:lpstr>Scenarios in Requirements Engineering</vt:lpstr>
      <vt:lpstr>Use Case</vt:lpstr>
      <vt:lpstr>Use Case for ATM Withdrawal 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Atifa Arooj</dc:creator>
  <cp:lastModifiedBy>Atifa Arooj</cp:lastModifiedBy>
  <cp:revision>22</cp:revision>
  <dcterms:created xsi:type="dcterms:W3CDTF">2025-03-17T07:34:46Z</dcterms:created>
  <dcterms:modified xsi:type="dcterms:W3CDTF">2025-03-25T05:18:43Z</dcterms:modified>
</cp:coreProperties>
</file>
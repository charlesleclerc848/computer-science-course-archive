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  <p:sldId id="274" r:id="rId12"/>
    <p:sldId id="275" r:id="rId13"/>
    <p:sldId id="271" r:id="rId14"/>
    <p:sldId id="276" r:id="rId15"/>
    <p:sldId id="277" r:id="rId16"/>
    <p:sldId id="279" r:id="rId17"/>
    <p:sldId id="264" r:id="rId18"/>
    <p:sldId id="265" r:id="rId19"/>
    <p:sldId id="266" r:id="rId20"/>
    <p:sldId id="280" r:id="rId21"/>
    <p:sldId id="278" r:id="rId22"/>
    <p:sldId id="267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80" autoAdjust="0"/>
  </p:normalViewPr>
  <p:slideViewPr>
    <p:cSldViewPr snapToGrid="0">
      <p:cViewPr varScale="1">
        <p:scale>
          <a:sx n="56" d="100"/>
          <a:sy n="56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E5D30-A7C2-456C-A58B-9D77B382E03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A4B3-B4DB-4EC8-817C-A963AC95C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94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spike</a:t>
            </a:r>
            <a:r>
              <a:rPr lang="en-US" dirty="0" smtClean="0"/>
              <a:t> is a type of user story or task used to research or explore a solution when there is uncertainty or a knowledge gap. Spikes help teams investigate technical challenges, evaluate different approaches, or gather information needed to estimate future work more accurately.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1A4B3-B4DB-4EC8-817C-A963AC95C5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71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Story Points Scale (1 to 5)</a:t>
            </a:r>
          </a:p>
          <a:p>
            <a:r>
              <a:rPr lang="en-US" b="1" dirty="0" smtClean="0"/>
              <a:t>Story </a:t>
            </a:r>
            <a:r>
              <a:rPr lang="en-US" b="1" dirty="0" err="1" smtClean="0"/>
              <a:t>PointsEffort</a:t>
            </a:r>
            <a:r>
              <a:rPr lang="en-US" b="1" dirty="0" smtClean="0"/>
              <a:t> &amp; Complexity Example Task</a:t>
            </a:r>
          </a:p>
          <a:p>
            <a:r>
              <a:rPr lang="en-US" b="1" dirty="0" smtClean="0"/>
              <a:t>1 </a:t>
            </a:r>
            <a:r>
              <a:rPr lang="en-US" b="1" dirty="0" err="1" smtClean="0"/>
              <a:t>Point</a:t>
            </a:r>
            <a:r>
              <a:rPr lang="en-US" dirty="0" err="1" smtClean="0"/>
              <a:t>Very</a:t>
            </a:r>
            <a:r>
              <a:rPr lang="en-US" dirty="0" smtClean="0"/>
              <a:t> Easy – Quick fix, no </a:t>
            </a:r>
            <a:r>
              <a:rPr lang="en-US" dirty="0" err="1" smtClean="0"/>
              <a:t>risks.Changing</a:t>
            </a:r>
            <a:r>
              <a:rPr lang="en-US" dirty="0" smtClean="0"/>
              <a:t> a button color. </a:t>
            </a:r>
          </a:p>
          <a:p>
            <a:r>
              <a:rPr lang="en-US" b="1" dirty="0" smtClean="0"/>
              <a:t>2 </a:t>
            </a:r>
            <a:r>
              <a:rPr lang="en-US" b="1" dirty="0" err="1" smtClean="0"/>
              <a:t>Points</a:t>
            </a:r>
            <a:r>
              <a:rPr lang="en-US" dirty="0" err="1" smtClean="0"/>
              <a:t>Easy</a:t>
            </a:r>
            <a:r>
              <a:rPr lang="en-US" dirty="0" smtClean="0"/>
              <a:t> – Small changes, minimal </a:t>
            </a:r>
            <a:r>
              <a:rPr lang="en-US" dirty="0" err="1" smtClean="0"/>
              <a:t>coding.Adding</a:t>
            </a:r>
            <a:r>
              <a:rPr lang="en-US" dirty="0" smtClean="0"/>
              <a:t> a tooltip to a button. </a:t>
            </a:r>
          </a:p>
          <a:p>
            <a:r>
              <a:rPr lang="en-US" b="1" dirty="0" smtClean="0"/>
              <a:t>3 </a:t>
            </a:r>
            <a:r>
              <a:rPr lang="en-US" b="1" dirty="0" err="1" smtClean="0"/>
              <a:t>Points</a:t>
            </a:r>
            <a:r>
              <a:rPr lang="en-US" dirty="0" err="1" smtClean="0"/>
              <a:t>Medium</a:t>
            </a:r>
            <a:r>
              <a:rPr lang="en-US" dirty="0" smtClean="0"/>
              <a:t> – Requires logic, some </a:t>
            </a:r>
            <a:r>
              <a:rPr lang="en-US" dirty="0" err="1" smtClean="0"/>
              <a:t>testing.Implementing</a:t>
            </a:r>
            <a:r>
              <a:rPr lang="en-US" dirty="0" smtClean="0"/>
              <a:t> a </a:t>
            </a:r>
            <a:r>
              <a:rPr lang="en-US" b="1" dirty="0" smtClean="0"/>
              <a:t>search filter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4 </a:t>
            </a:r>
            <a:r>
              <a:rPr lang="en-US" b="1" dirty="0" err="1" smtClean="0"/>
              <a:t>Points</a:t>
            </a:r>
            <a:r>
              <a:rPr lang="en-US" dirty="0" err="1" smtClean="0"/>
              <a:t>Hard</a:t>
            </a:r>
            <a:r>
              <a:rPr lang="en-US" dirty="0" smtClean="0"/>
              <a:t> – Involves multiple </a:t>
            </a:r>
            <a:r>
              <a:rPr lang="en-US" dirty="0" err="1" smtClean="0"/>
              <a:t>components.Creating</a:t>
            </a:r>
            <a:r>
              <a:rPr lang="en-US" dirty="0" smtClean="0"/>
              <a:t> a new </a:t>
            </a:r>
            <a:r>
              <a:rPr lang="en-US" b="1" dirty="0" smtClean="0"/>
              <a:t>user dashboard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5 </a:t>
            </a:r>
            <a:r>
              <a:rPr lang="en-US" b="1" dirty="0" err="1" smtClean="0"/>
              <a:t>Points</a:t>
            </a:r>
            <a:r>
              <a:rPr lang="en-US" dirty="0" err="1" smtClean="0"/>
              <a:t>Very</a:t>
            </a:r>
            <a:r>
              <a:rPr lang="en-US" dirty="0" smtClean="0"/>
              <a:t> Complex – Requires research, multiple </a:t>
            </a:r>
            <a:r>
              <a:rPr lang="en-US" dirty="0" err="1" smtClean="0"/>
              <a:t>systems.Developing</a:t>
            </a:r>
            <a:r>
              <a:rPr lang="en-US" dirty="0" smtClean="0"/>
              <a:t> a </a:t>
            </a:r>
            <a:r>
              <a:rPr lang="en-US" b="1" dirty="0" smtClean="0"/>
              <a:t>new payment system</a:t>
            </a:r>
            <a:r>
              <a:rPr lang="en-US" dirty="0" smtClean="0"/>
              <a:t>. 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1A4B3-B4DB-4EC8-817C-A963AC95C5C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58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</a:t>
            </a:r>
            <a:r>
              <a:rPr lang="en-US" b="1" dirty="0" smtClean="0"/>
              <a:t>Sprint</a:t>
            </a:r>
            <a:r>
              <a:rPr lang="en-US" dirty="0" smtClean="0"/>
              <a:t> is a </a:t>
            </a:r>
            <a:r>
              <a:rPr lang="en-US" b="1" dirty="0" smtClean="0"/>
              <a:t>fixed time-boxed iteration</a:t>
            </a:r>
            <a:r>
              <a:rPr lang="en-US" dirty="0" smtClean="0"/>
              <a:t> (usually </a:t>
            </a:r>
            <a:r>
              <a:rPr lang="en-US" b="1" dirty="0" smtClean="0"/>
              <a:t>1 to 4 weeks</a:t>
            </a:r>
            <a:r>
              <a:rPr lang="en-US" dirty="0" smtClean="0"/>
              <a:t>) in which a development team works on specific tasks to deliver a </a:t>
            </a:r>
            <a:r>
              <a:rPr lang="en-US" b="1" dirty="0" smtClean="0"/>
              <a:t>potentially shippable product increment</a:t>
            </a:r>
            <a:r>
              <a:rPr lang="en-US" dirty="0" smtClean="0"/>
              <a:t>. </a:t>
            </a:r>
            <a:r>
              <a:rPr lang="en-US" smtClean="0"/>
              <a:t>It is a core concept of </a:t>
            </a:r>
            <a:r>
              <a:rPr lang="en-US" b="1" smtClean="0"/>
              <a:t>Scrum</a:t>
            </a:r>
            <a:r>
              <a:rPr lang="en-US" smtClean="0"/>
              <a:t>, an Agile framework used in software development.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1A4B3-B4DB-4EC8-817C-A963AC95C5C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14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Back log ( where basic requirements</a:t>
            </a:r>
            <a:r>
              <a:rPr lang="en-US" baseline="0" dirty="0" smtClean="0"/>
              <a:t> are mention. </a:t>
            </a:r>
            <a:r>
              <a:rPr lang="en-US" baseline="0" dirty="0" err="1" smtClean="0"/>
              <a:t>e.g</a:t>
            </a:r>
            <a:r>
              <a:rPr lang="en-US" baseline="0" dirty="0" smtClean="0"/>
              <a:t> what to build)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1A4B3-B4DB-4EC8-817C-A963AC95C5C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66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Product Owner (PO)</a:t>
            </a:r>
            <a:r>
              <a:rPr lang="en-US" dirty="0" smtClean="0"/>
              <a:t> is a key role in Agile development, particularly in Scrum. They act as a bridge between stakeholders (customers, business teams) and the development team, ensuring that the product delivers maximum value.</a:t>
            </a:r>
          </a:p>
          <a:p>
            <a:r>
              <a:rPr lang="en-US" b="1" dirty="0" smtClean="0"/>
              <a:t>Scrum Master:</a:t>
            </a:r>
            <a:r>
              <a:rPr lang="en-US" b="1" baseline="0" dirty="0" smtClean="0"/>
              <a:t> </a:t>
            </a:r>
            <a:r>
              <a:rPr lang="en-US" dirty="0" smtClean="0"/>
              <a:t>responsible for ensuring the team follows Agile principles and practices. (handle</a:t>
            </a:r>
            <a:r>
              <a:rPr lang="en-US" baseline="0" dirty="0" smtClean="0"/>
              <a:t> everything clients, meetings).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Scrum Master</a:t>
            </a:r>
            <a:r>
              <a:rPr lang="en-US" dirty="0" smtClean="0"/>
              <a:t> is </a:t>
            </a:r>
            <a:r>
              <a:rPr lang="en-US" b="1" dirty="0" smtClean="0"/>
              <a:t>not a project manager</a:t>
            </a:r>
            <a:r>
              <a:rPr lang="en-US" dirty="0" smtClean="0"/>
              <a:t>, but a </a:t>
            </a:r>
            <a:r>
              <a:rPr lang="en-US" b="1" dirty="0" smtClean="0"/>
              <a:t>coach and facilitator</a:t>
            </a:r>
            <a:r>
              <a:rPr lang="en-US" dirty="0" smtClean="0"/>
              <a:t> who ensures Agile principles are followed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1A4B3-B4DB-4EC8-817C-A963AC95C5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2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7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9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9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7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906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30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4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6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5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5306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2558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906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3997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399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2913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05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26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586B75A-687E-405C-8A0B-8D00578BA2C3}" type="datetimeFigureOut">
              <a:rPr lang="en-US" smtClean="0"/>
              <a:pPr/>
              <a:t>3/24/2025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71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7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Agile </a:t>
            </a:r>
            <a:r>
              <a:rPr lang="en-US" sz="4400" b="1" dirty="0" smtClean="0"/>
              <a:t>Method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Agile </a:t>
            </a:r>
            <a:r>
              <a:rPr lang="en-US" dirty="0"/>
              <a:t>methods emerged in response to the </a:t>
            </a:r>
            <a:r>
              <a:rPr lang="en-US" b="1" dirty="0"/>
              <a:t>complexity and inefficiency</a:t>
            </a:r>
            <a:r>
              <a:rPr lang="en-US" dirty="0"/>
              <a:t> of traditional software development.</a:t>
            </a:r>
            <a:br>
              <a:rPr lang="en-US" dirty="0"/>
            </a:br>
            <a:r>
              <a:rPr lang="en-US" dirty="0" smtClean="0"/>
              <a:t>Focus </a:t>
            </a:r>
            <a:r>
              <a:rPr lang="en-US" dirty="0"/>
              <a:t>on:</a:t>
            </a:r>
          </a:p>
          <a:p>
            <a:pPr lvl="0"/>
            <a:r>
              <a:rPr lang="en-US" b="1" dirty="0"/>
              <a:t>Code over documentation</a:t>
            </a:r>
            <a:endParaRPr lang="en-US" dirty="0"/>
          </a:p>
          <a:p>
            <a:pPr lvl="0"/>
            <a:r>
              <a:rPr lang="en-US" b="1" dirty="0"/>
              <a:t>Iterative development</a:t>
            </a:r>
            <a:endParaRPr lang="en-US" dirty="0"/>
          </a:p>
          <a:p>
            <a:pPr lvl="0"/>
            <a:r>
              <a:rPr lang="en-US" b="1" dirty="0"/>
              <a:t>Rapid delivery and adaptability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startup</a:t>
            </a:r>
            <a:r>
              <a:rPr lang="en-US" dirty="0"/>
              <a:t> developing a </a:t>
            </a:r>
            <a:r>
              <a:rPr lang="en-US" b="1" dirty="0"/>
              <a:t>food delivery app</a:t>
            </a:r>
            <a:r>
              <a:rPr lang="en-US" dirty="0"/>
              <a:t> faces changing user demands (e.g., adding real-time tracking). Agile allows quick </a:t>
            </a:r>
            <a:r>
              <a:rPr lang="en-US" b="1" dirty="0"/>
              <a:t>feature updates</a:t>
            </a:r>
            <a:r>
              <a:rPr lang="en-US" dirty="0"/>
              <a:t> without long documentation processes.</a:t>
            </a:r>
          </a:p>
        </p:txBody>
      </p:sp>
    </p:spTree>
    <p:extLst>
      <p:ext uri="{BB962C8B-B14F-4D97-AF65-F5344CB8AC3E}">
        <p14:creationId xmlns:p14="http://schemas.microsoft.com/office/powerpoint/2010/main" val="398829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Agile Manifesto – Core Values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07189"/>
              </p:ext>
            </p:extLst>
          </p:nvPr>
        </p:nvGraphicFramePr>
        <p:xfrm>
          <a:off x="1343366" y="2438399"/>
          <a:ext cx="10300602" cy="243100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5150301">
                  <a:extLst>
                    <a:ext uri="{9D8B030D-6E8A-4147-A177-3AD203B41FA5}">
                      <a16:colId xmlns:a16="http://schemas.microsoft.com/office/drawing/2014/main" val="4028199848"/>
                    </a:ext>
                  </a:extLst>
                </a:gridCol>
                <a:gridCol w="5150301">
                  <a:extLst>
                    <a:ext uri="{9D8B030D-6E8A-4147-A177-3AD203B41FA5}">
                      <a16:colId xmlns:a16="http://schemas.microsoft.com/office/drawing/2014/main" val="2412614873"/>
                    </a:ext>
                  </a:extLst>
                </a:gridCol>
              </a:tblGrid>
              <a:tr h="486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Agile Values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Traditional Approach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2598587"/>
                  </a:ext>
                </a:extLst>
              </a:tr>
              <a:tr h="486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Individuals &amp; Interactions over Processes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Focus on following strict procedures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3477887"/>
                  </a:ext>
                </a:extLst>
              </a:tr>
              <a:tr h="486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Working Software over Comprehensive Docs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Heavy documentation before coding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229950"/>
                  </a:ext>
                </a:extLst>
              </a:tr>
              <a:tr h="486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Customer Collaboration over Contract Negotiation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Customer feedback is ongoing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0988100"/>
                  </a:ext>
                </a:extLst>
              </a:tr>
              <a:tr h="486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Responding to Change over Following a Plan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Fixed requirements, no flexibility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803962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52383" y="1417719"/>
            <a:ext cx="1036867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are discovering better ways of developing software</a:t>
            </a:r>
            <a:r>
              <a:rPr lang="en-US" altLang="ja-JP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ja-JP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doing it and helping others do it.  Through this work we have come to value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banking system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follows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plan-driven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approach, requiring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contracts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before development. In contrast, 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e-commerce app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follows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adding features based on user feedback.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474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Rapid Software Development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0188" y="2330115"/>
            <a:ext cx="10018713" cy="3124201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Businesses operate in a </a:t>
            </a:r>
            <a:r>
              <a:rPr lang="en-US" b="1" dirty="0"/>
              <a:t>fast-changing</a:t>
            </a:r>
            <a:r>
              <a:rPr lang="en-US" dirty="0"/>
              <a:t> world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/>
              <a:t>Software requirements </a:t>
            </a:r>
            <a:r>
              <a:rPr lang="en-US" b="1" dirty="0"/>
              <a:t>evolve continuously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Solution?</a:t>
            </a:r>
            <a:r>
              <a:rPr lang="en-US" dirty="0"/>
              <a:t> Use an </a:t>
            </a:r>
            <a:r>
              <a:rPr lang="en-US" b="1" dirty="0"/>
              <a:t>iterative</a:t>
            </a:r>
            <a:r>
              <a:rPr lang="en-US" dirty="0"/>
              <a:t> process with frequent releases.</a:t>
            </a:r>
          </a:p>
          <a:p>
            <a:r>
              <a:rPr lang="en-US" dirty="0" smtClean="0"/>
              <a:t>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ride-hailing app</a:t>
            </a:r>
            <a:r>
              <a:rPr lang="en-US" dirty="0"/>
              <a:t> starts with </a:t>
            </a:r>
            <a:r>
              <a:rPr lang="en-US" b="1" dirty="0"/>
              <a:t>basic ride-booking</a:t>
            </a:r>
            <a:r>
              <a:rPr lang="en-US" dirty="0"/>
              <a:t>. Later, features like </a:t>
            </a:r>
            <a:r>
              <a:rPr lang="en-US" b="1" dirty="0"/>
              <a:t>fare estimation, driver rating, and auto payments</a:t>
            </a:r>
            <a:r>
              <a:rPr lang="en-US" dirty="0"/>
              <a:t> are added based on user demand.</a:t>
            </a:r>
          </a:p>
        </p:txBody>
      </p:sp>
    </p:spTree>
    <p:extLst>
      <p:ext uri="{BB962C8B-B14F-4D97-AF65-F5344CB8AC3E}">
        <p14:creationId xmlns:p14="http://schemas.microsoft.com/office/powerpoint/2010/main" val="407550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562" y="143577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dirty="0" smtClean="0"/>
              <a:t>Principles of Agile Method</a:t>
            </a:r>
            <a:endParaRPr lang="en-US" sz="4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403432"/>
              </p:ext>
            </p:extLst>
          </p:nvPr>
        </p:nvGraphicFramePr>
        <p:xfrm>
          <a:off x="1838424" y="1896176"/>
          <a:ext cx="10127349" cy="4235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75783">
                  <a:extLst>
                    <a:ext uri="{9D8B030D-6E8A-4147-A177-3AD203B41FA5}">
                      <a16:colId xmlns:a16="http://schemas.microsoft.com/office/drawing/2014/main" val="1551994891"/>
                    </a:ext>
                  </a:extLst>
                </a:gridCol>
                <a:gridCol w="3375783">
                  <a:extLst>
                    <a:ext uri="{9D8B030D-6E8A-4147-A177-3AD203B41FA5}">
                      <a16:colId xmlns:a16="http://schemas.microsoft.com/office/drawing/2014/main" val="2117325122"/>
                    </a:ext>
                  </a:extLst>
                </a:gridCol>
                <a:gridCol w="3375783">
                  <a:extLst>
                    <a:ext uri="{9D8B030D-6E8A-4147-A177-3AD203B41FA5}">
                      <a16:colId xmlns:a16="http://schemas.microsoft.com/office/drawing/2014/main" val="1217858982"/>
                    </a:ext>
                  </a:extLst>
                </a:gridCol>
              </a:tblGrid>
              <a:tr h="3861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Principle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Description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Example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4269298"/>
                  </a:ext>
                </a:extLst>
              </a:tr>
              <a:tr h="7546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Customer Involvement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Customer feedback throughout the process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Online education platform gathers student feedback every sprint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1530188"/>
                  </a:ext>
                </a:extLst>
              </a:tr>
              <a:tr h="3861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Incremental Delivery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Small releases instead of a big final product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Social media app releases new filters monthly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5551046"/>
                  </a:ext>
                </a:extLst>
              </a:tr>
              <a:tr h="3861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People, Not Process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Team creativity over strict rules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Developers choose their coding approach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3299340"/>
                  </a:ext>
                </a:extLst>
              </a:tr>
              <a:tr h="7546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Embrace Change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Flexibility to change features anytime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A gaming app adds new game modes based on trends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4320511"/>
                  </a:ext>
                </a:extLst>
              </a:tr>
              <a:tr h="7546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Maintain Simplicity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</a:rPr>
                        <a:t>Keep software and processes simple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A fitness app avoids unnecessary complex features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4827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6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792641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Where Agile is Most Useful? (Applicability)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Product </a:t>
            </a:r>
            <a:r>
              <a:rPr lang="en-US" b="1" dirty="0"/>
              <a:t>Development</a:t>
            </a:r>
            <a:r>
              <a:rPr lang="en-US" dirty="0"/>
              <a:t> – Startups &amp; Software Companies</a:t>
            </a:r>
            <a:br>
              <a:rPr lang="en-US" dirty="0"/>
            </a:br>
            <a:r>
              <a:rPr lang="en-US" b="1" dirty="0" smtClean="0"/>
              <a:t>Custom </a:t>
            </a:r>
            <a:r>
              <a:rPr lang="en-US" b="1" dirty="0"/>
              <a:t>System Development</a:t>
            </a:r>
            <a:r>
              <a:rPr lang="en-US" dirty="0"/>
              <a:t> – Hospitals, Universities, Online Platforms</a:t>
            </a:r>
            <a:br>
              <a:rPr lang="en-US" dirty="0"/>
            </a:br>
            <a:r>
              <a:rPr lang="en-US" b="1" dirty="0" smtClean="0"/>
              <a:t>NOT </a:t>
            </a:r>
            <a:r>
              <a:rPr lang="en-US" b="1" dirty="0"/>
              <a:t>Ideal for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❌ </a:t>
            </a:r>
            <a:r>
              <a:rPr lang="en-US" b="1" dirty="0"/>
              <a:t>Large regulated industries</a:t>
            </a:r>
            <a:r>
              <a:rPr lang="en-US" dirty="0"/>
              <a:t> (e.g., Aviation, Medical, Military), where detailed documentation is required.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pPr lvl="0"/>
            <a:r>
              <a:rPr lang="en-US" b="1" dirty="0"/>
              <a:t>Agile Fit:</a:t>
            </a:r>
            <a:r>
              <a:rPr lang="en-US" dirty="0"/>
              <a:t> Developing a </a:t>
            </a:r>
            <a:r>
              <a:rPr lang="en-US" b="1" dirty="0"/>
              <a:t>social media app</a:t>
            </a:r>
            <a:r>
              <a:rPr lang="en-US" dirty="0"/>
              <a:t> where user feedback shapes new features.</a:t>
            </a:r>
          </a:p>
          <a:p>
            <a:pPr lvl="0"/>
            <a:r>
              <a:rPr lang="en-US" b="1" dirty="0"/>
              <a:t>Not Agile Fit:</a:t>
            </a:r>
            <a:r>
              <a:rPr lang="en-US" dirty="0"/>
              <a:t> A </a:t>
            </a:r>
            <a:r>
              <a:rPr lang="en-US" b="1" dirty="0"/>
              <a:t>medical records system</a:t>
            </a:r>
            <a:r>
              <a:rPr lang="en-US" dirty="0"/>
              <a:t> requiring strict data security compliance.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4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Challenges in Agile Development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233863"/>
            <a:ext cx="10018713" cy="3124201"/>
          </a:xfrm>
        </p:spPr>
        <p:txBody>
          <a:bodyPr/>
          <a:lstStyle/>
          <a:p>
            <a:r>
              <a:rPr lang="en-US" dirty="0" smtClean="0"/>
              <a:t>🔴 </a:t>
            </a:r>
            <a:r>
              <a:rPr lang="en-US" dirty="0"/>
              <a:t>Keeping customers engaged throughout development.</a:t>
            </a:r>
            <a:br>
              <a:rPr lang="en-US" dirty="0"/>
            </a:br>
            <a:r>
              <a:rPr lang="en-US" dirty="0"/>
              <a:t>🔴 Prioritizing feature changes when multiple stakeholders are involved.</a:t>
            </a:r>
            <a:br>
              <a:rPr lang="en-US" dirty="0"/>
            </a:br>
            <a:r>
              <a:rPr lang="en-US" dirty="0"/>
              <a:t>🔴 Balancing flexibility with long-term software maintainability.</a:t>
            </a:r>
          </a:p>
          <a:p>
            <a:r>
              <a:rPr lang="en-US" dirty="0" smtClean="0"/>
              <a:t>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hospital management system</a:t>
            </a:r>
            <a:r>
              <a:rPr lang="en-US" dirty="0"/>
              <a:t> needs approval from doctors, administrators, and IT staff. Each group has </a:t>
            </a:r>
            <a:r>
              <a:rPr lang="en-US" b="1" dirty="0"/>
              <a:t>different priorities</a:t>
            </a:r>
            <a:r>
              <a:rPr lang="en-US" dirty="0"/>
              <a:t>, making feature prioritization </a:t>
            </a:r>
            <a:r>
              <a:rPr lang="en-US" b="1" dirty="0"/>
              <a:t>challenging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67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Extreme Programming (XP</a:t>
            </a:r>
            <a:r>
              <a:rPr lang="en-US" b="1" dirty="0" smtClean="0"/>
              <a:t>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Extreme </a:t>
            </a:r>
            <a:r>
              <a:rPr lang="en-US" b="1" dirty="0"/>
              <a:t>Programming (XP)</a:t>
            </a:r>
            <a:r>
              <a:rPr lang="en-US" dirty="0"/>
              <a:t> is an Agile software development methodology that focuses on </a:t>
            </a:r>
            <a:r>
              <a:rPr lang="en-US" b="1" dirty="0"/>
              <a:t>frequent releases, customer involvement, and continuous testing</a:t>
            </a:r>
            <a:r>
              <a:rPr lang="en-US" dirty="0"/>
              <a:t>. It is called "Extreme" because it takes Agile practices to the next level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In </a:t>
            </a:r>
            <a:r>
              <a:rPr lang="en-US" b="1" dirty="0"/>
              <a:t>Extreme Programming (XP)</a:t>
            </a:r>
            <a:r>
              <a:rPr lang="en-US" dirty="0"/>
              <a:t>, stories are used to define requirements, plan development tasks, and ensure continuous customer involvement. These stories, usually written as </a:t>
            </a:r>
            <a:r>
              <a:rPr lang="en-US" b="1" dirty="0"/>
              <a:t>User Stories</a:t>
            </a:r>
            <a:r>
              <a:rPr lang="en-US" dirty="0"/>
              <a:t>, describe software features </a:t>
            </a:r>
            <a:r>
              <a:rPr lang="en-US" b="1" dirty="0"/>
              <a:t>from the user’s perspective</a:t>
            </a:r>
            <a:r>
              <a:rPr lang="en-US" dirty="0"/>
              <a:t>. They help in guiding development, prioritizing tasks, and ensuring that the product meets the user's needs.</a:t>
            </a:r>
          </a:p>
        </p:txBody>
      </p:sp>
    </p:spTree>
    <p:extLst>
      <p:ext uri="{BB962C8B-B14F-4D97-AF65-F5344CB8AC3E}">
        <p14:creationId xmlns:p14="http://schemas.microsoft.com/office/powerpoint/2010/main" val="9240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6441" y="1993231"/>
            <a:ext cx="10018713" cy="312420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are Stories in XP?</a:t>
            </a:r>
          </a:p>
          <a:p>
            <a:r>
              <a:rPr lang="en-US" dirty="0"/>
              <a:t>A story in XP is a </a:t>
            </a:r>
            <a:r>
              <a:rPr lang="en-US" b="1" dirty="0"/>
              <a:t>short, simple</a:t>
            </a:r>
            <a:r>
              <a:rPr lang="en-US" dirty="0"/>
              <a:t> description of a feature, focusing on the value it provides to the user.</a:t>
            </a:r>
          </a:p>
          <a:p>
            <a:r>
              <a:rPr lang="en-US" b="1" dirty="0"/>
              <a:t>Example of a Basic User Story:</a:t>
            </a:r>
          </a:p>
          <a:p>
            <a:r>
              <a:rPr lang="en-US" dirty="0" smtClean="0"/>
              <a:t> </a:t>
            </a:r>
            <a:r>
              <a:rPr lang="en-US" b="1" dirty="0"/>
              <a:t>Story Title:</a:t>
            </a:r>
            <a:r>
              <a:rPr lang="en-US" dirty="0"/>
              <a:t> User Login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Story Description: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"As a user, I want to log into my account using my email and password so that I can access my dashboard."</a:t>
            </a:r>
            <a:endParaRPr lang="en-US" dirty="0"/>
          </a:p>
          <a:p>
            <a:r>
              <a:rPr lang="en-US" dirty="0"/>
              <a:t>This story tells the development team </a:t>
            </a:r>
            <a:r>
              <a:rPr lang="en-US" b="1" dirty="0"/>
              <a:t>what needs to be built</a:t>
            </a:r>
            <a:r>
              <a:rPr lang="en-US" dirty="0"/>
              <a:t> and </a:t>
            </a:r>
            <a:r>
              <a:rPr lang="en-US" b="1" dirty="0"/>
              <a:t>why it is important</a:t>
            </a:r>
            <a:r>
              <a:rPr lang="en-US" dirty="0"/>
              <a:t> for the user.</a:t>
            </a:r>
          </a:p>
        </p:txBody>
      </p:sp>
    </p:spTree>
    <p:extLst>
      <p:ext uri="{BB962C8B-B14F-4D97-AF65-F5344CB8AC3E}">
        <p14:creationId xmlns:p14="http://schemas.microsoft.com/office/powerpoint/2010/main" val="307915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715638"/>
            <a:ext cx="10058400" cy="160934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Extreme Programming (XP) – A Popular Agile Method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🔹 </a:t>
            </a:r>
            <a:r>
              <a:rPr lang="en-US" b="1" dirty="0"/>
              <a:t>XP Characteristics: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Frequent releases</a:t>
            </a:r>
            <a:r>
              <a:rPr lang="en-US" dirty="0"/>
              <a:t> – New versions every </a:t>
            </a:r>
            <a:r>
              <a:rPr lang="en-US" b="1" dirty="0"/>
              <a:t>2 weeks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Continuous Testing</a:t>
            </a:r>
            <a:r>
              <a:rPr lang="en-US" dirty="0"/>
              <a:t> – Every feature has an automated test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Pair Programming</a:t>
            </a:r>
            <a:r>
              <a:rPr lang="en-US" dirty="0"/>
              <a:t> – Two developers code together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Refactoring</a:t>
            </a:r>
            <a:r>
              <a:rPr lang="en-US" dirty="0"/>
              <a:t> – Improving existing code for efficiency</a:t>
            </a:r>
          </a:p>
          <a:p>
            <a:r>
              <a:rPr lang="en-US" dirty="0" smtClean="0"/>
              <a:t>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banking app</a:t>
            </a:r>
            <a:r>
              <a:rPr lang="en-US" dirty="0"/>
              <a:t> releases security updates </a:t>
            </a:r>
            <a:r>
              <a:rPr lang="en-US" b="1" dirty="0"/>
              <a:t>every two weeks</a:t>
            </a:r>
            <a:r>
              <a:rPr lang="en-US" dirty="0"/>
              <a:t>, ensuring compliance while keeping up with new fraud prevention methods.</a:t>
            </a:r>
          </a:p>
        </p:txBody>
      </p:sp>
    </p:spTree>
    <p:extLst>
      <p:ext uri="{BB962C8B-B14F-4D97-AF65-F5344CB8AC3E}">
        <p14:creationId xmlns:p14="http://schemas.microsoft.com/office/powerpoint/2010/main" val="275716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Stories in XP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234" y="2532245"/>
            <a:ext cx="10431766" cy="3124201"/>
          </a:xfrm>
        </p:spPr>
        <p:txBody>
          <a:bodyPr>
            <a:noAutofit/>
          </a:bodyPr>
          <a:lstStyle/>
          <a:p>
            <a:r>
              <a:rPr lang="en-US" sz="2000" b="1" dirty="0"/>
              <a:t>User Stories (Functional Features)</a:t>
            </a:r>
          </a:p>
          <a:p>
            <a:r>
              <a:rPr lang="en-US" sz="2000" dirty="0"/>
              <a:t>These stories define end-user requirements</a:t>
            </a:r>
            <a:r>
              <a:rPr lang="en-US" sz="2000" dirty="0" smtClean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Story Title: Reset Password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Story Description:</a:t>
            </a:r>
          </a:p>
          <a:p>
            <a:pPr marL="0" indent="0">
              <a:buNone/>
            </a:pPr>
            <a:r>
              <a:rPr lang="en-US" sz="2000" dirty="0"/>
              <a:t>"As a user, I want to reset my password so that I can regain access to my account if I forget it."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Acceptance Criteria:</a:t>
            </a:r>
          </a:p>
          <a:p>
            <a:pPr marL="0" indent="0">
              <a:buNone/>
            </a:pPr>
            <a:r>
              <a:rPr lang="en-US" sz="2000" dirty="0"/>
              <a:t>✔ A "Forgot Password?" link should be available.</a:t>
            </a:r>
          </a:p>
          <a:p>
            <a:pPr marL="0" indent="0">
              <a:buNone/>
            </a:pPr>
            <a:r>
              <a:rPr lang="en-US" sz="2000" dirty="0"/>
              <a:t>✔ The user should receive an email with a reset link.</a:t>
            </a:r>
          </a:p>
          <a:p>
            <a:pPr marL="0" indent="0">
              <a:buNone/>
            </a:pPr>
            <a:r>
              <a:rPr lang="en-US" sz="2000" dirty="0"/>
              <a:t>✔ The new password should be securely updated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098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14" y="2060608"/>
            <a:ext cx="10018713" cy="3124201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000" b="1" dirty="0" smtClean="0"/>
              <a:t> </a:t>
            </a:r>
            <a:r>
              <a:rPr lang="en-US" sz="2000" b="1" dirty="0"/>
              <a:t>Spike Stories (Exploratory Tasks)</a:t>
            </a:r>
          </a:p>
          <a:p>
            <a:r>
              <a:rPr lang="en-US" sz="2000" dirty="0"/>
              <a:t>Spike stories are used for research when the team needs to explore a new technology or solve a complex problem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/>
              <a:t>Example: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Story Title: Investigate Firebase Authentication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Story Description:</a:t>
            </a:r>
          </a:p>
          <a:p>
            <a:r>
              <a:rPr lang="en-US" sz="2000" dirty="0"/>
              <a:t>"As a developer, I need to research Firebase Authentication to determine if it meets our security and scalability needs."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Expected Outcome:</a:t>
            </a:r>
          </a:p>
          <a:p>
            <a:r>
              <a:rPr lang="en-US" sz="2000" dirty="0"/>
              <a:t>✔ A report on Firebase’s security features.</a:t>
            </a:r>
          </a:p>
          <a:p>
            <a:r>
              <a:rPr lang="en-US" sz="2000" dirty="0"/>
              <a:t>✔ A prototype demonstrating Firebase login functionality.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759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Principles of XP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Communication</a:t>
            </a:r>
            <a:r>
              <a:rPr lang="en-US" dirty="0" smtClean="0"/>
              <a:t> </a:t>
            </a:r>
            <a:r>
              <a:rPr lang="en-US" dirty="0"/>
              <a:t>– Encourages team members to collaborate closely and share knowledge.</a:t>
            </a:r>
          </a:p>
          <a:p>
            <a:r>
              <a:rPr lang="en-US" b="1" dirty="0"/>
              <a:t>Simplicity</a:t>
            </a:r>
            <a:r>
              <a:rPr lang="en-US" dirty="0"/>
              <a:t> – Focuses on the simplest solution that works.</a:t>
            </a:r>
          </a:p>
          <a:p>
            <a:r>
              <a:rPr lang="en-US" b="1" dirty="0"/>
              <a:t>Feedback</a:t>
            </a:r>
            <a:r>
              <a:rPr lang="en-US" dirty="0"/>
              <a:t> – Continuous feedback through testing and customer involvement.</a:t>
            </a:r>
          </a:p>
          <a:p>
            <a:r>
              <a:rPr lang="en-US" b="1" dirty="0"/>
              <a:t>Courage</a:t>
            </a:r>
            <a:r>
              <a:rPr lang="en-US" dirty="0"/>
              <a:t> – Encourages making necessary changes, even if difficult.</a:t>
            </a:r>
          </a:p>
          <a:p>
            <a:r>
              <a:rPr lang="en-US" b="1" dirty="0"/>
              <a:t>Respect</a:t>
            </a:r>
            <a:r>
              <a:rPr lang="en-US" dirty="0"/>
              <a:t> – Values every team member’s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9088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067" y="1648326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Technical Stories (Backend &amp; Code Improvements)</a:t>
            </a:r>
            <a:br>
              <a:rPr lang="en-US" sz="28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Technical </a:t>
            </a:r>
            <a:r>
              <a:rPr lang="en-US" dirty="0"/>
              <a:t>stories focus on improving the </a:t>
            </a:r>
            <a:r>
              <a:rPr lang="en-US" b="1" dirty="0"/>
              <a:t>architecture, performance, or maintainability</a:t>
            </a:r>
            <a:r>
              <a:rPr lang="en-US" dirty="0"/>
              <a:t> of the system.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Story Title:</a:t>
            </a:r>
            <a:r>
              <a:rPr lang="en-US" dirty="0"/>
              <a:t> Optimize Database Queries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Story Description: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"As a developer, I want to optimize database queries so that the application runs faster."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Acceptance Criteria: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✔ Reduce query execution time by 50%.</a:t>
            </a:r>
            <a:br>
              <a:rPr lang="en-US" dirty="0"/>
            </a:br>
            <a:r>
              <a:rPr lang="en-US" dirty="0"/>
              <a:t>✔ Implement indexing for frequently used queries.</a:t>
            </a:r>
            <a:br>
              <a:rPr lang="en-US" dirty="0"/>
            </a:br>
            <a:r>
              <a:rPr lang="en-US" dirty="0"/>
              <a:t>✔ Ensure all changes are tested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772793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Process of Using Stories in XP (With Examples)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Step </a:t>
            </a:r>
            <a:r>
              <a:rPr lang="en-US" sz="1800" b="1" dirty="0"/>
              <a:t>1: Writing the Story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The customer (or product owner) writes a simple user story.</a:t>
            </a:r>
          </a:p>
          <a:p>
            <a:pPr marL="0"/>
            <a:r>
              <a:rPr lang="en-US" sz="1800" b="1" dirty="0"/>
              <a:t>Example: </a:t>
            </a:r>
            <a:r>
              <a:rPr lang="en-US" sz="1800" b="1" i="1" dirty="0"/>
              <a:t>“As a user, I want to filter search results by category so that I can find products faster</a:t>
            </a:r>
            <a:r>
              <a:rPr lang="en-US" sz="1800" b="1" i="1" dirty="0" smtClean="0"/>
              <a:t>.”</a:t>
            </a:r>
            <a:br>
              <a:rPr lang="en-US" sz="1800" b="1" i="1" dirty="0" smtClean="0"/>
            </a:br>
            <a:r>
              <a:rPr lang="en-US" sz="1800" b="1" dirty="0" smtClean="0"/>
              <a:t>Real-World </a:t>
            </a:r>
            <a:r>
              <a:rPr lang="en-US" sz="1800" b="1" dirty="0"/>
              <a:t>Analogy (Online Shopping 🛒</a:t>
            </a:r>
            <a:r>
              <a:rPr lang="en-US" sz="1800" b="1" dirty="0" smtClean="0"/>
              <a:t>) 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“</a:t>
            </a:r>
            <a:r>
              <a:rPr lang="en-US" sz="1800" dirty="0" smtClean="0"/>
              <a:t>Imagine </a:t>
            </a:r>
            <a:r>
              <a:rPr lang="en-US" sz="1800" dirty="0"/>
              <a:t>you are shopping on </a:t>
            </a:r>
            <a:r>
              <a:rPr lang="en-US" sz="1800" b="1" dirty="0"/>
              <a:t>Amazon</a:t>
            </a:r>
            <a:r>
              <a:rPr lang="en-US" sz="1800" dirty="0"/>
              <a:t>. Without filters, you have to scroll through </a:t>
            </a:r>
            <a:r>
              <a:rPr lang="en-US" sz="1800" b="1" dirty="0"/>
              <a:t>hundreds of products</a:t>
            </a:r>
            <a:r>
              <a:rPr lang="en-US" sz="1800" dirty="0"/>
              <a:t>! But when you apply a </a:t>
            </a:r>
            <a:r>
              <a:rPr lang="en-US" sz="1800" b="1" dirty="0"/>
              <a:t>category filter (e.g., only "laptops")</a:t>
            </a:r>
            <a:r>
              <a:rPr lang="en-US" sz="1800" dirty="0"/>
              <a:t>, you </a:t>
            </a:r>
            <a:r>
              <a:rPr lang="en-US" sz="1800" b="1" dirty="0"/>
              <a:t>quickly find what you </a:t>
            </a:r>
            <a:r>
              <a:rPr lang="en-US" sz="1800" b="1" dirty="0" smtClean="0"/>
              <a:t>need</a:t>
            </a:r>
            <a:r>
              <a:rPr lang="en-US" sz="1800" dirty="0" smtClean="0"/>
              <a:t>.” The </a:t>
            </a:r>
            <a:r>
              <a:rPr lang="en-US" sz="1800" b="1" dirty="0"/>
              <a:t>user story </a:t>
            </a:r>
            <a:r>
              <a:rPr lang="en-US" sz="1800" b="1" dirty="0" smtClean="0"/>
              <a:t>only describes this filtering feature</a:t>
            </a:r>
            <a:r>
              <a:rPr lang="en-US" sz="1800" dirty="0" smtClean="0"/>
              <a:t>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Step </a:t>
            </a:r>
            <a:r>
              <a:rPr lang="en-US" sz="1800" b="1" dirty="0"/>
              <a:t>2: Estimating the Story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The development team assigns Story Points based on complexity.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Example: If the search filtering is medium complexity, it might be 3 points on a scale of 1 to 5</a:t>
            </a:r>
            <a:r>
              <a:rPr lang="en-US" sz="1800" b="1" dirty="0" smtClean="0"/>
              <a:t>.</a:t>
            </a:r>
            <a:br>
              <a:rPr lang="en-US" sz="1800" b="1" dirty="0" smtClean="0"/>
            </a:br>
            <a:r>
              <a:rPr lang="en-US" sz="1800" b="1" dirty="0"/>
              <a:t>What Are Story Points?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Story Points are </a:t>
            </a:r>
            <a:r>
              <a:rPr lang="en-US" sz="1800" b="1" dirty="0"/>
              <a:t>numbers used to estimate effort</a:t>
            </a:r>
            <a:r>
              <a:rPr lang="en-US" sz="1800" dirty="0"/>
              <a:t> based on </a:t>
            </a:r>
            <a:r>
              <a:rPr lang="en-US" sz="1800" b="1" dirty="0"/>
              <a:t>complexity, time, and risks</a:t>
            </a:r>
            <a:r>
              <a:rPr lang="en-US" sz="1800" dirty="0"/>
              <a:t>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Scale</a:t>
            </a:r>
            <a:r>
              <a:rPr lang="en-US" sz="1800" b="1" dirty="0"/>
              <a:t>:</a:t>
            </a:r>
            <a:endParaRPr lang="en-US" sz="18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1 point</a:t>
            </a:r>
            <a:r>
              <a:rPr lang="en-US" sz="1800" dirty="0"/>
              <a:t> → Very easy (e.g., changing a button color)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3 points</a:t>
            </a:r>
            <a:r>
              <a:rPr lang="en-US" sz="1800" dirty="0"/>
              <a:t> → Medium difficulty (e.g., adding a search filter)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5 points</a:t>
            </a:r>
            <a:r>
              <a:rPr lang="en-US" sz="1800" dirty="0"/>
              <a:t> → Very complex (e.g., creating a new payment system)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038544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16531"/>
            <a:ext cx="10018713" cy="4674669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Step 3: Selecting Stories for the Iteration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The team picks the highest-priority stories for the next iteration (1-2 weeks).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Example: </a:t>
            </a:r>
            <a:r>
              <a:rPr lang="en-US" sz="1800" b="1" i="1" dirty="0"/>
              <a:t>Login feature (5 points), Password reset (3 points), and Search filter (3 points).</a:t>
            </a:r>
            <a:endParaRPr lang="en-US" sz="1800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Step 4: Developing and Testing the 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Developers write automated tests first (Test-Driven Development - TDD).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Example: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✅ A test to check if login fails with the wrong password.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1600" b="1" dirty="0"/>
              <a:t>✅ A test to verify if the email reset link is sent correctly.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Step 5: Customer Review and Approval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The customer tests the implemented feature.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Example: The customer logs in, resets a password, and confirms that the functionality 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456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XP </a:t>
            </a:r>
            <a:r>
              <a:rPr lang="en-US" dirty="0"/>
              <a:t>F</a:t>
            </a:r>
            <a:r>
              <a:rPr lang="en-US" dirty="0" smtClean="0"/>
              <a:t>eatures 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728133"/>
              </p:ext>
            </p:extLst>
          </p:nvPr>
        </p:nvGraphicFramePr>
        <p:xfrm>
          <a:off x="1944302" y="1992428"/>
          <a:ext cx="9771447" cy="4455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50609">
                  <a:extLst>
                    <a:ext uri="{9D8B030D-6E8A-4147-A177-3AD203B41FA5}">
                      <a16:colId xmlns:a16="http://schemas.microsoft.com/office/drawing/2014/main" val="3765119505"/>
                    </a:ext>
                  </a:extLst>
                </a:gridCol>
                <a:gridCol w="3610419">
                  <a:extLst>
                    <a:ext uri="{9D8B030D-6E8A-4147-A177-3AD203B41FA5}">
                      <a16:colId xmlns:a16="http://schemas.microsoft.com/office/drawing/2014/main" val="3660702339"/>
                    </a:ext>
                  </a:extLst>
                </a:gridCol>
                <a:gridCol w="3610419">
                  <a:extLst>
                    <a:ext uri="{9D8B030D-6E8A-4147-A177-3AD203B41FA5}">
                      <a16:colId xmlns:a16="http://schemas.microsoft.com/office/drawing/2014/main" val="1942237701"/>
                    </a:ext>
                  </a:extLst>
                </a:gridCol>
              </a:tblGrid>
              <a:tr h="3909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XP Practice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Description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Example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9713668"/>
                  </a:ext>
                </a:extLst>
              </a:tr>
              <a:tr h="7640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Incremental Planning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Define small feature updates based on customer needs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An e-commerce site adds new payment methods every sprint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1097767"/>
                  </a:ext>
                </a:extLst>
              </a:tr>
              <a:tr h="7640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Small Releases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Frequent system updates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A health tracking app adds new exercise features monthly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2766324"/>
                  </a:ext>
                </a:extLst>
              </a:tr>
              <a:tr h="7781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Test-First Development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Writing tests before writing code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Automated tests ensure ATM transactions work before deploying</a:t>
                      </a:r>
                      <a:endParaRPr lang="en-US" sz="16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9127685"/>
                  </a:ext>
                </a:extLst>
              </a:tr>
              <a:tr h="7640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effectLst/>
                        </a:rPr>
                        <a:t>Refactoring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Improving code for better performance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A gaming app simplifies complex code to </a:t>
                      </a:r>
                      <a:r>
                        <a:rPr lang="en-US" sz="1800" b="0" dirty="0" smtClean="0">
                          <a:effectLst/>
                        </a:rPr>
                        <a:t>reduce.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0322577"/>
                  </a:ext>
                </a:extLst>
              </a:tr>
              <a:tr h="7640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smtClean="0"/>
                        <a:t>Pair Programming 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smtClean="0"/>
                        <a:t>Two programmers work together on the same code.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/>
                        <a:t>A cybersecurity company uses pair programming for penetration testing, ensuring security vulnerabilities are identified and fixed faster.</a:t>
                      </a:r>
                      <a:endParaRPr lang="en-US" sz="1600" b="0" dirty="0"/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3565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412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Pair Programming – Why Use It?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🔹 </a:t>
            </a:r>
            <a:r>
              <a:rPr lang="en-US" b="1" dirty="0"/>
              <a:t>Two programmers work together on the same code.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Benefits: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Reduces bugs &amp; improves quality</a:t>
            </a:r>
            <a:br>
              <a:rPr lang="en-US" dirty="0"/>
            </a:br>
            <a:r>
              <a:rPr lang="en-US" dirty="0"/>
              <a:t>✅ Encourages team knowledge sharing</a:t>
            </a:r>
            <a:br>
              <a:rPr lang="en-US" dirty="0"/>
            </a:br>
            <a:r>
              <a:rPr lang="en-US" dirty="0"/>
              <a:t>✅ Improves problem-solving</a:t>
            </a:r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cybersecurity company</a:t>
            </a:r>
            <a:r>
              <a:rPr lang="en-US" dirty="0"/>
              <a:t> uses pair programming for </a:t>
            </a:r>
            <a:r>
              <a:rPr lang="en-US" b="1" dirty="0"/>
              <a:t>penetration testing</a:t>
            </a:r>
            <a:r>
              <a:rPr lang="en-US" dirty="0"/>
              <a:t>, ensuring security vulnerabilities are identified and fixed faster.</a:t>
            </a:r>
          </a:p>
        </p:txBody>
      </p:sp>
    </p:spTree>
    <p:extLst>
      <p:ext uri="{BB962C8B-B14F-4D97-AF65-F5344CB8AC3E}">
        <p14:creationId xmlns:p14="http://schemas.microsoft.com/office/powerpoint/2010/main" val="2405226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Scrum – A Popular Agile Framework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Scrum?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structured Agile framework with defined </a:t>
            </a:r>
            <a:r>
              <a:rPr lang="en-US" b="1" dirty="0"/>
              <a:t>roles, events, and </a:t>
            </a:r>
            <a:r>
              <a:rPr lang="en-US" b="1" dirty="0" smtClean="0"/>
              <a:t>objects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Scrum </a:t>
            </a:r>
            <a:r>
              <a:rPr lang="en-US" b="1" dirty="0"/>
              <a:t>Lifecycle: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 smtClean="0"/>
              <a:t>Planning </a:t>
            </a:r>
            <a:r>
              <a:rPr lang="en-US" b="1" dirty="0"/>
              <a:t>Phase</a:t>
            </a:r>
            <a:r>
              <a:rPr lang="en-US" dirty="0"/>
              <a:t> – Define project goals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Sprint Cycles</a:t>
            </a:r>
            <a:r>
              <a:rPr lang="en-US" dirty="0"/>
              <a:t> – 2 to 4 weeks per iteration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Closure Phase</a:t>
            </a:r>
            <a:r>
              <a:rPr lang="en-US" dirty="0"/>
              <a:t> – Final testing &amp; documentation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mobile banking app</a:t>
            </a:r>
            <a:r>
              <a:rPr lang="en-US" dirty="0"/>
              <a:t> has a </a:t>
            </a:r>
            <a:r>
              <a:rPr lang="en-US" b="1" dirty="0"/>
              <a:t>2-week sprint cycle</a:t>
            </a:r>
            <a:r>
              <a:rPr lang="en-US" dirty="0"/>
              <a:t>, adding features like fingerprint login, instant money transfer, etc</a:t>
            </a:r>
          </a:p>
        </p:txBody>
      </p:sp>
    </p:spTree>
    <p:extLst>
      <p:ext uri="{BB962C8B-B14F-4D97-AF65-F5344CB8AC3E}">
        <p14:creationId xmlns:p14="http://schemas.microsoft.com/office/powerpoint/2010/main" val="604526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8052" y="513673"/>
            <a:ext cx="8963298" cy="5760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2971799" y="5867401"/>
            <a:ext cx="4657153" cy="71130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/>
              <a:t>list of work to be done on the project.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5714999" y="76200"/>
            <a:ext cx="5219223" cy="869372"/>
          </a:xfrm>
          <a:prstGeom prst="wedgeRect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/>
              <a:t>This means that everyone on the team knows what is going on and, if problems arise, can re-plan short-term work to cope with them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523999" y="1828801"/>
            <a:ext cx="4657153" cy="94840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i="1" dirty="0"/>
              <a:t>Sprints</a:t>
            </a:r>
            <a:r>
              <a:rPr lang="en-US" dirty="0"/>
              <a:t>—consist of work units that are required to achieve a requirement defined</a:t>
            </a:r>
          </a:p>
          <a:p>
            <a:pPr algn="just"/>
            <a:r>
              <a:rPr lang="en-US" dirty="0"/>
              <a:t>in the backlog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38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77791"/>
            <a:ext cx="10018713" cy="1752599"/>
          </a:xfrm>
        </p:spPr>
        <p:txBody>
          <a:bodyPr>
            <a:normAutofit/>
          </a:bodyPr>
          <a:lstStyle/>
          <a:p>
            <a:r>
              <a:rPr lang="en-US" sz="3200" b="1" dirty="0"/>
              <a:t>Example of a Sprint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Scenario</a:t>
            </a:r>
            <a:r>
              <a:rPr lang="en-US" sz="1800" b="1" dirty="0"/>
              <a:t>: Developing a To-Do List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🔹 </a:t>
            </a:r>
            <a:r>
              <a:rPr lang="en-US" sz="1800" b="1" dirty="0"/>
              <a:t>Sprint Duration</a:t>
            </a:r>
            <a:r>
              <a:rPr lang="en-US" sz="1800" dirty="0"/>
              <a:t>: 2 weeks</a:t>
            </a:r>
            <a:br>
              <a:rPr lang="en-US" sz="1800" dirty="0"/>
            </a:br>
            <a:r>
              <a:rPr lang="en-US" sz="1800" dirty="0"/>
              <a:t>🔹 </a:t>
            </a:r>
            <a:r>
              <a:rPr lang="en-US" sz="1800" b="1" dirty="0"/>
              <a:t>Sprint Goal</a:t>
            </a:r>
            <a:r>
              <a:rPr lang="en-US" sz="1800" dirty="0"/>
              <a:t>: Build a basic To-Do List app with task creation and deletion features.</a:t>
            </a:r>
            <a:br>
              <a:rPr lang="en-US" sz="1800" dirty="0"/>
            </a:br>
            <a:r>
              <a:rPr lang="en-US" sz="1800" dirty="0"/>
              <a:t>🔹 </a:t>
            </a:r>
            <a:r>
              <a:rPr lang="en-US" sz="1800" b="1" dirty="0"/>
              <a:t>Sprint Backlog (Tasks to Complete)</a:t>
            </a:r>
            <a:r>
              <a:rPr lang="en-US" sz="1800"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User Story 1:</a:t>
            </a:r>
            <a:r>
              <a:rPr lang="en-US" sz="1800" dirty="0"/>
              <a:t> "As a user, I want to add tasks so that I can manage my to-do list."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User Story 2:</a:t>
            </a:r>
            <a:r>
              <a:rPr lang="en-US" sz="1800" dirty="0"/>
              <a:t> "As a user, I want to delete tasks so that I can remove completed items."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Technical Task:</a:t>
            </a:r>
            <a:r>
              <a:rPr lang="en-US" sz="1800" dirty="0"/>
              <a:t> Set up the database for storing tasks.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Testing:</a:t>
            </a:r>
            <a:r>
              <a:rPr lang="en-US" sz="1800" dirty="0"/>
              <a:t> Ensure adding and deleting tasks work correctly.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Sprint </a:t>
            </a:r>
            <a:r>
              <a:rPr lang="en-US" sz="1800" b="1" dirty="0"/>
              <a:t>Events: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Sprint Planning:</a:t>
            </a:r>
            <a:r>
              <a:rPr lang="en-US" sz="1800" dirty="0"/>
              <a:t> The team selects these tasks from the product backlog.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Daily Stand-ups:</a:t>
            </a:r>
            <a:r>
              <a:rPr lang="en-US" sz="1800" dirty="0"/>
              <a:t> Short meetings to discuss </a:t>
            </a:r>
            <a:r>
              <a:rPr lang="en-US" sz="1800" dirty="0" smtClean="0"/>
              <a:t>progress.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Sprint Review:</a:t>
            </a:r>
            <a:r>
              <a:rPr lang="en-US" sz="1800" dirty="0"/>
              <a:t> At the end of 2 weeks, the team demonstrates the working To-Do List app.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Sprint Retrospective:</a:t>
            </a:r>
            <a:r>
              <a:rPr lang="en-US" sz="1800" dirty="0"/>
              <a:t> The team reflects on what went well and what can be improved for the next sprint.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 smtClean="0"/>
              <a:t>Sprint </a:t>
            </a:r>
            <a:r>
              <a:rPr lang="en-US" sz="1800" b="1" dirty="0"/>
              <a:t>Outcome: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By the end of the sprint, the team delivers a </a:t>
            </a:r>
            <a:r>
              <a:rPr lang="en-US" sz="1800" b="1" dirty="0"/>
              <a:t>basic To-Do List app</a:t>
            </a:r>
            <a:r>
              <a:rPr lang="en-US" sz="1800" dirty="0"/>
              <a:t> that allows users to add and delete tasks.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4573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6921" y="281539"/>
            <a:ext cx="10018713" cy="1752599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Scrum roles &amp; responsibilities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868331"/>
              </p:ext>
            </p:extLst>
          </p:nvPr>
        </p:nvGraphicFramePr>
        <p:xfrm>
          <a:off x="1530418" y="2034138"/>
          <a:ext cx="10396854" cy="40779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5618">
                  <a:extLst>
                    <a:ext uri="{9D8B030D-6E8A-4147-A177-3AD203B41FA5}">
                      <a16:colId xmlns:a16="http://schemas.microsoft.com/office/drawing/2014/main" val="1345689654"/>
                    </a:ext>
                  </a:extLst>
                </a:gridCol>
                <a:gridCol w="3465618">
                  <a:extLst>
                    <a:ext uri="{9D8B030D-6E8A-4147-A177-3AD203B41FA5}">
                      <a16:colId xmlns:a16="http://schemas.microsoft.com/office/drawing/2014/main" val="666641609"/>
                    </a:ext>
                  </a:extLst>
                </a:gridCol>
                <a:gridCol w="3465618">
                  <a:extLst>
                    <a:ext uri="{9D8B030D-6E8A-4147-A177-3AD203B41FA5}">
                      <a16:colId xmlns:a16="http://schemas.microsoft.com/office/drawing/2014/main" val="2038971993"/>
                    </a:ext>
                  </a:extLst>
                </a:gridCol>
              </a:tblGrid>
              <a:tr h="6901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Responsibility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2848695"/>
                  </a:ext>
                </a:extLst>
              </a:tr>
              <a:tr h="1348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Product Owner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Defines features &amp; priorities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 hospital IT director prioritizing telemedicine features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0728440"/>
                  </a:ext>
                </a:extLst>
              </a:tr>
              <a:tr h="6901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Scrum Master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Facilitates meetings &amp; removes obstacles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 tech lead ensuring smooth sprint execution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9518051"/>
                  </a:ext>
                </a:extLst>
              </a:tr>
              <a:tr h="1348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Development Team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Codes, tests, and deploys features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 team of UI designers, backend developers, and testers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69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179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Scaling Agile for Large Projects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dirty="0"/>
              <a:t>Agile works best for </a:t>
            </a:r>
            <a:r>
              <a:rPr lang="en-US" b="1" dirty="0"/>
              <a:t>small teams</a:t>
            </a:r>
            <a:r>
              <a:rPr lang="en-US" dirty="0"/>
              <a:t>, but </a:t>
            </a:r>
            <a:r>
              <a:rPr lang="en-US" b="1" dirty="0"/>
              <a:t>large systems</a:t>
            </a:r>
            <a:r>
              <a:rPr lang="en-US" dirty="0"/>
              <a:t> need adjustments.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b="1" dirty="0"/>
              <a:t>Challenges: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Coordinating </a:t>
            </a:r>
            <a:r>
              <a:rPr lang="en-US" b="1" dirty="0"/>
              <a:t>multiple teams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Maintaining </a:t>
            </a:r>
            <a:r>
              <a:rPr lang="en-US" b="1" dirty="0"/>
              <a:t>code consistency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>Managing </a:t>
            </a:r>
            <a:r>
              <a:rPr lang="en-US" b="1" dirty="0"/>
              <a:t>remote developers</a:t>
            </a:r>
            <a:endParaRPr lang="en-US" dirty="0"/>
          </a:p>
          <a:p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self-driving car project</a:t>
            </a:r>
            <a:r>
              <a:rPr lang="en-US" dirty="0"/>
              <a:t> requires </a:t>
            </a:r>
            <a:r>
              <a:rPr lang="en-US" b="1" dirty="0"/>
              <a:t>hardware, AI, cloud, and safety teams</a:t>
            </a:r>
            <a:r>
              <a:rPr lang="en-US" dirty="0"/>
              <a:t> working in parallel—difficult to manage with Agile alone.</a:t>
            </a:r>
          </a:p>
        </p:txBody>
      </p:sp>
    </p:spTree>
    <p:extLst>
      <p:ext uri="{BB962C8B-B14F-4D97-AF65-F5344CB8AC3E}">
        <p14:creationId xmlns:p14="http://schemas.microsoft.com/office/powerpoint/2010/main" val="2114670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Key Takeaways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0562" y="2330115"/>
            <a:ext cx="10018713" cy="3124201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b="1" dirty="0" smtClean="0"/>
              <a:t>Agile </a:t>
            </a:r>
            <a:r>
              <a:rPr lang="en-US" b="1" dirty="0"/>
              <a:t>= Speed + Flexibility</a:t>
            </a:r>
            <a:r>
              <a:rPr lang="en-US" dirty="0"/>
              <a:t> – Ideal for fast-changing businesses.</a:t>
            </a:r>
          </a:p>
          <a:p>
            <a:pPr lvl="0"/>
            <a:r>
              <a:rPr lang="en-US" b="1" dirty="0"/>
              <a:t>Extreme Programming (XP)</a:t>
            </a:r>
            <a:r>
              <a:rPr lang="en-US" dirty="0"/>
              <a:t> emphasizes continuous testing and frequent releases.</a:t>
            </a:r>
          </a:p>
          <a:p>
            <a:pPr lvl="0"/>
            <a:r>
              <a:rPr lang="en-US" b="1" dirty="0"/>
              <a:t>Scrum</a:t>
            </a:r>
            <a:r>
              <a:rPr lang="en-US" dirty="0"/>
              <a:t> organizes Agile development with clear roles and sprint cycles.</a:t>
            </a:r>
          </a:p>
          <a:p>
            <a:pPr lvl="0"/>
            <a:r>
              <a:rPr lang="en-US" b="1" dirty="0"/>
              <a:t>Scaling Agile</a:t>
            </a:r>
            <a:r>
              <a:rPr lang="en-US" dirty="0"/>
              <a:t> requires adjustments for large, distributed teams.</a:t>
            </a:r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endParaRPr lang="en-US" dirty="0"/>
          </a:p>
          <a:p>
            <a:pPr lvl="0"/>
            <a:r>
              <a:rPr lang="en-US" dirty="0"/>
              <a:t>A </a:t>
            </a:r>
            <a:r>
              <a:rPr lang="en-US" b="1" dirty="0" err="1"/>
              <a:t>FinTech</a:t>
            </a:r>
            <a:r>
              <a:rPr lang="en-US" b="1" dirty="0"/>
              <a:t> startup</a:t>
            </a:r>
            <a:r>
              <a:rPr lang="en-US" dirty="0"/>
              <a:t> builds a cryptocurrency exchange using Agile.</a:t>
            </a:r>
          </a:p>
          <a:p>
            <a:pPr lvl="0"/>
            <a:r>
              <a:rPr lang="en-US" dirty="0"/>
              <a:t>A </a:t>
            </a:r>
            <a:r>
              <a:rPr lang="en-US" b="1" dirty="0"/>
              <a:t>government defense project</a:t>
            </a:r>
            <a:r>
              <a:rPr lang="en-US" dirty="0"/>
              <a:t> follows a structured, plan-driven approach due to regulations.</a:t>
            </a:r>
          </a:p>
        </p:txBody>
      </p:sp>
    </p:spTree>
    <p:extLst>
      <p:ext uri="{BB962C8B-B14F-4D97-AF65-F5344CB8AC3E}">
        <p14:creationId xmlns:p14="http://schemas.microsoft.com/office/powerpoint/2010/main" val="3385215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09760"/>
            <a:ext cx="10058400" cy="1609344"/>
          </a:xfrm>
        </p:spPr>
        <p:txBody>
          <a:bodyPr/>
          <a:lstStyle/>
          <a:p>
            <a:r>
              <a:rPr lang="en-US" sz="4400" b="1" dirty="0"/>
              <a:t>Summary &amp; Discussion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6989" y="2512192"/>
            <a:ext cx="10058400" cy="2158465"/>
          </a:xfrm>
        </p:spPr>
        <p:txBody>
          <a:bodyPr/>
          <a:lstStyle/>
          <a:p>
            <a:pPr lvl="0"/>
            <a:r>
              <a:rPr lang="en-US" dirty="0" smtClean="0"/>
              <a:t>What </a:t>
            </a:r>
            <a:r>
              <a:rPr lang="en-US" dirty="0"/>
              <a:t>industries benefit the most from Agile?</a:t>
            </a:r>
          </a:p>
          <a:p>
            <a:pPr lvl="0"/>
            <a:r>
              <a:rPr lang="en-US" dirty="0"/>
              <a:t>What challenges do large organizations face when adopting Agile?</a:t>
            </a:r>
          </a:p>
        </p:txBody>
      </p:sp>
    </p:spTree>
    <p:extLst>
      <p:ext uri="{BB962C8B-B14F-4D97-AF65-F5344CB8AC3E}">
        <p14:creationId xmlns:p14="http://schemas.microsoft.com/office/powerpoint/2010/main" val="366234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310</TotalTime>
  <Words>2394</Words>
  <Application>Microsoft Office PowerPoint</Application>
  <PresentationFormat>Widescreen</PresentationFormat>
  <Paragraphs>213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Corbel</vt:lpstr>
      <vt:lpstr>HGｺﾞｼｯｸM</vt:lpstr>
      <vt:lpstr>Times New Roman</vt:lpstr>
      <vt:lpstr>Parallax</vt:lpstr>
      <vt:lpstr>Software Engineering</vt:lpstr>
      <vt:lpstr>Agile Method</vt:lpstr>
      <vt:lpstr>Agile Manifesto – Core Values </vt:lpstr>
      <vt:lpstr>Rapid Software Development </vt:lpstr>
      <vt:lpstr>Principles of Agile Method</vt:lpstr>
      <vt:lpstr>Where Agile is Most Useful? (Applicability) </vt:lpstr>
      <vt:lpstr>Challenges in Agile Development </vt:lpstr>
      <vt:lpstr>Extreme Programming (XP) </vt:lpstr>
      <vt:lpstr>PowerPoint Presentation</vt:lpstr>
      <vt:lpstr>Extreme Programming (XP) – A Popular Agile Method </vt:lpstr>
      <vt:lpstr>Types of Stories in XP </vt:lpstr>
      <vt:lpstr>PowerPoint Presentation</vt:lpstr>
      <vt:lpstr>Key Principles of XP </vt:lpstr>
      <vt:lpstr>Technical Stories (Backend &amp; Code Improvements) </vt:lpstr>
      <vt:lpstr>The Process of Using Stories in XP (With Examples) </vt:lpstr>
      <vt:lpstr>PowerPoint Presentation</vt:lpstr>
      <vt:lpstr>XP Features </vt:lpstr>
      <vt:lpstr>Pair Programming – Why Use It? </vt:lpstr>
      <vt:lpstr>Scrum – A Popular Agile Framework </vt:lpstr>
      <vt:lpstr>PowerPoint Presentation</vt:lpstr>
      <vt:lpstr>Example of a Sprint </vt:lpstr>
      <vt:lpstr>Scrum roles &amp; responsibilities</vt:lpstr>
      <vt:lpstr>Scaling Agile for Large Projects </vt:lpstr>
      <vt:lpstr>Key Takeaways </vt:lpstr>
      <vt:lpstr>Summary &amp;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Atifa Arooj</dc:creator>
  <cp:lastModifiedBy>Atifa Arooj</cp:lastModifiedBy>
  <cp:revision>24</cp:revision>
  <dcterms:created xsi:type="dcterms:W3CDTF">2025-03-06T07:19:07Z</dcterms:created>
  <dcterms:modified xsi:type="dcterms:W3CDTF">2025-03-24T08:30:15Z</dcterms:modified>
</cp:coreProperties>
</file>
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74" r:id="rId13"/>
    <p:sldId id="267" r:id="rId14"/>
    <p:sldId id="268" r:id="rId15"/>
    <p:sldId id="270" r:id="rId16"/>
    <p:sldId id="273" r:id="rId17"/>
    <p:sldId id="269" r:id="rId18"/>
    <p:sldId id="272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7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8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4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6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2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8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6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56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6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99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7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92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15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9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2A486F-8076-4218-B4DE-A5BBD5EFE6C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CBDA0B-C775-491C-89AC-5EC4A6BB6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1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94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7309" y="89034"/>
            <a:ext cx="10018713" cy="1752599"/>
          </a:xfrm>
        </p:spPr>
        <p:txBody>
          <a:bodyPr/>
          <a:lstStyle/>
          <a:p>
            <a:r>
              <a:rPr lang="en-US" dirty="0"/>
              <a:t>Coping with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Change is </a:t>
            </a:r>
            <a:r>
              <a:rPr lang="en-US" sz="2200" b="1" dirty="0"/>
              <a:t>unavoidable</a:t>
            </a:r>
            <a:r>
              <a:rPr lang="en-US" sz="2200" dirty="0"/>
              <a:t> in software development. Whether due to </a:t>
            </a:r>
            <a:r>
              <a:rPr lang="en-US" sz="2200" b="1" dirty="0"/>
              <a:t>business needs, new technology, or platform changes</a:t>
            </a:r>
            <a:r>
              <a:rPr lang="en-US" sz="2200" dirty="0"/>
              <a:t>, software must adapt over time. However, change </a:t>
            </a:r>
            <a:r>
              <a:rPr lang="en-US" sz="2200" b="1" dirty="0"/>
              <a:t>increases costs</a:t>
            </a:r>
            <a:r>
              <a:rPr lang="en-US" sz="2200" dirty="0"/>
              <a:t> because previously completed work often needs to be redone (</a:t>
            </a:r>
            <a:r>
              <a:rPr lang="en-US" sz="2200" b="1" dirty="0"/>
              <a:t>rework</a:t>
            </a:r>
            <a:r>
              <a:rPr lang="en-US" sz="2200" dirty="0" smtClean="0"/>
              <a:t>).</a:t>
            </a:r>
          </a:p>
          <a:p>
            <a:r>
              <a:rPr lang="en-US" sz="2200" b="1" dirty="0"/>
              <a:t>Why Does Change Happen?</a:t>
            </a:r>
          </a:p>
          <a:p>
            <a:r>
              <a:rPr lang="en-US" sz="2200" dirty="0"/>
              <a:t>🔹 </a:t>
            </a:r>
            <a:r>
              <a:rPr lang="en-US" sz="2200" b="1" dirty="0"/>
              <a:t>Business Needs Change:</a:t>
            </a:r>
            <a:r>
              <a:rPr lang="en-US" sz="2200" dirty="0"/>
              <a:t> A company may decide to add new features to stay competitive.</a:t>
            </a:r>
            <a:br>
              <a:rPr lang="en-US" sz="2200" dirty="0"/>
            </a:br>
            <a:r>
              <a:rPr lang="en-US" sz="2200" dirty="0"/>
              <a:t>🔹 </a:t>
            </a:r>
            <a:r>
              <a:rPr lang="en-US" sz="2200" b="1" dirty="0"/>
              <a:t>New Technology:</a:t>
            </a:r>
            <a:r>
              <a:rPr lang="en-US" sz="2200" dirty="0"/>
              <a:t> Advancements may improve performance, security, or efficiency.</a:t>
            </a:r>
            <a:br>
              <a:rPr lang="en-US" sz="2200" dirty="0"/>
            </a:br>
            <a:r>
              <a:rPr lang="en-US" sz="2200" dirty="0"/>
              <a:t>🔹 </a:t>
            </a:r>
            <a:r>
              <a:rPr lang="en-US" sz="2200" b="1" dirty="0"/>
              <a:t>Platform Changes:</a:t>
            </a:r>
            <a:r>
              <a:rPr lang="en-US" sz="2200" dirty="0"/>
              <a:t> Software may need updates to work on new operating systems or devices.</a:t>
            </a:r>
          </a:p>
          <a:p>
            <a:r>
              <a:rPr lang="en-US" sz="2200" dirty="0"/>
              <a:t>📌 </a:t>
            </a:r>
            <a:r>
              <a:rPr lang="en-US" sz="2200" i="1" dirty="0"/>
              <a:t>Example:</a:t>
            </a:r>
            <a:r>
              <a:rPr lang="en-US" sz="2200" dirty="0"/>
              <a:t> A bank upgrading its mobile app to support face recognition instead of just passwords.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9047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547" y="1845734"/>
            <a:ext cx="10058400" cy="501226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 smtClean="0"/>
              <a:t>There </a:t>
            </a:r>
            <a:r>
              <a:rPr lang="en-US" sz="1800" dirty="0"/>
              <a:t>are </a:t>
            </a:r>
            <a:r>
              <a:rPr lang="en-US" sz="1800" b="1" dirty="0"/>
              <a:t>two main strategies</a:t>
            </a:r>
            <a:r>
              <a:rPr lang="en-US" sz="1800" dirty="0"/>
              <a:t> to handle change efficiently: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1" dirty="0"/>
              <a:t>1. Change Avoidance (Prevent Change Before It Happens)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The idea is to </a:t>
            </a:r>
            <a:r>
              <a:rPr lang="en-US" sz="1800" b="1" dirty="0"/>
              <a:t>predict possible changes</a:t>
            </a:r>
            <a:r>
              <a:rPr lang="en-US" sz="1800" dirty="0"/>
              <a:t> early to minimize rework later.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One way to do this is through </a:t>
            </a:r>
            <a:r>
              <a:rPr lang="en-US" sz="1800" b="1" dirty="0"/>
              <a:t>prototyping</a:t>
            </a:r>
            <a:r>
              <a:rPr lang="en-US" sz="1800" dirty="0"/>
              <a:t>—creating a </a:t>
            </a:r>
            <a:r>
              <a:rPr lang="en-US" sz="1800" b="1" dirty="0"/>
              <a:t>basic version</a:t>
            </a:r>
            <a:r>
              <a:rPr lang="en-US" sz="1800" dirty="0"/>
              <a:t> of the system for users to test.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This helps </a:t>
            </a:r>
            <a:r>
              <a:rPr lang="en-US" sz="1800" b="1" dirty="0"/>
              <a:t>refine requirements</a:t>
            </a:r>
            <a:r>
              <a:rPr lang="en-US" sz="1800" dirty="0"/>
              <a:t> before the full system is built.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✅ </a:t>
            </a:r>
            <a:r>
              <a:rPr lang="en-US" sz="1800" b="1" dirty="0"/>
              <a:t>Example:</a:t>
            </a:r>
            <a:r>
              <a:rPr lang="en-US" sz="1800" dirty="0"/>
              <a:t> A car manufacturer designs a dashboard UI prototype to get customer feedback before finalizing the design</a:t>
            </a:r>
            <a:r>
              <a:rPr lang="en-US" sz="1800" dirty="0" smtClean="0"/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1" dirty="0"/>
              <a:t>2. Change Tolerance (Handle Changes Easily When They Occur)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The process is designed to </a:t>
            </a:r>
            <a:r>
              <a:rPr lang="en-US" sz="1800" b="1" dirty="0"/>
              <a:t>easily accept changes at a lower cost</a:t>
            </a:r>
            <a:r>
              <a:rPr lang="en-US" sz="1800" dirty="0"/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This is done using </a:t>
            </a:r>
            <a:r>
              <a:rPr lang="en-US" sz="1800" b="1" dirty="0"/>
              <a:t>incremental development</a:t>
            </a:r>
            <a:r>
              <a:rPr lang="en-US" sz="1800" dirty="0"/>
              <a:t>, where small parts of the system are delivered and improved over time.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✅ </a:t>
            </a:r>
            <a:r>
              <a:rPr lang="en-US" sz="1800" b="1" dirty="0"/>
              <a:t>Example:</a:t>
            </a:r>
            <a:r>
              <a:rPr lang="en-US" sz="1800" dirty="0"/>
              <a:t> A food delivery app first releases basic order tracking and later adds live driver location tracking based on user feedback.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2030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940" y="233414"/>
            <a:ext cx="10018713" cy="1752599"/>
          </a:xfrm>
        </p:spPr>
        <p:txBody>
          <a:bodyPr/>
          <a:lstStyle/>
          <a:p>
            <a:r>
              <a:rPr lang="en-US" dirty="0"/>
              <a:t>Two ways of coping with change and changing system requirements.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1. System Prototyping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b="1" dirty="0">
                <a:solidFill>
                  <a:schemeClr val="tx1"/>
                </a:solidFill>
              </a:rPr>
              <a:t>prototype</a:t>
            </a:r>
            <a:r>
              <a:rPr lang="en-US" altLang="en-US" dirty="0">
                <a:solidFill>
                  <a:schemeClr val="tx1"/>
                </a:solidFill>
              </a:rPr>
              <a:t> is a rough version of the system created quickly to: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✔ Ensure the customer’s requirements are understood correctly.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✔ Test if the design decisions will work in practice.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📌 </a:t>
            </a:r>
            <a:r>
              <a:rPr lang="en-US" altLang="en-US" i="1" dirty="0">
                <a:solidFill>
                  <a:schemeClr val="tx1"/>
                </a:solidFill>
              </a:rPr>
              <a:t>Example:</a:t>
            </a:r>
            <a:r>
              <a:rPr lang="en-US" altLang="en-US" dirty="0">
                <a:solidFill>
                  <a:schemeClr val="tx1"/>
                </a:solidFill>
              </a:rPr>
              <a:t> A hospital develops a simple version of an appointment scheduling system to let doctors and patients try it before full development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  <a:endParaRPr lang="en-US" altLang="en-US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2. Incremental Delivery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Instead of delivering the entire system at once, small parts (</a:t>
            </a:r>
            <a:r>
              <a:rPr lang="en-US" altLang="en-US" b="1" dirty="0">
                <a:solidFill>
                  <a:schemeClr val="tx1"/>
                </a:solidFill>
              </a:rPr>
              <a:t>increments</a:t>
            </a:r>
            <a:r>
              <a:rPr lang="en-US" altLang="en-US" dirty="0">
                <a:solidFill>
                  <a:schemeClr val="tx1"/>
                </a:solidFill>
              </a:rPr>
              <a:t>) are built and delivered to customers.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✔ Customers can test features and give feedback.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✔ Changes can be made </a:t>
            </a:r>
            <a:r>
              <a:rPr lang="en-US" altLang="en-US" b="1" dirty="0">
                <a:solidFill>
                  <a:schemeClr val="tx1"/>
                </a:solidFill>
              </a:rPr>
              <a:t>before the entire system is completed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📌 </a:t>
            </a:r>
            <a:r>
              <a:rPr lang="en-US" altLang="en-US" i="1" dirty="0">
                <a:solidFill>
                  <a:schemeClr val="tx1"/>
                </a:solidFill>
              </a:rPr>
              <a:t>Example:</a:t>
            </a:r>
            <a:r>
              <a:rPr lang="en-US" altLang="en-US" dirty="0">
                <a:solidFill>
                  <a:schemeClr val="tx1"/>
                </a:solidFill>
              </a:rPr>
              <a:t> A social media platform first launches text messaging, then adds voice calls, and later introduces video calls based on user demand.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3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prototype</a:t>
            </a:r>
            <a:r>
              <a:rPr lang="en-US" sz="2800" dirty="0"/>
              <a:t> is an early version of a system used to </a:t>
            </a:r>
            <a:r>
              <a:rPr lang="en-US" sz="2800" b="1" dirty="0"/>
              <a:t>test ideas, gather feedback, and refine requirements</a:t>
            </a:r>
            <a:r>
              <a:rPr lang="en-US" sz="2800" dirty="0"/>
              <a:t> before full development. It helps developers and users </a:t>
            </a:r>
            <a:r>
              <a:rPr lang="en-US" sz="2800" b="1" dirty="0"/>
              <a:t>understand how the final system will work</a:t>
            </a:r>
            <a:r>
              <a:rPr lang="en-US" sz="2800" dirty="0"/>
              <a:t> and identify potential problems early</a:t>
            </a:r>
            <a:r>
              <a:rPr lang="en-US" sz="2800" dirty="0" smtClean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166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prototype can be used 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 smtClean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 the Requirements Engineering Process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in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elicitation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(gathering what users need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(ensuring requirements are correct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misunderstandings between developers and users.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hospital wants a new patient booking system, but doctors and receptionists have different needs. A prototype lets them test different workflows before development begins.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 the Design Process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developers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different system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quick changes before committing to a final UI.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mobile banking app tests different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layouts and menu designs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find the most user-friendly option.</a:t>
            </a:r>
          </a:p>
        </p:txBody>
      </p:sp>
    </p:spTree>
    <p:extLst>
      <p:ext uri="{BB962C8B-B14F-4D97-AF65-F5344CB8AC3E}">
        <p14:creationId xmlns:p14="http://schemas.microsoft.com/office/powerpoint/2010/main" val="19375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435" y="-132348"/>
            <a:ext cx="10018713" cy="1752599"/>
          </a:xfrm>
        </p:spPr>
        <p:txBody>
          <a:bodyPr/>
          <a:lstStyle/>
          <a:p>
            <a:r>
              <a:rPr lang="en-US" dirty="0"/>
              <a:t>Benefits of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597415" cy="402336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/>
              <a:t>1. Improved System Usability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Users can test and suggest improvements early.</a:t>
            </a:r>
            <a:br>
              <a:rPr lang="en-US" sz="1600" dirty="0"/>
            </a:br>
            <a:r>
              <a:rPr lang="en-US" sz="1600" i="1" dirty="0" smtClean="0"/>
              <a:t>Example</a:t>
            </a:r>
            <a:r>
              <a:rPr lang="en-US" sz="1600" i="1" dirty="0"/>
              <a:t>:</a:t>
            </a:r>
            <a:r>
              <a:rPr lang="en-US" sz="1600" dirty="0"/>
              <a:t> A banking app prototype helps ensure buttons and menus are easy to use.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 smtClean="0"/>
              <a:t>2</a:t>
            </a:r>
            <a:r>
              <a:rPr lang="en-US" sz="1600" b="1" dirty="0"/>
              <a:t>. A Closer Match to Users’ Real Needs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Users see a working model and refine their requirements.</a:t>
            </a:r>
            <a:br>
              <a:rPr lang="en-US" sz="1600" dirty="0"/>
            </a:br>
            <a:r>
              <a:rPr lang="en-US" sz="1600" i="1" dirty="0" smtClean="0"/>
              <a:t>Example</a:t>
            </a:r>
            <a:r>
              <a:rPr lang="en-US" sz="1600" i="1" dirty="0"/>
              <a:t>:</a:t>
            </a:r>
            <a:r>
              <a:rPr lang="en-US" sz="1600" dirty="0"/>
              <a:t> A healthcare system prototype allows doctors to give feedback on patient record access.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 smtClean="0"/>
              <a:t>3</a:t>
            </a:r>
            <a:r>
              <a:rPr lang="en-US" sz="1600" b="1" dirty="0"/>
              <a:t>. Improved Design Quality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 smtClean="0"/>
              <a:t>Developers </a:t>
            </a:r>
            <a:r>
              <a:rPr lang="en-US" sz="1600" dirty="0"/>
              <a:t>can try multiple designs before finalizing one.</a:t>
            </a:r>
            <a:br>
              <a:rPr lang="en-US" sz="1600" dirty="0"/>
            </a:br>
            <a:r>
              <a:rPr lang="en-US" sz="1600" i="1" dirty="0" smtClean="0"/>
              <a:t>Example</a:t>
            </a:r>
            <a:r>
              <a:rPr lang="en-US" sz="1600" i="1" dirty="0"/>
              <a:t>:</a:t>
            </a:r>
            <a:r>
              <a:rPr lang="en-US" sz="1600" dirty="0"/>
              <a:t> A news app prototype helps designers test </a:t>
            </a:r>
            <a:r>
              <a:rPr lang="en-US" sz="1600" b="1" dirty="0"/>
              <a:t>dark mode vs. light mode</a:t>
            </a:r>
            <a:r>
              <a:rPr lang="en-US" sz="1600" dirty="0"/>
              <a:t> preferences.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 smtClean="0"/>
              <a:t>4</a:t>
            </a:r>
            <a:r>
              <a:rPr lang="en-US" sz="1600" b="1" dirty="0"/>
              <a:t>. Improved Maintainability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A well-tested design leads to a more </a:t>
            </a:r>
            <a:r>
              <a:rPr lang="en-US" sz="1600" b="1" dirty="0"/>
              <a:t>structured and easier-to-update</a:t>
            </a:r>
            <a:r>
              <a:rPr lang="en-US" sz="1600" dirty="0"/>
              <a:t> system.</a:t>
            </a:r>
            <a:br>
              <a:rPr lang="en-US" sz="1600" dirty="0"/>
            </a:br>
            <a:r>
              <a:rPr lang="en-US" sz="1600" i="1" dirty="0" smtClean="0"/>
              <a:t>Example</a:t>
            </a:r>
            <a:r>
              <a:rPr lang="en-US" sz="1600" i="1" dirty="0"/>
              <a:t>:</a:t>
            </a:r>
            <a:r>
              <a:rPr lang="en-US" sz="1600" dirty="0"/>
              <a:t> A government website prototype ensures easy updates and compatibility with future technologies.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 smtClean="0"/>
              <a:t>5</a:t>
            </a:r>
            <a:r>
              <a:rPr lang="en-US" sz="1600" b="1" dirty="0"/>
              <a:t>. Reduced Development Effort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/>
              <a:t>Catching issues early reduces costly rework later.</a:t>
            </a:r>
            <a:br>
              <a:rPr lang="en-US" sz="1600" dirty="0"/>
            </a:br>
            <a:r>
              <a:rPr lang="en-US" sz="1600" dirty="0" smtClean="0"/>
              <a:t> </a:t>
            </a:r>
            <a:r>
              <a:rPr lang="en-US" sz="1600" i="1" dirty="0"/>
              <a:t>Example:</a:t>
            </a:r>
            <a:r>
              <a:rPr lang="en-US" sz="1600" dirty="0"/>
              <a:t> A </a:t>
            </a:r>
            <a:r>
              <a:rPr lang="en-US" sz="1600" b="1" dirty="0"/>
              <a:t>food delivery app prototype</a:t>
            </a:r>
            <a:r>
              <a:rPr lang="en-US" sz="1600" dirty="0"/>
              <a:t> helps prevent expensive changes after development starts.</a:t>
            </a:r>
          </a:p>
        </p:txBody>
      </p:sp>
    </p:spTree>
    <p:extLst>
      <p:ext uri="{BB962C8B-B14F-4D97-AF65-F5344CB8AC3E}">
        <p14:creationId xmlns:p14="http://schemas.microsoft.com/office/powerpoint/2010/main" val="117149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Prototypes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1</a:t>
            </a:r>
            <a:r>
              <a:rPr lang="en-US" b="1" dirty="0"/>
              <a:t>. Throwaway Prototyping</a:t>
            </a:r>
          </a:p>
          <a:p>
            <a:r>
              <a:rPr lang="en-US" dirty="0"/>
              <a:t>A </a:t>
            </a:r>
            <a:r>
              <a:rPr lang="en-US" b="1" dirty="0"/>
              <a:t>quick</a:t>
            </a:r>
            <a:r>
              <a:rPr lang="en-US" dirty="0"/>
              <a:t>, temporary version of the system.</a:t>
            </a:r>
          </a:p>
          <a:p>
            <a:r>
              <a:rPr lang="en-US" b="1" dirty="0"/>
              <a:t>Used to gather feedback</a:t>
            </a:r>
            <a:r>
              <a:rPr lang="en-US" dirty="0"/>
              <a:t>, then discarded.</a:t>
            </a:r>
          </a:p>
          <a:p>
            <a:r>
              <a:rPr lang="en-US" b="1" dirty="0"/>
              <a:t>Example:</a:t>
            </a:r>
            <a:r>
              <a:rPr lang="en-US" dirty="0"/>
              <a:t> A web design mockup created to test navigation before development starts.</a:t>
            </a:r>
          </a:p>
          <a:p>
            <a:r>
              <a:rPr lang="en-US" b="1" dirty="0"/>
              <a:t>2. Evolutionary Prototyping</a:t>
            </a:r>
          </a:p>
          <a:p>
            <a:r>
              <a:rPr lang="en-US" dirty="0"/>
              <a:t>A </a:t>
            </a:r>
            <a:r>
              <a:rPr lang="en-US" b="1" dirty="0"/>
              <a:t>basic version</a:t>
            </a:r>
            <a:r>
              <a:rPr lang="en-US" dirty="0"/>
              <a:t> that is gradually improved into the final system.</a:t>
            </a:r>
          </a:p>
          <a:p>
            <a:r>
              <a:rPr lang="en-US" b="1" dirty="0"/>
              <a:t>Example:</a:t>
            </a:r>
            <a:r>
              <a:rPr lang="en-US" dirty="0"/>
              <a:t> An e-commerce app starts with a simple product catalog and later adds shopping cart and payment features.</a:t>
            </a:r>
          </a:p>
        </p:txBody>
      </p:sp>
    </p:spTree>
    <p:extLst>
      <p:ext uri="{BB962C8B-B14F-4D97-AF65-F5344CB8AC3E}">
        <p14:creationId xmlns:p14="http://schemas.microsoft.com/office/powerpoint/2010/main" val="392164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20771"/>
            <a:ext cx="10058400" cy="1450757"/>
          </a:xfrm>
        </p:spPr>
        <p:txBody>
          <a:bodyPr/>
          <a:lstStyle/>
          <a:p>
            <a:r>
              <a:rPr lang="en-US" dirty="0"/>
              <a:t>The Process of 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Objectives of Prototype Development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🔹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User Interface Testing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– Ensures the UI is easy to use and intuitive.</a:t>
            </a:r>
            <a:b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🔹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Requirement Validation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– Helps users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identify missing or incorrect requirements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early.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📌 </a:t>
            </a:r>
            <a:r>
              <a:rPr lang="en-US" altLang="en-US" sz="2000" i="1" dirty="0">
                <a:solidFill>
                  <a:schemeClr val="tx1"/>
                </a:solidFill>
                <a:cs typeface="Arial" panose="020B0604020202020204" pitchFamily="34" charset="0"/>
              </a:rPr>
              <a:t>Example: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A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shopping app prototype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helps confirm if users prefer a list or grid view for products</a:t>
            </a:r>
            <a:r>
              <a:rPr lang="en-US" altLang="en-US" sz="2000" dirty="0" smtClean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 smtClean="0">
                <a:solidFill>
                  <a:schemeClr val="tx1"/>
                </a:solidFill>
                <a:cs typeface="Arial" panose="020B0604020202020204" pitchFamily="34" charset="0"/>
              </a:rPr>
              <a:t>Evaluation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of the Prototype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✔ Users need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training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to test the prototype properly.</a:t>
            </a:r>
            <a:b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✔ Users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discover errors and missing features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once they use the system regularly.</a:t>
            </a:r>
            <a:b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✔ A proper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evaluation plan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should be created to test if the prototype meets objectives.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📌 </a:t>
            </a:r>
            <a:r>
              <a:rPr lang="en-US" altLang="en-US" sz="2000" i="1" dirty="0">
                <a:solidFill>
                  <a:schemeClr val="tx1"/>
                </a:solidFill>
                <a:cs typeface="Arial" panose="020B0604020202020204" pitchFamily="34" charset="0"/>
              </a:rPr>
              <a:t>Example: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A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hospital management system prototype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is tested by nurses and doctors before final implementation.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23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299411" y="979470"/>
            <a:ext cx="10343269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Functionality in Prototypes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✔ Non-functional requirements (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speed, security, reliability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may be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ignored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simplified.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✔ Focuses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core features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rather than complete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📌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prototype for an AI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chatbot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may focus on basic conversation flow without optimizing response time.</a:t>
            </a:r>
            <a:endParaRPr lang="en-US" altLang="en-US" sz="20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Prototype Development Process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✔ Uses </a:t>
            </a:r>
            <a:r>
              <a:rPr lang="en-US" altLang="en-US" sz="2000" b="1" dirty="0"/>
              <a:t>rapid prototyping tools</a:t>
            </a:r>
            <a:r>
              <a:rPr lang="en-US" altLang="en-US" sz="2000" dirty="0"/>
              <a:t> (e.g., </a:t>
            </a:r>
            <a:r>
              <a:rPr lang="en-US" altLang="en-US" sz="2000" dirty="0" err="1"/>
              <a:t>Figma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Axure</a:t>
            </a:r>
            <a:r>
              <a:rPr lang="en-US" altLang="en-US" sz="2000" dirty="0"/>
              <a:t>, Python, JavaScript frameworks).</a:t>
            </a:r>
            <a:br>
              <a:rPr lang="en-US" altLang="en-US" sz="2000" dirty="0"/>
            </a:br>
            <a:r>
              <a:rPr lang="en-US" altLang="en-US" sz="2000" dirty="0"/>
              <a:t>✔ Some functionality may be </a:t>
            </a:r>
            <a:r>
              <a:rPr lang="en-US" altLang="en-US" sz="2000" b="1" dirty="0"/>
              <a:t>left out</a:t>
            </a:r>
            <a:r>
              <a:rPr lang="en-US" altLang="en-US" sz="2000" dirty="0"/>
              <a:t> to focus on key features.</a:t>
            </a:r>
            <a:br>
              <a:rPr lang="en-US" altLang="en-US" sz="2000" dirty="0"/>
            </a:br>
            <a:r>
              <a:rPr lang="en-US" altLang="en-US" sz="2000" dirty="0"/>
              <a:t>✔ Focuses on </a:t>
            </a:r>
            <a:r>
              <a:rPr lang="en-US" altLang="en-US" sz="2000" b="1" dirty="0"/>
              <a:t>unclear or complex parts</a:t>
            </a:r>
            <a:r>
              <a:rPr lang="en-US" altLang="en-US" sz="2000" dirty="0"/>
              <a:t> of the system.</a:t>
            </a:r>
            <a:br>
              <a:rPr lang="en-US" altLang="en-US" sz="2000" dirty="0"/>
            </a:br>
            <a:r>
              <a:rPr lang="en-US" altLang="en-US" sz="2000" dirty="0"/>
              <a:t>✔ Error handling and recovery </a:t>
            </a:r>
            <a:r>
              <a:rPr lang="en-US" altLang="en-US" sz="2000" b="1" dirty="0"/>
              <a:t>may not be included</a:t>
            </a:r>
            <a:r>
              <a:rPr lang="en-US" altLang="en-US" sz="2000" dirty="0"/>
              <a:t> in early prototypes.</a:t>
            </a:r>
            <a:br>
              <a:rPr lang="en-US" altLang="en-US" sz="2000" dirty="0"/>
            </a:br>
            <a:r>
              <a:rPr lang="en-US" altLang="en-US" sz="2000" dirty="0"/>
              <a:t>✔ Prioritizes </a:t>
            </a:r>
            <a:r>
              <a:rPr lang="en-US" altLang="en-US" sz="2000" b="1" dirty="0"/>
              <a:t>functional</a:t>
            </a:r>
            <a:r>
              <a:rPr lang="en-US" altLang="en-US" sz="2000" dirty="0"/>
              <a:t> features over non-functional requirements like </a:t>
            </a:r>
            <a:r>
              <a:rPr lang="en-US" altLang="en-US" sz="2000" b="1" dirty="0"/>
              <a:t>security and reliability</a:t>
            </a:r>
            <a:r>
              <a:rPr lang="en-US" altLang="en-US" sz="2000" dirty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📌 </a:t>
            </a:r>
            <a:r>
              <a:rPr lang="en-US" altLang="en-US" sz="2000" i="1" dirty="0"/>
              <a:t>Example:</a:t>
            </a:r>
            <a:r>
              <a:rPr lang="en-US" altLang="en-US" sz="2000" dirty="0"/>
              <a:t> A </a:t>
            </a:r>
            <a:r>
              <a:rPr lang="en-US" altLang="en-US" sz="2000" b="1" dirty="0"/>
              <a:t>ride-hailing app prototype</a:t>
            </a:r>
            <a:r>
              <a:rPr lang="en-US" altLang="en-US" sz="2000" dirty="0"/>
              <a:t> may focus on booking rides but not on GPS accuracy or security at the initial stage</a:t>
            </a:r>
            <a:r>
              <a:rPr lang="en-US" altLang="en-US" sz="2000" dirty="0" smtClean="0"/>
              <a:t>.</a:t>
            </a:r>
            <a:endParaRPr lang="en-US" altLang="en-US" sz="20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007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543" y="1087655"/>
            <a:ext cx="104819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Throw-Away Prototypes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These prototypes are </a:t>
            </a:r>
            <a:r>
              <a:rPr lang="en-US" altLang="en-US" sz="2400" b="1" dirty="0"/>
              <a:t>discarded after testing</a:t>
            </a:r>
            <a:r>
              <a:rPr lang="en-US" altLang="en-US" sz="2400" dirty="0"/>
              <a:t> because they are not meant for production use.</a:t>
            </a:r>
            <a:endParaRPr lang="en-US" altLang="en-US" sz="24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Why Are They Discarded?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🚫 </a:t>
            </a:r>
            <a:r>
              <a:rPr lang="en-US" altLang="en-US" sz="2400" b="1" dirty="0"/>
              <a:t>Hard to meet non-functional requirements</a:t>
            </a:r>
            <a:r>
              <a:rPr lang="en-US" altLang="en-US" sz="2400" dirty="0"/>
              <a:t> like performance or security.</a:t>
            </a:r>
            <a:br>
              <a:rPr lang="en-US" altLang="en-US" sz="2400" dirty="0"/>
            </a:br>
            <a:r>
              <a:rPr lang="en-US" altLang="en-US" sz="2400" dirty="0"/>
              <a:t>🚫 </a:t>
            </a:r>
            <a:r>
              <a:rPr lang="en-US" altLang="en-US" sz="2400" b="1" dirty="0"/>
              <a:t>Lack of documentation</a:t>
            </a:r>
            <a:r>
              <a:rPr lang="en-US" altLang="en-US" sz="2400" dirty="0"/>
              <a:t> due to rapid changes.</a:t>
            </a:r>
            <a:br>
              <a:rPr lang="en-US" altLang="en-US" sz="2400" dirty="0"/>
            </a:br>
            <a:r>
              <a:rPr lang="en-US" altLang="en-US" sz="2400" dirty="0"/>
              <a:t>🚫 </a:t>
            </a:r>
            <a:r>
              <a:rPr lang="en-US" altLang="en-US" sz="2400" b="1" dirty="0"/>
              <a:t>Unstructured code</a:t>
            </a:r>
            <a:r>
              <a:rPr lang="en-US" altLang="en-US" sz="2400" dirty="0"/>
              <a:t> as developers focus on speed rather than quality.</a:t>
            </a:r>
            <a:br>
              <a:rPr lang="en-US" altLang="en-US" sz="2400" dirty="0"/>
            </a:br>
            <a:r>
              <a:rPr lang="en-US" altLang="en-US" sz="2400" dirty="0"/>
              <a:t>🚫 </a:t>
            </a:r>
            <a:r>
              <a:rPr lang="en-US" altLang="en-US" sz="2400" b="1" dirty="0"/>
              <a:t>Fails to meet industry standards</a:t>
            </a:r>
            <a:r>
              <a:rPr lang="en-US" altLang="en-US" sz="2400" dirty="0"/>
              <a:t> for production systems.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📌 </a:t>
            </a:r>
            <a:r>
              <a:rPr lang="en-US" altLang="en-US" sz="2400" i="1" dirty="0"/>
              <a:t>Example:</a:t>
            </a:r>
            <a:r>
              <a:rPr lang="en-US" altLang="en-US" sz="2400" dirty="0"/>
              <a:t> A prototype of a </a:t>
            </a:r>
            <a:r>
              <a:rPr lang="en-US" altLang="en-US" sz="2400" b="1" dirty="0"/>
              <a:t>banking app</a:t>
            </a:r>
            <a:r>
              <a:rPr lang="en-US" altLang="en-US" sz="2400" dirty="0"/>
              <a:t> may not include security measures, so it cannot be used in the final product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693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Operational Prototype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5171" y="2136809"/>
            <a:ext cx="9837852" cy="3654392"/>
          </a:xfrm>
        </p:spPr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b="1" dirty="0"/>
              <a:t>operational prototype</a:t>
            </a:r>
            <a:r>
              <a:rPr lang="en-US" dirty="0"/>
              <a:t> is a </a:t>
            </a:r>
            <a:r>
              <a:rPr lang="en-US" b="1" dirty="0"/>
              <a:t>working version of the system</a:t>
            </a:r>
            <a:r>
              <a:rPr lang="en-US" dirty="0"/>
              <a:t> that includes functional components and can be tested in a real or simulated environment. Unlike early-stage prototypes, operational prototypes are more refined and </a:t>
            </a:r>
            <a:r>
              <a:rPr lang="en-US" b="1" dirty="0"/>
              <a:t>closer to the final product</a:t>
            </a:r>
            <a:r>
              <a:rPr lang="en-US" dirty="0"/>
              <a:t>.</a:t>
            </a:r>
          </a:p>
          <a:p>
            <a:r>
              <a:rPr lang="en-US" b="1" dirty="0"/>
              <a:t>Key Features of Operational Prototypes: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Includes </a:t>
            </a:r>
            <a:r>
              <a:rPr lang="en-US" b="1" dirty="0"/>
              <a:t>functional features</a:t>
            </a:r>
            <a:r>
              <a:rPr lang="en-US" dirty="0"/>
              <a:t> and actual system logic.</a:t>
            </a:r>
            <a:br>
              <a:rPr lang="en-US" dirty="0"/>
            </a:br>
            <a:r>
              <a:rPr lang="en-US" dirty="0"/>
              <a:t>✅ Can be </a:t>
            </a:r>
            <a:r>
              <a:rPr lang="en-US" b="1" dirty="0"/>
              <a:t>tested in real-world scenarios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Often used in later stages of the </a:t>
            </a:r>
            <a:r>
              <a:rPr lang="en-US" b="1" dirty="0"/>
              <a:t>Spiral Model</a:t>
            </a:r>
            <a:r>
              <a:rPr lang="en-US" dirty="0"/>
              <a:t> for validation.</a:t>
            </a:r>
            <a:br>
              <a:rPr lang="en-US" dirty="0"/>
            </a:br>
            <a:r>
              <a:rPr lang="en-US" dirty="0"/>
              <a:t>✅ Helps in </a:t>
            </a:r>
            <a:r>
              <a:rPr lang="en-US" b="1" dirty="0"/>
              <a:t>performance evaluation and final design improvements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659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>
            <a:noAutofit/>
          </a:bodyPr>
          <a:lstStyle/>
          <a:p>
            <a:r>
              <a:rPr lang="en-US" sz="1600" b="1" dirty="0"/>
              <a:t>1. Incremental Development</a:t>
            </a:r>
          </a:p>
          <a:p>
            <a:r>
              <a:rPr lang="en-US" sz="1600" b="1" dirty="0" smtClean="0"/>
              <a:t>Concept</a:t>
            </a:r>
            <a:r>
              <a:rPr lang="en-US" sz="1600" dirty="0"/>
              <a:t>: The system is built in small parts (</a:t>
            </a:r>
            <a:r>
              <a:rPr lang="en-US" sz="1600" b="1" dirty="0"/>
              <a:t>increments</a:t>
            </a:r>
            <a:r>
              <a:rPr lang="en-US" sz="1600" dirty="0"/>
              <a:t>), and each part is </a:t>
            </a:r>
            <a:r>
              <a:rPr lang="en-US" sz="1600" b="1" dirty="0"/>
              <a:t>evaluated before</a:t>
            </a:r>
            <a:r>
              <a:rPr lang="en-US" sz="1600" dirty="0"/>
              <a:t> moving to the next.</a:t>
            </a:r>
            <a:br>
              <a:rPr lang="en-US" sz="1600" dirty="0"/>
            </a:br>
            <a:r>
              <a:rPr lang="en-US" sz="1600" dirty="0" smtClean="0"/>
              <a:t> </a:t>
            </a:r>
            <a:r>
              <a:rPr lang="en-US" sz="1600" b="1" dirty="0"/>
              <a:t>Example</a:t>
            </a:r>
            <a:r>
              <a:rPr lang="en-US" sz="1600" dirty="0"/>
              <a:t>:</a:t>
            </a:r>
          </a:p>
          <a:p>
            <a:r>
              <a:rPr lang="en-US" sz="1600" dirty="0"/>
              <a:t>Imagine you're developing a </a:t>
            </a:r>
            <a:r>
              <a:rPr lang="en-US" sz="1600" b="1" dirty="0"/>
              <a:t>mobile banking app</a:t>
            </a:r>
            <a:r>
              <a:rPr lang="en-US" sz="1600" dirty="0"/>
              <a:t>.</a:t>
            </a:r>
          </a:p>
          <a:p>
            <a:r>
              <a:rPr lang="en-US" sz="1600" dirty="0"/>
              <a:t>First, you develop the </a:t>
            </a:r>
            <a:r>
              <a:rPr lang="en-US" sz="1600" b="1" dirty="0"/>
              <a:t>login &amp; account balance</a:t>
            </a:r>
            <a:r>
              <a:rPr lang="en-US" sz="1600" dirty="0"/>
              <a:t> features.</a:t>
            </a:r>
          </a:p>
          <a:p>
            <a:r>
              <a:rPr lang="en-US" sz="1600" dirty="0"/>
              <a:t>You test and get feedback before adding </a:t>
            </a:r>
            <a:r>
              <a:rPr lang="en-US" sz="1600" b="1" dirty="0"/>
              <a:t>money transfer</a:t>
            </a:r>
            <a:r>
              <a:rPr lang="en-US" sz="1600" dirty="0"/>
              <a:t> in the next increment.</a:t>
            </a:r>
          </a:p>
          <a:p>
            <a:r>
              <a:rPr lang="en-US" sz="1600" b="1" dirty="0"/>
              <a:t>2. Incremental Delivery</a:t>
            </a:r>
          </a:p>
          <a:p>
            <a:r>
              <a:rPr lang="en-US" sz="1600" b="1" dirty="0" smtClean="0"/>
              <a:t>Concept</a:t>
            </a:r>
            <a:r>
              <a:rPr lang="en-US" sz="1600" dirty="0"/>
              <a:t>: Each </a:t>
            </a:r>
            <a:r>
              <a:rPr lang="en-US" sz="1600" b="1" dirty="0"/>
              <a:t>increment is deployed</a:t>
            </a:r>
            <a:r>
              <a:rPr lang="en-US" sz="1600" dirty="0"/>
              <a:t> for real users to use.</a:t>
            </a:r>
            <a:br>
              <a:rPr lang="en-US" sz="1600" dirty="0"/>
            </a:br>
            <a:r>
              <a:rPr lang="en-US" sz="1600" dirty="0" smtClean="0"/>
              <a:t> </a:t>
            </a:r>
            <a:r>
              <a:rPr lang="en-US" sz="1600" b="1" dirty="0"/>
              <a:t>Example</a:t>
            </a:r>
            <a:r>
              <a:rPr lang="en-US" sz="1600" dirty="0"/>
              <a:t>:</a:t>
            </a:r>
          </a:p>
          <a:p>
            <a:r>
              <a:rPr lang="en-US" sz="1600" dirty="0"/>
              <a:t>A </a:t>
            </a:r>
            <a:r>
              <a:rPr lang="en-US" sz="1600" b="1" dirty="0"/>
              <a:t>video streaming platform</a:t>
            </a:r>
            <a:r>
              <a:rPr lang="en-US" sz="1600" dirty="0"/>
              <a:t> (like Netflix) first launches with </a:t>
            </a:r>
            <a:r>
              <a:rPr lang="en-US" sz="1600" b="1" dirty="0"/>
              <a:t>a few movies</a:t>
            </a:r>
            <a:r>
              <a:rPr lang="en-US" sz="1600" dirty="0"/>
              <a:t> 🎥.</a:t>
            </a:r>
          </a:p>
          <a:p>
            <a:r>
              <a:rPr lang="en-US" sz="1600" dirty="0"/>
              <a:t>Later updates add </a:t>
            </a:r>
            <a:r>
              <a:rPr lang="en-US" sz="1600" b="1" dirty="0"/>
              <a:t>TV shows, user profiles, and offline downloads</a:t>
            </a:r>
            <a:r>
              <a:rPr lang="en-US" sz="1600" dirty="0"/>
              <a:t>.</a:t>
            </a:r>
          </a:p>
          <a:p>
            <a:r>
              <a:rPr lang="en-US" sz="1600" dirty="0"/>
              <a:t>Users get to </a:t>
            </a:r>
            <a:r>
              <a:rPr lang="en-US" sz="1600" b="1" dirty="0"/>
              <a:t>use the software in steps</a:t>
            </a:r>
            <a:r>
              <a:rPr lang="en-US" sz="1600" dirty="0"/>
              <a:t>, rather than waiting for a full release.</a:t>
            </a:r>
          </a:p>
        </p:txBody>
      </p:sp>
    </p:spTree>
    <p:extLst>
      <p:ext uri="{BB962C8B-B14F-4D97-AF65-F5344CB8AC3E}">
        <p14:creationId xmlns:p14="http://schemas.microsoft.com/office/powerpoint/2010/main" val="2092628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406" y="286603"/>
            <a:ext cx="9962148" cy="1450757"/>
          </a:xfrm>
        </p:spPr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581355"/>
              </p:ext>
            </p:extLst>
          </p:nvPr>
        </p:nvGraphicFramePr>
        <p:xfrm>
          <a:off x="1222408" y="2083871"/>
          <a:ext cx="9770904" cy="365760"/>
        </p:xfrm>
        <a:graphic>
          <a:graphicData uri="http://schemas.openxmlformats.org/drawingml/2006/table">
            <a:tbl>
              <a:tblPr/>
              <a:tblGrid>
                <a:gridCol w="3256968">
                  <a:extLst>
                    <a:ext uri="{9D8B030D-6E8A-4147-A177-3AD203B41FA5}">
                      <a16:colId xmlns:a16="http://schemas.microsoft.com/office/drawing/2014/main" val="376592376"/>
                    </a:ext>
                  </a:extLst>
                </a:gridCol>
                <a:gridCol w="3256968">
                  <a:extLst>
                    <a:ext uri="{9D8B030D-6E8A-4147-A177-3AD203B41FA5}">
                      <a16:colId xmlns:a16="http://schemas.microsoft.com/office/drawing/2014/main" val="4180542792"/>
                    </a:ext>
                  </a:extLst>
                </a:gridCol>
                <a:gridCol w="3256968">
                  <a:extLst>
                    <a:ext uri="{9D8B030D-6E8A-4147-A177-3AD203B41FA5}">
                      <a16:colId xmlns:a16="http://schemas.microsoft.com/office/drawing/2014/main" val="182845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Incremental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Incremental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64519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82353"/>
              </p:ext>
            </p:extLst>
          </p:nvPr>
        </p:nvGraphicFramePr>
        <p:xfrm>
          <a:off x="1019960" y="3568556"/>
          <a:ext cx="9962148" cy="640080"/>
        </p:xfrm>
        <a:graphic>
          <a:graphicData uri="http://schemas.openxmlformats.org/drawingml/2006/table">
            <a:tbl>
              <a:tblPr/>
              <a:tblGrid>
                <a:gridCol w="3320716">
                  <a:extLst>
                    <a:ext uri="{9D8B030D-6E8A-4147-A177-3AD203B41FA5}">
                      <a16:colId xmlns:a16="http://schemas.microsoft.com/office/drawing/2014/main" val="1953764684"/>
                    </a:ext>
                  </a:extLst>
                </a:gridCol>
                <a:gridCol w="3320716">
                  <a:extLst>
                    <a:ext uri="{9D8B030D-6E8A-4147-A177-3AD203B41FA5}">
                      <a16:colId xmlns:a16="http://schemas.microsoft.com/office/drawing/2014/main" val="2249093275"/>
                    </a:ext>
                  </a:extLst>
                </a:gridCol>
                <a:gridCol w="3320716">
                  <a:extLst>
                    <a:ext uri="{9D8B030D-6E8A-4147-A177-3AD203B41FA5}">
                      <a16:colId xmlns:a16="http://schemas.microsoft.com/office/drawing/2014/main" val="1099493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When it is tested?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increment is </a:t>
                      </a:r>
                      <a:r>
                        <a:rPr lang="en-US" b="1" dirty="0"/>
                        <a:t>evaluated</a:t>
                      </a:r>
                      <a:r>
                        <a:rPr lang="en-US" dirty="0"/>
                        <a:t> but not necessarily deployed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increment is </a:t>
                      </a:r>
                      <a:r>
                        <a:rPr lang="en-US" b="1" dirty="0"/>
                        <a:t>released</a:t>
                      </a:r>
                      <a:r>
                        <a:rPr lang="en-US" dirty="0"/>
                        <a:t> to real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329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40871"/>
              </p:ext>
            </p:extLst>
          </p:nvPr>
        </p:nvGraphicFramePr>
        <p:xfrm>
          <a:off x="1019960" y="2594006"/>
          <a:ext cx="9962148" cy="640080"/>
        </p:xfrm>
        <a:graphic>
          <a:graphicData uri="http://schemas.openxmlformats.org/drawingml/2006/table">
            <a:tbl>
              <a:tblPr/>
              <a:tblGrid>
                <a:gridCol w="3320716">
                  <a:extLst>
                    <a:ext uri="{9D8B030D-6E8A-4147-A177-3AD203B41FA5}">
                      <a16:colId xmlns:a16="http://schemas.microsoft.com/office/drawing/2014/main" val="3685200689"/>
                    </a:ext>
                  </a:extLst>
                </a:gridCol>
                <a:gridCol w="3320716">
                  <a:extLst>
                    <a:ext uri="{9D8B030D-6E8A-4147-A177-3AD203B41FA5}">
                      <a16:colId xmlns:a16="http://schemas.microsoft.com/office/drawing/2014/main" val="3057601409"/>
                    </a:ext>
                  </a:extLst>
                </a:gridCol>
                <a:gridCol w="3320716">
                  <a:extLst>
                    <a:ext uri="{9D8B030D-6E8A-4147-A177-3AD203B41FA5}">
                      <a16:colId xmlns:a16="http://schemas.microsoft.com/office/drawing/2014/main" val="1945671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Who evaluates?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Mostly internal team &amp; stakeholders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End-users provide real-world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1499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752567"/>
              </p:ext>
            </p:extLst>
          </p:nvPr>
        </p:nvGraphicFramePr>
        <p:xfrm>
          <a:off x="1019960" y="4543106"/>
          <a:ext cx="10190631" cy="1328284"/>
        </p:xfrm>
        <a:graphic>
          <a:graphicData uri="http://schemas.openxmlformats.org/drawingml/2006/table">
            <a:tbl>
              <a:tblPr/>
              <a:tblGrid>
                <a:gridCol w="3396877">
                  <a:extLst>
                    <a:ext uri="{9D8B030D-6E8A-4147-A177-3AD203B41FA5}">
                      <a16:colId xmlns:a16="http://schemas.microsoft.com/office/drawing/2014/main" val="2312911000"/>
                    </a:ext>
                  </a:extLst>
                </a:gridCol>
                <a:gridCol w="3396877">
                  <a:extLst>
                    <a:ext uri="{9D8B030D-6E8A-4147-A177-3AD203B41FA5}">
                      <a16:colId xmlns:a16="http://schemas.microsoft.com/office/drawing/2014/main" val="505831500"/>
                    </a:ext>
                  </a:extLst>
                </a:gridCol>
                <a:gridCol w="3396877">
                  <a:extLst>
                    <a:ext uri="{9D8B030D-6E8A-4147-A177-3AD203B41FA5}">
                      <a16:colId xmlns:a16="http://schemas.microsoft.com/office/drawing/2014/main" val="2396148396"/>
                    </a:ext>
                  </a:extLst>
                </a:gridCol>
              </a:tblGrid>
              <a:tr h="1328284">
                <a:tc>
                  <a:txBody>
                    <a:bodyPr/>
                    <a:lstStyle/>
                    <a:p>
                      <a:r>
                        <a:rPr lang="en-US" sz="2000" b="1" dirty="0"/>
                        <a:t>Example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Developers test a </a:t>
                      </a:r>
                      <a:r>
                        <a:rPr lang="en-US" sz="2000" b="1" dirty="0"/>
                        <a:t>login feature</a:t>
                      </a:r>
                      <a:r>
                        <a:rPr lang="en-US" sz="2000" dirty="0"/>
                        <a:t> before adding transactions in a banking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Banking app releases </a:t>
                      </a:r>
                      <a:r>
                        <a:rPr lang="en-US" sz="2000" b="1" dirty="0"/>
                        <a:t>login-only version</a:t>
                      </a:r>
                      <a:r>
                        <a:rPr lang="en-US" sz="2000" dirty="0"/>
                        <a:t>, later adds transactions for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455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413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189" y="252663"/>
            <a:ext cx="10018713" cy="1752599"/>
          </a:xfrm>
        </p:spPr>
        <p:txBody>
          <a:bodyPr/>
          <a:lstStyle/>
          <a:p>
            <a:r>
              <a:rPr lang="en-GB" dirty="0"/>
              <a:t>Boehm’s 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87" y="2946132"/>
            <a:ext cx="10018713" cy="3124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dirty="0" smtClean="0"/>
              <a:t>The </a:t>
            </a:r>
            <a:r>
              <a:rPr lang="en-US" sz="1800" b="1" dirty="0"/>
              <a:t>Spiral Model</a:t>
            </a:r>
            <a:r>
              <a:rPr lang="en-US" sz="1800" dirty="0"/>
              <a:t> is a </a:t>
            </a:r>
            <a:r>
              <a:rPr lang="en-US" sz="1800" b="1" dirty="0"/>
              <a:t>risk-driven</a:t>
            </a:r>
            <a:r>
              <a:rPr lang="en-US" sz="1800" dirty="0"/>
              <a:t> software development approach.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 smtClean="0"/>
              <a:t> </a:t>
            </a:r>
            <a:r>
              <a:rPr lang="en-US" sz="1800" b="1" dirty="0"/>
              <a:t>Objective Setting (What we want to achieve?)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Define </a:t>
            </a:r>
            <a:r>
              <a:rPr lang="en-US" sz="1800" b="1" dirty="0"/>
              <a:t>goals</a:t>
            </a:r>
            <a:r>
              <a:rPr lang="en-US" sz="1800" dirty="0"/>
              <a:t> for this phase (e.g., develop a basic order placement system).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Identify </a:t>
            </a:r>
            <a:r>
              <a:rPr lang="en-US" sz="1800" b="1" dirty="0"/>
              <a:t>risks</a:t>
            </a:r>
            <a:r>
              <a:rPr lang="en-US" sz="1800" dirty="0"/>
              <a:t> (e.g., "Will customers find the app easy to use?").</a:t>
            </a:r>
          </a:p>
          <a:p>
            <a:pPr>
              <a:spcBef>
                <a:spcPts val="0"/>
              </a:spcBef>
            </a:pPr>
            <a:r>
              <a:rPr lang="en-US" sz="1800" dirty="0" smtClean="0"/>
              <a:t> </a:t>
            </a:r>
            <a:r>
              <a:rPr lang="en-US" sz="1800" b="1" dirty="0"/>
              <a:t>Example:</a:t>
            </a: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1800" b="1" dirty="0"/>
              <a:t>Goal</a:t>
            </a:r>
            <a:r>
              <a:rPr lang="en-US" sz="1800" dirty="0"/>
              <a:t>: Customers should be able to </a:t>
            </a:r>
            <a:r>
              <a:rPr lang="en-US" sz="1800" b="1" dirty="0"/>
              <a:t>browse menus and place orders</a:t>
            </a:r>
            <a:r>
              <a:rPr lang="en-US" sz="1800" dirty="0"/>
              <a:t>.</a:t>
            </a:r>
          </a:p>
          <a:p>
            <a:pPr>
              <a:spcBef>
                <a:spcPts val="0"/>
              </a:spcBef>
            </a:pPr>
            <a:r>
              <a:rPr lang="en-US" sz="1800" b="1" dirty="0"/>
              <a:t>Risk</a:t>
            </a:r>
            <a:r>
              <a:rPr lang="en-US" sz="1800" dirty="0"/>
              <a:t>: If the UI is too complex, users </a:t>
            </a:r>
            <a:r>
              <a:rPr lang="en-US" sz="1800" b="1" dirty="0"/>
              <a:t>might not complete their orders</a:t>
            </a:r>
            <a:r>
              <a:rPr lang="en-US" sz="1800" dirty="0" smtClean="0"/>
              <a:t>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 smtClean="0"/>
              <a:t> </a:t>
            </a:r>
            <a:r>
              <a:rPr lang="en-US" sz="1800" b="1" dirty="0"/>
              <a:t>Risk Assessment &amp; Reduction (Find and fix risks early)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Analyze risks and take steps to </a:t>
            </a:r>
            <a:r>
              <a:rPr lang="en-US" sz="1800" b="1" dirty="0"/>
              <a:t>reduce them</a:t>
            </a:r>
            <a:r>
              <a:rPr lang="en-US" sz="1800" dirty="0"/>
              <a:t>.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If unsure about user experience, create a </a:t>
            </a:r>
            <a:r>
              <a:rPr lang="en-US" sz="1800" b="1" dirty="0"/>
              <a:t>prototype</a:t>
            </a:r>
            <a:r>
              <a:rPr lang="en-US" sz="1800" dirty="0"/>
              <a:t>.</a:t>
            </a:r>
          </a:p>
          <a:p>
            <a:pPr>
              <a:spcBef>
                <a:spcPts val="0"/>
              </a:spcBef>
            </a:pPr>
            <a:r>
              <a:rPr lang="en-US" sz="1800" dirty="0" smtClean="0"/>
              <a:t> </a:t>
            </a:r>
            <a:r>
              <a:rPr lang="en-US" sz="1800" b="1" dirty="0"/>
              <a:t>Example:</a:t>
            </a: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1800" dirty="0"/>
              <a:t>Develop a </a:t>
            </a:r>
            <a:r>
              <a:rPr lang="en-US" sz="1800" b="1" dirty="0"/>
              <a:t>simple prototype UI</a:t>
            </a:r>
            <a:r>
              <a:rPr lang="en-US" sz="1800" dirty="0"/>
              <a:t> and test with real users.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Get feedback: </a:t>
            </a:r>
            <a:r>
              <a:rPr lang="en-US" sz="1800" b="1" dirty="0"/>
              <a:t>"Menu navigation is confusing."</a:t>
            </a: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1800" dirty="0"/>
              <a:t>Improve the UI before actual development.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546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688" y="2079858"/>
            <a:ext cx="10018713" cy="312420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Development &amp; Validation (Build &amp; test the software)</a:t>
            </a:r>
          </a:p>
          <a:p>
            <a:pPr>
              <a:spcBef>
                <a:spcPts val="0"/>
              </a:spcBef>
            </a:pPr>
            <a:r>
              <a:rPr lang="en-US" dirty="0"/>
              <a:t>Choose the best software </a:t>
            </a:r>
            <a:r>
              <a:rPr lang="en-US" b="1" dirty="0"/>
              <a:t>development model</a:t>
            </a:r>
            <a:r>
              <a:rPr lang="en-US" dirty="0"/>
              <a:t> (Waterfall, Agile, Prototyping, etc.).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  <a:r>
              <a:rPr lang="en-US" b="1" dirty="0"/>
              <a:t>Example: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If the risk is </a:t>
            </a:r>
            <a:r>
              <a:rPr lang="en-US" b="1" dirty="0"/>
              <a:t>UI usability</a:t>
            </a:r>
            <a:r>
              <a:rPr lang="en-US" dirty="0"/>
              <a:t>, use </a:t>
            </a:r>
            <a:r>
              <a:rPr lang="en-US" b="1" dirty="0"/>
              <a:t>prototyping</a:t>
            </a:r>
            <a:r>
              <a:rPr lang="en-US" dirty="0"/>
              <a:t> to refine it.</a:t>
            </a:r>
          </a:p>
          <a:p>
            <a:pPr>
              <a:spcBef>
                <a:spcPts val="0"/>
              </a:spcBef>
            </a:pPr>
            <a:r>
              <a:rPr lang="en-US" dirty="0"/>
              <a:t>If the risk is </a:t>
            </a:r>
            <a:r>
              <a:rPr lang="en-US" b="1" dirty="0"/>
              <a:t>payment integration</a:t>
            </a:r>
            <a:r>
              <a:rPr lang="en-US" dirty="0"/>
              <a:t>, follow a </a:t>
            </a:r>
            <a:r>
              <a:rPr lang="en-US" b="1" dirty="0"/>
              <a:t>structured Waterfall approach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 Planning (Prepare for the next phase)</a:t>
            </a:r>
          </a:p>
          <a:p>
            <a:pPr>
              <a:spcBef>
                <a:spcPts val="0"/>
              </a:spcBef>
            </a:pPr>
            <a:r>
              <a:rPr lang="en-US" dirty="0"/>
              <a:t>Review the progress, analyze what worked, and </a:t>
            </a:r>
            <a:r>
              <a:rPr lang="en-US" b="1" dirty="0"/>
              <a:t>plan the next step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  <a:r>
              <a:rPr lang="en-US" b="1" dirty="0"/>
              <a:t>Example: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If the </a:t>
            </a:r>
            <a:r>
              <a:rPr lang="en-US" b="1" dirty="0"/>
              <a:t>order system is working well</a:t>
            </a:r>
            <a:r>
              <a:rPr lang="en-US" dirty="0"/>
              <a:t>, the next phase might focus on </a:t>
            </a:r>
            <a:r>
              <a:rPr lang="en-US" b="1" dirty="0"/>
              <a:t>real-time tracking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If </a:t>
            </a:r>
            <a:r>
              <a:rPr lang="en-US" b="1" dirty="0"/>
              <a:t>problems exist</a:t>
            </a:r>
            <a:r>
              <a:rPr lang="en-US" dirty="0"/>
              <a:t>, adjust the plan accordingly.</a:t>
            </a:r>
          </a:p>
        </p:txBody>
      </p:sp>
    </p:spTree>
    <p:extLst>
      <p:ext uri="{BB962C8B-B14F-4D97-AF65-F5344CB8AC3E}">
        <p14:creationId xmlns:p14="http://schemas.microsoft.com/office/powerpoint/2010/main" val="352699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76437"/>
          </a:xfrm>
        </p:spPr>
        <p:txBody>
          <a:bodyPr/>
          <a:lstStyle/>
          <a:p>
            <a:r>
              <a:rPr lang="en-GB" dirty="0"/>
              <a:t>Boehm’s spiral model</a:t>
            </a:r>
            <a:endParaRPr lang="en-US" dirty="0"/>
          </a:p>
        </p:txBody>
      </p:sp>
      <p:pic>
        <p:nvPicPr>
          <p:cNvPr id="4" name="Content Placeholder 3" descr="2.11 Spiral-model.eps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31959" y="1873795"/>
            <a:ext cx="5757608" cy="391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32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322" y="2137610"/>
            <a:ext cx="10018713" cy="3124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Example:</a:t>
            </a:r>
            <a:r>
              <a:rPr lang="en-US" dirty="0"/>
              <a:t> 🚗 </a:t>
            </a:r>
            <a:r>
              <a:rPr lang="en-US" b="1" dirty="0"/>
              <a:t>Self-Driving Car Software</a:t>
            </a:r>
            <a:r>
              <a:rPr lang="en-US" dirty="0" smtClean="0"/>
              <a:t> </a:t>
            </a:r>
          </a:p>
          <a:p>
            <a:pPr>
              <a:spcBef>
                <a:spcPts val="0"/>
              </a:spcBef>
            </a:pPr>
            <a:r>
              <a:rPr lang="en-US" b="1" dirty="0" smtClean="0"/>
              <a:t>First </a:t>
            </a:r>
            <a:r>
              <a:rPr lang="en-US" b="1" dirty="0"/>
              <a:t>Loop (Concept Testing)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</a:pPr>
            <a:r>
              <a:rPr lang="en-US" dirty="0"/>
              <a:t>The team plans to develop </a:t>
            </a:r>
            <a:r>
              <a:rPr lang="en-US" b="1" dirty="0"/>
              <a:t>basic obstacle detection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Risk: </a:t>
            </a:r>
            <a:r>
              <a:rPr lang="en-US" b="1" dirty="0"/>
              <a:t>Sensors might not work in foggy conditions.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Solution: They </a:t>
            </a:r>
            <a:r>
              <a:rPr lang="en-US" b="1" dirty="0"/>
              <a:t>prototype &amp; test in different weather conditions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Once successful, they move to the next loop.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b="1" dirty="0"/>
              <a:t>Second Loop (Improved Features)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</a:pPr>
            <a:r>
              <a:rPr lang="en-US" dirty="0"/>
              <a:t>Add </a:t>
            </a:r>
            <a:r>
              <a:rPr lang="en-US" b="1" dirty="0"/>
              <a:t>automatic lane switching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Risk: </a:t>
            </a:r>
            <a:r>
              <a:rPr lang="en-US" b="1" dirty="0"/>
              <a:t>What if the car misreads lane markings?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Solution: Train AI on </a:t>
            </a:r>
            <a:r>
              <a:rPr lang="en-US" b="1" dirty="0"/>
              <a:t>different road types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b="1" dirty="0"/>
              <a:t>Third Loop (Final Version)</a:t>
            </a:r>
            <a:r>
              <a:rPr lang="en-US" dirty="0"/>
              <a:t>:</a:t>
            </a:r>
          </a:p>
          <a:p>
            <a:pPr>
              <a:spcBef>
                <a:spcPts val="0"/>
              </a:spcBef>
            </a:pPr>
            <a:r>
              <a:rPr lang="en-US" dirty="0"/>
              <a:t>Complete system with </a:t>
            </a:r>
            <a:r>
              <a:rPr lang="en-US" b="1" dirty="0"/>
              <a:t>automatic braking, pedestrian detection, and navigation.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39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66787" y="2156060"/>
            <a:ext cx="102027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✅ </a:t>
            </a:r>
            <a:r>
              <a:rPr lang="en-US" sz="2400" b="1" dirty="0"/>
              <a:t>Why Use Spiral Model?</a:t>
            </a:r>
            <a:endParaRPr lang="en-US" sz="2400" dirty="0"/>
          </a:p>
          <a:p>
            <a:r>
              <a:rPr lang="en-US" sz="2400" dirty="0"/>
              <a:t>Best for </a:t>
            </a:r>
            <a:r>
              <a:rPr lang="en-US" sz="2400" b="1" dirty="0"/>
              <a:t>complex projects</a:t>
            </a:r>
            <a:r>
              <a:rPr lang="en-US" sz="2400" dirty="0"/>
              <a:t> with </a:t>
            </a:r>
            <a:r>
              <a:rPr lang="en-US" sz="2400" b="1" dirty="0"/>
              <a:t>high uncertainty</a:t>
            </a:r>
            <a:r>
              <a:rPr lang="en-US" sz="2400" dirty="0"/>
              <a:t> and </a:t>
            </a:r>
            <a:r>
              <a:rPr lang="en-US" sz="2400" b="1" dirty="0"/>
              <a:t>changing requirements</a:t>
            </a:r>
            <a:r>
              <a:rPr lang="en-US" sz="2400" dirty="0"/>
              <a:t> (e.g., AI, defense, space projects).</a:t>
            </a:r>
          </a:p>
          <a:p>
            <a:r>
              <a:rPr lang="en-US" sz="2400" dirty="0"/>
              <a:t>Focuses on </a:t>
            </a:r>
            <a:r>
              <a:rPr lang="en-US" sz="2400" b="1" dirty="0"/>
              <a:t>risk management</a:t>
            </a:r>
            <a:r>
              <a:rPr lang="en-US" sz="2400" dirty="0"/>
              <a:t>, reducing failures.</a:t>
            </a:r>
          </a:p>
        </p:txBody>
      </p:sp>
    </p:spTree>
    <p:extLst>
      <p:ext uri="{BB962C8B-B14F-4D97-AF65-F5344CB8AC3E}">
        <p14:creationId xmlns:p14="http://schemas.microsoft.com/office/powerpoint/2010/main" val="3846150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121</TotalTime>
  <Words>1873</Words>
  <Application>Microsoft Office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Wingdings</vt:lpstr>
      <vt:lpstr>Parallax</vt:lpstr>
      <vt:lpstr>Software Engineering</vt:lpstr>
      <vt:lpstr>Coping with change</vt:lpstr>
      <vt:lpstr>Reducing the costs of rework</vt:lpstr>
      <vt:lpstr>Two ways of coping with change and changing system requirements.</vt:lpstr>
      <vt:lpstr>Software prototyping</vt:lpstr>
      <vt:lpstr>A prototype can be used in:</vt:lpstr>
      <vt:lpstr>Benefits of prototyping</vt:lpstr>
      <vt:lpstr>Types of Prototypes </vt:lpstr>
      <vt:lpstr>The Process of Prototype Development</vt:lpstr>
      <vt:lpstr>PowerPoint Presentation</vt:lpstr>
      <vt:lpstr>PowerPoint Presentation</vt:lpstr>
      <vt:lpstr>Operational Prototype </vt:lpstr>
      <vt:lpstr>Incremental delivery</vt:lpstr>
      <vt:lpstr>Incremental development and delivery</vt:lpstr>
      <vt:lpstr>Boehm’s spiral model</vt:lpstr>
      <vt:lpstr>PowerPoint Presentation</vt:lpstr>
      <vt:lpstr>Boehm’s spiral model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Atifa Arooj</dc:creator>
  <cp:lastModifiedBy>Atifa Arooj</cp:lastModifiedBy>
  <cp:revision>10</cp:revision>
  <dcterms:created xsi:type="dcterms:W3CDTF">2025-02-27T18:26:07Z</dcterms:created>
  <dcterms:modified xsi:type="dcterms:W3CDTF">2025-03-24T09:15:38Z</dcterms:modified>
</cp:coreProperties>
</file>
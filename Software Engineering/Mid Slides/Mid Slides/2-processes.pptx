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311" r:id="rId2"/>
    <p:sldId id="258" r:id="rId3"/>
    <p:sldId id="259" r:id="rId4"/>
    <p:sldId id="260" r:id="rId5"/>
    <p:sldId id="313" r:id="rId6"/>
    <p:sldId id="261" r:id="rId7"/>
    <p:sldId id="318" r:id="rId8"/>
    <p:sldId id="262" r:id="rId9"/>
    <p:sldId id="264" r:id="rId10"/>
    <p:sldId id="317" r:id="rId11"/>
    <p:sldId id="265" r:id="rId12"/>
    <p:sldId id="266" r:id="rId13"/>
    <p:sldId id="267" r:id="rId14"/>
    <p:sldId id="268" r:id="rId15"/>
    <p:sldId id="269" r:id="rId16"/>
    <p:sldId id="270" r:id="rId17"/>
    <p:sldId id="314" r:id="rId18"/>
    <p:sldId id="271" r:id="rId19"/>
    <p:sldId id="272" r:id="rId20"/>
    <p:sldId id="273" r:id="rId21"/>
    <p:sldId id="274" r:id="rId22"/>
    <p:sldId id="275" r:id="rId23"/>
    <p:sldId id="316" r:id="rId24"/>
    <p:sldId id="315" r:id="rId25"/>
    <p:sldId id="277" r:id="rId26"/>
    <p:sldId id="278" r:id="rId27"/>
    <p:sldId id="279" r:id="rId28"/>
    <p:sldId id="280" r:id="rId29"/>
    <p:sldId id="281" r:id="rId30"/>
    <p:sldId id="282" r:id="rId31"/>
    <p:sldId id="283" r:id="rId32"/>
    <p:sldId id="28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09" autoAdjust="0"/>
    <p:restoredTop sz="94660"/>
  </p:normalViewPr>
  <p:slideViewPr>
    <p:cSldViewPr>
      <p:cViewPr varScale="1">
        <p:scale>
          <a:sx n="66" d="100"/>
          <a:sy n="66" d="100"/>
        </p:scale>
        <p:origin x="1296"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764B8-3234-43AF-8191-F856ADA48659}" type="datetimeFigureOut">
              <a:rPr lang="en-US" smtClean="0"/>
              <a:pPr/>
              <a:t>3/24/2025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9CB63-C12F-4E70-9EEA-2285449E3C44}" type="slidenum">
              <a:rPr lang="en-US" smtClean="0"/>
              <a:pPr/>
              <a:t>‹#›</a:t>
            </a:fld>
            <a:endParaRPr lang="en-US"/>
          </a:p>
        </p:txBody>
      </p:sp>
    </p:spTree>
    <p:extLst>
      <p:ext uri="{BB962C8B-B14F-4D97-AF65-F5344CB8AC3E}">
        <p14:creationId xmlns:p14="http://schemas.microsoft.com/office/powerpoint/2010/main" val="99401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data model picture</a:t>
            </a:r>
          </a:p>
        </p:txBody>
      </p:sp>
      <p:sp>
        <p:nvSpPr>
          <p:cNvPr id="4" name="Slide Number Placeholder 3"/>
          <p:cNvSpPr>
            <a:spLocks noGrp="1"/>
          </p:cNvSpPr>
          <p:nvPr>
            <p:ph type="sldNum" sz="quarter" idx="10"/>
          </p:nvPr>
        </p:nvSpPr>
        <p:spPr/>
        <p:txBody>
          <a:bodyPr/>
          <a:lstStyle/>
          <a:p>
            <a:fld id="{9DD9CB63-C12F-4E70-9EEA-2285449E3C44}" type="slidenum">
              <a:rPr lang="en-US" smtClean="0"/>
              <a:pPr/>
              <a:t>3</a:t>
            </a:fld>
            <a:endParaRPr lang="en-US"/>
          </a:p>
        </p:txBody>
      </p:sp>
    </p:spTree>
    <p:extLst>
      <p:ext uri="{BB962C8B-B14F-4D97-AF65-F5344CB8AC3E}">
        <p14:creationId xmlns:p14="http://schemas.microsoft.com/office/powerpoint/2010/main" val="3743682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val="269961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val="105537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val="3498799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val="180037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val="287738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val="3566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val="234500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val="409813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val="212752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val="366732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val="47836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val="167945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val="262781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6612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04900" y="1143000"/>
            <a:ext cx="7886700" cy="2852737"/>
          </a:xfrm>
        </p:spPr>
        <p:txBody>
          <a:bodyPr/>
          <a:lstStyle/>
          <a:p>
            <a:r>
              <a:rPr lang="en-US" dirty="0"/>
              <a:t>Software Processes</a:t>
            </a:r>
          </a:p>
        </p:txBody>
      </p:sp>
    </p:spTree>
    <p:extLst>
      <p:ext uri="{BB962C8B-B14F-4D97-AF65-F5344CB8AC3E}">
        <p14:creationId xmlns:p14="http://schemas.microsoft.com/office/powerpoint/2010/main" val="126768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The software process</a:t>
            </a:r>
            <a:endParaRPr lang="en-US" dirty="0"/>
          </a:p>
        </p:txBody>
      </p:sp>
      <p:sp>
        <p:nvSpPr>
          <p:cNvPr id="3" name="Content Placeholder 2"/>
          <p:cNvSpPr>
            <a:spLocks noGrp="1"/>
          </p:cNvSpPr>
          <p:nvPr>
            <p:ph idx="1"/>
          </p:nvPr>
        </p:nvSpPr>
        <p:spPr>
          <a:xfrm>
            <a:off x="457200" y="1066800"/>
            <a:ext cx="8488363" cy="4495800"/>
          </a:xfrm>
        </p:spPr>
        <p:txBody>
          <a:bodyPr/>
          <a:lstStyle/>
          <a:p>
            <a:pPr algn="just">
              <a:buFont typeface="Wingdings" panose="05000000000000000000" pitchFamily="2" charset="2"/>
              <a:buChar char="q"/>
            </a:pPr>
            <a:r>
              <a:rPr lang="en-GB" sz="2400" dirty="0"/>
              <a:t>A structured set of activities required to develop a </a:t>
            </a:r>
            <a:br>
              <a:rPr lang="en-GB" sz="2400" dirty="0"/>
            </a:br>
            <a:r>
              <a:rPr lang="en-GB" sz="2400" dirty="0"/>
              <a:t>software system. </a:t>
            </a:r>
          </a:p>
          <a:p>
            <a:pPr algn="just">
              <a:buFont typeface="Wingdings" panose="05000000000000000000" pitchFamily="2" charset="2"/>
              <a:buChar char="q"/>
            </a:pPr>
            <a:r>
              <a:rPr lang="en-GB" sz="2400" dirty="0"/>
              <a:t>Many different software processes but all involve:</a:t>
            </a:r>
          </a:p>
          <a:p>
            <a:pPr lvl="1" algn="just">
              <a:buFont typeface="Wingdings" panose="05000000000000000000" pitchFamily="2" charset="2"/>
              <a:buChar char="q"/>
            </a:pPr>
            <a:r>
              <a:rPr lang="en-GB" sz="2400" b="1" dirty="0"/>
              <a:t>Specification</a:t>
            </a:r>
            <a:r>
              <a:rPr lang="en-GB" sz="2400" dirty="0"/>
              <a:t> –</a:t>
            </a:r>
            <a:r>
              <a:rPr lang="en-US" sz="2400" dirty="0"/>
              <a:t>The functionality of the software and constraints on its operation must be defined.</a:t>
            </a:r>
            <a:endParaRPr lang="en-GB" sz="2400" dirty="0"/>
          </a:p>
          <a:p>
            <a:pPr lvl="1" algn="just">
              <a:buFont typeface="Wingdings" panose="05000000000000000000" pitchFamily="2" charset="2"/>
              <a:buChar char="q"/>
            </a:pPr>
            <a:r>
              <a:rPr lang="en-GB" sz="2400" b="1" dirty="0"/>
              <a:t>Design and implementation</a:t>
            </a:r>
            <a:r>
              <a:rPr lang="en-GB" sz="2400" dirty="0"/>
              <a:t> – </a:t>
            </a:r>
            <a:r>
              <a:rPr lang="en-US" sz="2400" dirty="0"/>
              <a:t>The software to meet the specification must be produced</a:t>
            </a:r>
            <a:endParaRPr lang="en-GB" sz="2400" dirty="0"/>
          </a:p>
          <a:p>
            <a:pPr lvl="1" algn="just">
              <a:buFont typeface="Wingdings" panose="05000000000000000000" pitchFamily="2" charset="2"/>
              <a:buChar char="q"/>
            </a:pPr>
            <a:r>
              <a:rPr lang="en-GB" sz="2400" b="1" dirty="0"/>
              <a:t>Validation</a:t>
            </a:r>
            <a:r>
              <a:rPr lang="en-GB" sz="2400" dirty="0"/>
              <a:t> – checking that it does what the customer wants;</a:t>
            </a:r>
          </a:p>
          <a:p>
            <a:pPr lvl="1" algn="just">
              <a:buFont typeface="Wingdings" panose="05000000000000000000" pitchFamily="2" charset="2"/>
              <a:buChar char="q"/>
            </a:pPr>
            <a:r>
              <a:rPr lang="en-GB" sz="2400" b="1" dirty="0"/>
              <a:t>Evolution</a:t>
            </a:r>
            <a:r>
              <a:rPr lang="en-GB" sz="2400" dirty="0"/>
              <a:t> – changing the system in response to changing customer needs.</a:t>
            </a:r>
          </a:p>
          <a:p>
            <a:pPr algn="just">
              <a:buFont typeface="Wingdings" panose="05000000000000000000" pitchFamily="2" charset="2"/>
              <a:buChar char="q"/>
            </a:pPr>
            <a:r>
              <a:rPr lang="en-GB" sz="2400" dirty="0"/>
              <a:t>A software process model is an abstract representation of a process. It presents a description of a process from some particular perspective.</a:t>
            </a:r>
            <a:endParaRPr lang="en-US" sz="2400" dirty="0"/>
          </a:p>
        </p:txBody>
      </p:sp>
    </p:spTree>
    <p:extLst>
      <p:ext uri="{BB962C8B-B14F-4D97-AF65-F5344CB8AC3E}">
        <p14:creationId xmlns:p14="http://schemas.microsoft.com/office/powerpoint/2010/main" val="397828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609600"/>
          </a:xfrm>
        </p:spPr>
        <p:txBody>
          <a:bodyPr/>
          <a:lstStyle/>
          <a:p>
            <a:r>
              <a:rPr lang="en-US" dirty="0"/>
              <a:t>Software process descriptions</a:t>
            </a:r>
          </a:p>
        </p:txBody>
      </p:sp>
      <p:sp>
        <p:nvSpPr>
          <p:cNvPr id="3" name="Content Placeholder 2"/>
          <p:cNvSpPr>
            <a:spLocks noGrp="1"/>
          </p:cNvSpPr>
          <p:nvPr>
            <p:ph idx="1"/>
          </p:nvPr>
        </p:nvSpPr>
        <p:spPr>
          <a:xfrm>
            <a:off x="762000" y="838200"/>
            <a:ext cx="7772400" cy="5562600"/>
          </a:xfrm>
        </p:spPr>
        <p:txBody>
          <a:bodyPr/>
          <a:lstStyle/>
          <a:p>
            <a:pPr algn="just">
              <a:buFont typeface="Wingdings" panose="05000000000000000000" pitchFamily="2" charset="2"/>
              <a:buChar char="q"/>
            </a:pPr>
            <a:r>
              <a:rPr lang="en-GB" sz="2000" dirty="0"/>
              <a:t>When we describe and discuss processes, we usually talk about the activities in these processes such as specifying a data model, designing a user interface, etc. and the ordering of these activities.</a:t>
            </a:r>
          </a:p>
          <a:p>
            <a:pPr algn="just">
              <a:buFont typeface="Wingdings" panose="05000000000000000000" pitchFamily="2" charset="2"/>
              <a:buChar char="q"/>
            </a:pPr>
            <a:r>
              <a:rPr lang="en-GB" sz="2000" dirty="0"/>
              <a:t>Process descriptions may also include:</a:t>
            </a:r>
          </a:p>
          <a:p>
            <a:pPr lvl="1" algn="just">
              <a:buFont typeface="Wingdings" panose="05000000000000000000" pitchFamily="2" charset="2"/>
              <a:buChar char="q"/>
            </a:pPr>
            <a:r>
              <a:rPr lang="en-GB" sz="2000" b="1" dirty="0"/>
              <a:t>Products</a:t>
            </a:r>
            <a:r>
              <a:rPr lang="en-GB" sz="2000" dirty="0"/>
              <a:t>, which are the outcomes of a process activity; e.g. model of software architecture</a:t>
            </a:r>
          </a:p>
          <a:p>
            <a:pPr lvl="1" algn="just">
              <a:buFont typeface="Wingdings" panose="05000000000000000000" pitchFamily="2" charset="2"/>
              <a:buChar char="q"/>
            </a:pPr>
            <a:r>
              <a:rPr lang="en-GB" sz="2000" b="1" dirty="0"/>
              <a:t>Roles</a:t>
            </a:r>
            <a:r>
              <a:rPr lang="en-GB" sz="2000" dirty="0"/>
              <a:t>, which reflect the responsibilities of the people involved in the process;</a:t>
            </a:r>
          </a:p>
          <a:p>
            <a:pPr lvl="1" algn="just">
              <a:buFont typeface="Wingdings" panose="05000000000000000000" pitchFamily="2" charset="2"/>
              <a:buChar char="q"/>
            </a:pPr>
            <a:r>
              <a:rPr lang="en-GB" sz="2000" b="1" dirty="0"/>
              <a:t>Pre- and post-conditions</a:t>
            </a:r>
            <a:r>
              <a:rPr lang="en-GB" sz="2000" dirty="0"/>
              <a:t>, which are statements that are true before and after a process activity has been enacted or a product produced.</a:t>
            </a:r>
          </a:p>
          <a:p>
            <a:pPr lvl="2" algn="just">
              <a:buFont typeface="Wingdings" panose="05000000000000000000" pitchFamily="2" charset="2"/>
              <a:buChar char="q"/>
            </a:pPr>
            <a:r>
              <a:rPr lang="en-GB" sz="1800" b="1" dirty="0"/>
              <a:t>Pre-condition- </a:t>
            </a:r>
            <a:r>
              <a:rPr lang="en-US" sz="1800" dirty="0"/>
              <a:t>before architectural design begins, a pre-condition may be that all requirements have been approved by the customer.</a:t>
            </a:r>
            <a:endParaRPr lang="en-GB" sz="1800" dirty="0"/>
          </a:p>
          <a:p>
            <a:pPr lvl="2" algn="just">
              <a:buFont typeface="Wingdings" panose="05000000000000000000" pitchFamily="2" charset="2"/>
              <a:buChar char="q"/>
            </a:pPr>
            <a:r>
              <a:rPr lang="en-GB" sz="1800" b="1" dirty="0"/>
              <a:t>Post condition</a:t>
            </a:r>
            <a:r>
              <a:rPr lang="en-GB" sz="1800" dirty="0"/>
              <a:t>- </a:t>
            </a:r>
            <a:r>
              <a:rPr lang="en-US" sz="1800" dirty="0"/>
              <a:t>after this activity is finished, a post-condition might be that the UML models describing the architecture have been reviewed.</a:t>
            </a:r>
          </a:p>
        </p:txBody>
      </p:sp>
    </p:spTree>
    <p:extLst>
      <p:ext uri="{BB962C8B-B14F-4D97-AF65-F5344CB8AC3E}">
        <p14:creationId xmlns:p14="http://schemas.microsoft.com/office/powerpoint/2010/main" val="18654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Plan-driven and agile processes</a:t>
            </a:r>
          </a:p>
        </p:txBody>
      </p:sp>
      <p:sp>
        <p:nvSpPr>
          <p:cNvPr id="3" name="Content Placeholder 2"/>
          <p:cNvSpPr>
            <a:spLocks noGrp="1"/>
          </p:cNvSpPr>
          <p:nvPr>
            <p:ph idx="1"/>
          </p:nvPr>
        </p:nvSpPr>
        <p:spPr>
          <a:xfrm>
            <a:off x="762000" y="990600"/>
            <a:ext cx="8077200" cy="4114800"/>
          </a:xfrm>
        </p:spPr>
        <p:txBody>
          <a:bodyPr/>
          <a:lstStyle/>
          <a:p>
            <a:pPr algn="just">
              <a:buFont typeface="Wingdings" panose="05000000000000000000" pitchFamily="2" charset="2"/>
              <a:buChar char="q"/>
            </a:pPr>
            <a:r>
              <a:rPr lang="en-GB" sz="2800" b="1" dirty="0"/>
              <a:t>Plan-driven processes</a:t>
            </a:r>
            <a:r>
              <a:rPr lang="en-GB" sz="2800" dirty="0"/>
              <a:t> are processes where all of the process activities are planned in advance and progress is measured against this plan. </a:t>
            </a:r>
          </a:p>
          <a:p>
            <a:pPr algn="just">
              <a:buFont typeface="Wingdings" panose="05000000000000000000" pitchFamily="2" charset="2"/>
              <a:buChar char="q"/>
            </a:pPr>
            <a:r>
              <a:rPr lang="en-GB" sz="2800" dirty="0"/>
              <a:t>In </a:t>
            </a:r>
            <a:r>
              <a:rPr lang="en-GB" sz="2800" b="1" dirty="0"/>
              <a:t>agile processes</a:t>
            </a:r>
            <a:r>
              <a:rPr lang="en-GB" sz="2800" dirty="0"/>
              <a:t>, planning is incremental, and it is easier to change the process to reflect changing customer requirements. </a:t>
            </a:r>
          </a:p>
          <a:p>
            <a:pPr algn="just">
              <a:buFont typeface="Wingdings" panose="05000000000000000000" pitchFamily="2" charset="2"/>
              <a:buChar char="q"/>
            </a:pPr>
            <a:r>
              <a:rPr lang="en-GB" sz="2800" dirty="0"/>
              <a:t>There are no right or wrong software processes.</a:t>
            </a:r>
            <a:endParaRPr lang="en-US" sz="2800" dirty="0"/>
          </a:p>
        </p:txBody>
      </p:sp>
    </p:spTree>
    <p:extLst>
      <p:ext uri="{BB962C8B-B14F-4D97-AF65-F5344CB8AC3E}">
        <p14:creationId xmlns:p14="http://schemas.microsoft.com/office/powerpoint/2010/main" val="266841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processes</a:t>
            </a:r>
          </a:p>
        </p:txBody>
      </p:sp>
      <p:graphicFrame>
        <p:nvGraphicFramePr>
          <p:cNvPr id="4" name="Table 3"/>
          <p:cNvGraphicFramePr>
            <a:graphicFrameLocks noGrp="1"/>
          </p:cNvGraphicFramePr>
          <p:nvPr>
            <p:extLst>
              <p:ext uri="{D42A27DB-BD31-4B8C-83A1-F6EECF244321}">
                <p14:modId xmlns:p14="http://schemas.microsoft.com/office/powerpoint/2010/main" val="2375902077"/>
              </p:ext>
            </p:extLst>
          </p:nvPr>
        </p:nvGraphicFramePr>
        <p:xfrm>
          <a:off x="533400" y="1905000"/>
          <a:ext cx="8305800" cy="3474720"/>
        </p:xfrm>
        <a:graphic>
          <a:graphicData uri="http://schemas.openxmlformats.org/drawingml/2006/table">
            <a:tbl>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0">
                <a:tc>
                  <a:txBody>
                    <a:bodyPr/>
                    <a:lstStyle/>
                    <a:p>
                      <a:pPr algn="ctr"/>
                      <a:r>
                        <a:rPr lang="en-US" sz="2400" b="1" dirty="0">
                          <a:effectLst/>
                        </a:rPr>
                        <a:t>Plan-driven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tc>
                  <a:txBody>
                    <a:bodyPr/>
                    <a:lstStyle/>
                    <a:p>
                      <a:pPr algn="ctr"/>
                      <a:r>
                        <a:rPr lang="en-US" sz="2400" b="1" dirty="0">
                          <a:effectLst/>
                        </a:rPr>
                        <a:t>Agile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a:r>
                        <a:rPr lang="en-US" sz="2400" dirty="0">
                          <a:effectLst/>
                        </a:rPr>
                        <a:t>High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Low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a:r>
                        <a:rPr lang="en-US" sz="2400" dirty="0">
                          <a:effectLst/>
                        </a:rPr>
                        <a:t>Junior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Senior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a:r>
                        <a:rPr lang="en-US" sz="2400" dirty="0">
                          <a:effectLst/>
                        </a:rPr>
                        <a:t>Requirements do not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Requirements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a:r>
                        <a:rPr lang="en-US" sz="2400" dirty="0">
                          <a:effectLst/>
                        </a:rPr>
                        <a:t>Large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Small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a:r>
                        <a:rPr lang="en-US" sz="2400" dirty="0">
                          <a:effectLst/>
                        </a:rPr>
                        <a:t>Culture that demands order</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Culture that responds to change</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1536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process models</a:t>
            </a:r>
            <a:endParaRPr lang="en-US" dirty="0"/>
          </a:p>
        </p:txBody>
      </p:sp>
      <p:sp>
        <p:nvSpPr>
          <p:cNvPr id="3" name="Content Placeholder 2"/>
          <p:cNvSpPr>
            <a:spLocks noGrp="1"/>
          </p:cNvSpPr>
          <p:nvPr>
            <p:ph idx="1"/>
          </p:nvPr>
        </p:nvSpPr>
        <p:spPr>
          <a:xfrm>
            <a:off x="685800" y="1447800"/>
            <a:ext cx="8259763" cy="4114800"/>
          </a:xfrm>
        </p:spPr>
        <p:txBody>
          <a:bodyPr/>
          <a:lstStyle/>
          <a:p>
            <a:pPr>
              <a:buFont typeface="Wingdings" panose="05000000000000000000" pitchFamily="2" charset="2"/>
              <a:buChar char="q"/>
            </a:pPr>
            <a:r>
              <a:rPr lang="en-GB" sz="2400" b="1" dirty="0"/>
              <a:t>The waterfall model</a:t>
            </a:r>
          </a:p>
          <a:p>
            <a:pPr lvl="1">
              <a:buFont typeface="Wingdings" panose="05000000000000000000" pitchFamily="2" charset="2"/>
              <a:buChar char="q"/>
            </a:pPr>
            <a:r>
              <a:rPr lang="en-GB" sz="2400" dirty="0"/>
              <a:t>Plan-driven model. Activities are planned in advance and progress is measured against plan</a:t>
            </a:r>
          </a:p>
          <a:p>
            <a:pPr>
              <a:buFont typeface="Wingdings" panose="05000000000000000000" pitchFamily="2" charset="2"/>
              <a:buChar char="q"/>
            </a:pPr>
            <a:r>
              <a:rPr lang="en-GB" sz="2400" b="1" dirty="0"/>
              <a:t>Incremental development</a:t>
            </a:r>
          </a:p>
          <a:p>
            <a:pPr lvl="1">
              <a:buFont typeface="Wingdings" panose="05000000000000000000" pitchFamily="2" charset="2"/>
              <a:buChar char="q"/>
            </a:pPr>
            <a:r>
              <a:rPr lang="en-GB" sz="2400" dirty="0"/>
              <a:t>Specification, development and validation are interleaved. </a:t>
            </a:r>
          </a:p>
          <a:p>
            <a:pPr lvl="1">
              <a:buFont typeface="Wingdings" panose="05000000000000000000" pitchFamily="2" charset="2"/>
              <a:buChar char="q"/>
            </a:pPr>
            <a:r>
              <a:rPr lang="en-GB" sz="2400" dirty="0"/>
              <a:t>System is developed as a series of versions (increments)</a:t>
            </a:r>
          </a:p>
          <a:p>
            <a:pPr>
              <a:buFont typeface="Wingdings" panose="05000000000000000000" pitchFamily="2" charset="2"/>
              <a:buChar char="q"/>
            </a:pPr>
            <a:r>
              <a:rPr lang="en-GB" sz="2400" b="1" dirty="0"/>
              <a:t>Reuse-oriented software engineering</a:t>
            </a:r>
          </a:p>
          <a:p>
            <a:pPr lvl="1">
              <a:buFont typeface="Wingdings" panose="05000000000000000000" pitchFamily="2" charset="2"/>
              <a:buChar char="q"/>
            </a:pPr>
            <a:r>
              <a:rPr lang="en-GB" sz="2400" dirty="0"/>
              <a:t>The system is assembled from existing components. May be plan-driven or agile.</a:t>
            </a:r>
          </a:p>
          <a:p>
            <a:pPr>
              <a:buFont typeface="Wingdings" panose="05000000000000000000" pitchFamily="2" charset="2"/>
              <a:buChar char="q"/>
            </a:pPr>
            <a:r>
              <a:rPr lang="en-GB" sz="2000" dirty="0"/>
              <a:t>In practice, most large systems are developed using a process that incorporates elements from all of these models</a:t>
            </a:r>
            <a:r>
              <a:rPr lang="en-GB" sz="2400" dirty="0"/>
              <a:t>.</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351218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819C-0C37-438F-17F1-0461F75F3727}"/>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8EA0A3E9-A704-4FC0-760D-96FFA862C43F}"/>
              </a:ext>
            </a:extLst>
          </p:cNvPr>
          <p:cNvSpPr>
            <a:spLocks noGrp="1"/>
          </p:cNvSpPr>
          <p:nvPr>
            <p:ph idx="1"/>
          </p:nvPr>
        </p:nvSpPr>
        <p:spPr/>
        <p:txBody>
          <a:bodyPr/>
          <a:lstStyle/>
          <a:p>
            <a:pPr>
              <a:buFont typeface="Wingdings" panose="05000000000000000000" pitchFamily="2" charset="2"/>
              <a:buChar char="q"/>
            </a:pPr>
            <a:r>
              <a:rPr lang="en-US" dirty="0"/>
              <a:t>The waterfall model is an example of a plan-driven process—in principle, you must plan and schedule all of the process activities before starting work on them.</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37948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The waterfall model</a:t>
            </a:r>
            <a:endParaRPr lang="en-US" dirty="0"/>
          </a:p>
        </p:txBody>
      </p:sp>
      <p:pic>
        <p:nvPicPr>
          <p:cNvPr id="4" name="Picture 3" descr="2.1.Waterfall-model.eps"/>
          <p:cNvPicPr>
            <a:picLocks noChangeAspect="1"/>
          </p:cNvPicPr>
          <p:nvPr/>
        </p:nvPicPr>
        <p:blipFill>
          <a:blip r:embed="rId2" cstate="print"/>
          <a:stretch>
            <a:fillRect/>
          </a:stretch>
        </p:blipFill>
        <p:spPr>
          <a:xfrm>
            <a:off x="911053" y="1398542"/>
            <a:ext cx="7183698" cy="4039465"/>
          </a:xfrm>
          <a:prstGeom prst="rect">
            <a:avLst/>
          </a:prstGeom>
        </p:spPr>
      </p:pic>
      <p:sp>
        <p:nvSpPr>
          <p:cNvPr id="3" name="TextBox 2"/>
          <p:cNvSpPr txBox="1"/>
          <p:nvPr/>
        </p:nvSpPr>
        <p:spPr>
          <a:xfrm>
            <a:off x="2057400" y="1047690"/>
            <a:ext cx="6477000" cy="400110"/>
          </a:xfrm>
          <a:prstGeom prst="rect">
            <a:avLst/>
          </a:prstGeom>
          <a:solidFill>
            <a:schemeClr val="accent1">
              <a:lumMod val="20000"/>
              <a:lumOff val="80000"/>
            </a:schemeClr>
          </a:solidFill>
        </p:spPr>
        <p:txBody>
          <a:bodyPr wrap="square" rtlCol="0">
            <a:spAutoFit/>
          </a:bodyPr>
          <a:lstStyle/>
          <a:p>
            <a:pPr marL="0" lvl="2"/>
            <a:r>
              <a:rPr lang="en-GB" sz="2000" dirty="0"/>
              <a:t>System services, constraints and goals are established</a:t>
            </a:r>
          </a:p>
        </p:txBody>
      </p:sp>
      <p:sp>
        <p:nvSpPr>
          <p:cNvPr id="5" name="TextBox 4"/>
          <p:cNvSpPr txBox="1"/>
          <p:nvPr/>
        </p:nvSpPr>
        <p:spPr>
          <a:xfrm>
            <a:off x="3810000" y="1466671"/>
            <a:ext cx="5257800" cy="1200329"/>
          </a:xfrm>
          <a:prstGeom prst="rect">
            <a:avLst/>
          </a:prstGeom>
          <a:solidFill>
            <a:schemeClr val="accent1">
              <a:lumMod val="20000"/>
              <a:lumOff val="80000"/>
            </a:schemeClr>
          </a:solidFill>
        </p:spPr>
        <p:txBody>
          <a:bodyPr wrap="square" rtlCol="0">
            <a:spAutoFit/>
          </a:bodyPr>
          <a:lstStyle/>
          <a:p>
            <a:pPr algn="just"/>
            <a:r>
              <a:rPr lang="en-US" dirty="0"/>
              <a:t>allocates the requirements to either hardware or software, identify and describe the fundamental</a:t>
            </a:r>
          </a:p>
          <a:p>
            <a:pPr algn="just"/>
            <a:r>
              <a:rPr lang="en-US" dirty="0"/>
              <a:t>software system abstractions and their relationships</a:t>
            </a:r>
          </a:p>
        </p:txBody>
      </p:sp>
      <p:sp>
        <p:nvSpPr>
          <p:cNvPr id="6" name="Rectangle 5"/>
          <p:cNvSpPr/>
          <p:nvPr/>
        </p:nvSpPr>
        <p:spPr>
          <a:xfrm>
            <a:off x="5181600" y="2718137"/>
            <a:ext cx="3962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software design is realized</a:t>
            </a:r>
          </a:p>
          <a:p>
            <a:r>
              <a:rPr lang="en-US" sz="2000" dirty="0">
                <a:solidFill>
                  <a:srgbClr val="231F20"/>
                </a:solidFill>
                <a:latin typeface="Times-Roman"/>
              </a:rPr>
              <a:t>as a set of programs or program units</a:t>
            </a:r>
            <a:endParaRPr lang="en-US" sz="2000" dirty="0"/>
          </a:p>
        </p:txBody>
      </p:sp>
      <p:sp>
        <p:nvSpPr>
          <p:cNvPr id="7" name="Rectangle 6"/>
          <p:cNvSpPr/>
          <p:nvPr/>
        </p:nvSpPr>
        <p:spPr>
          <a:xfrm>
            <a:off x="76200" y="3925669"/>
            <a:ext cx="5105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The individual program units or programs</a:t>
            </a:r>
          </a:p>
          <a:p>
            <a:r>
              <a:rPr lang="en-US" sz="2000" dirty="0">
                <a:solidFill>
                  <a:srgbClr val="231F20"/>
                </a:solidFill>
                <a:latin typeface="Times-Roman"/>
              </a:rPr>
              <a:t>are integrated and tested as a complete system</a:t>
            </a:r>
            <a:endParaRPr lang="en-US" sz="2000" dirty="0"/>
          </a:p>
        </p:txBody>
      </p:sp>
      <p:sp>
        <p:nvSpPr>
          <p:cNvPr id="8" name="Rectangle 7"/>
          <p:cNvSpPr/>
          <p:nvPr/>
        </p:nvSpPr>
        <p:spPr>
          <a:xfrm>
            <a:off x="152400" y="4953000"/>
            <a:ext cx="6553200" cy="1323439"/>
          </a:xfrm>
          <a:prstGeom prst="rect">
            <a:avLst/>
          </a:prstGeom>
          <a:solidFill>
            <a:schemeClr val="accent1">
              <a:lumMod val="20000"/>
              <a:lumOff val="80000"/>
            </a:schemeClr>
          </a:solidFill>
        </p:spPr>
        <p:txBody>
          <a:bodyPr wrap="square">
            <a:spAutoFit/>
          </a:bodyPr>
          <a:lstStyle/>
          <a:p>
            <a:pPr algn="just"/>
            <a:r>
              <a:rPr lang="en-US" sz="2000" dirty="0">
                <a:solidFill>
                  <a:srgbClr val="231F20"/>
                </a:solidFill>
                <a:latin typeface="Times-Roman"/>
              </a:rPr>
              <a:t>The system is installed and put into practical use.</a:t>
            </a:r>
          </a:p>
          <a:p>
            <a:pPr algn="just"/>
            <a:r>
              <a:rPr lang="en-US" sz="2000" dirty="0"/>
              <a:t>Maintenance involves correcting errors, improving the implementation and enhancing system with new requirements</a:t>
            </a:r>
          </a:p>
        </p:txBody>
      </p:sp>
    </p:spTree>
    <p:extLst>
      <p:ext uri="{BB962C8B-B14F-4D97-AF65-F5344CB8AC3E}">
        <p14:creationId xmlns:p14="http://schemas.microsoft.com/office/powerpoint/2010/main" val="310405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Waterfall model problems</a:t>
            </a:r>
            <a:endParaRPr lang="en-US" dirty="0"/>
          </a:p>
        </p:txBody>
      </p:sp>
      <p:sp>
        <p:nvSpPr>
          <p:cNvPr id="3" name="Content Placeholder 2"/>
          <p:cNvSpPr>
            <a:spLocks noGrp="1"/>
          </p:cNvSpPr>
          <p:nvPr>
            <p:ph idx="1"/>
          </p:nvPr>
        </p:nvSpPr>
        <p:spPr>
          <a:xfrm>
            <a:off x="685801" y="1219200"/>
            <a:ext cx="8153400" cy="4495800"/>
          </a:xfrm>
        </p:spPr>
        <p:txBody>
          <a:bodyPr/>
          <a:lstStyle/>
          <a:p>
            <a:pPr algn="just">
              <a:buFont typeface="Wingdings" panose="05000000000000000000" pitchFamily="2" charset="2"/>
              <a:buChar char="q"/>
            </a:pPr>
            <a:r>
              <a:rPr lang="en-GB" sz="2400" dirty="0"/>
              <a:t>The main drawback of the waterfall model is the </a:t>
            </a:r>
            <a:r>
              <a:rPr lang="en-GB" sz="2400" b="1" dirty="0"/>
              <a:t>difficulty of accommodating change</a:t>
            </a:r>
            <a:r>
              <a:rPr lang="en-GB" sz="2400" dirty="0"/>
              <a:t> after the process is underway. In principle, a phase has to be completed before moving onto the next phase.</a:t>
            </a:r>
          </a:p>
          <a:p>
            <a:pPr lvl="1" algn="just">
              <a:buFont typeface="Wingdings" panose="05000000000000000000" pitchFamily="2" charset="2"/>
              <a:buChar char="q"/>
            </a:pPr>
            <a:r>
              <a:rPr lang="en-GB" sz="2400" dirty="0"/>
              <a:t>Therefore, this model is only appropriate when the </a:t>
            </a:r>
            <a:r>
              <a:rPr lang="en-GB" sz="2400" b="1" dirty="0"/>
              <a:t>requirements are well-understood,</a:t>
            </a:r>
            <a:r>
              <a:rPr lang="en-GB" sz="2400" dirty="0"/>
              <a:t> and changes will be fairly limited during the design process. </a:t>
            </a:r>
          </a:p>
          <a:p>
            <a:pPr lvl="1" algn="just">
              <a:buFont typeface="Wingdings" panose="05000000000000000000" pitchFamily="2" charset="2"/>
              <a:buChar char="q"/>
            </a:pPr>
            <a:r>
              <a:rPr lang="en-GB" sz="2400" dirty="0"/>
              <a:t>Few business systems have stable requirements.</a:t>
            </a:r>
          </a:p>
          <a:p>
            <a:pPr algn="just">
              <a:buFont typeface="Wingdings" panose="05000000000000000000" pitchFamily="2" charset="2"/>
              <a:buChar char="q"/>
            </a:pPr>
            <a:r>
              <a:rPr lang="en-GB" sz="2400" dirty="0"/>
              <a:t>The waterfall model is mostly used for large systems engineering projects where a </a:t>
            </a:r>
            <a:r>
              <a:rPr lang="en-GB" sz="2400" b="1" dirty="0"/>
              <a:t>system is developed at several sites</a:t>
            </a:r>
            <a:r>
              <a:rPr lang="en-GB" sz="2400" dirty="0"/>
              <a:t>.</a:t>
            </a:r>
          </a:p>
          <a:p>
            <a:pPr lvl="1" algn="just">
              <a:buFont typeface="Wingdings" panose="05000000000000000000" pitchFamily="2" charset="2"/>
              <a:buChar char="q"/>
            </a:pPr>
            <a:r>
              <a:rPr lang="en-GB" sz="2400" dirty="0"/>
              <a:t>In those circumstances, the plan-driven nature of the waterfall model helps coordinate the work.</a:t>
            </a:r>
            <a:endParaRPr lang="en-US" sz="2400" dirty="0"/>
          </a:p>
        </p:txBody>
      </p:sp>
    </p:spTree>
    <p:extLst>
      <p:ext uri="{BB962C8B-B14F-4D97-AF65-F5344CB8AC3E}">
        <p14:creationId xmlns:p14="http://schemas.microsoft.com/office/powerpoint/2010/main" val="76416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B4EE-D2FF-9F38-1AB2-AEA93914AD7B}"/>
              </a:ext>
            </a:extLst>
          </p:cNvPr>
          <p:cNvSpPr>
            <a:spLocks noGrp="1"/>
          </p:cNvSpPr>
          <p:nvPr>
            <p:ph type="title"/>
          </p:nvPr>
        </p:nvSpPr>
        <p:spPr>
          <a:xfrm>
            <a:off x="1142683" y="76200"/>
            <a:ext cx="7772400" cy="1143000"/>
          </a:xfrm>
        </p:spPr>
        <p:txBody>
          <a:bodyPr/>
          <a:lstStyle/>
          <a:p>
            <a:r>
              <a:rPr lang="en-US" dirty="0"/>
              <a:t>Incremental Development</a:t>
            </a:r>
          </a:p>
        </p:txBody>
      </p:sp>
      <p:sp>
        <p:nvSpPr>
          <p:cNvPr id="3" name="Content Placeholder 2">
            <a:extLst>
              <a:ext uri="{FF2B5EF4-FFF2-40B4-BE49-F238E27FC236}">
                <a16:creationId xmlns:a16="http://schemas.microsoft.com/office/drawing/2014/main" id="{3999BA15-17EC-F020-DB19-425C0921FB62}"/>
              </a:ext>
            </a:extLst>
          </p:cNvPr>
          <p:cNvSpPr>
            <a:spLocks noGrp="1"/>
          </p:cNvSpPr>
          <p:nvPr>
            <p:ph idx="1"/>
          </p:nvPr>
        </p:nvSpPr>
        <p:spPr>
          <a:xfrm>
            <a:off x="1173163" y="1219200"/>
            <a:ext cx="7772400" cy="4876800"/>
          </a:xfrm>
        </p:spPr>
        <p:txBody>
          <a:bodyPr/>
          <a:lstStyle/>
          <a:p>
            <a:pPr>
              <a:buFont typeface="Wingdings" panose="05000000000000000000" pitchFamily="2" charset="2"/>
              <a:buChar char="q"/>
            </a:pPr>
            <a:r>
              <a:rPr lang="en-US" sz="2400" dirty="0"/>
              <a:t>Incremental development is based on the idea of developing an initial implementation, exposing this to user comment and evolving it through several versions until an adequate system has been developed.</a:t>
            </a:r>
          </a:p>
          <a:p>
            <a:pPr>
              <a:buFont typeface="Wingdings" panose="05000000000000000000" pitchFamily="2" charset="2"/>
              <a:buChar char="q"/>
            </a:pPr>
            <a:r>
              <a:rPr lang="en-US" sz="2400" dirty="0"/>
              <a:t>Specification, development, and validation activities are interleaved rather than separate, with rapid feedback across activities. </a:t>
            </a:r>
          </a:p>
          <a:p>
            <a:pPr>
              <a:buFont typeface="Wingdings" panose="05000000000000000000" pitchFamily="2" charset="2"/>
              <a:buChar char="q"/>
            </a:pPr>
            <a:r>
              <a:rPr lang="en-US" sz="2400" dirty="0"/>
              <a:t>Each increment or version of the system incorporates some of the functionality that is needed by the customer. Generally, the early increments of the system include the most important or most urgently required functionality.</a:t>
            </a:r>
          </a:p>
        </p:txBody>
      </p:sp>
    </p:spTree>
    <p:extLst>
      <p:ext uri="{BB962C8B-B14F-4D97-AF65-F5344CB8AC3E}">
        <p14:creationId xmlns:p14="http://schemas.microsoft.com/office/powerpoint/2010/main" val="417512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development </a:t>
            </a:r>
            <a:br>
              <a:rPr lang="en-GB" dirty="0"/>
            </a:br>
            <a:endParaRPr lang="en-US" dirty="0"/>
          </a:p>
        </p:txBody>
      </p:sp>
      <p:pic>
        <p:nvPicPr>
          <p:cNvPr id="4" name="Picture 3" descr="2.2 Incremental-dev.eps"/>
          <p:cNvPicPr>
            <a:picLocks noChangeAspect="1"/>
          </p:cNvPicPr>
          <p:nvPr/>
        </p:nvPicPr>
        <p:blipFill>
          <a:blip r:embed="rId2" cstate="print"/>
          <a:stretch>
            <a:fillRect/>
          </a:stretch>
        </p:blipFill>
        <p:spPr>
          <a:xfrm>
            <a:off x="457200" y="1600200"/>
            <a:ext cx="7517728" cy="4051928"/>
          </a:xfrm>
          <a:prstGeom prst="rect">
            <a:avLst/>
          </a:prstGeom>
        </p:spPr>
      </p:pic>
    </p:spTree>
    <p:extLst>
      <p:ext uri="{BB962C8B-B14F-4D97-AF65-F5344CB8AC3E}">
        <p14:creationId xmlns:p14="http://schemas.microsoft.com/office/powerpoint/2010/main" val="129435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Incremental development benefits</a:t>
            </a:r>
            <a:endParaRPr lang="en-US" sz="3600" dirty="0"/>
          </a:p>
        </p:txBody>
      </p:sp>
      <p:sp>
        <p:nvSpPr>
          <p:cNvPr id="3" name="Content Placeholder 2"/>
          <p:cNvSpPr>
            <a:spLocks noGrp="1"/>
          </p:cNvSpPr>
          <p:nvPr>
            <p:ph idx="1"/>
          </p:nvPr>
        </p:nvSpPr>
        <p:spPr>
          <a:xfrm>
            <a:off x="762000" y="1447800"/>
            <a:ext cx="7772400" cy="4114800"/>
          </a:xfrm>
        </p:spPr>
        <p:txBody>
          <a:bodyPr/>
          <a:lstStyle/>
          <a:p>
            <a:pPr algn="just">
              <a:buFont typeface="Wingdings" panose="05000000000000000000" pitchFamily="2" charset="2"/>
              <a:buChar char="q"/>
            </a:pPr>
            <a:r>
              <a:rPr lang="en-GB" sz="2000" dirty="0"/>
              <a:t>The cost of accommodating changing customer requirements is reduced. </a:t>
            </a:r>
          </a:p>
          <a:p>
            <a:pPr lvl="1" algn="just">
              <a:buFont typeface="Wingdings" panose="05000000000000000000" pitchFamily="2" charset="2"/>
              <a:buChar char="q"/>
            </a:pPr>
            <a:r>
              <a:rPr lang="en-GB" sz="2000" dirty="0"/>
              <a:t>The amount of analysis and documentation that has to be redone is much less than is required with the waterfall model.</a:t>
            </a:r>
          </a:p>
          <a:p>
            <a:pPr algn="just">
              <a:buFont typeface="Wingdings" panose="05000000000000000000" pitchFamily="2" charset="2"/>
              <a:buChar char="q"/>
            </a:pPr>
            <a:r>
              <a:rPr lang="en-GB" sz="2000" dirty="0"/>
              <a:t>It is easier to get customer feedback on the development work that has been done. </a:t>
            </a:r>
          </a:p>
          <a:p>
            <a:pPr lvl="1" algn="just">
              <a:buFont typeface="Wingdings" panose="05000000000000000000" pitchFamily="2" charset="2"/>
              <a:buChar char="q"/>
            </a:pPr>
            <a:r>
              <a:rPr lang="en-GB" sz="2000" dirty="0"/>
              <a:t>Customers can comment on demonstrations of the software and see how much has been implemented. </a:t>
            </a:r>
          </a:p>
          <a:p>
            <a:pPr algn="just">
              <a:buFont typeface="Wingdings" panose="05000000000000000000" pitchFamily="2" charset="2"/>
              <a:buChar char="q"/>
            </a:pPr>
            <a:r>
              <a:rPr lang="en-GB" sz="2000" dirty="0"/>
              <a:t>More rapid delivery and deployment of useful software to the customer is possible. </a:t>
            </a:r>
          </a:p>
          <a:p>
            <a:pPr lvl="1" algn="just">
              <a:buFont typeface="Wingdings" panose="05000000000000000000" pitchFamily="2" charset="2"/>
              <a:buChar char="q"/>
            </a:pPr>
            <a:r>
              <a:rPr lang="en-GB" sz="2000" dirty="0"/>
              <a:t>Customers are able to use and gain value from the software earlier than is possible with a waterfall process.</a:t>
            </a:r>
            <a:endParaRPr lang="en-US" sz="2000" dirty="0"/>
          </a:p>
        </p:txBody>
      </p:sp>
    </p:spTree>
    <p:extLst>
      <p:ext uri="{BB962C8B-B14F-4D97-AF65-F5344CB8AC3E}">
        <p14:creationId xmlns:p14="http://schemas.microsoft.com/office/powerpoint/2010/main" val="310503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Incremental development problems</a:t>
            </a:r>
          </a:p>
        </p:txBody>
      </p:sp>
      <p:sp>
        <p:nvSpPr>
          <p:cNvPr id="3" name="Content Placeholder 2"/>
          <p:cNvSpPr>
            <a:spLocks noGrp="1"/>
          </p:cNvSpPr>
          <p:nvPr>
            <p:ph idx="1"/>
          </p:nvPr>
        </p:nvSpPr>
        <p:spPr>
          <a:xfrm>
            <a:off x="914400" y="1524000"/>
            <a:ext cx="7772400" cy="4114800"/>
          </a:xfrm>
        </p:spPr>
        <p:txBody>
          <a:bodyPr/>
          <a:lstStyle/>
          <a:p>
            <a:pPr algn="just">
              <a:buFont typeface="Wingdings" panose="05000000000000000000" pitchFamily="2" charset="2"/>
              <a:buChar char="q"/>
            </a:pPr>
            <a:r>
              <a:rPr lang="en-GB" sz="2400" dirty="0"/>
              <a:t>The process is not visible. </a:t>
            </a:r>
          </a:p>
          <a:p>
            <a:pPr lvl="1" algn="just">
              <a:buFont typeface="Wingdings" panose="05000000000000000000" pitchFamily="2" charset="2"/>
              <a:buChar char="q"/>
            </a:pPr>
            <a:r>
              <a:rPr lang="en-GB" sz="2400" dirty="0"/>
              <a:t>Managers need regular deliverables to measure progress. If systems are developed quickly, it is not cost-effective to produce documents that reflect every version of the system. </a:t>
            </a:r>
          </a:p>
          <a:p>
            <a:pPr algn="just">
              <a:buFont typeface="Wingdings" panose="05000000000000000000" pitchFamily="2" charset="2"/>
              <a:buChar char="q"/>
            </a:pPr>
            <a:r>
              <a:rPr lang="en-GB" sz="2400" dirty="0"/>
              <a:t>System structure tends to degrade as new increments are added</a:t>
            </a:r>
            <a:r>
              <a:rPr lang="en-GB" sz="2400" i="1" dirty="0"/>
              <a:t>. </a:t>
            </a:r>
            <a:r>
              <a:rPr lang="en-GB" sz="2400" dirty="0"/>
              <a:t> </a:t>
            </a:r>
          </a:p>
          <a:p>
            <a:pPr lvl="1" algn="just">
              <a:buFont typeface="Wingdings" panose="05000000000000000000" pitchFamily="2" charset="2"/>
              <a:buChar char="q"/>
            </a:pPr>
            <a:r>
              <a:rPr lang="en-GB" sz="2400" dirty="0"/>
              <a:t>Unless time and money is spent on refactoring to improve the software, regular change tends to corrupt its structure. Incorporating further software changes becomes increasingly difficult and costly. </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65074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Reuse-oriented software engineering</a:t>
            </a:r>
            <a:endParaRPr lang="en-US" sz="3200" dirty="0"/>
          </a:p>
        </p:txBody>
      </p:sp>
      <p:sp>
        <p:nvSpPr>
          <p:cNvPr id="3" name="Content Placeholder 2"/>
          <p:cNvSpPr>
            <a:spLocks noGrp="1"/>
          </p:cNvSpPr>
          <p:nvPr>
            <p:ph idx="1"/>
          </p:nvPr>
        </p:nvSpPr>
        <p:spPr>
          <a:xfrm>
            <a:off x="838200" y="1524000"/>
            <a:ext cx="7772400" cy="4343400"/>
          </a:xfrm>
        </p:spPr>
        <p:txBody>
          <a:bodyPr/>
          <a:lstStyle/>
          <a:p>
            <a:pPr algn="just">
              <a:buFont typeface="Wingdings" panose="05000000000000000000" pitchFamily="2" charset="2"/>
              <a:buChar char="q"/>
            </a:pPr>
            <a:r>
              <a:rPr lang="en-GB" sz="2400" dirty="0"/>
              <a:t>Based on systematic reuse where systems are integrated from existing components or COTS (Commercial-off-the-shelf) systems. e.g., Word processor</a:t>
            </a:r>
          </a:p>
          <a:p>
            <a:pPr algn="just">
              <a:buFont typeface="Wingdings" panose="05000000000000000000" pitchFamily="2" charset="2"/>
              <a:buChar char="q"/>
            </a:pPr>
            <a:r>
              <a:rPr lang="en-GB" sz="2400" dirty="0"/>
              <a:t>Process stages</a:t>
            </a:r>
          </a:p>
          <a:p>
            <a:pPr lvl="1" algn="just">
              <a:buFont typeface="Wingdings" panose="05000000000000000000" pitchFamily="2" charset="2"/>
              <a:buChar char="q"/>
            </a:pPr>
            <a:r>
              <a:rPr lang="en-GB" sz="2400" dirty="0"/>
              <a:t>Component analysis;</a:t>
            </a:r>
          </a:p>
          <a:p>
            <a:pPr lvl="1" algn="just">
              <a:buFont typeface="Wingdings" panose="05000000000000000000" pitchFamily="2" charset="2"/>
              <a:buChar char="q"/>
            </a:pPr>
            <a:r>
              <a:rPr lang="en-GB" sz="2400" dirty="0"/>
              <a:t>Requirements modification;</a:t>
            </a:r>
          </a:p>
          <a:p>
            <a:pPr lvl="1" algn="just">
              <a:buFont typeface="Wingdings" panose="05000000000000000000" pitchFamily="2" charset="2"/>
              <a:buChar char="q"/>
            </a:pPr>
            <a:r>
              <a:rPr lang="en-GB" sz="2400" dirty="0"/>
              <a:t>System design with reuse;</a:t>
            </a:r>
          </a:p>
          <a:p>
            <a:pPr lvl="1" algn="just">
              <a:buFont typeface="Wingdings" panose="05000000000000000000" pitchFamily="2" charset="2"/>
              <a:buChar char="q"/>
            </a:pPr>
            <a:r>
              <a:rPr lang="en-GB" sz="2400" dirty="0"/>
              <a:t>Development and integration.</a:t>
            </a:r>
          </a:p>
          <a:p>
            <a:pPr algn="just">
              <a:buFont typeface="Wingdings" panose="05000000000000000000" pitchFamily="2" charset="2"/>
              <a:buChar char="q"/>
            </a:pPr>
            <a:r>
              <a:rPr lang="en-GB" sz="2400" dirty="0"/>
              <a:t>Reuse is now the standard approach for building many types of business system</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72028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Reuse-oriented software engineering</a:t>
            </a:r>
            <a:endParaRPr lang="en-US" sz="3600" dirty="0"/>
          </a:p>
        </p:txBody>
      </p:sp>
      <p:pic>
        <p:nvPicPr>
          <p:cNvPr id="4" name="Picture 3" descr="2.3 Reuse_based_process.eps"/>
          <p:cNvPicPr>
            <a:picLocks noChangeAspect="1"/>
          </p:cNvPicPr>
          <p:nvPr/>
        </p:nvPicPr>
        <p:blipFill>
          <a:blip r:embed="rId2" cstate="print"/>
          <a:stretch>
            <a:fillRect/>
          </a:stretch>
        </p:blipFill>
        <p:spPr>
          <a:xfrm>
            <a:off x="457200" y="2667000"/>
            <a:ext cx="8494383" cy="1773312"/>
          </a:xfrm>
          <a:prstGeom prst="rect">
            <a:avLst/>
          </a:prstGeom>
        </p:spPr>
      </p:pic>
      <p:sp>
        <p:nvSpPr>
          <p:cNvPr id="5" name="Rectangle 4"/>
          <p:cNvSpPr/>
          <p:nvPr/>
        </p:nvSpPr>
        <p:spPr>
          <a:xfrm>
            <a:off x="304800" y="1143000"/>
            <a:ext cx="8686800" cy="707886"/>
          </a:xfrm>
          <a:prstGeom prst="rect">
            <a:avLst/>
          </a:prstGeom>
          <a:solidFill>
            <a:schemeClr val="tx2">
              <a:lumMod val="20000"/>
              <a:lumOff val="80000"/>
            </a:schemeClr>
          </a:solidFill>
        </p:spPr>
        <p:txBody>
          <a:bodyPr wrap="square">
            <a:spAutoFit/>
          </a:bodyPr>
          <a:lstStyle/>
          <a:p>
            <a:r>
              <a:rPr lang="en-US" b="1" dirty="0">
                <a:solidFill>
                  <a:srgbClr val="231F20"/>
                </a:solidFill>
                <a:latin typeface="Times-Roman"/>
              </a:rPr>
              <a:t>Component analysis</a:t>
            </a:r>
            <a:r>
              <a:rPr lang="en-US" dirty="0">
                <a:solidFill>
                  <a:srgbClr val="231F20"/>
                </a:solidFill>
                <a:latin typeface="Times-Roman"/>
              </a:rPr>
              <a:t>: </a:t>
            </a:r>
            <a:r>
              <a:rPr lang="en-US" sz="2000" dirty="0">
                <a:solidFill>
                  <a:srgbClr val="231F20"/>
                </a:solidFill>
                <a:latin typeface="Times-Roman"/>
              </a:rPr>
              <a:t>a search is made for components to implement that specification. Usually, there is no exact match</a:t>
            </a:r>
            <a:endParaRPr lang="en-US" sz="2000" dirty="0"/>
          </a:p>
        </p:txBody>
      </p:sp>
      <p:sp>
        <p:nvSpPr>
          <p:cNvPr id="8" name="Rectangle 7"/>
          <p:cNvSpPr/>
          <p:nvPr/>
        </p:nvSpPr>
        <p:spPr>
          <a:xfrm>
            <a:off x="228600" y="1944469"/>
            <a:ext cx="8915400" cy="677108"/>
          </a:xfrm>
          <a:prstGeom prst="rect">
            <a:avLst/>
          </a:prstGeom>
          <a:solidFill>
            <a:schemeClr val="tx2">
              <a:lumMod val="20000"/>
              <a:lumOff val="80000"/>
            </a:schemeClr>
          </a:solidFill>
        </p:spPr>
        <p:txBody>
          <a:bodyPr wrap="square">
            <a:spAutoFit/>
          </a:bodyPr>
          <a:lstStyle/>
          <a:p>
            <a:r>
              <a:rPr lang="en-US" sz="1900" b="1" i="1" dirty="0">
                <a:solidFill>
                  <a:srgbClr val="231F20"/>
                </a:solidFill>
                <a:latin typeface="Times-Italic"/>
              </a:rPr>
              <a:t>Requirements modification</a:t>
            </a:r>
            <a:r>
              <a:rPr lang="en-US" sz="1900" i="1" dirty="0">
                <a:solidFill>
                  <a:srgbClr val="231F20"/>
                </a:solidFill>
                <a:latin typeface="Times-Italic"/>
              </a:rPr>
              <a:t> </a:t>
            </a:r>
            <a:r>
              <a:rPr lang="en-US" sz="1900" dirty="0">
                <a:solidFill>
                  <a:srgbClr val="231F20"/>
                </a:solidFill>
                <a:latin typeface="Times-Roman"/>
              </a:rPr>
              <a:t>the requirements are analyzed using information about the components that have been discovered. They are then modified</a:t>
            </a:r>
            <a:endParaRPr lang="en-US" sz="1900" dirty="0"/>
          </a:p>
        </p:txBody>
      </p:sp>
      <p:sp>
        <p:nvSpPr>
          <p:cNvPr id="9" name="Rectangle 8"/>
          <p:cNvSpPr/>
          <p:nvPr/>
        </p:nvSpPr>
        <p:spPr>
          <a:xfrm>
            <a:off x="152400" y="4495800"/>
            <a:ext cx="8716963" cy="923330"/>
          </a:xfrm>
          <a:prstGeom prst="rect">
            <a:avLst/>
          </a:prstGeom>
          <a:solidFill>
            <a:schemeClr val="tx2">
              <a:lumMod val="20000"/>
              <a:lumOff val="80000"/>
            </a:schemeClr>
          </a:solidFill>
        </p:spPr>
        <p:txBody>
          <a:bodyPr wrap="square">
            <a:spAutoFit/>
          </a:bodyPr>
          <a:lstStyle/>
          <a:p>
            <a:pPr algn="just"/>
            <a:r>
              <a:rPr lang="en-US" b="1" i="1" dirty="0">
                <a:solidFill>
                  <a:srgbClr val="231F20"/>
                </a:solidFill>
                <a:latin typeface="Times-Italic"/>
              </a:rPr>
              <a:t>System design with reuse:</a:t>
            </a:r>
            <a:r>
              <a:rPr lang="en-US" i="1" dirty="0">
                <a:solidFill>
                  <a:srgbClr val="231F20"/>
                </a:solidFill>
                <a:latin typeface="Times-Italic"/>
              </a:rPr>
              <a:t> F</a:t>
            </a:r>
            <a:r>
              <a:rPr lang="en-US" dirty="0">
                <a:solidFill>
                  <a:srgbClr val="231F20"/>
                </a:solidFill>
                <a:latin typeface="Times-Roman"/>
              </a:rPr>
              <a:t>ramework of the system is designed, or an existing framework is reused by </a:t>
            </a:r>
            <a:r>
              <a:rPr lang="en-US" dirty="0"/>
              <a:t>taking into account the components that are reused. if reusable components not available, some new software may have to be designed</a:t>
            </a:r>
          </a:p>
        </p:txBody>
      </p:sp>
      <p:sp>
        <p:nvSpPr>
          <p:cNvPr id="10" name="Rectangle 9"/>
          <p:cNvSpPr/>
          <p:nvPr/>
        </p:nvSpPr>
        <p:spPr>
          <a:xfrm>
            <a:off x="122238" y="5486400"/>
            <a:ext cx="8823326" cy="923330"/>
          </a:xfrm>
          <a:prstGeom prst="rect">
            <a:avLst/>
          </a:prstGeom>
          <a:solidFill>
            <a:schemeClr val="tx2">
              <a:lumMod val="20000"/>
              <a:lumOff val="80000"/>
            </a:schemeClr>
          </a:solidFill>
        </p:spPr>
        <p:txBody>
          <a:bodyPr wrap="square">
            <a:spAutoFit/>
          </a:bodyPr>
          <a:lstStyle/>
          <a:p>
            <a:r>
              <a:rPr lang="en-US" b="1" i="1" dirty="0">
                <a:solidFill>
                  <a:srgbClr val="231F20"/>
                </a:solidFill>
                <a:latin typeface="Times-Italic"/>
              </a:rPr>
              <a:t>Development and integration</a:t>
            </a:r>
            <a:r>
              <a:rPr lang="en-US" i="1" dirty="0">
                <a:solidFill>
                  <a:srgbClr val="231F20"/>
                </a:solidFill>
                <a:latin typeface="Times-Italic"/>
              </a:rPr>
              <a:t> </a:t>
            </a:r>
            <a:r>
              <a:rPr lang="en-US" dirty="0">
                <a:solidFill>
                  <a:srgbClr val="231F20"/>
                </a:solidFill>
                <a:latin typeface="Times-Roman"/>
              </a:rPr>
              <a:t>Software that cannot be externally procured is</a:t>
            </a:r>
          </a:p>
          <a:p>
            <a:r>
              <a:rPr lang="en-US" dirty="0">
                <a:solidFill>
                  <a:srgbClr val="231F20"/>
                </a:solidFill>
                <a:latin typeface="Times-Roman"/>
              </a:rPr>
              <a:t>developed, and the components and COTS systems are integrated to create the</a:t>
            </a:r>
          </a:p>
          <a:p>
            <a:r>
              <a:rPr lang="en-US" dirty="0">
                <a:solidFill>
                  <a:srgbClr val="231F20"/>
                </a:solidFill>
                <a:latin typeface="Times-Roman"/>
              </a:rPr>
              <a:t>new system.</a:t>
            </a:r>
            <a:endParaRPr lang="en-US" dirty="0"/>
          </a:p>
        </p:txBody>
      </p:sp>
    </p:spTree>
    <p:extLst>
      <p:ext uri="{BB962C8B-B14F-4D97-AF65-F5344CB8AC3E}">
        <p14:creationId xmlns:p14="http://schemas.microsoft.com/office/powerpoint/2010/main" val="65073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371600"/>
          </a:xfrm>
        </p:spPr>
        <p:txBody>
          <a:bodyPr/>
          <a:lstStyle/>
          <a:p>
            <a:r>
              <a:rPr lang="en-US" dirty="0"/>
              <a:t>Types of software component that may be used in a reuse-oriented process:</a:t>
            </a:r>
          </a:p>
        </p:txBody>
      </p:sp>
      <p:sp>
        <p:nvSpPr>
          <p:cNvPr id="3" name="Content Placeholder 2"/>
          <p:cNvSpPr>
            <a:spLocks noGrp="1"/>
          </p:cNvSpPr>
          <p:nvPr>
            <p:ph idx="1"/>
          </p:nvPr>
        </p:nvSpPr>
        <p:spPr>
          <a:xfrm>
            <a:off x="990600" y="2286000"/>
            <a:ext cx="7772400" cy="4114800"/>
          </a:xfrm>
        </p:spPr>
        <p:txBody>
          <a:bodyPr/>
          <a:lstStyle/>
          <a:p>
            <a:pPr>
              <a:buFont typeface="Wingdings" panose="05000000000000000000" pitchFamily="2" charset="2"/>
              <a:buChar char="q"/>
            </a:pPr>
            <a:r>
              <a:rPr lang="en-GB" sz="2800" dirty="0"/>
              <a:t>Web services that are developed according to service standards and which are available for remote invocation. </a:t>
            </a:r>
          </a:p>
          <a:p>
            <a:pPr>
              <a:buFont typeface="Wingdings" panose="05000000000000000000" pitchFamily="2" charset="2"/>
              <a:buChar char="q"/>
            </a:pPr>
            <a:r>
              <a:rPr lang="en-GB" sz="2800" dirty="0"/>
              <a:t>Collections of objects that are developed as a package to be integrated with a component framework.</a:t>
            </a:r>
          </a:p>
          <a:p>
            <a:pPr>
              <a:buFont typeface="Wingdings" panose="05000000000000000000" pitchFamily="2" charset="2"/>
              <a:buChar char="q"/>
            </a:pPr>
            <a:r>
              <a:rPr lang="en-GB" sz="2800" dirty="0"/>
              <a:t>Stand-alone software systems (COTS) that are configured for use in a particular environment.</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187072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GB" dirty="0"/>
              <a:t>Reuse-oriented SE: Pros and cons</a:t>
            </a:r>
            <a:endParaRPr lang="en-US" dirty="0"/>
          </a:p>
        </p:txBody>
      </p:sp>
      <p:sp>
        <p:nvSpPr>
          <p:cNvPr id="3" name="Content Placeholder 2"/>
          <p:cNvSpPr>
            <a:spLocks noGrp="1"/>
          </p:cNvSpPr>
          <p:nvPr>
            <p:ph idx="1"/>
          </p:nvPr>
        </p:nvSpPr>
        <p:spPr>
          <a:xfrm>
            <a:off x="1173163" y="1752600"/>
            <a:ext cx="7772400" cy="4114800"/>
          </a:xfrm>
        </p:spPr>
        <p:txBody>
          <a:bodyPr/>
          <a:lstStyle/>
          <a:p>
            <a:pPr algn="just">
              <a:buFont typeface="Wingdings" panose="05000000000000000000" pitchFamily="2" charset="2"/>
              <a:buChar char="q"/>
            </a:pPr>
            <a:r>
              <a:rPr lang="en-US" sz="2400" dirty="0"/>
              <a:t>Reduce the amount of software to be developed and so reducing cost and risks</a:t>
            </a:r>
          </a:p>
          <a:p>
            <a:pPr algn="just">
              <a:buFont typeface="Wingdings" panose="05000000000000000000" pitchFamily="2" charset="2"/>
              <a:buChar char="q"/>
            </a:pPr>
            <a:r>
              <a:rPr lang="en-US" sz="2400" dirty="0"/>
              <a:t>It usually also leads to faster delivery of the software.</a:t>
            </a:r>
          </a:p>
          <a:p>
            <a:pPr algn="just">
              <a:buFont typeface="Wingdings" panose="05000000000000000000" pitchFamily="2" charset="2"/>
              <a:buChar char="q"/>
            </a:pPr>
            <a:r>
              <a:rPr lang="en-US" sz="2400" dirty="0"/>
              <a:t>Requirements compromises are inevitable, and this may lead to a system that does not meet the real needs of users</a:t>
            </a:r>
          </a:p>
          <a:p>
            <a:pPr algn="just">
              <a:buFont typeface="Wingdings" panose="05000000000000000000" pitchFamily="2" charset="2"/>
              <a:buChar char="q"/>
            </a:pPr>
            <a:r>
              <a:rPr lang="en-US" sz="2400" dirty="0"/>
              <a:t>Some control over the system evolution is lost as new versions of the reusable components are not under the control of the organization using them.</a:t>
            </a:r>
          </a:p>
        </p:txBody>
      </p:sp>
    </p:spTree>
    <p:extLst>
      <p:ext uri="{BB962C8B-B14F-4D97-AF65-F5344CB8AC3E}">
        <p14:creationId xmlns:p14="http://schemas.microsoft.com/office/powerpoint/2010/main" val="251740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81000"/>
            <a:ext cx="7772400" cy="1143000"/>
          </a:xfrm>
        </p:spPr>
        <p:txBody>
          <a:bodyPr/>
          <a:lstStyle/>
          <a:p>
            <a:r>
              <a:rPr lang="en-US" dirty="0"/>
              <a:t>Software Process activities</a:t>
            </a:r>
          </a:p>
        </p:txBody>
      </p:sp>
      <p:sp>
        <p:nvSpPr>
          <p:cNvPr id="3" name="Content Placeholder 2"/>
          <p:cNvSpPr>
            <a:spLocks noGrp="1"/>
          </p:cNvSpPr>
          <p:nvPr>
            <p:ph idx="1"/>
          </p:nvPr>
        </p:nvSpPr>
        <p:spPr>
          <a:xfrm>
            <a:off x="1173163" y="1676400"/>
            <a:ext cx="7772400" cy="4114800"/>
          </a:xfrm>
        </p:spPr>
        <p:txBody>
          <a:bodyPr/>
          <a:lstStyle/>
          <a:p>
            <a:pPr algn="just">
              <a:buFont typeface="Wingdings" panose="05000000000000000000" pitchFamily="2" charset="2"/>
              <a:buChar char="q"/>
            </a:pPr>
            <a:r>
              <a:rPr lang="en-GB" sz="2400" dirty="0"/>
              <a:t>Real software processes are sequences of </a:t>
            </a:r>
            <a:r>
              <a:rPr lang="en-GB" sz="2400" b="1" dirty="0"/>
              <a:t>technical</a:t>
            </a:r>
            <a:r>
              <a:rPr lang="en-GB" sz="2400" dirty="0"/>
              <a:t>, </a:t>
            </a:r>
            <a:r>
              <a:rPr lang="en-GB" sz="2400" b="1" dirty="0"/>
              <a:t>collaborative</a:t>
            </a:r>
            <a:r>
              <a:rPr lang="en-GB" sz="2400" dirty="0"/>
              <a:t> and </a:t>
            </a:r>
            <a:r>
              <a:rPr lang="en-GB" sz="2400" b="1" dirty="0"/>
              <a:t>managerial</a:t>
            </a:r>
            <a:r>
              <a:rPr lang="en-GB" sz="2400" dirty="0"/>
              <a:t> activities with the overall goal of specifying, designing, implementing and testing a software system. </a:t>
            </a:r>
          </a:p>
          <a:p>
            <a:pPr algn="just">
              <a:buFont typeface="Wingdings" panose="05000000000000000000" pitchFamily="2" charset="2"/>
              <a:buChar char="q"/>
            </a:pPr>
            <a:r>
              <a:rPr lang="en-GB" sz="2400" dirty="0"/>
              <a:t>The four basic process activities of </a:t>
            </a:r>
            <a:r>
              <a:rPr lang="en-GB" sz="2400" b="1" dirty="0"/>
              <a:t>specification</a:t>
            </a:r>
            <a:r>
              <a:rPr lang="en-GB" sz="2400" dirty="0"/>
              <a:t>, </a:t>
            </a:r>
            <a:r>
              <a:rPr lang="en-GB" sz="2400" b="1" dirty="0"/>
              <a:t>development</a:t>
            </a:r>
            <a:r>
              <a:rPr lang="en-GB" sz="2400" dirty="0"/>
              <a:t>, </a:t>
            </a:r>
            <a:r>
              <a:rPr lang="en-GB" sz="2400" b="1" dirty="0"/>
              <a:t>validation</a:t>
            </a:r>
            <a:r>
              <a:rPr lang="en-GB" sz="2400" dirty="0"/>
              <a:t> and </a:t>
            </a:r>
            <a:r>
              <a:rPr lang="en-GB" sz="2400" b="1" dirty="0"/>
              <a:t>evolution</a:t>
            </a:r>
            <a:r>
              <a:rPr lang="en-GB" sz="2400" dirty="0"/>
              <a:t> are organized differently in different development processes. In the waterfall model, they are organized in sequence, whereas in incremental development they are inter-leaved.</a:t>
            </a:r>
            <a:endParaRPr lang="en-US" sz="2400" dirty="0"/>
          </a:p>
        </p:txBody>
      </p:sp>
    </p:spTree>
    <p:extLst>
      <p:ext uri="{BB962C8B-B14F-4D97-AF65-F5344CB8AC3E}">
        <p14:creationId xmlns:p14="http://schemas.microsoft.com/office/powerpoint/2010/main" val="239625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GB" dirty="0"/>
              <a:t>Software specification</a:t>
            </a:r>
            <a:endParaRPr lang="en-US" dirty="0"/>
          </a:p>
        </p:txBody>
      </p:sp>
      <p:sp>
        <p:nvSpPr>
          <p:cNvPr id="3" name="Content Placeholder 2"/>
          <p:cNvSpPr>
            <a:spLocks noGrp="1"/>
          </p:cNvSpPr>
          <p:nvPr>
            <p:ph idx="1"/>
          </p:nvPr>
        </p:nvSpPr>
        <p:spPr>
          <a:xfrm>
            <a:off x="1127078" y="886239"/>
            <a:ext cx="7772400" cy="4495800"/>
          </a:xfrm>
        </p:spPr>
        <p:txBody>
          <a:bodyPr/>
          <a:lstStyle/>
          <a:p>
            <a:pPr algn="just">
              <a:buFont typeface="Wingdings" panose="05000000000000000000" pitchFamily="2" charset="2"/>
              <a:buChar char="q"/>
            </a:pPr>
            <a:r>
              <a:rPr lang="en-US" sz="1800" dirty="0"/>
              <a:t>Software specification or requirements engineering is the process of understanding and defining what services are required from the system and identifying the constraints on the system’s operation and development</a:t>
            </a:r>
            <a:r>
              <a:rPr lang="en-GB" sz="1800" dirty="0"/>
              <a:t>.</a:t>
            </a:r>
          </a:p>
          <a:p>
            <a:pPr algn="just">
              <a:buFont typeface="Wingdings" panose="05000000000000000000" pitchFamily="2" charset="2"/>
              <a:buChar char="q"/>
            </a:pPr>
            <a:r>
              <a:rPr lang="en-GB" sz="1600" dirty="0"/>
              <a:t>Requirements engineering process</a:t>
            </a:r>
          </a:p>
          <a:p>
            <a:pPr lvl="1" algn="just">
              <a:buFont typeface="Wingdings" panose="05000000000000000000" pitchFamily="2" charset="2"/>
              <a:buChar char="q"/>
            </a:pPr>
            <a:r>
              <a:rPr lang="en-GB" sz="1600" dirty="0"/>
              <a:t>Feasibility study</a:t>
            </a:r>
          </a:p>
          <a:p>
            <a:pPr lvl="2" algn="just">
              <a:buFont typeface="Wingdings" panose="05000000000000000000" pitchFamily="2" charset="2"/>
              <a:buChar char="q"/>
            </a:pPr>
            <a:r>
              <a:rPr lang="en-GB" sz="1600" dirty="0"/>
              <a:t>Is it technically and financially feasible to build the system?</a:t>
            </a:r>
          </a:p>
          <a:p>
            <a:pPr lvl="1" algn="just">
              <a:buFont typeface="Wingdings" panose="05000000000000000000" pitchFamily="2" charset="2"/>
              <a:buChar char="q"/>
            </a:pPr>
            <a:r>
              <a:rPr lang="en-GB" sz="1600" dirty="0"/>
              <a:t>Requirements elicitation and analysis</a:t>
            </a:r>
          </a:p>
          <a:p>
            <a:pPr lvl="2" algn="just">
              <a:buFont typeface="Wingdings" panose="05000000000000000000" pitchFamily="2" charset="2"/>
              <a:buChar char="q"/>
            </a:pPr>
            <a:r>
              <a:rPr lang="en-GB" sz="1600" dirty="0"/>
              <a:t>What do the system stakeholders require or expect from the system? </a:t>
            </a:r>
            <a:r>
              <a:rPr lang="en-US" sz="1600" dirty="0"/>
              <a:t>This may involve the development of one or more system models and prototypes. These help you understand the system to be specified</a:t>
            </a:r>
            <a:endParaRPr lang="en-GB" sz="1600" dirty="0"/>
          </a:p>
          <a:p>
            <a:pPr lvl="1" algn="just">
              <a:buFont typeface="Wingdings" panose="05000000000000000000" pitchFamily="2" charset="2"/>
              <a:buChar char="q"/>
            </a:pPr>
            <a:r>
              <a:rPr lang="en-GB" sz="1600" dirty="0"/>
              <a:t>Requirements specification	</a:t>
            </a:r>
          </a:p>
          <a:p>
            <a:pPr lvl="2" algn="just">
              <a:buFont typeface="Wingdings" panose="05000000000000000000" pitchFamily="2" charset="2"/>
              <a:buChar char="q"/>
            </a:pPr>
            <a:r>
              <a:rPr lang="en-GB" sz="1600" dirty="0"/>
              <a:t>Defining the requirements in detail. </a:t>
            </a:r>
            <a:r>
              <a:rPr lang="en-US" sz="1600" b="1" dirty="0"/>
              <a:t>User requirements </a:t>
            </a:r>
            <a:r>
              <a:rPr lang="en-US" sz="1600" dirty="0"/>
              <a:t>are abstract statements of the system requirements for the customer and end-user of the system; </a:t>
            </a:r>
            <a:r>
              <a:rPr lang="en-US" sz="1600" b="1" dirty="0"/>
              <a:t>system requirements </a:t>
            </a:r>
            <a:r>
              <a:rPr lang="en-US" sz="1600" dirty="0"/>
              <a:t>are a more detailed description of the functionality to be provided.</a:t>
            </a:r>
            <a:endParaRPr lang="en-GB" sz="1600" dirty="0"/>
          </a:p>
          <a:p>
            <a:pPr lvl="1" algn="just">
              <a:buFont typeface="Wingdings" panose="05000000000000000000" pitchFamily="2" charset="2"/>
              <a:buChar char="q"/>
            </a:pPr>
            <a:r>
              <a:rPr lang="en-GB" sz="1600" dirty="0"/>
              <a:t>Requirements validation</a:t>
            </a:r>
          </a:p>
          <a:p>
            <a:pPr lvl="2" algn="just">
              <a:buFont typeface="Wingdings" panose="05000000000000000000" pitchFamily="2" charset="2"/>
              <a:buChar char="q"/>
            </a:pPr>
            <a:r>
              <a:rPr lang="en-GB" sz="1600" dirty="0"/>
              <a:t>Checking the requirements for consistency and completeness. </a:t>
            </a:r>
            <a:r>
              <a:rPr lang="en-US" sz="1600" dirty="0"/>
              <a:t>During this process, errors in the requirements document are inevitably discovered.</a:t>
            </a:r>
            <a:endParaRPr lang="en-GB" sz="1600" dirty="0"/>
          </a:p>
          <a:p>
            <a:pPr algn="just">
              <a:buFont typeface="Wingdings" panose="05000000000000000000" pitchFamily="2" charset="2"/>
              <a:buChar char="q"/>
            </a:pPr>
            <a:endParaRPr lang="en-US" sz="2000" dirty="0"/>
          </a:p>
        </p:txBody>
      </p:sp>
      <p:sp>
        <p:nvSpPr>
          <p:cNvPr id="4" name="Rounded Rectangle 3"/>
          <p:cNvSpPr/>
          <p:nvPr/>
        </p:nvSpPr>
        <p:spPr bwMode="auto">
          <a:xfrm>
            <a:off x="304800" y="228600"/>
            <a:ext cx="838200" cy="12954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anose="02020603050405020304" pitchFamily="18" charset="0"/>
              </a:rPr>
              <a:t>Feasibility study</a:t>
            </a:r>
          </a:p>
        </p:txBody>
      </p:sp>
      <p:sp>
        <p:nvSpPr>
          <p:cNvPr id="5" name="Rounded Rectangle 4"/>
          <p:cNvSpPr/>
          <p:nvPr/>
        </p:nvSpPr>
        <p:spPr bwMode="auto">
          <a:xfrm>
            <a:off x="304800" y="1828800"/>
            <a:ext cx="822278"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Elicit</a:t>
            </a:r>
            <a:r>
              <a:rPr kumimoji="0" lang="en-US" b="0" i="0" u="none" strike="noStrike" cap="none" normalizeH="0" dirty="0">
                <a:ln>
                  <a:noFill/>
                </a:ln>
                <a:solidFill>
                  <a:schemeClr val="tx1"/>
                </a:solidFill>
                <a:effectLst/>
                <a:latin typeface="Times New Roman" panose="02020603050405020304" pitchFamily="18" charset="0"/>
              </a:rPr>
              <a:t> and analysis</a:t>
            </a:r>
            <a:endParaRPr kumimoji="0" lang="en-US" b="0" i="0" u="none" strike="noStrike" cap="none" normalizeH="0" baseline="0" dirty="0">
              <a:ln>
                <a:noFill/>
              </a:ln>
              <a:solidFill>
                <a:schemeClr val="tx1"/>
              </a:solidFill>
              <a:effectLst/>
              <a:latin typeface="Times New Roman" panose="02020603050405020304" pitchFamily="18" charset="0"/>
            </a:endParaRPr>
          </a:p>
        </p:txBody>
      </p:sp>
      <p:sp>
        <p:nvSpPr>
          <p:cNvPr id="6" name="Rounded Rectangle 5"/>
          <p:cNvSpPr/>
          <p:nvPr/>
        </p:nvSpPr>
        <p:spPr bwMode="auto">
          <a:xfrm>
            <a:off x="304800" y="3505200"/>
            <a:ext cx="838200" cy="16002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Specification</a:t>
            </a:r>
          </a:p>
        </p:txBody>
      </p:sp>
      <p:sp>
        <p:nvSpPr>
          <p:cNvPr id="7" name="Rounded Rectangle 6"/>
          <p:cNvSpPr/>
          <p:nvPr/>
        </p:nvSpPr>
        <p:spPr bwMode="auto">
          <a:xfrm>
            <a:off x="304800" y="5257800"/>
            <a:ext cx="838200"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Validation</a:t>
            </a:r>
          </a:p>
        </p:txBody>
      </p:sp>
      <p:cxnSp>
        <p:nvCxnSpPr>
          <p:cNvPr id="9" name="Straight Arrow Connector 8"/>
          <p:cNvCxnSpPr/>
          <p:nvPr/>
        </p:nvCxnSpPr>
        <p:spPr bwMode="auto">
          <a:xfrm>
            <a:off x="1219200" y="457200"/>
            <a:ext cx="1" cy="6019800"/>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991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requirements engineering process</a:t>
            </a:r>
            <a:br>
              <a:rPr lang="en-GB" sz="3600" dirty="0"/>
            </a:br>
            <a:endParaRPr lang="en-US" sz="3600" dirty="0"/>
          </a:p>
        </p:txBody>
      </p:sp>
      <p:pic>
        <p:nvPicPr>
          <p:cNvPr id="4" name="Picture 3" descr="2.4 RE-process.eps"/>
          <p:cNvPicPr>
            <a:picLocks noChangeAspect="1"/>
          </p:cNvPicPr>
          <p:nvPr/>
        </p:nvPicPr>
        <p:blipFill>
          <a:blip r:embed="rId2" cstate="print"/>
          <a:stretch>
            <a:fillRect/>
          </a:stretch>
        </p:blipFill>
        <p:spPr>
          <a:xfrm>
            <a:off x="784268" y="2084840"/>
            <a:ext cx="7395542" cy="3859548"/>
          </a:xfrm>
          <a:prstGeom prst="rect">
            <a:avLst/>
          </a:prstGeom>
        </p:spPr>
      </p:pic>
    </p:spTree>
    <p:extLst>
      <p:ext uri="{BB962C8B-B14F-4D97-AF65-F5344CB8AC3E}">
        <p14:creationId xmlns:p14="http://schemas.microsoft.com/office/powerpoint/2010/main" val="79846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Software design and implementation</a:t>
            </a:r>
            <a:endParaRPr lang="en-US" sz="4000" dirty="0"/>
          </a:p>
        </p:txBody>
      </p:sp>
      <p:sp>
        <p:nvSpPr>
          <p:cNvPr id="3" name="Content Placeholder 2"/>
          <p:cNvSpPr>
            <a:spLocks noGrp="1"/>
          </p:cNvSpPr>
          <p:nvPr>
            <p:ph idx="1"/>
          </p:nvPr>
        </p:nvSpPr>
        <p:spPr>
          <a:xfrm>
            <a:off x="685800" y="1600200"/>
            <a:ext cx="8259763" cy="4267200"/>
          </a:xfrm>
        </p:spPr>
        <p:txBody>
          <a:bodyPr/>
          <a:lstStyle/>
          <a:p>
            <a:pPr algn="just">
              <a:buFont typeface="Wingdings" panose="05000000000000000000" pitchFamily="2" charset="2"/>
              <a:buChar char="q"/>
            </a:pPr>
            <a:r>
              <a:rPr lang="en-GB" sz="2400" dirty="0"/>
              <a:t>The process of converting the system specification into an executable system.</a:t>
            </a:r>
          </a:p>
          <a:p>
            <a:pPr algn="just">
              <a:buFont typeface="Wingdings" panose="05000000000000000000" pitchFamily="2" charset="2"/>
              <a:buChar char="q"/>
            </a:pPr>
            <a:r>
              <a:rPr lang="en-GB" sz="2400" dirty="0"/>
              <a:t>Software design</a:t>
            </a:r>
          </a:p>
          <a:p>
            <a:pPr lvl="1" algn="just">
              <a:buFont typeface="Wingdings" panose="05000000000000000000" pitchFamily="2" charset="2"/>
              <a:buChar char="q"/>
            </a:pPr>
            <a:r>
              <a:rPr lang="en-GB" sz="2400" dirty="0"/>
              <a:t>Design a software structure that realises the specification; </a:t>
            </a:r>
            <a:r>
              <a:rPr lang="en-US" sz="2400" dirty="0"/>
              <a:t>Designers do not arrive at a finished design immediately but develop the design iteratively.</a:t>
            </a:r>
            <a:endParaRPr lang="en-GB" sz="2400" dirty="0"/>
          </a:p>
          <a:p>
            <a:pPr algn="just">
              <a:buFont typeface="Wingdings" panose="05000000000000000000" pitchFamily="2" charset="2"/>
              <a:buChar char="q"/>
            </a:pPr>
            <a:r>
              <a:rPr lang="en-GB" sz="2400" dirty="0"/>
              <a:t>Implementation</a:t>
            </a:r>
          </a:p>
          <a:p>
            <a:pPr lvl="1" algn="just">
              <a:buFont typeface="Wingdings" panose="05000000000000000000" pitchFamily="2" charset="2"/>
              <a:buChar char="q"/>
            </a:pPr>
            <a:r>
              <a:rPr lang="en-GB" sz="2400" dirty="0"/>
              <a:t>Translate this structure into an executable program;</a:t>
            </a:r>
          </a:p>
          <a:p>
            <a:pPr algn="just">
              <a:buFont typeface="Wingdings" panose="05000000000000000000" pitchFamily="2" charset="2"/>
              <a:buChar char="q"/>
            </a:pPr>
            <a:r>
              <a:rPr lang="en-GB" sz="2400" dirty="0"/>
              <a:t>The activities of design and implementation are closely related and may be inter-leaved.</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20521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A general model of the design process </a:t>
            </a:r>
            <a:br>
              <a:rPr lang="en-GB" sz="3600" dirty="0"/>
            </a:br>
            <a:endParaRPr lang="en-US" sz="3600" dirty="0"/>
          </a:p>
        </p:txBody>
      </p:sp>
      <p:pic>
        <p:nvPicPr>
          <p:cNvPr id="4" name="Picture 3" descr="2.5 Design-process.eps"/>
          <p:cNvPicPr>
            <a:picLocks noChangeAspect="1"/>
          </p:cNvPicPr>
          <p:nvPr/>
        </p:nvPicPr>
        <p:blipFill>
          <a:blip r:embed="rId2" cstate="print"/>
          <a:stretch>
            <a:fillRect/>
          </a:stretch>
        </p:blipFill>
        <p:spPr>
          <a:xfrm>
            <a:off x="1314243" y="1638390"/>
            <a:ext cx="6211739" cy="4638099"/>
          </a:xfrm>
          <a:prstGeom prst="rect">
            <a:avLst/>
          </a:prstGeom>
        </p:spPr>
      </p:pic>
    </p:spTree>
    <p:extLst>
      <p:ext uri="{BB962C8B-B14F-4D97-AF65-F5344CB8AC3E}">
        <p14:creationId xmlns:p14="http://schemas.microsoft.com/office/powerpoint/2010/main" val="542306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2049-EBCE-48BB-96F7-1F502B3A4904}"/>
              </a:ext>
            </a:extLst>
          </p:cNvPr>
          <p:cNvSpPr>
            <a:spLocks noGrp="1"/>
          </p:cNvSpPr>
          <p:nvPr>
            <p:ph type="title"/>
          </p:nvPr>
        </p:nvSpPr>
        <p:spPr/>
        <p:txBody>
          <a:bodyPr/>
          <a:lstStyle/>
          <a:p>
            <a:r>
              <a:rPr lang="en-US" dirty="0"/>
              <a:t>Design inputs</a:t>
            </a:r>
          </a:p>
        </p:txBody>
      </p:sp>
      <p:sp>
        <p:nvSpPr>
          <p:cNvPr id="3" name="Content Placeholder 2">
            <a:extLst>
              <a:ext uri="{FF2B5EF4-FFF2-40B4-BE49-F238E27FC236}">
                <a16:creationId xmlns:a16="http://schemas.microsoft.com/office/drawing/2014/main" id="{7A01CA4A-E1DB-4D23-A762-FD5FD1AD04B0}"/>
              </a:ext>
            </a:extLst>
          </p:cNvPr>
          <p:cNvSpPr>
            <a:spLocks noGrp="1"/>
          </p:cNvSpPr>
          <p:nvPr>
            <p:ph idx="1"/>
          </p:nvPr>
        </p:nvSpPr>
        <p:spPr>
          <a:xfrm>
            <a:off x="1166537" y="1524000"/>
            <a:ext cx="7772400" cy="4114800"/>
          </a:xfrm>
        </p:spPr>
        <p:txBody>
          <a:bodyPr/>
          <a:lstStyle/>
          <a:p>
            <a:pPr marL="0" indent="0">
              <a:buNone/>
            </a:pPr>
            <a:r>
              <a:rPr lang="en-US" sz="2000" b="1" dirty="0"/>
              <a:t>Platform Information</a:t>
            </a:r>
          </a:p>
          <a:p>
            <a:pPr>
              <a:buFont typeface="Wingdings" panose="05000000000000000000" pitchFamily="2" charset="2"/>
              <a:buChar char="q"/>
            </a:pPr>
            <a:r>
              <a:rPr lang="en-US" sz="2000" dirty="0"/>
              <a:t>the environment in which the software will execute. Information about this platform is an essential input to the design process, as designers must decide how best to integrate it with the software’s environment.</a:t>
            </a:r>
          </a:p>
          <a:p>
            <a:pPr marL="0" indent="0">
              <a:buNone/>
            </a:pPr>
            <a:r>
              <a:rPr lang="en-US" sz="2000" b="1" dirty="0"/>
              <a:t>Requirement Specification</a:t>
            </a:r>
          </a:p>
          <a:p>
            <a:pPr>
              <a:buFont typeface="Wingdings" panose="05000000000000000000" pitchFamily="2" charset="2"/>
              <a:buChar char="q"/>
            </a:pPr>
            <a:r>
              <a:rPr lang="en-US" sz="2000" dirty="0"/>
              <a:t>The requirements specification is a description of the functionality the software must provide and its performance and dependability requirements.</a:t>
            </a:r>
          </a:p>
          <a:p>
            <a:pPr marL="0" indent="0">
              <a:buNone/>
            </a:pPr>
            <a:r>
              <a:rPr lang="en-US" sz="2000" b="1" dirty="0"/>
              <a:t>Data Description</a:t>
            </a:r>
          </a:p>
          <a:p>
            <a:pPr>
              <a:buFont typeface="Wingdings" panose="05000000000000000000" pitchFamily="2" charset="2"/>
              <a:buChar char="q"/>
            </a:pPr>
            <a:r>
              <a:rPr lang="en-US" sz="2000" dirty="0"/>
              <a:t>If the system is to process existing data, then the description of that data may be included in the platform specification; otherwise, the data description must be an input to the design process so that the system data organization to be defined.</a:t>
            </a:r>
          </a:p>
        </p:txBody>
      </p:sp>
    </p:spTree>
    <p:extLst>
      <p:ext uri="{BB962C8B-B14F-4D97-AF65-F5344CB8AC3E}">
        <p14:creationId xmlns:p14="http://schemas.microsoft.com/office/powerpoint/2010/main" val="345228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90600" y="457200"/>
            <a:ext cx="7924800" cy="5940088"/>
          </a:xfrm>
          <a:prstGeom prst="rect">
            <a:avLst/>
          </a:prstGeom>
        </p:spPr>
        <p:txBody>
          <a:bodyPr wrap="square">
            <a:spAutoFit/>
          </a:bodyPr>
          <a:lstStyle/>
          <a:p>
            <a:pPr algn="just"/>
            <a:r>
              <a:rPr lang="en-GB" sz="2000" b="1" i="1" dirty="0"/>
              <a:t>Architectural design</a:t>
            </a:r>
            <a:r>
              <a:rPr lang="en-GB" sz="2000" i="1" dirty="0"/>
              <a:t>,</a:t>
            </a:r>
            <a:r>
              <a:rPr lang="en-GB" sz="2000" dirty="0"/>
              <a:t> where you identify the overall structure of the system, the principal components (sometimes called sub-systems or modules), their relationships and how they are distributed.</a:t>
            </a:r>
          </a:p>
          <a:p>
            <a:pPr algn="just"/>
            <a:endParaRPr lang="en-GB" sz="2000" dirty="0"/>
          </a:p>
          <a:p>
            <a:pPr algn="just"/>
            <a:r>
              <a:rPr lang="en-GB" sz="2000" b="1" i="1" dirty="0"/>
              <a:t>Interface design,</a:t>
            </a:r>
            <a:r>
              <a:rPr lang="en-GB" sz="2000" dirty="0"/>
              <a:t> where you define the interfaces between system components.</a:t>
            </a:r>
          </a:p>
          <a:p>
            <a:pPr algn="just"/>
            <a:endParaRPr lang="en-GB" sz="2000" dirty="0"/>
          </a:p>
          <a:p>
            <a:pPr algn="just"/>
            <a:r>
              <a:rPr lang="en-GB" sz="2000" b="1" i="1" dirty="0"/>
              <a:t>Component design,</a:t>
            </a:r>
            <a:r>
              <a:rPr lang="en-GB" sz="2000" i="1" dirty="0"/>
              <a:t> </a:t>
            </a:r>
            <a:r>
              <a:rPr lang="en-GB" sz="2000" dirty="0"/>
              <a:t>where you take each system component and design how it will operate. </a:t>
            </a:r>
            <a:r>
              <a:rPr lang="en-US" sz="2000" dirty="0"/>
              <a:t>This may be a simple statement of the expected functionality to be implemented or may be a list of changes to be made to a reusable component or a detailed design model.</a:t>
            </a:r>
            <a:endParaRPr lang="en-GB" sz="2000" dirty="0"/>
          </a:p>
          <a:p>
            <a:pPr algn="just"/>
            <a:endParaRPr lang="en-GB" sz="2000" dirty="0"/>
          </a:p>
          <a:p>
            <a:pPr algn="just"/>
            <a:r>
              <a:rPr lang="en-GB" sz="2000" b="1" i="1" dirty="0"/>
              <a:t>Database design,</a:t>
            </a:r>
            <a:r>
              <a:rPr lang="en-GB" sz="2000" i="1" dirty="0"/>
              <a:t> </a:t>
            </a:r>
            <a:r>
              <a:rPr lang="en-GB" sz="2000" dirty="0"/>
              <a:t>where you design the system data structures and how these are to be represented in a database. </a:t>
            </a:r>
            <a:r>
              <a:rPr lang="en-US" sz="2000" dirty="0"/>
              <a:t>Again, the work here depends on whether an existing database is to be reused or a new database is to be created.</a:t>
            </a:r>
          </a:p>
          <a:p>
            <a:pPr algn="just"/>
            <a:endParaRPr lang="en-US" sz="2000" dirty="0"/>
          </a:p>
          <a:p>
            <a:pPr algn="just"/>
            <a:r>
              <a:rPr lang="en-GB" sz="2000" dirty="0"/>
              <a:t> </a:t>
            </a:r>
          </a:p>
          <a:p>
            <a:pPr algn="just"/>
            <a:endParaRPr lang="en-US" sz="2000" dirty="0"/>
          </a:p>
        </p:txBody>
      </p:sp>
      <p:sp>
        <p:nvSpPr>
          <p:cNvPr id="7" name="Title 1"/>
          <p:cNvSpPr txBox="1">
            <a:spLocks/>
          </p:cNvSpPr>
          <p:nvPr/>
        </p:nvSpPr>
        <p:spPr>
          <a:xfrm rot="5400000">
            <a:off x="-1409700" y="2552700"/>
            <a:ext cx="3962400" cy="1143000"/>
          </a:xfrm>
          <a:prstGeom prst="rect">
            <a:avLst/>
          </a:prstGeom>
        </p:spPr>
        <p:txBody>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dirty="0"/>
              <a:t>Design activities</a:t>
            </a:r>
          </a:p>
        </p:txBody>
      </p:sp>
    </p:spTree>
    <p:extLst>
      <p:ext uri="{BB962C8B-B14F-4D97-AF65-F5344CB8AC3E}">
        <p14:creationId xmlns:p14="http://schemas.microsoft.com/office/powerpoint/2010/main" val="2490855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validation</a:t>
            </a:r>
            <a:endParaRPr lang="en-US" dirty="0"/>
          </a:p>
        </p:txBody>
      </p:sp>
      <p:sp>
        <p:nvSpPr>
          <p:cNvPr id="3" name="Content Placeholder 2"/>
          <p:cNvSpPr>
            <a:spLocks noGrp="1"/>
          </p:cNvSpPr>
          <p:nvPr>
            <p:ph idx="1"/>
          </p:nvPr>
        </p:nvSpPr>
        <p:spPr>
          <a:xfrm>
            <a:off x="655637" y="1752600"/>
            <a:ext cx="7954963" cy="4343400"/>
          </a:xfrm>
        </p:spPr>
        <p:txBody>
          <a:bodyPr/>
          <a:lstStyle/>
          <a:p>
            <a:pPr algn="just">
              <a:buFont typeface="Wingdings" panose="05000000000000000000" pitchFamily="2" charset="2"/>
              <a:buChar char="q"/>
            </a:pPr>
            <a:r>
              <a:rPr lang="en-GB" sz="2400" dirty="0"/>
              <a:t>Verification and validation (V &amp; V) is intended to show that a system conforms to its specification and meets the requirements of the system customer.</a:t>
            </a:r>
          </a:p>
          <a:p>
            <a:pPr algn="just">
              <a:buFont typeface="Wingdings" panose="05000000000000000000" pitchFamily="2" charset="2"/>
              <a:buChar char="q"/>
            </a:pPr>
            <a:r>
              <a:rPr lang="en-GB" sz="2400" dirty="0"/>
              <a:t>Involves checking and review processes and system testing.</a:t>
            </a:r>
          </a:p>
          <a:p>
            <a:pPr algn="just">
              <a:buFont typeface="Wingdings" panose="05000000000000000000" pitchFamily="2" charset="2"/>
              <a:buChar char="q"/>
            </a:pPr>
            <a:r>
              <a:rPr lang="en-GB" sz="2400" dirty="0"/>
              <a:t>System testing involves executing the system with test cases that are derived from the specification of the real data to be processed by the system.</a:t>
            </a:r>
          </a:p>
          <a:p>
            <a:pPr algn="just">
              <a:buFont typeface="Wingdings" panose="05000000000000000000" pitchFamily="2" charset="2"/>
              <a:buChar char="q"/>
            </a:pPr>
            <a:r>
              <a:rPr lang="en-GB" sz="2400" dirty="0"/>
              <a:t>Testing is the most commonly used V &amp; V activity.</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201200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Stages of testing</a:t>
            </a:r>
            <a:endParaRPr lang="en-US" dirty="0"/>
          </a:p>
        </p:txBody>
      </p:sp>
      <p:pic>
        <p:nvPicPr>
          <p:cNvPr id="4" name="Picture 3" descr="2.6 Testing-process.eps"/>
          <p:cNvPicPr>
            <a:picLocks noChangeAspect="1"/>
          </p:cNvPicPr>
          <p:nvPr/>
        </p:nvPicPr>
        <p:blipFill>
          <a:blip r:embed="rId2" cstate="print"/>
          <a:stretch>
            <a:fillRect/>
          </a:stretch>
        </p:blipFill>
        <p:spPr>
          <a:xfrm>
            <a:off x="1486409" y="2829344"/>
            <a:ext cx="6277535" cy="1707049"/>
          </a:xfrm>
          <a:prstGeom prst="rect">
            <a:avLst/>
          </a:prstGeom>
        </p:spPr>
      </p:pic>
    </p:spTree>
    <p:extLst>
      <p:ext uri="{BB962C8B-B14F-4D97-AF65-F5344CB8AC3E}">
        <p14:creationId xmlns:p14="http://schemas.microsoft.com/office/powerpoint/2010/main" val="4058515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GB" dirty="0"/>
              <a:t>Testing stages</a:t>
            </a:r>
            <a:endParaRPr lang="en-US" dirty="0"/>
          </a:p>
        </p:txBody>
      </p:sp>
      <p:sp>
        <p:nvSpPr>
          <p:cNvPr id="3" name="Content Placeholder 2"/>
          <p:cNvSpPr>
            <a:spLocks noGrp="1"/>
          </p:cNvSpPr>
          <p:nvPr>
            <p:ph idx="1"/>
          </p:nvPr>
        </p:nvSpPr>
        <p:spPr>
          <a:xfrm>
            <a:off x="594518" y="1066800"/>
            <a:ext cx="8320882" cy="5715000"/>
          </a:xfrm>
        </p:spPr>
        <p:txBody>
          <a:bodyPr/>
          <a:lstStyle/>
          <a:p>
            <a:pPr>
              <a:buFont typeface="Wingdings" panose="05000000000000000000" pitchFamily="2" charset="2"/>
              <a:buChar char="q"/>
            </a:pPr>
            <a:r>
              <a:rPr lang="en-GB" sz="2000" dirty="0"/>
              <a:t>Development or component testing</a:t>
            </a:r>
          </a:p>
          <a:p>
            <a:pPr lvl="1">
              <a:buFont typeface="Wingdings" panose="05000000000000000000" pitchFamily="2" charset="2"/>
              <a:buChar char="q"/>
            </a:pPr>
            <a:r>
              <a:rPr lang="en-US" sz="1600" dirty="0"/>
              <a:t>The components making up the system are tested by the people developing the system.</a:t>
            </a:r>
            <a:endParaRPr lang="en-GB" sz="1600" dirty="0"/>
          </a:p>
          <a:p>
            <a:pPr lvl="1">
              <a:buFont typeface="Wingdings" panose="05000000000000000000" pitchFamily="2" charset="2"/>
              <a:buChar char="q"/>
            </a:pPr>
            <a:r>
              <a:rPr lang="en-GB" sz="1600" dirty="0"/>
              <a:t>Individual components are tested independently;</a:t>
            </a:r>
          </a:p>
          <a:p>
            <a:pPr lvl="1">
              <a:buFont typeface="Wingdings" panose="05000000000000000000" pitchFamily="2" charset="2"/>
              <a:buChar char="q"/>
            </a:pPr>
            <a:r>
              <a:rPr lang="en-US" sz="1600" dirty="0"/>
              <a:t>Test automation tools, such as JUnit that can re-run component tests when new versions of the component are created, are commonly used.</a:t>
            </a:r>
            <a:endParaRPr lang="en-GB" sz="1600" dirty="0"/>
          </a:p>
          <a:p>
            <a:pPr>
              <a:buFont typeface="Wingdings" panose="05000000000000000000" pitchFamily="2" charset="2"/>
              <a:buChar char="q"/>
            </a:pPr>
            <a:r>
              <a:rPr lang="en-GB" sz="2000" dirty="0"/>
              <a:t>System testing</a:t>
            </a:r>
          </a:p>
          <a:p>
            <a:pPr lvl="1">
              <a:buFont typeface="Wingdings" panose="05000000000000000000" pitchFamily="2" charset="2"/>
              <a:buChar char="q"/>
            </a:pPr>
            <a:r>
              <a:rPr lang="en-GB" sz="1600" dirty="0"/>
              <a:t>Testing of the system as a whole. </a:t>
            </a:r>
          </a:p>
          <a:p>
            <a:pPr lvl="1">
              <a:buFont typeface="Wingdings" panose="05000000000000000000" pitchFamily="2" charset="2"/>
              <a:buChar char="q"/>
            </a:pPr>
            <a:r>
              <a:rPr lang="en-US" sz="1600" dirty="0"/>
              <a:t>Finding errors that result from unexpected interactions between components and component interface problems</a:t>
            </a:r>
            <a:r>
              <a:rPr lang="en-GB" sz="1600" dirty="0"/>
              <a:t>.</a:t>
            </a:r>
          </a:p>
          <a:p>
            <a:pPr>
              <a:buFont typeface="Wingdings" panose="05000000000000000000" pitchFamily="2" charset="2"/>
              <a:buChar char="q"/>
            </a:pPr>
            <a:r>
              <a:rPr lang="en-GB" sz="2000" dirty="0"/>
              <a:t>Acceptance testing/alpha testing</a:t>
            </a:r>
          </a:p>
          <a:p>
            <a:pPr lvl="1">
              <a:buFont typeface="Wingdings" panose="05000000000000000000" pitchFamily="2" charset="2"/>
              <a:buChar char="q"/>
            </a:pPr>
            <a:r>
              <a:rPr lang="en-GB" sz="1600" dirty="0"/>
              <a:t>Testing with customer data to check that the system meets the customer’s needs.</a:t>
            </a:r>
          </a:p>
          <a:p>
            <a:pPr>
              <a:buFont typeface="Wingdings" panose="05000000000000000000" pitchFamily="2" charset="2"/>
              <a:buChar char="q"/>
            </a:pPr>
            <a:r>
              <a:rPr lang="en-US" sz="2000" dirty="0"/>
              <a:t>Beta testing</a:t>
            </a:r>
          </a:p>
          <a:p>
            <a:pPr lvl="1">
              <a:buFont typeface="Wingdings" panose="05000000000000000000" pitchFamily="2" charset="2"/>
              <a:buChar char="q"/>
            </a:pPr>
            <a:r>
              <a:rPr lang="en-US" sz="1600" dirty="0"/>
              <a:t>When a system is to be marketed as a software product, a testing process called ‘beta testing’ is often used. Beta testing involves delivering a system to several potential customers who agree to use that system. They report problems to the system developers. This exposes the product to real use and detects errors that may not have been anticipated by the system builders. After this feedback, the system is modified and released either for further beta testing or for general sale.</a:t>
            </a:r>
          </a:p>
        </p:txBody>
      </p:sp>
    </p:spTree>
    <p:extLst>
      <p:ext uri="{BB962C8B-B14F-4D97-AF65-F5344CB8AC3E}">
        <p14:creationId xmlns:p14="http://schemas.microsoft.com/office/powerpoint/2010/main" val="86212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Testing phases in a plan-driven software process</a:t>
            </a:r>
            <a:br>
              <a:rPr lang="en-GB" sz="3600" dirty="0"/>
            </a:br>
            <a:endParaRPr lang="en-US" sz="3600" dirty="0"/>
          </a:p>
        </p:txBody>
      </p:sp>
      <p:pic>
        <p:nvPicPr>
          <p:cNvPr id="4" name="Picture 3" descr="2.7 Testing-phases.eps"/>
          <p:cNvPicPr>
            <a:picLocks noChangeAspect="1"/>
          </p:cNvPicPr>
          <p:nvPr/>
        </p:nvPicPr>
        <p:blipFill>
          <a:blip r:embed="rId2" cstate="print"/>
          <a:stretch>
            <a:fillRect/>
          </a:stretch>
        </p:blipFill>
        <p:spPr>
          <a:xfrm>
            <a:off x="248957" y="2186304"/>
            <a:ext cx="8647437" cy="2988016"/>
          </a:xfrm>
          <a:prstGeom prst="rect">
            <a:avLst/>
          </a:prstGeom>
        </p:spPr>
      </p:pic>
    </p:spTree>
    <p:extLst>
      <p:ext uri="{BB962C8B-B14F-4D97-AF65-F5344CB8AC3E}">
        <p14:creationId xmlns:p14="http://schemas.microsoft.com/office/powerpoint/2010/main" val="1220220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evolution</a:t>
            </a:r>
            <a:endParaRPr lang="en-US" dirty="0"/>
          </a:p>
        </p:txBody>
      </p:sp>
      <p:sp>
        <p:nvSpPr>
          <p:cNvPr id="3" name="Content Placeholder 2"/>
          <p:cNvSpPr>
            <a:spLocks noGrp="1"/>
          </p:cNvSpPr>
          <p:nvPr>
            <p:ph idx="1"/>
          </p:nvPr>
        </p:nvSpPr>
        <p:spPr>
          <a:xfrm>
            <a:off x="914400" y="1752600"/>
            <a:ext cx="7772400" cy="4114800"/>
          </a:xfrm>
        </p:spPr>
        <p:txBody>
          <a:bodyPr/>
          <a:lstStyle/>
          <a:p>
            <a:pPr algn="just">
              <a:buFont typeface="Wingdings" panose="05000000000000000000" pitchFamily="2" charset="2"/>
              <a:buChar char="q"/>
            </a:pPr>
            <a:r>
              <a:rPr lang="en-GB" sz="2400" dirty="0"/>
              <a:t>Software is inherently flexible and can change. </a:t>
            </a:r>
          </a:p>
          <a:p>
            <a:pPr algn="just">
              <a:buFont typeface="Wingdings" panose="05000000000000000000" pitchFamily="2" charset="2"/>
              <a:buChar char="q"/>
            </a:pPr>
            <a:r>
              <a:rPr lang="en-GB" sz="2400" dirty="0"/>
              <a:t>As requirements change through changing business circumstances, the software that supports the business must also evolve and change.</a:t>
            </a:r>
          </a:p>
          <a:p>
            <a:pPr algn="just">
              <a:buFont typeface="Wingdings" panose="05000000000000000000" pitchFamily="2" charset="2"/>
              <a:buChar char="q"/>
            </a:pPr>
            <a:r>
              <a:rPr lang="en-GB" sz="2400" dirty="0"/>
              <a:t>Although there has been a differentiation between development and evolution (maintenance) this is increasingly irrelevant as fewer and fewer systems are completely new.</a:t>
            </a:r>
            <a:endParaRPr lang="en-US" sz="2400" dirty="0"/>
          </a:p>
        </p:txBody>
      </p:sp>
    </p:spTree>
    <p:extLst>
      <p:ext uri="{BB962C8B-B14F-4D97-AF65-F5344CB8AC3E}">
        <p14:creationId xmlns:p14="http://schemas.microsoft.com/office/powerpoint/2010/main" val="386260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evolution </a:t>
            </a:r>
            <a:endParaRPr lang="en-US" dirty="0"/>
          </a:p>
        </p:txBody>
      </p:sp>
      <p:pic>
        <p:nvPicPr>
          <p:cNvPr id="4" name="Picture 3" descr="2.8 System evolution.eps"/>
          <p:cNvPicPr>
            <a:picLocks noChangeAspect="1"/>
          </p:cNvPicPr>
          <p:nvPr/>
        </p:nvPicPr>
        <p:blipFill>
          <a:blip r:embed="rId2" cstate="print"/>
          <a:stretch>
            <a:fillRect/>
          </a:stretch>
        </p:blipFill>
        <p:spPr>
          <a:xfrm>
            <a:off x="572521" y="2707496"/>
            <a:ext cx="7545538" cy="2321704"/>
          </a:xfrm>
          <a:prstGeom prst="rect">
            <a:avLst/>
          </a:prstGeom>
        </p:spPr>
      </p:pic>
    </p:spTree>
    <p:extLst>
      <p:ext uri="{BB962C8B-B14F-4D97-AF65-F5344CB8AC3E}">
        <p14:creationId xmlns:p14="http://schemas.microsoft.com/office/powerpoint/2010/main" val="3804642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173163" y="1828800"/>
            <a:ext cx="7772400" cy="4114800"/>
          </a:xfrm>
        </p:spPr>
        <p:txBody>
          <a:bodyPr/>
          <a:lstStyle/>
          <a:p>
            <a:pPr algn="just">
              <a:buFont typeface="Wingdings" panose="05000000000000000000" pitchFamily="2" charset="2"/>
              <a:buChar char="q"/>
            </a:pPr>
            <a:r>
              <a:rPr lang="en-GB" sz="2800" dirty="0"/>
              <a:t>Software processes are the activities involved in producing a software system. Software process models are abstract representations of these processes.</a:t>
            </a:r>
          </a:p>
          <a:p>
            <a:pPr algn="just">
              <a:buFont typeface="Wingdings" panose="05000000000000000000" pitchFamily="2" charset="2"/>
              <a:buChar char="q"/>
            </a:pPr>
            <a:r>
              <a:rPr lang="en-GB" sz="2800" dirty="0"/>
              <a:t>General process models describe the organization of software processes. Examples of these general models include the ‘waterfall’ model,  incremental development, and reuse-oriented development.</a:t>
            </a:r>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34286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838200" y="1524000"/>
            <a:ext cx="7772400" cy="4114800"/>
          </a:xfrm>
        </p:spPr>
        <p:txBody>
          <a:bodyPr/>
          <a:lstStyle/>
          <a:p>
            <a:pPr algn="just">
              <a:buFont typeface="Wingdings" panose="05000000000000000000" pitchFamily="2" charset="2"/>
              <a:buChar char="q"/>
            </a:pPr>
            <a:r>
              <a:rPr lang="en-GB" sz="2400" dirty="0"/>
              <a:t>Requirements engineering is the process of developing a software specification.</a:t>
            </a:r>
          </a:p>
          <a:p>
            <a:pPr algn="just">
              <a:buFont typeface="Wingdings" panose="05000000000000000000" pitchFamily="2" charset="2"/>
              <a:buChar char="q"/>
            </a:pPr>
            <a:r>
              <a:rPr lang="en-GB" sz="2400" dirty="0"/>
              <a:t>Design and implementation processes are concerned with transforming a requirements specification into an executable software system. </a:t>
            </a:r>
          </a:p>
          <a:p>
            <a:pPr algn="just">
              <a:buFont typeface="Wingdings" panose="05000000000000000000" pitchFamily="2" charset="2"/>
              <a:buChar char="q"/>
            </a:pPr>
            <a:r>
              <a:rPr lang="en-GB" sz="2400" dirty="0"/>
              <a:t>Software validation is the process of checking that the system conforms to its specification and that it meets the real needs of the users of the system.</a:t>
            </a:r>
          </a:p>
          <a:p>
            <a:pPr algn="just">
              <a:buFont typeface="Wingdings" panose="05000000000000000000" pitchFamily="2" charset="2"/>
              <a:buChar char="q"/>
            </a:pPr>
            <a:r>
              <a:rPr lang="en-GB" sz="2400" dirty="0"/>
              <a:t>Software evolution takes place when you change existing software systems to meet new requirements. The software must evolve to remain useful.</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50875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12855</TotalTime>
  <Words>2250</Words>
  <Application>Microsoft Office PowerPoint</Application>
  <PresentationFormat>On-screen Show (4:3)</PresentationFormat>
  <Paragraphs>180</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Monotype Sorts</vt:lpstr>
      <vt:lpstr>Times New Roman</vt:lpstr>
      <vt:lpstr>Times-Italic</vt:lpstr>
      <vt:lpstr>Times-Roman</vt:lpstr>
      <vt:lpstr>Wingdings</vt:lpstr>
      <vt:lpstr>Min halsduk</vt:lpstr>
      <vt:lpstr>Software Processes</vt:lpstr>
      <vt:lpstr>The software process</vt:lpstr>
      <vt:lpstr>Software process descriptions</vt:lpstr>
      <vt:lpstr>Plan-driven and agile processes</vt:lpstr>
      <vt:lpstr>Plan-driven and agile processes</vt:lpstr>
      <vt:lpstr>Software process models</vt:lpstr>
      <vt:lpstr>The Waterfall Model</vt:lpstr>
      <vt:lpstr>The waterfall model</vt:lpstr>
      <vt:lpstr>Waterfall model problems</vt:lpstr>
      <vt:lpstr>Incremental Development</vt:lpstr>
      <vt:lpstr>Incremental development  </vt:lpstr>
      <vt:lpstr>Incremental development benefits</vt:lpstr>
      <vt:lpstr>Incremental development problems</vt:lpstr>
      <vt:lpstr>Reuse-oriented software engineering</vt:lpstr>
      <vt:lpstr>Reuse-oriented software engineering</vt:lpstr>
      <vt:lpstr>Types of software component that may be used in a reuse-oriented process:</vt:lpstr>
      <vt:lpstr>Reuse-oriented SE: Pros and cons</vt:lpstr>
      <vt:lpstr>Software Process activities</vt:lpstr>
      <vt:lpstr>Software specification</vt:lpstr>
      <vt:lpstr>The requirements engineering process </vt:lpstr>
      <vt:lpstr>Software design and implementation</vt:lpstr>
      <vt:lpstr>A general model of the design process  </vt:lpstr>
      <vt:lpstr>Design inputs</vt:lpstr>
      <vt:lpstr>PowerPoint Presentation</vt:lpstr>
      <vt:lpstr>Software validation</vt:lpstr>
      <vt:lpstr>Stages of testing</vt:lpstr>
      <vt:lpstr>Testing stages</vt:lpstr>
      <vt:lpstr>Testing phases in a plan-driven software process </vt:lpstr>
      <vt:lpstr>Software evolution</vt:lpstr>
      <vt:lpstr>System evolution </vt:lpstr>
      <vt:lpstr>Key points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Ahmad Salman Khan</dc:creator>
  <cp:lastModifiedBy>Atifa Arooj</cp:lastModifiedBy>
  <cp:revision>144</cp:revision>
  <dcterms:created xsi:type="dcterms:W3CDTF">2006-08-16T00:00:00Z</dcterms:created>
  <dcterms:modified xsi:type="dcterms:W3CDTF">2025-03-24T09:17:34Z</dcterms:modified>
</cp:coreProperties>
</file>
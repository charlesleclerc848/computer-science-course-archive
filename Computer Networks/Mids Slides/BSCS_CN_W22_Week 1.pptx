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notesMasterIdLst>
    <p:notesMasterId r:id="rId47"/>
  </p:notesMasterIdLst>
  <p:handoutMasterIdLst>
    <p:handoutMasterId r:id="rId48"/>
  </p:handoutMasterIdLst>
  <p:sldIdLst>
    <p:sldId id="1070" r:id="rId2"/>
    <p:sldId id="355" r:id="rId3"/>
    <p:sldId id="356" r:id="rId4"/>
    <p:sldId id="357" r:id="rId5"/>
    <p:sldId id="338" r:id="rId6"/>
    <p:sldId id="1059" r:id="rId7"/>
    <p:sldId id="350" r:id="rId8"/>
    <p:sldId id="353" r:id="rId9"/>
    <p:sldId id="397" r:id="rId10"/>
    <p:sldId id="354" r:id="rId11"/>
    <p:sldId id="1046" r:id="rId12"/>
    <p:sldId id="359" r:id="rId13"/>
    <p:sldId id="362" r:id="rId14"/>
    <p:sldId id="1047" r:id="rId15"/>
    <p:sldId id="367" r:id="rId16"/>
    <p:sldId id="368" r:id="rId17"/>
    <p:sldId id="1060" r:id="rId18"/>
    <p:sldId id="364" r:id="rId19"/>
    <p:sldId id="1048" r:id="rId20"/>
    <p:sldId id="1049" r:id="rId21"/>
    <p:sldId id="1050" r:id="rId22"/>
    <p:sldId id="1051" r:id="rId23"/>
    <p:sldId id="406" r:id="rId24"/>
    <p:sldId id="1054" r:id="rId25"/>
    <p:sldId id="409" r:id="rId26"/>
    <p:sldId id="376" r:id="rId27"/>
    <p:sldId id="425" r:id="rId28"/>
    <p:sldId id="375" r:id="rId29"/>
    <p:sldId id="1058" r:id="rId30"/>
    <p:sldId id="424" r:id="rId31"/>
    <p:sldId id="1055" r:id="rId32"/>
    <p:sldId id="379" r:id="rId33"/>
    <p:sldId id="380" r:id="rId34"/>
    <p:sldId id="381" r:id="rId35"/>
    <p:sldId id="1056" r:id="rId36"/>
    <p:sldId id="383" r:id="rId37"/>
    <p:sldId id="384" r:id="rId38"/>
    <p:sldId id="385" r:id="rId39"/>
    <p:sldId id="1064" r:id="rId40"/>
    <p:sldId id="1065" r:id="rId41"/>
    <p:sldId id="386" r:id="rId42"/>
    <p:sldId id="1067" r:id="rId43"/>
    <p:sldId id="1068" r:id="rId44"/>
    <p:sldId id="1069" r:id="rId45"/>
    <p:sldId id="1062" r:id="rId46"/>
  </p:sldIdLst>
  <p:sldSz cx="9144000" cy="6858000" type="screen4x3"/>
  <p:notesSz cx="9296400" cy="70104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C7CD2"/>
    <a:srgbClr val="486DA2"/>
    <a:srgbClr val="1F7EE7"/>
    <a:srgbClr val="7DD330"/>
    <a:srgbClr val="AE1517"/>
    <a:srgbClr val="CC0000"/>
    <a:srgbClr val="4F7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 autoAdjust="0"/>
    <p:restoredTop sz="94652" autoAdjust="0"/>
  </p:normalViewPr>
  <p:slideViewPr>
    <p:cSldViewPr>
      <p:cViewPr varScale="1">
        <p:scale>
          <a:sx n="59" d="100"/>
          <a:sy n="59" d="100"/>
        </p:scale>
        <p:origin x="14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38" y="-108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3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3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67D39907-CA41-4FA3-AB8C-7CF77BD0E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41428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1"/>
            <a:ext cx="7437120" cy="3154680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3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3"/>
            <a:ext cx="4028440" cy="3505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C95EBC4-39DD-4A71-BE51-C12854B5A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5291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95EBC4-39DD-4A71-BE51-C12854B5A81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76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44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64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3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69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93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14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23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66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31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98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55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3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52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44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70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73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56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98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90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61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20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55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10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820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0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37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25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33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04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655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8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499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9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60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1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582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1.#</a:t>
            </a:r>
          </a:p>
        </p:txBody>
      </p:sp>
      <p:sp>
        <p:nvSpPr>
          <p:cNvPr id="91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088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1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645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1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1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werpointstyle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ites.google.com/a/cs.uol.edu.pk/ccn/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5"/>
          <p:cNvSpPr txBox="1">
            <a:spLocks noChangeArrowheads="1"/>
          </p:cNvSpPr>
          <p:nvPr/>
        </p:nvSpPr>
        <p:spPr bwMode="auto">
          <a:xfrm>
            <a:off x="3348038" y="6237288"/>
            <a:ext cx="2457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dirty="0">
                <a:hlinkClick r:id="rId3"/>
              </a:rPr>
              <a:t>Powerpoint Templates</a:t>
            </a:r>
            <a:endParaRPr lang="en-AU" dirty="0"/>
          </a:p>
        </p:txBody>
      </p:sp>
      <p:pic>
        <p:nvPicPr>
          <p:cNvPr id="2051" name="Picture 24" descr="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Text Box 6"/>
          <p:cNvSpPr txBox="1">
            <a:spLocks noChangeArrowheads="1"/>
          </p:cNvSpPr>
          <p:nvPr/>
        </p:nvSpPr>
        <p:spPr bwMode="auto">
          <a:xfrm>
            <a:off x="381000" y="4267200"/>
            <a:ext cx="8458200" cy="2148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180000" rIns="180000" bIns="18000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M.Nadeem Akhtar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CS &amp; IT Department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University of Lahore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Email: nadeem.akhtar@cs.uol.edu.pk</a:t>
            </a:r>
            <a:endParaRPr lang="en-US" sz="2400" b="1" dirty="0">
              <a:latin typeface="Times New Roman" pitchFamily="18" charset="0"/>
              <a:cs typeface="Times New Roman" pitchFamily="18" charset="0"/>
              <a:hlinkClick r:id="rId5"/>
            </a:endParaRP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  <a:hlinkClick r:id="rId5"/>
              </a:rPr>
              <a:t>URL-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https://sites.google.com/site/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nadeemuolcsccn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/home</a:t>
            </a:r>
            <a:endParaRPr lang="en-AU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0" y="2362200"/>
            <a:ext cx="8686800" cy="1348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180000" rIns="180000" bIns="180000">
            <a:spAutoFit/>
          </a:bodyPr>
          <a:lstStyle/>
          <a:p>
            <a:pPr algn="ctr"/>
            <a:r>
              <a:rPr lang="en-AU" sz="2800" b="1" dirty="0">
                <a:latin typeface="Times New Roman" pitchFamily="18" charset="0"/>
                <a:cs typeface="Times New Roman" pitchFamily="18" charset="0"/>
              </a:rPr>
              <a:t>Computer Networks</a:t>
            </a:r>
          </a:p>
          <a:p>
            <a:pPr algn="ctr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Week #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8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4906963" cy="2057400"/>
          </a:xfrm>
        </p:spPr>
        <p:txBody>
          <a:bodyPr/>
          <a:lstStyle/>
          <a:p>
            <a:r>
              <a:rPr lang="en-US" altLang="zh-TW" sz="2400" b="1" dirty="0">
                <a:latin typeface="Times New Roman" pitchFamily="18" charset="0"/>
                <a:cs typeface="Times New Roman" pitchFamily="18" charset="0"/>
              </a:rPr>
              <a:t>Book 1: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Data Communications </a:t>
            </a:r>
          </a:p>
          <a:p>
            <a:pPr marL="109728" indent="0"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and Networking, 5th edition</a:t>
            </a:r>
          </a:p>
          <a:p>
            <a:pPr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	Author: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Behrouz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A.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Forouzan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dirty="0"/>
          </a:p>
        </p:txBody>
      </p:sp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effectLst/>
                <a:latin typeface="Times New Roman" pitchFamily="18" charset="0"/>
                <a:cs typeface="Times New Roman" pitchFamily="18" charset="0"/>
              </a:rPr>
              <a:t>Recommended Text book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470" y="1371600"/>
            <a:ext cx="3952875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2575"/>
            <a:ext cx="4319588" cy="44672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2400" b="1" dirty="0">
                <a:latin typeface="Times New Roman" pitchFamily="18" charset="0"/>
                <a:cs typeface="Times New Roman" pitchFamily="18" charset="0"/>
              </a:rPr>
              <a:t>Book 2: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William Stallings,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Data and Computer Communication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, 8</a:t>
            </a:r>
            <a:r>
              <a:rPr lang="en-US" altLang="zh-TW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or 9th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Edt</a:t>
            </a:r>
            <a:r>
              <a:rPr lang="en-US" altLang="zh-TW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zh-TW" sz="2400" b="1" dirty="0">
                <a:latin typeface="Times New Roman" pitchFamily="18" charset="0"/>
                <a:cs typeface="Times New Roman" pitchFamily="18" charset="0"/>
              </a:rPr>
              <a:t>Book 3: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Computer Networks by Andrew S.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Tanenbaum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David J.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Wetherall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Prentice Hall; 5th Edition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zh-TW" sz="2400" b="1" dirty="0">
                <a:latin typeface="Times New Roman" pitchFamily="18" charset="0"/>
                <a:cs typeface="Times New Roman" pitchFamily="18" charset="0"/>
              </a:rPr>
              <a:t>Book 4: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Computer Networks and Internets By Douglas E. Comer (5</a:t>
            </a:r>
            <a:r>
              <a:rPr lang="en-US" altLang="zh-TW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Edition)</a:t>
            </a:r>
            <a:endParaRPr lang="en-US" altLang="zh-TW" sz="2400" dirty="0"/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Reference books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5690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Grading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11282"/>
            <a:ext cx="714826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Assignments/Project [10%]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Quizzes [10%]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Midterm [20%]</a:t>
            </a:r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Lab Tasks [20%]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Final Exam [40%]</a:t>
            </a:r>
            <a:endParaRPr lang="en-AU" sz="2000" b="1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/>
            <a:endParaRPr lang="en-AU" sz="2000" b="1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>
              <a:buFont typeface="Calibri" pitchFamily="34" charset="0"/>
              <a:buChar char="Ϟ"/>
            </a:pPr>
            <a:endParaRPr lang="en-AU" sz="20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  <a:p>
            <a:endParaRPr lang="en-AU" sz="2000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152400"/>
            <a:ext cx="74660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Course Overview (1/4)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856357"/>
            <a:ext cx="73006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Topics that we are planning to cover: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Fundamentals of data communications &amp; Networks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Network Models (System Architecture)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OSI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TCP/IP (in Detail)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Digital and analog data/signals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Transmission impairments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Channel Capacity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Signal to Noise ratio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Nyquist Bandwidth formula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Shannon’s channel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152400"/>
            <a:ext cx="74660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Course Overview (2/4)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856357"/>
            <a:ext cx="730066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Topics that we are planning to cover: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Digital and Analog Transmissions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Modulation schemes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Data encoding schemes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and Synchronous transmission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Transmission Media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Guided Media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Unguided Media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Multiplexing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Switched and IP Networks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Circuit Switched Networks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Packet Switching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Structure of a Switch</a:t>
            </a:r>
          </a:p>
          <a:p>
            <a:pPr marL="457200" indent="-457200" algn="just">
              <a:buFont typeface="Wingdings" pitchFamily="2" charset="2"/>
              <a:buChar char="§"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§"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516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Course Overview (3/4)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533400"/>
            <a:ext cx="73006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Topics that we are planning to cover: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Overview of 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Wired (Ethernet) and 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Wireless LANs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Data Link Layer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Functions of data link layer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Framing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MAC protocols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Error Control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Flow control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Bridging</a:t>
            </a:r>
          </a:p>
          <a:p>
            <a:pPr marL="457200" indent="-457200" algn="just">
              <a:buFont typeface="Wingdings" pitchFamily="2" charset="2"/>
              <a:buChar char="§"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§"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Course Overview (4/4)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73006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Topics that we are planning to cover: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Network Layer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Services &amp; Performance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IPV4 Addresses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Network Layer Protocols (IP, ...)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Routing Protocols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Next Generation IP (IPv6)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Transport Layer Protocols (UDP,TCP, SCTP)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Application layer protocols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Lab exercises using packet tracer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1066800" y="188913"/>
            <a:ext cx="74660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200" b="1" dirty="0">
                <a:latin typeface="Times New Roman" pitchFamily="18" charset="0"/>
                <a:cs typeface="Times New Roman" pitchFamily="18" charset="0"/>
              </a:rPr>
              <a:t>ACKNOWLEDGMENTS</a:t>
            </a:r>
            <a:endParaRPr lang="en-A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066800"/>
            <a:ext cx="7300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These lecture slides contain material from slides prepared by Behrouz </a:t>
            </a:r>
            <a:r>
              <a:rPr lang="en-AU" sz="2400" dirty="0" err="1">
                <a:latin typeface="Times New Roman" pitchFamily="18" charset="0"/>
                <a:cs typeface="Times New Roman" pitchFamily="18" charset="0"/>
              </a:rPr>
              <a:t>Forouzan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for his book Data Communication and Networking (4</a:t>
            </a:r>
            <a:r>
              <a:rPr lang="en-AU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/5</a:t>
            </a:r>
            <a:r>
              <a:rPr lang="en-AU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edition).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Week 1: Course Plan (1/2)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Fundamentals of data communications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Definition of Data Communication [Book1: 1.1]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Data Communication System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Characteristics [Book1: 1.1]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Components [Book1: 1.1.1]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Data Representation [Book1: 1.2]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Data Flow or Transmission modes [Book1: 1.3]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Week 1: Course Plan (2/2)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Fundamentals of Networks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Brief Intro to Networks [Book1: 1.2]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Computer Network Criteria [Book1: 1.2.1]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Network Applications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Physical structure of Networks [Book1: 1.2.2]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Based on type of Connection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Based on type of Topology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94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381000" y="228600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(1/2)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90600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Data Communication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AU" sz="2400" u="sng" dirty="0"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AU" sz="2400" u="sng" dirty="0"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from one </a:t>
            </a:r>
            <a:r>
              <a:rPr lang="en-AU" sz="2400" u="sng" dirty="0">
                <a:latin typeface="Times New Roman" pitchFamily="18" charset="0"/>
                <a:cs typeface="Times New Roman" pitchFamily="18" charset="0"/>
              </a:rPr>
              <a:t>entity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to the other using a </a:t>
            </a:r>
            <a:r>
              <a:rPr lang="en-AU" sz="2400" u="sng" dirty="0">
                <a:latin typeface="Times New Roman" pitchFamily="18" charset="0"/>
                <a:cs typeface="Times New Roman" pitchFamily="18" charset="0"/>
              </a:rPr>
              <a:t>transmission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400" u="sng" dirty="0">
                <a:latin typeface="Times New Roman" pitchFamily="18" charset="0"/>
                <a:cs typeface="Times New Roman" pitchFamily="18" charset="0"/>
              </a:rPr>
              <a:t>medium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just"/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As you can clearly notice, the definition of Data Communication, although simple, leaves many questions unanswered:</a:t>
            </a:r>
          </a:p>
          <a:p>
            <a:pPr algn="just"/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Exchange  ??????</a:t>
            </a:r>
          </a:p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Information  ?????</a:t>
            </a:r>
          </a:p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Entities  ???????</a:t>
            </a:r>
          </a:p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Transmission  ????</a:t>
            </a:r>
          </a:p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Medium  ????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57200" y="228600"/>
            <a:ext cx="7315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(2/2)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066800"/>
            <a:ext cx="8534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When we communicate, we share information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Information sharing can be LOCAL or REMOTE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Between individuals 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LOCAL communication occurs face to face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REMOTE communication occurs over a long distance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Telecommunication </a:t>
            </a:r>
            <a:r>
              <a:rPr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means</a:t>
            </a:r>
            <a:r>
              <a:rPr 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 </a:t>
            </a:r>
            <a:r>
              <a:rPr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communication at a distance: telephony, telegraph and television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Data</a:t>
            </a:r>
            <a:r>
              <a:rPr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 refers to information presented in whatever form is agreed upon by the parties creating and using the data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28600" y="304800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System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447800"/>
            <a:ext cx="8763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For Data Communication to occur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The communicating devices must be a part of a </a:t>
            </a:r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communication system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made up of some specific kind of hardware (Physical equipment) and software (Programs),</a:t>
            </a: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This type of a system is known as a “</a:t>
            </a:r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Data Communication System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”</a:t>
            </a:r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765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28600" y="188913"/>
            <a:ext cx="8686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Components Of </a:t>
            </a:r>
          </a:p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System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807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Any system is made up of more than one component. Similarly, a data communication system is made up of 5 components: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514600"/>
            <a:ext cx="7065962" cy="274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371600"/>
            <a:ext cx="86868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Sender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the device which sends the data messages. It can be a computer, workstation, telephone handset etc.</a:t>
            </a:r>
          </a:p>
          <a:p>
            <a:pPr algn="just">
              <a:buFont typeface="Wingdings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Receiver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the device which receives the data messages. It can be a computer, workstation, telephone handset etc.</a:t>
            </a:r>
          </a:p>
          <a:p>
            <a:pPr algn="just">
              <a:buFont typeface="Wingdings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Message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the information to be communicated. Popular forms of information include text, pictures, audio, video etc.</a:t>
            </a:r>
          </a:p>
          <a:p>
            <a:pPr algn="just">
              <a:buFont typeface="Wingdings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Protocol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set of rules that governs the data communications.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represents an agreement between the communicating devices.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Without a protocol, two devices may be  connected but not communicating.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>
                <a:latin typeface="Times New Roman" charset="0"/>
              </a:rPr>
              <a:t>It determines what is communicated, how it is communicated and when it is communicated.</a:t>
            </a:r>
            <a:endParaRPr lang="en-AU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28600" y="188913"/>
            <a:ext cx="8686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Components Of </a:t>
            </a:r>
          </a:p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System (2/3)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371600"/>
            <a:ext cx="8686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Medium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the physical path by which a message travels from sender to receiver. Some examples include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Copper wire (Telephone)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Coaxial cable (Cable TV)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Fiber Optic Cable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Radio waves (known as wireless medium)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Data is required to be transferred in the form of electromagnetic (EM) signals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 medium should be able to carry the EM signals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28600" y="188913"/>
            <a:ext cx="8686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Components Of </a:t>
            </a:r>
          </a:p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System (3/3)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28600" y="228600"/>
            <a:ext cx="8458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Characteristics of </a:t>
            </a:r>
          </a:p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Communication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1447800"/>
            <a:ext cx="8305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effectiveness of a data communications system depends on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Delivery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data to the correct destination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data must be delivered accurately (as it is)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Timelines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s: data must be delivered on time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Real time transmission of audio and video data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b="1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A data communication system must transmit data to the correct destination in an accurate and timely manner</a:t>
            </a:r>
            <a:endParaRPr lang="en-AU" sz="2800" b="1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381000" y="152400"/>
            <a:ext cx="678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Representation (1/2)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838200"/>
            <a:ext cx="8382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Forms of Information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Text (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represented as a bit pattern (0s or 1s)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Different set of bit patterns are designed to represent text symbols and each set is called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code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Coding: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process of representing symbols</a:t>
            </a:r>
          </a:p>
          <a:p>
            <a:pPr marL="1257300" lvl="2" indent="-342900" algn="just"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Currently prevailing Unicode system uses 32 bits to represent a symbol</a:t>
            </a:r>
          </a:p>
          <a:p>
            <a:pPr marL="1257300" lvl="2" indent="-342900" algn="just"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ASCII constitutes of first 127 characters of Unicode</a:t>
            </a:r>
          </a:p>
          <a:p>
            <a:pPr marL="342900" lvl="1" indent="-342900"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Numbers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represented as a bit pattern (0s or 1s))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number is directly converted to a number to simplify math operations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53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381000" y="304800"/>
            <a:ext cx="678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Representation (2/2)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066800"/>
            <a:ext cx="86868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Forms of Information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Images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(also represented by bit patterns)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Composed of a matrix of pixels (picture elements)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More pixels, better resolution, more memory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pixel is assigned a bit pattern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Audio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recording or broadcasting of sound or music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Different from text, numbers, or images (by nature )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Continuous, not discrete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Video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recording or broadcasting of a picture or movie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either be produced as a continuous entity (e.g., by a TV camera), or 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be a combination of images, each a discrete entity, arranged to convey the idea of motion.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be changed to a digital or an analog signal</a:t>
            </a:r>
            <a:endParaRPr lang="en-A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18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678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Flow (1/2)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066800"/>
            <a:ext cx="86868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Communication between two devices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Simplex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One way communication 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One device can only transmit, other can only receive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Keyboards (introduces inputs), monitor (accepts output)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of entire capacity in one direction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Half-duplex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station can both transmit and receive, but not at the same time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in cases where there is no need for communication in both directions at the same time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of entire capacity for each direction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Walkie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-Talkies</a:t>
            </a:r>
          </a:p>
          <a:p>
            <a:pPr algn="just"/>
            <a:endParaRPr lang="en-AU" sz="20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  <a:p>
            <a:pPr algn="just"/>
            <a:endParaRPr lang="en-AU" sz="20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18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914400"/>
            <a:ext cx="838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Communication between two devices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Full-duplex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both stations can transmit and receive simultaneously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Sharing of capacity between signals in both directions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when communication in both directions is required</a:t>
            </a:r>
          </a:p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Telephone network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276600"/>
            <a:ext cx="6934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678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Data Flow (2/2)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44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90601"/>
            <a:ext cx="8839200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Organization of computer systems is strongly influenced by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merging of computers and communications</a:t>
            </a:r>
          </a:p>
          <a:p>
            <a:pPr marL="109728" indent="0">
              <a:buNone/>
            </a:pP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old model: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single computer serving all of the organization’s computational needs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replaced by one in which a large number of separate but interconnected computers do the job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 separate but interconnected computers are called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 networks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685800"/>
          </a:xfrm>
        </p:spPr>
        <p:txBody>
          <a:bodyPr/>
          <a:lstStyle/>
          <a:p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Computer Networks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90600"/>
            <a:ext cx="8839200" cy="5170487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a network?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</a:rPr>
              <a:t>A </a:t>
            </a:r>
            <a:r>
              <a:rPr lang="en-US" sz="2400" b="1" dirty="0">
                <a:solidFill>
                  <a:schemeClr val="hlink"/>
                </a:solidFill>
                <a:latin typeface="Times New Roman" pitchFamily="18" charset="0"/>
              </a:rPr>
              <a:t>network</a:t>
            </a:r>
            <a:r>
              <a:rPr lang="en-US" sz="2400" b="1" dirty="0">
                <a:latin typeface="Times New Roman" pitchFamily="18" charset="0"/>
              </a:rPr>
              <a:t> is a set of devices (often referred to as </a:t>
            </a:r>
            <a:r>
              <a:rPr lang="en-US" sz="2400" b="1" dirty="0">
                <a:solidFill>
                  <a:schemeClr val="hlink"/>
                </a:solidFill>
                <a:latin typeface="Times New Roman" pitchFamily="18" charset="0"/>
              </a:rPr>
              <a:t>nodes</a:t>
            </a:r>
            <a:r>
              <a:rPr lang="en-US" sz="2400" b="1" dirty="0">
                <a:latin typeface="Times New Roman" pitchFamily="18" charset="0"/>
              </a:rPr>
              <a:t>) connected by communication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transmission channels (links) that allow people to communicate over distances, large and small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</a:rPr>
              <a:t>In simple words, a network is the interconnection of a set of  devices capable of communication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2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90600"/>
            <a:ext cx="8839200" cy="39624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 Networks: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collection of autonomous computers interconnected by a single technology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computers are said to be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interconnected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if they are able to exchange information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Networks are usually connected together to make larger networks (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network of networks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Internet: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the most well-known example of 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network of networks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941388"/>
          </a:xfrm>
        </p:spPr>
        <p:txBody>
          <a:bodyPr/>
          <a:lstStyle/>
          <a:p>
            <a:pPr algn="l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Computer Networks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6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924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Network Criteria (1/3)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863239" name="Text Box 7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324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305800" cy="4267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charset="0"/>
              </a:rPr>
              <a:t>Most Important criteria </a:t>
            </a:r>
            <a:r>
              <a:rPr lang="en-US" sz="2400" dirty="0">
                <a:latin typeface="Times New Roman" charset="0"/>
              </a:rPr>
              <a:t>that a network must be able to meet are </a:t>
            </a:r>
            <a:r>
              <a:rPr lang="en-US" sz="2400" dirty="0">
                <a:solidFill>
                  <a:srgbClr val="0070C0"/>
                </a:solidFill>
                <a:latin typeface="Times New Roman" charset="0"/>
              </a:rPr>
              <a:t>performance, reliability and security</a:t>
            </a:r>
          </a:p>
          <a:p>
            <a:pPr>
              <a:buNone/>
            </a:pPr>
            <a:r>
              <a:rPr lang="en-US" sz="2400" b="1" dirty="0">
                <a:latin typeface="Times New Roman" charset="0"/>
              </a:rPr>
              <a:t>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CC00"/>
                </a:solidFill>
                <a:latin typeface="Times New Roman" charset="0"/>
              </a:rPr>
              <a:t>Measured</a:t>
            </a:r>
            <a:r>
              <a:rPr lang="en-US" sz="2400" dirty="0">
                <a:latin typeface="Times New Roman" charset="0"/>
              </a:rPr>
              <a:t> in many ways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charset="0"/>
              </a:rPr>
              <a:t>Transit time: </a:t>
            </a:r>
            <a:r>
              <a:rPr lang="en-US" sz="2400" dirty="0">
                <a:latin typeface="Times New Roman" charset="0"/>
              </a:rPr>
              <a:t>amount of time required for a message to travel from one device to another (part of response time)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charset="0"/>
              </a:rPr>
              <a:t>Response time: </a:t>
            </a:r>
            <a:r>
              <a:rPr lang="en-US" sz="2400" dirty="0">
                <a:latin typeface="Times New Roman" charset="0"/>
              </a:rPr>
              <a:t>elapsed time between an inquiry and response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CC00"/>
                </a:solidFill>
                <a:latin typeface="Times New Roman" charset="0"/>
              </a:rPr>
              <a:t>Depends</a:t>
            </a:r>
            <a:r>
              <a:rPr lang="en-US" sz="2400" dirty="0">
                <a:latin typeface="Times New Roman" charset="0"/>
              </a:rPr>
              <a:t> on a number of factors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Number of users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Type of transmission medium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Hardware capabilities and efficiency of the software</a:t>
            </a:r>
          </a:p>
          <a:p>
            <a:pPr lvl="1"/>
            <a:endParaRPr lang="en-US" sz="2400" dirty="0">
              <a:latin typeface="Times New Roman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6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924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Network Criteria (2/3)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863239" name="Text Box 7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324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3058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charset="0"/>
              </a:rPr>
              <a:t>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CC00"/>
                </a:solidFill>
                <a:latin typeface="Times New Roman" charset="0"/>
              </a:rPr>
              <a:t>Evaluated</a:t>
            </a:r>
            <a:r>
              <a:rPr lang="en-US" sz="2800" dirty="0">
                <a:latin typeface="Times New Roman" charset="0"/>
              </a:rPr>
              <a:t> in terms of </a:t>
            </a:r>
            <a:r>
              <a:rPr lang="en-US" sz="2800" b="1" dirty="0">
                <a:latin typeface="Times New Roman" charset="0"/>
              </a:rPr>
              <a:t>throughput </a:t>
            </a:r>
            <a:r>
              <a:rPr lang="en-US" sz="2800" dirty="0">
                <a:latin typeface="Times New Roman" charset="0"/>
              </a:rPr>
              <a:t>and</a:t>
            </a:r>
            <a:r>
              <a:rPr lang="en-US" sz="2800" b="1" dirty="0">
                <a:latin typeface="Times New Roman" charset="0"/>
              </a:rPr>
              <a:t> delay </a:t>
            </a:r>
            <a:r>
              <a:rPr lang="en-US" sz="2800" dirty="0">
                <a:latin typeface="Times New Roman" charset="0"/>
              </a:rPr>
              <a:t>metrics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Network throughput </a:t>
            </a:r>
            <a:r>
              <a:rPr lang="en-US" sz="2400" dirty="0">
                <a:latin typeface="Times New Roman" charset="0"/>
              </a:rPr>
              <a:t>is the amount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moved successfully from one place to another in a given time period, and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measured in bits per second (bps), Mbps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charset="0"/>
              </a:rPr>
              <a:t>We need more throughput and less delay (tradeoff)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Send more data to network, increase throughput, but increases the delay as well due to congestion</a:t>
            </a:r>
            <a:endParaRPr lang="en-US" sz="30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44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6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7924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charset="0"/>
              </a:rPr>
              <a:t>Network Criteria (3/3)</a:t>
            </a:r>
            <a:endParaRPr lang="en-US" sz="3200" b="1" i="1" dirty="0">
              <a:latin typeface="Times New Roman" charset="0"/>
            </a:endParaRPr>
          </a:p>
        </p:txBody>
      </p:sp>
      <p:sp>
        <p:nvSpPr>
          <p:cNvPr id="863239" name="Text Box 7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324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7772400" cy="5334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charset="0"/>
              </a:rPr>
              <a:t>Reliability </a:t>
            </a:r>
            <a:r>
              <a:rPr lang="en-US" sz="2400" dirty="0">
                <a:latin typeface="Times New Roman" charset="0"/>
              </a:rPr>
              <a:t>(accuracy of delivery)</a:t>
            </a:r>
            <a:r>
              <a:rPr lang="en-US" sz="2400" b="1" dirty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is measured by </a:t>
            </a:r>
            <a:endParaRPr lang="en-US" sz="2400" b="1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the failure rate of network components (failure frequency)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availability (the time taken by a link to recover from failure), and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network’s robustness (to cope with errors ----continue operating despite abnormalities)</a:t>
            </a:r>
            <a:endParaRPr lang="en-US" sz="2400" b="1" dirty="0">
              <a:latin typeface="Times New Roman" charset="0"/>
            </a:endParaRPr>
          </a:p>
          <a:p>
            <a:pPr>
              <a:buNone/>
            </a:pPr>
            <a:r>
              <a:rPr lang="en-US" sz="2400" b="1" dirty="0">
                <a:latin typeface="Times New Roman" charset="0"/>
              </a:rPr>
              <a:t>Security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Data protection against corruption/loss of data due to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Errors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Malicious users (unauthorized access)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Viruses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Implementation of policies and procedures for recovery from breaches and data losses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6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7924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charset="0"/>
              </a:rPr>
              <a:t>Network Applications</a:t>
            </a:r>
            <a:endParaRPr lang="en-US" sz="3200" b="1" i="1" dirty="0">
              <a:latin typeface="Times New Roman" charset="0"/>
            </a:endParaRPr>
          </a:p>
        </p:txBody>
      </p:sp>
      <p:sp>
        <p:nvSpPr>
          <p:cNvPr id="863239" name="Text Box 7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324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382000" cy="5791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charset="0"/>
              </a:rPr>
              <a:t>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Online shopping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Online reservation systems</a:t>
            </a:r>
            <a:endParaRPr lang="en-US" sz="2400" b="1" dirty="0">
              <a:latin typeface="Times New Roman" charset="0"/>
            </a:endParaRPr>
          </a:p>
          <a:p>
            <a:pPr>
              <a:buNone/>
            </a:pPr>
            <a:r>
              <a:rPr lang="en-US" sz="2400" b="1" dirty="0">
                <a:latin typeface="Times New Roman" charset="0"/>
              </a:rPr>
              <a:t>Marketing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Collecting, exchanging and analyzing data keeping in view customer’s trends and needs</a:t>
            </a:r>
          </a:p>
          <a:p>
            <a:pPr marL="109728" indent="0">
              <a:buNone/>
            </a:pPr>
            <a:r>
              <a:rPr lang="en-US" sz="2400" b="1" dirty="0">
                <a:latin typeface="Times New Roman" charset="0"/>
              </a:rPr>
              <a:t>Finance</a:t>
            </a:r>
            <a:endParaRPr lang="en-US" sz="24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Online Banking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Transfer of Foreign exchange </a:t>
            </a:r>
          </a:p>
          <a:p>
            <a:pPr marL="109728" indent="0">
              <a:buNone/>
            </a:pPr>
            <a:r>
              <a:rPr lang="en-US" sz="2400" b="1" dirty="0">
                <a:latin typeface="Times New Roman" charset="0"/>
              </a:rPr>
              <a:t>Teleconferencing</a:t>
            </a:r>
            <a:endParaRPr lang="en-US" sz="24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Online Conferences (without physical presence at the same place) , can be voice and video conferences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charset="0"/>
              </a:rPr>
              <a:t>Chats</a:t>
            </a:r>
          </a:p>
          <a:p>
            <a:pPr marL="109728" indent="0">
              <a:buNone/>
            </a:pPr>
            <a:r>
              <a:rPr lang="en-US" sz="2400" b="1" dirty="0">
                <a:latin typeface="Times New Roman" charset="0"/>
              </a:rPr>
              <a:t>Cable TV Network</a:t>
            </a:r>
            <a:endParaRPr lang="en-US" sz="24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charset="0"/>
            </a:endParaRPr>
          </a:p>
          <a:p>
            <a:pPr marL="109728" indent="0">
              <a:buNone/>
            </a:pPr>
            <a:endParaRPr lang="en-US" sz="2400" dirty="0">
              <a:latin typeface="Times New Roman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79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8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Physical Structures (1/4)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907270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727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610600" cy="5257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sz="2800" b="1" dirty="0">
                <a:latin typeface="Times New Roman" charset="0"/>
              </a:rPr>
              <a:t>1: </a:t>
            </a:r>
            <a:r>
              <a:rPr lang="en-US" sz="2400" b="1" dirty="0">
                <a:latin typeface="Times New Roman" charset="0"/>
              </a:rPr>
              <a:t>Based on the Type of Connection</a:t>
            </a:r>
          </a:p>
          <a:p>
            <a:pPr>
              <a:buNone/>
            </a:pPr>
            <a:r>
              <a:rPr lang="en-US" sz="2400" dirty="0">
                <a:latin typeface="Times New Roman" charset="0"/>
              </a:rPr>
              <a:t>For communication to occur, two devices must be connected in some way to the same link at the same time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Two possible types of connections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Point to Point: </a:t>
            </a:r>
            <a:r>
              <a:rPr lang="en-US" sz="2400" dirty="0">
                <a:latin typeface="Times New Roman" charset="0"/>
              </a:rPr>
              <a:t>single transmitter and receiver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charset="0"/>
              </a:rPr>
              <a:t>Provides dedicated link between two devices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charset="0"/>
              </a:rPr>
              <a:t>Entire capacity is reserved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charset="0"/>
              </a:rPr>
              <a:t>Through wire/cable links, microwaves or satellite links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charset="0"/>
              </a:rPr>
              <a:t>Example:</a:t>
            </a:r>
            <a:r>
              <a:rPr lang="en-US" sz="2400" dirty="0">
                <a:latin typeface="Times New Roman" charset="0"/>
              </a:rPr>
              <a:t> Remote control and TV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1995139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8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Physical Structures (2/4)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907270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727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610600" cy="5257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sz="2800" b="1" dirty="0">
                <a:latin typeface="Times New Roman" charset="0"/>
              </a:rPr>
              <a:t>1: </a:t>
            </a:r>
            <a:r>
              <a:rPr lang="en-US" sz="2400" b="1" dirty="0">
                <a:latin typeface="Times New Roman" charset="0"/>
              </a:rPr>
              <a:t>Based on the Type of Connection</a:t>
            </a:r>
          </a:p>
          <a:p>
            <a:pPr>
              <a:buNone/>
            </a:pPr>
            <a:endParaRPr lang="en-US" sz="2400" b="1" dirty="0">
              <a:latin typeface="Times New Roman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Two possible types of connections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Multipoint: </a:t>
            </a:r>
            <a:r>
              <a:rPr lang="en-US" sz="2400" dirty="0">
                <a:latin typeface="Times New Roman" charset="0"/>
              </a:rPr>
              <a:t>multiple recipients of single transmission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charset="0"/>
              </a:rPr>
              <a:t>More than two specific devices share a single link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charset="0"/>
              </a:rPr>
              <a:t>Capacity of the channel is shared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charset="0"/>
              </a:rPr>
              <a:t>Spatially shared capacity: </a:t>
            </a:r>
            <a:r>
              <a:rPr lang="en-US" sz="2400" dirty="0">
                <a:latin typeface="Times New Roman" charset="0"/>
              </a:rPr>
              <a:t>if several can use the link simultaneously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charset="0"/>
              </a:rPr>
              <a:t>Temporally shared capacity: </a:t>
            </a:r>
            <a:r>
              <a:rPr lang="en-US" sz="2400" dirty="0">
                <a:latin typeface="Times New Roman" charset="0"/>
              </a:rPr>
              <a:t>If users use the link in turns (timeshared)</a:t>
            </a:r>
          </a:p>
        </p:txBody>
      </p:sp>
    </p:spTree>
    <p:extLst>
      <p:ext uri="{BB962C8B-B14F-4D97-AF65-F5344CB8AC3E}">
        <p14:creationId xmlns:p14="http://schemas.microsoft.com/office/powerpoint/2010/main" val="1219675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19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762" y="1295400"/>
            <a:ext cx="682783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Physical Structures (3/4)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895290"/>
            <a:ext cx="3691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charset="0"/>
              </a:rPr>
              <a:t>1: </a:t>
            </a:r>
            <a:r>
              <a:rPr lang="en-US" b="1" dirty="0">
                <a:latin typeface="Times New Roman" charset="0"/>
              </a:rPr>
              <a:t>Based on the Type of Connection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8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Physical Structures (4/4)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907270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727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666018" cy="2743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charset="0"/>
              </a:rPr>
              <a:t>2: </a:t>
            </a:r>
            <a:r>
              <a:rPr lang="en-US" sz="2400" b="1" dirty="0">
                <a:latin typeface="Times New Roman" charset="0"/>
              </a:rPr>
              <a:t>Based on the Type of Topology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Physical Topology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refers to the way in which a network is laid out physically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Two or more devices connect to a </a:t>
            </a:r>
            <a:r>
              <a:rPr lang="en-US" sz="2400" b="1" dirty="0">
                <a:latin typeface="Times New Roman" charset="0"/>
              </a:rPr>
              <a:t>link</a:t>
            </a:r>
            <a:r>
              <a:rPr lang="en-US" sz="2400" dirty="0">
                <a:latin typeface="Times New Roman" charset="0"/>
              </a:rPr>
              <a:t> and two or more links form a </a:t>
            </a:r>
            <a:r>
              <a:rPr lang="en-US" sz="2400" b="1" dirty="0">
                <a:latin typeface="Times New Roman" charset="0"/>
              </a:rPr>
              <a:t>topology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Topology is geometric representation of the relationship of all the links and nodes </a:t>
            </a:r>
          </a:p>
          <a:p>
            <a:pPr marL="393192" lvl="1" indent="0">
              <a:buNone/>
            </a:pPr>
            <a:r>
              <a:rPr lang="en-US" sz="2400" dirty="0">
                <a:latin typeface="Times New Roman" charset="0"/>
              </a:rPr>
              <a:t>	(devices connected to one another through links)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4451350"/>
            <a:ext cx="6389687" cy="217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229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charset="0"/>
              </a:rPr>
              <a:t>A fully connected mesh topology (five devices)</a:t>
            </a:r>
          </a:p>
        </p:txBody>
      </p:sp>
      <p:pic>
        <p:nvPicPr>
          <p:cNvPr id="86528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066800"/>
            <a:ext cx="5540375" cy="360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31273" y="5105400"/>
            <a:ext cx="723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Connection of telephone regional offices as each regional office needs to be connected with every other regional office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8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077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charset="0"/>
              </a:rPr>
              <a:t>A star topology connecting four stations</a:t>
            </a:r>
          </a:p>
        </p:txBody>
      </p:sp>
      <p:pic>
        <p:nvPicPr>
          <p:cNvPr id="86631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2100" y="1881188"/>
            <a:ext cx="5905500" cy="314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447800" y="53340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in local area networks</a:t>
            </a:r>
          </a:p>
        </p:txBody>
      </p:sp>
    </p:spTree>
    <p:extLst>
      <p:ext uri="{BB962C8B-B14F-4D97-AF65-F5344CB8AC3E}">
        <p14:creationId xmlns:p14="http://schemas.microsoft.com/office/powerpoint/2010/main" val="1142552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2" name="Text Box 4"/>
          <p:cNvSpPr txBox="1">
            <a:spLocks noChangeArrowheads="1"/>
          </p:cNvSpPr>
          <p:nvPr/>
        </p:nvSpPr>
        <p:spPr bwMode="auto">
          <a:xfrm>
            <a:off x="304800" y="457200"/>
            <a:ext cx="7772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charset="0"/>
              </a:rPr>
              <a:t>A bus topology connecting three stations</a:t>
            </a:r>
          </a:p>
        </p:txBody>
      </p:sp>
      <p:pic>
        <p:nvPicPr>
          <p:cNvPr id="86733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9913" y="2362200"/>
            <a:ext cx="7888287" cy="166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09600" y="5334000"/>
            <a:ext cx="8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Nodes are connected to the bus cable by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drop lines and taps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Was used in early LANs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6" name="Text Box 4"/>
          <p:cNvSpPr txBox="1">
            <a:spLocks noChangeArrowheads="1"/>
          </p:cNvSpPr>
          <p:nvPr/>
        </p:nvSpPr>
        <p:spPr bwMode="auto">
          <a:xfrm>
            <a:off x="304800" y="457200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charset="0"/>
              </a:rPr>
              <a:t>A ring topology connecting six stations</a:t>
            </a:r>
          </a:p>
        </p:txBody>
      </p:sp>
      <p:pic>
        <p:nvPicPr>
          <p:cNvPr id="86835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6063" y="1922463"/>
            <a:ext cx="8593137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447800" y="53340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was used in LANs (Ethernet) introduced by IBM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80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728231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charset="0"/>
              </a:rPr>
              <a:t>A hybrid topology: </a:t>
            </a:r>
          </a:p>
          <a:p>
            <a:r>
              <a:rPr lang="en-US" sz="3200" b="1" dirty="0">
                <a:latin typeface="Times New Roman" charset="0"/>
              </a:rPr>
              <a:t>a star backbone with three bus networks</a:t>
            </a:r>
          </a:p>
        </p:txBody>
      </p:sp>
      <p:pic>
        <p:nvPicPr>
          <p:cNvPr id="86938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6600" y="1490663"/>
            <a:ext cx="6883400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6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543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charset="0"/>
              </a:rPr>
              <a:t>Categories of Networks</a:t>
            </a:r>
            <a:endParaRPr lang="en-US" sz="3600" b="1" i="1" dirty="0">
              <a:latin typeface="Times New Roman" charset="0"/>
            </a:endParaRPr>
          </a:p>
        </p:txBody>
      </p:sp>
      <p:sp>
        <p:nvSpPr>
          <p:cNvPr id="909318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931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4114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Personal Area Networks (PANs)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Local Area Networks (LANs)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Metropolitan Area Networks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Wide Area Networks</a:t>
            </a:r>
          </a:p>
        </p:txBody>
      </p:sp>
    </p:spTree>
    <p:extLst>
      <p:ext uri="{BB962C8B-B14F-4D97-AF65-F5344CB8AC3E}">
        <p14:creationId xmlns:p14="http://schemas.microsoft.com/office/powerpoint/2010/main" val="3345760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6" name="Text Box 4"/>
          <p:cNvSpPr txBox="1">
            <a:spLocks noChangeArrowheads="1"/>
          </p:cNvSpPr>
          <p:nvPr/>
        </p:nvSpPr>
        <p:spPr bwMode="auto">
          <a:xfrm>
            <a:off x="309349" y="152400"/>
            <a:ext cx="7543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Personal Area Networks (PAN)</a:t>
            </a:r>
          </a:p>
        </p:txBody>
      </p:sp>
      <p:sp>
        <p:nvSpPr>
          <p:cNvPr id="909318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931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98731"/>
            <a:ext cx="7772400" cy="3505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interconnection of information technology devices within the range of an individual person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generally within a range of 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10 meters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Wireless PAN (Bluetooth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connecting a computer with its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 like mouse, printer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, keyboard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Wired PAN (USB)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4343400"/>
            <a:ext cx="43434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410200" y="4902045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Bluetooth PAN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6695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9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9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9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9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9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9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9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9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6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543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Local Area Networks (LAN)</a:t>
            </a:r>
          </a:p>
        </p:txBody>
      </p:sp>
      <p:sp>
        <p:nvSpPr>
          <p:cNvPr id="909318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931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4114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charset="0"/>
              </a:rPr>
              <a:t>Local Area Networks (LANs)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Usually privately owned by the company using it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Operates within short distances like home, office, building, campus etc.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Designed to provide local interconnectivity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Connects hosts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Uses different transmission technologies like copper wires, optical fiber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Speed from 100 Mbps to 100 </a:t>
            </a:r>
            <a:r>
              <a:rPr lang="en-US" sz="2400" dirty="0" err="1">
                <a:latin typeface="Times New Roman" charset="0"/>
              </a:rPr>
              <a:t>Gbps</a:t>
            </a:r>
            <a:endParaRPr lang="en-US" sz="2400" dirty="0">
              <a:latin typeface="Times New Roman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Wireless LAN standard: IEEE 802.11 (</a:t>
            </a:r>
            <a:r>
              <a:rPr lang="en-US" sz="2400" dirty="0" err="1">
                <a:latin typeface="Times New Roman" charset="0"/>
              </a:rPr>
              <a:t>WiFi</a:t>
            </a:r>
            <a:r>
              <a:rPr lang="en-US" sz="2400" dirty="0">
                <a:latin typeface="Times New Roman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Wired LAN standard: IEEE 802.3 (Ethernet)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7745412" cy="4884737"/>
          </a:xfrm>
        </p:spPr>
        <p:txBody>
          <a:bodyPr>
            <a:normAutofit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066800"/>
            <a:ext cx="70104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4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Local Area Networks (LAN)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733800"/>
            <a:ext cx="647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0492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Metropolitan Area Networks (MAN)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7745412" cy="3886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network with a size between a LAN and a WAN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designed for customers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who need a high-speed connectivity, normally to the Internet, and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have endpoints spread over a city or part of city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usually based on LAN technology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 High speed wireless Internet access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WiMAX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(standardized as IEEE 802.16)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30 to 40 Mbps data rates, with updates to 1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Gbps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36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Metropolitan Area Networks (MAN)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7745412" cy="38862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Another Example: cable TV-based network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both television signals and Internet being fed into the centralized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cable head-end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for subsequent distribution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people’s homes</a:t>
            </a:r>
          </a:p>
        </p:txBody>
      </p:sp>
      <p:pic>
        <p:nvPicPr>
          <p:cNvPr id="5" name="Picture 4" descr="1-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276600"/>
            <a:ext cx="71739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60278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6" name="Text Box 4"/>
          <p:cNvSpPr txBox="1">
            <a:spLocks noChangeArrowheads="1"/>
          </p:cNvSpPr>
          <p:nvPr/>
        </p:nvSpPr>
        <p:spPr bwMode="auto">
          <a:xfrm>
            <a:off x="304800" y="361950"/>
            <a:ext cx="7543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Wide Area Networks (WAN)</a:t>
            </a:r>
          </a:p>
        </p:txBody>
      </p:sp>
      <p:sp>
        <p:nvSpPr>
          <p:cNvPr id="909318" name="Text Box 6"/>
          <p:cNvSpPr txBox="1">
            <a:spLocks noChangeArrowheads="1"/>
          </p:cNvSpPr>
          <p:nvPr/>
        </p:nvSpPr>
        <p:spPr bwMode="auto">
          <a:xfrm>
            <a:off x="457200" y="1524000"/>
            <a:ext cx="731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931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4114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Long distances (may cover continent or planet)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Provide connectivity over large areas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Interconnects connecting devices such as switches, routers or modems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charset="0"/>
              </a:rPr>
              <a:t>Create and run by communication companies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charset="0"/>
              </a:rPr>
              <a:t>Leased by company that uses it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Wired WAN: A company with branch offices in different cities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dirty="0">
              <a:latin typeface="Times New Roman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343400"/>
            <a:ext cx="7239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9717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3017</TotalTime>
  <Words>2333</Words>
  <Application>Microsoft Office PowerPoint</Application>
  <PresentationFormat>On-screen Show (4:3)</PresentationFormat>
  <Paragraphs>348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PowerPoint Presentation</vt:lpstr>
      <vt:lpstr>Recommended Text book</vt:lpstr>
      <vt:lpstr>Reference books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Computer Networks</vt:lpstr>
      <vt:lpstr>PowerPoint Presentation</vt:lpstr>
      <vt:lpstr>Computer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 Area Networks (LAN)</vt:lpstr>
      <vt:lpstr>Metropolitan Area Networks (MAN)</vt:lpstr>
      <vt:lpstr>Metropolitan Area Networks (MAN)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Slides</dc:title>
  <dc:subject>CCN</dc:subject>
  <dc:creator>Arshad Ali</dc:creator>
  <dc:description>By Dr. Arshad Ali</dc:description>
  <cp:lastModifiedBy>HP</cp:lastModifiedBy>
  <cp:revision>88</cp:revision>
  <cp:lastPrinted>2019-05-30T06:25:11Z</cp:lastPrinted>
  <dcterms:created xsi:type="dcterms:W3CDTF">2009-03-23T15:23:24Z</dcterms:created>
  <dcterms:modified xsi:type="dcterms:W3CDTF">2025-09-28T16:30:12Z</dcterms:modified>
</cp:coreProperties>
</file>
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2" r:id="rId1"/>
  </p:sldMasterIdLst>
  <p:notesMasterIdLst>
    <p:notesMasterId r:id="rId61"/>
  </p:notesMasterIdLst>
  <p:handoutMasterIdLst>
    <p:handoutMasterId r:id="rId62"/>
  </p:handoutMasterIdLst>
  <p:sldIdLst>
    <p:sldId id="595" r:id="rId2"/>
    <p:sldId id="397" r:id="rId3"/>
    <p:sldId id="354" r:id="rId4"/>
    <p:sldId id="496" r:id="rId5"/>
    <p:sldId id="570" r:id="rId6"/>
    <p:sldId id="507" r:id="rId7"/>
    <p:sldId id="573" r:id="rId8"/>
    <p:sldId id="583" r:id="rId9"/>
    <p:sldId id="574" r:id="rId10"/>
    <p:sldId id="575" r:id="rId11"/>
    <p:sldId id="625" r:id="rId12"/>
    <p:sldId id="626" r:id="rId13"/>
    <p:sldId id="627" r:id="rId14"/>
    <p:sldId id="577" r:id="rId15"/>
    <p:sldId id="576" r:id="rId16"/>
    <p:sldId id="591" r:id="rId17"/>
    <p:sldId id="584" r:id="rId18"/>
    <p:sldId id="524" r:id="rId19"/>
    <p:sldId id="527" r:id="rId20"/>
    <p:sldId id="528" r:id="rId21"/>
    <p:sldId id="587" r:id="rId22"/>
    <p:sldId id="533" r:id="rId23"/>
    <p:sldId id="588" r:id="rId24"/>
    <p:sldId id="589" r:id="rId25"/>
    <p:sldId id="536" r:id="rId26"/>
    <p:sldId id="590" r:id="rId27"/>
    <p:sldId id="537" r:id="rId28"/>
    <p:sldId id="538" r:id="rId29"/>
    <p:sldId id="539" r:id="rId30"/>
    <p:sldId id="541" r:id="rId31"/>
    <p:sldId id="543" r:id="rId32"/>
    <p:sldId id="544" r:id="rId33"/>
    <p:sldId id="569" r:id="rId34"/>
    <p:sldId id="546" r:id="rId35"/>
    <p:sldId id="597" r:id="rId36"/>
    <p:sldId id="598" r:id="rId37"/>
    <p:sldId id="614" r:id="rId38"/>
    <p:sldId id="615" r:id="rId39"/>
    <p:sldId id="599" r:id="rId40"/>
    <p:sldId id="600" r:id="rId41"/>
    <p:sldId id="601" r:id="rId42"/>
    <p:sldId id="602" r:id="rId43"/>
    <p:sldId id="603" r:id="rId44"/>
    <p:sldId id="604" r:id="rId45"/>
    <p:sldId id="605" r:id="rId46"/>
    <p:sldId id="606" r:id="rId47"/>
    <p:sldId id="607" r:id="rId48"/>
    <p:sldId id="608" r:id="rId49"/>
    <p:sldId id="620" r:id="rId50"/>
    <p:sldId id="621" r:id="rId51"/>
    <p:sldId id="623" r:id="rId52"/>
    <p:sldId id="609" r:id="rId53"/>
    <p:sldId id="610" r:id="rId54"/>
    <p:sldId id="619" r:id="rId55"/>
    <p:sldId id="611" r:id="rId56"/>
    <p:sldId id="617" r:id="rId57"/>
    <p:sldId id="612" r:id="rId58"/>
    <p:sldId id="618" r:id="rId59"/>
    <p:sldId id="613" r:id="rId60"/>
  </p:sldIdLst>
  <p:sldSz cx="9144000" cy="6858000" type="screen4x3"/>
  <p:notesSz cx="7010400" cy="92964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C7CD2"/>
    <a:srgbClr val="486DA2"/>
    <a:srgbClr val="1F7EE7"/>
    <a:srgbClr val="7DD330"/>
    <a:srgbClr val="00CC00"/>
    <a:srgbClr val="AE1517"/>
    <a:srgbClr val="CC0000"/>
    <a:srgbClr val="4F7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>
      <p:cViewPr varScale="1">
        <p:scale>
          <a:sx n="78" d="100"/>
          <a:sy n="78" d="100"/>
        </p:scale>
        <p:origin x="157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2838" y="-10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67D39907-CA41-4FA3-AB8C-7CF77BD0ED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41428"/>
      </p:ext>
    </p:extLst>
  </p:cSld>
  <p:clrMap bg1="lt1" tx1="dk1" bg2="lt2" tx2="dk2" accent1="accent1" accent2="accent2" accent3="accent3" accent4="accent4" accent5="accent5" accent6="accent6" hlink="hlink" folHlink="folHlink"/>
  <p:hf sldNum="0"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2830" tIns="46415" rIns="92830" bIns="46415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 dirty="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C95EBC4-39DD-4A71-BE51-C12854B5A8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95291"/>
      </p:ext>
    </p:extLst>
  </p:cSld>
  <p:clrMap bg1="lt1" tx1="dk1" bg2="lt2" tx2="dk2" accent1="accent1" accent2="accent2" accent3="accent3" accent4="accent4" accent5="accent5" accent6="accent6" hlink="hlink" folHlink="folHlink"/>
  <p:hf sldNum="0" hdr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C95EBC4-39DD-4A71-BE51-C12854B5A81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10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75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14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8C3A1E-3BFB-4C6F-8E08-F6EC09FAD50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54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4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52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74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10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20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38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95A1A-1CF4-40F5-81C9-D31BF252562E}" type="slidenum">
              <a:rPr lang="en-US"/>
              <a:pPr/>
              <a:t>19</a:t>
            </a:fld>
            <a:endParaRPr lang="en-US"/>
          </a:p>
        </p:txBody>
      </p:sp>
      <p:sp>
        <p:nvSpPr>
          <p:cNvPr id="95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4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28F37A-3005-411A-B949-913833B79F95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99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95A1A-1CF4-40F5-81C9-D31BF252562E}" type="slidenum">
              <a:rPr lang="en-US"/>
              <a:pPr/>
              <a:t>21</a:t>
            </a:fld>
            <a:endParaRPr lang="en-US"/>
          </a:p>
        </p:txBody>
      </p:sp>
      <p:sp>
        <p:nvSpPr>
          <p:cNvPr id="95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92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B39CF9-2269-4A57-A134-2167C6136F61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372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B39CF9-2269-4A57-A134-2167C6136F6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049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BB4CD3-8754-4903-8B1F-12E38D1B41F4}" type="slidenum">
              <a:rPr lang="en-US"/>
              <a:pPr/>
              <a:t>27</a:t>
            </a:fld>
            <a:endParaRPr lang="en-US"/>
          </a:p>
        </p:txBody>
      </p:sp>
      <p:sp>
        <p:nvSpPr>
          <p:cNvPr id="929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9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704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367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95EBC4-39DD-4A71-BE51-C12854B5A810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2118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95EBC4-39DD-4A71-BE51-C12854B5A810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95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D59156-31DE-4990-A126-101A6424F572}" type="slidenum">
              <a:rPr lang="en-US"/>
              <a:pPr/>
              <a:t>48</a:t>
            </a:fld>
            <a:endParaRPr lang="en-US"/>
          </a:p>
        </p:txBody>
      </p:sp>
      <p:sp>
        <p:nvSpPr>
          <p:cNvPr id="94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955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D59156-31DE-4990-A126-101A6424F572}" type="slidenum">
              <a:rPr lang="en-US"/>
              <a:pPr/>
              <a:t>49</a:t>
            </a:fld>
            <a:endParaRPr lang="en-US"/>
          </a:p>
        </p:txBody>
      </p:sp>
      <p:sp>
        <p:nvSpPr>
          <p:cNvPr id="94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95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D59156-31DE-4990-A126-101A6424F572}" type="slidenum">
              <a:rPr lang="en-US"/>
              <a:pPr/>
              <a:t>50</a:t>
            </a:fld>
            <a:endParaRPr lang="en-US"/>
          </a:p>
        </p:txBody>
      </p:sp>
      <p:sp>
        <p:nvSpPr>
          <p:cNvPr id="94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955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D59156-31DE-4990-A126-101A6424F572}" type="slidenum">
              <a:rPr lang="en-US"/>
              <a:pPr/>
              <a:t>51</a:t>
            </a:fld>
            <a:endParaRPr lang="en-US"/>
          </a:p>
        </p:txBody>
      </p:sp>
      <p:sp>
        <p:nvSpPr>
          <p:cNvPr id="94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955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D59156-31DE-4990-A126-101A6424F572}" type="slidenum">
              <a:rPr lang="en-US"/>
              <a:pPr/>
              <a:t>52</a:t>
            </a:fld>
            <a:endParaRPr lang="en-US"/>
          </a:p>
        </p:txBody>
      </p:sp>
      <p:sp>
        <p:nvSpPr>
          <p:cNvPr id="947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4116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95A1A-1CF4-40F5-81C9-D31BF252562E}" type="slidenum">
              <a:rPr lang="en-US"/>
              <a:pPr/>
              <a:t>58</a:t>
            </a:fld>
            <a:endParaRPr lang="en-US"/>
          </a:p>
        </p:txBody>
      </p:sp>
      <p:sp>
        <p:nvSpPr>
          <p:cNvPr id="95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498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95A1A-1CF4-40F5-81C9-D31BF252562E}" type="slidenum">
              <a:rPr lang="en-US"/>
              <a:pPr/>
              <a:t>59</a:t>
            </a:fld>
            <a:endParaRPr lang="en-US"/>
          </a:p>
        </p:txBody>
      </p:sp>
      <p:sp>
        <p:nvSpPr>
          <p:cNvPr id="952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49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C503CA2-7846-45C0-91D2-DA7BB5CE8748}" type="datetimeFigureOut">
              <a:rPr lang="en-US" smtClean="0"/>
              <a:pPr/>
              <a:t>10/12/2025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2774634-E179-45BC-8969-3DA06DCC02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owerpointstyles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ites.google.com/a/cs.uol.edu.pk/ccn/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31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30.w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0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10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5"/>
          <p:cNvSpPr txBox="1">
            <a:spLocks noChangeArrowheads="1"/>
          </p:cNvSpPr>
          <p:nvPr/>
        </p:nvSpPr>
        <p:spPr bwMode="auto">
          <a:xfrm>
            <a:off x="3348038" y="6237288"/>
            <a:ext cx="2457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dirty="0">
                <a:hlinkClick r:id="rId3"/>
              </a:rPr>
              <a:t>Powerpoint Templates</a:t>
            </a:r>
            <a:endParaRPr lang="en-AU" dirty="0"/>
          </a:p>
        </p:txBody>
      </p:sp>
      <p:pic>
        <p:nvPicPr>
          <p:cNvPr id="2051" name="Picture 24" descr="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Text Box 6"/>
          <p:cNvSpPr txBox="1">
            <a:spLocks noChangeArrowheads="1"/>
          </p:cNvSpPr>
          <p:nvPr/>
        </p:nvSpPr>
        <p:spPr bwMode="auto">
          <a:xfrm>
            <a:off x="381000" y="4267200"/>
            <a:ext cx="8458200" cy="2148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 tIns="180000" rIns="180000" bIns="18000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M.Nadeem Akhtar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CS &amp; IT Department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The University of Lahore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Email: nadeem.akhtar@cs.uol.edu.pk</a:t>
            </a:r>
            <a:endParaRPr lang="en-US" sz="2400" b="1" dirty="0">
              <a:latin typeface="Times New Roman" pitchFamily="18" charset="0"/>
              <a:cs typeface="Times New Roman" pitchFamily="18" charset="0"/>
              <a:hlinkClick r:id="rId5"/>
            </a:endParaRPr>
          </a:p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  <a:hlinkClick r:id="rId5"/>
              </a:rPr>
              <a:t>URL-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https://sites.google.com/site/</a:t>
            </a:r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nadeemuolcsccn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/home</a:t>
            </a:r>
            <a:endParaRPr lang="en-AU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53" name="Text Box 6"/>
          <p:cNvSpPr txBox="1">
            <a:spLocks noChangeArrowheads="1"/>
          </p:cNvSpPr>
          <p:nvPr/>
        </p:nvSpPr>
        <p:spPr bwMode="auto">
          <a:xfrm>
            <a:off x="0" y="2362200"/>
            <a:ext cx="8686800" cy="1348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0" tIns="180000" rIns="180000" bIns="180000">
            <a:spAutoFit/>
          </a:bodyPr>
          <a:lstStyle/>
          <a:p>
            <a:pPr algn="ctr"/>
            <a:r>
              <a:rPr lang="en-AU" sz="2800" b="1" dirty="0">
                <a:latin typeface="Times New Roman" pitchFamily="18" charset="0"/>
                <a:cs typeface="Times New Roman" pitchFamily="18" charset="0"/>
              </a:rPr>
              <a:t>Computer Networks</a:t>
            </a:r>
          </a:p>
          <a:p>
            <a:pPr algn="ctr"/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Week # 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74634-E179-45BC-8969-3DA06DCC02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7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1066800" y="188913"/>
            <a:ext cx="746601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AU" sz="3200" b="1" dirty="0">
                <a:latin typeface="Times New Roman" pitchFamily="18" charset="0"/>
                <a:cs typeface="Times New Roman" pitchFamily="18" charset="0"/>
              </a:rPr>
              <a:t>ACKNOWLEDGMENTS</a:t>
            </a:r>
            <a:endParaRPr lang="en-A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1066800"/>
            <a:ext cx="7300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These lecture slides contain material from slides prepared by Behrouz </a:t>
            </a:r>
            <a:r>
              <a:rPr lang="en-AU" sz="2400" dirty="0" err="1">
                <a:latin typeface="Times New Roman" pitchFamily="18" charset="0"/>
                <a:cs typeface="Times New Roman" pitchFamily="18" charset="0"/>
              </a:rPr>
              <a:t>Forouzan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for his book Data Communication and Networking (4</a:t>
            </a:r>
            <a:r>
              <a:rPr lang="en-AU" sz="2400" baseline="30000" dirty="0">
                <a:latin typeface="Times New Roman" pitchFamily="18" charset="0"/>
                <a:cs typeface="Times New Roman" pitchFamily="18" charset="0"/>
              </a:rPr>
              <a:t>th/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5</a:t>
            </a:r>
            <a:r>
              <a:rPr lang="en-AU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 edition).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15240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Week 3: Course Plan</a:t>
            </a:r>
            <a:endParaRPr lang="en-AU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447800"/>
            <a:ext cx="730066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Signals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Transmission impairments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Signal-to-noise ratio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Channel Capacity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9413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Physical Layer: Scope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36576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What's carried across a physical channel, like a wire or a wireless or fiberoptic is an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analog signal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want to send digital bits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Need some way to represent digital bits with those analog signals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heart of the Physical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For transmission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data needs to be changed to signals </a:t>
            </a:r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524000" y="4648200"/>
            <a:ext cx="5257800" cy="1828800"/>
            <a:chOff x="1524000" y="4343400"/>
            <a:chExt cx="5257800" cy="18288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410691" y="4724400"/>
              <a:ext cx="3429000" cy="144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1524000" y="434340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10110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867400" y="434340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10110</a:t>
              </a:r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941388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and Signals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153400" cy="426720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Data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are entities that convey meaning</a:t>
            </a:r>
          </a:p>
          <a:p>
            <a:pPr lvl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But Data communication at physical layer means exchanging signals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Data need to be transmitted and received, but the media have to change data to signals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signal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an electric or electromagnetic encoding of data </a:t>
            </a:r>
          </a:p>
          <a:p>
            <a:pPr marL="109728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Signal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detectable transmitted energy that can be used to carry information</a:t>
            </a:r>
          </a:p>
          <a:p>
            <a:pPr marL="109728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Signaling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the act of propagating a signal along a medium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2400" y="5181600"/>
            <a:ext cx="8991600" cy="1143000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fontAlgn="auto">
              <a:spcAft>
                <a:spcPts val="0"/>
              </a:spcAft>
            </a:pPr>
            <a:r>
              <a:rPr lang="en-US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Major functions of the physical layer is to move data in the form of electromagnetic signals across a transmission medium</a:t>
            </a:r>
            <a:endParaRPr lang="en-US" sz="2600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27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4"/>
          <p:cNvSpPr txBox="1">
            <a:spLocks noChangeArrowheads="1"/>
          </p:cNvSpPr>
          <p:nvPr/>
        </p:nvSpPr>
        <p:spPr bwMode="auto">
          <a:xfrm>
            <a:off x="304800" y="228600"/>
            <a:ext cx="699742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i="0" baseline="0" dirty="0">
                <a:latin typeface="Times New Roman" pitchFamily="18" charset="0"/>
                <a:cs typeface="Times New Roman" pitchFamily="18" charset="0"/>
              </a:rPr>
              <a:t>A digital signal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 can have more than two levels. 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In this case, we can send more than 1 bit for each level</a:t>
            </a:r>
            <a:r>
              <a:rPr lang="en-US" sz="2400" b="1" i="0" baseline="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12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0" y="1371600"/>
            <a:ext cx="6237288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955964" y="5867400"/>
            <a:ext cx="77308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9728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Digital signals can propagate analog and digital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457200" y="228600"/>
            <a:ext cx="7696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Parameters of a Sine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8305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Three parameters of a sine wave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Peak amplitude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Frequency / Period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phase</a:t>
            </a:r>
          </a:p>
          <a:p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Peak amplitude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signal is the absolute value of its highest intensity, proportional to the energy it carries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normally measured in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volts for electrical signals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14800"/>
            <a:ext cx="66294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8017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914400"/>
            <a:ext cx="8305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sz="2400" b="1" u="sng" dirty="0">
                <a:latin typeface="Times New Roman" pitchFamily="18" charset="0"/>
                <a:cs typeface="Times New Roman" pitchFamily="18" charset="0"/>
              </a:rPr>
              <a:t>Amplitude (</a:t>
            </a:r>
            <a:r>
              <a:rPr lang="en-AU" sz="2400" b="1" i="1" u="sng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AU" sz="2400" b="1" u="sng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AU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Amplitude of a signal is the value of the signal at any point on the wave.</a:t>
            </a:r>
          </a:p>
          <a:p>
            <a:pPr marL="342900" indent="-342900" algn="just">
              <a:buFont typeface="Wingdings" pitchFamily="2" charset="2"/>
              <a:buChar char="Ø"/>
            </a:pPr>
            <a:r>
              <a:rPr lang="en-AU" sz="2400" dirty="0">
                <a:latin typeface="Times New Roman" pitchFamily="18" charset="0"/>
                <a:cs typeface="Times New Roman" pitchFamily="18" charset="0"/>
              </a:rPr>
              <a:t>It is equal to the vertical distance from a given point on the wave form to the horizontal axis.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3" y="3276600"/>
            <a:ext cx="66294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8221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457200" y="228600"/>
            <a:ext cx="7696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Parameters of a Sine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8305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Period and Frequency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(one characteristic, defined in two ways)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Period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amount of time,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seconds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signal needs to complete 1 cycle.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number of periods in 1 s (expressed 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Hertz (Hz))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and period are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each other.</a:t>
            </a:r>
          </a:p>
        </p:txBody>
      </p:sp>
      <p:pic>
        <p:nvPicPr>
          <p:cNvPr id="6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9436" y="3222724"/>
            <a:ext cx="4038600" cy="609600"/>
          </a:xfrm>
          <a:prstGeom prst="rect">
            <a:avLst/>
          </a:prstGeom>
          <a:solidFill>
            <a:srgbClr val="3366FF"/>
          </a:solidFill>
          <a:ln w="28575">
            <a:solidFill>
              <a:srgbClr val="3366FF"/>
            </a:solidFill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066310"/>
            <a:ext cx="7772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1509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457200" y="228600"/>
            <a:ext cx="7696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Parameters of a Sine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830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Units of Period and Frequency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62100"/>
            <a:ext cx="72390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450273" y="3609109"/>
            <a:ext cx="830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a period of 100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microseconds?</a:t>
            </a:r>
          </a:p>
        </p:txBody>
      </p:sp>
      <p:sp>
        <p:nvSpPr>
          <p:cNvPr id="2" name="Rectangle 1"/>
          <p:cNvSpPr/>
          <p:nvPr/>
        </p:nvSpPr>
        <p:spPr>
          <a:xfrm>
            <a:off x="450273" y="4110243"/>
            <a:ext cx="746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we use at home has a frequency of 60 Hz. What is the Period of this sine wave?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257800"/>
            <a:ext cx="8534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period of a signal is 100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its frequency in kilohertz?</a:t>
            </a:r>
          </a:p>
        </p:txBody>
      </p:sp>
    </p:spTree>
    <p:extLst>
      <p:ext uri="{BB962C8B-B14F-4D97-AF65-F5344CB8AC3E}">
        <p14:creationId xmlns:p14="http://schemas.microsoft.com/office/powerpoint/2010/main" val="3127078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2226FF4-0A7D-CCA7-70CA-BFD62CF16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09728" indent="0">
                  <a:buNone/>
                </a:pPr>
                <a:endParaRPr lang="en-US" dirty="0"/>
              </a:p>
              <a:p>
                <a:r>
                  <a:rPr lang="en-US" b="1" dirty="0"/>
                  <a:t>100 milliseconds (</a:t>
                </a:r>
                <a:r>
                  <a:rPr lang="en-US" b="1" dirty="0" err="1"/>
                  <a:t>ms</a:t>
                </a:r>
                <a:r>
                  <a:rPr lang="en-US" b="1" dirty="0"/>
                  <a:t>)</a:t>
                </a:r>
                <a:r>
                  <a:rPr lang="en-US" dirty="0"/>
                  <a:t> into </a:t>
                </a:r>
                <a:r>
                  <a:rPr lang="en-US" b="1" dirty="0"/>
                  <a:t>microseconds (µs)</a:t>
                </a:r>
                <a:r>
                  <a:rPr lang="en-US" dirty="0"/>
                  <a:t> :</a:t>
                </a:r>
              </a:p>
              <a:p>
                <a:r>
                  <a:rPr lang="en-US" b="1" dirty="0"/>
                  <a:t>1 millisecond (</a:t>
                </a:r>
                <a:r>
                  <a:rPr lang="en-US" b="1" dirty="0" err="1"/>
                  <a:t>ms</a:t>
                </a:r>
                <a:r>
                  <a:rPr lang="en-US" b="1" dirty="0"/>
                  <a:t>) = 1,000 microseconds (µs)</a:t>
                </a:r>
                <a:endParaRPr lang="en-US" dirty="0"/>
              </a:p>
              <a:p>
                <a:r>
                  <a:rPr lang="en-US" dirty="0"/>
                  <a:t>Therefore,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/>
                      <m:t>100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ms</m:t>
                    </m:r>
                    <m:r>
                      <a:rPr lang="en-US"/>
                      <m:t>=</m:t>
                    </m:r>
                    <m:r>
                      <a:rPr lang="en-US"/>
                      <m:t>100</m:t>
                    </m:r>
                    <m:r>
                      <a:rPr lang="en-US"/>
                      <m:t>×</m:t>
                    </m:r>
                    <m:r>
                      <a:rPr lang="en-US"/>
                      <m:t>1</m:t>
                    </m:r>
                    <m:r>
                      <a:rPr lang="en-US"/>
                      <m:t>,</m:t>
                    </m:r>
                    <m:r>
                      <a:rPr lang="en-US"/>
                      <m:t>000</m:t>
                    </m:r>
                    <m:r>
                      <a:rPr lang="en-US"/>
                      <m:t>=</m:t>
                    </m:r>
                    <m:r>
                      <a:rPr lang="en-US"/>
                      <m:t>100</m:t>
                    </m:r>
                    <m:r>
                      <a:rPr lang="en-US"/>
                      <m:t>,</m:t>
                    </m:r>
                    <m:r>
                      <a:rPr lang="en-US"/>
                      <m:t>000</m:t>
                    </m:r>
                    <m:r>
                      <m:rPr>
                        <m:nor/>
                      </m:rPr>
                      <a:rPr lang="en-US" i="1"/>
                      <m:t> µ</m:t>
                    </m:r>
                    <m:r>
                      <m:rPr>
                        <m:nor/>
                      </m:rPr>
                      <a:rPr lang="en-US" i="1"/>
                      <m:t>s</m:t>
                    </m:r>
                  </m:oMath>
                </a14:m>
                <a:endParaRPr lang="en-US" dirty="0"/>
              </a:p>
              <a:p>
                <a:pPr marL="109728" indent="0">
                  <a:buNone/>
                </a:pPr>
                <a:endParaRPr lang="en-PK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2226FF4-0A7D-CCA7-70CA-BFD62CF16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r="-125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3E7FC41-0335-5DA1-84F5-35FE3140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 a period of 100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microseconds?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234239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097B-6684-95BD-AE35-CA87C63A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8529B9-E038-C4A3-4E85-ADAC7DD906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To find the </a:t>
                </a:r>
                <a:r>
                  <a:rPr lang="en-US" b="1" dirty="0"/>
                  <a:t>period (T)</a:t>
                </a:r>
                <a:r>
                  <a:rPr lang="en-US" dirty="0"/>
                  <a:t> of a wave from its </a:t>
                </a:r>
                <a:r>
                  <a:rPr lang="en-US" b="1" dirty="0"/>
                  <a:t>frequency (f)</a:t>
                </a:r>
                <a:r>
                  <a:rPr lang="en-US" dirty="0"/>
                  <a:t>, use the formula: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𝑇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 i="1"/>
                          <m:t>𝑓</m:t>
                        </m:r>
                      </m:den>
                    </m:f>
                  </m:oMath>
                </a14:m>
                <a:endParaRPr lang="ar-AE" dirty="0"/>
              </a:p>
              <a:p>
                <a:r>
                  <a:rPr lang="en-US" dirty="0"/>
                  <a:t>Given: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r>
                      <a:rPr lang="en-US"/>
                      <m:t>=</m:t>
                    </m:r>
                    <m:r>
                      <a:rPr lang="en-US"/>
                      <m:t>60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Hz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𝑇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60</m:t>
                        </m:r>
                      </m:den>
                    </m:f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 i="1"/>
                      <m:t>seconds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𝑇</m:t>
                    </m:r>
                    <m:r>
                      <a:rPr lang="en-US"/>
                      <m:t>=</m:t>
                    </m:r>
                    <m:r>
                      <a:rPr lang="en-US"/>
                      <m:t>0</m:t>
                    </m:r>
                    <m:r>
                      <a:rPr lang="en-US"/>
                      <m:t>.</m:t>
                    </m:r>
                    <m:r>
                      <a:rPr lang="en-US"/>
                      <m:t>016666</m:t>
                    </m:r>
                    <m:r>
                      <a:rPr lang="en-US"/>
                      <m:t>...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seconds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Convert seconds to milliseconds (1 s = 1000 </a:t>
                </a:r>
                <a:r>
                  <a:rPr lang="en-US" dirty="0" err="1"/>
                  <a:t>ms</a:t>
                </a:r>
                <a:r>
                  <a:rPr lang="en-US" dirty="0"/>
                  <a:t>):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𝑇</m:t>
                    </m:r>
                    <m:r>
                      <a:rPr lang="en-US"/>
                      <m:t>=</m:t>
                    </m:r>
                    <m:r>
                      <a:rPr lang="en-US"/>
                      <m:t>0</m:t>
                    </m:r>
                    <m:r>
                      <a:rPr lang="en-US"/>
                      <m:t>.</m:t>
                    </m:r>
                    <m:r>
                      <a:rPr lang="en-US"/>
                      <m:t>016666</m:t>
                    </m:r>
                    <m:r>
                      <a:rPr lang="en-US"/>
                      <m:t>...×</m:t>
                    </m:r>
                    <m:r>
                      <a:rPr lang="en-US"/>
                      <m:t>1000</m:t>
                    </m:r>
                    <m:r>
                      <a:rPr lang="en-US"/>
                      <m:t>=</m:t>
                    </m:r>
                    <m:r>
                      <a:rPr lang="en-US"/>
                      <m:t>16</m:t>
                    </m:r>
                    <m:r>
                      <a:rPr lang="en-US"/>
                      <m:t>.</m:t>
                    </m:r>
                    <m:r>
                      <a:rPr lang="en-US"/>
                      <m:t>67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ms</m:t>
                    </m:r>
                  </m:oMath>
                </a14:m>
                <a:endParaRPr lang="en-US" b="0" dirty="0"/>
              </a:p>
              <a:p>
                <a:pPr marL="109728" indent="0">
                  <a:buNone/>
                </a:pPr>
                <a:r>
                  <a:rPr lang="en-US" b="1" dirty="0"/>
                  <a:t>Answer:</a:t>
                </a:r>
                <a:r>
                  <a:rPr lang="en-US" dirty="0"/>
                  <a:t> The period of a 60 Hz sine wave is </a:t>
                </a:r>
                <a:r>
                  <a:rPr lang="en-US" b="1" dirty="0"/>
                  <a:t>approximately 16.67 milliseconds (</a:t>
                </a:r>
                <a:r>
                  <a:rPr lang="en-US" b="1" dirty="0" err="1"/>
                  <a:t>ms</a:t>
                </a:r>
                <a:r>
                  <a:rPr lang="en-US" b="1" dirty="0"/>
                  <a:t>)</a:t>
                </a:r>
                <a:r>
                  <a:rPr lang="en-US" dirty="0"/>
                  <a:t>.</a:t>
                </a:r>
              </a:p>
              <a:p>
                <a:pPr marL="109728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8529B9-E038-C4A3-4E85-ADAC7DD906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91" r="-1037" b="-283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C6EA00B-CA98-F92C-1A81-BED70B959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we use at home has a frequency of 60 Hz. What is the Period of this sine wave?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1192142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9581D-DBCA-E6A8-A29D-283D2EC76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0B2FB85-D45B-B055-45EC-34AC3312C4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09728" indent="0">
                  <a:buNone/>
                </a:pPr>
                <a:endParaRPr lang="en-US" dirty="0"/>
              </a:p>
              <a:p>
                <a:r>
                  <a:rPr lang="en-US" dirty="0"/>
                  <a:t>Given: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/>
                      <m:t>𝑇</m:t>
                    </m:r>
                    <m:r>
                      <a:rPr lang="en-US"/>
                      <m:t>=</m:t>
                    </m:r>
                    <m:r>
                      <a:rPr lang="en-US"/>
                      <m:t>100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ms</m:t>
                    </m:r>
                    <m:r>
                      <a:rPr lang="en-US"/>
                      <m:t>=</m:t>
                    </m:r>
                    <m:r>
                      <a:rPr lang="en-US"/>
                      <m:t>100</m:t>
                    </m:r>
                    <m:r>
                      <a:rPr lang="en-US"/>
                      <m:t>×</m:t>
                    </m:r>
                    <m:sSup>
                      <m:sSupPr>
                        <m:ctrlPr>
                          <a:rPr lang="ar-AE" i="1"/>
                        </m:ctrlPr>
                      </m:sSupPr>
                      <m:e>
                        <m:r>
                          <a:rPr lang="ar-AE"/>
                          <m:t>10</m:t>
                        </m:r>
                      </m:e>
                      <m:sup>
                        <m:r>
                          <a:rPr lang="ar-AE"/>
                          <m:t>−</m:t>
                        </m:r>
                        <m:r>
                          <a:rPr lang="ar-AE"/>
                          <m:t>3</m:t>
                        </m:r>
                      </m:sup>
                    </m:sSup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 i="1"/>
                      <m:t>s</m:t>
                    </m:r>
                    <m:r>
                      <a:rPr lang="en-US"/>
                      <m:t>=</m:t>
                    </m:r>
                    <m:r>
                      <a:rPr lang="en-US"/>
                      <m:t>0</m:t>
                    </m:r>
                    <m:r>
                      <a:rPr lang="en-US"/>
                      <m:t>.</m:t>
                    </m:r>
                    <m:r>
                      <a:rPr lang="en-US"/>
                      <m:t>1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s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</m:t>
                        </m:r>
                      </m:num>
                      <m:den>
                        <m:r>
                          <a:rPr lang="ar-AE"/>
                          <m:t>0</m:t>
                        </m:r>
                        <m:r>
                          <a:rPr lang="ar-AE"/>
                          <m:t>.</m:t>
                        </m:r>
                        <m:r>
                          <a:rPr lang="ar-AE"/>
                          <m:t>1</m:t>
                        </m:r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10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 i="1"/>
                      <m:t>Hz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Now convert hertz to kilohertz:</a:t>
                </a:r>
              </a:p>
              <a:p>
                <a14:m>
                  <m:oMath xmlns:m="http://schemas.openxmlformats.org/officeDocument/2006/math">
                    <m:r>
                      <a:rPr lang="en-US"/>
                      <m:t>1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kHz</m:t>
                    </m:r>
                    <m:r>
                      <a:rPr lang="en-US"/>
                      <m:t>=</m:t>
                    </m:r>
                    <m:r>
                      <a:rPr lang="en-US"/>
                      <m:t>1000</m:t>
                    </m:r>
                    <m:r>
                      <m:rPr>
                        <m:nor/>
                      </m:rPr>
                      <a:rPr lang="en-US" i="1"/>
                      <m:t> </m:t>
                    </m:r>
                    <m:r>
                      <m:rPr>
                        <m:nor/>
                      </m:rPr>
                      <a:rPr lang="en-US" i="1"/>
                      <m:t>Hz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10</m:t>
                        </m:r>
                      </m:num>
                      <m:den>
                        <m:r>
                          <a:rPr lang="ar-AE"/>
                          <m:t>1000</m:t>
                        </m:r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  <m:r>
                      <a:rPr lang="ar-AE"/>
                      <m:t>.</m:t>
                    </m:r>
                    <m:r>
                      <a:rPr lang="ar-AE"/>
                      <m:t>01</m:t>
                    </m:r>
                    <m:r>
                      <m:rPr>
                        <m:nor/>
                      </m:rPr>
                      <a:rPr lang="ar-AE" i="1"/>
                      <m:t> </m:t>
                    </m:r>
                    <m:r>
                      <m:rPr>
                        <m:nor/>
                      </m:rPr>
                      <a:rPr lang="en-US" i="1"/>
                      <m:t>kHz</m:t>
                    </m:r>
                  </m:oMath>
                </a14:m>
                <a:endParaRPr lang="en-US" b="0" dirty="0"/>
              </a:p>
              <a:p>
                <a:pPr marL="109728" indent="0">
                  <a:buNone/>
                </a:pPr>
                <a:r>
                  <a:rPr lang="en-US" b="1" dirty="0"/>
                  <a:t>Answer:</a:t>
                </a:r>
                <a:r>
                  <a:rPr lang="en-US" dirty="0"/>
                  <a:t> The frequency is </a:t>
                </a:r>
                <a:r>
                  <a:rPr lang="en-US" b="1" dirty="0"/>
                  <a:t>0.01 kHz</a:t>
                </a:r>
                <a:r>
                  <a:rPr lang="en-US" dirty="0"/>
                  <a:t> (or </a:t>
                </a:r>
                <a:r>
                  <a:rPr lang="en-US" b="1" dirty="0"/>
                  <a:t>10 Hz</a:t>
                </a:r>
                <a:r>
                  <a:rPr lang="en-US" dirty="0"/>
                  <a:t>).</a:t>
                </a:r>
              </a:p>
              <a:p>
                <a:pPr marL="109728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0B2FB85-D45B-B055-45EC-34AC3312C4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008040A-9BDD-8A15-DEDE-F439283F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period of a signal is 100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What is its frequency in kilohertz?</a:t>
            </a:r>
          </a:p>
        </p:txBody>
      </p:sp>
    </p:spTree>
    <p:extLst>
      <p:ext uri="{BB962C8B-B14F-4D97-AF65-F5344CB8AC3E}">
        <p14:creationId xmlns:p14="http://schemas.microsoft.com/office/powerpoint/2010/main" val="1451831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457200" y="228600"/>
            <a:ext cx="7696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Parameters of a Sine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Frequency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 is rate of change with respect to time.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Change in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span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time means high frequency.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over a long span of time means low frequency.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81071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a signal does not change at all?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signal does not change at all, it never completes a cycle, so its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is 0 Hz.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1945" y="4267200"/>
            <a:ext cx="777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a signal changes instantaneously? Or What if it jumps from one level to another in no time?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signal changes instantaneously, its period is zero; So frequency is 1/0, or infinite (unbounded).</a:t>
            </a:r>
          </a:p>
        </p:txBody>
      </p:sp>
    </p:spTree>
    <p:extLst>
      <p:ext uri="{BB962C8B-B14F-4D97-AF65-F5344CB8AC3E}">
        <p14:creationId xmlns:p14="http://schemas.microsoft.com/office/powerpoint/2010/main" val="1020503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457200" y="228600"/>
            <a:ext cx="7696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AU" sz="3600" b="1" dirty="0">
                <a:latin typeface="Times New Roman" pitchFamily="18" charset="0"/>
                <a:cs typeface="Times New Roman" pitchFamily="18" charset="0"/>
              </a:rPr>
              <a:t>Parameters of a Sine Wave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914400"/>
            <a:ext cx="8305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Phase</a:t>
            </a: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shift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describes the position of the waveform relative to time 0.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the wave as something that can be shifted backward or forward along the time axis,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describes the amount of that shift.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indicates the status of the first cycle.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constant that tells at what value the sine function has when 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=0 and 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measured in degrees or radians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[360º is 2π rad; 1º is 2π/360 rad, and 1 rad is 360/(2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π)].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48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447800"/>
            <a:ext cx="7772400" cy="266700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762000" y="838200"/>
            <a:ext cx="7905750" cy="3124200"/>
            <a:chOff x="762000" y="1371600"/>
            <a:chExt cx="7905750" cy="2590800"/>
          </a:xfrm>
        </p:grpSpPr>
        <p:pic>
          <p:nvPicPr>
            <p:cNvPr id="12800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2000" y="1447800"/>
              <a:ext cx="3867150" cy="2514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800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724400" y="1371600"/>
              <a:ext cx="3943350" cy="2543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TextBox 6"/>
          <p:cNvSpPr txBox="1"/>
          <p:nvPr/>
        </p:nvSpPr>
        <p:spPr>
          <a:xfrm>
            <a:off x="1066800" y="4267200"/>
            <a:ext cx="76962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= ?,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 = ?, T = ?,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 = ?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=  1 (in both), 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 =  1 and 2, T = 1 and 1/2,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 = 0 (in both)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6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229600" cy="3200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the distance a simple signal can travel in one period or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distance between two points of corresponding phase of two consecutive cycles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It binds the period or frequency of simple sine wave to the propagation speed of the medium</a:t>
            </a:r>
          </a:p>
          <a:p>
            <a:pPr marL="393192" lvl="1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often used to describe the transmission of light in an optical fiber (normally measured in micrometers (microns))</a:t>
            </a:r>
          </a:p>
          <a:p>
            <a:pPr lvl="1">
              <a:buFont typeface="Wingdings" pitchFamily="2" charset="2"/>
              <a:buChar char="Ø"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944562"/>
          </a:xfrm>
        </p:spPr>
        <p:txBody>
          <a:bodyPr>
            <a:normAutofit/>
          </a:bodyPr>
          <a:lstStyle/>
          <a:p>
            <a:r>
              <a:rPr lang="en-AU" sz="4000" b="1" dirty="0">
                <a:effectLst/>
                <a:latin typeface="Times New Roman" pitchFamily="18" charset="0"/>
                <a:cs typeface="Times New Roman" pitchFamily="18" charset="0"/>
              </a:rPr>
              <a:t>Wavelength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4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AU" sz="40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1836" y="4471987"/>
            <a:ext cx="8034338" cy="2005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76609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1328"/>
            <a:ext cx="8229600" cy="48432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propagation speed (the speed of light) and the period of the signal, wavelength can be calculated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wavelength and period</a:t>
            </a:r>
          </a:p>
          <a:p>
            <a:pPr marL="109728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 = (propagation speed) X period  = propagation speed /frequency</a:t>
            </a:r>
          </a:p>
          <a:p>
            <a:pPr marL="109728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 = v T or                        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= v  (as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= 1/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 </a:t>
            </a:r>
          </a:p>
          <a:p>
            <a:pPr marL="393192" lvl="1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free space, v is equal to speed of light,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so v = c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 is approx. 3 X 10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m/s</a:t>
            </a:r>
            <a:endParaRPr lang="en-US" sz="2400" baseline="30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wavelength of red light (frequency = 4 × 10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air is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 = c/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 f = 3X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2800" b="1" i="1" dirty="0">
                <a:latin typeface="Times New Roman" pitchFamily="18" charset="0"/>
                <a:cs typeface="Times New Roman" pitchFamily="18" charset="0"/>
              </a:rPr>
              <a:t>4X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0.75 X 10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-6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944562"/>
          </a:xfrm>
        </p:spPr>
        <p:txBody>
          <a:bodyPr>
            <a:normAutofit/>
          </a:bodyPr>
          <a:lstStyle/>
          <a:p>
            <a:r>
              <a:rPr lang="en-AU" sz="4000" b="1" dirty="0">
                <a:effectLst/>
                <a:latin typeface="Times New Roman" pitchFamily="18" charset="0"/>
                <a:cs typeface="Times New Roman" pitchFamily="18" charset="0"/>
              </a:rPr>
              <a:t>Wavelength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40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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AU" sz="4000" b="1" dirty="0"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62" name="Rectangle 10"/>
          <p:cNvSpPr>
            <a:spLocks noChangeArrowheads="1"/>
          </p:cNvSpPr>
          <p:nvPr/>
        </p:nvSpPr>
        <p:spPr bwMode="auto">
          <a:xfrm>
            <a:off x="152400" y="13716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2763" name="Rectangle 11"/>
          <p:cNvSpPr>
            <a:spLocks noChangeArrowheads="1"/>
          </p:cNvSpPr>
          <p:nvPr/>
        </p:nvSpPr>
        <p:spPr bwMode="auto">
          <a:xfrm>
            <a:off x="228600" y="1219200"/>
            <a:ext cx="85344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In data communication,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single-frequency sine wave is not useful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we  need to send a composite signal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composite signal is a combination of simple sine waves with different frequencies, amplitudes, and phases (Fourier analysis)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can be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periodic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nonperiodic</a:t>
            </a:r>
          </a:p>
          <a:p>
            <a:pPr algn="just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decomposition of a periodic signal gives a series of signals with discrete frequencies while</a:t>
            </a:r>
          </a:p>
          <a:p>
            <a:pPr algn="just">
              <a:buFont typeface="Wingdings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The decomposition of a nonperiodic signal gives a combination of sine waves with continuous frequencies</a:t>
            </a:r>
          </a:p>
          <a:p>
            <a:pPr algn="just">
              <a:buFont typeface="Wingdings" pitchFamily="2" charset="2"/>
              <a:buChar char="Ø"/>
            </a:pPr>
            <a:endParaRPr lang="en-US" sz="2400" baseline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2764" name="Text Box 12"/>
          <p:cNvSpPr txBox="1">
            <a:spLocks noChangeArrowheads="1"/>
          </p:cNvSpPr>
          <p:nvPr/>
        </p:nvSpPr>
        <p:spPr bwMode="auto">
          <a:xfrm>
            <a:off x="457200" y="206514"/>
            <a:ext cx="838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Composite Signals</a:t>
            </a:r>
            <a:endParaRPr lang="en-US" sz="4000" baseline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"/>
          <p:cNvSpPr>
            <a:spLocks noChangeArrowheads="1"/>
          </p:cNvSpPr>
          <p:nvPr/>
        </p:nvSpPr>
        <p:spPr bwMode="auto">
          <a:xfrm>
            <a:off x="152400" y="14478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55" name="Rectangle 11"/>
          <p:cNvSpPr>
            <a:spLocks noChangeArrowheads="1"/>
          </p:cNvSpPr>
          <p:nvPr/>
        </p:nvSpPr>
        <p:spPr bwMode="auto">
          <a:xfrm>
            <a:off x="228600" y="838200"/>
            <a:ext cx="8534400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200" baseline="0" dirty="0">
                <a:latin typeface="Times New Roman" pitchFamily="18" charset="0"/>
                <a:cs typeface="Times New Roman" pitchFamily="18" charset="0"/>
              </a:rPr>
              <a:t>Consider a periodic composite signal with frequency </a:t>
            </a:r>
            <a:r>
              <a:rPr lang="en-US" sz="2200" b="1" baseline="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200" baseline="0" dirty="0">
                <a:latin typeface="Times New Roman" pitchFamily="18" charset="0"/>
                <a:cs typeface="Times New Roman" pitchFamily="18" charset="0"/>
              </a:rPr>
              <a:t>. This type of signal is not typical of those found in data communications. We can consider it to be three alarm systems, each with a different frequency. The analysis of this signal can give us a good understanding of how to decompose signals.</a:t>
            </a:r>
          </a:p>
        </p:txBody>
      </p:sp>
      <p:sp>
        <p:nvSpPr>
          <p:cNvPr id="23556" name="Text Box 12"/>
          <p:cNvSpPr txBox="1">
            <a:spLocks noChangeArrowheads="1"/>
          </p:cNvSpPr>
          <p:nvPr/>
        </p:nvSpPr>
        <p:spPr bwMode="auto">
          <a:xfrm>
            <a:off x="685800" y="182563"/>
            <a:ext cx="228334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b="1" baseline="0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3863" y="3311280"/>
            <a:ext cx="8491537" cy="307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04800" y="2667000"/>
            <a:ext cx="37824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baseline="0" dirty="0">
                <a:latin typeface="Times New Roman" pitchFamily="18" charset="0"/>
                <a:cs typeface="Times New Roman" pitchFamily="18" charset="0"/>
              </a:rPr>
              <a:t>A composite periodic signal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62" name="Rectangle 10"/>
          <p:cNvSpPr>
            <a:spLocks noChangeArrowheads="1"/>
          </p:cNvSpPr>
          <p:nvPr/>
        </p:nvSpPr>
        <p:spPr bwMode="auto">
          <a:xfrm>
            <a:off x="152400" y="13716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2763" name="Rectangle 11"/>
          <p:cNvSpPr>
            <a:spLocks noChangeArrowheads="1"/>
          </p:cNvSpPr>
          <p:nvPr/>
        </p:nvSpPr>
        <p:spPr bwMode="auto">
          <a:xfrm>
            <a:off x="228600" y="1219200"/>
            <a:ext cx="8763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range of frequencies contained in a composite signal is its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bandwidth is normally a difference between two numbers</a:t>
            </a:r>
            <a:r>
              <a:rPr lang="en-US" sz="2400" dirty="0"/>
              <a:t>.</a:t>
            </a:r>
            <a:endParaRPr lang="en-US" sz="2400" baseline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2764" name="Text Box 12"/>
          <p:cNvSpPr txBox="1">
            <a:spLocks noChangeArrowheads="1"/>
          </p:cNvSpPr>
          <p:nvPr/>
        </p:nvSpPr>
        <p:spPr bwMode="auto">
          <a:xfrm>
            <a:off x="457200" y="206514"/>
            <a:ext cx="838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Bandwidth</a:t>
            </a:r>
            <a:endParaRPr lang="en-US" sz="4000" baseline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419529"/>
            <a:ext cx="7010400" cy="3676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92237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"/>
          <p:cNvSpPr>
            <a:spLocks noChangeArrowheads="1"/>
          </p:cNvSpPr>
          <p:nvPr/>
        </p:nvSpPr>
        <p:spPr bwMode="auto">
          <a:xfrm>
            <a:off x="152400" y="14478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3" name="Rectangle 11"/>
          <p:cNvSpPr>
            <a:spLocks noChangeArrowheads="1"/>
          </p:cNvSpPr>
          <p:nvPr/>
        </p:nvSpPr>
        <p:spPr bwMode="auto">
          <a:xfrm>
            <a:off x="228600" y="914400"/>
            <a:ext cx="85344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baseline="0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a periodic signal is decomposed into five sine waves with frequencies of 100, 300, 500, 700, and 900 Hz, what is its bandwidth? Draw the spectrum, assuming all components have a maximum amplitude of 10 V.</a:t>
            </a:r>
          </a:p>
          <a:p>
            <a:pPr algn="just"/>
            <a:r>
              <a:rPr lang="en-US" sz="2400" baseline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Solution</a:t>
            </a:r>
          </a:p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Let </a:t>
            </a:r>
            <a:r>
              <a:rPr lang="en-US" sz="2400" baseline="0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aseline="-14000" dirty="0" err="1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 be the highest frequency, </a:t>
            </a:r>
            <a:r>
              <a:rPr lang="en-US" sz="2400" baseline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aseline="-1400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 the lowest frequency, and </a:t>
            </a:r>
            <a:r>
              <a:rPr lang="en-US" sz="2400" baseline="0" dirty="0">
                <a:solidFill>
                  <a:schemeClr val="hlink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 the bandwidth. Then</a:t>
            </a:r>
          </a:p>
        </p:txBody>
      </p:sp>
      <p:sp>
        <p:nvSpPr>
          <p:cNvPr id="30724" name="Text Box 12"/>
          <p:cNvSpPr txBox="1">
            <a:spLocks noChangeArrowheads="1"/>
          </p:cNvSpPr>
          <p:nvPr/>
        </p:nvSpPr>
        <p:spPr bwMode="auto">
          <a:xfrm>
            <a:off x="533400" y="182563"/>
            <a:ext cx="253833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b="1" baseline="0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pic>
        <p:nvPicPr>
          <p:cNvPr id="30725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429000"/>
            <a:ext cx="3843337" cy="458788"/>
          </a:xfrm>
          <a:prstGeom prst="rect">
            <a:avLst/>
          </a:prstGeom>
          <a:noFill/>
          <a:ln w="57150">
            <a:solidFill>
              <a:srgbClr val="3366FF"/>
            </a:solidFill>
            <a:miter lim="800000"/>
            <a:headEnd/>
            <a:tailEnd/>
          </a:ln>
        </p:spPr>
      </p:pic>
      <p:sp>
        <p:nvSpPr>
          <p:cNvPr id="30726" name="Rectangle 15"/>
          <p:cNvSpPr>
            <a:spLocks noChangeArrowheads="1"/>
          </p:cNvSpPr>
          <p:nvPr/>
        </p:nvSpPr>
        <p:spPr bwMode="auto">
          <a:xfrm>
            <a:off x="228600" y="4038600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The spectrum has only five spikes, at 100, 300, 500, 700, and 900 Hz.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4572000"/>
            <a:ext cx="7086600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"/>
          <p:cNvSpPr>
            <a:spLocks noChangeArrowheads="1"/>
          </p:cNvSpPr>
          <p:nvPr/>
        </p:nvSpPr>
        <p:spPr bwMode="auto">
          <a:xfrm>
            <a:off x="152400" y="14478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23" name="Rectangle 11"/>
          <p:cNvSpPr>
            <a:spLocks noChangeArrowheads="1"/>
          </p:cNvSpPr>
          <p:nvPr/>
        </p:nvSpPr>
        <p:spPr bwMode="auto">
          <a:xfrm>
            <a:off x="228600" y="914400"/>
            <a:ext cx="8534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nonperiodic composite signal has a bandwidth of 200 kHz, with a middle frequency of 140 kHz and peak amplitude of 20 V. The two extreme frequencies have an amplitude of 0. Draw the frequency domain of the signal.</a:t>
            </a:r>
            <a:endParaRPr lang="en-US" sz="2400" baseline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4" name="Text Box 12"/>
          <p:cNvSpPr txBox="1">
            <a:spLocks noChangeArrowheads="1"/>
          </p:cNvSpPr>
          <p:nvPr/>
        </p:nvSpPr>
        <p:spPr bwMode="auto">
          <a:xfrm>
            <a:off x="533400" y="182563"/>
            <a:ext cx="2538333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600" b="1" baseline="0" dirty="0"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2714624"/>
            <a:ext cx="6357938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87665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533400"/>
            <a:ext cx="8458200" cy="5334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In digital signals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signal has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levels, each level needs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bits.</a:t>
            </a:r>
          </a:p>
          <a:p>
            <a:pPr marL="109728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signal has eight levels. How many bits are needed per level?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Number of bits per level = log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 bits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signal has nine levels. How many bits are needed per level?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bits per level =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3.17 bits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realistic, so we need 4 bits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39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533400"/>
            <a:ext cx="8686800" cy="5791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Concepts used to describe digital signals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Bit Rate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(instead of frequency): is the number of bits sent in 1 second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What is the bit rate of the channel if we need to download text documents at the rate of 100 pages per second?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100 pages X 24 line/page X 80 Char/line X 8 bits /Char = 1.536 Mbps</a:t>
            </a:r>
          </a:p>
          <a:p>
            <a:pPr lvl="1">
              <a:buFont typeface="Wingdings" pitchFamily="2" charset="2"/>
              <a:buChar char="Ø"/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What is the bit rate for high-definition TV (HDTV)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uses digital signals to broadcast high quality video signals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1920 by 1080 pixels per screen and the screen is renewed 30 times per second. Twenty-four bits represents one color pixel. So bit rate is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1920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1080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1,492,992,000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Gbps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Ø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1800" b="1" dirty="0">
              <a:solidFill>
                <a:srgbClr val="00CC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533400"/>
            <a:ext cx="8458200" cy="5334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Concepts used to describe digital signals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Bit Length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(similar to wavelength): distance one bit occupies on the transmission medium and is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calculated by multiplying the propagation speed with bit duration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Bit length = propagation speed X bit duration</a:t>
            </a: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Bit duration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is the time one bit occupies on the medium</a:t>
            </a:r>
          </a:p>
          <a:p>
            <a:pPr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39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795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684924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600" i="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TRANSMISSION IMPAIRMENTS</a:t>
            </a:r>
          </a:p>
        </p:txBody>
      </p:sp>
      <p:sp>
        <p:nvSpPr>
          <p:cNvPr id="801797" name="Rectangle 5"/>
          <p:cNvSpPr>
            <a:spLocks noChangeArrowheads="1"/>
          </p:cNvSpPr>
          <p:nvPr/>
        </p:nvSpPr>
        <p:spPr bwMode="auto">
          <a:xfrm>
            <a:off x="76200" y="1184658"/>
            <a:ext cx="8610600" cy="480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just" eaLnBrk="1" hangingPunct="1">
              <a:buFont typeface="Wingdings" pitchFamily="2" charset="2"/>
              <a:buChar char="Ø"/>
            </a:pP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Signals travel through transmission media, which are not perfect 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The imperfection causes signal impairment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</a:t>
            </a: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he signal at the beginning of the medium is not the same as the signal at the end of the medium</a:t>
            </a:r>
          </a:p>
          <a:p>
            <a:pPr lvl="1" algn="just">
              <a:buFont typeface="Wingdings" pitchFamily="2" charset="2"/>
              <a:buChar char="Ø"/>
            </a:pP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What is sent is not what is received</a:t>
            </a:r>
          </a:p>
          <a:p>
            <a:pPr marL="457200" lvl="2" indent="-457200" algn="just"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For analog signals,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impairments introduce various random modifications that degrade the signal quality</a:t>
            </a:r>
          </a:p>
          <a:p>
            <a:pPr marL="457200" lvl="2" indent="-457200" algn="just">
              <a:buFont typeface="Wingdings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For digital signals,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bit errors may be introduced</a:t>
            </a:r>
            <a:endParaRPr lang="en-US" sz="2400" baseline="0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Three causes of impairment are:</a:t>
            </a:r>
          </a:p>
          <a:p>
            <a:pPr lvl="1">
              <a:buClr>
                <a:schemeClr val="tx1"/>
              </a:buClr>
              <a:buSzPct val="117000"/>
              <a:buFont typeface="Wingdings" pitchFamily="1" charset="2"/>
              <a:buChar char="§"/>
            </a:pPr>
            <a:r>
              <a:rPr 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Attenuation</a:t>
            </a:r>
            <a:endParaRPr lang="fr-FR" sz="2400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buClr>
                <a:schemeClr val="tx1"/>
              </a:buClr>
              <a:buSzPct val="117000"/>
              <a:buFont typeface="Wingdings" pitchFamily="1" charset="2"/>
              <a:buChar char="§"/>
            </a:pPr>
            <a:r>
              <a:rPr lang="fr-FR" sz="2400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Distortion</a:t>
            </a:r>
            <a:r>
              <a:rPr lang="fr-FR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buClr>
                <a:schemeClr val="tx1"/>
              </a:buClr>
              <a:buSzPct val="117000"/>
              <a:buFont typeface="Wingdings" pitchFamily="1" charset="2"/>
              <a:buChar char="§"/>
            </a:pPr>
            <a:r>
              <a:rPr lang="en-US" sz="2400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Noise</a:t>
            </a:r>
          </a:p>
          <a:p>
            <a:pPr algn="just" eaLnBrk="1" hangingPunct="1"/>
            <a:endParaRPr lang="en-US" baseline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533400"/>
            <a:ext cx="7772400" cy="838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Attenuation</a:t>
            </a:r>
          </a:p>
        </p:txBody>
      </p:sp>
      <p:sp>
        <p:nvSpPr>
          <p:cNvPr id="1009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382000" cy="4724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Means loss of energy -&gt; weaker signal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Signal strength of signal falls of with distance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When a signal travels through a medium it loses some of its energy so that it can overcome the resistance of the medium</a:t>
            </a:r>
          </a:p>
          <a:p>
            <a:pPr marL="740664" lvl="3" indent="-457200" algn="just">
              <a:buFont typeface="Wingdings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Thus, a wire carrying electrical signals gets worm, if not hot, after a while</a:t>
            </a:r>
          </a:p>
          <a:p>
            <a:pPr marL="457200" lvl="2" indent="-457200" algn="just">
              <a:buFont typeface="Wingdings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Some of the electrical energy in signal is converted to heat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To compensate for this loss of energy,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Amplifiers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are used to amplify the signal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Attenuation increases with frequency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6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7772400" cy="685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sz="3600" b="1" dirty="0">
                <a:effectLst/>
                <a:latin typeface="Times New Roman" pitchFamily="18" charset="0"/>
                <a:cs typeface="Times New Roman" pitchFamily="18" charset="0"/>
              </a:rPr>
              <a:t>Measurement of Attenuation</a:t>
            </a:r>
          </a:p>
        </p:txBody>
      </p:sp>
      <p:sp>
        <p:nvSpPr>
          <p:cNvPr id="1010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show the loss or gain of energy the unit “decibel (dB)” is used (as a constant number per unit distance  for guided media)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For wireless transmission, it is more complex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Function of distance and makeup of the atmosphere</a:t>
            </a:r>
          </a:p>
          <a:p>
            <a:pPr algn="ctr">
              <a:buFont typeface="Wingdings" pitchFamily="1" charset="2"/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24001"/>
            <a:ext cx="7797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7"/>
          <p:cNvSpPr txBox="1">
            <a:spLocks noChangeArrowheads="1"/>
          </p:cNvSpPr>
          <p:nvPr/>
        </p:nvSpPr>
        <p:spPr bwMode="auto">
          <a:xfrm>
            <a:off x="533400" y="228600"/>
            <a:ext cx="626427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Attenuation: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066800"/>
            <a:ext cx="7086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Attenuation = 10log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/p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(powers at point 1 &amp; 2)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Suppose a signal travels through a transmission medium and its power is reduced to one-half. This means that P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(1/2)P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this case, the attenuation (loss of power) can be calculated as;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loss of 3 dB (–3 dB) is equivalent to losing one-half the power</a:t>
            </a:r>
            <a:endParaRPr lang="en-US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1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10000"/>
            <a:ext cx="5789613" cy="583794"/>
          </a:xfrm>
          <a:prstGeom prst="rect">
            <a:avLst/>
          </a:prstGeom>
          <a:noFill/>
          <a:ln w="57150" cmpd="thinThick">
            <a:solidFill>
              <a:srgbClr val="3366FF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923765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7772400" cy="685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sz="3600" dirty="0"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Distortion</a:t>
            </a:r>
          </a:p>
        </p:txBody>
      </p:sp>
      <p:sp>
        <p:nvSpPr>
          <p:cNvPr id="10127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47244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signal changes its form or shape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Distortion occurs in a composite signal made of different frequencies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Each frequency component has its own 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propagation speed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traveling through a medium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different components therefore arrive with </a:t>
            </a: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different delays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at the receiver (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delay distortion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That means that the signals have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different phases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at the receiver than they had at the source due to difference in delay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shape of the composite signal is not the same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7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685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en-US" sz="3600" b="1" dirty="0">
                <a:effectLst/>
                <a:latin typeface="Times New Roman" pitchFamily="18" charset="0"/>
                <a:cs typeface="Times New Roman" pitchFamily="18" charset="0"/>
              </a:rPr>
              <a:t>Distortion</a:t>
            </a: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048000"/>
            <a:ext cx="8335962" cy="3217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400" y="838201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distortion is caused by the fact that the velocity of propagation of a signal through a medium varies with frequency</a:t>
            </a:r>
          </a:p>
          <a:p>
            <a:pPr marL="0" lvl="2"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Velocity tends to be highest near the center frequency and to fall off toward the two edges of the band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7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6858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pPr algn="l"/>
            <a:r>
              <a:rPr lang="en-US" b="1" dirty="0">
                <a:latin typeface="Times New Roman" pitchFamily="18" charset="0"/>
                <a:cs typeface="Times New Roman" pitchFamily="18" charset="0"/>
              </a:rPr>
              <a:t>Noise</a:t>
            </a:r>
          </a:p>
        </p:txBody>
      </p:sp>
      <p:sp>
        <p:nvSpPr>
          <p:cNvPr id="10147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990600"/>
            <a:ext cx="8382000" cy="44196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342900" lvl="1" indent="-342900"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Noise is any unwanted signal (inserted somewhere between transmission) that degrades signal quality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combines with and distorts </a:t>
            </a:r>
          </a:p>
          <a:p>
            <a:pPr lvl="1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signal intended for transmission and reception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Noise is the major limiting factor in communications system performance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There are different types of noise like thermal, induced, crosstalk and impulse noise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Noise</a:t>
            </a: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2950" y="1524000"/>
            <a:ext cx="74866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85800"/>
            <a:ext cx="82296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Channel capacity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04800" y="2759586"/>
            <a:ext cx="8077200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maximum rate at which data can be transmitted over a given communication path, or channel, under given conditions</a:t>
            </a:r>
          </a:p>
        </p:txBody>
      </p:sp>
    </p:spTree>
    <p:extLst>
      <p:ext uri="{BB962C8B-B14F-4D97-AF65-F5344CB8AC3E}">
        <p14:creationId xmlns:p14="http://schemas.microsoft.com/office/powerpoint/2010/main" val="2381479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Relationship between Data rate and Bandwidth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514807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Spectrum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range of frequencies that a signal contains</a:t>
            </a:r>
            <a:endParaRPr lang="en-US" sz="2900" b="1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-45720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900" b="1" dirty="0">
                <a:latin typeface="Times New Roman" pitchFamily="18" charset="0"/>
                <a:cs typeface="Times New Roman" pitchFamily="18" charset="0"/>
              </a:rPr>
              <a:t>Bandwidth</a:t>
            </a:r>
          </a:p>
          <a:p>
            <a:pPr marL="617220" lvl="2" indent="-34290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the difference between the minimum and maximum frequencies that  a channel can handle (measured in Hz)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dictates the information carrying capacity of the channel (in bps) which is calculated using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-45720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n-US" sz="2900" b="1" dirty="0">
                <a:latin typeface="Times New Roman" pitchFamily="18" charset="0"/>
                <a:cs typeface="Times New Roman" pitchFamily="18" charset="0"/>
              </a:rPr>
              <a:t>Data Rate or Bit Rate</a:t>
            </a:r>
          </a:p>
          <a:p>
            <a:pPr marL="617220" lvl="2" indent="-342900">
              <a:spcBef>
                <a:spcPts val="580"/>
              </a:spcBef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how much "information" the system can handle at a given time, or information carrying capacity of a signal (Measured in bps)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Direct relationship between data rate and bandwidth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 greater the bandwidth, the higher the information-carrying capacity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8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4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609600" y="533406"/>
            <a:ext cx="8153400" cy="5432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1600200" y="6377940"/>
            <a:ext cx="5029200" cy="2769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M.Nadeem Akhtar CS &amp; IT Dept. UOL, Lahore.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193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473342"/>
            <a:ext cx="6664325" cy="4832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146300" algn="l"/>
              </a:tabLst>
            </a:pPr>
            <a:r>
              <a:rPr sz="3600" b="1" dirty="0">
                <a:latin typeface="Times New Roman"/>
                <a:cs typeface="Times New Roman"/>
              </a:rPr>
              <a:t>Spectrum	for</a:t>
            </a:r>
            <a:r>
              <a:rPr sz="3600" b="1" spc="-120" dirty="0">
                <a:latin typeface="Times New Roman"/>
                <a:cs typeface="Times New Roman"/>
              </a:rPr>
              <a:t> </a:t>
            </a:r>
            <a:r>
              <a:rPr sz="3600" b="1" spc="-335" dirty="0">
                <a:latin typeface="Times New Roman"/>
                <a:cs typeface="Times New Roman"/>
              </a:rPr>
              <a:t>T</a:t>
            </a:r>
            <a:r>
              <a:rPr sz="3600" b="1" dirty="0">
                <a:latin typeface="Times New Roman"/>
                <a:cs typeface="Times New Roman"/>
              </a:rPr>
              <a:t>elecommunication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5789" y="1152540"/>
            <a:ext cx="8329543" cy="50196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294967295"/>
          </p:nvPr>
        </p:nvSpPr>
        <p:spPr>
          <a:xfrm>
            <a:off x="2057400" y="6377940"/>
            <a:ext cx="4648200" cy="3429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M.Nadeem Akhtar CS &amp; IT Dept. UOL, Lahore.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8092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Channel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8153400" cy="5638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channel is portion of a transmission path dedicated to a pair of transmitter/receivers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usually characterized by its bandwidth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 is a physical transmission medium  such as a wire, or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logical connection over a multiplexed medium such as a radio channel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channel or transmission medium may be simplex, half-duplex and full-duplex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channel is used to convey an information signal, from one or several senders  to one or several receivers</a:t>
            </a:r>
          </a:p>
          <a:p>
            <a:pPr marL="342900" lvl="1" indent="-342900">
              <a:lnSpc>
                <a:spcPct val="90000"/>
              </a:lnSpc>
              <a:buNone/>
            </a:pP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16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81000"/>
            <a:ext cx="8229600" cy="5638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Communication facilities are expensive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Greater the bandwidth of a facility, the greater the cost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All transmission channels are of limited bandwidth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Make as efficient use as possible of a given bandwidth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At a particular limit of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error rate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rate at which errors occur )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for a given bandwidth, get as high a data rate as possible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lnSpc>
                <a:spcPct val="90000"/>
              </a:lnSpc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Error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is reception of a 1 when a 0 was transmitted or reception of a 0 when a 1 was transmitted</a:t>
            </a:r>
            <a:endParaRPr lang="en-US" sz="26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v"/>
            </a:pPr>
            <a:endParaRPr lang="en-US" sz="3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290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Effects of Noise on Channel Capacity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257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Noise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the main constraint in achieving efficient use of bandwidth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degrades the signal quality and thus limits the data rate that can be achieved</a:t>
            </a:r>
          </a:p>
          <a:p>
            <a:pPr marL="109728" indent="0">
              <a:lnSpc>
                <a:spcPct val="90000"/>
              </a:lnSpc>
              <a:buNone/>
            </a:pPr>
            <a:endParaRPr lang="en-US" b="1" i="1" dirty="0"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lnSpc>
                <a:spcPct val="90000"/>
              </a:lnSpc>
              <a:buNone/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Noise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is the average level of noise over the communications path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 use Signal-to-Noise-Ratio (SNR) to measure the quality of a system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Ratio of the signal power (S) to the noise power (N) that’s present at a particular point in the transmission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98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Signal-to-Noise Ratio (SNR)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2578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is the measure of signal strength relative to background noise, and typically measured at a receiver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SNR = signal power/noise power = S/N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is usually given in dB (to show loss or gain in signal strength) and referred to as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SNR</a:t>
            </a:r>
            <a:r>
              <a:rPr lang="en-US" sz="2800" baseline="-25000" dirty="0" err="1">
                <a:latin typeface="Times New Roman" pitchFamily="18" charset="0"/>
                <a:cs typeface="Times New Roman" pitchFamily="18" charset="0"/>
              </a:rPr>
              <a:t>dB</a:t>
            </a:r>
            <a:endParaRPr lang="en-US" sz="2800" baseline="-25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 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decibel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is a logarithmic unit used to express the ratio between two values of a physical quantity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dB is negative if a signal is attenuated and positive if a signal is amplified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42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1066800" y="5257800"/>
          <a:ext cx="5662613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720" imgH="419040" progId="Equation.3">
                  <p:embed/>
                </p:oleObj>
              </mc:Choice>
              <mc:Fallback>
                <p:oleObj name="Equation" r:id="rId2" imgW="26287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257800"/>
                        <a:ext cx="5662613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36993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Signal-to-Noise Ratio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power of a signal is 10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the power of the noise is 1 µW; what are the values of SNR and SNR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317909"/>
              </p:ext>
            </p:extLst>
          </p:nvPr>
        </p:nvGraphicFramePr>
        <p:xfrm>
          <a:off x="762000" y="3200400"/>
          <a:ext cx="3036888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19040" progId="Equation.3">
                  <p:embed/>
                </p:oleObj>
              </mc:Choice>
              <mc:Fallback>
                <p:oleObj name="Equation" r:id="rId2" imgW="14094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200400"/>
                        <a:ext cx="3036888" cy="903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0"/>
          <p:cNvGraphicFramePr>
            <a:graphicFrameLocks noChangeAspect="1"/>
          </p:cNvGraphicFramePr>
          <p:nvPr/>
        </p:nvGraphicFramePr>
        <p:xfrm>
          <a:off x="658813" y="4591050"/>
          <a:ext cx="64833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9600" imgH="203040" progId="Equation.3">
                  <p:embed/>
                </p:oleObj>
              </mc:Choice>
              <mc:Fallback>
                <p:oleObj name="Equation" r:id="rId4" imgW="3009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3" y="4591050"/>
                        <a:ext cx="648335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9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Signal-to-Noise Ratio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10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 values of SNR and SNR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for a noiseless channel are?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 can never achieve this ratio in real life; it is an ideal</a:t>
            </a:r>
          </a:p>
          <a:p>
            <a:pPr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2438" y="2811463"/>
            <a:ext cx="3159125" cy="998537"/>
          </a:xfrm>
          <a:prstGeom prst="rect">
            <a:avLst/>
          </a:prstGeom>
          <a:noFill/>
          <a:ln w="57150" cmpd="thinThick">
            <a:solidFill>
              <a:srgbClr val="3366FF"/>
            </a:solidFill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36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Channel Capacity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Theoretical formulas to calculate the data rate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Nyquist bit rate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(noiseless channel)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Shannon’s channel capacity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formula (noisy channel)</a:t>
            </a:r>
          </a:p>
          <a:p>
            <a:pPr marL="850392" lvl="1" indent="-457200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1-Nyquist theorem: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Given a bandwidth of B, the highest signal rate that can be carried is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2B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bps (binary signals or two voltage levels)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assumes that channel is free of noise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9143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Channel Capacity: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Nyquist Bandwidth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610600" cy="5638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Nyquist theorem: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the general case, in which a signal element may represent more than one bit, we have: </a:t>
            </a:r>
          </a:p>
          <a:p>
            <a:pPr marL="109728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maximum data rate =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2B log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V bits/sec</a:t>
            </a:r>
          </a:p>
          <a:p>
            <a:pPr marL="109728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where </a:t>
            </a:r>
            <a:r>
              <a:rPr lang="en-US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 is the number of discrete signal or voltage 	levels</a:t>
            </a:r>
          </a:p>
          <a:p>
            <a:pPr marL="109728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Increasing the levels of a signal may reduce the reliability of the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No. of bits per level = log</a:t>
            </a:r>
            <a:r>
              <a:rPr lang="en-US" sz="24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352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Channel Capacity: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Nyquist Bandwidth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638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US" sz="2400" dirty="0"/>
          </a:p>
          <a:p>
            <a:pPr marL="109728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Bandwidth of voice grade line: 3000 Hz</a:t>
            </a:r>
          </a:p>
          <a:p>
            <a:pPr marL="109728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using binary encoding (each signal level represents 1 bit)</a:t>
            </a:r>
          </a:p>
          <a:p>
            <a:pPr marL="109728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maximum data rate = 2 X B = 2 X 3000 bits/sec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          = 6000 bits/sec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If we have 16 distinct signals, each representing 4 bits (using QAM encoding)</a:t>
            </a:r>
          </a:p>
          <a:p>
            <a:pPr marL="109728" indent="0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maximum data rate = 2 X 3000 log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16 bits/sec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= 24000 bits/sec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0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42" name="Rectangle 10"/>
          <p:cNvSpPr>
            <a:spLocks noChangeArrowheads="1"/>
          </p:cNvSpPr>
          <p:nvPr/>
        </p:nvSpPr>
        <p:spPr bwMode="auto">
          <a:xfrm>
            <a:off x="152400" y="15240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37643" name="Rectangle 11"/>
          <p:cNvSpPr>
            <a:spLocks noChangeArrowheads="1"/>
          </p:cNvSpPr>
          <p:nvPr/>
        </p:nvSpPr>
        <p:spPr bwMode="auto">
          <a:xfrm>
            <a:off x="228600" y="1447800"/>
            <a:ext cx="8534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For a noiseless channel, bandwidth of 3100 Hz transmitting a signal with two signal levels </a:t>
            </a:r>
          </a:p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The maximum bit rate?</a:t>
            </a:r>
          </a:p>
        </p:txBody>
      </p:sp>
      <p:sp>
        <p:nvSpPr>
          <p:cNvPr id="837644" name="Text Box 12"/>
          <p:cNvSpPr txBox="1">
            <a:spLocks noChangeArrowheads="1"/>
          </p:cNvSpPr>
          <p:nvPr/>
        </p:nvSpPr>
        <p:spPr bwMode="auto">
          <a:xfrm>
            <a:off x="228600" y="182563"/>
            <a:ext cx="6858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Nyquist Bandwidth: </a:t>
            </a:r>
            <a:r>
              <a:rPr lang="en-US" sz="4000" baseline="0" dirty="0"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330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42" name="Rectangle 10"/>
          <p:cNvSpPr>
            <a:spLocks noChangeArrowheads="1"/>
          </p:cNvSpPr>
          <p:nvPr/>
        </p:nvSpPr>
        <p:spPr bwMode="auto">
          <a:xfrm>
            <a:off x="152400" y="15240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37643" name="Rectangle 11"/>
          <p:cNvSpPr>
            <a:spLocks noChangeArrowheads="1"/>
          </p:cNvSpPr>
          <p:nvPr/>
        </p:nvSpPr>
        <p:spPr bwMode="auto">
          <a:xfrm>
            <a:off x="228600" y="1447800"/>
            <a:ext cx="8534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For a noiseless channel, bandwidth of 3100 Hz transmitting a signal with two signal levels </a:t>
            </a:r>
          </a:p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The maximum bit rate?</a:t>
            </a:r>
          </a:p>
        </p:txBody>
      </p:sp>
      <p:sp>
        <p:nvSpPr>
          <p:cNvPr id="837644" name="Text Box 12"/>
          <p:cNvSpPr txBox="1">
            <a:spLocks noChangeArrowheads="1"/>
          </p:cNvSpPr>
          <p:nvPr/>
        </p:nvSpPr>
        <p:spPr bwMode="auto">
          <a:xfrm>
            <a:off x="228600" y="182563"/>
            <a:ext cx="6858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Nyquist Bandwidth: </a:t>
            </a:r>
            <a:r>
              <a:rPr lang="en-US" sz="4000" baseline="0" dirty="0"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2971800"/>
            <a:ext cx="4724400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BitRate</a:t>
            </a:r>
            <a:r>
              <a:rPr lang="en-US" dirty="0"/>
              <a:t> = 2 X 3100 X log</a:t>
            </a:r>
            <a:r>
              <a:rPr lang="en-US" baseline="-25000" dirty="0"/>
              <a:t>2</a:t>
            </a:r>
            <a:r>
              <a:rPr lang="en-US" dirty="0"/>
              <a:t> 2 = 6200 bps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4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42" name="Rectangle 10"/>
          <p:cNvSpPr>
            <a:spLocks noChangeArrowheads="1"/>
          </p:cNvSpPr>
          <p:nvPr/>
        </p:nvSpPr>
        <p:spPr bwMode="auto">
          <a:xfrm>
            <a:off x="152400" y="15240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37644" name="Text Box 12"/>
          <p:cNvSpPr txBox="1">
            <a:spLocks noChangeArrowheads="1"/>
          </p:cNvSpPr>
          <p:nvPr/>
        </p:nvSpPr>
        <p:spPr bwMode="auto">
          <a:xfrm>
            <a:off x="228600" y="182563"/>
            <a:ext cx="6858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Nyquist Bandwidth: </a:t>
            </a:r>
            <a:r>
              <a:rPr lang="en-US" sz="4000" baseline="0" dirty="0"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304800" y="1764268"/>
            <a:ext cx="853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For the same channel transmitting a signal with four signal levels (for each level, we send 2 bits). The maximum bit rate?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26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42" name="Rectangle 10"/>
          <p:cNvSpPr>
            <a:spLocks noChangeArrowheads="1"/>
          </p:cNvSpPr>
          <p:nvPr/>
        </p:nvSpPr>
        <p:spPr bwMode="auto">
          <a:xfrm>
            <a:off x="152400" y="15240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37644" name="Text Box 12"/>
          <p:cNvSpPr txBox="1">
            <a:spLocks noChangeArrowheads="1"/>
          </p:cNvSpPr>
          <p:nvPr/>
        </p:nvSpPr>
        <p:spPr bwMode="auto">
          <a:xfrm>
            <a:off x="228600" y="182563"/>
            <a:ext cx="6858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Nyquist Bandwidth: </a:t>
            </a:r>
            <a:r>
              <a:rPr lang="en-US" sz="4000" baseline="0" dirty="0">
                <a:latin typeface="Times New Roman" pitchFamily="18" charset="0"/>
                <a:cs typeface="Times New Roman" pitchFamily="18" charset="0"/>
              </a:rPr>
              <a:t>Examples</a:t>
            </a: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304800" y="1764268"/>
            <a:ext cx="853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For the same channel transmitting a signal with four signal levels (for each level, we send 2 bits). The maximum bit rate?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3364468"/>
            <a:ext cx="4953000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BitRate</a:t>
            </a:r>
            <a:r>
              <a:rPr lang="en-US" dirty="0"/>
              <a:t> = 2 X 3100 X log</a:t>
            </a:r>
            <a:r>
              <a:rPr lang="en-US" baseline="-25000" dirty="0"/>
              <a:t>2</a:t>
            </a:r>
            <a:r>
              <a:rPr lang="en-US" dirty="0"/>
              <a:t> (4) = 12400 bps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69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0764D9-8AC3-4D96-B408-0D3E70264A40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837642" name="Rectangle 10"/>
          <p:cNvSpPr>
            <a:spLocks noChangeArrowheads="1"/>
          </p:cNvSpPr>
          <p:nvPr/>
        </p:nvSpPr>
        <p:spPr bwMode="auto">
          <a:xfrm>
            <a:off x="152400" y="14478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37643" name="Rectangle 11"/>
          <p:cNvSpPr>
            <a:spLocks noChangeArrowheads="1"/>
          </p:cNvSpPr>
          <p:nvPr/>
        </p:nvSpPr>
        <p:spPr bwMode="auto">
          <a:xfrm>
            <a:off x="228600" y="1447800"/>
            <a:ext cx="8534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How many signal levels to send 200 kbps over a noiseless channel with a bandwidth of 20 kHz? </a:t>
            </a:r>
          </a:p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The maximum bit rate?</a:t>
            </a:r>
          </a:p>
        </p:txBody>
      </p:sp>
      <p:sp>
        <p:nvSpPr>
          <p:cNvPr id="837644" name="Text Box 12"/>
          <p:cNvSpPr txBox="1">
            <a:spLocks noChangeArrowheads="1"/>
          </p:cNvSpPr>
          <p:nvPr/>
        </p:nvSpPr>
        <p:spPr bwMode="auto">
          <a:xfrm>
            <a:off x="457200" y="182563"/>
            <a:ext cx="6629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Nyquist Bandwidth: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67000"/>
            <a:ext cx="5181600" cy="120032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By using Nyquist formula</a:t>
            </a:r>
          </a:p>
          <a:p>
            <a:r>
              <a:rPr lang="en-US" dirty="0"/>
              <a:t>200000 = 2 X 20000 X log</a:t>
            </a:r>
            <a:r>
              <a:rPr lang="en-US" baseline="-25000" dirty="0"/>
              <a:t>2</a:t>
            </a:r>
            <a:r>
              <a:rPr lang="en-US" dirty="0"/>
              <a:t> V</a:t>
            </a:r>
          </a:p>
          <a:p>
            <a:r>
              <a:rPr lang="en-US" dirty="0"/>
              <a:t>log</a:t>
            </a:r>
            <a:r>
              <a:rPr lang="en-US" baseline="-25000" dirty="0"/>
              <a:t>2</a:t>
            </a:r>
            <a:r>
              <a:rPr lang="en-US" dirty="0"/>
              <a:t> V = 5 </a:t>
            </a:r>
          </a:p>
          <a:p>
            <a:r>
              <a:rPr lang="en-US" dirty="0"/>
              <a:t>V = 2</a:t>
            </a:r>
            <a:r>
              <a:rPr lang="en-US" baseline="30000" dirty="0"/>
              <a:t>5</a:t>
            </a:r>
            <a:r>
              <a:rPr lang="en-US" dirty="0"/>
              <a:t> = 32 levels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6720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Bit rate if V = 64, 128?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4934634"/>
            <a:ext cx="7848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How many signaling levels are required when C = 8 Mbps and B = 1 MHz ?</a:t>
            </a:r>
            <a:endParaRPr lang="en-US" sz="24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97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2-Shannon capacity formula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3837"/>
            <a:ext cx="8229600" cy="45259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maximum data rate or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capacity of a noisy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channel whose bandwidth is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B Hz and whose signal-to-noise ratio is S/N, is given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This equation represents theoretical maximum that can be achieved</a:t>
            </a:r>
          </a:p>
          <a:p>
            <a:pPr marL="109728" indent="0">
              <a:buNone/>
            </a:pP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maximum data rate 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pt-B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 log</a:t>
            </a:r>
            <a:r>
              <a:rPr lang="pt-BR" sz="24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(1+S/N) bps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Consider an extremely noisy channel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Where noise is so strong that the signal is faint; or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which the value of the signal-to-noise ratio is almost zero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393192" lvl="1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Capacity of this channel is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93192" lvl="1" indent="0"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 = 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B log</a:t>
            </a:r>
            <a:r>
              <a:rPr lang="en-US" sz="26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 (1 + SNR) = B 10g</a:t>
            </a:r>
            <a:r>
              <a:rPr lang="en-US" sz="26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 (1 + 0) =B log</a:t>
            </a:r>
            <a:r>
              <a:rPr lang="en-US" sz="26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i="1" dirty="0">
                <a:latin typeface="Times New Roman" pitchFamily="18" charset="0"/>
                <a:cs typeface="Times New Roman" pitchFamily="18" charset="0"/>
              </a:rPr>
              <a:t>  1 = B  x 0 = 0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50" name="Object 0"/>
          <p:cNvGraphicFramePr>
            <a:graphicFrameLocks noChangeAspect="1"/>
          </p:cNvGraphicFramePr>
          <p:nvPr/>
        </p:nvGraphicFramePr>
        <p:xfrm>
          <a:off x="2438400" y="2286000"/>
          <a:ext cx="3124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15640" progId="Equation.3">
                  <p:embed/>
                </p:oleObj>
              </mc:Choice>
              <mc:Fallback>
                <p:oleObj name="Equation" r:id="rId2" imgW="1269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0"/>
                        <a:ext cx="3124200" cy="531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0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2-Channel Capacity: Shannon’s Theorem</a:t>
            </a: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Shannon’s Theorem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channel of 3000 Hz and SNR of 30 dB</a:t>
            </a:r>
          </a:p>
          <a:p>
            <a:pPr>
              <a:buNone/>
            </a:pPr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pt-B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 log</a:t>
            </a:r>
            <a:r>
              <a:rPr lang="pt-BR" sz="24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(1+SNR) bps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147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2-Channel Capacity: Shannon’s Theorem</a:t>
            </a:r>
            <a:br>
              <a:rPr lang="en-US" sz="3600" b="1" dirty="0"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Shannon’s Theorem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109728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channel of 3000 Hz and SNR of 30 dB</a:t>
            </a:r>
          </a:p>
          <a:p>
            <a:pPr>
              <a:buNone/>
            </a:pPr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pt-B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 log</a:t>
            </a:r>
            <a:r>
              <a:rPr lang="pt-BR" sz="2400" b="1" baseline="-25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(1+SNR) bps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First, obtain SNR (ratio) from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SNR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dB</a:t>
            </a:r>
            <a:endParaRPr lang="en-US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S/N = 10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= 1000, and 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pt-BR" sz="2400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(1+S/N)  is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≈ 2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10</a:t>
            </a:r>
          </a:p>
          <a:p>
            <a:pPr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maximum data rate (C)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3000 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log</a:t>
            </a:r>
            <a:r>
              <a:rPr lang="pt-BR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(1+</a:t>
            </a:r>
            <a:r>
              <a:rPr lang="pt-BR" sz="2400" b="1" dirty="0">
                <a:latin typeface="Times New Roman" pitchFamily="18" charset="0"/>
                <a:cs typeface="Times New Roman" pitchFamily="18" charset="0"/>
              </a:rPr>
              <a:t>S/N</a:t>
            </a:r>
            <a:r>
              <a:rPr lang="pt-BR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bps</a:t>
            </a:r>
          </a:p>
          <a:p>
            <a:pPr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		≈ 3000 X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bps = 30000 bps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55</a:t>
            </a:fld>
            <a:endParaRPr lang="en-US"/>
          </a:p>
        </p:txBody>
      </p:sp>
      <p:graphicFrame>
        <p:nvGraphicFramePr>
          <p:cNvPr id="131073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4657642"/>
              </p:ext>
            </p:extLst>
          </p:nvPr>
        </p:nvGraphicFramePr>
        <p:xfrm>
          <a:off x="1143000" y="2895600"/>
          <a:ext cx="48418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40" imgH="228600" progId="Equation.3">
                  <p:embed/>
                </p:oleObj>
              </mc:Choice>
              <mc:Fallback>
                <p:oleObj name="Equation" r:id="rId2" imgW="2247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895600"/>
                        <a:ext cx="4841875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35476"/>
              </p:ext>
            </p:extLst>
          </p:nvPr>
        </p:nvGraphicFramePr>
        <p:xfrm>
          <a:off x="2373313" y="3392488"/>
          <a:ext cx="2379662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04840" imgH="228600" progId="Equation.3">
                  <p:embed/>
                </p:oleObj>
              </mc:Choice>
              <mc:Fallback>
                <p:oleObj name="Equation" r:id="rId4" imgW="1104840" imgH="2286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13" y="3392488"/>
                        <a:ext cx="2379662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495163"/>
              </p:ext>
            </p:extLst>
          </p:nvPr>
        </p:nvGraphicFramePr>
        <p:xfrm>
          <a:off x="2620963" y="3925888"/>
          <a:ext cx="186055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63280" imgH="228600" progId="Equation.3">
                  <p:embed/>
                </p:oleObj>
              </mc:Choice>
              <mc:Fallback>
                <p:oleObj name="Equation" r:id="rId6" imgW="86328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3925888"/>
                        <a:ext cx="186055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771791"/>
              </p:ext>
            </p:extLst>
          </p:nvPr>
        </p:nvGraphicFramePr>
        <p:xfrm>
          <a:off x="381000" y="4802187"/>
          <a:ext cx="3124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9449" imgH="215806" progId="Equation.3">
                  <p:embed/>
                </p:oleObj>
              </mc:Choice>
              <mc:Fallback>
                <p:oleObj name="Equation" r:id="rId8" imgW="1269449" imgH="215806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802187"/>
                        <a:ext cx="31242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54307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Shannon Formula: Example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89037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Spectrum of a channel between 3 MHz and 4 MHz ; SNR</a:t>
            </a:r>
            <a:r>
              <a:rPr lang="en-US" baseline="-30000" dirty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24 dB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150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Shannon Formula: Example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89037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Times New Roman" pitchFamily="18" charset="0"/>
                <a:cs typeface="Times New Roman" pitchFamily="18" charset="0"/>
              </a:rPr>
              <a:t>Spectrum of a channel between 3 MHz and 4 MHz ; SNR</a:t>
            </a:r>
            <a:r>
              <a:rPr lang="en-US" baseline="-30000" dirty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24 dB</a:t>
            </a: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SNR=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10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2.4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=251</a:t>
            </a:r>
            <a:endParaRPr lang="en-US" baseline="30000" dirty="0">
              <a:latin typeface="Times New Roman" pitchFamily="18" charset="0"/>
            </a:endParaRPr>
          </a:p>
          <a:p>
            <a:pPr eaLnBrk="1" hangingPunct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Using Shannon’s formula</a:t>
            </a:r>
            <a:endParaRPr lang="en-US" dirty="0">
              <a:latin typeface="Times New Roman" pitchFamily="18" charset="0"/>
            </a:endParaRPr>
          </a:p>
          <a:p>
            <a:pPr eaLnBrk="1" hangingPunct="1"/>
            <a:endParaRPr lang="en-US" dirty="0">
              <a:latin typeface="Times New Roman" pitchFamily="18" charset="0"/>
            </a:endParaRPr>
          </a:p>
        </p:txBody>
      </p:sp>
      <p:graphicFrame>
        <p:nvGraphicFramePr>
          <p:cNvPr id="3074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402234"/>
              </p:ext>
            </p:extLst>
          </p:nvPr>
        </p:nvGraphicFramePr>
        <p:xfrm>
          <a:off x="1022350" y="2057400"/>
          <a:ext cx="6216650" cy="277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15840" imgH="1130040" progId="Equation.3">
                  <p:embed/>
                </p:oleObj>
              </mc:Choice>
              <mc:Fallback>
                <p:oleObj name="Equation" r:id="rId2" imgW="1815840" imgH="1130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2350" y="2057400"/>
                        <a:ext cx="6216650" cy="2779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944790"/>
              </p:ext>
            </p:extLst>
          </p:nvPr>
        </p:nvGraphicFramePr>
        <p:xfrm>
          <a:off x="1905000" y="5791200"/>
          <a:ext cx="7069138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54280" imgH="228600" progId="Equation.3">
                  <p:embed/>
                </p:oleObj>
              </mc:Choice>
              <mc:Fallback>
                <p:oleObj name="Equation" r:id="rId4" imgW="2654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791200"/>
                        <a:ext cx="7069138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57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918702"/>
              </p:ext>
            </p:extLst>
          </p:nvPr>
        </p:nvGraphicFramePr>
        <p:xfrm>
          <a:off x="4495800" y="5259387"/>
          <a:ext cx="3124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449" imgH="215806" progId="Equation.3">
                  <p:embed/>
                </p:oleObj>
              </mc:Choice>
              <mc:Fallback>
                <p:oleObj name="Equation" r:id="rId6" imgW="1269449" imgH="215806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259387"/>
                        <a:ext cx="31242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55659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62" name="Rectangle 10"/>
          <p:cNvSpPr>
            <a:spLocks noChangeArrowheads="1"/>
          </p:cNvSpPr>
          <p:nvPr/>
        </p:nvSpPr>
        <p:spPr bwMode="auto">
          <a:xfrm>
            <a:off x="152400" y="13716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2763" name="Rectangle 11"/>
          <p:cNvSpPr>
            <a:spLocks noChangeArrowheads="1"/>
          </p:cNvSpPr>
          <p:nvPr/>
        </p:nvSpPr>
        <p:spPr bwMode="auto">
          <a:xfrm>
            <a:off x="228600" y="1219200"/>
            <a:ext cx="853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Assume that SNR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 = 36 and the channel bandwidth is </a:t>
            </a:r>
            <a:r>
              <a:rPr lang="en-US" sz="2400" baseline="0">
                <a:latin typeface="Times New Roman" pitchFamily="18" charset="0"/>
                <a:cs typeface="Times New Roman" pitchFamily="18" charset="0"/>
              </a:rPr>
              <a:t>2 MHz </a:t>
            </a:r>
            <a:endParaRPr lang="en-US" sz="2400" baseline="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The theoretical channel capacity?</a:t>
            </a:r>
          </a:p>
        </p:txBody>
      </p:sp>
      <p:sp>
        <p:nvSpPr>
          <p:cNvPr id="842764" name="Text Box 12"/>
          <p:cNvSpPr txBox="1">
            <a:spLocks noChangeArrowheads="1"/>
          </p:cNvSpPr>
          <p:nvPr/>
        </p:nvSpPr>
        <p:spPr bwMode="auto">
          <a:xfrm>
            <a:off x="457200" y="206514"/>
            <a:ext cx="838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Shannon Formula: Example</a:t>
            </a:r>
            <a:endParaRPr lang="en-US" sz="4000" baseline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313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62" name="Rectangle 10"/>
          <p:cNvSpPr>
            <a:spLocks noChangeArrowheads="1"/>
          </p:cNvSpPr>
          <p:nvPr/>
        </p:nvSpPr>
        <p:spPr bwMode="auto">
          <a:xfrm>
            <a:off x="152400" y="1371600"/>
            <a:ext cx="8839200" cy="38100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42763" name="Rectangle 11"/>
          <p:cNvSpPr>
            <a:spLocks noChangeArrowheads="1"/>
          </p:cNvSpPr>
          <p:nvPr/>
        </p:nvSpPr>
        <p:spPr bwMode="auto">
          <a:xfrm>
            <a:off x="228600" y="1219200"/>
            <a:ext cx="853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Assume that SNR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dB</a:t>
            </a:r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 = 36 and the channel bandwidth is </a:t>
            </a:r>
            <a:r>
              <a:rPr lang="en-US" sz="2400" baseline="0">
                <a:latin typeface="Times New Roman" pitchFamily="18" charset="0"/>
                <a:cs typeface="Times New Roman" pitchFamily="18" charset="0"/>
              </a:rPr>
              <a:t>2 MHz </a:t>
            </a:r>
            <a:endParaRPr lang="en-US" sz="2400" baseline="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baseline="0" dirty="0">
                <a:latin typeface="Times New Roman" pitchFamily="18" charset="0"/>
                <a:cs typeface="Times New Roman" pitchFamily="18" charset="0"/>
              </a:rPr>
              <a:t>The theoretical channel capacity?</a:t>
            </a:r>
          </a:p>
        </p:txBody>
      </p:sp>
      <p:sp>
        <p:nvSpPr>
          <p:cNvPr id="842764" name="Text Box 12"/>
          <p:cNvSpPr txBox="1">
            <a:spLocks noChangeArrowheads="1"/>
          </p:cNvSpPr>
          <p:nvPr/>
        </p:nvSpPr>
        <p:spPr bwMode="auto">
          <a:xfrm>
            <a:off x="457200" y="206514"/>
            <a:ext cx="838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Shannon Formula: Example</a:t>
            </a:r>
            <a:endParaRPr lang="en-US" sz="4000" baseline="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42766" name="Picture 1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514600"/>
            <a:ext cx="8364537" cy="1371600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E2D0-34DA-40F2-9429-C4504FEAEF9C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7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4080</TotalTime>
  <Words>3469</Words>
  <Application>Microsoft Office PowerPoint</Application>
  <PresentationFormat>On-screen Show (4:3)</PresentationFormat>
  <Paragraphs>454</Paragraphs>
  <Slides>59</Slides>
  <Notes>26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0" baseType="lpstr">
      <vt:lpstr>Arial</vt:lpstr>
      <vt:lpstr>Calibri</vt:lpstr>
      <vt:lpstr>Lucida Sans Unicode</vt:lpstr>
      <vt:lpstr>Times</vt:lpstr>
      <vt:lpstr>Times New Roman</vt:lpstr>
      <vt:lpstr>Verdana</vt:lpstr>
      <vt:lpstr>Wingdings</vt:lpstr>
      <vt:lpstr>Wingdings 2</vt:lpstr>
      <vt:lpstr>Wingdings 3</vt:lpstr>
      <vt:lpstr>Concourse</vt:lpstr>
      <vt:lpstr>Equation</vt:lpstr>
      <vt:lpstr>PowerPoint Presentation</vt:lpstr>
      <vt:lpstr>PowerPoint Presentation</vt:lpstr>
      <vt:lpstr>PowerPoint Presentation</vt:lpstr>
      <vt:lpstr>Physical Layer: Scope</vt:lpstr>
      <vt:lpstr>Data and Signals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Express a period of 100 ms in microseconds? </vt:lpstr>
      <vt:lpstr>The power we use at home has a frequency of 60 Hz. What is the Period of this sine wave? </vt:lpstr>
      <vt:lpstr>The period of a signal is 100 ms. What is its frequency in kilohertz?</vt:lpstr>
      <vt:lpstr>PowerPoint Presentation</vt:lpstr>
      <vt:lpstr>PowerPoint Presentation</vt:lpstr>
      <vt:lpstr>PowerPoint Presentation</vt:lpstr>
      <vt:lpstr>Wavelength ()</vt:lpstr>
      <vt:lpstr>Wavelength ()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Attenuation</vt:lpstr>
      <vt:lpstr>Measurement of Attenuation</vt:lpstr>
      <vt:lpstr>PowerPoint Presentation</vt:lpstr>
      <vt:lpstr>Distortion</vt:lpstr>
      <vt:lpstr>Distortion</vt:lpstr>
      <vt:lpstr>Noise</vt:lpstr>
      <vt:lpstr>Noise</vt:lpstr>
      <vt:lpstr>Channel capacity</vt:lpstr>
      <vt:lpstr>Relationship between Data rate and Bandwidth</vt:lpstr>
      <vt:lpstr>PowerPoint Presentation</vt:lpstr>
      <vt:lpstr>PowerPoint Presentation</vt:lpstr>
      <vt:lpstr>Channel</vt:lpstr>
      <vt:lpstr>PowerPoint Presentation</vt:lpstr>
      <vt:lpstr>Effects of Noise on Channel Capacity</vt:lpstr>
      <vt:lpstr>Signal-to-Noise Ratio (SNR)</vt:lpstr>
      <vt:lpstr>Signal-to-Noise Ratio</vt:lpstr>
      <vt:lpstr>Signal-to-Noise Ratio</vt:lpstr>
      <vt:lpstr>Channel Capacity</vt:lpstr>
      <vt:lpstr>Channel Capacity: Nyquist Bandwidth</vt:lpstr>
      <vt:lpstr>Channel Capacity: Nyquist Bandwidth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2-Shannon capacity formula</vt:lpstr>
      <vt:lpstr>2-Channel Capacity: Shannon’s Theorem </vt:lpstr>
      <vt:lpstr>2-Channel Capacity: Shannon’s Theorem </vt:lpstr>
      <vt:lpstr>Shannon Formula: Example</vt:lpstr>
      <vt:lpstr>Shannon Formula: Example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Side Arrows Background</dc:title>
  <dc:creator>Arshad Ali</dc:creator>
  <cp:lastModifiedBy>HP</cp:lastModifiedBy>
  <cp:revision>703</cp:revision>
  <cp:lastPrinted>2018-01-06T06:42:25Z</cp:lastPrinted>
  <dcterms:created xsi:type="dcterms:W3CDTF">2009-03-23T15:23:24Z</dcterms:created>
  <dcterms:modified xsi:type="dcterms:W3CDTF">2025-10-12T17:20:17Z</dcterms:modified>
</cp:coreProperties>
</file>
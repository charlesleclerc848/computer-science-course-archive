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2" r:id="rId1"/>
  </p:sldMasterIdLst>
  <p:notesMasterIdLst>
    <p:notesMasterId r:id="rId41"/>
  </p:notesMasterIdLst>
  <p:handoutMasterIdLst>
    <p:handoutMasterId r:id="rId42"/>
  </p:handoutMasterIdLst>
  <p:sldIdLst>
    <p:sldId id="512" r:id="rId2"/>
    <p:sldId id="488" r:id="rId3"/>
    <p:sldId id="503" r:id="rId4"/>
    <p:sldId id="504" r:id="rId5"/>
    <p:sldId id="505" r:id="rId6"/>
    <p:sldId id="506" r:id="rId7"/>
    <p:sldId id="487" r:id="rId8"/>
    <p:sldId id="485" r:id="rId9"/>
    <p:sldId id="513" r:id="rId10"/>
    <p:sldId id="515" r:id="rId11"/>
    <p:sldId id="516" r:id="rId12"/>
    <p:sldId id="514" r:id="rId13"/>
    <p:sldId id="461" r:id="rId14"/>
    <p:sldId id="462" r:id="rId15"/>
    <p:sldId id="463" r:id="rId16"/>
    <p:sldId id="464" r:id="rId17"/>
    <p:sldId id="465" r:id="rId18"/>
    <p:sldId id="466" r:id="rId19"/>
    <p:sldId id="489" r:id="rId20"/>
    <p:sldId id="468" r:id="rId21"/>
    <p:sldId id="469" r:id="rId22"/>
    <p:sldId id="470" r:id="rId23"/>
    <p:sldId id="508" r:id="rId24"/>
    <p:sldId id="471" r:id="rId25"/>
    <p:sldId id="472" r:id="rId26"/>
    <p:sldId id="509" r:id="rId27"/>
    <p:sldId id="473" r:id="rId28"/>
    <p:sldId id="474" r:id="rId29"/>
    <p:sldId id="507" r:id="rId30"/>
    <p:sldId id="475" r:id="rId31"/>
    <p:sldId id="476" r:id="rId32"/>
    <p:sldId id="477" r:id="rId33"/>
    <p:sldId id="478" r:id="rId34"/>
    <p:sldId id="479" r:id="rId35"/>
    <p:sldId id="480" r:id="rId36"/>
    <p:sldId id="481" r:id="rId37"/>
    <p:sldId id="482" r:id="rId38"/>
    <p:sldId id="483" r:id="rId39"/>
    <p:sldId id="484" r:id="rId40"/>
  </p:sldIdLst>
  <p:sldSz cx="9144000" cy="6858000" type="screen4x3"/>
  <p:notesSz cx="7010400" cy="9296400"/>
  <p:defaultTextStyle>
    <a:defPPr>
      <a:defRPr lang="fr-FR"/>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7CD2"/>
    <a:srgbClr val="486DA2"/>
    <a:srgbClr val="1F7EE7"/>
    <a:srgbClr val="7DD330"/>
    <a:srgbClr val="00CC00"/>
    <a:srgbClr val="AE1517"/>
    <a:srgbClr val="CC0000"/>
    <a:srgbClr val="4F77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18" autoAdjust="0"/>
    <p:restoredTop sz="94660"/>
  </p:normalViewPr>
  <p:slideViewPr>
    <p:cSldViewPr>
      <p:cViewPr varScale="1">
        <p:scale>
          <a:sx n="65" d="100"/>
          <a:sy n="65" d="100"/>
        </p:scale>
        <p:origin x="1470" y="6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4194"/>
    </p:cViewPr>
  </p:sorterViewPr>
  <p:notesViewPr>
    <p:cSldViewPr>
      <p:cViewPr varScale="1">
        <p:scale>
          <a:sx n="69" d="100"/>
          <a:sy n="69" d="100"/>
        </p:scale>
        <p:origin x="-2838" y="-10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2830" tIns="46415" rIns="92830" bIns="46415" rtlCol="0"/>
          <a:lstStyle>
            <a:lvl1pPr algn="l">
              <a:defRPr sz="1200" dirty="0" smtClean="0"/>
            </a:lvl1pPr>
          </a:lstStyle>
          <a:p>
            <a:pPr>
              <a:defRPr/>
            </a:pPr>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2830" tIns="46415" rIns="92830" bIns="46415" rtlCol="0"/>
          <a:lstStyle>
            <a:lvl1pPr algn="r">
              <a:defRPr sz="1200" smtClean="0"/>
            </a:lvl1pPr>
          </a:lstStyle>
          <a:p>
            <a:pPr>
              <a:defRPr/>
            </a:pPr>
            <a:endParaRPr lang="en-US"/>
          </a:p>
        </p:txBody>
      </p:sp>
      <p:sp>
        <p:nvSpPr>
          <p:cNvPr id="4" name="Footer Placeholder 3"/>
          <p:cNvSpPr>
            <a:spLocks noGrp="1"/>
          </p:cNvSpPr>
          <p:nvPr>
            <p:ph type="ftr" sz="quarter" idx="2"/>
          </p:nvPr>
        </p:nvSpPr>
        <p:spPr>
          <a:xfrm>
            <a:off x="0" y="8829966"/>
            <a:ext cx="3037840" cy="464820"/>
          </a:xfrm>
          <a:prstGeom prst="rect">
            <a:avLst/>
          </a:prstGeom>
        </p:spPr>
        <p:txBody>
          <a:bodyPr vert="horz" lIns="92830" tIns="46415" rIns="92830" bIns="46415" rtlCol="0" anchor="b"/>
          <a:lstStyle>
            <a:lvl1pPr algn="l">
              <a:defRPr sz="1200" dirty="0" smtClean="0"/>
            </a:lvl1pPr>
          </a:lstStyle>
          <a:p>
            <a:pPr>
              <a:defRPr/>
            </a:pPr>
            <a:endParaRPr lang="en-US"/>
          </a:p>
        </p:txBody>
      </p:sp>
      <p:sp>
        <p:nvSpPr>
          <p:cNvPr id="5" name="Slide Number Placeholder 4"/>
          <p:cNvSpPr>
            <a:spLocks noGrp="1"/>
          </p:cNvSpPr>
          <p:nvPr>
            <p:ph type="sldNum" sz="quarter" idx="3"/>
          </p:nvPr>
        </p:nvSpPr>
        <p:spPr>
          <a:xfrm>
            <a:off x="3970938" y="8829966"/>
            <a:ext cx="3037840" cy="464820"/>
          </a:xfrm>
          <a:prstGeom prst="rect">
            <a:avLst/>
          </a:prstGeom>
        </p:spPr>
        <p:txBody>
          <a:bodyPr vert="horz" lIns="92830" tIns="46415" rIns="92830" bIns="46415" rtlCol="0" anchor="b"/>
          <a:lstStyle>
            <a:lvl1pPr algn="r">
              <a:defRPr sz="1200" smtClean="0"/>
            </a:lvl1pPr>
          </a:lstStyle>
          <a:p>
            <a:pPr>
              <a:defRPr/>
            </a:pPr>
            <a:fld id="{67D39907-CA41-4FA3-AB8C-7CF77BD0EDA0}" type="slidenum">
              <a:rPr lang="en-US"/>
              <a:pPr>
                <a:defRPr/>
              </a:pPr>
              <a:t>‹#›</a:t>
            </a:fld>
            <a:endParaRPr lang="en-US"/>
          </a:p>
        </p:txBody>
      </p:sp>
    </p:spTree>
    <p:extLst>
      <p:ext uri="{BB962C8B-B14F-4D97-AF65-F5344CB8AC3E}">
        <p14:creationId xmlns:p14="http://schemas.microsoft.com/office/powerpoint/2010/main" val="3004241428"/>
      </p:ext>
    </p:extLst>
  </p:cSld>
  <p:clrMap bg1="lt1" tx1="dk1" bg2="lt2" tx2="dk2" accent1="accent1" accent2="accent2" accent3="accent3" accent4="accent4" accent5="accent5" accent6="accent6" hlink="hlink" folHlink="folHlink"/>
  <p:hf sldNum="0"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2830" tIns="46415" rIns="92830" bIns="46415" rtlCol="0"/>
          <a:lstStyle>
            <a:lvl1pPr algn="l">
              <a:defRPr sz="1200" dirty="0" smtClean="0"/>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2830" tIns="46415" rIns="92830" bIns="46415" rtlCol="0"/>
          <a:lstStyle>
            <a:lvl1pPr algn="r">
              <a:defRPr sz="1200" smtClean="0"/>
            </a:lvl1pPr>
          </a:lstStyle>
          <a:p>
            <a:pPr>
              <a:defRPr/>
            </a:pPr>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2830" tIns="46415" rIns="92830" bIns="46415" rtlCol="0" anchor="ctr"/>
          <a:lstStyle/>
          <a:p>
            <a:pPr lvl="0"/>
            <a:endParaRPr lang="en-US" noProof="0"/>
          </a:p>
        </p:txBody>
      </p:sp>
      <p:sp>
        <p:nvSpPr>
          <p:cNvPr id="5" name="Notes Placeholder 4"/>
          <p:cNvSpPr>
            <a:spLocks noGrp="1"/>
          </p:cNvSpPr>
          <p:nvPr>
            <p:ph type="body" sz="quarter" idx="3"/>
          </p:nvPr>
        </p:nvSpPr>
        <p:spPr>
          <a:xfrm>
            <a:off x="701040" y="4415791"/>
            <a:ext cx="5608320" cy="4183380"/>
          </a:xfrm>
          <a:prstGeom prst="rect">
            <a:avLst/>
          </a:prstGeom>
        </p:spPr>
        <p:txBody>
          <a:bodyPr vert="horz" lIns="92830" tIns="46415" rIns="92830" bIns="46415"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6"/>
            <a:ext cx="3037840" cy="464820"/>
          </a:xfrm>
          <a:prstGeom prst="rect">
            <a:avLst/>
          </a:prstGeom>
        </p:spPr>
        <p:txBody>
          <a:bodyPr vert="horz" lIns="92830" tIns="46415" rIns="92830" bIns="46415" rtlCol="0" anchor="b"/>
          <a:lstStyle>
            <a:lvl1pPr algn="l">
              <a:defRPr sz="1200" dirty="0" smtClean="0"/>
            </a:lvl1pPr>
          </a:lstStyle>
          <a:p>
            <a:pPr>
              <a:defRPr/>
            </a:pPr>
            <a:endParaRPr lang="en-US"/>
          </a:p>
        </p:txBody>
      </p:sp>
      <p:sp>
        <p:nvSpPr>
          <p:cNvPr id="7" name="Slide Number Placeholder 6"/>
          <p:cNvSpPr>
            <a:spLocks noGrp="1"/>
          </p:cNvSpPr>
          <p:nvPr>
            <p:ph type="sldNum" sz="quarter" idx="5"/>
          </p:nvPr>
        </p:nvSpPr>
        <p:spPr>
          <a:xfrm>
            <a:off x="3970938" y="8829966"/>
            <a:ext cx="3037840" cy="464820"/>
          </a:xfrm>
          <a:prstGeom prst="rect">
            <a:avLst/>
          </a:prstGeom>
        </p:spPr>
        <p:txBody>
          <a:bodyPr vert="horz" lIns="92830" tIns="46415" rIns="92830" bIns="46415" rtlCol="0" anchor="b"/>
          <a:lstStyle>
            <a:lvl1pPr algn="r">
              <a:defRPr sz="1200" smtClean="0"/>
            </a:lvl1pPr>
          </a:lstStyle>
          <a:p>
            <a:pPr>
              <a:defRPr/>
            </a:pPr>
            <a:fld id="{1C95EBC4-39DD-4A71-BE51-C12854B5A810}" type="slidenum">
              <a:rPr lang="en-US"/>
              <a:pPr>
                <a:defRPr/>
              </a:pPr>
              <a:t>‹#›</a:t>
            </a:fld>
            <a:endParaRPr lang="en-US"/>
          </a:p>
        </p:txBody>
      </p:sp>
    </p:spTree>
    <p:extLst>
      <p:ext uri="{BB962C8B-B14F-4D97-AF65-F5344CB8AC3E}">
        <p14:creationId xmlns:p14="http://schemas.microsoft.com/office/powerpoint/2010/main" val="63295291"/>
      </p:ext>
    </p:extLst>
  </p:cSld>
  <p:clrMap bg1="lt1" tx1="dk1" bg2="lt2" tx2="dk2" accent1="accent1" accent2="accent2" accent3="accent3" accent4="accent4" accent5="accent5" accent6="accent6" hlink="hlink" folHlink="folHlink"/>
  <p:hf sldNum="0" hdr="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pPr>
              <a:defRPr/>
            </a:pPr>
            <a:endParaRPr lang="en-US"/>
          </a:p>
        </p:txBody>
      </p:sp>
      <p:sp>
        <p:nvSpPr>
          <p:cNvPr id="5" name="Slide Number Placeholder 4"/>
          <p:cNvSpPr>
            <a:spLocks noGrp="1"/>
          </p:cNvSpPr>
          <p:nvPr>
            <p:ph type="sldNum" sz="quarter" idx="11"/>
          </p:nvPr>
        </p:nvSpPr>
        <p:spPr/>
        <p:txBody>
          <a:bodyPr/>
          <a:lstStyle/>
          <a:p>
            <a:pPr>
              <a:defRPr/>
            </a:pPr>
            <a:fld id="{1C95EBC4-39DD-4A71-BE51-C12854B5A810}" type="slidenum">
              <a:rPr lang="en-US" smtClean="0"/>
              <a:pPr>
                <a:defRPr/>
              </a:pPr>
              <a:t>1</a:t>
            </a:fld>
            <a:endParaRPr lang="en-US"/>
          </a:p>
        </p:txBody>
      </p:sp>
    </p:spTree>
    <p:extLst>
      <p:ext uri="{BB962C8B-B14F-4D97-AF65-F5344CB8AC3E}">
        <p14:creationId xmlns:p14="http://schemas.microsoft.com/office/powerpoint/2010/main" val="3339397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517550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a:ln/>
        </p:spPr>
        <p:txBody>
          <a:bodyPr/>
          <a:lstStyle/>
          <a:p>
            <a:endParaRPr lang="en-US"/>
          </a:p>
        </p:txBody>
      </p:sp>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endParaRPr lang="en-US"/>
          </a:p>
        </p:txBody>
      </p:sp>
      <p:sp>
        <p:nvSpPr>
          <p:cNvPr id="2" name="Date Placeholder 1"/>
          <p:cNvSpPr>
            <a:spLocks noGrp="1"/>
          </p:cNvSpPr>
          <p:nvPr>
            <p:ph type="dt" idx="10"/>
          </p:nvPr>
        </p:nvSpPr>
        <p:spPr/>
        <p:txBody>
          <a:bodyPr/>
          <a:lstStyle/>
          <a:p>
            <a:pPr>
              <a:defRPr/>
            </a:pPr>
            <a:endParaRPr lang="en-US"/>
          </a:p>
        </p:txBody>
      </p:sp>
    </p:spTree>
    <p:extLst>
      <p:ext uri="{BB962C8B-B14F-4D97-AF65-F5344CB8AC3E}">
        <p14:creationId xmlns:p14="http://schemas.microsoft.com/office/powerpoint/2010/main" val="2755552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a:ln/>
        </p:spPr>
        <p:txBody>
          <a:bodyPr/>
          <a:lstStyle/>
          <a:p>
            <a:endParaRPr lang="en-US"/>
          </a:p>
        </p:txBody>
      </p:sp>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endParaRPr lang="en-US"/>
          </a:p>
        </p:txBody>
      </p:sp>
      <p:sp>
        <p:nvSpPr>
          <p:cNvPr id="2" name="Date Placeholder 1"/>
          <p:cNvSpPr>
            <a:spLocks noGrp="1"/>
          </p:cNvSpPr>
          <p:nvPr>
            <p:ph type="dt" idx="10"/>
          </p:nvPr>
        </p:nvSpPr>
        <p:spPr/>
        <p:txBody>
          <a:bodyPr/>
          <a:lstStyle/>
          <a:p>
            <a:pPr>
              <a:defRPr/>
            </a:pPr>
            <a:endParaRPr lang="en-US"/>
          </a:p>
        </p:txBody>
      </p:sp>
    </p:spTree>
    <p:extLst>
      <p:ext uri="{BB962C8B-B14F-4D97-AF65-F5344CB8AC3E}">
        <p14:creationId xmlns:p14="http://schemas.microsoft.com/office/powerpoint/2010/main" val="289233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a:spLocks noGrp="1" noChangeArrowheads="1"/>
          </p:cNvSpPr>
          <p:nvPr>
            <p:ph type="ftr" sz="quarter" idx="4"/>
          </p:nvPr>
        </p:nvSpPr>
        <p:spPr>
          <a:ln/>
        </p:spPr>
        <p:txBody>
          <a:bodyPr/>
          <a:lstStyle/>
          <a:p>
            <a:endParaRPr lang="en-US"/>
          </a:p>
        </p:txBody>
      </p:sp>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endParaRPr lang="en-US"/>
          </a:p>
        </p:txBody>
      </p:sp>
      <p:sp>
        <p:nvSpPr>
          <p:cNvPr id="2" name="Date Placeholder 1"/>
          <p:cNvSpPr>
            <a:spLocks noGrp="1"/>
          </p:cNvSpPr>
          <p:nvPr>
            <p:ph type="dt" idx="10"/>
          </p:nvPr>
        </p:nvSpPr>
        <p:spPr/>
        <p:txBody>
          <a:bodyPr/>
          <a:lstStyle/>
          <a:p>
            <a:pPr>
              <a:defRPr/>
            </a:pPr>
            <a:endParaRPr lang="en-US"/>
          </a:p>
        </p:txBody>
      </p:sp>
    </p:spTree>
    <p:extLst>
      <p:ext uri="{BB962C8B-B14F-4D97-AF65-F5344CB8AC3E}">
        <p14:creationId xmlns:p14="http://schemas.microsoft.com/office/powerpoint/2010/main" val="121316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72F316F-5161-4234-8D41-B68B0DCB1453}" type="slidenum">
              <a:rPr lang="en-US"/>
              <a:pPr/>
              <a:t>7</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538813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D75FD42D-1450-422C-B271-DF20FD2B4227}" type="slidenum">
              <a:rPr lang="en-US"/>
              <a:pPr/>
              <a:t>12</a:t>
            </a:fld>
            <a:endParaRPr 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1610026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a:spLocks noGrp="1" noChangeArrowheads="1"/>
          </p:cNvSpPr>
          <p:nvPr>
            <p:ph type="sldNum" sz="quarter" idx="5"/>
          </p:nvPr>
        </p:nvSpPr>
        <p:spPr>
          <a:noFill/>
        </p:spPr>
        <p:txBody>
          <a:bodyPr/>
          <a:lstStyle/>
          <a:p>
            <a:fld id="{B3EA348F-2214-4FC4-8D1A-B86E9C8E4BFD}" type="slidenum">
              <a:rPr lang="en-US" smtClean="0"/>
              <a:pPr/>
              <a:t>13</a:t>
            </a:fld>
            <a:endParaRPr lang="en-US"/>
          </a:p>
        </p:txBody>
      </p:sp>
      <p:sp>
        <p:nvSpPr>
          <p:cNvPr id="230403" name="Rectangle 2"/>
          <p:cNvSpPr>
            <a:spLocks noGrp="1" noRot="1" noChangeAspect="1" noChangeArrowheads="1" noTextEdit="1"/>
          </p:cNvSpPr>
          <p:nvPr>
            <p:ph type="sldImg"/>
          </p:nvPr>
        </p:nvSpPr>
        <p:spPr>
          <a:ln/>
        </p:spPr>
      </p:sp>
      <p:sp>
        <p:nvSpPr>
          <p:cNvPr id="230404"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95449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a:spLocks noGrp="1" noChangeArrowheads="1"/>
          </p:cNvSpPr>
          <p:nvPr>
            <p:ph type="sldNum" sz="quarter" idx="5"/>
          </p:nvPr>
        </p:nvSpPr>
        <p:spPr>
          <a:noFill/>
        </p:spPr>
        <p:txBody>
          <a:bodyPr/>
          <a:lstStyle/>
          <a:p>
            <a:fld id="{B3EA348F-2214-4FC4-8D1A-B86E9C8E4BFD}" type="slidenum">
              <a:rPr lang="en-US" smtClean="0"/>
              <a:pPr/>
              <a:t>14</a:t>
            </a:fld>
            <a:endParaRPr lang="en-US"/>
          </a:p>
        </p:txBody>
      </p:sp>
      <p:sp>
        <p:nvSpPr>
          <p:cNvPr id="230403" name="Rectangle 2"/>
          <p:cNvSpPr>
            <a:spLocks noGrp="1" noRot="1" noChangeAspect="1" noChangeArrowheads="1" noTextEdit="1"/>
          </p:cNvSpPr>
          <p:nvPr>
            <p:ph type="sldImg"/>
          </p:nvPr>
        </p:nvSpPr>
        <p:spPr>
          <a:ln/>
        </p:spPr>
      </p:sp>
      <p:sp>
        <p:nvSpPr>
          <p:cNvPr id="230404"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901576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a:spLocks noGrp="1" noChangeArrowheads="1"/>
          </p:cNvSpPr>
          <p:nvPr>
            <p:ph type="sldNum" sz="quarter" idx="5"/>
          </p:nvPr>
        </p:nvSpPr>
        <p:spPr>
          <a:noFill/>
        </p:spPr>
        <p:txBody>
          <a:bodyPr/>
          <a:lstStyle/>
          <a:p>
            <a:fld id="{B3EA348F-2214-4FC4-8D1A-B86E9C8E4BFD}" type="slidenum">
              <a:rPr lang="en-US" smtClean="0"/>
              <a:pPr/>
              <a:t>15</a:t>
            </a:fld>
            <a:endParaRPr lang="en-US"/>
          </a:p>
        </p:txBody>
      </p:sp>
      <p:sp>
        <p:nvSpPr>
          <p:cNvPr id="230403" name="Rectangle 2"/>
          <p:cNvSpPr>
            <a:spLocks noGrp="1" noRot="1" noChangeAspect="1" noChangeArrowheads="1" noTextEdit="1"/>
          </p:cNvSpPr>
          <p:nvPr>
            <p:ph type="sldImg"/>
          </p:nvPr>
        </p:nvSpPr>
        <p:spPr>
          <a:ln/>
        </p:spPr>
      </p:sp>
      <p:sp>
        <p:nvSpPr>
          <p:cNvPr id="230404"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048661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a:spLocks noGrp="1" noChangeArrowheads="1"/>
          </p:cNvSpPr>
          <p:nvPr>
            <p:ph type="sldNum" sz="quarter" idx="5"/>
          </p:nvPr>
        </p:nvSpPr>
        <p:spPr>
          <a:noFill/>
        </p:spPr>
        <p:txBody>
          <a:bodyPr/>
          <a:lstStyle/>
          <a:p>
            <a:fld id="{B3EA348F-2214-4FC4-8D1A-B86E9C8E4BFD}" type="slidenum">
              <a:rPr lang="en-US" smtClean="0"/>
              <a:pPr/>
              <a:t>16</a:t>
            </a:fld>
            <a:endParaRPr lang="en-US"/>
          </a:p>
        </p:txBody>
      </p:sp>
      <p:sp>
        <p:nvSpPr>
          <p:cNvPr id="230403" name="Rectangle 2"/>
          <p:cNvSpPr>
            <a:spLocks noGrp="1" noRot="1" noChangeAspect="1" noChangeArrowheads="1" noTextEdit="1"/>
          </p:cNvSpPr>
          <p:nvPr>
            <p:ph type="sldImg"/>
          </p:nvPr>
        </p:nvSpPr>
        <p:spPr>
          <a:ln/>
        </p:spPr>
      </p:sp>
      <p:sp>
        <p:nvSpPr>
          <p:cNvPr id="230404"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4191115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72F316F-5161-4234-8D41-B68B0DCB1453}" type="slidenum">
              <a:rPr lang="en-US"/>
              <a:pPr/>
              <a:t>17</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63067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72F316F-5161-4234-8D41-B68B0DCB1453}" type="slidenum">
              <a:rPr lang="en-US"/>
              <a:pPr/>
              <a:t>18</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6180418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72F316F-5161-4234-8D41-B68B0DCB1453}" type="slidenum">
              <a:rPr lang="en-US"/>
              <a:pPr/>
              <a:t>19</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32710693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72F316F-5161-4234-8D41-B68B0DCB1453}" type="slidenum">
              <a:rPr lang="en-US"/>
              <a:pPr/>
              <a:t>20</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3153142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72F316F-5161-4234-8D41-B68B0DCB1453}" type="slidenum">
              <a:rPr lang="en-US"/>
              <a:pPr/>
              <a:t>21</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1430751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72F316F-5161-4234-8D41-B68B0DCB1453}" type="slidenum">
              <a:rPr lang="en-US"/>
              <a:pPr/>
              <a:t>22</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3571417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0F4569A5-AD0C-4F1F-8B48-35112ED4F72E}" type="slidenum">
              <a:rPr lang="en-US"/>
              <a:pPr/>
              <a:t>23</a:t>
            </a:fld>
            <a:endParaRPr 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7477774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72F316F-5161-4234-8D41-B68B0DCB1453}" type="slidenum">
              <a:rPr lang="en-US"/>
              <a:pPr/>
              <a:t>24</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6479179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72F316F-5161-4234-8D41-B68B0DCB1453}" type="slidenum">
              <a:rPr lang="en-US"/>
              <a:pPr/>
              <a:t>25</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2177879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2CFE9A7A-ACD4-4133-B59A-4313929D37DB}" type="slidenum">
              <a:rPr lang="en-US"/>
              <a:pPr/>
              <a:t>26</a:t>
            </a:fld>
            <a:endParaRPr lang="en-US"/>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4651170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72F316F-5161-4234-8D41-B68B0DCB1453}" type="slidenum">
              <a:rPr lang="en-US"/>
              <a:pPr/>
              <a:t>27</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6277797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72F316F-5161-4234-8D41-B68B0DCB1453}" type="slidenum">
              <a:rPr lang="en-US"/>
              <a:pPr/>
              <a:t>28</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33569329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B875853E-910F-4CD8-87C8-B931158A878F}" type="slidenum">
              <a:rPr lang="en-US"/>
              <a:pPr/>
              <a:t>29</a:t>
            </a:fld>
            <a:endParaRPr 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2379048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72F316F-5161-4234-8D41-B68B0DCB1453}" type="slidenum">
              <a:rPr lang="en-US"/>
              <a:pPr/>
              <a:t>30</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2350194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04A6ECF1-40B0-451C-9B4B-312235B6B649}" type="slidenum">
              <a:rPr lang="en-US"/>
              <a:pPr/>
              <a:t>31</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6442321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04A6ECF1-40B0-451C-9B4B-312235B6B649}" type="slidenum">
              <a:rPr lang="en-US"/>
              <a:pPr/>
              <a:t>32</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6810596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04A6ECF1-40B0-451C-9B4B-312235B6B649}" type="slidenum">
              <a:rPr lang="en-US"/>
              <a:pPr/>
              <a:t>35</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36882071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04A6ECF1-40B0-451C-9B4B-312235B6B649}" type="slidenum">
              <a:rPr lang="en-US"/>
              <a:pPr/>
              <a:t>36</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7667796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04A6ECF1-40B0-451C-9B4B-312235B6B649}" type="slidenum">
              <a:rPr lang="en-US"/>
              <a:pPr/>
              <a:t>37</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836908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8BF97D63-D90C-493C-AF46-28F1022EF8E7}" type="slidenum">
              <a:rPr lang="en-US"/>
              <a:pPr/>
              <a:t>38</a:t>
            </a:fld>
            <a:endParaRPr 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9124261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C72F316F-5161-4234-8D41-B68B0DCB1453}" type="slidenum">
              <a:rPr lang="en-US"/>
              <a:pPr/>
              <a:t>39</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
        <p:nvSpPr>
          <p:cNvPr id="2" name="Date Placeholder 1"/>
          <p:cNvSpPr>
            <a:spLocks noGrp="1"/>
          </p:cNvSpPr>
          <p:nvPr>
            <p:ph type="dt"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4008431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CC503CA2-7846-45C0-91D2-DA7BB5CE8748}" type="datetimeFigureOut">
              <a:rPr lang="en-US" smtClean="0"/>
              <a:pPr/>
              <a:t>2/8/2022</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02774634-E179-45BC-8969-3DA06DCC025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C503CA2-7846-45C0-91D2-DA7BB5CE8748}" type="datetimeFigureOut">
              <a:rPr lang="en-US" smtClean="0"/>
              <a:pPr/>
              <a:t>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774634-E179-45BC-8969-3DA06DCC025D}"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CC503CA2-7846-45C0-91D2-DA7BB5CE8748}" type="datetimeFigureOut">
              <a:rPr lang="en-US" smtClean="0"/>
              <a:pPr/>
              <a:t>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774634-E179-45BC-8969-3DA06DCC025D}"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C503CA2-7846-45C0-91D2-DA7BB5CE8748}" type="datetimeFigureOut">
              <a:rPr lang="en-US" smtClean="0"/>
              <a:pPr/>
              <a:t>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774634-E179-45BC-8969-3DA06DCC025D}"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CC503CA2-7846-45C0-91D2-DA7BB5CE8748}" type="datetimeFigureOut">
              <a:rPr lang="en-US" smtClean="0"/>
              <a:pPr/>
              <a:t>2/8/2022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774634-E179-45BC-8969-3DA06DCC025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C503CA2-7846-45C0-91D2-DA7BB5CE8748}" type="datetimeFigureOut">
              <a:rPr lang="en-US" smtClean="0"/>
              <a:pPr/>
              <a:t>2/8/2022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774634-E179-45BC-8969-3DA06DCC025D}"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503CA2-7846-45C0-91D2-DA7BB5CE8748}" type="datetimeFigureOut">
              <a:rPr lang="en-US" smtClean="0"/>
              <a:pPr/>
              <a:t>2/8/2022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774634-E179-45BC-8969-3DA06DCC025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CC503CA2-7846-45C0-91D2-DA7BB5CE8748}" type="datetimeFigureOut">
              <a:rPr lang="en-US" smtClean="0"/>
              <a:pPr/>
              <a:t>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774634-E179-45BC-8969-3DA06DCC025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CC503CA2-7846-45C0-91D2-DA7BB5CE8748}" type="datetimeFigureOut">
              <a:rPr lang="en-US" smtClean="0"/>
              <a:pPr/>
              <a:t>2/8/2022</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02774634-E179-45BC-8969-3DA06DCC025D}"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C503CA2-7846-45C0-91D2-DA7BB5CE8748}" type="datetimeFigureOut">
              <a:rPr lang="en-US" smtClean="0"/>
              <a:pPr/>
              <a:t>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774634-E179-45BC-8969-3DA06DCC025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C503CA2-7846-45C0-91D2-DA7BB5CE8748}" type="datetimeFigureOut">
              <a:rPr lang="en-US" smtClean="0"/>
              <a:pPr/>
              <a:t>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774634-E179-45BC-8969-3DA06DCC025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CC503CA2-7846-45C0-91D2-DA7BB5CE8748}" type="datetimeFigureOut">
              <a:rPr lang="en-US" smtClean="0"/>
              <a:pPr/>
              <a:t>2/8/2022</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02774634-E179-45BC-8969-3DA06DCC025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hf sldNum="0"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powerpointstyles.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sites.google.com/a/cs.uol.edu.pk/ccn/" TargetMode="Externa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hyperlink" Target="http://www.powerpointstyles.com/"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25"/>
          <p:cNvSpPr txBox="1">
            <a:spLocks noChangeArrowheads="1"/>
          </p:cNvSpPr>
          <p:nvPr/>
        </p:nvSpPr>
        <p:spPr bwMode="auto">
          <a:xfrm>
            <a:off x="3348038" y="6237288"/>
            <a:ext cx="2457450" cy="366712"/>
          </a:xfrm>
          <a:prstGeom prst="rect">
            <a:avLst/>
          </a:prstGeom>
          <a:noFill/>
          <a:ln w="9525">
            <a:noFill/>
            <a:miter lim="800000"/>
            <a:headEnd/>
            <a:tailEnd/>
          </a:ln>
        </p:spPr>
        <p:txBody>
          <a:bodyPr wrap="none">
            <a:spAutoFit/>
          </a:bodyPr>
          <a:lstStyle/>
          <a:p>
            <a:r>
              <a:rPr lang="en-AU" dirty="0">
                <a:hlinkClick r:id="rId3"/>
              </a:rPr>
              <a:t>Powerpoint Templates</a:t>
            </a:r>
            <a:endParaRPr lang="en-AU" dirty="0"/>
          </a:p>
        </p:txBody>
      </p:sp>
      <p:pic>
        <p:nvPicPr>
          <p:cNvPr id="2051" name="Picture 24" descr="4"/>
          <p:cNvPicPr>
            <a:picLocks noChangeAspect="1" noChangeArrowheads="1"/>
          </p:cNvPicPr>
          <p:nvPr/>
        </p:nvPicPr>
        <p:blipFill>
          <a:blip r:embed="rId4" cstate="print"/>
          <a:srcRect/>
          <a:stretch>
            <a:fillRect/>
          </a:stretch>
        </p:blipFill>
        <p:spPr bwMode="auto">
          <a:xfrm>
            <a:off x="0" y="0"/>
            <a:ext cx="9144000" cy="6858000"/>
          </a:xfrm>
          <a:prstGeom prst="rect">
            <a:avLst/>
          </a:prstGeom>
          <a:noFill/>
          <a:ln w="9525">
            <a:noFill/>
            <a:miter lim="800000"/>
            <a:headEnd/>
            <a:tailEnd/>
          </a:ln>
        </p:spPr>
      </p:pic>
      <p:sp>
        <p:nvSpPr>
          <p:cNvPr id="2052" name="Text Box 6"/>
          <p:cNvSpPr txBox="1">
            <a:spLocks noChangeArrowheads="1"/>
          </p:cNvSpPr>
          <p:nvPr/>
        </p:nvSpPr>
        <p:spPr bwMode="auto">
          <a:xfrm>
            <a:off x="381000" y="4267200"/>
            <a:ext cx="8458200" cy="2148620"/>
          </a:xfrm>
          <a:prstGeom prst="rect">
            <a:avLst/>
          </a:prstGeom>
          <a:noFill/>
          <a:ln w="9525">
            <a:noFill/>
            <a:miter lim="800000"/>
            <a:headEnd/>
            <a:tailEnd/>
          </a:ln>
        </p:spPr>
        <p:txBody>
          <a:bodyPr wrap="square" lIns="180000" tIns="180000" rIns="180000" bIns="180000">
            <a:spAutoFit/>
          </a:bodyPr>
          <a:lstStyle/>
          <a:p>
            <a:pPr algn="ctr"/>
            <a:r>
              <a:rPr lang="en-US" sz="2400" b="1" dirty="0">
                <a:latin typeface="Times New Roman" pitchFamily="18" charset="0"/>
                <a:cs typeface="Times New Roman" pitchFamily="18" charset="0"/>
              </a:rPr>
              <a:t>M.Nadeem Akhtar</a:t>
            </a:r>
          </a:p>
          <a:p>
            <a:pPr algn="ctr"/>
            <a:r>
              <a:rPr lang="en-US" sz="2400" b="1" dirty="0">
                <a:latin typeface="Times New Roman" pitchFamily="18" charset="0"/>
                <a:cs typeface="Times New Roman" pitchFamily="18" charset="0"/>
              </a:rPr>
              <a:t>CS &amp; IT Department</a:t>
            </a:r>
          </a:p>
          <a:p>
            <a:pPr algn="ctr"/>
            <a:r>
              <a:rPr lang="en-US" sz="2400" b="1" dirty="0">
                <a:latin typeface="Times New Roman" pitchFamily="18" charset="0"/>
                <a:cs typeface="Times New Roman" pitchFamily="18" charset="0"/>
              </a:rPr>
              <a:t>The University of Lahore</a:t>
            </a:r>
          </a:p>
          <a:p>
            <a:pPr algn="ctr"/>
            <a:r>
              <a:rPr lang="en-US" sz="2400" b="1" dirty="0">
                <a:latin typeface="Times New Roman" pitchFamily="18" charset="0"/>
                <a:cs typeface="Times New Roman" pitchFamily="18" charset="0"/>
              </a:rPr>
              <a:t>Email: nadeem.akhtar@cs.uol.edu.pk</a:t>
            </a:r>
            <a:endParaRPr lang="en-US" sz="2400" b="1" dirty="0">
              <a:latin typeface="Times New Roman" pitchFamily="18" charset="0"/>
              <a:cs typeface="Times New Roman" pitchFamily="18" charset="0"/>
              <a:hlinkClick r:id="rId5"/>
            </a:endParaRPr>
          </a:p>
          <a:p>
            <a:pPr algn="ctr"/>
            <a:r>
              <a:rPr lang="en-US" sz="2000" b="1" dirty="0">
                <a:latin typeface="Times New Roman" pitchFamily="18" charset="0"/>
                <a:cs typeface="Times New Roman" pitchFamily="18" charset="0"/>
                <a:hlinkClick r:id="rId5"/>
              </a:rPr>
              <a:t>URL-</a:t>
            </a:r>
            <a:r>
              <a:rPr lang="en-US" sz="2000" b="1" dirty="0">
                <a:latin typeface="Times New Roman" pitchFamily="18" charset="0"/>
                <a:cs typeface="Times New Roman" pitchFamily="18" charset="0"/>
              </a:rPr>
              <a:t>https://sites.google.com/site/</a:t>
            </a:r>
            <a:r>
              <a:rPr lang="en-US" sz="2000" b="1" dirty="0" err="1">
                <a:latin typeface="Times New Roman" pitchFamily="18" charset="0"/>
                <a:cs typeface="Times New Roman" pitchFamily="18" charset="0"/>
              </a:rPr>
              <a:t>nadeemuolcsccn</a:t>
            </a:r>
            <a:r>
              <a:rPr lang="en-US" sz="2000" b="1" dirty="0">
                <a:latin typeface="Times New Roman" pitchFamily="18" charset="0"/>
                <a:cs typeface="Times New Roman" pitchFamily="18" charset="0"/>
              </a:rPr>
              <a:t>/home</a:t>
            </a:r>
            <a:endParaRPr lang="en-AU" sz="2400" b="1" dirty="0">
              <a:solidFill>
                <a:srgbClr val="0070C0"/>
              </a:solidFill>
              <a:latin typeface="Times New Roman" pitchFamily="18" charset="0"/>
              <a:cs typeface="Times New Roman" pitchFamily="18" charset="0"/>
            </a:endParaRPr>
          </a:p>
        </p:txBody>
      </p:sp>
      <p:sp>
        <p:nvSpPr>
          <p:cNvPr id="2053" name="Text Box 6"/>
          <p:cNvSpPr txBox="1">
            <a:spLocks noChangeArrowheads="1"/>
          </p:cNvSpPr>
          <p:nvPr/>
        </p:nvSpPr>
        <p:spPr bwMode="auto">
          <a:xfrm>
            <a:off x="0" y="2362200"/>
            <a:ext cx="8686800" cy="1348401"/>
          </a:xfrm>
          <a:prstGeom prst="rect">
            <a:avLst/>
          </a:prstGeom>
          <a:noFill/>
          <a:ln w="9525">
            <a:noFill/>
            <a:miter lim="800000"/>
            <a:headEnd/>
            <a:tailEnd/>
          </a:ln>
        </p:spPr>
        <p:txBody>
          <a:bodyPr wrap="square" lIns="180000" tIns="180000" rIns="180000" bIns="180000">
            <a:spAutoFit/>
          </a:bodyPr>
          <a:lstStyle/>
          <a:p>
            <a:pPr algn="ctr"/>
            <a:r>
              <a:rPr lang="en-AU" sz="2800" b="1" dirty="0">
                <a:latin typeface="Times New Roman" pitchFamily="18" charset="0"/>
                <a:cs typeface="Times New Roman" pitchFamily="18" charset="0"/>
              </a:rPr>
              <a:t>Computer Networks</a:t>
            </a:r>
          </a:p>
          <a:p>
            <a:pPr algn="ctr"/>
            <a:r>
              <a:rPr lang="en-AU" sz="3600" b="1" dirty="0">
                <a:latin typeface="Times New Roman" pitchFamily="18" charset="0"/>
                <a:cs typeface="Times New Roman" pitchFamily="18" charset="0"/>
              </a:rPr>
              <a:t>Week # 02</a:t>
            </a:r>
          </a:p>
        </p:txBody>
      </p:sp>
      <p:sp>
        <p:nvSpPr>
          <p:cNvPr id="6" name="Slide Number Placeholder 5"/>
          <p:cNvSpPr>
            <a:spLocks noGrp="1"/>
          </p:cNvSpPr>
          <p:nvPr>
            <p:ph type="sldNum" sz="quarter" idx="12"/>
          </p:nvPr>
        </p:nvSpPr>
        <p:spPr/>
        <p:txBody>
          <a:bodyPr/>
          <a:lstStyle/>
          <a:p>
            <a:fld id="{02774634-E179-45BC-8969-3DA06DCC025D}" type="slidenum">
              <a:rPr lang="en-US" smtClean="0"/>
              <a:pPr/>
              <a:t>1</a:t>
            </a:fld>
            <a:endParaRPr lang="en-US"/>
          </a:p>
        </p:txBody>
      </p:sp>
    </p:spTree>
    <p:extLst>
      <p:ext uri="{BB962C8B-B14F-4D97-AF65-F5344CB8AC3E}">
        <p14:creationId xmlns:p14="http://schemas.microsoft.com/office/powerpoint/2010/main" val="2845862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25"/>
          <p:cNvSpPr txBox="1">
            <a:spLocks noChangeArrowheads="1"/>
          </p:cNvSpPr>
          <p:nvPr/>
        </p:nvSpPr>
        <p:spPr bwMode="auto">
          <a:xfrm>
            <a:off x="3348038" y="6237288"/>
            <a:ext cx="2457450" cy="366712"/>
          </a:xfrm>
          <a:prstGeom prst="rect">
            <a:avLst/>
          </a:prstGeom>
          <a:noFill/>
          <a:ln w="9525">
            <a:noFill/>
            <a:miter lim="800000"/>
            <a:headEnd/>
            <a:tailEnd/>
          </a:ln>
        </p:spPr>
        <p:txBody>
          <a:bodyPr wrap="none">
            <a:spAutoFit/>
          </a:bodyPr>
          <a:lstStyle/>
          <a:p>
            <a:r>
              <a:rPr lang="en-AU" dirty="0">
                <a:hlinkClick r:id="rId3"/>
              </a:rPr>
              <a:t>Powerpoint Templates</a:t>
            </a:r>
            <a:endParaRPr lang="en-AU" dirty="0"/>
          </a:p>
        </p:txBody>
      </p:sp>
      <p:pic>
        <p:nvPicPr>
          <p:cNvPr id="2051" name="Picture 24" descr="4"/>
          <p:cNvPicPr>
            <a:picLocks noChangeAspect="1" noChangeArrowheads="1"/>
          </p:cNvPicPr>
          <p:nvPr/>
        </p:nvPicPr>
        <p:blipFill>
          <a:blip r:embed="rId4" cstate="print"/>
          <a:srcRect/>
          <a:stretch>
            <a:fillRect/>
          </a:stretch>
        </p:blipFill>
        <p:spPr bwMode="auto">
          <a:xfrm>
            <a:off x="0" y="0"/>
            <a:ext cx="9144000" cy="6858000"/>
          </a:xfrm>
          <a:prstGeom prst="rect">
            <a:avLst/>
          </a:prstGeom>
          <a:noFill/>
          <a:ln w="9525">
            <a:noFill/>
            <a:miter lim="800000"/>
            <a:headEnd/>
            <a:tailEnd/>
          </a:ln>
        </p:spPr>
      </p:pic>
      <p:sp>
        <p:nvSpPr>
          <p:cNvPr id="2053" name="Text Box 6"/>
          <p:cNvSpPr txBox="1">
            <a:spLocks noChangeArrowheads="1"/>
          </p:cNvSpPr>
          <p:nvPr/>
        </p:nvSpPr>
        <p:spPr bwMode="auto">
          <a:xfrm>
            <a:off x="233363" y="1403491"/>
            <a:ext cx="8686800" cy="1471511"/>
          </a:xfrm>
          <a:prstGeom prst="rect">
            <a:avLst/>
          </a:prstGeom>
          <a:noFill/>
          <a:ln w="9525">
            <a:noFill/>
            <a:miter lim="800000"/>
            <a:headEnd/>
            <a:tailEnd/>
          </a:ln>
        </p:spPr>
        <p:txBody>
          <a:bodyPr wrap="square" lIns="180000" tIns="180000" rIns="180000" bIns="180000">
            <a:spAutoFit/>
          </a:bodyPr>
          <a:lstStyle/>
          <a:p>
            <a:pPr algn="ctr"/>
            <a:endParaRPr lang="en-AU" sz="3600" b="1" dirty="0">
              <a:latin typeface="Times New Roman" pitchFamily="18" charset="0"/>
              <a:cs typeface="Times New Roman" pitchFamily="18" charset="0"/>
            </a:endParaRPr>
          </a:p>
          <a:p>
            <a:pPr algn="ctr"/>
            <a:r>
              <a:rPr lang="en-AU" sz="3600" b="1" dirty="0">
                <a:latin typeface="Times New Roman" pitchFamily="18" charset="0"/>
                <a:cs typeface="Times New Roman" pitchFamily="18" charset="0"/>
              </a:rPr>
              <a:t>Book 1 (Chapter 2): Network Models</a:t>
            </a:r>
          </a:p>
        </p:txBody>
      </p:sp>
    </p:spTree>
    <p:extLst>
      <p:ext uri="{BB962C8B-B14F-4D97-AF65-F5344CB8AC3E}">
        <p14:creationId xmlns:p14="http://schemas.microsoft.com/office/powerpoint/2010/main" val="828107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6" name="Text Box 4"/>
          <p:cNvSpPr txBox="1">
            <a:spLocks noChangeArrowheads="1"/>
          </p:cNvSpPr>
          <p:nvPr/>
        </p:nvSpPr>
        <p:spPr bwMode="auto">
          <a:xfrm>
            <a:off x="304800" y="361950"/>
            <a:ext cx="7543800" cy="646331"/>
          </a:xfrm>
          <a:prstGeom prst="rect">
            <a:avLst/>
          </a:prstGeom>
          <a:noFill/>
          <a:ln w="9525">
            <a:noFill/>
            <a:miter lim="800000"/>
            <a:headEnd/>
            <a:tailEnd/>
          </a:ln>
          <a:effectLst/>
        </p:spPr>
        <p:txBody>
          <a:bodyPr wrap="square">
            <a:spAutoFit/>
          </a:bodyPr>
          <a:lstStyle/>
          <a:p>
            <a:pPr algn="ctr"/>
            <a:r>
              <a:rPr lang="en-US" sz="3600" b="1" dirty="0">
                <a:latin typeface="Times New Roman" charset="0"/>
              </a:rPr>
              <a:t>Protocol Layering</a:t>
            </a:r>
            <a:endParaRPr lang="en-US" sz="3600" b="1" i="1" dirty="0">
              <a:latin typeface="Times New Roman" charset="0"/>
            </a:endParaRPr>
          </a:p>
        </p:txBody>
      </p:sp>
      <p:sp>
        <p:nvSpPr>
          <p:cNvPr id="909318" name="Text Box 6"/>
          <p:cNvSpPr txBox="1">
            <a:spLocks noChangeArrowheads="1"/>
          </p:cNvSpPr>
          <p:nvPr/>
        </p:nvSpPr>
        <p:spPr bwMode="auto">
          <a:xfrm>
            <a:off x="457200" y="1524000"/>
            <a:ext cx="7315200" cy="579438"/>
          </a:xfrm>
          <a:prstGeom prst="rect">
            <a:avLst/>
          </a:prstGeom>
          <a:noFill/>
          <a:ln w="9525">
            <a:noFill/>
            <a:miter lim="800000"/>
            <a:headEnd/>
            <a:tailEnd/>
          </a:ln>
          <a:effectLst/>
        </p:spPr>
        <p:txBody>
          <a:bodyPr>
            <a:spAutoFit/>
          </a:bodyPr>
          <a:lstStyle/>
          <a:p>
            <a:endParaRPr lang="en-US"/>
          </a:p>
        </p:txBody>
      </p:sp>
      <p:sp>
        <p:nvSpPr>
          <p:cNvPr id="909319" name="Rectangle 7"/>
          <p:cNvSpPr>
            <a:spLocks noGrp="1" noChangeArrowheads="1"/>
          </p:cNvSpPr>
          <p:nvPr>
            <p:ph type="body" idx="1"/>
          </p:nvPr>
        </p:nvSpPr>
        <p:spPr bwMode="auto">
          <a:xfrm>
            <a:off x="457200" y="1371600"/>
            <a:ext cx="8305800" cy="4876800"/>
          </a:xfrm>
          <a:noFill/>
          <a:ln>
            <a:miter lim="800000"/>
            <a:headEnd/>
            <a:tailEnd/>
          </a:ln>
        </p:spPr>
        <p:txBody>
          <a:bodyPr vert="horz" wrap="square" lIns="91440" tIns="45720" rIns="91440" bIns="45720" numCol="1" anchor="t" anchorCtr="0" compatLnSpc="1">
            <a:prstTxWarp prst="textNoShape">
              <a:avLst/>
            </a:prstTxWarp>
            <a:noAutofit/>
          </a:bodyPr>
          <a:lstStyle/>
          <a:p>
            <a:pPr marL="109728" indent="0">
              <a:buNone/>
            </a:pPr>
            <a:r>
              <a:rPr lang="en-US" sz="2400" b="1" i="1" dirty="0">
                <a:latin typeface="Times New Roman" charset="0"/>
              </a:rPr>
              <a:t>Protocol layering allows us to divide a complex task into several smaller and simpler tasks</a:t>
            </a:r>
          </a:p>
          <a:p>
            <a:pPr>
              <a:buFont typeface="Wingdings" panose="05000000000000000000" pitchFamily="2" charset="2"/>
              <a:buChar char="v"/>
            </a:pPr>
            <a:r>
              <a:rPr lang="en-US" sz="2400" b="1" dirty="0">
                <a:latin typeface="Times New Roman" charset="0"/>
              </a:rPr>
              <a:t>A layer (module) </a:t>
            </a:r>
            <a:r>
              <a:rPr lang="en-US" sz="2400" dirty="0">
                <a:latin typeface="Times New Roman" charset="0"/>
              </a:rPr>
              <a:t>is a black box with inputs and outputs without concerns about the conversion of inputs to outputs</a:t>
            </a:r>
          </a:p>
          <a:p>
            <a:pPr>
              <a:buFont typeface="Wingdings" panose="05000000000000000000" pitchFamily="2" charset="2"/>
              <a:buChar char="v"/>
            </a:pPr>
            <a:endParaRPr lang="en-US" sz="2400" dirty="0">
              <a:latin typeface="Times New Roman" charset="0"/>
            </a:endParaRPr>
          </a:p>
          <a:p>
            <a:pPr>
              <a:buFont typeface="Wingdings" panose="05000000000000000000" pitchFamily="2" charset="2"/>
              <a:buChar char="v"/>
            </a:pPr>
            <a:r>
              <a:rPr lang="en-US" sz="2400" dirty="0">
                <a:latin typeface="Times New Roman" charset="0"/>
              </a:rPr>
              <a:t>A layer needs to be able to receive a set of services from the lower layer and to give the services to the upper layer</a:t>
            </a:r>
          </a:p>
          <a:p>
            <a:pPr lvl="1">
              <a:buFont typeface="Wingdings" panose="05000000000000000000" pitchFamily="2" charset="2"/>
              <a:buChar char="§"/>
            </a:pPr>
            <a:r>
              <a:rPr lang="en-US" sz="2400" dirty="0">
                <a:latin typeface="Times New Roman" charset="0"/>
              </a:rPr>
              <a:t>We do not care about how the layer is implemented</a:t>
            </a:r>
          </a:p>
          <a:p>
            <a:pPr lvl="1">
              <a:buFont typeface="Wingdings" panose="05000000000000000000" pitchFamily="2" charset="2"/>
              <a:buChar char="§"/>
            </a:pPr>
            <a:endParaRPr lang="en-US" sz="2400" dirty="0">
              <a:latin typeface="Times New Roman" charset="0"/>
            </a:endParaRPr>
          </a:p>
          <a:p>
            <a:pPr>
              <a:buFont typeface="Wingdings" panose="05000000000000000000" pitchFamily="2" charset="2"/>
              <a:buChar char="v"/>
            </a:pPr>
            <a:r>
              <a:rPr lang="en-US" sz="2400" dirty="0">
                <a:latin typeface="Times New Roman" charset="0"/>
              </a:rPr>
              <a:t>There are also </a:t>
            </a:r>
            <a:r>
              <a:rPr lang="en-US" sz="2400" b="1" dirty="0">
                <a:latin typeface="Times New Roman" charset="0"/>
              </a:rPr>
              <a:t>intermediate systems </a:t>
            </a:r>
            <a:r>
              <a:rPr lang="en-US" sz="2400" dirty="0">
                <a:latin typeface="Times New Roman" charset="0"/>
              </a:rPr>
              <a:t>other than </a:t>
            </a:r>
            <a:r>
              <a:rPr lang="en-US" sz="2400" b="1" dirty="0">
                <a:latin typeface="Times New Roman" charset="0"/>
              </a:rPr>
              <a:t>end-systems</a:t>
            </a:r>
            <a:r>
              <a:rPr lang="en-US" sz="2400" dirty="0">
                <a:latin typeface="Times New Roman" charset="0"/>
              </a:rPr>
              <a:t> used by </a:t>
            </a:r>
            <a:r>
              <a:rPr lang="en-US" sz="2400" b="1" dirty="0">
                <a:latin typeface="Times New Roman" charset="0"/>
              </a:rPr>
              <a:t>communication</a:t>
            </a:r>
            <a:r>
              <a:rPr lang="en-US" sz="2400" dirty="0">
                <a:latin typeface="Times New Roman" charset="0"/>
              </a:rPr>
              <a:t> with respect to protocol layering in the </a:t>
            </a:r>
            <a:r>
              <a:rPr lang="en-US" sz="2400" b="1" dirty="0">
                <a:latin typeface="Times New Roman" charset="0"/>
              </a:rPr>
              <a:t>Internet</a:t>
            </a:r>
          </a:p>
        </p:txBody>
      </p:sp>
    </p:spTree>
    <p:extLst>
      <p:ext uri="{BB962C8B-B14F-4D97-AF65-F5344CB8AC3E}">
        <p14:creationId xmlns:p14="http://schemas.microsoft.com/office/powerpoint/2010/main" val="780450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6" name="Text Box 4"/>
          <p:cNvSpPr txBox="1">
            <a:spLocks noChangeArrowheads="1"/>
          </p:cNvSpPr>
          <p:nvPr/>
        </p:nvSpPr>
        <p:spPr bwMode="auto">
          <a:xfrm>
            <a:off x="304800" y="361950"/>
            <a:ext cx="7543800" cy="646331"/>
          </a:xfrm>
          <a:prstGeom prst="rect">
            <a:avLst/>
          </a:prstGeom>
          <a:noFill/>
          <a:ln w="9525">
            <a:noFill/>
            <a:miter lim="800000"/>
            <a:headEnd/>
            <a:tailEnd/>
          </a:ln>
          <a:effectLst/>
        </p:spPr>
        <p:txBody>
          <a:bodyPr wrap="square">
            <a:spAutoFit/>
          </a:bodyPr>
          <a:lstStyle/>
          <a:p>
            <a:pPr algn="ctr"/>
            <a:r>
              <a:rPr lang="en-US" sz="3600" b="1" dirty="0">
                <a:latin typeface="Times New Roman" charset="0"/>
              </a:rPr>
              <a:t>Principles of Protocol layering</a:t>
            </a:r>
            <a:endParaRPr lang="en-US" sz="3600" b="1" i="1" dirty="0">
              <a:latin typeface="Times New Roman" charset="0"/>
            </a:endParaRPr>
          </a:p>
        </p:txBody>
      </p:sp>
      <p:sp>
        <p:nvSpPr>
          <p:cNvPr id="909318" name="Text Box 6"/>
          <p:cNvSpPr txBox="1">
            <a:spLocks noChangeArrowheads="1"/>
          </p:cNvSpPr>
          <p:nvPr/>
        </p:nvSpPr>
        <p:spPr bwMode="auto">
          <a:xfrm>
            <a:off x="457200" y="1524000"/>
            <a:ext cx="7315200" cy="579438"/>
          </a:xfrm>
          <a:prstGeom prst="rect">
            <a:avLst/>
          </a:prstGeom>
          <a:noFill/>
          <a:ln w="9525">
            <a:noFill/>
            <a:miter lim="800000"/>
            <a:headEnd/>
            <a:tailEnd/>
          </a:ln>
          <a:effectLst/>
        </p:spPr>
        <p:txBody>
          <a:bodyPr>
            <a:spAutoFit/>
          </a:bodyPr>
          <a:lstStyle/>
          <a:p>
            <a:endParaRPr lang="en-US"/>
          </a:p>
        </p:txBody>
      </p:sp>
      <p:sp>
        <p:nvSpPr>
          <p:cNvPr id="909319" name="Rectangle 7"/>
          <p:cNvSpPr>
            <a:spLocks noGrp="1" noChangeArrowheads="1"/>
          </p:cNvSpPr>
          <p:nvPr>
            <p:ph type="body" idx="1"/>
          </p:nvPr>
        </p:nvSpPr>
        <p:spPr bwMode="auto">
          <a:xfrm>
            <a:off x="457200" y="1371600"/>
            <a:ext cx="7772400" cy="5257800"/>
          </a:xfrm>
          <a:noFill/>
          <a:ln>
            <a:miter lim="800000"/>
            <a:headEnd/>
            <a:tailEnd/>
          </a:ln>
        </p:spPr>
        <p:txBody>
          <a:bodyPr vert="horz" wrap="square" lIns="91440" tIns="45720" rIns="91440" bIns="45720" numCol="1" anchor="t" anchorCtr="0" compatLnSpc="1">
            <a:prstTxWarp prst="textNoShape">
              <a:avLst/>
            </a:prstTxWarp>
            <a:noAutofit/>
          </a:bodyPr>
          <a:lstStyle/>
          <a:p>
            <a:pPr>
              <a:buNone/>
            </a:pPr>
            <a:r>
              <a:rPr lang="en-US" sz="2400" b="1" dirty="0">
                <a:latin typeface="Times New Roman" charset="0"/>
              </a:rPr>
              <a:t>First principle</a:t>
            </a:r>
          </a:p>
          <a:p>
            <a:pPr>
              <a:buFont typeface="Wingdings" panose="05000000000000000000" pitchFamily="2" charset="2"/>
              <a:buChar char="v"/>
            </a:pPr>
            <a:r>
              <a:rPr lang="en-US" sz="2400" dirty="0">
                <a:latin typeface="Times New Roman" charset="0"/>
              </a:rPr>
              <a:t>For bidirectional communication: Each layer should be able to perform </a:t>
            </a:r>
            <a:r>
              <a:rPr lang="en-US" sz="2400" b="1" dirty="0">
                <a:latin typeface="Times New Roman" charset="0"/>
              </a:rPr>
              <a:t>two opposite tasks</a:t>
            </a:r>
          </a:p>
          <a:p>
            <a:pPr>
              <a:buFont typeface="Wingdings" panose="05000000000000000000" pitchFamily="2" charset="2"/>
              <a:buChar char="v"/>
            </a:pPr>
            <a:endParaRPr lang="en-US" sz="2400" b="1" dirty="0">
              <a:latin typeface="Times New Roman" charset="0"/>
            </a:endParaRPr>
          </a:p>
          <a:p>
            <a:pPr lvl="1">
              <a:buFont typeface="Wingdings" panose="05000000000000000000" pitchFamily="2" charset="2"/>
              <a:buChar char="§"/>
            </a:pPr>
            <a:r>
              <a:rPr lang="en-US" sz="2400" dirty="0">
                <a:latin typeface="Times New Roman" charset="0"/>
              </a:rPr>
              <a:t>3</a:t>
            </a:r>
            <a:r>
              <a:rPr lang="en-US" sz="2400" baseline="30000" dirty="0">
                <a:latin typeface="Times New Roman" charset="0"/>
              </a:rPr>
              <a:t>rd</a:t>
            </a:r>
            <a:r>
              <a:rPr lang="en-US" sz="2400" dirty="0">
                <a:latin typeface="Times New Roman" charset="0"/>
              </a:rPr>
              <a:t> layer task is to </a:t>
            </a:r>
            <a:r>
              <a:rPr lang="en-US" sz="2400" b="1" i="1" dirty="0">
                <a:latin typeface="Times New Roman" charset="0"/>
              </a:rPr>
              <a:t>talk </a:t>
            </a:r>
            <a:r>
              <a:rPr lang="en-US" sz="2400" dirty="0">
                <a:latin typeface="Times New Roman" charset="0"/>
              </a:rPr>
              <a:t>(in one direction) and </a:t>
            </a:r>
            <a:r>
              <a:rPr lang="en-US" sz="2400" b="1" i="1" dirty="0">
                <a:latin typeface="Times New Roman" charset="0"/>
              </a:rPr>
              <a:t>listen </a:t>
            </a:r>
            <a:r>
              <a:rPr lang="en-US" sz="2400" dirty="0">
                <a:latin typeface="Times New Roman" charset="0"/>
              </a:rPr>
              <a:t>(in other direction)</a:t>
            </a:r>
          </a:p>
          <a:p>
            <a:pPr lvl="1">
              <a:buFont typeface="Wingdings" panose="05000000000000000000" pitchFamily="2" charset="2"/>
              <a:buChar char="§"/>
            </a:pPr>
            <a:endParaRPr lang="en-US" sz="2400" dirty="0">
              <a:latin typeface="Times New Roman" charset="0"/>
            </a:endParaRPr>
          </a:p>
          <a:p>
            <a:pPr lvl="1">
              <a:buFont typeface="Wingdings" panose="05000000000000000000" pitchFamily="2" charset="2"/>
              <a:buChar char="§"/>
            </a:pPr>
            <a:r>
              <a:rPr lang="en-US" sz="2400" dirty="0">
                <a:latin typeface="Times New Roman" charset="0"/>
              </a:rPr>
              <a:t>2</a:t>
            </a:r>
            <a:r>
              <a:rPr lang="en-US" sz="2400" baseline="30000" dirty="0">
                <a:latin typeface="Times New Roman" charset="0"/>
              </a:rPr>
              <a:t>nd</a:t>
            </a:r>
            <a:r>
              <a:rPr lang="en-US" sz="2400" dirty="0">
                <a:latin typeface="Times New Roman" charset="0"/>
              </a:rPr>
              <a:t> layer </a:t>
            </a:r>
            <a:r>
              <a:rPr lang="en-US" sz="2400" b="1" i="1" dirty="0">
                <a:latin typeface="Times New Roman" charset="0"/>
              </a:rPr>
              <a:t>encrypt</a:t>
            </a:r>
            <a:r>
              <a:rPr lang="en-US" sz="2400" dirty="0">
                <a:latin typeface="Times New Roman" charset="0"/>
              </a:rPr>
              <a:t> (on one side) and </a:t>
            </a:r>
            <a:r>
              <a:rPr lang="en-US" sz="2400" b="1" i="1" dirty="0">
                <a:latin typeface="Times New Roman" charset="0"/>
              </a:rPr>
              <a:t>decrypt</a:t>
            </a:r>
            <a:r>
              <a:rPr lang="en-US" sz="2400" dirty="0">
                <a:latin typeface="Times New Roman" charset="0"/>
              </a:rPr>
              <a:t> (other side)</a:t>
            </a:r>
          </a:p>
          <a:p>
            <a:pPr lvl="1">
              <a:buFont typeface="Wingdings" panose="05000000000000000000" pitchFamily="2" charset="2"/>
              <a:buChar char="§"/>
            </a:pPr>
            <a:endParaRPr lang="en-US" sz="2400" dirty="0">
              <a:latin typeface="Times New Roman" charset="0"/>
            </a:endParaRPr>
          </a:p>
          <a:p>
            <a:pPr lvl="1">
              <a:buFont typeface="Wingdings" panose="05000000000000000000" pitchFamily="2" charset="2"/>
              <a:buChar char="§"/>
            </a:pPr>
            <a:r>
              <a:rPr lang="en-US" sz="2400" dirty="0">
                <a:latin typeface="Times New Roman" charset="0"/>
              </a:rPr>
              <a:t>1</a:t>
            </a:r>
            <a:r>
              <a:rPr lang="en-US" sz="2400" baseline="30000" dirty="0">
                <a:latin typeface="Times New Roman" charset="0"/>
              </a:rPr>
              <a:t>st</a:t>
            </a:r>
            <a:r>
              <a:rPr lang="en-US" sz="2400" dirty="0">
                <a:latin typeface="Times New Roman" charset="0"/>
              </a:rPr>
              <a:t> layer, </a:t>
            </a:r>
            <a:r>
              <a:rPr lang="en-US" sz="2400" b="1" i="1" dirty="0">
                <a:latin typeface="Times New Roman" charset="0"/>
              </a:rPr>
              <a:t>send</a:t>
            </a:r>
            <a:r>
              <a:rPr lang="en-US" sz="2400" dirty="0">
                <a:latin typeface="Times New Roman" charset="0"/>
              </a:rPr>
              <a:t> and </a:t>
            </a:r>
            <a:r>
              <a:rPr lang="en-US" sz="2400" b="1" i="1" dirty="0">
                <a:latin typeface="Times New Roman" charset="0"/>
              </a:rPr>
              <a:t>receive</a:t>
            </a:r>
            <a:r>
              <a:rPr lang="en-US" sz="2400" dirty="0">
                <a:latin typeface="Times New Roman" charset="0"/>
              </a:rPr>
              <a:t> email</a:t>
            </a:r>
          </a:p>
          <a:p>
            <a:pPr>
              <a:buFont typeface="Wingdings" panose="05000000000000000000" pitchFamily="2" charset="2"/>
              <a:buChar char="§"/>
            </a:pPr>
            <a:endParaRPr lang="en-US" sz="2400" dirty="0">
              <a:latin typeface="Times New Roman" charset="0"/>
            </a:endParaRPr>
          </a:p>
        </p:txBody>
      </p:sp>
    </p:spTree>
    <p:extLst>
      <p:ext uri="{BB962C8B-B14F-4D97-AF65-F5344CB8AC3E}">
        <p14:creationId xmlns:p14="http://schemas.microsoft.com/office/powerpoint/2010/main" val="2251090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6" name="Text Box 4"/>
          <p:cNvSpPr txBox="1">
            <a:spLocks noChangeArrowheads="1"/>
          </p:cNvSpPr>
          <p:nvPr/>
        </p:nvSpPr>
        <p:spPr bwMode="auto">
          <a:xfrm>
            <a:off x="304800" y="420469"/>
            <a:ext cx="7543800" cy="646331"/>
          </a:xfrm>
          <a:prstGeom prst="rect">
            <a:avLst/>
          </a:prstGeom>
          <a:noFill/>
          <a:ln w="9525">
            <a:noFill/>
            <a:miter lim="800000"/>
            <a:headEnd/>
            <a:tailEnd/>
          </a:ln>
          <a:effectLst/>
        </p:spPr>
        <p:txBody>
          <a:bodyPr wrap="square">
            <a:spAutoFit/>
          </a:bodyPr>
          <a:lstStyle/>
          <a:p>
            <a:pPr algn="ctr"/>
            <a:r>
              <a:rPr lang="en-US" sz="3600" b="1" dirty="0">
                <a:latin typeface="Times New Roman" charset="0"/>
              </a:rPr>
              <a:t>Principles of Protocol layering</a:t>
            </a:r>
            <a:endParaRPr lang="en-US" sz="3600" b="1" i="1" dirty="0">
              <a:latin typeface="Times New Roman" charset="0"/>
            </a:endParaRPr>
          </a:p>
        </p:txBody>
      </p:sp>
      <p:sp>
        <p:nvSpPr>
          <p:cNvPr id="909318" name="Text Box 6"/>
          <p:cNvSpPr txBox="1">
            <a:spLocks noChangeArrowheads="1"/>
          </p:cNvSpPr>
          <p:nvPr/>
        </p:nvSpPr>
        <p:spPr bwMode="auto">
          <a:xfrm>
            <a:off x="457200" y="1524000"/>
            <a:ext cx="7315200" cy="579438"/>
          </a:xfrm>
          <a:prstGeom prst="rect">
            <a:avLst/>
          </a:prstGeom>
          <a:noFill/>
          <a:ln w="9525">
            <a:noFill/>
            <a:miter lim="800000"/>
            <a:headEnd/>
            <a:tailEnd/>
          </a:ln>
          <a:effectLst/>
        </p:spPr>
        <p:txBody>
          <a:bodyPr>
            <a:spAutoFit/>
          </a:bodyPr>
          <a:lstStyle/>
          <a:p>
            <a:endParaRPr lang="en-US"/>
          </a:p>
        </p:txBody>
      </p:sp>
      <p:sp>
        <p:nvSpPr>
          <p:cNvPr id="909319" name="Rectangle 7"/>
          <p:cNvSpPr>
            <a:spLocks noGrp="1" noChangeArrowheads="1"/>
          </p:cNvSpPr>
          <p:nvPr>
            <p:ph type="body" idx="1"/>
          </p:nvPr>
        </p:nvSpPr>
        <p:spPr bwMode="auto">
          <a:xfrm>
            <a:off x="457200" y="1371600"/>
            <a:ext cx="7772400" cy="4114800"/>
          </a:xfrm>
          <a:noFill/>
          <a:ln>
            <a:miter lim="800000"/>
            <a:headEnd/>
            <a:tailEnd/>
          </a:ln>
        </p:spPr>
        <p:txBody>
          <a:bodyPr vert="horz" wrap="square" lIns="91440" tIns="45720" rIns="91440" bIns="45720" numCol="1" anchor="t" anchorCtr="0" compatLnSpc="1">
            <a:prstTxWarp prst="textNoShape">
              <a:avLst/>
            </a:prstTxWarp>
            <a:noAutofit/>
          </a:bodyPr>
          <a:lstStyle/>
          <a:p>
            <a:pPr>
              <a:buNone/>
            </a:pPr>
            <a:r>
              <a:rPr lang="en-US" sz="2400" b="1" dirty="0">
                <a:latin typeface="Times New Roman" charset="0"/>
              </a:rPr>
              <a:t>Second principle</a:t>
            </a:r>
          </a:p>
          <a:p>
            <a:pPr>
              <a:buFont typeface="Wingdings" panose="05000000000000000000" pitchFamily="2" charset="2"/>
              <a:buChar char="v"/>
            </a:pPr>
            <a:r>
              <a:rPr lang="en-US" sz="2400" dirty="0">
                <a:latin typeface="Times New Roman" charset="0"/>
              </a:rPr>
              <a:t>Two objects under each layer at both sides should be identical</a:t>
            </a:r>
          </a:p>
          <a:p>
            <a:pPr>
              <a:buFont typeface="Wingdings" panose="05000000000000000000" pitchFamily="2" charset="2"/>
              <a:buChar char="Ø"/>
            </a:pPr>
            <a:endParaRPr lang="en-US" sz="2400" dirty="0">
              <a:latin typeface="Times New Roman" charset="0"/>
            </a:endParaRPr>
          </a:p>
          <a:p>
            <a:pPr lvl="1">
              <a:buFont typeface="Wingdings" panose="05000000000000000000" pitchFamily="2" charset="2"/>
              <a:buChar char="§"/>
            </a:pPr>
            <a:r>
              <a:rPr lang="en-US" sz="2400" dirty="0">
                <a:latin typeface="Times New Roman" charset="0"/>
              </a:rPr>
              <a:t>Objects under layer 3 : plain text</a:t>
            </a:r>
          </a:p>
          <a:p>
            <a:pPr lvl="1">
              <a:buFont typeface="Wingdings" panose="05000000000000000000" pitchFamily="2" charset="2"/>
              <a:buChar char="§"/>
            </a:pPr>
            <a:endParaRPr lang="en-US" sz="2400" dirty="0">
              <a:latin typeface="Times New Roman" charset="0"/>
            </a:endParaRPr>
          </a:p>
          <a:p>
            <a:pPr lvl="1">
              <a:buFont typeface="Wingdings" panose="05000000000000000000" pitchFamily="2" charset="2"/>
              <a:buChar char="§"/>
            </a:pPr>
            <a:r>
              <a:rPr lang="en-US" sz="2400" dirty="0">
                <a:latin typeface="Times New Roman" charset="0"/>
              </a:rPr>
              <a:t>Objects under layer 2: Cipher text </a:t>
            </a:r>
          </a:p>
          <a:p>
            <a:pPr lvl="1">
              <a:buFont typeface="Wingdings" panose="05000000000000000000" pitchFamily="2" charset="2"/>
              <a:buChar char="§"/>
            </a:pPr>
            <a:endParaRPr lang="en-US" sz="2400" dirty="0">
              <a:latin typeface="Times New Roman" charset="0"/>
            </a:endParaRPr>
          </a:p>
          <a:p>
            <a:pPr lvl="1">
              <a:buFont typeface="Wingdings" panose="05000000000000000000" pitchFamily="2" charset="2"/>
              <a:buChar char="§"/>
            </a:pPr>
            <a:r>
              <a:rPr lang="en-US" sz="2400" dirty="0">
                <a:latin typeface="Times New Roman" charset="0"/>
              </a:rPr>
              <a:t>Objects under layer 1: a piece of mail</a:t>
            </a:r>
          </a:p>
        </p:txBody>
      </p:sp>
    </p:spTree>
    <p:extLst>
      <p:ext uri="{BB962C8B-B14F-4D97-AF65-F5344CB8AC3E}">
        <p14:creationId xmlns:p14="http://schemas.microsoft.com/office/powerpoint/2010/main" val="3326815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152400"/>
            <a:ext cx="8229600" cy="868362"/>
          </a:xfrm>
        </p:spPr>
        <p:txBody>
          <a:bodyPr>
            <a:normAutofit/>
          </a:bodyPr>
          <a:lstStyle/>
          <a:p>
            <a:r>
              <a:rPr lang="en-US" sz="3600" dirty="0">
                <a:solidFill>
                  <a:schemeClr val="tx1"/>
                </a:solidFill>
                <a:effectLst/>
                <a:latin typeface="Times New Roman" pitchFamily="18" charset="0"/>
                <a:cs typeface="Times New Roman" pitchFamily="18" charset="0"/>
              </a:rPr>
              <a:t>Models of Layers (Book1: 2.1) </a:t>
            </a:r>
          </a:p>
        </p:txBody>
      </p:sp>
      <p:sp>
        <p:nvSpPr>
          <p:cNvPr id="30723" name="Rectangle 3"/>
          <p:cNvSpPr>
            <a:spLocks noGrp="1" noChangeArrowheads="1"/>
          </p:cNvSpPr>
          <p:nvPr>
            <p:ph type="body" idx="1"/>
          </p:nvPr>
        </p:nvSpPr>
        <p:spPr>
          <a:xfrm>
            <a:off x="304800" y="990600"/>
            <a:ext cx="8610600" cy="5334000"/>
          </a:xfrm>
        </p:spPr>
        <p:txBody>
          <a:bodyPr>
            <a:noAutofit/>
          </a:bodyPr>
          <a:lstStyle/>
          <a:p>
            <a:pPr marL="109728" indent="0">
              <a:buNone/>
            </a:pPr>
            <a:r>
              <a:rPr lang="en-US" sz="2400" b="1" dirty="0">
                <a:latin typeface="Times New Roman" pitchFamily="18" charset="0"/>
                <a:cs typeface="Times New Roman" pitchFamily="18" charset="0"/>
              </a:rPr>
              <a:t>Principals (Book1: 2.1.2)</a:t>
            </a:r>
          </a:p>
          <a:p>
            <a:pPr>
              <a:buFont typeface="Wingdings" panose="05000000000000000000" pitchFamily="2" charset="2"/>
              <a:buChar char="v"/>
            </a:pPr>
            <a:r>
              <a:rPr lang="en-US" sz="2400" dirty="0">
                <a:latin typeface="Times New Roman" pitchFamily="18" charset="0"/>
                <a:cs typeface="Times New Roman" pitchFamily="18" charset="0"/>
              </a:rPr>
              <a:t>Create a layer where a different abstraction is needed</a:t>
            </a:r>
          </a:p>
          <a:p>
            <a:pPr>
              <a:buFont typeface="Wingdings" panose="05000000000000000000" pitchFamily="2" charset="2"/>
              <a:buChar char="v"/>
            </a:pPr>
            <a:endParaRPr lang="en-US" sz="2400" dirty="0">
              <a:latin typeface="Times New Roman" pitchFamily="18" charset="0"/>
              <a:cs typeface="Times New Roman" pitchFamily="18" charset="0"/>
            </a:endParaRPr>
          </a:p>
          <a:p>
            <a:pPr>
              <a:buFont typeface="Wingdings" panose="05000000000000000000" pitchFamily="2" charset="2"/>
              <a:buChar char="v"/>
            </a:pPr>
            <a:r>
              <a:rPr lang="en-US" sz="2400" dirty="0">
                <a:latin typeface="Times New Roman" pitchFamily="18" charset="0"/>
                <a:cs typeface="Times New Roman" pitchFamily="18" charset="0"/>
              </a:rPr>
              <a:t>Each layer should perform a well-defined function</a:t>
            </a:r>
          </a:p>
          <a:p>
            <a:pPr>
              <a:buFont typeface="Wingdings" panose="05000000000000000000" pitchFamily="2" charset="2"/>
              <a:buChar char="v"/>
            </a:pPr>
            <a:endParaRPr lang="en-US" sz="2400" dirty="0">
              <a:latin typeface="Times New Roman" pitchFamily="18" charset="0"/>
              <a:cs typeface="Times New Roman" pitchFamily="18" charset="0"/>
            </a:endParaRPr>
          </a:p>
          <a:p>
            <a:pPr>
              <a:buFont typeface="Wingdings" panose="05000000000000000000" pitchFamily="2" charset="2"/>
              <a:buChar char="v"/>
            </a:pPr>
            <a:r>
              <a:rPr lang="en-US" sz="2400" dirty="0">
                <a:latin typeface="Times New Roman" pitchFamily="18" charset="0"/>
                <a:cs typeface="Times New Roman" pitchFamily="18" charset="0"/>
              </a:rPr>
              <a:t>The function of each layer should be chosen</a:t>
            </a:r>
          </a:p>
          <a:p>
            <a:pPr lvl="1">
              <a:buFont typeface="Wingdings" panose="05000000000000000000" pitchFamily="2" charset="2"/>
              <a:buChar char="§"/>
            </a:pPr>
            <a:r>
              <a:rPr lang="en-US" sz="2400" dirty="0">
                <a:latin typeface="Times New Roman" pitchFamily="18" charset="0"/>
                <a:cs typeface="Times New Roman" pitchFamily="18" charset="0"/>
              </a:rPr>
              <a:t>With target for standardization</a:t>
            </a:r>
          </a:p>
          <a:p>
            <a:pPr lvl="1">
              <a:buFont typeface="Wingdings" panose="05000000000000000000" pitchFamily="2" charset="2"/>
              <a:buChar char="§"/>
            </a:pPr>
            <a:endParaRPr lang="en-US" sz="2400" dirty="0">
              <a:latin typeface="Times New Roman" pitchFamily="18" charset="0"/>
              <a:cs typeface="Times New Roman" pitchFamily="18" charset="0"/>
            </a:endParaRPr>
          </a:p>
          <a:p>
            <a:pPr>
              <a:buFont typeface="Wingdings" panose="05000000000000000000" pitchFamily="2" charset="2"/>
              <a:buChar char="v"/>
            </a:pPr>
            <a:r>
              <a:rPr lang="en-US" sz="2400" dirty="0">
                <a:latin typeface="Times New Roman" pitchFamily="18" charset="0"/>
                <a:cs typeface="Times New Roman" pitchFamily="18" charset="0"/>
              </a:rPr>
              <a:t>Minimize information flow across layer boundaries</a:t>
            </a:r>
          </a:p>
          <a:p>
            <a:pPr>
              <a:buFont typeface="Wingdings" panose="05000000000000000000" pitchFamily="2" charset="2"/>
              <a:buChar char="v"/>
            </a:pPr>
            <a:endParaRPr lang="en-US" sz="2400" dirty="0">
              <a:latin typeface="Times New Roman" pitchFamily="18" charset="0"/>
              <a:cs typeface="Times New Roman" pitchFamily="18" charset="0"/>
            </a:endParaRPr>
          </a:p>
          <a:p>
            <a:pPr>
              <a:buFont typeface="Wingdings" panose="05000000000000000000" pitchFamily="2" charset="2"/>
              <a:buChar char="v"/>
            </a:pPr>
            <a:r>
              <a:rPr lang="en-US" sz="2400" dirty="0">
                <a:latin typeface="Times New Roman" pitchFamily="18" charset="0"/>
                <a:cs typeface="Times New Roman" pitchFamily="18" charset="0"/>
              </a:rPr>
              <a:t>Number of layers</a:t>
            </a:r>
          </a:p>
          <a:p>
            <a:pPr lvl="1">
              <a:buFont typeface="Wingdings" panose="05000000000000000000" pitchFamily="2" charset="2"/>
              <a:buChar char="v"/>
            </a:pPr>
            <a:r>
              <a:rPr lang="en-US" sz="2400" dirty="0">
                <a:latin typeface="Times New Roman" pitchFamily="18" charset="0"/>
                <a:cs typeface="Times New Roman" pitchFamily="18" charset="0"/>
              </a:rPr>
              <a:t>Large: distinct functions are not in the same layer</a:t>
            </a:r>
          </a:p>
          <a:p>
            <a:pPr lvl="1">
              <a:buFont typeface="Wingdings" panose="05000000000000000000" pitchFamily="2" charset="2"/>
              <a:buChar char="v"/>
            </a:pPr>
            <a:r>
              <a:rPr lang="en-US" sz="2400" dirty="0">
                <a:latin typeface="Times New Roman" pitchFamily="18" charset="0"/>
                <a:cs typeface="Times New Roman" pitchFamily="18" charset="0"/>
              </a:rPr>
              <a:t>Small : architecture does not become complex</a:t>
            </a:r>
          </a:p>
        </p:txBody>
      </p:sp>
    </p:spTree>
    <p:extLst>
      <p:ext uri="{BB962C8B-B14F-4D97-AF65-F5344CB8AC3E}">
        <p14:creationId xmlns:p14="http://schemas.microsoft.com/office/powerpoint/2010/main" val="495315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5" name="Text Box 3"/>
          <p:cNvSpPr txBox="1">
            <a:spLocks noChangeArrowheads="1"/>
          </p:cNvSpPr>
          <p:nvPr/>
        </p:nvSpPr>
        <p:spPr bwMode="auto">
          <a:xfrm>
            <a:off x="228600" y="76200"/>
            <a:ext cx="6483634" cy="584775"/>
          </a:xfrm>
          <a:prstGeom prst="rect">
            <a:avLst/>
          </a:prstGeom>
          <a:noFill/>
          <a:ln w="9525">
            <a:noFill/>
            <a:miter lim="800000"/>
            <a:headEnd/>
            <a:tailEnd/>
          </a:ln>
          <a:effectLst/>
        </p:spPr>
        <p:txBody>
          <a:bodyPr wrap="none">
            <a:spAutoFit/>
          </a:bodyPr>
          <a:lstStyle/>
          <a:p>
            <a:pPr>
              <a:defRPr/>
            </a:pPr>
            <a:r>
              <a:rPr lang="en-US" sz="3200" b="1" dirty="0">
                <a:latin typeface="Times" pitchFamily="18" charset="0"/>
              </a:rPr>
              <a:t>INTERFACE BETWEEN LAYERS</a:t>
            </a:r>
          </a:p>
        </p:txBody>
      </p:sp>
      <p:sp>
        <p:nvSpPr>
          <p:cNvPr id="1126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10" name="Rectangle 11"/>
          <p:cNvSpPr>
            <a:spLocks noChangeArrowheads="1"/>
          </p:cNvSpPr>
          <p:nvPr/>
        </p:nvSpPr>
        <p:spPr bwMode="auto">
          <a:xfrm>
            <a:off x="304800" y="1371600"/>
            <a:ext cx="8610600" cy="3785652"/>
          </a:xfrm>
          <a:prstGeom prst="rect">
            <a:avLst/>
          </a:prstGeom>
          <a:noFill/>
          <a:ln w="76200" algn="ctr">
            <a:noFill/>
            <a:miter lim="800000"/>
            <a:headEnd/>
            <a:tailEnd/>
          </a:ln>
        </p:spPr>
        <p:txBody>
          <a:bodyPr wrap="square">
            <a:spAutoFit/>
          </a:bodyPr>
          <a:lstStyle/>
          <a:p>
            <a:pPr>
              <a:buFont typeface="Wingdings" pitchFamily="2" charset="2"/>
              <a:buChar char="Ø"/>
            </a:pPr>
            <a:r>
              <a:rPr lang="en-US" sz="2400" dirty="0">
                <a:latin typeface="Times New Roman" pitchFamily="18" charset="0"/>
                <a:cs typeface="Times New Roman" pitchFamily="18" charset="0"/>
              </a:rPr>
              <a:t>The passing of the data and network information down through the layers of the sending device and back up through the layers of the receiving device is made possible by an interface between each pair of adjacent layers.</a:t>
            </a:r>
          </a:p>
          <a:p>
            <a:endParaRPr lang="en-US" sz="2400" dirty="0">
              <a:latin typeface="Times New Roman" pitchFamily="18" charset="0"/>
              <a:cs typeface="Times New Roman" pitchFamily="18" charset="0"/>
            </a:endParaRPr>
          </a:p>
          <a:p>
            <a:pPr>
              <a:buFont typeface="Wingdings" pitchFamily="2" charset="2"/>
              <a:buChar char="Ø"/>
            </a:pPr>
            <a:r>
              <a:rPr lang="en-US" sz="2400" dirty="0">
                <a:latin typeface="Times New Roman" pitchFamily="18" charset="0"/>
                <a:cs typeface="Times New Roman" pitchFamily="18" charset="0"/>
              </a:rPr>
              <a:t>Each interface defines the </a:t>
            </a:r>
            <a:r>
              <a:rPr lang="en-US" sz="2400" dirty="0">
                <a:solidFill>
                  <a:srgbClr val="FF0000"/>
                </a:solidFill>
                <a:latin typeface="Times New Roman" pitchFamily="18" charset="0"/>
                <a:cs typeface="Times New Roman" pitchFamily="18" charset="0"/>
              </a:rPr>
              <a:t>information and services </a:t>
            </a:r>
            <a:r>
              <a:rPr lang="en-US" sz="2400" dirty="0">
                <a:latin typeface="Times New Roman" pitchFamily="18" charset="0"/>
                <a:cs typeface="Times New Roman" pitchFamily="18" charset="0"/>
              </a:rPr>
              <a:t>a layer must provide for the layer above it.</a:t>
            </a:r>
          </a:p>
          <a:p>
            <a:endParaRPr lang="en-US" sz="2400" dirty="0">
              <a:latin typeface="Times New Roman" pitchFamily="18" charset="0"/>
              <a:cs typeface="Times New Roman" pitchFamily="18" charset="0"/>
            </a:endParaRPr>
          </a:p>
          <a:p>
            <a:pPr>
              <a:buFont typeface="Wingdings" pitchFamily="2" charset="2"/>
              <a:buChar char="Ø"/>
            </a:pPr>
            <a:r>
              <a:rPr lang="en-US" sz="2400" dirty="0">
                <a:latin typeface="Times New Roman" pitchFamily="18" charset="0"/>
                <a:cs typeface="Times New Roman" pitchFamily="18" charset="0"/>
              </a:rPr>
              <a:t>Well-defined interfaces and layer functions provide </a:t>
            </a:r>
            <a:r>
              <a:rPr lang="en-US" sz="2400" dirty="0">
                <a:solidFill>
                  <a:srgbClr val="FF0000"/>
                </a:solidFill>
                <a:latin typeface="Times New Roman" pitchFamily="18" charset="0"/>
                <a:cs typeface="Times New Roman" pitchFamily="18" charset="0"/>
              </a:rPr>
              <a:t>modularity</a:t>
            </a:r>
            <a:r>
              <a:rPr lang="en-US" sz="2400" dirty="0">
                <a:latin typeface="Times New Roman" pitchFamily="18" charset="0"/>
                <a:cs typeface="Times New Roman" pitchFamily="18" charset="0"/>
              </a:rPr>
              <a:t> to a network.</a:t>
            </a:r>
          </a:p>
        </p:txBody>
      </p:sp>
    </p:spTree>
    <p:extLst>
      <p:ext uri="{BB962C8B-B14F-4D97-AF65-F5344CB8AC3E}">
        <p14:creationId xmlns:p14="http://schemas.microsoft.com/office/powerpoint/2010/main" val="25191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additive="base">
                                        <p:cTn id="13"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 calcmode="lin" valueType="num">
                                      <p:cBhvr additive="base">
                                        <p:cTn id="19"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a:bodyPr>
          <a:lstStyle/>
          <a:p>
            <a:pPr algn="l" eaLnBrk="1" hangingPunct="1"/>
            <a:r>
              <a:rPr lang="en-US" sz="3600" dirty="0">
                <a:solidFill>
                  <a:schemeClr val="tx1"/>
                </a:solidFill>
                <a:latin typeface="Times New Roman" pitchFamily="18" charset="0"/>
                <a:cs typeface="Times New Roman" pitchFamily="18" charset="0"/>
              </a:rPr>
              <a:t>Reference Models</a:t>
            </a:r>
          </a:p>
        </p:txBody>
      </p:sp>
      <p:sp>
        <p:nvSpPr>
          <p:cNvPr id="30723" name="Rectangle 3"/>
          <p:cNvSpPr>
            <a:spLocks noGrp="1" noChangeArrowheads="1"/>
          </p:cNvSpPr>
          <p:nvPr>
            <p:ph type="body" idx="1"/>
          </p:nvPr>
        </p:nvSpPr>
        <p:spPr>
          <a:xfrm>
            <a:off x="663575" y="1619250"/>
            <a:ext cx="7870825" cy="4933950"/>
          </a:xfrm>
        </p:spPr>
        <p:txBody>
          <a:bodyPr>
            <a:normAutofit/>
          </a:bodyPr>
          <a:lstStyle/>
          <a:p>
            <a:pPr>
              <a:buFont typeface="Wingdings" panose="05000000000000000000" pitchFamily="2" charset="2"/>
              <a:buChar char="v"/>
            </a:pPr>
            <a:endParaRPr lang="en-US" sz="2800" dirty="0">
              <a:latin typeface="Times New Roman" pitchFamily="18" charset="0"/>
              <a:cs typeface="Times New Roman" pitchFamily="18" charset="0"/>
            </a:endParaRPr>
          </a:p>
          <a:p>
            <a:pPr>
              <a:buFont typeface="Wingdings" panose="05000000000000000000" pitchFamily="2" charset="2"/>
              <a:buChar char="v"/>
            </a:pPr>
            <a:endParaRPr lang="en-US" sz="2800" dirty="0">
              <a:latin typeface="Times New Roman" pitchFamily="18" charset="0"/>
              <a:cs typeface="Times New Roman" pitchFamily="18" charset="0"/>
            </a:endParaRPr>
          </a:p>
          <a:p>
            <a:pPr marL="109728" indent="0">
              <a:buNone/>
            </a:pPr>
            <a:r>
              <a:rPr lang="en-US" sz="3200" dirty="0">
                <a:latin typeface="Times New Roman" pitchFamily="18" charset="0"/>
                <a:cs typeface="Times New Roman" pitchFamily="18" charset="0"/>
              </a:rPr>
              <a:t>1-The OSI Reference Model (minus physical medium)</a:t>
            </a:r>
          </a:p>
          <a:p>
            <a:pPr marL="109728" indent="0">
              <a:buNone/>
            </a:pPr>
            <a:r>
              <a:rPr lang="en-US" sz="2800" dirty="0">
                <a:latin typeface="Times New Roman" pitchFamily="18" charset="0"/>
                <a:cs typeface="Times New Roman" pitchFamily="18" charset="0"/>
              </a:rPr>
              <a:t>2-The TCP/IP Protocol Suit: Used in all WANs, the ARPANET, worldwide Internet</a:t>
            </a:r>
          </a:p>
          <a:p>
            <a:pPr>
              <a:buFont typeface="Wingdings" panose="05000000000000000000" pitchFamily="2" charset="2"/>
              <a:buChar char="§"/>
            </a:pPr>
            <a:endParaRPr lang="en-US" sz="3200" dirty="0">
              <a:latin typeface="Times New Roman" pitchFamily="18" charset="0"/>
              <a:cs typeface="Times New Roman" pitchFamily="18" charset="0"/>
            </a:endParaRPr>
          </a:p>
          <a:p>
            <a:pPr algn="l" eaLnBrk="1" hangingPunct="1">
              <a:buFontTx/>
              <a:buChar char="•"/>
            </a:pPr>
            <a:endParaRPr lang="en-US" sz="3200" dirty="0"/>
          </a:p>
          <a:p>
            <a:pPr algn="l" eaLnBrk="1" hangingPunct="1">
              <a:buFontTx/>
              <a:buChar char="•"/>
            </a:pPr>
            <a:endParaRPr lang="en-US" sz="3200" dirty="0"/>
          </a:p>
        </p:txBody>
      </p:sp>
      <p:sp>
        <p:nvSpPr>
          <p:cNvPr id="4" name="Rectangle 3"/>
          <p:cNvSpPr/>
          <p:nvPr/>
        </p:nvSpPr>
        <p:spPr>
          <a:xfrm>
            <a:off x="609600" y="1143000"/>
            <a:ext cx="7162800" cy="1384995"/>
          </a:xfrm>
          <a:prstGeom prst="rect">
            <a:avLst/>
          </a:prstGeom>
        </p:spPr>
        <p:txBody>
          <a:bodyPr wrap="square">
            <a:spAutoFit/>
          </a:bodyPr>
          <a:lstStyle/>
          <a:p>
            <a:r>
              <a:rPr lang="en-US" sz="2800" b="1" dirty="0">
                <a:solidFill>
                  <a:srgbClr val="CC0000"/>
                </a:solidFill>
                <a:latin typeface="Times New Roman" panose="02020603050405020304" pitchFamily="18" charset="0"/>
                <a:cs typeface="Times New Roman" panose="02020603050405020304" pitchFamily="18" charset="0"/>
              </a:rPr>
              <a:t>Layers model</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 theoretical approach describing how data is going to be transmit over the network</a:t>
            </a:r>
          </a:p>
        </p:txBody>
      </p:sp>
    </p:spTree>
    <p:extLst>
      <p:ext uri="{BB962C8B-B14F-4D97-AF65-F5344CB8AC3E}">
        <p14:creationId xmlns:p14="http://schemas.microsoft.com/office/powerpoint/2010/main" val="2141007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a:bodyPr>
          <a:lstStyle/>
          <a:p>
            <a:pPr algn="l" eaLnBrk="1" hangingPunct="1"/>
            <a:r>
              <a:rPr lang="en-US" sz="3600" dirty="0">
                <a:solidFill>
                  <a:schemeClr val="tx1"/>
                </a:solidFill>
                <a:effectLst/>
                <a:latin typeface="Times New Roman" pitchFamily="18" charset="0"/>
                <a:cs typeface="Times New Roman" pitchFamily="18" charset="0"/>
              </a:rPr>
              <a:t>1-OSI Reference Model (Book1: 2.3)</a:t>
            </a:r>
          </a:p>
        </p:txBody>
      </p:sp>
      <p:sp>
        <p:nvSpPr>
          <p:cNvPr id="30723" name="Rectangle 3"/>
          <p:cNvSpPr>
            <a:spLocks noGrp="1" noChangeArrowheads="1"/>
          </p:cNvSpPr>
          <p:nvPr>
            <p:ph type="body" idx="1"/>
          </p:nvPr>
        </p:nvSpPr>
        <p:spPr>
          <a:xfrm>
            <a:off x="381000" y="1371600"/>
            <a:ext cx="8099425" cy="5238750"/>
          </a:xfrm>
        </p:spPr>
        <p:txBody>
          <a:bodyPr>
            <a:noAutofit/>
          </a:bodyPr>
          <a:lstStyle/>
          <a:p>
            <a:pPr>
              <a:buFont typeface="Wingdings" panose="05000000000000000000" pitchFamily="2" charset="2"/>
              <a:buChar char="v"/>
            </a:pPr>
            <a:r>
              <a:rPr lang="en-US" sz="2400" dirty="0">
                <a:latin typeface="Times New Roman" pitchFamily="18" charset="0"/>
                <a:cs typeface="Times New Roman" pitchFamily="18" charset="0"/>
              </a:rPr>
              <a:t>International Standard Organization (ISO) established in 1947 is a multinational body dedicated to worldwide agreement on international standards</a:t>
            </a:r>
          </a:p>
          <a:p>
            <a:pPr>
              <a:buFont typeface="Wingdings" panose="05000000000000000000" pitchFamily="2" charset="2"/>
              <a:buChar char="v"/>
            </a:pPr>
            <a:endParaRPr lang="en-US" sz="2400" dirty="0">
              <a:latin typeface="Times New Roman" pitchFamily="18" charset="0"/>
              <a:cs typeface="Times New Roman" pitchFamily="18" charset="0"/>
            </a:endParaRPr>
          </a:p>
          <a:p>
            <a:pPr>
              <a:buFont typeface="Wingdings" panose="05000000000000000000" pitchFamily="2" charset="2"/>
              <a:buChar char="v"/>
            </a:pPr>
            <a:r>
              <a:rPr lang="en-US" sz="2400" dirty="0">
                <a:latin typeface="Times New Roman" pitchFamily="18" charset="0"/>
                <a:cs typeface="Times New Roman" pitchFamily="18" charset="0"/>
              </a:rPr>
              <a:t>An ISO standard that covers all aspects of network communication is the  Open Systems Interconnection (OSI) model (first introduced in 1970)</a:t>
            </a:r>
          </a:p>
          <a:p>
            <a:pPr>
              <a:buFont typeface="Wingdings" panose="05000000000000000000" pitchFamily="2" charset="2"/>
              <a:buChar char="v"/>
            </a:pPr>
            <a:endParaRPr lang="en-US" sz="2400" dirty="0">
              <a:latin typeface="Times New Roman" pitchFamily="18" charset="0"/>
              <a:cs typeface="Times New Roman" pitchFamily="18" charset="0"/>
            </a:endParaRPr>
          </a:p>
          <a:p>
            <a:pPr>
              <a:buFont typeface="Wingdings" panose="05000000000000000000" pitchFamily="2" charset="2"/>
              <a:buChar char="v"/>
            </a:pPr>
            <a:r>
              <a:rPr lang="en-US" sz="2400" dirty="0">
                <a:latin typeface="Times New Roman" pitchFamily="18" charset="0"/>
                <a:cs typeface="Times New Roman" pitchFamily="18" charset="0"/>
              </a:rPr>
              <a:t>The OSI model provides a conceptual understanding of LAN/WAN internetworking</a:t>
            </a:r>
            <a:endParaRPr lang="en-US" sz="2800" b="1" dirty="0">
              <a:latin typeface="Times New Roman" pitchFamily="18" charset="0"/>
              <a:cs typeface="Times New Roman" pitchFamily="18" charset="0"/>
            </a:endParaRPr>
          </a:p>
          <a:p>
            <a:pPr>
              <a:buNone/>
            </a:pPr>
            <a:r>
              <a:rPr lang="en-US" sz="3200" b="1" dirty="0">
                <a:solidFill>
                  <a:srgbClr val="00B050"/>
                </a:solidFill>
                <a:latin typeface="Times New Roman" pitchFamily="18" charset="0"/>
                <a:cs typeface="Times New Roman" pitchFamily="18" charset="0"/>
              </a:rPr>
              <a:t>ISO is the organization and OSI is the model</a:t>
            </a:r>
          </a:p>
        </p:txBody>
      </p:sp>
    </p:spTree>
    <p:extLst>
      <p:ext uri="{BB962C8B-B14F-4D97-AF65-F5344CB8AC3E}">
        <p14:creationId xmlns:p14="http://schemas.microsoft.com/office/powerpoint/2010/main" val="930391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274638"/>
            <a:ext cx="8229600" cy="868362"/>
          </a:xfrm>
        </p:spPr>
        <p:txBody>
          <a:bodyPr>
            <a:normAutofit/>
          </a:bodyPr>
          <a:lstStyle/>
          <a:p>
            <a:pPr algn="l" eaLnBrk="1" hangingPunct="1"/>
            <a:r>
              <a:rPr lang="en-US" sz="3600" dirty="0">
                <a:solidFill>
                  <a:schemeClr val="tx1"/>
                </a:solidFill>
                <a:effectLst/>
                <a:latin typeface="Times New Roman" pitchFamily="18" charset="0"/>
                <a:cs typeface="Times New Roman" pitchFamily="18" charset="0"/>
              </a:rPr>
              <a:t>1-OSI Reference Model</a:t>
            </a:r>
          </a:p>
        </p:txBody>
      </p:sp>
      <p:pic>
        <p:nvPicPr>
          <p:cNvPr id="5" name="Picture 6"/>
          <p:cNvPicPr>
            <a:picLocks noChangeAspect="1" noChangeArrowheads="1"/>
          </p:cNvPicPr>
          <p:nvPr/>
        </p:nvPicPr>
        <p:blipFill>
          <a:blip r:embed="rId2" cstate="print"/>
          <a:srcRect/>
          <a:stretch>
            <a:fillRect/>
          </a:stretch>
        </p:blipFill>
        <p:spPr bwMode="auto">
          <a:xfrm>
            <a:off x="882650" y="1295400"/>
            <a:ext cx="6965950" cy="4932363"/>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02774634-E179-45BC-8969-3DA06DCC025D}" type="slidenum">
              <a:rPr lang="en-US" smtClean="0"/>
              <a:pPr/>
              <a:t>10</a:t>
            </a:fld>
            <a:endParaRPr lang="en-US"/>
          </a:p>
        </p:txBody>
      </p:sp>
    </p:spTree>
    <p:extLst>
      <p:ext uri="{BB962C8B-B14F-4D97-AF65-F5344CB8AC3E}">
        <p14:creationId xmlns:p14="http://schemas.microsoft.com/office/powerpoint/2010/main" val="3023145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2" descr="G:\SPRING-2011\Data Com\ieb23protocol1.GIF"/>
          <p:cNvPicPr>
            <a:picLocks noChangeAspect="1" noChangeArrowheads="1"/>
          </p:cNvPicPr>
          <p:nvPr/>
        </p:nvPicPr>
        <p:blipFill>
          <a:blip r:embed="rId2" cstate="print"/>
          <a:srcRect/>
          <a:stretch>
            <a:fillRect/>
          </a:stretch>
        </p:blipFill>
        <p:spPr bwMode="auto">
          <a:xfrm>
            <a:off x="685800" y="304800"/>
            <a:ext cx="7958138" cy="5791200"/>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fld id="{02774634-E179-45BC-8969-3DA06DCC025D}" type="slidenum">
              <a:rPr lang="en-US" smtClean="0"/>
              <a:pPr/>
              <a:t>11</a:t>
            </a:fld>
            <a:endParaRPr lang="en-US"/>
          </a:p>
        </p:txBody>
      </p:sp>
    </p:spTree>
    <p:extLst>
      <p:ext uri="{BB962C8B-B14F-4D97-AF65-F5344CB8AC3E}">
        <p14:creationId xmlns:p14="http://schemas.microsoft.com/office/powerpoint/2010/main" val="255491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Text Box 4"/>
          <p:cNvSpPr txBox="1">
            <a:spLocks noChangeArrowheads="1"/>
          </p:cNvSpPr>
          <p:nvPr/>
        </p:nvSpPr>
        <p:spPr bwMode="auto">
          <a:xfrm>
            <a:off x="304800" y="304800"/>
            <a:ext cx="4480714" cy="646331"/>
          </a:xfrm>
          <a:prstGeom prst="rect">
            <a:avLst/>
          </a:prstGeom>
          <a:noFill/>
          <a:ln w="9525">
            <a:noFill/>
            <a:miter lim="800000"/>
            <a:headEnd/>
            <a:tailEnd/>
          </a:ln>
        </p:spPr>
        <p:txBody>
          <a:bodyPr wrap="none">
            <a:spAutoFit/>
          </a:bodyPr>
          <a:lstStyle/>
          <a:p>
            <a:r>
              <a:rPr lang="en-US" sz="3600" i="1" dirty="0">
                <a:latin typeface="Times New Roman" pitchFamily="18" charset="0"/>
                <a:cs typeface="Times New Roman" pitchFamily="18" charset="0"/>
              </a:rPr>
              <a:t>Summary </a:t>
            </a:r>
            <a:r>
              <a:rPr lang="en-US" sz="3600" i="1">
                <a:latin typeface="Times New Roman" pitchFamily="18" charset="0"/>
                <a:cs typeface="Times New Roman" pitchFamily="18" charset="0"/>
              </a:rPr>
              <a:t>of OSI layers</a:t>
            </a:r>
            <a:endParaRPr lang="en-US" sz="3600" i="1" dirty="0">
              <a:latin typeface="Times New Roman" pitchFamily="18" charset="0"/>
              <a:cs typeface="Times New Roman" pitchFamily="18" charset="0"/>
            </a:endParaRPr>
          </a:p>
        </p:txBody>
      </p:sp>
      <p:pic>
        <p:nvPicPr>
          <p:cNvPr id="29703" name="Picture 6"/>
          <p:cNvPicPr>
            <a:picLocks noChangeAspect="1" noChangeArrowheads="1"/>
          </p:cNvPicPr>
          <p:nvPr/>
        </p:nvPicPr>
        <p:blipFill>
          <a:blip r:embed="rId3" cstate="print"/>
          <a:srcRect/>
          <a:stretch>
            <a:fillRect/>
          </a:stretch>
        </p:blipFill>
        <p:spPr bwMode="auto">
          <a:xfrm>
            <a:off x="344488" y="1600200"/>
            <a:ext cx="8189912" cy="3765550"/>
          </a:xfrm>
          <a:prstGeom prst="rect">
            <a:avLst/>
          </a:prstGeom>
          <a:noFill/>
          <a:ln w="9525">
            <a:noFill/>
            <a:miter lim="800000"/>
            <a:headEnd/>
            <a:tailEnd/>
          </a:ln>
        </p:spPr>
      </p:pic>
    </p:spTree>
    <p:extLst>
      <p:ext uri="{BB962C8B-B14F-4D97-AF65-F5344CB8AC3E}">
        <p14:creationId xmlns:p14="http://schemas.microsoft.com/office/powerpoint/2010/main" val="2808147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9939" name="Text Box 3"/>
          <p:cNvSpPr txBox="1">
            <a:spLocks noChangeArrowheads="1"/>
          </p:cNvSpPr>
          <p:nvPr/>
        </p:nvSpPr>
        <p:spPr bwMode="auto">
          <a:xfrm>
            <a:off x="228600" y="76200"/>
            <a:ext cx="8969187" cy="646331"/>
          </a:xfrm>
          <a:prstGeom prst="rect">
            <a:avLst/>
          </a:prstGeom>
          <a:noFill/>
          <a:ln w="9525">
            <a:noFill/>
            <a:miter lim="800000"/>
            <a:headEnd/>
            <a:tailEnd/>
          </a:ln>
          <a:effectLst/>
        </p:spPr>
        <p:txBody>
          <a:bodyPr wrap="none">
            <a:spAutoFit/>
          </a:bodyPr>
          <a:lstStyle/>
          <a:p>
            <a:pPr>
              <a:defRPr/>
            </a:pPr>
            <a:r>
              <a:rPr lang="en-US" sz="3200" dirty="0">
                <a:effectLst>
                  <a:outerShdw blurRad="38100" dist="38100" dir="2700000" algn="tl">
                    <a:srgbClr val="C0C0C0"/>
                  </a:outerShdw>
                </a:effectLst>
                <a:latin typeface="Times" pitchFamily="18" charset="0"/>
              </a:rPr>
              <a:t>  2-</a:t>
            </a:r>
            <a:r>
              <a:rPr lang="en-US" sz="3600" b="1" dirty="0">
                <a:latin typeface="Times New Roman" pitchFamily="18" charset="0"/>
                <a:cs typeface="Times New Roman" pitchFamily="18" charset="0"/>
              </a:rPr>
              <a:t>TCP/IP PROTOCOL SUITE (Book1: 2.2)</a:t>
            </a:r>
          </a:p>
        </p:txBody>
      </p:sp>
      <p:sp>
        <p:nvSpPr>
          <p:cNvPr id="11161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679941" name="Rectangle 5"/>
          <p:cNvSpPr>
            <a:spLocks noChangeArrowheads="1"/>
          </p:cNvSpPr>
          <p:nvPr/>
        </p:nvSpPr>
        <p:spPr bwMode="auto">
          <a:xfrm>
            <a:off x="207818" y="805934"/>
            <a:ext cx="8659091" cy="5447645"/>
          </a:xfrm>
          <a:prstGeom prst="rect">
            <a:avLst/>
          </a:prstGeom>
          <a:noFill/>
          <a:ln w="9525">
            <a:noFill/>
            <a:miter lim="800000"/>
            <a:headEnd/>
            <a:tailEnd/>
          </a:ln>
          <a:effectLst/>
        </p:spPr>
        <p:txBody>
          <a:bodyPr wrap="square" anchor="ctr">
            <a:spAutoFit/>
          </a:bodyPr>
          <a:lstStyle/>
          <a:p>
            <a:pPr marL="457200" indent="-457200" algn="just" eaLnBrk="1" hangingPunct="1">
              <a:buFont typeface="Wingdings" panose="05000000000000000000" pitchFamily="2" charset="2"/>
              <a:buChar char="Ø"/>
              <a:defRPr/>
            </a:pPr>
            <a:r>
              <a:rPr lang="en-US" sz="2800" dirty="0">
                <a:latin typeface="Times New Roman" pitchFamily="18" charset="0"/>
                <a:cs typeface="Times New Roman" pitchFamily="18" charset="0"/>
              </a:rPr>
              <a:t>Transmission Control Protocol/Internet Protocol (</a:t>
            </a:r>
            <a:r>
              <a:rPr lang="en-US" sz="2800" b="1" dirty="0">
                <a:latin typeface="Times New Roman" pitchFamily="18" charset="0"/>
                <a:cs typeface="Times New Roman" pitchFamily="18" charset="0"/>
              </a:rPr>
              <a:t>TSP/IP</a:t>
            </a:r>
            <a:r>
              <a:rPr lang="en-US" sz="2800" dirty="0">
                <a:latin typeface="Times New Roman" pitchFamily="18" charset="0"/>
                <a:cs typeface="Times New Roman" pitchFamily="18" charset="0"/>
              </a:rPr>
              <a:t>) is a set of protocols organized in different layers </a:t>
            </a:r>
            <a:r>
              <a:rPr lang="en-US" sz="2800" b="1" dirty="0">
                <a:latin typeface="Times New Roman" pitchFamily="18" charset="0"/>
                <a:cs typeface="Times New Roman" pitchFamily="18" charset="0"/>
              </a:rPr>
              <a:t>used in the Internet today</a:t>
            </a:r>
            <a:r>
              <a:rPr lang="en-US" sz="2800" dirty="0">
                <a:latin typeface="Times New Roman" pitchFamily="18" charset="0"/>
                <a:cs typeface="Times New Roman" pitchFamily="18" charset="0"/>
              </a:rPr>
              <a:t>.</a:t>
            </a:r>
          </a:p>
          <a:p>
            <a:pPr marL="457200" indent="-457200" algn="just" eaLnBrk="1" hangingPunct="1">
              <a:buFont typeface="Wingdings" panose="05000000000000000000" pitchFamily="2" charset="2"/>
              <a:buChar char="Ø"/>
              <a:defRPr/>
            </a:pPr>
            <a:endParaRPr lang="en-US" sz="2800" dirty="0">
              <a:latin typeface="Times New Roman" pitchFamily="18" charset="0"/>
              <a:cs typeface="Times New Roman" pitchFamily="18" charset="0"/>
            </a:endParaRPr>
          </a:p>
          <a:p>
            <a:pPr marL="457200" indent="-457200" algn="just" eaLnBrk="1" hangingPunct="1">
              <a:buFont typeface="Wingdings" panose="05000000000000000000" pitchFamily="2" charset="2"/>
              <a:buChar char="Ø"/>
              <a:defRPr/>
            </a:pPr>
            <a:r>
              <a:rPr lang="en-US" sz="2800" b="1" dirty="0">
                <a:latin typeface="Times New Roman" pitchFamily="18" charset="0"/>
                <a:cs typeface="Times New Roman" pitchFamily="18" charset="0"/>
              </a:rPr>
              <a:t>It is Hierarchical protocol: </a:t>
            </a:r>
            <a:r>
              <a:rPr lang="en-US" sz="2800" dirty="0">
                <a:latin typeface="Times New Roman" pitchFamily="18" charset="0"/>
                <a:cs typeface="Times New Roman" pitchFamily="18" charset="0"/>
              </a:rPr>
              <a:t>made up of interactive modules (each module provides specific functionality)</a:t>
            </a:r>
            <a:endParaRPr lang="en-US" sz="2800" b="1" dirty="0">
              <a:latin typeface="Times New Roman" pitchFamily="18" charset="0"/>
              <a:cs typeface="Times New Roman" pitchFamily="18" charset="0"/>
            </a:endParaRPr>
          </a:p>
          <a:p>
            <a:pPr marL="914400" lvl="1" indent="-457200" algn="just">
              <a:buFont typeface="Wingdings" panose="05000000000000000000" pitchFamily="2" charset="2"/>
              <a:buChar char="Ø"/>
              <a:defRPr/>
            </a:pPr>
            <a:r>
              <a:rPr lang="en-US" sz="2400" b="1" dirty="0">
                <a:latin typeface="Times New Roman" pitchFamily="18" charset="0"/>
                <a:cs typeface="Times New Roman" pitchFamily="18" charset="0"/>
              </a:rPr>
              <a:t>Hierarchical</a:t>
            </a:r>
            <a:r>
              <a:rPr lang="en-US" sz="2400" dirty="0">
                <a:latin typeface="Times New Roman" pitchFamily="18" charset="0"/>
                <a:cs typeface="Times New Roman" pitchFamily="18" charset="0"/>
              </a:rPr>
              <a:t> means that each upper level protocol is supported by the services provided by one or more lower level protocols.</a:t>
            </a:r>
          </a:p>
          <a:p>
            <a:pPr lvl="1" algn="just">
              <a:defRPr/>
            </a:pPr>
            <a:r>
              <a:rPr lang="en-US" sz="2400" dirty="0">
                <a:latin typeface="Times New Roman" panose="02020603050405020304" pitchFamily="18" charset="0"/>
                <a:cs typeface="Times New Roman" panose="02020603050405020304" pitchFamily="18" charset="0"/>
              </a:rPr>
              <a:t> </a:t>
            </a:r>
          </a:p>
          <a:p>
            <a:pPr marL="457200" indent="-457200" algn="just">
              <a:buFont typeface="Wingdings" panose="05000000000000000000" pitchFamily="2" charset="2"/>
              <a:buChar char="Ø"/>
              <a:defRPr/>
            </a:pPr>
            <a:r>
              <a:rPr lang="en-US" sz="2800" dirty="0">
                <a:latin typeface="Times New Roman" pitchFamily="18" charset="0"/>
                <a:cs typeface="Times New Roman" pitchFamily="18" charset="0"/>
              </a:rPr>
              <a:t>The layers in the </a:t>
            </a:r>
            <a:r>
              <a:rPr lang="en-US" sz="2800" dirty="0">
                <a:solidFill>
                  <a:schemeClr val="hlink"/>
                </a:solidFill>
                <a:latin typeface="Times New Roman" pitchFamily="18" charset="0"/>
                <a:cs typeface="Times New Roman" pitchFamily="18" charset="0"/>
              </a:rPr>
              <a:t>TCP/IP protocol suite</a:t>
            </a:r>
            <a:r>
              <a:rPr lang="en-US" sz="2800" dirty="0">
                <a:latin typeface="Times New Roman" pitchFamily="18" charset="0"/>
                <a:cs typeface="Times New Roman" pitchFamily="18" charset="0"/>
              </a:rPr>
              <a:t> do not exactly match those in the OSI model.</a:t>
            </a:r>
          </a:p>
          <a:p>
            <a:pPr algn="just" eaLnBrk="1" hangingPunct="1">
              <a:defRPr/>
            </a:pPr>
            <a:endParaRPr lang="en-US" sz="2800" i="1" dirty="0">
              <a:effectLst>
                <a:outerShdw blurRad="38100" dist="38100" dir="2700000" algn="tl">
                  <a:srgbClr val="C0C0C0"/>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2373963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9939" name="Text Box 3"/>
          <p:cNvSpPr txBox="1">
            <a:spLocks noChangeArrowheads="1"/>
          </p:cNvSpPr>
          <p:nvPr/>
        </p:nvSpPr>
        <p:spPr bwMode="auto">
          <a:xfrm>
            <a:off x="228600" y="76200"/>
            <a:ext cx="6442854" cy="646331"/>
          </a:xfrm>
          <a:prstGeom prst="rect">
            <a:avLst/>
          </a:prstGeom>
          <a:noFill/>
          <a:ln w="9525">
            <a:noFill/>
            <a:miter lim="800000"/>
            <a:headEnd/>
            <a:tailEnd/>
          </a:ln>
          <a:effectLst/>
        </p:spPr>
        <p:txBody>
          <a:bodyPr wrap="none">
            <a:spAutoFit/>
          </a:bodyPr>
          <a:lstStyle/>
          <a:p>
            <a:pPr>
              <a:defRPr/>
            </a:pPr>
            <a:r>
              <a:rPr lang="en-US" sz="3200" dirty="0">
                <a:effectLst>
                  <a:outerShdw blurRad="38100" dist="38100" dir="2700000" algn="tl">
                    <a:srgbClr val="C0C0C0"/>
                  </a:outerShdw>
                </a:effectLst>
                <a:latin typeface="Times" pitchFamily="18" charset="0"/>
              </a:rPr>
              <a:t>  2-</a:t>
            </a:r>
            <a:r>
              <a:rPr lang="en-US" sz="3600" b="1" dirty="0">
                <a:latin typeface="Times New Roman" pitchFamily="18" charset="0"/>
                <a:cs typeface="Times New Roman" pitchFamily="18" charset="0"/>
              </a:rPr>
              <a:t>TCP/IP PROTOCOL SUITE</a:t>
            </a:r>
          </a:p>
        </p:txBody>
      </p:sp>
      <p:sp>
        <p:nvSpPr>
          <p:cNvPr id="11161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679941" name="Rectangle 5"/>
          <p:cNvSpPr>
            <a:spLocks noChangeArrowheads="1"/>
          </p:cNvSpPr>
          <p:nvPr/>
        </p:nvSpPr>
        <p:spPr bwMode="auto">
          <a:xfrm>
            <a:off x="256308" y="1066800"/>
            <a:ext cx="8659091" cy="3108543"/>
          </a:xfrm>
          <a:prstGeom prst="rect">
            <a:avLst/>
          </a:prstGeom>
          <a:noFill/>
          <a:ln w="9525">
            <a:noFill/>
            <a:miter lim="800000"/>
            <a:headEnd/>
            <a:tailEnd/>
          </a:ln>
          <a:effectLst/>
        </p:spPr>
        <p:txBody>
          <a:bodyPr wrap="square" anchor="ctr">
            <a:spAutoFit/>
          </a:bodyPr>
          <a:lstStyle/>
          <a:p>
            <a:pPr marL="457200" indent="-457200" algn="just" eaLnBrk="1" hangingPunct="1">
              <a:buFont typeface="Wingdings" panose="05000000000000000000" pitchFamily="2" charset="2"/>
              <a:buChar char="Ø"/>
              <a:defRPr/>
            </a:pPr>
            <a:r>
              <a:rPr lang="en-US" sz="2800" i="1" dirty="0">
                <a:latin typeface="Times New Roman" pitchFamily="18" charset="0"/>
                <a:cs typeface="Times New Roman" pitchFamily="18" charset="0"/>
              </a:rPr>
              <a:t>The original TCP/IP protocol suite was defined as having four layers: </a:t>
            </a:r>
            <a:r>
              <a:rPr lang="en-US" sz="2800" i="1" dirty="0">
                <a:solidFill>
                  <a:schemeClr val="folHlink"/>
                </a:solidFill>
                <a:latin typeface="Times New Roman" pitchFamily="18" charset="0"/>
                <a:cs typeface="Times New Roman" pitchFamily="18" charset="0"/>
              </a:rPr>
              <a:t>host-to-network</a:t>
            </a:r>
            <a:r>
              <a:rPr lang="en-US" sz="2800" i="1" dirty="0">
                <a:latin typeface="Times New Roman" pitchFamily="18" charset="0"/>
                <a:cs typeface="Times New Roman" pitchFamily="18" charset="0"/>
              </a:rPr>
              <a:t>, </a:t>
            </a:r>
            <a:r>
              <a:rPr lang="en-US" sz="2800" i="1" dirty="0">
                <a:solidFill>
                  <a:schemeClr val="folHlink"/>
                </a:solidFill>
                <a:latin typeface="Times New Roman" pitchFamily="18" charset="0"/>
                <a:cs typeface="Times New Roman" pitchFamily="18" charset="0"/>
              </a:rPr>
              <a:t>internet</a:t>
            </a:r>
            <a:r>
              <a:rPr lang="en-US" sz="2800" i="1" dirty="0">
                <a:latin typeface="Times New Roman" pitchFamily="18" charset="0"/>
                <a:cs typeface="Times New Roman" pitchFamily="18" charset="0"/>
              </a:rPr>
              <a:t>, </a:t>
            </a:r>
            <a:r>
              <a:rPr lang="en-US" sz="2800" i="1" dirty="0">
                <a:solidFill>
                  <a:schemeClr val="folHlink"/>
                </a:solidFill>
                <a:latin typeface="Times New Roman" pitchFamily="18" charset="0"/>
                <a:cs typeface="Times New Roman" pitchFamily="18" charset="0"/>
              </a:rPr>
              <a:t>transport</a:t>
            </a:r>
            <a:r>
              <a:rPr lang="en-US" sz="2800" i="1" dirty="0">
                <a:latin typeface="Times New Roman" pitchFamily="18" charset="0"/>
                <a:cs typeface="Times New Roman" pitchFamily="18" charset="0"/>
              </a:rPr>
              <a:t>, and </a:t>
            </a:r>
            <a:r>
              <a:rPr lang="en-US" sz="2800" i="1" dirty="0">
                <a:solidFill>
                  <a:schemeClr val="folHlink"/>
                </a:solidFill>
                <a:latin typeface="Times New Roman" pitchFamily="18" charset="0"/>
                <a:cs typeface="Times New Roman" pitchFamily="18" charset="0"/>
              </a:rPr>
              <a:t>application</a:t>
            </a:r>
            <a:r>
              <a:rPr lang="en-US" sz="2800" i="1" dirty="0">
                <a:latin typeface="Times New Roman" pitchFamily="18" charset="0"/>
                <a:cs typeface="Times New Roman" pitchFamily="18" charset="0"/>
              </a:rPr>
              <a:t>. </a:t>
            </a:r>
          </a:p>
          <a:p>
            <a:pPr marL="457200" indent="-457200" algn="just" eaLnBrk="1" hangingPunct="1">
              <a:buFont typeface="Wingdings" panose="05000000000000000000" pitchFamily="2" charset="2"/>
              <a:buChar char="Ø"/>
              <a:defRPr/>
            </a:pPr>
            <a:r>
              <a:rPr lang="en-US" sz="2800" i="1" dirty="0">
                <a:latin typeface="Times New Roman" pitchFamily="18" charset="0"/>
                <a:cs typeface="Times New Roman" pitchFamily="18" charset="0"/>
              </a:rPr>
              <a:t>However, when TCP/IP is compared to OSI, we can say that the TCP/IP protocol suite is made of five layers: </a:t>
            </a:r>
            <a:r>
              <a:rPr lang="en-US" sz="2800" i="1" dirty="0">
                <a:solidFill>
                  <a:schemeClr val="folHlink"/>
                </a:solidFill>
                <a:latin typeface="Times New Roman" pitchFamily="18" charset="0"/>
                <a:cs typeface="Times New Roman" pitchFamily="18" charset="0"/>
              </a:rPr>
              <a:t>physical</a:t>
            </a:r>
            <a:r>
              <a:rPr lang="en-US" sz="2800" i="1" dirty="0">
                <a:latin typeface="Times New Roman" pitchFamily="18" charset="0"/>
                <a:cs typeface="Times New Roman" pitchFamily="18" charset="0"/>
              </a:rPr>
              <a:t>, </a:t>
            </a:r>
            <a:r>
              <a:rPr lang="en-US" sz="2800" i="1" dirty="0">
                <a:solidFill>
                  <a:schemeClr val="folHlink"/>
                </a:solidFill>
                <a:latin typeface="Times New Roman" pitchFamily="18" charset="0"/>
                <a:cs typeface="Times New Roman" pitchFamily="18" charset="0"/>
              </a:rPr>
              <a:t>data link</a:t>
            </a:r>
            <a:r>
              <a:rPr lang="en-US" sz="2800" i="1" dirty="0">
                <a:latin typeface="Times New Roman" pitchFamily="18" charset="0"/>
                <a:cs typeface="Times New Roman" pitchFamily="18" charset="0"/>
              </a:rPr>
              <a:t>, </a:t>
            </a:r>
            <a:r>
              <a:rPr lang="en-US" sz="2800" i="1" dirty="0">
                <a:solidFill>
                  <a:schemeClr val="folHlink"/>
                </a:solidFill>
                <a:latin typeface="Times New Roman" pitchFamily="18" charset="0"/>
                <a:cs typeface="Times New Roman" pitchFamily="18" charset="0"/>
              </a:rPr>
              <a:t>network</a:t>
            </a:r>
            <a:r>
              <a:rPr lang="en-US" sz="2800" i="1" dirty="0">
                <a:latin typeface="Times New Roman" pitchFamily="18" charset="0"/>
                <a:cs typeface="Times New Roman" pitchFamily="18" charset="0"/>
              </a:rPr>
              <a:t>, </a:t>
            </a:r>
            <a:r>
              <a:rPr lang="en-US" sz="2800" i="1" dirty="0">
                <a:solidFill>
                  <a:schemeClr val="folHlink"/>
                </a:solidFill>
                <a:latin typeface="Times New Roman" pitchFamily="18" charset="0"/>
                <a:cs typeface="Times New Roman" pitchFamily="18" charset="0"/>
              </a:rPr>
              <a:t>transport</a:t>
            </a:r>
            <a:r>
              <a:rPr lang="en-US" sz="2800" i="1" dirty="0">
                <a:latin typeface="Times New Roman" pitchFamily="18" charset="0"/>
                <a:cs typeface="Times New Roman" pitchFamily="18" charset="0"/>
              </a:rPr>
              <a:t>, and </a:t>
            </a:r>
            <a:r>
              <a:rPr lang="en-US" sz="2800" i="1" dirty="0">
                <a:solidFill>
                  <a:schemeClr val="folHlink"/>
                </a:solidFill>
                <a:latin typeface="Times New Roman" pitchFamily="18" charset="0"/>
                <a:cs typeface="Times New Roman" pitchFamily="18" charset="0"/>
              </a:rPr>
              <a:t>application</a:t>
            </a:r>
            <a:r>
              <a:rPr lang="en-US" sz="2800" i="1" dirty="0">
                <a:latin typeface="Times New Roman" pitchFamily="18" charset="0"/>
                <a:cs typeface="Times New Roman" pitchFamily="18" charset="0"/>
              </a:rPr>
              <a:t>.</a:t>
            </a:r>
          </a:p>
          <a:p>
            <a:pPr algn="just" eaLnBrk="1" hangingPunct="1">
              <a:defRPr/>
            </a:pPr>
            <a:endParaRPr lang="en-US" sz="2800" i="1" dirty="0">
              <a:effectLst>
                <a:outerShdw blurRad="38100" dist="38100" dir="2700000" algn="tl">
                  <a:srgbClr val="C0C0C0"/>
                </a:outerShdw>
              </a:effectLst>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886200"/>
            <a:ext cx="6705600" cy="2881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40266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9939" name="Text Box 3"/>
          <p:cNvSpPr txBox="1">
            <a:spLocks noChangeArrowheads="1"/>
          </p:cNvSpPr>
          <p:nvPr/>
        </p:nvSpPr>
        <p:spPr bwMode="auto">
          <a:xfrm>
            <a:off x="228600" y="76200"/>
            <a:ext cx="8970148" cy="646331"/>
          </a:xfrm>
          <a:prstGeom prst="rect">
            <a:avLst/>
          </a:prstGeom>
          <a:noFill/>
          <a:ln w="9525">
            <a:noFill/>
            <a:miter lim="800000"/>
            <a:headEnd/>
            <a:tailEnd/>
          </a:ln>
          <a:effectLst/>
        </p:spPr>
        <p:txBody>
          <a:bodyPr wrap="none">
            <a:spAutoFit/>
          </a:bodyPr>
          <a:lstStyle/>
          <a:p>
            <a:pPr>
              <a:defRPr/>
            </a:pPr>
            <a:r>
              <a:rPr lang="en-US" sz="3200" dirty="0">
                <a:effectLst>
                  <a:outerShdw blurRad="38100" dist="38100" dir="2700000" algn="tl">
                    <a:srgbClr val="C0C0C0"/>
                  </a:outerShdw>
                </a:effectLst>
                <a:latin typeface="Times" pitchFamily="18" charset="0"/>
              </a:rPr>
              <a:t>  </a:t>
            </a:r>
            <a:r>
              <a:rPr lang="en-US" sz="3600" b="1" dirty="0">
                <a:latin typeface="Times New Roman" pitchFamily="18" charset="0"/>
                <a:cs typeface="Times New Roman" pitchFamily="18" charset="0"/>
              </a:rPr>
              <a:t>TCP/IP Layered Architecture (Book1:2.2.1)</a:t>
            </a:r>
          </a:p>
        </p:txBody>
      </p:sp>
      <p:sp>
        <p:nvSpPr>
          <p:cNvPr id="11161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679941" name="Rectangle 5"/>
          <p:cNvSpPr>
            <a:spLocks noChangeArrowheads="1"/>
          </p:cNvSpPr>
          <p:nvPr/>
        </p:nvSpPr>
        <p:spPr bwMode="auto">
          <a:xfrm>
            <a:off x="249382" y="838200"/>
            <a:ext cx="8659091" cy="1200329"/>
          </a:xfrm>
          <a:prstGeom prst="rect">
            <a:avLst/>
          </a:prstGeom>
          <a:noFill/>
          <a:ln w="9525">
            <a:noFill/>
            <a:miter lim="800000"/>
            <a:headEnd/>
            <a:tailEnd/>
          </a:ln>
          <a:effectLst/>
        </p:spPr>
        <p:txBody>
          <a:bodyPr wrap="square" anchor="ctr">
            <a:spAutoFit/>
          </a:bodyPr>
          <a:lstStyle/>
          <a:p>
            <a:pPr marL="457200" indent="-457200" algn="just" eaLnBrk="1" hangingPunct="1">
              <a:buFont typeface="Wingdings" panose="05000000000000000000" pitchFamily="2" charset="2"/>
              <a:buChar char="Ø"/>
              <a:defRPr/>
            </a:pPr>
            <a:r>
              <a:rPr lang="en-US" sz="2400" dirty="0">
                <a:latin typeface="Times New Roman" pitchFamily="18" charset="0"/>
                <a:cs typeface="Times New Roman" pitchFamily="18" charset="0"/>
              </a:rPr>
              <a:t>Consider a small internet of three LANs (each with a link layer switch).</a:t>
            </a:r>
          </a:p>
          <a:p>
            <a:pPr marL="457200" indent="-457200" algn="just" eaLnBrk="1" hangingPunct="1">
              <a:buFont typeface="Wingdings" panose="05000000000000000000" pitchFamily="2" charset="2"/>
              <a:buChar char="Ø"/>
              <a:defRPr/>
            </a:pPr>
            <a:r>
              <a:rPr lang="en-US" sz="2400" dirty="0">
                <a:latin typeface="Times New Roman" pitchFamily="18" charset="0"/>
                <a:cs typeface="Times New Roman" pitchFamily="18" charset="0"/>
              </a:rPr>
              <a:t>Further, assume that links are connected by one router</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350" y="2209800"/>
            <a:ext cx="7772400" cy="403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248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9939" name="Text Box 3"/>
          <p:cNvSpPr txBox="1">
            <a:spLocks noChangeArrowheads="1"/>
          </p:cNvSpPr>
          <p:nvPr/>
        </p:nvSpPr>
        <p:spPr bwMode="auto">
          <a:xfrm>
            <a:off x="228600" y="76200"/>
            <a:ext cx="6212983" cy="646331"/>
          </a:xfrm>
          <a:prstGeom prst="rect">
            <a:avLst/>
          </a:prstGeom>
          <a:noFill/>
          <a:ln w="9525">
            <a:noFill/>
            <a:miter lim="800000"/>
            <a:headEnd/>
            <a:tailEnd/>
          </a:ln>
          <a:effectLst/>
        </p:spPr>
        <p:txBody>
          <a:bodyPr wrap="none">
            <a:spAutoFit/>
          </a:bodyPr>
          <a:lstStyle/>
          <a:p>
            <a:pPr>
              <a:defRPr/>
            </a:pPr>
            <a:r>
              <a:rPr lang="en-US" sz="3200" dirty="0">
                <a:effectLst>
                  <a:outerShdw blurRad="38100" dist="38100" dir="2700000" algn="tl">
                    <a:srgbClr val="C0C0C0"/>
                  </a:outerShdw>
                </a:effectLst>
                <a:latin typeface="Times" pitchFamily="18" charset="0"/>
              </a:rPr>
              <a:t>  </a:t>
            </a:r>
            <a:r>
              <a:rPr lang="en-US" sz="3600" b="1" dirty="0">
                <a:latin typeface="Times New Roman" pitchFamily="18" charset="0"/>
                <a:cs typeface="Times New Roman" pitchFamily="18" charset="0"/>
              </a:rPr>
              <a:t>TCP/IP Layered Architecture</a:t>
            </a:r>
          </a:p>
        </p:txBody>
      </p:sp>
      <p:sp>
        <p:nvSpPr>
          <p:cNvPr id="11161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679941" name="Rectangle 5"/>
          <p:cNvSpPr>
            <a:spLocks noChangeArrowheads="1"/>
          </p:cNvSpPr>
          <p:nvPr/>
        </p:nvSpPr>
        <p:spPr bwMode="auto">
          <a:xfrm>
            <a:off x="221672" y="722531"/>
            <a:ext cx="8659091" cy="4893647"/>
          </a:xfrm>
          <a:prstGeom prst="rect">
            <a:avLst/>
          </a:prstGeom>
          <a:noFill/>
          <a:ln w="9525">
            <a:noFill/>
            <a:miter lim="800000"/>
            <a:headEnd/>
            <a:tailEnd/>
          </a:ln>
          <a:effectLst/>
        </p:spPr>
        <p:txBody>
          <a:bodyPr wrap="square" anchor="ctr">
            <a:spAutoFit/>
          </a:bodyPr>
          <a:lstStyle/>
          <a:p>
            <a:pPr marL="457200" indent="-457200" algn="just" eaLnBrk="1" hangingPunct="1">
              <a:buFont typeface="Wingdings" panose="05000000000000000000" pitchFamily="2" charset="2"/>
              <a:buChar char="Ø"/>
              <a:defRPr/>
            </a:pPr>
            <a:r>
              <a:rPr lang="en-US" sz="2400" dirty="0">
                <a:latin typeface="Times New Roman" pitchFamily="18" charset="0"/>
                <a:cs typeface="Times New Roman" pitchFamily="18" charset="0"/>
              </a:rPr>
              <a:t>The two hosts are involved in all five layers</a:t>
            </a:r>
          </a:p>
          <a:p>
            <a:pPr marL="457200" indent="-457200" algn="just" eaLnBrk="1" hangingPunct="1">
              <a:buFont typeface="Wingdings" panose="05000000000000000000" pitchFamily="2" charset="2"/>
              <a:buChar char="Ø"/>
              <a:defRPr/>
            </a:pPr>
            <a:r>
              <a:rPr lang="en-US" sz="2400" b="1" dirty="0">
                <a:latin typeface="Times New Roman" pitchFamily="18" charset="0"/>
                <a:cs typeface="Times New Roman" pitchFamily="18" charset="0"/>
              </a:rPr>
              <a:t>Source host </a:t>
            </a:r>
            <a:r>
              <a:rPr lang="en-US" sz="2400" dirty="0">
                <a:latin typeface="Times New Roman" pitchFamily="18" charset="0"/>
                <a:cs typeface="Times New Roman" pitchFamily="18" charset="0"/>
              </a:rPr>
              <a:t>creates a message in the application layer and sends it down the layer for physical delivery to the destination host</a:t>
            </a:r>
          </a:p>
          <a:p>
            <a:pPr marL="457200" indent="-457200" algn="just" eaLnBrk="1" hangingPunct="1">
              <a:buFont typeface="Wingdings" panose="05000000000000000000" pitchFamily="2" charset="2"/>
              <a:buChar char="Ø"/>
              <a:defRPr/>
            </a:pPr>
            <a:r>
              <a:rPr lang="en-US" sz="2400" b="1" dirty="0">
                <a:latin typeface="Times New Roman" pitchFamily="18" charset="0"/>
                <a:cs typeface="Times New Roman" pitchFamily="18" charset="0"/>
              </a:rPr>
              <a:t>Destination host</a:t>
            </a:r>
            <a:r>
              <a:rPr lang="en-US" sz="2400" dirty="0">
                <a:latin typeface="Times New Roman" pitchFamily="18" charset="0"/>
                <a:cs typeface="Times New Roman" pitchFamily="18" charset="0"/>
              </a:rPr>
              <a:t> receives the communication at physical and then deliver to the application layer through other layers</a:t>
            </a:r>
          </a:p>
          <a:p>
            <a:pPr marL="457200" indent="-457200" algn="just" eaLnBrk="1" hangingPunct="1">
              <a:buFont typeface="Wingdings" panose="05000000000000000000" pitchFamily="2" charset="2"/>
              <a:buChar char="Ø"/>
              <a:defRPr/>
            </a:pPr>
            <a:endParaRPr lang="en-US" sz="2400" dirty="0">
              <a:latin typeface="Times New Roman" pitchFamily="18" charset="0"/>
              <a:cs typeface="Times New Roman" pitchFamily="18" charset="0"/>
            </a:endParaRPr>
          </a:p>
          <a:p>
            <a:pPr marL="457200" indent="-457200" algn="just" eaLnBrk="1" hangingPunct="1">
              <a:buFont typeface="Wingdings" panose="05000000000000000000" pitchFamily="2" charset="2"/>
              <a:buChar char="Ø"/>
              <a:defRPr/>
            </a:pPr>
            <a:r>
              <a:rPr lang="en-US" sz="2400" b="1" dirty="0">
                <a:latin typeface="Times New Roman" pitchFamily="18" charset="0"/>
                <a:cs typeface="Times New Roman" pitchFamily="18" charset="0"/>
              </a:rPr>
              <a:t>Router</a:t>
            </a:r>
            <a:r>
              <a:rPr lang="en-US" sz="2400" dirty="0">
                <a:latin typeface="Times New Roman" pitchFamily="18" charset="0"/>
                <a:cs typeface="Times New Roman" pitchFamily="18" charset="0"/>
              </a:rPr>
              <a:t> is involved three layers</a:t>
            </a:r>
          </a:p>
          <a:p>
            <a:pPr marL="914400" lvl="1" indent="-457200" algn="just">
              <a:buFont typeface="Wingdings" panose="05000000000000000000" pitchFamily="2" charset="2"/>
              <a:buChar char="v"/>
              <a:defRPr/>
            </a:pPr>
            <a:r>
              <a:rPr lang="en-US" sz="2400" dirty="0">
                <a:latin typeface="Times New Roman" pitchFamily="18" charset="0"/>
                <a:cs typeface="Times New Roman" pitchFamily="18" charset="0"/>
              </a:rPr>
              <a:t>Involved in only </a:t>
            </a:r>
            <a:r>
              <a:rPr lang="en-US" sz="2400" b="1" dirty="0">
                <a:latin typeface="Times New Roman" pitchFamily="18" charset="0"/>
                <a:cs typeface="Times New Roman" pitchFamily="18" charset="0"/>
              </a:rPr>
              <a:t>one network layer</a:t>
            </a:r>
            <a:r>
              <a:rPr lang="en-US" sz="2400" dirty="0">
                <a:latin typeface="Times New Roman" pitchFamily="18" charset="0"/>
                <a:cs typeface="Times New Roman" pitchFamily="18" charset="0"/>
              </a:rPr>
              <a:t>; but involved in </a:t>
            </a:r>
            <a:r>
              <a:rPr lang="en-US" sz="2400" b="1" dirty="0">
                <a:latin typeface="Times New Roman" pitchFamily="18" charset="0"/>
                <a:cs typeface="Times New Roman" pitchFamily="18" charset="0"/>
              </a:rPr>
              <a:t>n</a:t>
            </a:r>
            <a:r>
              <a:rPr lang="en-US" sz="2400" dirty="0">
                <a:latin typeface="Times New Roman" pitchFamily="18" charset="0"/>
                <a:cs typeface="Times New Roman" pitchFamily="18" charset="0"/>
              </a:rPr>
              <a:t> (number of links) combinations of link and physical layers</a:t>
            </a:r>
          </a:p>
          <a:p>
            <a:pPr marL="914400" lvl="1" indent="-457200" algn="just">
              <a:buFont typeface="Wingdings" panose="05000000000000000000" pitchFamily="2" charset="2"/>
              <a:buChar char="v"/>
              <a:defRPr/>
            </a:pPr>
            <a:r>
              <a:rPr lang="en-US" sz="2400" dirty="0">
                <a:latin typeface="Times New Roman" pitchFamily="18" charset="0"/>
                <a:cs typeface="Times New Roman" pitchFamily="18" charset="0"/>
              </a:rPr>
              <a:t>Each link may use its own data link  and physical protocol</a:t>
            </a:r>
          </a:p>
          <a:p>
            <a:pPr marL="914400" lvl="1" indent="-457200" algn="just">
              <a:buFont typeface="Wingdings" panose="05000000000000000000" pitchFamily="2" charset="2"/>
              <a:buChar char="Ø"/>
              <a:defRPr/>
            </a:pPr>
            <a:endParaRPr lang="en-US" sz="2400" dirty="0">
              <a:latin typeface="Times New Roman" pitchFamily="18" charset="0"/>
              <a:cs typeface="Times New Roman" pitchFamily="18" charset="0"/>
            </a:endParaRPr>
          </a:p>
          <a:p>
            <a:pPr marL="457200" indent="-457200" algn="just" eaLnBrk="1" hangingPunct="1">
              <a:buFont typeface="Wingdings" panose="05000000000000000000" pitchFamily="2" charset="2"/>
              <a:buChar char="Ø"/>
              <a:defRPr/>
            </a:pPr>
            <a:r>
              <a:rPr lang="en-US" sz="2400" dirty="0">
                <a:latin typeface="Times New Roman" pitchFamily="18" charset="0"/>
                <a:cs typeface="Times New Roman" pitchFamily="18" charset="0"/>
              </a:rPr>
              <a:t> Link layer </a:t>
            </a:r>
            <a:r>
              <a:rPr lang="en-US" sz="2400" b="1" dirty="0">
                <a:latin typeface="Times New Roman" pitchFamily="18" charset="0"/>
                <a:cs typeface="Times New Roman" pitchFamily="18" charset="0"/>
              </a:rPr>
              <a:t>switch </a:t>
            </a:r>
            <a:r>
              <a:rPr lang="en-US" sz="2400" dirty="0">
                <a:latin typeface="Times New Roman" pitchFamily="18" charset="0"/>
                <a:cs typeface="Times New Roman" pitchFamily="18" charset="0"/>
              </a:rPr>
              <a:t>is</a:t>
            </a:r>
            <a:r>
              <a:rPr lang="en-US" sz="2400" b="1" dirty="0">
                <a:latin typeface="Times New Roman" pitchFamily="18" charset="0"/>
                <a:cs typeface="Times New Roman" pitchFamily="18" charset="0"/>
              </a:rPr>
              <a:t> involved </a:t>
            </a:r>
            <a:r>
              <a:rPr lang="en-US" sz="2400" dirty="0">
                <a:latin typeface="Times New Roman" pitchFamily="18" charset="0"/>
                <a:cs typeface="Times New Roman" pitchFamily="18" charset="0"/>
              </a:rPr>
              <a:t>in only two layers</a:t>
            </a:r>
          </a:p>
          <a:p>
            <a:pPr marL="914400" lvl="1" indent="-457200" algn="just">
              <a:buFont typeface="Wingdings" panose="05000000000000000000" pitchFamily="2" charset="2"/>
              <a:buChar char="v"/>
              <a:defRPr/>
            </a:pPr>
            <a:r>
              <a:rPr lang="en-US" sz="2400" dirty="0">
                <a:latin typeface="Times New Roman" pitchFamily="18" charset="0"/>
                <a:cs typeface="Times New Roman" pitchFamily="18" charset="0"/>
              </a:rPr>
              <a:t>It is involved only in one data-link and one physical layer</a:t>
            </a:r>
          </a:p>
        </p:txBody>
      </p:sp>
    </p:spTree>
    <p:extLst>
      <p:ext uri="{BB962C8B-B14F-4D97-AF65-F5344CB8AC3E}">
        <p14:creationId xmlns:p14="http://schemas.microsoft.com/office/powerpoint/2010/main" val="268976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9941">
                                            <p:txEl>
                                              <p:pRg st="0" end="0"/>
                                            </p:txEl>
                                          </p:spTgt>
                                        </p:tgtEl>
                                        <p:attrNameLst>
                                          <p:attrName>style.visibility</p:attrName>
                                        </p:attrNameLst>
                                      </p:cBhvr>
                                      <p:to>
                                        <p:strVal val="visible"/>
                                      </p:to>
                                    </p:set>
                                    <p:anim calcmode="lin" valueType="num">
                                      <p:cBhvr additive="base">
                                        <p:cTn id="7" dur="500" fill="hold"/>
                                        <p:tgtEl>
                                          <p:spTgt spid="67994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994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79941">
                                            <p:txEl>
                                              <p:pRg st="1" end="1"/>
                                            </p:txEl>
                                          </p:spTgt>
                                        </p:tgtEl>
                                        <p:attrNameLst>
                                          <p:attrName>style.visibility</p:attrName>
                                        </p:attrNameLst>
                                      </p:cBhvr>
                                      <p:to>
                                        <p:strVal val="visible"/>
                                      </p:to>
                                    </p:set>
                                    <p:anim calcmode="lin" valueType="num">
                                      <p:cBhvr additive="base">
                                        <p:cTn id="13" dur="500" fill="hold"/>
                                        <p:tgtEl>
                                          <p:spTgt spid="67994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7994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79941">
                                            <p:txEl>
                                              <p:pRg st="2" end="2"/>
                                            </p:txEl>
                                          </p:spTgt>
                                        </p:tgtEl>
                                        <p:attrNameLst>
                                          <p:attrName>style.visibility</p:attrName>
                                        </p:attrNameLst>
                                      </p:cBhvr>
                                      <p:to>
                                        <p:strVal val="visible"/>
                                      </p:to>
                                    </p:set>
                                    <p:anim calcmode="lin" valueType="num">
                                      <p:cBhvr additive="base">
                                        <p:cTn id="19" dur="500" fill="hold"/>
                                        <p:tgtEl>
                                          <p:spTgt spid="67994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7994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79941">
                                            <p:txEl>
                                              <p:pRg st="4" end="4"/>
                                            </p:txEl>
                                          </p:spTgt>
                                        </p:tgtEl>
                                        <p:attrNameLst>
                                          <p:attrName>style.visibility</p:attrName>
                                        </p:attrNameLst>
                                      </p:cBhvr>
                                      <p:to>
                                        <p:strVal val="visible"/>
                                      </p:to>
                                    </p:set>
                                    <p:anim calcmode="lin" valueType="num">
                                      <p:cBhvr additive="base">
                                        <p:cTn id="25" dur="500" fill="hold"/>
                                        <p:tgtEl>
                                          <p:spTgt spid="67994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7994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79941">
                                            <p:txEl>
                                              <p:pRg st="5" end="5"/>
                                            </p:txEl>
                                          </p:spTgt>
                                        </p:tgtEl>
                                        <p:attrNameLst>
                                          <p:attrName>style.visibility</p:attrName>
                                        </p:attrNameLst>
                                      </p:cBhvr>
                                      <p:to>
                                        <p:strVal val="visible"/>
                                      </p:to>
                                    </p:set>
                                    <p:anim calcmode="lin" valueType="num">
                                      <p:cBhvr additive="base">
                                        <p:cTn id="29" dur="500" fill="hold"/>
                                        <p:tgtEl>
                                          <p:spTgt spid="67994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7994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79941">
                                            <p:txEl>
                                              <p:pRg st="6" end="6"/>
                                            </p:txEl>
                                          </p:spTgt>
                                        </p:tgtEl>
                                        <p:attrNameLst>
                                          <p:attrName>style.visibility</p:attrName>
                                        </p:attrNameLst>
                                      </p:cBhvr>
                                      <p:to>
                                        <p:strVal val="visible"/>
                                      </p:to>
                                    </p:set>
                                    <p:anim calcmode="lin" valueType="num">
                                      <p:cBhvr additive="base">
                                        <p:cTn id="33" dur="500" fill="hold"/>
                                        <p:tgtEl>
                                          <p:spTgt spid="67994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7994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679941">
                                            <p:txEl>
                                              <p:pRg st="8" end="8"/>
                                            </p:txEl>
                                          </p:spTgt>
                                        </p:tgtEl>
                                        <p:attrNameLst>
                                          <p:attrName>style.visibility</p:attrName>
                                        </p:attrNameLst>
                                      </p:cBhvr>
                                      <p:to>
                                        <p:strVal val="visible"/>
                                      </p:to>
                                    </p:set>
                                    <p:anim calcmode="lin" valueType="num">
                                      <p:cBhvr additive="base">
                                        <p:cTn id="39" dur="500" fill="hold"/>
                                        <p:tgtEl>
                                          <p:spTgt spid="679941">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79941">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679941">
                                            <p:txEl>
                                              <p:pRg st="9" end="9"/>
                                            </p:txEl>
                                          </p:spTgt>
                                        </p:tgtEl>
                                        <p:attrNameLst>
                                          <p:attrName>style.visibility</p:attrName>
                                        </p:attrNameLst>
                                      </p:cBhvr>
                                      <p:to>
                                        <p:strVal val="visible"/>
                                      </p:to>
                                    </p:set>
                                    <p:anim calcmode="lin" valueType="num">
                                      <p:cBhvr additive="base">
                                        <p:cTn id="43" dur="500" fill="hold"/>
                                        <p:tgtEl>
                                          <p:spTgt spid="679941">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79941">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678915" name="Text Box 3"/>
          <p:cNvSpPr txBox="1">
            <a:spLocks noChangeArrowheads="1"/>
          </p:cNvSpPr>
          <p:nvPr/>
        </p:nvSpPr>
        <p:spPr bwMode="auto">
          <a:xfrm>
            <a:off x="228600" y="76200"/>
            <a:ext cx="8412816" cy="523220"/>
          </a:xfrm>
          <a:prstGeom prst="rect">
            <a:avLst/>
          </a:prstGeom>
          <a:noFill/>
          <a:ln w="9525">
            <a:noFill/>
            <a:miter lim="800000"/>
            <a:headEnd/>
            <a:tailEnd/>
          </a:ln>
          <a:effectLst/>
        </p:spPr>
        <p:txBody>
          <a:bodyPr wrap="none">
            <a:spAutoFit/>
          </a:bodyPr>
          <a:lstStyle/>
          <a:p>
            <a:pPr>
              <a:defRPr/>
            </a:pPr>
            <a:r>
              <a:rPr lang="en-US" sz="2800" b="1" dirty="0">
                <a:latin typeface="Times" pitchFamily="18" charset="0"/>
              </a:rPr>
              <a:t>LAYERS IN THE TCP/IP Protocol Suit (Book1:2.2.2)</a:t>
            </a:r>
          </a:p>
        </p:txBody>
      </p:sp>
      <p:sp>
        <p:nvSpPr>
          <p:cNvPr id="10" name="Rectangle 11"/>
          <p:cNvSpPr>
            <a:spLocks noChangeArrowheads="1"/>
          </p:cNvSpPr>
          <p:nvPr/>
        </p:nvSpPr>
        <p:spPr bwMode="auto">
          <a:xfrm>
            <a:off x="336550" y="838200"/>
            <a:ext cx="8077200" cy="2308324"/>
          </a:xfrm>
          <a:prstGeom prst="rect">
            <a:avLst/>
          </a:prstGeom>
          <a:noFill/>
          <a:ln w="76200" algn="ctr">
            <a:noFill/>
            <a:miter lim="800000"/>
            <a:headEnd/>
            <a:tailEnd/>
          </a:ln>
        </p:spPr>
        <p:txBody>
          <a:bodyPr>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Logical connections </a:t>
            </a:r>
            <a:r>
              <a:rPr lang="en-US" sz="2400" dirty="0">
                <a:latin typeface="Times New Roman" panose="02020603050405020304" pitchFamily="18" charset="0"/>
                <a:cs typeface="Times New Roman" panose="02020603050405020304" pitchFamily="18" charset="0"/>
              </a:rPr>
              <a:t>make easier to think about the duty of each layer. </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duty of the application, transport, and network layers is </a:t>
            </a:r>
            <a:r>
              <a:rPr lang="en-US" sz="2400" b="1" dirty="0">
                <a:latin typeface="Times New Roman" panose="02020603050405020304" pitchFamily="18" charset="0"/>
                <a:cs typeface="Times New Roman" panose="02020603050405020304" pitchFamily="18" charset="0"/>
              </a:rPr>
              <a:t>end-to-end (so domain is internet)</a:t>
            </a:r>
            <a:r>
              <a:rPr lang="en-US" sz="24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However, the duty of the data-link and physical layers is </a:t>
            </a:r>
            <a:r>
              <a:rPr lang="en-US" sz="2400" b="1" dirty="0">
                <a:latin typeface="Times New Roman" panose="02020603050405020304" pitchFamily="18" charset="0"/>
                <a:cs typeface="Times New Roman" panose="02020603050405020304" pitchFamily="18" charset="0"/>
              </a:rPr>
              <a:t>hop-to-hop</a:t>
            </a:r>
            <a:r>
              <a:rPr lang="en-US" sz="2400" dirty="0">
                <a:latin typeface="Times New Roman" panose="02020603050405020304" pitchFamily="18" charset="0"/>
                <a:cs typeface="Times New Roman" panose="02020603050405020304" pitchFamily="18" charset="0"/>
              </a:rPr>
              <a:t>, a hop being a host or router (</a:t>
            </a:r>
            <a:r>
              <a:rPr lang="en-US" sz="2400" b="1" dirty="0">
                <a:latin typeface="Times New Roman" panose="02020603050405020304" pitchFamily="18" charset="0"/>
                <a:cs typeface="Times New Roman" panose="02020603050405020304" pitchFamily="18" charset="0"/>
              </a:rPr>
              <a:t>domain is link)</a:t>
            </a:r>
            <a:r>
              <a:rPr lang="en-US" sz="2400" dirty="0">
                <a:latin typeface="Times New Roman" panose="02020603050405020304" pitchFamily="18" charset="0"/>
                <a:cs typeface="Times New Roman" panose="02020603050405020304" pitchFamily="18" charset="0"/>
              </a:rPr>
              <a:t>. </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139597"/>
            <a:ext cx="7543800" cy="32542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41567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5" name="Text Box 3"/>
          <p:cNvSpPr txBox="1">
            <a:spLocks noChangeArrowheads="1"/>
          </p:cNvSpPr>
          <p:nvPr/>
        </p:nvSpPr>
        <p:spPr bwMode="auto">
          <a:xfrm>
            <a:off x="228600" y="76200"/>
            <a:ext cx="7135992" cy="584775"/>
          </a:xfrm>
          <a:prstGeom prst="rect">
            <a:avLst/>
          </a:prstGeom>
          <a:noFill/>
          <a:ln w="9525">
            <a:noFill/>
            <a:miter lim="800000"/>
            <a:headEnd/>
            <a:tailEnd/>
          </a:ln>
          <a:effectLst/>
        </p:spPr>
        <p:txBody>
          <a:bodyPr wrap="none">
            <a:spAutoFit/>
          </a:bodyPr>
          <a:lstStyle/>
          <a:p>
            <a:pPr>
              <a:defRPr/>
            </a:pPr>
            <a:r>
              <a:rPr lang="en-US" sz="3200" b="1" dirty="0">
                <a:latin typeface="Times" pitchFamily="18" charset="0"/>
              </a:rPr>
              <a:t>LAYERS IN THE TCP/IP Protocol Suit</a:t>
            </a:r>
          </a:p>
        </p:txBody>
      </p:sp>
      <p:sp>
        <p:nvSpPr>
          <p:cNvPr id="1126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10" name="Rectangle 11"/>
          <p:cNvSpPr>
            <a:spLocks noChangeArrowheads="1"/>
          </p:cNvSpPr>
          <p:nvPr/>
        </p:nvSpPr>
        <p:spPr bwMode="auto">
          <a:xfrm>
            <a:off x="228600" y="685800"/>
            <a:ext cx="8610600" cy="3046988"/>
          </a:xfrm>
          <a:prstGeom prst="rect">
            <a:avLst/>
          </a:prstGeom>
          <a:noFill/>
          <a:ln w="76200" algn="ctr">
            <a:noFill/>
            <a:miter lim="800000"/>
            <a:headEnd/>
            <a:tailEnd/>
          </a:ln>
        </p:spPr>
        <p:txBody>
          <a:bodyPr wrap="square">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Logical connections may be though of as data unit created at each layer</a:t>
            </a:r>
            <a:r>
              <a:rPr lang="en-US" sz="2400" dirty="0">
                <a:latin typeface="Times New Roman" panose="02020603050405020304" pitchFamily="18" charset="0"/>
                <a:cs typeface="Times New Roman" panose="02020603050405020304" pitchFamily="18" charset="0"/>
              </a:rPr>
              <a:t>, a hop being a host or router. </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a:t>
            </a:r>
            <a:r>
              <a:rPr lang="en-US" sz="2400" b="1" dirty="0">
                <a:latin typeface="Times New Roman" panose="02020603050405020304" pitchFamily="18" charset="0"/>
                <a:cs typeface="Times New Roman" panose="02020603050405020304" pitchFamily="18" charset="0"/>
              </a:rPr>
              <a:t>top three layers</a:t>
            </a:r>
          </a:p>
          <a:p>
            <a:pPr marL="800100" lvl="1"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Data unit (packets) should not be changed by any router or link-layer switch. </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In the bottom two layers</a:t>
            </a:r>
            <a:r>
              <a:rPr lang="en-US" sz="2400" dirty="0">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packet created by the host is changed only by the routers, not by the link-layer switches.</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916507"/>
            <a:ext cx="7162800" cy="26676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5607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5" name="Text Box 3"/>
          <p:cNvSpPr txBox="1">
            <a:spLocks noChangeArrowheads="1"/>
          </p:cNvSpPr>
          <p:nvPr/>
        </p:nvSpPr>
        <p:spPr bwMode="auto">
          <a:xfrm>
            <a:off x="2125041" y="2539425"/>
            <a:ext cx="6298904" cy="1077218"/>
          </a:xfrm>
          <a:prstGeom prst="rect">
            <a:avLst/>
          </a:prstGeom>
          <a:noFill/>
          <a:ln w="9525">
            <a:noFill/>
            <a:miter lim="800000"/>
            <a:headEnd/>
            <a:tailEnd/>
          </a:ln>
          <a:effectLst/>
        </p:spPr>
        <p:txBody>
          <a:bodyPr wrap="none">
            <a:spAutoFit/>
          </a:bodyPr>
          <a:lstStyle/>
          <a:p>
            <a:pPr>
              <a:defRPr/>
            </a:pPr>
            <a:r>
              <a:rPr lang="en-US" sz="3200" b="1" dirty="0">
                <a:latin typeface="Times" pitchFamily="18" charset="0"/>
              </a:rPr>
              <a:t>Description of  TCP/IP Suit Layers</a:t>
            </a:r>
          </a:p>
          <a:p>
            <a:pPr>
              <a:defRPr/>
            </a:pPr>
            <a:r>
              <a:rPr lang="en-US" sz="3200" b="1" dirty="0">
                <a:latin typeface="Times" pitchFamily="18" charset="0"/>
              </a:rPr>
              <a:t>Book1: 2.2.3</a:t>
            </a:r>
          </a:p>
        </p:txBody>
      </p:sp>
      <p:sp>
        <p:nvSpPr>
          <p:cNvPr id="1126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Tree>
    <p:extLst>
      <p:ext uri="{BB962C8B-B14F-4D97-AF65-F5344CB8AC3E}">
        <p14:creationId xmlns:p14="http://schemas.microsoft.com/office/powerpoint/2010/main" val="4140940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5" name="Text Box 3"/>
          <p:cNvSpPr txBox="1">
            <a:spLocks noChangeArrowheads="1"/>
          </p:cNvSpPr>
          <p:nvPr/>
        </p:nvSpPr>
        <p:spPr bwMode="auto">
          <a:xfrm>
            <a:off x="228600" y="76200"/>
            <a:ext cx="7088928" cy="584775"/>
          </a:xfrm>
          <a:prstGeom prst="rect">
            <a:avLst/>
          </a:prstGeom>
          <a:noFill/>
          <a:ln w="9525">
            <a:noFill/>
            <a:miter lim="800000"/>
            <a:headEnd/>
            <a:tailEnd/>
          </a:ln>
          <a:effectLst/>
        </p:spPr>
        <p:txBody>
          <a:bodyPr wrap="none">
            <a:spAutoFit/>
          </a:bodyPr>
          <a:lstStyle/>
          <a:p>
            <a:pPr>
              <a:defRPr/>
            </a:pPr>
            <a:r>
              <a:rPr lang="en-US" sz="3200" b="1" dirty="0">
                <a:latin typeface="Times" pitchFamily="18" charset="0"/>
              </a:rPr>
              <a:t>1-PHYSICAL LAYER IN THE TCP/IP</a:t>
            </a:r>
          </a:p>
        </p:txBody>
      </p:sp>
      <p:sp>
        <p:nvSpPr>
          <p:cNvPr id="1126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10" name="Rectangle 11"/>
          <p:cNvSpPr>
            <a:spLocks noChangeArrowheads="1"/>
          </p:cNvSpPr>
          <p:nvPr/>
        </p:nvSpPr>
        <p:spPr bwMode="auto">
          <a:xfrm>
            <a:off x="228600" y="838200"/>
            <a:ext cx="8610600" cy="4154984"/>
          </a:xfrm>
          <a:prstGeom prst="rect">
            <a:avLst/>
          </a:prstGeom>
          <a:noFill/>
          <a:ln w="76200" algn="ctr">
            <a:noFill/>
            <a:miter lim="800000"/>
            <a:headEnd/>
            <a:tailEnd/>
          </a:ln>
        </p:spPr>
        <p:txBody>
          <a:bodyPr wrap="square">
            <a:spAutoFit/>
          </a:bodyPr>
          <a:lstStyle/>
          <a:p>
            <a:pPr marL="285750" indent="-285750">
              <a:buFont typeface="Wingdings" panose="05000000000000000000" pitchFamily="2" charset="2"/>
              <a:buChar char="Ø"/>
            </a:pPr>
            <a:r>
              <a:rPr lang="en-US" sz="2400" b="1" i="1" dirty="0">
                <a:latin typeface="Times New Roman" panose="02020603050405020304" pitchFamily="18" charset="0"/>
                <a:cs typeface="Times New Roman" panose="02020603050405020304" pitchFamily="18" charset="0"/>
              </a:rPr>
              <a:t>responsible for carrying individual bits in a frame across the link.</a:t>
            </a:r>
          </a:p>
          <a:p>
            <a:r>
              <a:rPr lang="en-US" sz="24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Transmission medium does not carry bits; it carries electrical or optical signals. </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So the bits received in a frame from the data-link layer are transformed and sent through the transmission media, </a:t>
            </a:r>
          </a:p>
          <a:p>
            <a:pPr marL="742950" lvl="1"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but we can think that the </a:t>
            </a:r>
            <a:r>
              <a:rPr lang="en-US" sz="2400" b="1" dirty="0">
                <a:latin typeface="Times New Roman" panose="02020603050405020304" pitchFamily="18" charset="0"/>
                <a:cs typeface="Times New Roman" panose="02020603050405020304" pitchFamily="18" charset="0"/>
              </a:rPr>
              <a:t>logical unit </a:t>
            </a:r>
            <a:r>
              <a:rPr lang="en-US" sz="2400" dirty="0">
                <a:latin typeface="Times New Roman" panose="02020603050405020304" pitchFamily="18" charset="0"/>
                <a:cs typeface="Times New Roman" panose="02020603050405020304" pitchFamily="18" charset="0"/>
              </a:rPr>
              <a:t>between two physical layers in two devices is a </a:t>
            </a:r>
            <a:r>
              <a:rPr lang="en-US" sz="2400" b="1" i="1" dirty="0">
                <a:latin typeface="Times New Roman" panose="02020603050405020304" pitchFamily="18" charset="0"/>
                <a:cs typeface="Times New Roman" panose="02020603050405020304" pitchFamily="18" charset="0"/>
              </a:rPr>
              <a:t>bit</a:t>
            </a:r>
            <a:r>
              <a:rPr lang="en-US" sz="2400" dirty="0">
                <a:latin typeface="Times New Roman" panose="02020603050405020304" pitchFamily="18" charset="0"/>
                <a:cs typeface="Times New Roman" panose="02020603050405020304" pitchFamily="18" charset="0"/>
              </a:rPr>
              <a:t>. </a:t>
            </a:r>
          </a:p>
          <a:p>
            <a:pPr marL="742950" lvl="1" indent="-28575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There are several protocols that transform a bit to a signal. </a:t>
            </a:r>
          </a:p>
        </p:txBody>
      </p:sp>
    </p:spTree>
    <p:extLst>
      <p:ext uri="{BB962C8B-B14F-4D97-AF65-F5344CB8AC3E}">
        <p14:creationId xmlns:p14="http://schemas.microsoft.com/office/powerpoint/2010/main" val="355325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 calcmode="lin" valueType="num">
                                      <p:cBhvr additive="base">
                                        <p:cTn id="7"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anim calcmode="lin" valueType="num">
                                      <p:cBhvr additive="base">
                                        <p:cTn id="13"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 calcmode="lin" valueType="num">
                                      <p:cBhvr additive="base">
                                        <p:cTn id="17"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
                                            <p:txEl>
                                              <p:pRg st="6" end="6"/>
                                            </p:txEl>
                                          </p:spTgt>
                                        </p:tgtEl>
                                        <p:attrNameLst>
                                          <p:attrName>style.visibility</p:attrName>
                                        </p:attrNameLst>
                                      </p:cBhvr>
                                      <p:to>
                                        <p:strVal val="visible"/>
                                      </p:to>
                                    </p:set>
                                    <p:anim calcmode="lin" valueType="num">
                                      <p:cBhvr additive="base">
                                        <p:cTn id="23"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5" name="Text Box 3"/>
          <p:cNvSpPr txBox="1">
            <a:spLocks noChangeArrowheads="1"/>
          </p:cNvSpPr>
          <p:nvPr/>
        </p:nvSpPr>
        <p:spPr bwMode="auto">
          <a:xfrm>
            <a:off x="228600" y="76200"/>
            <a:ext cx="7837530" cy="584775"/>
          </a:xfrm>
          <a:prstGeom prst="rect">
            <a:avLst/>
          </a:prstGeom>
          <a:noFill/>
          <a:ln w="9525">
            <a:noFill/>
            <a:miter lim="800000"/>
            <a:headEnd/>
            <a:tailEnd/>
          </a:ln>
          <a:effectLst/>
        </p:spPr>
        <p:txBody>
          <a:bodyPr wrap="none">
            <a:spAutoFit/>
          </a:bodyPr>
          <a:lstStyle/>
          <a:p>
            <a:pPr>
              <a:defRPr/>
            </a:pPr>
            <a:r>
              <a:rPr lang="en-US" sz="3200" b="1" dirty="0">
                <a:latin typeface="Times" pitchFamily="18" charset="0"/>
              </a:rPr>
              <a:t>2-DATA-LINK LAYER IN THE TCP/IP (1)</a:t>
            </a:r>
          </a:p>
        </p:txBody>
      </p:sp>
      <p:sp>
        <p:nvSpPr>
          <p:cNvPr id="1126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10" name="Rectangle 11"/>
          <p:cNvSpPr>
            <a:spLocks noChangeArrowheads="1"/>
          </p:cNvSpPr>
          <p:nvPr/>
        </p:nvSpPr>
        <p:spPr bwMode="auto">
          <a:xfrm>
            <a:off x="228600" y="838200"/>
            <a:ext cx="8610600" cy="4524315"/>
          </a:xfrm>
          <a:prstGeom prst="rect">
            <a:avLst/>
          </a:prstGeom>
          <a:noFill/>
          <a:ln w="76200" algn="ctr">
            <a:noFill/>
            <a:miter lim="800000"/>
            <a:headEnd/>
            <a:tailEnd/>
          </a:ln>
        </p:spPr>
        <p:txBody>
          <a:bodyPr wrap="square">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Several overlapping sets of links for datagram to travel from source to the destination. </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routers</a:t>
            </a:r>
            <a:r>
              <a:rPr lang="en-US" sz="2400" dirty="0">
                <a:latin typeface="Times New Roman" panose="02020603050405020304" pitchFamily="18" charset="0"/>
                <a:cs typeface="Times New Roman" panose="02020603050405020304" pitchFamily="18" charset="0"/>
              </a:rPr>
              <a:t> are responsible for choosing the </a:t>
            </a:r>
            <a:r>
              <a:rPr lang="en-US" sz="2400" b="1" i="1" dirty="0">
                <a:latin typeface="Times New Roman" panose="02020603050405020304" pitchFamily="18" charset="0"/>
                <a:cs typeface="Times New Roman" panose="02020603050405020304" pitchFamily="18" charset="0"/>
              </a:rPr>
              <a:t>best </a:t>
            </a:r>
            <a:r>
              <a:rPr lang="en-US" sz="2400" b="1" dirty="0">
                <a:latin typeface="Times New Roman" panose="02020603050405020304" pitchFamily="18" charset="0"/>
                <a:cs typeface="Times New Roman" panose="02020603050405020304" pitchFamily="18" charset="0"/>
              </a:rPr>
              <a:t>links</a:t>
            </a:r>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When the next link to travel is determined by the router, </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data-link layer takes datagram and moves across the link.</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link can be a wired LAN with a link-layer switch, a wireless LAN, a wired WAN, or a wireless WAN.</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each case, the </a:t>
            </a:r>
            <a:r>
              <a:rPr lang="en-US" sz="2400" b="1" i="1" dirty="0">
                <a:latin typeface="Times New Roman" panose="02020603050405020304" pitchFamily="18" charset="0"/>
                <a:cs typeface="Times New Roman" panose="02020603050405020304" pitchFamily="18" charset="0"/>
              </a:rPr>
              <a:t>data-link layer is responsible for moving the packet (frame) through the link.</a:t>
            </a:r>
          </a:p>
        </p:txBody>
      </p:sp>
    </p:spTree>
    <p:extLst>
      <p:ext uri="{BB962C8B-B14F-4D97-AF65-F5344CB8AC3E}">
        <p14:creationId xmlns:p14="http://schemas.microsoft.com/office/powerpoint/2010/main" val="2283302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 calcmode="lin" valueType="num">
                                      <p:cBhvr additive="base">
                                        <p:cTn id="1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xEl>
                                              <p:pRg st="4" end="4"/>
                                            </p:txEl>
                                          </p:spTgt>
                                        </p:tgtEl>
                                        <p:attrNameLst>
                                          <p:attrName>style.visibility</p:attrName>
                                        </p:attrNameLst>
                                      </p:cBhvr>
                                      <p:to>
                                        <p:strVal val="visible"/>
                                      </p:to>
                                    </p:set>
                                    <p:anim calcmode="lin" valueType="num">
                                      <p:cBhvr additive="base">
                                        <p:cTn id="25"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xEl>
                                              <p:pRg st="6" end="6"/>
                                            </p:txEl>
                                          </p:spTgt>
                                        </p:tgtEl>
                                        <p:attrNameLst>
                                          <p:attrName>style.visibility</p:attrName>
                                        </p:attrNameLst>
                                      </p:cBhvr>
                                      <p:to>
                                        <p:strVal val="visible"/>
                                      </p:to>
                                    </p:set>
                                    <p:anim calcmode="lin" valueType="num">
                                      <p:cBhvr additive="base">
                                        <p:cTn id="31"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
                                            <p:txEl>
                                              <p:pRg st="8" end="8"/>
                                            </p:txEl>
                                          </p:spTgt>
                                        </p:tgtEl>
                                        <p:attrNameLst>
                                          <p:attrName>style.visibility</p:attrName>
                                        </p:attrNameLst>
                                      </p:cBhvr>
                                      <p:to>
                                        <p:strVal val="visible"/>
                                      </p:to>
                                    </p:set>
                                    <p:anim calcmode="lin" valueType="num">
                                      <p:cBhvr additive="base">
                                        <p:cTn id="37"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5" name="Text Box 3"/>
          <p:cNvSpPr txBox="1">
            <a:spLocks noChangeArrowheads="1"/>
          </p:cNvSpPr>
          <p:nvPr/>
        </p:nvSpPr>
        <p:spPr bwMode="auto">
          <a:xfrm>
            <a:off x="228600" y="76200"/>
            <a:ext cx="7837530" cy="584775"/>
          </a:xfrm>
          <a:prstGeom prst="rect">
            <a:avLst/>
          </a:prstGeom>
          <a:noFill/>
          <a:ln w="9525">
            <a:noFill/>
            <a:miter lim="800000"/>
            <a:headEnd/>
            <a:tailEnd/>
          </a:ln>
          <a:effectLst/>
        </p:spPr>
        <p:txBody>
          <a:bodyPr wrap="none">
            <a:spAutoFit/>
          </a:bodyPr>
          <a:lstStyle/>
          <a:p>
            <a:pPr>
              <a:defRPr/>
            </a:pPr>
            <a:r>
              <a:rPr lang="en-US" sz="3200" b="1" dirty="0">
                <a:latin typeface="Times" pitchFamily="18" charset="0"/>
              </a:rPr>
              <a:t>2-DATA-LINK LAYER IN THE TCP/IP (2)</a:t>
            </a:r>
          </a:p>
        </p:txBody>
      </p:sp>
      <p:sp>
        <p:nvSpPr>
          <p:cNvPr id="1126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10" name="Rectangle 11"/>
          <p:cNvSpPr>
            <a:spLocks noChangeArrowheads="1"/>
          </p:cNvSpPr>
          <p:nvPr/>
        </p:nvSpPr>
        <p:spPr bwMode="auto">
          <a:xfrm>
            <a:off x="228600" y="838200"/>
            <a:ext cx="8610600" cy="2677656"/>
          </a:xfrm>
          <a:prstGeom prst="rect">
            <a:avLst/>
          </a:prstGeom>
          <a:noFill/>
          <a:ln w="76200" algn="ctr">
            <a:noFill/>
            <a:miter lim="800000"/>
            <a:headEnd/>
            <a:tailEnd/>
          </a:ln>
        </p:spPr>
        <p:txBody>
          <a:bodyPr wrap="square">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The data-link layer takes a datagram and encapsulates it in a packet called a </a:t>
            </a:r>
            <a:r>
              <a:rPr lang="en-US" sz="2400" b="1" i="1" dirty="0">
                <a:latin typeface="Times New Roman" panose="02020603050405020304" pitchFamily="18" charset="0"/>
                <a:cs typeface="Times New Roman" panose="02020603050405020304" pitchFamily="18" charset="0"/>
              </a:rPr>
              <a:t>frame</a:t>
            </a:r>
            <a:r>
              <a:rPr lang="en-US" sz="2400" b="1"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Each link-layer protocol may provide a different service. </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Some link-layer protocols provide complete error detection and correction, </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some provide only error correction.</a:t>
            </a:r>
            <a:endParaRPr lang="en-US" sz="2400" b="1" i="1" dirty="0">
              <a:latin typeface="Times New Roman" pitchFamily="18" charset="0"/>
              <a:cs typeface="Times New Roman" pitchFamily="18" charset="0"/>
            </a:endParaRPr>
          </a:p>
        </p:txBody>
      </p:sp>
    </p:spTree>
    <p:extLst>
      <p:ext uri="{BB962C8B-B14F-4D97-AF65-F5344CB8AC3E}">
        <p14:creationId xmlns:p14="http://schemas.microsoft.com/office/powerpoint/2010/main" val="3973761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additive="base">
                                        <p:cTn id="13"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 calcmode="lin" valueType="num">
                                      <p:cBhvr additive="base">
                                        <p:cTn id="17"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anim calcmode="lin" valueType="num">
                                      <p:cBhvr additive="base">
                                        <p:cTn id="21"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Text Box 4"/>
          <p:cNvSpPr txBox="1">
            <a:spLocks noChangeArrowheads="1"/>
          </p:cNvSpPr>
          <p:nvPr/>
        </p:nvSpPr>
        <p:spPr bwMode="auto">
          <a:xfrm>
            <a:off x="304800" y="381000"/>
            <a:ext cx="6553200" cy="646331"/>
          </a:xfrm>
          <a:prstGeom prst="rect">
            <a:avLst/>
          </a:prstGeom>
          <a:noFill/>
          <a:ln w="9525">
            <a:noFill/>
            <a:miter lim="800000"/>
            <a:headEnd/>
            <a:tailEnd/>
          </a:ln>
        </p:spPr>
        <p:txBody>
          <a:bodyPr wrap="square">
            <a:spAutoFit/>
          </a:bodyPr>
          <a:lstStyle/>
          <a:p>
            <a:r>
              <a:rPr lang="en-US" sz="3600" b="1" dirty="0">
                <a:latin typeface="Times New Roman" pitchFamily="18" charset="0"/>
                <a:cs typeface="Times New Roman" pitchFamily="18" charset="0"/>
              </a:rPr>
              <a:t>Hop-to-hop delivery</a:t>
            </a:r>
          </a:p>
        </p:txBody>
      </p:sp>
      <p:pic>
        <p:nvPicPr>
          <p:cNvPr id="16391" name="Picture 6"/>
          <p:cNvPicPr>
            <a:picLocks noChangeAspect="1" noChangeArrowheads="1"/>
          </p:cNvPicPr>
          <p:nvPr/>
        </p:nvPicPr>
        <p:blipFill>
          <a:blip r:embed="rId3" cstate="print"/>
          <a:srcRect/>
          <a:stretch>
            <a:fillRect/>
          </a:stretch>
        </p:blipFill>
        <p:spPr bwMode="auto">
          <a:xfrm>
            <a:off x="1066800" y="1143000"/>
            <a:ext cx="6216650" cy="4579938"/>
          </a:xfrm>
          <a:prstGeom prst="rect">
            <a:avLst/>
          </a:prstGeom>
          <a:noFill/>
          <a:ln w="9525">
            <a:noFill/>
            <a:miter lim="800000"/>
            <a:headEnd/>
            <a:tailEnd/>
          </a:ln>
        </p:spPr>
      </p:pic>
    </p:spTree>
    <p:extLst>
      <p:ext uri="{BB962C8B-B14F-4D97-AF65-F5344CB8AC3E}">
        <p14:creationId xmlns:p14="http://schemas.microsoft.com/office/powerpoint/2010/main" val="281085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5" name="Text Box 3"/>
          <p:cNvSpPr txBox="1">
            <a:spLocks noChangeArrowheads="1"/>
          </p:cNvSpPr>
          <p:nvPr/>
        </p:nvSpPr>
        <p:spPr bwMode="auto">
          <a:xfrm>
            <a:off x="228600" y="76200"/>
            <a:ext cx="7738144" cy="584775"/>
          </a:xfrm>
          <a:prstGeom prst="rect">
            <a:avLst/>
          </a:prstGeom>
          <a:noFill/>
          <a:ln w="9525">
            <a:noFill/>
            <a:miter lim="800000"/>
            <a:headEnd/>
            <a:tailEnd/>
          </a:ln>
          <a:effectLst/>
        </p:spPr>
        <p:txBody>
          <a:bodyPr wrap="none">
            <a:spAutoFit/>
          </a:bodyPr>
          <a:lstStyle/>
          <a:p>
            <a:pPr>
              <a:defRPr/>
            </a:pPr>
            <a:r>
              <a:rPr lang="en-US" sz="3200" b="1" dirty="0">
                <a:latin typeface="Times" pitchFamily="18" charset="0"/>
              </a:rPr>
              <a:t>3-NETWORK LAYER IN THE TCP/IP (1)</a:t>
            </a:r>
          </a:p>
        </p:txBody>
      </p:sp>
      <p:sp>
        <p:nvSpPr>
          <p:cNvPr id="1126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10" name="Rectangle 11"/>
          <p:cNvSpPr>
            <a:spLocks noChangeArrowheads="1"/>
          </p:cNvSpPr>
          <p:nvPr/>
        </p:nvSpPr>
        <p:spPr bwMode="auto">
          <a:xfrm>
            <a:off x="228600" y="824345"/>
            <a:ext cx="8610600" cy="5632311"/>
          </a:xfrm>
          <a:prstGeom prst="rect">
            <a:avLst/>
          </a:prstGeom>
          <a:noFill/>
          <a:ln w="76200" algn="ctr">
            <a:noFill/>
            <a:miter lim="800000"/>
            <a:headEnd/>
            <a:tailEnd/>
          </a:ln>
        </p:spPr>
        <p:txBody>
          <a:bodyPr wrap="square">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Responsible for creating a connection between the source and the destination.</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communication at the network layer is </a:t>
            </a:r>
            <a:r>
              <a:rPr lang="en-US" sz="2400" b="1" dirty="0">
                <a:latin typeface="Times New Roman" panose="02020603050405020304" pitchFamily="18" charset="0"/>
                <a:cs typeface="Times New Roman" panose="02020603050405020304" pitchFamily="18" charset="0"/>
              </a:rPr>
              <a:t>host-to-host.</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Routers in the path are responsible for choosing the best route for each packet. </a:t>
            </a:r>
          </a:p>
          <a:p>
            <a:r>
              <a:rPr lang="en-US" sz="2400" b="1" dirty="0">
                <a:latin typeface="Times New Roman" panose="02020603050405020304" pitchFamily="18" charset="0"/>
                <a:cs typeface="Times New Roman" panose="02020603050405020304" pitchFamily="18" charset="0"/>
              </a:rPr>
              <a:t>So,  network layer is responsible for host-to-host communication and routing the packet through possible routes.</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the Internet, it includes the main protocol, Internet Protocol (IP), that defines </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format of the packet, called a datagram at the network layer. </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format and the structure of addresses used in this layer. </a:t>
            </a:r>
          </a:p>
          <a:p>
            <a:pPr marL="342900" indent="-342900">
              <a:buFont typeface="Wingdings" panose="05000000000000000000" pitchFamily="2" charset="2"/>
              <a:buChar char="Ø"/>
            </a:pPr>
            <a:endParaRPr lang="en-US" sz="2400" b="1" i="1" dirty="0">
              <a:latin typeface="Times New Roman" pitchFamily="18" charset="0"/>
              <a:cs typeface="Times New Roman" pitchFamily="18" charset="0"/>
            </a:endParaRPr>
          </a:p>
        </p:txBody>
      </p:sp>
    </p:spTree>
    <p:extLst>
      <p:ext uri="{BB962C8B-B14F-4D97-AF65-F5344CB8AC3E}">
        <p14:creationId xmlns:p14="http://schemas.microsoft.com/office/powerpoint/2010/main" val="4180203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 calcmode="lin" valueType="num">
                                      <p:cBhvr additive="base">
                                        <p:cTn id="1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xEl>
                                              <p:pRg st="4" end="4"/>
                                            </p:txEl>
                                          </p:spTgt>
                                        </p:tgtEl>
                                        <p:attrNameLst>
                                          <p:attrName>style.visibility</p:attrName>
                                        </p:attrNameLst>
                                      </p:cBhvr>
                                      <p:to>
                                        <p:strVal val="visible"/>
                                      </p:to>
                                    </p:set>
                                    <p:anim calcmode="lin" valueType="num">
                                      <p:cBhvr additive="base">
                                        <p:cTn id="25"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xEl>
                                              <p:pRg st="6" end="6"/>
                                            </p:txEl>
                                          </p:spTgt>
                                        </p:tgtEl>
                                        <p:attrNameLst>
                                          <p:attrName>style.visibility</p:attrName>
                                        </p:attrNameLst>
                                      </p:cBhvr>
                                      <p:to>
                                        <p:strVal val="visible"/>
                                      </p:to>
                                    </p:set>
                                    <p:anim calcmode="lin" valueType="num">
                                      <p:cBhvr additive="base">
                                        <p:cTn id="31"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
                                            <p:txEl>
                                              <p:pRg st="7" end="7"/>
                                            </p:txEl>
                                          </p:spTgt>
                                        </p:tgtEl>
                                        <p:attrNameLst>
                                          <p:attrName>style.visibility</p:attrName>
                                        </p:attrNameLst>
                                      </p:cBhvr>
                                      <p:to>
                                        <p:strVal val="visible"/>
                                      </p:to>
                                    </p:set>
                                    <p:anim calcmode="lin" valueType="num">
                                      <p:cBhvr additive="base">
                                        <p:cTn id="35"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0">
                                            <p:txEl>
                                              <p:pRg st="8" end="8"/>
                                            </p:txEl>
                                          </p:spTgt>
                                        </p:tgtEl>
                                        <p:attrNameLst>
                                          <p:attrName>style.visibility</p:attrName>
                                        </p:attrNameLst>
                                      </p:cBhvr>
                                      <p:to>
                                        <p:strVal val="visible"/>
                                      </p:to>
                                    </p:set>
                                    <p:anim calcmode="lin" valueType="num">
                                      <p:cBhvr additive="base">
                                        <p:cTn id="39"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0">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5" name="Text Box 3"/>
          <p:cNvSpPr txBox="1">
            <a:spLocks noChangeArrowheads="1"/>
          </p:cNvSpPr>
          <p:nvPr/>
        </p:nvSpPr>
        <p:spPr bwMode="auto">
          <a:xfrm>
            <a:off x="228600" y="76200"/>
            <a:ext cx="7738144" cy="584775"/>
          </a:xfrm>
          <a:prstGeom prst="rect">
            <a:avLst/>
          </a:prstGeom>
          <a:noFill/>
          <a:ln w="9525">
            <a:noFill/>
            <a:miter lim="800000"/>
            <a:headEnd/>
            <a:tailEnd/>
          </a:ln>
          <a:effectLst/>
        </p:spPr>
        <p:txBody>
          <a:bodyPr wrap="none">
            <a:spAutoFit/>
          </a:bodyPr>
          <a:lstStyle/>
          <a:p>
            <a:pPr>
              <a:defRPr/>
            </a:pPr>
            <a:r>
              <a:rPr lang="en-US" sz="3200" b="1" dirty="0">
                <a:latin typeface="Times" pitchFamily="18" charset="0"/>
              </a:rPr>
              <a:t>3-NETWORK LAYER IN THE TCP/IP (3)</a:t>
            </a:r>
          </a:p>
        </p:txBody>
      </p:sp>
      <p:sp>
        <p:nvSpPr>
          <p:cNvPr id="1126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10" name="Rectangle 11"/>
          <p:cNvSpPr>
            <a:spLocks noChangeArrowheads="1"/>
          </p:cNvSpPr>
          <p:nvPr/>
        </p:nvSpPr>
        <p:spPr bwMode="auto">
          <a:xfrm>
            <a:off x="228600" y="824345"/>
            <a:ext cx="8610600" cy="4154984"/>
          </a:xfrm>
          <a:prstGeom prst="rect">
            <a:avLst/>
          </a:prstGeom>
          <a:noFill/>
          <a:ln w="76200" algn="ctr">
            <a:noFill/>
            <a:miter lim="800000"/>
            <a:headEnd/>
            <a:tailEnd/>
          </a:ln>
        </p:spPr>
        <p:txBody>
          <a:bodyPr wrap="square">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IP is also responsible for </a:t>
            </a:r>
            <a:r>
              <a:rPr lang="en-US" sz="2400" b="1" dirty="0">
                <a:latin typeface="Times New Roman" panose="02020603050405020304" pitchFamily="18" charset="0"/>
                <a:cs typeface="Times New Roman" panose="02020603050405020304" pitchFamily="18" charset="0"/>
              </a:rPr>
              <a:t>routing a packet </a:t>
            </a:r>
            <a:r>
              <a:rPr lang="en-US" sz="2400" dirty="0">
                <a:latin typeface="Times New Roman" panose="02020603050405020304" pitchFamily="18" charset="0"/>
                <a:cs typeface="Times New Roman" panose="02020603050405020304" pitchFamily="18" charset="0"/>
              </a:rPr>
              <a:t>from its source to its destination, </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achieved by each router forwarding the datagram to the next router in its path.</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includes unicast and multicast routing protocols</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Routing is duty of </a:t>
            </a:r>
            <a:r>
              <a:rPr lang="en-US" sz="2400" b="1" dirty="0">
                <a:latin typeface="Times New Roman" panose="02020603050405020304" pitchFamily="18" charset="0"/>
                <a:cs typeface="Times New Roman" panose="02020603050405020304" pitchFamily="18" charset="0"/>
              </a:rPr>
              <a:t>IP  </a:t>
            </a:r>
            <a:r>
              <a:rPr lang="en-US" sz="2400" dirty="0">
                <a:latin typeface="Times New Roman" panose="02020603050405020304" pitchFamily="18" charset="0"/>
                <a:cs typeface="Times New Roman" panose="02020603050405020304" pitchFamily="18" charset="0"/>
              </a:rPr>
              <a:t>(not of routing protocol)</a:t>
            </a:r>
          </a:p>
          <a:p>
            <a:pPr marL="342900" indent="-342900">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Routing protocol helps routers in routing process</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By creating forward tables for routers</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9725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 calcmode="lin" valueType="num">
                                      <p:cBhvr additive="base">
                                        <p:cTn id="11"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 calcmode="lin" valueType="num">
                                      <p:cBhvr additive="base">
                                        <p:cTn id="15"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 calcmode="lin" valueType="num">
                                      <p:cBhvr additive="base">
                                        <p:cTn id="19"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
                                            <p:txEl>
                                              <p:pRg st="6" end="6"/>
                                            </p:txEl>
                                          </p:spTgt>
                                        </p:tgtEl>
                                        <p:attrNameLst>
                                          <p:attrName>style.visibility</p:attrName>
                                        </p:attrNameLst>
                                      </p:cBhvr>
                                      <p:to>
                                        <p:strVal val="visible"/>
                                      </p:to>
                                    </p:set>
                                    <p:anim calcmode="lin" valueType="num">
                                      <p:cBhvr additive="base">
                                        <p:cTn id="23"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
                                            <p:txEl>
                                              <p:pRg st="7" end="7"/>
                                            </p:txEl>
                                          </p:spTgt>
                                        </p:tgtEl>
                                        <p:attrNameLst>
                                          <p:attrName>style.visibility</p:attrName>
                                        </p:attrNameLst>
                                      </p:cBhvr>
                                      <p:to>
                                        <p:strVal val="visible"/>
                                      </p:to>
                                    </p:set>
                                    <p:anim calcmode="lin" valueType="num">
                                      <p:cBhvr additive="base">
                                        <p:cTn id="27"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Text Box 4"/>
          <p:cNvSpPr txBox="1">
            <a:spLocks noChangeArrowheads="1"/>
          </p:cNvSpPr>
          <p:nvPr/>
        </p:nvSpPr>
        <p:spPr bwMode="auto">
          <a:xfrm>
            <a:off x="304800" y="381000"/>
            <a:ext cx="6113853" cy="646331"/>
          </a:xfrm>
          <a:prstGeom prst="rect">
            <a:avLst/>
          </a:prstGeom>
          <a:noFill/>
          <a:ln w="9525">
            <a:noFill/>
            <a:miter lim="800000"/>
            <a:headEnd/>
            <a:tailEnd/>
          </a:ln>
        </p:spPr>
        <p:txBody>
          <a:bodyPr wrap="none">
            <a:spAutoFit/>
          </a:bodyPr>
          <a:lstStyle/>
          <a:p>
            <a:r>
              <a:rPr lang="en-US" sz="3600" b="1" dirty="0">
                <a:latin typeface="Times New Roman" pitchFamily="18" charset="0"/>
                <a:cs typeface="Times New Roman" pitchFamily="18" charset="0"/>
              </a:rPr>
              <a:t>Source-to-destination delivery</a:t>
            </a:r>
          </a:p>
        </p:txBody>
      </p:sp>
      <p:pic>
        <p:nvPicPr>
          <p:cNvPr id="19463" name="Picture 6"/>
          <p:cNvPicPr>
            <a:picLocks noChangeAspect="1" noChangeArrowheads="1"/>
          </p:cNvPicPr>
          <p:nvPr/>
        </p:nvPicPr>
        <p:blipFill>
          <a:blip r:embed="rId3" cstate="print"/>
          <a:srcRect/>
          <a:stretch>
            <a:fillRect/>
          </a:stretch>
        </p:blipFill>
        <p:spPr bwMode="auto">
          <a:xfrm>
            <a:off x="1698625" y="1195388"/>
            <a:ext cx="5083175" cy="4824412"/>
          </a:xfrm>
          <a:prstGeom prst="rect">
            <a:avLst/>
          </a:prstGeom>
          <a:noFill/>
          <a:ln w="9525">
            <a:noFill/>
            <a:miter lim="800000"/>
            <a:headEnd/>
            <a:tailEnd/>
          </a:ln>
        </p:spPr>
      </p:pic>
    </p:spTree>
    <p:extLst>
      <p:ext uri="{BB962C8B-B14F-4D97-AF65-F5344CB8AC3E}">
        <p14:creationId xmlns:p14="http://schemas.microsoft.com/office/powerpoint/2010/main" val="667412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5" name="Text Box 3"/>
          <p:cNvSpPr txBox="1">
            <a:spLocks noChangeArrowheads="1"/>
          </p:cNvSpPr>
          <p:nvPr/>
        </p:nvSpPr>
        <p:spPr bwMode="auto">
          <a:xfrm>
            <a:off x="228600" y="76200"/>
            <a:ext cx="8057719" cy="584775"/>
          </a:xfrm>
          <a:prstGeom prst="rect">
            <a:avLst/>
          </a:prstGeom>
          <a:noFill/>
          <a:ln w="9525">
            <a:noFill/>
            <a:miter lim="800000"/>
            <a:headEnd/>
            <a:tailEnd/>
          </a:ln>
          <a:effectLst/>
        </p:spPr>
        <p:txBody>
          <a:bodyPr wrap="none">
            <a:spAutoFit/>
          </a:bodyPr>
          <a:lstStyle/>
          <a:p>
            <a:pPr>
              <a:defRPr/>
            </a:pPr>
            <a:r>
              <a:rPr lang="en-US" sz="3200" b="1" dirty="0">
                <a:latin typeface="Times" pitchFamily="18" charset="0"/>
              </a:rPr>
              <a:t>4-TRANSPORT LAYER IN THE TCP/IP (1)</a:t>
            </a:r>
          </a:p>
        </p:txBody>
      </p:sp>
      <p:sp>
        <p:nvSpPr>
          <p:cNvPr id="1126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10" name="Rectangle 11"/>
          <p:cNvSpPr>
            <a:spLocks noChangeArrowheads="1"/>
          </p:cNvSpPr>
          <p:nvPr/>
        </p:nvSpPr>
        <p:spPr bwMode="auto">
          <a:xfrm>
            <a:off x="228600" y="824345"/>
            <a:ext cx="8763000" cy="5262979"/>
          </a:xfrm>
          <a:prstGeom prst="rect">
            <a:avLst/>
          </a:prstGeom>
          <a:noFill/>
          <a:ln w="76200" algn="ctr">
            <a:noFill/>
            <a:miter lim="800000"/>
            <a:headEnd/>
            <a:tailEnd/>
          </a:ln>
        </p:spPr>
        <p:txBody>
          <a:bodyPr wrap="square">
            <a:spAutoFit/>
          </a:bodyPr>
          <a:lstStyle/>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logical connection</a:t>
            </a:r>
            <a:r>
              <a:rPr lang="en-US" sz="2400" dirty="0">
                <a:latin typeface="Times New Roman" panose="02020603050405020304" pitchFamily="18" charset="0"/>
                <a:cs typeface="Times New Roman" panose="02020603050405020304" pitchFamily="18" charset="0"/>
              </a:rPr>
              <a:t> at the transport layer is also </a:t>
            </a:r>
            <a:r>
              <a:rPr lang="en-US" sz="2400" b="1" dirty="0">
                <a:latin typeface="Times New Roman" panose="02020603050405020304" pitchFamily="18" charset="0"/>
                <a:cs typeface="Times New Roman" panose="02020603050405020304" pitchFamily="18" charset="0"/>
              </a:rPr>
              <a:t>end-to-end</a:t>
            </a:r>
            <a:r>
              <a:rPr lang="en-US" sz="24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a:t>
            </a:r>
            <a:r>
              <a:rPr lang="en-US" sz="2400" b="1" dirty="0">
                <a:latin typeface="Times New Roman" panose="02020603050405020304" pitchFamily="18" charset="0"/>
                <a:cs typeface="Times New Roman" panose="02020603050405020304" pitchFamily="18" charset="0"/>
              </a:rPr>
              <a:t>encapsulates </a:t>
            </a:r>
            <a:r>
              <a:rPr lang="en-US" sz="2400" dirty="0">
                <a:latin typeface="Times New Roman" panose="02020603050405020304" pitchFamily="18" charset="0"/>
                <a:cs typeface="Times New Roman" panose="02020603050405020304" pitchFamily="18" charset="0"/>
              </a:rPr>
              <a:t>message from the application layer in a packet (called </a:t>
            </a:r>
            <a:r>
              <a:rPr lang="en-US" sz="2400" b="1" dirty="0">
                <a:latin typeface="Times New Roman" panose="02020603050405020304" pitchFamily="18" charset="0"/>
                <a:cs typeface="Times New Roman" panose="02020603050405020304" pitchFamily="18" charset="0"/>
              </a:rPr>
              <a:t>a </a:t>
            </a:r>
            <a:r>
              <a:rPr lang="en-US" sz="2400" b="1" i="1" dirty="0">
                <a:latin typeface="Times New Roman" panose="02020603050405020304" pitchFamily="18" charset="0"/>
                <a:cs typeface="Times New Roman" panose="02020603050405020304" pitchFamily="18" charset="0"/>
              </a:rPr>
              <a:t>segment </a:t>
            </a:r>
            <a:r>
              <a:rPr lang="en-US" sz="2400" b="1" dirty="0">
                <a:latin typeface="Times New Roman" panose="02020603050405020304" pitchFamily="18" charset="0"/>
                <a:cs typeface="Times New Roman" panose="02020603050405020304" pitchFamily="18" charset="0"/>
              </a:rPr>
              <a:t>or a </a:t>
            </a:r>
            <a:r>
              <a:rPr lang="en-US" sz="2400" b="1" i="1" dirty="0">
                <a:latin typeface="Times New Roman" panose="02020603050405020304" pitchFamily="18" charset="0"/>
                <a:cs typeface="Times New Roman" panose="02020603050405020304" pitchFamily="18" charset="0"/>
              </a:rPr>
              <a:t>user datagram</a:t>
            </a:r>
            <a:r>
              <a:rPr lang="en-US" sz="2400" dirty="0">
                <a:latin typeface="Times New Roman" panose="02020603050405020304" pitchFamily="18" charset="0"/>
                <a:cs typeface="Times New Roman" panose="02020603050405020304" pitchFamily="18" charset="0"/>
              </a:rPr>
              <a:t>) and </a:t>
            </a:r>
          </a:p>
          <a:p>
            <a:pPr marL="742950" lvl="1"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sends it, through the logical connection, to the transport layer at the destination host.</a:t>
            </a:r>
          </a:p>
          <a:p>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So transport layer is responsible for giving services to the application layer: to get a message from an application program running on the source host and deliver it to the corresponding application program on the destination host. </a:t>
            </a:r>
          </a:p>
          <a:p>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There are  more than one protocol in the transport layer, </a:t>
            </a:r>
          </a:p>
          <a:p>
            <a:pPr marL="742950" lvl="1" indent="-28575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Thus, each application program can use the protocol that best matches its requirement.</a:t>
            </a:r>
          </a:p>
        </p:txBody>
      </p:sp>
    </p:spTree>
    <p:extLst>
      <p:ext uri="{BB962C8B-B14F-4D97-AF65-F5344CB8AC3E}">
        <p14:creationId xmlns:p14="http://schemas.microsoft.com/office/powerpoint/2010/main" val="528584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xEl>
                                              <p:pRg st="4" end="4"/>
                                            </p:txEl>
                                          </p:spTgt>
                                        </p:tgtEl>
                                        <p:attrNameLst>
                                          <p:attrName>style.visibility</p:attrName>
                                        </p:attrNameLst>
                                      </p:cBhvr>
                                      <p:to>
                                        <p:strVal val="visible"/>
                                      </p:to>
                                    </p:set>
                                    <p:anim calcmode="lin" valueType="num">
                                      <p:cBhvr additive="base">
                                        <p:cTn id="25"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xEl>
                                              <p:pRg st="6" end="6"/>
                                            </p:txEl>
                                          </p:spTgt>
                                        </p:tgtEl>
                                        <p:attrNameLst>
                                          <p:attrName>style.visibility</p:attrName>
                                        </p:attrNameLst>
                                      </p:cBhvr>
                                      <p:to>
                                        <p:strVal val="visible"/>
                                      </p:to>
                                    </p:set>
                                    <p:anim calcmode="lin" valueType="num">
                                      <p:cBhvr additive="base">
                                        <p:cTn id="31"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
                                            <p:txEl>
                                              <p:pRg st="7" end="7"/>
                                            </p:txEl>
                                          </p:spTgt>
                                        </p:tgtEl>
                                        <p:attrNameLst>
                                          <p:attrName>style.visibility</p:attrName>
                                        </p:attrNameLst>
                                      </p:cBhvr>
                                      <p:to>
                                        <p:strVal val="visible"/>
                                      </p:to>
                                    </p:set>
                                    <p:anim calcmode="lin" valueType="num">
                                      <p:cBhvr additive="base">
                                        <p:cTn id="37"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5" name="Text Box 3"/>
          <p:cNvSpPr txBox="1">
            <a:spLocks noChangeArrowheads="1"/>
          </p:cNvSpPr>
          <p:nvPr/>
        </p:nvSpPr>
        <p:spPr bwMode="auto">
          <a:xfrm>
            <a:off x="228600" y="76200"/>
            <a:ext cx="8057719" cy="584775"/>
          </a:xfrm>
          <a:prstGeom prst="rect">
            <a:avLst/>
          </a:prstGeom>
          <a:noFill/>
          <a:ln w="9525">
            <a:noFill/>
            <a:miter lim="800000"/>
            <a:headEnd/>
            <a:tailEnd/>
          </a:ln>
          <a:effectLst/>
        </p:spPr>
        <p:txBody>
          <a:bodyPr wrap="none">
            <a:spAutoFit/>
          </a:bodyPr>
          <a:lstStyle/>
          <a:p>
            <a:pPr>
              <a:defRPr/>
            </a:pPr>
            <a:r>
              <a:rPr lang="en-US" sz="3200" b="1" dirty="0">
                <a:latin typeface="Times" pitchFamily="18" charset="0"/>
              </a:rPr>
              <a:t>4-TRANSPORT LAYER IN THE TCP/IP (2)</a:t>
            </a:r>
          </a:p>
        </p:txBody>
      </p:sp>
      <p:sp>
        <p:nvSpPr>
          <p:cNvPr id="1126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10" name="Rectangle 11"/>
          <p:cNvSpPr>
            <a:spLocks noChangeArrowheads="1"/>
          </p:cNvSpPr>
          <p:nvPr/>
        </p:nvSpPr>
        <p:spPr bwMode="auto">
          <a:xfrm>
            <a:off x="228600" y="824345"/>
            <a:ext cx="8763000" cy="5170646"/>
          </a:xfrm>
          <a:prstGeom prst="rect">
            <a:avLst/>
          </a:prstGeom>
          <a:noFill/>
          <a:ln w="76200" algn="ctr">
            <a:noFill/>
            <a:miter lim="800000"/>
            <a:headEnd/>
            <a:tailEnd/>
          </a:ln>
        </p:spPr>
        <p:txBody>
          <a:bodyPr wrap="square">
            <a:spAutoFit/>
          </a:bodyPr>
          <a:lstStyle/>
          <a:p>
            <a:pPr marL="285750" indent="-28575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Transmission Control Protocol </a:t>
            </a:r>
            <a:r>
              <a:rPr lang="en-US" sz="2400" dirty="0">
                <a:latin typeface="Times New Roman" panose="02020603050405020304" pitchFamily="18" charset="0"/>
                <a:cs typeface="Times New Roman" panose="02020603050405020304" pitchFamily="18" charset="0"/>
              </a:rPr>
              <a:t>(TCP), is a </a:t>
            </a:r>
            <a:r>
              <a:rPr lang="en-US" sz="2400" b="1" dirty="0">
                <a:latin typeface="Times New Roman" panose="02020603050405020304" pitchFamily="18" charset="0"/>
                <a:cs typeface="Times New Roman" panose="02020603050405020304" pitchFamily="18" charset="0"/>
              </a:rPr>
              <a:t>connection-oriented</a:t>
            </a:r>
            <a:r>
              <a:rPr lang="en-US" sz="2400" dirty="0">
                <a:latin typeface="Times New Roman" panose="02020603050405020304" pitchFamily="18" charset="0"/>
                <a:cs typeface="Times New Roman" panose="02020603050405020304" pitchFamily="18" charset="0"/>
              </a:rPr>
              <a:t> protocol that first establishes a logical connection between transport layers at two hosts before transferring data.</a:t>
            </a:r>
          </a:p>
          <a:p>
            <a:pPr lvl="1">
              <a:buFont typeface="Wingdings" pitchFamily="2" charset="2"/>
              <a:buChar char="Ø"/>
            </a:pPr>
            <a:r>
              <a:rPr lang="en-US" sz="2200" b="1" dirty="0">
                <a:latin typeface="Times New Roman" pitchFamily="18" charset="0"/>
                <a:cs typeface="Times New Roman" pitchFamily="18" charset="0"/>
              </a:rPr>
              <a:t>Connection-oriented</a:t>
            </a:r>
            <a:r>
              <a:rPr lang="en-US" sz="2200" dirty="0">
                <a:latin typeface="Times New Roman" pitchFamily="18" charset="0"/>
                <a:cs typeface="Times New Roman" pitchFamily="18" charset="0"/>
              </a:rPr>
              <a:t>  means a connection must be established between both ends of a transmission before either can transmit data.</a:t>
            </a:r>
          </a:p>
          <a:p>
            <a:pPr lvl="1">
              <a:buFont typeface="Wingdings" pitchFamily="2" charset="2"/>
              <a:buChar char="Ø"/>
            </a:pPr>
            <a:r>
              <a:rPr lang="en-US" sz="2200" dirty="0">
                <a:latin typeface="Times New Roman" pitchFamily="18" charset="0"/>
                <a:cs typeface="Times New Roman" pitchFamily="18" charset="0"/>
              </a:rPr>
              <a:t>Provides flow control, error control, congestion control</a:t>
            </a:r>
          </a:p>
          <a:p>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User Datagram Protocol </a:t>
            </a:r>
            <a:r>
              <a:rPr lang="en-US" sz="2400" dirty="0">
                <a:latin typeface="Times New Roman" panose="02020603050405020304" pitchFamily="18" charset="0"/>
                <a:cs typeface="Times New Roman" panose="02020603050405020304" pitchFamily="18" charset="0"/>
              </a:rPr>
              <a:t>(UDP), is a </a:t>
            </a:r>
            <a:r>
              <a:rPr lang="en-US" sz="2400" b="1" dirty="0">
                <a:latin typeface="Times New Roman" panose="02020603050405020304" pitchFamily="18" charset="0"/>
                <a:cs typeface="Times New Roman" panose="02020603050405020304" pitchFamily="18" charset="0"/>
              </a:rPr>
              <a:t>connectionless</a:t>
            </a:r>
            <a:r>
              <a:rPr lang="en-US" sz="2400" dirty="0">
                <a:latin typeface="Times New Roman" panose="02020603050405020304" pitchFamily="18" charset="0"/>
                <a:cs typeface="Times New Roman" panose="02020603050405020304" pitchFamily="18" charset="0"/>
              </a:rPr>
              <a:t> protocol that transmits user datagrams without first creating a logical connection.</a:t>
            </a:r>
          </a:p>
          <a:p>
            <a:pPr marL="742950" lvl="1" indent="-28575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Connectionless</a:t>
            </a:r>
            <a:r>
              <a:rPr lang="en-US" sz="2400" dirty="0">
                <a:latin typeface="Times New Roman" panose="02020603050405020304" pitchFamily="18" charset="0"/>
                <a:cs typeface="Times New Roman" panose="02020603050405020304" pitchFamily="18" charset="0"/>
              </a:rPr>
              <a:t> means each user datagram is independent without being related to previous or next one</a:t>
            </a:r>
          </a:p>
          <a:p>
            <a:pPr marL="285750" indent="-28575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Stream Control Transmission Protocol </a:t>
            </a:r>
            <a:r>
              <a:rPr lang="en-US" sz="2400" dirty="0">
                <a:latin typeface="Times New Roman" panose="02020603050405020304" pitchFamily="18" charset="0"/>
                <a:cs typeface="Times New Roman" panose="02020603050405020304" pitchFamily="18" charset="0"/>
              </a:rPr>
              <a:t>(SCTP) is designed to respond to new applications that are emerging in the multimedia.</a:t>
            </a:r>
          </a:p>
        </p:txBody>
      </p:sp>
    </p:spTree>
    <p:extLst>
      <p:ext uri="{BB962C8B-B14F-4D97-AF65-F5344CB8AC3E}">
        <p14:creationId xmlns:p14="http://schemas.microsoft.com/office/powerpoint/2010/main" val="3572514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fade">
                                      <p:cBhvr>
                                        <p:cTn id="14" dur="1000"/>
                                        <p:tgtEl>
                                          <p:spTgt spid="10">
                                            <p:txEl>
                                              <p:pRg st="1" end="1"/>
                                            </p:txEl>
                                          </p:spTgt>
                                        </p:tgtEl>
                                      </p:cBhvr>
                                    </p:animEffect>
                                    <p:anim calcmode="lin" valueType="num">
                                      <p:cBhvr>
                                        <p:cTn id="15"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animEffect transition="in" filter="fade">
                                      <p:cBhvr>
                                        <p:cTn id="21" dur="1000"/>
                                        <p:tgtEl>
                                          <p:spTgt spid="10">
                                            <p:txEl>
                                              <p:pRg st="2" end="2"/>
                                            </p:txEl>
                                          </p:spTgt>
                                        </p:tgtEl>
                                      </p:cBhvr>
                                    </p:animEffect>
                                    <p:anim calcmode="lin" valueType="num">
                                      <p:cBhvr>
                                        <p:cTn id="22"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0">
                                            <p:txEl>
                                              <p:pRg st="4" end="4"/>
                                            </p:txEl>
                                          </p:spTgt>
                                        </p:tgtEl>
                                        <p:attrNameLst>
                                          <p:attrName>style.visibility</p:attrName>
                                        </p:attrNameLst>
                                      </p:cBhvr>
                                      <p:to>
                                        <p:strVal val="visible"/>
                                      </p:to>
                                    </p:set>
                                    <p:anim calcmode="lin" valueType="num">
                                      <p:cBhvr additive="base">
                                        <p:cTn id="28"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0">
                                            <p:txEl>
                                              <p:pRg st="5" end="5"/>
                                            </p:txEl>
                                          </p:spTgt>
                                        </p:tgtEl>
                                        <p:attrNameLst>
                                          <p:attrName>style.visibility</p:attrName>
                                        </p:attrNameLst>
                                      </p:cBhvr>
                                      <p:to>
                                        <p:strVal val="visible"/>
                                      </p:to>
                                    </p:set>
                                    <p:anim calcmode="lin" valueType="num">
                                      <p:cBhvr additive="base">
                                        <p:cTn id="34"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10">
                                            <p:txEl>
                                              <p:pRg st="7" end="7"/>
                                            </p:txEl>
                                          </p:spTgt>
                                        </p:tgtEl>
                                        <p:attrNameLst>
                                          <p:attrName>style.visibility</p:attrName>
                                        </p:attrNameLst>
                                      </p:cBhvr>
                                      <p:to>
                                        <p:strVal val="visible"/>
                                      </p:to>
                                    </p:set>
                                    <p:anim calcmode="lin" valueType="num">
                                      <p:cBhvr additive="base">
                                        <p:cTn id="40"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Line 2"/>
          <p:cNvSpPr>
            <a:spLocks noChangeShapeType="1"/>
          </p:cNvSpPr>
          <p:nvPr/>
        </p:nvSpPr>
        <p:spPr bwMode="auto">
          <a:xfrm>
            <a:off x="152400" y="76200"/>
            <a:ext cx="8763000" cy="0"/>
          </a:xfrm>
          <a:prstGeom prst="line">
            <a:avLst/>
          </a:prstGeom>
          <a:noFill/>
          <a:ln w="76200">
            <a:solidFill>
              <a:schemeClr val="hlink"/>
            </a:solidFill>
            <a:round/>
            <a:headEnd/>
            <a:tailEnd/>
          </a:ln>
        </p:spPr>
        <p:txBody>
          <a:bodyPr/>
          <a:lstStyle/>
          <a:p>
            <a:endParaRPr lang="en-US"/>
          </a:p>
        </p:txBody>
      </p:sp>
      <p:sp>
        <p:nvSpPr>
          <p:cNvPr id="22532" name="Line 3"/>
          <p:cNvSpPr>
            <a:spLocks noChangeShapeType="1"/>
          </p:cNvSpPr>
          <p:nvPr/>
        </p:nvSpPr>
        <p:spPr bwMode="auto">
          <a:xfrm>
            <a:off x="152400" y="914400"/>
            <a:ext cx="8763000" cy="0"/>
          </a:xfrm>
          <a:prstGeom prst="line">
            <a:avLst/>
          </a:prstGeom>
          <a:noFill/>
          <a:ln w="19050">
            <a:solidFill>
              <a:schemeClr val="hlink"/>
            </a:solidFill>
            <a:round/>
            <a:headEnd/>
            <a:tailEnd/>
          </a:ln>
        </p:spPr>
        <p:txBody>
          <a:bodyPr/>
          <a:lstStyle/>
          <a:p>
            <a:endParaRPr lang="en-US"/>
          </a:p>
        </p:txBody>
      </p:sp>
      <p:sp>
        <p:nvSpPr>
          <p:cNvPr id="22533" name="Text Box 4"/>
          <p:cNvSpPr txBox="1">
            <a:spLocks noChangeArrowheads="1"/>
          </p:cNvSpPr>
          <p:nvPr/>
        </p:nvSpPr>
        <p:spPr bwMode="auto">
          <a:xfrm>
            <a:off x="304800" y="304800"/>
            <a:ext cx="5631029" cy="1200329"/>
          </a:xfrm>
          <a:prstGeom prst="rect">
            <a:avLst/>
          </a:prstGeom>
          <a:noFill/>
          <a:ln w="9525">
            <a:noFill/>
            <a:miter lim="800000"/>
            <a:headEnd/>
            <a:tailEnd/>
          </a:ln>
        </p:spPr>
        <p:txBody>
          <a:bodyPr wrap="none">
            <a:spAutoFit/>
          </a:bodyPr>
          <a:lstStyle/>
          <a:p>
            <a:r>
              <a:rPr lang="en-US" sz="3600" b="1" dirty="0">
                <a:latin typeface="Times New Roman" pitchFamily="18" charset="0"/>
                <a:cs typeface="Times New Roman" pitchFamily="18" charset="0"/>
              </a:rPr>
              <a:t>Reliable process-to-process </a:t>
            </a:r>
          </a:p>
          <a:p>
            <a:r>
              <a:rPr lang="en-US" sz="3600" b="1" dirty="0">
                <a:latin typeface="Times New Roman" pitchFamily="18" charset="0"/>
                <a:cs typeface="Times New Roman" pitchFamily="18" charset="0"/>
              </a:rPr>
              <a:t>delivery of a message</a:t>
            </a:r>
          </a:p>
        </p:txBody>
      </p:sp>
      <p:pic>
        <p:nvPicPr>
          <p:cNvPr id="22535" name="Picture 6"/>
          <p:cNvPicPr>
            <a:picLocks noChangeAspect="1" noChangeArrowheads="1"/>
          </p:cNvPicPr>
          <p:nvPr/>
        </p:nvPicPr>
        <p:blipFill>
          <a:blip r:embed="rId3" cstate="print"/>
          <a:srcRect/>
          <a:stretch>
            <a:fillRect/>
          </a:stretch>
        </p:blipFill>
        <p:spPr bwMode="auto">
          <a:xfrm>
            <a:off x="530225" y="2025650"/>
            <a:ext cx="7623175" cy="3136900"/>
          </a:xfrm>
          <a:prstGeom prst="rect">
            <a:avLst/>
          </a:prstGeom>
          <a:noFill/>
          <a:ln w="9525">
            <a:noFill/>
            <a:miter lim="800000"/>
            <a:headEnd/>
            <a:tailEnd/>
          </a:ln>
        </p:spPr>
      </p:pic>
    </p:spTree>
    <p:extLst>
      <p:ext uri="{BB962C8B-B14F-4D97-AF65-F5344CB8AC3E}">
        <p14:creationId xmlns:p14="http://schemas.microsoft.com/office/powerpoint/2010/main" val="1125311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5" name="Text Box 3"/>
          <p:cNvSpPr txBox="1">
            <a:spLocks noChangeArrowheads="1"/>
          </p:cNvSpPr>
          <p:nvPr/>
        </p:nvSpPr>
        <p:spPr bwMode="auto">
          <a:xfrm>
            <a:off x="228600" y="76200"/>
            <a:ext cx="8594019" cy="584775"/>
          </a:xfrm>
          <a:prstGeom prst="rect">
            <a:avLst/>
          </a:prstGeom>
          <a:noFill/>
          <a:ln w="9525">
            <a:noFill/>
            <a:miter lim="800000"/>
            <a:headEnd/>
            <a:tailEnd/>
          </a:ln>
          <a:effectLst/>
        </p:spPr>
        <p:txBody>
          <a:bodyPr wrap="none">
            <a:spAutoFit/>
          </a:bodyPr>
          <a:lstStyle/>
          <a:p>
            <a:pPr>
              <a:defRPr/>
            </a:pPr>
            <a:r>
              <a:rPr lang="en-US" sz="3200" b="1" dirty="0">
                <a:latin typeface="Times" pitchFamily="18" charset="0"/>
              </a:rPr>
              <a:t>Encapsulation and </a:t>
            </a:r>
            <a:r>
              <a:rPr lang="en-US" sz="3200" b="1" dirty="0" err="1">
                <a:latin typeface="Times" pitchFamily="18" charset="0"/>
              </a:rPr>
              <a:t>Decapsulation</a:t>
            </a:r>
            <a:r>
              <a:rPr lang="en-US" sz="3200" b="1" dirty="0">
                <a:latin typeface="Times" pitchFamily="18" charset="0"/>
              </a:rPr>
              <a:t> (Book1: 2.2.4)</a:t>
            </a:r>
          </a:p>
        </p:txBody>
      </p:sp>
      <p:sp>
        <p:nvSpPr>
          <p:cNvPr id="1126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10" name="Rectangle 11"/>
          <p:cNvSpPr>
            <a:spLocks noChangeArrowheads="1"/>
          </p:cNvSpPr>
          <p:nvPr/>
        </p:nvSpPr>
        <p:spPr bwMode="auto">
          <a:xfrm>
            <a:off x="228600" y="824345"/>
            <a:ext cx="8763000" cy="1938992"/>
          </a:xfrm>
          <a:prstGeom prst="rect">
            <a:avLst/>
          </a:prstGeom>
          <a:noFill/>
          <a:ln w="76200" algn="ctr">
            <a:noFill/>
            <a:miter lim="800000"/>
            <a:headEnd/>
            <a:tailEnd/>
          </a:ln>
        </p:spPr>
        <p:txBody>
          <a:bodyPr wrap="square">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Encapsulation at the Source Host</a:t>
            </a:r>
          </a:p>
          <a:p>
            <a:pPr marL="342900" indent="-342900">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Decapsulation</a:t>
            </a:r>
            <a:r>
              <a:rPr lang="en-US" sz="2400" dirty="0">
                <a:latin typeface="Times New Roman" panose="02020603050405020304" pitchFamily="18" charset="0"/>
                <a:cs typeface="Times New Roman" panose="02020603050405020304" pitchFamily="18" charset="0"/>
              </a:rPr>
              <a:t> and Encapsulation at the router</a:t>
            </a:r>
          </a:p>
          <a:p>
            <a:pPr marL="342900" indent="-342900">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Decapsulation</a:t>
            </a:r>
            <a:r>
              <a:rPr lang="en-US" sz="2400" dirty="0">
                <a:latin typeface="Times New Roman" panose="02020603050405020304" pitchFamily="18" charset="0"/>
                <a:cs typeface="Times New Roman" panose="02020603050405020304" pitchFamily="18" charset="0"/>
              </a:rPr>
              <a:t> at the Destination Host</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Message -----segment/user datagram --- datagram --- frame</a:t>
            </a:r>
          </a:p>
          <a:p>
            <a:endParaRPr lang="en-US" sz="2400" dirty="0">
              <a:latin typeface="Times New Roman" panose="02020603050405020304" pitchFamily="18" charset="0"/>
              <a:cs typeface="Times New Roman" panose="02020603050405020304" pitchFamily="18" charset="0"/>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763337"/>
            <a:ext cx="8001000" cy="3561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2786863" y="3244334"/>
            <a:ext cx="3570273" cy="369332"/>
          </a:xfrm>
          <a:prstGeom prst="rect">
            <a:avLst/>
          </a:prstGeom>
        </p:spPr>
        <p:txBody>
          <a:bodyPr wrap="none">
            <a:spAutoFit/>
          </a:bodyPr>
          <a:lstStyle/>
          <a:p>
            <a:pPr marL="12700">
              <a:lnSpc>
                <a:spcPct val="100000"/>
              </a:lnSpc>
              <a:tabLst>
                <a:tab pos="470534" algn="l"/>
              </a:tabLst>
            </a:pPr>
            <a:r>
              <a:rPr lang="en-US" b="1" dirty="0"/>
              <a:t>Transmission Control Protocol</a:t>
            </a:r>
          </a:p>
        </p:txBody>
      </p:sp>
    </p:spTree>
    <p:extLst>
      <p:ext uri="{BB962C8B-B14F-4D97-AF65-F5344CB8AC3E}">
        <p14:creationId xmlns:p14="http://schemas.microsoft.com/office/powerpoint/2010/main" val="380500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fade">
                                      <p:cBhvr>
                                        <p:cTn id="14" dur="1000"/>
                                        <p:tgtEl>
                                          <p:spTgt spid="10">
                                            <p:txEl>
                                              <p:pRg st="1" end="1"/>
                                            </p:txEl>
                                          </p:spTgt>
                                        </p:tgtEl>
                                      </p:cBhvr>
                                    </p:animEffect>
                                    <p:anim calcmode="lin" valueType="num">
                                      <p:cBhvr>
                                        <p:cTn id="15"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animEffect transition="in" filter="fade">
                                      <p:cBhvr>
                                        <p:cTn id="21" dur="1000"/>
                                        <p:tgtEl>
                                          <p:spTgt spid="10">
                                            <p:txEl>
                                              <p:pRg st="2" end="2"/>
                                            </p:txEl>
                                          </p:spTgt>
                                        </p:tgtEl>
                                      </p:cBhvr>
                                    </p:animEffect>
                                    <p:anim calcmode="lin" valueType="num">
                                      <p:cBhvr>
                                        <p:cTn id="22"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xEl>
                                              <p:pRg st="3" end="3"/>
                                            </p:txEl>
                                          </p:spTgt>
                                        </p:tgtEl>
                                        <p:attrNameLst>
                                          <p:attrName>style.visibility</p:attrName>
                                        </p:attrNameLst>
                                      </p:cBhvr>
                                      <p:to>
                                        <p:strVal val="visible"/>
                                      </p:to>
                                    </p:set>
                                    <p:animEffect transition="in" filter="fade">
                                      <p:cBhvr>
                                        <p:cTn id="28" dur="1000"/>
                                        <p:tgtEl>
                                          <p:spTgt spid="10">
                                            <p:txEl>
                                              <p:pRg st="3" end="3"/>
                                            </p:txEl>
                                          </p:spTgt>
                                        </p:tgtEl>
                                      </p:cBhvr>
                                    </p:animEffect>
                                    <p:anim calcmode="lin" valueType="num">
                                      <p:cBhvr>
                                        <p:cTn id="29"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3" name="Text Box 3"/>
          <p:cNvSpPr txBox="1">
            <a:spLocks noChangeArrowheads="1"/>
          </p:cNvSpPr>
          <p:nvPr/>
        </p:nvSpPr>
        <p:spPr bwMode="auto">
          <a:xfrm>
            <a:off x="228600" y="76200"/>
            <a:ext cx="7848600" cy="523220"/>
          </a:xfrm>
          <a:prstGeom prst="rect">
            <a:avLst/>
          </a:prstGeom>
          <a:noFill/>
          <a:ln w="9525">
            <a:noFill/>
            <a:miter lim="800000"/>
            <a:headEnd/>
            <a:tailEnd/>
          </a:ln>
          <a:effectLst/>
        </p:spPr>
        <p:txBody>
          <a:bodyPr wrap="square">
            <a:spAutoFit/>
          </a:bodyPr>
          <a:lstStyle/>
          <a:p>
            <a:pPr>
              <a:defRPr/>
            </a:pPr>
            <a:r>
              <a:rPr lang="en-US" sz="2800" b="1" dirty="0">
                <a:latin typeface="Times New Roman" pitchFamily="18" charset="0"/>
                <a:cs typeface="Times New Roman" pitchFamily="18" charset="0"/>
              </a:rPr>
              <a:t>TCP/IP Suit ADDRESSING (Book2: 2.2.5)</a:t>
            </a:r>
          </a:p>
        </p:txBody>
      </p:sp>
      <p:sp>
        <p:nvSpPr>
          <p:cNvPr id="32773"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680965" name="Rectangle 5"/>
          <p:cNvSpPr>
            <a:spLocks noChangeArrowheads="1"/>
          </p:cNvSpPr>
          <p:nvPr/>
        </p:nvSpPr>
        <p:spPr bwMode="auto">
          <a:xfrm>
            <a:off x="228600" y="1099066"/>
            <a:ext cx="8534400" cy="3416320"/>
          </a:xfrm>
          <a:prstGeom prst="rect">
            <a:avLst/>
          </a:prstGeom>
          <a:noFill/>
          <a:ln w="9525">
            <a:noFill/>
            <a:miter lim="800000"/>
            <a:headEnd/>
            <a:tailEnd/>
          </a:ln>
          <a:effectLst/>
        </p:spPr>
        <p:txBody>
          <a:bodyPr wrap="square" anchor="ctr">
            <a:spAutoFit/>
          </a:bodyPr>
          <a:lstStyle/>
          <a:p>
            <a:pPr marL="342900" indent="-342900" algn="just" eaLnBrk="1" hangingPunct="1">
              <a:buFont typeface="Wingdings" panose="05000000000000000000" pitchFamily="2" charset="2"/>
              <a:buChar char="Ø"/>
              <a:defRPr/>
            </a:pPr>
            <a:r>
              <a:rPr lang="en-US" sz="2400" i="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Any communication that involves two parties needs two addresses: source address and destination address</a:t>
            </a:r>
          </a:p>
          <a:p>
            <a:pPr marL="342900" indent="-342900" algn="just" eaLnBrk="1" hangingPunct="1">
              <a:buFont typeface="Wingdings" panose="05000000000000000000" pitchFamily="2" charset="2"/>
              <a:buChar char="Ø"/>
              <a:defRPr/>
            </a:pPr>
            <a:r>
              <a:rPr lang="en-US" sz="2400" i="1" dirty="0">
                <a:effectLst>
                  <a:outerShdw blurRad="38100" dist="38100" dir="2700000" algn="tl">
                    <a:srgbClr val="C0C0C0"/>
                  </a:outerShdw>
                </a:effectLst>
                <a:latin typeface="Times New Roman" panose="02020603050405020304" pitchFamily="18" charset="0"/>
                <a:cs typeface="Times New Roman" panose="02020603050405020304" pitchFamily="18" charset="0"/>
              </a:rPr>
              <a:t>Four levels of addresses are used in an internet employing the TCP/IP protocols: </a:t>
            </a:r>
            <a:r>
              <a:rPr lang="en-US" sz="2400" i="1" dirty="0">
                <a:solidFill>
                  <a:schemeClr va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physical</a:t>
            </a:r>
            <a:r>
              <a:rPr lang="en-US" sz="2400" i="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i="1" dirty="0">
                <a:solidFill>
                  <a:schemeClr va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logical</a:t>
            </a:r>
            <a:r>
              <a:rPr lang="en-US" sz="2400" i="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sz="2400" i="1" dirty="0">
                <a:solidFill>
                  <a:schemeClr va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port</a:t>
            </a:r>
            <a:r>
              <a:rPr lang="en-US" sz="2400" i="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and </a:t>
            </a:r>
            <a:r>
              <a:rPr lang="en-US" sz="2400" i="1" dirty="0">
                <a:solidFill>
                  <a:schemeClr va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specific</a:t>
            </a:r>
            <a:r>
              <a:rPr lang="en-US" sz="2400" i="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Ø"/>
              <a:defRPr/>
            </a:pPr>
            <a:r>
              <a:rPr lang="en-US" sz="2400" i="1" dirty="0">
                <a:effectLst>
                  <a:outerShdw blurRad="38100" dist="38100" dir="2700000" algn="tl">
                    <a:srgbClr val="C0C0C0"/>
                  </a:outerShdw>
                </a:effectLst>
                <a:latin typeface="Times New Roman" panose="02020603050405020304" pitchFamily="18" charset="0"/>
                <a:cs typeface="Times New Roman" panose="02020603050405020304" pitchFamily="18" charset="0"/>
              </a:rPr>
              <a:t>No address required at physical layer as the unit of data exchange is a bit which definitely cannot have any address</a:t>
            </a:r>
          </a:p>
          <a:p>
            <a:pPr marL="342900" indent="-342900" algn="just">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There is a </a:t>
            </a:r>
            <a:r>
              <a:rPr lang="en-US" sz="2400" b="1" dirty="0">
                <a:latin typeface="Times New Roman" panose="02020603050405020304" pitchFamily="18" charset="0"/>
                <a:cs typeface="Times New Roman" panose="02020603050405020304" pitchFamily="18" charset="0"/>
              </a:rPr>
              <a:t>relationship</a:t>
            </a:r>
            <a:r>
              <a:rPr lang="en-US" sz="2400" dirty="0">
                <a:latin typeface="Times New Roman" panose="02020603050405020304" pitchFamily="18" charset="0"/>
                <a:cs typeface="Times New Roman" panose="02020603050405020304" pitchFamily="18" charset="0"/>
              </a:rPr>
              <a:t> between the </a:t>
            </a:r>
            <a:r>
              <a:rPr lang="en-US" sz="2400" b="1" dirty="0">
                <a:latin typeface="Times New Roman" panose="02020603050405020304" pitchFamily="18" charset="0"/>
                <a:cs typeface="Times New Roman" panose="02020603050405020304" pitchFamily="18" charset="0"/>
              </a:rPr>
              <a:t>layer</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address</a:t>
            </a:r>
            <a:r>
              <a:rPr lang="en-US" sz="2400" dirty="0">
                <a:latin typeface="Times New Roman" panose="02020603050405020304" pitchFamily="18" charset="0"/>
                <a:cs typeface="Times New Roman" panose="02020603050405020304" pitchFamily="18" charset="0"/>
              </a:rPr>
              <a:t> used in that layer, and the </a:t>
            </a:r>
            <a:r>
              <a:rPr lang="en-US" sz="2400" b="1" dirty="0">
                <a:latin typeface="Times New Roman" panose="02020603050405020304" pitchFamily="18" charset="0"/>
                <a:cs typeface="Times New Roman" panose="02020603050405020304" pitchFamily="18" charset="0"/>
              </a:rPr>
              <a:t>packet name </a:t>
            </a:r>
            <a:r>
              <a:rPr lang="en-US" sz="2400" dirty="0">
                <a:latin typeface="Times New Roman" panose="02020603050405020304" pitchFamily="18" charset="0"/>
                <a:cs typeface="Times New Roman" panose="02020603050405020304" pitchFamily="18" charset="0"/>
              </a:rPr>
              <a:t>at that layer. </a:t>
            </a:r>
          </a:p>
          <a:p>
            <a:pPr algn="just">
              <a:buFont typeface="Wingdings" pitchFamily="2" charset="2"/>
              <a:buChar char="§"/>
              <a:defRPr/>
            </a:pPr>
            <a:endParaRPr lang="en-US" sz="2400" i="1" dirty="0">
              <a:effectLst>
                <a:outerShdw blurRad="38100" dist="38100" dir="2700000" algn="tl">
                  <a:srgbClr val="C0C0C0"/>
                </a:outerShdw>
              </a:effectLst>
            </a:endParaRPr>
          </a:p>
        </p:txBody>
      </p:sp>
      <p:pic>
        <p:nvPicPr>
          <p:cNvPr id="9" name="Picture 6"/>
          <p:cNvPicPr>
            <a:picLocks noChangeAspect="1" noChangeArrowheads="1"/>
          </p:cNvPicPr>
          <p:nvPr/>
        </p:nvPicPr>
        <p:blipFill>
          <a:blip r:embed="rId3" cstate="print"/>
          <a:srcRect/>
          <a:stretch>
            <a:fillRect/>
          </a:stretch>
        </p:blipFill>
        <p:spPr bwMode="auto">
          <a:xfrm>
            <a:off x="374506" y="4424507"/>
            <a:ext cx="7834312" cy="1997075"/>
          </a:xfrm>
          <a:prstGeom prst="rect">
            <a:avLst/>
          </a:prstGeom>
          <a:noFill/>
          <a:ln w="9525">
            <a:noFill/>
            <a:miter lim="800000"/>
            <a:headEnd/>
            <a:tailEnd/>
          </a:ln>
        </p:spPr>
      </p:pic>
    </p:spTree>
    <p:extLst>
      <p:ext uri="{BB962C8B-B14F-4D97-AF65-F5344CB8AC3E}">
        <p14:creationId xmlns:p14="http://schemas.microsoft.com/office/powerpoint/2010/main" val="33867192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3" name="Text Box 3"/>
          <p:cNvSpPr txBox="1">
            <a:spLocks noChangeArrowheads="1"/>
          </p:cNvSpPr>
          <p:nvPr/>
        </p:nvSpPr>
        <p:spPr bwMode="auto">
          <a:xfrm>
            <a:off x="228600" y="76200"/>
            <a:ext cx="7848600" cy="646331"/>
          </a:xfrm>
          <a:prstGeom prst="rect">
            <a:avLst/>
          </a:prstGeom>
          <a:noFill/>
          <a:ln w="9525">
            <a:noFill/>
            <a:miter lim="800000"/>
            <a:headEnd/>
            <a:tailEnd/>
          </a:ln>
          <a:effectLst/>
        </p:spPr>
        <p:txBody>
          <a:bodyPr wrap="square">
            <a:spAutoFit/>
          </a:bodyPr>
          <a:lstStyle/>
          <a:p>
            <a:pPr>
              <a:defRPr/>
            </a:pPr>
            <a:r>
              <a:rPr lang="en-US" sz="3600" b="1" dirty="0">
                <a:latin typeface="Times New Roman" pitchFamily="18" charset="0"/>
                <a:cs typeface="Times New Roman" pitchFamily="18" charset="0"/>
              </a:rPr>
              <a:t>ADDRESSING</a:t>
            </a:r>
          </a:p>
        </p:txBody>
      </p:sp>
      <p:sp>
        <p:nvSpPr>
          <p:cNvPr id="32773"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680965" name="Rectangle 5"/>
          <p:cNvSpPr>
            <a:spLocks noChangeArrowheads="1"/>
          </p:cNvSpPr>
          <p:nvPr/>
        </p:nvSpPr>
        <p:spPr bwMode="auto">
          <a:xfrm>
            <a:off x="228600" y="1066800"/>
            <a:ext cx="8534400" cy="1200329"/>
          </a:xfrm>
          <a:prstGeom prst="rect">
            <a:avLst/>
          </a:prstGeom>
          <a:noFill/>
          <a:ln w="9525">
            <a:noFill/>
            <a:miter lim="800000"/>
            <a:headEnd/>
            <a:tailEnd/>
          </a:ln>
          <a:effectLst/>
        </p:spPr>
        <p:txBody>
          <a:bodyPr wrap="square" anchor="ctr">
            <a:spAutoFit/>
          </a:bodyPr>
          <a:lstStyle/>
          <a:p>
            <a:pPr marL="342900" indent="-342900" algn="just">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There is a </a:t>
            </a:r>
            <a:r>
              <a:rPr lang="en-US" sz="2400" b="1" dirty="0">
                <a:latin typeface="Times New Roman" panose="02020603050405020304" pitchFamily="18" charset="0"/>
                <a:cs typeface="Times New Roman" panose="02020603050405020304" pitchFamily="18" charset="0"/>
              </a:rPr>
              <a:t>relationship</a:t>
            </a:r>
            <a:r>
              <a:rPr lang="en-US" sz="2400" dirty="0">
                <a:latin typeface="Times New Roman" panose="02020603050405020304" pitchFamily="18" charset="0"/>
                <a:cs typeface="Times New Roman" panose="02020603050405020304" pitchFamily="18" charset="0"/>
              </a:rPr>
              <a:t> between the </a:t>
            </a:r>
            <a:r>
              <a:rPr lang="en-US" sz="2400" b="1" dirty="0">
                <a:latin typeface="Times New Roman" panose="02020603050405020304" pitchFamily="18" charset="0"/>
                <a:cs typeface="Times New Roman" panose="02020603050405020304" pitchFamily="18" charset="0"/>
              </a:rPr>
              <a:t>layer</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address</a:t>
            </a:r>
            <a:r>
              <a:rPr lang="en-US" sz="2400" dirty="0">
                <a:latin typeface="Times New Roman" panose="02020603050405020304" pitchFamily="18" charset="0"/>
                <a:cs typeface="Times New Roman" panose="02020603050405020304" pitchFamily="18" charset="0"/>
              </a:rPr>
              <a:t> used in that layer, and the </a:t>
            </a:r>
            <a:r>
              <a:rPr lang="en-US" sz="2400" b="1" dirty="0">
                <a:latin typeface="Times New Roman" panose="02020603050405020304" pitchFamily="18" charset="0"/>
                <a:cs typeface="Times New Roman" panose="02020603050405020304" pitchFamily="18" charset="0"/>
              </a:rPr>
              <a:t>packet name </a:t>
            </a:r>
            <a:r>
              <a:rPr lang="en-US" sz="2400" dirty="0">
                <a:latin typeface="Times New Roman" panose="02020603050405020304" pitchFamily="18" charset="0"/>
                <a:cs typeface="Times New Roman" panose="02020603050405020304" pitchFamily="18" charset="0"/>
              </a:rPr>
              <a:t>at that layer. </a:t>
            </a:r>
          </a:p>
          <a:p>
            <a:pPr algn="just">
              <a:buFont typeface="Wingdings" pitchFamily="2" charset="2"/>
              <a:buChar char="§"/>
              <a:defRPr/>
            </a:pPr>
            <a:endParaRPr lang="en-US" sz="2400" i="1" dirty="0">
              <a:effectLst>
                <a:outerShdw blurRad="38100" dist="38100" dir="2700000" algn="tl">
                  <a:srgbClr val="C0C0C0"/>
                </a:outerShdw>
              </a:effectLst>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 y="2057400"/>
            <a:ext cx="6400800" cy="43018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249705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152400" y="1164134"/>
            <a:ext cx="8763000" cy="4216539"/>
          </a:xfrm>
          <a:prstGeom prst="rect">
            <a:avLst/>
          </a:prstGeom>
          <a:noFill/>
          <a:ln w="9525">
            <a:noFill/>
            <a:miter lim="800000"/>
            <a:headEnd/>
            <a:tailEnd/>
          </a:ln>
        </p:spPr>
        <p:txBody>
          <a:bodyPr wrap="square">
            <a:spAutoFit/>
          </a:bodyPr>
          <a:lstStyle/>
          <a:p>
            <a:r>
              <a:rPr lang="en-US" sz="2600" b="1" dirty="0">
                <a:latin typeface="Times New Roman" pitchFamily="18" charset="0"/>
                <a:cs typeface="Times New Roman" pitchFamily="18" charset="0"/>
              </a:rPr>
              <a:t>Specific Address: </a:t>
            </a:r>
          </a:p>
          <a:p>
            <a:r>
              <a:rPr lang="en-US" sz="2600" dirty="0">
                <a:latin typeface="Times New Roman" pitchFamily="18" charset="0"/>
                <a:cs typeface="Times New Roman" pitchFamily="18" charset="0"/>
              </a:rPr>
              <a:t>Some applications have user-friendly addresses that are designed for that specific address.</a:t>
            </a:r>
          </a:p>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At the application layer, we normally use names (Specific address) to define the site that provides services, such as </a:t>
            </a:r>
            <a:r>
              <a:rPr lang="en-US" sz="2800" i="1" dirty="0">
                <a:latin typeface="Times New Roman" panose="02020603050405020304" pitchFamily="18" charset="0"/>
                <a:cs typeface="Times New Roman" panose="02020603050405020304" pitchFamily="18" charset="0"/>
              </a:rPr>
              <a:t>someorg.com</a:t>
            </a:r>
            <a:r>
              <a:rPr lang="en-US" sz="2800" dirty="0">
                <a:latin typeface="Times New Roman" panose="02020603050405020304" pitchFamily="18" charset="0"/>
                <a:cs typeface="Times New Roman" panose="02020603050405020304" pitchFamily="18" charset="0"/>
              </a:rPr>
              <a:t>, or the e-mail address, such as </a:t>
            </a:r>
            <a:r>
              <a:rPr lang="en-US" sz="2800" i="1" dirty="0">
                <a:latin typeface="Times New Roman" panose="02020603050405020304" pitchFamily="18" charset="0"/>
                <a:cs typeface="Times New Roman" panose="02020603050405020304" pitchFamily="18" charset="0"/>
              </a:rPr>
              <a:t>somebody@coldmail.com.</a:t>
            </a:r>
            <a:endParaRPr lang="en-US" sz="2800" dirty="0">
              <a:latin typeface="Times New Roman" panose="02020603050405020304" pitchFamily="18" charset="0"/>
              <a:cs typeface="Times New Roman" panose="02020603050405020304" pitchFamily="18" charset="0"/>
            </a:endParaRPr>
          </a:p>
          <a:p>
            <a:endParaRPr lang="en-US" sz="2600" dirty="0">
              <a:latin typeface="Times New Roman" pitchFamily="18" charset="0"/>
              <a:cs typeface="Times New Roman" pitchFamily="18" charset="0"/>
            </a:endParaRPr>
          </a:p>
          <a:p>
            <a:r>
              <a:rPr lang="en-US" sz="2600" dirty="0">
                <a:latin typeface="Times New Roman" pitchFamily="18" charset="0"/>
                <a:cs typeface="Times New Roman" pitchFamily="18" charset="0"/>
              </a:rPr>
              <a:t>These addresses, however, get changed to the corresponding port and logical addresses by the sending computer.</a:t>
            </a:r>
            <a:endParaRPr lang="en-US" sz="2600" b="0" dirty="0">
              <a:latin typeface="Times New Roman" pitchFamily="18" charset="0"/>
              <a:cs typeface="Times New Roman" pitchFamily="18" charset="0"/>
            </a:endParaRPr>
          </a:p>
        </p:txBody>
      </p:sp>
      <p:sp>
        <p:nvSpPr>
          <p:cNvPr id="4" name="Text Box 3"/>
          <p:cNvSpPr txBox="1">
            <a:spLocks noChangeArrowheads="1"/>
          </p:cNvSpPr>
          <p:nvPr/>
        </p:nvSpPr>
        <p:spPr bwMode="auto">
          <a:xfrm>
            <a:off x="228600" y="76200"/>
            <a:ext cx="7848600" cy="646331"/>
          </a:xfrm>
          <a:prstGeom prst="rect">
            <a:avLst/>
          </a:prstGeom>
          <a:noFill/>
          <a:ln w="9525">
            <a:noFill/>
            <a:miter lim="800000"/>
            <a:headEnd/>
            <a:tailEnd/>
          </a:ln>
          <a:effectLst/>
        </p:spPr>
        <p:txBody>
          <a:bodyPr wrap="square">
            <a:spAutoFit/>
          </a:bodyPr>
          <a:lstStyle/>
          <a:p>
            <a:pPr algn="ctr">
              <a:defRPr/>
            </a:pPr>
            <a:r>
              <a:rPr lang="en-US" sz="3600" dirty="0">
                <a:effectLst>
                  <a:outerShdw blurRad="38100" dist="38100" dir="2700000" algn="tl">
                    <a:srgbClr val="C0C0C0"/>
                  </a:outerShdw>
                </a:effectLst>
                <a:latin typeface="Times New Roman" pitchFamily="18" charset="0"/>
                <a:cs typeface="Times New Roman" pitchFamily="18" charset="0"/>
              </a:rPr>
              <a:t>1-SPECIFIC ADDRESSING</a:t>
            </a:r>
          </a:p>
        </p:txBody>
      </p:sp>
    </p:spTree>
    <p:extLst>
      <p:ext uri="{BB962C8B-B14F-4D97-AF65-F5344CB8AC3E}">
        <p14:creationId xmlns:p14="http://schemas.microsoft.com/office/powerpoint/2010/main" val="1347541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318655" y="914400"/>
            <a:ext cx="8382000" cy="3785652"/>
          </a:xfrm>
          <a:prstGeom prst="rect">
            <a:avLst/>
          </a:prstGeom>
          <a:noFill/>
          <a:ln w="9525">
            <a:noFill/>
            <a:miter lim="800000"/>
            <a:headEnd/>
            <a:tailEnd/>
          </a:ln>
        </p:spPr>
        <p:txBody>
          <a:bodyPr wrap="square">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Transport layers addresses are called </a:t>
            </a:r>
            <a:r>
              <a:rPr lang="en-US" sz="2400" b="1" dirty="0">
                <a:latin typeface="Times New Roman" panose="02020603050405020304" pitchFamily="18" charset="0"/>
                <a:cs typeface="Times New Roman" panose="02020603050405020304" pitchFamily="18" charset="0"/>
              </a:rPr>
              <a:t>port numbers</a:t>
            </a:r>
            <a:r>
              <a:rPr lang="en-US" sz="2400" dirty="0">
                <a:latin typeface="Times New Roman" panose="02020603050405020304" pitchFamily="18" charset="0"/>
                <a:cs typeface="Times New Roman" panose="02020603050405020304" pitchFamily="18" charset="0"/>
              </a:rPr>
              <a:t>, and </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Port numbers are local addresses that distinguish between several programs running at the same time. </a:t>
            </a:r>
          </a:p>
          <a:p>
            <a:pPr marL="457200" indent="-457200">
              <a:buFont typeface="Wingdings" panose="05000000000000000000" pitchFamily="2" charset="2"/>
              <a:buChar char="Ø"/>
            </a:pPr>
            <a:r>
              <a:rPr lang="en-US" sz="2800" b="0" dirty="0">
                <a:latin typeface="Times New Roman" pitchFamily="18" charset="0"/>
                <a:cs typeface="Times New Roman" pitchFamily="18" charset="0"/>
              </a:rPr>
              <a:t>Each application runs with a port no.(logically) on the computer. </a:t>
            </a:r>
          </a:p>
          <a:p>
            <a:pPr marL="457200" indent="-457200">
              <a:buFont typeface="Wingdings" panose="05000000000000000000" pitchFamily="2" charset="2"/>
              <a:buChar char="Ø"/>
            </a:pPr>
            <a:r>
              <a:rPr lang="en-US" sz="2800" b="0" dirty="0">
                <a:latin typeface="Times New Roman" pitchFamily="18" charset="0"/>
                <a:cs typeface="Times New Roman" pitchFamily="18" charset="0"/>
              </a:rPr>
              <a:t>This port no. for application is decided by the Kernel of the OS. </a:t>
            </a:r>
          </a:p>
          <a:p>
            <a:pPr marL="457200" indent="-457200">
              <a:buFont typeface="Wingdings" panose="05000000000000000000" pitchFamily="2" charset="2"/>
              <a:buChar char="Ø"/>
            </a:pPr>
            <a:r>
              <a:rPr lang="en-US" sz="2800" b="0" dirty="0">
                <a:latin typeface="Times New Roman" pitchFamily="18" charset="0"/>
                <a:cs typeface="Times New Roman" pitchFamily="18" charset="0"/>
              </a:rPr>
              <a:t>This port no. is called port address (</a:t>
            </a:r>
            <a:r>
              <a:rPr lang="en-US" sz="2800" b="1" dirty="0">
                <a:latin typeface="Times New Roman" pitchFamily="18" charset="0"/>
                <a:cs typeface="Times New Roman" pitchFamily="18" charset="0"/>
              </a:rPr>
              <a:t>address at transport layer</a:t>
            </a:r>
            <a:r>
              <a:rPr lang="en-US" sz="2800" b="0" dirty="0">
                <a:latin typeface="Times New Roman" pitchFamily="18" charset="0"/>
                <a:cs typeface="Times New Roman" pitchFamily="18" charset="0"/>
              </a:rPr>
              <a:t>).</a:t>
            </a:r>
          </a:p>
        </p:txBody>
      </p:sp>
      <p:sp>
        <p:nvSpPr>
          <p:cNvPr id="4" name="Rectangle 13"/>
          <p:cNvSpPr>
            <a:spLocks noChangeArrowheads="1"/>
          </p:cNvSpPr>
          <p:nvPr/>
        </p:nvSpPr>
        <p:spPr bwMode="auto">
          <a:xfrm>
            <a:off x="346364" y="4876800"/>
            <a:ext cx="8534400" cy="830997"/>
          </a:xfrm>
          <a:prstGeom prst="rect">
            <a:avLst/>
          </a:prstGeom>
          <a:noFill/>
          <a:ln w="9525">
            <a:noFill/>
            <a:miter lim="800000"/>
            <a:headEnd/>
            <a:tailEnd/>
          </a:ln>
        </p:spPr>
        <p:txBody>
          <a:bodyPr>
            <a:spAutoFit/>
          </a:bodyPr>
          <a:lstStyle/>
          <a:p>
            <a:pPr algn="just"/>
            <a:r>
              <a:rPr lang="en-US" sz="2400" b="1" i="1" dirty="0"/>
              <a:t>A port address is a 16-bit address represented by one single decimal number like </a:t>
            </a:r>
            <a:r>
              <a:rPr lang="en-US" sz="2400" b="1" dirty="0">
                <a:solidFill>
                  <a:schemeClr val="folHlink"/>
                </a:solidFill>
              </a:rPr>
              <a:t>753</a:t>
            </a:r>
            <a:endParaRPr lang="en-US" sz="2400" b="1" i="1" dirty="0"/>
          </a:p>
        </p:txBody>
      </p:sp>
      <p:sp>
        <p:nvSpPr>
          <p:cNvPr id="6" name="Text Box 3"/>
          <p:cNvSpPr txBox="1">
            <a:spLocks noChangeArrowheads="1"/>
          </p:cNvSpPr>
          <p:nvPr/>
        </p:nvSpPr>
        <p:spPr bwMode="auto">
          <a:xfrm>
            <a:off x="228600" y="76200"/>
            <a:ext cx="7848600" cy="646331"/>
          </a:xfrm>
          <a:prstGeom prst="rect">
            <a:avLst/>
          </a:prstGeom>
          <a:noFill/>
          <a:ln w="9525">
            <a:noFill/>
            <a:miter lim="800000"/>
            <a:headEnd/>
            <a:tailEnd/>
          </a:ln>
          <a:effectLst/>
        </p:spPr>
        <p:txBody>
          <a:bodyPr wrap="square">
            <a:spAutoFit/>
          </a:bodyPr>
          <a:lstStyle/>
          <a:p>
            <a:pPr algn="ctr">
              <a:defRPr/>
            </a:pPr>
            <a:r>
              <a:rPr lang="en-US" sz="3600" dirty="0">
                <a:effectLst>
                  <a:outerShdw blurRad="38100" dist="38100" dir="2700000" algn="tl">
                    <a:srgbClr val="C0C0C0"/>
                  </a:outerShdw>
                </a:effectLst>
                <a:latin typeface="Times New Roman" pitchFamily="18" charset="0"/>
                <a:cs typeface="Times New Roman" pitchFamily="18" charset="0"/>
              </a:rPr>
              <a:t>2-TRANSPORT LAYER ADDRESSING</a:t>
            </a:r>
          </a:p>
        </p:txBody>
      </p:sp>
    </p:spTree>
    <p:extLst>
      <p:ext uri="{BB962C8B-B14F-4D97-AF65-F5344CB8AC3E}">
        <p14:creationId xmlns:p14="http://schemas.microsoft.com/office/powerpoint/2010/main" val="34437876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3" name="Text Box 3"/>
          <p:cNvSpPr txBox="1">
            <a:spLocks noChangeArrowheads="1"/>
          </p:cNvSpPr>
          <p:nvPr/>
        </p:nvSpPr>
        <p:spPr bwMode="auto">
          <a:xfrm>
            <a:off x="228600" y="76200"/>
            <a:ext cx="7848600" cy="646331"/>
          </a:xfrm>
          <a:prstGeom prst="rect">
            <a:avLst/>
          </a:prstGeom>
          <a:noFill/>
          <a:ln w="9525">
            <a:noFill/>
            <a:miter lim="800000"/>
            <a:headEnd/>
            <a:tailEnd/>
          </a:ln>
          <a:effectLst/>
        </p:spPr>
        <p:txBody>
          <a:bodyPr wrap="square">
            <a:spAutoFit/>
          </a:bodyPr>
          <a:lstStyle/>
          <a:p>
            <a:pPr>
              <a:defRPr/>
            </a:pPr>
            <a:r>
              <a:rPr lang="en-US" sz="3600" dirty="0">
                <a:effectLst>
                  <a:outerShdw blurRad="38100" dist="38100" dir="2700000" algn="tl">
                    <a:srgbClr val="C0C0C0"/>
                  </a:outerShdw>
                </a:effectLst>
                <a:latin typeface="Times New Roman" pitchFamily="18" charset="0"/>
                <a:cs typeface="Times New Roman" pitchFamily="18" charset="0"/>
              </a:rPr>
              <a:t>3-LOGICAL ADDRESSING</a:t>
            </a:r>
          </a:p>
        </p:txBody>
      </p:sp>
      <p:sp>
        <p:nvSpPr>
          <p:cNvPr id="32773"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680965" name="Rectangle 5"/>
          <p:cNvSpPr>
            <a:spLocks noChangeArrowheads="1"/>
          </p:cNvSpPr>
          <p:nvPr/>
        </p:nvSpPr>
        <p:spPr bwMode="auto">
          <a:xfrm>
            <a:off x="228600" y="1512332"/>
            <a:ext cx="8915400" cy="3785652"/>
          </a:xfrm>
          <a:prstGeom prst="rect">
            <a:avLst/>
          </a:prstGeom>
          <a:noFill/>
          <a:ln w="9525">
            <a:noFill/>
            <a:miter lim="800000"/>
            <a:headEnd/>
            <a:tailEnd/>
          </a:ln>
          <a:effectLst/>
        </p:spPr>
        <p:txBody>
          <a:bodyPr wrap="square" anchor="ctr">
            <a:spAutoFit/>
          </a:bodyPr>
          <a:lstStyle/>
          <a:p>
            <a:r>
              <a:rPr lang="en-US" sz="2400" b="1" dirty="0">
                <a:latin typeface="Times New Roman" panose="02020603050405020304" pitchFamily="18" charset="0"/>
                <a:cs typeface="Times New Roman" panose="02020603050405020304" pitchFamily="18" charset="0"/>
              </a:rPr>
              <a:t>At the network-layer</a:t>
            </a:r>
            <a:r>
              <a:rPr lang="en-US" sz="2400" dirty="0">
                <a:latin typeface="Times New Roman" panose="02020603050405020304" pitchFamily="18" charset="0"/>
                <a:cs typeface="Times New Roman" panose="02020603050405020304" pitchFamily="18" charset="0"/>
              </a:rPr>
              <a:t>, the addresses are global, with the whole Internet as the scope. </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network-layer address uniquely defines the connection of a device to the Internet</a:t>
            </a:r>
          </a:p>
          <a:p>
            <a:pPr lvl="1"/>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Logical addresses are necessary for universal communications that are independent of underlying physical networks</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Physical addresses are not adequate in an internetwork environment where different networks can have different address formats. </a:t>
            </a:r>
          </a:p>
        </p:txBody>
      </p:sp>
    </p:spTree>
    <p:extLst>
      <p:ext uri="{BB962C8B-B14F-4D97-AF65-F5344CB8AC3E}">
        <p14:creationId xmlns:p14="http://schemas.microsoft.com/office/powerpoint/2010/main" val="39109117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3" name="Text Box 3"/>
          <p:cNvSpPr txBox="1">
            <a:spLocks noChangeArrowheads="1"/>
          </p:cNvSpPr>
          <p:nvPr/>
        </p:nvSpPr>
        <p:spPr bwMode="auto">
          <a:xfrm>
            <a:off x="228600" y="76200"/>
            <a:ext cx="7848600" cy="646331"/>
          </a:xfrm>
          <a:prstGeom prst="rect">
            <a:avLst/>
          </a:prstGeom>
          <a:noFill/>
          <a:ln w="9525">
            <a:noFill/>
            <a:miter lim="800000"/>
            <a:headEnd/>
            <a:tailEnd/>
          </a:ln>
          <a:effectLst/>
        </p:spPr>
        <p:txBody>
          <a:bodyPr wrap="square">
            <a:spAutoFit/>
          </a:bodyPr>
          <a:lstStyle/>
          <a:p>
            <a:pPr>
              <a:defRPr/>
            </a:pPr>
            <a:r>
              <a:rPr lang="en-US" sz="3600" dirty="0">
                <a:effectLst>
                  <a:outerShdw blurRad="38100" dist="38100" dir="2700000" algn="tl">
                    <a:srgbClr val="C0C0C0"/>
                  </a:outerShdw>
                </a:effectLst>
                <a:latin typeface="Times New Roman" pitchFamily="18" charset="0"/>
                <a:cs typeface="Times New Roman" pitchFamily="18" charset="0"/>
              </a:rPr>
              <a:t>3-LOGICAL ADDRESSING</a:t>
            </a:r>
          </a:p>
        </p:txBody>
      </p:sp>
      <p:sp>
        <p:nvSpPr>
          <p:cNvPr id="32773"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680965" name="Rectangle 5"/>
          <p:cNvSpPr>
            <a:spLocks noChangeArrowheads="1"/>
          </p:cNvSpPr>
          <p:nvPr/>
        </p:nvSpPr>
        <p:spPr bwMode="auto">
          <a:xfrm>
            <a:off x="228600" y="1696998"/>
            <a:ext cx="8185150" cy="3416320"/>
          </a:xfrm>
          <a:prstGeom prst="rect">
            <a:avLst/>
          </a:prstGeom>
          <a:noFill/>
          <a:ln w="9525">
            <a:noFill/>
            <a:miter lim="800000"/>
            <a:headEnd/>
            <a:tailEnd/>
          </a:ln>
          <a:effectLst/>
        </p:spPr>
        <p:txBody>
          <a:bodyPr wrap="square" anchor="ctr">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universal addressing system is needed </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which each host can be identified uniquely, regardless of the underlying physical network.</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logical addresses are designed for this purpose.</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logical address in the Internet is currently a </a:t>
            </a:r>
            <a:r>
              <a:rPr lang="en-US" sz="2400" b="1" dirty="0">
                <a:latin typeface="Times New Roman" panose="02020603050405020304" pitchFamily="18" charset="0"/>
                <a:cs typeface="Times New Roman" panose="02020603050405020304" pitchFamily="18" charset="0"/>
              </a:rPr>
              <a:t>32-bit address (IPv4)</a:t>
            </a:r>
            <a:r>
              <a:rPr lang="en-US" sz="2400" dirty="0">
                <a:latin typeface="Times New Roman" panose="02020603050405020304" pitchFamily="18" charset="0"/>
                <a:cs typeface="Times New Roman" panose="02020603050405020304" pitchFamily="18" charset="0"/>
              </a:rPr>
              <a:t> that can uniquely define a host connected to the Internet. </a:t>
            </a:r>
            <a:endParaRPr lang="en-US" sz="2400" i="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06842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3" name="Text Box 3"/>
          <p:cNvSpPr txBox="1">
            <a:spLocks noChangeArrowheads="1"/>
          </p:cNvSpPr>
          <p:nvPr/>
        </p:nvSpPr>
        <p:spPr bwMode="auto">
          <a:xfrm>
            <a:off x="228600" y="76200"/>
            <a:ext cx="7848600" cy="646331"/>
          </a:xfrm>
          <a:prstGeom prst="rect">
            <a:avLst/>
          </a:prstGeom>
          <a:noFill/>
          <a:ln w="9525">
            <a:noFill/>
            <a:miter lim="800000"/>
            <a:headEnd/>
            <a:tailEnd/>
          </a:ln>
          <a:effectLst/>
        </p:spPr>
        <p:txBody>
          <a:bodyPr wrap="square">
            <a:spAutoFit/>
          </a:bodyPr>
          <a:lstStyle/>
          <a:p>
            <a:pPr algn="ctr">
              <a:defRPr/>
            </a:pPr>
            <a:r>
              <a:rPr lang="en-US" sz="3600" dirty="0">
                <a:effectLst>
                  <a:outerShdw blurRad="38100" dist="38100" dir="2700000" algn="tl">
                    <a:srgbClr val="C0C0C0"/>
                  </a:outerShdw>
                </a:effectLst>
                <a:latin typeface="Times New Roman" pitchFamily="18" charset="0"/>
                <a:cs typeface="Times New Roman" pitchFamily="18" charset="0"/>
              </a:rPr>
              <a:t>4-PHYSICAL ADDRESSING</a:t>
            </a:r>
          </a:p>
        </p:txBody>
      </p:sp>
      <p:sp>
        <p:nvSpPr>
          <p:cNvPr id="32773"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680965" name="Rectangle 5"/>
          <p:cNvSpPr>
            <a:spLocks noChangeArrowheads="1"/>
          </p:cNvSpPr>
          <p:nvPr/>
        </p:nvSpPr>
        <p:spPr bwMode="auto">
          <a:xfrm>
            <a:off x="263236" y="1494544"/>
            <a:ext cx="8534400" cy="4524315"/>
          </a:xfrm>
          <a:prstGeom prst="rect">
            <a:avLst/>
          </a:prstGeom>
          <a:noFill/>
          <a:ln w="9525">
            <a:noFill/>
            <a:miter lim="800000"/>
            <a:headEnd/>
            <a:tailEnd/>
          </a:ln>
          <a:effectLst/>
        </p:spPr>
        <p:txBody>
          <a:bodyPr wrap="square" anchor="ctr">
            <a:spAutoFit/>
          </a:bodyPr>
          <a:lstStyle/>
          <a:p>
            <a:r>
              <a:rPr lang="en-US" sz="2400" b="1" i="1" dirty="0">
                <a:effectLst>
                  <a:outerShdw blurRad="38100" dist="38100" dir="2700000" algn="tl">
                    <a:srgbClr val="C0C0C0"/>
                  </a:outerShdw>
                </a:effectLst>
                <a:latin typeface="Times New Roman" panose="02020603050405020304" pitchFamily="18" charset="0"/>
                <a:cs typeface="Times New Roman" panose="02020603050405020304" pitchFamily="18" charset="0"/>
              </a:rPr>
              <a:t>Physical Address (</a:t>
            </a:r>
            <a:r>
              <a:rPr lang="en-US" sz="2400" dirty="0">
                <a:latin typeface="Times New Roman" panose="02020603050405020304" pitchFamily="18" charset="0"/>
                <a:cs typeface="Times New Roman" panose="02020603050405020304" pitchFamily="18" charset="0"/>
              </a:rPr>
              <a:t>also known as the link address /MAC address)</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is the address of a node as defined by its LAN or WAN</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is included in the frame used by the data link layer</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is the lowest-level address </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size and format of these addresses vary depending on the network. </a:t>
            </a:r>
          </a:p>
          <a:p>
            <a:pPr marL="800100" lvl="1"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For example, Ethernet uses a 6-byte (48-bit) physical address that is imprinted on the network interface card (NIC)</a:t>
            </a:r>
          </a:p>
          <a:p>
            <a:pPr marL="914400" lvl="1" indent="-457200">
              <a:buFont typeface="Wingdings" panose="05000000000000000000" pitchFamily="2" charset="2"/>
              <a:buChar char="Ø"/>
            </a:pPr>
            <a:r>
              <a:rPr lang="en-US" sz="2400" i="1" dirty="0">
                <a:latin typeface="Times New Roman" panose="02020603050405020304" pitchFamily="18" charset="0"/>
                <a:cs typeface="Times New Roman" panose="02020603050405020304" pitchFamily="18" charset="0"/>
              </a:rPr>
              <a:t>written as 12 hexadecimal digits;  </a:t>
            </a:r>
          </a:p>
          <a:p>
            <a:pPr marL="914400" lvl="1" indent="-457200">
              <a:buFont typeface="Wingdings" panose="05000000000000000000" pitchFamily="2" charset="2"/>
              <a:buChar char="Ø"/>
            </a:pPr>
            <a:r>
              <a:rPr lang="en-US" sz="2400" i="1" dirty="0">
                <a:latin typeface="Times New Roman" panose="02020603050405020304" pitchFamily="18" charset="0"/>
                <a:cs typeface="Times New Roman" panose="02020603050405020304" pitchFamily="18" charset="0"/>
              </a:rPr>
              <a:t>every byte (2 hexadecimal digits) is separated by a colon: </a:t>
            </a:r>
            <a:r>
              <a:rPr lang="en-US" sz="2400" dirty="0">
                <a:solidFill>
                  <a:schemeClr val="folHlink"/>
                </a:solidFill>
                <a:latin typeface="Times New Roman" panose="02020603050405020304" pitchFamily="18" charset="0"/>
                <a:cs typeface="Times New Roman" panose="02020603050405020304" pitchFamily="18" charset="0"/>
              </a:rPr>
              <a:t>07:01:02:01:2C:4B</a:t>
            </a:r>
          </a:p>
          <a:p>
            <a:pPr marL="800100" lvl="1" indent="-342900">
              <a:buFont typeface="Wingdings" panose="05000000000000000000" pitchFamily="2" charset="2"/>
              <a:buChar char="Ø"/>
            </a:pPr>
            <a:endParaRPr lang="en-US" sz="2400" i="1" dirty="0">
              <a:effectLst>
                <a:outerShdw blurRad="38100" dist="38100" dir="2700000" algn="tl">
                  <a:srgbClr val="C0C0C0"/>
                </a:outerShdw>
              </a:effectLst>
            </a:endParaRPr>
          </a:p>
        </p:txBody>
      </p:sp>
    </p:spTree>
    <p:extLst>
      <p:ext uri="{BB962C8B-B14F-4D97-AF65-F5344CB8AC3E}">
        <p14:creationId xmlns:p14="http://schemas.microsoft.com/office/powerpoint/2010/main" val="12350229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9" name="Rectangle 10"/>
          <p:cNvSpPr>
            <a:spLocks noChangeArrowheads="1"/>
          </p:cNvSpPr>
          <p:nvPr/>
        </p:nvSpPr>
        <p:spPr bwMode="auto">
          <a:xfrm>
            <a:off x="152400" y="1447800"/>
            <a:ext cx="8839200" cy="3810000"/>
          </a:xfrm>
          <a:prstGeom prst="rect">
            <a:avLst/>
          </a:prstGeom>
          <a:noFill/>
          <a:ln w="28575">
            <a:noFill/>
            <a:miter lim="800000"/>
            <a:headEnd/>
            <a:tailEnd/>
          </a:ln>
        </p:spPr>
        <p:txBody>
          <a:bodyPr wrap="none" anchor="ctr"/>
          <a:lstStyle/>
          <a:p>
            <a:endParaRPr lang="en-US"/>
          </a:p>
        </p:txBody>
      </p:sp>
      <p:sp>
        <p:nvSpPr>
          <p:cNvPr id="35850" name="Rectangle 11"/>
          <p:cNvSpPr>
            <a:spLocks noChangeArrowheads="1"/>
          </p:cNvSpPr>
          <p:nvPr/>
        </p:nvSpPr>
        <p:spPr bwMode="auto">
          <a:xfrm>
            <a:off x="228600" y="1447800"/>
            <a:ext cx="8534400" cy="1938992"/>
          </a:xfrm>
          <a:prstGeom prst="rect">
            <a:avLst/>
          </a:prstGeom>
          <a:noFill/>
          <a:ln w="9525">
            <a:noFill/>
            <a:miter lim="800000"/>
            <a:headEnd/>
            <a:tailEnd/>
          </a:ln>
        </p:spPr>
        <p:txBody>
          <a:bodyPr>
            <a:spAutoFit/>
          </a:bodyPr>
          <a:lstStyle/>
          <a:p>
            <a:pPr algn="just"/>
            <a:r>
              <a:rPr lang="en-US" sz="2400" b="1" dirty="0">
                <a:latin typeface="Times New Roman" pitchFamily="18" charset="0"/>
                <a:cs typeface="Times New Roman" pitchFamily="18" charset="0"/>
              </a:rPr>
              <a:t>a node with physical address 10 sends a frame to a node with physical address 87. The two nodes are connected by a link (bus topology LAN). As the figure shows, the computer with physical address </a:t>
            </a:r>
            <a:r>
              <a:rPr lang="en-US" sz="2400" b="1" dirty="0">
                <a:solidFill>
                  <a:schemeClr val="hlink"/>
                </a:solidFill>
                <a:latin typeface="Times New Roman" pitchFamily="18" charset="0"/>
                <a:cs typeface="Times New Roman" pitchFamily="18" charset="0"/>
              </a:rPr>
              <a:t>10</a:t>
            </a:r>
            <a:r>
              <a:rPr lang="en-US" sz="2400" b="1" dirty="0">
                <a:latin typeface="Times New Roman" pitchFamily="18" charset="0"/>
                <a:cs typeface="Times New Roman" pitchFamily="18" charset="0"/>
              </a:rPr>
              <a:t> is the sender, and the computer with physical address </a:t>
            </a:r>
            <a:r>
              <a:rPr lang="en-US" sz="2400" b="1" dirty="0">
                <a:solidFill>
                  <a:schemeClr val="hlink"/>
                </a:solidFill>
                <a:latin typeface="Times New Roman" pitchFamily="18" charset="0"/>
                <a:cs typeface="Times New Roman" pitchFamily="18" charset="0"/>
              </a:rPr>
              <a:t>87</a:t>
            </a:r>
            <a:r>
              <a:rPr lang="en-US" sz="2400" b="1" dirty="0">
                <a:latin typeface="Times New Roman" pitchFamily="18" charset="0"/>
                <a:cs typeface="Times New Roman" pitchFamily="18" charset="0"/>
              </a:rPr>
              <a:t> is the receiver.</a:t>
            </a:r>
          </a:p>
        </p:txBody>
      </p:sp>
      <p:sp>
        <p:nvSpPr>
          <p:cNvPr id="35851" name="Text Box 13"/>
          <p:cNvSpPr txBox="1">
            <a:spLocks noChangeArrowheads="1"/>
          </p:cNvSpPr>
          <p:nvPr/>
        </p:nvSpPr>
        <p:spPr bwMode="auto">
          <a:xfrm>
            <a:off x="1143000" y="182563"/>
            <a:ext cx="4572000" cy="646331"/>
          </a:xfrm>
          <a:prstGeom prst="rect">
            <a:avLst/>
          </a:prstGeom>
          <a:noFill/>
          <a:ln w="9525">
            <a:noFill/>
            <a:miter lim="800000"/>
            <a:headEnd/>
            <a:tailEnd/>
          </a:ln>
        </p:spPr>
        <p:txBody>
          <a:bodyPr wrap="square">
            <a:spAutoFit/>
          </a:bodyPr>
          <a:lstStyle/>
          <a:p>
            <a:pPr algn="ctr"/>
            <a:r>
              <a:rPr lang="en-US" sz="3600" b="1" dirty="0">
                <a:latin typeface="Times New Roman" pitchFamily="18" charset="0"/>
                <a:cs typeface="Times New Roman" pitchFamily="18" charset="0"/>
              </a:rPr>
              <a:t>Example 1</a:t>
            </a:r>
          </a:p>
        </p:txBody>
      </p:sp>
      <p:pic>
        <p:nvPicPr>
          <p:cNvPr id="14" name="Picture 6"/>
          <p:cNvPicPr>
            <a:picLocks noChangeAspect="1" noChangeArrowheads="1"/>
          </p:cNvPicPr>
          <p:nvPr/>
        </p:nvPicPr>
        <p:blipFill>
          <a:blip r:embed="rId3" cstate="print"/>
          <a:srcRect/>
          <a:stretch>
            <a:fillRect/>
          </a:stretch>
        </p:blipFill>
        <p:spPr bwMode="auto">
          <a:xfrm>
            <a:off x="457200" y="4114800"/>
            <a:ext cx="8053387" cy="2008187"/>
          </a:xfrm>
          <a:prstGeom prst="rect">
            <a:avLst/>
          </a:prstGeom>
          <a:noFill/>
          <a:ln w="9525">
            <a:noFill/>
            <a:miter lim="800000"/>
            <a:headEnd/>
            <a:tailEnd/>
          </a:ln>
        </p:spPr>
      </p:pic>
    </p:spTree>
    <p:extLst>
      <p:ext uri="{BB962C8B-B14F-4D97-AF65-F5344CB8AC3E}">
        <p14:creationId xmlns:p14="http://schemas.microsoft.com/office/powerpoint/2010/main" val="3716418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5" name="Text Box 3"/>
          <p:cNvSpPr txBox="1">
            <a:spLocks noChangeArrowheads="1"/>
          </p:cNvSpPr>
          <p:nvPr/>
        </p:nvSpPr>
        <p:spPr bwMode="auto">
          <a:xfrm>
            <a:off x="228600" y="76200"/>
            <a:ext cx="8579593" cy="584775"/>
          </a:xfrm>
          <a:prstGeom prst="rect">
            <a:avLst/>
          </a:prstGeom>
          <a:noFill/>
          <a:ln w="9525">
            <a:noFill/>
            <a:miter lim="800000"/>
            <a:headEnd/>
            <a:tailEnd/>
          </a:ln>
          <a:effectLst/>
        </p:spPr>
        <p:txBody>
          <a:bodyPr wrap="none">
            <a:spAutoFit/>
          </a:bodyPr>
          <a:lstStyle/>
          <a:p>
            <a:pPr>
              <a:defRPr/>
            </a:pPr>
            <a:r>
              <a:rPr lang="en-US" sz="3200" b="1" dirty="0">
                <a:latin typeface="Times" pitchFamily="18" charset="0"/>
              </a:rPr>
              <a:t>Multiplexing and De-multiplexing (Book2:2.2.6)</a:t>
            </a:r>
          </a:p>
        </p:txBody>
      </p:sp>
      <p:sp>
        <p:nvSpPr>
          <p:cNvPr id="11269" name="Text Box 4"/>
          <p:cNvSpPr txBox="1">
            <a:spLocks noChangeArrowheads="1"/>
          </p:cNvSpPr>
          <p:nvPr/>
        </p:nvSpPr>
        <p:spPr bwMode="auto">
          <a:xfrm>
            <a:off x="8229600" y="6400800"/>
            <a:ext cx="184150" cy="366713"/>
          </a:xfrm>
          <a:prstGeom prst="rect">
            <a:avLst/>
          </a:prstGeom>
          <a:noFill/>
          <a:ln w="9525">
            <a:noFill/>
            <a:miter lim="800000"/>
            <a:headEnd/>
            <a:tailEnd/>
          </a:ln>
        </p:spPr>
        <p:txBody>
          <a:bodyPr wrap="none">
            <a:spAutoFit/>
          </a:bodyPr>
          <a:lstStyle/>
          <a:p>
            <a:endParaRPr lang="en-US"/>
          </a:p>
        </p:txBody>
      </p:sp>
      <p:sp>
        <p:nvSpPr>
          <p:cNvPr id="10" name="Rectangle 11"/>
          <p:cNvSpPr>
            <a:spLocks noChangeArrowheads="1"/>
          </p:cNvSpPr>
          <p:nvPr/>
        </p:nvSpPr>
        <p:spPr bwMode="auto">
          <a:xfrm>
            <a:off x="228600" y="824345"/>
            <a:ext cx="8763000" cy="1569660"/>
          </a:xfrm>
          <a:prstGeom prst="rect">
            <a:avLst/>
          </a:prstGeom>
          <a:noFill/>
          <a:ln w="76200" algn="ctr">
            <a:noFill/>
            <a:miter lim="800000"/>
            <a:headEnd/>
            <a:tailEnd/>
          </a:ln>
        </p:spPr>
        <p:txBody>
          <a:bodyPr wrap="square">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Multiplexing</a:t>
            </a:r>
            <a:r>
              <a:rPr lang="en-US" sz="2400" dirty="0">
                <a:latin typeface="Times New Roman" panose="02020603050405020304" pitchFamily="18" charset="0"/>
                <a:cs typeface="Times New Roman" panose="02020603050405020304" pitchFamily="18" charset="0"/>
              </a:rPr>
              <a:t> means that a protocol at a layer can encapsulate a packet from several next-higher layer protocols (one at a time);</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De-multiplexing</a:t>
            </a:r>
            <a:r>
              <a:rPr lang="en-US" sz="2400" dirty="0">
                <a:latin typeface="Times New Roman" panose="02020603050405020304" pitchFamily="18" charset="0"/>
                <a:cs typeface="Times New Roman" panose="02020603050405020304" pitchFamily="18" charset="0"/>
              </a:rPr>
              <a:t> means that a protocol can de-capsulate and</a:t>
            </a:r>
          </a:p>
          <a:p>
            <a:r>
              <a:rPr lang="en-US" sz="2400" dirty="0">
                <a:latin typeface="Times New Roman" panose="02020603050405020304" pitchFamily="18" charset="0"/>
                <a:cs typeface="Times New Roman" panose="02020603050405020304" pitchFamily="18" charset="0"/>
              </a:rPr>
              <a:t>deliver a packet to several next-higher layer protocols</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571750"/>
            <a:ext cx="7315200" cy="3524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78225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fade">
                                      <p:cBhvr>
                                        <p:cTn id="14" dur="1000"/>
                                        <p:tgtEl>
                                          <p:spTgt spid="10">
                                            <p:txEl>
                                              <p:pRg st="1" end="1"/>
                                            </p:txEl>
                                          </p:spTgt>
                                        </p:tgtEl>
                                      </p:cBhvr>
                                    </p:animEffect>
                                    <p:anim calcmode="lin" valueType="num">
                                      <p:cBhvr>
                                        <p:cTn id="15"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animEffect transition="in" filter="fade">
                                      <p:cBhvr>
                                        <p:cTn id="21" dur="1000"/>
                                        <p:tgtEl>
                                          <p:spTgt spid="10">
                                            <p:txEl>
                                              <p:pRg st="2" end="2"/>
                                            </p:txEl>
                                          </p:spTgt>
                                        </p:tgtEl>
                                      </p:cBhvr>
                                    </p:animEffect>
                                    <p:anim calcmode="lin" valueType="num">
                                      <p:cBhvr>
                                        <p:cTn id="22"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3095</TotalTime>
  <Words>2319</Words>
  <Application>Microsoft Office PowerPoint</Application>
  <PresentationFormat>On-screen Show (4:3)</PresentationFormat>
  <Paragraphs>261</Paragraphs>
  <Slides>39</Slides>
  <Notes>32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Arial</vt:lpstr>
      <vt:lpstr>Calibri</vt:lpstr>
      <vt:lpstr>Lucida Sans Unicode</vt:lpstr>
      <vt:lpstr>Times</vt:lpstr>
      <vt:lpstr>Times New Roman</vt:lpstr>
      <vt:lpstr>Verdana</vt:lpstr>
      <vt:lpstr>Wingdings</vt:lpstr>
      <vt:lpstr>Wingdings 2</vt:lpstr>
      <vt:lpstr>Wingdings 3</vt:lpstr>
      <vt:lpstr>Concourse</vt:lpstr>
      <vt:lpstr>PowerPoint Presentation</vt:lpstr>
      <vt:lpstr>PowerPoint Presentation</vt:lpstr>
      <vt:lpstr>PowerPoint Presentation</vt:lpstr>
      <vt:lpstr>PowerPoint Presentation</vt:lpstr>
      <vt:lpstr>PowerPoint Presentation</vt:lpstr>
      <vt:lpstr>Models of Layers (Book1: 2.1) </vt:lpstr>
      <vt:lpstr>PowerPoint Presentation</vt:lpstr>
      <vt:lpstr>Reference Models</vt:lpstr>
      <vt:lpstr>1-OSI Reference Model (Book1: 2.3)</vt:lpstr>
      <vt:lpstr>1-OSI Reference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Slides</dc:title>
  <dc:subject>CCN</dc:subject>
  <dc:creator>Arshad Ali</dc:creator>
  <dc:description>By Dr. Arshad Ali</dc:description>
  <cp:lastModifiedBy>Nadeem</cp:lastModifiedBy>
  <cp:revision>65</cp:revision>
  <cp:lastPrinted>2018-01-06T06:47:29Z</cp:lastPrinted>
  <dcterms:created xsi:type="dcterms:W3CDTF">2009-03-23T15:23:24Z</dcterms:created>
  <dcterms:modified xsi:type="dcterms:W3CDTF">2022-02-08T08:44:17Z</dcterms:modified>
</cp:coreProperties>
</file>
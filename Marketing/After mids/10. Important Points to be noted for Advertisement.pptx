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6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26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7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25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37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831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282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00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85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40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7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930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831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2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427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255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771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7ADA17B-0528-4365-ACD4-3EB0277A6D99}" type="datetimeFigureOut">
              <a:rPr lang="en-US" smtClean="0"/>
              <a:t>12/11/2023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E5C90F-736C-4270-9A2D-806F0B1D4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1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Advertisement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Important Points to Consider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135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70C0"/>
                </a:solidFill>
              </a:rPr>
              <a:t>Important points for video Ad Creation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Creating a successful video advertisement or campaign involves careful consideration of various factors to effectively convey your message and engage your target audience.</a:t>
            </a:r>
          </a:p>
        </p:txBody>
      </p:sp>
    </p:spTree>
    <p:extLst>
      <p:ext uri="{BB962C8B-B14F-4D97-AF65-F5344CB8AC3E}">
        <p14:creationId xmlns:p14="http://schemas.microsoft.com/office/powerpoint/2010/main" val="1331503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1. </a:t>
            </a:r>
            <a:r>
              <a:rPr lang="en-US" b="1" dirty="0">
                <a:solidFill>
                  <a:srgbClr val="0070C0"/>
                </a:solidFill>
              </a:rPr>
              <a:t>Define Your Goals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Clearly outline the objectives of your video campaign. Are you aiming to increase brand awareness, drive sales, or promote a specific product or service</a:t>
            </a:r>
            <a:r>
              <a:rPr lang="en-US" sz="4000" dirty="0" smtClean="0"/>
              <a:t>?</a:t>
            </a:r>
          </a:p>
          <a:p>
            <a:pPr marL="0" indent="0" algn="just">
              <a:buNone/>
            </a:pPr>
            <a:r>
              <a:rPr lang="en-US" sz="4600" dirty="0" smtClean="0">
                <a:solidFill>
                  <a:srgbClr val="FF0000"/>
                </a:solidFill>
              </a:rPr>
              <a:t>Example: Imagine </a:t>
            </a:r>
            <a:r>
              <a:rPr lang="en-US" sz="4600" dirty="0">
                <a:solidFill>
                  <a:srgbClr val="FF0000"/>
                </a:solidFill>
              </a:rPr>
              <a:t>you are promoting a new line of sustainable and eco-friendly clothing for a young and environmentally conscious audience.</a:t>
            </a:r>
            <a:endParaRPr lang="en-US" sz="51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-Goal</a:t>
            </a:r>
            <a:r>
              <a:rPr lang="en-US" sz="4000" dirty="0">
                <a:solidFill>
                  <a:srgbClr val="00B050"/>
                </a:solidFill>
              </a:rPr>
              <a:t>: Increase awareness and drive sales of the new sustainable clothing line.</a:t>
            </a:r>
          </a:p>
        </p:txBody>
      </p:sp>
    </p:spTree>
    <p:extLst>
      <p:ext uri="{BB962C8B-B14F-4D97-AF65-F5344CB8AC3E}">
        <p14:creationId xmlns:p14="http://schemas.microsoft.com/office/powerpoint/2010/main" val="316024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2. </a:t>
            </a:r>
            <a:r>
              <a:rPr lang="en-US" b="1" dirty="0">
                <a:solidFill>
                  <a:srgbClr val="0070C0"/>
                </a:solidFill>
              </a:rPr>
              <a:t>Know Your Target Audience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Understand the demographics, interests, and preferences of your target audience. Tailor your message to resonate with their needs and values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r>
              <a:rPr lang="en-US" sz="3600" dirty="0" smtClean="0">
                <a:solidFill>
                  <a:srgbClr val="00B050"/>
                </a:solidFill>
              </a:rPr>
              <a:t>-</a:t>
            </a:r>
            <a:r>
              <a:rPr lang="en-US" sz="2800" dirty="0" smtClean="0">
                <a:solidFill>
                  <a:srgbClr val="00B050"/>
                </a:solidFill>
              </a:rPr>
              <a:t>Target </a:t>
            </a:r>
            <a:r>
              <a:rPr lang="en-US" sz="2800" dirty="0">
                <a:solidFill>
                  <a:srgbClr val="00B050"/>
                </a:solidFill>
              </a:rPr>
              <a:t>Audience: </a:t>
            </a:r>
            <a:r>
              <a:rPr lang="en-US" sz="2800" dirty="0" err="1" smtClean="0">
                <a:solidFill>
                  <a:srgbClr val="00B050"/>
                </a:solidFill>
              </a:rPr>
              <a:t>Millennials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3600" dirty="0" smtClean="0">
                <a:solidFill>
                  <a:srgbClr val="00B050"/>
                </a:solidFill>
              </a:rPr>
              <a:t>(</a:t>
            </a:r>
            <a:r>
              <a:rPr lang="en-US" dirty="0" smtClean="0">
                <a:solidFill>
                  <a:srgbClr val="00B050"/>
                </a:solidFill>
              </a:rPr>
              <a:t>born early 1980s – mid 1990s</a:t>
            </a:r>
            <a:r>
              <a:rPr lang="en-US" sz="3600" dirty="0" smtClean="0">
                <a:solidFill>
                  <a:srgbClr val="00B050"/>
                </a:solidFill>
              </a:rPr>
              <a:t>) </a:t>
            </a:r>
            <a:r>
              <a:rPr lang="en-US" sz="2800" dirty="0">
                <a:solidFill>
                  <a:srgbClr val="00B050"/>
                </a:solidFill>
              </a:rPr>
              <a:t>and Gen </a:t>
            </a:r>
            <a:r>
              <a:rPr lang="en-US" sz="2800" dirty="0">
                <a:solidFill>
                  <a:srgbClr val="00B050"/>
                </a:solidFill>
              </a:rPr>
              <a:t>Z (born </a:t>
            </a:r>
            <a:r>
              <a:rPr lang="en-US" sz="2800" dirty="0" smtClean="0">
                <a:solidFill>
                  <a:srgbClr val="00B050"/>
                </a:solidFill>
              </a:rPr>
              <a:t>mid 1990s </a:t>
            </a:r>
            <a:r>
              <a:rPr lang="en-US" sz="2800" dirty="0">
                <a:solidFill>
                  <a:srgbClr val="00B050"/>
                </a:solidFill>
              </a:rPr>
              <a:t>– </a:t>
            </a:r>
            <a:r>
              <a:rPr lang="en-US" sz="2800" dirty="0" smtClean="0">
                <a:solidFill>
                  <a:srgbClr val="00B050"/>
                </a:solidFill>
              </a:rPr>
              <a:t>early 2010s</a:t>
            </a:r>
            <a:r>
              <a:rPr lang="en-US" sz="2800" dirty="0">
                <a:solidFill>
                  <a:srgbClr val="00B050"/>
                </a:solidFill>
              </a:rPr>
              <a:t>) </a:t>
            </a:r>
            <a:r>
              <a:rPr lang="en-US" sz="2800" dirty="0">
                <a:solidFill>
                  <a:srgbClr val="00B050"/>
                </a:solidFill>
              </a:rPr>
              <a:t>who are environmentally conscious and value sustainable fashion.</a:t>
            </a:r>
          </a:p>
        </p:txBody>
      </p:sp>
    </p:spTree>
    <p:extLst>
      <p:ext uri="{BB962C8B-B14F-4D97-AF65-F5344CB8AC3E}">
        <p14:creationId xmlns:p14="http://schemas.microsoft.com/office/powerpoint/2010/main" val="333088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3. </a:t>
            </a:r>
            <a:r>
              <a:rPr lang="en-US" b="1" dirty="0">
                <a:solidFill>
                  <a:srgbClr val="0070C0"/>
                </a:solidFill>
              </a:rPr>
              <a:t>Craft a Compelling Story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Develop a narrative that captivates your audience. A compelling story helps create an emotional connection, making your brand more memorable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</a:t>
            </a:r>
            <a:r>
              <a:rPr lang="en-US" sz="4000" dirty="0">
                <a:solidFill>
                  <a:srgbClr val="00B050"/>
                </a:solidFill>
              </a:rPr>
              <a:t>Story: Follow the journey of a young individual embracing a sustainable lifestyle and feeling empowered by wearing eco-friendly clothing.</a:t>
            </a:r>
          </a:p>
        </p:txBody>
      </p:sp>
    </p:spTree>
    <p:extLst>
      <p:ext uri="{BB962C8B-B14F-4D97-AF65-F5344CB8AC3E}">
        <p14:creationId xmlns:p14="http://schemas.microsoft.com/office/powerpoint/2010/main" val="9948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4. </a:t>
            </a:r>
            <a:r>
              <a:rPr lang="en-US" b="1" dirty="0">
                <a:solidFill>
                  <a:srgbClr val="0070C0"/>
                </a:solidFill>
              </a:rPr>
              <a:t>Focus on the First Few Seconds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4000" dirty="0"/>
              <a:t>Capture attention quickly. The first few seconds of your video are crucial, so make sure they are attention-grabbing to prevent viewers from scrolling past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</a:t>
            </a:r>
            <a:r>
              <a:rPr lang="en-US" sz="4000" dirty="0">
                <a:solidFill>
                  <a:srgbClr val="00B050"/>
                </a:solidFill>
              </a:rPr>
              <a:t>Opening Scene: Show a captivating image of the sustainable clothing line with text overlay, "Fashion that Cares."</a:t>
            </a:r>
          </a:p>
        </p:txBody>
      </p:sp>
    </p:spTree>
    <p:extLst>
      <p:ext uri="{BB962C8B-B14F-4D97-AF65-F5344CB8AC3E}">
        <p14:creationId xmlns:p14="http://schemas.microsoft.com/office/powerpoint/2010/main" val="238233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5. </a:t>
            </a:r>
            <a:r>
              <a:rPr lang="en-US" b="1" dirty="0">
                <a:solidFill>
                  <a:srgbClr val="0070C0"/>
                </a:solidFill>
              </a:rPr>
              <a:t>Keep it Concise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Attention spans are short, so keep your video short and to the point. Aim for a length that conveys your message effectively without losing viewer interest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</a:t>
            </a:r>
            <a:r>
              <a:rPr lang="en-US" sz="4000" dirty="0">
                <a:solidFill>
                  <a:srgbClr val="00B050"/>
                </a:solidFill>
              </a:rPr>
              <a:t>Video Length: 30 seconds, highlighting key features and benefits of the clothing line.</a:t>
            </a:r>
          </a:p>
        </p:txBody>
      </p:sp>
    </p:spTree>
    <p:extLst>
      <p:ext uri="{BB962C8B-B14F-4D97-AF65-F5344CB8AC3E}">
        <p14:creationId xmlns:p14="http://schemas.microsoft.com/office/powerpoint/2010/main" val="264236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70C0"/>
                </a:solidFill>
              </a:rPr>
              <a:t>6. </a:t>
            </a:r>
            <a:r>
              <a:rPr lang="en-US" sz="3600" b="1" dirty="0">
                <a:solidFill>
                  <a:srgbClr val="0070C0"/>
                </a:solidFill>
              </a:rPr>
              <a:t>Highlight Unique Selling Proposition (USP)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Clearly communicate what sets your product or service apart from the competition. Highlight your unique selling points to make a lasting impression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</a:t>
            </a:r>
            <a:r>
              <a:rPr lang="en-US" sz="4000" dirty="0">
                <a:solidFill>
                  <a:srgbClr val="00B050"/>
                </a:solidFill>
              </a:rPr>
              <a:t>USP: Emphasize the use of organic materials, eco-friendly manufacturing, and the positive impact on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327198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7. </a:t>
            </a:r>
            <a:r>
              <a:rPr lang="en-US" b="1" dirty="0">
                <a:solidFill>
                  <a:srgbClr val="0070C0"/>
                </a:solidFill>
              </a:rPr>
              <a:t>Brand Consistency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Maintain a consistent brand image, including visuals, messaging, and tone. Consistency helps build brand recognition and trust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r>
              <a:rPr lang="en-US" sz="3600" dirty="0" smtClean="0">
                <a:solidFill>
                  <a:srgbClr val="00B050"/>
                </a:solidFill>
              </a:rPr>
              <a:t>-</a:t>
            </a:r>
            <a:r>
              <a:rPr lang="en-US" sz="3600" dirty="0">
                <a:solidFill>
                  <a:srgbClr val="00B050"/>
                </a:solidFill>
              </a:rPr>
              <a:t>Visuals: Use a consistent color palette and logo placement throughout the video for brand recognition.</a:t>
            </a:r>
          </a:p>
        </p:txBody>
      </p:sp>
    </p:spTree>
    <p:extLst>
      <p:ext uri="{BB962C8B-B14F-4D97-AF65-F5344CB8AC3E}">
        <p14:creationId xmlns:p14="http://schemas.microsoft.com/office/powerpoint/2010/main" val="15725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8. </a:t>
            </a:r>
            <a:r>
              <a:rPr lang="en-US" b="1" dirty="0">
                <a:solidFill>
                  <a:srgbClr val="0070C0"/>
                </a:solidFill>
              </a:rPr>
              <a:t>Optimize for Mobile Viewing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4000" dirty="0"/>
              <a:t>Many users watch videos on mobile devices. Ensure your video is optimized for various screen sizes and orientations to provide a seamless viewing experience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</a:t>
            </a:r>
            <a:r>
              <a:rPr lang="en-US" sz="4000" dirty="0">
                <a:solidFill>
                  <a:srgbClr val="00B050"/>
                </a:solidFill>
              </a:rPr>
              <a:t>Format: Ensure the video is formatted for mobile screens, considering vertical and square video options.</a:t>
            </a:r>
          </a:p>
        </p:txBody>
      </p:sp>
    </p:spTree>
    <p:extLst>
      <p:ext uri="{BB962C8B-B14F-4D97-AF65-F5344CB8AC3E}">
        <p14:creationId xmlns:p14="http://schemas.microsoft.com/office/powerpoint/2010/main" val="90883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9. </a:t>
            </a:r>
            <a:r>
              <a:rPr lang="en-US" b="1" dirty="0">
                <a:solidFill>
                  <a:srgbClr val="0070C0"/>
                </a:solidFill>
              </a:rPr>
              <a:t>Incorporate Call-to-Action (CTA)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Clearly state what action you want viewers to take after watching the video. Whether it's making a purchase, visiting a website, or subscribing, include a compelling call-to-action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-CTA</a:t>
            </a:r>
            <a:r>
              <a:rPr lang="en-US" sz="4000" dirty="0">
                <a:solidFill>
                  <a:srgbClr val="00B050"/>
                </a:solidFill>
              </a:rPr>
              <a:t>: "Shop Now for a Sustainable Wardrobe" with a link to the online store.</a:t>
            </a:r>
          </a:p>
        </p:txBody>
      </p:sp>
    </p:spTree>
    <p:extLst>
      <p:ext uri="{BB962C8B-B14F-4D97-AF65-F5344CB8AC3E}">
        <p14:creationId xmlns:p14="http://schemas.microsoft.com/office/powerpoint/2010/main" val="2570972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10. </a:t>
            </a:r>
            <a:r>
              <a:rPr lang="en-US" b="1" dirty="0">
                <a:solidFill>
                  <a:srgbClr val="0070C0"/>
                </a:solidFill>
              </a:rPr>
              <a:t>Choose the Right Platform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4400" dirty="0"/>
              <a:t>Tailor your video to the platform where it will be displayed. Consider the platform's audience, format specifications, and overall culture</a:t>
            </a:r>
            <a:r>
              <a:rPr lang="en-US" sz="4400" dirty="0" smtClean="0"/>
              <a:t>.</a:t>
            </a:r>
          </a:p>
          <a:p>
            <a:pPr marL="0" indent="0" algn="just">
              <a:buNone/>
            </a:pPr>
            <a:r>
              <a:rPr lang="en-US" sz="4400" dirty="0">
                <a:solidFill>
                  <a:srgbClr val="00B050"/>
                </a:solidFill>
              </a:rPr>
              <a:t>- Platform: Optimize the video for </a:t>
            </a:r>
            <a:r>
              <a:rPr lang="en-US" sz="4400" dirty="0" err="1">
                <a:solidFill>
                  <a:srgbClr val="00B050"/>
                </a:solidFill>
              </a:rPr>
              <a:t>Instagram</a:t>
            </a:r>
            <a:r>
              <a:rPr lang="en-US" sz="4400" dirty="0">
                <a:solidFill>
                  <a:srgbClr val="00B050"/>
                </a:solidFill>
              </a:rPr>
              <a:t>, leveraging its visual appeal and targeting a younger audience.</a:t>
            </a:r>
          </a:p>
        </p:txBody>
      </p:sp>
    </p:spTree>
    <p:extLst>
      <p:ext uri="{BB962C8B-B14F-4D97-AF65-F5344CB8AC3E}">
        <p14:creationId xmlns:p14="http://schemas.microsoft.com/office/powerpoint/2010/main" val="1035818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11. </a:t>
            </a:r>
            <a:r>
              <a:rPr lang="en-US" b="1" dirty="0">
                <a:solidFill>
                  <a:srgbClr val="0070C0"/>
                </a:solidFill>
              </a:rPr>
              <a:t>Use High-Quality Visuals and Audio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Invest in high-quality production values. Clear visuals and audio contribute to a professional appearance and enhance the overall viewing experience</a:t>
            </a:r>
            <a:r>
              <a:rPr lang="en-US" sz="4000" dirty="0" smtClean="0"/>
              <a:t>.</a:t>
            </a:r>
          </a:p>
          <a:p>
            <a:pPr algn="just">
              <a:buFontTx/>
              <a:buChar char="-"/>
            </a:pPr>
            <a:r>
              <a:rPr lang="en-US" sz="4000" dirty="0" smtClean="0">
                <a:solidFill>
                  <a:srgbClr val="00B050"/>
                </a:solidFill>
              </a:rPr>
              <a:t>Visuals</a:t>
            </a:r>
            <a:r>
              <a:rPr lang="en-US" sz="4000" dirty="0">
                <a:solidFill>
                  <a:srgbClr val="00B050"/>
                </a:solidFill>
              </a:rPr>
              <a:t>: Showcase the clothing with high-quality videography and images. </a:t>
            </a:r>
            <a:endParaRPr lang="en-US" sz="4000" dirty="0" smtClean="0">
              <a:solidFill>
                <a:srgbClr val="00B050"/>
              </a:solidFill>
            </a:endParaRPr>
          </a:p>
          <a:p>
            <a:pPr marL="0" indent="0" algn="just">
              <a:buNone/>
            </a:pPr>
            <a:r>
              <a:rPr lang="en-US" sz="4000" dirty="0" smtClean="0">
                <a:solidFill>
                  <a:srgbClr val="00B050"/>
                </a:solidFill>
              </a:rPr>
              <a:t>- </a:t>
            </a:r>
            <a:r>
              <a:rPr lang="en-US" sz="4000" dirty="0">
                <a:solidFill>
                  <a:srgbClr val="00B050"/>
                </a:solidFill>
              </a:rPr>
              <a:t>Audio: Use a catchy, environmentally themed soundtrack to enhance the video.</a:t>
            </a:r>
          </a:p>
        </p:txBody>
      </p:sp>
    </p:spTree>
    <p:extLst>
      <p:ext uri="{BB962C8B-B14F-4D97-AF65-F5344CB8AC3E}">
        <p14:creationId xmlns:p14="http://schemas.microsoft.com/office/powerpoint/2010/main" val="4204123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12. </a:t>
            </a:r>
            <a:r>
              <a:rPr lang="en-US" b="1" dirty="0">
                <a:solidFill>
                  <a:srgbClr val="0070C0"/>
                </a:solidFill>
              </a:rPr>
              <a:t>Test and Iterate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Before launching a full-scale campaign, conduct small-scale tests to gauge audience response. Use analytics to measure performance and make data-driven improvements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00B050"/>
                </a:solidFill>
              </a:rPr>
              <a:t>- Conduct A/B testing with different video thumbnails or captions to see which version performs better before a full campaign launch.</a:t>
            </a:r>
          </a:p>
        </p:txBody>
      </p:sp>
    </p:spTree>
    <p:extLst>
      <p:ext uri="{BB962C8B-B14F-4D97-AF65-F5344CB8AC3E}">
        <p14:creationId xmlns:p14="http://schemas.microsoft.com/office/powerpoint/2010/main" val="415592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13. </a:t>
            </a:r>
            <a:r>
              <a:rPr lang="en-US" b="1" dirty="0">
                <a:solidFill>
                  <a:srgbClr val="0070C0"/>
                </a:solidFill>
              </a:rPr>
              <a:t>Optimize for SEO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If your video will be shared online, optimize it for search engines. Use relevant keywords in titles, descriptions, and tags to improve discoverability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00B050"/>
                </a:solidFill>
              </a:rPr>
              <a:t>- Use keywords like "sustainable fashion," "eco-friendly clothing," and the brand name in the video title, description, and tags.</a:t>
            </a:r>
          </a:p>
        </p:txBody>
      </p:sp>
    </p:spTree>
    <p:extLst>
      <p:ext uri="{BB962C8B-B14F-4D97-AF65-F5344CB8AC3E}">
        <p14:creationId xmlns:p14="http://schemas.microsoft.com/office/powerpoint/2010/main" val="2492822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14. </a:t>
            </a:r>
            <a:r>
              <a:rPr lang="en-US" b="1" dirty="0">
                <a:solidFill>
                  <a:srgbClr val="0070C0"/>
                </a:solidFill>
              </a:rPr>
              <a:t>Comply with </a:t>
            </a:r>
            <a:r>
              <a:rPr lang="en-US" b="1" dirty="0" smtClean="0">
                <a:solidFill>
                  <a:srgbClr val="0070C0"/>
                </a:solidFill>
              </a:rPr>
              <a:t>Regulations	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4000" dirty="0"/>
              <a:t>Ensure your video complies with advertising regulations and guidelines. Be transparent about sponsored content, and respect privacy and copyright laws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00B050"/>
                </a:solidFill>
              </a:rPr>
              <a:t>- Clearly state if the content is sponsored and ensure compliance with advertising standards regarding environmental claims.</a:t>
            </a:r>
          </a:p>
        </p:txBody>
      </p:sp>
    </p:spTree>
    <p:extLst>
      <p:ext uri="{BB962C8B-B14F-4D97-AF65-F5344CB8AC3E}">
        <p14:creationId xmlns:p14="http://schemas.microsoft.com/office/powerpoint/2010/main" val="202867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15. </a:t>
            </a:r>
            <a:r>
              <a:rPr lang="en-US" b="1" dirty="0">
                <a:solidFill>
                  <a:srgbClr val="0070C0"/>
                </a:solidFill>
              </a:rPr>
              <a:t>Engage with Your Audience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4000" dirty="0"/>
              <a:t>Encourage comments, shares, and other forms of engagement. Respond to audience feedback to build a community around your brand</a:t>
            </a:r>
            <a:r>
              <a:rPr lang="en-US" sz="4000" dirty="0" smtClean="0"/>
              <a:t>.</a:t>
            </a:r>
          </a:p>
          <a:p>
            <a:pPr marL="0" indent="0" algn="just">
              <a:buNone/>
            </a:pPr>
            <a:r>
              <a:rPr lang="en-US" sz="4000" dirty="0">
                <a:solidFill>
                  <a:srgbClr val="00B050"/>
                </a:solidFill>
              </a:rPr>
              <a:t>- Encourage viewers to share their thoughts on sustainable fashion in the comments. Respond to comments and create a sense of community.</a:t>
            </a:r>
          </a:p>
        </p:txBody>
      </p:sp>
    </p:spTree>
    <p:extLst>
      <p:ext uri="{BB962C8B-B14F-4D97-AF65-F5344CB8AC3E}">
        <p14:creationId xmlns:p14="http://schemas.microsoft.com/office/powerpoint/2010/main" val="3589780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AIDA Model </a:t>
            </a:r>
            <a:r>
              <a:rPr lang="en-US" b="1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888" y="2556932"/>
            <a:ext cx="10416208" cy="3318936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Many companies adopt the </a:t>
            </a:r>
            <a:r>
              <a:rPr lang="en-US" sz="2000" b="1" dirty="0"/>
              <a:t>AIDA strategy</a:t>
            </a:r>
            <a:r>
              <a:rPr lang="en-US" sz="2000" dirty="0"/>
              <a:t> to guarantee a successful advertisement. Following is an example of how Netflix follows the AIDA model:</a:t>
            </a:r>
          </a:p>
          <a:p>
            <a:pPr algn="just"/>
            <a:r>
              <a:rPr lang="en-US" sz="2000" dirty="0"/>
              <a:t>Attention: To make customers aware of their offered products, Netflix uses different communication channels like YouTube ads and Internet Service collaborations.</a:t>
            </a:r>
          </a:p>
          <a:p>
            <a:pPr algn="just"/>
            <a:r>
              <a:rPr lang="en-US" sz="2000" dirty="0"/>
              <a:t>Interest: Once the customer becomes interested and visits Netflix's website, the company offers free monthly trials for visitors to test and explore available TV shows, movies and so on.</a:t>
            </a:r>
          </a:p>
          <a:p>
            <a:pPr algn="just"/>
            <a:r>
              <a:rPr lang="en-US" sz="2000" dirty="0"/>
              <a:t>Desire: The desire to subscribe to the services of Netflix is created by personalized recommendations, support of devices with low-speed, content offered without ads and more.</a:t>
            </a:r>
          </a:p>
          <a:p>
            <a:pPr algn="just"/>
            <a:r>
              <a:rPr lang="en-US" sz="2000" dirty="0"/>
              <a:t>Action: By providing a wide range of subscription plans and the option to cancel it, Netflix pushes the visitor to become a paying customer.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05167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2398</TotalTime>
  <Words>853</Words>
  <Application>Microsoft Office PowerPoint</Application>
  <PresentationFormat>Widescreen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Advertisement</vt:lpstr>
      <vt:lpstr>Important points for video Ad Creation</vt:lpstr>
      <vt:lpstr>1. Define Your Goals</vt:lpstr>
      <vt:lpstr>2. Know Your Target Audience</vt:lpstr>
      <vt:lpstr>3. Craft a Compelling Story</vt:lpstr>
      <vt:lpstr>4. Focus on the First Few Seconds</vt:lpstr>
      <vt:lpstr>5. Keep it Concise</vt:lpstr>
      <vt:lpstr>6. Highlight Unique Selling Proposition (USP)</vt:lpstr>
      <vt:lpstr>7. Brand Consistency</vt:lpstr>
      <vt:lpstr>8. Optimize for Mobile Viewing</vt:lpstr>
      <vt:lpstr>9. Incorporate Call-to-Action (CTA)</vt:lpstr>
      <vt:lpstr>10. Choose the Right Platform</vt:lpstr>
      <vt:lpstr>11. Use High-Quality Visuals and Audio</vt:lpstr>
      <vt:lpstr>12. Test and Iterate</vt:lpstr>
      <vt:lpstr>13. Optimize for SEO</vt:lpstr>
      <vt:lpstr>14. Comply with Regulations </vt:lpstr>
      <vt:lpstr>15. Engage with Your Audience</vt:lpstr>
      <vt:lpstr>AIDA Model Example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Advertisement</dc:title>
  <dc:creator>Sonic</dc:creator>
  <cp:lastModifiedBy>Sonic</cp:lastModifiedBy>
  <cp:revision>13</cp:revision>
  <dcterms:created xsi:type="dcterms:W3CDTF">2023-12-05T07:47:56Z</dcterms:created>
  <dcterms:modified xsi:type="dcterms:W3CDTF">2023-12-11T16:10:15Z</dcterms:modified>
</cp:coreProperties>
</file>
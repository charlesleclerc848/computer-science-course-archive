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73" r:id="rId4"/>
    <p:sldId id="264" r:id="rId5"/>
    <p:sldId id="260" r:id="rId6"/>
    <p:sldId id="266" r:id="rId7"/>
    <p:sldId id="267" r:id="rId8"/>
    <p:sldId id="268" r:id="rId9"/>
    <p:sldId id="274" r:id="rId10"/>
    <p:sldId id="269" r:id="rId11"/>
    <p:sldId id="270" r:id="rId12"/>
    <p:sldId id="271" r:id="rId13"/>
    <p:sldId id="272"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8" d="100"/>
          <a:sy n="48" d="100"/>
        </p:scale>
        <p:origin x="1146"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A9F5C1-B873-4228-9849-99FC6825CE85}" type="doc">
      <dgm:prSet loTypeId="urn:microsoft.com/office/officeart/2005/8/layout/matrix3" loCatId="matrix" qsTypeId="urn:microsoft.com/office/officeart/2005/8/quickstyle/simple1" qsCatId="simple" csTypeId="urn:microsoft.com/office/officeart/2005/8/colors/colorful1#1" csCatId="colorful"/>
      <dgm:spPr/>
      <dgm:t>
        <a:bodyPr/>
        <a:lstStyle/>
        <a:p>
          <a:endParaRPr lang="en-US"/>
        </a:p>
      </dgm:t>
    </dgm:pt>
    <dgm:pt modelId="{5C4BDCAE-9551-4133-A89F-910DF7FA233C}">
      <dgm:prSet/>
      <dgm:spPr/>
      <dgm:t>
        <a:bodyPr/>
        <a:lstStyle/>
        <a:p>
          <a:pPr rtl="0"/>
          <a:r>
            <a:rPr lang="en-US" dirty="0" smtClean="0"/>
            <a:t>Analyzing consumer needs</a:t>
          </a:r>
          <a:endParaRPr lang="en-US" dirty="0"/>
        </a:p>
      </dgm:t>
    </dgm:pt>
    <dgm:pt modelId="{4DB660DD-E2F9-43E1-A14F-7CF36562F19C}" type="parTrans" cxnId="{73970DE2-0C1D-41B6-B555-2F6AA1860258}">
      <dgm:prSet/>
      <dgm:spPr/>
      <dgm:t>
        <a:bodyPr/>
        <a:lstStyle/>
        <a:p>
          <a:endParaRPr lang="en-US"/>
        </a:p>
      </dgm:t>
    </dgm:pt>
    <dgm:pt modelId="{08CA27A9-172F-4EC2-8C9F-E7E606C97452}" type="sibTrans" cxnId="{73970DE2-0C1D-41B6-B555-2F6AA1860258}">
      <dgm:prSet/>
      <dgm:spPr/>
      <dgm:t>
        <a:bodyPr/>
        <a:lstStyle/>
        <a:p>
          <a:endParaRPr lang="en-US"/>
        </a:p>
      </dgm:t>
    </dgm:pt>
    <dgm:pt modelId="{DB607EA4-9F2B-4C23-9905-B5E862F233D7}">
      <dgm:prSet/>
      <dgm:spPr/>
      <dgm:t>
        <a:bodyPr/>
        <a:lstStyle/>
        <a:p>
          <a:pPr rtl="0"/>
          <a:r>
            <a:rPr lang="en-US" dirty="0" smtClean="0"/>
            <a:t>Setting channel objectives</a:t>
          </a:r>
          <a:endParaRPr lang="en-US" dirty="0"/>
        </a:p>
      </dgm:t>
    </dgm:pt>
    <dgm:pt modelId="{55F98BAA-FA87-4B5C-8BB9-60D6331AAAFB}" type="parTrans" cxnId="{5872A4D7-6538-4C26-894D-88C8B92AB84D}">
      <dgm:prSet/>
      <dgm:spPr/>
      <dgm:t>
        <a:bodyPr/>
        <a:lstStyle/>
        <a:p>
          <a:endParaRPr lang="en-US"/>
        </a:p>
      </dgm:t>
    </dgm:pt>
    <dgm:pt modelId="{9F8EB822-92FB-4795-8993-9B1A967C73AD}" type="sibTrans" cxnId="{5872A4D7-6538-4C26-894D-88C8B92AB84D}">
      <dgm:prSet/>
      <dgm:spPr/>
      <dgm:t>
        <a:bodyPr/>
        <a:lstStyle/>
        <a:p>
          <a:endParaRPr lang="en-US"/>
        </a:p>
      </dgm:t>
    </dgm:pt>
    <dgm:pt modelId="{22EB4E69-32FD-4166-853D-F4F68DBC0D95}">
      <dgm:prSet/>
      <dgm:spPr/>
      <dgm:t>
        <a:bodyPr/>
        <a:lstStyle/>
        <a:p>
          <a:pPr rtl="0"/>
          <a:r>
            <a:rPr lang="en-US" dirty="0" smtClean="0"/>
            <a:t>Identifying major channel alternatives</a:t>
          </a:r>
          <a:endParaRPr lang="en-US" dirty="0"/>
        </a:p>
      </dgm:t>
    </dgm:pt>
    <dgm:pt modelId="{9E46F9EF-A919-4C91-A5C0-A306F18D5B23}" type="parTrans" cxnId="{CC59DAA2-193E-4B11-8865-5972B16F84B9}">
      <dgm:prSet/>
      <dgm:spPr/>
      <dgm:t>
        <a:bodyPr/>
        <a:lstStyle/>
        <a:p>
          <a:endParaRPr lang="en-US"/>
        </a:p>
      </dgm:t>
    </dgm:pt>
    <dgm:pt modelId="{DCE84AF0-3D80-48BB-BFC6-ECB400F533C9}" type="sibTrans" cxnId="{CC59DAA2-193E-4B11-8865-5972B16F84B9}">
      <dgm:prSet/>
      <dgm:spPr/>
      <dgm:t>
        <a:bodyPr/>
        <a:lstStyle/>
        <a:p>
          <a:endParaRPr lang="en-US"/>
        </a:p>
      </dgm:t>
    </dgm:pt>
    <dgm:pt modelId="{679DBB8E-F366-4EB3-B2E3-5E6B7737B589}">
      <dgm:prSet/>
      <dgm:spPr/>
      <dgm:t>
        <a:bodyPr/>
        <a:lstStyle/>
        <a:p>
          <a:pPr rtl="0"/>
          <a:r>
            <a:rPr lang="en-US" dirty="0" smtClean="0"/>
            <a:t>Evaluation</a:t>
          </a:r>
          <a:endParaRPr lang="en-US" dirty="0"/>
        </a:p>
      </dgm:t>
    </dgm:pt>
    <dgm:pt modelId="{238113C9-099F-4550-8CCF-F7AB19C6D18C}" type="parTrans" cxnId="{E2015D94-4F48-4979-B413-B148DCB11807}">
      <dgm:prSet/>
      <dgm:spPr/>
      <dgm:t>
        <a:bodyPr/>
        <a:lstStyle/>
        <a:p>
          <a:endParaRPr lang="en-US"/>
        </a:p>
      </dgm:t>
    </dgm:pt>
    <dgm:pt modelId="{28ACF5A8-A337-4574-B6CE-CC205A35DEDA}" type="sibTrans" cxnId="{E2015D94-4F48-4979-B413-B148DCB11807}">
      <dgm:prSet/>
      <dgm:spPr/>
      <dgm:t>
        <a:bodyPr/>
        <a:lstStyle/>
        <a:p>
          <a:endParaRPr lang="en-US"/>
        </a:p>
      </dgm:t>
    </dgm:pt>
    <dgm:pt modelId="{F6BFB4FE-BD60-4AFE-BC3B-B3D769E01A4B}">
      <dgm:prSet/>
      <dgm:spPr/>
      <dgm:t>
        <a:bodyPr/>
        <a:lstStyle/>
        <a:p>
          <a:pPr rtl="0"/>
          <a:endParaRPr lang="en-US" dirty="0"/>
        </a:p>
      </dgm:t>
    </dgm:pt>
    <dgm:pt modelId="{9C431DCA-8B0F-49E3-8EC1-C7B7F18F932C}" type="parTrans" cxnId="{00D39F54-38BD-4C12-809B-0D0C55217468}">
      <dgm:prSet/>
      <dgm:spPr/>
      <dgm:t>
        <a:bodyPr/>
        <a:lstStyle/>
        <a:p>
          <a:endParaRPr lang="en-US"/>
        </a:p>
      </dgm:t>
    </dgm:pt>
    <dgm:pt modelId="{9214F143-14B5-43E2-9689-6F4BB2E989D4}" type="sibTrans" cxnId="{00D39F54-38BD-4C12-809B-0D0C55217468}">
      <dgm:prSet/>
      <dgm:spPr/>
      <dgm:t>
        <a:bodyPr/>
        <a:lstStyle/>
        <a:p>
          <a:endParaRPr lang="en-US"/>
        </a:p>
      </dgm:t>
    </dgm:pt>
    <dgm:pt modelId="{47F5D96E-7157-499F-8747-22495EF70854}" type="pres">
      <dgm:prSet presAssocID="{39A9F5C1-B873-4228-9849-99FC6825CE85}" presName="matrix" presStyleCnt="0">
        <dgm:presLayoutVars>
          <dgm:chMax val="1"/>
          <dgm:dir/>
          <dgm:resizeHandles val="exact"/>
        </dgm:presLayoutVars>
      </dgm:prSet>
      <dgm:spPr/>
      <dgm:t>
        <a:bodyPr/>
        <a:lstStyle/>
        <a:p>
          <a:endParaRPr lang="en-US"/>
        </a:p>
      </dgm:t>
    </dgm:pt>
    <dgm:pt modelId="{B2E9F038-7222-437A-98FB-B8CDF99E686E}" type="pres">
      <dgm:prSet presAssocID="{39A9F5C1-B873-4228-9849-99FC6825CE85}" presName="diamond" presStyleLbl="bgShp" presStyleIdx="0" presStyleCnt="1"/>
      <dgm:spPr/>
      <dgm:t>
        <a:bodyPr/>
        <a:lstStyle/>
        <a:p>
          <a:endParaRPr lang="en-US"/>
        </a:p>
      </dgm:t>
    </dgm:pt>
    <dgm:pt modelId="{BCC45769-DECC-4063-9830-D8FCBE231391}" type="pres">
      <dgm:prSet presAssocID="{39A9F5C1-B873-4228-9849-99FC6825CE85}" presName="quad1" presStyleLbl="node1" presStyleIdx="0" presStyleCnt="4">
        <dgm:presLayoutVars>
          <dgm:chMax val="0"/>
          <dgm:chPref val="0"/>
          <dgm:bulletEnabled val="1"/>
        </dgm:presLayoutVars>
      </dgm:prSet>
      <dgm:spPr/>
      <dgm:t>
        <a:bodyPr/>
        <a:lstStyle/>
        <a:p>
          <a:endParaRPr lang="en-US"/>
        </a:p>
      </dgm:t>
    </dgm:pt>
    <dgm:pt modelId="{18A5F90E-57A9-47B0-BC6B-B9F78A4853ED}" type="pres">
      <dgm:prSet presAssocID="{39A9F5C1-B873-4228-9849-99FC6825CE85}" presName="quad2" presStyleLbl="node1" presStyleIdx="1" presStyleCnt="4">
        <dgm:presLayoutVars>
          <dgm:chMax val="0"/>
          <dgm:chPref val="0"/>
          <dgm:bulletEnabled val="1"/>
        </dgm:presLayoutVars>
      </dgm:prSet>
      <dgm:spPr/>
      <dgm:t>
        <a:bodyPr/>
        <a:lstStyle/>
        <a:p>
          <a:endParaRPr lang="en-US"/>
        </a:p>
      </dgm:t>
    </dgm:pt>
    <dgm:pt modelId="{FA4BF5B0-5298-4254-BE56-11351A5302D9}" type="pres">
      <dgm:prSet presAssocID="{39A9F5C1-B873-4228-9849-99FC6825CE85}" presName="quad3" presStyleLbl="node1" presStyleIdx="2" presStyleCnt="4">
        <dgm:presLayoutVars>
          <dgm:chMax val="0"/>
          <dgm:chPref val="0"/>
          <dgm:bulletEnabled val="1"/>
        </dgm:presLayoutVars>
      </dgm:prSet>
      <dgm:spPr/>
      <dgm:t>
        <a:bodyPr/>
        <a:lstStyle/>
        <a:p>
          <a:endParaRPr lang="en-US"/>
        </a:p>
      </dgm:t>
    </dgm:pt>
    <dgm:pt modelId="{316BC83E-74E4-46E9-A00A-B32D961B0BFE}" type="pres">
      <dgm:prSet presAssocID="{39A9F5C1-B873-4228-9849-99FC6825CE85}" presName="quad4" presStyleLbl="node1" presStyleIdx="3" presStyleCnt="4">
        <dgm:presLayoutVars>
          <dgm:chMax val="0"/>
          <dgm:chPref val="0"/>
          <dgm:bulletEnabled val="1"/>
        </dgm:presLayoutVars>
      </dgm:prSet>
      <dgm:spPr/>
      <dgm:t>
        <a:bodyPr/>
        <a:lstStyle/>
        <a:p>
          <a:endParaRPr lang="en-US"/>
        </a:p>
      </dgm:t>
    </dgm:pt>
  </dgm:ptLst>
  <dgm:cxnLst>
    <dgm:cxn modelId="{73970DE2-0C1D-41B6-B555-2F6AA1860258}" srcId="{39A9F5C1-B873-4228-9849-99FC6825CE85}" destId="{5C4BDCAE-9551-4133-A89F-910DF7FA233C}" srcOrd="0" destOrd="0" parTransId="{4DB660DD-E2F9-43E1-A14F-7CF36562F19C}" sibTransId="{08CA27A9-172F-4EC2-8C9F-E7E606C97452}"/>
    <dgm:cxn modelId="{920D7357-CDD9-4D40-9DFB-FD8FD0B682CF}" type="presOf" srcId="{DB607EA4-9F2B-4C23-9905-B5E862F233D7}" destId="{18A5F90E-57A9-47B0-BC6B-B9F78A4853ED}" srcOrd="0" destOrd="0" presId="urn:microsoft.com/office/officeart/2005/8/layout/matrix3"/>
    <dgm:cxn modelId="{5872A4D7-6538-4C26-894D-88C8B92AB84D}" srcId="{39A9F5C1-B873-4228-9849-99FC6825CE85}" destId="{DB607EA4-9F2B-4C23-9905-B5E862F233D7}" srcOrd="1" destOrd="0" parTransId="{55F98BAA-FA87-4B5C-8BB9-60D6331AAAFB}" sibTransId="{9F8EB822-92FB-4795-8993-9B1A967C73AD}"/>
    <dgm:cxn modelId="{00D39F54-38BD-4C12-809B-0D0C55217468}" srcId="{39A9F5C1-B873-4228-9849-99FC6825CE85}" destId="{F6BFB4FE-BD60-4AFE-BC3B-B3D769E01A4B}" srcOrd="4" destOrd="0" parTransId="{9C431DCA-8B0F-49E3-8EC1-C7B7F18F932C}" sibTransId="{9214F143-14B5-43E2-9689-6F4BB2E989D4}"/>
    <dgm:cxn modelId="{CC59DAA2-193E-4B11-8865-5972B16F84B9}" srcId="{39A9F5C1-B873-4228-9849-99FC6825CE85}" destId="{22EB4E69-32FD-4166-853D-F4F68DBC0D95}" srcOrd="2" destOrd="0" parTransId="{9E46F9EF-A919-4C91-A5C0-A306F18D5B23}" sibTransId="{DCE84AF0-3D80-48BB-BFC6-ECB400F533C9}"/>
    <dgm:cxn modelId="{048759FE-F919-46F7-8015-FAC9E9C5EF23}" type="presOf" srcId="{679DBB8E-F366-4EB3-B2E3-5E6B7737B589}" destId="{316BC83E-74E4-46E9-A00A-B32D961B0BFE}" srcOrd="0" destOrd="0" presId="urn:microsoft.com/office/officeart/2005/8/layout/matrix3"/>
    <dgm:cxn modelId="{B22912A3-618C-45E7-8949-54969A45F638}" type="presOf" srcId="{22EB4E69-32FD-4166-853D-F4F68DBC0D95}" destId="{FA4BF5B0-5298-4254-BE56-11351A5302D9}" srcOrd="0" destOrd="0" presId="urn:microsoft.com/office/officeart/2005/8/layout/matrix3"/>
    <dgm:cxn modelId="{EDE526F4-61A4-4B47-8D84-02FEE9BDF1DC}" type="presOf" srcId="{39A9F5C1-B873-4228-9849-99FC6825CE85}" destId="{47F5D96E-7157-499F-8747-22495EF70854}" srcOrd="0" destOrd="0" presId="urn:microsoft.com/office/officeart/2005/8/layout/matrix3"/>
    <dgm:cxn modelId="{DB038812-5475-4AD1-BAA3-1E2A669DD3D3}" type="presOf" srcId="{5C4BDCAE-9551-4133-A89F-910DF7FA233C}" destId="{BCC45769-DECC-4063-9830-D8FCBE231391}" srcOrd="0" destOrd="0" presId="urn:microsoft.com/office/officeart/2005/8/layout/matrix3"/>
    <dgm:cxn modelId="{E2015D94-4F48-4979-B413-B148DCB11807}" srcId="{39A9F5C1-B873-4228-9849-99FC6825CE85}" destId="{679DBB8E-F366-4EB3-B2E3-5E6B7737B589}" srcOrd="3" destOrd="0" parTransId="{238113C9-099F-4550-8CCF-F7AB19C6D18C}" sibTransId="{28ACF5A8-A337-4574-B6CE-CC205A35DEDA}"/>
    <dgm:cxn modelId="{6615218A-E46D-4A64-A999-25E01D7D2E99}" type="presParOf" srcId="{47F5D96E-7157-499F-8747-22495EF70854}" destId="{B2E9F038-7222-437A-98FB-B8CDF99E686E}" srcOrd="0" destOrd="0" presId="urn:microsoft.com/office/officeart/2005/8/layout/matrix3"/>
    <dgm:cxn modelId="{39B3EC63-E68A-4318-967E-32AA3FA7450F}" type="presParOf" srcId="{47F5D96E-7157-499F-8747-22495EF70854}" destId="{BCC45769-DECC-4063-9830-D8FCBE231391}" srcOrd="1" destOrd="0" presId="urn:microsoft.com/office/officeart/2005/8/layout/matrix3"/>
    <dgm:cxn modelId="{472C9BA7-EAF1-4E7B-829F-382675C9E304}" type="presParOf" srcId="{47F5D96E-7157-499F-8747-22495EF70854}" destId="{18A5F90E-57A9-47B0-BC6B-B9F78A4853ED}" srcOrd="2" destOrd="0" presId="urn:microsoft.com/office/officeart/2005/8/layout/matrix3"/>
    <dgm:cxn modelId="{CDFC2AA4-A348-47E9-952E-8F4BFD03890D}" type="presParOf" srcId="{47F5D96E-7157-499F-8747-22495EF70854}" destId="{FA4BF5B0-5298-4254-BE56-11351A5302D9}" srcOrd="3" destOrd="0" presId="urn:microsoft.com/office/officeart/2005/8/layout/matrix3"/>
    <dgm:cxn modelId="{19EBCF8D-4833-4959-9AAF-6835E0E245CA}" type="presParOf" srcId="{47F5D96E-7157-499F-8747-22495EF70854}" destId="{316BC83E-74E4-46E9-A00A-B32D961B0BFE}"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526CE7-FB48-4096-A3FA-D6B0E5CF4021}" type="doc">
      <dgm:prSet loTypeId="urn:microsoft.com/office/officeart/2005/8/layout/vList2" loCatId="list" qsTypeId="urn:microsoft.com/office/officeart/2005/8/quickstyle/simple1" qsCatId="simple" csTypeId="urn:microsoft.com/office/officeart/2005/8/colors/colorful1#2" csCatId="colorful" phldr="1"/>
      <dgm:spPr/>
      <dgm:t>
        <a:bodyPr/>
        <a:lstStyle/>
        <a:p>
          <a:endParaRPr lang="en-US"/>
        </a:p>
      </dgm:t>
    </dgm:pt>
    <dgm:pt modelId="{CECE435A-9C40-4982-B08B-102807545C2E}">
      <dgm:prSet phldrT="[Text]"/>
      <dgm:spPr/>
      <dgm:t>
        <a:bodyPr/>
        <a:lstStyle/>
        <a:p>
          <a:r>
            <a:rPr lang="en-US" dirty="0" smtClean="0"/>
            <a:t>Intensive distribution</a:t>
          </a:r>
          <a:endParaRPr lang="en-US" dirty="0"/>
        </a:p>
      </dgm:t>
    </dgm:pt>
    <dgm:pt modelId="{0837A8EA-E729-43EB-B899-7B9FBFA4F5C9}" type="parTrans" cxnId="{78034E05-7ED1-482F-A6E0-2124C4172091}">
      <dgm:prSet/>
      <dgm:spPr/>
      <dgm:t>
        <a:bodyPr/>
        <a:lstStyle/>
        <a:p>
          <a:endParaRPr lang="en-US"/>
        </a:p>
      </dgm:t>
    </dgm:pt>
    <dgm:pt modelId="{E41E0E69-0C11-40AF-A6E7-1FCE0960C98C}" type="sibTrans" cxnId="{78034E05-7ED1-482F-A6E0-2124C4172091}">
      <dgm:prSet/>
      <dgm:spPr/>
      <dgm:t>
        <a:bodyPr/>
        <a:lstStyle/>
        <a:p>
          <a:endParaRPr lang="en-US"/>
        </a:p>
      </dgm:t>
    </dgm:pt>
    <dgm:pt modelId="{0820B9B8-BC30-45F6-B73C-F58725F13370}">
      <dgm:prSet phldrT="[Text]"/>
      <dgm:spPr/>
      <dgm:t>
        <a:bodyPr/>
        <a:lstStyle/>
        <a:p>
          <a:r>
            <a:rPr lang="en-US" dirty="0" smtClean="0"/>
            <a:t>Candy and toothpaste</a:t>
          </a:r>
          <a:endParaRPr lang="en-US" dirty="0"/>
        </a:p>
      </dgm:t>
    </dgm:pt>
    <dgm:pt modelId="{606E9029-6448-4466-9F82-DD144A4EE0B0}" type="parTrans" cxnId="{3678AB9F-0AB5-4535-8675-5612F0F7ED15}">
      <dgm:prSet/>
      <dgm:spPr/>
      <dgm:t>
        <a:bodyPr/>
        <a:lstStyle/>
        <a:p>
          <a:endParaRPr lang="en-US"/>
        </a:p>
      </dgm:t>
    </dgm:pt>
    <dgm:pt modelId="{A3A61180-9378-4048-9776-1E6DF09D65BD}" type="sibTrans" cxnId="{3678AB9F-0AB5-4535-8675-5612F0F7ED15}">
      <dgm:prSet/>
      <dgm:spPr/>
      <dgm:t>
        <a:bodyPr/>
        <a:lstStyle/>
        <a:p>
          <a:endParaRPr lang="en-US"/>
        </a:p>
      </dgm:t>
    </dgm:pt>
    <dgm:pt modelId="{F7CCB281-1E41-42D9-8E58-9BD5DF738E0C}">
      <dgm:prSet phldrT="[Text]"/>
      <dgm:spPr/>
      <dgm:t>
        <a:bodyPr/>
        <a:lstStyle/>
        <a:p>
          <a:r>
            <a:rPr lang="en-US" dirty="0" smtClean="0"/>
            <a:t>Exclusive distribution</a:t>
          </a:r>
          <a:endParaRPr lang="en-US" dirty="0"/>
        </a:p>
      </dgm:t>
    </dgm:pt>
    <dgm:pt modelId="{A11A896B-15D4-4EAA-9A3B-8F8FCDFCBB24}" type="parTrans" cxnId="{06372670-5969-4085-A377-220176019BCC}">
      <dgm:prSet/>
      <dgm:spPr/>
      <dgm:t>
        <a:bodyPr/>
        <a:lstStyle/>
        <a:p>
          <a:endParaRPr lang="en-US"/>
        </a:p>
      </dgm:t>
    </dgm:pt>
    <dgm:pt modelId="{CCBC9858-DA03-406E-9227-442DFFFCFD11}" type="sibTrans" cxnId="{06372670-5969-4085-A377-220176019BCC}">
      <dgm:prSet/>
      <dgm:spPr/>
      <dgm:t>
        <a:bodyPr/>
        <a:lstStyle/>
        <a:p>
          <a:endParaRPr lang="en-US"/>
        </a:p>
      </dgm:t>
    </dgm:pt>
    <dgm:pt modelId="{D9222153-2744-4FE0-930D-E18E6A284622}">
      <dgm:prSet phldrT="[Text]"/>
      <dgm:spPr/>
      <dgm:t>
        <a:bodyPr/>
        <a:lstStyle/>
        <a:p>
          <a:r>
            <a:rPr lang="en-US" dirty="0" smtClean="0"/>
            <a:t>Luxury automobiles and prestige clothing</a:t>
          </a:r>
          <a:endParaRPr lang="en-US" dirty="0"/>
        </a:p>
      </dgm:t>
    </dgm:pt>
    <dgm:pt modelId="{D9631374-4034-48AC-B89C-A71BA3A583FA}" type="parTrans" cxnId="{2CED3833-7E54-4285-B3BF-16A399C8F2A9}">
      <dgm:prSet/>
      <dgm:spPr/>
      <dgm:t>
        <a:bodyPr/>
        <a:lstStyle/>
        <a:p>
          <a:endParaRPr lang="en-US"/>
        </a:p>
      </dgm:t>
    </dgm:pt>
    <dgm:pt modelId="{5EA0CBED-4C6E-4F9D-8023-C35E8E525CF3}" type="sibTrans" cxnId="{2CED3833-7E54-4285-B3BF-16A399C8F2A9}">
      <dgm:prSet/>
      <dgm:spPr/>
      <dgm:t>
        <a:bodyPr/>
        <a:lstStyle/>
        <a:p>
          <a:endParaRPr lang="en-US"/>
        </a:p>
      </dgm:t>
    </dgm:pt>
    <dgm:pt modelId="{F3176FEE-BDE3-4DFF-8A73-F61E1BCB861C}">
      <dgm:prSet phldrT="[Text]"/>
      <dgm:spPr/>
      <dgm:t>
        <a:bodyPr/>
        <a:lstStyle/>
        <a:p>
          <a:r>
            <a:rPr lang="en-US" dirty="0" smtClean="0"/>
            <a:t>Selective distribution</a:t>
          </a:r>
          <a:endParaRPr lang="en-US" dirty="0"/>
        </a:p>
      </dgm:t>
    </dgm:pt>
    <dgm:pt modelId="{8671D06F-4FC0-4431-95EA-C31FD18C00D9}" type="parTrans" cxnId="{6E0779B7-AAD5-4953-9418-184BA0777B28}">
      <dgm:prSet/>
      <dgm:spPr/>
      <dgm:t>
        <a:bodyPr/>
        <a:lstStyle/>
        <a:p>
          <a:endParaRPr lang="en-US"/>
        </a:p>
      </dgm:t>
    </dgm:pt>
    <dgm:pt modelId="{65EA9ECE-7885-4687-BA07-BA629F438DF2}" type="sibTrans" cxnId="{6E0779B7-AAD5-4953-9418-184BA0777B28}">
      <dgm:prSet/>
      <dgm:spPr/>
      <dgm:t>
        <a:bodyPr/>
        <a:lstStyle/>
        <a:p>
          <a:endParaRPr lang="en-US"/>
        </a:p>
      </dgm:t>
    </dgm:pt>
    <dgm:pt modelId="{C5BAEF43-CAD4-4510-9C01-985AF5F46A8D}">
      <dgm:prSet phldrT="[Text]"/>
      <dgm:spPr/>
      <dgm:t>
        <a:bodyPr/>
        <a:lstStyle/>
        <a:p>
          <a:r>
            <a:rPr lang="en-US" dirty="0" smtClean="0"/>
            <a:t>Television and home appliance</a:t>
          </a:r>
          <a:endParaRPr lang="en-US" dirty="0"/>
        </a:p>
      </dgm:t>
    </dgm:pt>
    <dgm:pt modelId="{47D61BBA-035D-4E68-B9BA-D2A82AE22587}" type="parTrans" cxnId="{768F4DF1-E57B-4516-8931-D0E921C0F814}">
      <dgm:prSet/>
      <dgm:spPr/>
      <dgm:t>
        <a:bodyPr/>
        <a:lstStyle/>
        <a:p>
          <a:endParaRPr lang="en-US"/>
        </a:p>
      </dgm:t>
    </dgm:pt>
    <dgm:pt modelId="{C722E52C-778B-4484-92D2-91678D7FF04E}" type="sibTrans" cxnId="{768F4DF1-E57B-4516-8931-D0E921C0F814}">
      <dgm:prSet/>
      <dgm:spPr/>
      <dgm:t>
        <a:bodyPr/>
        <a:lstStyle/>
        <a:p>
          <a:endParaRPr lang="en-US"/>
        </a:p>
      </dgm:t>
    </dgm:pt>
    <dgm:pt modelId="{EDD8C2DC-A859-444D-8093-87A40CDEE9B1}" type="pres">
      <dgm:prSet presAssocID="{34526CE7-FB48-4096-A3FA-D6B0E5CF4021}" presName="linear" presStyleCnt="0">
        <dgm:presLayoutVars>
          <dgm:animLvl val="lvl"/>
          <dgm:resizeHandles val="exact"/>
        </dgm:presLayoutVars>
      </dgm:prSet>
      <dgm:spPr/>
      <dgm:t>
        <a:bodyPr/>
        <a:lstStyle/>
        <a:p>
          <a:endParaRPr lang="en-US"/>
        </a:p>
      </dgm:t>
    </dgm:pt>
    <dgm:pt modelId="{FD026518-85AB-49B3-B288-F593AD51212F}" type="pres">
      <dgm:prSet presAssocID="{CECE435A-9C40-4982-B08B-102807545C2E}" presName="parentText" presStyleLbl="node1" presStyleIdx="0" presStyleCnt="3">
        <dgm:presLayoutVars>
          <dgm:chMax val="0"/>
          <dgm:bulletEnabled val="1"/>
        </dgm:presLayoutVars>
      </dgm:prSet>
      <dgm:spPr/>
      <dgm:t>
        <a:bodyPr/>
        <a:lstStyle/>
        <a:p>
          <a:endParaRPr lang="en-US"/>
        </a:p>
      </dgm:t>
    </dgm:pt>
    <dgm:pt modelId="{20B871B6-66AB-4150-837E-0A4F74384FC3}" type="pres">
      <dgm:prSet presAssocID="{CECE435A-9C40-4982-B08B-102807545C2E}" presName="childText" presStyleLbl="revTx" presStyleIdx="0" presStyleCnt="3">
        <dgm:presLayoutVars>
          <dgm:bulletEnabled val="1"/>
        </dgm:presLayoutVars>
      </dgm:prSet>
      <dgm:spPr/>
      <dgm:t>
        <a:bodyPr/>
        <a:lstStyle/>
        <a:p>
          <a:endParaRPr lang="en-US"/>
        </a:p>
      </dgm:t>
    </dgm:pt>
    <dgm:pt modelId="{AB800A7F-7C67-4C08-9BF3-93CF1218172A}" type="pres">
      <dgm:prSet presAssocID="{F7CCB281-1E41-42D9-8E58-9BD5DF738E0C}" presName="parentText" presStyleLbl="node1" presStyleIdx="1" presStyleCnt="3">
        <dgm:presLayoutVars>
          <dgm:chMax val="0"/>
          <dgm:bulletEnabled val="1"/>
        </dgm:presLayoutVars>
      </dgm:prSet>
      <dgm:spPr/>
      <dgm:t>
        <a:bodyPr/>
        <a:lstStyle/>
        <a:p>
          <a:endParaRPr lang="en-US"/>
        </a:p>
      </dgm:t>
    </dgm:pt>
    <dgm:pt modelId="{8638A905-E331-413A-B80E-E955BB1BF2B7}" type="pres">
      <dgm:prSet presAssocID="{F7CCB281-1E41-42D9-8E58-9BD5DF738E0C}" presName="childText" presStyleLbl="revTx" presStyleIdx="1" presStyleCnt="3">
        <dgm:presLayoutVars>
          <dgm:bulletEnabled val="1"/>
        </dgm:presLayoutVars>
      </dgm:prSet>
      <dgm:spPr/>
      <dgm:t>
        <a:bodyPr/>
        <a:lstStyle/>
        <a:p>
          <a:endParaRPr lang="en-US"/>
        </a:p>
      </dgm:t>
    </dgm:pt>
    <dgm:pt modelId="{A3C3563F-D65C-4C69-93AD-B77FB626248E}" type="pres">
      <dgm:prSet presAssocID="{F3176FEE-BDE3-4DFF-8A73-F61E1BCB861C}" presName="parentText" presStyleLbl="node1" presStyleIdx="2" presStyleCnt="3">
        <dgm:presLayoutVars>
          <dgm:chMax val="0"/>
          <dgm:bulletEnabled val="1"/>
        </dgm:presLayoutVars>
      </dgm:prSet>
      <dgm:spPr/>
      <dgm:t>
        <a:bodyPr/>
        <a:lstStyle/>
        <a:p>
          <a:endParaRPr lang="en-US"/>
        </a:p>
      </dgm:t>
    </dgm:pt>
    <dgm:pt modelId="{531175E8-8CEB-4629-B116-45AA7002B37A}" type="pres">
      <dgm:prSet presAssocID="{F3176FEE-BDE3-4DFF-8A73-F61E1BCB861C}" presName="childText" presStyleLbl="revTx" presStyleIdx="2" presStyleCnt="3">
        <dgm:presLayoutVars>
          <dgm:bulletEnabled val="1"/>
        </dgm:presLayoutVars>
      </dgm:prSet>
      <dgm:spPr/>
      <dgm:t>
        <a:bodyPr/>
        <a:lstStyle/>
        <a:p>
          <a:endParaRPr lang="en-US"/>
        </a:p>
      </dgm:t>
    </dgm:pt>
  </dgm:ptLst>
  <dgm:cxnLst>
    <dgm:cxn modelId="{E2A1239F-D3EA-472C-8815-FAA745E1B622}" type="presOf" srcId="{D9222153-2744-4FE0-930D-E18E6A284622}" destId="{8638A905-E331-413A-B80E-E955BB1BF2B7}" srcOrd="0" destOrd="0" presId="urn:microsoft.com/office/officeart/2005/8/layout/vList2"/>
    <dgm:cxn modelId="{6C8948A0-167B-4D14-8A27-A8CE5B72997C}" type="presOf" srcId="{F7CCB281-1E41-42D9-8E58-9BD5DF738E0C}" destId="{AB800A7F-7C67-4C08-9BF3-93CF1218172A}" srcOrd="0" destOrd="0" presId="urn:microsoft.com/office/officeart/2005/8/layout/vList2"/>
    <dgm:cxn modelId="{C8D83724-06C2-4733-A830-9759A41C36CC}" type="presOf" srcId="{F3176FEE-BDE3-4DFF-8A73-F61E1BCB861C}" destId="{A3C3563F-D65C-4C69-93AD-B77FB626248E}" srcOrd="0" destOrd="0" presId="urn:microsoft.com/office/officeart/2005/8/layout/vList2"/>
    <dgm:cxn modelId="{912303D9-1392-4813-8D3C-88A3A0604B9F}" type="presOf" srcId="{34526CE7-FB48-4096-A3FA-D6B0E5CF4021}" destId="{EDD8C2DC-A859-444D-8093-87A40CDEE9B1}" srcOrd="0" destOrd="0" presId="urn:microsoft.com/office/officeart/2005/8/layout/vList2"/>
    <dgm:cxn modelId="{D2550E56-7F62-4A89-978D-A1831919EEB2}" type="presOf" srcId="{CECE435A-9C40-4982-B08B-102807545C2E}" destId="{FD026518-85AB-49B3-B288-F593AD51212F}" srcOrd="0" destOrd="0" presId="urn:microsoft.com/office/officeart/2005/8/layout/vList2"/>
    <dgm:cxn modelId="{768F4DF1-E57B-4516-8931-D0E921C0F814}" srcId="{F3176FEE-BDE3-4DFF-8A73-F61E1BCB861C}" destId="{C5BAEF43-CAD4-4510-9C01-985AF5F46A8D}" srcOrd="0" destOrd="0" parTransId="{47D61BBA-035D-4E68-B9BA-D2A82AE22587}" sibTransId="{C722E52C-778B-4484-92D2-91678D7FF04E}"/>
    <dgm:cxn modelId="{78034E05-7ED1-482F-A6E0-2124C4172091}" srcId="{34526CE7-FB48-4096-A3FA-D6B0E5CF4021}" destId="{CECE435A-9C40-4982-B08B-102807545C2E}" srcOrd="0" destOrd="0" parTransId="{0837A8EA-E729-43EB-B899-7B9FBFA4F5C9}" sibTransId="{E41E0E69-0C11-40AF-A6E7-1FCE0960C98C}"/>
    <dgm:cxn modelId="{2CED3833-7E54-4285-B3BF-16A399C8F2A9}" srcId="{F7CCB281-1E41-42D9-8E58-9BD5DF738E0C}" destId="{D9222153-2744-4FE0-930D-E18E6A284622}" srcOrd="0" destOrd="0" parTransId="{D9631374-4034-48AC-B89C-A71BA3A583FA}" sibTransId="{5EA0CBED-4C6E-4F9D-8023-C35E8E525CF3}"/>
    <dgm:cxn modelId="{156518DD-02F8-46DA-8193-9D61FB9B5031}" type="presOf" srcId="{0820B9B8-BC30-45F6-B73C-F58725F13370}" destId="{20B871B6-66AB-4150-837E-0A4F74384FC3}" srcOrd="0" destOrd="0" presId="urn:microsoft.com/office/officeart/2005/8/layout/vList2"/>
    <dgm:cxn modelId="{4899E66F-5031-438D-BC86-902FD161F067}" type="presOf" srcId="{C5BAEF43-CAD4-4510-9C01-985AF5F46A8D}" destId="{531175E8-8CEB-4629-B116-45AA7002B37A}" srcOrd="0" destOrd="0" presId="urn:microsoft.com/office/officeart/2005/8/layout/vList2"/>
    <dgm:cxn modelId="{6E0779B7-AAD5-4953-9418-184BA0777B28}" srcId="{34526CE7-FB48-4096-A3FA-D6B0E5CF4021}" destId="{F3176FEE-BDE3-4DFF-8A73-F61E1BCB861C}" srcOrd="2" destOrd="0" parTransId="{8671D06F-4FC0-4431-95EA-C31FD18C00D9}" sibTransId="{65EA9ECE-7885-4687-BA07-BA629F438DF2}"/>
    <dgm:cxn modelId="{06372670-5969-4085-A377-220176019BCC}" srcId="{34526CE7-FB48-4096-A3FA-D6B0E5CF4021}" destId="{F7CCB281-1E41-42D9-8E58-9BD5DF738E0C}" srcOrd="1" destOrd="0" parTransId="{A11A896B-15D4-4EAA-9A3B-8F8FCDFCBB24}" sibTransId="{CCBC9858-DA03-406E-9227-442DFFFCFD11}"/>
    <dgm:cxn modelId="{3678AB9F-0AB5-4535-8675-5612F0F7ED15}" srcId="{CECE435A-9C40-4982-B08B-102807545C2E}" destId="{0820B9B8-BC30-45F6-B73C-F58725F13370}" srcOrd="0" destOrd="0" parTransId="{606E9029-6448-4466-9F82-DD144A4EE0B0}" sibTransId="{A3A61180-9378-4048-9776-1E6DF09D65BD}"/>
    <dgm:cxn modelId="{797A3BED-6520-4B8E-9BF2-6F33FF8AE377}" type="presParOf" srcId="{EDD8C2DC-A859-444D-8093-87A40CDEE9B1}" destId="{FD026518-85AB-49B3-B288-F593AD51212F}" srcOrd="0" destOrd="0" presId="urn:microsoft.com/office/officeart/2005/8/layout/vList2"/>
    <dgm:cxn modelId="{E5A2AED3-DD29-4A0D-A87E-679A6DE340CD}" type="presParOf" srcId="{EDD8C2DC-A859-444D-8093-87A40CDEE9B1}" destId="{20B871B6-66AB-4150-837E-0A4F74384FC3}" srcOrd="1" destOrd="0" presId="urn:microsoft.com/office/officeart/2005/8/layout/vList2"/>
    <dgm:cxn modelId="{233F7969-B8DC-41CC-87B5-D136AA8AB327}" type="presParOf" srcId="{EDD8C2DC-A859-444D-8093-87A40CDEE9B1}" destId="{AB800A7F-7C67-4C08-9BF3-93CF1218172A}" srcOrd="2" destOrd="0" presId="urn:microsoft.com/office/officeart/2005/8/layout/vList2"/>
    <dgm:cxn modelId="{DB92A6F0-A29C-4D2D-9F2D-2EC34613DF2C}" type="presParOf" srcId="{EDD8C2DC-A859-444D-8093-87A40CDEE9B1}" destId="{8638A905-E331-413A-B80E-E955BB1BF2B7}" srcOrd="3" destOrd="0" presId="urn:microsoft.com/office/officeart/2005/8/layout/vList2"/>
    <dgm:cxn modelId="{A4BCC9BA-B922-4C7E-8AB8-FC94D7C948B5}" type="presParOf" srcId="{EDD8C2DC-A859-444D-8093-87A40CDEE9B1}" destId="{A3C3563F-D65C-4C69-93AD-B77FB626248E}" srcOrd="4" destOrd="0" presId="urn:microsoft.com/office/officeart/2005/8/layout/vList2"/>
    <dgm:cxn modelId="{D2D167EB-DEE6-4E84-B454-DF87CE970968}" type="presParOf" srcId="{EDD8C2DC-A859-444D-8093-87A40CDEE9B1}" destId="{531175E8-8CEB-4629-B116-45AA7002B37A}"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9F038-7222-437A-98FB-B8CDF99E686E}">
      <dsp:nvSpPr>
        <dsp:cNvPr id="0" name=""/>
        <dsp:cNvSpPr/>
      </dsp:nvSpPr>
      <dsp:spPr>
        <a:xfrm>
          <a:off x="2118518" y="0"/>
          <a:ext cx="3992563" cy="3992563"/>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45769-DECC-4063-9830-D8FCBE231391}">
      <dsp:nvSpPr>
        <dsp:cNvPr id="0" name=""/>
        <dsp:cNvSpPr/>
      </dsp:nvSpPr>
      <dsp:spPr>
        <a:xfrm>
          <a:off x="2497811" y="379293"/>
          <a:ext cx="1557099" cy="1557099"/>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t>Analyzing consumer needs</a:t>
          </a:r>
          <a:endParaRPr lang="en-US" sz="2200" kern="1200" dirty="0"/>
        </a:p>
      </dsp:txBody>
      <dsp:txXfrm>
        <a:off x="2573822" y="455304"/>
        <a:ext cx="1405077" cy="1405077"/>
      </dsp:txXfrm>
    </dsp:sp>
    <dsp:sp modelId="{18A5F90E-57A9-47B0-BC6B-B9F78A4853ED}">
      <dsp:nvSpPr>
        <dsp:cNvPr id="0" name=""/>
        <dsp:cNvSpPr/>
      </dsp:nvSpPr>
      <dsp:spPr>
        <a:xfrm>
          <a:off x="4174688" y="379293"/>
          <a:ext cx="1557099" cy="1557099"/>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t>Setting channel objectives</a:t>
          </a:r>
          <a:endParaRPr lang="en-US" sz="2200" kern="1200" dirty="0"/>
        </a:p>
      </dsp:txBody>
      <dsp:txXfrm>
        <a:off x="4250699" y="455304"/>
        <a:ext cx="1405077" cy="1405077"/>
      </dsp:txXfrm>
    </dsp:sp>
    <dsp:sp modelId="{FA4BF5B0-5298-4254-BE56-11351A5302D9}">
      <dsp:nvSpPr>
        <dsp:cNvPr id="0" name=""/>
        <dsp:cNvSpPr/>
      </dsp:nvSpPr>
      <dsp:spPr>
        <a:xfrm>
          <a:off x="2497811" y="2056169"/>
          <a:ext cx="1557099" cy="1557099"/>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t>Identifying major channel alternatives</a:t>
          </a:r>
          <a:endParaRPr lang="en-US" sz="2200" kern="1200" dirty="0"/>
        </a:p>
      </dsp:txBody>
      <dsp:txXfrm>
        <a:off x="2573822" y="2132180"/>
        <a:ext cx="1405077" cy="1405077"/>
      </dsp:txXfrm>
    </dsp:sp>
    <dsp:sp modelId="{316BC83E-74E4-46E9-A00A-B32D961B0BFE}">
      <dsp:nvSpPr>
        <dsp:cNvPr id="0" name=""/>
        <dsp:cNvSpPr/>
      </dsp:nvSpPr>
      <dsp:spPr>
        <a:xfrm>
          <a:off x="4174688" y="2056169"/>
          <a:ext cx="1557099" cy="1557099"/>
        </a:xfrm>
        <a:prstGeom prst="roundRect">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kern="1200" dirty="0" smtClean="0"/>
            <a:t>Evaluation</a:t>
          </a:r>
          <a:endParaRPr lang="en-US" sz="2200" kern="1200" dirty="0"/>
        </a:p>
      </dsp:txBody>
      <dsp:txXfrm>
        <a:off x="4250699" y="2132180"/>
        <a:ext cx="1405077" cy="14050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026518-85AB-49B3-B288-F593AD51212F}">
      <dsp:nvSpPr>
        <dsp:cNvPr id="0" name=""/>
        <dsp:cNvSpPr/>
      </dsp:nvSpPr>
      <dsp:spPr>
        <a:xfrm>
          <a:off x="0" y="107777"/>
          <a:ext cx="5943600" cy="752894"/>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kern="1200" dirty="0" smtClean="0"/>
            <a:t>Intensive distribution</a:t>
          </a:r>
          <a:endParaRPr lang="en-US" sz="3200" kern="1200" dirty="0"/>
        </a:p>
      </dsp:txBody>
      <dsp:txXfrm>
        <a:off x="36753" y="144530"/>
        <a:ext cx="5870094" cy="679388"/>
      </dsp:txXfrm>
    </dsp:sp>
    <dsp:sp modelId="{20B871B6-66AB-4150-837E-0A4F74384FC3}">
      <dsp:nvSpPr>
        <dsp:cNvPr id="0" name=""/>
        <dsp:cNvSpPr/>
      </dsp:nvSpPr>
      <dsp:spPr>
        <a:xfrm>
          <a:off x="0" y="860672"/>
          <a:ext cx="5943600"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709"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dirty="0" smtClean="0"/>
            <a:t>Candy and toothpaste</a:t>
          </a:r>
          <a:endParaRPr lang="en-US" sz="2500" kern="1200" dirty="0"/>
        </a:p>
      </dsp:txBody>
      <dsp:txXfrm>
        <a:off x="0" y="860672"/>
        <a:ext cx="5943600" cy="529920"/>
      </dsp:txXfrm>
    </dsp:sp>
    <dsp:sp modelId="{AB800A7F-7C67-4C08-9BF3-93CF1218172A}">
      <dsp:nvSpPr>
        <dsp:cNvPr id="0" name=""/>
        <dsp:cNvSpPr/>
      </dsp:nvSpPr>
      <dsp:spPr>
        <a:xfrm>
          <a:off x="0" y="1390592"/>
          <a:ext cx="5943600" cy="752894"/>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kern="1200" dirty="0" smtClean="0"/>
            <a:t>Exclusive distribution</a:t>
          </a:r>
          <a:endParaRPr lang="en-US" sz="3200" kern="1200" dirty="0"/>
        </a:p>
      </dsp:txBody>
      <dsp:txXfrm>
        <a:off x="36753" y="1427345"/>
        <a:ext cx="5870094" cy="679388"/>
      </dsp:txXfrm>
    </dsp:sp>
    <dsp:sp modelId="{8638A905-E331-413A-B80E-E955BB1BF2B7}">
      <dsp:nvSpPr>
        <dsp:cNvPr id="0" name=""/>
        <dsp:cNvSpPr/>
      </dsp:nvSpPr>
      <dsp:spPr>
        <a:xfrm>
          <a:off x="0" y="2143487"/>
          <a:ext cx="5943600"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709"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dirty="0" smtClean="0"/>
            <a:t>Luxury automobiles and prestige clothing</a:t>
          </a:r>
          <a:endParaRPr lang="en-US" sz="2500" kern="1200" dirty="0"/>
        </a:p>
      </dsp:txBody>
      <dsp:txXfrm>
        <a:off x="0" y="2143487"/>
        <a:ext cx="5943600" cy="529920"/>
      </dsp:txXfrm>
    </dsp:sp>
    <dsp:sp modelId="{A3C3563F-D65C-4C69-93AD-B77FB626248E}">
      <dsp:nvSpPr>
        <dsp:cNvPr id="0" name=""/>
        <dsp:cNvSpPr/>
      </dsp:nvSpPr>
      <dsp:spPr>
        <a:xfrm>
          <a:off x="0" y="2673407"/>
          <a:ext cx="5943600" cy="752894"/>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sz="3200" kern="1200" dirty="0" smtClean="0"/>
            <a:t>Selective distribution</a:t>
          </a:r>
          <a:endParaRPr lang="en-US" sz="3200" kern="1200" dirty="0"/>
        </a:p>
      </dsp:txBody>
      <dsp:txXfrm>
        <a:off x="36753" y="2710160"/>
        <a:ext cx="5870094" cy="679388"/>
      </dsp:txXfrm>
    </dsp:sp>
    <dsp:sp modelId="{531175E8-8CEB-4629-B116-45AA7002B37A}">
      <dsp:nvSpPr>
        <dsp:cNvPr id="0" name=""/>
        <dsp:cNvSpPr/>
      </dsp:nvSpPr>
      <dsp:spPr>
        <a:xfrm>
          <a:off x="0" y="3426302"/>
          <a:ext cx="5943600" cy="529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709"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dirty="0" smtClean="0"/>
            <a:t>Television and home appliance</a:t>
          </a:r>
          <a:endParaRPr lang="en-US" sz="2500" kern="1200" dirty="0"/>
        </a:p>
      </dsp:txBody>
      <dsp:txXfrm>
        <a:off x="0" y="3426302"/>
        <a:ext cx="5943600" cy="529920"/>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B6F15528-21DE-4FAA-801E-634DDDAF4B2B}" type="slidenum">
              <a:rPr lang="en-US" smtClean="0"/>
              <a:pPr/>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549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13026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0093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03799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41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320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36988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150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3390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69402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3740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5394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851593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9918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60107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3325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008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12/11/2023</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9191953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Principles of Marketing</a:t>
            </a:r>
            <a:endParaRPr lang="en-US" sz="4800" dirty="0"/>
          </a:p>
        </p:txBody>
      </p:sp>
      <p:sp>
        <p:nvSpPr>
          <p:cNvPr id="3" name="Subtitle 2"/>
          <p:cNvSpPr>
            <a:spLocks noGrp="1"/>
          </p:cNvSpPr>
          <p:nvPr>
            <p:ph type="subTitle" idx="1"/>
          </p:nvPr>
        </p:nvSpPr>
        <p:spPr/>
        <p:txBody>
          <a:bodyPr/>
          <a:lstStyle/>
          <a:p>
            <a:r>
              <a:rPr lang="en-US" dirty="0" smtClean="0"/>
              <a:t>Chapter#12 </a:t>
            </a:r>
          </a:p>
          <a:p>
            <a:r>
              <a:rPr lang="en-US" b="1" dirty="0"/>
              <a:t>Marketing Channels: Delivering Customer Value</a:t>
            </a:r>
            <a:endParaRPr lang="en-US" dirty="0"/>
          </a:p>
        </p:txBody>
      </p:sp>
    </p:spTree>
    <p:extLst>
      <p:ext uri="{BB962C8B-B14F-4D97-AF65-F5344CB8AC3E}">
        <p14:creationId xmlns:p14="http://schemas.microsoft.com/office/powerpoint/2010/main" val="3232847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smtClean="0"/>
              <a:t>Supply </a:t>
            </a:r>
            <a:r>
              <a:rPr lang="en-US" sz="3200" dirty="0"/>
              <a:t>Chains and the </a:t>
            </a:r>
            <a:r>
              <a:rPr lang="en-US" sz="3200" dirty="0" smtClean="0"/>
              <a:t>Value </a:t>
            </a:r>
            <a:r>
              <a:rPr lang="en-US" sz="3200" dirty="0"/>
              <a:t>Delivery Network</a:t>
            </a:r>
          </a:p>
        </p:txBody>
      </p:sp>
      <p:sp>
        <p:nvSpPr>
          <p:cNvPr id="2" name="Content Placeholder 1"/>
          <p:cNvSpPr>
            <a:spLocks noGrp="1"/>
          </p:cNvSpPr>
          <p:nvPr>
            <p:ph idx="1"/>
          </p:nvPr>
        </p:nvSpPr>
        <p:spPr/>
        <p:txBody>
          <a:bodyPr/>
          <a:lstStyle/>
          <a:p>
            <a:pPr marL="533400" indent="-533400" algn="ctr">
              <a:lnSpc>
                <a:spcPct val="80000"/>
              </a:lnSpc>
              <a:buFontTx/>
              <a:buNone/>
            </a:pPr>
            <a:r>
              <a:rPr lang="en-US" u="sng" dirty="0">
                <a:latin typeface="Arial" charset="0"/>
              </a:rPr>
              <a:t>Supply Chain </a:t>
            </a:r>
            <a:r>
              <a:rPr lang="en-US" u="sng" dirty="0" smtClean="0">
                <a:latin typeface="Arial" charset="0"/>
              </a:rPr>
              <a:t>Partners</a:t>
            </a:r>
          </a:p>
          <a:p>
            <a:pPr marL="533400" indent="-533400" algn="ctr">
              <a:lnSpc>
                <a:spcPct val="80000"/>
              </a:lnSpc>
              <a:buFontTx/>
              <a:buNone/>
            </a:pPr>
            <a:endParaRPr lang="en-US" b="1" u="sng" dirty="0"/>
          </a:p>
          <a:p>
            <a:pPr>
              <a:lnSpc>
                <a:spcPct val="80000"/>
              </a:lnSpc>
            </a:pPr>
            <a:r>
              <a:rPr lang="en-US" b="1" dirty="0"/>
              <a:t>Upstream partners </a:t>
            </a:r>
            <a:r>
              <a:rPr lang="en-US" dirty="0"/>
              <a:t>include raw material suppliers, components, parts, information, finances, and expertise to create a product or service</a:t>
            </a:r>
          </a:p>
          <a:p>
            <a:pPr marL="533400" indent="-533400">
              <a:lnSpc>
                <a:spcPct val="80000"/>
              </a:lnSpc>
              <a:buFontTx/>
              <a:buNone/>
            </a:pPr>
            <a:endParaRPr lang="en-US" dirty="0"/>
          </a:p>
          <a:p>
            <a:pPr>
              <a:lnSpc>
                <a:spcPct val="80000"/>
              </a:lnSpc>
            </a:pPr>
            <a:r>
              <a:rPr lang="en-US" b="1" dirty="0"/>
              <a:t>Downstream partners </a:t>
            </a:r>
            <a:r>
              <a:rPr lang="en-US" dirty="0"/>
              <a:t>include the marketing channels or distribution channels that look toward the customer</a:t>
            </a:r>
          </a:p>
          <a:p>
            <a:endParaRPr lang="en-US" dirty="0"/>
          </a:p>
        </p:txBody>
      </p:sp>
    </p:spTree>
    <p:extLst>
      <p:ext uri="{BB962C8B-B14F-4D97-AF65-F5344CB8AC3E}">
        <p14:creationId xmlns:p14="http://schemas.microsoft.com/office/powerpoint/2010/main" val="36810139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smtClean="0"/>
              <a:t>Marketing channel (Definition)</a:t>
            </a:r>
            <a:endParaRPr lang="en-US" sz="4000" dirty="0"/>
          </a:p>
        </p:txBody>
      </p:sp>
      <p:sp>
        <p:nvSpPr>
          <p:cNvPr id="2" name="Content Placeholder 1"/>
          <p:cNvSpPr>
            <a:spLocks noGrp="1"/>
          </p:cNvSpPr>
          <p:nvPr>
            <p:ph idx="1"/>
          </p:nvPr>
        </p:nvSpPr>
        <p:spPr/>
        <p:txBody>
          <a:bodyPr/>
          <a:lstStyle/>
          <a:p>
            <a:r>
              <a:rPr lang="en-US" dirty="0" smtClean="0"/>
              <a:t>A marketing channel  (or distribution channel) is a set of independent organizations </a:t>
            </a:r>
            <a:r>
              <a:rPr lang="en-US" dirty="0" smtClean="0">
                <a:solidFill>
                  <a:srgbClr val="FF0000"/>
                </a:solidFill>
              </a:rPr>
              <a:t>that help make a product or service available</a:t>
            </a:r>
            <a:r>
              <a:rPr lang="en-US" dirty="0" smtClean="0"/>
              <a:t> for use or consumption by the consumer or business user.</a:t>
            </a:r>
            <a:endParaRPr lang="en-US" dirty="0"/>
          </a:p>
        </p:txBody>
      </p:sp>
    </p:spTree>
    <p:extLst>
      <p:ext uri="{BB962C8B-B14F-4D97-AF65-F5344CB8AC3E}">
        <p14:creationId xmlns:p14="http://schemas.microsoft.com/office/powerpoint/2010/main" val="35776047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2743200"/>
            <a:ext cx="7010400" cy="1200329"/>
          </a:xfrm>
          <a:prstGeom prst="rect">
            <a:avLst/>
          </a:prstGeom>
        </p:spPr>
        <p:txBody>
          <a:bodyPr wrap="square">
            <a:spAutoFit/>
          </a:bodyPr>
          <a:lstStyle/>
          <a:p>
            <a:pPr algn="ctr"/>
            <a:r>
              <a:rPr lang="en-US" sz="3600" dirty="0">
                <a:solidFill>
                  <a:schemeClr val="tx2"/>
                </a:solidFill>
              </a:rPr>
              <a:t>The Nature and Importance of   Marketing Channels</a:t>
            </a:r>
          </a:p>
        </p:txBody>
      </p:sp>
    </p:spTree>
    <p:extLst>
      <p:ext uri="{BB962C8B-B14F-4D97-AF65-F5344CB8AC3E}">
        <p14:creationId xmlns:p14="http://schemas.microsoft.com/office/powerpoint/2010/main" val="31242507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a:latin typeface="Arial" charset="0"/>
              </a:rPr>
              <a:t>How Channel Members Add </a:t>
            </a:r>
            <a:r>
              <a:rPr lang="en-US" sz="3200" dirty="0" smtClean="0">
                <a:latin typeface="Arial" charset="0"/>
              </a:rPr>
              <a:t>Value</a:t>
            </a:r>
            <a:endParaRPr lang="en-US" sz="3200" dirty="0"/>
          </a:p>
        </p:txBody>
      </p:sp>
      <p:sp>
        <p:nvSpPr>
          <p:cNvPr id="2" name="Content Placeholder 1"/>
          <p:cNvSpPr>
            <a:spLocks noGrp="1"/>
          </p:cNvSpPr>
          <p:nvPr>
            <p:ph idx="1"/>
          </p:nvPr>
        </p:nvSpPr>
        <p:spPr/>
        <p:txBody>
          <a:bodyPr>
            <a:normAutofit fontScale="85000" lnSpcReduction="10000"/>
          </a:bodyPr>
          <a:lstStyle/>
          <a:p>
            <a:r>
              <a:rPr lang="en-US" b="1" dirty="0"/>
              <a:t>Intermediaries</a:t>
            </a:r>
            <a:r>
              <a:rPr lang="en-US" dirty="0"/>
              <a:t> offer producers </a:t>
            </a:r>
            <a:r>
              <a:rPr lang="en-US" u="sng" dirty="0"/>
              <a:t>greater efficiency in making goods available to target markets</a:t>
            </a:r>
            <a:r>
              <a:rPr lang="en-US" dirty="0"/>
              <a:t>. Through their contacts, experience, specialization, and scale of operations, intermediaries usually offer the firm more than it can achieve on its own</a:t>
            </a:r>
            <a:r>
              <a:rPr lang="en-US" dirty="0" smtClean="0"/>
              <a:t>.</a:t>
            </a:r>
            <a:r>
              <a:rPr lang="en-US" dirty="0"/>
              <a:t> </a:t>
            </a:r>
            <a:endParaRPr lang="en-US" dirty="0" smtClean="0"/>
          </a:p>
          <a:p>
            <a:r>
              <a:rPr lang="en-US" dirty="0" smtClean="0"/>
              <a:t>From </a:t>
            </a:r>
            <a:r>
              <a:rPr lang="en-US" dirty="0"/>
              <a:t>an economic view, intermediaries </a:t>
            </a:r>
            <a:r>
              <a:rPr lang="en-US" u="sng" dirty="0"/>
              <a:t>transform the assortment of products into assortments wanted by consumers</a:t>
            </a:r>
          </a:p>
          <a:p>
            <a:r>
              <a:rPr lang="en-US" dirty="0" smtClean="0"/>
              <a:t>In making products and services available </a:t>
            </a:r>
            <a:r>
              <a:rPr lang="en-US" smtClean="0"/>
              <a:t>to consumers, channel </a:t>
            </a:r>
            <a:r>
              <a:rPr lang="en-US" dirty="0"/>
              <a:t>members </a:t>
            </a:r>
            <a:r>
              <a:rPr lang="en-US" u="sng" dirty="0"/>
              <a:t>add value by bridging the major time, place, and possession gaps that separate goods and services from those who would use them</a:t>
            </a:r>
          </a:p>
        </p:txBody>
      </p:sp>
    </p:spTree>
    <p:extLst>
      <p:ext uri="{BB962C8B-B14F-4D97-AF65-F5344CB8AC3E}">
        <p14:creationId xmlns:p14="http://schemas.microsoft.com/office/powerpoint/2010/main" val="1173480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a:t>Channel Design Decisions</a:t>
            </a:r>
          </a:p>
        </p:txBody>
      </p:sp>
      <p:graphicFrame>
        <p:nvGraphicFramePr>
          <p:cNvPr id="4" name="Diagram 3"/>
          <p:cNvGraphicFramePr/>
          <p:nvPr/>
        </p:nvGraphicFramePr>
        <p:xfrm>
          <a:off x="457200" y="2133600"/>
          <a:ext cx="8229600" cy="3992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71366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b="1" dirty="0" smtClean="0">
                <a:cs typeface="Calibri" pitchFamily="34" charset="0"/>
              </a:rPr>
              <a:t>1. Analyzing </a:t>
            </a:r>
            <a:r>
              <a:rPr lang="en-US" sz="3200" b="1" dirty="0">
                <a:cs typeface="Calibri" pitchFamily="34" charset="0"/>
              </a:rPr>
              <a:t>Consumer Needs</a:t>
            </a:r>
            <a:endParaRPr lang="en-US" sz="3200" dirty="0"/>
          </a:p>
        </p:txBody>
      </p:sp>
      <p:sp>
        <p:nvSpPr>
          <p:cNvPr id="2" name="Content Placeholder 1"/>
          <p:cNvSpPr>
            <a:spLocks noGrp="1"/>
          </p:cNvSpPr>
          <p:nvPr>
            <p:ph idx="1"/>
          </p:nvPr>
        </p:nvSpPr>
        <p:spPr/>
        <p:txBody>
          <a:bodyPr>
            <a:normAutofit fontScale="92500"/>
          </a:bodyPr>
          <a:lstStyle/>
          <a:p>
            <a:r>
              <a:rPr lang="en-US" dirty="0">
                <a:latin typeface="Times New Roman" pitchFamily="18" charset="0"/>
              </a:rPr>
              <a:t>Do customers want to buy from </a:t>
            </a:r>
            <a:r>
              <a:rPr lang="en-US" u="sng" dirty="0">
                <a:latin typeface="Times New Roman" pitchFamily="18" charset="0"/>
              </a:rPr>
              <a:t>nearby locations</a:t>
            </a:r>
            <a:r>
              <a:rPr lang="en-US" dirty="0">
                <a:latin typeface="Times New Roman" pitchFamily="18" charset="0"/>
              </a:rPr>
              <a:t> or are they </a:t>
            </a:r>
            <a:r>
              <a:rPr lang="en-US" u="sng" dirty="0">
                <a:latin typeface="Times New Roman" pitchFamily="18" charset="0"/>
              </a:rPr>
              <a:t>willing to travel to more distant centralized locations</a:t>
            </a:r>
            <a:r>
              <a:rPr lang="en-US" dirty="0">
                <a:latin typeface="Times New Roman" pitchFamily="18" charset="0"/>
              </a:rPr>
              <a:t>?</a:t>
            </a:r>
          </a:p>
          <a:p>
            <a:r>
              <a:rPr lang="en-US" dirty="0">
                <a:latin typeface="Times New Roman" pitchFamily="18" charset="0"/>
              </a:rPr>
              <a:t>Would they rather </a:t>
            </a:r>
            <a:r>
              <a:rPr lang="en-US" u="sng" dirty="0">
                <a:latin typeface="Times New Roman" pitchFamily="18" charset="0"/>
              </a:rPr>
              <a:t>buy in person, by phone, or online</a:t>
            </a:r>
            <a:r>
              <a:rPr lang="en-US" dirty="0" smtClean="0">
                <a:latin typeface="Times New Roman" pitchFamily="18" charset="0"/>
              </a:rPr>
              <a:t>?</a:t>
            </a:r>
          </a:p>
          <a:p>
            <a:r>
              <a:rPr lang="en-US" dirty="0" smtClean="0">
                <a:latin typeface="Times New Roman" pitchFamily="18" charset="0"/>
              </a:rPr>
              <a:t>Do they value breadth of assortment or do they prefer specialization?</a:t>
            </a:r>
          </a:p>
          <a:p>
            <a:r>
              <a:rPr lang="en-US" dirty="0" smtClean="0">
                <a:latin typeface="Times New Roman" pitchFamily="18" charset="0"/>
              </a:rPr>
              <a:t>Do consumer want many add-on services (delivery, repair, installation), or will they obtain these elsewhere? </a:t>
            </a:r>
            <a:endParaRPr lang="en-US" dirty="0">
              <a:latin typeface="Times New Roman" pitchFamily="18" charset="0"/>
            </a:endParaRPr>
          </a:p>
          <a:p>
            <a:endParaRPr lang="en-US" dirty="0"/>
          </a:p>
        </p:txBody>
      </p:sp>
    </p:spTree>
    <p:extLst>
      <p:ext uri="{BB962C8B-B14F-4D97-AF65-F5344CB8AC3E}">
        <p14:creationId xmlns:p14="http://schemas.microsoft.com/office/powerpoint/2010/main" val="20579159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smtClean="0">
                <a:latin typeface="Arial" charset="0"/>
              </a:rPr>
              <a:t>2. Setting </a:t>
            </a:r>
            <a:r>
              <a:rPr lang="en-US" sz="3200" dirty="0">
                <a:latin typeface="Arial" charset="0"/>
              </a:rPr>
              <a:t>Channel </a:t>
            </a:r>
            <a:r>
              <a:rPr lang="en-US" sz="3200" dirty="0" smtClean="0">
                <a:latin typeface="Arial" charset="0"/>
              </a:rPr>
              <a:t>Objectives</a:t>
            </a:r>
            <a:endParaRPr lang="en-US" sz="3200" dirty="0"/>
          </a:p>
        </p:txBody>
      </p:sp>
      <p:sp>
        <p:nvSpPr>
          <p:cNvPr id="2" name="Content Placeholder 1"/>
          <p:cNvSpPr>
            <a:spLocks noGrp="1"/>
          </p:cNvSpPr>
          <p:nvPr>
            <p:ph idx="1"/>
          </p:nvPr>
        </p:nvSpPr>
        <p:spPr/>
        <p:txBody>
          <a:bodyPr>
            <a:normAutofit lnSpcReduction="10000"/>
          </a:bodyPr>
          <a:lstStyle/>
          <a:p>
            <a:pPr marL="0" indent="0">
              <a:buNone/>
            </a:pPr>
            <a:r>
              <a:rPr lang="en-US" dirty="0" smtClean="0"/>
              <a:t>Companies should state their marketing channel objectives in terms of:</a:t>
            </a:r>
          </a:p>
          <a:p>
            <a:pPr marL="533400" indent="-533400"/>
            <a:r>
              <a:rPr lang="en-US" dirty="0" smtClean="0"/>
              <a:t>Targeted </a:t>
            </a:r>
            <a:r>
              <a:rPr lang="en-US" u="sng" dirty="0"/>
              <a:t>levels of customer service</a:t>
            </a:r>
          </a:p>
          <a:p>
            <a:pPr marL="533400" indent="-533400"/>
            <a:r>
              <a:rPr lang="en-US" dirty="0"/>
              <a:t>What </a:t>
            </a:r>
            <a:r>
              <a:rPr lang="en-US" u="sng" dirty="0"/>
              <a:t>segments</a:t>
            </a:r>
            <a:r>
              <a:rPr lang="en-US" dirty="0"/>
              <a:t> to </a:t>
            </a:r>
            <a:r>
              <a:rPr lang="en-US" dirty="0" smtClean="0"/>
              <a:t>serve (out of several segments wanting different levels of services)</a:t>
            </a:r>
            <a:endParaRPr lang="en-US" dirty="0"/>
          </a:p>
          <a:p>
            <a:pPr marL="533400" indent="-533400"/>
            <a:r>
              <a:rPr lang="en-US" u="sng" dirty="0"/>
              <a:t>Best channels </a:t>
            </a:r>
            <a:r>
              <a:rPr lang="en-US" dirty="0"/>
              <a:t>to use</a:t>
            </a:r>
          </a:p>
          <a:p>
            <a:pPr marL="533400" indent="-533400"/>
            <a:r>
              <a:rPr lang="en-US" u="sng" dirty="0"/>
              <a:t>Minimizing the cost </a:t>
            </a:r>
            <a:r>
              <a:rPr lang="en-US" dirty="0"/>
              <a:t>of meeting </a:t>
            </a:r>
            <a:r>
              <a:rPr lang="en-US" dirty="0" smtClean="0"/>
              <a:t>customer-service </a:t>
            </a:r>
            <a:r>
              <a:rPr lang="en-US" dirty="0"/>
              <a:t>requirements</a:t>
            </a:r>
          </a:p>
          <a:p>
            <a:endParaRPr lang="en-US" dirty="0"/>
          </a:p>
        </p:txBody>
      </p:sp>
    </p:spTree>
    <p:extLst>
      <p:ext uri="{BB962C8B-B14F-4D97-AF65-F5344CB8AC3E}">
        <p14:creationId xmlns:p14="http://schemas.microsoft.com/office/powerpoint/2010/main" val="33698049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a:latin typeface="Arial" charset="0"/>
              </a:rPr>
              <a:t>2. Setting Channel Objectives</a:t>
            </a:r>
            <a:endParaRPr lang="en-US" sz="3200" dirty="0"/>
          </a:p>
        </p:txBody>
      </p:sp>
      <p:sp>
        <p:nvSpPr>
          <p:cNvPr id="2" name="Content Placeholder 1"/>
          <p:cNvSpPr>
            <a:spLocks noGrp="1"/>
          </p:cNvSpPr>
          <p:nvPr>
            <p:ph idx="1"/>
          </p:nvPr>
        </p:nvSpPr>
        <p:spPr/>
        <p:txBody>
          <a:bodyPr/>
          <a:lstStyle/>
          <a:p>
            <a:pPr marL="0" indent="0">
              <a:buNone/>
            </a:pPr>
            <a:r>
              <a:rPr lang="en-US" dirty="0" smtClean="0"/>
              <a:t>Companies channel objectives are also influenced by:</a:t>
            </a:r>
          </a:p>
          <a:p>
            <a:r>
              <a:rPr lang="en-US" dirty="0" smtClean="0"/>
              <a:t>Nature of the company</a:t>
            </a:r>
          </a:p>
          <a:p>
            <a:r>
              <a:rPr lang="en-US" dirty="0" smtClean="0"/>
              <a:t>Its products </a:t>
            </a:r>
          </a:p>
          <a:p>
            <a:r>
              <a:rPr lang="en-US" dirty="0" smtClean="0"/>
              <a:t>Its marketing intermediaries</a:t>
            </a:r>
          </a:p>
          <a:p>
            <a:r>
              <a:rPr lang="en-US" dirty="0" smtClean="0"/>
              <a:t>Its competitors </a:t>
            </a:r>
          </a:p>
          <a:p>
            <a:r>
              <a:rPr lang="en-US" dirty="0" smtClean="0"/>
              <a:t>The </a:t>
            </a:r>
            <a:r>
              <a:rPr lang="en-US" dirty="0" err="1" smtClean="0"/>
              <a:t>environmet</a:t>
            </a:r>
            <a:endParaRPr lang="en-US" dirty="0" smtClean="0"/>
          </a:p>
          <a:p>
            <a:endParaRPr lang="en-US" dirty="0"/>
          </a:p>
        </p:txBody>
      </p:sp>
    </p:spTree>
    <p:extLst>
      <p:ext uri="{BB962C8B-B14F-4D97-AF65-F5344CB8AC3E}">
        <p14:creationId xmlns:p14="http://schemas.microsoft.com/office/powerpoint/2010/main" val="4434925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smtClean="0"/>
              <a:t>3. Identifying </a:t>
            </a:r>
            <a:r>
              <a:rPr lang="en-US" sz="3200" dirty="0"/>
              <a:t>Major Alternatives</a:t>
            </a:r>
          </a:p>
        </p:txBody>
      </p:sp>
      <p:sp>
        <p:nvSpPr>
          <p:cNvPr id="2" name="Content Placeholder 1"/>
          <p:cNvSpPr>
            <a:spLocks noGrp="1"/>
          </p:cNvSpPr>
          <p:nvPr>
            <p:ph idx="1"/>
          </p:nvPr>
        </p:nvSpPr>
        <p:spPr/>
        <p:txBody>
          <a:bodyPr/>
          <a:lstStyle/>
          <a:p>
            <a:pPr marL="0" indent="0">
              <a:buNone/>
            </a:pPr>
            <a:r>
              <a:rPr lang="en-US" dirty="0" smtClean="0"/>
              <a:t>After defining channel objectives, the company should identify its major channel alternatives in term of </a:t>
            </a:r>
          </a:p>
          <a:p>
            <a:r>
              <a:rPr lang="en-US" u="sng" dirty="0" smtClean="0"/>
              <a:t>Types </a:t>
            </a:r>
            <a:r>
              <a:rPr lang="en-US" u="sng" dirty="0"/>
              <a:t>of intermediaries</a:t>
            </a:r>
          </a:p>
          <a:p>
            <a:r>
              <a:rPr lang="en-US" u="sng" dirty="0"/>
              <a:t>Number</a:t>
            </a:r>
            <a:r>
              <a:rPr lang="en-US" dirty="0"/>
              <a:t> of marketing intermediaries</a:t>
            </a:r>
          </a:p>
          <a:p>
            <a:r>
              <a:rPr lang="en-US" u="sng" dirty="0"/>
              <a:t>Responsibilities of channel members</a:t>
            </a:r>
          </a:p>
          <a:p>
            <a:endParaRPr lang="en-US" dirty="0"/>
          </a:p>
        </p:txBody>
      </p:sp>
    </p:spTree>
    <p:extLst>
      <p:ext uri="{BB962C8B-B14F-4D97-AF65-F5344CB8AC3E}">
        <p14:creationId xmlns:p14="http://schemas.microsoft.com/office/powerpoint/2010/main" val="24697097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1143000"/>
            <a:ext cx="6798734" cy="1303867"/>
          </a:xfrm>
        </p:spPr>
        <p:txBody>
          <a:bodyPr/>
          <a:lstStyle/>
          <a:p>
            <a:r>
              <a:rPr lang="en-US" sz="3200" dirty="0"/>
              <a:t>Identifying Major Alternatives</a:t>
            </a:r>
          </a:p>
        </p:txBody>
      </p:sp>
      <p:graphicFrame>
        <p:nvGraphicFramePr>
          <p:cNvPr id="4" name="Diagram 3"/>
          <p:cNvGraphicFramePr/>
          <p:nvPr>
            <p:extLst>
              <p:ext uri="{D42A27DB-BD31-4B8C-83A1-F6EECF244321}">
                <p14:modId xmlns:p14="http://schemas.microsoft.com/office/powerpoint/2010/main" val="1442957785"/>
              </p:ext>
            </p:extLst>
          </p:nvPr>
        </p:nvGraphicFramePr>
        <p:xfrm>
          <a:off x="1600200" y="2361263"/>
          <a:ext cx="59436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0088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smtClean="0"/>
              <a:t>4. Evaluating </a:t>
            </a:r>
            <a:r>
              <a:rPr lang="en-US" sz="3200" dirty="0"/>
              <a:t>the Major </a:t>
            </a:r>
            <a:r>
              <a:rPr lang="en-US" sz="3200" dirty="0" smtClean="0"/>
              <a:t>Alternatives</a:t>
            </a:r>
            <a:endParaRPr lang="en-US" sz="3200" dirty="0"/>
          </a:p>
        </p:txBody>
      </p:sp>
      <p:sp>
        <p:nvSpPr>
          <p:cNvPr id="2" name="Content Placeholder 1"/>
          <p:cNvSpPr>
            <a:spLocks noGrp="1"/>
          </p:cNvSpPr>
          <p:nvPr>
            <p:ph idx="1"/>
          </p:nvPr>
        </p:nvSpPr>
        <p:spPr>
          <a:xfrm>
            <a:off x="838200" y="2553147"/>
            <a:ext cx="7745505" cy="2399853"/>
          </a:xfrm>
        </p:spPr>
        <p:txBody>
          <a:bodyPr/>
          <a:lstStyle/>
          <a:p>
            <a:pPr>
              <a:buFontTx/>
              <a:buNone/>
            </a:pPr>
            <a:r>
              <a:rPr lang="en-US" dirty="0" smtClean="0"/>
              <a:t>Each </a:t>
            </a:r>
            <a:r>
              <a:rPr lang="en-US" dirty="0"/>
              <a:t>alternative should be evaluated against:</a:t>
            </a:r>
          </a:p>
          <a:p>
            <a:pPr lvl="1"/>
            <a:r>
              <a:rPr lang="en-US" dirty="0"/>
              <a:t>Economic criteria</a:t>
            </a:r>
          </a:p>
          <a:p>
            <a:pPr lvl="1"/>
            <a:r>
              <a:rPr lang="en-US" dirty="0"/>
              <a:t>Control</a:t>
            </a:r>
          </a:p>
          <a:p>
            <a:pPr lvl="1"/>
            <a:r>
              <a:rPr lang="en-US" dirty="0"/>
              <a:t>Adaptive criteria</a:t>
            </a:r>
          </a:p>
          <a:p>
            <a:endParaRPr lang="en-US" dirty="0"/>
          </a:p>
        </p:txBody>
      </p:sp>
    </p:spTree>
    <p:extLst>
      <p:ext uri="{BB962C8B-B14F-4D97-AF65-F5344CB8AC3E}">
        <p14:creationId xmlns:p14="http://schemas.microsoft.com/office/powerpoint/2010/main" val="6119076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725863" y="211455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endParaRPr lang="en-US"/>
          </a:p>
        </p:txBody>
      </p:sp>
      <p:pic>
        <p:nvPicPr>
          <p:cNvPr id="3" name="Picture 5" descr="cid:3287383400_21775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71550"/>
            <a:ext cx="8027987" cy="2747963"/>
          </a:xfrm>
          <a:prstGeom prst="rect">
            <a:avLst/>
          </a:prstGeom>
          <a:solidFill>
            <a:schemeClr val="hlink"/>
          </a:solidFill>
          <a:ln w="9525">
            <a:solidFill>
              <a:schemeClr val="bg1"/>
            </a:solidFill>
            <a:miter lim="800000"/>
            <a:headEnd/>
            <a:tailEnd/>
          </a:ln>
        </p:spPr>
      </p:pic>
      <p:sp>
        <p:nvSpPr>
          <p:cNvPr id="4" name="Rectangle 6"/>
          <p:cNvSpPr>
            <a:spLocks noChangeArrowheads="1"/>
          </p:cNvSpPr>
          <p:nvPr/>
        </p:nvSpPr>
        <p:spPr bwMode="auto">
          <a:xfrm>
            <a:off x="708025" y="3894138"/>
            <a:ext cx="758983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38188" y="5327650"/>
            <a:ext cx="7845425" cy="636588"/>
          </a:xfrm>
          <a:prstGeom prst="rect">
            <a:avLst/>
          </a:prstGeom>
          <a:noFill/>
          <a:ln>
            <a:miter lim="800000"/>
            <a:headEnd/>
            <a:tailEnd/>
          </a:ln>
        </p:spPr>
        <p:txBody>
          <a:bodyPr anchor="b"/>
          <a:lstStyle>
            <a:lvl1pPr eaLnBrk="0" hangingPunct="0">
              <a:defRPr sz="2400">
                <a:solidFill>
                  <a:schemeClr val="tx1"/>
                </a:solidFill>
                <a:latin typeface="Arial" charset="0"/>
                <a:ea typeface="ヒラギノ角ゴ Pro W3" charset="-128"/>
              </a:defRPr>
            </a:lvl1pPr>
            <a:lvl2pPr marL="37931725" indent="-37474525" eaLnBrk="0" hangingPunct="0">
              <a:defRPr sz="2400">
                <a:solidFill>
                  <a:schemeClr val="tx1"/>
                </a:solidFill>
                <a:latin typeface="Arial" charset="0"/>
                <a:ea typeface="ヒラギノ角ゴ Pro W3" charset="-128"/>
              </a:defRPr>
            </a:lvl2pPr>
            <a:lvl3pPr eaLnBrk="0" hangingPunct="0">
              <a:defRPr sz="2400">
                <a:solidFill>
                  <a:schemeClr val="tx1"/>
                </a:solidFill>
                <a:latin typeface="Arial" charset="0"/>
                <a:ea typeface="ヒラギノ角ゴ Pro W3" charset="-128"/>
              </a:defRPr>
            </a:lvl3pPr>
            <a:lvl4pPr eaLnBrk="0" hangingPunct="0">
              <a:defRPr sz="2400">
                <a:solidFill>
                  <a:schemeClr val="tx1"/>
                </a:solidFill>
                <a:latin typeface="Arial" charset="0"/>
                <a:ea typeface="ヒラギノ角ゴ Pro W3" charset="-128"/>
              </a:defRPr>
            </a:lvl4pPr>
            <a:lvl5pPr eaLnBrk="0" hangingPunct="0">
              <a:defRPr sz="2400">
                <a:solidFill>
                  <a:schemeClr val="tx1"/>
                </a:solidFill>
                <a:latin typeface="Arial" charset="0"/>
                <a:ea typeface="ヒラギノ角ゴ Pro W3" charset="-128"/>
              </a:defRPr>
            </a:lvl5pPr>
            <a:lvl6pPr marL="457200" eaLnBrk="0" fontAlgn="base" hangingPunct="0">
              <a:spcBef>
                <a:spcPct val="0"/>
              </a:spcBef>
              <a:spcAft>
                <a:spcPct val="0"/>
              </a:spcAft>
              <a:defRPr sz="2400">
                <a:solidFill>
                  <a:schemeClr val="tx1"/>
                </a:solidFill>
                <a:latin typeface="Arial" charset="0"/>
                <a:ea typeface="ヒラギノ角ゴ Pro W3" charset="-128"/>
              </a:defRPr>
            </a:lvl6pPr>
            <a:lvl7pPr marL="914400" eaLnBrk="0" fontAlgn="base" hangingPunct="0">
              <a:spcBef>
                <a:spcPct val="0"/>
              </a:spcBef>
              <a:spcAft>
                <a:spcPct val="0"/>
              </a:spcAft>
              <a:defRPr sz="2400">
                <a:solidFill>
                  <a:schemeClr val="tx1"/>
                </a:solidFill>
                <a:latin typeface="Arial" charset="0"/>
                <a:ea typeface="ヒラギノ角ゴ Pro W3" charset="-128"/>
              </a:defRPr>
            </a:lvl7pPr>
            <a:lvl8pPr marL="1371600" eaLnBrk="0" fontAlgn="base" hangingPunct="0">
              <a:spcBef>
                <a:spcPct val="0"/>
              </a:spcBef>
              <a:spcAft>
                <a:spcPct val="0"/>
              </a:spcAft>
              <a:defRPr sz="2400">
                <a:solidFill>
                  <a:schemeClr val="tx1"/>
                </a:solidFill>
                <a:latin typeface="Arial" charset="0"/>
                <a:ea typeface="ヒラギノ角ゴ Pro W3" charset="-128"/>
              </a:defRPr>
            </a:lvl8pPr>
            <a:lvl9pPr marL="1828800" eaLnBrk="0" fontAlgn="base" hangingPunct="0">
              <a:spcBef>
                <a:spcPct val="0"/>
              </a:spcBef>
              <a:spcAft>
                <a:spcPct val="0"/>
              </a:spcAft>
              <a:defRPr sz="2400">
                <a:solidFill>
                  <a:schemeClr val="tx1"/>
                </a:solidFill>
                <a:latin typeface="Arial" charset="0"/>
                <a:ea typeface="ヒラギノ角ゴ Pro W3" charset="-128"/>
              </a:defRPr>
            </a:lvl9pPr>
          </a:lstStyle>
          <a:p>
            <a:pPr algn="ctr" eaLnBrk="1" hangingPunct="1">
              <a:defRPr/>
            </a:pPr>
            <a:r>
              <a:rPr lang="en-US" sz="1800" smtClean="0">
                <a:solidFill>
                  <a:srgbClr val="000000"/>
                </a:solidFill>
                <a:effectLst>
                  <a:outerShdw blurRad="38100" dist="38100" dir="2700000" algn="tl">
                    <a:srgbClr val="C0C0C0"/>
                  </a:outerShdw>
                </a:effectLst>
              </a:rPr>
              <a:t>Copyright © 2010 Pearson Education, Inc.  </a:t>
            </a:r>
          </a:p>
          <a:p>
            <a:pPr algn="ctr" eaLnBrk="1" hangingPunct="1">
              <a:defRPr/>
            </a:pPr>
            <a:r>
              <a:rPr lang="en-US" sz="1800" smtClean="0">
                <a:solidFill>
                  <a:srgbClr val="000000"/>
                </a:solidFill>
                <a:effectLst>
                  <a:outerShdw blurRad="38100" dist="38100" dir="2700000" algn="tl">
                    <a:srgbClr val="C0C0C0"/>
                  </a:outerShdw>
                </a:effectLst>
              </a:rPr>
              <a:t>Publishing as Prentice Hall</a:t>
            </a:r>
          </a:p>
        </p:txBody>
      </p:sp>
    </p:spTree>
    <p:extLst>
      <p:ext uri="{BB962C8B-B14F-4D97-AF65-F5344CB8AC3E}">
        <p14:creationId xmlns:p14="http://schemas.microsoft.com/office/powerpoint/2010/main" val="300378025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352</TotalTime>
  <Words>492</Words>
  <Application>Microsoft Office PowerPoint</Application>
  <PresentationFormat>On-screen Show (4:3)</PresentationFormat>
  <Paragraphs>59</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Garamond</vt:lpstr>
      <vt:lpstr>Times New Roman</vt:lpstr>
      <vt:lpstr>ヒラギノ角ゴ Pro W3</vt:lpstr>
      <vt:lpstr>Organic</vt:lpstr>
      <vt:lpstr>Principles of Marketing</vt:lpstr>
      <vt:lpstr>Supply Chains and the Value Delivery Network</vt:lpstr>
      <vt:lpstr>Marketing channel (Definition)</vt:lpstr>
      <vt:lpstr>PowerPoint Presentation</vt:lpstr>
      <vt:lpstr>How Channel Members Add Value</vt:lpstr>
      <vt:lpstr>Channel Design Decisions</vt:lpstr>
      <vt:lpstr>1. Analyzing Consumer Needs</vt:lpstr>
      <vt:lpstr>2. Setting Channel Objectives</vt:lpstr>
      <vt:lpstr>2. Setting Channel Objectives</vt:lpstr>
      <vt:lpstr>3. Identifying Major Alternatives</vt:lpstr>
      <vt:lpstr>Identifying Major Alternatives</vt:lpstr>
      <vt:lpstr>4. Evaluating the Major Alternatives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Marketing</dc:title>
  <dc:creator>ALI</dc:creator>
  <cp:lastModifiedBy>Sonic</cp:lastModifiedBy>
  <cp:revision>22</cp:revision>
  <dcterms:created xsi:type="dcterms:W3CDTF">2006-08-16T00:00:00Z</dcterms:created>
  <dcterms:modified xsi:type="dcterms:W3CDTF">2023-12-11T18:13:09Z</dcterms:modified>
</cp:coreProperties>
</file>
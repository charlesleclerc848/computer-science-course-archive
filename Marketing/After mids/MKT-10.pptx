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99" r:id="rId3"/>
    <p:sldId id="257" r:id="rId4"/>
    <p:sldId id="258" r:id="rId5"/>
    <p:sldId id="259" r:id="rId6"/>
    <p:sldId id="260" r:id="rId7"/>
    <p:sldId id="261" r:id="rId8"/>
    <p:sldId id="262" r:id="rId9"/>
    <p:sldId id="264" r:id="rId10"/>
    <p:sldId id="265" r:id="rId11"/>
    <p:sldId id="267" r:id="rId12"/>
    <p:sldId id="329" r:id="rId13"/>
    <p:sldId id="268" r:id="rId14"/>
    <p:sldId id="270" r:id="rId15"/>
    <p:sldId id="271" r:id="rId16"/>
    <p:sldId id="272" r:id="rId17"/>
    <p:sldId id="273" r:id="rId18"/>
    <p:sldId id="274" r:id="rId19"/>
    <p:sldId id="275" r:id="rId20"/>
    <p:sldId id="276" r:id="rId21"/>
    <p:sldId id="277" r:id="rId22"/>
    <p:sldId id="289" r:id="rId23"/>
    <p:sldId id="291" r:id="rId24"/>
    <p:sldId id="279" r:id="rId25"/>
    <p:sldId id="280" r:id="rId26"/>
    <p:sldId id="292" r:id="rId27"/>
    <p:sldId id="283" r:id="rId28"/>
    <p:sldId id="284" r:id="rId29"/>
    <p:sldId id="285" r:id="rId30"/>
    <p:sldId id="288"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p15:clr>
            <a:srgbClr val="A4A3A4"/>
          </p15:clr>
        </p15:guide>
        <p15:guide id="2" pos="2876">
          <p15:clr>
            <a:srgbClr val="A4A3A4"/>
          </p15:clr>
        </p15:guide>
      </p15:sldGuideLst>
    </p:ext>
    <p:ext uri="{505F2C04-C923-438B-8C0F-E0CD2BADF298}">
      <wppc:fontMiss xmlns:wppc="http://www.wps.cn/officeDocument/PresentationCustomData" xmlns=""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1146" y="42"/>
      </p:cViewPr>
      <p:guideLst>
        <p:guide orient="horz" pos="2182"/>
        <p:guide pos="28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B8105E-2A6D-4522-B7E1-1F9401B6B62F}" type="datetimeFigureOut">
              <a:rPr lang="en-US" smtClean="0"/>
              <a:t>12/5/2023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276027-BC1A-4DD4-98D9-B82B3B7EA9C4}" type="slidenum">
              <a:rPr lang="en-US" smtClean="0"/>
              <a:t>‹#›</a:t>
            </a:fld>
            <a:endParaRPr lang="en-US"/>
          </a:p>
        </p:txBody>
      </p:sp>
    </p:spTree>
    <p:extLst>
      <p:ext uri="{BB962C8B-B14F-4D97-AF65-F5344CB8AC3E}">
        <p14:creationId xmlns:p14="http://schemas.microsoft.com/office/powerpoint/2010/main" val="574864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p:txBody>
          <a:bodyPr/>
          <a:lstStyle/>
          <a:p>
            <a:fld id="{03A4E0DD-AE97-41C0-B209-5FB70E5113B6}" type="slidenum">
              <a:rPr lang="en-US"/>
              <a:t>20</a:t>
            </a:fld>
            <a:endParaRPr lang="en-US"/>
          </a:p>
        </p:txBody>
      </p:sp>
      <p:sp>
        <p:nvSpPr>
          <p:cNvPr id="911362" name="Rectangle 2"/>
          <p:cNvSpPr>
            <a:spLocks noGrp="1" noRot="1" noChangeAspect="1" noChangeArrowheads="1" noTextEdit="1"/>
          </p:cNvSpPr>
          <p:nvPr>
            <p:ph type="sldImg"/>
          </p:nvPr>
        </p:nvSpPr>
        <p:spPr>
          <a:xfrm>
            <a:off x="847725" y="463550"/>
            <a:ext cx="5162550" cy="3873500"/>
          </a:xfrm>
          <a:ln w="12700" cap="flat">
            <a:solidFill>
              <a:schemeClr val="tx1"/>
            </a:solidFill>
          </a:ln>
          <a:extLst>
            <a:ext uri="{909E8E84-426E-40DD-AFC4-6F175D3DCCD1}">
              <a14:hiddenFill xmlns:a14="http://schemas.microsoft.com/office/drawing/2010/main">
                <a:noFill/>
              </a14:hiddenFill>
            </a:ext>
          </a:extLst>
        </p:spPr>
      </p:sp>
      <p:sp>
        <p:nvSpPr>
          <p:cNvPr id="911363" name="Rectangle 3"/>
          <p:cNvSpPr>
            <a:spLocks noChangeArrowheads="1"/>
          </p:cNvSpPr>
          <p:nvPr/>
        </p:nvSpPr>
        <p:spPr bwMode="auto">
          <a:xfrm>
            <a:off x="230188" y="144463"/>
            <a:ext cx="3068637" cy="114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90000"/>
              </a:lnSpc>
              <a:spcBef>
                <a:spcPct val="50000"/>
              </a:spcBef>
            </a:pPr>
            <a:r>
              <a:rPr lang="en-US" b="1">
                <a:latin typeface="Arial" panose="020B0604020202020204" pitchFamily="34" charset="0"/>
              </a:rPr>
              <a:t>Internal Factors Affecting Pricing Decisions</a:t>
            </a:r>
          </a:p>
          <a:p>
            <a:pPr>
              <a:lnSpc>
                <a:spcPct val="90000"/>
              </a:lnSpc>
              <a:spcBef>
                <a:spcPct val="50000"/>
              </a:spcBef>
            </a:pPr>
            <a:r>
              <a:rPr lang="en-US" sz="1600" b="1">
                <a:latin typeface="Arial" panose="020B0604020202020204" pitchFamily="34" charset="0"/>
              </a:rPr>
              <a:t>This CTR relates to the discussion on pp. 305-306.</a:t>
            </a:r>
          </a:p>
        </p:txBody>
      </p:sp>
      <p:sp>
        <p:nvSpPr>
          <p:cNvPr id="911364" name="Rectangle 4"/>
          <p:cNvSpPr>
            <a:spLocks noChangeArrowheads="1"/>
          </p:cNvSpPr>
          <p:nvPr/>
        </p:nvSpPr>
        <p:spPr bwMode="auto">
          <a:xfrm>
            <a:off x="358775" y="3201988"/>
            <a:ext cx="6040438" cy="279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90000"/>
              </a:lnSpc>
              <a:spcAft>
                <a:spcPct val="50000"/>
              </a:spcAft>
            </a:pPr>
            <a:r>
              <a:rPr lang="en-US" sz="1600" b="1" i="1">
                <a:latin typeface="Arial" panose="020B0604020202020204" pitchFamily="34" charset="0"/>
              </a:rPr>
              <a:t>Costs</a:t>
            </a:r>
            <a:endParaRPr lang="en-US" b="1">
              <a:latin typeface="Arial" panose="020B0604020202020204" pitchFamily="34" charset="0"/>
            </a:endParaRPr>
          </a:p>
          <a:p>
            <a:pPr>
              <a:lnSpc>
                <a:spcPct val="90000"/>
              </a:lnSpc>
              <a:spcAft>
                <a:spcPct val="50000"/>
              </a:spcAft>
            </a:pPr>
            <a:r>
              <a:rPr lang="en-US" sz="1400" b="1" i="1">
                <a:latin typeface="Arial" panose="020B0604020202020204" pitchFamily="34" charset="0"/>
              </a:rPr>
              <a:t>Costs</a:t>
            </a:r>
            <a:r>
              <a:rPr lang="en-US" sz="1400" b="1">
                <a:latin typeface="Arial" panose="020B0604020202020204" pitchFamily="34" charset="0"/>
              </a:rPr>
              <a:t> set the pricing floor that the company can charge for its product.  Types of costs include:</a:t>
            </a:r>
          </a:p>
          <a:p>
            <a:pPr>
              <a:lnSpc>
                <a:spcPct val="90000"/>
              </a:lnSpc>
              <a:spcAft>
                <a:spcPct val="50000"/>
              </a:spcAft>
            </a:pPr>
            <a:r>
              <a:rPr lang="en-US" sz="1400" b="1" i="1">
                <a:latin typeface="Arial" panose="020B0604020202020204" pitchFamily="34" charset="0"/>
              </a:rPr>
              <a:t>Fixed Costs</a:t>
            </a:r>
            <a:r>
              <a:rPr lang="en-US" sz="1400" b="1">
                <a:latin typeface="Arial" panose="020B0604020202020204" pitchFamily="34" charset="0"/>
              </a:rPr>
              <a:t> (or overhead) are costs that do not vary much with production or sales levels.  </a:t>
            </a:r>
          </a:p>
          <a:p>
            <a:pPr>
              <a:lnSpc>
                <a:spcPct val="90000"/>
              </a:lnSpc>
              <a:spcAft>
                <a:spcPct val="50000"/>
              </a:spcAft>
            </a:pPr>
            <a:r>
              <a:rPr lang="en-US" sz="1400" b="1" i="1">
                <a:latin typeface="Arial" panose="020B0604020202020204" pitchFamily="34" charset="0"/>
              </a:rPr>
              <a:t>Variable Costs</a:t>
            </a:r>
            <a:r>
              <a:rPr lang="en-US" sz="1400" b="1">
                <a:latin typeface="Arial" panose="020B0604020202020204" pitchFamily="34" charset="0"/>
              </a:rPr>
              <a:t> vary directly with the level of production.  </a:t>
            </a:r>
          </a:p>
          <a:p>
            <a:pPr>
              <a:lnSpc>
                <a:spcPct val="90000"/>
              </a:lnSpc>
              <a:spcAft>
                <a:spcPct val="50000"/>
              </a:spcAft>
            </a:pPr>
            <a:r>
              <a:rPr lang="en-US" sz="1400" b="1" i="1">
                <a:latin typeface="Arial" panose="020B0604020202020204" pitchFamily="34" charset="0"/>
              </a:rPr>
              <a:t>Total Costs</a:t>
            </a:r>
            <a:r>
              <a:rPr lang="en-US" sz="1400" b="1">
                <a:latin typeface="Arial" panose="020B0604020202020204" pitchFamily="34" charset="0"/>
              </a:rPr>
              <a:t> are the sum of the fixed and variable costs for any given level of production.</a:t>
            </a:r>
          </a:p>
          <a:p>
            <a:pPr>
              <a:lnSpc>
                <a:spcPct val="90000"/>
              </a:lnSpc>
              <a:spcAft>
                <a:spcPct val="50000"/>
              </a:spcAft>
            </a:pPr>
            <a:endParaRPr lang="en-US" sz="1400" b="1">
              <a:latin typeface="Arial" panose="020B0604020202020204" pitchFamily="34" charset="0"/>
            </a:endParaRPr>
          </a:p>
          <a:p>
            <a:pPr eaLnBrk="1">
              <a:lnSpc>
                <a:spcPct val="90000"/>
              </a:lnSpc>
              <a:spcAft>
                <a:spcPct val="50000"/>
              </a:spcAft>
            </a:pPr>
            <a:endParaRPr lang="en-US" sz="1400" b="1">
              <a:latin typeface="Arial" panose="020B0604020202020204" pitchFamily="34" charset="0"/>
            </a:endParaRPr>
          </a:p>
        </p:txBody>
      </p:sp>
    </p:spTree>
    <p:extLst>
      <p:ext uri="{BB962C8B-B14F-4D97-AF65-F5344CB8AC3E}">
        <p14:creationId xmlns:p14="http://schemas.microsoft.com/office/powerpoint/2010/main" val="355229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fld id="{21645613-A106-49B1-9233-25696E68D38B}" type="slidenum">
              <a:rPr lang="en-US"/>
              <a:t>24</a:t>
            </a:fld>
            <a:endParaRPr lang="en-US"/>
          </a:p>
        </p:txBody>
      </p:sp>
      <p:sp>
        <p:nvSpPr>
          <p:cNvPr id="874498" name="Rectangle 2"/>
          <p:cNvSpPr>
            <a:spLocks noGrp="1" noRot="1" noChangeAspect="1" noChangeArrowheads="1" noTextEdit="1"/>
          </p:cNvSpPr>
          <p:nvPr>
            <p:ph type="sldImg"/>
          </p:nvPr>
        </p:nvSpPr>
        <p:spPr>
          <a:xfrm>
            <a:off x="847725" y="463550"/>
            <a:ext cx="5162550" cy="38735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21913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p:txBody>
          <a:bodyPr/>
          <a:lstStyle/>
          <a:p>
            <a:fld id="{165BBD6D-41C4-4F14-A7C0-6B80562C55F2}" type="slidenum">
              <a:rPr lang="en-US"/>
              <a:t>25</a:t>
            </a:fld>
            <a:endParaRPr lang="en-US"/>
          </a:p>
        </p:txBody>
      </p:sp>
      <p:sp>
        <p:nvSpPr>
          <p:cNvPr id="900098" name="Rectangle 2"/>
          <p:cNvSpPr>
            <a:spLocks noGrp="1" noRot="1" noChangeAspect="1" noChangeArrowheads="1" noTextEdit="1"/>
          </p:cNvSpPr>
          <p:nvPr>
            <p:ph type="sldImg"/>
          </p:nvPr>
        </p:nvSpPr>
        <p:spPr>
          <a:xfrm>
            <a:off x="847725" y="463550"/>
            <a:ext cx="5162550" cy="3873500"/>
          </a:xfrm>
          <a:ln w="12700" cap="flat">
            <a:solidFill>
              <a:schemeClr val="tx1"/>
            </a:solidFill>
          </a:ln>
          <a:extLst>
            <a:ext uri="{909E8E84-426E-40DD-AFC4-6F175D3DCCD1}">
              <a14:hiddenFill xmlns:a14="http://schemas.microsoft.com/office/drawing/2010/main">
                <a:noFill/>
              </a14:hiddenFill>
            </a:ext>
          </a:extLst>
        </p:spPr>
      </p:sp>
      <p:sp>
        <p:nvSpPr>
          <p:cNvPr id="900099" name="Rectangle 3"/>
          <p:cNvSpPr>
            <a:spLocks noChangeArrowheads="1"/>
          </p:cNvSpPr>
          <p:nvPr/>
        </p:nvSpPr>
        <p:spPr bwMode="auto">
          <a:xfrm>
            <a:off x="44450" y="130175"/>
            <a:ext cx="3497263"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90000"/>
              </a:lnSpc>
              <a:spcBef>
                <a:spcPct val="50000"/>
              </a:spcBef>
            </a:pPr>
            <a:r>
              <a:rPr lang="en-US" b="1">
                <a:latin typeface="Arial" panose="020B0604020202020204" pitchFamily="34" charset="0"/>
              </a:rPr>
              <a:t>The Market and Demand</a:t>
            </a:r>
          </a:p>
          <a:p>
            <a:pPr>
              <a:lnSpc>
                <a:spcPct val="90000"/>
              </a:lnSpc>
              <a:spcBef>
                <a:spcPct val="50000"/>
              </a:spcBef>
            </a:pPr>
            <a:r>
              <a:rPr lang="en-US" sz="1600" b="1">
                <a:latin typeface="Arial" panose="020B0604020202020204" pitchFamily="34" charset="0"/>
              </a:rPr>
              <a:t>This CTR relates to the discussion on pp. 309-310.</a:t>
            </a:r>
          </a:p>
        </p:txBody>
      </p:sp>
      <p:sp>
        <p:nvSpPr>
          <p:cNvPr id="900100" name="Rectangle 4"/>
          <p:cNvSpPr>
            <a:spLocks noChangeArrowheads="1"/>
          </p:cNvSpPr>
          <p:nvPr/>
        </p:nvSpPr>
        <p:spPr bwMode="auto">
          <a:xfrm>
            <a:off x="1588" y="2873375"/>
            <a:ext cx="6797675" cy="395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85000"/>
              </a:lnSpc>
              <a:spcAft>
                <a:spcPct val="50000"/>
              </a:spcAft>
            </a:pPr>
            <a:r>
              <a:rPr lang="en-US" sz="1600" b="1">
                <a:latin typeface="Arial" panose="020B0604020202020204" pitchFamily="34" charset="0"/>
              </a:rPr>
              <a:t>The Market and Demand</a:t>
            </a:r>
            <a:endParaRPr lang="en-US" sz="1400" b="1">
              <a:latin typeface="Arial" panose="020B0604020202020204" pitchFamily="34" charset="0"/>
            </a:endParaRPr>
          </a:p>
          <a:p>
            <a:pPr>
              <a:lnSpc>
                <a:spcPct val="85000"/>
              </a:lnSpc>
              <a:spcAft>
                <a:spcPct val="50000"/>
              </a:spcAft>
            </a:pPr>
            <a:r>
              <a:rPr lang="en-US" sz="1400" b="1" i="1">
                <a:latin typeface="Arial" panose="020B0604020202020204" pitchFamily="34" charset="0"/>
              </a:rPr>
              <a:t>Types of Markets.  </a:t>
            </a:r>
            <a:r>
              <a:rPr lang="en-US" sz="1400" b="1">
                <a:latin typeface="Arial" panose="020B0604020202020204" pitchFamily="34" charset="0"/>
              </a:rPr>
              <a:t>Each presents distinct pricing challenges:  </a:t>
            </a:r>
          </a:p>
          <a:p>
            <a:pPr lvl="1">
              <a:lnSpc>
                <a:spcPct val="85000"/>
              </a:lnSpc>
              <a:spcAft>
                <a:spcPct val="50000"/>
              </a:spcAft>
              <a:buFontTx/>
              <a:buChar char="•"/>
            </a:pPr>
            <a:r>
              <a:rPr lang="en-US" sz="1400" b="1" i="1">
                <a:latin typeface="Arial" panose="020B0604020202020204" pitchFamily="34" charset="0"/>
              </a:rPr>
              <a:t>Pure Competition</a:t>
            </a:r>
            <a:r>
              <a:rPr lang="en-US" sz="1400" b="1">
                <a:latin typeface="Arial" panose="020B0604020202020204" pitchFamily="34" charset="0"/>
              </a:rPr>
              <a:t> - is characterized by many buyers and sellers to that no one agent affects pricing.  Going rate pricing is the rule.  </a:t>
            </a:r>
          </a:p>
          <a:p>
            <a:pPr lvl="1">
              <a:lnSpc>
                <a:spcPct val="85000"/>
              </a:lnSpc>
              <a:spcAft>
                <a:spcPct val="50000"/>
              </a:spcAft>
              <a:buFontTx/>
              <a:buChar char="•"/>
            </a:pPr>
            <a:r>
              <a:rPr lang="en-US" sz="1400" b="1" i="1">
                <a:latin typeface="Arial" panose="020B0604020202020204" pitchFamily="34" charset="0"/>
              </a:rPr>
              <a:t>Monopolistic Competition</a:t>
            </a:r>
            <a:r>
              <a:rPr lang="en-US" sz="1400" b="1">
                <a:latin typeface="Arial" panose="020B0604020202020204" pitchFamily="34" charset="0"/>
              </a:rPr>
              <a:t> - consists of many buyers and sellers trading over a range of prices.  Products can be differentiated in quality, features, or styles.  </a:t>
            </a:r>
          </a:p>
          <a:p>
            <a:pPr lvl="1">
              <a:lnSpc>
                <a:spcPct val="85000"/>
              </a:lnSpc>
              <a:spcAft>
                <a:spcPct val="50000"/>
              </a:spcAft>
              <a:buFontTx/>
              <a:buChar char="•"/>
            </a:pPr>
            <a:r>
              <a:rPr lang="en-US" sz="1400" b="1" i="1">
                <a:latin typeface="Arial" panose="020B0604020202020204" pitchFamily="34" charset="0"/>
              </a:rPr>
              <a:t>Oligopolistic Competition</a:t>
            </a:r>
            <a:r>
              <a:rPr lang="en-US" sz="1400" b="1">
                <a:latin typeface="Arial" panose="020B0604020202020204" pitchFamily="34" charset="0"/>
              </a:rPr>
              <a:t> -  consists of few sellers each sensitive to the other's pricing and marketing strategies.  Barriers to entry prohibit new sellers from entering the market.  </a:t>
            </a:r>
          </a:p>
          <a:p>
            <a:pPr lvl="1">
              <a:lnSpc>
                <a:spcPct val="85000"/>
              </a:lnSpc>
              <a:spcAft>
                <a:spcPct val="50000"/>
              </a:spcAft>
              <a:buFontTx/>
              <a:buChar char="•"/>
            </a:pPr>
            <a:r>
              <a:rPr lang="en-US" sz="1400" b="1" i="1">
                <a:latin typeface="Arial" panose="020B0604020202020204" pitchFamily="34" charset="0"/>
              </a:rPr>
              <a:t>Pure Monopoly.</a:t>
            </a:r>
            <a:r>
              <a:rPr lang="en-US" sz="1400" b="1">
                <a:latin typeface="Arial" panose="020B0604020202020204" pitchFamily="34" charset="0"/>
              </a:rPr>
              <a:t>  This market consists of a single seller.  The seller may by a government, private regulated monopoly, or unregulated monopoly.  Pricing may be linked to other than cost or profit factors, including fear of competition entering or regulation.</a:t>
            </a:r>
          </a:p>
          <a:p>
            <a:pPr lvl="1">
              <a:lnSpc>
                <a:spcPct val="85000"/>
              </a:lnSpc>
              <a:spcAft>
                <a:spcPct val="50000"/>
              </a:spcAft>
              <a:buFontTx/>
              <a:buChar char="•"/>
            </a:pPr>
            <a:r>
              <a:rPr lang="en-US" sz="1400" b="1" i="1">
                <a:latin typeface="Arial" panose="020B0604020202020204" pitchFamily="34" charset="0"/>
              </a:rPr>
              <a:t>Consumer Perceptions of Price and Value.  </a:t>
            </a:r>
            <a:r>
              <a:rPr lang="en-US" sz="1400" b="1">
                <a:latin typeface="Arial" panose="020B0604020202020204" pitchFamily="34" charset="0"/>
              </a:rPr>
              <a:t>Buyers ultimately decide prices.  Marketers must combine technical expertise with creative judgment and an awareness of buyers’ motivations.</a:t>
            </a:r>
          </a:p>
        </p:txBody>
      </p:sp>
    </p:spTree>
    <p:extLst>
      <p:ext uri="{BB962C8B-B14F-4D97-AF65-F5344CB8AC3E}">
        <p14:creationId xmlns:p14="http://schemas.microsoft.com/office/powerpoint/2010/main" val="761991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1912797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1D8BD707-D9CF-40AE-B4C6-C98DA3205C09}" type="datetimeFigureOut">
              <a:rPr lang="en-US" smtClean="0"/>
              <a:t>12/5/2023</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anose="05000000000000000000"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anose="05000000000000000000"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1D8BD707-D9CF-40AE-B4C6-C98DA3205C09}" type="datetimeFigureOut">
              <a:rPr lang="en-US" smtClean="0"/>
              <a:t>12/5/2023</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Principles of Marketing</a:t>
            </a:r>
            <a:endParaRPr lang="en-US" sz="4800" dirty="0"/>
          </a:p>
        </p:txBody>
      </p:sp>
      <p:sp>
        <p:nvSpPr>
          <p:cNvPr id="3" name="Subtitle 2"/>
          <p:cNvSpPr>
            <a:spLocks noGrp="1"/>
          </p:cNvSpPr>
          <p:nvPr>
            <p:ph type="subTitle" idx="1"/>
          </p:nvPr>
        </p:nvSpPr>
        <p:spPr/>
        <p:txBody>
          <a:bodyPr/>
          <a:lstStyle/>
          <a:p>
            <a:r>
              <a:rPr lang="en-US" dirty="0" smtClean="0"/>
              <a:t>Chapter#10 </a:t>
            </a:r>
          </a:p>
          <a:p>
            <a:r>
              <a:rPr lang="en-US" b="1" dirty="0"/>
              <a:t>Pricing:</a:t>
            </a:r>
          </a:p>
          <a:p>
            <a:r>
              <a:rPr lang="en-US" b="1" dirty="0"/>
              <a:t>Understanding and Capturing Customer Value</a:t>
            </a:r>
            <a:endParaRPr 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3"/>
          <p:cNvPicPr>
            <a:picLocks noChangeAspect="1"/>
          </p:cNvPicPr>
          <p:nvPr/>
        </p:nvPicPr>
        <p:blipFill>
          <a:blip r:embed="rId2"/>
          <a:stretch>
            <a:fillRect/>
          </a:stretch>
        </p:blipFill>
        <p:spPr>
          <a:xfrm>
            <a:off x="150495" y="166370"/>
            <a:ext cx="8822055" cy="65258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800100" y="204787"/>
            <a:ext cx="7543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a:lstStyle>
          <a:p>
            <a:r>
              <a:rPr lang="en-US" sz="3600" b="1">
                <a:latin typeface="Arial Unicode MS" pitchFamily="34" charset="-128"/>
              </a:rPr>
              <a:t>Today’s Topics</a:t>
            </a:r>
          </a:p>
        </p:txBody>
      </p:sp>
      <p:pic>
        <p:nvPicPr>
          <p:cNvPr id="3" name="Picture 2" descr="4pslogo_price_cut"/>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1100" y="1347787"/>
            <a:ext cx="6553200" cy="5305425"/>
          </a:xfrm>
          <a:prstGeom prst="rect">
            <a:avLst/>
          </a:prstGeom>
          <a:solidFill>
            <a:srgbClr val="FDFD5D"/>
          </a:solidFill>
          <a:ln>
            <a:noFill/>
          </a:ln>
          <a:effectLst/>
          <a:extLst>
            <a:ext uri="{91240B29-F687-4F45-9708-019B960494DF}">
              <a14:hiddenLine xmlns:a14="http://schemas.microsoft.com/office/drawing/2010/main" w="9525">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28600" y="1562100"/>
            <a:ext cx="9050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r>
              <a:rPr lang="en-US" sz="2800">
                <a:effectLst>
                  <a:outerShdw blurRad="38100" dist="38100" dir="2700000" algn="tl">
                    <a:srgbClr val="000000"/>
                  </a:outerShdw>
                </a:effectLst>
                <a:latin typeface="Arial Unicode MS" pitchFamily="34" charset="-128"/>
                <a:cs typeface="Arial" panose="020B0604020202020204" pitchFamily="34" charset="0"/>
              </a:rPr>
              <a:t>Price Has Many Names</a:t>
            </a:r>
          </a:p>
        </p:txBody>
      </p:sp>
      <p:sp>
        <p:nvSpPr>
          <p:cNvPr id="3" name="Rectangle 2"/>
          <p:cNvSpPr>
            <a:spLocks noGrp="1" noChangeArrowheads="1"/>
          </p:cNvSpPr>
          <p:nvPr/>
        </p:nvSpPr>
        <p:spPr bwMode="auto">
          <a:xfrm>
            <a:off x="228600" y="3238500"/>
            <a:ext cx="3581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Rent</a:t>
            </a:r>
          </a:p>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Fee</a:t>
            </a:r>
          </a:p>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Rate</a:t>
            </a:r>
          </a:p>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Commission</a:t>
            </a:r>
          </a:p>
        </p:txBody>
      </p:sp>
      <p:sp>
        <p:nvSpPr>
          <p:cNvPr id="4" name="Rectangle 3"/>
          <p:cNvSpPr>
            <a:spLocks noGrp="1" noChangeArrowheads="1"/>
          </p:cNvSpPr>
          <p:nvPr/>
        </p:nvSpPr>
        <p:spPr bwMode="auto">
          <a:xfrm>
            <a:off x="3505200" y="3162300"/>
            <a:ext cx="30480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Tuition</a:t>
            </a:r>
          </a:p>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Fare</a:t>
            </a:r>
          </a:p>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Toll</a:t>
            </a:r>
          </a:p>
          <a:p>
            <a:pPr>
              <a:spcBef>
                <a:spcPct val="60000"/>
              </a:spcBef>
              <a:buClr>
                <a:srgbClr val="FDFD5D"/>
              </a:buClr>
              <a:buFont typeface="Wingdings" panose="05000000000000000000" pitchFamily="2" charset="2"/>
              <a:buChar char="C"/>
            </a:pPr>
            <a:r>
              <a:rPr lang="en-US" sz="2400">
                <a:latin typeface="Arial Unicode MS" pitchFamily="34" charset="-128"/>
                <a:cs typeface="Arial" panose="020B0604020202020204" pitchFamily="34" charset="0"/>
              </a:rPr>
              <a:t>Premium</a:t>
            </a:r>
          </a:p>
        </p:txBody>
      </p:sp>
      <p:sp>
        <p:nvSpPr>
          <p:cNvPr id="5" name="Rectangle 4"/>
          <p:cNvSpPr>
            <a:spLocks noChangeArrowheads="1"/>
          </p:cNvSpPr>
          <p:nvPr/>
        </p:nvSpPr>
        <p:spPr bwMode="auto">
          <a:xfrm>
            <a:off x="6553200" y="3294063"/>
            <a:ext cx="2667000" cy="261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eaLnBrk="1" hangingPunct="1">
              <a:lnSpc>
                <a:spcPct val="90000"/>
              </a:lnSpc>
              <a:spcBef>
                <a:spcPct val="60000"/>
              </a:spcBef>
              <a:buClr>
                <a:srgbClr val="FDFD5D"/>
              </a:buClr>
              <a:buFont typeface="Wingdings" panose="05000000000000000000" pitchFamily="2" charset="2"/>
              <a:buChar char="C"/>
            </a:pPr>
            <a:r>
              <a:rPr lang="en-US" sz="2400">
                <a:effectLst>
                  <a:outerShdw blurRad="38100" dist="38100" dir="2700000" algn="tl">
                    <a:srgbClr val="000000"/>
                  </a:outerShdw>
                </a:effectLst>
                <a:latin typeface="Arial Unicode MS" pitchFamily="34" charset="-128"/>
                <a:cs typeface="Arial" panose="020B0604020202020204" pitchFamily="34" charset="0"/>
              </a:rPr>
              <a:t> Bribe</a:t>
            </a:r>
          </a:p>
          <a:p>
            <a:pPr eaLnBrk="1" hangingPunct="1">
              <a:lnSpc>
                <a:spcPct val="90000"/>
              </a:lnSpc>
              <a:spcBef>
                <a:spcPct val="60000"/>
              </a:spcBef>
              <a:buClr>
                <a:srgbClr val="FDFD5D"/>
              </a:buClr>
              <a:buFont typeface="Wingdings" panose="05000000000000000000" pitchFamily="2" charset="2"/>
              <a:buChar char="C"/>
            </a:pPr>
            <a:r>
              <a:rPr lang="en-US" sz="2400">
                <a:effectLst>
                  <a:outerShdw blurRad="38100" dist="38100" dir="2700000" algn="tl">
                    <a:srgbClr val="000000"/>
                  </a:outerShdw>
                </a:effectLst>
                <a:latin typeface="Arial Unicode MS" pitchFamily="34" charset="-128"/>
                <a:cs typeface="Arial" panose="020B0604020202020204" pitchFamily="34" charset="0"/>
              </a:rPr>
              <a:t> Salary</a:t>
            </a:r>
          </a:p>
          <a:p>
            <a:pPr eaLnBrk="1" hangingPunct="1">
              <a:lnSpc>
                <a:spcPct val="90000"/>
              </a:lnSpc>
              <a:spcBef>
                <a:spcPct val="60000"/>
              </a:spcBef>
              <a:buClr>
                <a:srgbClr val="FDFD5D"/>
              </a:buClr>
              <a:buFont typeface="Wingdings" panose="05000000000000000000" pitchFamily="2" charset="2"/>
              <a:buChar char="C"/>
            </a:pPr>
            <a:r>
              <a:rPr lang="en-US" sz="2400">
                <a:effectLst>
                  <a:outerShdw blurRad="38100" dist="38100" dir="2700000" algn="tl">
                    <a:srgbClr val="000000"/>
                  </a:outerShdw>
                </a:effectLst>
                <a:latin typeface="Arial Unicode MS" pitchFamily="34" charset="-128"/>
                <a:cs typeface="Arial" panose="020B0604020202020204" pitchFamily="34" charset="0"/>
              </a:rPr>
              <a:t> Wage</a:t>
            </a:r>
          </a:p>
          <a:p>
            <a:pPr eaLnBrk="1" hangingPunct="1">
              <a:lnSpc>
                <a:spcPct val="90000"/>
              </a:lnSpc>
              <a:spcBef>
                <a:spcPct val="60000"/>
              </a:spcBef>
              <a:buClr>
                <a:srgbClr val="FDFD5D"/>
              </a:buClr>
              <a:buFont typeface="Wingdings" panose="05000000000000000000" pitchFamily="2" charset="2"/>
              <a:buChar char="C"/>
            </a:pPr>
            <a:r>
              <a:rPr lang="en-US" sz="2400">
                <a:effectLst>
                  <a:outerShdw blurRad="38100" dist="38100" dir="2700000" algn="tl">
                    <a:srgbClr val="000000"/>
                  </a:outerShdw>
                </a:effectLst>
                <a:latin typeface="Arial Unicode MS" pitchFamily="34" charset="-128"/>
                <a:cs typeface="Arial" panose="020B0604020202020204" pitchFamily="34" charset="0"/>
              </a:rPr>
              <a:t> Interest</a:t>
            </a:r>
          </a:p>
          <a:p>
            <a:pPr eaLnBrk="1" hangingPunct="1">
              <a:lnSpc>
                <a:spcPct val="90000"/>
              </a:lnSpc>
              <a:spcBef>
                <a:spcPct val="60000"/>
              </a:spcBef>
              <a:buClr>
                <a:srgbClr val="FDFD5D"/>
              </a:buClr>
              <a:buFont typeface="Wingdings" panose="05000000000000000000" pitchFamily="2" charset="2"/>
              <a:buChar char="C"/>
            </a:pPr>
            <a:r>
              <a:rPr lang="en-US" sz="2400">
                <a:effectLst>
                  <a:outerShdw blurRad="38100" dist="38100" dir="2700000" algn="tl">
                    <a:srgbClr val="000000"/>
                  </a:outerShdw>
                </a:effectLst>
                <a:latin typeface="Arial Unicode MS" pitchFamily="34" charset="-128"/>
                <a:cs typeface="Arial" panose="020B0604020202020204" pitchFamily="34" charset="0"/>
              </a:rPr>
              <a:t> Tax</a:t>
            </a:r>
          </a:p>
        </p:txBody>
      </p:sp>
      <p:sp>
        <p:nvSpPr>
          <p:cNvPr id="6" name="Rectangle 5"/>
          <p:cNvSpPr>
            <a:spLocks noGrp="1" noChangeArrowheads="1"/>
          </p:cNvSpPr>
          <p:nvPr/>
        </p:nvSpPr>
        <p:spPr bwMode="auto">
          <a:xfrm>
            <a:off x="228600" y="34290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a:lstStyle>
          <a:p>
            <a:r>
              <a:rPr lang="en-US" sz="3600" b="1">
                <a:latin typeface="Arial Unicode MS" pitchFamily="34" charset="-128"/>
              </a:rPr>
              <a:t>What is Price?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2" name="Rectangle 4"/>
          <p:cNvSpPr>
            <a:spLocks noGrp="1" noChangeArrowheads="1"/>
          </p:cNvSpPr>
          <p:nvPr>
            <p:ph type="title"/>
          </p:nvPr>
        </p:nvSpPr>
        <p:spPr>
          <a:xfrm>
            <a:off x="304800" y="533400"/>
            <a:ext cx="8534400" cy="1143000"/>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lIns="92075" tIns="46038" rIns="92075" bIns="46038" anchorCtr="0"/>
          <a:lstStyle/>
          <a:p>
            <a:r>
              <a:rPr lang="en-US" sz="3600" b="1" dirty="0">
                <a:latin typeface="Arial Unicode MS" pitchFamily="34" charset="-128"/>
              </a:rPr>
              <a:t>Definition</a:t>
            </a:r>
          </a:p>
        </p:txBody>
      </p:sp>
      <p:sp>
        <p:nvSpPr>
          <p:cNvPr id="887813" name="Rectangle 5"/>
          <p:cNvSpPr>
            <a:spLocks noChangeArrowheads="1"/>
          </p:cNvSpPr>
          <p:nvPr/>
        </p:nvSpPr>
        <p:spPr bwMode="auto">
          <a:xfrm>
            <a:off x="762000" y="2057400"/>
            <a:ext cx="78486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spcBef>
                <a:spcPct val="20000"/>
              </a:spcBef>
              <a:buClr>
                <a:schemeClr val="hlink"/>
              </a:buClr>
              <a:buSzPct val="70000"/>
              <a:buFont typeface="Wingdings" panose="05000000000000000000" pitchFamily="2" charset="2"/>
              <a:buNone/>
            </a:pPr>
            <a:r>
              <a:rPr lang="en-US" sz="2800" dirty="0" smtClean="0"/>
              <a:t>Price</a:t>
            </a:r>
          </a:p>
          <a:p>
            <a:pPr eaLnBrk="1" hangingPunct="1">
              <a:spcBef>
                <a:spcPct val="20000"/>
              </a:spcBef>
              <a:buClr>
                <a:schemeClr val="hlink"/>
              </a:buClr>
              <a:buSzPct val="70000"/>
            </a:pPr>
            <a:r>
              <a:rPr lang="en-US" sz="2400" dirty="0" smtClean="0">
                <a:latin typeface="Arial Unicode MS" pitchFamily="34" charset="-128"/>
                <a:cs typeface="Arial" panose="020B0604020202020204" pitchFamily="34" charset="0"/>
              </a:rPr>
              <a:t>The </a:t>
            </a:r>
            <a:r>
              <a:rPr lang="en-US" sz="2400" u="sng" dirty="0">
                <a:solidFill>
                  <a:srgbClr val="FF0000"/>
                </a:solidFill>
                <a:latin typeface="Arial Unicode MS" pitchFamily="34" charset="-128"/>
                <a:cs typeface="Arial" panose="020B0604020202020204" pitchFamily="34" charset="0"/>
              </a:rPr>
              <a:t>amount of money </a:t>
            </a:r>
            <a:r>
              <a:rPr lang="en-US" sz="2400" dirty="0">
                <a:latin typeface="Arial Unicode MS" pitchFamily="34" charset="-128"/>
                <a:cs typeface="Arial" panose="020B0604020202020204" pitchFamily="34" charset="0"/>
              </a:rPr>
              <a:t>charged for a product or service, or </a:t>
            </a:r>
            <a:r>
              <a:rPr lang="en-US" sz="2400" u="sng" dirty="0">
                <a:solidFill>
                  <a:srgbClr val="FF0000"/>
                </a:solidFill>
                <a:latin typeface="Arial Unicode MS" pitchFamily="34" charset="-128"/>
                <a:cs typeface="Arial" panose="020B0604020202020204" pitchFamily="34" charset="0"/>
              </a:rPr>
              <a:t>the sum of the values </a:t>
            </a:r>
            <a:r>
              <a:rPr lang="en-US" sz="2400" dirty="0">
                <a:latin typeface="Arial Unicode MS" pitchFamily="34" charset="-128"/>
                <a:cs typeface="Arial" panose="020B0604020202020204" pitchFamily="34" charset="0"/>
              </a:rPr>
              <a:t>that consumers exchange </a:t>
            </a:r>
            <a:r>
              <a:rPr lang="en-US" sz="2400" u="sng" dirty="0">
                <a:solidFill>
                  <a:srgbClr val="FF0000"/>
                </a:solidFill>
                <a:latin typeface="Arial Unicode MS" pitchFamily="34" charset="-128"/>
                <a:cs typeface="Arial" panose="020B0604020202020204" pitchFamily="34" charset="0"/>
              </a:rPr>
              <a:t>for the benefits of having or using the product or service</a:t>
            </a:r>
            <a:r>
              <a:rPr lang="en-US" sz="2400" dirty="0">
                <a:latin typeface="Arial Unicode MS" pitchFamily="34" charset="-128"/>
                <a:cs typeface="Arial" panose="020B0604020202020204" pitchFamily="34" charset="0"/>
              </a:rPr>
              <a:t>.</a:t>
            </a:r>
          </a:p>
        </p:txBody>
      </p:sp>
      <p:sp>
        <p:nvSpPr>
          <p:cNvPr id="887814" name="Rectangle 6"/>
          <p:cNvSpPr>
            <a:spLocks noGrp="1" noChangeArrowheads="1"/>
          </p:cNvSpPr>
          <p:nvPr>
            <p:ph type="body" idx="1"/>
          </p:nvPr>
        </p:nvSpPr>
        <p:spPr>
          <a:xfrm>
            <a:off x="457200" y="3962400"/>
            <a:ext cx="8229600" cy="2209800"/>
          </a:xfrm>
          <a:noFill/>
        </p:spPr>
        <p:txBody>
          <a:bodyPr/>
          <a:lstStyle/>
          <a:p>
            <a:r>
              <a:rPr lang="en-US" sz="2400" dirty="0">
                <a:latin typeface="Arial Unicode MS" pitchFamily="34" charset="-128"/>
                <a:cs typeface="Arial" panose="020B0604020202020204" pitchFamily="34" charset="0"/>
              </a:rPr>
              <a:t>Price is the sum of all the values that consumers exchange for the benefits of having or using the product or service.</a:t>
            </a:r>
          </a:p>
          <a:p>
            <a:r>
              <a:rPr lang="en-US" sz="2400" dirty="0">
                <a:latin typeface="Arial Unicode MS" pitchFamily="34" charset="-128"/>
                <a:cs typeface="Arial" panose="020B0604020202020204" pitchFamily="34" charset="0"/>
              </a:rPr>
              <a:t>Price is the only element in the marketing mix that produces revenues; all others represent costs.</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0" y="68580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a:lstStyle>
          <a:p>
            <a:r>
              <a:rPr lang="en-US" sz="3600" b="1" dirty="0">
                <a:effectLst/>
                <a:latin typeface="Arial Unicode MS" pitchFamily="34" charset="-128"/>
              </a:rPr>
              <a:t>Factors Affecting Price Decisions           </a:t>
            </a:r>
          </a:p>
        </p:txBody>
      </p:sp>
      <p:pic>
        <p:nvPicPr>
          <p:cNvPr id="3" name="Picture 5" descr="fig10_01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286000"/>
            <a:ext cx="80581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Customer Perceptions of Value</a:t>
            </a:r>
          </a:p>
        </p:txBody>
      </p:sp>
      <p:sp>
        <p:nvSpPr>
          <p:cNvPr id="3" name="Content Placeholder 6"/>
          <p:cNvSpPr txBox="1"/>
          <p:nvPr/>
        </p:nvSpPr>
        <p:spPr>
          <a:xfrm>
            <a:off x="762000" y="2209800"/>
            <a:ext cx="8001000" cy="3581400"/>
          </a:xfrm>
          <a:prstGeom prst="rect">
            <a:avLst/>
          </a:prstGeom>
        </p:spPr>
        <p:txBody>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marL="0" indent="0" algn="just">
              <a:buNone/>
            </a:pPr>
            <a:r>
              <a:rPr lang="en-US" sz="2800" dirty="0" smtClean="0"/>
              <a:t>Understanding how much </a:t>
            </a:r>
            <a:r>
              <a:rPr lang="en-US" sz="2800" u="sng" dirty="0" smtClean="0"/>
              <a:t>value consumers place</a:t>
            </a:r>
            <a:r>
              <a:rPr lang="en-US" sz="2800" dirty="0" smtClean="0"/>
              <a:t> on the benefits they receive from the product and </a:t>
            </a:r>
            <a:r>
              <a:rPr lang="en-US" sz="2800" u="sng" dirty="0" smtClean="0"/>
              <a:t>setting a price that captures that value</a:t>
            </a:r>
          </a:p>
          <a:p>
            <a:pPr>
              <a:lnSpc>
                <a:spcPct val="90000"/>
              </a:lnSpc>
            </a:pPr>
            <a:r>
              <a:rPr lang="en-US" b="1" dirty="0" smtClean="0"/>
              <a:t>Value-based </a:t>
            </a:r>
            <a:r>
              <a:rPr lang="en-US" b="1" dirty="0"/>
              <a:t>pricing</a:t>
            </a:r>
            <a:r>
              <a:rPr lang="en-US" dirty="0"/>
              <a:t> uses the </a:t>
            </a:r>
            <a:r>
              <a:rPr lang="en-US" u="sng" dirty="0"/>
              <a:t>buyers’ perceptions of value</a:t>
            </a:r>
            <a:r>
              <a:rPr lang="en-US" dirty="0"/>
              <a:t>, not the sellers’ cost, </a:t>
            </a:r>
            <a:r>
              <a:rPr lang="en-US" u="sng" dirty="0"/>
              <a:t>as the key to pricing</a:t>
            </a:r>
            <a:r>
              <a:rPr lang="en-US" dirty="0"/>
              <a:t>. Price is considered before the marketing program is set.</a:t>
            </a:r>
          </a:p>
          <a:p>
            <a:pPr marL="533400" indent="-533400">
              <a:lnSpc>
                <a:spcPct val="90000"/>
              </a:lnSpc>
            </a:pPr>
            <a:r>
              <a:rPr lang="en-US" dirty="0"/>
              <a:t>Value-based pricing is </a:t>
            </a:r>
            <a:r>
              <a:rPr lang="en-US" u="sng" dirty="0"/>
              <a:t>customer driven</a:t>
            </a:r>
          </a:p>
          <a:p>
            <a:pPr marL="533400" indent="-533400">
              <a:lnSpc>
                <a:spcPct val="90000"/>
              </a:lnSpc>
            </a:pPr>
            <a:r>
              <a:rPr lang="en-US" dirty="0"/>
              <a:t>Cost-based pricing is </a:t>
            </a:r>
            <a:r>
              <a:rPr lang="en-US" u="sng" dirty="0"/>
              <a:t>product driven</a:t>
            </a:r>
          </a:p>
          <a:p>
            <a:pPr marL="0" indent="0">
              <a:buNone/>
            </a:pP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fig10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513013"/>
            <a:ext cx="8153400" cy="304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z="2800" dirty="0" smtClean="0"/>
              <a:t>Cost-based pricing Vs</a:t>
            </a:r>
            <a:r>
              <a:rPr lang="en-US" sz="2800" dirty="0"/>
              <a:t>.</a:t>
            </a:r>
            <a:r>
              <a:rPr lang="en-US" sz="2800" dirty="0" smtClean="0"/>
              <a:t> Value-based pricing</a:t>
            </a:r>
            <a:endParaRPr 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688490" y="570156"/>
            <a:ext cx="7756263"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smtClean="0"/>
              <a:t>Value based pricing</a:t>
            </a:r>
            <a:endParaRPr lang="en-US" sz="3200" dirty="0"/>
          </a:p>
        </p:txBody>
      </p:sp>
      <p:sp>
        <p:nvSpPr>
          <p:cNvPr id="3" name="Rectangle 3"/>
          <p:cNvSpPr txBox="1">
            <a:spLocks noChangeArrowheads="1"/>
          </p:cNvSpPr>
          <p:nvPr/>
        </p:nvSpPr>
        <p:spPr>
          <a:xfrm>
            <a:off x="685800" y="1447800"/>
            <a:ext cx="7772400" cy="4648200"/>
          </a:xfrm>
          <a:prstGeom prst="rect">
            <a:avLst/>
          </a:prstGeom>
        </p:spPr>
        <p:txBody>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algn="just"/>
            <a:r>
              <a:rPr lang="en-US" sz="2000" b="1" dirty="0" smtClean="0"/>
              <a:t>Good-value pricing</a:t>
            </a:r>
            <a:r>
              <a:rPr lang="en-US" sz="2000" dirty="0" smtClean="0"/>
              <a:t> offers the right combination of </a:t>
            </a:r>
            <a:r>
              <a:rPr lang="en-US" sz="2000" u="sng" dirty="0" smtClean="0"/>
              <a:t>quality</a:t>
            </a:r>
            <a:r>
              <a:rPr lang="en-US" sz="2000" dirty="0" smtClean="0"/>
              <a:t> and </a:t>
            </a:r>
            <a:r>
              <a:rPr lang="en-US" sz="2000" u="sng" dirty="0" smtClean="0"/>
              <a:t>good service</a:t>
            </a:r>
            <a:r>
              <a:rPr lang="en-US" sz="2000" dirty="0" smtClean="0"/>
              <a:t> at a </a:t>
            </a:r>
            <a:r>
              <a:rPr lang="en-US" sz="2000" u="sng" dirty="0" smtClean="0"/>
              <a:t>fair price</a:t>
            </a:r>
          </a:p>
          <a:p>
            <a:pPr lvl="1"/>
            <a:r>
              <a:rPr lang="en-US" sz="1800" dirty="0" smtClean="0"/>
              <a:t>Existing brands are being redesigned to offer more quality for a given price or the same quality for a lower price</a:t>
            </a:r>
          </a:p>
          <a:p>
            <a:pPr algn="just"/>
            <a:r>
              <a:rPr lang="en-US" sz="2000" b="1" dirty="0"/>
              <a:t>Everyday low pricing (EDLP) </a:t>
            </a:r>
            <a:r>
              <a:rPr lang="en-US" sz="2000" dirty="0"/>
              <a:t>involves </a:t>
            </a:r>
            <a:r>
              <a:rPr lang="en-US" sz="2000" u="sng" dirty="0"/>
              <a:t>charging a constant everyday low price</a:t>
            </a:r>
            <a:r>
              <a:rPr lang="en-US" sz="2000" dirty="0"/>
              <a:t> with </a:t>
            </a:r>
            <a:r>
              <a:rPr lang="en-US" sz="2000" u="sng" dirty="0"/>
              <a:t>few or no temporary price discounts</a:t>
            </a:r>
          </a:p>
          <a:p>
            <a:pPr algn="just"/>
            <a:r>
              <a:rPr lang="en-US" sz="2000" b="1" dirty="0" smtClean="0"/>
              <a:t>High-low </a:t>
            </a:r>
            <a:r>
              <a:rPr lang="en-US" sz="2000" b="1" dirty="0"/>
              <a:t>pricing </a:t>
            </a:r>
            <a:r>
              <a:rPr lang="en-US" sz="2000" dirty="0"/>
              <a:t>involves </a:t>
            </a:r>
            <a:r>
              <a:rPr lang="en-US" sz="2000" u="sng" dirty="0"/>
              <a:t>charging higher prices on an everyday basis</a:t>
            </a:r>
            <a:r>
              <a:rPr lang="en-US" sz="2000" dirty="0"/>
              <a:t> but </a:t>
            </a:r>
            <a:r>
              <a:rPr lang="en-US" sz="2000" u="sng" dirty="0"/>
              <a:t>running frequent promotions</a:t>
            </a:r>
            <a:r>
              <a:rPr lang="en-US" sz="2000" dirty="0"/>
              <a:t> to lower prices temporarily on selected items</a:t>
            </a:r>
          </a:p>
          <a:p>
            <a:pPr algn="just"/>
            <a:r>
              <a:rPr lang="en-US" sz="2000" b="1" dirty="0" smtClean="0"/>
              <a:t>Value-added </a:t>
            </a:r>
            <a:r>
              <a:rPr lang="en-US" sz="2000" b="1" dirty="0"/>
              <a:t>pricing </a:t>
            </a:r>
            <a:r>
              <a:rPr lang="en-US" sz="2000" dirty="0"/>
              <a:t>attaches </a:t>
            </a:r>
            <a:r>
              <a:rPr lang="en-US" sz="2000" u="sng" dirty="0"/>
              <a:t>value-added features and services </a:t>
            </a:r>
            <a:r>
              <a:rPr lang="en-US" sz="2000" dirty="0"/>
              <a:t>to </a:t>
            </a:r>
            <a:r>
              <a:rPr lang="en-US" sz="2000" u="sng" dirty="0"/>
              <a:t>differentiate offers</a:t>
            </a:r>
            <a:r>
              <a:rPr lang="en-US" sz="2000" dirty="0"/>
              <a:t>, </a:t>
            </a:r>
            <a:r>
              <a:rPr lang="en-US" sz="2000" u="sng" dirty="0"/>
              <a:t>support higher prices</a:t>
            </a:r>
            <a:r>
              <a:rPr lang="en-US" sz="2000" dirty="0"/>
              <a:t>, and </a:t>
            </a:r>
            <a:r>
              <a:rPr lang="en-US" sz="2000" u="sng" dirty="0"/>
              <a:t>build pricing power</a:t>
            </a:r>
          </a:p>
          <a:p>
            <a:pPr lvl="1"/>
            <a:r>
              <a:rPr lang="en-US" sz="1800" b="1" dirty="0"/>
              <a:t>Pricing power </a:t>
            </a:r>
            <a:r>
              <a:rPr lang="en-US" sz="1800" dirty="0"/>
              <a:t>is </a:t>
            </a:r>
            <a:r>
              <a:rPr lang="en-US" sz="1800" u="sng" dirty="0"/>
              <a:t>the ability to escape price competition</a:t>
            </a:r>
            <a:r>
              <a:rPr lang="en-US" sz="1800" dirty="0"/>
              <a:t> and </a:t>
            </a:r>
            <a:r>
              <a:rPr lang="en-US" sz="1800" u="sng" dirty="0"/>
              <a:t>to justify higher prices</a:t>
            </a:r>
            <a:r>
              <a:rPr lang="en-US" sz="1800" dirty="0"/>
              <a:t> and margins </a:t>
            </a:r>
            <a:r>
              <a:rPr lang="en-US" sz="1800" u="sng" dirty="0"/>
              <a:t>without losing market share</a:t>
            </a:r>
          </a:p>
          <a:p>
            <a:pPr marL="0" indent="0">
              <a:buNone/>
            </a:pPr>
            <a:endParaRPr lang="en-US" sz="20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Cost-based pricing</a:t>
            </a:r>
            <a:endParaRPr lang="en-US" sz="3600" dirty="0"/>
          </a:p>
        </p:txBody>
      </p:sp>
      <p:sp>
        <p:nvSpPr>
          <p:cNvPr id="3" name="Rectangle 3"/>
          <p:cNvSpPr txBox="1">
            <a:spLocks noChangeArrowheads="1"/>
          </p:cNvSpPr>
          <p:nvPr/>
        </p:nvSpPr>
        <p:spPr>
          <a:xfrm>
            <a:off x="685800" y="1981200"/>
            <a:ext cx="7772400" cy="4114800"/>
          </a:xfrm>
          <a:prstGeom prst="rect">
            <a:avLst/>
          </a:prstGeom>
        </p:spPr>
        <p:txBody>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marL="533400" indent="-533400" algn="ctr">
              <a:buFontTx/>
              <a:buNone/>
            </a:pPr>
            <a:endParaRPr lang="en-US" b="1" i="1" dirty="0" smtClean="0">
              <a:latin typeface="Times New Roman" panose="02020603050405020304" pitchFamily="18" charset="0"/>
            </a:endParaRPr>
          </a:p>
          <a:p>
            <a:pPr marL="0" indent="0" algn="just">
              <a:buNone/>
            </a:pPr>
            <a:r>
              <a:rPr lang="en-US" b="1" dirty="0" smtClean="0"/>
              <a:t>Cost-based pricing </a:t>
            </a:r>
            <a:r>
              <a:rPr lang="en-US" dirty="0" smtClean="0"/>
              <a:t>involves setting </a:t>
            </a:r>
            <a:r>
              <a:rPr lang="en-US" u="sng" dirty="0" smtClean="0"/>
              <a:t>prices based on the costs for producing</a:t>
            </a:r>
            <a:r>
              <a:rPr lang="en-US" dirty="0" smtClean="0"/>
              <a:t>, </a:t>
            </a:r>
            <a:r>
              <a:rPr lang="en-US" u="sng" dirty="0" smtClean="0"/>
              <a:t>distributing</a:t>
            </a:r>
            <a:r>
              <a:rPr lang="en-US" dirty="0" smtClean="0"/>
              <a:t>, and </a:t>
            </a:r>
            <a:r>
              <a:rPr lang="en-US" u="sng" dirty="0" smtClean="0"/>
              <a:t>selling</a:t>
            </a:r>
            <a:r>
              <a:rPr lang="en-US" dirty="0" smtClean="0"/>
              <a:t> the product </a:t>
            </a:r>
            <a:r>
              <a:rPr lang="en-US" u="sng" dirty="0" smtClean="0"/>
              <a:t>plus a fair rate of return</a:t>
            </a:r>
            <a:r>
              <a:rPr lang="en-US" dirty="0" smtClean="0"/>
              <a:t> for its effort and risk</a:t>
            </a:r>
          </a:p>
          <a:p>
            <a:pPr marL="0" indent="0" algn="just">
              <a:buNone/>
            </a:pPr>
            <a:endParaRPr lang="en-US" b="1" dirty="0" smtClean="0"/>
          </a:p>
          <a:p>
            <a:pPr marL="0" indent="0" algn="just">
              <a:buNone/>
            </a:pPr>
            <a:r>
              <a:rPr lang="en-US" b="1" dirty="0" smtClean="0"/>
              <a:t>Cost-based pricing </a:t>
            </a:r>
            <a:r>
              <a:rPr lang="en-US" u="sng" dirty="0" smtClean="0"/>
              <a:t>adds a standard markup</a:t>
            </a:r>
            <a:r>
              <a:rPr lang="en-US" dirty="0" smtClean="0"/>
              <a:t> to </a:t>
            </a:r>
            <a:r>
              <a:rPr lang="en-US" u="sng" dirty="0" smtClean="0"/>
              <a:t>the cost of the product</a:t>
            </a:r>
          </a:p>
          <a:p>
            <a:pPr marL="533400" indent="-533400">
              <a:buFontTx/>
              <a:buNone/>
            </a:pPr>
            <a:endParaRPr lang="en-U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688490" y="2679550"/>
            <a:ext cx="7756263"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u="sng" dirty="0" smtClean="0"/>
              <a:t>Internal &amp; External factors affecting pricing decisions</a:t>
            </a:r>
            <a:endParaRPr lang="en-US" sz="3600" b="1" u="sn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
          <p:cNvPicPr>
            <a:picLocks noChangeAspect="1"/>
          </p:cNvPicPr>
          <p:nvPr/>
        </p:nvPicPr>
        <p:blipFill>
          <a:blip r:embed="rId2"/>
          <a:stretch>
            <a:fillRect/>
          </a:stretch>
        </p:blipFill>
        <p:spPr>
          <a:xfrm>
            <a:off x="28575" y="92075"/>
            <a:ext cx="9125585" cy="6697980"/>
          </a:xfrm>
          <a:prstGeom prst="rect">
            <a:avLst/>
          </a:prstGeom>
        </p:spPr>
      </p:pic>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52400" y="377360"/>
            <a:ext cx="3048000" cy="5261440"/>
          </a:xfrm>
          <a:prstGeom prst="rect">
            <a:avLst/>
          </a:prstGeom>
          <a:gradFill>
            <a:gsLst>
              <a:gs pos="0">
                <a:srgbClr val="FECF40"/>
              </a:gs>
              <a:gs pos="100000">
                <a:srgbClr val="846C21"/>
              </a:gs>
            </a:gsLst>
            <a:lin scaled="0"/>
          </a:gradFill>
          <a:ln>
            <a:noFill/>
          </a:ln>
          <a:effectLst>
            <a:outerShdw dist="107763" dir="2700000" algn="ctr" rotWithShape="0">
              <a:schemeClr val="bg2"/>
            </a:outerShdw>
          </a:effec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spcBef>
                <a:spcPct val="35000"/>
              </a:spcBef>
            </a:pPr>
            <a:r>
              <a:rPr lang="en-US" sz="3600" u="sng" dirty="0">
                <a:solidFill>
                  <a:srgbClr val="000000"/>
                </a:solidFill>
                <a:latin typeface="Arial" panose="020B0604020202020204" pitchFamily="34" charset="0"/>
                <a:cs typeface="Arial" panose="020B0604020202020204" pitchFamily="34" charset="0"/>
              </a:rPr>
              <a:t>Internal Factors</a:t>
            </a:r>
            <a:endParaRPr lang="en-US" sz="3600" dirty="0">
              <a:solidFill>
                <a:srgbClr val="000000"/>
              </a:solidFill>
              <a:latin typeface="Arial" panose="020B0604020202020204" pitchFamily="34" charset="0"/>
              <a:cs typeface="Arial" panose="020B0604020202020204" pitchFamily="34" charset="0"/>
            </a:endParaRPr>
          </a:p>
          <a:p>
            <a:pPr eaLnBrk="1" hangingPunct="1">
              <a:spcBef>
                <a:spcPct val="35000"/>
              </a:spcBef>
            </a:pPr>
            <a:endParaRPr lang="en-US" sz="1400" dirty="0">
              <a:solidFill>
                <a:srgbClr val="000000"/>
              </a:solidFill>
              <a:latin typeface="Arial" panose="020B0604020202020204" pitchFamily="34" charset="0"/>
              <a:cs typeface="Arial" panose="020B0604020202020204" pitchFamily="34" charset="0"/>
            </a:endParaRPr>
          </a:p>
          <a:p>
            <a:pPr eaLnBrk="1" hangingPunct="1">
              <a:spcBef>
                <a:spcPct val="35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Marketing Objectives</a:t>
            </a:r>
          </a:p>
          <a:p>
            <a:pPr eaLnBrk="1" hangingPunct="1">
              <a:spcBef>
                <a:spcPct val="35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Marketing Mix Strategy</a:t>
            </a:r>
          </a:p>
          <a:p>
            <a:pPr eaLnBrk="1" hangingPunct="1">
              <a:spcBef>
                <a:spcPct val="35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Costs</a:t>
            </a:r>
          </a:p>
          <a:p>
            <a:pPr eaLnBrk="1" hangingPunct="1">
              <a:spcBef>
                <a:spcPct val="35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Organizational </a:t>
            </a:r>
            <a:r>
              <a:rPr lang="en-US" sz="2800" dirty="0" smtClean="0">
                <a:solidFill>
                  <a:srgbClr val="000000"/>
                </a:solidFill>
                <a:latin typeface="Arial" panose="020B0604020202020204" pitchFamily="34" charset="0"/>
                <a:cs typeface="Arial" panose="020B0604020202020204" pitchFamily="34" charset="0"/>
              </a:rPr>
              <a:t> </a:t>
            </a:r>
            <a:r>
              <a:rPr lang="en-US" sz="2800" dirty="0">
                <a:solidFill>
                  <a:srgbClr val="000000"/>
                </a:solidFill>
                <a:latin typeface="Arial" panose="020B0604020202020204" pitchFamily="34" charset="0"/>
                <a:cs typeface="Arial" panose="020B0604020202020204" pitchFamily="34" charset="0"/>
              </a:rPr>
              <a:t>considerations</a:t>
            </a:r>
            <a:endParaRPr lang="en-US" sz="3200" dirty="0">
              <a:latin typeface="Arial" panose="020B0604020202020204" pitchFamily="34" charset="0"/>
              <a:cs typeface="Arial" panose="020B0604020202020204" pitchFamily="34" charset="0"/>
            </a:endParaRPr>
          </a:p>
        </p:txBody>
      </p:sp>
      <p:sp>
        <p:nvSpPr>
          <p:cNvPr id="3" name="Text Box 4"/>
          <p:cNvSpPr txBox="1">
            <a:spLocks noChangeArrowheads="1"/>
          </p:cNvSpPr>
          <p:nvPr/>
        </p:nvSpPr>
        <p:spPr bwMode="auto">
          <a:xfrm>
            <a:off x="5715000" y="257175"/>
            <a:ext cx="3352800" cy="5780044"/>
          </a:xfrm>
          <a:prstGeom prst="rect">
            <a:avLst/>
          </a:prstGeom>
          <a:gradFill>
            <a:gsLst>
              <a:gs pos="0">
                <a:srgbClr val="FECF40"/>
              </a:gs>
              <a:gs pos="100000">
                <a:srgbClr val="846C21"/>
              </a:gs>
            </a:gsLst>
            <a:lin scaled="0"/>
          </a:gradFill>
          <a:ln>
            <a:noFill/>
          </a:ln>
          <a:effectLst>
            <a:outerShdw dist="107763" dir="2700000" algn="ctr" rotWithShape="0">
              <a:schemeClr val="bg2"/>
            </a:outerShdw>
          </a:effec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r>
              <a:rPr lang="en-US" sz="3600" u="sng" dirty="0">
                <a:solidFill>
                  <a:srgbClr val="000000"/>
                </a:solidFill>
                <a:latin typeface="Arial" panose="020B0604020202020204" pitchFamily="34" charset="0"/>
                <a:cs typeface="Arial" panose="020B0604020202020204" pitchFamily="34" charset="0"/>
              </a:rPr>
              <a:t>External Factors</a:t>
            </a:r>
            <a:endParaRPr lang="en-US" sz="3600" dirty="0">
              <a:solidFill>
                <a:srgbClr val="000000"/>
              </a:solidFill>
              <a:latin typeface="Arial" panose="020B0604020202020204" pitchFamily="34" charset="0"/>
              <a:cs typeface="Arial" panose="020B0604020202020204" pitchFamily="34" charset="0"/>
            </a:endParaRPr>
          </a:p>
          <a:p>
            <a:pPr eaLnBrk="1" hangingPunct="1"/>
            <a:endParaRPr lang="en-US" sz="1200" dirty="0">
              <a:solidFill>
                <a:srgbClr val="000000"/>
              </a:solidFill>
              <a:latin typeface="Arial" panose="020B0604020202020204" pitchFamily="34" charset="0"/>
              <a:cs typeface="Arial" panose="020B0604020202020204" pitchFamily="34" charset="0"/>
            </a:endParaRPr>
          </a:p>
          <a:p>
            <a:pPr eaLnBrk="1" hangingPunct="1">
              <a:spcBef>
                <a:spcPct val="30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Nature of the market and demand</a:t>
            </a:r>
          </a:p>
          <a:p>
            <a:pPr eaLnBrk="1" hangingPunct="1">
              <a:spcBef>
                <a:spcPct val="30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Competition</a:t>
            </a:r>
          </a:p>
          <a:p>
            <a:pPr eaLnBrk="1" hangingPunct="1">
              <a:spcBef>
                <a:spcPct val="30000"/>
              </a:spcBef>
              <a:buFont typeface="Wingdings" panose="05000000000000000000" pitchFamily="2" charset="2"/>
              <a:buChar char="ü"/>
            </a:pPr>
            <a:r>
              <a:rPr lang="en-US" sz="2800" dirty="0">
                <a:solidFill>
                  <a:srgbClr val="000000"/>
                </a:solidFill>
                <a:latin typeface="Arial" panose="020B0604020202020204" pitchFamily="34" charset="0"/>
                <a:cs typeface="Arial" panose="020B0604020202020204" pitchFamily="34" charset="0"/>
              </a:rPr>
              <a:t>Other environmental</a:t>
            </a:r>
          </a:p>
          <a:p>
            <a:pPr eaLnBrk="1" hangingPunct="1">
              <a:spcBef>
                <a:spcPct val="30000"/>
              </a:spcBef>
              <a:buFont typeface="Wingdings" panose="05000000000000000000" pitchFamily="2" charset="2"/>
              <a:buNone/>
            </a:pPr>
            <a:r>
              <a:rPr lang="en-US" sz="2800" dirty="0">
                <a:solidFill>
                  <a:srgbClr val="000000"/>
                </a:solidFill>
                <a:latin typeface="Arial" panose="020B0604020202020204" pitchFamily="34" charset="0"/>
                <a:cs typeface="Arial" panose="020B0604020202020204" pitchFamily="34" charset="0"/>
              </a:rPr>
              <a:t>factors (economy, resellers, government)  </a:t>
            </a:r>
          </a:p>
        </p:txBody>
      </p:sp>
      <p:sp>
        <p:nvSpPr>
          <p:cNvPr id="4" name="Text Box 5"/>
          <p:cNvSpPr txBox="1">
            <a:spLocks noChangeArrowheads="1"/>
          </p:cNvSpPr>
          <p:nvPr/>
        </p:nvSpPr>
        <p:spPr bwMode="auto">
          <a:xfrm>
            <a:off x="3505200" y="2703513"/>
            <a:ext cx="1866900" cy="946150"/>
          </a:xfrm>
          <a:prstGeom prst="rect">
            <a:avLst/>
          </a:prstGeom>
          <a:gradFill>
            <a:gsLst>
              <a:gs pos="0">
                <a:srgbClr val="FECF40"/>
              </a:gs>
              <a:gs pos="100000">
                <a:srgbClr val="846C21"/>
              </a:gs>
            </a:gsLst>
            <a:lin scaled="0"/>
          </a:gradFill>
          <a:ln>
            <a:noFill/>
          </a:ln>
          <a:effectLst>
            <a:outerShdw dist="170861" dir="2880767" algn="ctr" rotWithShape="0">
              <a:srgbClr val="000000"/>
            </a:outerShdw>
          </a:effec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r>
              <a:rPr lang="en-US" sz="2800" b="1" dirty="0">
                <a:latin typeface="Arial" panose="020B0604020202020204" pitchFamily="34" charset="0"/>
                <a:cs typeface="Arial" panose="020B0604020202020204" pitchFamily="34" charset="0"/>
              </a:rPr>
              <a:t>Pricing</a:t>
            </a:r>
          </a:p>
          <a:p>
            <a:pPr algn="ctr" eaLnBrk="1" hangingPunct="1"/>
            <a:r>
              <a:rPr lang="en-US" sz="2800" b="1" dirty="0">
                <a:latin typeface="Arial" panose="020B0604020202020204" pitchFamily="34" charset="0"/>
                <a:cs typeface="Arial" panose="020B0604020202020204" pitchFamily="34" charset="0"/>
              </a:rPr>
              <a:t>Decisions</a:t>
            </a:r>
          </a:p>
        </p:txBody>
      </p:sp>
      <p:sp>
        <p:nvSpPr>
          <p:cNvPr id="5" name="Line 6"/>
          <p:cNvSpPr>
            <a:spLocks noChangeShapeType="1"/>
          </p:cNvSpPr>
          <p:nvPr/>
        </p:nvSpPr>
        <p:spPr bwMode="auto">
          <a:xfrm>
            <a:off x="3200400" y="3152775"/>
            <a:ext cx="304800" cy="0"/>
          </a:xfrm>
          <a:prstGeom prst="line">
            <a:avLst/>
          </a:prstGeom>
          <a:noFill/>
          <a:ln w="76200">
            <a:solidFill>
              <a:schemeClr val="accent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6" name="Line 7"/>
          <p:cNvSpPr>
            <a:spLocks noChangeShapeType="1"/>
          </p:cNvSpPr>
          <p:nvPr/>
        </p:nvSpPr>
        <p:spPr bwMode="auto">
          <a:xfrm flipH="1">
            <a:off x="5410200" y="3200400"/>
            <a:ext cx="304800" cy="0"/>
          </a:xfrm>
          <a:prstGeom prst="line">
            <a:avLst/>
          </a:prstGeom>
          <a:noFill/>
          <a:ln w="76200">
            <a:solidFill>
              <a:schemeClr val="accent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transition>
    <p:wheel spokes="8"/>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a:spLocks noChangeArrowheads="1"/>
          </p:cNvSpPr>
          <p:nvPr/>
        </p:nvSpPr>
        <p:spPr bwMode="auto">
          <a:xfrm rot="5400000">
            <a:off x="4648200" y="-2057400"/>
            <a:ext cx="1600200" cy="6019800"/>
          </a:xfrm>
          <a:prstGeom prst="cube">
            <a:avLst>
              <a:gd name="adj" fmla="val 14569"/>
            </a:avLst>
          </a:prstGeom>
          <a:gradFill>
            <a:gsLst>
              <a:gs pos="0">
                <a:srgbClr val="007BD3"/>
              </a:gs>
              <a:gs pos="100000">
                <a:srgbClr val="034373"/>
              </a:gs>
            </a:gsLst>
            <a:lin scaled="0"/>
          </a:grad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r>
              <a:rPr lang="en-US" sz="3200" b="1">
                <a:solidFill>
                  <a:srgbClr val="000000"/>
                </a:solidFill>
                <a:latin typeface="Arial" panose="020B0604020202020204" pitchFamily="34" charset="0"/>
              </a:rPr>
              <a:t>Marketing </a:t>
            </a:r>
          </a:p>
          <a:p>
            <a:pPr algn="ctr" defTabSz="821055">
              <a:lnSpc>
                <a:spcPct val="90000"/>
              </a:lnSpc>
            </a:pPr>
            <a:r>
              <a:rPr lang="en-US" sz="3200" b="1">
                <a:solidFill>
                  <a:srgbClr val="000000"/>
                </a:solidFill>
                <a:latin typeface="Arial" panose="020B0604020202020204" pitchFamily="34" charset="0"/>
              </a:rPr>
              <a:t>Objectives</a:t>
            </a:r>
          </a:p>
        </p:txBody>
      </p:sp>
      <p:sp>
        <p:nvSpPr>
          <p:cNvPr id="3" name="AutoShape 4"/>
          <p:cNvSpPr>
            <a:spLocks noChangeArrowheads="1"/>
          </p:cNvSpPr>
          <p:nvPr/>
        </p:nvSpPr>
        <p:spPr bwMode="auto">
          <a:xfrm rot="5400000">
            <a:off x="4686300" y="-419100"/>
            <a:ext cx="1600200" cy="5943600"/>
          </a:xfrm>
          <a:prstGeom prst="cube">
            <a:avLst>
              <a:gd name="adj" fmla="val 14569"/>
            </a:avLst>
          </a:prstGeom>
          <a:gradFill>
            <a:gsLst>
              <a:gs pos="0">
                <a:srgbClr val="14CD68"/>
              </a:gs>
              <a:gs pos="100000">
                <a:srgbClr val="035C7D"/>
              </a:gs>
            </a:gsLst>
            <a:lin scaled="0"/>
          </a:grad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r>
              <a:rPr lang="en-US" sz="3200" b="1">
                <a:solidFill>
                  <a:srgbClr val="000000"/>
                </a:solidFill>
                <a:latin typeface="Arial" panose="020B0604020202020204" pitchFamily="34" charset="0"/>
              </a:rPr>
              <a:t>Marketing-Mix</a:t>
            </a:r>
          </a:p>
          <a:p>
            <a:pPr algn="ctr" defTabSz="821055">
              <a:lnSpc>
                <a:spcPct val="90000"/>
              </a:lnSpc>
            </a:pPr>
            <a:r>
              <a:rPr lang="en-US" sz="3200" b="1">
                <a:solidFill>
                  <a:srgbClr val="000000"/>
                </a:solidFill>
                <a:latin typeface="Arial" panose="020B0604020202020204" pitchFamily="34" charset="0"/>
              </a:rPr>
              <a:t>Strategy</a:t>
            </a:r>
          </a:p>
        </p:txBody>
      </p:sp>
      <p:sp>
        <p:nvSpPr>
          <p:cNvPr id="4" name="AutoShape 5"/>
          <p:cNvSpPr>
            <a:spLocks noChangeArrowheads="1"/>
          </p:cNvSpPr>
          <p:nvPr/>
        </p:nvSpPr>
        <p:spPr bwMode="auto">
          <a:xfrm rot="5400000">
            <a:off x="4686300" y="1181100"/>
            <a:ext cx="1600200" cy="5943600"/>
          </a:xfrm>
          <a:prstGeom prst="cube">
            <a:avLst>
              <a:gd name="adj" fmla="val 14569"/>
            </a:avLst>
          </a:prstGeom>
          <a:gradFill>
            <a:gsLst>
              <a:gs pos="0">
                <a:srgbClr val="012D86"/>
              </a:gs>
              <a:gs pos="100000">
                <a:srgbClr val="0E2557"/>
              </a:gs>
            </a:gsLst>
            <a:lin scaled="0"/>
          </a:grad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r>
              <a:rPr lang="en-US" sz="3200" b="1">
                <a:solidFill>
                  <a:srgbClr val="000000"/>
                </a:solidFill>
                <a:latin typeface="Arial" panose="020B0604020202020204" pitchFamily="34" charset="0"/>
              </a:rPr>
              <a:t>Costs</a:t>
            </a:r>
          </a:p>
        </p:txBody>
      </p:sp>
      <p:sp>
        <p:nvSpPr>
          <p:cNvPr id="5" name="AutoShape 6"/>
          <p:cNvSpPr>
            <a:spLocks noChangeArrowheads="1"/>
          </p:cNvSpPr>
          <p:nvPr/>
        </p:nvSpPr>
        <p:spPr bwMode="auto">
          <a:xfrm rot="5400000">
            <a:off x="4724400" y="2819400"/>
            <a:ext cx="1676400" cy="5943600"/>
          </a:xfrm>
          <a:prstGeom prst="cube">
            <a:avLst>
              <a:gd name="adj" fmla="val 14569"/>
            </a:avLst>
          </a:prstGeom>
          <a:gradFill>
            <a:gsLst>
              <a:gs pos="0">
                <a:srgbClr val="9EE256"/>
              </a:gs>
              <a:gs pos="100000">
                <a:srgbClr val="52762D"/>
              </a:gs>
            </a:gsLst>
            <a:lin scaled="0"/>
          </a:grad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r>
              <a:rPr lang="en-US" sz="3200" b="1">
                <a:solidFill>
                  <a:srgbClr val="000000"/>
                </a:solidFill>
                <a:latin typeface="Arial" panose="020B0604020202020204" pitchFamily="34" charset="0"/>
              </a:rPr>
              <a:t>Organizational</a:t>
            </a:r>
          </a:p>
          <a:p>
            <a:pPr algn="ctr" defTabSz="821055">
              <a:lnSpc>
                <a:spcPct val="90000"/>
              </a:lnSpc>
            </a:pPr>
            <a:r>
              <a:rPr lang="en-US" sz="3200" b="1">
                <a:solidFill>
                  <a:srgbClr val="000000"/>
                </a:solidFill>
                <a:latin typeface="Arial" panose="020B0604020202020204" pitchFamily="34" charset="0"/>
              </a:rPr>
              <a:t>Considerations</a:t>
            </a:r>
          </a:p>
        </p:txBody>
      </p:sp>
      <p:sp>
        <p:nvSpPr>
          <p:cNvPr id="6" name="Rectangle 7"/>
          <p:cNvSpPr txBox="1">
            <a:spLocks noChangeArrowheads="1"/>
          </p:cNvSpPr>
          <p:nvPr/>
        </p:nvSpPr>
        <p:spPr>
          <a:xfrm>
            <a:off x="-304800" y="990600"/>
            <a:ext cx="2895600" cy="3657600"/>
          </a:xfrm>
          <a:prstGeom prst="rect">
            <a:avLst/>
          </a:prstGeom>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anchor="t" anchorCtr="0"/>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indent="-342900">
              <a:spcBef>
                <a:spcPct val="20000"/>
              </a:spcBef>
              <a:buClr>
                <a:schemeClr val="hlink"/>
              </a:buClr>
              <a:buSzPct val="70000"/>
              <a:buFont typeface="Wingdings" panose="05000000000000000000" pitchFamily="2" charset="2"/>
              <a:buNone/>
            </a:pPr>
            <a:r>
              <a:rPr lang="en-US" sz="3600" smtClean="0">
                <a:solidFill>
                  <a:schemeClr val="tx1"/>
                </a:solidFill>
                <a:latin typeface="Arial Unicode MS" pitchFamily="34" charset="-128"/>
                <a:cs typeface="Arial" panose="020B0604020202020204" pitchFamily="34" charset="0"/>
              </a:rPr>
              <a:t>Internal </a:t>
            </a:r>
            <a:br>
              <a:rPr lang="en-US" sz="3600" smtClean="0">
                <a:solidFill>
                  <a:schemeClr val="tx1"/>
                </a:solidFill>
                <a:latin typeface="Arial Unicode MS" pitchFamily="34" charset="-128"/>
                <a:cs typeface="Arial" panose="020B0604020202020204" pitchFamily="34" charset="0"/>
              </a:rPr>
            </a:br>
            <a:r>
              <a:rPr lang="en-US" sz="3600" smtClean="0">
                <a:solidFill>
                  <a:schemeClr val="tx1"/>
                </a:solidFill>
                <a:latin typeface="Arial Unicode MS" pitchFamily="34" charset="-128"/>
                <a:cs typeface="Arial" panose="020B0604020202020204" pitchFamily="34" charset="0"/>
              </a:rPr>
              <a:t>Factors </a:t>
            </a:r>
            <a:br>
              <a:rPr lang="en-US" sz="3600" smtClean="0">
                <a:solidFill>
                  <a:schemeClr val="tx1"/>
                </a:solidFill>
                <a:latin typeface="Arial Unicode MS" pitchFamily="34" charset="-128"/>
                <a:cs typeface="Arial" panose="020B0604020202020204" pitchFamily="34" charset="0"/>
              </a:rPr>
            </a:br>
            <a:r>
              <a:rPr lang="en-US" sz="3600" smtClean="0">
                <a:solidFill>
                  <a:schemeClr val="tx1"/>
                </a:solidFill>
                <a:latin typeface="Arial Unicode MS" pitchFamily="34" charset="-128"/>
                <a:cs typeface="Arial" panose="020B0604020202020204" pitchFamily="34" charset="0"/>
              </a:rPr>
              <a:t>Affecting </a:t>
            </a:r>
            <a:br>
              <a:rPr lang="en-US" sz="3600" smtClean="0">
                <a:solidFill>
                  <a:schemeClr val="tx1"/>
                </a:solidFill>
                <a:latin typeface="Arial Unicode MS" pitchFamily="34" charset="-128"/>
                <a:cs typeface="Arial" panose="020B0604020202020204" pitchFamily="34" charset="0"/>
              </a:rPr>
            </a:br>
            <a:r>
              <a:rPr lang="en-US" sz="3600" smtClean="0">
                <a:solidFill>
                  <a:schemeClr val="tx1"/>
                </a:solidFill>
                <a:latin typeface="Arial Unicode MS" pitchFamily="34" charset="-128"/>
                <a:cs typeface="Arial" panose="020B0604020202020204" pitchFamily="34" charset="0"/>
              </a:rPr>
              <a:t>Pricing </a:t>
            </a:r>
            <a:br>
              <a:rPr lang="en-US" sz="3600" smtClean="0">
                <a:solidFill>
                  <a:schemeClr val="tx1"/>
                </a:solidFill>
                <a:latin typeface="Arial Unicode MS" pitchFamily="34" charset="-128"/>
                <a:cs typeface="Arial" panose="020B0604020202020204" pitchFamily="34" charset="0"/>
              </a:rPr>
            </a:br>
            <a:r>
              <a:rPr lang="en-US" sz="3600" smtClean="0">
                <a:solidFill>
                  <a:schemeClr val="tx1"/>
                </a:solidFill>
                <a:latin typeface="Arial Unicode MS" pitchFamily="34" charset="-128"/>
                <a:cs typeface="Arial" panose="020B0604020202020204" pitchFamily="34" charset="0"/>
              </a:rPr>
              <a:t>Decisions</a:t>
            </a:r>
            <a:endParaRPr lang="en-US" sz="3600">
              <a:solidFill>
                <a:schemeClr val="tx1"/>
              </a:solidFill>
              <a:latin typeface="Arial Unicode MS" pitchFamily="34" charset="-128"/>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0" y="285750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a:lstStyle>
          <a:p>
            <a:pPr>
              <a:lnSpc>
                <a:spcPct val="90000"/>
              </a:lnSpc>
            </a:pPr>
            <a:r>
              <a:rPr lang="en-US" sz="3600"/>
              <a:t>Marketing Objectives that Affect Pricing Decisions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2514600"/>
            <a:ext cx="2895600" cy="1816100"/>
          </a:xfrm>
          <a:prstGeom prst="rect">
            <a:avLst/>
          </a:prstGeom>
          <a:solidFill>
            <a:schemeClr val="bg2">
              <a:lumMod val="50000"/>
            </a:schemeClr>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85000"/>
              </a:lnSpc>
              <a:spcBef>
                <a:spcPct val="20000"/>
              </a:spcBef>
            </a:pPr>
            <a:r>
              <a:rPr lang="en-US" sz="3700" b="1" dirty="0">
                <a:latin typeface="Arial" panose="020B0604020202020204" pitchFamily="34" charset="0"/>
              </a:rPr>
              <a:t>Marketing</a:t>
            </a:r>
          </a:p>
          <a:p>
            <a:pPr algn="ctr" defTabSz="821055">
              <a:lnSpc>
                <a:spcPct val="85000"/>
              </a:lnSpc>
              <a:spcBef>
                <a:spcPct val="20000"/>
              </a:spcBef>
            </a:pPr>
            <a:r>
              <a:rPr lang="en-US" sz="3700" b="1" dirty="0">
                <a:latin typeface="Arial" panose="020B0604020202020204" pitchFamily="34" charset="0"/>
              </a:rPr>
              <a:t>Objectives</a:t>
            </a:r>
          </a:p>
        </p:txBody>
      </p:sp>
      <p:sp>
        <p:nvSpPr>
          <p:cNvPr id="3" name="Rectangle 2"/>
          <p:cNvSpPr>
            <a:spLocks noChangeArrowheads="1"/>
          </p:cNvSpPr>
          <p:nvPr/>
        </p:nvSpPr>
        <p:spPr bwMode="auto">
          <a:xfrm>
            <a:off x="3581400" y="152400"/>
            <a:ext cx="5514975" cy="1600200"/>
          </a:xfrm>
          <a:prstGeom prst="rect">
            <a:avLst/>
          </a:prstGeom>
          <a:solidFill>
            <a:schemeClr val="bg2">
              <a:lumMod val="50000"/>
            </a:schemeClr>
          </a:solidFill>
          <a:ln w="57150">
            <a:solidFill>
              <a:schemeClr val="tx1"/>
            </a:solidFill>
            <a:miter lim="800000"/>
          </a:ln>
          <a:effectLst>
            <a:outerShdw dist="71842" dir="2700000" algn="ctr" rotWithShape="0">
              <a:schemeClr val="tx1"/>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3600" b="1" dirty="0">
                <a:solidFill>
                  <a:srgbClr val="000000"/>
                </a:solidFill>
                <a:latin typeface="Arial" panose="020B0604020202020204" pitchFamily="34" charset="0"/>
              </a:rPr>
              <a:t>Survival</a:t>
            </a:r>
          </a:p>
          <a:p>
            <a:pPr algn="ctr" defTabSz="821055">
              <a:lnSpc>
                <a:spcPct val="90000"/>
              </a:lnSpc>
            </a:pPr>
            <a:endParaRPr lang="en-US" sz="1200" b="1" dirty="0">
              <a:solidFill>
                <a:srgbClr val="000000"/>
              </a:solidFill>
              <a:latin typeface="Arial" panose="020B0604020202020204" pitchFamily="34" charset="0"/>
            </a:endParaRPr>
          </a:p>
          <a:p>
            <a:pPr algn="ctr" defTabSz="821055">
              <a:lnSpc>
                <a:spcPct val="90000"/>
              </a:lnSpc>
            </a:pPr>
            <a:r>
              <a:rPr lang="en-US" sz="2000" b="1" dirty="0">
                <a:solidFill>
                  <a:srgbClr val="000000"/>
                </a:solidFill>
                <a:latin typeface="Arial" panose="020B0604020202020204" pitchFamily="34" charset="0"/>
              </a:rPr>
              <a:t>Low Prices to Cover Variable Costs and</a:t>
            </a:r>
          </a:p>
          <a:p>
            <a:pPr algn="ctr" defTabSz="821055">
              <a:lnSpc>
                <a:spcPct val="90000"/>
              </a:lnSpc>
            </a:pPr>
            <a:r>
              <a:rPr lang="en-US" sz="2000" b="1" dirty="0">
                <a:solidFill>
                  <a:srgbClr val="000000"/>
                </a:solidFill>
                <a:latin typeface="Arial" panose="020B0604020202020204" pitchFamily="34" charset="0"/>
              </a:rPr>
              <a:t>Some Fixed Costs to Stay in Business.</a:t>
            </a:r>
          </a:p>
          <a:p>
            <a:pPr algn="ctr" defTabSz="821055" latinLnBrk="1">
              <a:lnSpc>
                <a:spcPct val="90000"/>
              </a:lnSpc>
            </a:pPr>
            <a:endParaRPr lang="en-US" sz="2000" b="1" dirty="0">
              <a:solidFill>
                <a:srgbClr val="000000"/>
              </a:solidFill>
              <a:latin typeface="Arial" panose="020B0604020202020204" pitchFamily="34" charset="0"/>
            </a:endParaRPr>
          </a:p>
        </p:txBody>
      </p:sp>
      <p:sp>
        <p:nvSpPr>
          <p:cNvPr id="4" name="Rectangle 3"/>
          <p:cNvSpPr>
            <a:spLocks noChangeArrowheads="1"/>
          </p:cNvSpPr>
          <p:nvPr/>
        </p:nvSpPr>
        <p:spPr bwMode="auto">
          <a:xfrm>
            <a:off x="3581400" y="1905000"/>
            <a:ext cx="5486400" cy="1460500"/>
          </a:xfrm>
          <a:prstGeom prst="rect">
            <a:avLst/>
          </a:prstGeom>
          <a:solidFill>
            <a:schemeClr val="bg2">
              <a:lumMod val="50000"/>
            </a:schemeClr>
          </a:solidFill>
          <a:ln w="57150">
            <a:solidFill>
              <a:schemeClr val="tx1"/>
            </a:solidFill>
            <a:miter lim="800000"/>
          </a:ln>
          <a:effectLst>
            <a:outerShdw dist="71842" dir="2700000" algn="ctr" rotWithShape="0">
              <a:schemeClr val="tx1"/>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spcBef>
                <a:spcPct val="50000"/>
              </a:spcBef>
            </a:pPr>
            <a:r>
              <a:rPr lang="en-US" sz="2800" b="1" dirty="0">
                <a:latin typeface="Arial" panose="020B0604020202020204" pitchFamily="34" charset="0"/>
              </a:rPr>
              <a:t>Current Profit Maximization</a:t>
            </a:r>
          </a:p>
          <a:p>
            <a:pPr algn="ctr" defTabSz="821055">
              <a:lnSpc>
                <a:spcPct val="90000"/>
              </a:lnSpc>
              <a:spcBef>
                <a:spcPct val="50000"/>
              </a:spcBef>
            </a:pPr>
            <a:r>
              <a:rPr lang="en-US" sz="2000" b="1" dirty="0">
                <a:latin typeface="Arial" panose="020B0604020202020204" pitchFamily="34" charset="0"/>
              </a:rPr>
              <a:t>Choose the Price that Produces the Maximum Current Profit, Cash Flow or ROI.</a:t>
            </a:r>
          </a:p>
        </p:txBody>
      </p:sp>
      <p:sp>
        <p:nvSpPr>
          <p:cNvPr id="5" name="Rectangle 4"/>
          <p:cNvSpPr>
            <a:spLocks noChangeArrowheads="1"/>
          </p:cNvSpPr>
          <p:nvPr/>
        </p:nvSpPr>
        <p:spPr bwMode="auto">
          <a:xfrm>
            <a:off x="3581400" y="3581400"/>
            <a:ext cx="5486400" cy="1509713"/>
          </a:xfrm>
          <a:prstGeom prst="rect">
            <a:avLst/>
          </a:prstGeom>
          <a:solidFill>
            <a:schemeClr val="bg2">
              <a:lumMod val="50000"/>
            </a:schemeClr>
          </a:solidFill>
          <a:ln w="57150">
            <a:solidFill>
              <a:schemeClr val="tx1"/>
            </a:solidFill>
            <a:miter lim="800000"/>
          </a:ln>
          <a:effectLst>
            <a:outerShdw dist="71842" dir="2700000" algn="ctr" rotWithShape="0">
              <a:schemeClr val="tx1"/>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solidFill>
                  <a:srgbClr val="000000"/>
                </a:solidFill>
                <a:latin typeface="Arial" panose="020B0604020202020204" pitchFamily="34" charset="0"/>
              </a:rPr>
              <a:t>Market Share Leadership</a:t>
            </a:r>
          </a:p>
          <a:p>
            <a:pPr algn="ctr" defTabSz="821055">
              <a:lnSpc>
                <a:spcPct val="90000"/>
              </a:lnSpc>
            </a:pPr>
            <a:endParaRPr lang="en-US" sz="1000" b="1">
              <a:solidFill>
                <a:srgbClr val="000000"/>
              </a:solidFill>
              <a:latin typeface="Arial" panose="020B0604020202020204" pitchFamily="34" charset="0"/>
            </a:endParaRPr>
          </a:p>
          <a:p>
            <a:pPr algn="ctr" defTabSz="821055">
              <a:lnSpc>
                <a:spcPct val="90000"/>
              </a:lnSpc>
            </a:pPr>
            <a:r>
              <a:rPr lang="en-US" sz="2400" b="1">
                <a:solidFill>
                  <a:srgbClr val="000000"/>
                </a:solidFill>
                <a:latin typeface="Arial" panose="020B0604020202020204" pitchFamily="34" charset="0"/>
              </a:rPr>
              <a:t>Low as Possible Prices to Become</a:t>
            </a:r>
          </a:p>
          <a:p>
            <a:pPr algn="ctr" defTabSz="821055">
              <a:lnSpc>
                <a:spcPct val="90000"/>
              </a:lnSpc>
            </a:pPr>
            <a:r>
              <a:rPr lang="en-US" sz="2400" b="1">
                <a:solidFill>
                  <a:srgbClr val="000000"/>
                </a:solidFill>
                <a:latin typeface="Arial" panose="020B0604020202020204" pitchFamily="34" charset="0"/>
              </a:rPr>
              <a:t>the Market Share Leader.</a:t>
            </a:r>
          </a:p>
        </p:txBody>
      </p:sp>
      <p:sp>
        <p:nvSpPr>
          <p:cNvPr id="6" name="Rectangle 5"/>
          <p:cNvSpPr>
            <a:spLocks noChangeArrowheads="1"/>
          </p:cNvSpPr>
          <p:nvPr/>
        </p:nvSpPr>
        <p:spPr bwMode="auto">
          <a:xfrm>
            <a:off x="3657600" y="5334000"/>
            <a:ext cx="5486400" cy="1371600"/>
          </a:xfrm>
          <a:prstGeom prst="rect">
            <a:avLst/>
          </a:prstGeom>
          <a:solidFill>
            <a:schemeClr val="bg2">
              <a:lumMod val="50000"/>
            </a:schemeClr>
          </a:solidFill>
          <a:ln w="57150">
            <a:solidFill>
              <a:schemeClr val="tx1"/>
            </a:solidFill>
            <a:miter lim="800000"/>
          </a:ln>
          <a:effectLst>
            <a:outerShdw dist="71842" dir="2700000" algn="ctr" rotWithShape="0">
              <a:schemeClr val="tx1"/>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solidFill>
                  <a:srgbClr val="000000"/>
                </a:solidFill>
                <a:latin typeface="Arial" panose="020B0604020202020204" pitchFamily="34" charset="0"/>
              </a:rPr>
              <a:t>Product Quality Leadership</a:t>
            </a:r>
          </a:p>
          <a:p>
            <a:pPr algn="ctr" defTabSz="821055">
              <a:lnSpc>
                <a:spcPct val="90000"/>
              </a:lnSpc>
            </a:pPr>
            <a:endParaRPr lang="en-US" sz="1400" b="1">
              <a:solidFill>
                <a:srgbClr val="000000"/>
              </a:solidFill>
              <a:latin typeface="Arial" panose="020B0604020202020204" pitchFamily="34" charset="0"/>
            </a:endParaRPr>
          </a:p>
          <a:p>
            <a:pPr algn="ctr" defTabSz="821055">
              <a:lnSpc>
                <a:spcPct val="90000"/>
              </a:lnSpc>
            </a:pPr>
            <a:r>
              <a:rPr lang="en-US" sz="2400" b="1">
                <a:solidFill>
                  <a:srgbClr val="000000"/>
                </a:solidFill>
                <a:latin typeface="Arial" panose="020B0604020202020204" pitchFamily="34" charset="0"/>
              </a:rPr>
              <a:t>High Prices to Cover Higher</a:t>
            </a:r>
          </a:p>
          <a:p>
            <a:pPr algn="ctr" defTabSz="821055">
              <a:lnSpc>
                <a:spcPct val="90000"/>
              </a:lnSpc>
            </a:pPr>
            <a:r>
              <a:rPr lang="en-US" sz="2400" b="1">
                <a:solidFill>
                  <a:srgbClr val="000000"/>
                </a:solidFill>
                <a:latin typeface="Arial" panose="020B0604020202020204" pitchFamily="34" charset="0"/>
              </a:rPr>
              <a:t> Performance Quality</a:t>
            </a:r>
          </a:p>
        </p:txBody>
      </p:sp>
      <p:sp>
        <p:nvSpPr>
          <p:cNvPr id="7" name="Freeform 6"/>
          <p:cNvSpPr/>
          <p:nvPr/>
        </p:nvSpPr>
        <p:spPr bwMode="auto">
          <a:xfrm>
            <a:off x="3276600" y="914400"/>
            <a:ext cx="457200" cy="5181600"/>
          </a:xfrm>
          <a:custGeom>
            <a:avLst/>
            <a:gdLst>
              <a:gd name="T0" fmla="*/ 201 w 202"/>
              <a:gd name="T1" fmla="*/ 0 h 2340"/>
              <a:gd name="T2" fmla="*/ 0 w 202"/>
              <a:gd name="T3" fmla="*/ 0 h 2340"/>
              <a:gd name="T4" fmla="*/ 0 w 202"/>
              <a:gd name="T5" fmla="*/ 2339 h 2340"/>
              <a:gd name="T6" fmla="*/ 195 w 202"/>
              <a:gd name="T7" fmla="*/ 2339 h 2340"/>
            </a:gdLst>
            <a:ahLst/>
            <a:cxnLst>
              <a:cxn ang="0">
                <a:pos x="T0" y="T1"/>
              </a:cxn>
              <a:cxn ang="0">
                <a:pos x="T2" y="T3"/>
              </a:cxn>
              <a:cxn ang="0">
                <a:pos x="T4" y="T5"/>
              </a:cxn>
              <a:cxn ang="0">
                <a:pos x="T6" y="T7"/>
              </a:cxn>
            </a:cxnLst>
            <a:rect l="0" t="0" r="r" b="b"/>
            <a:pathLst>
              <a:path w="202" h="2340">
                <a:moveTo>
                  <a:pt x="201" y="0"/>
                </a:moveTo>
                <a:lnTo>
                  <a:pt x="0" y="0"/>
                </a:lnTo>
                <a:lnTo>
                  <a:pt x="0" y="2339"/>
                </a:lnTo>
                <a:lnTo>
                  <a:pt x="195" y="2339"/>
                </a:lnTo>
              </a:path>
            </a:pathLst>
          </a:custGeom>
          <a:noFill/>
          <a:ln w="76200" cap="rnd" cmpd="sng">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tx2">
                    <a:lumMod val="60000"/>
                    <a:lumOff val="4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8" name="Line 9"/>
          <p:cNvSpPr>
            <a:spLocks noChangeShapeType="1"/>
          </p:cNvSpPr>
          <p:nvPr/>
        </p:nvSpPr>
        <p:spPr bwMode="auto">
          <a:xfrm flipH="1">
            <a:off x="3276600" y="2667000"/>
            <a:ext cx="311150" cy="0"/>
          </a:xfrm>
          <a:prstGeom prst="line">
            <a:avLst/>
          </a:prstGeom>
          <a:noFill/>
          <a:ln w="76200">
            <a:solidFill>
              <a:schemeClr val="bg2">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9" name="Line 10"/>
          <p:cNvSpPr>
            <a:spLocks noChangeShapeType="1"/>
          </p:cNvSpPr>
          <p:nvPr/>
        </p:nvSpPr>
        <p:spPr bwMode="auto">
          <a:xfrm flipH="1">
            <a:off x="2895600" y="3429000"/>
            <a:ext cx="350838" cy="0"/>
          </a:xfrm>
          <a:prstGeom prst="line">
            <a:avLst/>
          </a:prstGeom>
          <a:noFill/>
          <a:ln w="76200">
            <a:solidFill>
              <a:schemeClr val="bg2">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0" name="Line 11"/>
          <p:cNvSpPr>
            <a:spLocks noChangeShapeType="1"/>
          </p:cNvSpPr>
          <p:nvPr/>
        </p:nvSpPr>
        <p:spPr bwMode="auto">
          <a:xfrm flipH="1">
            <a:off x="3276600" y="4343400"/>
            <a:ext cx="311150" cy="0"/>
          </a:xfrm>
          <a:prstGeom prst="line">
            <a:avLst/>
          </a:prstGeom>
          <a:noFill/>
          <a:ln w="76200">
            <a:solidFill>
              <a:schemeClr val="bg2">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transition>
    <p:wheel spokes="8"/>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0" y="285750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a:lstStyle>
          <a:p>
            <a:pPr>
              <a:lnSpc>
                <a:spcPct val="90000"/>
              </a:lnSpc>
            </a:pPr>
            <a:r>
              <a:rPr lang="en-US" sz="3600"/>
              <a:t>Marketing Mix Variables that Affect Pricing Decisions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a:spLocks noChangeArrowheads="1"/>
          </p:cNvSpPr>
          <p:nvPr/>
        </p:nvSpPr>
        <p:spPr bwMode="auto">
          <a:xfrm>
            <a:off x="3009900" y="2286000"/>
            <a:ext cx="3200400" cy="2514600"/>
          </a:xfrm>
          <a:prstGeom prst="ellipse">
            <a:avLst/>
          </a:prstGeom>
          <a:solidFill>
            <a:schemeClr val="accent1">
              <a:lumMod val="60000"/>
              <a:lumOff val="40000"/>
            </a:schemeClr>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latin typeface="Arial" panose="020B0604020202020204" pitchFamily="34" charset="0"/>
              </a:rPr>
              <a:t> Marketing-Mix </a:t>
            </a:r>
          </a:p>
          <a:p>
            <a:pPr algn="ctr" defTabSz="821055">
              <a:lnSpc>
                <a:spcPct val="90000"/>
              </a:lnSpc>
            </a:pPr>
            <a:r>
              <a:rPr lang="en-US" sz="2800" b="1">
                <a:latin typeface="Arial" panose="020B0604020202020204" pitchFamily="34" charset="0"/>
              </a:rPr>
              <a:t> Strategy</a:t>
            </a:r>
          </a:p>
        </p:txBody>
      </p:sp>
      <p:sp>
        <p:nvSpPr>
          <p:cNvPr id="3" name="Rectangle 2"/>
          <p:cNvSpPr>
            <a:spLocks noChangeArrowheads="1"/>
          </p:cNvSpPr>
          <p:nvPr/>
        </p:nvSpPr>
        <p:spPr bwMode="auto">
          <a:xfrm>
            <a:off x="2857500" y="457200"/>
            <a:ext cx="3429000" cy="1195388"/>
          </a:xfrm>
          <a:prstGeom prst="rect">
            <a:avLst/>
          </a:prstGeom>
          <a:gradFill>
            <a:gsLst>
              <a:gs pos="0">
                <a:srgbClr val="FECF40"/>
              </a:gs>
              <a:gs pos="100000">
                <a:srgbClr val="846C21"/>
              </a:gs>
            </a:gsLst>
            <a:lin scaled="0"/>
          </a:gradFill>
          <a:ln w="38100">
            <a:solidFill>
              <a:schemeClr val="tx1"/>
            </a:solidFill>
            <a:miter lim="800000"/>
          </a:ln>
          <a:effectLst>
            <a:outerShdw dist="107763" dir="2700000" algn="ctr" rotWithShape="0">
              <a:srgbClr val="D93192"/>
            </a:outerShdw>
          </a:effectLst>
        </p:spPr>
        <p:txBody>
          <a:bodyPr wrap="none" lIns="81204" tIns="39889" rIns="81204" bIns="39889"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latin typeface="Arial" panose="020B0604020202020204" pitchFamily="34" charset="0"/>
              </a:rPr>
              <a:t>Product Design</a:t>
            </a:r>
          </a:p>
          <a:p>
            <a:pPr algn="ctr" defTabSz="821055">
              <a:lnSpc>
                <a:spcPct val="90000"/>
              </a:lnSpc>
            </a:pPr>
            <a:r>
              <a:rPr lang="en-US" sz="2800" b="1">
                <a:latin typeface="Arial" panose="020B0604020202020204" pitchFamily="34" charset="0"/>
              </a:rPr>
              <a:t>and Quality</a:t>
            </a:r>
          </a:p>
        </p:txBody>
      </p:sp>
      <p:sp>
        <p:nvSpPr>
          <p:cNvPr id="4" name="Rectangle 3"/>
          <p:cNvSpPr>
            <a:spLocks noChangeArrowheads="1"/>
          </p:cNvSpPr>
          <p:nvPr/>
        </p:nvSpPr>
        <p:spPr bwMode="auto">
          <a:xfrm>
            <a:off x="6623050" y="2971800"/>
            <a:ext cx="2482850" cy="1058863"/>
          </a:xfrm>
          <a:prstGeom prst="rect">
            <a:avLst/>
          </a:prstGeom>
          <a:gradFill>
            <a:gsLst>
              <a:gs pos="0">
                <a:srgbClr val="FECF40"/>
              </a:gs>
              <a:gs pos="100000">
                <a:srgbClr val="846C21"/>
              </a:gs>
            </a:gsLst>
            <a:lin scaled="0"/>
          </a:gradFill>
          <a:ln w="38100">
            <a:solidFill>
              <a:schemeClr val="tx1"/>
            </a:solidFill>
            <a:miter lim="800000"/>
          </a:ln>
          <a:effectLst>
            <a:outerShdw dist="107763" dir="2700000" algn="ctr" rotWithShape="0">
              <a:srgbClr val="D93192"/>
            </a:outerShdw>
          </a:effectLst>
        </p:spPr>
        <p:txBody>
          <a:bodyPr wrap="none" lIns="81204" tIns="39889" rIns="81204" bIns="39889"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latin typeface="Arial" panose="020B0604020202020204" pitchFamily="34" charset="0"/>
              </a:rPr>
              <a:t>Distribution</a:t>
            </a:r>
          </a:p>
        </p:txBody>
      </p:sp>
      <p:sp>
        <p:nvSpPr>
          <p:cNvPr id="5" name="Rectangle 4"/>
          <p:cNvSpPr>
            <a:spLocks noChangeArrowheads="1"/>
          </p:cNvSpPr>
          <p:nvPr/>
        </p:nvSpPr>
        <p:spPr bwMode="auto">
          <a:xfrm>
            <a:off x="3086100" y="5280025"/>
            <a:ext cx="3200400" cy="1120775"/>
          </a:xfrm>
          <a:prstGeom prst="rect">
            <a:avLst/>
          </a:prstGeom>
          <a:gradFill>
            <a:gsLst>
              <a:gs pos="0">
                <a:srgbClr val="FECF40"/>
              </a:gs>
              <a:gs pos="100000">
                <a:srgbClr val="846C21"/>
              </a:gs>
            </a:gsLst>
            <a:lin scaled="0"/>
          </a:gradFill>
          <a:ln w="38100">
            <a:solidFill>
              <a:schemeClr val="tx1"/>
            </a:solidFill>
            <a:miter lim="800000"/>
          </a:ln>
          <a:effectLst>
            <a:outerShdw dist="107763" dir="2700000" algn="ctr" rotWithShape="0">
              <a:srgbClr val="D93192"/>
            </a:outerShdw>
          </a:effectLst>
        </p:spPr>
        <p:txBody>
          <a:bodyPr wrap="none" lIns="81204" tIns="39889" rIns="81204" bIns="39889"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latin typeface="Arial" panose="020B0604020202020204" pitchFamily="34" charset="0"/>
              </a:rPr>
              <a:t>Promotion</a:t>
            </a:r>
          </a:p>
        </p:txBody>
      </p:sp>
      <p:sp>
        <p:nvSpPr>
          <p:cNvPr id="6" name="Rectangle 5"/>
          <p:cNvSpPr>
            <a:spLocks noChangeArrowheads="1"/>
          </p:cNvSpPr>
          <p:nvPr/>
        </p:nvSpPr>
        <p:spPr bwMode="auto">
          <a:xfrm>
            <a:off x="38100" y="2895600"/>
            <a:ext cx="2516188" cy="1058863"/>
          </a:xfrm>
          <a:prstGeom prst="rect">
            <a:avLst/>
          </a:prstGeom>
          <a:gradFill>
            <a:gsLst>
              <a:gs pos="0">
                <a:srgbClr val="FECF40"/>
              </a:gs>
              <a:gs pos="100000">
                <a:srgbClr val="846C21"/>
              </a:gs>
            </a:gsLst>
            <a:lin scaled="0"/>
          </a:gradFill>
          <a:ln w="38100">
            <a:solidFill>
              <a:schemeClr val="tx1"/>
            </a:solidFill>
            <a:miter lim="800000"/>
          </a:ln>
          <a:effectLst>
            <a:outerShdw dist="107763" dir="2700000" algn="ctr" rotWithShape="0">
              <a:srgbClr val="D93192"/>
            </a:outerShdw>
          </a:effectLst>
        </p:spPr>
        <p:txBody>
          <a:bodyPr wrap="none" lIns="81204" tIns="39889" rIns="81204" bIns="39889"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sz="2800" b="1">
                <a:latin typeface="Arial" panose="020B0604020202020204" pitchFamily="34" charset="0"/>
              </a:rPr>
              <a:t>Non-Price </a:t>
            </a:r>
          </a:p>
          <a:p>
            <a:pPr algn="ctr" defTabSz="821055">
              <a:lnSpc>
                <a:spcPct val="90000"/>
              </a:lnSpc>
            </a:pPr>
            <a:r>
              <a:rPr lang="en-US" sz="2800" b="1">
                <a:latin typeface="Arial" panose="020B0604020202020204" pitchFamily="34" charset="0"/>
              </a:rPr>
              <a:t>Factors</a:t>
            </a:r>
          </a:p>
        </p:txBody>
      </p:sp>
      <p:sp>
        <p:nvSpPr>
          <p:cNvPr id="7" name="AutoShape 8"/>
          <p:cNvSpPr>
            <a:spLocks noChangeArrowheads="1"/>
          </p:cNvSpPr>
          <p:nvPr/>
        </p:nvSpPr>
        <p:spPr bwMode="auto">
          <a:xfrm flipH="1">
            <a:off x="2552700" y="3200400"/>
            <a:ext cx="554038" cy="376238"/>
          </a:xfrm>
          <a:prstGeom prst="rightArrow">
            <a:avLst>
              <a:gd name="adj1" fmla="val 75000"/>
              <a:gd name="adj2" fmla="val 73649"/>
            </a:avLst>
          </a:prstGeom>
          <a:solidFill>
            <a:schemeClr val="accent1">
              <a:lumMod val="60000"/>
              <a:lumOff val="40000"/>
            </a:schemeClr>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8" name="AutoShape 9"/>
          <p:cNvSpPr>
            <a:spLocks noChangeArrowheads="1"/>
          </p:cNvSpPr>
          <p:nvPr/>
        </p:nvSpPr>
        <p:spPr bwMode="auto">
          <a:xfrm rot="16200000" flipH="1">
            <a:off x="4364037" y="4818063"/>
            <a:ext cx="485775" cy="450850"/>
          </a:xfrm>
          <a:prstGeom prst="rightArrow">
            <a:avLst>
              <a:gd name="adj1" fmla="val 75000"/>
              <a:gd name="adj2" fmla="val 53888"/>
            </a:avLst>
          </a:prstGeom>
          <a:solidFill>
            <a:schemeClr val="accent1">
              <a:lumMod val="60000"/>
              <a:lumOff val="40000"/>
            </a:schemeClr>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9" name="AutoShape 10"/>
          <p:cNvSpPr>
            <a:spLocks noChangeArrowheads="1"/>
          </p:cNvSpPr>
          <p:nvPr/>
        </p:nvSpPr>
        <p:spPr bwMode="auto">
          <a:xfrm>
            <a:off x="6113463" y="3276600"/>
            <a:ext cx="554037" cy="376238"/>
          </a:xfrm>
          <a:prstGeom prst="rightArrow">
            <a:avLst>
              <a:gd name="adj1" fmla="val 75000"/>
              <a:gd name="adj2" fmla="val 73649"/>
            </a:avLst>
          </a:prstGeom>
          <a:solidFill>
            <a:schemeClr val="accent1">
              <a:lumMod val="60000"/>
              <a:lumOff val="40000"/>
            </a:schemeClr>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0" name="AutoShape 11"/>
          <p:cNvSpPr>
            <a:spLocks noChangeArrowheads="1"/>
          </p:cNvSpPr>
          <p:nvPr/>
        </p:nvSpPr>
        <p:spPr bwMode="auto">
          <a:xfrm rot="16200000">
            <a:off x="4291013" y="1738312"/>
            <a:ext cx="609600" cy="485775"/>
          </a:xfrm>
          <a:prstGeom prst="rightArrow">
            <a:avLst>
              <a:gd name="adj1" fmla="val 75000"/>
              <a:gd name="adj2" fmla="val 62763"/>
            </a:avLst>
          </a:prstGeom>
          <a:solidFill>
            <a:schemeClr val="accent1">
              <a:lumMod val="60000"/>
              <a:lumOff val="40000"/>
            </a:schemeClr>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7507" name="Rectangle 3"/>
          <p:cNvSpPr>
            <a:spLocks noGrp="1" noChangeArrowheads="1"/>
          </p:cNvSpPr>
          <p:nvPr>
            <p:ph type="body" idx="1"/>
          </p:nvPr>
        </p:nvSpPr>
        <p:spPr>
          <a:xfrm>
            <a:off x="914400" y="2362200"/>
            <a:ext cx="6934200" cy="30480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gn="just">
              <a:lnSpc>
                <a:spcPct val="90000"/>
              </a:lnSpc>
              <a:spcBef>
                <a:spcPct val="40000"/>
              </a:spcBef>
            </a:pPr>
            <a:r>
              <a:rPr lang="en-US" dirty="0" smtClean="0">
                <a:latin typeface="Arial Unicode MS" pitchFamily="34" charset="-128"/>
                <a:cs typeface="Arial" panose="020B0604020202020204" pitchFamily="34" charset="0"/>
              </a:rPr>
              <a:t>Set </a:t>
            </a:r>
            <a:r>
              <a:rPr lang="en-US" dirty="0">
                <a:latin typeface="Arial Unicode MS" pitchFamily="34" charset="-128"/>
                <a:cs typeface="Arial" panose="020B0604020202020204" pitchFamily="34" charset="0"/>
              </a:rPr>
              <a:t>the floor for the price</a:t>
            </a:r>
          </a:p>
          <a:p>
            <a:pPr algn="just">
              <a:lnSpc>
                <a:spcPct val="90000"/>
              </a:lnSpc>
              <a:spcBef>
                <a:spcPct val="40000"/>
              </a:spcBef>
            </a:pPr>
            <a:r>
              <a:rPr lang="en-US" dirty="0">
                <a:latin typeface="Arial Unicode MS" pitchFamily="34" charset="-128"/>
                <a:cs typeface="Arial" panose="020B0604020202020204" pitchFamily="34" charset="0"/>
              </a:rPr>
              <a:t> Cover total costs - fixed plus variable </a:t>
            </a:r>
            <a:r>
              <a:rPr lang="en-US" dirty="0" smtClean="0">
                <a:latin typeface="Arial Unicode MS" pitchFamily="34" charset="-128"/>
                <a:cs typeface="Arial" panose="020B0604020202020204" pitchFamily="34" charset="0"/>
              </a:rPr>
              <a:t>costs</a:t>
            </a:r>
          </a:p>
          <a:p>
            <a:pPr lvl="1" algn="just">
              <a:lnSpc>
                <a:spcPct val="90000"/>
              </a:lnSpc>
              <a:spcBef>
                <a:spcPct val="40000"/>
              </a:spcBef>
            </a:pPr>
            <a:r>
              <a:rPr lang="en-US" sz="2200" dirty="0" smtClean="0">
                <a:latin typeface="Arial Unicode MS" pitchFamily="34" charset="-128"/>
                <a:cs typeface="Arial" panose="020B0604020202020204" pitchFamily="34" charset="0"/>
              </a:rPr>
              <a:t>Fixed </a:t>
            </a:r>
            <a:r>
              <a:rPr lang="en-US" sz="2200" dirty="0">
                <a:latin typeface="Arial Unicode MS" pitchFamily="34" charset="-128"/>
                <a:cs typeface="Arial" panose="020B0604020202020204" pitchFamily="34" charset="0"/>
              </a:rPr>
              <a:t>costs </a:t>
            </a:r>
          </a:p>
          <a:p>
            <a:pPr lvl="2" algn="just">
              <a:lnSpc>
                <a:spcPct val="90000"/>
              </a:lnSpc>
              <a:spcBef>
                <a:spcPct val="40000"/>
              </a:spcBef>
            </a:pPr>
            <a:r>
              <a:rPr lang="en-US" dirty="0">
                <a:latin typeface="Arial Unicode MS" pitchFamily="34" charset="-128"/>
                <a:cs typeface="Arial" panose="020B0604020202020204" pitchFamily="34" charset="0"/>
              </a:rPr>
              <a:t>do not vary with production </a:t>
            </a:r>
            <a:r>
              <a:rPr lang="en-US" dirty="0" smtClean="0">
                <a:latin typeface="Arial Unicode MS" pitchFamily="34" charset="-128"/>
                <a:cs typeface="Arial" panose="020B0604020202020204" pitchFamily="34" charset="0"/>
              </a:rPr>
              <a:t>volume</a:t>
            </a:r>
          </a:p>
          <a:p>
            <a:pPr lvl="1" algn="just">
              <a:lnSpc>
                <a:spcPct val="90000"/>
              </a:lnSpc>
              <a:spcBef>
                <a:spcPct val="40000"/>
              </a:spcBef>
            </a:pPr>
            <a:r>
              <a:rPr lang="en-US" dirty="0" smtClean="0">
                <a:latin typeface="Arial Unicode MS" pitchFamily="34" charset="-128"/>
                <a:cs typeface="Arial" panose="020B0604020202020204" pitchFamily="34" charset="0"/>
              </a:rPr>
              <a:t>Variable </a:t>
            </a:r>
            <a:r>
              <a:rPr lang="en-US" dirty="0">
                <a:latin typeface="Arial Unicode MS" pitchFamily="34" charset="-128"/>
                <a:cs typeface="Arial" panose="020B0604020202020204" pitchFamily="34" charset="0"/>
              </a:rPr>
              <a:t>costs</a:t>
            </a:r>
          </a:p>
          <a:p>
            <a:pPr lvl="2" algn="just">
              <a:lnSpc>
                <a:spcPct val="90000"/>
              </a:lnSpc>
              <a:spcBef>
                <a:spcPct val="40000"/>
              </a:spcBef>
            </a:pPr>
            <a:r>
              <a:rPr lang="en-US" dirty="0">
                <a:latin typeface="Arial Unicode MS" pitchFamily="34" charset="-128"/>
                <a:cs typeface="Arial" panose="020B0604020202020204" pitchFamily="34" charset="0"/>
              </a:rPr>
              <a:t>vary directly with production volume</a:t>
            </a:r>
          </a:p>
        </p:txBody>
      </p:sp>
      <p:sp>
        <p:nvSpPr>
          <p:cNvPr id="917509" name="Rectangle 5"/>
          <p:cNvSpPr>
            <a:spLocks noGrp="1" noChangeArrowheads="1"/>
          </p:cNvSpPr>
          <p:nvPr>
            <p:ph type="title"/>
          </p:nvPr>
        </p:nvSpPr>
        <p:spPr>
          <a:xfrm>
            <a:off x="0" y="609600"/>
            <a:ext cx="9144000" cy="1143000"/>
          </a:xfrm>
          <a:noFill/>
          <a:extLst>
            <a:ext uri="{91240B29-F687-4F45-9708-019B960494DF}">
              <a14:hiddenLine xmlns:a14="http://schemas.microsoft.com/office/drawing/2010/main" w="12700">
                <a:solidFill>
                  <a:schemeClr val="tx1"/>
                </a:solidFill>
                <a:miter lim="800000"/>
                <a:headEnd/>
                <a:tailEnd/>
              </a14:hiddenLine>
            </a:ext>
          </a:extLst>
        </p:spPr>
        <p:txBody>
          <a:bodyPr lIns="92075" tIns="46038" rIns="92075" bIns="46038" anchorCtr="0"/>
          <a:lstStyle/>
          <a:p>
            <a:r>
              <a:rPr lang="en-US" sz="4400" dirty="0"/>
              <a:t>Costs</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0342" name="Group 6"/>
          <p:cNvGrpSpPr/>
          <p:nvPr/>
        </p:nvGrpSpPr>
        <p:grpSpPr bwMode="auto">
          <a:xfrm>
            <a:off x="1143000" y="1676400"/>
            <a:ext cx="6858000" cy="4877955"/>
            <a:chOff x="0" y="0"/>
            <a:chExt cx="5760" cy="4225"/>
          </a:xfrm>
        </p:grpSpPr>
        <p:sp>
          <p:nvSpPr>
            <p:cNvPr id="910339" name="AutoShape 3"/>
            <p:cNvSpPr>
              <a:spLocks noChangeArrowheads="1"/>
            </p:cNvSpPr>
            <p:nvPr/>
          </p:nvSpPr>
          <p:spPr bwMode="auto">
            <a:xfrm>
              <a:off x="0" y="0"/>
              <a:ext cx="5760" cy="1104"/>
            </a:xfrm>
            <a:prstGeom prst="cube">
              <a:avLst>
                <a:gd name="adj" fmla="val 24986"/>
              </a:avLst>
            </a:prstGeom>
            <a:gradFill>
              <a:gsLst>
                <a:gs pos="0">
                  <a:srgbClr val="FECF40"/>
                </a:gs>
                <a:gs pos="100000">
                  <a:srgbClr val="846C21"/>
                </a:gs>
              </a:gsLst>
              <a:lin scaled="0"/>
            </a:gradFill>
            <a:ln w="12700">
              <a:solidFill>
                <a:schemeClr val="tx1"/>
              </a:solidFill>
              <a:miter lim="800000"/>
            </a:ln>
            <a:effectLst>
              <a:outerShdw dist="107763" dir="2700000" algn="ctr" rotWithShape="0">
                <a:schemeClr val="tx1"/>
              </a:outerShdw>
            </a:effectLst>
          </p:spPr>
          <p:txBody>
            <a:bodyPr wrap="none" lIns="81204" tIns="39889" rIns="81204" bIns="39889" anchor="ctr"/>
            <a:lstStyle/>
            <a:p>
              <a:pPr algn="ctr" defTabSz="821055">
                <a:lnSpc>
                  <a:spcPct val="90000"/>
                </a:lnSpc>
                <a:spcBef>
                  <a:spcPct val="30000"/>
                </a:spcBef>
                <a:buClr>
                  <a:srgbClr val="FAFD00"/>
                </a:buClr>
                <a:buFontTx/>
                <a:buChar char=" "/>
              </a:pPr>
              <a:endParaRPr lang="en-US" sz="2000" b="1" dirty="0">
                <a:latin typeface="Arial" panose="020B0604020202020204" pitchFamily="34" charset="0"/>
              </a:endParaRPr>
            </a:p>
            <a:p>
              <a:pPr algn="ctr" defTabSz="821055">
                <a:lnSpc>
                  <a:spcPct val="90000"/>
                </a:lnSpc>
              </a:pPr>
              <a:r>
                <a:rPr lang="en-US" sz="2000" b="1" dirty="0">
                  <a:latin typeface="Arial" panose="020B0604020202020204" pitchFamily="34" charset="0"/>
                </a:rPr>
                <a:t>Total Costs</a:t>
              </a:r>
            </a:p>
            <a:p>
              <a:pPr algn="ctr" defTabSz="821055">
                <a:lnSpc>
                  <a:spcPct val="90000"/>
                </a:lnSpc>
              </a:pPr>
              <a:r>
                <a:rPr lang="en-US" sz="2000" b="1" dirty="0">
                  <a:latin typeface="Arial" panose="020B0604020202020204" pitchFamily="34" charset="0"/>
                </a:rPr>
                <a:t>Sum of the Fixed and Variable Costs for a Given </a:t>
              </a:r>
            </a:p>
            <a:p>
              <a:pPr algn="ctr" defTabSz="821055">
                <a:lnSpc>
                  <a:spcPct val="90000"/>
                </a:lnSpc>
              </a:pPr>
              <a:r>
                <a:rPr lang="en-US" sz="2000" b="1" dirty="0">
                  <a:latin typeface="Arial" panose="020B0604020202020204" pitchFamily="34" charset="0"/>
                </a:rPr>
                <a:t>Level of Production</a:t>
              </a:r>
            </a:p>
            <a:p>
              <a:pPr algn="ctr" defTabSz="821055" latinLnBrk="1">
                <a:lnSpc>
                  <a:spcPct val="90000"/>
                </a:lnSpc>
              </a:pPr>
              <a:endParaRPr lang="en-US" sz="2000" b="1" dirty="0">
                <a:latin typeface="Arial" panose="020B0604020202020204" pitchFamily="34" charset="0"/>
              </a:endParaRPr>
            </a:p>
          </p:txBody>
        </p:sp>
        <p:sp>
          <p:nvSpPr>
            <p:cNvPr id="910340" name="AutoShape 4"/>
            <p:cNvSpPr>
              <a:spLocks noChangeArrowheads="1"/>
            </p:cNvSpPr>
            <p:nvPr/>
          </p:nvSpPr>
          <p:spPr bwMode="auto">
            <a:xfrm rot="16200000">
              <a:off x="2739" y="1395"/>
              <a:ext cx="3102" cy="2557"/>
            </a:xfrm>
            <a:prstGeom prst="homePlate">
              <a:avLst>
                <a:gd name="adj" fmla="val 39421"/>
              </a:avLst>
            </a:prstGeom>
            <a:gradFill>
              <a:gsLst>
                <a:gs pos="0">
                  <a:srgbClr val="FE4444"/>
                </a:gs>
                <a:gs pos="100000">
                  <a:srgbClr val="832B2B"/>
                </a:gs>
              </a:gsLst>
              <a:lin scaled="0"/>
            </a:gradFill>
            <a:ln w="12700">
              <a:solidFill>
                <a:schemeClr val="tx1"/>
              </a:solidFill>
              <a:miter lim="800000"/>
            </a:ln>
            <a:effectLst>
              <a:outerShdw dist="107763" dir="2700000" algn="ctr" rotWithShape="0">
                <a:schemeClr val="tx1"/>
              </a:outerShdw>
            </a:effectLst>
          </p:spPr>
          <p:txBody>
            <a:bodyPr vert="eaVert" wrap="none" lIns="81204" tIns="39889" rIns="81204" bIns="39889"/>
            <a:lstStyle/>
            <a:p>
              <a:pPr algn="ctr" defTabSz="821055">
                <a:lnSpc>
                  <a:spcPct val="90000"/>
                </a:lnSpc>
              </a:pPr>
              <a:endParaRPr lang="en-US" sz="3800" b="1" dirty="0">
                <a:latin typeface="Arial" panose="020B0604020202020204" pitchFamily="34" charset="0"/>
              </a:endParaRPr>
            </a:p>
            <a:p>
              <a:pPr algn="ctr" defTabSz="821055">
                <a:lnSpc>
                  <a:spcPct val="90000"/>
                </a:lnSpc>
              </a:pPr>
              <a:r>
                <a:rPr lang="en-US" sz="2000" b="1" dirty="0">
                  <a:latin typeface="Arial" panose="020B0604020202020204" pitchFamily="34" charset="0"/>
                </a:rPr>
                <a:t>Variable Costs</a:t>
              </a:r>
            </a:p>
            <a:p>
              <a:pPr algn="ctr" defTabSz="821055">
                <a:lnSpc>
                  <a:spcPct val="90000"/>
                </a:lnSpc>
              </a:pPr>
              <a:endParaRPr lang="en-US" sz="2000" b="1" dirty="0">
                <a:latin typeface="Arial" panose="020B0604020202020204" pitchFamily="34" charset="0"/>
              </a:endParaRPr>
            </a:p>
            <a:p>
              <a:pPr algn="ctr" defTabSz="821055">
                <a:lnSpc>
                  <a:spcPct val="90000"/>
                </a:lnSpc>
              </a:pPr>
              <a:r>
                <a:rPr lang="en-US" sz="2000" b="1" dirty="0">
                  <a:latin typeface="Arial" panose="020B0604020202020204" pitchFamily="34" charset="0"/>
                </a:rPr>
                <a:t>Costs that </a:t>
              </a:r>
              <a:r>
                <a:rPr lang="en-US" sz="2000" b="1" u="sng" dirty="0">
                  <a:latin typeface="Arial" panose="020B0604020202020204" pitchFamily="34" charset="0"/>
                </a:rPr>
                <a:t>do</a:t>
              </a:r>
              <a:r>
                <a:rPr lang="en-US" sz="2000" b="1" dirty="0">
                  <a:latin typeface="Arial" panose="020B0604020202020204" pitchFamily="34" charset="0"/>
                </a:rPr>
                <a:t> vary</a:t>
              </a:r>
            </a:p>
            <a:p>
              <a:pPr algn="ctr" defTabSz="821055">
                <a:lnSpc>
                  <a:spcPct val="90000"/>
                </a:lnSpc>
              </a:pPr>
              <a:r>
                <a:rPr lang="en-US" sz="2000" b="1" dirty="0">
                  <a:latin typeface="Arial" panose="020B0604020202020204" pitchFamily="34" charset="0"/>
                </a:rPr>
                <a:t>directly with the </a:t>
              </a:r>
            </a:p>
            <a:p>
              <a:pPr algn="ctr" defTabSz="821055">
                <a:lnSpc>
                  <a:spcPct val="90000"/>
                </a:lnSpc>
              </a:pPr>
              <a:r>
                <a:rPr lang="en-US" sz="2000" b="1" dirty="0">
                  <a:latin typeface="Arial" panose="020B0604020202020204" pitchFamily="34" charset="0"/>
                </a:rPr>
                <a:t>level of production.</a:t>
              </a:r>
            </a:p>
            <a:p>
              <a:pPr algn="ctr" defTabSz="821055">
                <a:lnSpc>
                  <a:spcPct val="90000"/>
                </a:lnSpc>
              </a:pPr>
              <a:endParaRPr lang="en-US" sz="2000" b="1" dirty="0">
                <a:latin typeface="Arial" panose="020B0604020202020204" pitchFamily="34" charset="0"/>
              </a:endParaRPr>
            </a:p>
            <a:p>
              <a:pPr algn="ctr" defTabSz="821055">
                <a:lnSpc>
                  <a:spcPct val="90000"/>
                </a:lnSpc>
              </a:pPr>
              <a:r>
                <a:rPr lang="en-US" sz="2000" b="1" dirty="0">
                  <a:latin typeface="Arial" panose="020B0604020202020204" pitchFamily="34" charset="0"/>
                </a:rPr>
                <a:t>Raw materials</a:t>
              </a:r>
            </a:p>
            <a:p>
              <a:pPr algn="ctr" defTabSz="821055" latinLnBrk="1">
                <a:lnSpc>
                  <a:spcPct val="90000"/>
                </a:lnSpc>
              </a:pPr>
              <a:endParaRPr lang="en-US" sz="3200" b="1" dirty="0">
                <a:latin typeface="Arial" panose="020B0604020202020204" pitchFamily="34" charset="0"/>
              </a:endParaRPr>
            </a:p>
          </p:txBody>
        </p:sp>
        <p:sp>
          <p:nvSpPr>
            <p:cNvPr id="910341" name="AutoShape 5"/>
            <p:cNvSpPr>
              <a:spLocks noChangeArrowheads="1"/>
            </p:cNvSpPr>
            <p:nvPr/>
          </p:nvSpPr>
          <p:spPr bwMode="auto">
            <a:xfrm rot="-5400000">
              <a:off x="-144" y="1440"/>
              <a:ext cx="3120" cy="2448"/>
            </a:xfrm>
            <a:prstGeom prst="homePlate">
              <a:avLst>
                <a:gd name="adj" fmla="val 42484"/>
              </a:avLst>
            </a:prstGeom>
            <a:gradFill>
              <a:gsLst>
                <a:gs pos="0">
                  <a:srgbClr val="FE4444"/>
                </a:gs>
                <a:gs pos="100000">
                  <a:srgbClr val="832B2B"/>
                </a:gs>
              </a:gsLst>
              <a:lin scaled="0"/>
            </a:gradFill>
            <a:ln w="12700">
              <a:solidFill>
                <a:schemeClr val="tx1"/>
              </a:solidFill>
              <a:miter lim="800000"/>
            </a:ln>
            <a:effectLst>
              <a:outerShdw dist="107763" dir="2700000" algn="ctr" rotWithShape="0">
                <a:schemeClr val="tx1"/>
              </a:outerShdw>
            </a:effectLst>
          </p:spPr>
          <p:txBody>
            <a:bodyPr vert="eaVert" wrap="none" lIns="81204" tIns="39889" rIns="81204" bIns="39889" anchor="b"/>
            <a:lstStyle/>
            <a:p>
              <a:pPr algn="ctr" defTabSz="821055">
                <a:lnSpc>
                  <a:spcPct val="90000"/>
                </a:lnSpc>
              </a:pPr>
              <a:r>
                <a:rPr lang="en-US" sz="2000" b="1" dirty="0">
                  <a:latin typeface="Arial" panose="020B0604020202020204" pitchFamily="34" charset="0"/>
                </a:rPr>
                <a:t>Fixed Costs</a:t>
              </a:r>
            </a:p>
            <a:p>
              <a:pPr algn="ctr" defTabSz="821055">
                <a:lnSpc>
                  <a:spcPct val="90000"/>
                </a:lnSpc>
              </a:pPr>
              <a:r>
                <a:rPr lang="en-US" sz="2000" b="1" dirty="0">
                  <a:latin typeface="Arial" panose="020B0604020202020204" pitchFamily="34" charset="0"/>
                </a:rPr>
                <a:t>(Overhead)</a:t>
              </a:r>
            </a:p>
            <a:p>
              <a:pPr algn="ctr" defTabSz="821055">
                <a:lnSpc>
                  <a:spcPct val="90000"/>
                </a:lnSpc>
              </a:pPr>
              <a:r>
                <a:rPr lang="en-US" sz="2000" b="1" dirty="0">
                  <a:latin typeface="Arial" panose="020B0604020202020204" pitchFamily="34" charset="0"/>
                </a:rPr>
                <a:t>Costs that </a:t>
              </a:r>
              <a:r>
                <a:rPr lang="en-US" sz="2000" b="1" u="sng" dirty="0">
                  <a:latin typeface="Arial" panose="020B0604020202020204" pitchFamily="34" charset="0"/>
                </a:rPr>
                <a:t>don’t</a:t>
              </a:r>
              <a:endParaRPr lang="en-US" sz="2000" b="1" dirty="0">
                <a:latin typeface="Arial" panose="020B0604020202020204" pitchFamily="34" charset="0"/>
              </a:endParaRPr>
            </a:p>
            <a:p>
              <a:pPr algn="ctr" defTabSz="821055">
                <a:lnSpc>
                  <a:spcPct val="90000"/>
                </a:lnSpc>
              </a:pPr>
              <a:r>
                <a:rPr lang="en-US" sz="2000" b="1" dirty="0">
                  <a:latin typeface="Arial" panose="020B0604020202020204" pitchFamily="34" charset="0"/>
                </a:rPr>
                <a:t>vary with sales or </a:t>
              </a:r>
            </a:p>
            <a:p>
              <a:pPr algn="ctr" defTabSz="821055">
                <a:lnSpc>
                  <a:spcPct val="90000"/>
                </a:lnSpc>
              </a:pPr>
              <a:r>
                <a:rPr lang="en-US" sz="2000" b="1" dirty="0">
                  <a:latin typeface="Arial" panose="020B0604020202020204" pitchFamily="34" charset="0"/>
                </a:rPr>
                <a:t>production levels.</a:t>
              </a:r>
            </a:p>
            <a:p>
              <a:pPr algn="ctr" defTabSz="821055">
                <a:lnSpc>
                  <a:spcPct val="90000"/>
                </a:lnSpc>
              </a:pPr>
              <a:endParaRPr lang="en-US" sz="2000" b="1" dirty="0">
                <a:latin typeface="Arial" panose="020B0604020202020204" pitchFamily="34" charset="0"/>
              </a:endParaRPr>
            </a:p>
            <a:p>
              <a:pPr algn="ctr" defTabSz="821055">
                <a:lnSpc>
                  <a:spcPct val="90000"/>
                </a:lnSpc>
              </a:pPr>
              <a:r>
                <a:rPr lang="en-US" sz="2000" b="1" dirty="0">
                  <a:latin typeface="Arial" panose="020B0604020202020204" pitchFamily="34" charset="0"/>
                </a:rPr>
                <a:t>Executive Salaries</a:t>
              </a:r>
            </a:p>
            <a:p>
              <a:pPr algn="ctr" defTabSz="821055">
                <a:lnSpc>
                  <a:spcPct val="90000"/>
                </a:lnSpc>
              </a:pPr>
              <a:r>
                <a:rPr lang="en-US" sz="2000" b="1" dirty="0">
                  <a:latin typeface="Arial" panose="020B0604020202020204" pitchFamily="34" charset="0"/>
                </a:rPr>
                <a:t>Rent </a:t>
              </a:r>
            </a:p>
          </p:txBody>
        </p:sp>
      </p:grpSp>
      <p:sp>
        <p:nvSpPr>
          <p:cNvPr id="910343" name="Rectangle 7"/>
          <p:cNvSpPr>
            <a:spLocks noGrp="1" noChangeArrowheads="1"/>
          </p:cNvSpPr>
          <p:nvPr>
            <p:ph type="title"/>
          </p:nvPr>
        </p:nvSpPr>
        <p:spPr>
          <a:xfrm>
            <a:off x="0" y="381000"/>
            <a:ext cx="9144000" cy="1143000"/>
          </a:xfrm>
          <a:noFill/>
        </p:spPr>
        <p:txBody>
          <a:bodyPr lIns="92075" tIns="46038" rIns="92075" bIns="46038" anchorCtr="0"/>
          <a:lstStyle/>
          <a:p>
            <a:pPr>
              <a:lnSpc>
                <a:spcPct val="90000"/>
              </a:lnSpc>
            </a:pPr>
            <a:r>
              <a:rPr lang="en-US" sz="3600"/>
              <a:t>Types of Cost Factors that Affect Pricing Decisions</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1" name="AutoShape 3"/>
          <p:cNvSpPr>
            <a:spLocks noChangeArrowheads="1"/>
          </p:cNvSpPr>
          <p:nvPr/>
        </p:nvSpPr>
        <p:spPr bwMode="auto">
          <a:xfrm rot="5400000">
            <a:off x="1905000" y="-280987"/>
            <a:ext cx="720725" cy="3568700"/>
          </a:xfrm>
          <a:prstGeom prst="cube">
            <a:avLst>
              <a:gd name="adj" fmla="val 11667"/>
            </a:avLst>
          </a:prstGeom>
          <a:gradFill>
            <a:gsLst>
              <a:gs pos="0">
                <a:srgbClr val="007BD3"/>
              </a:gs>
              <a:gs pos="100000">
                <a:srgbClr val="034373"/>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3200" b="1" dirty="0">
                <a:latin typeface="Arial" panose="020B0604020202020204" pitchFamily="34" charset="0"/>
              </a:rPr>
              <a:t>Fixed Costs</a:t>
            </a:r>
          </a:p>
        </p:txBody>
      </p:sp>
      <p:grpSp>
        <p:nvGrpSpPr>
          <p:cNvPr id="933892" name="Group 4"/>
          <p:cNvGrpSpPr/>
          <p:nvPr/>
        </p:nvGrpSpPr>
        <p:grpSpPr bwMode="auto">
          <a:xfrm>
            <a:off x="481013" y="1981200"/>
            <a:ext cx="3568700" cy="4092575"/>
            <a:chOff x="303" y="1248"/>
            <a:chExt cx="2248" cy="2578"/>
          </a:xfrm>
          <a:gradFill>
            <a:gsLst>
              <a:gs pos="0">
                <a:srgbClr val="14CD68"/>
              </a:gs>
              <a:gs pos="100000">
                <a:srgbClr val="035C7D"/>
              </a:gs>
            </a:gsLst>
            <a:lin scaled="0"/>
          </a:gradFill>
        </p:grpSpPr>
        <p:sp>
          <p:nvSpPr>
            <p:cNvPr id="933893" name="AutoShape 5"/>
            <p:cNvSpPr>
              <a:spLocks noChangeArrowheads="1"/>
            </p:cNvSpPr>
            <p:nvPr/>
          </p:nvSpPr>
          <p:spPr bwMode="auto">
            <a:xfrm rot="5400000">
              <a:off x="1200" y="351"/>
              <a:ext cx="454" cy="2248"/>
            </a:xfrm>
            <a:prstGeom prst="cube">
              <a:avLst>
                <a:gd name="adj" fmla="val 11667"/>
              </a:avLst>
            </a:prstGeom>
            <a:grp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Rent</a:t>
              </a:r>
            </a:p>
          </p:txBody>
        </p:sp>
        <p:sp>
          <p:nvSpPr>
            <p:cNvPr id="933894" name="AutoShape 6"/>
            <p:cNvSpPr>
              <a:spLocks noChangeArrowheads="1"/>
            </p:cNvSpPr>
            <p:nvPr/>
          </p:nvSpPr>
          <p:spPr bwMode="auto">
            <a:xfrm rot="5400000">
              <a:off x="1194" y="885"/>
              <a:ext cx="466" cy="2248"/>
            </a:xfrm>
            <a:prstGeom prst="cube">
              <a:avLst>
                <a:gd name="adj" fmla="val 11667"/>
              </a:avLst>
            </a:prstGeom>
            <a:grp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Depreciation</a:t>
              </a:r>
            </a:p>
          </p:txBody>
        </p:sp>
        <p:sp>
          <p:nvSpPr>
            <p:cNvPr id="933895" name="AutoShape 7"/>
            <p:cNvSpPr>
              <a:spLocks noChangeArrowheads="1"/>
            </p:cNvSpPr>
            <p:nvPr/>
          </p:nvSpPr>
          <p:spPr bwMode="auto">
            <a:xfrm rot="5400000">
              <a:off x="1200" y="1407"/>
              <a:ext cx="454" cy="2248"/>
            </a:xfrm>
            <a:prstGeom prst="cube">
              <a:avLst>
                <a:gd name="adj" fmla="val 11667"/>
              </a:avLst>
            </a:prstGeom>
            <a:grp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Manager’s salaries</a:t>
              </a:r>
            </a:p>
          </p:txBody>
        </p:sp>
        <p:sp>
          <p:nvSpPr>
            <p:cNvPr id="933896" name="AutoShape 8"/>
            <p:cNvSpPr>
              <a:spLocks noChangeArrowheads="1"/>
            </p:cNvSpPr>
            <p:nvPr/>
          </p:nvSpPr>
          <p:spPr bwMode="auto">
            <a:xfrm rot="5400000">
              <a:off x="1194" y="1941"/>
              <a:ext cx="466" cy="2248"/>
            </a:xfrm>
            <a:prstGeom prst="cube">
              <a:avLst>
                <a:gd name="adj" fmla="val 11667"/>
              </a:avLst>
            </a:prstGeom>
            <a:grp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Property taxes</a:t>
              </a:r>
            </a:p>
          </p:txBody>
        </p:sp>
        <p:sp>
          <p:nvSpPr>
            <p:cNvPr id="933897" name="AutoShape 9"/>
            <p:cNvSpPr>
              <a:spLocks noChangeArrowheads="1"/>
            </p:cNvSpPr>
            <p:nvPr/>
          </p:nvSpPr>
          <p:spPr bwMode="auto">
            <a:xfrm rot="5400000">
              <a:off x="1194" y="2469"/>
              <a:ext cx="466" cy="2248"/>
            </a:xfrm>
            <a:prstGeom prst="cube">
              <a:avLst>
                <a:gd name="adj" fmla="val 11667"/>
              </a:avLst>
            </a:prstGeom>
            <a:grp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Insurance</a:t>
              </a:r>
            </a:p>
          </p:txBody>
        </p:sp>
      </p:grpSp>
      <p:sp>
        <p:nvSpPr>
          <p:cNvPr id="934916" name="AutoShape 4"/>
          <p:cNvSpPr>
            <a:spLocks noChangeArrowheads="1"/>
          </p:cNvSpPr>
          <p:nvPr/>
        </p:nvSpPr>
        <p:spPr bwMode="auto">
          <a:xfrm rot="5400000">
            <a:off x="6542087" y="-280987"/>
            <a:ext cx="720725" cy="3568700"/>
          </a:xfrm>
          <a:prstGeom prst="cube">
            <a:avLst>
              <a:gd name="adj" fmla="val 11667"/>
            </a:avLst>
          </a:prstGeom>
          <a:gradFill>
            <a:gsLst>
              <a:gs pos="0">
                <a:srgbClr val="007BD3"/>
              </a:gs>
              <a:gs pos="100000">
                <a:srgbClr val="034373"/>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3200" b="1">
                <a:latin typeface="Arial" panose="020B0604020202020204" pitchFamily="34" charset="0"/>
              </a:rPr>
              <a:t>Variable Costs</a:t>
            </a:r>
          </a:p>
        </p:txBody>
      </p:sp>
      <p:grpSp>
        <p:nvGrpSpPr>
          <p:cNvPr id="934917" name="Group 5"/>
          <p:cNvGrpSpPr/>
          <p:nvPr/>
        </p:nvGrpSpPr>
        <p:grpSpPr bwMode="auto">
          <a:xfrm>
            <a:off x="5118100" y="1981200"/>
            <a:ext cx="3568700" cy="4092575"/>
            <a:chOff x="3224" y="1248"/>
            <a:chExt cx="2248" cy="2578"/>
          </a:xfrm>
        </p:grpSpPr>
        <p:sp>
          <p:nvSpPr>
            <p:cNvPr id="934918" name="AutoShape 6"/>
            <p:cNvSpPr>
              <a:spLocks noChangeArrowheads="1"/>
            </p:cNvSpPr>
            <p:nvPr/>
          </p:nvSpPr>
          <p:spPr bwMode="auto">
            <a:xfrm rot="5400000">
              <a:off x="4121" y="351"/>
              <a:ext cx="454" cy="2248"/>
            </a:xfrm>
            <a:prstGeom prst="cube">
              <a:avLst>
                <a:gd name="adj" fmla="val 11667"/>
              </a:avLst>
            </a:prstGeom>
            <a:gradFill>
              <a:gsLst>
                <a:gs pos="0">
                  <a:srgbClr val="14CD68"/>
                </a:gs>
                <a:gs pos="100000">
                  <a:srgbClr val="035C7D"/>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Raw materials</a:t>
              </a:r>
            </a:p>
          </p:txBody>
        </p:sp>
        <p:sp>
          <p:nvSpPr>
            <p:cNvPr id="934919" name="AutoShape 7"/>
            <p:cNvSpPr>
              <a:spLocks noChangeArrowheads="1"/>
            </p:cNvSpPr>
            <p:nvPr/>
          </p:nvSpPr>
          <p:spPr bwMode="auto">
            <a:xfrm rot="5400000">
              <a:off x="4115" y="885"/>
              <a:ext cx="466" cy="2248"/>
            </a:xfrm>
            <a:prstGeom prst="cube">
              <a:avLst>
                <a:gd name="adj" fmla="val 11667"/>
              </a:avLst>
            </a:prstGeom>
            <a:gradFill>
              <a:gsLst>
                <a:gs pos="0">
                  <a:srgbClr val="14CD68"/>
                </a:gs>
                <a:gs pos="100000">
                  <a:srgbClr val="035C7D"/>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Component parts</a:t>
              </a:r>
            </a:p>
          </p:txBody>
        </p:sp>
        <p:sp>
          <p:nvSpPr>
            <p:cNvPr id="934920" name="AutoShape 8"/>
            <p:cNvSpPr>
              <a:spLocks noChangeArrowheads="1"/>
            </p:cNvSpPr>
            <p:nvPr/>
          </p:nvSpPr>
          <p:spPr bwMode="auto">
            <a:xfrm rot="5400000">
              <a:off x="4121" y="1407"/>
              <a:ext cx="454" cy="2248"/>
            </a:xfrm>
            <a:prstGeom prst="cube">
              <a:avLst>
                <a:gd name="adj" fmla="val 11667"/>
              </a:avLst>
            </a:prstGeom>
            <a:gradFill>
              <a:gsLst>
                <a:gs pos="0">
                  <a:srgbClr val="14CD68"/>
                </a:gs>
                <a:gs pos="100000">
                  <a:srgbClr val="035C7D"/>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Hourly wages</a:t>
              </a:r>
            </a:p>
          </p:txBody>
        </p:sp>
        <p:sp>
          <p:nvSpPr>
            <p:cNvPr id="934921" name="AutoShape 9"/>
            <p:cNvSpPr>
              <a:spLocks noChangeArrowheads="1"/>
            </p:cNvSpPr>
            <p:nvPr/>
          </p:nvSpPr>
          <p:spPr bwMode="auto">
            <a:xfrm rot="5400000">
              <a:off x="4115" y="1941"/>
              <a:ext cx="466" cy="2248"/>
            </a:xfrm>
            <a:prstGeom prst="cube">
              <a:avLst>
                <a:gd name="adj" fmla="val 11667"/>
              </a:avLst>
            </a:prstGeom>
            <a:gradFill>
              <a:gsLst>
                <a:gs pos="0">
                  <a:srgbClr val="14CD68"/>
                </a:gs>
                <a:gs pos="100000">
                  <a:srgbClr val="035C7D"/>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Packaging &amp; freight</a:t>
              </a:r>
            </a:p>
          </p:txBody>
        </p:sp>
        <p:sp>
          <p:nvSpPr>
            <p:cNvPr id="934922" name="AutoShape 10"/>
            <p:cNvSpPr>
              <a:spLocks noChangeArrowheads="1"/>
            </p:cNvSpPr>
            <p:nvPr/>
          </p:nvSpPr>
          <p:spPr bwMode="auto">
            <a:xfrm rot="5400000">
              <a:off x="4115" y="2469"/>
              <a:ext cx="466" cy="2248"/>
            </a:xfrm>
            <a:prstGeom prst="cube">
              <a:avLst>
                <a:gd name="adj" fmla="val 11667"/>
              </a:avLst>
            </a:prstGeom>
            <a:gradFill>
              <a:gsLst>
                <a:gs pos="0">
                  <a:srgbClr val="14CD68"/>
                </a:gs>
                <a:gs pos="100000">
                  <a:srgbClr val="035C7D"/>
                </a:gs>
              </a:gsLst>
              <a:lin scaled="0"/>
            </a:gradFill>
            <a:ln w="12700">
              <a:solidFill>
                <a:srgbClr val="000000"/>
              </a:solidFill>
              <a:miter lim="800000"/>
            </a:ln>
            <a:effectLst/>
            <a:extLst>
              <a:ext uri="{AF507438-7753-43E0-B8FC-AC1667EBCBE1}">
                <a14:hiddenEffects xmlns:a14="http://schemas.microsoft.com/office/drawing/2010/main">
                  <a:effectLst>
                    <a:outerShdw dist="89803" dir="2700000" algn="ctr" rotWithShape="0">
                      <a:schemeClr val="bg2"/>
                    </a:outerShdw>
                  </a:effectLst>
                </a14:hiddenEffects>
              </a:ext>
            </a:extLst>
          </p:spPr>
          <p:txBody>
            <a:bodyPr rot="10800000" vert="eaVert" wrap="none" lIns="93662" tIns="46038" rIns="93662" bIns="46038" anchor="ctr"/>
            <a:lstStyle/>
            <a:p>
              <a:pPr algn="ctr" defTabSz="927100"/>
              <a:r>
                <a:rPr lang="en-US" altLang="en-US" sz="2200" b="1">
                  <a:latin typeface="Arial" panose="020B0604020202020204" pitchFamily="34" charset="0"/>
                </a:rPr>
                <a:t>Sales commissions</a:t>
              </a:r>
            </a:p>
          </p:txBody>
        </p:sp>
      </p:gr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Arial" panose="020B0604020202020204" pitchFamily="34" charset="0"/>
              </a:rPr>
              <a:t>Break-Even Analysis and Target Profit </a:t>
            </a:r>
            <a:r>
              <a:rPr lang="en-US" sz="3200" dirty="0" smtClean="0">
                <a:latin typeface="Arial" panose="020B0604020202020204" pitchFamily="34" charset="0"/>
              </a:rPr>
              <a:t>Pricing</a:t>
            </a:r>
            <a:endParaRPr lang="en-US" sz="3200" dirty="0"/>
          </a:p>
        </p:txBody>
      </p:sp>
      <p:sp>
        <p:nvSpPr>
          <p:cNvPr id="3" name="Rectangle 3"/>
          <p:cNvSpPr txBox="1">
            <a:spLocks noChangeArrowheads="1"/>
          </p:cNvSpPr>
          <p:nvPr/>
        </p:nvSpPr>
        <p:spPr>
          <a:xfrm>
            <a:off x="685800" y="2057400"/>
            <a:ext cx="7772400" cy="4114800"/>
          </a:xfrm>
          <a:prstGeom prst="rect">
            <a:avLst/>
          </a:prstGeom>
        </p:spPr>
        <p:txBody>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marL="533400" indent="-533400" algn="ctr">
              <a:lnSpc>
                <a:spcPct val="90000"/>
              </a:lnSpc>
              <a:buFontTx/>
              <a:buNone/>
            </a:pPr>
            <a:endParaRPr lang="en-US" b="1" i="1" dirty="0" smtClean="0">
              <a:latin typeface="Times New Roman" panose="02020603050405020304" pitchFamily="18" charset="0"/>
            </a:endParaRPr>
          </a:p>
          <a:p>
            <a:pPr marL="0" indent="0" algn="just">
              <a:lnSpc>
                <a:spcPct val="90000"/>
              </a:lnSpc>
              <a:buNone/>
            </a:pPr>
            <a:r>
              <a:rPr lang="en-US" b="1" dirty="0" smtClean="0"/>
              <a:t>Break-even pricing </a:t>
            </a:r>
            <a:r>
              <a:rPr lang="en-US" dirty="0" smtClean="0"/>
              <a:t>is the price at which total costs are equal to total revenue and there is no profit</a:t>
            </a:r>
          </a:p>
          <a:p>
            <a:pPr marL="533400" indent="-533400">
              <a:lnSpc>
                <a:spcPct val="90000"/>
              </a:lnSpc>
              <a:buFontTx/>
              <a:buNone/>
            </a:pPr>
            <a:endParaRPr lang="en-US" dirty="0" smtClean="0"/>
          </a:p>
          <a:p>
            <a:pPr marL="0" indent="0" algn="just">
              <a:lnSpc>
                <a:spcPct val="90000"/>
              </a:lnSpc>
              <a:buNone/>
            </a:pPr>
            <a:r>
              <a:rPr lang="en-US" b="1" dirty="0" smtClean="0"/>
              <a:t>Target profit pricing </a:t>
            </a:r>
            <a:r>
              <a:rPr lang="en-US" dirty="0" smtClean="0"/>
              <a:t>is the price at which the firm will break even or make the profit it’s seeking</a:t>
            </a:r>
            <a:endParaRPr lang="en-US" sz="2800" dirty="0" smtClean="0"/>
          </a:p>
        </p:txBody>
      </p:sp>
      <p:sp>
        <p:nvSpPr>
          <p:cNvPr id="4" name="Rectangle 4"/>
          <p:cNvSpPr>
            <a:spLocks noChangeArrowheads="1"/>
          </p:cNvSpPr>
          <p:nvPr/>
        </p:nvSpPr>
        <p:spPr bwMode="auto">
          <a:xfrm>
            <a:off x="990600" y="5071284"/>
            <a:ext cx="3505200" cy="459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78" tIns="44445" rIns="90478" bIns="44445">
            <a:spAutoFit/>
          </a:bodyPr>
          <a:lstStyle/>
          <a:p>
            <a:r>
              <a:rPr lang="en-US" sz="2400" b="1" dirty="0">
                <a:latin typeface="Arial Unicode MS" pitchFamily="34" charset="-128"/>
              </a:rPr>
              <a:t>Break-even Volume =</a:t>
            </a:r>
          </a:p>
        </p:txBody>
      </p:sp>
      <p:sp>
        <p:nvSpPr>
          <p:cNvPr id="5" name="Rectangle 5"/>
          <p:cNvSpPr>
            <a:spLocks noChangeArrowheads="1"/>
          </p:cNvSpPr>
          <p:nvPr/>
        </p:nvSpPr>
        <p:spPr bwMode="auto">
          <a:xfrm>
            <a:off x="4158343" y="4669646"/>
            <a:ext cx="3004457" cy="1197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78" tIns="44445" rIns="90478" bIns="44445">
            <a:spAutoFit/>
          </a:bodyPr>
          <a:lstStyle/>
          <a:p>
            <a:pPr algn="ctr"/>
            <a:r>
              <a:rPr lang="en-US" sz="2400" b="1" dirty="0">
                <a:latin typeface="Arial Unicode MS" pitchFamily="34" charset="-128"/>
              </a:rPr>
              <a:t>Fixed Cost</a:t>
            </a:r>
          </a:p>
          <a:p>
            <a:pPr algn="ctr"/>
            <a:r>
              <a:rPr lang="en-US" sz="2400" dirty="0" smtClean="0">
                <a:latin typeface="Arial Unicode MS" pitchFamily="34" charset="-128"/>
              </a:rPr>
              <a:t>_________________</a:t>
            </a:r>
            <a:endParaRPr lang="en-US" sz="2400" dirty="0">
              <a:latin typeface="Arial Unicode MS" pitchFamily="34" charset="-128"/>
            </a:endParaRPr>
          </a:p>
          <a:p>
            <a:pPr algn="ctr"/>
            <a:r>
              <a:rPr lang="en-US" sz="2400" b="1" dirty="0">
                <a:latin typeface="Arial Unicode MS" pitchFamily="34" charset="-128"/>
              </a:rPr>
              <a:t>Price - Variable Cost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Break-even Analysis &amp; Target Profit Pricing</a:t>
            </a:r>
            <a:endParaRPr lang="en-US" sz="3200" dirty="0"/>
          </a:p>
        </p:txBody>
      </p:sp>
      <p:pic>
        <p:nvPicPr>
          <p:cNvPr id="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09800"/>
            <a:ext cx="8001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3478" name="Group 6"/>
          <p:cNvGrpSpPr/>
          <p:nvPr/>
        </p:nvGrpSpPr>
        <p:grpSpPr bwMode="auto">
          <a:xfrm>
            <a:off x="1981200" y="1752600"/>
            <a:ext cx="5181600" cy="4648200"/>
            <a:chOff x="672" y="96"/>
            <a:chExt cx="4416" cy="4080"/>
          </a:xfrm>
          <a:gradFill>
            <a:gsLst>
              <a:gs pos="0">
                <a:srgbClr val="FBFB11"/>
              </a:gs>
              <a:gs pos="100000">
                <a:srgbClr val="838309"/>
              </a:gs>
            </a:gsLst>
            <a:lin scaled="0"/>
          </a:gradFill>
        </p:grpSpPr>
        <p:sp>
          <p:nvSpPr>
            <p:cNvPr id="873475" name="AutoShape 3"/>
            <p:cNvSpPr>
              <a:spLocks noChangeArrowheads="1"/>
            </p:cNvSpPr>
            <p:nvPr/>
          </p:nvSpPr>
          <p:spPr bwMode="auto">
            <a:xfrm rot="5400000">
              <a:off x="2304" y="-1536"/>
              <a:ext cx="1008" cy="4272"/>
            </a:xfrm>
            <a:prstGeom prst="cube">
              <a:avLst>
                <a:gd name="adj" fmla="val 14569"/>
              </a:avLst>
            </a:prstGeom>
            <a:grp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endParaRPr lang="en-US" sz="4100" b="1">
                <a:solidFill>
                  <a:srgbClr val="000000"/>
                </a:solidFill>
                <a:latin typeface="Arial" panose="020B0604020202020204" pitchFamily="34" charset="0"/>
              </a:endParaRPr>
            </a:p>
            <a:p>
              <a:pPr algn="ctr" defTabSz="821055">
                <a:lnSpc>
                  <a:spcPct val="90000"/>
                </a:lnSpc>
              </a:pPr>
              <a:r>
                <a:rPr lang="en-US" sz="2100" b="1">
                  <a:solidFill>
                    <a:srgbClr val="000000"/>
                  </a:solidFill>
                  <a:latin typeface="Arial" panose="020B0604020202020204" pitchFamily="34" charset="0"/>
                </a:rPr>
                <a:t>Market and</a:t>
              </a:r>
            </a:p>
            <a:p>
              <a:pPr algn="ctr" defTabSz="821055">
                <a:lnSpc>
                  <a:spcPct val="90000"/>
                </a:lnSpc>
              </a:pPr>
              <a:r>
                <a:rPr lang="en-US" sz="2100" b="1">
                  <a:solidFill>
                    <a:srgbClr val="000000"/>
                  </a:solidFill>
                  <a:latin typeface="Arial" panose="020B0604020202020204" pitchFamily="34" charset="0"/>
                </a:rPr>
                <a:t>Demand </a:t>
              </a:r>
            </a:p>
            <a:p>
              <a:pPr algn="ctr" defTabSz="821055" eaLnBrk="1" hangingPunct="1">
                <a:lnSpc>
                  <a:spcPct val="90000"/>
                </a:lnSpc>
              </a:pPr>
              <a:endParaRPr lang="en-US" sz="2100" b="1">
                <a:solidFill>
                  <a:srgbClr val="000000"/>
                </a:solidFill>
                <a:latin typeface="Arial" panose="020B0604020202020204" pitchFamily="34" charset="0"/>
              </a:endParaRPr>
            </a:p>
          </p:txBody>
        </p:sp>
        <p:sp>
          <p:nvSpPr>
            <p:cNvPr id="873476" name="AutoShape 4"/>
            <p:cNvSpPr>
              <a:spLocks noChangeArrowheads="1"/>
            </p:cNvSpPr>
            <p:nvPr/>
          </p:nvSpPr>
          <p:spPr bwMode="auto">
            <a:xfrm rot="5400000">
              <a:off x="2280" y="-504"/>
              <a:ext cx="1056" cy="4272"/>
            </a:xfrm>
            <a:prstGeom prst="cube">
              <a:avLst>
                <a:gd name="adj" fmla="val 14569"/>
              </a:avLst>
            </a:prstGeom>
            <a:grp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r>
                <a:rPr lang="en-US" sz="2100" b="1">
                  <a:solidFill>
                    <a:srgbClr val="000000"/>
                  </a:solidFill>
                  <a:latin typeface="Arial" panose="020B0604020202020204" pitchFamily="34" charset="0"/>
                </a:rPr>
                <a:t>Competitors’ Costs, </a:t>
              </a:r>
            </a:p>
            <a:p>
              <a:pPr algn="ctr" defTabSz="821055">
                <a:lnSpc>
                  <a:spcPct val="90000"/>
                </a:lnSpc>
              </a:pPr>
              <a:r>
                <a:rPr lang="en-US" sz="2100" b="1">
                  <a:solidFill>
                    <a:srgbClr val="000000"/>
                  </a:solidFill>
                  <a:latin typeface="Arial" panose="020B0604020202020204" pitchFamily="34" charset="0"/>
                </a:rPr>
                <a:t>Prices, and Offers</a:t>
              </a:r>
            </a:p>
          </p:txBody>
        </p:sp>
        <p:sp>
          <p:nvSpPr>
            <p:cNvPr id="873477" name="AutoShape 5"/>
            <p:cNvSpPr>
              <a:spLocks noChangeArrowheads="1"/>
            </p:cNvSpPr>
            <p:nvPr/>
          </p:nvSpPr>
          <p:spPr bwMode="auto">
            <a:xfrm rot="5400000">
              <a:off x="1920" y="1008"/>
              <a:ext cx="1968" cy="4368"/>
            </a:xfrm>
            <a:prstGeom prst="cube">
              <a:avLst>
                <a:gd name="adj" fmla="val 14569"/>
              </a:avLst>
            </a:prstGeom>
            <a:grpFill/>
            <a:ln w="571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81204" tIns="39889" rIns="81204" bIns="39889" anchor="ctr"/>
            <a:lstStyle/>
            <a:p>
              <a:pPr algn="ctr" defTabSz="821055">
                <a:lnSpc>
                  <a:spcPct val="90000"/>
                </a:lnSpc>
              </a:pPr>
              <a:r>
                <a:rPr lang="en-US" sz="2500" b="1">
                  <a:solidFill>
                    <a:srgbClr val="000000"/>
                  </a:solidFill>
                  <a:latin typeface="Arial" panose="020B0604020202020204" pitchFamily="34" charset="0"/>
                </a:rPr>
                <a:t>Other External Factors</a:t>
              </a:r>
            </a:p>
            <a:p>
              <a:pPr algn="ctr" defTabSz="821055">
                <a:lnSpc>
                  <a:spcPct val="90000"/>
                </a:lnSpc>
              </a:pPr>
              <a:r>
                <a:rPr lang="en-US" sz="2100" b="1">
                  <a:solidFill>
                    <a:srgbClr val="000000"/>
                  </a:solidFill>
                  <a:latin typeface="Arial" panose="020B0604020202020204" pitchFamily="34" charset="0"/>
                </a:rPr>
                <a:t>Economic Conditions</a:t>
              </a:r>
            </a:p>
            <a:p>
              <a:pPr algn="ctr" defTabSz="821055">
                <a:lnSpc>
                  <a:spcPct val="90000"/>
                </a:lnSpc>
              </a:pPr>
              <a:r>
                <a:rPr lang="en-US" sz="2100" b="1">
                  <a:solidFill>
                    <a:srgbClr val="000000"/>
                  </a:solidFill>
                  <a:latin typeface="Arial" panose="020B0604020202020204" pitchFamily="34" charset="0"/>
                </a:rPr>
                <a:t>Reseller Needs</a:t>
              </a:r>
            </a:p>
            <a:p>
              <a:pPr algn="ctr" defTabSz="821055">
                <a:lnSpc>
                  <a:spcPct val="90000"/>
                </a:lnSpc>
              </a:pPr>
              <a:r>
                <a:rPr lang="en-US" sz="2100" b="1">
                  <a:solidFill>
                    <a:srgbClr val="000000"/>
                  </a:solidFill>
                  <a:latin typeface="Arial" panose="020B0604020202020204" pitchFamily="34" charset="0"/>
                </a:rPr>
                <a:t>Government Actions</a:t>
              </a:r>
            </a:p>
            <a:p>
              <a:pPr algn="ctr" defTabSz="821055">
                <a:lnSpc>
                  <a:spcPct val="90000"/>
                </a:lnSpc>
              </a:pPr>
              <a:r>
                <a:rPr lang="en-US" sz="2100" b="1">
                  <a:solidFill>
                    <a:srgbClr val="000000"/>
                  </a:solidFill>
                  <a:latin typeface="Arial" panose="020B0604020202020204" pitchFamily="34" charset="0"/>
                </a:rPr>
                <a:t>Social Concerns</a:t>
              </a:r>
            </a:p>
          </p:txBody>
        </p:sp>
      </p:grpSp>
      <p:sp>
        <p:nvSpPr>
          <p:cNvPr id="873483" name="Rectangle 11"/>
          <p:cNvSpPr>
            <a:spLocks noChangeArrowheads="1"/>
          </p:cNvSpPr>
          <p:nvPr/>
        </p:nvSpPr>
        <p:spPr bwMode="auto">
          <a:xfrm>
            <a:off x="0" y="304800"/>
            <a:ext cx="9144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pPr algn="ctr" eaLnBrk="1" hangingPunct="1">
              <a:lnSpc>
                <a:spcPct val="90000"/>
              </a:lnSpc>
            </a:pPr>
            <a:r>
              <a:rPr lang="en-US" sz="3600">
                <a:solidFill>
                  <a:schemeClr val="tx2"/>
                </a:solidFill>
                <a:effectLst>
                  <a:outerShdw blurRad="38100" dist="38100" dir="2700000" algn="tl">
                    <a:srgbClr val="000000"/>
                  </a:outerShdw>
                </a:effectLst>
                <a:latin typeface="Arial Unicode MS" pitchFamily="34" charset="-128"/>
              </a:rPr>
              <a:t>External factors affecting Pricing decisions</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9105" name="Group 33"/>
          <p:cNvGrpSpPr/>
          <p:nvPr/>
        </p:nvGrpSpPr>
        <p:grpSpPr bwMode="auto">
          <a:xfrm>
            <a:off x="1195781" y="2362200"/>
            <a:ext cx="6500419" cy="3887131"/>
            <a:chOff x="-21" y="144"/>
            <a:chExt cx="5829" cy="4177"/>
          </a:xfrm>
          <a:gradFill>
            <a:gsLst>
              <a:gs pos="0">
                <a:srgbClr val="FBFB11"/>
              </a:gs>
              <a:gs pos="100000">
                <a:srgbClr val="838309"/>
              </a:gs>
            </a:gsLst>
            <a:lin scaled="0"/>
          </a:gradFill>
        </p:grpSpPr>
        <p:sp>
          <p:nvSpPr>
            <p:cNvPr id="899077" name="Freeform 5"/>
            <p:cNvSpPr/>
            <p:nvPr/>
          </p:nvSpPr>
          <p:spPr bwMode="auto">
            <a:xfrm>
              <a:off x="3401" y="1332"/>
              <a:ext cx="1135" cy="452"/>
            </a:xfrm>
            <a:custGeom>
              <a:avLst/>
              <a:gdLst>
                <a:gd name="T0" fmla="*/ 0 w 1248"/>
                <a:gd name="T1" fmla="*/ 384 h 462"/>
                <a:gd name="T2" fmla="*/ 301 w 1248"/>
                <a:gd name="T3" fmla="*/ 461 h 462"/>
                <a:gd name="T4" fmla="*/ 1033 w 1248"/>
                <a:gd name="T5" fmla="*/ 205 h 462"/>
                <a:gd name="T6" fmla="*/ 1247 w 1248"/>
                <a:gd name="T7" fmla="*/ 282 h 462"/>
                <a:gd name="T8" fmla="*/ 1247 w 1248"/>
                <a:gd name="T9" fmla="*/ 51 h 462"/>
                <a:gd name="T10" fmla="*/ 517 w 1248"/>
                <a:gd name="T11" fmla="*/ 0 h 462"/>
                <a:gd name="T12" fmla="*/ 774 w 1248"/>
                <a:gd name="T13" fmla="*/ 103 h 462"/>
                <a:gd name="T14" fmla="*/ 0 w 1248"/>
                <a:gd name="T15" fmla="*/ 384 h 4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8" h="462">
                  <a:moveTo>
                    <a:pt x="0" y="384"/>
                  </a:moveTo>
                  <a:lnTo>
                    <a:pt x="301" y="461"/>
                  </a:lnTo>
                  <a:lnTo>
                    <a:pt x="1033" y="205"/>
                  </a:lnTo>
                  <a:lnTo>
                    <a:pt x="1247" y="282"/>
                  </a:lnTo>
                  <a:lnTo>
                    <a:pt x="1247" y="51"/>
                  </a:lnTo>
                  <a:lnTo>
                    <a:pt x="517" y="0"/>
                  </a:lnTo>
                  <a:lnTo>
                    <a:pt x="774" y="103"/>
                  </a:lnTo>
                  <a:lnTo>
                    <a:pt x="0" y="384"/>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082" name="Freeform 10"/>
            <p:cNvSpPr/>
            <p:nvPr/>
          </p:nvSpPr>
          <p:spPr bwMode="auto">
            <a:xfrm>
              <a:off x="1004" y="1301"/>
              <a:ext cx="1207" cy="449"/>
            </a:xfrm>
            <a:custGeom>
              <a:avLst/>
              <a:gdLst>
                <a:gd name="T0" fmla="*/ 1248 w 1249"/>
                <a:gd name="T1" fmla="*/ 383 h 461"/>
                <a:gd name="T2" fmla="*/ 946 w 1249"/>
                <a:gd name="T3" fmla="*/ 460 h 461"/>
                <a:gd name="T4" fmla="*/ 215 w 1249"/>
                <a:gd name="T5" fmla="*/ 204 h 461"/>
                <a:gd name="T6" fmla="*/ 0 w 1249"/>
                <a:gd name="T7" fmla="*/ 281 h 461"/>
                <a:gd name="T8" fmla="*/ 0 w 1249"/>
                <a:gd name="T9" fmla="*/ 51 h 461"/>
                <a:gd name="T10" fmla="*/ 731 w 1249"/>
                <a:gd name="T11" fmla="*/ 0 h 461"/>
                <a:gd name="T12" fmla="*/ 473 w 1249"/>
                <a:gd name="T13" fmla="*/ 102 h 461"/>
                <a:gd name="T14" fmla="*/ 1248 w 1249"/>
                <a:gd name="T15" fmla="*/ 383 h 4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9" h="461">
                  <a:moveTo>
                    <a:pt x="1248" y="383"/>
                  </a:moveTo>
                  <a:lnTo>
                    <a:pt x="946" y="460"/>
                  </a:lnTo>
                  <a:lnTo>
                    <a:pt x="215" y="204"/>
                  </a:lnTo>
                  <a:lnTo>
                    <a:pt x="0" y="281"/>
                  </a:lnTo>
                  <a:lnTo>
                    <a:pt x="0" y="51"/>
                  </a:lnTo>
                  <a:lnTo>
                    <a:pt x="731" y="0"/>
                  </a:lnTo>
                  <a:lnTo>
                    <a:pt x="473" y="102"/>
                  </a:lnTo>
                  <a:lnTo>
                    <a:pt x="1248" y="383"/>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grpSp>
          <p:nvGrpSpPr>
            <p:cNvPr id="899086" name="Group 14"/>
            <p:cNvGrpSpPr/>
            <p:nvPr/>
          </p:nvGrpSpPr>
          <p:grpSpPr bwMode="auto">
            <a:xfrm>
              <a:off x="3611" y="2691"/>
              <a:ext cx="1135" cy="477"/>
              <a:chOff x="3972" y="2817"/>
              <a:chExt cx="1249" cy="541"/>
            </a:xfrm>
            <a:grpFill/>
          </p:grpSpPr>
          <p:grpSp>
            <p:nvGrpSpPr>
              <p:cNvPr id="899087" name="Group 15"/>
              <p:cNvGrpSpPr/>
              <p:nvPr/>
            </p:nvGrpSpPr>
            <p:grpSpPr bwMode="auto">
              <a:xfrm>
                <a:off x="3972" y="2817"/>
                <a:ext cx="1249" cy="539"/>
                <a:chOff x="3972" y="2817"/>
                <a:chExt cx="1249" cy="539"/>
              </a:xfrm>
              <a:grpFill/>
            </p:grpSpPr>
            <p:sp>
              <p:nvSpPr>
                <p:cNvPr id="899088" name="Freeform 16"/>
                <p:cNvSpPr/>
                <p:nvPr/>
              </p:nvSpPr>
              <p:spPr bwMode="auto">
                <a:xfrm>
                  <a:off x="3972" y="2894"/>
                  <a:ext cx="775" cy="360"/>
                </a:xfrm>
                <a:custGeom>
                  <a:avLst/>
                  <a:gdLst>
                    <a:gd name="T0" fmla="*/ 0 w 775"/>
                    <a:gd name="T1" fmla="*/ 0 h 360"/>
                    <a:gd name="T2" fmla="*/ 774 w 775"/>
                    <a:gd name="T3" fmla="*/ 282 h 360"/>
                    <a:gd name="T4" fmla="*/ 774 w 775"/>
                    <a:gd name="T5" fmla="*/ 359 h 360"/>
                    <a:gd name="T6" fmla="*/ 0 w 775"/>
                    <a:gd name="T7" fmla="*/ 77 h 360"/>
                    <a:gd name="T8" fmla="*/ 0 w 775"/>
                    <a:gd name="T9" fmla="*/ 0 h 360"/>
                  </a:gdLst>
                  <a:ahLst/>
                  <a:cxnLst>
                    <a:cxn ang="0">
                      <a:pos x="T0" y="T1"/>
                    </a:cxn>
                    <a:cxn ang="0">
                      <a:pos x="T2" y="T3"/>
                    </a:cxn>
                    <a:cxn ang="0">
                      <a:pos x="T4" y="T5"/>
                    </a:cxn>
                    <a:cxn ang="0">
                      <a:pos x="T6" y="T7"/>
                    </a:cxn>
                    <a:cxn ang="0">
                      <a:pos x="T8" y="T9"/>
                    </a:cxn>
                  </a:cxnLst>
                  <a:rect l="0" t="0" r="r" b="b"/>
                  <a:pathLst>
                    <a:path w="775" h="360">
                      <a:moveTo>
                        <a:pt x="0" y="0"/>
                      </a:moveTo>
                      <a:lnTo>
                        <a:pt x="774" y="282"/>
                      </a:lnTo>
                      <a:lnTo>
                        <a:pt x="774" y="359"/>
                      </a:lnTo>
                      <a:lnTo>
                        <a:pt x="0" y="77"/>
                      </a:lnTo>
                      <a:lnTo>
                        <a:pt x="0" y="0"/>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089" name="Freeform 17"/>
                <p:cNvSpPr/>
                <p:nvPr/>
              </p:nvSpPr>
              <p:spPr bwMode="auto">
                <a:xfrm>
                  <a:off x="3972" y="2817"/>
                  <a:ext cx="1249" cy="461"/>
                </a:xfrm>
                <a:custGeom>
                  <a:avLst/>
                  <a:gdLst>
                    <a:gd name="T0" fmla="*/ 0 w 1249"/>
                    <a:gd name="T1" fmla="*/ 77 h 461"/>
                    <a:gd name="T2" fmla="*/ 302 w 1249"/>
                    <a:gd name="T3" fmla="*/ 0 h 461"/>
                    <a:gd name="T4" fmla="*/ 1033 w 1249"/>
                    <a:gd name="T5" fmla="*/ 256 h 461"/>
                    <a:gd name="T6" fmla="*/ 1248 w 1249"/>
                    <a:gd name="T7" fmla="*/ 179 h 461"/>
                    <a:gd name="T8" fmla="*/ 1248 w 1249"/>
                    <a:gd name="T9" fmla="*/ 409 h 461"/>
                    <a:gd name="T10" fmla="*/ 517 w 1249"/>
                    <a:gd name="T11" fmla="*/ 460 h 461"/>
                    <a:gd name="T12" fmla="*/ 775 w 1249"/>
                    <a:gd name="T13" fmla="*/ 358 h 461"/>
                    <a:gd name="T14" fmla="*/ 0 w 1249"/>
                    <a:gd name="T15" fmla="*/ 77 h 4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9" h="461">
                      <a:moveTo>
                        <a:pt x="0" y="77"/>
                      </a:moveTo>
                      <a:lnTo>
                        <a:pt x="302" y="0"/>
                      </a:lnTo>
                      <a:lnTo>
                        <a:pt x="1033" y="256"/>
                      </a:lnTo>
                      <a:lnTo>
                        <a:pt x="1248" y="179"/>
                      </a:lnTo>
                      <a:lnTo>
                        <a:pt x="1248" y="409"/>
                      </a:lnTo>
                      <a:lnTo>
                        <a:pt x="517" y="460"/>
                      </a:lnTo>
                      <a:lnTo>
                        <a:pt x="775" y="358"/>
                      </a:lnTo>
                      <a:lnTo>
                        <a:pt x="0" y="77"/>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090" name="Freeform 18"/>
                <p:cNvSpPr/>
                <p:nvPr/>
              </p:nvSpPr>
              <p:spPr bwMode="auto">
                <a:xfrm>
                  <a:off x="4488" y="3227"/>
                  <a:ext cx="733" cy="129"/>
                </a:xfrm>
                <a:custGeom>
                  <a:avLst/>
                  <a:gdLst>
                    <a:gd name="T0" fmla="*/ 0 w 733"/>
                    <a:gd name="T1" fmla="*/ 51 h 129"/>
                    <a:gd name="T2" fmla="*/ 732 w 733"/>
                    <a:gd name="T3" fmla="*/ 0 h 129"/>
                    <a:gd name="T4" fmla="*/ 732 w 733"/>
                    <a:gd name="T5" fmla="*/ 77 h 129"/>
                    <a:gd name="T6" fmla="*/ 0 w 733"/>
                    <a:gd name="T7" fmla="*/ 128 h 129"/>
                    <a:gd name="T8" fmla="*/ 0 w 733"/>
                    <a:gd name="T9" fmla="*/ 51 h 129"/>
                  </a:gdLst>
                  <a:ahLst/>
                  <a:cxnLst>
                    <a:cxn ang="0">
                      <a:pos x="T0" y="T1"/>
                    </a:cxn>
                    <a:cxn ang="0">
                      <a:pos x="T2" y="T3"/>
                    </a:cxn>
                    <a:cxn ang="0">
                      <a:pos x="T4" y="T5"/>
                    </a:cxn>
                    <a:cxn ang="0">
                      <a:pos x="T6" y="T7"/>
                    </a:cxn>
                    <a:cxn ang="0">
                      <a:pos x="T8" y="T9"/>
                    </a:cxn>
                  </a:cxnLst>
                  <a:rect l="0" t="0" r="r" b="b"/>
                  <a:pathLst>
                    <a:path w="733" h="129">
                      <a:moveTo>
                        <a:pt x="0" y="51"/>
                      </a:moveTo>
                      <a:lnTo>
                        <a:pt x="732" y="0"/>
                      </a:lnTo>
                      <a:lnTo>
                        <a:pt x="732" y="77"/>
                      </a:lnTo>
                      <a:lnTo>
                        <a:pt x="0" y="128"/>
                      </a:lnTo>
                      <a:lnTo>
                        <a:pt x="0" y="51"/>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grpSp>
          <p:sp>
            <p:nvSpPr>
              <p:cNvPr id="899091" name="Freeform 19"/>
              <p:cNvSpPr/>
              <p:nvPr/>
            </p:nvSpPr>
            <p:spPr bwMode="auto">
              <a:xfrm>
                <a:off x="3977" y="2902"/>
                <a:ext cx="776" cy="311"/>
              </a:xfrm>
              <a:custGeom>
                <a:avLst/>
                <a:gdLst>
                  <a:gd name="T0" fmla="*/ 11 w 776"/>
                  <a:gd name="T1" fmla="*/ 0 h 311"/>
                  <a:gd name="T2" fmla="*/ 775 w 776"/>
                  <a:gd name="T3" fmla="*/ 270 h 311"/>
                  <a:gd name="T4" fmla="*/ 675 w 776"/>
                  <a:gd name="T5" fmla="*/ 310 h 311"/>
                  <a:gd name="T6" fmla="*/ 0 w 776"/>
                  <a:gd name="T7" fmla="*/ 79 h 311"/>
                  <a:gd name="T8" fmla="*/ 11 w 776"/>
                  <a:gd name="T9" fmla="*/ 0 h 311"/>
                </a:gdLst>
                <a:ahLst/>
                <a:cxnLst>
                  <a:cxn ang="0">
                    <a:pos x="T0" y="T1"/>
                  </a:cxn>
                  <a:cxn ang="0">
                    <a:pos x="T2" y="T3"/>
                  </a:cxn>
                  <a:cxn ang="0">
                    <a:pos x="T4" y="T5"/>
                  </a:cxn>
                  <a:cxn ang="0">
                    <a:pos x="T6" y="T7"/>
                  </a:cxn>
                  <a:cxn ang="0">
                    <a:pos x="T8" y="T9"/>
                  </a:cxn>
                </a:cxnLst>
                <a:rect l="0" t="0" r="r" b="b"/>
                <a:pathLst>
                  <a:path w="776" h="311">
                    <a:moveTo>
                      <a:pt x="11" y="0"/>
                    </a:moveTo>
                    <a:lnTo>
                      <a:pt x="775" y="270"/>
                    </a:lnTo>
                    <a:lnTo>
                      <a:pt x="675" y="310"/>
                    </a:lnTo>
                    <a:lnTo>
                      <a:pt x="0" y="79"/>
                    </a:lnTo>
                    <a:lnTo>
                      <a:pt x="11" y="0"/>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092" name="Freeform 20"/>
              <p:cNvSpPr/>
              <p:nvPr/>
            </p:nvSpPr>
            <p:spPr bwMode="auto">
              <a:xfrm>
                <a:off x="4498" y="3218"/>
                <a:ext cx="720" cy="140"/>
              </a:xfrm>
              <a:custGeom>
                <a:avLst/>
                <a:gdLst>
                  <a:gd name="T0" fmla="*/ 0 w 720"/>
                  <a:gd name="T1" fmla="*/ 60 h 140"/>
                  <a:gd name="T2" fmla="*/ 0 w 720"/>
                  <a:gd name="T3" fmla="*/ 139 h 140"/>
                  <a:gd name="T4" fmla="*/ 719 w 720"/>
                  <a:gd name="T5" fmla="*/ 86 h 140"/>
                  <a:gd name="T6" fmla="*/ 719 w 720"/>
                  <a:gd name="T7" fmla="*/ 0 h 140"/>
                  <a:gd name="T8" fmla="*/ 0 w 720"/>
                  <a:gd name="T9" fmla="*/ 60 h 140"/>
                </a:gdLst>
                <a:ahLst/>
                <a:cxnLst>
                  <a:cxn ang="0">
                    <a:pos x="T0" y="T1"/>
                  </a:cxn>
                  <a:cxn ang="0">
                    <a:pos x="T2" y="T3"/>
                  </a:cxn>
                  <a:cxn ang="0">
                    <a:pos x="T4" y="T5"/>
                  </a:cxn>
                  <a:cxn ang="0">
                    <a:pos x="T6" y="T7"/>
                  </a:cxn>
                  <a:cxn ang="0">
                    <a:pos x="T8" y="T9"/>
                  </a:cxn>
                </a:cxnLst>
                <a:rect l="0" t="0" r="r" b="b"/>
                <a:pathLst>
                  <a:path w="720" h="140">
                    <a:moveTo>
                      <a:pt x="0" y="60"/>
                    </a:moveTo>
                    <a:lnTo>
                      <a:pt x="0" y="139"/>
                    </a:lnTo>
                    <a:lnTo>
                      <a:pt x="719" y="86"/>
                    </a:lnTo>
                    <a:lnTo>
                      <a:pt x="719" y="0"/>
                    </a:lnTo>
                    <a:lnTo>
                      <a:pt x="0" y="60"/>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grpSp>
        <p:sp>
          <p:nvSpPr>
            <p:cNvPr id="899093" name="AutoShape 21"/>
            <p:cNvSpPr>
              <a:spLocks noChangeArrowheads="1"/>
            </p:cNvSpPr>
            <p:nvPr/>
          </p:nvSpPr>
          <p:spPr bwMode="auto">
            <a:xfrm rot="5400000">
              <a:off x="912" y="-768"/>
              <a:ext cx="1008" cy="2832"/>
            </a:xfrm>
            <a:prstGeom prst="cube">
              <a:avLst>
                <a:gd name="adj" fmla="val 18241"/>
              </a:avLst>
            </a:prstGeom>
            <a:grpFill/>
            <a:ln w="12700">
              <a:solidFill>
                <a:srgbClr val="000000"/>
              </a:solidFill>
              <a:miter lim="800000"/>
            </a:ln>
            <a:effectLst>
              <a:outerShdw dist="89803" dir="2700000" algn="ctr" rotWithShape="0">
                <a:schemeClr val="bg2"/>
              </a:outerShdw>
            </a:effectLst>
          </p:spPr>
          <p:txBody>
            <a:bodyPr rot="10800000" vert="eaVert" wrap="none" lIns="92601" tIns="45588" rIns="92601" bIns="45588" anchor="ctr"/>
            <a:lstStyle/>
            <a:p>
              <a:pPr algn="ctr" defTabSz="923925"/>
              <a:endParaRPr lang="en-US" b="1">
                <a:latin typeface="Arial" panose="020B0604020202020204" pitchFamily="34" charset="0"/>
              </a:endParaRPr>
            </a:p>
            <a:p>
              <a:pPr algn="ctr" defTabSz="923925"/>
              <a:r>
                <a:rPr lang="en-US" b="1">
                  <a:latin typeface="Arial" panose="020B0604020202020204" pitchFamily="34" charset="0"/>
                </a:rPr>
                <a:t>Pure</a:t>
              </a:r>
              <a:r>
                <a:rPr lang="en-US" b="1">
                  <a:effectLst>
                    <a:outerShdw blurRad="38100" dist="38100" dir="2700000" algn="tl">
                      <a:srgbClr val="000000"/>
                    </a:outerShdw>
                  </a:effectLst>
                  <a:latin typeface="Arial" panose="020B0604020202020204" pitchFamily="34" charset="0"/>
                </a:rPr>
                <a:t> </a:t>
              </a:r>
              <a:r>
                <a:rPr lang="en-US" b="1">
                  <a:latin typeface="Arial" panose="020B0604020202020204" pitchFamily="34" charset="0"/>
                </a:rPr>
                <a:t>Competition</a:t>
              </a:r>
            </a:p>
            <a:p>
              <a:pPr algn="ctr" defTabSz="923925"/>
              <a:r>
                <a:rPr lang="en-US" sz="1400" b="1">
                  <a:latin typeface="Arial" panose="020B0604020202020204" pitchFamily="34" charset="0"/>
                </a:rPr>
                <a:t>Many Buyers and Sellers Who</a:t>
              </a:r>
            </a:p>
            <a:p>
              <a:pPr algn="ctr" defTabSz="923925"/>
              <a:r>
                <a:rPr lang="en-US" sz="1400" b="1">
                  <a:latin typeface="Arial" panose="020B0604020202020204" pitchFamily="34" charset="0"/>
                </a:rPr>
                <a:t>Have Little Affect on the Price.</a:t>
              </a:r>
            </a:p>
            <a:p>
              <a:pPr algn="ctr" defTabSz="923925" latinLnBrk="1"/>
              <a:endParaRPr lang="en-US" sz="1400" b="1">
                <a:latin typeface="Arial" panose="020B0604020202020204" pitchFamily="34" charset="0"/>
              </a:endParaRPr>
            </a:p>
          </p:txBody>
        </p:sp>
        <p:sp>
          <p:nvSpPr>
            <p:cNvPr id="899094" name="AutoShape 22"/>
            <p:cNvSpPr>
              <a:spLocks noChangeArrowheads="1"/>
            </p:cNvSpPr>
            <p:nvPr/>
          </p:nvSpPr>
          <p:spPr bwMode="auto">
            <a:xfrm rot="5400000">
              <a:off x="3816" y="-744"/>
              <a:ext cx="1056" cy="2832"/>
            </a:xfrm>
            <a:prstGeom prst="cube">
              <a:avLst>
                <a:gd name="adj" fmla="val 18241"/>
              </a:avLst>
            </a:prstGeom>
            <a:grpFill/>
            <a:ln w="12700">
              <a:solidFill>
                <a:srgbClr val="000000"/>
              </a:solidFill>
              <a:miter lim="800000"/>
            </a:ln>
            <a:effectLst>
              <a:outerShdw dist="89803" dir="2700000" algn="ctr" rotWithShape="0">
                <a:schemeClr val="bg2"/>
              </a:outerShdw>
            </a:effectLst>
          </p:spPr>
          <p:txBody>
            <a:bodyPr rot="10800000" vert="eaVert" wrap="none" lIns="92601" tIns="45588" rIns="92601" bIns="45588" anchor="ctr"/>
            <a:lstStyle/>
            <a:p>
              <a:pPr algn="ctr" defTabSz="923925"/>
              <a:r>
                <a:rPr lang="en-US" b="1">
                  <a:latin typeface="Arial" panose="020B0604020202020204" pitchFamily="34" charset="0"/>
                </a:rPr>
                <a:t>Monopolistic</a:t>
              </a:r>
              <a:r>
                <a:rPr lang="en-US" b="1">
                  <a:effectLst>
                    <a:outerShdw blurRad="38100" dist="38100" dir="2700000" algn="tl">
                      <a:srgbClr val="000000"/>
                    </a:outerShdw>
                  </a:effectLst>
                  <a:latin typeface="Arial" panose="020B0604020202020204" pitchFamily="34" charset="0"/>
                </a:rPr>
                <a:t> </a:t>
              </a:r>
              <a:r>
                <a:rPr lang="en-US" b="1">
                  <a:latin typeface="Arial" panose="020B0604020202020204" pitchFamily="34" charset="0"/>
                </a:rPr>
                <a:t>Competition</a:t>
              </a:r>
            </a:p>
            <a:p>
              <a:pPr algn="ctr" defTabSz="923925"/>
              <a:r>
                <a:rPr lang="en-US" sz="1400" b="1">
                  <a:latin typeface="Arial" panose="020B0604020202020204" pitchFamily="34" charset="0"/>
                </a:rPr>
                <a:t>Many Buyers and Sellers Trading</a:t>
              </a:r>
            </a:p>
            <a:p>
              <a:pPr algn="ctr" defTabSz="923925"/>
              <a:r>
                <a:rPr lang="en-US" sz="1400" b="1">
                  <a:latin typeface="Arial" panose="020B0604020202020204" pitchFamily="34" charset="0"/>
                </a:rPr>
                <a:t>Over a Range of Prices.</a:t>
              </a:r>
            </a:p>
          </p:txBody>
        </p:sp>
        <p:sp>
          <p:nvSpPr>
            <p:cNvPr id="899095" name="AutoShape 23"/>
            <p:cNvSpPr>
              <a:spLocks noChangeArrowheads="1"/>
            </p:cNvSpPr>
            <p:nvPr/>
          </p:nvSpPr>
          <p:spPr bwMode="auto">
            <a:xfrm rot="5400000">
              <a:off x="1042" y="2311"/>
              <a:ext cx="947" cy="3072"/>
            </a:xfrm>
            <a:prstGeom prst="cube">
              <a:avLst>
                <a:gd name="adj" fmla="val 18241"/>
              </a:avLst>
            </a:prstGeom>
            <a:grpFill/>
            <a:ln w="12700">
              <a:solidFill>
                <a:srgbClr val="000000"/>
              </a:solidFill>
              <a:miter lim="800000"/>
            </a:ln>
            <a:effectLst>
              <a:outerShdw dist="89803" dir="2700000" algn="ctr" rotWithShape="0">
                <a:schemeClr val="bg2"/>
              </a:outerShdw>
            </a:effectLst>
          </p:spPr>
          <p:txBody>
            <a:bodyPr rot="10800000" vert="eaVert" wrap="none" lIns="92601" tIns="45588" rIns="92601" bIns="45588" anchor="ctr"/>
            <a:lstStyle/>
            <a:p>
              <a:pPr algn="ctr" defTabSz="923925"/>
              <a:r>
                <a:rPr lang="en-US" b="1">
                  <a:latin typeface="Arial" panose="020B0604020202020204" pitchFamily="34" charset="0"/>
                </a:rPr>
                <a:t>Oligopolistic Competition</a:t>
              </a:r>
            </a:p>
            <a:p>
              <a:pPr algn="ctr" defTabSz="923925"/>
              <a:r>
                <a:rPr lang="en-US" sz="1400" b="1">
                  <a:latin typeface="Arial" panose="020B0604020202020204" pitchFamily="34" charset="0"/>
                </a:rPr>
                <a:t>Few Sellers Each Sensitive to Other’s </a:t>
              </a:r>
            </a:p>
            <a:p>
              <a:pPr algn="ctr" defTabSz="923925"/>
              <a:r>
                <a:rPr lang="en-US" sz="1400" b="1">
                  <a:latin typeface="Arial" panose="020B0604020202020204" pitchFamily="34" charset="0"/>
                </a:rPr>
                <a:t>Pricing/ Marketing Strategies</a:t>
              </a:r>
            </a:p>
          </p:txBody>
        </p:sp>
        <p:sp>
          <p:nvSpPr>
            <p:cNvPr id="899096" name="AutoShape 24"/>
            <p:cNvSpPr>
              <a:spLocks noChangeArrowheads="1"/>
            </p:cNvSpPr>
            <p:nvPr/>
          </p:nvSpPr>
          <p:spPr bwMode="auto">
            <a:xfrm rot="5400000">
              <a:off x="4012" y="2524"/>
              <a:ext cx="912" cy="2680"/>
            </a:xfrm>
            <a:prstGeom prst="cube">
              <a:avLst>
                <a:gd name="adj" fmla="val 18241"/>
              </a:avLst>
            </a:prstGeom>
            <a:grpFill/>
            <a:ln w="12700">
              <a:solidFill>
                <a:srgbClr val="000000"/>
              </a:solidFill>
              <a:miter lim="800000"/>
            </a:ln>
            <a:effectLst>
              <a:outerShdw dist="89803" dir="2700000" algn="ctr" rotWithShape="0">
                <a:schemeClr val="bg2"/>
              </a:outerShdw>
            </a:effectLst>
          </p:spPr>
          <p:txBody>
            <a:bodyPr rot="10800000" vert="eaVert" wrap="none" lIns="92601" tIns="45588" rIns="92601" bIns="45588" anchor="ctr"/>
            <a:lstStyle/>
            <a:p>
              <a:pPr algn="ctr" defTabSz="923925"/>
              <a:r>
                <a:rPr lang="en-US" sz="2200" b="1">
                  <a:latin typeface="Arial" panose="020B0604020202020204" pitchFamily="34" charset="0"/>
                </a:rPr>
                <a:t>Pure Monopoly</a:t>
              </a:r>
            </a:p>
            <a:p>
              <a:pPr algn="ctr" defTabSz="923925"/>
              <a:r>
                <a:rPr lang="en-US" b="1">
                  <a:latin typeface="Arial" panose="020B0604020202020204" pitchFamily="34" charset="0"/>
                </a:rPr>
                <a:t>Single Seller</a:t>
              </a:r>
            </a:p>
          </p:txBody>
        </p:sp>
        <p:sp>
          <p:nvSpPr>
            <p:cNvPr id="899097" name="AutoShape 25"/>
            <p:cNvSpPr>
              <a:spLocks noChangeArrowheads="1"/>
            </p:cNvSpPr>
            <p:nvPr/>
          </p:nvSpPr>
          <p:spPr bwMode="auto">
            <a:xfrm rot="5400000">
              <a:off x="2566" y="-169"/>
              <a:ext cx="579" cy="4848"/>
            </a:xfrm>
            <a:prstGeom prst="cube">
              <a:avLst>
                <a:gd name="adj" fmla="val 18241"/>
              </a:avLst>
            </a:prstGeom>
            <a:grpFill/>
            <a:ln w="12700">
              <a:solidFill>
                <a:srgbClr val="000000"/>
              </a:solidFill>
              <a:miter lim="800000"/>
            </a:ln>
            <a:effectLst>
              <a:outerShdw dist="89803" dir="2700000" algn="ctr" rotWithShape="0">
                <a:schemeClr val="bg2"/>
              </a:outerShdw>
            </a:effectLst>
          </p:spPr>
          <p:txBody>
            <a:bodyPr rot="10800000" vert="eaVert" wrap="none" lIns="92601" tIns="45588" rIns="92601" bIns="45588" anchor="ctr"/>
            <a:lstStyle/>
            <a:p>
              <a:pPr algn="ctr" defTabSz="923925"/>
              <a:r>
                <a:rPr lang="en-US" sz="2000" b="1">
                  <a:latin typeface="Arial" panose="020B0604020202020204" pitchFamily="34" charset="0"/>
                </a:rPr>
                <a:t>Different Types of Markets</a:t>
              </a:r>
            </a:p>
          </p:txBody>
        </p:sp>
        <p:grpSp>
          <p:nvGrpSpPr>
            <p:cNvPr id="899098" name="Group 26"/>
            <p:cNvGrpSpPr/>
            <p:nvPr/>
          </p:nvGrpSpPr>
          <p:grpSpPr bwMode="auto">
            <a:xfrm>
              <a:off x="1032" y="2642"/>
              <a:ext cx="1133" cy="478"/>
              <a:chOff x="1135" y="2849"/>
              <a:chExt cx="1247" cy="542"/>
            </a:xfrm>
            <a:grpFill/>
          </p:grpSpPr>
          <p:grpSp>
            <p:nvGrpSpPr>
              <p:cNvPr id="899099" name="Group 27"/>
              <p:cNvGrpSpPr/>
              <p:nvPr/>
            </p:nvGrpSpPr>
            <p:grpSpPr bwMode="auto">
              <a:xfrm>
                <a:off x="1135" y="2849"/>
                <a:ext cx="1247" cy="540"/>
                <a:chOff x="1135" y="2849"/>
                <a:chExt cx="1247" cy="540"/>
              </a:xfrm>
              <a:grpFill/>
            </p:grpSpPr>
            <p:sp>
              <p:nvSpPr>
                <p:cNvPr id="899100" name="Freeform 28"/>
                <p:cNvSpPr/>
                <p:nvPr/>
              </p:nvSpPr>
              <p:spPr bwMode="auto">
                <a:xfrm>
                  <a:off x="1608" y="2927"/>
                  <a:ext cx="774" cy="360"/>
                </a:xfrm>
                <a:custGeom>
                  <a:avLst/>
                  <a:gdLst>
                    <a:gd name="T0" fmla="*/ 773 w 774"/>
                    <a:gd name="T1" fmla="*/ 0 h 360"/>
                    <a:gd name="T2" fmla="*/ 0 w 774"/>
                    <a:gd name="T3" fmla="*/ 282 h 360"/>
                    <a:gd name="T4" fmla="*/ 0 w 774"/>
                    <a:gd name="T5" fmla="*/ 359 h 360"/>
                    <a:gd name="T6" fmla="*/ 773 w 774"/>
                    <a:gd name="T7" fmla="*/ 77 h 360"/>
                    <a:gd name="T8" fmla="*/ 773 w 774"/>
                    <a:gd name="T9" fmla="*/ 0 h 360"/>
                  </a:gdLst>
                  <a:ahLst/>
                  <a:cxnLst>
                    <a:cxn ang="0">
                      <a:pos x="T0" y="T1"/>
                    </a:cxn>
                    <a:cxn ang="0">
                      <a:pos x="T2" y="T3"/>
                    </a:cxn>
                    <a:cxn ang="0">
                      <a:pos x="T4" y="T5"/>
                    </a:cxn>
                    <a:cxn ang="0">
                      <a:pos x="T6" y="T7"/>
                    </a:cxn>
                    <a:cxn ang="0">
                      <a:pos x="T8" y="T9"/>
                    </a:cxn>
                  </a:cxnLst>
                  <a:rect l="0" t="0" r="r" b="b"/>
                  <a:pathLst>
                    <a:path w="774" h="360">
                      <a:moveTo>
                        <a:pt x="773" y="0"/>
                      </a:moveTo>
                      <a:lnTo>
                        <a:pt x="0" y="282"/>
                      </a:lnTo>
                      <a:lnTo>
                        <a:pt x="0" y="359"/>
                      </a:lnTo>
                      <a:lnTo>
                        <a:pt x="773" y="77"/>
                      </a:lnTo>
                      <a:lnTo>
                        <a:pt x="773" y="0"/>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101" name="Freeform 29"/>
                <p:cNvSpPr/>
                <p:nvPr/>
              </p:nvSpPr>
              <p:spPr bwMode="auto">
                <a:xfrm>
                  <a:off x="1135" y="2849"/>
                  <a:ext cx="1247" cy="462"/>
                </a:xfrm>
                <a:custGeom>
                  <a:avLst/>
                  <a:gdLst>
                    <a:gd name="T0" fmla="*/ 1246 w 1247"/>
                    <a:gd name="T1" fmla="*/ 77 h 462"/>
                    <a:gd name="T2" fmla="*/ 945 w 1247"/>
                    <a:gd name="T3" fmla="*/ 0 h 462"/>
                    <a:gd name="T4" fmla="*/ 214 w 1247"/>
                    <a:gd name="T5" fmla="*/ 256 h 462"/>
                    <a:gd name="T6" fmla="*/ 0 w 1247"/>
                    <a:gd name="T7" fmla="*/ 179 h 462"/>
                    <a:gd name="T8" fmla="*/ 0 w 1247"/>
                    <a:gd name="T9" fmla="*/ 410 h 462"/>
                    <a:gd name="T10" fmla="*/ 730 w 1247"/>
                    <a:gd name="T11" fmla="*/ 461 h 462"/>
                    <a:gd name="T12" fmla="*/ 472 w 1247"/>
                    <a:gd name="T13" fmla="*/ 358 h 462"/>
                    <a:gd name="T14" fmla="*/ 1246 w 1247"/>
                    <a:gd name="T15" fmla="*/ 77 h 4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7" h="462">
                      <a:moveTo>
                        <a:pt x="1246" y="77"/>
                      </a:moveTo>
                      <a:lnTo>
                        <a:pt x="945" y="0"/>
                      </a:lnTo>
                      <a:lnTo>
                        <a:pt x="214" y="256"/>
                      </a:lnTo>
                      <a:lnTo>
                        <a:pt x="0" y="179"/>
                      </a:lnTo>
                      <a:lnTo>
                        <a:pt x="0" y="410"/>
                      </a:lnTo>
                      <a:lnTo>
                        <a:pt x="730" y="461"/>
                      </a:lnTo>
                      <a:lnTo>
                        <a:pt x="472" y="358"/>
                      </a:lnTo>
                      <a:lnTo>
                        <a:pt x="1246" y="77"/>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102" name="Freeform 30"/>
                <p:cNvSpPr/>
                <p:nvPr/>
              </p:nvSpPr>
              <p:spPr bwMode="auto">
                <a:xfrm>
                  <a:off x="1135" y="3259"/>
                  <a:ext cx="730" cy="130"/>
                </a:xfrm>
                <a:custGeom>
                  <a:avLst/>
                  <a:gdLst>
                    <a:gd name="T0" fmla="*/ 729 w 730"/>
                    <a:gd name="T1" fmla="*/ 52 h 130"/>
                    <a:gd name="T2" fmla="*/ 0 w 730"/>
                    <a:gd name="T3" fmla="*/ 0 h 130"/>
                    <a:gd name="T4" fmla="*/ 0 w 730"/>
                    <a:gd name="T5" fmla="*/ 77 h 130"/>
                    <a:gd name="T6" fmla="*/ 729 w 730"/>
                    <a:gd name="T7" fmla="*/ 129 h 130"/>
                    <a:gd name="T8" fmla="*/ 729 w 730"/>
                    <a:gd name="T9" fmla="*/ 52 h 130"/>
                  </a:gdLst>
                  <a:ahLst/>
                  <a:cxnLst>
                    <a:cxn ang="0">
                      <a:pos x="T0" y="T1"/>
                    </a:cxn>
                    <a:cxn ang="0">
                      <a:pos x="T2" y="T3"/>
                    </a:cxn>
                    <a:cxn ang="0">
                      <a:pos x="T4" y="T5"/>
                    </a:cxn>
                    <a:cxn ang="0">
                      <a:pos x="T6" y="T7"/>
                    </a:cxn>
                    <a:cxn ang="0">
                      <a:pos x="T8" y="T9"/>
                    </a:cxn>
                  </a:cxnLst>
                  <a:rect l="0" t="0" r="r" b="b"/>
                  <a:pathLst>
                    <a:path w="730" h="130">
                      <a:moveTo>
                        <a:pt x="729" y="52"/>
                      </a:moveTo>
                      <a:lnTo>
                        <a:pt x="0" y="0"/>
                      </a:lnTo>
                      <a:lnTo>
                        <a:pt x="0" y="77"/>
                      </a:lnTo>
                      <a:lnTo>
                        <a:pt x="729" y="129"/>
                      </a:lnTo>
                      <a:lnTo>
                        <a:pt x="729" y="52"/>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grpSp>
          <p:sp>
            <p:nvSpPr>
              <p:cNvPr id="899103" name="Freeform 31"/>
              <p:cNvSpPr/>
              <p:nvPr/>
            </p:nvSpPr>
            <p:spPr bwMode="auto">
              <a:xfrm>
                <a:off x="1602" y="2934"/>
                <a:ext cx="776" cy="312"/>
              </a:xfrm>
              <a:custGeom>
                <a:avLst/>
                <a:gdLst>
                  <a:gd name="T0" fmla="*/ 764 w 776"/>
                  <a:gd name="T1" fmla="*/ 0 h 312"/>
                  <a:gd name="T2" fmla="*/ 0 w 776"/>
                  <a:gd name="T3" fmla="*/ 271 h 312"/>
                  <a:gd name="T4" fmla="*/ 100 w 776"/>
                  <a:gd name="T5" fmla="*/ 311 h 312"/>
                  <a:gd name="T6" fmla="*/ 775 w 776"/>
                  <a:gd name="T7" fmla="*/ 79 h 312"/>
                  <a:gd name="T8" fmla="*/ 764 w 776"/>
                  <a:gd name="T9" fmla="*/ 0 h 312"/>
                </a:gdLst>
                <a:ahLst/>
                <a:cxnLst>
                  <a:cxn ang="0">
                    <a:pos x="T0" y="T1"/>
                  </a:cxn>
                  <a:cxn ang="0">
                    <a:pos x="T2" y="T3"/>
                  </a:cxn>
                  <a:cxn ang="0">
                    <a:pos x="T4" y="T5"/>
                  </a:cxn>
                  <a:cxn ang="0">
                    <a:pos x="T6" y="T7"/>
                  </a:cxn>
                  <a:cxn ang="0">
                    <a:pos x="T8" y="T9"/>
                  </a:cxn>
                </a:cxnLst>
                <a:rect l="0" t="0" r="r" b="b"/>
                <a:pathLst>
                  <a:path w="776" h="312">
                    <a:moveTo>
                      <a:pt x="764" y="0"/>
                    </a:moveTo>
                    <a:lnTo>
                      <a:pt x="0" y="271"/>
                    </a:lnTo>
                    <a:lnTo>
                      <a:pt x="100" y="311"/>
                    </a:lnTo>
                    <a:lnTo>
                      <a:pt x="775" y="79"/>
                    </a:lnTo>
                    <a:lnTo>
                      <a:pt x="764" y="0"/>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sp>
            <p:nvSpPr>
              <p:cNvPr id="899104" name="Freeform 32"/>
              <p:cNvSpPr/>
              <p:nvPr/>
            </p:nvSpPr>
            <p:spPr bwMode="auto">
              <a:xfrm>
                <a:off x="1137" y="3252"/>
                <a:ext cx="721" cy="139"/>
              </a:xfrm>
              <a:custGeom>
                <a:avLst/>
                <a:gdLst>
                  <a:gd name="T0" fmla="*/ 720 w 721"/>
                  <a:gd name="T1" fmla="*/ 59 h 139"/>
                  <a:gd name="T2" fmla="*/ 720 w 721"/>
                  <a:gd name="T3" fmla="*/ 138 h 139"/>
                  <a:gd name="T4" fmla="*/ 0 w 721"/>
                  <a:gd name="T5" fmla="*/ 85 h 139"/>
                  <a:gd name="T6" fmla="*/ 0 w 721"/>
                  <a:gd name="T7" fmla="*/ 0 h 139"/>
                  <a:gd name="T8" fmla="*/ 720 w 721"/>
                  <a:gd name="T9" fmla="*/ 59 h 139"/>
                </a:gdLst>
                <a:ahLst/>
                <a:cxnLst>
                  <a:cxn ang="0">
                    <a:pos x="T0" y="T1"/>
                  </a:cxn>
                  <a:cxn ang="0">
                    <a:pos x="T2" y="T3"/>
                  </a:cxn>
                  <a:cxn ang="0">
                    <a:pos x="T4" y="T5"/>
                  </a:cxn>
                  <a:cxn ang="0">
                    <a:pos x="T6" y="T7"/>
                  </a:cxn>
                  <a:cxn ang="0">
                    <a:pos x="T8" y="T9"/>
                  </a:cxn>
                </a:cxnLst>
                <a:rect l="0" t="0" r="r" b="b"/>
                <a:pathLst>
                  <a:path w="721" h="139">
                    <a:moveTo>
                      <a:pt x="720" y="59"/>
                    </a:moveTo>
                    <a:lnTo>
                      <a:pt x="720" y="138"/>
                    </a:lnTo>
                    <a:lnTo>
                      <a:pt x="0" y="85"/>
                    </a:lnTo>
                    <a:lnTo>
                      <a:pt x="0" y="0"/>
                    </a:lnTo>
                    <a:lnTo>
                      <a:pt x="720" y="59"/>
                    </a:lnTo>
                  </a:path>
                </a:pathLst>
              </a:custGeom>
              <a:grpFill/>
              <a:ln w="12700" cap="rnd" cmpd="sng">
                <a:solidFill>
                  <a:srgbClr val="000000"/>
                </a:solidFill>
                <a:prstDash val="solid"/>
                <a:round/>
                <a:headEnd type="none" w="med" len="med"/>
                <a:tailEnd type="none" w="med" len="med"/>
              </a:ln>
              <a:effectLst>
                <a:outerShdw dist="107763" dir="2700000" algn="ctr" rotWithShape="0">
                  <a:schemeClr val="tx1"/>
                </a:outerShdw>
              </a:effectLst>
            </p:spPr>
            <p:txBody>
              <a:bodyPr/>
              <a:lstStyle/>
              <a:p>
                <a:endParaRPr lang="en-US"/>
              </a:p>
            </p:txBody>
          </p:sp>
        </p:grpSp>
      </p:grpSp>
      <p:sp>
        <p:nvSpPr>
          <p:cNvPr id="899106" name="Rectangle 34"/>
          <p:cNvSpPr>
            <a:spLocks noGrp="1" noChangeArrowheads="1"/>
          </p:cNvSpPr>
          <p:nvPr>
            <p:ph type="title"/>
          </p:nvPr>
        </p:nvSpPr>
        <p:spPr>
          <a:xfrm>
            <a:off x="0" y="457200"/>
            <a:ext cx="9144000" cy="1143000"/>
          </a:xfrm>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0"/>
          <a:lstStyle/>
          <a:p>
            <a:pPr>
              <a:lnSpc>
                <a:spcPct val="90000"/>
              </a:lnSpc>
            </a:pPr>
            <a:r>
              <a:rPr lang="en-US" sz="3600">
                <a:latin typeface="Arial Unicode MS" pitchFamily="34" charset="-128"/>
              </a:rPr>
              <a:t>The Market and Demand factors that affect Pricing decisions</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Price-Demand Relationship</a:t>
            </a:r>
            <a:endParaRPr lang="en-US" sz="3200" dirty="0"/>
          </a:p>
        </p:txBody>
      </p:sp>
      <p:sp>
        <p:nvSpPr>
          <p:cNvPr id="3" name="Rectangle 3"/>
          <p:cNvSpPr txBox="1">
            <a:spLocks noChangeArrowheads="1"/>
          </p:cNvSpPr>
          <p:nvPr/>
        </p:nvSpPr>
        <p:spPr>
          <a:xfrm>
            <a:off x="685800" y="2362200"/>
            <a:ext cx="7772400" cy="3276600"/>
          </a:xfrm>
          <a:prstGeom prst="rect">
            <a:avLst/>
          </a:prstGeom>
        </p:spPr>
        <p:txBody>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90000"/>
              </a:lnSpc>
              <a:buNone/>
            </a:pPr>
            <a:r>
              <a:rPr lang="en-US" b="1" dirty="0" smtClean="0"/>
              <a:t>The demand curve </a:t>
            </a:r>
            <a:r>
              <a:rPr lang="en-US" dirty="0" smtClean="0"/>
              <a:t>shows the number of units the market will buy in a given period at different prices</a:t>
            </a:r>
          </a:p>
          <a:p>
            <a:pPr marL="0" indent="0" algn="just">
              <a:lnSpc>
                <a:spcPct val="90000"/>
              </a:lnSpc>
              <a:buNone/>
            </a:pPr>
            <a:endParaRPr lang="en-US" dirty="0" smtClean="0"/>
          </a:p>
          <a:p>
            <a:pPr marL="533400" indent="-533400">
              <a:lnSpc>
                <a:spcPct val="90000"/>
              </a:lnSpc>
            </a:pPr>
            <a:r>
              <a:rPr lang="en-US" dirty="0" smtClean="0"/>
              <a:t>Normally, demand and price are inversely related</a:t>
            </a:r>
          </a:p>
          <a:p>
            <a:pPr marL="944880" lvl="1" indent="-533400">
              <a:lnSpc>
                <a:spcPct val="90000"/>
              </a:lnSpc>
            </a:pPr>
            <a:r>
              <a:rPr lang="en-US" dirty="0" smtClean="0"/>
              <a:t>Higher price = lower demand</a:t>
            </a:r>
          </a:p>
          <a:p>
            <a:pPr marL="533400" indent="-533400">
              <a:lnSpc>
                <a:spcPct val="90000"/>
              </a:lnSpc>
            </a:pPr>
            <a:r>
              <a:rPr lang="en-US" dirty="0" smtClean="0"/>
              <a:t>For prestige (luxury) goods, higher price can equal higher demand when consumers perceive higher prices as higher quality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1295400" y="1676400"/>
            <a:ext cx="6468177" cy="4977744"/>
            <a:chOff x="912" y="960"/>
            <a:chExt cx="4032" cy="3171"/>
          </a:xfrm>
          <a:gradFill>
            <a:gsLst>
              <a:gs pos="0">
                <a:srgbClr val="FECF40"/>
              </a:gs>
              <a:gs pos="100000">
                <a:srgbClr val="846C21"/>
              </a:gs>
            </a:gsLst>
            <a:lin scaled="0"/>
          </a:gradFill>
        </p:grpSpPr>
        <p:sp>
          <p:nvSpPr>
            <p:cNvPr id="5" name="Rectangle 4"/>
            <p:cNvSpPr>
              <a:spLocks noChangeArrowheads="1"/>
            </p:cNvSpPr>
            <p:nvPr/>
          </p:nvSpPr>
          <p:spPr bwMode="auto">
            <a:xfrm>
              <a:off x="912" y="960"/>
              <a:ext cx="4032" cy="3099"/>
            </a:xfrm>
            <a:prstGeom prst="rect">
              <a:avLst/>
            </a:prstGeom>
            <a:grpFill/>
            <a:ln w="12700">
              <a:solidFill>
                <a:schemeClr val="accent1"/>
              </a:solidFill>
              <a:miter lim="800000"/>
            </a:ln>
            <a:effectLst>
              <a:outerShdw dist="107763" dir="2700000" algn="ctr" rotWithShape="0">
                <a:schemeClr val="bg2"/>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nvGrpSpPr>
            <p:cNvPr id="6" name="Group 5"/>
            <p:cNvGrpSpPr/>
            <p:nvPr/>
          </p:nvGrpSpPr>
          <p:grpSpPr bwMode="auto">
            <a:xfrm>
              <a:off x="1987" y="1019"/>
              <a:ext cx="2101" cy="1237"/>
              <a:chOff x="1825" y="563"/>
              <a:chExt cx="2997" cy="1649"/>
            </a:xfrm>
            <a:grpFill/>
          </p:grpSpPr>
          <p:sp>
            <p:nvSpPr>
              <p:cNvPr id="30" name="Rectangle 29"/>
              <p:cNvSpPr>
                <a:spLocks noChangeArrowheads="1"/>
              </p:cNvSpPr>
              <p:nvPr/>
            </p:nvSpPr>
            <p:spPr bwMode="auto">
              <a:xfrm>
                <a:off x="1828" y="563"/>
                <a:ext cx="107" cy="1646"/>
              </a:xfrm>
              <a:prstGeom prst="rect">
                <a:avLst/>
              </a:prstGeom>
              <a:grpFill/>
              <a:ln w="12700">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31" name="Rectangle 30"/>
              <p:cNvSpPr>
                <a:spLocks noChangeArrowheads="1"/>
              </p:cNvSpPr>
              <p:nvPr/>
            </p:nvSpPr>
            <p:spPr bwMode="auto">
              <a:xfrm>
                <a:off x="1825" y="2161"/>
                <a:ext cx="2997" cy="51"/>
              </a:xfrm>
              <a:prstGeom prst="rect">
                <a:avLst/>
              </a:prstGeom>
              <a:grpFill/>
              <a:ln w="12700">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sp>
          <p:nvSpPr>
            <p:cNvPr id="7" name="Rectangle 6"/>
            <p:cNvSpPr>
              <a:spLocks noChangeArrowheads="1"/>
            </p:cNvSpPr>
            <p:nvPr/>
          </p:nvSpPr>
          <p:spPr bwMode="auto">
            <a:xfrm rot="16200000">
              <a:off x="1020" y="1283"/>
              <a:ext cx="650" cy="292"/>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sz="2800" b="1">
                  <a:latin typeface="Arial" panose="020B0604020202020204" pitchFamily="34" charset="0"/>
                </a:rPr>
                <a:t>Price</a:t>
              </a:r>
            </a:p>
          </p:txBody>
        </p:sp>
        <p:sp>
          <p:nvSpPr>
            <p:cNvPr id="8" name="Freeform 7"/>
            <p:cNvSpPr/>
            <p:nvPr/>
          </p:nvSpPr>
          <p:spPr bwMode="auto">
            <a:xfrm>
              <a:off x="2306" y="3006"/>
              <a:ext cx="1681" cy="322"/>
            </a:xfrm>
            <a:custGeom>
              <a:avLst/>
              <a:gdLst>
                <a:gd name="T0" fmla="*/ 0 w 2408"/>
                <a:gd name="T1" fmla="*/ 0 h 430"/>
                <a:gd name="T2" fmla="*/ 89 w 2408"/>
                <a:gd name="T3" fmla="*/ 43 h 430"/>
                <a:gd name="T4" fmla="*/ 223 w 2408"/>
                <a:gd name="T5" fmla="*/ 101 h 430"/>
                <a:gd name="T6" fmla="*/ 279 w 2408"/>
                <a:gd name="T7" fmla="*/ 123 h 430"/>
                <a:gd name="T8" fmla="*/ 357 w 2408"/>
                <a:gd name="T9" fmla="*/ 159 h 430"/>
                <a:gd name="T10" fmla="*/ 418 w 2408"/>
                <a:gd name="T11" fmla="*/ 177 h 430"/>
                <a:gd name="T12" fmla="*/ 479 w 2408"/>
                <a:gd name="T13" fmla="*/ 198 h 430"/>
                <a:gd name="T14" fmla="*/ 546 w 2408"/>
                <a:gd name="T15" fmla="*/ 220 h 430"/>
                <a:gd name="T16" fmla="*/ 608 w 2408"/>
                <a:gd name="T17" fmla="*/ 238 h 430"/>
                <a:gd name="T18" fmla="*/ 697 w 2408"/>
                <a:gd name="T19" fmla="*/ 260 h 430"/>
                <a:gd name="T20" fmla="*/ 764 w 2408"/>
                <a:gd name="T21" fmla="*/ 274 h 430"/>
                <a:gd name="T22" fmla="*/ 847 w 2408"/>
                <a:gd name="T23" fmla="*/ 296 h 430"/>
                <a:gd name="T24" fmla="*/ 925 w 2408"/>
                <a:gd name="T25" fmla="*/ 314 h 430"/>
                <a:gd name="T26" fmla="*/ 998 w 2408"/>
                <a:gd name="T27" fmla="*/ 328 h 430"/>
                <a:gd name="T28" fmla="*/ 1082 w 2408"/>
                <a:gd name="T29" fmla="*/ 342 h 430"/>
                <a:gd name="T30" fmla="*/ 1193 w 2408"/>
                <a:gd name="T31" fmla="*/ 364 h 430"/>
                <a:gd name="T32" fmla="*/ 1327 w 2408"/>
                <a:gd name="T33" fmla="*/ 386 h 430"/>
                <a:gd name="T34" fmla="*/ 1483 w 2408"/>
                <a:gd name="T35" fmla="*/ 404 h 430"/>
                <a:gd name="T36" fmla="*/ 1639 w 2408"/>
                <a:gd name="T37" fmla="*/ 418 h 430"/>
                <a:gd name="T38" fmla="*/ 1734 w 2408"/>
                <a:gd name="T39" fmla="*/ 425 h 430"/>
                <a:gd name="T40" fmla="*/ 1845 w 2408"/>
                <a:gd name="T41" fmla="*/ 429 h 430"/>
                <a:gd name="T42" fmla="*/ 1957 w 2408"/>
                <a:gd name="T43" fmla="*/ 425 h 430"/>
                <a:gd name="T44" fmla="*/ 2407 w 2408"/>
                <a:gd name="T45" fmla="*/ 418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08" h="430">
                  <a:moveTo>
                    <a:pt x="0" y="0"/>
                  </a:moveTo>
                  <a:lnTo>
                    <a:pt x="89" y="43"/>
                  </a:lnTo>
                  <a:lnTo>
                    <a:pt x="223" y="101"/>
                  </a:lnTo>
                  <a:lnTo>
                    <a:pt x="279" y="123"/>
                  </a:lnTo>
                  <a:lnTo>
                    <a:pt x="357" y="159"/>
                  </a:lnTo>
                  <a:lnTo>
                    <a:pt x="418" y="177"/>
                  </a:lnTo>
                  <a:lnTo>
                    <a:pt x="479" y="198"/>
                  </a:lnTo>
                  <a:lnTo>
                    <a:pt x="546" y="220"/>
                  </a:lnTo>
                  <a:lnTo>
                    <a:pt x="608" y="238"/>
                  </a:lnTo>
                  <a:lnTo>
                    <a:pt x="697" y="260"/>
                  </a:lnTo>
                  <a:lnTo>
                    <a:pt x="764" y="274"/>
                  </a:lnTo>
                  <a:lnTo>
                    <a:pt x="847" y="296"/>
                  </a:lnTo>
                  <a:lnTo>
                    <a:pt x="925" y="314"/>
                  </a:lnTo>
                  <a:lnTo>
                    <a:pt x="998" y="328"/>
                  </a:lnTo>
                  <a:lnTo>
                    <a:pt x="1082" y="342"/>
                  </a:lnTo>
                  <a:lnTo>
                    <a:pt x="1193" y="364"/>
                  </a:lnTo>
                  <a:lnTo>
                    <a:pt x="1327" y="386"/>
                  </a:lnTo>
                  <a:lnTo>
                    <a:pt x="1483" y="404"/>
                  </a:lnTo>
                  <a:lnTo>
                    <a:pt x="1639" y="418"/>
                  </a:lnTo>
                  <a:lnTo>
                    <a:pt x="1734" y="425"/>
                  </a:lnTo>
                  <a:lnTo>
                    <a:pt x="1845" y="429"/>
                  </a:lnTo>
                  <a:lnTo>
                    <a:pt x="1957" y="425"/>
                  </a:lnTo>
                  <a:lnTo>
                    <a:pt x="2407" y="418"/>
                  </a:lnTo>
                </a:path>
              </a:pathLst>
            </a:custGeom>
            <a:grp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9" name="Rectangle 8"/>
            <p:cNvSpPr>
              <a:spLocks noChangeArrowheads="1"/>
            </p:cNvSpPr>
            <p:nvPr/>
          </p:nvSpPr>
          <p:spPr bwMode="auto">
            <a:xfrm>
              <a:off x="1830" y="2349"/>
              <a:ext cx="2254"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Quantity  Demanded per Period</a:t>
              </a:r>
            </a:p>
          </p:txBody>
        </p:sp>
        <p:sp>
          <p:nvSpPr>
            <p:cNvPr id="10" name="Rectangle 9"/>
            <p:cNvSpPr>
              <a:spLocks noChangeArrowheads="1"/>
            </p:cNvSpPr>
            <p:nvPr/>
          </p:nvSpPr>
          <p:spPr bwMode="auto">
            <a:xfrm>
              <a:off x="3002" y="1000"/>
              <a:ext cx="1929" cy="467"/>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sz="1600" b="1" dirty="0">
                  <a:latin typeface="Arial" panose="020B0604020202020204" pitchFamily="34" charset="0"/>
                </a:rPr>
                <a:t>A.  Inelastic Demand - </a:t>
              </a:r>
            </a:p>
            <a:p>
              <a:pPr defTabSz="821055">
                <a:lnSpc>
                  <a:spcPct val="90000"/>
                </a:lnSpc>
              </a:pPr>
              <a:r>
                <a:rPr lang="en-US" sz="1600" b="1" dirty="0">
                  <a:latin typeface="Arial" panose="020B0604020202020204" pitchFamily="34" charset="0"/>
                </a:rPr>
                <a:t>Demand Hardly Changes With</a:t>
              </a:r>
            </a:p>
            <a:p>
              <a:pPr defTabSz="821055">
                <a:lnSpc>
                  <a:spcPct val="90000"/>
                </a:lnSpc>
              </a:pPr>
              <a:r>
                <a:rPr lang="en-US" sz="1600" b="1" dirty="0">
                  <a:latin typeface="Arial" panose="020B0604020202020204" pitchFamily="34" charset="0"/>
                </a:rPr>
                <a:t>a Small Change in Price.</a:t>
              </a:r>
            </a:p>
          </p:txBody>
        </p:sp>
        <p:sp>
          <p:nvSpPr>
            <p:cNvPr id="11" name="Rectangle 10"/>
            <p:cNvSpPr>
              <a:spLocks noChangeArrowheads="1"/>
            </p:cNvSpPr>
            <p:nvPr/>
          </p:nvSpPr>
          <p:spPr bwMode="auto">
            <a:xfrm>
              <a:off x="2039" y="1804"/>
              <a:ext cx="1092" cy="425"/>
            </a:xfrm>
            <a:prstGeom prst="rect">
              <a:avLst/>
            </a:prstGeom>
            <a:grpFill/>
            <a:ln w="12700">
              <a:solidFill>
                <a:schemeClr val="accent1"/>
              </a:solidFill>
              <a:prstDash val="lg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2" name="Rectangle 11"/>
            <p:cNvSpPr>
              <a:spLocks noChangeArrowheads="1"/>
            </p:cNvSpPr>
            <p:nvPr/>
          </p:nvSpPr>
          <p:spPr bwMode="auto">
            <a:xfrm>
              <a:off x="2054" y="1556"/>
              <a:ext cx="865" cy="677"/>
            </a:xfrm>
            <a:prstGeom prst="rect">
              <a:avLst/>
            </a:prstGeom>
            <a:grpFill/>
            <a:ln w="12700">
              <a:solidFill>
                <a:schemeClr val="accent1"/>
              </a:solidFill>
              <a:prstDash val="lg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3" name="Freeform 12"/>
            <p:cNvSpPr/>
            <p:nvPr/>
          </p:nvSpPr>
          <p:spPr bwMode="auto">
            <a:xfrm>
              <a:off x="2870" y="1310"/>
              <a:ext cx="537" cy="653"/>
            </a:xfrm>
            <a:custGeom>
              <a:avLst/>
              <a:gdLst>
                <a:gd name="T0" fmla="*/ 767 w 768"/>
                <a:gd name="T1" fmla="*/ 869 h 870"/>
                <a:gd name="T2" fmla="*/ 719 w 768"/>
                <a:gd name="T3" fmla="*/ 849 h 870"/>
                <a:gd name="T4" fmla="*/ 653 w 768"/>
                <a:gd name="T5" fmla="*/ 819 h 870"/>
                <a:gd name="T6" fmla="*/ 626 w 768"/>
                <a:gd name="T7" fmla="*/ 806 h 870"/>
                <a:gd name="T8" fmla="*/ 588 w 768"/>
                <a:gd name="T9" fmla="*/ 790 h 870"/>
                <a:gd name="T10" fmla="*/ 563 w 768"/>
                <a:gd name="T11" fmla="*/ 774 h 870"/>
                <a:gd name="T12" fmla="*/ 536 w 768"/>
                <a:gd name="T13" fmla="*/ 758 h 870"/>
                <a:gd name="T14" fmla="*/ 508 w 768"/>
                <a:gd name="T15" fmla="*/ 740 h 870"/>
                <a:gd name="T16" fmla="*/ 482 w 768"/>
                <a:gd name="T17" fmla="*/ 725 h 870"/>
                <a:gd name="T18" fmla="*/ 450 w 768"/>
                <a:gd name="T19" fmla="*/ 699 h 870"/>
                <a:gd name="T20" fmla="*/ 426 w 768"/>
                <a:gd name="T21" fmla="*/ 680 h 870"/>
                <a:gd name="T22" fmla="*/ 393 w 768"/>
                <a:gd name="T23" fmla="*/ 657 h 870"/>
                <a:gd name="T24" fmla="*/ 365 w 768"/>
                <a:gd name="T25" fmla="*/ 633 h 870"/>
                <a:gd name="T26" fmla="*/ 341 w 768"/>
                <a:gd name="T27" fmla="*/ 612 h 870"/>
                <a:gd name="T28" fmla="*/ 313 w 768"/>
                <a:gd name="T29" fmla="*/ 587 h 870"/>
                <a:gd name="T30" fmla="*/ 276 w 768"/>
                <a:gd name="T31" fmla="*/ 553 h 870"/>
                <a:gd name="T32" fmla="*/ 231 w 768"/>
                <a:gd name="T33" fmla="*/ 512 h 870"/>
                <a:gd name="T34" fmla="*/ 189 w 768"/>
                <a:gd name="T35" fmla="*/ 463 h 870"/>
                <a:gd name="T36" fmla="*/ 145 w 768"/>
                <a:gd name="T37" fmla="*/ 412 h 870"/>
                <a:gd name="T38" fmla="*/ 121 w 768"/>
                <a:gd name="T39" fmla="*/ 380 h 870"/>
                <a:gd name="T40" fmla="*/ 97 w 768"/>
                <a:gd name="T41" fmla="*/ 340 h 870"/>
                <a:gd name="T42" fmla="*/ 76 w 768"/>
                <a:gd name="T43" fmla="*/ 300 h 870"/>
                <a:gd name="T44" fmla="*/ 55 w 768"/>
                <a:gd name="T45" fmla="*/ 258 h 870"/>
                <a:gd name="T46" fmla="*/ 35 w 768"/>
                <a:gd name="T47" fmla="*/ 207 h 870"/>
                <a:gd name="T48" fmla="*/ 13 w 768"/>
                <a:gd name="T49" fmla="*/ 143 h 870"/>
                <a:gd name="T50" fmla="*/ 8 w 768"/>
                <a:gd name="T51" fmla="*/ 95 h 870"/>
                <a:gd name="T52" fmla="*/ 0 w 768"/>
                <a:gd name="T53" fmla="*/ 45 h 870"/>
                <a:gd name="T54" fmla="*/ 1 w 768"/>
                <a:gd name="T55" fmla="*/ 0 h 8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68" h="870">
                  <a:moveTo>
                    <a:pt x="767" y="869"/>
                  </a:moveTo>
                  <a:lnTo>
                    <a:pt x="719" y="849"/>
                  </a:lnTo>
                  <a:lnTo>
                    <a:pt x="653" y="819"/>
                  </a:lnTo>
                  <a:lnTo>
                    <a:pt x="626" y="806"/>
                  </a:lnTo>
                  <a:lnTo>
                    <a:pt x="588" y="790"/>
                  </a:lnTo>
                  <a:lnTo>
                    <a:pt x="563" y="774"/>
                  </a:lnTo>
                  <a:lnTo>
                    <a:pt x="536" y="758"/>
                  </a:lnTo>
                  <a:lnTo>
                    <a:pt x="508" y="740"/>
                  </a:lnTo>
                  <a:lnTo>
                    <a:pt x="482" y="725"/>
                  </a:lnTo>
                  <a:lnTo>
                    <a:pt x="450" y="699"/>
                  </a:lnTo>
                  <a:lnTo>
                    <a:pt x="426" y="680"/>
                  </a:lnTo>
                  <a:lnTo>
                    <a:pt x="393" y="657"/>
                  </a:lnTo>
                  <a:lnTo>
                    <a:pt x="365" y="633"/>
                  </a:lnTo>
                  <a:lnTo>
                    <a:pt x="341" y="612"/>
                  </a:lnTo>
                  <a:lnTo>
                    <a:pt x="313" y="587"/>
                  </a:lnTo>
                  <a:lnTo>
                    <a:pt x="276" y="553"/>
                  </a:lnTo>
                  <a:lnTo>
                    <a:pt x="231" y="512"/>
                  </a:lnTo>
                  <a:lnTo>
                    <a:pt x="189" y="463"/>
                  </a:lnTo>
                  <a:lnTo>
                    <a:pt x="145" y="412"/>
                  </a:lnTo>
                  <a:lnTo>
                    <a:pt x="121" y="380"/>
                  </a:lnTo>
                  <a:lnTo>
                    <a:pt x="97" y="340"/>
                  </a:lnTo>
                  <a:lnTo>
                    <a:pt x="76" y="300"/>
                  </a:lnTo>
                  <a:lnTo>
                    <a:pt x="55" y="258"/>
                  </a:lnTo>
                  <a:lnTo>
                    <a:pt x="35" y="207"/>
                  </a:lnTo>
                  <a:lnTo>
                    <a:pt x="13" y="143"/>
                  </a:lnTo>
                  <a:lnTo>
                    <a:pt x="8" y="95"/>
                  </a:lnTo>
                  <a:lnTo>
                    <a:pt x="0" y="45"/>
                  </a:lnTo>
                  <a:lnTo>
                    <a:pt x="1" y="0"/>
                  </a:lnTo>
                </a:path>
              </a:pathLst>
            </a:custGeom>
            <a:grpFill/>
            <a:ln w="12700" cap="rnd" cmpd="sng">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4" name="Rectangle 13"/>
            <p:cNvSpPr>
              <a:spLocks noChangeArrowheads="1"/>
            </p:cNvSpPr>
            <p:nvPr/>
          </p:nvSpPr>
          <p:spPr bwMode="auto">
            <a:xfrm>
              <a:off x="1702" y="1470"/>
              <a:ext cx="251"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P</a:t>
              </a:r>
              <a:r>
                <a:rPr lang="en-US" b="1" i="1" baseline="-25000">
                  <a:latin typeface="Arial" panose="020B0604020202020204" pitchFamily="34" charset="0"/>
                </a:rPr>
                <a:t>2</a:t>
              </a:r>
            </a:p>
          </p:txBody>
        </p:sp>
        <p:sp>
          <p:nvSpPr>
            <p:cNvPr id="15" name="Rectangle 14"/>
            <p:cNvSpPr>
              <a:spLocks noChangeArrowheads="1"/>
            </p:cNvSpPr>
            <p:nvPr/>
          </p:nvSpPr>
          <p:spPr bwMode="auto">
            <a:xfrm>
              <a:off x="1711" y="1706"/>
              <a:ext cx="251"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P</a:t>
              </a:r>
              <a:r>
                <a:rPr lang="en-US" b="1" i="1" baseline="-25000">
                  <a:latin typeface="Arial" panose="020B0604020202020204" pitchFamily="34" charset="0"/>
                </a:rPr>
                <a:t>1</a:t>
              </a:r>
            </a:p>
          </p:txBody>
        </p:sp>
        <p:sp>
          <p:nvSpPr>
            <p:cNvPr id="16" name="Rectangle 15"/>
            <p:cNvSpPr>
              <a:spLocks noChangeArrowheads="1"/>
            </p:cNvSpPr>
            <p:nvPr/>
          </p:nvSpPr>
          <p:spPr bwMode="auto">
            <a:xfrm>
              <a:off x="3020" y="2229"/>
              <a:ext cx="267"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Q</a:t>
              </a:r>
              <a:r>
                <a:rPr lang="en-US" b="1" i="1" baseline="-25000">
                  <a:latin typeface="Arial" panose="020B0604020202020204" pitchFamily="34" charset="0"/>
                </a:rPr>
                <a:t>1</a:t>
              </a:r>
            </a:p>
          </p:txBody>
        </p:sp>
        <p:sp>
          <p:nvSpPr>
            <p:cNvPr id="17" name="Rectangle 16"/>
            <p:cNvSpPr>
              <a:spLocks noChangeArrowheads="1"/>
            </p:cNvSpPr>
            <p:nvPr/>
          </p:nvSpPr>
          <p:spPr bwMode="auto">
            <a:xfrm>
              <a:off x="2790" y="2229"/>
              <a:ext cx="267"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Q</a:t>
              </a:r>
              <a:r>
                <a:rPr lang="en-US" b="1" i="1" baseline="-25000">
                  <a:latin typeface="Arial" panose="020B0604020202020204" pitchFamily="34" charset="0"/>
                </a:rPr>
                <a:t>2</a:t>
              </a:r>
            </a:p>
          </p:txBody>
        </p:sp>
        <p:grpSp>
          <p:nvGrpSpPr>
            <p:cNvPr id="18" name="Group 17"/>
            <p:cNvGrpSpPr/>
            <p:nvPr/>
          </p:nvGrpSpPr>
          <p:grpSpPr bwMode="auto">
            <a:xfrm>
              <a:off x="1987" y="2546"/>
              <a:ext cx="2101" cy="1237"/>
              <a:chOff x="1825" y="2598"/>
              <a:chExt cx="2997" cy="1649"/>
            </a:xfrm>
            <a:grpFill/>
          </p:grpSpPr>
          <p:sp>
            <p:nvSpPr>
              <p:cNvPr id="28" name="Rectangle 27"/>
              <p:cNvSpPr>
                <a:spLocks noChangeArrowheads="1"/>
              </p:cNvSpPr>
              <p:nvPr/>
            </p:nvSpPr>
            <p:spPr bwMode="auto">
              <a:xfrm>
                <a:off x="1828" y="2598"/>
                <a:ext cx="107" cy="1646"/>
              </a:xfrm>
              <a:prstGeom prst="rect">
                <a:avLst/>
              </a:prstGeom>
              <a:grpFill/>
              <a:ln w="12700">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9" name="Rectangle 28"/>
              <p:cNvSpPr>
                <a:spLocks noChangeArrowheads="1"/>
              </p:cNvSpPr>
              <p:nvPr/>
            </p:nvSpPr>
            <p:spPr bwMode="auto">
              <a:xfrm>
                <a:off x="1825" y="4197"/>
                <a:ext cx="2997" cy="50"/>
              </a:xfrm>
              <a:prstGeom prst="rect">
                <a:avLst/>
              </a:prstGeom>
              <a:grpFill/>
              <a:ln w="12700">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sp>
          <p:nvSpPr>
            <p:cNvPr id="19" name="Rectangle 18"/>
            <p:cNvSpPr>
              <a:spLocks noChangeArrowheads="1"/>
            </p:cNvSpPr>
            <p:nvPr/>
          </p:nvSpPr>
          <p:spPr bwMode="auto">
            <a:xfrm rot="16200000">
              <a:off x="1017" y="2811"/>
              <a:ext cx="650" cy="292"/>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sz="2800" b="1">
                  <a:latin typeface="Arial" panose="020B0604020202020204" pitchFamily="34" charset="0"/>
                </a:rPr>
                <a:t>Price</a:t>
              </a:r>
            </a:p>
          </p:txBody>
        </p:sp>
        <p:sp>
          <p:nvSpPr>
            <p:cNvPr id="20" name="Rectangle 19"/>
            <p:cNvSpPr>
              <a:spLocks noChangeArrowheads="1"/>
            </p:cNvSpPr>
            <p:nvPr/>
          </p:nvSpPr>
          <p:spPr bwMode="auto">
            <a:xfrm>
              <a:off x="1937" y="3921"/>
              <a:ext cx="2253" cy="210"/>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dirty="0" smtClean="0">
                  <a:latin typeface="Arial" panose="020B0604020202020204" pitchFamily="34" charset="0"/>
                </a:rPr>
                <a:t>Quantity  </a:t>
              </a:r>
              <a:r>
                <a:rPr lang="en-US" b="1" dirty="0">
                  <a:latin typeface="Arial" panose="020B0604020202020204" pitchFamily="34" charset="0"/>
                </a:rPr>
                <a:t>Demanded per Period</a:t>
              </a:r>
            </a:p>
          </p:txBody>
        </p:sp>
        <p:sp>
          <p:nvSpPr>
            <p:cNvPr id="21" name="Rectangle 20"/>
            <p:cNvSpPr>
              <a:spLocks noChangeArrowheads="1"/>
            </p:cNvSpPr>
            <p:nvPr/>
          </p:nvSpPr>
          <p:spPr bwMode="auto">
            <a:xfrm>
              <a:off x="2039" y="3330"/>
              <a:ext cx="1629" cy="425"/>
            </a:xfrm>
            <a:prstGeom prst="rect">
              <a:avLst/>
            </a:prstGeom>
            <a:grpFill/>
            <a:ln w="12700">
              <a:solidFill>
                <a:schemeClr val="accent1"/>
              </a:solidFill>
              <a:prstDash val="lg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2" name="Rectangle 21"/>
            <p:cNvSpPr>
              <a:spLocks noChangeArrowheads="1"/>
            </p:cNvSpPr>
            <p:nvPr/>
          </p:nvSpPr>
          <p:spPr bwMode="auto">
            <a:xfrm>
              <a:off x="2054" y="3083"/>
              <a:ext cx="399" cy="676"/>
            </a:xfrm>
            <a:prstGeom prst="rect">
              <a:avLst/>
            </a:prstGeom>
            <a:grpFill/>
            <a:ln w="12700">
              <a:solidFill>
                <a:schemeClr val="accent1"/>
              </a:solidFill>
              <a:prstDash val="lg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3" name="Rectangle 22"/>
            <p:cNvSpPr>
              <a:spLocks noChangeArrowheads="1"/>
            </p:cNvSpPr>
            <p:nvPr/>
          </p:nvSpPr>
          <p:spPr bwMode="auto">
            <a:xfrm flipH="1">
              <a:off x="1710" y="2999"/>
              <a:ext cx="291"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P’</a:t>
              </a:r>
              <a:r>
                <a:rPr lang="en-US" b="1" i="1" baseline="-25000">
                  <a:latin typeface="Arial" panose="020B0604020202020204" pitchFamily="34" charset="0"/>
                </a:rPr>
                <a:t>2</a:t>
              </a:r>
            </a:p>
          </p:txBody>
        </p:sp>
        <p:sp>
          <p:nvSpPr>
            <p:cNvPr id="24" name="Rectangle 23"/>
            <p:cNvSpPr>
              <a:spLocks noChangeArrowheads="1"/>
            </p:cNvSpPr>
            <p:nvPr/>
          </p:nvSpPr>
          <p:spPr bwMode="auto">
            <a:xfrm>
              <a:off x="1711" y="3232"/>
              <a:ext cx="291"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P’</a:t>
              </a:r>
              <a:r>
                <a:rPr lang="en-US" b="1" i="1" baseline="-25000">
                  <a:latin typeface="Arial" panose="020B0604020202020204" pitchFamily="34" charset="0"/>
                </a:rPr>
                <a:t>1</a:t>
              </a:r>
            </a:p>
          </p:txBody>
        </p:sp>
        <p:sp>
          <p:nvSpPr>
            <p:cNvPr id="25" name="Rectangle 24"/>
            <p:cNvSpPr>
              <a:spLocks noChangeArrowheads="1"/>
            </p:cNvSpPr>
            <p:nvPr/>
          </p:nvSpPr>
          <p:spPr bwMode="auto">
            <a:xfrm>
              <a:off x="3552" y="3761"/>
              <a:ext cx="267"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Q</a:t>
              </a:r>
              <a:r>
                <a:rPr lang="en-US" b="1" i="1" baseline="-25000">
                  <a:latin typeface="Arial" panose="020B0604020202020204" pitchFamily="34" charset="0"/>
                </a:rPr>
                <a:t>1</a:t>
              </a:r>
            </a:p>
          </p:txBody>
        </p:sp>
        <p:sp>
          <p:nvSpPr>
            <p:cNvPr id="26" name="Rectangle 25"/>
            <p:cNvSpPr>
              <a:spLocks noChangeArrowheads="1"/>
            </p:cNvSpPr>
            <p:nvPr/>
          </p:nvSpPr>
          <p:spPr bwMode="auto">
            <a:xfrm>
              <a:off x="2311" y="3761"/>
              <a:ext cx="267" cy="206"/>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i="1">
                  <a:latin typeface="Arial" panose="020B0604020202020204" pitchFamily="34" charset="0"/>
                </a:rPr>
                <a:t>Q</a:t>
              </a:r>
              <a:r>
                <a:rPr lang="en-US" b="1" i="1" baseline="-25000">
                  <a:latin typeface="Arial" panose="020B0604020202020204" pitchFamily="34" charset="0"/>
                </a:rPr>
                <a:t>2</a:t>
              </a:r>
            </a:p>
          </p:txBody>
        </p:sp>
        <p:sp>
          <p:nvSpPr>
            <p:cNvPr id="27" name="Rectangle 26"/>
            <p:cNvSpPr>
              <a:spLocks noChangeArrowheads="1"/>
            </p:cNvSpPr>
            <p:nvPr/>
          </p:nvSpPr>
          <p:spPr bwMode="auto">
            <a:xfrm>
              <a:off x="3024" y="2583"/>
              <a:ext cx="1920" cy="470"/>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204" tIns="39889" rIns="81204" bIns="39889">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sz="1600" b="1" dirty="0">
                  <a:latin typeface="Arial" panose="020B0604020202020204" pitchFamily="34" charset="0"/>
                </a:rPr>
                <a:t>B.  Elastic Demand -</a:t>
              </a:r>
            </a:p>
            <a:p>
              <a:pPr defTabSz="821055">
                <a:lnSpc>
                  <a:spcPct val="90000"/>
                </a:lnSpc>
              </a:pPr>
              <a:r>
                <a:rPr lang="en-US" sz="1600" b="1" dirty="0">
                  <a:latin typeface="Arial" panose="020B0604020202020204" pitchFamily="34" charset="0"/>
                </a:rPr>
                <a:t>Demand Changes Greatly </a:t>
              </a:r>
              <a:r>
                <a:rPr lang="en-US" sz="1600" b="1" dirty="0" smtClean="0">
                  <a:latin typeface="Arial" panose="020B0604020202020204" pitchFamily="34" charset="0"/>
                </a:rPr>
                <a:t>With a </a:t>
              </a:r>
              <a:r>
                <a:rPr lang="en-US" sz="1600" b="1" dirty="0">
                  <a:latin typeface="Arial" panose="020B0604020202020204" pitchFamily="34" charset="0"/>
                </a:rPr>
                <a:t>Small Change in Price.</a:t>
              </a:r>
            </a:p>
          </p:txBody>
        </p:sp>
      </p:grpSp>
      <p:sp>
        <p:nvSpPr>
          <p:cNvPr id="3" name="Rectangle 2"/>
          <p:cNvSpPr>
            <a:spLocks noGrp="1" noChangeArrowheads="1"/>
          </p:cNvSpPr>
          <p:nvPr/>
        </p:nvSpPr>
        <p:spPr bwMode="auto">
          <a:xfrm>
            <a:off x="76200" y="76200"/>
            <a:ext cx="8991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a:lstStyle>
          <a:p>
            <a:pPr>
              <a:lnSpc>
                <a:spcPct val="90000"/>
              </a:lnSpc>
            </a:pPr>
            <a:r>
              <a:rPr lang="en-US" sz="3600">
                <a:latin typeface="Arial Unicode MS" pitchFamily="34" charset="-128"/>
              </a:rPr>
              <a:t>Price Elasticity of Demand</a:t>
            </a:r>
          </a:p>
        </p:txBody>
      </p:sp>
      <p:sp>
        <p:nvSpPr>
          <p:cNvPr id="4" name="Rectangle 3"/>
          <p:cNvSpPr>
            <a:spLocks noGrp="1" noChangeArrowheads="1"/>
          </p:cNvSpPr>
          <p:nvPr/>
        </p:nvSpPr>
        <p:spPr bwMode="auto">
          <a:xfrm>
            <a:off x="304800" y="1066800"/>
            <a:ext cx="8534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9pPr>
          </a:lstStyle>
          <a:p>
            <a:pPr algn="ctr">
              <a:buFont typeface="Wingdings" panose="05000000000000000000" pitchFamily="2" charset="2"/>
              <a:buNone/>
            </a:pPr>
            <a:r>
              <a:rPr lang="en-US" sz="2400" dirty="0">
                <a:latin typeface="Arial Unicode MS" pitchFamily="34" charset="-128"/>
              </a:rPr>
              <a:t>How quantity demanded responds to price changes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838200" y="1143000"/>
            <a:ext cx="73152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0488" tIns="44450" rIns="90488" bIns="4445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9pPr>
          </a:lstStyle>
          <a:p>
            <a:pPr>
              <a:lnSpc>
                <a:spcPct val="95000"/>
              </a:lnSpc>
              <a:buClr>
                <a:schemeClr val="accent1"/>
              </a:buClr>
              <a:buSzPct val="75000"/>
            </a:pPr>
            <a:r>
              <a:rPr lang="en-US" sz="2400" b="1" dirty="0">
                <a:effectLst/>
                <a:latin typeface="Arial Unicode MS" pitchFamily="34" charset="-128"/>
                <a:cs typeface="Arial" panose="020B0604020202020204" pitchFamily="34" charset="0"/>
              </a:rPr>
              <a:t>Elastic demand</a:t>
            </a:r>
          </a:p>
          <a:p>
            <a:pPr lvl="1">
              <a:lnSpc>
                <a:spcPct val="95000"/>
              </a:lnSpc>
            </a:pPr>
            <a:r>
              <a:rPr lang="en-US" sz="2400" dirty="0">
                <a:effectLst/>
                <a:latin typeface="Arial Unicode MS" pitchFamily="34" charset="-128"/>
                <a:cs typeface="Arial" panose="020B0604020202020204" pitchFamily="34" charset="0"/>
              </a:rPr>
              <a:t>price changes affect demand</a:t>
            </a:r>
          </a:p>
          <a:p>
            <a:pPr lvl="1">
              <a:lnSpc>
                <a:spcPct val="95000"/>
              </a:lnSpc>
            </a:pPr>
            <a:r>
              <a:rPr lang="en-US" sz="2400" dirty="0">
                <a:effectLst/>
                <a:latin typeface="Arial Unicode MS" pitchFamily="34" charset="-128"/>
                <a:cs typeface="Arial" panose="020B0604020202020204" pitchFamily="34" charset="0"/>
              </a:rPr>
              <a:t>total revenue falls when price increases</a:t>
            </a:r>
          </a:p>
          <a:p>
            <a:pPr lvl="1">
              <a:lnSpc>
                <a:spcPct val="95000"/>
              </a:lnSpc>
            </a:pPr>
            <a:r>
              <a:rPr lang="en-US" sz="2400" dirty="0">
                <a:effectLst/>
                <a:latin typeface="Arial Unicode MS" pitchFamily="34" charset="-128"/>
                <a:cs typeface="Arial" panose="020B0604020202020204" pitchFamily="34" charset="0"/>
              </a:rPr>
              <a:t>total revenue increases when price </a:t>
            </a:r>
            <a:r>
              <a:rPr lang="en-US" sz="2400" dirty="0" smtClean="0">
                <a:effectLst/>
                <a:latin typeface="Arial Unicode MS" pitchFamily="34" charset="-128"/>
                <a:cs typeface="Arial" panose="020B0604020202020204" pitchFamily="34" charset="0"/>
              </a:rPr>
              <a:t>falls</a:t>
            </a:r>
          </a:p>
          <a:p>
            <a:pPr marL="457200" lvl="1" indent="0">
              <a:lnSpc>
                <a:spcPct val="95000"/>
              </a:lnSpc>
              <a:buNone/>
            </a:pPr>
            <a:endParaRPr lang="en-US" sz="2400" dirty="0">
              <a:effectLst/>
              <a:latin typeface="Arial Unicode MS" pitchFamily="34" charset="-128"/>
              <a:cs typeface="Arial" panose="020B0604020202020204" pitchFamily="34" charset="0"/>
            </a:endParaRPr>
          </a:p>
          <a:p>
            <a:pPr>
              <a:lnSpc>
                <a:spcPct val="95000"/>
              </a:lnSpc>
              <a:spcBef>
                <a:spcPct val="40000"/>
              </a:spcBef>
              <a:buClr>
                <a:schemeClr val="accent1"/>
              </a:buClr>
              <a:buSzPct val="75000"/>
            </a:pPr>
            <a:r>
              <a:rPr lang="en-US" sz="2400" b="1" dirty="0">
                <a:effectLst/>
                <a:latin typeface="Arial Unicode MS" pitchFamily="34" charset="-128"/>
                <a:cs typeface="Arial" panose="020B0604020202020204" pitchFamily="34" charset="0"/>
              </a:rPr>
              <a:t>Inelastic demand</a:t>
            </a:r>
          </a:p>
          <a:p>
            <a:pPr lvl="1">
              <a:lnSpc>
                <a:spcPct val="95000"/>
              </a:lnSpc>
            </a:pPr>
            <a:r>
              <a:rPr lang="en-US" sz="2400" dirty="0">
                <a:effectLst/>
                <a:latin typeface="Arial Unicode MS" pitchFamily="34" charset="-128"/>
                <a:cs typeface="Arial" panose="020B0604020202020204" pitchFamily="34" charset="0"/>
              </a:rPr>
              <a:t>price changes do not affect demand</a:t>
            </a:r>
          </a:p>
          <a:p>
            <a:pPr lvl="1">
              <a:lnSpc>
                <a:spcPct val="95000"/>
              </a:lnSpc>
            </a:pPr>
            <a:r>
              <a:rPr lang="en-US" sz="2400" dirty="0">
                <a:effectLst/>
                <a:latin typeface="Arial Unicode MS" pitchFamily="34" charset="-128"/>
                <a:cs typeface="Arial" panose="020B0604020202020204" pitchFamily="34" charset="0"/>
              </a:rPr>
              <a:t>total revenue increases when price increases</a:t>
            </a:r>
          </a:p>
          <a:p>
            <a:pPr lvl="1">
              <a:lnSpc>
                <a:spcPct val="95000"/>
              </a:lnSpc>
            </a:pPr>
            <a:r>
              <a:rPr lang="en-US" sz="2400" dirty="0">
                <a:effectLst/>
                <a:latin typeface="Arial Unicode MS" pitchFamily="34" charset="-128"/>
                <a:cs typeface="Arial" panose="020B0604020202020204" pitchFamily="34" charset="0"/>
              </a:rPr>
              <a:t>total revenue falls when price falls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a:xfrm>
            <a:off x="0" y="381000"/>
            <a:ext cx="9144000" cy="1143000"/>
          </a:xfrm>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0"/>
          <a:lstStyle/>
          <a:p>
            <a:pPr>
              <a:lnSpc>
                <a:spcPct val="90000"/>
              </a:lnSpc>
            </a:pPr>
            <a:r>
              <a:rPr lang="en-US" sz="3600" dirty="0">
                <a:latin typeface="Arial Unicode MS" pitchFamily="34" charset="-128"/>
                <a:cs typeface="Arial" panose="020B0604020202020204" pitchFamily="34" charset="0"/>
              </a:rPr>
              <a:t>Other environmental elements</a:t>
            </a:r>
          </a:p>
        </p:txBody>
      </p:sp>
      <p:sp>
        <p:nvSpPr>
          <p:cNvPr id="922628" name="Rectangle 4"/>
          <p:cNvSpPr>
            <a:spLocks noChangeArrowheads="1"/>
          </p:cNvSpPr>
          <p:nvPr/>
        </p:nvSpPr>
        <p:spPr bwMode="auto">
          <a:xfrm>
            <a:off x="914400" y="2362200"/>
            <a:ext cx="7239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lnSpc>
                <a:spcPct val="95000"/>
              </a:lnSpc>
              <a:spcBef>
                <a:spcPct val="40000"/>
              </a:spcBef>
              <a:buClr>
                <a:schemeClr val="accent1"/>
              </a:buClr>
              <a:buSzPct val="75000"/>
              <a:buFont typeface="Wingdings" panose="05000000000000000000" pitchFamily="2" charset="2"/>
              <a:buChar char="l"/>
            </a:pPr>
            <a:r>
              <a:rPr lang="en-US" sz="2400" dirty="0">
                <a:latin typeface="Arial Unicode MS" pitchFamily="34" charset="-128"/>
                <a:cs typeface="Arial" panose="020B0604020202020204" pitchFamily="34" charset="0"/>
              </a:rPr>
              <a:t>Economic conditions</a:t>
            </a:r>
          </a:p>
          <a:p>
            <a:pPr marL="742950" lvl="1" indent="-285750" eaLnBrk="1" hangingPunct="1">
              <a:lnSpc>
                <a:spcPct val="95000"/>
              </a:lnSpc>
              <a:spcBef>
                <a:spcPct val="20000"/>
              </a:spcBef>
              <a:buFontTx/>
              <a:buChar char="–"/>
            </a:pPr>
            <a:r>
              <a:rPr lang="en-US" sz="2400" dirty="0">
                <a:latin typeface="Arial Unicode MS" pitchFamily="34" charset="-128"/>
                <a:cs typeface="Arial" panose="020B0604020202020204" pitchFamily="34" charset="0"/>
              </a:rPr>
              <a:t>Affect production costs </a:t>
            </a:r>
          </a:p>
          <a:p>
            <a:pPr marL="742950" lvl="1" indent="-285750" eaLnBrk="1" hangingPunct="1">
              <a:lnSpc>
                <a:spcPct val="95000"/>
              </a:lnSpc>
              <a:spcBef>
                <a:spcPct val="20000"/>
              </a:spcBef>
              <a:buFontTx/>
              <a:buChar char="–"/>
            </a:pPr>
            <a:r>
              <a:rPr lang="en-US" sz="2400" dirty="0">
                <a:latin typeface="Arial Unicode MS" pitchFamily="34" charset="-128"/>
                <a:cs typeface="Arial" panose="020B0604020202020204" pitchFamily="34" charset="0"/>
              </a:rPr>
              <a:t>Affect buyer perceptions of price and value</a:t>
            </a:r>
          </a:p>
          <a:p>
            <a:pPr marL="342900" indent="-342900" eaLnBrk="1" hangingPunct="1">
              <a:lnSpc>
                <a:spcPct val="95000"/>
              </a:lnSpc>
              <a:spcBef>
                <a:spcPct val="40000"/>
              </a:spcBef>
              <a:buClr>
                <a:schemeClr val="accent1"/>
              </a:buClr>
              <a:buSzPct val="75000"/>
              <a:buFont typeface="Wingdings" panose="05000000000000000000" pitchFamily="2" charset="2"/>
              <a:buChar char="l"/>
            </a:pPr>
            <a:r>
              <a:rPr lang="en-US" sz="2400" dirty="0">
                <a:latin typeface="Arial Unicode MS" pitchFamily="34" charset="-128"/>
                <a:cs typeface="Arial" panose="020B0604020202020204" pitchFamily="34" charset="0"/>
              </a:rPr>
              <a:t>Reseller reactions to prices must be considered</a:t>
            </a:r>
          </a:p>
          <a:p>
            <a:pPr marL="342900" indent="-342900" eaLnBrk="1" hangingPunct="1">
              <a:lnSpc>
                <a:spcPct val="95000"/>
              </a:lnSpc>
              <a:spcBef>
                <a:spcPct val="40000"/>
              </a:spcBef>
              <a:buClr>
                <a:schemeClr val="accent1"/>
              </a:buClr>
              <a:buSzPct val="75000"/>
              <a:buFont typeface="Wingdings" panose="05000000000000000000" pitchFamily="2" charset="2"/>
              <a:buChar char="l"/>
            </a:pPr>
            <a:r>
              <a:rPr lang="en-US" sz="2400" dirty="0">
                <a:latin typeface="Arial Unicode MS" pitchFamily="34" charset="-128"/>
                <a:cs typeface="Arial" panose="020B0604020202020204" pitchFamily="34" charset="0"/>
              </a:rPr>
              <a:t>Government may restrict or limit pricing options</a:t>
            </a:r>
          </a:p>
          <a:p>
            <a:pPr marL="342900" indent="-342900" eaLnBrk="1" hangingPunct="1">
              <a:lnSpc>
                <a:spcPct val="95000"/>
              </a:lnSpc>
              <a:spcBef>
                <a:spcPct val="40000"/>
              </a:spcBef>
              <a:buClr>
                <a:schemeClr val="accent1"/>
              </a:buClr>
              <a:buSzPct val="75000"/>
              <a:buFont typeface="Wingdings" panose="05000000000000000000" pitchFamily="2" charset="2"/>
              <a:buChar char="l"/>
            </a:pPr>
            <a:r>
              <a:rPr lang="en-US" sz="2400" dirty="0">
                <a:latin typeface="Arial Unicode MS" pitchFamily="34" charset="-128"/>
                <a:cs typeface="Arial" panose="020B0604020202020204" pitchFamily="34" charset="0"/>
              </a:rPr>
              <a:t>Social considerations may be taken into account</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4"/>
          <p:cNvSpPr>
            <a:spLocks noChangeArrowheads="1"/>
          </p:cNvSpPr>
          <p:nvPr/>
        </p:nvSpPr>
        <p:spPr bwMode="auto">
          <a:xfrm>
            <a:off x="-3725863" y="21145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endParaRPr lang="en-US" i="0"/>
          </a:p>
        </p:txBody>
      </p:sp>
      <p:pic>
        <p:nvPicPr>
          <p:cNvPr id="43011" name="Picture 5" descr="cid:3287383400_21775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71550"/>
            <a:ext cx="8126413" cy="2747963"/>
          </a:xfrm>
          <a:prstGeom prst="rect">
            <a:avLst/>
          </a:prstGeom>
          <a:solidFill>
            <a:schemeClr val="hlink"/>
          </a:solidFill>
          <a:ln w="9525">
            <a:solidFill>
              <a:schemeClr val="bg1"/>
            </a:solidFill>
            <a:miter lim="800000"/>
            <a:headEnd/>
            <a:tailEnd/>
          </a:ln>
        </p:spPr>
      </p:pic>
      <p:sp>
        <p:nvSpPr>
          <p:cNvPr id="43012" name="Rectangle 6"/>
          <p:cNvSpPr>
            <a:spLocks noChangeArrowheads="1"/>
          </p:cNvSpPr>
          <p:nvPr/>
        </p:nvSpPr>
        <p:spPr bwMode="auto">
          <a:xfrm>
            <a:off x="708025" y="3894138"/>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lgn="ctr"/>
            <a:r>
              <a:rPr lang="en-US" sz="1600" i="0">
                <a:solidFill>
                  <a:srgbClr val="000000"/>
                </a:solidFill>
                <a:cs typeface="Times New Roman" panose="02020603050405020304"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327650"/>
            <a:ext cx="7845425" cy="636588"/>
          </a:xfrm>
          <a:prstGeom prst="rect">
            <a:avLst/>
          </a:prstGeom>
          <a:noFill/>
          <a:ln>
            <a:miter lim="800000"/>
          </a:ln>
        </p:spPr>
        <p:txBody>
          <a:bodyPr anchor="b"/>
          <a:lstStyle>
            <a:lvl1pPr eaLnBrk="0" hangingPunct="0">
              <a:defRPr sz="2400" i="1">
                <a:solidFill>
                  <a:schemeClr val="tx1"/>
                </a:solidFill>
                <a:latin typeface="Arial" panose="020B0604020202020204" pitchFamily="34" charset="0"/>
                <a:ea typeface="ヒラギノ角ゴ Pro W3" charset="-128"/>
              </a:defRPr>
            </a:lvl1pPr>
            <a:lvl2pPr marL="37931725" indent="-37474525" eaLnBrk="0" hangingPunct="0">
              <a:defRPr sz="2400" i="1">
                <a:solidFill>
                  <a:schemeClr val="tx1"/>
                </a:solidFill>
                <a:latin typeface="Arial" panose="020B0604020202020204" pitchFamily="34" charset="0"/>
                <a:ea typeface="ヒラギノ角ゴ Pro W3" charset="-128"/>
              </a:defRPr>
            </a:lvl2pPr>
            <a:lvl3pPr eaLnBrk="0" hangingPunct="0">
              <a:defRPr sz="2400" i="1">
                <a:solidFill>
                  <a:schemeClr val="tx1"/>
                </a:solidFill>
                <a:latin typeface="Arial" panose="020B0604020202020204" pitchFamily="34" charset="0"/>
                <a:ea typeface="ヒラギノ角ゴ Pro W3" charset="-128"/>
              </a:defRPr>
            </a:lvl3pPr>
            <a:lvl4pPr eaLnBrk="0" hangingPunct="0">
              <a:defRPr sz="2400" i="1">
                <a:solidFill>
                  <a:schemeClr val="tx1"/>
                </a:solidFill>
                <a:latin typeface="Arial" panose="020B0604020202020204" pitchFamily="34" charset="0"/>
                <a:ea typeface="ヒラギノ角ゴ Pro W3" charset="-128"/>
              </a:defRPr>
            </a:lvl4pPr>
            <a:lvl5pPr eaLnBrk="0" hangingPunct="0">
              <a:defRPr sz="2400" i="1">
                <a:solidFill>
                  <a:schemeClr val="tx1"/>
                </a:solidFill>
                <a:latin typeface="Arial" panose="020B0604020202020204" pitchFamily="34" charset="0"/>
                <a:ea typeface="ヒラギノ角ゴ Pro W3" charset="-128"/>
              </a:defRPr>
            </a:lvl5pPr>
            <a:lvl6pPr marL="457200" eaLnBrk="0" fontAlgn="base" hangingPunct="0">
              <a:spcBef>
                <a:spcPct val="0"/>
              </a:spcBef>
              <a:spcAft>
                <a:spcPct val="0"/>
              </a:spcAft>
              <a:defRPr sz="2400" i="1">
                <a:solidFill>
                  <a:schemeClr val="tx1"/>
                </a:solidFill>
                <a:latin typeface="Arial" panose="020B0604020202020204" pitchFamily="34" charset="0"/>
                <a:ea typeface="ヒラギノ角ゴ Pro W3" charset="-128"/>
              </a:defRPr>
            </a:lvl6pPr>
            <a:lvl7pPr marL="914400" eaLnBrk="0" fontAlgn="base" hangingPunct="0">
              <a:spcBef>
                <a:spcPct val="0"/>
              </a:spcBef>
              <a:spcAft>
                <a:spcPct val="0"/>
              </a:spcAft>
              <a:defRPr sz="2400" i="1">
                <a:solidFill>
                  <a:schemeClr val="tx1"/>
                </a:solidFill>
                <a:latin typeface="Arial" panose="020B0604020202020204" pitchFamily="34" charset="0"/>
                <a:ea typeface="ヒラギノ角ゴ Pro W3" charset="-128"/>
              </a:defRPr>
            </a:lvl7pPr>
            <a:lvl8pPr marL="1371600" eaLnBrk="0" fontAlgn="base" hangingPunct="0">
              <a:spcBef>
                <a:spcPct val="0"/>
              </a:spcBef>
              <a:spcAft>
                <a:spcPct val="0"/>
              </a:spcAft>
              <a:defRPr sz="2400" i="1">
                <a:solidFill>
                  <a:schemeClr val="tx1"/>
                </a:solidFill>
                <a:latin typeface="Arial" panose="020B0604020202020204" pitchFamily="34" charset="0"/>
                <a:ea typeface="ヒラギノ角ゴ Pro W3" charset="-128"/>
              </a:defRPr>
            </a:lvl8pPr>
            <a:lvl9pPr marL="1828800" eaLnBrk="0" fontAlgn="base" hangingPunct="0">
              <a:spcBef>
                <a:spcPct val="0"/>
              </a:spcBef>
              <a:spcAft>
                <a:spcPct val="0"/>
              </a:spcAft>
              <a:defRPr sz="2400" i="1">
                <a:solidFill>
                  <a:schemeClr val="tx1"/>
                </a:solidFill>
                <a:latin typeface="Arial" panose="020B0604020202020204" pitchFamily="34" charset="0"/>
                <a:ea typeface="ヒラギノ角ゴ Pro W3" charset="-128"/>
              </a:defRPr>
            </a:lvl9pPr>
          </a:lstStyle>
          <a:p>
            <a:pPr algn="ctr" eaLnBrk="1" hangingPunct="1">
              <a:defRPr/>
            </a:pPr>
            <a:r>
              <a:rPr lang="en-US" sz="1800" i="0" smtClean="0">
                <a:solidFill>
                  <a:srgbClr val="000000"/>
                </a:solidFill>
                <a:effectLst>
                  <a:outerShdw blurRad="38100" dist="38100" dir="2700000" algn="tl">
                    <a:srgbClr val="C0C0C0"/>
                  </a:outerShdw>
                </a:effectLst>
              </a:rPr>
              <a:t>Copyright © 2010 Pearson Education, Inc.  </a:t>
            </a:r>
          </a:p>
          <a:p>
            <a:pPr algn="ctr" eaLnBrk="1" hangingPunct="1">
              <a:defRPr/>
            </a:pPr>
            <a:r>
              <a:rPr lang="en-US" sz="1800" i="0" smtClean="0">
                <a:solidFill>
                  <a:srgbClr val="000000"/>
                </a:solidFill>
                <a:effectLst>
                  <a:outerShdw blurRad="38100" dist="38100" dir="2700000" algn="tl">
                    <a:srgbClr val="C0C0C0"/>
                  </a:outerShdw>
                </a:effectLst>
              </a:rPr>
              <a:t>Publishing as Prentice Hall</a:t>
            </a: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Hardcover</Template>
  <TotalTime>5</TotalTime>
  <Words>1262</Words>
  <Application>Microsoft Office PowerPoint</Application>
  <PresentationFormat>On-screen Show (4:3)</PresentationFormat>
  <Paragraphs>231</Paragraphs>
  <Slides>30</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 Unicode MS</vt:lpstr>
      <vt:lpstr>Arial</vt:lpstr>
      <vt:lpstr>Book Antiqua</vt:lpstr>
      <vt:lpstr>Calibri</vt:lpstr>
      <vt:lpstr>Times New Roman</vt:lpstr>
      <vt:lpstr>Verdana</vt:lpstr>
      <vt:lpstr>Wingdings</vt:lpstr>
      <vt:lpstr>ヒラギノ角ゴ Pro W3</vt:lpstr>
      <vt:lpstr>Hardcover</vt:lpstr>
      <vt:lpstr>Principles of Marketing</vt:lpstr>
      <vt:lpstr>PowerPoint Presentation</vt:lpstr>
      <vt:lpstr>PowerPoint Presentation</vt:lpstr>
      <vt:lpstr>PowerPoint Presentation</vt:lpstr>
      <vt:lpstr>Definition</vt:lpstr>
      <vt:lpstr>PowerPoint Presentation</vt:lpstr>
      <vt:lpstr>Customer Perceptions of Value</vt:lpstr>
      <vt:lpstr>Cost-based pricing Vs. Value-based pricing</vt:lpstr>
      <vt:lpstr>PowerPoint Presentation</vt:lpstr>
      <vt:lpstr>Cost-based pricing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Costs</vt:lpstr>
      <vt:lpstr>Types of Cost Factors that Affect Pricing Decisions</vt:lpstr>
      <vt:lpstr>PowerPoint Presentation</vt:lpstr>
      <vt:lpstr>Break-Even Analysis and Target Profit Pricing</vt:lpstr>
      <vt:lpstr>Break-even Analysis &amp; Target Profit Pricing</vt:lpstr>
      <vt:lpstr>PowerPoint Presentation</vt:lpstr>
      <vt:lpstr>The Market and Demand factors that affect Pricing decisions</vt:lpstr>
      <vt:lpstr>Price-Demand Relationship</vt:lpstr>
      <vt:lpstr>PowerPoint Presentation</vt:lpstr>
      <vt:lpstr>PowerPoint Presentation</vt:lpstr>
      <vt:lpstr>Other environmental elements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Marketing</dc:title>
  <dc:creator>ALI</dc:creator>
  <cp:lastModifiedBy>Sonic</cp:lastModifiedBy>
  <cp:revision>30</cp:revision>
  <dcterms:created xsi:type="dcterms:W3CDTF">2006-08-16T00:00:00Z</dcterms:created>
  <dcterms:modified xsi:type="dcterms:W3CDTF">2023-12-05T10:32:52Z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1033-11.2.0.9070</vt:lpwstr>
  </property>
</Properties>
</file>
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031" autoAdjust="0"/>
  </p:normalViewPr>
  <p:slideViewPr>
    <p:cSldViewPr snapToGrid="0">
      <p:cViewPr varScale="1">
        <p:scale>
          <a:sx n="45" d="100"/>
          <a:sy n="45" d="100"/>
        </p:scale>
        <p:origin x="7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B77490-6EA0-4084-B733-BC47CCA4C9E0}" type="doc">
      <dgm:prSet loTypeId="urn:microsoft.com/office/officeart/2005/8/layout/vList5" loCatId="list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CB86FC75-0917-49FD-B4B4-7E01D8280802}">
      <dgm:prSet phldr="0" custT="0"/>
      <dgm:spPr/>
      <dgm:t>
        <a:bodyPr vert="horz" wrap="square"/>
        <a:lstStyle/>
        <a:p>
          <a:pPr algn="ctr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0" dirty="0">
              <a:solidFill>
                <a:schemeClr val="tx1"/>
              </a:solidFill>
            </a:rPr>
            <a:t>Consumer products</a:t>
          </a:r>
          <a:endParaRPr/>
        </a:p>
      </dgm:t>
    </dgm:pt>
    <dgm:pt modelId="{F10B7D13-38C6-404F-A68C-38404786EB8D}" type="parTrans" cxnId="{0B7337D7-CCEF-495F-BD53-36712452AC26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87CCDF1-F3E8-4859-99F7-0BD8585B5740}" type="sibTrans" cxnId="{0B7337D7-CCEF-495F-BD53-36712452AC26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F2B8F93-4FE0-4798-88B0-3333A8D807FB}">
      <dgm:prSet phldr="0" custT="0"/>
      <dgm:spPr/>
      <dgm:t>
        <a:bodyPr vert="horz" wrap="square"/>
        <a:lstStyle/>
        <a:p>
          <a:pPr algn="ctr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0" dirty="0">
              <a:solidFill>
                <a:schemeClr val="tx1"/>
              </a:solidFill>
            </a:rPr>
            <a:t>Industrial products</a:t>
          </a:r>
          <a:endParaRPr lang="en-US" dirty="0">
            <a:solidFill>
              <a:schemeClr val="tx1"/>
            </a:solidFill>
          </a:endParaRPr>
        </a:p>
      </dgm:t>
    </dgm:pt>
    <dgm:pt modelId="{D463C68D-CF09-4B65-8DE0-AF417932DE82}" type="parTrans" cxnId="{1415F4D8-9F33-49C6-ACBB-A088994E1B5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C21049B-B60B-461D-B5A1-E43AAFC5C143}" type="sibTrans" cxnId="{1415F4D8-9F33-49C6-ACBB-A088994E1B5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ACA2342-33CB-4114-9EBE-393BA601503A}" type="pres">
      <dgm:prSet presAssocID="{DCB77490-6EA0-4084-B733-BC47CCA4C9E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2A19134-EF2A-4CE8-BB3F-7E3746D926AC}" type="pres">
      <dgm:prSet presAssocID="{CB86FC75-0917-49FD-B4B4-7E01D8280802}" presName="linNode" presStyleCnt="0"/>
      <dgm:spPr/>
    </dgm:pt>
    <dgm:pt modelId="{A988610D-E6F0-44CD-BA44-510A327D1277}" type="pres">
      <dgm:prSet presAssocID="{CB86FC75-0917-49FD-B4B4-7E01D8280802}" presName="parentText" presStyleLbl="node1" presStyleIdx="0" presStyleCnt="2" custScaleX="27777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BE215B-D69D-4BB1-B85E-153930C1F82E}" type="pres">
      <dgm:prSet presAssocID="{887CCDF1-F3E8-4859-99F7-0BD8585B5740}" presName="sp" presStyleCnt="0"/>
      <dgm:spPr/>
    </dgm:pt>
    <dgm:pt modelId="{8581CEEE-5924-4C2F-859A-6A36BD243622}" type="pres">
      <dgm:prSet presAssocID="{4F2B8F93-4FE0-4798-88B0-3333A8D807FB}" presName="linNode" presStyleCnt="0"/>
      <dgm:spPr/>
    </dgm:pt>
    <dgm:pt modelId="{DBEB94D2-B4C6-4D99-B28D-BB748F79D2A9}" type="pres">
      <dgm:prSet presAssocID="{4F2B8F93-4FE0-4798-88B0-3333A8D807FB}" presName="parentText" presStyleLbl="node1" presStyleIdx="1" presStyleCnt="2" custScaleX="27777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62A7F87-39A2-4B5E-8EFF-8D5DA83329DB}" type="presOf" srcId="{CB86FC75-0917-49FD-B4B4-7E01D8280802}" destId="{A988610D-E6F0-44CD-BA44-510A327D1277}" srcOrd="0" destOrd="0" presId="urn:microsoft.com/office/officeart/2005/8/layout/vList5"/>
    <dgm:cxn modelId="{1415F4D8-9F33-49C6-ACBB-A088994E1B5B}" srcId="{DCB77490-6EA0-4084-B733-BC47CCA4C9E0}" destId="{4F2B8F93-4FE0-4798-88B0-3333A8D807FB}" srcOrd="1" destOrd="0" parTransId="{D463C68D-CF09-4B65-8DE0-AF417932DE82}" sibTransId="{0C21049B-B60B-461D-B5A1-E43AAFC5C143}"/>
    <dgm:cxn modelId="{3F51C4F7-01E2-4AFE-B90C-9A93F613EA67}" type="presOf" srcId="{DCB77490-6EA0-4084-B733-BC47CCA4C9E0}" destId="{BACA2342-33CB-4114-9EBE-393BA601503A}" srcOrd="0" destOrd="0" presId="urn:microsoft.com/office/officeart/2005/8/layout/vList5"/>
    <dgm:cxn modelId="{0B7337D7-CCEF-495F-BD53-36712452AC26}" srcId="{DCB77490-6EA0-4084-B733-BC47CCA4C9E0}" destId="{CB86FC75-0917-49FD-B4B4-7E01D8280802}" srcOrd="0" destOrd="0" parTransId="{F10B7D13-38C6-404F-A68C-38404786EB8D}" sibTransId="{887CCDF1-F3E8-4859-99F7-0BD8585B5740}"/>
    <dgm:cxn modelId="{E7BB74DF-E6D5-4849-8FC6-82FE5FE86180}" type="presOf" srcId="{4F2B8F93-4FE0-4798-88B0-3333A8D807FB}" destId="{DBEB94D2-B4C6-4D99-B28D-BB748F79D2A9}" srcOrd="0" destOrd="0" presId="urn:microsoft.com/office/officeart/2005/8/layout/vList5"/>
    <dgm:cxn modelId="{A431FDD1-67FC-4835-830B-A3E95F412657}" type="presParOf" srcId="{BACA2342-33CB-4114-9EBE-393BA601503A}" destId="{B2A19134-EF2A-4CE8-BB3F-7E3746D926AC}" srcOrd="0" destOrd="0" presId="urn:microsoft.com/office/officeart/2005/8/layout/vList5"/>
    <dgm:cxn modelId="{CDA648A2-F9F1-42C3-9CC4-B55CB8F2E2A9}" type="presParOf" srcId="{B2A19134-EF2A-4CE8-BB3F-7E3746D926AC}" destId="{A988610D-E6F0-44CD-BA44-510A327D1277}" srcOrd="0" destOrd="0" presId="urn:microsoft.com/office/officeart/2005/8/layout/vList5"/>
    <dgm:cxn modelId="{04B6A294-AA1E-4AA5-B00C-AF2E1B97509F}" type="presParOf" srcId="{BACA2342-33CB-4114-9EBE-393BA601503A}" destId="{77BE215B-D69D-4BB1-B85E-153930C1F82E}" srcOrd="1" destOrd="0" presId="urn:microsoft.com/office/officeart/2005/8/layout/vList5"/>
    <dgm:cxn modelId="{D56353B4-2E84-4BE2-8CE6-C9AC3968024E}" type="presParOf" srcId="{BACA2342-33CB-4114-9EBE-393BA601503A}" destId="{8581CEEE-5924-4C2F-859A-6A36BD243622}" srcOrd="2" destOrd="0" presId="urn:microsoft.com/office/officeart/2005/8/layout/vList5"/>
    <dgm:cxn modelId="{85037C59-A8E4-4C0E-820F-D9C5F3346879}" type="presParOf" srcId="{8581CEEE-5924-4C2F-859A-6A36BD243622}" destId="{DBEB94D2-B4C6-4D99-B28D-BB748F79D2A9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17F7BB-0254-4E35-9A57-DD64379A4F2F}" type="doc">
      <dgm:prSet loTypeId="urn:microsoft.com/office/officeart/2005/8/layout/process3#1" loCatId="process" qsTypeId="urn:microsoft.com/office/officeart/2005/8/quickstyle/simple4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2092BE02-09C6-4B25-A915-89851842AA72}">
      <dgm:prSet phldrT="[Text]" custT="1"/>
      <dgm:spPr/>
      <dgm:t>
        <a:bodyPr/>
        <a:lstStyle/>
        <a:p>
          <a:r>
            <a:rPr lang="en-US" sz="1050" dirty="0"/>
            <a:t>Brand positioning</a:t>
          </a:r>
        </a:p>
      </dgm:t>
    </dgm:pt>
    <dgm:pt modelId="{980ABE75-F25A-4C3B-97C5-AA1A48D87EDD}" type="parTrans" cxnId="{C2E39C9E-6568-47A5-A9C4-B847909C95F5}">
      <dgm:prSet/>
      <dgm:spPr/>
      <dgm:t>
        <a:bodyPr/>
        <a:lstStyle/>
        <a:p>
          <a:endParaRPr lang="en-US"/>
        </a:p>
      </dgm:t>
    </dgm:pt>
    <dgm:pt modelId="{FD23803C-F79C-4DCA-A72F-0EBCB485EB3A}" type="sibTrans" cxnId="{C2E39C9E-6568-47A5-A9C4-B847909C95F5}">
      <dgm:prSet/>
      <dgm:spPr/>
      <dgm:t>
        <a:bodyPr/>
        <a:lstStyle/>
        <a:p>
          <a:endParaRPr lang="en-US"/>
        </a:p>
      </dgm:t>
    </dgm:pt>
    <dgm:pt modelId="{6CEAF708-2AD9-4BD5-AA03-3DAE71BDE7BD}">
      <dgm:prSet phldrT="[Text]" custT="1"/>
      <dgm:spPr/>
      <dgm:t>
        <a:bodyPr/>
        <a:lstStyle/>
        <a:p>
          <a:r>
            <a:rPr lang="en-US" sz="1050" dirty="0"/>
            <a:t>Brand Sponsorship</a:t>
          </a:r>
        </a:p>
      </dgm:t>
    </dgm:pt>
    <dgm:pt modelId="{B139FC5C-FB50-4BBE-A82B-1C77F39F1D26}" type="parTrans" cxnId="{50272FB1-357D-4DD5-9F8F-846EAB238AD4}">
      <dgm:prSet/>
      <dgm:spPr/>
      <dgm:t>
        <a:bodyPr/>
        <a:lstStyle/>
        <a:p>
          <a:endParaRPr lang="en-US"/>
        </a:p>
      </dgm:t>
    </dgm:pt>
    <dgm:pt modelId="{5A4F3D34-30A2-48EF-9F66-E5DB65A07CDF}" type="sibTrans" cxnId="{50272FB1-357D-4DD5-9F8F-846EAB238AD4}">
      <dgm:prSet/>
      <dgm:spPr/>
      <dgm:t>
        <a:bodyPr/>
        <a:lstStyle/>
        <a:p>
          <a:endParaRPr lang="en-US"/>
        </a:p>
      </dgm:t>
    </dgm:pt>
    <dgm:pt modelId="{CD7C3980-765C-4BAE-95E5-072322B692B1}">
      <dgm:prSet phldrT="[Text]" custT="1"/>
      <dgm:spPr/>
      <dgm:t>
        <a:bodyPr/>
        <a:lstStyle/>
        <a:p>
          <a:r>
            <a:rPr lang="en-US" sz="1050" dirty="0"/>
            <a:t>Manufacturer’s brand</a:t>
          </a:r>
        </a:p>
      </dgm:t>
    </dgm:pt>
    <dgm:pt modelId="{5A4C7A31-9C11-4EEB-8505-AF45E624BAEB}" type="parTrans" cxnId="{4ED67DD4-502A-4167-8DF1-D838DAD79E1A}">
      <dgm:prSet/>
      <dgm:spPr/>
      <dgm:t>
        <a:bodyPr/>
        <a:lstStyle/>
        <a:p>
          <a:endParaRPr lang="en-US"/>
        </a:p>
      </dgm:t>
    </dgm:pt>
    <dgm:pt modelId="{787D09D0-0AB2-4BF5-A614-2F6E811E66D4}" type="sibTrans" cxnId="{4ED67DD4-502A-4167-8DF1-D838DAD79E1A}">
      <dgm:prSet/>
      <dgm:spPr/>
      <dgm:t>
        <a:bodyPr/>
        <a:lstStyle/>
        <a:p>
          <a:endParaRPr lang="en-US"/>
        </a:p>
      </dgm:t>
    </dgm:pt>
    <dgm:pt modelId="{D30CF0C9-1334-48E1-BA31-AFCCCB22A002}">
      <dgm:prSet phldrT="[Text]" custT="1"/>
      <dgm:spPr/>
      <dgm:t>
        <a:bodyPr/>
        <a:lstStyle/>
        <a:p>
          <a:r>
            <a:rPr lang="en-US" sz="1050" dirty="0"/>
            <a:t>Brand Development</a:t>
          </a:r>
        </a:p>
      </dgm:t>
    </dgm:pt>
    <dgm:pt modelId="{DD1885B0-661B-4CA0-9B23-3A6496D527E7}" type="parTrans" cxnId="{67DA9878-6A9C-4245-B5F6-0A8DEBD70E77}">
      <dgm:prSet/>
      <dgm:spPr/>
      <dgm:t>
        <a:bodyPr/>
        <a:lstStyle/>
        <a:p>
          <a:endParaRPr lang="en-US"/>
        </a:p>
      </dgm:t>
    </dgm:pt>
    <dgm:pt modelId="{F4F13F8C-9920-4273-8020-3BF0B8F52684}" type="sibTrans" cxnId="{67DA9878-6A9C-4245-B5F6-0A8DEBD70E77}">
      <dgm:prSet/>
      <dgm:spPr/>
      <dgm:t>
        <a:bodyPr/>
        <a:lstStyle/>
        <a:p>
          <a:endParaRPr lang="en-US"/>
        </a:p>
      </dgm:t>
    </dgm:pt>
    <dgm:pt modelId="{141A1DFA-8BF7-4C16-BCD7-71086076F740}">
      <dgm:prSet phldrT="[Text]" custT="1"/>
      <dgm:spPr/>
      <dgm:t>
        <a:bodyPr/>
        <a:lstStyle/>
        <a:p>
          <a:r>
            <a:rPr lang="en-US" sz="1000" dirty="0"/>
            <a:t>Line extension</a:t>
          </a:r>
        </a:p>
      </dgm:t>
    </dgm:pt>
    <dgm:pt modelId="{5E9371C2-24B5-4730-B59A-CB9D3750501B}" type="parTrans" cxnId="{E13068AD-72F8-4FEC-961A-B05AA2D90E6C}">
      <dgm:prSet/>
      <dgm:spPr/>
      <dgm:t>
        <a:bodyPr/>
        <a:lstStyle/>
        <a:p>
          <a:endParaRPr lang="en-US"/>
        </a:p>
      </dgm:t>
    </dgm:pt>
    <dgm:pt modelId="{7959BC66-3AB5-4071-A206-86E775061EC4}" type="sibTrans" cxnId="{E13068AD-72F8-4FEC-961A-B05AA2D90E6C}">
      <dgm:prSet/>
      <dgm:spPr/>
      <dgm:t>
        <a:bodyPr/>
        <a:lstStyle/>
        <a:p>
          <a:endParaRPr lang="en-US"/>
        </a:p>
      </dgm:t>
    </dgm:pt>
    <dgm:pt modelId="{17AB47DF-65C5-4B17-8C69-C00B842286AA}">
      <dgm:prSet phldrT="[Text]" custT="1"/>
      <dgm:spPr/>
      <dgm:t>
        <a:bodyPr/>
        <a:lstStyle/>
        <a:p>
          <a:r>
            <a:rPr lang="en-US" sz="1050" dirty="0"/>
            <a:t>Brand name selection</a:t>
          </a:r>
        </a:p>
      </dgm:t>
    </dgm:pt>
    <dgm:pt modelId="{750B4F07-7B1E-4480-8BF7-F045EB1FF194}" type="parTrans" cxnId="{E3AB213E-23D2-4854-8442-8D6BA044AEED}">
      <dgm:prSet/>
      <dgm:spPr/>
      <dgm:t>
        <a:bodyPr/>
        <a:lstStyle/>
        <a:p>
          <a:endParaRPr lang="en-US"/>
        </a:p>
      </dgm:t>
    </dgm:pt>
    <dgm:pt modelId="{F7E6EB56-D6C6-464F-AF5E-BFCB3ACAC05A}" type="sibTrans" cxnId="{E3AB213E-23D2-4854-8442-8D6BA044AEED}">
      <dgm:prSet/>
      <dgm:spPr/>
      <dgm:t>
        <a:bodyPr/>
        <a:lstStyle/>
        <a:p>
          <a:endParaRPr lang="en-US"/>
        </a:p>
      </dgm:t>
    </dgm:pt>
    <dgm:pt modelId="{606D7156-9292-4495-89E8-60CA46FCE767}">
      <dgm:prSet phldrT="[Text]" custT="1"/>
      <dgm:spPr/>
      <dgm:t>
        <a:bodyPr/>
        <a:lstStyle/>
        <a:p>
          <a:r>
            <a:rPr lang="en-US" sz="1000" dirty="0"/>
            <a:t>Brand extension</a:t>
          </a:r>
        </a:p>
      </dgm:t>
    </dgm:pt>
    <dgm:pt modelId="{D54AF1E4-A29B-4B26-AEE4-9899430C56F0}" type="parTrans" cxnId="{C934A8D6-45DB-4105-AFF8-56E62D215C24}">
      <dgm:prSet/>
      <dgm:spPr/>
      <dgm:t>
        <a:bodyPr/>
        <a:lstStyle/>
        <a:p>
          <a:endParaRPr lang="en-US"/>
        </a:p>
      </dgm:t>
    </dgm:pt>
    <dgm:pt modelId="{8543D927-D12E-4F64-B866-91329F3A5E01}" type="sibTrans" cxnId="{C934A8D6-45DB-4105-AFF8-56E62D215C24}">
      <dgm:prSet/>
      <dgm:spPr/>
      <dgm:t>
        <a:bodyPr/>
        <a:lstStyle/>
        <a:p>
          <a:endParaRPr lang="en-US"/>
        </a:p>
      </dgm:t>
    </dgm:pt>
    <dgm:pt modelId="{F7B1042C-430E-48E3-9014-2F26431227D1}">
      <dgm:prSet phldrT="[Text]" custT="1"/>
      <dgm:spPr/>
      <dgm:t>
        <a:bodyPr/>
        <a:lstStyle/>
        <a:p>
          <a:r>
            <a:rPr lang="en-US" sz="1000" dirty="0"/>
            <a:t>Multibrands</a:t>
          </a:r>
        </a:p>
      </dgm:t>
    </dgm:pt>
    <dgm:pt modelId="{099B6045-2DB6-493A-878A-A025F77FEBFA}" type="parTrans" cxnId="{97D9EB7C-27DE-4934-BDBA-779BC4719E78}">
      <dgm:prSet/>
      <dgm:spPr/>
      <dgm:t>
        <a:bodyPr/>
        <a:lstStyle/>
        <a:p>
          <a:endParaRPr lang="en-US"/>
        </a:p>
      </dgm:t>
    </dgm:pt>
    <dgm:pt modelId="{B74CA904-37DB-4A12-9A8F-F3AB25445237}" type="sibTrans" cxnId="{97D9EB7C-27DE-4934-BDBA-779BC4719E78}">
      <dgm:prSet/>
      <dgm:spPr/>
      <dgm:t>
        <a:bodyPr/>
        <a:lstStyle/>
        <a:p>
          <a:endParaRPr lang="en-US"/>
        </a:p>
      </dgm:t>
    </dgm:pt>
    <dgm:pt modelId="{8D480D37-CE3A-4A05-8FBF-79F8CC94840D}">
      <dgm:prSet phldrT="[Text]" custT="1"/>
      <dgm:spPr/>
      <dgm:t>
        <a:bodyPr/>
        <a:lstStyle/>
        <a:p>
          <a:r>
            <a:rPr lang="en-US" sz="1000" dirty="0"/>
            <a:t>New Brands</a:t>
          </a:r>
        </a:p>
      </dgm:t>
    </dgm:pt>
    <dgm:pt modelId="{48CFA9A0-8123-48CB-B309-29D6BEF03692}" type="parTrans" cxnId="{A8CC5230-E795-446E-A436-A36542E3DAD8}">
      <dgm:prSet/>
      <dgm:spPr/>
      <dgm:t>
        <a:bodyPr/>
        <a:lstStyle/>
        <a:p>
          <a:endParaRPr lang="en-US"/>
        </a:p>
      </dgm:t>
    </dgm:pt>
    <dgm:pt modelId="{7F018E45-E740-4BAE-ACAD-A9CA00FC916F}" type="sibTrans" cxnId="{A8CC5230-E795-446E-A436-A36542E3DAD8}">
      <dgm:prSet/>
      <dgm:spPr/>
      <dgm:t>
        <a:bodyPr/>
        <a:lstStyle/>
        <a:p>
          <a:endParaRPr lang="en-US"/>
        </a:p>
      </dgm:t>
    </dgm:pt>
    <dgm:pt modelId="{9B05EBD7-584F-4701-84F3-DF144037E90B}">
      <dgm:prSet phldrT="[Text]" custT="1"/>
      <dgm:spPr/>
      <dgm:t>
        <a:bodyPr/>
        <a:lstStyle/>
        <a:p>
          <a:r>
            <a:rPr lang="en-US" sz="1050" dirty="0"/>
            <a:t>Private brands</a:t>
          </a:r>
        </a:p>
      </dgm:t>
    </dgm:pt>
    <dgm:pt modelId="{713A4248-15A3-4F26-BC2D-43BDEA2028F7}" type="parTrans" cxnId="{A7DB9972-4C50-4A5A-9C25-D8E385805DA2}">
      <dgm:prSet/>
      <dgm:spPr/>
      <dgm:t>
        <a:bodyPr/>
        <a:lstStyle/>
        <a:p>
          <a:endParaRPr lang="en-US"/>
        </a:p>
      </dgm:t>
    </dgm:pt>
    <dgm:pt modelId="{79A674C8-6023-4412-B35C-8C2CDFD2B572}" type="sibTrans" cxnId="{A7DB9972-4C50-4A5A-9C25-D8E385805DA2}">
      <dgm:prSet/>
      <dgm:spPr/>
      <dgm:t>
        <a:bodyPr/>
        <a:lstStyle/>
        <a:p>
          <a:endParaRPr lang="en-US"/>
        </a:p>
      </dgm:t>
    </dgm:pt>
    <dgm:pt modelId="{4337FC15-754A-4EBD-BB04-326DDE3ADAAA}">
      <dgm:prSet phldrT="[Text]" custT="1"/>
      <dgm:spPr/>
      <dgm:t>
        <a:bodyPr/>
        <a:lstStyle/>
        <a:p>
          <a:r>
            <a:rPr lang="en-US" sz="1050" dirty="0"/>
            <a:t>Licensing </a:t>
          </a:r>
        </a:p>
      </dgm:t>
    </dgm:pt>
    <dgm:pt modelId="{055E19D3-05D2-45E6-B4ED-12B7EE8F2EE9}" type="parTrans" cxnId="{C31E5FE4-C412-4BBD-84F7-5A8F82D810DD}">
      <dgm:prSet/>
      <dgm:spPr/>
      <dgm:t>
        <a:bodyPr/>
        <a:lstStyle/>
        <a:p>
          <a:endParaRPr lang="en-US"/>
        </a:p>
      </dgm:t>
    </dgm:pt>
    <dgm:pt modelId="{8C2AE417-19AC-430D-8AC7-B625907C0BE4}" type="sibTrans" cxnId="{C31E5FE4-C412-4BBD-84F7-5A8F82D810DD}">
      <dgm:prSet/>
      <dgm:spPr/>
      <dgm:t>
        <a:bodyPr/>
        <a:lstStyle/>
        <a:p>
          <a:endParaRPr lang="en-US"/>
        </a:p>
      </dgm:t>
    </dgm:pt>
    <dgm:pt modelId="{D459E288-CF5E-4516-B85E-A93A03093310}">
      <dgm:prSet phldrT="[Text]" custT="1"/>
      <dgm:spPr/>
      <dgm:t>
        <a:bodyPr/>
        <a:lstStyle/>
        <a:p>
          <a:r>
            <a:rPr lang="en-US" sz="1050" dirty="0"/>
            <a:t>Co branding</a:t>
          </a:r>
        </a:p>
      </dgm:t>
    </dgm:pt>
    <dgm:pt modelId="{D2D90EAC-DC6F-46A1-8802-9E7520F4D034}" type="parTrans" cxnId="{7222304F-B829-4043-B4D3-545D831F36B6}">
      <dgm:prSet/>
      <dgm:spPr/>
      <dgm:t>
        <a:bodyPr/>
        <a:lstStyle/>
        <a:p>
          <a:endParaRPr lang="en-US"/>
        </a:p>
      </dgm:t>
    </dgm:pt>
    <dgm:pt modelId="{4DE8538C-DEB6-4D88-A7C4-14501952EABB}" type="sibTrans" cxnId="{7222304F-B829-4043-B4D3-545D831F36B6}">
      <dgm:prSet/>
      <dgm:spPr/>
      <dgm:t>
        <a:bodyPr/>
        <a:lstStyle/>
        <a:p>
          <a:endParaRPr lang="en-US"/>
        </a:p>
      </dgm:t>
    </dgm:pt>
    <dgm:pt modelId="{029727F7-1399-485E-B69D-A64FF7BFAA27}">
      <dgm:prSet custT="1"/>
      <dgm:spPr/>
      <dgm:t>
        <a:bodyPr/>
        <a:lstStyle/>
        <a:p>
          <a:r>
            <a:rPr lang="en-US" sz="1100" dirty="0"/>
            <a:t>Selection</a:t>
          </a:r>
        </a:p>
      </dgm:t>
    </dgm:pt>
    <dgm:pt modelId="{FB2CA134-27E0-4615-B042-4EB3BA49D7BF}" type="parTrans" cxnId="{009092AC-64D5-4A85-B039-3B73B82DEAFD}">
      <dgm:prSet/>
      <dgm:spPr/>
      <dgm:t>
        <a:bodyPr/>
        <a:lstStyle/>
        <a:p>
          <a:endParaRPr lang="en-US"/>
        </a:p>
      </dgm:t>
    </dgm:pt>
    <dgm:pt modelId="{43926D2C-3FB2-4922-AC66-BF3FB2200584}" type="sibTrans" cxnId="{009092AC-64D5-4A85-B039-3B73B82DEAFD}">
      <dgm:prSet/>
      <dgm:spPr/>
      <dgm:t>
        <a:bodyPr/>
        <a:lstStyle/>
        <a:p>
          <a:endParaRPr lang="en-US"/>
        </a:p>
      </dgm:t>
    </dgm:pt>
    <dgm:pt modelId="{B14F000B-A7D3-455C-B1F7-34837982B4D5}">
      <dgm:prSet custT="1"/>
      <dgm:spPr/>
      <dgm:t>
        <a:bodyPr/>
        <a:lstStyle/>
        <a:p>
          <a:r>
            <a:rPr lang="en-US" sz="1100" dirty="0"/>
            <a:t>Protection</a:t>
          </a:r>
        </a:p>
      </dgm:t>
    </dgm:pt>
    <dgm:pt modelId="{FC636ADB-2AA2-4D57-A72A-36A8AC654235}" type="parTrans" cxnId="{F4776E09-4688-4098-80DB-FF9133287AE2}">
      <dgm:prSet/>
      <dgm:spPr/>
      <dgm:t>
        <a:bodyPr/>
        <a:lstStyle/>
        <a:p>
          <a:endParaRPr lang="en-US"/>
        </a:p>
      </dgm:t>
    </dgm:pt>
    <dgm:pt modelId="{B094D3BB-F947-4275-AE75-CDF54979E575}" type="sibTrans" cxnId="{F4776E09-4688-4098-80DB-FF9133287AE2}">
      <dgm:prSet/>
      <dgm:spPr/>
      <dgm:t>
        <a:bodyPr/>
        <a:lstStyle/>
        <a:p>
          <a:endParaRPr lang="en-US"/>
        </a:p>
      </dgm:t>
    </dgm:pt>
    <dgm:pt modelId="{1742F0B0-7BE8-46F6-9061-746DC00D2324}">
      <dgm:prSet custT="1"/>
      <dgm:spPr/>
      <dgm:t>
        <a:bodyPr/>
        <a:lstStyle/>
        <a:p>
          <a:r>
            <a:rPr lang="en-US" sz="1100" dirty="0"/>
            <a:t>Attributes</a:t>
          </a:r>
        </a:p>
      </dgm:t>
    </dgm:pt>
    <dgm:pt modelId="{9F7943E7-CDCC-4342-8388-2CAE4E8B2FA2}" type="parTrans" cxnId="{938A9CE7-4AE8-482F-B0A5-B9CBDD36D027}">
      <dgm:prSet/>
      <dgm:spPr/>
      <dgm:t>
        <a:bodyPr/>
        <a:lstStyle/>
        <a:p>
          <a:endParaRPr lang="en-US"/>
        </a:p>
      </dgm:t>
    </dgm:pt>
    <dgm:pt modelId="{E9F8B035-BD08-4EED-9701-1E80B1FAF393}" type="sibTrans" cxnId="{938A9CE7-4AE8-482F-B0A5-B9CBDD36D027}">
      <dgm:prSet/>
      <dgm:spPr/>
      <dgm:t>
        <a:bodyPr/>
        <a:lstStyle/>
        <a:p>
          <a:endParaRPr lang="en-US"/>
        </a:p>
      </dgm:t>
    </dgm:pt>
    <dgm:pt modelId="{0E105D8E-DB14-4612-8481-8DBCD5C53851}">
      <dgm:prSet custT="1"/>
      <dgm:spPr/>
      <dgm:t>
        <a:bodyPr/>
        <a:lstStyle/>
        <a:p>
          <a:r>
            <a:rPr lang="en-US" sz="1100" dirty="0"/>
            <a:t>Benefits</a:t>
          </a:r>
        </a:p>
      </dgm:t>
    </dgm:pt>
    <dgm:pt modelId="{E25798BA-7E4F-4997-B400-FA6B72B4E82E}" type="parTrans" cxnId="{0C590DA2-8B7F-418C-B9F7-32028E8CD250}">
      <dgm:prSet/>
      <dgm:spPr/>
      <dgm:t>
        <a:bodyPr/>
        <a:lstStyle/>
        <a:p>
          <a:endParaRPr lang="en-US"/>
        </a:p>
      </dgm:t>
    </dgm:pt>
    <dgm:pt modelId="{AFF56247-E333-4337-8461-E40B70AE6C05}" type="sibTrans" cxnId="{0C590DA2-8B7F-418C-B9F7-32028E8CD250}">
      <dgm:prSet/>
      <dgm:spPr/>
      <dgm:t>
        <a:bodyPr/>
        <a:lstStyle/>
        <a:p>
          <a:endParaRPr lang="en-US"/>
        </a:p>
      </dgm:t>
    </dgm:pt>
    <dgm:pt modelId="{3D2615E7-C038-4EE5-89E9-14616D5A242C}">
      <dgm:prSet custT="1"/>
      <dgm:spPr/>
      <dgm:t>
        <a:bodyPr/>
        <a:lstStyle/>
        <a:p>
          <a:r>
            <a:rPr lang="en-US" sz="1100" dirty="0"/>
            <a:t>Beliefs and values</a:t>
          </a:r>
        </a:p>
      </dgm:t>
    </dgm:pt>
    <dgm:pt modelId="{4811FEBB-8A53-4799-9E81-943409481587}" type="parTrans" cxnId="{6D725857-7685-4905-B317-C010A082E28A}">
      <dgm:prSet/>
      <dgm:spPr/>
      <dgm:t>
        <a:bodyPr/>
        <a:lstStyle/>
        <a:p>
          <a:endParaRPr lang="en-US"/>
        </a:p>
      </dgm:t>
    </dgm:pt>
    <dgm:pt modelId="{DD66DA1F-6515-4954-9A36-7F9C9DD65254}" type="sibTrans" cxnId="{6D725857-7685-4905-B317-C010A082E28A}">
      <dgm:prSet/>
      <dgm:spPr/>
      <dgm:t>
        <a:bodyPr/>
        <a:lstStyle/>
        <a:p>
          <a:endParaRPr lang="en-US"/>
        </a:p>
      </dgm:t>
    </dgm:pt>
    <dgm:pt modelId="{67F21333-B200-4317-946D-515FAF46AE86}" type="pres">
      <dgm:prSet presAssocID="{D317F7BB-0254-4E35-9A57-DD64379A4F2F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1D13BBF-5F97-4186-9EDC-81D6E07E7419}" type="pres">
      <dgm:prSet presAssocID="{2092BE02-09C6-4B25-A915-89851842AA72}" presName="composite" presStyleCnt="0"/>
      <dgm:spPr/>
    </dgm:pt>
    <dgm:pt modelId="{8377144C-C402-4016-9608-98FDFBEF60B9}" type="pres">
      <dgm:prSet presAssocID="{2092BE02-09C6-4B25-A915-89851842AA72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CB05AD-4BBD-4B1D-8B3E-506F0790C702}" type="pres">
      <dgm:prSet presAssocID="{2092BE02-09C6-4B25-A915-89851842AA72}" presName="parSh" presStyleLbl="node1" presStyleIdx="0" presStyleCnt="4"/>
      <dgm:spPr/>
      <dgm:t>
        <a:bodyPr/>
        <a:lstStyle/>
        <a:p>
          <a:endParaRPr lang="en-US"/>
        </a:p>
      </dgm:t>
    </dgm:pt>
    <dgm:pt modelId="{CF711197-AD63-4A19-AD4A-0E53A462FA97}" type="pres">
      <dgm:prSet presAssocID="{2092BE02-09C6-4B25-A915-89851842AA72}" presName="desTx" presStyleLbl="f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5AF919-B279-46EF-B30D-8D294851EEFD}" type="pres">
      <dgm:prSet presAssocID="{FD23803C-F79C-4DCA-A72F-0EBCB485EB3A}" presName="sibTrans" presStyleLbl="sibTrans2D1" presStyleIdx="0" presStyleCnt="3"/>
      <dgm:spPr/>
      <dgm:t>
        <a:bodyPr/>
        <a:lstStyle/>
        <a:p>
          <a:endParaRPr lang="en-US"/>
        </a:p>
      </dgm:t>
    </dgm:pt>
    <dgm:pt modelId="{36690229-0B78-48FC-A82B-7CA2517E7659}" type="pres">
      <dgm:prSet presAssocID="{FD23803C-F79C-4DCA-A72F-0EBCB485EB3A}" presName="connTx" presStyleLbl="sibTrans2D1" presStyleIdx="0" presStyleCnt="3"/>
      <dgm:spPr/>
      <dgm:t>
        <a:bodyPr/>
        <a:lstStyle/>
        <a:p>
          <a:endParaRPr lang="en-US"/>
        </a:p>
      </dgm:t>
    </dgm:pt>
    <dgm:pt modelId="{A1999568-58F1-4671-9CDA-2AD0B54C2C78}" type="pres">
      <dgm:prSet presAssocID="{17AB47DF-65C5-4B17-8C69-C00B842286AA}" presName="composite" presStyleCnt="0"/>
      <dgm:spPr/>
    </dgm:pt>
    <dgm:pt modelId="{3DA38F18-7146-4DDA-AC46-3FBC4EB2669B}" type="pres">
      <dgm:prSet presAssocID="{17AB47DF-65C5-4B17-8C69-C00B842286AA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778F8E-8196-4183-8C00-5385F2AE958C}" type="pres">
      <dgm:prSet presAssocID="{17AB47DF-65C5-4B17-8C69-C00B842286AA}" presName="parSh" presStyleLbl="node1" presStyleIdx="1" presStyleCnt="4"/>
      <dgm:spPr/>
      <dgm:t>
        <a:bodyPr/>
        <a:lstStyle/>
        <a:p>
          <a:endParaRPr lang="en-US"/>
        </a:p>
      </dgm:t>
    </dgm:pt>
    <dgm:pt modelId="{6A10F614-09FB-4A08-BEBC-93555BCC9E53}" type="pres">
      <dgm:prSet presAssocID="{17AB47DF-65C5-4B17-8C69-C00B842286AA}" presName="desTx" presStyleLbl="fgAcc1" presStyleIdx="1" presStyleCnt="4" custLinFactNeighborX="447" custLinFactNeighborY="-336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2312AE-7BF3-4F1D-9216-B23DC7E83F6F}" type="pres">
      <dgm:prSet presAssocID="{F7E6EB56-D6C6-464F-AF5E-BFCB3ACAC05A}" presName="sibTrans" presStyleLbl="sibTrans2D1" presStyleIdx="1" presStyleCnt="3"/>
      <dgm:spPr/>
      <dgm:t>
        <a:bodyPr/>
        <a:lstStyle/>
        <a:p>
          <a:endParaRPr lang="en-US"/>
        </a:p>
      </dgm:t>
    </dgm:pt>
    <dgm:pt modelId="{FA2B7A9B-2805-4832-B6EA-20DA2647AE73}" type="pres">
      <dgm:prSet presAssocID="{F7E6EB56-D6C6-464F-AF5E-BFCB3ACAC05A}" presName="connTx" presStyleLbl="sibTrans2D1" presStyleIdx="1" presStyleCnt="3"/>
      <dgm:spPr/>
      <dgm:t>
        <a:bodyPr/>
        <a:lstStyle/>
        <a:p>
          <a:endParaRPr lang="en-US"/>
        </a:p>
      </dgm:t>
    </dgm:pt>
    <dgm:pt modelId="{1950DF6F-0BEE-4266-A387-C8B2F01516D0}" type="pres">
      <dgm:prSet presAssocID="{6CEAF708-2AD9-4BD5-AA03-3DAE71BDE7BD}" presName="composite" presStyleCnt="0"/>
      <dgm:spPr/>
    </dgm:pt>
    <dgm:pt modelId="{1E1CBDFF-8142-4824-8AC5-B6FA532B1D9A}" type="pres">
      <dgm:prSet presAssocID="{6CEAF708-2AD9-4BD5-AA03-3DAE71BDE7BD}" presName="par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9B3198-8D6C-445E-9EE6-146C8F34B8D9}" type="pres">
      <dgm:prSet presAssocID="{6CEAF708-2AD9-4BD5-AA03-3DAE71BDE7BD}" presName="parSh" presStyleLbl="node1" presStyleIdx="2" presStyleCnt="4"/>
      <dgm:spPr/>
      <dgm:t>
        <a:bodyPr/>
        <a:lstStyle/>
        <a:p>
          <a:endParaRPr lang="en-US"/>
        </a:p>
      </dgm:t>
    </dgm:pt>
    <dgm:pt modelId="{42F3FCA5-3CDF-4A03-A16B-E0F43C94E2F2}" type="pres">
      <dgm:prSet presAssocID="{6CEAF708-2AD9-4BD5-AA03-3DAE71BDE7BD}" presName="desTx" presStyleLbl="fgAcc1" presStyleIdx="2" presStyleCnt="4" custScaleX="1015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E50312-2CBF-4143-A682-BEAC17B831F6}" type="pres">
      <dgm:prSet presAssocID="{5A4F3D34-30A2-48EF-9F66-E5DB65A07CDF}" presName="sibTrans" presStyleLbl="sibTrans2D1" presStyleIdx="2" presStyleCnt="3"/>
      <dgm:spPr/>
      <dgm:t>
        <a:bodyPr/>
        <a:lstStyle/>
        <a:p>
          <a:endParaRPr lang="en-US"/>
        </a:p>
      </dgm:t>
    </dgm:pt>
    <dgm:pt modelId="{48478EF3-3DCC-49F9-A817-CA87DD11B686}" type="pres">
      <dgm:prSet presAssocID="{5A4F3D34-30A2-48EF-9F66-E5DB65A07CDF}" presName="connTx" presStyleLbl="sibTrans2D1" presStyleIdx="2" presStyleCnt="3"/>
      <dgm:spPr/>
      <dgm:t>
        <a:bodyPr/>
        <a:lstStyle/>
        <a:p>
          <a:endParaRPr lang="en-US"/>
        </a:p>
      </dgm:t>
    </dgm:pt>
    <dgm:pt modelId="{5FCB8730-A33E-457D-8BB0-C53C0EB12BCA}" type="pres">
      <dgm:prSet presAssocID="{D30CF0C9-1334-48E1-BA31-AFCCCB22A002}" presName="composite" presStyleCnt="0"/>
      <dgm:spPr/>
    </dgm:pt>
    <dgm:pt modelId="{1F1B8A9F-28B3-44B9-B465-6C0F3CB296E4}" type="pres">
      <dgm:prSet presAssocID="{D30CF0C9-1334-48E1-BA31-AFCCCB22A002}" presName="par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93D86D-D50A-4021-9B8B-AE846F133D1B}" type="pres">
      <dgm:prSet presAssocID="{D30CF0C9-1334-48E1-BA31-AFCCCB22A002}" presName="parSh" presStyleLbl="node1" presStyleIdx="3" presStyleCnt="4"/>
      <dgm:spPr/>
      <dgm:t>
        <a:bodyPr/>
        <a:lstStyle/>
        <a:p>
          <a:endParaRPr lang="en-US"/>
        </a:p>
      </dgm:t>
    </dgm:pt>
    <dgm:pt modelId="{95463861-EF2A-453B-BB55-5113BE337A5A}" type="pres">
      <dgm:prSet presAssocID="{D30CF0C9-1334-48E1-BA31-AFCCCB22A002}" presName="desTx" presStyleLbl="fgAcc1" presStyleIdx="3" presStyleCnt="4" custScaleX="11436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5B44676-A738-4191-A5F4-6DCE957BDBA6}" type="presOf" srcId="{029727F7-1399-485E-B69D-A64FF7BFAA27}" destId="{6A10F614-09FB-4A08-BEBC-93555BCC9E53}" srcOrd="0" destOrd="0" presId="urn:microsoft.com/office/officeart/2005/8/layout/process3#1"/>
    <dgm:cxn modelId="{67DA9878-6A9C-4245-B5F6-0A8DEBD70E77}" srcId="{D317F7BB-0254-4E35-9A57-DD64379A4F2F}" destId="{D30CF0C9-1334-48E1-BA31-AFCCCB22A002}" srcOrd="3" destOrd="0" parTransId="{DD1885B0-661B-4CA0-9B23-3A6496D527E7}" sibTransId="{F4F13F8C-9920-4273-8020-3BF0B8F52684}"/>
    <dgm:cxn modelId="{F4776E09-4688-4098-80DB-FF9133287AE2}" srcId="{17AB47DF-65C5-4B17-8C69-C00B842286AA}" destId="{B14F000B-A7D3-455C-B1F7-34837982B4D5}" srcOrd="1" destOrd="0" parTransId="{FC636ADB-2AA2-4D57-A72A-36A8AC654235}" sibTransId="{B094D3BB-F947-4275-AE75-CDF54979E575}"/>
    <dgm:cxn modelId="{B5BA9171-B4CB-4F19-9999-A29683DA7D1E}" type="presOf" srcId="{5A4F3D34-30A2-48EF-9F66-E5DB65A07CDF}" destId="{83E50312-2CBF-4143-A682-BEAC17B831F6}" srcOrd="0" destOrd="0" presId="urn:microsoft.com/office/officeart/2005/8/layout/process3#1"/>
    <dgm:cxn modelId="{CF403F55-2726-4318-9CCF-EFE73DC706C3}" type="presOf" srcId="{4337FC15-754A-4EBD-BB04-326DDE3ADAAA}" destId="{42F3FCA5-3CDF-4A03-A16B-E0F43C94E2F2}" srcOrd="0" destOrd="2" presId="urn:microsoft.com/office/officeart/2005/8/layout/process3#1"/>
    <dgm:cxn modelId="{A5270E11-5435-4000-82C1-BEEFB824BA44}" type="presOf" srcId="{6CEAF708-2AD9-4BD5-AA03-3DAE71BDE7BD}" destId="{3E9B3198-8D6C-445E-9EE6-146C8F34B8D9}" srcOrd="1" destOrd="0" presId="urn:microsoft.com/office/officeart/2005/8/layout/process3#1"/>
    <dgm:cxn modelId="{C934A8D6-45DB-4105-AFF8-56E62D215C24}" srcId="{D30CF0C9-1334-48E1-BA31-AFCCCB22A002}" destId="{606D7156-9292-4495-89E8-60CA46FCE767}" srcOrd="1" destOrd="0" parTransId="{D54AF1E4-A29B-4B26-AEE4-9899430C56F0}" sibTransId="{8543D927-D12E-4F64-B866-91329F3A5E01}"/>
    <dgm:cxn modelId="{7D3C15C7-C933-49FB-88C1-AC95F66F5B5E}" type="presOf" srcId="{3D2615E7-C038-4EE5-89E9-14616D5A242C}" destId="{CF711197-AD63-4A19-AD4A-0E53A462FA97}" srcOrd="0" destOrd="2" presId="urn:microsoft.com/office/officeart/2005/8/layout/process3#1"/>
    <dgm:cxn modelId="{A8CC5230-E795-446E-A436-A36542E3DAD8}" srcId="{D30CF0C9-1334-48E1-BA31-AFCCCB22A002}" destId="{8D480D37-CE3A-4A05-8FBF-79F8CC94840D}" srcOrd="3" destOrd="0" parTransId="{48CFA9A0-8123-48CB-B309-29D6BEF03692}" sibTransId="{7F018E45-E740-4BAE-ACAD-A9CA00FC916F}"/>
    <dgm:cxn modelId="{E13068AD-72F8-4FEC-961A-B05AA2D90E6C}" srcId="{D30CF0C9-1334-48E1-BA31-AFCCCB22A002}" destId="{141A1DFA-8BF7-4C16-BCD7-71086076F740}" srcOrd="0" destOrd="0" parTransId="{5E9371C2-24B5-4730-B59A-CB9D3750501B}" sibTransId="{7959BC66-3AB5-4071-A206-86E775061EC4}"/>
    <dgm:cxn modelId="{C124D1B2-5B17-4BD4-AAA9-454EAAA4B847}" type="presOf" srcId="{B14F000B-A7D3-455C-B1F7-34837982B4D5}" destId="{6A10F614-09FB-4A08-BEBC-93555BCC9E53}" srcOrd="0" destOrd="1" presId="urn:microsoft.com/office/officeart/2005/8/layout/process3#1"/>
    <dgm:cxn modelId="{3463AD83-5E7F-48E9-B813-1DDEDAFD1B70}" type="presOf" srcId="{17AB47DF-65C5-4B17-8C69-C00B842286AA}" destId="{3DA38F18-7146-4DDA-AC46-3FBC4EB2669B}" srcOrd="0" destOrd="0" presId="urn:microsoft.com/office/officeart/2005/8/layout/process3#1"/>
    <dgm:cxn modelId="{C31E5FE4-C412-4BBD-84F7-5A8F82D810DD}" srcId="{6CEAF708-2AD9-4BD5-AA03-3DAE71BDE7BD}" destId="{4337FC15-754A-4EBD-BB04-326DDE3ADAAA}" srcOrd="2" destOrd="0" parTransId="{055E19D3-05D2-45E6-B4ED-12B7EE8F2EE9}" sibTransId="{8C2AE417-19AC-430D-8AC7-B625907C0BE4}"/>
    <dgm:cxn modelId="{9AED2E77-F424-4395-83DD-57CA8B410FFE}" type="presOf" srcId="{1742F0B0-7BE8-46F6-9061-746DC00D2324}" destId="{CF711197-AD63-4A19-AD4A-0E53A462FA97}" srcOrd="0" destOrd="0" presId="urn:microsoft.com/office/officeart/2005/8/layout/process3#1"/>
    <dgm:cxn modelId="{44416C2E-09F5-4AA3-ABA4-44C1EB5674C4}" type="presOf" srcId="{2092BE02-09C6-4B25-A915-89851842AA72}" destId="{5ECB05AD-4BBD-4B1D-8B3E-506F0790C702}" srcOrd="1" destOrd="0" presId="urn:microsoft.com/office/officeart/2005/8/layout/process3#1"/>
    <dgm:cxn modelId="{A63B215B-1104-49C9-B5DB-B7211D4BF367}" type="presOf" srcId="{F7E6EB56-D6C6-464F-AF5E-BFCB3ACAC05A}" destId="{FA2B7A9B-2805-4832-B6EA-20DA2647AE73}" srcOrd="1" destOrd="0" presId="urn:microsoft.com/office/officeart/2005/8/layout/process3#1"/>
    <dgm:cxn modelId="{FEC7EA35-A3FB-41BE-82BE-C2A52055E4D9}" type="presOf" srcId="{8D480D37-CE3A-4A05-8FBF-79F8CC94840D}" destId="{95463861-EF2A-453B-BB55-5113BE337A5A}" srcOrd="0" destOrd="3" presId="urn:microsoft.com/office/officeart/2005/8/layout/process3#1"/>
    <dgm:cxn modelId="{6D725857-7685-4905-B317-C010A082E28A}" srcId="{2092BE02-09C6-4B25-A915-89851842AA72}" destId="{3D2615E7-C038-4EE5-89E9-14616D5A242C}" srcOrd="2" destOrd="0" parTransId="{4811FEBB-8A53-4799-9E81-943409481587}" sibTransId="{DD66DA1F-6515-4954-9A36-7F9C9DD65254}"/>
    <dgm:cxn modelId="{FB04269C-EFE4-494C-8DDB-696C25C6723C}" type="presOf" srcId="{D317F7BB-0254-4E35-9A57-DD64379A4F2F}" destId="{67F21333-B200-4317-946D-515FAF46AE86}" srcOrd="0" destOrd="0" presId="urn:microsoft.com/office/officeart/2005/8/layout/process3#1"/>
    <dgm:cxn modelId="{BEDECEDA-6C1B-4543-B1F8-A28084CF8FF8}" type="presOf" srcId="{141A1DFA-8BF7-4C16-BCD7-71086076F740}" destId="{95463861-EF2A-453B-BB55-5113BE337A5A}" srcOrd="0" destOrd="0" presId="urn:microsoft.com/office/officeart/2005/8/layout/process3#1"/>
    <dgm:cxn modelId="{4ED67DD4-502A-4167-8DF1-D838DAD79E1A}" srcId="{6CEAF708-2AD9-4BD5-AA03-3DAE71BDE7BD}" destId="{CD7C3980-765C-4BAE-95E5-072322B692B1}" srcOrd="0" destOrd="0" parTransId="{5A4C7A31-9C11-4EEB-8505-AF45E624BAEB}" sibTransId="{787D09D0-0AB2-4BF5-A614-2F6E811E66D4}"/>
    <dgm:cxn modelId="{61BC588C-5392-42BF-84F6-AA2164BC7F2C}" type="presOf" srcId="{F7B1042C-430E-48E3-9014-2F26431227D1}" destId="{95463861-EF2A-453B-BB55-5113BE337A5A}" srcOrd="0" destOrd="2" presId="urn:microsoft.com/office/officeart/2005/8/layout/process3#1"/>
    <dgm:cxn modelId="{F8C33F22-FEDF-4C80-8026-97398989462B}" type="presOf" srcId="{9B05EBD7-584F-4701-84F3-DF144037E90B}" destId="{42F3FCA5-3CDF-4A03-A16B-E0F43C94E2F2}" srcOrd="0" destOrd="1" presId="urn:microsoft.com/office/officeart/2005/8/layout/process3#1"/>
    <dgm:cxn modelId="{6B39139A-DEE2-49FB-ABDF-D424795F3FA2}" type="presOf" srcId="{0E105D8E-DB14-4612-8481-8DBCD5C53851}" destId="{CF711197-AD63-4A19-AD4A-0E53A462FA97}" srcOrd="0" destOrd="1" presId="urn:microsoft.com/office/officeart/2005/8/layout/process3#1"/>
    <dgm:cxn modelId="{E3AB213E-23D2-4854-8442-8D6BA044AEED}" srcId="{D317F7BB-0254-4E35-9A57-DD64379A4F2F}" destId="{17AB47DF-65C5-4B17-8C69-C00B842286AA}" srcOrd="1" destOrd="0" parTransId="{750B4F07-7B1E-4480-8BF7-F045EB1FF194}" sibTransId="{F7E6EB56-D6C6-464F-AF5E-BFCB3ACAC05A}"/>
    <dgm:cxn modelId="{67AC8EE0-CFA8-4DE4-A402-23618404204F}" type="presOf" srcId="{FD23803C-F79C-4DCA-A72F-0EBCB485EB3A}" destId="{36690229-0B78-48FC-A82B-7CA2517E7659}" srcOrd="1" destOrd="0" presId="urn:microsoft.com/office/officeart/2005/8/layout/process3#1"/>
    <dgm:cxn modelId="{5616433A-5728-4A0F-91B0-44B4F9539153}" type="presOf" srcId="{F7E6EB56-D6C6-464F-AF5E-BFCB3ACAC05A}" destId="{C02312AE-7BF3-4F1D-9216-B23DC7E83F6F}" srcOrd="0" destOrd="0" presId="urn:microsoft.com/office/officeart/2005/8/layout/process3#1"/>
    <dgm:cxn modelId="{97D9EB7C-27DE-4934-BDBA-779BC4719E78}" srcId="{D30CF0C9-1334-48E1-BA31-AFCCCB22A002}" destId="{F7B1042C-430E-48E3-9014-2F26431227D1}" srcOrd="2" destOrd="0" parTransId="{099B6045-2DB6-493A-878A-A025F77FEBFA}" sibTransId="{B74CA904-37DB-4A12-9A8F-F3AB25445237}"/>
    <dgm:cxn modelId="{FFFDD52A-B325-4CE9-A43B-289AC79E506F}" type="presOf" srcId="{6CEAF708-2AD9-4BD5-AA03-3DAE71BDE7BD}" destId="{1E1CBDFF-8142-4824-8AC5-B6FA532B1D9A}" srcOrd="0" destOrd="0" presId="urn:microsoft.com/office/officeart/2005/8/layout/process3#1"/>
    <dgm:cxn modelId="{938A9CE7-4AE8-482F-B0A5-B9CBDD36D027}" srcId="{2092BE02-09C6-4B25-A915-89851842AA72}" destId="{1742F0B0-7BE8-46F6-9061-746DC00D2324}" srcOrd="0" destOrd="0" parTransId="{9F7943E7-CDCC-4342-8388-2CAE4E8B2FA2}" sibTransId="{E9F8B035-BD08-4EED-9701-1E80B1FAF393}"/>
    <dgm:cxn modelId="{B71329B8-8E3A-46F3-A5BE-186FA87BEFC9}" type="presOf" srcId="{D30CF0C9-1334-48E1-BA31-AFCCCB22A002}" destId="{D693D86D-D50A-4021-9B8B-AE846F133D1B}" srcOrd="1" destOrd="0" presId="urn:microsoft.com/office/officeart/2005/8/layout/process3#1"/>
    <dgm:cxn modelId="{0C590DA2-8B7F-418C-B9F7-32028E8CD250}" srcId="{2092BE02-09C6-4B25-A915-89851842AA72}" destId="{0E105D8E-DB14-4612-8481-8DBCD5C53851}" srcOrd="1" destOrd="0" parTransId="{E25798BA-7E4F-4997-B400-FA6B72B4E82E}" sibTransId="{AFF56247-E333-4337-8461-E40B70AE6C05}"/>
    <dgm:cxn modelId="{137BF71E-AF9C-46B0-9342-FD165D689CDE}" type="presOf" srcId="{CD7C3980-765C-4BAE-95E5-072322B692B1}" destId="{42F3FCA5-3CDF-4A03-A16B-E0F43C94E2F2}" srcOrd="0" destOrd="0" presId="urn:microsoft.com/office/officeart/2005/8/layout/process3#1"/>
    <dgm:cxn modelId="{6D15DFC3-7A7C-4857-B522-6C4D257BFAE5}" type="presOf" srcId="{606D7156-9292-4495-89E8-60CA46FCE767}" destId="{95463861-EF2A-453B-BB55-5113BE337A5A}" srcOrd="0" destOrd="1" presId="urn:microsoft.com/office/officeart/2005/8/layout/process3#1"/>
    <dgm:cxn modelId="{7222304F-B829-4043-B4D3-545D831F36B6}" srcId="{6CEAF708-2AD9-4BD5-AA03-3DAE71BDE7BD}" destId="{D459E288-CF5E-4516-B85E-A93A03093310}" srcOrd="3" destOrd="0" parTransId="{D2D90EAC-DC6F-46A1-8802-9E7520F4D034}" sibTransId="{4DE8538C-DEB6-4D88-A7C4-14501952EABB}"/>
    <dgm:cxn modelId="{C2E39C9E-6568-47A5-A9C4-B847909C95F5}" srcId="{D317F7BB-0254-4E35-9A57-DD64379A4F2F}" destId="{2092BE02-09C6-4B25-A915-89851842AA72}" srcOrd="0" destOrd="0" parTransId="{980ABE75-F25A-4C3B-97C5-AA1A48D87EDD}" sibTransId="{FD23803C-F79C-4DCA-A72F-0EBCB485EB3A}"/>
    <dgm:cxn modelId="{EB9C1641-0AF4-4E77-B42B-8DA4D5A385AE}" type="presOf" srcId="{5A4F3D34-30A2-48EF-9F66-E5DB65A07CDF}" destId="{48478EF3-3DCC-49F9-A817-CA87DD11B686}" srcOrd="1" destOrd="0" presId="urn:microsoft.com/office/officeart/2005/8/layout/process3#1"/>
    <dgm:cxn modelId="{D8BC9BBB-F2BA-4EA8-BC68-7F1FF48F41B9}" type="presOf" srcId="{17AB47DF-65C5-4B17-8C69-C00B842286AA}" destId="{32778F8E-8196-4183-8C00-5385F2AE958C}" srcOrd="1" destOrd="0" presId="urn:microsoft.com/office/officeart/2005/8/layout/process3#1"/>
    <dgm:cxn modelId="{009092AC-64D5-4A85-B039-3B73B82DEAFD}" srcId="{17AB47DF-65C5-4B17-8C69-C00B842286AA}" destId="{029727F7-1399-485E-B69D-A64FF7BFAA27}" srcOrd="0" destOrd="0" parTransId="{FB2CA134-27E0-4615-B042-4EB3BA49D7BF}" sibTransId="{43926D2C-3FB2-4922-AC66-BF3FB2200584}"/>
    <dgm:cxn modelId="{A7DB9972-4C50-4A5A-9C25-D8E385805DA2}" srcId="{6CEAF708-2AD9-4BD5-AA03-3DAE71BDE7BD}" destId="{9B05EBD7-584F-4701-84F3-DF144037E90B}" srcOrd="1" destOrd="0" parTransId="{713A4248-15A3-4F26-BC2D-43BDEA2028F7}" sibTransId="{79A674C8-6023-4412-B35C-8C2CDFD2B572}"/>
    <dgm:cxn modelId="{50272FB1-357D-4DD5-9F8F-846EAB238AD4}" srcId="{D317F7BB-0254-4E35-9A57-DD64379A4F2F}" destId="{6CEAF708-2AD9-4BD5-AA03-3DAE71BDE7BD}" srcOrd="2" destOrd="0" parTransId="{B139FC5C-FB50-4BBE-A82B-1C77F39F1D26}" sibTransId="{5A4F3D34-30A2-48EF-9F66-E5DB65A07CDF}"/>
    <dgm:cxn modelId="{4D6E8041-840D-49DB-A8D9-480963FE6104}" type="presOf" srcId="{2092BE02-09C6-4B25-A915-89851842AA72}" destId="{8377144C-C402-4016-9608-98FDFBEF60B9}" srcOrd="0" destOrd="0" presId="urn:microsoft.com/office/officeart/2005/8/layout/process3#1"/>
    <dgm:cxn modelId="{1112FC7A-A6AD-4B39-B9DD-B3F691679154}" type="presOf" srcId="{FD23803C-F79C-4DCA-A72F-0EBCB485EB3A}" destId="{565AF919-B279-46EF-B30D-8D294851EEFD}" srcOrd="0" destOrd="0" presId="urn:microsoft.com/office/officeart/2005/8/layout/process3#1"/>
    <dgm:cxn modelId="{83EC80B0-9A91-49C3-B518-DCF7864E078E}" type="presOf" srcId="{D459E288-CF5E-4516-B85E-A93A03093310}" destId="{42F3FCA5-3CDF-4A03-A16B-E0F43C94E2F2}" srcOrd="0" destOrd="3" presId="urn:microsoft.com/office/officeart/2005/8/layout/process3#1"/>
    <dgm:cxn modelId="{F32F0FAB-C57C-4E5D-8E2A-42330A8300BB}" type="presOf" srcId="{D30CF0C9-1334-48E1-BA31-AFCCCB22A002}" destId="{1F1B8A9F-28B3-44B9-B465-6C0F3CB296E4}" srcOrd="0" destOrd="0" presId="urn:microsoft.com/office/officeart/2005/8/layout/process3#1"/>
    <dgm:cxn modelId="{089A2CC9-6878-4614-9C5D-5D4A8BB86F3C}" type="presParOf" srcId="{67F21333-B200-4317-946D-515FAF46AE86}" destId="{91D13BBF-5F97-4186-9EDC-81D6E07E7419}" srcOrd="0" destOrd="0" presId="urn:microsoft.com/office/officeart/2005/8/layout/process3#1"/>
    <dgm:cxn modelId="{2B87710A-9502-4662-99FC-6FC6913BA10E}" type="presParOf" srcId="{91D13BBF-5F97-4186-9EDC-81D6E07E7419}" destId="{8377144C-C402-4016-9608-98FDFBEF60B9}" srcOrd="0" destOrd="0" presId="urn:microsoft.com/office/officeart/2005/8/layout/process3#1"/>
    <dgm:cxn modelId="{A3D3BFD1-0842-48CF-9E0B-E7D28AF8A562}" type="presParOf" srcId="{91D13BBF-5F97-4186-9EDC-81D6E07E7419}" destId="{5ECB05AD-4BBD-4B1D-8B3E-506F0790C702}" srcOrd="1" destOrd="0" presId="urn:microsoft.com/office/officeart/2005/8/layout/process3#1"/>
    <dgm:cxn modelId="{DB89390D-FA6F-44E3-89D0-356B5820C21C}" type="presParOf" srcId="{91D13BBF-5F97-4186-9EDC-81D6E07E7419}" destId="{CF711197-AD63-4A19-AD4A-0E53A462FA97}" srcOrd="2" destOrd="0" presId="urn:microsoft.com/office/officeart/2005/8/layout/process3#1"/>
    <dgm:cxn modelId="{6AC5C53B-BBC7-44AF-802C-BA0BBABD0042}" type="presParOf" srcId="{67F21333-B200-4317-946D-515FAF46AE86}" destId="{565AF919-B279-46EF-B30D-8D294851EEFD}" srcOrd="1" destOrd="0" presId="urn:microsoft.com/office/officeart/2005/8/layout/process3#1"/>
    <dgm:cxn modelId="{4D54E4D6-EED7-475A-9C52-2DCAA4C64604}" type="presParOf" srcId="{565AF919-B279-46EF-B30D-8D294851EEFD}" destId="{36690229-0B78-48FC-A82B-7CA2517E7659}" srcOrd="0" destOrd="0" presId="urn:microsoft.com/office/officeart/2005/8/layout/process3#1"/>
    <dgm:cxn modelId="{337553D1-1A1C-4E14-9E32-0093511A03A8}" type="presParOf" srcId="{67F21333-B200-4317-946D-515FAF46AE86}" destId="{A1999568-58F1-4671-9CDA-2AD0B54C2C78}" srcOrd="2" destOrd="0" presId="urn:microsoft.com/office/officeart/2005/8/layout/process3#1"/>
    <dgm:cxn modelId="{E318A6E6-DF29-4BE3-BF27-C05D57EAC9F3}" type="presParOf" srcId="{A1999568-58F1-4671-9CDA-2AD0B54C2C78}" destId="{3DA38F18-7146-4DDA-AC46-3FBC4EB2669B}" srcOrd="0" destOrd="0" presId="urn:microsoft.com/office/officeart/2005/8/layout/process3#1"/>
    <dgm:cxn modelId="{5F1124C4-FD87-4938-AEDF-3A72C033641D}" type="presParOf" srcId="{A1999568-58F1-4671-9CDA-2AD0B54C2C78}" destId="{32778F8E-8196-4183-8C00-5385F2AE958C}" srcOrd="1" destOrd="0" presId="urn:microsoft.com/office/officeart/2005/8/layout/process3#1"/>
    <dgm:cxn modelId="{1D2032B6-2BC5-4FE8-930C-E5B962B2755E}" type="presParOf" srcId="{A1999568-58F1-4671-9CDA-2AD0B54C2C78}" destId="{6A10F614-09FB-4A08-BEBC-93555BCC9E53}" srcOrd="2" destOrd="0" presId="urn:microsoft.com/office/officeart/2005/8/layout/process3#1"/>
    <dgm:cxn modelId="{D5DA3C8D-0C8F-4459-B05C-993738D39880}" type="presParOf" srcId="{67F21333-B200-4317-946D-515FAF46AE86}" destId="{C02312AE-7BF3-4F1D-9216-B23DC7E83F6F}" srcOrd="3" destOrd="0" presId="urn:microsoft.com/office/officeart/2005/8/layout/process3#1"/>
    <dgm:cxn modelId="{28DCC2A6-353F-4F1D-842D-0573C47CF7B9}" type="presParOf" srcId="{C02312AE-7BF3-4F1D-9216-B23DC7E83F6F}" destId="{FA2B7A9B-2805-4832-B6EA-20DA2647AE73}" srcOrd="0" destOrd="0" presId="urn:microsoft.com/office/officeart/2005/8/layout/process3#1"/>
    <dgm:cxn modelId="{AE95F9FA-45A2-4F90-B597-139B2BDF3BA5}" type="presParOf" srcId="{67F21333-B200-4317-946D-515FAF46AE86}" destId="{1950DF6F-0BEE-4266-A387-C8B2F01516D0}" srcOrd="4" destOrd="0" presId="urn:microsoft.com/office/officeart/2005/8/layout/process3#1"/>
    <dgm:cxn modelId="{14C8FB42-5E2A-4607-94AD-A195BBF47A89}" type="presParOf" srcId="{1950DF6F-0BEE-4266-A387-C8B2F01516D0}" destId="{1E1CBDFF-8142-4824-8AC5-B6FA532B1D9A}" srcOrd="0" destOrd="0" presId="urn:microsoft.com/office/officeart/2005/8/layout/process3#1"/>
    <dgm:cxn modelId="{314376F5-FB6F-4DBF-BDC4-D6320BC5F536}" type="presParOf" srcId="{1950DF6F-0BEE-4266-A387-C8B2F01516D0}" destId="{3E9B3198-8D6C-445E-9EE6-146C8F34B8D9}" srcOrd="1" destOrd="0" presId="urn:microsoft.com/office/officeart/2005/8/layout/process3#1"/>
    <dgm:cxn modelId="{529E0FA0-22E4-41EE-9A8D-841A005EB8E5}" type="presParOf" srcId="{1950DF6F-0BEE-4266-A387-C8B2F01516D0}" destId="{42F3FCA5-3CDF-4A03-A16B-E0F43C94E2F2}" srcOrd="2" destOrd="0" presId="urn:microsoft.com/office/officeart/2005/8/layout/process3#1"/>
    <dgm:cxn modelId="{CAD85C66-1E36-4933-9E4F-969F7D827D54}" type="presParOf" srcId="{67F21333-B200-4317-946D-515FAF46AE86}" destId="{83E50312-2CBF-4143-A682-BEAC17B831F6}" srcOrd="5" destOrd="0" presId="urn:microsoft.com/office/officeart/2005/8/layout/process3#1"/>
    <dgm:cxn modelId="{88185815-CBAA-4CEE-8913-63648FA145C8}" type="presParOf" srcId="{83E50312-2CBF-4143-A682-BEAC17B831F6}" destId="{48478EF3-3DCC-49F9-A817-CA87DD11B686}" srcOrd="0" destOrd="0" presId="urn:microsoft.com/office/officeart/2005/8/layout/process3#1"/>
    <dgm:cxn modelId="{CF17AA5C-CEB7-46BD-B0C0-923EA30E16A7}" type="presParOf" srcId="{67F21333-B200-4317-946D-515FAF46AE86}" destId="{5FCB8730-A33E-457D-8BB0-C53C0EB12BCA}" srcOrd="6" destOrd="0" presId="urn:microsoft.com/office/officeart/2005/8/layout/process3#1"/>
    <dgm:cxn modelId="{49852827-D3EB-4F67-9716-CD93B00A0E4E}" type="presParOf" srcId="{5FCB8730-A33E-457D-8BB0-C53C0EB12BCA}" destId="{1F1B8A9F-28B3-44B9-B465-6C0F3CB296E4}" srcOrd="0" destOrd="0" presId="urn:microsoft.com/office/officeart/2005/8/layout/process3#1"/>
    <dgm:cxn modelId="{548C0D91-7C72-4D73-B7D9-8104DFF542E6}" type="presParOf" srcId="{5FCB8730-A33E-457D-8BB0-C53C0EB12BCA}" destId="{D693D86D-D50A-4021-9B8B-AE846F133D1B}" srcOrd="1" destOrd="0" presId="urn:microsoft.com/office/officeart/2005/8/layout/process3#1"/>
    <dgm:cxn modelId="{1894A5F4-DB3D-4A8F-B7DF-629D47A1450A}" type="presParOf" srcId="{5FCB8730-A33E-457D-8BB0-C53C0EB12BCA}" destId="{95463861-EF2A-453B-BB55-5113BE337A5A}" srcOrd="2" destOrd="0" presId="urn:microsoft.com/office/officeart/2005/8/layout/process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9FE23F-4D70-4534-A3E7-E66F503981DE}" type="doc">
      <dgm:prSet loTypeId="urn:microsoft.com/office/officeart/2005/8/layout/matrix3" loCatId="matrix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60065F38-769E-4927-BB37-DCBBFFABCF36}">
      <dgm:prSet phldrT="[Text]" custT="1"/>
      <dgm:spPr/>
      <dgm:t>
        <a:bodyPr/>
        <a:lstStyle/>
        <a:p>
          <a:r>
            <a:rPr lang="en-US" sz="1800" dirty="0"/>
            <a:t>Line Extension</a:t>
          </a:r>
        </a:p>
        <a:p>
          <a:r>
            <a:rPr lang="en-US" sz="1400" dirty="0"/>
            <a:t>(Colgate toothpaste, different flavors)</a:t>
          </a:r>
        </a:p>
      </dgm:t>
    </dgm:pt>
    <dgm:pt modelId="{E5D43870-2C7A-435A-A2CC-FA97DEF108BB}" type="parTrans" cxnId="{D1A8B66D-A6E1-45E2-AD59-2FA52A90F4AD}">
      <dgm:prSet/>
      <dgm:spPr/>
      <dgm:t>
        <a:bodyPr/>
        <a:lstStyle/>
        <a:p>
          <a:endParaRPr lang="en-US"/>
        </a:p>
      </dgm:t>
    </dgm:pt>
    <dgm:pt modelId="{50F44E75-3121-43E2-8F23-B44C43FE2279}" type="sibTrans" cxnId="{D1A8B66D-A6E1-45E2-AD59-2FA52A90F4AD}">
      <dgm:prSet/>
      <dgm:spPr/>
      <dgm:t>
        <a:bodyPr/>
        <a:lstStyle/>
        <a:p>
          <a:endParaRPr lang="en-US"/>
        </a:p>
      </dgm:t>
    </dgm:pt>
    <dgm:pt modelId="{5C3D8E26-70E6-45D7-9F73-C5A160025055}">
      <dgm:prSet phldrT="[Text]"/>
      <dgm:spPr/>
      <dgm:t>
        <a:bodyPr/>
        <a:lstStyle/>
        <a:p>
          <a:r>
            <a:rPr lang="en-US" dirty="0"/>
            <a:t>Brand Extension</a:t>
          </a:r>
        </a:p>
        <a:p>
          <a:r>
            <a:rPr lang="en-US" dirty="0"/>
            <a:t>(Colgate: Toothpaste &amp; Toothbrush)</a:t>
          </a:r>
        </a:p>
      </dgm:t>
    </dgm:pt>
    <dgm:pt modelId="{4A8CD990-306B-4043-8959-0EF903B6A2AF}" type="parTrans" cxnId="{A42D9282-E599-4D63-BD0B-C367E00BF826}">
      <dgm:prSet/>
      <dgm:spPr/>
      <dgm:t>
        <a:bodyPr/>
        <a:lstStyle/>
        <a:p>
          <a:endParaRPr lang="en-US"/>
        </a:p>
      </dgm:t>
    </dgm:pt>
    <dgm:pt modelId="{3EA76961-4C4E-4BC0-8948-3F90B9F10BC4}" type="sibTrans" cxnId="{A42D9282-E599-4D63-BD0B-C367E00BF826}">
      <dgm:prSet/>
      <dgm:spPr/>
      <dgm:t>
        <a:bodyPr/>
        <a:lstStyle/>
        <a:p>
          <a:endParaRPr lang="en-US"/>
        </a:p>
      </dgm:t>
    </dgm:pt>
    <dgm:pt modelId="{DDA8A20A-B5E4-4EB4-B47C-41BB5FAE7ED0}">
      <dgm:prSet phldrT="[Text]"/>
      <dgm:spPr/>
      <dgm:t>
        <a:bodyPr/>
        <a:lstStyle/>
        <a:p>
          <a:r>
            <a:rPr lang="en-US" dirty="0"/>
            <a:t>Multibrands</a:t>
          </a:r>
        </a:p>
        <a:p>
          <a:r>
            <a:rPr lang="en-US" dirty="0"/>
            <a:t>(Unilever: Lux, Dove &amp; </a:t>
          </a:r>
          <a:r>
            <a:rPr lang="en-US" dirty="0" err="1"/>
            <a:t>Sunsilk</a:t>
          </a:r>
          <a:r>
            <a:rPr lang="en-US" dirty="0"/>
            <a:t> Shampoo) </a:t>
          </a:r>
        </a:p>
      </dgm:t>
    </dgm:pt>
    <dgm:pt modelId="{E1B68CD4-EAB1-439D-AF5C-58EDCA5362BF}" type="parTrans" cxnId="{00D305D6-7E97-4C96-BFAE-3FA9F147ED0E}">
      <dgm:prSet/>
      <dgm:spPr/>
      <dgm:t>
        <a:bodyPr/>
        <a:lstStyle/>
        <a:p>
          <a:endParaRPr lang="en-US"/>
        </a:p>
      </dgm:t>
    </dgm:pt>
    <dgm:pt modelId="{7E2B323A-E95D-46F1-85B1-EC03667D6BE3}" type="sibTrans" cxnId="{00D305D6-7E97-4C96-BFAE-3FA9F147ED0E}">
      <dgm:prSet/>
      <dgm:spPr/>
      <dgm:t>
        <a:bodyPr/>
        <a:lstStyle/>
        <a:p>
          <a:endParaRPr lang="en-US"/>
        </a:p>
      </dgm:t>
    </dgm:pt>
    <dgm:pt modelId="{94E882AC-9B3A-4A25-B5A8-39ED66FD54FC}">
      <dgm:prSet phldrT="[Text]"/>
      <dgm:spPr/>
      <dgm:t>
        <a:bodyPr/>
        <a:lstStyle/>
        <a:p>
          <a:r>
            <a:rPr lang="en-US" dirty="0"/>
            <a:t>New Brand</a:t>
          </a:r>
        </a:p>
        <a:p>
          <a:r>
            <a:rPr lang="en-US" dirty="0"/>
            <a:t>(</a:t>
          </a:r>
          <a:r>
            <a:rPr lang="en-US" dirty="0" err="1"/>
            <a:t>Olper’s</a:t>
          </a:r>
          <a:r>
            <a:rPr lang="en-US" dirty="0"/>
            <a:t>(milk), </a:t>
          </a:r>
          <a:r>
            <a:rPr lang="en-US" dirty="0" err="1"/>
            <a:t>Olfrute</a:t>
          </a:r>
          <a:r>
            <a:rPr lang="en-US" dirty="0"/>
            <a:t>(juices))</a:t>
          </a:r>
        </a:p>
      </dgm:t>
    </dgm:pt>
    <dgm:pt modelId="{49F635D4-4E4B-4767-90D5-A1B39591FE2A}" type="parTrans" cxnId="{BB1EE422-6819-403E-B9D3-F644A15DAE5C}">
      <dgm:prSet/>
      <dgm:spPr/>
      <dgm:t>
        <a:bodyPr/>
        <a:lstStyle/>
        <a:p>
          <a:endParaRPr lang="en-US"/>
        </a:p>
      </dgm:t>
    </dgm:pt>
    <dgm:pt modelId="{1EFEB39F-BC5A-4BBB-BBCC-B30665A11F04}" type="sibTrans" cxnId="{BB1EE422-6819-403E-B9D3-F644A15DAE5C}">
      <dgm:prSet/>
      <dgm:spPr/>
      <dgm:t>
        <a:bodyPr/>
        <a:lstStyle/>
        <a:p>
          <a:endParaRPr lang="en-US"/>
        </a:p>
      </dgm:t>
    </dgm:pt>
    <dgm:pt modelId="{EE77CA0C-7AE0-4DF0-9E50-7A7DC0AA005D}" type="pres">
      <dgm:prSet presAssocID="{E29FE23F-4D70-4534-A3E7-E66F503981DE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4637BF2-E963-48E0-A4E7-0B45C97F1401}" type="pres">
      <dgm:prSet presAssocID="{E29FE23F-4D70-4534-A3E7-E66F503981DE}" presName="diamond" presStyleLbl="bgShp" presStyleIdx="0" presStyleCnt="1"/>
      <dgm:spPr/>
    </dgm:pt>
    <dgm:pt modelId="{4810ED73-84C4-49AA-98D3-9D59B606EB77}" type="pres">
      <dgm:prSet presAssocID="{E29FE23F-4D70-4534-A3E7-E66F503981DE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B04703-72FE-43E7-A932-CE62F803DE71}" type="pres">
      <dgm:prSet presAssocID="{E29FE23F-4D70-4534-A3E7-E66F503981DE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4588C9-B320-4FC6-AD80-2C9027EB002E}" type="pres">
      <dgm:prSet presAssocID="{E29FE23F-4D70-4534-A3E7-E66F503981DE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01C23C-B854-4FE1-A476-50D126C6FB87}" type="pres">
      <dgm:prSet presAssocID="{E29FE23F-4D70-4534-A3E7-E66F503981DE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7196DE5-68D8-48BA-A501-E9B81753D822}" type="presOf" srcId="{60065F38-769E-4927-BB37-DCBBFFABCF36}" destId="{4810ED73-84C4-49AA-98D3-9D59B606EB77}" srcOrd="0" destOrd="0" presId="urn:microsoft.com/office/officeart/2005/8/layout/matrix3"/>
    <dgm:cxn modelId="{FD5C7B46-B2E3-4A0B-BB7A-5333EE12EF81}" type="presOf" srcId="{E29FE23F-4D70-4534-A3E7-E66F503981DE}" destId="{EE77CA0C-7AE0-4DF0-9E50-7A7DC0AA005D}" srcOrd="0" destOrd="0" presId="urn:microsoft.com/office/officeart/2005/8/layout/matrix3"/>
    <dgm:cxn modelId="{A42D9282-E599-4D63-BD0B-C367E00BF826}" srcId="{E29FE23F-4D70-4534-A3E7-E66F503981DE}" destId="{5C3D8E26-70E6-45D7-9F73-C5A160025055}" srcOrd="1" destOrd="0" parTransId="{4A8CD990-306B-4043-8959-0EF903B6A2AF}" sibTransId="{3EA76961-4C4E-4BC0-8948-3F90B9F10BC4}"/>
    <dgm:cxn modelId="{D1A8B66D-A6E1-45E2-AD59-2FA52A90F4AD}" srcId="{E29FE23F-4D70-4534-A3E7-E66F503981DE}" destId="{60065F38-769E-4927-BB37-DCBBFFABCF36}" srcOrd="0" destOrd="0" parTransId="{E5D43870-2C7A-435A-A2CC-FA97DEF108BB}" sibTransId="{50F44E75-3121-43E2-8F23-B44C43FE2279}"/>
    <dgm:cxn modelId="{00D305D6-7E97-4C96-BFAE-3FA9F147ED0E}" srcId="{E29FE23F-4D70-4534-A3E7-E66F503981DE}" destId="{DDA8A20A-B5E4-4EB4-B47C-41BB5FAE7ED0}" srcOrd="2" destOrd="0" parTransId="{E1B68CD4-EAB1-439D-AF5C-58EDCA5362BF}" sibTransId="{7E2B323A-E95D-46F1-85B1-EC03667D6BE3}"/>
    <dgm:cxn modelId="{7B476D7B-25F5-4165-9667-CBA06AB68F0B}" type="presOf" srcId="{94E882AC-9B3A-4A25-B5A8-39ED66FD54FC}" destId="{E701C23C-B854-4FE1-A476-50D126C6FB87}" srcOrd="0" destOrd="0" presId="urn:microsoft.com/office/officeart/2005/8/layout/matrix3"/>
    <dgm:cxn modelId="{172A4460-B2EF-4A20-BE2E-9ACD705D1A8C}" type="presOf" srcId="{DDA8A20A-B5E4-4EB4-B47C-41BB5FAE7ED0}" destId="{534588C9-B320-4FC6-AD80-2C9027EB002E}" srcOrd="0" destOrd="0" presId="urn:microsoft.com/office/officeart/2005/8/layout/matrix3"/>
    <dgm:cxn modelId="{1E830DB7-B95E-46DA-B467-2D2F90F01368}" type="presOf" srcId="{5C3D8E26-70E6-45D7-9F73-C5A160025055}" destId="{C8B04703-72FE-43E7-A932-CE62F803DE71}" srcOrd="0" destOrd="0" presId="urn:microsoft.com/office/officeart/2005/8/layout/matrix3"/>
    <dgm:cxn modelId="{BB1EE422-6819-403E-B9D3-F644A15DAE5C}" srcId="{E29FE23F-4D70-4534-A3E7-E66F503981DE}" destId="{94E882AC-9B3A-4A25-B5A8-39ED66FD54FC}" srcOrd="3" destOrd="0" parTransId="{49F635D4-4E4B-4767-90D5-A1B39591FE2A}" sibTransId="{1EFEB39F-BC5A-4BBB-BBCC-B30665A11F04}"/>
    <dgm:cxn modelId="{90D367DD-8F4F-493F-8236-A138D35457F6}" type="presParOf" srcId="{EE77CA0C-7AE0-4DF0-9E50-7A7DC0AA005D}" destId="{24637BF2-E963-48E0-A4E7-0B45C97F1401}" srcOrd="0" destOrd="0" presId="urn:microsoft.com/office/officeart/2005/8/layout/matrix3"/>
    <dgm:cxn modelId="{098EA4C0-0A7B-40D8-918E-8A24EB0B7E46}" type="presParOf" srcId="{EE77CA0C-7AE0-4DF0-9E50-7A7DC0AA005D}" destId="{4810ED73-84C4-49AA-98D3-9D59B606EB77}" srcOrd="1" destOrd="0" presId="urn:microsoft.com/office/officeart/2005/8/layout/matrix3"/>
    <dgm:cxn modelId="{839D67ED-33C9-462B-B9F0-6276C3092E7E}" type="presParOf" srcId="{EE77CA0C-7AE0-4DF0-9E50-7A7DC0AA005D}" destId="{C8B04703-72FE-43E7-A932-CE62F803DE71}" srcOrd="2" destOrd="0" presId="urn:microsoft.com/office/officeart/2005/8/layout/matrix3"/>
    <dgm:cxn modelId="{81D2CCE7-A80D-4A67-933B-0C2DB5185B3E}" type="presParOf" srcId="{EE77CA0C-7AE0-4DF0-9E50-7A7DC0AA005D}" destId="{534588C9-B320-4FC6-AD80-2C9027EB002E}" srcOrd="3" destOrd="0" presId="urn:microsoft.com/office/officeart/2005/8/layout/matrix3"/>
    <dgm:cxn modelId="{D5BDFD55-A162-47EF-B106-4F60A7F462A0}" type="presParOf" srcId="{EE77CA0C-7AE0-4DF0-9E50-7A7DC0AA005D}" destId="{E701C23C-B854-4FE1-A476-50D126C6FB8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88610D-E6F0-44CD-BA44-510A327D1277}">
      <dsp:nvSpPr>
        <dsp:cNvPr id="0" name=""/>
        <dsp:cNvSpPr/>
      </dsp:nvSpPr>
      <dsp:spPr>
        <a:xfrm>
          <a:off x="1880" y="43"/>
          <a:ext cx="3850321" cy="174875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lvl="0" algn="ctr" defTabSz="213360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4800" b="0" kern="1200" dirty="0">
              <a:solidFill>
                <a:schemeClr val="tx1"/>
              </a:solidFill>
            </a:rPr>
            <a:t>Consumer products</a:t>
          </a:r>
          <a:endParaRPr sz="4800" kern="1200"/>
        </a:p>
      </dsp:txBody>
      <dsp:txXfrm>
        <a:off x="87247" y="85410"/>
        <a:ext cx="3679587" cy="1578017"/>
      </dsp:txXfrm>
    </dsp:sp>
    <dsp:sp modelId="{DBEB94D2-B4C6-4D99-B28D-BB748F79D2A9}">
      <dsp:nvSpPr>
        <dsp:cNvPr id="0" name=""/>
        <dsp:cNvSpPr/>
      </dsp:nvSpPr>
      <dsp:spPr>
        <a:xfrm>
          <a:off x="1880" y="1836232"/>
          <a:ext cx="3850321" cy="174875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lvl="0" algn="ctr" defTabSz="213360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4800" b="0" kern="1200" dirty="0">
              <a:solidFill>
                <a:schemeClr val="tx1"/>
              </a:solidFill>
            </a:rPr>
            <a:t>Industrial products</a:t>
          </a:r>
          <a:endParaRPr lang="en-US" sz="4800" kern="1200" dirty="0">
            <a:solidFill>
              <a:schemeClr val="tx1"/>
            </a:solidFill>
          </a:endParaRPr>
        </a:p>
      </dsp:txBody>
      <dsp:txXfrm>
        <a:off x="87247" y="1921599"/>
        <a:ext cx="3679587" cy="15780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B05AD-4BBD-4B1D-8B3E-506F0790C702}">
      <dsp:nvSpPr>
        <dsp:cNvPr id="0" name=""/>
        <dsp:cNvSpPr/>
      </dsp:nvSpPr>
      <dsp:spPr>
        <a:xfrm>
          <a:off x="2528" y="5098"/>
          <a:ext cx="1197721" cy="185760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/>
            <a:t>Brand positioning</a:t>
          </a:r>
        </a:p>
      </dsp:txBody>
      <dsp:txXfrm>
        <a:off x="2528" y="5098"/>
        <a:ext cx="1197721" cy="479088"/>
      </dsp:txXfrm>
    </dsp:sp>
    <dsp:sp modelId="{CF711197-AD63-4A19-AD4A-0E53A462FA97}">
      <dsp:nvSpPr>
        <dsp:cNvPr id="0" name=""/>
        <dsp:cNvSpPr/>
      </dsp:nvSpPr>
      <dsp:spPr>
        <a:xfrm>
          <a:off x="247845" y="484186"/>
          <a:ext cx="1197721" cy="2476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/>
            <a:t>Attributes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/>
            <a:t>Benefits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/>
            <a:t>Beliefs and values</a:t>
          </a:r>
        </a:p>
      </dsp:txBody>
      <dsp:txXfrm>
        <a:off x="282925" y="519266"/>
        <a:ext cx="1127561" cy="2406640"/>
      </dsp:txXfrm>
    </dsp:sp>
    <dsp:sp modelId="{565AF919-B279-46EF-B30D-8D294851EEFD}">
      <dsp:nvSpPr>
        <dsp:cNvPr id="0" name=""/>
        <dsp:cNvSpPr/>
      </dsp:nvSpPr>
      <dsp:spPr>
        <a:xfrm>
          <a:off x="1381820" y="95543"/>
          <a:ext cx="384928" cy="298197"/>
        </a:xfrm>
        <a:prstGeom prst="rightArrow">
          <a:avLst>
            <a:gd name="adj1" fmla="val 60000"/>
            <a:gd name="adj2" fmla="val 5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1381820" y="155182"/>
        <a:ext cx="295469" cy="178919"/>
      </dsp:txXfrm>
    </dsp:sp>
    <dsp:sp modelId="{32778F8E-8196-4183-8C00-5385F2AE958C}">
      <dsp:nvSpPr>
        <dsp:cNvPr id="0" name=""/>
        <dsp:cNvSpPr/>
      </dsp:nvSpPr>
      <dsp:spPr>
        <a:xfrm>
          <a:off x="1926530" y="5098"/>
          <a:ext cx="1197721" cy="185760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/>
            <a:t>Brand name selection</a:t>
          </a:r>
        </a:p>
      </dsp:txBody>
      <dsp:txXfrm>
        <a:off x="1926530" y="5098"/>
        <a:ext cx="1197721" cy="479088"/>
      </dsp:txXfrm>
    </dsp:sp>
    <dsp:sp modelId="{6A10F614-09FB-4A08-BEBC-93555BCC9E53}">
      <dsp:nvSpPr>
        <dsp:cNvPr id="0" name=""/>
        <dsp:cNvSpPr/>
      </dsp:nvSpPr>
      <dsp:spPr>
        <a:xfrm>
          <a:off x="2177200" y="400743"/>
          <a:ext cx="1197721" cy="2476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/>
            <a:t>Selection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/>
            <a:t>Protection</a:t>
          </a:r>
        </a:p>
      </dsp:txBody>
      <dsp:txXfrm>
        <a:off x="2212280" y="435823"/>
        <a:ext cx="1127561" cy="2406640"/>
      </dsp:txXfrm>
    </dsp:sp>
    <dsp:sp modelId="{C02312AE-7BF3-4F1D-9216-B23DC7E83F6F}">
      <dsp:nvSpPr>
        <dsp:cNvPr id="0" name=""/>
        <dsp:cNvSpPr/>
      </dsp:nvSpPr>
      <dsp:spPr>
        <a:xfrm>
          <a:off x="3305822" y="95543"/>
          <a:ext cx="384928" cy="298197"/>
        </a:xfrm>
        <a:prstGeom prst="rightArrow">
          <a:avLst>
            <a:gd name="adj1" fmla="val 60000"/>
            <a:gd name="adj2" fmla="val 5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3305822" y="155182"/>
        <a:ext cx="295469" cy="178919"/>
      </dsp:txXfrm>
    </dsp:sp>
    <dsp:sp modelId="{3E9B3198-8D6C-445E-9EE6-146C8F34B8D9}">
      <dsp:nvSpPr>
        <dsp:cNvPr id="0" name=""/>
        <dsp:cNvSpPr/>
      </dsp:nvSpPr>
      <dsp:spPr>
        <a:xfrm>
          <a:off x="3850532" y="5098"/>
          <a:ext cx="1197721" cy="185760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/>
            <a:t>Brand Sponsorship</a:t>
          </a:r>
        </a:p>
      </dsp:txBody>
      <dsp:txXfrm>
        <a:off x="3850532" y="5098"/>
        <a:ext cx="1197721" cy="479088"/>
      </dsp:txXfrm>
    </dsp:sp>
    <dsp:sp modelId="{42F3FCA5-3CDF-4A03-A16B-E0F43C94E2F2}">
      <dsp:nvSpPr>
        <dsp:cNvPr id="0" name=""/>
        <dsp:cNvSpPr/>
      </dsp:nvSpPr>
      <dsp:spPr>
        <a:xfrm>
          <a:off x="4086776" y="484186"/>
          <a:ext cx="1215866" cy="2476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50" kern="1200" dirty="0"/>
            <a:t>Manufacturer’s brand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50" kern="1200" dirty="0"/>
            <a:t>Private brands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50" kern="1200" dirty="0"/>
            <a:t>Licensing 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50" kern="1200" dirty="0"/>
            <a:t>Co branding</a:t>
          </a:r>
        </a:p>
      </dsp:txBody>
      <dsp:txXfrm>
        <a:off x="4122387" y="519797"/>
        <a:ext cx="1144644" cy="2405578"/>
      </dsp:txXfrm>
    </dsp:sp>
    <dsp:sp modelId="{83E50312-2CBF-4143-A682-BEAC17B831F6}">
      <dsp:nvSpPr>
        <dsp:cNvPr id="0" name=""/>
        <dsp:cNvSpPr/>
      </dsp:nvSpPr>
      <dsp:spPr>
        <a:xfrm>
          <a:off x="5232092" y="95543"/>
          <a:ext cx="389737" cy="298197"/>
        </a:xfrm>
        <a:prstGeom prst="rightArrow">
          <a:avLst>
            <a:gd name="adj1" fmla="val 60000"/>
            <a:gd name="adj2" fmla="val 5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5232092" y="155182"/>
        <a:ext cx="300278" cy="178919"/>
      </dsp:txXfrm>
    </dsp:sp>
    <dsp:sp modelId="{D693D86D-D50A-4021-9B8B-AE846F133D1B}">
      <dsp:nvSpPr>
        <dsp:cNvPr id="0" name=""/>
        <dsp:cNvSpPr/>
      </dsp:nvSpPr>
      <dsp:spPr>
        <a:xfrm>
          <a:off x="5783607" y="5098"/>
          <a:ext cx="1197721" cy="185760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/>
            <a:t>Brand Development</a:t>
          </a:r>
        </a:p>
      </dsp:txBody>
      <dsp:txXfrm>
        <a:off x="5783607" y="5098"/>
        <a:ext cx="1197721" cy="479088"/>
      </dsp:txXfrm>
    </dsp:sp>
    <dsp:sp modelId="{95463861-EF2A-453B-BB55-5113BE337A5A}">
      <dsp:nvSpPr>
        <dsp:cNvPr id="0" name=""/>
        <dsp:cNvSpPr/>
      </dsp:nvSpPr>
      <dsp:spPr>
        <a:xfrm>
          <a:off x="5942897" y="484186"/>
          <a:ext cx="1369773" cy="2476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/>
            <a:t>Line extension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/>
            <a:t>Brand extension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/>
            <a:t>Multibrands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/>
            <a:t>New Brands</a:t>
          </a:r>
        </a:p>
      </dsp:txBody>
      <dsp:txXfrm>
        <a:off x="5983016" y="524305"/>
        <a:ext cx="1289535" cy="23965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37BF2-E963-48E0-A4E7-0B45C97F1401}">
      <dsp:nvSpPr>
        <dsp:cNvPr id="0" name=""/>
        <dsp:cNvSpPr/>
      </dsp:nvSpPr>
      <dsp:spPr>
        <a:xfrm>
          <a:off x="3505199" y="0"/>
          <a:ext cx="3405809" cy="3405809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10ED73-84C4-49AA-98D3-9D59B606EB77}">
      <dsp:nvSpPr>
        <dsp:cNvPr id="0" name=""/>
        <dsp:cNvSpPr/>
      </dsp:nvSpPr>
      <dsp:spPr>
        <a:xfrm>
          <a:off x="3828751" y="323551"/>
          <a:ext cx="1328265" cy="13282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Line Extension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(Colgate toothpaste, different flavors)</a:t>
          </a:r>
        </a:p>
      </dsp:txBody>
      <dsp:txXfrm>
        <a:off x="3893592" y="388392"/>
        <a:ext cx="1198583" cy="1198583"/>
      </dsp:txXfrm>
    </dsp:sp>
    <dsp:sp modelId="{C8B04703-72FE-43E7-A932-CE62F803DE71}">
      <dsp:nvSpPr>
        <dsp:cNvPr id="0" name=""/>
        <dsp:cNvSpPr/>
      </dsp:nvSpPr>
      <dsp:spPr>
        <a:xfrm>
          <a:off x="5259191" y="323551"/>
          <a:ext cx="1328265" cy="13282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Brand Extension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(Colgate: Toothpaste &amp; Toothbrush)</a:t>
          </a:r>
        </a:p>
      </dsp:txBody>
      <dsp:txXfrm>
        <a:off x="5324032" y="388392"/>
        <a:ext cx="1198583" cy="1198583"/>
      </dsp:txXfrm>
    </dsp:sp>
    <dsp:sp modelId="{534588C9-B320-4FC6-AD80-2C9027EB002E}">
      <dsp:nvSpPr>
        <dsp:cNvPr id="0" name=""/>
        <dsp:cNvSpPr/>
      </dsp:nvSpPr>
      <dsp:spPr>
        <a:xfrm>
          <a:off x="3828751" y="1753991"/>
          <a:ext cx="1328265" cy="13282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Multibrands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(Unilever: Lux, Dove &amp; </a:t>
          </a:r>
          <a:r>
            <a:rPr lang="en-US" sz="1400" kern="1200" dirty="0" err="1"/>
            <a:t>Sunsilk</a:t>
          </a:r>
          <a:r>
            <a:rPr lang="en-US" sz="1400" kern="1200" dirty="0"/>
            <a:t> Shampoo) </a:t>
          </a:r>
        </a:p>
      </dsp:txBody>
      <dsp:txXfrm>
        <a:off x="3893592" y="1818832"/>
        <a:ext cx="1198583" cy="1198583"/>
      </dsp:txXfrm>
    </dsp:sp>
    <dsp:sp modelId="{E701C23C-B854-4FE1-A476-50D126C6FB87}">
      <dsp:nvSpPr>
        <dsp:cNvPr id="0" name=""/>
        <dsp:cNvSpPr/>
      </dsp:nvSpPr>
      <dsp:spPr>
        <a:xfrm>
          <a:off x="5259191" y="1753991"/>
          <a:ext cx="1328265" cy="13282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New Brand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(</a:t>
          </a:r>
          <a:r>
            <a:rPr lang="en-US" sz="1400" kern="1200" dirty="0" err="1"/>
            <a:t>Olper’s</a:t>
          </a:r>
          <a:r>
            <a:rPr lang="en-US" sz="1400" kern="1200" dirty="0"/>
            <a:t>(milk), </a:t>
          </a:r>
          <a:r>
            <a:rPr lang="en-US" sz="1400" kern="1200" dirty="0" err="1"/>
            <a:t>Olfrute</a:t>
          </a:r>
          <a:r>
            <a:rPr lang="en-US" sz="1400" kern="1200" dirty="0"/>
            <a:t>(juices))</a:t>
          </a:r>
        </a:p>
      </dsp:txBody>
      <dsp:txXfrm>
        <a:off x="5324032" y="1818832"/>
        <a:ext cx="1198583" cy="11985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#1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srcNode" val="parTx"/>
            <dgm:param type="dstNode" val="parTx"/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FF72D-2BCD-4878-9461-1E0502C17650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931AA-791C-4FAB-B7E3-2F90FAB7A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D8F719E-32BE-4427-A3F6-B925AEB833D5}" type="slidenum">
              <a:rPr lang="en-US"/>
              <a:t>8</a:t>
            </a:fld>
            <a:endParaRPr lang="en-US"/>
          </a:p>
        </p:txBody>
      </p:sp>
      <p:sp>
        <p:nvSpPr>
          <p:cNvPr id="643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2700" y="463550"/>
            <a:ext cx="6883400" cy="3873500"/>
          </a:xfrm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643075" name="Rectangle 3"/>
          <p:cNvSpPr>
            <a:spLocks noChangeArrowheads="1"/>
          </p:cNvSpPr>
          <p:nvPr/>
        </p:nvSpPr>
        <p:spPr bwMode="auto">
          <a:xfrm>
            <a:off x="-4763" y="38100"/>
            <a:ext cx="3910013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>
                <a:latin typeface="Arial" panose="020B0604020202020204" pitchFamily="34" charset="0"/>
              </a:rPr>
              <a:t>Product Levels</a:t>
            </a:r>
            <a:endParaRPr lang="en-US" sz="1400" b="1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b="1">
                <a:latin typeface="Arial" panose="020B0604020202020204" pitchFamily="34" charset="0"/>
              </a:rPr>
              <a:t>This CTR corresponds to Figure 8-1 on p. 239 and relates to the material on pp. 239-240.</a:t>
            </a:r>
          </a:p>
        </p:txBody>
      </p:sp>
      <p:sp>
        <p:nvSpPr>
          <p:cNvPr id="643076" name="Rectangle 4"/>
          <p:cNvSpPr>
            <a:spLocks noChangeArrowheads="1"/>
          </p:cNvSpPr>
          <p:nvPr/>
        </p:nvSpPr>
        <p:spPr bwMode="auto">
          <a:xfrm>
            <a:off x="-4763" y="2909888"/>
            <a:ext cx="6753226" cy="578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lnSpc>
                <a:spcPct val="97000"/>
              </a:lnSpc>
              <a:spcAft>
                <a:spcPct val="49000"/>
              </a:spcAft>
            </a:pPr>
            <a:r>
              <a:rPr lang="en-US" sz="1600" b="1">
                <a:latin typeface="Arial" panose="020B0604020202020204" pitchFamily="34" charset="0"/>
              </a:rPr>
              <a:t>Product</a:t>
            </a:r>
            <a:endParaRPr lang="en-US" sz="1400" b="1">
              <a:latin typeface="Arial" panose="020B0604020202020204" pitchFamily="34" charset="0"/>
            </a:endParaRPr>
          </a:p>
          <a:p>
            <a:pPr>
              <a:lnSpc>
                <a:spcPct val="97000"/>
              </a:lnSpc>
              <a:spcAft>
                <a:spcPct val="49000"/>
              </a:spcAft>
            </a:pPr>
            <a:r>
              <a:rPr lang="en-US" sz="1400" b="1">
                <a:latin typeface="Arial" panose="020B0604020202020204" pitchFamily="34" charset="0"/>
              </a:rPr>
              <a:t>A </a:t>
            </a:r>
            <a:r>
              <a:rPr lang="en-US" sz="1400" b="1" i="1">
                <a:latin typeface="Arial" panose="020B0604020202020204" pitchFamily="34" charset="0"/>
              </a:rPr>
              <a:t>product </a:t>
            </a:r>
            <a:r>
              <a:rPr lang="en-US" sz="1400" b="1">
                <a:latin typeface="Arial" panose="020B0604020202020204" pitchFamily="34" charset="0"/>
              </a:rPr>
              <a:t> is anything that can be offered to a market for attention, acquisition, use, or consumption and that might satisfy a want or need.  Products can be physical objects, services, persons, places, organizations, and ideas.</a:t>
            </a:r>
          </a:p>
          <a:p>
            <a:pPr>
              <a:lnSpc>
                <a:spcPct val="97000"/>
              </a:lnSpc>
              <a:spcAft>
                <a:spcPct val="49000"/>
              </a:spcAft>
            </a:pPr>
            <a:r>
              <a:rPr lang="en-US" sz="1600" b="1">
                <a:latin typeface="Arial" panose="020B0604020202020204" pitchFamily="34" charset="0"/>
              </a:rPr>
              <a:t>Product Levels</a:t>
            </a:r>
            <a:endParaRPr lang="en-US" sz="1400" b="1">
              <a:latin typeface="Arial" panose="020B0604020202020204" pitchFamily="34" charset="0"/>
            </a:endParaRPr>
          </a:p>
          <a:p>
            <a:pPr>
              <a:lnSpc>
                <a:spcPct val="97000"/>
              </a:lnSpc>
              <a:spcAft>
                <a:spcPct val="49000"/>
              </a:spcAft>
            </a:pPr>
            <a:r>
              <a:rPr lang="en-US" sz="1400" b="1" i="1">
                <a:latin typeface="Arial" panose="020B0604020202020204" pitchFamily="34" charset="0"/>
              </a:rPr>
              <a:t>Core Product. </a:t>
            </a:r>
            <a:r>
              <a:rPr lang="en-US" sz="1400" b="1">
                <a:latin typeface="Arial" panose="020B0604020202020204" pitchFamily="34" charset="0"/>
              </a:rPr>
              <a:t>This concept refers to the use-benefit, problem-solving service that the consumer is really buying when purchasing a product.  </a:t>
            </a:r>
          </a:p>
          <a:p>
            <a:pPr>
              <a:lnSpc>
                <a:spcPct val="97000"/>
              </a:lnSpc>
              <a:spcAft>
                <a:spcPct val="49000"/>
              </a:spcAft>
            </a:pPr>
            <a:r>
              <a:rPr lang="en-US" sz="1400" b="1" i="1">
                <a:latin typeface="Arial" panose="020B0604020202020204" pitchFamily="34" charset="0"/>
              </a:rPr>
              <a:t>Actual Product.</a:t>
            </a:r>
            <a:r>
              <a:rPr lang="en-US" sz="1400" b="1">
                <a:latin typeface="Arial" panose="020B0604020202020204" pitchFamily="34" charset="0"/>
              </a:rPr>
              <a:t> The actual product is the tangible product or intangible service that serves as the medium for receiving core product benefits.  Five characteristics:  </a:t>
            </a:r>
          </a:p>
          <a:p>
            <a:pPr>
              <a:lnSpc>
                <a:spcPct val="97000"/>
              </a:lnSpc>
              <a:spcAft>
                <a:spcPct val="49000"/>
              </a:spcAft>
            </a:pPr>
            <a:r>
              <a:rPr lang="en-US" sz="1400" b="1" i="1">
                <a:latin typeface="Arial" panose="020B0604020202020204" pitchFamily="34" charset="0"/>
              </a:rPr>
              <a:t>  Quality Level</a:t>
            </a:r>
            <a:r>
              <a:rPr lang="en-US" sz="1400" b="1">
                <a:latin typeface="Arial" panose="020B0604020202020204" pitchFamily="34" charset="0"/>
              </a:rPr>
              <a:t> refers to product performance.   </a:t>
            </a:r>
          </a:p>
          <a:p>
            <a:pPr lvl="1">
              <a:lnSpc>
                <a:spcPct val="97000"/>
              </a:lnSpc>
              <a:spcAft>
                <a:spcPct val="49000"/>
              </a:spcAft>
              <a:buFontTx/>
              <a:buChar char="•"/>
            </a:pPr>
            <a:r>
              <a:rPr lang="en-US" sz="1400" b="1" i="1">
                <a:latin typeface="Arial" panose="020B0604020202020204" pitchFamily="34" charset="0"/>
              </a:rPr>
              <a:t>  Features</a:t>
            </a:r>
            <a:r>
              <a:rPr lang="en-US" sz="1400" b="1">
                <a:latin typeface="Arial" panose="020B0604020202020204" pitchFamily="34" charset="0"/>
              </a:rPr>
              <a:t> include combinations of product attributes.   </a:t>
            </a:r>
          </a:p>
          <a:p>
            <a:pPr lvl="1">
              <a:lnSpc>
                <a:spcPct val="97000"/>
              </a:lnSpc>
              <a:spcAft>
                <a:spcPct val="49000"/>
              </a:spcAft>
              <a:buFontTx/>
              <a:buChar char="•"/>
            </a:pPr>
            <a:r>
              <a:rPr lang="en-US" sz="1400" b="1" i="1">
                <a:latin typeface="Arial" panose="020B0604020202020204" pitchFamily="34" charset="0"/>
              </a:rPr>
              <a:t>  Design</a:t>
            </a:r>
            <a:r>
              <a:rPr lang="en-US" sz="1400" b="1">
                <a:latin typeface="Arial" panose="020B0604020202020204" pitchFamily="34" charset="0"/>
              </a:rPr>
              <a:t> consists of aesthetic or ergonomic aspects of the product.  </a:t>
            </a:r>
          </a:p>
          <a:p>
            <a:pPr lvl="1">
              <a:lnSpc>
                <a:spcPct val="97000"/>
              </a:lnSpc>
              <a:spcAft>
                <a:spcPct val="49000"/>
              </a:spcAft>
              <a:buFontTx/>
              <a:buChar char="•"/>
            </a:pPr>
            <a:r>
              <a:rPr lang="en-US" sz="1400" b="1" i="1">
                <a:latin typeface="Arial" panose="020B0604020202020204" pitchFamily="34" charset="0"/>
              </a:rPr>
              <a:t>  Brand Name</a:t>
            </a:r>
            <a:r>
              <a:rPr lang="en-US" sz="1400" b="1">
                <a:latin typeface="Arial" panose="020B0604020202020204" pitchFamily="34" charset="0"/>
              </a:rPr>
              <a:t> may help consumers position and identify the product.  </a:t>
            </a:r>
          </a:p>
          <a:p>
            <a:pPr lvl="1">
              <a:lnSpc>
                <a:spcPct val="97000"/>
              </a:lnSpc>
              <a:spcAft>
                <a:spcPct val="49000"/>
              </a:spcAft>
              <a:buFontTx/>
              <a:buChar char="•"/>
            </a:pPr>
            <a:r>
              <a:rPr lang="en-US" sz="1400" b="1" i="1">
                <a:latin typeface="Arial" panose="020B0604020202020204" pitchFamily="34" charset="0"/>
              </a:rPr>
              <a:t>  Packaging</a:t>
            </a:r>
            <a:r>
              <a:rPr lang="en-US" sz="1400" b="1">
                <a:latin typeface="Arial" panose="020B0604020202020204" pitchFamily="34" charset="0"/>
              </a:rPr>
              <a:t> serves to both protect the product and to promote it to consumers.</a:t>
            </a:r>
          </a:p>
          <a:p>
            <a:pPr>
              <a:lnSpc>
                <a:spcPct val="97000"/>
              </a:lnSpc>
              <a:spcAft>
                <a:spcPct val="49000"/>
              </a:spcAft>
            </a:pPr>
            <a:r>
              <a:rPr lang="en-US" sz="1400" b="1" i="1">
                <a:latin typeface="Arial" panose="020B0604020202020204" pitchFamily="34" charset="0"/>
              </a:rPr>
              <a:t>Augmented Product.</a:t>
            </a:r>
            <a:r>
              <a:rPr lang="en-US" sz="1400" b="1">
                <a:latin typeface="Arial" panose="020B0604020202020204" pitchFamily="34" charset="0"/>
              </a:rPr>
              <a:t> The augmented consists of the  measures taken to help the consumer put the actual product to sustained use.  Measures can include installation, delivery &amp; credit, warranties, and after sale service.</a:t>
            </a:r>
          </a:p>
          <a:p>
            <a:pPr eaLnBrk="1" hangingPunct="1">
              <a:lnSpc>
                <a:spcPct val="97000"/>
              </a:lnSpc>
              <a:spcAft>
                <a:spcPct val="49000"/>
              </a:spcAft>
            </a:pPr>
            <a:endParaRPr lang="en-US" sz="1400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853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C073CC9-DDB2-4109-8A96-170C34D83660}" type="slidenum">
              <a:rPr lang="en-US"/>
              <a:t>20</a:t>
            </a:fld>
            <a:endParaRPr lang="en-US"/>
          </a:p>
        </p:txBody>
      </p:sp>
      <p:sp>
        <p:nvSpPr>
          <p:cNvPr id="68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373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eaLnBrk="1" hangingPunct="1"/>
            <a:fld id="{C05FAE7B-2F67-4486-98D5-47226380EE93}" type="slidenum">
              <a:rPr lang="en-US" smtClean="0">
                <a:latin typeface="Calibri" panose="020F0502020204030204" charset="0"/>
              </a:rPr>
              <a:t>34</a:t>
            </a:fld>
            <a:endParaRPr lang="en-US">
              <a:latin typeface="Calibri" panose="020F050202020403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386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05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874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273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48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596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408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464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77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5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0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128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153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18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575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000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178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9904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363200" cy="1143000"/>
          </a:xfrm>
        </p:spPr>
        <p:txBody>
          <a:bodyPr/>
          <a:lstStyle>
            <a:lvl1pPr>
              <a:lnSpc>
                <a:spcPts val="3600"/>
              </a:lnSpc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219200" y="1447800"/>
            <a:ext cx="9550400" cy="381000"/>
          </a:xfrm>
        </p:spPr>
        <p:txBody>
          <a:bodyPr anchor="ctr"/>
          <a:lstStyle>
            <a:lvl1pPr algn="ctr">
              <a:buNone/>
              <a:defRPr sz="2800" b="1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529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0886493-F3FA-4C05-A8DA-99F210FCFB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2E1BAC9-A252-48A8-885F-BF3CB3DB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50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Product, Services, and </a:t>
            </a:r>
            <a:r>
              <a:rPr lang="en-US" b="1" dirty="0" smtClean="0"/>
              <a:t>Brands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Chapter: 8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10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3183" y="815010"/>
            <a:ext cx="10058400" cy="531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5123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9138" y="1414669"/>
            <a:ext cx="8374062" cy="685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Value-Driven Marketing</a:t>
            </a:r>
          </a:p>
        </p:txBody>
      </p:sp>
      <p:sp>
        <p:nvSpPr>
          <p:cNvPr id="601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5129" y="2206488"/>
            <a:ext cx="10575235" cy="3935896"/>
          </a:xfrm>
        </p:spPr>
        <p:txBody>
          <a:bodyPr>
            <a:normAutofit fontScale="85000" lnSpcReduction="20000"/>
          </a:bodyPr>
          <a:lstStyle/>
          <a:p>
            <a:pPr marL="222250" indent="-222250">
              <a:buNone/>
            </a:pPr>
            <a:endParaRPr lang="en-US" b="1" dirty="0" smtClean="0">
              <a:latin typeface="Arial Unicode MS" pitchFamily="34" charset="-128"/>
              <a:cs typeface="Arial" panose="020B0604020202020204" pitchFamily="34" charset="0"/>
            </a:endParaRPr>
          </a:p>
          <a:p>
            <a:pPr marL="222250" indent="-222250">
              <a:buNone/>
            </a:pPr>
            <a:r>
              <a:rPr lang="en-US" b="1" dirty="0" smtClean="0">
                <a:latin typeface="Arial Unicode MS" pitchFamily="34" charset="-128"/>
                <a:cs typeface="Arial" panose="020B0604020202020204" pitchFamily="34" charset="0"/>
              </a:rPr>
              <a:t>Value</a:t>
            </a:r>
            <a:endParaRPr lang="en-US" b="1" dirty="0">
              <a:latin typeface="Arial Unicode MS" pitchFamily="34" charset="-128"/>
              <a:cs typeface="Arial" panose="020B0604020202020204" pitchFamily="34" charset="0"/>
            </a:endParaRPr>
          </a:p>
          <a:p>
            <a:pPr marL="519430" lvl="1" indent="-182880"/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A customer’s </a:t>
            </a:r>
            <a:r>
              <a:rPr lang="en-US" u="sng" dirty="0">
                <a:latin typeface="Arial Unicode MS" pitchFamily="34" charset="-128"/>
                <a:cs typeface="Arial" panose="020B0604020202020204" pitchFamily="34" charset="0"/>
              </a:rPr>
              <a:t>subjective assessment of benefits</a:t>
            </a: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 relative to </a:t>
            </a:r>
            <a:r>
              <a:rPr lang="en-US" u="sng" dirty="0">
                <a:latin typeface="Arial Unicode MS" pitchFamily="34" charset="-128"/>
                <a:cs typeface="Arial" panose="020B0604020202020204" pitchFamily="34" charset="0"/>
              </a:rPr>
              <a:t>the costs</a:t>
            </a: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 in determining the worth of a product</a:t>
            </a:r>
          </a:p>
          <a:p>
            <a:pPr marL="857250" lvl="2" indent="-174625"/>
            <a:r>
              <a:rPr lang="en-US" b="1" dirty="0">
                <a:latin typeface="Arial Unicode MS" pitchFamily="34" charset="-128"/>
                <a:cs typeface="Arial" panose="020B0604020202020204" pitchFamily="34" charset="0"/>
              </a:rPr>
              <a:t>Customer value </a:t>
            </a: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= </a:t>
            </a:r>
            <a:r>
              <a:rPr lang="en-US" b="1" dirty="0">
                <a:latin typeface="Arial Unicode MS" pitchFamily="34" charset="-128"/>
                <a:cs typeface="Arial" panose="020B0604020202020204" pitchFamily="34" charset="0"/>
              </a:rPr>
              <a:t>customer benefits – customer costs</a:t>
            </a:r>
          </a:p>
          <a:p>
            <a:pPr marL="519430" lvl="1" indent="-182880"/>
            <a:r>
              <a:rPr lang="en-US" u="sng" dirty="0">
                <a:latin typeface="Arial Unicode MS" pitchFamily="34" charset="-128"/>
                <a:cs typeface="Arial" panose="020B0604020202020204" pitchFamily="34" charset="0"/>
              </a:rPr>
              <a:t>Customer benefits</a:t>
            </a:r>
          </a:p>
          <a:p>
            <a:pPr marL="857250" lvl="2" indent="-174625"/>
            <a:r>
              <a:rPr lang="en-US" u="sng" dirty="0">
                <a:latin typeface="Arial Unicode MS" pitchFamily="34" charset="-128"/>
                <a:cs typeface="Arial" panose="020B0604020202020204" pitchFamily="34" charset="0"/>
              </a:rPr>
              <a:t>Anything desired by the customer</a:t>
            </a: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 that is received in an exchange</a:t>
            </a:r>
          </a:p>
          <a:p>
            <a:pPr marL="519430" lvl="1" indent="-182880"/>
            <a:r>
              <a:rPr lang="en-US" u="sng" dirty="0">
                <a:latin typeface="Arial Unicode MS" pitchFamily="34" charset="-128"/>
                <a:cs typeface="Arial" panose="020B0604020202020204" pitchFamily="34" charset="0"/>
              </a:rPr>
              <a:t>Customer costs</a:t>
            </a:r>
          </a:p>
          <a:p>
            <a:pPr marL="857250" lvl="2" indent="-174625"/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Anything a </a:t>
            </a:r>
            <a:r>
              <a:rPr lang="en-US" u="sng" dirty="0">
                <a:latin typeface="Arial Unicode MS" pitchFamily="34" charset="-128"/>
                <a:cs typeface="Arial" panose="020B0604020202020204" pitchFamily="34" charset="0"/>
              </a:rPr>
              <a:t>customer gives up</a:t>
            </a: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 in an exchange for benefits</a:t>
            </a:r>
          </a:p>
          <a:p>
            <a:pPr marL="1200150" lvl="3" indent="-111125"/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Monetary price of the benefit</a:t>
            </a:r>
          </a:p>
          <a:p>
            <a:pPr marL="1200150" lvl="3" indent="-111125"/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Search costs (time and effort) to locate the product</a:t>
            </a:r>
          </a:p>
          <a:p>
            <a:pPr marL="1200150" lvl="3" indent="-111125"/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Risks associated with the exchange</a:t>
            </a:r>
          </a:p>
        </p:txBody>
      </p:sp>
    </p:spTree>
    <p:extLst>
      <p:ext uri="{BB962C8B-B14F-4D97-AF65-F5344CB8AC3E}">
        <p14:creationId xmlns:p14="http://schemas.microsoft.com/office/powerpoint/2010/main" val="5148550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2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017104"/>
            <a:ext cx="7772400" cy="121699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Benefits</a:t>
            </a:r>
          </a:p>
        </p:txBody>
      </p:sp>
      <p:sp>
        <p:nvSpPr>
          <p:cNvPr id="606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2922103"/>
            <a:ext cx="7848600" cy="4419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C"/>
            </a:pP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Consumers don’t buy products; they buy benefits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C"/>
            </a:pPr>
            <a:endParaRPr lang="en-US" dirty="0">
              <a:latin typeface="Arial Unicode MS" pitchFamily="34" charset="-128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C"/>
            </a:pPr>
            <a:r>
              <a:rPr lang="en-US" u="sng" dirty="0">
                <a:latin typeface="Arial Unicode MS" pitchFamily="34" charset="-128"/>
                <a:cs typeface="Arial" panose="020B0604020202020204" pitchFamily="34" charset="0"/>
              </a:rPr>
              <a:t>Functional benefits</a:t>
            </a: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: relating to the </a:t>
            </a:r>
            <a:r>
              <a:rPr lang="en-US" u="sng" dirty="0">
                <a:latin typeface="Arial Unicode MS" pitchFamily="34" charset="-128"/>
                <a:cs typeface="Arial" panose="020B0604020202020204" pitchFamily="34" charset="0"/>
              </a:rPr>
              <a:t>practical purpose</a:t>
            </a: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 a product serves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C"/>
            </a:pPr>
            <a:endParaRPr lang="en-US" dirty="0">
              <a:latin typeface="Arial Unicode MS" pitchFamily="34" charset="-128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C"/>
            </a:pPr>
            <a:r>
              <a:rPr lang="en-US" u="sng" dirty="0">
                <a:latin typeface="Arial Unicode MS" pitchFamily="34" charset="-128"/>
                <a:cs typeface="Arial" panose="020B0604020202020204" pitchFamily="34" charset="0"/>
              </a:rPr>
              <a:t>Psychological benefits</a:t>
            </a: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: relating to </a:t>
            </a:r>
            <a:r>
              <a:rPr lang="en-US" u="sng" dirty="0">
                <a:latin typeface="Arial Unicode MS" pitchFamily="34" charset="-128"/>
                <a:cs typeface="Arial" panose="020B0604020202020204" pitchFamily="34" charset="0"/>
              </a:rPr>
              <a:t>how a product makes one feel</a:t>
            </a:r>
          </a:p>
        </p:txBody>
      </p:sp>
    </p:spTree>
    <p:extLst>
      <p:ext uri="{BB962C8B-B14F-4D97-AF65-F5344CB8AC3E}">
        <p14:creationId xmlns:p14="http://schemas.microsoft.com/office/powerpoint/2010/main" val="6285916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414670"/>
            <a:ext cx="8382000" cy="685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600" b="1">
                <a:latin typeface="Arial Unicode MS" pitchFamily="34" charset="-128"/>
                <a:cs typeface="Arial" panose="020B0604020202020204" pitchFamily="34" charset="0"/>
              </a:rPr>
              <a:t>What is a Product?</a:t>
            </a:r>
          </a:p>
        </p:txBody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035" y="2862470"/>
            <a:ext cx="10396329" cy="4114800"/>
          </a:xfrm>
        </p:spPr>
        <p:txBody>
          <a:bodyPr/>
          <a:lstStyle/>
          <a:p>
            <a:pPr>
              <a:lnSpc>
                <a:spcPct val="95000"/>
              </a:lnSpc>
              <a:spcBef>
                <a:spcPct val="65000"/>
              </a:spcBef>
              <a:buFont typeface="Wingdings" panose="05000000000000000000" pitchFamily="2" charset="2"/>
              <a:buNone/>
            </a:pP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Whatever is offered for “sale” in a marketing exchange</a:t>
            </a:r>
          </a:p>
          <a:p>
            <a:pPr>
              <a:lnSpc>
                <a:spcPct val="95000"/>
              </a:lnSpc>
              <a:spcBef>
                <a:spcPct val="65000"/>
              </a:spcBef>
              <a:buFont typeface="Wingdings" panose="05000000000000000000" pitchFamily="2" charset="2"/>
              <a:buNone/>
            </a:pP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Can be </a:t>
            </a:r>
            <a:r>
              <a:rPr lang="en-US" u="sng" dirty="0">
                <a:latin typeface="Arial Unicode MS" pitchFamily="34" charset="-128"/>
                <a:cs typeface="Arial" panose="020B0604020202020204" pitchFamily="34" charset="0"/>
              </a:rPr>
              <a:t>tangible goods</a:t>
            </a: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 (Laptop), </a:t>
            </a:r>
            <a:r>
              <a:rPr lang="en-US" u="sng" dirty="0">
                <a:latin typeface="Arial Unicode MS" pitchFamily="34" charset="-128"/>
                <a:cs typeface="Arial" panose="020B0604020202020204" pitchFamily="34" charset="0"/>
              </a:rPr>
              <a:t>services</a:t>
            </a: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 (VU education), </a:t>
            </a:r>
            <a:r>
              <a:rPr lang="en-US" u="sng" dirty="0">
                <a:latin typeface="Arial Unicode MS" pitchFamily="34" charset="-128"/>
                <a:cs typeface="Arial" panose="020B0604020202020204" pitchFamily="34" charset="0"/>
              </a:rPr>
              <a:t>ideas</a:t>
            </a: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 (Don’t smoke), </a:t>
            </a:r>
            <a:r>
              <a:rPr lang="en-US" u="sng" dirty="0">
                <a:latin typeface="Arial Unicode MS" pitchFamily="34" charset="-128"/>
                <a:cs typeface="Arial" panose="020B0604020202020204" pitchFamily="34" charset="0"/>
              </a:rPr>
              <a:t>places</a:t>
            </a: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 Unicode MS" pitchFamily="34" charset="-128"/>
                <a:cs typeface="Arial" panose="020B0604020202020204" pitchFamily="34" charset="0"/>
              </a:rPr>
              <a:t>Muree</a:t>
            </a: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 hills ), </a:t>
            </a:r>
            <a:r>
              <a:rPr lang="en-US" u="sng" dirty="0">
                <a:latin typeface="Arial Unicode MS" pitchFamily="34" charset="-128"/>
                <a:cs typeface="Arial" panose="020B0604020202020204" pitchFamily="34" charset="0"/>
              </a:rPr>
              <a:t>persons</a:t>
            </a: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 (sportsman)</a:t>
            </a:r>
            <a:r>
              <a:rPr lang="en-US" sz="2800" dirty="0"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4853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2255" y="1166185"/>
            <a:ext cx="9670009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600" b="1">
                <a:latin typeface="Arial Unicode MS" pitchFamily="34" charset="-128"/>
                <a:cs typeface="Arial" panose="020B0604020202020204" pitchFamily="34" charset="0"/>
              </a:rPr>
              <a:t>Definitions</a:t>
            </a:r>
          </a:p>
        </p:txBody>
      </p:sp>
      <p:sp>
        <p:nvSpPr>
          <p:cNvPr id="619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2695" y="2690185"/>
            <a:ext cx="9859617" cy="4267200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b="1" dirty="0">
                <a:latin typeface="Arial Unicode MS" pitchFamily="34" charset="-128"/>
                <a:cs typeface="Arial" panose="020B0604020202020204" pitchFamily="34" charset="0"/>
              </a:rPr>
              <a:t>Product</a:t>
            </a:r>
          </a:p>
          <a:p>
            <a:pPr lvl="1">
              <a:lnSpc>
                <a:spcPct val="95000"/>
              </a:lnSpc>
            </a:pPr>
            <a:r>
              <a:rPr lang="en-US" sz="2400" u="sng" dirty="0">
                <a:latin typeface="Arial Unicode MS" pitchFamily="34" charset="-128"/>
                <a:cs typeface="Arial" panose="020B0604020202020204" pitchFamily="34" charset="0"/>
              </a:rPr>
              <a:t>Anything offered to a market</a:t>
            </a:r>
            <a:r>
              <a:rPr lang="en-US" sz="2400" dirty="0">
                <a:latin typeface="Arial Unicode MS" pitchFamily="34" charset="-128"/>
                <a:cs typeface="Arial" panose="020B0604020202020204" pitchFamily="34" charset="0"/>
              </a:rPr>
              <a:t> for attention, acquisition, use, or consumption </a:t>
            </a:r>
            <a:r>
              <a:rPr lang="en-US" sz="2400" u="sng" dirty="0">
                <a:latin typeface="Arial Unicode MS" pitchFamily="34" charset="-128"/>
                <a:cs typeface="Arial" panose="020B0604020202020204" pitchFamily="34" charset="0"/>
              </a:rPr>
              <a:t>that might satisfy a need or want</a:t>
            </a:r>
            <a:r>
              <a:rPr lang="en-US" sz="2400" dirty="0">
                <a:latin typeface="Arial Unicode MS" pitchFamily="34" charset="-128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95000"/>
              </a:lnSpc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b="1" dirty="0">
                <a:latin typeface="Arial Unicode MS" pitchFamily="34" charset="-128"/>
                <a:cs typeface="Arial" panose="020B0604020202020204" pitchFamily="34" charset="0"/>
              </a:rPr>
              <a:t>Service</a:t>
            </a:r>
          </a:p>
          <a:p>
            <a:pPr lvl="1">
              <a:lnSpc>
                <a:spcPct val="95000"/>
              </a:lnSpc>
            </a:pPr>
            <a:r>
              <a:rPr lang="en-US" sz="2400" u="sng" dirty="0">
                <a:latin typeface="Arial Unicode MS" pitchFamily="34" charset="-128"/>
                <a:cs typeface="Arial" panose="020B0604020202020204" pitchFamily="34" charset="0"/>
              </a:rPr>
              <a:t>Any activity or benefit</a:t>
            </a:r>
            <a:r>
              <a:rPr lang="en-US" sz="2400" dirty="0">
                <a:latin typeface="Arial Unicode MS" pitchFamily="34" charset="-128"/>
                <a:cs typeface="Arial" panose="020B0604020202020204" pitchFamily="34" charset="0"/>
              </a:rPr>
              <a:t> that </a:t>
            </a:r>
            <a:r>
              <a:rPr lang="en-US" sz="2400" u="sng" dirty="0">
                <a:latin typeface="Arial Unicode MS" pitchFamily="34" charset="-128"/>
                <a:cs typeface="Arial" panose="020B0604020202020204" pitchFamily="34" charset="0"/>
              </a:rPr>
              <a:t>one party can offer to another</a:t>
            </a:r>
            <a:r>
              <a:rPr lang="en-US" sz="2400" dirty="0">
                <a:latin typeface="Arial Unicode MS" pitchFamily="34" charset="-128"/>
                <a:cs typeface="Arial" panose="020B0604020202020204" pitchFamily="34" charset="0"/>
              </a:rPr>
              <a:t> that is essentially </a:t>
            </a:r>
            <a:r>
              <a:rPr lang="en-US" sz="2400" u="sng" dirty="0">
                <a:latin typeface="Arial Unicode MS" pitchFamily="34" charset="-128"/>
                <a:cs typeface="Arial" panose="020B0604020202020204" pitchFamily="34" charset="0"/>
              </a:rPr>
              <a:t>intangible</a:t>
            </a:r>
            <a:r>
              <a:rPr lang="en-US" sz="2400" dirty="0">
                <a:latin typeface="Arial Unicode MS" pitchFamily="34" charset="-128"/>
                <a:cs typeface="Arial" panose="020B0604020202020204" pitchFamily="34" charset="0"/>
              </a:rPr>
              <a:t> and </a:t>
            </a:r>
            <a:r>
              <a:rPr lang="en-US" sz="2400" u="sng" dirty="0">
                <a:latin typeface="Arial Unicode MS" pitchFamily="34" charset="-128"/>
                <a:cs typeface="Arial" panose="020B0604020202020204" pitchFamily="34" charset="0"/>
              </a:rPr>
              <a:t>does not result in ownership of anything</a:t>
            </a:r>
            <a:r>
              <a:rPr lang="en-US" sz="2400" dirty="0">
                <a:latin typeface="Arial Unicode MS" pitchFamily="34" charset="-128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50844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2988369"/>
            <a:ext cx="7543800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Levels of Products</a:t>
            </a:r>
          </a:p>
        </p:txBody>
      </p:sp>
    </p:spTree>
    <p:extLst>
      <p:ext uri="{BB962C8B-B14F-4D97-AF65-F5344CB8AC3E}">
        <p14:creationId xmlns:p14="http://schemas.microsoft.com/office/powerpoint/2010/main" val="16660855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Oval 2"/>
          <p:cNvSpPr>
            <a:spLocks noChangeArrowheads="1"/>
          </p:cNvSpPr>
          <p:nvPr/>
        </p:nvSpPr>
        <p:spPr bwMode="auto">
          <a:xfrm>
            <a:off x="954157" y="685800"/>
            <a:ext cx="10197547" cy="5410200"/>
          </a:xfrm>
          <a:prstGeom prst="ellipse">
            <a:avLst/>
          </a:prstGeom>
          <a:gradFill rotWithShape="0">
            <a:gsLst>
              <a:gs pos="0">
                <a:srgbClr val="F6BF69"/>
              </a:gs>
              <a:gs pos="100000">
                <a:srgbClr val="F6BF69">
                  <a:gamma/>
                  <a:tint val="89804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</a:ln>
          <a:effectLst>
            <a:outerShdw dist="107763" dir="2700000" algn="ctr" rotWithShape="0">
              <a:srgbClr val="EF9100"/>
            </a:outerShdw>
          </a:effec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642051" name="Oval 3"/>
          <p:cNvSpPr>
            <a:spLocks noChangeArrowheads="1"/>
          </p:cNvSpPr>
          <p:nvPr/>
        </p:nvSpPr>
        <p:spPr bwMode="auto">
          <a:xfrm>
            <a:off x="3232150" y="1792288"/>
            <a:ext cx="5684838" cy="3289300"/>
          </a:xfrm>
          <a:prstGeom prst="ellipse">
            <a:avLst/>
          </a:prstGeom>
          <a:solidFill>
            <a:srgbClr val="EF9100"/>
          </a:solidFill>
          <a:ln w="1270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642053" name="Oval 5"/>
          <p:cNvSpPr>
            <a:spLocks noChangeArrowheads="1"/>
          </p:cNvSpPr>
          <p:nvPr/>
        </p:nvSpPr>
        <p:spPr bwMode="auto">
          <a:xfrm>
            <a:off x="3513138" y="1935163"/>
            <a:ext cx="5167312" cy="2989262"/>
          </a:xfrm>
          <a:prstGeom prst="ellipse">
            <a:avLst/>
          </a:prstGeom>
          <a:gradFill rotWithShape="0">
            <a:gsLst>
              <a:gs pos="0">
                <a:srgbClr val="FEFE70"/>
              </a:gs>
              <a:gs pos="100000">
                <a:srgbClr val="FEFE70">
                  <a:gamma/>
                  <a:tint val="8000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</a:ln>
          <a:effectLst>
            <a:outerShdw dist="107763" dir="2700000" algn="ctr" rotWithShape="0">
              <a:schemeClr val="accent1"/>
            </a:outerShdw>
          </a:effec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642054" name="Oval 6"/>
          <p:cNvSpPr>
            <a:spLocks noChangeArrowheads="1"/>
          </p:cNvSpPr>
          <p:nvPr/>
        </p:nvSpPr>
        <p:spPr bwMode="auto">
          <a:xfrm>
            <a:off x="4806950" y="2684464"/>
            <a:ext cx="2579688" cy="1489075"/>
          </a:xfrm>
          <a:prstGeom prst="ellipse">
            <a:avLst/>
          </a:prstGeom>
          <a:solidFill>
            <a:srgbClr val="F6BF69"/>
          </a:solidFill>
          <a:ln w="1270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642055" name="AutoShape 7"/>
          <p:cNvSpPr>
            <a:spLocks noChangeArrowheads="1"/>
          </p:cNvSpPr>
          <p:nvPr/>
        </p:nvSpPr>
        <p:spPr bwMode="auto">
          <a:xfrm rot="5400000">
            <a:off x="4248944" y="1885156"/>
            <a:ext cx="527050" cy="1912938"/>
          </a:xfrm>
          <a:prstGeom prst="cube">
            <a:avLst>
              <a:gd name="adj" fmla="val 10861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lIns="62683" tIns="31342" rIns="62683" bIns="31342" anchor="ctr"/>
          <a:lstStyle/>
          <a:p>
            <a:pPr algn="ctr" defTabSz="61595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Brand</a:t>
            </a:r>
          </a:p>
          <a:p>
            <a:pPr algn="ctr" defTabSz="61595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Name</a:t>
            </a:r>
          </a:p>
        </p:txBody>
      </p:sp>
      <p:sp>
        <p:nvSpPr>
          <p:cNvPr id="642056" name="AutoShape 8"/>
          <p:cNvSpPr>
            <a:spLocks noChangeArrowheads="1"/>
          </p:cNvSpPr>
          <p:nvPr/>
        </p:nvSpPr>
        <p:spPr bwMode="auto">
          <a:xfrm rot="5400000">
            <a:off x="4202907" y="3082132"/>
            <a:ext cx="508000" cy="1881187"/>
          </a:xfrm>
          <a:prstGeom prst="cube">
            <a:avLst>
              <a:gd name="adj" fmla="val 10861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lIns="62683" tIns="31342" rIns="62683" bIns="31342" anchor="ctr"/>
          <a:lstStyle/>
          <a:p>
            <a:pPr algn="ctr" defTabSz="61595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Quality</a:t>
            </a:r>
          </a:p>
          <a:p>
            <a:pPr algn="ctr" defTabSz="61595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Level</a:t>
            </a:r>
          </a:p>
        </p:txBody>
      </p:sp>
      <p:sp>
        <p:nvSpPr>
          <p:cNvPr id="642057" name="AutoShape 9"/>
          <p:cNvSpPr>
            <a:spLocks noChangeArrowheads="1"/>
          </p:cNvSpPr>
          <p:nvPr/>
        </p:nvSpPr>
        <p:spPr bwMode="auto">
          <a:xfrm rot="5400000">
            <a:off x="5839620" y="1219995"/>
            <a:ext cx="428625" cy="2049463"/>
          </a:xfrm>
          <a:prstGeom prst="cube">
            <a:avLst>
              <a:gd name="adj" fmla="val 10861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lIns="62683" tIns="31342" rIns="62683" bIns="31342" anchor="ctr"/>
          <a:lstStyle/>
          <a:p>
            <a:pPr algn="ctr" defTabSz="61595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Packaging</a:t>
            </a:r>
          </a:p>
        </p:txBody>
      </p:sp>
      <p:sp>
        <p:nvSpPr>
          <p:cNvPr id="642058" name="AutoShape 10"/>
          <p:cNvSpPr>
            <a:spLocks noChangeArrowheads="1"/>
          </p:cNvSpPr>
          <p:nvPr/>
        </p:nvSpPr>
        <p:spPr bwMode="auto">
          <a:xfrm rot="5400000">
            <a:off x="7662070" y="3082133"/>
            <a:ext cx="466725" cy="1881187"/>
          </a:xfrm>
          <a:prstGeom prst="cube">
            <a:avLst>
              <a:gd name="adj" fmla="val 10861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lIns="62683" tIns="31342" rIns="62683" bIns="31342" anchor="ctr"/>
          <a:lstStyle/>
          <a:p>
            <a:pPr algn="ctr" defTabSz="61595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Design</a:t>
            </a:r>
          </a:p>
        </p:txBody>
      </p:sp>
      <p:sp>
        <p:nvSpPr>
          <p:cNvPr id="642059" name="AutoShape 11"/>
          <p:cNvSpPr>
            <a:spLocks noChangeArrowheads="1"/>
          </p:cNvSpPr>
          <p:nvPr/>
        </p:nvSpPr>
        <p:spPr bwMode="auto">
          <a:xfrm rot="5400000">
            <a:off x="7396164" y="1833564"/>
            <a:ext cx="485775" cy="1882775"/>
          </a:xfrm>
          <a:prstGeom prst="cube">
            <a:avLst>
              <a:gd name="adj" fmla="val 10861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lIns="62683" tIns="31342" rIns="62683" bIns="31342" anchor="ctr"/>
          <a:lstStyle/>
          <a:p>
            <a:pPr algn="ctr" defTabSz="61595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Features</a:t>
            </a:r>
          </a:p>
        </p:txBody>
      </p:sp>
      <p:sp>
        <p:nvSpPr>
          <p:cNvPr id="642060" name="AutoShape 12"/>
          <p:cNvSpPr>
            <a:spLocks noChangeArrowheads="1"/>
          </p:cNvSpPr>
          <p:nvPr/>
        </p:nvSpPr>
        <p:spPr bwMode="auto">
          <a:xfrm rot="5400000">
            <a:off x="2245519" y="2545556"/>
            <a:ext cx="641350" cy="1881188"/>
          </a:xfrm>
          <a:prstGeom prst="cube">
            <a:avLst>
              <a:gd name="adj" fmla="val 10861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lIns="62683" tIns="31342" rIns="62683" bIns="31342" anchor="ctr"/>
          <a:lstStyle/>
          <a:p>
            <a:pPr algn="ctr" defTabSz="61595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Delivery</a:t>
            </a:r>
          </a:p>
          <a:p>
            <a:pPr algn="ctr" defTabSz="61595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&amp; Credit</a:t>
            </a:r>
          </a:p>
        </p:txBody>
      </p:sp>
      <p:sp>
        <p:nvSpPr>
          <p:cNvPr id="642061" name="AutoShape 13"/>
          <p:cNvSpPr>
            <a:spLocks noChangeArrowheads="1"/>
          </p:cNvSpPr>
          <p:nvPr/>
        </p:nvSpPr>
        <p:spPr bwMode="auto">
          <a:xfrm rot="5400000">
            <a:off x="5856288" y="500063"/>
            <a:ext cx="468313" cy="1982788"/>
          </a:xfrm>
          <a:prstGeom prst="cube">
            <a:avLst>
              <a:gd name="adj" fmla="val 10861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lIns="62683" tIns="31342" rIns="62683" bIns="31342" anchor="ctr"/>
          <a:lstStyle/>
          <a:p>
            <a:pPr algn="ctr" defTabSz="61595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Installation</a:t>
            </a:r>
          </a:p>
        </p:txBody>
      </p:sp>
      <p:sp>
        <p:nvSpPr>
          <p:cNvPr id="642062" name="AutoShape 14"/>
          <p:cNvSpPr>
            <a:spLocks noChangeArrowheads="1"/>
          </p:cNvSpPr>
          <p:nvPr/>
        </p:nvSpPr>
        <p:spPr bwMode="auto">
          <a:xfrm rot="5400000">
            <a:off x="5846763" y="4414838"/>
            <a:ext cx="407988" cy="2017713"/>
          </a:xfrm>
          <a:prstGeom prst="cube">
            <a:avLst>
              <a:gd name="adj" fmla="val 10861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lIns="62683" tIns="31342" rIns="62683" bIns="31342" anchor="ctr"/>
          <a:lstStyle/>
          <a:p>
            <a:pPr algn="ctr" defTabSz="61595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Warranty</a:t>
            </a:r>
          </a:p>
        </p:txBody>
      </p:sp>
      <p:sp>
        <p:nvSpPr>
          <p:cNvPr id="642063" name="AutoShape 15"/>
          <p:cNvSpPr>
            <a:spLocks noChangeArrowheads="1"/>
          </p:cNvSpPr>
          <p:nvPr/>
        </p:nvSpPr>
        <p:spPr bwMode="auto">
          <a:xfrm rot="5400000">
            <a:off x="9273382" y="2547145"/>
            <a:ext cx="641350" cy="1881187"/>
          </a:xfrm>
          <a:prstGeom prst="cube">
            <a:avLst>
              <a:gd name="adj" fmla="val 10861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lIns="62683" tIns="31342" rIns="62683" bIns="31342" anchor="ctr"/>
          <a:lstStyle/>
          <a:p>
            <a:pPr algn="ctr" defTabSz="61595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After-</a:t>
            </a:r>
          </a:p>
          <a:p>
            <a:pPr algn="ctr" defTabSz="61595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Sale</a:t>
            </a:r>
          </a:p>
          <a:p>
            <a:pPr algn="ctr" defTabSz="61595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Service</a:t>
            </a:r>
          </a:p>
        </p:txBody>
      </p:sp>
      <p:sp>
        <p:nvSpPr>
          <p:cNvPr id="642064" name="Oval 16"/>
          <p:cNvSpPr>
            <a:spLocks noChangeArrowheads="1"/>
          </p:cNvSpPr>
          <p:nvPr/>
        </p:nvSpPr>
        <p:spPr bwMode="auto">
          <a:xfrm>
            <a:off x="4930775" y="2755900"/>
            <a:ext cx="2319338" cy="1339850"/>
          </a:xfrm>
          <a:prstGeom prst="ellipse">
            <a:avLst/>
          </a:prstGeom>
          <a:solidFill>
            <a:schemeClr val="tx2"/>
          </a:solidFill>
          <a:ln w="12700">
            <a:solidFill>
              <a:srgbClr val="000000"/>
            </a:solidFill>
            <a:round/>
          </a:ln>
          <a:effectLst>
            <a:outerShdw dist="53882" dir="2700000" algn="ctr" rotWithShape="0">
              <a:srgbClr val="618FFD"/>
            </a:outerShdw>
          </a:effectLst>
        </p:spPr>
        <p:txBody>
          <a:bodyPr wrap="none" lIns="81204" tIns="39889" rIns="81204" bIns="39889" anchor="ctr"/>
          <a:lstStyle/>
          <a:p>
            <a:pPr algn="ctr" defTabSz="820420">
              <a:lnSpc>
                <a:spcPct val="90000"/>
              </a:lnSpc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Core</a:t>
            </a:r>
          </a:p>
          <a:p>
            <a:pPr algn="ctr" defTabSz="820420">
              <a:lnSpc>
                <a:spcPct val="90000"/>
              </a:lnSpc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Benefit or</a:t>
            </a:r>
          </a:p>
          <a:p>
            <a:pPr algn="ctr" defTabSz="820420">
              <a:lnSpc>
                <a:spcPct val="90000"/>
              </a:lnSpc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Service</a:t>
            </a:r>
          </a:p>
        </p:txBody>
      </p:sp>
      <p:sp>
        <p:nvSpPr>
          <p:cNvPr id="642065" name="AutoShape 17"/>
          <p:cNvSpPr>
            <a:spLocks noChangeArrowheads="1"/>
          </p:cNvSpPr>
          <p:nvPr/>
        </p:nvSpPr>
        <p:spPr bwMode="auto">
          <a:xfrm rot="5400000">
            <a:off x="2897982" y="4950619"/>
            <a:ext cx="949325" cy="2630488"/>
          </a:xfrm>
          <a:prstGeom prst="cube">
            <a:avLst>
              <a:gd name="adj" fmla="val 16065"/>
            </a:avLst>
          </a:prstGeom>
          <a:solidFill>
            <a:srgbClr val="FDFD5D"/>
          </a:solidFill>
          <a:ln w="12700">
            <a:solidFill>
              <a:srgbClr val="000000"/>
            </a:solidFill>
            <a:miter lim="800000"/>
          </a:ln>
          <a:effectLst>
            <a:outerShdw dist="89803" dir="2700000" algn="ctr" rotWithShape="0">
              <a:schemeClr val="bg2"/>
            </a:outerShdw>
          </a:effectLst>
        </p:spPr>
        <p:txBody>
          <a:bodyPr rot="10800000" vert="eaVert" wrap="none" lIns="78354" tIns="39889" rIns="78354" bIns="39889" anchor="ctr"/>
          <a:lstStyle/>
          <a:p>
            <a:pPr algn="ctr" defTabSz="76962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Actual</a:t>
            </a:r>
          </a:p>
          <a:p>
            <a:pPr algn="ctr" defTabSz="76962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Product</a:t>
            </a:r>
          </a:p>
        </p:txBody>
      </p:sp>
      <p:sp>
        <p:nvSpPr>
          <p:cNvPr id="642066" name="AutoShape 18"/>
          <p:cNvSpPr>
            <a:spLocks noChangeArrowheads="1"/>
          </p:cNvSpPr>
          <p:nvPr/>
        </p:nvSpPr>
        <p:spPr bwMode="auto">
          <a:xfrm rot="5400000">
            <a:off x="7944645" y="4744244"/>
            <a:ext cx="949325" cy="2973387"/>
          </a:xfrm>
          <a:prstGeom prst="cube">
            <a:avLst>
              <a:gd name="adj" fmla="val 16065"/>
            </a:avLst>
          </a:prstGeom>
          <a:solidFill>
            <a:srgbClr val="FDFD5D"/>
          </a:solidFill>
          <a:ln w="12700">
            <a:solidFill>
              <a:srgbClr val="000000"/>
            </a:solidFill>
            <a:miter lim="800000"/>
          </a:ln>
          <a:effectLst>
            <a:outerShdw dist="89803" dir="2700000" algn="ctr" rotWithShape="0">
              <a:schemeClr val="bg2"/>
            </a:outerShdw>
          </a:effectLst>
        </p:spPr>
        <p:txBody>
          <a:bodyPr rot="10800000" vert="eaVert" wrap="none" lIns="78354" tIns="39889" rIns="78354" bIns="39889" anchor="ctr"/>
          <a:lstStyle/>
          <a:p>
            <a:pPr algn="ctr" defTabSz="76962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Core</a:t>
            </a:r>
          </a:p>
          <a:p>
            <a:pPr algn="ctr" defTabSz="769620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Product</a:t>
            </a:r>
          </a:p>
        </p:txBody>
      </p:sp>
      <p:sp>
        <p:nvSpPr>
          <p:cNvPr id="642067" name="AutoShape 19"/>
          <p:cNvSpPr>
            <a:spLocks noChangeArrowheads="1"/>
          </p:cNvSpPr>
          <p:nvPr/>
        </p:nvSpPr>
        <p:spPr bwMode="auto">
          <a:xfrm rot="5400000">
            <a:off x="7689850" y="-920750"/>
            <a:ext cx="858838" cy="2811462"/>
          </a:xfrm>
          <a:prstGeom prst="cube">
            <a:avLst>
              <a:gd name="adj" fmla="val 16065"/>
            </a:avLst>
          </a:prstGeom>
          <a:solidFill>
            <a:srgbClr val="FDFD5D"/>
          </a:solidFill>
          <a:ln w="12700">
            <a:solidFill>
              <a:srgbClr val="000000"/>
            </a:solidFill>
            <a:miter lim="800000"/>
          </a:ln>
          <a:effectLst>
            <a:outerShdw dist="89803" dir="2700000" algn="ctr" rotWithShape="0">
              <a:schemeClr val="bg2"/>
            </a:outerShdw>
          </a:effectLst>
        </p:spPr>
        <p:txBody>
          <a:bodyPr rot="10800000" vert="eaVert" wrap="none" lIns="78354" tIns="39889" rIns="78354" bIns="39889" anchor="ctr"/>
          <a:lstStyle/>
          <a:p>
            <a:pPr algn="ctr" defTabSz="769620"/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Augmented</a:t>
            </a:r>
          </a:p>
          <a:p>
            <a:pPr algn="ctr" defTabSz="769620"/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Product</a:t>
            </a:r>
          </a:p>
        </p:txBody>
      </p:sp>
      <p:sp>
        <p:nvSpPr>
          <p:cNvPr id="642068" name="Line 20"/>
          <p:cNvSpPr>
            <a:spLocks noChangeShapeType="1"/>
          </p:cNvSpPr>
          <p:nvPr/>
        </p:nvSpPr>
        <p:spPr bwMode="auto">
          <a:xfrm>
            <a:off x="7929563" y="782639"/>
            <a:ext cx="0" cy="763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642069" name="Line 21"/>
          <p:cNvSpPr>
            <a:spLocks noChangeShapeType="1"/>
          </p:cNvSpPr>
          <p:nvPr/>
        </p:nvSpPr>
        <p:spPr bwMode="auto">
          <a:xfrm flipV="1">
            <a:off x="4359276" y="4221307"/>
            <a:ext cx="4763" cy="156989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642070" name="Line 22"/>
          <p:cNvSpPr>
            <a:spLocks noChangeShapeType="1"/>
          </p:cNvSpPr>
          <p:nvPr/>
        </p:nvSpPr>
        <p:spPr bwMode="auto">
          <a:xfrm flipV="1">
            <a:off x="7032626" y="3602038"/>
            <a:ext cx="4763" cy="215423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1228664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099920"/>
            <a:ext cx="9144000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Product Classifications</a:t>
            </a:r>
          </a:p>
        </p:txBody>
      </p:sp>
      <p:graphicFrame>
        <p:nvGraphicFramePr>
          <p:cNvPr id="3" name="Content Placeholder 7"/>
          <p:cNvGraphicFramePr>
            <a:graphicFrameLocks noGrp="1"/>
          </p:cNvGraphicFramePr>
          <p:nvPr>
            <p:ph idx="1"/>
          </p:nvPr>
        </p:nvGraphicFramePr>
        <p:xfrm>
          <a:off x="3214999" y="2510972"/>
          <a:ext cx="3854082" cy="35850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38445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23047" y="1000530"/>
            <a:ext cx="10959353" cy="105833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Product Classifications</a:t>
            </a:r>
            <a:b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</a:br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Consumer Products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idx="1"/>
          </p:nvPr>
        </p:nvSpPr>
        <p:spPr>
          <a:xfrm>
            <a:off x="1351721" y="2491404"/>
            <a:ext cx="9720469" cy="371061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Consumer </a:t>
            </a:r>
            <a:r>
              <a:rPr lang="en-US" sz="2800" dirty="0"/>
              <a:t>products are </a:t>
            </a:r>
            <a:r>
              <a:rPr lang="en-US" sz="2800" u="sng" dirty="0">
                <a:solidFill>
                  <a:srgbClr val="FF0000"/>
                </a:solidFill>
              </a:rPr>
              <a:t>products and services for personal consumption</a:t>
            </a:r>
          </a:p>
          <a:p>
            <a:r>
              <a:rPr lang="en-US" sz="2800" dirty="0"/>
              <a:t>Classified by how consumers buy them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Convenience</a:t>
            </a:r>
            <a:r>
              <a:rPr lang="en-US" sz="2400" dirty="0"/>
              <a:t> products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Shopping </a:t>
            </a:r>
            <a:r>
              <a:rPr lang="en-US" sz="2400" dirty="0"/>
              <a:t>products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Specialty </a:t>
            </a:r>
            <a:r>
              <a:rPr lang="en-US" sz="2400" dirty="0"/>
              <a:t>products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Unsought </a:t>
            </a:r>
            <a:r>
              <a:rPr lang="en-US" sz="2400" dirty="0"/>
              <a:t>products</a:t>
            </a:r>
          </a:p>
        </p:txBody>
      </p:sp>
    </p:spTree>
    <p:extLst>
      <p:ext uri="{BB962C8B-B14F-4D97-AF65-F5344CB8AC3E}">
        <p14:creationId xmlns:p14="http://schemas.microsoft.com/office/powerpoint/2010/main" val="14329434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1040295"/>
            <a:ext cx="8763000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Product Classifications</a:t>
            </a:r>
            <a:b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</a:br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Consumer Products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idx="1"/>
          </p:nvPr>
        </p:nvSpPr>
        <p:spPr>
          <a:xfrm>
            <a:off x="1073426" y="2488092"/>
            <a:ext cx="10197548" cy="373380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US" sz="2600" b="1" dirty="0"/>
              <a:t>Convenience products </a:t>
            </a:r>
            <a:r>
              <a:rPr lang="en-US" sz="2600" dirty="0"/>
              <a:t>are consumer products and services that the </a:t>
            </a:r>
            <a:r>
              <a:rPr lang="en-US" sz="2600" dirty="0">
                <a:solidFill>
                  <a:schemeClr val="tx1"/>
                </a:solidFill>
              </a:rPr>
              <a:t>customer usually</a:t>
            </a:r>
            <a:r>
              <a:rPr lang="en-US" sz="2600" dirty="0">
                <a:solidFill>
                  <a:srgbClr val="FF0000"/>
                </a:solidFill>
              </a:rPr>
              <a:t> buys frequently</a:t>
            </a:r>
            <a:r>
              <a:rPr lang="en-US" sz="2600" dirty="0"/>
              <a:t>, </a:t>
            </a:r>
            <a:r>
              <a:rPr lang="en-US" sz="2600" dirty="0">
                <a:solidFill>
                  <a:srgbClr val="FF0000"/>
                </a:solidFill>
              </a:rPr>
              <a:t>immediately</a:t>
            </a:r>
            <a:r>
              <a:rPr lang="en-US" sz="2600" dirty="0"/>
              <a:t>, and with a </a:t>
            </a:r>
            <a:r>
              <a:rPr lang="en-US" sz="2600" dirty="0">
                <a:solidFill>
                  <a:srgbClr val="FF0000"/>
                </a:solidFill>
              </a:rPr>
              <a:t>minimum </a:t>
            </a:r>
            <a:r>
              <a:rPr lang="en-US" sz="2600" dirty="0">
                <a:solidFill>
                  <a:srgbClr val="00B050"/>
                </a:solidFill>
              </a:rPr>
              <a:t>comparison and buying effort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7030A0"/>
                </a:solidFill>
              </a:rPr>
              <a:t>Low price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7030A0"/>
                </a:solidFill>
              </a:rPr>
              <a:t>Widespread distribution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7030A0"/>
                </a:solidFill>
              </a:rPr>
              <a:t>Mass promotion by producer</a:t>
            </a:r>
          </a:p>
          <a:p>
            <a:pPr marL="0" indent="0">
              <a:buNone/>
              <a:defRPr/>
            </a:pPr>
            <a:r>
              <a:rPr lang="en-US" dirty="0" err="1"/>
              <a:t>E.g</a:t>
            </a:r>
            <a:r>
              <a:rPr lang="en-US" dirty="0"/>
              <a:t>:</a:t>
            </a:r>
          </a:p>
          <a:p>
            <a:pPr>
              <a:defRPr/>
            </a:pPr>
            <a:r>
              <a:rPr lang="en-US" dirty="0"/>
              <a:t>Newspapers</a:t>
            </a:r>
          </a:p>
          <a:p>
            <a:pPr>
              <a:defRPr/>
            </a:pPr>
            <a:r>
              <a:rPr lang="en-US" dirty="0"/>
              <a:t>Candy</a:t>
            </a:r>
          </a:p>
          <a:p>
            <a:pPr>
              <a:defRPr/>
            </a:pPr>
            <a:r>
              <a:rPr lang="en-US" dirty="0"/>
              <a:t>Fast food</a:t>
            </a:r>
          </a:p>
        </p:txBody>
      </p:sp>
    </p:spTree>
    <p:extLst>
      <p:ext uri="{BB962C8B-B14F-4D97-AF65-F5344CB8AC3E}">
        <p14:creationId xmlns:p14="http://schemas.microsoft.com/office/powerpoint/2010/main" val="40528732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83732" y="1219195"/>
            <a:ext cx="11651941" cy="972616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Product Classifications</a:t>
            </a:r>
            <a:b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</a:br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Consumer Products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idx="1"/>
          </p:nvPr>
        </p:nvSpPr>
        <p:spPr>
          <a:xfrm>
            <a:off x="954157" y="2471526"/>
            <a:ext cx="10436086" cy="36311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b="1" dirty="0"/>
              <a:t>Shopping products </a:t>
            </a:r>
            <a:r>
              <a:rPr lang="en-US" dirty="0"/>
              <a:t>are consumer products and services that the customer </a:t>
            </a:r>
            <a:r>
              <a:rPr lang="en-US" dirty="0">
                <a:solidFill>
                  <a:srgbClr val="FF0000"/>
                </a:solidFill>
              </a:rPr>
              <a:t>compares carefully</a:t>
            </a:r>
            <a:r>
              <a:rPr lang="en-US" dirty="0"/>
              <a:t> on </a:t>
            </a:r>
            <a:r>
              <a:rPr lang="en-US" dirty="0">
                <a:solidFill>
                  <a:srgbClr val="FF0000"/>
                </a:solidFill>
              </a:rPr>
              <a:t>suitability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quality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price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style</a:t>
            </a:r>
          </a:p>
          <a:p>
            <a:pPr marL="0" indent="0">
              <a:buNone/>
              <a:defRPr/>
            </a:pPr>
            <a:r>
              <a:rPr lang="en-US" dirty="0"/>
              <a:t>*</a:t>
            </a:r>
            <a:r>
              <a:rPr lang="en-US" dirty="0">
                <a:solidFill>
                  <a:srgbClr val="7030A0"/>
                </a:solidFill>
              </a:rPr>
              <a:t>less frequent purchases</a:t>
            </a:r>
          </a:p>
          <a:p>
            <a:pPr marL="0" indent="0">
              <a:buNone/>
              <a:defRPr/>
            </a:pPr>
            <a:r>
              <a:rPr lang="en-US" dirty="0"/>
              <a:t>*</a:t>
            </a:r>
            <a:r>
              <a:rPr lang="en-US" dirty="0">
                <a:solidFill>
                  <a:srgbClr val="7030A0"/>
                </a:solidFill>
              </a:rPr>
              <a:t>higher price</a:t>
            </a:r>
          </a:p>
          <a:p>
            <a:pPr marL="0" indent="0">
              <a:buNone/>
              <a:defRPr/>
            </a:pPr>
            <a:r>
              <a:rPr lang="en-US" dirty="0"/>
              <a:t>*</a:t>
            </a:r>
            <a:r>
              <a:rPr lang="en-US" dirty="0">
                <a:solidFill>
                  <a:srgbClr val="7030A0"/>
                </a:solidFill>
              </a:rPr>
              <a:t>selective distribution in fewer outlets</a:t>
            </a:r>
          </a:p>
          <a:p>
            <a:pPr marL="0" indent="0">
              <a:buNone/>
              <a:defRPr/>
            </a:pPr>
            <a:r>
              <a:rPr lang="en-US" dirty="0"/>
              <a:t>*</a:t>
            </a:r>
            <a:r>
              <a:rPr lang="en-US" dirty="0">
                <a:solidFill>
                  <a:srgbClr val="7030A0"/>
                </a:solidFill>
              </a:rPr>
              <a:t>advertising &amp; personal selling by both producer and resellers</a:t>
            </a:r>
          </a:p>
          <a:p>
            <a:pPr>
              <a:defRPr/>
            </a:pPr>
            <a:r>
              <a:rPr lang="en-US" dirty="0"/>
              <a:t>Furniture</a:t>
            </a:r>
          </a:p>
          <a:p>
            <a:pPr>
              <a:defRPr/>
            </a:pPr>
            <a:r>
              <a:rPr lang="en-US" dirty="0"/>
              <a:t>Clothing</a:t>
            </a:r>
          </a:p>
          <a:p>
            <a:pPr>
              <a:defRPr/>
            </a:pPr>
            <a:r>
              <a:rPr lang="en-US" dirty="0"/>
              <a:t>Major Appliances</a:t>
            </a:r>
          </a:p>
        </p:txBody>
      </p:sp>
    </p:spTree>
    <p:extLst>
      <p:ext uri="{BB962C8B-B14F-4D97-AF65-F5344CB8AC3E}">
        <p14:creationId xmlns:p14="http://schemas.microsoft.com/office/powerpoint/2010/main" val="14374948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41617" y="1258955"/>
            <a:ext cx="11494698" cy="91536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Product Classifications</a:t>
            </a:r>
            <a:b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</a:br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Consumer Products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idx="1"/>
          </p:nvPr>
        </p:nvSpPr>
        <p:spPr>
          <a:xfrm>
            <a:off x="795129" y="2438400"/>
            <a:ext cx="10595113" cy="37834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b="1" dirty="0"/>
              <a:t>Specialty products </a:t>
            </a:r>
            <a:r>
              <a:rPr lang="en-US" dirty="0"/>
              <a:t>are consumer products and services </a:t>
            </a:r>
            <a:r>
              <a:rPr lang="en-US" dirty="0">
                <a:solidFill>
                  <a:srgbClr val="FF0000"/>
                </a:solidFill>
              </a:rPr>
              <a:t>with unique characteristics or brand identification </a:t>
            </a:r>
            <a:r>
              <a:rPr lang="en-US" dirty="0">
                <a:solidFill>
                  <a:srgbClr val="92D050"/>
                </a:solidFill>
              </a:rPr>
              <a:t>for which </a:t>
            </a:r>
            <a:r>
              <a:rPr lang="en-US" dirty="0">
                <a:solidFill>
                  <a:srgbClr val="00B0F0"/>
                </a:solidFill>
              </a:rPr>
              <a:t>a significant group of buyers is willing to make </a:t>
            </a:r>
            <a:r>
              <a:rPr lang="en-US" dirty="0">
                <a:solidFill>
                  <a:srgbClr val="00B050"/>
                </a:solidFill>
              </a:rPr>
              <a:t>a special purchase effort</a:t>
            </a:r>
          </a:p>
          <a:p>
            <a:pPr marL="0" indent="0">
              <a:buNone/>
              <a:defRPr/>
            </a:pPr>
            <a:r>
              <a:rPr lang="en-US" dirty="0"/>
              <a:t>*</a:t>
            </a:r>
            <a:r>
              <a:rPr lang="en-US" dirty="0">
                <a:solidFill>
                  <a:srgbClr val="7030A0"/>
                </a:solidFill>
              </a:rPr>
              <a:t>strong brand preference and loyalty</a:t>
            </a:r>
          </a:p>
          <a:p>
            <a:pPr marL="0" indent="0">
              <a:buNone/>
              <a:defRPr/>
            </a:pPr>
            <a:r>
              <a:rPr lang="en-US" dirty="0"/>
              <a:t>*</a:t>
            </a:r>
            <a:r>
              <a:rPr lang="en-US" dirty="0">
                <a:solidFill>
                  <a:srgbClr val="7030A0"/>
                </a:solidFill>
              </a:rPr>
              <a:t>little comparison of brands</a:t>
            </a:r>
          </a:p>
          <a:p>
            <a:pPr marL="0" indent="0">
              <a:buNone/>
              <a:defRPr/>
            </a:pPr>
            <a:r>
              <a:rPr lang="en-US" dirty="0"/>
              <a:t>*</a:t>
            </a:r>
            <a:r>
              <a:rPr lang="en-US" dirty="0">
                <a:solidFill>
                  <a:srgbClr val="7030A0"/>
                </a:solidFill>
              </a:rPr>
              <a:t>high price</a:t>
            </a:r>
          </a:p>
          <a:p>
            <a:pPr marL="0" indent="0">
              <a:buNone/>
              <a:defRPr/>
            </a:pPr>
            <a:r>
              <a:rPr lang="en-US" dirty="0"/>
              <a:t>*</a:t>
            </a:r>
            <a:r>
              <a:rPr lang="en-US" dirty="0">
                <a:solidFill>
                  <a:srgbClr val="7030A0"/>
                </a:solidFill>
              </a:rPr>
              <a:t>exclusive distribution</a:t>
            </a:r>
          </a:p>
          <a:p>
            <a:pPr marL="0" indent="0">
              <a:buNone/>
              <a:defRPr/>
            </a:pPr>
            <a:r>
              <a:rPr lang="en-US" dirty="0"/>
              <a:t>*</a:t>
            </a:r>
            <a:r>
              <a:rPr lang="en-US" dirty="0">
                <a:solidFill>
                  <a:srgbClr val="7030A0"/>
                </a:solidFill>
              </a:rPr>
              <a:t>more carefully targeted promotion by producers and resellers</a:t>
            </a:r>
          </a:p>
          <a:p>
            <a:pPr>
              <a:defRPr/>
            </a:pPr>
            <a:r>
              <a:rPr lang="en-US" sz="2000" dirty="0"/>
              <a:t>Luxury goods</a:t>
            </a:r>
          </a:p>
          <a:p>
            <a:pPr>
              <a:defRPr/>
            </a:pPr>
            <a:r>
              <a:rPr lang="en-US" sz="2000" dirty="0"/>
              <a:t>Designer clothes</a:t>
            </a:r>
          </a:p>
          <a:p>
            <a:pPr>
              <a:defRPr/>
            </a:pPr>
            <a:r>
              <a:rPr lang="en-US" sz="2000" dirty="0"/>
              <a:t>High-end electronics</a:t>
            </a:r>
          </a:p>
        </p:txBody>
      </p:sp>
    </p:spTree>
    <p:extLst>
      <p:ext uri="{BB962C8B-B14F-4D97-AF65-F5344CB8AC3E}">
        <p14:creationId xmlns:p14="http://schemas.microsoft.com/office/powerpoint/2010/main" val="12137624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2156" y="1080045"/>
            <a:ext cx="11715750" cy="921406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Product Classifications</a:t>
            </a:r>
            <a:b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</a:br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Consumer Products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idx="1"/>
          </p:nvPr>
        </p:nvSpPr>
        <p:spPr>
          <a:xfrm>
            <a:off x="795129" y="2534475"/>
            <a:ext cx="10595113" cy="374705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b="1" dirty="0"/>
              <a:t>Unsought products </a:t>
            </a:r>
            <a:r>
              <a:rPr lang="en-US" dirty="0"/>
              <a:t>are consumer products that the </a:t>
            </a:r>
            <a:r>
              <a:rPr lang="en-US" dirty="0">
                <a:solidFill>
                  <a:srgbClr val="FF0000"/>
                </a:solidFill>
              </a:rPr>
              <a:t>consumer does not know about or knows about but does not normally think of buying</a:t>
            </a:r>
          </a:p>
          <a:p>
            <a:pPr marL="0" indent="0">
              <a:buNone/>
              <a:defRPr/>
            </a:pPr>
            <a:r>
              <a:rPr lang="en-US" dirty="0"/>
              <a:t>*</a:t>
            </a:r>
            <a:r>
              <a:rPr lang="en-US" dirty="0">
                <a:solidFill>
                  <a:srgbClr val="00B050"/>
                </a:solidFill>
              </a:rPr>
              <a:t>little product awareness</a:t>
            </a:r>
          </a:p>
          <a:p>
            <a:pPr marL="0" indent="0">
              <a:buNone/>
              <a:defRPr/>
            </a:pPr>
            <a:r>
              <a:rPr lang="en-US" dirty="0"/>
              <a:t>*</a:t>
            </a:r>
            <a:r>
              <a:rPr lang="en-US" dirty="0">
                <a:solidFill>
                  <a:srgbClr val="00B050"/>
                </a:solidFill>
              </a:rPr>
              <a:t>price varies</a:t>
            </a:r>
          </a:p>
          <a:p>
            <a:pPr marL="0" indent="0">
              <a:buNone/>
              <a:defRPr/>
            </a:pPr>
            <a:r>
              <a:rPr lang="en-US" dirty="0"/>
              <a:t>*</a:t>
            </a:r>
            <a:r>
              <a:rPr lang="en-US" dirty="0">
                <a:solidFill>
                  <a:srgbClr val="00B050"/>
                </a:solidFill>
              </a:rPr>
              <a:t>distribution varies</a:t>
            </a:r>
          </a:p>
          <a:p>
            <a:pPr marL="0" indent="0">
              <a:buNone/>
              <a:defRPr/>
            </a:pPr>
            <a:r>
              <a:rPr lang="en-US" dirty="0"/>
              <a:t>*</a:t>
            </a:r>
            <a:r>
              <a:rPr lang="en-US" dirty="0">
                <a:solidFill>
                  <a:srgbClr val="00B050"/>
                </a:solidFill>
              </a:rPr>
              <a:t>aggressive advertising &amp; personal selling by producer &amp; reseller</a:t>
            </a:r>
          </a:p>
          <a:p>
            <a:pPr>
              <a:defRPr/>
            </a:pPr>
            <a:r>
              <a:rPr lang="en-US" dirty="0"/>
              <a:t>Life insurance</a:t>
            </a:r>
          </a:p>
          <a:p>
            <a:pPr>
              <a:defRPr/>
            </a:pPr>
            <a:r>
              <a:rPr lang="en-US" dirty="0"/>
              <a:t>Funeral services</a:t>
            </a:r>
          </a:p>
          <a:p>
            <a:pPr>
              <a:defRPr/>
            </a:pPr>
            <a:r>
              <a:rPr lang="en-US" dirty="0"/>
              <a:t>Blood donations</a:t>
            </a:r>
          </a:p>
        </p:txBody>
      </p:sp>
    </p:spTree>
    <p:extLst>
      <p:ext uri="{BB962C8B-B14F-4D97-AF65-F5344CB8AC3E}">
        <p14:creationId xmlns:p14="http://schemas.microsoft.com/office/powerpoint/2010/main" val="38803528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980654"/>
            <a:ext cx="8763000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Product Classifications</a:t>
            </a:r>
            <a:b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</a:br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Industrial Products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1133061" y="2507972"/>
            <a:ext cx="10197548" cy="4114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1" dirty="0"/>
              <a:t>Industrial products </a:t>
            </a:r>
            <a:r>
              <a:rPr lang="en-US" sz="2800" dirty="0"/>
              <a:t>are </a:t>
            </a:r>
            <a:r>
              <a:rPr lang="en-US" sz="2800" u="sng" dirty="0">
                <a:solidFill>
                  <a:srgbClr val="FF0000"/>
                </a:solidFill>
              </a:rPr>
              <a:t>products purchased for further processing</a:t>
            </a:r>
            <a:r>
              <a:rPr lang="en-US" sz="2800" dirty="0"/>
              <a:t> or </a:t>
            </a:r>
            <a:r>
              <a:rPr lang="en-US" sz="2800" u="sng" dirty="0">
                <a:solidFill>
                  <a:srgbClr val="FF0000"/>
                </a:solidFill>
              </a:rPr>
              <a:t>for use in conducting a business</a:t>
            </a:r>
          </a:p>
          <a:p>
            <a:pPr algn="just"/>
            <a:r>
              <a:rPr lang="en-US" dirty="0"/>
              <a:t>Classified by the purpose for which the product is purchased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Materials and parts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Capital items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Supplies and services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564447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-67982" y="980658"/>
            <a:ext cx="11900646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Product Classifications</a:t>
            </a:r>
            <a:b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</a:br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Industrial Products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815009" y="2468214"/>
            <a:ext cx="10555356" cy="4114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/>
              <a:t>Capital items </a:t>
            </a:r>
            <a:r>
              <a:rPr lang="en-US" sz="2500" dirty="0"/>
              <a:t>are industrial products that </a:t>
            </a:r>
            <a:r>
              <a:rPr lang="en-US" sz="2500" dirty="0">
                <a:solidFill>
                  <a:srgbClr val="00B050"/>
                </a:solidFill>
              </a:rPr>
              <a:t>aid in the buyer’s production or operations</a:t>
            </a:r>
            <a:r>
              <a:rPr lang="en-US" sz="2500" dirty="0"/>
              <a:t>, </a:t>
            </a:r>
            <a:r>
              <a:rPr lang="en-US" sz="2500" dirty="0">
                <a:solidFill>
                  <a:srgbClr val="00B050"/>
                </a:solidFill>
              </a:rPr>
              <a:t>including installations and accessory equipment.</a:t>
            </a:r>
          </a:p>
          <a:p>
            <a:pPr marL="0" indent="0">
              <a:buNone/>
            </a:pPr>
            <a:r>
              <a:rPr lang="en-US" sz="2500" b="1" dirty="0"/>
              <a:t>Materials and parts</a:t>
            </a:r>
            <a:r>
              <a:rPr lang="en-US" sz="2500" dirty="0"/>
              <a:t> include </a:t>
            </a:r>
            <a:r>
              <a:rPr lang="en-US" sz="2500" dirty="0">
                <a:solidFill>
                  <a:srgbClr val="00B050"/>
                </a:solidFill>
              </a:rPr>
              <a:t>raw materials and manufactured materials and parts usually sold directly to industrial users</a:t>
            </a:r>
          </a:p>
          <a:p>
            <a:pPr marL="0" indent="0">
              <a:buNone/>
            </a:pPr>
            <a:r>
              <a:rPr lang="en-US" sz="2500" b="1" dirty="0"/>
              <a:t>Supplies and services</a:t>
            </a:r>
            <a:r>
              <a:rPr lang="en-US" sz="2500" dirty="0"/>
              <a:t> include </a:t>
            </a:r>
            <a:r>
              <a:rPr lang="en-US" sz="2500" dirty="0">
                <a:solidFill>
                  <a:srgbClr val="00B050"/>
                </a:solidFill>
              </a:rPr>
              <a:t>operating supplies</a:t>
            </a:r>
            <a:r>
              <a:rPr lang="en-US" sz="2500" dirty="0"/>
              <a:t>(lubricants, coal, paper, pencil), </a:t>
            </a:r>
            <a:r>
              <a:rPr lang="en-US" sz="2500" dirty="0">
                <a:solidFill>
                  <a:srgbClr val="00B050"/>
                </a:solidFill>
              </a:rPr>
              <a:t>repair and maintenance items</a:t>
            </a:r>
            <a:r>
              <a:rPr lang="en-US" sz="2500" dirty="0"/>
              <a:t>(window cleaning, computer repair), </a:t>
            </a:r>
            <a:r>
              <a:rPr lang="en-US" sz="2500" dirty="0">
                <a:solidFill>
                  <a:srgbClr val="00B050"/>
                </a:solidFill>
              </a:rPr>
              <a:t>and business services</a:t>
            </a:r>
            <a:r>
              <a:rPr lang="en-US" sz="2500" dirty="0"/>
              <a:t>(legal, management consulting, advertisement)</a:t>
            </a:r>
          </a:p>
        </p:txBody>
      </p:sp>
    </p:spTree>
    <p:extLst>
      <p:ext uri="{BB962C8B-B14F-4D97-AF65-F5344CB8AC3E}">
        <p14:creationId xmlns:p14="http://schemas.microsoft.com/office/powerpoint/2010/main" val="13220605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30" y="735496"/>
            <a:ext cx="10595113" cy="542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504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4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0" y="960780"/>
            <a:ext cx="9144000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600">
                <a:latin typeface="Arial Unicode MS" pitchFamily="34" charset="-128"/>
                <a:cs typeface="Arial" panose="020B0604020202020204" pitchFamily="34" charset="0"/>
              </a:rPr>
              <a:t>Individual Product Decisions</a:t>
            </a:r>
          </a:p>
        </p:txBody>
      </p:sp>
      <p:pic>
        <p:nvPicPr>
          <p:cNvPr id="3" name="Picture 4" descr="fig08_02wo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863850"/>
            <a:ext cx="8229600" cy="127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4383088"/>
            <a:ext cx="80772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ctr" eaLnBrk="1" hangingPunct="1"/>
            <a:r>
              <a:rPr lang="en-US" dirty="0"/>
              <a:t>The important decisions in the development and marketing of individual products and services.</a:t>
            </a:r>
          </a:p>
        </p:txBody>
      </p:sp>
    </p:spTree>
    <p:extLst>
      <p:ext uri="{BB962C8B-B14F-4D97-AF65-F5344CB8AC3E}">
        <p14:creationId xmlns:p14="http://schemas.microsoft.com/office/powerpoint/2010/main" val="79507395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45" name="Rectangle 5"/>
          <p:cNvSpPr>
            <a:spLocks noGrp="1" noChangeArrowheads="1"/>
          </p:cNvSpPr>
          <p:nvPr>
            <p:ph type="title"/>
          </p:nvPr>
        </p:nvSpPr>
        <p:spPr>
          <a:xfrm>
            <a:off x="1524000" y="1106556"/>
            <a:ext cx="9144000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600">
                <a:latin typeface="Arial Unicode MS" pitchFamily="34" charset="-128"/>
                <a:cs typeface="Arial" panose="020B0604020202020204" pitchFamily="34" charset="0"/>
              </a:rPr>
              <a:t>Product Attributes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2478156"/>
            <a:ext cx="7772400" cy="4114800"/>
          </a:xfrm>
        </p:spPr>
        <p:txBody>
          <a:bodyPr/>
          <a:lstStyle/>
          <a:p>
            <a:pPr marL="533400" indent="-533400" algn="ctr">
              <a:buNone/>
            </a:pPr>
            <a:endParaRPr lang="en-US" sz="1200" b="1" i="1" dirty="0">
              <a:latin typeface="Times New Roman" panose="02020603050405020304" pitchFamily="18" charset="0"/>
            </a:endParaRPr>
          </a:p>
          <a:p>
            <a:pPr marL="533400" indent="-533400">
              <a:buNone/>
            </a:pPr>
            <a:r>
              <a:rPr lang="en-US" sz="2800" b="1" dirty="0"/>
              <a:t>	Product attributes</a:t>
            </a:r>
            <a:r>
              <a:rPr lang="en-US" sz="2800" dirty="0"/>
              <a:t> are the </a:t>
            </a:r>
            <a:r>
              <a:rPr lang="en-US" sz="2800" dirty="0">
                <a:solidFill>
                  <a:srgbClr val="FF0000"/>
                </a:solidFill>
              </a:rPr>
              <a:t>benefits </a:t>
            </a:r>
            <a:r>
              <a:rPr lang="en-US" sz="2800" dirty="0"/>
              <a:t>of the product or service</a:t>
            </a:r>
          </a:p>
          <a:p>
            <a:pPr marL="533400" indent="-533400"/>
            <a:r>
              <a:rPr lang="en-US" sz="2800" dirty="0">
                <a:solidFill>
                  <a:srgbClr val="00B050"/>
                </a:solidFill>
              </a:rPr>
              <a:t>Quality</a:t>
            </a:r>
          </a:p>
          <a:p>
            <a:pPr marL="533400" indent="-533400"/>
            <a:r>
              <a:rPr lang="en-US" sz="2800" dirty="0">
                <a:solidFill>
                  <a:srgbClr val="00B050"/>
                </a:solidFill>
              </a:rPr>
              <a:t>Features</a:t>
            </a:r>
          </a:p>
          <a:p>
            <a:pPr marL="533400" indent="-533400"/>
            <a:r>
              <a:rPr lang="en-US" sz="2800" dirty="0">
                <a:solidFill>
                  <a:srgbClr val="00B050"/>
                </a:solidFill>
              </a:rPr>
              <a:t>Style and design</a:t>
            </a:r>
          </a:p>
        </p:txBody>
      </p:sp>
    </p:spTree>
    <p:extLst>
      <p:ext uri="{BB962C8B-B14F-4D97-AF65-F5344CB8AC3E}">
        <p14:creationId xmlns:p14="http://schemas.microsoft.com/office/powerpoint/2010/main" val="15641127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5058" name="Group 2"/>
          <p:cNvGrpSpPr/>
          <p:nvPr/>
        </p:nvGrpSpPr>
        <p:grpSpPr bwMode="auto">
          <a:xfrm>
            <a:off x="1600200" y="914400"/>
            <a:ext cx="8915400" cy="5105400"/>
            <a:chOff x="576" y="1248"/>
            <a:chExt cx="4805" cy="1282"/>
          </a:xfrm>
        </p:grpSpPr>
        <p:sp>
          <p:nvSpPr>
            <p:cNvPr id="685059" name="Rectangle 3"/>
            <p:cNvSpPr>
              <a:spLocks noChangeArrowheads="1"/>
            </p:cNvSpPr>
            <p:nvPr/>
          </p:nvSpPr>
          <p:spPr bwMode="auto">
            <a:xfrm>
              <a:off x="576" y="1248"/>
              <a:ext cx="1551" cy="3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dist="71842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1204" tIns="39889" rIns="81204" bIns="39889" anchor="ctr" anchorCtr="1"/>
            <a:lstStyle/>
            <a:p>
              <a:pPr algn="ctr" defTabSz="820420">
                <a:lnSpc>
                  <a:spcPct val="90000"/>
                </a:lnSpc>
              </a:pPr>
              <a:r>
                <a:rPr lang="en-US" sz="2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 Quality </a:t>
              </a:r>
            </a:p>
          </p:txBody>
        </p:sp>
        <p:sp>
          <p:nvSpPr>
            <p:cNvPr id="685060" name="Rectangle 4"/>
            <p:cNvSpPr>
              <a:spLocks noChangeArrowheads="1"/>
            </p:cNvSpPr>
            <p:nvPr/>
          </p:nvSpPr>
          <p:spPr bwMode="auto">
            <a:xfrm>
              <a:off x="576" y="1681"/>
              <a:ext cx="1551" cy="39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dist="71842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1204" tIns="39889" rIns="81204" bIns="39889" anchor="ctr" anchorCtr="1"/>
            <a:lstStyle/>
            <a:p>
              <a:pPr defTabSz="820420">
                <a:lnSpc>
                  <a:spcPct val="90000"/>
                </a:lnSpc>
              </a:pPr>
              <a:r>
                <a:rPr lang="en-US" sz="2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 Features</a:t>
              </a:r>
            </a:p>
          </p:txBody>
        </p:sp>
        <p:sp>
          <p:nvSpPr>
            <p:cNvPr id="685061" name="Rectangle 5"/>
            <p:cNvSpPr>
              <a:spLocks noChangeArrowheads="1"/>
            </p:cNvSpPr>
            <p:nvPr/>
          </p:nvSpPr>
          <p:spPr bwMode="auto">
            <a:xfrm>
              <a:off x="576" y="2116"/>
              <a:ext cx="1551" cy="3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dist="71842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1204" tIns="39889" rIns="81204" bIns="39889" anchor="ctr" anchorCtr="1"/>
            <a:lstStyle/>
            <a:p>
              <a:pPr algn="ctr" defTabSz="820420">
                <a:lnSpc>
                  <a:spcPct val="90000"/>
                </a:lnSpc>
              </a:pPr>
              <a:r>
                <a:rPr lang="en-US" sz="2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 Style </a:t>
              </a:r>
            </a:p>
            <a:p>
              <a:pPr algn="ctr" defTabSz="820420">
                <a:lnSpc>
                  <a:spcPct val="90000"/>
                </a:lnSpc>
              </a:pPr>
              <a:r>
                <a:rPr lang="en-US" sz="2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&amp; Design</a:t>
              </a:r>
            </a:p>
          </p:txBody>
        </p:sp>
        <p:sp>
          <p:nvSpPr>
            <p:cNvPr id="685062" name="Rectangle 6"/>
            <p:cNvSpPr>
              <a:spLocks noChangeArrowheads="1"/>
            </p:cNvSpPr>
            <p:nvPr/>
          </p:nvSpPr>
          <p:spPr bwMode="auto">
            <a:xfrm>
              <a:off x="2469" y="1248"/>
              <a:ext cx="2912" cy="3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dist="71842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1204" tIns="39889" rIns="81204" bIns="39889" anchor="ctr" anchorCtr="1"/>
            <a:lstStyle/>
            <a:p>
              <a:pPr algn="ctr" defTabSz="820420">
                <a:lnSpc>
                  <a:spcPct val="90000"/>
                </a:lnSpc>
              </a:pPr>
              <a:r>
                <a:rPr lang="en-US" sz="2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Freedom from defects, Ability of a Product to Perform Its Functions, “Quality is when our customers come back and our products don’t”; Includes Level(</a:t>
              </a:r>
              <a:r>
                <a:rPr lang="en-US" sz="16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performance quality</a:t>
              </a:r>
              <a:r>
                <a:rPr lang="en-US" sz="2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&amp; Consistency(</a:t>
              </a:r>
              <a:r>
                <a:rPr lang="en-US" sz="16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conformance quality</a:t>
              </a:r>
              <a:r>
                <a:rPr lang="en-US" sz="2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685063" name="Rectangle 7"/>
            <p:cNvSpPr>
              <a:spLocks noChangeArrowheads="1"/>
            </p:cNvSpPr>
            <p:nvPr/>
          </p:nvSpPr>
          <p:spPr bwMode="auto">
            <a:xfrm>
              <a:off x="2469" y="1681"/>
              <a:ext cx="2912" cy="39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dist="71842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1204" tIns="39889" rIns="81204" bIns="39889" anchor="ctr" anchorCtr="1"/>
            <a:lstStyle/>
            <a:p>
              <a:pPr algn="ctr" defTabSz="820420">
                <a:lnSpc>
                  <a:spcPct val="9000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Help to Differentiate the Product from Those of the Competition</a:t>
              </a:r>
            </a:p>
          </p:txBody>
        </p:sp>
        <p:sp>
          <p:nvSpPr>
            <p:cNvPr id="685064" name="Rectangle 8"/>
            <p:cNvSpPr>
              <a:spLocks noChangeArrowheads="1"/>
            </p:cNvSpPr>
            <p:nvPr/>
          </p:nvSpPr>
          <p:spPr bwMode="auto">
            <a:xfrm>
              <a:off x="2469" y="2116"/>
              <a:ext cx="2912" cy="3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dist="71842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1204" tIns="39889" rIns="81204" bIns="39889" anchor="ctr" anchorCtr="1"/>
            <a:lstStyle/>
            <a:p>
              <a:pPr marL="533400" indent="-533400" algn="just"/>
              <a:endParaRPr 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33400" indent="-533400" algn="just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Style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describes the appearance of the product</a:t>
              </a:r>
            </a:p>
            <a:p>
              <a:pPr marL="533400" indent="-533400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Design 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contributes to a product’s usefulness as well as to its looks. Product designers should think less about product attributes and technical specifications and more about how customers will use and benefit from the product.</a:t>
              </a:r>
            </a:p>
            <a:p>
              <a:pPr algn="just" defTabSz="820420">
                <a:lnSpc>
                  <a:spcPct val="90000"/>
                </a:lnSpc>
              </a:pPr>
              <a:endPara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5065" name="AutoShape 9"/>
            <p:cNvSpPr>
              <a:spLocks noChangeArrowheads="1"/>
            </p:cNvSpPr>
            <p:nvPr/>
          </p:nvSpPr>
          <p:spPr bwMode="auto">
            <a:xfrm>
              <a:off x="2160" y="1728"/>
              <a:ext cx="328" cy="374"/>
            </a:xfrm>
            <a:prstGeom prst="rightArrow">
              <a:avLst>
                <a:gd name="adj1" fmla="val 50000"/>
                <a:gd name="adj2" fmla="val 50005"/>
              </a:avLst>
            </a:prstGeom>
            <a:solidFill>
              <a:schemeClr val="accent2"/>
            </a:solidFill>
            <a:ln>
              <a:noFill/>
            </a:ln>
            <a:effectLst>
              <a:outerShdw dist="107763" dir="2700000" algn="ctr" rotWithShape="0">
                <a:srgbClr val="714400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5066" name="AutoShape 10"/>
            <p:cNvSpPr>
              <a:spLocks noChangeArrowheads="1"/>
            </p:cNvSpPr>
            <p:nvPr/>
          </p:nvSpPr>
          <p:spPr bwMode="auto">
            <a:xfrm>
              <a:off x="2157" y="2156"/>
              <a:ext cx="317" cy="374"/>
            </a:xfrm>
            <a:prstGeom prst="rightArrow">
              <a:avLst>
                <a:gd name="adj1" fmla="val 50000"/>
                <a:gd name="adj2" fmla="val 50005"/>
              </a:avLst>
            </a:prstGeom>
            <a:solidFill>
              <a:schemeClr val="accent2"/>
            </a:solidFill>
            <a:ln>
              <a:noFill/>
            </a:ln>
            <a:effectLst>
              <a:outerShdw dist="107763" dir="2700000" algn="ctr" rotWithShape="0">
                <a:srgbClr val="714400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5067" name="AutoShape 11"/>
            <p:cNvSpPr>
              <a:spLocks noChangeArrowheads="1"/>
            </p:cNvSpPr>
            <p:nvPr/>
          </p:nvSpPr>
          <p:spPr bwMode="auto">
            <a:xfrm>
              <a:off x="2160" y="1296"/>
              <a:ext cx="317" cy="374"/>
            </a:xfrm>
            <a:prstGeom prst="rightArrow">
              <a:avLst>
                <a:gd name="adj1" fmla="val 50000"/>
                <a:gd name="adj2" fmla="val 50005"/>
              </a:avLst>
            </a:prstGeom>
            <a:solidFill>
              <a:schemeClr val="accent2"/>
            </a:solidFill>
            <a:ln>
              <a:noFill/>
            </a:ln>
            <a:effectLst>
              <a:outerShdw dist="107763" dir="2700000" algn="ctr" rotWithShape="0">
                <a:srgbClr val="714400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076209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6" name="Rectangle 4"/>
          <p:cNvSpPr>
            <a:spLocks noGrp="1" noChangeArrowheads="1"/>
          </p:cNvSpPr>
          <p:nvPr>
            <p:ph type="title"/>
          </p:nvPr>
        </p:nvSpPr>
        <p:spPr>
          <a:xfrm>
            <a:off x="2269434" y="944217"/>
            <a:ext cx="7543800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600" dirty="0">
                <a:latin typeface="Arial Unicode MS" pitchFamily="34" charset="-128"/>
                <a:cs typeface="Arial" panose="020B0604020202020204" pitchFamily="34" charset="0"/>
              </a:rPr>
              <a:t>Branding</a:t>
            </a:r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1295403" y="2484781"/>
            <a:ext cx="9597884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just">
              <a:spcBef>
                <a:spcPct val="0"/>
              </a:spcBef>
              <a:buClrTx/>
              <a:buSzTx/>
              <a:buNone/>
            </a:pPr>
            <a:r>
              <a:rPr lang="en-US" sz="2400" dirty="0">
                <a:effectLst/>
                <a:latin typeface="Arial Unicode MS" pitchFamily="34" charset="-128"/>
                <a:cs typeface="Arial" panose="020B0604020202020204" pitchFamily="34" charset="0"/>
              </a:rPr>
              <a:t>A name, term, sign, symbol, or design, or a combination of these, </a:t>
            </a:r>
            <a:r>
              <a:rPr lang="en-US" sz="2400" dirty="0">
                <a:solidFill>
                  <a:srgbClr val="FF0000"/>
                </a:solidFill>
                <a:effectLst/>
                <a:latin typeface="Arial Unicode MS" pitchFamily="34" charset="-128"/>
                <a:cs typeface="Arial" panose="020B0604020202020204" pitchFamily="34" charset="0"/>
              </a:rPr>
              <a:t>intended to identify </a:t>
            </a:r>
            <a:r>
              <a:rPr lang="en-US" sz="2400" dirty="0">
                <a:solidFill>
                  <a:srgbClr val="00B050"/>
                </a:solidFill>
                <a:effectLst/>
                <a:latin typeface="Arial Unicode MS" pitchFamily="34" charset="-128"/>
                <a:cs typeface="Arial" panose="020B0604020202020204" pitchFamily="34" charset="0"/>
              </a:rPr>
              <a:t>the goods or services of one seller or group of sellers</a:t>
            </a:r>
            <a:r>
              <a:rPr lang="en-US" sz="2400" dirty="0">
                <a:effectLst/>
                <a:latin typeface="Arial Unicode MS" pitchFamily="34" charset="-128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Arial Unicode MS" pitchFamily="34" charset="-128"/>
                <a:cs typeface="Arial" panose="020B0604020202020204" pitchFamily="34" charset="0"/>
              </a:rPr>
              <a:t>and to differentiate them from the competitors</a:t>
            </a:r>
            <a:r>
              <a:rPr lang="en-US" sz="2400" dirty="0">
                <a:effectLst/>
                <a:latin typeface="Arial Unicode MS" pitchFamily="34" charset="-128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88282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6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0" y="960783"/>
            <a:ext cx="8610600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600" b="1">
                <a:latin typeface="Arial Unicode MS" pitchFamily="34" charset="-128"/>
                <a:cs typeface="Arial" panose="020B0604020202020204" pitchFamily="34" charset="0"/>
              </a:rPr>
              <a:t> Packaging</a:t>
            </a:r>
          </a:p>
        </p:txBody>
      </p:sp>
      <p:sp>
        <p:nvSpPr>
          <p:cNvPr id="986119" name="Rectangle 7"/>
          <p:cNvSpPr>
            <a:spLocks noChangeArrowheads="1"/>
          </p:cNvSpPr>
          <p:nvPr/>
        </p:nvSpPr>
        <p:spPr bwMode="auto">
          <a:xfrm>
            <a:off x="2362200" y="2743200"/>
            <a:ext cx="77724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5000"/>
              </a:lnSpc>
              <a:spcBef>
                <a:spcPct val="7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C"/>
            </a:pPr>
            <a:r>
              <a:rPr lang="en-US" sz="2400" dirty="0">
                <a:latin typeface="Arial Unicode MS" pitchFamily="34" charset="-128"/>
                <a:cs typeface="Arial" panose="020B0604020202020204" pitchFamily="34" charset="0"/>
              </a:rPr>
              <a:t>Activity of </a:t>
            </a:r>
            <a:r>
              <a:rPr lang="en-US" sz="2400" dirty="0">
                <a:solidFill>
                  <a:srgbClr val="FF0000"/>
                </a:solidFill>
                <a:latin typeface="Arial Unicode MS" pitchFamily="34" charset="-128"/>
                <a:cs typeface="Arial" panose="020B0604020202020204" pitchFamily="34" charset="0"/>
              </a:rPr>
              <a:t>designing and producing the container or wrapper</a:t>
            </a:r>
            <a:r>
              <a:rPr lang="en-US" sz="2400" dirty="0">
                <a:latin typeface="Arial Unicode MS" pitchFamily="34" charset="-128"/>
                <a:cs typeface="Arial" panose="020B0604020202020204" pitchFamily="34" charset="0"/>
              </a:rPr>
              <a:t> for a product.</a:t>
            </a:r>
          </a:p>
          <a:p>
            <a:pPr marL="342900" indent="-342900">
              <a:lnSpc>
                <a:spcPct val="95000"/>
              </a:lnSpc>
              <a:spcBef>
                <a:spcPct val="7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C"/>
            </a:pPr>
            <a:r>
              <a:rPr lang="en-US" sz="2400" dirty="0">
                <a:latin typeface="Arial Unicode MS" pitchFamily="34" charset="-128"/>
                <a:cs typeface="Arial" panose="020B0604020202020204" pitchFamily="34" charset="0"/>
              </a:rPr>
              <a:t>Packaging </a:t>
            </a:r>
            <a:r>
              <a:rPr lang="en-US" sz="2400" dirty="0">
                <a:solidFill>
                  <a:srgbClr val="FF0000"/>
                </a:solidFill>
                <a:latin typeface="Arial Unicode MS" pitchFamily="34" charset="-128"/>
                <a:cs typeface="Arial" panose="020B0604020202020204" pitchFamily="34" charset="0"/>
              </a:rPr>
              <a:t>used to just contain and protect the product</a:t>
            </a:r>
            <a:r>
              <a:rPr lang="en-US" sz="2400" dirty="0">
                <a:latin typeface="Arial Unicode MS" pitchFamily="34" charset="-128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93861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5" name="Rectangle 5"/>
          <p:cNvSpPr>
            <a:spLocks noGrp="1" noChangeArrowheads="1"/>
          </p:cNvSpPr>
          <p:nvPr>
            <p:ph type="title"/>
          </p:nvPr>
        </p:nvSpPr>
        <p:spPr>
          <a:xfrm>
            <a:off x="1524000" y="993910"/>
            <a:ext cx="9144000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Labeling</a:t>
            </a: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2362200" y="2438400"/>
            <a:ext cx="77724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sz="2400" dirty="0">
                <a:solidFill>
                  <a:srgbClr val="FF0000"/>
                </a:solidFill>
                <a:effectLst/>
                <a:latin typeface="Arial Unicode MS" pitchFamily="34" charset="-128"/>
                <a:cs typeface="Arial" panose="020B0604020202020204" pitchFamily="34" charset="0"/>
              </a:rPr>
              <a:t>Printed information </a:t>
            </a:r>
            <a:r>
              <a:rPr lang="en-US" sz="2400" dirty="0">
                <a:effectLst/>
                <a:latin typeface="Arial Unicode MS" pitchFamily="34" charset="-128"/>
                <a:cs typeface="Arial" panose="020B0604020202020204" pitchFamily="34" charset="0"/>
              </a:rPr>
              <a:t>appearing </a:t>
            </a:r>
            <a:r>
              <a:rPr lang="en-US" sz="2400" dirty="0">
                <a:solidFill>
                  <a:srgbClr val="FF0000"/>
                </a:solidFill>
                <a:effectLst/>
                <a:latin typeface="Arial Unicode MS" pitchFamily="34" charset="-128"/>
                <a:cs typeface="Arial" panose="020B0604020202020204" pitchFamily="34" charset="0"/>
              </a:rPr>
              <a:t>on or with the package</a:t>
            </a:r>
            <a:r>
              <a:rPr lang="en-US" sz="2400" dirty="0">
                <a:effectLst/>
                <a:latin typeface="Arial Unicode MS" pitchFamily="34" charset="-128"/>
                <a:cs typeface="Arial" panose="020B0604020202020204" pitchFamily="34" charset="0"/>
              </a:rPr>
              <a:t>.</a:t>
            </a:r>
          </a:p>
          <a:p>
            <a:pPr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sz="2400" dirty="0">
                <a:effectLst/>
                <a:latin typeface="Arial Unicode MS" pitchFamily="34" charset="-128"/>
                <a:cs typeface="Arial" panose="020B0604020202020204" pitchFamily="34" charset="0"/>
              </a:rPr>
              <a:t>Performs several functions:</a:t>
            </a:r>
          </a:p>
          <a:p>
            <a:pPr lvl="1">
              <a:spcBef>
                <a:spcPct val="40000"/>
              </a:spcBef>
            </a:pPr>
            <a:r>
              <a:rPr lang="en-US" sz="2400" dirty="0">
                <a:solidFill>
                  <a:srgbClr val="00B050"/>
                </a:solidFill>
                <a:effectLst/>
                <a:latin typeface="Arial Unicode MS" pitchFamily="34" charset="-128"/>
                <a:cs typeface="Arial" panose="020B0604020202020204" pitchFamily="34" charset="0"/>
              </a:rPr>
              <a:t>Identifies product or brand</a:t>
            </a:r>
          </a:p>
          <a:p>
            <a:pPr lvl="1">
              <a:spcBef>
                <a:spcPct val="40000"/>
              </a:spcBef>
            </a:pPr>
            <a:r>
              <a:rPr lang="en-US" sz="2400" dirty="0">
                <a:solidFill>
                  <a:srgbClr val="00B050"/>
                </a:solidFill>
                <a:effectLst/>
                <a:latin typeface="Arial Unicode MS" pitchFamily="34" charset="-128"/>
                <a:cs typeface="Arial" panose="020B0604020202020204" pitchFamily="34" charset="0"/>
              </a:rPr>
              <a:t>Describes several things about the product</a:t>
            </a:r>
          </a:p>
          <a:p>
            <a:pPr lvl="1">
              <a:spcBef>
                <a:spcPct val="40000"/>
              </a:spcBef>
            </a:pPr>
            <a:r>
              <a:rPr lang="en-US" sz="2400" dirty="0">
                <a:solidFill>
                  <a:srgbClr val="00B050"/>
                </a:solidFill>
                <a:effectLst/>
                <a:latin typeface="Arial Unicode MS" pitchFamily="34" charset="-128"/>
                <a:cs typeface="Arial" panose="020B0604020202020204" pitchFamily="34" charset="0"/>
              </a:rPr>
              <a:t>Promotes the product through attractive graphics</a:t>
            </a:r>
            <a:r>
              <a:rPr lang="en-US" sz="2400" dirty="0">
                <a:effectLst/>
                <a:latin typeface="Arial Unicode MS" pitchFamily="34" charset="-128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28435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277" y="2554350"/>
            <a:ext cx="9959009" cy="1295400"/>
          </a:xfrm>
        </p:spPr>
        <p:txBody>
          <a:bodyPr/>
          <a:lstStyle/>
          <a:p>
            <a:pPr algn="just" eaLnBrk="0" hangingPunct="0">
              <a:spcBef>
                <a:spcPct val="50000"/>
              </a:spcBef>
              <a:buClrTx/>
              <a:buFontTx/>
              <a:buNone/>
            </a:pPr>
            <a:r>
              <a:rPr lang="en-US" dirty="0">
                <a:latin typeface="Arial Unicode MS" pitchFamily="34" charset="-128"/>
                <a:cs typeface="Arial" panose="020B0604020202020204" pitchFamily="34" charset="0"/>
              </a:rPr>
              <a:t>	</a:t>
            </a:r>
            <a:r>
              <a:rPr lang="en-US" sz="2600" dirty="0">
                <a:latin typeface="Arial Unicode MS" pitchFamily="34" charset="-128"/>
                <a:cs typeface="Arial" panose="020B0604020202020204" pitchFamily="34" charset="0"/>
              </a:rPr>
              <a:t>Companies should design its support services to </a:t>
            </a:r>
            <a:r>
              <a:rPr lang="en-US" sz="2600" dirty="0">
                <a:solidFill>
                  <a:srgbClr val="FF0000"/>
                </a:solidFill>
                <a:latin typeface="Arial Unicode MS" pitchFamily="34" charset="-128"/>
                <a:cs typeface="Arial" panose="020B0604020202020204" pitchFamily="34" charset="0"/>
              </a:rPr>
              <a:t>profitably meet the needs of target customers </a:t>
            </a:r>
            <a:r>
              <a:rPr lang="en-US" sz="2600" dirty="0">
                <a:latin typeface="Arial Unicode MS" pitchFamily="34" charset="-128"/>
                <a:cs typeface="Arial" panose="020B0604020202020204" pitchFamily="34" charset="0"/>
              </a:rPr>
              <a:t>and </a:t>
            </a:r>
            <a:r>
              <a:rPr lang="en-US" sz="2600" dirty="0">
                <a:solidFill>
                  <a:srgbClr val="FF0000"/>
                </a:solidFill>
                <a:latin typeface="Arial Unicode MS" pitchFamily="34" charset="-128"/>
                <a:cs typeface="Arial" panose="020B0604020202020204" pitchFamily="34" charset="0"/>
              </a:rPr>
              <a:t>gain competitive advantage</a:t>
            </a:r>
            <a:r>
              <a:rPr lang="en-US" sz="2600" dirty="0">
                <a:latin typeface="Arial Unicode MS" pitchFamily="34" charset="-128"/>
                <a:cs typeface="Arial" panose="020B0604020202020204" pitchFamily="34" charset="0"/>
              </a:rPr>
              <a:t>.</a:t>
            </a:r>
            <a:endParaRPr lang="en-US" sz="2600" dirty="0"/>
          </a:p>
        </p:txBody>
      </p:sp>
      <p:sp>
        <p:nvSpPr>
          <p:cNvPr id="989188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0" y="1030350"/>
            <a:ext cx="9144000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600" b="1" dirty="0">
                <a:latin typeface="Arial Unicode MS" pitchFamily="34" charset="-128"/>
                <a:cs typeface="Arial" panose="020B0604020202020204" pitchFamily="34" charset="0"/>
              </a:rPr>
              <a:t>Product - Support Services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292087" y="3773550"/>
            <a:ext cx="9601199" cy="241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pPr algn="just">
              <a:lnSpc>
                <a:spcPct val="95000"/>
              </a:lnSpc>
              <a:spcBef>
                <a:spcPct val="50000"/>
              </a:spcBef>
            </a:pPr>
            <a:r>
              <a:rPr lang="en-US" sz="2400" dirty="0">
                <a:solidFill>
                  <a:srgbClr val="FDFD5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2400" dirty="0">
                <a:latin typeface="Arial Unicode MS" pitchFamily="34" charset="-128"/>
                <a:cs typeface="Arial" panose="020B0604020202020204" pitchFamily="34" charset="0"/>
              </a:rPr>
              <a:t>	How?</a:t>
            </a:r>
          </a:p>
          <a:p>
            <a:pPr algn="just" eaLnBrk="1" hangingPunct="1">
              <a:lnSpc>
                <a:spcPct val="95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sz="2400" b="1" dirty="0">
                <a:latin typeface="Arial Unicode MS" pitchFamily="34" charset="-128"/>
                <a:cs typeface="Arial" panose="020B0604020202020204" pitchFamily="34" charset="0"/>
              </a:rPr>
              <a:t>Step1</a:t>
            </a:r>
            <a:r>
              <a:rPr lang="en-US" sz="2400" dirty="0">
                <a:latin typeface="Arial Unicode MS" pitchFamily="34" charset="-128"/>
                <a:cs typeface="Arial" panose="020B0604020202020204" pitchFamily="34" charset="0"/>
              </a:rPr>
              <a:t>.Survey customers to </a:t>
            </a:r>
            <a:r>
              <a:rPr lang="en-US" sz="2400" dirty="0">
                <a:solidFill>
                  <a:srgbClr val="FF0000"/>
                </a:solidFill>
                <a:latin typeface="Arial Unicode MS" pitchFamily="34" charset="-128"/>
                <a:cs typeface="Arial" panose="020B0604020202020204" pitchFamily="34" charset="0"/>
              </a:rPr>
              <a:t>assess the value </a:t>
            </a:r>
            <a:r>
              <a:rPr lang="en-US" sz="2400" dirty="0" smtClean="0">
                <a:solidFill>
                  <a:srgbClr val="FF0000"/>
                </a:solidFill>
                <a:latin typeface="Arial Unicode MS" pitchFamily="34" charset="-128"/>
                <a:cs typeface="Arial" panose="020B0604020202020204" pitchFamily="34" charset="0"/>
              </a:rPr>
              <a:t>of </a:t>
            </a:r>
            <a:r>
              <a:rPr lang="en-US" sz="2400" dirty="0">
                <a:solidFill>
                  <a:srgbClr val="FF0000"/>
                </a:solidFill>
                <a:latin typeface="Arial Unicode MS" pitchFamily="34" charset="-128"/>
                <a:cs typeface="Arial" panose="020B0604020202020204" pitchFamily="34" charset="0"/>
              </a:rPr>
              <a:t>current services </a:t>
            </a:r>
            <a:r>
              <a:rPr lang="en-US" sz="2400" dirty="0">
                <a:latin typeface="Arial Unicode MS" pitchFamily="34" charset="-128"/>
                <a:cs typeface="Arial" panose="020B0604020202020204" pitchFamily="34" charset="0"/>
              </a:rPr>
              <a:t>and to </a:t>
            </a:r>
            <a:r>
              <a:rPr lang="en-US" sz="2400" dirty="0">
                <a:solidFill>
                  <a:srgbClr val="FF0000"/>
                </a:solidFill>
                <a:latin typeface="Arial Unicode MS" pitchFamily="34" charset="-128"/>
                <a:cs typeface="Arial" panose="020B0604020202020204" pitchFamily="34" charset="0"/>
              </a:rPr>
              <a:t>obtain ideas for new services</a:t>
            </a:r>
            <a:r>
              <a:rPr lang="en-US" sz="2400" dirty="0">
                <a:latin typeface="Arial Unicode MS" pitchFamily="34" charset="-128"/>
                <a:cs typeface="Arial" panose="020B0604020202020204" pitchFamily="34" charset="0"/>
              </a:rPr>
              <a:t>.</a:t>
            </a:r>
          </a:p>
          <a:p>
            <a:pPr algn="just" eaLnBrk="1" hangingPunct="1">
              <a:lnSpc>
                <a:spcPct val="95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sz="2400" b="1" dirty="0">
                <a:latin typeface="Arial Unicode MS" pitchFamily="34" charset="-128"/>
                <a:cs typeface="Arial" panose="020B0604020202020204" pitchFamily="34" charset="0"/>
              </a:rPr>
              <a:t>Step2.</a:t>
            </a:r>
            <a:r>
              <a:rPr lang="en-US" sz="2400" dirty="0">
                <a:solidFill>
                  <a:srgbClr val="FF0000"/>
                </a:solidFill>
                <a:latin typeface="Arial Unicode MS" pitchFamily="34" charset="-128"/>
                <a:cs typeface="Arial" panose="020B0604020202020204" pitchFamily="34" charset="0"/>
              </a:rPr>
              <a:t>Assess costs of providing desired services</a:t>
            </a:r>
            <a:r>
              <a:rPr lang="en-US" sz="2400" dirty="0">
                <a:latin typeface="Arial Unicode MS" pitchFamily="34" charset="-128"/>
                <a:cs typeface="Arial" panose="020B0604020202020204" pitchFamily="34" charset="0"/>
              </a:rPr>
              <a:t>.</a:t>
            </a:r>
          </a:p>
          <a:p>
            <a:pPr algn="just" eaLnBrk="1" hangingPunct="1">
              <a:lnSpc>
                <a:spcPct val="95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sz="2400" b="1" dirty="0">
                <a:latin typeface="Arial Unicode MS" pitchFamily="34" charset="-128"/>
                <a:cs typeface="Arial" panose="020B0604020202020204" pitchFamily="34" charset="0"/>
              </a:rPr>
              <a:t>Step3.</a:t>
            </a:r>
            <a:r>
              <a:rPr lang="en-US" sz="2400" dirty="0">
                <a:solidFill>
                  <a:srgbClr val="FF0000"/>
                </a:solidFill>
                <a:latin typeface="Arial Unicode MS" pitchFamily="34" charset="-128"/>
                <a:cs typeface="Arial" panose="020B0604020202020204" pitchFamily="34" charset="0"/>
              </a:rPr>
              <a:t>Develop a package of services</a:t>
            </a:r>
            <a:r>
              <a:rPr lang="en-US" sz="2400" dirty="0">
                <a:latin typeface="Arial Unicode MS" pitchFamily="34" charset="-128"/>
                <a:cs typeface="Arial" panose="020B0604020202020204" pitchFamily="34" charset="0"/>
              </a:rPr>
              <a:t> to delight customers and yield profits to the company.</a:t>
            </a:r>
          </a:p>
        </p:txBody>
      </p:sp>
    </p:spTree>
    <p:extLst>
      <p:ext uri="{BB962C8B-B14F-4D97-AF65-F5344CB8AC3E}">
        <p14:creationId xmlns:p14="http://schemas.microsoft.com/office/powerpoint/2010/main" val="11094454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6" name="Rectangle 4"/>
          <p:cNvSpPr>
            <a:spLocks noGrp="1" noChangeArrowheads="1"/>
          </p:cNvSpPr>
          <p:nvPr>
            <p:ph type="title"/>
          </p:nvPr>
        </p:nvSpPr>
        <p:spPr>
          <a:xfrm>
            <a:off x="1427922" y="1033670"/>
            <a:ext cx="9442174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3600" dirty="0">
                <a:latin typeface="Arial" panose="020B0604020202020204" pitchFamily="34" charset="0"/>
              </a:rPr>
              <a:t>Product Line Decisions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1351722" y="2862470"/>
            <a:ext cx="9442174" cy="3733800"/>
          </a:xfrm>
        </p:spPr>
        <p:txBody>
          <a:bodyPr/>
          <a:lstStyle/>
          <a:p>
            <a:pPr marL="533400" indent="-533400">
              <a:buNone/>
            </a:pPr>
            <a:r>
              <a:rPr lang="en-US" sz="2800" dirty="0"/>
              <a:t>	A </a:t>
            </a:r>
            <a:r>
              <a:rPr lang="en-US" sz="2800" b="1" dirty="0"/>
              <a:t>product line</a:t>
            </a:r>
            <a:r>
              <a:rPr lang="en-US" sz="2800" dirty="0"/>
              <a:t> is a </a:t>
            </a:r>
            <a:r>
              <a:rPr lang="en-US" sz="2800" u="sng" dirty="0">
                <a:solidFill>
                  <a:srgbClr val="FF0000"/>
                </a:solidFill>
              </a:rPr>
              <a:t>group of products </a:t>
            </a:r>
            <a:r>
              <a:rPr lang="en-US" sz="2800" dirty="0"/>
              <a:t>that are </a:t>
            </a:r>
            <a:r>
              <a:rPr lang="en-US" sz="2800" u="sng" dirty="0">
                <a:solidFill>
                  <a:srgbClr val="FF0000"/>
                </a:solidFill>
              </a:rPr>
              <a:t>closely related </a:t>
            </a:r>
            <a:r>
              <a:rPr lang="en-US" sz="2800" dirty="0"/>
              <a:t>because they </a:t>
            </a:r>
            <a:r>
              <a:rPr lang="en-US" sz="2800" u="sng" dirty="0">
                <a:solidFill>
                  <a:srgbClr val="FF0000"/>
                </a:solidFill>
              </a:rPr>
              <a:t>function in a similar manner</a:t>
            </a:r>
            <a:r>
              <a:rPr lang="en-US" sz="2800" dirty="0"/>
              <a:t>, are </a:t>
            </a:r>
            <a:r>
              <a:rPr lang="en-US" sz="2800" u="sng" dirty="0">
                <a:solidFill>
                  <a:srgbClr val="FF0000"/>
                </a:solidFill>
              </a:rPr>
              <a:t>sold to the same customer groups</a:t>
            </a:r>
            <a:r>
              <a:rPr lang="en-US" sz="2800" dirty="0"/>
              <a:t>, are </a:t>
            </a:r>
            <a:r>
              <a:rPr lang="en-US" sz="2800" u="sng" dirty="0">
                <a:solidFill>
                  <a:srgbClr val="FF0000"/>
                </a:solidFill>
              </a:rPr>
              <a:t>marketed through the same types of outlets</a:t>
            </a:r>
            <a:r>
              <a:rPr lang="en-US" sz="2800" dirty="0"/>
              <a:t>, or </a:t>
            </a:r>
            <a:r>
              <a:rPr lang="en-US" sz="2800" u="sng" dirty="0">
                <a:solidFill>
                  <a:srgbClr val="FF0000"/>
                </a:solidFill>
              </a:rPr>
              <a:t>fall within given price ranges</a:t>
            </a:r>
          </a:p>
        </p:txBody>
      </p:sp>
    </p:spTree>
    <p:extLst>
      <p:ext uri="{BB962C8B-B14F-4D97-AF65-F5344CB8AC3E}">
        <p14:creationId xmlns:p14="http://schemas.microsoft.com/office/powerpoint/2010/main" val="17422847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6" name="Rectangle 4"/>
          <p:cNvSpPr>
            <a:spLocks noGrp="1" noChangeArrowheads="1"/>
          </p:cNvSpPr>
          <p:nvPr>
            <p:ph type="title"/>
          </p:nvPr>
        </p:nvSpPr>
        <p:spPr>
          <a:xfrm>
            <a:off x="1113183" y="881266"/>
            <a:ext cx="9720469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3600" dirty="0">
                <a:latin typeface="Arial" panose="020B0604020202020204" pitchFamily="34" charset="0"/>
              </a:rPr>
              <a:t>Product Line Decisions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idx="1"/>
          </p:nvPr>
        </p:nvSpPr>
        <p:spPr>
          <a:xfrm>
            <a:off x="1113183" y="2862466"/>
            <a:ext cx="9720469" cy="4114800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Product line</a:t>
            </a:r>
            <a:r>
              <a:rPr lang="en-US" sz="2800" dirty="0"/>
              <a:t> </a:t>
            </a:r>
            <a:r>
              <a:rPr lang="en-US" sz="2800" b="1" dirty="0"/>
              <a:t>length </a:t>
            </a:r>
            <a:r>
              <a:rPr lang="en-US" sz="2800" dirty="0"/>
              <a:t>is the </a:t>
            </a:r>
            <a:r>
              <a:rPr lang="en-US" sz="2800" u="sng" dirty="0">
                <a:solidFill>
                  <a:srgbClr val="FF0000"/>
                </a:solidFill>
              </a:rPr>
              <a:t>number of items in the product line</a:t>
            </a:r>
            <a:r>
              <a:rPr lang="en-US" sz="2800" dirty="0"/>
              <a:t>. A company can expand its product line in two ways:</a:t>
            </a:r>
          </a:p>
          <a:p>
            <a:pPr marL="533400" indent="-533400"/>
            <a:r>
              <a:rPr lang="en-US" sz="2800" dirty="0">
                <a:solidFill>
                  <a:srgbClr val="002060"/>
                </a:solidFill>
              </a:rPr>
              <a:t>Line stretching 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change of quality</a:t>
            </a:r>
            <a:r>
              <a:rPr lang="en-US" dirty="0"/>
              <a:t>- upward, downward or both way)</a:t>
            </a:r>
            <a:endParaRPr lang="en-US" sz="2800" dirty="0"/>
          </a:p>
          <a:p>
            <a:pPr marL="533400" indent="-533400"/>
            <a:r>
              <a:rPr lang="en-US" sz="2800" dirty="0">
                <a:solidFill>
                  <a:srgbClr val="002060"/>
                </a:solidFill>
              </a:rPr>
              <a:t>Line filling 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change size or style</a:t>
            </a:r>
            <a:r>
              <a:rPr lang="en-US" dirty="0"/>
              <a:t>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412461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6" name="Rectangle 4"/>
          <p:cNvSpPr>
            <a:spLocks noGrp="1" noChangeArrowheads="1"/>
          </p:cNvSpPr>
          <p:nvPr>
            <p:ph type="title"/>
          </p:nvPr>
        </p:nvSpPr>
        <p:spPr>
          <a:xfrm>
            <a:off x="866691" y="980663"/>
            <a:ext cx="10482603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3600" dirty="0">
                <a:latin typeface="Arial" panose="020B0604020202020204" pitchFamily="34" charset="0"/>
              </a:rPr>
              <a:t>Product Line Decisions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idx="1"/>
          </p:nvPr>
        </p:nvSpPr>
        <p:spPr>
          <a:xfrm>
            <a:off x="894521" y="2885663"/>
            <a:ext cx="10277061" cy="4114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Product mix </a:t>
            </a:r>
            <a:r>
              <a:rPr lang="en-US" dirty="0"/>
              <a:t>consists of </a:t>
            </a:r>
            <a:r>
              <a:rPr lang="en-US" dirty="0">
                <a:solidFill>
                  <a:srgbClr val="FF0000"/>
                </a:solidFill>
              </a:rPr>
              <a:t>all the products and items that a particular seller offers for sale</a:t>
            </a:r>
          </a:p>
          <a:p>
            <a:pPr marL="533400" indent="-533400"/>
            <a:r>
              <a:rPr lang="en-US" dirty="0">
                <a:solidFill>
                  <a:srgbClr val="00B050"/>
                </a:solidFill>
              </a:rPr>
              <a:t>Width </a:t>
            </a:r>
            <a:r>
              <a:rPr lang="en-US" dirty="0"/>
              <a:t>(</a:t>
            </a:r>
            <a:r>
              <a:rPr lang="en-US" sz="2000" dirty="0"/>
              <a:t>no. of diff. product lines a company carries</a:t>
            </a:r>
            <a:r>
              <a:rPr lang="en-US" dirty="0"/>
              <a:t>)</a:t>
            </a:r>
            <a:endParaRPr lang="en-US" sz="2800" dirty="0"/>
          </a:p>
          <a:p>
            <a:pPr marL="533400" indent="-533400"/>
            <a:r>
              <a:rPr lang="en-US" dirty="0">
                <a:solidFill>
                  <a:srgbClr val="00B050"/>
                </a:solidFill>
              </a:rPr>
              <a:t>Length </a:t>
            </a:r>
            <a:r>
              <a:rPr lang="en-US" dirty="0"/>
              <a:t>(</a:t>
            </a:r>
            <a:r>
              <a:rPr lang="en-US" sz="1800" dirty="0"/>
              <a:t>total no. of items the company carries within its product lines</a:t>
            </a:r>
            <a:r>
              <a:rPr lang="en-US" dirty="0"/>
              <a:t>)</a:t>
            </a:r>
            <a:endParaRPr lang="en-US" sz="2800" dirty="0"/>
          </a:p>
          <a:p>
            <a:pPr marL="533400" indent="-533400"/>
            <a:r>
              <a:rPr lang="en-US" dirty="0">
                <a:solidFill>
                  <a:srgbClr val="00B050"/>
                </a:solidFill>
              </a:rPr>
              <a:t>Depth </a:t>
            </a:r>
            <a:r>
              <a:rPr lang="en-US" sz="2000" dirty="0"/>
              <a:t>(no. of versions offered of each product in the line)</a:t>
            </a:r>
            <a:endParaRPr lang="en-US" sz="2800" dirty="0"/>
          </a:p>
          <a:p>
            <a:pPr marL="533400" indent="-533400"/>
            <a:r>
              <a:rPr lang="en-US" dirty="0">
                <a:solidFill>
                  <a:srgbClr val="00B050"/>
                </a:solidFill>
              </a:rPr>
              <a:t>Consistency </a:t>
            </a:r>
            <a:r>
              <a:rPr lang="en-US" sz="2000" dirty="0"/>
              <a:t>(how closely related the various product lines are in end use, production requirements, distribution channels, or some other way.)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683501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6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0" y="954150"/>
            <a:ext cx="7772400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Branding Strategy: Building Strong Brands</a:t>
            </a:r>
          </a:p>
        </p:txBody>
      </p:sp>
      <p:graphicFrame>
        <p:nvGraphicFramePr>
          <p:cNvPr id="2" name="Diagram 1"/>
          <p:cNvGraphicFramePr/>
          <p:nvPr/>
        </p:nvGraphicFramePr>
        <p:xfrm>
          <a:off x="2514600" y="3200401"/>
          <a:ext cx="7315200" cy="2966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74643" y="2355570"/>
            <a:ext cx="10316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major </a:t>
            </a:r>
            <a:r>
              <a:rPr lang="en-US" sz="2000" dirty="0">
                <a:solidFill>
                  <a:srgbClr val="FF0000"/>
                </a:solidFill>
              </a:rPr>
              <a:t>brand strategy decisions </a:t>
            </a:r>
            <a:r>
              <a:rPr lang="en-US" sz="2000" dirty="0"/>
              <a:t>involve </a:t>
            </a:r>
            <a:r>
              <a:rPr lang="en-US" sz="2000" dirty="0">
                <a:solidFill>
                  <a:srgbClr val="FF0000"/>
                </a:solidFill>
              </a:rPr>
              <a:t>brand positioning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FF0000"/>
                </a:solidFill>
              </a:rPr>
              <a:t>brand name selection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FF0000"/>
                </a:solidFill>
              </a:rPr>
              <a:t>brand sponsorship</a:t>
            </a:r>
            <a:r>
              <a:rPr lang="en-US" sz="2000" dirty="0"/>
              <a:t>, and </a:t>
            </a:r>
            <a:r>
              <a:rPr lang="en-US" sz="2000" dirty="0">
                <a:solidFill>
                  <a:srgbClr val="FF0000"/>
                </a:solidFill>
              </a:rPr>
              <a:t>brand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4564878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735869" y="1220668"/>
            <a:ext cx="13581971" cy="1088655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</a:rPr>
              <a:t>Brand Positioning</a:t>
            </a:r>
            <a:endParaRPr lang="en-US" sz="3600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874643" y="2448336"/>
            <a:ext cx="10455966" cy="3435626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800" dirty="0"/>
              <a:t>Companies can position brands at any of the three levels:</a:t>
            </a:r>
          </a:p>
          <a:p>
            <a:pPr marL="533400" indent="-533400">
              <a:defRPr/>
            </a:pPr>
            <a:r>
              <a:rPr lang="en-US" sz="2800" dirty="0"/>
              <a:t>Product </a:t>
            </a:r>
            <a:r>
              <a:rPr lang="en-US" sz="2800" dirty="0">
                <a:solidFill>
                  <a:srgbClr val="FF0000"/>
                </a:solidFill>
              </a:rPr>
              <a:t>attributes </a:t>
            </a:r>
            <a:r>
              <a:rPr lang="en-US" sz="2800" dirty="0"/>
              <a:t>(pamper: absorption, fit, disposable)</a:t>
            </a:r>
          </a:p>
          <a:p>
            <a:pPr marL="533400" indent="-533400">
              <a:defRPr/>
            </a:pPr>
            <a:r>
              <a:rPr lang="en-US" sz="2800" dirty="0"/>
              <a:t>Product </a:t>
            </a:r>
            <a:r>
              <a:rPr lang="en-US" sz="2800" dirty="0">
                <a:solidFill>
                  <a:srgbClr val="FF0000"/>
                </a:solidFill>
              </a:rPr>
              <a:t>benefits </a:t>
            </a:r>
            <a:r>
              <a:rPr lang="en-US" sz="2800" dirty="0"/>
              <a:t>(pamper: skin-health benefits from dryness, </a:t>
            </a:r>
            <a:r>
              <a:rPr lang="en-US" sz="2200" dirty="0"/>
              <a:t>”there are fewer wet bottoms in the world because of us”</a:t>
            </a:r>
            <a:r>
              <a:rPr lang="en-US" sz="2800" dirty="0"/>
              <a:t>)</a:t>
            </a:r>
          </a:p>
          <a:p>
            <a:pPr marL="533400" indent="-533400">
              <a:defRPr/>
            </a:pPr>
            <a:r>
              <a:rPr lang="en-US" sz="2800" dirty="0"/>
              <a:t>Product </a:t>
            </a:r>
            <a:r>
              <a:rPr lang="en-US" sz="2800" dirty="0">
                <a:solidFill>
                  <a:srgbClr val="FF0000"/>
                </a:solidFill>
              </a:rPr>
              <a:t>beliefs and values </a:t>
            </a:r>
            <a:r>
              <a:rPr lang="en-US" sz="2800" dirty="0"/>
              <a:t>(pamper: helping mom with her baby’s development)</a:t>
            </a:r>
          </a:p>
        </p:txBody>
      </p:sp>
    </p:spTree>
    <p:extLst>
      <p:ext uri="{BB962C8B-B14F-4D97-AF65-F5344CB8AC3E}">
        <p14:creationId xmlns:p14="http://schemas.microsoft.com/office/powerpoint/2010/main" val="313836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448039" y="1220668"/>
            <a:ext cx="12891631" cy="119993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</a:rPr>
              <a:t>Brand Name Selection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874643" y="2454960"/>
            <a:ext cx="10436087" cy="3786813"/>
          </a:xfrm>
        </p:spPr>
        <p:txBody>
          <a:bodyPr>
            <a:normAutofit lnSpcReduction="10000"/>
          </a:bodyPr>
          <a:lstStyle/>
          <a:p>
            <a:pPr marL="533400" indent="-533400">
              <a:buNone/>
            </a:pPr>
            <a:r>
              <a:rPr lang="en-US" sz="2800" dirty="0"/>
              <a:t>Desirable qualities </a:t>
            </a:r>
          </a:p>
          <a:p>
            <a:pPr marL="533400" indent="-533400">
              <a:buFont typeface="Calibri" panose="020F0502020204030204" charset="0"/>
              <a:buAutoNum type="arabicPeriod"/>
            </a:pPr>
            <a:r>
              <a:rPr lang="en-US" sz="2800" dirty="0"/>
              <a:t>Suggest benefits and qualities</a:t>
            </a:r>
          </a:p>
          <a:p>
            <a:pPr marL="533400" indent="-533400">
              <a:buFont typeface="Calibri" panose="020F0502020204030204" charset="0"/>
              <a:buAutoNum type="arabicPeriod"/>
            </a:pPr>
            <a:r>
              <a:rPr lang="en-US" sz="2800" dirty="0"/>
              <a:t>Easy to pronounce, recognize, and remember</a:t>
            </a:r>
          </a:p>
          <a:p>
            <a:pPr marL="533400" indent="-533400">
              <a:buFont typeface="Calibri" panose="020F0502020204030204" charset="0"/>
              <a:buAutoNum type="arabicPeriod"/>
            </a:pPr>
            <a:r>
              <a:rPr lang="en-US" sz="2800" dirty="0"/>
              <a:t>Distinctive</a:t>
            </a:r>
          </a:p>
          <a:p>
            <a:pPr marL="533400" indent="-533400">
              <a:buFont typeface="Calibri" panose="020F0502020204030204" charset="0"/>
              <a:buAutoNum type="arabicPeriod"/>
            </a:pPr>
            <a:r>
              <a:rPr lang="en-US" sz="2800" dirty="0"/>
              <a:t>Extendable</a:t>
            </a:r>
          </a:p>
          <a:p>
            <a:pPr marL="533400" indent="-533400">
              <a:buFont typeface="Calibri" panose="020F0502020204030204" charset="0"/>
              <a:buAutoNum type="arabicPeriod"/>
            </a:pPr>
            <a:r>
              <a:rPr lang="en-US" sz="2800" dirty="0"/>
              <a:t>Translatable for the global economy</a:t>
            </a:r>
          </a:p>
          <a:p>
            <a:pPr marL="533400" indent="-533400">
              <a:buFont typeface="Calibri" panose="020F0502020204030204" charset="0"/>
              <a:buAutoNum type="arabicPeriod"/>
            </a:pPr>
            <a:r>
              <a:rPr lang="en-US" sz="2800" dirty="0"/>
              <a:t>Capable of registration and legal protection</a:t>
            </a:r>
          </a:p>
        </p:txBody>
      </p:sp>
    </p:spTree>
    <p:extLst>
      <p:ext uri="{BB962C8B-B14F-4D97-AF65-F5344CB8AC3E}">
        <p14:creationId xmlns:p14="http://schemas.microsoft.com/office/powerpoint/2010/main" val="27571845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95402" y="1161034"/>
            <a:ext cx="9601196" cy="1303867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</a:rPr>
              <a:t>Brand Sponsorship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2667000" y="2160102"/>
            <a:ext cx="6781800" cy="4114800"/>
          </a:xfrm>
        </p:spPr>
        <p:txBody>
          <a:bodyPr/>
          <a:lstStyle/>
          <a:p>
            <a:pPr marL="533400" indent="-533400">
              <a:buNone/>
            </a:pPr>
            <a:endParaRPr lang="en-US" sz="2800" dirty="0"/>
          </a:p>
          <a:p>
            <a:pPr marL="533400" indent="-533400"/>
            <a:r>
              <a:rPr lang="en-US" sz="2800" dirty="0"/>
              <a:t>Manufacturer’s (National) brand</a:t>
            </a:r>
          </a:p>
          <a:p>
            <a:pPr marL="533400" indent="-533400"/>
            <a:r>
              <a:rPr lang="en-US" sz="2800" dirty="0"/>
              <a:t>Private (store) brand</a:t>
            </a:r>
          </a:p>
          <a:p>
            <a:pPr marL="533400" indent="-533400"/>
            <a:r>
              <a:rPr lang="en-US" sz="2800" dirty="0"/>
              <a:t>Licensed brand</a:t>
            </a:r>
          </a:p>
          <a:p>
            <a:pPr marL="533400" indent="-533400"/>
            <a:r>
              <a:rPr lang="en-US" sz="2800" dirty="0"/>
              <a:t>Co-brand</a:t>
            </a:r>
          </a:p>
        </p:txBody>
      </p:sp>
    </p:spTree>
    <p:extLst>
      <p:ext uri="{BB962C8B-B14F-4D97-AF65-F5344CB8AC3E}">
        <p14:creationId xmlns:p14="http://schemas.microsoft.com/office/powerpoint/2010/main" val="27131220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027256834"/>
              </p:ext>
            </p:extLst>
          </p:nvPr>
        </p:nvGraphicFramePr>
        <p:xfrm>
          <a:off x="974035" y="2842590"/>
          <a:ext cx="10416208" cy="3405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0" y="2678668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Existing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2678668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3549133" y="5454134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3549134" y="3625334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Existing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400" y="2385390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Product Category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2596634" y="4333845"/>
            <a:ext cx="2209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Brand Name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/>
          </p:nvPr>
        </p:nvSpPr>
        <p:spPr>
          <a:xfrm>
            <a:off x="2212491" y="1126740"/>
            <a:ext cx="7756263" cy="1054250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Brand Development Strategies</a:t>
            </a:r>
          </a:p>
        </p:txBody>
      </p:sp>
    </p:spTree>
    <p:extLst>
      <p:ext uri="{BB962C8B-B14F-4D97-AF65-F5344CB8AC3E}">
        <p14:creationId xmlns:p14="http://schemas.microsoft.com/office/powerpoint/2010/main" val="7306423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88" y="720587"/>
            <a:ext cx="10535478" cy="550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864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667000"/>
            <a:ext cx="7772400" cy="1143000"/>
          </a:xfrm>
        </p:spPr>
        <p:txBody>
          <a:bodyPr/>
          <a:lstStyle/>
          <a:p>
            <a:r>
              <a:rPr lang="en-US" sz="4800" dirty="0"/>
              <a:t>Services Marketing</a:t>
            </a:r>
          </a:p>
        </p:txBody>
      </p:sp>
    </p:spTree>
    <p:extLst>
      <p:ext uri="{BB962C8B-B14F-4D97-AF65-F5344CB8AC3E}">
        <p14:creationId xmlns:p14="http://schemas.microsoft.com/office/powerpoint/2010/main" val="35560343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212491" y="979954"/>
            <a:ext cx="7756263" cy="1054250"/>
          </a:xfrm>
        </p:spPr>
        <p:txBody>
          <a:bodyPr/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Nature and Characteristics of a Service</a:t>
            </a:r>
          </a:p>
        </p:txBody>
      </p:sp>
      <p:pic>
        <p:nvPicPr>
          <p:cNvPr id="5" name="Picture 4" descr="fig08_05wo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796204"/>
            <a:ext cx="7315200" cy="318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55749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95402" y="1200790"/>
            <a:ext cx="9601196" cy="1303867"/>
          </a:xfrm>
        </p:spPr>
        <p:txBody>
          <a:bodyPr/>
          <a:lstStyle/>
          <a:p>
            <a:r>
              <a:rPr lang="en-US" sz="3200" dirty="0">
                <a:latin typeface="Arial" panose="020B0604020202020204" pitchFamily="34" charset="0"/>
              </a:rPr>
              <a:t>Marketing Strategies for Service Firms</a:t>
            </a:r>
            <a:endParaRPr lang="en-US" sz="3200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2438400" y="2504658"/>
            <a:ext cx="7543800" cy="41148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In addition to traditional marketing strategies, service firms often require additional strategies</a:t>
            </a:r>
          </a:p>
          <a:p>
            <a:pPr marL="533400" indent="-533400"/>
            <a:r>
              <a:rPr lang="en-US" sz="2800" dirty="0"/>
              <a:t>Service-profit chain</a:t>
            </a:r>
          </a:p>
          <a:p>
            <a:pPr marL="533400" indent="-533400"/>
            <a:r>
              <a:rPr lang="en-US" sz="2800" dirty="0"/>
              <a:t>Internal marketing</a:t>
            </a:r>
          </a:p>
          <a:p>
            <a:pPr marL="533400" indent="-533400"/>
            <a:r>
              <a:rPr lang="en-US" sz="2800" dirty="0"/>
              <a:t>Interactive marketing</a:t>
            </a:r>
          </a:p>
        </p:txBody>
      </p:sp>
    </p:spTree>
    <p:extLst>
      <p:ext uri="{BB962C8B-B14F-4D97-AF65-F5344CB8AC3E}">
        <p14:creationId xmlns:p14="http://schemas.microsoft.com/office/powerpoint/2010/main" val="15683797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" panose="020B0604020202020204" pitchFamily="34" charset="0"/>
              </a:rPr>
              <a:t>Marketing Strategies for Service Firms</a:t>
            </a:r>
            <a:endParaRPr lang="en-US" sz="3200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1981200"/>
            <a:ext cx="4953000" cy="4572000"/>
          </a:xfrm>
        </p:spPr>
        <p:txBody>
          <a:bodyPr>
            <a:normAutofit lnSpcReduction="10000"/>
          </a:bodyPr>
          <a:lstStyle/>
          <a:p>
            <a:pPr marL="533400" indent="-533400" algn="ctr">
              <a:buNone/>
            </a:pPr>
            <a:endParaRPr lang="en-US" sz="2800" b="1" dirty="0"/>
          </a:p>
          <a:p>
            <a:pPr marL="533400" indent="-533400">
              <a:buNone/>
            </a:pPr>
            <a:r>
              <a:rPr lang="en-US" b="1" dirty="0"/>
              <a:t>	Service-profit chain</a:t>
            </a:r>
            <a:r>
              <a:rPr lang="en-US" dirty="0"/>
              <a:t> links service firm profits with employee and customer satisfaction</a:t>
            </a:r>
          </a:p>
          <a:p>
            <a:pPr marL="533400" indent="-533400"/>
            <a:r>
              <a:rPr lang="en-US" dirty="0"/>
              <a:t>Internal service quality</a:t>
            </a:r>
          </a:p>
          <a:p>
            <a:pPr marL="533400" indent="-533400"/>
            <a:r>
              <a:rPr lang="en-US" dirty="0"/>
              <a:t>Satisfied and productive service employees</a:t>
            </a:r>
          </a:p>
          <a:p>
            <a:pPr marL="533400" indent="-533400"/>
            <a:r>
              <a:rPr lang="en-US" dirty="0"/>
              <a:t>Greater service value</a:t>
            </a:r>
          </a:p>
          <a:p>
            <a:pPr marL="533400" indent="-533400"/>
            <a:r>
              <a:rPr lang="en-US" dirty="0"/>
              <a:t>Satisfied and loyal customers</a:t>
            </a:r>
          </a:p>
          <a:p>
            <a:pPr marL="533400" indent="-533400"/>
            <a:r>
              <a:rPr lang="en-US" dirty="0"/>
              <a:t>Healthy service profits and growth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6551"/>
          <a:stretch>
            <a:fillRect/>
          </a:stretch>
        </p:blipFill>
        <p:spPr bwMode="auto">
          <a:xfrm>
            <a:off x="7533032" y="2504660"/>
            <a:ext cx="3823970" cy="3688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s 1"/>
          <p:cNvSpPr/>
          <p:nvPr/>
        </p:nvSpPr>
        <p:spPr>
          <a:xfrm>
            <a:off x="8129905" y="4029075"/>
            <a:ext cx="10668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8020878" y="3406140"/>
            <a:ext cx="990600" cy="116586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924800" y="3406776"/>
            <a:ext cx="457200" cy="4032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285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Three types of service marketing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4585971" y="3147695"/>
            <a:ext cx="2638425" cy="1871980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6059805" y="3024505"/>
            <a:ext cx="1371600" cy="190500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4343401" y="3000376"/>
            <a:ext cx="1430655" cy="1952625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573906" y="5229226"/>
            <a:ext cx="2665095" cy="28575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5217160" y="2571750"/>
            <a:ext cx="1564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Company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7431406" y="5029200"/>
            <a:ext cx="1483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Customer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2887980" y="4986020"/>
            <a:ext cx="1455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Employee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6798311" y="3429000"/>
            <a:ext cx="16122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/>
              <a:t>External Marketing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3526156" y="3433445"/>
            <a:ext cx="14268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/>
              <a:t>Internal Marketing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4931410" y="5486400"/>
            <a:ext cx="20027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/>
              <a:t>Interactive Marketing</a:t>
            </a:r>
          </a:p>
        </p:txBody>
      </p:sp>
    </p:spTree>
    <p:extLst>
      <p:ext uri="{BB962C8B-B14F-4D97-AF65-F5344CB8AC3E}">
        <p14:creationId xmlns:p14="http://schemas.microsoft.com/office/powerpoint/2010/main" val="33756207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" panose="020B0604020202020204" pitchFamily="34" charset="0"/>
              </a:rPr>
              <a:t>Marketing Strategies for Service Firms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981200"/>
            <a:ext cx="7772400" cy="4114800"/>
          </a:xfrm>
        </p:spPr>
        <p:txBody>
          <a:bodyPr/>
          <a:lstStyle/>
          <a:p>
            <a:pPr marL="533400" indent="-533400" algn="ctr">
              <a:buNone/>
            </a:pPr>
            <a:endParaRPr lang="en-US" sz="2800" b="1" dirty="0"/>
          </a:p>
          <a:p>
            <a:pPr marL="533400" indent="-533400">
              <a:buNone/>
            </a:pPr>
            <a:r>
              <a:rPr lang="en-US" b="1" dirty="0"/>
              <a:t>	Internal marketing </a:t>
            </a:r>
            <a:r>
              <a:rPr lang="en-US" dirty="0"/>
              <a:t>means that the service firm must </a:t>
            </a:r>
            <a:r>
              <a:rPr lang="en-US" u="sng" dirty="0">
                <a:solidFill>
                  <a:srgbClr val="FF0000"/>
                </a:solidFill>
              </a:rPr>
              <a:t>orient and motivate</a:t>
            </a:r>
            <a:r>
              <a:rPr lang="en-US" dirty="0"/>
              <a:t> its </a:t>
            </a:r>
            <a:r>
              <a:rPr lang="en-US" u="sng" dirty="0"/>
              <a:t>customer contact employees and supporting service people</a:t>
            </a:r>
            <a:r>
              <a:rPr lang="en-US" dirty="0"/>
              <a:t> to work as a team </a:t>
            </a:r>
            <a:r>
              <a:rPr lang="en-US" dirty="0">
                <a:solidFill>
                  <a:srgbClr val="FF0000"/>
                </a:solidFill>
              </a:rPr>
              <a:t>to provide customer satisfaction</a:t>
            </a:r>
          </a:p>
          <a:p>
            <a:pPr marL="533400" indent="-533400">
              <a:buNone/>
            </a:pPr>
            <a:endParaRPr lang="en-US" dirty="0"/>
          </a:p>
          <a:p>
            <a:pPr marL="533400" indent="-533400">
              <a:buNone/>
            </a:pPr>
            <a:r>
              <a:rPr lang="en-US" dirty="0"/>
              <a:t>	Internal marketing must precede external marketing</a:t>
            </a:r>
          </a:p>
        </p:txBody>
      </p:sp>
    </p:spTree>
    <p:extLst>
      <p:ext uri="{BB962C8B-B14F-4D97-AF65-F5344CB8AC3E}">
        <p14:creationId xmlns:p14="http://schemas.microsoft.com/office/powerpoint/2010/main" val="29368893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" panose="020B0604020202020204" pitchFamily="34" charset="0"/>
              </a:rPr>
              <a:t>Marketing Strategies for Service Firms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981200"/>
            <a:ext cx="7772400" cy="4114800"/>
          </a:xfrm>
        </p:spPr>
        <p:txBody>
          <a:bodyPr/>
          <a:lstStyle/>
          <a:p>
            <a:pPr marL="533400" indent="-533400" algn="ctr">
              <a:buNone/>
            </a:pPr>
            <a:endParaRPr lang="en-US" sz="2800" b="1" dirty="0"/>
          </a:p>
          <a:p>
            <a:pPr marL="533400" indent="-533400">
              <a:buNone/>
            </a:pPr>
            <a:r>
              <a:rPr lang="en-US" b="1" dirty="0"/>
              <a:t>	Interactive marketing </a:t>
            </a:r>
            <a:r>
              <a:rPr lang="en-US" dirty="0"/>
              <a:t>means that service quality depends heavily on the quality of the </a:t>
            </a:r>
            <a:r>
              <a:rPr lang="en-US" dirty="0">
                <a:solidFill>
                  <a:srgbClr val="FF0000"/>
                </a:solidFill>
              </a:rPr>
              <a:t>buyer–seller interaction </a:t>
            </a:r>
            <a:r>
              <a:rPr lang="en-US" dirty="0">
                <a:solidFill>
                  <a:schemeClr val="tx1"/>
                </a:solidFill>
              </a:rPr>
              <a:t>during the service encounter</a:t>
            </a:r>
            <a:endParaRPr lang="en-US" dirty="0">
              <a:solidFill>
                <a:srgbClr val="FF0000"/>
              </a:solidFill>
            </a:endParaRPr>
          </a:p>
          <a:p>
            <a:pPr marL="533400" indent="-533400"/>
            <a:r>
              <a:rPr lang="en-US" dirty="0"/>
              <a:t>Service differentiation</a:t>
            </a:r>
          </a:p>
          <a:p>
            <a:pPr marL="533400" indent="-533400"/>
            <a:r>
              <a:rPr lang="en-US" dirty="0"/>
              <a:t>Service quality</a:t>
            </a:r>
          </a:p>
          <a:p>
            <a:pPr marL="533400" indent="-533400"/>
            <a:r>
              <a:rPr lang="en-US" dirty="0"/>
              <a:t>Service productivity</a:t>
            </a:r>
          </a:p>
        </p:txBody>
      </p:sp>
    </p:spTree>
    <p:extLst>
      <p:ext uri="{BB962C8B-B14F-4D97-AF65-F5344CB8AC3E}">
        <p14:creationId xmlns:p14="http://schemas.microsoft.com/office/powerpoint/2010/main" val="5766878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2663682"/>
            <a:ext cx="7620000" cy="41148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None/>
            </a:pPr>
            <a:r>
              <a:rPr lang="en-US" b="1" dirty="0"/>
              <a:t>	Managing service differentiation</a:t>
            </a:r>
            <a:r>
              <a:rPr lang="en-US" dirty="0"/>
              <a:t> creates a </a:t>
            </a:r>
            <a:r>
              <a:rPr lang="en-US" dirty="0">
                <a:solidFill>
                  <a:srgbClr val="FF0000"/>
                </a:solidFill>
              </a:rPr>
              <a:t>competitive advantage</a:t>
            </a:r>
            <a:r>
              <a:rPr lang="en-US" dirty="0"/>
              <a:t> from the </a:t>
            </a:r>
            <a:r>
              <a:rPr lang="en-US" dirty="0">
                <a:solidFill>
                  <a:srgbClr val="FF0000"/>
                </a:solidFill>
              </a:rPr>
              <a:t>offer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delivery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image of the service</a:t>
            </a:r>
          </a:p>
          <a:p>
            <a:pPr marL="533400" indent="-533400">
              <a:lnSpc>
                <a:spcPct val="90000"/>
              </a:lnSpc>
            </a:pPr>
            <a:r>
              <a:rPr lang="en-US" b="1" dirty="0"/>
              <a:t>Offer</a:t>
            </a:r>
            <a:r>
              <a:rPr lang="en-US" dirty="0"/>
              <a:t> can include distinctive features</a:t>
            </a:r>
          </a:p>
          <a:p>
            <a:pPr marL="533400" indent="-533400">
              <a:lnSpc>
                <a:spcPct val="90000"/>
              </a:lnSpc>
            </a:pPr>
            <a:r>
              <a:rPr lang="en-US" b="1" dirty="0"/>
              <a:t>Delivery</a:t>
            </a:r>
            <a:r>
              <a:rPr lang="en-US" dirty="0"/>
              <a:t> can include more able and reliable customer contact people, environment, or process</a:t>
            </a:r>
          </a:p>
          <a:p>
            <a:pPr marL="533400" indent="-533400">
              <a:lnSpc>
                <a:spcPct val="90000"/>
              </a:lnSpc>
            </a:pPr>
            <a:r>
              <a:rPr lang="en-US" b="1" dirty="0"/>
              <a:t>Image</a:t>
            </a:r>
            <a:r>
              <a:rPr lang="en-US" dirty="0"/>
              <a:t> can include symbols and branding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2212491" y="947838"/>
            <a:ext cx="7756263" cy="1054250"/>
          </a:xfrm>
        </p:spPr>
        <p:txBody>
          <a:bodyPr/>
          <a:lstStyle/>
          <a:p>
            <a:r>
              <a:rPr lang="en-US" sz="3200" dirty="0">
                <a:latin typeface="Arial" panose="020B0604020202020204" pitchFamily="34" charset="0"/>
              </a:rPr>
              <a:t>Marketing Strategies for Service Firms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6090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2212491" y="1106870"/>
            <a:ext cx="7756263" cy="1054250"/>
          </a:xfrm>
        </p:spPr>
        <p:txBody>
          <a:bodyPr/>
          <a:lstStyle/>
          <a:p>
            <a:r>
              <a:rPr lang="en-US" sz="3200" dirty="0">
                <a:latin typeface="Arial" panose="020B0604020202020204" pitchFamily="34" charset="0"/>
              </a:rPr>
              <a:t>Marketing Strategies for Service Firms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2822714"/>
            <a:ext cx="7620000" cy="4114800"/>
          </a:xfrm>
        </p:spPr>
        <p:txBody>
          <a:bodyPr/>
          <a:lstStyle/>
          <a:p>
            <a:pPr marL="533400" indent="-533400">
              <a:buNone/>
            </a:pPr>
            <a:r>
              <a:rPr lang="en-US" sz="2800" b="1" dirty="0"/>
              <a:t>	Managing service quality</a:t>
            </a:r>
            <a:r>
              <a:rPr lang="en-US" sz="2800" dirty="0"/>
              <a:t> provides a competitive advantage by </a:t>
            </a:r>
            <a:r>
              <a:rPr lang="en-US" sz="2800" dirty="0">
                <a:solidFill>
                  <a:srgbClr val="FF0000"/>
                </a:solidFill>
              </a:rPr>
              <a:t>delivering consistently higher quality</a:t>
            </a:r>
            <a:r>
              <a:rPr lang="en-US" sz="2800" dirty="0"/>
              <a:t> than its competitors</a:t>
            </a:r>
            <a:endParaRPr lang="en-US" sz="1200" dirty="0"/>
          </a:p>
          <a:p>
            <a:pPr marL="533400" indent="-533400">
              <a:buNone/>
            </a:pPr>
            <a:endParaRPr lang="en-US" sz="1200" dirty="0"/>
          </a:p>
          <a:p>
            <a:pPr marL="533400" indent="-533400">
              <a:buNone/>
            </a:pPr>
            <a:r>
              <a:rPr lang="en-US" sz="1200" dirty="0"/>
              <a:t>	</a:t>
            </a:r>
            <a:r>
              <a:rPr lang="en-US" sz="2800" dirty="0"/>
              <a:t>Service quality always varies depending on interactions between employees and customers</a:t>
            </a:r>
          </a:p>
          <a:p>
            <a:pPr marL="533400" indent="-53340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093068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2212491" y="1106870"/>
            <a:ext cx="7756263" cy="1054250"/>
          </a:xfrm>
        </p:spPr>
        <p:txBody>
          <a:bodyPr/>
          <a:lstStyle/>
          <a:p>
            <a:r>
              <a:rPr lang="en-US" sz="3200" dirty="0">
                <a:latin typeface="Arial" panose="020B0604020202020204" pitchFamily="34" charset="0"/>
              </a:rPr>
              <a:t>Marketing Strategies for Service Firms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2517914"/>
            <a:ext cx="7772400" cy="4114800"/>
          </a:xfrm>
        </p:spPr>
        <p:txBody>
          <a:bodyPr/>
          <a:lstStyle/>
          <a:p>
            <a:pPr marL="533400" indent="-533400" algn="ctr">
              <a:buNone/>
            </a:pPr>
            <a:endParaRPr lang="en-US" b="1" dirty="0"/>
          </a:p>
          <a:p>
            <a:pPr marL="533400" indent="-533400">
              <a:buNone/>
            </a:pPr>
            <a:r>
              <a:rPr lang="en-US" sz="2800" dirty="0"/>
              <a:t>	</a:t>
            </a:r>
            <a:r>
              <a:rPr lang="en-US" sz="2800" b="1" dirty="0"/>
              <a:t>Managing service productivity </a:t>
            </a:r>
            <a:r>
              <a:rPr lang="en-US" sz="2800" dirty="0"/>
              <a:t>refers to the </a:t>
            </a:r>
            <a:r>
              <a:rPr lang="en-US" sz="2800" dirty="0">
                <a:solidFill>
                  <a:srgbClr val="FF0000"/>
                </a:solidFill>
              </a:rPr>
              <a:t>cost side of marketing strategies</a:t>
            </a:r>
            <a:r>
              <a:rPr lang="en-US" sz="2800" dirty="0"/>
              <a:t> for service firms</a:t>
            </a:r>
          </a:p>
          <a:p>
            <a:pPr marL="533400" indent="-533400"/>
            <a:r>
              <a:rPr lang="en-US" sz="2800" dirty="0"/>
              <a:t>Employee recruiting, hiring, and training strategies</a:t>
            </a:r>
          </a:p>
          <a:p>
            <a:pPr marL="533400" indent="-533400"/>
            <a:r>
              <a:rPr lang="en-US" sz="2800" dirty="0"/>
              <a:t>Service quantity and quality strategies</a:t>
            </a:r>
          </a:p>
        </p:txBody>
      </p:sp>
    </p:spTree>
    <p:extLst>
      <p:ext uri="{BB962C8B-B14F-4D97-AF65-F5344CB8AC3E}">
        <p14:creationId xmlns:p14="http://schemas.microsoft.com/office/powerpoint/2010/main" val="22245662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30" y="695738"/>
            <a:ext cx="10555357" cy="548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2313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1077</TotalTime>
  <Words>1425</Words>
  <Application>Microsoft Office PowerPoint</Application>
  <PresentationFormat>Widescreen</PresentationFormat>
  <Paragraphs>271</Paragraphs>
  <Slides>44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Arial Unicode MS</vt:lpstr>
      <vt:lpstr>MS PGothic</vt:lpstr>
      <vt:lpstr>Arial</vt:lpstr>
      <vt:lpstr>Calibri</vt:lpstr>
      <vt:lpstr>Garamond</vt:lpstr>
      <vt:lpstr>Times New Roman</vt:lpstr>
      <vt:lpstr>Wingdings</vt:lpstr>
      <vt:lpstr>ヒラギノ角ゴ Pro W3</vt:lpstr>
      <vt:lpstr>Organic</vt:lpstr>
      <vt:lpstr>Product, Services, and Brands</vt:lpstr>
      <vt:lpstr>PowerPoint Presentation</vt:lpstr>
      <vt:lpstr>Value-Driven Marketing</vt:lpstr>
      <vt:lpstr>Benefits</vt:lpstr>
      <vt:lpstr>What is a Product?</vt:lpstr>
      <vt:lpstr>Definitions</vt:lpstr>
      <vt:lpstr>Levels of Products</vt:lpstr>
      <vt:lpstr>PowerPoint Presentation</vt:lpstr>
      <vt:lpstr>Product Classifications</vt:lpstr>
      <vt:lpstr>Product Classifications Consumer Products</vt:lpstr>
      <vt:lpstr>Product Classifications Consumer Products</vt:lpstr>
      <vt:lpstr>Product Classifications Consumer Products</vt:lpstr>
      <vt:lpstr>Product Classifications Consumer Products</vt:lpstr>
      <vt:lpstr>Product Classifications Consumer Products</vt:lpstr>
      <vt:lpstr>Product Classifications Industrial Products</vt:lpstr>
      <vt:lpstr>Product Classifications Industrial Products</vt:lpstr>
      <vt:lpstr>PowerPoint Presentation</vt:lpstr>
      <vt:lpstr>Individual Product Decisions</vt:lpstr>
      <vt:lpstr>Product Attributes</vt:lpstr>
      <vt:lpstr>PowerPoint Presentation</vt:lpstr>
      <vt:lpstr>Branding</vt:lpstr>
      <vt:lpstr> Packaging</vt:lpstr>
      <vt:lpstr>Labeling</vt:lpstr>
      <vt:lpstr>Product - Support Services</vt:lpstr>
      <vt:lpstr>Product Line Decisions</vt:lpstr>
      <vt:lpstr>Product Line Decisions</vt:lpstr>
      <vt:lpstr>Product Line Decisions</vt:lpstr>
      <vt:lpstr>Branding Strategy: Building Strong Brands</vt:lpstr>
      <vt:lpstr>Brand Positioning</vt:lpstr>
      <vt:lpstr>Brand Name Selection</vt:lpstr>
      <vt:lpstr>Brand Sponsorship</vt:lpstr>
      <vt:lpstr>Brand Development Strategies</vt:lpstr>
      <vt:lpstr>PowerPoint Presentation</vt:lpstr>
      <vt:lpstr>Services Marketing</vt:lpstr>
      <vt:lpstr>Nature and Characteristics of a Service</vt:lpstr>
      <vt:lpstr>Marketing Strategies for Service Firms</vt:lpstr>
      <vt:lpstr>Marketing Strategies for Service Firms</vt:lpstr>
      <vt:lpstr>Three types of service marketing</vt:lpstr>
      <vt:lpstr>Marketing Strategies for Service Firms</vt:lpstr>
      <vt:lpstr>Marketing Strategies for Service Firms</vt:lpstr>
      <vt:lpstr>Marketing Strategies for Service Firms</vt:lpstr>
      <vt:lpstr>Marketing Strategies for Service Firms</vt:lpstr>
      <vt:lpstr>Marketing Strategies for Service Firms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Product, Services, and Brands</dc:title>
  <dc:creator>Sonic</dc:creator>
  <cp:lastModifiedBy>Sonic</cp:lastModifiedBy>
  <cp:revision>10</cp:revision>
  <dcterms:created xsi:type="dcterms:W3CDTF">2023-11-07T04:07:58Z</dcterms:created>
  <dcterms:modified xsi:type="dcterms:W3CDTF">2024-03-26T04:42:13Z</dcterms:modified>
</cp:coreProperties>
</file>
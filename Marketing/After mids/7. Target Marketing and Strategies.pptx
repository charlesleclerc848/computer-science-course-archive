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56" r:id="rId2"/>
    <p:sldId id="28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90" r:id="rId22"/>
    <p:sldId id="275" r:id="rId23"/>
    <p:sldId id="277" r:id="rId24"/>
    <p:sldId id="278" r:id="rId25"/>
    <p:sldId id="279" r:id="rId26"/>
    <p:sldId id="280" r:id="rId27"/>
    <p:sldId id="281" r:id="rId28"/>
    <p:sldId id="282" r:id="rId29"/>
    <p:sldId id="283" r:id="rId30"/>
    <p:sldId id="284" r:id="rId31"/>
    <p:sldId id="285" r:id="rId32"/>
    <p:sldId id="286" r:id="rId33"/>
    <p:sldId id="287" r:id="rId34"/>
    <p:sldId id="291" r:id="rId35"/>
    <p:sldId id="28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76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1">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DD319D9-FE25-4227-9335-B693E0B8ADB3}" type="doc">
      <dgm:prSet loTypeId="urn:microsoft.com/office/officeart/2005/8/layout/matrix3" loCatId="matrix" qsTypeId="urn:microsoft.com/office/officeart/2005/8/quickstyle/simple1#1" qsCatId="simple" csTypeId="urn:microsoft.com/office/officeart/2005/8/colors/colorful1#2" csCatId="colorful" phldr="1"/>
      <dgm:spPr/>
      <dgm:t>
        <a:bodyPr/>
        <a:lstStyle/>
        <a:p>
          <a:endParaRPr lang="en-US"/>
        </a:p>
      </dgm:t>
    </dgm:pt>
    <dgm:pt modelId="{44D2AFFA-7EBB-4457-8372-7BAF10DE707B}">
      <dgm:prSet custT="1"/>
      <dgm:spPr/>
      <dgm:t>
        <a:bodyPr/>
        <a:lstStyle/>
        <a:p>
          <a:pPr rtl="0"/>
          <a:r>
            <a:rPr lang="en-US" sz="1800" b="1" dirty="0" smtClean="0">
              <a:solidFill>
                <a:schemeClr val="tx1"/>
              </a:solidFill>
            </a:rPr>
            <a:t>Geographic segmentation</a:t>
          </a:r>
          <a:endParaRPr lang="en-US" sz="1800" b="1" dirty="0">
            <a:solidFill>
              <a:schemeClr val="tx1"/>
            </a:solidFill>
          </a:endParaRPr>
        </a:p>
      </dgm:t>
    </dgm:pt>
    <dgm:pt modelId="{AC5477EB-571E-4401-B426-603BF8EDF044}" type="parTrans" cxnId="{DAA959D4-0EFF-4F54-B5CB-A319979DEFD4}">
      <dgm:prSet/>
      <dgm:spPr/>
      <dgm:t>
        <a:bodyPr/>
        <a:lstStyle/>
        <a:p>
          <a:endParaRPr lang="en-US" sz="2000" b="1">
            <a:solidFill>
              <a:schemeClr val="tx1"/>
            </a:solidFill>
          </a:endParaRPr>
        </a:p>
      </dgm:t>
    </dgm:pt>
    <dgm:pt modelId="{425AD90E-15A3-4D9A-8F4F-73660CAF3CF3}" type="sibTrans" cxnId="{DAA959D4-0EFF-4F54-B5CB-A319979DEFD4}">
      <dgm:prSet/>
      <dgm:spPr/>
      <dgm:t>
        <a:bodyPr/>
        <a:lstStyle/>
        <a:p>
          <a:endParaRPr lang="en-US" sz="2000" b="1">
            <a:solidFill>
              <a:schemeClr val="tx1"/>
            </a:solidFill>
          </a:endParaRPr>
        </a:p>
      </dgm:t>
    </dgm:pt>
    <dgm:pt modelId="{5D0F6EFF-07C4-4EAA-A3F2-B1FD5E957AA2}">
      <dgm:prSet custT="1"/>
      <dgm:spPr/>
      <dgm:t>
        <a:bodyPr/>
        <a:lstStyle/>
        <a:p>
          <a:pPr rtl="0"/>
          <a:r>
            <a:rPr lang="en-US" sz="1800" b="1" dirty="0" smtClean="0">
              <a:solidFill>
                <a:schemeClr val="tx1"/>
              </a:solidFill>
            </a:rPr>
            <a:t>Demographic segmentation</a:t>
          </a:r>
          <a:endParaRPr lang="en-US" sz="1800" b="1" dirty="0">
            <a:solidFill>
              <a:schemeClr val="tx1"/>
            </a:solidFill>
          </a:endParaRPr>
        </a:p>
      </dgm:t>
    </dgm:pt>
    <dgm:pt modelId="{ADD4C757-5EE4-451E-8CC8-3FB97EF57900}" type="parTrans" cxnId="{B5378269-FC59-4A0F-B004-5CA118AA889D}">
      <dgm:prSet/>
      <dgm:spPr/>
      <dgm:t>
        <a:bodyPr/>
        <a:lstStyle/>
        <a:p>
          <a:endParaRPr lang="en-US" sz="2000" b="1">
            <a:solidFill>
              <a:schemeClr val="tx1"/>
            </a:solidFill>
          </a:endParaRPr>
        </a:p>
      </dgm:t>
    </dgm:pt>
    <dgm:pt modelId="{0D2ECFE8-BF38-4A23-A1FD-3A5AE9080769}" type="sibTrans" cxnId="{B5378269-FC59-4A0F-B004-5CA118AA889D}">
      <dgm:prSet/>
      <dgm:spPr/>
      <dgm:t>
        <a:bodyPr/>
        <a:lstStyle/>
        <a:p>
          <a:endParaRPr lang="en-US" sz="2000" b="1">
            <a:solidFill>
              <a:schemeClr val="tx1"/>
            </a:solidFill>
          </a:endParaRPr>
        </a:p>
      </dgm:t>
    </dgm:pt>
    <dgm:pt modelId="{5B92F025-C53C-44BA-9C22-877A222C855C}">
      <dgm:prSet custT="1"/>
      <dgm:spPr/>
      <dgm:t>
        <a:bodyPr/>
        <a:lstStyle/>
        <a:p>
          <a:pPr rtl="0"/>
          <a:r>
            <a:rPr lang="en-US" sz="1800" b="1" dirty="0" smtClean="0">
              <a:solidFill>
                <a:schemeClr val="tx1"/>
              </a:solidFill>
            </a:rPr>
            <a:t>Psychographic segmentation</a:t>
          </a:r>
          <a:endParaRPr lang="en-US" sz="1800" b="1" dirty="0">
            <a:solidFill>
              <a:schemeClr val="tx1"/>
            </a:solidFill>
          </a:endParaRPr>
        </a:p>
      </dgm:t>
    </dgm:pt>
    <dgm:pt modelId="{C04FE7C2-9108-48D3-9C9F-FBD9976E4296}" type="parTrans" cxnId="{BB9CAC31-D2ED-448F-A4DF-A192A76FDEC5}">
      <dgm:prSet/>
      <dgm:spPr/>
      <dgm:t>
        <a:bodyPr/>
        <a:lstStyle/>
        <a:p>
          <a:endParaRPr lang="en-US" sz="2000" b="1">
            <a:solidFill>
              <a:schemeClr val="tx1"/>
            </a:solidFill>
          </a:endParaRPr>
        </a:p>
      </dgm:t>
    </dgm:pt>
    <dgm:pt modelId="{01EBF02C-16FE-4EB2-B9C9-7F527C1F1EAF}" type="sibTrans" cxnId="{BB9CAC31-D2ED-448F-A4DF-A192A76FDEC5}">
      <dgm:prSet/>
      <dgm:spPr/>
      <dgm:t>
        <a:bodyPr/>
        <a:lstStyle/>
        <a:p>
          <a:endParaRPr lang="en-US" sz="2000" b="1">
            <a:solidFill>
              <a:schemeClr val="tx1"/>
            </a:solidFill>
          </a:endParaRPr>
        </a:p>
      </dgm:t>
    </dgm:pt>
    <dgm:pt modelId="{9EBCBE55-B008-4E7F-BDAB-87A32F26C0C6}">
      <dgm:prSet custT="1"/>
      <dgm:spPr/>
      <dgm:t>
        <a:bodyPr/>
        <a:lstStyle/>
        <a:p>
          <a:pPr rtl="0"/>
          <a:r>
            <a:rPr lang="en-US" sz="1800" b="1" dirty="0" smtClean="0">
              <a:solidFill>
                <a:schemeClr val="bg1">
                  <a:lumMod val="85000"/>
                </a:schemeClr>
              </a:solidFill>
            </a:rPr>
            <a:t>Behavioral segmentation</a:t>
          </a:r>
          <a:endParaRPr lang="en-US" sz="1800" b="1" dirty="0">
            <a:solidFill>
              <a:schemeClr val="bg1">
                <a:lumMod val="85000"/>
              </a:schemeClr>
            </a:solidFill>
          </a:endParaRPr>
        </a:p>
      </dgm:t>
    </dgm:pt>
    <dgm:pt modelId="{E7622C26-8F2C-41F4-B6F1-E71FF382DA3D}" type="parTrans" cxnId="{62570520-6C4A-4D05-88E9-65C23D9C085E}">
      <dgm:prSet/>
      <dgm:spPr/>
      <dgm:t>
        <a:bodyPr/>
        <a:lstStyle/>
        <a:p>
          <a:endParaRPr lang="en-US" sz="2000" b="1">
            <a:solidFill>
              <a:schemeClr val="tx1"/>
            </a:solidFill>
          </a:endParaRPr>
        </a:p>
      </dgm:t>
    </dgm:pt>
    <dgm:pt modelId="{8D2DD6DA-BFAE-4AD5-8815-D9292930DB62}" type="sibTrans" cxnId="{62570520-6C4A-4D05-88E9-65C23D9C085E}">
      <dgm:prSet/>
      <dgm:spPr/>
      <dgm:t>
        <a:bodyPr/>
        <a:lstStyle/>
        <a:p>
          <a:endParaRPr lang="en-US" sz="2000" b="1">
            <a:solidFill>
              <a:schemeClr val="tx1"/>
            </a:solidFill>
          </a:endParaRPr>
        </a:p>
      </dgm:t>
    </dgm:pt>
    <dgm:pt modelId="{C02E4479-91D2-4EFA-981C-E34F70BF66DE}">
      <dgm:prSet/>
      <dgm:spPr/>
      <dgm:t>
        <a:bodyPr/>
        <a:lstStyle/>
        <a:p>
          <a:pPr rtl="0"/>
          <a:endParaRPr lang="en-US" sz="2000" b="1" dirty="0">
            <a:solidFill>
              <a:schemeClr val="tx1"/>
            </a:solidFill>
          </a:endParaRPr>
        </a:p>
      </dgm:t>
    </dgm:pt>
    <dgm:pt modelId="{76E0D522-524D-4587-A041-C89CF4066D5C}" type="parTrans" cxnId="{DA7A6A0C-BA34-4642-807B-29D82B510505}">
      <dgm:prSet/>
      <dgm:spPr/>
      <dgm:t>
        <a:bodyPr/>
        <a:lstStyle/>
        <a:p>
          <a:endParaRPr lang="en-US" sz="2000" b="1">
            <a:solidFill>
              <a:schemeClr val="tx1"/>
            </a:solidFill>
          </a:endParaRPr>
        </a:p>
      </dgm:t>
    </dgm:pt>
    <dgm:pt modelId="{B56742DE-5886-42D4-97C5-47CCE058081C}" type="sibTrans" cxnId="{DA7A6A0C-BA34-4642-807B-29D82B510505}">
      <dgm:prSet/>
      <dgm:spPr/>
      <dgm:t>
        <a:bodyPr/>
        <a:lstStyle/>
        <a:p>
          <a:endParaRPr lang="en-US" sz="2000" b="1">
            <a:solidFill>
              <a:schemeClr val="tx1"/>
            </a:solidFill>
          </a:endParaRPr>
        </a:p>
      </dgm:t>
    </dgm:pt>
    <dgm:pt modelId="{3108E4AF-B52B-427E-BC83-C3FC07E13377}" type="pres">
      <dgm:prSet presAssocID="{0DD319D9-FE25-4227-9335-B693E0B8ADB3}" presName="matrix" presStyleCnt="0">
        <dgm:presLayoutVars>
          <dgm:chMax val="1"/>
          <dgm:dir/>
          <dgm:resizeHandles val="exact"/>
        </dgm:presLayoutVars>
      </dgm:prSet>
      <dgm:spPr/>
      <dgm:t>
        <a:bodyPr/>
        <a:lstStyle/>
        <a:p>
          <a:endParaRPr lang="en-US"/>
        </a:p>
      </dgm:t>
    </dgm:pt>
    <dgm:pt modelId="{2930E188-8347-4619-9B01-061C83B78FA9}" type="pres">
      <dgm:prSet presAssocID="{0DD319D9-FE25-4227-9335-B693E0B8ADB3}" presName="diamond" presStyleLbl="bgShp" presStyleIdx="0" presStyleCnt="1"/>
      <dgm:spPr/>
    </dgm:pt>
    <dgm:pt modelId="{239C166D-9485-427A-943F-ADE2E7EC11A1}" type="pres">
      <dgm:prSet presAssocID="{0DD319D9-FE25-4227-9335-B693E0B8ADB3}" presName="quad1" presStyleLbl="node1" presStyleIdx="0" presStyleCnt="4" custScaleX="125454" custLinFactNeighborX="-5980">
        <dgm:presLayoutVars>
          <dgm:chMax val="0"/>
          <dgm:chPref val="0"/>
          <dgm:bulletEnabled val="1"/>
        </dgm:presLayoutVars>
      </dgm:prSet>
      <dgm:spPr/>
      <dgm:t>
        <a:bodyPr/>
        <a:lstStyle/>
        <a:p>
          <a:endParaRPr lang="en-US"/>
        </a:p>
      </dgm:t>
    </dgm:pt>
    <dgm:pt modelId="{FF5B7128-1CD2-4BEE-8825-D9246086A561}" type="pres">
      <dgm:prSet presAssocID="{0DD319D9-FE25-4227-9335-B693E0B8ADB3}" presName="quad2" presStyleLbl="node1" presStyleIdx="1" presStyleCnt="4" custScaleX="122455" custLinFactNeighborX="16445">
        <dgm:presLayoutVars>
          <dgm:chMax val="0"/>
          <dgm:chPref val="0"/>
          <dgm:bulletEnabled val="1"/>
        </dgm:presLayoutVars>
      </dgm:prSet>
      <dgm:spPr/>
      <dgm:t>
        <a:bodyPr/>
        <a:lstStyle/>
        <a:p>
          <a:endParaRPr lang="en-US"/>
        </a:p>
      </dgm:t>
    </dgm:pt>
    <dgm:pt modelId="{128BD139-926A-444E-951D-3B402AC0BC2F}" type="pres">
      <dgm:prSet presAssocID="{0DD319D9-FE25-4227-9335-B693E0B8ADB3}" presName="quad3" presStyleLbl="node1" presStyleIdx="2" presStyleCnt="4" custScaleX="128443" custLinFactNeighborX="-5980">
        <dgm:presLayoutVars>
          <dgm:chMax val="0"/>
          <dgm:chPref val="0"/>
          <dgm:bulletEnabled val="1"/>
        </dgm:presLayoutVars>
      </dgm:prSet>
      <dgm:spPr/>
      <dgm:t>
        <a:bodyPr/>
        <a:lstStyle/>
        <a:p>
          <a:endParaRPr lang="en-US"/>
        </a:p>
      </dgm:t>
    </dgm:pt>
    <dgm:pt modelId="{577EDF94-B6C3-40EA-9B71-3171FAD8FBAA}" type="pres">
      <dgm:prSet presAssocID="{0DD319D9-FE25-4227-9335-B693E0B8ADB3}" presName="quad4" presStyleLbl="node1" presStyleIdx="3" presStyleCnt="4" custScaleX="119476" custLinFactNeighborX="20930">
        <dgm:presLayoutVars>
          <dgm:chMax val="0"/>
          <dgm:chPref val="0"/>
          <dgm:bulletEnabled val="1"/>
        </dgm:presLayoutVars>
      </dgm:prSet>
      <dgm:spPr/>
      <dgm:t>
        <a:bodyPr/>
        <a:lstStyle/>
        <a:p>
          <a:endParaRPr lang="en-US"/>
        </a:p>
      </dgm:t>
    </dgm:pt>
  </dgm:ptLst>
  <dgm:cxnLst>
    <dgm:cxn modelId="{DAA959D4-0EFF-4F54-B5CB-A319979DEFD4}" srcId="{0DD319D9-FE25-4227-9335-B693E0B8ADB3}" destId="{44D2AFFA-7EBB-4457-8372-7BAF10DE707B}" srcOrd="0" destOrd="0" parTransId="{AC5477EB-571E-4401-B426-603BF8EDF044}" sibTransId="{425AD90E-15A3-4D9A-8F4F-73660CAF3CF3}"/>
    <dgm:cxn modelId="{48DDC63B-62B4-491B-8BA2-AAECD5D8234D}" type="presOf" srcId="{44D2AFFA-7EBB-4457-8372-7BAF10DE707B}" destId="{239C166D-9485-427A-943F-ADE2E7EC11A1}" srcOrd="0" destOrd="0" presId="urn:microsoft.com/office/officeart/2005/8/layout/matrix3"/>
    <dgm:cxn modelId="{C86F0200-3DF2-4380-8500-92B2EBB4045E}" type="presOf" srcId="{9EBCBE55-B008-4E7F-BDAB-87A32F26C0C6}" destId="{577EDF94-B6C3-40EA-9B71-3171FAD8FBAA}" srcOrd="0" destOrd="0" presId="urn:microsoft.com/office/officeart/2005/8/layout/matrix3"/>
    <dgm:cxn modelId="{CBD8EFF3-6D63-4984-A449-F57094A1AB28}" type="presOf" srcId="{0DD319D9-FE25-4227-9335-B693E0B8ADB3}" destId="{3108E4AF-B52B-427E-BC83-C3FC07E13377}" srcOrd="0" destOrd="0" presId="urn:microsoft.com/office/officeart/2005/8/layout/matrix3"/>
    <dgm:cxn modelId="{B5378269-FC59-4A0F-B004-5CA118AA889D}" srcId="{0DD319D9-FE25-4227-9335-B693E0B8ADB3}" destId="{5D0F6EFF-07C4-4EAA-A3F2-B1FD5E957AA2}" srcOrd="1" destOrd="0" parTransId="{ADD4C757-5EE4-451E-8CC8-3FB97EF57900}" sibTransId="{0D2ECFE8-BF38-4A23-A1FD-3A5AE9080769}"/>
    <dgm:cxn modelId="{BB9CAC31-D2ED-448F-A4DF-A192A76FDEC5}" srcId="{0DD319D9-FE25-4227-9335-B693E0B8ADB3}" destId="{5B92F025-C53C-44BA-9C22-877A222C855C}" srcOrd="2" destOrd="0" parTransId="{C04FE7C2-9108-48D3-9C9F-FBD9976E4296}" sibTransId="{01EBF02C-16FE-4EB2-B9C9-7F527C1F1EAF}"/>
    <dgm:cxn modelId="{DA7A6A0C-BA34-4642-807B-29D82B510505}" srcId="{0DD319D9-FE25-4227-9335-B693E0B8ADB3}" destId="{C02E4479-91D2-4EFA-981C-E34F70BF66DE}" srcOrd="4" destOrd="0" parTransId="{76E0D522-524D-4587-A041-C89CF4066D5C}" sibTransId="{B56742DE-5886-42D4-97C5-47CCE058081C}"/>
    <dgm:cxn modelId="{C5FA5C98-E799-492F-A103-1C79AFE95709}" type="presOf" srcId="{5D0F6EFF-07C4-4EAA-A3F2-B1FD5E957AA2}" destId="{FF5B7128-1CD2-4BEE-8825-D9246086A561}" srcOrd="0" destOrd="0" presId="urn:microsoft.com/office/officeart/2005/8/layout/matrix3"/>
    <dgm:cxn modelId="{62570520-6C4A-4D05-88E9-65C23D9C085E}" srcId="{0DD319D9-FE25-4227-9335-B693E0B8ADB3}" destId="{9EBCBE55-B008-4E7F-BDAB-87A32F26C0C6}" srcOrd="3" destOrd="0" parTransId="{E7622C26-8F2C-41F4-B6F1-E71FF382DA3D}" sibTransId="{8D2DD6DA-BFAE-4AD5-8815-D9292930DB62}"/>
    <dgm:cxn modelId="{5ED5B8EE-34BA-47F6-BD1D-DB9866F1597F}" type="presOf" srcId="{5B92F025-C53C-44BA-9C22-877A222C855C}" destId="{128BD139-926A-444E-951D-3B402AC0BC2F}" srcOrd="0" destOrd="0" presId="urn:microsoft.com/office/officeart/2005/8/layout/matrix3"/>
    <dgm:cxn modelId="{8A29B863-AB70-4949-BBDA-BA4B45F03347}" type="presParOf" srcId="{3108E4AF-B52B-427E-BC83-C3FC07E13377}" destId="{2930E188-8347-4619-9B01-061C83B78FA9}" srcOrd="0" destOrd="0" presId="urn:microsoft.com/office/officeart/2005/8/layout/matrix3"/>
    <dgm:cxn modelId="{5A40417A-1ABB-4071-B471-A1CD9CBFD1C4}" type="presParOf" srcId="{3108E4AF-B52B-427E-BC83-C3FC07E13377}" destId="{239C166D-9485-427A-943F-ADE2E7EC11A1}" srcOrd="1" destOrd="0" presId="urn:microsoft.com/office/officeart/2005/8/layout/matrix3"/>
    <dgm:cxn modelId="{13E68542-CFAF-4483-B9D1-9BFD7BF5949B}" type="presParOf" srcId="{3108E4AF-B52B-427E-BC83-C3FC07E13377}" destId="{FF5B7128-1CD2-4BEE-8825-D9246086A561}" srcOrd="2" destOrd="0" presId="urn:microsoft.com/office/officeart/2005/8/layout/matrix3"/>
    <dgm:cxn modelId="{43060459-99C9-466F-9C7A-2705362DB525}" type="presParOf" srcId="{3108E4AF-B52B-427E-BC83-C3FC07E13377}" destId="{128BD139-926A-444E-951D-3B402AC0BC2F}" srcOrd="3" destOrd="0" presId="urn:microsoft.com/office/officeart/2005/8/layout/matrix3"/>
    <dgm:cxn modelId="{4F0E1A37-17CC-4E54-BA96-47CC1334EBA4}" type="presParOf" srcId="{3108E4AF-B52B-427E-BC83-C3FC07E13377}" destId="{577EDF94-B6C3-40EA-9B71-3171FAD8FBAA}"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EC7F58-252D-45DC-A2AF-91E6C00808ED}" type="doc">
      <dgm:prSet loTypeId="urn:microsoft.com/office/officeart/2005/8/layout/default#2" loCatId="list" qsTypeId="urn:microsoft.com/office/officeart/2005/8/quickstyle/simple3#1" qsCatId="simple" csTypeId="urn:microsoft.com/office/officeart/2005/8/colors/accent1_5#1" csCatId="accent1" phldr="1"/>
      <dgm:spPr/>
      <dgm:t>
        <a:bodyPr/>
        <a:lstStyle/>
        <a:p>
          <a:endParaRPr lang="en-US"/>
        </a:p>
      </dgm:t>
    </dgm:pt>
    <dgm:pt modelId="{55381AAD-A087-4611-A832-1ECE6C7EF15C}">
      <dgm:prSet phldrT="[Text]" custT="1"/>
      <dgm:spPr/>
      <dgm:t>
        <a:bodyPr/>
        <a:lstStyle/>
        <a:p>
          <a:r>
            <a:rPr lang="en-US" sz="2100" dirty="0" smtClean="0"/>
            <a:t>Measurable </a:t>
          </a:r>
          <a:r>
            <a:rPr lang="en-US" sz="1100" dirty="0" smtClean="0"/>
            <a:t>(size, purchasing power, profiles of segments can be measured )</a:t>
          </a:r>
          <a:endParaRPr lang="en-US" sz="1800" dirty="0"/>
        </a:p>
      </dgm:t>
    </dgm:pt>
    <dgm:pt modelId="{65558E9E-EEFE-432F-869C-6586990C1008}" type="parTrans" cxnId="{89490F0B-72A4-4D08-8087-978D925D2C00}">
      <dgm:prSet/>
      <dgm:spPr/>
      <dgm:t>
        <a:bodyPr/>
        <a:lstStyle/>
        <a:p>
          <a:endParaRPr lang="en-US"/>
        </a:p>
      </dgm:t>
    </dgm:pt>
    <dgm:pt modelId="{79A8E6D9-0E53-4A83-AEE1-1221F405C6A9}" type="sibTrans" cxnId="{89490F0B-72A4-4D08-8087-978D925D2C00}">
      <dgm:prSet/>
      <dgm:spPr/>
      <dgm:t>
        <a:bodyPr/>
        <a:lstStyle/>
        <a:p>
          <a:endParaRPr lang="en-US"/>
        </a:p>
      </dgm:t>
    </dgm:pt>
    <dgm:pt modelId="{D6A65E69-D219-4E29-9408-35E388C4D838}">
      <dgm:prSet custT="1"/>
      <dgm:spPr/>
      <dgm:t>
        <a:bodyPr/>
        <a:lstStyle/>
        <a:p>
          <a:r>
            <a:rPr lang="en-US" sz="2100" dirty="0" smtClean="0"/>
            <a:t>Accessible </a:t>
          </a:r>
          <a:r>
            <a:rPr lang="en-US" sz="1100" dirty="0" smtClean="0"/>
            <a:t>(segments must be effectively reached and served)</a:t>
          </a:r>
          <a:endParaRPr lang="en-US" sz="1800" dirty="0" smtClean="0"/>
        </a:p>
      </dgm:t>
    </dgm:pt>
    <dgm:pt modelId="{6178A699-8A62-4554-9F6E-26E02AEC046C}" type="parTrans" cxnId="{A59BD108-5E03-4D48-8CAA-17EEFDC279C4}">
      <dgm:prSet/>
      <dgm:spPr/>
      <dgm:t>
        <a:bodyPr/>
        <a:lstStyle/>
        <a:p>
          <a:endParaRPr lang="en-US"/>
        </a:p>
      </dgm:t>
    </dgm:pt>
    <dgm:pt modelId="{33247F6D-46CD-4E36-A10C-F858266E6D2D}" type="sibTrans" cxnId="{A59BD108-5E03-4D48-8CAA-17EEFDC279C4}">
      <dgm:prSet/>
      <dgm:spPr/>
      <dgm:t>
        <a:bodyPr/>
        <a:lstStyle/>
        <a:p>
          <a:endParaRPr lang="en-US"/>
        </a:p>
      </dgm:t>
    </dgm:pt>
    <dgm:pt modelId="{85A90EB4-456C-4AB4-BC32-6FE0BAD67293}">
      <dgm:prSet custT="1"/>
      <dgm:spPr/>
      <dgm:t>
        <a:bodyPr/>
        <a:lstStyle/>
        <a:p>
          <a:r>
            <a:rPr lang="en-US" sz="2100" dirty="0" smtClean="0"/>
            <a:t>Substantial </a:t>
          </a:r>
          <a:r>
            <a:rPr lang="en-US" sz="1200" dirty="0" smtClean="0"/>
            <a:t>(segments must be large or profitable enough to serve)</a:t>
          </a:r>
          <a:endParaRPr lang="en-US" sz="2000" dirty="0" smtClean="0"/>
        </a:p>
      </dgm:t>
    </dgm:pt>
    <dgm:pt modelId="{0C24582D-7A19-44FD-A1DB-4AFEA517251A}" type="parTrans" cxnId="{9CC00FE0-B4D9-4E69-B211-81B00CD18BDF}">
      <dgm:prSet/>
      <dgm:spPr/>
      <dgm:t>
        <a:bodyPr/>
        <a:lstStyle/>
        <a:p>
          <a:endParaRPr lang="en-US"/>
        </a:p>
      </dgm:t>
    </dgm:pt>
    <dgm:pt modelId="{D6836D5C-DF63-4A73-BB46-7196444FD600}" type="sibTrans" cxnId="{9CC00FE0-B4D9-4E69-B211-81B00CD18BDF}">
      <dgm:prSet/>
      <dgm:spPr/>
      <dgm:t>
        <a:bodyPr/>
        <a:lstStyle/>
        <a:p>
          <a:endParaRPr lang="en-US"/>
        </a:p>
      </dgm:t>
    </dgm:pt>
    <dgm:pt modelId="{78951E83-5D7B-40C8-9649-21968B30CCA1}">
      <dgm:prSet custT="1"/>
      <dgm:spPr/>
      <dgm:t>
        <a:bodyPr/>
        <a:lstStyle/>
        <a:p>
          <a:r>
            <a:rPr lang="en-US" sz="2100" dirty="0" smtClean="0"/>
            <a:t>Differentiable </a:t>
          </a:r>
          <a:r>
            <a:rPr lang="en-US" sz="1100" dirty="0" smtClean="0"/>
            <a:t>(segments must respond differently to different marketing mix elements &amp; actions )</a:t>
          </a:r>
          <a:endParaRPr lang="en-US" sz="1600" dirty="0" smtClean="0"/>
        </a:p>
      </dgm:t>
    </dgm:pt>
    <dgm:pt modelId="{3E333009-AB1D-4C2E-995D-43D7E081739E}" type="parTrans" cxnId="{0984671D-0320-41C0-AEAD-A0624792A04B}">
      <dgm:prSet/>
      <dgm:spPr/>
      <dgm:t>
        <a:bodyPr/>
        <a:lstStyle/>
        <a:p>
          <a:endParaRPr lang="en-US"/>
        </a:p>
      </dgm:t>
    </dgm:pt>
    <dgm:pt modelId="{10E1EDFD-F540-49F8-921D-181896084901}" type="sibTrans" cxnId="{0984671D-0320-41C0-AEAD-A0624792A04B}">
      <dgm:prSet/>
      <dgm:spPr/>
      <dgm:t>
        <a:bodyPr/>
        <a:lstStyle/>
        <a:p>
          <a:endParaRPr lang="en-US"/>
        </a:p>
      </dgm:t>
    </dgm:pt>
    <dgm:pt modelId="{3E5BC873-D70A-45B4-8930-3D6ED96CF620}">
      <dgm:prSet custT="1"/>
      <dgm:spPr/>
      <dgm:t>
        <a:bodyPr/>
        <a:lstStyle/>
        <a:p>
          <a:r>
            <a:rPr lang="en-US" sz="2600" dirty="0" smtClean="0"/>
            <a:t>Actionable </a:t>
          </a:r>
          <a:r>
            <a:rPr lang="en-US" sz="1200" dirty="0" smtClean="0"/>
            <a:t>(must be able to attract and serve the segment)</a:t>
          </a:r>
          <a:endParaRPr lang="en-US" sz="2000" dirty="0" smtClean="0"/>
        </a:p>
      </dgm:t>
    </dgm:pt>
    <dgm:pt modelId="{9EC40971-AB96-4FE1-B339-A44220D84ACA}" type="parTrans" cxnId="{67FC9F24-8638-4EE5-B9D6-B42ABB4F76B8}">
      <dgm:prSet/>
      <dgm:spPr/>
      <dgm:t>
        <a:bodyPr/>
        <a:lstStyle/>
        <a:p>
          <a:endParaRPr lang="en-US"/>
        </a:p>
      </dgm:t>
    </dgm:pt>
    <dgm:pt modelId="{9A60607F-5217-4A96-9A39-3AC0237D7101}" type="sibTrans" cxnId="{67FC9F24-8638-4EE5-B9D6-B42ABB4F76B8}">
      <dgm:prSet/>
      <dgm:spPr/>
      <dgm:t>
        <a:bodyPr/>
        <a:lstStyle/>
        <a:p>
          <a:endParaRPr lang="en-US"/>
        </a:p>
      </dgm:t>
    </dgm:pt>
    <dgm:pt modelId="{48F61AAE-EC08-423D-A8A1-EB0EA72BB208}" type="pres">
      <dgm:prSet presAssocID="{53EC7F58-252D-45DC-A2AF-91E6C00808ED}" presName="diagram" presStyleCnt="0">
        <dgm:presLayoutVars>
          <dgm:dir/>
          <dgm:resizeHandles val="exact"/>
        </dgm:presLayoutVars>
      </dgm:prSet>
      <dgm:spPr/>
      <dgm:t>
        <a:bodyPr/>
        <a:lstStyle/>
        <a:p>
          <a:endParaRPr lang="en-US"/>
        </a:p>
      </dgm:t>
    </dgm:pt>
    <dgm:pt modelId="{05950C03-D5A8-4BC0-BE31-30285A3D8A5D}" type="pres">
      <dgm:prSet presAssocID="{55381AAD-A087-4611-A832-1ECE6C7EF15C}" presName="node" presStyleLbl="node1" presStyleIdx="0" presStyleCnt="5" custLinFactNeighborX="-456" custLinFactNeighborY="-3341">
        <dgm:presLayoutVars>
          <dgm:bulletEnabled val="1"/>
        </dgm:presLayoutVars>
      </dgm:prSet>
      <dgm:spPr/>
      <dgm:t>
        <a:bodyPr/>
        <a:lstStyle/>
        <a:p>
          <a:endParaRPr lang="en-US"/>
        </a:p>
      </dgm:t>
    </dgm:pt>
    <dgm:pt modelId="{954BE143-872D-4C79-838F-D2B5B60CBBB5}" type="pres">
      <dgm:prSet presAssocID="{79A8E6D9-0E53-4A83-AEE1-1221F405C6A9}" presName="sibTrans" presStyleCnt="0"/>
      <dgm:spPr/>
    </dgm:pt>
    <dgm:pt modelId="{1AD4185E-108F-4C5D-812E-78781E81827E}" type="pres">
      <dgm:prSet presAssocID="{D6A65E69-D219-4E29-9408-35E388C4D838}" presName="node" presStyleLbl="node1" presStyleIdx="1" presStyleCnt="5" custScaleX="108776">
        <dgm:presLayoutVars>
          <dgm:bulletEnabled val="1"/>
        </dgm:presLayoutVars>
      </dgm:prSet>
      <dgm:spPr/>
      <dgm:t>
        <a:bodyPr/>
        <a:lstStyle/>
        <a:p>
          <a:endParaRPr lang="en-US"/>
        </a:p>
      </dgm:t>
    </dgm:pt>
    <dgm:pt modelId="{D4A0095D-2485-4FC9-BB7E-F774B8DC574F}" type="pres">
      <dgm:prSet presAssocID="{33247F6D-46CD-4E36-A10C-F858266E6D2D}" presName="sibTrans" presStyleCnt="0"/>
      <dgm:spPr/>
    </dgm:pt>
    <dgm:pt modelId="{11C35352-86F7-4889-A461-F8A9D3F12BDF}" type="pres">
      <dgm:prSet presAssocID="{85A90EB4-456C-4AB4-BC32-6FE0BAD67293}" presName="node" presStyleLbl="node1" presStyleIdx="2" presStyleCnt="5">
        <dgm:presLayoutVars>
          <dgm:bulletEnabled val="1"/>
        </dgm:presLayoutVars>
      </dgm:prSet>
      <dgm:spPr/>
      <dgm:t>
        <a:bodyPr/>
        <a:lstStyle/>
        <a:p>
          <a:endParaRPr lang="en-US"/>
        </a:p>
      </dgm:t>
    </dgm:pt>
    <dgm:pt modelId="{C929FAD5-6867-456C-BC96-2F8D56EC01D5}" type="pres">
      <dgm:prSet presAssocID="{D6836D5C-DF63-4A73-BB46-7196444FD600}" presName="sibTrans" presStyleCnt="0"/>
      <dgm:spPr/>
    </dgm:pt>
    <dgm:pt modelId="{B14E602B-B6B8-4EAB-8497-CB0179BE9449}" type="pres">
      <dgm:prSet presAssocID="{78951E83-5D7B-40C8-9649-21968B30CCA1}" presName="node" presStyleLbl="node1" presStyleIdx="3" presStyleCnt="5" custScaleX="106622" custLinFactNeighborX="1077">
        <dgm:presLayoutVars>
          <dgm:bulletEnabled val="1"/>
        </dgm:presLayoutVars>
      </dgm:prSet>
      <dgm:spPr/>
      <dgm:t>
        <a:bodyPr/>
        <a:lstStyle/>
        <a:p>
          <a:endParaRPr lang="en-US"/>
        </a:p>
      </dgm:t>
    </dgm:pt>
    <dgm:pt modelId="{DAD35007-64DA-4413-82F5-6884C30FFF5F}" type="pres">
      <dgm:prSet presAssocID="{10E1EDFD-F540-49F8-921D-181896084901}" presName="sibTrans" presStyleCnt="0"/>
      <dgm:spPr/>
    </dgm:pt>
    <dgm:pt modelId="{51639670-0E6F-4E63-9FF0-39E4C88DEA5F}" type="pres">
      <dgm:prSet presAssocID="{3E5BC873-D70A-45B4-8930-3D6ED96CF620}" presName="node" presStyleLbl="node1" presStyleIdx="4" presStyleCnt="5" custScaleX="124402">
        <dgm:presLayoutVars>
          <dgm:bulletEnabled val="1"/>
        </dgm:presLayoutVars>
      </dgm:prSet>
      <dgm:spPr/>
      <dgm:t>
        <a:bodyPr/>
        <a:lstStyle/>
        <a:p>
          <a:endParaRPr lang="en-US"/>
        </a:p>
      </dgm:t>
    </dgm:pt>
  </dgm:ptLst>
  <dgm:cxnLst>
    <dgm:cxn modelId="{F60152F0-8430-403C-BFFA-592072E63458}" type="presOf" srcId="{D6A65E69-D219-4E29-9408-35E388C4D838}" destId="{1AD4185E-108F-4C5D-812E-78781E81827E}" srcOrd="0" destOrd="0" presId="urn:microsoft.com/office/officeart/2005/8/layout/default#2"/>
    <dgm:cxn modelId="{A59BD108-5E03-4D48-8CAA-17EEFDC279C4}" srcId="{53EC7F58-252D-45DC-A2AF-91E6C00808ED}" destId="{D6A65E69-D219-4E29-9408-35E388C4D838}" srcOrd="1" destOrd="0" parTransId="{6178A699-8A62-4554-9F6E-26E02AEC046C}" sibTransId="{33247F6D-46CD-4E36-A10C-F858266E6D2D}"/>
    <dgm:cxn modelId="{1539CAB5-D44A-4CE9-9EC3-E1BB9880A237}" type="presOf" srcId="{55381AAD-A087-4611-A832-1ECE6C7EF15C}" destId="{05950C03-D5A8-4BC0-BE31-30285A3D8A5D}" srcOrd="0" destOrd="0" presId="urn:microsoft.com/office/officeart/2005/8/layout/default#2"/>
    <dgm:cxn modelId="{DD2A3F11-FA32-43DA-A8E1-FEACD8A02F0E}" type="presOf" srcId="{53EC7F58-252D-45DC-A2AF-91E6C00808ED}" destId="{48F61AAE-EC08-423D-A8A1-EB0EA72BB208}" srcOrd="0" destOrd="0" presId="urn:microsoft.com/office/officeart/2005/8/layout/default#2"/>
    <dgm:cxn modelId="{9CC00FE0-B4D9-4E69-B211-81B00CD18BDF}" srcId="{53EC7F58-252D-45DC-A2AF-91E6C00808ED}" destId="{85A90EB4-456C-4AB4-BC32-6FE0BAD67293}" srcOrd="2" destOrd="0" parTransId="{0C24582D-7A19-44FD-A1DB-4AFEA517251A}" sibTransId="{D6836D5C-DF63-4A73-BB46-7196444FD600}"/>
    <dgm:cxn modelId="{5115AB3E-18ED-459D-A620-117CDAE18947}" type="presOf" srcId="{85A90EB4-456C-4AB4-BC32-6FE0BAD67293}" destId="{11C35352-86F7-4889-A461-F8A9D3F12BDF}" srcOrd="0" destOrd="0" presId="urn:microsoft.com/office/officeart/2005/8/layout/default#2"/>
    <dgm:cxn modelId="{0984671D-0320-41C0-AEAD-A0624792A04B}" srcId="{53EC7F58-252D-45DC-A2AF-91E6C00808ED}" destId="{78951E83-5D7B-40C8-9649-21968B30CCA1}" srcOrd="3" destOrd="0" parTransId="{3E333009-AB1D-4C2E-995D-43D7E081739E}" sibTransId="{10E1EDFD-F540-49F8-921D-181896084901}"/>
    <dgm:cxn modelId="{340AF0C6-01E4-4BFF-97B2-39B0B2BE4B21}" type="presOf" srcId="{3E5BC873-D70A-45B4-8930-3D6ED96CF620}" destId="{51639670-0E6F-4E63-9FF0-39E4C88DEA5F}" srcOrd="0" destOrd="0" presId="urn:microsoft.com/office/officeart/2005/8/layout/default#2"/>
    <dgm:cxn modelId="{67FC9F24-8638-4EE5-B9D6-B42ABB4F76B8}" srcId="{53EC7F58-252D-45DC-A2AF-91E6C00808ED}" destId="{3E5BC873-D70A-45B4-8930-3D6ED96CF620}" srcOrd="4" destOrd="0" parTransId="{9EC40971-AB96-4FE1-B339-A44220D84ACA}" sibTransId="{9A60607F-5217-4A96-9A39-3AC0237D7101}"/>
    <dgm:cxn modelId="{89490F0B-72A4-4D08-8087-978D925D2C00}" srcId="{53EC7F58-252D-45DC-A2AF-91E6C00808ED}" destId="{55381AAD-A087-4611-A832-1ECE6C7EF15C}" srcOrd="0" destOrd="0" parTransId="{65558E9E-EEFE-432F-869C-6586990C1008}" sibTransId="{79A8E6D9-0E53-4A83-AEE1-1221F405C6A9}"/>
    <dgm:cxn modelId="{04239EF6-4558-4F6E-8ACD-09623C726056}" type="presOf" srcId="{78951E83-5D7B-40C8-9649-21968B30CCA1}" destId="{B14E602B-B6B8-4EAB-8497-CB0179BE9449}" srcOrd="0" destOrd="0" presId="urn:microsoft.com/office/officeart/2005/8/layout/default#2"/>
    <dgm:cxn modelId="{300AE5B1-6600-41F2-8D9A-85FB08C1A9E4}" type="presParOf" srcId="{48F61AAE-EC08-423D-A8A1-EB0EA72BB208}" destId="{05950C03-D5A8-4BC0-BE31-30285A3D8A5D}" srcOrd="0" destOrd="0" presId="urn:microsoft.com/office/officeart/2005/8/layout/default#2"/>
    <dgm:cxn modelId="{113BAD7C-D774-4C99-B8B6-807A54604AA6}" type="presParOf" srcId="{48F61AAE-EC08-423D-A8A1-EB0EA72BB208}" destId="{954BE143-872D-4C79-838F-D2B5B60CBBB5}" srcOrd="1" destOrd="0" presId="urn:microsoft.com/office/officeart/2005/8/layout/default#2"/>
    <dgm:cxn modelId="{9C143DF2-874B-4610-8F93-985EE30740E7}" type="presParOf" srcId="{48F61AAE-EC08-423D-A8A1-EB0EA72BB208}" destId="{1AD4185E-108F-4C5D-812E-78781E81827E}" srcOrd="2" destOrd="0" presId="urn:microsoft.com/office/officeart/2005/8/layout/default#2"/>
    <dgm:cxn modelId="{8B6B9922-1D95-4EDE-9A41-E7F5EBA1EF5B}" type="presParOf" srcId="{48F61AAE-EC08-423D-A8A1-EB0EA72BB208}" destId="{D4A0095D-2485-4FC9-BB7E-F774B8DC574F}" srcOrd="3" destOrd="0" presId="urn:microsoft.com/office/officeart/2005/8/layout/default#2"/>
    <dgm:cxn modelId="{6FAC2E29-7591-4D15-A6A7-FB77ED764862}" type="presParOf" srcId="{48F61AAE-EC08-423D-A8A1-EB0EA72BB208}" destId="{11C35352-86F7-4889-A461-F8A9D3F12BDF}" srcOrd="4" destOrd="0" presId="urn:microsoft.com/office/officeart/2005/8/layout/default#2"/>
    <dgm:cxn modelId="{C3BF3EAD-C2BA-4819-A408-61E3D60F0636}" type="presParOf" srcId="{48F61AAE-EC08-423D-A8A1-EB0EA72BB208}" destId="{C929FAD5-6867-456C-BC96-2F8D56EC01D5}" srcOrd="5" destOrd="0" presId="urn:microsoft.com/office/officeart/2005/8/layout/default#2"/>
    <dgm:cxn modelId="{BD4F98DE-F3F3-4661-B086-EF29337D3839}" type="presParOf" srcId="{48F61AAE-EC08-423D-A8A1-EB0EA72BB208}" destId="{B14E602B-B6B8-4EAB-8497-CB0179BE9449}" srcOrd="6" destOrd="0" presId="urn:microsoft.com/office/officeart/2005/8/layout/default#2"/>
    <dgm:cxn modelId="{49151B8E-DB0C-4FE8-904A-5EE7CEE65826}" type="presParOf" srcId="{48F61AAE-EC08-423D-A8A1-EB0EA72BB208}" destId="{DAD35007-64DA-4413-82F5-6884C30FFF5F}" srcOrd="7" destOrd="0" presId="urn:microsoft.com/office/officeart/2005/8/layout/default#2"/>
    <dgm:cxn modelId="{4FAFB082-1F63-44D8-A02E-2D9388061271}" type="presParOf" srcId="{48F61AAE-EC08-423D-A8A1-EB0EA72BB208}" destId="{51639670-0E6F-4E63-9FF0-39E4C88DEA5F}" srcOrd="8" destOrd="0" presId="urn:microsoft.com/office/officeart/2005/8/layout/defaul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35D196-C123-4CE3-976F-F5B1890AAC95}" type="doc">
      <dgm:prSet loTypeId="urn:microsoft.com/office/officeart/2005/8/layout/default#5" loCatId="list" qsTypeId="urn:microsoft.com/office/officeart/2005/8/quickstyle/simple1#2" qsCatId="simple" csTypeId="urn:microsoft.com/office/officeart/2005/8/colors/colorful1#4" csCatId="colorful" phldr="1"/>
      <dgm:spPr/>
      <dgm:t>
        <a:bodyPr/>
        <a:lstStyle/>
        <a:p>
          <a:endParaRPr lang="en-US"/>
        </a:p>
      </dgm:t>
    </dgm:pt>
    <dgm:pt modelId="{E1818E40-CFB3-4291-B625-0F0C6AB74004}">
      <dgm:prSet phldrT="[Text]" custT="1"/>
      <dgm:spPr/>
      <dgm:t>
        <a:bodyPr/>
        <a:lstStyle/>
        <a:p>
          <a:r>
            <a:rPr lang="en-US" sz="2000" dirty="0" smtClean="0">
              <a:solidFill>
                <a:schemeClr val="tx1"/>
              </a:solidFill>
            </a:rPr>
            <a:t>Important</a:t>
          </a:r>
        </a:p>
        <a:p>
          <a:r>
            <a:rPr lang="en-US" sz="1200" dirty="0" smtClean="0">
              <a:solidFill>
                <a:schemeClr val="tx1"/>
              </a:solidFill>
            </a:rPr>
            <a:t>(difference delivers a highly valued benefit to target buyers)</a:t>
          </a:r>
          <a:endParaRPr lang="en-US" sz="1800" dirty="0">
            <a:solidFill>
              <a:schemeClr val="tx1"/>
            </a:solidFill>
          </a:endParaRPr>
        </a:p>
      </dgm:t>
    </dgm:pt>
    <dgm:pt modelId="{71B84D05-5A11-4CF8-80D2-AF131E903592}" type="parTrans" cxnId="{BEE6E269-C72F-4A38-8256-5A1D9462B879}">
      <dgm:prSet/>
      <dgm:spPr/>
      <dgm:t>
        <a:bodyPr/>
        <a:lstStyle/>
        <a:p>
          <a:endParaRPr lang="en-US"/>
        </a:p>
      </dgm:t>
    </dgm:pt>
    <dgm:pt modelId="{0E6D7CAF-BC79-4C81-8272-2508AEAE65BE}" type="sibTrans" cxnId="{BEE6E269-C72F-4A38-8256-5A1D9462B879}">
      <dgm:prSet/>
      <dgm:spPr/>
      <dgm:t>
        <a:bodyPr/>
        <a:lstStyle/>
        <a:p>
          <a:endParaRPr lang="en-US"/>
        </a:p>
      </dgm:t>
    </dgm:pt>
    <dgm:pt modelId="{CC11BF25-92B2-483A-8421-FE4771644980}">
      <dgm:prSet custT="1"/>
      <dgm:spPr/>
      <dgm:t>
        <a:bodyPr/>
        <a:lstStyle/>
        <a:p>
          <a:r>
            <a:rPr lang="en-US" sz="2000" dirty="0" smtClean="0">
              <a:solidFill>
                <a:schemeClr val="tx1"/>
              </a:solidFill>
            </a:rPr>
            <a:t>Distinctive</a:t>
          </a:r>
        </a:p>
        <a:p>
          <a:r>
            <a:rPr lang="en-US" sz="1100" dirty="0" smtClean="0">
              <a:solidFill>
                <a:schemeClr val="tx1"/>
              </a:solidFill>
            </a:rPr>
            <a:t>(competitors do not offer the difference or the company can offer it in a more distinctive way)</a:t>
          </a:r>
        </a:p>
      </dgm:t>
    </dgm:pt>
    <dgm:pt modelId="{73BDF98E-005A-4B00-BEB7-50248681517F}" type="parTrans" cxnId="{B70C9A0B-AD94-4A15-9B7A-758CE4891569}">
      <dgm:prSet/>
      <dgm:spPr/>
      <dgm:t>
        <a:bodyPr/>
        <a:lstStyle/>
        <a:p>
          <a:endParaRPr lang="en-US"/>
        </a:p>
      </dgm:t>
    </dgm:pt>
    <dgm:pt modelId="{BC148F41-A54F-45C8-AA78-46C4DBCA41C1}" type="sibTrans" cxnId="{B70C9A0B-AD94-4A15-9B7A-758CE4891569}">
      <dgm:prSet/>
      <dgm:spPr/>
      <dgm:t>
        <a:bodyPr/>
        <a:lstStyle/>
        <a:p>
          <a:endParaRPr lang="en-US"/>
        </a:p>
      </dgm:t>
    </dgm:pt>
    <dgm:pt modelId="{0A6980FC-8914-419C-9B65-96E771DD8F51}">
      <dgm:prSet custT="1"/>
      <dgm:spPr/>
      <dgm:t>
        <a:bodyPr/>
        <a:lstStyle/>
        <a:p>
          <a:r>
            <a:rPr lang="en-US" sz="2000" dirty="0" smtClean="0">
              <a:solidFill>
                <a:schemeClr val="tx1"/>
              </a:solidFill>
            </a:rPr>
            <a:t>Superior</a:t>
          </a:r>
        </a:p>
        <a:p>
          <a:r>
            <a:rPr lang="en-US" sz="1100" dirty="0" smtClean="0">
              <a:solidFill>
                <a:schemeClr val="tx1"/>
              </a:solidFill>
            </a:rPr>
            <a:t>(difference is superior to other ways that customers might obtain the same benefit)</a:t>
          </a:r>
        </a:p>
      </dgm:t>
    </dgm:pt>
    <dgm:pt modelId="{959CE1B9-2839-465A-B857-54067D367C68}" type="parTrans" cxnId="{44506DE1-7D71-4A44-BDB0-AF46B4CE09EF}">
      <dgm:prSet/>
      <dgm:spPr/>
      <dgm:t>
        <a:bodyPr/>
        <a:lstStyle/>
        <a:p>
          <a:endParaRPr lang="en-US"/>
        </a:p>
      </dgm:t>
    </dgm:pt>
    <dgm:pt modelId="{85DEC3C7-D920-4744-98ED-36F1E802FD56}" type="sibTrans" cxnId="{44506DE1-7D71-4A44-BDB0-AF46B4CE09EF}">
      <dgm:prSet/>
      <dgm:spPr/>
      <dgm:t>
        <a:bodyPr/>
        <a:lstStyle/>
        <a:p>
          <a:endParaRPr lang="en-US"/>
        </a:p>
      </dgm:t>
    </dgm:pt>
    <dgm:pt modelId="{A1E6CB42-7A92-4439-BEBE-ED7799CEBC04}">
      <dgm:prSet custT="1"/>
      <dgm:spPr/>
      <dgm:t>
        <a:bodyPr/>
        <a:lstStyle/>
        <a:p>
          <a:r>
            <a:rPr lang="en-US" sz="2000" dirty="0" smtClean="0">
              <a:solidFill>
                <a:schemeClr val="tx1"/>
              </a:solidFill>
            </a:rPr>
            <a:t>Communicable</a:t>
          </a:r>
        </a:p>
        <a:p>
          <a:r>
            <a:rPr lang="en-US" sz="1100" dirty="0" smtClean="0">
              <a:solidFill>
                <a:schemeClr val="tx1"/>
              </a:solidFill>
            </a:rPr>
            <a:t>(difference is communicable and visible to buyers)</a:t>
          </a:r>
        </a:p>
      </dgm:t>
    </dgm:pt>
    <dgm:pt modelId="{592BDEF9-2BBC-4CAB-BB03-6A6EC76175B4}" type="parTrans" cxnId="{FE0DA75C-A1E1-41B1-83E1-707CDDD42733}">
      <dgm:prSet/>
      <dgm:spPr/>
      <dgm:t>
        <a:bodyPr/>
        <a:lstStyle/>
        <a:p>
          <a:endParaRPr lang="en-US"/>
        </a:p>
      </dgm:t>
    </dgm:pt>
    <dgm:pt modelId="{C24E534E-6AEE-4F84-9033-9253811F6FD4}" type="sibTrans" cxnId="{FE0DA75C-A1E1-41B1-83E1-707CDDD42733}">
      <dgm:prSet/>
      <dgm:spPr/>
      <dgm:t>
        <a:bodyPr/>
        <a:lstStyle/>
        <a:p>
          <a:endParaRPr lang="en-US"/>
        </a:p>
      </dgm:t>
    </dgm:pt>
    <dgm:pt modelId="{CF9E4579-9EC6-4E80-B800-32499569119F}">
      <dgm:prSet custT="1"/>
      <dgm:spPr/>
      <dgm:t>
        <a:bodyPr/>
        <a:lstStyle/>
        <a:p>
          <a:r>
            <a:rPr lang="en-US" sz="2600" dirty="0" smtClean="0">
              <a:solidFill>
                <a:schemeClr val="tx1"/>
              </a:solidFill>
            </a:rPr>
            <a:t>Preemptive</a:t>
          </a:r>
        </a:p>
        <a:p>
          <a:r>
            <a:rPr lang="en-US" sz="1100" dirty="0" smtClean="0">
              <a:solidFill>
                <a:schemeClr val="tx1"/>
              </a:solidFill>
            </a:rPr>
            <a:t>(competitors can not easily copy the difference)</a:t>
          </a:r>
        </a:p>
      </dgm:t>
    </dgm:pt>
    <dgm:pt modelId="{DC40699A-38F5-4703-872A-19AE590E3A5E}" type="parTrans" cxnId="{A4749A38-562B-4827-BDD2-A22D1F88411D}">
      <dgm:prSet/>
      <dgm:spPr/>
      <dgm:t>
        <a:bodyPr/>
        <a:lstStyle/>
        <a:p>
          <a:endParaRPr lang="en-US"/>
        </a:p>
      </dgm:t>
    </dgm:pt>
    <dgm:pt modelId="{164EAB05-CD5E-412C-B90E-06FE93E7CFC7}" type="sibTrans" cxnId="{A4749A38-562B-4827-BDD2-A22D1F88411D}">
      <dgm:prSet/>
      <dgm:spPr/>
      <dgm:t>
        <a:bodyPr/>
        <a:lstStyle/>
        <a:p>
          <a:endParaRPr lang="en-US"/>
        </a:p>
      </dgm:t>
    </dgm:pt>
    <dgm:pt modelId="{DF1718F9-C17F-4547-B041-2F3ADC0B6790}">
      <dgm:prSet custT="1"/>
      <dgm:spPr/>
      <dgm:t>
        <a:bodyPr/>
        <a:lstStyle/>
        <a:p>
          <a:r>
            <a:rPr lang="en-US" sz="2900" dirty="0" smtClean="0">
              <a:solidFill>
                <a:schemeClr val="tx1"/>
              </a:solidFill>
            </a:rPr>
            <a:t>Affordable</a:t>
          </a:r>
        </a:p>
        <a:p>
          <a:r>
            <a:rPr lang="en-US" sz="1100" dirty="0" smtClean="0">
              <a:solidFill>
                <a:schemeClr val="tx1"/>
              </a:solidFill>
            </a:rPr>
            <a:t>(buyers can afford to pay the difference)</a:t>
          </a:r>
        </a:p>
      </dgm:t>
    </dgm:pt>
    <dgm:pt modelId="{F09E0D8E-EF60-46B2-86F2-C68BFF743C1F}" type="parTrans" cxnId="{AA70A3BA-182B-4D30-9C54-3E9274F4BBCC}">
      <dgm:prSet/>
      <dgm:spPr/>
      <dgm:t>
        <a:bodyPr/>
        <a:lstStyle/>
        <a:p>
          <a:endParaRPr lang="en-US"/>
        </a:p>
      </dgm:t>
    </dgm:pt>
    <dgm:pt modelId="{383A3ED0-B6A1-4A63-9E79-24FDD0A8EEF3}" type="sibTrans" cxnId="{AA70A3BA-182B-4D30-9C54-3E9274F4BBCC}">
      <dgm:prSet/>
      <dgm:spPr/>
      <dgm:t>
        <a:bodyPr/>
        <a:lstStyle/>
        <a:p>
          <a:endParaRPr lang="en-US"/>
        </a:p>
      </dgm:t>
    </dgm:pt>
    <dgm:pt modelId="{BB83B72B-56AB-45C9-A470-63D02745F657}">
      <dgm:prSet custT="1"/>
      <dgm:spPr/>
      <dgm:t>
        <a:bodyPr/>
        <a:lstStyle/>
        <a:p>
          <a:r>
            <a:rPr lang="en-US" sz="2900" dirty="0" smtClean="0">
              <a:solidFill>
                <a:schemeClr val="tx1"/>
              </a:solidFill>
            </a:rPr>
            <a:t>Profitable</a:t>
          </a:r>
        </a:p>
        <a:p>
          <a:r>
            <a:rPr lang="en-US" sz="1100" dirty="0" smtClean="0">
              <a:solidFill>
                <a:schemeClr val="tx1"/>
              </a:solidFill>
            </a:rPr>
            <a:t>(the company can introduce the difference profitably)</a:t>
          </a:r>
        </a:p>
      </dgm:t>
    </dgm:pt>
    <dgm:pt modelId="{EF09C310-ED6A-41EA-B2F3-A7A12646DC3F}" type="parTrans" cxnId="{F13BE600-7833-4FC4-97AC-D88A93B19730}">
      <dgm:prSet/>
      <dgm:spPr/>
      <dgm:t>
        <a:bodyPr/>
        <a:lstStyle/>
        <a:p>
          <a:endParaRPr lang="en-US"/>
        </a:p>
      </dgm:t>
    </dgm:pt>
    <dgm:pt modelId="{46637882-B4F9-4981-85F1-3EEB1555A31C}" type="sibTrans" cxnId="{F13BE600-7833-4FC4-97AC-D88A93B19730}">
      <dgm:prSet/>
      <dgm:spPr/>
      <dgm:t>
        <a:bodyPr/>
        <a:lstStyle/>
        <a:p>
          <a:endParaRPr lang="en-US"/>
        </a:p>
      </dgm:t>
    </dgm:pt>
    <dgm:pt modelId="{7211A8CE-D1ED-4406-971A-9F136AC9CC91}" type="pres">
      <dgm:prSet presAssocID="{3C35D196-C123-4CE3-976F-F5B1890AAC95}" presName="diagram" presStyleCnt="0">
        <dgm:presLayoutVars>
          <dgm:dir/>
          <dgm:resizeHandles val="exact"/>
        </dgm:presLayoutVars>
      </dgm:prSet>
      <dgm:spPr/>
      <dgm:t>
        <a:bodyPr/>
        <a:lstStyle/>
        <a:p>
          <a:endParaRPr lang="en-US"/>
        </a:p>
      </dgm:t>
    </dgm:pt>
    <dgm:pt modelId="{AE7D0CD7-CFB7-4172-A2A1-5A160268B1FA}" type="pres">
      <dgm:prSet presAssocID="{E1818E40-CFB3-4291-B625-0F0C6AB74004}" presName="node" presStyleLbl="node1" presStyleIdx="0" presStyleCnt="7">
        <dgm:presLayoutVars>
          <dgm:bulletEnabled val="1"/>
        </dgm:presLayoutVars>
      </dgm:prSet>
      <dgm:spPr/>
      <dgm:t>
        <a:bodyPr/>
        <a:lstStyle/>
        <a:p>
          <a:endParaRPr lang="en-US"/>
        </a:p>
      </dgm:t>
    </dgm:pt>
    <dgm:pt modelId="{5B91091F-4B59-44B4-9856-8AB1C8DCED1F}" type="pres">
      <dgm:prSet presAssocID="{0E6D7CAF-BC79-4C81-8272-2508AEAE65BE}" presName="sibTrans" presStyleCnt="0"/>
      <dgm:spPr/>
    </dgm:pt>
    <dgm:pt modelId="{97B40C9B-A8E7-4B04-A7BD-5B691C66B920}" type="pres">
      <dgm:prSet presAssocID="{CC11BF25-92B2-483A-8421-FE4771644980}" presName="node" presStyleLbl="node1" presStyleIdx="1" presStyleCnt="7">
        <dgm:presLayoutVars>
          <dgm:bulletEnabled val="1"/>
        </dgm:presLayoutVars>
      </dgm:prSet>
      <dgm:spPr/>
      <dgm:t>
        <a:bodyPr/>
        <a:lstStyle/>
        <a:p>
          <a:endParaRPr lang="en-US"/>
        </a:p>
      </dgm:t>
    </dgm:pt>
    <dgm:pt modelId="{D944D5E2-3A8C-4922-ADB2-A85887269330}" type="pres">
      <dgm:prSet presAssocID="{BC148F41-A54F-45C8-AA78-46C4DBCA41C1}" presName="sibTrans" presStyleCnt="0"/>
      <dgm:spPr/>
    </dgm:pt>
    <dgm:pt modelId="{67991F57-0F86-4B32-9B4A-97AA31E3FCDB}" type="pres">
      <dgm:prSet presAssocID="{0A6980FC-8914-419C-9B65-96E771DD8F51}" presName="node" presStyleLbl="node1" presStyleIdx="2" presStyleCnt="7">
        <dgm:presLayoutVars>
          <dgm:bulletEnabled val="1"/>
        </dgm:presLayoutVars>
      </dgm:prSet>
      <dgm:spPr/>
      <dgm:t>
        <a:bodyPr/>
        <a:lstStyle/>
        <a:p>
          <a:endParaRPr lang="en-US"/>
        </a:p>
      </dgm:t>
    </dgm:pt>
    <dgm:pt modelId="{D2E35B75-27D7-49C3-811A-B06919DBF894}" type="pres">
      <dgm:prSet presAssocID="{85DEC3C7-D920-4744-98ED-36F1E802FD56}" presName="sibTrans" presStyleCnt="0"/>
      <dgm:spPr/>
    </dgm:pt>
    <dgm:pt modelId="{14ECCE97-BD48-4C0D-849A-89923912F925}" type="pres">
      <dgm:prSet presAssocID="{A1E6CB42-7A92-4439-BEBE-ED7799CEBC04}" presName="node" presStyleLbl="node1" presStyleIdx="3" presStyleCnt="7">
        <dgm:presLayoutVars>
          <dgm:bulletEnabled val="1"/>
        </dgm:presLayoutVars>
      </dgm:prSet>
      <dgm:spPr/>
      <dgm:t>
        <a:bodyPr/>
        <a:lstStyle/>
        <a:p>
          <a:endParaRPr lang="en-US"/>
        </a:p>
      </dgm:t>
    </dgm:pt>
    <dgm:pt modelId="{C6DB5BFB-0DED-493D-94B9-485D2E59CAB7}" type="pres">
      <dgm:prSet presAssocID="{C24E534E-6AEE-4F84-9033-9253811F6FD4}" presName="sibTrans" presStyleCnt="0"/>
      <dgm:spPr/>
    </dgm:pt>
    <dgm:pt modelId="{7E53F324-0C85-4EFE-B3EE-1F5D92639F81}" type="pres">
      <dgm:prSet presAssocID="{CF9E4579-9EC6-4E80-B800-32499569119F}" presName="node" presStyleLbl="node1" presStyleIdx="4" presStyleCnt="7">
        <dgm:presLayoutVars>
          <dgm:bulletEnabled val="1"/>
        </dgm:presLayoutVars>
      </dgm:prSet>
      <dgm:spPr/>
      <dgm:t>
        <a:bodyPr/>
        <a:lstStyle/>
        <a:p>
          <a:endParaRPr lang="en-US"/>
        </a:p>
      </dgm:t>
    </dgm:pt>
    <dgm:pt modelId="{FDBB43D4-D4F8-4B38-9164-7BD3DE1162B9}" type="pres">
      <dgm:prSet presAssocID="{164EAB05-CD5E-412C-B90E-06FE93E7CFC7}" presName="sibTrans" presStyleCnt="0"/>
      <dgm:spPr/>
    </dgm:pt>
    <dgm:pt modelId="{A6A3AE67-AF19-4A90-B95B-E7E8E4949BEF}" type="pres">
      <dgm:prSet presAssocID="{DF1718F9-C17F-4547-B041-2F3ADC0B6790}" presName="node" presStyleLbl="node1" presStyleIdx="5" presStyleCnt="7">
        <dgm:presLayoutVars>
          <dgm:bulletEnabled val="1"/>
        </dgm:presLayoutVars>
      </dgm:prSet>
      <dgm:spPr/>
      <dgm:t>
        <a:bodyPr/>
        <a:lstStyle/>
        <a:p>
          <a:endParaRPr lang="en-US"/>
        </a:p>
      </dgm:t>
    </dgm:pt>
    <dgm:pt modelId="{8426DE7C-9BA1-4ED4-AAE2-CC17D88B53CE}" type="pres">
      <dgm:prSet presAssocID="{383A3ED0-B6A1-4A63-9E79-24FDD0A8EEF3}" presName="sibTrans" presStyleCnt="0"/>
      <dgm:spPr/>
    </dgm:pt>
    <dgm:pt modelId="{3F9A2FF3-98F6-4039-BF73-17B73071F746}" type="pres">
      <dgm:prSet presAssocID="{BB83B72B-56AB-45C9-A470-63D02745F657}" presName="node" presStyleLbl="node1" presStyleIdx="6" presStyleCnt="7">
        <dgm:presLayoutVars>
          <dgm:bulletEnabled val="1"/>
        </dgm:presLayoutVars>
      </dgm:prSet>
      <dgm:spPr/>
      <dgm:t>
        <a:bodyPr/>
        <a:lstStyle/>
        <a:p>
          <a:endParaRPr lang="en-US"/>
        </a:p>
      </dgm:t>
    </dgm:pt>
  </dgm:ptLst>
  <dgm:cxnLst>
    <dgm:cxn modelId="{C17706E0-502E-4E7F-8D51-8FE87E0CE167}" type="presOf" srcId="{CF9E4579-9EC6-4E80-B800-32499569119F}" destId="{7E53F324-0C85-4EFE-B3EE-1F5D92639F81}" srcOrd="0" destOrd="0" presId="urn:microsoft.com/office/officeart/2005/8/layout/default#5"/>
    <dgm:cxn modelId="{F31D92BF-5F00-4CA9-82E0-60F5113EA1EE}" type="presOf" srcId="{0A6980FC-8914-419C-9B65-96E771DD8F51}" destId="{67991F57-0F86-4B32-9B4A-97AA31E3FCDB}" srcOrd="0" destOrd="0" presId="urn:microsoft.com/office/officeart/2005/8/layout/default#5"/>
    <dgm:cxn modelId="{B70C9A0B-AD94-4A15-9B7A-758CE4891569}" srcId="{3C35D196-C123-4CE3-976F-F5B1890AAC95}" destId="{CC11BF25-92B2-483A-8421-FE4771644980}" srcOrd="1" destOrd="0" parTransId="{73BDF98E-005A-4B00-BEB7-50248681517F}" sibTransId="{BC148F41-A54F-45C8-AA78-46C4DBCA41C1}"/>
    <dgm:cxn modelId="{C73FA2D1-E8E2-44A3-ADCB-B8A1E3B47B51}" type="presOf" srcId="{BB83B72B-56AB-45C9-A470-63D02745F657}" destId="{3F9A2FF3-98F6-4039-BF73-17B73071F746}" srcOrd="0" destOrd="0" presId="urn:microsoft.com/office/officeart/2005/8/layout/default#5"/>
    <dgm:cxn modelId="{112CE654-E573-4F89-AFE4-565B62BBA995}" type="presOf" srcId="{A1E6CB42-7A92-4439-BEBE-ED7799CEBC04}" destId="{14ECCE97-BD48-4C0D-849A-89923912F925}" srcOrd="0" destOrd="0" presId="urn:microsoft.com/office/officeart/2005/8/layout/default#5"/>
    <dgm:cxn modelId="{443BB984-4887-4DC9-8F5F-C82E6C9BEEC8}" type="presOf" srcId="{CC11BF25-92B2-483A-8421-FE4771644980}" destId="{97B40C9B-A8E7-4B04-A7BD-5B691C66B920}" srcOrd="0" destOrd="0" presId="urn:microsoft.com/office/officeart/2005/8/layout/default#5"/>
    <dgm:cxn modelId="{FE0DA75C-A1E1-41B1-83E1-707CDDD42733}" srcId="{3C35D196-C123-4CE3-976F-F5B1890AAC95}" destId="{A1E6CB42-7A92-4439-BEBE-ED7799CEBC04}" srcOrd="3" destOrd="0" parTransId="{592BDEF9-2BBC-4CAB-BB03-6A6EC76175B4}" sibTransId="{C24E534E-6AEE-4F84-9033-9253811F6FD4}"/>
    <dgm:cxn modelId="{96F8739A-FB06-4E53-8F57-35DBD9A572E8}" type="presOf" srcId="{DF1718F9-C17F-4547-B041-2F3ADC0B6790}" destId="{A6A3AE67-AF19-4A90-B95B-E7E8E4949BEF}" srcOrd="0" destOrd="0" presId="urn:microsoft.com/office/officeart/2005/8/layout/default#5"/>
    <dgm:cxn modelId="{A4749A38-562B-4827-BDD2-A22D1F88411D}" srcId="{3C35D196-C123-4CE3-976F-F5B1890AAC95}" destId="{CF9E4579-9EC6-4E80-B800-32499569119F}" srcOrd="4" destOrd="0" parTransId="{DC40699A-38F5-4703-872A-19AE590E3A5E}" sibTransId="{164EAB05-CD5E-412C-B90E-06FE93E7CFC7}"/>
    <dgm:cxn modelId="{AA70A3BA-182B-4D30-9C54-3E9274F4BBCC}" srcId="{3C35D196-C123-4CE3-976F-F5B1890AAC95}" destId="{DF1718F9-C17F-4547-B041-2F3ADC0B6790}" srcOrd="5" destOrd="0" parTransId="{F09E0D8E-EF60-46B2-86F2-C68BFF743C1F}" sibTransId="{383A3ED0-B6A1-4A63-9E79-24FDD0A8EEF3}"/>
    <dgm:cxn modelId="{A2CEF2A5-0485-407F-8439-F5889EAF33A3}" type="presOf" srcId="{E1818E40-CFB3-4291-B625-0F0C6AB74004}" destId="{AE7D0CD7-CFB7-4172-A2A1-5A160268B1FA}" srcOrd="0" destOrd="0" presId="urn:microsoft.com/office/officeart/2005/8/layout/default#5"/>
    <dgm:cxn modelId="{088AC7A3-695E-4027-8301-1377825C0741}" type="presOf" srcId="{3C35D196-C123-4CE3-976F-F5B1890AAC95}" destId="{7211A8CE-D1ED-4406-971A-9F136AC9CC91}" srcOrd="0" destOrd="0" presId="urn:microsoft.com/office/officeart/2005/8/layout/default#5"/>
    <dgm:cxn modelId="{F13BE600-7833-4FC4-97AC-D88A93B19730}" srcId="{3C35D196-C123-4CE3-976F-F5B1890AAC95}" destId="{BB83B72B-56AB-45C9-A470-63D02745F657}" srcOrd="6" destOrd="0" parTransId="{EF09C310-ED6A-41EA-B2F3-A7A12646DC3F}" sibTransId="{46637882-B4F9-4981-85F1-3EEB1555A31C}"/>
    <dgm:cxn modelId="{44506DE1-7D71-4A44-BDB0-AF46B4CE09EF}" srcId="{3C35D196-C123-4CE3-976F-F5B1890AAC95}" destId="{0A6980FC-8914-419C-9B65-96E771DD8F51}" srcOrd="2" destOrd="0" parTransId="{959CE1B9-2839-465A-B857-54067D367C68}" sibTransId="{85DEC3C7-D920-4744-98ED-36F1E802FD56}"/>
    <dgm:cxn modelId="{BEE6E269-C72F-4A38-8256-5A1D9462B879}" srcId="{3C35D196-C123-4CE3-976F-F5B1890AAC95}" destId="{E1818E40-CFB3-4291-B625-0F0C6AB74004}" srcOrd="0" destOrd="0" parTransId="{71B84D05-5A11-4CF8-80D2-AF131E903592}" sibTransId="{0E6D7CAF-BC79-4C81-8272-2508AEAE65BE}"/>
    <dgm:cxn modelId="{ACAC2DC9-4E85-491C-9368-5A5AF3FC118C}" type="presParOf" srcId="{7211A8CE-D1ED-4406-971A-9F136AC9CC91}" destId="{AE7D0CD7-CFB7-4172-A2A1-5A160268B1FA}" srcOrd="0" destOrd="0" presId="urn:microsoft.com/office/officeart/2005/8/layout/default#5"/>
    <dgm:cxn modelId="{618FB559-EC9B-40DC-AF3F-D865F742F306}" type="presParOf" srcId="{7211A8CE-D1ED-4406-971A-9F136AC9CC91}" destId="{5B91091F-4B59-44B4-9856-8AB1C8DCED1F}" srcOrd="1" destOrd="0" presId="urn:microsoft.com/office/officeart/2005/8/layout/default#5"/>
    <dgm:cxn modelId="{C31F2A4C-6C3F-4E9C-A0F2-31A434B18B8D}" type="presParOf" srcId="{7211A8CE-D1ED-4406-971A-9F136AC9CC91}" destId="{97B40C9B-A8E7-4B04-A7BD-5B691C66B920}" srcOrd="2" destOrd="0" presId="urn:microsoft.com/office/officeart/2005/8/layout/default#5"/>
    <dgm:cxn modelId="{9E77031F-142E-42FC-8EDC-9511E3CBFF4C}" type="presParOf" srcId="{7211A8CE-D1ED-4406-971A-9F136AC9CC91}" destId="{D944D5E2-3A8C-4922-ADB2-A85887269330}" srcOrd="3" destOrd="0" presId="urn:microsoft.com/office/officeart/2005/8/layout/default#5"/>
    <dgm:cxn modelId="{456B8E45-9BD5-480A-8354-1601E2CCDD9A}" type="presParOf" srcId="{7211A8CE-D1ED-4406-971A-9F136AC9CC91}" destId="{67991F57-0F86-4B32-9B4A-97AA31E3FCDB}" srcOrd="4" destOrd="0" presId="urn:microsoft.com/office/officeart/2005/8/layout/default#5"/>
    <dgm:cxn modelId="{9C5E8F4F-5649-4877-9E92-1E97508D5140}" type="presParOf" srcId="{7211A8CE-D1ED-4406-971A-9F136AC9CC91}" destId="{D2E35B75-27D7-49C3-811A-B06919DBF894}" srcOrd="5" destOrd="0" presId="urn:microsoft.com/office/officeart/2005/8/layout/default#5"/>
    <dgm:cxn modelId="{7C64813E-2D1E-484C-A963-3637BDC411BE}" type="presParOf" srcId="{7211A8CE-D1ED-4406-971A-9F136AC9CC91}" destId="{14ECCE97-BD48-4C0D-849A-89923912F925}" srcOrd="6" destOrd="0" presId="urn:microsoft.com/office/officeart/2005/8/layout/default#5"/>
    <dgm:cxn modelId="{58C80624-3F44-4882-8D85-21A319E60C01}" type="presParOf" srcId="{7211A8CE-D1ED-4406-971A-9F136AC9CC91}" destId="{C6DB5BFB-0DED-493D-94B9-485D2E59CAB7}" srcOrd="7" destOrd="0" presId="urn:microsoft.com/office/officeart/2005/8/layout/default#5"/>
    <dgm:cxn modelId="{041730F8-175C-4761-8685-5FB2ECA9B390}" type="presParOf" srcId="{7211A8CE-D1ED-4406-971A-9F136AC9CC91}" destId="{7E53F324-0C85-4EFE-B3EE-1F5D92639F81}" srcOrd="8" destOrd="0" presId="urn:microsoft.com/office/officeart/2005/8/layout/default#5"/>
    <dgm:cxn modelId="{27A303B6-1C8E-49CB-866D-7F0C8109DD95}" type="presParOf" srcId="{7211A8CE-D1ED-4406-971A-9F136AC9CC91}" destId="{FDBB43D4-D4F8-4B38-9164-7BD3DE1162B9}" srcOrd="9" destOrd="0" presId="urn:microsoft.com/office/officeart/2005/8/layout/default#5"/>
    <dgm:cxn modelId="{AD8B0434-2920-40C5-A3E7-C046A61066F1}" type="presParOf" srcId="{7211A8CE-D1ED-4406-971A-9F136AC9CC91}" destId="{A6A3AE67-AF19-4A90-B95B-E7E8E4949BEF}" srcOrd="10" destOrd="0" presId="urn:microsoft.com/office/officeart/2005/8/layout/default#5"/>
    <dgm:cxn modelId="{16CB1002-CDCC-490A-A295-51E58D70FF86}" type="presParOf" srcId="{7211A8CE-D1ED-4406-971A-9F136AC9CC91}" destId="{8426DE7C-9BA1-4ED4-AAE2-CC17D88B53CE}" srcOrd="11" destOrd="0" presId="urn:microsoft.com/office/officeart/2005/8/layout/default#5"/>
    <dgm:cxn modelId="{B2991385-F950-4F90-98FD-DE846CBE030D}" type="presParOf" srcId="{7211A8CE-D1ED-4406-971A-9F136AC9CC91}" destId="{3F9A2FF3-98F6-4039-BF73-17B73071F746}" srcOrd="12" destOrd="0" presId="urn:microsoft.com/office/officeart/2005/8/layout/defaul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E885BE-B713-4085-B8C2-4730D3CEC794}" type="doc">
      <dgm:prSet loTypeId="urn:microsoft.com/office/officeart/2005/8/layout/vList2#1" loCatId="list" qsTypeId="urn:microsoft.com/office/officeart/2005/8/quickstyle/simple1#3" qsCatId="simple" csTypeId="urn:microsoft.com/office/officeart/2005/8/colors/colorful1#3" csCatId="colorful" phldr="1"/>
      <dgm:spPr/>
      <dgm:t>
        <a:bodyPr/>
        <a:lstStyle/>
        <a:p>
          <a:endParaRPr lang="en-US"/>
        </a:p>
      </dgm:t>
    </dgm:pt>
    <dgm:pt modelId="{965E46E5-4843-41D1-9D0C-468C26FA9AA6}">
      <dgm:prSet phldrT="[Text]" custT="1"/>
      <dgm:spPr/>
      <dgm:t>
        <a:bodyPr/>
        <a:lstStyle/>
        <a:p>
          <a:r>
            <a:rPr lang="en-US" sz="2400" smtClean="0"/>
            <a:t>Product differentiation</a:t>
          </a:r>
          <a:endParaRPr lang="en-US" sz="2400" dirty="0"/>
        </a:p>
      </dgm:t>
    </dgm:pt>
    <dgm:pt modelId="{A115F5DD-7BE8-4DFE-9378-371ACAD07BC7}" type="parTrans" cxnId="{E4F919C2-B611-4F23-9BA5-B7044D898C73}">
      <dgm:prSet/>
      <dgm:spPr/>
      <dgm:t>
        <a:bodyPr/>
        <a:lstStyle/>
        <a:p>
          <a:endParaRPr lang="en-US" sz="2000">
            <a:solidFill>
              <a:schemeClr val="tx1"/>
            </a:solidFill>
          </a:endParaRPr>
        </a:p>
      </dgm:t>
    </dgm:pt>
    <dgm:pt modelId="{7093A0E6-6CC3-437A-BC4C-10B60761A89C}" type="sibTrans" cxnId="{E4F919C2-B611-4F23-9BA5-B7044D898C73}">
      <dgm:prSet/>
      <dgm:spPr/>
      <dgm:t>
        <a:bodyPr/>
        <a:lstStyle/>
        <a:p>
          <a:endParaRPr lang="en-US" sz="2000">
            <a:solidFill>
              <a:schemeClr val="tx1"/>
            </a:solidFill>
          </a:endParaRPr>
        </a:p>
      </dgm:t>
    </dgm:pt>
    <dgm:pt modelId="{3C2A5247-23E3-4CF0-A90E-04FE5C85686D}">
      <dgm:prSet custT="1"/>
      <dgm:spPr/>
      <dgm:t>
        <a:bodyPr/>
        <a:lstStyle/>
        <a:p>
          <a:r>
            <a:rPr lang="en-US" sz="2400" smtClean="0"/>
            <a:t>Service differentiation</a:t>
          </a:r>
          <a:endParaRPr lang="en-US" sz="2400" dirty="0" smtClean="0"/>
        </a:p>
      </dgm:t>
    </dgm:pt>
    <dgm:pt modelId="{48ED2212-4A17-4B62-95F0-02185D99A8F9}" type="parTrans" cxnId="{A9DCC388-235A-42E1-9402-A7E2864B9306}">
      <dgm:prSet/>
      <dgm:spPr/>
      <dgm:t>
        <a:bodyPr/>
        <a:lstStyle/>
        <a:p>
          <a:endParaRPr lang="en-US" sz="2000">
            <a:solidFill>
              <a:schemeClr val="tx1"/>
            </a:solidFill>
          </a:endParaRPr>
        </a:p>
      </dgm:t>
    </dgm:pt>
    <dgm:pt modelId="{EA0440A6-2B0F-48A8-9CEB-55C9A97FF539}" type="sibTrans" cxnId="{A9DCC388-235A-42E1-9402-A7E2864B9306}">
      <dgm:prSet/>
      <dgm:spPr/>
      <dgm:t>
        <a:bodyPr/>
        <a:lstStyle/>
        <a:p>
          <a:endParaRPr lang="en-US" sz="2000">
            <a:solidFill>
              <a:schemeClr val="tx1"/>
            </a:solidFill>
          </a:endParaRPr>
        </a:p>
      </dgm:t>
    </dgm:pt>
    <dgm:pt modelId="{05955573-3167-4078-B56C-D3C2AD4D3FA4}">
      <dgm:prSet custT="1"/>
      <dgm:spPr/>
      <dgm:t>
        <a:bodyPr/>
        <a:lstStyle/>
        <a:p>
          <a:r>
            <a:rPr lang="en-US" sz="2400" dirty="0" smtClean="0"/>
            <a:t>Channel differentiation</a:t>
          </a:r>
        </a:p>
      </dgm:t>
    </dgm:pt>
    <dgm:pt modelId="{B6AC1DFB-0089-4C1B-88DF-DE73004F8E34}" type="parTrans" cxnId="{8C9BA201-0C87-4587-8B70-0D95FC930AB9}">
      <dgm:prSet/>
      <dgm:spPr/>
      <dgm:t>
        <a:bodyPr/>
        <a:lstStyle/>
        <a:p>
          <a:endParaRPr lang="en-US" sz="2000">
            <a:solidFill>
              <a:schemeClr val="tx1"/>
            </a:solidFill>
          </a:endParaRPr>
        </a:p>
      </dgm:t>
    </dgm:pt>
    <dgm:pt modelId="{B857365E-FB39-46F4-B5C2-98361292D08E}" type="sibTrans" cxnId="{8C9BA201-0C87-4587-8B70-0D95FC930AB9}">
      <dgm:prSet/>
      <dgm:spPr/>
      <dgm:t>
        <a:bodyPr/>
        <a:lstStyle/>
        <a:p>
          <a:endParaRPr lang="en-US" sz="2000">
            <a:solidFill>
              <a:schemeClr val="tx1"/>
            </a:solidFill>
          </a:endParaRPr>
        </a:p>
      </dgm:t>
    </dgm:pt>
    <dgm:pt modelId="{609C148F-AB26-444E-AD2C-D4FE910EDB8E}">
      <dgm:prSet custT="1"/>
      <dgm:spPr/>
      <dgm:t>
        <a:bodyPr/>
        <a:lstStyle/>
        <a:p>
          <a:r>
            <a:rPr lang="en-US" sz="2400" smtClean="0"/>
            <a:t>People differentiation</a:t>
          </a:r>
          <a:endParaRPr lang="en-US" sz="2400" dirty="0" smtClean="0"/>
        </a:p>
      </dgm:t>
    </dgm:pt>
    <dgm:pt modelId="{8C6BAD3F-E5A8-40E7-868E-B4F7B62970EE}" type="parTrans" cxnId="{980992A0-B23C-4617-8C53-7F972AF9D2AF}">
      <dgm:prSet/>
      <dgm:spPr/>
      <dgm:t>
        <a:bodyPr/>
        <a:lstStyle/>
        <a:p>
          <a:endParaRPr lang="en-US" sz="2000">
            <a:solidFill>
              <a:schemeClr val="tx1"/>
            </a:solidFill>
          </a:endParaRPr>
        </a:p>
      </dgm:t>
    </dgm:pt>
    <dgm:pt modelId="{D379301C-0EBF-46B4-B7FE-C789E24DB4B0}" type="sibTrans" cxnId="{980992A0-B23C-4617-8C53-7F972AF9D2AF}">
      <dgm:prSet/>
      <dgm:spPr/>
      <dgm:t>
        <a:bodyPr/>
        <a:lstStyle/>
        <a:p>
          <a:endParaRPr lang="en-US" sz="2000">
            <a:solidFill>
              <a:schemeClr val="tx1"/>
            </a:solidFill>
          </a:endParaRPr>
        </a:p>
      </dgm:t>
    </dgm:pt>
    <dgm:pt modelId="{11C0683C-4920-413F-9C3D-ECD7B65D3751}">
      <dgm:prSet custT="1"/>
      <dgm:spPr/>
      <dgm:t>
        <a:bodyPr/>
        <a:lstStyle/>
        <a:p>
          <a:r>
            <a:rPr lang="en-US" sz="2400" smtClean="0"/>
            <a:t>Image differentiation</a:t>
          </a:r>
          <a:endParaRPr lang="en-US" sz="2400" dirty="0" smtClean="0"/>
        </a:p>
      </dgm:t>
    </dgm:pt>
    <dgm:pt modelId="{0C99C019-4969-41D4-B93E-51B1D338E759}" type="parTrans" cxnId="{A7CBD0D6-1090-400C-B594-7FEB98B5D683}">
      <dgm:prSet/>
      <dgm:spPr/>
      <dgm:t>
        <a:bodyPr/>
        <a:lstStyle/>
        <a:p>
          <a:endParaRPr lang="en-US" sz="2000">
            <a:solidFill>
              <a:schemeClr val="tx1"/>
            </a:solidFill>
          </a:endParaRPr>
        </a:p>
      </dgm:t>
    </dgm:pt>
    <dgm:pt modelId="{BD9A5C68-D2A0-41A2-8995-76BC692A18FE}" type="sibTrans" cxnId="{A7CBD0D6-1090-400C-B594-7FEB98B5D683}">
      <dgm:prSet/>
      <dgm:spPr/>
      <dgm:t>
        <a:bodyPr/>
        <a:lstStyle/>
        <a:p>
          <a:endParaRPr lang="en-US" sz="2000">
            <a:solidFill>
              <a:schemeClr val="tx1"/>
            </a:solidFill>
          </a:endParaRPr>
        </a:p>
      </dgm:t>
    </dgm:pt>
    <dgm:pt modelId="{6159DB62-FB8D-4FA0-980E-9CF72C2F89CB}" type="pres">
      <dgm:prSet presAssocID="{F7E885BE-B713-4085-B8C2-4730D3CEC794}" presName="linear" presStyleCnt="0">
        <dgm:presLayoutVars>
          <dgm:animLvl val="lvl"/>
          <dgm:resizeHandles val="exact"/>
        </dgm:presLayoutVars>
      </dgm:prSet>
      <dgm:spPr/>
      <dgm:t>
        <a:bodyPr/>
        <a:lstStyle/>
        <a:p>
          <a:endParaRPr lang="en-US"/>
        </a:p>
      </dgm:t>
    </dgm:pt>
    <dgm:pt modelId="{C09B3B0B-3AAC-4C7C-B985-64A381224091}" type="pres">
      <dgm:prSet presAssocID="{965E46E5-4843-41D1-9D0C-468C26FA9AA6}" presName="parentText" presStyleLbl="node1" presStyleIdx="0" presStyleCnt="5">
        <dgm:presLayoutVars>
          <dgm:chMax val="0"/>
          <dgm:bulletEnabled val="1"/>
        </dgm:presLayoutVars>
      </dgm:prSet>
      <dgm:spPr/>
      <dgm:t>
        <a:bodyPr/>
        <a:lstStyle/>
        <a:p>
          <a:endParaRPr lang="en-US"/>
        </a:p>
      </dgm:t>
    </dgm:pt>
    <dgm:pt modelId="{2F888D1B-5B95-407E-A8E5-72D6FABA555D}" type="pres">
      <dgm:prSet presAssocID="{7093A0E6-6CC3-437A-BC4C-10B60761A89C}" presName="spacer" presStyleCnt="0"/>
      <dgm:spPr/>
      <dgm:t>
        <a:bodyPr/>
        <a:lstStyle/>
        <a:p>
          <a:endParaRPr lang="en-US"/>
        </a:p>
      </dgm:t>
    </dgm:pt>
    <dgm:pt modelId="{BBEB0502-F629-4C7C-ACAB-7F90991F077A}" type="pres">
      <dgm:prSet presAssocID="{3C2A5247-23E3-4CF0-A90E-04FE5C85686D}" presName="parentText" presStyleLbl="node1" presStyleIdx="1" presStyleCnt="5">
        <dgm:presLayoutVars>
          <dgm:chMax val="0"/>
          <dgm:bulletEnabled val="1"/>
        </dgm:presLayoutVars>
      </dgm:prSet>
      <dgm:spPr/>
      <dgm:t>
        <a:bodyPr/>
        <a:lstStyle/>
        <a:p>
          <a:endParaRPr lang="en-US"/>
        </a:p>
      </dgm:t>
    </dgm:pt>
    <dgm:pt modelId="{B658E892-CA8B-4C6C-B8E5-81476BA5E413}" type="pres">
      <dgm:prSet presAssocID="{EA0440A6-2B0F-48A8-9CEB-55C9A97FF539}" presName="spacer" presStyleCnt="0"/>
      <dgm:spPr/>
      <dgm:t>
        <a:bodyPr/>
        <a:lstStyle/>
        <a:p>
          <a:endParaRPr lang="en-US"/>
        </a:p>
      </dgm:t>
    </dgm:pt>
    <dgm:pt modelId="{ADA97DE5-2C1D-4311-8F11-7109D8166721}" type="pres">
      <dgm:prSet presAssocID="{05955573-3167-4078-B56C-D3C2AD4D3FA4}" presName="parentText" presStyleLbl="node1" presStyleIdx="2" presStyleCnt="5">
        <dgm:presLayoutVars>
          <dgm:chMax val="0"/>
          <dgm:bulletEnabled val="1"/>
        </dgm:presLayoutVars>
      </dgm:prSet>
      <dgm:spPr/>
      <dgm:t>
        <a:bodyPr/>
        <a:lstStyle/>
        <a:p>
          <a:endParaRPr lang="en-US"/>
        </a:p>
      </dgm:t>
    </dgm:pt>
    <dgm:pt modelId="{2CBD129D-2D04-468D-9808-B7A143563DDA}" type="pres">
      <dgm:prSet presAssocID="{B857365E-FB39-46F4-B5C2-98361292D08E}" presName="spacer" presStyleCnt="0"/>
      <dgm:spPr/>
      <dgm:t>
        <a:bodyPr/>
        <a:lstStyle/>
        <a:p>
          <a:endParaRPr lang="en-US"/>
        </a:p>
      </dgm:t>
    </dgm:pt>
    <dgm:pt modelId="{1190BF91-F168-4ECA-8CF5-AE00F414FA0A}" type="pres">
      <dgm:prSet presAssocID="{609C148F-AB26-444E-AD2C-D4FE910EDB8E}" presName="parentText" presStyleLbl="node1" presStyleIdx="3" presStyleCnt="5">
        <dgm:presLayoutVars>
          <dgm:chMax val="0"/>
          <dgm:bulletEnabled val="1"/>
        </dgm:presLayoutVars>
      </dgm:prSet>
      <dgm:spPr/>
      <dgm:t>
        <a:bodyPr/>
        <a:lstStyle/>
        <a:p>
          <a:endParaRPr lang="en-US"/>
        </a:p>
      </dgm:t>
    </dgm:pt>
    <dgm:pt modelId="{BB00A0A3-1EC1-48EC-9A3C-00C78F8C8463}" type="pres">
      <dgm:prSet presAssocID="{D379301C-0EBF-46B4-B7FE-C789E24DB4B0}" presName="spacer" presStyleCnt="0"/>
      <dgm:spPr/>
      <dgm:t>
        <a:bodyPr/>
        <a:lstStyle/>
        <a:p>
          <a:endParaRPr lang="en-US"/>
        </a:p>
      </dgm:t>
    </dgm:pt>
    <dgm:pt modelId="{F73B8C1A-FEFF-4691-B3E8-2B81CE7C3447}" type="pres">
      <dgm:prSet presAssocID="{11C0683C-4920-413F-9C3D-ECD7B65D3751}" presName="parentText" presStyleLbl="node1" presStyleIdx="4" presStyleCnt="5">
        <dgm:presLayoutVars>
          <dgm:chMax val="0"/>
          <dgm:bulletEnabled val="1"/>
        </dgm:presLayoutVars>
      </dgm:prSet>
      <dgm:spPr/>
      <dgm:t>
        <a:bodyPr/>
        <a:lstStyle/>
        <a:p>
          <a:endParaRPr lang="en-US"/>
        </a:p>
      </dgm:t>
    </dgm:pt>
  </dgm:ptLst>
  <dgm:cxnLst>
    <dgm:cxn modelId="{BBBBB9D8-A3F5-49A0-8E2B-8DCF86C74DFB}" type="presOf" srcId="{F7E885BE-B713-4085-B8C2-4730D3CEC794}" destId="{6159DB62-FB8D-4FA0-980E-9CF72C2F89CB}" srcOrd="0" destOrd="0" presId="urn:microsoft.com/office/officeart/2005/8/layout/vList2#1"/>
    <dgm:cxn modelId="{5BB6692A-E1C9-4BFA-BB72-5E9CFF6F6D66}" type="presOf" srcId="{965E46E5-4843-41D1-9D0C-468C26FA9AA6}" destId="{C09B3B0B-3AAC-4C7C-B985-64A381224091}" srcOrd="0" destOrd="0" presId="urn:microsoft.com/office/officeart/2005/8/layout/vList2#1"/>
    <dgm:cxn modelId="{E4F919C2-B611-4F23-9BA5-B7044D898C73}" srcId="{F7E885BE-B713-4085-B8C2-4730D3CEC794}" destId="{965E46E5-4843-41D1-9D0C-468C26FA9AA6}" srcOrd="0" destOrd="0" parTransId="{A115F5DD-7BE8-4DFE-9378-371ACAD07BC7}" sibTransId="{7093A0E6-6CC3-437A-BC4C-10B60761A89C}"/>
    <dgm:cxn modelId="{A9DCC388-235A-42E1-9402-A7E2864B9306}" srcId="{F7E885BE-B713-4085-B8C2-4730D3CEC794}" destId="{3C2A5247-23E3-4CF0-A90E-04FE5C85686D}" srcOrd="1" destOrd="0" parTransId="{48ED2212-4A17-4B62-95F0-02185D99A8F9}" sibTransId="{EA0440A6-2B0F-48A8-9CEB-55C9A97FF539}"/>
    <dgm:cxn modelId="{A7CBD0D6-1090-400C-B594-7FEB98B5D683}" srcId="{F7E885BE-B713-4085-B8C2-4730D3CEC794}" destId="{11C0683C-4920-413F-9C3D-ECD7B65D3751}" srcOrd="4" destOrd="0" parTransId="{0C99C019-4969-41D4-B93E-51B1D338E759}" sibTransId="{BD9A5C68-D2A0-41A2-8995-76BC692A18FE}"/>
    <dgm:cxn modelId="{A067306D-9456-4367-82AD-79E22402A773}" type="presOf" srcId="{3C2A5247-23E3-4CF0-A90E-04FE5C85686D}" destId="{BBEB0502-F629-4C7C-ACAB-7F90991F077A}" srcOrd="0" destOrd="0" presId="urn:microsoft.com/office/officeart/2005/8/layout/vList2#1"/>
    <dgm:cxn modelId="{4F43D011-5B7E-41D7-B3B9-16AE94F75DD4}" type="presOf" srcId="{05955573-3167-4078-B56C-D3C2AD4D3FA4}" destId="{ADA97DE5-2C1D-4311-8F11-7109D8166721}" srcOrd="0" destOrd="0" presId="urn:microsoft.com/office/officeart/2005/8/layout/vList2#1"/>
    <dgm:cxn modelId="{4732E26A-DC19-4D4E-A9DD-7E6F859CF626}" type="presOf" srcId="{609C148F-AB26-444E-AD2C-D4FE910EDB8E}" destId="{1190BF91-F168-4ECA-8CF5-AE00F414FA0A}" srcOrd="0" destOrd="0" presId="urn:microsoft.com/office/officeart/2005/8/layout/vList2#1"/>
    <dgm:cxn modelId="{980992A0-B23C-4617-8C53-7F972AF9D2AF}" srcId="{F7E885BE-B713-4085-B8C2-4730D3CEC794}" destId="{609C148F-AB26-444E-AD2C-D4FE910EDB8E}" srcOrd="3" destOrd="0" parTransId="{8C6BAD3F-E5A8-40E7-868E-B4F7B62970EE}" sibTransId="{D379301C-0EBF-46B4-B7FE-C789E24DB4B0}"/>
    <dgm:cxn modelId="{8C9BA201-0C87-4587-8B70-0D95FC930AB9}" srcId="{F7E885BE-B713-4085-B8C2-4730D3CEC794}" destId="{05955573-3167-4078-B56C-D3C2AD4D3FA4}" srcOrd="2" destOrd="0" parTransId="{B6AC1DFB-0089-4C1B-88DF-DE73004F8E34}" sibTransId="{B857365E-FB39-46F4-B5C2-98361292D08E}"/>
    <dgm:cxn modelId="{0073FBD2-8C1C-4FD9-81F3-CBA7ADF97A76}" type="presOf" srcId="{11C0683C-4920-413F-9C3D-ECD7B65D3751}" destId="{F73B8C1A-FEFF-4691-B3E8-2B81CE7C3447}" srcOrd="0" destOrd="0" presId="urn:microsoft.com/office/officeart/2005/8/layout/vList2#1"/>
    <dgm:cxn modelId="{12F1C672-ACD9-4A97-BF4F-657C27F94A73}" type="presParOf" srcId="{6159DB62-FB8D-4FA0-980E-9CF72C2F89CB}" destId="{C09B3B0B-3AAC-4C7C-B985-64A381224091}" srcOrd="0" destOrd="0" presId="urn:microsoft.com/office/officeart/2005/8/layout/vList2#1"/>
    <dgm:cxn modelId="{A4DF040C-B924-4617-8EB4-5B55F3DF7468}" type="presParOf" srcId="{6159DB62-FB8D-4FA0-980E-9CF72C2F89CB}" destId="{2F888D1B-5B95-407E-A8E5-72D6FABA555D}" srcOrd="1" destOrd="0" presId="urn:microsoft.com/office/officeart/2005/8/layout/vList2#1"/>
    <dgm:cxn modelId="{D7718962-25FE-4ACB-8ED8-4B85077397D1}" type="presParOf" srcId="{6159DB62-FB8D-4FA0-980E-9CF72C2F89CB}" destId="{BBEB0502-F629-4C7C-ACAB-7F90991F077A}" srcOrd="2" destOrd="0" presId="urn:microsoft.com/office/officeart/2005/8/layout/vList2#1"/>
    <dgm:cxn modelId="{48F4EF7F-90E4-42F6-8825-0D739918034E}" type="presParOf" srcId="{6159DB62-FB8D-4FA0-980E-9CF72C2F89CB}" destId="{B658E892-CA8B-4C6C-B8E5-81476BA5E413}" srcOrd="3" destOrd="0" presId="urn:microsoft.com/office/officeart/2005/8/layout/vList2#1"/>
    <dgm:cxn modelId="{C52F3FD2-BEA0-4105-9E6B-85BB416F6E98}" type="presParOf" srcId="{6159DB62-FB8D-4FA0-980E-9CF72C2F89CB}" destId="{ADA97DE5-2C1D-4311-8F11-7109D8166721}" srcOrd="4" destOrd="0" presId="urn:microsoft.com/office/officeart/2005/8/layout/vList2#1"/>
    <dgm:cxn modelId="{78EE7CAC-F54A-4984-96F2-DD446054C45A}" type="presParOf" srcId="{6159DB62-FB8D-4FA0-980E-9CF72C2F89CB}" destId="{2CBD129D-2D04-468D-9808-B7A143563DDA}" srcOrd="5" destOrd="0" presId="urn:microsoft.com/office/officeart/2005/8/layout/vList2#1"/>
    <dgm:cxn modelId="{8F4F9158-C96B-4F39-8AD5-11228BE65000}" type="presParOf" srcId="{6159DB62-FB8D-4FA0-980E-9CF72C2F89CB}" destId="{1190BF91-F168-4ECA-8CF5-AE00F414FA0A}" srcOrd="6" destOrd="0" presId="urn:microsoft.com/office/officeart/2005/8/layout/vList2#1"/>
    <dgm:cxn modelId="{E8764198-1EED-4E09-BEA7-445A712C1CA2}" type="presParOf" srcId="{6159DB62-FB8D-4FA0-980E-9CF72C2F89CB}" destId="{BB00A0A3-1EC1-48EC-9A3C-00C78F8C8463}" srcOrd="7" destOrd="0" presId="urn:microsoft.com/office/officeart/2005/8/layout/vList2#1"/>
    <dgm:cxn modelId="{8778A3CE-8A3B-4CB2-9EE4-B6EC982FAE54}" type="presParOf" srcId="{6159DB62-FB8D-4FA0-980E-9CF72C2F89CB}" destId="{F73B8C1A-FEFF-4691-B3E8-2B81CE7C3447}" srcOrd="8" destOrd="0" presId="urn:microsoft.com/office/officeart/2005/8/layout/vList2#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30E188-8347-4619-9B01-061C83B78FA9}">
      <dsp:nvSpPr>
        <dsp:cNvPr id="0" name=""/>
        <dsp:cNvSpPr/>
      </dsp:nvSpPr>
      <dsp:spPr>
        <a:xfrm>
          <a:off x="3483009" y="0"/>
          <a:ext cx="3410434" cy="3410434"/>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9C166D-9485-427A-943F-ADE2E7EC11A1}">
      <dsp:nvSpPr>
        <dsp:cNvPr id="0" name=""/>
        <dsp:cNvSpPr/>
      </dsp:nvSpPr>
      <dsp:spPr>
        <a:xfrm>
          <a:off x="3558184" y="323991"/>
          <a:ext cx="1668625" cy="1330069"/>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smtClean="0">
              <a:solidFill>
                <a:schemeClr val="tx1"/>
              </a:solidFill>
            </a:rPr>
            <a:t>Geographic segmentation</a:t>
          </a:r>
          <a:endParaRPr lang="en-US" sz="1800" b="1" kern="1200" dirty="0">
            <a:solidFill>
              <a:schemeClr val="tx1"/>
            </a:solidFill>
          </a:endParaRPr>
        </a:p>
      </dsp:txBody>
      <dsp:txXfrm>
        <a:off x="3623113" y="388920"/>
        <a:ext cx="1538767" cy="1200211"/>
      </dsp:txXfrm>
    </dsp:sp>
    <dsp:sp modelId="{FF5B7128-1CD2-4BEE-8825-D9246086A561}">
      <dsp:nvSpPr>
        <dsp:cNvPr id="0" name=""/>
        <dsp:cNvSpPr/>
      </dsp:nvSpPr>
      <dsp:spPr>
        <a:xfrm>
          <a:off x="5308778" y="323991"/>
          <a:ext cx="1628736" cy="1330069"/>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smtClean="0">
              <a:solidFill>
                <a:schemeClr val="tx1"/>
              </a:solidFill>
            </a:rPr>
            <a:t>Demographic segmentation</a:t>
          </a:r>
          <a:endParaRPr lang="en-US" sz="1800" b="1" kern="1200" dirty="0">
            <a:solidFill>
              <a:schemeClr val="tx1"/>
            </a:solidFill>
          </a:endParaRPr>
        </a:p>
      </dsp:txBody>
      <dsp:txXfrm>
        <a:off x="5373707" y="388920"/>
        <a:ext cx="1498878" cy="1200211"/>
      </dsp:txXfrm>
    </dsp:sp>
    <dsp:sp modelId="{128BD139-926A-444E-951D-3B402AC0BC2F}">
      <dsp:nvSpPr>
        <dsp:cNvPr id="0" name=""/>
        <dsp:cNvSpPr/>
      </dsp:nvSpPr>
      <dsp:spPr>
        <a:xfrm>
          <a:off x="3538306" y="1756373"/>
          <a:ext cx="1708380" cy="1330069"/>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smtClean="0">
              <a:solidFill>
                <a:schemeClr val="tx1"/>
              </a:solidFill>
            </a:rPr>
            <a:t>Psychographic segmentation</a:t>
          </a:r>
          <a:endParaRPr lang="en-US" sz="1800" b="1" kern="1200" dirty="0">
            <a:solidFill>
              <a:schemeClr val="tx1"/>
            </a:solidFill>
          </a:endParaRPr>
        </a:p>
      </dsp:txBody>
      <dsp:txXfrm>
        <a:off x="3603235" y="1821302"/>
        <a:ext cx="1578522" cy="1200211"/>
      </dsp:txXfrm>
    </dsp:sp>
    <dsp:sp modelId="{577EDF94-B6C3-40EA-9B71-3171FAD8FBAA}">
      <dsp:nvSpPr>
        <dsp:cNvPr id="0" name=""/>
        <dsp:cNvSpPr/>
      </dsp:nvSpPr>
      <dsp:spPr>
        <a:xfrm>
          <a:off x="5388243" y="1756373"/>
          <a:ext cx="1589113" cy="1330069"/>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1" kern="1200" dirty="0" smtClean="0">
              <a:solidFill>
                <a:schemeClr val="bg1">
                  <a:lumMod val="85000"/>
                </a:schemeClr>
              </a:solidFill>
            </a:rPr>
            <a:t>Behavioral segmentation</a:t>
          </a:r>
          <a:endParaRPr lang="en-US" sz="1800" b="1" kern="1200" dirty="0">
            <a:solidFill>
              <a:schemeClr val="bg1">
                <a:lumMod val="85000"/>
              </a:schemeClr>
            </a:solidFill>
          </a:endParaRPr>
        </a:p>
      </dsp:txBody>
      <dsp:txXfrm>
        <a:off x="5453172" y="1821302"/>
        <a:ext cx="1459255" cy="12002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950C03-D5A8-4BC0-BE31-30285A3D8A5D}">
      <dsp:nvSpPr>
        <dsp:cNvPr id="0" name=""/>
        <dsp:cNvSpPr/>
      </dsp:nvSpPr>
      <dsp:spPr>
        <a:xfrm>
          <a:off x="0" y="413480"/>
          <a:ext cx="2034551" cy="1220731"/>
        </a:xfrm>
        <a:prstGeom prst="rect">
          <a:avLst/>
        </a:prstGeom>
        <a:gradFill rotWithShape="0">
          <a:gsLst>
            <a:gs pos="0">
              <a:schemeClr val="accent1">
                <a:alpha val="90000"/>
                <a:hueOff val="0"/>
                <a:satOff val="0"/>
                <a:lumOff val="0"/>
                <a:alphaOff val="0"/>
                <a:tint val="60000"/>
                <a:lumMod val="110000"/>
              </a:schemeClr>
            </a:gs>
            <a:gs pos="100000">
              <a:schemeClr val="accent1">
                <a:alpha val="90000"/>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Measurable </a:t>
          </a:r>
          <a:r>
            <a:rPr lang="en-US" sz="1100" kern="1200" dirty="0" smtClean="0"/>
            <a:t>(size, purchasing power, profiles of segments can be measured )</a:t>
          </a:r>
          <a:endParaRPr lang="en-US" sz="1800" kern="1200" dirty="0"/>
        </a:p>
      </dsp:txBody>
      <dsp:txXfrm>
        <a:off x="0" y="413480"/>
        <a:ext cx="2034551" cy="1220731"/>
      </dsp:txXfrm>
    </dsp:sp>
    <dsp:sp modelId="{1AD4185E-108F-4C5D-812E-78781E81827E}">
      <dsp:nvSpPr>
        <dsp:cNvPr id="0" name=""/>
        <dsp:cNvSpPr/>
      </dsp:nvSpPr>
      <dsp:spPr>
        <a:xfrm>
          <a:off x="2242935" y="454264"/>
          <a:ext cx="2213103" cy="1220731"/>
        </a:xfrm>
        <a:prstGeom prst="rect">
          <a:avLst/>
        </a:prstGeom>
        <a:gradFill rotWithShape="0">
          <a:gsLst>
            <a:gs pos="0">
              <a:schemeClr val="accent1">
                <a:alpha val="90000"/>
                <a:hueOff val="0"/>
                <a:satOff val="0"/>
                <a:lumOff val="0"/>
                <a:alphaOff val="-10000"/>
                <a:tint val="60000"/>
                <a:lumMod val="110000"/>
              </a:schemeClr>
            </a:gs>
            <a:gs pos="100000">
              <a:schemeClr val="accent1">
                <a:alpha val="90000"/>
                <a:hueOff val="0"/>
                <a:satOff val="0"/>
                <a:lumOff val="0"/>
                <a:alphaOff val="-1000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Accessible </a:t>
          </a:r>
          <a:r>
            <a:rPr lang="en-US" sz="1100" kern="1200" dirty="0" smtClean="0"/>
            <a:t>(segments must be effectively reached and served)</a:t>
          </a:r>
          <a:endParaRPr lang="en-US" sz="1800" kern="1200" dirty="0" smtClean="0"/>
        </a:p>
      </dsp:txBody>
      <dsp:txXfrm>
        <a:off x="2242935" y="454264"/>
        <a:ext cx="2213103" cy="1220731"/>
      </dsp:txXfrm>
    </dsp:sp>
    <dsp:sp modelId="{11C35352-86F7-4889-A461-F8A9D3F12BDF}">
      <dsp:nvSpPr>
        <dsp:cNvPr id="0" name=""/>
        <dsp:cNvSpPr/>
      </dsp:nvSpPr>
      <dsp:spPr>
        <a:xfrm>
          <a:off x="4659494" y="454264"/>
          <a:ext cx="2034551" cy="1220731"/>
        </a:xfrm>
        <a:prstGeom prst="rect">
          <a:avLst/>
        </a:prstGeom>
        <a:gradFill rotWithShape="0">
          <a:gsLst>
            <a:gs pos="0">
              <a:schemeClr val="accent1">
                <a:alpha val="90000"/>
                <a:hueOff val="0"/>
                <a:satOff val="0"/>
                <a:lumOff val="0"/>
                <a:alphaOff val="-20000"/>
                <a:tint val="60000"/>
                <a:lumMod val="110000"/>
              </a:schemeClr>
            </a:gs>
            <a:gs pos="100000">
              <a:schemeClr val="accent1">
                <a:alpha val="90000"/>
                <a:hueOff val="0"/>
                <a:satOff val="0"/>
                <a:lumOff val="0"/>
                <a:alphaOff val="-2000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Substantial </a:t>
          </a:r>
          <a:r>
            <a:rPr lang="en-US" sz="1200" kern="1200" dirty="0" smtClean="0"/>
            <a:t>(segments must be large or profitable enough to serve)</a:t>
          </a:r>
          <a:endParaRPr lang="en-US" sz="2000" kern="1200" dirty="0" smtClean="0"/>
        </a:p>
      </dsp:txBody>
      <dsp:txXfrm>
        <a:off x="4659494" y="454264"/>
        <a:ext cx="2034551" cy="1220731"/>
      </dsp:txXfrm>
    </dsp:sp>
    <dsp:sp modelId="{B14E602B-B6B8-4EAB-8497-CB0179BE9449}">
      <dsp:nvSpPr>
        <dsp:cNvPr id="0" name=""/>
        <dsp:cNvSpPr/>
      </dsp:nvSpPr>
      <dsp:spPr>
        <a:xfrm>
          <a:off x="919520" y="1878451"/>
          <a:ext cx="2169279" cy="1220731"/>
        </a:xfrm>
        <a:prstGeom prst="rect">
          <a:avLst/>
        </a:prstGeom>
        <a:gradFill rotWithShape="0">
          <a:gsLst>
            <a:gs pos="0">
              <a:schemeClr val="accent1">
                <a:alpha val="90000"/>
                <a:hueOff val="0"/>
                <a:satOff val="0"/>
                <a:lumOff val="0"/>
                <a:alphaOff val="-30000"/>
                <a:tint val="60000"/>
                <a:lumMod val="110000"/>
              </a:schemeClr>
            </a:gs>
            <a:gs pos="100000">
              <a:schemeClr val="accent1">
                <a:alpha val="90000"/>
                <a:hueOff val="0"/>
                <a:satOff val="0"/>
                <a:lumOff val="0"/>
                <a:alphaOff val="-3000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sz="2100" kern="1200" dirty="0" smtClean="0"/>
            <a:t>Differentiable </a:t>
          </a:r>
          <a:r>
            <a:rPr lang="en-US" sz="1100" kern="1200" dirty="0" smtClean="0"/>
            <a:t>(segments must respond differently to different marketing mix elements &amp; actions )</a:t>
          </a:r>
          <a:endParaRPr lang="en-US" sz="1600" kern="1200" dirty="0" smtClean="0"/>
        </a:p>
      </dsp:txBody>
      <dsp:txXfrm>
        <a:off x="919520" y="1878451"/>
        <a:ext cx="2169279" cy="1220731"/>
      </dsp:txXfrm>
    </dsp:sp>
    <dsp:sp modelId="{51639670-0E6F-4E63-9FF0-39E4C88DEA5F}">
      <dsp:nvSpPr>
        <dsp:cNvPr id="0" name=""/>
        <dsp:cNvSpPr/>
      </dsp:nvSpPr>
      <dsp:spPr>
        <a:xfrm>
          <a:off x="3270342" y="1878451"/>
          <a:ext cx="2531022" cy="1220731"/>
        </a:xfrm>
        <a:prstGeom prst="rect">
          <a:avLst/>
        </a:prstGeom>
        <a:gradFill rotWithShape="0">
          <a:gsLst>
            <a:gs pos="0">
              <a:schemeClr val="accent1">
                <a:alpha val="90000"/>
                <a:hueOff val="0"/>
                <a:satOff val="0"/>
                <a:lumOff val="0"/>
                <a:alphaOff val="-40000"/>
                <a:tint val="60000"/>
                <a:lumMod val="110000"/>
              </a:schemeClr>
            </a:gs>
            <a:gs pos="100000">
              <a:schemeClr val="accent1">
                <a:alpha val="90000"/>
                <a:hueOff val="0"/>
                <a:satOff val="0"/>
                <a:lumOff val="0"/>
                <a:alphaOff val="-4000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t>Actionable </a:t>
          </a:r>
          <a:r>
            <a:rPr lang="en-US" sz="1200" kern="1200" dirty="0" smtClean="0"/>
            <a:t>(must be able to attract and serve the segment)</a:t>
          </a:r>
          <a:endParaRPr lang="en-US" sz="2000" kern="1200" dirty="0" smtClean="0"/>
        </a:p>
      </dsp:txBody>
      <dsp:txXfrm>
        <a:off x="3270342" y="1878451"/>
        <a:ext cx="2531022" cy="12207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7D0CD7-CFB7-4172-A2A1-5A160268B1FA}">
      <dsp:nvSpPr>
        <dsp:cNvPr id="0" name=""/>
        <dsp:cNvSpPr/>
      </dsp:nvSpPr>
      <dsp:spPr>
        <a:xfrm>
          <a:off x="0" y="31749"/>
          <a:ext cx="2000250" cy="1200150"/>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rPr>
            <a:t>Important</a:t>
          </a:r>
        </a:p>
        <a:p>
          <a:pPr lvl="0" algn="ctr" defTabSz="889000">
            <a:lnSpc>
              <a:spcPct val="90000"/>
            </a:lnSpc>
            <a:spcBef>
              <a:spcPct val="0"/>
            </a:spcBef>
            <a:spcAft>
              <a:spcPct val="35000"/>
            </a:spcAft>
          </a:pPr>
          <a:r>
            <a:rPr lang="en-US" sz="1200" kern="1200" dirty="0" smtClean="0">
              <a:solidFill>
                <a:schemeClr val="tx1"/>
              </a:solidFill>
            </a:rPr>
            <a:t>(difference delivers a highly valued benefit to target buyers)</a:t>
          </a:r>
          <a:endParaRPr lang="en-US" sz="1800" kern="1200" dirty="0">
            <a:solidFill>
              <a:schemeClr val="tx1"/>
            </a:solidFill>
          </a:endParaRPr>
        </a:p>
      </dsp:txBody>
      <dsp:txXfrm>
        <a:off x="0" y="31749"/>
        <a:ext cx="2000250" cy="1200150"/>
      </dsp:txXfrm>
    </dsp:sp>
    <dsp:sp modelId="{97B40C9B-A8E7-4B04-A7BD-5B691C66B920}">
      <dsp:nvSpPr>
        <dsp:cNvPr id="0" name=""/>
        <dsp:cNvSpPr/>
      </dsp:nvSpPr>
      <dsp:spPr>
        <a:xfrm>
          <a:off x="2200275" y="31749"/>
          <a:ext cx="2000250" cy="1200150"/>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rPr>
            <a:t>Distinctive</a:t>
          </a:r>
        </a:p>
        <a:p>
          <a:pPr lvl="0" algn="ctr" defTabSz="889000">
            <a:lnSpc>
              <a:spcPct val="90000"/>
            </a:lnSpc>
            <a:spcBef>
              <a:spcPct val="0"/>
            </a:spcBef>
            <a:spcAft>
              <a:spcPct val="35000"/>
            </a:spcAft>
          </a:pPr>
          <a:r>
            <a:rPr lang="en-US" sz="1100" kern="1200" dirty="0" smtClean="0">
              <a:solidFill>
                <a:schemeClr val="tx1"/>
              </a:solidFill>
            </a:rPr>
            <a:t>(competitors do not offer the difference or the company can offer it in a more distinctive way)</a:t>
          </a:r>
        </a:p>
      </dsp:txBody>
      <dsp:txXfrm>
        <a:off x="2200275" y="31749"/>
        <a:ext cx="2000250" cy="1200150"/>
      </dsp:txXfrm>
    </dsp:sp>
    <dsp:sp modelId="{67991F57-0F86-4B32-9B4A-97AA31E3FCDB}">
      <dsp:nvSpPr>
        <dsp:cNvPr id="0" name=""/>
        <dsp:cNvSpPr/>
      </dsp:nvSpPr>
      <dsp:spPr>
        <a:xfrm>
          <a:off x="4400550" y="31749"/>
          <a:ext cx="2000250" cy="1200150"/>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rPr>
            <a:t>Superior</a:t>
          </a:r>
        </a:p>
        <a:p>
          <a:pPr lvl="0" algn="ctr" defTabSz="889000">
            <a:lnSpc>
              <a:spcPct val="90000"/>
            </a:lnSpc>
            <a:spcBef>
              <a:spcPct val="0"/>
            </a:spcBef>
            <a:spcAft>
              <a:spcPct val="35000"/>
            </a:spcAft>
          </a:pPr>
          <a:r>
            <a:rPr lang="en-US" sz="1100" kern="1200" dirty="0" smtClean="0">
              <a:solidFill>
                <a:schemeClr val="tx1"/>
              </a:solidFill>
            </a:rPr>
            <a:t>(difference is superior to other ways that customers might obtain the same benefit)</a:t>
          </a:r>
        </a:p>
      </dsp:txBody>
      <dsp:txXfrm>
        <a:off x="4400550" y="31749"/>
        <a:ext cx="2000250" cy="1200150"/>
      </dsp:txXfrm>
    </dsp:sp>
    <dsp:sp modelId="{14ECCE97-BD48-4C0D-849A-89923912F925}">
      <dsp:nvSpPr>
        <dsp:cNvPr id="0" name=""/>
        <dsp:cNvSpPr/>
      </dsp:nvSpPr>
      <dsp:spPr>
        <a:xfrm>
          <a:off x="0" y="1431924"/>
          <a:ext cx="2000250" cy="1200150"/>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rPr>
            <a:t>Communicable</a:t>
          </a:r>
        </a:p>
        <a:p>
          <a:pPr lvl="0" algn="ctr" defTabSz="889000">
            <a:lnSpc>
              <a:spcPct val="90000"/>
            </a:lnSpc>
            <a:spcBef>
              <a:spcPct val="0"/>
            </a:spcBef>
            <a:spcAft>
              <a:spcPct val="35000"/>
            </a:spcAft>
          </a:pPr>
          <a:r>
            <a:rPr lang="en-US" sz="1100" kern="1200" dirty="0" smtClean="0">
              <a:solidFill>
                <a:schemeClr val="tx1"/>
              </a:solidFill>
            </a:rPr>
            <a:t>(difference is communicable and visible to buyers)</a:t>
          </a:r>
        </a:p>
      </dsp:txBody>
      <dsp:txXfrm>
        <a:off x="0" y="1431924"/>
        <a:ext cx="2000250" cy="1200150"/>
      </dsp:txXfrm>
    </dsp:sp>
    <dsp:sp modelId="{7E53F324-0C85-4EFE-B3EE-1F5D92639F81}">
      <dsp:nvSpPr>
        <dsp:cNvPr id="0" name=""/>
        <dsp:cNvSpPr/>
      </dsp:nvSpPr>
      <dsp:spPr>
        <a:xfrm>
          <a:off x="2200275" y="1431924"/>
          <a:ext cx="2000250" cy="1200150"/>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ctr" defTabSz="1155700">
            <a:lnSpc>
              <a:spcPct val="90000"/>
            </a:lnSpc>
            <a:spcBef>
              <a:spcPct val="0"/>
            </a:spcBef>
            <a:spcAft>
              <a:spcPct val="35000"/>
            </a:spcAft>
          </a:pPr>
          <a:r>
            <a:rPr lang="en-US" sz="2600" kern="1200" dirty="0" smtClean="0">
              <a:solidFill>
                <a:schemeClr val="tx1"/>
              </a:solidFill>
            </a:rPr>
            <a:t>Preemptive</a:t>
          </a:r>
        </a:p>
        <a:p>
          <a:pPr lvl="0" algn="ctr" defTabSz="1155700">
            <a:lnSpc>
              <a:spcPct val="90000"/>
            </a:lnSpc>
            <a:spcBef>
              <a:spcPct val="0"/>
            </a:spcBef>
            <a:spcAft>
              <a:spcPct val="35000"/>
            </a:spcAft>
          </a:pPr>
          <a:r>
            <a:rPr lang="en-US" sz="1100" kern="1200" dirty="0" smtClean="0">
              <a:solidFill>
                <a:schemeClr val="tx1"/>
              </a:solidFill>
            </a:rPr>
            <a:t>(competitors can not easily copy the difference)</a:t>
          </a:r>
        </a:p>
      </dsp:txBody>
      <dsp:txXfrm>
        <a:off x="2200275" y="1431924"/>
        <a:ext cx="2000250" cy="1200150"/>
      </dsp:txXfrm>
    </dsp:sp>
    <dsp:sp modelId="{A6A3AE67-AF19-4A90-B95B-E7E8E4949BEF}">
      <dsp:nvSpPr>
        <dsp:cNvPr id="0" name=""/>
        <dsp:cNvSpPr/>
      </dsp:nvSpPr>
      <dsp:spPr>
        <a:xfrm>
          <a:off x="4400550" y="1431924"/>
          <a:ext cx="2000250" cy="1200150"/>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solidFill>
                <a:schemeClr val="tx1"/>
              </a:solidFill>
            </a:rPr>
            <a:t>Affordable</a:t>
          </a:r>
        </a:p>
        <a:p>
          <a:pPr lvl="0" algn="ctr" defTabSz="1289050">
            <a:lnSpc>
              <a:spcPct val="90000"/>
            </a:lnSpc>
            <a:spcBef>
              <a:spcPct val="0"/>
            </a:spcBef>
            <a:spcAft>
              <a:spcPct val="35000"/>
            </a:spcAft>
          </a:pPr>
          <a:r>
            <a:rPr lang="en-US" sz="1100" kern="1200" dirty="0" smtClean="0">
              <a:solidFill>
                <a:schemeClr val="tx1"/>
              </a:solidFill>
            </a:rPr>
            <a:t>(buyers can afford to pay the difference)</a:t>
          </a:r>
        </a:p>
      </dsp:txBody>
      <dsp:txXfrm>
        <a:off x="4400550" y="1431924"/>
        <a:ext cx="2000250" cy="1200150"/>
      </dsp:txXfrm>
    </dsp:sp>
    <dsp:sp modelId="{3F9A2FF3-98F6-4039-BF73-17B73071F746}">
      <dsp:nvSpPr>
        <dsp:cNvPr id="0" name=""/>
        <dsp:cNvSpPr/>
      </dsp:nvSpPr>
      <dsp:spPr>
        <a:xfrm>
          <a:off x="2200275" y="2832100"/>
          <a:ext cx="2000250" cy="1200150"/>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solidFill>
                <a:schemeClr val="tx1"/>
              </a:solidFill>
            </a:rPr>
            <a:t>Profitable</a:t>
          </a:r>
        </a:p>
        <a:p>
          <a:pPr lvl="0" algn="ctr" defTabSz="1289050">
            <a:lnSpc>
              <a:spcPct val="90000"/>
            </a:lnSpc>
            <a:spcBef>
              <a:spcPct val="0"/>
            </a:spcBef>
            <a:spcAft>
              <a:spcPct val="35000"/>
            </a:spcAft>
          </a:pPr>
          <a:r>
            <a:rPr lang="en-US" sz="1100" kern="1200" dirty="0" smtClean="0">
              <a:solidFill>
                <a:schemeClr val="tx1"/>
              </a:solidFill>
            </a:rPr>
            <a:t>(the company can introduce the difference profitably)</a:t>
          </a:r>
        </a:p>
      </dsp:txBody>
      <dsp:txXfrm>
        <a:off x="2200275" y="2832100"/>
        <a:ext cx="2000250" cy="12001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9B3B0B-3AAC-4C7C-B985-64A381224091}">
      <dsp:nvSpPr>
        <dsp:cNvPr id="0" name=""/>
        <dsp:cNvSpPr/>
      </dsp:nvSpPr>
      <dsp:spPr>
        <a:xfrm>
          <a:off x="0" y="744"/>
          <a:ext cx="4648200" cy="475952"/>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smtClean="0"/>
            <a:t>Product differentiation</a:t>
          </a:r>
          <a:endParaRPr lang="en-US" sz="2400" kern="1200" dirty="0"/>
        </a:p>
      </dsp:txBody>
      <dsp:txXfrm>
        <a:off x="23234" y="23978"/>
        <a:ext cx="4601732" cy="429484"/>
      </dsp:txXfrm>
    </dsp:sp>
    <dsp:sp modelId="{BBEB0502-F629-4C7C-ACAB-7F90991F077A}">
      <dsp:nvSpPr>
        <dsp:cNvPr id="0" name=""/>
        <dsp:cNvSpPr/>
      </dsp:nvSpPr>
      <dsp:spPr>
        <a:xfrm>
          <a:off x="0" y="490984"/>
          <a:ext cx="4648200" cy="475952"/>
        </a:xfrm>
        <a:prstGeom prst="round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smtClean="0"/>
            <a:t>Service differentiation</a:t>
          </a:r>
          <a:endParaRPr lang="en-US" sz="2400" kern="1200" dirty="0" smtClean="0"/>
        </a:p>
      </dsp:txBody>
      <dsp:txXfrm>
        <a:off x="23234" y="514218"/>
        <a:ext cx="4601732" cy="429484"/>
      </dsp:txXfrm>
    </dsp:sp>
    <dsp:sp modelId="{ADA97DE5-2C1D-4311-8F11-7109D8166721}">
      <dsp:nvSpPr>
        <dsp:cNvPr id="0" name=""/>
        <dsp:cNvSpPr/>
      </dsp:nvSpPr>
      <dsp:spPr>
        <a:xfrm>
          <a:off x="0" y="981224"/>
          <a:ext cx="4648200" cy="475952"/>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smtClean="0"/>
            <a:t>Channel differentiation</a:t>
          </a:r>
        </a:p>
      </dsp:txBody>
      <dsp:txXfrm>
        <a:off x="23234" y="1004458"/>
        <a:ext cx="4601732" cy="429484"/>
      </dsp:txXfrm>
    </dsp:sp>
    <dsp:sp modelId="{1190BF91-F168-4ECA-8CF5-AE00F414FA0A}">
      <dsp:nvSpPr>
        <dsp:cNvPr id="0" name=""/>
        <dsp:cNvSpPr/>
      </dsp:nvSpPr>
      <dsp:spPr>
        <a:xfrm>
          <a:off x="0" y="1471464"/>
          <a:ext cx="4648200" cy="475952"/>
        </a:xfrm>
        <a:prstGeom prst="round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smtClean="0"/>
            <a:t>People differentiation</a:t>
          </a:r>
          <a:endParaRPr lang="en-US" sz="2400" kern="1200" dirty="0" smtClean="0"/>
        </a:p>
      </dsp:txBody>
      <dsp:txXfrm>
        <a:off x="23234" y="1494698"/>
        <a:ext cx="4601732" cy="429484"/>
      </dsp:txXfrm>
    </dsp:sp>
    <dsp:sp modelId="{F73B8C1A-FEFF-4691-B3E8-2B81CE7C3447}">
      <dsp:nvSpPr>
        <dsp:cNvPr id="0" name=""/>
        <dsp:cNvSpPr/>
      </dsp:nvSpPr>
      <dsp:spPr>
        <a:xfrm>
          <a:off x="0" y="1961704"/>
          <a:ext cx="4648200" cy="475952"/>
        </a:xfrm>
        <a:prstGeom prst="round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smtClean="0"/>
            <a:t>Image differentiation</a:t>
          </a:r>
          <a:endParaRPr lang="en-US" sz="2400" kern="1200" dirty="0" smtClean="0"/>
        </a:p>
      </dsp:txBody>
      <dsp:txXfrm>
        <a:off x="23234" y="1984938"/>
        <a:ext cx="4601732" cy="429484"/>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5">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69C895-3277-44D4-AE65-0EEFF364594E}" type="datetimeFigureOut">
              <a:rPr lang="en-US" smtClean="0"/>
              <a:t>3/5/2024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6F3B29-B4B9-4D0F-89AD-74D6D600F2CC}" type="slidenum">
              <a:rPr lang="en-US" smtClean="0"/>
              <a:t>‹#›</a:t>
            </a:fld>
            <a:endParaRPr lang="en-US"/>
          </a:p>
        </p:txBody>
      </p:sp>
    </p:spTree>
    <p:extLst>
      <p:ext uri="{BB962C8B-B14F-4D97-AF65-F5344CB8AC3E}">
        <p14:creationId xmlns:p14="http://schemas.microsoft.com/office/powerpoint/2010/main" val="1451861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p:txBody>
          <a:bodyPr/>
          <a:lstStyle/>
          <a:p>
            <a:fld id="{51B6A585-8A6F-4774-BD59-DC9D1E180B4A}" type="slidenum">
              <a:rPr lang="en-US"/>
              <a:t>23</a:t>
            </a:fld>
            <a:endParaRPr lang="en-US"/>
          </a:p>
        </p:txBody>
      </p:sp>
      <p:sp>
        <p:nvSpPr>
          <p:cNvPr id="801794" name="Rectangle 2"/>
          <p:cNvSpPr>
            <a:spLocks noGrp="1" noRot="1" noChangeAspect="1" noChangeArrowheads="1" noTextEdit="1"/>
          </p:cNvSpPr>
          <p:nvPr>
            <p:ph type="sldImg"/>
          </p:nvPr>
        </p:nvSpPr>
        <p:spPr>
          <a:xfrm>
            <a:off x="-12700" y="463550"/>
            <a:ext cx="6883400" cy="3873500"/>
          </a:xfrm>
          <a:ln w="12700" cap="flat">
            <a:solidFill>
              <a:schemeClr val="tx1"/>
            </a:solidFill>
          </a:ln>
          <a:extLst>
            <a:ext uri="{909E8E84-426E-40DD-AFC4-6F175D3DCCD1}">
              <a14:hiddenFill xmlns:a14="http://schemas.microsoft.com/office/drawing/2010/main">
                <a:noFill/>
              </a14:hiddenFill>
            </a:ext>
          </a:extLst>
        </p:spPr>
      </p:sp>
      <p:sp>
        <p:nvSpPr>
          <p:cNvPr id="801795" name="Rectangle 3"/>
          <p:cNvSpPr>
            <a:spLocks noChangeArrowheads="1"/>
          </p:cNvSpPr>
          <p:nvPr/>
        </p:nvSpPr>
        <p:spPr bwMode="auto">
          <a:xfrm>
            <a:off x="38100" y="123825"/>
            <a:ext cx="3509963"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nSpc>
                <a:spcPct val="90000"/>
              </a:lnSpc>
              <a:spcBef>
                <a:spcPct val="50000"/>
              </a:spcBef>
            </a:pPr>
            <a:r>
              <a:rPr lang="en-US" b="1">
                <a:latin typeface="Arial" panose="020B0604020202020204" pitchFamily="34" charset="0"/>
              </a:rPr>
              <a:t>Market Coverage Strategies</a:t>
            </a:r>
          </a:p>
          <a:p>
            <a:pPr>
              <a:lnSpc>
                <a:spcPct val="90000"/>
              </a:lnSpc>
              <a:spcBef>
                <a:spcPct val="50000"/>
              </a:spcBef>
            </a:pPr>
            <a:r>
              <a:rPr lang="en-US" sz="1600" b="1">
                <a:latin typeface="Arial" panose="020B0604020202020204" pitchFamily="34" charset="0"/>
              </a:rPr>
              <a:t>This CTR corresponds to Figure 7-4 on p. 217 and relates to the discussion on pp. 216-219.</a:t>
            </a:r>
          </a:p>
        </p:txBody>
      </p:sp>
      <p:sp>
        <p:nvSpPr>
          <p:cNvPr id="801796" name="Rectangle 4"/>
          <p:cNvSpPr>
            <a:spLocks noChangeArrowheads="1"/>
          </p:cNvSpPr>
          <p:nvPr/>
        </p:nvSpPr>
        <p:spPr bwMode="auto">
          <a:xfrm>
            <a:off x="-4763" y="2867025"/>
            <a:ext cx="6810376" cy="334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spcAft>
                <a:spcPct val="50000"/>
              </a:spcAft>
            </a:pPr>
            <a:r>
              <a:rPr lang="en-US" sz="1600" b="1">
                <a:latin typeface="Helvetica" pitchFamily="34" charset="0"/>
              </a:rPr>
              <a:t>Market Coverage Strategies</a:t>
            </a:r>
            <a:endParaRPr lang="en-US" sz="1400" b="1">
              <a:latin typeface="Helvetica" pitchFamily="34" charset="0"/>
            </a:endParaRPr>
          </a:p>
          <a:p>
            <a:pPr>
              <a:spcAft>
                <a:spcPct val="50000"/>
              </a:spcAft>
            </a:pPr>
            <a:r>
              <a:rPr lang="en-US" sz="1400" b="1" i="1">
                <a:latin typeface="Helvetica" pitchFamily="34" charset="0"/>
              </a:rPr>
              <a:t>Undifferentiated Marketing</a:t>
            </a:r>
            <a:r>
              <a:rPr lang="en-US" sz="1400" b="1">
                <a:latin typeface="Helvetica" pitchFamily="34" charset="0"/>
              </a:rPr>
              <a:t>.  This strategy uses the same marketing mix for the entire market.  This strategy focuses on the common needs of the market rather than differences in it.  Undifferentiated marketing provides economies of scale on product costs but may be limited in application.</a:t>
            </a:r>
          </a:p>
          <a:p>
            <a:pPr>
              <a:spcAft>
                <a:spcPct val="50000"/>
              </a:spcAft>
            </a:pPr>
            <a:r>
              <a:rPr lang="en-US" sz="1400" b="1" i="1">
                <a:latin typeface="Helvetica" pitchFamily="34" charset="0"/>
              </a:rPr>
              <a:t>Differentiated Marketing.  </a:t>
            </a:r>
            <a:r>
              <a:rPr lang="en-US" sz="1400" b="1">
                <a:latin typeface="Helvetica" pitchFamily="34" charset="0"/>
              </a:rPr>
              <a:t>This strategy targets several market segments and designs separate marketing mixes for each of them.  Product and marketing variation also helps company image and may produce loyalty in consumers as they change segments.</a:t>
            </a:r>
          </a:p>
          <a:p>
            <a:pPr>
              <a:spcAft>
                <a:spcPct val="50000"/>
              </a:spcAft>
            </a:pPr>
            <a:r>
              <a:rPr lang="en-US" sz="1400" b="1" i="1">
                <a:latin typeface="Helvetica" pitchFamily="34" charset="0"/>
              </a:rPr>
              <a:t>Concentrated Marketing.</a:t>
            </a:r>
            <a:r>
              <a:rPr lang="en-US" sz="1400" b="1">
                <a:latin typeface="Helvetica" pitchFamily="34" charset="0"/>
              </a:rPr>
              <a:t> This strategy commits a company to pursue a large share of one or more submarkets.  Economies and segment knowledge and service are strengths of this approach but risk due to smaller market size is greater.</a:t>
            </a:r>
          </a:p>
        </p:txBody>
      </p:sp>
    </p:spTree>
    <p:extLst>
      <p:ext uri="{BB962C8B-B14F-4D97-AF65-F5344CB8AC3E}">
        <p14:creationId xmlns:p14="http://schemas.microsoft.com/office/powerpoint/2010/main" val="501836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ヒラギノ角ゴ Pro W3" charset="-128"/>
              </a:defRPr>
            </a:lvl1pPr>
            <a:lvl2pPr marL="742950" indent="-285750" eaLnBrk="0" hangingPunct="0">
              <a:defRPr>
                <a:solidFill>
                  <a:schemeClr val="tx1"/>
                </a:solidFill>
                <a:latin typeface="Arial" panose="020B0604020202020204" pitchFamily="34" charset="0"/>
                <a:ea typeface="ヒラギノ角ゴ Pro W3" charset="-128"/>
              </a:defRPr>
            </a:lvl2pPr>
            <a:lvl3pPr marL="1143000" indent="-228600" eaLnBrk="0" hangingPunct="0">
              <a:defRPr>
                <a:solidFill>
                  <a:schemeClr val="tx1"/>
                </a:solidFill>
                <a:latin typeface="Arial" panose="020B0604020202020204" pitchFamily="34" charset="0"/>
                <a:ea typeface="ヒラギノ角ゴ Pro W3" charset="-128"/>
              </a:defRPr>
            </a:lvl3pPr>
            <a:lvl4pPr marL="1600200" indent="-228600" eaLnBrk="0" hangingPunct="0">
              <a:defRPr>
                <a:solidFill>
                  <a:schemeClr val="tx1"/>
                </a:solidFill>
                <a:latin typeface="Arial" panose="020B0604020202020204" pitchFamily="34" charset="0"/>
                <a:ea typeface="ヒラギノ角ゴ Pro W3" charset="-128"/>
              </a:defRPr>
            </a:lvl4pPr>
            <a:lvl5pPr marL="2057400" indent="-228600" eaLnBrk="0" hangingPunct="0">
              <a:defRPr>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eaLnBrk="1" hangingPunct="1"/>
            <a:fld id="{75C24673-4A8A-42B8-90CD-F8EE98A8F304}" type="slidenum">
              <a:rPr lang="en-US" smtClean="0">
                <a:latin typeface="Calibri" panose="020F0502020204030204" charset="0"/>
              </a:rPr>
              <a:t>24</a:t>
            </a:fld>
            <a:endParaRPr lang="en-US" smtClean="0">
              <a:latin typeface="Calibri" panose="020F0502020204030204" charset="0"/>
            </a:endParaRPr>
          </a:p>
        </p:txBody>
      </p:sp>
    </p:spTree>
    <p:extLst>
      <p:ext uri="{BB962C8B-B14F-4D97-AF65-F5344CB8AC3E}">
        <p14:creationId xmlns:p14="http://schemas.microsoft.com/office/powerpoint/2010/main" val="3362400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ヒラギノ角ゴ Pro W3" charset="-128"/>
              </a:defRPr>
            </a:lvl1pPr>
            <a:lvl2pPr marL="742950" indent="-285750" eaLnBrk="0" hangingPunct="0">
              <a:defRPr>
                <a:solidFill>
                  <a:schemeClr val="tx1"/>
                </a:solidFill>
                <a:latin typeface="Arial" panose="020B0604020202020204" pitchFamily="34" charset="0"/>
                <a:ea typeface="ヒラギノ角ゴ Pro W3" charset="-128"/>
              </a:defRPr>
            </a:lvl2pPr>
            <a:lvl3pPr marL="1143000" indent="-228600" eaLnBrk="0" hangingPunct="0">
              <a:defRPr>
                <a:solidFill>
                  <a:schemeClr val="tx1"/>
                </a:solidFill>
                <a:latin typeface="Arial" panose="020B0604020202020204" pitchFamily="34" charset="0"/>
                <a:ea typeface="ヒラギノ角ゴ Pro W3" charset="-128"/>
              </a:defRPr>
            </a:lvl3pPr>
            <a:lvl4pPr marL="1600200" indent="-228600" eaLnBrk="0" hangingPunct="0">
              <a:defRPr>
                <a:solidFill>
                  <a:schemeClr val="tx1"/>
                </a:solidFill>
                <a:latin typeface="Arial" panose="020B0604020202020204" pitchFamily="34" charset="0"/>
                <a:ea typeface="ヒラギノ角ゴ Pro W3" charset="-128"/>
              </a:defRPr>
            </a:lvl4pPr>
            <a:lvl5pPr marL="2057400" indent="-228600" eaLnBrk="0" hangingPunct="0">
              <a:defRPr>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eaLnBrk="1" hangingPunct="1"/>
            <a:fld id="{75C24673-4A8A-42B8-90CD-F8EE98A8F304}" type="slidenum">
              <a:rPr lang="en-US" smtClean="0">
                <a:latin typeface="Calibri" panose="020F0502020204030204" charset="0"/>
              </a:rPr>
              <a:t>25</a:t>
            </a:fld>
            <a:endParaRPr lang="en-US" smtClean="0">
              <a:latin typeface="Calibri" panose="020F0502020204030204" charset="0"/>
            </a:endParaRPr>
          </a:p>
        </p:txBody>
      </p:sp>
    </p:spTree>
    <p:extLst>
      <p:ext uri="{BB962C8B-B14F-4D97-AF65-F5344CB8AC3E}">
        <p14:creationId xmlns:p14="http://schemas.microsoft.com/office/powerpoint/2010/main" val="3106794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ヒラギノ角ゴ Pro W3" charset="-128"/>
              </a:defRPr>
            </a:lvl1pPr>
            <a:lvl2pPr marL="742950" indent="-285750" eaLnBrk="0" hangingPunct="0">
              <a:defRPr>
                <a:solidFill>
                  <a:schemeClr val="tx1"/>
                </a:solidFill>
                <a:latin typeface="Arial" panose="020B0604020202020204" pitchFamily="34" charset="0"/>
                <a:ea typeface="ヒラギノ角ゴ Pro W3" charset="-128"/>
              </a:defRPr>
            </a:lvl2pPr>
            <a:lvl3pPr marL="1143000" indent="-228600" eaLnBrk="0" hangingPunct="0">
              <a:defRPr>
                <a:solidFill>
                  <a:schemeClr val="tx1"/>
                </a:solidFill>
                <a:latin typeface="Arial" panose="020B0604020202020204" pitchFamily="34" charset="0"/>
                <a:ea typeface="ヒラギノ角ゴ Pro W3" charset="-128"/>
              </a:defRPr>
            </a:lvl3pPr>
            <a:lvl4pPr marL="1600200" indent="-228600" eaLnBrk="0" hangingPunct="0">
              <a:defRPr>
                <a:solidFill>
                  <a:schemeClr val="tx1"/>
                </a:solidFill>
                <a:latin typeface="Arial" panose="020B0604020202020204" pitchFamily="34" charset="0"/>
                <a:ea typeface="ヒラギノ角ゴ Pro W3" charset="-128"/>
              </a:defRPr>
            </a:lvl4pPr>
            <a:lvl5pPr marL="2057400" indent="-228600" eaLnBrk="0" hangingPunct="0">
              <a:defRPr>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eaLnBrk="1" hangingPunct="1"/>
            <a:fld id="{75C24673-4A8A-42B8-90CD-F8EE98A8F304}" type="slidenum">
              <a:rPr lang="en-US" smtClean="0">
                <a:latin typeface="Calibri" panose="020F0502020204030204" charset="0"/>
              </a:rPr>
              <a:t>26</a:t>
            </a:fld>
            <a:endParaRPr lang="en-US" smtClean="0">
              <a:latin typeface="Calibri" panose="020F0502020204030204" charset="0"/>
            </a:endParaRPr>
          </a:p>
        </p:txBody>
      </p:sp>
    </p:spTree>
    <p:extLst>
      <p:ext uri="{BB962C8B-B14F-4D97-AF65-F5344CB8AC3E}">
        <p14:creationId xmlns:p14="http://schemas.microsoft.com/office/powerpoint/2010/main" val="1536840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ヒラギノ角ゴ Pro W3" charset="-128"/>
              </a:defRPr>
            </a:lvl1pPr>
            <a:lvl2pPr marL="742950" indent="-285750" eaLnBrk="0" hangingPunct="0">
              <a:defRPr>
                <a:solidFill>
                  <a:schemeClr val="tx1"/>
                </a:solidFill>
                <a:latin typeface="Arial" panose="020B0604020202020204" pitchFamily="34" charset="0"/>
                <a:ea typeface="ヒラギノ角ゴ Pro W3" charset="-128"/>
              </a:defRPr>
            </a:lvl2pPr>
            <a:lvl3pPr marL="1143000" indent="-228600" eaLnBrk="0" hangingPunct="0">
              <a:defRPr>
                <a:solidFill>
                  <a:schemeClr val="tx1"/>
                </a:solidFill>
                <a:latin typeface="Arial" panose="020B0604020202020204" pitchFamily="34" charset="0"/>
                <a:ea typeface="ヒラギノ角ゴ Pro W3" charset="-128"/>
              </a:defRPr>
            </a:lvl3pPr>
            <a:lvl4pPr marL="1600200" indent="-228600" eaLnBrk="0" hangingPunct="0">
              <a:defRPr>
                <a:solidFill>
                  <a:schemeClr val="tx1"/>
                </a:solidFill>
                <a:latin typeface="Arial" panose="020B0604020202020204" pitchFamily="34" charset="0"/>
                <a:ea typeface="ヒラギノ角ゴ Pro W3" charset="-128"/>
              </a:defRPr>
            </a:lvl4pPr>
            <a:lvl5pPr marL="2057400" indent="-228600" eaLnBrk="0" hangingPunct="0">
              <a:defRPr>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eaLnBrk="1" hangingPunct="1"/>
            <a:fld id="{75C24673-4A8A-42B8-90CD-F8EE98A8F304}" type="slidenum">
              <a:rPr lang="en-US" smtClean="0">
                <a:latin typeface="Calibri" panose="020F0502020204030204" charset="0"/>
              </a:rPr>
              <a:t>28</a:t>
            </a:fld>
            <a:endParaRPr lang="en-US" smtClean="0">
              <a:latin typeface="Calibri" panose="020F0502020204030204" charset="0"/>
            </a:endParaRPr>
          </a:p>
        </p:txBody>
      </p:sp>
    </p:spTree>
    <p:extLst>
      <p:ext uri="{BB962C8B-B14F-4D97-AF65-F5344CB8AC3E}">
        <p14:creationId xmlns:p14="http://schemas.microsoft.com/office/powerpoint/2010/main" val="3614799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665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ヒラギノ角ゴ Pro W3" charset="-128"/>
              </a:defRPr>
            </a:lvl1pPr>
            <a:lvl2pPr marL="742950" indent="-285750" eaLnBrk="0" hangingPunct="0">
              <a:defRPr>
                <a:solidFill>
                  <a:schemeClr val="tx1"/>
                </a:solidFill>
                <a:latin typeface="Arial" panose="020B0604020202020204" pitchFamily="34" charset="0"/>
                <a:ea typeface="ヒラギノ角ゴ Pro W3" charset="-128"/>
              </a:defRPr>
            </a:lvl2pPr>
            <a:lvl3pPr marL="1143000" indent="-228600" eaLnBrk="0" hangingPunct="0">
              <a:defRPr>
                <a:solidFill>
                  <a:schemeClr val="tx1"/>
                </a:solidFill>
                <a:latin typeface="Arial" panose="020B0604020202020204" pitchFamily="34" charset="0"/>
                <a:ea typeface="ヒラギノ角ゴ Pro W3" charset="-128"/>
              </a:defRPr>
            </a:lvl3pPr>
            <a:lvl4pPr marL="1600200" indent="-228600" eaLnBrk="0" hangingPunct="0">
              <a:defRPr>
                <a:solidFill>
                  <a:schemeClr val="tx1"/>
                </a:solidFill>
                <a:latin typeface="Arial" panose="020B0604020202020204" pitchFamily="34" charset="0"/>
                <a:ea typeface="ヒラギノ角ゴ Pro W3" charset="-128"/>
              </a:defRPr>
            </a:lvl4pPr>
            <a:lvl5pPr marL="2057400" indent="-228600" eaLnBrk="0" hangingPunct="0">
              <a:defRPr>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eaLnBrk="1" hangingPunct="1"/>
            <a:fld id="{E9034A00-0628-48AF-8C89-7FA0EC5AB294}" type="slidenum">
              <a:rPr lang="en-US" smtClean="0">
                <a:latin typeface="Calibri" panose="020F0502020204030204" charset="0"/>
              </a:rPr>
              <a:t>30</a:t>
            </a:fld>
            <a:endParaRPr lang="en-US" smtClean="0">
              <a:latin typeface="Calibri" panose="020F0502020204030204" charset="0"/>
            </a:endParaRPr>
          </a:p>
        </p:txBody>
      </p:sp>
    </p:spTree>
    <p:extLst>
      <p:ext uri="{BB962C8B-B14F-4D97-AF65-F5344CB8AC3E}">
        <p14:creationId xmlns:p14="http://schemas.microsoft.com/office/powerpoint/2010/main" val="1082002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ヒラギノ角ゴ Pro W3" charset="-128"/>
              </a:defRPr>
            </a:lvl1pPr>
            <a:lvl2pPr marL="742950" indent="-285750" eaLnBrk="0" hangingPunct="0">
              <a:defRPr>
                <a:solidFill>
                  <a:schemeClr val="tx1"/>
                </a:solidFill>
                <a:latin typeface="Arial" panose="020B0604020202020204" pitchFamily="34" charset="0"/>
                <a:ea typeface="ヒラギノ角ゴ Pro W3" charset="-128"/>
              </a:defRPr>
            </a:lvl2pPr>
            <a:lvl3pPr marL="1143000" indent="-228600" eaLnBrk="0" hangingPunct="0">
              <a:defRPr>
                <a:solidFill>
                  <a:schemeClr val="tx1"/>
                </a:solidFill>
                <a:latin typeface="Arial" panose="020B0604020202020204" pitchFamily="34" charset="0"/>
                <a:ea typeface="ヒラギノ角ゴ Pro W3" charset="-128"/>
              </a:defRPr>
            </a:lvl3pPr>
            <a:lvl4pPr marL="1600200" indent="-228600" eaLnBrk="0" hangingPunct="0">
              <a:defRPr>
                <a:solidFill>
                  <a:schemeClr val="tx1"/>
                </a:solidFill>
                <a:latin typeface="Arial" panose="020B0604020202020204" pitchFamily="34" charset="0"/>
                <a:ea typeface="ヒラギノ角ゴ Pro W3" charset="-128"/>
              </a:defRPr>
            </a:lvl4pPr>
            <a:lvl5pPr marL="2057400" indent="-228600" eaLnBrk="0" hangingPunct="0">
              <a:defRPr>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eaLnBrk="1" hangingPunct="1"/>
            <a:fld id="{274A6C60-E9BA-4499-BA2E-988AF1403EA7}" type="slidenum">
              <a:rPr lang="en-US" smtClean="0">
                <a:latin typeface="Calibri" panose="020F0502020204030204" charset="0"/>
              </a:rPr>
              <a:t>32</a:t>
            </a:fld>
            <a:endParaRPr lang="en-US" smtClean="0">
              <a:latin typeface="Calibri" panose="020F0502020204030204" charset="0"/>
            </a:endParaRPr>
          </a:p>
        </p:txBody>
      </p:sp>
    </p:spTree>
    <p:extLst>
      <p:ext uri="{BB962C8B-B14F-4D97-AF65-F5344CB8AC3E}">
        <p14:creationId xmlns:p14="http://schemas.microsoft.com/office/powerpoint/2010/main" val="1093357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686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ヒラギノ角ゴ Pro W3" charset="-128"/>
              </a:defRPr>
            </a:lvl1pPr>
            <a:lvl2pPr marL="742950" indent="-285750" eaLnBrk="0" hangingPunct="0">
              <a:defRPr>
                <a:solidFill>
                  <a:schemeClr val="tx1"/>
                </a:solidFill>
                <a:latin typeface="Arial" panose="020B0604020202020204" pitchFamily="34" charset="0"/>
                <a:ea typeface="ヒラギノ角ゴ Pro W3" charset="-128"/>
              </a:defRPr>
            </a:lvl2pPr>
            <a:lvl3pPr marL="1143000" indent="-228600" eaLnBrk="0" hangingPunct="0">
              <a:defRPr>
                <a:solidFill>
                  <a:schemeClr val="tx1"/>
                </a:solidFill>
                <a:latin typeface="Arial" panose="020B0604020202020204" pitchFamily="34" charset="0"/>
                <a:ea typeface="ヒラギノ角ゴ Pro W3" charset="-128"/>
              </a:defRPr>
            </a:lvl3pPr>
            <a:lvl4pPr marL="1600200" indent="-228600" eaLnBrk="0" hangingPunct="0">
              <a:defRPr>
                <a:solidFill>
                  <a:schemeClr val="tx1"/>
                </a:solidFill>
                <a:latin typeface="Arial" panose="020B0604020202020204" pitchFamily="34" charset="0"/>
                <a:ea typeface="ヒラギノ角ゴ Pro W3" charset="-128"/>
              </a:defRPr>
            </a:lvl4pPr>
            <a:lvl5pPr marL="2057400" indent="-228600" eaLnBrk="0" hangingPunct="0">
              <a:defRPr>
                <a:solidFill>
                  <a:schemeClr val="tx1"/>
                </a:solidFill>
                <a:latin typeface="Arial" panose="020B0604020202020204" pitchFamily="34" charset="0"/>
                <a:ea typeface="ヒラギノ角ゴ Pro W3"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ヒラギノ角ゴ Pro W3" charset="-128"/>
              </a:defRPr>
            </a:lvl9pPr>
          </a:lstStyle>
          <a:p>
            <a:pPr eaLnBrk="1" hangingPunct="1"/>
            <a:fld id="{3D4B81D8-F9E8-45DB-86C8-327B425A0A32}" type="slidenum">
              <a:rPr lang="en-US" smtClean="0">
                <a:latin typeface="Calibri" panose="020F0502020204030204" charset="0"/>
              </a:rPr>
              <a:t>33</a:t>
            </a:fld>
            <a:endParaRPr lang="en-US" smtClean="0">
              <a:latin typeface="Calibri" panose="020F0502020204030204" charset="0"/>
            </a:endParaRPr>
          </a:p>
        </p:txBody>
      </p:sp>
    </p:spTree>
    <p:extLst>
      <p:ext uri="{BB962C8B-B14F-4D97-AF65-F5344CB8AC3E}">
        <p14:creationId xmlns:p14="http://schemas.microsoft.com/office/powerpoint/2010/main" val="4044665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bwMode="auto">
          <a:xfrm>
            <a:off x="393700" y="692150"/>
            <a:ext cx="6070600" cy="34163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7065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20335422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A1C3331-F114-42C5-97C8-F2C84DE05B35}" type="datetimeFigureOut">
              <a:rPr lang="en-US" smtClean="0"/>
              <a:t>3/5/2024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BE978575-5375-4F42-960B-08584D70A215}"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595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A1C3331-F114-42C5-97C8-F2C84DE05B35}"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78575-5375-4F42-960B-08584D70A215}" type="slidenum">
              <a:rPr lang="en-US" smtClean="0"/>
              <a:t>‹#›</a:t>
            </a:fld>
            <a:endParaRPr lang="en-US"/>
          </a:p>
        </p:txBody>
      </p:sp>
    </p:spTree>
    <p:extLst>
      <p:ext uri="{BB962C8B-B14F-4D97-AF65-F5344CB8AC3E}">
        <p14:creationId xmlns:p14="http://schemas.microsoft.com/office/powerpoint/2010/main" val="60500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1C3331-F114-42C5-97C8-F2C84DE05B35}"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78575-5375-4F42-960B-08584D70A215}"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48658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A1C3331-F114-42C5-97C8-F2C84DE05B35}"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978575-5375-4F42-960B-08584D70A215}" type="slidenum">
              <a:rPr lang="en-US" smtClean="0"/>
              <a:t>‹#›</a:t>
            </a:fld>
            <a:endParaRPr lang="en-US"/>
          </a:p>
        </p:txBody>
      </p:sp>
    </p:spTree>
    <p:extLst>
      <p:ext uri="{BB962C8B-B14F-4D97-AF65-F5344CB8AC3E}">
        <p14:creationId xmlns:p14="http://schemas.microsoft.com/office/powerpoint/2010/main" val="3599355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A1C3331-F114-42C5-97C8-F2C84DE05B35}" type="datetimeFigureOut">
              <a:rPr lang="en-US" smtClean="0"/>
              <a:t>3/5/2024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978575-5375-4F42-960B-08584D70A215}"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6146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A1C3331-F114-42C5-97C8-F2C84DE05B35}" type="datetimeFigureOut">
              <a:rPr lang="en-US" smtClean="0"/>
              <a:t>3/5/2024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978575-5375-4F42-960B-08584D70A215}"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5987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1C3331-F114-42C5-97C8-F2C84DE05B35}" type="datetimeFigureOut">
              <a:rPr lang="en-US" smtClean="0"/>
              <a:t>3/5/2024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978575-5375-4F42-960B-08584D70A215}" type="slidenum">
              <a:rPr lang="en-US" smtClean="0"/>
              <a:t>‹#›</a:t>
            </a:fld>
            <a:endParaRPr lang="en-US"/>
          </a:p>
        </p:txBody>
      </p:sp>
    </p:spTree>
    <p:extLst>
      <p:ext uri="{BB962C8B-B14F-4D97-AF65-F5344CB8AC3E}">
        <p14:creationId xmlns:p14="http://schemas.microsoft.com/office/powerpoint/2010/main" val="3281895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1C3331-F114-42C5-97C8-F2C84DE05B35}"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978575-5375-4F42-960B-08584D70A215}"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2605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1C3331-F114-42C5-97C8-F2C84DE05B35}"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978575-5375-4F42-960B-08584D70A215}" type="slidenum">
              <a:rPr lang="en-US" smtClean="0"/>
              <a:t>‹#›</a:t>
            </a:fld>
            <a:endParaRPr lang="en-US"/>
          </a:p>
        </p:txBody>
      </p:sp>
    </p:spTree>
    <p:extLst>
      <p:ext uri="{BB962C8B-B14F-4D97-AF65-F5344CB8AC3E}">
        <p14:creationId xmlns:p14="http://schemas.microsoft.com/office/powerpoint/2010/main" val="2410803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1C3331-F114-42C5-97C8-F2C84DE05B35}"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978575-5375-4F42-960B-08584D70A215}" type="slidenum">
              <a:rPr lang="en-US" smtClean="0"/>
              <a:t>‹#›</a:t>
            </a:fld>
            <a:endParaRPr lang="en-US"/>
          </a:p>
        </p:txBody>
      </p:sp>
    </p:spTree>
    <p:extLst>
      <p:ext uri="{BB962C8B-B14F-4D97-AF65-F5344CB8AC3E}">
        <p14:creationId xmlns:p14="http://schemas.microsoft.com/office/powerpoint/2010/main" val="2794344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1C3331-F114-42C5-97C8-F2C84DE05B35}"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78575-5375-4F42-960B-08584D70A215}"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35454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1C3331-F114-42C5-97C8-F2C84DE05B35}"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78575-5375-4F42-960B-08584D70A21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40166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1C3331-F114-42C5-97C8-F2C84DE05B35}"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78575-5375-4F42-960B-08584D70A215}" type="slidenum">
              <a:rPr lang="en-US" smtClean="0"/>
              <a:t>‹#›</a:t>
            </a:fld>
            <a:endParaRPr lang="en-US"/>
          </a:p>
        </p:txBody>
      </p:sp>
    </p:spTree>
    <p:extLst>
      <p:ext uri="{BB962C8B-B14F-4D97-AF65-F5344CB8AC3E}">
        <p14:creationId xmlns:p14="http://schemas.microsoft.com/office/powerpoint/2010/main" val="30205456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1C3331-F114-42C5-97C8-F2C84DE05B35}"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78575-5375-4F42-960B-08584D70A21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15902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1C3331-F114-42C5-97C8-F2C84DE05B35}"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78575-5375-4F42-960B-08584D70A215}"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4025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A1C3331-F114-42C5-97C8-F2C84DE05B35}"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78575-5375-4F42-960B-08584D70A215}"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9341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A1C3331-F114-42C5-97C8-F2C84DE05B35}"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978575-5375-4F42-960B-08584D70A215}"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84754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10363200" cy="1143000"/>
          </a:xfrm>
        </p:spPr>
        <p:txBody>
          <a:bodyPr/>
          <a:lstStyle>
            <a:lvl1pPr>
              <a:lnSpc>
                <a:spcPts val="3600"/>
              </a:lnSpc>
              <a:defRPr sz="4000" b="1"/>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b="0"/>
            </a:lvl1pPr>
            <a:lvl2pPr>
              <a:defRPr b="0"/>
            </a:lvl2pPr>
            <a:lvl3pPr>
              <a:defRPr b="0"/>
            </a:lvl3pPr>
            <a:lvl4pPr>
              <a:defRPr b="0"/>
            </a:lvl4pPr>
            <a:lvl5pPr>
              <a:defRPr b="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ext Placeholder 7"/>
          <p:cNvSpPr>
            <a:spLocks noGrp="1"/>
          </p:cNvSpPr>
          <p:nvPr>
            <p:ph type="body" sz="quarter" idx="13"/>
          </p:nvPr>
        </p:nvSpPr>
        <p:spPr>
          <a:xfrm>
            <a:off x="1219200" y="1371600"/>
            <a:ext cx="9550400" cy="381000"/>
          </a:xfrm>
        </p:spPr>
        <p:txBody>
          <a:bodyPr/>
          <a:lstStyle>
            <a:lvl1pPr algn="ctr">
              <a:buNone/>
              <a:defRPr sz="2800" b="1" i="0">
                <a:solidFill>
                  <a:schemeClr val="tx2"/>
                </a:solidFill>
              </a:defRPr>
            </a:lvl1pPr>
          </a:lstStyle>
          <a:p>
            <a:pPr lvl="0"/>
            <a:r>
              <a:rPr lang="en-US" dirty="0" smtClean="0"/>
              <a:t>Click to edit Master text styles</a:t>
            </a:r>
            <a:endParaRPr lang="en-US" dirty="0"/>
          </a:p>
        </p:txBody>
      </p:sp>
    </p:spTree>
    <p:extLst>
      <p:ext uri="{BB962C8B-B14F-4D97-AF65-F5344CB8AC3E}">
        <p14:creationId xmlns:p14="http://schemas.microsoft.com/office/powerpoint/2010/main" val="1933922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A1C3331-F114-42C5-97C8-F2C84DE05B35}" type="datetimeFigureOut">
              <a:rPr lang="en-US" smtClean="0"/>
              <a:t>3/5/2024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E978575-5375-4F42-960B-08584D70A215}" type="slidenum">
              <a:rPr lang="en-US" smtClean="0"/>
              <a:t>‹#›</a:t>
            </a:fld>
            <a:endParaRPr lang="en-US"/>
          </a:p>
        </p:txBody>
      </p:sp>
    </p:spTree>
    <p:extLst>
      <p:ext uri="{BB962C8B-B14F-4D97-AF65-F5344CB8AC3E}">
        <p14:creationId xmlns:p14="http://schemas.microsoft.com/office/powerpoint/2010/main" val="5673049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Target Marketing and Strategies</a:t>
            </a:r>
            <a:endParaRPr lang="en-US" sz="4800" dirty="0"/>
          </a:p>
        </p:txBody>
      </p:sp>
      <p:sp>
        <p:nvSpPr>
          <p:cNvPr id="3" name="Subtitle 2"/>
          <p:cNvSpPr>
            <a:spLocks noGrp="1"/>
          </p:cNvSpPr>
          <p:nvPr>
            <p:ph type="subTitle" idx="1"/>
          </p:nvPr>
        </p:nvSpPr>
        <p:spPr/>
        <p:txBody>
          <a:bodyPr/>
          <a:lstStyle/>
          <a:p>
            <a:r>
              <a:rPr lang="en-US" dirty="0" smtClean="0"/>
              <a:t>Conventional Marketing </a:t>
            </a:r>
            <a:endParaRPr lang="en-US" dirty="0"/>
          </a:p>
        </p:txBody>
      </p:sp>
    </p:spTree>
    <p:extLst>
      <p:ext uri="{BB962C8B-B14F-4D97-AF65-F5344CB8AC3E}">
        <p14:creationId xmlns:p14="http://schemas.microsoft.com/office/powerpoint/2010/main" val="6290777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728662"/>
            <a:ext cx="9462051" cy="5400675"/>
          </a:xfrm>
          <a:prstGeom prst="rect">
            <a:avLst/>
          </a:prstGeom>
        </p:spPr>
      </p:pic>
    </p:spTree>
    <p:extLst>
      <p:ext uri="{BB962C8B-B14F-4D97-AF65-F5344CB8AC3E}">
        <p14:creationId xmlns:p14="http://schemas.microsoft.com/office/powerpoint/2010/main" val="35993648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Unicode MS" pitchFamily="34" charset="-128"/>
              </a:rPr>
              <a:t>Two Basic Approaches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C"/>
            </a:pPr>
            <a:r>
              <a:rPr lang="en-US" dirty="0">
                <a:solidFill>
                  <a:srgbClr val="C00000"/>
                </a:solidFill>
                <a:latin typeface="Arial Unicode MS" pitchFamily="34" charset="-128"/>
              </a:rPr>
              <a:t>Market Segmentation </a:t>
            </a:r>
            <a:r>
              <a:rPr lang="en-US" dirty="0">
                <a:latin typeface="Arial Unicode MS" pitchFamily="34" charset="-128"/>
              </a:rPr>
              <a:t>Approach</a:t>
            </a:r>
          </a:p>
          <a:p>
            <a:pPr lvl="1"/>
            <a:r>
              <a:rPr lang="en-US" sz="2400" dirty="0">
                <a:latin typeface="Arial Unicode MS" pitchFamily="34" charset="-128"/>
              </a:rPr>
              <a:t>The needs and preferences of the global market are viewed as </a:t>
            </a:r>
            <a:r>
              <a:rPr lang="en-US" sz="2400" u="sng" dirty="0">
                <a:solidFill>
                  <a:srgbClr val="FF0000"/>
                </a:solidFill>
                <a:latin typeface="Arial Unicode MS" pitchFamily="34" charset="-128"/>
              </a:rPr>
              <a:t>heterogeneous</a:t>
            </a:r>
            <a:r>
              <a:rPr lang="en-US" sz="2400" dirty="0">
                <a:latin typeface="Arial Unicode MS" pitchFamily="34" charset="-128"/>
              </a:rPr>
              <a:t> varying from one group to another.</a:t>
            </a:r>
          </a:p>
          <a:p>
            <a:pPr>
              <a:spcBef>
                <a:spcPct val="55000"/>
              </a:spcBef>
              <a:buFont typeface="Wingdings" panose="05000000000000000000" pitchFamily="2" charset="2"/>
              <a:buChar char="C"/>
            </a:pPr>
            <a:r>
              <a:rPr lang="en-US" dirty="0">
                <a:solidFill>
                  <a:srgbClr val="C00000"/>
                </a:solidFill>
                <a:latin typeface="Arial Unicode MS" pitchFamily="34" charset="-128"/>
              </a:rPr>
              <a:t>Total/Mass Market </a:t>
            </a:r>
            <a:r>
              <a:rPr lang="en-US" dirty="0">
                <a:latin typeface="Arial Unicode MS" pitchFamily="34" charset="-128"/>
              </a:rPr>
              <a:t>Approach </a:t>
            </a:r>
          </a:p>
          <a:p>
            <a:pPr lvl="1">
              <a:spcBef>
                <a:spcPct val="15000"/>
              </a:spcBef>
            </a:pPr>
            <a:r>
              <a:rPr lang="en-US" sz="2400" dirty="0">
                <a:latin typeface="Arial Unicode MS" pitchFamily="34" charset="-128"/>
              </a:rPr>
              <a:t>The needs and preferences of the entire, global market are regarded as relatively </a:t>
            </a:r>
            <a:r>
              <a:rPr lang="en-US" sz="2400" u="sng" dirty="0">
                <a:solidFill>
                  <a:srgbClr val="FF0000"/>
                </a:solidFill>
                <a:latin typeface="Arial Unicode MS" pitchFamily="34" charset="-128"/>
              </a:rPr>
              <a:t>homogeneous</a:t>
            </a:r>
            <a:r>
              <a:rPr lang="en-US" sz="2400" dirty="0">
                <a:latin typeface="Arial Unicode MS" pitchFamily="34" charset="-128"/>
              </a:rPr>
              <a:t>.</a:t>
            </a:r>
          </a:p>
          <a:p>
            <a:endParaRPr lang="en-US" dirty="0"/>
          </a:p>
        </p:txBody>
      </p:sp>
    </p:spTree>
    <p:extLst>
      <p:ext uri="{BB962C8B-B14F-4D97-AF65-F5344CB8AC3E}">
        <p14:creationId xmlns:p14="http://schemas.microsoft.com/office/powerpoint/2010/main" val="264307946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Segmentation</a:t>
            </a:r>
          </a:p>
        </p:txBody>
      </p:sp>
      <p:pic>
        <p:nvPicPr>
          <p:cNvPr id="4" name="Content Placeholder 3" descr="fig07_01wo.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2821070"/>
            <a:ext cx="9601200" cy="2790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307542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Unicode MS" pitchFamily="34" charset="-128"/>
              </a:rPr>
              <a:t>Major Steps in Target Marketing</a:t>
            </a:r>
            <a:endParaRPr lang="en-US" dirty="0"/>
          </a:p>
        </p:txBody>
      </p:sp>
      <p:sp>
        <p:nvSpPr>
          <p:cNvPr id="3" name="Content Placeholder 2"/>
          <p:cNvSpPr>
            <a:spLocks noGrp="1"/>
          </p:cNvSpPr>
          <p:nvPr>
            <p:ph idx="1"/>
          </p:nvPr>
        </p:nvSpPr>
        <p:spPr/>
        <p:txBody>
          <a:bodyPr>
            <a:normAutofit/>
          </a:bodyPr>
          <a:lstStyle/>
          <a:p>
            <a:pPr>
              <a:spcBef>
                <a:spcPct val="60000"/>
              </a:spcBef>
              <a:buFont typeface="Wingdings" panose="05000000000000000000" pitchFamily="2" charset="2"/>
              <a:buChar char="ü"/>
            </a:pPr>
            <a:r>
              <a:rPr lang="en-US" sz="2800" dirty="0"/>
              <a:t>Segmentation</a:t>
            </a:r>
          </a:p>
          <a:p>
            <a:pPr>
              <a:spcBef>
                <a:spcPct val="60000"/>
              </a:spcBef>
              <a:buFont typeface="Wingdings" panose="05000000000000000000" pitchFamily="2" charset="2"/>
              <a:buChar char="ü"/>
            </a:pPr>
            <a:r>
              <a:rPr lang="en-US" sz="2800" dirty="0"/>
              <a:t>Target Marketing</a:t>
            </a:r>
          </a:p>
          <a:p>
            <a:pPr>
              <a:spcBef>
                <a:spcPct val="60000"/>
              </a:spcBef>
              <a:buFont typeface="Wingdings" panose="05000000000000000000" pitchFamily="2" charset="2"/>
              <a:buChar char="ü"/>
            </a:pPr>
            <a:r>
              <a:rPr lang="en-US" sz="2800" dirty="0"/>
              <a:t>Market Positioning</a:t>
            </a:r>
          </a:p>
          <a:p>
            <a:endParaRPr lang="en-US" sz="2800" dirty="0"/>
          </a:p>
        </p:txBody>
      </p:sp>
    </p:spTree>
    <p:extLst>
      <p:ext uri="{BB962C8B-B14F-4D97-AF65-F5344CB8AC3E}">
        <p14:creationId xmlns:p14="http://schemas.microsoft.com/office/powerpoint/2010/main" val="329036604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Unicode MS" pitchFamily="34" charset="-128"/>
              </a:rPr>
              <a:t>Market Segmentation</a:t>
            </a:r>
            <a:endParaRPr lang="en-US" dirty="0"/>
          </a:p>
        </p:txBody>
      </p:sp>
      <p:sp>
        <p:nvSpPr>
          <p:cNvPr id="3" name="Content Placeholder 2"/>
          <p:cNvSpPr>
            <a:spLocks noGrp="1"/>
          </p:cNvSpPr>
          <p:nvPr>
            <p:ph idx="1"/>
          </p:nvPr>
        </p:nvSpPr>
        <p:spPr/>
        <p:txBody>
          <a:bodyPr>
            <a:normAutofit fontScale="92500" lnSpcReduction="20000"/>
          </a:bodyPr>
          <a:lstStyle/>
          <a:p>
            <a:pPr marL="0" indent="0" algn="just">
              <a:spcBef>
                <a:spcPct val="40000"/>
              </a:spcBef>
              <a:buNone/>
            </a:pPr>
            <a:r>
              <a:rPr lang="en-US" sz="2800" dirty="0">
                <a:solidFill>
                  <a:srgbClr val="FF0000"/>
                </a:solidFill>
                <a:latin typeface="Arial Unicode MS" pitchFamily="34" charset="-128"/>
              </a:rPr>
              <a:t>Dividing a market into </a:t>
            </a:r>
            <a:r>
              <a:rPr lang="en-US" sz="2800" u="sng" dirty="0">
                <a:solidFill>
                  <a:srgbClr val="FF0000"/>
                </a:solidFill>
                <a:latin typeface="Arial Unicode MS" pitchFamily="34" charset="-128"/>
              </a:rPr>
              <a:t>distinct groups</a:t>
            </a:r>
            <a:r>
              <a:rPr lang="en-US" sz="2800" dirty="0">
                <a:latin typeface="Arial Unicode MS" pitchFamily="34" charset="-128"/>
              </a:rPr>
              <a:t> with </a:t>
            </a:r>
            <a:r>
              <a:rPr lang="en-US" sz="2800" dirty="0">
                <a:solidFill>
                  <a:srgbClr val="00B050"/>
                </a:solidFill>
                <a:latin typeface="Arial Unicode MS" pitchFamily="34" charset="-128"/>
              </a:rPr>
              <a:t>distinct needs</a:t>
            </a:r>
            <a:r>
              <a:rPr lang="en-US" sz="2800" dirty="0">
                <a:latin typeface="Arial Unicode MS" pitchFamily="34" charset="-128"/>
              </a:rPr>
              <a:t>, </a:t>
            </a:r>
            <a:r>
              <a:rPr lang="en-US" sz="2800" dirty="0">
                <a:solidFill>
                  <a:srgbClr val="00B050"/>
                </a:solidFill>
                <a:latin typeface="Arial Unicode MS" pitchFamily="34" charset="-128"/>
              </a:rPr>
              <a:t>characteristics</a:t>
            </a:r>
            <a:r>
              <a:rPr lang="en-US" sz="2800" dirty="0">
                <a:latin typeface="Arial Unicode MS" pitchFamily="34" charset="-128"/>
              </a:rPr>
              <a:t>, or </a:t>
            </a:r>
            <a:r>
              <a:rPr lang="en-US" sz="2800" dirty="0">
                <a:solidFill>
                  <a:srgbClr val="00B050"/>
                </a:solidFill>
                <a:latin typeface="Arial Unicode MS" pitchFamily="34" charset="-128"/>
              </a:rPr>
              <a:t>behavior</a:t>
            </a:r>
            <a:r>
              <a:rPr lang="en-US" sz="2800" dirty="0">
                <a:latin typeface="Arial Unicode MS" pitchFamily="34" charset="-128"/>
              </a:rPr>
              <a:t> </a:t>
            </a:r>
            <a:r>
              <a:rPr lang="en-US" sz="2800" dirty="0">
                <a:solidFill>
                  <a:srgbClr val="002060"/>
                </a:solidFill>
                <a:latin typeface="Arial Unicode MS" pitchFamily="34" charset="-128"/>
              </a:rPr>
              <a:t>who might require</a:t>
            </a:r>
            <a:r>
              <a:rPr lang="en-US" sz="2800" dirty="0">
                <a:latin typeface="Arial Unicode MS" pitchFamily="34" charset="-128"/>
              </a:rPr>
              <a:t> </a:t>
            </a:r>
            <a:r>
              <a:rPr lang="en-US" sz="2800" dirty="0">
                <a:solidFill>
                  <a:srgbClr val="0070C0"/>
                </a:solidFill>
                <a:latin typeface="Arial Unicode MS" pitchFamily="34" charset="-128"/>
              </a:rPr>
              <a:t>separate products or marketing mixes</a:t>
            </a:r>
            <a:r>
              <a:rPr lang="en-US" sz="2800" dirty="0">
                <a:latin typeface="Arial Unicode MS" pitchFamily="34" charset="-128"/>
              </a:rPr>
              <a:t>.</a:t>
            </a:r>
          </a:p>
          <a:p>
            <a:pPr>
              <a:lnSpc>
                <a:spcPct val="95000"/>
              </a:lnSpc>
              <a:spcBef>
                <a:spcPct val="60000"/>
              </a:spcBef>
              <a:buClr>
                <a:schemeClr val="accent1"/>
              </a:buClr>
              <a:buFont typeface="Wingdings" panose="05000000000000000000" pitchFamily="2" charset="2"/>
              <a:buChar char="C"/>
            </a:pPr>
            <a:r>
              <a:rPr lang="en-US" dirty="0">
                <a:latin typeface="Arial Unicode MS" pitchFamily="34" charset="-128"/>
              </a:rPr>
              <a:t>Segmentation is </a:t>
            </a:r>
            <a:r>
              <a:rPr lang="en-US" dirty="0">
                <a:solidFill>
                  <a:srgbClr val="C00000"/>
                </a:solidFill>
                <a:latin typeface="Arial Unicode MS" pitchFamily="34" charset="-128"/>
              </a:rPr>
              <a:t>breaking down heterogeneous mass market </a:t>
            </a:r>
            <a:r>
              <a:rPr lang="en-US" dirty="0">
                <a:latin typeface="Arial Unicode MS" pitchFamily="34" charset="-128"/>
              </a:rPr>
              <a:t>into more </a:t>
            </a:r>
            <a:r>
              <a:rPr lang="en-US" dirty="0">
                <a:solidFill>
                  <a:srgbClr val="C00000"/>
                </a:solidFill>
                <a:latin typeface="Arial Unicode MS" pitchFamily="34" charset="-128"/>
              </a:rPr>
              <a:t>homogeneous submarkets</a:t>
            </a:r>
          </a:p>
          <a:p>
            <a:pPr>
              <a:lnSpc>
                <a:spcPct val="95000"/>
              </a:lnSpc>
              <a:spcBef>
                <a:spcPct val="60000"/>
              </a:spcBef>
              <a:buClr>
                <a:schemeClr val="accent1"/>
              </a:buClr>
              <a:buFont typeface="Wingdings" panose="05000000000000000000" pitchFamily="2" charset="2"/>
              <a:buChar char="C"/>
            </a:pPr>
            <a:r>
              <a:rPr lang="en-US" dirty="0">
                <a:latin typeface="Arial Unicode MS" pitchFamily="34" charset="-128"/>
              </a:rPr>
              <a:t>Consumers within segments </a:t>
            </a:r>
            <a:r>
              <a:rPr lang="en-US" u="sng" dirty="0">
                <a:latin typeface="Arial Unicode MS" pitchFamily="34" charset="-128"/>
              </a:rPr>
              <a:t>should respond similarly to particular marketing actions</a:t>
            </a:r>
          </a:p>
          <a:p>
            <a:pPr>
              <a:lnSpc>
                <a:spcPct val="95000"/>
              </a:lnSpc>
              <a:spcBef>
                <a:spcPct val="60000"/>
              </a:spcBef>
              <a:buClr>
                <a:schemeClr val="accent1"/>
              </a:buClr>
              <a:buFont typeface="Wingdings" panose="05000000000000000000" pitchFamily="2" charset="2"/>
              <a:buChar char="C"/>
            </a:pPr>
            <a:r>
              <a:rPr lang="en-US" dirty="0">
                <a:latin typeface="Arial Unicode MS" pitchFamily="34" charset="-128"/>
              </a:rPr>
              <a:t>Consumer </a:t>
            </a:r>
            <a:r>
              <a:rPr lang="en-US" u="sng" dirty="0">
                <a:latin typeface="Arial Unicode MS" pitchFamily="34" charset="-128"/>
              </a:rPr>
              <a:t>response should be different between segments</a:t>
            </a:r>
            <a:r>
              <a:rPr lang="en-US" dirty="0">
                <a:latin typeface="Arial Unicode MS" pitchFamily="34" charset="-128"/>
              </a:rPr>
              <a:t> </a:t>
            </a:r>
          </a:p>
          <a:p>
            <a:pPr marL="0" indent="0" algn="just">
              <a:spcBef>
                <a:spcPct val="40000"/>
              </a:spcBef>
              <a:buNone/>
            </a:pPr>
            <a:endParaRPr lang="en-US" sz="2800" dirty="0">
              <a:latin typeface="Arial Unicode MS" pitchFamily="34" charset="-128"/>
            </a:endParaRPr>
          </a:p>
          <a:p>
            <a:endParaRPr lang="en-US" dirty="0"/>
          </a:p>
        </p:txBody>
      </p:sp>
    </p:spTree>
    <p:extLst>
      <p:ext uri="{BB962C8B-B14F-4D97-AF65-F5344CB8AC3E}">
        <p14:creationId xmlns:p14="http://schemas.microsoft.com/office/powerpoint/2010/main" val="240175174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Target Marketing</a:t>
            </a:r>
          </a:p>
        </p:txBody>
      </p:sp>
      <p:sp>
        <p:nvSpPr>
          <p:cNvPr id="3" name="Content Placeholder 2"/>
          <p:cNvSpPr>
            <a:spLocks noGrp="1"/>
          </p:cNvSpPr>
          <p:nvPr>
            <p:ph idx="1"/>
          </p:nvPr>
        </p:nvSpPr>
        <p:spPr/>
        <p:txBody>
          <a:bodyPr>
            <a:normAutofit/>
          </a:bodyPr>
          <a:lstStyle/>
          <a:p>
            <a:pPr marL="0" indent="0" algn="just">
              <a:lnSpc>
                <a:spcPct val="105000"/>
              </a:lnSpc>
              <a:spcBef>
                <a:spcPct val="40000"/>
              </a:spcBef>
              <a:buClr>
                <a:schemeClr val="hlink"/>
              </a:buClr>
              <a:buSzPct val="70000"/>
              <a:buNone/>
            </a:pPr>
            <a:endParaRPr lang="en-US" sz="3200" dirty="0" smtClean="0">
              <a:latin typeface="Arial Unicode MS" pitchFamily="34" charset="-128"/>
            </a:endParaRPr>
          </a:p>
          <a:p>
            <a:pPr marL="0" indent="0" algn="just">
              <a:lnSpc>
                <a:spcPct val="105000"/>
              </a:lnSpc>
              <a:spcBef>
                <a:spcPct val="40000"/>
              </a:spcBef>
              <a:buClr>
                <a:schemeClr val="hlink"/>
              </a:buClr>
              <a:buSzPct val="70000"/>
              <a:buNone/>
            </a:pPr>
            <a:r>
              <a:rPr lang="en-US" sz="3200" dirty="0" smtClean="0">
                <a:latin typeface="Arial Unicode MS" pitchFamily="34" charset="-128"/>
              </a:rPr>
              <a:t>The </a:t>
            </a:r>
            <a:r>
              <a:rPr lang="en-US" sz="3200" dirty="0">
                <a:solidFill>
                  <a:srgbClr val="0070C0"/>
                </a:solidFill>
                <a:latin typeface="Arial Unicode MS" pitchFamily="34" charset="-128"/>
              </a:rPr>
              <a:t>process of</a:t>
            </a:r>
            <a:r>
              <a:rPr lang="en-US" sz="3200" dirty="0">
                <a:latin typeface="Arial Unicode MS" pitchFamily="34" charset="-128"/>
              </a:rPr>
              <a:t> </a:t>
            </a:r>
            <a:r>
              <a:rPr lang="en-US" sz="3200" dirty="0">
                <a:solidFill>
                  <a:srgbClr val="0070C0"/>
                </a:solidFill>
                <a:latin typeface="Arial Unicode MS" pitchFamily="34" charset="-128"/>
              </a:rPr>
              <a:t>evaluating</a:t>
            </a:r>
            <a:r>
              <a:rPr lang="en-US" sz="3200" dirty="0">
                <a:latin typeface="Arial Unicode MS" pitchFamily="34" charset="-128"/>
              </a:rPr>
              <a:t> </a:t>
            </a:r>
            <a:r>
              <a:rPr lang="en-US" sz="3200" dirty="0">
                <a:solidFill>
                  <a:schemeClr val="accent5"/>
                </a:solidFill>
                <a:latin typeface="Arial Unicode MS" pitchFamily="34" charset="-128"/>
              </a:rPr>
              <a:t>each market segment’s attractiveness</a:t>
            </a:r>
            <a:r>
              <a:rPr lang="en-US" sz="3200" dirty="0">
                <a:latin typeface="Arial Unicode MS" pitchFamily="34" charset="-128"/>
              </a:rPr>
              <a:t> and </a:t>
            </a:r>
            <a:r>
              <a:rPr lang="en-US" sz="3200" dirty="0">
                <a:solidFill>
                  <a:srgbClr val="00B050"/>
                </a:solidFill>
                <a:latin typeface="Arial Unicode MS" pitchFamily="34" charset="-128"/>
              </a:rPr>
              <a:t>selecting one or more segments to enter</a:t>
            </a:r>
            <a:r>
              <a:rPr lang="en-US" sz="3200" dirty="0">
                <a:latin typeface="Arial Unicode MS" pitchFamily="34" charset="-128"/>
              </a:rPr>
              <a:t>.</a:t>
            </a:r>
          </a:p>
          <a:p>
            <a:endParaRPr lang="en-US" sz="3200" dirty="0"/>
          </a:p>
          <a:p>
            <a:endParaRPr lang="en-US" sz="3200" dirty="0"/>
          </a:p>
        </p:txBody>
      </p:sp>
    </p:spTree>
    <p:extLst>
      <p:ext uri="{BB962C8B-B14F-4D97-AF65-F5344CB8AC3E}">
        <p14:creationId xmlns:p14="http://schemas.microsoft.com/office/powerpoint/2010/main" val="51726000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Unicode MS" pitchFamily="34" charset="-128"/>
              </a:rPr>
              <a:t>Market Positioning</a:t>
            </a:r>
            <a:endParaRPr lang="en-US" dirty="0"/>
          </a:p>
        </p:txBody>
      </p:sp>
      <p:sp>
        <p:nvSpPr>
          <p:cNvPr id="3" name="Content Placeholder 2"/>
          <p:cNvSpPr>
            <a:spLocks noGrp="1"/>
          </p:cNvSpPr>
          <p:nvPr>
            <p:ph idx="1"/>
          </p:nvPr>
        </p:nvSpPr>
        <p:spPr/>
        <p:txBody>
          <a:bodyPr>
            <a:normAutofit/>
          </a:bodyPr>
          <a:lstStyle/>
          <a:p>
            <a:pPr marL="0" indent="0">
              <a:buNone/>
            </a:pPr>
            <a:endParaRPr lang="en-US" sz="2800" dirty="0" smtClean="0">
              <a:solidFill>
                <a:srgbClr val="00B050"/>
              </a:solidFill>
              <a:latin typeface="Arial Unicode MS" pitchFamily="34" charset="-128"/>
            </a:endParaRPr>
          </a:p>
          <a:p>
            <a:pPr marL="0" indent="0">
              <a:buNone/>
            </a:pPr>
            <a:r>
              <a:rPr lang="en-US" sz="2800" dirty="0" smtClean="0">
                <a:solidFill>
                  <a:srgbClr val="00B050"/>
                </a:solidFill>
                <a:latin typeface="Arial Unicode MS" pitchFamily="34" charset="-128"/>
              </a:rPr>
              <a:t>Arranging </a:t>
            </a:r>
            <a:r>
              <a:rPr lang="en-US" sz="2800" dirty="0">
                <a:solidFill>
                  <a:srgbClr val="00B050"/>
                </a:solidFill>
                <a:latin typeface="Arial Unicode MS" pitchFamily="34" charset="-128"/>
              </a:rPr>
              <a:t>for a product</a:t>
            </a:r>
            <a:r>
              <a:rPr lang="en-US" sz="2800" dirty="0">
                <a:latin typeface="Arial Unicode MS" pitchFamily="34" charset="-128"/>
              </a:rPr>
              <a:t> to </a:t>
            </a:r>
            <a:r>
              <a:rPr lang="en-US" sz="2800" dirty="0">
                <a:solidFill>
                  <a:srgbClr val="C00000"/>
                </a:solidFill>
                <a:latin typeface="Arial Unicode MS" pitchFamily="34" charset="-128"/>
              </a:rPr>
              <a:t>occupy a clear</a:t>
            </a:r>
            <a:r>
              <a:rPr lang="en-US" sz="2800" dirty="0">
                <a:latin typeface="Arial Unicode MS" pitchFamily="34" charset="-128"/>
              </a:rPr>
              <a:t>, </a:t>
            </a:r>
            <a:r>
              <a:rPr lang="en-US" sz="2800" dirty="0">
                <a:solidFill>
                  <a:srgbClr val="C00000"/>
                </a:solidFill>
                <a:latin typeface="Arial Unicode MS" pitchFamily="34" charset="-128"/>
              </a:rPr>
              <a:t>distinctive</a:t>
            </a:r>
            <a:r>
              <a:rPr lang="en-US" sz="2800" dirty="0">
                <a:latin typeface="Arial Unicode MS" pitchFamily="34" charset="-128"/>
              </a:rPr>
              <a:t>, and </a:t>
            </a:r>
            <a:r>
              <a:rPr lang="en-US" sz="2800" dirty="0">
                <a:solidFill>
                  <a:srgbClr val="C00000"/>
                </a:solidFill>
                <a:latin typeface="Arial Unicode MS" pitchFamily="34" charset="-128"/>
              </a:rPr>
              <a:t>desirable place </a:t>
            </a:r>
            <a:r>
              <a:rPr lang="en-US" sz="2800" dirty="0">
                <a:solidFill>
                  <a:srgbClr val="0070C0"/>
                </a:solidFill>
                <a:latin typeface="Arial Unicode MS" pitchFamily="34" charset="-128"/>
              </a:rPr>
              <a:t>relative to competing products</a:t>
            </a:r>
            <a:r>
              <a:rPr lang="en-US" sz="2800" dirty="0">
                <a:latin typeface="Arial Unicode MS" pitchFamily="34" charset="-128"/>
              </a:rPr>
              <a:t> </a:t>
            </a:r>
            <a:r>
              <a:rPr lang="en-US" sz="2800" dirty="0">
                <a:solidFill>
                  <a:srgbClr val="C00000"/>
                </a:solidFill>
                <a:latin typeface="Arial Unicode MS" pitchFamily="34" charset="-128"/>
              </a:rPr>
              <a:t>in the mind of target consumers</a:t>
            </a:r>
          </a:p>
          <a:p>
            <a:pPr marL="0" indent="0">
              <a:buNone/>
            </a:pPr>
            <a:endParaRPr lang="en-US" sz="2800" dirty="0"/>
          </a:p>
          <a:p>
            <a:endParaRPr lang="en-US" sz="2800" dirty="0"/>
          </a:p>
        </p:txBody>
      </p:sp>
    </p:spTree>
    <p:extLst>
      <p:ext uri="{BB962C8B-B14F-4D97-AF65-F5344CB8AC3E}">
        <p14:creationId xmlns:p14="http://schemas.microsoft.com/office/powerpoint/2010/main" val="130817153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anose="020F0502020204030204" charset="0"/>
                <a:cs typeface="Calibri" panose="020F0502020204030204" charset="0"/>
              </a:rPr>
              <a:t>Segmenting Consumer Markets</a:t>
            </a:r>
            <a:endParaRPr lang="en-US" dirty="0"/>
          </a:p>
        </p:txBody>
      </p:sp>
      <p:graphicFrame>
        <p:nvGraphicFramePr>
          <p:cNvPr id="4" name="Content Placeholder 7"/>
          <p:cNvGraphicFramePr>
            <a:graphicFrameLocks noGrp="1"/>
          </p:cNvGraphicFramePr>
          <p:nvPr>
            <p:ph idx="1"/>
            <p:extLst>
              <p:ext uri="{D42A27DB-BD31-4B8C-83A1-F6EECF244321}">
                <p14:modId xmlns:p14="http://schemas.microsoft.com/office/powerpoint/2010/main" val="1261766382"/>
              </p:ext>
            </p:extLst>
          </p:nvPr>
        </p:nvGraphicFramePr>
        <p:xfrm>
          <a:off x="894522" y="2464905"/>
          <a:ext cx="10376452" cy="34104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944794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Unicode MS" pitchFamily="34" charset="-128"/>
              </a:rPr>
              <a:t>Geographical Segmentation</a:t>
            </a:r>
            <a:endParaRPr lang="en-US" dirty="0"/>
          </a:p>
        </p:txBody>
      </p:sp>
      <p:sp>
        <p:nvSpPr>
          <p:cNvPr id="3" name="Content Placeholder 2"/>
          <p:cNvSpPr>
            <a:spLocks noGrp="1"/>
          </p:cNvSpPr>
          <p:nvPr>
            <p:ph idx="1"/>
          </p:nvPr>
        </p:nvSpPr>
        <p:spPr/>
        <p:txBody>
          <a:bodyPr>
            <a:normAutofit/>
          </a:bodyPr>
          <a:lstStyle/>
          <a:p>
            <a:pPr algn="just"/>
            <a:r>
              <a:rPr lang="en-US" sz="2800" dirty="0">
                <a:latin typeface="Arial Unicode MS" pitchFamily="34" charset="-128"/>
              </a:rPr>
              <a:t>Dividing a market into different geographical units such as nation, province, regions, countries, cities or neighborhoods </a:t>
            </a:r>
          </a:p>
          <a:p>
            <a:pPr algn="just"/>
            <a:endParaRPr lang="en-US" sz="2800" dirty="0"/>
          </a:p>
          <a:p>
            <a:pPr algn="just"/>
            <a:endParaRPr lang="en-US" sz="2800" dirty="0"/>
          </a:p>
        </p:txBody>
      </p:sp>
    </p:spTree>
    <p:extLst>
      <p:ext uri="{BB962C8B-B14F-4D97-AF65-F5344CB8AC3E}">
        <p14:creationId xmlns:p14="http://schemas.microsoft.com/office/powerpoint/2010/main" val="40847279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Arial Unicode MS" pitchFamily="34" charset="-128"/>
              </a:rPr>
              <a:t>Geographic Segmentation </a:t>
            </a:r>
            <a:br>
              <a:rPr lang="en-US" b="1" dirty="0">
                <a:latin typeface="Arial Unicode MS" pitchFamily="34" charset="-128"/>
              </a:rPr>
            </a:br>
            <a:r>
              <a:rPr lang="en-US" b="1" dirty="0">
                <a:latin typeface="Arial Unicode MS" pitchFamily="34" charset="-128"/>
              </a:rPr>
              <a:t>Variables</a:t>
            </a:r>
            <a:endParaRPr lang="en-US" dirty="0"/>
          </a:p>
        </p:txBody>
      </p:sp>
      <p:sp>
        <p:nvSpPr>
          <p:cNvPr id="3" name="Content Placeholder 2"/>
          <p:cNvSpPr>
            <a:spLocks noGrp="1"/>
          </p:cNvSpPr>
          <p:nvPr>
            <p:ph idx="1"/>
          </p:nvPr>
        </p:nvSpPr>
        <p:spPr/>
        <p:txBody>
          <a:bodyPr>
            <a:normAutofit fontScale="77500" lnSpcReduction="20000"/>
          </a:bodyPr>
          <a:lstStyle/>
          <a:p>
            <a:pPr>
              <a:lnSpc>
                <a:spcPct val="110000"/>
              </a:lnSpc>
            </a:pPr>
            <a:r>
              <a:rPr lang="en-US" dirty="0">
                <a:latin typeface="Arial Unicode MS" pitchFamily="34" charset="-128"/>
                <a:cs typeface="Arial" panose="020B0604020202020204" pitchFamily="34" charset="0"/>
              </a:rPr>
              <a:t>World Region or Country</a:t>
            </a:r>
          </a:p>
          <a:p>
            <a:pPr>
              <a:lnSpc>
                <a:spcPct val="110000"/>
              </a:lnSpc>
            </a:pPr>
            <a:r>
              <a:rPr lang="en-US" dirty="0">
                <a:latin typeface="Arial Unicode MS" pitchFamily="34" charset="-128"/>
                <a:cs typeface="Arial" panose="020B0604020202020204" pitchFamily="34" charset="0"/>
              </a:rPr>
              <a:t>Region</a:t>
            </a:r>
          </a:p>
          <a:p>
            <a:pPr>
              <a:lnSpc>
                <a:spcPct val="110000"/>
              </a:lnSpc>
            </a:pPr>
            <a:r>
              <a:rPr lang="en-US" dirty="0">
                <a:latin typeface="Arial Unicode MS" pitchFamily="34" charset="-128"/>
                <a:cs typeface="Arial" panose="020B0604020202020204" pitchFamily="34" charset="0"/>
              </a:rPr>
              <a:t>Province</a:t>
            </a:r>
          </a:p>
          <a:p>
            <a:pPr>
              <a:lnSpc>
                <a:spcPct val="110000"/>
              </a:lnSpc>
            </a:pPr>
            <a:r>
              <a:rPr lang="en-US" dirty="0">
                <a:latin typeface="Arial Unicode MS" pitchFamily="34" charset="-128"/>
                <a:cs typeface="Arial" panose="020B0604020202020204" pitchFamily="34" charset="0"/>
              </a:rPr>
              <a:t>City</a:t>
            </a:r>
          </a:p>
          <a:p>
            <a:pPr>
              <a:lnSpc>
                <a:spcPct val="110000"/>
              </a:lnSpc>
            </a:pPr>
            <a:r>
              <a:rPr lang="en-US" dirty="0">
                <a:latin typeface="Arial Unicode MS" pitchFamily="34" charset="-128"/>
                <a:cs typeface="Arial" panose="020B0604020202020204" pitchFamily="34" charset="0"/>
              </a:rPr>
              <a:t>Neighborhood</a:t>
            </a:r>
          </a:p>
          <a:p>
            <a:pPr>
              <a:lnSpc>
                <a:spcPct val="110000"/>
              </a:lnSpc>
            </a:pPr>
            <a:r>
              <a:rPr lang="en-US" dirty="0">
                <a:latin typeface="Arial Unicode MS" pitchFamily="34" charset="-128"/>
                <a:cs typeface="Arial" panose="020B0604020202020204" pitchFamily="34" charset="0"/>
              </a:rPr>
              <a:t>City or Metro Size</a:t>
            </a:r>
          </a:p>
          <a:p>
            <a:pPr>
              <a:lnSpc>
                <a:spcPct val="110000"/>
              </a:lnSpc>
            </a:pPr>
            <a:r>
              <a:rPr lang="en-US" dirty="0">
                <a:latin typeface="Arial Unicode MS" pitchFamily="34" charset="-128"/>
                <a:cs typeface="Arial" panose="020B0604020202020204" pitchFamily="34" charset="0"/>
              </a:rPr>
              <a:t>Density</a:t>
            </a:r>
          </a:p>
          <a:p>
            <a:pPr>
              <a:lnSpc>
                <a:spcPct val="110000"/>
              </a:lnSpc>
            </a:pPr>
            <a:r>
              <a:rPr lang="en-US" dirty="0">
                <a:latin typeface="Arial Unicode MS" pitchFamily="34" charset="-128"/>
                <a:cs typeface="Arial" panose="020B0604020202020204" pitchFamily="34" charset="0"/>
              </a:rPr>
              <a:t>Climate</a:t>
            </a:r>
          </a:p>
          <a:p>
            <a:endParaRPr lang="en-US" dirty="0"/>
          </a:p>
        </p:txBody>
      </p:sp>
    </p:spTree>
    <p:extLst>
      <p:ext uri="{BB962C8B-B14F-4D97-AF65-F5344CB8AC3E}">
        <p14:creationId xmlns:p14="http://schemas.microsoft.com/office/powerpoint/2010/main" val="13196907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Unicode MS" pitchFamily="34" charset="-128"/>
              </a:rPr>
              <a:t>Demographic Segmentation</a:t>
            </a:r>
            <a:endParaRPr lang="en-US" dirty="0"/>
          </a:p>
        </p:txBody>
      </p:sp>
      <p:sp>
        <p:nvSpPr>
          <p:cNvPr id="3" name="Content Placeholder 2"/>
          <p:cNvSpPr>
            <a:spLocks noGrp="1"/>
          </p:cNvSpPr>
          <p:nvPr>
            <p:ph idx="1"/>
          </p:nvPr>
        </p:nvSpPr>
        <p:spPr/>
        <p:txBody>
          <a:bodyPr>
            <a:normAutofit/>
          </a:bodyPr>
          <a:lstStyle/>
          <a:p>
            <a:pPr algn="just"/>
            <a:r>
              <a:rPr lang="en-US" sz="3200" dirty="0">
                <a:latin typeface="Arial Unicode MS" pitchFamily="34" charset="-128"/>
                <a:cs typeface="Arial" panose="020B0604020202020204" pitchFamily="34" charset="0"/>
              </a:rPr>
              <a:t>Dividing the market into groups based on demographic variables such as age, gender, etc.</a:t>
            </a:r>
          </a:p>
          <a:p>
            <a:pPr algn="just"/>
            <a:endParaRPr lang="en-US" sz="3200" dirty="0"/>
          </a:p>
        </p:txBody>
      </p:sp>
    </p:spTree>
    <p:extLst>
      <p:ext uri="{BB962C8B-B14F-4D97-AF65-F5344CB8AC3E}">
        <p14:creationId xmlns:p14="http://schemas.microsoft.com/office/powerpoint/2010/main" val="310712431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Unicode MS" pitchFamily="34" charset="-128"/>
              </a:rPr>
              <a:t>Demographic Segmentation Variables</a:t>
            </a:r>
            <a:endParaRPr lang="en-US" dirty="0"/>
          </a:p>
        </p:txBody>
      </p:sp>
      <p:sp>
        <p:nvSpPr>
          <p:cNvPr id="3" name="Content Placeholder 2"/>
          <p:cNvSpPr>
            <a:spLocks noGrp="1"/>
          </p:cNvSpPr>
          <p:nvPr>
            <p:ph idx="1"/>
          </p:nvPr>
        </p:nvSpPr>
        <p:spPr>
          <a:xfrm>
            <a:off x="1295401" y="2556932"/>
            <a:ext cx="3574773" cy="3318936"/>
          </a:xfrm>
        </p:spPr>
        <p:txBody>
          <a:bodyPr/>
          <a:lstStyle/>
          <a:p>
            <a:pPr>
              <a:lnSpc>
                <a:spcPct val="110000"/>
              </a:lnSpc>
            </a:pPr>
            <a:r>
              <a:rPr lang="en-US" dirty="0">
                <a:latin typeface="Arial Unicode MS" pitchFamily="34" charset="-128"/>
                <a:cs typeface="Arial" panose="020B0604020202020204" pitchFamily="34" charset="0"/>
              </a:rPr>
              <a:t>Age</a:t>
            </a:r>
          </a:p>
          <a:p>
            <a:pPr>
              <a:lnSpc>
                <a:spcPct val="110000"/>
              </a:lnSpc>
            </a:pPr>
            <a:r>
              <a:rPr lang="en-US" dirty="0">
                <a:latin typeface="Arial Unicode MS" pitchFamily="34" charset="-128"/>
                <a:cs typeface="Arial" panose="020B0604020202020204" pitchFamily="34" charset="0"/>
              </a:rPr>
              <a:t>Gender</a:t>
            </a:r>
          </a:p>
          <a:p>
            <a:pPr>
              <a:lnSpc>
                <a:spcPct val="110000"/>
              </a:lnSpc>
            </a:pPr>
            <a:r>
              <a:rPr lang="en-US" dirty="0">
                <a:latin typeface="Arial Unicode MS" pitchFamily="34" charset="-128"/>
                <a:cs typeface="Arial" panose="020B0604020202020204" pitchFamily="34" charset="0"/>
              </a:rPr>
              <a:t>Family size</a:t>
            </a:r>
          </a:p>
          <a:p>
            <a:pPr>
              <a:lnSpc>
                <a:spcPct val="110000"/>
              </a:lnSpc>
            </a:pPr>
            <a:r>
              <a:rPr lang="en-US" dirty="0">
                <a:latin typeface="Arial Unicode MS" pitchFamily="34" charset="-128"/>
                <a:cs typeface="Arial" panose="020B0604020202020204" pitchFamily="34" charset="0"/>
              </a:rPr>
              <a:t>Family life cycle</a:t>
            </a:r>
          </a:p>
          <a:p>
            <a:pPr>
              <a:lnSpc>
                <a:spcPct val="110000"/>
              </a:lnSpc>
            </a:pPr>
            <a:r>
              <a:rPr lang="en-US" dirty="0">
                <a:latin typeface="Arial Unicode MS" pitchFamily="34" charset="-128"/>
                <a:cs typeface="Arial" panose="020B0604020202020204" pitchFamily="34" charset="0"/>
              </a:rPr>
              <a:t>Income</a:t>
            </a:r>
          </a:p>
          <a:p>
            <a:endParaRPr lang="en-US" dirty="0"/>
          </a:p>
        </p:txBody>
      </p:sp>
      <p:sp>
        <p:nvSpPr>
          <p:cNvPr id="4" name="Rectangle 3"/>
          <p:cNvSpPr/>
          <p:nvPr/>
        </p:nvSpPr>
        <p:spPr>
          <a:xfrm>
            <a:off x="5632173" y="2607883"/>
            <a:ext cx="6096000" cy="2503058"/>
          </a:xfrm>
          <a:prstGeom prst="rect">
            <a:avLst/>
          </a:prstGeom>
        </p:spPr>
        <p:txBody>
          <a:bodyPr>
            <a:spAutoFit/>
          </a:bodyPr>
          <a:lstStyle/>
          <a:p>
            <a:pPr marL="285750" indent="-285750">
              <a:lnSpc>
                <a:spcPct val="110000"/>
              </a:lnSpc>
              <a:buFont typeface="Arial" panose="020B0604020202020204" pitchFamily="34" charset="0"/>
              <a:buChar char="•"/>
            </a:pPr>
            <a:r>
              <a:rPr lang="en-US" sz="2400" dirty="0" smtClean="0">
                <a:latin typeface="Arial Unicode MS" pitchFamily="34" charset="-128"/>
                <a:cs typeface="Arial" panose="020B0604020202020204" pitchFamily="34" charset="0"/>
              </a:rPr>
              <a:t>Occupation</a:t>
            </a:r>
          </a:p>
          <a:p>
            <a:pPr marL="285750" indent="-285750">
              <a:lnSpc>
                <a:spcPct val="110000"/>
              </a:lnSpc>
              <a:buFont typeface="Arial" panose="020B0604020202020204" pitchFamily="34" charset="0"/>
              <a:buChar char="•"/>
            </a:pPr>
            <a:r>
              <a:rPr lang="en-US" sz="2400" dirty="0" smtClean="0">
                <a:latin typeface="Arial Unicode MS" pitchFamily="34" charset="-128"/>
                <a:cs typeface="Arial" panose="020B0604020202020204" pitchFamily="34" charset="0"/>
              </a:rPr>
              <a:t>Education</a:t>
            </a:r>
          </a:p>
          <a:p>
            <a:pPr marL="285750" indent="-285750">
              <a:lnSpc>
                <a:spcPct val="110000"/>
              </a:lnSpc>
              <a:buFont typeface="Arial" panose="020B0604020202020204" pitchFamily="34" charset="0"/>
              <a:buChar char="•"/>
            </a:pPr>
            <a:r>
              <a:rPr lang="en-US" sz="2400" dirty="0" smtClean="0">
                <a:latin typeface="Arial Unicode MS" pitchFamily="34" charset="-128"/>
                <a:cs typeface="Arial" panose="020B0604020202020204" pitchFamily="34" charset="0"/>
              </a:rPr>
              <a:t>Religion</a:t>
            </a:r>
          </a:p>
          <a:p>
            <a:pPr marL="285750" indent="-285750">
              <a:lnSpc>
                <a:spcPct val="110000"/>
              </a:lnSpc>
              <a:buFont typeface="Arial" panose="020B0604020202020204" pitchFamily="34" charset="0"/>
              <a:buChar char="•"/>
            </a:pPr>
            <a:r>
              <a:rPr lang="en-US" sz="2400" dirty="0" smtClean="0">
                <a:latin typeface="Arial Unicode MS" pitchFamily="34" charset="-128"/>
                <a:cs typeface="Arial" panose="020B0604020202020204" pitchFamily="34" charset="0"/>
              </a:rPr>
              <a:t>Race</a:t>
            </a:r>
          </a:p>
          <a:p>
            <a:pPr marL="285750" indent="-285750">
              <a:lnSpc>
                <a:spcPct val="110000"/>
              </a:lnSpc>
              <a:buFont typeface="Arial" panose="020B0604020202020204" pitchFamily="34" charset="0"/>
              <a:buChar char="•"/>
            </a:pPr>
            <a:r>
              <a:rPr lang="en-US" sz="2400" dirty="0" smtClean="0">
                <a:latin typeface="Arial Unicode MS" pitchFamily="34" charset="-128"/>
                <a:cs typeface="Arial" panose="020B0604020202020204" pitchFamily="34" charset="0"/>
              </a:rPr>
              <a:t>Generation</a:t>
            </a:r>
          </a:p>
          <a:p>
            <a:pPr marL="285750" indent="-285750">
              <a:lnSpc>
                <a:spcPct val="110000"/>
              </a:lnSpc>
              <a:buFont typeface="Arial" panose="020B0604020202020204" pitchFamily="34" charset="0"/>
              <a:buChar char="•"/>
            </a:pPr>
            <a:r>
              <a:rPr lang="en-US" sz="2400" dirty="0" smtClean="0">
                <a:latin typeface="Arial Unicode MS" pitchFamily="34" charset="-128"/>
                <a:cs typeface="Arial" panose="020B0604020202020204" pitchFamily="34" charset="0"/>
              </a:rPr>
              <a:t>Nationality</a:t>
            </a:r>
            <a:endParaRPr lang="en-US" sz="2400" dirty="0">
              <a:latin typeface="Arial Unicode MS" pitchFamily="34" charset="-128"/>
              <a:cs typeface="Arial" panose="020B0604020202020204" pitchFamily="34" charset="0"/>
            </a:endParaRPr>
          </a:p>
        </p:txBody>
      </p:sp>
    </p:spTree>
    <p:extLst>
      <p:ext uri="{BB962C8B-B14F-4D97-AF65-F5344CB8AC3E}">
        <p14:creationId xmlns:p14="http://schemas.microsoft.com/office/powerpoint/2010/main" val="40332401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Unicode MS" pitchFamily="34" charset="-128"/>
              </a:rPr>
              <a:t>Psychographic Segmentation</a:t>
            </a:r>
            <a:endParaRPr lang="en-US" dirty="0"/>
          </a:p>
        </p:txBody>
      </p:sp>
      <p:sp>
        <p:nvSpPr>
          <p:cNvPr id="3" name="Content Placeholder 2"/>
          <p:cNvSpPr>
            <a:spLocks noGrp="1"/>
          </p:cNvSpPr>
          <p:nvPr>
            <p:ph idx="1"/>
          </p:nvPr>
        </p:nvSpPr>
        <p:spPr/>
        <p:txBody>
          <a:bodyPr/>
          <a:lstStyle/>
          <a:p>
            <a:r>
              <a:rPr lang="en-US" sz="3200" dirty="0">
                <a:latin typeface="Arial Unicode MS" pitchFamily="34" charset="-128"/>
              </a:rPr>
              <a:t>Dividing a market into different groups based on social class, personality etc.</a:t>
            </a:r>
          </a:p>
          <a:p>
            <a:endParaRPr lang="en-US" dirty="0"/>
          </a:p>
        </p:txBody>
      </p:sp>
    </p:spTree>
    <p:extLst>
      <p:ext uri="{BB962C8B-B14F-4D97-AF65-F5344CB8AC3E}">
        <p14:creationId xmlns:p14="http://schemas.microsoft.com/office/powerpoint/2010/main" val="304818380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Arial Unicode MS" pitchFamily="34" charset="-128"/>
              </a:rPr>
              <a:t>Psychographic Segmentation </a:t>
            </a:r>
            <a:br>
              <a:rPr lang="en-US" b="1" dirty="0">
                <a:latin typeface="Arial Unicode MS" pitchFamily="34" charset="-128"/>
              </a:rPr>
            </a:br>
            <a:r>
              <a:rPr lang="en-US" b="1" dirty="0">
                <a:latin typeface="Arial Unicode MS" pitchFamily="34" charset="-128"/>
              </a:rPr>
              <a:t>Variables</a:t>
            </a:r>
            <a:endParaRPr lang="en-US" dirty="0"/>
          </a:p>
        </p:txBody>
      </p:sp>
      <p:sp>
        <p:nvSpPr>
          <p:cNvPr id="3" name="Content Placeholder 2"/>
          <p:cNvSpPr>
            <a:spLocks noGrp="1"/>
          </p:cNvSpPr>
          <p:nvPr>
            <p:ph idx="1"/>
          </p:nvPr>
        </p:nvSpPr>
        <p:spPr/>
        <p:txBody>
          <a:bodyPr>
            <a:normAutofit/>
          </a:bodyPr>
          <a:lstStyle/>
          <a:p>
            <a:r>
              <a:rPr lang="en-US" sz="2800" dirty="0">
                <a:latin typeface="Arial Unicode MS" pitchFamily="34" charset="-128"/>
              </a:rPr>
              <a:t>Social class</a:t>
            </a:r>
          </a:p>
          <a:p>
            <a:r>
              <a:rPr lang="en-US" sz="2800" dirty="0">
                <a:latin typeface="Arial Unicode MS" pitchFamily="34" charset="-128"/>
              </a:rPr>
              <a:t>Lifestyle</a:t>
            </a:r>
          </a:p>
          <a:p>
            <a:r>
              <a:rPr lang="en-US" sz="2800" dirty="0">
                <a:latin typeface="Arial Unicode MS" pitchFamily="34" charset="-128"/>
              </a:rPr>
              <a:t>Personality</a:t>
            </a:r>
          </a:p>
          <a:p>
            <a:endParaRPr lang="en-US" sz="2800" dirty="0"/>
          </a:p>
        </p:txBody>
      </p:sp>
    </p:spTree>
    <p:extLst>
      <p:ext uri="{BB962C8B-B14F-4D97-AF65-F5344CB8AC3E}">
        <p14:creationId xmlns:p14="http://schemas.microsoft.com/office/powerpoint/2010/main" val="116739511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Unicode MS" pitchFamily="34" charset="-128"/>
              </a:rPr>
              <a:t>Behavioral Segmentation</a:t>
            </a:r>
            <a:endParaRPr lang="en-US" dirty="0"/>
          </a:p>
        </p:txBody>
      </p:sp>
      <p:sp>
        <p:nvSpPr>
          <p:cNvPr id="3" name="Content Placeholder 2"/>
          <p:cNvSpPr>
            <a:spLocks noGrp="1"/>
          </p:cNvSpPr>
          <p:nvPr>
            <p:ph idx="1"/>
          </p:nvPr>
        </p:nvSpPr>
        <p:spPr/>
        <p:txBody>
          <a:bodyPr>
            <a:normAutofit/>
          </a:bodyPr>
          <a:lstStyle/>
          <a:p>
            <a:pPr algn="just"/>
            <a:r>
              <a:rPr lang="en-US" sz="2800" dirty="0">
                <a:solidFill>
                  <a:schemeClr val="tx1"/>
                </a:solidFill>
                <a:latin typeface="Arial Unicode MS" pitchFamily="34" charset="-128"/>
              </a:rPr>
              <a:t>Dividing a market into groups based on consumer knowledge, attitude etc</a:t>
            </a:r>
            <a:r>
              <a:rPr lang="en-US" sz="5400" dirty="0">
                <a:solidFill>
                  <a:schemeClr val="tx1"/>
                </a:solidFill>
              </a:rPr>
              <a:t>.</a:t>
            </a:r>
          </a:p>
          <a:p>
            <a:pPr algn="just"/>
            <a:endParaRPr lang="en-US" sz="2800" dirty="0"/>
          </a:p>
        </p:txBody>
      </p:sp>
    </p:spTree>
    <p:extLst>
      <p:ext uri="{BB962C8B-B14F-4D97-AF65-F5344CB8AC3E}">
        <p14:creationId xmlns:p14="http://schemas.microsoft.com/office/powerpoint/2010/main" val="270759210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Arial Unicode MS" pitchFamily="34" charset="-128"/>
              </a:rPr>
              <a:t>Behavioral Segmentation </a:t>
            </a:r>
            <a:br>
              <a:rPr lang="en-US" b="1" dirty="0">
                <a:latin typeface="Arial Unicode MS" pitchFamily="34" charset="-128"/>
              </a:rPr>
            </a:br>
            <a:r>
              <a:rPr lang="en-US" b="1" dirty="0">
                <a:latin typeface="Arial Unicode MS" pitchFamily="34" charset="-128"/>
              </a:rPr>
              <a:t>Variables</a:t>
            </a:r>
            <a:endParaRPr lang="en-US" dirty="0"/>
          </a:p>
        </p:txBody>
      </p:sp>
      <p:sp>
        <p:nvSpPr>
          <p:cNvPr id="4" name="Rectangle 5"/>
          <p:cNvSpPr txBox="1">
            <a:spLocks noChangeArrowheads="1"/>
          </p:cNvSpPr>
          <p:nvPr/>
        </p:nvSpPr>
        <p:spPr>
          <a:xfrm>
            <a:off x="762000" y="2637180"/>
            <a:ext cx="4495800" cy="3147394"/>
          </a:xfrm>
          <a:prstGeom prst="rect">
            <a:avLst/>
          </a:prstGeom>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a:bodyPr>
          <a:lst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a:lstStyle>
          <a:p>
            <a:pPr>
              <a:buSzPct val="60000"/>
              <a:buFont typeface="Wingdings" panose="05000000000000000000" pitchFamily="2" charset="2"/>
              <a:buChar char="l"/>
            </a:pPr>
            <a:r>
              <a:rPr lang="en-US" dirty="0" smtClean="0">
                <a:solidFill>
                  <a:schemeClr val="tx2"/>
                </a:solidFill>
                <a:latin typeface="Arial Unicode MS" pitchFamily="34" charset="-128"/>
              </a:rPr>
              <a:t>Occasions</a:t>
            </a:r>
          </a:p>
          <a:p>
            <a:pPr>
              <a:buSzPct val="60000"/>
              <a:buFont typeface="Wingdings" panose="05000000000000000000" pitchFamily="2" charset="2"/>
              <a:buChar char="l"/>
            </a:pPr>
            <a:r>
              <a:rPr lang="en-US" dirty="0" smtClean="0">
                <a:solidFill>
                  <a:schemeClr val="tx2"/>
                </a:solidFill>
                <a:latin typeface="Arial Unicode MS" pitchFamily="34" charset="-128"/>
              </a:rPr>
              <a:t>Benefits</a:t>
            </a:r>
          </a:p>
          <a:p>
            <a:pPr>
              <a:buSzPct val="60000"/>
              <a:buFont typeface="Wingdings" panose="05000000000000000000" pitchFamily="2" charset="2"/>
              <a:buChar char="l"/>
            </a:pPr>
            <a:r>
              <a:rPr lang="en-US" dirty="0" smtClean="0">
                <a:solidFill>
                  <a:schemeClr val="tx2"/>
                </a:solidFill>
                <a:latin typeface="Arial Unicode MS" pitchFamily="34" charset="-128"/>
              </a:rPr>
              <a:t>User Status</a:t>
            </a:r>
          </a:p>
          <a:p>
            <a:pPr>
              <a:buSzPct val="60000"/>
              <a:buFont typeface="Wingdings" panose="05000000000000000000" pitchFamily="2" charset="2"/>
              <a:buChar char="l"/>
            </a:pPr>
            <a:r>
              <a:rPr lang="en-US" dirty="0" smtClean="0">
                <a:solidFill>
                  <a:schemeClr val="tx2"/>
                </a:solidFill>
                <a:latin typeface="Arial Unicode MS" pitchFamily="34" charset="-128"/>
              </a:rPr>
              <a:t>Attitude Toward the Product</a:t>
            </a:r>
            <a:endParaRPr lang="en-US" dirty="0">
              <a:solidFill>
                <a:schemeClr val="tx2"/>
              </a:solidFill>
              <a:latin typeface="Arial Unicode MS" pitchFamily="34" charset="-128"/>
            </a:endParaRPr>
          </a:p>
        </p:txBody>
      </p:sp>
      <p:sp>
        <p:nvSpPr>
          <p:cNvPr id="5" name="Rectangle 6"/>
          <p:cNvSpPr txBox="1">
            <a:spLocks noChangeArrowheads="1"/>
          </p:cNvSpPr>
          <p:nvPr/>
        </p:nvSpPr>
        <p:spPr>
          <a:xfrm>
            <a:off x="5486400" y="2633868"/>
            <a:ext cx="4495800" cy="2971800"/>
          </a:xfrm>
          <a:prstGeom prst="rect">
            <a:avLst/>
          </a:prstGeom>
          <a:noFill/>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ormAutofit/>
          </a:bodyPr>
          <a:lst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a:lstStyle>
          <a:p>
            <a:pPr>
              <a:buSzPct val="60000"/>
              <a:buFont typeface="Wingdings" panose="05000000000000000000" pitchFamily="2" charset="2"/>
              <a:buChar char="l"/>
            </a:pPr>
            <a:r>
              <a:rPr lang="en-US" dirty="0" smtClean="0">
                <a:solidFill>
                  <a:schemeClr val="tx2"/>
                </a:solidFill>
                <a:latin typeface="Arial Unicode MS" pitchFamily="34" charset="-128"/>
              </a:rPr>
              <a:t>Usage Rate</a:t>
            </a:r>
          </a:p>
          <a:p>
            <a:pPr>
              <a:buSzPct val="60000"/>
              <a:buFont typeface="Wingdings" panose="05000000000000000000" pitchFamily="2" charset="2"/>
              <a:buChar char="l"/>
            </a:pPr>
            <a:r>
              <a:rPr lang="en-US" dirty="0" smtClean="0">
                <a:solidFill>
                  <a:schemeClr val="tx2"/>
                </a:solidFill>
                <a:latin typeface="Arial Unicode MS" pitchFamily="34" charset="-128"/>
              </a:rPr>
              <a:t>Loyalty Status</a:t>
            </a:r>
          </a:p>
          <a:p>
            <a:pPr>
              <a:buSzPct val="60000"/>
              <a:buFont typeface="Wingdings" panose="05000000000000000000" pitchFamily="2" charset="2"/>
              <a:buChar char="l"/>
            </a:pPr>
            <a:r>
              <a:rPr lang="en-US" dirty="0" smtClean="0">
                <a:solidFill>
                  <a:schemeClr val="tx2"/>
                </a:solidFill>
                <a:latin typeface="Arial Unicode MS" pitchFamily="34" charset="-128"/>
              </a:rPr>
              <a:t>Readiness Stage</a:t>
            </a:r>
            <a:endParaRPr lang="en-US" dirty="0">
              <a:solidFill>
                <a:schemeClr val="tx2"/>
              </a:solidFill>
              <a:latin typeface="Arial Unicode MS" pitchFamily="34" charset="-128"/>
            </a:endParaRPr>
          </a:p>
        </p:txBody>
      </p:sp>
    </p:spTree>
    <p:extLst>
      <p:ext uri="{BB962C8B-B14F-4D97-AF65-F5344CB8AC3E}">
        <p14:creationId xmlns:p14="http://schemas.microsoft.com/office/powerpoint/2010/main" val="355332155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Segmentation</a:t>
            </a:r>
          </a:p>
        </p:txBody>
      </p:sp>
      <p:sp>
        <p:nvSpPr>
          <p:cNvPr id="3" name="Content Placeholder 2"/>
          <p:cNvSpPr>
            <a:spLocks noGrp="1"/>
          </p:cNvSpPr>
          <p:nvPr>
            <p:ph idx="1"/>
          </p:nvPr>
        </p:nvSpPr>
        <p:spPr/>
        <p:txBody>
          <a:bodyPr/>
          <a:lstStyle/>
          <a:p>
            <a:r>
              <a:rPr lang="en-US" dirty="0">
                <a:latin typeface="Calibri" panose="020F0502020204030204" charset="0"/>
                <a:cs typeface="Calibri" panose="020F0502020204030204" charset="0"/>
              </a:rPr>
              <a:t>To be useful, market segments must be:</a:t>
            </a:r>
          </a:p>
          <a:p>
            <a:endParaRPr lang="en-US" dirty="0">
              <a:latin typeface="Calibri" panose="020F0502020204030204" charset="0"/>
              <a:cs typeface="Calibri" panose="020F0502020204030204" charset="0"/>
            </a:endParaRPr>
          </a:p>
          <a:p>
            <a:endParaRPr lang="en-US" dirty="0"/>
          </a:p>
        </p:txBody>
      </p:sp>
      <p:sp>
        <p:nvSpPr>
          <p:cNvPr id="4" name="Rectangle 3"/>
          <p:cNvSpPr txBox="1">
            <a:spLocks noChangeArrowheads="1"/>
          </p:cNvSpPr>
          <p:nvPr/>
        </p:nvSpPr>
        <p:spPr>
          <a:xfrm>
            <a:off x="1510747" y="1938131"/>
            <a:ext cx="9144000" cy="457200"/>
          </a:xfrm>
          <a:prstGeom prst="rect">
            <a:avLst/>
          </a:prstGeom>
        </p:spPr>
        <p:txBody>
          <a:bodyPr>
            <a:normAutofit fontScale="925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ctr">
              <a:buNone/>
            </a:pPr>
            <a:r>
              <a:rPr lang="en-US" dirty="0" smtClean="0">
                <a:latin typeface="Calibri" panose="020F0502020204030204" charset="0"/>
                <a:cs typeface="Calibri" panose="020F0502020204030204" charset="0"/>
              </a:rPr>
              <a:t>Requirements for Effective Segmentation</a:t>
            </a:r>
          </a:p>
          <a:p>
            <a:pPr algn="ctr"/>
            <a:endParaRPr lang="en-US" dirty="0" smtClean="0">
              <a:latin typeface="Calibri" panose="020F0502020204030204" charset="0"/>
              <a:cs typeface="Calibri" panose="020F0502020204030204" charset="0"/>
            </a:endParaRPr>
          </a:p>
        </p:txBody>
      </p:sp>
      <p:graphicFrame>
        <p:nvGraphicFramePr>
          <p:cNvPr id="5" name="Diagram 4"/>
          <p:cNvGraphicFramePr/>
          <p:nvPr>
            <p:extLst>
              <p:ext uri="{D42A27DB-BD31-4B8C-83A1-F6EECF244321}">
                <p14:modId xmlns:p14="http://schemas.microsoft.com/office/powerpoint/2010/main" val="3599162460"/>
              </p:ext>
            </p:extLst>
          </p:nvPr>
        </p:nvGraphicFramePr>
        <p:xfrm>
          <a:off x="2882351" y="2965174"/>
          <a:ext cx="6698974" cy="35534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12059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Arial Unicode MS" pitchFamily="34" charset="-128"/>
              </a:rPr>
              <a:t>Steps in the Target Marketing Process</a:t>
            </a:r>
            <a:endParaRPr lang="en-US" dirty="0"/>
          </a:p>
        </p:txBody>
      </p:sp>
      <p:sp>
        <p:nvSpPr>
          <p:cNvPr id="3" name="Content Placeholder 2"/>
          <p:cNvSpPr>
            <a:spLocks noGrp="1"/>
          </p:cNvSpPr>
          <p:nvPr>
            <p:ph idx="1"/>
          </p:nvPr>
        </p:nvSpPr>
        <p:spPr/>
        <p:txBody>
          <a:bodyPr/>
          <a:lstStyle/>
          <a:p>
            <a:pPr>
              <a:spcBef>
                <a:spcPct val="80000"/>
              </a:spcBef>
              <a:buFontTx/>
              <a:buChar char="•"/>
            </a:pPr>
            <a:r>
              <a:rPr lang="en-US" dirty="0">
                <a:latin typeface="Arial Unicode MS" pitchFamily="34" charset="-128"/>
                <a:cs typeface="Arial" panose="020B0604020202020204" pitchFamily="34" charset="0"/>
              </a:rPr>
              <a:t>Evaluating Market Segments</a:t>
            </a:r>
          </a:p>
          <a:p>
            <a:pPr>
              <a:spcBef>
                <a:spcPct val="80000"/>
              </a:spcBef>
              <a:buFontTx/>
              <a:buChar char="•"/>
            </a:pPr>
            <a:r>
              <a:rPr lang="en-US" dirty="0">
                <a:latin typeface="Arial Unicode MS" pitchFamily="34" charset="-128"/>
                <a:cs typeface="Arial" panose="020B0604020202020204" pitchFamily="34" charset="0"/>
              </a:rPr>
              <a:t>Selecting Target Market Segments</a:t>
            </a:r>
          </a:p>
          <a:p>
            <a:endParaRPr lang="en-US" dirty="0"/>
          </a:p>
        </p:txBody>
      </p:sp>
    </p:spTree>
    <p:extLst>
      <p:ext uri="{BB962C8B-B14F-4D97-AF65-F5344CB8AC3E}">
        <p14:creationId xmlns:p14="http://schemas.microsoft.com/office/powerpoint/2010/main" val="420642390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Evaluating Market Segments</a:t>
            </a:r>
            <a:endParaRPr lang="en-US" dirty="0"/>
          </a:p>
        </p:txBody>
      </p:sp>
      <p:sp>
        <p:nvSpPr>
          <p:cNvPr id="3" name="Content Placeholder 2"/>
          <p:cNvSpPr>
            <a:spLocks noGrp="1"/>
          </p:cNvSpPr>
          <p:nvPr>
            <p:ph idx="1"/>
          </p:nvPr>
        </p:nvSpPr>
        <p:spPr/>
        <p:txBody>
          <a:bodyPr>
            <a:normAutofit fontScale="77500" lnSpcReduction="20000"/>
          </a:bodyPr>
          <a:lstStyle/>
          <a:p>
            <a:pPr>
              <a:lnSpc>
                <a:spcPct val="90000"/>
              </a:lnSpc>
              <a:buClr>
                <a:srgbClr val="FAFD00"/>
              </a:buClr>
              <a:buNone/>
            </a:pPr>
            <a:r>
              <a:rPr lang="en-US" b="1" dirty="0">
                <a:latin typeface="Arial Unicode MS" pitchFamily="34" charset="-128"/>
                <a:cs typeface="Arial" panose="020B0604020202020204" pitchFamily="34" charset="0"/>
              </a:rPr>
              <a:t>Segment Size and Growth</a:t>
            </a:r>
          </a:p>
          <a:p>
            <a:pPr marL="685800" lvl="1" indent="-228600">
              <a:lnSpc>
                <a:spcPct val="90000"/>
              </a:lnSpc>
            </a:pPr>
            <a:r>
              <a:rPr lang="en-US" sz="2400" dirty="0">
                <a:latin typeface="Arial Unicode MS" pitchFamily="34" charset="-128"/>
                <a:cs typeface="Arial" panose="020B0604020202020204" pitchFamily="34" charset="0"/>
              </a:rPr>
              <a:t>(Collect data and )Analyze </a:t>
            </a:r>
            <a:r>
              <a:rPr lang="en-US" sz="2400" dirty="0">
                <a:solidFill>
                  <a:srgbClr val="FF0000"/>
                </a:solidFill>
                <a:latin typeface="Arial Unicode MS" pitchFamily="34" charset="-128"/>
                <a:cs typeface="Arial" panose="020B0604020202020204" pitchFamily="34" charset="0"/>
              </a:rPr>
              <a:t>sales</a:t>
            </a:r>
            <a:r>
              <a:rPr lang="en-US" sz="2400" dirty="0">
                <a:latin typeface="Arial Unicode MS" pitchFamily="34" charset="-128"/>
                <a:cs typeface="Arial" panose="020B0604020202020204" pitchFamily="34" charset="0"/>
              </a:rPr>
              <a:t>, </a:t>
            </a:r>
            <a:r>
              <a:rPr lang="en-US" sz="2400" dirty="0">
                <a:solidFill>
                  <a:srgbClr val="FF0000"/>
                </a:solidFill>
                <a:latin typeface="Arial Unicode MS" pitchFamily="34" charset="-128"/>
                <a:cs typeface="Arial" panose="020B0604020202020204" pitchFamily="34" charset="0"/>
              </a:rPr>
              <a:t>growth rates </a:t>
            </a:r>
            <a:r>
              <a:rPr lang="en-US" sz="2400" dirty="0">
                <a:latin typeface="Arial Unicode MS" pitchFamily="34" charset="-128"/>
                <a:cs typeface="Arial" panose="020B0604020202020204" pitchFamily="34" charset="0"/>
              </a:rPr>
              <a:t>and </a:t>
            </a:r>
            <a:r>
              <a:rPr lang="en-US" sz="2400" dirty="0">
                <a:solidFill>
                  <a:srgbClr val="FF0000"/>
                </a:solidFill>
                <a:latin typeface="Arial Unicode MS" pitchFamily="34" charset="-128"/>
                <a:cs typeface="Arial" panose="020B0604020202020204" pitchFamily="34" charset="0"/>
              </a:rPr>
              <a:t>expected profitability</a:t>
            </a:r>
            <a:r>
              <a:rPr lang="en-US" sz="2400" dirty="0">
                <a:latin typeface="Arial Unicode MS" pitchFamily="34" charset="-128"/>
                <a:cs typeface="Arial" panose="020B0604020202020204" pitchFamily="34" charset="0"/>
              </a:rPr>
              <a:t>.</a:t>
            </a:r>
          </a:p>
          <a:p>
            <a:pPr marL="685800" lvl="1" indent="-228600">
              <a:lnSpc>
                <a:spcPct val="90000"/>
              </a:lnSpc>
              <a:buClr>
                <a:srgbClr val="FAFD00"/>
              </a:buClr>
              <a:buFontTx/>
              <a:buChar char=" "/>
            </a:pPr>
            <a:endParaRPr lang="en-US" sz="2400" b="1" dirty="0">
              <a:latin typeface="Arial Unicode MS" pitchFamily="34" charset="-128"/>
              <a:cs typeface="Arial" panose="020B0604020202020204" pitchFamily="34" charset="0"/>
            </a:endParaRPr>
          </a:p>
          <a:p>
            <a:pPr>
              <a:lnSpc>
                <a:spcPct val="90000"/>
              </a:lnSpc>
              <a:buClr>
                <a:srgbClr val="FAFD00"/>
              </a:buClr>
              <a:buNone/>
            </a:pPr>
            <a:r>
              <a:rPr lang="en-US" b="1" dirty="0">
                <a:latin typeface="Arial Unicode MS" pitchFamily="34" charset="-128"/>
                <a:cs typeface="Arial" panose="020B0604020202020204" pitchFamily="34" charset="0"/>
              </a:rPr>
              <a:t>Segment Structural Attractiveness</a:t>
            </a:r>
          </a:p>
          <a:p>
            <a:pPr marL="685800" lvl="1" indent="-228600">
              <a:lnSpc>
                <a:spcPct val="90000"/>
              </a:lnSpc>
            </a:pPr>
            <a:r>
              <a:rPr lang="en-US" sz="2400" dirty="0">
                <a:latin typeface="Arial Unicode MS" pitchFamily="34" charset="-128"/>
                <a:cs typeface="Arial" panose="020B0604020202020204" pitchFamily="34" charset="0"/>
              </a:rPr>
              <a:t>Consider effects of:  </a:t>
            </a:r>
            <a:r>
              <a:rPr lang="en-US" sz="2400" dirty="0">
                <a:solidFill>
                  <a:srgbClr val="FF0000"/>
                </a:solidFill>
                <a:latin typeface="Arial Unicode MS" pitchFamily="34" charset="-128"/>
                <a:cs typeface="Arial" panose="020B0604020202020204" pitchFamily="34" charset="0"/>
              </a:rPr>
              <a:t>Competitors</a:t>
            </a:r>
            <a:r>
              <a:rPr lang="en-US" sz="2400" dirty="0">
                <a:latin typeface="Arial Unicode MS" pitchFamily="34" charset="-128"/>
                <a:cs typeface="Arial" panose="020B0604020202020204" pitchFamily="34" charset="0"/>
              </a:rPr>
              <a:t>, </a:t>
            </a:r>
            <a:r>
              <a:rPr lang="en-US" sz="2400" dirty="0">
                <a:solidFill>
                  <a:srgbClr val="FF0000"/>
                </a:solidFill>
                <a:latin typeface="Arial Unicode MS" pitchFamily="34" charset="-128"/>
                <a:cs typeface="Arial" panose="020B0604020202020204" pitchFamily="34" charset="0"/>
              </a:rPr>
              <a:t>Availability of Substitute Products</a:t>
            </a:r>
            <a:r>
              <a:rPr lang="en-US" sz="2400" dirty="0">
                <a:latin typeface="Arial Unicode MS" pitchFamily="34" charset="-128"/>
                <a:cs typeface="Arial" panose="020B0604020202020204" pitchFamily="34" charset="0"/>
              </a:rPr>
              <a:t> and, the </a:t>
            </a:r>
            <a:r>
              <a:rPr lang="en-US" sz="2400" dirty="0">
                <a:solidFill>
                  <a:srgbClr val="FF0000"/>
                </a:solidFill>
                <a:latin typeface="Arial Unicode MS" pitchFamily="34" charset="-128"/>
                <a:cs typeface="Arial" panose="020B0604020202020204" pitchFamily="34" charset="0"/>
              </a:rPr>
              <a:t>Power of Buyers &amp; Suppliers</a:t>
            </a:r>
            <a:r>
              <a:rPr lang="en-US" sz="2400" dirty="0">
                <a:latin typeface="Arial Unicode MS" pitchFamily="34" charset="-128"/>
                <a:cs typeface="Arial" panose="020B0604020202020204" pitchFamily="34" charset="0"/>
              </a:rPr>
              <a:t>.</a:t>
            </a:r>
          </a:p>
          <a:p>
            <a:pPr marL="685800" lvl="1" indent="-228600">
              <a:lnSpc>
                <a:spcPct val="90000"/>
              </a:lnSpc>
              <a:buClr>
                <a:srgbClr val="FAFD00"/>
              </a:buClr>
              <a:buFontTx/>
              <a:buChar char=" "/>
            </a:pPr>
            <a:endParaRPr lang="en-US" sz="2400" dirty="0">
              <a:latin typeface="Arial Unicode MS" pitchFamily="34" charset="-128"/>
              <a:cs typeface="Arial" panose="020B0604020202020204" pitchFamily="34" charset="0"/>
            </a:endParaRPr>
          </a:p>
          <a:p>
            <a:pPr>
              <a:lnSpc>
                <a:spcPct val="90000"/>
              </a:lnSpc>
              <a:buClr>
                <a:srgbClr val="FAFD00"/>
              </a:buClr>
              <a:buNone/>
            </a:pPr>
            <a:r>
              <a:rPr lang="en-US" b="1" dirty="0">
                <a:latin typeface="Arial Unicode MS" pitchFamily="34" charset="-128"/>
                <a:cs typeface="Arial" panose="020B0604020202020204" pitchFamily="34" charset="0"/>
              </a:rPr>
              <a:t>Company Objectives and Resources</a:t>
            </a:r>
          </a:p>
          <a:p>
            <a:pPr marL="800100" lvl="1" indent="-342900">
              <a:lnSpc>
                <a:spcPct val="90000"/>
              </a:lnSpc>
            </a:pPr>
            <a:r>
              <a:rPr lang="en-US" sz="2400" dirty="0">
                <a:solidFill>
                  <a:srgbClr val="FF0000"/>
                </a:solidFill>
                <a:latin typeface="Arial Unicode MS" pitchFamily="34" charset="-128"/>
                <a:cs typeface="Arial" panose="020B0604020202020204" pitchFamily="34" charset="0"/>
              </a:rPr>
              <a:t>Company skills &amp; resources</a:t>
            </a:r>
            <a:r>
              <a:rPr lang="en-US" sz="2400" dirty="0">
                <a:latin typeface="Arial Unicode MS" pitchFamily="34" charset="-128"/>
                <a:cs typeface="Arial" panose="020B0604020202020204" pitchFamily="34" charset="0"/>
              </a:rPr>
              <a:t> relative to the segment (s).</a:t>
            </a:r>
          </a:p>
          <a:p>
            <a:pPr marL="800100" lvl="1" indent="-342900">
              <a:lnSpc>
                <a:spcPct val="90000"/>
              </a:lnSpc>
            </a:pPr>
            <a:r>
              <a:rPr lang="en-US" sz="2400" dirty="0">
                <a:latin typeface="Arial Unicode MS" pitchFamily="34" charset="-128"/>
                <a:cs typeface="Arial" panose="020B0604020202020204" pitchFamily="34" charset="0"/>
              </a:rPr>
              <a:t>Look for </a:t>
            </a:r>
            <a:r>
              <a:rPr lang="en-US" sz="2400" dirty="0">
                <a:solidFill>
                  <a:srgbClr val="FF0000"/>
                </a:solidFill>
                <a:latin typeface="Arial Unicode MS" pitchFamily="34" charset="-128"/>
                <a:cs typeface="Arial" panose="020B0604020202020204" pitchFamily="34" charset="0"/>
              </a:rPr>
              <a:t>Competitive Advantages</a:t>
            </a:r>
            <a:r>
              <a:rPr lang="en-US" sz="2400" dirty="0">
                <a:latin typeface="Arial Unicode MS" pitchFamily="34" charset="-128"/>
                <a:cs typeface="Arial" panose="020B0604020202020204" pitchFamily="34" charset="0"/>
              </a:rPr>
              <a:t>.</a:t>
            </a:r>
          </a:p>
          <a:p>
            <a:endParaRPr lang="en-US" dirty="0"/>
          </a:p>
        </p:txBody>
      </p:sp>
    </p:spTree>
    <p:extLst>
      <p:ext uri="{BB962C8B-B14F-4D97-AF65-F5344CB8AC3E}">
        <p14:creationId xmlns:p14="http://schemas.microsoft.com/office/powerpoint/2010/main" val="40117348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3548" y="655982"/>
            <a:ext cx="9939130" cy="5585791"/>
          </a:xfrm>
          <a:prstGeom prst="rect">
            <a:avLst/>
          </a:prstGeom>
        </p:spPr>
      </p:pic>
    </p:spTree>
    <p:extLst>
      <p:ext uri="{BB962C8B-B14F-4D97-AF65-F5344CB8AC3E}">
        <p14:creationId xmlns:p14="http://schemas.microsoft.com/office/powerpoint/2010/main" val="325218587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Target Marketing Strategies</a:t>
            </a:r>
            <a:endParaRPr 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67948" y="3306763"/>
            <a:ext cx="8305018" cy="2040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996728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7" name="AutoShape 9"/>
          <p:cNvSpPr>
            <a:spLocks noChangeArrowheads="1"/>
          </p:cNvSpPr>
          <p:nvPr/>
        </p:nvSpPr>
        <p:spPr bwMode="auto">
          <a:xfrm rot="5400000">
            <a:off x="2845594" y="1438167"/>
            <a:ext cx="1166813" cy="3352800"/>
          </a:xfrm>
          <a:prstGeom prst="cube">
            <a:avLst>
              <a:gd name="adj" fmla="val 10366"/>
            </a:avLst>
          </a:prstGeom>
          <a:solidFill>
            <a:schemeClr val="accent2"/>
          </a:solidFill>
          <a:ln w="12700">
            <a:solidFill>
              <a:schemeClr val="tx1"/>
            </a:solidFill>
            <a:miter lim="800000"/>
          </a:ln>
          <a:effectLst>
            <a:outerShdw dist="107763" dir="2700000" algn="ctr" rotWithShape="0">
              <a:schemeClr val="bg2"/>
            </a:outerShdw>
          </a:effectLst>
        </p:spPr>
        <p:txBody>
          <a:bodyPr rot="10800000" vert="eaVert" wrap="none" lIns="81204" tIns="39889" rIns="81204" bIns="39889" anchor="ctr"/>
          <a:lstStyle/>
          <a:p>
            <a:pPr algn="ctr" defTabSz="821055">
              <a:lnSpc>
                <a:spcPct val="90000"/>
              </a:lnSpc>
            </a:pPr>
            <a:r>
              <a:rPr lang="en-US" sz="2800" b="1" dirty="0">
                <a:latin typeface="Arial" panose="020B0604020202020204" pitchFamily="34" charset="0"/>
              </a:rPr>
              <a:t>Company</a:t>
            </a:r>
          </a:p>
          <a:p>
            <a:pPr algn="ctr" defTabSz="821055">
              <a:lnSpc>
                <a:spcPct val="90000"/>
              </a:lnSpc>
            </a:pPr>
            <a:r>
              <a:rPr lang="en-US" sz="2800" b="1" dirty="0">
                <a:latin typeface="Arial" panose="020B0604020202020204" pitchFamily="34" charset="0"/>
              </a:rPr>
              <a:t>Marketing Mix</a:t>
            </a:r>
          </a:p>
        </p:txBody>
      </p:sp>
      <p:sp>
        <p:nvSpPr>
          <p:cNvPr id="800782" name="AutoShape 14"/>
          <p:cNvSpPr>
            <a:spLocks noChangeArrowheads="1"/>
          </p:cNvSpPr>
          <p:nvPr/>
        </p:nvSpPr>
        <p:spPr bwMode="auto">
          <a:xfrm rot="5400000">
            <a:off x="8281195" y="1592155"/>
            <a:ext cx="1184275" cy="3132137"/>
          </a:xfrm>
          <a:prstGeom prst="cube">
            <a:avLst>
              <a:gd name="adj" fmla="val 10366"/>
            </a:avLst>
          </a:prstGeom>
          <a:solidFill>
            <a:schemeClr val="accent2"/>
          </a:solidFill>
          <a:ln w="12700">
            <a:solidFill>
              <a:schemeClr val="tx1"/>
            </a:solidFill>
            <a:miter lim="800000"/>
          </a:ln>
          <a:effectLst>
            <a:outerShdw dist="107763" dir="2700000" algn="ctr" rotWithShape="0">
              <a:schemeClr val="bg2"/>
            </a:outerShdw>
          </a:effectLst>
        </p:spPr>
        <p:txBody>
          <a:bodyPr rot="10800000" vert="eaVert" wrap="none" lIns="81204" tIns="39889" rIns="81204" bIns="39889" anchor="ctr"/>
          <a:lstStyle/>
          <a:p>
            <a:pPr algn="ctr" defTabSz="821055">
              <a:lnSpc>
                <a:spcPct val="90000"/>
              </a:lnSpc>
            </a:pPr>
            <a:r>
              <a:rPr lang="en-US" sz="2800" b="1" dirty="0">
                <a:latin typeface="Arial" panose="020B0604020202020204" pitchFamily="34" charset="0"/>
              </a:rPr>
              <a:t>Market</a:t>
            </a:r>
          </a:p>
        </p:txBody>
      </p:sp>
      <p:sp>
        <p:nvSpPr>
          <p:cNvPr id="800783" name="Line 15"/>
          <p:cNvSpPr>
            <a:spLocks noChangeShapeType="1"/>
          </p:cNvSpPr>
          <p:nvPr/>
        </p:nvSpPr>
        <p:spPr bwMode="auto">
          <a:xfrm>
            <a:off x="5318126" y="3097138"/>
            <a:ext cx="1844675" cy="0"/>
          </a:xfrm>
          <a:prstGeom prst="line">
            <a:avLst/>
          </a:prstGeom>
          <a:noFill/>
          <a:ln w="76200">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00788" name="Rectangle 20"/>
          <p:cNvSpPr>
            <a:spLocks noChangeArrowheads="1"/>
          </p:cNvSpPr>
          <p:nvPr/>
        </p:nvSpPr>
        <p:spPr bwMode="auto">
          <a:xfrm>
            <a:off x="2057400" y="3886200"/>
            <a:ext cx="8001000" cy="179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1204" tIns="39889" rIns="81204" bIns="39889">
            <a:spAutoFit/>
          </a:bodyPr>
          <a:lstStyle/>
          <a:p>
            <a:pPr marL="742950" indent="-742950" defTabSz="821055">
              <a:lnSpc>
                <a:spcPct val="90000"/>
              </a:lnSpc>
              <a:buAutoNum type="alphaUcPeriod"/>
            </a:pPr>
            <a:r>
              <a:rPr lang="en-US" sz="2800" b="1" dirty="0">
                <a:latin typeface="Arial" panose="020B0604020202020204" pitchFamily="34" charset="0"/>
                <a:cs typeface="Arial" panose="020B0604020202020204" pitchFamily="34" charset="0"/>
              </a:rPr>
              <a:t>Undifferentiated Marketing</a:t>
            </a:r>
          </a:p>
          <a:p>
            <a:pPr marL="1257300" lvl="2" indent="-342900" defTabSz="821055">
              <a:lnSpc>
                <a:spcPct val="90000"/>
              </a:lnSpc>
              <a:buFont typeface="Wingdings" panose="05000000000000000000" pitchFamily="2" charset="2"/>
              <a:buChar char="ü"/>
            </a:pPr>
            <a:r>
              <a:rPr lang="en-US" sz="2400" dirty="0">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targets </a:t>
            </a:r>
            <a:r>
              <a:rPr lang="en-US" sz="2400" dirty="0">
                <a:latin typeface="Arial" panose="020B0604020202020204" pitchFamily="34" charset="0"/>
                <a:cs typeface="Arial" panose="020B0604020202020204" pitchFamily="34" charset="0"/>
              </a:rPr>
              <a:t>the </a:t>
            </a:r>
            <a:r>
              <a:rPr lang="en-US" sz="2400" u="sng" dirty="0">
                <a:solidFill>
                  <a:srgbClr val="C00000"/>
                </a:solidFill>
                <a:latin typeface="Arial" panose="020B0604020202020204" pitchFamily="34" charset="0"/>
                <a:cs typeface="Arial" panose="020B0604020202020204" pitchFamily="34" charset="0"/>
              </a:rPr>
              <a:t>whole market</a:t>
            </a:r>
            <a:r>
              <a:rPr lang="en-US" sz="2400" dirty="0">
                <a:latin typeface="Arial" panose="020B0604020202020204" pitchFamily="34" charset="0"/>
                <a:cs typeface="Arial" panose="020B0604020202020204" pitchFamily="34" charset="0"/>
              </a:rPr>
              <a:t> with </a:t>
            </a:r>
            <a:r>
              <a:rPr lang="en-US" sz="2400" dirty="0">
                <a:solidFill>
                  <a:srgbClr val="FF0000"/>
                </a:solidFill>
                <a:latin typeface="Arial" panose="020B0604020202020204" pitchFamily="34" charset="0"/>
                <a:cs typeface="Arial" panose="020B0604020202020204" pitchFamily="34" charset="0"/>
              </a:rPr>
              <a:t>one offer</a:t>
            </a:r>
            <a:r>
              <a:rPr lang="en-US" sz="2400" dirty="0">
                <a:latin typeface="Arial" panose="020B0604020202020204" pitchFamily="34" charset="0"/>
                <a:cs typeface="Arial" panose="020B0604020202020204" pitchFamily="34" charset="0"/>
              </a:rPr>
              <a:t>.</a:t>
            </a:r>
          </a:p>
          <a:p>
            <a:pPr marL="1257300" lvl="2" indent="-342900" defTabSz="821055">
              <a:lnSpc>
                <a:spcPct val="90000"/>
              </a:lnSpc>
              <a:buFont typeface="Wingdings" panose="05000000000000000000" pitchFamily="2" charset="2"/>
              <a:buChar char="ü"/>
            </a:pPr>
            <a:r>
              <a:rPr lang="en-US" sz="2400" dirty="0">
                <a:latin typeface="Arial" panose="020B0604020202020204" pitchFamily="34" charset="0"/>
                <a:cs typeface="Arial" panose="020B0604020202020204" pitchFamily="34" charset="0"/>
              </a:rPr>
              <a:t>mass marketing</a:t>
            </a:r>
          </a:p>
          <a:p>
            <a:pPr marL="1257300" lvl="2" indent="-342900" defTabSz="821055">
              <a:lnSpc>
                <a:spcPct val="90000"/>
              </a:lnSpc>
              <a:buFont typeface="Wingdings" panose="05000000000000000000" pitchFamily="2" charset="2"/>
              <a:buChar char="ü"/>
            </a:pPr>
            <a:r>
              <a:rPr lang="en-US" sz="2400" dirty="0">
                <a:latin typeface="Arial" panose="020B0604020202020204" pitchFamily="34" charset="0"/>
                <a:cs typeface="Arial" panose="020B0604020202020204" pitchFamily="34" charset="0"/>
              </a:rPr>
              <a:t> </a:t>
            </a:r>
            <a:r>
              <a:rPr lang="en-US" sz="2400" dirty="0">
                <a:solidFill>
                  <a:srgbClr val="C00000"/>
                </a:solidFill>
                <a:latin typeface="Arial" panose="020B0604020202020204" pitchFamily="34" charset="0"/>
                <a:cs typeface="Arial" panose="020B0604020202020204" pitchFamily="34" charset="0"/>
              </a:rPr>
              <a:t>Focuses </a:t>
            </a:r>
            <a:r>
              <a:rPr lang="en-US" sz="2400" dirty="0">
                <a:latin typeface="Arial" panose="020B0604020202020204" pitchFamily="34" charset="0"/>
                <a:cs typeface="Arial" panose="020B0604020202020204" pitchFamily="34" charset="0"/>
              </a:rPr>
              <a:t>on </a:t>
            </a:r>
            <a:r>
              <a:rPr lang="en-US" sz="2400" u="sng" dirty="0">
                <a:solidFill>
                  <a:srgbClr val="FF0000"/>
                </a:solidFill>
                <a:latin typeface="Arial" panose="020B0604020202020204" pitchFamily="34" charset="0"/>
                <a:cs typeface="Arial" panose="020B0604020202020204" pitchFamily="34" charset="0"/>
              </a:rPr>
              <a:t>common needs</a:t>
            </a:r>
            <a:r>
              <a:rPr lang="en-US" sz="2400" dirty="0">
                <a:latin typeface="Arial" panose="020B0604020202020204" pitchFamily="34" charset="0"/>
                <a:cs typeface="Arial" panose="020B0604020202020204" pitchFamily="34" charset="0"/>
              </a:rPr>
              <a:t> rather than what’s different.</a:t>
            </a:r>
          </a:p>
        </p:txBody>
      </p:sp>
      <p:sp>
        <p:nvSpPr>
          <p:cNvPr id="800791" name="Rectangle 23"/>
          <p:cNvSpPr>
            <a:spLocks noChangeArrowheads="1"/>
          </p:cNvSpPr>
          <p:nvPr/>
        </p:nvSpPr>
        <p:spPr bwMode="auto">
          <a:xfrm>
            <a:off x="2514600" y="317500"/>
            <a:ext cx="6781800"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1" hangingPunct="1"/>
            <a:r>
              <a:rPr lang="en-US" sz="3600" b="1" dirty="0">
                <a:solidFill>
                  <a:schemeClr val="tx2"/>
                </a:solidFill>
                <a:effectLst>
                  <a:outerShdw blurRad="38100" dist="38100" dir="2700000" algn="tl">
                    <a:srgbClr val="000000"/>
                  </a:outerShdw>
                </a:effectLst>
                <a:latin typeface="Arial" panose="020B0604020202020204" pitchFamily="34" charset="0"/>
                <a:cs typeface="Arial" panose="020B0604020202020204" pitchFamily="34" charset="0"/>
              </a:rPr>
              <a:t>Market Coverage Strategies</a:t>
            </a:r>
          </a:p>
        </p:txBody>
      </p:sp>
    </p:spTree>
    <p:extLst>
      <p:ext uri="{BB962C8B-B14F-4D97-AF65-F5344CB8AC3E}">
        <p14:creationId xmlns:p14="http://schemas.microsoft.com/office/powerpoint/2010/main" val="340229549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
          <p:cNvSpPr>
            <a:spLocks noChangeArrowheads="1"/>
          </p:cNvSpPr>
          <p:nvPr/>
        </p:nvSpPr>
        <p:spPr bwMode="auto">
          <a:xfrm rot="5400000">
            <a:off x="7967662" y="-56868"/>
            <a:ext cx="1066800" cy="3114675"/>
          </a:xfrm>
          <a:prstGeom prst="cube">
            <a:avLst>
              <a:gd name="adj" fmla="val 16056"/>
            </a:avLst>
          </a:prstGeom>
          <a:solidFill>
            <a:srgbClr val="0070C0"/>
          </a:solidFill>
          <a:ln w="12700">
            <a:solidFill>
              <a:srgbClr val="000000"/>
            </a:solidFill>
            <a:miter lim="800000"/>
          </a:ln>
          <a:effectLst>
            <a:outerShdw dist="89803" dir="2700000" algn="ctr" rotWithShape="0">
              <a:schemeClr val="bg2"/>
            </a:outerShdw>
          </a:effectLst>
        </p:spPr>
        <p:txBody>
          <a:bodyPr rot="10800000" vert="eaVert" wrap="none" lIns="78354" tIns="39889" rIns="78354" bIns="39889" anchor="ctr"/>
          <a:lstStyle/>
          <a:p>
            <a:pPr algn="ctr" defTabSz="770255"/>
            <a:r>
              <a:rPr lang="en-US" sz="2800" b="1" dirty="0">
                <a:latin typeface="Arial" panose="020B0604020202020204" pitchFamily="34" charset="0"/>
              </a:rPr>
              <a:t>Segment 1</a:t>
            </a:r>
          </a:p>
        </p:txBody>
      </p:sp>
      <p:sp>
        <p:nvSpPr>
          <p:cNvPr id="9" name="AutoShape 5"/>
          <p:cNvSpPr>
            <a:spLocks noChangeArrowheads="1"/>
          </p:cNvSpPr>
          <p:nvPr/>
        </p:nvSpPr>
        <p:spPr bwMode="auto">
          <a:xfrm rot="5400000">
            <a:off x="7962899" y="1005170"/>
            <a:ext cx="1066800" cy="3124200"/>
          </a:xfrm>
          <a:prstGeom prst="cube">
            <a:avLst>
              <a:gd name="adj" fmla="val 16056"/>
            </a:avLst>
          </a:prstGeom>
          <a:solidFill>
            <a:srgbClr val="7030A0"/>
          </a:solidFill>
          <a:ln w="12700">
            <a:solidFill>
              <a:srgbClr val="000000"/>
            </a:solidFill>
            <a:miter lim="800000"/>
          </a:ln>
          <a:effectLst>
            <a:outerShdw dist="89803" dir="2700000" algn="ctr" rotWithShape="0">
              <a:schemeClr val="bg2"/>
            </a:outerShdw>
          </a:effectLst>
        </p:spPr>
        <p:txBody>
          <a:bodyPr rot="10800000" vert="eaVert" wrap="none" lIns="78354" tIns="39889" rIns="78354" bIns="39889" anchor="ctr"/>
          <a:lstStyle/>
          <a:p>
            <a:pPr algn="ctr" defTabSz="770255"/>
            <a:r>
              <a:rPr lang="en-US" sz="2800" b="1">
                <a:latin typeface="Arial" panose="020B0604020202020204" pitchFamily="34" charset="0"/>
              </a:rPr>
              <a:t>Segment 2</a:t>
            </a:r>
          </a:p>
        </p:txBody>
      </p:sp>
      <p:sp>
        <p:nvSpPr>
          <p:cNvPr id="10" name="AutoShape 6"/>
          <p:cNvSpPr>
            <a:spLocks noChangeArrowheads="1"/>
          </p:cNvSpPr>
          <p:nvPr/>
        </p:nvSpPr>
        <p:spPr bwMode="auto">
          <a:xfrm rot="5400000">
            <a:off x="7962899" y="2148170"/>
            <a:ext cx="1066800" cy="3124200"/>
          </a:xfrm>
          <a:prstGeom prst="cube">
            <a:avLst>
              <a:gd name="adj" fmla="val 16056"/>
            </a:avLst>
          </a:prstGeom>
          <a:solidFill>
            <a:srgbClr val="00B050"/>
          </a:solidFill>
          <a:ln w="12700">
            <a:solidFill>
              <a:srgbClr val="000000"/>
            </a:solidFill>
            <a:miter lim="800000"/>
          </a:ln>
          <a:effectLst>
            <a:outerShdw dist="89803" dir="2700000" algn="ctr" rotWithShape="0">
              <a:schemeClr val="bg2"/>
            </a:outerShdw>
          </a:effectLst>
        </p:spPr>
        <p:txBody>
          <a:bodyPr rot="10800000" vert="eaVert" wrap="none" lIns="78354" tIns="39889" rIns="78354" bIns="39889" anchor="ctr"/>
          <a:lstStyle/>
          <a:p>
            <a:pPr algn="ctr" defTabSz="770255"/>
            <a:r>
              <a:rPr lang="en-US" sz="2800" b="1">
                <a:latin typeface="Arial" panose="020B0604020202020204" pitchFamily="34" charset="0"/>
              </a:rPr>
              <a:t>Segment 3</a:t>
            </a:r>
          </a:p>
        </p:txBody>
      </p:sp>
      <p:sp>
        <p:nvSpPr>
          <p:cNvPr id="11" name="AutoShape 7"/>
          <p:cNvSpPr>
            <a:spLocks noChangeArrowheads="1"/>
          </p:cNvSpPr>
          <p:nvPr/>
        </p:nvSpPr>
        <p:spPr bwMode="auto">
          <a:xfrm rot="5400000">
            <a:off x="3094831" y="-433898"/>
            <a:ext cx="1430337" cy="3657600"/>
          </a:xfrm>
          <a:prstGeom prst="cube">
            <a:avLst>
              <a:gd name="adj" fmla="val 16056"/>
            </a:avLst>
          </a:prstGeom>
          <a:solidFill>
            <a:srgbClr val="0070C0"/>
          </a:solidFill>
          <a:ln w="12700">
            <a:solidFill>
              <a:srgbClr val="000000"/>
            </a:solidFill>
            <a:miter lim="800000"/>
          </a:ln>
          <a:effectLst>
            <a:outerShdw dist="89803" dir="2700000" algn="ctr" rotWithShape="0">
              <a:schemeClr val="bg2"/>
            </a:outerShdw>
          </a:effectLst>
        </p:spPr>
        <p:txBody>
          <a:bodyPr rot="10800000" vert="eaVert" wrap="none" lIns="78354" tIns="39889" rIns="78354" bIns="39889" anchor="ctr"/>
          <a:lstStyle/>
          <a:p>
            <a:pPr algn="ctr" defTabSz="770255"/>
            <a:r>
              <a:rPr lang="en-US" sz="2800" b="1" dirty="0">
                <a:latin typeface="Arial" panose="020B0604020202020204" pitchFamily="34" charset="0"/>
              </a:rPr>
              <a:t>Company</a:t>
            </a:r>
          </a:p>
          <a:p>
            <a:pPr algn="ctr" defTabSz="770255"/>
            <a:r>
              <a:rPr lang="en-US" sz="2800" b="1" dirty="0">
                <a:latin typeface="Arial" panose="020B0604020202020204" pitchFamily="34" charset="0"/>
              </a:rPr>
              <a:t>Marketing Mix 1</a:t>
            </a:r>
          </a:p>
        </p:txBody>
      </p:sp>
      <p:sp>
        <p:nvSpPr>
          <p:cNvPr id="12" name="AutoShape 8"/>
          <p:cNvSpPr>
            <a:spLocks noChangeArrowheads="1"/>
          </p:cNvSpPr>
          <p:nvPr/>
        </p:nvSpPr>
        <p:spPr bwMode="auto">
          <a:xfrm rot="5400000">
            <a:off x="3200399" y="738470"/>
            <a:ext cx="1219200" cy="3657600"/>
          </a:xfrm>
          <a:prstGeom prst="cube">
            <a:avLst>
              <a:gd name="adj" fmla="val 16056"/>
            </a:avLst>
          </a:prstGeom>
          <a:solidFill>
            <a:srgbClr val="7030A0"/>
          </a:solidFill>
          <a:ln w="12700">
            <a:solidFill>
              <a:srgbClr val="000000"/>
            </a:solidFill>
            <a:miter lim="800000"/>
          </a:ln>
          <a:effectLst>
            <a:outerShdw dist="89803" dir="2700000" algn="ctr" rotWithShape="0">
              <a:schemeClr val="bg2"/>
            </a:outerShdw>
          </a:effectLst>
        </p:spPr>
        <p:txBody>
          <a:bodyPr rot="10800000" vert="eaVert" wrap="none" lIns="78354" tIns="39889" rIns="78354" bIns="39889" anchor="ctr"/>
          <a:lstStyle/>
          <a:p>
            <a:pPr algn="ctr" defTabSz="770255"/>
            <a:r>
              <a:rPr lang="en-US" sz="2800" b="1" dirty="0">
                <a:latin typeface="Arial" panose="020B0604020202020204" pitchFamily="34" charset="0"/>
              </a:rPr>
              <a:t>Company</a:t>
            </a:r>
          </a:p>
          <a:p>
            <a:pPr algn="ctr" defTabSz="770255"/>
            <a:r>
              <a:rPr lang="en-US" sz="2800" b="1" dirty="0">
                <a:latin typeface="Arial" panose="020B0604020202020204" pitchFamily="34" charset="0"/>
              </a:rPr>
              <a:t>Marketing Mix 2</a:t>
            </a:r>
          </a:p>
        </p:txBody>
      </p:sp>
      <p:sp>
        <p:nvSpPr>
          <p:cNvPr id="13" name="AutoShape 9"/>
          <p:cNvSpPr>
            <a:spLocks noChangeArrowheads="1"/>
          </p:cNvSpPr>
          <p:nvPr/>
        </p:nvSpPr>
        <p:spPr bwMode="auto">
          <a:xfrm rot="5400000">
            <a:off x="3173412" y="1832258"/>
            <a:ext cx="1273175" cy="3657600"/>
          </a:xfrm>
          <a:prstGeom prst="cube">
            <a:avLst>
              <a:gd name="adj" fmla="val 16056"/>
            </a:avLst>
          </a:prstGeom>
          <a:solidFill>
            <a:srgbClr val="00B050"/>
          </a:solidFill>
          <a:ln w="12700">
            <a:solidFill>
              <a:srgbClr val="000000"/>
            </a:solidFill>
            <a:miter lim="800000"/>
          </a:ln>
          <a:effectLst>
            <a:outerShdw dist="89803" dir="2700000" algn="ctr" rotWithShape="0">
              <a:schemeClr val="bg2"/>
            </a:outerShdw>
          </a:effectLst>
        </p:spPr>
        <p:txBody>
          <a:bodyPr rot="10800000" vert="eaVert" wrap="none" lIns="78354" tIns="39889" rIns="78354" bIns="39889" anchor="ctr"/>
          <a:lstStyle/>
          <a:p>
            <a:pPr algn="ctr" defTabSz="770255"/>
            <a:r>
              <a:rPr lang="en-US" sz="2800" b="1" dirty="0">
                <a:latin typeface="Arial" panose="020B0604020202020204" pitchFamily="34" charset="0"/>
              </a:rPr>
              <a:t>Company</a:t>
            </a:r>
          </a:p>
          <a:p>
            <a:pPr algn="ctr" defTabSz="770255"/>
            <a:r>
              <a:rPr lang="en-US" sz="2800" b="1" dirty="0">
                <a:latin typeface="Arial" panose="020B0604020202020204" pitchFamily="34" charset="0"/>
              </a:rPr>
              <a:t>Marketing Mix 3</a:t>
            </a:r>
          </a:p>
        </p:txBody>
      </p:sp>
      <p:sp>
        <p:nvSpPr>
          <p:cNvPr id="14" name="Line 10"/>
          <p:cNvSpPr>
            <a:spLocks noChangeShapeType="1"/>
          </p:cNvSpPr>
          <p:nvPr/>
        </p:nvSpPr>
        <p:spPr bwMode="auto">
          <a:xfrm>
            <a:off x="5714999" y="1500470"/>
            <a:ext cx="1189038" cy="0"/>
          </a:xfrm>
          <a:prstGeom prst="line">
            <a:avLst/>
          </a:prstGeom>
          <a:noFill/>
          <a:ln w="76200">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1"/>
          <p:cNvSpPr>
            <a:spLocks noChangeShapeType="1"/>
          </p:cNvSpPr>
          <p:nvPr/>
        </p:nvSpPr>
        <p:spPr bwMode="auto">
          <a:xfrm>
            <a:off x="5745163" y="2491070"/>
            <a:ext cx="1189037" cy="0"/>
          </a:xfrm>
          <a:prstGeom prst="line">
            <a:avLst/>
          </a:prstGeom>
          <a:noFill/>
          <a:ln w="76200">
            <a:solidFill>
              <a:srgbClr val="7030A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12"/>
          <p:cNvSpPr>
            <a:spLocks noChangeShapeType="1"/>
          </p:cNvSpPr>
          <p:nvPr/>
        </p:nvSpPr>
        <p:spPr bwMode="auto">
          <a:xfrm flipV="1">
            <a:off x="5714999" y="3557870"/>
            <a:ext cx="1227138" cy="0"/>
          </a:xfrm>
          <a:prstGeom prst="line">
            <a:avLst/>
          </a:prstGeom>
          <a:noFill/>
          <a:ln w="76200">
            <a:solidFill>
              <a:srgbClr val="00B05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Rectangle 13"/>
          <p:cNvSpPr>
            <a:spLocks noChangeArrowheads="1"/>
          </p:cNvSpPr>
          <p:nvPr/>
        </p:nvSpPr>
        <p:spPr bwMode="auto">
          <a:xfrm>
            <a:off x="1113183" y="4526246"/>
            <a:ext cx="8754717" cy="1631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204" tIns="39889" rIns="81204" bIns="39889">
            <a:spAutoFit/>
          </a:bodyPr>
          <a:lstStyle/>
          <a:p>
            <a:pPr marL="514350" indent="-514350" defTabSz="821055">
              <a:lnSpc>
                <a:spcPct val="90000"/>
              </a:lnSpc>
              <a:buAutoNum type="alphaUcPeriod" startAt="2"/>
            </a:pPr>
            <a:r>
              <a:rPr lang="en-US" sz="2800" b="1" dirty="0">
                <a:latin typeface="Arial" panose="020B0604020202020204" pitchFamily="34" charset="0"/>
                <a:cs typeface="Arial" panose="020B0604020202020204" pitchFamily="34" charset="0"/>
              </a:rPr>
              <a:t>Differentiated Marketing</a:t>
            </a:r>
          </a:p>
          <a:p>
            <a:pPr marL="914400" lvl="1" indent="-457200" defTabSz="821055">
              <a:lnSpc>
                <a:spcPct val="90000"/>
              </a:lnSpc>
              <a:buFont typeface="Wingdings" panose="05000000000000000000" pitchFamily="2" charset="2"/>
              <a:buChar char="ü"/>
            </a:pPr>
            <a:r>
              <a:rPr lang="en-US" sz="2800" dirty="0">
                <a:solidFill>
                  <a:srgbClr val="FF0000"/>
                </a:solidFill>
                <a:latin typeface="Calibri" panose="020F0502020204030204" charset="0"/>
                <a:cs typeface="Calibri" panose="020F0502020204030204" charset="0"/>
              </a:rPr>
              <a:t>targets several different market segments </a:t>
            </a:r>
            <a:r>
              <a:rPr lang="en-US" sz="2800" dirty="0">
                <a:latin typeface="Calibri" panose="020F0502020204030204" charset="0"/>
                <a:cs typeface="Calibri" panose="020F0502020204030204" charset="0"/>
              </a:rPr>
              <a:t>and </a:t>
            </a:r>
            <a:r>
              <a:rPr lang="en-US" sz="2800" dirty="0">
                <a:solidFill>
                  <a:srgbClr val="C00000"/>
                </a:solidFill>
                <a:latin typeface="Calibri" panose="020F0502020204030204" charset="0"/>
                <a:cs typeface="Calibri" panose="020F0502020204030204" charset="0"/>
              </a:rPr>
              <a:t>designs separate offers for each</a:t>
            </a:r>
            <a:r>
              <a:rPr lang="en-US" sz="2800" dirty="0">
                <a:latin typeface="Calibri" panose="020F0502020204030204" charset="0"/>
                <a:cs typeface="Calibri" panose="020F0502020204030204" charset="0"/>
              </a:rPr>
              <a:t>.</a:t>
            </a:r>
          </a:p>
          <a:p>
            <a:pPr marL="914400" lvl="1" indent="-457200" defTabSz="821055">
              <a:lnSpc>
                <a:spcPct val="90000"/>
              </a:lnSpc>
              <a:buFont typeface="Wingdings" panose="05000000000000000000" pitchFamily="2" charset="2"/>
              <a:buChar char="ü"/>
            </a:pPr>
            <a:r>
              <a:rPr lang="en-US" sz="2800" dirty="0">
                <a:solidFill>
                  <a:srgbClr val="FF0000"/>
                </a:solidFill>
                <a:latin typeface="Calibri" panose="020F0502020204030204" charset="0"/>
                <a:cs typeface="Calibri" panose="020F0502020204030204" charset="0"/>
              </a:rPr>
              <a:t>Goal is </a:t>
            </a:r>
            <a:r>
              <a:rPr lang="en-US" sz="2800" dirty="0">
                <a:latin typeface="Calibri" panose="020F0502020204030204" charset="0"/>
                <a:cs typeface="Calibri" panose="020F0502020204030204" charset="0"/>
              </a:rPr>
              <a:t>to achieve </a:t>
            </a:r>
            <a:r>
              <a:rPr lang="en-US" sz="2800" dirty="0">
                <a:solidFill>
                  <a:srgbClr val="C00000"/>
                </a:solidFill>
                <a:latin typeface="Calibri" panose="020F0502020204030204" charset="0"/>
                <a:cs typeface="Calibri" panose="020F0502020204030204" charset="0"/>
              </a:rPr>
              <a:t>higher sales and stronger position</a:t>
            </a:r>
            <a:r>
              <a:rPr lang="en-US" sz="2800" dirty="0">
                <a:latin typeface="Calibri" panose="020F0502020204030204" charset="0"/>
                <a:cs typeface="Calibri" panose="020F0502020204030204" charset="0"/>
              </a:rPr>
              <a:t>.</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26989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4"/>
          <p:cNvSpPr>
            <a:spLocks noChangeArrowheads="1"/>
          </p:cNvSpPr>
          <p:nvPr/>
        </p:nvSpPr>
        <p:spPr bwMode="auto">
          <a:xfrm rot="5400000">
            <a:off x="7930356" y="-310356"/>
            <a:ext cx="827088" cy="2819400"/>
          </a:xfrm>
          <a:prstGeom prst="cube">
            <a:avLst>
              <a:gd name="adj" fmla="val 16056"/>
            </a:avLst>
          </a:prstGeom>
          <a:solidFill>
            <a:srgbClr val="FEFF72"/>
          </a:solidFill>
          <a:ln w="12700">
            <a:solidFill>
              <a:srgbClr val="000000"/>
            </a:solidFill>
            <a:miter lim="800000"/>
          </a:ln>
          <a:effectLst>
            <a:outerShdw dist="89803" dir="2700000" algn="ctr" rotWithShape="0">
              <a:schemeClr val="bg2"/>
            </a:outerShdw>
          </a:effectLst>
        </p:spPr>
        <p:txBody>
          <a:bodyPr rot="10800000" vert="eaVert" wrap="none" lIns="78354" tIns="39889" rIns="78354" bIns="39889" anchor="ctr"/>
          <a:lstStyle/>
          <a:p>
            <a:pPr algn="ctr" defTabSz="770255"/>
            <a:r>
              <a:rPr lang="en-US" sz="2800" b="1" dirty="0">
                <a:latin typeface="Arial" panose="020B0604020202020204" pitchFamily="34" charset="0"/>
              </a:rPr>
              <a:t>Segment 1</a:t>
            </a:r>
          </a:p>
        </p:txBody>
      </p:sp>
      <p:sp>
        <p:nvSpPr>
          <p:cNvPr id="19" name="AutoShape 5"/>
          <p:cNvSpPr>
            <a:spLocks noChangeArrowheads="1"/>
          </p:cNvSpPr>
          <p:nvPr/>
        </p:nvSpPr>
        <p:spPr bwMode="auto">
          <a:xfrm rot="5400000">
            <a:off x="7924800" y="457200"/>
            <a:ext cx="838200" cy="2819400"/>
          </a:xfrm>
          <a:prstGeom prst="cube">
            <a:avLst>
              <a:gd name="adj" fmla="val 16056"/>
            </a:avLst>
          </a:prstGeom>
          <a:solidFill>
            <a:srgbClr val="D49FFF"/>
          </a:solidFill>
          <a:ln w="12700">
            <a:solidFill>
              <a:srgbClr val="000000"/>
            </a:solidFill>
            <a:miter lim="800000"/>
          </a:ln>
          <a:effectLst>
            <a:outerShdw dist="89803" dir="2700000" algn="ctr" rotWithShape="0">
              <a:schemeClr val="bg2"/>
            </a:outerShdw>
          </a:effectLst>
        </p:spPr>
        <p:txBody>
          <a:bodyPr rot="10800000" vert="eaVert" wrap="none" lIns="78354" tIns="39889" rIns="78354" bIns="39889" anchor="ctr"/>
          <a:lstStyle/>
          <a:p>
            <a:pPr algn="ctr" defTabSz="770255"/>
            <a:r>
              <a:rPr lang="en-US" sz="2800" b="1">
                <a:latin typeface="Arial" panose="020B0604020202020204" pitchFamily="34" charset="0"/>
              </a:rPr>
              <a:t>Segment 2</a:t>
            </a:r>
          </a:p>
        </p:txBody>
      </p:sp>
      <p:sp>
        <p:nvSpPr>
          <p:cNvPr id="20" name="AutoShape 6"/>
          <p:cNvSpPr>
            <a:spLocks noChangeArrowheads="1"/>
          </p:cNvSpPr>
          <p:nvPr/>
        </p:nvSpPr>
        <p:spPr bwMode="auto">
          <a:xfrm rot="5400000">
            <a:off x="7874000" y="1270000"/>
            <a:ext cx="939800" cy="2819400"/>
          </a:xfrm>
          <a:prstGeom prst="cube">
            <a:avLst>
              <a:gd name="adj" fmla="val 16056"/>
            </a:avLst>
          </a:prstGeom>
          <a:solidFill>
            <a:srgbClr val="A2FFA3"/>
          </a:solidFill>
          <a:ln w="12700">
            <a:solidFill>
              <a:srgbClr val="000000"/>
            </a:solidFill>
            <a:miter lim="800000"/>
          </a:ln>
          <a:effectLst>
            <a:outerShdw dist="89803" dir="2700000" algn="ctr" rotWithShape="0">
              <a:schemeClr val="bg2"/>
            </a:outerShdw>
          </a:effectLst>
        </p:spPr>
        <p:txBody>
          <a:bodyPr rot="10800000" vert="eaVert" wrap="none" lIns="78354" tIns="39889" rIns="78354" bIns="39889" anchor="ctr"/>
          <a:lstStyle/>
          <a:p>
            <a:pPr algn="ctr" defTabSz="770255"/>
            <a:r>
              <a:rPr lang="en-US" sz="2800" b="1">
                <a:latin typeface="Arial" panose="020B0604020202020204" pitchFamily="34" charset="0"/>
              </a:rPr>
              <a:t>Segment 3</a:t>
            </a:r>
          </a:p>
        </p:txBody>
      </p:sp>
      <p:sp>
        <p:nvSpPr>
          <p:cNvPr id="21" name="AutoShape 7"/>
          <p:cNvSpPr>
            <a:spLocks noChangeArrowheads="1"/>
          </p:cNvSpPr>
          <p:nvPr/>
        </p:nvSpPr>
        <p:spPr bwMode="auto">
          <a:xfrm rot="5400000">
            <a:off x="2751932" y="161132"/>
            <a:ext cx="1811337" cy="3505200"/>
          </a:xfrm>
          <a:prstGeom prst="cube">
            <a:avLst>
              <a:gd name="adj" fmla="val 10366"/>
            </a:avLst>
          </a:prstGeom>
          <a:solidFill>
            <a:srgbClr val="FF5E05"/>
          </a:solidFill>
          <a:ln w="12700">
            <a:solidFill>
              <a:schemeClr val="tx1"/>
            </a:solidFill>
            <a:miter lim="800000"/>
          </a:ln>
          <a:effectLst>
            <a:outerShdw dist="107763" dir="2700000" algn="ctr" rotWithShape="0">
              <a:schemeClr val="bg2"/>
            </a:outerShdw>
          </a:effectLst>
        </p:spPr>
        <p:txBody>
          <a:bodyPr rot="10800000" vert="eaVert" wrap="none" lIns="81204" tIns="39889" rIns="81204" bIns="39889" anchor="ctr"/>
          <a:lstStyle/>
          <a:p>
            <a:pPr algn="ctr" defTabSz="821055">
              <a:lnSpc>
                <a:spcPct val="90000"/>
              </a:lnSpc>
            </a:pPr>
            <a:r>
              <a:rPr lang="en-US" sz="3600" b="1" dirty="0">
                <a:latin typeface="Arial" panose="020B0604020202020204" pitchFamily="34" charset="0"/>
              </a:rPr>
              <a:t>Company</a:t>
            </a:r>
          </a:p>
          <a:p>
            <a:pPr algn="ctr" defTabSz="821055">
              <a:lnSpc>
                <a:spcPct val="90000"/>
              </a:lnSpc>
            </a:pPr>
            <a:r>
              <a:rPr lang="en-US" sz="3600" b="1" dirty="0">
                <a:latin typeface="Arial" panose="020B0604020202020204" pitchFamily="34" charset="0"/>
              </a:rPr>
              <a:t>Marketing</a:t>
            </a:r>
          </a:p>
          <a:p>
            <a:pPr algn="ctr" defTabSz="821055">
              <a:lnSpc>
                <a:spcPct val="90000"/>
              </a:lnSpc>
            </a:pPr>
            <a:r>
              <a:rPr lang="en-US" sz="3600" b="1" dirty="0">
                <a:latin typeface="Arial" panose="020B0604020202020204" pitchFamily="34" charset="0"/>
              </a:rPr>
              <a:t>Mix</a:t>
            </a:r>
          </a:p>
        </p:txBody>
      </p:sp>
      <p:sp>
        <p:nvSpPr>
          <p:cNvPr id="22" name="Line 8"/>
          <p:cNvSpPr>
            <a:spLocks noChangeShapeType="1"/>
          </p:cNvSpPr>
          <p:nvPr/>
        </p:nvSpPr>
        <p:spPr bwMode="auto">
          <a:xfrm>
            <a:off x="5562600" y="1828800"/>
            <a:ext cx="1295400" cy="0"/>
          </a:xfrm>
          <a:prstGeom prst="line">
            <a:avLst/>
          </a:prstGeom>
          <a:noFill/>
          <a:ln w="762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9"/>
          <p:cNvSpPr>
            <a:spLocks noChangeArrowheads="1"/>
          </p:cNvSpPr>
          <p:nvPr/>
        </p:nvSpPr>
        <p:spPr bwMode="auto">
          <a:xfrm>
            <a:off x="2514600" y="3554414"/>
            <a:ext cx="7429500" cy="2628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1204" tIns="39889" rIns="81204" bIns="39889">
            <a:spAutoFit/>
          </a:bodyPr>
          <a:lstStyle/>
          <a:p>
            <a:pPr marL="514350" indent="-514350" defTabSz="821055">
              <a:lnSpc>
                <a:spcPct val="90000"/>
              </a:lnSpc>
              <a:buAutoNum type="alphaUcPeriod" startAt="3"/>
            </a:pPr>
            <a:r>
              <a:rPr lang="en-US" sz="3200" b="1" dirty="0">
                <a:latin typeface="Arial" panose="020B0604020202020204" pitchFamily="34" charset="0"/>
                <a:cs typeface="Arial" panose="020B0604020202020204" pitchFamily="34" charset="0"/>
              </a:rPr>
              <a:t>Concentrated Marketing</a:t>
            </a:r>
          </a:p>
          <a:p>
            <a:pPr marL="914400" lvl="1" indent="-457200" defTabSz="821055">
              <a:lnSpc>
                <a:spcPct val="90000"/>
              </a:lnSpc>
              <a:buFont typeface="Wingdings" panose="05000000000000000000" pitchFamily="2" charset="2"/>
              <a:buChar char="ü"/>
            </a:pPr>
            <a:r>
              <a:rPr lang="en-US" sz="2400" dirty="0">
                <a:solidFill>
                  <a:srgbClr val="FF0000"/>
                </a:solidFill>
                <a:latin typeface="Calibri" panose="020F0502020204030204" charset="0"/>
                <a:cs typeface="Calibri" panose="020F0502020204030204" charset="0"/>
              </a:rPr>
              <a:t>targets</a:t>
            </a:r>
            <a:r>
              <a:rPr lang="en-US" sz="2400" dirty="0">
                <a:latin typeface="Calibri" panose="020F0502020204030204" charset="0"/>
                <a:cs typeface="Calibri" panose="020F0502020204030204" charset="0"/>
              </a:rPr>
              <a:t> a </a:t>
            </a:r>
            <a:r>
              <a:rPr lang="en-US" sz="2400" b="1" u="sng" dirty="0">
                <a:solidFill>
                  <a:srgbClr val="C00000"/>
                </a:solidFill>
                <a:latin typeface="Calibri" panose="020F0502020204030204" charset="0"/>
                <a:cs typeface="Calibri" panose="020F0502020204030204" charset="0"/>
              </a:rPr>
              <a:t>large share </a:t>
            </a:r>
            <a:r>
              <a:rPr lang="en-US" sz="2400" u="sng" dirty="0">
                <a:solidFill>
                  <a:srgbClr val="7030A0"/>
                </a:solidFill>
                <a:latin typeface="Calibri" panose="020F0502020204030204" charset="0"/>
                <a:cs typeface="Calibri" panose="020F0502020204030204" charset="0"/>
              </a:rPr>
              <a:t>of </a:t>
            </a:r>
            <a:r>
              <a:rPr lang="en-US" sz="2400" b="1" u="sng" dirty="0">
                <a:solidFill>
                  <a:srgbClr val="00B050"/>
                </a:solidFill>
                <a:latin typeface="Calibri" panose="020F0502020204030204" charset="0"/>
                <a:cs typeface="Calibri" panose="020F0502020204030204" charset="0"/>
              </a:rPr>
              <a:t>one or few </a:t>
            </a:r>
            <a:r>
              <a:rPr lang="en-US" sz="2400" b="1" u="sng" dirty="0">
                <a:solidFill>
                  <a:srgbClr val="FF0000"/>
                </a:solidFill>
                <a:latin typeface="Calibri" panose="020F0502020204030204" charset="0"/>
                <a:cs typeface="Calibri" panose="020F0502020204030204" charset="0"/>
              </a:rPr>
              <a:t>smaller segments or niches</a:t>
            </a:r>
          </a:p>
          <a:p>
            <a:pPr marL="914400" lvl="1" indent="-457200" defTabSz="821055">
              <a:lnSpc>
                <a:spcPct val="90000"/>
              </a:lnSpc>
              <a:buFont typeface="Wingdings" panose="05000000000000000000" pitchFamily="2" charset="2"/>
              <a:buChar char="ü"/>
            </a:pPr>
            <a:r>
              <a:rPr lang="en-US" sz="2400" dirty="0">
                <a:latin typeface="Calibri" panose="020F0502020204030204" charset="0"/>
                <a:cs typeface="Calibri" panose="020F0502020204030204" charset="0"/>
              </a:rPr>
              <a:t>Limited company resources</a:t>
            </a:r>
          </a:p>
          <a:p>
            <a:pPr marL="914400" lvl="1" indent="-457200" defTabSz="821055">
              <a:lnSpc>
                <a:spcPct val="90000"/>
              </a:lnSpc>
              <a:buFont typeface="Wingdings" panose="05000000000000000000" pitchFamily="2" charset="2"/>
              <a:buChar char="ü"/>
            </a:pPr>
            <a:r>
              <a:rPr lang="en-US" sz="2400" dirty="0">
                <a:latin typeface="Calibri" panose="020F0502020204030204" charset="0"/>
                <a:cs typeface="Calibri" panose="020F0502020204030204" charset="0"/>
              </a:rPr>
              <a:t>Knowledge of the market</a:t>
            </a:r>
          </a:p>
          <a:p>
            <a:pPr marL="914400" lvl="1" indent="-457200" defTabSz="821055">
              <a:lnSpc>
                <a:spcPct val="90000"/>
              </a:lnSpc>
              <a:buFont typeface="Wingdings" panose="05000000000000000000" pitchFamily="2" charset="2"/>
              <a:buChar char="ü"/>
            </a:pPr>
            <a:r>
              <a:rPr lang="en-US" sz="2400" dirty="0">
                <a:latin typeface="Calibri" panose="020F0502020204030204" charset="0"/>
                <a:cs typeface="Calibri" panose="020F0502020204030204" charset="0"/>
              </a:rPr>
              <a:t>More effective and efficient</a:t>
            </a:r>
          </a:p>
          <a:p>
            <a:pPr marL="914400" lvl="1" indent="-457200" defTabSz="821055">
              <a:lnSpc>
                <a:spcPct val="90000"/>
              </a:lnSpc>
              <a:buFont typeface="Wingdings" panose="05000000000000000000" pitchFamily="2" charset="2"/>
              <a:buChar char="ü"/>
            </a:pP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46015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p:cNvSpPr>
            <a:spLocks noChangeArrowheads="1"/>
          </p:cNvSpPr>
          <p:nvPr/>
        </p:nvSpPr>
        <p:spPr bwMode="auto">
          <a:xfrm rot="5400000">
            <a:off x="2743200" y="-8058"/>
            <a:ext cx="1828800" cy="3657600"/>
          </a:xfrm>
          <a:prstGeom prst="cube">
            <a:avLst>
              <a:gd name="adj" fmla="val 10329"/>
            </a:avLst>
          </a:prstGeom>
          <a:solidFill>
            <a:schemeClr val="accent2"/>
          </a:solidFill>
          <a:ln w="12700">
            <a:solidFill>
              <a:schemeClr val="tx1"/>
            </a:solidFill>
            <a:miter lim="800000"/>
          </a:ln>
          <a:effectLst>
            <a:outerShdw dist="107763" dir="2700000" algn="ctr" rotWithShape="0">
              <a:srgbClr val="676767"/>
            </a:outerShdw>
          </a:effectLst>
        </p:spPr>
        <p:txBody>
          <a:bodyPr rot="10800000" vert="eaVert" wrap="none" lIns="80962" tIns="41275" rIns="80962" bIns="41275" anchor="ctr"/>
          <a:lstStyle/>
          <a:p>
            <a:pPr algn="ctr" defTabSz="805180">
              <a:lnSpc>
                <a:spcPct val="90000"/>
              </a:lnSpc>
            </a:pPr>
            <a:r>
              <a:rPr lang="en-US" sz="2800" b="1">
                <a:latin typeface="Arial" panose="020B0604020202020204" pitchFamily="34" charset="0"/>
              </a:rPr>
              <a:t>Company</a:t>
            </a:r>
          </a:p>
          <a:p>
            <a:pPr algn="ctr" defTabSz="805180">
              <a:lnSpc>
                <a:spcPct val="90000"/>
              </a:lnSpc>
            </a:pPr>
            <a:r>
              <a:rPr lang="en-US" sz="2800" b="1">
                <a:latin typeface="Arial" panose="020B0604020202020204" pitchFamily="34" charset="0"/>
              </a:rPr>
              <a:t>Marketing</a:t>
            </a:r>
          </a:p>
          <a:p>
            <a:pPr algn="ctr" defTabSz="805180">
              <a:lnSpc>
                <a:spcPct val="90000"/>
              </a:lnSpc>
            </a:pPr>
            <a:r>
              <a:rPr lang="en-US" sz="2800" b="1">
                <a:latin typeface="Arial" panose="020B0604020202020204" pitchFamily="34" charset="0"/>
              </a:rPr>
              <a:t>Mix</a:t>
            </a:r>
          </a:p>
        </p:txBody>
      </p:sp>
      <p:sp>
        <p:nvSpPr>
          <p:cNvPr id="3" name="AutoShape 5"/>
          <p:cNvSpPr>
            <a:spLocks noChangeArrowheads="1"/>
          </p:cNvSpPr>
          <p:nvPr/>
        </p:nvSpPr>
        <p:spPr bwMode="auto">
          <a:xfrm rot="5400000">
            <a:off x="7880350" y="248429"/>
            <a:ext cx="1689100" cy="3276600"/>
          </a:xfrm>
          <a:prstGeom prst="cube">
            <a:avLst>
              <a:gd name="adj" fmla="val 10329"/>
            </a:avLst>
          </a:prstGeom>
          <a:solidFill>
            <a:schemeClr val="accent2"/>
          </a:solidFill>
          <a:ln w="12700">
            <a:solidFill>
              <a:schemeClr val="tx1"/>
            </a:solidFill>
            <a:miter lim="800000"/>
          </a:ln>
          <a:effectLst>
            <a:outerShdw dist="107763" dir="2700000" algn="ctr" rotWithShape="0">
              <a:srgbClr val="676767"/>
            </a:outerShdw>
          </a:effectLst>
        </p:spPr>
        <p:txBody>
          <a:bodyPr rot="10800000" vert="eaVert" wrap="none" lIns="80962" tIns="41275" rIns="80962" bIns="41275" anchor="ctr"/>
          <a:lstStyle/>
          <a:p>
            <a:pPr algn="ctr" defTabSz="805180">
              <a:lnSpc>
                <a:spcPct val="90000"/>
              </a:lnSpc>
            </a:pPr>
            <a:r>
              <a:rPr lang="en-US" sz="2800" b="1">
                <a:latin typeface="Arial" panose="020B0604020202020204" pitchFamily="34" charset="0"/>
              </a:rPr>
              <a:t>Individual</a:t>
            </a:r>
          </a:p>
          <a:p>
            <a:pPr algn="ctr" defTabSz="805180">
              <a:lnSpc>
                <a:spcPct val="90000"/>
              </a:lnSpc>
            </a:pPr>
            <a:r>
              <a:rPr lang="en-US" sz="2800" b="1">
                <a:latin typeface="Arial" panose="020B0604020202020204" pitchFamily="34" charset="0"/>
              </a:rPr>
              <a:t>Customer</a:t>
            </a:r>
          </a:p>
        </p:txBody>
      </p:sp>
      <p:sp>
        <p:nvSpPr>
          <p:cNvPr id="4" name="Rectangle 6"/>
          <p:cNvSpPr>
            <a:spLocks noChangeArrowheads="1"/>
          </p:cNvSpPr>
          <p:nvPr/>
        </p:nvSpPr>
        <p:spPr bwMode="auto">
          <a:xfrm>
            <a:off x="1828800" y="3429001"/>
            <a:ext cx="8686800" cy="2074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1204" tIns="39889" rIns="81204" bIns="39889">
            <a:spAutoFit/>
          </a:bodyPr>
          <a:lstStyle/>
          <a:p>
            <a:pPr marL="457200" indent="-457200" defTabSz="821055">
              <a:lnSpc>
                <a:spcPct val="90000"/>
              </a:lnSpc>
              <a:buAutoNum type="alphaUcPeriod" startAt="4"/>
            </a:pPr>
            <a:r>
              <a:rPr lang="en-US" sz="2400" b="1" dirty="0">
                <a:latin typeface="Arial" panose="020B0604020202020204" pitchFamily="34" charset="0"/>
                <a:cs typeface="Arial" panose="020B0604020202020204" pitchFamily="34" charset="0"/>
              </a:rPr>
              <a:t>Custom Marketing Strategy or Micromarketing Strategy</a:t>
            </a:r>
          </a:p>
          <a:p>
            <a:pPr marL="800100" lvl="1" indent="-342900" defTabSz="821055">
              <a:lnSpc>
                <a:spcPct val="90000"/>
              </a:lnSpc>
              <a:buFont typeface="Wingdings" panose="05000000000000000000" pitchFamily="2" charset="2"/>
              <a:buChar char="ü"/>
            </a:pPr>
            <a:r>
              <a:rPr lang="en-US" sz="2400" dirty="0">
                <a:latin typeface="Calibri" panose="020F0502020204030204" charset="0"/>
                <a:cs typeface="Calibri" panose="020F0502020204030204" charset="0"/>
              </a:rPr>
              <a:t>the practice of </a:t>
            </a:r>
            <a:r>
              <a:rPr lang="en-US" sz="2400" dirty="0">
                <a:solidFill>
                  <a:srgbClr val="7030A0"/>
                </a:solidFill>
                <a:latin typeface="Calibri" panose="020F0502020204030204" charset="0"/>
                <a:cs typeface="Calibri" panose="020F0502020204030204" charset="0"/>
              </a:rPr>
              <a:t>tailoring products and marketing programs</a:t>
            </a:r>
            <a:r>
              <a:rPr lang="en-US" sz="2400" dirty="0">
                <a:latin typeface="Calibri" panose="020F0502020204030204" charset="0"/>
                <a:cs typeface="Calibri" panose="020F0502020204030204" charset="0"/>
              </a:rPr>
              <a:t> to </a:t>
            </a:r>
            <a:r>
              <a:rPr lang="en-US" sz="2400" dirty="0">
                <a:solidFill>
                  <a:srgbClr val="FF0000"/>
                </a:solidFill>
                <a:latin typeface="Calibri" panose="020F0502020204030204" charset="0"/>
                <a:cs typeface="Calibri" panose="020F0502020204030204" charset="0"/>
              </a:rPr>
              <a:t>suit the tastes of specific </a:t>
            </a:r>
            <a:r>
              <a:rPr lang="en-US" sz="2400" u="sng" dirty="0">
                <a:solidFill>
                  <a:srgbClr val="FF0000"/>
                </a:solidFill>
                <a:latin typeface="Calibri" panose="020F0502020204030204" charset="0"/>
                <a:cs typeface="Calibri" panose="020F0502020204030204" charset="0"/>
              </a:rPr>
              <a:t>individuals </a:t>
            </a:r>
            <a:r>
              <a:rPr lang="en-US" sz="2400" dirty="0">
                <a:solidFill>
                  <a:srgbClr val="FF0000"/>
                </a:solidFill>
                <a:latin typeface="Calibri" panose="020F0502020204030204" charset="0"/>
                <a:cs typeface="Calibri" panose="020F0502020204030204" charset="0"/>
              </a:rPr>
              <a:t>and </a:t>
            </a:r>
            <a:r>
              <a:rPr lang="en-US" sz="2400" u="sng" dirty="0">
                <a:solidFill>
                  <a:srgbClr val="FF0000"/>
                </a:solidFill>
                <a:latin typeface="Calibri" panose="020F0502020204030204" charset="0"/>
                <a:cs typeface="Calibri" panose="020F0502020204030204" charset="0"/>
              </a:rPr>
              <a:t>locations</a:t>
            </a:r>
            <a:r>
              <a:rPr lang="en-US" sz="2400" dirty="0">
                <a:latin typeface="Calibri" panose="020F0502020204030204" charset="0"/>
                <a:cs typeface="Calibri" panose="020F0502020204030204" charset="0"/>
              </a:rPr>
              <a:t>.</a:t>
            </a:r>
          </a:p>
          <a:p>
            <a:pPr marL="800100" lvl="1" indent="-342900" defTabSz="821055">
              <a:lnSpc>
                <a:spcPct val="90000"/>
              </a:lnSpc>
              <a:buFont typeface="Wingdings" panose="05000000000000000000" pitchFamily="2" charset="2"/>
              <a:buChar char="ü"/>
            </a:pPr>
            <a:r>
              <a:rPr lang="en-US" sz="2400" dirty="0">
                <a:solidFill>
                  <a:srgbClr val="00B050"/>
                </a:solidFill>
                <a:latin typeface="Calibri" panose="020F0502020204030204" charset="0"/>
                <a:cs typeface="Calibri" panose="020F0502020204030204" charset="0"/>
              </a:rPr>
              <a:t>Local </a:t>
            </a:r>
            <a:r>
              <a:rPr lang="en-US" sz="2400" dirty="0">
                <a:latin typeface="Calibri" panose="020F0502020204030204" charset="0"/>
                <a:cs typeface="Calibri" panose="020F0502020204030204" charset="0"/>
              </a:rPr>
              <a:t>marketing</a:t>
            </a:r>
          </a:p>
          <a:p>
            <a:pPr marL="800100" lvl="1" indent="-342900" defTabSz="821055">
              <a:lnSpc>
                <a:spcPct val="90000"/>
              </a:lnSpc>
              <a:buFont typeface="Wingdings" panose="05000000000000000000" pitchFamily="2" charset="2"/>
              <a:buChar char="ü"/>
            </a:pPr>
            <a:r>
              <a:rPr lang="en-US" sz="2400" dirty="0">
                <a:solidFill>
                  <a:srgbClr val="00B050"/>
                </a:solidFill>
                <a:latin typeface="Calibri" panose="020F0502020204030204" charset="0"/>
                <a:cs typeface="Calibri" panose="020F0502020204030204" charset="0"/>
              </a:rPr>
              <a:t>Individual</a:t>
            </a:r>
            <a:r>
              <a:rPr lang="en-US" sz="2400" dirty="0">
                <a:latin typeface="Calibri" panose="020F0502020204030204" charset="0"/>
                <a:cs typeface="Calibri" panose="020F0502020204030204" charset="0"/>
              </a:rPr>
              <a:t> marketing</a:t>
            </a:r>
          </a:p>
          <a:p>
            <a:pPr marL="800100" lvl="1" indent="-342900" defTabSz="821055">
              <a:lnSpc>
                <a:spcPct val="90000"/>
              </a:lnSpc>
              <a:buFont typeface="Wingdings" panose="05000000000000000000" pitchFamily="2" charset="2"/>
              <a:buChar char="ü"/>
            </a:pPr>
            <a:endParaRPr lang="en-US" sz="2400" dirty="0">
              <a:latin typeface="Arial" panose="020B0604020202020204" pitchFamily="34" charset="0"/>
              <a:cs typeface="Arial" panose="020B0604020202020204" pitchFamily="34" charset="0"/>
            </a:endParaRPr>
          </a:p>
        </p:txBody>
      </p:sp>
      <p:sp>
        <p:nvSpPr>
          <p:cNvPr id="5" name="Line 7"/>
          <p:cNvSpPr>
            <a:spLocks noChangeShapeType="1"/>
          </p:cNvSpPr>
          <p:nvPr/>
        </p:nvSpPr>
        <p:spPr bwMode="auto">
          <a:xfrm>
            <a:off x="5638800" y="1840620"/>
            <a:ext cx="1295400" cy="0"/>
          </a:xfrm>
          <a:prstGeom prst="line">
            <a:avLst/>
          </a:prstGeom>
          <a:noFill/>
          <a:ln w="76200">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5803001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1" y="1344355"/>
            <a:ext cx="9601196" cy="3318936"/>
          </a:xfrm>
        </p:spPr>
        <p:txBody>
          <a:bodyPr>
            <a:noAutofit/>
          </a:bodyPr>
          <a:lstStyle/>
          <a:p>
            <a:pPr marL="0" indent="0">
              <a:buNone/>
            </a:pPr>
            <a:r>
              <a:rPr lang="en-US" sz="3600" b="1" dirty="0">
                <a:latin typeface="Calibri" panose="020F0502020204030204" charset="0"/>
                <a:cs typeface="Calibri" panose="020F0502020204030204" charset="0"/>
              </a:rPr>
              <a:t>Local marketing </a:t>
            </a:r>
            <a:r>
              <a:rPr lang="en-US" sz="3200" dirty="0">
                <a:latin typeface="Calibri" panose="020F0502020204030204" charset="0"/>
                <a:cs typeface="Calibri" panose="020F0502020204030204" charset="0"/>
              </a:rPr>
              <a:t>involves </a:t>
            </a:r>
            <a:r>
              <a:rPr lang="en-US" sz="3200" dirty="0">
                <a:solidFill>
                  <a:srgbClr val="00B050"/>
                </a:solidFill>
                <a:latin typeface="Calibri" panose="020F0502020204030204" charset="0"/>
                <a:cs typeface="Calibri" panose="020F0502020204030204" charset="0"/>
              </a:rPr>
              <a:t>tailoring brands and promotion</a:t>
            </a:r>
            <a:r>
              <a:rPr lang="en-US" sz="3200" dirty="0">
                <a:latin typeface="Calibri" panose="020F0502020204030204" charset="0"/>
                <a:cs typeface="Calibri" panose="020F0502020204030204" charset="0"/>
              </a:rPr>
              <a:t> to </a:t>
            </a:r>
            <a:r>
              <a:rPr lang="en-US" sz="3200" dirty="0">
                <a:solidFill>
                  <a:srgbClr val="FFC000"/>
                </a:solidFill>
                <a:latin typeface="Calibri" panose="020F0502020204030204" charset="0"/>
                <a:cs typeface="Calibri" panose="020F0502020204030204" charset="0"/>
              </a:rPr>
              <a:t>the needs and wants </a:t>
            </a:r>
            <a:r>
              <a:rPr lang="en-US" sz="3200" dirty="0">
                <a:latin typeface="Calibri" panose="020F0502020204030204" charset="0"/>
                <a:cs typeface="Calibri" panose="020F0502020204030204" charset="0"/>
              </a:rPr>
              <a:t>of </a:t>
            </a:r>
            <a:r>
              <a:rPr lang="en-US" sz="3200" dirty="0">
                <a:solidFill>
                  <a:srgbClr val="FF0000"/>
                </a:solidFill>
                <a:latin typeface="Calibri" panose="020F0502020204030204" charset="0"/>
                <a:cs typeface="Calibri" panose="020F0502020204030204" charset="0"/>
              </a:rPr>
              <a:t>local customer groups</a:t>
            </a:r>
          </a:p>
          <a:p>
            <a:pPr lvl="1"/>
            <a:r>
              <a:rPr lang="en-US" sz="2800" dirty="0">
                <a:latin typeface="Calibri" panose="020F0502020204030204" charset="0"/>
                <a:cs typeface="Calibri" panose="020F0502020204030204" charset="0"/>
              </a:rPr>
              <a:t>Cities</a:t>
            </a:r>
          </a:p>
          <a:p>
            <a:pPr lvl="1"/>
            <a:r>
              <a:rPr lang="en-US" sz="2800" dirty="0">
                <a:latin typeface="Calibri" panose="020F0502020204030204" charset="0"/>
                <a:cs typeface="Calibri" panose="020F0502020204030204" charset="0"/>
              </a:rPr>
              <a:t>Neighborhoods</a:t>
            </a:r>
          </a:p>
          <a:p>
            <a:pPr lvl="1"/>
            <a:r>
              <a:rPr lang="en-US" sz="2800" dirty="0">
                <a:latin typeface="Calibri" panose="020F0502020204030204" charset="0"/>
                <a:cs typeface="Calibri" panose="020F0502020204030204" charset="0"/>
              </a:rPr>
              <a:t>Stores</a:t>
            </a:r>
          </a:p>
          <a:p>
            <a:endParaRPr lang="en-US" sz="3200" dirty="0">
              <a:latin typeface="Calibri" panose="020F0502020204030204" charset="0"/>
              <a:cs typeface="Calibri" panose="020F0502020204030204" charset="0"/>
            </a:endParaRPr>
          </a:p>
          <a:p>
            <a:endParaRPr lang="en-US" sz="3200" dirty="0"/>
          </a:p>
        </p:txBody>
      </p:sp>
    </p:spTree>
    <p:extLst>
      <p:ext uri="{BB962C8B-B14F-4D97-AF65-F5344CB8AC3E}">
        <p14:creationId xmlns:p14="http://schemas.microsoft.com/office/powerpoint/2010/main" val="25368617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1217235"/>
            <a:ext cx="8229600" cy="3416320"/>
          </a:xfrm>
          <a:prstGeom prst="rect">
            <a:avLst/>
          </a:prstGeom>
        </p:spPr>
        <p:txBody>
          <a:bodyPr wrap="square">
            <a:spAutoFit/>
          </a:bodyPr>
          <a:lstStyle/>
          <a:p>
            <a:r>
              <a:rPr lang="en-US" sz="3200" b="1" dirty="0">
                <a:latin typeface="Calibri" panose="020F0502020204030204" charset="0"/>
                <a:cs typeface="Calibri" panose="020F0502020204030204" charset="0"/>
              </a:rPr>
              <a:t>Individual marketing </a:t>
            </a:r>
            <a:r>
              <a:rPr lang="en-US" sz="2800" dirty="0">
                <a:latin typeface="Calibri" panose="020F0502020204030204" charset="0"/>
                <a:cs typeface="Calibri" panose="020F0502020204030204" charset="0"/>
              </a:rPr>
              <a:t>involves </a:t>
            </a:r>
            <a:r>
              <a:rPr lang="en-US" sz="2800" dirty="0">
                <a:solidFill>
                  <a:srgbClr val="00B050"/>
                </a:solidFill>
                <a:latin typeface="Calibri" panose="020F0502020204030204" charset="0"/>
                <a:cs typeface="Calibri" panose="020F0502020204030204" charset="0"/>
              </a:rPr>
              <a:t>tailoring products and marketing programs to the needs and preferences of</a:t>
            </a:r>
            <a:r>
              <a:rPr lang="en-US" sz="2800" dirty="0">
                <a:latin typeface="Calibri" panose="020F0502020204030204" charset="0"/>
                <a:cs typeface="Calibri" panose="020F0502020204030204" charset="0"/>
              </a:rPr>
              <a:t> </a:t>
            </a:r>
            <a:r>
              <a:rPr lang="en-US" sz="2800" u="sng" dirty="0">
                <a:solidFill>
                  <a:srgbClr val="FF0000"/>
                </a:solidFill>
                <a:latin typeface="Calibri" panose="020F0502020204030204" charset="0"/>
                <a:cs typeface="Calibri" panose="020F0502020204030204" charset="0"/>
              </a:rPr>
              <a:t>individual customers</a:t>
            </a:r>
          </a:p>
          <a:p>
            <a:r>
              <a:rPr lang="en-US" sz="2800" dirty="0">
                <a:latin typeface="Calibri" panose="020F0502020204030204" charset="0"/>
                <a:cs typeface="Calibri" panose="020F0502020204030204" charset="0"/>
              </a:rPr>
              <a:t>Also known as:</a:t>
            </a:r>
          </a:p>
          <a:p>
            <a:pPr marL="800100" lvl="1" indent="-342900">
              <a:buFont typeface="Wingdings" panose="05000000000000000000" pitchFamily="2" charset="2"/>
              <a:buChar char="ü"/>
            </a:pPr>
            <a:r>
              <a:rPr lang="en-US" sz="2400" dirty="0">
                <a:solidFill>
                  <a:srgbClr val="C00000"/>
                </a:solidFill>
                <a:latin typeface="Calibri" panose="020F0502020204030204" charset="0"/>
                <a:cs typeface="Calibri" panose="020F0502020204030204" charset="0"/>
              </a:rPr>
              <a:t>One-to-one </a:t>
            </a:r>
            <a:r>
              <a:rPr lang="en-US" sz="2400" dirty="0">
                <a:latin typeface="Calibri" panose="020F0502020204030204" charset="0"/>
                <a:cs typeface="Calibri" panose="020F0502020204030204" charset="0"/>
              </a:rPr>
              <a:t>marketing</a:t>
            </a:r>
          </a:p>
          <a:p>
            <a:pPr marL="800100" lvl="1" indent="-342900">
              <a:buFont typeface="Wingdings" panose="05000000000000000000" pitchFamily="2" charset="2"/>
              <a:buChar char="ü"/>
            </a:pPr>
            <a:r>
              <a:rPr lang="en-US" sz="2400" dirty="0">
                <a:solidFill>
                  <a:srgbClr val="0070C0"/>
                </a:solidFill>
                <a:latin typeface="Calibri" panose="020F0502020204030204" charset="0"/>
                <a:cs typeface="Calibri" panose="020F0502020204030204" charset="0"/>
              </a:rPr>
              <a:t>Mass customization</a:t>
            </a:r>
          </a:p>
          <a:p>
            <a:pPr marL="800100" lvl="1" indent="-342900">
              <a:buFont typeface="Wingdings" panose="05000000000000000000" pitchFamily="2" charset="2"/>
              <a:buChar char="ü"/>
            </a:pPr>
            <a:r>
              <a:rPr lang="en-US" sz="2400" dirty="0">
                <a:solidFill>
                  <a:srgbClr val="92D050"/>
                </a:solidFill>
                <a:latin typeface="Calibri" panose="020F0502020204030204" charset="0"/>
                <a:cs typeface="Calibri" panose="020F0502020204030204" charset="0"/>
              </a:rPr>
              <a:t>Markets-of-one marketing</a:t>
            </a:r>
          </a:p>
          <a:p>
            <a:endParaRPr lang="en-US" sz="2800" dirty="0">
              <a:latin typeface="Calibri" panose="020F0502020204030204" charset="0"/>
              <a:cs typeface="Calibri" panose="020F0502020204030204" charset="0"/>
            </a:endParaRPr>
          </a:p>
        </p:txBody>
      </p:sp>
    </p:spTree>
    <p:extLst>
      <p:ext uri="{BB962C8B-B14F-4D97-AF65-F5344CB8AC3E}">
        <p14:creationId xmlns:p14="http://schemas.microsoft.com/office/powerpoint/2010/main" val="40993335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p:cNvSpPr>
            <a:spLocks noGrp="1" noChangeArrowheads="1"/>
          </p:cNvSpPr>
          <p:nvPr>
            <p:ph type="title"/>
          </p:nvPr>
        </p:nvSpPr>
        <p:spPr>
          <a:xfrm>
            <a:off x="1524000" y="685800"/>
            <a:ext cx="9144000" cy="1143000"/>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vert="horz" lIns="92075" tIns="46038" rIns="92075" bIns="46038" rtlCol="0" anchor="ctr" anchorCtr="0">
            <a:normAutofit/>
          </a:bodyPr>
          <a:lstStyle/>
          <a:p>
            <a:r>
              <a:rPr lang="en-US" sz="3600" b="1" dirty="0">
                <a:cs typeface="Arial" panose="020B0604020202020204" pitchFamily="34" charset="0"/>
              </a:rPr>
              <a:t>Positioning for Competitive Advantage</a:t>
            </a:r>
          </a:p>
        </p:txBody>
      </p:sp>
      <p:sp>
        <p:nvSpPr>
          <p:cNvPr id="888836" name="Rectangle 4"/>
          <p:cNvSpPr>
            <a:spLocks noGrp="1" noChangeArrowheads="1"/>
          </p:cNvSpPr>
          <p:nvPr>
            <p:ph type="body" idx="1"/>
          </p:nvPr>
        </p:nvSpPr>
        <p:spPr>
          <a:xfrm>
            <a:off x="1676400" y="2536826"/>
            <a:ext cx="8915400" cy="4168775"/>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81204" tIns="39889" rIns="81204" bIns="39889" rtlCol="0" anchor="t">
            <a:normAutofit/>
          </a:bodyPr>
          <a:lstStyle/>
          <a:p>
            <a:r>
              <a:rPr lang="en-US" b="1" u="sng" dirty="0">
                <a:latin typeface="Arial Unicode MS" pitchFamily="34" charset="-128"/>
              </a:rPr>
              <a:t>Product’s Position </a:t>
            </a:r>
            <a:r>
              <a:rPr lang="en-US" dirty="0">
                <a:latin typeface="Arial Unicode MS" pitchFamily="34" charset="-128"/>
              </a:rPr>
              <a:t>- </a:t>
            </a:r>
            <a:r>
              <a:rPr lang="en-US" dirty="0">
                <a:solidFill>
                  <a:srgbClr val="00B050"/>
                </a:solidFill>
                <a:latin typeface="Arial Unicode MS" pitchFamily="34" charset="-128"/>
              </a:rPr>
              <a:t>the place the product occupies in consumers’ minds</a:t>
            </a:r>
            <a:r>
              <a:rPr lang="en-US" dirty="0">
                <a:latin typeface="Arial Unicode MS" pitchFamily="34" charset="-128"/>
              </a:rPr>
              <a:t> </a:t>
            </a:r>
            <a:r>
              <a:rPr lang="en-US" dirty="0">
                <a:solidFill>
                  <a:srgbClr val="FF0000"/>
                </a:solidFill>
                <a:latin typeface="Arial Unicode MS" pitchFamily="34" charset="-128"/>
              </a:rPr>
              <a:t>relative to</a:t>
            </a:r>
            <a:r>
              <a:rPr lang="en-US" dirty="0">
                <a:latin typeface="Arial Unicode MS" pitchFamily="34" charset="-128"/>
              </a:rPr>
              <a:t> </a:t>
            </a:r>
            <a:r>
              <a:rPr lang="en-US" dirty="0">
                <a:solidFill>
                  <a:srgbClr val="00B050"/>
                </a:solidFill>
                <a:latin typeface="Arial Unicode MS" pitchFamily="34" charset="-128"/>
              </a:rPr>
              <a:t>competing products</a:t>
            </a:r>
            <a:r>
              <a:rPr lang="en-US" dirty="0">
                <a:latin typeface="Arial Unicode MS" pitchFamily="34" charset="-128"/>
              </a:rPr>
              <a:t>. </a:t>
            </a:r>
          </a:p>
          <a:p>
            <a:pPr marL="0" indent="0">
              <a:buNone/>
            </a:pPr>
            <a:endParaRPr lang="en-US" dirty="0">
              <a:latin typeface="Arial Unicode MS" pitchFamily="34" charset="-128"/>
            </a:endParaRPr>
          </a:p>
          <a:p>
            <a:r>
              <a:rPr lang="en-US" b="1" dirty="0">
                <a:latin typeface="Arial Unicode MS" pitchFamily="34" charset="-128"/>
              </a:rPr>
              <a:t>Marketers must:</a:t>
            </a:r>
          </a:p>
          <a:p>
            <a:pPr marL="685800" lvl="1" indent="-228600"/>
            <a:r>
              <a:rPr lang="en-US" sz="2400" dirty="0">
                <a:latin typeface="Arial Unicode MS" pitchFamily="34" charset="-128"/>
              </a:rPr>
              <a:t>Plan positions to give products the greatest advantage</a:t>
            </a:r>
          </a:p>
          <a:p>
            <a:pPr marL="685800" lvl="1" indent="-228600"/>
            <a:r>
              <a:rPr lang="en-US" sz="2400" dirty="0">
                <a:latin typeface="Arial Unicode MS" pitchFamily="34" charset="-128"/>
              </a:rPr>
              <a:t>Develop marketing mixes to create planned positions</a:t>
            </a:r>
          </a:p>
        </p:txBody>
      </p:sp>
    </p:spTree>
    <p:extLst>
      <p:ext uri="{BB962C8B-B14F-4D97-AF65-F5344CB8AC3E}">
        <p14:creationId xmlns:p14="http://schemas.microsoft.com/office/powerpoint/2010/main" val="183856656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914400" y="407502"/>
            <a:ext cx="10363200" cy="1143000"/>
          </a:xfrm>
        </p:spPr>
        <p:txBody>
          <a:bodyPr/>
          <a:lstStyle/>
          <a:p>
            <a:r>
              <a:rPr lang="en-US" dirty="0" smtClean="0"/>
              <a:t>Differentiation and Positioning</a:t>
            </a:r>
          </a:p>
        </p:txBody>
      </p:sp>
      <p:sp>
        <p:nvSpPr>
          <p:cNvPr id="33795" name="Content Placeholder 6"/>
          <p:cNvSpPr>
            <a:spLocks noGrp="1"/>
          </p:cNvSpPr>
          <p:nvPr>
            <p:ph idx="1"/>
          </p:nvPr>
        </p:nvSpPr>
        <p:spPr>
          <a:xfrm>
            <a:off x="1603517" y="1573698"/>
            <a:ext cx="7772400" cy="4648200"/>
          </a:xfrm>
        </p:spPr>
        <p:txBody>
          <a:bodyPr/>
          <a:lstStyle/>
          <a:p>
            <a:pPr>
              <a:buFontTx/>
              <a:buNone/>
            </a:pPr>
            <a:r>
              <a:rPr lang="en-US" smtClean="0">
                <a:latin typeface="Calibri" panose="020F0502020204030204" charset="0"/>
                <a:cs typeface="Calibri" panose="020F0502020204030204" charset="0"/>
              </a:rPr>
              <a:t>Difference to promote should be:</a:t>
            </a:r>
          </a:p>
          <a:p>
            <a:endParaRPr lang="en-US" smtClean="0">
              <a:latin typeface="Calibri" panose="020F0502020204030204" charset="0"/>
              <a:cs typeface="Calibri" panose="020F0502020204030204" charset="0"/>
            </a:endParaRPr>
          </a:p>
        </p:txBody>
      </p:sp>
      <p:sp>
        <p:nvSpPr>
          <p:cNvPr id="33796" name="Rectangle 7"/>
          <p:cNvSpPr>
            <a:spLocks noGrp="1" noChangeArrowheads="1"/>
          </p:cNvSpPr>
          <p:nvPr>
            <p:ph type="body" sz="quarter" idx="13"/>
          </p:nvPr>
        </p:nvSpPr>
        <p:spPr>
          <a:xfrm>
            <a:off x="2362200" y="1143000"/>
            <a:ext cx="7162800" cy="381000"/>
          </a:xfrm>
        </p:spPr>
        <p:txBody>
          <a:bodyPr>
            <a:normAutofit fontScale="55000" lnSpcReduction="20000"/>
          </a:bodyPr>
          <a:lstStyle/>
          <a:p>
            <a:r>
              <a:rPr lang="en-US" smtClean="0">
                <a:latin typeface="Calibri" panose="020F0502020204030204" charset="0"/>
                <a:cs typeface="Calibri" panose="020F0502020204030204" charset="0"/>
              </a:rPr>
              <a:t>Choosing the Right Competitive Advantage</a:t>
            </a:r>
          </a:p>
          <a:p>
            <a:endParaRPr lang="en-US" smtClean="0">
              <a:latin typeface="Calibri" panose="020F0502020204030204" charset="0"/>
              <a:cs typeface="Calibri" panose="020F0502020204030204" charset="0"/>
            </a:endParaRPr>
          </a:p>
        </p:txBody>
      </p:sp>
      <p:graphicFrame>
        <p:nvGraphicFramePr>
          <p:cNvPr id="14" name="Diagram 13"/>
          <p:cNvGraphicFramePr/>
          <p:nvPr>
            <p:extLst>
              <p:ext uri="{D42A27DB-BD31-4B8C-83A1-F6EECF244321}">
                <p14:modId xmlns:p14="http://schemas.microsoft.com/office/powerpoint/2010/main" val="2150249458"/>
              </p:ext>
            </p:extLst>
          </p:nvPr>
        </p:nvGraphicFramePr>
        <p:xfrm>
          <a:off x="3004929" y="2064024"/>
          <a:ext cx="6400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991969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Rectangle 2"/>
          <p:cNvSpPr>
            <a:spLocks noGrp="1" noChangeArrowheads="1"/>
          </p:cNvSpPr>
          <p:nvPr>
            <p:ph type="title"/>
          </p:nvPr>
        </p:nvSpPr>
        <p:spPr>
          <a:xfrm>
            <a:off x="1524000" y="891204"/>
            <a:ext cx="9144000" cy="1143000"/>
          </a:xfrm>
          <a:noFill/>
          <a:extLst>
            <a:ext uri="{91240B29-F687-4F45-9708-019B960494DF}">
              <a14:hiddenLine xmlns:a14="http://schemas.microsoft.com/office/drawing/2010/main" w="9525">
                <a:solidFill>
                  <a:schemeClr val="tx1"/>
                </a:solidFill>
                <a:prstDash val="solid"/>
                <a:miter lim="800000"/>
                <a:headEnd/>
                <a:tailEnd/>
              </a14:hiddenLine>
            </a:ext>
          </a:extLst>
        </p:spPr>
        <p:txBody>
          <a:bodyPr vert="horz" lIns="92075" tIns="46038" rIns="92075" bIns="46038" rtlCol="0" anchor="ctr" anchorCtr="0">
            <a:normAutofit fontScale="90000"/>
          </a:bodyPr>
          <a:lstStyle/>
          <a:p>
            <a:r>
              <a:rPr lang="en-US" sz="3600" b="1" dirty="0">
                <a:cs typeface="Arial" panose="020B0604020202020204" pitchFamily="34" charset="0"/>
              </a:rPr>
              <a:t>Choosing and Implementing </a:t>
            </a:r>
            <a:br>
              <a:rPr lang="en-US" sz="3600" b="1" dirty="0">
                <a:cs typeface="Arial" panose="020B0604020202020204" pitchFamily="34" charset="0"/>
              </a:rPr>
            </a:br>
            <a:r>
              <a:rPr lang="en-US" sz="3600" b="1" dirty="0">
                <a:cs typeface="Arial" panose="020B0604020202020204" pitchFamily="34" charset="0"/>
              </a:rPr>
              <a:t>a Positioning Strategy	</a:t>
            </a:r>
          </a:p>
        </p:txBody>
      </p:sp>
      <p:sp>
        <p:nvSpPr>
          <p:cNvPr id="889860" name="Rectangle 4"/>
          <p:cNvSpPr>
            <a:spLocks noGrp="1" noChangeArrowheads="1"/>
          </p:cNvSpPr>
          <p:nvPr>
            <p:ph type="body" idx="1"/>
          </p:nvPr>
        </p:nvSpPr>
        <p:spPr>
          <a:xfrm>
            <a:off x="1600200" y="2457450"/>
            <a:ext cx="9144000" cy="3790950"/>
          </a:xfrm>
          <a:noFill/>
          <a:extLst>
            <a:ext uri="{91240B29-F687-4F45-9708-019B960494DF}">
              <a14:hiddenLine xmlns:a14="http://schemas.microsoft.com/office/drawing/2010/main" w="12700">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81204" tIns="39889" rIns="81204" bIns="39889" rtlCol="0" anchor="t">
            <a:normAutofit/>
          </a:bodyPr>
          <a:lstStyle/>
          <a:p>
            <a:r>
              <a:rPr lang="en-US" dirty="0">
                <a:latin typeface="Arial Unicode MS" pitchFamily="34" charset="-128"/>
              </a:rPr>
              <a:t>Step 1.  Identifying a set of possible competitive advantages: Competitive Differentiation.</a:t>
            </a:r>
          </a:p>
          <a:p>
            <a:endParaRPr lang="en-US" dirty="0">
              <a:latin typeface="Arial Unicode MS" pitchFamily="34" charset="-128"/>
            </a:endParaRPr>
          </a:p>
          <a:p>
            <a:r>
              <a:rPr lang="en-US" dirty="0">
                <a:latin typeface="Arial Unicode MS" pitchFamily="34" charset="-128"/>
              </a:rPr>
              <a:t>Step 2.  Selecting the right competitive advantage.</a:t>
            </a:r>
          </a:p>
          <a:p>
            <a:endParaRPr lang="en-US" dirty="0">
              <a:latin typeface="Arial Unicode MS" pitchFamily="34" charset="-128"/>
            </a:endParaRPr>
          </a:p>
          <a:p>
            <a:r>
              <a:rPr lang="en-US" dirty="0">
                <a:latin typeface="Arial Unicode MS" pitchFamily="34" charset="-128"/>
              </a:rPr>
              <a:t>Step 3.  Effectively communicating and delivering the chosen position to the market.</a:t>
            </a:r>
          </a:p>
        </p:txBody>
      </p:sp>
    </p:spTree>
    <p:extLst>
      <p:ext uri="{BB962C8B-B14F-4D97-AF65-F5344CB8AC3E}">
        <p14:creationId xmlns:p14="http://schemas.microsoft.com/office/powerpoint/2010/main" val="27495195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914400" y="546649"/>
            <a:ext cx="10363200" cy="1143000"/>
          </a:xfrm>
        </p:spPr>
        <p:txBody>
          <a:bodyPr/>
          <a:lstStyle/>
          <a:p>
            <a:r>
              <a:rPr lang="en-US" sz="3600" dirty="0"/>
              <a:t>Differentiation and Positioning</a:t>
            </a:r>
          </a:p>
        </p:txBody>
      </p:sp>
      <p:sp>
        <p:nvSpPr>
          <p:cNvPr id="34819" name="Content Placeholder 4"/>
          <p:cNvSpPr>
            <a:spLocks noGrp="1"/>
          </p:cNvSpPr>
          <p:nvPr>
            <p:ph idx="1"/>
          </p:nvPr>
        </p:nvSpPr>
        <p:spPr>
          <a:xfrm>
            <a:off x="3200400" y="2170044"/>
            <a:ext cx="5562600" cy="4114800"/>
          </a:xfrm>
        </p:spPr>
        <p:txBody>
          <a:bodyPr/>
          <a:lstStyle/>
          <a:p>
            <a:pPr>
              <a:buFontTx/>
              <a:buNone/>
            </a:pPr>
            <a:r>
              <a:rPr lang="en-US" dirty="0">
                <a:latin typeface="Calibri" panose="020F0502020204030204" charset="0"/>
                <a:cs typeface="Calibri" panose="020F0502020204030204" charset="0"/>
              </a:rPr>
              <a:t>	Identifying a set of possible competitive advantages to build a position by providing superior value from:</a:t>
            </a:r>
          </a:p>
          <a:p>
            <a:endParaRPr lang="en-US" dirty="0" smtClean="0">
              <a:latin typeface="Calibri" panose="020F0502020204030204" charset="0"/>
              <a:cs typeface="Calibri" panose="020F0502020204030204" charset="0"/>
            </a:endParaRPr>
          </a:p>
          <a:p>
            <a:endParaRPr lang="en-US" dirty="0" smtClean="0">
              <a:latin typeface="Calibri" panose="020F0502020204030204" charset="0"/>
              <a:cs typeface="Calibri" panose="020F0502020204030204" charset="0"/>
            </a:endParaRPr>
          </a:p>
        </p:txBody>
      </p:sp>
      <p:sp>
        <p:nvSpPr>
          <p:cNvPr id="34820" name="Rectangle 3"/>
          <p:cNvSpPr>
            <a:spLocks noGrp="1" noChangeArrowheads="1"/>
          </p:cNvSpPr>
          <p:nvPr>
            <p:ph type="body" sz="quarter" idx="13"/>
          </p:nvPr>
        </p:nvSpPr>
        <p:spPr>
          <a:xfrm>
            <a:off x="2514600" y="1577004"/>
            <a:ext cx="7162800" cy="381000"/>
          </a:xfrm>
        </p:spPr>
        <p:txBody>
          <a:bodyPr>
            <a:normAutofit fontScale="77500" lnSpcReduction="20000"/>
          </a:bodyPr>
          <a:lstStyle/>
          <a:p>
            <a:r>
              <a:rPr lang="en-US" dirty="0" smtClean="0">
                <a:latin typeface="Calibri" panose="020F0502020204030204" charset="0"/>
                <a:cs typeface="Calibri" panose="020F0502020204030204" charset="0"/>
              </a:rPr>
              <a:t>Choosing a Differentiation and Positioning Strategy</a:t>
            </a:r>
          </a:p>
        </p:txBody>
      </p:sp>
      <p:graphicFrame>
        <p:nvGraphicFramePr>
          <p:cNvPr id="9" name="Diagram 8"/>
          <p:cNvGraphicFramePr/>
          <p:nvPr/>
        </p:nvGraphicFramePr>
        <p:xfrm>
          <a:off x="3676650" y="3525838"/>
          <a:ext cx="4648200" cy="24384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506729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914400" y="407502"/>
            <a:ext cx="10363200" cy="1143000"/>
          </a:xfrm>
        </p:spPr>
        <p:txBody>
          <a:bodyPr/>
          <a:lstStyle/>
          <a:p>
            <a:r>
              <a:rPr lang="en-US" sz="3600" dirty="0"/>
              <a:t>Differentiation and Positioning</a:t>
            </a:r>
          </a:p>
        </p:txBody>
      </p:sp>
      <p:sp>
        <p:nvSpPr>
          <p:cNvPr id="35843" name="Content Placeholder 3"/>
          <p:cNvSpPr>
            <a:spLocks noGrp="1"/>
          </p:cNvSpPr>
          <p:nvPr>
            <p:ph idx="1"/>
          </p:nvPr>
        </p:nvSpPr>
        <p:spPr>
          <a:xfrm>
            <a:off x="1676400" y="2514600"/>
            <a:ext cx="3429000" cy="4114800"/>
          </a:xfrm>
        </p:spPr>
        <p:txBody>
          <a:bodyPr/>
          <a:lstStyle/>
          <a:p>
            <a:pPr marL="173355" indent="-173355">
              <a:buNone/>
            </a:pPr>
            <a:r>
              <a:rPr lang="en-US" b="1" dirty="0" smtClean="0">
                <a:latin typeface="Calibri" panose="020F0502020204030204" charset="0"/>
                <a:cs typeface="Calibri" panose="020F0502020204030204" charset="0"/>
              </a:rPr>
              <a:t>	Value proposition </a:t>
            </a:r>
            <a:r>
              <a:rPr lang="en-US" dirty="0" smtClean="0">
                <a:latin typeface="Calibri" panose="020F0502020204030204" charset="0"/>
                <a:cs typeface="Calibri" panose="020F0502020204030204" charset="0"/>
              </a:rPr>
              <a:t>is the full positioning of a brand -the full mix of benefits upon which a brand is positioned</a:t>
            </a:r>
          </a:p>
          <a:p>
            <a:pPr marL="173355" indent="-173355"/>
            <a:endParaRPr lang="en-US" dirty="0" smtClean="0">
              <a:latin typeface="Calibri" panose="020F0502020204030204" charset="0"/>
              <a:cs typeface="Calibri" panose="020F0502020204030204" charset="0"/>
            </a:endParaRPr>
          </a:p>
        </p:txBody>
      </p:sp>
      <p:sp>
        <p:nvSpPr>
          <p:cNvPr id="35844" name="Rectangle 3"/>
          <p:cNvSpPr>
            <a:spLocks noGrp="1" noChangeArrowheads="1"/>
          </p:cNvSpPr>
          <p:nvPr>
            <p:ph type="body" sz="quarter" idx="13"/>
          </p:nvPr>
        </p:nvSpPr>
        <p:spPr>
          <a:xfrm>
            <a:off x="2438400" y="1219200"/>
            <a:ext cx="7162800" cy="381000"/>
          </a:xfrm>
        </p:spPr>
        <p:txBody>
          <a:bodyPr>
            <a:normAutofit fontScale="77500" lnSpcReduction="20000"/>
          </a:bodyPr>
          <a:lstStyle/>
          <a:p>
            <a:r>
              <a:rPr lang="en-US" smtClean="0">
                <a:latin typeface="Calibri" panose="020F0502020204030204" charset="0"/>
                <a:cs typeface="Calibri" panose="020F0502020204030204" charset="0"/>
              </a:rPr>
              <a:t>Selecting an Overall Positioning Strategy</a:t>
            </a:r>
          </a:p>
        </p:txBody>
      </p:sp>
      <p:pic>
        <p:nvPicPr>
          <p:cNvPr id="35845" name="Picture 5" descr="fig07_04wo.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981201"/>
            <a:ext cx="4762500" cy="408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913715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2817" y="1252331"/>
            <a:ext cx="10137913" cy="4393096"/>
          </a:xfrm>
          <a:prstGeom prst="rect">
            <a:avLst/>
          </a:prstGeom>
        </p:spPr>
      </p:pic>
    </p:spTree>
    <p:extLst>
      <p:ext uri="{BB962C8B-B14F-4D97-AF65-F5344CB8AC3E}">
        <p14:creationId xmlns:p14="http://schemas.microsoft.com/office/powerpoint/2010/main" val="28714708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4"/>
          <p:cNvSpPr>
            <a:spLocks noChangeArrowheads="1"/>
          </p:cNvSpPr>
          <p:nvPr/>
        </p:nvSpPr>
        <p:spPr bwMode="auto">
          <a:xfrm>
            <a:off x="-3725863" y="211455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p>
            <a:endParaRPr lang="en-US"/>
          </a:p>
        </p:txBody>
      </p:sp>
      <p:pic>
        <p:nvPicPr>
          <p:cNvPr id="37891" name="Picture 5" descr="cid:3287383400_217756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6901" y="971551"/>
            <a:ext cx="8423275" cy="2747963"/>
          </a:xfrm>
          <a:prstGeom prst="rect">
            <a:avLst/>
          </a:prstGeom>
          <a:solidFill>
            <a:schemeClr val="hlink"/>
          </a:solidFill>
          <a:ln w="9525">
            <a:solidFill>
              <a:schemeClr val="bg1"/>
            </a:solidFill>
            <a:miter lim="800000"/>
            <a:headEnd/>
            <a:tailEnd/>
          </a:ln>
        </p:spPr>
      </p:pic>
      <p:sp>
        <p:nvSpPr>
          <p:cNvPr id="37892" name="Rectangle 6"/>
          <p:cNvSpPr>
            <a:spLocks noChangeArrowheads="1"/>
          </p:cNvSpPr>
          <p:nvPr/>
        </p:nvSpPr>
        <p:spPr bwMode="auto">
          <a:xfrm>
            <a:off x="2232025" y="3894139"/>
            <a:ext cx="7589838"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pPr algn="ctr"/>
            <a:r>
              <a:rPr lang="en-US" sz="1600">
                <a:solidFill>
                  <a:srgbClr val="000000"/>
                </a:solidFill>
                <a:cs typeface="Times New Roman" panose="02020603050405020304"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2262189" y="5327650"/>
            <a:ext cx="7845425" cy="636588"/>
          </a:xfrm>
          <a:prstGeom prst="rect">
            <a:avLst/>
          </a:prstGeom>
          <a:noFill/>
          <a:ln>
            <a:miter lim="800000"/>
          </a:ln>
        </p:spPr>
        <p:txBody>
          <a:bodyPr anchor="b"/>
          <a:lstStyle>
            <a:lvl1pPr eaLnBrk="0" hangingPunct="0">
              <a:defRPr sz="2400">
                <a:solidFill>
                  <a:schemeClr val="tx1"/>
                </a:solidFill>
                <a:latin typeface="Arial" panose="020B0604020202020204" pitchFamily="34" charset="0"/>
                <a:ea typeface="ヒラギノ角ゴ Pro W3" charset="-128"/>
              </a:defRPr>
            </a:lvl1pPr>
            <a:lvl2pPr marL="37931725" indent="-37474525" eaLnBrk="0" hangingPunct="0">
              <a:defRPr sz="2400">
                <a:solidFill>
                  <a:schemeClr val="tx1"/>
                </a:solidFill>
                <a:latin typeface="Arial" panose="020B0604020202020204" pitchFamily="34" charset="0"/>
                <a:ea typeface="ヒラギノ角ゴ Pro W3" charset="-128"/>
              </a:defRPr>
            </a:lvl2pPr>
            <a:lvl3pPr eaLnBrk="0" hangingPunct="0">
              <a:defRPr sz="2400">
                <a:solidFill>
                  <a:schemeClr val="tx1"/>
                </a:solidFill>
                <a:latin typeface="Arial" panose="020B0604020202020204" pitchFamily="34" charset="0"/>
                <a:ea typeface="ヒラギノ角ゴ Pro W3" charset="-128"/>
              </a:defRPr>
            </a:lvl3pPr>
            <a:lvl4pPr eaLnBrk="0" hangingPunct="0">
              <a:defRPr sz="2400">
                <a:solidFill>
                  <a:schemeClr val="tx1"/>
                </a:solidFill>
                <a:latin typeface="Arial" panose="020B0604020202020204" pitchFamily="34" charset="0"/>
                <a:ea typeface="ヒラギノ角ゴ Pro W3" charset="-128"/>
              </a:defRPr>
            </a:lvl4pPr>
            <a:lvl5pPr eaLnBrk="0" hangingPunct="0">
              <a:defRPr sz="2400">
                <a:solidFill>
                  <a:schemeClr val="tx1"/>
                </a:solidFill>
                <a:latin typeface="Arial" panose="020B0604020202020204" pitchFamily="34" charset="0"/>
                <a:ea typeface="ヒラギノ角ゴ Pro W3"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algn="ctr" eaLnBrk="1" hangingPunct="1">
              <a:defRPr/>
            </a:pPr>
            <a:r>
              <a:rPr lang="en-US" sz="1800">
                <a:solidFill>
                  <a:srgbClr val="000000"/>
                </a:solidFill>
                <a:effectLst>
                  <a:outerShdw blurRad="38100" dist="38100" dir="2700000" algn="tl">
                    <a:srgbClr val="C0C0C0"/>
                  </a:outerShdw>
                </a:effectLst>
              </a:rPr>
              <a:t>Copyright © 2010 Pearson Education, Inc.  </a:t>
            </a:r>
          </a:p>
          <a:p>
            <a:pPr algn="ctr" eaLnBrk="1" hangingPunct="1">
              <a:defRPr/>
            </a:pPr>
            <a:r>
              <a:rPr lang="en-US" sz="1800">
                <a:solidFill>
                  <a:srgbClr val="000000"/>
                </a:solidFill>
                <a:effectLst>
                  <a:outerShdw blurRad="38100" dist="38100" dir="2700000" algn="tl">
                    <a:srgbClr val="C0C0C0"/>
                  </a:outerShdw>
                </a:effectLst>
              </a:rPr>
              <a:t>Publishing as Prentice Hall</a:t>
            </a:r>
          </a:p>
        </p:txBody>
      </p:sp>
    </p:spTree>
    <p:extLst>
      <p:ext uri="{BB962C8B-B14F-4D97-AF65-F5344CB8AC3E}">
        <p14:creationId xmlns:p14="http://schemas.microsoft.com/office/powerpoint/2010/main" val="1385179087"/>
      </p:ext>
    </p:extLst>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2180</TotalTime>
  <Words>1071</Words>
  <Application>Microsoft Office PowerPoint</Application>
  <PresentationFormat>Widescreen</PresentationFormat>
  <Paragraphs>197</Paragraphs>
  <Slides>35</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 Unicode MS</vt:lpstr>
      <vt:lpstr>Arial</vt:lpstr>
      <vt:lpstr>Calibri</vt:lpstr>
      <vt:lpstr>Garamond</vt:lpstr>
      <vt:lpstr>Helvetica</vt:lpstr>
      <vt:lpstr>Times New Roman</vt:lpstr>
      <vt:lpstr>Wingdings</vt:lpstr>
      <vt:lpstr>ヒラギノ角ゴ Pro W3</vt:lpstr>
      <vt:lpstr>Organic</vt:lpstr>
      <vt:lpstr>Target Marketing and Strategies</vt:lpstr>
      <vt:lpstr>PowerPoint Presentation</vt:lpstr>
      <vt:lpstr>Two Basic Approaches</vt:lpstr>
      <vt:lpstr>Market Segmentation</vt:lpstr>
      <vt:lpstr>Major Steps in Target Marketing</vt:lpstr>
      <vt:lpstr>Market Segmentation</vt:lpstr>
      <vt:lpstr>Target Marketing</vt:lpstr>
      <vt:lpstr>Market Positioning</vt:lpstr>
      <vt:lpstr>Segmenting Consumer Markets</vt:lpstr>
      <vt:lpstr>Geographical Segmentation</vt:lpstr>
      <vt:lpstr>Geographic Segmentation  Variables</vt:lpstr>
      <vt:lpstr>Demographic Segmentation</vt:lpstr>
      <vt:lpstr>Demographic Segmentation Variables</vt:lpstr>
      <vt:lpstr>Psychographic Segmentation</vt:lpstr>
      <vt:lpstr>Psychographic Segmentation  Variables</vt:lpstr>
      <vt:lpstr>Behavioral Segmentation</vt:lpstr>
      <vt:lpstr>Behavioral Segmentation  Variables</vt:lpstr>
      <vt:lpstr>Market Segmentation</vt:lpstr>
      <vt:lpstr>Steps in the Target Marketing Process</vt:lpstr>
      <vt:lpstr>Evaluating Market Segments</vt:lpstr>
      <vt:lpstr>PowerPoint Presentation</vt:lpstr>
      <vt:lpstr>Target Marketing Strategies</vt:lpstr>
      <vt:lpstr>PowerPoint Presentation</vt:lpstr>
      <vt:lpstr>PowerPoint Presentation</vt:lpstr>
      <vt:lpstr>PowerPoint Presentation</vt:lpstr>
      <vt:lpstr>PowerPoint Presentation</vt:lpstr>
      <vt:lpstr>PowerPoint Presentation</vt:lpstr>
      <vt:lpstr>PowerPoint Presentation</vt:lpstr>
      <vt:lpstr>Positioning for Competitive Advantage</vt:lpstr>
      <vt:lpstr>Differentiation and Positioning</vt:lpstr>
      <vt:lpstr>Choosing and Implementing  a Positioning Strategy </vt:lpstr>
      <vt:lpstr>Differentiation and Positioning</vt:lpstr>
      <vt:lpstr>Differentiation and Positioning</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Target Marketing and Strategies</dc:title>
  <dc:creator>Sonic</dc:creator>
  <cp:lastModifiedBy>Sonic</cp:lastModifiedBy>
  <cp:revision>12</cp:revision>
  <dcterms:created xsi:type="dcterms:W3CDTF">2023-10-23T08:48:33Z</dcterms:created>
  <dcterms:modified xsi:type="dcterms:W3CDTF">2024-03-05T10:46:39Z</dcterms:modified>
</cp:coreProperties>
</file>
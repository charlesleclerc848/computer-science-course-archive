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283" r:id="rId3"/>
    <p:sldId id="284" r:id="rId4"/>
    <p:sldId id="259" r:id="rId5"/>
    <p:sldId id="260" r:id="rId6"/>
    <p:sldId id="285" r:id="rId7"/>
    <p:sldId id="286" r:id="rId8"/>
    <p:sldId id="287" r:id="rId9"/>
    <p:sldId id="261" r:id="rId10"/>
    <p:sldId id="262" r:id="rId11"/>
    <p:sldId id="263" r:id="rId12"/>
    <p:sldId id="264" r:id="rId13"/>
    <p:sldId id="265" r:id="rId14"/>
    <p:sldId id="266" r:id="rId15"/>
    <p:sldId id="267" r:id="rId16"/>
    <p:sldId id="269" r:id="rId17"/>
    <p:sldId id="281" r:id="rId18"/>
    <p:sldId id="282" r:id="rId19"/>
    <p:sldId id="272" r:id="rId20"/>
    <p:sldId id="273" r:id="rId21"/>
    <p:sldId id="274" r:id="rId22"/>
    <p:sldId id="275" r:id="rId23"/>
    <p:sldId id="276" r:id="rId24"/>
    <p:sldId id="277" r:id="rId25"/>
    <p:sldId id="278" r:id="rId26"/>
    <p:sldId id="279" r:id="rId27"/>
    <p:sldId id="280"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15" autoAdjust="0"/>
  </p:normalViewPr>
  <p:slideViewPr>
    <p:cSldViewPr>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4FE883-8D47-4202-9D97-0157076E0C6E}" type="datetimeFigureOut">
              <a:rPr lang="en-US" smtClean="0"/>
              <a:t>4/11/2026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B8CC4-9C71-4E44-80F1-A32EBA987895}" type="slidenum">
              <a:rPr lang="en-US" smtClean="0"/>
              <a:t>‹#›</a:t>
            </a:fld>
            <a:endParaRPr lang="en-US"/>
          </a:p>
        </p:txBody>
      </p:sp>
    </p:spTree>
    <p:extLst>
      <p:ext uri="{BB962C8B-B14F-4D97-AF65-F5344CB8AC3E}">
        <p14:creationId xmlns:p14="http://schemas.microsoft.com/office/powerpoint/2010/main" val="1643286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a:t>
            </a:fld>
            <a:endParaRPr lang="en-US"/>
          </a:p>
        </p:txBody>
      </p:sp>
    </p:spTree>
    <p:extLst>
      <p:ext uri="{BB962C8B-B14F-4D97-AF65-F5344CB8AC3E}">
        <p14:creationId xmlns:p14="http://schemas.microsoft.com/office/powerpoint/2010/main" val="4118912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72746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46108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Applicability</a:t>
            </a:r>
          </a:p>
          <a:p>
            <a:r>
              <a:rPr lang="en-US" sz="1200" b="1" i="0" kern="1200" dirty="0" smtClean="0">
                <a:solidFill>
                  <a:schemeClr val="tx1"/>
                </a:solidFill>
                <a:effectLst/>
                <a:latin typeface="+mn-lt"/>
                <a:ea typeface="+mn-ea"/>
                <a:cs typeface="+mn-cs"/>
              </a:rPr>
              <a:t> Use the Factory Method when you don’t know beforehand the exact types and dependencies of the objects your code should work with.</a:t>
            </a:r>
          </a:p>
          <a:p>
            <a:r>
              <a:rPr lang="en-US" sz="1200" b="0" i="0" kern="1200" dirty="0" smtClean="0">
                <a:solidFill>
                  <a:schemeClr val="tx1"/>
                </a:solidFill>
                <a:effectLst/>
                <a:latin typeface="+mn-lt"/>
                <a:ea typeface="+mn-ea"/>
                <a:cs typeface="+mn-cs"/>
              </a:rPr>
              <a:t> The Factory Method separates product construction code from the code that actually uses the product. Therefore it’s easier to extend the product construction code independently from the rest of the code.</a:t>
            </a:r>
          </a:p>
          <a:p>
            <a:r>
              <a:rPr lang="en-US" sz="1200" b="0" i="0" kern="1200" dirty="0" smtClean="0">
                <a:solidFill>
                  <a:schemeClr val="tx1"/>
                </a:solidFill>
                <a:effectLst/>
                <a:latin typeface="+mn-lt"/>
                <a:ea typeface="+mn-ea"/>
                <a:cs typeface="+mn-cs"/>
              </a:rPr>
              <a:t>For example, to add a new product type to the app, you’ll only need to create a new creator subclass and override the factory method in it.</a:t>
            </a:r>
          </a:p>
          <a:p>
            <a:r>
              <a:rPr lang="en-US" sz="1200" b="1" i="0" kern="1200" dirty="0" smtClean="0">
                <a:solidFill>
                  <a:schemeClr val="tx1"/>
                </a:solidFill>
                <a:effectLst/>
                <a:latin typeface="+mn-lt"/>
                <a:ea typeface="+mn-ea"/>
                <a:cs typeface="+mn-cs"/>
              </a:rPr>
              <a:t> Use the Factory Method when you want to provide users of your library or framework with a way to extend its internal components.</a:t>
            </a:r>
          </a:p>
          <a:p>
            <a:r>
              <a:rPr lang="en-US" sz="1200" b="0" i="0" kern="1200" dirty="0" smtClean="0">
                <a:solidFill>
                  <a:schemeClr val="tx1"/>
                </a:solidFill>
                <a:effectLst/>
                <a:latin typeface="+mn-lt"/>
                <a:ea typeface="+mn-ea"/>
                <a:cs typeface="+mn-cs"/>
              </a:rPr>
              <a:t> Inheritance is probably the easiest way to extend the default behavior of a library or framework. But how would the framework recognize that your subclass should be used instead of a standard component?</a:t>
            </a:r>
          </a:p>
          <a:p>
            <a:r>
              <a:rPr lang="en-US" sz="1200" b="0" i="0" kern="1200" dirty="0" smtClean="0">
                <a:solidFill>
                  <a:schemeClr val="tx1"/>
                </a:solidFill>
                <a:effectLst/>
                <a:latin typeface="+mn-lt"/>
                <a:ea typeface="+mn-ea"/>
                <a:cs typeface="+mn-cs"/>
              </a:rPr>
              <a:t>The solution is to reduce the code that constructs components across the framework into a single factory method and let anyone override this method in addition to extending the component itself.</a:t>
            </a:r>
          </a:p>
          <a:p>
            <a:r>
              <a:rPr lang="en-US" sz="1200" b="1" i="0" kern="1200" dirty="0" smtClean="0">
                <a:solidFill>
                  <a:schemeClr val="tx1"/>
                </a:solidFill>
                <a:effectLst/>
                <a:latin typeface="+mn-lt"/>
                <a:ea typeface="+mn-ea"/>
                <a:cs typeface="+mn-cs"/>
              </a:rPr>
              <a:t> Use the Factory Method when you want to save system resources by reusing existing objects instead of rebuilding them each time.</a:t>
            </a:r>
          </a:p>
          <a:p>
            <a:r>
              <a:rPr lang="en-US" sz="1200" b="0" i="0" kern="1200" dirty="0" smtClean="0">
                <a:solidFill>
                  <a:schemeClr val="tx1"/>
                </a:solidFill>
                <a:effectLst/>
                <a:latin typeface="+mn-lt"/>
                <a:ea typeface="+mn-ea"/>
                <a:cs typeface="+mn-cs"/>
              </a:rPr>
              <a:t> You often experience this need when dealing with large, resource-intensive objects such as database connections, file systems, and network resources.</a:t>
            </a:r>
          </a:p>
          <a:p>
            <a:r>
              <a:rPr lang="en-US" sz="1200" b="0" i="0" kern="1200" dirty="0" smtClean="0">
                <a:solidFill>
                  <a:schemeClr val="tx1"/>
                </a:solidFill>
                <a:effectLst/>
                <a:latin typeface="+mn-lt"/>
                <a:ea typeface="+mn-ea"/>
                <a:cs typeface="+mn-cs"/>
              </a:rPr>
              <a:t>Let’s think about what has to be done to reuse an existing object:</a:t>
            </a:r>
          </a:p>
          <a:p>
            <a:r>
              <a:rPr lang="en-US" sz="1200" b="0" i="0" kern="1200" dirty="0" smtClean="0">
                <a:solidFill>
                  <a:schemeClr val="tx1"/>
                </a:solidFill>
                <a:effectLst/>
                <a:latin typeface="+mn-lt"/>
                <a:ea typeface="+mn-ea"/>
                <a:cs typeface="+mn-cs"/>
              </a:rPr>
              <a:t>First, you need to create some storage to keep track of all of the created objects.</a:t>
            </a:r>
          </a:p>
          <a:p>
            <a:r>
              <a:rPr lang="en-US" sz="1200" b="0" i="0" kern="1200" dirty="0" smtClean="0">
                <a:solidFill>
                  <a:schemeClr val="tx1"/>
                </a:solidFill>
                <a:effectLst/>
                <a:latin typeface="+mn-lt"/>
                <a:ea typeface="+mn-ea"/>
                <a:cs typeface="+mn-cs"/>
              </a:rPr>
              <a:t>When someone requests an object, the program should look for a free object inside that pool.</a:t>
            </a:r>
          </a:p>
          <a:p>
            <a:r>
              <a:rPr lang="en-US" sz="1200" b="0" i="0" kern="1200" dirty="0" smtClean="0">
                <a:solidFill>
                  <a:schemeClr val="tx1"/>
                </a:solidFill>
                <a:effectLst/>
                <a:latin typeface="+mn-lt"/>
                <a:ea typeface="+mn-ea"/>
                <a:cs typeface="+mn-cs"/>
              </a:rPr>
              <a:t>… and then return it to the client code.</a:t>
            </a:r>
          </a:p>
          <a:p>
            <a:r>
              <a:rPr lang="en-US" sz="1200" b="0" i="0" kern="1200" dirty="0" smtClean="0">
                <a:solidFill>
                  <a:schemeClr val="tx1"/>
                </a:solidFill>
                <a:effectLst/>
                <a:latin typeface="+mn-lt"/>
                <a:ea typeface="+mn-ea"/>
                <a:cs typeface="+mn-cs"/>
              </a:rPr>
              <a:t>If there are no free objects, the program should create a new one (and add it to the pool).</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4</a:t>
            </a:fld>
            <a:endParaRPr lang="en-US"/>
          </a:p>
        </p:txBody>
      </p:sp>
    </p:spTree>
    <p:extLst>
      <p:ext uri="{BB962C8B-B14F-4D97-AF65-F5344CB8AC3E}">
        <p14:creationId xmlns:p14="http://schemas.microsoft.com/office/powerpoint/2010/main" val="117145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Core Concept of the Factory Pattern:</a:t>
            </a:r>
          </a:p>
          <a:p>
            <a:r>
              <a:rPr lang="en-US" dirty="0" smtClean="0"/>
              <a:t>The </a:t>
            </a:r>
            <a:r>
              <a:rPr lang="en-US" b="1" dirty="0" smtClean="0"/>
              <a:t>Factory Pattern</a:t>
            </a:r>
            <a:r>
              <a:rPr lang="en-US" dirty="0" smtClean="0"/>
              <a:t> is a </a:t>
            </a:r>
            <a:r>
              <a:rPr lang="en-US" b="1" dirty="0" smtClean="0"/>
              <a:t>creational design pattern</a:t>
            </a:r>
            <a:r>
              <a:rPr lang="en-US" dirty="0" smtClean="0"/>
              <a:t> that provides an interface for creating objects in a superclass, but allows subclasses to alter the type of objects that will be created.</a:t>
            </a:r>
          </a:p>
          <a:p>
            <a:r>
              <a:rPr lang="en-US" b="1" dirty="0" smtClean="0"/>
              <a:t>📘 Components in the Diagram:</a:t>
            </a:r>
          </a:p>
          <a:p>
            <a:r>
              <a:rPr lang="en-US" b="1" dirty="0" smtClean="0"/>
              <a:t>1. Shape Interface (Top Center)</a:t>
            </a:r>
          </a:p>
          <a:p>
            <a:r>
              <a:rPr lang="en-US" dirty="0" smtClean="0"/>
              <a:t>This is the </a:t>
            </a:r>
            <a:r>
              <a:rPr lang="en-US" b="1" dirty="0" smtClean="0"/>
              <a:t>blueprint/interface</a:t>
            </a:r>
            <a:r>
              <a:rPr lang="en-US" dirty="0" smtClean="0"/>
              <a:t> that defines a common method: +draw(): void</a:t>
            </a:r>
          </a:p>
          <a:p>
            <a:r>
              <a:rPr lang="en-US" dirty="0" smtClean="0"/>
              <a:t>+ means public.</a:t>
            </a:r>
          </a:p>
          <a:p>
            <a:r>
              <a:rPr lang="en-US" dirty="0" smtClean="0"/>
              <a:t>Classes that implement this interface must define their own version of draw().</a:t>
            </a:r>
          </a:p>
          <a:p>
            <a:r>
              <a:rPr lang="en-US" b="1" dirty="0" smtClean="0"/>
              <a:t>2. Concrete Classes: Circle, Square, Rectangle (Bottom Left)</a:t>
            </a:r>
          </a:p>
          <a:p>
            <a:r>
              <a:rPr lang="en-US" dirty="0" smtClean="0"/>
              <a:t>These three classes </a:t>
            </a:r>
            <a:r>
              <a:rPr lang="en-US" b="1" dirty="0" smtClean="0"/>
              <a:t>implement</a:t>
            </a:r>
            <a:r>
              <a:rPr lang="en-US" dirty="0" smtClean="0"/>
              <a:t> the Shape interface.</a:t>
            </a:r>
          </a:p>
          <a:p>
            <a:r>
              <a:rPr lang="en-US" dirty="0" smtClean="0"/>
              <a:t>Each provides its own implementation of the draw() method.</a:t>
            </a:r>
          </a:p>
          <a:p>
            <a:pPr lvl="1"/>
            <a:r>
              <a:rPr lang="en-US" dirty="0" smtClean="0"/>
              <a:t>For example:</a:t>
            </a:r>
          </a:p>
          <a:p>
            <a:pPr lvl="2"/>
            <a:r>
              <a:rPr lang="en-US" dirty="0" err="1" smtClean="0"/>
              <a:t>Circle.draw</a:t>
            </a:r>
            <a:r>
              <a:rPr lang="en-US" dirty="0" smtClean="0"/>
              <a:t>() might draw a circle.</a:t>
            </a:r>
          </a:p>
          <a:p>
            <a:pPr lvl="2"/>
            <a:r>
              <a:rPr lang="en-US" dirty="0" err="1" smtClean="0"/>
              <a:t>Square.draw</a:t>
            </a:r>
            <a:r>
              <a:rPr lang="en-US" dirty="0" smtClean="0"/>
              <a:t>() might draw a square, etc.</a:t>
            </a:r>
          </a:p>
          <a:p>
            <a:r>
              <a:rPr lang="en-US" b="1" dirty="0" smtClean="0"/>
              <a:t>3. </a:t>
            </a:r>
            <a:r>
              <a:rPr lang="en-US" b="1" dirty="0" err="1" smtClean="0"/>
              <a:t>ShapeFactory</a:t>
            </a:r>
            <a:r>
              <a:rPr lang="en-US" b="1" dirty="0" smtClean="0"/>
              <a:t> Class (Bottom Right Center)</a:t>
            </a:r>
          </a:p>
          <a:p>
            <a:r>
              <a:rPr lang="en-US" dirty="0" smtClean="0"/>
              <a:t>This is the </a:t>
            </a:r>
            <a:r>
              <a:rPr lang="en-US" b="1" dirty="0" smtClean="0"/>
              <a:t>factory class</a:t>
            </a:r>
            <a:r>
              <a:rPr lang="en-US" dirty="0" smtClean="0"/>
              <a:t> responsible for </a:t>
            </a:r>
            <a:r>
              <a:rPr lang="en-US" b="1" dirty="0" smtClean="0"/>
              <a:t>creating objects</a:t>
            </a:r>
            <a:r>
              <a:rPr lang="en-US" dirty="0" smtClean="0"/>
              <a:t> of type Shape.</a:t>
            </a:r>
          </a:p>
          <a:p>
            <a:r>
              <a:rPr lang="en-US" dirty="0" smtClean="0"/>
              <a:t>It has a method +</a:t>
            </a:r>
            <a:r>
              <a:rPr lang="en-US" dirty="0" err="1" smtClean="0"/>
              <a:t>getShape</a:t>
            </a:r>
            <a:r>
              <a:rPr lang="en-US" dirty="0" smtClean="0"/>
              <a:t>(): Shape that:</a:t>
            </a:r>
          </a:p>
          <a:p>
            <a:pPr lvl="1"/>
            <a:r>
              <a:rPr lang="en-US" dirty="0" smtClean="0"/>
              <a:t>Accepts some input (like a string).</a:t>
            </a:r>
          </a:p>
          <a:p>
            <a:pPr lvl="1"/>
            <a:r>
              <a:rPr lang="en-US" dirty="0" smtClean="0"/>
              <a:t>Returns an object of type Shape (could be Circle, Square, or Rectangle depending on the input).</a:t>
            </a:r>
          </a:p>
          <a:p>
            <a:r>
              <a:rPr lang="en-US" b="1" dirty="0" smtClean="0"/>
              <a:t>4. </a:t>
            </a:r>
            <a:r>
              <a:rPr lang="en-US" b="1" dirty="0" err="1" smtClean="0"/>
              <a:t>FactoryPatternDemo</a:t>
            </a:r>
            <a:r>
              <a:rPr lang="en-US" b="1" dirty="0" smtClean="0"/>
              <a:t> Class (Top Right)</a:t>
            </a:r>
          </a:p>
          <a:p>
            <a:r>
              <a:rPr lang="en-US" dirty="0" smtClean="0"/>
              <a:t>This is the </a:t>
            </a:r>
            <a:r>
              <a:rPr lang="en-US" b="1" dirty="0" smtClean="0"/>
              <a:t>main class</a:t>
            </a:r>
            <a:r>
              <a:rPr lang="en-US" dirty="0" smtClean="0"/>
              <a:t> (often the entry point).</a:t>
            </a:r>
          </a:p>
          <a:p>
            <a:r>
              <a:rPr lang="en-US" dirty="0" smtClean="0"/>
              <a:t>It contains the main() method where:</a:t>
            </a:r>
          </a:p>
          <a:p>
            <a:pPr lvl="1"/>
            <a:r>
              <a:rPr lang="en-US" dirty="0" smtClean="0"/>
              <a:t>The client asks the factory to create a specific shape.</a:t>
            </a:r>
          </a:p>
          <a:p>
            <a:pPr lvl="1"/>
            <a:r>
              <a:rPr lang="en-US" dirty="0" smtClean="0"/>
              <a:t>The returned shape object is then used to call the draw() method.</a:t>
            </a:r>
          </a:p>
          <a:p>
            <a:r>
              <a:rPr lang="en-US" b="1" dirty="0" smtClean="0"/>
              <a:t>🔄 Flow Summary:</a:t>
            </a:r>
          </a:p>
          <a:p>
            <a:r>
              <a:rPr lang="en-US" dirty="0" err="1" smtClean="0"/>
              <a:t>FactoryPatternDemo</a:t>
            </a:r>
            <a:r>
              <a:rPr lang="en-US" dirty="0" smtClean="0"/>
              <a:t> → calls </a:t>
            </a:r>
            <a:r>
              <a:rPr lang="en-US" dirty="0" err="1" smtClean="0"/>
              <a:t>ShapeFactory.getShape</a:t>
            </a:r>
            <a:r>
              <a:rPr lang="en-US" dirty="0" smtClean="0"/>
              <a:t>("Circle")</a:t>
            </a:r>
          </a:p>
          <a:p>
            <a:r>
              <a:rPr lang="en-US" dirty="0" err="1" smtClean="0"/>
              <a:t>ShapeFactory</a:t>
            </a:r>
            <a:r>
              <a:rPr lang="en-US" dirty="0" smtClean="0"/>
              <a:t> → returns an instance of Circle which implements Shape</a:t>
            </a:r>
          </a:p>
          <a:p>
            <a:r>
              <a:rPr lang="en-US" dirty="0" err="1" smtClean="0"/>
              <a:t>FactoryPatternDemo</a:t>
            </a:r>
            <a:r>
              <a:rPr lang="en-US" dirty="0" smtClean="0"/>
              <a:t> → calls .draw() on the returned Shape object</a:t>
            </a:r>
          </a:p>
          <a:p>
            <a:r>
              <a:rPr lang="en-US" b="1" dirty="0" smtClean="0"/>
              <a:t>✅ Why Use This Pattern?</a:t>
            </a:r>
          </a:p>
          <a:p>
            <a:r>
              <a:rPr lang="en-US" b="1" dirty="0" smtClean="0"/>
              <a:t>Loose Coupling</a:t>
            </a:r>
            <a:r>
              <a:rPr lang="en-US" dirty="0" smtClean="0"/>
              <a:t>: The main program doesn’t need to know which class it’s instantiating.</a:t>
            </a:r>
          </a:p>
          <a:p>
            <a:r>
              <a:rPr lang="en-US" b="1" dirty="0" smtClean="0"/>
              <a:t>Scalability</a:t>
            </a:r>
            <a:r>
              <a:rPr lang="en-US" dirty="0" smtClean="0"/>
              <a:t>: Easy to add new shapes (e.g., Triangle) without changing existing code.</a:t>
            </a:r>
          </a:p>
          <a:p>
            <a:r>
              <a:rPr lang="en-US" b="1" dirty="0" smtClean="0"/>
              <a:t>Abstraction</a:t>
            </a:r>
            <a:r>
              <a:rPr lang="en-US" dirty="0" smtClean="0"/>
              <a:t>: You use a common interface to interact with different types of objects.</a:t>
            </a:r>
          </a:p>
          <a:p>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8B8CC4-9C71-4E44-80F1-A32EBA987895}" type="slidenum">
              <a:rPr lang="en-US" smtClean="0"/>
              <a:t>9</a:t>
            </a:fld>
            <a:endParaRPr lang="en-US"/>
          </a:p>
        </p:txBody>
      </p:sp>
    </p:spTree>
    <p:extLst>
      <p:ext uri="{BB962C8B-B14F-4D97-AF65-F5344CB8AC3E}">
        <p14:creationId xmlns:p14="http://schemas.microsoft.com/office/powerpoint/2010/main" val="266007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Interface is a </a:t>
            </a:r>
            <a:r>
              <a:rPr lang="en-US" b="1" dirty="0" smtClean="0"/>
              <a:t>keyword</a:t>
            </a:r>
            <a:r>
              <a:rPr lang="en-US" dirty="0" smtClean="0"/>
              <a:t> used to declare an interface in Java.</a:t>
            </a:r>
          </a:p>
          <a:p>
            <a:endParaRPr lang="en-US" dirty="0" smtClean="0"/>
          </a:p>
          <a:p>
            <a:r>
              <a:rPr lang="en-US" dirty="0" smtClean="0"/>
              <a:t>void draw(); is an </a:t>
            </a:r>
            <a:r>
              <a:rPr lang="en-US" b="1" dirty="0" smtClean="0"/>
              <a:t>abstract method by default</a:t>
            </a:r>
            <a:r>
              <a:rPr lang="en-US" dirty="0" smtClean="0"/>
              <a:t> — no body needed.</a:t>
            </a:r>
          </a:p>
          <a:p>
            <a:endParaRPr lang="en-US" dirty="0" smtClean="0"/>
          </a:p>
          <a:p>
            <a:r>
              <a:rPr lang="en-US" dirty="0" smtClean="0"/>
              <a:t>Any class that </a:t>
            </a:r>
            <a:r>
              <a:rPr lang="en-US" b="1" dirty="0" smtClean="0"/>
              <a:t>implements</a:t>
            </a:r>
            <a:r>
              <a:rPr lang="en-US" dirty="0" smtClean="0"/>
              <a:t> this interface must provide a </a:t>
            </a:r>
            <a:r>
              <a:rPr lang="en-US" b="1" dirty="0" smtClean="0"/>
              <a:t>concrete implementation</a:t>
            </a:r>
            <a:r>
              <a:rPr lang="en-US" dirty="0" smtClean="0"/>
              <a:t> of the draw() method.</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10</a:t>
            </a:fld>
            <a:endParaRPr lang="en-US"/>
          </a:p>
        </p:txBody>
      </p:sp>
    </p:spTree>
    <p:extLst>
      <p:ext uri="{BB962C8B-B14F-4D97-AF65-F5344CB8AC3E}">
        <p14:creationId xmlns:p14="http://schemas.microsoft.com/office/powerpoint/2010/main" val="2731610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@Override is an </a:t>
            </a:r>
            <a:r>
              <a:rPr lang="en-US" b="1" dirty="0" smtClean="0"/>
              <a:t>annotation</a:t>
            </a:r>
            <a:r>
              <a:rPr lang="en-US" dirty="0" smtClean="0"/>
              <a:t> used in Java to indicate that a </a:t>
            </a:r>
            <a:r>
              <a:rPr lang="en-US" b="1" dirty="0" smtClean="0"/>
              <a:t>method is being overridden</a:t>
            </a:r>
            <a:r>
              <a:rPr lang="en-US" dirty="0" smtClean="0"/>
              <a:t> from a </a:t>
            </a:r>
            <a:r>
              <a:rPr lang="en-US" b="1" dirty="0" smtClean="0"/>
              <a:t>superclass</a:t>
            </a:r>
            <a:r>
              <a:rPr lang="en-US" dirty="0" smtClean="0"/>
              <a:t> or </a:t>
            </a:r>
            <a:r>
              <a:rPr lang="en-US" b="1" dirty="0" smtClean="0"/>
              <a:t>interface</a:t>
            </a:r>
            <a:r>
              <a:rPr lang="en-US" dirty="0" smtClean="0"/>
              <a:t>.</a:t>
            </a:r>
          </a:p>
          <a:p>
            <a:endParaRPr lang="en-US" dirty="0" smtClean="0"/>
          </a:p>
          <a:p>
            <a:r>
              <a:rPr lang="en-US" dirty="0" smtClean="0"/>
              <a:t>It tells the </a:t>
            </a:r>
            <a:r>
              <a:rPr lang="en-US" b="1" dirty="0" smtClean="0"/>
              <a:t>compiler</a:t>
            </a:r>
            <a:r>
              <a:rPr lang="en-US" dirty="0" smtClean="0"/>
              <a:t> that you’re intentionally overriding a method.</a:t>
            </a:r>
          </a:p>
          <a:p>
            <a:endParaRPr lang="en-US" dirty="0" smtClean="0"/>
          </a:p>
          <a:p>
            <a:r>
              <a:rPr lang="en-US" dirty="0" smtClean="0"/>
              <a:t>If you make a mistake (like a typo), the compiler will </a:t>
            </a:r>
            <a:r>
              <a:rPr lang="en-US" b="1" dirty="0" smtClean="0"/>
              <a:t>catch it</a:t>
            </a:r>
            <a:r>
              <a:rPr lang="en-US" dirty="0" smtClean="0"/>
              <a:t>.</a:t>
            </a:r>
          </a:p>
          <a:p>
            <a:endParaRPr lang="en-US" dirty="0" smtClean="0"/>
          </a:p>
          <a:p>
            <a:r>
              <a:rPr lang="en-US" dirty="0" smtClean="0"/>
              <a:t>It makes your code </a:t>
            </a:r>
            <a:r>
              <a:rPr lang="en-US" b="1" dirty="0" smtClean="0"/>
              <a:t>easier to read and understand</a:t>
            </a:r>
            <a:r>
              <a:rPr lang="en-US" dirty="0" smtClean="0"/>
              <a:t> for others.</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11</a:t>
            </a:fld>
            <a:endParaRPr lang="en-US"/>
          </a:p>
        </p:txBody>
      </p:sp>
    </p:spTree>
    <p:extLst>
      <p:ext uri="{BB962C8B-B14F-4D97-AF65-F5344CB8AC3E}">
        <p14:creationId xmlns:p14="http://schemas.microsoft.com/office/powerpoint/2010/main" val="2357694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public class Square implements Shape</a:t>
            </a:r>
          </a:p>
          <a:p>
            <a:r>
              <a:rPr lang="en-US" dirty="0" smtClean="0"/>
              <a:t>This means:</a:t>
            </a:r>
          </a:p>
          <a:p>
            <a:pPr lvl="1"/>
            <a:r>
              <a:rPr lang="en-US" dirty="0" smtClean="0"/>
              <a:t>Square is a </a:t>
            </a:r>
            <a:r>
              <a:rPr lang="en-US" b="1" dirty="0" smtClean="0"/>
              <a:t>class</a:t>
            </a:r>
            <a:r>
              <a:rPr lang="en-US" dirty="0" smtClean="0"/>
              <a:t>.</a:t>
            </a:r>
          </a:p>
          <a:p>
            <a:pPr lvl="1"/>
            <a:r>
              <a:rPr lang="en-US" dirty="0" smtClean="0"/>
              <a:t>It </a:t>
            </a:r>
            <a:r>
              <a:rPr lang="en-US" b="1" dirty="0" smtClean="0"/>
              <a:t>implements</a:t>
            </a:r>
            <a:r>
              <a:rPr lang="en-US" dirty="0" smtClean="0"/>
              <a:t> the Shape interface — meaning it must provide a definition for </a:t>
            </a:r>
            <a:r>
              <a:rPr lang="en-US" b="1" dirty="0" smtClean="0"/>
              <a:t>all the methods</a:t>
            </a:r>
            <a:r>
              <a:rPr lang="en-US" dirty="0" smtClean="0"/>
              <a:t> declared in the Shape interface.</a:t>
            </a:r>
          </a:p>
          <a:p>
            <a:pPr lvl="1"/>
            <a:r>
              <a:rPr lang="en-US" dirty="0" smtClean="0"/>
              <a:t>So if Shape has a method like void draw();, then Square must override that method.</a:t>
            </a:r>
          </a:p>
          <a:p>
            <a:r>
              <a:rPr lang="en-US" b="1" dirty="0" smtClean="0"/>
              <a:t>✅ @Override</a:t>
            </a:r>
          </a:p>
          <a:p>
            <a:r>
              <a:rPr lang="en-US" dirty="0" smtClean="0"/>
              <a:t>This annotation tells Java that you're </a:t>
            </a:r>
            <a:r>
              <a:rPr lang="en-US" b="1" dirty="0" smtClean="0"/>
              <a:t>overriding</a:t>
            </a:r>
            <a:r>
              <a:rPr lang="en-US" dirty="0" smtClean="0"/>
              <a:t> a method from the interface (Shape in this case).</a:t>
            </a:r>
          </a:p>
          <a:p>
            <a:r>
              <a:rPr lang="en-US" dirty="0" smtClean="0"/>
              <a:t>It ensures you're not making mistakes like:</a:t>
            </a:r>
          </a:p>
          <a:p>
            <a:pPr lvl="1"/>
            <a:r>
              <a:rPr lang="en-US" dirty="0" smtClean="0"/>
              <a:t>Spelling the method name wrong.</a:t>
            </a:r>
          </a:p>
          <a:p>
            <a:pPr lvl="1"/>
            <a:r>
              <a:rPr lang="en-US" dirty="0" smtClean="0"/>
              <a:t>Using the wrong method signature.</a:t>
            </a:r>
          </a:p>
          <a:p>
            <a:r>
              <a:rPr lang="en-US" b="1" dirty="0" smtClean="0"/>
              <a:t>✅ public void draw()</a:t>
            </a:r>
          </a:p>
          <a:p>
            <a:r>
              <a:rPr lang="en-US" dirty="0" smtClean="0"/>
              <a:t>This is the </a:t>
            </a:r>
            <a:r>
              <a:rPr lang="en-US" b="1" dirty="0" smtClean="0"/>
              <a:t>method from the Shape interface</a:t>
            </a:r>
            <a:r>
              <a:rPr lang="en-US" dirty="0" smtClean="0"/>
              <a:t> that you're implementing.</a:t>
            </a:r>
          </a:p>
          <a:p>
            <a:r>
              <a:rPr lang="en-US" dirty="0" smtClean="0"/>
              <a:t>All shape classes (like Rectangle, Circle, Square) will implement their own version of draw().</a:t>
            </a:r>
          </a:p>
          <a:p>
            <a:endParaRPr lang="en-US" dirty="0" smtClean="0"/>
          </a:p>
          <a:p>
            <a:r>
              <a:rPr lang="en-US" b="1" dirty="0" smtClean="0"/>
              <a:t>✅ </a:t>
            </a:r>
            <a:r>
              <a:rPr lang="en-US" b="1" dirty="0" err="1" smtClean="0"/>
              <a:t>System.out.println</a:t>
            </a:r>
            <a:r>
              <a:rPr lang="en-US" b="1" dirty="0" smtClean="0"/>
              <a:t>("Inside Square::draw() method.");</a:t>
            </a:r>
          </a:p>
          <a:p>
            <a:r>
              <a:rPr lang="en-US" dirty="0" smtClean="0"/>
              <a:t>This is just a message to show that the draw() method for the Square object has been called.</a:t>
            </a:r>
          </a:p>
          <a:p>
            <a:r>
              <a:rPr lang="en-US" dirty="0" smtClean="0"/>
              <a:t>It's helpful for </a:t>
            </a:r>
            <a:r>
              <a:rPr lang="en-US" b="1" dirty="0" smtClean="0"/>
              <a:t>debugging</a:t>
            </a:r>
            <a:r>
              <a:rPr lang="en-US" dirty="0" smtClean="0"/>
              <a:t> or demonstrating which shape’s method is running.</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12</a:t>
            </a:fld>
            <a:endParaRPr lang="en-US"/>
          </a:p>
        </p:txBody>
      </p:sp>
    </p:spTree>
    <p:extLst>
      <p:ext uri="{BB962C8B-B14F-4D97-AF65-F5344CB8AC3E}">
        <p14:creationId xmlns:p14="http://schemas.microsoft.com/office/powerpoint/2010/main" val="3003936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public class Circle implements Shape</a:t>
            </a:r>
          </a:p>
          <a:p>
            <a:r>
              <a:rPr lang="en-US" dirty="0" smtClean="0"/>
              <a:t>This means:</a:t>
            </a:r>
          </a:p>
          <a:p>
            <a:pPr lvl="1"/>
            <a:r>
              <a:rPr lang="en-US" dirty="0" smtClean="0"/>
              <a:t>You're creating a class named Circle.</a:t>
            </a:r>
          </a:p>
          <a:p>
            <a:pPr lvl="1"/>
            <a:r>
              <a:rPr lang="en-US" dirty="0" smtClean="0"/>
              <a:t>It </a:t>
            </a:r>
            <a:r>
              <a:rPr lang="en-US" b="1" dirty="0" smtClean="0"/>
              <a:t>implements the Shape interface</a:t>
            </a:r>
            <a:r>
              <a:rPr lang="en-US" dirty="0" smtClean="0"/>
              <a:t>, so it must provide the body for all methods declared in the interface.</a:t>
            </a:r>
          </a:p>
          <a:p>
            <a:pPr lvl="1"/>
            <a:endParaRPr lang="en-US" dirty="0" smtClean="0"/>
          </a:p>
          <a:p>
            <a:r>
              <a:rPr lang="en-US" b="1" dirty="0" smtClean="0"/>
              <a:t>@Override</a:t>
            </a:r>
          </a:p>
          <a:p>
            <a:r>
              <a:rPr lang="en-US" dirty="0" smtClean="0"/>
              <a:t>This annotation tells the compiler:</a:t>
            </a:r>
          </a:p>
          <a:p>
            <a:r>
              <a:rPr lang="en-US" dirty="0" smtClean="0"/>
              <a:t>“I am overriding a method from an interface or superclass.”</a:t>
            </a:r>
          </a:p>
          <a:p>
            <a:pPr lvl="1"/>
            <a:endParaRPr lang="en-US" dirty="0" smtClean="0"/>
          </a:p>
          <a:p>
            <a:r>
              <a:rPr lang="en-US" b="1" dirty="0" smtClean="0"/>
              <a:t>public void draw()</a:t>
            </a:r>
          </a:p>
          <a:p>
            <a:r>
              <a:rPr lang="en-US" dirty="0" smtClean="0"/>
              <a:t>This is the </a:t>
            </a:r>
            <a:r>
              <a:rPr lang="en-US" b="1" dirty="0" smtClean="0"/>
              <a:t>method</a:t>
            </a:r>
            <a:r>
              <a:rPr lang="en-US" dirty="0" smtClean="0"/>
              <a:t> from the Shape interface.</a:t>
            </a:r>
          </a:p>
          <a:p>
            <a:r>
              <a:rPr lang="en-US" dirty="0" smtClean="0"/>
              <a:t>Each shape (Circle, Square, Rectangle, etc.) will give its </a:t>
            </a:r>
            <a:r>
              <a:rPr lang="en-US" b="1" dirty="0" smtClean="0"/>
              <a:t>own definition</a:t>
            </a:r>
            <a:r>
              <a:rPr lang="en-US" dirty="0" smtClean="0"/>
              <a:t> of how draw() works.</a:t>
            </a:r>
          </a:p>
          <a:p>
            <a:r>
              <a:rPr lang="en-US" dirty="0" smtClean="0"/>
              <a:t>For this Circle class, it simply prints a message saying it's the circle’s version.</a:t>
            </a:r>
          </a:p>
          <a:p>
            <a:endParaRPr lang="en-US" b="1" dirty="0" smtClean="0"/>
          </a:p>
          <a:p>
            <a:r>
              <a:rPr lang="en-US" b="1" dirty="0" err="1" smtClean="0"/>
              <a:t>System.out.println</a:t>
            </a:r>
            <a:r>
              <a:rPr lang="en-US" b="1" dirty="0" smtClean="0"/>
              <a:t>("Inside Circle::draw() method.");</a:t>
            </a:r>
          </a:p>
          <a:p>
            <a:r>
              <a:rPr lang="en-US" dirty="0" smtClean="0"/>
              <a:t>This is just a </a:t>
            </a:r>
            <a:r>
              <a:rPr lang="en-US" b="1" dirty="0" smtClean="0"/>
              <a:t>print statement</a:t>
            </a:r>
            <a:r>
              <a:rPr lang="en-US" dirty="0" smtClean="0"/>
              <a:t> that runs when the draw() method is called.</a:t>
            </a:r>
          </a:p>
          <a:p>
            <a:r>
              <a:rPr lang="en-US" dirty="0" smtClean="0"/>
              <a:t>It helps you confirm that the Circle class's method is being used.</a:t>
            </a:r>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13</a:t>
            </a:fld>
            <a:endParaRPr lang="en-US"/>
          </a:p>
        </p:txBody>
      </p:sp>
    </p:spTree>
    <p:extLst>
      <p:ext uri="{BB962C8B-B14F-4D97-AF65-F5344CB8AC3E}">
        <p14:creationId xmlns:p14="http://schemas.microsoft.com/office/powerpoint/2010/main" val="3940185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public class </a:t>
            </a:r>
            <a:r>
              <a:rPr lang="en-US" b="1" dirty="0" err="1" smtClean="0"/>
              <a:t>ShapeFactory</a:t>
            </a:r>
            <a:endParaRPr lang="en-US" b="1" dirty="0" smtClean="0"/>
          </a:p>
          <a:p>
            <a:r>
              <a:rPr lang="en-US" dirty="0" smtClean="0"/>
              <a:t>This is your </a:t>
            </a:r>
            <a:r>
              <a:rPr lang="en-US" b="1" dirty="0" smtClean="0"/>
              <a:t>factory class</a:t>
            </a:r>
            <a:r>
              <a:rPr lang="en-US" dirty="0" smtClean="0"/>
              <a:t>.</a:t>
            </a:r>
          </a:p>
          <a:p>
            <a:r>
              <a:rPr lang="en-US" dirty="0" smtClean="0"/>
              <a:t>It contains logic to </a:t>
            </a:r>
            <a:r>
              <a:rPr lang="en-US" b="1" dirty="0" smtClean="0"/>
              <a:t>create and return objects</a:t>
            </a:r>
            <a:r>
              <a:rPr lang="en-US" dirty="0" smtClean="0"/>
              <a:t> of different Shape types.</a:t>
            </a:r>
          </a:p>
          <a:p>
            <a:endParaRPr lang="en-US" b="1" dirty="0" smtClean="0"/>
          </a:p>
          <a:p>
            <a:r>
              <a:rPr lang="en-US" b="1" dirty="0" smtClean="0"/>
              <a:t>✅ public Shape </a:t>
            </a:r>
            <a:r>
              <a:rPr lang="en-US" b="1" dirty="0" err="1" smtClean="0"/>
              <a:t>getShape</a:t>
            </a:r>
            <a:r>
              <a:rPr lang="en-US" b="1" dirty="0" smtClean="0"/>
              <a:t>(String </a:t>
            </a:r>
            <a:r>
              <a:rPr lang="en-US" b="1" dirty="0" err="1" smtClean="0"/>
              <a:t>shapeType</a:t>
            </a:r>
            <a:r>
              <a:rPr lang="en-US" b="1" dirty="0" smtClean="0"/>
              <a:t>)</a:t>
            </a:r>
          </a:p>
          <a:p>
            <a:r>
              <a:rPr lang="en-US" dirty="0" smtClean="0"/>
              <a:t>This is the </a:t>
            </a:r>
            <a:r>
              <a:rPr lang="en-US" b="1" dirty="0" smtClean="0"/>
              <a:t>factory method</a:t>
            </a:r>
            <a:r>
              <a:rPr lang="en-US" dirty="0" smtClean="0"/>
              <a:t>.</a:t>
            </a:r>
          </a:p>
          <a:p>
            <a:r>
              <a:rPr lang="en-US" dirty="0" smtClean="0"/>
              <a:t>It takes a String (like "CIRCLE", "SQUARE", etc.).</a:t>
            </a:r>
          </a:p>
          <a:p>
            <a:r>
              <a:rPr lang="en-US" dirty="0" smtClean="0"/>
              <a:t>Based on the string, it </a:t>
            </a:r>
            <a:r>
              <a:rPr lang="en-US" b="1" dirty="0" smtClean="0"/>
              <a:t>returns an object</a:t>
            </a:r>
            <a:r>
              <a:rPr lang="en-US" dirty="0" smtClean="0"/>
              <a:t> of the correct class (like new Circle()).</a:t>
            </a:r>
          </a:p>
          <a:p>
            <a:endParaRPr lang="en-US" b="1" dirty="0" smtClean="0"/>
          </a:p>
          <a:p>
            <a:r>
              <a:rPr lang="en-US" b="1" dirty="0" smtClean="0"/>
              <a:t>✅ if (</a:t>
            </a:r>
            <a:r>
              <a:rPr lang="en-US" b="1" dirty="0" err="1" smtClean="0"/>
              <a:t>shapeType</a:t>
            </a:r>
            <a:r>
              <a:rPr lang="en-US" b="1" dirty="0" smtClean="0"/>
              <a:t> == null)</a:t>
            </a:r>
          </a:p>
          <a:p>
            <a:r>
              <a:rPr lang="en-US" dirty="0" smtClean="0"/>
              <a:t>If no shape name is given, the method returns null (nothing to create).</a:t>
            </a:r>
          </a:p>
          <a:p>
            <a:endParaRPr lang="en-US" b="1" dirty="0" smtClean="0"/>
          </a:p>
          <a:p>
            <a:r>
              <a:rPr lang="en-US" b="1" dirty="0" smtClean="0"/>
              <a:t>✅ </a:t>
            </a:r>
            <a:r>
              <a:rPr lang="en-US" b="1" dirty="0" err="1" smtClean="0"/>
              <a:t>shapeType.equalsIgnoreCase</a:t>
            </a:r>
            <a:r>
              <a:rPr lang="en-US" b="1" dirty="0" smtClean="0"/>
              <a:t>(...)</a:t>
            </a:r>
          </a:p>
          <a:p>
            <a:r>
              <a:rPr lang="en-US" dirty="0" smtClean="0"/>
              <a:t>This checks the shape name without worrying about upper/lowercase (e.g., "circle", "CIRCLE", "Circle" all match).</a:t>
            </a:r>
          </a:p>
          <a:p>
            <a:r>
              <a:rPr lang="en-US" dirty="0" smtClean="0"/>
              <a:t>It compares the given string and returns the right shape object:</a:t>
            </a:r>
          </a:p>
          <a:p>
            <a:pPr lvl="1"/>
            <a:r>
              <a:rPr lang="en-US" dirty="0" smtClean="0"/>
              <a:t>"CIRCLE" → new Circle()</a:t>
            </a:r>
          </a:p>
          <a:p>
            <a:pPr lvl="1"/>
            <a:r>
              <a:rPr lang="en-US" dirty="0" smtClean="0"/>
              <a:t>"RECTANGLE" → new Rectangle()</a:t>
            </a:r>
          </a:p>
          <a:p>
            <a:pPr lvl="1"/>
            <a:r>
              <a:rPr lang="en-US" dirty="0" smtClean="0"/>
              <a:t>"SQUARE" → new Square()</a:t>
            </a:r>
          </a:p>
          <a:p>
            <a:endParaRPr lang="en-US" b="1" dirty="0" smtClean="0"/>
          </a:p>
          <a:p>
            <a:r>
              <a:rPr lang="en-US" b="1" dirty="0" smtClean="0"/>
              <a:t>✅ return new Circle() (or Rectangle/Square)</a:t>
            </a:r>
          </a:p>
          <a:p>
            <a:r>
              <a:rPr lang="en-US" dirty="0" smtClean="0"/>
              <a:t>This is the main job of the factory — it </a:t>
            </a:r>
            <a:r>
              <a:rPr lang="en-US" b="1" dirty="0" smtClean="0"/>
              <a:t>creates an object</a:t>
            </a:r>
            <a:r>
              <a:rPr lang="en-US" dirty="0" smtClean="0"/>
              <a:t> of the appropriate class and gives it back to the caller.</a:t>
            </a:r>
          </a:p>
          <a:p>
            <a:r>
              <a:rPr lang="en-US" dirty="0" smtClean="0"/>
              <a:t>The caller doesn’t need to know how the object is created — just that they get a shape.</a:t>
            </a:r>
          </a:p>
          <a:p>
            <a:endParaRPr lang="en-US" b="1" dirty="0" smtClean="0"/>
          </a:p>
          <a:p>
            <a:r>
              <a:rPr lang="en-US" b="1" dirty="0" smtClean="0"/>
              <a:t>✅ return null;</a:t>
            </a:r>
          </a:p>
          <a:p>
            <a:r>
              <a:rPr lang="en-US" dirty="0" smtClean="0"/>
              <a:t>If the input doesn't match any known shape, the factory returns null.</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14</a:t>
            </a:fld>
            <a:endParaRPr lang="en-US"/>
          </a:p>
        </p:txBody>
      </p:sp>
    </p:spTree>
    <p:extLst>
      <p:ext uri="{BB962C8B-B14F-4D97-AF65-F5344CB8AC3E}">
        <p14:creationId xmlns:p14="http://schemas.microsoft.com/office/powerpoint/2010/main" val="3096307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 </a:t>
            </a:r>
            <a:r>
              <a:rPr lang="en-US" b="1" dirty="0" err="1" smtClean="0"/>
              <a:t>ShapeFactory</a:t>
            </a:r>
            <a:r>
              <a:rPr lang="en-US" b="1" dirty="0" smtClean="0"/>
              <a:t> </a:t>
            </a:r>
            <a:r>
              <a:rPr lang="en-US" b="1" dirty="0" err="1" smtClean="0"/>
              <a:t>shapeFactory</a:t>
            </a:r>
            <a:r>
              <a:rPr lang="en-US" b="1" dirty="0" smtClean="0"/>
              <a:t> = new </a:t>
            </a:r>
            <a:r>
              <a:rPr lang="en-US" b="1" dirty="0" err="1" smtClean="0"/>
              <a:t>ShapeFactory</a:t>
            </a:r>
            <a:r>
              <a:rPr lang="en-US" b="1" dirty="0" smtClean="0"/>
              <a:t>();</a:t>
            </a:r>
          </a:p>
          <a:p>
            <a:r>
              <a:rPr lang="en-US" dirty="0" smtClean="0"/>
              <a:t>Creates an instance of the factory.</a:t>
            </a:r>
          </a:p>
          <a:p>
            <a:r>
              <a:rPr lang="en-US" dirty="0" smtClean="0"/>
              <a:t>You use this to get shape objects.</a:t>
            </a:r>
          </a:p>
          <a:p>
            <a:endParaRPr lang="en-US" dirty="0" smtClean="0"/>
          </a:p>
          <a:p>
            <a:r>
              <a:rPr lang="en-US" b="1" dirty="0" smtClean="0"/>
              <a:t>✅ Shape shape1 = </a:t>
            </a:r>
            <a:r>
              <a:rPr lang="en-US" b="1" dirty="0" err="1" smtClean="0"/>
              <a:t>shapeFactory.getShape</a:t>
            </a:r>
            <a:r>
              <a:rPr lang="en-US" b="1" dirty="0" smtClean="0"/>
              <a:t>("CIRCLE");</a:t>
            </a:r>
          </a:p>
          <a:p>
            <a:r>
              <a:rPr lang="en-US" dirty="0" smtClean="0"/>
              <a:t>Factory receives the string "CIRCLE".</a:t>
            </a:r>
          </a:p>
          <a:p>
            <a:r>
              <a:rPr lang="en-US" dirty="0" smtClean="0"/>
              <a:t>It checks and creates a Circle object.</a:t>
            </a:r>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15</a:t>
            </a:fld>
            <a:endParaRPr lang="en-US"/>
          </a:p>
        </p:txBody>
      </p:sp>
    </p:spTree>
    <p:extLst>
      <p:ext uri="{BB962C8B-B14F-4D97-AF65-F5344CB8AC3E}">
        <p14:creationId xmlns:p14="http://schemas.microsoft.com/office/powerpoint/2010/main" val="2537195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b="1" dirty="0" smtClean="0"/>
              <a:t>✅ shape1.draw();</a:t>
            </a:r>
          </a:p>
          <a:p>
            <a:r>
              <a:rPr lang="en-US" dirty="0" smtClean="0"/>
              <a:t>Calls the draw() method from the Circle class.</a:t>
            </a:r>
          </a:p>
          <a:p>
            <a:r>
              <a:rPr lang="en-US" dirty="0" smtClean="0"/>
              <a:t>Output:</a:t>
            </a:r>
          </a:p>
          <a:p>
            <a:r>
              <a:rPr lang="en-US" b="1" dirty="0" smtClean="0"/>
              <a:t>Inside Circle::draw() method</a:t>
            </a:r>
          </a:p>
          <a:p>
            <a:endParaRPr lang="en-US" b="1" dirty="0" smtClean="0"/>
          </a:p>
          <a:p>
            <a:endParaRPr lang="en-US" b="1" dirty="0" smtClean="0"/>
          </a:p>
          <a:p>
            <a:r>
              <a:rPr lang="en-US" b="1" dirty="0" smtClean="0"/>
              <a:t>Shape shape2 = </a:t>
            </a:r>
            <a:r>
              <a:rPr lang="en-US" b="1" dirty="0" err="1" smtClean="0"/>
              <a:t>shapeFactory.getShape</a:t>
            </a:r>
            <a:r>
              <a:rPr lang="en-US" b="1" dirty="0" smtClean="0"/>
              <a:t>("RECTANGLE");</a:t>
            </a:r>
          </a:p>
          <a:p>
            <a:r>
              <a:rPr lang="en-US" b="1" dirty="0" smtClean="0"/>
              <a:t>shape2.draw();  // Output: Inside Rectangle::draw() method.</a:t>
            </a:r>
          </a:p>
          <a:p>
            <a:endParaRPr lang="en-US" b="1" dirty="0" smtClean="0"/>
          </a:p>
          <a:p>
            <a:r>
              <a:rPr lang="en-US" b="1" dirty="0" smtClean="0"/>
              <a:t>Shape shape3 = </a:t>
            </a:r>
            <a:r>
              <a:rPr lang="en-US" b="1" dirty="0" err="1" smtClean="0"/>
              <a:t>shapeFactory.getShape</a:t>
            </a:r>
            <a:r>
              <a:rPr lang="en-US" b="1" dirty="0" smtClean="0"/>
              <a:t>("SQUARE");</a:t>
            </a:r>
          </a:p>
          <a:p>
            <a:r>
              <a:rPr lang="en-US" b="1" dirty="0" smtClean="0"/>
              <a:t>shape3.draw();  // Output: Inside Square::draw() method.</a:t>
            </a:r>
          </a:p>
          <a:p>
            <a:endParaRPr lang="en-US" b="1" dirty="0" smtClean="0"/>
          </a:p>
          <a:p>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16</a:t>
            </a:fld>
            <a:endParaRPr lang="en-US"/>
          </a:p>
        </p:txBody>
      </p:sp>
    </p:spTree>
    <p:extLst>
      <p:ext uri="{BB962C8B-B14F-4D97-AF65-F5344CB8AC3E}">
        <p14:creationId xmlns:p14="http://schemas.microsoft.com/office/powerpoint/2010/main" val="408920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java.io.*;        // Import Java I/O package (not used here, but maybe for future input/output)</a:t>
            </a:r>
          </a:p>
          <a:p>
            <a:endParaRPr lang="en-US" dirty="0" smtClean="0"/>
          </a:p>
          <a:p>
            <a:r>
              <a:rPr lang="en-US" dirty="0" smtClean="0"/>
              <a:t>abstract class Plan {      // Abstract class named Plan</a:t>
            </a:r>
          </a:p>
          <a:p>
            <a:r>
              <a:rPr lang="en-US" dirty="0" smtClean="0"/>
              <a:t>    protected double rate;      // A protected variable to hold the rate (price per unit)</a:t>
            </a:r>
          </a:p>
          <a:p>
            <a:endParaRPr lang="en-US" dirty="0" smtClean="0"/>
          </a:p>
          <a:p>
            <a:r>
              <a:rPr lang="en-US" dirty="0" smtClean="0"/>
              <a:t>    abstract void </a:t>
            </a:r>
            <a:r>
              <a:rPr lang="en-US" dirty="0" err="1" smtClean="0"/>
              <a:t>getRate</a:t>
            </a:r>
            <a:r>
              <a:rPr lang="en-US" dirty="0" smtClean="0"/>
              <a:t>();      // Abstract method: must be defined in subclasses</a:t>
            </a:r>
          </a:p>
          <a:p>
            <a:endParaRPr lang="en-US" dirty="0" smtClean="0"/>
          </a:p>
          <a:p>
            <a:r>
              <a:rPr lang="en-US" dirty="0" smtClean="0"/>
              <a:t>    public void </a:t>
            </a:r>
            <a:r>
              <a:rPr lang="en-US" dirty="0" err="1" smtClean="0"/>
              <a:t>calculateBill</a:t>
            </a:r>
            <a:r>
              <a:rPr lang="en-US" dirty="0" smtClean="0"/>
              <a:t>(</a:t>
            </a:r>
            <a:r>
              <a:rPr lang="en-US" dirty="0" err="1" smtClean="0"/>
              <a:t>int</a:t>
            </a:r>
            <a:r>
              <a:rPr lang="en-US" dirty="0" smtClean="0"/>
              <a:t> units) {</a:t>
            </a:r>
          </a:p>
          <a:p>
            <a:r>
              <a:rPr lang="en-US" dirty="0" smtClean="0"/>
              <a:t>        </a:t>
            </a:r>
            <a:r>
              <a:rPr lang="en-US" dirty="0" err="1" smtClean="0"/>
              <a:t>System.out.println</a:t>
            </a:r>
            <a:r>
              <a:rPr lang="en-US" dirty="0" smtClean="0"/>
              <a:t>(units * rate);      // Calculates and prints total cost</a:t>
            </a:r>
          </a:p>
          <a:p>
            <a:r>
              <a:rPr lang="en-US" dirty="0" smtClean="0"/>
              <a:t>    }</a:t>
            </a:r>
          </a:p>
          <a:p>
            <a:r>
              <a:rPr lang="en-US" dirty="0" smtClean="0"/>
              <a:t>}</a:t>
            </a:r>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19</a:t>
            </a:fld>
            <a:endParaRPr lang="en-US"/>
          </a:p>
        </p:txBody>
      </p:sp>
    </p:spTree>
    <p:extLst>
      <p:ext uri="{BB962C8B-B14F-4D97-AF65-F5344CB8AC3E}">
        <p14:creationId xmlns:p14="http://schemas.microsoft.com/office/powerpoint/2010/main" val="3606513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Scanner method for</a:t>
            </a:r>
            <a:r>
              <a:rPr lang="en-US" baseline="0" dirty="0" smtClean="0"/>
              <a:t> taking keyboard input</a:t>
            </a:r>
            <a:endParaRPr lang="en-US" dirty="0"/>
          </a:p>
        </p:txBody>
      </p:sp>
      <p:sp>
        <p:nvSpPr>
          <p:cNvPr id="4" name="Slide Number Placeholder 3"/>
          <p:cNvSpPr>
            <a:spLocks noGrp="1"/>
          </p:cNvSpPr>
          <p:nvPr>
            <p:ph type="sldNum" sz="quarter" idx="10"/>
          </p:nvPr>
        </p:nvSpPr>
        <p:spPr/>
        <p:txBody>
          <a:bodyPr/>
          <a:lstStyle/>
          <a:p>
            <a:fld id="{6B8B8CC4-9C71-4E44-80F1-A32EBA987895}" type="slidenum">
              <a:rPr lang="en-US" smtClean="0"/>
              <a:t>26</a:t>
            </a:fld>
            <a:endParaRPr lang="en-US"/>
          </a:p>
        </p:txBody>
      </p:sp>
    </p:spTree>
    <p:extLst>
      <p:ext uri="{BB962C8B-B14F-4D97-AF65-F5344CB8AC3E}">
        <p14:creationId xmlns:p14="http://schemas.microsoft.com/office/powerpoint/2010/main" val="3162433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7DD006C2-0CF4-4457-831F-7F3BAE7C7E67}"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10178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199668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3157650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78A1160-E1EC-4D51-B75A-EFEDF485562C}"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1353288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78A1160-E1EC-4D51-B75A-EFEDF485562C}" type="datetimeFigureOut">
              <a:rPr lang="en-US" smtClean="0"/>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3019259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78A1160-E1EC-4D51-B75A-EFEDF485562C}" type="datetimeFigureOut">
              <a:rPr lang="en-US" smtClean="0"/>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3421104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1160-E1EC-4D51-B75A-EFEDF485562C}" type="datetimeFigureOut">
              <a:rPr lang="en-US" smtClean="0"/>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1143866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78A1160-E1EC-4D51-B75A-EFEDF485562C}"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1459176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78A1160-E1EC-4D51-B75A-EFEDF485562C}"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932121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78A1160-E1EC-4D51-B75A-EFEDF485562C}"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2143242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2758880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3683677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2194842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2562839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3147676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665560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8A1160-E1EC-4D51-B75A-EFEDF485562C}"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006C2-0CF4-4457-831F-7F3BAE7C7E67}" type="slidenum">
              <a:rPr lang="en-US" smtClean="0"/>
              <a:t>‹#›</a:t>
            </a:fld>
            <a:endParaRPr lang="en-US"/>
          </a:p>
        </p:txBody>
      </p:sp>
    </p:spTree>
    <p:extLst>
      <p:ext uri="{BB962C8B-B14F-4D97-AF65-F5344CB8AC3E}">
        <p14:creationId xmlns:p14="http://schemas.microsoft.com/office/powerpoint/2010/main" val="41178909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54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78A1160-E1EC-4D51-B75A-EFEDF485562C}" type="datetimeFigureOut">
              <a:rPr lang="en-US" smtClean="0"/>
              <a:t>4/11/2026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D006C2-0CF4-4457-831F-7F3BAE7C7E67}" type="slidenum">
              <a:rPr lang="en-US" smtClean="0"/>
              <a:t>‹#›</a:t>
            </a:fld>
            <a:endParaRPr lang="en-US"/>
          </a:p>
        </p:txBody>
      </p:sp>
    </p:spTree>
    <p:extLst>
      <p:ext uri="{BB962C8B-B14F-4D97-AF65-F5344CB8AC3E}">
        <p14:creationId xmlns:p14="http://schemas.microsoft.com/office/powerpoint/2010/main" val="26622219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hyperlink" Target="http://javarevisited.blogspot.com/2012/03/what-is-encapsulation-in-java-and-oops.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1" y="914401"/>
            <a:ext cx="7543800" cy="2133599"/>
          </a:xfrm>
        </p:spPr>
        <p:txBody>
          <a:bodyPr/>
          <a:lstStyle/>
          <a:p>
            <a:r>
              <a:rPr lang="en-US" dirty="0"/>
              <a:t>Factory </a:t>
            </a:r>
            <a:r>
              <a:rPr lang="en-US" dirty="0" smtClean="0"/>
              <a:t>Design </a:t>
            </a:r>
            <a:r>
              <a:rPr lang="en-US" dirty="0"/>
              <a:t>Pattern</a:t>
            </a:r>
          </a:p>
        </p:txBody>
      </p:sp>
      <p:sp>
        <p:nvSpPr>
          <p:cNvPr id="3" name="Subtitle 2"/>
          <p:cNvSpPr>
            <a:spLocks noGrp="1"/>
          </p:cNvSpPr>
          <p:nvPr>
            <p:ph type="subTitle" idx="1"/>
          </p:nvPr>
        </p:nvSpPr>
        <p:spPr>
          <a:xfrm>
            <a:off x="2924238" y="5257800"/>
            <a:ext cx="5762563" cy="509397"/>
          </a:xfrm>
        </p:spPr>
        <p:txBody>
          <a:bodyPr/>
          <a:lstStyle/>
          <a:p>
            <a:r>
              <a:rPr lang="en-US" dirty="0" smtClean="0"/>
              <a:t>Ms. Shehla Saeed</a:t>
            </a:r>
            <a:endParaRPr lang="en-US" dirty="0"/>
          </a:p>
        </p:txBody>
      </p:sp>
    </p:spTree>
    <p:extLst>
      <p:ext uri="{BB962C8B-B14F-4D97-AF65-F5344CB8AC3E}">
        <p14:creationId xmlns:p14="http://schemas.microsoft.com/office/powerpoint/2010/main" val="33283420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1190625" y="1214438"/>
            <a:ext cx="5715000" cy="571500"/>
          </a:xfrm>
          <a:prstGeom prst="rect">
            <a:avLst/>
          </a:prstGeom>
          <a:noFill/>
          <a:ln/>
        </p:spPr>
        <p:txBody>
          <a:bodyPr wrap="square" rtlCol="0" anchor="ctr"/>
          <a:lstStyle/>
          <a:p>
            <a:r>
              <a:rPr lang="en-US" sz="1758" b="1" dirty="0">
                <a:solidFill>
                  <a:srgbClr val="333333"/>
                </a:solidFill>
                <a:latin typeface="OpenSans-Bold" pitchFamily="34" charset="0"/>
                <a:ea typeface="OpenSans-Bold" pitchFamily="34" charset="-122"/>
                <a:cs typeface="OpenSans-Bold" pitchFamily="34" charset="-120"/>
              </a:rPr>
              <a:t>Problem with Direct Object Creation</a:t>
            </a:r>
            <a:endParaRPr lang="en-US" sz="1758" dirty="0"/>
          </a:p>
        </p:txBody>
      </p:sp>
      <p:sp>
        <p:nvSpPr>
          <p:cNvPr id="4" name="Subtitle 1"/>
          <p:cNvSpPr/>
          <p:nvPr/>
        </p:nvSpPr>
        <p:spPr>
          <a:xfrm>
            <a:off x="714375" y="2047875"/>
            <a:ext cx="5238750" cy="1428750"/>
          </a:xfrm>
          <a:prstGeom prst="rect">
            <a:avLst/>
          </a:prstGeom>
          <a:noFill/>
          <a:ln/>
        </p:spPr>
        <p:txBody>
          <a:bodyPr wrap="square" rtlCol="0" anchor="ctr"/>
          <a:lstStyle/>
          <a:p>
            <a:r>
              <a:rPr lang="en-US" sz="1285" b="1" dirty="0">
                <a:solidFill>
                  <a:srgbClr val="000000"/>
                </a:solidFill>
                <a:latin typeface="OpenSans-Bold" pitchFamily="34" charset="0"/>
                <a:ea typeface="OpenSans-Bold" pitchFamily="34" charset="-122"/>
                <a:cs typeface="OpenSans-Bold" pitchFamily="34" charset="-120"/>
              </a:rPr>
              <a:t>Tight Coupling in Code</a:t>
            </a:r>
            <a:endParaRPr lang="en-US" sz="1285" dirty="0"/>
          </a:p>
        </p:txBody>
      </p:sp>
      <p:sp>
        <p:nvSpPr>
          <p:cNvPr id="5" name="Paragraph 1"/>
          <p:cNvSpPr/>
          <p:nvPr/>
        </p:nvSpPr>
        <p:spPr>
          <a:xfrm>
            <a:off x="714375" y="2600325"/>
            <a:ext cx="5238750" cy="1428750"/>
          </a:xfrm>
          <a:prstGeom prst="rect">
            <a:avLst/>
          </a:prstGeom>
          <a:noFill/>
          <a:ln/>
        </p:spPr>
        <p:txBody>
          <a:bodyPr wrap="square" rtlCol="0" anchor="ctr"/>
          <a:lstStyle/>
          <a:p>
            <a:pPr algn="just"/>
            <a:r>
              <a:rPr lang="en-US" sz="1200" dirty="0">
                <a:solidFill>
                  <a:srgbClr val="000000"/>
                </a:solidFill>
                <a:latin typeface="OpenSans-Regular" pitchFamily="34" charset="0"/>
                <a:ea typeface="OpenSans-Regular" pitchFamily="34" charset="-122"/>
                <a:cs typeface="OpenSans-Regular" pitchFamily="34" charset="-120"/>
              </a:rPr>
              <a:t>When developers directly instantiate objects using the new keyword, the code becomes tightly coupled to specific classes. This makes it difficult to change implementations later, as multiple parts of the codebase may depend on concrete classes rather than abstractions.</a:t>
            </a:r>
            <a:endParaRPr lang="en-US" sz="1200" dirty="0"/>
          </a:p>
        </p:txBody>
      </p:sp>
      <p:sp>
        <p:nvSpPr>
          <p:cNvPr id="6" name="Subtitle 2"/>
          <p:cNvSpPr/>
          <p:nvPr/>
        </p:nvSpPr>
        <p:spPr>
          <a:xfrm>
            <a:off x="714375" y="3381375"/>
            <a:ext cx="5238750" cy="1428750"/>
          </a:xfrm>
          <a:prstGeom prst="rect">
            <a:avLst/>
          </a:prstGeom>
          <a:noFill/>
          <a:ln/>
        </p:spPr>
        <p:txBody>
          <a:bodyPr wrap="square" rtlCol="0" anchor="ctr"/>
          <a:lstStyle/>
          <a:p>
            <a:r>
              <a:rPr lang="en-US" sz="1285" b="1" dirty="0">
                <a:solidFill>
                  <a:srgbClr val="000000"/>
                </a:solidFill>
                <a:latin typeface="OpenSans-Bold" pitchFamily="34" charset="0"/>
                <a:ea typeface="OpenSans-Bold" pitchFamily="34" charset="-122"/>
                <a:cs typeface="OpenSans-Bold" pitchFamily="34" charset="-120"/>
              </a:rPr>
              <a:t>Code Duplication and Maintenance Issues</a:t>
            </a:r>
            <a:endParaRPr lang="en-US" sz="1285" dirty="0"/>
          </a:p>
        </p:txBody>
      </p:sp>
      <p:sp>
        <p:nvSpPr>
          <p:cNvPr id="7" name="Paragraph 2"/>
          <p:cNvSpPr/>
          <p:nvPr/>
        </p:nvSpPr>
        <p:spPr>
          <a:xfrm>
            <a:off x="714375" y="3876160"/>
            <a:ext cx="5238750"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Repeated object creation logic across different modules leads to duplication and inconsistency. If object creation changes, developers must update multiple locations, increasing the risk of bugs and making maintenance more complex and time-consuming</a:t>
            </a:r>
            <a:r>
              <a:rPr lang="en-US" sz="943" dirty="0">
                <a:solidFill>
                  <a:srgbClr val="000000"/>
                </a:solidFill>
                <a:latin typeface="OpenSans-Regular" pitchFamily="34" charset="0"/>
                <a:ea typeface="OpenSans-Regular" pitchFamily="34" charset="-122"/>
                <a:cs typeface="OpenSans-Regular" pitchFamily="34" charset="-120"/>
              </a:rPr>
              <a:t>.</a:t>
            </a:r>
            <a:endParaRPr lang="en-US" sz="943" dirty="0"/>
          </a:p>
        </p:txBody>
      </p:sp>
      <p:sp>
        <p:nvSpPr>
          <p:cNvPr id="8" name="Subtitle 3"/>
          <p:cNvSpPr/>
          <p:nvPr/>
        </p:nvSpPr>
        <p:spPr>
          <a:xfrm>
            <a:off x="714375" y="4476750"/>
            <a:ext cx="5238750" cy="1428750"/>
          </a:xfrm>
          <a:prstGeom prst="rect">
            <a:avLst/>
          </a:prstGeom>
          <a:noFill/>
          <a:ln/>
        </p:spPr>
        <p:txBody>
          <a:bodyPr wrap="square" rtlCol="0" anchor="ctr"/>
          <a:lstStyle/>
          <a:p>
            <a:endParaRPr lang="en-US" sz="1285" b="1" dirty="0" smtClean="0">
              <a:solidFill>
                <a:srgbClr val="000000"/>
              </a:solidFill>
              <a:latin typeface="OpenSans-Bold" pitchFamily="34" charset="0"/>
              <a:ea typeface="OpenSans-Bold" pitchFamily="34" charset="-122"/>
              <a:cs typeface="OpenSans-Bold" pitchFamily="34" charset="-120"/>
            </a:endParaRPr>
          </a:p>
          <a:p>
            <a:r>
              <a:rPr lang="en-US" sz="1285" b="1" dirty="0" smtClean="0">
                <a:solidFill>
                  <a:srgbClr val="000000"/>
                </a:solidFill>
                <a:latin typeface="OpenSans-Bold" pitchFamily="34" charset="0"/>
                <a:ea typeface="OpenSans-Bold" pitchFamily="34" charset="-122"/>
                <a:cs typeface="OpenSans-Bold" pitchFamily="34" charset="-120"/>
              </a:rPr>
              <a:t>Limited </a:t>
            </a:r>
            <a:r>
              <a:rPr lang="en-US" sz="1285" b="1" dirty="0">
                <a:solidFill>
                  <a:srgbClr val="000000"/>
                </a:solidFill>
                <a:latin typeface="OpenSans-Bold" pitchFamily="34" charset="0"/>
                <a:ea typeface="OpenSans-Bold" pitchFamily="34" charset="-122"/>
                <a:cs typeface="OpenSans-Bold" pitchFamily="34" charset="-120"/>
              </a:rPr>
              <a:t>Scalability</a:t>
            </a:r>
            <a:endParaRPr lang="en-US" sz="1285" dirty="0"/>
          </a:p>
        </p:txBody>
      </p:sp>
      <p:sp>
        <p:nvSpPr>
          <p:cNvPr id="9" name="Paragraph 3"/>
          <p:cNvSpPr/>
          <p:nvPr/>
        </p:nvSpPr>
        <p:spPr>
          <a:xfrm>
            <a:off x="714375" y="5153025"/>
            <a:ext cx="5238750"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Adding new types or variations of objects requires modifying existing code, violating the Open/Closed Principle. This reduces flexibility and makes systems harder to extend as requirements evolve in real-world applications.</a:t>
            </a:r>
            <a:endParaRPr lang="en-US" sz="1200" dirty="0"/>
          </a:p>
        </p:txBody>
      </p:sp>
      <p:pic>
        <p:nvPicPr>
          <p:cNvPr id="10" name="Image" descr="preencoded.png"/>
          <p:cNvPicPr>
            <a:picLocks noChangeAspect="1"/>
          </p:cNvPicPr>
          <p:nvPr/>
        </p:nvPicPr>
        <p:blipFill>
          <a:blip r:embed="rId3"/>
          <a:stretch>
            <a:fillRect/>
          </a:stretch>
        </p:blipFill>
        <p:spPr>
          <a:xfrm>
            <a:off x="6238876" y="2190751"/>
            <a:ext cx="2752724" cy="3676649"/>
          </a:xfrm>
          <a:prstGeom prst="rect">
            <a:avLst/>
          </a:prstGeom>
        </p:spPr>
      </p:pic>
    </p:spTree>
    <p:extLst>
      <p:ext uri="{BB962C8B-B14F-4D97-AF65-F5344CB8AC3E}">
        <p14:creationId xmlns:p14="http://schemas.microsoft.com/office/powerpoint/2010/main" val="2288257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1190625" y="1214438"/>
            <a:ext cx="5715000" cy="571500"/>
          </a:xfrm>
          <a:prstGeom prst="rect">
            <a:avLst/>
          </a:prstGeom>
          <a:noFill/>
          <a:ln/>
        </p:spPr>
        <p:txBody>
          <a:bodyPr wrap="square" rtlCol="0" anchor="ctr"/>
          <a:lstStyle/>
          <a:p>
            <a:r>
              <a:rPr lang="en-US" sz="1758" b="1" dirty="0">
                <a:solidFill>
                  <a:srgbClr val="333333"/>
                </a:solidFill>
                <a:latin typeface="OpenSans-Bold" pitchFamily="34" charset="0"/>
                <a:ea typeface="OpenSans-Bold" pitchFamily="34" charset="-122"/>
                <a:cs typeface="OpenSans-Bold" pitchFamily="34" charset="-120"/>
              </a:rPr>
              <a:t>What is the Factory Design Pattern?</a:t>
            </a:r>
            <a:endParaRPr lang="en-US" sz="1758" dirty="0"/>
          </a:p>
        </p:txBody>
      </p:sp>
      <p:sp>
        <p:nvSpPr>
          <p:cNvPr id="4" name="Subtitle 1"/>
          <p:cNvSpPr/>
          <p:nvPr/>
        </p:nvSpPr>
        <p:spPr>
          <a:xfrm>
            <a:off x="714375" y="1957516"/>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Definition and Purpose</a:t>
            </a:r>
            <a:endParaRPr lang="en-US" sz="1266" dirty="0"/>
          </a:p>
        </p:txBody>
      </p:sp>
      <p:sp>
        <p:nvSpPr>
          <p:cNvPr id="5" name="Paragraph 1"/>
          <p:cNvSpPr/>
          <p:nvPr/>
        </p:nvSpPr>
        <p:spPr>
          <a:xfrm>
            <a:off x="714374" y="2428875"/>
            <a:ext cx="6677025"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The Factory Design Pattern is a creational pattern that provides an interface for creating objects without specifying their exact class. It centralizes object creation logic, allowing the system to decide which class to instantiate at runtime.</a:t>
            </a:r>
            <a:endParaRPr lang="en-US" sz="1200" dirty="0"/>
          </a:p>
        </p:txBody>
      </p:sp>
      <p:sp>
        <p:nvSpPr>
          <p:cNvPr id="6" name="Subtitle 2"/>
          <p:cNvSpPr/>
          <p:nvPr/>
        </p:nvSpPr>
        <p:spPr>
          <a:xfrm>
            <a:off x="714375" y="3324893"/>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Encapsulation of Object Creation</a:t>
            </a:r>
            <a:endParaRPr lang="en-US" sz="1266" dirty="0"/>
          </a:p>
        </p:txBody>
      </p:sp>
      <p:sp>
        <p:nvSpPr>
          <p:cNvPr id="7" name="Paragraph 2"/>
          <p:cNvSpPr/>
          <p:nvPr/>
        </p:nvSpPr>
        <p:spPr>
          <a:xfrm>
            <a:off x="714375" y="3762375"/>
            <a:ext cx="6677024"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Instead of scattering object creation across the codebase, the factory pattern encapsulates it within a dedicated class or method. This promotes better organization and makes it easier to manage changes in object creation logic</a:t>
            </a:r>
            <a:r>
              <a:rPr lang="en-US" sz="972" dirty="0">
                <a:solidFill>
                  <a:srgbClr val="000000"/>
                </a:solidFill>
                <a:latin typeface="OpenSans-Regular" pitchFamily="34" charset="0"/>
                <a:ea typeface="OpenSans-Regular" pitchFamily="34" charset="-122"/>
                <a:cs typeface="OpenSans-Regular" pitchFamily="34" charset="-120"/>
              </a:rPr>
              <a:t>.</a:t>
            </a:r>
            <a:endParaRPr lang="en-US" sz="972" dirty="0"/>
          </a:p>
        </p:txBody>
      </p:sp>
      <p:sp>
        <p:nvSpPr>
          <p:cNvPr id="8" name="Subtitle 3"/>
          <p:cNvSpPr/>
          <p:nvPr/>
        </p:nvSpPr>
        <p:spPr>
          <a:xfrm>
            <a:off x="714375" y="4386391"/>
            <a:ext cx="5238750" cy="1428750"/>
          </a:xfrm>
          <a:prstGeom prst="rect">
            <a:avLst/>
          </a:prstGeom>
          <a:noFill/>
          <a:ln/>
        </p:spPr>
        <p:txBody>
          <a:bodyPr wrap="square" rtlCol="0" anchor="ctr"/>
          <a:lstStyle/>
          <a:p>
            <a:r>
              <a:rPr lang="en-US" sz="1266" b="1" dirty="0">
                <a:solidFill>
                  <a:srgbClr val="000000"/>
                </a:solidFill>
                <a:latin typeface="OpenSans-Bold" pitchFamily="34" charset="0"/>
                <a:ea typeface="OpenSans-Bold" pitchFamily="34" charset="-122"/>
                <a:cs typeface="OpenSans-Bold" pitchFamily="34" charset="-120"/>
              </a:rPr>
              <a:t>Promoting Loose Coupling</a:t>
            </a:r>
            <a:endParaRPr lang="en-US" sz="1266" dirty="0"/>
          </a:p>
        </p:txBody>
      </p:sp>
      <p:sp>
        <p:nvSpPr>
          <p:cNvPr id="9" name="Paragraph 3"/>
          <p:cNvSpPr/>
          <p:nvPr/>
        </p:nvSpPr>
        <p:spPr>
          <a:xfrm>
            <a:off x="714374" y="4857750"/>
            <a:ext cx="6448425" cy="1428750"/>
          </a:xfrm>
          <a:prstGeom prst="rect">
            <a:avLst/>
          </a:prstGeom>
          <a:noFill/>
          <a:ln/>
        </p:spPr>
        <p:txBody>
          <a:bodyPr wrap="square" rtlCol="0" anchor="ctr"/>
          <a:lstStyle/>
          <a:p>
            <a:r>
              <a:rPr lang="en-US" sz="1200" dirty="0">
                <a:solidFill>
                  <a:srgbClr val="000000"/>
                </a:solidFill>
                <a:latin typeface="OpenSans-Regular" pitchFamily="34" charset="0"/>
                <a:ea typeface="OpenSans-Regular" pitchFamily="34" charset="-122"/>
                <a:cs typeface="OpenSans-Regular" pitchFamily="34" charset="-120"/>
              </a:rPr>
              <a:t>By relying on interfaces or abstract classes, the factory pattern reduces dependencies on concrete implementations. This enables flexibility and supports better testing, scalability, and maintainability in large applications.</a:t>
            </a:r>
            <a:endParaRPr lang="en-US" sz="1200" dirty="0"/>
          </a:p>
        </p:txBody>
      </p:sp>
    </p:spTree>
    <p:extLst>
      <p:ext uri="{BB962C8B-B14F-4D97-AF65-F5344CB8AC3E}">
        <p14:creationId xmlns:p14="http://schemas.microsoft.com/office/powerpoint/2010/main" val="31160023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Factory Method</a:t>
            </a:r>
          </a:p>
        </p:txBody>
      </p:sp>
      <p:sp>
        <p:nvSpPr>
          <p:cNvPr id="3" name="Content Placeholder 2"/>
          <p:cNvSpPr>
            <a:spLocks noGrp="1"/>
          </p:cNvSpPr>
          <p:nvPr>
            <p:ph idx="1"/>
          </p:nvPr>
        </p:nvSpPr>
        <p:spPr/>
        <p:txBody>
          <a:bodyPr>
            <a:normAutofit lnSpcReduction="10000"/>
          </a:bodyPr>
          <a:lstStyle/>
          <a:p>
            <a:r>
              <a:rPr lang="en-US" dirty="0"/>
              <a:t>Factory Design pattern is based on </a:t>
            </a:r>
            <a:r>
              <a:rPr lang="en-US" b="1" dirty="0">
                <a:hlinkClick r:id="rId3"/>
              </a:rPr>
              <a:t>Encapsulation</a:t>
            </a:r>
            <a:r>
              <a:rPr lang="en-US" b="1" dirty="0"/>
              <a:t> </a:t>
            </a:r>
            <a:r>
              <a:rPr lang="en-US" dirty="0"/>
              <a:t>object oriented </a:t>
            </a:r>
            <a:r>
              <a:rPr lang="en-US" u="sng" dirty="0"/>
              <a:t>concept</a:t>
            </a:r>
            <a:r>
              <a:rPr lang="en-US" dirty="0"/>
              <a:t>.</a:t>
            </a:r>
          </a:p>
          <a:p>
            <a:r>
              <a:rPr lang="en-US" dirty="0"/>
              <a:t>Factory method is used to create different object from factory often refereed as Item and it encapsulate the creation code. So instead of having object creation code on client side we encapsulate inside </a:t>
            </a:r>
            <a:r>
              <a:rPr lang="en-US" b="1" dirty="0"/>
              <a:t>Factory method in Java</a:t>
            </a:r>
            <a:r>
              <a:rPr lang="en-US" dirty="0"/>
              <a:t>.</a:t>
            </a:r>
            <a:br>
              <a:rPr lang="en-US" dirty="0"/>
            </a:br>
            <a:r>
              <a:rPr lang="en-US" dirty="0"/>
              <a:t/>
            </a:r>
            <a:br>
              <a:rPr lang="en-US" dirty="0"/>
            </a:br>
            <a:endParaRPr lang="en-US" dirty="0"/>
          </a:p>
        </p:txBody>
      </p:sp>
    </p:spTree>
    <p:extLst>
      <p:ext uri="{BB962C8B-B14F-4D97-AF65-F5344CB8AC3E}">
        <p14:creationId xmlns:p14="http://schemas.microsoft.com/office/powerpoint/2010/main" val="25464003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Factory method Pattern</a:t>
            </a:r>
          </a:p>
        </p:txBody>
      </p:sp>
      <p:sp>
        <p:nvSpPr>
          <p:cNvPr id="4" name="Content Placeholder 3"/>
          <p:cNvSpPr>
            <a:spLocks noGrp="1"/>
          </p:cNvSpPr>
          <p:nvPr>
            <p:ph idx="1"/>
          </p:nvPr>
        </p:nvSpPr>
        <p:spPr>
          <a:xfrm>
            <a:off x="982133" y="2433919"/>
            <a:ext cx="7704667" cy="3332816"/>
          </a:xfrm>
        </p:spPr>
        <p:txBody>
          <a:bodyPr>
            <a:normAutofit/>
          </a:bodyPr>
          <a:lstStyle/>
          <a:p>
            <a:endParaRPr lang="en-US" b="1" dirty="0" smtClean="0">
              <a:latin typeface="ui-sans-serif"/>
            </a:endParaRPr>
          </a:p>
          <a:p>
            <a:r>
              <a:rPr lang="en-US" b="1" dirty="0" smtClean="0">
                <a:latin typeface="ui-sans-serif"/>
              </a:rPr>
              <a:t>Product </a:t>
            </a:r>
            <a:r>
              <a:rPr lang="en-US" b="1" dirty="0">
                <a:latin typeface="ui-sans-serif"/>
              </a:rPr>
              <a:t>(Interface / Abstract Class)</a:t>
            </a:r>
          </a:p>
          <a:p>
            <a:pPr lvl="1">
              <a:buFont typeface="Arial" panose="020B0604020202020204" pitchFamily="34" charset="0"/>
              <a:buChar char="•"/>
            </a:pPr>
            <a:r>
              <a:rPr lang="en-US" dirty="0">
                <a:latin typeface="ui-sans-serif"/>
              </a:rPr>
              <a:t>Defines the </a:t>
            </a:r>
            <a:r>
              <a:rPr lang="en-US" b="1" dirty="0">
                <a:latin typeface="ui-sans-serif"/>
              </a:rPr>
              <a:t>common interface</a:t>
            </a:r>
            <a:r>
              <a:rPr lang="en-US" dirty="0">
                <a:latin typeface="ui-sans-serif"/>
              </a:rPr>
              <a:t> for all objects the factory can create.</a:t>
            </a:r>
          </a:p>
          <a:p>
            <a:pPr lvl="1">
              <a:buFont typeface="Arial" panose="020B0604020202020204" pitchFamily="34" charset="0"/>
              <a:buChar char="•"/>
            </a:pPr>
            <a:r>
              <a:rPr lang="en-US" dirty="0">
                <a:latin typeface="ui-sans-serif"/>
              </a:rPr>
              <a:t>Ensures all products follow a consistent structure.</a:t>
            </a:r>
          </a:p>
          <a:p>
            <a:endParaRPr lang="en-US" dirty="0"/>
          </a:p>
        </p:txBody>
      </p:sp>
    </p:spTree>
    <p:extLst>
      <p:ext uri="{BB962C8B-B14F-4D97-AF65-F5344CB8AC3E}">
        <p14:creationId xmlns:p14="http://schemas.microsoft.com/office/powerpoint/2010/main" val="39490743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71599"/>
          </a:xfrm>
        </p:spPr>
        <p:txBody>
          <a:bodyPr/>
          <a:lstStyle/>
          <a:p>
            <a:r>
              <a:rPr lang="en-US" b="1" dirty="0"/>
              <a:t>Concrete Products</a:t>
            </a:r>
          </a:p>
        </p:txBody>
      </p:sp>
      <p:sp>
        <p:nvSpPr>
          <p:cNvPr id="3" name="Content Placeholder 2"/>
          <p:cNvSpPr>
            <a:spLocks noGrp="1"/>
          </p:cNvSpPr>
          <p:nvPr>
            <p:ph idx="1"/>
          </p:nvPr>
        </p:nvSpPr>
        <p:spPr>
          <a:xfrm>
            <a:off x="982133" y="1828800"/>
            <a:ext cx="7704667" cy="4171016"/>
          </a:xfrm>
        </p:spPr>
        <p:txBody>
          <a:bodyPr>
            <a:normAutofit/>
          </a:bodyPr>
          <a:lstStyle/>
          <a:p>
            <a:pPr lvl="1"/>
            <a:r>
              <a:rPr lang="en-US" dirty="0" smtClean="0"/>
              <a:t>These </a:t>
            </a:r>
            <a:r>
              <a:rPr lang="en-US" dirty="0"/>
              <a:t>are the </a:t>
            </a:r>
            <a:r>
              <a:rPr lang="en-US" b="1" dirty="0"/>
              <a:t>actual implementations</a:t>
            </a:r>
            <a:r>
              <a:rPr lang="en-US" dirty="0"/>
              <a:t> of the Product. </a:t>
            </a:r>
          </a:p>
          <a:p>
            <a:pPr lvl="1"/>
            <a:r>
              <a:rPr lang="en-US" dirty="0"/>
              <a:t>Each class represents a specific type of </a:t>
            </a:r>
            <a:r>
              <a:rPr lang="en-US" dirty="0" smtClean="0"/>
              <a:t>object.</a:t>
            </a:r>
          </a:p>
        </p:txBody>
      </p:sp>
    </p:spTree>
    <p:extLst>
      <p:ext uri="{BB962C8B-B14F-4D97-AF65-F5344CB8AC3E}">
        <p14:creationId xmlns:p14="http://schemas.microsoft.com/office/powerpoint/2010/main" val="36970913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219199"/>
          </a:xfrm>
        </p:spPr>
        <p:txBody>
          <a:bodyPr>
            <a:normAutofit fontScale="90000"/>
          </a:bodyPr>
          <a:lstStyle/>
          <a:p>
            <a:pPr lvl="0" defTabSz="914400" eaLnBrk="0" fontAlgn="base" hangingPunct="0">
              <a:spcAft>
                <a:spcPct val="0"/>
              </a:spcAft>
            </a:pPr>
            <a:r>
              <a:rPr lang="en-US" altLang="en-US" b="1" dirty="0">
                <a:ln>
                  <a:noFill/>
                </a:ln>
                <a:latin typeface="Arial" panose="020B0604020202020204" pitchFamily="34" charset="0"/>
              </a:rPr>
              <a:t>Creator (Factory Class / Factory Method)</a:t>
            </a:r>
          </a:p>
        </p:txBody>
      </p:sp>
      <p:sp>
        <p:nvSpPr>
          <p:cNvPr id="4" name="Rectangle 1"/>
          <p:cNvSpPr>
            <a:spLocks noGrp="1" noChangeArrowheads="1"/>
          </p:cNvSpPr>
          <p:nvPr>
            <p:ph idx="1"/>
          </p:nvPr>
        </p:nvSpPr>
        <p:spPr bwMode="auto">
          <a:xfrm>
            <a:off x="950757" y="2743200"/>
            <a:ext cx="747606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smtClean="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smtClean="0">
                <a:latin typeface="Arial" panose="020B0604020202020204" pitchFamily="34" charset="0"/>
              </a:rPr>
              <a:t>Declares </a:t>
            </a:r>
            <a:r>
              <a:rPr lang="en-US" altLang="en-US" sz="1800" dirty="0">
                <a:latin typeface="Arial" panose="020B0604020202020204" pitchFamily="34" charset="0"/>
              </a:rPr>
              <a:t>the factory method that returns a Product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May provide a default implementation or leave it abstract. </a:t>
            </a:r>
          </a:p>
        </p:txBody>
      </p:sp>
    </p:spTree>
    <p:extLst>
      <p:ext uri="{BB962C8B-B14F-4D97-AF65-F5344CB8AC3E}">
        <p14:creationId xmlns:p14="http://schemas.microsoft.com/office/powerpoint/2010/main" val="37509080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Client</a:t>
            </a:r>
            <a:endParaRPr lang="en-US" dirty="0"/>
          </a:p>
        </p:txBody>
      </p:sp>
      <p:sp>
        <p:nvSpPr>
          <p:cNvPr id="6" name="Rectangle 3"/>
          <p:cNvSpPr>
            <a:spLocks noGrp="1" noChangeArrowheads="1"/>
          </p:cNvSpPr>
          <p:nvPr>
            <p:ph idx="1"/>
          </p:nvPr>
        </p:nvSpPr>
        <p:spPr bwMode="auto">
          <a:xfrm>
            <a:off x="1143000" y="2514600"/>
            <a:ext cx="663786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class that uses the factory to create objects.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Arial" panose="020B0604020202020204" pitchFamily="34" charset="0"/>
              </a:rPr>
              <a:t>Does NOT use </a:t>
            </a:r>
            <a:r>
              <a:rPr kumimoji="0" lang="en-US" altLang="en-US" sz="2000" b="1" i="1" u="none" strike="noStrike" cap="none" normalizeH="0" baseline="0" dirty="0" smtClean="0">
                <a:ln>
                  <a:noFill/>
                </a:ln>
                <a:solidFill>
                  <a:schemeClr val="tx1"/>
                </a:solidFill>
                <a:effectLst/>
                <a:latin typeface="Arial Unicode MS"/>
              </a:rPr>
              <a:t>new</a:t>
            </a:r>
            <a:r>
              <a:rPr kumimoji="0" lang="en-US" altLang="en-US" sz="2000" b="1" i="0" u="none" strike="noStrike" cap="none" normalizeH="0" baseline="0" dirty="0" smtClean="0">
                <a:ln>
                  <a:noFill/>
                </a:ln>
                <a:solidFill>
                  <a:schemeClr val="tx1"/>
                </a:solidFill>
                <a:effectLst/>
              </a:rPr>
              <a:t>       directly</a:t>
            </a:r>
            <a:r>
              <a:rPr kumimoji="0" lang="en-US" altLang="en-US" sz="2000" b="0" i="0" u="none" strike="noStrike" cap="none" normalizeH="0" baseline="0" dirty="0" smtClean="0">
                <a:ln>
                  <a:noFill/>
                </a:ln>
                <a:solidFill>
                  <a:schemeClr val="tx1"/>
                </a:solidFill>
                <a:effectLst/>
                <a:latin typeface="Arial" panose="020B0604020202020204" pitchFamily="34" charset="0"/>
              </a:rPr>
              <a:t> → relies on factory. </a:t>
            </a:r>
          </a:p>
        </p:txBody>
      </p:sp>
    </p:spTree>
    <p:extLst>
      <p:ext uri="{BB962C8B-B14F-4D97-AF65-F5344CB8AC3E}">
        <p14:creationId xmlns:p14="http://schemas.microsoft.com/office/powerpoint/2010/main" val="33599992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C:\Users\22ad\Desktop\factory_pattern_uml_diagram.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52400"/>
            <a:ext cx="84582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276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Step 1 : Interface</a:t>
            </a:r>
          </a:p>
        </p:txBody>
      </p:sp>
      <p:sp>
        <p:nvSpPr>
          <p:cNvPr id="3" name="Content Placeholder 2"/>
          <p:cNvSpPr>
            <a:spLocks noGrp="1"/>
          </p:cNvSpPr>
          <p:nvPr>
            <p:ph idx="1"/>
          </p:nvPr>
        </p:nvSpPr>
        <p:spPr/>
        <p:txBody>
          <a:bodyPr>
            <a:normAutofit lnSpcReduction="10000"/>
          </a:bodyPr>
          <a:lstStyle/>
          <a:p>
            <a:pPr marL="114300" indent="0">
              <a:buNone/>
            </a:pPr>
            <a:r>
              <a:rPr lang="en-US" sz="2400" dirty="0"/>
              <a:t/>
            </a:r>
            <a:br>
              <a:rPr lang="en-US" sz="2400" dirty="0"/>
            </a:br>
            <a:r>
              <a:rPr lang="en-US" sz="2400" dirty="0"/>
              <a:t>Create an interface.</a:t>
            </a:r>
            <a:endParaRPr lang="en-US" i="1" dirty="0"/>
          </a:p>
          <a:p>
            <a:pPr marL="114300" indent="0">
              <a:buNone/>
            </a:pPr>
            <a:r>
              <a:rPr lang="en-US" i="1" dirty="0">
                <a:solidFill>
                  <a:srgbClr val="0070C0"/>
                </a:solidFill>
              </a:rPr>
              <a:t>Shape.java</a:t>
            </a:r>
            <a:endParaRPr lang="en-US" dirty="0">
              <a:solidFill>
                <a:srgbClr val="0070C0"/>
              </a:solidFill>
            </a:endParaRPr>
          </a:p>
          <a:p>
            <a:pPr marL="114300" indent="0">
              <a:buNone/>
            </a:pPr>
            <a:r>
              <a:rPr lang="en-US" dirty="0">
                <a:solidFill>
                  <a:srgbClr val="0070C0"/>
                </a:solidFill>
              </a:rPr>
              <a:t>public interface Shape</a:t>
            </a:r>
          </a:p>
          <a:p>
            <a:pPr marL="114300" indent="0">
              <a:buNone/>
            </a:pPr>
            <a:r>
              <a:rPr lang="en-US" dirty="0">
                <a:solidFill>
                  <a:srgbClr val="0070C0"/>
                </a:solidFill>
              </a:rPr>
              <a:t> {</a:t>
            </a:r>
          </a:p>
          <a:p>
            <a:pPr marL="114300" indent="0">
              <a:buNone/>
            </a:pPr>
            <a:r>
              <a:rPr lang="en-US" dirty="0">
                <a:solidFill>
                  <a:srgbClr val="0070C0"/>
                </a:solidFill>
              </a:rPr>
              <a:t> void draw();</a:t>
            </a:r>
          </a:p>
          <a:p>
            <a:pPr marL="114300" indent="0">
              <a:buNone/>
            </a:pPr>
            <a:r>
              <a:rPr lang="en-US" dirty="0">
                <a:solidFill>
                  <a:srgbClr val="0070C0"/>
                </a:solidFill>
              </a:rPr>
              <a:t> }</a:t>
            </a:r>
          </a:p>
        </p:txBody>
      </p:sp>
    </p:spTree>
    <p:extLst>
      <p:ext uri="{BB962C8B-B14F-4D97-AF65-F5344CB8AC3E}">
        <p14:creationId xmlns:p14="http://schemas.microsoft.com/office/powerpoint/2010/main" val="37073390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Step 2: Concrete Classes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Create concrete classes implementing the same interface.</a:t>
            </a:r>
          </a:p>
          <a:p>
            <a:pPr marL="114300" indent="0">
              <a:buNone/>
            </a:pPr>
            <a:r>
              <a:rPr lang="en-US" b="1" i="1" dirty="0">
                <a:solidFill>
                  <a:srgbClr val="0070C0"/>
                </a:solidFill>
              </a:rPr>
              <a:t>Rectangle.java</a:t>
            </a:r>
            <a:endParaRPr lang="en-US" b="1" dirty="0">
              <a:solidFill>
                <a:srgbClr val="0070C0"/>
              </a:solidFill>
            </a:endParaRPr>
          </a:p>
          <a:p>
            <a:pPr marL="114300" indent="0">
              <a:buNone/>
            </a:pPr>
            <a:r>
              <a:rPr lang="en-US" dirty="0">
                <a:solidFill>
                  <a:srgbClr val="0070C0"/>
                </a:solidFill>
              </a:rPr>
              <a:t>public class Rectangle implements Shape </a:t>
            </a:r>
          </a:p>
          <a:p>
            <a:pPr marL="114300" indent="0">
              <a:buNone/>
            </a:pPr>
            <a:r>
              <a:rPr lang="en-US" dirty="0">
                <a:solidFill>
                  <a:srgbClr val="0070C0"/>
                </a:solidFill>
              </a:rPr>
              <a:t>{ </a:t>
            </a:r>
          </a:p>
          <a:p>
            <a:pPr marL="114300" indent="0">
              <a:buNone/>
            </a:pPr>
            <a:r>
              <a:rPr lang="en-US" dirty="0">
                <a:solidFill>
                  <a:srgbClr val="0070C0"/>
                </a:solidFill>
              </a:rPr>
              <a:t>@Override public void draw()</a:t>
            </a:r>
          </a:p>
          <a:p>
            <a:pPr marL="114300" indent="0">
              <a:buNone/>
            </a:pPr>
            <a:r>
              <a:rPr lang="en-US" dirty="0">
                <a:solidFill>
                  <a:srgbClr val="0070C0"/>
                </a:solidFill>
              </a:rPr>
              <a:t> {</a:t>
            </a:r>
          </a:p>
          <a:p>
            <a:pPr marL="114300" indent="0">
              <a:buNone/>
            </a:pPr>
            <a:r>
              <a:rPr lang="en-US" dirty="0">
                <a:solidFill>
                  <a:srgbClr val="0070C0"/>
                </a:solidFill>
              </a:rPr>
              <a:t>      </a:t>
            </a:r>
            <a:r>
              <a:rPr lang="en-US" dirty="0" err="1">
                <a:solidFill>
                  <a:srgbClr val="0070C0"/>
                </a:solidFill>
              </a:rPr>
              <a:t>System.out.println</a:t>
            </a:r>
            <a:r>
              <a:rPr lang="en-US" dirty="0">
                <a:solidFill>
                  <a:srgbClr val="0070C0"/>
                </a:solidFill>
              </a:rPr>
              <a:t>("Inside Rectangle::draw() method."); </a:t>
            </a:r>
          </a:p>
          <a:p>
            <a:pPr marL="114300" indent="0">
              <a:buNone/>
            </a:pPr>
            <a:r>
              <a:rPr lang="en-US" dirty="0">
                <a:solidFill>
                  <a:srgbClr val="0070C0"/>
                </a:solidFill>
              </a:rPr>
              <a:t>} </a:t>
            </a:r>
          </a:p>
          <a:p>
            <a:pPr marL="114300" indent="0">
              <a:buNone/>
            </a:pPr>
            <a:r>
              <a:rPr lang="en-US" dirty="0">
                <a:solidFill>
                  <a:srgbClr val="0070C0"/>
                </a:solidFill>
              </a:rPr>
              <a:t>	}</a:t>
            </a:r>
          </a:p>
        </p:txBody>
      </p:sp>
    </p:spTree>
    <p:extLst>
      <p:ext uri="{BB962C8B-B14F-4D97-AF65-F5344CB8AC3E}">
        <p14:creationId xmlns:p14="http://schemas.microsoft.com/office/powerpoint/2010/main" val="4136376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normAutofit lnSpcReduction="10000"/>
          </a:bodyPr>
          <a:lstStyle/>
          <a:p>
            <a:pPr marL="114300" indent="0">
              <a:buNone/>
            </a:pPr>
            <a:r>
              <a:rPr lang="en-US" b="1" i="1" dirty="0">
                <a:solidFill>
                  <a:srgbClr val="0070C0"/>
                </a:solidFill>
              </a:rPr>
              <a:t>Square.java</a:t>
            </a:r>
            <a:endParaRPr lang="en-US" b="1" dirty="0">
              <a:solidFill>
                <a:srgbClr val="0070C0"/>
              </a:solidFill>
            </a:endParaRPr>
          </a:p>
          <a:p>
            <a:pPr marL="114300" indent="0">
              <a:buNone/>
            </a:pPr>
            <a:r>
              <a:rPr lang="en-US" dirty="0">
                <a:solidFill>
                  <a:srgbClr val="0070C0"/>
                </a:solidFill>
              </a:rPr>
              <a:t>public class Square implements Shape</a:t>
            </a:r>
          </a:p>
          <a:p>
            <a:pPr marL="114300" indent="0">
              <a:buNone/>
            </a:pPr>
            <a:r>
              <a:rPr lang="en-US" dirty="0">
                <a:solidFill>
                  <a:srgbClr val="0070C0"/>
                </a:solidFill>
              </a:rPr>
              <a:t> { @Override public void draw() </a:t>
            </a:r>
          </a:p>
          <a:p>
            <a:pPr marL="114300" indent="0">
              <a:buNone/>
            </a:pPr>
            <a:r>
              <a:rPr lang="en-US" dirty="0">
                <a:solidFill>
                  <a:srgbClr val="0070C0"/>
                </a:solidFill>
              </a:rPr>
              <a:t>{ </a:t>
            </a:r>
          </a:p>
          <a:p>
            <a:pPr marL="114300" indent="0">
              <a:buNone/>
            </a:pPr>
            <a:r>
              <a:rPr lang="en-US" dirty="0" err="1">
                <a:solidFill>
                  <a:srgbClr val="0070C0"/>
                </a:solidFill>
              </a:rPr>
              <a:t>System.out.println</a:t>
            </a:r>
            <a:r>
              <a:rPr lang="en-US" dirty="0">
                <a:solidFill>
                  <a:srgbClr val="0070C0"/>
                </a:solidFill>
              </a:rPr>
              <a:t>("Inside Square::draw() method.");</a:t>
            </a:r>
          </a:p>
          <a:p>
            <a:pPr marL="114300" indent="0">
              <a:buNone/>
            </a:pPr>
            <a:r>
              <a:rPr lang="en-US" dirty="0">
                <a:solidFill>
                  <a:srgbClr val="0070C0"/>
                </a:solidFill>
              </a:rPr>
              <a:t> } </a:t>
            </a:r>
          </a:p>
          <a:p>
            <a:pPr marL="114300" indent="0">
              <a:buNone/>
            </a:pPr>
            <a:r>
              <a:rPr lang="en-US" dirty="0">
                <a:solidFill>
                  <a:srgbClr val="0070C0"/>
                </a:solidFill>
              </a:rPr>
              <a:t>}</a:t>
            </a:r>
          </a:p>
        </p:txBody>
      </p:sp>
    </p:spTree>
    <p:extLst>
      <p:ext uri="{BB962C8B-B14F-4D97-AF65-F5344CB8AC3E}">
        <p14:creationId xmlns:p14="http://schemas.microsoft.com/office/powerpoint/2010/main" val="19424613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381000"/>
            <a:ext cx="7704667" cy="1981200"/>
          </a:xfrm>
        </p:spPr>
        <p:txBody>
          <a:bodyPr/>
          <a:lstStyle/>
          <a:p>
            <a:r>
              <a:rPr lang="en-US" dirty="0"/>
              <a:t>Step 2</a:t>
            </a:r>
          </a:p>
        </p:txBody>
      </p:sp>
      <p:sp>
        <p:nvSpPr>
          <p:cNvPr id="3" name="Content Placeholder 2"/>
          <p:cNvSpPr>
            <a:spLocks noGrp="1"/>
          </p:cNvSpPr>
          <p:nvPr>
            <p:ph idx="1"/>
          </p:nvPr>
        </p:nvSpPr>
        <p:spPr/>
        <p:txBody>
          <a:bodyPr>
            <a:normAutofit fontScale="92500" lnSpcReduction="20000"/>
          </a:bodyPr>
          <a:lstStyle/>
          <a:p>
            <a:pPr marL="114300" indent="0">
              <a:buNone/>
            </a:pPr>
            <a:r>
              <a:rPr lang="en-US" b="1" i="1" dirty="0">
                <a:solidFill>
                  <a:srgbClr val="0070C0"/>
                </a:solidFill>
              </a:rPr>
              <a:t>Circle.java</a:t>
            </a:r>
            <a:endParaRPr lang="en-US" b="1" dirty="0">
              <a:solidFill>
                <a:srgbClr val="0070C0"/>
              </a:solidFill>
            </a:endParaRPr>
          </a:p>
          <a:p>
            <a:pPr marL="114300" indent="0">
              <a:buNone/>
            </a:pPr>
            <a:r>
              <a:rPr lang="en-US" dirty="0">
                <a:solidFill>
                  <a:srgbClr val="0070C0"/>
                </a:solidFill>
              </a:rPr>
              <a:t>public class Circle implements Shape</a:t>
            </a:r>
          </a:p>
          <a:p>
            <a:pPr marL="114300" indent="0">
              <a:buNone/>
            </a:pPr>
            <a:r>
              <a:rPr lang="en-US" dirty="0">
                <a:solidFill>
                  <a:srgbClr val="0070C0"/>
                </a:solidFill>
              </a:rPr>
              <a:t> { </a:t>
            </a:r>
          </a:p>
          <a:p>
            <a:pPr marL="114300" indent="0">
              <a:buNone/>
            </a:pPr>
            <a:r>
              <a:rPr lang="en-US" dirty="0">
                <a:solidFill>
                  <a:srgbClr val="0070C0"/>
                </a:solidFill>
              </a:rPr>
              <a:t>@Override public void draw() </a:t>
            </a:r>
          </a:p>
          <a:p>
            <a:pPr marL="114300" indent="0">
              <a:buNone/>
            </a:pPr>
            <a:r>
              <a:rPr lang="en-US" dirty="0">
                <a:solidFill>
                  <a:srgbClr val="0070C0"/>
                </a:solidFill>
              </a:rPr>
              <a:t>{ </a:t>
            </a:r>
          </a:p>
          <a:p>
            <a:pPr marL="114300" indent="0">
              <a:buNone/>
            </a:pPr>
            <a:r>
              <a:rPr lang="en-US" dirty="0" err="1">
                <a:solidFill>
                  <a:srgbClr val="0070C0"/>
                </a:solidFill>
              </a:rPr>
              <a:t>System.out.println</a:t>
            </a:r>
            <a:r>
              <a:rPr lang="en-US" dirty="0">
                <a:solidFill>
                  <a:srgbClr val="0070C0"/>
                </a:solidFill>
              </a:rPr>
              <a:t>("Inside Circle::draw() method."); </a:t>
            </a:r>
          </a:p>
          <a:p>
            <a:pPr marL="114300" indent="0">
              <a:buNone/>
            </a:pPr>
            <a:r>
              <a:rPr lang="en-US" dirty="0">
                <a:solidFill>
                  <a:srgbClr val="0070C0"/>
                </a:solidFill>
              </a:rPr>
              <a:t>} </a:t>
            </a:r>
          </a:p>
          <a:p>
            <a:pPr marL="114300" indent="0">
              <a:buNone/>
            </a:pPr>
            <a:r>
              <a:rPr lang="en-US" dirty="0">
                <a:solidFill>
                  <a:srgbClr val="0070C0"/>
                </a:solidFill>
              </a:rPr>
              <a:t>}</a:t>
            </a:r>
          </a:p>
        </p:txBody>
      </p:sp>
    </p:spTree>
    <p:extLst>
      <p:ext uri="{BB962C8B-B14F-4D97-AF65-F5344CB8AC3E}">
        <p14:creationId xmlns:p14="http://schemas.microsoft.com/office/powerpoint/2010/main" val="31318233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38199"/>
          </a:xfrm>
        </p:spPr>
        <p:txBody>
          <a:bodyPr>
            <a:normAutofit fontScale="90000"/>
          </a:bodyPr>
          <a:lstStyle/>
          <a:p>
            <a:r>
              <a:rPr lang="en-US" dirty="0"/>
              <a:t/>
            </a:r>
            <a:br>
              <a:rPr lang="en-US" dirty="0"/>
            </a:br>
            <a:r>
              <a:rPr lang="en-US" dirty="0"/>
              <a:t>Step 3: Create Factory</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pPr marL="114300" indent="0">
              <a:buNone/>
            </a:pPr>
            <a:r>
              <a:rPr lang="en-US" sz="4000" dirty="0"/>
              <a:t>Create a Factory to generate object of concrete class based on given information.</a:t>
            </a:r>
          </a:p>
          <a:p>
            <a:pPr marL="114300" indent="0">
              <a:buNone/>
            </a:pPr>
            <a:r>
              <a:rPr lang="en-US" sz="4000" i="1" dirty="0"/>
              <a:t>ShapeFactory.java</a:t>
            </a:r>
            <a:endParaRPr lang="en-US" sz="4000" dirty="0"/>
          </a:p>
          <a:p>
            <a:pPr marL="114300" indent="0">
              <a:buNone/>
            </a:pPr>
            <a:r>
              <a:rPr lang="en-US" sz="4000" dirty="0">
                <a:solidFill>
                  <a:srgbClr val="0070C0"/>
                </a:solidFill>
              </a:rPr>
              <a:t>public class </a:t>
            </a:r>
            <a:r>
              <a:rPr lang="en-US" sz="4000" dirty="0" err="1">
                <a:solidFill>
                  <a:srgbClr val="0070C0"/>
                </a:solidFill>
              </a:rPr>
              <a:t>ShapeFactory</a:t>
            </a:r>
            <a:r>
              <a:rPr lang="en-US" sz="4000" dirty="0">
                <a:solidFill>
                  <a:srgbClr val="0070C0"/>
                </a:solidFill>
              </a:rPr>
              <a:t> </a:t>
            </a:r>
          </a:p>
          <a:p>
            <a:pPr marL="114300" indent="0">
              <a:buNone/>
            </a:pPr>
            <a:r>
              <a:rPr lang="en-US" sz="4000" dirty="0"/>
              <a:t>{ </a:t>
            </a:r>
          </a:p>
          <a:p>
            <a:pPr marL="114300" indent="0">
              <a:buNone/>
            </a:pPr>
            <a:r>
              <a:rPr lang="en-US" sz="4000" dirty="0">
                <a:solidFill>
                  <a:srgbClr val="FF0000"/>
                </a:solidFill>
              </a:rPr>
              <a:t>//use </a:t>
            </a:r>
            <a:r>
              <a:rPr lang="en-US" sz="4000" dirty="0" err="1">
                <a:solidFill>
                  <a:srgbClr val="FF0000"/>
                </a:solidFill>
              </a:rPr>
              <a:t>getShape</a:t>
            </a:r>
            <a:r>
              <a:rPr lang="en-US" sz="4000" dirty="0">
                <a:solidFill>
                  <a:srgbClr val="FF0000"/>
                </a:solidFill>
              </a:rPr>
              <a:t> method to get object of type shape</a:t>
            </a:r>
            <a:r>
              <a:rPr lang="en-US" sz="4000" dirty="0"/>
              <a:t> </a:t>
            </a:r>
          </a:p>
          <a:p>
            <a:pPr marL="114300" indent="0">
              <a:buNone/>
            </a:pPr>
            <a:endParaRPr lang="en-US" sz="4000" dirty="0"/>
          </a:p>
          <a:p>
            <a:pPr marL="114300" indent="0">
              <a:buNone/>
            </a:pPr>
            <a:r>
              <a:rPr lang="en-US" sz="4000" dirty="0">
                <a:solidFill>
                  <a:srgbClr val="0070C0"/>
                </a:solidFill>
              </a:rPr>
              <a:t>public Shape </a:t>
            </a:r>
            <a:r>
              <a:rPr lang="en-US" sz="4000" dirty="0" err="1">
                <a:solidFill>
                  <a:srgbClr val="0070C0"/>
                </a:solidFill>
              </a:rPr>
              <a:t>getShape</a:t>
            </a:r>
            <a:r>
              <a:rPr lang="en-US" sz="4000" dirty="0">
                <a:solidFill>
                  <a:srgbClr val="0070C0"/>
                </a:solidFill>
              </a:rPr>
              <a:t>(String </a:t>
            </a:r>
            <a:r>
              <a:rPr lang="en-US" sz="4000" dirty="0" err="1">
                <a:solidFill>
                  <a:srgbClr val="0070C0"/>
                </a:solidFill>
              </a:rPr>
              <a:t>shapeType</a:t>
            </a:r>
            <a:r>
              <a:rPr lang="en-US" sz="4000" dirty="0">
                <a:solidFill>
                  <a:srgbClr val="0070C0"/>
                </a:solidFill>
              </a:rPr>
              <a:t>)</a:t>
            </a:r>
          </a:p>
          <a:p>
            <a:pPr marL="114300" indent="0">
              <a:buNone/>
            </a:pPr>
            <a:r>
              <a:rPr lang="en-US" sz="4000" dirty="0">
                <a:solidFill>
                  <a:srgbClr val="0070C0"/>
                </a:solidFill>
              </a:rPr>
              <a:t>{</a:t>
            </a:r>
          </a:p>
          <a:p>
            <a:pPr marL="114300" indent="0">
              <a:buNone/>
            </a:pPr>
            <a:r>
              <a:rPr lang="en-US" sz="4000" dirty="0">
                <a:solidFill>
                  <a:srgbClr val="0070C0"/>
                </a:solidFill>
              </a:rPr>
              <a:t> if(</a:t>
            </a:r>
            <a:r>
              <a:rPr lang="en-US" sz="4000" dirty="0" err="1">
                <a:solidFill>
                  <a:srgbClr val="0070C0"/>
                </a:solidFill>
              </a:rPr>
              <a:t>shapeType</a:t>
            </a:r>
            <a:r>
              <a:rPr lang="en-US" sz="4000" dirty="0">
                <a:solidFill>
                  <a:srgbClr val="0070C0"/>
                </a:solidFill>
              </a:rPr>
              <a:t> == null){ return null; </a:t>
            </a:r>
          </a:p>
          <a:p>
            <a:pPr marL="114300" indent="0">
              <a:buNone/>
            </a:pPr>
            <a:r>
              <a:rPr lang="en-US" sz="4000" dirty="0">
                <a:solidFill>
                  <a:srgbClr val="0070C0"/>
                </a:solidFill>
              </a:rPr>
              <a:t>} </a:t>
            </a:r>
          </a:p>
          <a:p>
            <a:pPr marL="114300" indent="0">
              <a:buNone/>
            </a:pPr>
            <a:r>
              <a:rPr lang="en-US" sz="4000" dirty="0">
                <a:solidFill>
                  <a:srgbClr val="0070C0"/>
                </a:solidFill>
              </a:rPr>
              <a:t>if(</a:t>
            </a:r>
            <a:r>
              <a:rPr lang="en-US" sz="4000" dirty="0" err="1">
                <a:solidFill>
                  <a:srgbClr val="0070C0"/>
                </a:solidFill>
              </a:rPr>
              <a:t>shapeType.equalsIgnoreCase</a:t>
            </a:r>
            <a:r>
              <a:rPr lang="en-US" sz="4000" dirty="0">
                <a:solidFill>
                  <a:srgbClr val="0070C0"/>
                </a:solidFill>
              </a:rPr>
              <a:t>("CIRCLE</a:t>
            </a:r>
            <a:r>
              <a:rPr lang="en-US" sz="4000" dirty="0" smtClean="0">
                <a:solidFill>
                  <a:srgbClr val="0070C0"/>
                </a:solidFill>
              </a:rPr>
              <a:t>"))</a:t>
            </a:r>
          </a:p>
          <a:p>
            <a:pPr marL="114300" indent="0">
              <a:buNone/>
            </a:pPr>
            <a:r>
              <a:rPr lang="en-US" sz="4000" dirty="0" smtClean="0">
                <a:solidFill>
                  <a:srgbClr val="0070C0"/>
                </a:solidFill>
              </a:rPr>
              <a:t>{ </a:t>
            </a:r>
            <a:r>
              <a:rPr lang="en-US" sz="4000" dirty="0">
                <a:solidFill>
                  <a:srgbClr val="0070C0"/>
                </a:solidFill>
              </a:rPr>
              <a:t>return new Circle();</a:t>
            </a:r>
          </a:p>
          <a:p>
            <a:pPr marL="114300" indent="0">
              <a:buNone/>
            </a:pPr>
            <a:r>
              <a:rPr lang="en-US" sz="4000" dirty="0">
                <a:solidFill>
                  <a:srgbClr val="0070C0"/>
                </a:solidFill>
              </a:rPr>
              <a:t> } </a:t>
            </a:r>
          </a:p>
          <a:p>
            <a:pPr marL="114300" indent="0">
              <a:buNone/>
            </a:pPr>
            <a:r>
              <a:rPr lang="en-US" sz="4000" dirty="0">
                <a:solidFill>
                  <a:srgbClr val="0070C0"/>
                </a:solidFill>
              </a:rPr>
              <a:t>else if(</a:t>
            </a:r>
            <a:r>
              <a:rPr lang="en-US" sz="4000" dirty="0" err="1">
                <a:solidFill>
                  <a:srgbClr val="0070C0"/>
                </a:solidFill>
              </a:rPr>
              <a:t>shapeType.equalsIgnoreCase</a:t>
            </a:r>
            <a:r>
              <a:rPr lang="en-US" sz="4000" dirty="0">
                <a:solidFill>
                  <a:srgbClr val="0070C0"/>
                </a:solidFill>
              </a:rPr>
              <a:t>("RECTANGLE"))</a:t>
            </a:r>
          </a:p>
          <a:p>
            <a:pPr marL="114300" indent="0">
              <a:buNone/>
            </a:pPr>
            <a:r>
              <a:rPr lang="en-US" sz="4000" dirty="0">
                <a:solidFill>
                  <a:srgbClr val="0070C0"/>
                </a:solidFill>
              </a:rPr>
              <a:t>{</a:t>
            </a:r>
          </a:p>
          <a:p>
            <a:pPr marL="114300" indent="0">
              <a:buNone/>
            </a:pPr>
            <a:r>
              <a:rPr lang="en-US" sz="4000" dirty="0">
                <a:solidFill>
                  <a:srgbClr val="0070C0"/>
                </a:solidFill>
              </a:rPr>
              <a:t> return new Rectangle</a:t>
            </a:r>
            <a:r>
              <a:rPr lang="en-US" sz="4000" dirty="0" smtClean="0">
                <a:solidFill>
                  <a:srgbClr val="0070C0"/>
                </a:solidFill>
              </a:rPr>
              <a:t>();</a:t>
            </a:r>
          </a:p>
          <a:p>
            <a:pPr marL="114300" indent="0">
              <a:buNone/>
            </a:pPr>
            <a:r>
              <a:rPr lang="en-US" sz="4000" dirty="0">
                <a:solidFill>
                  <a:srgbClr val="0070C0"/>
                </a:solidFill>
              </a:rPr>
              <a:t> }</a:t>
            </a:r>
          </a:p>
          <a:p>
            <a:pPr marL="114300" indent="0">
              <a:buNone/>
            </a:pPr>
            <a:r>
              <a:rPr lang="en-US" sz="4000" dirty="0">
                <a:solidFill>
                  <a:srgbClr val="0070C0"/>
                </a:solidFill>
              </a:rPr>
              <a:t> else if(</a:t>
            </a:r>
            <a:r>
              <a:rPr lang="en-US" sz="4000" dirty="0" err="1">
                <a:solidFill>
                  <a:srgbClr val="0070C0"/>
                </a:solidFill>
              </a:rPr>
              <a:t>shapeType.equalsIgnoreCase</a:t>
            </a:r>
            <a:r>
              <a:rPr lang="en-US" sz="4000" dirty="0">
                <a:solidFill>
                  <a:srgbClr val="0070C0"/>
                </a:solidFill>
              </a:rPr>
              <a:t>("SQUARE"))</a:t>
            </a:r>
          </a:p>
          <a:p>
            <a:pPr marL="114300" indent="0">
              <a:buNone/>
            </a:pPr>
            <a:r>
              <a:rPr lang="en-US" sz="4000" dirty="0">
                <a:solidFill>
                  <a:srgbClr val="0070C0"/>
                </a:solidFill>
              </a:rPr>
              <a:t>{ </a:t>
            </a:r>
          </a:p>
          <a:p>
            <a:pPr marL="114300" indent="0">
              <a:buNone/>
            </a:pPr>
            <a:r>
              <a:rPr lang="en-US" sz="4000" dirty="0">
                <a:solidFill>
                  <a:srgbClr val="0070C0"/>
                </a:solidFill>
              </a:rPr>
              <a:t>return new Square(); </a:t>
            </a:r>
          </a:p>
          <a:p>
            <a:pPr marL="114300" indent="0">
              <a:buNone/>
            </a:pPr>
            <a:r>
              <a:rPr lang="en-US" sz="4000" dirty="0">
                <a:solidFill>
                  <a:srgbClr val="0070C0"/>
                </a:solidFill>
              </a:rPr>
              <a:t>} </a:t>
            </a:r>
          </a:p>
          <a:p>
            <a:pPr marL="114300" indent="0">
              <a:buNone/>
            </a:pPr>
            <a:r>
              <a:rPr lang="en-US" dirty="0">
                <a:solidFill>
                  <a:srgbClr val="0070C0"/>
                </a:solidFill>
              </a:rPr>
              <a:t>	 }</a:t>
            </a:r>
          </a:p>
          <a:p>
            <a:pPr marL="114300" indent="0">
              <a:buNone/>
            </a:pPr>
            <a:endParaRPr lang="en-US" dirty="0">
              <a:solidFill>
                <a:srgbClr val="0070C0"/>
              </a:solidFill>
            </a:endParaRPr>
          </a:p>
        </p:txBody>
      </p:sp>
    </p:spTree>
    <p:extLst>
      <p:ext uri="{BB962C8B-B14F-4D97-AF65-F5344CB8AC3E}">
        <p14:creationId xmlns:p14="http://schemas.microsoft.com/office/powerpoint/2010/main" val="5874559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Step 4</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Use the Factory to get object of concrete class by passing an information such as </a:t>
            </a:r>
            <a:r>
              <a:rPr lang="en-US" b="1" dirty="0"/>
              <a:t>type</a:t>
            </a:r>
            <a:r>
              <a:rPr lang="en-US" dirty="0"/>
              <a:t>.</a:t>
            </a:r>
          </a:p>
          <a:p>
            <a:pPr marL="114300" indent="0">
              <a:buNone/>
            </a:pPr>
            <a:r>
              <a:rPr lang="en-US" dirty="0">
                <a:solidFill>
                  <a:srgbClr val="0070C0"/>
                </a:solidFill>
              </a:rPr>
              <a:t>public class </a:t>
            </a:r>
            <a:r>
              <a:rPr lang="en-US" dirty="0" err="1">
                <a:solidFill>
                  <a:srgbClr val="0070C0"/>
                </a:solidFill>
              </a:rPr>
              <a:t>FactoryPatternDemo</a:t>
            </a:r>
            <a:endParaRPr lang="en-US" dirty="0">
              <a:solidFill>
                <a:srgbClr val="0070C0"/>
              </a:solidFill>
            </a:endParaRPr>
          </a:p>
          <a:p>
            <a:pPr marL="114300" indent="0">
              <a:buNone/>
            </a:pPr>
            <a:r>
              <a:rPr lang="en-US" dirty="0">
                <a:solidFill>
                  <a:srgbClr val="0070C0"/>
                </a:solidFill>
              </a:rPr>
              <a:t> {</a:t>
            </a:r>
          </a:p>
          <a:p>
            <a:pPr marL="114300" indent="0">
              <a:buNone/>
            </a:pPr>
            <a:r>
              <a:rPr lang="en-US" dirty="0">
                <a:solidFill>
                  <a:srgbClr val="0070C0"/>
                </a:solidFill>
              </a:rPr>
              <a:t> public static void main(String[] </a:t>
            </a:r>
            <a:r>
              <a:rPr lang="en-US" dirty="0" err="1">
                <a:solidFill>
                  <a:srgbClr val="0070C0"/>
                </a:solidFill>
              </a:rPr>
              <a:t>args</a:t>
            </a:r>
            <a:r>
              <a:rPr lang="en-US" dirty="0">
                <a:solidFill>
                  <a:srgbClr val="0070C0"/>
                </a:solidFill>
              </a:rPr>
              <a:t>) </a:t>
            </a:r>
          </a:p>
          <a:p>
            <a:pPr marL="114300" indent="0">
              <a:buNone/>
            </a:pPr>
            <a:r>
              <a:rPr lang="en-US" dirty="0">
                <a:solidFill>
                  <a:srgbClr val="0070C0"/>
                </a:solidFill>
              </a:rPr>
              <a:t>{ </a:t>
            </a:r>
          </a:p>
          <a:p>
            <a:pPr marL="114300" indent="0">
              <a:buNone/>
            </a:pPr>
            <a:r>
              <a:rPr lang="en-US" dirty="0" err="1">
                <a:solidFill>
                  <a:srgbClr val="0070C0"/>
                </a:solidFill>
              </a:rPr>
              <a:t>ShapeFactory</a:t>
            </a:r>
            <a:r>
              <a:rPr lang="en-US" dirty="0">
                <a:solidFill>
                  <a:srgbClr val="0070C0"/>
                </a:solidFill>
              </a:rPr>
              <a:t> </a:t>
            </a:r>
            <a:r>
              <a:rPr lang="en-US" dirty="0" err="1">
                <a:solidFill>
                  <a:srgbClr val="0070C0"/>
                </a:solidFill>
              </a:rPr>
              <a:t>shapeFactory</a:t>
            </a:r>
            <a:r>
              <a:rPr lang="en-US" dirty="0">
                <a:solidFill>
                  <a:srgbClr val="0070C0"/>
                </a:solidFill>
              </a:rPr>
              <a:t> = new </a:t>
            </a:r>
            <a:r>
              <a:rPr lang="en-US" dirty="0" err="1">
                <a:solidFill>
                  <a:srgbClr val="0070C0"/>
                </a:solidFill>
              </a:rPr>
              <a:t>ShapeFactory</a:t>
            </a:r>
            <a:r>
              <a:rPr lang="en-US" dirty="0">
                <a:solidFill>
                  <a:srgbClr val="0070C0"/>
                </a:solidFill>
              </a:rPr>
              <a:t>(); </a:t>
            </a:r>
          </a:p>
          <a:p>
            <a:pPr marL="114300" indent="0">
              <a:buNone/>
            </a:pPr>
            <a:r>
              <a:rPr lang="en-US" dirty="0">
                <a:solidFill>
                  <a:srgbClr val="FF0000"/>
                </a:solidFill>
              </a:rPr>
              <a:t>//get an object of Circle and call its draw method. </a:t>
            </a:r>
          </a:p>
          <a:p>
            <a:pPr marL="114300" indent="0">
              <a:buNone/>
            </a:pPr>
            <a:r>
              <a:rPr lang="en-US" dirty="0">
                <a:solidFill>
                  <a:srgbClr val="0070C0"/>
                </a:solidFill>
              </a:rPr>
              <a:t>Shape shape1 = </a:t>
            </a:r>
            <a:r>
              <a:rPr lang="en-US" dirty="0" err="1">
                <a:solidFill>
                  <a:srgbClr val="0070C0"/>
                </a:solidFill>
              </a:rPr>
              <a:t>shapeFactory.getShape</a:t>
            </a:r>
            <a:r>
              <a:rPr lang="en-US" dirty="0">
                <a:solidFill>
                  <a:srgbClr val="0070C0"/>
                </a:solidFill>
              </a:rPr>
              <a:t>("CIRCLE");</a:t>
            </a:r>
          </a:p>
          <a:p>
            <a:pPr marL="114300" indent="0">
              <a:buNone/>
            </a:pPr>
            <a:r>
              <a:rPr lang="en-US" dirty="0">
                <a:solidFill>
                  <a:srgbClr val="0070C0"/>
                </a:solidFill>
              </a:rPr>
              <a:t> </a:t>
            </a:r>
            <a:r>
              <a:rPr lang="en-US" dirty="0">
                <a:solidFill>
                  <a:srgbClr val="FF0000"/>
                </a:solidFill>
              </a:rPr>
              <a:t>//call draw method of Circle </a:t>
            </a:r>
          </a:p>
          <a:p>
            <a:pPr marL="114300" indent="0">
              <a:buNone/>
            </a:pPr>
            <a:r>
              <a:rPr lang="en-US" dirty="0">
                <a:solidFill>
                  <a:srgbClr val="0070C0"/>
                </a:solidFill>
              </a:rPr>
              <a:t>shape1.draw(); </a:t>
            </a:r>
          </a:p>
          <a:p>
            <a:pPr marL="114300" indent="0">
              <a:buNone/>
            </a:pPr>
            <a:endParaRPr lang="en-US" dirty="0"/>
          </a:p>
        </p:txBody>
      </p:sp>
    </p:spTree>
    <p:extLst>
      <p:ext uri="{BB962C8B-B14F-4D97-AF65-F5344CB8AC3E}">
        <p14:creationId xmlns:p14="http://schemas.microsoft.com/office/powerpoint/2010/main" val="33871815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Step 4</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pPr marL="114300" indent="0">
              <a:buNone/>
            </a:pPr>
            <a:r>
              <a:rPr lang="en-US" dirty="0">
                <a:solidFill>
                  <a:srgbClr val="FF0000"/>
                </a:solidFill>
              </a:rPr>
              <a:t>//get an object of Rectangle and call its draw method. </a:t>
            </a:r>
          </a:p>
          <a:p>
            <a:pPr marL="114300" indent="0">
              <a:buNone/>
            </a:pPr>
            <a:r>
              <a:rPr lang="en-US" dirty="0">
                <a:solidFill>
                  <a:srgbClr val="0070C0"/>
                </a:solidFill>
              </a:rPr>
              <a:t>Shape shape2 = </a:t>
            </a:r>
            <a:r>
              <a:rPr lang="en-US" dirty="0" err="1">
                <a:solidFill>
                  <a:srgbClr val="0070C0"/>
                </a:solidFill>
              </a:rPr>
              <a:t>shapeFactory.getShape</a:t>
            </a:r>
            <a:r>
              <a:rPr lang="en-US" dirty="0">
                <a:solidFill>
                  <a:srgbClr val="0070C0"/>
                </a:solidFill>
              </a:rPr>
              <a:t>("RECTANGLE");</a:t>
            </a:r>
          </a:p>
          <a:p>
            <a:pPr marL="114300" indent="0">
              <a:buNone/>
            </a:pPr>
            <a:r>
              <a:rPr lang="en-US" dirty="0">
                <a:solidFill>
                  <a:srgbClr val="FF0000"/>
                </a:solidFill>
              </a:rPr>
              <a:t>//call draw method of Rectangle </a:t>
            </a:r>
          </a:p>
          <a:p>
            <a:pPr marL="114300" indent="0">
              <a:buNone/>
            </a:pPr>
            <a:r>
              <a:rPr lang="en-US" dirty="0">
                <a:solidFill>
                  <a:srgbClr val="0070C0"/>
                </a:solidFill>
              </a:rPr>
              <a:t>shape2.draw(); </a:t>
            </a:r>
          </a:p>
          <a:p>
            <a:pPr marL="114300" indent="0">
              <a:buNone/>
            </a:pPr>
            <a:r>
              <a:rPr lang="en-US" dirty="0">
                <a:solidFill>
                  <a:srgbClr val="FF0000"/>
                </a:solidFill>
              </a:rPr>
              <a:t>//get an object of Square and call its draw method. </a:t>
            </a:r>
          </a:p>
          <a:p>
            <a:pPr marL="114300" indent="0">
              <a:buNone/>
            </a:pPr>
            <a:r>
              <a:rPr lang="en-US" dirty="0">
                <a:solidFill>
                  <a:srgbClr val="0070C0"/>
                </a:solidFill>
              </a:rPr>
              <a:t>Shape shape3 = </a:t>
            </a:r>
            <a:r>
              <a:rPr lang="en-US" dirty="0" err="1">
                <a:solidFill>
                  <a:srgbClr val="0070C0"/>
                </a:solidFill>
              </a:rPr>
              <a:t>shapeFactory.getShape</a:t>
            </a:r>
            <a:r>
              <a:rPr lang="en-US" dirty="0">
                <a:solidFill>
                  <a:srgbClr val="0070C0"/>
                </a:solidFill>
              </a:rPr>
              <a:t>("SQUARE"); </a:t>
            </a:r>
          </a:p>
          <a:p>
            <a:pPr marL="114300" indent="0">
              <a:buNone/>
            </a:pPr>
            <a:r>
              <a:rPr lang="en-US" dirty="0">
                <a:solidFill>
                  <a:srgbClr val="FF0000"/>
                </a:solidFill>
              </a:rPr>
              <a:t>//call draw method of square </a:t>
            </a:r>
          </a:p>
          <a:p>
            <a:pPr marL="114300" indent="0">
              <a:buNone/>
            </a:pPr>
            <a:r>
              <a:rPr lang="en-US" dirty="0">
                <a:solidFill>
                  <a:srgbClr val="0070C0"/>
                </a:solidFill>
              </a:rPr>
              <a:t>shape3.draw(); </a:t>
            </a:r>
          </a:p>
          <a:p>
            <a:pPr marL="114300" indent="0">
              <a:buNone/>
            </a:pPr>
            <a:r>
              <a:rPr lang="en-US" dirty="0">
                <a:solidFill>
                  <a:srgbClr val="0070C0"/>
                </a:solidFill>
              </a:rPr>
              <a:t>}</a:t>
            </a:r>
          </a:p>
          <a:p>
            <a:pPr marL="114300" indent="0">
              <a:buNone/>
            </a:pPr>
            <a:r>
              <a:rPr lang="en-US" dirty="0">
                <a:solidFill>
                  <a:srgbClr val="0070C0"/>
                </a:solidFill>
              </a:rPr>
              <a:t> }</a:t>
            </a:r>
          </a:p>
          <a:p>
            <a:pPr marL="114300" indent="0">
              <a:buNone/>
            </a:pPr>
            <a:r>
              <a:rPr lang="en-US" dirty="0">
                <a:solidFill>
                  <a:srgbClr val="0070C0"/>
                </a:solidFill>
              </a:rPr>
              <a:t> </a:t>
            </a:r>
            <a:br>
              <a:rPr lang="en-US" dirty="0">
                <a:solidFill>
                  <a:srgbClr val="0070C0"/>
                </a:solidFill>
              </a:rPr>
            </a:br>
            <a:endParaRPr lang="en-US" dirty="0">
              <a:solidFill>
                <a:srgbClr val="0070C0"/>
              </a:solidFill>
            </a:endParaRPr>
          </a:p>
        </p:txBody>
      </p:sp>
    </p:spTree>
    <p:extLst>
      <p:ext uri="{BB962C8B-B14F-4D97-AF65-F5344CB8AC3E}">
        <p14:creationId xmlns:p14="http://schemas.microsoft.com/office/powerpoint/2010/main" val="2905339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p>
        </p:txBody>
      </p:sp>
      <p:sp>
        <p:nvSpPr>
          <p:cNvPr id="3" name="Content Placeholder 2"/>
          <p:cNvSpPr>
            <a:spLocks noGrp="1"/>
          </p:cNvSpPr>
          <p:nvPr>
            <p:ph idx="1"/>
          </p:nvPr>
        </p:nvSpPr>
        <p:spPr/>
        <p:txBody>
          <a:bodyPr/>
          <a:lstStyle/>
          <a:p>
            <a:r>
              <a:rPr lang="en-US" dirty="0"/>
              <a:t>Inside Circle::draw() method. </a:t>
            </a:r>
          </a:p>
          <a:p>
            <a:r>
              <a:rPr lang="en-US" dirty="0"/>
              <a:t>Inside Rectangle::draw() method.</a:t>
            </a:r>
          </a:p>
          <a:p>
            <a:r>
              <a:rPr lang="en-US" dirty="0"/>
              <a:t> Inside Square::draw() method.</a:t>
            </a:r>
          </a:p>
        </p:txBody>
      </p:sp>
    </p:spTree>
    <p:extLst>
      <p:ext uri="{BB962C8B-B14F-4D97-AF65-F5344CB8AC3E}">
        <p14:creationId xmlns:p14="http://schemas.microsoft.com/office/powerpoint/2010/main" val="1949939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2A2BCD-C87C-4F64-9156-3EB180657B34}"/>
              </a:ext>
            </a:extLst>
          </p:cNvPr>
          <p:cNvSpPr/>
          <p:nvPr/>
        </p:nvSpPr>
        <p:spPr>
          <a:xfrm>
            <a:off x="228600" y="457200"/>
            <a:ext cx="5257800" cy="5029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4" name="Picture 3">
            <a:extLst>
              <a:ext uri="{FF2B5EF4-FFF2-40B4-BE49-F238E27FC236}">
                <a16:creationId xmlns:a16="http://schemas.microsoft.com/office/drawing/2014/main" id="{6CA15587-9E37-40CF-A928-80FCFF80C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673789"/>
            <a:ext cx="1295400" cy="1926771"/>
          </a:xfrm>
          <a:prstGeom prst="rect">
            <a:avLst/>
          </a:prstGeom>
        </p:spPr>
      </p:pic>
      <p:pic>
        <p:nvPicPr>
          <p:cNvPr id="6" name="Picture 5">
            <a:extLst>
              <a:ext uri="{FF2B5EF4-FFF2-40B4-BE49-F238E27FC236}">
                <a16:creationId xmlns:a16="http://schemas.microsoft.com/office/drawing/2014/main" id="{14FDDAC8-4926-4F3D-BEF2-49FAF676A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935" y="3347235"/>
            <a:ext cx="1188802" cy="1818167"/>
          </a:xfrm>
          <a:prstGeom prst="rect">
            <a:avLst/>
          </a:prstGeom>
        </p:spPr>
      </p:pic>
      <p:pic>
        <p:nvPicPr>
          <p:cNvPr id="8" name="Picture 7">
            <a:extLst>
              <a:ext uri="{FF2B5EF4-FFF2-40B4-BE49-F238E27FC236}">
                <a16:creationId xmlns:a16="http://schemas.microsoft.com/office/drawing/2014/main" id="{E8923216-101C-4537-BB82-549E718A30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2124" y="3337709"/>
            <a:ext cx="1133632" cy="1827693"/>
          </a:xfrm>
          <a:prstGeom prst="rect">
            <a:avLst/>
          </a:prstGeom>
        </p:spPr>
      </p:pic>
      <p:pic>
        <p:nvPicPr>
          <p:cNvPr id="10" name="Picture 9">
            <a:extLst>
              <a:ext uri="{FF2B5EF4-FFF2-40B4-BE49-F238E27FC236}">
                <a16:creationId xmlns:a16="http://schemas.microsoft.com/office/drawing/2014/main" id="{25D51F5C-075D-4D57-B8CE-BE74486EC5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7147" y="3337709"/>
            <a:ext cx="1133631" cy="1733787"/>
          </a:xfrm>
          <a:prstGeom prst="rect">
            <a:avLst/>
          </a:prstGeom>
        </p:spPr>
      </p:pic>
      <p:pic>
        <p:nvPicPr>
          <p:cNvPr id="16" name="Picture 15">
            <a:extLst>
              <a:ext uri="{FF2B5EF4-FFF2-40B4-BE49-F238E27FC236}">
                <a16:creationId xmlns:a16="http://schemas.microsoft.com/office/drawing/2014/main" id="{FAB5427D-4857-4703-BD34-7435F9EC43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7267" y="2623537"/>
            <a:ext cx="4356666" cy="723698"/>
          </a:xfrm>
          <a:prstGeom prst="rect">
            <a:avLst/>
          </a:prstGeom>
        </p:spPr>
      </p:pic>
      <p:pic>
        <p:nvPicPr>
          <p:cNvPr id="18" name="Picture 17">
            <a:extLst>
              <a:ext uri="{FF2B5EF4-FFF2-40B4-BE49-F238E27FC236}">
                <a16:creationId xmlns:a16="http://schemas.microsoft.com/office/drawing/2014/main" id="{CC00BDB2-A0CD-46B5-81C5-E94DD19AA81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6063" y="561941"/>
            <a:ext cx="1371600" cy="3190776"/>
          </a:xfrm>
          <a:prstGeom prst="rect">
            <a:avLst/>
          </a:prstGeom>
        </p:spPr>
      </p:pic>
      <p:pic>
        <p:nvPicPr>
          <p:cNvPr id="20" name="Picture 19">
            <a:extLst>
              <a:ext uri="{FF2B5EF4-FFF2-40B4-BE49-F238E27FC236}">
                <a16:creationId xmlns:a16="http://schemas.microsoft.com/office/drawing/2014/main" id="{CCA85CFB-0C55-4BE6-BF21-64B17CB3EC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86400" y="3752717"/>
            <a:ext cx="2155647" cy="1759474"/>
          </a:xfrm>
          <a:prstGeom prst="rect">
            <a:avLst/>
          </a:prstGeom>
        </p:spPr>
      </p:pic>
    </p:spTree>
    <p:extLst>
      <p:ext uri="{BB962C8B-B14F-4D97-AF65-F5344CB8AC3E}">
        <p14:creationId xmlns:p14="http://schemas.microsoft.com/office/powerpoint/2010/main" val="249211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ppt_x"/>
                                          </p:val>
                                        </p:tav>
                                        <p:tav tm="100000">
                                          <p:val>
                                            <p:strVal val="#ppt_x"/>
                                          </p:val>
                                        </p:tav>
                                      </p:tavLst>
                                    </p:anim>
                                    <p:anim calcmode="lin" valueType="num">
                                      <p:cBhvr additive="base">
                                        <p:cTn id="4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Calculate Electricity Bill : A Real World Example of Factory Method</a:t>
            </a:r>
            <a:br>
              <a:rPr lang="en-US" sz="3600" dirty="0"/>
            </a:br>
            <a:endParaRPr lang="en-US" sz="3600" dirty="0"/>
          </a:p>
        </p:txBody>
      </p:sp>
      <p:sp>
        <p:nvSpPr>
          <p:cNvPr id="3" name="Content Placeholder 2"/>
          <p:cNvSpPr>
            <a:spLocks noGrp="1"/>
          </p:cNvSpPr>
          <p:nvPr>
            <p:ph idx="1"/>
          </p:nvPr>
        </p:nvSpPr>
        <p:spPr/>
        <p:txBody>
          <a:bodyPr>
            <a:normAutofit fontScale="62500" lnSpcReduction="20000"/>
          </a:bodyPr>
          <a:lstStyle/>
          <a:p>
            <a:r>
              <a:rPr lang="en-US" b="1" dirty="0"/>
              <a:t>Step 1: </a:t>
            </a:r>
            <a:r>
              <a:rPr lang="en-US" dirty="0"/>
              <a:t>Create a Plan abstract class.</a:t>
            </a:r>
          </a:p>
          <a:p>
            <a:pPr marL="114300" indent="0">
              <a:buNone/>
            </a:pPr>
            <a:r>
              <a:rPr lang="en-US" b="1" dirty="0">
                <a:solidFill>
                  <a:srgbClr val="0070C0"/>
                </a:solidFill>
              </a:rPr>
              <a:t>import</a:t>
            </a:r>
            <a:r>
              <a:rPr lang="en-US" dirty="0">
                <a:solidFill>
                  <a:srgbClr val="0070C0"/>
                </a:solidFill>
              </a:rPr>
              <a:t> java.io.*;      </a:t>
            </a:r>
          </a:p>
          <a:p>
            <a:pPr marL="114300" indent="0">
              <a:buNone/>
            </a:pPr>
            <a:r>
              <a:rPr lang="en-US" b="1" dirty="0">
                <a:solidFill>
                  <a:srgbClr val="0070C0"/>
                </a:solidFill>
              </a:rPr>
              <a:t>abstract</a:t>
            </a:r>
            <a:r>
              <a:rPr lang="en-US" dirty="0">
                <a:solidFill>
                  <a:srgbClr val="0070C0"/>
                </a:solidFill>
              </a:rPr>
              <a:t> </a:t>
            </a:r>
            <a:r>
              <a:rPr lang="en-US" b="1" dirty="0">
                <a:solidFill>
                  <a:srgbClr val="0070C0"/>
                </a:solidFill>
              </a:rPr>
              <a:t>class</a:t>
            </a:r>
            <a:r>
              <a:rPr lang="en-US" dirty="0">
                <a:solidFill>
                  <a:srgbClr val="0070C0"/>
                </a:solidFill>
              </a:rPr>
              <a:t> Plan{  </a:t>
            </a:r>
          </a:p>
          <a:p>
            <a:pPr marL="114300" indent="0">
              <a:buNone/>
            </a:pPr>
            <a:r>
              <a:rPr lang="en-US" dirty="0">
                <a:solidFill>
                  <a:srgbClr val="0070C0"/>
                </a:solidFill>
              </a:rPr>
              <a:t>         </a:t>
            </a:r>
            <a:r>
              <a:rPr lang="en-US" b="1" dirty="0">
                <a:solidFill>
                  <a:srgbClr val="0070C0"/>
                </a:solidFill>
              </a:rPr>
              <a:t>protected</a:t>
            </a:r>
            <a:r>
              <a:rPr lang="en-US" dirty="0">
                <a:solidFill>
                  <a:srgbClr val="0070C0"/>
                </a:solidFill>
              </a:rPr>
              <a:t> </a:t>
            </a:r>
            <a:r>
              <a:rPr lang="en-US" b="1" dirty="0">
                <a:solidFill>
                  <a:srgbClr val="0070C0"/>
                </a:solidFill>
              </a:rPr>
              <a:t>double</a:t>
            </a:r>
            <a:r>
              <a:rPr lang="en-US" dirty="0">
                <a:solidFill>
                  <a:srgbClr val="0070C0"/>
                </a:solidFill>
              </a:rPr>
              <a:t> rate;  </a:t>
            </a:r>
          </a:p>
          <a:p>
            <a:pPr marL="114300" indent="0">
              <a:buNone/>
            </a:pPr>
            <a:r>
              <a:rPr lang="en-US" dirty="0">
                <a:solidFill>
                  <a:srgbClr val="0070C0"/>
                </a:solidFill>
              </a:rPr>
              <a:t>         </a:t>
            </a:r>
            <a:r>
              <a:rPr lang="en-US" b="1" dirty="0">
                <a:solidFill>
                  <a:srgbClr val="0070C0"/>
                </a:solidFill>
              </a:rPr>
              <a:t>abstract</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calculateBill</a:t>
            </a:r>
            <a:r>
              <a:rPr lang="en-US" dirty="0">
                <a:solidFill>
                  <a:srgbClr val="0070C0"/>
                </a:solidFill>
              </a:rPr>
              <a:t>(</a:t>
            </a:r>
            <a:r>
              <a:rPr lang="en-US" b="1" dirty="0" err="1">
                <a:solidFill>
                  <a:srgbClr val="0070C0"/>
                </a:solidFill>
              </a:rPr>
              <a:t>int</a:t>
            </a:r>
            <a:r>
              <a:rPr lang="en-US" dirty="0">
                <a:solidFill>
                  <a:srgbClr val="0070C0"/>
                </a:solidFill>
              </a:rPr>
              <a:t> units){  </a:t>
            </a:r>
          </a:p>
          <a:p>
            <a:pPr marL="114300" indent="0">
              <a:buNone/>
            </a:pPr>
            <a:r>
              <a:rPr lang="en-US" dirty="0">
                <a:solidFill>
                  <a:srgbClr val="0070C0"/>
                </a:solidFill>
              </a:rPr>
              <a:t>              </a:t>
            </a:r>
            <a:r>
              <a:rPr lang="en-US" dirty="0" err="1">
                <a:solidFill>
                  <a:srgbClr val="0070C0"/>
                </a:solidFill>
              </a:rPr>
              <a:t>System.out.println</a:t>
            </a:r>
            <a:r>
              <a:rPr lang="en-US" dirty="0">
                <a:solidFill>
                  <a:srgbClr val="0070C0"/>
                </a:solidFill>
              </a:rPr>
              <a:t>(units*rate);  </a:t>
            </a:r>
          </a:p>
          <a:p>
            <a:pPr marL="114300" indent="0">
              <a:buNone/>
            </a:pPr>
            <a:r>
              <a:rPr lang="en-US" dirty="0">
                <a:solidFill>
                  <a:srgbClr val="0070C0"/>
                </a:solidFill>
              </a:rPr>
              <a:t>          }  </a:t>
            </a:r>
          </a:p>
          <a:p>
            <a:pPr marL="114300" indent="0">
              <a:buNone/>
            </a:pPr>
            <a:r>
              <a:rPr lang="en-US" dirty="0">
                <a:solidFill>
                  <a:srgbClr val="0070C0"/>
                </a:solidFill>
              </a:rPr>
              <a:t>}</a:t>
            </a:r>
            <a:r>
              <a:rPr lang="en-US" dirty="0">
                <a:solidFill>
                  <a:srgbClr val="FF0000"/>
                </a:solidFill>
              </a:rPr>
              <a:t>//end of Plan class.</a:t>
            </a:r>
            <a:r>
              <a:rPr lang="en-US" dirty="0">
                <a:solidFill>
                  <a:srgbClr val="0070C0"/>
                </a:solidFill>
              </a:rPr>
              <a:t>  </a:t>
            </a:r>
          </a:p>
          <a:p>
            <a:endParaRPr lang="en-US" dirty="0"/>
          </a:p>
          <a:p>
            <a:endParaRPr lang="en-US" dirty="0"/>
          </a:p>
        </p:txBody>
      </p:sp>
    </p:spTree>
    <p:extLst>
      <p:ext uri="{BB962C8B-B14F-4D97-AF65-F5344CB8AC3E}">
        <p14:creationId xmlns:p14="http://schemas.microsoft.com/office/powerpoint/2010/main" val="8296439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a:t>
            </a:r>
            <a:endParaRPr lang="en-US" dirty="0"/>
          </a:p>
        </p:txBody>
      </p:sp>
      <p:sp>
        <p:nvSpPr>
          <p:cNvPr id="3" name="Content Placeholder 2"/>
          <p:cNvSpPr>
            <a:spLocks noGrp="1"/>
          </p:cNvSpPr>
          <p:nvPr>
            <p:ph idx="1"/>
          </p:nvPr>
        </p:nvSpPr>
        <p:spPr/>
        <p:txBody>
          <a:bodyPr>
            <a:normAutofit fontScale="92500" lnSpcReduction="20000"/>
          </a:bodyPr>
          <a:lstStyle/>
          <a:p>
            <a:r>
              <a:rPr lang="en-US" dirty="0"/>
              <a:t>Create the concrete classes that extends Plan abstract class.</a:t>
            </a:r>
          </a:p>
          <a:p>
            <a:pPr marL="114300" indent="0">
              <a:buNone/>
            </a:pPr>
            <a:endParaRPr lang="en-US" dirty="0"/>
          </a:p>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DomesticPlan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rate=3.50;              </a:t>
            </a:r>
          </a:p>
          <a:p>
            <a:pPr marL="114300" indent="0">
              <a:buNone/>
            </a:pPr>
            <a:r>
              <a:rPr lang="en-US" dirty="0">
                <a:solidFill>
                  <a:srgbClr val="0070C0"/>
                </a:solidFill>
              </a:rPr>
              <a:t>        }  </a:t>
            </a:r>
          </a:p>
          <a:p>
            <a:pPr marL="114300" indent="0">
              <a:buNone/>
            </a:pPr>
            <a:r>
              <a:rPr lang="en-US" dirty="0">
                <a:solidFill>
                  <a:srgbClr val="0070C0"/>
                </a:solidFill>
              </a:rPr>
              <a:t>   }</a:t>
            </a:r>
            <a:endParaRPr lang="en-US" dirty="0"/>
          </a:p>
        </p:txBody>
      </p:sp>
    </p:spTree>
    <p:extLst>
      <p:ext uri="{BB962C8B-B14F-4D97-AF65-F5344CB8AC3E}">
        <p14:creationId xmlns:p14="http://schemas.microsoft.com/office/powerpoint/2010/main" val="35743258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2</a:t>
            </a:r>
            <a:endParaRPr lang="en-US" dirty="0"/>
          </a:p>
        </p:txBody>
      </p:sp>
      <p:sp>
        <p:nvSpPr>
          <p:cNvPr id="3" name="Content Placeholder 2"/>
          <p:cNvSpPr>
            <a:spLocks noGrp="1"/>
          </p:cNvSpPr>
          <p:nvPr>
            <p:ph idx="1"/>
          </p:nvPr>
        </p:nvSpPr>
        <p:spPr/>
        <p:txBody>
          <a:bodyPr/>
          <a:lstStyle/>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CommercialPlan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rate=7.50;  </a:t>
            </a:r>
          </a:p>
          <a:p>
            <a:pPr marL="114300" indent="0">
              <a:buNone/>
            </a:pPr>
            <a:r>
              <a:rPr lang="en-US" dirty="0">
                <a:solidFill>
                  <a:srgbClr val="0070C0"/>
                </a:solidFill>
              </a:rPr>
              <a:t>   }   </a:t>
            </a:r>
          </a:p>
          <a:p>
            <a:pPr marL="114300" indent="0">
              <a:buNone/>
            </a:pPr>
            <a:r>
              <a:rPr lang="en-US" dirty="0">
                <a:solidFill>
                  <a:srgbClr val="0070C0"/>
                </a:solidFill>
              </a:rPr>
              <a:t>/end of </a:t>
            </a:r>
            <a:r>
              <a:rPr lang="en-US" dirty="0" err="1">
                <a:solidFill>
                  <a:srgbClr val="0070C0"/>
                </a:solidFill>
              </a:rPr>
              <a:t>CommercialPlan</a:t>
            </a:r>
            <a:r>
              <a:rPr lang="en-US" dirty="0">
                <a:solidFill>
                  <a:srgbClr val="0070C0"/>
                </a:solidFill>
              </a:rPr>
              <a:t> </a:t>
            </a:r>
            <a:r>
              <a:rPr lang="en-US" b="1" dirty="0">
                <a:solidFill>
                  <a:srgbClr val="0070C0"/>
                </a:solidFill>
              </a:rPr>
              <a:t>class</a:t>
            </a:r>
            <a:r>
              <a:rPr lang="en-US" dirty="0">
                <a:solidFill>
                  <a:srgbClr val="0070C0"/>
                </a:solidFill>
              </a:rPr>
              <a:t>. </a:t>
            </a:r>
          </a:p>
          <a:p>
            <a:endParaRPr lang="en-US" dirty="0">
              <a:solidFill>
                <a:srgbClr val="0070C0"/>
              </a:solidFill>
            </a:endParaRPr>
          </a:p>
        </p:txBody>
      </p:sp>
    </p:spTree>
    <p:extLst>
      <p:ext uri="{BB962C8B-B14F-4D97-AF65-F5344CB8AC3E}">
        <p14:creationId xmlns:p14="http://schemas.microsoft.com/office/powerpoint/2010/main" val="14661354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p>
        </p:txBody>
      </p:sp>
      <p:sp>
        <p:nvSpPr>
          <p:cNvPr id="3" name="Content Placeholder 2"/>
          <p:cNvSpPr>
            <a:spLocks noGrp="1"/>
          </p:cNvSpPr>
          <p:nvPr>
            <p:ph idx="1"/>
          </p:nvPr>
        </p:nvSpPr>
        <p:spPr/>
        <p:txBody>
          <a:bodyPr/>
          <a:lstStyle/>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InstitutionalPlan</a:t>
            </a:r>
            <a:r>
              <a:rPr lang="en-US" dirty="0">
                <a:solidFill>
                  <a:srgbClr val="0070C0"/>
                </a:solidFill>
              </a:rPr>
              <a:t> </a:t>
            </a:r>
            <a:r>
              <a:rPr lang="en-US" b="1" dirty="0">
                <a:solidFill>
                  <a:srgbClr val="0070C0"/>
                </a:solidFill>
              </a:rPr>
              <a:t>extends</a:t>
            </a:r>
            <a:r>
              <a:rPr lang="en-US" dirty="0">
                <a:solidFill>
                  <a:srgbClr val="0070C0"/>
                </a:solidFill>
              </a:rPr>
              <a:t> Plan{  </a:t>
            </a:r>
          </a:p>
          <a:p>
            <a:pPr marL="114300" indent="0">
              <a:buNone/>
            </a:pPr>
            <a:r>
              <a:rPr lang="en-US" dirty="0">
                <a:solidFill>
                  <a:srgbClr val="0070C0"/>
                </a:solidFill>
              </a:rPr>
              <a:t>   //@override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a:t>
            </a:r>
            <a:r>
              <a:rPr lang="en-US" b="1" dirty="0">
                <a:solidFill>
                  <a:srgbClr val="0070C0"/>
                </a:solidFill>
              </a:rPr>
              <a:t>void</a:t>
            </a:r>
            <a:r>
              <a:rPr lang="en-US" dirty="0">
                <a:solidFill>
                  <a:srgbClr val="0070C0"/>
                </a:solidFill>
              </a:rPr>
              <a:t> </a:t>
            </a:r>
            <a:r>
              <a:rPr lang="en-US" dirty="0" err="1">
                <a:solidFill>
                  <a:srgbClr val="0070C0"/>
                </a:solidFill>
              </a:rPr>
              <a:t>getRate</a:t>
            </a:r>
            <a:r>
              <a:rPr lang="en-US" dirty="0">
                <a:solidFill>
                  <a:srgbClr val="0070C0"/>
                </a:solidFill>
              </a:rPr>
              <a:t>(){   </a:t>
            </a:r>
          </a:p>
          <a:p>
            <a:pPr marL="114300" indent="0">
              <a:buNone/>
            </a:pPr>
            <a:r>
              <a:rPr lang="en-US" dirty="0">
                <a:solidFill>
                  <a:srgbClr val="0070C0"/>
                </a:solidFill>
              </a:rPr>
              <a:t>        rate=5.50;  </a:t>
            </a:r>
          </a:p>
          <a:p>
            <a:pPr marL="114300" indent="0">
              <a:buNone/>
            </a:pPr>
            <a:r>
              <a:rPr lang="en-US" dirty="0">
                <a:solidFill>
                  <a:srgbClr val="0070C0"/>
                </a:solidFill>
              </a:rPr>
              <a:t>   }   </a:t>
            </a:r>
          </a:p>
          <a:p>
            <a:pPr marL="114300" indent="0">
              <a:buNone/>
            </a:pPr>
            <a:endParaRPr lang="en-US" dirty="0">
              <a:solidFill>
                <a:srgbClr val="0070C0"/>
              </a:solidFill>
            </a:endParaRPr>
          </a:p>
        </p:txBody>
      </p:sp>
    </p:spTree>
    <p:extLst>
      <p:ext uri="{BB962C8B-B14F-4D97-AF65-F5344CB8AC3E}">
        <p14:creationId xmlns:p14="http://schemas.microsoft.com/office/powerpoint/2010/main" val="31128898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457199"/>
          </a:xfrm>
        </p:spPr>
        <p:txBody>
          <a:bodyPr>
            <a:normAutofit fontScale="90000"/>
          </a:bodyPr>
          <a:lstStyle/>
          <a:p>
            <a:r>
              <a:rPr lang="en-US" b="1" dirty="0"/>
              <a:t>Step 3</a:t>
            </a:r>
            <a:endParaRPr lang="en-US" dirty="0"/>
          </a:p>
        </p:txBody>
      </p:sp>
      <p:sp>
        <p:nvSpPr>
          <p:cNvPr id="3" name="Content Placeholder 2"/>
          <p:cNvSpPr>
            <a:spLocks noGrp="1"/>
          </p:cNvSpPr>
          <p:nvPr>
            <p:ph idx="1"/>
          </p:nvPr>
        </p:nvSpPr>
        <p:spPr>
          <a:xfrm>
            <a:off x="914401" y="914400"/>
            <a:ext cx="7772400" cy="5104077"/>
          </a:xfrm>
        </p:spPr>
        <p:txBody>
          <a:bodyPr>
            <a:normAutofit fontScale="70000" lnSpcReduction="20000"/>
          </a:bodyPr>
          <a:lstStyle/>
          <a:p>
            <a:r>
              <a:rPr lang="en-US" dirty="0"/>
              <a:t>Create a </a:t>
            </a:r>
            <a:r>
              <a:rPr lang="en-US" dirty="0" err="1"/>
              <a:t>GetPlanFactory</a:t>
            </a:r>
            <a:r>
              <a:rPr lang="en-US" dirty="0"/>
              <a:t> to generate object of concrete classes based on given information..</a:t>
            </a:r>
          </a:p>
          <a:p>
            <a:pPr marL="114300" indent="0">
              <a:buNone/>
            </a:pPr>
            <a:r>
              <a:rPr lang="en-US" b="1" dirty="0">
                <a:solidFill>
                  <a:srgbClr val="0070C0"/>
                </a:solidFill>
              </a:rPr>
              <a:t>class</a:t>
            </a:r>
            <a:r>
              <a:rPr lang="en-US" dirty="0">
                <a:solidFill>
                  <a:srgbClr val="0070C0"/>
                </a:solidFill>
              </a:rPr>
              <a:t> </a:t>
            </a:r>
            <a:r>
              <a:rPr lang="en-US" dirty="0" err="1">
                <a:solidFill>
                  <a:srgbClr val="0070C0"/>
                </a:solidFill>
              </a:rPr>
              <a:t>GetPlanFactory</a:t>
            </a:r>
            <a:r>
              <a:rPr lang="en-US" dirty="0">
                <a:solidFill>
                  <a:srgbClr val="0070C0"/>
                </a:solidFill>
              </a:rPr>
              <a:t>{  </a:t>
            </a:r>
          </a:p>
          <a:p>
            <a:pPr marL="114300" indent="0">
              <a:buNone/>
            </a:pPr>
            <a:r>
              <a:rPr lang="en-US" dirty="0">
                <a:solidFill>
                  <a:srgbClr val="0070C0"/>
                </a:solidFill>
              </a:rPr>
              <a:t>      </a:t>
            </a:r>
          </a:p>
          <a:p>
            <a:pPr marL="114300" indent="0">
              <a:buNone/>
            </a:pPr>
            <a:r>
              <a:rPr lang="en-US" dirty="0">
                <a:solidFill>
                  <a:srgbClr val="0070C0"/>
                </a:solidFill>
              </a:rPr>
              <a:t>   //use </a:t>
            </a:r>
            <a:r>
              <a:rPr lang="en-US" dirty="0" err="1">
                <a:solidFill>
                  <a:srgbClr val="0070C0"/>
                </a:solidFill>
              </a:rPr>
              <a:t>getPlan</a:t>
            </a:r>
            <a:r>
              <a:rPr lang="en-US" dirty="0">
                <a:solidFill>
                  <a:srgbClr val="0070C0"/>
                </a:solidFill>
              </a:rPr>
              <a:t> method to get object of type Plan   </a:t>
            </a:r>
          </a:p>
          <a:p>
            <a:pPr marL="114300" indent="0">
              <a:buNone/>
            </a:pPr>
            <a:r>
              <a:rPr lang="en-US" dirty="0">
                <a:solidFill>
                  <a:srgbClr val="0070C0"/>
                </a:solidFill>
              </a:rPr>
              <a:t>       </a:t>
            </a:r>
            <a:r>
              <a:rPr lang="en-US" b="1" dirty="0">
                <a:solidFill>
                  <a:srgbClr val="0070C0"/>
                </a:solidFill>
              </a:rPr>
              <a:t>public</a:t>
            </a:r>
            <a:r>
              <a:rPr lang="en-US" dirty="0">
                <a:solidFill>
                  <a:srgbClr val="0070C0"/>
                </a:solidFill>
              </a:rPr>
              <a:t> Plan </a:t>
            </a:r>
            <a:r>
              <a:rPr lang="en-US" dirty="0" err="1">
                <a:solidFill>
                  <a:srgbClr val="0070C0"/>
                </a:solidFill>
              </a:rPr>
              <a:t>getPlan</a:t>
            </a:r>
            <a:r>
              <a:rPr lang="en-US" dirty="0">
                <a:solidFill>
                  <a:srgbClr val="0070C0"/>
                </a:solidFill>
              </a:rPr>
              <a:t>(String </a:t>
            </a:r>
            <a:r>
              <a:rPr lang="en-US" dirty="0" err="1">
                <a:solidFill>
                  <a:srgbClr val="0070C0"/>
                </a:solidFill>
              </a:rPr>
              <a:t>planType</a:t>
            </a:r>
            <a:r>
              <a:rPr lang="en-US" dirty="0">
                <a:solidFill>
                  <a:srgbClr val="0070C0"/>
                </a:solidFill>
              </a:rPr>
              <a:t>){  </a:t>
            </a:r>
          </a:p>
          <a:p>
            <a:pPr marL="114300" indent="0">
              <a:buNone/>
            </a:pP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a:t>
            </a:r>
            <a:r>
              <a:rPr lang="en-US" dirty="0">
                <a:solidFill>
                  <a:srgbClr val="0070C0"/>
                </a:solidFill>
              </a:rPr>
              <a:t> ==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("DOMESTICPLAN"))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DomesticPlan</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else</a:t>
            </a: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("COMMERCIALPLAN")){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CommercialPlan</a:t>
            </a:r>
            <a:r>
              <a:rPr lang="en-US" dirty="0">
                <a:solidFill>
                  <a:srgbClr val="0070C0"/>
                </a:solidFill>
              </a:rPr>
              <a:t>();  </a:t>
            </a:r>
          </a:p>
          <a:p>
            <a:pPr marL="114300" indent="0">
              <a:buNone/>
            </a:pPr>
            <a:r>
              <a:rPr lang="en-US" dirty="0">
                <a:solidFill>
                  <a:srgbClr val="0070C0"/>
                </a:solidFill>
              </a:rPr>
              <a:t>            }  </a:t>
            </a:r>
          </a:p>
        </p:txBody>
      </p:sp>
    </p:spTree>
    <p:extLst>
      <p:ext uri="{BB962C8B-B14F-4D97-AF65-F5344CB8AC3E}">
        <p14:creationId xmlns:p14="http://schemas.microsoft.com/office/powerpoint/2010/main" val="21043032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3</a:t>
            </a:r>
            <a:endParaRPr lang="en-US" dirty="0"/>
          </a:p>
        </p:txBody>
      </p:sp>
      <p:sp>
        <p:nvSpPr>
          <p:cNvPr id="3" name="Content Placeholder 2"/>
          <p:cNvSpPr>
            <a:spLocks noGrp="1"/>
          </p:cNvSpPr>
          <p:nvPr>
            <p:ph idx="1"/>
          </p:nvPr>
        </p:nvSpPr>
        <p:spPr/>
        <p:txBody>
          <a:bodyPr>
            <a:normAutofit lnSpcReduction="10000"/>
          </a:bodyPr>
          <a:lstStyle/>
          <a:p>
            <a:pPr marL="114300" indent="0">
              <a:buNone/>
            </a:pPr>
            <a:r>
              <a:rPr lang="en-US" b="1" dirty="0">
                <a:solidFill>
                  <a:srgbClr val="0070C0"/>
                </a:solidFill>
              </a:rPr>
              <a:t>else</a:t>
            </a:r>
            <a:r>
              <a:rPr lang="en-US" dirty="0">
                <a:solidFill>
                  <a:srgbClr val="0070C0"/>
                </a:solidFill>
              </a:rPr>
              <a:t> </a:t>
            </a:r>
            <a:r>
              <a:rPr lang="en-US" b="1" dirty="0">
                <a:solidFill>
                  <a:srgbClr val="0070C0"/>
                </a:solidFill>
              </a:rPr>
              <a:t>if</a:t>
            </a:r>
            <a:r>
              <a:rPr lang="en-US" dirty="0">
                <a:solidFill>
                  <a:srgbClr val="0070C0"/>
                </a:solidFill>
              </a:rPr>
              <a:t>(</a:t>
            </a:r>
            <a:r>
              <a:rPr lang="en-US" dirty="0" err="1">
                <a:solidFill>
                  <a:srgbClr val="0070C0"/>
                </a:solidFill>
              </a:rPr>
              <a:t>planType.equalsIgnoreCase</a:t>
            </a:r>
            <a:r>
              <a:rPr lang="en-US" dirty="0">
                <a:solidFill>
                  <a:srgbClr val="0070C0"/>
                </a:solidFill>
              </a:rPr>
              <a:t>("INSTITUTIONALPLAN"))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new</a:t>
            </a:r>
            <a:r>
              <a:rPr lang="en-US" dirty="0">
                <a:solidFill>
                  <a:srgbClr val="0070C0"/>
                </a:solidFill>
              </a:rPr>
              <a:t> </a:t>
            </a:r>
            <a:r>
              <a:rPr lang="en-US" dirty="0" err="1">
                <a:solidFill>
                  <a:srgbClr val="0070C0"/>
                </a:solidFill>
              </a:rPr>
              <a:t>InstitutionalPlan</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      </a:t>
            </a:r>
            <a:r>
              <a:rPr lang="en-US" b="1" dirty="0">
                <a:solidFill>
                  <a:srgbClr val="0070C0"/>
                </a:solidFill>
              </a:rPr>
              <a:t>return</a:t>
            </a:r>
            <a:r>
              <a:rPr lang="en-US" dirty="0">
                <a:solidFill>
                  <a:srgbClr val="0070C0"/>
                </a:solidFill>
              </a:rPr>
              <a:t> </a:t>
            </a:r>
            <a:r>
              <a:rPr lang="en-US" b="1" dirty="0">
                <a:solidFill>
                  <a:srgbClr val="0070C0"/>
                </a:solidFill>
              </a:rPr>
              <a:t>null</a:t>
            </a:r>
            <a:r>
              <a:rPr lang="en-US" dirty="0">
                <a:solidFill>
                  <a:srgbClr val="0070C0"/>
                </a:solidFill>
              </a:rPr>
              <a:t>;  </a:t>
            </a:r>
          </a:p>
          <a:p>
            <a:pPr marL="114300" indent="0">
              <a:buNone/>
            </a:pPr>
            <a:r>
              <a:rPr lang="en-US" dirty="0">
                <a:solidFill>
                  <a:srgbClr val="0070C0"/>
                </a:solidFill>
              </a:rPr>
              <a:t>   }  </a:t>
            </a:r>
          </a:p>
          <a:p>
            <a:pPr marL="114300" indent="0">
              <a:buNone/>
            </a:pPr>
            <a:r>
              <a:rPr lang="en-US" dirty="0">
                <a:solidFill>
                  <a:srgbClr val="0070C0"/>
                </a:solidFill>
              </a:rPr>
              <a:t>}</a:t>
            </a:r>
          </a:p>
        </p:txBody>
      </p:sp>
    </p:spTree>
    <p:extLst>
      <p:ext uri="{BB962C8B-B14F-4D97-AF65-F5344CB8AC3E}">
        <p14:creationId xmlns:p14="http://schemas.microsoft.com/office/powerpoint/2010/main" val="41022277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4</a:t>
            </a:r>
            <a:endParaRPr lang="en-US" dirty="0"/>
          </a:p>
        </p:txBody>
      </p:sp>
      <p:sp>
        <p:nvSpPr>
          <p:cNvPr id="3" name="Content Placeholder 2"/>
          <p:cNvSpPr>
            <a:spLocks noGrp="1"/>
          </p:cNvSpPr>
          <p:nvPr>
            <p:ph idx="1"/>
          </p:nvPr>
        </p:nvSpPr>
        <p:spPr/>
        <p:txBody>
          <a:bodyPr/>
          <a:lstStyle/>
          <a:p>
            <a:r>
              <a:rPr lang="en-US" b="1" dirty="0"/>
              <a:t> Generate Bill </a:t>
            </a:r>
            <a:r>
              <a:rPr lang="en-US" dirty="0"/>
              <a:t>by using the </a:t>
            </a:r>
            <a:r>
              <a:rPr lang="en-US" b="1" dirty="0" err="1"/>
              <a:t>GetPlanFactory</a:t>
            </a:r>
            <a:r>
              <a:rPr lang="en-US" dirty="0"/>
              <a:t> to get the object of concrete classes by passing an information such as type of plan:</a:t>
            </a:r>
          </a:p>
          <a:p>
            <a:pPr>
              <a:buFont typeface="Wingdings" pitchFamily="2" charset="2"/>
              <a:buChar char="Ø"/>
            </a:pPr>
            <a:r>
              <a:rPr lang="en-US" dirty="0"/>
              <a:t> DOMESTICPLAN</a:t>
            </a:r>
          </a:p>
          <a:p>
            <a:pPr>
              <a:buFont typeface="Wingdings" pitchFamily="2" charset="2"/>
              <a:buChar char="Ø"/>
            </a:pPr>
            <a:r>
              <a:rPr lang="en-US" dirty="0"/>
              <a:t>COMMERCIALPLAN</a:t>
            </a:r>
          </a:p>
          <a:p>
            <a:pPr>
              <a:buFont typeface="Wingdings" pitchFamily="2" charset="2"/>
              <a:buChar char="Ø"/>
            </a:pPr>
            <a:r>
              <a:rPr lang="en-US" dirty="0"/>
              <a:t>INSTITUTIONALPLAN.</a:t>
            </a:r>
          </a:p>
        </p:txBody>
      </p:sp>
    </p:spTree>
    <p:extLst>
      <p:ext uri="{BB962C8B-B14F-4D97-AF65-F5344CB8AC3E}">
        <p14:creationId xmlns:p14="http://schemas.microsoft.com/office/powerpoint/2010/main" val="23057760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304799"/>
          </a:xfrm>
        </p:spPr>
        <p:txBody>
          <a:bodyPr>
            <a:normAutofit fontScale="90000"/>
          </a:bodyPr>
          <a:lstStyle/>
          <a:p>
            <a:r>
              <a:rPr lang="en-US" b="1" dirty="0"/>
              <a:t>Step 4</a:t>
            </a:r>
            <a:endParaRPr lang="en-US" dirty="0"/>
          </a:p>
        </p:txBody>
      </p:sp>
      <p:sp>
        <p:nvSpPr>
          <p:cNvPr id="3" name="Content Placeholder 2"/>
          <p:cNvSpPr>
            <a:spLocks noGrp="1"/>
          </p:cNvSpPr>
          <p:nvPr>
            <p:ph idx="1"/>
          </p:nvPr>
        </p:nvSpPr>
        <p:spPr/>
        <p:txBody>
          <a:bodyPr>
            <a:normAutofit/>
          </a:bodyPr>
          <a:lstStyle/>
          <a:p>
            <a:pPr marL="114300" indent="0">
              <a:buNone/>
            </a:pPr>
            <a:r>
              <a:rPr lang="en-US" dirty="0">
                <a:solidFill>
                  <a:srgbClr val="0070C0"/>
                </a:solidFill>
              </a:rPr>
              <a:t>  </a:t>
            </a:r>
          </a:p>
          <a:p>
            <a:pPr marL="114300" indent="0">
              <a:buNone/>
            </a:pPr>
            <a:r>
              <a:rPr lang="en-US" dirty="0">
                <a:solidFill>
                  <a:srgbClr val="0070C0"/>
                </a:solidFill>
              </a:rPr>
              <a:t>    </a:t>
            </a:r>
          </a:p>
        </p:txBody>
      </p:sp>
      <p:sp>
        <p:nvSpPr>
          <p:cNvPr id="4" name="Rectangle 3"/>
          <p:cNvSpPr/>
          <p:nvPr/>
        </p:nvSpPr>
        <p:spPr>
          <a:xfrm>
            <a:off x="381000" y="1475501"/>
            <a:ext cx="8991600" cy="4524315"/>
          </a:xfrm>
          <a:prstGeom prst="rect">
            <a:avLst/>
          </a:prstGeom>
        </p:spPr>
        <p:txBody>
          <a:bodyPr wrap="square">
            <a:spAutoFit/>
          </a:bodyPr>
          <a:lstStyle/>
          <a:p>
            <a:r>
              <a:rPr lang="en-US" dirty="0"/>
              <a:t>import </a:t>
            </a:r>
            <a:r>
              <a:rPr lang="en-US" dirty="0" err="1"/>
              <a:t>java.util.Scanner</a:t>
            </a:r>
            <a:r>
              <a:rPr lang="en-US" dirty="0"/>
              <a:t>;</a:t>
            </a:r>
          </a:p>
          <a:p>
            <a:endParaRPr lang="en-US" dirty="0"/>
          </a:p>
          <a:p>
            <a:r>
              <a:rPr lang="en-US" dirty="0"/>
              <a:t>public class </a:t>
            </a:r>
            <a:r>
              <a:rPr lang="en-US" dirty="0" err="1"/>
              <a:t>GenerateBill</a:t>
            </a:r>
            <a:r>
              <a:rPr lang="en-US" dirty="0"/>
              <a:t> </a:t>
            </a:r>
            <a:endParaRPr lang="en-US" dirty="0" smtClean="0"/>
          </a:p>
          <a:p>
            <a:r>
              <a:rPr lang="en-US" dirty="0" smtClean="0"/>
              <a:t>{</a:t>
            </a:r>
            <a:endParaRPr lang="en-US" dirty="0"/>
          </a:p>
          <a:p>
            <a:r>
              <a:rPr lang="en-US" dirty="0"/>
              <a:t>    public static void main(String[] </a:t>
            </a:r>
            <a:r>
              <a:rPr lang="en-US" dirty="0" err="1"/>
              <a:t>args</a:t>
            </a:r>
            <a:r>
              <a:rPr lang="en-US" dirty="0" smtClean="0"/>
              <a:t>)</a:t>
            </a:r>
          </a:p>
          <a:p>
            <a:r>
              <a:rPr lang="en-US" dirty="0" smtClean="0"/>
              <a:t> </a:t>
            </a:r>
            <a:r>
              <a:rPr lang="en-US" dirty="0"/>
              <a:t>{</a:t>
            </a:r>
          </a:p>
          <a:p>
            <a:r>
              <a:rPr lang="en-US" dirty="0"/>
              <a:t>        </a:t>
            </a:r>
            <a:r>
              <a:rPr lang="en-US" dirty="0" err="1"/>
              <a:t>GetPlanFactory</a:t>
            </a:r>
            <a:r>
              <a:rPr lang="en-US" dirty="0"/>
              <a:t> </a:t>
            </a:r>
            <a:r>
              <a:rPr lang="en-US" dirty="0" err="1"/>
              <a:t>planFactory</a:t>
            </a:r>
            <a:r>
              <a:rPr lang="en-US" dirty="0"/>
              <a:t> = new </a:t>
            </a:r>
            <a:r>
              <a:rPr lang="en-US" dirty="0" err="1"/>
              <a:t>GetPlanFactory</a:t>
            </a:r>
            <a:r>
              <a:rPr lang="en-US" dirty="0"/>
              <a:t>();</a:t>
            </a:r>
          </a:p>
          <a:p>
            <a:r>
              <a:rPr lang="en-US" dirty="0"/>
              <a:t>        Scanner </a:t>
            </a:r>
            <a:r>
              <a:rPr lang="en-US" dirty="0" err="1"/>
              <a:t>scanner</a:t>
            </a:r>
            <a:r>
              <a:rPr lang="en-US" dirty="0"/>
              <a:t> = new Scanner(System.in);</a:t>
            </a:r>
          </a:p>
          <a:p>
            <a:endParaRPr lang="en-US" dirty="0"/>
          </a:p>
          <a:p>
            <a:r>
              <a:rPr lang="en-US" dirty="0"/>
              <a:t>        </a:t>
            </a:r>
            <a:r>
              <a:rPr lang="en-US" dirty="0" err="1"/>
              <a:t>System.out.print</a:t>
            </a:r>
            <a:r>
              <a:rPr lang="en-US" dirty="0"/>
              <a:t>("Enter plan type (</a:t>
            </a:r>
            <a:r>
              <a:rPr lang="en-US" dirty="0" err="1"/>
              <a:t>DomesticPlan</a:t>
            </a:r>
            <a:r>
              <a:rPr lang="en-US" dirty="0"/>
              <a:t>, </a:t>
            </a:r>
            <a:r>
              <a:rPr lang="en-US" dirty="0" err="1"/>
              <a:t>CommercialPlan</a:t>
            </a:r>
            <a:r>
              <a:rPr lang="en-US" dirty="0"/>
              <a:t>, or </a:t>
            </a:r>
            <a:r>
              <a:rPr lang="en-US" dirty="0" err="1"/>
              <a:t>InstitutionalPlan</a:t>
            </a:r>
            <a:r>
              <a:rPr lang="en-US" dirty="0"/>
              <a:t>): ");</a:t>
            </a:r>
          </a:p>
          <a:p>
            <a:r>
              <a:rPr lang="en-US" dirty="0"/>
              <a:t>        String </a:t>
            </a:r>
            <a:r>
              <a:rPr lang="en-US" dirty="0" err="1"/>
              <a:t>planName</a:t>
            </a:r>
            <a:r>
              <a:rPr lang="en-US" dirty="0"/>
              <a:t> = </a:t>
            </a:r>
            <a:r>
              <a:rPr lang="en-US" dirty="0" err="1"/>
              <a:t>scanner.nextLine</a:t>
            </a:r>
            <a:r>
              <a:rPr lang="en-US" dirty="0"/>
              <a:t>();</a:t>
            </a:r>
          </a:p>
          <a:p>
            <a:endParaRPr lang="en-US" dirty="0"/>
          </a:p>
          <a:p>
            <a:r>
              <a:rPr lang="en-US" dirty="0"/>
              <a:t>        </a:t>
            </a:r>
            <a:r>
              <a:rPr lang="en-US" dirty="0" err="1"/>
              <a:t>System.out.print</a:t>
            </a:r>
            <a:r>
              <a:rPr lang="en-US" dirty="0"/>
              <a:t>("Enter the number of units to be billed: ");</a:t>
            </a:r>
          </a:p>
          <a:p>
            <a:r>
              <a:rPr lang="en-US" dirty="0"/>
              <a:t>        </a:t>
            </a:r>
            <a:r>
              <a:rPr lang="en-US" dirty="0" err="1"/>
              <a:t>int</a:t>
            </a:r>
            <a:r>
              <a:rPr lang="en-US" dirty="0"/>
              <a:t> units = </a:t>
            </a:r>
            <a:r>
              <a:rPr lang="en-US" dirty="0" err="1"/>
              <a:t>scanner.nextInt</a:t>
            </a:r>
            <a:r>
              <a:rPr lang="en-US" dirty="0"/>
              <a:t>();</a:t>
            </a:r>
          </a:p>
          <a:p>
            <a:endParaRPr lang="en-US" dirty="0"/>
          </a:p>
        </p:txBody>
      </p:sp>
    </p:spTree>
    <p:extLst>
      <p:ext uri="{BB962C8B-B14F-4D97-AF65-F5344CB8AC3E}">
        <p14:creationId xmlns:p14="http://schemas.microsoft.com/office/powerpoint/2010/main" val="42190288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90599"/>
          </a:xfrm>
        </p:spPr>
        <p:txBody>
          <a:bodyPr/>
          <a:lstStyle/>
          <a:p>
            <a:r>
              <a:rPr lang="en-US" b="1" dirty="0"/>
              <a:t>Step 4</a:t>
            </a:r>
            <a:endParaRPr lang="en-US" dirty="0"/>
          </a:p>
        </p:txBody>
      </p:sp>
      <p:sp>
        <p:nvSpPr>
          <p:cNvPr id="3" name="Content Placeholder 2"/>
          <p:cNvSpPr>
            <a:spLocks noGrp="1"/>
          </p:cNvSpPr>
          <p:nvPr>
            <p:ph idx="1"/>
          </p:nvPr>
        </p:nvSpPr>
        <p:spPr/>
        <p:txBody>
          <a:bodyPr>
            <a:normAutofit/>
          </a:bodyPr>
          <a:lstStyle/>
          <a:p>
            <a:pPr marL="114300" indent="0">
              <a:buNone/>
            </a:pPr>
            <a:r>
              <a:rPr lang="en-US" dirty="0">
                <a:solidFill>
                  <a:srgbClr val="0070C0"/>
                </a:solidFill>
              </a:rPr>
              <a:t> </a:t>
            </a:r>
          </a:p>
        </p:txBody>
      </p:sp>
      <p:sp>
        <p:nvSpPr>
          <p:cNvPr id="4" name="Rectangle 3"/>
          <p:cNvSpPr/>
          <p:nvPr/>
        </p:nvSpPr>
        <p:spPr>
          <a:xfrm>
            <a:off x="1066800" y="1905000"/>
            <a:ext cx="7924800" cy="4524315"/>
          </a:xfrm>
          <a:prstGeom prst="rect">
            <a:avLst/>
          </a:prstGeom>
        </p:spPr>
        <p:txBody>
          <a:bodyPr wrap="square">
            <a:spAutoFit/>
          </a:bodyPr>
          <a:lstStyle/>
          <a:p>
            <a:r>
              <a:rPr lang="en-US" dirty="0"/>
              <a:t> // Factory instantiates the correct object based on input</a:t>
            </a:r>
          </a:p>
          <a:p>
            <a:r>
              <a:rPr lang="en-US" dirty="0"/>
              <a:t>        Plan p = </a:t>
            </a:r>
            <a:r>
              <a:rPr lang="en-US" dirty="0" err="1"/>
              <a:t>planFactory.getPlan</a:t>
            </a:r>
            <a:r>
              <a:rPr lang="en-US" dirty="0"/>
              <a:t>(</a:t>
            </a:r>
            <a:r>
              <a:rPr lang="en-US" dirty="0" err="1"/>
              <a:t>planName</a:t>
            </a:r>
            <a:r>
              <a:rPr lang="en-US" dirty="0"/>
              <a:t>);</a:t>
            </a:r>
          </a:p>
          <a:p>
            <a:endParaRPr lang="en-US" dirty="0"/>
          </a:p>
          <a:p>
            <a:r>
              <a:rPr lang="en-US" dirty="0"/>
              <a:t>        if (p != null) </a:t>
            </a:r>
            <a:endParaRPr lang="en-US" dirty="0" smtClean="0"/>
          </a:p>
          <a:p>
            <a:r>
              <a:rPr lang="en-US" dirty="0" smtClean="0"/>
              <a:t>{</a:t>
            </a:r>
            <a:endParaRPr lang="en-US" dirty="0"/>
          </a:p>
          <a:p>
            <a:r>
              <a:rPr lang="en-US" dirty="0"/>
              <a:t>            </a:t>
            </a:r>
            <a:r>
              <a:rPr lang="en-US" dirty="0" err="1"/>
              <a:t>System.out.print</a:t>
            </a:r>
            <a:r>
              <a:rPr lang="en-US" dirty="0"/>
              <a:t>("Bill amount for " + </a:t>
            </a:r>
            <a:r>
              <a:rPr lang="en-US" dirty="0" err="1"/>
              <a:t>planName</a:t>
            </a:r>
            <a:r>
              <a:rPr lang="en-US" dirty="0"/>
              <a:t> + " for " + units + " units is: ");</a:t>
            </a:r>
          </a:p>
          <a:p>
            <a:r>
              <a:rPr lang="en-US" dirty="0"/>
              <a:t>            </a:t>
            </a:r>
            <a:r>
              <a:rPr lang="en-US" dirty="0" err="1"/>
              <a:t>p.getRate</a:t>
            </a:r>
            <a:r>
              <a:rPr lang="en-US" dirty="0"/>
              <a:t>(); // Sets the specific rate</a:t>
            </a:r>
          </a:p>
          <a:p>
            <a:r>
              <a:rPr lang="en-US" dirty="0"/>
              <a:t>            </a:t>
            </a:r>
            <a:r>
              <a:rPr lang="en-US" dirty="0" err="1"/>
              <a:t>p.calculateBill</a:t>
            </a:r>
            <a:r>
              <a:rPr lang="en-US" dirty="0"/>
              <a:t>(units); // Calculates and prints the total</a:t>
            </a:r>
          </a:p>
          <a:p>
            <a:r>
              <a:rPr lang="en-US" dirty="0"/>
              <a:t>        </a:t>
            </a:r>
            <a:r>
              <a:rPr lang="en-US" dirty="0" smtClean="0"/>
              <a:t>}</a:t>
            </a:r>
          </a:p>
          <a:p>
            <a:r>
              <a:rPr lang="en-US" dirty="0" smtClean="0"/>
              <a:t> </a:t>
            </a:r>
            <a:r>
              <a:rPr lang="en-US" dirty="0"/>
              <a:t>else </a:t>
            </a:r>
            <a:endParaRPr lang="en-US" dirty="0" smtClean="0"/>
          </a:p>
          <a:p>
            <a:r>
              <a:rPr lang="en-US" dirty="0" smtClean="0"/>
              <a:t>{</a:t>
            </a:r>
            <a:endParaRPr lang="en-US" dirty="0"/>
          </a:p>
          <a:p>
            <a:r>
              <a:rPr lang="en-US" dirty="0"/>
              <a:t>            </a:t>
            </a:r>
            <a:r>
              <a:rPr lang="en-US" dirty="0" err="1"/>
              <a:t>System.out.println</a:t>
            </a:r>
            <a:r>
              <a:rPr lang="en-US" dirty="0"/>
              <a:t>("Invalid plan type entered.");</a:t>
            </a:r>
          </a:p>
          <a:p>
            <a:r>
              <a:rPr lang="en-US" dirty="0"/>
              <a:t>        }</a:t>
            </a:r>
          </a:p>
          <a:p>
            <a:r>
              <a:rPr lang="en-US" dirty="0"/>
              <a:t>        </a:t>
            </a:r>
            <a:r>
              <a:rPr lang="en-US" dirty="0" smtClean="0"/>
              <a:t>        </a:t>
            </a:r>
            <a:r>
              <a:rPr lang="en-US" dirty="0" err="1"/>
              <a:t>scanner.close</a:t>
            </a:r>
            <a:r>
              <a:rPr lang="en-US" dirty="0"/>
              <a:t>();</a:t>
            </a:r>
          </a:p>
          <a:p>
            <a:r>
              <a:rPr lang="en-US" dirty="0"/>
              <a:t>    }</a:t>
            </a:r>
          </a:p>
          <a:p>
            <a:r>
              <a:rPr lang="en-US" dirty="0"/>
              <a:t>}</a:t>
            </a:r>
          </a:p>
        </p:txBody>
      </p:sp>
    </p:spTree>
    <p:extLst>
      <p:ext uri="{BB962C8B-B14F-4D97-AF65-F5344CB8AC3E}">
        <p14:creationId xmlns:p14="http://schemas.microsoft.com/office/powerpoint/2010/main" val="131277069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910</TotalTime>
  <Words>2068</Words>
  <Application>Microsoft Office PowerPoint</Application>
  <PresentationFormat>On-screen Show (4:3)</PresentationFormat>
  <Paragraphs>376</Paragraphs>
  <Slides>27</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Unicode MS</vt:lpstr>
      <vt:lpstr>Calibri</vt:lpstr>
      <vt:lpstr>Corbel</vt:lpstr>
      <vt:lpstr>OpenSans-Bold</vt:lpstr>
      <vt:lpstr>OpenSans-Regular</vt:lpstr>
      <vt:lpstr>ui-sans-serif</vt:lpstr>
      <vt:lpstr>Wingdings</vt:lpstr>
      <vt:lpstr>Parallax</vt:lpstr>
      <vt:lpstr>Factory Design Pattern</vt:lpstr>
      <vt:lpstr>PowerPoint Presentation</vt:lpstr>
      <vt:lpstr>PowerPoint Presentation</vt:lpstr>
      <vt:lpstr>Usage of Factory Method</vt:lpstr>
      <vt:lpstr>Elements of Factory method Pattern</vt:lpstr>
      <vt:lpstr>Concrete Products</vt:lpstr>
      <vt:lpstr>Creator (Factory Class / Factory Method)</vt:lpstr>
      <vt:lpstr>Client</vt:lpstr>
      <vt:lpstr>PowerPoint Presentation</vt:lpstr>
      <vt:lpstr>Step 1 : Interface</vt:lpstr>
      <vt:lpstr> Step 2: Concrete Classes </vt:lpstr>
      <vt:lpstr>Step 2</vt:lpstr>
      <vt:lpstr>Step 2</vt:lpstr>
      <vt:lpstr> Step 3: Create Factory </vt:lpstr>
      <vt:lpstr> Step 4 </vt:lpstr>
      <vt:lpstr> Step 4 </vt:lpstr>
      <vt:lpstr>Output</vt:lpstr>
      <vt:lpstr>PowerPoint Presentation</vt:lpstr>
      <vt:lpstr>Calculate Electricity Bill : A Real World Example of Factory Method </vt:lpstr>
      <vt:lpstr>Step 2</vt:lpstr>
      <vt:lpstr>Step 2</vt:lpstr>
      <vt:lpstr>Step 2</vt:lpstr>
      <vt:lpstr>Step 3</vt:lpstr>
      <vt:lpstr>Step 3</vt:lpstr>
      <vt:lpstr>Step 4</vt:lpstr>
      <vt:lpstr>Step 4</vt:lpstr>
      <vt:lpstr>Step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22ad</dc:creator>
  <cp:lastModifiedBy>shehla saeed</cp:lastModifiedBy>
  <cp:revision>38</cp:revision>
  <dcterms:created xsi:type="dcterms:W3CDTF">2019-10-21T17:35:51Z</dcterms:created>
  <dcterms:modified xsi:type="dcterms:W3CDTF">2026-04-11T10:35:43Z</dcterms:modified>
</cp:coreProperties>
</file>
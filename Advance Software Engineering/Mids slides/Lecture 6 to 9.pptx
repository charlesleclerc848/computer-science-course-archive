
<file path=[Content_Types].xml><?xml version="1.0" encoding="utf-8"?>
<Types xmlns="http://schemas.openxmlformats.org/package/2006/content-types">
  <Default Extension="emf" ContentType="image/x-emf"/>
  <Default Extension="jpeg" ContentType="image/jpeg"/>
  <Default Extension="jpg" ContentType="image/jpeg"/>
  <Default Extension="pdf" ContentType="application/pd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34"/>
  </p:notesMasterIdLst>
  <p:sldIdLst>
    <p:sldId id="290" r:id="rId2"/>
    <p:sldId id="280" r:id="rId3"/>
    <p:sldId id="278" r:id="rId4"/>
    <p:sldId id="279" r:id="rId5"/>
    <p:sldId id="281" r:id="rId6"/>
    <p:sldId id="282" r:id="rId7"/>
    <p:sldId id="283" r:id="rId8"/>
    <p:sldId id="284" r:id="rId9"/>
    <p:sldId id="285" r:id="rId10"/>
    <p:sldId id="286" r:id="rId11"/>
    <p:sldId id="291" r:id="rId12"/>
    <p:sldId id="348" r:id="rId13"/>
    <p:sldId id="257" r:id="rId14"/>
    <p:sldId id="345" r:id="rId15"/>
    <p:sldId id="349" r:id="rId16"/>
    <p:sldId id="287" r:id="rId17"/>
    <p:sldId id="258" r:id="rId18"/>
    <p:sldId id="344" r:id="rId19"/>
    <p:sldId id="293" r:id="rId20"/>
    <p:sldId id="294" r:id="rId21"/>
    <p:sldId id="350" r:id="rId22"/>
    <p:sldId id="259" r:id="rId23"/>
    <p:sldId id="303" r:id="rId24"/>
    <p:sldId id="351" r:id="rId25"/>
    <p:sldId id="292" r:id="rId26"/>
    <p:sldId id="295" r:id="rId27"/>
    <p:sldId id="260" r:id="rId28"/>
    <p:sldId id="346" r:id="rId29"/>
    <p:sldId id="347" r:id="rId30"/>
    <p:sldId id="302" r:id="rId31"/>
    <p:sldId id="265" r:id="rId32"/>
    <p:sldId id="296" r:id="rId33"/>
    <p:sldId id="261" r:id="rId34"/>
    <p:sldId id="289" r:id="rId35"/>
    <p:sldId id="358" r:id="rId36"/>
    <p:sldId id="359" r:id="rId37"/>
    <p:sldId id="360" r:id="rId38"/>
    <p:sldId id="361" r:id="rId39"/>
    <p:sldId id="362" r:id="rId40"/>
    <p:sldId id="363" r:id="rId41"/>
    <p:sldId id="297" r:id="rId42"/>
    <p:sldId id="298" r:id="rId43"/>
    <p:sldId id="299" r:id="rId44"/>
    <p:sldId id="300" r:id="rId45"/>
    <p:sldId id="301" r:id="rId46"/>
    <p:sldId id="263" r:id="rId47"/>
    <p:sldId id="364" r:id="rId48"/>
    <p:sldId id="268" r:id="rId49"/>
    <p:sldId id="352" r:id="rId50"/>
    <p:sldId id="353" r:id="rId51"/>
    <p:sldId id="354" r:id="rId52"/>
    <p:sldId id="355" r:id="rId53"/>
    <p:sldId id="356" r:id="rId54"/>
    <p:sldId id="357" r:id="rId55"/>
    <p:sldId id="264" r:id="rId56"/>
    <p:sldId id="256" r:id="rId57"/>
    <p:sldId id="365" r:id="rId58"/>
    <p:sldId id="366" r:id="rId59"/>
    <p:sldId id="367" r:id="rId60"/>
    <p:sldId id="368" r:id="rId61"/>
    <p:sldId id="369" r:id="rId62"/>
    <p:sldId id="370" r:id="rId63"/>
    <p:sldId id="288" r:id="rId64"/>
    <p:sldId id="371" r:id="rId65"/>
    <p:sldId id="372" r:id="rId66"/>
    <p:sldId id="373" r:id="rId67"/>
    <p:sldId id="374" r:id="rId68"/>
    <p:sldId id="375" r:id="rId69"/>
    <p:sldId id="266" r:id="rId70"/>
    <p:sldId id="267" r:id="rId71"/>
    <p:sldId id="273" r:id="rId72"/>
    <p:sldId id="376" r:id="rId73"/>
    <p:sldId id="269" r:id="rId74"/>
    <p:sldId id="275" r:id="rId75"/>
    <p:sldId id="270" r:id="rId76"/>
    <p:sldId id="377" r:id="rId77"/>
    <p:sldId id="271" r:id="rId78"/>
    <p:sldId id="272" r:id="rId79"/>
    <p:sldId id="274" r:id="rId80"/>
    <p:sldId id="378" r:id="rId81"/>
    <p:sldId id="379" r:id="rId82"/>
    <p:sldId id="380" r:id="rId83"/>
    <p:sldId id="381" r:id="rId84"/>
    <p:sldId id="382" r:id="rId85"/>
    <p:sldId id="383" r:id="rId86"/>
    <p:sldId id="384" r:id="rId87"/>
    <p:sldId id="385" r:id="rId88"/>
    <p:sldId id="386" r:id="rId89"/>
    <p:sldId id="387" r:id="rId90"/>
    <p:sldId id="262" r:id="rId91"/>
    <p:sldId id="388" r:id="rId92"/>
    <p:sldId id="389" r:id="rId93"/>
    <p:sldId id="390" r:id="rId94"/>
    <p:sldId id="391" r:id="rId95"/>
    <p:sldId id="392" r:id="rId96"/>
    <p:sldId id="393" r:id="rId97"/>
    <p:sldId id="394" r:id="rId98"/>
    <p:sldId id="395" r:id="rId99"/>
    <p:sldId id="396" r:id="rId100"/>
    <p:sldId id="397" r:id="rId101"/>
    <p:sldId id="398" r:id="rId102"/>
    <p:sldId id="399" r:id="rId103"/>
    <p:sldId id="276" r:id="rId104"/>
    <p:sldId id="277" r:id="rId105"/>
    <p:sldId id="400" r:id="rId106"/>
    <p:sldId id="401" r:id="rId107"/>
    <p:sldId id="402" r:id="rId108"/>
    <p:sldId id="403" r:id="rId109"/>
    <p:sldId id="404" r:id="rId110"/>
    <p:sldId id="405" r:id="rId111"/>
    <p:sldId id="406" r:id="rId112"/>
    <p:sldId id="407" r:id="rId113"/>
    <p:sldId id="304" r:id="rId114"/>
    <p:sldId id="305" r:id="rId115"/>
    <p:sldId id="308" r:id="rId116"/>
    <p:sldId id="307" r:id="rId117"/>
    <p:sldId id="408" r:id="rId118"/>
    <p:sldId id="409" r:id="rId119"/>
    <p:sldId id="410" r:id="rId120"/>
    <p:sldId id="411" r:id="rId121"/>
    <p:sldId id="412" r:id="rId122"/>
    <p:sldId id="413" r:id="rId123"/>
    <p:sldId id="414" r:id="rId124"/>
    <p:sldId id="415" r:id="rId125"/>
    <p:sldId id="416" r:id="rId126"/>
    <p:sldId id="417" r:id="rId127"/>
    <p:sldId id="418" r:id="rId128"/>
    <p:sldId id="419" r:id="rId129"/>
    <p:sldId id="420" r:id="rId130"/>
    <p:sldId id="421" r:id="rId131"/>
    <p:sldId id="422" r:id="rId132"/>
    <p:sldId id="423" r:id="rId1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56" autoAdjust="0"/>
    <p:restoredTop sz="94660"/>
  </p:normalViewPr>
  <p:slideViewPr>
    <p:cSldViewPr snapToGrid="0">
      <p:cViewPr varScale="1">
        <p:scale>
          <a:sx n="60" d="100"/>
          <a:sy n="60" d="100"/>
        </p:scale>
        <p:origin x="72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76D68C-1EB1-4DE7-BF3A-6A44F8433F95}" type="doc">
      <dgm:prSet loTypeId="urn:microsoft.com/office/officeart/2005/8/layout/gear1" loCatId="cycle" qsTypeId="urn:microsoft.com/office/officeart/2005/8/quickstyle/simple1" qsCatId="simple" csTypeId="urn:microsoft.com/office/officeart/2005/8/colors/accent1_2" csCatId="accent1" phldr="1"/>
      <dgm:spPr/>
    </dgm:pt>
    <dgm:pt modelId="{6B724BC8-D095-4CA6-9510-80CD90629CE6}">
      <dgm:prSet phldrT="[Text]" custT="1"/>
      <dgm:spPr>
        <a:solidFill>
          <a:srgbClr val="00B0F0"/>
        </a:solidFill>
      </dgm:spPr>
      <dgm:t>
        <a:bodyPr/>
        <a:lstStyle/>
        <a:p>
          <a:r>
            <a:rPr lang="en-US" sz="2800" b="1" dirty="0"/>
            <a:t>Business</a:t>
          </a:r>
        </a:p>
      </dgm:t>
    </dgm:pt>
    <dgm:pt modelId="{2E9AC8C1-37BA-4539-91B5-63089A6BE343}" type="parTrans" cxnId="{4EBB4D52-BFBB-4217-8728-FD222621C81D}">
      <dgm:prSet/>
      <dgm:spPr/>
      <dgm:t>
        <a:bodyPr/>
        <a:lstStyle/>
        <a:p>
          <a:endParaRPr lang="en-US"/>
        </a:p>
      </dgm:t>
    </dgm:pt>
    <dgm:pt modelId="{F77B3EAF-D793-4D23-9A6A-571D5DF7B5F3}" type="sibTrans" cxnId="{4EBB4D52-BFBB-4217-8728-FD222621C81D}">
      <dgm:prSet/>
      <dgm:spPr/>
      <dgm:t>
        <a:bodyPr/>
        <a:lstStyle/>
        <a:p>
          <a:endParaRPr lang="en-US"/>
        </a:p>
      </dgm:t>
    </dgm:pt>
    <dgm:pt modelId="{0F955D8D-0311-4710-BD7B-1C3D0E0C77B7}">
      <dgm:prSet phldrT="[Text]"/>
      <dgm:spPr>
        <a:solidFill>
          <a:srgbClr val="00B050"/>
        </a:solidFill>
      </dgm:spPr>
      <dgm:t>
        <a:bodyPr/>
        <a:lstStyle/>
        <a:p>
          <a:r>
            <a:rPr lang="en-US" b="1" dirty="0"/>
            <a:t>System</a:t>
          </a:r>
        </a:p>
      </dgm:t>
    </dgm:pt>
    <dgm:pt modelId="{A783002B-8C29-4067-AEF4-EB01D6AC2F5A}" type="parTrans" cxnId="{D49A9243-BD8D-4FB2-B062-97481B189456}">
      <dgm:prSet/>
      <dgm:spPr/>
      <dgm:t>
        <a:bodyPr/>
        <a:lstStyle/>
        <a:p>
          <a:endParaRPr lang="en-US"/>
        </a:p>
      </dgm:t>
    </dgm:pt>
    <dgm:pt modelId="{F6DBCFBA-0A71-41E5-8EC7-F5392C40A9DE}" type="sibTrans" cxnId="{D49A9243-BD8D-4FB2-B062-97481B189456}">
      <dgm:prSet/>
      <dgm:spPr/>
      <dgm:t>
        <a:bodyPr/>
        <a:lstStyle/>
        <a:p>
          <a:endParaRPr lang="en-US"/>
        </a:p>
      </dgm:t>
    </dgm:pt>
    <dgm:pt modelId="{1A79B9D8-5C64-4575-9C8C-525F3A4C750E}">
      <dgm:prSet phldrT="[Text]"/>
      <dgm:spPr>
        <a:solidFill>
          <a:schemeClr val="accent6">
            <a:lumMod val="75000"/>
          </a:schemeClr>
        </a:solidFill>
      </dgm:spPr>
      <dgm:t>
        <a:bodyPr/>
        <a:lstStyle/>
        <a:p>
          <a:r>
            <a:rPr lang="en-US" b="1" dirty="0"/>
            <a:t>User</a:t>
          </a:r>
        </a:p>
      </dgm:t>
    </dgm:pt>
    <dgm:pt modelId="{29908B39-2684-4E1D-BAE2-0478C9A41AEB}" type="parTrans" cxnId="{2A56F4B3-E83C-46EE-8FF4-310FB0049B38}">
      <dgm:prSet/>
      <dgm:spPr/>
      <dgm:t>
        <a:bodyPr/>
        <a:lstStyle/>
        <a:p>
          <a:endParaRPr lang="en-US"/>
        </a:p>
      </dgm:t>
    </dgm:pt>
    <dgm:pt modelId="{C840054F-A87E-452D-9A6F-BA9E0A10D5E1}" type="sibTrans" cxnId="{2A56F4B3-E83C-46EE-8FF4-310FB0049B38}">
      <dgm:prSet/>
      <dgm:spPr/>
      <dgm:t>
        <a:bodyPr/>
        <a:lstStyle/>
        <a:p>
          <a:endParaRPr lang="en-US"/>
        </a:p>
      </dgm:t>
    </dgm:pt>
    <dgm:pt modelId="{22340FA1-226E-4552-ADB4-6C7D263AA59D}" type="pres">
      <dgm:prSet presAssocID="{8976D68C-1EB1-4DE7-BF3A-6A44F8433F95}" presName="composite" presStyleCnt="0">
        <dgm:presLayoutVars>
          <dgm:chMax val="3"/>
          <dgm:animLvl val="lvl"/>
          <dgm:resizeHandles val="exact"/>
        </dgm:presLayoutVars>
      </dgm:prSet>
      <dgm:spPr/>
    </dgm:pt>
    <dgm:pt modelId="{89791E98-BB82-455D-B3CA-3A9F1C7E3D51}" type="pres">
      <dgm:prSet presAssocID="{6B724BC8-D095-4CA6-9510-80CD90629CE6}" presName="gear1" presStyleLbl="node1" presStyleIdx="0" presStyleCnt="3">
        <dgm:presLayoutVars>
          <dgm:chMax val="1"/>
          <dgm:bulletEnabled val="1"/>
        </dgm:presLayoutVars>
      </dgm:prSet>
      <dgm:spPr/>
    </dgm:pt>
    <dgm:pt modelId="{1898EA3D-8C42-45E2-B3F6-A8200380BE5D}" type="pres">
      <dgm:prSet presAssocID="{6B724BC8-D095-4CA6-9510-80CD90629CE6}" presName="gear1srcNode" presStyleLbl="node1" presStyleIdx="0" presStyleCnt="3"/>
      <dgm:spPr/>
    </dgm:pt>
    <dgm:pt modelId="{31DDC49D-115D-4272-A080-E7EFBCE7BED5}" type="pres">
      <dgm:prSet presAssocID="{6B724BC8-D095-4CA6-9510-80CD90629CE6}" presName="gear1dstNode" presStyleLbl="node1" presStyleIdx="0" presStyleCnt="3"/>
      <dgm:spPr/>
    </dgm:pt>
    <dgm:pt modelId="{F7AA9D68-3F05-4B98-99DD-7CA07703E67C}" type="pres">
      <dgm:prSet presAssocID="{0F955D8D-0311-4710-BD7B-1C3D0E0C77B7}" presName="gear2" presStyleLbl="node1" presStyleIdx="1" presStyleCnt="3">
        <dgm:presLayoutVars>
          <dgm:chMax val="1"/>
          <dgm:bulletEnabled val="1"/>
        </dgm:presLayoutVars>
      </dgm:prSet>
      <dgm:spPr/>
    </dgm:pt>
    <dgm:pt modelId="{62ADB268-69BC-4309-86EC-FCBA7BF8BFE5}" type="pres">
      <dgm:prSet presAssocID="{0F955D8D-0311-4710-BD7B-1C3D0E0C77B7}" presName="gear2srcNode" presStyleLbl="node1" presStyleIdx="1" presStyleCnt="3"/>
      <dgm:spPr/>
    </dgm:pt>
    <dgm:pt modelId="{1A6312E5-394B-4A8E-8F58-38FB8D27DB89}" type="pres">
      <dgm:prSet presAssocID="{0F955D8D-0311-4710-BD7B-1C3D0E0C77B7}" presName="gear2dstNode" presStyleLbl="node1" presStyleIdx="1" presStyleCnt="3"/>
      <dgm:spPr/>
    </dgm:pt>
    <dgm:pt modelId="{E36A794B-A496-42BE-B4E7-37F8BCE78970}" type="pres">
      <dgm:prSet presAssocID="{1A79B9D8-5C64-4575-9C8C-525F3A4C750E}" presName="gear3" presStyleLbl="node1" presStyleIdx="2" presStyleCnt="3" custLinFactNeighborY="551"/>
      <dgm:spPr/>
    </dgm:pt>
    <dgm:pt modelId="{33E59CA4-C1FF-4898-9D01-DEB927B9F4BD}" type="pres">
      <dgm:prSet presAssocID="{1A79B9D8-5C64-4575-9C8C-525F3A4C750E}" presName="gear3tx" presStyleLbl="node1" presStyleIdx="2" presStyleCnt="3">
        <dgm:presLayoutVars>
          <dgm:chMax val="1"/>
          <dgm:bulletEnabled val="1"/>
        </dgm:presLayoutVars>
      </dgm:prSet>
      <dgm:spPr/>
    </dgm:pt>
    <dgm:pt modelId="{CC5D70CE-8650-4ED3-A070-23B002ED6A19}" type="pres">
      <dgm:prSet presAssocID="{1A79B9D8-5C64-4575-9C8C-525F3A4C750E}" presName="gear3srcNode" presStyleLbl="node1" presStyleIdx="2" presStyleCnt="3"/>
      <dgm:spPr/>
    </dgm:pt>
    <dgm:pt modelId="{43A8CED4-2474-4045-B72E-09B27716883A}" type="pres">
      <dgm:prSet presAssocID="{1A79B9D8-5C64-4575-9C8C-525F3A4C750E}" presName="gear3dstNode" presStyleLbl="node1" presStyleIdx="2" presStyleCnt="3"/>
      <dgm:spPr/>
    </dgm:pt>
    <dgm:pt modelId="{2D40C856-D966-4D66-B39C-5C94E67F06D1}" type="pres">
      <dgm:prSet presAssocID="{F77B3EAF-D793-4D23-9A6A-571D5DF7B5F3}" presName="connector1" presStyleLbl="sibTrans2D1" presStyleIdx="0" presStyleCnt="3"/>
      <dgm:spPr/>
    </dgm:pt>
    <dgm:pt modelId="{980EA3F5-8DAD-4917-8AC7-703D7B2E5ABD}" type="pres">
      <dgm:prSet presAssocID="{F6DBCFBA-0A71-41E5-8EC7-F5392C40A9DE}" presName="connector2" presStyleLbl="sibTrans2D1" presStyleIdx="1" presStyleCnt="3"/>
      <dgm:spPr/>
    </dgm:pt>
    <dgm:pt modelId="{182D064B-A093-4651-BDD8-EA842C9B3EE4}" type="pres">
      <dgm:prSet presAssocID="{C840054F-A87E-452D-9A6F-BA9E0A10D5E1}" presName="connector3" presStyleLbl="sibTrans2D1" presStyleIdx="2" presStyleCnt="3" custAng="2484830" custLinFactNeighborX="9224" custLinFactNeighborY="3010"/>
      <dgm:spPr/>
    </dgm:pt>
  </dgm:ptLst>
  <dgm:cxnLst>
    <dgm:cxn modelId="{48396B0A-75D7-4C42-A362-24E69793EE46}" type="presOf" srcId="{0F955D8D-0311-4710-BD7B-1C3D0E0C77B7}" destId="{62ADB268-69BC-4309-86EC-FCBA7BF8BFE5}" srcOrd="1" destOrd="0" presId="urn:microsoft.com/office/officeart/2005/8/layout/gear1"/>
    <dgm:cxn modelId="{FF04AB16-22ED-4601-BAB6-E111E0CF1E43}" type="presOf" srcId="{6B724BC8-D095-4CA6-9510-80CD90629CE6}" destId="{31DDC49D-115D-4272-A080-E7EFBCE7BED5}" srcOrd="2" destOrd="0" presId="urn:microsoft.com/office/officeart/2005/8/layout/gear1"/>
    <dgm:cxn modelId="{868C622B-F9CD-45C4-BAFB-25C33557A8F3}" type="presOf" srcId="{6B724BC8-D095-4CA6-9510-80CD90629CE6}" destId="{1898EA3D-8C42-45E2-B3F6-A8200380BE5D}" srcOrd="1" destOrd="0" presId="urn:microsoft.com/office/officeart/2005/8/layout/gear1"/>
    <dgm:cxn modelId="{E213C541-CC06-4F2A-B6FF-8CBA2A2C876C}" type="presOf" srcId="{6B724BC8-D095-4CA6-9510-80CD90629CE6}" destId="{89791E98-BB82-455D-B3CA-3A9F1C7E3D51}" srcOrd="0" destOrd="0" presId="urn:microsoft.com/office/officeart/2005/8/layout/gear1"/>
    <dgm:cxn modelId="{8708D941-9E81-44B9-A9D1-5B9954EAFC34}" type="presOf" srcId="{1A79B9D8-5C64-4575-9C8C-525F3A4C750E}" destId="{43A8CED4-2474-4045-B72E-09B27716883A}" srcOrd="3" destOrd="0" presId="urn:microsoft.com/office/officeart/2005/8/layout/gear1"/>
    <dgm:cxn modelId="{D49A9243-BD8D-4FB2-B062-97481B189456}" srcId="{8976D68C-1EB1-4DE7-BF3A-6A44F8433F95}" destId="{0F955D8D-0311-4710-BD7B-1C3D0E0C77B7}" srcOrd="1" destOrd="0" parTransId="{A783002B-8C29-4067-AEF4-EB01D6AC2F5A}" sibTransId="{F6DBCFBA-0A71-41E5-8EC7-F5392C40A9DE}"/>
    <dgm:cxn modelId="{B402AC43-23D3-4B3D-9519-91AF8FE39D74}" type="presOf" srcId="{F6DBCFBA-0A71-41E5-8EC7-F5392C40A9DE}" destId="{980EA3F5-8DAD-4917-8AC7-703D7B2E5ABD}" srcOrd="0" destOrd="0" presId="urn:microsoft.com/office/officeart/2005/8/layout/gear1"/>
    <dgm:cxn modelId="{17A1EF66-7627-4836-89DE-693723142232}" type="presOf" srcId="{C840054F-A87E-452D-9A6F-BA9E0A10D5E1}" destId="{182D064B-A093-4651-BDD8-EA842C9B3EE4}" srcOrd="0" destOrd="0" presId="urn:microsoft.com/office/officeart/2005/8/layout/gear1"/>
    <dgm:cxn modelId="{3CA09667-D41F-422E-8192-DA05F4F49995}" type="presOf" srcId="{1A79B9D8-5C64-4575-9C8C-525F3A4C750E}" destId="{33E59CA4-C1FF-4898-9D01-DEB927B9F4BD}" srcOrd="1" destOrd="0" presId="urn:microsoft.com/office/officeart/2005/8/layout/gear1"/>
    <dgm:cxn modelId="{4EBB4D52-BFBB-4217-8728-FD222621C81D}" srcId="{8976D68C-1EB1-4DE7-BF3A-6A44F8433F95}" destId="{6B724BC8-D095-4CA6-9510-80CD90629CE6}" srcOrd="0" destOrd="0" parTransId="{2E9AC8C1-37BA-4539-91B5-63089A6BE343}" sibTransId="{F77B3EAF-D793-4D23-9A6A-571D5DF7B5F3}"/>
    <dgm:cxn modelId="{28622556-38A5-4993-A9A1-69714C15B4F1}" type="presOf" srcId="{1A79B9D8-5C64-4575-9C8C-525F3A4C750E}" destId="{CC5D70CE-8650-4ED3-A070-23B002ED6A19}" srcOrd="2" destOrd="0" presId="urn:microsoft.com/office/officeart/2005/8/layout/gear1"/>
    <dgm:cxn modelId="{1D25C685-77D1-4846-9D50-9642F64ED73E}" type="presOf" srcId="{8976D68C-1EB1-4DE7-BF3A-6A44F8433F95}" destId="{22340FA1-226E-4552-ADB4-6C7D263AA59D}" srcOrd="0" destOrd="0" presId="urn:microsoft.com/office/officeart/2005/8/layout/gear1"/>
    <dgm:cxn modelId="{8EF23AA9-3AB4-444A-9DBA-9ED7630D41A3}" type="presOf" srcId="{1A79B9D8-5C64-4575-9C8C-525F3A4C750E}" destId="{E36A794B-A496-42BE-B4E7-37F8BCE78970}" srcOrd="0" destOrd="0" presId="urn:microsoft.com/office/officeart/2005/8/layout/gear1"/>
    <dgm:cxn modelId="{E3E951AB-C319-4028-A61F-23D199DF5591}" type="presOf" srcId="{F77B3EAF-D793-4D23-9A6A-571D5DF7B5F3}" destId="{2D40C856-D966-4D66-B39C-5C94E67F06D1}" srcOrd="0" destOrd="0" presId="urn:microsoft.com/office/officeart/2005/8/layout/gear1"/>
    <dgm:cxn modelId="{2A56F4B3-E83C-46EE-8FF4-310FB0049B38}" srcId="{8976D68C-1EB1-4DE7-BF3A-6A44F8433F95}" destId="{1A79B9D8-5C64-4575-9C8C-525F3A4C750E}" srcOrd="2" destOrd="0" parTransId="{29908B39-2684-4E1D-BAE2-0478C9A41AEB}" sibTransId="{C840054F-A87E-452D-9A6F-BA9E0A10D5E1}"/>
    <dgm:cxn modelId="{CAEC6BE0-1BF7-4FF7-9DEB-4FE88C92C84D}" type="presOf" srcId="{0F955D8D-0311-4710-BD7B-1C3D0E0C77B7}" destId="{1A6312E5-394B-4A8E-8F58-38FB8D27DB89}" srcOrd="2" destOrd="0" presId="urn:microsoft.com/office/officeart/2005/8/layout/gear1"/>
    <dgm:cxn modelId="{C11C7EF7-D942-4A43-8287-91A241039904}" type="presOf" srcId="{0F955D8D-0311-4710-BD7B-1C3D0E0C77B7}" destId="{F7AA9D68-3F05-4B98-99DD-7CA07703E67C}" srcOrd="0" destOrd="0" presId="urn:microsoft.com/office/officeart/2005/8/layout/gear1"/>
    <dgm:cxn modelId="{63FC8059-608B-490F-971E-F95CA758382D}" type="presParOf" srcId="{22340FA1-226E-4552-ADB4-6C7D263AA59D}" destId="{89791E98-BB82-455D-B3CA-3A9F1C7E3D51}" srcOrd="0" destOrd="0" presId="urn:microsoft.com/office/officeart/2005/8/layout/gear1"/>
    <dgm:cxn modelId="{AD81B417-541D-418A-9BC7-F3AEFEAA3D64}" type="presParOf" srcId="{22340FA1-226E-4552-ADB4-6C7D263AA59D}" destId="{1898EA3D-8C42-45E2-B3F6-A8200380BE5D}" srcOrd="1" destOrd="0" presId="urn:microsoft.com/office/officeart/2005/8/layout/gear1"/>
    <dgm:cxn modelId="{310E7A59-5CAD-43BA-AD0A-A31F7626D477}" type="presParOf" srcId="{22340FA1-226E-4552-ADB4-6C7D263AA59D}" destId="{31DDC49D-115D-4272-A080-E7EFBCE7BED5}" srcOrd="2" destOrd="0" presId="urn:microsoft.com/office/officeart/2005/8/layout/gear1"/>
    <dgm:cxn modelId="{3790EE6C-ECE9-43E3-AA6D-CE35C41BA8B5}" type="presParOf" srcId="{22340FA1-226E-4552-ADB4-6C7D263AA59D}" destId="{F7AA9D68-3F05-4B98-99DD-7CA07703E67C}" srcOrd="3" destOrd="0" presId="urn:microsoft.com/office/officeart/2005/8/layout/gear1"/>
    <dgm:cxn modelId="{9957879A-134E-4CEF-9ACA-7609EDF3DE7D}" type="presParOf" srcId="{22340FA1-226E-4552-ADB4-6C7D263AA59D}" destId="{62ADB268-69BC-4309-86EC-FCBA7BF8BFE5}" srcOrd="4" destOrd="0" presId="urn:microsoft.com/office/officeart/2005/8/layout/gear1"/>
    <dgm:cxn modelId="{333A22B5-F8D3-4EC5-9AC1-76EBE6438643}" type="presParOf" srcId="{22340FA1-226E-4552-ADB4-6C7D263AA59D}" destId="{1A6312E5-394B-4A8E-8F58-38FB8D27DB89}" srcOrd="5" destOrd="0" presId="urn:microsoft.com/office/officeart/2005/8/layout/gear1"/>
    <dgm:cxn modelId="{427E32AE-B519-4062-A742-61EA4FBED941}" type="presParOf" srcId="{22340FA1-226E-4552-ADB4-6C7D263AA59D}" destId="{E36A794B-A496-42BE-B4E7-37F8BCE78970}" srcOrd="6" destOrd="0" presId="urn:microsoft.com/office/officeart/2005/8/layout/gear1"/>
    <dgm:cxn modelId="{D1D8A1B8-B022-4EDC-AA9A-CAD820609A5D}" type="presParOf" srcId="{22340FA1-226E-4552-ADB4-6C7D263AA59D}" destId="{33E59CA4-C1FF-4898-9D01-DEB927B9F4BD}" srcOrd="7" destOrd="0" presId="urn:microsoft.com/office/officeart/2005/8/layout/gear1"/>
    <dgm:cxn modelId="{8B064C15-EF98-4D93-BB8E-3ADF9661B772}" type="presParOf" srcId="{22340FA1-226E-4552-ADB4-6C7D263AA59D}" destId="{CC5D70CE-8650-4ED3-A070-23B002ED6A19}" srcOrd="8" destOrd="0" presId="urn:microsoft.com/office/officeart/2005/8/layout/gear1"/>
    <dgm:cxn modelId="{8CA73279-4F2E-47D7-A27A-A5883E0B7C38}" type="presParOf" srcId="{22340FA1-226E-4552-ADB4-6C7D263AA59D}" destId="{43A8CED4-2474-4045-B72E-09B27716883A}" srcOrd="9" destOrd="0" presId="urn:microsoft.com/office/officeart/2005/8/layout/gear1"/>
    <dgm:cxn modelId="{C68A5C0A-31B0-41E5-91A9-F36BC1CCB6E4}" type="presParOf" srcId="{22340FA1-226E-4552-ADB4-6C7D263AA59D}" destId="{2D40C856-D966-4D66-B39C-5C94E67F06D1}" srcOrd="10" destOrd="0" presId="urn:microsoft.com/office/officeart/2005/8/layout/gear1"/>
    <dgm:cxn modelId="{6C623FAE-01F5-4A5E-B1E3-024D57905FAA}" type="presParOf" srcId="{22340FA1-226E-4552-ADB4-6C7D263AA59D}" destId="{980EA3F5-8DAD-4917-8AC7-703D7B2E5ABD}" srcOrd="11" destOrd="0" presId="urn:microsoft.com/office/officeart/2005/8/layout/gear1"/>
    <dgm:cxn modelId="{E1D31941-1326-4C7E-BA0C-A5C0E527741E}" type="presParOf" srcId="{22340FA1-226E-4552-ADB4-6C7D263AA59D}" destId="{182D064B-A093-4651-BDD8-EA842C9B3EE4}" srcOrd="12" destOrd="0" presId="urn:microsoft.com/office/officeart/2005/8/layout/gear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791E98-BB82-455D-B3CA-3A9F1C7E3D51}">
      <dsp:nvSpPr>
        <dsp:cNvPr id="0" name=""/>
        <dsp:cNvSpPr/>
      </dsp:nvSpPr>
      <dsp:spPr>
        <a:xfrm>
          <a:off x="4018279" y="1897380"/>
          <a:ext cx="2319020" cy="2319020"/>
        </a:xfrm>
        <a:prstGeom prst="gear9">
          <a:avLst/>
        </a:prstGeom>
        <a:solidFill>
          <a:srgbClr val="00B0F0"/>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b="1" kern="1200" dirty="0"/>
            <a:t>Business</a:t>
          </a:r>
        </a:p>
      </dsp:txBody>
      <dsp:txXfrm>
        <a:off x="4484505" y="2440599"/>
        <a:ext cx="1386568" cy="1192025"/>
      </dsp:txXfrm>
    </dsp:sp>
    <dsp:sp modelId="{F7AA9D68-3F05-4B98-99DD-7CA07703E67C}">
      <dsp:nvSpPr>
        <dsp:cNvPr id="0" name=""/>
        <dsp:cNvSpPr/>
      </dsp:nvSpPr>
      <dsp:spPr>
        <a:xfrm>
          <a:off x="2669031" y="1349248"/>
          <a:ext cx="1686560" cy="1686560"/>
        </a:xfrm>
        <a:prstGeom prst="gear6">
          <a:avLst/>
        </a:prstGeom>
        <a:solidFill>
          <a:srgbClr val="00B050"/>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b="1" kern="1200" dirty="0"/>
            <a:t>System</a:t>
          </a:r>
        </a:p>
      </dsp:txBody>
      <dsp:txXfrm>
        <a:off x="3093628" y="1776411"/>
        <a:ext cx="837366" cy="832234"/>
      </dsp:txXfrm>
    </dsp:sp>
    <dsp:sp modelId="{E36A794B-A496-42BE-B4E7-37F8BCE78970}">
      <dsp:nvSpPr>
        <dsp:cNvPr id="0" name=""/>
        <dsp:cNvSpPr/>
      </dsp:nvSpPr>
      <dsp:spPr>
        <a:xfrm rot="20700000">
          <a:off x="3613677" y="196845"/>
          <a:ext cx="1652484" cy="1652484"/>
        </a:xfrm>
        <a:prstGeom prst="gear6">
          <a:avLst/>
        </a:prstGeom>
        <a:solidFill>
          <a:schemeClr val="accent6">
            <a:lumMod val="7500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b="1" kern="1200" dirty="0"/>
            <a:t>User</a:t>
          </a:r>
        </a:p>
      </dsp:txBody>
      <dsp:txXfrm rot="-20700000">
        <a:off x="3976116" y="559283"/>
        <a:ext cx="927608" cy="927608"/>
      </dsp:txXfrm>
    </dsp:sp>
    <dsp:sp modelId="{2D40C856-D966-4D66-B39C-5C94E67F06D1}">
      <dsp:nvSpPr>
        <dsp:cNvPr id="0" name=""/>
        <dsp:cNvSpPr/>
      </dsp:nvSpPr>
      <dsp:spPr>
        <a:xfrm>
          <a:off x="3840205" y="1547306"/>
          <a:ext cx="2968345" cy="2968345"/>
        </a:xfrm>
        <a:prstGeom prst="circularArrow">
          <a:avLst>
            <a:gd name="adj1" fmla="val 4687"/>
            <a:gd name="adj2" fmla="val 299029"/>
            <a:gd name="adj3" fmla="val 2516765"/>
            <a:gd name="adj4" fmla="val 15859986"/>
            <a:gd name="adj5" fmla="val 546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80EA3F5-8DAD-4917-8AC7-703D7B2E5ABD}">
      <dsp:nvSpPr>
        <dsp:cNvPr id="0" name=""/>
        <dsp:cNvSpPr/>
      </dsp:nvSpPr>
      <dsp:spPr>
        <a:xfrm>
          <a:off x="2370345" y="975981"/>
          <a:ext cx="2156688" cy="2156688"/>
        </a:xfrm>
        <a:prstGeom prst="leftCircularArrow">
          <a:avLst>
            <a:gd name="adj1" fmla="val 6452"/>
            <a:gd name="adj2" fmla="val 429999"/>
            <a:gd name="adj3" fmla="val 10489124"/>
            <a:gd name="adj4" fmla="val 14837806"/>
            <a:gd name="adj5" fmla="val 752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82D064B-A093-4651-BDD8-EA842C9B3EE4}">
      <dsp:nvSpPr>
        <dsp:cNvPr id="0" name=""/>
        <dsp:cNvSpPr/>
      </dsp:nvSpPr>
      <dsp:spPr>
        <a:xfrm rot="2484830">
          <a:off x="3445930" y="-106364"/>
          <a:ext cx="2325344" cy="2325344"/>
        </a:xfrm>
        <a:prstGeom prst="circularArrow">
          <a:avLst>
            <a:gd name="adj1" fmla="val 5984"/>
            <a:gd name="adj2" fmla="val 394124"/>
            <a:gd name="adj3" fmla="val 13313824"/>
            <a:gd name="adj4" fmla="val 10508221"/>
            <a:gd name="adj5" fmla="val 698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5818C4-809E-4410-8ED5-2F8D6177EF05}" type="datetimeFigureOut">
              <a:rPr lang="en-PK" smtClean="0"/>
              <a:t>14/04/2026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1D98BD-7DDE-4580-AC8C-0B0391433CDC}" type="slidenum">
              <a:rPr lang="en-PK" smtClean="0"/>
              <a:t>‹#›</a:t>
            </a:fld>
            <a:endParaRPr lang="en-PK"/>
          </a:p>
        </p:txBody>
      </p:sp>
    </p:spTree>
    <p:extLst>
      <p:ext uri="{BB962C8B-B14F-4D97-AF65-F5344CB8AC3E}">
        <p14:creationId xmlns:p14="http://schemas.microsoft.com/office/powerpoint/2010/main" val="3255158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Concept</a:t>
            </a:r>
          </a:p>
          <a:p>
            <a:r>
              <a:rPr lang="en-US" dirty="0"/>
              <a:t>A </a:t>
            </a:r>
            <a:r>
              <a:rPr lang="en-US" b="1" dirty="0"/>
              <a:t>central repository (database or data store)</a:t>
            </a:r>
            <a:r>
              <a:rPr lang="en-US" dirty="0"/>
              <a:t> is the heart of the system.</a:t>
            </a:r>
          </a:p>
          <a:p>
            <a:r>
              <a:rPr lang="en-US" b="1" dirty="0"/>
              <a:t>Subsystems (components)</a:t>
            </a:r>
            <a:r>
              <a:rPr lang="en-US" dirty="0"/>
              <a:t> perform operations like reading, updating, and processing data stored in the repository.</a:t>
            </a:r>
          </a:p>
          <a:p>
            <a:r>
              <a:rPr lang="en-US" dirty="0"/>
              <a:t>The repository acts as a </a:t>
            </a:r>
            <a:r>
              <a:rPr lang="en-US" b="1" dirty="0"/>
              <a:t>common communication medium</a:t>
            </a:r>
            <a:r>
              <a:rPr lang="en-US" dirty="0"/>
              <a:t> between components.</a:t>
            </a:r>
          </a:p>
          <a:p>
            <a:endParaRPr lang="en-PK" dirty="0"/>
          </a:p>
        </p:txBody>
      </p:sp>
      <p:sp>
        <p:nvSpPr>
          <p:cNvPr id="4" name="Slide Number Placeholder 3"/>
          <p:cNvSpPr>
            <a:spLocks noGrp="1"/>
          </p:cNvSpPr>
          <p:nvPr>
            <p:ph type="sldNum" sz="quarter" idx="5"/>
          </p:nvPr>
        </p:nvSpPr>
        <p:spPr/>
        <p:txBody>
          <a:bodyPr/>
          <a:lstStyle/>
          <a:p>
            <a:fld id="{F628D526-74ED-40FC-9D6A-B784FA75B321}" type="slidenum">
              <a:rPr lang="en-PK" smtClean="0"/>
              <a:t>12</a:t>
            </a:fld>
            <a:endParaRPr lang="en-PK"/>
          </a:p>
        </p:txBody>
      </p:sp>
    </p:spTree>
    <p:extLst>
      <p:ext uri="{BB962C8B-B14F-4D97-AF65-F5344CB8AC3E}">
        <p14:creationId xmlns:p14="http://schemas.microsoft.com/office/powerpoint/2010/main" val="24888607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endParaRPr lang="en-US" dirty="0"/>
          </a:p>
          <a:p>
            <a:r>
              <a:rPr lang="en-US" b="1" dirty="0"/>
              <a:t>Advantages</a:t>
            </a:r>
          </a:p>
          <a:p>
            <a:r>
              <a:rPr lang="en-US" dirty="0"/>
              <a:t>✅ </a:t>
            </a:r>
            <a:r>
              <a:rPr lang="en-US" b="1" dirty="0"/>
              <a:t>Data Sharing Made Easy</a:t>
            </a:r>
            <a:endParaRPr lang="en-US" dirty="0"/>
          </a:p>
          <a:p>
            <a:r>
              <a:rPr lang="en-US" dirty="0"/>
              <a:t>All modules access the same repository, ensuring consistent data.</a:t>
            </a:r>
          </a:p>
          <a:p>
            <a:r>
              <a:rPr lang="en-US" dirty="0"/>
              <a:t>✅ </a:t>
            </a:r>
            <a:r>
              <a:rPr lang="en-US" b="1" dirty="0"/>
              <a:t>Centralized Management</a:t>
            </a:r>
            <a:endParaRPr lang="en-US" dirty="0"/>
          </a:p>
          <a:p>
            <a:r>
              <a:rPr lang="en-US" dirty="0"/>
              <a:t>Data backup, security, and access control are easier to manage centrally.</a:t>
            </a:r>
          </a:p>
          <a:p>
            <a:r>
              <a:rPr lang="en-US" dirty="0"/>
              <a:t>✅ </a:t>
            </a:r>
            <a:r>
              <a:rPr lang="en-US" b="1" dirty="0"/>
              <a:t>Scalability</a:t>
            </a:r>
            <a:endParaRPr lang="en-US" dirty="0"/>
          </a:p>
          <a:p>
            <a:r>
              <a:rPr lang="en-US" dirty="0"/>
              <a:t>New modules can be added easily if they use the same data model.</a:t>
            </a:r>
          </a:p>
          <a:p>
            <a:r>
              <a:rPr lang="en-US" dirty="0"/>
              <a:t>✅ </a:t>
            </a:r>
            <a:r>
              <a:rPr lang="en-US" b="1" dirty="0"/>
              <a:t>Reduced Data Redundancy</a:t>
            </a:r>
            <a:endParaRPr lang="en-US" dirty="0"/>
          </a:p>
          <a:p>
            <a:r>
              <a:rPr lang="en-US" dirty="0"/>
              <a:t>Data is stored once and shared among components.</a:t>
            </a:r>
          </a:p>
          <a:p>
            <a:r>
              <a:rPr lang="en-US" dirty="0"/>
              <a:t>✅ </a:t>
            </a:r>
            <a:r>
              <a:rPr lang="en-US" b="1" dirty="0"/>
              <a:t>Consistency and Integrity</a:t>
            </a:r>
            <a:endParaRPr lang="en-US" dirty="0"/>
          </a:p>
          <a:p>
            <a:r>
              <a:rPr lang="en-US" dirty="0"/>
              <a:t>A single source of truth avoids conflicts or duplicates.</a:t>
            </a:r>
          </a:p>
          <a:p>
            <a:br>
              <a:rPr lang="en-US" dirty="0"/>
            </a:br>
            <a:endParaRPr lang="en-US" dirty="0"/>
          </a:p>
          <a:p>
            <a:r>
              <a:rPr lang="en-US" b="1" dirty="0"/>
              <a:t>Disadvantages</a:t>
            </a:r>
          </a:p>
          <a:p>
            <a:r>
              <a:rPr lang="en-US" dirty="0"/>
              <a:t>❌ </a:t>
            </a:r>
            <a:r>
              <a:rPr lang="en-US" b="1" dirty="0"/>
              <a:t>Single Point of Failure</a:t>
            </a:r>
            <a:endParaRPr lang="en-US" dirty="0"/>
          </a:p>
          <a:p>
            <a:r>
              <a:rPr lang="en-US" dirty="0"/>
              <a:t>If the repository crashes, the whole system may stop working.</a:t>
            </a:r>
          </a:p>
          <a:p>
            <a:r>
              <a:rPr lang="en-US" dirty="0"/>
              <a:t>❌ </a:t>
            </a:r>
            <a:r>
              <a:rPr lang="en-US" b="1" dirty="0"/>
              <a:t>Performance Bottleneck</a:t>
            </a:r>
            <a:endParaRPr lang="en-US" dirty="0"/>
          </a:p>
          <a:p>
            <a:r>
              <a:rPr lang="en-US" dirty="0"/>
              <a:t>Too many components accessing the same data can slow down the system.</a:t>
            </a:r>
          </a:p>
          <a:p>
            <a:r>
              <a:rPr lang="en-US" dirty="0"/>
              <a:t>❌ </a:t>
            </a:r>
            <a:r>
              <a:rPr lang="en-US" b="1" dirty="0"/>
              <a:t>Complex Data Model</a:t>
            </a:r>
            <a:endParaRPr lang="en-US" dirty="0"/>
          </a:p>
          <a:p>
            <a:r>
              <a:rPr lang="en-US" dirty="0"/>
              <a:t>Repository structure must meet the needs of all components, which can be hard to design.</a:t>
            </a:r>
          </a:p>
          <a:p>
            <a:r>
              <a:rPr lang="en-US" dirty="0"/>
              <a:t>❌ </a:t>
            </a:r>
            <a:r>
              <a:rPr lang="en-US" b="1" dirty="0"/>
              <a:t>Low Modularity</a:t>
            </a:r>
            <a:endParaRPr lang="en-US" dirty="0"/>
          </a:p>
          <a:p>
            <a:r>
              <a:rPr lang="en-US" dirty="0"/>
              <a:t>Changes in repository structure may require changes in all connected components.</a:t>
            </a:r>
          </a:p>
          <a:p>
            <a:r>
              <a:rPr lang="en-US" dirty="0"/>
              <a:t>❌ </a:t>
            </a:r>
            <a:r>
              <a:rPr lang="en-US" b="1" dirty="0"/>
              <a:t>Security Risks</a:t>
            </a:r>
            <a:endParaRPr lang="en-US" dirty="0"/>
          </a:p>
          <a:p>
            <a:r>
              <a:rPr lang="en-US" dirty="0"/>
              <a:t>Centralized data makes the system vulnerable to breaches if not well protected.</a:t>
            </a:r>
          </a:p>
          <a:p>
            <a:br>
              <a:rPr lang="en-US" dirty="0"/>
            </a:br>
            <a:endParaRPr lang="en-US" dirty="0"/>
          </a:p>
          <a:p>
            <a:endParaRPr lang="en-US" b="1" dirty="0"/>
          </a:p>
          <a:p>
            <a:endParaRPr lang="en-PK" dirty="0"/>
          </a:p>
        </p:txBody>
      </p:sp>
      <p:sp>
        <p:nvSpPr>
          <p:cNvPr id="4" name="Slide Number Placeholder 3"/>
          <p:cNvSpPr>
            <a:spLocks noGrp="1"/>
          </p:cNvSpPr>
          <p:nvPr>
            <p:ph type="sldNum" sz="quarter" idx="5"/>
          </p:nvPr>
        </p:nvSpPr>
        <p:spPr/>
        <p:txBody>
          <a:bodyPr/>
          <a:lstStyle/>
          <a:p>
            <a:fld id="{F628D526-74ED-40FC-9D6A-B784FA75B321}" type="slidenum">
              <a:rPr lang="en-PK" smtClean="0"/>
              <a:t>13</a:t>
            </a:fld>
            <a:endParaRPr lang="en-PK"/>
          </a:p>
        </p:txBody>
      </p:sp>
    </p:spTree>
    <p:extLst>
      <p:ext uri="{BB962C8B-B14F-4D97-AF65-F5344CB8AC3E}">
        <p14:creationId xmlns:p14="http://schemas.microsoft.com/office/powerpoint/2010/main" val="5139226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628D526-74ED-40FC-9D6A-B784FA75B321}" type="slidenum">
              <a:rPr lang="en-PK" smtClean="0"/>
              <a:t>15</a:t>
            </a:fld>
            <a:endParaRPr lang="en-PK"/>
          </a:p>
        </p:txBody>
      </p:sp>
    </p:spTree>
    <p:extLst>
      <p:ext uri="{BB962C8B-B14F-4D97-AF65-F5344CB8AC3E}">
        <p14:creationId xmlns:p14="http://schemas.microsoft.com/office/powerpoint/2010/main" val="8770254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Client–Server Architecture</a:t>
            </a:r>
            <a:r>
              <a:rPr lang="en-US" dirty="0"/>
              <a:t> divides a system into two main parts:</a:t>
            </a:r>
          </a:p>
          <a:p>
            <a:r>
              <a:rPr lang="en-US" b="1" dirty="0"/>
              <a:t>Client:</a:t>
            </a:r>
            <a:r>
              <a:rPr lang="en-US" dirty="0"/>
              <a:t> The front-end that interacts with the user.</a:t>
            </a:r>
          </a:p>
          <a:p>
            <a:r>
              <a:rPr lang="en-US" b="1" dirty="0"/>
              <a:t>Server:</a:t>
            </a:r>
            <a:r>
              <a:rPr lang="en-US" dirty="0"/>
              <a:t> The back-end that provides services, processes requests, and stores data.</a:t>
            </a:r>
          </a:p>
          <a:p>
            <a:r>
              <a:rPr lang="en-US" dirty="0"/>
              <a:t>They communicate over a </a:t>
            </a:r>
            <a:r>
              <a:rPr lang="en-US" b="1" dirty="0"/>
              <a:t>network</a:t>
            </a:r>
            <a:r>
              <a:rPr lang="en-US" dirty="0"/>
              <a:t> using a </a:t>
            </a:r>
            <a:r>
              <a:rPr lang="en-US" b="1" dirty="0"/>
              <a:t>request–response model</a:t>
            </a:r>
            <a:r>
              <a:rPr lang="en-US" dirty="0"/>
              <a:t>:</a:t>
            </a:r>
          </a:p>
          <a:p>
            <a:r>
              <a:rPr lang="en-US" dirty="0"/>
              <a:t>Client sends a </a:t>
            </a:r>
            <a:r>
              <a:rPr lang="en-US" b="1" dirty="0"/>
              <a:t>request</a:t>
            </a:r>
            <a:r>
              <a:rPr lang="en-US" dirty="0"/>
              <a:t> to the server.</a:t>
            </a:r>
          </a:p>
          <a:p>
            <a:r>
              <a:rPr lang="en-US" dirty="0"/>
              <a:t>Server processes it and sends a </a:t>
            </a:r>
            <a:r>
              <a:rPr lang="en-US" b="1" dirty="0"/>
              <a:t>response</a:t>
            </a:r>
            <a:r>
              <a:rPr lang="en-US" dirty="0"/>
              <a:t> back.</a:t>
            </a:r>
          </a:p>
          <a:p>
            <a:endParaRPr lang="en-US" dirty="0"/>
          </a:p>
          <a:p>
            <a:r>
              <a:rPr lang="en-US" b="1" dirty="0"/>
              <a:t>🔹 Advantages</a:t>
            </a:r>
          </a:p>
          <a:p>
            <a:r>
              <a:rPr lang="en-US" dirty="0"/>
              <a:t>✅ Centralized control and management.</a:t>
            </a:r>
            <a:br>
              <a:rPr lang="en-US" dirty="0"/>
            </a:br>
            <a:r>
              <a:rPr lang="en-US" dirty="0"/>
              <a:t>✅ Easier to maintain and update.</a:t>
            </a:r>
            <a:br>
              <a:rPr lang="en-US" dirty="0"/>
            </a:br>
            <a:r>
              <a:rPr lang="en-US" dirty="0"/>
              <a:t>✅ Multiple clients can use one server.</a:t>
            </a:r>
            <a:br>
              <a:rPr lang="en-US" dirty="0"/>
            </a:br>
            <a:r>
              <a:rPr lang="en-US" dirty="0"/>
              <a:t>✅ Data stored securely on the server.</a:t>
            </a:r>
          </a:p>
          <a:p>
            <a:br>
              <a:rPr lang="en-US" dirty="0"/>
            </a:br>
            <a:endParaRPr lang="en-US" dirty="0"/>
          </a:p>
          <a:p>
            <a:r>
              <a:rPr lang="en-US" b="1" dirty="0"/>
              <a:t>🔹 Disadvantages</a:t>
            </a:r>
          </a:p>
          <a:p>
            <a:r>
              <a:rPr lang="en-US" dirty="0"/>
              <a:t>❌ Server overload if too many clients.</a:t>
            </a:r>
            <a:br>
              <a:rPr lang="en-US" dirty="0"/>
            </a:br>
            <a:r>
              <a:rPr lang="en-US" dirty="0"/>
              <a:t>❌ Dependent on network connection.</a:t>
            </a:r>
            <a:br>
              <a:rPr lang="en-US" dirty="0"/>
            </a:br>
            <a:r>
              <a:rPr lang="en-US" dirty="0"/>
              <a:t>❌ Single server failure can stop services.</a:t>
            </a:r>
          </a:p>
          <a:p>
            <a:endParaRPr lang="en-US" dirty="0"/>
          </a:p>
          <a:p>
            <a:endParaRPr lang="en-US" dirty="0"/>
          </a:p>
          <a:p>
            <a:endParaRPr lang="en-PK" dirty="0"/>
          </a:p>
        </p:txBody>
      </p:sp>
      <p:sp>
        <p:nvSpPr>
          <p:cNvPr id="4" name="Slide Number Placeholder 3"/>
          <p:cNvSpPr>
            <a:spLocks noGrp="1"/>
          </p:cNvSpPr>
          <p:nvPr>
            <p:ph type="sldNum" sz="quarter" idx="5"/>
          </p:nvPr>
        </p:nvSpPr>
        <p:spPr/>
        <p:txBody>
          <a:bodyPr/>
          <a:lstStyle/>
          <a:p>
            <a:fld id="{F628D526-74ED-40FC-9D6A-B784FA75B321}" type="slidenum">
              <a:rPr lang="en-PK" smtClean="0"/>
              <a:t>17</a:t>
            </a:fld>
            <a:endParaRPr lang="en-PK"/>
          </a:p>
        </p:txBody>
      </p:sp>
    </p:spTree>
    <p:extLst>
      <p:ext uri="{BB962C8B-B14F-4D97-AF65-F5344CB8AC3E}">
        <p14:creationId xmlns:p14="http://schemas.microsoft.com/office/powerpoint/2010/main" val="14944526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Example : Email System</a:t>
            </a:r>
          </a:p>
          <a:p>
            <a:r>
              <a:rPr lang="en-US" b="1" dirty="0"/>
              <a:t>Client:</a:t>
            </a:r>
            <a:r>
              <a:rPr lang="en-US" dirty="0"/>
              <a:t> Email application (e.g., Gmail app, Outlook)</a:t>
            </a:r>
          </a:p>
          <a:p>
            <a:r>
              <a:rPr lang="en-US" b="1" dirty="0"/>
              <a:t>Server:</a:t>
            </a:r>
            <a:r>
              <a:rPr lang="en-US" dirty="0"/>
              <a:t> Mail server (SMTP for sending, IMAP/POP3 for receiving)</a:t>
            </a:r>
          </a:p>
          <a:p>
            <a:r>
              <a:rPr lang="en-US" b="1" dirty="0"/>
              <a:t>Process:</a:t>
            </a:r>
            <a:endParaRPr lang="en-US" dirty="0"/>
          </a:p>
          <a:p>
            <a:pPr lvl="1"/>
            <a:r>
              <a:rPr lang="en-US" dirty="0"/>
              <a:t>Client sends an email → SMTP server delivers it to recipient’s mail server.</a:t>
            </a:r>
          </a:p>
          <a:p>
            <a:pPr lvl="1"/>
            <a:r>
              <a:rPr lang="en-US" dirty="0"/>
              <a:t>Recipient’s email client retrieves it via IMAP or POP3.</a:t>
            </a:r>
          </a:p>
          <a:p>
            <a:endParaRPr lang="en-PK" dirty="0"/>
          </a:p>
        </p:txBody>
      </p:sp>
      <p:sp>
        <p:nvSpPr>
          <p:cNvPr id="4" name="Slide Number Placeholder 3"/>
          <p:cNvSpPr>
            <a:spLocks noGrp="1"/>
          </p:cNvSpPr>
          <p:nvPr>
            <p:ph type="sldNum" sz="quarter" idx="5"/>
          </p:nvPr>
        </p:nvSpPr>
        <p:spPr/>
        <p:txBody>
          <a:bodyPr/>
          <a:lstStyle/>
          <a:p>
            <a:fld id="{F628D526-74ED-40FC-9D6A-B784FA75B321}" type="slidenum">
              <a:rPr lang="en-PK" smtClean="0"/>
              <a:t>19</a:t>
            </a:fld>
            <a:endParaRPr lang="en-PK"/>
          </a:p>
        </p:txBody>
      </p:sp>
    </p:spTree>
    <p:extLst>
      <p:ext uri="{BB962C8B-B14F-4D97-AF65-F5344CB8AC3E}">
        <p14:creationId xmlns:p14="http://schemas.microsoft.com/office/powerpoint/2010/main" val="26830686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b="1" dirty="0"/>
              <a:t>🔹 Advantages</a:t>
            </a:r>
          </a:p>
          <a:p>
            <a:r>
              <a:rPr lang="en-US" dirty="0"/>
              <a:t>✅ Easy to </a:t>
            </a:r>
            <a:r>
              <a:rPr lang="en-US" b="1" dirty="0"/>
              <a:t>maintain and update</a:t>
            </a:r>
            <a:r>
              <a:rPr lang="en-US" dirty="0"/>
              <a:t> (each layer can be modified independently).</a:t>
            </a:r>
            <a:br>
              <a:rPr lang="en-US" dirty="0"/>
            </a:br>
            <a:r>
              <a:rPr lang="en-US" dirty="0"/>
              <a:t>✅ Supports </a:t>
            </a:r>
            <a:r>
              <a:rPr lang="en-US" b="1" dirty="0"/>
              <a:t>scalability</a:t>
            </a:r>
            <a:r>
              <a:rPr lang="en-US" dirty="0"/>
              <a:t> and </a:t>
            </a:r>
            <a:r>
              <a:rPr lang="en-US" b="1" dirty="0"/>
              <a:t>reusability</a:t>
            </a:r>
            <a:r>
              <a:rPr lang="en-US" dirty="0"/>
              <a:t>.</a:t>
            </a:r>
            <a:br>
              <a:rPr lang="en-US" dirty="0"/>
            </a:br>
            <a:r>
              <a:rPr lang="en-US" dirty="0"/>
              <a:t>✅ Promotes </a:t>
            </a:r>
            <a:r>
              <a:rPr lang="en-US" b="1" dirty="0"/>
              <a:t>clear structure and organization</a:t>
            </a:r>
            <a:r>
              <a:rPr lang="en-US" dirty="0"/>
              <a:t>.</a:t>
            </a:r>
            <a:br>
              <a:rPr lang="en-US" dirty="0"/>
            </a:br>
            <a:r>
              <a:rPr lang="en-US" dirty="0"/>
              <a:t>✅ Easy to test and debug.</a:t>
            </a:r>
          </a:p>
          <a:p>
            <a:br>
              <a:rPr lang="en-US" dirty="0"/>
            </a:br>
            <a:endParaRPr lang="en-US" dirty="0"/>
          </a:p>
          <a:p>
            <a:r>
              <a:rPr lang="en-US" b="1" dirty="0"/>
              <a:t>🔹 Disadvantages</a:t>
            </a:r>
          </a:p>
          <a:p>
            <a:r>
              <a:rPr lang="en-US" dirty="0"/>
              <a:t>❌ Slightly </a:t>
            </a:r>
            <a:r>
              <a:rPr lang="en-US" b="1" dirty="0"/>
              <a:t>slower performance</a:t>
            </a:r>
            <a:r>
              <a:rPr lang="en-US" dirty="0"/>
              <a:t> due to multiple layers.</a:t>
            </a:r>
            <a:br>
              <a:rPr lang="en-US" dirty="0"/>
            </a:br>
            <a:r>
              <a:rPr lang="en-US" dirty="0"/>
              <a:t>❌ Can be </a:t>
            </a:r>
            <a:r>
              <a:rPr lang="en-US" b="1" dirty="0"/>
              <a:t>rigid</a:t>
            </a:r>
            <a:r>
              <a:rPr lang="en-US" dirty="0"/>
              <a:t> — changes in one layer may require updates in others.</a:t>
            </a:r>
            <a:br>
              <a:rPr lang="en-US" dirty="0"/>
            </a:br>
            <a:r>
              <a:rPr lang="en-US" dirty="0"/>
              <a:t>❌ Not ideal for </a:t>
            </a:r>
            <a:r>
              <a:rPr lang="en-US" b="1" dirty="0"/>
              <a:t>real-time</a:t>
            </a:r>
            <a:r>
              <a:rPr lang="en-US" dirty="0"/>
              <a:t> or </a:t>
            </a:r>
            <a:r>
              <a:rPr lang="en-US" b="1" dirty="0"/>
              <a:t>high-speed</a:t>
            </a:r>
            <a:r>
              <a:rPr lang="en-US" dirty="0"/>
              <a:t> systems.</a:t>
            </a:r>
          </a:p>
          <a:p>
            <a:br>
              <a:rPr lang="en-US" dirty="0"/>
            </a:br>
            <a:endParaRPr lang="en-US" dirty="0"/>
          </a:p>
          <a:p>
            <a:endParaRPr lang="en-US" dirty="0"/>
          </a:p>
          <a:p>
            <a:endParaRPr lang="en-PK" dirty="0"/>
          </a:p>
        </p:txBody>
      </p:sp>
      <p:sp>
        <p:nvSpPr>
          <p:cNvPr id="4" name="Slide Number Placeholder 3"/>
          <p:cNvSpPr>
            <a:spLocks noGrp="1"/>
          </p:cNvSpPr>
          <p:nvPr>
            <p:ph type="sldNum" sz="quarter" idx="5"/>
          </p:nvPr>
        </p:nvSpPr>
        <p:spPr/>
        <p:txBody>
          <a:bodyPr/>
          <a:lstStyle/>
          <a:p>
            <a:fld id="{F628D526-74ED-40FC-9D6A-B784FA75B321}" type="slidenum">
              <a:rPr lang="en-PK" smtClean="0"/>
              <a:t>22</a:t>
            </a:fld>
            <a:endParaRPr lang="en-PK"/>
          </a:p>
        </p:txBody>
      </p:sp>
    </p:spTree>
    <p:extLst>
      <p:ext uri="{BB962C8B-B14F-4D97-AF65-F5344CB8AC3E}">
        <p14:creationId xmlns:p14="http://schemas.microsoft.com/office/powerpoint/2010/main" val="27823935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F628D526-74ED-40FC-9D6A-B784FA75B321}" type="slidenum">
              <a:rPr lang="en-PK" smtClean="0"/>
              <a:t>24</a:t>
            </a:fld>
            <a:endParaRPr lang="en-PK"/>
          </a:p>
        </p:txBody>
      </p:sp>
    </p:spTree>
    <p:extLst>
      <p:ext uri="{BB962C8B-B14F-4D97-AF65-F5344CB8AC3E}">
        <p14:creationId xmlns:p14="http://schemas.microsoft.com/office/powerpoint/2010/main" val="20180655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layer performs a defined task.</a:t>
            </a:r>
          </a:p>
          <a:p>
            <a:r>
              <a:rPr lang="en-US" dirty="0"/>
              <a:t>Communication happens </a:t>
            </a:r>
            <a:r>
              <a:rPr lang="en-US" b="1" dirty="0"/>
              <a:t>only between adjacent layers</a:t>
            </a:r>
            <a:r>
              <a:rPr lang="en-US" dirty="0"/>
              <a:t>.</a:t>
            </a:r>
          </a:p>
          <a:p>
            <a:r>
              <a:rPr lang="en-US" dirty="0"/>
              <a:t>Makes large applications </a:t>
            </a:r>
            <a:r>
              <a:rPr lang="en-US" b="1" dirty="0"/>
              <a:t>easier to build, modify, and understand</a:t>
            </a:r>
            <a:r>
              <a:rPr lang="en-US" dirty="0"/>
              <a:t>.</a:t>
            </a:r>
          </a:p>
          <a:p>
            <a:endParaRPr lang="en-PK" dirty="0"/>
          </a:p>
        </p:txBody>
      </p:sp>
      <p:sp>
        <p:nvSpPr>
          <p:cNvPr id="4" name="Slide Number Placeholder 3"/>
          <p:cNvSpPr>
            <a:spLocks noGrp="1"/>
          </p:cNvSpPr>
          <p:nvPr>
            <p:ph type="sldNum" sz="quarter" idx="5"/>
          </p:nvPr>
        </p:nvSpPr>
        <p:spPr/>
        <p:txBody>
          <a:bodyPr/>
          <a:lstStyle/>
          <a:p>
            <a:fld id="{F628D526-74ED-40FC-9D6A-B784FA75B321}" type="slidenum">
              <a:rPr lang="en-PK" smtClean="0"/>
              <a:t>25</a:t>
            </a:fld>
            <a:endParaRPr lang="en-PK"/>
          </a:p>
        </p:txBody>
      </p:sp>
    </p:spTree>
    <p:extLst>
      <p:ext uri="{BB962C8B-B14F-4D97-AF65-F5344CB8AC3E}">
        <p14:creationId xmlns:p14="http://schemas.microsoft.com/office/powerpoint/2010/main" val="27620907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a:p>
            <a:r>
              <a:rPr lang="en-US" b="1" dirty="0"/>
              <a:t>Key Concept</a:t>
            </a:r>
          </a:p>
          <a:p>
            <a:r>
              <a:rPr lang="en-US" b="1" dirty="0"/>
              <a:t>Filter:</a:t>
            </a:r>
            <a:r>
              <a:rPr lang="en-US" dirty="0"/>
              <a:t> Independent component that performs a specific transformation or computation on data.</a:t>
            </a:r>
          </a:p>
          <a:p>
            <a:r>
              <a:rPr lang="en-US" b="1" dirty="0"/>
              <a:t>Pipe:</a:t>
            </a:r>
            <a:r>
              <a:rPr lang="en-US" dirty="0"/>
              <a:t> Connector that passes data from one filter to the next.</a:t>
            </a:r>
          </a:p>
          <a:p>
            <a:r>
              <a:rPr lang="en-US" b="1" dirty="0"/>
              <a:t>Data Flow:</a:t>
            </a:r>
            <a:r>
              <a:rPr lang="en-US" dirty="0"/>
              <a:t> Data moves in </a:t>
            </a:r>
            <a:r>
              <a:rPr lang="en-US" b="1" dirty="0"/>
              <a:t>one direction</a:t>
            </a:r>
            <a:r>
              <a:rPr lang="en-US" dirty="0"/>
              <a:t> — from source to output.</a:t>
            </a:r>
          </a:p>
          <a:p>
            <a:endParaRPr lang="en-PK" dirty="0"/>
          </a:p>
        </p:txBody>
      </p:sp>
      <p:sp>
        <p:nvSpPr>
          <p:cNvPr id="4" name="Slide Number Placeholder 3"/>
          <p:cNvSpPr>
            <a:spLocks noGrp="1"/>
          </p:cNvSpPr>
          <p:nvPr>
            <p:ph type="sldNum" sz="quarter" idx="5"/>
          </p:nvPr>
        </p:nvSpPr>
        <p:spPr/>
        <p:txBody>
          <a:bodyPr/>
          <a:lstStyle/>
          <a:p>
            <a:fld id="{F628D526-74ED-40FC-9D6A-B784FA75B321}" type="slidenum">
              <a:rPr lang="en-PK" smtClean="0"/>
              <a:t>27</a:t>
            </a:fld>
            <a:endParaRPr lang="en-PK"/>
          </a:p>
        </p:txBody>
      </p:sp>
    </p:spTree>
    <p:extLst>
      <p:ext uri="{BB962C8B-B14F-4D97-AF65-F5344CB8AC3E}">
        <p14:creationId xmlns:p14="http://schemas.microsoft.com/office/powerpoint/2010/main" val="11907827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Advantages</a:t>
            </a:r>
          </a:p>
          <a:p>
            <a:r>
              <a:rPr lang="en-US" dirty="0"/>
              <a:t>✅ </a:t>
            </a:r>
            <a:r>
              <a:rPr lang="en-US" b="1" dirty="0"/>
              <a:t>Reusability:</a:t>
            </a:r>
            <a:r>
              <a:rPr lang="en-US" dirty="0"/>
              <a:t> Filters can be reused in different systems.</a:t>
            </a:r>
            <a:br>
              <a:rPr lang="en-US" dirty="0"/>
            </a:br>
            <a:r>
              <a:rPr lang="en-US" dirty="0"/>
              <a:t>✅ </a:t>
            </a:r>
            <a:r>
              <a:rPr lang="en-US" b="1" dirty="0"/>
              <a:t>Maintainability:</a:t>
            </a:r>
            <a:r>
              <a:rPr lang="en-US" dirty="0"/>
              <a:t> Easy to modify or add new filters without breaking the system.</a:t>
            </a:r>
            <a:br>
              <a:rPr lang="en-US" dirty="0"/>
            </a:br>
            <a:r>
              <a:rPr lang="en-US" dirty="0"/>
              <a:t>✅ </a:t>
            </a:r>
            <a:r>
              <a:rPr lang="en-US" b="1" dirty="0"/>
              <a:t>Simplicity:</a:t>
            </a:r>
            <a:r>
              <a:rPr lang="en-US" dirty="0"/>
              <a:t> Each filter has a clear, single responsibility.</a:t>
            </a:r>
            <a:br>
              <a:rPr lang="en-US" dirty="0"/>
            </a:br>
            <a:r>
              <a:rPr lang="en-US" dirty="0"/>
              <a:t>✅ </a:t>
            </a:r>
            <a:r>
              <a:rPr lang="en-US" b="1" dirty="0"/>
              <a:t>Parallelism:</a:t>
            </a:r>
            <a:r>
              <a:rPr lang="en-US" dirty="0"/>
              <a:t> Multiple filters can run in parallel (in some systems).</a:t>
            </a:r>
            <a:br>
              <a:rPr lang="en-US" dirty="0"/>
            </a:br>
            <a:r>
              <a:rPr lang="en-US" dirty="0"/>
              <a:t>✅ </a:t>
            </a:r>
            <a:r>
              <a:rPr lang="en-US" b="1" dirty="0"/>
              <a:t>Ease of Testing:</a:t>
            </a:r>
            <a:r>
              <a:rPr lang="en-US" dirty="0"/>
              <a:t> Each filter can be tested separately.</a:t>
            </a:r>
          </a:p>
          <a:p>
            <a:br>
              <a:rPr lang="en-US" dirty="0"/>
            </a:br>
            <a:endParaRPr lang="en-US" dirty="0"/>
          </a:p>
          <a:p>
            <a:r>
              <a:rPr lang="en-US" b="1" dirty="0"/>
              <a:t>Disadvantages</a:t>
            </a:r>
          </a:p>
          <a:p>
            <a:r>
              <a:rPr lang="en-US" dirty="0"/>
              <a:t>❌ </a:t>
            </a:r>
            <a:r>
              <a:rPr lang="en-US" b="1" dirty="0"/>
              <a:t>Not suitable for interactive systems:</a:t>
            </a:r>
            <a:r>
              <a:rPr lang="en-US" dirty="0"/>
              <a:t> Works best for batch or stream data.</a:t>
            </a:r>
            <a:br>
              <a:rPr lang="en-US" dirty="0"/>
            </a:br>
            <a:r>
              <a:rPr lang="en-US" dirty="0"/>
              <a:t>❌ </a:t>
            </a:r>
            <a:r>
              <a:rPr lang="en-US" b="1" dirty="0"/>
              <a:t>Error handling is complex:</a:t>
            </a:r>
            <a:r>
              <a:rPr lang="en-US" dirty="0"/>
              <a:t> Failure in one filter can affect the entire chain.</a:t>
            </a:r>
            <a:br>
              <a:rPr lang="en-US" dirty="0"/>
            </a:br>
            <a:r>
              <a:rPr lang="en-US" dirty="0"/>
              <a:t>❌ </a:t>
            </a:r>
            <a:r>
              <a:rPr lang="en-US" b="1" dirty="0"/>
              <a:t>Performance overhead:</a:t>
            </a:r>
            <a:r>
              <a:rPr lang="en-US" dirty="0"/>
              <a:t> Data must pass through several layers of filters.</a:t>
            </a:r>
            <a:br>
              <a:rPr lang="en-US" dirty="0"/>
            </a:br>
            <a:r>
              <a:rPr lang="en-US" dirty="0"/>
              <a:t>❌ </a:t>
            </a:r>
            <a:r>
              <a:rPr lang="en-US" b="1" dirty="0"/>
              <a:t>Rigid data format:</a:t>
            </a:r>
            <a:r>
              <a:rPr lang="en-US" dirty="0"/>
              <a:t> All filters must agree on input/output format.</a:t>
            </a:r>
          </a:p>
          <a:p>
            <a:endParaRPr lang="en-PK" dirty="0"/>
          </a:p>
        </p:txBody>
      </p:sp>
      <p:sp>
        <p:nvSpPr>
          <p:cNvPr id="4" name="Slide Number Placeholder 3"/>
          <p:cNvSpPr>
            <a:spLocks noGrp="1"/>
          </p:cNvSpPr>
          <p:nvPr>
            <p:ph type="sldNum" sz="quarter" idx="5"/>
          </p:nvPr>
        </p:nvSpPr>
        <p:spPr/>
        <p:txBody>
          <a:bodyPr/>
          <a:lstStyle/>
          <a:p>
            <a:fld id="{F628D526-74ED-40FC-9D6A-B784FA75B321}" type="slidenum">
              <a:rPr lang="en-PK" smtClean="0"/>
              <a:t>30</a:t>
            </a:fld>
            <a:endParaRPr lang="en-PK"/>
          </a:p>
        </p:txBody>
      </p:sp>
    </p:spTree>
    <p:extLst>
      <p:ext uri="{BB962C8B-B14F-4D97-AF65-F5344CB8AC3E}">
        <p14:creationId xmlns:p14="http://schemas.microsoft.com/office/powerpoint/2010/main" val="20578830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Concepts</a:t>
            </a:r>
          </a:p>
          <a:p>
            <a:r>
              <a:rPr lang="en-US" b="1" dirty="0"/>
              <a:t>Service Independence:</a:t>
            </a:r>
            <a:r>
              <a:rPr lang="en-US" dirty="0"/>
              <a:t> Each microservice runs in its own process.</a:t>
            </a:r>
          </a:p>
          <a:p>
            <a:r>
              <a:rPr lang="en-US" b="1" dirty="0"/>
              <a:t>Decentralized Data Management:</a:t>
            </a:r>
            <a:r>
              <a:rPr lang="en-US" dirty="0"/>
              <a:t> Every service may have its </a:t>
            </a:r>
            <a:r>
              <a:rPr lang="en-US" b="1" dirty="0"/>
              <a:t>own database</a:t>
            </a:r>
            <a:r>
              <a:rPr lang="en-US" dirty="0"/>
              <a:t>.</a:t>
            </a:r>
          </a:p>
          <a:p>
            <a:r>
              <a:rPr lang="en-US" b="1" dirty="0"/>
              <a:t>Communication:</a:t>
            </a:r>
            <a:r>
              <a:rPr lang="en-US" dirty="0"/>
              <a:t> Services interact via </a:t>
            </a:r>
            <a:r>
              <a:rPr lang="en-US" b="1" dirty="0"/>
              <a:t>lightweight protocols</a:t>
            </a:r>
            <a:r>
              <a:rPr lang="en-US" dirty="0"/>
              <a:t> like HTTP/REST, message queues, or </a:t>
            </a:r>
            <a:r>
              <a:rPr lang="en-US" dirty="0" err="1"/>
              <a:t>gRPC</a:t>
            </a:r>
            <a:r>
              <a:rPr lang="en-US" dirty="0"/>
              <a:t>.</a:t>
            </a:r>
          </a:p>
          <a:p>
            <a:r>
              <a:rPr lang="en-US" b="1" dirty="0"/>
              <a:t>Automation:</a:t>
            </a:r>
            <a:r>
              <a:rPr lang="en-US" dirty="0"/>
              <a:t> Uses DevOps tools for continuous integration and deployment (CI/CD).</a:t>
            </a:r>
          </a:p>
          <a:p>
            <a:r>
              <a:rPr lang="en-US" b="1" dirty="0"/>
              <a:t>Scalability:</a:t>
            </a:r>
            <a:r>
              <a:rPr lang="en-US" dirty="0"/>
              <a:t> Services can be scaled individually.</a:t>
            </a:r>
          </a:p>
          <a:p>
            <a:endParaRPr lang="en-PK" dirty="0"/>
          </a:p>
        </p:txBody>
      </p:sp>
      <p:sp>
        <p:nvSpPr>
          <p:cNvPr id="4" name="Slide Number Placeholder 3"/>
          <p:cNvSpPr>
            <a:spLocks noGrp="1"/>
          </p:cNvSpPr>
          <p:nvPr>
            <p:ph type="sldNum" sz="quarter" idx="5"/>
          </p:nvPr>
        </p:nvSpPr>
        <p:spPr/>
        <p:txBody>
          <a:bodyPr/>
          <a:lstStyle/>
          <a:p>
            <a:fld id="{F628D526-74ED-40FC-9D6A-B784FA75B321}" type="slidenum">
              <a:rPr lang="en-PK" smtClean="0"/>
              <a:t>32</a:t>
            </a:fld>
            <a:endParaRPr lang="en-PK"/>
          </a:p>
        </p:txBody>
      </p:sp>
    </p:spTree>
    <p:extLst>
      <p:ext uri="{BB962C8B-B14F-4D97-AF65-F5344CB8AC3E}">
        <p14:creationId xmlns:p14="http://schemas.microsoft.com/office/powerpoint/2010/main" val="33376483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Advantages</a:t>
            </a:r>
          </a:p>
          <a:p>
            <a:r>
              <a:rPr lang="en-US" dirty="0"/>
              <a:t>✅ </a:t>
            </a:r>
            <a:r>
              <a:rPr lang="en-US" b="1" dirty="0"/>
              <a:t>Scalability:</a:t>
            </a:r>
            <a:r>
              <a:rPr lang="en-US" dirty="0"/>
              <a:t> You can scale individual components based on demand.</a:t>
            </a:r>
          </a:p>
          <a:p>
            <a:r>
              <a:rPr lang="en-US" dirty="0"/>
              <a:t>✅ </a:t>
            </a:r>
            <a:r>
              <a:rPr lang="en-US" b="1" dirty="0"/>
              <a:t>Independent Deployment:</a:t>
            </a:r>
            <a:r>
              <a:rPr lang="en-US" dirty="0"/>
              <a:t> Teams can deploy updates without affecting other parts.</a:t>
            </a:r>
          </a:p>
          <a:p>
            <a:r>
              <a:rPr lang="en-US" dirty="0"/>
              <a:t>✅ </a:t>
            </a:r>
            <a:r>
              <a:rPr lang="en-US" b="1" dirty="0"/>
              <a:t>Fault Isolation:</a:t>
            </a:r>
            <a:r>
              <a:rPr lang="en-US" dirty="0"/>
              <a:t> If one service fails, the rest continue working.</a:t>
            </a:r>
          </a:p>
          <a:p>
            <a:r>
              <a:rPr lang="en-US" dirty="0"/>
              <a:t>✅ </a:t>
            </a:r>
            <a:r>
              <a:rPr lang="en-US" b="1" dirty="0"/>
              <a:t>Technology Flexibility:</a:t>
            </a:r>
            <a:r>
              <a:rPr lang="en-US" dirty="0"/>
              <a:t> Different services can use different programming languages or databases.</a:t>
            </a:r>
          </a:p>
          <a:p>
            <a:r>
              <a:rPr lang="en-US" dirty="0"/>
              <a:t>✅ </a:t>
            </a:r>
            <a:r>
              <a:rPr lang="en-US" b="1" dirty="0"/>
              <a:t>Faster Development:</a:t>
            </a:r>
            <a:r>
              <a:rPr lang="en-US" dirty="0"/>
              <a:t> Small teams work on different services in parallel.</a:t>
            </a:r>
          </a:p>
          <a:p>
            <a:br>
              <a:rPr lang="en-US" dirty="0"/>
            </a:br>
            <a:endParaRPr lang="en-US" dirty="0"/>
          </a:p>
          <a:p>
            <a:r>
              <a:rPr lang="en-US" b="1" dirty="0"/>
              <a:t>Disadvantages</a:t>
            </a:r>
          </a:p>
          <a:p>
            <a:r>
              <a:rPr lang="en-US" dirty="0"/>
              <a:t>❌ </a:t>
            </a:r>
            <a:r>
              <a:rPr lang="en-US" b="1" dirty="0"/>
              <a:t>Complex Communication:</a:t>
            </a:r>
            <a:r>
              <a:rPr lang="en-US" dirty="0"/>
              <a:t> Requires managing network calls between services.</a:t>
            </a:r>
          </a:p>
          <a:p>
            <a:r>
              <a:rPr lang="en-US" dirty="0"/>
              <a:t>❌ </a:t>
            </a:r>
            <a:r>
              <a:rPr lang="en-US" b="1" dirty="0"/>
              <a:t>Deployment Complexity:</a:t>
            </a:r>
            <a:r>
              <a:rPr lang="en-US" dirty="0"/>
              <a:t> Many services mean more infrastructure management.</a:t>
            </a:r>
          </a:p>
          <a:p>
            <a:r>
              <a:rPr lang="en-US" dirty="0"/>
              <a:t>❌ </a:t>
            </a:r>
            <a:r>
              <a:rPr lang="en-US" b="1" dirty="0"/>
              <a:t>Data Consistency Issues:</a:t>
            </a:r>
            <a:r>
              <a:rPr lang="en-US" dirty="0"/>
              <a:t> Harder to maintain a single source of truth.</a:t>
            </a:r>
          </a:p>
          <a:p>
            <a:r>
              <a:rPr lang="en-US" dirty="0"/>
              <a:t>❌ </a:t>
            </a:r>
            <a:r>
              <a:rPr lang="en-US" b="1" dirty="0"/>
              <a:t>Testing Challenges:</a:t>
            </a:r>
            <a:r>
              <a:rPr lang="en-US" dirty="0"/>
              <a:t> End-to-end testing across multiple services is complicated.</a:t>
            </a:r>
          </a:p>
          <a:p>
            <a:endParaRPr lang="en-PK" dirty="0"/>
          </a:p>
        </p:txBody>
      </p:sp>
      <p:sp>
        <p:nvSpPr>
          <p:cNvPr id="4" name="Slide Number Placeholder 3"/>
          <p:cNvSpPr>
            <a:spLocks noGrp="1"/>
          </p:cNvSpPr>
          <p:nvPr>
            <p:ph type="sldNum" sz="quarter" idx="5"/>
          </p:nvPr>
        </p:nvSpPr>
        <p:spPr/>
        <p:txBody>
          <a:bodyPr/>
          <a:lstStyle/>
          <a:p>
            <a:fld id="{F628D526-74ED-40FC-9D6A-B784FA75B321}" type="slidenum">
              <a:rPr lang="en-PK" smtClean="0"/>
              <a:t>33</a:t>
            </a:fld>
            <a:endParaRPr lang="en-PK"/>
          </a:p>
        </p:txBody>
      </p:sp>
    </p:spTree>
    <p:extLst>
      <p:ext uri="{BB962C8B-B14F-4D97-AF65-F5344CB8AC3E}">
        <p14:creationId xmlns:p14="http://schemas.microsoft.com/office/powerpoint/2010/main" val="33353478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F628D526-74ED-40FC-9D6A-B784FA75B321}" type="slidenum">
              <a:rPr lang="en-PK" smtClean="0"/>
              <a:t>34</a:t>
            </a:fld>
            <a:endParaRPr lang="en-PK"/>
          </a:p>
        </p:txBody>
      </p:sp>
    </p:spTree>
    <p:extLst>
      <p:ext uri="{BB962C8B-B14F-4D97-AF65-F5344CB8AC3E}">
        <p14:creationId xmlns:p14="http://schemas.microsoft.com/office/powerpoint/2010/main" val="524714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Best For:</a:t>
            </a:r>
          </a:p>
          <a:p>
            <a:r>
              <a:rPr lang="en-US" dirty="0"/>
              <a:t>Small projects </a:t>
            </a:r>
          </a:p>
          <a:p>
            <a:r>
              <a:rPr lang="en-US" dirty="0"/>
              <a:t>Startups (early stage) </a:t>
            </a:r>
          </a:p>
          <a:p>
            <a:r>
              <a:rPr lang="en-US" dirty="0"/>
              <a:t>Simple applications </a:t>
            </a:r>
          </a:p>
          <a:p>
            <a:r>
              <a:rPr lang="en-US" dirty="0"/>
              <a:t>Projects with small teams </a:t>
            </a:r>
          </a:p>
          <a:p>
            <a:r>
              <a:rPr lang="en-US" b="1" dirty="0"/>
              <a:t>❌ Not Ideal For:</a:t>
            </a:r>
          </a:p>
          <a:p>
            <a:r>
              <a:rPr lang="en-US" dirty="0"/>
              <a:t>Large-scale distributed systems </a:t>
            </a:r>
          </a:p>
          <a:p>
            <a:r>
              <a:rPr lang="en-US" dirty="0"/>
              <a:t>Applications needing frequent scaling </a:t>
            </a:r>
          </a:p>
          <a:p>
            <a:r>
              <a:rPr lang="en-US" dirty="0"/>
              <a:t>Complex enterprise systems</a:t>
            </a:r>
          </a:p>
          <a:p>
            <a:endParaRPr lang="en-US" dirty="0"/>
          </a:p>
        </p:txBody>
      </p:sp>
      <p:sp>
        <p:nvSpPr>
          <p:cNvPr id="4" name="Slide Number Placeholder 3"/>
          <p:cNvSpPr>
            <a:spLocks noGrp="1"/>
          </p:cNvSpPr>
          <p:nvPr>
            <p:ph type="sldNum" sz="quarter" idx="10"/>
          </p:nvPr>
        </p:nvSpPr>
        <p:spPr/>
        <p:txBody>
          <a:bodyPr/>
          <a:lstStyle/>
          <a:p>
            <a:fld id="{F628D526-74ED-40FC-9D6A-B784FA75B321}" type="slidenum">
              <a:rPr lang="en-PK" smtClean="0"/>
              <a:t>35</a:t>
            </a:fld>
            <a:endParaRPr lang="en-PK"/>
          </a:p>
        </p:txBody>
      </p:sp>
    </p:spTree>
    <p:extLst>
      <p:ext uri="{BB962C8B-B14F-4D97-AF65-F5344CB8AC3E}">
        <p14:creationId xmlns:p14="http://schemas.microsoft.com/office/powerpoint/2010/main" val="23572826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628D526-74ED-40FC-9D6A-B784FA75B321}" type="slidenum">
              <a:rPr lang="en-PK" smtClean="0"/>
              <a:t>36</a:t>
            </a:fld>
            <a:endParaRPr lang="en-PK"/>
          </a:p>
        </p:txBody>
      </p:sp>
    </p:spTree>
    <p:extLst>
      <p:ext uri="{BB962C8B-B14F-4D97-AF65-F5344CB8AC3E}">
        <p14:creationId xmlns:p14="http://schemas.microsoft.com/office/powerpoint/2010/main" val="24302905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Advantages</a:t>
            </a:r>
          </a:p>
          <a:p>
            <a:r>
              <a:rPr lang="en-US" b="1" dirty="0"/>
              <a:t>✔ 1. Simple Development</a:t>
            </a:r>
          </a:p>
          <a:p>
            <a:r>
              <a:rPr lang="en-US" dirty="0"/>
              <a:t>Easy to start (especially for small projects) </a:t>
            </a:r>
          </a:p>
          <a:p>
            <a:r>
              <a:rPr lang="en-US" dirty="0"/>
              <a:t>No need to manage multiple services </a:t>
            </a:r>
          </a:p>
          <a:p>
            <a:r>
              <a:rPr lang="en-US" b="1" dirty="0"/>
              <a:t>✔ 2. Easy Deployment</a:t>
            </a:r>
          </a:p>
          <a:p>
            <a:r>
              <a:rPr lang="en-US" dirty="0"/>
              <a:t>Only one executable/package </a:t>
            </a:r>
          </a:p>
          <a:p>
            <a:r>
              <a:rPr lang="en-US" dirty="0"/>
              <a:t>Deploy once → whole system runs </a:t>
            </a:r>
          </a:p>
          <a:p>
            <a:r>
              <a:rPr lang="en-US" b="1" dirty="0"/>
              <a:t>✔ 3. Better Performance (initially)</a:t>
            </a:r>
          </a:p>
          <a:p>
            <a:r>
              <a:rPr lang="en-US" dirty="0"/>
              <a:t>No network communication between components </a:t>
            </a:r>
          </a:p>
          <a:p>
            <a:r>
              <a:rPr lang="en-US" dirty="0"/>
              <a:t>Faster internal calls </a:t>
            </a:r>
          </a:p>
          <a:p>
            <a:r>
              <a:rPr lang="en-US" b="1" dirty="0"/>
              <a:t>✔ 4. Easier Testing (early stage)</a:t>
            </a:r>
          </a:p>
          <a:p>
            <a:r>
              <a:rPr lang="en-US" dirty="0"/>
              <a:t>Everything in one place</a:t>
            </a:r>
          </a:p>
          <a:p>
            <a:r>
              <a:rPr lang="en-US" b="1" dirty="0"/>
              <a:t>Disadvantages</a:t>
            </a:r>
          </a:p>
          <a:p>
            <a:r>
              <a:rPr lang="en-US" b="1" dirty="0"/>
              <a:t>❌ 1. Poor Scalability</a:t>
            </a:r>
          </a:p>
          <a:p>
            <a:r>
              <a:rPr lang="en-US" dirty="0"/>
              <a:t>Must scale the </a:t>
            </a:r>
            <a:r>
              <a:rPr lang="en-US" b="1" dirty="0"/>
              <a:t>entire application</a:t>
            </a:r>
            <a:r>
              <a:rPr lang="en-US" dirty="0"/>
              <a:t>, not parts </a:t>
            </a:r>
          </a:p>
          <a:p>
            <a:r>
              <a:rPr lang="en-US" dirty="0"/>
              <a:t>Inefficient resource usage </a:t>
            </a:r>
          </a:p>
          <a:p>
            <a:r>
              <a:rPr lang="en-US" b="1" dirty="0"/>
              <a:t>❌ 2. Hard to Maintain (large systems)</a:t>
            </a:r>
          </a:p>
          <a:p>
            <a:r>
              <a:rPr lang="en-US" dirty="0"/>
              <a:t>Code becomes complex over time </a:t>
            </a:r>
          </a:p>
          <a:p>
            <a:r>
              <a:rPr lang="en-US" dirty="0"/>
              <a:t>Small change → affects whole system </a:t>
            </a:r>
          </a:p>
          <a:p>
            <a:r>
              <a:rPr lang="en-US" b="1" dirty="0"/>
              <a:t>❌ 3. Slow Development (team issues)</a:t>
            </a:r>
          </a:p>
          <a:p>
            <a:r>
              <a:rPr lang="en-US" dirty="0"/>
              <a:t>Multiple developers working on same codebase → conflicts </a:t>
            </a:r>
          </a:p>
          <a:p>
            <a:r>
              <a:rPr lang="en-US" b="1" dirty="0"/>
              <a:t>❌ 4. Deployment Risk</a:t>
            </a:r>
          </a:p>
          <a:p>
            <a:r>
              <a:rPr lang="en-US" dirty="0"/>
              <a:t>A small bug → redeploy entire system </a:t>
            </a:r>
          </a:p>
          <a:p>
            <a:r>
              <a:rPr lang="en-US" b="1" dirty="0"/>
              <a:t>❌ 5. Technology Lock-in</a:t>
            </a:r>
          </a:p>
          <a:p>
            <a:r>
              <a:rPr lang="en-US" dirty="0"/>
              <a:t>Hard to use different technologies in one system</a:t>
            </a:r>
          </a:p>
          <a:p>
            <a:endParaRPr lang="en-US" dirty="0"/>
          </a:p>
          <a:p>
            <a:endParaRPr lang="en-US" dirty="0"/>
          </a:p>
        </p:txBody>
      </p:sp>
      <p:sp>
        <p:nvSpPr>
          <p:cNvPr id="4" name="Slide Number Placeholder 3"/>
          <p:cNvSpPr>
            <a:spLocks noGrp="1"/>
          </p:cNvSpPr>
          <p:nvPr>
            <p:ph type="sldNum" sz="quarter" idx="10"/>
          </p:nvPr>
        </p:nvSpPr>
        <p:spPr/>
        <p:txBody>
          <a:bodyPr/>
          <a:lstStyle/>
          <a:p>
            <a:fld id="{F628D526-74ED-40FC-9D6A-B784FA75B321}" type="slidenum">
              <a:rPr lang="en-PK" smtClean="0"/>
              <a:t>37</a:t>
            </a:fld>
            <a:endParaRPr lang="en-PK"/>
          </a:p>
        </p:txBody>
      </p:sp>
    </p:spTree>
    <p:extLst>
      <p:ext uri="{BB962C8B-B14F-4D97-AF65-F5344CB8AC3E}">
        <p14:creationId xmlns:p14="http://schemas.microsoft.com/office/powerpoint/2010/main" val="22315222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Event</a:t>
            </a:r>
          </a:p>
          <a:p>
            <a:r>
              <a:rPr lang="en-US" dirty="0"/>
              <a:t>A message describing something that happened</a:t>
            </a:r>
          </a:p>
          <a:p>
            <a:endParaRPr lang="en-US" dirty="0"/>
          </a:p>
        </p:txBody>
      </p:sp>
      <p:sp>
        <p:nvSpPr>
          <p:cNvPr id="4" name="Slide Number Placeholder 3"/>
          <p:cNvSpPr>
            <a:spLocks noGrp="1"/>
          </p:cNvSpPr>
          <p:nvPr>
            <p:ph type="sldNum" sz="quarter" idx="10"/>
          </p:nvPr>
        </p:nvSpPr>
        <p:spPr/>
        <p:txBody>
          <a:bodyPr/>
          <a:lstStyle/>
          <a:p>
            <a:fld id="{F628D526-74ED-40FC-9D6A-B784FA75B321}" type="slidenum">
              <a:rPr lang="en-PK" smtClean="0"/>
              <a:t>38</a:t>
            </a:fld>
            <a:endParaRPr lang="en-PK"/>
          </a:p>
        </p:txBody>
      </p:sp>
    </p:spTree>
    <p:extLst>
      <p:ext uri="{BB962C8B-B14F-4D97-AF65-F5344CB8AC3E}">
        <p14:creationId xmlns:p14="http://schemas.microsoft.com/office/powerpoint/2010/main" val="4911369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b="1" dirty="0"/>
              <a:t>Advantages</a:t>
            </a:r>
          </a:p>
          <a:p>
            <a:r>
              <a:rPr lang="en-US" b="1" dirty="0"/>
              <a:t>✔ 1. Loose Coupling</a:t>
            </a:r>
          </a:p>
          <a:p>
            <a:r>
              <a:rPr lang="en-US" dirty="0"/>
              <a:t>Components don’t depend directly on each other </a:t>
            </a:r>
          </a:p>
          <a:p>
            <a:r>
              <a:rPr lang="en-US" b="1" dirty="0"/>
              <a:t>✔ 2. High Scalability</a:t>
            </a:r>
          </a:p>
          <a:p>
            <a:r>
              <a:rPr lang="en-US" dirty="0"/>
              <a:t>Add more consumers easily </a:t>
            </a:r>
          </a:p>
          <a:p>
            <a:r>
              <a:rPr lang="en-US" b="1" dirty="0"/>
              <a:t>✔ 3. Real-Time Processing</a:t>
            </a:r>
          </a:p>
          <a:p>
            <a:r>
              <a:rPr lang="en-US" dirty="0"/>
              <a:t>Immediate response to events </a:t>
            </a:r>
          </a:p>
          <a:p>
            <a:r>
              <a:rPr lang="en-US" b="1" dirty="0"/>
              <a:t>✔ 4. Flexibility</a:t>
            </a:r>
          </a:p>
          <a:p>
            <a:r>
              <a:rPr lang="en-US" dirty="0"/>
              <a:t>New services can subscribe without changing existing code</a:t>
            </a:r>
          </a:p>
          <a:p>
            <a:r>
              <a:rPr lang="en-US" b="1" dirty="0"/>
              <a:t>Disadvantages</a:t>
            </a:r>
          </a:p>
          <a:p>
            <a:r>
              <a:rPr lang="en-US" b="1" dirty="0"/>
              <a:t>❌ 1. Complex Debugging</a:t>
            </a:r>
          </a:p>
          <a:p>
            <a:r>
              <a:rPr lang="en-US" dirty="0"/>
              <a:t>Hard to trace event flow </a:t>
            </a:r>
          </a:p>
          <a:p>
            <a:r>
              <a:rPr lang="en-US" b="1" dirty="0"/>
              <a:t>❌ 2. Event Ordering Issues</a:t>
            </a:r>
          </a:p>
          <a:p>
            <a:r>
              <a:rPr lang="en-US" dirty="0"/>
              <a:t>Events may arrive out of order </a:t>
            </a:r>
          </a:p>
          <a:p>
            <a:r>
              <a:rPr lang="en-US" b="1" dirty="0"/>
              <a:t>❌ 3. Data Consistency Challenges</a:t>
            </a:r>
          </a:p>
          <a:p>
            <a:r>
              <a:rPr lang="en-US" dirty="0"/>
              <a:t>Eventual consistency (not immediate) </a:t>
            </a:r>
          </a:p>
          <a:p>
            <a:r>
              <a:rPr lang="en-US" b="1" dirty="0"/>
              <a:t>❌ 4. Higher Initial Complexity</a:t>
            </a:r>
          </a:p>
          <a:p>
            <a:r>
              <a:rPr lang="en-US"/>
              <a:t>Requires message brokers and event design</a:t>
            </a:r>
          </a:p>
          <a:p>
            <a:endParaRPr lang="en-US" dirty="0"/>
          </a:p>
          <a:p>
            <a:endParaRPr lang="en-US" dirty="0"/>
          </a:p>
        </p:txBody>
      </p:sp>
      <p:sp>
        <p:nvSpPr>
          <p:cNvPr id="4" name="Slide Number Placeholder 3"/>
          <p:cNvSpPr>
            <a:spLocks noGrp="1"/>
          </p:cNvSpPr>
          <p:nvPr>
            <p:ph type="sldNum" sz="quarter" idx="10"/>
          </p:nvPr>
        </p:nvSpPr>
        <p:spPr/>
        <p:txBody>
          <a:bodyPr/>
          <a:lstStyle/>
          <a:p>
            <a:fld id="{F628D526-74ED-40FC-9D6A-B784FA75B321}" type="slidenum">
              <a:rPr lang="en-PK" smtClean="0"/>
              <a:t>39</a:t>
            </a:fld>
            <a:endParaRPr lang="en-PK"/>
          </a:p>
        </p:txBody>
      </p:sp>
    </p:spTree>
    <p:extLst>
      <p:ext uri="{BB962C8B-B14F-4D97-AF65-F5344CB8AC3E}">
        <p14:creationId xmlns:p14="http://schemas.microsoft.com/office/powerpoint/2010/main" val="2804036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628D526-74ED-40FC-9D6A-B784FA75B321}" type="slidenum">
              <a:rPr lang="en-PK" smtClean="0"/>
              <a:t>40</a:t>
            </a:fld>
            <a:endParaRPr lang="en-PK"/>
          </a:p>
        </p:txBody>
      </p:sp>
    </p:spTree>
    <p:extLst>
      <p:ext uri="{BB962C8B-B14F-4D97-AF65-F5344CB8AC3E}">
        <p14:creationId xmlns:p14="http://schemas.microsoft.com/office/powerpoint/2010/main" val="34269607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Improved performance (parallel processing)</a:t>
            </a:r>
          </a:p>
          <a:p>
            <a:r>
              <a:rPr lang="en-US" dirty="0"/>
              <a:t>- Scalable (easy to add nodes)</a:t>
            </a:r>
          </a:p>
          <a:p>
            <a:r>
              <a:rPr lang="en-US" dirty="0"/>
              <a:t>- Fault tolerant (system continues even if one node fails)</a:t>
            </a:r>
          </a:p>
          <a:p>
            <a:r>
              <a:rPr lang="en-US" dirty="0"/>
              <a:t>- Enables resource sharing</a:t>
            </a:r>
          </a:p>
          <a:p>
            <a:endParaRPr lang="en-US" dirty="0"/>
          </a:p>
          <a:p>
            <a:r>
              <a:rPr lang="en-US" dirty="0"/>
              <a:t>Disadvantages:</a:t>
            </a:r>
          </a:p>
          <a:p>
            <a:r>
              <a:rPr lang="en-US" dirty="0"/>
              <a:t>- Complex communication &amp; synchronization</a:t>
            </a:r>
          </a:p>
          <a:p>
            <a:r>
              <a:rPr lang="en-US" dirty="0"/>
              <a:t>- Security challenges</a:t>
            </a:r>
          </a:p>
          <a:p>
            <a:r>
              <a:rPr lang="en-US" dirty="0"/>
              <a:t>- Difficult debugging</a:t>
            </a:r>
          </a:p>
          <a:p>
            <a:r>
              <a:rPr lang="en-US" dirty="0"/>
              <a:t>- Network dependency</a:t>
            </a:r>
            <a:endParaRPr lang="en-PK" dirty="0"/>
          </a:p>
        </p:txBody>
      </p:sp>
      <p:sp>
        <p:nvSpPr>
          <p:cNvPr id="4" name="Slide Number Placeholder 3"/>
          <p:cNvSpPr>
            <a:spLocks noGrp="1"/>
          </p:cNvSpPr>
          <p:nvPr>
            <p:ph type="sldNum" sz="quarter" idx="5"/>
          </p:nvPr>
        </p:nvSpPr>
        <p:spPr/>
        <p:txBody>
          <a:bodyPr/>
          <a:lstStyle/>
          <a:p>
            <a:fld id="{F628D526-74ED-40FC-9D6A-B784FA75B321}" type="slidenum">
              <a:rPr lang="en-PK" smtClean="0"/>
              <a:t>42</a:t>
            </a:fld>
            <a:endParaRPr lang="en-PK"/>
          </a:p>
        </p:txBody>
      </p:sp>
    </p:spTree>
    <p:extLst>
      <p:ext uri="{BB962C8B-B14F-4D97-AF65-F5344CB8AC3E}">
        <p14:creationId xmlns:p14="http://schemas.microsoft.com/office/powerpoint/2010/main" val="39351820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97CA267-D06A-431D-B321-4E8603C546D8}" type="slidenum">
              <a:rPr lang="en-US" smtClean="0"/>
              <a:t>56</a:t>
            </a:fld>
            <a:endParaRPr lang="en-US"/>
          </a:p>
        </p:txBody>
      </p:sp>
    </p:spTree>
    <p:extLst>
      <p:ext uri="{BB962C8B-B14F-4D97-AF65-F5344CB8AC3E}">
        <p14:creationId xmlns:p14="http://schemas.microsoft.com/office/powerpoint/2010/main" val="37778623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CORBA</a:t>
            </a:r>
            <a:r>
              <a:rPr lang="en-US" dirty="0"/>
              <a:t> is an </a:t>
            </a:r>
            <a:r>
              <a:rPr lang="en-US" b="1" dirty="0"/>
              <a:t>Architectural Pattern / Middleware Architecture</a:t>
            </a:r>
            <a:r>
              <a:rPr lang="en-US" dirty="0"/>
              <a:t> that enables </a:t>
            </a:r>
            <a:r>
              <a:rPr lang="en-US" b="1" dirty="0"/>
              <a:t>communication between distributed objects</a:t>
            </a:r>
            <a:r>
              <a:rPr lang="en-US" dirty="0"/>
              <a:t> across different systems.</a:t>
            </a:r>
          </a:p>
          <a:p>
            <a:r>
              <a:rPr lang="en-US" dirty="0"/>
              <a:t>👉 Developed by: </a:t>
            </a:r>
            <a:r>
              <a:rPr lang="en-US" b="1" dirty="0"/>
              <a:t>Object Management Group (OMG)</a:t>
            </a:r>
            <a:endParaRPr lang="en-US" dirty="0"/>
          </a:p>
          <a:p>
            <a:r>
              <a:rPr lang="en-US" b="1" dirty="0"/>
              <a:t>🔹 Key Idea:</a:t>
            </a:r>
          </a:p>
          <a:p>
            <a:r>
              <a:rPr lang="en-US" dirty="0"/>
              <a:t>“Objects written in different languages and running on different machines can communicate seamlessly.”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MVC</a:t>
            </a:r>
            <a:r>
              <a:rPr lang="en-US" dirty="0"/>
              <a:t> is an </a:t>
            </a:r>
            <a:r>
              <a:rPr lang="en-US" b="1" dirty="0"/>
              <a:t>Architectural Pattern</a:t>
            </a:r>
            <a:r>
              <a:rPr lang="en-US" dirty="0"/>
              <a:t> used to </a:t>
            </a:r>
            <a:r>
              <a:rPr lang="en-US" b="1" dirty="0"/>
              <a:t>separate concerns</a:t>
            </a:r>
            <a:r>
              <a:rPr lang="en-US" dirty="0"/>
              <a:t> in an application.</a:t>
            </a:r>
          </a:p>
          <a:p>
            <a:r>
              <a:rPr lang="en-US" b="1" dirty="0"/>
              <a:t>Components:</a:t>
            </a:r>
          </a:p>
          <a:p>
            <a:r>
              <a:rPr lang="en-US" b="1" dirty="0"/>
              <a:t>1. Model</a:t>
            </a:r>
            <a:r>
              <a:rPr lang="en-US" b="1" baseline="0" dirty="0"/>
              <a:t> : </a:t>
            </a:r>
            <a:r>
              <a:rPr lang="en-US" dirty="0"/>
              <a:t>Handles </a:t>
            </a:r>
            <a:r>
              <a:rPr lang="en-US" b="1" dirty="0"/>
              <a:t>data &amp; business logic</a:t>
            </a:r>
            <a:r>
              <a:rPr lang="en-US" dirty="0"/>
              <a:t> </a:t>
            </a:r>
          </a:p>
          <a:p>
            <a:r>
              <a:rPr lang="en-US" b="1" dirty="0"/>
              <a:t>2. View :  </a:t>
            </a:r>
            <a:r>
              <a:rPr lang="en-US" dirty="0"/>
              <a:t>Handles </a:t>
            </a:r>
            <a:r>
              <a:rPr lang="en-US" b="1" dirty="0"/>
              <a:t>UI (User Interface)</a:t>
            </a:r>
            <a:r>
              <a:rPr lang="en-US" dirty="0"/>
              <a:t> </a:t>
            </a:r>
          </a:p>
          <a:p>
            <a:r>
              <a:rPr lang="en-US" b="1" dirty="0"/>
              <a:t>3. Controller :  </a:t>
            </a:r>
            <a:r>
              <a:rPr lang="en-US" dirty="0"/>
              <a:t>Handles </a:t>
            </a:r>
            <a:r>
              <a:rPr lang="en-US" b="1" dirty="0"/>
              <a:t>user input &amp; interaction</a:t>
            </a:r>
            <a:r>
              <a:rPr lang="en-US" dirty="0"/>
              <a:t> </a:t>
            </a:r>
          </a:p>
          <a:p>
            <a:r>
              <a:rPr lang="en-US" b="1" dirty="0"/>
              <a:t>🔹 Flow:</a:t>
            </a:r>
          </a:p>
          <a:p>
            <a:r>
              <a:rPr lang="en-US" dirty="0"/>
              <a:t>User interacts with </a:t>
            </a:r>
            <a:r>
              <a:rPr lang="en-US" b="1" dirty="0"/>
              <a:t>View</a:t>
            </a:r>
            <a:r>
              <a:rPr lang="en-US" dirty="0"/>
              <a:t> </a:t>
            </a:r>
          </a:p>
          <a:p>
            <a:r>
              <a:rPr lang="en-US" dirty="0"/>
              <a:t>Controller receives input </a:t>
            </a:r>
          </a:p>
          <a:p>
            <a:r>
              <a:rPr lang="en-US" dirty="0"/>
              <a:t>Controller updates Model </a:t>
            </a:r>
          </a:p>
          <a:p>
            <a:r>
              <a:rPr lang="en-US" dirty="0"/>
              <a:t>Model updates View </a:t>
            </a:r>
          </a:p>
          <a:p>
            <a:r>
              <a:rPr lang="en-US" b="1" dirty="0"/>
              <a:t>🔹 Diagram:</a:t>
            </a:r>
          </a:p>
          <a:p>
            <a:pPr rtl="0"/>
            <a:r>
              <a:rPr lang="en-US" dirty="0"/>
              <a:t>User → View → Controller → Model → View</a:t>
            </a:r>
          </a:p>
          <a:p>
            <a:endParaRPr lang="en-US" b="1" dirty="0"/>
          </a:p>
          <a:p>
            <a:r>
              <a:rPr lang="en-US" b="1" dirty="0"/>
              <a:t>Components of Broker Pattern</a:t>
            </a:r>
          </a:p>
          <a:p>
            <a:r>
              <a:rPr lang="en-US" b="1" dirty="0"/>
              <a:t>🔹 1. Client</a:t>
            </a:r>
          </a:p>
          <a:p>
            <a:r>
              <a:rPr lang="en-US" dirty="0"/>
              <a:t>Requests services </a:t>
            </a:r>
          </a:p>
          <a:p>
            <a:r>
              <a:rPr lang="en-US" b="1" dirty="0"/>
              <a:t>🔹 2. Broker</a:t>
            </a:r>
          </a:p>
          <a:p>
            <a:r>
              <a:rPr lang="en-US" dirty="0"/>
              <a:t>Central coordinator </a:t>
            </a:r>
          </a:p>
          <a:p>
            <a:r>
              <a:rPr lang="en-US" dirty="0"/>
              <a:t>Finds appropriate server </a:t>
            </a:r>
          </a:p>
          <a:p>
            <a:r>
              <a:rPr lang="en-US" dirty="0"/>
              <a:t>Handles communication </a:t>
            </a:r>
          </a:p>
          <a:p>
            <a:r>
              <a:rPr lang="en-US" b="1" dirty="0"/>
              <a:t>🔹 3. Server (Service Provider)</a:t>
            </a:r>
          </a:p>
          <a:p>
            <a:r>
              <a:rPr lang="en-US" dirty="0"/>
              <a:t>Provides services </a:t>
            </a:r>
          </a:p>
          <a:p>
            <a:r>
              <a:rPr lang="en-US" b="1" dirty="0"/>
              <a:t>🔹 4. Stub (Client-side proxy)</a:t>
            </a:r>
          </a:p>
          <a:p>
            <a:r>
              <a:rPr lang="en-US" dirty="0"/>
              <a:t>Represents server locally </a:t>
            </a:r>
          </a:p>
          <a:p>
            <a:r>
              <a:rPr lang="en-US" b="1" dirty="0"/>
              <a:t>🔹 5. Skeleton (Server-side handler)</a:t>
            </a:r>
          </a:p>
          <a:p>
            <a:r>
              <a:rPr lang="en-US" dirty="0"/>
              <a:t>Receives request and executes it</a:t>
            </a:r>
          </a:p>
          <a:p>
            <a:endParaRPr lang="en-US" dirty="0"/>
          </a:p>
        </p:txBody>
      </p:sp>
      <p:sp>
        <p:nvSpPr>
          <p:cNvPr id="4" name="Slide Number Placeholder 3"/>
          <p:cNvSpPr>
            <a:spLocks noGrp="1"/>
          </p:cNvSpPr>
          <p:nvPr>
            <p:ph type="sldNum" sz="quarter" idx="10"/>
          </p:nvPr>
        </p:nvSpPr>
        <p:spPr/>
        <p:txBody>
          <a:bodyPr/>
          <a:lstStyle/>
          <a:p>
            <a:fld id="{397CA267-D06A-431D-B321-4E8603C546D8}" type="slidenum">
              <a:rPr lang="en-US" smtClean="0"/>
              <a:t>58</a:t>
            </a:fld>
            <a:endParaRPr lang="en-US"/>
          </a:p>
        </p:txBody>
      </p:sp>
    </p:spTree>
    <p:extLst>
      <p:ext uri="{BB962C8B-B14F-4D97-AF65-F5344CB8AC3E}">
        <p14:creationId xmlns:p14="http://schemas.microsoft.com/office/powerpoint/2010/main" val="36417300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a design pattern like a blueprint. </a:t>
            </a:r>
          </a:p>
          <a:p>
            <a:r>
              <a:rPr lang="en-US" dirty="0"/>
              <a:t>If you want to build a house, the blueprint tells you where the walls go, but you still have to buy the bricks and lay them yourself. </a:t>
            </a:r>
          </a:p>
          <a:p>
            <a:r>
              <a:rPr lang="en-US" dirty="0"/>
              <a:t>Design patterns don't give you the exact code, but they give you the architectural strategy to solve a specific problem</a:t>
            </a:r>
          </a:p>
        </p:txBody>
      </p:sp>
      <p:sp>
        <p:nvSpPr>
          <p:cNvPr id="4" name="Slide Number Placeholder 3"/>
          <p:cNvSpPr>
            <a:spLocks noGrp="1"/>
          </p:cNvSpPr>
          <p:nvPr>
            <p:ph type="sldNum" sz="quarter" idx="10"/>
          </p:nvPr>
        </p:nvSpPr>
        <p:spPr/>
        <p:txBody>
          <a:bodyPr/>
          <a:lstStyle/>
          <a:p>
            <a:fld id="{397CA267-D06A-431D-B321-4E8603C546D8}" type="slidenum">
              <a:rPr lang="en-US" smtClean="0"/>
              <a:t>59</a:t>
            </a:fld>
            <a:endParaRPr lang="en-US"/>
          </a:p>
        </p:txBody>
      </p:sp>
    </p:spTree>
    <p:extLst>
      <p:ext uri="{BB962C8B-B14F-4D97-AF65-F5344CB8AC3E}">
        <p14:creationId xmlns:p14="http://schemas.microsoft.com/office/powerpoint/2010/main" val="20880676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Architectural Style</a:t>
            </a:r>
          </a:p>
          <a:p>
            <a:r>
              <a:rPr lang="en-US" dirty="0"/>
              <a:t>This is the </a:t>
            </a:r>
            <a:r>
              <a:rPr lang="en-US" b="1" dirty="0"/>
              <a:t>high-level</a:t>
            </a:r>
            <a:r>
              <a:rPr lang="en-US" dirty="0"/>
              <a:t> view of a software system.</a:t>
            </a:r>
          </a:p>
          <a:p>
            <a:r>
              <a:rPr lang="en-US" dirty="0"/>
              <a:t>It defines the </a:t>
            </a:r>
            <a:r>
              <a:rPr lang="en-US" b="1" dirty="0"/>
              <a:t>overall structure</a:t>
            </a:r>
            <a:r>
              <a:rPr lang="en-US" dirty="0"/>
              <a:t> and how components interact.</a:t>
            </a:r>
          </a:p>
          <a:p>
            <a:r>
              <a:rPr lang="en-US" dirty="0"/>
              <a:t>Examples:</a:t>
            </a:r>
          </a:p>
          <a:p>
            <a:pPr lvl="1"/>
            <a:r>
              <a:rPr lang="en-US" b="1" dirty="0"/>
              <a:t>Client-Server</a:t>
            </a:r>
            <a:endParaRPr lang="en-US" dirty="0"/>
          </a:p>
          <a:p>
            <a:pPr lvl="1"/>
            <a:r>
              <a:rPr lang="en-US" b="1" dirty="0"/>
              <a:t>Layered Architecture</a:t>
            </a:r>
            <a:endParaRPr lang="en-US" dirty="0"/>
          </a:p>
          <a:p>
            <a:pPr lvl="1"/>
            <a:r>
              <a:rPr lang="en-US" b="1" dirty="0"/>
              <a:t>Event-Driven Architecture</a:t>
            </a:r>
            <a:endParaRPr lang="en-US" dirty="0"/>
          </a:p>
          <a:p>
            <a:pPr lvl="1"/>
            <a:r>
              <a:rPr lang="en-US" b="1" dirty="0" err="1"/>
              <a:t>Microservices</a:t>
            </a:r>
            <a:r>
              <a:rPr lang="en-US" b="1" dirty="0"/>
              <a:t> Architecture</a:t>
            </a:r>
            <a:endParaRPr lang="en-US" dirty="0"/>
          </a:p>
          <a:p>
            <a:endParaRPr lang="en-US" dirty="0"/>
          </a:p>
          <a:p>
            <a:r>
              <a:rPr lang="en-US" dirty="0"/>
              <a:t>Architectural pattern</a:t>
            </a:r>
          </a:p>
          <a:p>
            <a:r>
              <a:rPr lang="en-US" dirty="0"/>
              <a:t>This is a </a:t>
            </a:r>
            <a:r>
              <a:rPr lang="en-US" b="1" dirty="0"/>
              <a:t>specific way to implement</a:t>
            </a:r>
            <a:r>
              <a:rPr lang="en-US" dirty="0"/>
              <a:t> an architectural style.</a:t>
            </a:r>
          </a:p>
          <a:p>
            <a:r>
              <a:rPr lang="en-US" dirty="0"/>
              <a:t>It adds </a:t>
            </a:r>
            <a:r>
              <a:rPr lang="en-US" b="1" dirty="0"/>
              <a:t>best practices and rules</a:t>
            </a:r>
            <a:r>
              <a:rPr lang="en-US" dirty="0"/>
              <a:t> to a style to guide implementation.</a:t>
            </a:r>
          </a:p>
          <a:p>
            <a:r>
              <a:rPr lang="en-US" dirty="0"/>
              <a:t>Examples:</a:t>
            </a:r>
          </a:p>
          <a:p>
            <a:r>
              <a:rPr lang="en-US" dirty="0"/>
              <a:t>MVC (Model-View-Controller) — often used in layered architectures</a:t>
            </a:r>
          </a:p>
          <a:p>
            <a:r>
              <a:rPr lang="en-US" dirty="0"/>
              <a:t>Broker Pattern — common in distributed systems </a:t>
            </a:r>
          </a:p>
          <a:p>
            <a:r>
              <a:rPr lang="en-US" dirty="0"/>
              <a:t> </a:t>
            </a:r>
            <a:r>
              <a:rPr lang="en-US" b="1" dirty="0"/>
              <a:t>CORBA</a:t>
            </a:r>
            <a:r>
              <a:rPr lang="en-US" dirty="0"/>
              <a:t> (Common Object Request Broker Architecture)</a:t>
            </a:r>
          </a:p>
          <a:p>
            <a:r>
              <a:rPr lang="en-US" b="1" dirty="0"/>
              <a:t>Message Brokers</a:t>
            </a:r>
            <a:r>
              <a:rPr lang="en-US" dirty="0"/>
              <a:t> like </a:t>
            </a:r>
            <a:r>
              <a:rPr lang="en-US" dirty="0" err="1"/>
              <a:t>RabbitMQ</a:t>
            </a:r>
            <a:r>
              <a:rPr lang="en-US" dirty="0"/>
              <a:t>, Kafka, or Apache </a:t>
            </a:r>
            <a:r>
              <a:rPr lang="en-US" dirty="0" err="1"/>
              <a:t>ActiveMQ</a:t>
            </a:r>
            <a:endParaRPr lang="en-US" dirty="0"/>
          </a:p>
          <a:p>
            <a:endParaRPr lang="en-US" dirty="0"/>
          </a:p>
          <a:p>
            <a:r>
              <a:rPr lang="en-US" dirty="0"/>
              <a:t>Microkernel Pattern-  </a:t>
            </a:r>
            <a:r>
              <a:rPr lang="en-US" b="1" dirty="0"/>
              <a:t>IDE software</a:t>
            </a:r>
            <a:r>
              <a:rPr lang="en-US" dirty="0"/>
              <a:t> like Eclipse or VS Code (core + language/tool plugins)</a:t>
            </a:r>
          </a:p>
          <a:p>
            <a:r>
              <a:rPr lang="en-US" b="1" dirty="0"/>
              <a:t>Browser extensions</a:t>
            </a:r>
            <a:r>
              <a:rPr lang="en-US" dirty="0"/>
              <a:t> — the browser is the kernel, and plugins extend it</a:t>
            </a:r>
          </a:p>
          <a:p>
            <a:endParaRPr lang="en-US" dirty="0"/>
          </a:p>
          <a:p>
            <a:endParaRPr lang="en-US" dirty="0"/>
          </a:p>
          <a:p>
            <a:r>
              <a:rPr lang="en-US" dirty="0"/>
              <a:t>This solves </a:t>
            </a:r>
            <a:r>
              <a:rPr lang="en-US" b="1" dirty="0"/>
              <a:t>recurring, specific coding problems</a:t>
            </a:r>
            <a:r>
              <a:rPr lang="en-US" dirty="0"/>
              <a:t> in part of your system.</a:t>
            </a:r>
          </a:p>
          <a:p>
            <a:r>
              <a:rPr lang="en-US" dirty="0"/>
              <a:t>Smaller in scope than architectural patterns.</a:t>
            </a:r>
          </a:p>
          <a:p>
            <a:r>
              <a:rPr lang="en-US" dirty="0"/>
              <a:t>Helps with </a:t>
            </a:r>
            <a:r>
              <a:rPr lang="en-US" b="1" dirty="0"/>
              <a:t>code structure, flexibility, and reuse</a:t>
            </a:r>
            <a:r>
              <a:rPr lang="en-US" dirty="0"/>
              <a:t>.</a:t>
            </a:r>
          </a:p>
          <a:p>
            <a:r>
              <a:rPr lang="en-US" dirty="0"/>
              <a:t>Examples:</a:t>
            </a:r>
          </a:p>
          <a:p>
            <a:r>
              <a:rPr lang="en-US" dirty="0"/>
              <a:t>Singleton</a:t>
            </a:r>
          </a:p>
          <a:p>
            <a:r>
              <a:rPr lang="en-US" dirty="0"/>
              <a:t>Observer</a:t>
            </a:r>
          </a:p>
          <a:p>
            <a:r>
              <a:rPr lang="en-US" dirty="0"/>
              <a:t>Factory</a:t>
            </a:r>
          </a:p>
          <a:p>
            <a:r>
              <a:rPr lang="en-US" dirty="0"/>
              <a:t>Strategy</a:t>
            </a:r>
          </a:p>
          <a:p>
            <a:r>
              <a:rPr lang="en-US" dirty="0"/>
              <a:t>Decorator</a:t>
            </a:r>
          </a:p>
          <a:p>
            <a:endParaRPr lang="en-US" dirty="0"/>
          </a:p>
          <a:p>
            <a:endParaRPr lang="en-US" dirty="0"/>
          </a:p>
        </p:txBody>
      </p:sp>
      <p:sp>
        <p:nvSpPr>
          <p:cNvPr id="4" name="Slide Number Placeholder 3"/>
          <p:cNvSpPr>
            <a:spLocks noGrp="1"/>
          </p:cNvSpPr>
          <p:nvPr>
            <p:ph type="sldNum" sz="quarter" idx="10"/>
          </p:nvPr>
        </p:nvSpPr>
        <p:spPr/>
        <p:txBody>
          <a:bodyPr/>
          <a:lstStyle/>
          <a:p>
            <a:fld id="{397CA267-D06A-431D-B321-4E8603C546D8}" type="slidenum">
              <a:rPr lang="en-US" smtClean="0"/>
              <a:t>60</a:t>
            </a:fld>
            <a:endParaRPr lang="en-US"/>
          </a:p>
        </p:txBody>
      </p:sp>
    </p:spTree>
    <p:extLst>
      <p:ext uri="{BB962C8B-B14F-4D97-AF65-F5344CB8AC3E}">
        <p14:creationId xmlns:p14="http://schemas.microsoft.com/office/powerpoint/2010/main" val="27022564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interesting that this started in physical architecture—designing buildings and towns.</a:t>
            </a:r>
          </a:p>
          <a:p>
            <a:r>
              <a:rPr lang="en-US" dirty="0"/>
              <a:t> The Gang of Four realized that software engineers were solving the same object-oriented problems over and over again. </a:t>
            </a:r>
          </a:p>
          <a:p>
            <a:r>
              <a:rPr lang="en-US" dirty="0"/>
              <a:t>By documenting these 23 patterns, they changed how software is engineered."</a:t>
            </a:r>
          </a:p>
        </p:txBody>
      </p:sp>
      <p:sp>
        <p:nvSpPr>
          <p:cNvPr id="4" name="Slide Number Placeholder 3"/>
          <p:cNvSpPr>
            <a:spLocks noGrp="1"/>
          </p:cNvSpPr>
          <p:nvPr>
            <p:ph type="sldNum" sz="quarter" idx="10"/>
          </p:nvPr>
        </p:nvSpPr>
        <p:spPr/>
        <p:txBody>
          <a:bodyPr/>
          <a:lstStyle/>
          <a:p>
            <a:fld id="{397CA267-D06A-431D-B321-4E8603C546D8}" type="slidenum">
              <a:rPr lang="en-US" smtClean="0"/>
              <a:t>61</a:t>
            </a:fld>
            <a:endParaRPr lang="en-US"/>
          </a:p>
        </p:txBody>
      </p:sp>
    </p:spTree>
    <p:extLst>
      <p:ext uri="{BB962C8B-B14F-4D97-AF65-F5344CB8AC3E}">
        <p14:creationId xmlns:p14="http://schemas.microsoft.com/office/powerpoint/2010/main" val="1294395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advantage is the shared vocabulary. When you join a tech company, your senior engineer won't explain a complex architecture from scratch. </a:t>
            </a:r>
          </a:p>
          <a:p>
            <a:r>
              <a:rPr lang="en-US" dirty="0"/>
              <a:t>They'll say, 'We use a Factory pattern here and an Observer pattern there.' Knowing these patterns allows you to instantly understand the system's architecture."</a:t>
            </a:r>
          </a:p>
        </p:txBody>
      </p:sp>
      <p:sp>
        <p:nvSpPr>
          <p:cNvPr id="4" name="Slide Number Placeholder 3"/>
          <p:cNvSpPr>
            <a:spLocks noGrp="1"/>
          </p:cNvSpPr>
          <p:nvPr>
            <p:ph type="sldNum" sz="quarter" idx="10"/>
          </p:nvPr>
        </p:nvSpPr>
        <p:spPr/>
        <p:txBody>
          <a:bodyPr/>
          <a:lstStyle/>
          <a:p>
            <a:fld id="{397CA267-D06A-431D-B321-4E8603C546D8}" type="slidenum">
              <a:rPr lang="en-US" smtClean="0"/>
              <a:t>62</a:t>
            </a:fld>
            <a:endParaRPr lang="en-US"/>
          </a:p>
        </p:txBody>
      </p:sp>
    </p:spTree>
    <p:extLst>
      <p:ext uri="{BB962C8B-B14F-4D97-AF65-F5344CB8AC3E}">
        <p14:creationId xmlns:p14="http://schemas.microsoft.com/office/powerpoint/2010/main" val="18981446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it easier to digest, patterns are categorized by what they do.</a:t>
            </a:r>
          </a:p>
          <a:p>
            <a:r>
              <a:rPr lang="en-US" dirty="0"/>
              <a:t> Creational is about </a:t>
            </a:r>
            <a:r>
              <a:rPr lang="en-US" i="1" dirty="0"/>
              <a:t>making</a:t>
            </a:r>
            <a:r>
              <a:rPr lang="en-US" dirty="0"/>
              <a:t> objects. </a:t>
            </a:r>
          </a:p>
          <a:p>
            <a:r>
              <a:rPr lang="en-US" dirty="0"/>
              <a:t>Structural is about </a:t>
            </a:r>
            <a:r>
              <a:rPr lang="en-US" i="1" dirty="0"/>
              <a:t>assembling</a:t>
            </a:r>
            <a:r>
              <a:rPr lang="en-US" dirty="0"/>
              <a:t> objects into larger structures.</a:t>
            </a:r>
          </a:p>
          <a:p>
            <a:r>
              <a:rPr lang="en-US" dirty="0"/>
              <a:t> Behavioral is about how objects </a:t>
            </a:r>
            <a:r>
              <a:rPr lang="en-US" i="1" dirty="0"/>
              <a:t>talk</a:t>
            </a:r>
            <a:r>
              <a:rPr lang="en-US" dirty="0"/>
              <a:t> to each other."</a:t>
            </a:r>
          </a:p>
        </p:txBody>
      </p:sp>
      <p:sp>
        <p:nvSpPr>
          <p:cNvPr id="4" name="Slide Number Placeholder 3"/>
          <p:cNvSpPr>
            <a:spLocks noGrp="1"/>
          </p:cNvSpPr>
          <p:nvPr>
            <p:ph type="sldNum" sz="quarter" idx="10"/>
          </p:nvPr>
        </p:nvSpPr>
        <p:spPr/>
        <p:txBody>
          <a:bodyPr/>
          <a:lstStyle/>
          <a:p>
            <a:fld id="{397CA267-D06A-431D-B321-4E8603C546D8}" type="slidenum">
              <a:rPr lang="en-US" smtClean="0"/>
              <a:t>64</a:t>
            </a:fld>
            <a:endParaRPr lang="en-US"/>
          </a:p>
        </p:txBody>
      </p:sp>
    </p:spTree>
    <p:extLst>
      <p:ext uri="{BB962C8B-B14F-4D97-AF65-F5344CB8AC3E}">
        <p14:creationId xmlns:p14="http://schemas.microsoft.com/office/powerpoint/2010/main" val="14749150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cap="none" normalizeH="0" baseline="0" dirty="0">
                <a:ln>
                  <a:noFill/>
                </a:ln>
                <a:solidFill>
                  <a:schemeClr val="tx1"/>
                </a:solidFill>
                <a:effectLst/>
                <a:latin typeface="Arial" panose="020B0604020202020204" pitchFamily="34" charset="0"/>
              </a:rPr>
              <a:t>"Using the 'new' keyword tightly couples your code to a specific class. Creational patterns help us abstract the instantiation process, making our systems independent of how their objects are created, composed, and represented."</a:t>
            </a:r>
          </a:p>
          <a:p>
            <a:endParaRPr lang="en-US" dirty="0"/>
          </a:p>
        </p:txBody>
      </p:sp>
      <p:sp>
        <p:nvSpPr>
          <p:cNvPr id="4" name="Slide Number Placeholder 3"/>
          <p:cNvSpPr>
            <a:spLocks noGrp="1"/>
          </p:cNvSpPr>
          <p:nvPr>
            <p:ph type="sldNum" sz="quarter" idx="10"/>
          </p:nvPr>
        </p:nvSpPr>
        <p:spPr/>
        <p:txBody>
          <a:bodyPr/>
          <a:lstStyle/>
          <a:p>
            <a:fld id="{397CA267-D06A-431D-B321-4E8603C546D8}" type="slidenum">
              <a:rPr lang="en-US" smtClean="0"/>
              <a:t>65</a:t>
            </a:fld>
            <a:endParaRPr lang="en-US"/>
          </a:p>
        </p:txBody>
      </p:sp>
    </p:spTree>
    <p:extLst>
      <p:ext uri="{BB962C8B-B14F-4D97-AF65-F5344CB8AC3E}">
        <p14:creationId xmlns:p14="http://schemas.microsoft.com/office/powerpoint/2010/main" val="30908060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all about composing classes to form larger, more complex structures. They help guarantee that when one part of a system changes, the entire structure doesn't collapse."</a:t>
            </a:r>
          </a:p>
        </p:txBody>
      </p:sp>
      <p:sp>
        <p:nvSpPr>
          <p:cNvPr id="4" name="Slide Number Placeholder 3"/>
          <p:cNvSpPr>
            <a:spLocks noGrp="1"/>
          </p:cNvSpPr>
          <p:nvPr>
            <p:ph type="sldNum" sz="quarter" idx="10"/>
          </p:nvPr>
        </p:nvSpPr>
        <p:spPr/>
        <p:txBody>
          <a:bodyPr/>
          <a:lstStyle/>
          <a:p>
            <a:fld id="{397CA267-D06A-431D-B321-4E8603C546D8}" type="slidenum">
              <a:rPr lang="en-US" smtClean="0"/>
              <a:t>66</a:t>
            </a:fld>
            <a:endParaRPr lang="en-US"/>
          </a:p>
        </p:txBody>
      </p:sp>
    </p:spTree>
    <p:extLst>
      <p:ext uri="{BB962C8B-B14F-4D97-AF65-F5344CB8AC3E}">
        <p14:creationId xmlns:p14="http://schemas.microsoft.com/office/powerpoint/2010/main" val="5040867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Behavioral patterns. While creational is about 'building' and structural is about 'assembling', behavioral is about 'communicating'. It defines how objects interact and distribute the workload."</a:t>
            </a:r>
          </a:p>
        </p:txBody>
      </p:sp>
      <p:sp>
        <p:nvSpPr>
          <p:cNvPr id="4" name="Slide Number Placeholder 3"/>
          <p:cNvSpPr>
            <a:spLocks noGrp="1"/>
          </p:cNvSpPr>
          <p:nvPr>
            <p:ph type="sldNum" sz="quarter" idx="10"/>
          </p:nvPr>
        </p:nvSpPr>
        <p:spPr/>
        <p:txBody>
          <a:bodyPr/>
          <a:lstStyle/>
          <a:p>
            <a:fld id="{397CA267-D06A-431D-B321-4E8603C546D8}" type="slidenum">
              <a:rPr lang="en-US" smtClean="0"/>
              <a:t>67</a:t>
            </a:fld>
            <a:endParaRPr lang="en-US"/>
          </a:p>
        </p:txBody>
      </p:sp>
    </p:spTree>
    <p:extLst>
      <p:ext uri="{BB962C8B-B14F-4D97-AF65-F5344CB8AC3E}">
        <p14:creationId xmlns:p14="http://schemas.microsoft.com/office/powerpoint/2010/main" val="6582163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t>A method that is declared without an implementation (i.e., no body) in an abstract class or interface.</a:t>
            </a:r>
          </a:p>
          <a:p>
            <a:r>
              <a:rPr lang="en-US" sz="1800" dirty="0"/>
              <a:t>Subclasses are expected to provide the implementation.</a:t>
            </a:r>
          </a:p>
          <a:p>
            <a:endParaRPr lang="en-US" sz="1800" dirty="0"/>
          </a:p>
        </p:txBody>
      </p:sp>
      <p:sp>
        <p:nvSpPr>
          <p:cNvPr id="4" name="Slide Number Placeholder 3"/>
          <p:cNvSpPr>
            <a:spLocks noGrp="1"/>
          </p:cNvSpPr>
          <p:nvPr>
            <p:ph type="sldNum" sz="quarter" idx="10"/>
          </p:nvPr>
        </p:nvSpPr>
        <p:spPr/>
        <p:txBody>
          <a:bodyPr/>
          <a:lstStyle/>
          <a:p>
            <a:fld id="{397CA267-D06A-431D-B321-4E8603C546D8}" type="slidenum">
              <a:rPr lang="en-US" smtClean="0"/>
              <a:t>69</a:t>
            </a:fld>
            <a:endParaRPr lang="en-US"/>
          </a:p>
        </p:txBody>
      </p:sp>
    </p:spTree>
    <p:extLst>
      <p:ext uri="{BB962C8B-B14F-4D97-AF65-F5344CB8AC3E}">
        <p14:creationId xmlns:p14="http://schemas.microsoft.com/office/powerpoint/2010/main" val="197154884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Cannot create objects</a:t>
            </a:r>
            <a:r>
              <a:rPr lang="en-US" dirty="0"/>
              <a:t> directly from an abstract class.</a:t>
            </a:r>
          </a:p>
          <a:p>
            <a:r>
              <a:rPr lang="en-US" dirty="0"/>
              <a:t>Can include:</a:t>
            </a:r>
          </a:p>
          <a:p>
            <a:r>
              <a:rPr lang="en-US" dirty="0"/>
              <a:t>Abstract methods (no body)</a:t>
            </a:r>
          </a:p>
          <a:p>
            <a:r>
              <a:rPr lang="en-US" dirty="0"/>
              <a:t>Concrete methods (with body)</a:t>
            </a:r>
          </a:p>
          <a:p>
            <a:r>
              <a:rPr lang="en-US" dirty="0"/>
              <a:t>Fields (variables)</a:t>
            </a:r>
          </a:p>
          <a:p>
            <a:r>
              <a:rPr lang="en-US" dirty="0"/>
              <a:t>Constructors</a:t>
            </a:r>
          </a:p>
          <a:p>
            <a:r>
              <a:rPr lang="en-US" dirty="0"/>
              <a:t>Must be </a:t>
            </a:r>
            <a:r>
              <a:rPr lang="en-US" b="1" dirty="0"/>
              <a:t>extended (inherited)</a:t>
            </a:r>
            <a:r>
              <a:rPr lang="en-US" dirty="0"/>
              <a:t> by a subclass that provides implementation for the abstract methods.</a:t>
            </a:r>
          </a:p>
          <a:p>
            <a:r>
              <a:rPr lang="en-US" dirty="0"/>
              <a:t>Supports </a:t>
            </a:r>
            <a:r>
              <a:rPr lang="en-US" b="1" dirty="0"/>
              <a:t>polymorphism</a:t>
            </a:r>
            <a:r>
              <a:rPr lang="en-US" dirty="0"/>
              <a:t> and </a:t>
            </a:r>
            <a:r>
              <a:rPr lang="en-US" b="1" dirty="0"/>
              <a:t>inheritance</a:t>
            </a:r>
            <a:r>
              <a:rPr lang="en-US" dirty="0"/>
              <a:t>.</a:t>
            </a:r>
          </a:p>
          <a:p>
            <a:endParaRPr lang="en-US" dirty="0"/>
          </a:p>
        </p:txBody>
      </p:sp>
      <p:sp>
        <p:nvSpPr>
          <p:cNvPr id="4" name="Slide Number Placeholder 3"/>
          <p:cNvSpPr>
            <a:spLocks noGrp="1"/>
          </p:cNvSpPr>
          <p:nvPr>
            <p:ph type="sldNum" sz="quarter" idx="10"/>
          </p:nvPr>
        </p:nvSpPr>
        <p:spPr/>
        <p:txBody>
          <a:bodyPr/>
          <a:lstStyle/>
          <a:p>
            <a:fld id="{397CA267-D06A-431D-B321-4E8603C546D8}" type="slidenum">
              <a:rPr lang="en-US" smtClean="0"/>
              <a:t>70</a:t>
            </a:fld>
            <a:endParaRPr lang="en-US"/>
          </a:p>
        </p:txBody>
      </p:sp>
    </p:spTree>
    <p:extLst>
      <p:ext uri="{BB962C8B-B14F-4D97-AF65-F5344CB8AC3E}">
        <p14:creationId xmlns:p14="http://schemas.microsoft.com/office/powerpoint/2010/main" val="4097036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Abstract Class</a:t>
            </a:r>
            <a:r>
              <a:rPr lang="en-US" dirty="0"/>
              <a:t>:</a:t>
            </a:r>
            <a:br>
              <a:rPr lang="en-US" dirty="0"/>
            </a:br>
            <a:r>
              <a:rPr lang="en-US" dirty="0"/>
              <a:t>Animal is an abstract class. That means:</a:t>
            </a:r>
          </a:p>
          <a:p>
            <a:pPr lvl="1"/>
            <a:r>
              <a:rPr lang="en-US" dirty="0"/>
              <a:t>You </a:t>
            </a:r>
            <a:r>
              <a:rPr lang="en-US" b="1" dirty="0"/>
              <a:t>cannot create an object</a:t>
            </a:r>
            <a:r>
              <a:rPr lang="en-US" dirty="0"/>
              <a:t> of Animal.</a:t>
            </a:r>
          </a:p>
          <a:p>
            <a:pPr lvl="1"/>
            <a:r>
              <a:rPr lang="en-US" dirty="0"/>
              <a:t>It </a:t>
            </a:r>
            <a:r>
              <a:rPr lang="en-US" b="1" dirty="0"/>
              <a:t>can have abstract methods</a:t>
            </a:r>
            <a:r>
              <a:rPr lang="en-US" dirty="0"/>
              <a:t> (without body).</a:t>
            </a:r>
          </a:p>
          <a:p>
            <a:pPr lvl="1"/>
            <a:r>
              <a:rPr lang="en-US" dirty="0"/>
              <a:t>It </a:t>
            </a:r>
            <a:r>
              <a:rPr lang="en-US" b="1" dirty="0"/>
              <a:t>can also have regular methods</a:t>
            </a:r>
            <a:r>
              <a:rPr lang="en-US" dirty="0"/>
              <a:t> (with body).</a:t>
            </a:r>
          </a:p>
          <a:p>
            <a:r>
              <a:rPr lang="en-US" b="1" dirty="0"/>
              <a:t>Abstract Method</a:t>
            </a:r>
            <a:r>
              <a:rPr lang="en-US" dirty="0"/>
              <a:t>:</a:t>
            </a:r>
          </a:p>
          <a:p>
            <a:pPr lvl="1"/>
            <a:r>
              <a:rPr lang="en-US" dirty="0" err="1"/>
              <a:t>animalSound</a:t>
            </a:r>
            <a:r>
              <a:rPr lang="en-US" dirty="0"/>
              <a:t>() is abstract → no body in Animal, but every subclass </a:t>
            </a:r>
            <a:r>
              <a:rPr lang="en-US" b="1" dirty="0"/>
              <a:t>must implement it</a:t>
            </a:r>
            <a:r>
              <a:rPr lang="en-US" dirty="0"/>
              <a:t>.</a:t>
            </a:r>
          </a:p>
          <a:p>
            <a:r>
              <a:rPr lang="en-US" b="1" dirty="0"/>
              <a:t>Subclass (Dog)</a:t>
            </a:r>
            <a:r>
              <a:rPr lang="en-US" dirty="0"/>
              <a:t>:</a:t>
            </a:r>
          </a:p>
          <a:p>
            <a:pPr lvl="1"/>
            <a:r>
              <a:rPr lang="en-US" dirty="0"/>
              <a:t>Inherits from Animal.</a:t>
            </a:r>
          </a:p>
          <a:p>
            <a:pPr lvl="1"/>
            <a:r>
              <a:rPr lang="en-US" dirty="0"/>
              <a:t>Provides body for the abstract method </a:t>
            </a:r>
            <a:r>
              <a:rPr lang="en-US" dirty="0" err="1"/>
              <a:t>animalSound</a:t>
            </a:r>
            <a:r>
              <a:rPr lang="en-US" dirty="0"/>
              <a:t>().</a:t>
            </a:r>
          </a:p>
          <a:p>
            <a:r>
              <a:rPr lang="en-US" b="1" dirty="0"/>
              <a:t>Main Method</a:t>
            </a:r>
            <a:r>
              <a:rPr lang="en-US" dirty="0"/>
              <a:t>:</a:t>
            </a:r>
          </a:p>
          <a:p>
            <a:pPr lvl="1"/>
            <a:r>
              <a:rPr lang="en-US" dirty="0"/>
              <a:t>Pig </a:t>
            </a:r>
            <a:r>
              <a:rPr lang="en-US" dirty="0" err="1"/>
              <a:t>myDog</a:t>
            </a:r>
            <a:r>
              <a:rPr lang="en-US" dirty="0"/>
              <a:t> = new Dog(); creates an object of the Dog class.</a:t>
            </a:r>
          </a:p>
          <a:p>
            <a:pPr lvl="1"/>
            <a:r>
              <a:rPr lang="en-US" dirty="0" err="1"/>
              <a:t>myDog.animalSound</a:t>
            </a:r>
            <a:r>
              <a:rPr lang="en-US" dirty="0"/>
              <a:t>(); calls the implemented method → prints pig's sound.</a:t>
            </a:r>
          </a:p>
          <a:p>
            <a:pPr lvl="1"/>
            <a:r>
              <a:rPr lang="en-US" dirty="0" err="1"/>
              <a:t>myDog.sleep</a:t>
            </a:r>
            <a:r>
              <a:rPr lang="en-US" dirty="0"/>
              <a:t>(); calls the regular method from the parent class.</a:t>
            </a:r>
          </a:p>
          <a:p>
            <a:r>
              <a:rPr lang="en-US" b="1" dirty="0"/>
              <a:t>🖨️ Output:</a:t>
            </a:r>
          </a:p>
          <a:p>
            <a:endParaRPr lang="en-US" dirty="0"/>
          </a:p>
          <a:p>
            <a:pPr rtl="0"/>
            <a:r>
              <a:rPr lang="en-US" dirty="0"/>
              <a:t>The Dog says: woof </a:t>
            </a:r>
            <a:r>
              <a:rPr lang="en-US" dirty="0" err="1"/>
              <a:t>woof</a:t>
            </a:r>
            <a:r>
              <a:rPr lang="en-US" dirty="0"/>
              <a:t> </a:t>
            </a:r>
          </a:p>
          <a:p>
            <a:pPr rtl="0"/>
            <a:r>
              <a:rPr lang="en-US" dirty="0" err="1"/>
              <a:t>Zzz</a:t>
            </a:r>
            <a:endParaRPr lang="en-US" dirty="0"/>
          </a:p>
          <a:p>
            <a:endParaRPr lang="en-US" b="1" dirty="0"/>
          </a:p>
          <a:p>
            <a:r>
              <a:rPr lang="en-US" b="1" dirty="0"/>
              <a:t>Why Use Abstract Classes?</a:t>
            </a:r>
          </a:p>
          <a:p>
            <a:r>
              <a:rPr lang="en-US" dirty="0"/>
              <a:t>They’re useful when:</a:t>
            </a:r>
          </a:p>
          <a:p>
            <a:r>
              <a:rPr lang="en-US" dirty="0"/>
              <a:t>You want to define a </a:t>
            </a:r>
            <a:r>
              <a:rPr lang="en-US" b="1" dirty="0"/>
              <a:t>common base</a:t>
            </a:r>
            <a:r>
              <a:rPr lang="en-US" dirty="0"/>
              <a:t> for many subclasses.</a:t>
            </a:r>
          </a:p>
          <a:p>
            <a:r>
              <a:rPr lang="en-US" dirty="0"/>
              <a:t>Some methods should be </a:t>
            </a:r>
            <a:r>
              <a:rPr lang="en-US" b="1" dirty="0"/>
              <a:t>mandatory to implement</a:t>
            </a:r>
            <a:r>
              <a:rPr lang="en-US" dirty="0"/>
              <a:t>, while others can be </a:t>
            </a:r>
            <a:r>
              <a:rPr lang="en-US" b="1" dirty="0"/>
              <a:t>optional</a:t>
            </a:r>
            <a:r>
              <a:rPr lang="en-US" dirty="0"/>
              <a:t>.</a:t>
            </a:r>
          </a:p>
          <a:p>
            <a:pPr rtl="0"/>
            <a:endParaRPr lang="en-US" dirty="0"/>
          </a:p>
          <a:p>
            <a:endParaRPr lang="en-US" dirty="0"/>
          </a:p>
        </p:txBody>
      </p:sp>
      <p:sp>
        <p:nvSpPr>
          <p:cNvPr id="4" name="Slide Number Placeholder 3"/>
          <p:cNvSpPr>
            <a:spLocks noGrp="1"/>
          </p:cNvSpPr>
          <p:nvPr>
            <p:ph type="sldNum" sz="quarter" idx="10"/>
          </p:nvPr>
        </p:nvSpPr>
        <p:spPr/>
        <p:txBody>
          <a:bodyPr/>
          <a:lstStyle/>
          <a:p>
            <a:fld id="{397CA267-D06A-431D-B321-4E8603C546D8}" type="slidenum">
              <a:rPr lang="en-US" smtClean="0"/>
              <a:t>71</a:t>
            </a:fld>
            <a:endParaRPr lang="en-US"/>
          </a:p>
        </p:txBody>
      </p:sp>
    </p:spTree>
    <p:extLst>
      <p:ext uri="{BB962C8B-B14F-4D97-AF65-F5344CB8AC3E}">
        <p14:creationId xmlns:p14="http://schemas.microsoft.com/office/powerpoint/2010/main" val="40755398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b="1" dirty="0"/>
              <a:t>constructor</a:t>
            </a:r>
            <a:r>
              <a:rPr lang="en-US" dirty="0"/>
              <a:t> is a </a:t>
            </a:r>
            <a:r>
              <a:rPr lang="en-US" b="1" dirty="0"/>
              <a:t>special method</a:t>
            </a:r>
            <a:r>
              <a:rPr lang="en-US" dirty="0"/>
              <a:t> in a class that is </a:t>
            </a:r>
            <a:r>
              <a:rPr lang="en-US" b="1" dirty="0"/>
              <a:t>automatically called</a:t>
            </a:r>
            <a:r>
              <a:rPr lang="en-US" dirty="0"/>
              <a:t> when an object of the class is created. Its main purpose is to </a:t>
            </a:r>
            <a:r>
              <a:rPr lang="en-US" b="1" dirty="0"/>
              <a:t>initialize</a:t>
            </a:r>
            <a:r>
              <a:rPr lang="en-US" dirty="0"/>
              <a:t> the object — for example, setting initial values of fields.</a:t>
            </a:r>
          </a:p>
          <a:p>
            <a:endParaRPr lang="en-US" dirty="0"/>
          </a:p>
          <a:p>
            <a:r>
              <a:rPr lang="en-US" dirty="0"/>
              <a:t>Has the </a:t>
            </a:r>
            <a:r>
              <a:rPr lang="en-US" b="1" dirty="0"/>
              <a:t>same name as the class</a:t>
            </a:r>
            <a:r>
              <a:rPr lang="en-US" dirty="0"/>
              <a:t> (in languages like Java, C++).</a:t>
            </a:r>
          </a:p>
          <a:p>
            <a:r>
              <a:rPr lang="en-US" b="1" dirty="0"/>
              <a:t>No return type</a:t>
            </a:r>
            <a:r>
              <a:rPr lang="en-US" dirty="0"/>
              <a:t>, not even void.</a:t>
            </a:r>
          </a:p>
          <a:p>
            <a:r>
              <a:rPr lang="en-US" dirty="0"/>
              <a:t>Can be </a:t>
            </a:r>
            <a:r>
              <a:rPr lang="en-US" b="1" dirty="0"/>
              <a:t>overloaded</a:t>
            </a:r>
            <a:r>
              <a:rPr lang="en-US" dirty="0"/>
              <a:t> (multiple constructors with different parameters).</a:t>
            </a:r>
          </a:p>
          <a:p>
            <a:r>
              <a:rPr lang="en-US" dirty="0"/>
              <a:t>Can be </a:t>
            </a:r>
            <a:r>
              <a:rPr lang="en-US" b="1" dirty="0"/>
              <a:t>default</a:t>
            </a:r>
            <a:r>
              <a:rPr lang="en-US" dirty="0"/>
              <a:t> (no parameters) or </a:t>
            </a:r>
            <a:r>
              <a:rPr lang="en-US" b="1" dirty="0"/>
              <a:t>parameterized</a:t>
            </a:r>
            <a:r>
              <a:rPr lang="en-US" dirty="0"/>
              <a:t> (takes arguments).</a:t>
            </a:r>
          </a:p>
          <a:p>
            <a:r>
              <a:rPr lang="en-US" dirty="0"/>
              <a:t>In Python, the constructor is always named __</a:t>
            </a:r>
            <a:r>
              <a:rPr lang="en-US" dirty="0" err="1"/>
              <a:t>init</a:t>
            </a:r>
            <a:r>
              <a:rPr lang="en-US" dirty="0"/>
              <a:t>__.</a:t>
            </a:r>
          </a:p>
          <a:p>
            <a:endParaRPr lang="en-US" dirty="0"/>
          </a:p>
          <a:p>
            <a:r>
              <a:rPr lang="en-US" dirty="0" err="1"/>
              <a:t>TypeDescription</a:t>
            </a:r>
            <a:endParaRPr lang="en-US" dirty="0"/>
          </a:p>
          <a:p>
            <a:r>
              <a:rPr lang="en-US" dirty="0"/>
              <a:t>Default </a:t>
            </a:r>
            <a:r>
              <a:rPr lang="en-US" dirty="0" err="1"/>
              <a:t>ConstructorTakes</a:t>
            </a:r>
            <a:r>
              <a:rPr lang="en-US" dirty="0"/>
              <a:t> no parameters, used to set default values</a:t>
            </a:r>
          </a:p>
          <a:p>
            <a:r>
              <a:rPr lang="en-US" dirty="0"/>
              <a:t>Parameterized </a:t>
            </a:r>
            <a:r>
              <a:rPr lang="en-US" dirty="0" err="1"/>
              <a:t>ConstructorTakes</a:t>
            </a:r>
            <a:r>
              <a:rPr lang="en-US" dirty="0"/>
              <a:t> arguments, allows setting custom values</a:t>
            </a:r>
          </a:p>
          <a:p>
            <a:r>
              <a:rPr lang="en-US" dirty="0"/>
              <a:t>Copy Constructor (C++, optional in others)Creates a new object by copying another</a:t>
            </a:r>
          </a:p>
          <a:p>
            <a:endParaRPr lang="en-US" dirty="0"/>
          </a:p>
          <a:p>
            <a:r>
              <a:rPr lang="en-US" b="1" dirty="0"/>
              <a:t>public class Hello </a:t>
            </a:r>
          </a:p>
          <a:p>
            <a:r>
              <a:rPr lang="en-US" b="1" dirty="0"/>
              <a:t>{ </a:t>
            </a:r>
          </a:p>
          <a:p>
            <a:r>
              <a:rPr lang="en-US" b="1" dirty="0"/>
              <a:t>    String name; </a:t>
            </a:r>
          </a:p>
          <a:p>
            <a:r>
              <a:rPr lang="en-US" dirty="0"/>
              <a:t>A class Hello is defined.</a:t>
            </a:r>
          </a:p>
          <a:p>
            <a:endParaRPr lang="en-US" dirty="0"/>
          </a:p>
          <a:p>
            <a:r>
              <a:rPr lang="en-US" dirty="0"/>
              <a:t>It has an instance variable name of type String.</a:t>
            </a:r>
          </a:p>
          <a:p>
            <a:endParaRPr lang="en-US" dirty="0"/>
          </a:p>
          <a:p>
            <a:r>
              <a:rPr lang="en-US" b="1" dirty="0"/>
              <a:t> // Constructor </a:t>
            </a:r>
          </a:p>
          <a:p>
            <a:r>
              <a:rPr lang="en-US" b="1" dirty="0"/>
              <a:t>    Hello() </a:t>
            </a:r>
          </a:p>
          <a:p>
            <a:r>
              <a:rPr lang="en-US" b="1" dirty="0"/>
              <a:t>    { </a:t>
            </a:r>
          </a:p>
          <a:p>
            <a:r>
              <a:rPr lang="en-US" b="1" dirty="0"/>
              <a:t>        this.name = "BeginnersBook.com"; </a:t>
            </a:r>
          </a:p>
          <a:p>
            <a:r>
              <a:rPr lang="en-US" b="1" dirty="0"/>
              <a:t>    } </a:t>
            </a:r>
          </a:p>
          <a:p>
            <a:r>
              <a:rPr lang="en-US" dirty="0"/>
              <a:t>This is a constructor — it’s a special method that runs automatically when an object of the class is created.</a:t>
            </a:r>
          </a:p>
          <a:p>
            <a:endParaRPr lang="en-US" dirty="0"/>
          </a:p>
          <a:p>
            <a:r>
              <a:rPr lang="en-US" dirty="0"/>
              <a:t>this.name refers to the current object’s name variable, and it assigns it the string "BeginnersBook.com".</a:t>
            </a:r>
          </a:p>
          <a:p>
            <a:endParaRPr lang="en-US" dirty="0"/>
          </a:p>
          <a:p>
            <a:r>
              <a:rPr lang="en-US" b="1" dirty="0"/>
              <a:t>public static void main(String[] </a:t>
            </a:r>
            <a:r>
              <a:rPr lang="en-US" b="1" dirty="0" err="1"/>
              <a:t>args</a:t>
            </a:r>
            <a:r>
              <a:rPr lang="en-US" b="1" dirty="0"/>
              <a:t>) </a:t>
            </a:r>
          </a:p>
          <a:p>
            <a:r>
              <a:rPr lang="en-US" b="1" dirty="0"/>
              <a:t>    { </a:t>
            </a:r>
          </a:p>
          <a:p>
            <a:r>
              <a:rPr lang="en-US" b="1" dirty="0"/>
              <a:t>        Hello </a:t>
            </a:r>
            <a:r>
              <a:rPr lang="en-US" b="1" dirty="0" err="1"/>
              <a:t>obj</a:t>
            </a:r>
            <a:r>
              <a:rPr lang="en-US" b="1" dirty="0"/>
              <a:t> = new Hello(); </a:t>
            </a:r>
          </a:p>
          <a:p>
            <a:r>
              <a:rPr lang="en-US" b="1" dirty="0"/>
              <a:t>        </a:t>
            </a:r>
            <a:r>
              <a:rPr lang="en-US" b="1" dirty="0" err="1"/>
              <a:t>System.out.println</a:t>
            </a:r>
            <a:r>
              <a:rPr lang="en-US" b="1" dirty="0"/>
              <a:t>(obj.name);</a:t>
            </a:r>
          </a:p>
          <a:p>
            <a:r>
              <a:rPr lang="en-US" b="1" dirty="0"/>
              <a:t>    }</a:t>
            </a:r>
          </a:p>
          <a:p>
            <a:r>
              <a:rPr lang="en-US" dirty="0"/>
              <a:t>Inside the main method:</a:t>
            </a:r>
          </a:p>
          <a:p>
            <a:endParaRPr lang="en-US" dirty="0"/>
          </a:p>
          <a:p>
            <a:r>
              <a:rPr lang="en-US" dirty="0"/>
              <a:t>A new object </a:t>
            </a:r>
            <a:r>
              <a:rPr lang="en-US" dirty="0" err="1"/>
              <a:t>obj</a:t>
            </a:r>
            <a:r>
              <a:rPr lang="en-US" dirty="0"/>
              <a:t> of class Hello is created.</a:t>
            </a:r>
          </a:p>
          <a:p>
            <a:endParaRPr lang="en-US" dirty="0"/>
          </a:p>
          <a:p>
            <a:r>
              <a:rPr lang="en-US" dirty="0"/>
              <a:t>The constructor is called automatically and sets obj.name to "BeginnersBook.com".</a:t>
            </a:r>
          </a:p>
          <a:p>
            <a:endParaRPr lang="en-US" dirty="0"/>
          </a:p>
          <a:p>
            <a:r>
              <a:rPr lang="en-US" dirty="0" err="1"/>
              <a:t>System.out.println</a:t>
            </a:r>
            <a:r>
              <a:rPr lang="en-US" dirty="0"/>
              <a:t>(obj.name); prints that value.</a:t>
            </a:r>
          </a:p>
          <a:p>
            <a:endParaRPr lang="en-US" dirty="0"/>
          </a:p>
          <a:p>
            <a:r>
              <a:rPr lang="en-US" dirty="0"/>
              <a:t>output</a:t>
            </a:r>
          </a:p>
          <a:p>
            <a:r>
              <a:rPr lang="en-US" b="1" dirty="0"/>
              <a:t>BeginnersBook.com</a:t>
            </a:r>
          </a:p>
          <a:p>
            <a:endParaRPr lang="en-US" dirty="0"/>
          </a:p>
          <a:p>
            <a:r>
              <a:rPr lang="en-US" dirty="0"/>
              <a:t>🧠 Why is this useful?</a:t>
            </a:r>
          </a:p>
          <a:p>
            <a:r>
              <a:rPr lang="en-US" dirty="0"/>
              <a:t>Constructors are commonly used to:</a:t>
            </a:r>
          </a:p>
          <a:p>
            <a:endParaRPr lang="en-US" dirty="0"/>
          </a:p>
          <a:p>
            <a:r>
              <a:rPr lang="en-US" dirty="0"/>
              <a:t>Initialize values when an object is created.</a:t>
            </a:r>
          </a:p>
          <a:p>
            <a:endParaRPr lang="en-US" dirty="0"/>
          </a:p>
          <a:p>
            <a:r>
              <a:rPr lang="en-US" dirty="0"/>
              <a:t>Provide default or custom setups for object creation.</a:t>
            </a:r>
          </a:p>
          <a:p>
            <a:endParaRPr lang="en-US" dirty="0"/>
          </a:p>
          <a:p>
            <a:r>
              <a:rPr lang="en-US" dirty="0"/>
              <a:t>Avoid setting values manually after creating an object.</a:t>
            </a:r>
          </a:p>
        </p:txBody>
      </p:sp>
      <p:sp>
        <p:nvSpPr>
          <p:cNvPr id="4" name="Slide Number Placeholder 3"/>
          <p:cNvSpPr>
            <a:spLocks noGrp="1"/>
          </p:cNvSpPr>
          <p:nvPr>
            <p:ph type="sldNum" sz="quarter" idx="10"/>
          </p:nvPr>
        </p:nvSpPr>
        <p:spPr/>
        <p:txBody>
          <a:bodyPr/>
          <a:lstStyle/>
          <a:p>
            <a:fld id="{397CA267-D06A-431D-B321-4E8603C546D8}" type="slidenum">
              <a:rPr lang="en-US" smtClean="0"/>
              <a:t>72</a:t>
            </a:fld>
            <a:endParaRPr lang="en-US"/>
          </a:p>
        </p:txBody>
      </p:sp>
    </p:spTree>
    <p:extLst>
      <p:ext uri="{BB962C8B-B14F-4D97-AF65-F5344CB8AC3E}">
        <p14:creationId xmlns:p14="http://schemas.microsoft.com/office/powerpoint/2010/main" val="89830676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b="1" dirty="0"/>
              <a:t>concrete class</a:t>
            </a:r>
            <a:r>
              <a:rPr lang="en-US" dirty="0"/>
              <a:t> is a class that has a </a:t>
            </a:r>
            <a:r>
              <a:rPr lang="en-US" b="1" dirty="0"/>
              <a:t>complete implementation</a:t>
            </a:r>
            <a:r>
              <a:rPr lang="en-US" dirty="0"/>
              <a:t> — meaning:</a:t>
            </a:r>
          </a:p>
          <a:p>
            <a:r>
              <a:rPr lang="en-US" dirty="0"/>
              <a:t>✅ All its methods are </a:t>
            </a:r>
            <a:r>
              <a:rPr lang="en-US" b="1" dirty="0"/>
              <a:t>fully defined</a:t>
            </a:r>
            <a:r>
              <a:rPr lang="en-US" dirty="0"/>
              <a:t> (no abstract methods).</a:t>
            </a:r>
            <a:br>
              <a:rPr lang="en-US" dirty="0"/>
            </a:br>
            <a:r>
              <a:rPr lang="en-US" dirty="0"/>
              <a:t>✅ It </a:t>
            </a:r>
            <a:r>
              <a:rPr lang="en-US" b="1" dirty="0"/>
              <a:t>can be instantiated</a:t>
            </a:r>
            <a:r>
              <a:rPr lang="en-US" dirty="0"/>
              <a:t> — you can create objects from it.</a:t>
            </a:r>
            <a:br>
              <a:rPr lang="en-US" dirty="0"/>
            </a:br>
            <a:r>
              <a:rPr lang="en-US" dirty="0"/>
              <a:t>✅ It can </a:t>
            </a:r>
            <a:r>
              <a:rPr lang="en-US" b="1" dirty="0"/>
              <a:t>inherit</a:t>
            </a:r>
            <a:r>
              <a:rPr lang="en-US" dirty="0"/>
              <a:t> from abstract classes or implement interfaces and must provide code for all inherited abstract methods.</a:t>
            </a:r>
          </a:p>
          <a:p>
            <a:r>
              <a:rPr lang="en-US" b="1" dirty="0"/>
              <a:t>🔹 Key Characteristics</a:t>
            </a:r>
          </a:p>
          <a:p>
            <a:r>
              <a:rPr lang="en-US" dirty="0"/>
              <a:t>Can be used to create real objects.</a:t>
            </a:r>
          </a:p>
          <a:p>
            <a:r>
              <a:rPr lang="en-US" dirty="0"/>
              <a:t>Can include fields, methods, constructors, etc.</a:t>
            </a:r>
          </a:p>
          <a:p>
            <a:r>
              <a:rPr lang="en-US" dirty="0"/>
              <a:t>Can </a:t>
            </a:r>
            <a:r>
              <a:rPr lang="en-US" b="1" dirty="0"/>
              <a:t>extend</a:t>
            </a:r>
            <a:r>
              <a:rPr lang="en-US" dirty="0"/>
              <a:t> abstract classes and </a:t>
            </a:r>
            <a:r>
              <a:rPr lang="en-US" b="1" dirty="0"/>
              <a:t>implement</a:t>
            </a:r>
            <a:r>
              <a:rPr lang="en-US" dirty="0"/>
              <a:t> interfaces.</a:t>
            </a:r>
          </a:p>
          <a:p>
            <a:r>
              <a:rPr lang="en-US" dirty="0"/>
              <a:t>Represents actual implementations of behaviors and properties.</a:t>
            </a:r>
          </a:p>
          <a:p>
            <a:endParaRPr lang="en-US" dirty="0"/>
          </a:p>
        </p:txBody>
      </p:sp>
      <p:sp>
        <p:nvSpPr>
          <p:cNvPr id="4" name="Slide Number Placeholder 3"/>
          <p:cNvSpPr>
            <a:spLocks noGrp="1"/>
          </p:cNvSpPr>
          <p:nvPr>
            <p:ph type="sldNum" sz="quarter" idx="10"/>
          </p:nvPr>
        </p:nvSpPr>
        <p:spPr/>
        <p:txBody>
          <a:bodyPr/>
          <a:lstStyle/>
          <a:p>
            <a:fld id="{397CA267-D06A-431D-B321-4E8603C546D8}" type="slidenum">
              <a:rPr lang="en-US" smtClean="0"/>
              <a:t>73</a:t>
            </a:fld>
            <a:endParaRPr lang="en-US"/>
          </a:p>
        </p:txBody>
      </p:sp>
    </p:spTree>
    <p:extLst>
      <p:ext uri="{BB962C8B-B14F-4D97-AF65-F5344CB8AC3E}">
        <p14:creationId xmlns:p14="http://schemas.microsoft.com/office/powerpoint/2010/main" val="1538154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Java program that defines a </a:t>
            </a:r>
            <a:r>
              <a:rPr lang="en-US" b="1" dirty="0"/>
              <a:t>concrete class</a:t>
            </a:r>
            <a:r>
              <a:rPr lang="en-US" dirty="0"/>
              <a:t> named Main. It includes:</a:t>
            </a:r>
          </a:p>
          <a:p>
            <a:r>
              <a:rPr lang="en-US" dirty="0"/>
              <a:t>Two </a:t>
            </a:r>
            <a:r>
              <a:rPr lang="en-US" b="1" dirty="0"/>
              <a:t>static methods</a:t>
            </a:r>
            <a:r>
              <a:rPr lang="en-US" dirty="0"/>
              <a:t>:</a:t>
            </a:r>
          </a:p>
          <a:p>
            <a:pPr lvl="1"/>
            <a:r>
              <a:rPr lang="en-US" dirty="0"/>
              <a:t>product(</a:t>
            </a:r>
            <a:r>
              <a:rPr lang="en-US" dirty="0" err="1"/>
              <a:t>int</a:t>
            </a:r>
            <a:r>
              <a:rPr lang="en-US" dirty="0"/>
              <a:t> a, </a:t>
            </a:r>
            <a:r>
              <a:rPr lang="en-US" dirty="0" err="1"/>
              <a:t>int</a:t>
            </a:r>
            <a:r>
              <a:rPr lang="en-US" dirty="0"/>
              <a:t> b) → multiplies two integers.</a:t>
            </a:r>
          </a:p>
          <a:p>
            <a:pPr lvl="1"/>
            <a:r>
              <a:rPr lang="en-US" dirty="0"/>
              <a:t>sum(</a:t>
            </a:r>
            <a:r>
              <a:rPr lang="en-US" dirty="0" err="1"/>
              <a:t>int</a:t>
            </a:r>
            <a:r>
              <a:rPr lang="en-US" dirty="0"/>
              <a:t> a, </a:t>
            </a:r>
            <a:r>
              <a:rPr lang="en-US" dirty="0" err="1"/>
              <a:t>int</a:t>
            </a:r>
            <a:r>
              <a:rPr lang="en-US" dirty="0"/>
              <a:t> b) → adds two integers.</a:t>
            </a:r>
          </a:p>
          <a:p>
            <a:r>
              <a:rPr lang="en-US" dirty="0"/>
              <a:t>A main method that calls these methods and prints the results.</a:t>
            </a:r>
          </a:p>
          <a:p>
            <a:endParaRPr lang="en-US" dirty="0"/>
          </a:p>
          <a:p>
            <a:r>
              <a:rPr lang="en-US" b="1" dirty="0"/>
              <a:t>class Main {</a:t>
            </a:r>
          </a:p>
          <a:p>
            <a:r>
              <a:rPr lang="en-US" dirty="0"/>
              <a:t>This is a concrete class — it's complete and can be used directly (you can create objects or call static methods from it).</a:t>
            </a:r>
          </a:p>
          <a:p>
            <a:endParaRPr lang="en-US" dirty="0"/>
          </a:p>
          <a:p>
            <a:r>
              <a:rPr lang="en-US" b="1" dirty="0"/>
              <a:t>static </a:t>
            </a:r>
            <a:r>
              <a:rPr lang="en-US" b="1" dirty="0" err="1"/>
              <a:t>int</a:t>
            </a:r>
            <a:r>
              <a:rPr lang="en-US" b="1" dirty="0"/>
              <a:t> product(</a:t>
            </a:r>
            <a:r>
              <a:rPr lang="en-US" b="1" dirty="0" err="1"/>
              <a:t>int</a:t>
            </a:r>
            <a:r>
              <a:rPr lang="en-US" b="1" dirty="0"/>
              <a:t> a, </a:t>
            </a:r>
            <a:r>
              <a:rPr lang="en-US" b="1" dirty="0" err="1"/>
              <a:t>int</a:t>
            </a:r>
            <a:r>
              <a:rPr lang="en-US" b="1" dirty="0"/>
              <a:t> b) {</a:t>
            </a:r>
          </a:p>
          <a:p>
            <a:r>
              <a:rPr lang="en-US" b="1" dirty="0"/>
              <a:t>    return a * b;</a:t>
            </a:r>
          </a:p>
          <a:p>
            <a:r>
              <a:rPr lang="en-US" b="1" dirty="0"/>
              <a:t>}</a:t>
            </a:r>
          </a:p>
          <a:p>
            <a:r>
              <a:rPr lang="en-US" dirty="0"/>
              <a:t>This method multiplies two integers and returns the result.</a:t>
            </a:r>
          </a:p>
          <a:p>
            <a:endParaRPr lang="en-US" dirty="0"/>
          </a:p>
          <a:p>
            <a:r>
              <a:rPr lang="en-US" b="1" dirty="0"/>
              <a:t>static </a:t>
            </a:r>
            <a:r>
              <a:rPr lang="en-US" b="1" dirty="0" err="1"/>
              <a:t>int</a:t>
            </a:r>
            <a:r>
              <a:rPr lang="en-US" b="1" dirty="0"/>
              <a:t> sum(</a:t>
            </a:r>
            <a:r>
              <a:rPr lang="en-US" b="1" dirty="0" err="1"/>
              <a:t>int</a:t>
            </a:r>
            <a:r>
              <a:rPr lang="en-US" b="1" dirty="0"/>
              <a:t> a, </a:t>
            </a:r>
            <a:r>
              <a:rPr lang="en-US" b="1" dirty="0" err="1"/>
              <a:t>int</a:t>
            </a:r>
            <a:r>
              <a:rPr lang="en-US" b="1" dirty="0"/>
              <a:t> b) {</a:t>
            </a:r>
          </a:p>
          <a:p>
            <a:r>
              <a:rPr lang="en-US" b="1" dirty="0"/>
              <a:t>    return a + b;</a:t>
            </a:r>
          </a:p>
          <a:p>
            <a:r>
              <a:rPr lang="en-US" b="1" dirty="0"/>
              <a:t>}</a:t>
            </a:r>
          </a:p>
          <a:p>
            <a:r>
              <a:rPr lang="en-US" dirty="0"/>
              <a:t>This method adds two integers and returns the result.</a:t>
            </a:r>
          </a:p>
          <a:p>
            <a:endParaRPr lang="en-US" dirty="0"/>
          </a:p>
          <a:p>
            <a:r>
              <a:rPr lang="en-US" b="1" dirty="0"/>
              <a:t>public static void main(String </a:t>
            </a:r>
            <a:r>
              <a:rPr lang="en-US" b="1" dirty="0" err="1"/>
              <a:t>args</a:t>
            </a:r>
            <a:r>
              <a:rPr lang="en-US" b="1" dirty="0"/>
              <a:t>[]) {</a:t>
            </a:r>
          </a:p>
          <a:p>
            <a:r>
              <a:rPr lang="en-US" b="1" dirty="0"/>
              <a:t>    </a:t>
            </a:r>
            <a:r>
              <a:rPr lang="en-US" b="1" dirty="0" err="1"/>
              <a:t>int</a:t>
            </a:r>
            <a:r>
              <a:rPr lang="en-US" b="1" dirty="0"/>
              <a:t> p = product(5, 10);   // calls the product method: 5 * 10 = 50</a:t>
            </a:r>
          </a:p>
          <a:p>
            <a:r>
              <a:rPr lang="en-US" b="1" dirty="0"/>
              <a:t>    </a:t>
            </a:r>
            <a:r>
              <a:rPr lang="en-US" b="1" dirty="0" err="1"/>
              <a:t>int</a:t>
            </a:r>
            <a:r>
              <a:rPr lang="en-US" b="1" dirty="0"/>
              <a:t> s = sum(5, 10);       // calls the sum method: 5 + 10 = 15</a:t>
            </a:r>
          </a:p>
          <a:p>
            <a:r>
              <a:rPr lang="en-US" dirty="0"/>
              <a:t>The main method is the entry point.</a:t>
            </a:r>
          </a:p>
          <a:p>
            <a:endParaRPr lang="en-US" dirty="0"/>
          </a:p>
          <a:p>
            <a:r>
              <a:rPr lang="en-US" dirty="0"/>
              <a:t>It calls both methods with 5 and 10 as arguments.</a:t>
            </a:r>
          </a:p>
          <a:p>
            <a:endParaRPr lang="en-US" dirty="0"/>
          </a:p>
          <a:p>
            <a:r>
              <a:rPr lang="en-US" dirty="0"/>
              <a:t>Stores the results in variables p (product) and s (sum).</a:t>
            </a:r>
          </a:p>
          <a:p>
            <a:endParaRPr lang="en-US" dirty="0"/>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397CA267-D06A-431D-B321-4E8603C546D8}" type="slidenum">
              <a:rPr lang="en-US" smtClean="0"/>
              <a:t>74</a:t>
            </a:fld>
            <a:endParaRPr lang="en-US"/>
          </a:p>
        </p:txBody>
      </p:sp>
    </p:spTree>
    <p:extLst>
      <p:ext uri="{BB962C8B-B14F-4D97-AF65-F5344CB8AC3E}">
        <p14:creationId xmlns:p14="http://schemas.microsoft.com/office/powerpoint/2010/main" val="46795802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b="1" dirty="0"/>
              <a:t>concrete method</a:t>
            </a:r>
            <a:r>
              <a:rPr lang="en-US" dirty="0"/>
              <a:t> is a </a:t>
            </a:r>
            <a:r>
              <a:rPr lang="en-US" b="1" dirty="0"/>
              <a:t>fully implemented method</a:t>
            </a:r>
            <a:r>
              <a:rPr lang="en-US" dirty="0"/>
              <a:t> — it has both a </a:t>
            </a:r>
            <a:r>
              <a:rPr lang="en-US" b="1" dirty="0"/>
              <a:t>name</a:t>
            </a:r>
            <a:r>
              <a:rPr lang="en-US" dirty="0"/>
              <a:t>, </a:t>
            </a:r>
            <a:r>
              <a:rPr lang="en-US" b="1" dirty="0"/>
              <a:t>parameters</a:t>
            </a:r>
            <a:r>
              <a:rPr lang="en-US" dirty="0"/>
              <a:t>, and a </a:t>
            </a:r>
            <a:r>
              <a:rPr lang="en-US" b="1" dirty="0"/>
              <a:t>body</a:t>
            </a:r>
            <a:r>
              <a:rPr lang="en-US" dirty="0"/>
              <a:t> (code that performs an action).</a:t>
            </a:r>
          </a:p>
          <a:p>
            <a:r>
              <a:rPr lang="en-US" dirty="0"/>
              <a:t>You can </a:t>
            </a:r>
            <a:r>
              <a:rPr lang="en-US" b="1" dirty="0"/>
              <a:t>call it directly</a:t>
            </a:r>
            <a:r>
              <a:rPr lang="en-US" dirty="0"/>
              <a:t>, and it does something when called.</a:t>
            </a:r>
          </a:p>
          <a:p>
            <a:r>
              <a:rPr lang="en-US" b="1" dirty="0"/>
              <a:t>Characteristics:</a:t>
            </a:r>
          </a:p>
          <a:p>
            <a:r>
              <a:rPr lang="en-US" dirty="0"/>
              <a:t>Belongs to a </a:t>
            </a:r>
            <a:r>
              <a:rPr lang="en-US" b="1" dirty="0"/>
              <a:t>class</a:t>
            </a:r>
            <a:r>
              <a:rPr lang="en-US" dirty="0"/>
              <a:t> (can be in regular or abstract classes).</a:t>
            </a:r>
          </a:p>
          <a:p>
            <a:r>
              <a:rPr lang="en-US" dirty="0"/>
              <a:t>Has a </a:t>
            </a:r>
            <a:r>
              <a:rPr lang="en-US" b="1" dirty="0"/>
              <a:t>body with logic</a:t>
            </a:r>
            <a:r>
              <a:rPr lang="en-US" dirty="0"/>
              <a:t>.</a:t>
            </a:r>
          </a:p>
          <a:p>
            <a:r>
              <a:rPr lang="en-US" dirty="0"/>
              <a:t>Unlike </a:t>
            </a:r>
            <a:r>
              <a:rPr lang="en-US" b="1" dirty="0"/>
              <a:t>abstract methods</a:t>
            </a:r>
            <a:r>
              <a:rPr lang="en-US" dirty="0"/>
              <a:t>, it is </a:t>
            </a:r>
            <a:r>
              <a:rPr lang="en-US" b="1" dirty="0"/>
              <a:t>not abstract</a:t>
            </a:r>
            <a:r>
              <a:rPr lang="en-US" dirty="0"/>
              <a:t>.</a:t>
            </a:r>
          </a:p>
          <a:p>
            <a:r>
              <a:rPr lang="en-US" dirty="0"/>
              <a:t>Can be </a:t>
            </a:r>
            <a:r>
              <a:rPr lang="en-US" b="1" dirty="0"/>
              <a:t>inherited</a:t>
            </a:r>
            <a:r>
              <a:rPr lang="en-US" dirty="0"/>
              <a:t> or </a:t>
            </a:r>
            <a:r>
              <a:rPr lang="en-US" b="1" dirty="0"/>
              <a:t>overridden</a:t>
            </a:r>
            <a:r>
              <a:rPr lang="en-US" dirty="0"/>
              <a:t> by subclasses.</a:t>
            </a:r>
          </a:p>
          <a:p>
            <a:endParaRPr lang="en-US" dirty="0"/>
          </a:p>
          <a:p>
            <a:endParaRPr lang="en-US" dirty="0"/>
          </a:p>
        </p:txBody>
      </p:sp>
      <p:sp>
        <p:nvSpPr>
          <p:cNvPr id="4" name="Slide Number Placeholder 3"/>
          <p:cNvSpPr>
            <a:spLocks noGrp="1"/>
          </p:cNvSpPr>
          <p:nvPr>
            <p:ph type="sldNum" sz="quarter" idx="10"/>
          </p:nvPr>
        </p:nvSpPr>
        <p:spPr/>
        <p:txBody>
          <a:bodyPr/>
          <a:lstStyle/>
          <a:p>
            <a:fld id="{397CA267-D06A-431D-B321-4E8603C546D8}" type="slidenum">
              <a:rPr lang="en-US" smtClean="0"/>
              <a:t>75</a:t>
            </a:fld>
            <a:endParaRPr lang="en-US"/>
          </a:p>
        </p:txBody>
      </p:sp>
    </p:spTree>
    <p:extLst>
      <p:ext uri="{BB962C8B-B14F-4D97-AF65-F5344CB8AC3E}">
        <p14:creationId xmlns:p14="http://schemas.microsoft.com/office/powerpoint/2010/main" val="144784779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abstract class Animal</a:t>
            </a:r>
          </a:p>
          <a:p>
            <a:r>
              <a:rPr lang="en-US" dirty="0"/>
              <a:t>This is an </a:t>
            </a:r>
            <a:r>
              <a:rPr lang="en-US" b="1" dirty="0"/>
              <a:t>abstract class</a:t>
            </a:r>
            <a:r>
              <a:rPr lang="en-US" dirty="0"/>
              <a:t> — you </a:t>
            </a:r>
            <a:r>
              <a:rPr lang="en-US" b="1" dirty="0"/>
              <a:t>cannot create</a:t>
            </a:r>
            <a:r>
              <a:rPr lang="en-US" dirty="0"/>
              <a:t> objects directly from it.</a:t>
            </a:r>
          </a:p>
          <a:p>
            <a:r>
              <a:rPr lang="en-US" dirty="0"/>
              <a:t>It contains:</a:t>
            </a:r>
          </a:p>
          <a:p>
            <a:pPr lvl="1"/>
            <a:r>
              <a:rPr lang="en-US" b="1" dirty="0"/>
              <a:t>A concrete method: sleep(), which has an implementation.</a:t>
            </a:r>
          </a:p>
          <a:p>
            <a:pPr lvl="1"/>
            <a:endParaRPr lang="en-US" dirty="0"/>
          </a:p>
          <a:p>
            <a:pPr lvl="1"/>
            <a:r>
              <a:rPr lang="en-US" dirty="0"/>
              <a:t>An </a:t>
            </a:r>
            <a:r>
              <a:rPr lang="en-US" b="1" dirty="0"/>
              <a:t>abstract method</a:t>
            </a:r>
            <a:r>
              <a:rPr lang="en-US" dirty="0"/>
              <a:t>: </a:t>
            </a:r>
            <a:r>
              <a:rPr lang="en-US" dirty="0" err="1"/>
              <a:t>makeSound</a:t>
            </a:r>
            <a:r>
              <a:rPr lang="en-US" dirty="0"/>
              <a:t>(), which has no body — it </a:t>
            </a:r>
            <a:r>
              <a:rPr lang="en-US" b="1" dirty="0"/>
              <a:t>must</a:t>
            </a:r>
            <a:r>
              <a:rPr lang="en-US" dirty="0"/>
              <a:t> be implemented in a subclass.</a:t>
            </a:r>
          </a:p>
          <a:p>
            <a:pPr lvl="1"/>
            <a:endParaRPr lang="en-US" dirty="0"/>
          </a:p>
          <a:p>
            <a:r>
              <a:rPr lang="en-US" b="1" dirty="0"/>
              <a:t>2. class Dog extends Animal</a:t>
            </a:r>
          </a:p>
          <a:p>
            <a:r>
              <a:rPr lang="en-US" dirty="0"/>
              <a:t>Dog is a </a:t>
            </a:r>
            <a:r>
              <a:rPr lang="en-US" b="1" dirty="0"/>
              <a:t>subclass</a:t>
            </a:r>
            <a:r>
              <a:rPr lang="en-US" dirty="0"/>
              <a:t> of Animal. It </a:t>
            </a:r>
            <a:r>
              <a:rPr lang="en-US" b="1" dirty="0"/>
              <a:t>inherits</a:t>
            </a:r>
            <a:r>
              <a:rPr lang="en-US" dirty="0"/>
              <a:t> everything from Animal.</a:t>
            </a:r>
          </a:p>
          <a:p>
            <a:r>
              <a:rPr lang="en-US" dirty="0"/>
              <a:t>Since Animal has an abstract method </a:t>
            </a:r>
            <a:r>
              <a:rPr lang="en-US" dirty="0" err="1"/>
              <a:t>makeSound</a:t>
            </a:r>
            <a:r>
              <a:rPr lang="en-US" dirty="0"/>
              <a:t>(), Dog </a:t>
            </a:r>
            <a:r>
              <a:rPr lang="en-US" b="1" dirty="0"/>
              <a:t>must implement</a:t>
            </a:r>
            <a:r>
              <a:rPr lang="en-US" dirty="0"/>
              <a:t> it.</a:t>
            </a:r>
          </a:p>
          <a:p>
            <a:r>
              <a:rPr lang="en-US" dirty="0"/>
              <a:t>Dog provides its own version of </a:t>
            </a:r>
            <a:r>
              <a:rPr lang="en-US" dirty="0" err="1"/>
              <a:t>makeSound</a:t>
            </a:r>
            <a:r>
              <a:rPr lang="en-US" dirty="0"/>
              <a:t>() which prints "Woof!".</a:t>
            </a:r>
          </a:p>
          <a:p>
            <a:r>
              <a:rPr lang="en-US" b="1" dirty="0"/>
              <a:t>3. public class Main { ... }</a:t>
            </a:r>
          </a:p>
          <a:p>
            <a:r>
              <a:rPr lang="en-US" dirty="0"/>
              <a:t>This is the class with the main() method — the entry point of the program.</a:t>
            </a:r>
          </a:p>
          <a:p>
            <a:r>
              <a:rPr lang="en-US" dirty="0"/>
              <a:t>Inside main():</a:t>
            </a:r>
          </a:p>
          <a:p>
            <a:endParaRPr lang="en-US" dirty="0"/>
          </a:p>
          <a:p>
            <a:pPr rtl="0"/>
            <a:r>
              <a:rPr lang="en-US" b="1" dirty="0"/>
              <a:t>Dog d = new Dog(); </a:t>
            </a:r>
          </a:p>
          <a:p>
            <a:pPr lvl="1"/>
            <a:r>
              <a:rPr lang="en-US" dirty="0"/>
              <a:t>Creates a new Dog object.</a:t>
            </a:r>
          </a:p>
          <a:p>
            <a:pPr rtl="0"/>
            <a:endParaRPr lang="en-US" dirty="0"/>
          </a:p>
          <a:p>
            <a:pPr rtl="0"/>
            <a:r>
              <a:rPr lang="en-US" b="1" dirty="0" err="1"/>
              <a:t>d.makeSound</a:t>
            </a:r>
            <a:r>
              <a:rPr lang="en-US" b="1" dirty="0"/>
              <a:t>(); // Calls Dog's method </a:t>
            </a:r>
          </a:p>
          <a:p>
            <a:pPr lvl="1"/>
            <a:r>
              <a:rPr lang="en-US" dirty="0"/>
              <a:t>Executes the </a:t>
            </a:r>
            <a:r>
              <a:rPr lang="en-US" dirty="0" err="1"/>
              <a:t>makeSound</a:t>
            </a:r>
            <a:r>
              <a:rPr lang="en-US" dirty="0"/>
              <a:t>() method → prints "Woof!"</a:t>
            </a:r>
          </a:p>
          <a:p>
            <a:pPr rtl="0"/>
            <a:endParaRPr lang="en-US" dirty="0"/>
          </a:p>
          <a:p>
            <a:pPr rtl="0"/>
            <a:endParaRPr lang="en-US" dirty="0"/>
          </a:p>
          <a:p>
            <a:pPr rtl="0"/>
            <a:r>
              <a:rPr lang="en-US" b="1" dirty="0" err="1"/>
              <a:t>d.sleep</a:t>
            </a:r>
            <a:r>
              <a:rPr lang="en-US" b="1" dirty="0"/>
              <a:t>(); // Inherited from Animal </a:t>
            </a:r>
          </a:p>
          <a:p>
            <a:pPr lvl="1"/>
            <a:r>
              <a:rPr lang="en-US" dirty="0"/>
              <a:t>Executes the sleep() method from the parent class → prints "</a:t>
            </a:r>
            <a:r>
              <a:rPr lang="en-US" dirty="0" err="1"/>
              <a:t>Zzz</a:t>
            </a:r>
            <a:r>
              <a:rPr lang="en-US" dirty="0"/>
              <a:t>"</a:t>
            </a:r>
          </a:p>
          <a:p>
            <a:endParaRPr lang="en-US" b="1" dirty="0"/>
          </a:p>
          <a:p>
            <a:r>
              <a:rPr lang="en-US" b="1" dirty="0"/>
              <a:t>Output of the Program:</a:t>
            </a:r>
          </a:p>
          <a:p>
            <a:r>
              <a:rPr lang="en-US" dirty="0" err="1"/>
              <a:t>CopyEdit</a:t>
            </a:r>
            <a:endParaRPr lang="en-US" dirty="0"/>
          </a:p>
          <a:p>
            <a:pPr rtl="0"/>
            <a:r>
              <a:rPr lang="en-US" dirty="0"/>
              <a:t>Woof! </a:t>
            </a:r>
            <a:r>
              <a:rPr lang="en-US" dirty="0" err="1"/>
              <a:t>Zzz</a:t>
            </a:r>
            <a:endParaRPr lang="en-US" dirty="0"/>
          </a:p>
          <a:p>
            <a:endParaRPr lang="en-US" dirty="0"/>
          </a:p>
        </p:txBody>
      </p:sp>
      <p:sp>
        <p:nvSpPr>
          <p:cNvPr id="4" name="Slide Number Placeholder 3"/>
          <p:cNvSpPr>
            <a:spLocks noGrp="1"/>
          </p:cNvSpPr>
          <p:nvPr>
            <p:ph type="sldNum" sz="quarter" idx="10"/>
          </p:nvPr>
        </p:nvSpPr>
        <p:spPr/>
        <p:txBody>
          <a:bodyPr/>
          <a:lstStyle/>
          <a:p>
            <a:fld id="{397CA267-D06A-431D-B321-4E8603C546D8}" type="slidenum">
              <a:rPr lang="en-US" smtClean="0"/>
              <a:t>76</a:t>
            </a:fld>
            <a:endParaRPr lang="en-US"/>
          </a:p>
        </p:txBody>
      </p:sp>
    </p:spTree>
    <p:extLst>
      <p:ext uri="{BB962C8B-B14F-4D97-AF65-F5344CB8AC3E}">
        <p14:creationId xmlns:p14="http://schemas.microsoft.com/office/powerpoint/2010/main" val="9932957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 </a:t>
            </a:r>
            <a:r>
              <a:rPr lang="en-US" b="1" dirty="0"/>
              <a:t>interface</a:t>
            </a:r>
            <a:r>
              <a:rPr lang="en-US" dirty="0"/>
              <a:t> is a </a:t>
            </a:r>
            <a:r>
              <a:rPr lang="en-US" b="1" dirty="0"/>
              <a:t>contract</a:t>
            </a:r>
            <a:r>
              <a:rPr lang="en-US" dirty="0"/>
              <a:t> or </a:t>
            </a:r>
            <a:r>
              <a:rPr lang="en-US" b="1" dirty="0"/>
              <a:t>blueprint</a:t>
            </a:r>
            <a:r>
              <a:rPr lang="en-US" dirty="0"/>
              <a:t> that defines a set of </a:t>
            </a:r>
            <a:r>
              <a:rPr lang="en-US" b="1" dirty="0"/>
              <a:t>methods</a:t>
            </a:r>
            <a:r>
              <a:rPr lang="en-US" dirty="0"/>
              <a:t> (and sometimes properties) that a class must implement.</a:t>
            </a:r>
          </a:p>
          <a:p>
            <a:r>
              <a:rPr lang="en-US" dirty="0"/>
              <a:t>It contains </a:t>
            </a:r>
            <a:r>
              <a:rPr lang="en-US" b="1" dirty="0"/>
              <a:t>only method signatures</a:t>
            </a:r>
            <a:r>
              <a:rPr lang="en-US" dirty="0"/>
              <a:t> (no implementation — unless you're in a modern language that allows default methods).</a:t>
            </a:r>
          </a:p>
          <a:p>
            <a:r>
              <a:rPr lang="en-US" dirty="0"/>
              <a:t>A class that </a:t>
            </a:r>
            <a:r>
              <a:rPr lang="en-US" b="1" dirty="0"/>
              <a:t>implements</a:t>
            </a:r>
            <a:r>
              <a:rPr lang="en-US" dirty="0"/>
              <a:t> an interface must provide code for </a:t>
            </a:r>
            <a:r>
              <a:rPr lang="en-US" b="1" dirty="0"/>
              <a:t>all its methods</a:t>
            </a:r>
            <a:r>
              <a:rPr lang="en-US" dirty="0"/>
              <a:t>.</a:t>
            </a:r>
          </a:p>
          <a:p>
            <a:endParaRPr lang="en-US" dirty="0"/>
          </a:p>
        </p:txBody>
      </p:sp>
      <p:sp>
        <p:nvSpPr>
          <p:cNvPr id="4" name="Slide Number Placeholder 3"/>
          <p:cNvSpPr>
            <a:spLocks noGrp="1"/>
          </p:cNvSpPr>
          <p:nvPr>
            <p:ph type="sldNum" sz="quarter" idx="10"/>
          </p:nvPr>
        </p:nvSpPr>
        <p:spPr/>
        <p:txBody>
          <a:bodyPr/>
          <a:lstStyle/>
          <a:p>
            <a:fld id="{397CA267-D06A-431D-B321-4E8603C546D8}" type="slidenum">
              <a:rPr lang="en-US" smtClean="0"/>
              <a:t>78</a:t>
            </a:fld>
            <a:endParaRPr lang="en-US"/>
          </a:p>
        </p:txBody>
      </p:sp>
    </p:spTree>
    <p:extLst>
      <p:ext uri="{BB962C8B-B14F-4D97-AF65-F5344CB8AC3E}">
        <p14:creationId xmlns:p14="http://schemas.microsoft.com/office/powerpoint/2010/main" val="348581122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the Code Does:</a:t>
            </a:r>
          </a:p>
          <a:p>
            <a:r>
              <a:rPr lang="en-US" dirty="0"/>
              <a:t>Defines an interface Animal with two methods: </a:t>
            </a:r>
            <a:r>
              <a:rPr lang="en-US" dirty="0" err="1"/>
              <a:t>animalSound</a:t>
            </a:r>
            <a:r>
              <a:rPr lang="en-US" dirty="0"/>
              <a:t>() and sleep().</a:t>
            </a:r>
          </a:p>
          <a:p>
            <a:r>
              <a:rPr lang="en-US" dirty="0"/>
              <a:t>A class Dog implements the Animal interface </a:t>
            </a:r>
          </a:p>
          <a:p>
            <a:r>
              <a:rPr lang="en-US" dirty="0"/>
              <a:t>and </a:t>
            </a:r>
            <a:r>
              <a:rPr lang="en-US" b="1" dirty="0"/>
              <a:t>provides concrete implementations</a:t>
            </a:r>
            <a:r>
              <a:rPr lang="en-US" dirty="0"/>
              <a:t> for those two methods.</a:t>
            </a:r>
          </a:p>
          <a:p>
            <a:r>
              <a:rPr lang="en-US" dirty="0"/>
              <a:t>In </a:t>
            </a:r>
            <a:r>
              <a:rPr lang="en-US" dirty="0" err="1"/>
              <a:t>MyMainClass</a:t>
            </a:r>
            <a:r>
              <a:rPr lang="en-US" dirty="0"/>
              <a:t>, it creates a Dog object and calls both methods.</a:t>
            </a:r>
          </a:p>
          <a:p>
            <a:endParaRPr lang="en-US" dirty="0"/>
          </a:p>
          <a:p>
            <a:r>
              <a:rPr lang="en-US" dirty="0"/>
              <a:t>Output</a:t>
            </a:r>
          </a:p>
          <a:p>
            <a:r>
              <a:rPr lang="en-US" dirty="0"/>
              <a:t>The Dog says: woof</a:t>
            </a:r>
            <a:r>
              <a:rPr lang="en-US" baseline="0" dirty="0"/>
              <a:t> </a:t>
            </a:r>
            <a:r>
              <a:rPr lang="en-US" baseline="0" dirty="0" err="1"/>
              <a:t>woof</a:t>
            </a:r>
            <a:endParaRPr lang="en-US" dirty="0"/>
          </a:p>
          <a:p>
            <a:r>
              <a:rPr lang="en-US" dirty="0" err="1"/>
              <a:t>Zzz</a:t>
            </a:r>
            <a:endParaRPr lang="en-US" dirty="0"/>
          </a:p>
          <a:p>
            <a:endParaRPr lang="en-US" dirty="0"/>
          </a:p>
          <a:p>
            <a:endParaRPr lang="en-US" dirty="0"/>
          </a:p>
          <a:p>
            <a:r>
              <a:rPr lang="en-US" dirty="0"/>
              <a:t>Why </a:t>
            </a:r>
            <a:r>
              <a:rPr lang="en-US" dirty="0" err="1"/>
              <a:t>thi</a:t>
            </a:r>
            <a:r>
              <a:rPr lang="en-US" dirty="0"/>
              <a:t> happens:</a:t>
            </a:r>
          </a:p>
          <a:p>
            <a:r>
              <a:rPr lang="en-US" dirty="0"/>
              <a:t>The interface Animal forces Dog to implement the behavior.</a:t>
            </a:r>
          </a:p>
          <a:p>
            <a:r>
              <a:rPr lang="en-US" dirty="0" err="1"/>
              <a:t>myDog.animalSound</a:t>
            </a:r>
            <a:r>
              <a:rPr lang="en-US" dirty="0"/>
              <a:t>() calls the overridden method in Dog.</a:t>
            </a:r>
          </a:p>
          <a:p>
            <a:r>
              <a:rPr lang="en-US" dirty="0" err="1"/>
              <a:t>myDog.sleep</a:t>
            </a:r>
            <a:r>
              <a:rPr lang="en-US" dirty="0"/>
              <a:t>() does the same for the sleep() method.</a:t>
            </a:r>
          </a:p>
          <a:p>
            <a:endParaRPr lang="en-US" dirty="0"/>
          </a:p>
        </p:txBody>
      </p:sp>
      <p:sp>
        <p:nvSpPr>
          <p:cNvPr id="4" name="Slide Number Placeholder 3"/>
          <p:cNvSpPr>
            <a:spLocks noGrp="1"/>
          </p:cNvSpPr>
          <p:nvPr>
            <p:ph type="sldNum" sz="quarter" idx="10"/>
          </p:nvPr>
        </p:nvSpPr>
        <p:spPr/>
        <p:txBody>
          <a:bodyPr/>
          <a:lstStyle/>
          <a:p>
            <a:fld id="{397CA267-D06A-431D-B321-4E8603C546D8}" type="slidenum">
              <a:rPr lang="en-US" smtClean="0"/>
              <a:t>79</a:t>
            </a:fld>
            <a:endParaRPr lang="en-US"/>
          </a:p>
        </p:txBody>
      </p:sp>
    </p:spTree>
    <p:extLst>
      <p:ext uri="{BB962C8B-B14F-4D97-AF65-F5344CB8AC3E}">
        <p14:creationId xmlns:p14="http://schemas.microsoft.com/office/powerpoint/2010/main" val="356082419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8B8CC4-9C71-4E44-80F1-A32EBA987895}" type="slidenum">
              <a:rPr lang="en-US" smtClean="0"/>
              <a:t>81</a:t>
            </a:fld>
            <a:endParaRPr lang="en-US"/>
          </a:p>
        </p:txBody>
      </p:sp>
    </p:spTree>
    <p:extLst>
      <p:ext uri="{BB962C8B-B14F-4D97-AF65-F5344CB8AC3E}">
        <p14:creationId xmlns:p14="http://schemas.microsoft.com/office/powerpoint/2010/main" val="41189127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47274624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64610828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Applicability</a:t>
            </a:r>
          </a:p>
          <a:p>
            <a:r>
              <a:rPr lang="en-US" sz="1200" b="1" i="0" kern="1200" dirty="0">
                <a:solidFill>
                  <a:schemeClr val="tx1"/>
                </a:solidFill>
                <a:effectLst/>
                <a:latin typeface="+mn-lt"/>
                <a:ea typeface="+mn-ea"/>
                <a:cs typeface="+mn-cs"/>
              </a:rPr>
              <a:t> Use the Factory Method when you don’t know beforehand the exact types and dependencies of the objects your code should work with.</a:t>
            </a:r>
          </a:p>
          <a:p>
            <a:r>
              <a:rPr lang="en-US" sz="1200" b="0" i="0" kern="1200" dirty="0">
                <a:solidFill>
                  <a:schemeClr val="tx1"/>
                </a:solidFill>
                <a:effectLst/>
                <a:latin typeface="+mn-lt"/>
                <a:ea typeface="+mn-ea"/>
                <a:cs typeface="+mn-cs"/>
              </a:rPr>
              <a:t> The Factory Method separates product construction code from the code that actually uses the product. Therefore it’s easier to extend the product construction code independently from the rest of the code.</a:t>
            </a:r>
          </a:p>
          <a:p>
            <a:r>
              <a:rPr lang="en-US" sz="1200" b="0" i="0" kern="1200" dirty="0">
                <a:solidFill>
                  <a:schemeClr val="tx1"/>
                </a:solidFill>
                <a:effectLst/>
                <a:latin typeface="+mn-lt"/>
                <a:ea typeface="+mn-ea"/>
                <a:cs typeface="+mn-cs"/>
              </a:rPr>
              <a:t>For example, to add a new product type to the app, you’ll only need to create a new creator subclass and override the factory method in it.</a:t>
            </a:r>
          </a:p>
          <a:p>
            <a:r>
              <a:rPr lang="en-US" sz="1200" b="1" i="0" kern="1200" dirty="0">
                <a:solidFill>
                  <a:schemeClr val="tx1"/>
                </a:solidFill>
                <a:effectLst/>
                <a:latin typeface="+mn-lt"/>
                <a:ea typeface="+mn-ea"/>
                <a:cs typeface="+mn-cs"/>
              </a:rPr>
              <a:t> Use the Factory Method when you want to provide users of your library or framework with a way to extend its internal components.</a:t>
            </a:r>
          </a:p>
          <a:p>
            <a:r>
              <a:rPr lang="en-US" sz="1200" b="0" i="0" kern="1200" dirty="0">
                <a:solidFill>
                  <a:schemeClr val="tx1"/>
                </a:solidFill>
                <a:effectLst/>
                <a:latin typeface="+mn-lt"/>
                <a:ea typeface="+mn-ea"/>
                <a:cs typeface="+mn-cs"/>
              </a:rPr>
              <a:t> Inheritance is probably the easiest way to extend the default behavior of a library or framework. But how would the framework recognize that your subclass should be used instead of a standard component?</a:t>
            </a:r>
          </a:p>
          <a:p>
            <a:r>
              <a:rPr lang="en-US" sz="1200" b="0" i="0" kern="1200" dirty="0">
                <a:solidFill>
                  <a:schemeClr val="tx1"/>
                </a:solidFill>
                <a:effectLst/>
                <a:latin typeface="+mn-lt"/>
                <a:ea typeface="+mn-ea"/>
                <a:cs typeface="+mn-cs"/>
              </a:rPr>
              <a:t>The solution is to reduce the code that constructs components across the framework into a single factory method and let anyone override this method in addition to extending the component itself.</a:t>
            </a:r>
          </a:p>
          <a:p>
            <a:r>
              <a:rPr lang="en-US" sz="1200" b="1" i="0" kern="1200" dirty="0">
                <a:solidFill>
                  <a:schemeClr val="tx1"/>
                </a:solidFill>
                <a:effectLst/>
                <a:latin typeface="+mn-lt"/>
                <a:ea typeface="+mn-ea"/>
                <a:cs typeface="+mn-cs"/>
              </a:rPr>
              <a:t> Use the Factory Method when you want to save system resources by reusing existing objects instead of rebuilding them each time.</a:t>
            </a:r>
          </a:p>
          <a:p>
            <a:r>
              <a:rPr lang="en-US" sz="1200" b="0" i="0" kern="1200" dirty="0">
                <a:solidFill>
                  <a:schemeClr val="tx1"/>
                </a:solidFill>
                <a:effectLst/>
                <a:latin typeface="+mn-lt"/>
                <a:ea typeface="+mn-ea"/>
                <a:cs typeface="+mn-cs"/>
              </a:rPr>
              <a:t> You often experience this need when dealing with large, resource-intensive objects such as database connections, file systems, and network resources.</a:t>
            </a:r>
          </a:p>
          <a:p>
            <a:r>
              <a:rPr lang="en-US" sz="1200" b="0" i="0" kern="1200" dirty="0">
                <a:solidFill>
                  <a:schemeClr val="tx1"/>
                </a:solidFill>
                <a:effectLst/>
                <a:latin typeface="+mn-lt"/>
                <a:ea typeface="+mn-ea"/>
                <a:cs typeface="+mn-cs"/>
              </a:rPr>
              <a:t>Let’s think about what has to be done to reuse an existing object:</a:t>
            </a:r>
          </a:p>
          <a:p>
            <a:r>
              <a:rPr lang="en-US" sz="1200" b="0" i="0" kern="1200" dirty="0">
                <a:solidFill>
                  <a:schemeClr val="tx1"/>
                </a:solidFill>
                <a:effectLst/>
                <a:latin typeface="+mn-lt"/>
                <a:ea typeface="+mn-ea"/>
                <a:cs typeface="+mn-cs"/>
              </a:rPr>
              <a:t>First, you need to create some storage to keep track of all of the created objects.</a:t>
            </a:r>
          </a:p>
          <a:p>
            <a:r>
              <a:rPr lang="en-US" sz="1200" b="0" i="0" kern="1200" dirty="0">
                <a:solidFill>
                  <a:schemeClr val="tx1"/>
                </a:solidFill>
                <a:effectLst/>
                <a:latin typeface="+mn-lt"/>
                <a:ea typeface="+mn-ea"/>
                <a:cs typeface="+mn-cs"/>
              </a:rPr>
              <a:t>When someone requests an object, the program should look for a free object inside that pool.</a:t>
            </a:r>
          </a:p>
          <a:p>
            <a:r>
              <a:rPr lang="en-US" sz="1200" b="0" i="0" kern="1200" dirty="0">
                <a:solidFill>
                  <a:schemeClr val="tx1"/>
                </a:solidFill>
                <a:effectLst/>
                <a:latin typeface="+mn-lt"/>
                <a:ea typeface="+mn-ea"/>
                <a:cs typeface="+mn-cs"/>
              </a:rPr>
              <a:t>… and then return it to the client code.</a:t>
            </a:r>
          </a:p>
          <a:p>
            <a:r>
              <a:rPr lang="en-US" sz="1200" b="0" i="0" kern="1200" dirty="0">
                <a:solidFill>
                  <a:schemeClr val="tx1"/>
                </a:solidFill>
                <a:effectLst/>
                <a:latin typeface="+mn-lt"/>
                <a:ea typeface="+mn-ea"/>
                <a:cs typeface="+mn-cs"/>
              </a:rPr>
              <a:t>If there are no free objects, the program should create a new one (and add it to the pool).</a:t>
            </a:r>
          </a:p>
          <a:p>
            <a:endParaRPr lang="en-US" dirty="0"/>
          </a:p>
        </p:txBody>
      </p:sp>
      <p:sp>
        <p:nvSpPr>
          <p:cNvPr id="4" name="Slide Number Placeholder 3"/>
          <p:cNvSpPr>
            <a:spLocks noGrp="1"/>
          </p:cNvSpPr>
          <p:nvPr>
            <p:ph type="sldNum" sz="quarter" idx="10"/>
          </p:nvPr>
        </p:nvSpPr>
        <p:spPr/>
        <p:txBody>
          <a:bodyPr/>
          <a:lstStyle/>
          <a:p>
            <a:fld id="{6B8B8CC4-9C71-4E44-80F1-A32EBA987895}" type="slidenum">
              <a:rPr lang="en-US" smtClean="0"/>
              <a:t>84</a:t>
            </a:fld>
            <a:endParaRPr lang="en-US"/>
          </a:p>
        </p:txBody>
      </p:sp>
    </p:spTree>
    <p:extLst>
      <p:ext uri="{BB962C8B-B14F-4D97-AF65-F5344CB8AC3E}">
        <p14:creationId xmlns:p14="http://schemas.microsoft.com/office/powerpoint/2010/main" val="11714566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Core Concept of the Factory Pattern:</a:t>
            </a:r>
          </a:p>
          <a:p>
            <a:r>
              <a:rPr lang="en-US" dirty="0"/>
              <a:t>The </a:t>
            </a:r>
            <a:r>
              <a:rPr lang="en-US" b="1" dirty="0"/>
              <a:t>Factory Pattern</a:t>
            </a:r>
            <a:r>
              <a:rPr lang="en-US" dirty="0"/>
              <a:t> is a </a:t>
            </a:r>
            <a:r>
              <a:rPr lang="en-US" b="1" dirty="0"/>
              <a:t>creational design pattern</a:t>
            </a:r>
            <a:r>
              <a:rPr lang="en-US" dirty="0"/>
              <a:t> that provides an interface for creating objects in a superclass, but allows subclasses to alter the type of objects that will be created.</a:t>
            </a:r>
          </a:p>
          <a:p>
            <a:r>
              <a:rPr lang="en-US" b="1" dirty="0"/>
              <a:t>📘 Components in the Diagram:</a:t>
            </a:r>
          </a:p>
          <a:p>
            <a:r>
              <a:rPr lang="en-US" b="1" dirty="0"/>
              <a:t>1. Shape Interface (Top Center)</a:t>
            </a:r>
          </a:p>
          <a:p>
            <a:r>
              <a:rPr lang="en-US" dirty="0"/>
              <a:t>This is the </a:t>
            </a:r>
            <a:r>
              <a:rPr lang="en-US" b="1" dirty="0"/>
              <a:t>blueprint/interface</a:t>
            </a:r>
            <a:r>
              <a:rPr lang="en-US" dirty="0"/>
              <a:t> that defines a common method: +draw(): void</a:t>
            </a:r>
          </a:p>
          <a:p>
            <a:r>
              <a:rPr lang="en-US" dirty="0"/>
              <a:t>+ means public.</a:t>
            </a:r>
          </a:p>
          <a:p>
            <a:r>
              <a:rPr lang="en-US" dirty="0"/>
              <a:t>Classes that implement this interface must define their own version of draw().</a:t>
            </a:r>
          </a:p>
          <a:p>
            <a:r>
              <a:rPr lang="en-US" b="1" dirty="0"/>
              <a:t>2. Concrete Classes: Circle, Square, Rectangle (Bottom Left)</a:t>
            </a:r>
          </a:p>
          <a:p>
            <a:r>
              <a:rPr lang="en-US" dirty="0"/>
              <a:t>These three classes </a:t>
            </a:r>
            <a:r>
              <a:rPr lang="en-US" b="1" dirty="0"/>
              <a:t>implement</a:t>
            </a:r>
            <a:r>
              <a:rPr lang="en-US" dirty="0"/>
              <a:t> the Shape interface.</a:t>
            </a:r>
          </a:p>
          <a:p>
            <a:r>
              <a:rPr lang="en-US" dirty="0"/>
              <a:t>Each provides its own implementation of the draw() method.</a:t>
            </a:r>
          </a:p>
          <a:p>
            <a:pPr lvl="1"/>
            <a:r>
              <a:rPr lang="en-US" dirty="0"/>
              <a:t>For example:</a:t>
            </a:r>
          </a:p>
          <a:p>
            <a:pPr lvl="2"/>
            <a:r>
              <a:rPr lang="en-US" dirty="0" err="1"/>
              <a:t>Circle.draw</a:t>
            </a:r>
            <a:r>
              <a:rPr lang="en-US" dirty="0"/>
              <a:t>() might draw a circle.</a:t>
            </a:r>
          </a:p>
          <a:p>
            <a:pPr lvl="2"/>
            <a:r>
              <a:rPr lang="en-US" dirty="0" err="1"/>
              <a:t>Square.draw</a:t>
            </a:r>
            <a:r>
              <a:rPr lang="en-US" dirty="0"/>
              <a:t>() might draw a square, etc.</a:t>
            </a:r>
          </a:p>
          <a:p>
            <a:r>
              <a:rPr lang="en-US" b="1" dirty="0"/>
              <a:t>3. </a:t>
            </a:r>
            <a:r>
              <a:rPr lang="en-US" b="1" dirty="0" err="1"/>
              <a:t>ShapeFactory</a:t>
            </a:r>
            <a:r>
              <a:rPr lang="en-US" b="1" dirty="0"/>
              <a:t> Class (Bottom Right Center)</a:t>
            </a:r>
          </a:p>
          <a:p>
            <a:r>
              <a:rPr lang="en-US" dirty="0"/>
              <a:t>This is the </a:t>
            </a:r>
            <a:r>
              <a:rPr lang="en-US" b="1" dirty="0"/>
              <a:t>factory class</a:t>
            </a:r>
            <a:r>
              <a:rPr lang="en-US" dirty="0"/>
              <a:t> responsible for </a:t>
            </a:r>
            <a:r>
              <a:rPr lang="en-US" b="1" dirty="0"/>
              <a:t>creating objects</a:t>
            </a:r>
            <a:r>
              <a:rPr lang="en-US" dirty="0"/>
              <a:t> of type Shape.</a:t>
            </a:r>
          </a:p>
          <a:p>
            <a:r>
              <a:rPr lang="en-US" dirty="0"/>
              <a:t>It has a method +</a:t>
            </a:r>
            <a:r>
              <a:rPr lang="en-US" dirty="0" err="1"/>
              <a:t>getShape</a:t>
            </a:r>
            <a:r>
              <a:rPr lang="en-US" dirty="0"/>
              <a:t>(): Shape that:</a:t>
            </a:r>
          </a:p>
          <a:p>
            <a:pPr lvl="1"/>
            <a:r>
              <a:rPr lang="en-US" dirty="0"/>
              <a:t>Accepts some input (like a string).</a:t>
            </a:r>
          </a:p>
          <a:p>
            <a:pPr lvl="1"/>
            <a:r>
              <a:rPr lang="en-US" dirty="0"/>
              <a:t>Returns an object of type Shape (could be Circle, Square, or Rectangle depending on the input).</a:t>
            </a:r>
          </a:p>
          <a:p>
            <a:r>
              <a:rPr lang="en-US" b="1" dirty="0"/>
              <a:t>4. </a:t>
            </a:r>
            <a:r>
              <a:rPr lang="en-US" b="1" dirty="0" err="1"/>
              <a:t>FactoryPatternDemo</a:t>
            </a:r>
            <a:r>
              <a:rPr lang="en-US" b="1" dirty="0"/>
              <a:t> Class (Top Right)</a:t>
            </a:r>
          </a:p>
          <a:p>
            <a:r>
              <a:rPr lang="en-US" dirty="0"/>
              <a:t>This is the </a:t>
            </a:r>
            <a:r>
              <a:rPr lang="en-US" b="1" dirty="0"/>
              <a:t>main class</a:t>
            </a:r>
            <a:r>
              <a:rPr lang="en-US" dirty="0"/>
              <a:t> (often the entry point).</a:t>
            </a:r>
          </a:p>
          <a:p>
            <a:r>
              <a:rPr lang="en-US" dirty="0"/>
              <a:t>It contains the main() method where:</a:t>
            </a:r>
          </a:p>
          <a:p>
            <a:pPr lvl="1"/>
            <a:r>
              <a:rPr lang="en-US" dirty="0"/>
              <a:t>The client asks the factory to create a specific shape.</a:t>
            </a:r>
          </a:p>
          <a:p>
            <a:pPr lvl="1"/>
            <a:r>
              <a:rPr lang="en-US" dirty="0"/>
              <a:t>The returned shape object is then used to call the draw() method.</a:t>
            </a:r>
          </a:p>
          <a:p>
            <a:r>
              <a:rPr lang="en-US" b="1" dirty="0"/>
              <a:t>🔄 Flow Summary:</a:t>
            </a:r>
          </a:p>
          <a:p>
            <a:r>
              <a:rPr lang="en-US" dirty="0" err="1"/>
              <a:t>FactoryPatternDemo</a:t>
            </a:r>
            <a:r>
              <a:rPr lang="en-US" dirty="0"/>
              <a:t> → calls </a:t>
            </a:r>
            <a:r>
              <a:rPr lang="en-US" dirty="0" err="1"/>
              <a:t>ShapeFactory.getShape</a:t>
            </a:r>
            <a:r>
              <a:rPr lang="en-US" dirty="0"/>
              <a:t>("Circle")</a:t>
            </a:r>
          </a:p>
          <a:p>
            <a:r>
              <a:rPr lang="en-US" dirty="0" err="1"/>
              <a:t>ShapeFactory</a:t>
            </a:r>
            <a:r>
              <a:rPr lang="en-US" dirty="0"/>
              <a:t> → returns an instance of Circle which implements Shape</a:t>
            </a:r>
          </a:p>
          <a:p>
            <a:r>
              <a:rPr lang="en-US" dirty="0" err="1"/>
              <a:t>FactoryPatternDemo</a:t>
            </a:r>
            <a:r>
              <a:rPr lang="en-US" dirty="0"/>
              <a:t> → calls .draw() on the returned Shape object</a:t>
            </a:r>
          </a:p>
          <a:p>
            <a:r>
              <a:rPr lang="en-US" b="1" dirty="0"/>
              <a:t>✅ Why Use This Pattern?</a:t>
            </a:r>
          </a:p>
          <a:p>
            <a:r>
              <a:rPr lang="en-US" b="1" dirty="0"/>
              <a:t>Loose Coupling</a:t>
            </a:r>
            <a:r>
              <a:rPr lang="en-US" dirty="0"/>
              <a:t>: The main program doesn’t need to know which class it’s instantiating.</a:t>
            </a:r>
          </a:p>
          <a:p>
            <a:r>
              <a:rPr lang="en-US" b="1" dirty="0"/>
              <a:t>Scalability</a:t>
            </a:r>
            <a:r>
              <a:rPr lang="en-US" dirty="0"/>
              <a:t>: Easy to add new shapes (e.g., Triangle) without changing existing code.</a:t>
            </a:r>
          </a:p>
          <a:p>
            <a:r>
              <a:rPr lang="en-US" b="1" dirty="0"/>
              <a:t>Abstraction</a:t>
            </a:r>
            <a:r>
              <a:rPr lang="en-US" dirty="0"/>
              <a:t>: You use a common interface to interact with different types of objects.</a:t>
            </a:r>
          </a:p>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6B8B8CC4-9C71-4E44-80F1-A32EBA987895}" type="slidenum">
              <a:rPr lang="en-US" smtClean="0"/>
              <a:t>89</a:t>
            </a:fld>
            <a:endParaRPr lang="en-US"/>
          </a:p>
        </p:txBody>
      </p:sp>
    </p:spTree>
    <p:extLst>
      <p:ext uri="{BB962C8B-B14F-4D97-AF65-F5344CB8AC3E}">
        <p14:creationId xmlns:p14="http://schemas.microsoft.com/office/powerpoint/2010/main" val="26600794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Interface is a </a:t>
            </a:r>
            <a:r>
              <a:rPr lang="en-US" b="1" dirty="0"/>
              <a:t>keyword</a:t>
            </a:r>
            <a:r>
              <a:rPr lang="en-US" dirty="0"/>
              <a:t> used to declare an interface in Java.</a:t>
            </a:r>
          </a:p>
          <a:p>
            <a:endParaRPr lang="en-US" dirty="0"/>
          </a:p>
          <a:p>
            <a:r>
              <a:rPr lang="en-US" dirty="0"/>
              <a:t>void draw(); is an </a:t>
            </a:r>
            <a:r>
              <a:rPr lang="en-US" b="1" dirty="0"/>
              <a:t>abstract method by default</a:t>
            </a:r>
            <a:r>
              <a:rPr lang="en-US" dirty="0"/>
              <a:t> — no body needed.</a:t>
            </a:r>
          </a:p>
          <a:p>
            <a:endParaRPr lang="en-US" dirty="0"/>
          </a:p>
          <a:p>
            <a:r>
              <a:rPr lang="en-US" dirty="0"/>
              <a:t>Any class that </a:t>
            </a:r>
            <a:r>
              <a:rPr lang="en-US" b="1" dirty="0"/>
              <a:t>implements</a:t>
            </a:r>
            <a:r>
              <a:rPr lang="en-US" dirty="0"/>
              <a:t> this interface must provide a </a:t>
            </a:r>
            <a:r>
              <a:rPr lang="en-US" b="1" dirty="0"/>
              <a:t>concrete implementation</a:t>
            </a:r>
            <a:r>
              <a:rPr lang="en-US" dirty="0"/>
              <a:t> of the draw() method.</a:t>
            </a:r>
          </a:p>
          <a:p>
            <a:endParaRPr lang="en-US" dirty="0"/>
          </a:p>
        </p:txBody>
      </p:sp>
      <p:sp>
        <p:nvSpPr>
          <p:cNvPr id="4" name="Slide Number Placeholder 3"/>
          <p:cNvSpPr>
            <a:spLocks noGrp="1"/>
          </p:cNvSpPr>
          <p:nvPr>
            <p:ph type="sldNum" sz="quarter" idx="10"/>
          </p:nvPr>
        </p:nvSpPr>
        <p:spPr/>
        <p:txBody>
          <a:bodyPr/>
          <a:lstStyle/>
          <a:p>
            <a:fld id="{6B8B8CC4-9C71-4E44-80F1-A32EBA987895}" type="slidenum">
              <a:rPr lang="en-US" smtClean="0"/>
              <a:t>90</a:t>
            </a:fld>
            <a:endParaRPr lang="en-US"/>
          </a:p>
        </p:txBody>
      </p:sp>
    </p:spTree>
    <p:extLst>
      <p:ext uri="{BB962C8B-B14F-4D97-AF65-F5344CB8AC3E}">
        <p14:creationId xmlns:p14="http://schemas.microsoft.com/office/powerpoint/2010/main" val="273161030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@Override is an </a:t>
            </a:r>
            <a:r>
              <a:rPr lang="en-US" b="1" dirty="0"/>
              <a:t>annotation</a:t>
            </a:r>
            <a:r>
              <a:rPr lang="en-US" dirty="0"/>
              <a:t> used in Java to indicate that a </a:t>
            </a:r>
            <a:r>
              <a:rPr lang="en-US" b="1" dirty="0"/>
              <a:t>method is being overridden</a:t>
            </a:r>
            <a:r>
              <a:rPr lang="en-US" dirty="0"/>
              <a:t> from a </a:t>
            </a:r>
            <a:r>
              <a:rPr lang="en-US" b="1" dirty="0"/>
              <a:t>superclass</a:t>
            </a:r>
            <a:r>
              <a:rPr lang="en-US" dirty="0"/>
              <a:t> or </a:t>
            </a:r>
            <a:r>
              <a:rPr lang="en-US" b="1" dirty="0"/>
              <a:t>interface</a:t>
            </a:r>
            <a:r>
              <a:rPr lang="en-US" dirty="0"/>
              <a:t>.</a:t>
            </a:r>
          </a:p>
          <a:p>
            <a:endParaRPr lang="en-US" dirty="0"/>
          </a:p>
          <a:p>
            <a:r>
              <a:rPr lang="en-US" dirty="0"/>
              <a:t>It tells the </a:t>
            </a:r>
            <a:r>
              <a:rPr lang="en-US" b="1" dirty="0"/>
              <a:t>compiler</a:t>
            </a:r>
            <a:r>
              <a:rPr lang="en-US" dirty="0"/>
              <a:t> that you’re intentionally overriding a method.</a:t>
            </a:r>
          </a:p>
          <a:p>
            <a:endParaRPr lang="en-US" dirty="0"/>
          </a:p>
          <a:p>
            <a:r>
              <a:rPr lang="en-US" dirty="0"/>
              <a:t>If you make a mistake (like a typo), the compiler will </a:t>
            </a:r>
            <a:r>
              <a:rPr lang="en-US" b="1" dirty="0"/>
              <a:t>catch it</a:t>
            </a:r>
            <a:r>
              <a:rPr lang="en-US" dirty="0"/>
              <a:t>.</a:t>
            </a:r>
          </a:p>
          <a:p>
            <a:endParaRPr lang="en-US" dirty="0"/>
          </a:p>
          <a:p>
            <a:r>
              <a:rPr lang="en-US" dirty="0"/>
              <a:t>It makes your code </a:t>
            </a:r>
            <a:r>
              <a:rPr lang="en-US" b="1" dirty="0"/>
              <a:t>easier to read and understand</a:t>
            </a:r>
            <a:r>
              <a:rPr lang="en-US" dirty="0"/>
              <a:t> for others.</a:t>
            </a:r>
          </a:p>
          <a:p>
            <a:endParaRPr lang="en-US" dirty="0"/>
          </a:p>
        </p:txBody>
      </p:sp>
      <p:sp>
        <p:nvSpPr>
          <p:cNvPr id="4" name="Slide Number Placeholder 3"/>
          <p:cNvSpPr>
            <a:spLocks noGrp="1"/>
          </p:cNvSpPr>
          <p:nvPr>
            <p:ph type="sldNum" sz="quarter" idx="10"/>
          </p:nvPr>
        </p:nvSpPr>
        <p:spPr/>
        <p:txBody>
          <a:bodyPr/>
          <a:lstStyle/>
          <a:p>
            <a:fld id="{6B8B8CC4-9C71-4E44-80F1-A32EBA987895}" type="slidenum">
              <a:rPr lang="en-US" smtClean="0"/>
              <a:t>91</a:t>
            </a:fld>
            <a:endParaRPr lang="en-US"/>
          </a:p>
        </p:txBody>
      </p:sp>
    </p:spTree>
    <p:extLst>
      <p:ext uri="{BB962C8B-B14F-4D97-AF65-F5344CB8AC3E}">
        <p14:creationId xmlns:p14="http://schemas.microsoft.com/office/powerpoint/2010/main" val="235769419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public class Square implements Shape</a:t>
            </a:r>
          </a:p>
          <a:p>
            <a:r>
              <a:rPr lang="en-US" dirty="0"/>
              <a:t>This means:</a:t>
            </a:r>
          </a:p>
          <a:p>
            <a:pPr lvl="1"/>
            <a:r>
              <a:rPr lang="en-US" dirty="0"/>
              <a:t>Square is a </a:t>
            </a:r>
            <a:r>
              <a:rPr lang="en-US" b="1" dirty="0"/>
              <a:t>class</a:t>
            </a:r>
            <a:r>
              <a:rPr lang="en-US" dirty="0"/>
              <a:t>.</a:t>
            </a:r>
          </a:p>
          <a:p>
            <a:pPr lvl="1"/>
            <a:r>
              <a:rPr lang="en-US" dirty="0"/>
              <a:t>It </a:t>
            </a:r>
            <a:r>
              <a:rPr lang="en-US" b="1" dirty="0"/>
              <a:t>implements</a:t>
            </a:r>
            <a:r>
              <a:rPr lang="en-US" dirty="0"/>
              <a:t> the Shape interface — meaning it must provide a definition for </a:t>
            </a:r>
            <a:r>
              <a:rPr lang="en-US" b="1" dirty="0"/>
              <a:t>all the methods</a:t>
            </a:r>
            <a:r>
              <a:rPr lang="en-US" dirty="0"/>
              <a:t> declared in the Shape interface.</a:t>
            </a:r>
          </a:p>
          <a:p>
            <a:pPr lvl="1"/>
            <a:r>
              <a:rPr lang="en-US" dirty="0"/>
              <a:t>So if Shape has a method like void draw();, then Square must override that method.</a:t>
            </a:r>
          </a:p>
          <a:p>
            <a:r>
              <a:rPr lang="en-US" b="1" dirty="0"/>
              <a:t>✅ @Override</a:t>
            </a:r>
          </a:p>
          <a:p>
            <a:r>
              <a:rPr lang="en-US" dirty="0"/>
              <a:t>This annotation tells Java that you're </a:t>
            </a:r>
            <a:r>
              <a:rPr lang="en-US" b="1" dirty="0"/>
              <a:t>overriding</a:t>
            </a:r>
            <a:r>
              <a:rPr lang="en-US" dirty="0"/>
              <a:t> a method from the interface (Shape in this case).</a:t>
            </a:r>
          </a:p>
          <a:p>
            <a:r>
              <a:rPr lang="en-US" dirty="0"/>
              <a:t>It ensures you're not making mistakes like:</a:t>
            </a:r>
          </a:p>
          <a:p>
            <a:pPr lvl="1"/>
            <a:r>
              <a:rPr lang="en-US" dirty="0"/>
              <a:t>Spelling the method name wrong.</a:t>
            </a:r>
          </a:p>
          <a:p>
            <a:pPr lvl="1"/>
            <a:r>
              <a:rPr lang="en-US" dirty="0"/>
              <a:t>Using the wrong method signature.</a:t>
            </a:r>
          </a:p>
          <a:p>
            <a:r>
              <a:rPr lang="en-US" b="1" dirty="0"/>
              <a:t>✅ public void draw()</a:t>
            </a:r>
          </a:p>
          <a:p>
            <a:r>
              <a:rPr lang="en-US" dirty="0"/>
              <a:t>This is the </a:t>
            </a:r>
            <a:r>
              <a:rPr lang="en-US" b="1" dirty="0"/>
              <a:t>method from the Shape interface</a:t>
            </a:r>
            <a:r>
              <a:rPr lang="en-US" dirty="0"/>
              <a:t> that you're implementing.</a:t>
            </a:r>
          </a:p>
          <a:p>
            <a:r>
              <a:rPr lang="en-US" dirty="0"/>
              <a:t>All shape classes (like Rectangle, Circle, Square) will implement their own version of draw().</a:t>
            </a:r>
          </a:p>
          <a:p>
            <a:endParaRPr lang="en-US" dirty="0"/>
          </a:p>
          <a:p>
            <a:r>
              <a:rPr lang="en-US" b="1" dirty="0"/>
              <a:t>✅ </a:t>
            </a:r>
            <a:r>
              <a:rPr lang="en-US" b="1" dirty="0" err="1"/>
              <a:t>System.out.println</a:t>
            </a:r>
            <a:r>
              <a:rPr lang="en-US" b="1" dirty="0"/>
              <a:t>("Inside Square::draw() method.");</a:t>
            </a:r>
          </a:p>
          <a:p>
            <a:r>
              <a:rPr lang="en-US" dirty="0"/>
              <a:t>This is just a message to show that the draw() method for the Square object has been called.</a:t>
            </a:r>
          </a:p>
          <a:p>
            <a:r>
              <a:rPr lang="en-US" dirty="0"/>
              <a:t>It's helpful for </a:t>
            </a:r>
            <a:r>
              <a:rPr lang="en-US" b="1" dirty="0"/>
              <a:t>debugging</a:t>
            </a:r>
            <a:r>
              <a:rPr lang="en-US" dirty="0"/>
              <a:t> or demonstrating which shape’s method is running.</a:t>
            </a:r>
          </a:p>
          <a:p>
            <a:endParaRPr lang="en-US" dirty="0"/>
          </a:p>
        </p:txBody>
      </p:sp>
      <p:sp>
        <p:nvSpPr>
          <p:cNvPr id="4" name="Slide Number Placeholder 3"/>
          <p:cNvSpPr>
            <a:spLocks noGrp="1"/>
          </p:cNvSpPr>
          <p:nvPr>
            <p:ph type="sldNum" sz="quarter" idx="10"/>
          </p:nvPr>
        </p:nvSpPr>
        <p:spPr/>
        <p:txBody>
          <a:bodyPr/>
          <a:lstStyle/>
          <a:p>
            <a:fld id="{6B8B8CC4-9C71-4E44-80F1-A32EBA987895}" type="slidenum">
              <a:rPr lang="en-US" smtClean="0"/>
              <a:t>92</a:t>
            </a:fld>
            <a:endParaRPr lang="en-US"/>
          </a:p>
        </p:txBody>
      </p:sp>
    </p:spTree>
    <p:extLst>
      <p:ext uri="{BB962C8B-B14F-4D97-AF65-F5344CB8AC3E}">
        <p14:creationId xmlns:p14="http://schemas.microsoft.com/office/powerpoint/2010/main" val="300393682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public class Circle implements Shape</a:t>
            </a:r>
          </a:p>
          <a:p>
            <a:r>
              <a:rPr lang="en-US" dirty="0"/>
              <a:t>This means:</a:t>
            </a:r>
          </a:p>
          <a:p>
            <a:pPr lvl="1"/>
            <a:r>
              <a:rPr lang="en-US" dirty="0"/>
              <a:t>You're creating a class named Circle.</a:t>
            </a:r>
          </a:p>
          <a:p>
            <a:pPr lvl="1"/>
            <a:r>
              <a:rPr lang="en-US" dirty="0"/>
              <a:t>It </a:t>
            </a:r>
            <a:r>
              <a:rPr lang="en-US" b="1" dirty="0"/>
              <a:t>implements the Shape interface</a:t>
            </a:r>
            <a:r>
              <a:rPr lang="en-US" dirty="0"/>
              <a:t>, so it must provide the body for all methods declared in the interface.</a:t>
            </a:r>
          </a:p>
          <a:p>
            <a:pPr lvl="1"/>
            <a:endParaRPr lang="en-US" dirty="0"/>
          </a:p>
          <a:p>
            <a:r>
              <a:rPr lang="en-US" b="1" dirty="0"/>
              <a:t>@Override</a:t>
            </a:r>
          </a:p>
          <a:p>
            <a:r>
              <a:rPr lang="en-US" dirty="0"/>
              <a:t>This annotation tells the compiler:</a:t>
            </a:r>
          </a:p>
          <a:p>
            <a:r>
              <a:rPr lang="en-US" dirty="0"/>
              <a:t>“I am overriding a method from an interface or superclass.”</a:t>
            </a:r>
          </a:p>
          <a:p>
            <a:pPr lvl="1"/>
            <a:endParaRPr lang="en-US" dirty="0"/>
          </a:p>
          <a:p>
            <a:r>
              <a:rPr lang="en-US" b="1" dirty="0"/>
              <a:t>public void draw()</a:t>
            </a:r>
          </a:p>
          <a:p>
            <a:r>
              <a:rPr lang="en-US" dirty="0"/>
              <a:t>This is the </a:t>
            </a:r>
            <a:r>
              <a:rPr lang="en-US" b="1" dirty="0"/>
              <a:t>method</a:t>
            </a:r>
            <a:r>
              <a:rPr lang="en-US" dirty="0"/>
              <a:t> from the Shape interface.</a:t>
            </a:r>
          </a:p>
          <a:p>
            <a:r>
              <a:rPr lang="en-US" dirty="0"/>
              <a:t>Each shape (Circle, Square, Rectangle, etc.) will give its </a:t>
            </a:r>
            <a:r>
              <a:rPr lang="en-US" b="1" dirty="0"/>
              <a:t>own definition</a:t>
            </a:r>
            <a:r>
              <a:rPr lang="en-US" dirty="0"/>
              <a:t> of how draw() works.</a:t>
            </a:r>
          </a:p>
          <a:p>
            <a:r>
              <a:rPr lang="en-US" dirty="0"/>
              <a:t>For this Circle class, it simply prints a message saying it's the circle’s version.</a:t>
            </a:r>
          </a:p>
          <a:p>
            <a:endParaRPr lang="en-US" b="1" dirty="0"/>
          </a:p>
          <a:p>
            <a:r>
              <a:rPr lang="en-US" b="1" dirty="0" err="1"/>
              <a:t>System.out.println</a:t>
            </a:r>
            <a:r>
              <a:rPr lang="en-US" b="1" dirty="0"/>
              <a:t>("Inside Circle::draw() method.");</a:t>
            </a:r>
          </a:p>
          <a:p>
            <a:r>
              <a:rPr lang="en-US" dirty="0"/>
              <a:t>This is just a </a:t>
            </a:r>
            <a:r>
              <a:rPr lang="en-US" b="1" dirty="0"/>
              <a:t>print statement</a:t>
            </a:r>
            <a:r>
              <a:rPr lang="en-US" dirty="0"/>
              <a:t> that runs when the draw() method is called.</a:t>
            </a:r>
          </a:p>
          <a:p>
            <a:r>
              <a:rPr lang="en-US" dirty="0"/>
              <a:t>It helps you confirm that the Circle class's method is being used.</a:t>
            </a:r>
          </a:p>
          <a:p>
            <a:pPr lvl="1"/>
            <a:endParaRPr lang="en-US" dirty="0"/>
          </a:p>
          <a:p>
            <a:endParaRPr lang="en-US" dirty="0"/>
          </a:p>
        </p:txBody>
      </p:sp>
      <p:sp>
        <p:nvSpPr>
          <p:cNvPr id="4" name="Slide Number Placeholder 3"/>
          <p:cNvSpPr>
            <a:spLocks noGrp="1"/>
          </p:cNvSpPr>
          <p:nvPr>
            <p:ph type="sldNum" sz="quarter" idx="10"/>
          </p:nvPr>
        </p:nvSpPr>
        <p:spPr/>
        <p:txBody>
          <a:bodyPr/>
          <a:lstStyle/>
          <a:p>
            <a:fld id="{6B8B8CC4-9C71-4E44-80F1-A32EBA987895}" type="slidenum">
              <a:rPr lang="en-US" smtClean="0"/>
              <a:t>93</a:t>
            </a:fld>
            <a:endParaRPr lang="en-US"/>
          </a:p>
        </p:txBody>
      </p:sp>
    </p:spTree>
    <p:extLst>
      <p:ext uri="{BB962C8B-B14F-4D97-AF65-F5344CB8AC3E}">
        <p14:creationId xmlns:p14="http://schemas.microsoft.com/office/powerpoint/2010/main" val="394018525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public class </a:t>
            </a:r>
            <a:r>
              <a:rPr lang="en-US" b="1" dirty="0" err="1"/>
              <a:t>ShapeFactory</a:t>
            </a:r>
            <a:endParaRPr lang="en-US" b="1" dirty="0"/>
          </a:p>
          <a:p>
            <a:r>
              <a:rPr lang="en-US" dirty="0"/>
              <a:t>This is your </a:t>
            </a:r>
            <a:r>
              <a:rPr lang="en-US" b="1" dirty="0"/>
              <a:t>factory class</a:t>
            </a:r>
            <a:r>
              <a:rPr lang="en-US" dirty="0"/>
              <a:t>.</a:t>
            </a:r>
          </a:p>
          <a:p>
            <a:r>
              <a:rPr lang="en-US" dirty="0"/>
              <a:t>It contains logic to </a:t>
            </a:r>
            <a:r>
              <a:rPr lang="en-US" b="1" dirty="0"/>
              <a:t>create and return objects</a:t>
            </a:r>
            <a:r>
              <a:rPr lang="en-US" dirty="0"/>
              <a:t> of different Shape types.</a:t>
            </a:r>
          </a:p>
          <a:p>
            <a:endParaRPr lang="en-US" b="1" dirty="0"/>
          </a:p>
          <a:p>
            <a:r>
              <a:rPr lang="en-US" b="1" dirty="0"/>
              <a:t>✅ public Shape </a:t>
            </a:r>
            <a:r>
              <a:rPr lang="en-US" b="1" dirty="0" err="1"/>
              <a:t>getShape</a:t>
            </a:r>
            <a:r>
              <a:rPr lang="en-US" b="1" dirty="0"/>
              <a:t>(String </a:t>
            </a:r>
            <a:r>
              <a:rPr lang="en-US" b="1" dirty="0" err="1"/>
              <a:t>shapeType</a:t>
            </a:r>
            <a:r>
              <a:rPr lang="en-US" b="1" dirty="0"/>
              <a:t>)</a:t>
            </a:r>
          </a:p>
          <a:p>
            <a:r>
              <a:rPr lang="en-US" dirty="0"/>
              <a:t>This is the </a:t>
            </a:r>
            <a:r>
              <a:rPr lang="en-US" b="1" dirty="0"/>
              <a:t>factory method</a:t>
            </a:r>
            <a:r>
              <a:rPr lang="en-US" dirty="0"/>
              <a:t>.</a:t>
            </a:r>
          </a:p>
          <a:p>
            <a:r>
              <a:rPr lang="en-US" dirty="0"/>
              <a:t>It takes a String (like "CIRCLE", "SQUARE", etc.).</a:t>
            </a:r>
          </a:p>
          <a:p>
            <a:r>
              <a:rPr lang="en-US" dirty="0"/>
              <a:t>Based on the string, it </a:t>
            </a:r>
            <a:r>
              <a:rPr lang="en-US" b="1" dirty="0"/>
              <a:t>returns an object</a:t>
            </a:r>
            <a:r>
              <a:rPr lang="en-US" dirty="0"/>
              <a:t> of the correct class (like new Circle()).</a:t>
            </a:r>
          </a:p>
          <a:p>
            <a:endParaRPr lang="en-US" b="1" dirty="0"/>
          </a:p>
          <a:p>
            <a:r>
              <a:rPr lang="en-US" b="1" dirty="0"/>
              <a:t>✅ if (</a:t>
            </a:r>
            <a:r>
              <a:rPr lang="en-US" b="1" dirty="0" err="1"/>
              <a:t>shapeType</a:t>
            </a:r>
            <a:r>
              <a:rPr lang="en-US" b="1" dirty="0"/>
              <a:t> == null)</a:t>
            </a:r>
          </a:p>
          <a:p>
            <a:r>
              <a:rPr lang="en-US" dirty="0"/>
              <a:t>If no shape name is given, the method returns null (nothing to create).</a:t>
            </a:r>
          </a:p>
          <a:p>
            <a:endParaRPr lang="en-US" b="1" dirty="0"/>
          </a:p>
          <a:p>
            <a:r>
              <a:rPr lang="en-US" b="1" dirty="0"/>
              <a:t>✅ </a:t>
            </a:r>
            <a:r>
              <a:rPr lang="en-US" b="1" dirty="0" err="1"/>
              <a:t>shapeType.equalsIgnoreCase</a:t>
            </a:r>
            <a:r>
              <a:rPr lang="en-US" b="1" dirty="0"/>
              <a:t>(...)</a:t>
            </a:r>
          </a:p>
          <a:p>
            <a:r>
              <a:rPr lang="en-US" dirty="0"/>
              <a:t>This checks the shape name without worrying about upper/lowercase (e.g., "circle", "CIRCLE", "Circle" all match).</a:t>
            </a:r>
          </a:p>
          <a:p>
            <a:r>
              <a:rPr lang="en-US" dirty="0"/>
              <a:t>It compares the given string and returns the right shape object:</a:t>
            </a:r>
          </a:p>
          <a:p>
            <a:pPr lvl="1"/>
            <a:r>
              <a:rPr lang="en-US" dirty="0"/>
              <a:t>"CIRCLE" → new Circle()</a:t>
            </a:r>
          </a:p>
          <a:p>
            <a:pPr lvl="1"/>
            <a:r>
              <a:rPr lang="en-US" dirty="0"/>
              <a:t>"RECTANGLE" → new Rectangle()</a:t>
            </a:r>
          </a:p>
          <a:p>
            <a:pPr lvl="1"/>
            <a:r>
              <a:rPr lang="en-US" dirty="0"/>
              <a:t>"SQUARE" → new Square()</a:t>
            </a:r>
          </a:p>
          <a:p>
            <a:endParaRPr lang="en-US" b="1" dirty="0"/>
          </a:p>
          <a:p>
            <a:r>
              <a:rPr lang="en-US" b="1" dirty="0"/>
              <a:t>✅ return new Circle() (or Rectangle/Square)</a:t>
            </a:r>
          </a:p>
          <a:p>
            <a:r>
              <a:rPr lang="en-US" dirty="0"/>
              <a:t>This is the main job of the factory — it </a:t>
            </a:r>
            <a:r>
              <a:rPr lang="en-US" b="1" dirty="0"/>
              <a:t>creates an object</a:t>
            </a:r>
            <a:r>
              <a:rPr lang="en-US" dirty="0"/>
              <a:t> of the appropriate class and gives it back to the caller.</a:t>
            </a:r>
          </a:p>
          <a:p>
            <a:r>
              <a:rPr lang="en-US" dirty="0"/>
              <a:t>The caller doesn’t need to know how the object is created — just that they get a shape.</a:t>
            </a:r>
          </a:p>
          <a:p>
            <a:endParaRPr lang="en-US" b="1" dirty="0"/>
          </a:p>
          <a:p>
            <a:r>
              <a:rPr lang="en-US" b="1" dirty="0"/>
              <a:t>✅ return null;</a:t>
            </a:r>
          </a:p>
          <a:p>
            <a:r>
              <a:rPr lang="en-US" dirty="0"/>
              <a:t>If the input doesn't match any known shape, the factory returns null.</a:t>
            </a:r>
          </a:p>
          <a:p>
            <a:endParaRPr lang="en-US" dirty="0"/>
          </a:p>
        </p:txBody>
      </p:sp>
      <p:sp>
        <p:nvSpPr>
          <p:cNvPr id="4" name="Slide Number Placeholder 3"/>
          <p:cNvSpPr>
            <a:spLocks noGrp="1"/>
          </p:cNvSpPr>
          <p:nvPr>
            <p:ph type="sldNum" sz="quarter" idx="10"/>
          </p:nvPr>
        </p:nvSpPr>
        <p:spPr/>
        <p:txBody>
          <a:bodyPr/>
          <a:lstStyle/>
          <a:p>
            <a:fld id="{6B8B8CC4-9C71-4E44-80F1-A32EBA987895}" type="slidenum">
              <a:rPr lang="en-US" smtClean="0"/>
              <a:t>94</a:t>
            </a:fld>
            <a:endParaRPr lang="en-US"/>
          </a:p>
        </p:txBody>
      </p:sp>
    </p:spTree>
    <p:extLst>
      <p:ext uri="{BB962C8B-B14F-4D97-AF65-F5344CB8AC3E}">
        <p14:creationId xmlns:p14="http://schemas.microsoft.com/office/powerpoint/2010/main" val="309630770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a:t>
            </a:r>
            <a:r>
              <a:rPr lang="en-US" b="1" dirty="0" err="1"/>
              <a:t>ShapeFactory</a:t>
            </a:r>
            <a:r>
              <a:rPr lang="en-US" b="1" dirty="0"/>
              <a:t> </a:t>
            </a:r>
            <a:r>
              <a:rPr lang="en-US" b="1" dirty="0" err="1"/>
              <a:t>shapeFactory</a:t>
            </a:r>
            <a:r>
              <a:rPr lang="en-US" b="1" dirty="0"/>
              <a:t> = new </a:t>
            </a:r>
            <a:r>
              <a:rPr lang="en-US" b="1" dirty="0" err="1"/>
              <a:t>ShapeFactory</a:t>
            </a:r>
            <a:r>
              <a:rPr lang="en-US" b="1" dirty="0"/>
              <a:t>();</a:t>
            </a:r>
          </a:p>
          <a:p>
            <a:r>
              <a:rPr lang="en-US" dirty="0"/>
              <a:t>Creates an instance of the factory.</a:t>
            </a:r>
          </a:p>
          <a:p>
            <a:r>
              <a:rPr lang="en-US" dirty="0"/>
              <a:t>You use this to get shape objects.</a:t>
            </a:r>
          </a:p>
          <a:p>
            <a:endParaRPr lang="en-US" dirty="0"/>
          </a:p>
          <a:p>
            <a:r>
              <a:rPr lang="en-US" b="1" dirty="0"/>
              <a:t>✅ Shape shape1 = </a:t>
            </a:r>
            <a:r>
              <a:rPr lang="en-US" b="1" dirty="0" err="1"/>
              <a:t>shapeFactory.getShape</a:t>
            </a:r>
            <a:r>
              <a:rPr lang="en-US" b="1" dirty="0"/>
              <a:t>("CIRCLE");</a:t>
            </a:r>
          </a:p>
          <a:p>
            <a:r>
              <a:rPr lang="en-US" dirty="0"/>
              <a:t>Factory receives the string "CIRCLE".</a:t>
            </a:r>
          </a:p>
          <a:p>
            <a:r>
              <a:rPr lang="en-US" dirty="0"/>
              <a:t>It checks and creates a Circle object.</a:t>
            </a:r>
          </a:p>
          <a:p>
            <a:endParaRPr lang="en-US" dirty="0"/>
          </a:p>
        </p:txBody>
      </p:sp>
      <p:sp>
        <p:nvSpPr>
          <p:cNvPr id="4" name="Slide Number Placeholder 3"/>
          <p:cNvSpPr>
            <a:spLocks noGrp="1"/>
          </p:cNvSpPr>
          <p:nvPr>
            <p:ph type="sldNum" sz="quarter" idx="10"/>
          </p:nvPr>
        </p:nvSpPr>
        <p:spPr/>
        <p:txBody>
          <a:bodyPr/>
          <a:lstStyle/>
          <a:p>
            <a:fld id="{6B8B8CC4-9C71-4E44-80F1-A32EBA987895}" type="slidenum">
              <a:rPr lang="en-US" smtClean="0"/>
              <a:t>95</a:t>
            </a:fld>
            <a:endParaRPr lang="en-US"/>
          </a:p>
        </p:txBody>
      </p:sp>
    </p:spTree>
    <p:extLst>
      <p:ext uri="{BB962C8B-B14F-4D97-AF65-F5344CB8AC3E}">
        <p14:creationId xmlns:p14="http://schemas.microsoft.com/office/powerpoint/2010/main" val="253719571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b="1" dirty="0"/>
              <a:t>✅ shape1.draw();</a:t>
            </a:r>
          </a:p>
          <a:p>
            <a:r>
              <a:rPr lang="en-US" dirty="0"/>
              <a:t>Calls the draw() method from the Circle class.</a:t>
            </a:r>
          </a:p>
          <a:p>
            <a:r>
              <a:rPr lang="en-US" dirty="0"/>
              <a:t>Output:</a:t>
            </a:r>
          </a:p>
          <a:p>
            <a:r>
              <a:rPr lang="en-US" b="1" dirty="0"/>
              <a:t>Inside Circle::draw() method</a:t>
            </a:r>
          </a:p>
          <a:p>
            <a:endParaRPr lang="en-US" b="1" dirty="0"/>
          </a:p>
          <a:p>
            <a:endParaRPr lang="en-US" b="1" dirty="0"/>
          </a:p>
          <a:p>
            <a:r>
              <a:rPr lang="en-US" b="1" dirty="0"/>
              <a:t>Shape shape2 = </a:t>
            </a:r>
            <a:r>
              <a:rPr lang="en-US" b="1" dirty="0" err="1"/>
              <a:t>shapeFactory.getShape</a:t>
            </a:r>
            <a:r>
              <a:rPr lang="en-US" b="1" dirty="0"/>
              <a:t>("RECTANGLE");</a:t>
            </a:r>
          </a:p>
          <a:p>
            <a:r>
              <a:rPr lang="en-US" b="1" dirty="0"/>
              <a:t>shape2.draw();  // Output: Inside Rectangle::draw() method.</a:t>
            </a:r>
          </a:p>
          <a:p>
            <a:endParaRPr lang="en-US" b="1" dirty="0"/>
          </a:p>
          <a:p>
            <a:r>
              <a:rPr lang="en-US" b="1" dirty="0"/>
              <a:t>Shape shape3 = </a:t>
            </a:r>
            <a:r>
              <a:rPr lang="en-US" b="1" dirty="0" err="1"/>
              <a:t>shapeFactory.getShape</a:t>
            </a:r>
            <a:r>
              <a:rPr lang="en-US" b="1" dirty="0"/>
              <a:t>("SQUARE");</a:t>
            </a:r>
          </a:p>
          <a:p>
            <a:r>
              <a:rPr lang="en-US" b="1" dirty="0"/>
              <a:t>shape3.draw();  // Output: Inside Square::draw() method.</a:t>
            </a:r>
          </a:p>
          <a:p>
            <a:endParaRPr lang="en-US" b="1" dirty="0"/>
          </a:p>
          <a:p>
            <a:endParaRPr lang="en-US" dirty="0"/>
          </a:p>
        </p:txBody>
      </p:sp>
      <p:sp>
        <p:nvSpPr>
          <p:cNvPr id="4" name="Slide Number Placeholder 3"/>
          <p:cNvSpPr>
            <a:spLocks noGrp="1"/>
          </p:cNvSpPr>
          <p:nvPr>
            <p:ph type="sldNum" sz="quarter" idx="10"/>
          </p:nvPr>
        </p:nvSpPr>
        <p:spPr/>
        <p:txBody>
          <a:bodyPr/>
          <a:lstStyle/>
          <a:p>
            <a:fld id="{6B8B8CC4-9C71-4E44-80F1-A32EBA987895}" type="slidenum">
              <a:rPr lang="en-US" smtClean="0"/>
              <a:t>96</a:t>
            </a:fld>
            <a:endParaRPr lang="en-US"/>
          </a:p>
        </p:txBody>
      </p:sp>
    </p:spTree>
    <p:extLst>
      <p:ext uri="{BB962C8B-B14F-4D97-AF65-F5344CB8AC3E}">
        <p14:creationId xmlns:p14="http://schemas.microsoft.com/office/powerpoint/2010/main" val="40892021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 java.io.*;        // Import Java I/O package (not used here, but maybe for future input/output)</a:t>
            </a:r>
          </a:p>
          <a:p>
            <a:endParaRPr lang="en-US" dirty="0"/>
          </a:p>
          <a:p>
            <a:r>
              <a:rPr lang="en-US" dirty="0"/>
              <a:t>abstract class Plan {      // Abstract class named Plan</a:t>
            </a:r>
          </a:p>
          <a:p>
            <a:r>
              <a:rPr lang="en-US" dirty="0"/>
              <a:t>    protected double rate;      // A protected variable to hold the rate (price per unit)</a:t>
            </a:r>
          </a:p>
          <a:p>
            <a:endParaRPr lang="en-US" dirty="0"/>
          </a:p>
          <a:p>
            <a:r>
              <a:rPr lang="en-US" dirty="0"/>
              <a:t>    abstract void </a:t>
            </a:r>
            <a:r>
              <a:rPr lang="en-US" dirty="0" err="1"/>
              <a:t>getRate</a:t>
            </a:r>
            <a:r>
              <a:rPr lang="en-US" dirty="0"/>
              <a:t>();      // Abstract method: must be defined in subclasses</a:t>
            </a:r>
          </a:p>
          <a:p>
            <a:endParaRPr lang="en-US" dirty="0"/>
          </a:p>
          <a:p>
            <a:r>
              <a:rPr lang="en-US" dirty="0"/>
              <a:t>    public void </a:t>
            </a:r>
            <a:r>
              <a:rPr lang="en-US" dirty="0" err="1"/>
              <a:t>calculateBill</a:t>
            </a:r>
            <a:r>
              <a:rPr lang="en-US" dirty="0"/>
              <a:t>(</a:t>
            </a:r>
            <a:r>
              <a:rPr lang="en-US" dirty="0" err="1"/>
              <a:t>int</a:t>
            </a:r>
            <a:r>
              <a:rPr lang="en-US" dirty="0"/>
              <a:t> units) {</a:t>
            </a:r>
          </a:p>
          <a:p>
            <a:r>
              <a:rPr lang="en-US" dirty="0"/>
              <a:t>        </a:t>
            </a:r>
            <a:r>
              <a:rPr lang="en-US" dirty="0" err="1"/>
              <a:t>System.out.println</a:t>
            </a:r>
            <a:r>
              <a:rPr lang="en-US" dirty="0"/>
              <a:t>(units * rate);      // Calculates and prints total cost</a:t>
            </a:r>
          </a:p>
          <a:p>
            <a:r>
              <a:rPr lang="en-US" dirty="0"/>
              <a:t>    }</a:t>
            </a:r>
          </a:p>
          <a:p>
            <a:r>
              <a:rPr lang="en-US" dirty="0"/>
              <a:t>}</a:t>
            </a:r>
          </a:p>
        </p:txBody>
      </p:sp>
      <p:sp>
        <p:nvSpPr>
          <p:cNvPr id="4" name="Slide Number Placeholder 3"/>
          <p:cNvSpPr>
            <a:spLocks noGrp="1"/>
          </p:cNvSpPr>
          <p:nvPr>
            <p:ph type="sldNum" sz="quarter" idx="10"/>
          </p:nvPr>
        </p:nvSpPr>
        <p:spPr/>
        <p:txBody>
          <a:bodyPr/>
          <a:lstStyle/>
          <a:p>
            <a:fld id="{6B8B8CC4-9C71-4E44-80F1-A32EBA987895}" type="slidenum">
              <a:rPr lang="en-US" smtClean="0"/>
              <a:t>99</a:t>
            </a:fld>
            <a:endParaRPr lang="en-US"/>
          </a:p>
        </p:txBody>
      </p:sp>
    </p:spTree>
    <p:extLst>
      <p:ext uri="{BB962C8B-B14F-4D97-AF65-F5344CB8AC3E}">
        <p14:creationId xmlns:p14="http://schemas.microsoft.com/office/powerpoint/2010/main" val="36065137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Scanner method for</a:t>
            </a:r>
            <a:r>
              <a:rPr lang="en-US" baseline="0" dirty="0"/>
              <a:t> taking keyboard input</a:t>
            </a:r>
            <a:endParaRPr lang="en-US" dirty="0"/>
          </a:p>
        </p:txBody>
      </p:sp>
      <p:sp>
        <p:nvSpPr>
          <p:cNvPr id="4" name="Slide Number Placeholder 3"/>
          <p:cNvSpPr>
            <a:spLocks noGrp="1"/>
          </p:cNvSpPr>
          <p:nvPr>
            <p:ph type="sldNum" sz="quarter" idx="10"/>
          </p:nvPr>
        </p:nvSpPr>
        <p:spPr/>
        <p:txBody>
          <a:bodyPr/>
          <a:lstStyle/>
          <a:p>
            <a:fld id="{6B8B8CC4-9C71-4E44-80F1-A32EBA987895}" type="slidenum">
              <a:rPr lang="en-US" smtClean="0"/>
              <a:t>106</a:t>
            </a:fld>
            <a:endParaRPr lang="en-US"/>
          </a:p>
        </p:txBody>
      </p:sp>
    </p:spTree>
    <p:extLst>
      <p:ext uri="{BB962C8B-B14F-4D97-AF65-F5344CB8AC3E}">
        <p14:creationId xmlns:p14="http://schemas.microsoft.com/office/powerpoint/2010/main" val="316243382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419DF0-BB8B-4294-9EF9-E87F3D820543}" type="slidenum">
              <a:rPr lang="en-US" smtClean="0"/>
              <a:t>109</a:t>
            </a:fld>
            <a:endParaRPr lang="en-US"/>
          </a:p>
        </p:txBody>
      </p:sp>
    </p:spTree>
    <p:extLst>
      <p:ext uri="{BB962C8B-B14F-4D97-AF65-F5344CB8AC3E}">
        <p14:creationId xmlns:p14="http://schemas.microsoft.com/office/powerpoint/2010/main" val="330965913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Exam Points</a:t>
            </a:r>
          </a:p>
          <a:p>
            <a:r>
              <a:rPr lang="en-US" b="1" dirty="0"/>
              <a:t>Keeping Families Together (Furniture Set):</a:t>
            </a:r>
            <a:r>
              <a:rPr lang="en-US" dirty="0"/>
              <a:t> Think of buying furniture. If you select the "Modern" factory, you are guaranteed to get a modern chair, a modern table, and a modern sofa. The pattern prevents you from accidentally pairing a sleek modern chair with a bulky Victorian table!</a:t>
            </a:r>
          </a:p>
          <a:p>
            <a:r>
              <a:rPr lang="en-US" b="1" dirty="0"/>
              <a:t>Easy Swapping (Light/Dark Mode):</a:t>
            </a:r>
            <a:r>
              <a:rPr lang="en-US" dirty="0"/>
              <a:t> Think about changing a software app from "Light Mode" to "Dark Mode." By simply switching the factory from </a:t>
            </a:r>
            <a:r>
              <a:rPr lang="en-US" dirty="0" err="1"/>
              <a:t>LightUIFactory</a:t>
            </a:r>
            <a:r>
              <a:rPr lang="en-US" dirty="0"/>
              <a:t> to </a:t>
            </a:r>
            <a:r>
              <a:rPr lang="en-US" dirty="0" err="1"/>
              <a:t>DarkUIFactory</a:t>
            </a:r>
            <a:r>
              <a:rPr lang="en-US" dirty="0"/>
              <a:t>, every single button, text box, and background automatically updates to the new, matching family without you having to change the code for each individual item.</a:t>
            </a:r>
          </a:p>
          <a:p>
            <a:endParaRPr lang="en-US" dirty="0"/>
          </a:p>
          <a:p>
            <a:r>
              <a:rPr lang="en-US" dirty="0"/>
              <a:t>Client is </a:t>
            </a:r>
            <a:r>
              <a:rPr lang="en-US" b="1" dirty="0"/>
              <a:t>independent of object creation</a:t>
            </a:r>
            <a:r>
              <a:rPr lang="en-US" dirty="0"/>
              <a:t> </a:t>
            </a:r>
          </a:p>
          <a:p>
            <a:r>
              <a:rPr lang="en-US" dirty="0"/>
              <a:t>Supports </a:t>
            </a:r>
            <a:r>
              <a:rPr lang="en-US" b="1" dirty="0"/>
              <a:t>loose coupling</a:t>
            </a:r>
            <a:r>
              <a:rPr lang="en-US" dirty="0"/>
              <a:t> </a:t>
            </a:r>
          </a:p>
          <a:p>
            <a:r>
              <a:rPr lang="en-US" dirty="0"/>
              <a:t>Easy to </a:t>
            </a:r>
            <a:r>
              <a:rPr lang="en-US" b="1" dirty="0"/>
              <a:t>add new families of products</a:t>
            </a:r>
            <a:r>
              <a:rPr lang="en-US" dirty="0"/>
              <a:t> </a:t>
            </a:r>
          </a:p>
          <a:p>
            <a:r>
              <a:rPr lang="en-US" dirty="0"/>
              <a:t>Follows </a:t>
            </a:r>
            <a:r>
              <a:rPr lang="en-US" b="1" dirty="0"/>
              <a:t>Open/Closed Principle</a:t>
            </a:r>
            <a:endParaRPr lang="en-US" dirty="0"/>
          </a:p>
          <a:p>
            <a:endParaRPr lang="en-US" dirty="0"/>
          </a:p>
        </p:txBody>
      </p:sp>
      <p:sp>
        <p:nvSpPr>
          <p:cNvPr id="4" name="Slide Number Placeholder 3"/>
          <p:cNvSpPr>
            <a:spLocks noGrp="1"/>
          </p:cNvSpPr>
          <p:nvPr>
            <p:ph type="sldNum" sz="quarter" idx="10"/>
          </p:nvPr>
        </p:nvSpPr>
        <p:spPr/>
        <p:txBody>
          <a:bodyPr/>
          <a:lstStyle/>
          <a:p>
            <a:fld id="{6B419DF0-BB8B-4294-9EF9-E87F3D820543}" type="slidenum">
              <a:rPr lang="en-US" smtClean="0"/>
              <a:t>110</a:t>
            </a:fld>
            <a:endParaRPr lang="en-US"/>
          </a:p>
        </p:txBody>
      </p:sp>
    </p:spTree>
    <p:extLst>
      <p:ext uri="{BB962C8B-B14F-4D97-AF65-F5344CB8AC3E}">
        <p14:creationId xmlns:p14="http://schemas.microsoft.com/office/powerpoint/2010/main" val="321184435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Abstract Factory defines an interface for creating families of related objects, </a:t>
            </a:r>
          </a:p>
          <a:p>
            <a:endParaRPr lang="en-US" dirty="0"/>
          </a:p>
          <a:p>
            <a:r>
              <a:rPr lang="en-US" dirty="0"/>
              <a:t>while Factory Provider is responsible for selecting and returning the appropriate factory based on client input.</a:t>
            </a:r>
          </a:p>
          <a:p>
            <a:r>
              <a:rPr lang="en-US" b="1" dirty="0"/>
              <a:t>Simple Analogy</a:t>
            </a:r>
          </a:p>
          <a:p>
            <a:r>
              <a:rPr lang="en-US" b="1" dirty="0"/>
              <a:t> Think of a Mall</a:t>
            </a:r>
          </a:p>
          <a:p>
            <a:r>
              <a:rPr lang="en-US" b="1" dirty="0"/>
              <a:t>Factory Provider</a:t>
            </a:r>
            <a:r>
              <a:rPr lang="en-US" dirty="0"/>
              <a:t> = Reception Desk</a:t>
            </a:r>
            <a:br>
              <a:rPr lang="en-US" dirty="0"/>
            </a:br>
            <a:r>
              <a:rPr lang="en-US" dirty="0"/>
              <a:t>Tells you which shop to go to </a:t>
            </a:r>
          </a:p>
          <a:p>
            <a:r>
              <a:rPr lang="en-US" b="1" dirty="0"/>
              <a:t>Abstract Factory</a:t>
            </a:r>
            <a:r>
              <a:rPr lang="en-US" dirty="0"/>
              <a:t> = Shop</a:t>
            </a:r>
            <a:br>
              <a:rPr lang="en-US" dirty="0"/>
            </a:br>
            <a:r>
              <a:rPr lang="en-US" dirty="0"/>
              <a:t> Gives you the product </a:t>
            </a:r>
          </a:p>
          <a:p>
            <a:r>
              <a:rPr lang="en-US" b="1" dirty="0"/>
              <a:t>Product</a:t>
            </a:r>
            <a:r>
              <a:rPr lang="en-US" dirty="0"/>
              <a:t> = Item you buy</a:t>
            </a:r>
          </a:p>
          <a:p>
            <a:endParaRPr lang="en-US" dirty="0"/>
          </a:p>
        </p:txBody>
      </p:sp>
      <p:sp>
        <p:nvSpPr>
          <p:cNvPr id="4" name="Slide Number Placeholder 3"/>
          <p:cNvSpPr>
            <a:spLocks noGrp="1"/>
          </p:cNvSpPr>
          <p:nvPr>
            <p:ph type="sldNum" sz="quarter" idx="10"/>
          </p:nvPr>
        </p:nvSpPr>
        <p:spPr/>
        <p:txBody>
          <a:bodyPr/>
          <a:lstStyle/>
          <a:p>
            <a:fld id="{6B419DF0-BB8B-4294-9EF9-E87F3D820543}" type="slidenum">
              <a:rPr lang="en-US" smtClean="0"/>
              <a:t>111</a:t>
            </a:fld>
            <a:endParaRPr lang="en-US"/>
          </a:p>
        </p:txBody>
      </p:sp>
    </p:spTree>
    <p:extLst>
      <p:ext uri="{BB962C8B-B14F-4D97-AF65-F5344CB8AC3E}">
        <p14:creationId xmlns:p14="http://schemas.microsoft.com/office/powerpoint/2010/main" val="408220448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err="1"/>
              <a:t>AbstractFactory</a:t>
            </a:r>
            <a:r>
              <a:rPr lang="en-US" b="1" dirty="0"/>
              <a:t> (Main Factory Interface)</a:t>
            </a:r>
          </a:p>
          <a:p>
            <a:r>
              <a:rPr lang="en-US" dirty="0"/>
              <a:t>👉 </a:t>
            </a:r>
            <a:r>
              <a:rPr lang="en-US" b="1" dirty="0"/>
              <a:t>What it is:</a:t>
            </a:r>
            <a:br>
              <a:rPr lang="en-US" dirty="0"/>
            </a:br>
            <a:r>
              <a:rPr lang="en-US" dirty="0"/>
              <a:t>A </a:t>
            </a:r>
            <a:r>
              <a:rPr lang="en-US" i="1" dirty="0"/>
              <a:t>blueprint for factories</a:t>
            </a:r>
            <a:endParaRPr lang="en-US" dirty="0"/>
          </a:p>
          <a:p>
            <a:r>
              <a:rPr lang="en-US" dirty="0"/>
              <a:t>👉 </a:t>
            </a:r>
            <a:r>
              <a:rPr lang="en-US" b="1" dirty="0"/>
              <a:t>Simple idea:</a:t>
            </a:r>
            <a:br>
              <a:rPr lang="en-US" dirty="0"/>
            </a:br>
            <a:r>
              <a:rPr lang="en-US" dirty="0"/>
              <a:t>It tells </a:t>
            </a:r>
            <a:r>
              <a:rPr lang="en-US" i="1" dirty="0"/>
              <a:t>what a factory can create</a:t>
            </a:r>
            <a:r>
              <a:rPr lang="en-US" dirty="0"/>
              <a:t>, but not </a:t>
            </a:r>
            <a:r>
              <a:rPr lang="en-US" i="1" dirty="0"/>
              <a:t>how</a:t>
            </a:r>
            <a:endParaRPr lang="en-US" dirty="0"/>
          </a:p>
          <a:p>
            <a:r>
              <a:rPr lang="en-US" dirty="0"/>
              <a:t>👉 </a:t>
            </a:r>
            <a:r>
              <a:rPr lang="en-US" b="1" dirty="0"/>
              <a:t> example:</a:t>
            </a:r>
            <a:endParaRPr lang="en-US" dirty="0"/>
          </a:p>
          <a:p>
            <a:pPr rtl="0"/>
            <a:r>
              <a:rPr lang="en-US" dirty="0"/>
              <a:t>abstract class </a:t>
            </a:r>
            <a:r>
              <a:rPr lang="en-US" dirty="0" err="1"/>
              <a:t>AbstractFactory</a:t>
            </a:r>
            <a:r>
              <a:rPr lang="en-US" dirty="0"/>
              <a:t> {</a:t>
            </a:r>
            <a:br>
              <a:rPr lang="en-US" dirty="0"/>
            </a:br>
            <a:r>
              <a:rPr lang="en-US" dirty="0"/>
              <a:t>abstract Bank </a:t>
            </a:r>
            <a:r>
              <a:rPr lang="en-US" dirty="0" err="1"/>
              <a:t>getBank</a:t>
            </a:r>
            <a:r>
              <a:rPr lang="en-US" dirty="0"/>
              <a:t>(String bank);</a:t>
            </a:r>
            <a:br>
              <a:rPr lang="en-US" dirty="0"/>
            </a:br>
            <a:r>
              <a:rPr lang="en-US" dirty="0"/>
              <a:t>abstract Loan </a:t>
            </a:r>
            <a:r>
              <a:rPr lang="en-US" dirty="0" err="1"/>
              <a:t>getLoan</a:t>
            </a:r>
            <a:r>
              <a:rPr lang="en-US" dirty="0"/>
              <a:t>(String loan);</a:t>
            </a:r>
            <a:br>
              <a:rPr lang="en-US" dirty="0"/>
            </a:br>
            <a:r>
              <a:rPr lang="en-US" dirty="0"/>
              <a:t>}</a:t>
            </a:r>
          </a:p>
          <a:p>
            <a:r>
              <a:rPr lang="en-US" dirty="0"/>
              <a:t> </a:t>
            </a:r>
            <a:r>
              <a:rPr lang="en-US" b="1" dirty="0"/>
              <a:t>In simple words:</a:t>
            </a:r>
            <a:endParaRPr lang="en-US" dirty="0"/>
          </a:p>
          <a:p>
            <a:r>
              <a:rPr lang="en-US" dirty="0"/>
              <a:t>“Any factory must be able to create Bank or Loan objects”</a:t>
            </a:r>
          </a:p>
          <a:p>
            <a:endParaRPr lang="en-US" dirty="0"/>
          </a:p>
        </p:txBody>
      </p:sp>
      <p:sp>
        <p:nvSpPr>
          <p:cNvPr id="4" name="Slide Number Placeholder 3"/>
          <p:cNvSpPr>
            <a:spLocks noGrp="1"/>
          </p:cNvSpPr>
          <p:nvPr>
            <p:ph type="sldNum" sz="quarter" idx="10"/>
          </p:nvPr>
        </p:nvSpPr>
        <p:spPr/>
        <p:txBody>
          <a:bodyPr/>
          <a:lstStyle/>
          <a:p>
            <a:fld id="{6B419DF0-BB8B-4294-9EF9-E87F3D820543}" type="slidenum">
              <a:rPr lang="en-US" smtClean="0"/>
              <a:t>112</a:t>
            </a:fld>
            <a:endParaRPr lang="en-US"/>
          </a:p>
        </p:txBody>
      </p:sp>
    </p:spTree>
    <p:extLst>
      <p:ext uri="{BB962C8B-B14F-4D97-AF65-F5344CB8AC3E}">
        <p14:creationId xmlns:p14="http://schemas.microsoft.com/office/powerpoint/2010/main" val="391687395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it is:</a:t>
            </a:r>
            <a:br>
              <a:rPr lang="en-US" dirty="0"/>
            </a:br>
            <a:r>
              <a:rPr lang="en-US" dirty="0"/>
              <a:t>Actual factories that create real objects</a:t>
            </a:r>
          </a:p>
          <a:p>
            <a:r>
              <a:rPr lang="en-US" b="1" dirty="0"/>
              <a:t> example:</a:t>
            </a:r>
            <a:endParaRPr lang="en-US" dirty="0"/>
          </a:p>
          <a:p>
            <a:r>
              <a:rPr lang="en-US" dirty="0" err="1"/>
              <a:t>BankFactory</a:t>
            </a:r>
            <a:r>
              <a:rPr lang="en-US" dirty="0"/>
              <a:t> </a:t>
            </a:r>
          </a:p>
          <a:p>
            <a:r>
              <a:rPr lang="en-US" dirty="0" err="1"/>
              <a:t>LoanFactory</a:t>
            </a:r>
            <a:endParaRPr lang="en-US" dirty="0"/>
          </a:p>
          <a:p>
            <a:r>
              <a:rPr lang="en-US" dirty="0"/>
              <a:t>“This factory knows HOW to create specific objects”</a:t>
            </a:r>
          </a:p>
        </p:txBody>
      </p:sp>
      <p:sp>
        <p:nvSpPr>
          <p:cNvPr id="4" name="Slide Number Placeholder 3"/>
          <p:cNvSpPr>
            <a:spLocks noGrp="1"/>
          </p:cNvSpPr>
          <p:nvPr>
            <p:ph type="sldNum" sz="quarter" idx="10"/>
          </p:nvPr>
        </p:nvSpPr>
        <p:spPr/>
        <p:txBody>
          <a:bodyPr/>
          <a:lstStyle/>
          <a:p>
            <a:fld id="{6B419DF0-BB8B-4294-9EF9-E87F3D820543}" type="slidenum">
              <a:rPr lang="en-US" smtClean="0"/>
              <a:t>113</a:t>
            </a:fld>
            <a:endParaRPr lang="en-US"/>
          </a:p>
        </p:txBody>
      </p:sp>
    </p:spTree>
    <p:extLst>
      <p:ext uri="{BB962C8B-B14F-4D97-AF65-F5344CB8AC3E}">
        <p14:creationId xmlns:p14="http://schemas.microsoft.com/office/powerpoint/2010/main" val="242835799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it is:</a:t>
            </a:r>
            <a:br>
              <a:rPr lang="en-US" dirty="0"/>
            </a:br>
            <a:r>
              <a:rPr lang="en-US" dirty="0"/>
              <a:t>A </a:t>
            </a:r>
            <a:r>
              <a:rPr lang="en-US" i="1" dirty="0"/>
              <a:t>common interface for products</a:t>
            </a:r>
            <a:endParaRPr lang="en-US" dirty="0"/>
          </a:p>
          <a:p>
            <a:r>
              <a:rPr lang="en-US" b="1" dirty="0"/>
              <a:t> example:</a:t>
            </a:r>
            <a:endParaRPr lang="en-US" dirty="0"/>
          </a:p>
          <a:p>
            <a:r>
              <a:rPr lang="en-US" dirty="0"/>
              <a:t>Bank </a:t>
            </a:r>
          </a:p>
          <a:p>
            <a:r>
              <a:rPr lang="en-US" dirty="0"/>
              <a:t>Loan </a:t>
            </a:r>
          </a:p>
          <a:p>
            <a:r>
              <a:rPr lang="en-US" b="1" dirty="0"/>
              <a:t>Example:</a:t>
            </a:r>
            <a:endParaRPr lang="en-US" dirty="0"/>
          </a:p>
          <a:p>
            <a:endParaRPr lang="en-US" dirty="0"/>
          </a:p>
        </p:txBody>
      </p:sp>
      <p:sp>
        <p:nvSpPr>
          <p:cNvPr id="4" name="Slide Number Placeholder 3"/>
          <p:cNvSpPr>
            <a:spLocks noGrp="1"/>
          </p:cNvSpPr>
          <p:nvPr>
            <p:ph type="sldNum" sz="quarter" idx="10"/>
          </p:nvPr>
        </p:nvSpPr>
        <p:spPr/>
        <p:txBody>
          <a:bodyPr/>
          <a:lstStyle/>
          <a:p>
            <a:fld id="{6B419DF0-BB8B-4294-9EF9-E87F3D820543}" type="slidenum">
              <a:rPr lang="en-US" smtClean="0"/>
              <a:t>114</a:t>
            </a:fld>
            <a:endParaRPr lang="en-US"/>
          </a:p>
        </p:txBody>
      </p:sp>
    </p:spTree>
    <p:extLst>
      <p:ext uri="{BB962C8B-B14F-4D97-AF65-F5344CB8AC3E}">
        <p14:creationId xmlns:p14="http://schemas.microsoft.com/office/powerpoint/2010/main" val="70098628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it is:</a:t>
            </a:r>
            <a:br>
              <a:rPr lang="en-US" dirty="0"/>
            </a:br>
            <a:r>
              <a:rPr lang="en-US" dirty="0"/>
              <a:t>Actual objects created by factories</a:t>
            </a:r>
          </a:p>
          <a:p>
            <a:r>
              <a:rPr lang="en-US" dirty="0"/>
              <a:t> </a:t>
            </a:r>
            <a:r>
              <a:rPr lang="en-US" b="1" dirty="0"/>
              <a:t>Examples:</a:t>
            </a:r>
            <a:endParaRPr lang="en-US" dirty="0"/>
          </a:p>
          <a:p>
            <a:r>
              <a:rPr lang="en-US" dirty="0"/>
              <a:t>ICIC, HBFC → Bank products </a:t>
            </a:r>
          </a:p>
          <a:p>
            <a:r>
              <a:rPr lang="en-US" dirty="0" err="1"/>
              <a:t>HomeLoan</a:t>
            </a:r>
            <a:r>
              <a:rPr lang="en-US" dirty="0"/>
              <a:t>, </a:t>
            </a:r>
            <a:r>
              <a:rPr lang="en-US" dirty="0" err="1"/>
              <a:t>BusinessLoan</a:t>
            </a:r>
            <a:r>
              <a:rPr lang="en-US" dirty="0"/>
              <a:t> → Loan products</a:t>
            </a:r>
          </a:p>
          <a:p>
            <a:endParaRPr lang="en-US" dirty="0"/>
          </a:p>
          <a:p>
            <a:endParaRPr lang="en-US" dirty="0"/>
          </a:p>
        </p:txBody>
      </p:sp>
      <p:sp>
        <p:nvSpPr>
          <p:cNvPr id="4" name="Slide Number Placeholder 3"/>
          <p:cNvSpPr>
            <a:spLocks noGrp="1"/>
          </p:cNvSpPr>
          <p:nvPr>
            <p:ph type="sldNum" sz="quarter" idx="10"/>
          </p:nvPr>
        </p:nvSpPr>
        <p:spPr/>
        <p:txBody>
          <a:bodyPr/>
          <a:lstStyle/>
          <a:p>
            <a:fld id="{6B419DF0-BB8B-4294-9EF9-E87F3D820543}" type="slidenum">
              <a:rPr lang="en-US" smtClean="0"/>
              <a:t>115</a:t>
            </a:fld>
            <a:endParaRPr lang="en-US"/>
          </a:p>
        </p:txBody>
      </p:sp>
    </p:spTree>
    <p:extLst>
      <p:ext uri="{BB962C8B-B14F-4D97-AF65-F5344CB8AC3E}">
        <p14:creationId xmlns:p14="http://schemas.microsoft.com/office/powerpoint/2010/main" val="79428374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419DF0-BB8B-4294-9EF9-E87F3D820543}" type="slidenum">
              <a:rPr lang="en-US" smtClean="0"/>
              <a:t>116</a:t>
            </a:fld>
            <a:endParaRPr lang="en-US"/>
          </a:p>
        </p:txBody>
      </p:sp>
    </p:spTree>
    <p:extLst>
      <p:ext uri="{BB962C8B-B14F-4D97-AF65-F5344CB8AC3E}">
        <p14:creationId xmlns:p14="http://schemas.microsoft.com/office/powerpoint/2010/main" val="162412825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b="1" dirty="0"/>
              <a:t>Bank &amp; Account Abstract Factory</a:t>
            </a:r>
            <a:r>
              <a:rPr lang="en-US" b="1" baseline="0" dirty="0"/>
              <a:t> </a:t>
            </a:r>
          </a:p>
          <a:p>
            <a:pPr marL="0" indent="0">
              <a:buNone/>
            </a:pPr>
            <a:r>
              <a:rPr lang="en-US" b="1" dirty="0"/>
              <a:t>Classes Involved:</a:t>
            </a:r>
          </a:p>
          <a:p>
            <a:r>
              <a:rPr lang="en-US" dirty="0" err="1"/>
              <a:t>BankFactory</a:t>
            </a:r>
            <a:r>
              <a:rPr lang="en-US" dirty="0"/>
              <a:t> and </a:t>
            </a:r>
            <a:r>
              <a:rPr lang="en-US" dirty="0" err="1"/>
              <a:t>AccountFactory</a:t>
            </a:r>
            <a:r>
              <a:rPr lang="en-US" dirty="0"/>
              <a:t>: Abstract factories</a:t>
            </a:r>
          </a:p>
          <a:p>
            <a:r>
              <a:rPr lang="en-US" dirty="0"/>
              <a:t>Bank and Account: Abstract products</a:t>
            </a:r>
          </a:p>
          <a:p>
            <a:r>
              <a:rPr lang="en-US" dirty="0" err="1"/>
              <a:t>ICICIBank</a:t>
            </a:r>
            <a:r>
              <a:rPr lang="en-US" dirty="0"/>
              <a:t>, </a:t>
            </a:r>
            <a:r>
              <a:rPr lang="en-US" dirty="0" err="1"/>
              <a:t>YesBank</a:t>
            </a:r>
            <a:r>
              <a:rPr lang="en-US" dirty="0"/>
              <a:t>: Concrete products of Bank</a:t>
            </a:r>
          </a:p>
          <a:p>
            <a:r>
              <a:rPr lang="en-US" dirty="0" err="1"/>
              <a:t>SavingAccount</a:t>
            </a:r>
            <a:r>
              <a:rPr lang="en-US" dirty="0"/>
              <a:t>, </a:t>
            </a:r>
            <a:r>
              <a:rPr lang="en-US" dirty="0" err="1"/>
              <a:t>CurrentAccount</a:t>
            </a:r>
            <a:r>
              <a:rPr lang="en-US" dirty="0"/>
              <a:t>: Concrete products of Account</a:t>
            </a:r>
          </a:p>
          <a:p>
            <a:endParaRPr lang="en-US" b="1" dirty="0"/>
          </a:p>
          <a:p>
            <a:r>
              <a:rPr lang="en-US" b="1" dirty="0"/>
              <a:t>How it works:</a:t>
            </a:r>
          </a:p>
          <a:p>
            <a:r>
              <a:rPr lang="en-US" dirty="0" err="1"/>
              <a:t>BankFactory</a:t>
            </a:r>
            <a:r>
              <a:rPr lang="en-US" dirty="0"/>
              <a:t> has a method </a:t>
            </a:r>
            <a:r>
              <a:rPr lang="en-US" dirty="0" err="1"/>
              <a:t>getBankName</a:t>
            </a:r>
            <a:r>
              <a:rPr lang="en-US" dirty="0"/>
              <a:t>() that returns a Bank object.</a:t>
            </a:r>
          </a:p>
          <a:p>
            <a:r>
              <a:rPr lang="en-US" dirty="0" err="1"/>
              <a:t>AccountFactory</a:t>
            </a:r>
            <a:r>
              <a:rPr lang="en-US" dirty="0"/>
              <a:t> has a method </a:t>
            </a:r>
            <a:r>
              <a:rPr lang="en-US" dirty="0" err="1"/>
              <a:t>getAccount</a:t>
            </a:r>
            <a:r>
              <a:rPr lang="en-US" dirty="0"/>
              <a:t>() that returns an Account object.</a:t>
            </a:r>
            <a:r>
              <a:rPr lang="en-US" baseline="0" dirty="0"/>
              <a:t> </a:t>
            </a:r>
            <a:r>
              <a:rPr lang="en-US" dirty="0"/>
              <a:t>Depending on which factory is used, the correct bank or account object is created (e.g., </a:t>
            </a:r>
            <a:r>
              <a:rPr lang="en-US" dirty="0" err="1"/>
              <a:t>ICICIBank</a:t>
            </a:r>
            <a:r>
              <a:rPr lang="en-US" dirty="0"/>
              <a:t> or </a:t>
            </a:r>
            <a:r>
              <a:rPr lang="en-US" dirty="0" err="1"/>
              <a:t>SavingAccount</a:t>
            </a:r>
            <a:r>
              <a:rPr lang="en-US" dirty="0"/>
              <a:t>).</a:t>
            </a:r>
          </a:p>
          <a:p>
            <a:endParaRPr lang="en-US" b="1" dirty="0"/>
          </a:p>
          <a:p>
            <a:r>
              <a:rPr lang="en-US" b="1" dirty="0"/>
              <a:t>Goal:</a:t>
            </a:r>
            <a:r>
              <a:rPr lang="en-US" dirty="0"/>
              <a:t> To create families of related or dependent objects (banks and accounts) without specifying their concrete classes.</a:t>
            </a:r>
          </a:p>
          <a:p>
            <a:endParaRPr lang="en-US" dirty="0"/>
          </a:p>
        </p:txBody>
      </p:sp>
      <p:sp>
        <p:nvSpPr>
          <p:cNvPr id="4" name="Slide Number Placeholder 3"/>
          <p:cNvSpPr>
            <a:spLocks noGrp="1"/>
          </p:cNvSpPr>
          <p:nvPr>
            <p:ph type="sldNum" sz="quarter" idx="10"/>
          </p:nvPr>
        </p:nvSpPr>
        <p:spPr/>
        <p:txBody>
          <a:bodyPr/>
          <a:lstStyle/>
          <a:p>
            <a:fld id="{6B419DF0-BB8B-4294-9EF9-E87F3D820543}" type="slidenum">
              <a:rPr lang="en-US" smtClean="0"/>
              <a:t>130</a:t>
            </a:fld>
            <a:endParaRPr lang="en-US"/>
          </a:p>
        </p:txBody>
      </p:sp>
    </p:spTree>
    <p:extLst>
      <p:ext uri="{BB962C8B-B14F-4D97-AF65-F5344CB8AC3E}">
        <p14:creationId xmlns:p14="http://schemas.microsoft.com/office/powerpoint/2010/main" val="242856557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Font Style &amp; Alignment Abstract Factory</a:t>
            </a:r>
          </a:p>
          <a:p>
            <a:endParaRPr lang="en-US" b="1" dirty="0"/>
          </a:p>
          <a:p>
            <a:r>
              <a:rPr lang="en-US" b="1" dirty="0"/>
              <a:t>Classes Involved:</a:t>
            </a:r>
          </a:p>
          <a:p>
            <a:r>
              <a:rPr lang="en-US" b="1" dirty="0" err="1"/>
              <a:t>AbstractFactory</a:t>
            </a:r>
            <a:r>
              <a:rPr lang="en-US" dirty="0"/>
              <a:t>: Defines </a:t>
            </a:r>
            <a:r>
              <a:rPr lang="en-US" dirty="0" err="1"/>
              <a:t>getFontStyle</a:t>
            </a:r>
            <a:r>
              <a:rPr lang="en-US" dirty="0"/>
              <a:t>() and </a:t>
            </a:r>
            <a:r>
              <a:rPr lang="en-US" dirty="0" err="1"/>
              <a:t>getAlignment</a:t>
            </a:r>
            <a:r>
              <a:rPr lang="en-US" dirty="0"/>
              <a:t>().</a:t>
            </a:r>
          </a:p>
          <a:p>
            <a:r>
              <a:rPr lang="en-US" b="1" dirty="0" err="1"/>
              <a:t>FactoryProducer</a:t>
            </a:r>
            <a:r>
              <a:rPr lang="en-US" dirty="0"/>
              <a:t>: Decides which factory to return.</a:t>
            </a:r>
          </a:p>
          <a:p>
            <a:r>
              <a:rPr lang="en-US" b="1" dirty="0" err="1"/>
              <a:t>FontStyleFactory</a:t>
            </a:r>
            <a:r>
              <a:rPr lang="en-US" b="1" dirty="0"/>
              <a:t> and </a:t>
            </a:r>
            <a:r>
              <a:rPr lang="en-US" b="1" dirty="0" err="1"/>
              <a:t>AlignmentFactory</a:t>
            </a:r>
            <a:r>
              <a:rPr lang="en-US" dirty="0"/>
              <a:t>: Concrete factories</a:t>
            </a:r>
          </a:p>
          <a:p>
            <a:r>
              <a:rPr lang="en-US" b="1" dirty="0" err="1"/>
              <a:t>FontStyle</a:t>
            </a:r>
            <a:r>
              <a:rPr lang="en-US" b="1" dirty="0"/>
              <a:t>, Alignment</a:t>
            </a:r>
            <a:r>
              <a:rPr lang="en-US" dirty="0"/>
              <a:t>: Interfaces for products</a:t>
            </a:r>
          </a:p>
          <a:p>
            <a:r>
              <a:rPr lang="en-US" b="1" dirty="0"/>
              <a:t>Plain, Bold, Italic</a:t>
            </a:r>
            <a:r>
              <a:rPr lang="en-US" dirty="0"/>
              <a:t>: Concrete font styles</a:t>
            </a:r>
          </a:p>
          <a:p>
            <a:r>
              <a:rPr lang="en-US" b="1" dirty="0"/>
              <a:t>left, center, right</a:t>
            </a:r>
            <a:r>
              <a:rPr lang="en-US" dirty="0"/>
              <a:t>: Concrete alignments</a:t>
            </a:r>
          </a:p>
          <a:p>
            <a:endParaRPr lang="en-US" b="1" dirty="0"/>
          </a:p>
          <a:p>
            <a:r>
              <a:rPr lang="en-US" b="1" dirty="0"/>
              <a:t>How it works:</a:t>
            </a:r>
          </a:p>
          <a:p>
            <a:r>
              <a:rPr lang="en-US" dirty="0" err="1"/>
              <a:t>FactoryProducer</a:t>
            </a:r>
            <a:r>
              <a:rPr lang="en-US" dirty="0"/>
              <a:t> provides the right factory (either for font or alignment).</a:t>
            </a:r>
          </a:p>
          <a:p>
            <a:r>
              <a:rPr lang="en-US" dirty="0" err="1"/>
              <a:t>FontStyleFactory</a:t>
            </a:r>
            <a:r>
              <a:rPr lang="en-US" dirty="0"/>
              <a:t> creates objects like Plain, Bold, etc.</a:t>
            </a:r>
          </a:p>
          <a:p>
            <a:r>
              <a:rPr lang="en-US" dirty="0" err="1"/>
              <a:t>AlignmentFactory</a:t>
            </a:r>
            <a:r>
              <a:rPr lang="en-US" dirty="0"/>
              <a:t> creates left, center, or right alignments.</a:t>
            </a:r>
          </a:p>
          <a:p>
            <a:endParaRPr lang="en-US" b="1" dirty="0"/>
          </a:p>
          <a:p>
            <a:r>
              <a:rPr lang="en-US" b="1" dirty="0"/>
              <a:t>Goal:</a:t>
            </a:r>
            <a:r>
              <a:rPr lang="en-US" dirty="0"/>
              <a:t> To demonstrate that multiple related object families (font + alignment) can be created without depending on concrete classes.</a:t>
            </a:r>
          </a:p>
          <a:p>
            <a:endParaRPr lang="en-US" dirty="0"/>
          </a:p>
        </p:txBody>
      </p:sp>
      <p:sp>
        <p:nvSpPr>
          <p:cNvPr id="4" name="Slide Number Placeholder 3"/>
          <p:cNvSpPr>
            <a:spLocks noGrp="1"/>
          </p:cNvSpPr>
          <p:nvPr>
            <p:ph type="sldNum" sz="quarter" idx="10"/>
          </p:nvPr>
        </p:nvSpPr>
        <p:spPr/>
        <p:txBody>
          <a:bodyPr/>
          <a:lstStyle/>
          <a:p>
            <a:fld id="{6B419DF0-BB8B-4294-9EF9-E87F3D820543}" type="slidenum">
              <a:rPr lang="en-US" smtClean="0"/>
              <a:t>131</a:t>
            </a:fld>
            <a:endParaRPr lang="en-US"/>
          </a:p>
        </p:txBody>
      </p:sp>
    </p:spTree>
    <p:extLst>
      <p:ext uri="{BB962C8B-B14F-4D97-AF65-F5344CB8AC3E}">
        <p14:creationId xmlns:p14="http://schemas.microsoft.com/office/powerpoint/2010/main" val="139216902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Shape &amp; Color Abstract Factory</a:t>
            </a:r>
          </a:p>
          <a:p>
            <a:endParaRPr lang="en-US" b="1" dirty="0"/>
          </a:p>
          <a:p>
            <a:r>
              <a:rPr lang="en-US" b="1" dirty="0"/>
              <a:t>Classes Involved:</a:t>
            </a:r>
          </a:p>
          <a:p>
            <a:r>
              <a:rPr lang="en-US" b="1" dirty="0" err="1"/>
              <a:t>AbstractFactory</a:t>
            </a:r>
            <a:r>
              <a:rPr lang="en-US" dirty="0"/>
              <a:t>: Has methods </a:t>
            </a:r>
            <a:r>
              <a:rPr lang="en-US" dirty="0" err="1"/>
              <a:t>getShape</a:t>
            </a:r>
            <a:r>
              <a:rPr lang="en-US" dirty="0"/>
              <a:t>() and </a:t>
            </a:r>
            <a:r>
              <a:rPr lang="en-US" dirty="0" err="1"/>
              <a:t>getColor</a:t>
            </a:r>
            <a:r>
              <a:rPr lang="en-US" dirty="0"/>
              <a:t>().</a:t>
            </a:r>
          </a:p>
          <a:p>
            <a:r>
              <a:rPr lang="en-US" b="1" dirty="0" err="1"/>
              <a:t>FactoryProducer</a:t>
            </a:r>
            <a:r>
              <a:rPr lang="en-US" dirty="0"/>
              <a:t>: Returns the correct factory based on need.</a:t>
            </a:r>
          </a:p>
          <a:p>
            <a:r>
              <a:rPr lang="en-US" b="1" dirty="0" err="1"/>
              <a:t>ShapeFactory</a:t>
            </a:r>
            <a:r>
              <a:rPr lang="en-US" b="1" dirty="0"/>
              <a:t> and </a:t>
            </a:r>
            <a:r>
              <a:rPr lang="en-US" b="1" dirty="0" err="1"/>
              <a:t>ColorFactory</a:t>
            </a:r>
            <a:r>
              <a:rPr lang="en-US" dirty="0"/>
              <a:t>: Concrete factories</a:t>
            </a:r>
          </a:p>
          <a:p>
            <a:r>
              <a:rPr lang="en-US" b="1" dirty="0"/>
              <a:t>Shape and Color</a:t>
            </a:r>
            <a:r>
              <a:rPr lang="en-US" dirty="0"/>
              <a:t>: Interfaces for products</a:t>
            </a:r>
          </a:p>
          <a:p>
            <a:r>
              <a:rPr lang="en-US" dirty="0"/>
              <a:t>Implementations (not shown in detail): likely Circle, Square for Shape; Red, Blue for Color.</a:t>
            </a:r>
          </a:p>
          <a:p>
            <a:endParaRPr lang="en-US" b="1" dirty="0"/>
          </a:p>
          <a:p>
            <a:r>
              <a:rPr lang="en-US" b="1" dirty="0"/>
              <a:t>How it works:</a:t>
            </a:r>
          </a:p>
          <a:p>
            <a:r>
              <a:rPr lang="en-US" dirty="0" err="1"/>
              <a:t>FactoryProducer</a:t>
            </a:r>
            <a:r>
              <a:rPr lang="en-US" dirty="0"/>
              <a:t> is asked for either a shape or color factory.</a:t>
            </a:r>
          </a:p>
          <a:p>
            <a:r>
              <a:rPr lang="en-US" dirty="0" err="1"/>
              <a:t>ShapeFactory</a:t>
            </a:r>
            <a:r>
              <a:rPr lang="en-US" dirty="0"/>
              <a:t> can return a Shape object with a draw() method.</a:t>
            </a:r>
          </a:p>
          <a:p>
            <a:r>
              <a:rPr lang="en-US" dirty="0" err="1"/>
              <a:t>ColorFactory</a:t>
            </a:r>
            <a:r>
              <a:rPr lang="en-US" dirty="0"/>
              <a:t> can return a Color object with a fill() method.</a:t>
            </a:r>
          </a:p>
          <a:p>
            <a:endParaRPr lang="en-US" b="1" dirty="0"/>
          </a:p>
          <a:p>
            <a:r>
              <a:rPr lang="en-US" b="1" dirty="0"/>
              <a:t>Goal:</a:t>
            </a:r>
            <a:r>
              <a:rPr lang="en-US" dirty="0"/>
              <a:t> Create UI objects (shapes, colors) independently but using a unified factory interface.</a:t>
            </a:r>
          </a:p>
          <a:p>
            <a:endParaRPr lang="en-US" dirty="0"/>
          </a:p>
        </p:txBody>
      </p:sp>
      <p:sp>
        <p:nvSpPr>
          <p:cNvPr id="4" name="Slide Number Placeholder 3"/>
          <p:cNvSpPr>
            <a:spLocks noGrp="1"/>
          </p:cNvSpPr>
          <p:nvPr>
            <p:ph type="sldNum" sz="quarter" idx="10"/>
          </p:nvPr>
        </p:nvSpPr>
        <p:spPr/>
        <p:txBody>
          <a:bodyPr/>
          <a:lstStyle/>
          <a:p>
            <a:fld id="{6B419DF0-BB8B-4294-9EF9-E87F3D820543}" type="slidenum">
              <a:rPr lang="en-US" smtClean="0"/>
              <a:t>132</a:t>
            </a:fld>
            <a:endParaRPr lang="en-US"/>
          </a:p>
        </p:txBody>
      </p:sp>
    </p:spTree>
    <p:extLst>
      <p:ext uri="{BB962C8B-B14F-4D97-AF65-F5344CB8AC3E}">
        <p14:creationId xmlns:p14="http://schemas.microsoft.com/office/powerpoint/2010/main" val="33388862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1FA6AB3-B2E5-4F87-AA07-7129D4620D18}" type="datetimeFigureOut">
              <a:rPr lang="en-PK" smtClean="0"/>
              <a:t>14/04/2026</a:t>
            </a:fld>
            <a:endParaRPr lang="en-PK"/>
          </a:p>
        </p:txBody>
      </p:sp>
      <p:sp>
        <p:nvSpPr>
          <p:cNvPr id="5" name="Footer Placeholder 4"/>
          <p:cNvSpPr>
            <a:spLocks noGrp="1"/>
          </p:cNvSpPr>
          <p:nvPr>
            <p:ph type="ftr" sz="quarter" idx="11"/>
          </p:nvPr>
        </p:nvSpPr>
        <p:spPr>
          <a:xfrm>
            <a:off x="5332412" y="5883275"/>
            <a:ext cx="4324044" cy="365125"/>
          </a:xfrm>
        </p:spPr>
        <p:txBody>
          <a:bodyPr/>
          <a:lstStyle/>
          <a:p>
            <a:endParaRPr lang="en-PK"/>
          </a:p>
        </p:txBody>
      </p:sp>
      <p:sp>
        <p:nvSpPr>
          <p:cNvPr id="6" name="Slide Number Placeholder 5"/>
          <p:cNvSpPr>
            <a:spLocks noGrp="1"/>
          </p:cNvSpPr>
          <p:nvPr>
            <p:ph type="sldNum" sz="quarter" idx="12"/>
          </p:nvPr>
        </p:nvSpPr>
        <p:spPr/>
        <p:txBody>
          <a:bodyPr/>
          <a:lstStyle/>
          <a:p>
            <a:fld id="{888E84C0-3F70-47A3-8908-EEB071E59CC6}" type="slidenum">
              <a:rPr lang="en-PK" smtClean="0"/>
              <a:t>‹#›</a:t>
            </a:fld>
            <a:endParaRPr lang="en-PK"/>
          </a:p>
        </p:txBody>
      </p:sp>
    </p:spTree>
    <p:extLst>
      <p:ext uri="{BB962C8B-B14F-4D97-AF65-F5344CB8AC3E}">
        <p14:creationId xmlns:p14="http://schemas.microsoft.com/office/powerpoint/2010/main" val="2773298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FA6AB3-B2E5-4F87-AA07-7129D4620D18}" type="datetimeFigureOut">
              <a:rPr lang="en-PK" smtClean="0"/>
              <a:t>14/04/2026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a:xfrm>
            <a:off x="10951856" y="5867131"/>
            <a:ext cx="551167" cy="365125"/>
          </a:xfrm>
        </p:spPr>
        <p:txBody>
          <a:bodyPr/>
          <a:lstStyle/>
          <a:p>
            <a:fld id="{888E84C0-3F70-47A3-8908-EEB071E59CC6}" type="slidenum">
              <a:rPr lang="en-PK" smtClean="0"/>
              <a:t>‹#›</a:t>
            </a:fld>
            <a:endParaRPr lang="en-PK"/>
          </a:p>
        </p:txBody>
      </p:sp>
    </p:spTree>
    <p:extLst>
      <p:ext uri="{BB962C8B-B14F-4D97-AF65-F5344CB8AC3E}">
        <p14:creationId xmlns:p14="http://schemas.microsoft.com/office/powerpoint/2010/main" val="32341873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FA6AB3-B2E5-4F87-AA07-7129D4620D18}" type="datetimeFigureOut">
              <a:rPr lang="en-PK" smtClean="0"/>
              <a:t>14/04/2026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888E84C0-3F70-47A3-8908-EEB071E59CC6}" type="slidenum">
              <a:rPr lang="en-PK" smtClean="0"/>
              <a:t>‹#›</a:t>
            </a:fld>
            <a:endParaRPr lang="en-PK"/>
          </a:p>
        </p:txBody>
      </p:sp>
    </p:spTree>
    <p:extLst>
      <p:ext uri="{BB962C8B-B14F-4D97-AF65-F5344CB8AC3E}">
        <p14:creationId xmlns:p14="http://schemas.microsoft.com/office/powerpoint/2010/main" val="1898703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1FA6AB3-B2E5-4F87-AA07-7129D4620D18}" type="datetimeFigureOut">
              <a:rPr lang="en-PK" smtClean="0"/>
              <a:t>14/04/2026</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888E84C0-3F70-47A3-8908-EEB071E59CC6}" type="slidenum">
              <a:rPr lang="en-PK" smtClean="0"/>
              <a:t>‹#›</a:t>
            </a:fld>
            <a:endParaRPr lang="en-PK"/>
          </a:p>
        </p:txBody>
      </p:sp>
    </p:spTree>
    <p:extLst>
      <p:ext uri="{BB962C8B-B14F-4D97-AF65-F5344CB8AC3E}">
        <p14:creationId xmlns:p14="http://schemas.microsoft.com/office/powerpoint/2010/main" val="511524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1FA6AB3-B2E5-4F87-AA07-7129D4620D18}" type="datetimeFigureOut">
              <a:rPr lang="en-PK" smtClean="0"/>
              <a:t>14/04/2026</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888E84C0-3F70-47A3-8908-EEB071E59CC6}" type="slidenum">
              <a:rPr lang="en-PK" smtClean="0"/>
              <a:t>‹#›</a:t>
            </a:fld>
            <a:endParaRPr lang="en-PK"/>
          </a:p>
        </p:txBody>
      </p:sp>
    </p:spTree>
    <p:extLst>
      <p:ext uri="{BB962C8B-B14F-4D97-AF65-F5344CB8AC3E}">
        <p14:creationId xmlns:p14="http://schemas.microsoft.com/office/powerpoint/2010/main" val="2875549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1FA6AB3-B2E5-4F87-AA07-7129D4620D18}" type="datetimeFigureOut">
              <a:rPr lang="en-PK" smtClean="0"/>
              <a:t>14/04/2026</a:t>
            </a:fld>
            <a:endParaRPr lang="en-PK"/>
          </a:p>
        </p:txBody>
      </p:sp>
      <p:sp>
        <p:nvSpPr>
          <p:cNvPr id="4" name="Footer Placeholder 3"/>
          <p:cNvSpPr>
            <a:spLocks noGrp="1"/>
          </p:cNvSpPr>
          <p:nvPr>
            <p:ph type="ftr" sz="quarter" idx="11"/>
          </p:nvPr>
        </p:nvSpPr>
        <p:spPr/>
        <p:txBody>
          <a:bodyPr/>
          <a:lstStyle/>
          <a:p>
            <a:endParaRPr lang="en-PK"/>
          </a:p>
        </p:txBody>
      </p:sp>
      <p:sp>
        <p:nvSpPr>
          <p:cNvPr id="5" name="Slide Number Placeholder 4"/>
          <p:cNvSpPr>
            <a:spLocks noGrp="1"/>
          </p:cNvSpPr>
          <p:nvPr>
            <p:ph type="sldNum" sz="quarter" idx="12"/>
          </p:nvPr>
        </p:nvSpPr>
        <p:spPr/>
        <p:txBody>
          <a:bodyPr/>
          <a:lstStyle/>
          <a:p>
            <a:fld id="{888E84C0-3F70-47A3-8908-EEB071E59CC6}" type="slidenum">
              <a:rPr lang="en-PK" smtClean="0"/>
              <a:t>‹#›</a:t>
            </a:fld>
            <a:endParaRPr lang="en-PK"/>
          </a:p>
        </p:txBody>
      </p:sp>
    </p:spTree>
    <p:extLst>
      <p:ext uri="{BB962C8B-B14F-4D97-AF65-F5344CB8AC3E}">
        <p14:creationId xmlns:p14="http://schemas.microsoft.com/office/powerpoint/2010/main" val="17806123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FA6AB3-B2E5-4F87-AA07-7129D4620D18}" type="datetimeFigureOut">
              <a:rPr lang="en-PK" smtClean="0"/>
              <a:t>14/04/2026</a:t>
            </a:fld>
            <a:endParaRPr lang="en-PK"/>
          </a:p>
        </p:txBody>
      </p:sp>
      <p:sp>
        <p:nvSpPr>
          <p:cNvPr id="3" name="Footer Placeholder 2"/>
          <p:cNvSpPr>
            <a:spLocks noGrp="1"/>
          </p:cNvSpPr>
          <p:nvPr>
            <p:ph type="ftr" sz="quarter" idx="11"/>
          </p:nvPr>
        </p:nvSpPr>
        <p:spPr/>
        <p:txBody>
          <a:bodyPr/>
          <a:lstStyle/>
          <a:p>
            <a:endParaRPr lang="en-PK"/>
          </a:p>
        </p:txBody>
      </p:sp>
      <p:sp>
        <p:nvSpPr>
          <p:cNvPr id="4" name="Slide Number Placeholder 3"/>
          <p:cNvSpPr>
            <a:spLocks noGrp="1"/>
          </p:cNvSpPr>
          <p:nvPr>
            <p:ph type="sldNum" sz="quarter" idx="12"/>
          </p:nvPr>
        </p:nvSpPr>
        <p:spPr/>
        <p:txBody>
          <a:bodyPr/>
          <a:lstStyle/>
          <a:p>
            <a:fld id="{888E84C0-3F70-47A3-8908-EEB071E59CC6}" type="slidenum">
              <a:rPr lang="en-PK" smtClean="0"/>
              <a:t>‹#›</a:t>
            </a:fld>
            <a:endParaRPr lang="en-PK"/>
          </a:p>
        </p:txBody>
      </p:sp>
    </p:spTree>
    <p:extLst>
      <p:ext uri="{BB962C8B-B14F-4D97-AF65-F5344CB8AC3E}">
        <p14:creationId xmlns:p14="http://schemas.microsoft.com/office/powerpoint/2010/main" val="16209701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FA6AB3-B2E5-4F87-AA07-7129D4620D18}" type="datetimeFigureOut">
              <a:rPr lang="en-PK" smtClean="0"/>
              <a:t>14/04/2026</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888E84C0-3F70-47A3-8908-EEB071E59CC6}" type="slidenum">
              <a:rPr lang="en-PK" smtClean="0"/>
              <a:t>‹#›</a:t>
            </a:fld>
            <a:endParaRPr lang="en-PK"/>
          </a:p>
        </p:txBody>
      </p:sp>
    </p:spTree>
    <p:extLst>
      <p:ext uri="{BB962C8B-B14F-4D97-AF65-F5344CB8AC3E}">
        <p14:creationId xmlns:p14="http://schemas.microsoft.com/office/powerpoint/2010/main" val="1973038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FA6AB3-B2E5-4F87-AA07-7129D4620D18}" type="datetimeFigureOut">
              <a:rPr lang="en-PK" smtClean="0"/>
              <a:t>14/04/2026</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888E84C0-3F70-47A3-8908-EEB071E59CC6}" type="slidenum">
              <a:rPr lang="en-PK" smtClean="0"/>
              <a:t>‹#›</a:t>
            </a:fld>
            <a:endParaRPr lang="en-PK"/>
          </a:p>
        </p:txBody>
      </p:sp>
    </p:spTree>
    <p:extLst>
      <p:ext uri="{BB962C8B-B14F-4D97-AF65-F5344CB8AC3E}">
        <p14:creationId xmlns:p14="http://schemas.microsoft.com/office/powerpoint/2010/main" val="1384751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FA6AB3-B2E5-4F87-AA07-7129D4620D18}" type="datetimeFigureOut">
              <a:rPr lang="en-PK" smtClean="0"/>
              <a:t>14/04/2026</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888E84C0-3F70-47A3-8908-EEB071E59CC6}" type="slidenum">
              <a:rPr lang="en-PK" smtClean="0"/>
              <a:t>‹#›</a:t>
            </a:fld>
            <a:endParaRPr lang="en-PK"/>
          </a:p>
        </p:txBody>
      </p:sp>
    </p:spTree>
    <p:extLst>
      <p:ext uri="{BB962C8B-B14F-4D97-AF65-F5344CB8AC3E}">
        <p14:creationId xmlns:p14="http://schemas.microsoft.com/office/powerpoint/2010/main" val="1829383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FA6AB3-B2E5-4F87-AA07-7129D4620D18}" type="datetimeFigureOut">
              <a:rPr lang="en-PK" smtClean="0"/>
              <a:t>14/04/2026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888E84C0-3F70-47A3-8908-EEB071E59CC6}" type="slidenum">
              <a:rPr lang="en-PK" smtClean="0"/>
              <a:t>‹#›</a:t>
            </a:fld>
            <a:endParaRPr lang="en-PK"/>
          </a:p>
        </p:txBody>
      </p:sp>
    </p:spTree>
    <p:extLst>
      <p:ext uri="{BB962C8B-B14F-4D97-AF65-F5344CB8AC3E}">
        <p14:creationId xmlns:p14="http://schemas.microsoft.com/office/powerpoint/2010/main" val="41393758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FA6AB3-B2E5-4F87-AA07-7129D4620D18}" type="datetimeFigureOut">
              <a:rPr lang="en-PK" smtClean="0"/>
              <a:t>14/04/2026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888E84C0-3F70-47A3-8908-EEB071E59CC6}" type="slidenum">
              <a:rPr lang="en-PK" smtClean="0"/>
              <a:t>‹#›</a:t>
            </a:fld>
            <a:endParaRPr lang="en-PK"/>
          </a:p>
        </p:txBody>
      </p:sp>
    </p:spTree>
    <p:extLst>
      <p:ext uri="{BB962C8B-B14F-4D97-AF65-F5344CB8AC3E}">
        <p14:creationId xmlns:p14="http://schemas.microsoft.com/office/powerpoint/2010/main" val="23351690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FA6AB3-B2E5-4F87-AA07-7129D4620D18}" type="datetimeFigureOut">
              <a:rPr lang="en-PK" smtClean="0"/>
              <a:t>14/04/2026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888E84C0-3F70-47A3-8908-EEB071E59CC6}" type="slidenum">
              <a:rPr lang="en-PK" smtClean="0"/>
              <a:t>‹#›</a:t>
            </a:fld>
            <a:endParaRPr lang="en-PK"/>
          </a:p>
        </p:txBody>
      </p:sp>
    </p:spTree>
    <p:extLst>
      <p:ext uri="{BB962C8B-B14F-4D97-AF65-F5344CB8AC3E}">
        <p14:creationId xmlns:p14="http://schemas.microsoft.com/office/powerpoint/2010/main" val="41954103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FA6AB3-B2E5-4F87-AA07-7129D4620D18}" type="datetimeFigureOut">
              <a:rPr lang="en-PK" smtClean="0"/>
              <a:t>14/04/2026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888E84C0-3F70-47A3-8908-EEB071E59CC6}" type="slidenum">
              <a:rPr lang="en-PK" smtClean="0"/>
              <a:t>‹#›</a:t>
            </a:fld>
            <a:endParaRPr lang="en-PK"/>
          </a:p>
        </p:txBody>
      </p:sp>
    </p:spTree>
    <p:extLst>
      <p:ext uri="{BB962C8B-B14F-4D97-AF65-F5344CB8AC3E}">
        <p14:creationId xmlns:p14="http://schemas.microsoft.com/office/powerpoint/2010/main" val="9915955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FA6AB3-B2E5-4F87-AA07-7129D4620D18}" type="datetimeFigureOut">
              <a:rPr lang="en-PK" smtClean="0"/>
              <a:t>14/04/2026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888E84C0-3F70-47A3-8908-EEB071E59CC6}" type="slidenum">
              <a:rPr lang="en-PK" smtClean="0"/>
              <a:t>‹#›</a:t>
            </a:fld>
            <a:endParaRPr lang="en-PK"/>
          </a:p>
        </p:txBody>
      </p:sp>
    </p:spTree>
    <p:extLst>
      <p:ext uri="{BB962C8B-B14F-4D97-AF65-F5344CB8AC3E}">
        <p14:creationId xmlns:p14="http://schemas.microsoft.com/office/powerpoint/2010/main" val="26228893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FA6AB3-B2E5-4F87-AA07-7129D4620D18}" type="datetimeFigureOut">
              <a:rPr lang="en-PK" smtClean="0"/>
              <a:t>14/04/2026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888E84C0-3F70-47A3-8908-EEB071E59CC6}" type="slidenum">
              <a:rPr lang="en-PK" smtClean="0"/>
              <a:t>‹#›</a:t>
            </a:fld>
            <a:endParaRPr lang="en-PK"/>
          </a:p>
        </p:txBody>
      </p:sp>
    </p:spTree>
    <p:extLst>
      <p:ext uri="{BB962C8B-B14F-4D97-AF65-F5344CB8AC3E}">
        <p14:creationId xmlns:p14="http://schemas.microsoft.com/office/powerpoint/2010/main" val="30136621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FA6AB3-B2E5-4F87-AA07-7129D4620D18}" type="datetimeFigureOut">
              <a:rPr lang="en-PK" smtClean="0"/>
              <a:t>14/04/2026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888E84C0-3F70-47A3-8908-EEB071E59CC6}" type="slidenum">
              <a:rPr lang="en-PK" smtClean="0"/>
              <a:t>‹#›</a:t>
            </a:fld>
            <a:endParaRPr lang="en-PK"/>
          </a:p>
        </p:txBody>
      </p:sp>
    </p:spTree>
    <p:extLst>
      <p:ext uri="{BB962C8B-B14F-4D97-AF65-F5344CB8AC3E}">
        <p14:creationId xmlns:p14="http://schemas.microsoft.com/office/powerpoint/2010/main" val="5601242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24903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1FA6AB3-B2E5-4F87-AA07-7129D4620D18}" type="datetimeFigureOut">
              <a:rPr lang="en-PK" smtClean="0"/>
              <a:t>14/04/2026</a:t>
            </a:fld>
            <a:endParaRPr lang="en-PK"/>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PK"/>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88E84C0-3F70-47A3-8908-EEB071E59CC6}" type="slidenum">
              <a:rPr lang="en-PK" smtClean="0"/>
              <a:t>‹#›</a:t>
            </a:fld>
            <a:endParaRPr lang="en-PK"/>
          </a:p>
        </p:txBody>
      </p:sp>
    </p:spTree>
    <p:extLst>
      <p:ext uri="{BB962C8B-B14F-4D97-AF65-F5344CB8AC3E}">
        <p14:creationId xmlns:p14="http://schemas.microsoft.com/office/powerpoint/2010/main" val="10638466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d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2.xml"/><Relationship Id="rId1" Type="http://schemas.openxmlformats.org/officeDocument/2006/relationships/slideLayout" Target="../slideLayouts/slideLayout18.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8.xml"/></Relationships>
</file>

<file path=ppt/slides/_rels/slide84.xml.rels><?xml version="1.0" encoding="UTF-8" standalone="yes"?>
<Relationships xmlns="http://schemas.openxmlformats.org/package/2006/relationships"><Relationship Id="rId3" Type="http://schemas.openxmlformats.org/officeDocument/2006/relationships/hyperlink" Target="http://javarevisited.blogspot.com/2012/03/what-is-encapsulation-in-java-and-oops.html"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notesSlide" Target="../notesSlides/notesSlide57.xml"/><Relationship Id="rId1" Type="http://schemas.openxmlformats.org/officeDocument/2006/relationships/slideLayout" Target="../slideLayouts/slideLayout7.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33600" y="990601"/>
            <a:ext cx="7772400" cy="1470025"/>
          </a:xfrm>
        </p:spPr>
        <p:txBody>
          <a:bodyPr>
            <a:noAutofit/>
          </a:bodyPr>
          <a:lstStyle/>
          <a:p>
            <a:r>
              <a:rPr lang="en-US" sz="4000" b="1" dirty="0">
                <a:solidFill>
                  <a:schemeClr val="accent6">
                    <a:lumMod val="50000"/>
                  </a:schemeClr>
                </a:solidFill>
              </a:rPr>
              <a:t>Advance Software Engineering</a:t>
            </a:r>
          </a:p>
        </p:txBody>
      </p:sp>
      <p:sp>
        <p:nvSpPr>
          <p:cNvPr id="5" name="Subtitle 4"/>
          <p:cNvSpPr>
            <a:spLocks noGrp="1"/>
          </p:cNvSpPr>
          <p:nvPr>
            <p:ph type="subTitle" idx="1"/>
          </p:nvPr>
        </p:nvSpPr>
        <p:spPr/>
        <p:txBody>
          <a:bodyPr/>
          <a:lstStyle/>
          <a:p>
            <a:r>
              <a:rPr lang="en-US" dirty="0"/>
              <a:t>Ms. Shehla Saeed</a:t>
            </a:r>
          </a:p>
        </p:txBody>
      </p:sp>
      <p:sp>
        <p:nvSpPr>
          <p:cNvPr id="4" name="Title 1"/>
          <p:cNvSpPr txBox="1">
            <a:spLocks/>
          </p:cNvSpPr>
          <p:nvPr/>
        </p:nvSpPr>
        <p:spPr>
          <a:xfrm>
            <a:off x="2209800" y="2590801"/>
            <a:ext cx="7772400" cy="1470025"/>
          </a:xfrm>
          <a:prstGeom prst="rect">
            <a:avLst/>
          </a:prstGeom>
        </p:spPr>
        <p:txBody>
          <a:bodyPr vert="horz" lIns="91440" tIns="45720" rIns="91440" bIns="45720" rtlCol="0" anchor="ctr">
            <a:noAutofit/>
          </a:bodyPr>
          <a:lstStyle/>
          <a:p>
            <a:pPr algn="ctr">
              <a:spcBef>
                <a:spcPct val="0"/>
              </a:spcBef>
              <a:defRPr/>
            </a:pPr>
            <a:r>
              <a:rPr lang="en-US" sz="6600" b="1" dirty="0">
                <a:solidFill>
                  <a:srgbClr val="C00000"/>
                </a:solidFill>
                <a:latin typeface="+mj-lt"/>
                <a:ea typeface="+mj-ea"/>
                <a:cs typeface="+mj-cs"/>
              </a:rPr>
              <a:t>Architecture Design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Design?</a:t>
            </a:r>
          </a:p>
        </p:txBody>
      </p:sp>
      <p:sp>
        <p:nvSpPr>
          <p:cNvPr id="3" name="Content Placeholder 2"/>
          <p:cNvSpPr>
            <a:spLocks noGrp="1"/>
          </p:cNvSpPr>
          <p:nvPr>
            <p:ph idx="1"/>
          </p:nvPr>
        </p:nvSpPr>
        <p:spPr/>
        <p:txBody>
          <a:bodyPr/>
          <a:lstStyle/>
          <a:p>
            <a:r>
              <a:rPr lang="en-US" dirty="0"/>
              <a:t>Design allows you to </a:t>
            </a:r>
            <a:r>
              <a:rPr lang="en-US" b="1" dirty="0"/>
              <a:t>model</a:t>
            </a:r>
            <a:r>
              <a:rPr lang="en-US" dirty="0"/>
              <a:t> the system or product that is to be </a:t>
            </a:r>
            <a:r>
              <a:rPr lang="en-US" b="1" dirty="0"/>
              <a:t>built</a:t>
            </a:r>
            <a:r>
              <a:rPr lang="en-US" dirty="0"/>
              <a:t>.</a:t>
            </a:r>
          </a:p>
          <a:p>
            <a:r>
              <a:rPr lang="en-US" dirty="0"/>
              <a:t>Design helps to understand </a:t>
            </a:r>
            <a:r>
              <a:rPr lang="en-US" b="1" dirty="0"/>
              <a:t>Technical details</a:t>
            </a:r>
            <a:r>
              <a:rPr lang="en-US" dirty="0"/>
              <a:t> better.</a:t>
            </a:r>
          </a:p>
          <a:p>
            <a:r>
              <a:rPr lang="en-US" dirty="0"/>
              <a:t>Design is a </a:t>
            </a:r>
            <a:r>
              <a:rPr lang="en-US" b="1" dirty="0"/>
              <a:t>Process</a:t>
            </a:r>
            <a:r>
              <a:rPr lang="en-US" dirty="0"/>
              <a:t> of Converting:</a:t>
            </a:r>
          </a:p>
          <a:p>
            <a:pPr marL="0" indent="0">
              <a:buNone/>
            </a:pPr>
            <a:r>
              <a:rPr lang="en-US" b="1" dirty="0"/>
              <a:t>  What to do??</a:t>
            </a:r>
            <a:r>
              <a:rPr lang="en-US" dirty="0"/>
              <a:t>    =======</a:t>
            </a:r>
            <a:r>
              <a:rPr lang="en-US" dirty="0">
                <a:sym typeface="Wingdings" panose="05000000000000000000" pitchFamily="2" charset="2"/>
              </a:rPr>
              <a:t> </a:t>
            </a:r>
            <a:r>
              <a:rPr lang="en-US" b="1" dirty="0">
                <a:sym typeface="Wingdings" panose="05000000000000000000" pitchFamily="2" charset="2"/>
              </a:rPr>
              <a:t>How to do?</a:t>
            </a:r>
            <a:br>
              <a:rPr lang="en-US" b="1" dirty="0">
                <a:sym typeface="Wingdings" panose="05000000000000000000" pitchFamily="2" charset="2"/>
              </a:rPr>
            </a:br>
            <a:r>
              <a:rPr lang="en-US" b="1" dirty="0">
                <a:sym typeface="Wingdings" panose="05000000000000000000" pitchFamily="2" charset="2"/>
              </a:rPr>
              <a:t>     (</a:t>
            </a:r>
            <a:r>
              <a:rPr lang="en-US" dirty="0">
                <a:sym typeface="Wingdings" panose="05000000000000000000" pitchFamily="2" charset="2"/>
              </a:rPr>
              <a:t>R.E</a:t>
            </a:r>
            <a:r>
              <a:rPr lang="en-US" b="1" dirty="0">
                <a:sym typeface="Wingdings" panose="05000000000000000000" pitchFamily="2" charset="2"/>
              </a:rPr>
              <a:t>)				    (</a:t>
            </a:r>
            <a:r>
              <a:rPr lang="en-US" dirty="0">
                <a:sym typeface="Wingdings" panose="05000000000000000000" pitchFamily="2" charset="2"/>
              </a:rPr>
              <a:t>Design</a:t>
            </a:r>
            <a:r>
              <a:rPr lang="en-US" b="1" dirty="0">
                <a:sym typeface="Wingdings" panose="05000000000000000000" pitchFamily="2" charset="2"/>
              </a:rPr>
              <a:t>)</a:t>
            </a:r>
            <a:endParaRPr lang="en-US" b="1" dirty="0"/>
          </a:p>
        </p:txBody>
      </p:sp>
    </p:spTree>
    <p:extLst>
      <p:ext uri="{BB962C8B-B14F-4D97-AF65-F5344CB8AC3E}">
        <p14:creationId xmlns:p14="http://schemas.microsoft.com/office/powerpoint/2010/main" val="23895603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Design?</a:t>
            </a:r>
          </a:p>
        </p:txBody>
      </p:sp>
      <p:sp>
        <p:nvSpPr>
          <p:cNvPr id="3" name="Content Placeholder 2"/>
          <p:cNvSpPr>
            <a:spLocks noGrp="1"/>
          </p:cNvSpPr>
          <p:nvPr>
            <p:ph idx="1"/>
          </p:nvPr>
        </p:nvSpPr>
        <p:spPr/>
        <p:txBody>
          <a:bodyPr>
            <a:normAutofit lnSpcReduction="10000"/>
          </a:bodyPr>
          <a:lstStyle/>
          <a:p>
            <a:r>
              <a:rPr lang="en-US" dirty="0"/>
              <a:t>Design is what almost every engineer wants to do, core of engineering process</a:t>
            </a:r>
          </a:p>
          <a:p>
            <a:r>
              <a:rPr lang="en-US" dirty="0"/>
              <a:t>It is the place where creativity rules—where</a:t>
            </a:r>
          </a:p>
          <a:p>
            <a:pPr lvl="1"/>
            <a:r>
              <a:rPr lang="en-US" b="1" dirty="0"/>
              <a:t>stakeholder</a:t>
            </a:r>
            <a:r>
              <a:rPr lang="en-US" dirty="0"/>
              <a:t> requirements,</a:t>
            </a:r>
          </a:p>
          <a:p>
            <a:pPr lvl="1"/>
            <a:r>
              <a:rPr lang="en-US" dirty="0"/>
              <a:t> </a:t>
            </a:r>
            <a:r>
              <a:rPr lang="en-US" b="1" dirty="0"/>
              <a:t>business</a:t>
            </a:r>
            <a:r>
              <a:rPr lang="en-US" dirty="0"/>
              <a:t> needs, </a:t>
            </a:r>
          </a:p>
          <a:p>
            <a:pPr lvl="1"/>
            <a:r>
              <a:rPr lang="en-US" dirty="0"/>
              <a:t>and </a:t>
            </a:r>
            <a:r>
              <a:rPr lang="en-US" b="1" dirty="0"/>
              <a:t>technical</a:t>
            </a:r>
            <a:r>
              <a:rPr lang="en-US" dirty="0"/>
              <a:t> considerations</a:t>
            </a:r>
          </a:p>
          <a:p>
            <a:pPr marL="0" indent="0">
              <a:buNone/>
            </a:pPr>
            <a:r>
              <a:rPr lang="en-US" dirty="0"/>
              <a:t>  all come together in the </a:t>
            </a:r>
            <a:r>
              <a:rPr lang="en-US" b="1" dirty="0"/>
              <a:t>formulation</a:t>
            </a:r>
            <a:r>
              <a:rPr lang="en-US" dirty="0"/>
              <a:t> of a </a:t>
            </a:r>
            <a:r>
              <a:rPr lang="en-US" u="sng" dirty="0"/>
              <a:t>product or system</a:t>
            </a:r>
          </a:p>
        </p:txBody>
      </p:sp>
    </p:spTree>
    <p:extLst>
      <p:ext uri="{BB962C8B-B14F-4D97-AF65-F5344CB8AC3E}">
        <p14:creationId xmlns:p14="http://schemas.microsoft.com/office/powerpoint/2010/main" val="3690277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Design?</a:t>
            </a:r>
            <a:endParaRPr lang="en-US" dirty="0"/>
          </a:p>
        </p:txBody>
      </p:sp>
      <p:sp>
        <p:nvSpPr>
          <p:cNvPr id="3" name="Content Placeholder 2"/>
          <p:cNvSpPr>
            <a:spLocks noGrp="1"/>
          </p:cNvSpPr>
          <p:nvPr>
            <p:ph idx="1"/>
          </p:nvPr>
        </p:nvSpPr>
        <p:spPr/>
        <p:txBody>
          <a:bodyPr>
            <a:normAutofit lnSpcReduction="10000"/>
          </a:bodyPr>
          <a:lstStyle/>
          <a:p>
            <a:endParaRPr lang="en-US" dirty="0"/>
          </a:p>
          <a:p>
            <a:r>
              <a:rPr lang="en-US" dirty="0"/>
              <a:t>The design model provides detail about </a:t>
            </a:r>
          </a:p>
          <a:p>
            <a:pPr lvl="1"/>
            <a:r>
              <a:rPr lang="en-US" b="1" dirty="0"/>
              <a:t>software architecture</a:t>
            </a:r>
            <a:r>
              <a:rPr lang="en-US" dirty="0"/>
              <a:t>, </a:t>
            </a:r>
          </a:p>
          <a:p>
            <a:pPr lvl="1"/>
            <a:r>
              <a:rPr lang="en-US" b="1" dirty="0"/>
              <a:t>data structures</a:t>
            </a:r>
            <a:r>
              <a:rPr lang="en-US" dirty="0"/>
              <a:t>, </a:t>
            </a:r>
          </a:p>
          <a:p>
            <a:pPr lvl="1"/>
            <a:r>
              <a:rPr lang="en-US" b="1" dirty="0"/>
              <a:t>interfaces</a:t>
            </a:r>
            <a:r>
              <a:rPr lang="en-US" dirty="0"/>
              <a:t>, and </a:t>
            </a:r>
          </a:p>
          <a:p>
            <a:pPr lvl="1"/>
            <a:r>
              <a:rPr lang="en-US" b="1" dirty="0"/>
              <a:t>Components</a:t>
            </a:r>
          </a:p>
          <a:p>
            <a:pPr marL="0" indent="0">
              <a:buNone/>
            </a:pPr>
            <a:r>
              <a:rPr lang="en-US" dirty="0"/>
              <a:t> that are necessary to </a:t>
            </a:r>
            <a:r>
              <a:rPr lang="en-US" b="1" dirty="0"/>
              <a:t>implement</a:t>
            </a:r>
            <a:r>
              <a:rPr lang="en-US" dirty="0"/>
              <a:t> the system</a:t>
            </a:r>
          </a:p>
        </p:txBody>
      </p:sp>
    </p:spTree>
    <p:extLst>
      <p:ext uri="{BB962C8B-B14F-4D97-AF65-F5344CB8AC3E}">
        <p14:creationId xmlns:p14="http://schemas.microsoft.com/office/powerpoint/2010/main" val="17176186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rPr>
              <a:t>System</a:t>
            </a:r>
            <a:endParaRPr lang="en-US" dirty="0">
              <a:solidFill>
                <a:srgbClr val="002060"/>
              </a:solidFill>
            </a:endParaRPr>
          </a:p>
        </p:txBody>
      </p:sp>
      <p:sp>
        <p:nvSpPr>
          <p:cNvPr id="3" name="Content Placeholder 2"/>
          <p:cNvSpPr>
            <a:spLocks noGrp="1"/>
          </p:cNvSpPr>
          <p:nvPr>
            <p:ph idx="1"/>
          </p:nvPr>
        </p:nvSpPr>
        <p:spPr/>
        <p:txBody>
          <a:bodyPr/>
          <a:lstStyle/>
          <a:p>
            <a:pPr>
              <a:buNone/>
            </a:pPr>
            <a:endParaRPr lang="en-US" dirty="0"/>
          </a:p>
          <a:p>
            <a:pPr algn="just">
              <a:buNone/>
            </a:pPr>
            <a:r>
              <a:rPr lang="en-US" dirty="0"/>
              <a:t>	</a:t>
            </a:r>
            <a:r>
              <a:rPr lang="en-US" b="1" dirty="0"/>
              <a:t>A system is a collection of components organized to accomplish a specific function or set of functions</a:t>
            </a:r>
          </a:p>
          <a:p>
            <a:pPr algn="just">
              <a:buNone/>
            </a:pPr>
            <a:endParaRPr lang="en-US" b="1" dirty="0"/>
          </a:p>
          <a:p>
            <a:pPr>
              <a:buNone/>
            </a:pPr>
            <a:r>
              <a:rPr lang="en-US" b="1" dirty="0"/>
              <a:t>	</a:t>
            </a:r>
            <a:r>
              <a:rPr lang="en-US" dirty="0"/>
              <a:t>(IEEE Std. 610.12-1990)</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rPr>
              <a:t>Software Architecture</a:t>
            </a:r>
            <a:endParaRPr lang="en-US" dirty="0">
              <a:solidFill>
                <a:srgbClr val="002060"/>
              </a:solidFill>
            </a:endParaRPr>
          </a:p>
        </p:txBody>
      </p:sp>
      <p:sp>
        <p:nvSpPr>
          <p:cNvPr id="3" name="Content Placeholder 2"/>
          <p:cNvSpPr>
            <a:spLocks noGrp="1"/>
          </p:cNvSpPr>
          <p:nvPr>
            <p:ph idx="1"/>
          </p:nvPr>
        </p:nvSpPr>
        <p:spPr>
          <a:xfrm>
            <a:off x="1828800" y="1600201"/>
            <a:ext cx="8229600" cy="4525963"/>
          </a:xfrm>
        </p:spPr>
        <p:txBody>
          <a:bodyPr/>
          <a:lstStyle/>
          <a:p>
            <a:pPr>
              <a:buNone/>
            </a:pPr>
            <a:endParaRPr lang="en-US" dirty="0"/>
          </a:p>
          <a:p>
            <a:pPr algn="just">
              <a:buNone/>
            </a:pPr>
            <a:r>
              <a:rPr lang="en-US" dirty="0"/>
              <a:t>	The software architecture of a program or computing system is the </a:t>
            </a:r>
            <a:r>
              <a:rPr lang="en-US" b="1" dirty="0"/>
              <a:t>structure or structures</a:t>
            </a:r>
            <a:r>
              <a:rPr lang="en-US" dirty="0"/>
              <a:t> of the system, which comprise software elements, and the </a:t>
            </a:r>
            <a:r>
              <a:rPr lang="en-US" b="1" dirty="0"/>
              <a:t>relationships</a:t>
            </a:r>
            <a:r>
              <a:rPr lang="en-US" dirty="0"/>
              <a:t> among them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rPr>
              <a:t>Software Architecture</a:t>
            </a:r>
            <a:endParaRPr lang="en-US" dirty="0">
              <a:solidFill>
                <a:srgbClr val="002060"/>
              </a:solidFill>
            </a:endParaRPr>
          </a:p>
        </p:txBody>
      </p:sp>
      <p:sp>
        <p:nvSpPr>
          <p:cNvPr id="3" name="Content Placeholder 2"/>
          <p:cNvSpPr>
            <a:spLocks noGrp="1"/>
          </p:cNvSpPr>
          <p:nvPr>
            <p:ph idx="1"/>
          </p:nvPr>
        </p:nvSpPr>
        <p:spPr>
          <a:xfrm>
            <a:off x="1828800" y="1600201"/>
            <a:ext cx="8229600" cy="4525963"/>
          </a:xfrm>
        </p:spPr>
        <p:txBody>
          <a:bodyPr/>
          <a:lstStyle/>
          <a:p>
            <a:pPr>
              <a:buNone/>
            </a:pPr>
            <a:endParaRPr lang="en-US" dirty="0"/>
          </a:p>
          <a:p>
            <a:pPr algn="just">
              <a:buNone/>
            </a:pPr>
            <a:r>
              <a:rPr lang="en-US" dirty="0"/>
              <a:t>	Architectural design represents the structure of </a:t>
            </a:r>
            <a:r>
              <a:rPr lang="en-US" b="1" dirty="0"/>
              <a:t>data</a:t>
            </a:r>
            <a:r>
              <a:rPr lang="en-US" dirty="0"/>
              <a:t> and </a:t>
            </a:r>
            <a:r>
              <a:rPr lang="en-US" b="1" dirty="0"/>
              <a:t>program</a:t>
            </a:r>
            <a:r>
              <a:rPr lang="en-US" dirty="0"/>
              <a:t> components that are required to build a computer-based system.</a:t>
            </a:r>
          </a:p>
        </p:txBody>
      </p:sp>
    </p:spTree>
    <p:extLst>
      <p:ext uri="{BB962C8B-B14F-4D97-AF65-F5344CB8AC3E}">
        <p14:creationId xmlns:p14="http://schemas.microsoft.com/office/powerpoint/2010/main" val="3089018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rPr>
              <a:t>Why is it important?</a:t>
            </a:r>
          </a:p>
        </p:txBody>
      </p:sp>
      <p:sp>
        <p:nvSpPr>
          <p:cNvPr id="3" name="Content Placeholder 2"/>
          <p:cNvSpPr>
            <a:spLocks noGrp="1"/>
          </p:cNvSpPr>
          <p:nvPr>
            <p:ph idx="1"/>
          </p:nvPr>
        </p:nvSpPr>
        <p:spPr/>
        <p:txBody>
          <a:bodyPr>
            <a:normAutofit lnSpcReduction="10000"/>
          </a:bodyPr>
          <a:lstStyle/>
          <a:p>
            <a:r>
              <a:rPr lang="en-US" dirty="0"/>
              <a:t>You wouldn’t attempt to build a house </a:t>
            </a:r>
            <a:r>
              <a:rPr lang="en-US" b="1" dirty="0"/>
              <a:t>without a map</a:t>
            </a:r>
            <a:r>
              <a:rPr lang="en-US" dirty="0"/>
              <a:t>, would you?</a:t>
            </a:r>
          </a:p>
          <a:p>
            <a:endParaRPr lang="en-US" dirty="0"/>
          </a:p>
          <a:p>
            <a:r>
              <a:rPr lang="en-US" dirty="0"/>
              <a:t>You’d need to look at the big picture—the house itself—before you worry about details.</a:t>
            </a:r>
          </a:p>
          <a:p>
            <a:endParaRPr lang="en-US" dirty="0"/>
          </a:p>
          <a:p>
            <a:r>
              <a:rPr lang="en-US" dirty="0"/>
              <a:t>That’s what architectural design does—it provides you with the </a:t>
            </a:r>
            <a:r>
              <a:rPr lang="en-US" b="1" dirty="0"/>
              <a:t>big picture </a:t>
            </a:r>
            <a:r>
              <a:rPr lang="en-US" dirty="0"/>
              <a:t>and </a:t>
            </a:r>
            <a:r>
              <a:rPr lang="en-US" b="1" dirty="0"/>
              <a:t>ensures</a:t>
            </a:r>
            <a:r>
              <a:rPr lang="en-US" dirty="0"/>
              <a:t> that you’ve got it right</a:t>
            </a:r>
          </a:p>
        </p:txBody>
      </p:sp>
    </p:spTree>
    <p:extLst>
      <p:ext uri="{BB962C8B-B14F-4D97-AF65-F5344CB8AC3E}">
        <p14:creationId xmlns:p14="http://schemas.microsoft.com/office/powerpoint/2010/main" val="2247619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rPr>
              <a:t>Why is it important?</a:t>
            </a:r>
          </a:p>
        </p:txBody>
      </p:sp>
      <p:sp>
        <p:nvSpPr>
          <p:cNvPr id="3" name="Content Placeholder 2"/>
          <p:cNvSpPr>
            <a:spLocks noGrp="1"/>
          </p:cNvSpPr>
          <p:nvPr>
            <p:ph idx="1"/>
          </p:nvPr>
        </p:nvSpPr>
        <p:spPr/>
        <p:txBody>
          <a:bodyPr>
            <a:normAutofit/>
          </a:bodyPr>
          <a:lstStyle/>
          <a:p>
            <a:pPr marL="0" indent="0">
              <a:buNone/>
            </a:pPr>
            <a:r>
              <a:rPr lang="en-US" dirty="0"/>
              <a:t>Representations of software architecture is an enabler for </a:t>
            </a:r>
            <a:r>
              <a:rPr lang="en-US" b="1" dirty="0"/>
              <a:t>communication</a:t>
            </a:r>
            <a:r>
              <a:rPr lang="en-US" dirty="0"/>
              <a:t> between all parties </a:t>
            </a:r>
            <a:r>
              <a:rPr lang="en-US" b="1" dirty="0"/>
              <a:t>(stakeholders)</a:t>
            </a:r>
          </a:p>
          <a:p>
            <a:pPr marL="0" indent="0">
              <a:buNone/>
            </a:pPr>
            <a:endParaRPr lang="en-US" dirty="0"/>
          </a:p>
          <a:p>
            <a:pPr marL="0" indent="0">
              <a:buNone/>
            </a:pPr>
            <a:r>
              <a:rPr lang="en-US" dirty="0"/>
              <a:t>The architecture highlights </a:t>
            </a:r>
            <a:r>
              <a:rPr lang="en-US" b="1" dirty="0"/>
              <a:t>early design</a:t>
            </a:r>
            <a:r>
              <a:rPr lang="en-US" dirty="0"/>
              <a:t> decisions that provide you solid foundations on which software </a:t>
            </a:r>
            <a:r>
              <a:rPr lang="en-US" b="1" dirty="0"/>
              <a:t>will be built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799042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rPr>
              <a:t>Software Architecture</a:t>
            </a:r>
            <a:endParaRPr lang="en-US" dirty="0">
              <a:solidFill>
                <a:srgbClr val="002060"/>
              </a:solidFill>
            </a:endParaRPr>
          </a:p>
        </p:txBody>
      </p:sp>
      <p:sp>
        <p:nvSpPr>
          <p:cNvPr id="3" name="Content Placeholder 2"/>
          <p:cNvSpPr>
            <a:spLocks noGrp="1"/>
          </p:cNvSpPr>
          <p:nvPr>
            <p:ph idx="1"/>
          </p:nvPr>
        </p:nvSpPr>
        <p:spPr/>
        <p:txBody>
          <a:bodyPr>
            <a:normAutofit fontScale="85000" lnSpcReduction="10000"/>
          </a:bodyPr>
          <a:lstStyle/>
          <a:p>
            <a:pPr>
              <a:buNone/>
            </a:pPr>
            <a:r>
              <a:rPr lang="en-US" b="1" dirty="0">
                <a:solidFill>
                  <a:schemeClr val="accent6">
                    <a:lumMod val="75000"/>
                  </a:schemeClr>
                </a:solidFill>
              </a:rPr>
              <a:t>Software architecture is:</a:t>
            </a:r>
          </a:p>
          <a:p>
            <a:pPr>
              <a:buNone/>
            </a:pPr>
            <a:r>
              <a:rPr lang="en-US" dirty="0"/>
              <a:t> </a:t>
            </a:r>
          </a:p>
          <a:p>
            <a:pPr lvl="0"/>
            <a:r>
              <a:rPr lang="en-US" dirty="0"/>
              <a:t>An overall view of the </a:t>
            </a:r>
            <a:r>
              <a:rPr lang="en-US" b="1" dirty="0"/>
              <a:t>solution</a:t>
            </a:r>
            <a:r>
              <a:rPr lang="en-US" dirty="0"/>
              <a:t> to a problem</a:t>
            </a:r>
          </a:p>
          <a:p>
            <a:pPr lvl="0">
              <a:buNone/>
            </a:pPr>
            <a:r>
              <a:rPr lang="en-US" dirty="0"/>
              <a:t> </a:t>
            </a:r>
          </a:p>
          <a:p>
            <a:pPr lvl="0"/>
            <a:r>
              <a:rPr lang="en-US" dirty="0"/>
              <a:t>The high-level design of </a:t>
            </a:r>
            <a:r>
              <a:rPr lang="en-US" b="1" dirty="0"/>
              <a:t>modular</a:t>
            </a:r>
            <a:r>
              <a:rPr lang="en-US" dirty="0"/>
              <a:t> components and how they </a:t>
            </a:r>
            <a:r>
              <a:rPr lang="en-US" b="1" dirty="0"/>
              <a:t>interact</a:t>
            </a:r>
          </a:p>
          <a:p>
            <a:pPr lvl="0">
              <a:buNone/>
            </a:pPr>
            <a:r>
              <a:rPr lang="en-US" dirty="0"/>
              <a:t> </a:t>
            </a:r>
          </a:p>
          <a:p>
            <a:pPr lvl="0"/>
            <a:r>
              <a:rPr lang="en-US" dirty="0"/>
              <a:t>A </a:t>
            </a:r>
            <a:r>
              <a:rPr lang="en-US" b="1" dirty="0"/>
              <a:t>foundation</a:t>
            </a:r>
            <a:r>
              <a:rPr lang="en-US" dirty="0"/>
              <a:t> that one can build on to solve a problem (e.g., rules, policies, attributes, etc.) </a:t>
            </a:r>
          </a:p>
          <a:p>
            <a:pPr>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Software Architecture Styles</a:t>
            </a:r>
          </a:p>
        </p:txBody>
      </p:sp>
      <p:sp>
        <p:nvSpPr>
          <p:cNvPr id="3" name="Content Placeholder 2"/>
          <p:cNvSpPr>
            <a:spLocks noGrp="1"/>
          </p:cNvSpPr>
          <p:nvPr>
            <p:ph idx="1"/>
          </p:nvPr>
        </p:nvSpPr>
        <p:spPr/>
        <p:txBody>
          <a:bodyPr/>
          <a:lstStyle/>
          <a:p>
            <a:r>
              <a:rPr dirty="0"/>
              <a:t>- Repository Architecture</a:t>
            </a:r>
          </a:p>
          <a:p>
            <a:r>
              <a:rPr dirty="0"/>
              <a:t>- Client–Server Architecture</a:t>
            </a:r>
          </a:p>
          <a:p>
            <a:r>
              <a:rPr dirty="0"/>
              <a:t>- Layered Architecture</a:t>
            </a:r>
          </a:p>
          <a:p>
            <a:r>
              <a:rPr dirty="0"/>
              <a:t>- Pipe and Filter Architecture</a:t>
            </a:r>
          </a:p>
          <a:p>
            <a:r>
              <a:rPr dirty="0"/>
              <a:t>- </a:t>
            </a:r>
            <a:r>
              <a:rPr dirty="0" err="1"/>
              <a:t>Microservices</a:t>
            </a:r>
            <a:r>
              <a:rPr dirty="0"/>
              <a:t> Architecture</a:t>
            </a:r>
          </a:p>
          <a:p>
            <a:r>
              <a:rPr dirty="0"/>
              <a:t>- Distributed Architecture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1D078-68B7-BAC7-54B5-49FF81090385}"/>
              </a:ext>
            </a:extLst>
          </p:cNvPr>
          <p:cNvSpPr>
            <a:spLocks noGrp="1"/>
          </p:cNvSpPr>
          <p:nvPr>
            <p:ph type="title"/>
          </p:nvPr>
        </p:nvSpPr>
        <p:spPr/>
        <p:txBody>
          <a:bodyPr/>
          <a:lstStyle/>
          <a:p>
            <a:r>
              <a:rPr lang="en-US" dirty="0"/>
              <a:t>Repository Architecture</a:t>
            </a:r>
            <a:endParaRPr lang="en-PK" dirty="0"/>
          </a:p>
        </p:txBody>
      </p:sp>
      <p:sp>
        <p:nvSpPr>
          <p:cNvPr id="3" name="Content Placeholder 2">
            <a:extLst>
              <a:ext uri="{FF2B5EF4-FFF2-40B4-BE49-F238E27FC236}">
                <a16:creationId xmlns:a16="http://schemas.microsoft.com/office/drawing/2014/main" id="{50AA1684-5499-41B4-3D7A-8239E8FFED56}"/>
              </a:ext>
            </a:extLst>
          </p:cNvPr>
          <p:cNvSpPr>
            <a:spLocks noGrp="1"/>
          </p:cNvSpPr>
          <p:nvPr>
            <p:ph idx="1"/>
          </p:nvPr>
        </p:nvSpPr>
        <p:spPr/>
        <p:txBody>
          <a:bodyPr/>
          <a:lstStyle/>
          <a:p>
            <a:r>
              <a:rPr lang="en-US" dirty="0"/>
              <a:t>The </a:t>
            </a:r>
            <a:r>
              <a:rPr lang="en-US" b="1" dirty="0"/>
              <a:t>Repository Architecture</a:t>
            </a:r>
            <a:r>
              <a:rPr lang="en-US" dirty="0"/>
              <a:t> (also called </a:t>
            </a:r>
            <a:r>
              <a:rPr lang="en-US" b="1" dirty="0"/>
              <a:t>Shared Data System</a:t>
            </a:r>
            <a:r>
              <a:rPr lang="en-US" dirty="0"/>
              <a:t>) is a design style where all system components share a </a:t>
            </a:r>
            <a:r>
              <a:rPr lang="en-US" b="1" dirty="0"/>
              <a:t>central data store (repository)</a:t>
            </a:r>
            <a:r>
              <a:rPr lang="en-US" dirty="0"/>
              <a:t> to </a:t>
            </a:r>
            <a:r>
              <a:rPr lang="en-US" b="1" dirty="0"/>
              <a:t>read, write, and exchange information</a:t>
            </a:r>
            <a:r>
              <a:rPr lang="en-US" dirty="0"/>
              <a:t>.</a:t>
            </a:r>
          </a:p>
          <a:p>
            <a:r>
              <a:rPr lang="en-US" dirty="0"/>
              <a:t>Each component works </a:t>
            </a:r>
            <a:r>
              <a:rPr lang="en-US" b="1" dirty="0"/>
              <a:t>independently</a:t>
            </a:r>
            <a:r>
              <a:rPr lang="en-US" dirty="0"/>
              <a:t>, but they communicate </a:t>
            </a:r>
            <a:r>
              <a:rPr lang="en-US" b="1" dirty="0"/>
              <a:t>indirectly</a:t>
            </a:r>
            <a:r>
              <a:rPr lang="en-US" dirty="0"/>
              <a:t> through this shared repository.</a:t>
            </a:r>
          </a:p>
          <a:p>
            <a:endParaRPr lang="en-PK" dirty="0"/>
          </a:p>
        </p:txBody>
      </p:sp>
    </p:spTree>
    <p:extLst>
      <p:ext uri="{BB962C8B-B14F-4D97-AF65-F5344CB8AC3E}">
        <p14:creationId xmlns:p14="http://schemas.microsoft.com/office/powerpoint/2010/main" val="840874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Repository Architecture</a:t>
            </a:r>
          </a:p>
        </p:txBody>
      </p:sp>
      <p:sp>
        <p:nvSpPr>
          <p:cNvPr id="3" name="Content Placeholder 2"/>
          <p:cNvSpPr>
            <a:spLocks noGrp="1"/>
          </p:cNvSpPr>
          <p:nvPr>
            <p:ph idx="1"/>
          </p:nvPr>
        </p:nvSpPr>
        <p:spPr>
          <a:xfrm>
            <a:off x="2406743" y="1851992"/>
            <a:ext cx="7704667" cy="3332816"/>
          </a:xfrm>
        </p:spPr>
        <p:txBody>
          <a:bodyPr>
            <a:normAutofit/>
          </a:bodyPr>
          <a:lstStyle/>
          <a:p>
            <a:r>
              <a:rPr dirty="0"/>
              <a:t>Advantages: Centralized management, easy consistency.</a:t>
            </a:r>
          </a:p>
          <a:p>
            <a:r>
              <a:rPr dirty="0"/>
              <a:t>Disadvantages: Single point of failure, hard to distribute.</a:t>
            </a:r>
          </a:p>
          <a:p>
            <a:r>
              <a:rPr dirty="0"/>
              <a:t>Example: Git repository, Compiler (symbol table).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3A59A-F828-CE36-3AAB-57D615FBA7AF}"/>
              </a:ext>
            </a:extLst>
          </p:cNvPr>
          <p:cNvSpPr>
            <a:spLocks noGrp="1"/>
          </p:cNvSpPr>
          <p:nvPr>
            <p:ph type="title"/>
          </p:nvPr>
        </p:nvSpPr>
        <p:spPr/>
        <p:txBody>
          <a:bodyPr>
            <a:normAutofit/>
          </a:bodyPr>
          <a:lstStyle/>
          <a:p>
            <a:r>
              <a:rPr lang="en-US" b="1" dirty="0"/>
              <a:t>How It Works</a:t>
            </a:r>
            <a:endParaRPr lang="en-PK" dirty="0"/>
          </a:p>
        </p:txBody>
      </p:sp>
      <p:sp>
        <p:nvSpPr>
          <p:cNvPr id="3" name="Content Placeholder 2">
            <a:extLst>
              <a:ext uri="{FF2B5EF4-FFF2-40B4-BE49-F238E27FC236}">
                <a16:creationId xmlns:a16="http://schemas.microsoft.com/office/drawing/2014/main" id="{9A657122-CBEC-6F45-DBB9-E5EB7B34EA55}"/>
              </a:ext>
            </a:extLst>
          </p:cNvPr>
          <p:cNvSpPr>
            <a:spLocks noGrp="1"/>
          </p:cNvSpPr>
          <p:nvPr>
            <p:ph idx="1"/>
          </p:nvPr>
        </p:nvSpPr>
        <p:spPr/>
        <p:txBody>
          <a:bodyPr/>
          <a:lstStyle/>
          <a:p>
            <a:r>
              <a:rPr lang="en-US" dirty="0"/>
              <a:t>Each subsystem (like input, processing, or reporting) interacts </a:t>
            </a:r>
            <a:r>
              <a:rPr lang="en-US" b="1" dirty="0"/>
              <a:t>only with the repository</a:t>
            </a:r>
            <a:r>
              <a:rPr lang="en-US" dirty="0"/>
              <a:t>.</a:t>
            </a:r>
          </a:p>
          <a:p>
            <a:r>
              <a:rPr lang="en-US" dirty="0"/>
              <a:t>The repository </a:t>
            </a:r>
            <a:r>
              <a:rPr lang="en-US" b="1" dirty="0"/>
              <a:t>stores all shared data</a:t>
            </a:r>
            <a:r>
              <a:rPr lang="en-US" dirty="0"/>
              <a:t>.</a:t>
            </a:r>
          </a:p>
          <a:p>
            <a:r>
              <a:rPr lang="en-US" dirty="0"/>
              <a:t>When one component changes data, others can </a:t>
            </a:r>
            <a:r>
              <a:rPr lang="en-US" b="1" dirty="0"/>
              <a:t>access the updated version</a:t>
            </a:r>
            <a:r>
              <a:rPr lang="en-US" dirty="0"/>
              <a:t> immediately.</a:t>
            </a:r>
          </a:p>
          <a:p>
            <a:endParaRPr lang="en-PK" dirty="0"/>
          </a:p>
        </p:txBody>
      </p:sp>
    </p:spTree>
    <p:extLst>
      <p:ext uri="{BB962C8B-B14F-4D97-AF65-F5344CB8AC3E}">
        <p14:creationId xmlns:p14="http://schemas.microsoft.com/office/powerpoint/2010/main" val="4878953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7E609-22E6-8DEB-3D13-24BB08B60895}"/>
              </a:ext>
            </a:extLst>
          </p:cNvPr>
          <p:cNvSpPr>
            <a:spLocks noGrp="1"/>
          </p:cNvSpPr>
          <p:nvPr>
            <p:ph type="title"/>
          </p:nvPr>
        </p:nvSpPr>
        <p:spPr/>
        <p:txBody>
          <a:bodyPr/>
          <a:lstStyle/>
          <a:p>
            <a:r>
              <a:rPr lang="en-US" dirty="0"/>
              <a:t>Example:</a:t>
            </a:r>
            <a:endParaRPr lang="en-PK" dirty="0"/>
          </a:p>
        </p:txBody>
      </p:sp>
      <p:sp>
        <p:nvSpPr>
          <p:cNvPr id="3" name="Content Placeholder 2">
            <a:extLst>
              <a:ext uri="{FF2B5EF4-FFF2-40B4-BE49-F238E27FC236}">
                <a16:creationId xmlns:a16="http://schemas.microsoft.com/office/drawing/2014/main" id="{638BE60C-4B1A-789F-3456-5121CB8E0E32}"/>
              </a:ext>
            </a:extLst>
          </p:cNvPr>
          <p:cNvSpPr>
            <a:spLocks noGrp="1"/>
          </p:cNvSpPr>
          <p:nvPr>
            <p:ph idx="1"/>
          </p:nvPr>
        </p:nvSpPr>
        <p:spPr>
          <a:xfrm>
            <a:off x="2506134" y="1683026"/>
            <a:ext cx="7704667" cy="3332816"/>
          </a:xfrm>
        </p:spPr>
        <p:txBody>
          <a:bodyPr/>
          <a:lstStyle/>
          <a:p>
            <a:r>
              <a:rPr lang="en-US" b="1" dirty="0"/>
              <a:t>Compiler Design (Repository-style)</a:t>
            </a:r>
            <a:endParaRPr lang="en-US" dirty="0"/>
          </a:p>
          <a:p>
            <a:pPr marL="0" indent="0">
              <a:buNone/>
            </a:pPr>
            <a:r>
              <a:rPr lang="en-US" dirty="0"/>
              <a:t>Central symbol table acts as repository</a:t>
            </a:r>
          </a:p>
          <a:p>
            <a:pPr marL="0" indent="0">
              <a:buNone/>
            </a:pPr>
            <a:r>
              <a:rPr lang="en-US" dirty="0"/>
              <a:t>Components: Lexical analyzer, Parser, Semantic analyzer all access shared data</a:t>
            </a:r>
          </a:p>
          <a:p>
            <a:endParaRPr lang="en-PK" dirty="0"/>
          </a:p>
        </p:txBody>
      </p:sp>
    </p:spTree>
    <p:extLst>
      <p:ext uri="{BB962C8B-B14F-4D97-AF65-F5344CB8AC3E}">
        <p14:creationId xmlns:p14="http://schemas.microsoft.com/office/powerpoint/2010/main" val="15921642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A Brief Taxonomy of Architectural Styles</a:t>
            </a:r>
          </a:p>
        </p:txBody>
      </p:sp>
      <p:sp>
        <p:nvSpPr>
          <p:cNvPr id="3" name="Content Placeholder 2"/>
          <p:cNvSpPr>
            <a:spLocks noGrp="1"/>
          </p:cNvSpPr>
          <p:nvPr>
            <p:ph idx="1"/>
          </p:nvPr>
        </p:nvSpPr>
        <p:spPr/>
        <p:txBody>
          <a:bodyPr/>
          <a:lstStyle/>
          <a:p>
            <a:r>
              <a:rPr lang="en-US" b="1" dirty="0"/>
              <a:t>Data-centered/ Repository architectures: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800" y="2548548"/>
            <a:ext cx="7848600" cy="4157053"/>
          </a:xfrm>
          <a:prstGeom prst="rect">
            <a:avLst/>
          </a:prstGeom>
        </p:spPr>
      </p:pic>
    </p:spTree>
    <p:extLst>
      <p:ext uri="{BB962C8B-B14F-4D97-AF65-F5344CB8AC3E}">
        <p14:creationId xmlns:p14="http://schemas.microsoft.com/office/powerpoint/2010/main" val="6866324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Client–Server Architecture</a:t>
            </a:r>
          </a:p>
        </p:txBody>
      </p:sp>
      <p:sp>
        <p:nvSpPr>
          <p:cNvPr id="3" name="Content Placeholder 2"/>
          <p:cNvSpPr>
            <a:spLocks noGrp="1"/>
          </p:cNvSpPr>
          <p:nvPr>
            <p:ph idx="1"/>
          </p:nvPr>
        </p:nvSpPr>
        <p:spPr/>
        <p:txBody>
          <a:bodyPr>
            <a:normAutofit/>
          </a:bodyPr>
          <a:lstStyle/>
          <a:p>
            <a:r>
              <a:t>Concept: Divides system into clients (users) and servers (providers).</a:t>
            </a:r>
          </a:p>
          <a:p>
            <a:r>
              <a:t>Working: Client sends request; server sends response.</a:t>
            </a:r>
          </a:p>
          <a:p>
            <a:r>
              <a:t>Advantages: Centralized control, easy multi-client management.</a:t>
            </a:r>
          </a:p>
          <a:p>
            <a:r>
              <a:t>Disadvantages: Server overload, network dependency.</a:t>
            </a:r>
          </a:p>
          <a:p>
            <a:r>
              <a:t>Example: Web apps (browser &amp; web server), Email systems.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 client–server architecture for a film library</a:t>
            </a:r>
            <a:r>
              <a:rPr lang="en-GB" dirty="0"/>
              <a:t> </a:t>
            </a:r>
            <a:endParaRPr lang="en-US" dirty="0"/>
          </a:p>
        </p:txBody>
      </p:sp>
      <p:pic>
        <p:nvPicPr>
          <p:cNvPr id="4" name="Content Placeholder 3" descr="6.11 ClientServerFilmPhoto.eps"/>
          <p:cNvPicPr>
            <a:picLocks noGrp="1" noChangeAspect="1"/>
          </p:cNvPicPr>
          <p:nvPr>
            <p:ph idx="1"/>
          </p:nvPr>
        </p:nvPicPr>
        <mc:AlternateContent xmlns:mc="http://schemas.openxmlformats.org/markup-compatibility/2006">
          <mc:Choice xmlns:ma="http://schemas.microsoft.com/office/mac/drawingml/2008/main" xmlns:mv="urn:schemas-microsoft-com:mac:vml" xmlns="" Requires="ma">
            <p:blipFill>
              <a:blip r:embed="rId2"/>
              <a:srcRect l="-1062" r="-1062"/>
              <a:stretch>
                <a:fillRect/>
              </a:stretch>
            </p:blipFill>
          </mc:Choice>
          <mc:Fallback>
            <p:blipFill>
              <a:blip r:embed="rId3"/>
              <a:srcRect l="-1062" r="-1062"/>
              <a:stretch>
                <a:fillRect/>
              </a:stretch>
            </p:blipFill>
          </mc:Fallback>
        </mc:AlternateContent>
        <p:spPr>
          <a:xfrm>
            <a:off x="2346014" y="1775831"/>
            <a:ext cx="7203898" cy="3961866"/>
          </a:xfrm>
        </p:spPr>
      </p:pic>
    </p:spTree>
    <p:extLst>
      <p:ext uri="{BB962C8B-B14F-4D97-AF65-F5344CB8AC3E}">
        <p14:creationId xmlns:p14="http://schemas.microsoft.com/office/powerpoint/2010/main" val="37812691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949FA-06D1-1CC1-86CE-346EA0B29195}"/>
              </a:ext>
            </a:extLst>
          </p:cNvPr>
          <p:cNvSpPr>
            <a:spLocks noGrp="1"/>
          </p:cNvSpPr>
          <p:nvPr>
            <p:ph type="title"/>
          </p:nvPr>
        </p:nvSpPr>
        <p:spPr/>
        <p:txBody>
          <a:bodyPr>
            <a:normAutofit/>
          </a:bodyPr>
          <a:lstStyle/>
          <a:p>
            <a:r>
              <a:rPr lang="en-US" b="1" dirty="0"/>
              <a:t>How It Works</a:t>
            </a:r>
            <a:endParaRPr lang="en-PK" dirty="0"/>
          </a:p>
        </p:txBody>
      </p:sp>
      <p:sp>
        <p:nvSpPr>
          <p:cNvPr id="3" name="Content Placeholder 2">
            <a:extLst>
              <a:ext uri="{FF2B5EF4-FFF2-40B4-BE49-F238E27FC236}">
                <a16:creationId xmlns:a16="http://schemas.microsoft.com/office/drawing/2014/main" id="{693FB5D3-FB55-BCA8-4185-D7FD3112CB06}"/>
              </a:ext>
            </a:extLst>
          </p:cNvPr>
          <p:cNvSpPr>
            <a:spLocks noGrp="1"/>
          </p:cNvSpPr>
          <p:nvPr>
            <p:ph idx="1"/>
          </p:nvPr>
        </p:nvSpPr>
        <p:spPr>
          <a:xfrm>
            <a:off x="2506134" y="2438402"/>
            <a:ext cx="7704667" cy="3561415"/>
          </a:xfrm>
        </p:spPr>
        <p:txBody>
          <a:bodyPr>
            <a:normAutofit fontScale="92500"/>
          </a:bodyPr>
          <a:lstStyle/>
          <a:p>
            <a:r>
              <a:rPr lang="en-US" b="1" dirty="0"/>
              <a:t>Client</a:t>
            </a:r>
            <a:r>
              <a:rPr lang="en-US" dirty="0"/>
              <a:t> (e.g., web browser, mobile app) asks for information or service.</a:t>
            </a:r>
          </a:p>
          <a:p>
            <a:r>
              <a:rPr lang="en-US" b="1" dirty="0"/>
              <a:t>Server</a:t>
            </a:r>
            <a:r>
              <a:rPr lang="en-US" dirty="0"/>
              <a:t> (e.g., web server, database server) receives the request.</a:t>
            </a:r>
          </a:p>
          <a:p>
            <a:r>
              <a:rPr lang="en-US" dirty="0"/>
              <a:t>Server processes the request and returns the </a:t>
            </a:r>
            <a:r>
              <a:rPr lang="en-US" b="1" dirty="0"/>
              <a:t>result</a:t>
            </a:r>
            <a:r>
              <a:rPr lang="en-US" dirty="0"/>
              <a:t> to the client.</a:t>
            </a:r>
          </a:p>
          <a:p>
            <a:r>
              <a:rPr lang="en-US" b="1" dirty="0"/>
              <a:t>Flow:</a:t>
            </a:r>
            <a:br>
              <a:rPr lang="en-US" dirty="0"/>
            </a:br>
            <a:r>
              <a:rPr lang="en-PK" dirty="0"/>
              <a:t>💻 </a:t>
            </a:r>
            <a:r>
              <a:rPr lang="en-US" dirty="0"/>
              <a:t>Client → (Request) → </a:t>
            </a:r>
            <a:r>
              <a:rPr lang="en-PK" dirty="0"/>
              <a:t>🌐 </a:t>
            </a:r>
            <a:r>
              <a:rPr lang="en-US" dirty="0"/>
              <a:t>Server → (Response) → </a:t>
            </a:r>
            <a:r>
              <a:rPr lang="en-PK" dirty="0"/>
              <a:t>💻 </a:t>
            </a:r>
            <a:r>
              <a:rPr lang="en-US" dirty="0"/>
              <a:t>Client</a:t>
            </a:r>
          </a:p>
          <a:p>
            <a:endParaRPr lang="en-US" dirty="0"/>
          </a:p>
          <a:p>
            <a:endParaRPr lang="en-PK" dirty="0"/>
          </a:p>
        </p:txBody>
      </p:sp>
    </p:spTree>
    <p:extLst>
      <p:ext uri="{BB962C8B-B14F-4D97-AF65-F5344CB8AC3E}">
        <p14:creationId xmlns:p14="http://schemas.microsoft.com/office/powerpoint/2010/main" val="16893380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7CC48-FEB1-B163-6C2E-D41DB5FB82C3}"/>
              </a:ext>
            </a:extLst>
          </p:cNvPr>
          <p:cNvSpPr>
            <a:spLocks noGrp="1"/>
          </p:cNvSpPr>
          <p:nvPr>
            <p:ph type="title"/>
          </p:nvPr>
        </p:nvSpPr>
        <p:spPr/>
        <p:txBody>
          <a:bodyPr>
            <a:normAutofit/>
          </a:bodyPr>
          <a:lstStyle/>
          <a:p>
            <a:r>
              <a:rPr lang="en-US" b="1" dirty="0"/>
              <a:t>Example : Email System</a:t>
            </a:r>
            <a:br>
              <a:rPr lang="en-US" b="1" dirty="0"/>
            </a:br>
            <a:endParaRPr lang="en-PK" dirty="0"/>
          </a:p>
        </p:txBody>
      </p:sp>
      <p:sp>
        <p:nvSpPr>
          <p:cNvPr id="3" name="Content Placeholder 2">
            <a:extLst>
              <a:ext uri="{FF2B5EF4-FFF2-40B4-BE49-F238E27FC236}">
                <a16:creationId xmlns:a16="http://schemas.microsoft.com/office/drawing/2014/main" id="{B5D56B6E-30FA-B51E-7F88-FE5F916C0005}"/>
              </a:ext>
            </a:extLst>
          </p:cNvPr>
          <p:cNvSpPr>
            <a:spLocks noGrp="1"/>
          </p:cNvSpPr>
          <p:nvPr>
            <p:ph idx="1"/>
          </p:nvPr>
        </p:nvSpPr>
        <p:spPr/>
        <p:txBody>
          <a:bodyPr>
            <a:normAutofit/>
          </a:bodyPr>
          <a:lstStyle/>
          <a:p>
            <a:r>
              <a:rPr lang="en-US" b="1" dirty="0"/>
              <a:t>Client:</a:t>
            </a:r>
            <a:r>
              <a:rPr lang="en-US" dirty="0"/>
              <a:t> Email application (e.g., Gmail app, Outlook)</a:t>
            </a:r>
          </a:p>
          <a:p>
            <a:r>
              <a:rPr lang="en-US" b="1" dirty="0"/>
              <a:t>Server:</a:t>
            </a:r>
            <a:r>
              <a:rPr lang="en-US" dirty="0"/>
              <a:t> Mail server (SMTP for sending, IMAP/POP3 for receiving)</a:t>
            </a:r>
          </a:p>
          <a:p>
            <a:r>
              <a:rPr lang="en-US" b="1" dirty="0"/>
              <a:t>Process:</a:t>
            </a:r>
            <a:endParaRPr lang="en-US" dirty="0"/>
          </a:p>
          <a:p>
            <a:pPr lvl="1"/>
            <a:r>
              <a:rPr lang="en-US" dirty="0"/>
              <a:t>Client sends an email → SMTP server delivers it to recipient’s mail server.</a:t>
            </a:r>
          </a:p>
          <a:p>
            <a:pPr lvl="1"/>
            <a:r>
              <a:rPr lang="en-US" dirty="0"/>
              <a:t>Recipient’s email client retrieves it via IMAP or POP3.</a:t>
            </a:r>
          </a:p>
          <a:p>
            <a:endParaRPr lang="en-PK" dirty="0"/>
          </a:p>
        </p:txBody>
      </p:sp>
    </p:spTree>
    <p:extLst>
      <p:ext uri="{BB962C8B-B14F-4D97-AF65-F5344CB8AC3E}">
        <p14:creationId xmlns:p14="http://schemas.microsoft.com/office/powerpoint/2010/main" val="1273994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FE187-406D-E4A5-D6EF-511C5813558F}"/>
              </a:ext>
            </a:extLst>
          </p:cNvPr>
          <p:cNvSpPr>
            <a:spLocks noGrp="1"/>
          </p:cNvSpPr>
          <p:nvPr>
            <p:ph type="title"/>
          </p:nvPr>
        </p:nvSpPr>
        <p:spPr/>
        <p:txBody>
          <a:bodyPr/>
          <a:lstStyle/>
          <a:p>
            <a:r>
              <a:rPr lang="en-US" dirty="0"/>
              <a:t>Layered Architecture (N-tier)</a:t>
            </a:r>
            <a:endParaRPr lang="en-PK" dirty="0"/>
          </a:p>
        </p:txBody>
      </p:sp>
      <p:sp>
        <p:nvSpPr>
          <p:cNvPr id="3" name="Content Placeholder 2">
            <a:extLst>
              <a:ext uri="{FF2B5EF4-FFF2-40B4-BE49-F238E27FC236}">
                <a16:creationId xmlns:a16="http://schemas.microsoft.com/office/drawing/2014/main" id="{9B9C6C37-F0E1-F97D-1BC8-10374C5167B0}"/>
              </a:ext>
            </a:extLst>
          </p:cNvPr>
          <p:cNvSpPr>
            <a:spLocks noGrp="1"/>
          </p:cNvSpPr>
          <p:nvPr>
            <p:ph idx="1"/>
          </p:nvPr>
        </p:nvSpPr>
        <p:spPr/>
        <p:txBody>
          <a:bodyPr/>
          <a:lstStyle/>
          <a:p>
            <a:r>
              <a:rPr lang="en-US" b="1" dirty="0"/>
              <a:t>Concept</a:t>
            </a:r>
          </a:p>
          <a:p>
            <a:r>
              <a:rPr lang="en-US" dirty="0"/>
              <a:t>The </a:t>
            </a:r>
            <a:r>
              <a:rPr lang="en-US" b="1" dirty="0"/>
              <a:t>Layered Architecture</a:t>
            </a:r>
            <a:r>
              <a:rPr lang="en-US" dirty="0"/>
              <a:t> organizes a software system into </a:t>
            </a:r>
            <a:r>
              <a:rPr lang="en-US" b="1" dirty="0"/>
              <a:t>layers (or tiers)</a:t>
            </a:r>
            <a:r>
              <a:rPr lang="en-US" dirty="0"/>
              <a:t>,</a:t>
            </a:r>
            <a:br>
              <a:rPr lang="en-US" dirty="0"/>
            </a:br>
            <a:r>
              <a:rPr lang="en-US" dirty="0"/>
              <a:t>where each layer has a </a:t>
            </a:r>
            <a:r>
              <a:rPr lang="en-US" b="1" dirty="0"/>
              <a:t>specific role</a:t>
            </a:r>
            <a:r>
              <a:rPr lang="en-US" dirty="0"/>
              <a:t> and interacts </a:t>
            </a:r>
            <a:r>
              <a:rPr lang="en-US" b="1" dirty="0"/>
              <a:t>only with the layer directly above or below it</a:t>
            </a:r>
            <a:r>
              <a:rPr lang="en-US" dirty="0"/>
              <a:t>.</a:t>
            </a:r>
          </a:p>
          <a:p>
            <a:r>
              <a:rPr lang="en-US" dirty="0"/>
              <a:t>It promotes </a:t>
            </a:r>
            <a:r>
              <a:rPr lang="en-US" b="1" dirty="0"/>
              <a:t>separation of concerns</a:t>
            </a:r>
            <a:r>
              <a:rPr lang="en-US" dirty="0"/>
              <a:t> — each layer focuses on a single responsibility.</a:t>
            </a:r>
          </a:p>
          <a:p>
            <a:endParaRPr lang="en-US" dirty="0"/>
          </a:p>
          <a:p>
            <a:endParaRPr lang="en-PK" dirty="0"/>
          </a:p>
        </p:txBody>
      </p:sp>
    </p:spTree>
    <p:extLst>
      <p:ext uri="{BB962C8B-B14F-4D97-AF65-F5344CB8AC3E}">
        <p14:creationId xmlns:p14="http://schemas.microsoft.com/office/powerpoint/2010/main" val="6335204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Layered Architecture (N-tier)</a:t>
            </a:r>
          </a:p>
        </p:txBody>
      </p:sp>
      <p:sp>
        <p:nvSpPr>
          <p:cNvPr id="3" name="Content Placeholder 2"/>
          <p:cNvSpPr>
            <a:spLocks noGrp="1"/>
          </p:cNvSpPr>
          <p:nvPr>
            <p:ph idx="1"/>
          </p:nvPr>
        </p:nvSpPr>
        <p:spPr>
          <a:xfrm>
            <a:off x="2506133" y="2438401"/>
            <a:ext cx="7704667" cy="2222946"/>
          </a:xfrm>
        </p:spPr>
        <p:txBody>
          <a:bodyPr>
            <a:normAutofit/>
          </a:bodyPr>
          <a:lstStyle/>
          <a:p>
            <a:endParaRPr lang="en-US" dirty="0"/>
          </a:p>
          <a:p>
            <a:r>
              <a:rPr dirty="0"/>
              <a:t>Advantages: Easy maintenance, scalability.</a:t>
            </a:r>
          </a:p>
          <a:p>
            <a:r>
              <a:rPr dirty="0"/>
              <a:t>Disadvantages: Slower performance, rigid structure.</a:t>
            </a:r>
          </a:p>
          <a:p>
            <a:r>
              <a:rPr dirty="0"/>
              <a:t>Example: Online shopping website.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generic layered architecture</a:t>
            </a:r>
            <a:r>
              <a:rPr lang="en-GB" dirty="0"/>
              <a:t> </a:t>
            </a:r>
            <a:endParaRPr lang="en-US" dirty="0"/>
          </a:p>
        </p:txBody>
      </p:sp>
      <p:pic>
        <p:nvPicPr>
          <p:cNvPr id="6" name="Picture 5"/>
          <p:cNvPicPr>
            <a:picLocks noChangeAspect="1"/>
          </p:cNvPicPr>
          <p:nvPr/>
        </p:nvPicPr>
        <p:blipFill>
          <a:blip r:embed="rId2"/>
          <a:stretch>
            <a:fillRect/>
          </a:stretch>
        </p:blipFill>
        <p:spPr>
          <a:xfrm>
            <a:off x="2895892" y="1676401"/>
            <a:ext cx="6095709" cy="4209325"/>
          </a:xfrm>
          <a:prstGeom prst="rect">
            <a:avLst/>
          </a:prstGeom>
        </p:spPr>
      </p:pic>
    </p:spTree>
    <p:extLst>
      <p:ext uri="{BB962C8B-B14F-4D97-AF65-F5344CB8AC3E}">
        <p14:creationId xmlns:p14="http://schemas.microsoft.com/office/powerpoint/2010/main" val="16092954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5F977F2-2149-6084-99BC-C843CE03A365}"/>
              </a:ext>
            </a:extLst>
          </p:cNvPr>
          <p:cNvGraphicFramePr>
            <a:graphicFrameLocks noGrp="1"/>
          </p:cNvGraphicFramePr>
          <p:nvPr>
            <p:ph idx="1"/>
          </p:nvPr>
        </p:nvGraphicFramePr>
        <p:xfrm>
          <a:off x="1981200" y="1157750"/>
          <a:ext cx="8229600" cy="2926080"/>
        </p:xfrm>
        <a:graphic>
          <a:graphicData uri="http://schemas.openxmlformats.org/drawingml/2006/table">
            <a:tbl>
              <a:tblPr/>
              <a:tblGrid>
                <a:gridCol w="2743200">
                  <a:extLst>
                    <a:ext uri="{9D8B030D-6E8A-4147-A177-3AD203B41FA5}">
                      <a16:colId xmlns:a16="http://schemas.microsoft.com/office/drawing/2014/main" val="3143207119"/>
                    </a:ext>
                  </a:extLst>
                </a:gridCol>
                <a:gridCol w="2743200">
                  <a:extLst>
                    <a:ext uri="{9D8B030D-6E8A-4147-A177-3AD203B41FA5}">
                      <a16:colId xmlns:a16="http://schemas.microsoft.com/office/drawing/2014/main" val="2203124188"/>
                    </a:ext>
                  </a:extLst>
                </a:gridCol>
                <a:gridCol w="2743200">
                  <a:extLst>
                    <a:ext uri="{9D8B030D-6E8A-4147-A177-3AD203B41FA5}">
                      <a16:colId xmlns:a16="http://schemas.microsoft.com/office/drawing/2014/main" val="86281123"/>
                    </a:ext>
                  </a:extLst>
                </a:gridCol>
              </a:tblGrid>
              <a:tr h="0">
                <a:tc>
                  <a:txBody>
                    <a:bodyPr/>
                    <a:lstStyle/>
                    <a:p>
                      <a:pPr>
                        <a:buNone/>
                      </a:pPr>
                      <a:r>
                        <a:rPr lang="en-US"/>
                        <a:t>Layer</a:t>
                      </a:r>
                    </a:p>
                  </a:txBody>
                  <a:tcPr anchor="ctr">
                    <a:lnL>
                      <a:noFill/>
                    </a:lnL>
                    <a:lnR>
                      <a:noFill/>
                    </a:lnR>
                    <a:lnT>
                      <a:noFill/>
                    </a:lnT>
                    <a:lnB>
                      <a:noFill/>
                    </a:lnB>
                    <a:noFill/>
                  </a:tcPr>
                </a:tc>
                <a:tc>
                  <a:txBody>
                    <a:bodyPr/>
                    <a:lstStyle/>
                    <a:p>
                      <a:pPr>
                        <a:buNone/>
                      </a:pPr>
                      <a:r>
                        <a:rPr lang="en-US"/>
                        <a:t>Function</a:t>
                      </a:r>
                    </a:p>
                  </a:txBody>
                  <a:tcPr anchor="ctr">
                    <a:lnL>
                      <a:noFill/>
                    </a:lnL>
                    <a:lnR>
                      <a:noFill/>
                    </a:lnR>
                    <a:lnT>
                      <a:noFill/>
                    </a:lnT>
                    <a:lnB>
                      <a:noFill/>
                    </a:lnB>
                    <a:noFill/>
                  </a:tcPr>
                </a:tc>
                <a:tc>
                  <a:txBody>
                    <a:bodyPr/>
                    <a:lstStyle/>
                    <a:p>
                      <a:pPr>
                        <a:buNone/>
                      </a:pPr>
                      <a:r>
                        <a:rPr lang="en-US"/>
                        <a:t>Example</a:t>
                      </a:r>
                    </a:p>
                  </a:txBody>
                  <a:tcPr anchor="ctr">
                    <a:lnL>
                      <a:noFill/>
                    </a:lnL>
                    <a:lnR>
                      <a:noFill/>
                    </a:lnR>
                    <a:lnT>
                      <a:noFill/>
                    </a:lnT>
                    <a:lnB>
                      <a:noFill/>
                    </a:lnB>
                    <a:noFill/>
                  </a:tcPr>
                </a:tc>
                <a:extLst>
                  <a:ext uri="{0D108BD9-81ED-4DB2-BD59-A6C34878D82A}">
                    <a16:rowId xmlns:a16="http://schemas.microsoft.com/office/drawing/2014/main" val="3529894344"/>
                  </a:ext>
                </a:extLst>
              </a:tr>
              <a:tr h="0">
                <a:tc>
                  <a:txBody>
                    <a:bodyPr/>
                    <a:lstStyle/>
                    <a:p>
                      <a:pPr>
                        <a:buNone/>
                      </a:pPr>
                      <a:r>
                        <a:rPr lang="en-US" b="1" dirty="0"/>
                        <a:t>1. Presentation Layer (UI)</a:t>
                      </a:r>
                      <a:endParaRPr lang="en-US" dirty="0"/>
                    </a:p>
                  </a:txBody>
                  <a:tcPr anchor="ctr">
                    <a:lnL>
                      <a:noFill/>
                    </a:lnL>
                    <a:lnR>
                      <a:noFill/>
                    </a:lnR>
                    <a:lnT>
                      <a:noFill/>
                    </a:lnT>
                    <a:lnB>
                      <a:noFill/>
                    </a:lnB>
                    <a:noFill/>
                  </a:tcPr>
                </a:tc>
                <a:tc>
                  <a:txBody>
                    <a:bodyPr/>
                    <a:lstStyle/>
                    <a:p>
                      <a:pPr>
                        <a:buNone/>
                      </a:pPr>
                      <a:r>
                        <a:rPr lang="en-US" dirty="0"/>
                        <a:t>User interface; displays information and collects input</a:t>
                      </a:r>
                    </a:p>
                  </a:txBody>
                  <a:tcPr anchor="ctr">
                    <a:lnL>
                      <a:noFill/>
                    </a:lnL>
                    <a:lnR>
                      <a:noFill/>
                    </a:lnR>
                    <a:lnT>
                      <a:noFill/>
                    </a:lnT>
                    <a:lnB>
                      <a:noFill/>
                    </a:lnB>
                    <a:noFill/>
                  </a:tcPr>
                </a:tc>
                <a:tc>
                  <a:txBody>
                    <a:bodyPr/>
                    <a:lstStyle/>
                    <a:p>
                      <a:pPr>
                        <a:buNone/>
                      </a:pPr>
                      <a:r>
                        <a:rPr lang="en-US" dirty="0"/>
                        <a:t>Web page, Mobile app</a:t>
                      </a:r>
                    </a:p>
                  </a:txBody>
                  <a:tcPr anchor="ctr">
                    <a:lnL>
                      <a:noFill/>
                    </a:lnL>
                    <a:lnR>
                      <a:noFill/>
                    </a:lnR>
                    <a:lnT>
                      <a:noFill/>
                    </a:lnT>
                    <a:lnB>
                      <a:noFill/>
                    </a:lnB>
                    <a:noFill/>
                  </a:tcPr>
                </a:tc>
                <a:extLst>
                  <a:ext uri="{0D108BD9-81ED-4DB2-BD59-A6C34878D82A}">
                    <a16:rowId xmlns:a16="http://schemas.microsoft.com/office/drawing/2014/main" val="2454457500"/>
                  </a:ext>
                </a:extLst>
              </a:tr>
              <a:tr h="0">
                <a:tc>
                  <a:txBody>
                    <a:bodyPr/>
                    <a:lstStyle/>
                    <a:p>
                      <a:pPr>
                        <a:buNone/>
                      </a:pPr>
                      <a:r>
                        <a:rPr lang="en-US" b="1"/>
                        <a:t>2. Application/Business Logic Layer</a:t>
                      </a:r>
                      <a:endParaRPr lang="en-US"/>
                    </a:p>
                  </a:txBody>
                  <a:tcPr anchor="ctr">
                    <a:lnL>
                      <a:noFill/>
                    </a:lnL>
                    <a:lnR>
                      <a:noFill/>
                    </a:lnR>
                    <a:lnT>
                      <a:noFill/>
                    </a:lnT>
                    <a:lnB>
                      <a:noFill/>
                    </a:lnB>
                    <a:noFill/>
                  </a:tcPr>
                </a:tc>
                <a:tc>
                  <a:txBody>
                    <a:bodyPr/>
                    <a:lstStyle/>
                    <a:p>
                      <a:pPr>
                        <a:buNone/>
                      </a:pPr>
                      <a:r>
                        <a:rPr lang="en-US"/>
                        <a:t>Implements system rules and logic</a:t>
                      </a:r>
                    </a:p>
                  </a:txBody>
                  <a:tcPr anchor="ctr">
                    <a:lnL>
                      <a:noFill/>
                    </a:lnL>
                    <a:lnR>
                      <a:noFill/>
                    </a:lnR>
                    <a:lnT>
                      <a:noFill/>
                    </a:lnT>
                    <a:lnB>
                      <a:noFill/>
                    </a:lnB>
                    <a:noFill/>
                  </a:tcPr>
                </a:tc>
                <a:tc>
                  <a:txBody>
                    <a:bodyPr/>
                    <a:lstStyle/>
                    <a:p>
                      <a:pPr>
                        <a:buNone/>
                      </a:pPr>
                      <a:r>
                        <a:rPr lang="en-US"/>
                        <a:t>Order processing, validation</a:t>
                      </a:r>
                    </a:p>
                  </a:txBody>
                  <a:tcPr anchor="ctr">
                    <a:lnL>
                      <a:noFill/>
                    </a:lnL>
                    <a:lnR>
                      <a:noFill/>
                    </a:lnR>
                    <a:lnT>
                      <a:noFill/>
                    </a:lnT>
                    <a:lnB>
                      <a:noFill/>
                    </a:lnB>
                    <a:noFill/>
                  </a:tcPr>
                </a:tc>
                <a:extLst>
                  <a:ext uri="{0D108BD9-81ED-4DB2-BD59-A6C34878D82A}">
                    <a16:rowId xmlns:a16="http://schemas.microsoft.com/office/drawing/2014/main" val="1914742186"/>
                  </a:ext>
                </a:extLst>
              </a:tr>
              <a:tr h="0">
                <a:tc>
                  <a:txBody>
                    <a:bodyPr/>
                    <a:lstStyle/>
                    <a:p>
                      <a:pPr>
                        <a:buNone/>
                      </a:pPr>
                      <a:r>
                        <a:rPr lang="en-US" b="1"/>
                        <a:t>3. Data Access Layer</a:t>
                      </a:r>
                      <a:endParaRPr lang="en-US"/>
                    </a:p>
                  </a:txBody>
                  <a:tcPr anchor="ctr">
                    <a:lnL>
                      <a:noFill/>
                    </a:lnL>
                    <a:lnR>
                      <a:noFill/>
                    </a:lnR>
                    <a:lnT>
                      <a:noFill/>
                    </a:lnT>
                    <a:lnB>
                      <a:noFill/>
                    </a:lnB>
                    <a:noFill/>
                  </a:tcPr>
                </a:tc>
                <a:tc>
                  <a:txBody>
                    <a:bodyPr/>
                    <a:lstStyle/>
                    <a:p>
                      <a:pPr>
                        <a:buNone/>
                      </a:pPr>
                      <a:r>
                        <a:rPr lang="en-US"/>
                        <a:t>Handles database queries and data conversion</a:t>
                      </a:r>
                    </a:p>
                  </a:txBody>
                  <a:tcPr anchor="ctr">
                    <a:lnL>
                      <a:noFill/>
                    </a:lnL>
                    <a:lnR>
                      <a:noFill/>
                    </a:lnR>
                    <a:lnT>
                      <a:noFill/>
                    </a:lnT>
                    <a:lnB>
                      <a:noFill/>
                    </a:lnB>
                    <a:noFill/>
                  </a:tcPr>
                </a:tc>
                <a:tc>
                  <a:txBody>
                    <a:bodyPr/>
                    <a:lstStyle/>
                    <a:p>
                      <a:pPr>
                        <a:buNone/>
                      </a:pPr>
                      <a:r>
                        <a:rPr lang="en-US"/>
                        <a:t>SQL commands, APIs</a:t>
                      </a:r>
                    </a:p>
                  </a:txBody>
                  <a:tcPr anchor="ctr">
                    <a:lnL>
                      <a:noFill/>
                    </a:lnL>
                    <a:lnR>
                      <a:noFill/>
                    </a:lnR>
                    <a:lnT>
                      <a:noFill/>
                    </a:lnT>
                    <a:lnB>
                      <a:noFill/>
                    </a:lnB>
                    <a:noFill/>
                  </a:tcPr>
                </a:tc>
                <a:extLst>
                  <a:ext uri="{0D108BD9-81ED-4DB2-BD59-A6C34878D82A}">
                    <a16:rowId xmlns:a16="http://schemas.microsoft.com/office/drawing/2014/main" val="784432863"/>
                  </a:ext>
                </a:extLst>
              </a:tr>
              <a:tr h="0">
                <a:tc>
                  <a:txBody>
                    <a:bodyPr/>
                    <a:lstStyle/>
                    <a:p>
                      <a:pPr>
                        <a:buNone/>
                      </a:pPr>
                      <a:r>
                        <a:rPr lang="en-US" b="1"/>
                        <a:t>4. Database Layer</a:t>
                      </a:r>
                      <a:endParaRPr lang="en-US"/>
                    </a:p>
                  </a:txBody>
                  <a:tcPr anchor="ctr">
                    <a:lnL>
                      <a:noFill/>
                    </a:lnL>
                    <a:lnR>
                      <a:noFill/>
                    </a:lnR>
                    <a:lnT>
                      <a:noFill/>
                    </a:lnT>
                    <a:lnB>
                      <a:noFill/>
                    </a:lnB>
                    <a:noFill/>
                  </a:tcPr>
                </a:tc>
                <a:tc>
                  <a:txBody>
                    <a:bodyPr/>
                    <a:lstStyle/>
                    <a:p>
                      <a:pPr>
                        <a:buNone/>
                      </a:pPr>
                      <a:r>
                        <a:rPr lang="en-US"/>
                        <a:t>Stores actual data</a:t>
                      </a:r>
                    </a:p>
                  </a:txBody>
                  <a:tcPr anchor="ctr">
                    <a:lnL>
                      <a:noFill/>
                    </a:lnL>
                    <a:lnR>
                      <a:noFill/>
                    </a:lnR>
                    <a:lnT>
                      <a:noFill/>
                    </a:lnT>
                    <a:lnB>
                      <a:noFill/>
                    </a:lnB>
                    <a:noFill/>
                  </a:tcPr>
                </a:tc>
                <a:tc>
                  <a:txBody>
                    <a:bodyPr/>
                    <a:lstStyle/>
                    <a:p>
                      <a:pPr>
                        <a:buNone/>
                      </a:pPr>
                      <a:r>
                        <a:rPr lang="en-US" dirty="0"/>
                        <a:t>MySQL, MongoDB</a:t>
                      </a:r>
                    </a:p>
                  </a:txBody>
                  <a:tcPr anchor="ctr">
                    <a:lnL>
                      <a:noFill/>
                    </a:lnL>
                    <a:lnR>
                      <a:noFill/>
                    </a:lnR>
                    <a:lnT>
                      <a:noFill/>
                    </a:lnT>
                    <a:lnB>
                      <a:noFill/>
                    </a:lnB>
                    <a:noFill/>
                  </a:tcPr>
                </a:tc>
                <a:extLst>
                  <a:ext uri="{0D108BD9-81ED-4DB2-BD59-A6C34878D82A}">
                    <a16:rowId xmlns:a16="http://schemas.microsoft.com/office/drawing/2014/main" val="2068908996"/>
                  </a:ext>
                </a:extLst>
              </a:tr>
            </a:tbl>
          </a:graphicData>
        </a:graphic>
      </p:graphicFrame>
    </p:spTree>
    <p:extLst>
      <p:ext uri="{BB962C8B-B14F-4D97-AF65-F5344CB8AC3E}">
        <p14:creationId xmlns:p14="http://schemas.microsoft.com/office/powerpoint/2010/main" val="38269176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825A2-23EA-51C6-FFD9-51753128535B}"/>
              </a:ext>
            </a:extLst>
          </p:cNvPr>
          <p:cNvSpPr>
            <a:spLocks noGrp="1"/>
          </p:cNvSpPr>
          <p:nvPr>
            <p:ph type="title"/>
          </p:nvPr>
        </p:nvSpPr>
        <p:spPr>
          <a:xfrm>
            <a:off x="2506134" y="457202"/>
            <a:ext cx="7704667" cy="1142999"/>
          </a:xfrm>
        </p:spPr>
        <p:txBody>
          <a:bodyPr>
            <a:normAutofit/>
          </a:bodyPr>
          <a:lstStyle/>
          <a:p>
            <a:r>
              <a:rPr lang="en-US" b="1" dirty="0"/>
              <a:t> How It Works</a:t>
            </a:r>
            <a:endParaRPr lang="en-PK" dirty="0"/>
          </a:p>
        </p:txBody>
      </p:sp>
      <p:sp>
        <p:nvSpPr>
          <p:cNvPr id="3" name="Content Placeholder 2">
            <a:extLst>
              <a:ext uri="{FF2B5EF4-FFF2-40B4-BE49-F238E27FC236}">
                <a16:creationId xmlns:a16="http://schemas.microsoft.com/office/drawing/2014/main" id="{452F446A-5D4A-808A-7D26-CCAA9E032FB9}"/>
              </a:ext>
            </a:extLst>
          </p:cNvPr>
          <p:cNvSpPr>
            <a:spLocks noGrp="1"/>
          </p:cNvSpPr>
          <p:nvPr>
            <p:ph idx="1"/>
          </p:nvPr>
        </p:nvSpPr>
        <p:spPr>
          <a:xfrm>
            <a:off x="1981200" y="1600200"/>
            <a:ext cx="8229600" cy="4983162"/>
          </a:xfrm>
        </p:spPr>
        <p:txBody>
          <a:bodyPr>
            <a:normAutofit fontScale="32500" lnSpcReduction="20000"/>
          </a:bodyPr>
          <a:lstStyle/>
          <a:p>
            <a:r>
              <a:rPr lang="en-US" sz="8000" b="1" dirty="0">
                <a:latin typeface="+mj-lt"/>
              </a:rPr>
              <a:t>User</a:t>
            </a:r>
            <a:r>
              <a:rPr lang="en-US" sz="8000" dirty="0">
                <a:latin typeface="+mj-lt"/>
              </a:rPr>
              <a:t> interacts with the </a:t>
            </a:r>
            <a:r>
              <a:rPr lang="en-US" sz="8000" b="1" dirty="0">
                <a:latin typeface="+mj-lt"/>
              </a:rPr>
              <a:t>Presentation Layer</a:t>
            </a:r>
            <a:r>
              <a:rPr lang="en-US" sz="8000" dirty="0">
                <a:latin typeface="+mj-lt"/>
              </a:rPr>
              <a:t>.</a:t>
            </a:r>
          </a:p>
          <a:p>
            <a:r>
              <a:rPr lang="en-US" sz="8000" dirty="0">
                <a:latin typeface="+mj-lt"/>
              </a:rPr>
              <a:t>The </a:t>
            </a:r>
            <a:r>
              <a:rPr lang="en-US" sz="8000" b="1" dirty="0">
                <a:latin typeface="+mj-lt"/>
              </a:rPr>
              <a:t>Business Logic Layer</a:t>
            </a:r>
            <a:r>
              <a:rPr lang="en-US" sz="8000" dirty="0">
                <a:latin typeface="+mj-lt"/>
              </a:rPr>
              <a:t> processes the request.</a:t>
            </a:r>
          </a:p>
          <a:p>
            <a:r>
              <a:rPr lang="en-US" sz="8000" dirty="0">
                <a:latin typeface="+mj-lt"/>
              </a:rPr>
              <a:t>The </a:t>
            </a:r>
            <a:r>
              <a:rPr lang="en-US" sz="8000" b="1" dirty="0">
                <a:latin typeface="+mj-lt"/>
              </a:rPr>
              <a:t>Data Access Layer</a:t>
            </a:r>
            <a:r>
              <a:rPr lang="en-US" sz="8000" dirty="0">
                <a:latin typeface="+mj-lt"/>
              </a:rPr>
              <a:t> retrieves or updates data from the </a:t>
            </a:r>
            <a:r>
              <a:rPr lang="en-US" sz="8000" b="1" dirty="0">
                <a:latin typeface="+mj-lt"/>
              </a:rPr>
              <a:t>Database Layer</a:t>
            </a:r>
            <a:r>
              <a:rPr lang="en-US" sz="8000" dirty="0">
                <a:latin typeface="+mj-lt"/>
              </a:rPr>
              <a:t>.</a:t>
            </a:r>
          </a:p>
          <a:p>
            <a:r>
              <a:rPr lang="en-US" sz="8000" dirty="0">
                <a:latin typeface="+mj-lt"/>
              </a:rPr>
              <a:t>Results flow back up through the layers to the user.</a:t>
            </a:r>
          </a:p>
          <a:p>
            <a:r>
              <a:rPr lang="en-US" sz="8000" b="1" dirty="0">
                <a:latin typeface="+mj-lt"/>
              </a:rPr>
              <a:t>Flow:</a:t>
            </a:r>
            <a:br>
              <a:rPr lang="en-US" sz="8000" dirty="0">
                <a:latin typeface="+mj-lt"/>
              </a:rPr>
            </a:br>
            <a:r>
              <a:rPr lang="en-US" sz="8000" dirty="0">
                <a:latin typeface="+mj-lt"/>
              </a:rPr>
              <a:t>User → UI → Business Logic → Data Access → Database</a:t>
            </a:r>
            <a:br>
              <a:rPr lang="en-US" sz="8000" dirty="0">
                <a:latin typeface="+mj-lt"/>
              </a:rPr>
            </a:br>
            <a:r>
              <a:rPr lang="en-US" sz="8000" dirty="0">
                <a:latin typeface="+mj-lt"/>
              </a:rPr>
              <a:t>⬆️ Response follows the reverse path</a:t>
            </a:r>
          </a:p>
          <a:p>
            <a:endParaRPr lang="en-US" sz="8000" b="1" dirty="0">
              <a:latin typeface="+mj-lt"/>
            </a:endParaRPr>
          </a:p>
          <a:p>
            <a:endParaRPr lang="en-PK" dirty="0"/>
          </a:p>
        </p:txBody>
      </p:sp>
    </p:spTree>
    <p:extLst>
      <p:ext uri="{BB962C8B-B14F-4D97-AF65-F5344CB8AC3E}">
        <p14:creationId xmlns:p14="http://schemas.microsoft.com/office/powerpoint/2010/main" val="27203194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E826D-73DC-F379-56F5-46648BFA7C5F}"/>
              </a:ext>
            </a:extLst>
          </p:cNvPr>
          <p:cNvSpPr>
            <a:spLocks noGrp="1"/>
          </p:cNvSpPr>
          <p:nvPr>
            <p:ph type="title"/>
          </p:nvPr>
        </p:nvSpPr>
        <p:spPr/>
        <p:txBody>
          <a:bodyPr>
            <a:normAutofit/>
          </a:bodyPr>
          <a:lstStyle/>
          <a:p>
            <a:r>
              <a:rPr lang="en-US" b="1" dirty="0"/>
              <a:t>🛒 Example : E-Commerce Website</a:t>
            </a:r>
            <a:endParaRPr lang="en-PK" dirty="0"/>
          </a:p>
        </p:txBody>
      </p:sp>
      <p:sp>
        <p:nvSpPr>
          <p:cNvPr id="3" name="Content Placeholder 2">
            <a:extLst>
              <a:ext uri="{FF2B5EF4-FFF2-40B4-BE49-F238E27FC236}">
                <a16:creationId xmlns:a16="http://schemas.microsoft.com/office/drawing/2014/main" id="{D6F1B33C-00B8-D5AC-8F3B-580A0DA33529}"/>
              </a:ext>
            </a:extLst>
          </p:cNvPr>
          <p:cNvSpPr>
            <a:spLocks noGrp="1"/>
          </p:cNvSpPr>
          <p:nvPr>
            <p:ph idx="1"/>
          </p:nvPr>
        </p:nvSpPr>
        <p:spPr/>
        <p:txBody>
          <a:bodyPr>
            <a:normAutofit lnSpcReduction="10000"/>
          </a:bodyPr>
          <a:lstStyle/>
          <a:p>
            <a:r>
              <a:rPr lang="en-US" b="1" dirty="0"/>
              <a:t>Presentation Layer:</a:t>
            </a:r>
            <a:r>
              <a:rPr lang="en-US" dirty="0"/>
              <a:t> Website interface (HTML, CSS, React).</a:t>
            </a:r>
          </a:p>
          <a:p>
            <a:r>
              <a:rPr lang="en-US" b="1" dirty="0"/>
              <a:t>Business Logic Layer:</a:t>
            </a:r>
            <a:r>
              <a:rPr lang="en-US" dirty="0"/>
              <a:t> Handles user login, payment rules, order management.</a:t>
            </a:r>
          </a:p>
          <a:p>
            <a:r>
              <a:rPr lang="en-US" b="1" dirty="0"/>
              <a:t>Data Access Layer:</a:t>
            </a:r>
            <a:r>
              <a:rPr lang="en-US" dirty="0"/>
              <a:t> Executes SQL queries.</a:t>
            </a:r>
          </a:p>
          <a:p>
            <a:r>
              <a:rPr lang="en-US" b="1" dirty="0"/>
              <a:t>Database Layer:</a:t>
            </a:r>
            <a:r>
              <a:rPr lang="en-US" dirty="0"/>
              <a:t> Stores products, users, orders (MySQL).</a:t>
            </a:r>
          </a:p>
          <a:p>
            <a:r>
              <a:rPr lang="en-US" b="1" dirty="0"/>
              <a:t>Flow:</a:t>
            </a:r>
            <a:br>
              <a:rPr lang="en-US" dirty="0"/>
            </a:br>
            <a:r>
              <a:rPr lang="en-US" dirty="0"/>
              <a:t>User → UI → Order Logic → SQL Queries → Database</a:t>
            </a:r>
          </a:p>
          <a:p>
            <a:endParaRPr lang="en-PK" dirty="0"/>
          </a:p>
        </p:txBody>
      </p:sp>
    </p:spTree>
    <p:extLst>
      <p:ext uri="{BB962C8B-B14F-4D97-AF65-F5344CB8AC3E}">
        <p14:creationId xmlns:p14="http://schemas.microsoft.com/office/powerpoint/2010/main" val="17186672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6134" y="457202"/>
            <a:ext cx="7704667" cy="1351721"/>
          </a:xfrm>
        </p:spPr>
        <p:txBody>
          <a:bodyPr/>
          <a:lstStyle/>
          <a:p>
            <a:r>
              <a:rPr dirty="0"/>
              <a:t>Pipe and Filter Architecture</a:t>
            </a:r>
          </a:p>
        </p:txBody>
      </p:sp>
      <p:sp>
        <p:nvSpPr>
          <p:cNvPr id="3" name="Content Placeholder 2"/>
          <p:cNvSpPr>
            <a:spLocks noGrp="1"/>
          </p:cNvSpPr>
          <p:nvPr>
            <p:ph idx="1"/>
          </p:nvPr>
        </p:nvSpPr>
        <p:spPr>
          <a:xfrm>
            <a:off x="2376925" y="2160104"/>
            <a:ext cx="7704667" cy="3332816"/>
          </a:xfrm>
        </p:spPr>
        <p:txBody>
          <a:bodyPr>
            <a:normAutofit/>
          </a:bodyPr>
          <a:lstStyle/>
          <a:p>
            <a:r>
              <a:rPr lang="en-US" dirty="0"/>
              <a:t>Concept:</a:t>
            </a:r>
          </a:p>
          <a:p>
            <a:r>
              <a:rPr lang="en-US" dirty="0"/>
              <a:t>The </a:t>
            </a:r>
            <a:r>
              <a:rPr lang="en-US" b="1" dirty="0"/>
              <a:t>Pipe and Filter architecture</a:t>
            </a:r>
            <a:r>
              <a:rPr lang="en-US" dirty="0"/>
              <a:t> is a </a:t>
            </a:r>
            <a:r>
              <a:rPr lang="en-US" b="1" dirty="0"/>
              <a:t>data-flow design pattern</a:t>
            </a:r>
            <a:r>
              <a:rPr lang="en-US" dirty="0"/>
              <a:t> where the system is organized as a </a:t>
            </a:r>
            <a:r>
              <a:rPr lang="en-US" b="1" dirty="0"/>
              <a:t>series of processing steps (filters)</a:t>
            </a:r>
            <a:r>
              <a:rPr lang="en-US" dirty="0"/>
              <a:t> connected by </a:t>
            </a:r>
            <a:r>
              <a:rPr lang="en-US" b="1" dirty="0"/>
              <a:t>data channels (pipes)</a:t>
            </a:r>
            <a:r>
              <a:rPr lang="en-US" dirty="0"/>
              <a:t>.</a:t>
            </a:r>
          </a:p>
          <a:p>
            <a:r>
              <a:rPr lang="en-US" dirty="0"/>
              <a:t>Each </a:t>
            </a:r>
            <a:r>
              <a:rPr lang="en-US" b="1" dirty="0"/>
              <a:t>filter</a:t>
            </a:r>
            <a:r>
              <a:rPr lang="en-US" dirty="0"/>
              <a:t> takes input, processes it, and produces output that is passed to the next filter through a </a:t>
            </a:r>
            <a:r>
              <a:rPr lang="en-US" b="1" dirty="0"/>
              <a:t>pipe</a:t>
            </a:r>
            <a:endParaRPr lang="en-US" dirty="0"/>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A Brief Taxonomy of Architectural Styles</a:t>
            </a:r>
          </a:p>
        </p:txBody>
      </p:sp>
      <p:sp>
        <p:nvSpPr>
          <p:cNvPr id="3" name="Content Placeholder 2"/>
          <p:cNvSpPr>
            <a:spLocks noGrp="1"/>
          </p:cNvSpPr>
          <p:nvPr>
            <p:ph idx="1"/>
          </p:nvPr>
        </p:nvSpPr>
        <p:spPr/>
        <p:txBody>
          <a:bodyPr/>
          <a:lstStyle/>
          <a:p>
            <a:r>
              <a:rPr lang="en-US" b="1" dirty="0"/>
              <a:t>Call and return/ Pipe &amp; Filter architectures: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600" y="2286000"/>
            <a:ext cx="7924800" cy="4419600"/>
          </a:xfrm>
          <a:prstGeom prst="rect">
            <a:avLst/>
          </a:prstGeom>
        </p:spPr>
      </p:pic>
    </p:spTree>
    <p:extLst>
      <p:ext uri="{BB962C8B-B14F-4D97-AF65-F5344CB8AC3E}">
        <p14:creationId xmlns:p14="http://schemas.microsoft.com/office/powerpoint/2010/main" val="20768532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An example of the pipe and filter architecture</a:t>
            </a:r>
            <a:r>
              <a:rPr lang="en-GB" dirty="0"/>
              <a:t> </a:t>
            </a:r>
            <a:endParaRPr lang="en-US" dirty="0"/>
          </a:p>
        </p:txBody>
      </p:sp>
      <p:pic>
        <p:nvPicPr>
          <p:cNvPr id="5" name="Picture 4"/>
          <p:cNvPicPr>
            <a:picLocks noChangeAspect="1"/>
          </p:cNvPicPr>
          <p:nvPr/>
        </p:nvPicPr>
        <p:blipFill>
          <a:blip r:embed="rId2"/>
          <a:stretch>
            <a:fillRect/>
          </a:stretch>
        </p:blipFill>
        <p:spPr>
          <a:xfrm>
            <a:off x="1600200" y="2286000"/>
            <a:ext cx="8948622" cy="2667000"/>
          </a:xfrm>
          <a:prstGeom prst="rect">
            <a:avLst/>
          </a:prstGeom>
        </p:spPr>
      </p:pic>
    </p:spTree>
    <p:extLst>
      <p:ext uri="{BB962C8B-B14F-4D97-AF65-F5344CB8AC3E}">
        <p14:creationId xmlns:p14="http://schemas.microsoft.com/office/powerpoint/2010/main" val="7717413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63207-3538-8F75-3F54-21422DD5005D}"/>
              </a:ext>
            </a:extLst>
          </p:cNvPr>
          <p:cNvSpPr>
            <a:spLocks noGrp="1"/>
          </p:cNvSpPr>
          <p:nvPr>
            <p:ph type="title"/>
          </p:nvPr>
        </p:nvSpPr>
        <p:spPr>
          <a:xfrm>
            <a:off x="2506134" y="457202"/>
            <a:ext cx="7704667" cy="1316735"/>
          </a:xfrm>
        </p:spPr>
        <p:txBody>
          <a:bodyPr/>
          <a:lstStyle/>
          <a:p>
            <a:r>
              <a:rPr lang="en-US" dirty="0"/>
              <a:t>Pipe and Filter Architecture</a:t>
            </a:r>
            <a:endParaRPr lang="en-PK" dirty="0"/>
          </a:p>
        </p:txBody>
      </p:sp>
      <p:sp>
        <p:nvSpPr>
          <p:cNvPr id="3" name="Content Placeholder 2">
            <a:extLst>
              <a:ext uri="{FF2B5EF4-FFF2-40B4-BE49-F238E27FC236}">
                <a16:creationId xmlns:a16="http://schemas.microsoft.com/office/drawing/2014/main" id="{0B6618C6-3610-C1B9-3BDE-5FA839AFF4B5}"/>
              </a:ext>
            </a:extLst>
          </p:cNvPr>
          <p:cNvSpPr>
            <a:spLocks noGrp="1"/>
          </p:cNvSpPr>
          <p:nvPr>
            <p:ph idx="1"/>
          </p:nvPr>
        </p:nvSpPr>
        <p:spPr>
          <a:xfrm>
            <a:off x="2368974" y="1898904"/>
            <a:ext cx="7704667" cy="3332816"/>
          </a:xfrm>
        </p:spPr>
        <p:txBody>
          <a:bodyPr/>
          <a:lstStyle/>
          <a:p>
            <a:r>
              <a:rPr lang="en-US" b="1" dirty="0"/>
              <a:t>Advantages:</a:t>
            </a:r>
            <a:r>
              <a:rPr lang="en-US" dirty="0"/>
              <a:t> Easy modification, supports parallelism. </a:t>
            </a:r>
          </a:p>
          <a:p>
            <a:r>
              <a:rPr lang="en-US" b="1" dirty="0"/>
              <a:t>Disadvantages:</a:t>
            </a:r>
            <a:r>
              <a:rPr lang="en-US" dirty="0"/>
              <a:t> Not interactive, requires compatible data formats</a:t>
            </a:r>
            <a:endParaRPr lang="en-PK" dirty="0"/>
          </a:p>
        </p:txBody>
      </p:sp>
    </p:spTree>
    <p:extLst>
      <p:ext uri="{BB962C8B-B14F-4D97-AF65-F5344CB8AC3E}">
        <p14:creationId xmlns:p14="http://schemas.microsoft.com/office/powerpoint/2010/main" val="10024052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229E3-3B35-2148-EE88-892DB1CE41C2}"/>
              </a:ext>
            </a:extLst>
          </p:cNvPr>
          <p:cNvSpPr>
            <a:spLocks noGrp="1"/>
          </p:cNvSpPr>
          <p:nvPr>
            <p:ph type="title"/>
          </p:nvPr>
        </p:nvSpPr>
        <p:spPr>
          <a:xfrm>
            <a:off x="2506134" y="457202"/>
            <a:ext cx="7704667" cy="1298447"/>
          </a:xfrm>
        </p:spPr>
        <p:txBody>
          <a:bodyPr>
            <a:normAutofit/>
          </a:bodyPr>
          <a:lstStyle/>
          <a:p>
            <a:r>
              <a:rPr lang="en-US" b="1" dirty="0"/>
              <a:t> Compiler System</a:t>
            </a:r>
            <a:endParaRPr lang="en-PK" dirty="0"/>
          </a:p>
        </p:txBody>
      </p:sp>
      <p:sp>
        <p:nvSpPr>
          <p:cNvPr id="3" name="Content Placeholder 2">
            <a:extLst>
              <a:ext uri="{FF2B5EF4-FFF2-40B4-BE49-F238E27FC236}">
                <a16:creationId xmlns:a16="http://schemas.microsoft.com/office/drawing/2014/main" id="{9019B0C0-920A-C89C-32D3-693B6AFFA962}"/>
              </a:ext>
            </a:extLst>
          </p:cNvPr>
          <p:cNvSpPr>
            <a:spLocks noGrp="1"/>
          </p:cNvSpPr>
          <p:nvPr>
            <p:ph idx="1"/>
          </p:nvPr>
        </p:nvSpPr>
        <p:spPr>
          <a:xfrm>
            <a:off x="2506133" y="2017776"/>
            <a:ext cx="7704667" cy="3332816"/>
          </a:xfrm>
        </p:spPr>
        <p:txBody>
          <a:bodyPr>
            <a:normAutofit fontScale="70000" lnSpcReduction="20000"/>
          </a:bodyPr>
          <a:lstStyle/>
          <a:p>
            <a:r>
              <a:rPr lang="en-US" b="1" dirty="0"/>
              <a:t>Explanation:</a:t>
            </a:r>
            <a:br>
              <a:rPr lang="en-US" dirty="0"/>
            </a:br>
            <a:r>
              <a:rPr lang="en-US" dirty="0"/>
              <a:t>A compiler processes source code through several stages — each acting as a filter.</a:t>
            </a:r>
            <a:br>
              <a:rPr lang="en-US" dirty="0"/>
            </a:br>
            <a:r>
              <a:rPr lang="en-US" b="1" dirty="0"/>
              <a:t>Filters:</a:t>
            </a:r>
            <a:endParaRPr lang="en-US" dirty="0"/>
          </a:p>
          <a:p>
            <a:r>
              <a:rPr lang="en-US" dirty="0"/>
              <a:t>Lexical Analyzer → breaks code into tokens</a:t>
            </a:r>
          </a:p>
          <a:p>
            <a:r>
              <a:rPr lang="en-US" dirty="0"/>
              <a:t>Syntax Analyzer → checks grammar</a:t>
            </a:r>
          </a:p>
          <a:p>
            <a:r>
              <a:rPr lang="en-US" dirty="0"/>
              <a:t>Semantic Analyzer → checks meaning</a:t>
            </a:r>
          </a:p>
          <a:p>
            <a:r>
              <a:rPr lang="en-US" dirty="0"/>
              <a:t>Code Generator → produces target code</a:t>
            </a:r>
          </a:p>
          <a:p>
            <a:r>
              <a:rPr lang="en-US" b="1" dirty="0"/>
              <a:t>Flow:</a:t>
            </a:r>
            <a:br>
              <a:rPr lang="en-US" dirty="0"/>
            </a:br>
            <a:r>
              <a:rPr lang="en-US" dirty="0"/>
              <a:t>Source Code → Lexical → Syntax → Semantic → Code Generator → Machine Code</a:t>
            </a:r>
          </a:p>
          <a:p>
            <a:endParaRPr lang="en-PK" dirty="0"/>
          </a:p>
        </p:txBody>
      </p:sp>
    </p:spTree>
    <p:extLst>
      <p:ext uri="{BB962C8B-B14F-4D97-AF65-F5344CB8AC3E}">
        <p14:creationId xmlns:p14="http://schemas.microsoft.com/office/powerpoint/2010/main" val="39783107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EE2C6-042E-0A8C-74A0-EA774FC35FE2}"/>
              </a:ext>
            </a:extLst>
          </p:cNvPr>
          <p:cNvSpPr>
            <a:spLocks noGrp="1"/>
          </p:cNvSpPr>
          <p:nvPr>
            <p:ph type="title"/>
          </p:nvPr>
        </p:nvSpPr>
        <p:spPr/>
        <p:txBody>
          <a:bodyPr/>
          <a:lstStyle/>
          <a:p>
            <a:r>
              <a:rPr lang="en-US" dirty="0"/>
              <a:t>Microservices Architecture</a:t>
            </a:r>
            <a:endParaRPr lang="en-PK" dirty="0"/>
          </a:p>
        </p:txBody>
      </p:sp>
      <p:sp>
        <p:nvSpPr>
          <p:cNvPr id="3" name="Content Placeholder 2">
            <a:extLst>
              <a:ext uri="{FF2B5EF4-FFF2-40B4-BE49-F238E27FC236}">
                <a16:creationId xmlns:a16="http://schemas.microsoft.com/office/drawing/2014/main" id="{896B85CF-4661-495A-C533-5F6DE9FEBDAA}"/>
              </a:ext>
            </a:extLst>
          </p:cNvPr>
          <p:cNvSpPr>
            <a:spLocks noGrp="1"/>
          </p:cNvSpPr>
          <p:nvPr>
            <p:ph idx="1"/>
          </p:nvPr>
        </p:nvSpPr>
        <p:spPr>
          <a:xfrm>
            <a:off x="2506133" y="2118360"/>
            <a:ext cx="7704667" cy="3332816"/>
          </a:xfrm>
        </p:spPr>
        <p:txBody>
          <a:bodyPr>
            <a:normAutofit lnSpcReduction="10000"/>
          </a:bodyPr>
          <a:lstStyle/>
          <a:p>
            <a:pPr marL="0" indent="0">
              <a:buNone/>
            </a:pPr>
            <a:r>
              <a:rPr lang="en-US" dirty="0"/>
              <a:t>Concept: </a:t>
            </a:r>
          </a:p>
          <a:p>
            <a:r>
              <a:rPr lang="en-US" dirty="0"/>
              <a:t>Microservices Architecture is a software design style in which an application is divided into a </a:t>
            </a:r>
            <a:r>
              <a:rPr lang="en-US" b="1" dirty="0"/>
              <a:t>collection of small, independent services</a:t>
            </a:r>
            <a:r>
              <a:rPr lang="en-US" dirty="0"/>
              <a:t> that communicate with each other using </a:t>
            </a:r>
            <a:r>
              <a:rPr lang="en-US" b="1" dirty="0"/>
              <a:t>APIs</a:t>
            </a:r>
            <a:endParaRPr lang="en-US" dirty="0"/>
          </a:p>
          <a:p>
            <a:r>
              <a:rPr lang="en-US" dirty="0"/>
              <a:t>Each microservice focuses on doing </a:t>
            </a:r>
            <a:r>
              <a:rPr lang="en-US" b="1" dirty="0"/>
              <a:t>one specific business function</a:t>
            </a:r>
            <a:r>
              <a:rPr lang="en-US" dirty="0"/>
              <a:t> and can be developed, deployed, and scaled </a:t>
            </a:r>
            <a:r>
              <a:rPr lang="en-US" b="1" dirty="0"/>
              <a:t>independently</a:t>
            </a:r>
            <a:r>
              <a:rPr lang="en-US" dirty="0"/>
              <a:t>.</a:t>
            </a:r>
          </a:p>
          <a:p>
            <a:endParaRPr lang="en-PK" dirty="0"/>
          </a:p>
        </p:txBody>
      </p:sp>
    </p:spTree>
    <p:extLst>
      <p:ext uri="{BB962C8B-B14F-4D97-AF65-F5344CB8AC3E}">
        <p14:creationId xmlns:p14="http://schemas.microsoft.com/office/powerpoint/2010/main" val="1602388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6134" y="457201"/>
            <a:ext cx="7704667" cy="1231640"/>
          </a:xfrm>
        </p:spPr>
        <p:txBody>
          <a:bodyPr/>
          <a:lstStyle/>
          <a:p>
            <a:r>
              <a:rPr lang="en-US" dirty="0"/>
              <a:t>Micro-services Architecture</a:t>
            </a:r>
            <a:endParaRPr dirty="0"/>
          </a:p>
        </p:txBody>
      </p:sp>
      <p:sp>
        <p:nvSpPr>
          <p:cNvPr id="3" name="Content Placeholder 2"/>
          <p:cNvSpPr>
            <a:spLocks noGrp="1"/>
          </p:cNvSpPr>
          <p:nvPr>
            <p:ph idx="1"/>
          </p:nvPr>
        </p:nvSpPr>
        <p:spPr>
          <a:xfrm>
            <a:off x="2310191" y="1939212"/>
            <a:ext cx="7704667" cy="3332816"/>
          </a:xfrm>
        </p:spPr>
        <p:txBody>
          <a:bodyPr>
            <a:normAutofit fontScale="92500" lnSpcReduction="10000"/>
          </a:bodyPr>
          <a:lstStyle/>
          <a:p>
            <a:r>
              <a:rPr dirty="0"/>
              <a:t>Advantages: Scalable, fault-tolerant, flexible.</a:t>
            </a:r>
          </a:p>
          <a:p>
            <a:r>
              <a:rPr dirty="0"/>
              <a:t>Disadvantages: Complex communication, harder debugging.</a:t>
            </a:r>
            <a:endParaRPr lang="en-US" dirty="0"/>
          </a:p>
          <a:p>
            <a:r>
              <a:rPr lang="en-US" dirty="0"/>
              <a:t>Examples</a:t>
            </a:r>
          </a:p>
          <a:p>
            <a:pPr lvl="1"/>
            <a:r>
              <a:rPr lang="en-US" dirty="0"/>
              <a:t>Netflix: Uses hundreds of microservices to handle streaming, recommendations, billing, etc.</a:t>
            </a:r>
          </a:p>
          <a:p>
            <a:pPr lvl="1"/>
            <a:r>
              <a:rPr lang="en-US" dirty="0"/>
              <a:t>Amazon: Every function (cart, payment, shipping) runs as a separate microservice</a:t>
            </a:r>
          </a:p>
          <a:p>
            <a:pPr lvl="1"/>
            <a:r>
              <a:rPr lang="en-US" dirty="0"/>
              <a:t>.Uber: Microservices for rides, payments, user management, and maps.</a:t>
            </a:r>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872158C-5583-9EFF-6271-0B2592333E2D}"/>
              </a:ext>
            </a:extLst>
          </p:cNvPr>
          <p:cNvPicPr>
            <a:picLocks noGrp="1" noChangeAspect="1"/>
          </p:cNvPicPr>
          <p:nvPr>
            <p:ph idx="1"/>
          </p:nvPr>
        </p:nvPicPr>
        <p:blipFill>
          <a:blip r:embed="rId3"/>
          <a:stretch>
            <a:fillRect/>
          </a:stretch>
        </p:blipFill>
        <p:spPr>
          <a:xfrm>
            <a:off x="3160735" y="1000918"/>
            <a:ext cx="6833550" cy="4457490"/>
          </a:xfrm>
          <a:prstGeom prst="rect">
            <a:avLst/>
          </a:prstGeom>
        </p:spPr>
      </p:pic>
    </p:spTree>
    <p:extLst>
      <p:ext uri="{BB962C8B-B14F-4D97-AF65-F5344CB8AC3E}">
        <p14:creationId xmlns:p14="http://schemas.microsoft.com/office/powerpoint/2010/main" val="37310993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6134" y="457201"/>
            <a:ext cx="7704667" cy="1119672"/>
          </a:xfrm>
        </p:spPr>
        <p:txBody>
          <a:bodyPr/>
          <a:lstStyle/>
          <a:p>
            <a:r>
              <a:rPr lang="en-US" b="1" dirty="0"/>
              <a:t>Monolithic Architecture</a:t>
            </a:r>
            <a:endParaRPr lang="en-US" dirty="0"/>
          </a:p>
        </p:txBody>
      </p:sp>
      <p:sp>
        <p:nvSpPr>
          <p:cNvPr id="3" name="Content Placeholder 2"/>
          <p:cNvSpPr>
            <a:spLocks noGrp="1"/>
          </p:cNvSpPr>
          <p:nvPr>
            <p:ph idx="1"/>
          </p:nvPr>
        </p:nvSpPr>
        <p:spPr>
          <a:xfrm>
            <a:off x="2384836" y="1894115"/>
            <a:ext cx="7704667" cy="4320073"/>
          </a:xfrm>
        </p:spPr>
        <p:txBody>
          <a:bodyPr>
            <a:normAutofit fontScale="85000" lnSpcReduction="10000"/>
          </a:bodyPr>
          <a:lstStyle/>
          <a:p>
            <a:r>
              <a:rPr lang="en-US" b="1" dirty="0"/>
              <a:t>Monolithic Architecture</a:t>
            </a:r>
            <a:r>
              <a:rPr lang="en-US" dirty="0"/>
              <a:t> is a software design where the </a:t>
            </a:r>
            <a:r>
              <a:rPr lang="en-US" b="1" dirty="0"/>
              <a:t>entire application is built as a single, unified unit</a:t>
            </a:r>
            <a:r>
              <a:rPr lang="en-US" dirty="0"/>
              <a:t>.</a:t>
            </a:r>
          </a:p>
          <a:p>
            <a:r>
              <a:rPr lang="en-US" dirty="0"/>
              <a:t> All components (UI, business logic, database access) are tightly integrated and deployed together.</a:t>
            </a:r>
          </a:p>
          <a:p>
            <a:r>
              <a:rPr lang="en-US" b="1" dirty="0"/>
              <a:t>Real-World Examples</a:t>
            </a:r>
          </a:p>
          <a:p>
            <a:r>
              <a:rPr lang="en-US" dirty="0"/>
              <a:t>Early versions of: </a:t>
            </a:r>
          </a:p>
          <a:p>
            <a:pPr lvl="1"/>
            <a:r>
              <a:rPr lang="en-US" dirty="0"/>
              <a:t>Facebook , Amazon </a:t>
            </a:r>
          </a:p>
          <a:p>
            <a:r>
              <a:rPr lang="en-US" dirty="0"/>
              <a:t>Many small systems like: </a:t>
            </a:r>
          </a:p>
          <a:p>
            <a:pPr lvl="1"/>
            <a:r>
              <a:rPr lang="en-US" dirty="0"/>
              <a:t>School management systems , Library systems, Basic web applications</a:t>
            </a:r>
          </a:p>
          <a:p>
            <a:r>
              <a:rPr lang="en-US" dirty="0"/>
              <a:t>Most systems follow this journey:</a:t>
            </a:r>
          </a:p>
          <a:p>
            <a:r>
              <a:rPr lang="en-US" dirty="0"/>
              <a:t>Monolithic → Modular Monolith → </a:t>
            </a:r>
            <a:r>
              <a:rPr lang="en-US" dirty="0" err="1"/>
              <a:t>Microservices</a:t>
            </a:r>
            <a:endParaRPr lang="en-US" dirty="0"/>
          </a:p>
          <a:p>
            <a:pPr lvl="1"/>
            <a:endParaRPr lang="en-US" dirty="0"/>
          </a:p>
        </p:txBody>
      </p:sp>
    </p:spTree>
    <p:extLst>
      <p:ext uri="{BB962C8B-B14F-4D97-AF65-F5344CB8AC3E}">
        <p14:creationId xmlns:p14="http://schemas.microsoft.com/office/powerpoint/2010/main" val="15700149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Structure of Monolithic System</a:t>
            </a:r>
          </a:p>
        </p:txBody>
      </p:sp>
      <p:sp>
        <p:nvSpPr>
          <p:cNvPr id="3" name="Content Placeholder 2"/>
          <p:cNvSpPr>
            <a:spLocks noGrp="1"/>
          </p:cNvSpPr>
          <p:nvPr>
            <p:ph idx="1"/>
          </p:nvPr>
        </p:nvSpPr>
        <p:spPr>
          <a:xfrm>
            <a:off x="2506134" y="2230018"/>
            <a:ext cx="7704667" cy="3947081"/>
          </a:xfrm>
        </p:spPr>
        <p:txBody>
          <a:bodyPr>
            <a:normAutofit fontScale="85000" lnSpcReduction="20000"/>
          </a:bodyPr>
          <a:lstStyle/>
          <a:p>
            <a:r>
              <a:rPr lang="en-US" dirty="0"/>
              <a:t>A typical monolithic application contains:</a:t>
            </a:r>
          </a:p>
          <a:p>
            <a:pPr marL="0" indent="0">
              <a:buNone/>
            </a:pPr>
            <a:r>
              <a:rPr lang="en-US" b="1" dirty="0"/>
              <a:t>1. Presentation Layer</a:t>
            </a:r>
          </a:p>
          <a:p>
            <a:pPr lvl="1"/>
            <a:r>
              <a:rPr lang="en-US" dirty="0"/>
              <a:t>User interface (UI) </a:t>
            </a:r>
          </a:p>
          <a:p>
            <a:pPr lvl="1"/>
            <a:r>
              <a:rPr lang="en-US" dirty="0"/>
              <a:t>Handles user interaction </a:t>
            </a:r>
          </a:p>
          <a:p>
            <a:pPr marL="0" indent="0">
              <a:buNone/>
            </a:pPr>
            <a:r>
              <a:rPr lang="en-US" b="1" dirty="0"/>
              <a:t>2. Business Logic Layer</a:t>
            </a:r>
          </a:p>
          <a:p>
            <a:pPr lvl="1"/>
            <a:r>
              <a:rPr lang="en-US" dirty="0"/>
              <a:t>Core functionality </a:t>
            </a:r>
          </a:p>
          <a:p>
            <a:pPr lvl="1"/>
            <a:r>
              <a:rPr lang="en-US" dirty="0"/>
              <a:t>Processes rules and decisions </a:t>
            </a:r>
          </a:p>
          <a:p>
            <a:pPr marL="0" indent="0">
              <a:buNone/>
            </a:pPr>
            <a:r>
              <a:rPr lang="en-US" b="1" dirty="0"/>
              <a:t> 3. Data Access Layer</a:t>
            </a:r>
          </a:p>
          <a:p>
            <a:pPr lvl="1"/>
            <a:r>
              <a:rPr lang="en-US" dirty="0"/>
              <a:t>Interacts with database </a:t>
            </a:r>
          </a:p>
          <a:p>
            <a:pPr lvl="1"/>
            <a:r>
              <a:rPr lang="en-US" dirty="0"/>
              <a:t>Handles queries and storage </a:t>
            </a:r>
          </a:p>
          <a:p>
            <a:r>
              <a:rPr lang="en-US" dirty="0"/>
              <a:t> All these are packaged and run as </a:t>
            </a:r>
            <a:r>
              <a:rPr lang="en-US" b="1" dirty="0"/>
              <a:t>one application</a:t>
            </a:r>
            <a:endParaRPr lang="en-US" dirty="0"/>
          </a:p>
        </p:txBody>
      </p:sp>
    </p:spTree>
    <p:extLst>
      <p:ext uri="{BB962C8B-B14F-4D97-AF65-F5344CB8AC3E}">
        <p14:creationId xmlns:p14="http://schemas.microsoft.com/office/powerpoint/2010/main" val="28433153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6134" y="457202"/>
            <a:ext cx="7387426" cy="970383"/>
          </a:xfrm>
        </p:spPr>
        <p:txBody>
          <a:bodyPr/>
          <a:lstStyle/>
          <a:p>
            <a:r>
              <a:rPr lang="en-US" b="1" dirty="0"/>
              <a:t>How It Works</a:t>
            </a:r>
          </a:p>
        </p:txBody>
      </p:sp>
      <p:sp>
        <p:nvSpPr>
          <p:cNvPr id="3" name="Content Placeholder 2"/>
          <p:cNvSpPr>
            <a:spLocks noGrp="1"/>
          </p:cNvSpPr>
          <p:nvPr>
            <p:ph idx="1"/>
          </p:nvPr>
        </p:nvSpPr>
        <p:spPr>
          <a:xfrm>
            <a:off x="2506135" y="1800808"/>
            <a:ext cx="7172821" cy="4831700"/>
          </a:xfrm>
        </p:spPr>
        <p:txBody>
          <a:bodyPr>
            <a:normAutofit/>
          </a:bodyPr>
          <a:lstStyle/>
          <a:p>
            <a:r>
              <a:rPr lang="en-US" dirty="0"/>
              <a:t>User sends request </a:t>
            </a:r>
          </a:p>
          <a:p>
            <a:r>
              <a:rPr lang="en-US" dirty="0"/>
              <a:t>Entire application processes it internally </a:t>
            </a:r>
          </a:p>
          <a:p>
            <a:r>
              <a:rPr lang="en-US" dirty="0"/>
              <a:t>Response is returned </a:t>
            </a:r>
          </a:p>
          <a:p>
            <a:r>
              <a:rPr lang="en-US" dirty="0"/>
              <a:t> No external service calls (unlike </a:t>
            </a:r>
            <a:r>
              <a:rPr lang="en-US" dirty="0" err="1"/>
              <a:t>microservices</a:t>
            </a:r>
            <a:r>
              <a:rPr lang="en-US" dirty="0"/>
              <a:t>)</a:t>
            </a:r>
          </a:p>
          <a:p>
            <a:r>
              <a:rPr lang="en-US" b="1" dirty="0"/>
              <a:t>Advantages</a:t>
            </a:r>
          </a:p>
          <a:p>
            <a:pPr marL="0" indent="0">
              <a:buNone/>
            </a:pPr>
            <a:r>
              <a:rPr lang="en-US" dirty="0"/>
              <a:t>Simple Development, Easy Deployment,</a:t>
            </a:r>
            <a:r>
              <a:rPr lang="en-US" b="1" dirty="0"/>
              <a:t> </a:t>
            </a:r>
            <a:r>
              <a:rPr lang="en-US" dirty="0"/>
              <a:t>Better Performance , Easier Testing </a:t>
            </a:r>
          </a:p>
          <a:p>
            <a:r>
              <a:rPr lang="en-US" b="1" dirty="0"/>
              <a:t>Disadvantages</a:t>
            </a:r>
          </a:p>
          <a:p>
            <a:pPr marL="0" indent="0">
              <a:buNone/>
            </a:pPr>
            <a:r>
              <a:rPr lang="en-US" dirty="0"/>
              <a:t>Poor Scalability,</a:t>
            </a:r>
            <a:r>
              <a:rPr lang="en-US" b="1" dirty="0"/>
              <a:t> </a:t>
            </a:r>
            <a:r>
              <a:rPr lang="en-US" dirty="0"/>
              <a:t>Slow Development (team issues)</a:t>
            </a:r>
          </a:p>
          <a:p>
            <a:endParaRPr lang="en-US" dirty="0"/>
          </a:p>
        </p:txBody>
      </p:sp>
    </p:spTree>
    <p:extLst>
      <p:ext uri="{BB962C8B-B14F-4D97-AF65-F5344CB8AC3E}">
        <p14:creationId xmlns:p14="http://schemas.microsoft.com/office/powerpoint/2010/main" val="23963703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6134" y="457202"/>
            <a:ext cx="7704667" cy="830423"/>
          </a:xfrm>
        </p:spPr>
        <p:txBody>
          <a:bodyPr/>
          <a:lstStyle/>
          <a:p>
            <a:r>
              <a:rPr lang="en-US" b="1" dirty="0"/>
              <a:t>Event-Driven Architecture</a:t>
            </a:r>
          </a:p>
        </p:txBody>
      </p:sp>
      <p:sp>
        <p:nvSpPr>
          <p:cNvPr id="3" name="Content Placeholder 2"/>
          <p:cNvSpPr>
            <a:spLocks noGrp="1"/>
          </p:cNvSpPr>
          <p:nvPr>
            <p:ph idx="1"/>
          </p:nvPr>
        </p:nvSpPr>
        <p:spPr>
          <a:xfrm>
            <a:off x="2506134" y="1595536"/>
            <a:ext cx="7704667" cy="4404281"/>
          </a:xfrm>
        </p:spPr>
        <p:txBody>
          <a:bodyPr>
            <a:normAutofit fontScale="85000" lnSpcReduction="20000"/>
          </a:bodyPr>
          <a:lstStyle/>
          <a:p>
            <a:pPr marL="0" indent="0">
              <a:buNone/>
            </a:pPr>
            <a:r>
              <a:rPr lang="en-US" b="1" dirty="0"/>
              <a:t>What is EDA?</a:t>
            </a:r>
          </a:p>
          <a:p>
            <a:r>
              <a:rPr lang="en-US" dirty="0"/>
              <a:t>A design pattern where components communicate via </a:t>
            </a:r>
            <a:r>
              <a:rPr lang="en-US" b="1" dirty="0"/>
              <a:t>events</a:t>
            </a:r>
            <a:r>
              <a:rPr lang="en-US" dirty="0"/>
              <a:t> </a:t>
            </a:r>
          </a:p>
          <a:p>
            <a:r>
              <a:rPr lang="en-US" dirty="0"/>
              <a:t>An </a:t>
            </a:r>
            <a:r>
              <a:rPr lang="en-US" b="1" dirty="0"/>
              <a:t>event</a:t>
            </a:r>
            <a:r>
              <a:rPr lang="en-US" dirty="0"/>
              <a:t> = change in system state (e.g., order placed, login) </a:t>
            </a:r>
          </a:p>
          <a:p>
            <a:pPr marL="0" indent="0">
              <a:buNone/>
            </a:pPr>
            <a:r>
              <a:rPr lang="en-US" b="1" dirty="0"/>
              <a:t>Core Idea</a:t>
            </a:r>
          </a:p>
          <a:p>
            <a:r>
              <a:rPr lang="en-US" dirty="0"/>
              <a:t>Producer → Generates events</a:t>
            </a:r>
            <a:r>
              <a:rPr lang="en-US" dirty="0">
                <a:sym typeface="Wingdings" panose="05000000000000000000" pitchFamily="2" charset="2"/>
              </a:rPr>
              <a:t> </a:t>
            </a:r>
            <a:r>
              <a:rPr lang="en-US" dirty="0"/>
              <a:t>Example: User clicks “Buy Now”</a:t>
            </a:r>
          </a:p>
          <a:p>
            <a:r>
              <a:rPr lang="en-US" dirty="0"/>
              <a:t>Broker → Transfers events between components</a:t>
            </a:r>
          </a:p>
          <a:p>
            <a:r>
              <a:rPr lang="en-US" dirty="0"/>
              <a:t>Consumer → Listens and reacts to events </a:t>
            </a:r>
            <a:r>
              <a:rPr lang="en-US" dirty="0">
                <a:sym typeface="Wingdings" panose="05000000000000000000" pitchFamily="2" charset="2"/>
              </a:rPr>
              <a:t></a:t>
            </a:r>
            <a:r>
              <a:rPr lang="en-US" dirty="0"/>
              <a:t>Example: Payment service processes payment</a:t>
            </a:r>
          </a:p>
          <a:p>
            <a:pPr marL="0" indent="0">
              <a:buNone/>
            </a:pPr>
            <a:r>
              <a:rPr lang="en-US" b="1" dirty="0"/>
              <a:t>Key Components</a:t>
            </a:r>
          </a:p>
          <a:p>
            <a:r>
              <a:rPr lang="en-US" dirty="0"/>
              <a:t>Event Producer (Publisher) </a:t>
            </a:r>
          </a:p>
          <a:p>
            <a:r>
              <a:rPr lang="en-US" dirty="0"/>
              <a:t>Event Consumer (Subscriber) </a:t>
            </a:r>
          </a:p>
          <a:p>
            <a:r>
              <a:rPr lang="en-US" dirty="0"/>
              <a:t>Event Broker (e.g., Apache Kafka, </a:t>
            </a:r>
            <a:r>
              <a:rPr lang="en-US" dirty="0" err="1"/>
              <a:t>RabbitMQ</a:t>
            </a:r>
            <a:r>
              <a:rPr lang="en-US" dirty="0"/>
              <a:t>)</a:t>
            </a:r>
          </a:p>
        </p:txBody>
      </p:sp>
    </p:spTree>
    <p:extLst>
      <p:ext uri="{BB962C8B-B14F-4D97-AF65-F5344CB8AC3E}">
        <p14:creationId xmlns:p14="http://schemas.microsoft.com/office/powerpoint/2010/main" val="42221462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6134" y="457201"/>
            <a:ext cx="7704667" cy="1024358"/>
          </a:xfrm>
        </p:spPr>
        <p:txBody>
          <a:bodyPr>
            <a:normAutofit fontScale="90000"/>
          </a:bodyPr>
          <a:lstStyle/>
          <a:p>
            <a:r>
              <a:rPr lang="en-US" b="1" dirty="0"/>
              <a:t>How It Works</a:t>
            </a:r>
            <a:br>
              <a:rPr lang="en-US" b="1" dirty="0"/>
            </a:br>
            <a:endParaRPr lang="en-US" dirty="0"/>
          </a:p>
        </p:txBody>
      </p:sp>
      <p:sp>
        <p:nvSpPr>
          <p:cNvPr id="3" name="Content Placeholder 2"/>
          <p:cNvSpPr>
            <a:spLocks noGrp="1"/>
          </p:cNvSpPr>
          <p:nvPr>
            <p:ph idx="1"/>
          </p:nvPr>
        </p:nvSpPr>
        <p:spPr>
          <a:xfrm>
            <a:off x="2101020" y="1481559"/>
            <a:ext cx="7704667" cy="3332816"/>
          </a:xfrm>
        </p:spPr>
        <p:txBody>
          <a:bodyPr/>
          <a:lstStyle/>
          <a:p>
            <a:r>
              <a:rPr lang="en-US" dirty="0"/>
              <a:t>User performs an action </a:t>
            </a:r>
          </a:p>
          <a:p>
            <a:r>
              <a:rPr lang="en-US" dirty="0"/>
              <a:t>Producer creates an event </a:t>
            </a:r>
          </a:p>
          <a:p>
            <a:r>
              <a:rPr lang="en-US" dirty="0"/>
              <a:t>Event is sent to broker </a:t>
            </a:r>
          </a:p>
          <a:p>
            <a:r>
              <a:rPr lang="en-US" dirty="0"/>
              <a:t>Broker distributes event </a:t>
            </a:r>
          </a:p>
          <a:p>
            <a:r>
              <a:rPr lang="en-US" dirty="0"/>
              <a:t>Consumers process it independently.</a:t>
            </a:r>
          </a:p>
          <a:p>
            <a:endParaRPr lang="en-US" dirty="0"/>
          </a:p>
        </p:txBody>
      </p:sp>
    </p:spTree>
    <p:extLst>
      <p:ext uri="{BB962C8B-B14F-4D97-AF65-F5344CB8AC3E}">
        <p14:creationId xmlns:p14="http://schemas.microsoft.com/office/powerpoint/2010/main" val="19634475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Real World Examples</a:t>
            </a:r>
          </a:p>
        </p:txBody>
      </p:sp>
      <p:sp>
        <p:nvSpPr>
          <p:cNvPr id="3" name="Content Placeholder 2"/>
          <p:cNvSpPr>
            <a:spLocks noGrp="1"/>
          </p:cNvSpPr>
          <p:nvPr>
            <p:ph idx="1"/>
          </p:nvPr>
        </p:nvSpPr>
        <p:spPr>
          <a:xfrm>
            <a:off x="2506133" y="2285035"/>
            <a:ext cx="7704667" cy="4191000"/>
          </a:xfrm>
        </p:spPr>
        <p:txBody>
          <a:bodyPr>
            <a:normAutofit lnSpcReduction="10000"/>
          </a:bodyPr>
          <a:lstStyle/>
          <a:p>
            <a:pPr marL="0" indent="0">
              <a:buNone/>
            </a:pPr>
            <a:r>
              <a:rPr lang="en-US" dirty="0"/>
              <a:t>Streaming </a:t>
            </a:r>
            <a:r>
              <a:rPr lang="en-US" dirty="0" err="1"/>
              <a:t>PlatformsExample</a:t>
            </a:r>
            <a:r>
              <a:rPr lang="en-US" dirty="0"/>
              <a:t>: </a:t>
            </a:r>
          </a:p>
          <a:p>
            <a:r>
              <a:rPr lang="en-US" dirty="0" err="1"/>
              <a:t>NetflixEvents</a:t>
            </a:r>
            <a:r>
              <a:rPr lang="en-US" dirty="0"/>
              <a:t>:</a:t>
            </a:r>
          </a:p>
          <a:p>
            <a:pPr lvl="1"/>
            <a:r>
              <a:rPr lang="en-US" dirty="0"/>
              <a:t>User watches videos</a:t>
            </a:r>
          </a:p>
          <a:p>
            <a:pPr lvl="1"/>
            <a:r>
              <a:rPr lang="en-US" dirty="0"/>
              <a:t>Recommendation engine updates</a:t>
            </a:r>
          </a:p>
          <a:p>
            <a:pPr marL="0" indent="0">
              <a:buNone/>
            </a:pPr>
            <a:r>
              <a:rPr lang="en-US" dirty="0"/>
              <a:t>🚗 Ride-Hailing </a:t>
            </a:r>
            <a:r>
              <a:rPr lang="en-US" dirty="0" err="1"/>
              <a:t>AppsExample</a:t>
            </a:r>
            <a:r>
              <a:rPr lang="en-US" dirty="0"/>
              <a:t>:</a:t>
            </a:r>
          </a:p>
          <a:p>
            <a:r>
              <a:rPr lang="en-US" dirty="0"/>
              <a:t> Uber Events:</a:t>
            </a:r>
          </a:p>
          <a:p>
            <a:pPr lvl="1"/>
            <a:r>
              <a:rPr lang="en-US" dirty="0"/>
              <a:t>Ride requested</a:t>
            </a:r>
          </a:p>
          <a:p>
            <a:pPr lvl="1"/>
            <a:r>
              <a:rPr lang="en-US" dirty="0"/>
              <a:t>Driver assigned</a:t>
            </a:r>
          </a:p>
          <a:p>
            <a:pPr lvl="1"/>
            <a:r>
              <a:rPr lang="en-US" dirty="0"/>
              <a:t>Ride completed</a:t>
            </a:r>
          </a:p>
        </p:txBody>
      </p:sp>
    </p:spTree>
    <p:extLst>
      <p:ext uri="{BB962C8B-B14F-4D97-AF65-F5344CB8AC3E}">
        <p14:creationId xmlns:p14="http://schemas.microsoft.com/office/powerpoint/2010/main" val="37226665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Distributed Architecture</a:t>
            </a:r>
          </a:p>
        </p:txBody>
      </p:sp>
      <p:sp>
        <p:nvSpPr>
          <p:cNvPr id="3" name="Content Placeholder 2"/>
          <p:cNvSpPr>
            <a:spLocks noGrp="1"/>
          </p:cNvSpPr>
          <p:nvPr>
            <p:ph idx="1"/>
          </p:nvPr>
        </p:nvSpPr>
        <p:spPr>
          <a:xfrm>
            <a:off x="1981201" y="1600201"/>
            <a:ext cx="8126361" cy="4446638"/>
          </a:xfrm>
        </p:spPr>
        <p:txBody>
          <a:bodyPr>
            <a:normAutofit fontScale="70000" lnSpcReduction="20000"/>
          </a:bodyPr>
          <a:lstStyle/>
          <a:p>
            <a:r>
              <a:rPr dirty="0"/>
              <a:t>Concept:</a:t>
            </a:r>
          </a:p>
          <a:p>
            <a:r>
              <a:rPr dirty="0"/>
              <a:t>A software design where </a:t>
            </a:r>
            <a:r>
              <a:rPr b="1" dirty="0"/>
              <a:t>system components </a:t>
            </a:r>
            <a:r>
              <a:rPr dirty="0"/>
              <a:t>are located on </a:t>
            </a:r>
            <a:r>
              <a:rPr b="1" dirty="0"/>
              <a:t>different networked computers </a:t>
            </a:r>
            <a:r>
              <a:rPr dirty="0"/>
              <a:t>that communicate through message passing.</a:t>
            </a:r>
          </a:p>
          <a:p>
            <a:endParaRPr dirty="0"/>
          </a:p>
          <a:p>
            <a:r>
              <a:rPr dirty="0"/>
              <a:t>Key Idea:</a:t>
            </a:r>
          </a:p>
          <a:p>
            <a:r>
              <a:rPr dirty="0"/>
              <a:t>Workload is distributed across multiple nodes, but they function as one logical system.</a:t>
            </a:r>
          </a:p>
          <a:p>
            <a:endParaRPr dirty="0"/>
          </a:p>
          <a:p>
            <a:r>
              <a:rPr dirty="0"/>
              <a:t>Characteristics:</a:t>
            </a:r>
          </a:p>
          <a:p>
            <a:r>
              <a:rPr dirty="0"/>
              <a:t>- Multiple independent nodes</a:t>
            </a:r>
          </a:p>
          <a:p>
            <a:r>
              <a:rPr dirty="0"/>
              <a:t>- Communication via network</a:t>
            </a:r>
          </a:p>
          <a:p>
            <a:r>
              <a:rPr dirty="0"/>
              <a:t>- Resource sharing</a:t>
            </a:r>
          </a:p>
          <a:p>
            <a:r>
              <a:rPr dirty="0"/>
              <a:t>- Scalable and fault-tolerant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Advantages and Disadvantages</a:t>
            </a:r>
          </a:p>
        </p:txBody>
      </p:sp>
      <p:sp>
        <p:nvSpPr>
          <p:cNvPr id="3" name="Content Placeholder 2"/>
          <p:cNvSpPr>
            <a:spLocks noGrp="1"/>
          </p:cNvSpPr>
          <p:nvPr>
            <p:ph idx="1"/>
          </p:nvPr>
        </p:nvSpPr>
        <p:spPr>
          <a:xfrm>
            <a:off x="1981200" y="1600201"/>
            <a:ext cx="8146026" cy="4151671"/>
          </a:xfrm>
        </p:spPr>
        <p:txBody>
          <a:bodyPr>
            <a:normAutofit fontScale="85000" lnSpcReduction="20000"/>
          </a:bodyPr>
          <a:lstStyle/>
          <a:p>
            <a:r>
              <a:rPr dirty="0"/>
              <a:t>Advantages:</a:t>
            </a:r>
          </a:p>
          <a:p>
            <a:r>
              <a:rPr dirty="0"/>
              <a:t>- Improved performance </a:t>
            </a:r>
            <a:endParaRPr lang="en-US" dirty="0"/>
          </a:p>
          <a:p>
            <a:r>
              <a:rPr dirty="0"/>
              <a:t>- Scalable </a:t>
            </a:r>
            <a:endParaRPr lang="en-US" dirty="0"/>
          </a:p>
          <a:p>
            <a:r>
              <a:rPr dirty="0"/>
              <a:t>- Fault tolerant </a:t>
            </a:r>
            <a:endParaRPr lang="en-US" dirty="0"/>
          </a:p>
          <a:p>
            <a:r>
              <a:rPr dirty="0"/>
              <a:t>- Enables resource sharing</a:t>
            </a:r>
          </a:p>
          <a:p>
            <a:endParaRPr dirty="0"/>
          </a:p>
          <a:p>
            <a:r>
              <a:rPr dirty="0"/>
              <a:t>Disadvantages:</a:t>
            </a:r>
          </a:p>
          <a:p>
            <a:r>
              <a:rPr dirty="0"/>
              <a:t>- Complex communication &amp; synchronization</a:t>
            </a:r>
          </a:p>
          <a:p>
            <a:r>
              <a:rPr dirty="0"/>
              <a:t>- Security challenges</a:t>
            </a:r>
          </a:p>
          <a:p>
            <a:r>
              <a:rPr dirty="0"/>
              <a:t>- Difficult debugging</a:t>
            </a:r>
          </a:p>
          <a:p>
            <a:r>
              <a:rPr dirty="0"/>
              <a:t>- Network dependency</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Types of Distributed Systems</a:t>
            </a:r>
          </a:p>
        </p:txBody>
      </p:sp>
      <p:sp>
        <p:nvSpPr>
          <p:cNvPr id="3" name="Content Placeholder 2"/>
          <p:cNvSpPr>
            <a:spLocks noGrp="1"/>
          </p:cNvSpPr>
          <p:nvPr>
            <p:ph idx="1"/>
          </p:nvPr>
        </p:nvSpPr>
        <p:spPr>
          <a:xfrm>
            <a:off x="2506134" y="2209800"/>
            <a:ext cx="7704667" cy="3332816"/>
          </a:xfrm>
        </p:spPr>
        <p:txBody>
          <a:bodyPr/>
          <a:lstStyle/>
          <a:p>
            <a:pPr marL="0" indent="0">
              <a:buNone/>
            </a:pPr>
            <a:r>
              <a:rPr dirty="0"/>
              <a:t>1. Client–Server Systems – e.g., web apps</a:t>
            </a:r>
          </a:p>
          <a:p>
            <a:pPr marL="0" indent="0">
              <a:buNone/>
            </a:pPr>
            <a:r>
              <a:rPr dirty="0"/>
              <a:t>2. Peer-to-Peer (P2P) – e.g., file sharing networks</a:t>
            </a:r>
          </a:p>
          <a:p>
            <a:pPr marL="0" indent="0">
              <a:buNone/>
            </a:pPr>
            <a:r>
              <a:rPr dirty="0"/>
              <a:t>3. Three-Tier Systems – e.g., web apps with separate logic and database servers</a:t>
            </a:r>
          </a:p>
          <a:p>
            <a:pPr marL="0" indent="0">
              <a:buNone/>
            </a:pPr>
            <a:r>
              <a:rPr dirty="0"/>
              <a:t>4. Cloud-Based Systems – e.g., services spread across data centers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Examples</a:t>
            </a:r>
          </a:p>
        </p:txBody>
      </p:sp>
      <p:sp>
        <p:nvSpPr>
          <p:cNvPr id="3" name="Content Placeholder 2"/>
          <p:cNvSpPr>
            <a:spLocks noGrp="1"/>
          </p:cNvSpPr>
          <p:nvPr>
            <p:ph idx="1"/>
          </p:nvPr>
        </p:nvSpPr>
        <p:spPr/>
        <p:txBody>
          <a:bodyPr>
            <a:normAutofit/>
          </a:bodyPr>
          <a:lstStyle/>
          <a:p>
            <a:pPr marL="0" indent="0">
              <a:buNone/>
            </a:pPr>
            <a:r>
              <a:rPr dirty="0"/>
              <a:t>1. Google Search – distributed across thousands of servers for speed and reliability.</a:t>
            </a:r>
          </a:p>
          <a:p>
            <a:pPr marL="0" indent="0">
              <a:buNone/>
            </a:pPr>
            <a:r>
              <a:rPr dirty="0"/>
              <a:t>2. Online Banking – separate servers for login, transactions, and database.</a:t>
            </a:r>
          </a:p>
          <a:p>
            <a:pPr marL="0" indent="0">
              <a:buNone/>
            </a:pPr>
            <a:r>
              <a:rPr dirty="0"/>
              <a:t>3. Multiplayer Games – distributed game servers synchronize player actions.</a:t>
            </a:r>
          </a:p>
          <a:p>
            <a:pPr marL="0" indent="0">
              <a:buNone/>
            </a:pPr>
            <a:r>
              <a:rPr dirty="0"/>
              <a:t>4. </a:t>
            </a:r>
            <a:r>
              <a:rPr dirty="0" err="1"/>
              <a:t>Blockchain</a:t>
            </a:r>
            <a:r>
              <a:rPr dirty="0"/>
              <a:t> Network – peer-to-peer system with no central control.</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Distributed System Diagram</a:t>
            </a:r>
          </a:p>
        </p:txBody>
      </p:sp>
      <p:grpSp>
        <p:nvGrpSpPr>
          <p:cNvPr id="23" name="Group 22">
            <a:extLst>
              <a:ext uri="{FF2B5EF4-FFF2-40B4-BE49-F238E27FC236}">
                <a16:creationId xmlns:a16="http://schemas.microsoft.com/office/drawing/2014/main" id="{ABA9BC41-8871-34DB-DF92-48E5A1C32584}"/>
              </a:ext>
            </a:extLst>
          </p:cNvPr>
          <p:cNvGrpSpPr/>
          <p:nvPr/>
        </p:nvGrpSpPr>
        <p:grpSpPr>
          <a:xfrm>
            <a:off x="3185651" y="2207718"/>
            <a:ext cx="5063614" cy="3947647"/>
            <a:chOff x="4419599" y="1457635"/>
            <a:chExt cx="5309420" cy="4608868"/>
          </a:xfrm>
        </p:grpSpPr>
        <p:sp>
          <p:nvSpPr>
            <p:cNvPr id="6" name="Rectangle 5">
              <a:extLst>
                <a:ext uri="{FF2B5EF4-FFF2-40B4-BE49-F238E27FC236}">
                  <a16:creationId xmlns:a16="http://schemas.microsoft.com/office/drawing/2014/main" id="{752F88DF-6148-AACE-EFC1-E52E00FE31AA}"/>
                </a:ext>
              </a:extLst>
            </p:cNvPr>
            <p:cNvSpPr/>
            <p:nvPr/>
          </p:nvSpPr>
          <p:spPr>
            <a:xfrm>
              <a:off x="5068527" y="1457635"/>
              <a:ext cx="1602658"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Client A</a:t>
              </a:r>
              <a:endParaRPr lang="en-PK" dirty="0"/>
            </a:p>
          </p:txBody>
        </p:sp>
        <p:sp>
          <p:nvSpPr>
            <p:cNvPr id="7" name="Rectangle 6">
              <a:extLst>
                <a:ext uri="{FF2B5EF4-FFF2-40B4-BE49-F238E27FC236}">
                  <a16:creationId xmlns:a16="http://schemas.microsoft.com/office/drawing/2014/main" id="{D2676DD3-EB28-7243-5D37-D65014B2654A}"/>
                </a:ext>
              </a:extLst>
            </p:cNvPr>
            <p:cNvSpPr/>
            <p:nvPr/>
          </p:nvSpPr>
          <p:spPr>
            <a:xfrm>
              <a:off x="7325032" y="1457635"/>
              <a:ext cx="1602658"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Client B</a:t>
              </a:r>
              <a:endParaRPr lang="en-PK" dirty="0"/>
            </a:p>
          </p:txBody>
        </p:sp>
        <p:sp>
          <p:nvSpPr>
            <p:cNvPr id="8" name="Rectangle 7">
              <a:extLst>
                <a:ext uri="{FF2B5EF4-FFF2-40B4-BE49-F238E27FC236}">
                  <a16:creationId xmlns:a16="http://schemas.microsoft.com/office/drawing/2014/main" id="{A0834C5A-B960-78B5-13EF-C50E7D7FC584}"/>
                </a:ext>
              </a:extLst>
            </p:cNvPr>
            <p:cNvSpPr/>
            <p:nvPr/>
          </p:nvSpPr>
          <p:spPr>
            <a:xfrm>
              <a:off x="6302477" y="3298724"/>
              <a:ext cx="1602658"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Distributed Network</a:t>
              </a:r>
              <a:endParaRPr lang="en-PK" dirty="0"/>
            </a:p>
          </p:txBody>
        </p:sp>
        <p:sp>
          <p:nvSpPr>
            <p:cNvPr id="9" name="Rectangle 8">
              <a:extLst>
                <a:ext uri="{FF2B5EF4-FFF2-40B4-BE49-F238E27FC236}">
                  <a16:creationId xmlns:a16="http://schemas.microsoft.com/office/drawing/2014/main" id="{3613635E-F710-D56B-3214-F4D557138706}"/>
                </a:ext>
              </a:extLst>
            </p:cNvPr>
            <p:cNvSpPr/>
            <p:nvPr/>
          </p:nvSpPr>
          <p:spPr>
            <a:xfrm>
              <a:off x="8126361" y="5152103"/>
              <a:ext cx="1602658"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Server 3</a:t>
              </a:r>
              <a:endParaRPr lang="en-PK" dirty="0"/>
            </a:p>
          </p:txBody>
        </p:sp>
        <p:sp>
          <p:nvSpPr>
            <p:cNvPr id="10" name="Rectangle 9">
              <a:extLst>
                <a:ext uri="{FF2B5EF4-FFF2-40B4-BE49-F238E27FC236}">
                  <a16:creationId xmlns:a16="http://schemas.microsoft.com/office/drawing/2014/main" id="{10CE9346-DEE2-D850-7136-546A3C090102}"/>
                </a:ext>
              </a:extLst>
            </p:cNvPr>
            <p:cNvSpPr/>
            <p:nvPr/>
          </p:nvSpPr>
          <p:spPr>
            <a:xfrm>
              <a:off x="6302477" y="5152103"/>
              <a:ext cx="1602658"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Server 2</a:t>
              </a:r>
              <a:endParaRPr lang="en-PK" dirty="0"/>
            </a:p>
          </p:txBody>
        </p:sp>
        <p:sp>
          <p:nvSpPr>
            <p:cNvPr id="11" name="Rectangle 10">
              <a:extLst>
                <a:ext uri="{FF2B5EF4-FFF2-40B4-BE49-F238E27FC236}">
                  <a16:creationId xmlns:a16="http://schemas.microsoft.com/office/drawing/2014/main" id="{CEE96092-04CD-18BE-E16C-453C565B2B4E}"/>
                </a:ext>
              </a:extLst>
            </p:cNvPr>
            <p:cNvSpPr/>
            <p:nvPr/>
          </p:nvSpPr>
          <p:spPr>
            <a:xfrm>
              <a:off x="4419599" y="5152103"/>
              <a:ext cx="1602658"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Server 1</a:t>
              </a:r>
              <a:endParaRPr lang="en-PK" dirty="0"/>
            </a:p>
          </p:txBody>
        </p:sp>
        <p:cxnSp>
          <p:nvCxnSpPr>
            <p:cNvPr id="13" name="Straight Arrow Connector 12">
              <a:extLst>
                <a:ext uri="{FF2B5EF4-FFF2-40B4-BE49-F238E27FC236}">
                  <a16:creationId xmlns:a16="http://schemas.microsoft.com/office/drawing/2014/main" id="{B07DE9FC-645D-7360-44F1-540762ED55D8}"/>
                </a:ext>
              </a:extLst>
            </p:cNvPr>
            <p:cNvCxnSpPr/>
            <p:nvPr/>
          </p:nvCxnSpPr>
          <p:spPr>
            <a:xfrm>
              <a:off x="6558116" y="2372035"/>
              <a:ext cx="412955" cy="9266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98467CE5-4CDA-8EB5-C1F6-225F9FEF37BE}"/>
                </a:ext>
              </a:extLst>
            </p:cNvPr>
            <p:cNvCxnSpPr/>
            <p:nvPr/>
          </p:nvCxnSpPr>
          <p:spPr>
            <a:xfrm flipH="1">
              <a:off x="7325032" y="2372035"/>
              <a:ext cx="580103" cy="9266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A4CE8A6D-E9D8-BA05-48C4-8243529194F6}"/>
                </a:ext>
              </a:extLst>
            </p:cNvPr>
            <p:cNvCxnSpPr/>
            <p:nvPr/>
          </p:nvCxnSpPr>
          <p:spPr>
            <a:xfrm flipH="1">
              <a:off x="5614219" y="4213124"/>
              <a:ext cx="943897" cy="9389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CC637E70-72C1-78B3-AB05-BC85EFEADF96}"/>
                </a:ext>
              </a:extLst>
            </p:cNvPr>
            <p:cNvCxnSpPr>
              <a:cxnSpLocks/>
            </p:cNvCxnSpPr>
            <p:nvPr/>
          </p:nvCxnSpPr>
          <p:spPr>
            <a:xfrm>
              <a:off x="6971071" y="4213124"/>
              <a:ext cx="0" cy="9389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3E26D091-F392-3136-991A-C1D1D6CD4CB0}"/>
                </a:ext>
              </a:extLst>
            </p:cNvPr>
            <p:cNvCxnSpPr>
              <a:cxnSpLocks/>
            </p:cNvCxnSpPr>
            <p:nvPr/>
          </p:nvCxnSpPr>
          <p:spPr>
            <a:xfrm>
              <a:off x="7615083" y="4253121"/>
              <a:ext cx="607143" cy="9112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Comparison Table</a:t>
            </a:r>
          </a:p>
        </p:txBody>
      </p:sp>
      <p:sp>
        <p:nvSpPr>
          <p:cNvPr id="3" name="Content Placeholder 2"/>
          <p:cNvSpPr>
            <a:spLocks noGrp="1"/>
          </p:cNvSpPr>
          <p:nvPr>
            <p:ph idx="1"/>
          </p:nvPr>
        </p:nvSpPr>
        <p:spPr/>
        <p:txBody>
          <a:bodyPr>
            <a:normAutofit/>
          </a:bodyPr>
          <a:lstStyle/>
          <a:p>
            <a:r>
              <a:rPr dirty="0"/>
              <a:t>Repository – Shared data store – </a:t>
            </a:r>
            <a:r>
              <a:rPr dirty="0" err="1"/>
              <a:t>Git</a:t>
            </a:r>
            <a:r>
              <a:rPr dirty="0"/>
              <a:t>, Compiler – Data-centered systems</a:t>
            </a:r>
          </a:p>
          <a:p>
            <a:r>
              <a:rPr dirty="0"/>
              <a:t>Client–Server – Request-response – Web app – Networked apps</a:t>
            </a:r>
          </a:p>
          <a:p>
            <a:r>
              <a:rPr dirty="0"/>
              <a:t>Layered – Hierarchical layers – E-commerce – Enterprise software</a:t>
            </a:r>
          </a:p>
          <a:p>
            <a:r>
              <a:rPr dirty="0"/>
              <a:t>Pipe &amp; Filter – Sequential processing – Unix pipeline – Data processing</a:t>
            </a:r>
          </a:p>
          <a:p>
            <a:r>
              <a:rPr dirty="0" err="1"/>
              <a:t>Microservices</a:t>
            </a:r>
            <a:r>
              <a:rPr dirty="0"/>
              <a:t> – Independent services – Netflix – Scalable systems</a:t>
            </a:r>
          </a:p>
          <a:p>
            <a:r>
              <a:rPr dirty="0"/>
              <a:t>Distributed – Networked components – Google – Large-scale systems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rPr>
              <a:t>Software Architecture</a:t>
            </a:r>
            <a:endParaRPr lang="en-US" dirty="0">
              <a:solidFill>
                <a:srgbClr val="002060"/>
              </a:solidFill>
            </a:endParaRPr>
          </a:p>
        </p:txBody>
      </p:sp>
      <p:sp>
        <p:nvSpPr>
          <p:cNvPr id="3" name="Content Placeholder 2"/>
          <p:cNvSpPr>
            <a:spLocks noGrp="1"/>
          </p:cNvSpPr>
          <p:nvPr>
            <p:ph idx="1"/>
          </p:nvPr>
        </p:nvSpPr>
        <p:spPr>
          <a:xfrm>
            <a:off x="2403497" y="2228461"/>
            <a:ext cx="7704667" cy="3332816"/>
          </a:xfrm>
        </p:spPr>
        <p:txBody>
          <a:bodyPr>
            <a:normAutofit lnSpcReduction="10000"/>
          </a:bodyPr>
          <a:lstStyle/>
          <a:p>
            <a:r>
              <a:rPr lang="en-US" sz="3600" dirty="0"/>
              <a:t>	Architecture focuses on how the </a:t>
            </a:r>
            <a:r>
              <a:rPr lang="en-US" sz="3600" b="1" dirty="0"/>
              <a:t>major </a:t>
            </a:r>
            <a:r>
              <a:rPr lang="en-US" sz="3600" dirty="0"/>
              <a:t>elements and </a:t>
            </a:r>
            <a:r>
              <a:rPr lang="en-US" sz="3600" b="1" dirty="0"/>
              <a:t>components</a:t>
            </a:r>
            <a:r>
              <a:rPr lang="en-US" sz="3600" dirty="0"/>
              <a:t> within an application are used by, or </a:t>
            </a:r>
            <a:r>
              <a:rPr lang="en-US" sz="3600" b="1" dirty="0"/>
              <a:t>interact</a:t>
            </a:r>
            <a:r>
              <a:rPr lang="en-US" sz="3600" dirty="0"/>
              <a:t> with, other major elements and components within the application</a:t>
            </a:r>
            <a:endParaRPr lang="en-US" sz="3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57200"/>
            <a:ext cx="8229600" cy="960438"/>
          </a:xfrm>
        </p:spPr>
        <p:txBody>
          <a:bodyPr>
            <a:normAutofit fontScale="90000"/>
          </a:bodyPr>
          <a:lstStyle/>
          <a:p>
            <a:r>
              <a:rPr lang="en-US" b="1" dirty="0">
                <a:solidFill>
                  <a:srgbClr val="002060"/>
                </a:solidFill>
              </a:rPr>
              <a:t>Why is Architecture Important?</a:t>
            </a:r>
            <a:br>
              <a:rPr lang="en-US" dirty="0"/>
            </a:br>
            <a:endParaRPr lang="en-US" dirty="0"/>
          </a:p>
        </p:txBody>
      </p:sp>
      <p:sp>
        <p:nvSpPr>
          <p:cNvPr id="3" name="Content Placeholder 2"/>
          <p:cNvSpPr>
            <a:spLocks noGrp="1"/>
          </p:cNvSpPr>
          <p:nvPr>
            <p:ph idx="1"/>
          </p:nvPr>
        </p:nvSpPr>
        <p:spPr>
          <a:xfrm>
            <a:off x="1905000" y="1219200"/>
            <a:ext cx="8305800" cy="1501422"/>
          </a:xfrm>
        </p:spPr>
        <p:txBody>
          <a:bodyPr>
            <a:normAutofit/>
          </a:bodyPr>
          <a:lstStyle/>
          <a:p>
            <a:pPr>
              <a:buNone/>
            </a:pPr>
            <a:r>
              <a:rPr lang="en-US" dirty="0"/>
              <a:t>Systems should be designed with consideration for the user, the system, and the business goal 	</a:t>
            </a:r>
          </a:p>
          <a:p>
            <a:pPr>
              <a:buNone/>
            </a:pPr>
            <a:endParaRPr lang="en-US" dirty="0"/>
          </a:p>
        </p:txBody>
      </p:sp>
      <p:graphicFrame>
        <p:nvGraphicFramePr>
          <p:cNvPr id="5" name="Diagram 4"/>
          <p:cNvGraphicFramePr/>
          <p:nvPr/>
        </p:nvGraphicFramePr>
        <p:xfrm>
          <a:off x="1828800" y="2286000"/>
          <a:ext cx="8458200" cy="4216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57200"/>
            <a:ext cx="8229600" cy="960438"/>
          </a:xfrm>
        </p:spPr>
        <p:txBody>
          <a:bodyPr>
            <a:normAutofit fontScale="90000"/>
          </a:bodyPr>
          <a:lstStyle/>
          <a:p>
            <a:r>
              <a:rPr lang="en-US" b="1" dirty="0">
                <a:solidFill>
                  <a:srgbClr val="002060"/>
                </a:solidFill>
              </a:rPr>
              <a:t>Why is Architecture Important?</a:t>
            </a:r>
            <a:br>
              <a:rPr lang="en-US" dirty="0">
                <a:solidFill>
                  <a:srgbClr val="002060"/>
                </a:solidFill>
              </a:rPr>
            </a:br>
            <a:endParaRPr lang="en-US" dirty="0">
              <a:solidFill>
                <a:srgbClr val="002060"/>
              </a:solidFill>
            </a:endParaRPr>
          </a:p>
        </p:txBody>
      </p:sp>
      <p:sp>
        <p:nvSpPr>
          <p:cNvPr id="3" name="Content Placeholder 2"/>
          <p:cNvSpPr>
            <a:spLocks noGrp="1"/>
          </p:cNvSpPr>
          <p:nvPr>
            <p:ph idx="1"/>
          </p:nvPr>
        </p:nvSpPr>
        <p:spPr>
          <a:xfrm>
            <a:off x="1905000" y="1066800"/>
            <a:ext cx="8305800" cy="5486400"/>
          </a:xfrm>
        </p:spPr>
        <p:txBody>
          <a:bodyPr>
            <a:normAutofit fontScale="55000" lnSpcReduction="20000"/>
          </a:bodyPr>
          <a:lstStyle/>
          <a:p>
            <a:pPr>
              <a:buNone/>
            </a:pPr>
            <a:r>
              <a:rPr lang="en-US" dirty="0"/>
              <a:t>	</a:t>
            </a:r>
          </a:p>
          <a:p>
            <a:pPr>
              <a:buNone/>
            </a:pPr>
            <a:r>
              <a:rPr lang="en-US" sz="3800" dirty="0"/>
              <a:t> 	</a:t>
            </a:r>
            <a:r>
              <a:rPr lang="en-US" sz="5100" dirty="0"/>
              <a:t>Consider the following high-level concerns when thinking about software architecture:</a:t>
            </a:r>
          </a:p>
          <a:p>
            <a:pPr>
              <a:buNone/>
            </a:pPr>
            <a:r>
              <a:rPr lang="en-US" sz="5100" dirty="0"/>
              <a:t> </a:t>
            </a:r>
          </a:p>
          <a:p>
            <a:r>
              <a:rPr lang="en-US" sz="5100" dirty="0"/>
              <a:t>How will the users be using the application? </a:t>
            </a:r>
          </a:p>
          <a:p>
            <a:endParaRPr lang="en-US" sz="5100" dirty="0"/>
          </a:p>
          <a:p>
            <a:r>
              <a:rPr lang="en-US" sz="5100" dirty="0"/>
              <a:t>What are the quality attribute requirements for the application, such as security, performance, </a:t>
            </a:r>
            <a:r>
              <a:rPr lang="en-US" sz="5100" dirty="0" err="1"/>
              <a:t>etc</a:t>
            </a:r>
            <a:r>
              <a:rPr lang="en-US" sz="5100" dirty="0"/>
              <a:t>?</a:t>
            </a:r>
          </a:p>
          <a:p>
            <a:pPr>
              <a:buNone/>
            </a:pPr>
            <a:endParaRPr lang="en-US" sz="5100" dirty="0"/>
          </a:p>
          <a:p>
            <a:r>
              <a:rPr lang="en-US" sz="5100" dirty="0"/>
              <a:t>How can the application be designed to be flexible and maintainable over time? </a:t>
            </a:r>
          </a:p>
          <a:p>
            <a:pPr>
              <a:buNone/>
            </a:pPr>
            <a:r>
              <a:rPr lang="en-US" sz="5100" dirty="0"/>
              <a:t> </a:t>
            </a:r>
          </a:p>
          <a:p>
            <a:pPr>
              <a:buNone/>
            </a:pP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rPr>
              <a:t>The Goals of Architecture</a:t>
            </a:r>
            <a:endParaRPr lang="en-US" dirty="0">
              <a:solidFill>
                <a:srgbClr val="002060"/>
              </a:solidFill>
            </a:endParaRPr>
          </a:p>
        </p:txBody>
      </p:sp>
      <p:sp>
        <p:nvSpPr>
          <p:cNvPr id="3" name="Content Placeholder 2"/>
          <p:cNvSpPr>
            <a:spLocks noGrp="1"/>
          </p:cNvSpPr>
          <p:nvPr>
            <p:ph idx="1"/>
          </p:nvPr>
        </p:nvSpPr>
        <p:spPr>
          <a:xfrm>
            <a:off x="1981200" y="1295400"/>
            <a:ext cx="8229600" cy="5257800"/>
          </a:xfrm>
        </p:spPr>
        <p:txBody>
          <a:bodyPr>
            <a:noAutofit/>
          </a:bodyPr>
          <a:lstStyle/>
          <a:p>
            <a:r>
              <a:rPr lang="en-US" dirty="0"/>
              <a:t>Application architecture seeks to build a bridge between </a:t>
            </a:r>
            <a:r>
              <a:rPr lang="en-US" b="1" dirty="0"/>
              <a:t>business requirements </a:t>
            </a:r>
            <a:r>
              <a:rPr lang="en-US" dirty="0"/>
              <a:t>and </a:t>
            </a:r>
            <a:r>
              <a:rPr lang="en-US" b="1" dirty="0"/>
              <a:t>technical requirements</a:t>
            </a:r>
          </a:p>
          <a:p>
            <a:r>
              <a:rPr lang="en-US" dirty="0"/>
              <a:t>The goal of architecture is to identify the requirements that </a:t>
            </a:r>
            <a:r>
              <a:rPr lang="en-US" b="1" dirty="0"/>
              <a:t>affec</a:t>
            </a:r>
            <a:r>
              <a:rPr lang="en-US" dirty="0"/>
              <a:t>t the structure of the application</a:t>
            </a:r>
          </a:p>
          <a:p>
            <a:r>
              <a:rPr lang="en-US" dirty="0"/>
              <a:t>A good design is sufficiently flexible to be able to handle the </a:t>
            </a:r>
            <a:r>
              <a:rPr lang="en-US" b="1" dirty="0"/>
              <a:t>natural change </a:t>
            </a:r>
            <a:r>
              <a:rPr lang="en-US" dirty="0"/>
              <a:t>that will occur over time in hardware and software technology, as well as in </a:t>
            </a:r>
            <a:r>
              <a:rPr lang="en-US" b="1" dirty="0"/>
              <a:t>user requirements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rPr>
              <a:t>The Goals of Architecture</a:t>
            </a:r>
            <a:endParaRPr lang="en-US" dirty="0"/>
          </a:p>
        </p:txBody>
      </p:sp>
      <p:sp>
        <p:nvSpPr>
          <p:cNvPr id="3" name="Content Placeholder 2"/>
          <p:cNvSpPr>
            <a:spLocks noGrp="1"/>
          </p:cNvSpPr>
          <p:nvPr>
            <p:ph idx="1"/>
          </p:nvPr>
        </p:nvSpPr>
        <p:spPr>
          <a:xfrm>
            <a:off x="1981200" y="1295400"/>
            <a:ext cx="8229600" cy="5257800"/>
          </a:xfrm>
        </p:spPr>
        <p:txBody>
          <a:bodyPr>
            <a:noAutofit/>
          </a:bodyPr>
          <a:lstStyle/>
          <a:p>
            <a:pPr>
              <a:buNone/>
            </a:pPr>
            <a:r>
              <a:rPr lang="en-US" dirty="0"/>
              <a:t>	 Keep in mind that the architecture should:</a:t>
            </a:r>
          </a:p>
          <a:p>
            <a:pPr>
              <a:buNone/>
            </a:pPr>
            <a:endParaRPr lang="en-US" dirty="0"/>
          </a:p>
          <a:p>
            <a:pPr lvl="0"/>
            <a:r>
              <a:rPr lang="en-US" dirty="0"/>
              <a:t>Expose the structure of the system but </a:t>
            </a:r>
            <a:r>
              <a:rPr lang="en-US" b="1" dirty="0"/>
              <a:t>hide the implementation</a:t>
            </a:r>
            <a:r>
              <a:rPr lang="en-US" dirty="0"/>
              <a:t> details </a:t>
            </a:r>
          </a:p>
          <a:p>
            <a:pPr lvl="0"/>
            <a:r>
              <a:rPr lang="en-US" dirty="0"/>
              <a:t>Realize all of the use cases and scenarios</a:t>
            </a:r>
          </a:p>
          <a:p>
            <a:pPr lvl="0"/>
            <a:r>
              <a:rPr lang="en-US" dirty="0"/>
              <a:t>Try to address the requirements of various stakeholders </a:t>
            </a:r>
          </a:p>
          <a:p>
            <a:pPr lvl="0"/>
            <a:r>
              <a:rPr lang="en-US" dirty="0"/>
              <a:t>Handle both functional and quality requirements</a:t>
            </a:r>
          </a:p>
          <a:p>
            <a:pPr>
              <a:buNone/>
            </a:pP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2060"/>
                </a:solidFill>
              </a:rPr>
              <a:t>The Principles of Architecture Design</a:t>
            </a:r>
            <a:endParaRPr lang="en-US" dirty="0"/>
          </a:p>
        </p:txBody>
      </p:sp>
      <p:sp>
        <p:nvSpPr>
          <p:cNvPr id="3" name="Content Placeholder 2"/>
          <p:cNvSpPr>
            <a:spLocks noGrp="1"/>
          </p:cNvSpPr>
          <p:nvPr>
            <p:ph idx="1"/>
          </p:nvPr>
        </p:nvSpPr>
        <p:spPr>
          <a:xfrm>
            <a:off x="1981200" y="1295400"/>
            <a:ext cx="8229600" cy="5181600"/>
          </a:xfrm>
        </p:spPr>
        <p:txBody>
          <a:bodyPr>
            <a:normAutofit/>
          </a:bodyPr>
          <a:lstStyle/>
          <a:p>
            <a:r>
              <a:rPr lang="en-US" dirty="0"/>
              <a:t>Current thinking on architecture assumes that your design will </a:t>
            </a:r>
            <a:r>
              <a:rPr lang="en-US" b="1" dirty="0"/>
              <a:t>evolve over time </a:t>
            </a:r>
            <a:r>
              <a:rPr lang="en-US" dirty="0"/>
              <a:t>and that you cannot know everything you need to know up front in order to fully architect your system</a:t>
            </a:r>
          </a:p>
          <a:p>
            <a:r>
              <a:rPr lang="en-US" dirty="0"/>
              <a:t>Your design will generally need to evolve during the implementation stages of the application</a:t>
            </a:r>
          </a:p>
          <a:p>
            <a:r>
              <a:rPr lang="en-US" dirty="0"/>
              <a:t>Create your architecture with this </a:t>
            </a:r>
            <a:r>
              <a:rPr lang="en-US" b="1" dirty="0"/>
              <a:t>evolution</a:t>
            </a:r>
            <a:r>
              <a:rPr lang="en-US" dirty="0"/>
              <a:t> in mind so that it will be able to adapt to requirements that are not fully known at the start of the design process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2060"/>
                </a:solidFill>
              </a:rPr>
              <a:t>The Principles of Architecture Design</a:t>
            </a:r>
            <a:endParaRPr lang="en-US" dirty="0">
              <a:solidFill>
                <a:srgbClr val="002060"/>
              </a:solidFill>
            </a:endParaRPr>
          </a:p>
        </p:txBody>
      </p:sp>
      <p:sp>
        <p:nvSpPr>
          <p:cNvPr id="3" name="Content Placeholder 2"/>
          <p:cNvSpPr>
            <a:spLocks noGrp="1"/>
          </p:cNvSpPr>
          <p:nvPr>
            <p:ph idx="1"/>
          </p:nvPr>
        </p:nvSpPr>
        <p:spPr>
          <a:xfrm>
            <a:off x="1981200" y="1295400"/>
            <a:ext cx="8229600" cy="5181600"/>
          </a:xfrm>
        </p:spPr>
        <p:txBody>
          <a:bodyPr>
            <a:normAutofit fontScale="85000" lnSpcReduction="20000"/>
          </a:bodyPr>
          <a:lstStyle/>
          <a:p>
            <a:pPr>
              <a:buNone/>
            </a:pPr>
            <a:r>
              <a:rPr lang="en-US" dirty="0"/>
              <a:t>	</a:t>
            </a:r>
            <a:r>
              <a:rPr lang="en-US" sz="3500" dirty="0"/>
              <a:t>Consider the following questions as you create an architectural design:</a:t>
            </a:r>
          </a:p>
          <a:p>
            <a:pPr>
              <a:buNone/>
            </a:pPr>
            <a:r>
              <a:rPr lang="en-US" sz="3500" dirty="0"/>
              <a:t> </a:t>
            </a:r>
          </a:p>
          <a:p>
            <a:pPr lvl="0"/>
            <a:r>
              <a:rPr lang="en-US" sz="3500" dirty="0"/>
              <a:t>What are the </a:t>
            </a:r>
            <a:r>
              <a:rPr lang="en-US" sz="3500" b="1" dirty="0"/>
              <a:t>foundational parts </a:t>
            </a:r>
            <a:r>
              <a:rPr lang="en-US" sz="3500" dirty="0"/>
              <a:t>of the architecture that represent the </a:t>
            </a:r>
            <a:r>
              <a:rPr lang="en-US" sz="3500" b="1" dirty="0"/>
              <a:t>greatest risk</a:t>
            </a:r>
            <a:r>
              <a:rPr lang="en-US" sz="3500" dirty="0"/>
              <a:t>? </a:t>
            </a:r>
          </a:p>
          <a:p>
            <a:pPr lvl="0"/>
            <a:r>
              <a:rPr lang="en-US" sz="3500" dirty="0"/>
              <a:t>What are the parts of the architecture that are most likely to </a:t>
            </a:r>
            <a:r>
              <a:rPr lang="en-US" sz="3500" b="1" dirty="0"/>
              <a:t>change</a:t>
            </a:r>
            <a:r>
              <a:rPr lang="en-US" sz="3500" dirty="0"/>
              <a:t>? </a:t>
            </a:r>
          </a:p>
          <a:p>
            <a:pPr lvl="0"/>
            <a:r>
              <a:rPr lang="en-US" sz="3500" dirty="0"/>
              <a:t>What are your key assumptions, and how will you </a:t>
            </a:r>
            <a:r>
              <a:rPr lang="en-US" sz="3500" b="1" dirty="0"/>
              <a:t>test</a:t>
            </a:r>
            <a:r>
              <a:rPr lang="en-US" sz="3500" dirty="0"/>
              <a:t> them? </a:t>
            </a:r>
          </a:p>
          <a:p>
            <a:pPr lvl="0"/>
            <a:r>
              <a:rPr lang="en-US" sz="3500" dirty="0"/>
              <a:t>What conditions may require you to </a:t>
            </a:r>
            <a:r>
              <a:rPr lang="en-US" sz="3500" b="1" dirty="0"/>
              <a:t>re-factor</a:t>
            </a:r>
            <a:r>
              <a:rPr lang="en-US" sz="3500" dirty="0"/>
              <a:t> the design? </a:t>
            </a:r>
          </a:p>
          <a:p>
            <a:pPr>
              <a:buNone/>
            </a:pPr>
            <a:endParaRPr lang="en-US" sz="35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2060"/>
                </a:solidFill>
              </a:rPr>
              <a:t>The Principles of Architecture Design</a:t>
            </a:r>
            <a:endParaRPr lang="en-US" dirty="0"/>
          </a:p>
        </p:txBody>
      </p:sp>
      <p:sp>
        <p:nvSpPr>
          <p:cNvPr id="3" name="Content Placeholder 2"/>
          <p:cNvSpPr>
            <a:spLocks noGrp="1"/>
          </p:cNvSpPr>
          <p:nvPr>
            <p:ph idx="1"/>
          </p:nvPr>
        </p:nvSpPr>
        <p:spPr>
          <a:xfrm>
            <a:off x="1981200" y="1295400"/>
            <a:ext cx="8229600" cy="5181600"/>
          </a:xfrm>
        </p:spPr>
        <p:txBody>
          <a:bodyPr>
            <a:normAutofit/>
          </a:bodyPr>
          <a:lstStyle/>
          <a:p>
            <a:pPr>
              <a:buNone/>
            </a:pPr>
            <a:endParaRPr lang="en-US" b="1" dirty="0">
              <a:solidFill>
                <a:schemeClr val="accent6">
                  <a:lumMod val="75000"/>
                </a:schemeClr>
              </a:solidFill>
            </a:endParaRPr>
          </a:p>
          <a:p>
            <a:pPr>
              <a:buNone/>
            </a:pPr>
            <a:r>
              <a:rPr lang="en-US" b="1" dirty="0">
                <a:solidFill>
                  <a:schemeClr val="accent6">
                    <a:lumMod val="75000"/>
                  </a:schemeClr>
                </a:solidFill>
              </a:rPr>
              <a:t>Key Architecture Principles:</a:t>
            </a:r>
            <a:r>
              <a:rPr lang="en-US" sz="3600" dirty="0"/>
              <a:t> </a:t>
            </a:r>
          </a:p>
          <a:p>
            <a:pPr lvl="0"/>
            <a:r>
              <a:rPr lang="en-US" sz="3600" dirty="0"/>
              <a:t>Build to change</a:t>
            </a:r>
          </a:p>
          <a:p>
            <a:pPr lvl="0"/>
            <a:r>
              <a:rPr lang="en-US" sz="3600" dirty="0"/>
              <a:t>Reduce risk</a:t>
            </a:r>
          </a:p>
          <a:p>
            <a:pPr lvl="0"/>
            <a:r>
              <a:rPr lang="en-US" sz="3600" dirty="0"/>
              <a:t>Use models and visualizations as a </a:t>
            </a:r>
            <a:r>
              <a:rPr lang="en-US" sz="3600" b="1" dirty="0"/>
              <a:t>communication</a:t>
            </a:r>
            <a:r>
              <a:rPr lang="en-US" sz="3600" dirty="0"/>
              <a:t> and collaboration tool</a:t>
            </a:r>
          </a:p>
          <a:p>
            <a:pPr lvl="0"/>
            <a:r>
              <a:rPr lang="en-US" sz="3600" dirty="0"/>
              <a:t>Identify key </a:t>
            </a:r>
            <a:r>
              <a:rPr lang="en-US" sz="3600" b="1" dirty="0"/>
              <a:t>engineering</a:t>
            </a:r>
            <a:r>
              <a:rPr lang="en-US" sz="3600" dirty="0"/>
              <a:t> decisions</a:t>
            </a:r>
          </a:p>
          <a:p>
            <a:pPr>
              <a:buNone/>
            </a:pPr>
            <a:endParaRPr lang="en-US" sz="35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normAutofit fontScale="92500" lnSpcReduction="10000"/>
          </a:bodyPr>
          <a:lstStyle/>
          <a:p>
            <a:r>
              <a:t>- Architecture choice depends on project needs.</a:t>
            </a:r>
          </a:p>
          <a:p>
            <a:r>
              <a:t>- Repository: centralized data.</a:t>
            </a:r>
          </a:p>
          <a:p>
            <a:r>
              <a:t>- Client–Server: request/response model.</a:t>
            </a:r>
          </a:p>
          <a:p>
            <a:r>
              <a:t>- Layered: structured organization.</a:t>
            </a:r>
          </a:p>
          <a:p>
            <a:r>
              <a:t>- Pipe &amp; Filter: data transformation.</a:t>
            </a:r>
          </a:p>
          <a:p>
            <a:r>
              <a:t>- Microservices: scalability.</a:t>
            </a:r>
          </a:p>
          <a:p>
            <a:r>
              <a:t>- Distributed: reliability and performance.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Design Patterns</a:t>
            </a:r>
            <a:br>
              <a:rPr lang="en-US" dirty="0"/>
            </a:br>
            <a:r>
              <a:rPr lang="en-US" dirty="0"/>
              <a:t>Object Oriented SE</a:t>
            </a:r>
          </a:p>
        </p:txBody>
      </p:sp>
      <p:sp>
        <p:nvSpPr>
          <p:cNvPr id="3" name="Subtitle 2"/>
          <p:cNvSpPr>
            <a:spLocks noGrp="1"/>
          </p:cNvSpPr>
          <p:nvPr>
            <p:ph type="subTitle" idx="1"/>
          </p:nvPr>
        </p:nvSpPr>
        <p:spPr/>
        <p:txBody>
          <a:bodyPr/>
          <a:lstStyle/>
          <a:p>
            <a:r>
              <a:rPr lang="en-US" dirty="0"/>
              <a:t>Ms. Shehla Saeed</a:t>
            </a:r>
          </a:p>
        </p:txBody>
      </p:sp>
    </p:spTree>
    <p:extLst>
      <p:ext uri="{BB962C8B-B14F-4D97-AF65-F5344CB8AC3E}">
        <p14:creationId xmlns:p14="http://schemas.microsoft.com/office/powerpoint/2010/main" val="1437116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6134" y="401446"/>
            <a:ext cx="7704667" cy="761999"/>
          </a:xfrm>
        </p:spPr>
        <p:txBody>
          <a:bodyPr/>
          <a:lstStyle/>
          <a:p>
            <a:r>
              <a:rPr lang="en-US" b="1" dirty="0"/>
              <a:t> Architectural Style/design</a:t>
            </a:r>
          </a:p>
        </p:txBody>
      </p:sp>
      <p:sp>
        <p:nvSpPr>
          <p:cNvPr id="3" name="Content Placeholder 2"/>
          <p:cNvSpPr>
            <a:spLocks noGrp="1"/>
          </p:cNvSpPr>
          <p:nvPr>
            <p:ph idx="1"/>
          </p:nvPr>
        </p:nvSpPr>
        <p:spPr>
          <a:xfrm>
            <a:off x="2506133" y="1600200"/>
            <a:ext cx="7704667" cy="4780616"/>
          </a:xfrm>
        </p:spPr>
        <p:txBody>
          <a:bodyPr>
            <a:normAutofit fontScale="92500" lnSpcReduction="20000"/>
          </a:bodyPr>
          <a:lstStyle/>
          <a:p>
            <a:r>
              <a:rPr lang="en-US" dirty="0"/>
              <a:t>An </a:t>
            </a:r>
            <a:r>
              <a:rPr lang="en-US" b="1" dirty="0"/>
              <a:t>Architectural Style</a:t>
            </a:r>
            <a:r>
              <a:rPr lang="en-US" dirty="0"/>
              <a:t> defines the </a:t>
            </a:r>
            <a:r>
              <a:rPr lang="en-US" b="1" dirty="0"/>
              <a:t>overall structure and organization</a:t>
            </a:r>
            <a:r>
              <a:rPr lang="en-US" dirty="0"/>
              <a:t> of a system at the </a:t>
            </a:r>
            <a:r>
              <a:rPr lang="en-US" b="1" dirty="0"/>
              <a:t>highest level of abstraction</a:t>
            </a:r>
            <a:r>
              <a:rPr lang="en-US" dirty="0"/>
              <a:t>.</a:t>
            </a:r>
          </a:p>
          <a:p>
            <a:r>
              <a:rPr lang="en-US" dirty="0"/>
              <a:t>👉 It answers:</a:t>
            </a:r>
          </a:p>
          <a:p>
            <a:r>
              <a:rPr lang="en-US" dirty="0"/>
              <a:t>How is the system </a:t>
            </a:r>
            <a:r>
              <a:rPr lang="en-US" b="1" dirty="0"/>
              <a:t>organized overall</a:t>
            </a:r>
            <a:r>
              <a:rPr lang="en-US" dirty="0"/>
              <a:t>? </a:t>
            </a:r>
          </a:p>
          <a:p>
            <a:r>
              <a:rPr lang="en-US" dirty="0"/>
              <a:t>What are the </a:t>
            </a:r>
            <a:r>
              <a:rPr lang="en-US" b="1" dirty="0"/>
              <a:t>main components</a:t>
            </a:r>
            <a:r>
              <a:rPr lang="en-US" dirty="0"/>
              <a:t>? </a:t>
            </a:r>
          </a:p>
          <a:p>
            <a:r>
              <a:rPr lang="en-US" dirty="0"/>
              <a:t>How do they </a:t>
            </a:r>
            <a:r>
              <a:rPr lang="en-US" b="1" dirty="0"/>
              <a:t>interact globally</a:t>
            </a:r>
            <a:r>
              <a:rPr lang="en-US" dirty="0"/>
              <a:t>?</a:t>
            </a:r>
          </a:p>
          <a:p>
            <a:r>
              <a:rPr lang="en-US" b="1" dirty="0"/>
              <a:t>Examples:</a:t>
            </a:r>
            <a:endParaRPr lang="en-US" dirty="0"/>
          </a:p>
          <a:p>
            <a:pPr lvl="1"/>
            <a:r>
              <a:rPr lang="en-US" b="1" dirty="0"/>
              <a:t>Client-Server:</a:t>
            </a:r>
            <a:r>
              <a:rPr lang="en-US" dirty="0"/>
              <a:t> A central server provides resources to multiple client applications.</a:t>
            </a:r>
          </a:p>
          <a:p>
            <a:pPr lvl="1"/>
            <a:r>
              <a:rPr lang="en-US" b="1" dirty="0" err="1"/>
              <a:t>Microservices</a:t>
            </a:r>
            <a:r>
              <a:rPr lang="en-US" b="1" dirty="0"/>
              <a:t>:</a:t>
            </a:r>
            <a:r>
              <a:rPr lang="en-US" dirty="0"/>
              <a:t> The application is built as a collection of small, independent services that communicate over a network.</a:t>
            </a:r>
          </a:p>
          <a:p>
            <a:pPr lvl="1"/>
            <a:r>
              <a:rPr lang="en-US" b="1" dirty="0"/>
              <a:t>Layered (N-Tier):</a:t>
            </a:r>
            <a:r>
              <a:rPr lang="en-US" dirty="0"/>
              <a:t> The system is organized into horizontal layers (e.g., presentation, business logic, database), where each layer only talks to the one directly below it.</a:t>
            </a:r>
          </a:p>
        </p:txBody>
      </p:sp>
    </p:spTree>
    <p:extLst>
      <p:ext uri="{BB962C8B-B14F-4D97-AF65-F5344CB8AC3E}">
        <p14:creationId xmlns:p14="http://schemas.microsoft.com/office/powerpoint/2010/main" val="5774811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6134" y="457202"/>
            <a:ext cx="7704667" cy="1066799"/>
          </a:xfrm>
        </p:spPr>
        <p:txBody>
          <a:bodyPr>
            <a:normAutofit fontScale="90000"/>
          </a:bodyPr>
          <a:lstStyle/>
          <a:p>
            <a:r>
              <a:rPr lang="en-US" b="1" dirty="0"/>
              <a:t>Architectural Pattern (Implementation Strategy)</a:t>
            </a:r>
          </a:p>
        </p:txBody>
      </p:sp>
      <p:sp>
        <p:nvSpPr>
          <p:cNvPr id="3" name="Content Placeholder 2"/>
          <p:cNvSpPr>
            <a:spLocks noGrp="1"/>
          </p:cNvSpPr>
          <p:nvPr>
            <p:ph idx="1"/>
          </p:nvPr>
        </p:nvSpPr>
        <p:spPr>
          <a:xfrm>
            <a:off x="2506134" y="2057400"/>
            <a:ext cx="7704667" cy="4475816"/>
          </a:xfrm>
        </p:spPr>
        <p:txBody>
          <a:bodyPr>
            <a:normAutofit fontScale="85000" lnSpcReduction="10000"/>
          </a:bodyPr>
          <a:lstStyle/>
          <a:p>
            <a:r>
              <a:rPr lang="en-US" dirty="0"/>
              <a:t>An </a:t>
            </a:r>
            <a:r>
              <a:rPr lang="en-US" b="1" dirty="0"/>
              <a:t>Architectural Pattern</a:t>
            </a:r>
            <a:r>
              <a:rPr lang="en-US" dirty="0"/>
              <a:t> is a </a:t>
            </a:r>
            <a:r>
              <a:rPr lang="en-US" b="1" dirty="0"/>
              <a:t>reusable solution</a:t>
            </a:r>
            <a:r>
              <a:rPr lang="en-US" dirty="0"/>
              <a:t> used to </a:t>
            </a:r>
            <a:r>
              <a:rPr lang="en-US" b="1" dirty="0"/>
              <a:t>implement an architectural style</a:t>
            </a:r>
            <a:r>
              <a:rPr lang="en-US" dirty="0"/>
              <a:t>.</a:t>
            </a:r>
          </a:p>
          <a:p>
            <a:pPr marL="0" indent="0">
              <a:buNone/>
            </a:pPr>
            <a:r>
              <a:rPr lang="en-US" dirty="0"/>
              <a:t>👉 It answers:</a:t>
            </a:r>
          </a:p>
          <a:p>
            <a:pPr lvl="1"/>
            <a:r>
              <a:rPr lang="en-US" dirty="0"/>
              <a:t>How do we </a:t>
            </a:r>
            <a:r>
              <a:rPr lang="en-US" b="1" dirty="0"/>
              <a:t>apply</a:t>
            </a:r>
            <a:r>
              <a:rPr lang="en-US" dirty="0"/>
              <a:t> the style in practice? </a:t>
            </a:r>
          </a:p>
          <a:p>
            <a:pPr lvl="1"/>
            <a:r>
              <a:rPr lang="en-US" dirty="0"/>
              <a:t>How do components </a:t>
            </a:r>
            <a:r>
              <a:rPr lang="en-US" b="1" dirty="0"/>
              <a:t>collaborate</a:t>
            </a:r>
            <a:r>
              <a:rPr lang="en-US" dirty="0"/>
              <a:t>? </a:t>
            </a:r>
          </a:p>
          <a:p>
            <a:r>
              <a:rPr lang="en-US" dirty="0"/>
              <a:t>It adds </a:t>
            </a:r>
            <a:r>
              <a:rPr lang="en-US" b="1" dirty="0"/>
              <a:t>best practices and rules</a:t>
            </a:r>
            <a:r>
              <a:rPr lang="en-US" dirty="0"/>
              <a:t> to a style to guide implementation.</a:t>
            </a:r>
          </a:p>
          <a:p>
            <a:pPr marL="0" indent="0">
              <a:buNone/>
            </a:pPr>
            <a:r>
              <a:rPr lang="en-US" dirty="0"/>
              <a:t>Examples:</a:t>
            </a:r>
          </a:p>
          <a:p>
            <a:r>
              <a:rPr lang="en-US" dirty="0"/>
              <a:t>MVC (Model-View-Controller) — often used in layered architectures</a:t>
            </a:r>
          </a:p>
          <a:p>
            <a:r>
              <a:rPr lang="en-US" dirty="0"/>
              <a:t>Broker Pattern — common in distributed systems </a:t>
            </a:r>
          </a:p>
          <a:p>
            <a:r>
              <a:rPr lang="en-US" dirty="0"/>
              <a:t> </a:t>
            </a:r>
            <a:r>
              <a:rPr lang="en-US" b="1" dirty="0"/>
              <a:t>CORBA</a:t>
            </a:r>
            <a:r>
              <a:rPr lang="en-US" dirty="0"/>
              <a:t> (Common Object Request Broker Architecture)</a:t>
            </a:r>
          </a:p>
          <a:p>
            <a:r>
              <a:rPr lang="en-US" b="1" dirty="0"/>
              <a:t>Message Brokers</a:t>
            </a:r>
            <a:r>
              <a:rPr lang="en-US" dirty="0"/>
              <a:t> like </a:t>
            </a:r>
            <a:r>
              <a:rPr lang="en-US" dirty="0" err="1"/>
              <a:t>RabbitMQ</a:t>
            </a:r>
            <a:r>
              <a:rPr lang="en-US" dirty="0"/>
              <a:t>, Kafka, or Apache </a:t>
            </a:r>
            <a:r>
              <a:rPr lang="en-US" dirty="0" err="1"/>
              <a:t>ActiveMQ</a:t>
            </a:r>
            <a:endParaRPr lang="en-US" dirty="0"/>
          </a:p>
        </p:txBody>
      </p:sp>
    </p:spTree>
    <p:extLst>
      <p:ext uri="{BB962C8B-B14F-4D97-AF65-F5344CB8AC3E}">
        <p14:creationId xmlns:p14="http://schemas.microsoft.com/office/powerpoint/2010/main" val="288469339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Design Pattern (Low-Level Solution)</a:t>
            </a:r>
          </a:p>
        </p:txBody>
      </p:sp>
      <p:sp>
        <p:nvSpPr>
          <p:cNvPr id="3" name="Content Placeholder 2"/>
          <p:cNvSpPr>
            <a:spLocks noGrp="1"/>
          </p:cNvSpPr>
          <p:nvPr>
            <p:ph idx="1"/>
          </p:nvPr>
        </p:nvSpPr>
        <p:spPr/>
        <p:txBody>
          <a:bodyPr>
            <a:normAutofit fontScale="85000" lnSpcReduction="10000"/>
          </a:bodyPr>
          <a:lstStyle/>
          <a:p>
            <a:r>
              <a:rPr lang="en-US" dirty="0"/>
              <a:t>A </a:t>
            </a:r>
            <a:r>
              <a:rPr lang="en-US" b="1" dirty="0"/>
              <a:t>Design Pattern</a:t>
            </a:r>
            <a:r>
              <a:rPr lang="en-US" dirty="0"/>
              <a:t> is a </a:t>
            </a:r>
            <a:r>
              <a:rPr lang="en-US" b="1" dirty="0"/>
              <a:t>solution to a localized problem</a:t>
            </a:r>
            <a:r>
              <a:rPr lang="en-US" dirty="0"/>
              <a:t> within a small part of the system.</a:t>
            </a:r>
          </a:p>
          <a:p>
            <a:pPr marL="0" indent="0">
              <a:buNone/>
            </a:pPr>
            <a:r>
              <a:rPr lang="en-US" dirty="0"/>
              <a:t> 👉 It answers:</a:t>
            </a:r>
          </a:p>
          <a:p>
            <a:r>
              <a:rPr lang="en-US" dirty="0"/>
              <a:t>How should a </a:t>
            </a:r>
            <a:r>
              <a:rPr lang="en-US" b="1" dirty="0"/>
              <a:t>specific piece of code</a:t>
            </a:r>
            <a:r>
              <a:rPr lang="en-US" dirty="0"/>
              <a:t> be designed? </a:t>
            </a:r>
          </a:p>
          <a:p>
            <a:r>
              <a:rPr lang="en-US" dirty="0"/>
              <a:t>How do objects/classes interact?</a:t>
            </a:r>
          </a:p>
          <a:p>
            <a:r>
              <a:rPr lang="en-US" dirty="0"/>
              <a:t>Not a finished design: It is not code you can directly copy and paste.</a:t>
            </a:r>
          </a:p>
          <a:p>
            <a:r>
              <a:rPr lang="en-US" dirty="0"/>
              <a:t>A template: It is a description or template for how to solve a problem that can be used in many different situations.</a:t>
            </a:r>
          </a:p>
          <a:p>
            <a:r>
              <a:rPr lang="en-US" dirty="0"/>
              <a:t>Language Agnostic: Concepts apply to Java, C++, Python, C#, etc.</a:t>
            </a:r>
          </a:p>
        </p:txBody>
      </p:sp>
    </p:spTree>
    <p:extLst>
      <p:ext uri="{BB962C8B-B14F-4D97-AF65-F5344CB8AC3E}">
        <p14:creationId xmlns:p14="http://schemas.microsoft.com/office/powerpoint/2010/main" val="28778131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a:t>
            </a:r>
            <a:r>
              <a:rPr lang="en-US" dirty="0" err="1"/>
              <a:t>vs</a:t>
            </a:r>
            <a:r>
              <a:rPr lang="en-US" dirty="0"/>
              <a:t> design patterns</a:t>
            </a:r>
          </a:p>
        </p:txBody>
      </p:sp>
      <p:sp>
        <p:nvSpPr>
          <p:cNvPr id="3" name="Content Placeholder 2"/>
          <p:cNvSpPr>
            <a:spLocks noGrp="1"/>
          </p:cNvSpPr>
          <p:nvPr>
            <p:ph idx="1"/>
          </p:nvPr>
        </p:nvSpPr>
        <p:spPr/>
        <p:txBody>
          <a:bodyPr>
            <a:normAutofit fontScale="92500"/>
          </a:bodyPr>
          <a:lstStyle/>
          <a:p>
            <a:pPr algn="just"/>
            <a:r>
              <a:rPr lang="en-US" dirty="0"/>
              <a:t>An </a:t>
            </a:r>
            <a:r>
              <a:rPr lang="en-US" b="1" dirty="0"/>
              <a:t>Architectural</a:t>
            </a:r>
            <a:r>
              <a:rPr lang="en-US" dirty="0"/>
              <a:t> Style is the application </a:t>
            </a:r>
            <a:r>
              <a:rPr lang="en-US" b="1" dirty="0"/>
              <a:t>design</a:t>
            </a:r>
            <a:r>
              <a:rPr lang="en-US" dirty="0"/>
              <a:t> at the highest level of abstraction; An </a:t>
            </a:r>
            <a:r>
              <a:rPr lang="en-US" b="1" dirty="0"/>
              <a:t>Architectural Pattern</a:t>
            </a:r>
            <a:r>
              <a:rPr lang="en-US" dirty="0"/>
              <a:t> is a way to implement an </a:t>
            </a:r>
            <a:r>
              <a:rPr lang="en-US" b="1" dirty="0"/>
              <a:t>Architectural</a:t>
            </a:r>
            <a:r>
              <a:rPr lang="en-US" dirty="0"/>
              <a:t> Style</a:t>
            </a:r>
          </a:p>
          <a:p>
            <a:pPr algn="just"/>
            <a:r>
              <a:rPr lang="en-US" dirty="0"/>
              <a:t> A </a:t>
            </a:r>
            <a:r>
              <a:rPr lang="en-US" b="1" dirty="0"/>
              <a:t>Design Pattern</a:t>
            </a:r>
            <a:r>
              <a:rPr lang="en-US" dirty="0"/>
              <a:t> is a way to solve a localized problem.</a:t>
            </a:r>
          </a:p>
          <a:p>
            <a:pPr algn="just"/>
            <a:r>
              <a:rPr lang="en-US" dirty="0"/>
              <a:t>In a few words, while </a:t>
            </a:r>
            <a:r>
              <a:rPr lang="en-US" b="1" dirty="0"/>
              <a:t>Design Patterns</a:t>
            </a:r>
            <a:r>
              <a:rPr lang="en-US" dirty="0"/>
              <a:t> impact a specific section of the code base</a:t>
            </a:r>
          </a:p>
          <a:p>
            <a:pPr algn="just"/>
            <a:r>
              <a:rPr lang="en-US" dirty="0"/>
              <a:t> </a:t>
            </a:r>
            <a:r>
              <a:rPr lang="en-US" b="1" dirty="0"/>
              <a:t>Architectural Patterns</a:t>
            </a:r>
            <a:r>
              <a:rPr lang="en-US" dirty="0"/>
              <a:t> are high-level strategies that concern large-scale components, the global properties and mechanisms of a system.</a:t>
            </a:r>
          </a:p>
        </p:txBody>
      </p:sp>
    </p:spTree>
    <p:extLst>
      <p:ext uri="{BB962C8B-B14F-4D97-AF65-F5344CB8AC3E}">
        <p14:creationId xmlns:p14="http://schemas.microsoft.com/office/powerpoint/2010/main" val="50453640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35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4800" y="4267200"/>
            <a:ext cx="1689538"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63522" name="Rectangle 2"/>
          <p:cNvSpPr>
            <a:spLocks noGrp="1" noChangeArrowheads="1"/>
          </p:cNvSpPr>
          <p:nvPr>
            <p:ph type="title"/>
          </p:nvPr>
        </p:nvSpPr>
        <p:spPr>
          <a:xfrm>
            <a:off x="2506134" y="457202"/>
            <a:ext cx="7704667" cy="838199"/>
          </a:xfrm>
        </p:spPr>
        <p:txBody>
          <a:bodyPr/>
          <a:lstStyle/>
          <a:p>
            <a:r>
              <a:rPr lang="en-US" altLang="en-US"/>
              <a:t>Design patterns</a:t>
            </a:r>
          </a:p>
        </p:txBody>
      </p:sp>
      <p:sp>
        <p:nvSpPr>
          <p:cNvPr id="363523" name="Rectangle 3"/>
          <p:cNvSpPr>
            <a:spLocks noGrp="1" noChangeArrowheads="1"/>
          </p:cNvSpPr>
          <p:nvPr>
            <p:ph idx="1"/>
          </p:nvPr>
        </p:nvSpPr>
        <p:spPr>
          <a:xfrm>
            <a:off x="1524000" y="1295400"/>
            <a:ext cx="9144000" cy="5562600"/>
          </a:xfrm>
        </p:spPr>
        <p:txBody>
          <a:bodyPr>
            <a:normAutofit/>
          </a:bodyPr>
          <a:lstStyle/>
          <a:p>
            <a:r>
              <a:rPr lang="en-US" b="1" dirty="0"/>
              <a:t>A Brief History (The Gang of Four)</a:t>
            </a:r>
          </a:p>
          <a:p>
            <a:r>
              <a:rPr lang="en-US" b="1" dirty="0"/>
              <a:t>Origin:</a:t>
            </a:r>
            <a:r>
              <a:rPr lang="en-US" dirty="0"/>
              <a:t> Concept originated in civil engineering/architecture by Christopher Alexander.</a:t>
            </a:r>
          </a:p>
          <a:p>
            <a:r>
              <a:rPr lang="en-US" b="1" dirty="0"/>
              <a:t>Software Adoption:</a:t>
            </a:r>
            <a:r>
              <a:rPr lang="en-US" dirty="0"/>
              <a:t> Popularized in 1994 by the book </a:t>
            </a:r>
            <a:r>
              <a:rPr lang="en-US" i="1" dirty="0"/>
              <a:t>"Design Patterns: Elements of Reusable Object-Oriented Software"</a:t>
            </a:r>
            <a:r>
              <a:rPr lang="en-US" dirty="0"/>
              <a:t>.</a:t>
            </a:r>
          </a:p>
          <a:p>
            <a:r>
              <a:rPr lang="en-US" b="1" dirty="0"/>
              <a:t>The </a:t>
            </a:r>
            <a:r>
              <a:rPr lang="en-US" b="1" dirty="0" err="1"/>
              <a:t>GoF</a:t>
            </a:r>
            <a:r>
              <a:rPr lang="en-US" b="1" dirty="0"/>
              <a:t>:</a:t>
            </a:r>
            <a:r>
              <a:rPr lang="en-US" dirty="0"/>
              <a:t> The four authors—Erich Gamma, Richard Helm, Ralph Johnson, and John </a:t>
            </a:r>
            <a:r>
              <a:rPr lang="en-US" dirty="0" err="1"/>
              <a:t>Vlissides</a:t>
            </a:r>
            <a:r>
              <a:rPr lang="en-US" dirty="0"/>
              <a:t>—are affectionately known in CS as the "Gang of Four" (</a:t>
            </a:r>
            <a:r>
              <a:rPr lang="en-US" dirty="0" err="1"/>
              <a:t>GoF</a:t>
            </a:r>
            <a:r>
              <a:rPr lang="en-US" dirty="0"/>
              <a:t>).</a:t>
            </a:r>
          </a:p>
          <a:p>
            <a:r>
              <a:rPr lang="en-US" b="1" dirty="0"/>
              <a:t>The Original 23:</a:t>
            </a:r>
            <a:r>
              <a:rPr lang="en-US" dirty="0"/>
              <a:t> The book cataloged 23 fundamental patterns that are still used today.</a:t>
            </a:r>
          </a:p>
          <a:p>
            <a:pPr lvl="1"/>
            <a:r>
              <a:rPr lang="en-US" altLang="en-US" dirty="0">
                <a:solidFill>
                  <a:srgbClr val="404040"/>
                </a:solidFill>
              </a:rPr>
              <a:t>1995 book </a:t>
            </a:r>
            <a:r>
              <a:rPr lang="en-US" altLang="en-US" i="1" dirty="0">
                <a:solidFill>
                  <a:srgbClr val="404040"/>
                </a:solidFill>
              </a:rPr>
              <a:t>Design Patterns: </a:t>
            </a:r>
            <a:br>
              <a:rPr lang="en-US" altLang="en-US" i="1" dirty="0">
                <a:solidFill>
                  <a:srgbClr val="404040"/>
                </a:solidFill>
              </a:rPr>
            </a:br>
            <a:r>
              <a:rPr lang="en-US" altLang="en-US" i="1" dirty="0">
                <a:solidFill>
                  <a:srgbClr val="404040"/>
                </a:solidFill>
              </a:rPr>
              <a:t>Elements of Reusable Object-Oriented </a:t>
            </a:r>
            <a:br>
              <a:rPr lang="en-US" altLang="en-US" i="1" dirty="0">
                <a:solidFill>
                  <a:srgbClr val="404040"/>
                </a:solidFill>
              </a:rPr>
            </a:br>
            <a:r>
              <a:rPr lang="en-US" altLang="en-US" i="1" dirty="0">
                <a:solidFill>
                  <a:srgbClr val="404040"/>
                </a:solidFill>
              </a:rPr>
              <a:t>Software</a:t>
            </a:r>
            <a:r>
              <a:rPr lang="en-US" altLang="en-US" dirty="0">
                <a:solidFill>
                  <a:srgbClr val="404040"/>
                </a:solidFill>
              </a:rPr>
              <a:t> is a classic of the field</a:t>
            </a:r>
          </a:p>
        </p:txBody>
      </p:sp>
    </p:spTree>
    <p:extLst>
      <p:ext uri="{BB962C8B-B14F-4D97-AF65-F5344CB8AC3E}">
        <p14:creationId xmlns:p14="http://schemas.microsoft.com/office/powerpoint/2010/main" val="3705804766"/>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6134" y="457202"/>
            <a:ext cx="7704667" cy="1295399"/>
          </a:xfrm>
        </p:spPr>
        <p:txBody>
          <a:bodyPr/>
          <a:lstStyle/>
          <a:p>
            <a:r>
              <a:rPr lang="en-US" b="1" dirty="0"/>
              <a:t>Why Use Design Patterns?</a:t>
            </a:r>
          </a:p>
        </p:txBody>
      </p:sp>
      <p:sp>
        <p:nvSpPr>
          <p:cNvPr id="3" name="Content Placeholder 2"/>
          <p:cNvSpPr>
            <a:spLocks noGrp="1"/>
          </p:cNvSpPr>
          <p:nvPr>
            <p:ph idx="1"/>
          </p:nvPr>
        </p:nvSpPr>
        <p:spPr>
          <a:xfrm>
            <a:off x="2506134" y="1752600"/>
            <a:ext cx="7704667" cy="4247216"/>
          </a:xfrm>
        </p:spPr>
        <p:txBody>
          <a:bodyPr>
            <a:normAutofit fontScale="92500"/>
          </a:bodyPr>
          <a:lstStyle/>
          <a:p>
            <a:r>
              <a:rPr lang="en-US" b="1" dirty="0"/>
              <a:t>Proven Solutions:</a:t>
            </a:r>
            <a:r>
              <a:rPr lang="en-US" dirty="0"/>
              <a:t> They are battle-tested by thousands of developers.</a:t>
            </a:r>
          </a:p>
          <a:p>
            <a:r>
              <a:rPr lang="en-US" b="1" dirty="0"/>
              <a:t>Code Reusability:</a:t>
            </a:r>
            <a:r>
              <a:rPr lang="en-US" dirty="0"/>
              <a:t> Promotes writing code that is modular and adaptable.</a:t>
            </a:r>
          </a:p>
          <a:p>
            <a:r>
              <a:rPr lang="en-US" b="1" dirty="0"/>
              <a:t>Shared Vocabulary:</a:t>
            </a:r>
            <a:r>
              <a:rPr lang="en-US" dirty="0"/>
              <a:t> Allows developers to communicate efficiently.</a:t>
            </a:r>
          </a:p>
          <a:p>
            <a:pPr lvl="1"/>
            <a:r>
              <a:rPr lang="en-US" i="1" dirty="0"/>
              <a:t>Instead of saying:</a:t>
            </a:r>
            <a:r>
              <a:rPr lang="en-US" dirty="0"/>
              <a:t> "I wrote a class that only lets you create one instance of it and gives global access..."</a:t>
            </a:r>
          </a:p>
          <a:p>
            <a:pPr lvl="1"/>
            <a:r>
              <a:rPr lang="en-US" i="1" dirty="0"/>
              <a:t>You say:</a:t>
            </a:r>
            <a:r>
              <a:rPr lang="en-US" dirty="0"/>
              <a:t> "I used a Singleton."</a:t>
            </a:r>
          </a:p>
          <a:p>
            <a:r>
              <a:rPr lang="en-US" b="1" dirty="0"/>
              <a:t>Faster Development:</a:t>
            </a:r>
            <a:r>
              <a:rPr lang="en-US" dirty="0"/>
              <a:t> You don't have to reinvent the wheel.</a:t>
            </a:r>
          </a:p>
        </p:txBody>
      </p:sp>
    </p:spTree>
    <p:extLst>
      <p:ext uri="{BB962C8B-B14F-4D97-AF65-F5344CB8AC3E}">
        <p14:creationId xmlns:p14="http://schemas.microsoft.com/office/powerpoint/2010/main" val="216335672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6134" y="457202"/>
            <a:ext cx="7704667" cy="1600199"/>
          </a:xfrm>
        </p:spPr>
        <p:txBody>
          <a:bodyPr/>
          <a:lstStyle/>
          <a:p>
            <a:r>
              <a:rPr lang="en-US" b="1" dirty="0"/>
              <a:t>The Three Main Categories</a:t>
            </a:r>
          </a:p>
        </p:txBody>
      </p:sp>
      <p:sp>
        <p:nvSpPr>
          <p:cNvPr id="3" name="Content Placeholder 2"/>
          <p:cNvSpPr>
            <a:spLocks noGrp="1"/>
          </p:cNvSpPr>
          <p:nvPr>
            <p:ph idx="1"/>
          </p:nvPr>
        </p:nvSpPr>
        <p:spPr/>
        <p:txBody>
          <a:bodyPr>
            <a:normAutofit/>
          </a:bodyPr>
          <a:lstStyle/>
          <a:p>
            <a:r>
              <a:rPr lang="en-US" dirty="0"/>
              <a:t>The Gang of Four grouped the 23 patterns into three main categories based on their purpose:</a:t>
            </a:r>
          </a:p>
          <a:p>
            <a:r>
              <a:rPr lang="en-US" b="1" dirty="0"/>
              <a:t>Creational Patterns:</a:t>
            </a:r>
            <a:r>
              <a:rPr lang="en-US" dirty="0"/>
              <a:t> Deal with object creation mechanisms.</a:t>
            </a:r>
          </a:p>
          <a:p>
            <a:r>
              <a:rPr lang="en-US" b="1" dirty="0"/>
              <a:t>Structural Patterns:</a:t>
            </a:r>
            <a:r>
              <a:rPr lang="en-US" dirty="0"/>
              <a:t> Deal with object composition and relationships.</a:t>
            </a:r>
          </a:p>
          <a:p>
            <a:r>
              <a:rPr lang="en-US" b="1" dirty="0"/>
              <a:t>Behavioral Patterns:</a:t>
            </a:r>
            <a:r>
              <a:rPr lang="en-US" dirty="0"/>
              <a:t> Deal with communication and assignment of responsibilities between objects.</a:t>
            </a:r>
          </a:p>
        </p:txBody>
      </p:sp>
    </p:spTree>
    <p:extLst>
      <p:ext uri="{BB962C8B-B14F-4D97-AF65-F5344CB8AC3E}">
        <p14:creationId xmlns:p14="http://schemas.microsoft.com/office/powerpoint/2010/main" val="2246827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Rectangle 2"/>
          <p:cNvSpPr>
            <a:spLocks noGrp="1" noChangeArrowheads="1"/>
          </p:cNvSpPr>
          <p:nvPr>
            <p:ph type="title"/>
          </p:nvPr>
        </p:nvSpPr>
        <p:spPr>
          <a:xfrm>
            <a:off x="2506134" y="457202"/>
            <a:ext cx="7704667" cy="838199"/>
          </a:xfrm>
        </p:spPr>
        <p:txBody>
          <a:bodyPr/>
          <a:lstStyle/>
          <a:p>
            <a:r>
              <a:rPr lang="en-US" altLang="en-US" dirty="0"/>
              <a:t>Gang of Four (</a:t>
            </a:r>
            <a:r>
              <a:rPr lang="en-US" altLang="en-US" dirty="0" err="1"/>
              <a:t>GoF</a:t>
            </a:r>
            <a:r>
              <a:rPr lang="en-US" altLang="en-US" dirty="0"/>
              <a:t>) patterns</a:t>
            </a:r>
          </a:p>
        </p:txBody>
      </p:sp>
      <p:sp>
        <p:nvSpPr>
          <p:cNvPr id="366595" name="Rectangle 3"/>
          <p:cNvSpPr>
            <a:spLocks noGrp="1" noChangeArrowheads="1"/>
          </p:cNvSpPr>
          <p:nvPr>
            <p:ph idx="1"/>
          </p:nvPr>
        </p:nvSpPr>
        <p:spPr>
          <a:xfrm>
            <a:off x="1524000" y="1295400"/>
            <a:ext cx="9144000" cy="5562600"/>
          </a:xfrm>
        </p:spPr>
        <p:txBody>
          <a:bodyPr>
            <a:normAutofit fontScale="92500" lnSpcReduction="10000"/>
          </a:bodyPr>
          <a:lstStyle/>
          <a:p>
            <a:pPr>
              <a:tabLst>
                <a:tab pos="860425" algn="l"/>
                <a:tab pos="1143000" algn="l"/>
                <a:tab pos="1431925" algn="l"/>
                <a:tab pos="3311525" algn="l"/>
                <a:tab pos="6630988" algn="l"/>
              </a:tabLst>
            </a:pPr>
            <a:r>
              <a:rPr lang="en-US" altLang="en-US" b="1" dirty="0">
                <a:solidFill>
                  <a:srgbClr val="262626"/>
                </a:solidFill>
              </a:rPr>
              <a:t>Creational Patterns	</a:t>
            </a:r>
            <a:r>
              <a:rPr lang="en-US" altLang="en-US" sz="1800" i="1" dirty="0">
                <a:solidFill>
                  <a:srgbClr val="262626"/>
                </a:solidFill>
              </a:rPr>
              <a:t>(abstracting the object-instantiation process)</a:t>
            </a:r>
            <a:endParaRPr lang="en-US" altLang="en-US" sz="800" dirty="0">
              <a:solidFill>
                <a:srgbClr val="262626"/>
              </a:solidFill>
            </a:endParaRPr>
          </a:p>
          <a:p>
            <a:pPr lvl="1">
              <a:tabLst>
                <a:tab pos="860425" algn="l"/>
                <a:tab pos="1143000" algn="l"/>
                <a:tab pos="1431925" algn="l"/>
                <a:tab pos="3311525" algn="l"/>
                <a:tab pos="6630988" algn="l"/>
              </a:tabLst>
            </a:pPr>
            <a:r>
              <a:rPr lang="en-US" altLang="en-US" dirty="0">
                <a:solidFill>
                  <a:srgbClr val="404040"/>
                </a:solidFill>
              </a:rPr>
              <a:t>Factory Method	Abstract Factory	Singleton</a:t>
            </a:r>
          </a:p>
          <a:p>
            <a:pPr lvl="1">
              <a:tabLst>
                <a:tab pos="860425" algn="l"/>
                <a:tab pos="1143000" algn="l"/>
                <a:tab pos="1431925" algn="l"/>
                <a:tab pos="3311525" algn="l"/>
                <a:tab pos="6630988" algn="l"/>
              </a:tabLst>
            </a:pPr>
            <a:r>
              <a:rPr lang="en-US" altLang="en-US" dirty="0">
                <a:solidFill>
                  <a:srgbClr val="404040"/>
                </a:solidFill>
              </a:rPr>
              <a:t>Builder	Prototype</a:t>
            </a:r>
          </a:p>
          <a:p>
            <a:pPr lvl="1">
              <a:tabLst>
                <a:tab pos="860425" algn="l"/>
                <a:tab pos="1143000" algn="l"/>
                <a:tab pos="1431925" algn="l"/>
                <a:tab pos="3311525" algn="l"/>
                <a:tab pos="6630988" algn="l"/>
              </a:tabLst>
            </a:pPr>
            <a:endParaRPr lang="en-US" altLang="en-US" sz="1200" dirty="0">
              <a:solidFill>
                <a:srgbClr val="404040"/>
              </a:solidFill>
            </a:endParaRPr>
          </a:p>
          <a:p>
            <a:pPr>
              <a:tabLst>
                <a:tab pos="860425" algn="l"/>
                <a:tab pos="1143000" algn="l"/>
                <a:tab pos="1431925" algn="l"/>
                <a:tab pos="3311525" algn="l"/>
                <a:tab pos="6630988" algn="l"/>
              </a:tabLst>
            </a:pPr>
            <a:r>
              <a:rPr lang="en-US" altLang="en-US" b="1" dirty="0">
                <a:solidFill>
                  <a:srgbClr val="262626"/>
                </a:solidFill>
              </a:rPr>
              <a:t>Structural Patterns</a:t>
            </a:r>
            <a:r>
              <a:rPr lang="en-US" altLang="en-US" dirty="0">
                <a:solidFill>
                  <a:srgbClr val="262626"/>
                </a:solidFill>
              </a:rPr>
              <a:t>	</a:t>
            </a:r>
            <a:r>
              <a:rPr lang="en-US" altLang="en-US" sz="1800" i="1" dirty="0">
                <a:solidFill>
                  <a:srgbClr val="262626"/>
                </a:solidFill>
              </a:rPr>
              <a:t>(how objects/classes can be combined)</a:t>
            </a:r>
            <a:endParaRPr lang="en-US" altLang="en-US" sz="800" dirty="0">
              <a:solidFill>
                <a:srgbClr val="262626"/>
              </a:solidFill>
            </a:endParaRPr>
          </a:p>
          <a:p>
            <a:pPr lvl="1">
              <a:tabLst>
                <a:tab pos="860425" algn="l"/>
                <a:tab pos="1143000" algn="l"/>
                <a:tab pos="1431925" algn="l"/>
                <a:tab pos="3311525" algn="l"/>
                <a:tab pos="6630988" algn="l"/>
              </a:tabLst>
            </a:pPr>
            <a:r>
              <a:rPr lang="en-US" altLang="en-US" dirty="0">
                <a:solidFill>
                  <a:srgbClr val="404040"/>
                </a:solidFill>
              </a:rPr>
              <a:t>Adapter	Bridge	Composite</a:t>
            </a:r>
          </a:p>
          <a:p>
            <a:pPr lvl="1">
              <a:tabLst>
                <a:tab pos="860425" algn="l"/>
                <a:tab pos="1143000" algn="l"/>
                <a:tab pos="1431925" algn="l"/>
                <a:tab pos="3311525" algn="l"/>
                <a:tab pos="6630988" algn="l"/>
              </a:tabLst>
            </a:pPr>
            <a:r>
              <a:rPr lang="en-US" altLang="en-US" dirty="0">
                <a:solidFill>
                  <a:srgbClr val="404040"/>
                </a:solidFill>
              </a:rPr>
              <a:t>Decorator	Facade	Flyweight</a:t>
            </a:r>
          </a:p>
          <a:p>
            <a:pPr lvl="1">
              <a:tabLst>
                <a:tab pos="860425" algn="l"/>
                <a:tab pos="1143000" algn="l"/>
                <a:tab pos="1431925" algn="l"/>
                <a:tab pos="3311525" algn="l"/>
                <a:tab pos="6630988" algn="l"/>
              </a:tabLst>
            </a:pPr>
            <a:r>
              <a:rPr lang="en-US" altLang="en-US" dirty="0">
                <a:solidFill>
                  <a:srgbClr val="404040"/>
                </a:solidFill>
              </a:rPr>
              <a:t>Proxy</a:t>
            </a:r>
          </a:p>
          <a:p>
            <a:pPr lvl="1">
              <a:tabLst>
                <a:tab pos="860425" algn="l"/>
                <a:tab pos="1143000" algn="l"/>
                <a:tab pos="1431925" algn="l"/>
                <a:tab pos="3311525" algn="l"/>
                <a:tab pos="6630988" algn="l"/>
              </a:tabLst>
            </a:pPr>
            <a:endParaRPr lang="en-US" altLang="en-US" sz="1200" dirty="0">
              <a:solidFill>
                <a:srgbClr val="404040"/>
              </a:solidFill>
            </a:endParaRPr>
          </a:p>
          <a:p>
            <a:pPr>
              <a:tabLst>
                <a:tab pos="860425" algn="l"/>
                <a:tab pos="1143000" algn="l"/>
                <a:tab pos="1431925" algn="l"/>
                <a:tab pos="3311525" algn="l"/>
                <a:tab pos="6630988" algn="l"/>
              </a:tabLst>
            </a:pPr>
            <a:r>
              <a:rPr lang="en-US" altLang="en-US" b="1" dirty="0">
                <a:solidFill>
                  <a:srgbClr val="262626"/>
                </a:solidFill>
              </a:rPr>
              <a:t>Behavioral Patterns</a:t>
            </a:r>
            <a:r>
              <a:rPr lang="en-US" altLang="en-US" sz="1800" dirty="0">
                <a:solidFill>
                  <a:srgbClr val="262626"/>
                </a:solidFill>
              </a:rPr>
              <a:t>	</a:t>
            </a:r>
            <a:r>
              <a:rPr lang="en-US" altLang="en-US" sz="1800" i="1" dirty="0">
                <a:solidFill>
                  <a:srgbClr val="262626"/>
                </a:solidFill>
              </a:rPr>
              <a:t>(communication between objects)</a:t>
            </a:r>
            <a:endParaRPr lang="en-US" altLang="en-US" sz="800" dirty="0">
              <a:solidFill>
                <a:srgbClr val="262626"/>
              </a:solidFill>
            </a:endParaRPr>
          </a:p>
          <a:p>
            <a:pPr lvl="1">
              <a:tabLst>
                <a:tab pos="860425" algn="l"/>
                <a:tab pos="1143000" algn="l"/>
                <a:tab pos="1431925" algn="l"/>
                <a:tab pos="3311525" algn="l"/>
                <a:tab pos="6630988" algn="l"/>
              </a:tabLst>
            </a:pPr>
            <a:r>
              <a:rPr lang="en-US" altLang="en-US" dirty="0">
                <a:solidFill>
                  <a:srgbClr val="404040"/>
                </a:solidFill>
              </a:rPr>
              <a:t>Command	Interpreter	Iterator</a:t>
            </a:r>
          </a:p>
          <a:p>
            <a:pPr lvl="1">
              <a:tabLst>
                <a:tab pos="860425" algn="l"/>
                <a:tab pos="1143000" algn="l"/>
                <a:tab pos="1431925" algn="l"/>
                <a:tab pos="3311525" algn="l"/>
                <a:tab pos="6630988" algn="l"/>
              </a:tabLst>
            </a:pPr>
            <a:r>
              <a:rPr lang="en-US" altLang="en-US" dirty="0">
                <a:solidFill>
                  <a:srgbClr val="404040"/>
                </a:solidFill>
              </a:rPr>
              <a:t>Mediator	Observer	State</a:t>
            </a:r>
          </a:p>
          <a:p>
            <a:pPr lvl="1">
              <a:tabLst>
                <a:tab pos="860425" algn="l"/>
                <a:tab pos="1143000" algn="l"/>
                <a:tab pos="1431925" algn="l"/>
                <a:tab pos="3311525" algn="l"/>
                <a:tab pos="6630988" algn="l"/>
              </a:tabLst>
            </a:pPr>
            <a:r>
              <a:rPr lang="en-US" altLang="en-US" dirty="0">
                <a:solidFill>
                  <a:srgbClr val="404040"/>
                </a:solidFill>
              </a:rPr>
              <a:t>Strategy	Chain of Responsibility	Visitor</a:t>
            </a:r>
          </a:p>
          <a:p>
            <a:pPr lvl="1">
              <a:tabLst>
                <a:tab pos="860425" algn="l"/>
                <a:tab pos="1143000" algn="l"/>
                <a:tab pos="1431925" algn="l"/>
                <a:tab pos="3311525" algn="l"/>
                <a:tab pos="6630988" algn="l"/>
              </a:tabLst>
            </a:pPr>
            <a:r>
              <a:rPr lang="en-US" altLang="en-US" dirty="0">
                <a:solidFill>
                  <a:srgbClr val="404040"/>
                </a:solidFill>
              </a:rPr>
              <a:t>Template Method</a:t>
            </a:r>
          </a:p>
        </p:txBody>
      </p:sp>
    </p:spTree>
    <p:extLst>
      <p:ext uri="{BB962C8B-B14F-4D97-AF65-F5344CB8AC3E}">
        <p14:creationId xmlns:p14="http://schemas.microsoft.com/office/powerpoint/2010/main" val="425642028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altLang="en-US"/>
              <a:t>Creational Patterns</a:t>
            </a:r>
            <a:endParaRPr lang="en-US" altLang="en-US" dirty="0"/>
          </a:p>
        </p:txBody>
      </p:sp>
      <p:sp>
        <p:nvSpPr>
          <p:cNvPr id="4" name="Rectangle 1"/>
          <p:cNvSpPr>
            <a:spLocks noGrp="1" noChangeArrowheads="1"/>
          </p:cNvSpPr>
          <p:nvPr>
            <p:ph idx="1"/>
          </p:nvPr>
        </p:nvSpPr>
        <p:spPr>
          <a:xfrm>
            <a:off x="2506134" y="2057400"/>
            <a:ext cx="7704667" cy="3942416"/>
          </a:xfrm>
        </p:spPr>
        <p:txBody>
          <a:bodyPr>
            <a:normAutofit/>
          </a:bodyPr>
          <a:lstStyle/>
          <a:p>
            <a:pPr lvl="0"/>
            <a:r>
              <a:rPr lang="en-US" altLang="en-US"/>
              <a:t>Purpose: Hide the creation logic rather than instantiating objects directly using the new operator.</a:t>
            </a:r>
          </a:p>
          <a:p>
            <a:pPr lvl="0"/>
            <a:r>
              <a:rPr lang="en-US" altLang="en-US"/>
              <a:t>Why it matters: Gives the program more flexibility in deciding which objects need to be created for a given use case.</a:t>
            </a:r>
          </a:p>
          <a:p>
            <a:pPr lvl="0"/>
            <a:r>
              <a:rPr lang="en-US" altLang="en-US"/>
              <a:t>Common Examples:</a:t>
            </a:r>
          </a:p>
          <a:p>
            <a:pPr lvl="1"/>
            <a:r>
              <a:rPr lang="en-US" altLang="en-US"/>
              <a:t>Singleton</a:t>
            </a:r>
          </a:p>
          <a:p>
            <a:pPr lvl="1"/>
            <a:r>
              <a:rPr lang="en-US" altLang="en-US"/>
              <a:t>Factory Method</a:t>
            </a:r>
          </a:p>
          <a:p>
            <a:pPr lvl="1"/>
            <a:r>
              <a:rPr lang="en-US" altLang="en-US"/>
              <a:t>Builder</a:t>
            </a:r>
            <a:endParaRPr lang="en-US" altLang="en-US" dirty="0"/>
          </a:p>
        </p:txBody>
      </p:sp>
    </p:spTree>
    <p:extLst>
      <p:ext uri="{BB962C8B-B14F-4D97-AF65-F5344CB8AC3E}">
        <p14:creationId xmlns:p14="http://schemas.microsoft.com/office/powerpoint/2010/main" val="246668902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Structural Patterns</a:t>
            </a:r>
          </a:p>
        </p:txBody>
      </p:sp>
      <p:sp>
        <p:nvSpPr>
          <p:cNvPr id="3" name="Content Placeholder 2"/>
          <p:cNvSpPr>
            <a:spLocks noGrp="1"/>
          </p:cNvSpPr>
          <p:nvPr>
            <p:ph idx="1"/>
          </p:nvPr>
        </p:nvSpPr>
        <p:spPr/>
        <p:txBody>
          <a:bodyPr>
            <a:normAutofit lnSpcReduction="10000"/>
          </a:bodyPr>
          <a:lstStyle/>
          <a:p>
            <a:r>
              <a:rPr lang="en-US" b="1" dirty="0"/>
              <a:t>Purpose:</a:t>
            </a:r>
            <a:r>
              <a:rPr lang="en-US" dirty="0"/>
              <a:t> Explain how to assemble objects and classes into larger structures while keeping these structures flexible and efficient.</a:t>
            </a:r>
          </a:p>
          <a:p>
            <a:r>
              <a:rPr lang="en-US" b="1" dirty="0"/>
              <a:t>Focus:</a:t>
            </a:r>
            <a:r>
              <a:rPr lang="en-US" dirty="0"/>
              <a:t> Interfaces and inheritance.</a:t>
            </a:r>
          </a:p>
          <a:p>
            <a:r>
              <a:rPr lang="en-US" b="1" dirty="0"/>
              <a:t>Common Examples:</a:t>
            </a:r>
            <a:endParaRPr lang="en-US" dirty="0"/>
          </a:p>
          <a:p>
            <a:pPr lvl="1"/>
            <a:r>
              <a:rPr lang="en-US" dirty="0"/>
              <a:t>Adapter</a:t>
            </a:r>
          </a:p>
          <a:p>
            <a:pPr lvl="1"/>
            <a:r>
              <a:rPr lang="en-US" dirty="0"/>
              <a:t>Decorator</a:t>
            </a:r>
          </a:p>
          <a:p>
            <a:pPr lvl="1"/>
            <a:r>
              <a:rPr lang="en-US" dirty="0"/>
              <a:t>Facade</a:t>
            </a:r>
          </a:p>
        </p:txBody>
      </p:sp>
    </p:spTree>
    <p:extLst>
      <p:ext uri="{BB962C8B-B14F-4D97-AF65-F5344CB8AC3E}">
        <p14:creationId xmlns:p14="http://schemas.microsoft.com/office/powerpoint/2010/main" val="106979180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Behavioral Patterns</a:t>
            </a:r>
          </a:p>
        </p:txBody>
      </p:sp>
      <p:sp>
        <p:nvSpPr>
          <p:cNvPr id="3" name="Content Placeholder 2"/>
          <p:cNvSpPr>
            <a:spLocks noGrp="1"/>
          </p:cNvSpPr>
          <p:nvPr>
            <p:ph idx="1"/>
          </p:nvPr>
        </p:nvSpPr>
        <p:spPr/>
        <p:txBody>
          <a:bodyPr>
            <a:normAutofit lnSpcReduction="10000"/>
          </a:bodyPr>
          <a:lstStyle/>
          <a:p>
            <a:r>
              <a:rPr lang="en-US" b="1" dirty="0"/>
              <a:t>Purpose:</a:t>
            </a:r>
            <a:r>
              <a:rPr lang="en-US" dirty="0"/>
              <a:t> Concerned with algorithms and the assignment of responsibilities between objects.</a:t>
            </a:r>
          </a:p>
          <a:p>
            <a:r>
              <a:rPr lang="en-US" b="1" dirty="0"/>
              <a:t>Focus:</a:t>
            </a:r>
            <a:r>
              <a:rPr lang="en-US" dirty="0"/>
              <a:t> How objects communicate and cooperate to perform a task.</a:t>
            </a:r>
          </a:p>
          <a:p>
            <a:r>
              <a:rPr lang="en-US" b="1" dirty="0"/>
              <a:t>Common Examples:</a:t>
            </a:r>
            <a:endParaRPr lang="en-US" dirty="0"/>
          </a:p>
          <a:p>
            <a:pPr lvl="1"/>
            <a:r>
              <a:rPr lang="en-US" dirty="0"/>
              <a:t>Observer</a:t>
            </a:r>
          </a:p>
          <a:p>
            <a:pPr lvl="1"/>
            <a:r>
              <a:rPr lang="en-US" dirty="0"/>
              <a:t>Strategy</a:t>
            </a:r>
          </a:p>
          <a:p>
            <a:pPr lvl="1"/>
            <a:r>
              <a:rPr lang="en-US" dirty="0"/>
              <a:t>Command</a:t>
            </a:r>
          </a:p>
        </p:txBody>
      </p:sp>
    </p:spTree>
    <p:extLst>
      <p:ext uri="{BB962C8B-B14F-4D97-AF65-F5344CB8AC3E}">
        <p14:creationId xmlns:p14="http://schemas.microsoft.com/office/powerpoint/2010/main" val="72592962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OOP Review</a:t>
            </a:r>
          </a:p>
        </p:txBody>
      </p:sp>
      <p:sp>
        <p:nvSpPr>
          <p:cNvPr id="3" name="Content Placeholder 2"/>
          <p:cNvSpPr>
            <a:spLocks noGrp="1"/>
          </p:cNvSpPr>
          <p:nvPr>
            <p:ph idx="1"/>
          </p:nvPr>
        </p:nvSpPr>
        <p:spPr/>
        <p:txBody>
          <a:bodyPr/>
          <a:lstStyle/>
          <a:p>
            <a:r>
              <a:rPr lang="en-US" dirty="0"/>
              <a:t>Abstract Method</a:t>
            </a:r>
          </a:p>
          <a:p>
            <a:r>
              <a:rPr lang="en-US" dirty="0"/>
              <a:t>Abstract class</a:t>
            </a:r>
          </a:p>
          <a:p>
            <a:r>
              <a:rPr lang="en-US" dirty="0"/>
              <a:t>Constructors</a:t>
            </a:r>
          </a:p>
          <a:p>
            <a:r>
              <a:rPr lang="en-US" dirty="0"/>
              <a:t>Concrete class</a:t>
            </a:r>
          </a:p>
          <a:p>
            <a:r>
              <a:rPr lang="en-US" dirty="0"/>
              <a:t>Interface</a:t>
            </a:r>
          </a:p>
        </p:txBody>
      </p:sp>
    </p:spTree>
    <p:extLst>
      <p:ext uri="{BB962C8B-B14F-4D97-AF65-F5344CB8AC3E}">
        <p14:creationId xmlns:p14="http://schemas.microsoft.com/office/powerpoint/2010/main" val="410246986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 method</a:t>
            </a:r>
          </a:p>
        </p:txBody>
      </p:sp>
      <p:sp>
        <p:nvSpPr>
          <p:cNvPr id="3" name="Content Placeholder 2"/>
          <p:cNvSpPr>
            <a:spLocks noGrp="1"/>
          </p:cNvSpPr>
          <p:nvPr>
            <p:ph idx="1"/>
          </p:nvPr>
        </p:nvSpPr>
        <p:spPr/>
        <p:txBody>
          <a:bodyPr/>
          <a:lstStyle/>
          <a:p>
            <a:pPr algn="just"/>
            <a:r>
              <a:rPr lang="en-US" dirty="0"/>
              <a:t>A </a:t>
            </a:r>
            <a:r>
              <a:rPr lang="en-US" b="1" dirty="0"/>
              <a:t>method</a:t>
            </a:r>
            <a:r>
              <a:rPr lang="en-US" dirty="0"/>
              <a:t> without body (no implementation) is known as </a:t>
            </a:r>
            <a:r>
              <a:rPr lang="en-US" b="1" dirty="0"/>
              <a:t>abstract method</a:t>
            </a:r>
            <a:r>
              <a:rPr lang="en-US" dirty="0"/>
              <a:t>. </a:t>
            </a:r>
          </a:p>
          <a:p>
            <a:pPr algn="just"/>
            <a:r>
              <a:rPr lang="en-US" dirty="0"/>
              <a:t>Abstract </a:t>
            </a:r>
            <a:r>
              <a:rPr lang="en-US" b="1" dirty="0"/>
              <a:t>method</a:t>
            </a:r>
            <a:r>
              <a:rPr lang="en-US" dirty="0"/>
              <a:t> must always be declared in an </a:t>
            </a:r>
            <a:r>
              <a:rPr lang="en-US" b="1" dirty="0"/>
              <a:t>abstract</a:t>
            </a:r>
            <a:r>
              <a:rPr lang="en-US" dirty="0"/>
              <a:t> class, or in other words you can say that if a class has an </a:t>
            </a:r>
            <a:r>
              <a:rPr lang="en-US" b="1" dirty="0"/>
              <a:t>abstract method</a:t>
            </a:r>
            <a:r>
              <a:rPr lang="en-US" dirty="0"/>
              <a:t>, it should be declared </a:t>
            </a:r>
            <a:r>
              <a:rPr lang="en-US" b="1" dirty="0"/>
              <a:t>abstract</a:t>
            </a:r>
            <a:r>
              <a:rPr lang="en-US" dirty="0"/>
              <a:t> as well.</a:t>
            </a:r>
          </a:p>
          <a:p>
            <a:pPr algn="just"/>
            <a:r>
              <a:rPr lang="en-US" b="1" dirty="0"/>
              <a:t>abstract</a:t>
            </a:r>
            <a:r>
              <a:rPr lang="en-US" dirty="0"/>
              <a:t> keyword is </a:t>
            </a:r>
            <a:r>
              <a:rPr lang="en-US" b="1" dirty="0"/>
              <a:t>used</a:t>
            </a:r>
            <a:r>
              <a:rPr lang="en-US" dirty="0"/>
              <a:t> to create an </a:t>
            </a:r>
            <a:r>
              <a:rPr lang="en-US" b="1" dirty="0"/>
              <a:t>abstract</a:t>
            </a:r>
            <a:r>
              <a:rPr lang="en-US" dirty="0"/>
              <a:t> class and </a:t>
            </a:r>
            <a:r>
              <a:rPr lang="en-US" b="1" dirty="0"/>
              <a:t>method</a:t>
            </a:r>
            <a:r>
              <a:rPr lang="en-US" dirty="0"/>
              <a:t>.</a:t>
            </a:r>
          </a:p>
        </p:txBody>
      </p:sp>
    </p:spTree>
    <p:extLst>
      <p:ext uri="{BB962C8B-B14F-4D97-AF65-F5344CB8AC3E}">
        <p14:creationId xmlns:p14="http://schemas.microsoft.com/office/powerpoint/2010/main" val="22447482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 Class</a:t>
            </a:r>
          </a:p>
        </p:txBody>
      </p:sp>
      <p:sp>
        <p:nvSpPr>
          <p:cNvPr id="3" name="Content Placeholder 2"/>
          <p:cNvSpPr>
            <a:spLocks noGrp="1"/>
          </p:cNvSpPr>
          <p:nvPr>
            <p:ph idx="1"/>
          </p:nvPr>
        </p:nvSpPr>
        <p:spPr/>
        <p:txBody>
          <a:bodyPr>
            <a:normAutofit/>
          </a:bodyPr>
          <a:lstStyle/>
          <a:p>
            <a:r>
              <a:rPr lang="en-US" dirty="0"/>
              <a:t>A class which is declared with the abstract keyword is known as an abstract class in Java. </a:t>
            </a:r>
          </a:p>
          <a:p>
            <a:r>
              <a:rPr lang="en-US" dirty="0"/>
              <a:t>It can have abstract and non-abstract methods (method with the body).</a:t>
            </a:r>
          </a:p>
          <a:p>
            <a:r>
              <a:rPr lang="en-US" dirty="0"/>
              <a:t>It can have final methods which will force the subclass not to change the body of the method.</a:t>
            </a:r>
          </a:p>
          <a:p>
            <a:endParaRPr lang="en-US" dirty="0"/>
          </a:p>
        </p:txBody>
      </p:sp>
    </p:spTree>
    <p:extLst>
      <p:ext uri="{BB962C8B-B14F-4D97-AF65-F5344CB8AC3E}">
        <p14:creationId xmlns:p14="http://schemas.microsoft.com/office/powerpoint/2010/main" val="406147715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506134" y="304800"/>
            <a:ext cx="7704667" cy="6553200"/>
          </a:xfrm>
        </p:spPr>
        <p:txBody>
          <a:bodyPr>
            <a:normAutofit fontScale="47500" lnSpcReduction="20000"/>
          </a:bodyPr>
          <a:lstStyle/>
          <a:p>
            <a:pPr marL="0" indent="0">
              <a:buNone/>
            </a:pPr>
            <a:r>
              <a:rPr lang="en-US" dirty="0"/>
              <a:t>// Abstract class</a:t>
            </a:r>
          </a:p>
          <a:p>
            <a:pPr marL="0" indent="0">
              <a:buNone/>
            </a:pPr>
            <a:r>
              <a:rPr lang="en-US" dirty="0"/>
              <a:t>abstract class Animal {</a:t>
            </a:r>
          </a:p>
          <a:p>
            <a:pPr marL="0" indent="0">
              <a:buNone/>
            </a:pPr>
            <a:r>
              <a:rPr lang="en-US" dirty="0"/>
              <a:t>  // Abstract method (does not have a body)</a:t>
            </a:r>
          </a:p>
          <a:p>
            <a:pPr marL="0" indent="0">
              <a:buNone/>
            </a:pPr>
            <a:r>
              <a:rPr lang="en-US" dirty="0"/>
              <a:t>  public abstract void </a:t>
            </a:r>
            <a:r>
              <a:rPr lang="en-US" dirty="0" err="1"/>
              <a:t>animalSound</a:t>
            </a:r>
            <a:r>
              <a:rPr lang="en-US" dirty="0"/>
              <a:t>();</a:t>
            </a:r>
          </a:p>
          <a:p>
            <a:pPr marL="0" indent="0">
              <a:buNone/>
            </a:pPr>
            <a:r>
              <a:rPr lang="en-US" dirty="0"/>
              <a:t>  </a:t>
            </a:r>
          </a:p>
          <a:p>
            <a:pPr marL="0" indent="0">
              <a:buNone/>
            </a:pPr>
            <a:r>
              <a:rPr lang="en-US" dirty="0"/>
              <a:t>  // Regular method</a:t>
            </a:r>
          </a:p>
          <a:p>
            <a:pPr marL="0" indent="0">
              <a:buNone/>
            </a:pPr>
            <a:r>
              <a:rPr lang="en-US" dirty="0"/>
              <a:t>  public void sleep() {</a:t>
            </a:r>
          </a:p>
          <a:p>
            <a:pPr marL="0" indent="0">
              <a:buNone/>
            </a:pPr>
            <a:r>
              <a:rPr lang="en-US" dirty="0"/>
              <a:t>    </a:t>
            </a:r>
            <a:r>
              <a:rPr lang="en-US" dirty="0" err="1"/>
              <a:t>System.out.println</a:t>
            </a:r>
            <a:r>
              <a:rPr lang="en-US" dirty="0"/>
              <a:t>("</a:t>
            </a:r>
            <a:r>
              <a:rPr lang="en-US" dirty="0" err="1"/>
              <a:t>Zzz</a:t>
            </a:r>
            <a:r>
              <a:rPr lang="en-US" dirty="0"/>
              <a:t>");</a:t>
            </a:r>
          </a:p>
          <a:p>
            <a:pPr marL="0" indent="0">
              <a:buNone/>
            </a:pPr>
            <a:r>
              <a:rPr lang="en-US" dirty="0"/>
              <a:t>  }</a:t>
            </a:r>
          </a:p>
          <a:p>
            <a:pPr marL="0" indent="0">
              <a:buNone/>
            </a:pPr>
            <a:r>
              <a:rPr lang="en-US" dirty="0"/>
              <a:t>}</a:t>
            </a:r>
          </a:p>
          <a:p>
            <a:pPr marL="0" indent="0">
              <a:buNone/>
            </a:pPr>
            <a:endParaRPr lang="en-US" dirty="0"/>
          </a:p>
          <a:p>
            <a:pPr marL="0" indent="0">
              <a:buNone/>
            </a:pPr>
            <a:r>
              <a:rPr lang="en-US" dirty="0"/>
              <a:t>// Subclass (inherit from Animal)</a:t>
            </a:r>
          </a:p>
          <a:p>
            <a:pPr marL="0" indent="0">
              <a:buNone/>
            </a:pPr>
            <a:r>
              <a:rPr lang="en-US" dirty="0"/>
              <a:t>class Dog extends Animal {</a:t>
            </a:r>
          </a:p>
          <a:p>
            <a:pPr marL="0" indent="0">
              <a:buNone/>
            </a:pPr>
            <a:r>
              <a:rPr lang="en-US" dirty="0"/>
              <a:t>  public void </a:t>
            </a:r>
            <a:r>
              <a:rPr lang="en-US" dirty="0" err="1"/>
              <a:t>animalSound</a:t>
            </a:r>
            <a:r>
              <a:rPr lang="en-US" dirty="0"/>
              <a:t>() {</a:t>
            </a:r>
          </a:p>
          <a:p>
            <a:pPr marL="0" indent="0">
              <a:buNone/>
            </a:pPr>
            <a:r>
              <a:rPr lang="en-US" dirty="0"/>
              <a:t>    // The body of </a:t>
            </a:r>
            <a:r>
              <a:rPr lang="en-US" dirty="0" err="1"/>
              <a:t>animalSound</a:t>
            </a:r>
            <a:r>
              <a:rPr lang="en-US" dirty="0"/>
              <a:t>() is provided here</a:t>
            </a:r>
          </a:p>
          <a:p>
            <a:pPr marL="0" indent="0">
              <a:buNone/>
            </a:pPr>
            <a:r>
              <a:rPr lang="en-US" dirty="0"/>
              <a:t>    </a:t>
            </a:r>
            <a:r>
              <a:rPr lang="en-US" dirty="0" err="1"/>
              <a:t>System.out.println</a:t>
            </a:r>
            <a:r>
              <a:rPr lang="en-US" dirty="0"/>
              <a:t>("The dog says: woof woof");</a:t>
            </a:r>
          </a:p>
          <a:p>
            <a:pPr marL="0" indent="0">
              <a:buNone/>
            </a:pPr>
            <a:r>
              <a:rPr lang="en-US" dirty="0"/>
              <a:t>  }</a:t>
            </a:r>
          </a:p>
          <a:p>
            <a:pPr marL="0" indent="0">
              <a:buNone/>
            </a:pPr>
            <a:r>
              <a:rPr lang="en-US" dirty="0"/>
              <a:t>}</a:t>
            </a:r>
          </a:p>
          <a:p>
            <a:pPr marL="0" indent="0">
              <a:buNone/>
            </a:pPr>
            <a:endParaRPr lang="en-US" dirty="0"/>
          </a:p>
          <a:p>
            <a:pPr marL="0" indent="0">
              <a:buNone/>
            </a:pPr>
            <a:r>
              <a:rPr lang="en-US" dirty="0"/>
              <a:t>class </a:t>
            </a:r>
            <a:r>
              <a:rPr lang="en-US" dirty="0" err="1"/>
              <a:t>MyMainClass</a:t>
            </a:r>
            <a:r>
              <a:rPr lang="en-US" dirty="0"/>
              <a:t> {</a:t>
            </a:r>
          </a:p>
          <a:p>
            <a:pPr marL="0" indent="0">
              <a:buNone/>
            </a:pPr>
            <a:r>
              <a:rPr lang="en-US" dirty="0"/>
              <a:t>  public static void main(String[] </a:t>
            </a:r>
            <a:r>
              <a:rPr lang="en-US" dirty="0" err="1"/>
              <a:t>args</a:t>
            </a:r>
            <a:r>
              <a:rPr lang="en-US" dirty="0"/>
              <a:t>) {</a:t>
            </a:r>
          </a:p>
          <a:p>
            <a:pPr marL="0" indent="0">
              <a:buNone/>
            </a:pPr>
            <a:r>
              <a:rPr lang="en-US" dirty="0"/>
              <a:t>    Dog </a:t>
            </a:r>
            <a:r>
              <a:rPr lang="en-US" dirty="0" err="1"/>
              <a:t>myDog</a:t>
            </a:r>
            <a:r>
              <a:rPr lang="en-US" dirty="0"/>
              <a:t> = new Dog(); // Create a Dog object</a:t>
            </a:r>
          </a:p>
          <a:p>
            <a:pPr marL="0" indent="0">
              <a:buNone/>
            </a:pPr>
            <a:r>
              <a:rPr lang="en-US" dirty="0"/>
              <a:t>    </a:t>
            </a:r>
            <a:r>
              <a:rPr lang="en-US" dirty="0" err="1"/>
              <a:t>myDog.animalSound</a:t>
            </a:r>
            <a:r>
              <a:rPr lang="en-US" dirty="0"/>
              <a:t>();</a:t>
            </a:r>
          </a:p>
          <a:p>
            <a:pPr marL="0" indent="0">
              <a:buNone/>
            </a:pPr>
            <a:r>
              <a:rPr lang="en-US" dirty="0"/>
              <a:t>    </a:t>
            </a:r>
            <a:r>
              <a:rPr lang="en-US" dirty="0" err="1"/>
              <a:t>myDog.sleep</a:t>
            </a:r>
            <a:r>
              <a:rPr lang="en-US" dirty="0"/>
              <a:t>();</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143971447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Constructor</a:t>
            </a:r>
          </a:p>
        </p:txBody>
      </p:sp>
      <p:sp>
        <p:nvSpPr>
          <p:cNvPr id="3" name="Content Placeholder 2"/>
          <p:cNvSpPr>
            <a:spLocks noGrp="1"/>
          </p:cNvSpPr>
          <p:nvPr>
            <p:ph idx="1"/>
          </p:nvPr>
        </p:nvSpPr>
        <p:spPr>
          <a:xfrm>
            <a:off x="2506134" y="2133600"/>
            <a:ext cx="7704667" cy="3866216"/>
          </a:xfrm>
        </p:spPr>
        <p:txBody>
          <a:bodyPr>
            <a:normAutofit fontScale="47500" lnSpcReduction="20000"/>
          </a:bodyPr>
          <a:lstStyle/>
          <a:p>
            <a:r>
              <a:rPr lang="en-US" dirty="0"/>
              <a:t>Constructor is a block of code that initializes the newly created object. </a:t>
            </a:r>
          </a:p>
          <a:p>
            <a:pPr marL="114300" indent="0">
              <a:buNone/>
            </a:pPr>
            <a:r>
              <a:rPr lang="en-US" dirty="0"/>
              <a:t>public class Hello </a:t>
            </a:r>
          </a:p>
          <a:p>
            <a:pPr marL="114300" indent="0">
              <a:buNone/>
            </a:pPr>
            <a:r>
              <a:rPr lang="en-US" dirty="0"/>
              <a:t>{ </a:t>
            </a:r>
          </a:p>
          <a:p>
            <a:pPr marL="114300" indent="0">
              <a:buNone/>
            </a:pPr>
            <a:r>
              <a:rPr lang="en-US" dirty="0"/>
              <a:t>String name; </a:t>
            </a:r>
          </a:p>
          <a:p>
            <a:pPr marL="114300" indent="0">
              <a:buNone/>
            </a:pPr>
            <a:r>
              <a:rPr lang="en-US" dirty="0"/>
              <a:t>//Constructor </a:t>
            </a:r>
          </a:p>
          <a:p>
            <a:pPr marL="114300" indent="0">
              <a:buNone/>
            </a:pPr>
            <a:r>
              <a:rPr lang="en-US" dirty="0"/>
              <a:t>Hello()</a:t>
            </a:r>
          </a:p>
          <a:p>
            <a:pPr marL="114300" indent="0">
              <a:buNone/>
            </a:pPr>
            <a:r>
              <a:rPr lang="en-US" dirty="0"/>
              <a:t>{ </a:t>
            </a:r>
          </a:p>
          <a:p>
            <a:pPr marL="114300" indent="0">
              <a:buNone/>
            </a:pPr>
            <a:r>
              <a:rPr lang="en-US" dirty="0"/>
              <a:t>this.name = "BeginnersBook.com"; </a:t>
            </a:r>
          </a:p>
          <a:p>
            <a:pPr marL="114300" indent="0">
              <a:buNone/>
            </a:pPr>
            <a:r>
              <a:rPr lang="en-US" dirty="0"/>
              <a:t>} </a:t>
            </a:r>
          </a:p>
          <a:p>
            <a:pPr marL="114300" indent="0">
              <a:buNone/>
            </a:pPr>
            <a:r>
              <a:rPr lang="en-US" dirty="0"/>
              <a:t>public static void main(String[] </a:t>
            </a:r>
            <a:r>
              <a:rPr lang="en-US" dirty="0" err="1"/>
              <a:t>args</a:t>
            </a:r>
            <a:r>
              <a:rPr lang="en-US" dirty="0"/>
              <a:t>) </a:t>
            </a:r>
          </a:p>
          <a:p>
            <a:pPr marL="114300" indent="0">
              <a:buNone/>
            </a:pPr>
            <a:r>
              <a:rPr lang="en-US" dirty="0"/>
              <a:t>{ </a:t>
            </a:r>
          </a:p>
          <a:p>
            <a:pPr marL="114300" indent="0">
              <a:buNone/>
            </a:pPr>
            <a:r>
              <a:rPr lang="en-US" dirty="0"/>
              <a:t>Hello </a:t>
            </a:r>
            <a:r>
              <a:rPr lang="en-US" dirty="0" err="1"/>
              <a:t>obj</a:t>
            </a:r>
            <a:r>
              <a:rPr lang="en-US" dirty="0"/>
              <a:t> = new Hello(); </a:t>
            </a:r>
          </a:p>
          <a:p>
            <a:pPr marL="114300" indent="0">
              <a:buNone/>
            </a:pPr>
            <a:r>
              <a:rPr lang="en-US" dirty="0" err="1"/>
              <a:t>System.out.println</a:t>
            </a:r>
            <a:r>
              <a:rPr lang="en-US" dirty="0"/>
              <a:t>(obj.name);</a:t>
            </a:r>
          </a:p>
          <a:p>
            <a:pPr marL="114300" indent="0">
              <a:buNone/>
            </a:pPr>
            <a:r>
              <a:rPr lang="en-US" dirty="0"/>
              <a:t> }</a:t>
            </a:r>
          </a:p>
          <a:p>
            <a:pPr marL="114300" indent="0">
              <a:buNone/>
            </a:pPr>
            <a:r>
              <a:rPr lang="en-US" dirty="0"/>
              <a:t> }</a:t>
            </a:r>
          </a:p>
        </p:txBody>
      </p:sp>
    </p:spTree>
    <p:extLst>
      <p:ext uri="{BB962C8B-B14F-4D97-AF65-F5344CB8AC3E}">
        <p14:creationId xmlns:p14="http://schemas.microsoft.com/office/powerpoint/2010/main" val="391257246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Concrete Class</a:t>
            </a:r>
          </a:p>
        </p:txBody>
      </p:sp>
      <p:sp>
        <p:nvSpPr>
          <p:cNvPr id="3" name="Content Placeholder 2"/>
          <p:cNvSpPr>
            <a:spLocks noGrp="1"/>
          </p:cNvSpPr>
          <p:nvPr>
            <p:ph idx="1"/>
          </p:nvPr>
        </p:nvSpPr>
        <p:spPr>
          <a:xfrm>
            <a:off x="1828801" y="2590800"/>
            <a:ext cx="4047067" cy="3332816"/>
          </a:xfrm>
        </p:spPr>
        <p:txBody>
          <a:bodyPr>
            <a:normAutofit fontScale="92500" lnSpcReduction="10000"/>
          </a:bodyPr>
          <a:lstStyle/>
          <a:p>
            <a:r>
              <a:rPr lang="en-US" dirty="0"/>
              <a:t>A </a:t>
            </a:r>
            <a:r>
              <a:rPr lang="en-US" b="1" dirty="0"/>
              <a:t>concrete class</a:t>
            </a:r>
            <a:r>
              <a:rPr lang="en-US" dirty="0"/>
              <a:t> is a </a:t>
            </a:r>
            <a:r>
              <a:rPr lang="en-US" b="1" dirty="0"/>
              <a:t>class</a:t>
            </a:r>
            <a:r>
              <a:rPr lang="en-US" dirty="0"/>
              <a:t> that has an implementation for all of its methods. </a:t>
            </a:r>
          </a:p>
          <a:p>
            <a:r>
              <a:rPr lang="en-US" dirty="0"/>
              <a:t>They cannot have any unimplemented methods. </a:t>
            </a:r>
          </a:p>
          <a:p>
            <a:r>
              <a:rPr lang="en-US" dirty="0"/>
              <a:t>It can also extend an abstract </a:t>
            </a:r>
            <a:r>
              <a:rPr lang="en-US" b="1" dirty="0"/>
              <a:t>class</a:t>
            </a:r>
            <a:r>
              <a:rPr lang="en-US" dirty="0"/>
              <a:t> or implement an interface as long as it implements all their methods.</a:t>
            </a:r>
          </a:p>
          <a:p>
            <a:pPr marL="114300" indent="0">
              <a:buNone/>
            </a:pPr>
            <a:endParaRPr lang="en-US" dirty="0"/>
          </a:p>
        </p:txBody>
      </p:sp>
      <p:pic>
        <p:nvPicPr>
          <p:cNvPr id="2050" name="Picture 2" descr="C:\Users\22ad\Desktop\concrete-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2352209"/>
            <a:ext cx="4114800" cy="3809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167258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E7A115-3C47-4DC8-AA12-E2967192B3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1" y="152401"/>
            <a:ext cx="4348461" cy="4495800"/>
          </a:xfrm>
          <a:prstGeom prst="rect">
            <a:avLst/>
          </a:prstGeom>
        </p:spPr>
      </p:pic>
      <p:pic>
        <p:nvPicPr>
          <p:cNvPr id="5" name="Picture 4">
            <a:extLst>
              <a:ext uri="{FF2B5EF4-FFF2-40B4-BE49-F238E27FC236}">
                <a16:creationId xmlns:a16="http://schemas.microsoft.com/office/drawing/2014/main" id="{A0C410D3-BF47-49AF-AB92-A29D7433B1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0" y="4648202"/>
            <a:ext cx="4391638" cy="2410161"/>
          </a:xfrm>
          <a:prstGeom prst="rect">
            <a:avLst/>
          </a:prstGeom>
        </p:spPr>
      </p:pic>
    </p:spTree>
    <p:extLst>
      <p:ext uri="{BB962C8B-B14F-4D97-AF65-F5344CB8AC3E}">
        <p14:creationId xmlns:p14="http://schemas.microsoft.com/office/powerpoint/2010/main" val="232156802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Concrete Method</a:t>
            </a:r>
          </a:p>
        </p:txBody>
      </p:sp>
      <p:sp>
        <p:nvSpPr>
          <p:cNvPr id="3" name="Content Placeholder 2"/>
          <p:cNvSpPr>
            <a:spLocks noGrp="1"/>
          </p:cNvSpPr>
          <p:nvPr>
            <p:ph idx="1"/>
          </p:nvPr>
        </p:nvSpPr>
        <p:spPr/>
        <p:txBody>
          <a:bodyPr/>
          <a:lstStyle/>
          <a:p>
            <a:r>
              <a:rPr lang="en-US" dirty="0"/>
              <a:t>A </a:t>
            </a:r>
            <a:r>
              <a:rPr lang="en-US" b="1" dirty="0"/>
              <a:t>concrete method</a:t>
            </a:r>
            <a:r>
              <a:rPr lang="en-US" dirty="0"/>
              <a:t> means, the </a:t>
            </a:r>
            <a:r>
              <a:rPr lang="en-US" b="1" dirty="0"/>
              <a:t>method</a:t>
            </a:r>
            <a:r>
              <a:rPr lang="en-US" dirty="0"/>
              <a:t> has complete definition but it can be overridden in the inherited class. </a:t>
            </a:r>
          </a:p>
          <a:p>
            <a:r>
              <a:rPr lang="en-US" dirty="0"/>
              <a:t>If we make this </a:t>
            </a:r>
            <a:r>
              <a:rPr lang="en-US" b="1" dirty="0"/>
              <a:t>method</a:t>
            </a:r>
            <a:r>
              <a:rPr lang="en-US" dirty="0"/>
              <a:t> "final" then it can not be overridden.</a:t>
            </a:r>
          </a:p>
          <a:p>
            <a:r>
              <a:rPr lang="en-US" dirty="0"/>
              <a:t>Declaring a </a:t>
            </a:r>
            <a:r>
              <a:rPr lang="en-US" b="1" dirty="0"/>
              <a:t>method</a:t>
            </a:r>
            <a:r>
              <a:rPr lang="en-US" dirty="0"/>
              <a:t> or class "final" means its implementation is complete.</a:t>
            </a:r>
          </a:p>
        </p:txBody>
      </p:sp>
    </p:spTree>
    <p:extLst>
      <p:ext uri="{BB962C8B-B14F-4D97-AF65-F5344CB8AC3E}">
        <p14:creationId xmlns:p14="http://schemas.microsoft.com/office/powerpoint/2010/main" val="147937647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506134" y="609600"/>
            <a:ext cx="10905067" cy="6477000"/>
          </a:xfrm>
        </p:spPr>
        <p:txBody>
          <a:bodyPr>
            <a:normAutofit fontScale="47500" lnSpcReduction="20000"/>
          </a:bodyPr>
          <a:lstStyle/>
          <a:p>
            <a:pPr marL="0" indent="0">
              <a:buNone/>
            </a:pPr>
            <a:r>
              <a:rPr lang="en-US" dirty="0"/>
              <a:t>// Abstract class</a:t>
            </a:r>
          </a:p>
          <a:p>
            <a:pPr marL="0" indent="0">
              <a:buNone/>
            </a:pPr>
            <a:r>
              <a:rPr lang="en-US" dirty="0"/>
              <a:t>abstract class Animal {</a:t>
            </a:r>
          </a:p>
          <a:p>
            <a:pPr marL="0" indent="0">
              <a:buNone/>
            </a:pPr>
            <a:r>
              <a:rPr lang="en-US" dirty="0"/>
              <a:t>  // Abstract method (does not have a body)</a:t>
            </a:r>
          </a:p>
          <a:p>
            <a:pPr marL="0" indent="0">
              <a:buNone/>
            </a:pPr>
            <a:r>
              <a:rPr lang="en-US" dirty="0"/>
              <a:t>  public abstract void </a:t>
            </a:r>
            <a:r>
              <a:rPr lang="en-US" dirty="0" err="1"/>
              <a:t>animalSound</a:t>
            </a:r>
            <a:r>
              <a:rPr lang="en-US" dirty="0"/>
              <a:t>();</a:t>
            </a:r>
          </a:p>
          <a:p>
            <a:pPr marL="0" indent="0">
              <a:buNone/>
            </a:pPr>
            <a:r>
              <a:rPr lang="en-US" dirty="0"/>
              <a:t>  </a:t>
            </a:r>
          </a:p>
          <a:p>
            <a:pPr marL="0" indent="0">
              <a:buNone/>
            </a:pPr>
            <a:r>
              <a:rPr lang="en-US" dirty="0"/>
              <a:t>  // Regular method</a:t>
            </a:r>
          </a:p>
          <a:p>
            <a:pPr marL="0" indent="0">
              <a:buNone/>
            </a:pPr>
            <a:r>
              <a:rPr lang="en-US" dirty="0"/>
              <a:t>  public void sleep() {</a:t>
            </a:r>
          </a:p>
          <a:p>
            <a:pPr marL="0" indent="0">
              <a:buNone/>
            </a:pPr>
            <a:r>
              <a:rPr lang="en-US" dirty="0"/>
              <a:t>    </a:t>
            </a:r>
            <a:r>
              <a:rPr lang="en-US" dirty="0" err="1"/>
              <a:t>System.out.println</a:t>
            </a:r>
            <a:r>
              <a:rPr lang="en-US" dirty="0"/>
              <a:t>("</a:t>
            </a:r>
            <a:r>
              <a:rPr lang="en-US" dirty="0" err="1"/>
              <a:t>Zzz</a:t>
            </a:r>
            <a:r>
              <a:rPr lang="en-US" dirty="0"/>
              <a:t>");</a:t>
            </a:r>
          </a:p>
          <a:p>
            <a:pPr marL="0" indent="0">
              <a:buNone/>
            </a:pPr>
            <a:r>
              <a:rPr lang="en-US" dirty="0"/>
              <a:t>  }</a:t>
            </a:r>
          </a:p>
          <a:p>
            <a:pPr marL="0" indent="0">
              <a:buNone/>
            </a:pPr>
            <a:r>
              <a:rPr lang="en-US" dirty="0"/>
              <a:t>}</a:t>
            </a:r>
          </a:p>
          <a:p>
            <a:pPr marL="0" indent="0">
              <a:buNone/>
            </a:pPr>
            <a:endParaRPr lang="en-US" dirty="0"/>
          </a:p>
          <a:p>
            <a:pPr marL="0" indent="0">
              <a:buNone/>
            </a:pPr>
            <a:r>
              <a:rPr lang="en-US" dirty="0"/>
              <a:t>// Subclass (inherit from Animal)</a:t>
            </a:r>
          </a:p>
          <a:p>
            <a:pPr marL="0" indent="0">
              <a:buNone/>
            </a:pPr>
            <a:r>
              <a:rPr lang="en-US" dirty="0"/>
              <a:t>class Dog extends Animal {</a:t>
            </a:r>
          </a:p>
          <a:p>
            <a:pPr marL="0" indent="0">
              <a:buNone/>
            </a:pPr>
            <a:r>
              <a:rPr lang="en-US" dirty="0"/>
              <a:t>  public void </a:t>
            </a:r>
            <a:r>
              <a:rPr lang="en-US" dirty="0" err="1"/>
              <a:t>animalSound</a:t>
            </a:r>
            <a:r>
              <a:rPr lang="en-US" dirty="0"/>
              <a:t>() {</a:t>
            </a:r>
          </a:p>
          <a:p>
            <a:pPr marL="0" indent="0">
              <a:buNone/>
            </a:pPr>
            <a:r>
              <a:rPr lang="en-US" dirty="0"/>
              <a:t>    // The body of </a:t>
            </a:r>
            <a:r>
              <a:rPr lang="en-US" dirty="0" err="1"/>
              <a:t>animalSound</a:t>
            </a:r>
            <a:r>
              <a:rPr lang="en-US" dirty="0"/>
              <a:t>() is provided here</a:t>
            </a:r>
          </a:p>
          <a:p>
            <a:pPr marL="0" indent="0">
              <a:buNone/>
            </a:pPr>
            <a:r>
              <a:rPr lang="en-US" dirty="0"/>
              <a:t>    </a:t>
            </a:r>
            <a:r>
              <a:rPr lang="en-US" dirty="0" err="1"/>
              <a:t>System.out.println</a:t>
            </a:r>
            <a:r>
              <a:rPr lang="en-US" dirty="0"/>
              <a:t>("The dog says: woof woof");</a:t>
            </a:r>
          </a:p>
          <a:p>
            <a:pPr marL="0" indent="0">
              <a:buNone/>
            </a:pPr>
            <a:r>
              <a:rPr lang="en-US" dirty="0"/>
              <a:t>  }</a:t>
            </a:r>
          </a:p>
          <a:p>
            <a:pPr marL="0" indent="0">
              <a:buNone/>
            </a:pPr>
            <a:r>
              <a:rPr lang="en-US" dirty="0"/>
              <a:t>}</a:t>
            </a:r>
          </a:p>
          <a:p>
            <a:pPr marL="0" indent="0">
              <a:buNone/>
            </a:pPr>
            <a:endParaRPr lang="en-US" dirty="0"/>
          </a:p>
          <a:p>
            <a:pPr marL="0" indent="0">
              <a:buNone/>
            </a:pPr>
            <a:r>
              <a:rPr lang="en-US" dirty="0"/>
              <a:t>class </a:t>
            </a:r>
            <a:r>
              <a:rPr lang="en-US" dirty="0" err="1"/>
              <a:t>MyMainClass</a:t>
            </a:r>
            <a:r>
              <a:rPr lang="en-US" dirty="0"/>
              <a:t> {</a:t>
            </a:r>
          </a:p>
          <a:p>
            <a:pPr marL="0" indent="0">
              <a:buNone/>
            </a:pPr>
            <a:r>
              <a:rPr lang="en-US" dirty="0"/>
              <a:t>  public static void main(String[] </a:t>
            </a:r>
            <a:r>
              <a:rPr lang="en-US" dirty="0" err="1"/>
              <a:t>args</a:t>
            </a:r>
            <a:r>
              <a:rPr lang="en-US" dirty="0"/>
              <a:t>) {</a:t>
            </a:r>
          </a:p>
          <a:p>
            <a:pPr marL="0" indent="0">
              <a:buNone/>
            </a:pPr>
            <a:r>
              <a:rPr lang="en-US" dirty="0"/>
              <a:t>    Dog </a:t>
            </a:r>
            <a:r>
              <a:rPr lang="en-US" dirty="0" err="1"/>
              <a:t>myDog</a:t>
            </a:r>
            <a:r>
              <a:rPr lang="en-US" dirty="0"/>
              <a:t> = new Dog(); // Create a Dog object</a:t>
            </a:r>
          </a:p>
          <a:p>
            <a:pPr marL="0" indent="0">
              <a:buNone/>
            </a:pPr>
            <a:r>
              <a:rPr lang="en-US" dirty="0"/>
              <a:t>    </a:t>
            </a:r>
            <a:r>
              <a:rPr lang="en-US" dirty="0" err="1"/>
              <a:t>myDog.animalSound</a:t>
            </a:r>
            <a:r>
              <a:rPr lang="en-US" dirty="0"/>
              <a:t>();</a:t>
            </a:r>
          </a:p>
          <a:p>
            <a:pPr marL="0" indent="0">
              <a:buNone/>
            </a:pPr>
            <a:r>
              <a:rPr lang="en-US" dirty="0"/>
              <a:t>    </a:t>
            </a:r>
            <a:r>
              <a:rPr lang="en-US" dirty="0" err="1"/>
              <a:t>myDog.sleep</a:t>
            </a:r>
            <a:r>
              <a:rPr lang="en-US" dirty="0"/>
              <a:t>();</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198314843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Interface</a:t>
            </a:r>
          </a:p>
        </p:txBody>
      </p:sp>
      <p:sp>
        <p:nvSpPr>
          <p:cNvPr id="3" name="Content Placeholder 2"/>
          <p:cNvSpPr>
            <a:spLocks noGrp="1"/>
          </p:cNvSpPr>
          <p:nvPr>
            <p:ph idx="1"/>
          </p:nvPr>
        </p:nvSpPr>
        <p:spPr/>
        <p:txBody>
          <a:bodyPr/>
          <a:lstStyle/>
          <a:p>
            <a:r>
              <a:rPr lang="en-US" dirty="0"/>
              <a:t>An </a:t>
            </a:r>
            <a:r>
              <a:rPr lang="en-US" b="1" dirty="0"/>
              <a:t>interface</a:t>
            </a:r>
            <a:r>
              <a:rPr lang="en-US" dirty="0"/>
              <a:t> is similar to class. </a:t>
            </a:r>
          </a:p>
          <a:p>
            <a:r>
              <a:rPr lang="en-US" dirty="0"/>
              <a:t>It is a collection of abstract methods. </a:t>
            </a:r>
          </a:p>
          <a:p>
            <a:r>
              <a:rPr lang="en-US" dirty="0"/>
              <a:t>A class implements an </a:t>
            </a:r>
            <a:r>
              <a:rPr lang="en-US" b="1" dirty="0"/>
              <a:t>interface</a:t>
            </a:r>
            <a:r>
              <a:rPr lang="en-US" dirty="0"/>
              <a:t>, thereby inheriting the abstract methods of the </a:t>
            </a:r>
            <a:r>
              <a:rPr lang="en-US" b="1" dirty="0"/>
              <a:t>interface</a:t>
            </a:r>
            <a:r>
              <a:rPr lang="en-US" dirty="0"/>
              <a:t>.</a:t>
            </a:r>
          </a:p>
          <a:p>
            <a:r>
              <a:rPr lang="en-US" dirty="0"/>
              <a:t>an </a:t>
            </a:r>
            <a:r>
              <a:rPr lang="en-US" b="1" dirty="0"/>
              <a:t>interface</a:t>
            </a:r>
            <a:r>
              <a:rPr lang="en-US" dirty="0"/>
              <a:t> may inherit multiple </a:t>
            </a:r>
            <a:r>
              <a:rPr lang="en-US" b="1" dirty="0"/>
              <a:t>interfaces</a:t>
            </a:r>
            <a:r>
              <a:rPr lang="en-US" dirty="0"/>
              <a:t> and a class may implement multiple </a:t>
            </a:r>
            <a:r>
              <a:rPr lang="en-US" b="1" dirty="0"/>
              <a:t>interfaces</a:t>
            </a:r>
            <a:r>
              <a:rPr lang="en-US" dirty="0"/>
              <a:t>.</a:t>
            </a:r>
          </a:p>
        </p:txBody>
      </p:sp>
    </p:spTree>
    <p:extLst>
      <p:ext uri="{BB962C8B-B14F-4D97-AF65-F5344CB8AC3E}">
        <p14:creationId xmlns:p14="http://schemas.microsoft.com/office/powerpoint/2010/main" val="341102495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Interface</a:t>
            </a:r>
          </a:p>
        </p:txBody>
      </p:sp>
      <p:sp>
        <p:nvSpPr>
          <p:cNvPr id="3" name="Content Placeholder 2"/>
          <p:cNvSpPr>
            <a:spLocks noGrp="1"/>
          </p:cNvSpPr>
          <p:nvPr>
            <p:ph idx="1"/>
          </p:nvPr>
        </p:nvSpPr>
        <p:spPr/>
        <p:txBody>
          <a:bodyPr/>
          <a:lstStyle/>
          <a:p>
            <a:r>
              <a:rPr lang="en-US" dirty="0"/>
              <a:t>A </a:t>
            </a:r>
            <a:r>
              <a:rPr lang="en-US" b="1" dirty="0"/>
              <a:t>Java</a:t>
            </a:r>
            <a:r>
              <a:rPr lang="en-US" dirty="0"/>
              <a:t> class can only extend </a:t>
            </a:r>
            <a:r>
              <a:rPr lang="en-US" b="1" dirty="0"/>
              <a:t>one</a:t>
            </a:r>
            <a:r>
              <a:rPr lang="en-US" dirty="0"/>
              <a:t> parent class.</a:t>
            </a:r>
          </a:p>
          <a:p>
            <a:r>
              <a:rPr lang="en-US" dirty="0"/>
              <a:t> </a:t>
            </a:r>
            <a:r>
              <a:rPr lang="en-US" b="1" dirty="0"/>
              <a:t>Multiple</a:t>
            </a:r>
            <a:r>
              <a:rPr lang="en-US" dirty="0"/>
              <a:t> inheritance ( extends ) is not allowed. </a:t>
            </a:r>
          </a:p>
          <a:p>
            <a:r>
              <a:rPr lang="en-US" dirty="0"/>
              <a:t>Interfaces are not classes, however, and a class can </a:t>
            </a:r>
            <a:r>
              <a:rPr lang="en-US" b="1" dirty="0"/>
              <a:t>implement more than one interface</a:t>
            </a:r>
            <a:r>
              <a:rPr lang="en-US" dirty="0"/>
              <a:t>. </a:t>
            </a:r>
          </a:p>
          <a:p>
            <a:r>
              <a:rPr lang="en-US" dirty="0"/>
              <a:t>The parent interfaces are declared in a comma-separated list, after the implements keyword.</a:t>
            </a:r>
          </a:p>
          <a:p>
            <a:endParaRPr lang="en-US" dirty="0"/>
          </a:p>
        </p:txBody>
      </p:sp>
    </p:spTree>
    <p:extLst>
      <p:ext uri="{BB962C8B-B14F-4D97-AF65-F5344CB8AC3E}">
        <p14:creationId xmlns:p14="http://schemas.microsoft.com/office/powerpoint/2010/main" val="14468938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1"/>
            <a:ext cx="8229600" cy="6740307"/>
          </a:xfrm>
          <a:prstGeom prst="rect">
            <a:avLst/>
          </a:prstGeom>
        </p:spPr>
        <p:txBody>
          <a:bodyPr wrap="square">
            <a:spAutoFit/>
          </a:bodyPr>
          <a:lstStyle/>
          <a:p>
            <a:r>
              <a:rPr lang="en-US" dirty="0"/>
              <a:t>// Interface</a:t>
            </a:r>
          </a:p>
          <a:p>
            <a:r>
              <a:rPr lang="en-US" dirty="0"/>
              <a:t>interface Animal {</a:t>
            </a:r>
          </a:p>
          <a:p>
            <a:r>
              <a:rPr lang="en-US" dirty="0"/>
              <a:t>  public void </a:t>
            </a:r>
            <a:r>
              <a:rPr lang="en-US" dirty="0" err="1"/>
              <a:t>animalSound</a:t>
            </a:r>
            <a:r>
              <a:rPr lang="en-US" dirty="0"/>
              <a:t>(); // interface method (does not have a body)</a:t>
            </a:r>
          </a:p>
          <a:p>
            <a:r>
              <a:rPr lang="en-US" dirty="0"/>
              <a:t>  public void sleep(); // interface method (does not have a body)</a:t>
            </a:r>
          </a:p>
          <a:p>
            <a:r>
              <a:rPr lang="en-US" dirty="0"/>
              <a:t>}</a:t>
            </a:r>
          </a:p>
          <a:p>
            <a:r>
              <a:rPr lang="en-US" dirty="0"/>
              <a:t>// Dog "implements" the Animal interface</a:t>
            </a:r>
          </a:p>
          <a:p>
            <a:r>
              <a:rPr lang="en-US" dirty="0"/>
              <a:t>class Dog implements Animal {</a:t>
            </a:r>
          </a:p>
          <a:p>
            <a:r>
              <a:rPr lang="en-US" dirty="0"/>
              <a:t>  public void </a:t>
            </a:r>
            <a:r>
              <a:rPr lang="en-US" dirty="0" err="1"/>
              <a:t>animalSound</a:t>
            </a:r>
            <a:r>
              <a:rPr lang="en-US" dirty="0"/>
              <a:t>() {</a:t>
            </a:r>
          </a:p>
          <a:p>
            <a:r>
              <a:rPr lang="en-US" dirty="0"/>
              <a:t>    // The body of </a:t>
            </a:r>
            <a:r>
              <a:rPr lang="en-US" dirty="0" err="1"/>
              <a:t>animalSound</a:t>
            </a:r>
            <a:r>
              <a:rPr lang="en-US" dirty="0"/>
              <a:t>() is provided here</a:t>
            </a:r>
          </a:p>
          <a:p>
            <a:r>
              <a:rPr lang="en-US" dirty="0"/>
              <a:t>    </a:t>
            </a:r>
            <a:r>
              <a:rPr lang="en-US" dirty="0" err="1"/>
              <a:t>System.out.println</a:t>
            </a:r>
            <a:r>
              <a:rPr lang="en-US" dirty="0"/>
              <a:t>("The dog says: woof woof");</a:t>
            </a:r>
          </a:p>
          <a:p>
            <a:r>
              <a:rPr lang="en-US" dirty="0"/>
              <a:t>  }</a:t>
            </a:r>
          </a:p>
          <a:p>
            <a:r>
              <a:rPr lang="en-US" dirty="0"/>
              <a:t>  </a:t>
            </a:r>
          </a:p>
          <a:p>
            <a:r>
              <a:rPr lang="en-US" dirty="0"/>
              <a:t>  public void sleep() {</a:t>
            </a:r>
          </a:p>
          <a:p>
            <a:r>
              <a:rPr lang="en-US" dirty="0"/>
              <a:t>    // The body of sleep() is provided here</a:t>
            </a:r>
          </a:p>
          <a:p>
            <a:r>
              <a:rPr lang="en-US" dirty="0"/>
              <a:t>    </a:t>
            </a:r>
            <a:r>
              <a:rPr lang="en-US" dirty="0" err="1"/>
              <a:t>System.out.println</a:t>
            </a:r>
            <a:r>
              <a:rPr lang="en-US" dirty="0"/>
              <a:t>("</a:t>
            </a:r>
            <a:r>
              <a:rPr lang="en-US" dirty="0" err="1"/>
              <a:t>Zzz</a:t>
            </a:r>
            <a:r>
              <a:rPr lang="en-US" dirty="0"/>
              <a:t>");</a:t>
            </a:r>
          </a:p>
          <a:p>
            <a:r>
              <a:rPr lang="en-US" dirty="0"/>
              <a:t>  }</a:t>
            </a:r>
          </a:p>
          <a:p>
            <a:r>
              <a:rPr lang="en-US" dirty="0"/>
              <a:t>}</a:t>
            </a:r>
          </a:p>
          <a:p>
            <a:r>
              <a:rPr lang="en-US" dirty="0"/>
              <a:t>class </a:t>
            </a:r>
            <a:r>
              <a:rPr lang="en-US" dirty="0" err="1"/>
              <a:t>MyMainClass</a:t>
            </a:r>
            <a:r>
              <a:rPr lang="en-US" dirty="0"/>
              <a:t> {</a:t>
            </a:r>
          </a:p>
          <a:p>
            <a:r>
              <a:rPr lang="en-US" dirty="0"/>
              <a:t>  public static void main(String[] </a:t>
            </a:r>
            <a:r>
              <a:rPr lang="en-US" dirty="0" err="1"/>
              <a:t>args</a:t>
            </a:r>
            <a:r>
              <a:rPr lang="en-US" dirty="0"/>
              <a:t>) {</a:t>
            </a:r>
          </a:p>
          <a:p>
            <a:r>
              <a:rPr lang="en-US" dirty="0"/>
              <a:t>    Dog </a:t>
            </a:r>
            <a:r>
              <a:rPr lang="en-US" dirty="0" err="1"/>
              <a:t>myDog</a:t>
            </a:r>
            <a:r>
              <a:rPr lang="en-US" dirty="0"/>
              <a:t> = new Dog();  // Create a Dog object</a:t>
            </a:r>
          </a:p>
          <a:p>
            <a:r>
              <a:rPr lang="en-US" dirty="0"/>
              <a:t>    </a:t>
            </a:r>
            <a:r>
              <a:rPr lang="en-US" dirty="0" err="1"/>
              <a:t>myDog.animalSound</a:t>
            </a:r>
            <a:r>
              <a:rPr lang="en-US" dirty="0"/>
              <a:t>();</a:t>
            </a:r>
          </a:p>
          <a:p>
            <a:r>
              <a:rPr lang="en-US" dirty="0"/>
              <a:t>    </a:t>
            </a:r>
            <a:r>
              <a:rPr lang="en-US" dirty="0" err="1"/>
              <a:t>myDog.sleep</a:t>
            </a:r>
            <a:r>
              <a:rPr lang="en-US" dirty="0"/>
              <a:t>();</a:t>
            </a:r>
          </a:p>
          <a:p>
            <a:r>
              <a:rPr lang="en-US" dirty="0"/>
              <a:t>  }</a:t>
            </a:r>
          </a:p>
          <a:p>
            <a:r>
              <a:rPr lang="en-US" dirty="0"/>
              <a:t>}</a:t>
            </a:r>
          </a:p>
        </p:txBody>
      </p:sp>
    </p:spTree>
    <p:extLst>
      <p:ext uri="{BB962C8B-B14F-4D97-AF65-F5344CB8AC3E}">
        <p14:creationId xmlns:p14="http://schemas.microsoft.com/office/powerpoint/2010/main" val="122539553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lvl="0" eaLnBrk="0" fontAlgn="base" hangingPunct="0">
              <a:spcAft>
                <a:spcPct val="0"/>
              </a:spcAft>
            </a:pPr>
            <a:r>
              <a:rPr lang="en-US" altLang="en-US" sz="4800" b="1" dirty="0">
                <a:latin typeface="Arial" panose="020B0604020202020204" pitchFamily="34" charset="0"/>
              </a:rPr>
              <a:t>Real-world Analogy</a:t>
            </a:r>
          </a:p>
        </p:txBody>
      </p:sp>
      <p:sp>
        <p:nvSpPr>
          <p:cNvPr id="5" name="Rectangle 2"/>
          <p:cNvSpPr>
            <a:spLocks noGrp="1" noChangeArrowheads="1"/>
          </p:cNvSpPr>
          <p:nvPr>
            <p:ph idx="1"/>
          </p:nvPr>
        </p:nvSpPr>
        <p:spPr bwMode="auto">
          <a:xfrm>
            <a:off x="1981200" y="1876843"/>
            <a:ext cx="716280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marL="0" indent="0" eaLnBrk="0" fontAlgn="base" hangingPunct="0">
              <a:lnSpc>
                <a:spcPct val="100000"/>
              </a:lnSpc>
              <a:spcBef>
                <a:spcPct val="0"/>
              </a:spcBef>
              <a:spcAft>
                <a:spcPct val="0"/>
              </a:spcAft>
              <a:buFontTx/>
              <a:buChar char="•"/>
            </a:pPr>
            <a:r>
              <a:rPr lang="en-US" altLang="en-US" b="1" dirty="0">
                <a:latin typeface="Arial" panose="020B0604020202020204" pitchFamily="34" charset="0"/>
              </a:rPr>
              <a:t>Interface:</a:t>
            </a:r>
            <a:r>
              <a:rPr lang="en-US" altLang="en-US" dirty="0">
                <a:latin typeface="Arial" panose="020B0604020202020204" pitchFamily="34" charset="0"/>
              </a:rPr>
              <a:t> A vehicle should have </a:t>
            </a:r>
            <a:r>
              <a:rPr lang="en-US" altLang="en-US" dirty="0">
                <a:latin typeface="Arial Unicode MS"/>
              </a:rPr>
              <a:t>start()</a:t>
            </a:r>
            <a:r>
              <a:rPr lang="en-US" altLang="en-US" dirty="0"/>
              <a:t>, </a:t>
            </a:r>
            <a:r>
              <a:rPr lang="en-US" altLang="en-US" dirty="0">
                <a:latin typeface="Arial Unicode MS"/>
              </a:rPr>
              <a:t>stop()</a:t>
            </a:r>
            <a:r>
              <a:rPr lang="en-US" altLang="en-US" dirty="0"/>
              <a:t>, </a:t>
            </a:r>
            <a:r>
              <a:rPr lang="en-US" altLang="en-US" dirty="0">
                <a:latin typeface="Arial Unicode MS"/>
              </a:rPr>
              <a:t>drive()</a:t>
            </a:r>
            <a:r>
              <a:rPr lang="en-US" altLang="en-US" dirty="0"/>
              <a:t> methods — just rules.</a:t>
            </a:r>
            <a:endParaRPr lang="en-US" altLang="en-US" dirty="0">
              <a:latin typeface="Arial" panose="020B0604020202020204" pitchFamily="34" charset="0"/>
            </a:endParaRPr>
          </a:p>
          <a:p>
            <a:pPr marL="0" indent="0" eaLnBrk="0" fontAlgn="base" hangingPunct="0">
              <a:lnSpc>
                <a:spcPct val="100000"/>
              </a:lnSpc>
              <a:spcBef>
                <a:spcPct val="0"/>
              </a:spcBef>
              <a:spcAft>
                <a:spcPct val="0"/>
              </a:spcAft>
              <a:buFontTx/>
              <a:buChar char="•"/>
            </a:pPr>
            <a:r>
              <a:rPr lang="en-US" altLang="en-US" b="1" dirty="0">
                <a:latin typeface="Arial" panose="020B0604020202020204" pitchFamily="34" charset="0"/>
              </a:rPr>
              <a:t>Abstract Class:</a:t>
            </a:r>
            <a:r>
              <a:rPr lang="en-US" altLang="en-US" dirty="0">
                <a:latin typeface="Arial" panose="020B0604020202020204" pitchFamily="34" charset="0"/>
              </a:rPr>
              <a:t> A generic </a:t>
            </a:r>
            <a:r>
              <a:rPr lang="en-US" altLang="en-US" dirty="0">
                <a:latin typeface="Arial Unicode MS"/>
              </a:rPr>
              <a:t>Vehicle</a:t>
            </a:r>
            <a:r>
              <a:rPr lang="en-US" altLang="en-US" dirty="0"/>
              <a:t> class defines some common behavior (e.g., </a:t>
            </a:r>
            <a:r>
              <a:rPr lang="en-US" altLang="en-US" dirty="0" err="1">
                <a:latin typeface="Arial Unicode MS"/>
              </a:rPr>
              <a:t>fuelCapacity</a:t>
            </a:r>
            <a:r>
              <a:rPr lang="en-US" altLang="en-US" dirty="0"/>
              <a:t>) but leaves others like </a:t>
            </a:r>
            <a:r>
              <a:rPr lang="en-US" altLang="en-US" dirty="0">
                <a:latin typeface="Arial Unicode MS"/>
              </a:rPr>
              <a:t>drive()</a:t>
            </a:r>
            <a:r>
              <a:rPr lang="en-US" altLang="en-US" dirty="0"/>
              <a:t> to be defined by specific vehicles.</a:t>
            </a:r>
            <a:endParaRPr lang="en-US" altLang="en-US" dirty="0">
              <a:latin typeface="Arial" panose="020B0604020202020204" pitchFamily="34" charset="0"/>
            </a:endParaRPr>
          </a:p>
          <a:p>
            <a:pPr marL="0" indent="0" eaLnBrk="0" fontAlgn="base" hangingPunct="0">
              <a:lnSpc>
                <a:spcPct val="100000"/>
              </a:lnSpc>
              <a:spcBef>
                <a:spcPct val="0"/>
              </a:spcBef>
              <a:spcAft>
                <a:spcPct val="0"/>
              </a:spcAft>
              <a:buFontTx/>
              <a:buChar char="•"/>
            </a:pPr>
            <a:r>
              <a:rPr lang="en-US" altLang="en-US" b="1" dirty="0">
                <a:latin typeface="Arial" panose="020B0604020202020204" pitchFamily="34" charset="0"/>
              </a:rPr>
              <a:t>Concrete Class:</a:t>
            </a:r>
            <a:r>
              <a:rPr lang="en-US" altLang="en-US" dirty="0">
                <a:latin typeface="Arial" panose="020B0604020202020204" pitchFamily="34" charset="0"/>
              </a:rPr>
              <a:t> A </a:t>
            </a:r>
            <a:r>
              <a:rPr lang="en-US" altLang="en-US" dirty="0">
                <a:latin typeface="Arial Unicode MS"/>
              </a:rPr>
              <a:t>Car</a:t>
            </a:r>
            <a:r>
              <a:rPr lang="en-US" altLang="en-US" dirty="0"/>
              <a:t> or </a:t>
            </a:r>
            <a:r>
              <a:rPr lang="en-US" altLang="en-US" dirty="0">
                <a:latin typeface="Arial Unicode MS"/>
              </a:rPr>
              <a:t>Bike</a:t>
            </a:r>
            <a:r>
              <a:rPr lang="en-US" altLang="en-US" dirty="0"/>
              <a:t> class implements all the methods — you can now make actual car/bike objects from it.</a:t>
            </a:r>
            <a:endParaRPr lang="en-US" altLang="en-US" dirty="0">
              <a:latin typeface="Arial" panose="020B0604020202020204" pitchFamily="34" charset="0"/>
            </a:endParaRPr>
          </a:p>
          <a:p>
            <a:pPr marL="0" indent="0" eaLnBrk="0" fontAlgn="base" hangingPunct="0">
              <a:lnSpc>
                <a:spcPct val="100000"/>
              </a:lnSpc>
              <a:spcBef>
                <a:spcPct val="0"/>
              </a:spcBef>
              <a:spcAft>
                <a:spcPct val="0"/>
              </a:spcAft>
              <a:buNone/>
            </a:pPr>
            <a:endParaRPr lang="en-US" altLang="en-US" sz="1800" dirty="0">
              <a:latin typeface="Arial" panose="020B0604020202020204" pitchFamily="34" charset="0"/>
            </a:endParaRPr>
          </a:p>
        </p:txBody>
      </p:sp>
    </p:spTree>
    <p:extLst>
      <p:ext uri="{BB962C8B-B14F-4D97-AF65-F5344CB8AC3E}">
        <p14:creationId xmlns:p14="http://schemas.microsoft.com/office/powerpoint/2010/main" val="358315334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67001" y="914402"/>
            <a:ext cx="7543800" cy="2133599"/>
          </a:xfrm>
        </p:spPr>
        <p:txBody>
          <a:bodyPr/>
          <a:lstStyle/>
          <a:p>
            <a:r>
              <a:rPr lang="en-US" dirty="0"/>
              <a:t>Factory Design Pattern</a:t>
            </a:r>
          </a:p>
        </p:txBody>
      </p:sp>
      <p:sp>
        <p:nvSpPr>
          <p:cNvPr id="3" name="Subtitle 2"/>
          <p:cNvSpPr>
            <a:spLocks noGrp="1"/>
          </p:cNvSpPr>
          <p:nvPr>
            <p:ph type="subTitle" idx="1"/>
          </p:nvPr>
        </p:nvSpPr>
        <p:spPr>
          <a:xfrm>
            <a:off x="4448239" y="5257801"/>
            <a:ext cx="5762563" cy="509397"/>
          </a:xfrm>
        </p:spPr>
        <p:txBody>
          <a:bodyPr/>
          <a:lstStyle/>
          <a:p>
            <a:r>
              <a:rPr lang="en-US" dirty="0"/>
              <a:t>Ms. Shehla Saeed</a:t>
            </a:r>
          </a:p>
        </p:txBody>
      </p:sp>
    </p:spTree>
    <p:extLst>
      <p:ext uri="{BB962C8B-B14F-4D97-AF65-F5344CB8AC3E}">
        <p14:creationId xmlns:p14="http://schemas.microsoft.com/office/powerpoint/2010/main" val="332834208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p:nvPr/>
        </p:nvSpPr>
        <p:spPr>
          <a:xfrm>
            <a:off x="2714625" y="1214438"/>
            <a:ext cx="5715000" cy="571500"/>
          </a:xfrm>
          <a:prstGeom prst="rect">
            <a:avLst/>
          </a:prstGeom>
          <a:noFill/>
          <a:ln/>
        </p:spPr>
        <p:txBody>
          <a:bodyPr wrap="square" rtlCol="0" anchor="ctr"/>
          <a:lstStyle/>
          <a:p>
            <a:r>
              <a:rPr lang="en-US" sz="1758" b="1" dirty="0">
                <a:solidFill>
                  <a:srgbClr val="333333"/>
                </a:solidFill>
                <a:latin typeface="OpenSans-Bold" pitchFamily="34" charset="0"/>
                <a:ea typeface="OpenSans-Bold" pitchFamily="34" charset="-122"/>
                <a:cs typeface="OpenSans-Bold" pitchFamily="34" charset="-120"/>
              </a:rPr>
              <a:t>Problem with Direct Object Creation</a:t>
            </a:r>
            <a:endParaRPr lang="en-US" sz="1758" dirty="0"/>
          </a:p>
        </p:txBody>
      </p:sp>
      <p:sp>
        <p:nvSpPr>
          <p:cNvPr id="4" name="Subtitle 1"/>
          <p:cNvSpPr/>
          <p:nvPr/>
        </p:nvSpPr>
        <p:spPr>
          <a:xfrm>
            <a:off x="2238375" y="2047875"/>
            <a:ext cx="5238750" cy="1428750"/>
          </a:xfrm>
          <a:prstGeom prst="rect">
            <a:avLst/>
          </a:prstGeom>
          <a:noFill/>
          <a:ln/>
        </p:spPr>
        <p:txBody>
          <a:bodyPr wrap="square" rtlCol="0" anchor="ctr"/>
          <a:lstStyle/>
          <a:p>
            <a:r>
              <a:rPr lang="en-US" sz="1285" b="1" dirty="0">
                <a:solidFill>
                  <a:srgbClr val="000000"/>
                </a:solidFill>
                <a:latin typeface="OpenSans-Bold" pitchFamily="34" charset="0"/>
                <a:ea typeface="OpenSans-Bold" pitchFamily="34" charset="-122"/>
                <a:cs typeface="OpenSans-Bold" pitchFamily="34" charset="-120"/>
              </a:rPr>
              <a:t>Tight Coupling in Code</a:t>
            </a:r>
            <a:endParaRPr lang="en-US" sz="1285" dirty="0"/>
          </a:p>
        </p:txBody>
      </p:sp>
      <p:sp>
        <p:nvSpPr>
          <p:cNvPr id="5" name="Paragraph 1"/>
          <p:cNvSpPr/>
          <p:nvPr/>
        </p:nvSpPr>
        <p:spPr>
          <a:xfrm>
            <a:off x="2238375" y="2600325"/>
            <a:ext cx="5238750" cy="1428750"/>
          </a:xfrm>
          <a:prstGeom prst="rect">
            <a:avLst/>
          </a:prstGeom>
          <a:noFill/>
          <a:ln/>
        </p:spPr>
        <p:txBody>
          <a:bodyPr wrap="square" rtlCol="0" anchor="ctr"/>
          <a:lstStyle/>
          <a:p>
            <a:pPr algn="just"/>
            <a:r>
              <a:rPr lang="en-US" sz="1200" dirty="0">
                <a:solidFill>
                  <a:srgbClr val="000000"/>
                </a:solidFill>
                <a:latin typeface="OpenSans-Regular" pitchFamily="34" charset="0"/>
                <a:ea typeface="OpenSans-Regular" pitchFamily="34" charset="-122"/>
                <a:cs typeface="OpenSans-Regular" pitchFamily="34" charset="-120"/>
              </a:rPr>
              <a:t>When developers directly instantiate objects using the new keyword, the code becomes tightly coupled to specific classes. This makes it difficult to change implementations later, as multiple parts of the codebase may depend on concrete classes rather than abstractions.</a:t>
            </a:r>
            <a:endParaRPr lang="en-US" sz="1200" dirty="0"/>
          </a:p>
        </p:txBody>
      </p:sp>
      <p:sp>
        <p:nvSpPr>
          <p:cNvPr id="6" name="Subtitle 2"/>
          <p:cNvSpPr/>
          <p:nvPr/>
        </p:nvSpPr>
        <p:spPr>
          <a:xfrm>
            <a:off x="2238375" y="3381375"/>
            <a:ext cx="5238750" cy="1428750"/>
          </a:xfrm>
          <a:prstGeom prst="rect">
            <a:avLst/>
          </a:prstGeom>
          <a:noFill/>
          <a:ln/>
        </p:spPr>
        <p:txBody>
          <a:bodyPr wrap="square" rtlCol="0" anchor="ctr"/>
          <a:lstStyle/>
          <a:p>
            <a:r>
              <a:rPr lang="en-US" sz="1285" b="1" dirty="0">
                <a:solidFill>
                  <a:srgbClr val="000000"/>
                </a:solidFill>
                <a:latin typeface="OpenSans-Bold" pitchFamily="34" charset="0"/>
                <a:ea typeface="OpenSans-Bold" pitchFamily="34" charset="-122"/>
                <a:cs typeface="OpenSans-Bold" pitchFamily="34" charset="-120"/>
              </a:rPr>
              <a:t>Code Duplication and Maintenance Issues</a:t>
            </a:r>
            <a:endParaRPr lang="en-US" sz="1285" dirty="0"/>
          </a:p>
        </p:txBody>
      </p:sp>
      <p:sp>
        <p:nvSpPr>
          <p:cNvPr id="7" name="Paragraph 2"/>
          <p:cNvSpPr/>
          <p:nvPr/>
        </p:nvSpPr>
        <p:spPr>
          <a:xfrm>
            <a:off x="2238375" y="3876160"/>
            <a:ext cx="5238750" cy="1428750"/>
          </a:xfrm>
          <a:prstGeom prst="rect">
            <a:avLst/>
          </a:prstGeom>
          <a:noFill/>
          <a:ln/>
        </p:spPr>
        <p:txBody>
          <a:bodyPr wrap="square" rtlCol="0" anchor="ctr"/>
          <a:lstStyle/>
          <a:p>
            <a:r>
              <a:rPr lang="en-US" sz="1200" dirty="0">
                <a:solidFill>
                  <a:srgbClr val="000000"/>
                </a:solidFill>
                <a:latin typeface="OpenSans-Regular" pitchFamily="34" charset="0"/>
                <a:ea typeface="OpenSans-Regular" pitchFamily="34" charset="-122"/>
                <a:cs typeface="OpenSans-Regular" pitchFamily="34" charset="-120"/>
              </a:rPr>
              <a:t>Repeated object creation logic across different modules leads to duplication and inconsistency. If object creation changes, developers must update multiple locations, increasing the risk of bugs and making maintenance more complex and time-consuming</a:t>
            </a:r>
            <a:r>
              <a:rPr lang="en-US" sz="943" dirty="0">
                <a:solidFill>
                  <a:srgbClr val="000000"/>
                </a:solidFill>
                <a:latin typeface="OpenSans-Regular" pitchFamily="34" charset="0"/>
                <a:ea typeface="OpenSans-Regular" pitchFamily="34" charset="-122"/>
                <a:cs typeface="OpenSans-Regular" pitchFamily="34" charset="-120"/>
              </a:rPr>
              <a:t>.</a:t>
            </a:r>
            <a:endParaRPr lang="en-US" sz="943" dirty="0"/>
          </a:p>
        </p:txBody>
      </p:sp>
      <p:sp>
        <p:nvSpPr>
          <p:cNvPr id="8" name="Subtitle 3"/>
          <p:cNvSpPr/>
          <p:nvPr/>
        </p:nvSpPr>
        <p:spPr>
          <a:xfrm>
            <a:off x="2238375" y="4476750"/>
            <a:ext cx="5238750" cy="1428750"/>
          </a:xfrm>
          <a:prstGeom prst="rect">
            <a:avLst/>
          </a:prstGeom>
          <a:noFill/>
          <a:ln/>
        </p:spPr>
        <p:txBody>
          <a:bodyPr wrap="square" rtlCol="0" anchor="ctr"/>
          <a:lstStyle/>
          <a:p>
            <a:endParaRPr lang="en-US" sz="1285" b="1" dirty="0">
              <a:solidFill>
                <a:srgbClr val="000000"/>
              </a:solidFill>
              <a:latin typeface="OpenSans-Bold" pitchFamily="34" charset="0"/>
              <a:ea typeface="OpenSans-Bold" pitchFamily="34" charset="-122"/>
              <a:cs typeface="OpenSans-Bold" pitchFamily="34" charset="-120"/>
            </a:endParaRPr>
          </a:p>
          <a:p>
            <a:r>
              <a:rPr lang="en-US" sz="1285" b="1" dirty="0">
                <a:solidFill>
                  <a:srgbClr val="000000"/>
                </a:solidFill>
                <a:latin typeface="OpenSans-Bold" pitchFamily="34" charset="0"/>
                <a:ea typeface="OpenSans-Bold" pitchFamily="34" charset="-122"/>
                <a:cs typeface="OpenSans-Bold" pitchFamily="34" charset="-120"/>
              </a:rPr>
              <a:t>Limited Scalability</a:t>
            </a:r>
            <a:endParaRPr lang="en-US" sz="1285" dirty="0"/>
          </a:p>
        </p:txBody>
      </p:sp>
      <p:sp>
        <p:nvSpPr>
          <p:cNvPr id="9" name="Paragraph 3"/>
          <p:cNvSpPr/>
          <p:nvPr/>
        </p:nvSpPr>
        <p:spPr>
          <a:xfrm>
            <a:off x="2238375" y="5153025"/>
            <a:ext cx="5238750" cy="1428750"/>
          </a:xfrm>
          <a:prstGeom prst="rect">
            <a:avLst/>
          </a:prstGeom>
          <a:noFill/>
          <a:ln/>
        </p:spPr>
        <p:txBody>
          <a:bodyPr wrap="square" rtlCol="0" anchor="ctr"/>
          <a:lstStyle/>
          <a:p>
            <a:r>
              <a:rPr lang="en-US" sz="1200" dirty="0">
                <a:solidFill>
                  <a:srgbClr val="000000"/>
                </a:solidFill>
                <a:latin typeface="OpenSans-Regular" pitchFamily="34" charset="0"/>
                <a:ea typeface="OpenSans-Regular" pitchFamily="34" charset="-122"/>
                <a:cs typeface="OpenSans-Regular" pitchFamily="34" charset="-120"/>
              </a:rPr>
              <a:t>Adding new types or variations of objects requires modifying existing code, violating the Open/Closed Principle. This reduces flexibility and makes systems harder to extend as requirements evolve in real-world applications.</a:t>
            </a:r>
            <a:endParaRPr lang="en-US" sz="1200" dirty="0"/>
          </a:p>
        </p:txBody>
      </p:sp>
      <p:pic>
        <p:nvPicPr>
          <p:cNvPr id="10" name="Image" descr="preencoded.png"/>
          <p:cNvPicPr>
            <a:picLocks noChangeAspect="1"/>
          </p:cNvPicPr>
          <p:nvPr/>
        </p:nvPicPr>
        <p:blipFill>
          <a:blip r:embed="rId3"/>
          <a:stretch>
            <a:fillRect/>
          </a:stretch>
        </p:blipFill>
        <p:spPr>
          <a:xfrm>
            <a:off x="7762876" y="2190752"/>
            <a:ext cx="2752724" cy="3676649"/>
          </a:xfrm>
          <a:prstGeom prst="rect">
            <a:avLst/>
          </a:prstGeom>
        </p:spPr>
      </p:pic>
    </p:spTree>
    <p:extLst>
      <p:ext uri="{BB962C8B-B14F-4D97-AF65-F5344CB8AC3E}">
        <p14:creationId xmlns:p14="http://schemas.microsoft.com/office/powerpoint/2010/main" val="228825788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p:nvPr/>
        </p:nvSpPr>
        <p:spPr>
          <a:xfrm>
            <a:off x="2714625" y="1214438"/>
            <a:ext cx="5715000" cy="571500"/>
          </a:xfrm>
          <a:prstGeom prst="rect">
            <a:avLst/>
          </a:prstGeom>
          <a:noFill/>
          <a:ln/>
        </p:spPr>
        <p:txBody>
          <a:bodyPr wrap="square" rtlCol="0" anchor="ctr"/>
          <a:lstStyle/>
          <a:p>
            <a:r>
              <a:rPr lang="en-US" sz="1758" b="1" dirty="0">
                <a:solidFill>
                  <a:srgbClr val="333333"/>
                </a:solidFill>
                <a:latin typeface="OpenSans-Bold" pitchFamily="34" charset="0"/>
                <a:ea typeface="OpenSans-Bold" pitchFamily="34" charset="-122"/>
                <a:cs typeface="OpenSans-Bold" pitchFamily="34" charset="-120"/>
              </a:rPr>
              <a:t>What is the Factory Design Pattern?</a:t>
            </a:r>
            <a:endParaRPr lang="en-US" sz="1758" dirty="0"/>
          </a:p>
        </p:txBody>
      </p:sp>
      <p:sp>
        <p:nvSpPr>
          <p:cNvPr id="4" name="Subtitle 1"/>
          <p:cNvSpPr/>
          <p:nvPr/>
        </p:nvSpPr>
        <p:spPr>
          <a:xfrm>
            <a:off x="2238375" y="1957516"/>
            <a:ext cx="5238750" cy="1428750"/>
          </a:xfrm>
          <a:prstGeom prst="rect">
            <a:avLst/>
          </a:prstGeom>
          <a:noFill/>
          <a:ln/>
        </p:spPr>
        <p:txBody>
          <a:bodyPr wrap="square" rtlCol="0" anchor="ctr"/>
          <a:lstStyle/>
          <a:p>
            <a:r>
              <a:rPr lang="en-US" sz="1266" b="1" dirty="0">
                <a:solidFill>
                  <a:srgbClr val="000000"/>
                </a:solidFill>
                <a:latin typeface="OpenSans-Bold" pitchFamily="34" charset="0"/>
                <a:ea typeface="OpenSans-Bold" pitchFamily="34" charset="-122"/>
                <a:cs typeface="OpenSans-Bold" pitchFamily="34" charset="-120"/>
              </a:rPr>
              <a:t>Definition and Purpose</a:t>
            </a:r>
            <a:endParaRPr lang="en-US" sz="1266" dirty="0"/>
          </a:p>
        </p:txBody>
      </p:sp>
      <p:sp>
        <p:nvSpPr>
          <p:cNvPr id="5" name="Paragraph 1"/>
          <p:cNvSpPr/>
          <p:nvPr/>
        </p:nvSpPr>
        <p:spPr>
          <a:xfrm>
            <a:off x="2238375" y="2428875"/>
            <a:ext cx="6677025" cy="1428750"/>
          </a:xfrm>
          <a:prstGeom prst="rect">
            <a:avLst/>
          </a:prstGeom>
          <a:noFill/>
          <a:ln/>
        </p:spPr>
        <p:txBody>
          <a:bodyPr wrap="square" rtlCol="0" anchor="ctr"/>
          <a:lstStyle/>
          <a:p>
            <a:r>
              <a:rPr lang="en-US" sz="1200" dirty="0">
                <a:solidFill>
                  <a:srgbClr val="000000"/>
                </a:solidFill>
                <a:latin typeface="OpenSans-Regular" pitchFamily="34" charset="0"/>
                <a:ea typeface="OpenSans-Regular" pitchFamily="34" charset="-122"/>
                <a:cs typeface="OpenSans-Regular" pitchFamily="34" charset="-120"/>
              </a:rPr>
              <a:t>The Factory Design Pattern is a creational pattern that provides an interface for creating objects without specifying their exact class. It centralizes object creation logic, allowing the system to decide which class to instantiate at runtime.</a:t>
            </a:r>
            <a:endParaRPr lang="en-US" sz="1200" dirty="0"/>
          </a:p>
        </p:txBody>
      </p:sp>
      <p:sp>
        <p:nvSpPr>
          <p:cNvPr id="6" name="Subtitle 2"/>
          <p:cNvSpPr/>
          <p:nvPr/>
        </p:nvSpPr>
        <p:spPr>
          <a:xfrm>
            <a:off x="2238375" y="3324893"/>
            <a:ext cx="5238750" cy="1428750"/>
          </a:xfrm>
          <a:prstGeom prst="rect">
            <a:avLst/>
          </a:prstGeom>
          <a:noFill/>
          <a:ln/>
        </p:spPr>
        <p:txBody>
          <a:bodyPr wrap="square" rtlCol="0" anchor="ctr"/>
          <a:lstStyle/>
          <a:p>
            <a:r>
              <a:rPr lang="en-US" sz="1266" b="1" dirty="0">
                <a:solidFill>
                  <a:srgbClr val="000000"/>
                </a:solidFill>
                <a:latin typeface="OpenSans-Bold" pitchFamily="34" charset="0"/>
                <a:ea typeface="OpenSans-Bold" pitchFamily="34" charset="-122"/>
                <a:cs typeface="OpenSans-Bold" pitchFamily="34" charset="-120"/>
              </a:rPr>
              <a:t>Encapsulation of Object Creation</a:t>
            </a:r>
            <a:endParaRPr lang="en-US" sz="1266" dirty="0"/>
          </a:p>
        </p:txBody>
      </p:sp>
      <p:sp>
        <p:nvSpPr>
          <p:cNvPr id="7" name="Paragraph 2"/>
          <p:cNvSpPr/>
          <p:nvPr/>
        </p:nvSpPr>
        <p:spPr>
          <a:xfrm>
            <a:off x="2238375" y="3762375"/>
            <a:ext cx="6677024" cy="1428750"/>
          </a:xfrm>
          <a:prstGeom prst="rect">
            <a:avLst/>
          </a:prstGeom>
          <a:noFill/>
          <a:ln/>
        </p:spPr>
        <p:txBody>
          <a:bodyPr wrap="square" rtlCol="0" anchor="ctr"/>
          <a:lstStyle/>
          <a:p>
            <a:r>
              <a:rPr lang="en-US" sz="1200" dirty="0">
                <a:solidFill>
                  <a:srgbClr val="000000"/>
                </a:solidFill>
                <a:latin typeface="OpenSans-Regular" pitchFamily="34" charset="0"/>
                <a:ea typeface="OpenSans-Regular" pitchFamily="34" charset="-122"/>
                <a:cs typeface="OpenSans-Regular" pitchFamily="34" charset="-120"/>
              </a:rPr>
              <a:t>Instead of scattering object creation across the codebase, the factory pattern encapsulates it within a dedicated class or method. This promotes better organization and makes it easier to manage changes in object creation logic</a:t>
            </a:r>
            <a:r>
              <a:rPr lang="en-US" sz="972" dirty="0">
                <a:solidFill>
                  <a:srgbClr val="000000"/>
                </a:solidFill>
                <a:latin typeface="OpenSans-Regular" pitchFamily="34" charset="0"/>
                <a:ea typeface="OpenSans-Regular" pitchFamily="34" charset="-122"/>
                <a:cs typeface="OpenSans-Regular" pitchFamily="34" charset="-120"/>
              </a:rPr>
              <a:t>.</a:t>
            </a:r>
            <a:endParaRPr lang="en-US" sz="972" dirty="0"/>
          </a:p>
        </p:txBody>
      </p:sp>
      <p:sp>
        <p:nvSpPr>
          <p:cNvPr id="8" name="Subtitle 3"/>
          <p:cNvSpPr/>
          <p:nvPr/>
        </p:nvSpPr>
        <p:spPr>
          <a:xfrm>
            <a:off x="2238375" y="4386391"/>
            <a:ext cx="5238750" cy="1428750"/>
          </a:xfrm>
          <a:prstGeom prst="rect">
            <a:avLst/>
          </a:prstGeom>
          <a:noFill/>
          <a:ln/>
        </p:spPr>
        <p:txBody>
          <a:bodyPr wrap="square" rtlCol="0" anchor="ctr"/>
          <a:lstStyle/>
          <a:p>
            <a:r>
              <a:rPr lang="en-US" sz="1266" b="1" dirty="0">
                <a:solidFill>
                  <a:srgbClr val="000000"/>
                </a:solidFill>
                <a:latin typeface="OpenSans-Bold" pitchFamily="34" charset="0"/>
                <a:ea typeface="OpenSans-Bold" pitchFamily="34" charset="-122"/>
                <a:cs typeface="OpenSans-Bold" pitchFamily="34" charset="-120"/>
              </a:rPr>
              <a:t>Promoting Loose Coupling</a:t>
            </a:r>
            <a:endParaRPr lang="en-US" sz="1266" dirty="0"/>
          </a:p>
        </p:txBody>
      </p:sp>
      <p:sp>
        <p:nvSpPr>
          <p:cNvPr id="9" name="Paragraph 3"/>
          <p:cNvSpPr/>
          <p:nvPr/>
        </p:nvSpPr>
        <p:spPr>
          <a:xfrm>
            <a:off x="2238375" y="4857750"/>
            <a:ext cx="6448425" cy="1428750"/>
          </a:xfrm>
          <a:prstGeom prst="rect">
            <a:avLst/>
          </a:prstGeom>
          <a:noFill/>
          <a:ln/>
        </p:spPr>
        <p:txBody>
          <a:bodyPr wrap="square" rtlCol="0" anchor="ctr"/>
          <a:lstStyle/>
          <a:p>
            <a:r>
              <a:rPr lang="en-US" sz="1200" dirty="0">
                <a:solidFill>
                  <a:srgbClr val="000000"/>
                </a:solidFill>
                <a:latin typeface="OpenSans-Regular" pitchFamily="34" charset="0"/>
                <a:ea typeface="OpenSans-Regular" pitchFamily="34" charset="-122"/>
                <a:cs typeface="OpenSans-Regular" pitchFamily="34" charset="-120"/>
              </a:rPr>
              <a:t>By relying on interfaces or abstract classes, the factory pattern reduces dependencies on concrete implementations. This enables flexibility and supports better testing, scalability, and maintainability in large applications.</a:t>
            </a:r>
            <a:endParaRPr lang="en-US" sz="1200" dirty="0"/>
          </a:p>
        </p:txBody>
      </p:sp>
    </p:spTree>
    <p:extLst>
      <p:ext uri="{BB962C8B-B14F-4D97-AF65-F5344CB8AC3E}">
        <p14:creationId xmlns:p14="http://schemas.microsoft.com/office/powerpoint/2010/main" val="311600236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Usage of Factory Method</a:t>
            </a:r>
          </a:p>
        </p:txBody>
      </p:sp>
      <p:sp>
        <p:nvSpPr>
          <p:cNvPr id="3" name="Content Placeholder 2"/>
          <p:cNvSpPr>
            <a:spLocks noGrp="1"/>
          </p:cNvSpPr>
          <p:nvPr>
            <p:ph idx="1"/>
          </p:nvPr>
        </p:nvSpPr>
        <p:spPr/>
        <p:txBody>
          <a:bodyPr>
            <a:normAutofit/>
          </a:bodyPr>
          <a:lstStyle/>
          <a:p>
            <a:r>
              <a:rPr lang="en-US" dirty="0"/>
              <a:t>Factory Design pattern is based on </a:t>
            </a:r>
            <a:r>
              <a:rPr lang="en-US" b="1" dirty="0">
                <a:hlinkClick r:id="rId3"/>
              </a:rPr>
              <a:t>Encapsulation</a:t>
            </a:r>
            <a:r>
              <a:rPr lang="en-US" b="1" dirty="0"/>
              <a:t> </a:t>
            </a:r>
            <a:r>
              <a:rPr lang="en-US" dirty="0"/>
              <a:t>object oriented </a:t>
            </a:r>
            <a:r>
              <a:rPr lang="en-US" u="sng" dirty="0"/>
              <a:t>concept</a:t>
            </a:r>
            <a:r>
              <a:rPr lang="en-US" dirty="0"/>
              <a:t>.</a:t>
            </a:r>
          </a:p>
          <a:p>
            <a:r>
              <a:rPr lang="en-US" dirty="0"/>
              <a:t>Factory method is used to create different object from factory often refereed as Item and it encapsulate the creation code. So instead of having object creation code on client side we encapsulate inside </a:t>
            </a:r>
            <a:r>
              <a:rPr lang="en-US" b="1" dirty="0"/>
              <a:t>Factory method in Java</a:t>
            </a:r>
            <a:r>
              <a:rPr lang="en-US" dirty="0"/>
              <a:t>.</a:t>
            </a:r>
            <a:br>
              <a:rPr lang="en-US" dirty="0"/>
            </a:br>
            <a:br>
              <a:rPr lang="en-US" dirty="0"/>
            </a:br>
            <a:endParaRPr lang="en-US" dirty="0"/>
          </a:p>
        </p:txBody>
      </p:sp>
    </p:spTree>
    <p:extLst>
      <p:ext uri="{BB962C8B-B14F-4D97-AF65-F5344CB8AC3E}">
        <p14:creationId xmlns:p14="http://schemas.microsoft.com/office/powerpoint/2010/main" val="254640038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Factory method Pattern</a:t>
            </a:r>
          </a:p>
        </p:txBody>
      </p:sp>
      <p:sp>
        <p:nvSpPr>
          <p:cNvPr id="4" name="Content Placeholder 3"/>
          <p:cNvSpPr>
            <a:spLocks noGrp="1"/>
          </p:cNvSpPr>
          <p:nvPr>
            <p:ph idx="1"/>
          </p:nvPr>
        </p:nvSpPr>
        <p:spPr>
          <a:xfrm>
            <a:off x="2506134" y="2433919"/>
            <a:ext cx="7704667" cy="3332816"/>
          </a:xfrm>
        </p:spPr>
        <p:txBody>
          <a:bodyPr>
            <a:normAutofit/>
          </a:bodyPr>
          <a:lstStyle/>
          <a:p>
            <a:endParaRPr lang="en-US" b="1" dirty="0">
              <a:latin typeface="ui-sans-serif"/>
            </a:endParaRPr>
          </a:p>
          <a:p>
            <a:r>
              <a:rPr lang="en-US" b="1" dirty="0">
                <a:latin typeface="ui-sans-serif"/>
              </a:rPr>
              <a:t>Product (Interface / Abstract Class)</a:t>
            </a:r>
          </a:p>
          <a:p>
            <a:pPr lvl="1">
              <a:buFont typeface="Arial" panose="020B0604020202020204" pitchFamily="34" charset="0"/>
              <a:buChar char="•"/>
            </a:pPr>
            <a:r>
              <a:rPr lang="en-US" dirty="0">
                <a:latin typeface="ui-sans-serif"/>
              </a:rPr>
              <a:t>Defines the </a:t>
            </a:r>
            <a:r>
              <a:rPr lang="en-US" b="1" dirty="0">
                <a:latin typeface="ui-sans-serif"/>
              </a:rPr>
              <a:t>common interface</a:t>
            </a:r>
            <a:r>
              <a:rPr lang="en-US" dirty="0">
                <a:latin typeface="ui-sans-serif"/>
              </a:rPr>
              <a:t> for all objects the factory can create.</a:t>
            </a:r>
          </a:p>
          <a:p>
            <a:pPr lvl="1">
              <a:buFont typeface="Arial" panose="020B0604020202020204" pitchFamily="34" charset="0"/>
              <a:buChar char="•"/>
            </a:pPr>
            <a:r>
              <a:rPr lang="en-US" dirty="0">
                <a:latin typeface="ui-sans-serif"/>
              </a:rPr>
              <a:t>Ensures all products follow a consistent structure.</a:t>
            </a:r>
          </a:p>
          <a:p>
            <a:endParaRPr lang="en-US" dirty="0"/>
          </a:p>
        </p:txBody>
      </p:sp>
    </p:spTree>
    <p:extLst>
      <p:ext uri="{BB962C8B-B14F-4D97-AF65-F5344CB8AC3E}">
        <p14:creationId xmlns:p14="http://schemas.microsoft.com/office/powerpoint/2010/main" val="394907439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6134" y="457202"/>
            <a:ext cx="7704667" cy="1371599"/>
          </a:xfrm>
        </p:spPr>
        <p:txBody>
          <a:bodyPr/>
          <a:lstStyle/>
          <a:p>
            <a:r>
              <a:rPr lang="en-US" b="1" dirty="0"/>
              <a:t>Concrete Products</a:t>
            </a:r>
          </a:p>
        </p:txBody>
      </p:sp>
      <p:sp>
        <p:nvSpPr>
          <p:cNvPr id="3" name="Content Placeholder 2"/>
          <p:cNvSpPr>
            <a:spLocks noGrp="1"/>
          </p:cNvSpPr>
          <p:nvPr>
            <p:ph idx="1"/>
          </p:nvPr>
        </p:nvSpPr>
        <p:spPr>
          <a:xfrm>
            <a:off x="2506134" y="1828800"/>
            <a:ext cx="7704667" cy="4171016"/>
          </a:xfrm>
        </p:spPr>
        <p:txBody>
          <a:bodyPr>
            <a:normAutofit/>
          </a:bodyPr>
          <a:lstStyle/>
          <a:p>
            <a:pPr lvl="1"/>
            <a:r>
              <a:rPr lang="en-US" dirty="0"/>
              <a:t>These are the </a:t>
            </a:r>
            <a:r>
              <a:rPr lang="en-US" b="1" dirty="0"/>
              <a:t>actual implementations</a:t>
            </a:r>
            <a:r>
              <a:rPr lang="en-US" dirty="0"/>
              <a:t> of the Product. </a:t>
            </a:r>
          </a:p>
          <a:p>
            <a:pPr lvl="1"/>
            <a:r>
              <a:rPr lang="en-US" dirty="0"/>
              <a:t>Each class represents a specific type of object.</a:t>
            </a:r>
          </a:p>
        </p:txBody>
      </p:sp>
    </p:spTree>
    <p:extLst>
      <p:ext uri="{BB962C8B-B14F-4D97-AF65-F5344CB8AC3E}">
        <p14:creationId xmlns:p14="http://schemas.microsoft.com/office/powerpoint/2010/main" val="369709139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6134" y="457202"/>
            <a:ext cx="7704667" cy="1219199"/>
          </a:xfrm>
        </p:spPr>
        <p:txBody>
          <a:bodyPr>
            <a:normAutofit fontScale="90000"/>
          </a:bodyPr>
          <a:lstStyle/>
          <a:p>
            <a:pPr eaLnBrk="0" fontAlgn="base" hangingPunct="0">
              <a:spcAft>
                <a:spcPct val="0"/>
              </a:spcAft>
            </a:pPr>
            <a:r>
              <a:rPr lang="en-US" altLang="en-US" b="1" dirty="0">
                <a:ln>
                  <a:noFill/>
                </a:ln>
                <a:latin typeface="Arial" panose="020B0604020202020204" pitchFamily="34" charset="0"/>
              </a:rPr>
              <a:t>Creator (Factory Class / Factory Method)</a:t>
            </a:r>
          </a:p>
        </p:txBody>
      </p:sp>
      <p:sp>
        <p:nvSpPr>
          <p:cNvPr id="4" name="Rectangle 1"/>
          <p:cNvSpPr>
            <a:spLocks noGrp="1" noChangeArrowheads="1"/>
          </p:cNvSpPr>
          <p:nvPr>
            <p:ph idx="1"/>
          </p:nvPr>
        </p:nvSpPr>
        <p:spPr bwMode="auto">
          <a:xfrm>
            <a:off x="2474758" y="2743200"/>
            <a:ext cx="7476067"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marL="0" indent="0" eaLnBrk="0" fontAlgn="base" hangingPunct="0">
              <a:lnSpc>
                <a:spcPct val="100000"/>
              </a:lnSpc>
              <a:spcBef>
                <a:spcPct val="0"/>
              </a:spcBef>
              <a:spcAft>
                <a:spcPct val="0"/>
              </a:spcAft>
              <a:buNone/>
            </a:pPr>
            <a:endParaRPr lang="en-US" altLang="en-US" sz="1800" dirty="0">
              <a:latin typeface="Arial" panose="020B0604020202020204" pitchFamily="34" charset="0"/>
            </a:endParaRPr>
          </a:p>
          <a:p>
            <a:pPr marL="0" indent="0" eaLnBrk="0" fontAlgn="base" hangingPunct="0">
              <a:lnSpc>
                <a:spcPct val="100000"/>
              </a:lnSpc>
              <a:spcBef>
                <a:spcPct val="0"/>
              </a:spcBef>
              <a:spcAft>
                <a:spcPct val="0"/>
              </a:spcAft>
              <a:buFontTx/>
              <a:buChar char="•"/>
            </a:pPr>
            <a:r>
              <a:rPr lang="en-US" altLang="en-US" sz="1800" dirty="0">
                <a:latin typeface="Arial" panose="020B0604020202020204" pitchFamily="34" charset="0"/>
              </a:rPr>
              <a:t>Declares the factory method that returns a Product object. </a:t>
            </a:r>
          </a:p>
          <a:p>
            <a:pPr marL="0" indent="0" eaLnBrk="0" fontAlgn="base" hangingPunct="0">
              <a:lnSpc>
                <a:spcPct val="100000"/>
              </a:lnSpc>
              <a:spcBef>
                <a:spcPct val="0"/>
              </a:spcBef>
              <a:spcAft>
                <a:spcPct val="0"/>
              </a:spcAft>
              <a:buFontTx/>
              <a:buChar char="•"/>
            </a:pPr>
            <a:r>
              <a:rPr lang="en-US" altLang="en-US" sz="1800" dirty="0">
                <a:latin typeface="Arial" panose="020B0604020202020204" pitchFamily="34" charset="0"/>
              </a:rPr>
              <a:t>May provide a default implementation or leave it abstract. </a:t>
            </a:r>
          </a:p>
        </p:txBody>
      </p:sp>
    </p:spTree>
    <p:extLst>
      <p:ext uri="{BB962C8B-B14F-4D97-AF65-F5344CB8AC3E}">
        <p14:creationId xmlns:p14="http://schemas.microsoft.com/office/powerpoint/2010/main" val="375090800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Client</a:t>
            </a:r>
            <a:endParaRPr lang="en-US" dirty="0"/>
          </a:p>
        </p:txBody>
      </p:sp>
      <p:sp>
        <p:nvSpPr>
          <p:cNvPr id="6" name="Rectangle 3"/>
          <p:cNvSpPr>
            <a:spLocks noGrp="1" noChangeArrowheads="1"/>
          </p:cNvSpPr>
          <p:nvPr>
            <p:ph idx="1"/>
          </p:nvPr>
        </p:nvSpPr>
        <p:spPr bwMode="auto">
          <a:xfrm>
            <a:off x="2667001" y="2514601"/>
            <a:ext cx="6637867"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marL="0" indent="0" eaLnBrk="0" fontAlgn="base" hangingPunct="0">
              <a:lnSpc>
                <a:spcPct val="100000"/>
              </a:lnSpc>
              <a:spcBef>
                <a:spcPct val="0"/>
              </a:spcBef>
              <a:spcAft>
                <a:spcPct val="0"/>
              </a:spcAft>
              <a:buNone/>
            </a:pPr>
            <a:endParaRPr lang="en-US" altLang="en-US" sz="1800" dirty="0">
              <a:latin typeface="Arial" panose="020B0604020202020204" pitchFamily="34" charset="0"/>
            </a:endParaRPr>
          </a:p>
          <a:p>
            <a:pPr marL="0" indent="0" eaLnBrk="0" fontAlgn="base" hangingPunct="0">
              <a:lnSpc>
                <a:spcPct val="100000"/>
              </a:lnSpc>
              <a:spcBef>
                <a:spcPct val="0"/>
              </a:spcBef>
              <a:spcAft>
                <a:spcPct val="0"/>
              </a:spcAft>
              <a:buFontTx/>
              <a:buChar char="•"/>
            </a:pPr>
            <a:r>
              <a:rPr lang="en-US" altLang="en-US" sz="2000" dirty="0">
                <a:latin typeface="Arial" panose="020B0604020202020204" pitchFamily="34" charset="0"/>
              </a:rPr>
              <a:t>The class that uses the factory to create objects. </a:t>
            </a:r>
          </a:p>
          <a:p>
            <a:pPr marL="0" indent="0" eaLnBrk="0" fontAlgn="base" hangingPunct="0">
              <a:lnSpc>
                <a:spcPct val="100000"/>
              </a:lnSpc>
              <a:spcBef>
                <a:spcPct val="0"/>
              </a:spcBef>
              <a:spcAft>
                <a:spcPct val="0"/>
              </a:spcAft>
              <a:buFontTx/>
              <a:buChar char="•"/>
            </a:pPr>
            <a:r>
              <a:rPr lang="en-US" altLang="en-US" sz="2000" b="1" dirty="0">
                <a:latin typeface="Arial" panose="020B0604020202020204" pitchFamily="34" charset="0"/>
              </a:rPr>
              <a:t>Does NOT use </a:t>
            </a:r>
            <a:r>
              <a:rPr lang="en-US" altLang="en-US" sz="2000" b="1" i="1" dirty="0">
                <a:latin typeface="Arial Unicode MS"/>
              </a:rPr>
              <a:t>new</a:t>
            </a:r>
            <a:r>
              <a:rPr lang="en-US" altLang="en-US" sz="2000" b="1" dirty="0"/>
              <a:t>       directly</a:t>
            </a:r>
            <a:r>
              <a:rPr lang="en-US" altLang="en-US" sz="2000" dirty="0">
                <a:latin typeface="Arial" panose="020B0604020202020204" pitchFamily="34" charset="0"/>
              </a:rPr>
              <a:t> → relies on factory. </a:t>
            </a:r>
          </a:p>
        </p:txBody>
      </p:sp>
    </p:spTree>
    <p:extLst>
      <p:ext uri="{BB962C8B-B14F-4D97-AF65-F5344CB8AC3E}">
        <p14:creationId xmlns:p14="http://schemas.microsoft.com/office/powerpoint/2010/main" val="335999925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1026" name="Picture 2" descr="C:\Users\22ad\Desktop\factory_pattern_uml_diagram.jp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524000" y="152400"/>
            <a:ext cx="8458200" cy="601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32762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1 : Interface</a:t>
            </a:r>
          </a:p>
        </p:txBody>
      </p:sp>
      <p:sp>
        <p:nvSpPr>
          <p:cNvPr id="3" name="Content Placeholder 2"/>
          <p:cNvSpPr>
            <a:spLocks noGrp="1"/>
          </p:cNvSpPr>
          <p:nvPr>
            <p:ph idx="1"/>
          </p:nvPr>
        </p:nvSpPr>
        <p:spPr/>
        <p:txBody>
          <a:bodyPr>
            <a:normAutofit fontScale="92500" lnSpcReduction="10000"/>
          </a:bodyPr>
          <a:lstStyle/>
          <a:p>
            <a:pPr marL="114300" indent="0">
              <a:buNone/>
            </a:pPr>
            <a:br>
              <a:rPr lang="en-US" sz="2400" dirty="0"/>
            </a:br>
            <a:r>
              <a:rPr lang="en-US" sz="2400" dirty="0"/>
              <a:t>Create an interface.</a:t>
            </a:r>
            <a:endParaRPr lang="en-US" i="1" dirty="0"/>
          </a:p>
          <a:p>
            <a:pPr marL="114300" indent="0">
              <a:buNone/>
            </a:pPr>
            <a:r>
              <a:rPr lang="en-US" i="1" dirty="0">
                <a:solidFill>
                  <a:srgbClr val="0070C0"/>
                </a:solidFill>
              </a:rPr>
              <a:t>Shape.java</a:t>
            </a:r>
            <a:endParaRPr lang="en-US" dirty="0">
              <a:solidFill>
                <a:srgbClr val="0070C0"/>
              </a:solidFill>
            </a:endParaRPr>
          </a:p>
          <a:p>
            <a:pPr marL="114300" indent="0">
              <a:buNone/>
            </a:pPr>
            <a:r>
              <a:rPr lang="en-US" dirty="0">
                <a:solidFill>
                  <a:srgbClr val="0070C0"/>
                </a:solidFill>
              </a:rPr>
              <a:t>public interface Shape</a:t>
            </a:r>
          </a:p>
          <a:p>
            <a:pPr marL="114300" indent="0">
              <a:buNone/>
            </a:pPr>
            <a:r>
              <a:rPr lang="en-US" dirty="0">
                <a:solidFill>
                  <a:srgbClr val="0070C0"/>
                </a:solidFill>
              </a:rPr>
              <a:t> {</a:t>
            </a:r>
          </a:p>
          <a:p>
            <a:pPr marL="114300" indent="0">
              <a:buNone/>
            </a:pPr>
            <a:r>
              <a:rPr lang="en-US" dirty="0">
                <a:solidFill>
                  <a:srgbClr val="0070C0"/>
                </a:solidFill>
              </a:rPr>
              <a:t> void draw();</a:t>
            </a:r>
          </a:p>
          <a:p>
            <a:pPr marL="114300" indent="0">
              <a:buNone/>
            </a:pPr>
            <a:r>
              <a:rPr lang="en-US" dirty="0">
                <a:solidFill>
                  <a:srgbClr val="0070C0"/>
                </a:solidFill>
              </a:rPr>
              <a:t> }</a:t>
            </a:r>
          </a:p>
        </p:txBody>
      </p:sp>
    </p:spTree>
    <p:extLst>
      <p:ext uri="{BB962C8B-B14F-4D97-AF65-F5344CB8AC3E}">
        <p14:creationId xmlns:p14="http://schemas.microsoft.com/office/powerpoint/2010/main" val="370733905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Step 2: Concrete Classes</a:t>
            </a:r>
            <a:br>
              <a:rPr lang="en-US" dirty="0"/>
            </a:br>
            <a:endParaRPr lang="en-US" dirty="0"/>
          </a:p>
        </p:txBody>
      </p:sp>
      <p:sp>
        <p:nvSpPr>
          <p:cNvPr id="3" name="Content Placeholder 2"/>
          <p:cNvSpPr>
            <a:spLocks noGrp="1"/>
          </p:cNvSpPr>
          <p:nvPr>
            <p:ph idx="1"/>
          </p:nvPr>
        </p:nvSpPr>
        <p:spPr/>
        <p:txBody>
          <a:bodyPr>
            <a:normAutofit fontScale="70000" lnSpcReduction="20000"/>
          </a:bodyPr>
          <a:lstStyle/>
          <a:p>
            <a:r>
              <a:rPr lang="en-US" dirty="0"/>
              <a:t>Create concrete classes implementing the same interface.</a:t>
            </a:r>
          </a:p>
          <a:p>
            <a:pPr marL="114300" indent="0">
              <a:buNone/>
            </a:pPr>
            <a:r>
              <a:rPr lang="en-US" b="1" i="1" dirty="0">
                <a:solidFill>
                  <a:srgbClr val="0070C0"/>
                </a:solidFill>
              </a:rPr>
              <a:t>Rectangle.java</a:t>
            </a:r>
            <a:endParaRPr lang="en-US" b="1" dirty="0">
              <a:solidFill>
                <a:srgbClr val="0070C0"/>
              </a:solidFill>
            </a:endParaRPr>
          </a:p>
          <a:p>
            <a:pPr marL="114300" indent="0">
              <a:buNone/>
            </a:pPr>
            <a:r>
              <a:rPr lang="en-US" dirty="0">
                <a:solidFill>
                  <a:srgbClr val="0070C0"/>
                </a:solidFill>
              </a:rPr>
              <a:t>public class Rectangle implements Shape </a:t>
            </a:r>
          </a:p>
          <a:p>
            <a:pPr marL="114300" indent="0">
              <a:buNone/>
            </a:pPr>
            <a:r>
              <a:rPr lang="en-US" dirty="0">
                <a:solidFill>
                  <a:srgbClr val="0070C0"/>
                </a:solidFill>
              </a:rPr>
              <a:t>{ </a:t>
            </a:r>
          </a:p>
          <a:p>
            <a:pPr marL="114300" indent="0">
              <a:buNone/>
            </a:pPr>
            <a:r>
              <a:rPr lang="en-US" dirty="0">
                <a:solidFill>
                  <a:srgbClr val="0070C0"/>
                </a:solidFill>
              </a:rPr>
              <a:t>@Override public void draw()</a:t>
            </a:r>
          </a:p>
          <a:p>
            <a:pPr marL="114300" indent="0">
              <a:buNone/>
            </a:pPr>
            <a:r>
              <a:rPr lang="en-US" dirty="0">
                <a:solidFill>
                  <a:srgbClr val="0070C0"/>
                </a:solidFill>
              </a:rPr>
              <a:t> {</a:t>
            </a:r>
          </a:p>
          <a:p>
            <a:pPr marL="114300" indent="0">
              <a:buNone/>
            </a:pPr>
            <a:r>
              <a:rPr lang="en-US" dirty="0">
                <a:solidFill>
                  <a:srgbClr val="0070C0"/>
                </a:solidFill>
              </a:rPr>
              <a:t>      </a:t>
            </a:r>
            <a:r>
              <a:rPr lang="en-US" dirty="0" err="1">
                <a:solidFill>
                  <a:srgbClr val="0070C0"/>
                </a:solidFill>
              </a:rPr>
              <a:t>System.out.println</a:t>
            </a:r>
            <a:r>
              <a:rPr lang="en-US" dirty="0">
                <a:solidFill>
                  <a:srgbClr val="0070C0"/>
                </a:solidFill>
              </a:rPr>
              <a:t>("Inside Rectangle::draw() method."); </a:t>
            </a:r>
          </a:p>
          <a:p>
            <a:pPr marL="114300" indent="0">
              <a:buNone/>
            </a:pPr>
            <a:r>
              <a:rPr lang="en-US" dirty="0">
                <a:solidFill>
                  <a:srgbClr val="0070C0"/>
                </a:solidFill>
              </a:rPr>
              <a:t>} </a:t>
            </a:r>
          </a:p>
          <a:p>
            <a:pPr marL="114300" indent="0">
              <a:buNone/>
            </a:pPr>
            <a:r>
              <a:rPr lang="en-US" dirty="0">
                <a:solidFill>
                  <a:srgbClr val="0070C0"/>
                </a:solidFill>
              </a:rPr>
              <a:t>	}</a:t>
            </a:r>
          </a:p>
        </p:txBody>
      </p:sp>
    </p:spTree>
    <p:extLst>
      <p:ext uri="{BB962C8B-B14F-4D97-AF65-F5344CB8AC3E}">
        <p14:creationId xmlns:p14="http://schemas.microsoft.com/office/powerpoint/2010/main" val="413637680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a:t>
            </a:r>
          </a:p>
        </p:txBody>
      </p:sp>
      <p:sp>
        <p:nvSpPr>
          <p:cNvPr id="3" name="Content Placeholder 2"/>
          <p:cNvSpPr>
            <a:spLocks noGrp="1"/>
          </p:cNvSpPr>
          <p:nvPr>
            <p:ph idx="1"/>
          </p:nvPr>
        </p:nvSpPr>
        <p:spPr/>
        <p:txBody>
          <a:bodyPr>
            <a:normAutofit fontScale="92500" lnSpcReduction="10000"/>
          </a:bodyPr>
          <a:lstStyle/>
          <a:p>
            <a:pPr marL="114300" indent="0">
              <a:buNone/>
            </a:pPr>
            <a:r>
              <a:rPr lang="en-US" b="1" i="1" dirty="0">
                <a:solidFill>
                  <a:srgbClr val="0070C0"/>
                </a:solidFill>
              </a:rPr>
              <a:t>Square.java</a:t>
            </a:r>
            <a:endParaRPr lang="en-US" b="1" dirty="0">
              <a:solidFill>
                <a:srgbClr val="0070C0"/>
              </a:solidFill>
            </a:endParaRPr>
          </a:p>
          <a:p>
            <a:pPr marL="114300" indent="0">
              <a:buNone/>
            </a:pPr>
            <a:r>
              <a:rPr lang="en-US" dirty="0">
                <a:solidFill>
                  <a:srgbClr val="0070C0"/>
                </a:solidFill>
              </a:rPr>
              <a:t>public class Square implements Shape</a:t>
            </a:r>
          </a:p>
          <a:p>
            <a:pPr marL="114300" indent="0">
              <a:buNone/>
            </a:pPr>
            <a:r>
              <a:rPr lang="en-US" dirty="0">
                <a:solidFill>
                  <a:srgbClr val="0070C0"/>
                </a:solidFill>
              </a:rPr>
              <a:t> { @Override public void draw() </a:t>
            </a:r>
          </a:p>
          <a:p>
            <a:pPr marL="114300" indent="0">
              <a:buNone/>
            </a:pPr>
            <a:r>
              <a:rPr lang="en-US" dirty="0">
                <a:solidFill>
                  <a:srgbClr val="0070C0"/>
                </a:solidFill>
              </a:rPr>
              <a:t>{ </a:t>
            </a:r>
          </a:p>
          <a:p>
            <a:pPr marL="114300" indent="0">
              <a:buNone/>
            </a:pPr>
            <a:r>
              <a:rPr lang="en-US" dirty="0" err="1">
                <a:solidFill>
                  <a:srgbClr val="0070C0"/>
                </a:solidFill>
              </a:rPr>
              <a:t>System.out.println</a:t>
            </a:r>
            <a:r>
              <a:rPr lang="en-US" dirty="0">
                <a:solidFill>
                  <a:srgbClr val="0070C0"/>
                </a:solidFill>
              </a:rPr>
              <a:t>("Inside Square::draw() method.");</a:t>
            </a:r>
          </a:p>
          <a:p>
            <a:pPr marL="114300" indent="0">
              <a:buNone/>
            </a:pPr>
            <a:r>
              <a:rPr lang="en-US" dirty="0">
                <a:solidFill>
                  <a:srgbClr val="0070C0"/>
                </a:solidFill>
              </a:rPr>
              <a:t> } </a:t>
            </a:r>
          </a:p>
          <a:p>
            <a:pPr marL="114300" indent="0">
              <a:buNone/>
            </a:pPr>
            <a:r>
              <a:rPr lang="en-US" dirty="0">
                <a:solidFill>
                  <a:srgbClr val="0070C0"/>
                </a:solidFill>
              </a:rPr>
              <a:t>}</a:t>
            </a:r>
          </a:p>
        </p:txBody>
      </p:sp>
    </p:spTree>
    <p:extLst>
      <p:ext uri="{BB962C8B-B14F-4D97-AF65-F5344CB8AC3E}">
        <p14:creationId xmlns:p14="http://schemas.microsoft.com/office/powerpoint/2010/main" val="194246137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6134" y="381000"/>
            <a:ext cx="7704667" cy="1981200"/>
          </a:xfrm>
        </p:spPr>
        <p:txBody>
          <a:bodyPr/>
          <a:lstStyle/>
          <a:p>
            <a:r>
              <a:rPr lang="en-US" dirty="0"/>
              <a:t>Step 2</a:t>
            </a:r>
          </a:p>
        </p:txBody>
      </p:sp>
      <p:sp>
        <p:nvSpPr>
          <p:cNvPr id="3" name="Content Placeholder 2"/>
          <p:cNvSpPr>
            <a:spLocks noGrp="1"/>
          </p:cNvSpPr>
          <p:nvPr>
            <p:ph idx="1"/>
          </p:nvPr>
        </p:nvSpPr>
        <p:spPr/>
        <p:txBody>
          <a:bodyPr>
            <a:normAutofit fontScale="85000" lnSpcReduction="20000"/>
          </a:bodyPr>
          <a:lstStyle/>
          <a:p>
            <a:pPr marL="114300" indent="0">
              <a:buNone/>
            </a:pPr>
            <a:r>
              <a:rPr lang="en-US" b="1" i="1" dirty="0">
                <a:solidFill>
                  <a:srgbClr val="0070C0"/>
                </a:solidFill>
              </a:rPr>
              <a:t>Circle.java</a:t>
            </a:r>
            <a:endParaRPr lang="en-US" b="1" dirty="0">
              <a:solidFill>
                <a:srgbClr val="0070C0"/>
              </a:solidFill>
            </a:endParaRPr>
          </a:p>
          <a:p>
            <a:pPr marL="114300" indent="0">
              <a:buNone/>
            </a:pPr>
            <a:r>
              <a:rPr lang="en-US" dirty="0">
                <a:solidFill>
                  <a:srgbClr val="0070C0"/>
                </a:solidFill>
              </a:rPr>
              <a:t>public class Circle implements Shape</a:t>
            </a:r>
          </a:p>
          <a:p>
            <a:pPr marL="114300" indent="0">
              <a:buNone/>
            </a:pPr>
            <a:r>
              <a:rPr lang="en-US" dirty="0">
                <a:solidFill>
                  <a:srgbClr val="0070C0"/>
                </a:solidFill>
              </a:rPr>
              <a:t> { </a:t>
            </a:r>
          </a:p>
          <a:p>
            <a:pPr marL="114300" indent="0">
              <a:buNone/>
            </a:pPr>
            <a:r>
              <a:rPr lang="en-US" dirty="0">
                <a:solidFill>
                  <a:srgbClr val="0070C0"/>
                </a:solidFill>
              </a:rPr>
              <a:t>@Override public void draw() </a:t>
            </a:r>
          </a:p>
          <a:p>
            <a:pPr marL="114300" indent="0">
              <a:buNone/>
            </a:pPr>
            <a:r>
              <a:rPr lang="en-US" dirty="0">
                <a:solidFill>
                  <a:srgbClr val="0070C0"/>
                </a:solidFill>
              </a:rPr>
              <a:t>{ </a:t>
            </a:r>
          </a:p>
          <a:p>
            <a:pPr marL="114300" indent="0">
              <a:buNone/>
            </a:pPr>
            <a:r>
              <a:rPr lang="en-US" dirty="0" err="1">
                <a:solidFill>
                  <a:srgbClr val="0070C0"/>
                </a:solidFill>
              </a:rPr>
              <a:t>System.out.println</a:t>
            </a:r>
            <a:r>
              <a:rPr lang="en-US" dirty="0">
                <a:solidFill>
                  <a:srgbClr val="0070C0"/>
                </a:solidFill>
              </a:rPr>
              <a:t>("Inside Circle::draw() method."); </a:t>
            </a:r>
          </a:p>
          <a:p>
            <a:pPr marL="114300" indent="0">
              <a:buNone/>
            </a:pPr>
            <a:r>
              <a:rPr lang="en-US" dirty="0">
                <a:solidFill>
                  <a:srgbClr val="0070C0"/>
                </a:solidFill>
              </a:rPr>
              <a:t>} </a:t>
            </a:r>
          </a:p>
          <a:p>
            <a:pPr marL="114300" indent="0">
              <a:buNone/>
            </a:pPr>
            <a:r>
              <a:rPr lang="en-US" dirty="0">
                <a:solidFill>
                  <a:srgbClr val="0070C0"/>
                </a:solidFill>
              </a:rPr>
              <a:t>}</a:t>
            </a:r>
          </a:p>
        </p:txBody>
      </p:sp>
    </p:spTree>
    <p:extLst>
      <p:ext uri="{BB962C8B-B14F-4D97-AF65-F5344CB8AC3E}">
        <p14:creationId xmlns:p14="http://schemas.microsoft.com/office/powerpoint/2010/main" val="313182333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6134" y="457202"/>
            <a:ext cx="7704667" cy="838199"/>
          </a:xfrm>
        </p:spPr>
        <p:txBody>
          <a:bodyPr>
            <a:normAutofit fontScale="90000"/>
          </a:bodyPr>
          <a:lstStyle/>
          <a:p>
            <a:br>
              <a:rPr lang="en-US" dirty="0"/>
            </a:br>
            <a:r>
              <a:rPr lang="en-US" dirty="0"/>
              <a:t>Step 3: Create Factory</a:t>
            </a:r>
            <a:br>
              <a:rPr lang="en-US" dirty="0"/>
            </a:br>
            <a:endParaRPr lang="en-US" dirty="0"/>
          </a:p>
        </p:txBody>
      </p:sp>
      <p:sp>
        <p:nvSpPr>
          <p:cNvPr id="3" name="Content Placeholder 2"/>
          <p:cNvSpPr>
            <a:spLocks noGrp="1"/>
          </p:cNvSpPr>
          <p:nvPr>
            <p:ph idx="1"/>
          </p:nvPr>
        </p:nvSpPr>
        <p:spPr/>
        <p:txBody>
          <a:bodyPr>
            <a:normAutofit fontScale="25000" lnSpcReduction="20000"/>
          </a:bodyPr>
          <a:lstStyle/>
          <a:p>
            <a:pPr marL="114300" indent="0">
              <a:buNone/>
            </a:pPr>
            <a:r>
              <a:rPr lang="en-US" sz="4000" dirty="0"/>
              <a:t>Create a Factory to generate object of concrete class based on given information.</a:t>
            </a:r>
          </a:p>
          <a:p>
            <a:pPr marL="114300" indent="0">
              <a:buNone/>
            </a:pPr>
            <a:r>
              <a:rPr lang="en-US" sz="4000" i="1" dirty="0"/>
              <a:t>ShapeFactory.java</a:t>
            </a:r>
            <a:endParaRPr lang="en-US" sz="4000" dirty="0"/>
          </a:p>
          <a:p>
            <a:pPr marL="114300" indent="0">
              <a:buNone/>
            </a:pPr>
            <a:r>
              <a:rPr lang="en-US" sz="4000" dirty="0">
                <a:solidFill>
                  <a:srgbClr val="0070C0"/>
                </a:solidFill>
              </a:rPr>
              <a:t>public class </a:t>
            </a:r>
            <a:r>
              <a:rPr lang="en-US" sz="4000" dirty="0" err="1">
                <a:solidFill>
                  <a:srgbClr val="0070C0"/>
                </a:solidFill>
              </a:rPr>
              <a:t>ShapeFactory</a:t>
            </a:r>
            <a:r>
              <a:rPr lang="en-US" sz="4000" dirty="0">
                <a:solidFill>
                  <a:srgbClr val="0070C0"/>
                </a:solidFill>
              </a:rPr>
              <a:t> </a:t>
            </a:r>
          </a:p>
          <a:p>
            <a:pPr marL="114300" indent="0">
              <a:buNone/>
            </a:pPr>
            <a:r>
              <a:rPr lang="en-US" sz="4000" dirty="0"/>
              <a:t>{ </a:t>
            </a:r>
          </a:p>
          <a:p>
            <a:pPr marL="114300" indent="0">
              <a:buNone/>
            </a:pPr>
            <a:r>
              <a:rPr lang="en-US" sz="4000" dirty="0">
                <a:solidFill>
                  <a:srgbClr val="FF0000"/>
                </a:solidFill>
              </a:rPr>
              <a:t>//use </a:t>
            </a:r>
            <a:r>
              <a:rPr lang="en-US" sz="4000" dirty="0" err="1">
                <a:solidFill>
                  <a:srgbClr val="FF0000"/>
                </a:solidFill>
              </a:rPr>
              <a:t>getShape</a:t>
            </a:r>
            <a:r>
              <a:rPr lang="en-US" sz="4000" dirty="0">
                <a:solidFill>
                  <a:srgbClr val="FF0000"/>
                </a:solidFill>
              </a:rPr>
              <a:t> method to get object of type shape</a:t>
            </a:r>
            <a:r>
              <a:rPr lang="en-US" sz="4000" dirty="0"/>
              <a:t> </a:t>
            </a:r>
          </a:p>
          <a:p>
            <a:pPr marL="114300" indent="0">
              <a:buNone/>
            </a:pPr>
            <a:endParaRPr lang="en-US" sz="4000" dirty="0"/>
          </a:p>
          <a:p>
            <a:pPr marL="114300" indent="0">
              <a:buNone/>
            </a:pPr>
            <a:r>
              <a:rPr lang="en-US" sz="4000" dirty="0">
                <a:solidFill>
                  <a:srgbClr val="0070C0"/>
                </a:solidFill>
              </a:rPr>
              <a:t>public Shape </a:t>
            </a:r>
            <a:r>
              <a:rPr lang="en-US" sz="4000" dirty="0" err="1">
                <a:solidFill>
                  <a:srgbClr val="0070C0"/>
                </a:solidFill>
              </a:rPr>
              <a:t>getShape</a:t>
            </a:r>
            <a:r>
              <a:rPr lang="en-US" sz="4000" dirty="0">
                <a:solidFill>
                  <a:srgbClr val="0070C0"/>
                </a:solidFill>
              </a:rPr>
              <a:t>(String </a:t>
            </a:r>
            <a:r>
              <a:rPr lang="en-US" sz="4000" dirty="0" err="1">
                <a:solidFill>
                  <a:srgbClr val="0070C0"/>
                </a:solidFill>
              </a:rPr>
              <a:t>shapeType</a:t>
            </a:r>
            <a:r>
              <a:rPr lang="en-US" sz="4000" dirty="0">
                <a:solidFill>
                  <a:srgbClr val="0070C0"/>
                </a:solidFill>
              </a:rPr>
              <a:t>)</a:t>
            </a:r>
          </a:p>
          <a:p>
            <a:pPr marL="114300" indent="0">
              <a:buNone/>
            </a:pPr>
            <a:r>
              <a:rPr lang="en-US" sz="4000" dirty="0">
                <a:solidFill>
                  <a:srgbClr val="0070C0"/>
                </a:solidFill>
              </a:rPr>
              <a:t>{</a:t>
            </a:r>
          </a:p>
          <a:p>
            <a:pPr marL="114300" indent="0">
              <a:buNone/>
            </a:pPr>
            <a:r>
              <a:rPr lang="en-US" sz="4000" dirty="0">
                <a:solidFill>
                  <a:srgbClr val="0070C0"/>
                </a:solidFill>
              </a:rPr>
              <a:t> if(</a:t>
            </a:r>
            <a:r>
              <a:rPr lang="en-US" sz="4000" dirty="0" err="1">
                <a:solidFill>
                  <a:srgbClr val="0070C0"/>
                </a:solidFill>
              </a:rPr>
              <a:t>shapeType</a:t>
            </a:r>
            <a:r>
              <a:rPr lang="en-US" sz="4000" dirty="0">
                <a:solidFill>
                  <a:srgbClr val="0070C0"/>
                </a:solidFill>
              </a:rPr>
              <a:t> == null){ return null; </a:t>
            </a:r>
          </a:p>
          <a:p>
            <a:pPr marL="114300" indent="0">
              <a:buNone/>
            </a:pPr>
            <a:r>
              <a:rPr lang="en-US" sz="4000" dirty="0">
                <a:solidFill>
                  <a:srgbClr val="0070C0"/>
                </a:solidFill>
              </a:rPr>
              <a:t>} </a:t>
            </a:r>
          </a:p>
          <a:p>
            <a:pPr marL="114300" indent="0">
              <a:buNone/>
            </a:pPr>
            <a:r>
              <a:rPr lang="en-US" sz="4000" dirty="0">
                <a:solidFill>
                  <a:srgbClr val="0070C0"/>
                </a:solidFill>
              </a:rPr>
              <a:t>if(</a:t>
            </a:r>
            <a:r>
              <a:rPr lang="en-US" sz="4000" dirty="0" err="1">
                <a:solidFill>
                  <a:srgbClr val="0070C0"/>
                </a:solidFill>
              </a:rPr>
              <a:t>shapeType.equalsIgnoreCase</a:t>
            </a:r>
            <a:r>
              <a:rPr lang="en-US" sz="4000" dirty="0">
                <a:solidFill>
                  <a:srgbClr val="0070C0"/>
                </a:solidFill>
              </a:rPr>
              <a:t>("CIRCLE"))</a:t>
            </a:r>
          </a:p>
          <a:p>
            <a:pPr marL="114300" indent="0">
              <a:buNone/>
            </a:pPr>
            <a:r>
              <a:rPr lang="en-US" sz="4000" dirty="0">
                <a:solidFill>
                  <a:srgbClr val="0070C0"/>
                </a:solidFill>
              </a:rPr>
              <a:t>{ return new Circle();</a:t>
            </a:r>
          </a:p>
          <a:p>
            <a:pPr marL="114300" indent="0">
              <a:buNone/>
            </a:pPr>
            <a:r>
              <a:rPr lang="en-US" sz="4000" dirty="0">
                <a:solidFill>
                  <a:srgbClr val="0070C0"/>
                </a:solidFill>
              </a:rPr>
              <a:t> } </a:t>
            </a:r>
          </a:p>
          <a:p>
            <a:pPr marL="114300" indent="0">
              <a:buNone/>
            </a:pPr>
            <a:r>
              <a:rPr lang="en-US" sz="4000" dirty="0">
                <a:solidFill>
                  <a:srgbClr val="0070C0"/>
                </a:solidFill>
              </a:rPr>
              <a:t>else if(</a:t>
            </a:r>
            <a:r>
              <a:rPr lang="en-US" sz="4000" dirty="0" err="1">
                <a:solidFill>
                  <a:srgbClr val="0070C0"/>
                </a:solidFill>
              </a:rPr>
              <a:t>shapeType.equalsIgnoreCase</a:t>
            </a:r>
            <a:r>
              <a:rPr lang="en-US" sz="4000" dirty="0">
                <a:solidFill>
                  <a:srgbClr val="0070C0"/>
                </a:solidFill>
              </a:rPr>
              <a:t>("RECTANGLE"))</a:t>
            </a:r>
          </a:p>
          <a:p>
            <a:pPr marL="114300" indent="0">
              <a:buNone/>
            </a:pPr>
            <a:r>
              <a:rPr lang="en-US" sz="4000" dirty="0">
                <a:solidFill>
                  <a:srgbClr val="0070C0"/>
                </a:solidFill>
              </a:rPr>
              <a:t>{</a:t>
            </a:r>
          </a:p>
          <a:p>
            <a:pPr marL="114300" indent="0">
              <a:buNone/>
            </a:pPr>
            <a:r>
              <a:rPr lang="en-US" sz="4000" dirty="0">
                <a:solidFill>
                  <a:srgbClr val="0070C0"/>
                </a:solidFill>
              </a:rPr>
              <a:t> return new Rectangle();</a:t>
            </a:r>
          </a:p>
          <a:p>
            <a:pPr marL="114300" indent="0">
              <a:buNone/>
            </a:pPr>
            <a:r>
              <a:rPr lang="en-US" sz="4000" dirty="0">
                <a:solidFill>
                  <a:srgbClr val="0070C0"/>
                </a:solidFill>
              </a:rPr>
              <a:t> }</a:t>
            </a:r>
          </a:p>
          <a:p>
            <a:pPr marL="114300" indent="0">
              <a:buNone/>
            </a:pPr>
            <a:r>
              <a:rPr lang="en-US" sz="4000" dirty="0">
                <a:solidFill>
                  <a:srgbClr val="0070C0"/>
                </a:solidFill>
              </a:rPr>
              <a:t> else if(</a:t>
            </a:r>
            <a:r>
              <a:rPr lang="en-US" sz="4000" dirty="0" err="1">
                <a:solidFill>
                  <a:srgbClr val="0070C0"/>
                </a:solidFill>
              </a:rPr>
              <a:t>shapeType.equalsIgnoreCase</a:t>
            </a:r>
            <a:r>
              <a:rPr lang="en-US" sz="4000" dirty="0">
                <a:solidFill>
                  <a:srgbClr val="0070C0"/>
                </a:solidFill>
              </a:rPr>
              <a:t>("SQUARE"))</a:t>
            </a:r>
          </a:p>
          <a:p>
            <a:pPr marL="114300" indent="0">
              <a:buNone/>
            </a:pPr>
            <a:r>
              <a:rPr lang="en-US" sz="4000" dirty="0">
                <a:solidFill>
                  <a:srgbClr val="0070C0"/>
                </a:solidFill>
              </a:rPr>
              <a:t>{ </a:t>
            </a:r>
          </a:p>
          <a:p>
            <a:pPr marL="114300" indent="0">
              <a:buNone/>
            </a:pPr>
            <a:r>
              <a:rPr lang="en-US" sz="4000" dirty="0">
                <a:solidFill>
                  <a:srgbClr val="0070C0"/>
                </a:solidFill>
              </a:rPr>
              <a:t>return new Square(); </a:t>
            </a:r>
          </a:p>
          <a:p>
            <a:pPr marL="114300" indent="0">
              <a:buNone/>
            </a:pPr>
            <a:r>
              <a:rPr lang="en-US" sz="4000" dirty="0">
                <a:solidFill>
                  <a:srgbClr val="0070C0"/>
                </a:solidFill>
              </a:rPr>
              <a:t>} </a:t>
            </a:r>
          </a:p>
          <a:p>
            <a:pPr marL="114300" indent="0">
              <a:buNone/>
            </a:pPr>
            <a:r>
              <a:rPr lang="en-US" dirty="0">
                <a:solidFill>
                  <a:srgbClr val="0070C0"/>
                </a:solidFill>
              </a:rPr>
              <a:t>	 }</a:t>
            </a:r>
          </a:p>
          <a:p>
            <a:pPr marL="114300" indent="0">
              <a:buNone/>
            </a:pPr>
            <a:endParaRPr lang="en-US" dirty="0">
              <a:solidFill>
                <a:srgbClr val="0070C0"/>
              </a:solidFill>
            </a:endParaRPr>
          </a:p>
        </p:txBody>
      </p:sp>
    </p:spTree>
    <p:extLst>
      <p:ext uri="{BB962C8B-B14F-4D97-AF65-F5344CB8AC3E}">
        <p14:creationId xmlns:p14="http://schemas.microsoft.com/office/powerpoint/2010/main" val="58745596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Step 4</a:t>
            </a:r>
            <a:br>
              <a:rPr lang="en-US" dirty="0"/>
            </a:br>
            <a:endParaRPr lang="en-US" dirty="0"/>
          </a:p>
        </p:txBody>
      </p:sp>
      <p:sp>
        <p:nvSpPr>
          <p:cNvPr id="3" name="Content Placeholder 2"/>
          <p:cNvSpPr>
            <a:spLocks noGrp="1"/>
          </p:cNvSpPr>
          <p:nvPr>
            <p:ph idx="1"/>
          </p:nvPr>
        </p:nvSpPr>
        <p:spPr/>
        <p:txBody>
          <a:bodyPr>
            <a:normAutofit fontScale="62500" lnSpcReduction="20000"/>
          </a:bodyPr>
          <a:lstStyle/>
          <a:p>
            <a:r>
              <a:rPr lang="en-US" dirty="0"/>
              <a:t>Use the Factory to get object of concrete class by passing an information such as </a:t>
            </a:r>
            <a:r>
              <a:rPr lang="en-US" b="1" dirty="0"/>
              <a:t>type</a:t>
            </a:r>
            <a:r>
              <a:rPr lang="en-US" dirty="0"/>
              <a:t>.</a:t>
            </a:r>
          </a:p>
          <a:p>
            <a:pPr marL="114300" indent="0">
              <a:buNone/>
            </a:pPr>
            <a:r>
              <a:rPr lang="en-US" dirty="0">
                <a:solidFill>
                  <a:srgbClr val="0070C0"/>
                </a:solidFill>
              </a:rPr>
              <a:t>public class </a:t>
            </a:r>
            <a:r>
              <a:rPr lang="en-US" dirty="0" err="1">
                <a:solidFill>
                  <a:srgbClr val="0070C0"/>
                </a:solidFill>
              </a:rPr>
              <a:t>FactoryPatternDemo</a:t>
            </a:r>
            <a:endParaRPr lang="en-US" dirty="0">
              <a:solidFill>
                <a:srgbClr val="0070C0"/>
              </a:solidFill>
            </a:endParaRPr>
          </a:p>
          <a:p>
            <a:pPr marL="114300" indent="0">
              <a:buNone/>
            </a:pPr>
            <a:r>
              <a:rPr lang="en-US" dirty="0">
                <a:solidFill>
                  <a:srgbClr val="0070C0"/>
                </a:solidFill>
              </a:rPr>
              <a:t> {</a:t>
            </a:r>
          </a:p>
          <a:p>
            <a:pPr marL="114300" indent="0">
              <a:buNone/>
            </a:pPr>
            <a:r>
              <a:rPr lang="en-US" dirty="0">
                <a:solidFill>
                  <a:srgbClr val="0070C0"/>
                </a:solidFill>
              </a:rPr>
              <a:t> public static void main(String[] </a:t>
            </a:r>
            <a:r>
              <a:rPr lang="en-US" dirty="0" err="1">
                <a:solidFill>
                  <a:srgbClr val="0070C0"/>
                </a:solidFill>
              </a:rPr>
              <a:t>args</a:t>
            </a:r>
            <a:r>
              <a:rPr lang="en-US" dirty="0">
                <a:solidFill>
                  <a:srgbClr val="0070C0"/>
                </a:solidFill>
              </a:rPr>
              <a:t>) </a:t>
            </a:r>
          </a:p>
          <a:p>
            <a:pPr marL="114300" indent="0">
              <a:buNone/>
            </a:pPr>
            <a:r>
              <a:rPr lang="en-US" dirty="0">
                <a:solidFill>
                  <a:srgbClr val="0070C0"/>
                </a:solidFill>
              </a:rPr>
              <a:t>{ </a:t>
            </a:r>
          </a:p>
          <a:p>
            <a:pPr marL="114300" indent="0">
              <a:buNone/>
            </a:pPr>
            <a:r>
              <a:rPr lang="en-US" dirty="0" err="1">
                <a:solidFill>
                  <a:srgbClr val="0070C0"/>
                </a:solidFill>
              </a:rPr>
              <a:t>ShapeFactory</a:t>
            </a:r>
            <a:r>
              <a:rPr lang="en-US" dirty="0">
                <a:solidFill>
                  <a:srgbClr val="0070C0"/>
                </a:solidFill>
              </a:rPr>
              <a:t> </a:t>
            </a:r>
            <a:r>
              <a:rPr lang="en-US" dirty="0" err="1">
                <a:solidFill>
                  <a:srgbClr val="0070C0"/>
                </a:solidFill>
              </a:rPr>
              <a:t>shapeFactory</a:t>
            </a:r>
            <a:r>
              <a:rPr lang="en-US" dirty="0">
                <a:solidFill>
                  <a:srgbClr val="0070C0"/>
                </a:solidFill>
              </a:rPr>
              <a:t> = new </a:t>
            </a:r>
            <a:r>
              <a:rPr lang="en-US" dirty="0" err="1">
                <a:solidFill>
                  <a:srgbClr val="0070C0"/>
                </a:solidFill>
              </a:rPr>
              <a:t>ShapeFactory</a:t>
            </a:r>
            <a:r>
              <a:rPr lang="en-US" dirty="0">
                <a:solidFill>
                  <a:srgbClr val="0070C0"/>
                </a:solidFill>
              </a:rPr>
              <a:t>(); </a:t>
            </a:r>
          </a:p>
          <a:p>
            <a:pPr marL="114300" indent="0">
              <a:buNone/>
            </a:pPr>
            <a:r>
              <a:rPr lang="en-US" dirty="0">
                <a:solidFill>
                  <a:srgbClr val="FF0000"/>
                </a:solidFill>
              </a:rPr>
              <a:t>//get an object of Circle and call its draw method. </a:t>
            </a:r>
          </a:p>
          <a:p>
            <a:pPr marL="114300" indent="0">
              <a:buNone/>
            </a:pPr>
            <a:r>
              <a:rPr lang="en-US" dirty="0">
                <a:solidFill>
                  <a:srgbClr val="0070C0"/>
                </a:solidFill>
              </a:rPr>
              <a:t>Shape shape1 = </a:t>
            </a:r>
            <a:r>
              <a:rPr lang="en-US" dirty="0" err="1">
                <a:solidFill>
                  <a:srgbClr val="0070C0"/>
                </a:solidFill>
              </a:rPr>
              <a:t>shapeFactory.getShape</a:t>
            </a:r>
            <a:r>
              <a:rPr lang="en-US" dirty="0">
                <a:solidFill>
                  <a:srgbClr val="0070C0"/>
                </a:solidFill>
              </a:rPr>
              <a:t>("CIRCLE");</a:t>
            </a:r>
          </a:p>
          <a:p>
            <a:pPr marL="114300" indent="0">
              <a:buNone/>
            </a:pPr>
            <a:r>
              <a:rPr lang="en-US" dirty="0">
                <a:solidFill>
                  <a:srgbClr val="0070C0"/>
                </a:solidFill>
              </a:rPr>
              <a:t> </a:t>
            </a:r>
            <a:r>
              <a:rPr lang="en-US" dirty="0">
                <a:solidFill>
                  <a:srgbClr val="FF0000"/>
                </a:solidFill>
              </a:rPr>
              <a:t>//call draw method of Circle </a:t>
            </a:r>
          </a:p>
          <a:p>
            <a:pPr marL="114300" indent="0">
              <a:buNone/>
            </a:pPr>
            <a:r>
              <a:rPr lang="en-US" dirty="0">
                <a:solidFill>
                  <a:srgbClr val="0070C0"/>
                </a:solidFill>
              </a:rPr>
              <a:t>shape1.draw(); </a:t>
            </a:r>
          </a:p>
          <a:p>
            <a:pPr marL="114300" indent="0">
              <a:buNone/>
            </a:pPr>
            <a:endParaRPr lang="en-US" dirty="0"/>
          </a:p>
        </p:txBody>
      </p:sp>
    </p:spTree>
    <p:extLst>
      <p:ext uri="{BB962C8B-B14F-4D97-AF65-F5344CB8AC3E}">
        <p14:creationId xmlns:p14="http://schemas.microsoft.com/office/powerpoint/2010/main" val="338718156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Step 4</a:t>
            </a:r>
            <a:br>
              <a:rPr lang="en-US" dirty="0"/>
            </a:br>
            <a:endParaRPr lang="en-US" dirty="0"/>
          </a:p>
        </p:txBody>
      </p:sp>
      <p:sp>
        <p:nvSpPr>
          <p:cNvPr id="3" name="Content Placeholder 2"/>
          <p:cNvSpPr>
            <a:spLocks noGrp="1"/>
          </p:cNvSpPr>
          <p:nvPr>
            <p:ph idx="1"/>
          </p:nvPr>
        </p:nvSpPr>
        <p:spPr/>
        <p:txBody>
          <a:bodyPr>
            <a:normAutofit fontScale="47500" lnSpcReduction="20000"/>
          </a:bodyPr>
          <a:lstStyle/>
          <a:p>
            <a:pPr marL="114300" indent="0">
              <a:buNone/>
            </a:pPr>
            <a:r>
              <a:rPr lang="en-US" dirty="0">
                <a:solidFill>
                  <a:srgbClr val="FF0000"/>
                </a:solidFill>
              </a:rPr>
              <a:t>//get an object of Rectangle and call its draw method. </a:t>
            </a:r>
          </a:p>
          <a:p>
            <a:pPr marL="114300" indent="0">
              <a:buNone/>
            </a:pPr>
            <a:r>
              <a:rPr lang="en-US" dirty="0">
                <a:solidFill>
                  <a:srgbClr val="0070C0"/>
                </a:solidFill>
              </a:rPr>
              <a:t>Shape shape2 = </a:t>
            </a:r>
            <a:r>
              <a:rPr lang="en-US" dirty="0" err="1">
                <a:solidFill>
                  <a:srgbClr val="0070C0"/>
                </a:solidFill>
              </a:rPr>
              <a:t>shapeFactory.getShape</a:t>
            </a:r>
            <a:r>
              <a:rPr lang="en-US" dirty="0">
                <a:solidFill>
                  <a:srgbClr val="0070C0"/>
                </a:solidFill>
              </a:rPr>
              <a:t>("RECTANGLE");</a:t>
            </a:r>
          </a:p>
          <a:p>
            <a:pPr marL="114300" indent="0">
              <a:buNone/>
            </a:pPr>
            <a:r>
              <a:rPr lang="en-US" dirty="0">
                <a:solidFill>
                  <a:srgbClr val="FF0000"/>
                </a:solidFill>
              </a:rPr>
              <a:t>//call draw method of Rectangle </a:t>
            </a:r>
          </a:p>
          <a:p>
            <a:pPr marL="114300" indent="0">
              <a:buNone/>
            </a:pPr>
            <a:r>
              <a:rPr lang="en-US" dirty="0">
                <a:solidFill>
                  <a:srgbClr val="0070C0"/>
                </a:solidFill>
              </a:rPr>
              <a:t>shape2.draw(); </a:t>
            </a:r>
          </a:p>
          <a:p>
            <a:pPr marL="114300" indent="0">
              <a:buNone/>
            </a:pPr>
            <a:r>
              <a:rPr lang="en-US" dirty="0">
                <a:solidFill>
                  <a:srgbClr val="FF0000"/>
                </a:solidFill>
              </a:rPr>
              <a:t>//get an object of Square and call its draw method. </a:t>
            </a:r>
          </a:p>
          <a:p>
            <a:pPr marL="114300" indent="0">
              <a:buNone/>
            </a:pPr>
            <a:r>
              <a:rPr lang="en-US" dirty="0">
                <a:solidFill>
                  <a:srgbClr val="0070C0"/>
                </a:solidFill>
              </a:rPr>
              <a:t>Shape shape3 = </a:t>
            </a:r>
            <a:r>
              <a:rPr lang="en-US" dirty="0" err="1">
                <a:solidFill>
                  <a:srgbClr val="0070C0"/>
                </a:solidFill>
              </a:rPr>
              <a:t>shapeFactory.getShape</a:t>
            </a:r>
            <a:r>
              <a:rPr lang="en-US" dirty="0">
                <a:solidFill>
                  <a:srgbClr val="0070C0"/>
                </a:solidFill>
              </a:rPr>
              <a:t>("SQUARE"); </a:t>
            </a:r>
          </a:p>
          <a:p>
            <a:pPr marL="114300" indent="0">
              <a:buNone/>
            </a:pPr>
            <a:r>
              <a:rPr lang="en-US" dirty="0">
                <a:solidFill>
                  <a:srgbClr val="FF0000"/>
                </a:solidFill>
              </a:rPr>
              <a:t>//call draw method of square </a:t>
            </a:r>
          </a:p>
          <a:p>
            <a:pPr marL="114300" indent="0">
              <a:buNone/>
            </a:pPr>
            <a:r>
              <a:rPr lang="en-US" dirty="0">
                <a:solidFill>
                  <a:srgbClr val="0070C0"/>
                </a:solidFill>
              </a:rPr>
              <a:t>shape3.draw(); </a:t>
            </a:r>
          </a:p>
          <a:p>
            <a:pPr marL="114300" indent="0">
              <a:buNone/>
            </a:pPr>
            <a:r>
              <a:rPr lang="en-US" dirty="0">
                <a:solidFill>
                  <a:srgbClr val="0070C0"/>
                </a:solidFill>
              </a:rPr>
              <a:t>}</a:t>
            </a:r>
          </a:p>
          <a:p>
            <a:pPr marL="114300" indent="0">
              <a:buNone/>
            </a:pPr>
            <a:r>
              <a:rPr lang="en-US" dirty="0">
                <a:solidFill>
                  <a:srgbClr val="0070C0"/>
                </a:solidFill>
              </a:rPr>
              <a:t> }</a:t>
            </a:r>
          </a:p>
          <a:p>
            <a:pPr marL="114300" indent="0">
              <a:buNone/>
            </a:pPr>
            <a:r>
              <a:rPr lang="en-US" dirty="0">
                <a:solidFill>
                  <a:srgbClr val="0070C0"/>
                </a:solidFill>
              </a:rPr>
              <a:t> </a:t>
            </a:r>
            <a:br>
              <a:rPr lang="en-US" dirty="0">
                <a:solidFill>
                  <a:srgbClr val="0070C0"/>
                </a:solidFill>
              </a:rPr>
            </a:br>
            <a:endParaRPr lang="en-US" dirty="0">
              <a:solidFill>
                <a:srgbClr val="0070C0"/>
              </a:solidFill>
            </a:endParaRPr>
          </a:p>
        </p:txBody>
      </p:sp>
    </p:spTree>
    <p:extLst>
      <p:ext uri="{BB962C8B-B14F-4D97-AF65-F5344CB8AC3E}">
        <p14:creationId xmlns:p14="http://schemas.microsoft.com/office/powerpoint/2010/main" val="29053396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Output</a:t>
            </a:r>
          </a:p>
        </p:txBody>
      </p:sp>
      <p:sp>
        <p:nvSpPr>
          <p:cNvPr id="3" name="Content Placeholder 2"/>
          <p:cNvSpPr>
            <a:spLocks noGrp="1"/>
          </p:cNvSpPr>
          <p:nvPr>
            <p:ph idx="1"/>
          </p:nvPr>
        </p:nvSpPr>
        <p:spPr/>
        <p:txBody>
          <a:bodyPr/>
          <a:lstStyle/>
          <a:p>
            <a:r>
              <a:rPr lang="en-US" dirty="0"/>
              <a:t>Inside Circle::draw() method. </a:t>
            </a:r>
          </a:p>
          <a:p>
            <a:r>
              <a:rPr lang="en-US" dirty="0"/>
              <a:t>Inside Rectangle::draw() method.</a:t>
            </a:r>
          </a:p>
          <a:p>
            <a:r>
              <a:rPr lang="en-US" dirty="0"/>
              <a:t> Inside Square::draw() method.</a:t>
            </a:r>
          </a:p>
        </p:txBody>
      </p:sp>
    </p:spTree>
    <p:extLst>
      <p:ext uri="{BB962C8B-B14F-4D97-AF65-F5344CB8AC3E}">
        <p14:creationId xmlns:p14="http://schemas.microsoft.com/office/powerpoint/2010/main" val="1949939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2A2BCD-C87C-4F64-9156-3EB180657B34}"/>
              </a:ext>
            </a:extLst>
          </p:cNvPr>
          <p:cNvSpPr/>
          <p:nvPr/>
        </p:nvSpPr>
        <p:spPr>
          <a:xfrm>
            <a:off x="1752600" y="457200"/>
            <a:ext cx="5257800" cy="5029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4" name="Picture 3">
            <a:extLst>
              <a:ext uri="{FF2B5EF4-FFF2-40B4-BE49-F238E27FC236}">
                <a16:creationId xmlns:a16="http://schemas.microsoft.com/office/drawing/2014/main" id="{6CA15587-9E37-40CF-A928-80FCFF80C2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3800" y="673790"/>
            <a:ext cx="1295400" cy="1926771"/>
          </a:xfrm>
          <a:prstGeom prst="rect">
            <a:avLst/>
          </a:prstGeom>
        </p:spPr>
      </p:pic>
      <p:pic>
        <p:nvPicPr>
          <p:cNvPr id="6" name="Picture 5">
            <a:extLst>
              <a:ext uri="{FF2B5EF4-FFF2-40B4-BE49-F238E27FC236}">
                <a16:creationId xmlns:a16="http://schemas.microsoft.com/office/drawing/2014/main" id="{14FDDAC8-4926-4F3D-BEF2-49FAF676AE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4935" y="3347236"/>
            <a:ext cx="1188802" cy="1818167"/>
          </a:xfrm>
          <a:prstGeom prst="rect">
            <a:avLst/>
          </a:prstGeom>
        </p:spPr>
      </p:pic>
      <p:pic>
        <p:nvPicPr>
          <p:cNvPr id="8" name="Picture 7">
            <a:extLst>
              <a:ext uri="{FF2B5EF4-FFF2-40B4-BE49-F238E27FC236}">
                <a16:creationId xmlns:a16="http://schemas.microsoft.com/office/drawing/2014/main" id="{E8923216-101C-4537-BB82-549E718A30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16124" y="3337710"/>
            <a:ext cx="1133632" cy="1827693"/>
          </a:xfrm>
          <a:prstGeom prst="rect">
            <a:avLst/>
          </a:prstGeom>
        </p:spPr>
      </p:pic>
      <p:pic>
        <p:nvPicPr>
          <p:cNvPr id="10" name="Picture 9">
            <a:extLst>
              <a:ext uri="{FF2B5EF4-FFF2-40B4-BE49-F238E27FC236}">
                <a16:creationId xmlns:a16="http://schemas.microsoft.com/office/drawing/2014/main" id="{25D51F5C-075D-4D57-B8CE-BE74486EC56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61148" y="3337710"/>
            <a:ext cx="1133631" cy="1733787"/>
          </a:xfrm>
          <a:prstGeom prst="rect">
            <a:avLst/>
          </a:prstGeom>
        </p:spPr>
      </p:pic>
      <p:pic>
        <p:nvPicPr>
          <p:cNvPr id="16" name="Picture 15">
            <a:extLst>
              <a:ext uri="{FF2B5EF4-FFF2-40B4-BE49-F238E27FC236}">
                <a16:creationId xmlns:a16="http://schemas.microsoft.com/office/drawing/2014/main" id="{FAB5427D-4857-4703-BD34-7435F9EC432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41267" y="2623537"/>
            <a:ext cx="4356666" cy="723698"/>
          </a:xfrm>
          <a:prstGeom prst="rect">
            <a:avLst/>
          </a:prstGeom>
        </p:spPr>
      </p:pic>
      <p:pic>
        <p:nvPicPr>
          <p:cNvPr id="18" name="Picture 17">
            <a:extLst>
              <a:ext uri="{FF2B5EF4-FFF2-40B4-BE49-F238E27FC236}">
                <a16:creationId xmlns:a16="http://schemas.microsoft.com/office/drawing/2014/main" id="{CC00BDB2-A0CD-46B5-81C5-E94DD19AA81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940063" y="561941"/>
            <a:ext cx="1371600" cy="3190776"/>
          </a:xfrm>
          <a:prstGeom prst="rect">
            <a:avLst/>
          </a:prstGeom>
        </p:spPr>
      </p:pic>
      <p:pic>
        <p:nvPicPr>
          <p:cNvPr id="20" name="Picture 19">
            <a:extLst>
              <a:ext uri="{FF2B5EF4-FFF2-40B4-BE49-F238E27FC236}">
                <a16:creationId xmlns:a16="http://schemas.microsoft.com/office/drawing/2014/main" id="{CCA85CFB-0C55-4BE6-BF21-64B17CB3EC8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010401" y="3752717"/>
            <a:ext cx="2155647" cy="1759474"/>
          </a:xfrm>
          <a:prstGeom prst="rect">
            <a:avLst/>
          </a:prstGeom>
        </p:spPr>
      </p:pic>
    </p:spTree>
    <p:extLst>
      <p:ext uri="{BB962C8B-B14F-4D97-AF65-F5344CB8AC3E}">
        <p14:creationId xmlns:p14="http://schemas.microsoft.com/office/powerpoint/2010/main" val="2492115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additive="base">
                                        <p:cTn id="37" dur="500" fill="hold"/>
                                        <p:tgtEl>
                                          <p:spTgt spid="18"/>
                                        </p:tgtEl>
                                        <p:attrNameLst>
                                          <p:attrName>ppt_x</p:attrName>
                                        </p:attrNameLst>
                                      </p:cBhvr>
                                      <p:tavLst>
                                        <p:tav tm="0">
                                          <p:val>
                                            <p:strVal val="#ppt_x"/>
                                          </p:val>
                                        </p:tav>
                                        <p:tav tm="100000">
                                          <p:val>
                                            <p:strVal val="#ppt_x"/>
                                          </p:val>
                                        </p:tav>
                                      </p:tavLst>
                                    </p:anim>
                                    <p:anim calcmode="lin" valueType="num">
                                      <p:cBhvr additive="base">
                                        <p:cTn id="3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0"/>
                                        </p:tgtEl>
                                        <p:attrNameLst>
                                          <p:attrName>style.visibility</p:attrName>
                                        </p:attrNameLst>
                                      </p:cBhvr>
                                      <p:to>
                                        <p:strVal val="visible"/>
                                      </p:to>
                                    </p:set>
                                    <p:anim calcmode="lin" valueType="num">
                                      <p:cBhvr additive="base">
                                        <p:cTn id="43" dur="500" fill="hold"/>
                                        <p:tgtEl>
                                          <p:spTgt spid="20"/>
                                        </p:tgtEl>
                                        <p:attrNameLst>
                                          <p:attrName>ppt_x</p:attrName>
                                        </p:attrNameLst>
                                      </p:cBhvr>
                                      <p:tavLst>
                                        <p:tav tm="0">
                                          <p:val>
                                            <p:strVal val="#ppt_x"/>
                                          </p:val>
                                        </p:tav>
                                        <p:tav tm="100000">
                                          <p:val>
                                            <p:strVal val="#ppt_x"/>
                                          </p:val>
                                        </p:tav>
                                      </p:tavLst>
                                    </p:anim>
                                    <p:anim calcmode="lin" valueType="num">
                                      <p:cBhvr additive="base">
                                        <p:cTn id="4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Calculate Electricity Bill : A Real World Example of Factory Method</a:t>
            </a:r>
            <a:br>
              <a:rPr lang="en-US" sz="3600" dirty="0"/>
            </a:br>
            <a:endParaRPr lang="en-US" sz="3600" dirty="0"/>
          </a:p>
        </p:txBody>
      </p:sp>
      <p:sp>
        <p:nvSpPr>
          <p:cNvPr id="3" name="Content Placeholder 2"/>
          <p:cNvSpPr>
            <a:spLocks noGrp="1"/>
          </p:cNvSpPr>
          <p:nvPr>
            <p:ph idx="1"/>
          </p:nvPr>
        </p:nvSpPr>
        <p:spPr/>
        <p:txBody>
          <a:bodyPr>
            <a:normAutofit fontScale="62500" lnSpcReduction="20000"/>
          </a:bodyPr>
          <a:lstStyle/>
          <a:p>
            <a:r>
              <a:rPr lang="en-US" b="1" dirty="0"/>
              <a:t>Step 1: </a:t>
            </a:r>
            <a:r>
              <a:rPr lang="en-US" dirty="0"/>
              <a:t>Create a Plan abstract class.</a:t>
            </a:r>
          </a:p>
          <a:p>
            <a:pPr marL="114300" indent="0">
              <a:buNone/>
            </a:pPr>
            <a:r>
              <a:rPr lang="en-US" b="1" dirty="0">
                <a:solidFill>
                  <a:srgbClr val="0070C0"/>
                </a:solidFill>
              </a:rPr>
              <a:t>import</a:t>
            </a:r>
            <a:r>
              <a:rPr lang="en-US" dirty="0">
                <a:solidFill>
                  <a:srgbClr val="0070C0"/>
                </a:solidFill>
              </a:rPr>
              <a:t> java.io.*;      </a:t>
            </a:r>
          </a:p>
          <a:p>
            <a:pPr marL="114300" indent="0">
              <a:buNone/>
            </a:pPr>
            <a:r>
              <a:rPr lang="en-US" b="1" dirty="0">
                <a:solidFill>
                  <a:srgbClr val="0070C0"/>
                </a:solidFill>
              </a:rPr>
              <a:t>abstract</a:t>
            </a:r>
            <a:r>
              <a:rPr lang="en-US" dirty="0">
                <a:solidFill>
                  <a:srgbClr val="0070C0"/>
                </a:solidFill>
              </a:rPr>
              <a:t> </a:t>
            </a:r>
            <a:r>
              <a:rPr lang="en-US" b="1" dirty="0">
                <a:solidFill>
                  <a:srgbClr val="0070C0"/>
                </a:solidFill>
              </a:rPr>
              <a:t>class</a:t>
            </a:r>
            <a:r>
              <a:rPr lang="en-US" dirty="0">
                <a:solidFill>
                  <a:srgbClr val="0070C0"/>
                </a:solidFill>
              </a:rPr>
              <a:t> Plan{  </a:t>
            </a:r>
          </a:p>
          <a:p>
            <a:pPr marL="114300" indent="0">
              <a:buNone/>
            </a:pPr>
            <a:r>
              <a:rPr lang="en-US" dirty="0">
                <a:solidFill>
                  <a:srgbClr val="0070C0"/>
                </a:solidFill>
              </a:rPr>
              <a:t>         </a:t>
            </a:r>
            <a:r>
              <a:rPr lang="en-US" b="1" dirty="0">
                <a:solidFill>
                  <a:srgbClr val="0070C0"/>
                </a:solidFill>
              </a:rPr>
              <a:t>protected</a:t>
            </a:r>
            <a:r>
              <a:rPr lang="en-US" dirty="0">
                <a:solidFill>
                  <a:srgbClr val="0070C0"/>
                </a:solidFill>
              </a:rPr>
              <a:t> </a:t>
            </a:r>
            <a:r>
              <a:rPr lang="en-US" b="1" dirty="0">
                <a:solidFill>
                  <a:srgbClr val="0070C0"/>
                </a:solidFill>
              </a:rPr>
              <a:t>double</a:t>
            </a:r>
            <a:r>
              <a:rPr lang="en-US" dirty="0">
                <a:solidFill>
                  <a:srgbClr val="0070C0"/>
                </a:solidFill>
              </a:rPr>
              <a:t> rate;  </a:t>
            </a:r>
          </a:p>
          <a:p>
            <a:pPr marL="114300" indent="0">
              <a:buNone/>
            </a:pPr>
            <a:r>
              <a:rPr lang="en-US" dirty="0">
                <a:solidFill>
                  <a:srgbClr val="0070C0"/>
                </a:solidFill>
              </a:rPr>
              <a:t>         </a:t>
            </a:r>
            <a:r>
              <a:rPr lang="en-US" b="1" dirty="0">
                <a:solidFill>
                  <a:srgbClr val="0070C0"/>
                </a:solidFill>
              </a:rPr>
              <a:t>abstract</a:t>
            </a:r>
            <a:r>
              <a:rPr lang="en-US" dirty="0">
                <a:solidFill>
                  <a:srgbClr val="0070C0"/>
                </a:solidFill>
              </a:rPr>
              <a:t> </a:t>
            </a:r>
            <a:r>
              <a:rPr lang="en-US" b="1" dirty="0">
                <a:solidFill>
                  <a:srgbClr val="0070C0"/>
                </a:solidFill>
              </a:rPr>
              <a:t>void</a:t>
            </a:r>
            <a:r>
              <a:rPr lang="en-US" dirty="0">
                <a:solidFill>
                  <a:srgbClr val="0070C0"/>
                </a:solidFill>
              </a:rPr>
              <a:t> </a:t>
            </a:r>
            <a:r>
              <a:rPr lang="en-US" dirty="0" err="1">
                <a:solidFill>
                  <a:srgbClr val="0070C0"/>
                </a:solidFill>
              </a:rPr>
              <a:t>getRate</a:t>
            </a:r>
            <a:r>
              <a:rPr lang="en-US" dirty="0">
                <a:solidFill>
                  <a:srgbClr val="0070C0"/>
                </a:solidFill>
              </a:rPr>
              <a:t>();  </a:t>
            </a:r>
          </a:p>
          <a:p>
            <a:pPr marL="114300" indent="0">
              <a:buNone/>
            </a:pPr>
            <a:r>
              <a:rPr lang="en-US" dirty="0">
                <a:solidFill>
                  <a:srgbClr val="0070C0"/>
                </a:solidFill>
              </a:rPr>
              <a:t>   </a:t>
            </a:r>
          </a:p>
          <a:p>
            <a:pPr marL="114300" indent="0">
              <a:buNone/>
            </a:pPr>
            <a:r>
              <a:rPr lang="en-US" dirty="0">
                <a:solidFill>
                  <a:srgbClr val="0070C0"/>
                </a:solidFill>
              </a:rPr>
              <a:t>         </a:t>
            </a:r>
            <a:r>
              <a:rPr lang="en-US" b="1" dirty="0">
                <a:solidFill>
                  <a:srgbClr val="0070C0"/>
                </a:solidFill>
              </a:rPr>
              <a:t>public</a:t>
            </a:r>
            <a:r>
              <a:rPr lang="en-US" dirty="0">
                <a:solidFill>
                  <a:srgbClr val="0070C0"/>
                </a:solidFill>
              </a:rPr>
              <a:t> </a:t>
            </a:r>
            <a:r>
              <a:rPr lang="en-US" b="1" dirty="0">
                <a:solidFill>
                  <a:srgbClr val="0070C0"/>
                </a:solidFill>
              </a:rPr>
              <a:t>void</a:t>
            </a:r>
            <a:r>
              <a:rPr lang="en-US" dirty="0">
                <a:solidFill>
                  <a:srgbClr val="0070C0"/>
                </a:solidFill>
              </a:rPr>
              <a:t> </a:t>
            </a:r>
            <a:r>
              <a:rPr lang="en-US" dirty="0" err="1">
                <a:solidFill>
                  <a:srgbClr val="0070C0"/>
                </a:solidFill>
              </a:rPr>
              <a:t>calculateBill</a:t>
            </a:r>
            <a:r>
              <a:rPr lang="en-US" dirty="0">
                <a:solidFill>
                  <a:srgbClr val="0070C0"/>
                </a:solidFill>
              </a:rPr>
              <a:t>(</a:t>
            </a:r>
            <a:r>
              <a:rPr lang="en-US" b="1" dirty="0" err="1">
                <a:solidFill>
                  <a:srgbClr val="0070C0"/>
                </a:solidFill>
              </a:rPr>
              <a:t>int</a:t>
            </a:r>
            <a:r>
              <a:rPr lang="en-US" dirty="0">
                <a:solidFill>
                  <a:srgbClr val="0070C0"/>
                </a:solidFill>
              </a:rPr>
              <a:t> units){  </a:t>
            </a:r>
          </a:p>
          <a:p>
            <a:pPr marL="114300" indent="0">
              <a:buNone/>
            </a:pPr>
            <a:r>
              <a:rPr lang="en-US" dirty="0">
                <a:solidFill>
                  <a:srgbClr val="0070C0"/>
                </a:solidFill>
              </a:rPr>
              <a:t>              </a:t>
            </a:r>
            <a:r>
              <a:rPr lang="en-US" dirty="0" err="1">
                <a:solidFill>
                  <a:srgbClr val="0070C0"/>
                </a:solidFill>
              </a:rPr>
              <a:t>System.out.println</a:t>
            </a:r>
            <a:r>
              <a:rPr lang="en-US" dirty="0">
                <a:solidFill>
                  <a:srgbClr val="0070C0"/>
                </a:solidFill>
              </a:rPr>
              <a:t>(units*rate);  </a:t>
            </a:r>
          </a:p>
          <a:p>
            <a:pPr marL="114300" indent="0">
              <a:buNone/>
            </a:pPr>
            <a:r>
              <a:rPr lang="en-US" dirty="0">
                <a:solidFill>
                  <a:srgbClr val="0070C0"/>
                </a:solidFill>
              </a:rPr>
              <a:t>          }  </a:t>
            </a:r>
          </a:p>
          <a:p>
            <a:pPr marL="114300" indent="0">
              <a:buNone/>
            </a:pPr>
            <a:r>
              <a:rPr lang="en-US" dirty="0">
                <a:solidFill>
                  <a:srgbClr val="0070C0"/>
                </a:solidFill>
              </a:rPr>
              <a:t>}</a:t>
            </a:r>
            <a:r>
              <a:rPr lang="en-US" dirty="0">
                <a:solidFill>
                  <a:srgbClr val="FF0000"/>
                </a:solidFill>
              </a:rPr>
              <a:t>//end of Plan class.</a:t>
            </a:r>
            <a:r>
              <a:rPr lang="en-US" dirty="0">
                <a:solidFill>
                  <a:srgbClr val="0070C0"/>
                </a:solidFill>
              </a:rPr>
              <a:t>  </a:t>
            </a:r>
          </a:p>
          <a:p>
            <a:endParaRPr lang="en-US" dirty="0"/>
          </a:p>
          <a:p>
            <a:endParaRPr lang="en-US" dirty="0"/>
          </a:p>
        </p:txBody>
      </p:sp>
    </p:spTree>
    <p:extLst>
      <p:ext uri="{BB962C8B-B14F-4D97-AF65-F5344CB8AC3E}">
        <p14:creationId xmlns:p14="http://schemas.microsoft.com/office/powerpoint/2010/main" val="82964399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Step 2</a:t>
            </a:r>
            <a:endParaRPr lang="en-US" dirty="0"/>
          </a:p>
        </p:txBody>
      </p:sp>
      <p:sp>
        <p:nvSpPr>
          <p:cNvPr id="3" name="Content Placeholder 2"/>
          <p:cNvSpPr>
            <a:spLocks noGrp="1"/>
          </p:cNvSpPr>
          <p:nvPr>
            <p:ph idx="1"/>
          </p:nvPr>
        </p:nvSpPr>
        <p:spPr/>
        <p:txBody>
          <a:bodyPr>
            <a:normAutofit fontScale="85000" lnSpcReduction="20000"/>
          </a:bodyPr>
          <a:lstStyle/>
          <a:p>
            <a:r>
              <a:rPr lang="en-US" dirty="0"/>
              <a:t>Create the concrete classes that extends Plan abstract class.</a:t>
            </a:r>
          </a:p>
          <a:p>
            <a:pPr marL="114300" indent="0">
              <a:buNone/>
            </a:pPr>
            <a:endParaRPr lang="en-US" dirty="0"/>
          </a:p>
          <a:p>
            <a:pPr marL="114300" indent="0">
              <a:buNone/>
            </a:pPr>
            <a:r>
              <a:rPr lang="en-US" b="1" dirty="0">
                <a:solidFill>
                  <a:srgbClr val="0070C0"/>
                </a:solidFill>
              </a:rPr>
              <a:t>class</a:t>
            </a:r>
            <a:r>
              <a:rPr lang="en-US" dirty="0">
                <a:solidFill>
                  <a:srgbClr val="0070C0"/>
                </a:solidFill>
              </a:rPr>
              <a:t>  </a:t>
            </a:r>
            <a:r>
              <a:rPr lang="en-US" dirty="0" err="1">
                <a:solidFill>
                  <a:srgbClr val="0070C0"/>
                </a:solidFill>
              </a:rPr>
              <a:t>DomesticPlan</a:t>
            </a:r>
            <a:r>
              <a:rPr lang="en-US" dirty="0">
                <a:solidFill>
                  <a:srgbClr val="0070C0"/>
                </a:solidFill>
              </a:rPr>
              <a:t> </a:t>
            </a:r>
            <a:r>
              <a:rPr lang="en-US" b="1" dirty="0">
                <a:solidFill>
                  <a:srgbClr val="0070C0"/>
                </a:solidFill>
              </a:rPr>
              <a:t>extends</a:t>
            </a:r>
            <a:r>
              <a:rPr lang="en-US" dirty="0">
                <a:solidFill>
                  <a:srgbClr val="0070C0"/>
                </a:solidFill>
              </a:rPr>
              <a:t> Plan{  </a:t>
            </a:r>
          </a:p>
          <a:p>
            <a:pPr marL="114300" indent="0">
              <a:buNone/>
            </a:pPr>
            <a:r>
              <a:rPr lang="en-US" dirty="0">
                <a:solidFill>
                  <a:srgbClr val="0070C0"/>
                </a:solidFill>
              </a:rPr>
              <a:t>        //@override  </a:t>
            </a:r>
          </a:p>
          <a:p>
            <a:pPr marL="114300" indent="0">
              <a:buNone/>
            </a:pPr>
            <a:r>
              <a:rPr lang="en-US" dirty="0">
                <a:solidFill>
                  <a:srgbClr val="0070C0"/>
                </a:solidFill>
              </a:rPr>
              <a:t>         </a:t>
            </a:r>
            <a:r>
              <a:rPr lang="en-US" b="1" dirty="0">
                <a:solidFill>
                  <a:srgbClr val="0070C0"/>
                </a:solidFill>
              </a:rPr>
              <a:t>public</a:t>
            </a:r>
            <a:r>
              <a:rPr lang="en-US" dirty="0">
                <a:solidFill>
                  <a:srgbClr val="0070C0"/>
                </a:solidFill>
              </a:rPr>
              <a:t> </a:t>
            </a:r>
            <a:r>
              <a:rPr lang="en-US" b="1" dirty="0">
                <a:solidFill>
                  <a:srgbClr val="0070C0"/>
                </a:solidFill>
              </a:rPr>
              <a:t>void</a:t>
            </a:r>
            <a:r>
              <a:rPr lang="en-US" dirty="0">
                <a:solidFill>
                  <a:srgbClr val="0070C0"/>
                </a:solidFill>
              </a:rPr>
              <a:t> </a:t>
            </a:r>
            <a:r>
              <a:rPr lang="en-US" dirty="0" err="1">
                <a:solidFill>
                  <a:srgbClr val="0070C0"/>
                </a:solidFill>
              </a:rPr>
              <a:t>getRate</a:t>
            </a:r>
            <a:r>
              <a:rPr lang="en-US" dirty="0">
                <a:solidFill>
                  <a:srgbClr val="0070C0"/>
                </a:solidFill>
              </a:rPr>
              <a:t>(){  </a:t>
            </a:r>
          </a:p>
          <a:p>
            <a:pPr marL="114300" indent="0">
              <a:buNone/>
            </a:pPr>
            <a:r>
              <a:rPr lang="en-US" dirty="0">
                <a:solidFill>
                  <a:srgbClr val="0070C0"/>
                </a:solidFill>
              </a:rPr>
              <a:t>             rate=3.50;              </a:t>
            </a:r>
          </a:p>
          <a:p>
            <a:pPr marL="114300" indent="0">
              <a:buNone/>
            </a:pPr>
            <a:r>
              <a:rPr lang="en-US" dirty="0">
                <a:solidFill>
                  <a:srgbClr val="0070C0"/>
                </a:solidFill>
              </a:rPr>
              <a:t>        }  </a:t>
            </a:r>
          </a:p>
          <a:p>
            <a:pPr marL="114300" indent="0">
              <a:buNone/>
            </a:pPr>
            <a:r>
              <a:rPr lang="en-US" dirty="0">
                <a:solidFill>
                  <a:srgbClr val="0070C0"/>
                </a:solidFill>
              </a:rPr>
              <a:t>   }</a:t>
            </a:r>
            <a:endParaRPr lang="en-US" dirty="0"/>
          </a:p>
        </p:txBody>
      </p:sp>
    </p:spTree>
    <p:extLst>
      <p:ext uri="{BB962C8B-B14F-4D97-AF65-F5344CB8AC3E}">
        <p14:creationId xmlns:p14="http://schemas.microsoft.com/office/powerpoint/2010/main" val="357432581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Step 2</a:t>
            </a:r>
            <a:endParaRPr lang="en-US" dirty="0"/>
          </a:p>
        </p:txBody>
      </p:sp>
      <p:sp>
        <p:nvSpPr>
          <p:cNvPr id="3" name="Content Placeholder 2"/>
          <p:cNvSpPr>
            <a:spLocks noGrp="1"/>
          </p:cNvSpPr>
          <p:nvPr>
            <p:ph idx="1"/>
          </p:nvPr>
        </p:nvSpPr>
        <p:spPr/>
        <p:txBody>
          <a:bodyPr/>
          <a:lstStyle/>
          <a:p>
            <a:pPr marL="114300" indent="0">
              <a:buNone/>
            </a:pPr>
            <a:r>
              <a:rPr lang="en-US" b="1" dirty="0">
                <a:solidFill>
                  <a:srgbClr val="0070C0"/>
                </a:solidFill>
              </a:rPr>
              <a:t>class</a:t>
            </a:r>
            <a:r>
              <a:rPr lang="en-US" dirty="0">
                <a:solidFill>
                  <a:srgbClr val="0070C0"/>
                </a:solidFill>
              </a:rPr>
              <a:t>  </a:t>
            </a:r>
            <a:r>
              <a:rPr lang="en-US" dirty="0" err="1">
                <a:solidFill>
                  <a:srgbClr val="0070C0"/>
                </a:solidFill>
              </a:rPr>
              <a:t>CommercialPlan</a:t>
            </a:r>
            <a:r>
              <a:rPr lang="en-US" dirty="0">
                <a:solidFill>
                  <a:srgbClr val="0070C0"/>
                </a:solidFill>
              </a:rPr>
              <a:t> </a:t>
            </a:r>
            <a:r>
              <a:rPr lang="en-US" b="1" dirty="0">
                <a:solidFill>
                  <a:srgbClr val="0070C0"/>
                </a:solidFill>
              </a:rPr>
              <a:t>extends</a:t>
            </a:r>
            <a:r>
              <a:rPr lang="en-US" dirty="0">
                <a:solidFill>
                  <a:srgbClr val="0070C0"/>
                </a:solidFill>
              </a:rPr>
              <a:t> Plan{  </a:t>
            </a:r>
          </a:p>
          <a:p>
            <a:pPr marL="114300" indent="0">
              <a:buNone/>
            </a:pPr>
            <a:r>
              <a:rPr lang="en-US" dirty="0">
                <a:solidFill>
                  <a:srgbClr val="0070C0"/>
                </a:solidFill>
              </a:rPr>
              <a:t>   //@override   </a:t>
            </a:r>
          </a:p>
          <a:p>
            <a:pPr marL="114300" indent="0">
              <a:buNone/>
            </a:pPr>
            <a:r>
              <a:rPr lang="en-US" dirty="0">
                <a:solidFill>
                  <a:srgbClr val="0070C0"/>
                </a:solidFill>
              </a:rPr>
              <a:t>    </a:t>
            </a:r>
            <a:r>
              <a:rPr lang="en-US" b="1" dirty="0">
                <a:solidFill>
                  <a:srgbClr val="0070C0"/>
                </a:solidFill>
              </a:rPr>
              <a:t>public</a:t>
            </a:r>
            <a:r>
              <a:rPr lang="en-US" dirty="0">
                <a:solidFill>
                  <a:srgbClr val="0070C0"/>
                </a:solidFill>
              </a:rPr>
              <a:t> </a:t>
            </a:r>
            <a:r>
              <a:rPr lang="en-US" b="1" dirty="0">
                <a:solidFill>
                  <a:srgbClr val="0070C0"/>
                </a:solidFill>
              </a:rPr>
              <a:t>void</a:t>
            </a:r>
            <a:r>
              <a:rPr lang="en-US" dirty="0">
                <a:solidFill>
                  <a:srgbClr val="0070C0"/>
                </a:solidFill>
              </a:rPr>
              <a:t> </a:t>
            </a:r>
            <a:r>
              <a:rPr lang="en-US" dirty="0" err="1">
                <a:solidFill>
                  <a:srgbClr val="0070C0"/>
                </a:solidFill>
              </a:rPr>
              <a:t>getRate</a:t>
            </a:r>
            <a:r>
              <a:rPr lang="en-US" dirty="0">
                <a:solidFill>
                  <a:srgbClr val="0070C0"/>
                </a:solidFill>
              </a:rPr>
              <a:t>(){   </a:t>
            </a:r>
          </a:p>
          <a:p>
            <a:pPr marL="114300" indent="0">
              <a:buNone/>
            </a:pPr>
            <a:r>
              <a:rPr lang="en-US" dirty="0">
                <a:solidFill>
                  <a:srgbClr val="0070C0"/>
                </a:solidFill>
              </a:rPr>
              <a:t>        rate=7.50;  </a:t>
            </a:r>
          </a:p>
          <a:p>
            <a:pPr marL="114300" indent="0">
              <a:buNone/>
            </a:pPr>
            <a:r>
              <a:rPr lang="en-US" dirty="0">
                <a:solidFill>
                  <a:srgbClr val="0070C0"/>
                </a:solidFill>
              </a:rPr>
              <a:t>   }   </a:t>
            </a:r>
          </a:p>
          <a:p>
            <a:pPr marL="114300" indent="0">
              <a:buNone/>
            </a:pPr>
            <a:r>
              <a:rPr lang="en-US" dirty="0">
                <a:solidFill>
                  <a:srgbClr val="0070C0"/>
                </a:solidFill>
              </a:rPr>
              <a:t>/end of </a:t>
            </a:r>
            <a:r>
              <a:rPr lang="en-US" dirty="0" err="1">
                <a:solidFill>
                  <a:srgbClr val="0070C0"/>
                </a:solidFill>
              </a:rPr>
              <a:t>CommercialPlan</a:t>
            </a:r>
            <a:r>
              <a:rPr lang="en-US" dirty="0">
                <a:solidFill>
                  <a:srgbClr val="0070C0"/>
                </a:solidFill>
              </a:rPr>
              <a:t> </a:t>
            </a:r>
            <a:r>
              <a:rPr lang="en-US" b="1" dirty="0">
                <a:solidFill>
                  <a:srgbClr val="0070C0"/>
                </a:solidFill>
              </a:rPr>
              <a:t>class</a:t>
            </a:r>
            <a:r>
              <a:rPr lang="en-US" dirty="0">
                <a:solidFill>
                  <a:srgbClr val="0070C0"/>
                </a:solidFill>
              </a:rPr>
              <a:t>. </a:t>
            </a:r>
          </a:p>
          <a:p>
            <a:endParaRPr lang="en-US" dirty="0">
              <a:solidFill>
                <a:srgbClr val="0070C0"/>
              </a:solidFill>
            </a:endParaRPr>
          </a:p>
        </p:txBody>
      </p:sp>
    </p:spTree>
    <p:extLst>
      <p:ext uri="{BB962C8B-B14F-4D97-AF65-F5344CB8AC3E}">
        <p14:creationId xmlns:p14="http://schemas.microsoft.com/office/powerpoint/2010/main" val="146613541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a:t>
            </a:r>
          </a:p>
        </p:txBody>
      </p:sp>
      <p:sp>
        <p:nvSpPr>
          <p:cNvPr id="3" name="Content Placeholder 2"/>
          <p:cNvSpPr>
            <a:spLocks noGrp="1"/>
          </p:cNvSpPr>
          <p:nvPr>
            <p:ph idx="1"/>
          </p:nvPr>
        </p:nvSpPr>
        <p:spPr/>
        <p:txBody>
          <a:bodyPr/>
          <a:lstStyle/>
          <a:p>
            <a:pPr marL="114300" indent="0">
              <a:buNone/>
            </a:pPr>
            <a:r>
              <a:rPr lang="en-US" b="1" dirty="0">
                <a:solidFill>
                  <a:srgbClr val="0070C0"/>
                </a:solidFill>
              </a:rPr>
              <a:t>class</a:t>
            </a:r>
            <a:r>
              <a:rPr lang="en-US" dirty="0">
                <a:solidFill>
                  <a:srgbClr val="0070C0"/>
                </a:solidFill>
              </a:rPr>
              <a:t>  </a:t>
            </a:r>
            <a:r>
              <a:rPr lang="en-US" dirty="0" err="1">
                <a:solidFill>
                  <a:srgbClr val="0070C0"/>
                </a:solidFill>
              </a:rPr>
              <a:t>InstitutionalPlan</a:t>
            </a:r>
            <a:r>
              <a:rPr lang="en-US" dirty="0">
                <a:solidFill>
                  <a:srgbClr val="0070C0"/>
                </a:solidFill>
              </a:rPr>
              <a:t> </a:t>
            </a:r>
            <a:r>
              <a:rPr lang="en-US" b="1" dirty="0">
                <a:solidFill>
                  <a:srgbClr val="0070C0"/>
                </a:solidFill>
              </a:rPr>
              <a:t>extends</a:t>
            </a:r>
            <a:r>
              <a:rPr lang="en-US" dirty="0">
                <a:solidFill>
                  <a:srgbClr val="0070C0"/>
                </a:solidFill>
              </a:rPr>
              <a:t> Plan{  </a:t>
            </a:r>
          </a:p>
          <a:p>
            <a:pPr marL="114300" indent="0">
              <a:buNone/>
            </a:pPr>
            <a:r>
              <a:rPr lang="en-US" dirty="0">
                <a:solidFill>
                  <a:srgbClr val="0070C0"/>
                </a:solidFill>
              </a:rPr>
              <a:t>   //@override  </a:t>
            </a:r>
          </a:p>
          <a:p>
            <a:pPr marL="114300" indent="0">
              <a:buNone/>
            </a:pPr>
            <a:r>
              <a:rPr lang="en-US" dirty="0">
                <a:solidFill>
                  <a:srgbClr val="0070C0"/>
                </a:solidFill>
              </a:rPr>
              <a:t>    </a:t>
            </a:r>
            <a:r>
              <a:rPr lang="en-US" b="1" dirty="0">
                <a:solidFill>
                  <a:srgbClr val="0070C0"/>
                </a:solidFill>
              </a:rPr>
              <a:t>public</a:t>
            </a:r>
            <a:r>
              <a:rPr lang="en-US" dirty="0">
                <a:solidFill>
                  <a:srgbClr val="0070C0"/>
                </a:solidFill>
              </a:rPr>
              <a:t> </a:t>
            </a:r>
            <a:r>
              <a:rPr lang="en-US" b="1" dirty="0">
                <a:solidFill>
                  <a:srgbClr val="0070C0"/>
                </a:solidFill>
              </a:rPr>
              <a:t>void</a:t>
            </a:r>
            <a:r>
              <a:rPr lang="en-US" dirty="0">
                <a:solidFill>
                  <a:srgbClr val="0070C0"/>
                </a:solidFill>
              </a:rPr>
              <a:t> </a:t>
            </a:r>
            <a:r>
              <a:rPr lang="en-US" dirty="0" err="1">
                <a:solidFill>
                  <a:srgbClr val="0070C0"/>
                </a:solidFill>
              </a:rPr>
              <a:t>getRate</a:t>
            </a:r>
            <a:r>
              <a:rPr lang="en-US" dirty="0">
                <a:solidFill>
                  <a:srgbClr val="0070C0"/>
                </a:solidFill>
              </a:rPr>
              <a:t>(){   </a:t>
            </a:r>
          </a:p>
          <a:p>
            <a:pPr marL="114300" indent="0">
              <a:buNone/>
            </a:pPr>
            <a:r>
              <a:rPr lang="en-US" dirty="0">
                <a:solidFill>
                  <a:srgbClr val="0070C0"/>
                </a:solidFill>
              </a:rPr>
              <a:t>        rate=5.50;  </a:t>
            </a:r>
          </a:p>
          <a:p>
            <a:pPr marL="114300" indent="0">
              <a:buNone/>
            </a:pPr>
            <a:r>
              <a:rPr lang="en-US" dirty="0">
                <a:solidFill>
                  <a:srgbClr val="0070C0"/>
                </a:solidFill>
              </a:rPr>
              <a:t>   }   </a:t>
            </a:r>
          </a:p>
          <a:p>
            <a:pPr marL="114300" indent="0">
              <a:buNone/>
            </a:pPr>
            <a:endParaRPr lang="en-US" dirty="0">
              <a:solidFill>
                <a:srgbClr val="0070C0"/>
              </a:solidFill>
            </a:endParaRPr>
          </a:p>
        </p:txBody>
      </p:sp>
    </p:spTree>
    <p:extLst>
      <p:ext uri="{BB962C8B-B14F-4D97-AF65-F5344CB8AC3E}">
        <p14:creationId xmlns:p14="http://schemas.microsoft.com/office/powerpoint/2010/main" val="311288981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6134" y="457202"/>
            <a:ext cx="7704667" cy="457199"/>
          </a:xfrm>
        </p:spPr>
        <p:txBody>
          <a:bodyPr>
            <a:normAutofit fontScale="90000"/>
          </a:bodyPr>
          <a:lstStyle/>
          <a:p>
            <a:r>
              <a:rPr lang="en-US" b="1" dirty="0"/>
              <a:t>Step 3</a:t>
            </a:r>
            <a:endParaRPr lang="en-US" dirty="0"/>
          </a:p>
        </p:txBody>
      </p:sp>
      <p:sp>
        <p:nvSpPr>
          <p:cNvPr id="3" name="Content Placeholder 2"/>
          <p:cNvSpPr>
            <a:spLocks noGrp="1"/>
          </p:cNvSpPr>
          <p:nvPr>
            <p:ph idx="1"/>
          </p:nvPr>
        </p:nvSpPr>
        <p:spPr>
          <a:xfrm>
            <a:off x="2438401" y="914401"/>
            <a:ext cx="7772400" cy="5104077"/>
          </a:xfrm>
        </p:spPr>
        <p:txBody>
          <a:bodyPr>
            <a:normAutofit fontScale="70000" lnSpcReduction="20000"/>
          </a:bodyPr>
          <a:lstStyle/>
          <a:p>
            <a:r>
              <a:rPr lang="en-US" dirty="0"/>
              <a:t>Create a </a:t>
            </a:r>
            <a:r>
              <a:rPr lang="en-US" dirty="0" err="1"/>
              <a:t>GetPlanFactory</a:t>
            </a:r>
            <a:r>
              <a:rPr lang="en-US" dirty="0"/>
              <a:t> to generate object of concrete classes based on given information..</a:t>
            </a:r>
          </a:p>
          <a:p>
            <a:pPr marL="114300" indent="0">
              <a:buNone/>
            </a:pPr>
            <a:r>
              <a:rPr lang="en-US" b="1" dirty="0">
                <a:solidFill>
                  <a:srgbClr val="0070C0"/>
                </a:solidFill>
              </a:rPr>
              <a:t>class</a:t>
            </a:r>
            <a:r>
              <a:rPr lang="en-US" dirty="0">
                <a:solidFill>
                  <a:srgbClr val="0070C0"/>
                </a:solidFill>
              </a:rPr>
              <a:t> </a:t>
            </a:r>
            <a:r>
              <a:rPr lang="en-US" dirty="0" err="1">
                <a:solidFill>
                  <a:srgbClr val="0070C0"/>
                </a:solidFill>
              </a:rPr>
              <a:t>GetPlanFactory</a:t>
            </a:r>
            <a:r>
              <a:rPr lang="en-US" dirty="0">
                <a:solidFill>
                  <a:srgbClr val="0070C0"/>
                </a:solidFill>
              </a:rPr>
              <a:t>{  </a:t>
            </a:r>
          </a:p>
          <a:p>
            <a:pPr marL="114300" indent="0">
              <a:buNone/>
            </a:pPr>
            <a:r>
              <a:rPr lang="en-US" dirty="0">
                <a:solidFill>
                  <a:srgbClr val="0070C0"/>
                </a:solidFill>
              </a:rPr>
              <a:t>      </a:t>
            </a:r>
          </a:p>
          <a:p>
            <a:pPr marL="114300" indent="0">
              <a:buNone/>
            </a:pPr>
            <a:r>
              <a:rPr lang="en-US" dirty="0">
                <a:solidFill>
                  <a:srgbClr val="0070C0"/>
                </a:solidFill>
              </a:rPr>
              <a:t>   //use </a:t>
            </a:r>
            <a:r>
              <a:rPr lang="en-US" dirty="0" err="1">
                <a:solidFill>
                  <a:srgbClr val="0070C0"/>
                </a:solidFill>
              </a:rPr>
              <a:t>getPlan</a:t>
            </a:r>
            <a:r>
              <a:rPr lang="en-US" dirty="0">
                <a:solidFill>
                  <a:srgbClr val="0070C0"/>
                </a:solidFill>
              </a:rPr>
              <a:t> method to get object of type Plan   </a:t>
            </a:r>
          </a:p>
          <a:p>
            <a:pPr marL="114300" indent="0">
              <a:buNone/>
            </a:pPr>
            <a:r>
              <a:rPr lang="en-US" dirty="0">
                <a:solidFill>
                  <a:srgbClr val="0070C0"/>
                </a:solidFill>
              </a:rPr>
              <a:t>       </a:t>
            </a:r>
            <a:r>
              <a:rPr lang="en-US" b="1" dirty="0">
                <a:solidFill>
                  <a:srgbClr val="0070C0"/>
                </a:solidFill>
              </a:rPr>
              <a:t>public</a:t>
            </a:r>
            <a:r>
              <a:rPr lang="en-US" dirty="0">
                <a:solidFill>
                  <a:srgbClr val="0070C0"/>
                </a:solidFill>
              </a:rPr>
              <a:t> Plan </a:t>
            </a:r>
            <a:r>
              <a:rPr lang="en-US" dirty="0" err="1">
                <a:solidFill>
                  <a:srgbClr val="0070C0"/>
                </a:solidFill>
              </a:rPr>
              <a:t>getPlan</a:t>
            </a:r>
            <a:r>
              <a:rPr lang="en-US" dirty="0">
                <a:solidFill>
                  <a:srgbClr val="0070C0"/>
                </a:solidFill>
              </a:rPr>
              <a:t>(String </a:t>
            </a:r>
            <a:r>
              <a:rPr lang="en-US" dirty="0" err="1">
                <a:solidFill>
                  <a:srgbClr val="0070C0"/>
                </a:solidFill>
              </a:rPr>
              <a:t>planType</a:t>
            </a:r>
            <a:r>
              <a:rPr lang="en-US" dirty="0">
                <a:solidFill>
                  <a:srgbClr val="0070C0"/>
                </a:solidFill>
              </a:rPr>
              <a:t>){  </a:t>
            </a:r>
          </a:p>
          <a:p>
            <a:pPr marL="114300" indent="0">
              <a:buNone/>
            </a:pPr>
            <a:r>
              <a:rPr lang="en-US" dirty="0">
                <a:solidFill>
                  <a:srgbClr val="0070C0"/>
                </a:solidFill>
              </a:rPr>
              <a:t>            </a:t>
            </a:r>
            <a:r>
              <a:rPr lang="en-US" b="1" dirty="0">
                <a:solidFill>
                  <a:srgbClr val="0070C0"/>
                </a:solidFill>
              </a:rPr>
              <a:t>if</a:t>
            </a:r>
            <a:r>
              <a:rPr lang="en-US" dirty="0">
                <a:solidFill>
                  <a:srgbClr val="0070C0"/>
                </a:solidFill>
              </a:rPr>
              <a:t>(</a:t>
            </a:r>
            <a:r>
              <a:rPr lang="en-US" dirty="0" err="1">
                <a:solidFill>
                  <a:srgbClr val="0070C0"/>
                </a:solidFill>
              </a:rPr>
              <a:t>planType</a:t>
            </a:r>
            <a:r>
              <a:rPr lang="en-US" dirty="0">
                <a:solidFill>
                  <a:srgbClr val="0070C0"/>
                </a:solidFill>
              </a:rPr>
              <a:t> == </a:t>
            </a:r>
            <a:r>
              <a:rPr lang="en-US" b="1" dirty="0">
                <a:solidFill>
                  <a:srgbClr val="0070C0"/>
                </a:solidFill>
              </a:rPr>
              <a:t>null</a:t>
            </a:r>
            <a:r>
              <a:rPr lang="en-US" dirty="0">
                <a:solidFill>
                  <a:srgbClr val="0070C0"/>
                </a:solidFill>
              </a:rPr>
              <a:t>){  </a:t>
            </a:r>
          </a:p>
          <a:p>
            <a:pPr marL="114300" indent="0">
              <a:buNone/>
            </a:pPr>
            <a:r>
              <a:rPr lang="en-US" dirty="0">
                <a:solidFill>
                  <a:srgbClr val="0070C0"/>
                </a:solidFill>
              </a:rPr>
              <a:t>             </a:t>
            </a:r>
            <a:r>
              <a:rPr lang="en-US" b="1" dirty="0">
                <a:solidFill>
                  <a:srgbClr val="0070C0"/>
                </a:solidFill>
              </a:rPr>
              <a:t>return</a:t>
            </a:r>
            <a:r>
              <a:rPr lang="en-US" dirty="0">
                <a:solidFill>
                  <a:srgbClr val="0070C0"/>
                </a:solidFill>
              </a:rPr>
              <a:t> </a:t>
            </a:r>
            <a:r>
              <a:rPr lang="en-US" b="1" dirty="0">
                <a:solidFill>
                  <a:srgbClr val="0070C0"/>
                </a:solidFill>
              </a:rPr>
              <a:t>null</a:t>
            </a:r>
            <a:r>
              <a:rPr lang="en-US" dirty="0">
                <a:solidFill>
                  <a:srgbClr val="0070C0"/>
                </a:solidFill>
              </a:rPr>
              <a:t>;  </a:t>
            </a:r>
          </a:p>
          <a:p>
            <a:pPr marL="114300" indent="0">
              <a:buNone/>
            </a:pPr>
            <a:r>
              <a:rPr lang="en-US" dirty="0">
                <a:solidFill>
                  <a:srgbClr val="0070C0"/>
                </a:solidFill>
              </a:rPr>
              <a:t>            }  </a:t>
            </a:r>
          </a:p>
          <a:p>
            <a:pPr marL="114300" indent="0">
              <a:buNone/>
            </a:pPr>
            <a:r>
              <a:rPr lang="en-US" dirty="0">
                <a:solidFill>
                  <a:srgbClr val="0070C0"/>
                </a:solidFill>
              </a:rPr>
              <a:t>          </a:t>
            </a:r>
            <a:r>
              <a:rPr lang="en-US" b="1" dirty="0">
                <a:solidFill>
                  <a:srgbClr val="0070C0"/>
                </a:solidFill>
              </a:rPr>
              <a:t>if</a:t>
            </a:r>
            <a:r>
              <a:rPr lang="en-US" dirty="0">
                <a:solidFill>
                  <a:srgbClr val="0070C0"/>
                </a:solidFill>
              </a:rPr>
              <a:t>(</a:t>
            </a:r>
            <a:r>
              <a:rPr lang="en-US" dirty="0" err="1">
                <a:solidFill>
                  <a:srgbClr val="0070C0"/>
                </a:solidFill>
              </a:rPr>
              <a:t>planType.equalsIgnoreCase</a:t>
            </a:r>
            <a:r>
              <a:rPr lang="en-US" dirty="0">
                <a:solidFill>
                  <a:srgbClr val="0070C0"/>
                </a:solidFill>
              </a:rPr>
              <a:t>("DOMESTICPLAN")) {  </a:t>
            </a:r>
          </a:p>
          <a:p>
            <a:pPr marL="114300" indent="0">
              <a:buNone/>
            </a:pPr>
            <a:r>
              <a:rPr lang="en-US" dirty="0">
                <a:solidFill>
                  <a:srgbClr val="0070C0"/>
                </a:solidFill>
              </a:rPr>
              <a:t>                 </a:t>
            </a:r>
            <a:r>
              <a:rPr lang="en-US" b="1" dirty="0">
                <a:solidFill>
                  <a:srgbClr val="0070C0"/>
                </a:solidFill>
              </a:rPr>
              <a:t>return</a:t>
            </a:r>
            <a:r>
              <a:rPr lang="en-US" dirty="0">
                <a:solidFill>
                  <a:srgbClr val="0070C0"/>
                </a:solidFill>
              </a:rPr>
              <a:t> </a:t>
            </a:r>
            <a:r>
              <a:rPr lang="en-US" b="1" dirty="0">
                <a:solidFill>
                  <a:srgbClr val="0070C0"/>
                </a:solidFill>
              </a:rPr>
              <a:t>new</a:t>
            </a:r>
            <a:r>
              <a:rPr lang="en-US" dirty="0">
                <a:solidFill>
                  <a:srgbClr val="0070C0"/>
                </a:solidFill>
              </a:rPr>
              <a:t> </a:t>
            </a:r>
            <a:r>
              <a:rPr lang="en-US" dirty="0" err="1">
                <a:solidFill>
                  <a:srgbClr val="0070C0"/>
                </a:solidFill>
              </a:rPr>
              <a:t>DomesticPlan</a:t>
            </a:r>
            <a:r>
              <a:rPr lang="en-US" dirty="0">
                <a:solidFill>
                  <a:srgbClr val="0070C0"/>
                </a:solidFill>
              </a:rPr>
              <a:t>();  </a:t>
            </a:r>
          </a:p>
          <a:p>
            <a:pPr marL="114300" indent="0">
              <a:buNone/>
            </a:pPr>
            <a:r>
              <a:rPr lang="en-US" dirty="0">
                <a:solidFill>
                  <a:srgbClr val="0070C0"/>
                </a:solidFill>
              </a:rPr>
              <a:t>               }   </a:t>
            </a:r>
          </a:p>
          <a:p>
            <a:pPr marL="114300" indent="0">
              <a:buNone/>
            </a:pPr>
            <a:r>
              <a:rPr lang="en-US" dirty="0">
                <a:solidFill>
                  <a:srgbClr val="0070C0"/>
                </a:solidFill>
              </a:rPr>
              <a:t>           </a:t>
            </a:r>
            <a:r>
              <a:rPr lang="en-US" b="1" dirty="0">
                <a:solidFill>
                  <a:srgbClr val="0070C0"/>
                </a:solidFill>
              </a:rPr>
              <a:t>else</a:t>
            </a:r>
            <a:r>
              <a:rPr lang="en-US" dirty="0">
                <a:solidFill>
                  <a:srgbClr val="0070C0"/>
                </a:solidFill>
              </a:rPr>
              <a:t> </a:t>
            </a:r>
            <a:r>
              <a:rPr lang="en-US" b="1" dirty="0">
                <a:solidFill>
                  <a:srgbClr val="0070C0"/>
                </a:solidFill>
              </a:rPr>
              <a:t>if</a:t>
            </a:r>
            <a:r>
              <a:rPr lang="en-US" dirty="0">
                <a:solidFill>
                  <a:srgbClr val="0070C0"/>
                </a:solidFill>
              </a:rPr>
              <a:t>(</a:t>
            </a:r>
            <a:r>
              <a:rPr lang="en-US" dirty="0" err="1">
                <a:solidFill>
                  <a:srgbClr val="0070C0"/>
                </a:solidFill>
              </a:rPr>
              <a:t>planType.equalsIgnoreCase</a:t>
            </a:r>
            <a:r>
              <a:rPr lang="en-US" dirty="0">
                <a:solidFill>
                  <a:srgbClr val="0070C0"/>
                </a:solidFill>
              </a:rPr>
              <a:t>("COMMERCIALPLAN")){  </a:t>
            </a:r>
          </a:p>
          <a:p>
            <a:pPr marL="114300" indent="0">
              <a:buNone/>
            </a:pPr>
            <a:r>
              <a:rPr lang="en-US" dirty="0">
                <a:solidFill>
                  <a:srgbClr val="0070C0"/>
                </a:solidFill>
              </a:rPr>
              <a:t>                </a:t>
            </a:r>
            <a:r>
              <a:rPr lang="en-US" b="1" dirty="0">
                <a:solidFill>
                  <a:srgbClr val="0070C0"/>
                </a:solidFill>
              </a:rPr>
              <a:t>return</a:t>
            </a:r>
            <a:r>
              <a:rPr lang="en-US" dirty="0">
                <a:solidFill>
                  <a:srgbClr val="0070C0"/>
                </a:solidFill>
              </a:rPr>
              <a:t> </a:t>
            </a:r>
            <a:r>
              <a:rPr lang="en-US" b="1" dirty="0">
                <a:solidFill>
                  <a:srgbClr val="0070C0"/>
                </a:solidFill>
              </a:rPr>
              <a:t>new</a:t>
            </a:r>
            <a:r>
              <a:rPr lang="en-US" dirty="0">
                <a:solidFill>
                  <a:srgbClr val="0070C0"/>
                </a:solidFill>
              </a:rPr>
              <a:t> </a:t>
            </a:r>
            <a:r>
              <a:rPr lang="en-US" dirty="0" err="1">
                <a:solidFill>
                  <a:srgbClr val="0070C0"/>
                </a:solidFill>
              </a:rPr>
              <a:t>CommercialPlan</a:t>
            </a:r>
            <a:r>
              <a:rPr lang="en-US" dirty="0">
                <a:solidFill>
                  <a:srgbClr val="0070C0"/>
                </a:solidFill>
              </a:rPr>
              <a:t>();  </a:t>
            </a:r>
          </a:p>
          <a:p>
            <a:pPr marL="114300" indent="0">
              <a:buNone/>
            </a:pPr>
            <a:r>
              <a:rPr lang="en-US" dirty="0">
                <a:solidFill>
                  <a:srgbClr val="0070C0"/>
                </a:solidFill>
              </a:rPr>
              <a:t>            }  </a:t>
            </a:r>
          </a:p>
        </p:txBody>
      </p:sp>
    </p:spTree>
    <p:extLst>
      <p:ext uri="{BB962C8B-B14F-4D97-AF65-F5344CB8AC3E}">
        <p14:creationId xmlns:p14="http://schemas.microsoft.com/office/powerpoint/2010/main" val="210430325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Step 3</a:t>
            </a:r>
            <a:endParaRPr lang="en-US" dirty="0"/>
          </a:p>
        </p:txBody>
      </p:sp>
      <p:sp>
        <p:nvSpPr>
          <p:cNvPr id="3" name="Content Placeholder 2"/>
          <p:cNvSpPr>
            <a:spLocks noGrp="1"/>
          </p:cNvSpPr>
          <p:nvPr>
            <p:ph idx="1"/>
          </p:nvPr>
        </p:nvSpPr>
        <p:spPr/>
        <p:txBody>
          <a:bodyPr>
            <a:normAutofit/>
          </a:bodyPr>
          <a:lstStyle/>
          <a:p>
            <a:pPr marL="114300" indent="0">
              <a:buNone/>
            </a:pPr>
            <a:r>
              <a:rPr lang="en-US" b="1" dirty="0">
                <a:solidFill>
                  <a:srgbClr val="0070C0"/>
                </a:solidFill>
              </a:rPr>
              <a:t>else</a:t>
            </a:r>
            <a:r>
              <a:rPr lang="en-US" dirty="0">
                <a:solidFill>
                  <a:srgbClr val="0070C0"/>
                </a:solidFill>
              </a:rPr>
              <a:t> </a:t>
            </a:r>
            <a:r>
              <a:rPr lang="en-US" b="1" dirty="0">
                <a:solidFill>
                  <a:srgbClr val="0070C0"/>
                </a:solidFill>
              </a:rPr>
              <a:t>if</a:t>
            </a:r>
            <a:r>
              <a:rPr lang="en-US" dirty="0">
                <a:solidFill>
                  <a:srgbClr val="0070C0"/>
                </a:solidFill>
              </a:rPr>
              <a:t>(</a:t>
            </a:r>
            <a:r>
              <a:rPr lang="en-US" dirty="0" err="1">
                <a:solidFill>
                  <a:srgbClr val="0070C0"/>
                </a:solidFill>
              </a:rPr>
              <a:t>planType.equalsIgnoreCase</a:t>
            </a:r>
            <a:r>
              <a:rPr lang="en-US" dirty="0">
                <a:solidFill>
                  <a:srgbClr val="0070C0"/>
                </a:solidFill>
              </a:rPr>
              <a:t>("INSTITUTIONALPLAN")) {  </a:t>
            </a:r>
          </a:p>
          <a:p>
            <a:pPr marL="114300" indent="0">
              <a:buNone/>
            </a:pPr>
            <a:r>
              <a:rPr lang="en-US" dirty="0">
                <a:solidFill>
                  <a:srgbClr val="0070C0"/>
                </a:solidFill>
              </a:rPr>
              <a:t>                </a:t>
            </a:r>
            <a:r>
              <a:rPr lang="en-US" b="1" dirty="0">
                <a:solidFill>
                  <a:srgbClr val="0070C0"/>
                </a:solidFill>
              </a:rPr>
              <a:t>return</a:t>
            </a:r>
            <a:r>
              <a:rPr lang="en-US" dirty="0">
                <a:solidFill>
                  <a:srgbClr val="0070C0"/>
                </a:solidFill>
              </a:rPr>
              <a:t> </a:t>
            </a:r>
            <a:r>
              <a:rPr lang="en-US" b="1" dirty="0">
                <a:solidFill>
                  <a:srgbClr val="0070C0"/>
                </a:solidFill>
              </a:rPr>
              <a:t>new</a:t>
            </a:r>
            <a:r>
              <a:rPr lang="en-US" dirty="0">
                <a:solidFill>
                  <a:srgbClr val="0070C0"/>
                </a:solidFill>
              </a:rPr>
              <a:t> </a:t>
            </a:r>
            <a:r>
              <a:rPr lang="en-US" dirty="0" err="1">
                <a:solidFill>
                  <a:srgbClr val="0070C0"/>
                </a:solidFill>
              </a:rPr>
              <a:t>InstitutionalPlan</a:t>
            </a:r>
            <a:r>
              <a:rPr lang="en-US" dirty="0">
                <a:solidFill>
                  <a:srgbClr val="0070C0"/>
                </a:solidFill>
              </a:rPr>
              <a:t>();  </a:t>
            </a:r>
          </a:p>
          <a:p>
            <a:pPr marL="114300" indent="0">
              <a:buNone/>
            </a:pPr>
            <a:r>
              <a:rPr lang="en-US" dirty="0">
                <a:solidFill>
                  <a:srgbClr val="0070C0"/>
                </a:solidFill>
              </a:rPr>
              <a:t>          }  </a:t>
            </a:r>
          </a:p>
          <a:p>
            <a:pPr marL="114300" indent="0">
              <a:buNone/>
            </a:pPr>
            <a:r>
              <a:rPr lang="en-US" dirty="0">
                <a:solidFill>
                  <a:srgbClr val="0070C0"/>
                </a:solidFill>
              </a:rPr>
              <a:t>      </a:t>
            </a:r>
            <a:r>
              <a:rPr lang="en-US" b="1" dirty="0">
                <a:solidFill>
                  <a:srgbClr val="0070C0"/>
                </a:solidFill>
              </a:rPr>
              <a:t>return</a:t>
            </a:r>
            <a:r>
              <a:rPr lang="en-US" dirty="0">
                <a:solidFill>
                  <a:srgbClr val="0070C0"/>
                </a:solidFill>
              </a:rPr>
              <a:t> </a:t>
            </a:r>
            <a:r>
              <a:rPr lang="en-US" b="1" dirty="0">
                <a:solidFill>
                  <a:srgbClr val="0070C0"/>
                </a:solidFill>
              </a:rPr>
              <a:t>null</a:t>
            </a:r>
            <a:r>
              <a:rPr lang="en-US" dirty="0">
                <a:solidFill>
                  <a:srgbClr val="0070C0"/>
                </a:solidFill>
              </a:rPr>
              <a:t>;  </a:t>
            </a:r>
          </a:p>
          <a:p>
            <a:pPr marL="114300" indent="0">
              <a:buNone/>
            </a:pPr>
            <a:r>
              <a:rPr lang="en-US" dirty="0">
                <a:solidFill>
                  <a:srgbClr val="0070C0"/>
                </a:solidFill>
              </a:rPr>
              <a:t>   }  </a:t>
            </a:r>
          </a:p>
          <a:p>
            <a:pPr marL="114300" indent="0">
              <a:buNone/>
            </a:pPr>
            <a:r>
              <a:rPr lang="en-US" dirty="0">
                <a:solidFill>
                  <a:srgbClr val="0070C0"/>
                </a:solidFill>
              </a:rPr>
              <a:t>}</a:t>
            </a:r>
          </a:p>
        </p:txBody>
      </p:sp>
    </p:spTree>
    <p:extLst>
      <p:ext uri="{BB962C8B-B14F-4D97-AF65-F5344CB8AC3E}">
        <p14:creationId xmlns:p14="http://schemas.microsoft.com/office/powerpoint/2010/main" val="410222770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Step 4</a:t>
            </a:r>
            <a:endParaRPr lang="en-US" dirty="0"/>
          </a:p>
        </p:txBody>
      </p:sp>
      <p:sp>
        <p:nvSpPr>
          <p:cNvPr id="3" name="Content Placeholder 2"/>
          <p:cNvSpPr>
            <a:spLocks noGrp="1"/>
          </p:cNvSpPr>
          <p:nvPr>
            <p:ph idx="1"/>
          </p:nvPr>
        </p:nvSpPr>
        <p:spPr/>
        <p:txBody>
          <a:bodyPr/>
          <a:lstStyle/>
          <a:p>
            <a:r>
              <a:rPr lang="en-US" b="1" dirty="0"/>
              <a:t> Generate Bill </a:t>
            </a:r>
            <a:r>
              <a:rPr lang="en-US" dirty="0"/>
              <a:t>by using the </a:t>
            </a:r>
            <a:r>
              <a:rPr lang="en-US" b="1" dirty="0" err="1"/>
              <a:t>GetPlanFactory</a:t>
            </a:r>
            <a:r>
              <a:rPr lang="en-US" dirty="0"/>
              <a:t> to get the object of concrete classes by passing an information such as type of plan:</a:t>
            </a:r>
          </a:p>
          <a:p>
            <a:pPr>
              <a:buFont typeface="Wingdings" pitchFamily="2" charset="2"/>
              <a:buChar char="Ø"/>
            </a:pPr>
            <a:r>
              <a:rPr lang="en-US" dirty="0"/>
              <a:t> DOMESTICPLAN</a:t>
            </a:r>
          </a:p>
          <a:p>
            <a:pPr>
              <a:buFont typeface="Wingdings" pitchFamily="2" charset="2"/>
              <a:buChar char="Ø"/>
            </a:pPr>
            <a:r>
              <a:rPr lang="en-US" dirty="0"/>
              <a:t>COMMERCIALPLAN</a:t>
            </a:r>
          </a:p>
          <a:p>
            <a:pPr>
              <a:buFont typeface="Wingdings" pitchFamily="2" charset="2"/>
              <a:buChar char="Ø"/>
            </a:pPr>
            <a:r>
              <a:rPr lang="en-US" dirty="0"/>
              <a:t>INSTITUTIONALPLAN.</a:t>
            </a:r>
          </a:p>
        </p:txBody>
      </p:sp>
    </p:spTree>
    <p:extLst>
      <p:ext uri="{BB962C8B-B14F-4D97-AF65-F5344CB8AC3E}">
        <p14:creationId xmlns:p14="http://schemas.microsoft.com/office/powerpoint/2010/main" val="230577605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6134" y="457202"/>
            <a:ext cx="7704667" cy="304799"/>
          </a:xfrm>
        </p:spPr>
        <p:txBody>
          <a:bodyPr>
            <a:normAutofit fontScale="90000"/>
          </a:bodyPr>
          <a:lstStyle/>
          <a:p>
            <a:r>
              <a:rPr lang="en-US" b="1" dirty="0"/>
              <a:t>Step 4</a:t>
            </a:r>
            <a:endParaRPr lang="en-US" dirty="0"/>
          </a:p>
        </p:txBody>
      </p:sp>
      <p:sp>
        <p:nvSpPr>
          <p:cNvPr id="3" name="Content Placeholder 2"/>
          <p:cNvSpPr>
            <a:spLocks noGrp="1"/>
          </p:cNvSpPr>
          <p:nvPr>
            <p:ph idx="1"/>
          </p:nvPr>
        </p:nvSpPr>
        <p:spPr/>
        <p:txBody>
          <a:bodyPr>
            <a:normAutofit/>
          </a:bodyPr>
          <a:lstStyle/>
          <a:p>
            <a:pPr marL="114300" indent="0">
              <a:buNone/>
            </a:pPr>
            <a:r>
              <a:rPr lang="en-US" dirty="0">
                <a:solidFill>
                  <a:srgbClr val="0070C0"/>
                </a:solidFill>
              </a:rPr>
              <a:t>  </a:t>
            </a:r>
          </a:p>
          <a:p>
            <a:pPr marL="114300" indent="0">
              <a:buNone/>
            </a:pPr>
            <a:r>
              <a:rPr lang="en-US" dirty="0">
                <a:solidFill>
                  <a:srgbClr val="0070C0"/>
                </a:solidFill>
              </a:rPr>
              <a:t>    </a:t>
            </a:r>
          </a:p>
        </p:txBody>
      </p:sp>
      <p:sp>
        <p:nvSpPr>
          <p:cNvPr id="4" name="Rectangle 3"/>
          <p:cNvSpPr/>
          <p:nvPr/>
        </p:nvSpPr>
        <p:spPr>
          <a:xfrm>
            <a:off x="1905000" y="1475502"/>
            <a:ext cx="8991600" cy="4524315"/>
          </a:xfrm>
          <a:prstGeom prst="rect">
            <a:avLst/>
          </a:prstGeom>
        </p:spPr>
        <p:txBody>
          <a:bodyPr wrap="square">
            <a:spAutoFit/>
          </a:bodyPr>
          <a:lstStyle/>
          <a:p>
            <a:r>
              <a:rPr lang="en-US" dirty="0"/>
              <a:t>import </a:t>
            </a:r>
            <a:r>
              <a:rPr lang="en-US" dirty="0" err="1"/>
              <a:t>java.util.Scanner</a:t>
            </a:r>
            <a:r>
              <a:rPr lang="en-US" dirty="0"/>
              <a:t>;</a:t>
            </a:r>
          </a:p>
          <a:p>
            <a:endParaRPr lang="en-US" dirty="0"/>
          </a:p>
          <a:p>
            <a:r>
              <a:rPr lang="en-US" dirty="0"/>
              <a:t>public class </a:t>
            </a:r>
            <a:r>
              <a:rPr lang="en-US" dirty="0" err="1"/>
              <a:t>GenerateBill</a:t>
            </a:r>
            <a:r>
              <a:rPr lang="en-US" dirty="0"/>
              <a:t> </a:t>
            </a:r>
          </a:p>
          <a:p>
            <a:r>
              <a:rPr lang="en-US" dirty="0"/>
              <a:t>{</a:t>
            </a:r>
          </a:p>
          <a:p>
            <a:r>
              <a:rPr lang="en-US" dirty="0"/>
              <a:t>    public static void main(String[] </a:t>
            </a:r>
            <a:r>
              <a:rPr lang="en-US" dirty="0" err="1"/>
              <a:t>args</a:t>
            </a:r>
            <a:r>
              <a:rPr lang="en-US" dirty="0"/>
              <a:t>)</a:t>
            </a:r>
          </a:p>
          <a:p>
            <a:r>
              <a:rPr lang="en-US" dirty="0"/>
              <a:t> {</a:t>
            </a:r>
          </a:p>
          <a:p>
            <a:r>
              <a:rPr lang="en-US" dirty="0"/>
              <a:t>        </a:t>
            </a:r>
            <a:r>
              <a:rPr lang="en-US" dirty="0" err="1"/>
              <a:t>GetPlanFactory</a:t>
            </a:r>
            <a:r>
              <a:rPr lang="en-US" dirty="0"/>
              <a:t> </a:t>
            </a:r>
            <a:r>
              <a:rPr lang="en-US" dirty="0" err="1"/>
              <a:t>planFactory</a:t>
            </a:r>
            <a:r>
              <a:rPr lang="en-US" dirty="0"/>
              <a:t> = new </a:t>
            </a:r>
            <a:r>
              <a:rPr lang="en-US" dirty="0" err="1"/>
              <a:t>GetPlanFactory</a:t>
            </a:r>
            <a:r>
              <a:rPr lang="en-US" dirty="0"/>
              <a:t>();</a:t>
            </a:r>
          </a:p>
          <a:p>
            <a:r>
              <a:rPr lang="en-US" dirty="0"/>
              <a:t>        Scanner </a:t>
            </a:r>
            <a:r>
              <a:rPr lang="en-US" dirty="0" err="1"/>
              <a:t>scanner</a:t>
            </a:r>
            <a:r>
              <a:rPr lang="en-US" dirty="0"/>
              <a:t> = new Scanner(System.in);</a:t>
            </a:r>
          </a:p>
          <a:p>
            <a:endParaRPr lang="en-US" dirty="0"/>
          </a:p>
          <a:p>
            <a:r>
              <a:rPr lang="en-US" dirty="0"/>
              <a:t>        </a:t>
            </a:r>
            <a:r>
              <a:rPr lang="en-US" dirty="0" err="1"/>
              <a:t>System.out.print</a:t>
            </a:r>
            <a:r>
              <a:rPr lang="en-US" dirty="0"/>
              <a:t>("Enter plan type (</a:t>
            </a:r>
            <a:r>
              <a:rPr lang="en-US" dirty="0" err="1"/>
              <a:t>DomesticPlan</a:t>
            </a:r>
            <a:r>
              <a:rPr lang="en-US" dirty="0"/>
              <a:t>, </a:t>
            </a:r>
            <a:r>
              <a:rPr lang="en-US" dirty="0" err="1"/>
              <a:t>CommercialPlan</a:t>
            </a:r>
            <a:r>
              <a:rPr lang="en-US" dirty="0"/>
              <a:t>, or </a:t>
            </a:r>
            <a:r>
              <a:rPr lang="en-US" dirty="0" err="1"/>
              <a:t>InstitutionalPlan</a:t>
            </a:r>
            <a:r>
              <a:rPr lang="en-US" dirty="0"/>
              <a:t>): ");</a:t>
            </a:r>
          </a:p>
          <a:p>
            <a:r>
              <a:rPr lang="en-US" dirty="0"/>
              <a:t>        String </a:t>
            </a:r>
            <a:r>
              <a:rPr lang="en-US" dirty="0" err="1"/>
              <a:t>planName</a:t>
            </a:r>
            <a:r>
              <a:rPr lang="en-US" dirty="0"/>
              <a:t> = </a:t>
            </a:r>
            <a:r>
              <a:rPr lang="en-US" dirty="0" err="1"/>
              <a:t>scanner.nextLine</a:t>
            </a:r>
            <a:r>
              <a:rPr lang="en-US" dirty="0"/>
              <a:t>();</a:t>
            </a:r>
          </a:p>
          <a:p>
            <a:endParaRPr lang="en-US" dirty="0"/>
          </a:p>
          <a:p>
            <a:r>
              <a:rPr lang="en-US" dirty="0"/>
              <a:t>        </a:t>
            </a:r>
            <a:r>
              <a:rPr lang="en-US" dirty="0" err="1"/>
              <a:t>System.out.print</a:t>
            </a:r>
            <a:r>
              <a:rPr lang="en-US" dirty="0"/>
              <a:t>("Enter the number of units to be billed: ");</a:t>
            </a:r>
          </a:p>
          <a:p>
            <a:r>
              <a:rPr lang="en-US" dirty="0"/>
              <a:t>        </a:t>
            </a:r>
            <a:r>
              <a:rPr lang="en-US" dirty="0" err="1"/>
              <a:t>int</a:t>
            </a:r>
            <a:r>
              <a:rPr lang="en-US" dirty="0"/>
              <a:t> units = </a:t>
            </a:r>
            <a:r>
              <a:rPr lang="en-US" dirty="0" err="1"/>
              <a:t>scanner.nextInt</a:t>
            </a:r>
            <a:r>
              <a:rPr lang="en-US" dirty="0"/>
              <a:t>();</a:t>
            </a:r>
          </a:p>
          <a:p>
            <a:endParaRPr lang="en-US" dirty="0"/>
          </a:p>
        </p:txBody>
      </p:sp>
    </p:spTree>
    <p:extLst>
      <p:ext uri="{BB962C8B-B14F-4D97-AF65-F5344CB8AC3E}">
        <p14:creationId xmlns:p14="http://schemas.microsoft.com/office/powerpoint/2010/main" val="421902887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6134" y="457202"/>
            <a:ext cx="7704667" cy="990599"/>
          </a:xfrm>
        </p:spPr>
        <p:txBody>
          <a:bodyPr/>
          <a:lstStyle/>
          <a:p>
            <a:r>
              <a:rPr lang="en-US" b="1" dirty="0"/>
              <a:t>Step 4</a:t>
            </a:r>
            <a:endParaRPr lang="en-US" dirty="0"/>
          </a:p>
        </p:txBody>
      </p:sp>
      <p:sp>
        <p:nvSpPr>
          <p:cNvPr id="3" name="Content Placeholder 2"/>
          <p:cNvSpPr>
            <a:spLocks noGrp="1"/>
          </p:cNvSpPr>
          <p:nvPr>
            <p:ph idx="1"/>
          </p:nvPr>
        </p:nvSpPr>
        <p:spPr/>
        <p:txBody>
          <a:bodyPr>
            <a:normAutofit/>
          </a:bodyPr>
          <a:lstStyle/>
          <a:p>
            <a:pPr marL="114300" indent="0">
              <a:buNone/>
            </a:pPr>
            <a:r>
              <a:rPr lang="en-US" dirty="0">
                <a:solidFill>
                  <a:srgbClr val="0070C0"/>
                </a:solidFill>
              </a:rPr>
              <a:t> </a:t>
            </a:r>
          </a:p>
        </p:txBody>
      </p:sp>
      <p:sp>
        <p:nvSpPr>
          <p:cNvPr id="4" name="Rectangle 3"/>
          <p:cNvSpPr/>
          <p:nvPr/>
        </p:nvSpPr>
        <p:spPr>
          <a:xfrm>
            <a:off x="2590800" y="1905000"/>
            <a:ext cx="7924800" cy="4801314"/>
          </a:xfrm>
          <a:prstGeom prst="rect">
            <a:avLst/>
          </a:prstGeom>
        </p:spPr>
        <p:txBody>
          <a:bodyPr wrap="square">
            <a:spAutoFit/>
          </a:bodyPr>
          <a:lstStyle/>
          <a:p>
            <a:r>
              <a:rPr lang="en-US" dirty="0"/>
              <a:t> // Factory instantiates the correct object based on input</a:t>
            </a:r>
          </a:p>
          <a:p>
            <a:r>
              <a:rPr lang="en-US" dirty="0"/>
              <a:t>        Plan p = </a:t>
            </a:r>
            <a:r>
              <a:rPr lang="en-US" dirty="0" err="1"/>
              <a:t>planFactory.getPlan</a:t>
            </a:r>
            <a:r>
              <a:rPr lang="en-US" dirty="0"/>
              <a:t>(</a:t>
            </a:r>
            <a:r>
              <a:rPr lang="en-US" dirty="0" err="1"/>
              <a:t>planName</a:t>
            </a:r>
            <a:r>
              <a:rPr lang="en-US" dirty="0"/>
              <a:t>);</a:t>
            </a:r>
          </a:p>
          <a:p>
            <a:endParaRPr lang="en-US" dirty="0"/>
          </a:p>
          <a:p>
            <a:r>
              <a:rPr lang="en-US" dirty="0"/>
              <a:t>        if (p != null) </a:t>
            </a:r>
          </a:p>
          <a:p>
            <a:r>
              <a:rPr lang="en-US" dirty="0"/>
              <a:t>{</a:t>
            </a:r>
          </a:p>
          <a:p>
            <a:r>
              <a:rPr lang="en-US" dirty="0"/>
              <a:t>            </a:t>
            </a:r>
            <a:r>
              <a:rPr lang="en-US" dirty="0" err="1"/>
              <a:t>System.out.print</a:t>
            </a:r>
            <a:r>
              <a:rPr lang="en-US" dirty="0"/>
              <a:t>("Bill amount for " + </a:t>
            </a:r>
            <a:r>
              <a:rPr lang="en-US" dirty="0" err="1"/>
              <a:t>planName</a:t>
            </a:r>
            <a:r>
              <a:rPr lang="en-US" dirty="0"/>
              <a:t> + " for " + units + " units is: ");</a:t>
            </a:r>
          </a:p>
          <a:p>
            <a:r>
              <a:rPr lang="en-US" dirty="0"/>
              <a:t>            </a:t>
            </a:r>
            <a:r>
              <a:rPr lang="en-US" dirty="0" err="1"/>
              <a:t>p.getRate</a:t>
            </a:r>
            <a:r>
              <a:rPr lang="en-US" dirty="0"/>
              <a:t>(); // Sets the specific rate</a:t>
            </a:r>
          </a:p>
          <a:p>
            <a:r>
              <a:rPr lang="en-US" dirty="0"/>
              <a:t>            </a:t>
            </a:r>
            <a:r>
              <a:rPr lang="en-US" dirty="0" err="1"/>
              <a:t>p.calculateBill</a:t>
            </a:r>
            <a:r>
              <a:rPr lang="en-US" dirty="0"/>
              <a:t>(units); // Calculates and prints the total</a:t>
            </a:r>
          </a:p>
          <a:p>
            <a:r>
              <a:rPr lang="en-US" dirty="0"/>
              <a:t>        }</a:t>
            </a:r>
          </a:p>
          <a:p>
            <a:r>
              <a:rPr lang="en-US" dirty="0"/>
              <a:t> else </a:t>
            </a:r>
          </a:p>
          <a:p>
            <a:r>
              <a:rPr lang="en-US" dirty="0"/>
              <a:t>{</a:t>
            </a:r>
          </a:p>
          <a:p>
            <a:r>
              <a:rPr lang="en-US" dirty="0"/>
              <a:t>            </a:t>
            </a:r>
            <a:r>
              <a:rPr lang="en-US" dirty="0" err="1"/>
              <a:t>System.out.println</a:t>
            </a:r>
            <a:r>
              <a:rPr lang="en-US" dirty="0"/>
              <a:t>("Invalid plan type entered.");</a:t>
            </a:r>
          </a:p>
          <a:p>
            <a:r>
              <a:rPr lang="en-US" dirty="0"/>
              <a:t>        }</a:t>
            </a:r>
          </a:p>
          <a:p>
            <a:r>
              <a:rPr lang="en-US" dirty="0"/>
              <a:t>                </a:t>
            </a:r>
            <a:r>
              <a:rPr lang="en-US" dirty="0" err="1"/>
              <a:t>scanner.close</a:t>
            </a:r>
            <a:r>
              <a:rPr lang="en-US" dirty="0"/>
              <a:t>();</a:t>
            </a:r>
          </a:p>
          <a:p>
            <a:r>
              <a:rPr lang="en-US" dirty="0"/>
              <a:t>    }</a:t>
            </a:r>
          </a:p>
          <a:p>
            <a:r>
              <a:rPr lang="en-US" dirty="0"/>
              <a:t>}</a:t>
            </a:r>
          </a:p>
        </p:txBody>
      </p:sp>
    </p:spTree>
    <p:extLst>
      <p:ext uri="{BB962C8B-B14F-4D97-AF65-F5344CB8AC3E}">
        <p14:creationId xmlns:p14="http://schemas.microsoft.com/office/powerpoint/2010/main" val="131277069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14601" y="914402"/>
            <a:ext cx="7696200" cy="1904999"/>
          </a:xfrm>
        </p:spPr>
        <p:txBody>
          <a:bodyPr>
            <a:normAutofit fontScale="90000"/>
          </a:bodyPr>
          <a:lstStyle/>
          <a:p>
            <a:r>
              <a:rPr lang="en-US" dirty="0"/>
              <a:t>Abstract Factory Pattern</a:t>
            </a:r>
          </a:p>
        </p:txBody>
      </p:sp>
      <p:sp>
        <p:nvSpPr>
          <p:cNvPr id="3" name="Subtitle 2"/>
          <p:cNvSpPr>
            <a:spLocks noGrp="1"/>
          </p:cNvSpPr>
          <p:nvPr>
            <p:ph type="subTitle" idx="1"/>
          </p:nvPr>
        </p:nvSpPr>
        <p:spPr/>
        <p:txBody>
          <a:bodyPr/>
          <a:lstStyle/>
          <a:p>
            <a:r>
              <a:rPr lang="en-US" dirty="0"/>
              <a:t>Ms. Shehla Saeed</a:t>
            </a:r>
          </a:p>
        </p:txBody>
      </p:sp>
    </p:spTree>
    <p:extLst>
      <p:ext uri="{BB962C8B-B14F-4D97-AF65-F5344CB8AC3E}">
        <p14:creationId xmlns:p14="http://schemas.microsoft.com/office/powerpoint/2010/main" val="352480755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75BC3-B53F-4894-9079-812D10DBEB0E}"/>
              </a:ext>
            </a:extLst>
          </p:cNvPr>
          <p:cNvSpPr>
            <a:spLocks noGrp="1"/>
          </p:cNvSpPr>
          <p:nvPr>
            <p:ph type="title"/>
          </p:nvPr>
        </p:nvSpPr>
        <p:spPr/>
        <p:txBody>
          <a:bodyPr/>
          <a:lstStyle/>
          <a:p>
            <a:r>
              <a:rPr lang="en-US" dirty="0"/>
              <a:t>Abstract Factory Pattern</a:t>
            </a:r>
          </a:p>
        </p:txBody>
      </p:sp>
      <p:sp>
        <p:nvSpPr>
          <p:cNvPr id="3" name="Content Placeholder 2">
            <a:extLst>
              <a:ext uri="{FF2B5EF4-FFF2-40B4-BE49-F238E27FC236}">
                <a16:creationId xmlns:a16="http://schemas.microsoft.com/office/drawing/2014/main" id="{AE2F7355-3756-4CB7-9C70-E4BD04B8BCB0}"/>
              </a:ext>
            </a:extLst>
          </p:cNvPr>
          <p:cNvSpPr>
            <a:spLocks noGrp="1"/>
          </p:cNvSpPr>
          <p:nvPr>
            <p:ph idx="1"/>
          </p:nvPr>
        </p:nvSpPr>
        <p:spPr/>
        <p:txBody>
          <a:bodyPr/>
          <a:lstStyle/>
          <a:p>
            <a:r>
              <a:rPr lang="en-US" b="1" dirty="0"/>
              <a:t>Abstract Factory design pattern</a:t>
            </a:r>
            <a:r>
              <a:rPr lang="en-US" dirty="0"/>
              <a:t> is one of the Creational </a:t>
            </a:r>
            <a:r>
              <a:rPr lang="en-US" b="1" dirty="0"/>
              <a:t>pattern</a:t>
            </a:r>
            <a:r>
              <a:rPr lang="en-US" dirty="0"/>
              <a:t>.</a:t>
            </a:r>
          </a:p>
          <a:p>
            <a:r>
              <a:rPr lang="en-US" dirty="0"/>
              <a:t> </a:t>
            </a:r>
            <a:r>
              <a:rPr lang="en-US" b="1" dirty="0"/>
              <a:t>Abstract Factory pattern</a:t>
            </a:r>
            <a:r>
              <a:rPr lang="en-US" dirty="0"/>
              <a:t> is almost similar to </a:t>
            </a:r>
            <a:r>
              <a:rPr lang="en-US" b="1" dirty="0"/>
              <a:t>Factory Pattern</a:t>
            </a:r>
            <a:r>
              <a:rPr lang="en-US" dirty="0"/>
              <a:t> is considered as another layer of </a:t>
            </a:r>
            <a:r>
              <a:rPr lang="en-US" b="1" dirty="0"/>
              <a:t>abstraction</a:t>
            </a:r>
            <a:r>
              <a:rPr lang="en-US" dirty="0"/>
              <a:t> over </a:t>
            </a:r>
            <a:r>
              <a:rPr lang="en-US" b="1" dirty="0"/>
              <a:t>factory pattern</a:t>
            </a:r>
            <a:r>
              <a:rPr lang="en-US" dirty="0"/>
              <a:t>. </a:t>
            </a:r>
          </a:p>
          <a:p>
            <a:r>
              <a:rPr lang="en-US" b="1" dirty="0"/>
              <a:t>Abstract Factory patterns</a:t>
            </a:r>
            <a:r>
              <a:rPr lang="en-US" dirty="0"/>
              <a:t> work around a super-</a:t>
            </a:r>
            <a:r>
              <a:rPr lang="en-US" b="1" dirty="0"/>
              <a:t>factory</a:t>
            </a:r>
            <a:r>
              <a:rPr lang="en-US" dirty="0"/>
              <a:t> which creates other </a:t>
            </a:r>
            <a:r>
              <a:rPr lang="en-US" b="1" dirty="0"/>
              <a:t>factories</a:t>
            </a:r>
            <a:r>
              <a:rPr lang="en-US" dirty="0"/>
              <a:t>.</a:t>
            </a:r>
          </a:p>
        </p:txBody>
      </p:sp>
    </p:spTree>
    <p:extLst>
      <p:ext uri="{BB962C8B-B14F-4D97-AF65-F5344CB8AC3E}">
        <p14:creationId xmlns:p14="http://schemas.microsoft.com/office/powerpoint/2010/main" val="359567360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 and Usage</a:t>
            </a:r>
            <a:br>
              <a:rPr lang="en-US" dirty="0"/>
            </a:br>
            <a:endParaRPr lang="en-US" dirty="0"/>
          </a:p>
        </p:txBody>
      </p:sp>
      <p:sp>
        <p:nvSpPr>
          <p:cNvPr id="3" name="Content Placeholder 2"/>
          <p:cNvSpPr>
            <a:spLocks noGrp="1"/>
          </p:cNvSpPr>
          <p:nvPr>
            <p:ph idx="1"/>
          </p:nvPr>
        </p:nvSpPr>
        <p:spPr>
          <a:xfrm>
            <a:off x="2506134" y="1828800"/>
            <a:ext cx="7704667" cy="4171016"/>
          </a:xfrm>
        </p:spPr>
        <p:txBody>
          <a:bodyPr>
            <a:normAutofit fontScale="85000" lnSpcReduction="10000"/>
          </a:bodyPr>
          <a:lstStyle/>
          <a:p>
            <a:r>
              <a:rPr lang="en-US" b="1" dirty="0"/>
              <a:t>To Hide Complex Details: </a:t>
            </a:r>
            <a:r>
              <a:rPr lang="en-US" dirty="0"/>
              <a:t>It separates your main program (the client) from the complicated code used to actually build the objects. Your system doesn't need to know how things are created.</a:t>
            </a:r>
          </a:p>
          <a:p>
            <a:r>
              <a:rPr lang="en-US" b="1" dirty="0"/>
              <a:t>To Keep Families Together:</a:t>
            </a:r>
            <a:r>
              <a:rPr lang="en-US" dirty="0"/>
              <a:t> It ensures that objects designed to work together are always used together. It prevents you from accidentally mixing parts from different families.</a:t>
            </a:r>
          </a:p>
          <a:p>
            <a:r>
              <a:rPr lang="en-US" b="1" dirty="0"/>
              <a:t>To Allow Easy Swapping: </a:t>
            </a:r>
            <a:r>
              <a:rPr lang="en-US" dirty="0"/>
              <a:t>It lets you easily configure a system to switch between completely different sets of objects with minimal code changes.</a:t>
            </a:r>
          </a:p>
          <a:p>
            <a:r>
              <a:rPr lang="en-US" b="1" dirty="0"/>
              <a:t>To Provide a Clean Toolbox: </a:t>
            </a:r>
            <a:r>
              <a:rPr lang="en-US" dirty="0"/>
              <a:t>It lets you share a library of objects where other developers only see the basic controls (interfaces) and none of the messy internal code (implementations).</a:t>
            </a:r>
          </a:p>
        </p:txBody>
      </p:sp>
    </p:spTree>
    <p:extLst>
      <p:ext uri="{BB962C8B-B14F-4D97-AF65-F5344CB8AC3E}">
        <p14:creationId xmlns:p14="http://schemas.microsoft.com/office/powerpoint/2010/main" val="92426587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94F9222F-12FC-4E86-801E-DCFC04D35F0A}"/>
              </a:ext>
            </a:extLst>
          </p:cNvPr>
          <p:cNvSpPr/>
          <p:nvPr/>
        </p:nvSpPr>
        <p:spPr>
          <a:xfrm>
            <a:off x="3237816" y="1413740"/>
            <a:ext cx="3239184" cy="445366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 name="Picture 2">
            <a:extLst>
              <a:ext uri="{FF2B5EF4-FFF2-40B4-BE49-F238E27FC236}">
                <a16:creationId xmlns:a16="http://schemas.microsoft.com/office/drawing/2014/main" id="{18EA9049-652E-4514-A6D4-8EA2770C0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55077" y="838201"/>
            <a:ext cx="3715268" cy="2343477"/>
          </a:xfrm>
          <a:prstGeom prst="rect">
            <a:avLst/>
          </a:prstGeom>
        </p:spPr>
      </p:pic>
      <p:pic>
        <p:nvPicPr>
          <p:cNvPr id="5" name="Picture 4">
            <a:extLst>
              <a:ext uri="{FF2B5EF4-FFF2-40B4-BE49-F238E27FC236}">
                <a16:creationId xmlns:a16="http://schemas.microsoft.com/office/drawing/2014/main" id="{8A848FD5-02EB-4B16-944B-AD53543EC8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14626" y="4191001"/>
            <a:ext cx="3753374" cy="2353003"/>
          </a:xfrm>
          <a:prstGeom prst="rect">
            <a:avLst/>
          </a:prstGeom>
        </p:spPr>
      </p:pic>
      <p:pic>
        <p:nvPicPr>
          <p:cNvPr id="7" name="Picture 6">
            <a:extLst>
              <a:ext uri="{FF2B5EF4-FFF2-40B4-BE49-F238E27FC236}">
                <a16:creationId xmlns:a16="http://schemas.microsoft.com/office/drawing/2014/main" id="{2D201478-4769-4F01-885C-9B03DBB56A0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35618" y="1692428"/>
            <a:ext cx="2032734" cy="833649"/>
          </a:xfrm>
          <a:prstGeom prst="rect">
            <a:avLst/>
          </a:prstGeom>
        </p:spPr>
      </p:pic>
      <p:pic>
        <p:nvPicPr>
          <p:cNvPr id="9" name="Picture 8">
            <a:extLst>
              <a:ext uri="{FF2B5EF4-FFF2-40B4-BE49-F238E27FC236}">
                <a16:creationId xmlns:a16="http://schemas.microsoft.com/office/drawing/2014/main" id="{E8C38B0B-F65F-4FE3-8788-410AF908721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35229" y="4798023"/>
            <a:ext cx="2119848" cy="833648"/>
          </a:xfrm>
          <a:prstGeom prst="rect">
            <a:avLst/>
          </a:prstGeom>
        </p:spPr>
      </p:pic>
      <p:pic>
        <p:nvPicPr>
          <p:cNvPr id="11" name="Picture 10">
            <a:extLst>
              <a:ext uri="{FF2B5EF4-FFF2-40B4-BE49-F238E27FC236}">
                <a16:creationId xmlns:a16="http://schemas.microsoft.com/office/drawing/2014/main" id="{D803AD01-808F-457F-99DE-C08DAC96F9C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79899" y="3181678"/>
            <a:ext cx="1257444" cy="931439"/>
          </a:xfrm>
          <a:prstGeom prst="rect">
            <a:avLst/>
          </a:prstGeom>
        </p:spPr>
      </p:pic>
      <p:pic>
        <p:nvPicPr>
          <p:cNvPr id="13" name="Picture 12">
            <a:extLst>
              <a:ext uri="{FF2B5EF4-FFF2-40B4-BE49-F238E27FC236}">
                <a16:creationId xmlns:a16="http://schemas.microsoft.com/office/drawing/2014/main" id="{03896261-3EE4-4402-942B-984C95AEDAA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537343" y="2555384"/>
            <a:ext cx="1042624" cy="2184024"/>
          </a:xfrm>
          <a:prstGeom prst="rect">
            <a:avLst/>
          </a:prstGeom>
        </p:spPr>
      </p:pic>
      <p:pic>
        <p:nvPicPr>
          <p:cNvPr id="15" name="Picture 14">
            <a:extLst>
              <a:ext uri="{FF2B5EF4-FFF2-40B4-BE49-F238E27FC236}">
                <a16:creationId xmlns:a16="http://schemas.microsoft.com/office/drawing/2014/main" id="{E66552E0-3C80-416C-9625-FD12B8EE0A3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676400" y="1413740"/>
            <a:ext cx="1371600" cy="1032235"/>
          </a:xfrm>
          <a:prstGeom prst="rect">
            <a:avLst/>
          </a:prstGeom>
        </p:spPr>
      </p:pic>
      <p:pic>
        <p:nvPicPr>
          <p:cNvPr id="17" name="Picture 16">
            <a:extLst>
              <a:ext uri="{FF2B5EF4-FFF2-40B4-BE49-F238E27FC236}">
                <a16:creationId xmlns:a16="http://schemas.microsoft.com/office/drawing/2014/main" id="{5529FDA6-5CC9-428C-A680-DF160A8B465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23400" y="4757127"/>
            <a:ext cx="1814416" cy="915440"/>
          </a:xfrm>
          <a:prstGeom prst="rect">
            <a:avLst/>
          </a:prstGeom>
        </p:spPr>
      </p:pic>
      <p:pic>
        <p:nvPicPr>
          <p:cNvPr id="19" name="Picture 18">
            <a:extLst>
              <a:ext uri="{FF2B5EF4-FFF2-40B4-BE49-F238E27FC236}">
                <a16:creationId xmlns:a16="http://schemas.microsoft.com/office/drawing/2014/main" id="{4F8B1815-F2F8-4062-800E-D958323EA032}"/>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987754" y="2445973"/>
            <a:ext cx="504895" cy="2352050"/>
          </a:xfrm>
          <a:prstGeom prst="rect">
            <a:avLst/>
          </a:prstGeom>
        </p:spPr>
      </p:pic>
      <p:pic>
        <p:nvPicPr>
          <p:cNvPr id="21" name="Picture 20">
            <a:extLst>
              <a:ext uri="{FF2B5EF4-FFF2-40B4-BE49-F238E27FC236}">
                <a16:creationId xmlns:a16="http://schemas.microsoft.com/office/drawing/2014/main" id="{3C13C1EB-38CA-4B20-A158-C1AD9511286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rot="1586451">
            <a:off x="3237817" y="4113116"/>
            <a:ext cx="590841" cy="931439"/>
          </a:xfrm>
          <a:prstGeom prst="rect">
            <a:avLst/>
          </a:prstGeom>
        </p:spPr>
      </p:pic>
    </p:spTree>
    <p:extLst>
      <p:ext uri="{BB962C8B-B14F-4D97-AF65-F5344CB8AC3E}">
        <p14:creationId xmlns:p14="http://schemas.microsoft.com/office/powerpoint/2010/main" val="34946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ppt_x"/>
                                          </p:val>
                                        </p:tav>
                                        <p:tav tm="100000">
                                          <p:val>
                                            <p:strVal val="#ppt_x"/>
                                          </p:val>
                                        </p:tav>
                                      </p:tavLst>
                                    </p:anim>
                                    <p:anim calcmode="lin" valueType="num">
                                      <p:cBhvr additive="base">
                                        <p:cTn id="3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anim calcmode="lin" valueType="num">
                                      <p:cBhvr additive="base">
                                        <p:cTn id="43" dur="500" fill="hold"/>
                                        <p:tgtEl>
                                          <p:spTgt spid="22"/>
                                        </p:tgtEl>
                                        <p:attrNameLst>
                                          <p:attrName>ppt_x</p:attrName>
                                        </p:attrNameLst>
                                      </p:cBhvr>
                                      <p:tavLst>
                                        <p:tav tm="0">
                                          <p:val>
                                            <p:strVal val="#ppt_x"/>
                                          </p:val>
                                        </p:tav>
                                        <p:tav tm="100000">
                                          <p:val>
                                            <p:strVal val="#ppt_x"/>
                                          </p:val>
                                        </p:tav>
                                      </p:tavLst>
                                    </p:anim>
                                    <p:anim calcmode="lin" valueType="num">
                                      <p:cBhvr additive="base">
                                        <p:cTn id="44"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fill="hold"/>
                                        <p:tgtEl>
                                          <p:spTgt spid="15"/>
                                        </p:tgtEl>
                                        <p:attrNameLst>
                                          <p:attrName>ppt_x</p:attrName>
                                        </p:attrNameLst>
                                      </p:cBhvr>
                                      <p:tavLst>
                                        <p:tav tm="0">
                                          <p:val>
                                            <p:strVal val="#ppt_x"/>
                                          </p:val>
                                        </p:tav>
                                        <p:tav tm="100000">
                                          <p:val>
                                            <p:strVal val="#ppt_x"/>
                                          </p:val>
                                        </p:tav>
                                      </p:tavLst>
                                    </p:anim>
                                    <p:anim calcmode="lin" valueType="num">
                                      <p:cBhvr additive="base">
                                        <p:cTn id="5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500" fill="hold"/>
                                        <p:tgtEl>
                                          <p:spTgt spid="19"/>
                                        </p:tgtEl>
                                        <p:attrNameLst>
                                          <p:attrName>ppt_x</p:attrName>
                                        </p:attrNameLst>
                                      </p:cBhvr>
                                      <p:tavLst>
                                        <p:tav tm="0">
                                          <p:val>
                                            <p:strVal val="#ppt_x"/>
                                          </p:val>
                                        </p:tav>
                                        <p:tav tm="100000">
                                          <p:val>
                                            <p:strVal val="#ppt_x"/>
                                          </p:val>
                                        </p:tav>
                                      </p:tavLst>
                                    </p:anim>
                                    <p:anim calcmode="lin" valueType="num">
                                      <p:cBhvr additive="base">
                                        <p:cTn id="5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17"/>
                                        </p:tgtEl>
                                        <p:attrNameLst>
                                          <p:attrName>style.visibility</p:attrName>
                                        </p:attrNameLst>
                                      </p:cBhvr>
                                      <p:to>
                                        <p:strVal val="visible"/>
                                      </p:to>
                                    </p:set>
                                    <p:anim calcmode="lin" valueType="num">
                                      <p:cBhvr additive="base">
                                        <p:cTn id="61" dur="500" fill="hold"/>
                                        <p:tgtEl>
                                          <p:spTgt spid="17"/>
                                        </p:tgtEl>
                                        <p:attrNameLst>
                                          <p:attrName>ppt_x</p:attrName>
                                        </p:attrNameLst>
                                      </p:cBhvr>
                                      <p:tavLst>
                                        <p:tav tm="0">
                                          <p:val>
                                            <p:strVal val="#ppt_x"/>
                                          </p:val>
                                        </p:tav>
                                        <p:tav tm="100000">
                                          <p:val>
                                            <p:strVal val="#ppt_x"/>
                                          </p:val>
                                        </p:tav>
                                      </p:tavLst>
                                    </p:anim>
                                    <p:anim calcmode="lin" valueType="num">
                                      <p:cBhvr additive="base">
                                        <p:cTn id="6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ppt_x"/>
                                          </p:val>
                                        </p:tav>
                                        <p:tav tm="100000">
                                          <p:val>
                                            <p:strVal val="#ppt_x"/>
                                          </p:val>
                                        </p:tav>
                                      </p:tavLst>
                                    </p:anim>
                                    <p:anim calcmode="lin" valueType="num">
                                      <p:cBhvr additive="base">
                                        <p:cTn id="6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1" y="457202"/>
            <a:ext cx="8229600" cy="1523999"/>
          </a:xfrm>
        </p:spPr>
        <p:txBody>
          <a:bodyPr/>
          <a:lstStyle/>
          <a:p>
            <a:r>
              <a:rPr lang="en-US" dirty="0"/>
              <a:t>Elements of Abstract Factory Pattern</a:t>
            </a:r>
          </a:p>
        </p:txBody>
      </p:sp>
      <p:sp>
        <p:nvSpPr>
          <p:cNvPr id="3" name="Content Placeholder 2"/>
          <p:cNvSpPr>
            <a:spLocks noGrp="1"/>
          </p:cNvSpPr>
          <p:nvPr>
            <p:ph idx="1"/>
          </p:nvPr>
        </p:nvSpPr>
        <p:spPr>
          <a:xfrm>
            <a:off x="2506134" y="2209800"/>
            <a:ext cx="7704667" cy="3790016"/>
          </a:xfrm>
        </p:spPr>
        <p:txBody>
          <a:bodyPr>
            <a:normAutofit/>
          </a:bodyPr>
          <a:lstStyle/>
          <a:p>
            <a:pPr marL="0" indent="0">
              <a:buNone/>
            </a:pPr>
            <a:r>
              <a:rPr lang="en-US" b="1" dirty="0" err="1"/>
              <a:t>AbstractFactory</a:t>
            </a:r>
            <a:r>
              <a:rPr lang="en-US" b="1" dirty="0"/>
              <a:t> (The Master Blueprint)</a:t>
            </a:r>
            <a:endParaRPr lang="en-US" dirty="0"/>
          </a:p>
          <a:p>
            <a:r>
              <a:rPr lang="en-US" b="1" dirty="0"/>
              <a:t>What it is:</a:t>
            </a:r>
            <a:r>
              <a:rPr lang="en-US" dirty="0"/>
              <a:t> The top-level interface or general rulebook.</a:t>
            </a:r>
          </a:p>
          <a:p>
            <a:r>
              <a:rPr lang="en-US" b="1" dirty="0"/>
              <a:t>What it does:</a:t>
            </a:r>
            <a:r>
              <a:rPr lang="en-US" dirty="0"/>
              <a:t> It tells the system </a:t>
            </a:r>
            <a:r>
              <a:rPr lang="en-US" i="1" dirty="0"/>
              <a:t>how</a:t>
            </a:r>
            <a:r>
              <a:rPr lang="en-US" dirty="0"/>
              <a:t> to make a group of related factories. The user (client) only interacts with this blueprint, which hides the messy, behind-the-scenes details of how things are actually built.</a:t>
            </a:r>
          </a:p>
          <a:p>
            <a:endParaRPr lang="en-US" dirty="0"/>
          </a:p>
        </p:txBody>
      </p:sp>
    </p:spTree>
    <p:extLst>
      <p:ext uri="{BB962C8B-B14F-4D97-AF65-F5344CB8AC3E}">
        <p14:creationId xmlns:p14="http://schemas.microsoft.com/office/powerpoint/2010/main" val="223023397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1" y="457201"/>
            <a:ext cx="8610600" cy="1981200"/>
          </a:xfrm>
        </p:spPr>
        <p:txBody>
          <a:bodyPr/>
          <a:lstStyle/>
          <a:p>
            <a:r>
              <a:rPr lang="en-US" dirty="0" err="1"/>
              <a:t>ConcreteFactory</a:t>
            </a:r>
            <a:r>
              <a:rPr lang="en-US" dirty="0"/>
              <a:t> (The Specific Builder)</a:t>
            </a:r>
          </a:p>
        </p:txBody>
      </p:sp>
      <p:sp>
        <p:nvSpPr>
          <p:cNvPr id="3" name="Content Placeholder 2"/>
          <p:cNvSpPr>
            <a:spLocks noGrp="1"/>
          </p:cNvSpPr>
          <p:nvPr>
            <p:ph idx="1"/>
          </p:nvPr>
        </p:nvSpPr>
        <p:spPr>
          <a:xfrm>
            <a:off x="2362201" y="2209800"/>
            <a:ext cx="7704667" cy="3332816"/>
          </a:xfrm>
        </p:spPr>
        <p:txBody>
          <a:bodyPr/>
          <a:lstStyle/>
          <a:p>
            <a:r>
              <a:rPr lang="en-US" b="1" dirty="0"/>
              <a:t>What it is:</a:t>
            </a:r>
            <a:r>
              <a:rPr lang="en-US" dirty="0"/>
              <a:t> The actual, working factory (a specific version of the master blueprint).</a:t>
            </a:r>
          </a:p>
          <a:p>
            <a:r>
              <a:rPr lang="en-US" b="1" dirty="0"/>
              <a:t>What it does:</a:t>
            </a:r>
            <a:r>
              <a:rPr lang="en-US" dirty="0"/>
              <a:t> It does the real heavy lifting. It contains the exact code to build the actual, specific products.</a:t>
            </a:r>
          </a:p>
          <a:p>
            <a:endParaRPr lang="en-US" dirty="0"/>
          </a:p>
        </p:txBody>
      </p:sp>
    </p:spTree>
    <p:extLst>
      <p:ext uri="{BB962C8B-B14F-4D97-AF65-F5344CB8AC3E}">
        <p14:creationId xmlns:p14="http://schemas.microsoft.com/office/powerpoint/2010/main" val="337661071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6134" y="457202"/>
            <a:ext cx="7704667" cy="1523999"/>
          </a:xfrm>
        </p:spPr>
        <p:txBody>
          <a:bodyPr/>
          <a:lstStyle/>
          <a:p>
            <a:r>
              <a:rPr lang="en-US" dirty="0" err="1"/>
              <a:t>AbstractProduct</a:t>
            </a:r>
            <a:r>
              <a:rPr lang="en-US" dirty="0"/>
              <a:t> (The General Item Category)</a:t>
            </a:r>
          </a:p>
        </p:txBody>
      </p:sp>
      <p:sp>
        <p:nvSpPr>
          <p:cNvPr id="3" name="Content Placeholder 2"/>
          <p:cNvSpPr>
            <a:spLocks noGrp="1"/>
          </p:cNvSpPr>
          <p:nvPr>
            <p:ph idx="1"/>
          </p:nvPr>
        </p:nvSpPr>
        <p:spPr/>
        <p:txBody>
          <a:bodyPr/>
          <a:lstStyle/>
          <a:p>
            <a:r>
              <a:rPr lang="en-US" b="1" dirty="0"/>
              <a:t>What it is:</a:t>
            </a:r>
            <a:r>
              <a:rPr lang="en-US" dirty="0"/>
              <a:t> A broad category describing what a specific item should be.</a:t>
            </a:r>
          </a:p>
          <a:p>
            <a:r>
              <a:rPr lang="en-US" b="1" dirty="0"/>
              <a:t>What it does:</a:t>
            </a:r>
            <a:r>
              <a:rPr lang="en-US" dirty="0"/>
              <a:t> It defines the basic rules for a product. When you ask the factory for this item, it guarantees you get the exact version that perfectly matches the specific </a:t>
            </a:r>
            <a:r>
              <a:rPr lang="en-US" b="1" dirty="0" err="1"/>
              <a:t>ConcreteFactory</a:t>
            </a:r>
            <a:r>
              <a:rPr lang="en-US" dirty="0"/>
              <a:t> you are currently using.</a:t>
            </a:r>
          </a:p>
          <a:p>
            <a:endParaRPr lang="en-US" dirty="0"/>
          </a:p>
        </p:txBody>
      </p:sp>
    </p:spTree>
    <p:extLst>
      <p:ext uri="{BB962C8B-B14F-4D97-AF65-F5344CB8AC3E}">
        <p14:creationId xmlns:p14="http://schemas.microsoft.com/office/powerpoint/2010/main" val="369898523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ConcreteProduct</a:t>
            </a:r>
            <a:r>
              <a:rPr lang="en-US" dirty="0"/>
              <a:t> (The Final Item)</a:t>
            </a:r>
          </a:p>
        </p:txBody>
      </p:sp>
      <p:sp>
        <p:nvSpPr>
          <p:cNvPr id="3" name="Content Placeholder 2"/>
          <p:cNvSpPr>
            <a:spLocks noGrp="1"/>
          </p:cNvSpPr>
          <p:nvPr>
            <p:ph idx="1"/>
          </p:nvPr>
        </p:nvSpPr>
        <p:spPr/>
        <p:txBody>
          <a:bodyPr/>
          <a:lstStyle/>
          <a:p>
            <a:r>
              <a:rPr lang="en-US" dirty="0"/>
              <a:t>What it is: The actual, finished object created by the specific factory.</a:t>
            </a:r>
          </a:p>
          <a:p>
            <a:r>
              <a:rPr lang="en-US" dirty="0"/>
              <a:t>What it does: It contains the real, working code for that specific item.</a:t>
            </a:r>
          </a:p>
          <a:p>
            <a:r>
              <a:rPr lang="en-US" dirty="0"/>
              <a:t> It is the tangible result that fulfills all the rules laid out by the generic </a:t>
            </a:r>
            <a:r>
              <a:rPr lang="en-US" dirty="0" err="1"/>
              <a:t>AbstractProduct</a:t>
            </a:r>
            <a:r>
              <a:rPr lang="en-US" dirty="0"/>
              <a:t> category.</a:t>
            </a:r>
          </a:p>
        </p:txBody>
      </p:sp>
    </p:spTree>
    <p:extLst>
      <p:ext uri="{BB962C8B-B14F-4D97-AF65-F5344CB8AC3E}">
        <p14:creationId xmlns:p14="http://schemas.microsoft.com/office/powerpoint/2010/main" val="321393808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6134" y="457202"/>
            <a:ext cx="7704667" cy="1066799"/>
          </a:xfrm>
        </p:spPr>
        <p:txBody>
          <a:bodyPr/>
          <a:lstStyle/>
          <a:p>
            <a:r>
              <a:rPr lang="en-US" dirty="0"/>
              <a:t>Client (The User or System)</a:t>
            </a:r>
          </a:p>
        </p:txBody>
      </p:sp>
      <p:sp>
        <p:nvSpPr>
          <p:cNvPr id="3" name="Content Placeholder 2"/>
          <p:cNvSpPr>
            <a:spLocks noGrp="1"/>
          </p:cNvSpPr>
          <p:nvPr>
            <p:ph idx="1"/>
          </p:nvPr>
        </p:nvSpPr>
        <p:spPr>
          <a:xfrm>
            <a:off x="2506134" y="1600200"/>
            <a:ext cx="7704667" cy="4399616"/>
          </a:xfrm>
        </p:spPr>
        <p:txBody>
          <a:bodyPr>
            <a:normAutofit/>
          </a:bodyPr>
          <a:lstStyle/>
          <a:p>
            <a:r>
              <a:rPr lang="en-US" dirty="0"/>
              <a:t>What it is: The part of your program that actually needs to use these items.</a:t>
            </a:r>
          </a:p>
          <a:p>
            <a:r>
              <a:rPr lang="en-US" dirty="0"/>
              <a:t>What it does: It only interacts with the generic blueprints (</a:t>
            </a:r>
            <a:r>
              <a:rPr lang="en-US" dirty="0" err="1"/>
              <a:t>AbstractFactory</a:t>
            </a:r>
            <a:r>
              <a:rPr lang="en-US" dirty="0"/>
              <a:t> and </a:t>
            </a:r>
            <a:r>
              <a:rPr lang="en-US" dirty="0" err="1"/>
              <a:t>AbstractProduct</a:t>
            </a:r>
            <a:r>
              <a:rPr lang="en-US" dirty="0"/>
              <a:t>).</a:t>
            </a:r>
          </a:p>
          <a:p>
            <a:r>
              <a:rPr lang="en-US" dirty="0"/>
              <a:t> Because of this, the Client is "blissfully ignorant"—it doesn't know or care how the objects are built or what specific class they belong to. </a:t>
            </a:r>
          </a:p>
          <a:p>
            <a:r>
              <a:rPr lang="en-US" dirty="0"/>
              <a:t>It just asks for an item and trusts the system to hand it the right one.</a:t>
            </a:r>
          </a:p>
        </p:txBody>
      </p:sp>
    </p:spTree>
    <p:extLst>
      <p:ext uri="{BB962C8B-B14F-4D97-AF65-F5344CB8AC3E}">
        <p14:creationId xmlns:p14="http://schemas.microsoft.com/office/powerpoint/2010/main" val="142661702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a:p>
        </p:txBody>
      </p:sp>
      <p:pic>
        <p:nvPicPr>
          <p:cNvPr id="4" name="Picture 2" descr="C:\Users\22ad\Desktop\abstractfac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304800"/>
            <a:ext cx="8153400" cy="655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808592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Abstract Factory Pattern</a:t>
            </a:r>
            <a:br>
              <a:rPr lang="en-US" dirty="0"/>
            </a:br>
            <a:endParaRPr lang="en-US" dirty="0"/>
          </a:p>
        </p:txBody>
      </p:sp>
      <p:sp>
        <p:nvSpPr>
          <p:cNvPr id="3" name="Content Placeholder 2"/>
          <p:cNvSpPr>
            <a:spLocks noGrp="1"/>
          </p:cNvSpPr>
          <p:nvPr>
            <p:ph idx="1"/>
          </p:nvPr>
        </p:nvSpPr>
        <p:spPr>
          <a:xfrm>
            <a:off x="2506134" y="2209800"/>
            <a:ext cx="7704667" cy="3790016"/>
          </a:xfrm>
        </p:spPr>
        <p:txBody>
          <a:bodyPr>
            <a:normAutofit lnSpcReduction="10000"/>
          </a:bodyPr>
          <a:lstStyle/>
          <a:p>
            <a:r>
              <a:rPr lang="en-US" dirty="0"/>
              <a:t>Here, we are calculating the loan payment for different banks like HDFC, ICICI, SBI etc.</a:t>
            </a:r>
          </a:p>
          <a:p>
            <a:r>
              <a:rPr lang="en-US" b="1" dirty="0"/>
              <a:t>Step 1:</a:t>
            </a:r>
            <a:r>
              <a:rPr lang="en-US" dirty="0"/>
              <a:t> Create a Bank interface</a:t>
            </a:r>
          </a:p>
          <a:p>
            <a:pPr marL="114300" indent="0">
              <a:buNone/>
            </a:pPr>
            <a:r>
              <a:rPr lang="en-US" b="1" dirty="0">
                <a:solidFill>
                  <a:srgbClr val="0070C0"/>
                </a:solidFill>
              </a:rPr>
              <a:t>import</a:t>
            </a:r>
            <a:r>
              <a:rPr lang="en-US" dirty="0">
                <a:solidFill>
                  <a:srgbClr val="0070C0"/>
                </a:solidFill>
              </a:rPr>
              <a:t> java.io.*;     </a:t>
            </a:r>
          </a:p>
          <a:p>
            <a:pPr marL="114300" indent="0">
              <a:buNone/>
            </a:pPr>
            <a:r>
              <a:rPr lang="en-US" b="1" dirty="0">
                <a:solidFill>
                  <a:srgbClr val="0070C0"/>
                </a:solidFill>
              </a:rPr>
              <a:t>interface</a:t>
            </a:r>
            <a:r>
              <a:rPr lang="en-US" dirty="0">
                <a:solidFill>
                  <a:srgbClr val="0070C0"/>
                </a:solidFill>
              </a:rPr>
              <a:t> Bank</a:t>
            </a:r>
          </a:p>
          <a:p>
            <a:pPr marL="114300" indent="0">
              <a:buNone/>
            </a:pPr>
            <a:r>
              <a:rPr lang="en-US" dirty="0">
                <a:solidFill>
                  <a:srgbClr val="0070C0"/>
                </a:solidFill>
              </a:rPr>
              <a:t>{  </a:t>
            </a:r>
          </a:p>
          <a:p>
            <a:pPr marL="114300" indent="0">
              <a:buNone/>
            </a:pPr>
            <a:r>
              <a:rPr lang="en-US" dirty="0">
                <a:solidFill>
                  <a:srgbClr val="0070C0"/>
                </a:solidFill>
              </a:rPr>
              <a:t>        String </a:t>
            </a:r>
            <a:r>
              <a:rPr lang="en-US" dirty="0" err="1">
                <a:solidFill>
                  <a:srgbClr val="0070C0"/>
                </a:solidFill>
              </a:rPr>
              <a:t>getBankName</a:t>
            </a:r>
            <a:r>
              <a:rPr lang="en-US" dirty="0">
                <a:solidFill>
                  <a:srgbClr val="0070C0"/>
                </a:solidFill>
              </a:rPr>
              <a:t>();  </a:t>
            </a:r>
          </a:p>
          <a:p>
            <a:pPr marL="114300" indent="0">
              <a:buNone/>
            </a:pPr>
            <a:r>
              <a:rPr lang="en-US" dirty="0">
                <a:solidFill>
                  <a:srgbClr val="0070C0"/>
                </a:solidFill>
              </a:rPr>
              <a:t>}  </a:t>
            </a:r>
            <a:endParaRPr lang="en-US" dirty="0"/>
          </a:p>
        </p:txBody>
      </p:sp>
    </p:spTree>
    <p:extLst>
      <p:ext uri="{BB962C8B-B14F-4D97-AF65-F5344CB8AC3E}">
        <p14:creationId xmlns:p14="http://schemas.microsoft.com/office/powerpoint/2010/main" val="23875666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Step 2:</a:t>
            </a:r>
            <a:r>
              <a:rPr lang="en-US" dirty="0"/>
              <a:t> </a:t>
            </a:r>
          </a:p>
        </p:txBody>
      </p:sp>
      <p:sp>
        <p:nvSpPr>
          <p:cNvPr id="3" name="Content Placeholder 2"/>
          <p:cNvSpPr>
            <a:spLocks noGrp="1"/>
          </p:cNvSpPr>
          <p:nvPr>
            <p:ph idx="1"/>
          </p:nvPr>
        </p:nvSpPr>
        <p:spPr/>
        <p:txBody>
          <a:bodyPr>
            <a:normAutofit/>
          </a:bodyPr>
          <a:lstStyle/>
          <a:p>
            <a:pPr marL="114300" indent="0">
              <a:buNone/>
            </a:pPr>
            <a:r>
              <a:rPr lang="en-US" dirty="0">
                <a:solidFill>
                  <a:schemeClr val="accent1">
                    <a:lumMod val="75000"/>
                  </a:schemeClr>
                </a:solidFill>
              </a:rPr>
              <a:t>class HDFC implements Bank {</a:t>
            </a:r>
            <a:br>
              <a:rPr lang="en-US" dirty="0">
                <a:solidFill>
                  <a:schemeClr val="accent1">
                    <a:lumMod val="75000"/>
                  </a:schemeClr>
                </a:solidFill>
              </a:rPr>
            </a:br>
            <a:r>
              <a:rPr lang="en-US" dirty="0">
                <a:solidFill>
                  <a:schemeClr val="accent1">
                    <a:lumMod val="75000"/>
                  </a:schemeClr>
                </a:solidFill>
              </a:rPr>
              <a:t>private final String BNAME = "HDFC BANK";</a:t>
            </a:r>
            <a:br>
              <a:rPr lang="en-US" dirty="0">
                <a:solidFill>
                  <a:schemeClr val="accent1">
                    <a:lumMod val="75000"/>
                  </a:schemeClr>
                </a:solidFill>
              </a:rPr>
            </a:br>
            <a:br>
              <a:rPr lang="en-US" dirty="0">
                <a:solidFill>
                  <a:schemeClr val="accent1">
                    <a:lumMod val="75000"/>
                  </a:schemeClr>
                </a:solidFill>
              </a:rPr>
            </a:br>
            <a:r>
              <a:rPr lang="en-US" dirty="0">
                <a:solidFill>
                  <a:schemeClr val="accent1">
                    <a:lumMod val="75000"/>
                  </a:schemeClr>
                </a:solidFill>
              </a:rPr>
              <a:t>@Override</a:t>
            </a:r>
            <a:br>
              <a:rPr lang="en-US" dirty="0">
                <a:solidFill>
                  <a:schemeClr val="accent1">
                    <a:lumMod val="75000"/>
                  </a:schemeClr>
                </a:solidFill>
              </a:rPr>
            </a:br>
            <a:r>
              <a:rPr lang="en-US" dirty="0">
                <a:solidFill>
                  <a:schemeClr val="accent1">
                    <a:lumMod val="75000"/>
                  </a:schemeClr>
                </a:solidFill>
              </a:rPr>
              <a:t>public String </a:t>
            </a:r>
            <a:r>
              <a:rPr lang="en-US" dirty="0" err="1">
                <a:solidFill>
                  <a:schemeClr val="accent1">
                    <a:lumMod val="75000"/>
                  </a:schemeClr>
                </a:solidFill>
              </a:rPr>
              <a:t>getBankName</a:t>
            </a:r>
            <a:r>
              <a:rPr lang="en-US" dirty="0">
                <a:solidFill>
                  <a:schemeClr val="accent1">
                    <a:lumMod val="75000"/>
                  </a:schemeClr>
                </a:solidFill>
              </a:rPr>
              <a:t>() {</a:t>
            </a:r>
            <a:br>
              <a:rPr lang="en-US" dirty="0">
                <a:solidFill>
                  <a:schemeClr val="accent1">
                    <a:lumMod val="75000"/>
                  </a:schemeClr>
                </a:solidFill>
              </a:rPr>
            </a:br>
            <a:r>
              <a:rPr lang="en-US" dirty="0">
                <a:solidFill>
                  <a:schemeClr val="accent1">
                    <a:lumMod val="75000"/>
                  </a:schemeClr>
                </a:solidFill>
              </a:rPr>
              <a:t>return BNAME;</a:t>
            </a:r>
            <a:br>
              <a:rPr lang="en-US" dirty="0">
                <a:solidFill>
                  <a:schemeClr val="accent1">
                    <a:lumMod val="75000"/>
                  </a:schemeClr>
                </a:solidFill>
              </a:rPr>
            </a:br>
            <a:r>
              <a:rPr lang="en-US" dirty="0">
                <a:solidFill>
                  <a:schemeClr val="accent1">
                    <a:lumMod val="75000"/>
                  </a:schemeClr>
                </a:solidFill>
              </a:rPr>
              <a:t>}</a:t>
            </a:r>
            <a:br>
              <a:rPr lang="en-US" dirty="0">
                <a:solidFill>
                  <a:schemeClr val="accent1">
                    <a:lumMod val="75000"/>
                  </a:schemeClr>
                </a:solidFill>
              </a:rPr>
            </a:br>
            <a:r>
              <a:rPr lang="en-US" dirty="0">
                <a:solidFill>
                  <a:schemeClr val="accent1">
                    <a:lumMod val="75000"/>
                  </a:schemeClr>
                </a:solidFill>
              </a:rPr>
              <a:t>}</a:t>
            </a:r>
          </a:p>
        </p:txBody>
      </p:sp>
    </p:spTree>
    <p:extLst>
      <p:ext uri="{BB962C8B-B14F-4D97-AF65-F5344CB8AC3E}">
        <p14:creationId xmlns:p14="http://schemas.microsoft.com/office/powerpoint/2010/main" val="302262459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a:t>
            </a:r>
          </a:p>
        </p:txBody>
      </p:sp>
      <p:sp>
        <p:nvSpPr>
          <p:cNvPr id="3" name="Content Placeholder 2"/>
          <p:cNvSpPr>
            <a:spLocks noGrp="1"/>
          </p:cNvSpPr>
          <p:nvPr>
            <p:ph idx="1"/>
          </p:nvPr>
        </p:nvSpPr>
        <p:spPr/>
        <p:txBody>
          <a:bodyPr>
            <a:normAutofit/>
          </a:bodyPr>
          <a:lstStyle/>
          <a:p>
            <a:pPr marL="114300" indent="0">
              <a:buNone/>
            </a:pPr>
            <a:r>
              <a:rPr lang="en-US" dirty="0">
                <a:solidFill>
                  <a:schemeClr val="accent1">
                    <a:lumMod val="75000"/>
                  </a:schemeClr>
                </a:solidFill>
              </a:rPr>
              <a:t>class ICICI implements Bank {</a:t>
            </a:r>
            <a:br>
              <a:rPr lang="en-US" dirty="0">
                <a:solidFill>
                  <a:schemeClr val="accent1">
                    <a:lumMod val="75000"/>
                  </a:schemeClr>
                </a:solidFill>
              </a:rPr>
            </a:br>
            <a:r>
              <a:rPr lang="en-US" dirty="0">
                <a:solidFill>
                  <a:schemeClr val="accent1">
                    <a:lumMod val="75000"/>
                  </a:schemeClr>
                </a:solidFill>
              </a:rPr>
              <a:t>private final String BNAME = "ICICI BANK";</a:t>
            </a:r>
            <a:br>
              <a:rPr lang="en-US" dirty="0">
                <a:solidFill>
                  <a:schemeClr val="accent1">
                    <a:lumMod val="75000"/>
                  </a:schemeClr>
                </a:solidFill>
              </a:rPr>
            </a:br>
            <a:br>
              <a:rPr lang="en-US" dirty="0">
                <a:solidFill>
                  <a:schemeClr val="accent1">
                    <a:lumMod val="75000"/>
                  </a:schemeClr>
                </a:solidFill>
              </a:rPr>
            </a:br>
            <a:r>
              <a:rPr lang="en-US" dirty="0">
                <a:solidFill>
                  <a:schemeClr val="accent1">
                    <a:lumMod val="75000"/>
                  </a:schemeClr>
                </a:solidFill>
              </a:rPr>
              <a:t>@Override</a:t>
            </a:r>
            <a:br>
              <a:rPr lang="en-US" dirty="0">
                <a:solidFill>
                  <a:schemeClr val="accent1">
                    <a:lumMod val="75000"/>
                  </a:schemeClr>
                </a:solidFill>
              </a:rPr>
            </a:br>
            <a:r>
              <a:rPr lang="en-US" dirty="0">
                <a:solidFill>
                  <a:schemeClr val="accent1">
                    <a:lumMod val="75000"/>
                  </a:schemeClr>
                </a:solidFill>
              </a:rPr>
              <a:t>public String </a:t>
            </a:r>
            <a:r>
              <a:rPr lang="en-US" dirty="0" err="1">
                <a:solidFill>
                  <a:schemeClr val="accent1">
                    <a:lumMod val="75000"/>
                  </a:schemeClr>
                </a:solidFill>
              </a:rPr>
              <a:t>getBankName</a:t>
            </a:r>
            <a:r>
              <a:rPr lang="en-US" dirty="0">
                <a:solidFill>
                  <a:schemeClr val="accent1">
                    <a:lumMod val="75000"/>
                  </a:schemeClr>
                </a:solidFill>
              </a:rPr>
              <a:t>() {</a:t>
            </a:r>
            <a:br>
              <a:rPr lang="en-US" dirty="0">
                <a:solidFill>
                  <a:schemeClr val="accent1">
                    <a:lumMod val="75000"/>
                  </a:schemeClr>
                </a:solidFill>
              </a:rPr>
            </a:br>
            <a:r>
              <a:rPr lang="en-US" dirty="0">
                <a:solidFill>
                  <a:schemeClr val="accent1">
                    <a:lumMod val="75000"/>
                  </a:schemeClr>
                </a:solidFill>
              </a:rPr>
              <a:t>return BNAME;</a:t>
            </a:r>
            <a:br>
              <a:rPr lang="en-US" dirty="0">
                <a:solidFill>
                  <a:schemeClr val="accent1">
                    <a:lumMod val="75000"/>
                  </a:schemeClr>
                </a:solidFill>
              </a:rPr>
            </a:br>
            <a:r>
              <a:rPr lang="en-US" dirty="0">
                <a:solidFill>
                  <a:schemeClr val="accent1">
                    <a:lumMod val="75000"/>
                  </a:schemeClr>
                </a:solidFill>
              </a:rPr>
              <a:t>}</a:t>
            </a:r>
            <a:br>
              <a:rPr lang="en-US" dirty="0">
                <a:solidFill>
                  <a:schemeClr val="accent1">
                    <a:lumMod val="75000"/>
                  </a:schemeClr>
                </a:solidFill>
              </a:rPr>
            </a:br>
            <a:r>
              <a:rPr lang="en-US" dirty="0">
                <a:solidFill>
                  <a:schemeClr val="accent1">
                    <a:lumMod val="75000"/>
                  </a:schemeClr>
                </a:solidFill>
              </a:rPr>
              <a:t>}</a:t>
            </a:r>
          </a:p>
        </p:txBody>
      </p:sp>
    </p:spTree>
    <p:extLst>
      <p:ext uri="{BB962C8B-B14F-4D97-AF65-F5344CB8AC3E}">
        <p14:creationId xmlns:p14="http://schemas.microsoft.com/office/powerpoint/2010/main" val="113553636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a:t>
            </a:r>
          </a:p>
        </p:txBody>
      </p:sp>
      <p:sp>
        <p:nvSpPr>
          <p:cNvPr id="3" name="Content Placeholder 2"/>
          <p:cNvSpPr>
            <a:spLocks noGrp="1"/>
          </p:cNvSpPr>
          <p:nvPr>
            <p:ph idx="1"/>
          </p:nvPr>
        </p:nvSpPr>
        <p:spPr/>
        <p:txBody>
          <a:bodyPr>
            <a:normAutofit/>
          </a:bodyPr>
          <a:lstStyle/>
          <a:p>
            <a:r>
              <a:rPr lang="en-US" dirty="0">
                <a:solidFill>
                  <a:schemeClr val="accent1">
                    <a:lumMod val="75000"/>
                  </a:schemeClr>
                </a:solidFill>
              </a:rPr>
              <a:t>class SBI implements Bank {</a:t>
            </a:r>
            <a:br>
              <a:rPr lang="en-US" dirty="0">
                <a:solidFill>
                  <a:schemeClr val="accent1">
                    <a:lumMod val="75000"/>
                  </a:schemeClr>
                </a:solidFill>
              </a:rPr>
            </a:br>
            <a:r>
              <a:rPr lang="en-US" dirty="0">
                <a:solidFill>
                  <a:schemeClr val="accent1">
                    <a:lumMod val="75000"/>
                  </a:schemeClr>
                </a:solidFill>
              </a:rPr>
              <a:t>private final String BNAME = "SBI BANK";</a:t>
            </a:r>
            <a:br>
              <a:rPr lang="en-US" dirty="0">
                <a:solidFill>
                  <a:schemeClr val="accent1">
                    <a:lumMod val="75000"/>
                  </a:schemeClr>
                </a:solidFill>
              </a:rPr>
            </a:br>
            <a:br>
              <a:rPr lang="en-US" dirty="0">
                <a:solidFill>
                  <a:schemeClr val="accent1">
                    <a:lumMod val="75000"/>
                  </a:schemeClr>
                </a:solidFill>
              </a:rPr>
            </a:br>
            <a:r>
              <a:rPr lang="en-US" dirty="0">
                <a:solidFill>
                  <a:schemeClr val="accent1">
                    <a:lumMod val="75000"/>
                  </a:schemeClr>
                </a:solidFill>
              </a:rPr>
              <a:t>@Override</a:t>
            </a:r>
            <a:br>
              <a:rPr lang="en-US" dirty="0">
                <a:solidFill>
                  <a:schemeClr val="accent1">
                    <a:lumMod val="75000"/>
                  </a:schemeClr>
                </a:solidFill>
              </a:rPr>
            </a:br>
            <a:r>
              <a:rPr lang="en-US" dirty="0">
                <a:solidFill>
                  <a:schemeClr val="accent1">
                    <a:lumMod val="75000"/>
                  </a:schemeClr>
                </a:solidFill>
              </a:rPr>
              <a:t>public String </a:t>
            </a:r>
            <a:r>
              <a:rPr lang="en-US" dirty="0" err="1">
                <a:solidFill>
                  <a:schemeClr val="accent1">
                    <a:lumMod val="75000"/>
                  </a:schemeClr>
                </a:solidFill>
              </a:rPr>
              <a:t>getBankName</a:t>
            </a:r>
            <a:r>
              <a:rPr lang="en-US" dirty="0">
                <a:solidFill>
                  <a:schemeClr val="accent1">
                    <a:lumMod val="75000"/>
                  </a:schemeClr>
                </a:solidFill>
              </a:rPr>
              <a:t>() {</a:t>
            </a:r>
            <a:br>
              <a:rPr lang="en-US" dirty="0">
                <a:solidFill>
                  <a:schemeClr val="accent1">
                    <a:lumMod val="75000"/>
                  </a:schemeClr>
                </a:solidFill>
              </a:rPr>
            </a:br>
            <a:r>
              <a:rPr lang="en-US" dirty="0">
                <a:solidFill>
                  <a:schemeClr val="accent1">
                    <a:lumMod val="75000"/>
                  </a:schemeClr>
                </a:solidFill>
              </a:rPr>
              <a:t>return BNAME;</a:t>
            </a:r>
            <a:br>
              <a:rPr lang="en-US" dirty="0">
                <a:solidFill>
                  <a:schemeClr val="accent1">
                    <a:lumMod val="75000"/>
                  </a:schemeClr>
                </a:solidFill>
              </a:rPr>
            </a:br>
            <a:r>
              <a:rPr lang="en-US" dirty="0">
                <a:solidFill>
                  <a:schemeClr val="accent1">
                    <a:lumMod val="75000"/>
                  </a:schemeClr>
                </a:solidFill>
              </a:rPr>
              <a:t>}</a:t>
            </a:r>
            <a:br>
              <a:rPr lang="en-US" dirty="0">
                <a:solidFill>
                  <a:schemeClr val="accent1">
                    <a:lumMod val="75000"/>
                  </a:schemeClr>
                </a:solidFill>
              </a:rPr>
            </a:br>
            <a:r>
              <a:rPr lang="en-US" dirty="0">
                <a:solidFill>
                  <a:schemeClr val="accent1">
                    <a:lumMod val="75000"/>
                  </a:schemeClr>
                </a:solidFill>
              </a:rPr>
              <a:t>}</a:t>
            </a:r>
          </a:p>
        </p:txBody>
      </p:sp>
    </p:spTree>
    <p:extLst>
      <p:ext uri="{BB962C8B-B14F-4D97-AF65-F5344CB8AC3E}">
        <p14:creationId xmlns:p14="http://schemas.microsoft.com/office/powerpoint/2010/main" val="258337683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Step 3:</a:t>
            </a:r>
            <a:r>
              <a:rPr lang="en-US" dirty="0"/>
              <a:t> </a:t>
            </a:r>
            <a:r>
              <a:rPr lang="en-US" sz="3600" dirty="0"/>
              <a:t>Create the Loan abstract class.</a:t>
            </a:r>
            <a:br>
              <a:rPr lang="en-US" sz="3600" dirty="0"/>
            </a:br>
            <a:endParaRPr lang="en-US" sz="3600" dirty="0"/>
          </a:p>
        </p:txBody>
      </p:sp>
      <p:sp>
        <p:nvSpPr>
          <p:cNvPr id="3" name="Content Placeholder 2"/>
          <p:cNvSpPr>
            <a:spLocks noGrp="1"/>
          </p:cNvSpPr>
          <p:nvPr>
            <p:ph idx="1"/>
          </p:nvPr>
        </p:nvSpPr>
        <p:spPr>
          <a:xfrm>
            <a:off x="2506134" y="1752600"/>
            <a:ext cx="7704667" cy="4247216"/>
          </a:xfrm>
        </p:spPr>
        <p:txBody>
          <a:bodyPr>
            <a:normAutofit fontScale="85000" lnSpcReduction="20000"/>
          </a:bodyPr>
          <a:lstStyle/>
          <a:p>
            <a:pPr marL="114300" indent="0">
              <a:buNone/>
            </a:pPr>
            <a:r>
              <a:rPr lang="en-US" dirty="0">
                <a:solidFill>
                  <a:schemeClr val="accent1">
                    <a:lumMod val="75000"/>
                  </a:schemeClr>
                </a:solidFill>
              </a:rPr>
              <a:t>abstract class Loan {</a:t>
            </a:r>
            <a:br>
              <a:rPr lang="en-US" dirty="0">
                <a:solidFill>
                  <a:schemeClr val="accent1">
                    <a:lumMod val="75000"/>
                  </a:schemeClr>
                </a:solidFill>
              </a:rPr>
            </a:br>
            <a:r>
              <a:rPr lang="en-US" dirty="0">
                <a:solidFill>
                  <a:schemeClr val="accent1">
                    <a:lumMod val="75000"/>
                  </a:schemeClr>
                </a:solidFill>
              </a:rPr>
              <a:t>protected double rate;</a:t>
            </a:r>
            <a:br>
              <a:rPr lang="en-US" dirty="0">
                <a:solidFill>
                  <a:schemeClr val="accent1">
                    <a:lumMod val="75000"/>
                  </a:schemeClr>
                </a:solidFill>
              </a:rPr>
            </a:br>
            <a:br>
              <a:rPr lang="en-US" dirty="0">
                <a:solidFill>
                  <a:schemeClr val="accent1">
                    <a:lumMod val="75000"/>
                  </a:schemeClr>
                </a:solidFill>
              </a:rPr>
            </a:br>
            <a:r>
              <a:rPr lang="en-US" dirty="0">
                <a:solidFill>
                  <a:schemeClr val="accent1">
                    <a:lumMod val="75000"/>
                  </a:schemeClr>
                </a:solidFill>
              </a:rPr>
              <a:t>abstract void </a:t>
            </a:r>
            <a:r>
              <a:rPr lang="en-US" dirty="0" err="1">
                <a:solidFill>
                  <a:schemeClr val="accent1">
                    <a:lumMod val="75000"/>
                  </a:schemeClr>
                </a:solidFill>
              </a:rPr>
              <a:t>getInterestRate</a:t>
            </a:r>
            <a:r>
              <a:rPr lang="en-US" dirty="0">
                <a:solidFill>
                  <a:schemeClr val="accent1">
                    <a:lumMod val="75000"/>
                  </a:schemeClr>
                </a:solidFill>
              </a:rPr>
              <a:t>(double rate);</a:t>
            </a:r>
            <a:br>
              <a:rPr lang="en-US" dirty="0">
                <a:solidFill>
                  <a:schemeClr val="accent1">
                    <a:lumMod val="75000"/>
                  </a:schemeClr>
                </a:solidFill>
              </a:rPr>
            </a:br>
            <a:br>
              <a:rPr lang="en-US" dirty="0">
                <a:solidFill>
                  <a:schemeClr val="accent1">
                    <a:lumMod val="75000"/>
                  </a:schemeClr>
                </a:solidFill>
              </a:rPr>
            </a:br>
            <a:r>
              <a:rPr lang="en-US" dirty="0">
                <a:solidFill>
                  <a:schemeClr val="accent1">
                    <a:lumMod val="75000"/>
                  </a:schemeClr>
                </a:solidFill>
              </a:rPr>
              <a:t>public void </a:t>
            </a:r>
            <a:r>
              <a:rPr lang="en-US" dirty="0" err="1">
                <a:solidFill>
                  <a:schemeClr val="accent1">
                    <a:lumMod val="75000"/>
                  </a:schemeClr>
                </a:solidFill>
              </a:rPr>
              <a:t>calculateLoanPayment</a:t>
            </a:r>
            <a:r>
              <a:rPr lang="en-US" dirty="0">
                <a:solidFill>
                  <a:schemeClr val="accent1">
                    <a:lumMod val="75000"/>
                  </a:schemeClr>
                </a:solidFill>
              </a:rPr>
              <a:t>(double </a:t>
            </a:r>
            <a:r>
              <a:rPr lang="en-US" dirty="0" err="1">
                <a:solidFill>
                  <a:schemeClr val="accent1">
                    <a:lumMod val="75000"/>
                  </a:schemeClr>
                </a:solidFill>
              </a:rPr>
              <a:t>loanAmount</a:t>
            </a:r>
            <a:r>
              <a:rPr lang="en-US" dirty="0">
                <a:solidFill>
                  <a:schemeClr val="accent1">
                    <a:lumMod val="75000"/>
                  </a:schemeClr>
                </a:solidFill>
              </a:rPr>
              <a:t>, </a:t>
            </a:r>
            <a:r>
              <a:rPr lang="en-US" dirty="0" err="1">
                <a:solidFill>
                  <a:schemeClr val="accent1">
                    <a:lumMod val="75000"/>
                  </a:schemeClr>
                </a:solidFill>
              </a:rPr>
              <a:t>int</a:t>
            </a:r>
            <a:r>
              <a:rPr lang="en-US" dirty="0">
                <a:solidFill>
                  <a:schemeClr val="accent1">
                    <a:lumMod val="75000"/>
                  </a:schemeClr>
                </a:solidFill>
              </a:rPr>
              <a:t> years) {</a:t>
            </a:r>
            <a:br>
              <a:rPr lang="en-US" dirty="0">
                <a:solidFill>
                  <a:schemeClr val="accent1">
                    <a:lumMod val="75000"/>
                  </a:schemeClr>
                </a:solidFill>
              </a:rPr>
            </a:br>
            <a:br>
              <a:rPr lang="en-US" dirty="0">
                <a:solidFill>
                  <a:schemeClr val="accent1">
                    <a:lumMod val="75000"/>
                  </a:schemeClr>
                </a:solidFill>
              </a:rPr>
            </a:br>
            <a:r>
              <a:rPr lang="en-US" dirty="0" err="1">
                <a:solidFill>
                  <a:schemeClr val="accent1">
                    <a:lumMod val="75000"/>
                  </a:schemeClr>
                </a:solidFill>
              </a:rPr>
              <a:t>int</a:t>
            </a:r>
            <a:r>
              <a:rPr lang="en-US" dirty="0">
                <a:solidFill>
                  <a:schemeClr val="accent1">
                    <a:lumMod val="75000"/>
                  </a:schemeClr>
                </a:solidFill>
              </a:rPr>
              <a:t> n = years * 12;</a:t>
            </a:r>
            <a:br>
              <a:rPr lang="en-US" dirty="0">
                <a:solidFill>
                  <a:schemeClr val="accent1">
                    <a:lumMod val="75000"/>
                  </a:schemeClr>
                </a:solidFill>
              </a:rPr>
            </a:br>
            <a:r>
              <a:rPr lang="en-US" dirty="0">
                <a:solidFill>
                  <a:schemeClr val="accent1">
                    <a:lumMod val="75000"/>
                  </a:schemeClr>
                </a:solidFill>
              </a:rPr>
              <a:t>double </a:t>
            </a:r>
            <a:r>
              <a:rPr lang="en-US" dirty="0" err="1">
                <a:solidFill>
                  <a:schemeClr val="accent1">
                    <a:lumMod val="75000"/>
                  </a:schemeClr>
                </a:solidFill>
              </a:rPr>
              <a:t>monthlyRate</a:t>
            </a:r>
            <a:r>
              <a:rPr lang="en-US" dirty="0">
                <a:solidFill>
                  <a:schemeClr val="accent1">
                    <a:lumMod val="75000"/>
                  </a:schemeClr>
                </a:solidFill>
              </a:rPr>
              <a:t> = rate / 1200;</a:t>
            </a:r>
            <a:br>
              <a:rPr lang="en-US" dirty="0">
                <a:solidFill>
                  <a:schemeClr val="accent1">
                    <a:lumMod val="75000"/>
                  </a:schemeClr>
                </a:solidFill>
              </a:rPr>
            </a:br>
            <a:br>
              <a:rPr lang="en-US" dirty="0">
                <a:solidFill>
                  <a:schemeClr val="accent1">
                    <a:lumMod val="75000"/>
                  </a:schemeClr>
                </a:solidFill>
              </a:rPr>
            </a:br>
            <a:r>
              <a:rPr lang="en-US" dirty="0">
                <a:solidFill>
                  <a:schemeClr val="accent1">
                    <a:lumMod val="75000"/>
                  </a:schemeClr>
                </a:solidFill>
              </a:rPr>
              <a:t>double EMI = (</a:t>
            </a:r>
            <a:r>
              <a:rPr lang="en-US" dirty="0" err="1">
                <a:solidFill>
                  <a:schemeClr val="accent1">
                    <a:lumMod val="75000"/>
                  </a:schemeClr>
                </a:solidFill>
              </a:rPr>
              <a:t>monthlyRate</a:t>
            </a:r>
            <a:r>
              <a:rPr lang="en-US" dirty="0">
                <a:solidFill>
                  <a:schemeClr val="accent1">
                    <a:lumMod val="75000"/>
                  </a:schemeClr>
                </a:solidFill>
              </a:rPr>
              <a:t> * </a:t>
            </a:r>
            <a:r>
              <a:rPr lang="en-US" dirty="0" err="1">
                <a:solidFill>
                  <a:schemeClr val="accent1">
                    <a:lumMod val="75000"/>
                  </a:schemeClr>
                </a:solidFill>
              </a:rPr>
              <a:t>Math.pow</a:t>
            </a:r>
            <a:r>
              <a:rPr lang="en-US" dirty="0">
                <a:solidFill>
                  <a:schemeClr val="accent1">
                    <a:lumMod val="75000"/>
                  </a:schemeClr>
                </a:solidFill>
              </a:rPr>
              <a:t>(1 + </a:t>
            </a:r>
            <a:r>
              <a:rPr lang="en-US" dirty="0" err="1">
                <a:solidFill>
                  <a:schemeClr val="accent1">
                    <a:lumMod val="75000"/>
                  </a:schemeClr>
                </a:solidFill>
              </a:rPr>
              <a:t>monthlyRate</a:t>
            </a:r>
            <a:r>
              <a:rPr lang="en-US" dirty="0">
                <a:solidFill>
                  <a:schemeClr val="accent1">
                    <a:lumMod val="75000"/>
                  </a:schemeClr>
                </a:solidFill>
              </a:rPr>
              <a:t>, n)) /</a:t>
            </a:r>
            <a:br>
              <a:rPr lang="en-US" dirty="0">
                <a:solidFill>
                  <a:schemeClr val="accent1">
                    <a:lumMod val="75000"/>
                  </a:schemeClr>
                </a:solidFill>
              </a:rPr>
            </a:br>
            <a:r>
              <a:rPr lang="en-US" dirty="0">
                <a:solidFill>
                  <a:schemeClr val="accent1">
                    <a:lumMod val="75000"/>
                  </a:schemeClr>
                </a:solidFill>
              </a:rPr>
              <a:t>(</a:t>
            </a:r>
            <a:r>
              <a:rPr lang="en-US" dirty="0" err="1">
                <a:solidFill>
                  <a:schemeClr val="accent1">
                    <a:lumMod val="75000"/>
                  </a:schemeClr>
                </a:solidFill>
              </a:rPr>
              <a:t>Math.pow</a:t>
            </a:r>
            <a:r>
              <a:rPr lang="en-US" dirty="0">
                <a:solidFill>
                  <a:schemeClr val="accent1">
                    <a:lumMod val="75000"/>
                  </a:schemeClr>
                </a:solidFill>
              </a:rPr>
              <a:t>(1 + </a:t>
            </a:r>
            <a:r>
              <a:rPr lang="en-US" dirty="0" err="1">
                <a:solidFill>
                  <a:schemeClr val="accent1">
                    <a:lumMod val="75000"/>
                  </a:schemeClr>
                </a:solidFill>
              </a:rPr>
              <a:t>monthlyRate</a:t>
            </a:r>
            <a:r>
              <a:rPr lang="en-US" dirty="0">
                <a:solidFill>
                  <a:schemeClr val="accent1">
                    <a:lumMod val="75000"/>
                  </a:schemeClr>
                </a:solidFill>
              </a:rPr>
              <a:t>, n) - 1) * </a:t>
            </a:r>
            <a:r>
              <a:rPr lang="en-US" dirty="0" err="1">
                <a:solidFill>
                  <a:schemeClr val="accent1">
                    <a:lumMod val="75000"/>
                  </a:schemeClr>
                </a:solidFill>
              </a:rPr>
              <a:t>loanAmount</a:t>
            </a:r>
            <a:r>
              <a:rPr lang="en-US" dirty="0">
                <a:solidFill>
                  <a:schemeClr val="accent1">
                    <a:lumMod val="75000"/>
                  </a:schemeClr>
                </a:solidFill>
              </a:rPr>
              <a:t>;</a:t>
            </a:r>
            <a:br>
              <a:rPr lang="en-US" dirty="0">
                <a:solidFill>
                  <a:schemeClr val="accent1">
                    <a:lumMod val="75000"/>
                  </a:schemeClr>
                </a:solidFill>
              </a:rPr>
            </a:br>
            <a:br>
              <a:rPr lang="en-US" dirty="0">
                <a:solidFill>
                  <a:schemeClr val="accent1">
                    <a:lumMod val="75000"/>
                  </a:schemeClr>
                </a:solidFill>
              </a:rPr>
            </a:br>
            <a:r>
              <a:rPr lang="en-US" dirty="0" err="1">
                <a:solidFill>
                  <a:schemeClr val="accent1">
                    <a:lumMod val="75000"/>
                  </a:schemeClr>
                </a:solidFill>
              </a:rPr>
              <a:t>System.out.println</a:t>
            </a:r>
            <a:r>
              <a:rPr lang="en-US" dirty="0">
                <a:solidFill>
                  <a:schemeClr val="accent1">
                    <a:lumMod val="75000"/>
                  </a:schemeClr>
                </a:solidFill>
              </a:rPr>
              <a:t>("Monthly EMI: " + EMI +</a:t>
            </a:r>
            <a:br>
              <a:rPr lang="en-US" dirty="0">
                <a:solidFill>
                  <a:schemeClr val="accent1">
                    <a:lumMod val="75000"/>
                  </a:schemeClr>
                </a:solidFill>
              </a:rPr>
            </a:br>
            <a:r>
              <a:rPr lang="en-US" dirty="0">
                <a:solidFill>
                  <a:schemeClr val="accent1">
                    <a:lumMod val="75000"/>
                  </a:schemeClr>
                </a:solidFill>
              </a:rPr>
              <a:t>" for loan amount: " + </a:t>
            </a:r>
            <a:r>
              <a:rPr lang="en-US" dirty="0" err="1">
                <a:solidFill>
                  <a:schemeClr val="accent1">
                    <a:lumMod val="75000"/>
                  </a:schemeClr>
                </a:solidFill>
              </a:rPr>
              <a:t>loanAmount</a:t>
            </a:r>
            <a:r>
              <a:rPr lang="en-US" dirty="0">
                <a:solidFill>
                  <a:schemeClr val="accent1">
                    <a:lumMod val="75000"/>
                  </a:schemeClr>
                </a:solidFill>
              </a:rPr>
              <a:t>);</a:t>
            </a:r>
            <a:br>
              <a:rPr lang="en-US" dirty="0">
                <a:solidFill>
                  <a:schemeClr val="accent1">
                    <a:lumMod val="75000"/>
                  </a:schemeClr>
                </a:solidFill>
              </a:rPr>
            </a:br>
            <a:r>
              <a:rPr lang="en-US" dirty="0">
                <a:solidFill>
                  <a:schemeClr val="accent1">
                    <a:lumMod val="75000"/>
                  </a:schemeClr>
                </a:solidFill>
              </a:rPr>
              <a:t>}</a:t>
            </a:r>
            <a:br>
              <a:rPr lang="en-US" dirty="0">
                <a:solidFill>
                  <a:schemeClr val="accent1">
                    <a:lumMod val="75000"/>
                  </a:schemeClr>
                </a:solidFill>
              </a:rPr>
            </a:br>
            <a:r>
              <a:rPr lang="en-US" dirty="0">
                <a:solidFill>
                  <a:schemeClr val="accent1">
                    <a:lumMod val="75000"/>
                  </a:schemeClr>
                </a:solidFill>
              </a:rPr>
              <a:t>}</a:t>
            </a:r>
          </a:p>
        </p:txBody>
      </p:sp>
    </p:spTree>
    <p:extLst>
      <p:ext uri="{BB962C8B-B14F-4D97-AF65-F5344CB8AC3E}">
        <p14:creationId xmlns:p14="http://schemas.microsoft.com/office/powerpoint/2010/main" val="422292636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6134" y="457202"/>
            <a:ext cx="7704667" cy="1066799"/>
          </a:xfrm>
        </p:spPr>
        <p:txBody>
          <a:bodyPr>
            <a:normAutofit fontScale="90000"/>
          </a:bodyPr>
          <a:lstStyle/>
          <a:p>
            <a:r>
              <a:rPr lang="en-US" b="1" dirty="0"/>
              <a:t>Step 4:</a:t>
            </a:r>
            <a:r>
              <a:rPr lang="en-US" dirty="0"/>
              <a:t> </a:t>
            </a:r>
            <a:r>
              <a:rPr lang="en-US" sz="3200" dirty="0"/>
              <a:t>Create concrete classes that extend the Loan abstract class..</a:t>
            </a:r>
            <a:br>
              <a:rPr lang="en-US" sz="3200" dirty="0"/>
            </a:br>
            <a:endParaRPr lang="en-US" sz="3200" dirty="0"/>
          </a:p>
        </p:txBody>
      </p:sp>
      <p:sp>
        <p:nvSpPr>
          <p:cNvPr id="3" name="Content Placeholder 2"/>
          <p:cNvSpPr>
            <a:spLocks noGrp="1"/>
          </p:cNvSpPr>
          <p:nvPr>
            <p:ph idx="1"/>
          </p:nvPr>
        </p:nvSpPr>
        <p:spPr>
          <a:xfrm>
            <a:off x="2506134" y="1371600"/>
            <a:ext cx="7704667" cy="5334000"/>
          </a:xfrm>
        </p:spPr>
        <p:txBody>
          <a:bodyPr>
            <a:normAutofit fontScale="85000" lnSpcReduction="20000"/>
          </a:bodyPr>
          <a:lstStyle/>
          <a:p>
            <a:pPr marL="114300" indent="0">
              <a:buNone/>
            </a:pPr>
            <a:r>
              <a:rPr lang="en-US" dirty="0">
                <a:solidFill>
                  <a:schemeClr val="accent1">
                    <a:lumMod val="75000"/>
                  </a:schemeClr>
                </a:solidFill>
              </a:rPr>
              <a:t>class </a:t>
            </a:r>
            <a:r>
              <a:rPr lang="en-US" dirty="0" err="1">
                <a:solidFill>
                  <a:schemeClr val="accent1">
                    <a:lumMod val="75000"/>
                  </a:schemeClr>
                </a:solidFill>
              </a:rPr>
              <a:t>HomeLoan</a:t>
            </a:r>
            <a:r>
              <a:rPr lang="en-US" dirty="0">
                <a:solidFill>
                  <a:schemeClr val="accent1">
                    <a:lumMod val="75000"/>
                  </a:schemeClr>
                </a:solidFill>
              </a:rPr>
              <a:t> extends Loan {</a:t>
            </a:r>
            <a:br>
              <a:rPr lang="en-US" dirty="0">
                <a:solidFill>
                  <a:schemeClr val="accent1">
                    <a:lumMod val="75000"/>
                  </a:schemeClr>
                </a:solidFill>
              </a:rPr>
            </a:br>
            <a:r>
              <a:rPr lang="en-US" dirty="0">
                <a:solidFill>
                  <a:schemeClr val="accent1">
                    <a:lumMod val="75000"/>
                  </a:schemeClr>
                </a:solidFill>
              </a:rPr>
              <a:t>@Override</a:t>
            </a:r>
            <a:br>
              <a:rPr lang="en-US" dirty="0">
                <a:solidFill>
                  <a:schemeClr val="accent1">
                    <a:lumMod val="75000"/>
                  </a:schemeClr>
                </a:solidFill>
              </a:rPr>
            </a:br>
            <a:r>
              <a:rPr lang="en-US" dirty="0">
                <a:solidFill>
                  <a:schemeClr val="accent1">
                    <a:lumMod val="75000"/>
                  </a:schemeClr>
                </a:solidFill>
              </a:rPr>
              <a:t>void </a:t>
            </a:r>
            <a:r>
              <a:rPr lang="en-US" dirty="0" err="1">
                <a:solidFill>
                  <a:schemeClr val="accent1">
                    <a:lumMod val="75000"/>
                  </a:schemeClr>
                </a:solidFill>
              </a:rPr>
              <a:t>getInterestRate</a:t>
            </a:r>
            <a:r>
              <a:rPr lang="en-US" dirty="0">
                <a:solidFill>
                  <a:schemeClr val="accent1">
                    <a:lumMod val="75000"/>
                  </a:schemeClr>
                </a:solidFill>
              </a:rPr>
              <a:t>(double r) {</a:t>
            </a:r>
            <a:br>
              <a:rPr lang="en-US" dirty="0">
                <a:solidFill>
                  <a:schemeClr val="accent1">
                    <a:lumMod val="75000"/>
                  </a:schemeClr>
                </a:solidFill>
              </a:rPr>
            </a:br>
            <a:r>
              <a:rPr lang="en-US" dirty="0">
                <a:solidFill>
                  <a:schemeClr val="accent1">
                    <a:lumMod val="75000"/>
                  </a:schemeClr>
                </a:solidFill>
              </a:rPr>
              <a:t>rate = r;</a:t>
            </a:r>
            <a:br>
              <a:rPr lang="en-US" dirty="0">
                <a:solidFill>
                  <a:schemeClr val="accent1">
                    <a:lumMod val="75000"/>
                  </a:schemeClr>
                </a:solidFill>
              </a:rPr>
            </a:br>
            <a:r>
              <a:rPr lang="en-US" dirty="0">
                <a:solidFill>
                  <a:schemeClr val="accent1">
                    <a:lumMod val="75000"/>
                  </a:schemeClr>
                </a:solidFill>
              </a:rPr>
              <a:t>}</a:t>
            </a:r>
            <a:br>
              <a:rPr lang="en-US" dirty="0">
                <a:solidFill>
                  <a:schemeClr val="accent1">
                    <a:lumMod val="75000"/>
                  </a:schemeClr>
                </a:solidFill>
              </a:rPr>
            </a:br>
            <a:r>
              <a:rPr lang="en-US" dirty="0">
                <a:solidFill>
                  <a:schemeClr val="accent1">
                    <a:lumMod val="75000"/>
                  </a:schemeClr>
                </a:solidFill>
              </a:rPr>
              <a:t>}</a:t>
            </a:r>
            <a:br>
              <a:rPr lang="en-US" dirty="0">
                <a:solidFill>
                  <a:schemeClr val="accent1">
                    <a:lumMod val="75000"/>
                  </a:schemeClr>
                </a:solidFill>
              </a:rPr>
            </a:br>
            <a:br>
              <a:rPr lang="en-US" dirty="0">
                <a:solidFill>
                  <a:schemeClr val="accent1">
                    <a:lumMod val="75000"/>
                  </a:schemeClr>
                </a:solidFill>
              </a:rPr>
            </a:br>
            <a:r>
              <a:rPr lang="en-US" dirty="0">
                <a:solidFill>
                  <a:schemeClr val="accent1">
                    <a:lumMod val="75000"/>
                  </a:schemeClr>
                </a:solidFill>
              </a:rPr>
              <a:t>class </a:t>
            </a:r>
            <a:r>
              <a:rPr lang="en-US" dirty="0" err="1">
                <a:solidFill>
                  <a:schemeClr val="accent1">
                    <a:lumMod val="75000"/>
                  </a:schemeClr>
                </a:solidFill>
              </a:rPr>
              <a:t>BusinessLoan</a:t>
            </a:r>
            <a:r>
              <a:rPr lang="en-US" dirty="0">
                <a:solidFill>
                  <a:schemeClr val="accent1">
                    <a:lumMod val="75000"/>
                  </a:schemeClr>
                </a:solidFill>
              </a:rPr>
              <a:t> extends Loan { 		</a:t>
            </a:r>
            <a:br>
              <a:rPr lang="en-US" dirty="0">
                <a:solidFill>
                  <a:schemeClr val="accent1">
                    <a:lumMod val="75000"/>
                  </a:schemeClr>
                </a:solidFill>
              </a:rPr>
            </a:br>
            <a:r>
              <a:rPr lang="en-US" dirty="0">
                <a:solidFill>
                  <a:schemeClr val="accent1">
                    <a:lumMod val="75000"/>
                  </a:schemeClr>
                </a:solidFill>
              </a:rPr>
              <a:t>@Override</a:t>
            </a:r>
            <a:br>
              <a:rPr lang="en-US" dirty="0">
                <a:solidFill>
                  <a:schemeClr val="accent1">
                    <a:lumMod val="75000"/>
                  </a:schemeClr>
                </a:solidFill>
              </a:rPr>
            </a:br>
            <a:r>
              <a:rPr lang="en-US" dirty="0">
                <a:solidFill>
                  <a:schemeClr val="accent1">
                    <a:lumMod val="75000"/>
                  </a:schemeClr>
                </a:solidFill>
              </a:rPr>
              <a:t>void </a:t>
            </a:r>
            <a:r>
              <a:rPr lang="en-US" dirty="0" err="1">
                <a:solidFill>
                  <a:schemeClr val="accent1">
                    <a:lumMod val="75000"/>
                  </a:schemeClr>
                </a:solidFill>
              </a:rPr>
              <a:t>getInterestRate</a:t>
            </a:r>
            <a:r>
              <a:rPr lang="en-US" dirty="0">
                <a:solidFill>
                  <a:schemeClr val="accent1">
                    <a:lumMod val="75000"/>
                  </a:schemeClr>
                </a:solidFill>
              </a:rPr>
              <a:t>(double r) {</a:t>
            </a:r>
            <a:br>
              <a:rPr lang="en-US" dirty="0">
                <a:solidFill>
                  <a:schemeClr val="accent1">
                    <a:lumMod val="75000"/>
                  </a:schemeClr>
                </a:solidFill>
              </a:rPr>
            </a:br>
            <a:r>
              <a:rPr lang="en-US" dirty="0">
                <a:solidFill>
                  <a:schemeClr val="accent1">
                    <a:lumMod val="75000"/>
                  </a:schemeClr>
                </a:solidFill>
              </a:rPr>
              <a:t>rate = r;</a:t>
            </a:r>
            <a:br>
              <a:rPr lang="en-US" dirty="0">
                <a:solidFill>
                  <a:schemeClr val="accent1">
                    <a:lumMod val="75000"/>
                  </a:schemeClr>
                </a:solidFill>
              </a:rPr>
            </a:br>
            <a:r>
              <a:rPr lang="en-US" dirty="0">
                <a:solidFill>
                  <a:schemeClr val="accent1">
                    <a:lumMod val="75000"/>
                  </a:schemeClr>
                </a:solidFill>
              </a:rPr>
              <a:t>}</a:t>
            </a:r>
            <a:br>
              <a:rPr lang="en-US" dirty="0">
                <a:solidFill>
                  <a:schemeClr val="accent1">
                    <a:lumMod val="75000"/>
                  </a:schemeClr>
                </a:solidFill>
              </a:rPr>
            </a:br>
            <a:r>
              <a:rPr lang="en-US" dirty="0">
                <a:solidFill>
                  <a:schemeClr val="accent1">
                    <a:lumMod val="75000"/>
                  </a:schemeClr>
                </a:solidFill>
              </a:rPr>
              <a:t>}</a:t>
            </a:r>
            <a:br>
              <a:rPr lang="en-US" dirty="0">
                <a:solidFill>
                  <a:schemeClr val="accent1">
                    <a:lumMod val="75000"/>
                  </a:schemeClr>
                </a:solidFill>
              </a:rPr>
            </a:br>
            <a:br>
              <a:rPr lang="en-US" dirty="0">
                <a:solidFill>
                  <a:schemeClr val="accent1">
                    <a:lumMod val="75000"/>
                  </a:schemeClr>
                </a:solidFill>
              </a:rPr>
            </a:br>
            <a:r>
              <a:rPr lang="en-US" dirty="0">
                <a:solidFill>
                  <a:schemeClr val="accent1">
                    <a:lumMod val="75000"/>
                  </a:schemeClr>
                </a:solidFill>
              </a:rPr>
              <a:t>class </a:t>
            </a:r>
            <a:r>
              <a:rPr lang="en-US" dirty="0" err="1">
                <a:solidFill>
                  <a:schemeClr val="accent1">
                    <a:lumMod val="75000"/>
                  </a:schemeClr>
                </a:solidFill>
              </a:rPr>
              <a:t>EducationLoan</a:t>
            </a:r>
            <a:r>
              <a:rPr lang="en-US" dirty="0">
                <a:solidFill>
                  <a:schemeClr val="accent1">
                    <a:lumMod val="75000"/>
                  </a:schemeClr>
                </a:solidFill>
              </a:rPr>
              <a:t> extends Loan {</a:t>
            </a:r>
            <a:br>
              <a:rPr lang="en-US" dirty="0">
                <a:solidFill>
                  <a:schemeClr val="accent1">
                    <a:lumMod val="75000"/>
                  </a:schemeClr>
                </a:solidFill>
              </a:rPr>
            </a:br>
            <a:r>
              <a:rPr lang="en-US" dirty="0">
                <a:solidFill>
                  <a:schemeClr val="accent1">
                    <a:lumMod val="75000"/>
                  </a:schemeClr>
                </a:solidFill>
              </a:rPr>
              <a:t>@Override</a:t>
            </a:r>
            <a:br>
              <a:rPr lang="en-US" dirty="0">
                <a:solidFill>
                  <a:schemeClr val="accent1">
                    <a:lumMod val="75000"/>
                  </a:schemeClr>
                </a:solidFill>
              </a:rPr>
            </a:br>
            <a:r>
              <a:rPr lang="en-US" dirty="0">
                <a:solidFill>
                  <a:schemeClr val="accent1">
                    <a:lumMod val="75000"/>
                  </a:schemeClr>
                </a:solidFill>
              </a:rPr>
              <a:t>void </a:t>
            </a:r>
            <a:r>
              <a:rPr lang="en-US" dirty="0" err="1">
                <a:solidFill>
                  <a:schemeClr val="accent1">
                    <a:lumMod val="75000"/>
                  </a:schemeClr>
                </a:solidFill>
              </a:rPr>
              <a:t>getInterestRate</a:t>
            </a:r>
            <a:r>
              <a:rPr lang="en-US" dirty="0">
                <a:solidFill>
                  <a:schemeClr val="accent1">
                    <a:lumMod val="75000"/>
                  </a:schemeClr>
                </a:solidFill>
              </a:rPr>
              <a:t>(double r) {</a:t>
            </a:r>
            <a:br>
              <a:rPr lang="en-US" dirty="0">
                <a:solidFill>
                  <a:schemeClr val="accent1">
                    <a:lumMod val="75000"/>
                  </a:schemeClr>
                </a:solidFill>
              </a:rPr>
            </a:br>
            <a:r>
              <a:rPr lang="en-US" dirty="0">
                <a:solidFill>
                  <a:schemeClr val="accent1">
                    <a:lumMod val="75000"/>
                  </a:schemeClr>
                </a:solidFill>
              </a:rPr>
              <a:t>rate = r;</a:t>
            </a:r>
            <a:br>
              <a:rPr lang="en-US" dirty="0">
                <a:solidFill>
                  <a:schemeClr val="accent1">
                    <a:lumMod val="75000"/>
                  </a:schemeClr>
                </a:solidFill>
              </a:rPr>
            </a:br>
            <a:r>
              <a:rPr lang="en-US" dirty="0">
                <a:solidFill>
                  <a:schemeClr val="accent1">
                    <a:lumMod val="75000"/>
                  </a:schemeClr>
                </a:solidFill>
              </a:rPr>
              <a:t>}</a:t>
            </a:r>
            <a:br>
              <a:rPr lang="en-US" dirty="0">
                <a:solidFill>
                  <a:schemeClr val="accent1">
                    <a:lumMod val="75000"/>
                  </a:schemeClr>
                </a:solidFill>
              </a:rPr>
            </a:br>
            <a:r>
              <a:rPr lang="en-US" dirty="0">
                <a:solidFill>
                  <a:schemeClr val="accent1">
                    <a:lumMod val="75000"/>
                  </a:schemeClr>
                </a:solidFill>
              </a:rPr>
              <a:t>}</a:t>
            </a:r>
            <a:br>
              <a:rPr lang="en-US" dirty="0">
                <a:solidFill>
                  <a:schemeClr val="accent1">
                    <a:lumMod val="75000"/>
                  </a:schemeClr>
                </a:solidFill>
              </a:rPr>
            </a:br>
            <a:endParaRPr lang="en-US" dirty="0">
              <a:solidFill>
                <a:schemeClr val="accent1">
                  <a:lumMod val="75000"/>
                </a:schemeClr>
              </a:solidFill>
            </a:endParaRPr>
          </a:p>
        </p:txBody>
      </p:sp>
    </p:spTree>
    <p:extLst>
      <p:ext uri="{BB962C8B-B14F-4D97-AF65-F5344CB8AC3E}">
        <p14:creationId xmlns:p14="http://schemas.microsoft.com/office/powerpoint/2010/main" val="155949999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Step 5:</a:t>
            </a:r>
            <a:endParaRPr lang="en-US" dirty="0"/>
          </a:p>
        </p:txBody>
      </p:sp>
      <p:sp>
        <p:nvSpPr>
          <p:cNvPr id="3" name="Content Placeholder 2"/>
          <p:cNvSpPr>
            <a:spLocks noGrp="1"/>
          </p:cNvSpPr>
          <p:nvPr>
            <p:ph idx="1"/>
          </p:nvPr>
        </p:nvSpPr>
        <p:spPr/>
        <p:txBody>
          <a:bodyPr/>
          <a:lstStyle/>
          <a:p>
            <a:r>
              <a:rPr lang="en-US" dirty="0"/>
              <a:t> Create an abstract class (</a:t>
            </a:r>
            <a:r>
              <a:rPr lang="en-US" dirty="0" err="1"/>
              <a:t>i.e</a:t>
            </a:r>
            <a:r>
              <a:rPr lang="en-US" dirty="0"/>
              <a:t> </a:t>
            </a:r>
            <a:r>
              <a:rPr lang="en-US" dirty="0" err="1"/>
              <a:t>AbstractFactory</a:t>
            </a:r>
            <a:r>
              <a:rPr lang="en-US" dirty="0"/>
              <a:t>) to get the factories for Bank and Loan Objects.</a:t>
            </a:r>
          </a:p>
          <a:p>
            <a:pPr marL="114300" indent="0">
              <a:buNone/>
            </a:pPr>
            <a:r>
              <a:rPr lang="en-US" b="1" dirty="0">
                <a:solidFill>
                  <a:srgbClr val="0070C0"/>
                </a:solidFill>
              </a:rPr>
              <a:t>abstract</a:t>
            </a:r>
            <a:r>
              <a:rPr lang="en-US" dirty="0">
                <a:solidFill>
                  <a:srgbClr val="0070C0"/>
                </a:solidFill>
              </a:rPr>
              <a:t> </a:t>
            </a:r>
            <a:r>
              <a:rPr lang="en-US" b="1" dirty="0">
                <a:solidFill>
                  <a:srgbClr val="0070C0"/>
                </a:solidFill>
              </a:rPr>
              <a:t>class</a:t>
            </a:r>
            <a:r>
              <a:rPr lang="en-US" dirty="0">
                <a:solidFill>
                  <a:srgbClr val="0070C0"/>
                </a:solidFill>
              </a:rPr>
              <a:t> </a:t>
            </a:r>
            <a:r>
              <a:rPr lang="en-US" dirty="0" err="1">
                <a:solidFill>
                  <a:srgbClr val="0070C0"/>
                </a:solidFill>
              </a:rPr>
              <a:t>AbstractFactory</a:t>
            </a:r>
            <a:r>
              <a:rPr lang="en-US" dirty="0">
                <a:solidFill>
                  <a:srgbClr val="0070C0"/>
                </a:solidFill>
              </a:rPr>
              <a:t>{  </a:t>
            </a:r>
          </a:p>
          <a:p>
            <a:pPr marL="114300" indent="0">
              <a:buNone/>
            </a:pPr>
            <a:r>
              <a:rPr lang="en-US" dirty="0">
                <a:solidFill>
                  <a:srgbClr val="0070C0"/>
                </a:solidFill>
              </a:rPr>
              <a:t>  </a:t>
            </a:r>
            <a:r>
              <a:rPr lang="en-US" b="1" dirty="0">
                <a:solidFill>
                  <a:srgbClr val="0070C0"/>
                </a:solidFill>
              </a:rPr>
              <a:t>public</a:t>
            </a:r>
            <a:r>
              <a:rPr lang="en-US" dirty="0">
                <a:solidFill>
                  <a:srgbClr val="0070C0"/>
                </a:solidFill>
              </a:rPr>
              <a:t> </a:t>
            </a:r>
            <a:r>
              <a:rPr lang="en-US" b="1" dirty="0">
                <a:solidFill>
                  <a:srgbClr val="0070C0"/>
                </a:solidFill>
              </a:rPr>
              <a:t>abstract</a:t>
            </a:r>
            <a:r>
              <a:rPr lang="en-US" dirty="0">
                <a:solidFill>
                  <a:srgbClr val="0070C0"/>
                </a:solidFill>
              </a:rPr>
              <a:t> Bank </a:t>
            </a:r>
            <a:r>
              <a:rPr lang="en-US" dirty="0" err="1">
                <a:solidFill>
                  <a:srgbClr val="0070C0"/>
                </a:solidFill>
              </a:rPr>
              <a:t>getBank</a:t>
            </a:r>
            <a:r>
              <a:rPr lang="en-US" dirty="0">
                <a:solidFill>
                  <a:srgbClr val="0070C0"/>
                </a:solidFill>
              </a:rPr>
              <a:t>(String bank);  </a:t>
            </a:r>
          </a:p>
          <a:p>
            <a:pPr marL="114300" indent="0">
              <a:buNone/>
            </a:pPr>
            <a:r>
              <a:rPr lang="en-US" dirty="0">
                <a:solidFill>
                  <a:srgbClr val="0070C0"/>
                </a:solidFill>
              </a:rPr>
              <a:t>  </a:t>
            </a:r>
            <a:r>
              <a:rPr lang="en-US" b="1" dirty="0">
                <a:solidFill>
                  <a:srgbClr val="0070C0"/>
                </a:solidFill>
              </a:rPr>
              <a:t>public</a:t>
            </a:r>
            <a:r>
              <a:rPr lang="en-US" dirty="0">
                <a:solidFill>
                  <a:srgbClr val="0070C0"/>
                </a:solidFill>
              </a:rPr>
              <a:t> </a:t>
            </a:r>
            <a:r>
              <a:rPr lang="en-US" b="1" dirty="0">
                <a:solidFill>
                  <a:srgbClr val="0070C0"/>
                </a:solidFill>
              </a:rPr>
              <a:t>abstract</a:t>
            </a:r>
            <a:r>
              <a:rPr lang="en-US" dirty="0">
                <a:solidFill>
                  <a:srgbClr val="0070C0"/>
                </a:solidFill>
              </a:rPr>
              <a:t> Loan </a:t>
            </a:r>
            <a:r>
              <a:rPr lang="en-US" dirty="0" err="1">
                <a:solidFill>
                  <a:srgbClr val="0070C0"/>
                </a:solidFill>
              </a:rPr>
              <a:t>getLoan</a:t>
            </a:r>
            <a:r>
              <a:rPr lang="en-US" dirty="0">
                <a:solidFill>
                  <a:srgbClr val="0070C0"/>
                </a:solidFill>
              </a:rPr>
              <a:t>(String loan);  </a:t>
            </a:r>
          </a:p>
          <a:p>
            <a:pPr marL="114300" indent="0">
              <a:buNone/>
            </a:pPr>
            <a:r>
              <a:rPr lang="en-US" dirty="0">
                <a:solidFill>
                  <a:srgbClr val="0070C0"/>
                </a:solidFill>
              </a:rPr>
              <a:t>}  </a:t>
            </a:r>
          </a:p>
          <a:p>
            <a:endParaRPr lang="en-US" dirty="0"/>
          </a:p>
        </p:txBody>
      </p:sp>
    </p:spTree>
    <p:extLst>
      <p:ext uri="{BB962C8B-B14F-4D97-AF65-F5344CB8AC3E}">
        <p14:creationId xmlns:p14="http://schemas.microsoft.com/office/powerpoint/2010/main" val="138564081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4601" y="76201"/>
            <a:ext cx="7704667" cy="380999"/>
          </a:xfrm>
        </p:spPr>
        <p:txBody>
          <a:bodyPr>
            <a:normAutofit fontScale="90000"/>
          </a:bodyPr>
          <a:lstStyle/>
          <a:p>
            <a:r>
              <a:rPr lang="en-US" b="1" dirty="0"/>
              <a:t>Step 6:</a:t>
            </a:r>
            <a:endParaRPr lang="en-US" dirty="0"/>
          </a:p>
        </p:txBody>
      </p:sp>
      <p:sp>
        <p:nvSpPr>
          <p:cNvPr id="3" name="Content Placeholder 2"/>
          <p:cNvSpPr>
            <a:spLocks noGrp="1"/>
          </p:cNvSpPr>
          <p:nvPr>
            <p:ph idx="1"/>
          </p:nvPr>
        </p:nvSpPr>
        <p:spPr>
          <a:xfrm>
            <a:off x="2483964" y="467412"/>
            <a:ext cx="7704667" cy="6172199"/>
          </a:xfrm>
        </p:spPr>
        <p:txBody>
          <a:bodyPr>
            <a:normAutofit fontScale="25000" lnSpcReduction="20000"/>
          </a:bodyPr>
          <a:lstStyle/>
          <a:p>
            <a:r>
              <a:rPr lang="en-US" sz="4400" dirty="0"/>
              <a:t>Create the factory classes that inherit </a:t>
            </a:r>
            <a:r>
              <a:rPr lang="en-US" sz="4400" dirty="0" err="1"/>
              <a:t>AbstractFactory</a:t>
            </a:r>
            <a:r>
              <a:rPr lang="en-US" sz="4400" dirty="0"/>
              <a:t> class to generate the object of concrete class based on given information.</a:t>
            </a:r>
          </a:p>
          <a:p>
            <a:pPr marL="0" indent="0">
              <a:buNone/>
            </a:pPr>
            <a:r>
              <a:rPr lang="en-US" sz="4400" dirty="0">
                <a:solidFill>
                  <a:schemeClr val="accent1">
                    <a:lumMod val="75000"/>
                  </a:schemeClr>
                </a:solidFill>
              </a:rPr>
              <a:t>class </a:t>
            </a:r>
            <a:r>
              <a:rPr lang="en-US" sz="4400" dirty="0" err="1">
                <a:solidFill>
                  <a:schemeClr val="accent1">
                    <a:lumMod val="75000"/>
                  </a:schemeClr>
                </a:solidFill>
              </a:rPr>
              <a:t>BankFactory</a:t>
            </a:r>
            <a:r>
              <a:rPr lang="en-US" sz="4400" dirty="0">
                <a:solidFill>
                  <a:schemeClr val="accent1">
                    <a:lumMod val="75000"/>
                  </a:schemeClr>
                </a:solidFill>
              </a:rPr>
              <a:t> extends </a:t>
            </a:r>
            <a:r>
              <a:rPr lang="en-US" sz="4400" dirty="0" err="1">
                <a:solidFill>
                  <a:schemeClr val="accent1">
                    <a:lumMod val="75000"/>
                  </a:schemeClr>
                </a:solidFill>
              </a:rPr>
              <a:t>AbstractFactory</a:t>
            </a:r>
            <a:r>
              <a:rPr lang="en-US" sz="4400" dirty="0">
                <a:solidFill>
                  <a:schemeClr val="accent1">
                    <a:lumMod val="75000"/>
                  </a:schemeClr>
                </a:solidFill>
              </a:rPr>
              <a:t> {</a:t>
            </a:r>
          </a:p>
          <a:p>
            <a:pPr marL="0" indent="0">
              <a:buNone/>
            </a:pPr>
            <a:r>
              <a:rPr lang="en-US" sz="4400" dirty="0">
                <a:solidFill>
                  <a:schemeClr val="accent1">
                    <a:lumMod val="75000"/>
                  </a:schemeClr>
                </a:solidFill>
              </a:rPr>
              <a:t>    @Override</a:t>
            </a:r>
          </a:p>
          <a:p>
            <a:pPr marL="0" indent="0">
              <a:buNone/>
            </a:pPr>
            <a:r>
              <a:rPr lang="en-US" sz="4400" dirty="0">
                <a:solidFill>
                  <a:schemeClr val="accent1">
                    <a:lumMod val="75000"/>
                  </a:schemeClr>
                </a:solidFill>
              </a:rPr>
              <a:t>    public Bank </a:t>
            </a:r>
            <a:r>
              <a:rPr lang="en-US" sz="4400" dirty="0" err="1">
                <a:solidFill>
                  <a:schemeClr val="accent1">
                    <a:lumMod val="75000"/>
                  </a:schemeClr>
                </a:solidFill>
              </a:rPr>
              <a:t>getBank</a:t>
            </a:r>
            <a:r>
              <a:rPr lang="en-US" sz="4400" dirty="0">
                <a:solidFill>
                  <a:schemeClr val="accent1">
                    <a:lumMod val="75000"/>
                  </a:schemeClr>
                </a:solidFill>
              </a:rPr>
              <a:t>(String bank) {</a:t>
            </a:r>
          </a:p>
          <a:p>
            <a:pPr marL="0" indent="0">
              <a:buNone/>
            </a:pPr>
            <a:r>
              <a:rPr lang="en-US" sz="4400" dirty="0">
                <a:solidFill>
                  <a:schemeClr val="accent1">
                    <a:lumMod val="75000"/>
                  </a:schemeClr>
                </a:solidFill>
              </a:rPr>
              <a:t>        if (bank == null) {</a:t>
            </a:r>
          </a:p>
          <a:p>
            <a:pPr marL="0" indent="0">
              <a:buNone/>
            </a:pPr>
            <a:r>
              <a:rPr lang="en-US" sz="4400" dirty="0">
                <a:solidFill>
                  <a:schemeClr val="accent1">
                    <a:lumMod val="75000"/>
                  </a:schemeClr>
                </a:solidFill>
              </a:rPr>
              <a:t>            throw new </a:t>
            </a:r>
            <a:r>
              <a:rPr lang="en-US" sz="4400" dirty="0" err="1">
                <a:solidFill>
                  <a:schemeClr val="accent1">
                    <a:lumMod val="75000"/>
                  </a:schemeClr>
                </a:solidFill>
              </a:rPr>
              <a:t>IllegalArgumentException</a:t>
            </a:r>
            <a:r>
              <a:rPr lang="en-US" sz="4400" dirty="0">
                <a:solidFill>
                  <a:schemeClr val="accent1">
                    <a:lumMod val="75000"/>
                  </a:schemeClr>
                </a:solidFill>
              </a:rPr>
              <a:t>("Bank type cannot be null");</a:t>
            </a:r>
          </a:p>
          <a:p>
            <a:pPr marL="0" indent="0">
              <a:buNone/>
            </a:pPr>
            <a:r>
              <a:rPr lang="en-US" sz="4400" dirty="0">
                <a:solidFill>
                  <a:schemeClr val="accent1">
                    <a:lumMod val="75000"/>
                  </a:schemeClr>
                </a:solidFill>
              </a:rPr>
              <a:t>        }</a:t>
            </a:r>
          </a:p>
          <a:p>
            <a:pPr marL="0" indent="0">
              <a:buNone/>
            </a:pPr>
            <a:r>
              <a:rPr lang="en-US" sz="4400" dirty="0">
                <a:solidFill>
                  <a:schemeClr val="accent1">
                    <a:lumMod val="75000"/>
                  </a:schemeClr>
                </a:solidFill>
              </a:rPr>
              <a:t>        switch (</a:t>
            </a:r>
            <a:r>
              <a:rPr lang="en-US" sz="4400" dirty="0" err="1">
                <a:solidFill>
                  <a:schemeClr val="accent1">
                    <a:lumMod val="75000"/>
                  </a:schemeClr>
                </a:solidFill>
              </a:rPr>
              <a:t>bank.toLowerCase</a:t>
            </a:r>
            <a:r>
              <a:rPr lang="en-US" sz="4400" dirty="0">
                <a:solidFill>
                  <a:schemeClr val="accent1">
                    <a:lumMod val="75000"/>
                  </a:schemeClr>
                </a:solidFill>
              </a:rPr>
              <a:t>()) {</a:t>
            </a:r>
          </a:p>
          <a:p>
            <a:pPr marL="0" indent="0">
              <a:buNone/>
            </a:pPr>
            <a:r>
              <a:rPr lang="en-US" sz="4400" dirty="0">
                <a:solidFill>
                  <a:schemeClr val="accent1">
                    <a:lumMod val="75000"/>
                  </a:schemeClr>
                </a:solidFill>
              </a:rPr>
              <a:t>            case "</a:t>
            </a:r>
            <a:r>
              <a:rPr lang="en-US" sz="4400" dirty="0" err="1">
                <a:solidFill>
                  <a:schemeClr val="accent1">
                    <a:lumMod val="75000"/>
                  </a:schemeClr>
                </a:solidFill>
              </a:rPr>
              <a:t>hdfc</a:t>
            </a:r>
            <a:r>
              <a:rPr lang="en-US" sz="4400" dirty="0">
                <a:solidFill>
                  <a:schemeClr val="accent1">
                    <a:lumMod val="75000"/>
                  </a:schemeClr>
                </a:solidFill>
              </a:rPr>
              <a:t>":</a:t>
            </a:r>
          </a:p>
          <a:p>
            <a:pPr marL="0" indent="0">
              <a:buNone/>
            </a:pPr>
            <a:r>
              <a:rPr lang="en-US" sz="4400" dirty="0">
                <a:solidFill>
                  <a:schemeClr val="accent1">
                    <a:lumMod val="75000"/>
                  </a:schemeClr>
                </a:solidFill>
              </a:rPr>
              <a:t>                return new HDFC();</a:t>
            </a:r>
          </a:p>
          <a:p>
            <a:pPr marL="0" indent="0">
              <a:buNone/>
            </a:pPr>
            <a:r>
              <a:rPr lang="en-US" sz="4400" dirty="0">
                <a:solidFill>
                  <a:schemeClr val="accent1">
                    <a:lumMod val="75000"/>
                  </a:schemeClr>
                </a:solidFill>
              </a:rPr>
              <a:t>             case "</a:t>
            </a:r>
            <a:r>
              <a:rPr lang="en-US" sz="4400" dirty="0" err="1">
                <a:solidFill>
                  <a:schemeClr val="accent1">
                    <a:lumMod val="75000"/>
                  </a:schemeClr>
                </a:solidFill>
              </a:rPr>
              <a:t>icici</a:t>
            </a:r>
            <a:r>
              <a:rPr lang="en-US" sz="4400" dirty="0">
                <a:solidFill>
                  <a:schemeClr val="accent1">
                    <a:lumMod val="75000"/>
                  </a:schemeClr>
                </a:solidFill>
              </a:rPr>
              <a:t>":</a:t>
            </a:r>
          </a:p>
          <a:p>
            <a:pPr marL="0" indent="0">
              <a:buNone/>
            </a:pPr>
            <a:r>
              <a:rPr lang="en-US" sz="4400" dirty="0">
                <a:solidFill>
                  <a:schemeClr val="accent1">
                    <a:lumMod val="75000"/>
                  </a:schemeClr>
                </a:solidFill>
              </a:rPr>
              <a:t>                return new ICICI();</a:t>
            </a:r>
          </a:p>
          <a:p>
            <a:pPr marL="0" indent="0">
              <a:buNone/>
            </a:pPr>
            <a:r>
              <a:rPr lang="en-US" sz="4400" dirty="0">
                <a:solidFill>
                  <a:schemeClr val="accent1">
                    <a:lumMod val="75000"/>
                  </a:schemeClr>
                </a:solidFill>
              </a:rPr>
              <a:t>             case "</a:t>
            </a:r>
            <a:r>
              <a:rPr lang="en-US" sz="4400" dirty="0" err="1">
                <a:solidFill>
                  <a:schemeClr val="accent1">
                    <a:lumMod val="75000"/>
                  </a:schemeClr>
                </a:solidFill>
              </a:rPr>
              <a:t>sbi</a:t>
            </a:r>
            <a:r>
              <a:rPr lang="en-US" sz="4400" dirty="0">
                <a:solidFill>
                  <a:schemeClr val="accent1">
                    <a:lumMod val="75000"/>
                  </a:schemeClr>
                </a:solidFill>
              </a:rPr>
              <a:t>":</a:t>
            </a:r>
          </a:p>
          <a:p>
            <a:pPr marL="0" indent="0">
              <a:buNone/>
            </a:pPr>
            <a:r>
              <a:rPr lang="en-US" sz="4400" dirty="0">
                <a:solidFill>
                  <a:schemeClr val="accent1">
                    <a:lumMod val="75000"/>
                  </a:schemeClr>
                </a:solidFill>
              </a:rPr>
              <a:t>                return new SBI();</a:t>
            </a:r>
          </a:p>
          <a:p>
            <a:pPr marL="0" indent="0">
              <a:buNone/>
            </a:pPr>
            <a:r>
              <a:rPr lang="en-US" sz="4400" dirty="0">
                <a:solidFill>
                  <a:schemeClr val="accent1">
                    <a:lumMod val="75000"/>
                  </a:schemeClr>
                </a:solidFill>
              </a:rPr>
              <a:t>             default:</a:t>
            </a:r>
          </a:p>
          <a:p>
            <a:pPr marL="0" indent="0">
              <a:buNone/>
            </a:pPr>
            <a:r>
              <a:rPr lang="en-US" sz="4400" dirty="0">
                <a:solidFill>
                  <a:schemeClr val="accent1">
                    <a:lumMod val="75000"/>
                  </a:schemeClr>
                </a:solidFill>
              </a:rPr>
              <a:t>                throw new </a:t>
            </a:r>
            <a:r>
              <a:rPr lang="en-US" sz="4400" dirty="0" err="1">
                <a:solidFill>
                  <a:schemeClr val="accent1">
                    <a:lumMod val="75000"/>
                  </a:schemeClr>
                </a:solidFill>
              </a:rPr>
              <a:t>IllegalArgumentException</a:t>
            </a:r>
            <a:r>
              <a:rPr lang="en-US" sz="4400" dirty="0">
                <a:solidFill>
                  <a:schemeClr val="accent1">
                    <a:lumMod val="75000"/>
                  </a:schemeClr>
                </a:solidFill>
              </a:rPr>
              <a:t>("Unknown bank type: " + bank);</a:t>
            </a:r>
          </a:p>
          <a:p>
            <a:pPr marL="0" indent="0">
              <a:buNone/>
            </a:pPr>
            <a:r>
              <a:rPr lang="en-US" sz="4400" dirty="0">
                <a:solidFill>
                  <a:schemeClr val="accent1">
                    <a:lumMod val="75000"/>
                  </a:schemeClr>
                </a:solidFill>
              </a:rPr>
              <a:t>        }</a:t>
            </a:r>
          </a:p>
          <a:p>
            <a:pPr marL="0" indent="0">
              <a:buNone/>
            </a:pPr>
            <a:r>
              <a:rPr lang="en-US" sz="4400" dirty="0">
                <a:solidFill>
                  <a:schemeClr val="accent1">
                    <a:lumMod val="75000"/>
                  </a:schemeClr>
                </a:solidFill>
              </a:rPr>
              <a:t>    }</a:t>
            </a:r>
          </a:p>
          <a:p>
            <a:pPr marL="0" indent="0">
              <a:buNone/>
            </a:pPr>
            <a:r>
              <a:rPr lang="en-US" sz="4400" dirty="0">
                <a:solidFill>
                  <a:schemeClr val="accent1">
                    <a:lumMod val="75000"/>
                  </a:schemeClr>
                </a:solidFill>
              </a:rPr>
              <a:t>     @Override</a:t>
            </a:r>
          </a:p>
          <a:p>
            <a:pPr marL="0" indent="0">
              <a:buNone/>
            </a:pPr>
            <a:r>
              <a:rPr lang="en-US" sz="4400" dirty="0">
                <a:solidFill>
                  <a:schemeClr val="accent1">
                    <a:lumMod val="75000"/>
                  </a:schemeClr>
                </a:solidFill>
              </a:rPr>
              <a:t>    public Loan </a:t>
            </a:r>
            <a:r>
              <a:rPr lang="en-US" sz="4400" dirty="0" err="1">
                <a:solidFill>
                  <a:schemeClr val="accent1">
                    <a:lumMod val="75000"/>
                  </a:schemeClr>
                </a:solidFill>
              </a:rPr>
              <a:t>getLoan</a:t>
            </a:r>
            <a:r>
              <a:rPr lang="en-US" sz="4400" dirty="0">
                <a:solidFill>
                  <a:schemeClr val="accent1">
                    <a:lumMod val="75000"/>
                  </a:schemeClr>
                </a:solidFill>
              </a:rPr>
              <a:t>(String loan) {</a:t>
            </a:r>
          </a:p>
          <a:p>
            <a:pPr marL="0" indent="0">
              <a:buNone/>
            </a:pPr>
            <a:r>
              <a:rPr lang="en-US" sz="4400" dirty="0">
                <a:solidFill>
                  <a:schemeClr val="accent1">
                    <a:lumMod val="75000"/>
                  </a:schemeClr>
                </a:solidFill>
              </a:rPr>
              <a:t>        // </a:t>
            </a:r>
            <a:r>
              <a:rPr lang="en-US" sz="4400" dirty="0" err="1">
                <a:solidFill>
                  <a:schemeClr val="accent1">
                    <a:lumMod val="75000"/>
                  </a:schemeClr>
                </a:solidFill>
              </a:rPr>
              <a:t>BankFactory</a:t>
            </a:r>
            <a:r>
              <a:rPr lang="en-US" sz="4400" dirty="0">
                <a:solidFill>
                  <a:schemeClr val="accent1">
                    <a:lumMod val="75000"/>
                  </a:schemeClr>
                </a:solidFill>
              </a:rPr>
              <a:t> does NOT create Loan objects</a:t>
            </a:r>
          </a:p>
          <a:p>
            <a:pPr marL="0" indent="0">
              <a:buNone/>
            </a:pPr>
            <a:r>
              <a:rPr lang="en-US" sz="4400" dirty="0">
                <a:solidFill>
                  <a:schemeClr val="accent1">
                    <a:lumMod val="75000"/>
                  </a:schemeClr>
                </a:solidFill>
              </a:rPr>
              <a:t>        throw new </a:t>
            </a:r>
            <a:r>
              <a:rPr lang="en-US" sz="4400" dirty="0" err="1">
                <a:solidFill>
                  <a:schemeClr val="accent1">
                    <a:lumMod val="75000"/>
                  </a:schemeClr>
                </a:solidFill>
              </a:rPr>
              <a:t>UnsupportedOperationException</a:t>
            </a:r>
            <a:r>
              <a:rPr lang="en-US" sz="4400" dirty="0">
                <a:solidFill>
                  <a:schemeClr val="accent1">
                    <a:lumMod val="75000"/>
                  </a:schemeClr>
                </a:solidFill>
              </a:rPr>
              <a:t>("</a:t>
            </a:r>
            <a:r>
              <a:rPr lang="en-US" sz="4400" dirty="0" err="1">
                <a:solidFill>
                  <a:schemeClr val="accent1">
                    <a:lumMod val="75000"/>
                  </a:schemeClr>
                </a:solidFill>
              </a:rPr>
              <a:t>BankFactory</a:t>
            </a:r>
            <a:r>
              <a:rPr lang="en-US" sz="4400" dirty="0">
                <a:solidFill>
                  <a:schemeClr val="accent1">
                    <a:lumMod val="75000"/>
                  </a:schemeClr>
                </a:solidFill>
              </a:rPr>
              <a:t> cannot create Loan objects");</a:t>
            </a:r>
          </a:p>
          <a:p>
            <a:pPr marL="0" indent="0">
              <a:buNone/>
            </a:pPr>
            <a:r>
              <a:rPr lang="en-US" sz="4400" dirty="0">
                <a:solidFill>
                  <a:schemeClr val="accent1">
                    <a:lumMod val="75000"/>
                  </a:schemeClr>
                </a:solidFill>
              </a:rPr>
              <a:t>    }</a:t>
            </a:r>
          </a:p>
          <a:p>
            <a:pPr marL="0" indent="0">
              <a:buNone/>
            </a:pPr>
            <a:r>
              <a:rPr lang="en-US" sz="4400" dirty="0">
                <a:solidFill>
                  <a:schemeClr val="accent1">
                    <a:lumMod val="75000"/>
                  </a:schemeClr>
                </a:solidFill>
              </a:rPr>
              <a:t>}</a:t>
            </a:r>
          </a:p>
        </p:txBody>
      </p:sp>
    </p:spTree>
    <p:extLst>
      <p:ext uri="{BB962C8B-B14F-4D97-AF65-F5344CB8AC3E}">
        <p14:creationId xmlns:p14="http://schemas.microsoft.com/office/powerpoint/2010/main" val="45617977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6134" y="457202"/>
            <a:ext cx="7704667" cy="533399"/>
          </a:xfrm>
        </p:spPr>
        <p:txBody>
          <a:bodyPr>
            <a:normAutofit fontScale="90000"/>
          </a:bodyPr>
          <a:lstStyle/>
          <a:p>
            <a:r>
              <a:rPr lang="en-US" b="1" dirty="0"/>
              <a:t>Step 6:</a:t>
            </a:r>
            <a:endParaRPr lang="en-US" dirty="0"/>
          </a:p>
        </p:txBody>
      </p:sp>
      <p:sp>
        <p:nvSpPr>
          <p:cNvPr id="3" name="Content Placeholder 2"/>
          <p:cNvSpPr>
            <a:spLocks noGrp="1"/>
          </p:cNvSpPr>
          <p:nvPr>
            <p:ph idx="1"/>
          </p:nvPr>
        </p:nvSpPr>
        <p:spPr>
          <a:xfrm>
            <a:off x="2506134" y="990600"/>
            <a:ext cx="7704667" cy="5486400"/>
          </a:xfrm>
        </p:spPr>
        <p:txBody>
          <a:bodyPr>
            <a:normAutofit fontScale="55000" lnSpcReduction="20000"/>
          </a:bodyPr>
          <a:lstStyle/>
          <a:p>
            <a:pPr marL="114300" indent="0">
              <a:buNone/>
            </a:pPr>
            <a:r>
              <a:rPr lang="en-US" dirty="0">
                <a:solidFill>
                  <a:schemeClr val="accent1">
                    <a:lumMod val="75000"/>
                  </a:schemeClr>
                </a:solidFill>
              </a:rPr>
              <a:t>class </a:t>
            </a:r>
            <a:r>
              <a:rPr lang="en-US" dirty="0" err="1">
                <a:solidFill>
                  <a:schemeClr val="accent1">
                    <a:lumMod val="75000"/>
                  </a:schemeClr>
                </a:solidFill>
              </a:rPr>
              <a:t>LoanFactory</a:t>
            </a:r>
            <a:r>
              <a:rPr lang="en-US" dirty="0">
                <a:solidFill>
                  <a:schemeClr val="accent1">
                    <a:lumMod val="75000"/>
                  </a:schemeClr>
                </a:solidFill>
              </a:rPr>
              <a:t> extends </a:t>
            </a:r>
            <a:r>
              <a:rPr lang="en-US" dirty="0" err="1">
                <a:solidFill>
                  <a:schemeClr val="accent1">
                    <a:lumMod val="75000"/>
                  </a:schemeClr>
                </a:solidFill>
              </a:rPr>
              <a:t>AbstractFactory</a:t>
            </a:r>
            <a:r>
              <a:rPr lang="en-US" dirty="0">
                <a:solidFill>
                  <a:schemeClr val="accent1">
                    <a:lumMod val="75000"/>
                  </a:schemeClr>
                </a:solidFill>
              </a:rPr>
              <a:t> {</a:t>
            </a:r>
            <a:br>
              <a:rPr lang="en-US" dirty="0">
                <a:solidFill>
                  <a:schemeClr val="accent1">
                    <a:lumMod val="75000"/>
                  </a:schemeClr>
                </a:solidFill>
              </a:rPr>
            </a:br>
            <a:br>
              <a:rPr lang="en-US" dirty="0">
                <a:solidFill>
                  <a:schemeClr val="accent1">
                    <a:lumMod val="75000"/>
                  </a:schemeClr>
                </a:solidFill>
              </a:rPr>
            </a:br>
            <a:r>
              <a:rPr lang="en-US" dirty="0">
                <a:solidFill>
                  <a:schemeClr val="accent1">
                    <a:lumMod val="75000"/>
                  </a:schemeClr>
                </a:solidFill>
              </a:rPr>
              <a:t>@Override</a:t>
            </a:r>
            <a:br>
              <a:rPr lang="en-US" dirty="0">
                <a:solidFill>
                  <a:schemeClr val="accent1">
                    <a:lumMod val="75000"/>
                  </a:schemeClr>
                </a:solidFill>
              </a:rPr>
            </a:br>
            <a:r>
              <a:rPr lang="en-US" dirty="0">
                <a:solidFill>
                  <a:schemeClr val="accent1">
                    <a:lumMod val="75000"/>
                  </a:schemeClr>
                </a:solidFill>
              </a:rPr>
              <a:t>public Bank </a:t>
            </a:r>
            <a:r>
              <a:rPr lang="en-US" dirty="0" err="1">
                <a:solidFill>
                  <a:schemeClr val="accent1">
                    <a:lumMod val="75000"/>
                  </a:schemeClr>
                </a:solidFill>
              </a:rPr>
              <a:t>getBank</a:t>
            </a:r>
            <a:r>
              <a:rPr lang="en-US" dirty="0">
                <a:solidFill>
                  <a:schemeClr val="accent1">
                    <a:lumMod val="75000"/>
                  </a:schemeClr>
                </a:solidFill>
              </a:rPr>
              <a:t>(String bank) {</a:t>
            </a:r>
            <a:br>
              <a:rPr lang="en-US" dirty="0">
                <a:solidFill>
                  <a:schemeClr val="accent1">
                    <a:lumMod val="75000"/>
                  </a:schemeClr>
                </a:solidFill>
              </a:rPr>
            </a:br>
            <a:r>
              <a:rPr lang="en-US" dirty="0">
                <a:solidFill>
                  <a:schemeClr val="accent1">
                    <a:lumMod val="75000"/>
                  </a:schemeClr>
                </a:solidFill>
              </a:rPr>
              <a:t>throw new </a:t>
            </a:r>
            <a:r>
              <a:rPr lang="en-US" dirty="0" err="1">
                <a:solidFill>
                  <a:schemeClr val="accent1">
                    <a:lumMod val="75000"/>
                  </a:schemeClr>
                </a:solidFill>
              </a:rPr>
              <a:t>UnsupportedOperationException</a:t>
            </a:r>
            <a:r>
              <a:rPr lang="en-US" dirty="0">
                <a:solidFill>
                  <a:schemeClr val="accent1">
                    <a:lumMod val="75000"/>
                  </a:schemeClr>
                </a:solidFill>
              </a:rPr>
              <a:t>("</a:t>
            </a:r>
            <a:r>
              <a:rPr lang="en-US" dirty="0" err="1">
                <a:solidFill>
                  <a:schemeClr val="accent1">
                    <a:lumMod val="75000"/>
                  </a:schemeClr>
                </a:solidFill>
              </a:rPr>
              <a:t>LoanFactory</a:t>
            </a:r>
            <a:r>
              <a:rPr lang="en-US" dirty="0">
                <a:solidFill>
                  <a:schemeClr val="accent1">
                    <a:lumMod val="75000"/>
                  </a:schemeClr>
                </a:solidFill>
              </a:rPr>
              <a:t> cannot create Bank");</a:t>
            </a:r>
            <a:br>
              <a:rPr lang="en-US" dirty="0">
                <a:solidFill>
                  <a:schemeClr val="accent1">
                    <a:lumMod val="75000"/>
                  </a:schemeClr>
                </a:solidFill>
              </a:rPr>
            </a:br>
            <a:r>
              <a:rPr lang="en-US" dirty="0">
                <a:solidFill>
                  <a:schemeClr val="accent1">
                    <a:lumMod val="75000"/>
                  </a:schemeClr>
                </a:solidFill>
              </a:rPr>
              <a:t>}</a:t>
            </a:r>
            <a:br>
              <a:rPr lang="en-US" dirty="0">
                <a:solidFill>
                  <a:schemeClr val="accent1">
                    <a:lumMod val="75000"/>
                  </a:schemeClr>
                </a:solidFill>
              </a:rPr>
            </a:br>
            <a:br>
              <a:rPr lang="en-US" dirty="0">
                <a:solidFill>
                  <a:schemeClr val="accent1">
                    <a:lumMod val="75000"/>
                  </a:schemeClr>
                </a:solidFill>
              </a:rPr>
            </a:br>
            <a:r>
              <a:rPr lang="en-US" dirty="0">
                <a:solidFill>
                  <a:schemeClr val="accent1">
                    <a:lumMod val="75000"/>
                  </a:schemeClr>
                </a:solidFill>
              </a:rPr>
              <a:t>@Override</a:t>
            </a:r>
            <a:br>
              <a:rPr lang="en-US" dirty="0">
                <a:solidFill>
                  <a:schemeClr val="accent1">
                    <a:lumMod val="75000"/>
                  </a:schemeClr>
                </a:solidFill>
              </a:rPr>
            </a:br>
            <a:r>
              <a:rPr lang="en-US" dirty="0">
                <a:solidFill>
                  <a:schemeClr val="accent1">
                    <a:lumMod val="75000"/>
                  </a:schemeClr>
                </a:solidFill>
              </a:rPr>
              <a:t>public Loan </a:t>
            </a:r>
            <a:r>
              <a:rPr lang="en-US" dirty="0" err="1">
                <a:solidFill>
                  <a:schemeClr val="accent1">
                    <a:lumMod val="75000"/>
                  </a:schemeClr>
                </a:solidFill>
              </a:rPr>
              <a:t>getLoan</a:t>
            </a:r>
            <a:r>
              <a:rPr lang="en-US" dirty="0">
                <a:solidFill>
                  <a:schemeClr val="accent1">
                    <a:lumMod val="75000"/>
                  </a:schemeClr>
                </a:solidFill>
              </a:rPr>
              <a:t>(String loan) {</a:t>
            </a:r>
            <a:br>
              <a:rPr lang="en-US" dirty="0">
                <a:solidFill>
                  <a:schemeClr val="accent1">
                    <a:lumMod val="75000"/>
                  </a:schemeClr>
                </a:solidFill>
              </a:rPr>
            </a:br>
            <a:br>
              <a:rPr lang="en-US" dirty="0">
                <a:solidFill>
                  <a:schemeClr val="accent1">
                    <a:lumMod val="75000"/>
                  </a:schemeClr>
                </a:solidFill>
              </a:rPr>
            </a:br>
            <a:r>
              <a:rPr lang="en-US" dirty="0">
                <a:solidFill>
                  <a:schemeClr val="accent1">
                    <a:lumMod val="75000"/>
                  </a:schemeClr>
                </a:solidFill>
              </a:rPr>
              <a:t>if (loan == null) {</a:t>
            </a:r>
            <a:br>
              <a:rPr lang="en-US" dirty="0">
                <a:solidFill>
                  <a:schemeClr val="accent1">
                    <a:lumMod val="75000"/>
                  </a:schemeClr>
                </a:solidFill>
              </a:rPr>
            </a:br>
            <a:r>
              <a:rPr lang="en-US" dirty="0">
                <a:solidFill>
                  <a:schemeClr val="accent1">
                    <a:lumMod val="75000"/>
                  </a:schemeClr>
                </a:solidFill>
              </a:rPr>
              <a:t>throw new </a:t>
            </a:r>
            <a:r>
              <a:rPr lang="en-US" dirty="0" err="1">
                <a:solidFill>
                  <a:schemeClr val="accent1">
                    <a:lumMod val="75000"/>
                  </a:schemeClr>
                </a:solidFill>
              </a:rPr>
              <a:t>IllegalArgumentException</a:t>
            </a:r>
            <a:r>
              <a:rPr lang="en-US" dirty="0">
                <a:solidFill>
                  <a:schemeClr val="accent1">
                    <a:lumMod val="75000"/>
                  </a:schemeClr>
                </a:solidFill>
              </a:rPr>
              <a:t>("Loan type cannot be null");</a:t>
            </a:r>
            <a:br>
              <a:rPr lang="en-US" dirty="0">
                <a:solidFill>
                  <a:schemeClr val="accent1">
                    <a:lumMod val="75000"/>
                  </a:schemeClr>
                </a:solidFill>
              </a:rPr>
            </a:br>
            <a:r>
              <a:rPr lang="en-US" dirty="0">
                <a:solidFill>
                  <a:schemeClr val="accent1">
                    <a:lumMod val="75000"/>
                  </a:schemeClr>
                </a:solidFill>
              </a:rPr>
              <a:t>}</a:t>
            </a:r>
            <a:br>
              <a:rPr lang="en-US" dirty="0">
                <a:solidFill>
                  <a:schemeClr val="accent1">
                    <a:lumMod val="75000"/>
                  </a:schemeClr>
                </a:solidFill>
              </a:rPr>
            </a:br>
            <a:br>
              <a:rPr lang="en-US" dirty="0">
                <a:solidFill>
                  <a:schemeClr val="accent1">
                    <a:lumMod val="75000"/>
                  </a:schemeClr>
                </a:solidFill>
              </a:rPr>
            </a:br>
            <a:r>
              <a:rPr lang="en-US" dirty="0">
                <a:solidFill>
                  <a:schemeClr val="accent1">
                    <a:lumMod val="75000"/>
                  </a:schemeClr>
                </a:solidFill>
              </a:rPr>
              <a:t>switch (</a:t>
            </a:r>
            <a:r>
              <a:rPr lang="en-US" dirty="0" err="1">
                <a:solidFill>
                  <a:schemeClr val="accent1">
                    <a:lumMod val="75000"/>
                  </a:schemeClr>
                </a:solidFill>
              </a:rPr>
              <a:t>loan.toLowerCase</a:t>
            </a:r>
            <a:r>
              <a:rPr lang="en-US" dirty="0">
                <a:solidFill>
                  <a:schemeClr val="accent1">
                    <a:lumMod val="75000"/>
                  </a:schemeClr>
                </a:solidFill>
              </a:rPr>
              <a:t>()) {</a:t>
            </a:r>
            <a:br>
              <a:rPr lang="en-US" dirty="0">
                <a:solidFill>
                  <a:schemeClr val="accent1">
                    <a:lumMod val="75000"/>
                  </a:schemeClr>
                </a:solidFill>
              </a:rPr>
            </a:br>
            <a:br>
              <a:rPr lang="en-US" dirty="0">
                <a:solidFill>
                  <a:schemeClr val="accent1">
                    <a:lumMod val="75000"/>
                  </a:schemeClr>
                </a:solidFill>
              </a:rPr>
            </a:br>
            <a:r>
              <a:rPr lang="en-US" dirty="0">
                <a:solidFill>
                  <a:schemeClr val="accent1">
                    <a:lumMod val="75000"/>
                  </a:schemeClr>
                </a:solidFill>
              </a:rPr>
              <a:t>case "home":</a:t>
            </a:r>
            <a:br>
              <a:rPr lang="en-US" dirty="0">
                <a:solidFill>
                  <a:schemeClr val="accent1">
                    <a:lumMod val="75000"/>
                  </a:schemeClr>
                </a:solidFill>
              </a:rPr>
            </a:br>
            <a:r>
              <a:rPr lang="en-US" dirty="0">
                <a:solidFill>
                  <a:schemeClr val="accent1">
                    <a:lumMod val="75000"/>
                  </a:schemeClr>
                </a:solidFill>
              </a:rPr>
              <a:t>return new </a:t>
            </a:r>
            <a:r>
              <a:rPr lang="en-US" dirty="0" err="1">
                <a:solidFill>
                  <a:schemeClr val="accent1">
                    <a:lumMod val="75000"/>
                  </a:schemeClr>
                </a:solidFill>
              </a:rPr>
              <a:t>HomeLoan</a:t>
            </a:r>
            <a:r>
              <a:rPr lang="en-US" dirty="0">
                <a:solidFill>
                  <a:schemeClr val="accent1">
                    <a:lumMod val="75000"/>
                  </a:schemeClr>
                </a:solidFill>
              </a:rPr>
              <a:t>();</a:t>
            </a:r>
            <a:br>
              <a:rPr lang="en-US" dirty="0">
                <a:solidFill>
                  <a:schemeClr val="accent1">
                    <a:lumMod val="75000"/>
                  </a:schemeClr>
                </a:solidFill>
              </a:rPr>
            </a:br>
            <a:br>
              <a:rPr lang="en-US" dirty="0">
                <a:solidFill>
                  <a:schemeClr val="accent1">
                    <a:lumMod val="75000"/>
                  </a:schemeClr>
                </a:solidFill>
              </a:rPr>
            </a:br>
            <a:r>
              <a:rPr lang="en-US" dirty="0">
                <a:solidFill>
                  <a:schemeClr val="accent1">
                    <a:lumMod val="75000"/>
                  </a:schemeClr>
                </a:solidFill>
              </a:rPr>
              <a:t>case "business":</a:t>
            </a:r>
            <a:br>
              <a:rPr lang="en-US" dirty="0">
                <a:solidFill>
                  <a:schemeClr val="accent1">
                    <a:lumMod val="75000"/>
                  </a:schemeClr>
                </a:solidFill>
              </a:rPr>
            </a:br>
            <a:r>
              <a:rPr lang="en-US" dirty="0">
                <a:solidFill>
                  <a:schemeClr val="accent1">
                    <a:lumMod val="75000"/>
                  </a:schemeClr>
                </a:solidFill>
              </a:rPr>
              <a:t>return new </a:t>
            </a:r>
            <a:r>
              <a:rPr lang="en-US" dirty="0" err="1">
                <a:solidFill>
                  <a:schemeClr val="accent1">
                    <a:lumMod val="75000"/>
                  </a:schemeClr>
                </a:solidFill>
              </a:rPr>
              <a:t>BusinessLoan</a:t>
            </a:r>
            <a:r>
              <a:rPr lang="en-US" dirty="0">
                <a:solidFill>
                  <a:schemeClr val="accent1">
                    <a:lumMod val="75000"/>
                  </a:schemeClr>
                </a:solidFill>
              </a:rPr>
              <a:t>();</a:t>
            </a:r>
            <a:br>
              <a:rPr lang="en-US" dirty="0">
                <a:solidFill>
                  <a:schemeClr val="accent1">
                    <a:lumMod val="75000"/>
                  </a:schemeClr>
                </a:solidFill>
              </a:rPr>
            </a:br>
            <a:br>
              <a:rPr lang="en-US" dirty="0">
                <a:solidFill>
                  <a:schemeClr val="accent1">
                    <a:lumMod val="75000"/>
                  </a:schemeClr>
                </a:solidFill>
              </a:rPr>
            </a:br>
            <a:r>
              <a:rPr lang="en-US" dirty="0">
                <a:solidFill>
                  <a:schemeClr val="accent1">
                    <a:lumMod val="75000"/>
                  </a:schemeClr>
                </a:solidFill>
              </a:rPr>
              <a:t>case "education":</a:t>
            </a:r>
            <a:br>
              <a:rPr lang="en-US" dirty="0">
                <a:solidFill>
                  <a:schemeClr val="accent1">
                    <a:lumMod val="75000"/>
                  </a:schemeClr>
                </a:solidFill>
              </a:rPr>
            </a:br>
            <a:r>
              <a:rPr lang="en-US" dirty="0">
                <a:solidFill>
                  <a:schemeClr val="accent1">
                    <a:lumMod val="75000"/>
                  </a:schemeClr>
                </a:solidFill>
              </a:rPr>
              <a:t>return new </a:t>
            </a:r>
            <a:r>
              <a:rPr lang="en-US" dirty="0" err="1">
                <a:solidFill>
                  <a:schemeClr val="accent1">
                    <a:lumMod val="75000"/>
                  </a:schemeClr>
                </a:solidFill>
              </a:rPr>
              <a:t>EducationLoan</a:t>
            </a:r>
            <a:r>
              <a:rPr lang="en-US" dirty="0">
                <a:solidFill>
                  <a:schemeClr val="accent1">
                    <a:lumMod val="75000"/>
                  </a:schemeClr>
                </a:solidFill>
              </a:rPr>
              <a:t>();</a:t>
            </a:r>
            <a:br>
              <a:rPr lang="en-US" dirty="0">
                <a:solidFill>
                  <a:schemeClr val="accent1">
                    <a:lumMod val="75000"/>
                  </a:schemeClr>
                </a:solidFill>
              </a:rPr>
            </a:br>
            <a:br>
              <a:rPr lang="en-US" dirty="0">
                <a:solidFill>
                  <a:schemeClr val="accent1">
                    <a:lumMod val="75000"/>
                  </a:schemeClr>
                </a:solidFill>
              </a:rPr>
            </a:br>
            <a:r>
              <a:rPr lang="en-US" dirty="0">
                <a:solidFill>
                  <a:schemeClr val="accent1">
                    <a:lumMod val="75000"/>
                  </a:schemeClr>
                </a:solidFill>
              </a:rPr>
              <a:t>default:</a:t>
            </a:r>
            <a:br>
              <a:rPr lang="en-US" dirty="0">
                <a:solidFill>
                  <a:schemeClr val="accent1">
                    <a:lumMod val="75000"/>
                  </a:schemeClr>
                </a:solidFill>
              </a:rPr>
            </a:br>
            <a:r>
              <a:rPr lang="en-US" dirty="0">
                <a:solidFill>
                  <a:schemeClr val="accent1">
                    <a:lumMod val="75000"/>
                  </a:schemeClr>
                </a:solidFill>
              </a:rPr>
              <a:t>throw new </a:t>
            </a:r>
            <a:r>
              <a:rPr lang="en-US" dirty="0" err="1">
                <a:solidFill>
                  <a:schemeClr val="accent1">
                    <a:lumMod val="75000"/>
                  </a:schemeClr>
                </a:solidFill>
              </a:rPr>
              <a:t>IllegalArgumentException</a:t>
            </a:r>
            <a:r>
              <a:rPr lang="en-US" dirty="0">
                <a:solidFill>
                  <a:schemeClr val="accent1">
                    <a:lumMod val="75000"/>
                  </a:schemeClr>
                </a:solidFill>
              </a:rPr>
              <a:t>("Invalid Loan Type: " + loan);</a:t>
            </a:r>
            <a:br>
              <a:rPr lang="en-US" dirty="0">
                <a:solidFill>
                  <a:schemeClr val="accent1">
                    <a:lumMod val="75000"/>
                  </a:schemeClr>
                </a:solidFill>
              </a:rPr>
            </a:br>
            <a:r>
              <a:rPr lang="en-US" dirty="0">
                <a:solidFill>
                  <a:schemeClr val="accent1">
                    <a:lumMod val="75000"/>
                  </a:schemeClr>
                </a:solidFill>
              </a:rPr>
              <a:t>}</a:t>
            </a:r>
            <a:br>
              <a:rPr lang="en-US" dirty="0">
                <a:solidFill>
                  <a:schemeClr val="accent1">
                    <a:lumMod val="75000"/>
                  </a:schemeClr>
                </a:solidFill>
              </a:rPr>
            </a:br>
            <a:r>
              <a:rPr lang="en-US" dirty="0">
                <a:solidFill>
                  <a:schemeClr val="accent1">
                    <a:lumMod val="75000"/>
                  </a:schemeClr>
                </a:solidFill>
              </a:rPr>
              <a:t>}</a:t>
            </a:r>
            <a:br>
              <a:rPr lang="en-US" dirty="0">
                <a:solidFill>
                  <a:schemeClr val="accent1">
                    <a:lumMod val="75000"/>
                  </a:schemeClr>
                </a:solidFill>
              </a:rPr>
            </a:br>
            <a:r>
              <a:rPr lang="en-US" dirty="0">
                <a:solidFill>
                  <a:schemeClr val="accent1">
                    <a:lumMod val="75000"/>
                  </a:schemeClr>
                </a:solidFill>
              </a:rPr>
              <a:t>}</a:t>
            </a:r>
          </a:p>
        </p:txBody>
      </p:sp>
    </p:spTree>
    <p:extLst>
      <p:ext uri="{BB962C8B-B14F-4D97-AF65-F5344CB8AC3E}">
        <p14:creationId xmlns:p14="http://schemas.microsoft.com/office/powerpoint/2010/main" val="311210763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6134" y="457202"/>
            <a:ext cx="7704667" cy="533399"/>
          </a:xfrm>
        </p:spPr>
        <p:txBody>
          <a:bodyPr>
            <a:normAutofit fontScale="90000"/>
          </a:bodyPr>
          <a:lstStyle/>
          <a:p>
            <a:r>
              <a:rPr lang="en-US" b="1" dirty="0"/>
              <a:t>Step 7:</a:t>
            </a:r>
            <a:endParaRPr lang="en-US" dirty="0"/>
          </a:p>
        </p:txBody>
      </p:sp>
      <p:sp>
        <p:nvSpPr>
          <p:cNvPr id="3" name="Content Placeholder 2"/>
          <p:cNvSpPr>
            <a:spLocks noGrp="1"/>
          </p:cNvSpPr>
          <p:nvPr>
            <p:ph idx="1"/>
          </p:nvPr>
        </p:nvSpPr>
        <p:spPr>
          <a:xfrm>
            <a:off x="2515862" y="964660"/>
            <a:ext cx="7704667" cy="5715000"/>
          </a:xfrm>
        </p:spPr>
        <p:txBody>
          <a:bodyPr>
            <a:normAutofit fontScale="62500" lnSpcReduction="20000"/>
          </a:bodyPr>
          <a:lstStyle/>
          <a:p>
            <a:r>
              <a:rPr lang="en-US" dirty="0"/>
              <a:t>Create a </a:t>
            </a:r>
            <a:r>
              <a:rPr lang="en-US" dirty="0" err="1"/>
              <a:t>FactoryCreator</a:t>
            </a:r>
            <a:r>
              <a:rPr lang="en-US" dirty="0"/>
              <a:t> class to get the factories by passing an information such as Bank or Loan.</a:t>
            </a:r>
          </a:p>
          <a:p>
            <a:pPr marL="114300" indent="0">
              <a:buNone/>
            </a:pPr>
            <a:r>
              <a:rPr lang="en-US" dirty="0">
                <a:solidFill>
                  <a:schemeClr val="accent1">
                    <a:lumMod val="75000"/>
                  </a:schemeClr>
                </a:solidFill>
              </a:rPr>
              <a:t>class </a:t>
            </a:r>
            <a:r>
              <a:rPr lang="en-US" dirty="0" err="1">
                <a:solidFill>
                  <a:schemeClr val="accent1">
                    <a:lumMod val="75000"/>
                  </a:schemeClr>
                </a:solidFill>
              </a:rPr>
              <a:t>FactoryCreator</a:t>
            </a:r>
            <a:r>
              <a:rPr lang="en-US" dirty="0">
                <a:solidFill>
                  <a:schemeClr val="accent1">
                    <a:lumMod val="75000"/>
                  </a:schemeClr>
                </a:solidFill>
              </a:rPr>
              <a:t> </a:t>
            </a:r>
          </a:p>
          <a:p>
            <a:pPr marL="114300" indent="0">
              <a:buNone/>
            </a:pPr>
            <a:r>
              <a:rPr lang="en-US" dirty="0">
                <a:solidFill>
                  <a:schemeClr val="accent1">
                    <a:lumMod val="75000"/>
                  </a:schemeClr>
                </a:solidFill>
              </a:rPr>
              <a:t>	{</a:t>
            </a:r>
            <a:br>
              <a:rPr lang="en-US" dirty="0">
                <a:solidFill>
                  <a:schemeClr val="accent1">
                    <a:lumMod val="75000"/>
                  </a:schemeClr>
                </a:solidFill>
              </a:rPr>
            </a:br>
            <a:r>
              <a:rPr lang="en-US" dirty="0">
                <a:solidFill>
                  <a:schemeClr val="accent1">
                    <a:lumMod val="75000"/>
                  </a:schemeClr>
                </a:solidFill>
              </a:rPr>
              <a:t>		public static final String BANK = "bank";</a:t>
            </a:r>
            <a:br>
              <a:rPr lang="en-US" dirty="0">
                <a:solidFill>
                  <a:schemeClr val="accent1">
                    <a:lumMod val="75000"/>
                  </a:schemeClr>
                </a:solidFill>
              </a:rPr>
            </a:br>
            <a:r>
              <a:rPr lang="en-US" dirty="0">
                <a:solidFill>
                  <a:schemeClr val="accent1">
                    <a:lumMod val="75000"/>
                  </a:schemeClr>
                </a:solidFill>
              </a:rPr>
              <a:t>		public static final String LOAN = "loan";</a:t>
            </a:r>
            <a:br>
              <a:rPr lang="en-US" dirty="0">
                <a:solidFill>
                  <a:schemeClr val="accent1">
                    <a:lumMod val="75000"/>
                  </a:schemeClr>
                </a:solidFill>
              </a:rPr>
            </a:br>
            <a:br>
              <a:rPr lang="en-US" dirty="0">
                <a:solidFill>
                  <a:schemeClr val="accent1">
                    <a:lumMod val="75000"/>
                  </a:schemeClr>
                </a:solidFill>
              </a:rPr>
            </a:br>
            <a:r>
              <a:rPr lang="en-US" dirty="0">
                <a:solidFill>
                  <a:schemeClr val="accent1">
                    <a:lumMod val="75000"/>
                  </a:schemeClr>
                </a:solidFill>
              </a:rPr>
              <a:t>		public static </a:t>
            </a:r>
            <a:r>
              <a:rPr lang="en-US" dirty="0" err="1">
                <a:solidFill>
                  <a:schemeClr val="accent1">
                    <a:lumMod val="75000"/>
                  </a:schemeClr>
                </a:solidFill>
              </a:rPr>
              <a:t>AbstractFactory</a:t>
            </a:r>
            <a:r>
              <a:rPr lang="en-US" dirty="0">
                <a:solidFill>
                  <a:schemeClr val="accent1">
                    <a:lumMod val="75000"/>
                  </a:schemeClr>
                </a:solidFill>
              </a:rPr>
              <a:t> </a:t>
            </a:r>
            <a:r>
              <a:rPr lang="en-US" dirty="0" err="1">
                <a:solidFill>
                  <a:schemeClr val="accent1">
                    <a:lumMod val="75000"/>
                  </a:schemeClr>
                </a:solidFill>
              </a:rPr>
              <a:t>getFactory</a:t>
            </a:r>
            <a:r>
              <a:rPr lang="en-US" dirty="0">
                <a:solidFill>
                  <a:schemeClr val="accent1">
                    <a:lumMod val="75000"/>
                  </a:schemeClr>
                </a:solidFill>
              </a:rPr>
              <a:t>(String choice)</a:t>
            </a:r>
          </a:p>
          <a:p>
            <a:pPr marL="114300" indent="0">
              <a:buNone/>
            </a:pPr>
            <a:r>
              <a:rPr lang="en-US" dirty="0">
                <a:solidFill>
                  <a:schemeClr val="accent1">
                    <a:lumMod val="75000"/>
                  </a:schemeClr>
                </a:solidFill>
              </a:rPr>
              <a:t>	 {</a:t>
            </a:r>
            <a:br>
              <a:rPr lang="en-US" dirty="0">
                <a:solidFill>
                  <a:schemeClr val="accent1">
                    <a:lumMod val="75000"/>
                  </a:schemeClr>
                </a:solidFill>
              </a:rPr>
            </a:br>
            <a:r>
              <a:rPr lang="en-US" dirty="0">
                <a:solidFill>
                  <a:schemeClr val="accent1">
                    <a:lumMod val="75000"/>
                  </a:schemeClr>
                </a:solidFill>
              </a:rPr>
              <a:t>		if (choice == null) </a:t>
            </a:r>
          </a:p>
          <a:p>
            <a:pPr marL="114300" indent="0">
              <a:buNone/>
            </a:pPr>
            <a:r>
              <a:rPr lang="en-US" dirty="0">
                <a:solidFill>
                  <a:schemeClr val="accent1">
                    <a:lumMod val="75000"/>
                  </a:schemeClr>
                </a:solidFill>
              </a:rPr>
              <a:t>	{</a:t>
            </a:r>
            <a:br>
              <a:rPr lang="en-US" dirty="0">
                <a:solidFill>
                  <a:schemeClr val="accent1">
                    <a:lumMod val="75000"/>
                  </a:schemeClr>
                </a:solidFill>
              </a:rPr>
            </a:br>
            <a:r>
              <a:rPr lang="en-US" dirty="0">
                <a:solidFill>
                  <a:schemeClr val="accent1">
                    <a:lumMod val="75000"/>
                  </a:schemeClr>
                </a:solidFill>
              </a:rPr>
              <a:t>		throw new </a:t>
            </a:r>
            <a:r>
              <a:rPr lang="en-US" dirty="0" err="1">
                <a:solidFill>
                  <a:schemeClr val="accent1">
                    <a:lumMod val="75000"/>
                  </a:schemeClr>
                </a:solidFill>
              </a:rPr>
              <a:t>IllegalArgumentException</a:t>
            </a:r>
            <a:r>
              <a:rPr lang="en-US" dirty="0">
                <a:solidFill>
                  <a:schemeClr val="accent1">
                    <a:lumMod val="75000"/>
                  </a:schemeClr>
                </a:solidFill>
              </a:rPr>
              <a:t>("Factory type cannot be null");</a:t>
            </a:r>
            <a:br>
              <a:rPr lang="en-US" dirty="0">
                <a:solidFill>
                  <a:schemeClr val="accent1">
                    <a:lumMod val="75000"/>
                  </a:schemeClr>
                </a:solidFill>
              </a:rPr>
            </a:br>
            <a:r>
              <a:rPr lang="en-US" dirty="0">
                <a:solidFill>
                  <a:schemeClr val="accent1">
                    <a:lumMod val="75000"/>
                  </a:schemeClr>
                </a:solidFill>
              </a:rPr>
              <a:t>	}</a:t>
            </a:r>
            <a:br>
              <a:rPr lang="en-US" dirty="0">
                <a:solidFill>
                  <a:schemeClr val="accent1">
                    <a:lumMod val="75000"/>
                  </a:schemeClr>
                </a:solidFill>
              </a:rPr>
            </a:br>
            <a:br>
              <a:rPr lang="en-US" dirty="0">
                <a:solidFill>
                  <a:schemeClr val="accent1">
                    <a:lumMod val="75000"/>
                  </a:schemeClr>
                </a:solidFill>
              </a:rPr>
            </a:br>
            <a:r>
              <a:rPr lang="en-US" dirty="0">
                <a:solidFill>
                  <a:schemeClr val="accent1">
                    <a:lumMod val="75000"/>
                  </a:schemeClr>
                </a:solidFill>
              </a:rPr>
              <a:t>		switch (</a:t>
            </a:r>
            <a:r>
              <a:rPr lang="en-US" dirty="0" err="1">
                <a:solidFill>
                  <a:schemeClr val="accent1">
                    <a:lumMod val="75000"/>
                  </a:schemeClr>
                </a:solidFill>
              </a:rPr>
              <a:t>choice.toLowerCase</a:t>
            </a:r>
            <a:r>
              <a:rPr lang="en-US" dirty="0">
                <a:solidFill>
                  <a:schemeClr val="accent1">
                    <a:lumMod val="75000"/>
                  </a:schemeClr>
                </a:solidFill>
              </a:rPr>
              <a:t>())</a:t>
            </a:r>
          </a:p>
          <a:p>
            <a:pPr marL="114300" indent="0">
              <a:buNone/>
            </a:pPr>
            <a:r>
              <a:rPr lang="en-US" dirty="0">
                <a:solidFill>
                  <a:schemeClr val="accent1">
                    <a:lumMod val="75000"/>
                  </a:schemeClr>
                </a:solidFill>
              </a:rPr>
              <a:t>	 {</a:t>
            </a:r>
            <a:br>
              <a:rPr lang="en-US" dirty="0">
                <a:solidFill>
                  <a:schemeClr val="accent1">
                    <a:lumMod val="75000"/>
                  </a:schemeClr>
                </a:solidFill>
              </a:rPr>
            </a:br>
            <a:r>
              <a:rPr lang="en-US" dirty="0">
                <a:solidFill>
                  <a:schemeClr val="accent1">
                    <a:lumMod val="75000"/>
                  </a:schemeClr>
                </a:solidFill>
              </a:rPr>
              <a:t>		case BANK:</a:t>
            </a:r>
            <a:br>
              <a:rPr lang="en-US" dirty="0">
                <a:solidFill>
                  <a:schemeClr val="accent1">
                    <a:lumMod val="75000"/>
                  </a:schemeClr>
                </a:solidFill>
              </a:rPr>
            </a:br>
            <a:r>
              <a:rPr lang="en-US" dirty="0">
                <a:solidFill>
                  <a:schemeClr val="accent1">
                    <a:lumMod val="75000"/>
                  </a:schemeClr>
                </a:solidFill>
              </a:rPr>
              <a:t>		return new </a:t>
            </a:r>
            <a:r>
              <a:rPr lang="en-US" dirty="0" err="1">
                <a:solidFill>
                  <a:schemeClr val="accent1">
                    <a:lumMod val="75000"/>
                  </a:schemeClr>
                </a:solidFill>
              </a:rPr>
              <a:t>BankFactory</a:t>
            </a:r>
            <a:r>
              <a:rPr lang="en-US" dirty="0">
                <a:solidFill>
                  <a:schemeClr val="accent1">
                    <a:lumMod val="75000"/>
                  </a:schemeClr>
                </a:solidFill>
              </a:rPr>
              <a:t>();</a:t>
            </a:r>
            <a:br>
              <a:rPr lang="en-US" dirty="0">
                <a:solidFill>
                  <a:schemeClr val="accent1">
                    <a:lumMod val="75000"/>
                  </a:schemeClr>
                </a:solidFill>
              </a:rPr>
            </a:br>
            <a:r>
              <a:rPr lang="en-US" dirty="0">
                <a:solidFill>
                  <a:schemeClr val="accent1">
                    <a:lumMod val="75000"/>
                  </a:schemeClr>
                </a:solidFill>
              </a:rPr>
              <a:t>		case LOAN:</a:t>
            </a:r>
            <a:br>
              <a:rPr lang="en-US" dirty="0">
                <a:solidFill>
                  <a:schemeClr val="accent1">
                    <a:lumMod val="75000"/>
                  </a:schemeClr>
                </a:solidFill>
              </a:rPr>
            </a:br>
            <a:r>
              <a:rPr lang="en-US" dirty="0">
                <a:solidFill>
                  <a:schemeClr val="accent1">
                    <a:lumMod val="75000"/>
                  </a:schemeClr>
                </a:solidFill>
              </a:rPr>
              <a:t>		return new </a:t>
            </a:r>
            <a:r>
              <a:rPr lang="en-US" dirty="0" err="1">
                <a:solidFill>
                  <a:schemeClr val="accent1">
                    <a:lumMod val="75000"/>
                  </a:schemeClr>
                </a:solidFill>
              </a:rPr>
              <a:t>LoanFactory</a:t>
            </a:r>
            <a:r>
              <a:rPr lang="en-US" dirty="0">
                <a:solidFill>
                  <a:schemeClr val="accent1">
                    <a:lumMod val="75000"/>
                  </a:schemeClr>
                </a:solidFill>
              </a:rPr>
              <a:t>();</a:t>
            </a:r>
            <a:br>
              <a:rPr lang="en-US" dirty="0">
                <a:solidFill>
                  <a:schemeClr val="accent1">
                    <a:lumMod val="75000"/>
                  </a:schemeClr>
                </a:solidFill>
              </a:rPr>
            </a:br>
            <a:r>
              <a:rPr lang="en-US" dirty="0">
                <a:solidFill>
                  <a:schemeClr val="accent1">
                    <a:lumMod val="75000"/>
                  </a:schemeClr>
                </a:solidFill>
              </a:rPr>
              <a:t>		default:</a:t>
            </a:r>
            <a:br>
              <a:rPr lang="en-US" dirty="0">
                <a:solidFill>
                  <a:schemeClr val="accent1">
                    <a:lumMod val="75000"/>
                  </a:schemeClr>
                </a:solidFill>
              </a:rPr>
            </a:br>
            <a:r>
              <a:rPr lang="en-US" dirty="0">
                <a:solidFill>
                  <a:schemeClr val="accent1">
                    <a:lumMod val="75000"/>
                  </a:schemeClr>
                </a:solidFill>
              </a:rPr>
              <a:t>		throw new </a:t>
            </a:r>
            <a:r>
              <a:rPr lang="en-US" dirty="0" err="1">
                <a:solidFill>
                  <a:schemeClr val="accent1">
                    <a:lumMod val="75000"/>
                  </a:schemeClr>
                </a:solidFill>
              </a:rPr>
              <a:t>IllegalArgumentException</a:t>
            </a:r>
            <a:r>
              <a:rPr lang="en-US" dirty="0">
                <a:solidFill>
                  <a:schemeClr val="accent1">
                    <a:lumMod val="75000"/>
                  </a:schemeClr>
                </a:solidFill>
              </a:rPr>
              <a:t>("Unknown factory type: " + choice);</a:t>
            </a:r>
            <a:br>
              <a:rPr lang="en-US" dirty="0">
                <a:solidFill>
                  <a:schemeClr val="accent1">
                    <a:lumMod val="75000"/>
                  </a:schemeClr>
                </a:solidFill>
              </a:rPr>
            </a:br>
            <a:r>
              <a:rPr lang="en-US" dirty="0">
                <a:solidFill>
                  <a:schemeClr val="accent1">
                    <a:lumMod val="75000"/>
                  </a:schemeClr>
                </a:solidFill>
              </a:rPr>
              <a:t>			}</a:t>
            </a:r>
            <a:br>
              <a:rPr lang="en-US" dirty="0">
                <a:solidFill>
                  <a:schemeClr val="accent1">
                    <a:lumMod val="75000"/>
                  </a:schemeClr>
                </a:solidFill>
              </a:rPr>
            </a:br>
            <a:r>
              <a:rPr lang="en-US" dirty="0">
                <a:solidFill>
                  <a:schemeClr val="accent1">
                    <a:lumMod val="75000"/>
                  </a:schemeClr>
                </a:solidFill>
              </a:rPr>
              <a:t>		}</a:t>
            </a:r>
            <a:br>
              <a:rPr lang="en-US" dirty="0">
                <a:solidFill>
                  <a:schemeClr val="accent1">
                    <a:lumMod val="75000"/>
                  </a:schemeClr>
                </a:solidFill>
              </a:rPr>
            </a:br>
            <a:r>
              <a:rPr lang="en-US" dirty="0">
                <a:solidFill>
                  <a:schemeClr val="accent1">
                    <a:lumMod val="75000"/>
                  </a:schemeClr>
                </a:solidFill>
              </a:rPr>
              <a:t>	}</a:t>
            </a:r>
          </a:p>
        </p:txBody>
      </p:sp>
    </p:spTree>
    <p:extLst>
      <p:ext uri="{BB962C8B-B14F-4D97-AF65-F5344CB8AC3E}">
        <p14:creationId xmlns:p14="http://schemas.microsoft.com/office/powerpoint/2010/main" val="134457141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6134" y="457202"/>
            <a:ext cx="7704667" cy="457199"/>
          </a:xfrm>
        </p:spPr>
        <p:txBody>
          <a:bodyPr>
            <a:normAutofit fontScale="90000"/>
          </a:bodyPr>
          <a:lstStyle/>
          <a:p>
            <a:r>
              <a:rPr lang="en-US" b="1" dirty="0"/>
              <a:t>Step 8:</a:t>
            </a:r>
            <a:r>
              <a:rPr lang="en-US" dirty="0"/>
              <a:t> </a:t>
            </a:r>
          </a:p>
        </p:txBody>
      </p:sp>
      <p:sp>
        <p:nvSpPr>
          <p:cNvPr id="3" name="Content Placeholder 2"/>
          <p:cNvSpPr>
            <a:spLocks noGrp="1"/>
          </p:cNvSpPr>
          <p:nvPr>
            <p:ph idx="1"/>
          </p:nvPr>
        </p:nvSpPr>
        <p:spPr>
          <a:xfrm>
            <a:off x="2506134" y="914400"/>
            <a:ext cx="7704667" cy="5715000"/>
          </a:xfrm>
        </p:spPr>
        <p:txBody>
          <a:bodyPr>
            <a:normAutofit fontScale="85000" lnSpcReduction="20000"/>
          </a:bodyPr>
          <a:lstStyle/>
          <a:p>
            <a:r>
              <a:rPr lang="en-US" dirty="0"/>
              <a:t>Use the </a:t>
            </a:r>
            <a:r>
              <a:rPr lang="en-US" dirty="0" err="1"/>
              <a:t>FactoryCreator</a:t>
            </a:r>
            <a:r>
              <a:rPr lang="en-US" dirty="0"/>
              <a:t> to get </a:t>
            </a:r>
            <a:r>
              <a:rPr lang="en-US" dirty="0" err="1"/>
              <a:t>AbstractFactory</a:t>
            </a:r>
            <a:r>
              <a:rPr lang="en-US" dirty="0"/>
              <a:t> in order to get factories of concrete classes by passing an information such as type.</a:t>
            </a:r>
          </a:p>
          <a:p>
            <a:pPr marL="0" indent="0">
              <a:buNone/>
            </a:pPr>
            <a:endParaRPr lang="en-US" dirty="0"/>
          </a:p>
          <a:p>
            <a:pPr marL="0" indent="0">
              <a:buNone/>
            </a:pPr>
            <a:r>
              <a:rPr lang="en-US" dirty="0">
                <a:solidFill>
                  <a:schemeClr val="accent1">
                    <a:lumMod val="75000"/>
                  </a:schemeClr>
                </a:solidFill>
              </a:rPr>
              <a:t>import </a:t>
            </a:r>
            <a:r>
              <a:rPr lang="en-US" dirty="0" err="1">
                <a:solidFill>
                  <a:schemeClr val="accent1">
                    <a:lumMod val="75000"/>
                  </a:schemeClr>
                </a:solidFill>
              </a:rPr>
              <a:t>java.util.Scanner</a:t>
            </a:r>
            <a:r>
              <a:rPr lang="en-US" dirty="0">
                <a:solidFill>
                  <a:schemeClr val="accent1">
                    <a:lumMod val="75000"/>
                  </a:schemeClr>
                </a:solidFill>
              </a:rPr>
              <a:t>;</a:t>
            </a:r>
            <a:br>
              <a:rPr lang="en-US" dirty="0">
                <a:solidFill>
                  <a:schemeClr val="accent1">
                    <a:lumMod val="75000"/>
                  </a:schemeClr>
                </a:solidFill>
              </a:rPr>
            </a:br>
            <a:br>
              <a:rPr lang="en-US" dirty="0">
                <a:solidFill>
                  <a:schemeClr val="accent1">
                    <a:lumMod val="75000"/>
                  </a:schemeClr>
                </a:solidFill>
              </a:rPr>
            </a:br>
            <a:r>
              <a:rPr lang="en-US" dirty="0">
                <a:solidFill>
                  <a:schemeClr val="accent1">
                    <a:lumMod val="75000"/>
                  </a:schemeClr>
                </a:solidFill>
              </a:rPr>
              <a:t>class </a:t>
            </a:r>
            <a:r>
              <a:rPr lang="en-US" dirty="0" err="1">
                <a:solidFill>
                  <a:schemeClr val="accent1">
                    <a:lumMod val="75000"/>
                  </a:schemeClr>
                </a:solidFill>
              </a:rPr>
              <a:t>AbstractFactoryPatternExample</a:t>
            </a:r>
            <a:r>
              <a:rPr lang="en-US" dirty="0">
                <a:solidFill>
                  <a:schemeClr val="accent1">
                    <a:lumMod val="75000"/>
                  </a:schemeClr>
                </a:solidFill>
              </a:rPr>
              <a:t> </a:t>
            </a:r>
          </a:p>
          <a:p>
            <a:pPr marL="0" indent="0">
              <a:buNone/>
            </a:pPr>
            <a:r>
              <a:rPr lang="en-US" dirty="0">
                <a:solidFill>
                  <a:schemeClr val="accent1">
                    <a:lumMod val="75000"/>
                  </a:schemeClr>
                </a:solidFill>
              </a:rPr>
              <a:t>   {</a:t>
            </a:r>
            <a:br>
              <a:rPr lang="en-US" dirty="0">
                <a:solidFill>
                  <a:schemeClr val="accent1">
                    <a:lumMod val="75000"/>
                  </a:schemeClr>
                </a:solidFill>
              </a:rPr>
            </a:br>
            <a:r>
              <a:rPr lang="en-US" dirty="0">
                <a:solidFill>
                  <a:schemeClr val="accent1">
                    <a:lumMod val="75000"/>
                  </a:schemeClr>
                </a:solidFill>
              </a:rPr>
              <a:t>	public static void main(String[] </a:t>
            </a:r>
            <a:r>
              <a:rPr lang="en-US" dirty="0" err="1">
                <a:solidFill>
                  <a:schemeClr val="accent1">
                    <a:lumMod val="75000"/>
                  </a:schemeClr>
                </a:solidFill>
              </a:rPr>
              <a:t>args</a:t>
            </a:r>
            <a:r>
              <a:rPr lang="en-US" dirty="0">
                <a:solidFill>
                  <a:schemeClr val="accent1">
                    <a:lumMod val="75000"/>
                  </a:schemeClr>
                </a:solidFill>
              </a:rPr>
              <a:t>) </a:t>
            </a:r>
          </a:p>
          <a:p>
            <a:pPr marL="0" indent="0">
              <a:buNone/>
            </a:pPr>
            <a:r>
              <a:rPr lang="en-US" dirty="0">
                <a:solidFill>
                  <a:schemeClr val="accent1">
                    <a:lumMod val="75000"/>
                  </a:schemeClr>
                </a:solidFill>
              </a:rPr>
              <a:t>	{</a:t>
            </a:r>
            <a:br>
              <a:rPr lang="en-US" dirty="0">
                <a:solidFill>
                  <a:schemeClr val="accent1">
                    <a:lumMod val="75000"/>
                  </a:schemeClr>
                </a:solidFill>
              </a:rPr>
            </a:br>
            <a:br>
              <a:rPr lang="en-US" dirty="0">
                <a:solidFill>
                  <a:schemeClr val="accent1">
                    <a:lumMod val="75000"/>
                  </a:schemeClr>
                </a:solidFill>
              </a:rPr>
            </a:br>
            <a:r>
              <a:rPr lang="en-US" dirty="0">
                <a:solidFill>
                  <a:schemeClr val="accent1">
                    <a:lumMod val="75000"/>
                  </a:schemeClr>
                </a:solidFill>
              </a:rPr>
              <a:t>		Scanner </a:t>
            </a:r>
            <a:r>
              <a:rPr lang="en-US" dirty="0" err="1">
                <a:solidFill>
                  <a:schemeClr val="accent1">
                    <a:lumMod val="75000"/>
                  </a:schemeClr>
                </a:solidFill>
              </a:rPr>
              <a:t>sc</a:t>
            </a:r>
            <a:r>
              <a:rPr lang="en-US" dirty="0">
                <a:solidFill>
                  <a:schemeClr val="accent1">
                    <a:lumMod val="75000"/>
                  </a:schemeClr>
                </a:solidFill>
              </a:rPr>
              <a:t> = new Scanner(System.in);</a:t>
            </a:r>
            <a:br>
              <a:rPr lang="en-US" dirty="0">
                <a:solidFill>
                  <a:schemeClr val="accent1">
                    <a:lumMod val="75000"/>
                  </a:schemeClr>
                </a:solidFill>
              </a:rPr>
            </a:br>
            <a:br>
              <a:rPr lang="en-US" dirty="0">
                <a:solidFill>
                  <a:schemeClr val="accent1">
                    <a:lumMod val="75000"/>
                  </a:schemeClr>
                </a:solidFill>
              </a:rPr>
            </a:br>
            <a:r>
              <a:rPr lang="en-US" dirty="0">
                <a:solidFill>
                  <a:schemeClr val="accent1">
                    <a:lumMod val="75000"/>
                  </a:schemeClr>
                </a:solidFill>
              </a:rPr>
              <a:t>		</a:t>
            </a:r>
            <a:r>
              <a:rPr lang="en-US" dirty="0" err="1">
                <a:solidFill>
                  <a:schemeClr val="accent1">
                    <a:lumMod val="75000"/>
                  </a:schemeClr>
                </a:solidFill>
              </a:rPr>
              <a:t>System.out.print</a:t>
            </a:r>
            <a:r>
              <a:rPr lang="en-US" dirty="0">
                <a:solidFill>
                  <a:schemeClr val="accent1">
                    <a:lumMod val="75000"/>
                  </a:schemeClr>
                </a:solidFill>
              </a:rPr>
              <a:t>("Bank: ");</a:t>
            </a:r>
            <a:br>
              <a:rPr lang="en-US" dirty="0">
                <a:solidFill>
                  <a:schemeClr val="accent1">
                    <a:lumMod val="75000"/>
                  </a:schemeClr>
                </a:solidFill>
              </a:rPr>
            </a:br>
            <a:r>
              <a:rPr lang="en-US" dirty="0">
                <a:solidFill>
                  <a:schemeClr val="accent1">
                    <a:lumMod val="75000"/>
                  </a:schemeClr>
                </a:solidFill>
              </a:rPr>
              <a:t>		String </a:t>
            </a:r>
            <a:r>
              <a:rPr lang="en-US" dirty="0" err="1">
                <a:solidFill>
                  <a:schemeClr val="accent1">
                    <a:lumMod val="75000"/>
                  </a:schemeClr>
                </a:solidFill>
              </a:rPr>
              <a:t>bankName</a:t>
            </a:r>
            <a:r>
              <a:rPr lang="en-US" dirty="0">
                <a:solidFill>
                  <a:schemeClr val="accent1">
                    <a:lumMod val="75000"/>
                  </a:schemeClr>
                </a:solidFill>
              </a:rPr>
              <a:t> = </a:t>
            </a:r>
            <a:r>
              <a:rPr lang="en-US" dirty="0" err="1">
                <a:solidFill>
                  <a:schemeClr val="accent1">
                    <a:lumMod val="75000"/>
                  </a:schemeClr>
                </a:solidFill>
              </a:rPr>
              <a:t>sc.nextLine</a:t>
            </a:r>
            <a:r>
              <a:rPr lang="en-US" dirty="0">
                <a:solidFill>
                  <a:schemeClr val="accent1">
                    <a:lumMod val="75000"/>
                  </a:schemeClr>
                </a:solidFill>
              </a:rPr>
              <a:t>();</a:t>
            </a:r>
            <a:br>
              <a:rPr lang="en-US" dirty="0">
                <a:solidFill>
                  <a:schemeClr val="accent1">
                    <a:lumMod val="75000"/>
                  </a:schemeClr>
                </a:solidFill>
              </a:rPr>
            </a:br>
            <a:br>
              <a:rPr lang="en-US" dirty="0">
                <a:solidFill>
                  <a:schemeClr val="accent1">
                    <a:lumMod val="75000"/>
                  </a:schemeClr>
                </a:solidFill>
              </a:rPr>
            </a:br>
            <a:r>
              <a:rPr lang="en-US" dirty="0">
                <a:solidFill>
                  <a:schemeClr val="accent1">
                    <a:lumMod val="75000"/>
                  </a:schemeClr>
                </a:solidFill>
              </a:rPr>
              <a:t>		</a:t>
            </a:r>
            <a:r>
              <a:rPr lang="en-US" dirty="0" err="1">
                <a:solidFill>
                  <a:schemeClr val="accent1">
                    <a:lumMod val="75000"/>
                  </a:schemeClr>
                </a:solidFill>
              </a:rPr>
              <a:t>System.out.print</a:t>
            </a:r>
            <a:r>
              <a:rPr lang="en-US" dirty="0">
                <a:solidFill>
                  <a:schemeClr val="accent1">
                    <a:lumMod val="75000"/>
                  </a:schemeClr>
                </a:solidFill>
              </a:rPr>
              <a:t>("Loan Type: ");</a:t>
            </a:r>
            <a:br>
              <a:rPr lang="en-US" dirty="0">
                <a:solidFill>
                  <a:schemeClr val="accent1">
                    <a:lumMod val="75000"/>
                  </a:schemeClr>
                </a:solidFill>
              </a:rPr>
            </a:br>
            <a:r>
              <a:rPr lang="en-US" dirty="0">
                <a:solidFill>
                  <a:schemeClr val="accent1">
                    <a:lumMod val="75000"/>
                  </a:schemeClr>
                </a:solidFill>
              </a:rPr>
              <a:t>		String </a:t>
            </a:r>
            <a:r>
              <a:rPr lang="en-US" dirty="0" err="1">
                <a:solidFill>
                  <a:schemeClr val="accent1">
                    <a:lumMod val="75000"/>
                  </a:schemeClr>
                </a:solidFill>
              </a:rPr>
              <a:t>loanName</a:t>
            </a:r>
            <a:r>
              <a:rPr lang="en-US" dirty="0">
                <a:solidFill>
                  <a:schemeClr val="accent1">
                    <a:lumMod val="75000"/>
                  </a:schemeClr>
                </a:solidFill>
              </a:rPr>
              <a:t> = </a:t>
            </a:r>
            <a:r>
              <a:rPr lang="en-US" dirty="0" err="1">
                <a:solidFill>
                  <a:schemeClr val="accent1">
                    <a:lumMod val="75000"/>
                  </a:schemeClr>
                </a:solidFill>
              </a:rPr>
              <a:t>sc.nextLine</a:t>
            </a:r>
            <a:r>
              <a:rPr lang="en-US" dirty="0">
                <a:solidFill>
                  <a:schemeClr val="accent1">
                    <a:lumMod val="75000"/>
                  </a:schemeClr>
                </a:solidFill>
              </a:rPr>
              <a:t>();</a:t>
            </a:r>
            <a:br>
              <a:rPr lang="en-US" dirty="0">
                <a:solidFill>
                  <a:schemeClr val="accent1">
                    <a:lumMod val="75000"/>
                  </a:schemeClr>
                </a:solidFill>
              </a:rPr>
            </a:br>
            <a:br>
              <a:rPr lang="en-US" dirty="0">
                <a:solidFill>
                  <a:schemeClr val="accent1">
                    <a:lumMod val="75000"/>
                  </a:schemeClr>
                </a:solidFill>
              </a:rPr>
            </a:br>
            <a:r>
              <a:rPr lang="en-US" dirty="0">
                <a:solidFill>
                  <a:schemeClr val="accent1">
                    <a:lumMod val="75000"/>
                  </a:schemeClr>
                </a:solidFill>
              </a:rPr>
              <a:t>		</a:t>
            </a:r>
            <a:r>
              <a:rPr lang="en-US" dirty="0" err="1">
                <a:solidFill>
                  <a:schemeClr val="accent1">
                    <a:lumMod val="75000"/>
                  </a:schemeClr>
                </a:solidFill>
              </a:rPr>
              <a:t>System.out.print</a:t>
            </a:r>
            <a:r>
              <a:rPr lang="en-US" dirty="0">
                <a:solidFill>
                  <a:schemeClr val="accent1">
                    <a:lumMod val="75000"/>
                  </a:schemeClr>
                </a:solidFill>
              </a:rPr>
              <a:t>("Rate: ");</a:t>
            </a:r>
            <a:br>
              <a:rPr lang="en-US" dirty="0">
                <a:solidFill>
                  <a:schemeClr val="accent1">
                    <a:lumMod val="75000"/>
                  </a:schemeClr>
                </a:solidFill>
              </a:rPr>
            </a:br>
            <a:r>
              <a:rPr lang="en-US" dirty="0">
                <a:solidFill>
                  <a:schemeClr val="accent1">
                    <a:lumMod val="75000"/>
                  </a:schemeClr>
                </a:solidFill>
              </a:rPr>
              <a:t>		double rate = </a:t>
            </a:r>
            <a:r>
              <a:rPr lang="en-US" dirty="0" err="1">
                <a:solidFill>
                  <a:schemeClr val="accent1">
                    <a:lumMod val="75000"/>
                  </a:schemeClr>
                </a:solidFill>
              </a:rPr>
              <a:t>sc.nextDouble</a:t>
            </a:r>
            <a:r>
              <a:rPr lang="en-US" dirty="0">
                <a:solidFill>
                  <a:schemeClr val="accent1">
                    <a:lumMod val="75000"/>
                  </a:schemeClr>
                </a:solidFill>
              </a:rPr>
              <a:t>();</a:t>
            </a:r>
          </a:p>
        </p:txBody>
      </p:sp>
    </p:spTree>
    <p:extLst>
      <p:ext uri="{BB962C8B-B14F-4D97-AF65-F5344CB8AC3E}">
        <p14:creationId xmlns:p14="http://schemas.microsoft.com/office/powerpoint/2010/main" val="337076442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6134" y="457202"/>
            <a:ext cx="7704667" cy="457199"/>
          </a:xfrm>
        </p:spPr>
        <p:txBody>
          <a:bodyPr>
            <a:normAutofit fontScale="90000"/>
          </a:bodyPr>
          <a:lstStyle/>
          <a:p>
            <a:r>
              <a:rPr lang="en-US" dirty="0"/>
              <a:t>Step 8</a:t>
            </a:r>
          </a:p>
        </p:txBody>
      </p:sp>
      <p:sp>
        <p:nvSpPr>
          <p:cNvPr id="3" name="Content Placeholder 2"/>
          <p:cNvSpPr>
            <a:spLocks noGrp="1"/>
          </p:cNvSpPr>
          <p:nvPr>
            <p:ph idx="1"/>
          </p:nvPr>
        </p:nvSpPr>
        <p:spPr>
          <a:xfrm>
            <a:off x="2209800" y="914400"/>
            <a:ext cx="8229600" cy="5791200"/>
          </a:xfrm>
        </p:spPr>
        <p:txBody>
          <a:bodyPr>
            <a:normAutofit/>
          </a:bodyPr>
          <a:lstStyle/>
          <a:p>
            <a:pPr marL="114300" indent="0">
              <a:buNone/>
            </a:pPr>
            <a:r>
              <a:rPr lang="en-US" dirty="0">
                <a:solidFill>
                  <a:schemeClr val="accent1">
                    <a:lumMod val="75000"/>
                  </a:schemeClr>
                </a:solidFill>
              </a:rPr>
              <a:t>	</a:t>
            </a:r>
            <a:r>
              <a:rPr lang="en-US" dirty="0" err="1">
                <a:solidFill>
                  <a:schemeClr val="accent1">
                    <a:lumMod val="75000"/>
                  </a:schemeClr>
                </a:solidFill>
              </a:rPr>
              <a:t>System.out.print</a:t>
            </a:r>
            <a:r>
              <a:rPr lang="en-US" dirty="0">
                <a:solidFill>
                  <a:schemeClr val="accent1">
                    <a:lumMod val="75000"/>
                  </a:schemeClr>
                </a:solidFill>
              </a:rPr>
              <a:t>("Amount: ");</a:t>
            </a:r>
            <a:br>
              <a:rPr lang="en-US" dirty="0">
                <a:solidFill>
                  <a:schemeClr val="accent1">
                    <a:lumMod val="75000"/>
                  </a:schemeClr>
                </a:solidFill>
              </a:rPr>
            </a:br>
            <a:r>
              <a:rPr lang="en-US" dirty="0">
                <a:solidFill>
                  <a:schemeClr val="accent1">
                    <a:lumMod val="75000"/>
                  </a:schemeClr>
                </a:solidFill>
              </a:rPr>
              <a:t>	double amount = </a:t>
            </a:r>
            <a:r>
              <a:rPr lang="en-US" dirty="0" err="1">
                <a:solidFill>
                  <a:schemeClr val="accent1">
                    <a:lumMod val="75000"/>
                  </a:schemeClr>
                </a:solidFill>
              </a:rPr>
              <a:t>sc.nextDouble</a:t>
            </a:r>
            <a:r>
              <a:rPr lang="en-US" dirty="0">
                <a:solidFill>
                  <a:schemeClr val="accent1">
                    <a:lumMod val="75000"/>
                  </a:schemeClr>
                </a:solidFill>
              </a:rPr>
              <a:t>();</a:t>
            </a:r>
            <a:br>
              <a:rPr lang="en-US" dirty="0">
                <a:solidFill>
                  <a:schemeClr val="accent1">
                    <a:lumMod val="75000"/>
                  </a:schemeClr>
                </a:solidFill>
              </a:rPr>
            </a:br>
            <a:br>
              <a:rPr lang="en-US" dirty="0">
                <a:solidFill>
                  <a:schemeClr val="accent1">
                    <a:lumMod val="75000"/>
                  </a:schemeClr>
                </a:solidFill>
              </a:rPr>
            </a:br>
            <a:r>
              <a:rPr lang="en-US" dirty="0">
                <a:solidFill>
                  <a:schemeClr val="accent1">
                    <a:lumMod val="75000"/>
                  </a:schemeClr>
                </a:solidFill>
              </a:rPr>
              <a:t>	</a:t>
            </a:r>
            <a:r>
              <a:rPr lang="en-US" dirty="0" err="1">
                <a:solidFill>
                  <a:schemeClr val="accent1">
                    <a:lumMod val="75000"/>
                  </a:schemeClr>
                </a:solidFill>
              </a:rPr>
              <a:t>System.out.print</a:t>
            </a:r>
            <a:r>
              <a:rPr lang="en-US" dirty="0">
                <a:solidFill>
                  <a:schemeClr val="accent1">
                    <a:lumMod val="75000"/>
                  </a:schemeClr>
                </a:solidFill>
              </a:rPr>
              <a:t>("Years: ");</a:t>
            </a:r>
            <a:br>
              <a:rPr lang="en-US" dirty="0">
                <a:solidFill>
                  <a:schemeClr val="accent1">
                    <a:lumMod val="75000"/>
                  </a:schemeClr>
                </a:solidFill>
              </a:rPr>
            </a:br>
            <a:r>
              <a:rPr lang="en-US" dirty="0">
                <a:solidFill>
                  <a:schemeClr val="accent1">
                    <a:lumMod val="75000"/>
                  </a:schemeClr>
                </a:solidFill>
              </a:rPr>
              <a:t>	</a:t>
            </a:r>
            <a:r>
              <a:rPr lang="en-US" dirty="0" err="1">
                <a:solidFill>
                  <a:schemeClr val="accent1">
                    <a:lumMod val="75000"/>
                  </a:schemeClr>
                </a:solidFill>
              </a:rPr>
              <a:t>int</a:t>
            </a:r>
            <a:r>
              <a:rPr lang="en-US" dirty="0">
                <a:solidFill>
                  <a:schemeClr val="accent1">
                    <a:lumMod val="75000"/>
                  </a:schemeClr>
                </a:solidFill>
              </a:rPr>
              <a:t> years = </a:t>
            </a:r>
            <a:r>
              <a:rPr lang="en-US" dirty="0" err="1">
                <a:solidFill>
                  <a:schemeClr val="accent1">
                    <a:lumMod val="75000"/>
                  </a:schemeClr>
                </a:solidFill>
              </a:rPr>
              <a:t>sc.nextInt</a:t>
            </a:r>
            <a:r>
              <a:rPr lang="en-US" dirty="0">
                <a:solidFill>
                  <a:schemeClr val="accent1">
                    <a:lumMod val="75000"/>
                  </a:schemeClr>
                </a:solidFill>
              </a:rPr>
              <a:t>();</a:t>
            </a:r>
            <a:br>
              <a:rPr lang="en-US" dirty="0">
                <a:solidFill>
                  <a:schemeClr val="accent1">
                    <a:lumMod val="75000"/>
                  </a:schemeClr>
                </a:solidFill>
              </a:rPr>
            </a:br>
            <a:br>
              <a:rPr lang="en-US" dirty="0">
                <a:solidFill>
                  <a:schemeClr val="accent1">
                    <a:lumMod val="75000"/>
                  </a:schemeClr>
                </a:solidFill>
              </a:rPr>
            </a:br>
            <a:r>
              <a:rPr lang="en-US" sz="2000" dirty="0">
                <a:solidFill>
                  <a:schemeClr val="accent1">
                    <a:lumMod val="75000"/>
                  </a:schemeClr>
                </a:solidFill>
              </a:rPr>
              <a:t>Bank </a:t>
            </a:r>
            <a:r>
              <a:rPr lang="en-US" sz="2000" dirty="0" err="1">
                <a:solidFill>
                  <a:schemeClr val="accent1">
                    <a:lumMod val="75000"/>
                  </a:schemeClr>
                </a:solidFill>
              </a:rPr>
              <a:t>bank</a:t>
            </a:r>
            <a:r>
              <a:rPr lang="en-US" sz="2000" dirty="0">
                <a:solidFill>
                  <a:schemeClr val="accent1">
                    <a:lumMod val="75000"/>
                  </a:schemeClr>
                </a:solidFill>
              </a:rPr>
              <a:t> = </a:t>
            </a:r>
            <a:r>
              <a:rPr lang="en-US" sz="2000" dirty="0" err="1">
                <a:solidFill>
                  <a:schemeClr val="accent1">
                    <a:lumMod val="75000"/>
                  </a:schemeClr>
                </a:solidFill>
              </a:rPr>
              <a:t>FactoryCreator.getFactory</a:t>
            </a:r>
            <a:r>
              <a:rPr lang="en-US" sz="2000" dirty="0">
                <a:solidFill>
                  <a:schemeClr val="accent1">
                    <a:lumMod val="75000"/>
                  </a:schemeClr>
                </a:solidFill>
              </a:rPr>
              <a:t>("Bank").</a:t>
            </a:r>
            <a:r>
              <a:rPr lang="en-US" sz="2000" dirty="0" err="1">
                <a:solidFill>
                  <a:schemeClr val="accent1">
                    <a:lumMod val="75000"/>
                  </a:schemeClr>
                </a:solidFill>
              </a:rPr>
              <a:t>getBank</a:t>
            </a:r>
            <a:r>
              <a:rPr lang="en-US" sz="2000" dirty="0">
                <a:solidFill>
                  <a:schemeClr val="accent1">
                    <a:lumMod val="75000"/>
                  </a:schemeClr>
                </a:solidFill>
              </a:rPr>
              <a:t>(</a:t>
            </a:r>
            <a:r>
              <a:rPr lang="en-US" sz="2000" dirty="0" err="1">
                <a:solidFill>
                  <a:schemeClr val="accent1">
                    <a:lumMod val="75000"/>
                  </a:schemeClr>
                </a:solidFill>
              </a:rPr>
              <a:t>bankName</a:t>
            </a:r>
            <a:r>
              <a:rPr lang="en-US" sz="2000" dirty="0">
                <a:solidFill>
                  <a:schemeClr val="accent1">
                    <a:lumMod val="75000"/>
                  </a:schemeClr>
                </a:solidFill>
              </a:rPr>
              <a:t>);</a:t>
            </a:r>
            <a:br>
              <a:rPr lang="en-US" sz="2000" dirty="0">
                <a:solidFill>
                  <a:schemeClr val="accent1">
                    <a:lumMod val="75000"/>
                  </a:schemeClr>
                </a:solidFill>
              </a:rPr>
            </a:br>
            <a:r>
              <a:rPr lang="en-US" sz="2000" dirty="0">
                <a:solidFill>
                  <a:schemeClr val="accent1">
                    <a:lumMod val="75000"/>
                  </a:schemeClr>
                </a:solidFill>
              </a:rPr>
              <a:t>Loan </a:t>
            </a:r>
            <a:r>
              <a:rPr lang="en-US" sz="2000" dirty="0" err="1">
                <a:solidFill>
                  <a:schemeClr val="accent1">
                    <a:lumMod val="75000"/>
                  </a:schemeClr>
                </a:solidFill>
              </a:rPr>
              <a:t>loan</a:t>
            </a:r>
            <a:r>
              <a:rPr lang="en-US" sz="2000" dirty="0">
                <a:solidFill>
                  <a:schemeClr val="accent1">
                    <a:lumMod val="75000"/>
                  </a:schemeClr>
                </a:solidFill>
              </a:rPr>
              <a:t> = </a:t>
            </a:r>
            <a:r>
              <a:rPr lang="en-US" sz="2000" dirty="0" err="1">
                <a:solidFill>
                  <a:schemeClr val="accent1">
                    <a:lumMod val="75000"/>
                  </a:schemeClr>
                </a:solidFill>
              </a:rPr>
              <a:t>FactoryCreator.getFactory</a:t>
            </a:r>
            <a:r>
              <a:rPr lang="en-US" sz="2000" dirty="0">
                <a:solidFill>
                  <a:schemeClr val="accent1">
                    <a:lumMod val="75000"/>
                  </a:schemeClr>
                </a:solidFill>
              </a:rPr>
              <a:t>("Loan").</a:t>
            </a:r>
            <a:r>
              <a:rPr lang="en-US" sz="2000" dirty="0" err="1">
                <a:solidFill>
                  <a:schemeClr val="accent1">
                    <a:lumMod val="75000"/>
                  </a:schemeClr>
                </a:solidFill>
              </a:rPr>
              <a:t>getLoan</a:t>
            </a:r>
            <a:r>
              <a:rPr lang="en-US" sz="2000" dirty="0">
                <a:solidFill>
                  <a:schemeClr val="accent1">
                    <a:lumMod val="75000"/>
                  </a:schemeClr>
                </a:solidFill>
              </a:rPr>
              <a:t>(</a:t>
            </a:r>
            <a:r>
              <a:rPr lang="en-US" sz="2000" dirty="0" err="1">
                <a:solidFill>
                  <a:schemeClr val="accent1">
                    <a:lumMod val="75000"/>
                  </a:schemeClr>
                </a:solidFill>
              </a:rPr>
              <a:t>loanName</a:t>
            </a:r>
            <a:r>
              <a:rPr lang="en-US" sz="2000" dirty="0">
                <a:solidFill>
                  <a:schemeClr val="accent1">
                    <a:lumMod val="75000"/>
                  </a:schemeClr>
                </a:solidFill>
              </a:rPr>
              <a:t>);</a:t>
            </a:r>
            <a:br>
              <a:rPr lang="en-US" sz="2000" dirty="0">
                <a:solidFill>
                  <a:schemeClr val="accent1">
                    <a:lumMod val="75000"/>
                  </a:schemeClr>
                </a:solidFill>
              </a:rPr>
            </a:br>
            <a:br>
              <a:rPr lang="en-US" dirty="0">
                <a:solidFill>
                  <a:schemeClr val="accent1">
                    <a:lumMod val="75000"/>
                  </a:schemeClr>
                </a:solidFill>
              </a:rPr>
            </a:br>
            <a:r>
              <a:rPr lang="en-US" dirty="0" err="1">
                <a:solidFill>
                  <a:schemeClr val="accent1">
                    <a:lumMod val="75000"/>
                  </a:schemeClr>
                </a:solidFill>
              </a:rPr>
              <a:t>System.out.println</a:t>
            </a:r>
            <a:r>
              <a:rPr lang="en-US" dirty="0">
                <a:solidFill>
                  <a:schemeClr val="accent1">
                    <a:lumMod val="75000"/>
                  </a:schemeClr>
                </a:solidFill>
              </a:rPr>
              <a:t>("\</a:t>
            </a:r>
            <a:r>
              <a:rPr lang="en-US" dirty="0" err="1">
                <a:solidFill>
                  <a:schemeClr val="accent1">
                    <a:lumMod val="75000"/>
                  </a:schemeClr>
                </a:solidFill>
              </a:rPr>
              <a:t>nLoan</a:t>
            </a:r>
            <a:r>
              <a:rPr lang="en-US" dirty="0">
                <a:solidFill>
                  <a:schemeClr val="accent1">
                    <a:lumMod val="75000"/>
                  </a:schemeClr>
                </a:solidFill>
              </a:rPr>
              <a:t> from: " + </a:t>
            </a:r>
            <a:r>
              <a:rPr lang="en-US" dirty="0" err="1">
                <a:solidFill>
                  <a:schemeClr val="accent1">
                    <a:lumMod val="75000"/>
                  </a:schemeClr>
                </a:solidFill>
              </a:rPr>
              <a:t>bank.getBankName</a:t>
            </a:r>
            <a:r>
              <a:rPr lang="en-US" dirty="0">
                <a:solidFill>
                  <a:schemeClr val="accent1">
                    <a:lumMod val="75000"/>
                  </a:schemeClr>
                </a:solidFill>
              </a:rPr>
              <a:t>());</a:t>
            </a:r>
            <a:br>
              <a:rPr lang="en-US" dirty="0">
                <a:solidFill>
                  <a:schemeClr val="accent1">
                    <a:lumMod val="75000"/>
                  </a:schemeClr>
                </a:solidFill>
              </a:rPr>
            </a:br>
            <a:br>
              <a:rPr lang="en-US" dirty="0">
                <a:solidFill>
                  <a:schemeClr val="accent1">
                    <a:lumMod val="75000"/>
                  </a:schemeClr>
                </a:solidFill>
              </a:rPr>
            </a:br>
            <a:r>
              <a:rPr lang="en-US" dirty="0" err="1">
                <a:solidFill>
                  <a:schemeClr val="accent1">
                    <a:lumMod val="75000"/>
                  </a:schemeClr>
                </a:solidFill>
              </a:rPr>
              <a:t>loan.getInterestRate</a:t>
            </a:r>
            <a:r>
              <a:rPr lang="en-US" dirty="0">
                <a:solidFill>
                  <a:schemeClr val="accent1">
                    <a:lumMod val="75000"/>
                  </a:schemeClr>
                </a:solidFill>
              </a:rPr>
              <a:t>(rate);</a:t>
            </a:r>
            <a:br>
              <a:rPr lang="en-US" dirty="0">
                <a:solidFill>
                  <a:schemeClr val="accent1">
                    <a:lumMod val="75000"/>
                  </a:schemeClr>
                </a:solidFill>
              </a:rPr>
            </a:br>
            <a:r>
              <a:rPr lang="en-US" dirty="0" err="1">
                <a:solidFill>
                  <a:schemeClr val="accent1">
                    <a:lumMod val="75000"/>
                  </a:schemeClr>
                </a:solidFill>
              </a:rPr>
              <a:t>loan.calculateLoanPayment</a:t>
            </a:r>
            <a:r>
              <a:rPr lang="en-US" dirty="0">
                <a:solidFill>
                  <a:schemeClr val="accent1">
                    <a:lumMod val="75000"/>
                  </a:schemeClr>
                </a:solidFill>
              </a:rPr>
              <a:t>(amount, years);</a:t>
            </a:r>
            <a:br>
              <a:rPr lang="en-US" dirty="0">
                <a:solidFill>
                  <a:schemeClr val="accent1">
                    <a:lumMod val="75000"/>
                  </a:schemeClr>
                </a:solidFill>
              </a:rPr>
            </a:br>
            <a:r>
              <a:rPr lang="en-US" dirty="0">
                <a:solidFill>
                  <a:schemeClr val="accent1">
                    <a:lumMod val="75000"/>
                  </a:schemeClr>
                </a:solidFill>
              </a:rPr>
              <a:t>	}</a:t>
            </a:r>
            <a:br>
              <a:rPr lang="en-US" dirty="0">
                <a:solidFill>
                  <a:schemeClr val="accent1">
                    <a:lumMod val="75000"/>
                  </a:schemeClr>
                </a:solidFill>
              </a:rPr>
            </a:br>
            <a:r>
              <a:rPr lang="en-US" dirty="0">
                <a:solidFill>
                  <a:schemeClr val="accent1">
                    <a:lumMod val="75000"/>
                  </a:schemeClr>
                </a:solidFill>
              </a:rPr>
              <a:t>}</a:t>
            </a:r>
          </a:p>
        </p:txBody>
      </p:sp>
    </p:spTree>
    <p:extLst>
      <p:ext uri="{BB962C8B-B14F-4D97-AF65-F5344CB8AC3E}">
        <p14:creationId xmlns:p14="http://schemas.microsoft.com/office/powerpoint/2010/main" val="182453577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302DC1-5985-4E23-8622-BF59F60B8C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03138" y="1066800"/>
            <a:ext cx="8927430" cy="4800600"/>
          </a:xfrm>
          <a:prstGeom prst="rect">
            <a:avLst/>
          </a:prstGeom>
        </p:spPr>
      </p:pic>
    </p:spTree>
    <p:extLst>
      <p:ext uri="{BB962C8B-B14F-4D97-AF65-F5344CB8AC3E}">
        <p14:creationId xmlns:p14="http://schemas.microsoft.com/office/powerpoint/2010/main" val="29668309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D461873-33D6-4D7C-84B5-4E4C541B01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5352" y="515102"/>
            <a:ext cx="8681297" cy="5667375"/>
          </a:xfrm>
          <a:prstGeom prst="rect">
            <a:avLst/>
          </a:prstGeom>
        </p:spPr>
      </p:pic>
    </p:spTree>
    <p:extLst>
      <p:ext uri="{BB962C8B-B14F-4D97-AF65-F5344CB8AC3E}">
        <p14:creationId xmlns:p14="http://schemas.microsoft.com/office/powerpoint/2010/main" val="275403283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F42534-84D8-4E42-A16D-D58BEB2E52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3600" y="344347"/>
            <a:ext cx="7681950" cy="5980253"/>
          </a:xfrm>
          <a:prstGeom prst="rect">
            <a:avLst/>
          </a:prstGeom>
        </p:spPr>
      </p:pic>
    </p:spTree>
    <p:extLst>
      <p:ext uri="{BB962C8B-B14F-4D97-AF65-F5344CB8AC3E}">
        <p14:creationId xmlns:p14="http://schemas.microsoft.com/office/powerpoint/2010/main" val="180524277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TM03457496[[fn=Parallax]]</Template>
  <TotalTime>3</TotalTime>
  <Words>12459</Words>
  <Application>Microsoft Office PowerPoint</Application>
  <PresentationFormat>Widescreen</PresentationFormat>
  <Paragraphs>1543</Paragraphs>
  <Slides>132</Slides>
  <Notes>65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132</vt:i4>
      </vt:variant>
    </vt:vector>
  </HeadingPairs>
  <TitlesOfParts>
    <vt:vector size="141" baseType="lpstr">
      <vt:lpstr>Arial Unicode MS</vt:lpstr>
      <vt:lpstr>Aptos</vt:lpstr>
      <vt:lpstr>Arial</vt:lpstr>
      <vt:lpstr>Corbel</vt:lpstr>
      <vt:lpstr>OpenSans-Bold</vt:lpstr>
      <vt:lpstr>OpenSans-Regular</vt:lpstr>
      <vt:lpstr>ui-sans-serif</vt:lpstr>
      <vt:lpstr>Wingdings</vt:lpstr>
      <vt:lpstr>Parallax</vt:lpstr>
      <vt:lpstr>Advance Software Engineering</vt:lpstr>
      <vt:lpstr>What is Design?</vt:lpstr>
      <vt:lpstr>What is Design?</vt:lpstr>
      <vt:lpstr>What is Design?</vt:lpstr>
      <vt:lpstr>System</vt:lpstr>
      <vt:lpstr>Software Architecture</vt:lpstr>
      <vt:lpstr>Software Architecture</vt:lpstr>
      <vt:lpstr>Why is it important?</vt:lpstr>
      <vt:lpstr>Why is it important?</vt:lpstr>
      <vt:lpstr>Software Architecture</vt:lpstr>
      <vt:lpstr>Software Architecture Styles</vt:lpstr>
      <vt:lpstr>Repository Architecture</vt:lpstr>
      <vt:lpstr>Repository Architecture</vt:lpstr>
      <vt:lpstr>How It Works</vt:lpstr>
      <vt:lpstr>Example:</vt:lpstr>
      <vt:lpstr>A Brief Taxonomy of Architectural Styles</vt:lpstr>
      <vt:lpstr>Client–Server Architecture</vt:lpstr>
      <vt:lpstr>A client–server architecture for a film library </vt:lpstr>
      <vt:lpstr>How It Works</vt:lpstr>
      <vt:lpstr>Example : Email System </vt:lpstr>
      <vt:lpstr>Layered Architecture (N-tier)</vt:lpstr>
      <vt:lpstr>Layered Architecture (N-tier)</vt:lpstr>
      <vt:lpstr>A generic layered architecture </vt:lpstr>
      <vt:lpstr>PowerPoint Presentation</vt:lpstr>
      <vt:lpstr> How It Works</vt:lpstr>
      <vt:lpstr>🛒 Example : E-Commerce Website</vt:lpstr>
      <vt:lpstr>Pipe and Filter Architecture</vt:lpstr>
      <vt:lpstr>A Brief Taxonomy of Architectural Styles</vt:lpstr>
      <vt:lpstr>An example of the pipe and filter architecture </vt:lpstr>
      <vt:lpstr>Pipe and Filter Architecture</vt:lpstr>
      <vt:lpstr> Compiler System</vt:lpstr>
      <vt:lpstr>Microservices Architecture</vt:lpstr>
      <vt:lpstr>Micro-services Architecture</vt:lpstr>
      <vt:lpstr>PowerPoint Presentation</vt:lpstr>
      <vt:lpstr>Monolithic Architecture</vt:lpstr>
      <vt:lpstr>Structure of Monolithic System</vt:lpstr>
      <vt:lpstr>How It Works</vt:lpstr>
      <vt:lpstr>Event-Driven Architecture</vt:lpstr>
      <vt:lpstr>How It Works </vt:lpstr>
      <vt:lpstr>Real World Examples</vt:lpstr>
      <vt:lpstr>Distributed Architecture</vt:lpstr>
      <vt:lpstr>Advantages and Disadvantages</vt:lpstr>
      <vt:lpstr>Types of Distributed Systems</vt:lpstr>
      <vt:lpstr>Examples</vt:lpstr>
      <vt:lpstr>Distributed System Diagram</vt:lpstr>
      <vt:lpstr>Comparison Table</vt:lpstr>
      <vt:lpstr>Software Architecture</vt:lpstr>
      <vt:lpstr>Why is Architecture Important? </vt:lpstr>
      <vt:lpstr>Why is Architecture Important? </vt:lpstr>
      <vt:lpstr>The Goals of Architecture</vt:lpstr>
      <vt:lpstr>The Goals of Architecture</vt:lpstr>
      <vt:lpstr>The Principles of Architecture Design</vt:lpstr>
      <vt:lpstr>The Principles of Architecture Design</vt:lpstr>
      <vt:lpstr>The Principles of Architecture Design</vt:lpstr>
      <vt:lpstr>Summary</vt:lpstr>
      <vt:lpstr>Design Patterns Object Oriented SE</vt:lpstr>
      <vt:lpstr> Architectural Style/design</vt:lpstr>
      <vt:lpstr>Architectural Pattern (Implementation Strategy)</vt:lpstr>
      <vt:lpstr>Design Pattern (Low-Level Solution)</vt:lpstr>
      <vt:lpstr>Architectural vs design patterns</vt:lpstr>
      <vt:lpstr>Design patterns</vt:lpstr>
      <vt:lpstr>Why Use Design Patterns?</vt:lpstr>
      <vt:lpstr>The Three Main Categories</vt:lpstr>
      <vt:lpstr>Gang of Four (GoF) patterns</vt:lpstr>
      <vt:lpstr>Creational Patterns</vt:lpstr>
      <vt:lpstr>Structural Patterns</vt:lpstr>
      <vt:lpstr>Behavioral Patterns</vt:lpstr>
      <vt:lpstr>OOP Review</vt:lpstr>
      <vt:lpstr>Abstract method</vt:lpstr>
      <vt:lpstr>Abstract Class</vt:lpstr>
      <vt:lpstr>PowerPoint Presentation</vt:lpstr>
      <vt:lpstr>Constructor</vt:lpstr>
      <vt:lpstr>Concrete Class</vt:lpstr>
      <vt:lpstr>PowerPoint Presentation</vt:lpstr>
      <vt:lpstr>Concrete Method</vt:lpstr>
      <vt:lpstr>PowerPoint Presentation</vt:lpstr>
      <vt:lpstr>Interface</vt:lpstr>
      <vt:lpstr>Interface</vt:lpstr>
      <vt:lpstr>PowerPoint Presentation</vt:lpstr>
      <vt:lpstr>Real-world Analogy</vt:lpstr>
      <vt:lpstr>Factory Design Pattern</vt:lpstr>
      <vt:lpstr>PowerPoint Presentation</vt:lpstr>
      <vt:lpstr>PowerPoint Presentation</vt:lpstr>
      <vt:lpstr>Usage of Factory Method</vt:lpstr>
      <vt:lpstr>Elements of Factory method Pattern</vt:lpstr>
      <vt:lpstr>Concrete Products</vt:lpstr>
      <vt:lpstr>Creator (Factory Class / Factory Method)</vt:lpstr>
      <vt:lpstr>Client</vt:lpstr>
      <vt:lpstr>PowerPoint Presentation</vt:lpstr>
      <vt:lpstr>Step 1 : Interface</vt:lpstr>
      <vt:lpstr> Step 2: Concrete Classes </vt:lpstr>
      <vt:lpstr>Step 2</vt:lpstr>
      <vt:lpstr>Step 2</vt:lpstr>
      <vt:lpstr> Step 3: Create Factory </vt:lpstr>
      <vt:lpstr> Step 4 </vt:lpstr>
      <vt:lpstr> Step 4 </vt:lpstr>
      <vt:lpstr>Output</vt:lpstr>
      <vt:lpstr>PowerPoint Presentation</vt:lpstr>
      <vt:lpstr>Calculate Electricity Bill : A Real World Example of Factory Method </vt:lpstr>
      <vt:lpstr>Step 2</vt:lpstr>
      <vt:lpstr>Step 2</vt:lpstr>
      <vt:lpstr>Step 2</vt:lpstr>
      <vt:lpstr>Step 3</vt:lpstr>
      <vt:lpstr>Step 3</vt:lpstr>
      <vt:lpstr>Step 4</vt:lpstr>
      <vt:lpstr>Step 4</vt:lpstr>
      <vt:lpstr>Step 4</vt:lpstr>
      <vt:lpstr>Abstract Factory Pattern</vt:lpstr>
      <vt:lpstr>Abstract Factory Pattern</vt:lpstr>
      <vt:lpstr>Advantage and Usage </vt:lpstr>
      <vt:lpstr>PowerPoint Presentation</vt:lpstr>
      <vt:lpstr>Elements of Abstract Factory Pattern</vt:lpstr>
      <vt:lpstr>ConcreteFactory (The Specific Builder)</vt:lpstr>
      <vt:lpstr>AbstractProduct (The General Item Category)</vt:lpstr>
      <vt:lpstr>ConcreteProduct (The Final Item)</vt:lpstr>
      <vt:lpstr>Client (The User or System)</vt:lpstr>
      <vt:lpstr>PowerPoint Presentation</vt:lpstr>
      <vt:lpstr>Example of Abstract Factory Pattern </vt:lpstr>
      <vt:lpstr>Step 2: </vt:lpstr>
      <vt:lpstr>Step 2:</vt:lpstr>
      <vt:lpstr>Step 2:</vt:lpstr>
      <vt:lpstr>Step 3: Create the Loan abstract class. </vt:lpstr>
      <vt:lpstr>Step 4: Create concrete classes that extend the Loan abstract class.. </vt:lpstr>
      <vt:lpstr>Step 5:</vt:lpstr>
      <vt:lpstr>Step 6:</vt:lpstr>
      <vt:lpstr>Step 6:</vt:lpstr>
      <vt:lpstr>Step 7:</vt:lpstr>
      <vt:lpstr>Step 8: </vt:lpstr>
      <vt:lpstr>Step 8</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Mian Daniyal Hassan</dc:creator>
  <cp:lastModifiedBy>Mian Daniyal Hassan</cp:lastModifiedBy>
  <cp:revision>1</cp:revision>
  <dcterms:created xsi:type="dcterms:W3CDTF">2026-04-14T16:24:38Z</dcterms:created>
  <dcterms:modified xsi:type="dcterms:W3CDTF">2026-04-14T16:27:51Z</dcterms:modified>
</cp:coreProperties>
</file>
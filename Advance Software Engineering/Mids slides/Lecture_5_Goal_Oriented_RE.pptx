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58" r:id="rId4"/>
    <p:sldId id="279" r:id="rId5"/>
    <p:sldId id="278" r:id="rId6"/>
    <p:sldId id="261" r:id="rId7"/>
    <p:sldId id="280" r:id="rId8"/>
    <p:sldId id="281" r:id="rId9"/>
    <p:sldId id="262" r:id="rId10"/>
    <p:sldId id="263" r:id="rId11"/>
    <p:sldId id="282" r:id="rId12"/>
    <p:sldId id="283" r:id="rId13"/>
    <p:sldId id="264" r:id="rId14"/>
    <p:sldId id="265" r:id="rId15"/>
    <p:sldId id="284" r:id="rId16"/>
    <p:sldId id="267" r:id="rId17"/>
    <p:sldId id="285" r:id="rId18"/>
    <p:sldId id="286" r:id="rId19"/>
    <p:sldId id="288" r:id="rId20"/>
    <p:sldId id="289" r:id="rId21"/>
    <p:sldId id="287" r:id="rId22"/>
    <p:sldId id="268" r:id="rId23"/>
    <p:sldId id="269" r:id="rId24"/>
    <p:sldId id="270" r:id="rId25"/>
    <p:sldId id="271" r:id="rId26"/>
    <p:sldId id="272" r:id="rId27"/>
    <p:sldId id="292" r:id="rId28"/>
    <p:sldId id="290" r:id="rId29"/>
    <p:sldId id="291" r:id="rId30"/>
    <p:sldId id="293" r:id="rId31"/>
    <p:sldId id="294" r:id="rId32"/>
    <p:sldId id="276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304" autoAdjust="0"/>
  </p:normalViewPr>
  <p:slideViewPr>
    <p:cSldViewPr snapToGrid="0" snapToObjects="1">
      <p:cViewPr>
        <p:scale>
          <a:sx n="73" d="100"/>
          <a:sy n="73" d="100"/>
        </p:scale>
        <p:origin x="1738" y="3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F1945-3535-4763-BC2F-E508635E52F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6D081-A711-4497-969F-D0E37265E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03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Welcome to the session. Today, we are shifting our focus from </a:t>
            </a:r>
            <a:r>
              <a:rPr lang="en-US" i="1" dirty="0" smtClean="0"/>
              <a:t>what</a:t>
            </a:r>
            <a:r>
              <a:rPr lang="en-US" dirty="0" smtClean="0"/>
              <a:t> a system should do, to </a:t>
            </a:r>
            <a:r>
              <a:rPr lang="en-US" i="1" dirty="0" smtClean="0"/>
              <a:t>why</a:t>
            </a:r>
            <a:r>
              <a:rPr lang="en-US" dirty="0" smtClean="0"/>
              <a:t> it needs to do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6D081-A711-4497-969F-D0E37265E5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45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Keep asking </a:t>
            </a:r>
            <a:r>
              <a:rPr lang="en-US" i="1" dirty="0" smtClean="0"/>
              <a:t>Why</a:t>
            </a:r>
            <a:r>
              <a:rPr lang="en-US" dirty="0" smtClean="0"/>
              <a:t> until the requirement either collapses… or reveals its true purpose.” annoyingly curious</a:t>
            </a:r>
          </a:p>
          <a:p>
            <a:endParaRPr lang="en-US" b="1" dirty="0" smtClean="0"/>
          </a:p>
          <a:p>
            <a:r>
              <a:rPr lang="en-US" b="1" dirty="0" smtClean="0"/>
              <a:t>“Every feature should have a reason to exist—or it’s intellectual clutter.”</a:t>
            </a:r>
          </a:p>
          <a:p>
            <a:r>
              <a:rPr lang="en-US" dirty="0" smtClean="0"/>
              <a:t>Traceability is about </a:t>
            </a:r>
            <a:r>
              <a:rPr lang="en-US" b="1" dirty="0" smtClean="0"/>
              <a:t>connecting the dots</a:t>
            </a:r>
            <a:r>
              <a:rPr lang="en-US" dirty="0" smtClean="0"/>
              <a:t> from:</a:t>
            </a:r>
          </a:p>
          <a:p>
            <a:pPr rtl="0"/>
            <a:r>
              <a:rPr lang="en-US" dirty="0" smtClean="0"/>
              <a:t>Business Goal → Stakeholder Goal → System Requirement → Design → Code</a:t>
            </a:r>
          </a:p>
          <a:p>
            <a:pPr rtl="0"/>
            <a:endParaRPr lang="en-US" dirty="0" smtClean="0"/>
          </a:p>
          <a:p>
            <a:pPr rtl="0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6D081-A711-4497-969F-D0E37265E53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90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18868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82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95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9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8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50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9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01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2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62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37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66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00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22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38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89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7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Goal-Oriented Requirements Engineering (GORE)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711201"/>
          </a:xfrm>
        </p:spPr>
        <p:txBody>
          <a:bodyPr/>
          <a:lstStyle/>
          <a:p>
            <a:r>
              <a:rPr lang="en-US" dirty="0"/>
              <a:t>Understanding the "Why" </a:t>
            </a:r>
            <a:r>
              <a:rPr lang="en-US" dirty="0" smtClean="0"/>
              <a:t>behind </a:t>
            </a:r>
            <a:r>
              <a:rPr lang="en-US" dirty="0"/>
              <a:t>the </a:t>
            </a:r>
            <a:r>
              <a:rPr lang="en-US" dirty="0" smtClean="0"/>
              <a:t>System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 flipH="1">
            <a:off x="6175586" y="5305778"/>
            <a:ext cx="222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Ms. Shehla Saeed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Goal-Oriented Requirements Engineering</a:t>
            </a:r>
          </a:p>
          <a:p>
            <a:r>
              <a:t>Identify goals, tasks, and softgoals</a:t>
            </a:r>
          </a:p>
          <a:p>
            <a:r>
              <a:t>Learn goal modeling techniques</a:t>
            </a:r>
          </a:p>
          <a:p>
            <a:r>
              <a:t>Convert goals into requirements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911" y="141112"/>
            <a:ext cx="7704667" cy="1473199"/>
          </a:xfrm>
        </p:spPr>
        <p:txBody>
          <a:bodyPr/>
          <a:lstStyle/>
          <a:p>
            <a:r>
              <a:rPr lang="en-US" b="1" dirty="0"/>
              <a:t>What is Goal-Oriented 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911" y="1919112"/>
            <a:ext cx="7874000" cy="4572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300" b="1" dirty="0"/>
              <a:t>The Paradigm Shift:</a:t>
            </a:r>
            <a:r>
              <a:rPr lang="en-US" sz="3300" dirty="0"/>
              <a:t> </a:t>
            </a:r>
            <a:endParaRPr lang="en-US" sz="3300" dirty="0" smtClean="0"/>
          </a:p>
          <a:p>
            <a:pPr marL="0" indent="0">
              <a:buNone/>
            </a:pPr>
            <a:r>
              <a:rPr lang="en-US" sz="3300" dirty="0" smtClean="0"/>
              <a:t>Traditional </a:t>
            </a:r>
            <a:r>
              <a:rPr lang="en-US" sz="3300" dirty="0"/>
              <a:t>RE focuses on system features </a:t>
            </a:r>
            <a:r>
              <a:rPr lang="en-US" sz="3300" dirty="0" smtClean="0"/>
              <a:t>("</a:t>
            </a:r>
            <a:r>
              <a:rPr lang="en-US" sz="3300" b="1" dirty="0" smtClean="0"/>
              <a:t>what </a:t>
            </a:r>
            <a:r>
              <a:rPr lang="en-US" sz="3300" b="1" dirty="0"/>
              <a:t>the system should do </a:t>
            </a:r>
            <a:r>
              <a:rPr lang="en-US" sz="3300" dirty="0" smtClean="0"/>
              <a:t>"). </a:t>
            </a:r>
            <a:r>
              <a:rPr lang="en-US" sz="3300" dirty="0"/>
              <a:t>GORE focuses on the intentions and rationale </a:t>
            </a:r>
            <a:r>
              <a:rPr lang="en-US" sz="3300" dirty="0" smtClean="0"/>
              <a:t>("</a:t>
            </a:r>
            <a:r>
              <a:rPr lang="en-US" sz="3300" b="1" dirty="0"/>
              <a:t> why it should do it </a:t>
            </a:r>
            <a:r>
              <a:rPr lang="en-US" sz="3300" dirty="0" smtClean="0"/>
              <a:t>").</a:t>
            </a:r>
            <a:endParaRPr lang="en-US" sz="3300" dirty="0"/>
          </a:p>
          <a:p>
            <a:pPr marL="0" indent="0">
              <a:buNone/>
            </a:pPr>
            <a:endParaRPr lang="en-US" sz="3300" dirty="0" smtClean="0"/>
          </a:p>
          <a:p>
            <a:pPr marL="0" indent="0">
              <a:buNone/>
            </a:pPr>
            <a:r>
              <a:rPr lang="en-US" sz="3300" dirty="0" smtClean="0"/>
              <a:t>In GORE</a:t>
            </a:r>
            <a:endParaRPr lang="en-US" sz="3300" dirty="0"/>
          </a:p>
          <a:p>
            <a:r>
              <a:rPr lang="en-US" sz="3300" b="1" dirty="0"/>
              <a:t>Stakeholders’ </a:t>
            </a:r>
            <a:r>
              <a:rPr lang="en-US" sz="3300" b="1" dirty="0" smtClean="0"/>
              <a:t>objectives/goals </a:t>
            </a:r>
            <a:r>
              <a:rPr lang="en-US" sz="3300" b="1" dirty="0"/>
              <a:t>are identified first</a:t>
            </a:r>
            <a:endParaRPr lang="en-US" sz="3300" dirty="0"/>
          </a:p>
          <a:p>
            <a:r>
              <a:rPr lang="en-US" sz="3300" dirty="0"/>
              <a:t>Requirements are derived from these goals</a:t>
            </a:r>
          </a:p>
          <a:p>
            <a:r>
              <a:rPr lang="en-US" sz="3300" dirty="0"/>
              <a:t>Focus is on </a:t>
            </a:r>
            <a:r>
              <a:rPr lang="en-US" sz="3300" b="1" dirty="0"/>
              <a:t>why the system is needed</a:t>
            </a:r>
            <a:endParaRPr lang="en-US" sz="3300" dirty="0"/>
          </a:p>
          <a:p>
            <a:pPr marL="0" indent="0">
              <a:buNone/>
            </a:pPr>
            <a:r>
              <a:rPr lang="en-US" sz="3300" dirty="0" smtClean="0"/>
              <a:t>Example</a:t>
            </a:r>
            <a:r>
              <a:rPr lang="en-US" sz="3300" dirty="0"/>
              <a:t>:</a:t>
            </a:r>
          </a:p>
          <a:p>
            <a:r>
              <a:rPr lang="en-US" sz="3300" b="1" dirty="0"/>
              <a:t>Goal</a:t>
            </a:r>
            <a:r>
              <a:rPr lang="en-US" sz="3300" dirty="0"/>
              <a:t/>
            </a:r>
            <a:br>
              <a:rPr lang="en-US" sz="3300" dirty="0"/>
            </a:br>
            <a:r>
              <a:rPr lang="en-US" sz="3300" dirty="0"/>
              <a:t>Improve parking availability in the city</a:t>
            </a:r>
          </a:p>
          <a:p>
            <a:r>
              <a:rPr lang="en-US" sz="3300" b="1" dirty="0"/>
              <a:t>Requirement</a:t>
            </a:r>
            <a:r>
              <a:rPr lang="en-US" sz="3300" dirty="0"/>
              <a:t/>
            </a:r>
            <a:br>
              <a:rPr lang="en-US" sz="3300" dirty="0"/>
            </a:br>
            <a:r>
              <a:rPr lang="en-US" sz="3300" dirty="0"/>
              <a:t>System should display real-time parking availability.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Goal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Requirements </a:t>
            </a:r>
            <a:r>
              <a:rPr lang="en-US" b="1" dirty="0"/>
              <a:t>Elicitation:</a:t>
            </a:r>
            <a:r>
              <a:rPr lang="en-US" dirty="0"/>
              <a:t> Helps discover hidden requirements by repeatedly asking "Why?" and "How?".</a:t>
            </a:r>
          </a:p>
          <a:p>
            <a:r>
              <a:rPr lang="en-US" b="1" dirty="0"/>
              <a:t>Traceability:</a:t>
            </a:r>
            <a:r>
              <a:rPr lang="en-US" dirty="0"/>
              <a:t> Provides a clear link from high-level business strategy down to low-level technical implementation.</a:t>
            </a:r>
          </a:p>
          <a:p>
            <a:r>
              <a:rPr lang="en-US" b="1" dirty="0"/>
              <a:t>Conflict Resolution:</a:t>
            </a:r>
            <a:r>
              <a:rPr lang="en-US" dirty="0"/>
              <a:t> Helps identify conflicting goals early (e.g., "High Security" vs. "Easy to Use") so stakeholders can negotiate trade-offs.</a:t>
            </a:r>
          </a:p>
          <a:p>
            <a:r>
              <a:rPr lang="en-US" b="1" dirty="0"/>
              <a:t>Completeness:</a:t>
            </a:r>
            <a:r>
              <a:rPr lang="en-US" dirty="0"/>
              <a:t> Ensures every implemented feature is actually tied to a business </a:t>
            </a:r>
            <a:r>
              <a:rPr lang="en-US" dirty="0" smtClean="0"/>
              <a:t>need (preventing gold-plating).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58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Goal in 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Definition</a:t>
            </a:r>
            <a:r>
              <a:rPr lang="en-US" b="1" dirty="0"/>
              <a:t>:</a:t>
            </a:r>
            <a:r>
              <a:rPr lang="en-US" dirty="0"/>
              <a:t> A goal is an objective that the system under consideration should achieve</a:t>
            </a:r>
            <a:r>
              <a:rPr lang="en-US" dirty="0" smtClean="0"/>
              <a:t>.</a:t>
            </a:r>
          </a:p>
          <a:p>
            <a:r>
              <a:rPr lang="en-US" dirty="0"/>
              <a:t>Stakeholder intentions are captured as goals</a:t>
            </a:r>
          </a:p>
          <a:p>
            <a:r>
              <a:rPr lang="en-US" dirty="0"/>
              <a:t>Requirements are derived from these goals</a:t>
            </a:r>
          </a:p>
          <a:p>
            <a:r>
              <a:rPr lang="en-US" b="1" dirty="0" smtClean="0"/>
              <a:t>Scope</a:t>
            </a:r>
            <a:r>
              <a:rPr lang="en-US" b="1" dirty="0"/>
              <a:t>:</a:t>
            </a:r>
            <a:r>
              <a:rPr lang="en-US" dirty="0"/>
              <a:t> Goals can range from high-level strategic business objectives (e.g., " Improve parking management ") to low-level technical requirements (e.g., " Detect free parking slots ").</a:t>
            </a:r>
          </a:p>
        </p:txBody>
      </p:sp>
    </p:spTree>
    <p:extLst>
      <p:ext uri="{BB962C8B-B14F-4D97-AF65-F5344CB8AC3E}">
        <p14:creationId xmlns:p14="http://schemas.microsoft.com/office/powerpoint/2010/main" val="11044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Hard </a:t>
            </a:r>
            <a:r>
              <a:rPr lang="en-US" b="1" dirty="0"/>
              <a:t>Goals → measurable → functional behavior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Soft Goals → quality attributes → non-functional requirements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" y="457201"/>
            <a:ext cx="8463279" cy="93471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Hard Goals → Usually 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241" y="1727200"/>
            <a:ext cx="7782560" cy="4272616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</a:t>
            </a:r>
            <a:r>
              <a:rPr lang="en-US" b="1" dirty="0"/>
              <a:t>hard goal</a:t>
            </a:r>
            <a:r>
              <a:rPr lang="en-US" dirty="0"/>
              <a:t> has </a:t>
            </a:r>
            <a:r>
              <a:rPr lang="en-US" b="1" dirty="0"/>
              <a:t>clear success criteria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smtClean="0"/>
              <a:t>Examples </a:t>
            </a:r>
            <a:r>
              <a:rPr lang="en-US" dirty="0"/>
              <a:t>(Smart Parking System)</a:t>
            </a:r>
          </a:p>
          <a:p>
            <a:r>
              <a:rPr lang="en-US" dirty="0"/>
              <a:t>Hard Goal</a:t>
            </a:r>
            <a:br>
              <a:rPr lang="en-US" dirty="0"/>
            </a:br>
            <a:r>
              <a:rPr lang="en-US" dirty="0"/>
              <a:t>Reserve parking space</a:t>
            </a:r>
          </a:p>
          <a:p>
            <a:pPr lvl="1"/>
            <a:r>
              <a:rPr lang="en-US" dirty="0"/>
              <a:t>Derived Functional Requirement</a:t>
            </a:r>
            <a:br>
              <a:rPr lang="en-US" dirty="0"/>
            </a:br>
            <a:r>
              <a:rPr lang="en-US" dirty="0"/>
              <a:t>System shall allow users to </a:t>
            </a:r>
            <a:r>
              <a:rPr lang="en-US" b="1" dirty="0"/>
              <a:t>book a parking slot via mobile app</a:t>
            </a:r>
            <a:r>
              <a:rPr lang="en-US" dirty="0"/>
              <a:t>.</a:t>
            </a:r>
          </a:p>
          <a:p>
            <a:r>
              <a:rPr lang="en-US" dirty="0" smtClean="0"/>
              <a:t>Hard </a:t>
            </a:r>
            <a:r>
              <a:rPr lang="en-US" dirty="0"/>
              <a:t>Goal</a:t>
            </a:r>
            <a:br>
              <a:rPr lang="en-US" dirty="0"/>
            </a:br>
            <a:r>
              <a:rPr lang="en-US" dirty="0"/>
              <a:t>Display available parking slots</a:t>
            </a:r>
          </a:p>
          <a:p>
            <a:pPr lvl="1"/>
            <a:r>
              <a:rPr lang="en-US" dirty="0" smtClean="0"/>
              <a:t>Derived Functional Requirement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System shall show </a:t>
            </a:r>
            <a:r>
              <a:rPr lang="en-US" b="1" dirty="0"/>
              <a:t>real-time parking availability</a:t>
            </a:r>
            <a:r>
              <a:rPr lang="en-US" dirty="0"/>
              <a:t>.</a:t>
            </a:r>
          </a:p>
          <a:p>
            <a:r>
              <a:rPr lang="en-US" dirty="0"/>
              <a:t>These describe </a:t>
            </a:r>
            <a:r>
              <a:rPr lang="en-US" b="1" dirty="0"/>
              <a:t>system actions</a:t>
            </a:r>
            <a:r>
              <a:rPr lang="en-US" dirty="0"/>
              <a:t>, so they become </a:t>
            </a:r>
            <a:r>
              <a:rPr lang="en-US" b="1" dirty="0"/>
              <a:t>functional requirements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311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7721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Soft Goals → Usually 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605280"/>
            <a:ext cx="7704667" cy="463837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 </a:t>
            </a:r>
            <a:r>
              <a:rPr lang="en-US" b="1" dirty="0"/>
              <a:t>soft goal</a:t>
            </a:r>
            <a:r>
              <a:rPr lang="en-US" dirty="0"/>
              <a:t> describes </a:t>
            </a:r>
            <a:r>
              <a:rPr lang="en-US" b="1" dirty="0"/>
              <a:t>quality or performance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r>
              <a:rPr lang="en-US" dirty="0"/>
              <a:t>Soft Goal</a:t>
            </a:r>
            <a:br>
              <a:rPr lang="en-US" dirty="0"/>
            </a:br>
            <a:r>
              <a:rPr lang="en-US" dirty="0"/>
              <a:t>System should be </a:t>
            </a:r>
            <a:r>
              <a:rPr lang="en-US" b="1" dirty="0"/>
              <a:t>user friendly</a:t>
            </a:r>
            <a:endParaRPr lang="en-US" dirty="0"/>
          </a:p>
          <a:p>
            <a:pPr lvl="1"/>
            <a:r>
              <a:rPr lang="en-US" dirty="0"/>
              <a:t>Derived Non-Functional Requirement</a:t>
            </a:r>
            <a:br>
              <a:rPr lang="en-US" dirty="0"/>
            </a:br>
            <a:r>
              <a:rPr lang="en-US" dirty="0"/>
              <a:t>The mobile app should allow users to complete booking within </a:t>
            </a:r>
            <a:r>
              <a:rPr lang="en-US" b="1" dirty="0"/>
              <a:t>3 steps</a:t>
            </a:r>
            <a:r>
              <a:rPr lang="en-US" dirty="0"/>
              <a:t>.</a:t>
            </a:r>
          </a:p>
          <a:p>
            <a:r>
              <a:rPr lang="en-US" dirty="0" smtClean="0"/>
              <a:t>Soft </a:t>
            </a:r>
            <a:r>
              <a:rPr lang="en-US" dirty="0"/>
              <a:t>Goal</a:t>
            </a:r>
            <a:br>
              <a:rPr lang="en-US" dirty="0"/>
            </a:br>
            <a:r>
              <a:rPr lang="en-US" dirty="0"/>
              <a:t>System should be </a:t>
            </a:r>
            <a:r>
              <a:rPr lang="en-US" b="1" dirty="0"/>
              <a:t>secure</a:t>
            </a:r>
            <a:endParaRPr lang="en-US" dirty="0"/>
          </a:p>
          <a:p>
            <a:pPr lvl="1"/>
            <a:r>
              <a:rPr lang="en-US" dirty="0"/>
              <a:t>Derived Non-Functional Requirement</a:t>
            </a:r>
            <a:br>
              <a:rPr lang="en-US" dirty="0"/>
            </a:br>
            <a:r>
              <a:rPr lang="en-US" dirty="0"/>
              <a:t>All payments must use </a:t>
            </a:r>
            <a:r>
              <a:rPr lang="en-US" b="1" dirty="0"/>
              <a:t>encrypted transactions</a:t>
            </a:r>
            <a:r>
              <a:rPr lang="en-US" dirty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Soft goals usually relate to qualities </a:t>
            </a:r>
            <a:r>
              <a:rPr lang="en-US" dirty="0" smtClean="0"/>
              <a:t>like: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 smtClean="0">
                <a:latin typeface="Arial" panose="020B0604020202020204" pitchFamily="34" charset="0"/>
              </a:rPr>
              <a:t>Usability, Performance</a:t>
            </a:r>
            <a:r>
              <a:rPr lang="en-US" altLang="en-US" dirty="0" smtClean="0">
                <a:latin typeface="Arial" panose="020B0604020202020204" pitchFamily="34" charset="0"/>
              </a:rPr>
              <a:t>, </a:t>
            </a:r>
            <a:r>
              <a:rPr lang="en-US" altLang="en-US" dirty="0" err="1" smtClean="0">
                <a:latin typeface="Arial" panose="020B0604020202020204" pitchFamily="34" charset="0"/>
              </a:rPr>
              <a:t>Reliability,Security,scalability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64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Goal </a:t>
            </a:r>
            <a:r>
              <a:rPr dirty="0" smtClean="0"/>
              <a:t>Refinement</a:t>
            </a:r>
            <a:r>
              <a:rPr lang="en-US" dirty="0" smtClean="0"/>
              <a:t>/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Goal Decomposition</a:t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326640"/>
            <a:ext cx="7704667" cy="435864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Large goals are broken into smaller goals</a:t>
            </a:r>
          </a:p>
          <a:p>
            <a:r>
              <a:rPr dirty="0"/>
              <a:t>Process known as goal decomposition</a:t>
            </a:r>
          </a:p>
          <a:p>
            <a:r>
              <a:rPr dirty="0"/>
              <a:t>Helps derive clear system </a:t>
            </a:r>
            <a:r>
              <a:rPr dirty="0" smtClean="0"/>
              <a:t>requirements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Goal</a:t>
            </a:r>
            <a:br>
              <a:rPr lang="en-US" dirty="0"/>
            </a:br>
            <a:r>
              <a:rPr lang="en-US" dirty="0"/>
              <a:t>Improve parking management</a:t>
            </a:r>
          </a:p>
          <a:p>
            <a:r>
              <a:rPr lang="en-US" dirty="0"/>
              <a:t>Sub goals</a:t>
            </a:r>
          </a:p>
          <a:p>
            <a:pPr lvl="1"/>
            <a:r>
              <a:rPr lang="en-US" dirty="0"/>
              <a:t>Detect free parking slots</a:t>
            </a:r>
          </a:p>
          <a:p>
            <a:pPr lvl="1"/>
            <a:r>
              <a:rPr lang="en-US" dirty="0"/>
              <a:t>Guide drivers to available slots</a:t>
            </a:r>
          </a:p>
          <a:p>
            <a:pPr lvl="1"/>
            <a:r>
              <a:rPr lang="en-US" dirty="0"/>
              <a:t>Enable online payments</a:t>
            </a:r>
          </a:p>
          <a:p>
            <a:r>
              <a:rPr lang="en-US" dirty="0"/>
              <a:t>Eventually these goals become </a:t>
            </a:r>
            <a:r>
              <a:rPr lang="en-US" b="1" dirty="0"/>
              <a:t>system requirements</a:t>
            </a:r>
            <a:r>
              <a:rPr lang="en-US" dirty="0"/>
              <a:t>.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61" y="457201"/>
            <a:ext cx="8219440" cy="1046479"/>
          </a:xfrm>
        </p:spPr>
        <p:txBody>
          <a:bodyPr>
            <a:normAutofit/>
          </a:bodyPr>
          <a:lstStyle/>
          <a:p>
            <a:r>
              <a:rPr dirty="0"/>
              <a:t>Goal </a:t>
            </a:r>
            <a:r>
              <a:rPr lang="en-US" dirty="0" smtClean="0"/>
              <a:t>Decomposition &amp; </a:t>
            </a:r>
            <a:r>
              <a:rPr dirty="0" smtClean="0"/>
              <a:t>Relationships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32000"/>
            <a:ext cx="7704667" cy="3967816"/>
          </a:xfrm>
        </p:spPr>
        <p:txBody>
          <a:bodyPr>
            <a:normAutofit lnSpcReduction="10000"/>
          </a:bodyPr>
          <a:lstStyle/>
          <a:p>
            <a:r>
              <a:rPr dirty="0"/>
              <a:t>AND decomposition: all sub-goals required</a:t>
            </a:r>
          </a:p>
          <a:p>
            <a:r>
              <a:rPr dirty="0"/>
              <a:t>OR decomposition: any one sub-goal </a:t>
            </a:r>
            <a:r>
              <a:rPr dirty="0" smtClean="0"/>
              <a:t>sufficient</a:t>
            </a:r>
            <a:endParaRPr lang="en-US" dirty="0" smtClean="0"/>
          </a:p>
          <a:p>
            <a:pPr marL="0" indent="0">
              <a:buNone/>
            </a:pPr>
            <a:r>
              <a:rPr lang="en-US" b="1" dirty="0"/>
              <a:t>Contribution Links (Impacts):</a:t>
            </a:r>
            <a:r>
              <a:rPr lang="en-US" dirty="0"/>
              <a:t> Used primarily for </a:t>
            </a:r>
            <a:r>
              <a:rPr lang="en-US" dirty="0" err="1"/>
              <a:t>softgoals</a:t>
            </a:r>
            <a:r>
              <a:rPr lang="en-US" dirty="0"/>
              <a:t> to show how a task affects an objective.</a:t>
            </a:r>
          </a:p>
          <a:p>
            <a:r>
              <a:rPr lang="en-US" b="1" dirty="0"/>
              <a:t>Make (++):</a:t>
            </a:r>
            <a:r>
              <a:rPr lang="en-US" dirty="0"/>
              <a:t> Strongly positive impact.</a:t>
            </a:r>
          </a:p>
          <a:p>
            <a:r>
              <a:rPr lang="en-US" b="1" dirty="0"/>
              <a:t>Help (+):</a:t>
            </a:r>
            <a:r>
              <a:rPr lang="en-US" dirty="0"/>
              <a:t> Weakly positive impact.</a:t>
            </a:r>
          </a:p>
          <a:p>
            <a:r>
              <a:rPr lang="en-US" b="1" dirty="0"/>
              <a:t>Hurt (-):</a:t>
            </a:r>
            <a:r>
              <a:rPr lang="en-US" dirty="0"/>
              <a:t> Weakly negative impact.</a:t>
            </a:r>
          </a:p>
          <a:p>
            <a:r>
              <a:rPr lang="en-US" b="1" dirty="0"/>
              <a:t>Break (--):</a:t>
            </a:r>
            <a:r>
              <a:rPr lang="en-US" dirty="0"/>
              <a:t> Strongly negative impact.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 decomposition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AND relationship</a:t>
            </a:r>
            <a:r>
              <a:rPr lang="en-US" dirty="0"/>
              <a:t> means </a:t>
            </a:r>
            <a:r>
              <a:rPr lang="en-US" b="1" dirty="0"/>
              <a:t>all sub-goals must be satisfied</a:t>
            </a:r>
            <a:r>
              <a:rPr lang="en-US" dirty="0"/>
              <a:t> to achieve the main goal.</a:t>
            </a:r>
          </a:p>
          <a:p>
            <a:r>
              <a:rPr lang="en-US" dirty="0"/>
              <a:t>If even one sub-goal fails, the main goal fails.</a:t>
            </a:r>
          </a:p>
          <a:p>
            <a:r>
              <a:rPr lang="en-US" b="1" dirty="0"/>
              <a:t>Example – Smart Parking System</a:t>
            </a:r>
          </a:p>
          <a:p>
            <a:r>
              <a:rPr lang="en-US" dirty="0"/>
              <a:t>Main Goal</a:t>
            </a:r>
            <a:br>
              <a:rPr lang="en-US" dirty="0"/>
            </a:br>
            <a:r>
              <a:rPr lang="en-US" b="1" dirty="0"/>
              <a:t>Enable Online Parking Service</a:t>
            </a:r>
            <a:endParaRPr lang="en-US" dirty="0"/>
          </a:p>
          <a:p>
            <a:r>
              <a:rPr lang="en-US" dirty="0"/>
              <a:t>To achieve this, several things must happen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Parking spaces must be </a:t>
            </a:r>
            <a:r>
              <a:rPr lang="en-US" dirty="0" smtClean="0"/>
              <a:t>detected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mobile application must </a:t>
            </a:r>
            <a:r>
              <a:rPr lang="en-US" dirty="0" smtClean="0"/>
              <a:t>exist</a:t>
            </a:r>
          </a:p>
          <a:p>
            <a:pPr lvl="1"/>
            <a:r>
              <a:rPr lang="en-US" dirty="0" smtClean="0"/>
              <a:t>Payment </a:t>
            </a:r>
            <a:r>
              <a:rPr lang="en-US" dirty="0"/>
              <a:t>must be processed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6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 Decomposition (OR Goal)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An </a:t>
            </a:r>
            <a:r>
              <a:rPr lang="en-US" b="1" dirty="0"/>
              <a:t>OR relationship</a:t>
            </a:r>
            <a:r>
              <a:rPr lang="en-US" dirty="0"/>
              <a:t> means </a:t>
            </a:r>
            <a:r>
              <a:rPr lang="en-US" b="1" dirty="0"/>
              <a:t>any one sub-goal can achieve the main goal</a:t>
            </a:r>
            <a:r>
              <a:rPr lang="en-US" dirty="0"/>
              <a:t>.</a:t>
            </a:r>
          </a:p>
          <a:p>
            <a:r>
              <a:rPr lang="en-US" dirty="0"/>
              <a:t>Multiple alternative solutions exist.</a:t>
            </a:r>
          </a:p>
          <a:p>
            <a:r>
              <a:rPr lang="en-US" b="1" dirty="0"/>
              <a:t>Example – Parking Reservation</a:t>
            </a:r>
          </a:p>
          <a:p>
            <a:r>
              <a:rPr lang="en-US" dirty="0"/>
              <a:t>Goal</a:t>
            </a:r>
            <a:br>
              <a:rPr lang="en-US" dirty="0"/>
            </a:br>
            <a:r>
              <a:rPr lang="en-US" b="1" dirty="0"/>
              <a:t>Allow Parking Reservation</a:t>
            </a:r>
            <a:endParaRPr lang="en-US" dirty="0"/>
          </a:p>
          <a:p>
            <a:r>
              <a:rPr lang="en-US" dirty="0"/>
              <a:t>There are multiple ways to achieve it</a:t>
            </a:r>
            <a:r>
              <a:rPr lang="en-US" dirty="0" smtClean="0"/>
              <a:t>.</a:t>
            </a:r>
          </a:p>
          <a:p>
            <a:r>
              <a:rPr lang="en-US" dirty="0"/>
              <a:t>Drivers can reserve parking by:</a:t>
            </a:r>
          </a:p>
          <a:p>
            <a:pPr lvl="1"/>
            <a:r>
              <a:rPr lang="en-US" dirty="0"/>
              <a:t>Mobile application</a:t>
            </a:r>
            <a:br>
              <a:rPr lang="en-US" dirty="0"/>
            </a:br>
            <a:r>
              <a:rPr lang="en-US" dirty="0"/>
              <a:t>OR</a:t>
            </a:r>
          </a:p>
          <a:p>
            <a:pPr lvl="1"/>
            <a:r>
              <a:rPr lang="en-US" dirty="0"/>
              <a:t>Parking kiosk machine</a:t>
            </a:r>
          </a:p>
          <a:p>
            <a:r>
              <a:rPr lang="en-US" dirty="0"/>
              <a:t>Either option satisfies the goal</a:t>
            </a:r>
            <a:r>
              <a:rPr lang="en-US" dirty="0" smtClean="0"/>
              <a:t>.	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532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Conflicts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Some goals conflict with others</a:t>
            </a:r>
          </a:p>
          <a:p>
            <a:r>
              <a:rPr dirty="0"/>
              <a:t>Example: security vs usability</a:t>
            </a:r>
          </a:p>
          <a:p>
            <a:r>
              <a:rPr dirty="0"/>
              <a:t>Goal modeling helps analyze </a:t>
            </a:r>
            <a:r>
              <a:rPr dirty="0" smtClean="0"/>
              <a:t>trade-offs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pPr lvl="1"/>
            <a:r>
              <a:rPr lang="en-US" dirty="0"/>
              <a:t>Goal 1</a:t>
            </a:r>
            <a:br>
              <a:rPr lang="en-US" dirty="0"/>
            </a:br>
            <a:r>
              <a:rPr lang="en-US" dirty="0"/>
              <a:t>Provide strong security</a:t>
            </a:r>
          </a:p>
          <a:p>
            <a:pPr lvl="1"/>
            <a:r>
              <a:rPr lang="en-US" dirty="0"/>
              <a:t>Goal 2</a:t>
            </a:r>
            <a:br>
              <a:rPr lang="en-US" dirty="0"/>
            </a:br>
            <a:r>
              <a:rPr lang="en-US" dirty="0"/>
              <a:t>Provide quick access</a:t>
            </a:r>
          </a:p>
          <a:p>
            <a:r>
              <a:rPr lang="en-US" dirty="0"/>
              <a:t>More security can slow down access.</a:t>
            </a:r>
          </a:p>
          <a:p>
            <a:r>
              <a:rPr lang="en-US" dirty="0"/>
              <a:t>Goal modeling helps analyze and balance such trade-offs.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Goal Modeling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81200"/>
            <a:ext cx="7704667" cy="4018616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While </a:t>
            </a:r>
            <a:r>
              <a:rPr lang="en-US" dirty="0"/>
              <a:t>the core concepts remain the same, several frameworks provide specific notations and methodologies:</a:t>
            </a:r>
          </a:p>
          <a:p>
            <a:r>
              <a:rPr lang="en-US" b="1" dirty="0" smtClean="0"/>
              <a:t>KAOS </a:t>
            </a:r>
            <a:r>
              <a:rPr lang="en-US" b="1" dirty="0"/>
              <a:t>(Knowledge Acquisition in automated Specification</a:t>
            </a:r>
            <a:r>
              <a:rPr lang="en-US" b="1" dirty="0" smtClean="0"/>
              <a:t>):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Focuses on formal, mathematically rigorous goal refinement and system behavior</a:t>
            </a:r>
            <a:r>
              <a:rPr lang="en-US" dirty="0" smtClean="0"/>
              <a:t>.</a:t>
            </a:r>
          </a:p>
          <a:p>
            <a:r>
              <a:rPr dirty="0" err="1" smtClean="0"/>
              <a:t>i</a:t>
            </a:r>
            <a:r>
              <a:rPr dirty="0"/>
              <a:t>* (</a:t>
            </a:r>
            <a:r>
              <a:rPr dirty="0" err="1"/>
              <a:t>i</a:t>
            </a:r>
            <a:r>
              <a:rPr dirty="0"/>
              <a:t>-star</a:t>
            </a:r>
            <a:r>
              <a:rPr dirty="0" smtClean="0"/>
              <a:t>)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Focuses on actors, their intentions, and social dependencies.</a:t>
            </a:r>
            <a:endParaRPr dirty="0"/>
          </a:p>
          <a:p>
            <a:r>
              <a:rPr dirty="0" err="1" smtClean="0"/>
              <a:t>Tropos</a:t>
            </a:r>
            <a:endParaRPr lang="en-US" dirty="0" smtClean="0"/>
          </a:p>
          <a:p>
            <a:pPr lvl="1"/>
            <a:r>
              <a:rPr lang="en-US" dirty="0" err="1" smtClean="0"/>
              <a:t>Tropos</a:t>
            </a:r>
            <a:r>
              <a:rPr lang="en-US" dirty="0" smtClean="0"/>
              <a:t> </a:t>
            </a:r>
            <a:r>
              <a:rPr lang="en-US" dirty="0"/>
              <a:t>is unique because it takes the goal-oriented, agent-based philosophy and stretches it across the </a:t>
            </a:r>
            <a:r>
              <a:rPr lang="en-US" b="1" dirty="0"/>
              <a:t>entire software development lifecycle</a:t>
            </a:r>
            <a:r>
              <a:rPr lang="en-US" dirty="0"/>
              <a:t>.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10639"/>
          </a:xfrm>
        </p:spPr>
        <p:txBody>
          <a:bodyPr/>
          <a:lstStyle/>
          <a:p>
            <a:r>
              <a:rPr lang="en-US" b="1" dirty="0"/>
              <a:t>The KAOS Framework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Core </a:t>
            </a:r>
            <a:r>
              <a:rPr lang="en-US" b="1" dirty="0"/>
              <a:t>Philosophy:</a:t>
            </a:r>
            <a:r>
              <a:rPr lang="en-US" dirty="0"/>
              <a:t> A systematic, formal approach from high-level goals down to precise object models and state transitions.</a:t>
            </a:r>
          </a:p>
          <a:p>
            <a:r>
              <a:rPr lang="en-US" b="1" dirty="0"/>
              <a:t>Key Elements:</a:t>
            </a:r>
            <a:endParaRPr lang="en-US" dirty="0"/>
          </a:p>
          <a:p>
            <a:pPr lvl="1"/>
            <a:r>
              <a:rPr lang="en-US" b="1" dirty="0"/>
              <a:t>Goal Model:</a:t>
            </a:r>
            <a:r>
              <a:rPr lang="en-US" dirty="0"/>
              <a:t> AND/OR graphs of goals.</a:t>
            </a:r>
          </a:p>
          <a:p>
            <a:pPr lvl="1"/>
            <a:r>
              <a:rPr lang="en-US" b="1" dirty="0"/>
              <a:t>Responsibility Model:</a:t>
            </a:r>
            <a:r>
              <a:rPr lang="en-US" dirty="0"/>
              <a:t> Assigning terminal goals (requirements) to specific agents.</a:t>
            </a:r>
          </a:p>
          <a:p>
            <a:pPr lvl="1"/>
            <a:r>
              <a:rPr lang="en-US" b="1" dirty="0"/>
              <a:t>Object Model:</a:t>
            </a:r>
            <a:r>
              <a:rPr lang="en-US" dirty="0"/>
              <a:t> The domain entities involved in the goals.</a:t>
            </a:r>
          </a:p>
          <a:p>
            <a:pPr lvl="1"/>
            <a:r>
              <a:rPr lang="en-US" b="1" dirty="0"/>
              <a:t>Operation Model:</a:t>
            </a:r>
            <a:r>
              <a:rPr lang="en-US" dirty="0"/>
              <a:t> The specific system behaviors that fulfill the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7799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The </a:t>
            </a:r>
            <a:r>
              <a:rPr lang="en-US" b="1" i="1" dirty="0" err="1"/>
              <a:t>i</a:t>
            </a:r>
            <a:r>
              <a:rPr lang="en-US" b="1" i="1" dirty="0"/>
              <a:t> (</a:t>
            </a:r>
            <a:r>
              <a:rPr lang="en-US" b="1" i="1" dirty="0" err="1"/>
              <a:t>i</a:t>
            </a:r>
            <a:r>
              <a:rPr lang="en-US" b="1" i="1" dirty="0"/>
              <a:t>-star) Framework</a:t>
            </a:r>
            <a:r>
              <a:rPr lang="en-US" b="1" dirty="0"/>
              <a:t>*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879834"/>
            <a:ext cx="7704667" cy="368754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Core </a:t>
            </a:r>
            <a:r>
              <a:rPr lang="en-US" b="1" dirty="0"/>
              <a:t>Philosophy:</a:t>
            </a:r>
            <a:r>
              <a:rPr lang="en-US" dirty="0"/>
              <a:t> Systems involve social networks of intentional actors who depend on each other.</a:t>
            </a:r>
          </a:p>
          <a:p>
            <a:r>
              <a:rPr lang="en-US" b="1" dirty="0"/>
              <a:t>Strategic Dependency (SD) Model:</a:t>
            </a:r>
            <a:r>
              <a:rPr lang="en-US" dirty="0"/>
              <a:t> Shows </a:t>
            </a:r>
            <a:r>
              <a:rPr lang="en-US" i="1" dirty="0"/>
              <a:t>who</a:t>
            </a:r>
            <a:r>
              <a:rPr lang="en-US" dirty="0"/>
              <a:t> depends on </a:t>
            </a:r>
            <a:r>
              <a:rPr lang="en-US" i="1" dirty="0"/>
              <a:t>whom</a:t>
            </a:r>
            <a:r>
              <a:rPr lang="en-US" dirty="0"/>
              <a:t> for </a:t>
            </a:r>
            <a:r>
              <a:rPr lang="en-US" i="1" dirty="0"/>
              <a:t>what</a:t>
            </a:r>
            <a:r>
              <a:rPr lang="en-US" dirty="0"/>
              <a:t> (Goals, Tasks, Resources).</a:t>
            </a:r>
          </a:p>
          <a:p>
            <a:r>
              <a:rPr lang="en-US" b="1" dirty="0"/>
              <a:t>Strategic Rationale (SR) Model:</a:t>
            </a:r>
            <a:r>
              <a:rPr lang="en-US" dirty="0"/>
              <a:t> Looks "inside" an actor to show how their internal goals are met and what alternatives exist</a:t>
            </a:r>
            <a:r>
              <a:rPr lang="en-US" dirty="0" smtClean="0"/>
              <a:t>.</a:t>
            </a:r>
          </a:p>
          <a:p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A bank might depend on an IT provider for "System Maintenance," which is broken down into "Regular Updates" and "Security Patches</a:t>
            </a:r>
            <a:r>
              <a:rPr lang="en-US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."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10342"/>
          </a:xfrm>
        </p:spPr>
        <p:txBody>
          <a:bodyPr/>
          <a:lstStyle/>
          <a:p>
            <a:r>
              <a:rPr lang="en-US" b="1" dirty="0" smtClean="0"/>
              <a:t>The </a:t>
            </a:r>
            <a:r>
              <a:rPr lang="en-US" b="1" dirty="0" err="1"/>
              <a:t>Tropos</a:t>
            </a:r>
            <a:r>
              <a:rPr lang="en-US" b="1" dirty="0"/>
              <a:t> </a:t>
            </a:r>
            <a:r>
              <a:rPr lang="en-US" b="1" dirty="0" smtClean="0"/>
              <a:t>Methodology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91559"/>
            <a:ext cx="7704667" cy="390825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What </a:t>
            </a:r>
            <a:r>
              <a:rPr lang="en-US" b="1" dirty="0"/>
              <a:t>is </a:t>
            </a:r>
            <a:r>
              <a:rPr lang="en-US" b="1" dirty="0" err="1"/>
              <a:t>Tropos</a:t>
            </a:r>
            <a:r>
              <a:rPr lang="en-US" b="1" dirty="0"/>
              <a:t>?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An </a:t>
            </a:r>
            <a:r>
              <a:rPr lang="en-US" dirty="0"/>
              <a:t>agent-oriented software development methodology tailored for distributed, complex systems.</a:t>
            </a:r>
          </a:p>
          <a:p>
            <a:r>
              <a:rPr lang="en-US" i="1" dirty="0"/>
              <a:t>The </a:t>
            </a:r>
            <a:r>
              <a:rPr lang="en-US" i="1" dirty="0" err="1"/>
              <a:t>i</a:t>
            </a:r>
            <a:r>
              <a:rPr lang="en-US" i="1" dirty="0"/>
              <a:t> Connection:</a:t>
            </a:r>
            <a:r>
              <a:rPr lang="en-US" dirty="0"/>
              <a:t>* </a:t>
            </a:r>
            <a:endParaRPr lang="en-US" dirty="0" smtClean="0"/>
          </a:p>
          <a:p>
            <a:pPr lvl="1"/>
            <a:r>
              <a:rPr lang="en-US" dirty="0" err="1" smtClean="0"/>
              <a:t>Tropos</a:t>
            </a:r>
            <a:r>
              <a:rPr lang="en-US" dirty="0" smtClean="0"/>
              <a:t> </a:t>
            </a:r>
            <a:r>
              <a:rPr lang="en-US" dirty="0"/>
              <a:t>adopts the </a:t>
            </a:r>
            <a:r>
              <a:rPr lang="en-US" i="1" dirty="0" err="1"/>
              <a:t>i</a:t>
            </a:r>
            <a:r>
              <a:rPr lang="en-US" dirty="0"/>
              <a:t>* (</a:t>
            </a:r>
            <a:r>
              <a:rPr lang="en-US" dirty="0" err="1"/>
              <a:t>i</a:t>
            </a:r>
            <a:r>
              <a:rPr lang="en-US" dirty="0"/>
              <a:t>-star) modeling language (Actors, Goals, Tasks, Resources, Dependencies) as its foundational notation.</a:t>
            </a:r>
          </a:p>
          <a:p>
            <a:r>
              <a:rPr lang="en-US" b="1" dirty="0"/>
              <a:t>The Big Differentiator: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Instead </a:t>
            </a:r>
            <a:r>
              <a:rPr lang="en-US" dirty="0"/>
              <a:t>of changing modeling languages when moving from requirements to design (e.g., switching from Goal Models to UML Class Diagrams), </a:t>
            </a:r>
            <a:r>
              <a:rPr lang="en-US" dirty="0" err="1"/>
              <a:t>Tropos</a:t>
            </a:r>
            <a:r>
              <a:rPr lang="en-US" dirty="0"/>
              <a:t> uses the </a:t>
            </a:r>
            <a:r>
              <a:rPr lang="en-US" i="1" dirty="0"/>
              <a:t>exact same</a:t>
            </a:r>
            <a:r>
              <a:rPr lang="en-US" dirty="0"/>
              <a:t> agent-oriented concepts from the first stakeholder meeting all the way down to writing the code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74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Analyzing and Evaluating Goal Models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Qualitative </a:t>
            </a:r>
            <a:r>
              <a:rPr lang="en-US" b="1" dirty="0"/>
              <a:t>Evaluation:</a:t>
            </a:r>
            <a:r>
              <a:rPr lang="en-US" dirty="0"/>
              <a:t> Using contribution links (+, -, etc.) to evaluate if a </a:t>
            </a:r>
            <a:r>
              <a:rPr lang="en-US" dirty="0" err="1"/>
              <a:t>softgoal</a:t>
            </a:r>
            <a:r>
              <a:rPr lang="en-US" dirty="0"/>
              <a:t> is sufficiently "satisficed" based on chosen design alternatives.</a:t>
            </a:r>
          </a:p>
          <a:p>
            <a:r>
              <a:rPr lang="en-US" b="1" dirty="0"/>
              <a:t>Quantitative Evaluation:</a:t>
            </a:r>
            <a:r>
              <a:rPr lang="en-US" dirty="0"/>
              <a:t> Assigning numerical weights and probabilities to goals for mathematical decision-making.</a:t>
            </a:r>
          </a:p>
          <a:p>
            <a:r>
              <a:rPr lang="en-US" b="1" dirty="0"/>
              <a:t>Identifying Obstacles:</a:t>
            </a:r>
            <a:r>
              <a:rPr lang="en-US" dirty="0"/>
              <a:t> Modeling anti-goals (things we </a:t>
            </a:r>
            <a:r>
              <a:rPr lang="en-US" i="1" dirty="0"/>
              <a:t>don't</a:t>
            </a:r>
            <a:r>
              <a:rPr lang="en-US" dirty="0"/>
              <a:t> want to happen, like "System hacked") and designing mitigation goals.</a:t>
            </a:r>
          </a:p>
        </p:txBody>
      </p:sp>
    </p:spTree>
    <p:extLst>
      <p:ext uri="{BB962C8B-B14F-4D97-AF65-F5344CB8AC3E}">
        <p14:creationId xmlns:p14="http://schemas.microsoft.com/office/powerpoint/2010/main" val="274883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95679"/>
          </a:xfrm>
        </p:spPr>
        <p:txBody>
          <a:bodyPr>
            <a:normAutofit fontScale="90000"/>
          </a:bodyPr>
          <a:lstStyle/>
          <a:p>
            <a:r>
              <a:rPr lang="en-US" altLang="en-US" sz="3200" b="1" dirty="0" smtClean="0">
                <a:ln>
                  <a:noFill/>
                </a:ln>
                <a:latin typeface="Google Sans Text"/>
              </a:rPr>
              <a:t/>
            </a:r>
            <a:br>
              <a:rPr lang="en-US" altLang="en-US" sz="3200" b="1" dirty="0" smtClean="0">
                <a:ln>
                  <a:noFill/>
                </a:ln>
                <a:latin typeface="Google Sans Text"/>
              </a:rPr>
            </a:br>
            <a:r>
              <a:rPr lang="en-US" altLang="en-US" sz="3200" b="1" dirty="0" smtClean="0">
                <a:ln>
                  <a:noFill/>
                </a:ln>
                <a:latin typeface="Google Sans Text"/>
              </a:rPr>
              <a:t>Qualitative </a:t>
            </a:r>
            <a:r>
              <a:rPr lang="en-US" altLang="en-US" sz="3200" b="1" dirty="0">
                <a:ln>
                  <a:noFill/>
                </a:ln>
                <a:latin typeface="Google Sans Text"/>
              </a:rPr>
              <a:t>Evaluation – Satisficing </a:t>
            </a:r>
            <a:r>
              <a:rPr lang="en-US" altLang="en-US" sz="3200" b="1" dirty="0" err="1">
                <a:ln>
                  <a:noFill/>
                </a:ln>
                <a:latin typeface="Google Sans Text"/>
              </a:rPr>
              <a:t>Softgoals</a:t>
            </a:r>
            <a:r>
              <a:rPr lang="en-US" altLang="en-US" sz="3200" b="1" dirty="0">
                <a:ln>
                  <a:noFill/>
                </a:ln>
                <a:latin typeface="Google Sans"/>
              </a:rPr>
              <a:t/>
            </a:r>
            <a:br>
              <a:rPr lang="en-US" altLang="en-US" sz="3200" b="1" dirty="0">
                <a:ln>
                  <a:noFill/>
                </a:ln>
                <a:latin typeface="Google Sans"/>
              </a:rPr>
            </a:br>
            <a:endParaRPr lang="en-US" sz="32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741680" y="1852990"/>
            <a:ext cx="7945120" cy="450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Challenge: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How do we measure things that don't have hard numbers, like "Security" or "Usability"?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Concept of "Satisficing":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 term coined by Herbert Simon (Satisfy + Suffice). It means a goal is met to an </a:t>
            </a:r>
            <a: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acceptable degree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rather than strictly verified.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Contribution Links: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We evaluate alternatives based on how they impact higher-level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softgoals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using qualitative labels: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Make (++):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Task guarantees the goal is satisficed.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Help (+):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Task partially contributes to the goal.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Hurt (-):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Task partially prevents the goal.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Break (--):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Task completely denies the goal.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Bottom-Up Propagation: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We start at the bottom of the graph (the concrete tasks) and propagate these labels upwards.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If a task "Helps" Usability but "Hurts" Security, stakeholders can visually see the trade-off and make a judgment call.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8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00479"/>
          </a:xfrm>
        </p:spPr>
        <p:txBody>
          <a:bodyPr>
            <a:normAutofit fontScale="90000"/>
          </a:bodyPr>
          <a:lstStyle/>
          <a:p>
            <a:r>
              <a:rPr lang="en-US" dirty="0"/>
              <a:t>Quantitative Evaluation – Doing the Math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09296" y="1904772"/>
            <a:ext cx="774612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The Challenge: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Sometimes qualitative labels are too vague. When deciding between a $100k system architecture and a $500k one, stakeholders want numbers.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Assigning Weights: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Higher-level goals are assigned numerical weights based on priority (e.g., Security = 0.7, Performance = 0.3).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Assigning Scores/Probabilities: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Alternative tasks or system designs are given scores based on how well they fulfill the goals (e.g., Task A has a 90% probability of meeting the Performance goal, but only 40% for Security).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Utility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multiplying the weights by the scores and summing them up, you can calculate a final "Utility Score" for different design alternatives.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Result: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team simply chooses the architectural alternative that yields the highest overall mathematical score.</a:t>
            </a:r>
          </a:p>
        </p:txBody>
      </p:sp>
    </p:spTree>
    <p:extLst>
      <p:ext uri="{BB962C8B-B14F-4D97-AF65-F5344CB8AC3E}">
        <p14:creationId xmlns:p14="http://schemas.microsoft.com/office/powerpoint/2010/main" val="16944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8080587" cy="7213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Obstacle Analysis – Expecting the Unexpected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67840"/>
            <a:ext cx="7704667" cy="450629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What </a:t>
            </a:r>
            <a:r>
              <a:rPr lang="en-US" b="1" dirty="0"/>
              <a:t>is an Obstacle</a:t>
            </a:r>
            <a:r>
              <a:rPr lang="en-US" b="1" dirty="0" smtClean="0"/>
              <a:t>?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A precondition or event that prevents a goal from being achieved. (e.g., Goal: "User is Authenticated." Obstacle: "User forgot password" or "Server is down").</a:t>
            </a:r>
          </a:p>
          <a:p>
            <a:r>
              <a:rPr lang="en-US" b="1" dirty="0"/>
              <a:t>Why Model Them</a:t>
            </a:r>
            <a:r>
              <a:rPr lang="en-US" b="1" dirty="0" smtClean="0"/>
              <a:t>?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System failures rarely happen because of what the system </a:t>
            </a:r>
            <a:r>
              <a:rPr lang="en-US" i="1" dirty="0"/>
              <a:t>does</a:t>
            </a:r>
            <a:r>
              <a:rPr lang="en-US" dirty="0"/>
              <a:t>; they happen because of what the system </a:t>
            </a:r>
            <a:r>
              <a:rPr lang="en-US" i="1" dirty="0"/>
              <a:t>failed to anticipate</a:t>
            </a:r>
            <a:r>
              <a:rPr lang="en-US" dirty="0"/>
              <a:t>. KAOS is specifically famous for rigorous obstacle analysis.</a:t>
            </a:r>
          </a:p>
          <a:p>
            <a:r>
              <a:rPr lang="en-US" b="1" dirty="0"/>
              <a:t>The Process:</a:t>
            </a:r>
            <a:endParaRPr lang="en-US" dirty="0"/>
          </a:p>
          <a:p>
            <a:pPr lvl="1"/>
            <a:r>
              <a:rPr lang="en-US" b="1" dirty="0"/>
              <a:t>Identify Obstacles:</a:t>
            </a:r>
            <a:r>
              <a:rPr lang="en-US" dirty="0"/>
              <a:t> Take every terminal goal and ask, "How could this fail?" (Often done using fault-tree analysis).</a:t>
            </a:r>
          </a:p>
          <a:p>
            <a:pPr lvl="1"/>
            <a:r>
              <a:rPr lang="en-US" b="1" dirty="0"/>
              <a:t>Assess Impact:</a:t>
            </a:r>
            <a:r>
              <a:rPr lang="en-US" dirty="0"/>
              <a:t> Is this a minor annoyance or a critical failure?</a:t>
            </a:r>
          </a:p>
          <a:p>
            <a:pPr lvl="1"/>
            <a:r>
              <a:rPr lang="en-US" b="1" dirty="0"/>
              <a:t>Generate Resolutions:</a:t>
            </a:r>
            <a:r>
              <a:rPr lang="en-US" dirty="0"/>
              <a:t> We alter the goal model to handle the obstacle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85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Parking System</a:t>
            </a:r>
          </a:p>
          <a:p>
            <a:r>
              <a:t>Drivers waste time searching for parking</a:t>
            </a:r>
          </a:p>
          <a:p>
            <a:r>
              <a:t>Goal: Reduce parking search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Urban Parking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parking availability</a:t>
            </a:r>
          </a:p>
          <a:p>
            <a:r>
              <a:t>Provide mobile application</a:t>
            </a:r>
          </a:p>
          <a:p>
            <a:r>
              <a:t>Enable parking reservation</a:t>
            </a:r>
          </a:p>
          <a:p>
            <a:r>
              <a:t>Enable digital payment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sensors</a:t>
            </a:r>
          </a:p>
          <a:p>
            <a:r>
              <a:t>Develop mobile application</a:t>
            </a:r>
          </a:p>
          <a:p>
            <a:r>
              <a:t>Integrate payment gateway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to Requirement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Provide parking information</a:t>
            </a:r>
          </a:p>
          <a:p>
            <a:r>
              <a:t>Requirement: System shall display real-time parking availability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Terminologies used </a:t>
            </a:r>
            <a:r>
              <a:rPr lang="en-US" dirty="0"/>
              <a:t>in Goal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dirty="0" smtClean="0"/>
              <a:t>Goals </a:t>
            </a:r>
            <a:r>
              <a:rPr lang="en-US" dirty="0"/>
              <a:t>(Optional Goals, Mandatory Goals)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Tasks and </a:t>
            </a:r>
            <a:r>
              <a:rPr lang="en-US" dirty="0" smtClean="0"/>
              <a:t>Plans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AND </a:t>
            </a:r>
            <a:r>
              <a:rPr lang="en-US" dirty="0"/>
              <a:t>/ OR decomposition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Precedence Links( +</a:t>
            </a:r>
            <a:r>
              <a:rPr lang="en-US" dirty="0" err="1"/>
              <a:t>ive</a:t>
            </a:r>
            <a:r>
              <a:rPr lang="en-US" dirty="0"/>
              <a:t> and –</a:t>
            </a:r>
            <a:r>
              <a:rPr lang="en-US" dirty="0" err="1"/>
              <a:t>ive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8545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FDD4D7-2EFC-40C4-AE0E-52B76539B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995" y="5712572"/>
            <a:ext cx="5920205" cy="845744"/>
          </a:xfr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59" y="599090"/>
            <a:ext cx="7999467" cy="499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783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84" y="299546"/>
            <a:ext cx="8293764" cy="6027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317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+</a:t>
            </a:r>
            <a:r>
              <a:rPr lang="en-US" dirty="0" err="1" smtClean="0"/>
              <a:t>ve</a:t>
            </a:r>
            <a:r>
              <a:rPr lang="en-US" dirty="0" smtClean="0"/>
              <a:t> Precedence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82133" y="3179246"/>
            <a:ext cx="728757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 Authentication → Reserve Parking Slot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Explanation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must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in first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 they can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reserve parking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authentication fails → reservation cannot proceed.</a:t>
            </a:r>
          </a:p>
        </p:txBody>
      </p:sp>
    </p:spTree>
    <p:extLst>
      <p:ext uri="{BB962C8B-B14F-4D97-AF65-F5344CB8AC3E}">
        <p14:creationId xmlns:p14="http://schemas.microsoft.com/office/powerpoint/2010/main" val="150932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-</a:t>
            </a:r>
            <a:r>
              <a:rPr lang="en-US" dirty="0" err="1" smtClean="0"/>
              <a:t>ve</a:t>
            </a:r>
            <a:r>
              <a:rPr lang="en-US" dirty="0" smtClean="0"/>
              <a:t> Precedence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45067" y="2477750"/>
            <a:ext cx="7521584" cy="449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precedence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means one action or goal must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happen before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another, or one condition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another.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of it as: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“This should not occur unless something else has happened”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“If this happens, that must NOT happen”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Example – Smart Parking </a:t>
            </a:r>
            <a:r>
              <a:rPr lang="en-US" altLang="en-US" sz="1800" b="1" dirty="0" err="1">
                <a:latin typeface="Arial" panose="020B0604020202020204" pitchFamily="34" charset="0"/>
              </a:rPr>
              <a:t>SystemPayment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Payment Failed ⟶ NOT Confirm </a:t>
            </a:r>
            <a:r>
              <a:rPr lang="en-US" altLang="en-US" sz="1800" dirty="0" smtClean="0">
                <a:latin typeface="Arial" panose="020B0604020202020204" pitchFamily="34" charset="0"/>
              </a:rPr>
              <a:t>Booking</a:t>
            </a:r>
          </a:p>
          <a:p>
            <a:r>
              <a:rPr lang="en-US" sz="1800" b="1" dirty="0"/>
              <a:t>Explanation</a:t>
            </a:r>
          </a:p>
          <a:p>
            <a:r>
              <a:rPr lang="en-US" sz="1800" dirty="0"/>
              <a:t>If payment fails</a:t>
            </a:r>
          </a:p>
          <a:p>
            <a:r>
              <a:rPr lang="en-US" sz="1800" dirty="0"/>
              <a:t>System must </a:t>
            </a:r>
            <a:r>
              <a:rPr lang="en-US" sz="1800" b="1" dirty="0"/>
              <a:t>prevent booking confirmation</a:t>
            </a:r>
            <a:endParaRPr lang="en-US" sz="1800" dirty="0"/>
          </a:p>
          <a:p>
            <a:r>
              <a:rPr lang="en-US" sz="1800" dirty="0"/>
              <a:t>This is a </a:t>
            </a:r>
            <a:r>
              <a:rPr lang="en-US" sz="1800" b="1" dirty="0"/>
              <a:t>safety constraint</a:t>
            </a:r>
            <a:r>
              <a:rPr lang="en-US" sz="1800" dirty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25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GORE focuses on stakeholder intentions</a:t>
            </a:r>
          </a:p>
          <a:p>
            <a:r>
              <a:t>Goals are refined into requirements</a:t>
            </a:r>
          </a:p>
          <a:p>
            <a:r>
              <a:t>Goal models support better system design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363</TotalTime>
  <Words>1565</Words>
  <Application>Microsoft Office PowerPoint</Application>
  <PresentationFormat>On-screen Show (4:3)</PresentationFormat>
  <Paragraphs>207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Arial Unicode MS</vt:lpstr>
      <vt:lpstr>Calibri</vt:lpstr>
      <vt:lpstr>Corbel</vt:lpstr>
      <vt:lpstr>Google Sans</vt:lpstr>
      <vt:lpstr>Google Sans Text</vt:lpstr>
      <vt:lpstr>Times New Roman</vt:lpstr>
      <vt:lpstr>Wingdings</vt:lpstr>
      <vt:lpstr>Parallax</vt:lpstr>
      <vt:lpstr>Goal-Oriented Requirements Engineering (GORE)</vt:lpstr>
      <vt:lpstr>Learning Objectives</vt:lpstr>
      <vt:lpstr>What is Goal-Oriented RE?</vt:lpstr>
      <vt:lpstr>Why Use Goal Models?</vt:lpstr>
      <vt:lpstr>What is a Goal in RE?</vt:lpstr>
      <vt:lpstr>Types of Goals</vt:lpstr>
      <vt:lpstr>Hard Goals → Usually Functional Requirements</vt:lpstr>
      <vt:lpstr>Soft Goals → Usually Non-Functional Requirements</vt:lpstr>
      <vt:lpstr>Goal Refinement/Goal Decomposition </vt:lpstr>
      <vt:lpstr>Goal Decomposition &amp; Relationships</vt:lpstr>
      <vt:lpstr>AND decomposition</vt:lpstr>
      <vt:lpstr>OR Decomposition (OR Goal)</vt:lpstr>
      <vt:lpstr>Goal Conflicts</vt:lpstr>
      <vt:lpstr>Goal Modeling Techniques</vt:lpstr>
      <vt:lpstr>The KAOS Framework</vt:lpstr>
      <vt:lpstr>The i (i-star) Framework*</vt:lpstr>
      <vt:lpstr>The Tropos Methodology </vt:lpstr>
      <vt:lpstr>Analyzing and Evaluating Goal Models</vt:lpstr>
      <vt:lpstr> Qualitative Evaluation – Satisficing Softgoals </vt:lpstr>
      <vt:lpstr>Quantitative Evaluation – Doing the Math</vt:lpstr>
      <vt:lpstr>Obstacle Analysis – Expecting the Unexpected</vt:lpstr>
      <vt:lpstr>Example Scenario</vt:lpstr>
      <vt:lpstr>High-Level Goal</vt:lpstr>
      <vt:lpstr>Sub Goals</vt:lpstr>
      <vt:lpstr>Tasks</vt:lpstr>
      <vt:lpstr>Goal to Requirement Example</vt:lpstr>
      <vt:lpstr>Terminologies used in Goal Models</vt:lpstr>
      <vt:lpstr>PowerPoint Presentation</vt:lpstr>
      <vt:lpstr>PowerPoint Presentation</vt:lpstr>
      <vt:lpstr>+ve Precedence</vt:lpstr>
      <vt:lpstr>-ve Precedence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Goal-Oriented Requirements Engineering (GORE)</dc:title>
  <dc:subject/>
  <dc:creator>shehla saeed</dc:creator>
  <cp:keywords/>
  <dc:description>generated using python-pptx</dc:description>
  <cp:lastModifiedBy>shehla saeed</cp:lastModifiedBy>
  <cp:revision>17</cp:revision>
  <dcterms:created xsi:type="dcterms:W3CDTF">2013-01-27T09:14:16Z</dcterms:created>
  <dcterms:modified xsi:type="dcterms:W3CDTF">2026-03-17T10:19:56Z</dcterms:modified>
  <cp:category/>
</cp:coreProperties>
</file>
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56" r:id="rId2"/>
    <p:sldId id="298" r:id="rId3"/>
    <p:sldId id="282" r:id="rId4"/>
    <p:sldId id="303" r:id="rId5"/>
    <p:sldId id="260" r:id="rId6"/>
    <p:sldId id="304" r:id="rId7"/>
    <p:sldId id="305" r:id="rId8"/>
    <p:sldId id="308" r:id="rId9"/>
    <p:sldId id="307" r:id="rId10"/>
    <p:sldId id="261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300" r:id="rId24"/>
    <p:sldId id="301" r:id="rId25"/>
    <p:sldId id="30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38" autoAdjust="0"/>
  </p:normalViewPr>
  <p:slideViewPr>
    <p:cSldViewPr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-461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E53AF-8A8C-478E-95BA-5255F401A57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19DF0-BB8B-4294-9EF9-E87F3D820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5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59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Key Exam Points</a:t>
            </a:r>
          </a:p>
          <a:p>
            <a:r>
              <a:rPr lang="en-US" b="1" dirty="0" smtClean="0"/>
              <a:t>Keeping Families Together (Furniture Set):</a:t>
            </a:r>
            <a:r>
              <a:rPr lang="en-US" dirty="0" smtClean="0"/>
              <a:t> Think of buying furniture. If you select the "Modern" factory, you are guaranteed to get a modern chair, a modern table, and a modern sofa. The pattern prevents you from accidentally pairing a sleek modern chair with a bulky Victorian table!</a:t>
            </a:r>
          </a:p>
          <a:p>
            <a:r>
              <a:rPr lang="en-US" b="1" dirty="0" smtClean="0"/>
              <a:t>Easy Swapping (Light/Dark Mode):</a:t>
            </a:r>
            <a:r>
              <a:rPr lang="en-US" dirty="0" smtClean="0"/>
              <a:t> Think about changing a software app from "Light Mode" to "Dark Mode." By simply switching the factory from </a:t>
            </a:r>
            <a:r>
              <a:rPr lang="en-US" dirty="0" err="1" smtClean="0"/>
              <a:t>LightUIFactory</a:t>
            </a:r>
            <a:r>
              <a:rPr lang="en-US" dirty="0" smtClean="0"/>
              <a:t> to </a:t>
            </a:r>
            <a:r>
              <a:rPr lang="en-US" dirty="0" err="1" smtClean="0"/>
              <a:t>DarkUIFactory</a:t>
            </a:r>
            <a:r>
              <a:rPr lang="en-US" dirty="0" smtClean="0"/>
              <a:t>, every single button, text box, and background automatically updates to the new, matching family without you having to change the code for each individual item.</a:t>
            </a:r>
          </a:p>
          <a:p>
            <a:endParaRPr lang="en-US" dirty="0" smtClean="0"/>
          </a:p>
          <a:p>
            <a:r>
              <a:rPr lang="en-US" dirty="0" smtClean="0"/>
              <a:t>Client </a:t>
            </a:r>
            <a:r>
              <a:rPr lang="en-US" dirty="0" smtClean="0"/>
              <a:t>is </a:t>
            </a:r>
            <a:r>
              <a:rPr lang="en-US" b="1" dirty="0" smtClean="0"/>
              <a:t>independent of object creation</a:t>
            </a:r>
            <a:r>
              <a:rPr lang="en-US" dirty="0" smtClean="0"/>
              <a:t> </a:t>
            </a:r>
          </a:p>
          <a:p>
            <a:r>
              <a:rPr lang="en-US" dirty="0" smtClean="0"/>
              <a:t>Supports </a:t>
            </a:r>
            <a:r>
              <a:rPr lang="en-US" b="1" dirty="0" smtClean="0"/>
              <a:t>loose coupling</a:t>
            </a:r>
            <a:r>
              <a:rPr lang="en-US" dirty="0" smtClean="0"/>
              <a:t> </a:t>
            </a:r>
          </a:p>
          <a:p>
            <a:r>
              <a:rPr lang="en-US" dirty="0" smtClean="0"/>
              <a:t>Easy to </a:t>
            </a:r>
            <a:r>
              <a:rPr lang="en-US" b="1" dirty="0" smtClean="0"/>
              <a:t>add new families of products</a:t>
            </a:r>
            <a:r>
              <a:rPr lang="en-US" dirty="0" smtClean="0"/>
              <a:t> </a:t>
            </a:r>
          </a:p>
          <a:p>
            <a:r>
              <a:rPr lang="en-US" dirty="0" smtClean="0"/>
              <a:t>Follows </a:t>
            </a:r>
            <a:r>
              <a:rPr lang="en-US" b="1" dirty="0" smtClean="0"/>
              <a:t>Open/Closed Principle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44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Abstract Factory defines an interface for creating families of related objects, </a:t>
            </a:r>
          </a:p>
          <a:p>
            <a:endParaRPr lang="en-US" dirty="0" smtClean="0"/>
          </a:p>
          <a:p>
            <a:r>
              <a:rPr lang="en-US" dirty="0" smtClean="0"/>
              <a:t>while Factory Provider is responsible for selecting and returning the appropriate factory based on client input.</a:t>
            </a:r>
          </a:p>
          <a:p>
            <a:r>
              <a:rPr lang="en-US" b="1" dirty="0" smtClean="0"/>
              <a:t>Simple Analogy</a:t>
            </a:r>
          </a:p>
          <a:p>
            <a:r>
              <a:rPr lang="en-US" b="1" dirty="0" smtClean="0"/>
              <a:t> Think of a Mall</a:t>
            </a:r>
          </a:p>
          <a:p>
            <a:r>
              <a:rPr lang="en-US" b="1" dirty="0" smtClean="0"/>
              <a:t>Factory Provider</a:t>
            </a:r>
            <a:r>
              <a:rPr lang="en-US" dirty="0" smtClean="0"/>
              <a:t> = Reception Desk</a:t>
            </a:r>
            <a:br>
              <a:rPr lang="en-US" dirty="0" smtClean="0"/>
            </a:br>
            <a:r>
              <a:rPr lang="en-US" dirty="0" smtClean="0"/>
              <a:t>Tells you which shop to go to </a:t>
            </a:r>
          </a:p>
          <a:p>
            <a:r>
              <a:rPr lang="en-US" b="1" dirty="0" smtClean="0"/>
              <a:t>Abstract Factory</a:t>
            </a:r>
            <a:r>
              <a:rPr lang="en-US" dirty="0" smtClean="0"/>
              <a:t> = Shop</a:t>
            </a:r>
            <a:br>
              <a:rPr lang="en-US" dirty="0" smtClean="0"/>
            </a:br>
            <a:r>
              <a:rPr lang="en-US" dirty="0" smtClean="0"/>
              <a:t> Gives you the product </a:t>
            </a:r>
          </a:p>
          <a:p>
            <a:r>
              <a:rPr lang="en-US" b="1" dirty="0" smtClean="0"/>
              <a:t>Product</a:t>
            </a:r>
            <a:r>
              <a:rPr lang="en-US" dirty="0" smtClean="0"/>
              <a:t> = Item you buy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04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AbstractFactory</a:t>
            </a:r>
            <a:r>
              <a:rPr lang="en-US" b="1" dirty="0" smtClean="0"/>
              <a:t> (Main Factory Interface)</a:t>
            </a:r>
          </a:p>
          <a:p>
            <a:r>
              <a:rPr lang="en-US" dirty="0" smtClean="0"/>
              <a:t>👉 </a:t>
            </a:r>
            <a:r>
              <a:rPr lang="en-US" b="1" dirty="0" smtClean="0"/>
              <a:t>What it 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</a:t>
            </a:r>
            <a:r>
              <a:rPr lang="en-US" i="1" dirty="0" smtClean="0"/>
              <a:t>blueprint for factories</a:t>
            </a:r>
            <a:endParaRPr lang="en-US" dirty="0" smtClean="0"/>
          </a:p>
          <a:p>
            <a:r>
              <a:rPr lang="en-US" dirty="0" smtClean="0"/>
              <a:t>👉 </a:t>
            </a:r>
            <a:r>
              <a:rPr lang="en-US" b="1" dirty="0" smtClean="0"/>
              <a:t>Simple idea: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It tells </a:t>
            </a:r>
            <a:r>
              <a:rPr lang="en-US" i="1" dirty="0" smtClean="0"/>
              <a:t>what a factory can create</a:t>
            </a:r>
            <a:r>
              <a:rPr lang="en-US" dirty="0" smtClean="0"/>
              <a:t>, but not </a:t>
            </a:r>
            <a:r>
              <a:rPr lang="en-US" i="1" dirty="0" smtClean="0"/>
              <a:t>how</a:t>
            </a:r>
            <a:endParaRPr lang="en-US" dirty="0" smtClean="0"/>
          </a:p>
          <a:p>
            <a:r>
              <a:rPr lang="en-US" dirty="0" smtClean="0"/>
              <a:t>👉 </a:t>
            </a:r>
            <a:r>
              <a:rPr lang="en-US" b="1" dirty="0" smtClean="0"/>
              <a:t> example:</a:t>
            </a:r>
            <a:endParaRPr lang="en-US" dirty="0" smtClean="0"/>
          </a:p>
          <a:p>
            <a:pPr rtl="0"/>
            <a:r>
              <a:rPr lang="en-US" dirty="0" smtClean="0"/>
              <a:t>abstract class </a:t>
            </a:r>
            <a:r>
              <a:rPr lang="en-US" dirty="0" err="1" smtClean="0"/>
              <a:t>AbstractFactory</a:t>
            </a:r>
            <a:r>
              <a:rPr lang="en-US" dirty="0" smtClean="0"/>
              <a:t> {</a:t>
            </a:r>
            <a:br>
              <a:rPr lang="en-US" dirty="0" smtClean="0"/>
            </a:br>
            <a:r>
              <a:rPr lang="en-US" dirty="0" smtClean="0"/>
              <a:t>abstract Bank </a:t>
            </a:r>
            <a:r>
              <a:rPr lang="en-US" dirty="0" err="1" smtClean="0"/>
              <a:t>getBank</a:t>
            </a:r>
            <a:r>
              <a:rPr lang="en-US" dirty="0" smtClean="0"/>
              <a:t>(String bank);</a:t>
            </a:r>
            <a:br>
              <a:rPr lang="en-US" dirty="0" smtClean="0"/>
            </a:br>
            <a:r>
              <a:rPr lang="en-US" dirty="0" smtClean="0"/>
              <a:t>abstract Loan </a:t>
            </a:r>
            <a:r>
              <a:rPr lang="en-US" dirty="0" err="1" smtClean="0"/>
              <a:t>getLoan</a:t>
            </a:r>
            <a:r>
              <a:rPr lang="en-US" dirty="0" smtClean="0"/>
              <a:t>(String loan);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In simple words:</a:t>
            </a:r>
            <a:endParaRPr lang="en-US" dirty="0" smtClean="0"/>
          </a:p>
          <a:p>
            <a:r>
              <a:rPr lang="en-US" dirty="0" smtClean="0"/>
              <a:t>“Any factory must be able to create Bank or Loan objects”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73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What it 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Actual factories that create real objects</a:t>
            </a:r>
          </a:p>
          <a:p>
            <a:r>
              <a:rPr lang="en-US" b="1" dirty="0" smtClean="0"/>
              <a:t> example:</a:t>
            </a:r>
            <a:endParaRPr lang="en-US" dirty="0" smtClean="0"/>
          </a:p>
          <a:p>
            <a:r>
              <a:rPr lang="en-US" dirty="0" err="1" smtClean="0"/>
              <a:t>BankFactory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LoanFactory</a:t>
            </a:r>
            <a:endParaRPr lang="en-US" dirty="0" smtClean="0"/>
          </a:p>
          <a:p>
            <a:r>
              <a:rPr lang="en-US" dirty="0" smtClean="0"/>
              <a:t>“This factory knows HOW to create specific objects”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57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What it 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</a:t>
            </a:r>
            <a:r>
              <a:rPr lang="en-US" i="1" dirty="0" smtClean="0"/>
              <a:t>common interface for products</a:t>
            </a:r>
            <a:endParaRPr lang="en-US" dirty="0" smtClean="0"/>
          </a:p>
          <a:p>
            <a:r>
              <a:rPr lang="en-US" b="1" dirty="0" smtClean="0"/>
              <a:t> example:</a:t>
            </a:r>
            <a:endParaRPr lang="en-US" dirty="0" smtClean="0"/>
          </a:p>
          <a:p>
            <a:r>
              <a:rPr lang="en-US" dirty="0" smtClean="0"/>
              <a:t>Bank </a:t>
            </a:r>
          </a:p>
          <a:p>
            <a:r>
              <a:rPr lang="en-US" dirty="0" smtClean="0"/>
              <a:t>Loan </a:t>
            </a:r>
          </a:p>
          <a:p>
            <a:r>
              <a:rPr lang="en-US" b="1" dirty="0" smtClean="0"/>
              <a:t>Example: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86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What it 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Actual objects created by factories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ICIC, HBFC → Bank products </a:t>
            </a:r>
          </a:p>
          <a:p>
            <a:r>
              <a:rPr lang="en-US" dirty="0" err="1" smtClean="0"/>
              <a:t>HomeLoan</a:t>
            </a:r>
            <a:r>
              <a:rPr lang="en-US" dirty="0" smtClean="0"/>
              <a:t>, </a:t>
            </a:r>
            <a:r>
              <a:rPr lang="en-US" dirty="0" err="1" smtClean="0"/>
              <a:t>BusinessLoan</a:t>
            </a:r>
            <a:r>
              <a:rPr lang="en-US" dirty="0" smtClean="0"/>
              <a:t> → Loan products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83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28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1" dirty="0" smtClean="0"/>
              <a:t>Bank &amp; Account Abstract Factory</a:t>
            </a:r>
            <a:r>
              <a:rPr lang="en-US" b="1" baseline="0" dirty="0" smtClean="0"/>
              <a:t> </a:t>
            </a:r>
          </a:p>
          <a:p>
            <a:pPr marL="0" indent="0">
              <a:buNone/>
            </a:pPr>
            <a:r>
              <a:rPr lang="en-US" b="1" dirty="0" smtClean="0"/>
              <a:t>Classes Involved:</a:t>
            </a:r>
          </a:p>
          <a:p>
            <a:r>
              <a:rPr lang="en-US" dirty="0" err="1" smtClean="0"/>
              <a:t>BankFactory</a:t>
            </a:r>
            <a:r>
              <a:rPr lang="en-US" dirty="0" smtClean="0"/>
              <a:t> and </a:t>
            </a:r>
            <a:r>
              <a:rPr lang="en-US" dirty="0" err="1" smtClean="0"/>
              <a:t>AccountFactory</a:t>
            </a:r>
            <a:r>
              <a:rPr lang="en-US" dirty="0" smtClean="0"/>
              <a:t>: Abstract factories</a:t>
            </a:r>
          </a:p>
          <a:p>
            <a:r>
              <a:rPr lang="en-US" dirty="0" smtClean="0"/>
              <a:t>Bank and Account: Abstract products</a:t>
            </a:r>
          </a:p>
          <a:p>
            <a:r>
              <a:rPr lang="en-US" dirty="0" err="1" smtClean="0"/>
              <a:t>ICICIBank</a:t>
            </a:r>
            <a:r>
              <a:rPr lang="en-US" dirty="0" smtClean="0"/>
              <a:t>, </a:t>
            </a:r>
            <a:r>
              <a:rPr lang="en-US" dirty="0" err="1" smtClean="0"/>
              <a:t>YesBank</a:t>
            </a:r>
            <a:r>
              <a:rPr lang="en-US" dirty="0" smtClean="0"/>
              <a:t>: Concrete products of Bank</a:t>
            </a:r>
          </a:p>
          <a:p>
            <a:r>
              <a:rPr lang="en-US" dirty="0" err="1" smtClean="0"/>
              <a:t>SavingAccount</a:t>
            </a:r>
            <a:r>
              <a:rPr lang="en-US" dirty="0" smtClean="0"/>
              <a:t>, </a:t>
            </a:r>
            <a:r>
              <a:rPr lang="en-US" dirty="0" err="1" smtClean="0"/>
              <a:t>CurrentAccount</a:t>
            </a:r>
            <a:r>
              <a:rPr lang="en-US" dirty="0" smtClean="0"/>
              <a:t>: Concrete products of Account</a:t>
            </a:r>
          </a:p>
          <a:p>
            <a:endParaRPr lang="en-US" b="1" dirty="0" smtClean="0"/>
          </a:p>
          <a:p>
            <a:r>
              <a:rPr lang="en-US" b="1" dirty="0" smtClean="0"/>
              <a:t>How it works:</a:t>
            </a:r>
          </a:p>
          <a:p>
            <a:r>
              <a:rPr lang="en-US" dirty="0" err="1" smtClean="0"/>
              <a:t>BankFactory</a:t>
            </a:r>
            <a:r>
              <a:rPr lang="en-US" dirty="0" smtClean="0"/>
              <a:t> has a method </a:t>
            </a:r>
            <a:r>
              <a:rPr lang="en-US" dirty="0" err="1" smtClean="0"/>
              <a:t>getBankName</a:t>
            </a:r>
            <a:r>
              <a:rPr lang="en-US" dirty="0" smtClean="0"/>
              <a:t>() that returns a Bank object.</a:t>
            </a:r>
          </a:p>
          <a:p>
            <a:r>
              <a:rPr lang="en-US" dirty="0" err="1" smtClean="0"/>
              <a:t>AccountFactory</a:t>
            </a:r>
            <a:r>
              <a:rPr lang="en-US" dirty="0" smtClean="0"/>
              <a:t> has a method </a:t>
            </a:r>
            <a:r>
              <a:rPr lang="en-US" dirty="0" err="1" smtClean="0"/>
              <a:t>getAccount</a:t>
            </a:r>
            <a:r>
              <a:rPr lang="en-US" dirty="0" smtClean="0"/>
              <a:t>() that returns an Account object.</a:t>
            </a:r>
            <a:r>
              <a:rPr lang="en-US" baseline="0" dirty="0" smtClean="0"/>
              <a:t> </a:t>
            </a:r>
            <a:r>
              <a:rPr lang="en-US" dirty="0" smtClean="0"/>
              <a:t>Depending on which factory is used, the correct bank or account object is created (e.g., </a:t>
            </a:r>
            <a:r>
              <a:rPr lang="en-US" dirty="0" err="1" smtClean="0"/>
              <a:t>ICICIBank</a:t>
            </a:r>
            <a:r>
              <a:rPr lang="en-US" dirty="0" smtClean="0"/>
              <a:t> or </a:t>
            </a:r>
            <a:r>
              <a:rPr lang="en-US" dirty="0" err="1" smtClean="0"/>
              <a:t>SavingAccount</a:t>
            </a:r>
            <a:r>
              <a:rPr lang="en-US" dirty="0" smtClean="0"/>
              <a:t>).</a:t>
            </a:r>
          </a:p>
          <a:p>
            <a:endParaRPr lang="en-US" b="1" dirty="0" smtClean="0"/>
          </a:p>
          <a:p>
            <a:r>
              <a:rPr lang="en-US" b="1" dirty="0" smtClean="0"/>
              <a:t>Goal:</a:t>
            </a:r>
            <a:r>
              <a:rPr lang="en-US" dirty="0" smtClean="0"/>
              <a:t> To create families of related or dependent objects (banks and accounts) without specifying their concrete classes.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65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Font Style &amp; Alignment Abstract Factory</a:t>
            </a:r>
          </a:p>
          <a:p>
            <a:endParaRPr lang="en-US" b="1" dirty="0" smtClean="0"/>
          </a:p>
          <a:p>
            <a:r>
              <a:rPr lang="en-US" b="1" dirty="0" smtClean="0"/>
              <a:t>Classes Involved:</a:t>
            </a:r>
          </a:p>
          <a:p>
            <a:r>
              <a:rPr lang="en-US" b="1" dirty="0" err="1" smtClean="0"/>
              <a:t>AbstractFactory</a:t>
            </a:r>
            <a:r>
              <a:rPr lang="en-US" dirty="0" smtClean="0"/>
              <a:t>: Defines </a:t>
            </a:r>
            <a:r>
              <a:rPr lang="en-US" dirty="0" err="1" smtClean="0"/>
              <a:t>getFontStyle</a:t>
            </a:r>
            <a:r>
              <a:rPr lang="en-US" dirty="0" smtClean="0"/>
              <a:t>() and </a:t>
            </a:r>
            <a:r>
              <a:rPr lang="en-US" dirty="0" err="1" smtClean="0"/>
              <a:t>getAlignment</a:t>
            </a:r>
            <a:r>
              <a:rPr lang="en-US" dirty="0" smtClean="0"/>
              <a:t>().</a:t>
            </a:r>
          </a:p>
          <a:p>
            <a:r>
              <a:rPr lang="en-US" b="1" dirty="0" err="1" smtClean="0"/>
              <a:t>FactoryProducer</a:t>
            </a:r>
            <a:r>
              <a:rPr lang="en-US" dirty="0" smtClean="0"/>
              <a:t>: Decides which factory to return.</a:t>
            </a:r>
          </a:p>
          <a:p>
            <a:r>
              <a:rPr lang="en-US" b="1" dirty="0" err="1" smtClean="0"/>
              <a:t>FontStyleFactory</a:t>
            </a:r>
            <a:r>
              <a:rPr lang="en-US" b="1" dirty="0" smtClean="0"/>
              <a:t> and </a:t>
            </a:r>
            <a:r>
              <a:rPr lang="en-US" b="1" dirty="0" err="1" smtClean="0"/>
              <a:t>AlignmentFactory</a:t>
            </a:r>
            <a:r>
              <a:rPr lang="en-US" dirty="0" smtClean="0"/>
              <a:t>: Concrete factories</a:t>
            </a:r>
          </a:p>
          <a:p>
            <a:r>
              <a:rPr lang="en-US" b="1" dirty="0" err="1" smtClean="0"/>
              <a:t>FontStyle</a:t>
            </a:r>
            <a:r>
              <a:rPr lang="en-US" b="1" dirty="0" smtClean="0"/>
              <a:t>, Alignment</a:t>
            </a:r>
            <a:r>
              <a:rPr lang="en-US" dirty="0" smtClean="0"/>
              <a:t>: Interfaces for products</a:t>
            </a:r>
          </a:p>
          <a:p>
            <a:r>
              <a:rPr lang="en-US" b="1" dirty="0" smtClean="0"/>
              <a:t>Plain, Bold, Italic</a:t>
            </a:r>
            <a:r>
              <a:rPr lang="en-US" dirty="0" smtClean="0"/>
              <a:t>: Concrete font styles</a:t>
            </a:r>
          </a:p>
          <a:p>
            <a:r>
              <a:rPr lang="en-US" b="1" dirty="0" smtClean="0"/>
              <a:t>left, center, right</a:t>
            </a:r>
            <a:r>
              <a:rPr lang="en-US" dirty="0" smtClean="0"/>
              <a:t>: Concrete alignments</a:t>
            </a:r>
          </a:p>
          <a:p>
            <a:endParaRPr lang="en-US" b="1" dirty="0" smtClean="0"/>
          </a:p>
          <a:p>
            <a:r>
              <a:rPr lang="en-US" b="1" dirty="0" smtClean="0"/>
              <a:t>How it works:</a:t>
            </a:r>
          </a:p>
          <a:p>
            <a:r>
              <a:rPr lang="en-US" dirty="0" err="1" smtClean="0"/>
              <a:t>FactoryProducer</a:t>
            </a:r>
            <a:r>
              <a:rPr lang="en-US" dirty="0" smtClean="0"/>
              <a:t> provides the right factory (either for font or alignment).</a:t>
            </a:r>
          </a:p>
          <a:p>
            <a:r>
              <a:rPr lang="en-US" dirty="0" err="1" smtClean="0"/>
              <a:t>FontStyleFactory</a:t>
            </a:r>
            <a:r>
              <a:rPr lang="en-US" dirty="0" smtClean="0"/>
              <a:t> creates objects like Plain, Bold, etc.</a:t>
            </a:r>
          </a:p>
          <a:p>
            <a:r>
              <a:rPr lang="en-US" dirty="0" err="1" smtClean="0"/>
              <a:t>AlignmentFactory</a:t>
            </a:r>
            <a:r>
              <a:rPr lang="en-US" dirty="0" smtClean="0"/>
              <a:t> creates left, center, or right alignments.</a:t>
            </a:r>
          </a:p>
          <a:p>
            <a:endParaRPr lang="en-US" b="1" dirty="0" smtClean="0"/>
          </a:p>
          <a:p>
            <a:r>
              <a:rPr lang="en-US" b="1" dirty="0" smtClean="0"/>
              <a:t>Goal:</a:t>
            </a:r>
            <a:r>
              <a:rPr lang="en-US" dirty="0" smtClean="0"/>
              <a:t> To demonstrate that multiple related object families (font + alignment) can be created without depending on concrete classes.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69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Shape &amp; Color Abstract Factory</a:t>
            </a:r>
          </a:p>
          <a:p>
            <a:endParaRPr lang="en-US" b="1" dirty="0" smtClean="0"/>
          </a:p>
          <a:p>
            <a:r>
              <a:rPr lang="en-US" b="1" dirty="0" smtClean="0"/>
              <a:t>Classes Involved:</a:t>
            </a:r>
          </a:p>
          <a:p>
            <a:r>
              <a:rPr lang="en-US" b="1" dirty="0" err="1" smtClean="0"/>
              <a:t>AbstractFactory</a:t>
            </a:r>
            <a:r>
              <a:rPr lang="en-US" dirty="0" smtClean="0"/>
              <a:t>: Has methods </a:t>
            </a:r>
            <a:r>
              <a:rPr lang="en-US" dirty="0" err="1" smtClean="0"/>
              <a:t>getShape</a:t>
            </a:r>
            <a:r>
              <a:rPr lang="en-US" dirty="0" smtClean="0"/>
              <a:t>() and </a:t>
            </a:r>
            <a:r>
              <a:rPr lang="en-US" dirty="0" err="1" smtClean="0"/>
              <a:t>getColor</a:t>
            </a:r>
            <a:r>
              <a:rPr lang="en-US" dirty="0" smtClean="0"/>
              <a:t>().</a:t>
            </a:r>
          </a:p>
          <a:p>
            <a:r>
              <a:rPr lang="en-US" b="1" dirty="0" err="1" smtClean="0"/>
              <a:t>FactoryProducer</a:t>
            </a:r>
            <a:r>
              <a:rPr lang="en-US" dirty="0" smtClean="0"/>
              <a:t>: Returns the correct factory based on need.</a:t>
            </a:r>
          </a:p>
          <a:p>
            <a:r>
              <a:rPr lang="en-US" b="1" dirty="0" err="1" smtClean="0"/>
              <a:t>ShapeFactory</a:t>
            </a:r>
            <a:r>
              <a:rPr lang="en-US" b="1" dirty="0" smtClean="0"/>
              <a:t> and </a:t>
            </a:r>
            <a:r>
              <a:rPr lang="en-US" b="1" dirty="0" err="1" smtClean="0"/>
              <a:t>ColorFactory</a:t>
            </a:r>
            <a:r>
              <a:rPr lang="en-US" dirty="0" smtClean="0"/>
              <a:t>: Concrete factories</a:t>
            </a:r>
          </a:p>
          <a:p>
            <a:r>
              <a:rPr lang="en-US" b="1" dirty="0" smtClean="0"/>
              <a:t>Shape and Color</a:t>
            </a:r>
            <a:r>
              <a:rPr lang="en-US" dirty="0" smtClean="0"/>
              <a:t>: Interfaces for products</a:t>
            </a:r>
          </a:p>
          <a:p>
            <a:r>
              <a:rPr lang="en-US" dirty="0" smtClean="0"/>
              <a:t>Implementations (not shown in detail): likely Circle, Square for Shape; Red, Blue for Color.</a:t>
            </a:r>
          </a:p>
          <a:p>
            <a:endParaRPr lang="en-US" b="1" dirty="0" smtClean="0"/>
          </a:p>
          <a:p>
            <a:r>
              <a:rPr lang="en-US" b="1" dirty="0" smtClean="0"/>
              <a:t>How it works:</a:t>
            </a:r>
          </a:p>
          <a:p>
            <a:r>
              <a:rPr lang="en-US" dirty="0" err="1" smtClean="0"/>
              <a:t>FactoryProducer</a:t>
            </a:r>
            <a:r>
              <a:rPr lang="en-US" dirty="0" smtClean="0"/>
              <a:t> is asked for either a shape or color factory.</a:t>
            </a:r>
          </a:p>
          <a:p>
            <a:r>
              <a:rPr lang="en-US" dirty="0" err="1" smtClean="0"/>
              <a:t>ShapeFactory</a:t>
            </a:r>
            <a:r>
              <a:rPr lang="en-US" dirty="0" smtClean="0"/>
              <a:t> can return a Shape object with a draw() method.</a:t>
            </a:r>
          </a:p>
          <a:p>
            <a:r>
              <a:rPr lang="en-US" dirty="0" err="1" smtClean="0"/>
              <a:t>ColorFactory</a:t>
            </a:r>
            <a:r>
              <a:rPr lang="en-US" dirty="0" smtClean="0"/>
              <a:t> can return a Color object with a fill() method.</a:t>
            </a:r>
          </a:p>
          <a:p>
            <a:endParaRPr lang="en-US" b="1" dirty="0" smtClean="0"/>
          </a:p>
          <a:p>
            <a:r>
              <a:rPr lang="en-US" b="1" dirty="0" smtClean="0"/>
              <a:t>Goal:</a:t>
            </a:r>
            <a:r>
              <a:rPr lang="en-US" dirty="0" smtClean="0"/>
              <a:t> Create UI objects (shapes, colors) independently but using a unified factory interface.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19DF0-BB8B-4294-9EF9-E87F3D82054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86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556324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39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5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99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8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5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85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0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8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4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63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2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39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31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34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20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78A1160-E1EC-4D51-B75A-EFEDF485562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D006C2-0CF4-4457-831F-7F3BAE7C7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96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1" y="914401"/>
            <a:ext cx="7696200" cy="1904999"/>
          </a:xfrm>
        </p:spPr>
        <p:txBody>
          <a:bodyPr/>
          <a:lstStyle/>
          <a:p>
            <a:r>
              <a:rPr lang="en-US" dirty="0"/>
              <a:t>Abstract Factory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Ms. Shehla Saeed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34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5BC3-B53F-4894-9079-812D10DB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Factory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7355-3756-4CB7-9C70-E4BD04B8B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Abstract Factory design pattern</a:t>
            </a:r>
            <a:r>
              <a:rPr lang="en-US" dirty="0"/>
              <a:t> is one of the Creational </a:t>
            </a:r>
            <a:r>
              <a:rPr lang="en-US" b="1" dirty="0"/>
              <a:t>pattern</a:t>
            </a:r>
            <a:r>
              <a:rPr lang="en-US" dirty="0" smtClean="0"/>
              <a:t>.</a:t>
            </a:r>
          </a:p>
          <a:p>
            <a:r>
              <a:rPr lang="en-US" dirty="0"/>
              <a:t> </a:t>
            </a:r>
            <a:r>
              <a:rPr lang="en-US" b="1" dirty="0"/>
              <a:t>Abstract Factory pattern</a:t>
            </a:r>
            <a:r>
              <a:rPr lang="en-US" dirty="0"/>
              <a:t> is almost similar to </a:t>
            </a:r>
            <a:r>
              <a:rPr lang="en-US" b="1" dirty="0"/>
              <a:t>Factory Pattern</a:t>
            </a:r>
            <a:r>
              <a:rPr lang="en-US" dirty="0"/>
              <a:t> is considered as another layer of </a:t>
            </a:r>
            <a:r>
              <a:rPr lang="en-US" b="1" dirty="0"/>
              <a:t>abstraction</a:t>
            </a:r>
            <a:r>
              <a:rPr lang="en-US" dirty="0"/>
              <a:t> over </a:t>
            </a:r>
            <a:r>
              <a:rPr lang="en-US" b="1" dirty="0"/>
              <a:t>factory pattern</a:t>
            </a:r>
            <a:r>
              <a:rPr lang="en-US" dirty="0"/>
              <a:t>. </a:t>
            </a:r>
          </a:p>
          <a:p>
            <a:r>
              <a:rPr lang="en-US" b="1" dirty="0"/>
              <a:t>Abstract Factory patterns</a:t>
            </a:r>
            <a:r>
              <a:rPr lang="en-US" dirty="0"/>
              <a:t> work around a super-</a:t>
            </a:r>
            <a:r>
              <a:rPr lang="en-US" b="1" dirty="0"/>
              <a:t>factory</a:t>
            </a:r>
            <a:r>
              <a:rPr lang="en-US" dirty="0"/>
              <a:t> which creates other </a:t>
            </a:r>
            <a:r>
              <a:rPr lang="en-US" b="1" dirty="0"/>
              <a:t>factories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567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and Usage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28800"/>
            <a:ext cx="7704667" cy="4171016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To Hide Complex Details: </a:t>
            </a:r>
            <a:r>
              <a:rPr lang="en-US" dirty="0"/>
              <a:t>It separates your main program (the client) from the complicated code used to actually build the objects. Your system doesn't need to know how things are created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To </a:t>
            </a:r>
            <a:r>
              <a:rPr lang="en-US" b="1" dirty="0"/>
              <a:t>Keep Families Together:</a:t>
            </a:r>
            <a:r>
              <a:rPr lang="en-US" dirty="0"/>
              <a:t> It ensures that objects designed to work together are always used together. It prevents you from accidentally mixing parts from different families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To </a:t>
            </a:r>
            <a:r>
              <a:rPr lang="en-US" b="1" dirty="0"/>
              <a:t>Allow Easy Swapping: </a:t>
            </a:r>
            <a:r>
              <a:rPr lang="en-US" dirty="0"/>
              <a:t>It lets you easily configure a system to switch between completely different sets of objects with minimal code changes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To </a:t>
            </a:r>
            <a:r>
              <a:rPr lang="en-US" b="1" dirty="0"/>
              <a:t>Provide a Clean Toolbox: </a:t>
            </a:r>
            <a:r>
              <a:rPr lang="en-US" dirty="0"/>
              <a:t>It lets you share a library of objects where other developers only see the basic controls (interfaces) and none of the messy internal code (implementations).</a:t>
            </a:r>
          </a:p>
        </p:txBody>
      </p:sp>
    </p:spTree>
    <p:extLst>
      <p:ext uri="{BB962C8B-B14F-4D97-AF65-F5344CB8AC3E}">
        <p14:creationId xmlns:p14="http://schemas.microsoft.com/office/powerpoint/2010/main" val="92426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4F9222F-12FC-4E86-801E-DCFC04D35F0A}"/>
              </a:ext>
            </a:extLst>
          </p:cNvPr>
          <p:cNvSpPr/>
          <p:nvPr/>
        </p:nvSpPr>
        <p:spPr>
          <a:xfrm>
            <a:off x="1713816" y="1413739"/>
            <a:ext cx="3239184" cy="44536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EA9049-652E-4514-A6D4-8EA2770C0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077" y="838200"/>
            <a:ext cx="3715268" cy="2343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848FD5-02EB-4B16-944B-AD53543EC8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626" y="4191000"/>
            <a:ext cx="3753374" cy="2353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201478-4769-4F01-885C-9B03DBB56A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618" y="1692427"/>
            <a:ext cx="2032734" cy="8336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C38B0B-F65F-4FE3-8788-410AF90872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229" y="4798023"/>
            <a:ext cx="2119848" cy="8336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03AD01-808F-457F-99DE-C08DAC96F9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899" y="3181677"/>
            <a:ext cx="1257444" cy="9314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896261-3EE4-4402-942B-984C95AEDA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343" y="2555384"/>
            <a:ext cx="1042624" cy="21840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6552E0-3C80-416C-9625-FD12B8EE0A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13739"/>
            <a:ext cx="1371600" cy="10322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29FDA6-5CC9-428C-A680-DF160A8B46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600" y="4757127"/>
            <a:ext cx="1814416" cy="9154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8B1815-F2F8-4062-800E-D958323EA0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53" y="2445973"/>
            <a:ext cx="504895" cy="23520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13C1EB-38CA-4B20-A158-C1AD951128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86451">
            <a:off x="1713816" y="4113115"/>
            <a:ext cx="590841" cy="93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57201"/>
            <a:ext cx="8229600" cy="1523999"/>
          </a:xfrm>
        </p:spPr>
        <p:txBody>
          <a:bodyPr/>
          <a:lstStyle/>
          <a:p>
            <a:r>
              <a:rPr lang="en-US" dirty="0"/>
              <a:t>Elements of Abstract Factory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09800"/>
            <a:ext cx="7704667" cy="3790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err="1"/>
              <a:t>AbstractFactory</a:t>
            </a:r>
            <a:r>
              <a:rPr lang="en-US" sz="2800" b="1" dirty="0"/>
              <a:t> (The Master Blueprint)</a:t>
            </a:r>
            <a:endParaRPr lang="en-US" sz="2800" dirty="0"/>
          </a:p>
          <a:p>
            <a:r>
              <a:rPr lang="en-US" b="1" dirty="0"/>
              <a:t>What it is:</a:t>
            </a:r>
            <a:r>
              <a:rPr lang="en-US" dirty="0"/>
              <a:t> The top-level interface or general rulebook.</a:t>
            </a:r>
          </a:p>
          <a:p>
            <a:r>
              <a:rPr lang="en-US" b="1" dirty="0"/>
              <a:t>What it does:</a:t>
            </a:r>
            <a:r>
              <a:rPr lang="en-US" dirty="0"/>
              <a:t> It tells the system </a:t>
            </a:r>
            <a:r>
              <a:rPr lang="en-US" i="1" dirty="0"/>
              <a:t>how</a:t>
            </a:r>
            <a:r>
              <a:rPr lang="en-US" dirty="0"/>
              <a:t> to make a group of related factories. The user (client) only interacts with this blueprint, which hides the messy, behind-the-scenes details of how things are actually built.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07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1" y="457201"/>
            <a:ext cx="8610600" cy="1981200"/>
          </a:xfrm>
        </p:spPr>
        <p:txBody>
          <a:bodyPr/>
          <a:lstStyle/>
          <a:p>
            <a:r>
              <a:rPr lang="en-US" dirty="0" err="1"/>
              <a:t>ConcreteFactory</a:t>
            </a:r>
            <a:r>
              <a:rPr lang="en-US" dirty="0"/>
              <a:t> (The Specific Builder)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9800"/>
            <a:ext cx="7704667" cy="3332816"/>
          </a:xfrm>
        </p:spPr>
        <p:txBody>
          <a:bodyPr/>
          <a:lstStyle/>
          <a:p>
            <a:r>
              <a:rPr lang="en-US" b="1" dirty="0" smtClean="0"/>
              <a:t>What </a:t>
            </a:r>
            <a:r>
              <a:rPr lang="en-US" b="1" dirty="0"/>
              <a:t>it is:</a:t>
            </a:r>
            <a:r>
              <a:rPr lang="en-US" dirty="0"/>
              <a:t> The actual, working factory (a specific version of the master blueprint).</a:t>
            </a:r>
          </a:p>
          <a:p>
            <a:r>
              <a:rPr lang="en-US" b="1" dirty="0"/>
              <a:t>What it does:</a:t>
            </a:r>
            <a:r>
              <a:rPr lang="en-US" dirty="0"/>
              <a:t> It does the real heavy lifting. It contains the exact code to build the actual, specific products.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610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23999"/>
          </a:xfrm>
        </p:spPr>
        <p:txBody>
          <a:bodyPr/>
          <a:lstStyle/>
          <a:p>
            <a:r>
              <a:rPr lang="en-US" dirty="0" err="1"/>
              <a:t>AbstractProduct</a:t>
            </a:r>
            <a:r>
              <a:rPr lang="en-US" dirty="0"/>
              <a:t> (The General Item Category)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What </a:t>
            </a:r>
            <a:r>
              <a:rPr lang="en-US" b="1" dirty="0"/>
              <a:t>it is:</a:t>
            </a:r>
            <a:r>
              <a:rPr lang="en-US" dirty="0"/>
              <a:t> A broad category describing what a specific item should be.</a:t>
            </a:r>
          </a:p>
          <a:p>
            <a:r>
              <a:rPr lang="en-US" b="1" dirty="0"/>
              <a:t>What it does:</a:t>
            </a:r>
            <a:r>
              <a:rPr lang="en-US" dirty="0"/>
              <a:t> It defines the basic rules for a product. When you ask the factory for this item, it guarantees you get the exact version that perfectly matches the specific </a:t>
            </a:r>
            <a:r>
              <a:rPr lang="en-US" b="1" dirty="0" err="1"/>
              <a:t>ConcreteFactory</a:t>
            </a:r>
            <a:r>
              <a:rPr lang="en-US" dirty="0"/>
              <a:t> you are currently using.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985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ConcreteProduct</a:t>
            </a:r>
            <a:r>
              <a:rPr lang="en-US" dirty="0"/>
              <a:t> (The Final Item)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it is: The actual, finished object created by the specific factory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What </a:t>
            </a:r>
            <a:r>
              <a:rPr lang="en-US" dirty="0"/>
              <a:t>it does: It contains the real, working code for that specific item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is the tangible result that fulfills all the rules laid out by the generic </a:t>
            </a:r>
            <a:r>
              <a:rPr lang="en-US" dirty="0" err="1"/>
              <a:t>AbstractProduct</a:t>
            </a:r>
            <a:r>
              <a:rPr lang="en-US" dirty="0"/>
              <a:t> category.</a:t>
            </a:r>
          </a:p>
        </p:txBody>
      </p:sp>
    </p:spTree>
    <p:extLst>
      <p:ext uri="{BB962C8B-B14F-4D97-AF65-F5344CB8AC3E}">
        <p14:creationId xmlns:p14="http://schemas.microsoft.com/office/powerpoint/2010/main" val="321393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66799"/>
          </a:xfrm>
        </p:spPr>
        <p:txBody>
          <a:bodyPr/>
          <a:lstStyle/>
          <a:p>
            <a:r>
              <a:rPr lang="en-US" dirty="0"/>
              <a:t>Client (The User or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600200"/>
            <a:ext cx="7704667" cy="4399616"/>
          </a:xfrm>
        </p:spPr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it is: The part of your program that actually needs to use these items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What </a:t>
            </a:r>
            <a:r>
              <a:rPr lang="en-US" dirty="0"/>
              <a:t>it does: It only interacts with the generic blueprints (</a:t>
            </a:r>
            <a:r>
              <a:rPr lang="en-US" dirty="0" err="1"/>
              <a:t>AbstractFactory</a:t>
            </a:r>
            <a:r>
              <a:rPr lang="en-US" dirty="0"/>
              <a:t> and </a:t>
            </a:r>
            <a:r>
              <a:rPr lang="en-US" dirty="0" err="1"/>
              <a:t>AbstractProduct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</a:t>
            </a:r>
            <a:r>
              <a:rPr lang="en-US" dirty="0"/>
              <a:t>Because of this, the Client is "blissfully ignorant"—it doesn't know or care how the objects are built or what specific class they belong to.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just asks for an item and trusts the system to hand it the right one.</a:t>
            </a:r>
          </a:p>
        </p:txBody>
      </p:sp>
    </p:spTree>
    <p:extLst>
      <p:ext uri="{BB962C8B-B14F-4D97-AF65-F5344CB8AC3E}">
        <p14:creationId xmlns:p14="http://schemas.microsoft.com/office/powerpoint/2010/main" val="1426617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22ad\Desktop\abstractfactor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8153400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2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Abstract Factory Pattern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09800"/>
            <a:ext cx="7704667" cy="37900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Here, we are calculating the loan payment for different banks like </a:t>
            </a:r>
            <a:r>
              <a:rPr lang="en-US" dirty="0" smtClean="0"/>
              <a:t>HDFC, ICICI, SBI </a:t>
            </a:r>
            <a:r>
              <a:rPr lang="en-US" dirty="0"/>
              <a:t>etc.</a:t>
            </a:r>
          </a:p>
          <a:p>
            <a:r>
              <a:rPr lang="en-US" b="1" dirty="0"/>
              <a:t>Step 1:</a:t>
            </a:r>
            <a:r>
              <a:rPr lang="en-US" dirty="0"/>
              <a:t> Create a Bank interface</a:t>
            </a:r>
          </a:p>
          <a:p>
            <a:pPr marL="11430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import</a:t>
            </a:r>
            <a:r>
              <a:rPr lang="en-US" dirty="0" smtClean="0">
                <a:solidFill>
                  <a:srgbClr val="0070C0"/>
                </a:solidFill>
              </a:rPr>
              <a:t> java.io.*;     </a:t>
            </a:r>
          </a:p>
          <a:p>
            <a:pPr marL="11430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interface</a:t>
            </a:r>
            <a:r>
              <a:rPr lang="en-US" dirty="0" smtClean="0">
                <a:solidFill>
                  <a:srgbClr val="0070C0"/>
                </a:solidFill>
              </a:rPr>
              <a:t> Bank</a:t>
            </a:r>
          </a:p>
          <a:p>
            <a:pPr marL="114300" indent="0">
              <a:buNone/>
            </a:pPr>
            <a:r>
              <a:rPr lang="en-US" dirty="0" smtClean="0">
                <a:solidFill>
                  <a:srgbClr val="0070C0"/>
                </a:solidFill>
              </a:rPr>
              <a:t>{  </a:t>
            </a:r>
          </a:p>
          <a:p>
            <a:pPr marL="114300" indent="0">
              <a:buNone/>
            </a:pPr>
            <a:r>
              <a:rPr lang="en-US" dirty="0" smtClean="0">
                <a:solidFill>
                  <a:srgbClr val="0070C0"/>
                </a:solidFill>
              </a:rPr>
              <a:t>        String </a:t>
            </a:r>
            <a:r>
              <a:rPr lang="en-US" dirty="0" err="1" smtClean="0">
                <a:solidFill>
                  <a:srgbClr val="0070C0"/>
                </a:solidFill>
              </a:rPr>
              <a:t>getBankName</a:t>
            </a:r>
            <a:r>
              <a:rPr lang="en-US" dirty="0" smtClean="0">
                <a:solidFill>
                  <a:srgbClr val="0070C0"/>
                </a:solidFill>
              </a:rPr>
              <a:t>();  </a:t>
            </a:r>
          </a:p>
          <a:p>
            <a:pPr marL="114300" indent="0">
              <a:buNone/>
            </a:pPr>
            <a:r>
              <a:rPr lang="en-US" dirty="0" smtClean="0">
                <a:solidFill>
                  <a:srgbClr val="0070C0"/>
                </a:solidFill>
              </a:rPr>
              <a:t>}  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875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</a:t>
            </a: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class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HDFC implements Bank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private final String BNAME = "HDFC BANK";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@Override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public String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getBankName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return BNAME;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2624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class ICICI implements Bank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private final String BNAME = "ICICI BANK";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@Override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public String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getBankName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return BNAME;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553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class SBI implements Bank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private final String BNAME = "SBI BANK";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@Override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public String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getBankName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return BNAME;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337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</a:t>
            </a:r>
            <a:r>
              <a:rPr lang="en-US" dirty="0"/>
              <a:t> </a:t>
            </a:r>
            <a:r>
              <a:rPr lang="en-US" sz="3600" dirty="0"/>
              <a:t>Create the Loan abstract class.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52600"/>
            <a:ext cx="7704667" cy="4247216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abstract class Loan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protected double rate;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abstract void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getInterestRate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(double rate);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public void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calculateLoanPayment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(double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loanAmount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years)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n = years * 12;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double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monthlyRate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= rate / 1200;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double EMI = 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monthlyRate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*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Math.pow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(1 +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monthlyRate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n)) /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Math.pow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(1 +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monthlyRate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n) - 1) *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loanAmount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System.out.println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("Monthly EMI: " + EMI +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" for loan amount: " +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loanAmount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92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667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 4:</a:t>
            </a:r>
            <a:r>
              <a:rPr lang="en-US" dirty="0"/>
              <a:t> </a:t>
            </a:r>
            <a:r>
              <a:rPr lang="en-US" sz="3200" dirty="0"/>
              <a:t>Create concrete classes that extend the Loan abstract class..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371600"/>
            <a:ext cx="7704667" cy="5334000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class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HomeLoan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extends Loan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@Override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void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getInterestRate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(double r)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rate = r;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class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BusinessLoan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extends Loan {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@Override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void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getInterestRate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(double r)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rate = r;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class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EducationLoan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extends Loan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@Override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void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getInterestRate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(double r)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rate = r;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49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Create an abstract class (</a:t>
            </a:r>
            <a:r>
              <a:rPr lang="en-US" dirty="0" err="1"/>
              <a:t>i.e</a:t>
            </a:r>
            <a:r>
              <a:rPr lang="en-US" dirty="0"/>
              <a:t> </a:t>
            </a:r>
            <a:r>
              <a:rPr lang="en-US" dirty="0" err="1"/>
              <a:t>AbstractFactory</a:t>
            </a:r>
            <a:r>
              <a:rPr lang="en-US" dirty="0"/>
              <a:t>) to get the factories for Bank and Loan Objects.</a:t>
            </a:r>
          </a:p>
          <a:p>
            <a:pPr marL="114300" indent="0">
              <a:buNone/>
            </a:pPr>
            <a:r>
              <a:rPr lang="en-US" b="1" dirty="0">
                <a:solidFill>
                  <a:srgbClr val="0070C0"/>
                </a:solidFill>
              </a:rPr>
              <a:t>abstract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b="1" dirty="0">
                <a:solidFill>
                  <a:srgbClr val="0070C0"/>
                </a:solidFill>
              </a:rPr>
              <a:t>class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dirty="0" err="1">
                <a:solidFill>
                  <a:srgbClr val="0070C0"/>
                </a:solidFill>
              </a:rPr>
              <a:t>AbstractFactory</a:t>
            </a:r>
            <a:r>
              <a:rPr lang="en-US" dirty="0">
                <a:solidFill>
                  <a:srgbClr val="0070C0"/>
                </a:solidFill>
              </a:rPr>
              <a:t>{  </a:t>
            </a:r>
          </a:p>
          <a:p>
            <a:pPr marL="114300" indent="0">
              <a:buNone/>
            </a:pPr>
            <a:r>
              <a:rPr lang="en-US" dirty="0">
                <a:solidFill>
                  <a:srgbClr val="0070C0"/>
                </a:solidFill>
              </a:rPr>
              <a:t>  </a:t>
            </a:r>
            <a:r>
              <a:rPr lang="en-US" b="1" dirty="0">
                <a:solidFill>
                  <a:srgbClr val="0070C0"/>
                </a:solidFill>
              </a:rPr>
              <a:t>public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b="1" dirty="0">
                <a:solidFill>
                  <a:srgbClr val="0070C0"/>
                </a:solidFill>
              </a:rPr>
              <a:t>abstract</a:t>
            </a:r>
            <a:r>
              <a:rPr lang="en-US" dirty="0">
                <a:solidFill>
                  <a:srgbClr val="0070C0"/>
                </a:solidFill>
              </a:rPr>
              <a:t> Bank </a:t>
            </a:r>
            <a:r>
              <a:rPr lang="en-US" dirty="0" err="1">
                <a:solidFill>
                  <a:srgbClr val="0070C0"/>
                </a:solidFill>
              </a:rPr>
              <a:t>getBank</a:t>
            </a:r>
            <a:r>
              <a:rPr lang="en-US" dirty="0">
                <a:solidFill>
                  <a:srgbClr val="0070C0"/>
                </a:solidFill>
              </a:rPr>
              <a:t>(String bank);  </a:t>
            </a:r>
          </a:p>
          <a:p>
            <a:pPr marL="114300" indent="0">
              <a:buNone/>
            </a:pPr>
            <a:r>
              <a:rPr lang="en-US" dirty="0">
                <a:solidFill>
                  <a:srgbClr val="0070C0"/>
                </a:solidFill>
              </a:rPr>
              <a:t>  </a:t>
            </a:r>
            <a:r>
              <a:rPr lang="en-US" b="1" dirty="0">
                <a:solidFill>
                  <a:srgbClr val="0070C0"/>
                </a:solidFill>
              </a:rPr>
              <a:t>public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b="1" dirty="0">
                <a:solidFill>
                  <a:srgbClr val="0070C0"/>
                </a:solidFill>
              </a:rPr>
              <a:t>abstract</a:t>
            </a:r>
            <a:r>
              <a:rPr lang="en-US" dirty="0">
                <a:solidFill>
                  <a:srgbClr val="0070C0"/>
                </a:solidFill>
              </a:rPr>
              <a:t> Loan </a:t>
            </a:r>
            <a:r>
              <a:rPr lang="en-US" dirty="0" err="1">
                <a:solidFill>
                  <a:srgbClr val="0070C0"/>
                </a:solidFill>
              </a:rPr>
              <a:t>getLoan</a:t>
            </a:r>
            <a:r>
              <a:rPr lang="en-US" dirty="0">
                <a:solidFill>
                  <a:srgbClr val="0070C0"/>
                </a:solidFill>
              </a:rPr>
              <a:t>(String loan);  </a:t>
            </a:r>
          </a:p>
          <a:p>
            <a:pPr marL="114300" indent="0">
              <a:buNone/>
            </a:pPr>
            <a:r>
              <a:rPr lang="en-US" dirty="0">
                <a:solidFill>
                  <a:srgbClr val="0070C0"/>
                </a:solidFill>
              </a:rPr>
              <a:t>}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64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"/>
            <a:ext cx="7704667" cy="3809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 6: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9963" y="467411"/>
            <a:ext cx="7704667" cy="6172199"/>
          </a:xfrm>
        </p:spPr>
        <p:txBody>
          <a:bodyPr>
            <a:normAutofit fontScale="25000" lnSpcReduction="20000"/>
          </a:bodyPr>
          <a:lstStyle/>
          <a:p>
            <a:r>
              <a:rPr lang="en-US" sz="4400" dirty="0"/>
              <a:t>Create the factory classes that inherit </a:t>
            </a:r>
            <a:r>
              <a:rPr lang="en-US" sz="4400" dirty="0" err="1"/>
              <a:t>AbstractFactory</a:t>
            </a:r>
            <a:r>
              <a:rPr lang="en-US" sz="4400" dirty="0"/>
              <a:t> class to generate the object of concrete class based on given information</a:t>
            </a:r>
            <a:r>
              <a:rPr lang="en-US" sz="4400" dirty="0" smtClean="0"/>
              <a:t>.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class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BankFactory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extends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AbstractFactory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{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public Bank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getBank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(String bank) 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{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if (bank == null) {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    throw new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IllegalArgumentException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("Bank type cannot be null");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switch (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bank.toLowerCase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()) 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{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    case "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hdfc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":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        return new HDFC();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 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           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case "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icici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":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        return new ICICI();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 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           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case "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sbi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":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        return new SBI();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 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           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default: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        throw new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IllegalArgumentException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("Unknown bank type: " + bank);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}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 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@Override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public Loan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getLoan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(String loan) {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//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BankFactory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does NOT create Loan objects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    throw new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UnsupportedOperationException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("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BankFactory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cannot create Loan objects");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1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5333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 6: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990600"/>
            <a:ext cx="7704667" cy="5486400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class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LoanFactory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extends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AbstractFactory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@Override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public Bank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getBank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(String bank)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throw new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UnsupportedOperationException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LoanFactory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cannot create Bank");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@Override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public Loan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getLoan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(String loan)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if (loan == null)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throw new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IllegalArgumentException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("Loan type cannot be null");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switch 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loan.toLowerCase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()) 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case "home":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return new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HomeLoan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case "business":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return new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BusinessLoan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case "education":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return new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EducationLoan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default: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throw new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IllegalArgumentException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("Invalid Loan Type: " + loan);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210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5333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 7: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1861" y="964660"/>
            <a:ext cx="7704667" cy="57150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Create a </a:t>
            </a:r>
            <a:r>
              <a:rPr lang="en-US" dirty="0" err="1"/>
              <a:t>FactoryCreator</a:t>
            </a:r>
            <a:r>
              <a:rPr lang="en-US" dirty="0"/>
              <a:t> class to get the factories by passing an information such as Bank or Loan.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class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FactoryCreator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{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public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static final String BANK = "bank";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public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static final String LOAN = "loan";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public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static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AbstractFactory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getFactory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(String choice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marL="114300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 {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if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(choice == null) 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114300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{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throw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new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IllegalArgumentException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("Factory type cannot be null");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}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switch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choice.toLowerCase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())</a:t>
            </a:r>
          </a:p>
          <a:p>
            <a:pPr marL="114300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{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case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BANK: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return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new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BankFactory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case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LOAN: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return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new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LoanFactory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default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throw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new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IllegalArgumentException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("Unknown factory type: " + choice);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	}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}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}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57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4571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 8:</a:t>
            </a: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914400"/>
            <a:ext cx="7704667" cy="5715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Use the </a:t>
            </a:r>
            <a:r>
              <a:rPr lang="en-US" dirty="0" err="1"/>
              <a:t>FactoryCreator</a:t>
            </a:r>
            <a:r>
              <a:rPr lang="en-US" dirty="0"/>
              <a:t> to get </a:t>
            </a:r>
            <a:r>
              <a:rPr lang="en-US" dirty="0" err="1"/>
              <a:t>AbstractFactory</a:t>
            </a:r>
            <a:r>
              <a:rPr lang="en-US" dirty="0"/>
              <a:t> in order to get factories of concrete classes by passing an information such as type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java.util.Scanner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class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AbstractFactoryPatternExample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 {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public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static void main(String[]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args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{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Scanner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= new Scanner(System.in);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System.out.print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("Bank: ");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String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bankName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sc.nextLine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System.out.print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("Loan Type: ");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String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loanName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sc.nextLine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System.out.print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("Rate: ");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	double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rate =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sc.nextDouble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();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76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Step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8229600" cy="57912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System.out.print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("Amount: ");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double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amount =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sc.nextDouble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System.out.print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("Years: ");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years =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sc.nextInt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Bank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bank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FactoryCreator.getFactory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("Bank").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getBank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bankName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);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Loan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loan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FactoryCreator.getFactory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("Loan").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getLoan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loanName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);</a:t>
            </a:r>
            <a:br>
              <a:rPr lang="en-U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System.out.println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("\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nLoan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from: " +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bank.getBankName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());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loan.getInterestRate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(rate);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loan.calculateLoanPayment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(amount, years);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}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453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302DC1-5985-4E23-8622-BF59F60B8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38" y="1066800"/>
            <a:ext cx="892743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461873-33D6-4D7C-84B5-4E4C541B0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51" y="515101"/>
            <a:ext cx="8681297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3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F42534-84D8-4E42-A16D-D58BEB2E5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44346"/>
            <a:ext cx="7681950" cy="598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4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706</TotalTime>
  <Words>1216</Words>
  <Application>Microsoft Office PowerPoint</Application>
  <PresentationFormat>On-screen Show (4:3)</PresentationFormat>
  <Paragraphs>187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Corbel</vt:lpstr>
      <vt:lpstr>Parallax</vt:lpstr>
      <vt:lpstr>Abstract Factory Pattern</vt:lpstr>
      <vt:lpstr>Abstract Factory Pattern</vt:lpstr>
      <vt:lpstr>Advantage and Usage </vt:lpstr>
      <vt:lpstr>PowerPoint Presentation</vt:lpstr>
      <vt:lpstr>Elements of Abstract Factory Pattern</vt:lpstr>
      <vt:lpstr>ConcreteFactory (The Specific Builder)</vt:lpstr>
      <vt:lpstr>AbstractProduct (The General Item Category)</vt:lpstr>
      <vt:lpstr>ConcreteProduct (The Final Item)</vt:lpstr>
      <vt:lpstr>Client (The User or System)</vt:lpstr>
      <vt:lpstr>PowerPoint Presentation</vt:lpstr>
      <vt:lpstr>Example of Abstract Factory Pattern </vt:lpstr>
      <vt:lpstr>Step 2: </vt:lpstr>
      <vt:lpstr>Step 2:</vt:lpstr>
      <vt:lpstr>Step 2:</vt:lpstr>
      <vt:lpstr>Step 3: Create the Loan abstract class. </vt:lpstr>
      <vt:lpstr>Step 4: Create concrete classes that extend the Loan abstract class.. </vt:lpstr>
      <vt:lpstr>Step 5:</vt:lpstr>
      <vt:lpstr>Step 6:</vt:lpstr>
      <vt:lpstr>Step 6:</vt:lpstr>
      <vt:lpstr>Step 7:</vt:lpstr>
      <vt:lpstr>Step 8: </vt:lpstr>
      <vt:lpstr>Step 8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22ad</dc:creator>
  <cp:lastModifiedBy>shehla saeed</cp:lastModifiedBy>
  <cp:revision>69</cp:revision>
  <dcterms:created xsi:type="dcterms:W3CDTF">2019-10-21T17:35:51Z</dcterms:created>
  <dcterms:modified xsi:type="dcterms:W3CDTF">2026-04-11T12:04:24Z</dcterms:modified>
</cp:coreProperties>
</file>
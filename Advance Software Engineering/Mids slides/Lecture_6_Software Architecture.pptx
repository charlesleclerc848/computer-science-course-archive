
<file path=[Content_Types].xml><?xml version="1.0" encoding="utf-8"?>
<Types xmlns="http://schemas.openxmlformats.org/package/2006/content-types">
  <Default Extension="PNG" ContentType="image/png"/>
  <Default Extension="pdf" ContentType="application/pdf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notesMasterIdLst>
    <p:notesMasterId r:id="rId57"/>
  </p:notesMasterIdLst>
  <p:sldIdLst>
    <p:sldId id="290" r:id="rId2"/>
    <p:sldId id="280" r:id="rId3"/>
    <p:sldId id="278" r:id="rId4"/>
    <p:sldId id="279" r:id="rId5"/>
    <p:sldId id="281" r:id="rId6"/>
    <p:sldId id="282" r:id="rId7"/>
    <p:sldId id="283" r:id="rId8"/>
    <p:sldId id="284" r:id="rId9"/>
    <p:sldId id="285" r:id="rId10"/>
    <p:sldId id="286" r:id="rId11"/>
    <p:sldId id="256" r:id="rId12"/>
    <p:sldId id="348" r:id="rId13"/>
    <p:sldId id="257" r:id="rId14"/>
    <p:sldId id="345" r:id="rId15"/>
    <p:sldId id="349" r:id="rId16"/>
    <p:sldId id="287" r:id="rId17"/>
    <p:sldId id="258" r:id="rId18"/>
    <p:sldId id="344" r:id="rId19"/>
    <p:sldId id="293" r:id="rId20"/>
    <p:sldId id="294" r:id="rId21"/>
    <p:sldId id="350" r:id="rId22"/>
    <p:sldId id="259" r:id="rId23"/>
    <p:sldId id="303" r:id="rId24"/>
    <p:sldId id="291" r:id="rId25"/>
    <p:sldId id="292" r:id="rId26"/>
    <p:sldId id="295" r:id="rId27"/>
    <p:sldId id="260" r:id="rId28"/>
    <p:sldId id="346" r:id="rId29"/>
    <p:sldId id="347" r:id="rId30"/>
    <p:sldId id="302" r:id="rId31"/>
    <p:sldId id="265" r:id="rId32"/>
    <p:sldId id="296" r:id="rId33"/>
    <p:sldId id="261" r:id="rId34"/>
    <p:sldId id="289" r:id="rId35"/>
    <p:sldId id="358" r:id="rId36"/>
    <p:sldId id="359" r:id="rId37"/>
    <p:sldId id="360" r:id="rId38"/>
    <p:sldId id="361" r:id="rId39"/>
    <p:sldId id="362" r:id="rId40"/>
    <p:sldId id="363" r:id="rId41"/>
    <p:sldId id="297" r:id="rId42"/>
    <p:sldId id="298" r:id="rId43"/>
    <p:sldId id="299" r:id="rId44"/>
    <p:sldId id="300" r:id="rId45"/>
    <p:sldId id="301" r:id="rId46"/>
    <p:sldId id="263" r:id="rId47"/>
    <p:sldId id="351" r:id="rId48"/>
    <p:sldId id="268" r:id="rId49"/>
    <p:sldId id="352" r:id="rId50"/>
    <p:sldId id="353" r:id="rId51"/>
    <p:sldId id="354" r:id="rId52"/>
    <p:sldId id="355" r:id="rId53"/>
    <p:sldId id="356" r:id="rId54"/>
    <p:sldId id="357" r:id="rId55"/>
    <p:sldId id="264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533" autoAdjust="0"/>
  </p:normalViewPr>
  <p:slideViewPr>
    <p:cSldViewPr snapToGrid="0" snapToObjects="1">
      <p:cViewPr>
        <p:scale>
          <a:sx n="66" d="100"/>
          <a:sy n="66" d="100"/>
        </p:scale>
        <p:origin x="1930" y="2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1334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76D68C-1EB1-4DE7-BF3A-6A44F8433F95}" type="doc">
      <dgm:prSet loTypeId="urn:microsoft.com/office/officeart/2005/8/layout/gear1" loCatId="cycle" qsTypeId="urn:microsoft.com/office/officeart/2005/8/quickstyle/simple1" qsCatId="simple" csTypeId="urn:microsoft.com/office/officeart/2005/8/colors/accent1_2" csCatId="accent1" phldr="1"/>
      <dgm:spPr/>
    </dgm:pt>
    <dgm:pt modelId="{6B724BC8-D095-4CA6-9510-80CD90629CE6}">
      <dgm:prSet phldrT="[Text]" custT="1"/>
      <dgm:spPr>
        <a:solidFill>
          <a:srgbClr val="00B0F0"/>
        </a:solidFill>
      </dgm:spPr>
      <dgm:t>
        <a:bodyPr/>
        <a:lstStyle/>
        <a:p>
          <a:r>
            <a:rPr lang="en-US" sz="2800" b="1" dirty="0"/>
            <a:t>Business</a:t>
          </a:r>
        </a:p>
      </dgm:t>
    </dgm:pt>
    <dgm:pt modelId="{2E9AC8C1-37BA-4539-91B5-63089A6BE343}" type="parTrans" cxnId="{4EBB4D52-BFBB-4217-8728-FD222621C81D}">
      <dgm:prSet/>
      <dgm:spPr/>
      <dgm:t>
        <a:bodyPr/>
        <a:lstStyle/>
        <a:p>
          <a:endParaRPr lang="en-US"/>
        </a:p>
      </dgm:t>
    </dgm:pt>
    <dgm:pt modelId="{F77B3EAF-D793-4D23-9A6A-571D5DF7B5F3}" type="sibTrans" cxnId="{4EBB4D52-BFBB-4217-8728-FD222621C81D}">
      <dgm:prSet/>
      <dgm:spPr/>
      <dgm:t>
        <a:bodyPr/>
        <a:lstStyle/>
        <a:p>
          <a:endParaRPr lang="en-US"/>
        </a:p>
      </dgm:t>
    </dgm:pt>
    <dgm:pt modelId="{0F955D8D-0311-4710-BD7B-1C3D0E0C77B7}">
      <dgm:prSet phldrT="[Text]"/>
      <dgm:spPr>
        <a:solidFill>
          <a:srgbClr val="00B050"/>
        </a:solidFill>
      </dgm:spPr>
      <dgm:t>
        <a:bodyPr/>
        <a:lstStyle/>
        <a:p>
          <a:r>
            <a:rPr lang="en-US" b="1" dirty="0"/>
            <a:t>System</a:t>
          </a:r>
        </a:p>
      </dgm:t>
    </dgm:pt>
    <dgm:pt modelId="{A783002B-8C29-4067-AEF4-EB01D6AC2F5A}" type="parTrans" cxnId="{D49A9243-BD8D-4FB2-B062-97481B189456}">
      <dgm:prSet/>
      <dgm:spPr/>
      <dgm:t>
        <a:bodyPr/>
        <a:lstStyle/>
        <a:p>
          <a:endParaRPr lang="en-US"/>
        </a:p>
      </dgm:t>
    </dgm:pt>
    <dgm:pt modelId="{F6DBCFBA-0A71-41E5-8EC7-F5392C40A9DE}" type="sibTrans" cxnId="{D49A9243-BD8D-4FB2-B062-97481B189456}">
      <dgm:prSet/>
      <dgm:spPr/>
      <dgm:t>
        <a:bodyPr/>
        <a:lstStyle/>
        <a:p>
          <a:endParaRPr lang="en-US"/>
        </a:p>
      </dgm:t>
    </dgm:pt>
    <dgm:pt modelId="{1A79B9D8-5C64-4575-9C8C-525F3A4C750E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b="1" dirty="0"/>
            <a:t>User</a:t>
          </a:r>
        </a:p>
      </dgm:t>
    </dgm:pt>
    <dgm:pt modelId="{29908B39-2684-4E1D-BAE2-0478C9A41AEB}" type="parTrans" cxnId="{2A56F4B3-E83C-46EE-8FF4-310FB0049B38}">
      <dgm:prSet/>
      <dgm:spPr/>
      <dgm:t>
        <a:bodyPr/>
        <a:lstStyle/>
        <a:p>
          <a:endParaRPr lang="en-US"/>
        </a:p>
      </dgm:t>
    </dgm:pt>
    <dgm:pt modelId="{C840054F-A87E-452D-9A6F-BA9E0A10D5E1}" type="sibTrans" cxnId="{2A56F4B3-E83C-46EE-8FF4-310FB0049B38}">
      <dgm:prSet/>
      <dgm:spPr/>
      <dgm:t>
        <a:bodyPr/>
        <a:lstStyle/>
        <a:p>
          <a:endParaRPr lang="en-US"/>
        </a:p>
      </dgm:t>
    </dgm:pt>
    <dgm:pt modelId="{22340FA1-226E-4552-ADB4-6C7D263AA59D}" type="pres">
      <dgm:prSet presAssocID="{8976D68C-1EB1-4DE7-BF3A-6A44F8433F95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89791E98-BB82-455D-B3CA-3A9F1C7E3D51}" type="pres">
      <dgm:prSet presAssocID="{6B724BC8-D095-4CA6-9510-80CD90629CE6}" presName="gear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898EA3D-8C42-45E2-B3F6-A8200380BE5D}" type="pres">
      <dgm:prSet presAssocID="{6B724BC8-D095-4CA6-9510-80CD90629CE6}" presName="gear1srcNode" presStyleLbl="node1" presStyleIdx="0" presStyleCnt="3"/>
      <dgm:spPr/>
      <dgm:t>
        <a:bodyPr/>
        <a:lstStyle/>
        <a:p>
          <a:endParaRPr lang="en-US"/>
        </a:p>
      </dgm:t>
    </dgm:pt>
    <dgm:pt modelId="{31DDC49D-115D-4272-A080-E7EFBCE7BED5}" type="pres">
      <dgm:prSet presAssocID="{6B724BC8-D095-4CA6-9510-80CD90629CE6}" presName="gear1dstNode" presStyleLbl="node1" presStyleIdx="0" presStyleCnt="3"/>
      <dgm:spPr/>
      <dgm:t>
        <a:bodyPr/>
        <a:lstStyle/>
        <a:p>
          <a:endParaRPr lang="en-US"/>
        </a:p>
      </dgm:t>
    </dgm:pt>
    <dgm:pt modelId="{F7AA9D68-3F05-4B98-99DD-7CA07703E67C}" type="pres">
      <dgm:prSet presAssocID="{0F955D8D-0311-4710-BD7B-1C3D0E0C77B7}" presName="gear2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ADB268-69BC-4309-86EC-FCBA7BF8BFE5}" type="pres">
      <dgm:prSet presAssocID="{0F955D8D-0311-4710-BD7B-1C3D0E0C77B7}" presName="gear2srcNode" presStyleLbl="node1" presStyleIdx="1" presStyleCnt="3"/>
      <dgm:spPr/>
      <dgm:t>
        <a:bodyPr/>
        <a:lstStyle/>
        <a:p>
          <a:endParaRPr lang="en-US"/>
        </a:p>
      </dgm:t>
    </dgm:pt>
    <dgm:pt modelId="{1A6312E5-394B-4A8E-8F58-38FB8D27DB89}" type="pres">
      <dgm:prSet presAssocID="{0F955D8D-0311-4710-BD7B-1C3D0E0C77B7}" presName="gear2dstNode" presStyleLbl="node1" presStyleIdx="1" presStyleCnt="3"/>
      <dgm:spPr/>
      <dgm:t>
        <a:bodyPr/>
        <a:lstStyle/>
        <a:p>
          <a:endParaRPr lang="en-US"/>
        </a:p>
      </dgm:t>
    </dgm:pt>
    <dgm:pt modelId="{E36A794B-A496-42BE-B4E7-37F8BCE78970}" type="pres">
      <dgm:prSet presAssocID="{1A79B9D8-5C64-4575-9C8C-525F3A4C750E}" presName="gear3" presStyleLbl="node1" presStyleIdx="2" presStyleCnt="3" custLinFactNeighborY="551"/>
      <dgm:spPr/>
      <dgm:t>
        <a:bodyPr/>
        <a:lstStyle/>
        <a:p>
          <a:endParaRPr lang="en-US"/>
        </a:p>
      </dgm:t>
    </dgm:pt>
    <dgm:pt modelId="{33E59CA4-C1FF-4898-9D01-DEB927B9F4BD}" type="pres">
      <dgm:prSet presAssocID="{1A79B9D8-5C64-4575-9C8C-525F3A4C750E}" presName="gear3tx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5D70CE-8650-4ED3-A070-23B002ED6A19}" type="pres">
      <dgm:prSet presAssocID="{1A79B9D8-5C64-4575-9C8C-525F3A4C750E}" presName="gear3srcNode" presStyleLbl="node1" presStyleIdx="2" presStyleCnt="3"/>
      <dgm:spPr/>
      <dgm:t>
        <a:bodyPr/>
        <a:lstStyle/>
        <a:p>
          <a:endParaRPr lang="en-US"/>
        </a:p>
      </dgm:t>
    </dgm:pt>
    <dgm:pt modelId="{43A8CED4-2474-4045-B72E-09B27716883A}" type="pres">
      <dgm:prSet presAssocID="{1A79B9D8-5C64-4575-9C8C-525F3A4C750E}" presName="gear3dstNode" presStyleLbl="node1" presStyleIdx="2" presStyleCnt="3"/>
      <dgm:spPr/>
      <dgm:t>
        <a:bodyPr/>
        <a:lstStyle/>
        <a:p>
          <a:endParaRPr lang="en-US"/>
        </a:p>
      </dgm:t>
    </dgm:pt>
    <dgm:pt modelId="{2D40C856-D966-4D66-B39C-5C94E67F06D1}" type="pres">
      <dgm:prSet presAssocID="{F77B3EAF-D793-4D23-9A6A-571D5DF7B5F3}" presName="connector1" presStyleLbl="sibTrans2D1" presStyleIdx="0" presStyleCnt="3"/>
      <dgm:spPr/>
      <dgm:t>
        <a:bodyPr/>
        <a:lstStyle/>
        <a:p>
          <a:endParaRPr lang="en-US"/>
        </a:p>
      </dgm:t>
    </dgm:pt>
    <dgm:pt modelId="{980EA3F5-8DAD-4917-8AC7-703D7B2E5ABD}" type="pres">
      <dgm:prSet presAssocID="{F6DBCFBA-0A71-41E5-8EC7-F5392C40A9DE}" presName="connector2" presStyleLbl="sibTrans2D1" presStyleIdx="1" presStyleCnt="3"/>
      <dgm:spPr/>
      <dgm:t>
        <a:bodyPr/>
        <a:lstStyle/>
        <a:p>
          <a:endParaRPr lang="en-US"/>
        </a:p>
      </dgm:t>
    </dgm:pt>
    <dgm:pt modelId="{182D064B-A093-4651-BDD8-EA842C9B3EE4}" type="pres">
      <dgm:prSet presAssocID="{C840054F-A87E-452D-9A6F-BA9E0A10D5E1}" presName="connector3" presStyleLbl="sibTrans2D1" presStyleIdx="2" presStyleCnt="3" custAng="2484830" custLinFactNeighborX="9224" custLinFactNeighborY="3010"/>
      <dgm:spPr/>
      <dgm:t>
        <a:bodyPr/>
        <a:lstStyle/>
        <a:p>
          <a:endParaRPr lang="en-US"/>
        </a:p>
      </dgm:t>
    </dgm:pt>
  </dgm:ptLst>
  <dgm:cxnLst>
    <dgm:cxn modelId="{2A56F4B3-E83C-46EE-8FF4-310FB0049B38}" srcId="{8976D68C-1EB1-4DE7-BF3A-6A44F8433F95}" destId="{1A79B9D8-5C64-4575-9C8C-525F3A4C750E}" srcOrd="2" destOrd="0" parTransId="{29908B39-2684-4E1D-BAE2-0478C9A41AEB}" sibTransId="{C840054F-A87E-452D-9A6F-BA9E0A10D5E1}"/>
    <dgm:cxn modelId="{8708D941-9E81-44B9-A9D1-5B9954EAFC34}" type="presOf" srcId="{1A79B9D8-5C64-4575-9C8C-525F3A4C750E}" destId="{43A8CED4-2474-4045-B72E-09B27716883A}" srcOrd="3" destOrd="0" presId="urn:microsoft.com/office/officeart/2005/8/layout/gear1"/>
    <dgm:cxn modelId="{E213C541-CC06-4F2A-B6FF-8CBA2A2C876C}" type="presOf" srcId="{6B724BC8-D095-4CA6-9510-80CD90629CE6}" destId="{89791E98-BB82-455D-B3CA-3A9F1C7E3D51}" srcOrd="0" destOrd="0" presId="urn:microsoft.com/office/officeart/2005/8/layout/gear1"/>
    <dgm:cxn modelId="{3CA09667-D41F-422E-8192-DA05F4F49995}" type="presOf" srcId="{1A79B9D8-5C64-4575-9C8C-525F3A4C750E}" destId="{33E59CA4-C1FF-4898-9D01-DEB927B9F4BD}" srcOrd="1" destOrd="0" presId="urn:microsoft.com/office/officeart/2005/8/layout/gear1"/>
    <dgm:cxn modelId="{48396B0A-75D7-4C42-A362-24E69793EE46}" type="presOf" srcId="{0F955D8D-0311-4710-BD7B-1C3D0E0C77B7}" destId="{62ADB268-69BC-4309-86EC-FCBA7BF8BFE5}" srcOrd="1" destOrd="0" presId="urn:microsoft.com/office/officeart/2005/8/layout/gear1"/>
    <dgm:cxn modelId="{4EBB4D52-BFBB-4217-8728-FD222621C81D}" srcId="{8976D68C-1EB1-4DE7-BF3A-6A44F8433F95}" destId="{6B724BC8-D095-4CA6-9510-80CD90629CE6}" srcOrd="0" destOrd="0" parTransId="{2E9AC8C1-37BA-4539-91B5-63089A6BE343}" sibTransId="{F77B3EAF-D793-4D23-9A6A-571D5DF7B5F3}"/>
    <dgm:cxn modelId="{B402AC43-23D3-4B3D-9519-91AF8FE39D74}" type="presOf" srcId="{F6DBCFBA-0A71-41E5-8EC7-F5392C40A9DE}" destId="{980EA3F5-8DAD-4917-8AC7-703D7B2E5ABD}" srcOrd="0" destOrd="0" presId="urn:microsoft.com/office/officeart/2005/8/layout/gear1"/>
    <dgm:cxn modelId="{8EF23AA9-3AB4-444A-9DBA-9ED7630D41A3}" type="presOf" srcId="{1A79B9D8-5C64-4575-9C8C-525F3A4C750E}" destId="{E36A794B-A496-42BE-B4E7-37F8BCE78970}" srcOrd="0" destOrd="0" presId="urn:microsoft.com/office/officeart/2005/8/layout/gear1"/>
    <dgm:cxn modelId="{FF04AB16-22ED-4601-BAB6-E111E0CF1E43}" type="presOf" srcId="{6B724BC8-D095-4CA6-9510-80CD90629CE6}" destId="{31DDC49D-115D-4272-A080-E7EFBCE7BED5}" srcOrd="2" destOrd="0" presId="urn:microsoft.com/office/officeart/2005/8/layout/gear1"/>
    <dgm:cxn modelId="{868C622B-F9CD-45C4-BAFB-25C33557A8F3}" type="presOf" srcId="{6B724BC8-D095-4CA6-9510-80CD90629CE6}" destId="{1898EA3D-8C42-45E2-B3F6-A8200380BE5D}" srcOrd="1" destOrd="0" presId="urn:microsoft.com/office/officeart/2005/8/layout/gear1"/>
    <dgm:cxn modelId="{C11C7EF7-D942-4A43-8287-91A241039904}" type="presOf" srcId="{0F955D8D-0311-4710-BD7B-1C3D0E0C77B7}" destId="{F7AA9D68-3F05-4B98-99DD-7CA07703E67C}" srcOrd="0" destOrd="0" presId="urn:microsoft.com/office/officeart/2005/8/layout/gear1"/>
    <dgm:cxn modelId="{CAEC6BE0-1BF7-4FF7-9DEB-4FE88C92C84D}" type="presOf" srcId="{0F955D8D-0311-4710-BD7B-1C3D0E0C77B7}" destId="{1A6312E5-394B-4A8E-8F58-38FB8D27DB89}" srcOrd="2" destOrd="0" presId="urn:microsoft.com/office/officeart/2005/8/layout/gear1"/>
    <dgm:cxn modelId="{D49A9243-BD8D-4FB2-B062-97481B189456}" srcId="{8976D68C-1EB1-4DE7-BF3A-6A44F8433F95}" destId="{0F955D8D-0311-4710-BD7B-1C3D0E0C77B7}" srcOrd="1" destOrd="0" parTransId="{A783002B-8C29-4067-AEF4-EB01D6AC2F5A}" sibTransId="{F6DBCFBA-0A71-41E5-8EC7-F5392C40A9DE}"/>
    <dgm:cxn modelId="{E3E951AB-C319-4028-A61F-23D199DF5591}" type="presOf" srcId="{F77B3EAF-D793-4D23-9A6A-571D5DF7B5F3}" destId="{2D40C856-D966-4D66-B39C-5C94E67F06D1}" srcOrd="0" destOrd="0" presId="urn:microsoft.com/office/officeart/2005/8/layout/gear1"/>
    <dgm:cxn modelId="{1D25C685-77D1-4846-9D50-9642F64ED73E}" type="presOf" srcId="{8976D68C-1EB1-4DE7-BF3A-6A44F8433F95}" destId="{22340FA1-226E-4552-ADB4-6C7D263AA59D}" srcOrd="0" destOrd="0" presId="urn:microsoft.com/office/officeart/2005/8/layout/gear1"/>
    <dgm:cxn modelId="{28622556-38A5-4993-A9A1-69714C15B4F1}" type="presOf" srcId="{1A79B9D8-5C64-4575-9C8C-525F3A4C750E}" destId="{CC5D70CE-8650-4ED3-A070-23B002ED6A19}" srcOrd="2" destOrd="0" presId="urn:microsoft.com/office/officeart/2005/8/layout/gear1"/>
    <dgm:cxn modelId="{17A1EF66-7627-4836-89DE-693723142232}" type="presOf" srcId="{C840054F-A87E-452D-9A6F-BA9E0A10D5E1}" destId="{182D064B-A093-4651-BDD8-EA842C9B3EE4}" srcOrd="0" destOrd="0" presId="urn:microsoft.com/office/officeart/2005/8/layout/gear1"/>
    <dgm:cxn modelId="{63FC8059-608B-490F-971E-F95CA758382D}" type="presParOf" srcId="{22340FA1-226E-4552-ADB4-6C7D263AA59D}" destId="{89791E98-BB82-455D-B3CA-3A9F1C7E3D51}" srcOrd="0" destOrd="0" presId="urn:microsoft.com/office/officeart/2005/8/layout/gear1"/>
    <dgm:cxn modelId="{AD81B417-541D-418A-9BC7-F3AEFEAA3D64}" type="presParOf" srcId="{22340FA1-226E-4552-ADB4-6C7D263AA59D}" destId="{1898EA3D-8C42-45E2-B3F6-A8200380BE5D}" srcOrd="1" destOrd="0" presId="urn:microsoft.com/office/officeart/2005/8/layout/gear1"/>
    <dgm:cxn modelId="{310E7A59-5CAD-43BA-AD0A-A31F7626D477}" type="presParOf" srcId="{22340FA1-226E-4552-ADB4-6C7D263AA59D}" destId="{31DDC49D-115D-4272-A080-E7EFBCE7BED5}" srcOrd="2" destOrd="0" presId="urn:microsoft.com/office/officeart/2005/8/layout/gear1"/>
    <dgm:cxn modelId="{3790EE6C-ECE9-43E3-AA6D-CE35C41BA8B5}" type="presParOf" srcId="{22340FA1-226E-4552-ADB4-6C7D263AA59D}" destId="{F7AA9D68-3F05-4B98-99DD-7CA07703E67C}" srcOrd="3" destOrd="0" presId="urn:microsoft.com/office/officeart/2005/8/layout/gear1"/>
    <dgm:cxn modelId="{9957879A-134E-4CEF-9ACA-7609EDF3DE7D}" type="presParOf" srcId="{22340FA1-226E-4552-ADB4-6C7D263AA59D}" destId="{62ADB268-69BC-4309-86EC-FCBA7BF8BFE5}" srcOrd="4" destOrd="0" presId="urn:microsoft.com/office/officeart/2005/8/layout/gear1"/>
    <dgm:cxn modelId="{333A22B5-F8D3-4EC5-9AC1-76EBE6438643}" type="presParOf" srcId="{22340FA1-226E-4552-ADB4-6C7D263AA59D}" destId="{1A6312E5-394B-4A8E-8F58-38FB8D27DB89}" srcOrd="5" destOrd="0" presId="urn:microsoft.com/office/officeart/2005/8/layout/gear1"/>
    <dgm:cxn modelId="{427E32AE-B519-4062-A742-61EA4FBED941}" type="presParOf" srcId="{22340FA1-226E-4552-ADB4-6C7D263AA59D}" destId="{E36A794B-A496-42BE-B4E7-37F8BCE78970}" srcOrd="6" destOrd="0" presId="urn:microsoft.com/office/officeart/2005/8/layout/gear1"/>
    <dgm:cxn modelId="{D1D8A1B8-B022-4EDC-AA9A-CAD820609A5D}" type="presParOf" srcId="{22340FA1-226E-4552-ADB4-6C7D263AA59D}" destId="{33E59CA4-C1FF-4898-9D01-DEB927B9F4BD}" srcOrd="7" destOrd="0" presId="urn:microsoft.com/office/officeart/2005/8/layout/gear1"/>
    <dgm:cxn modelId="{8B064C15-EF98-4D93-BB8E-3ADF9661B772}" type="presParOf" srcId="{22340FA1-226E-4552-ADB4-6C7D263AA59D}" destId="{CC5D70CE-8650-4ED3-A070-23B002ED6A19}" srcOrd="8" destOrd="0" presId="urn:microsoft.com/office/officeart/2005/8/layout/gear1"/>
    <dgm:cxn modelId="{8CA73279-4F2E-47D7-A27A-A5883E0B7C38}" type="presParOf" srcId="{22340FA1-226E-4552-ADB4-6C7D263AA59D}" destId="{43A8CED4-2474-4045-B72E-09B27716883A}" srcOrd="9" destOrd="0" presId="urn:microsoft.com/office/officeart/2005/8/layout/gear1"/>
    <dgm:cxn modelId="{C68A5C0A-31B0-41E5-91A9-F36BC1CCB6E4}" type="presParOf" srcId="{22340FA1-226E-4552-ADB4-6C7D263AA59D}" destId="{2D40C856-D966-4D66-B39C-5C94E67F06D1}" srcOrd="10" destOrd="0" presId="urn:microsoft.com/office/officeart/2005/8/layout/gear1"/>
    <dgm:cxn modelId="{6C623FAE-01F5-4A5E-B1E3-024D57905FAA}" type="presParOf" srcId="{22340FA1-226E-4552-ADB4-6C7D263AA59D}" destId="{980EA3F5-8DAD-4917-8AC7-703D7B2E5ABD}" srcOrd="11" destOrd="0" presId="urn:microsoft.com/office/officeart/2005/8/layout/gear1"/>
    <dgm:cxn modelId="{E1D31941-1326-4C7E-BA0C-A5C0E527741E}" type="presParOf" srcId="{22340FA1-226E-4552-ADB4-6C7D263AA59D}" destId="{182D064B-A093-4651-BDD8-EA842C9B3EE4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791E98-BB82-455D-B3CA-3A9F1C7E3D51}">
      <dsp:nvSpPr>
        <dsp:cNvPr id="0" name=""/>
        <dsp:cNvSpPr/>
      </dsp:nvSpPr>
      <dsp:spPr>
        <a:xfrm>
          <a:off x="4018279" y="1897380"/>
          <a:ext cx="2319020" cy="2319020"/>
        </a:xfrm>
        <a:prstGeom prst="gear9">
          <a:avLst/>
        </a:prstGeom>
        <a:solidFill>
          <a:srgbClr val="00B0F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/>
            <a:t>Business</a:t>
          </a:r>
        </a:p>
      </dsp:txBody>
      <dsp:txXfrm>
        <a:off x="4484505" y="2440599"/>
        <a:ext cx="1386568" cy="1192025"/>
      </dsp:txXfrm>
    </dsp:sp>
    <dsp:sp modelId="{F7AA9D68-3F05-4B98-99DD-7CA07703E67C}">
      <dsp:nvSpPr>
        <dsp:cNvPr id="0" name=""/>
        <dsp:cNvSpPr/>
      </dsp:nvSpPr>
      <dsp:spPr>
        <a:xfrm>
          <a:off x="2669031" y="1349248"/>
          <a:ext cx="1686560" cy="1686560"/>
        </a:xfrm>
        <a:prstGeom prst="gear6">
          <a:avLst/>
        </a:prstGeom>
        <a:solidFill>
          <a:srgbClr val="00B05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dirty="0"/>
            <a:t>System</a:t>
          </a:r>
        </a:p>
      </dsp:txBody>
      <dsp:txXfrm>
        <a:off x="3093628" y="1776411"/>
        <a:ext cx="837366" cy="832234"/>
      </dsp:txXfrm>
    </dsp:sp>
    <dsp:sp modelId="{E36A794B-A496-42BE-B4E7-37F8BCE78970}">
      <dsp:nvSpPr>
        <dsp:cNvPr id="0" name=""/>
        <dsp:cNvSpPr/>
      </dsp:nvSpPr>
      <dsp:spPr>
        <a:xfrm rot="20700000">
          <a:off x="3613677" y="196845"/>
          <a:ext cx="1652484" cy="1652484"/>
        </a:xfrm>
        <a:prstGeom prst="gear6">
          <a:avLst/>
        </a:prstGeom>
        <a:solidFill>
          <a:schemeClr val="accent6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dirty="0"/>
            <a:t>User</a:t>
          </a:r>
        </a:p>
      </dsp:txBody>
      <dsp:txXfrm rot="-20700000">
        <a:off x="3976116" y="559283"/>
        <a:ext cx="927608" cy="927608"/>
      </dsp:txXfrm>
    </dsp:sp>
    <dsp:sp modelId="{2D40C856-D966-4D66-B39C-5C94E67F06D1}">
      <dsp:nvSpPr>
        <dsp:cNvPr id="0" name=""/>
        <dsp:cNvSpPr/>
      </dsp:nvSpPr>
      <dsp:spPr>
        <a:xfrm>
          <a:off x="3840205" y="1547306"/>
          <a:ext cx="2968345" cy="2968345"/>
        </a:xfrm>
        <a:prstGeom prst="circularArrow">
          <a:avLst>
            <a:gd name="adj1" fmla="val 4687"/>
            <a:gd name="adj2" fmla="val 299029"/>
            <a:gd name="adj3" fmla="val 2516765"/>
            <a:gd name="adj4" fmla="val 15859986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0EA3F5-8DAD-4917-8AC7-703D7B2E5ABD}">
      <dsp:nvSpPr>
        <dsp:cNvPr id="0" name=""/>
        <dsp:cNvSpPr/>
      </dsp:nvSpPr>
      <dsp:spPr>
        <a:xfrm>
          <a:off x="2370345" y="975981"/>
          <a:ext cx="2156688" cy="2156688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D064B-A093-4651-BDD8-EA842C9B3EE4}">
      <dsp:nvSpPr>
        <dsp:cNvPr id="0" name=""/>
        <dsp:cNvSpPr/>
      </dsp:nvSpPr>
      <dsp:spPr>
        <a:xfrm rot="2484830">
          <a:off x="3445930" y="-106364"/>
          <a:ext cx="2325344" cy="2325344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A72D27-8D09-4A9E-904E-7EB3DDD3C1C8}" type="datetimeFigureOut">
              <a:rPr lang="en-PK" smtClean="0"/>
              <a:t>03/24/2026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28D526-74ED-40FC-9D6A-B784FA75B32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9923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Key Concept</a:t>
            </a:r>
          </a:p>
          <a:p>
            <a:r>
              <a:rPr lang="en-US" dirty="0"/>
              <a:t>A </a:t>
            </a:r>
            <a:r>
              <a:rPr lang="en-US" b="1" dirty="0"/>
              <a:t>central repository (database or data store)</a:t>
            </a:r>
            <a:r>
              <a:rPr lang="en-US" dirty="0"/>
              <a:t> is the heart of the system.</a:t>
            </a:r>
          </a:p>
          <a:p>
            <a:r>
              <a:rPr lang="en-US" b="1" dirty="0"/>
              <a:t>Subsystems (components)</a:t>
            </a:r>
            <a:r>
              <a:rPr lang="en-US" dirty="0"/>
              <a:t> perform operations like reading, updating, and processing data stored in the repository.</a:t>
            </a:r>
          </a:p>
          <a:p>
            <a:r>
              <a:rPr lang="en-US" dirty="0"/>
              <a:t>The repository acts as a </a:t>
            </a:r>
            <a:r>
              <a:rPr lang="en-US" b="1" dirty="0"/>
              <a:t>common communication medium</a:t>
            </a:r>
            <a:r>
              <a:rPr lang="en-US" dirty="0"/>
              <a:t> between components.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8D526-74ED-40FC-9D6A-B784FA75B321}" type="slidenum">
              <a:rPr lang="en-PK" smtClean="0"/>
              <a:t>12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88860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b="1" dirty="0"/>
              <a:t>Advantages</a:t>
            </a:r>
          </a:p>
          <a:p>
            <a:r>
              <a:rPr lang="en-US" dirty="0"/>
              <a:t>✅ </a:t>
            </a:r>
            <a:r>
              <a:rPr lang="en-US" b="1" dirty="0"/>
              <a:t>Data Sharing Made Easy</a:t>
            </a:r>
            <a:endParaRPr lang="en-US" dirty="0"/>
          </a:p>
          <a:p>
            <a:r>
              <a:rPr lang="en-US" dirty="0"/>
              <a:t>All modules access the same repository, ensuring consistent data.</a:t>
            </a:r>
          </a:p>
          <a:p>
            <a:r>
              <a:rPr lang="en-US" dirty="0"/>
              <a:t>✅ </a:t>
            </a:r>
            <a:r>
              <a:rPr lang="en-US" b="1" dirty="0"/>
              <a:t>Centralized Management</a:t>
            </a:r>
            <a:endParaRPr lang="en-US" dirty="0"/>
          </a:p>
          <a:p>
            <a:r>
              <a:rPr lang="en-US" dirty="0"/>
              <a:t>Data backup, security, and access control are easier to manage centrally.</a:t>
            </a:r>
          </a:p>
          <a:p>
            <a:r>
              <a:rPr lang="en-US" dirty="0"/>
              <a:t>✅ </a:t>
            </a:r>
            <a:r>
              <a:rPr lang="en-US" b="1" dirty="0"/>
              <a:t>Scalability</a:t>
            </a:r>
            <a:endParaRPr lang="en-US" dirty="0"/>
          </a:p>
          <a:p>
            <a:r>
              <a:rPr lang="en-US" dirty="0"/>
              <a:t>New modules can be added easily if they use the same data model.</a:t>
            </a:r>
          </a:p>
          <a:p>
            <a:r>
              <a:rPr lang="en-US" dirty="0"/>
              <a:t>✅ </a:t>
            </a:r>
            <a:r>
              <a:rPr lang="en-US" b="1" dirty="0"/>
              <a:t>Reduced Data Redundancy</a:t>
            </a:r>
            <a:endParaRPr lang="en-US" dirty="0"/>
          </a:p>
          <a:p>
            <a:r>
              <a:rPr lang="en-US" dirty="0"/>
              <a:t>Data is stored once and shared among components.</a:t>
            </a:r>
          </a:p>
          <a:p>
            <a:r>
              <a:rPr lang="en-US" dirty="0"/>
              <a:t>✅ </a:t>
            </a:r>
            <a:r>
              <a:rPr lang="en-US" b="1" dirty="0"/>
              <a:t>Consistency and Integrity</a:t>
            </a:r>
            <a:endParaRPr lang="en-US" dirty="0"/>
          </a:p>
          <a:p>
            <a:r>
              <a:rPr lang="en-US" dirty="0"/>
              <a:t>A single source of truth avoids conflicts or duplicates.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b="1" dirty="0"/>
              <a:t>Disadvantages</a:t>
            </a:r>
          </a:p>
          <a:p>
            <a:r>
              <a:rPr lang="en-US" dirty="0"/>
              <a:t>❌ </a:t>
            </a:r>
            <a:r>
              <a:rPr lang="en-US" b="1" dirty="0"/>
              <a:t>Single Point of Failure</a:t>
            </a:r>
            <a:endParaRPr lang="en-US" dirty="0"/>
          </a:p>
          <a:p>
            <a:r>
              <a:rPr lang="en-US" dirty="0"/>
              <a:t>If the repository crashes, the whole system may stop working.</a:t>
            </a:r>
          </a:p>
          <a:p>
            <a:r>
              <a:rPr lang="en-US" dirty="0"/>
              <a:t>❌ </a:t>
            </a:r>
            <a:r>
              <a:rPr lang="en-US" b="1" dirty="0"/>
              <a:t>Performance Bottleneck</a:t>
            </a:r>
            <a:endParaRPr lang="en-US" dirty="0"/>
          </a:p>
          <a:p>
            <a:r>
              <a:rPr lang="en-US" dirty="0"/>
              <a:t>Too many components accessing the same data can slow down the system.</a:t>
            </a:r>
          </a:p>
          <a:p>
            <a:r>
              <a:rPr lang="en-US" dirty="0"/>
              <a:t>❌ </a:t>
            </a:r>
            <a:r>
              <a:rPr lang="en-US" b="1" dirty="0"/>
              <a:t>Complex Data Model</a:t>
            </a:r>
            <a:endParaRPr lang="en-US" dirty="0"/>
          </a:p>
          <a:p>
            <a:r>
              <a:rPr lang="en-US" dirty="0"/>
              <a:t>Repository structure must meet the needs of all components, which can be hard to design.</a:t>
            </a:r>
          </a:p>
          <a:p>
            <a:r>
              <a:rPr lang="en-US" dirty="0"/>
              <a:t>❌ </a:t>
            </a:r>
            <a:r>
              <a:rPr lang="en-US" b="1" dirty="0"/>
              <a:t>Low Modularity</a:t>
            </a:r>
            <a:endParaRPr lang="en-US" dirty="0"/>
          </a:p>
          <a:p>
            <a:r>
              <a:rPr lang="en-US" dirty="0"/>
              <a:t>Changes in repository structure may require changes in all connected components.</a:t>
            </a:r>
          </a:p>
          <a:p>
            <a:r>
              <a:rPr lang="en-US" dirty="0"/>
              <a:t>❌ </a:t>
            </a:r>
            <a:r>
              <a:rPr lang="en-US" b="1" dirty="0"/>
              <a:t>Security Risks</a:t>
            </a:r>
            <a:endParaRPr lang="en-US" dirty="0"/>
          </a:p>
          <a:p>
            <a:r>
              <a:rPr lang="en-US" dirty="0"/>
              <a:t>Centralized data makes the system vulnerable to breaches if not well protected.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b="1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8D526-74ED-40FC-9D6A-B784FA75B321}" type="slidenum">
              <a:rPr lang="en-PK" smtClean="0"/>
              <a:t>13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13922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28D526-74ED-40FC-9D6A-B784FA75B321}" type="slidenum">
              <a:rPr lang="en-PK" smtClean="0"/>
              <a:t>15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77025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Client–Server Architecture</a:t>
            </a:r>
            <a:r>
              <a:rPr lang="en-US" dirty="0"/>
              <a:t> divides a system into two main parts:</a:t>
            </a:r>
          </a:p>
          <a:p>
            <a:r>
              <a:rPr lang="en-US" b="1" dirty="0"/>
              <a:t>Client:</a:t>
            </a:r>
            <a:r>
              <a:rPr lang="en-US" dirty="0"/>
              <a:t> The front-end that interacts with the user.</a:t>
            </a:r>
          </a:p>
          <a:p>
            <a:r>
              <a:rPr lang="en-US" b="1" dirty="0"/>
              <a:t>Server:</a:t>
            </a:r>
            <a:r>
              <a:rPr lang="en-US" dirty="0"/>
              <a:t> The back-end that provides services, processes requests, and stores data.</a:t>
            </a:r>
          </a:p>
          <a:p>
            <a:r>
              <a:rPr lang="en-US" dirty="0"/>
              <a:t>They communicate over a </a:t>
            </a:r>
            <a:r>
              <a:rPr lang="en-US" b="1" dirty="0"/>
              <a:t>network</a:t>
            </a:r>
            <a:r>
              <a:rPr lang="en-US" dirty="0"/>
              <a:t> using a </a:t>
            </a:r>
            <a:r>
              <a:rPr lang="en-US" b="1" dirty="0"/>
              <a:t>request–response model</a:t>
            </a:r>
            <a:r>
              <a:rPr lang="en-US" dirty="0"/>
              <a:t>:</a:t>
            </a:r>
          </a:p>
          <a:p>
            <a:r>
              <a:rPr lang="en-US" dirty="0"/>
              <a:t>Client sends a </a:t>
            </a:r>
            <a:r>
              <a:rPr lang="en-US" b="1" dirty="0"/>
              <a:t>request</a:t>
            </a:r>
            <a:r>
              <a:rPr lang="en-US" dirty="0"/>
              <a:t> to the server.</a:t>
            </a:r>
          </a:p>
          <a:p>
            <a:r>
              <a:rPr lang="en-US" dirty="0"/>
              <a:t>Server processes it and sends a </a:t>
            </a:r>
            <a:r>
              <a:rPr lang="en-US" b="1" dirty="0"/>
              <a:t>response</a:t>
            </a:r>
            <a:r>
              <a:rPr lang="en-US" dirty="0"/>
              <a:t> back.</a:t>
            </a:r>
          </a:p>
          <a:p>
            <a:endParaRPr lang="en-US" dirty="0"/>
          </a:p>
          <a:p>
            <a:r>
              <a:rPr lang="en-US" b="1" dirty="0"/>
              <a:t>🔹 Advantages</a:t>
            </a:r>
          </a:p>
          <a:p>
            <a:r>
              <a:rPr lang="en-US" dirty="0"/>
              <a:t>✅ Centralized control and management.</a:t>
            </a:r>
            <a:br>
              <a:rPr lang="en-US" dirty="0"/>
            </a:br>
            <a:r>
              <a:rPr lang="en-US" dirty="0"/>
              <a:t>✅ Easier to maintain and update.</a:t>
            </a:r>
            <a:br>
              <a:rPr lang="en-US" dirty="0"/>
            </a:br>
            <a:r>
              <a:rPr lang="en-US" dirty="0"/>
              <a:t>✅ Multiple clients can use one server.</a:t>
            </a:r>
            <a:br>
              <a:rPr lang="en-US" dirty="0"/>
            </a:br>
            <a:r>
              <a:rPr lang="en-US" dirty="0"/>
              <a:t>✅ Data stored securely on the server.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b="1" dirty="0"/>
              <a:t>🔹 Disadvantages</a:t>
            </a:r>
          </a:p>
          <a:p>
            <a:r>
              <a:rPr lang="en-US" dirty="0"/>
              <a:t>❌ Server overload if too many clients.</a:t>
            </a:r>
            <a:br>
              <a:rPr lang="en-US" dirty="0"/>
            </a:br>
            <a:r>
              <a:rPr lang="en-US" dirty="0"/>
              <a:t>❌ Dependent on network connection.</a:t>
            </a:r>
            <a:br>
              <a:rPr lang="en-US" dirty="0"/>
            </a:br>
            <a:r>
              <a:rPr lang="en-US" dirty="0"/>
              <a:t>❌ Single server failure can stop services.</a:t>
            </a:r>
          </a:p>
          <a:p>
            <a:endParaRPr lang="en-US" dirty="0"/>
          </a:p>
          <a:p>
            <a:endParaRPr lang="en-US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8D526-74ED-40FC-9D6A-B784FA75B321}" type="slidenum">
              <a:rPr lang="en-PK" smtClean="0"/>
              <a:t>17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94452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Example : Email System</a:t>
            </a:r>
          </a:p>
          <a:p>
            <a:r>
              <a:rPr lang="en-US" b="1" dirty="0"/>
              <a:t>Client:</a:t>
            </a:r>
            <a:r>
              <a:rPr lang="en-US" dirty="0"/>
              <a:t> Email application (e.g., Gmail app, Outlook)</a:t>
            </a:r>
          </a:p>
          <a:p>
            <a:r>
              <a:rPr lang="en-US" b="1" dirty="0"/>
              <a:t>Server:</a:t>
            </a:r>
            <a:r>
              <a:rPr lang="en-US" dirty="0"/>
              <a:t> Mail server (SMTP for sending, IMAP/POP3 for receiving)</a:t>
            </a:r>
          </a:p>
          <a:p>
            <a:r>
              <a:rPr lang="en-US" b="1" dirty="0"/>
              <a:t>Process:</a:t>
            </a:r>
            <a:endParaRPr lang="en-US" dirty="0"/>
          </a:p>
          <a:p>
            <a:pPr lvl="1"/>
            <a:r>
              <a:rPr lang="en-US" dirty="0"/>
              <a:t>Client sends an email → SMTP server delivers it to recipient’s mail server.</a:t>
            </a:r>
          </a:p>
          <a:p>
            <a:pPr lvl="1"/>
            <a:r>
              <a:rPr lang="en-US" dirty="0"/>
              <a:t>Recipient’s email client retrieves it via IMAP or POP3.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8D526-74ED-40FC-9D6A-B784FA75B321}" type="slidenum">
              <a:rPr lang="en-PK" smtClean="0"/>
              <a:t>19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83068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b="1" dirty="0"/>
              <a:t>🔹 Advantages</a:t>
            </a:r>
          </a:p>
          <a:p>
            <a:r>
              <a:rPr lang="en-US" dirty="0"/>
              <a:t>✅ Easy to </a:t>
            </a:r>
            <a:r>
              <a:rPr lang="en-US" b="1" dirty="0"/>
              <a:t>maintain and update</a:t>
            </a:r>
            <a:r>
              <a:rPr lang="en-US" dirty="0"/>
              <a:t> (each layer can be modified independently).</a:t>
            </a:r>
            <a:br>
              <a:rPr lang="en-US" dirty="0"/>
            </a:br>
            <a:r>
              <a:rPr lang="en-US" dirty="0"/>
              <a:t>✅ Supports </a:t>
            </a:r>
            <a:r>
              <a:rPr lang="en-US" b="1" dirty="0"/>
              <a:t>scalability</a:t>
            </a:r>
            <a:r>
              <a:rPr lang="en-US" dirty="0"/>
              <a:t> and </a:t>
            </a:r>
            <a:r>
              <a:rPr lang="en-US" b="1" dirty="0"/>
              <a:t>reusability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✅ Promotes </a:t>
            </a:r>
            <a:r>
              <a:rPr lang="en-US" b="1" dirty="0"/>
              <a:t>clear structure and organization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✅ Easy to test and debug.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b="1" dirty="0"/>
              <a:t>🔹 Disadvantages</a:t>
            </a:r>
          </a:p>
          <a:p>
            <a:r>
              <a:rPr lang="en-US" dirty="0"/>
              <a:t>❌ Slightly </a:t>
            </a:r>
            <a:r>
              <a:rPr lang="en-US" b="1" dirty="0"/>
              <a:t>slower performance</a:t>
            </a:r>
            <a:r>
              <a:rPr lang="en-US" dirty="0"/>
              <a:t> due to multiple layers.</a:t>
            </a:r>
            <a:br>
              <a:rPr lang="en-US" dirty="0"/>
            </a:br>
            <a:r>
              <a:rPr lang="en-US" dirty="0"/>
              <a:t>❌ Can be </a:t>
            </a:r>
            <a:r>
              <a:rPr lang="en-US" b="1" dirty="0"/>
              <a:t>rigid</a:t>
            </a:r>
            <a:r>
              <a:rPr lang="en-US" dirty="0"/>
              <a:t> — changes in one layer may require updates in others.</a:t>
            </a:r>
            <a:br>
              <a:rPr lang="en-US" dirty="0"/>
            </a:br>
            <a:r>
              <a:rPr lang="en-US" dirty="0"/>
              <a:t>❌ Not ideal for </a:t>
            </a:r>
            <a:r>
              <a:rPr lang="en-US" b="1" dirty="0"/>
              <a:t>real-time</a:t>
            </a:r>
            <a:r>
              <a:rPr lang="en-US" dirty="0"/>
              <a:t> or </a:t>
            </a:r>
            <a:r>
              <a:rPr lang="en-US" b="1" dirty="0"/>
              <a:t>high-speed</a:t>
            </a:r>
            <a:r>
              <a:rPr lang="en-US" dirty="0"/>
              <a:t> systems.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8D526-74ED-40FC-9D6A-B784FA75B321}" type="slidenum">
              <a:rPr lang="en-PK" smtClean="0"/>
              <a:t>22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82393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8D526-74ED-40FC-9D6A-B784FA75B321}" type="slidenum">
              <a:rPr lang="en-PK" smtClean="0"/>
              <a:t>24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18065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layer performs a defined task.</a:t>
            </a:r>
          </a:p>
          <a:p>
            <a:r>
              <a:rPr lang="en-US" dirty="0"/>
              <a:t>Communication happens </a:t>
            </a:r>
            <a:r>
              <a:rPr lang="en-US" b="1" dirty="0"/>
              <a:t>only between adjacent layers</a:t>
            </a:r>
            <a:r>
              <a:rPr lang="en-US" dirty="0"/>
              <a:t>.</a:t>
            </a:r>
          </a:p>
          <a:p>
            <a:r>
              <a:rPr lang="en-US" dirty="0"/>
              <a:t>Makes large applications </a:t>
            </a:r>
            <a:r>
              <a:rPr lang="en-US" b="1" dirty="0"/>
              <a:t>easier to build, modify, and understand</a:t>
            </a:r>
            <a:r>
              <a:rPr lang="en-US" dirty="0"/>
              <a:t>.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8D526-74ED-40FC-9D6A-B784FA75B321}" type="slidenum">
              <a:rPr lang="en-PK" smtClean="0"/>
              <a:t>25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62090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b="1" dirty="0"/>
              <a:t>Key Concept</a:t>
            </a:r>
          </a:p>
          <a:p>
            <a:r>
              <a:rPr lang="en-US" b="1" dirty="0"/>
              <a:t>Filter:</a:t>
            </a:r>
            <a:r>
              <a:rPr lang="en-US" dirty="0"/>
              <a:t> Independent component that performs a specific transformation or computation on data.</a:t>
            </a:r>
          </a:p>
          <a:p>
            <a:r>
              <a:rPr lang="en-US" b="1" dirty="0"/>
              <a:t>Pipe:</a:t>
            </a:r>
            <a:r>
              <a:rPr lang="en-US" dirty="0"/>
              <a:t> Connector that passes data from one filter to the next.</a:t>
            </a:r>
          </a:p>
          <a:p>
            <a:r>
              <a:rPr lang="en-US" b="1" dirty="0"/>
              <a:t>Data Flow:</a:t>
            </a:r>
            <a:r>
              <a:rPr lang="en-US" dirty="0"/>
              <a:t> Data moves in </a:t>
            </a:r>
            <a:r>
              <a:rPr lang="en-US" b="1" dirty="0"/>
              <a:t>one direction</a:t>
            </a:r>
            <a:r>
              <a:rPr lang="en-US" dirty="0"/>
              <a:t> — from source to output.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8D526-74ED-40FC-9D6A-B784FA75B321}" type="slidenum">
              <a:rPr lang="en-PK" smtClean="0"/>
              <a:t>27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90782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Advantages</a:t>
            </a:r>
          </a:p>
          <a:p>
            <a:r>
              <a:rPr lang="en-US" dirty="0"/>
              <a:t>✅ </a:t>
            </a:r>
            <a:r>
              <a:rPr lang="en-US" b="1" dirty="0"/>
              <a:t>Reusability:</a:t>
            </a:r>
            <a:r>
              <a:rPr lang="en-US" dirty="0"/>
              <a:t> Filters can be reused in different systems.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Maintainability:</a:t>
            </a:r>
            <a:r>
              <a:rPr lang="en-US" dirty="0"/>
              <a:t> Easy to modify or add new filters without breaking the system.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Simplicity:</a:t>
            </a:r>
            <a:r>
              <a:rPr lang="en-US" dirty="0"/>
              <a:t> Each filter has a clear, single responsibility.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Parallelism:</a:t>
            </a:r>
            <a:r>
              <a:rPr lang="en-US" dirty="0"/>
              <a:t> Multiple filters can run in parallel (in some systems).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Ease of Testing:</a:t>
            </a:r>
            <a:r>
              <a:rPr lang="en-US" dirty="0"/>
              <a:t> Each filter can be tested separately.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b="1" dirty="0"/>
              <a:t>Disadvantages</a:t>
            </a:r>
          </a:p>
          <a:p>
            <a:r>
              <a:rPr lang="en-US" dirty="0"/>
              <a:t>❌ </a:t>
            </a:r>
            <a:r>
              <a:rPr lang="en-US" b="1" dirty="0"/>
              <a:t>Not suitable for interactive systems:</a:t>
            </a:r>
            <a:r>
              <a:rPr lang="en-US" dirty="0"/>
              <a:t> Works best for batch or stream data.</a:t>
            </a:r>
            <a:br>
              <a:rPr lang="en-US" dirty="0"/>
            </a:br>
            <a:r>
              <a:rPr lang="en-US" dirty="0"/>
              <a:t>❌ </a:t>
            </a:r>
            <a:r>
              <a:rPr lang="en-US" b="1" dirty="0"/>
              <a:t>Error handling is complex:</a:t>
            </a:r>
            <a:r>
              <a:rPr lang="en-US" dirty="0"/>
              <a:t> Failure in one filter can affect the entire chain.</a:t>
            </a:r>
            <a:br>
              <a:rPr lang="en-US" dirty="0"/>
            </a:br>
            <a:r>
              <a:rPr lang="en-US" dirty="0"/>
              <a:t>❌ </a:t>
            </a:r>
            <a:r>
              <a:rPr lang="en-US" b="1" dirty="0"/>
              <a:t>Performance overhead:</a:t>
            </a:r>
            <a:r>
              <a:rPr lang="en-US" dirty="0"/>
              <a:t> Data must pass through several layers of filters.</a:t>
            </a:r>
            <a:br>
              <a:rPr lang="en-US" dirty="0"/>
            </a:br>
            <a:r>
              <a:rPr lang="en-US" dirty="0"/>
              <a:t>❌ </a:t>
            </a:r>
            <a:r>
              <a:rPr lang="en-US" b="1" dirty="0"/>
              <a:t>Rigid data format:</a:t>
            </a:r>
            <a:r>
              <a:rPr lang="en-US" dirty="0"/>
              <a:t> All filters must agree on input/output format.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8D526-74ED-40FC-9D6A-B784FA75B321}" type="slidenum">
              <a:rPr lang="en-PK" smtClean="0"/>
              <a:t>30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78830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Key Concepts</a:t>
            </a:r>
          </a:p>
          <a:p>
            <a:r>
              <a:rPr lang="en-US" b="1" dirty="0"/>
              <a:t>Service Independence:</a:t>
            </a:r>
            <a:r>
              <a:rPr lang="en-US" dirty="0"/>
              <a:t> Each microservice runs in its own process.</a:t>
            </a:r>
          </a:p>
          <a:p>
            <a:r>
              <a:rPr lang="en-US" b="1" dirty="0"/>
              <a:t>Decentralized Data Management:</a:t>
            </a:r>
            <a:r>
              <a:rPr lang="en-US" dirty="0"/>
              <a:t> Every service may have its </a:t>
            </a:r>
            <a:r>
              <a:rPr lang="en-US" b="1" dirty="0"/>
              <a:t>own database</a:t>
            </a:r>
            <a:r>
              <a:rPr lang="en-US" dirty="0"/>
              <a:t>.</a:t>
            </a:r>
          </a:p>
          <a:p>
            <a:r>
              <a:rPr lang="en-US" b="1" dirty="0"/>
              <a:t>Communication:</a:t>
            </a:r>
            <a:r>
              <a:rPr lang="en-US" dirty="0"/>
              <a:t> Services interact via </a:t>
            </a:r>
            <a:r>
              <a:rPr lang="en-US" b="1" dirty="0"/>
              <a:t>lightweight protocols</a:t>
            </a:r>
            <a:r>
              <a:rPr lang="en-US" dirty="0"/>
              <a:t> like HTTP/REST, message queues, or </a:t>
            </a:r>
            <a:r>
              <a:rPr lang="en-US" dirty="0" err="1"/>
              <a:t>gRPC</a:t>
            </a:r>
            <a:r>
              <a:rPr lang="en-US" dirty="0"/>
              <a:t>.</a:t>
            </a:r>
          </a:p>
          <a:p>
            <a:r>
              <a:rPr lang="en-US" b="1" dirty="0"/>
              <a:t>Automation:</a:t>
            </a:r>
            <a:r>
              <a:rPr lang="en-US" dirty="0"/>
              <a:t> Uses DevOps tools for continuous integration and deployment (CI/CD).</a:t>
            </a:r>
          </a:p>
          <a:p>
            <a:r>
              <a:rPr lang="en-US" b="1" dirty="0"/>
              <a:t>Scalability:</a:t>
            </a:r>
            <a:r>
              <a:rPr lang="en-US" dirty="0"/>
              <a:t> Services can be scaled individually.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8D526-74ED-40FC-9D6A-B784FA75B321}" type="slidenum">
              <a:rPr lang="en-PK" smtClean="0"/>
              <a:t>32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376483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Advantages</a:t>
            </a:r>
          </a:p>
          <a:p>
            <a:r>
              <a:rPr lang="en-US" dirty="0"/>
              <a:t>✅ </a:t>
            </a:r>
            <a:r>
              <a:rPr lang="en-US" b="1" dirty="0"/>
              <a:t>Scalability:</a:t>
            </a:r>
            <a:r>
              <a:rPr lang="en-US" dirty="0"/>
              <a:t> You can scale individual components based on demand.</a:t>
            </a:r>
          </a:p>
          <a:p>
            <a:r>
              <a:rPr lang="en-US" dirty="0"/>
              <a:t>✅ </a:t>
            </a:r>
            <a:r>
              <a:rPr lang="en-US" b="1" dirty="0"/>
              <a:t>Independent Deployment:</a:t>
            </a:r>
            <a:r>
              <a:rPr lang="en-US" dirty="0"/>
              <a:t> Teams can deploy updates without affecting other parts.</a:t>
            </a:r>
          </a:p>
          <a:p>
            <a:r>
              <a:rPr lang="en-US" dirty="0"/>
              <a:t>✅ </a:t>
            </a:r>
            <a:r>
              <a:rPr lang="en-US" b="1" dirty="0"/>
              <a:t>Fault Isolation:</a:t>
            </a:r>
            <a:r>
              <a:rPr lang="en-US" dirty="0"/>
              <a:t> If one service fails, the rest continue working.</a:t>
            </a:r>
          </a:p>
          <a:p>
            <a:r>
              <a:rPr lang="en-US" dirty="0"/>
              <a:t>✅ </a:t>
            </a:r>
            <a:r>
              <a:rPr lang="en-US" b="1" dirty="0"/>
              <a:t>Technology Flexibility:</a:t>
            </a:r>
            <a:r>
              <a:rPr lang="en-US" dirty="0"/>
              <a:t> Different services can use different programming languages or databases.</a:t>
            </a:r>
          </a:p>
          <a:p>
            <a:r>
              <a:rPr lang="en-US" dirty="0"/>
              <a:t>✅ </a:t>
            </a:r>
            <a:r>
              <a:rPr lang="en-US" b="1" dirty="0"/>
              <a:t>Faster Development:</a:t>
            </a:r>
            <a:r>
              <a:rPr lang="en-US" dirty="0"/>
              <a:t> Small teams work on different services in parallel.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b="1" dirty="0"/>
              <a:t>Disadvantages</a:t>
            </a:r>
          </a:p>
          <a:p>
            <a:r>
              <a:rPr lang="en-US" dirty="0"/>
              <a:t>❌ </a:t>
            </a:r>
            <a:r>
              <a:rPr lang="en-US" b="1" dirty="0"/>
              <a:t>Complex Communication:</a:t>
            </a:r>
            <a:r>
              <a:rPr lang="en-US" dirty="0"/>
              <a:t> Requires managing network calls between services.</a:t>
            </a:r>
          </a:p>
          <a:p>
            <a:r>
              <a:rPr lang="en-US" dirty="0"/>
              <a:t>❌ </a:t>
            </a:r>
            <a:r>
              <a:rPr lang="en-US" b="1" dirty="0"/>
              <a:t>Deployment Complexity:</a:t>
            </a:r>
            <a:r>
              <a:rPr lang="en-US" dirty="0"/>
              <a:t> Many services mean more infrastructure management.</a:t>
            </a:r>
          </a:p>
          <a:p>
            <a:r>
              <a:rPr lang="en-US" dirty="0"/>
              <a:t>❌ </a:t>
            </a:r>
            <a:r>
              <a:rPr lang="en-US" b="1" dirty="0"/>
              <a:t>Data Consistency Issues:</a:t>
            </a:r>
            <a:r>
              <a:rPr lang="en-US" dirty="0"/>
              <a:t> Harder to maintain a single source of truth.</a:t>
            </a:r>
          </a:p>
          <a:p>
            <a:r>
              <a:rPr lang="en-US" dirty="0"/>
              <a:t>❌ </a:t>
            </a:r>
            <a:r>
              <a:rPr lang="en-US" b="1" dirty="0"/>
              <a:t>Testing Challenges:</a:t>
            </a:r>
            <a:r>
              <a:rPr lang="en-US" dirty="0"/>
              <a:t> End-to-end testing across multiple services is complicated.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8D526-74ED-40FC-9D6A-B784FA75B321}" type="slidenum">
              <a:rPr lang="en-PK" smtClean="0"/>
              <a:t>33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353478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8D526-74ED-40FC-9D6A-B784FA75B321}" type="slidenum">
              <a:rPr lang="en-PK" smtClean="0"/>
              <a:t>34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24714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Best For:</a:t>
            </a:r>
          </a:p>
          <a:p>
            <a:r>
              <a:rPr lang="en-US" dirty="0" smtClean="0"/>
              <a:t>Small projects </a:t>
            </a:r>
          </a:p>
          <a:p>
            <a:r>
              <a:rPr lang="en-US" dirty="0" smtClean="0"/>
              <a:t>Startups (early stage) </a:t>
            </a:r>
          </a:p>
          <a:p>
            <a:r>
              <a:rPr lang="en-US" dirty="0" smtClean="0"/>
              <a:t>Simple applications </a:t>
            </a:r>
          </a:p>
          <a:p>
            <a:r>
              <a:rPr lang="en-US" dirty="0" smtClean="0"/>
              <a:t>Projects with small teams </a:t>
            </a:r>
          </a:p>
          <a:p>
            <a:r>
              <a:rPr lang="en-US" b="1" dirty="0" smtClean="0"/>
              <a:t>❌ Not Ideal For:</a:t>
            </a:r>
          </a:p>
          <a:p>
            <a:r>
              <a:rPr lang="en-US" dirty="0" smtClean="0"/>
              <a:t>Large-scale distributed systems </a:t>
            </a:r>
          </a:p>
          <a:p>
            <a:r>
              <a:rPr lang="en-US" dirty="0" smtClean="0"/>
              <a:t>Applications needing frequent scaling </a:t>
            </a:r>
          </a:p>
          <a:p>
            <a:r>
              <a:rPr lang="en-US" dirty="0" smtClean="0"/>
              <a:t>Complex enterprise systems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28D526-74ED-40FC-9D6A-B784FA75B321}" type="slidenum">
              <a:rPr lang="en-PK" smtClean="0"/>
              <a:t>35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572826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28D526-74ED-40FC-9D6A-B784FA75B321}" type="slidenum">
              <a:rPr lang="en-PK" smtClean="0"/>
              <a:t>36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302905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Advantages</a:t>
            </a:r>
          </a:p>
          <a:p>
            <a:r>
              <a:rPr lang="en-US" b="1" dirty="0" smtClean="0"/>
              <a:t>✔ 1. Simple Development</a:t>
            </a:r>
          </a:p>
          <a:p>
            <a:r>
              <a:rPr lang="en-US" dirty="0" smtClean="0"/>
              <a:t>Easy to start (especially for small projects) </a:t>
            </a:r>
          </a:p>
          <a:p>
            <a:r>
              <a:rPr lang="en-US" dirty="0" smtClean="0"/>
              <a:t>No need to manage multiple services </a:t>
            </a:r>
          </a:p>
          <a:p>
            <a:r>
              <a:rPr lang="en-US" b="1" dirty="0" smtClean="0"/>
              <a:t>✔ 2. Easy Deployment</a:t>
            </a:r>
          </a:p>
          <a:p>
            <a:r>
              <a:rPr lang="en-US" dirty="0" smtClean="0"/>
              <a:t>Only one executable/package </a:t>
            </a:r>
          </a:p>
          <a:p>
            <a:r>
              <a:rPr lang="en-US" dirty="0" smtClean="0"/>
              <a:t>Deploy once → whole system runs </a:t>
            </a:r>
          </a:p>
          <a:p>
            <a:r>
              <a:rPr lang="en-US" b="1" dirty="0" smtClean="0"/>
              <a:t>✔ 3. Better Performance (initially)</a:t>
            </a:r>
          </a:p>
          <a:p>
            <a:r>
              <a:rPr lang="en-US" dirty="0" smtClean="0"/>
              <a:t>No network communication between components </a:t>
            </a:r>
          </a:p>
          <a:p>
            <a:r>
              <a:rPr lang="en-US" dirty="0" smtClean="0"/>
              <a:t>Faster internal calls </a:t>
            </a:r>
          </a:p>
          <a:p>
            <a:r>
              <a:rPr lang="en-US" b="1" dirty="0" smtClean="0"/>
              <a:t>✔ 4. Easier Testing (early stage)</a:t>
            </a:r>
          </a:p>
          <a:p>
            <a:r>
              <a:rPr lang="en-US" dirty="0" smtClean="0"/>
              <a:t>Everything in one place</a:t>
            </a:r>
          </a:p>
          <a:p>
            <a:r>
              <a:rPr lang="en-US" b="1" dirty="0" smtClean="0"/>
              <a:t>Disadvantages</a:t>
            </a:r>
          </a:p>
          <a:p>
            <a:r>
              <a:rPr lang="en-US" b="1" dirty="0" smtClean="0"/>
              <a:t>❌ 1. Poor Scalability</a:t>
            </a:r>
          </a:p>
          <a:p>
            <a:r>
              <a:rPr lang="en-US" dirty="0" smtClean="0"/>
              <a:t>Must scale the </a:t>
            </a:r>
            <a:r>
              <a:rPr lang="en-US" b="1" dirty="0" smtClean="0"/>
              <a:t>entire application</a:t>
            </a:r>
            <a:r>
              <a:rPr lang="en-US" dirty="0" smtClean="0"/>
              <a:t>, not parts </a:t>
            </a:r>
          </a:p>
          <a:p>
            <a:r>
              <a:rPr lang="en-US" dirty="0" smtClean="0"/>
              <a:t>Inefficient resource usage </a:t>
            </a:r>
          </a:p>
          <a:p>
            <a:r>
              <a:rPr lang="en-US" b="1" dirty="0" smtClean="0"/>
              <a:t>❌ 2. Hard to Maintain (large systems)</a:t>
            </a:r>
          </a:p>
          <a:p>
            <a:r>
              <a:rPr lang="en-US" dirty="0" smtClean="0"/>
              <a:t>Code becomes complex over time </a:t>
            </a:r>
          </a:p>
          <a:p>
            <a:r>
              <a:rPr lang="en-US" dirty="0" smtClean="0"/>
              <a:t>Small change → affects whole system </a:t>
            </a:r>
          </a:p>
          <a:p>
            <a:r>
              <a:rPr lang="en-US" b="1" dirty="0" smtClean="0"/>
              <a:t>❌ 3. Slow Development (team issues)</a:t>
            </a:r>
          </a:p>
          <a:p>
            <a:r>
              <a:rPr lang="en-US" dirty="0" smtClean="0"/>
              <a:t>Multiple developers working on same codebase → conflicts </a:t>
            </a:r>
          </a:p>
          <a:p>
            <a:r>
              <a:rPr lang="en-US" b="1" dirty="0" smtClean="0"/>
              <a:t>❌ 4. Deployment Risk</a:t>
            </a:r>
          </a:p>
          <a:p>
            <a:r>
              <a:rPr lang="en-US" dirty="0" smtClean="0"/>
              <a:t>A small bug → redeploy entire system </a:t>
            </a:r>
          </a:p>
          <a:p>
            <a:r>
              <a:rPr lang="en-US" b="1" dirty="0" smtClean="0"/>
              <a:t>❌ 5. Technology Lock-in</a:t>
            </a:r>
          </a:p>
          <a:p>
            <a:r>
              <a:rPr lang="en-US" dirty="0" smtClean="0"/>
              <a:t>Hard to use different technologies in one system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28D526-74ED-40FC-9D6A-B784FA75B321}" type="slidenum">
              <a:rPr lang="en-PK" smtClean="0"/>
              <a:t>37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315222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Event</a:t>
            </a:r>
          </a:p>
          <a:p>
            <a:r>
              <a:rPr lang="en-US" dirty="0" smtClean="0"/>
              <a:t>A message describing something that happened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28D526-74ED-40FC-9D6A-B784FA75B321}" type="slidenum">
              <a:rPr lang="en-PK" smtClean="0"/>
              <a:t>38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911369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b="1" dirty="0" smtClean="0"/>
              <a:t>Advantages</a:t>
            </a:r>
          </a:p>
          <a:p>
            <a:r>
              <a:rPr lang="en-US" b="1" dirty="0" smtClean="0"/>
              <a:t>✔ 1. Loose Coupling</a:t>
            </a:r>
          </a:p>
          <a:p>
            <a:r>
              <a:rPr lang="en-US" dirty="0" smtClean="0"/>
              <a:t>Components don’t depend directly on each other </a:t>
            </a:r>
          </a:p>
          <a:p>
            <a:r>
              <a:rPr lang="en-US" b="1" dirty="0" smtClean="0"/>
              <a:t>✔ 2. High Scalability</a:t>
            </a:r>
          </a:p>
          <a:p>
            <a:r>
              <a:rPr lang="en-US" dirty="0" smtClean="0"/>
              <a:t>Add more consumers easily </a:t>
            </a:r>
          </a:p>
          <a:p>
            <a:r>
              <a:rPr lang="en-US" b="1" dirty="0" smtClean="0"/>
              <a:t>✔ 3. Real-Time Processing</a:t>
            </a:r>
          </a:p>
          <a:p>
            <a:r>
              <a:rPr lang="en-US" dirty="0" smtClean="0"/>
              <a:t>Immediate response to events </a:t>
            </a:r>
          </a:p>
          <a:p>
            <a:r>
              <a:rPr lang="en-US" b="1" dirty="0" smtClean="0"/>
              <a:t>✔ 4. Flexibility</a:t>
            </a:r>
          </a:p>
          <a:p>
            <a:r>
              <a:rPr lang="en-US" dirty="0" smtClean="0"/>
              <a:t>New services can subscribe without changing existing code</a:t>
            </a:r>
          </a:p>
          <a:p>
            <a:r>
              <a:rPr lang="en-US" b="1" dirty="0" smtClean="0"/>
              <a:t>Disadvantages</a:t>
            </a:r>
          </a:p>
          <a:p>
            <a:r>
              <a:rPr lang="en-US" b="1" dirty="0" smtClean="0"/>
              <a:t>❌ 1. Complex Debugging</a:t>
            </a:r>
          </a:p>
          <a:p>
            <a:r>
              <a:rPr lang="en-US" dirty="0" smtClean="0"/>
              <a:t>Hard to trace event flow </a:t>
            </a:r>
          </a:p>
          <a:p>
            <a:r>
              <a:rPr lang="en-US" b="1" dirty="0" smtClean="0"/>
              <a:t>❌ 2. Event Ordering Issues</a:t>
            </a:r>
          </a:p>
          <a:p>
            <a:r>
              <a:rPr lang="en-US" dirty="0" smtClean="0"/>
              <a:t>Events may arrive out of order </a:t>
            </a:r>
          </a:p>
          <a:p>
            <a:r>
              <a:rPr lang="en-US" b="1" dirty="0" smtClean="0"/>
              <a:t>❌ 3. Data Consistency Challenges</a:t>
            </a:r>
          </a:p>
          <a:p>
            <a:r>
              <a:rPr lang="en-US" dirty="0" smtClean="0"/>
              <a:t>Eventual consistency (not immediate) </a:t>
            </a:r>
          </a:p>
          <a:p>
            <a:r>
              <a:rPr lang="en-US" b="1" dirty="0" smtClean="0"/>
              <a:t>❌ 4. Higher Initial Complexity</a:t>
            </a:r>
          </a:p>
          <a:p>
            <a:r>
              <a:rPr lang="en-US" smtClean="0"/>
              <a:t>Requires message brokers and event design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28D526-74ED-40FC-9D6A-B784FA75B321}" type="slidenum">
              <a:rPr lang="en-PK" smtClean="0"/>
              <a:t>39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04036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28D526-74ED-40FC-9D6A-B784FA75B321}" type="slidenum">
              <a:rPr lang="en-PK" smtClean="0"/>
              <a:t>40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269607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Improved performance (parallel processing)</a:t>
            </a:r>
          </a:p>
          <a:p>
            <a:r>
              <a:rPr lang="en-US" dirty="0"/>
              <a:t>- Scalable (easy to add nodes)</a:t>
            </a:r>
          </a:p>
          <a:p>
            <a:r>
              <a:rPr lang="en-US" dirty="0"/>
              <a:t>- Fault tolerant (system continues even if one node fails)</a:t>
            </a:r>
          </a:p>
          <a:p>
            <a:r>
              <a:rPr lang="en-US" dirty="0"/>
              <a:t>- Enables resource sharing</a:t>
            </a:r>
          </a:p>
          <a:p>
            <a:endParaRPr lang="en-US" dirty="0"/>
          </a:p>
          <a:p>
            <a:r>
              <a:rPr lang="en-US" dirty="0"/>
              <a:t>Disadvantages:</a:t>
            </a:r>
          </a:p>
          <a:p>
            <a:r>
              <a:rPr lang="en-US" dirty="0"/>
              <a:t>- Complex communication &amp; synchronization</a:t>
            </a:r>
          </a:p>
          <a:p>
            <a:r>
              <a:rPr lang="en-US" dirty="0"/>
              <a:t>- Security challenges</a:t>
            </a:r>
          </a:p>
          <a:p>
            <a:r>
              <a:rPr lang="en-US" dirty="0"/>
              <a:t>- Difficult debugging</a:t>
            </a:r>
          </a:p>
          <a:p>
            <a:r>
              <a:rPr lang="en-US" dirty="0"/>
              <a:t>- Network dependency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8D526-74ED-40FC-9D6A-B784FA75B321}" type="slidenum">
              <a:rPr lang="en-PK" smtClean="0"/>
              <a:t>42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35182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176089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53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114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622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620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474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55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80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94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516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92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721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9404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4617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411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720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13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683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d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990600"/>
            <a:ext cx="7772400" cy="1470025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6">
                    <a:lumMod val="50000"/>
                  </a:schemeClr>
                </a:solidFill>
              </a:rPr>
              <a:t>Advance Software Engineering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Ms. Shehla Saeed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85800" y="259080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Architecture Design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Design?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allows you to </a:t>
            </a:r>
            <a:r>
              <a:rPr lang="en-US" b="1" dirty="0"/>
              <a:t>model</a:t>
            </a:r>
            <a:r>
              <a:rPr lang="en-US" dirty="0"/>
              <a:t> the system or product that is to be </a:t>
            </a:r>
            <a:r>
              <a:rPr lang="en-US" b="1" dirty="0"/>
              <a:t>built</a:t>
            </a:r>
            <a:r>
              <a:rPr lang="en-US" dirty="0"/>
              <a:t>.</a:t>
            </a:r>
          </a:p>
          <a:p>
            <a:r>
              <a:rPr lang="en-US" dirty="0"/>
              <a:t>Design helps to understand </a:t>
            </a:r>
            <a:r>
              <a:rPr lang="en-US" b="1" dirty="0"/>
              <a:t>Technical details</a:t>
            </a:r>
            <a:r>
              <a:rPr lang="en-US" dirty="0"/>
              <a:t> better.</a:t>
            </a:r>
          </a:p>
          <a:p>
            <a:r>
              <a:rPr lang="en-US" dirty="0"/>
              <a:t>Design is a </a:t>
            </a:r>
            <a:r>
              <a:rPr lang="en-US" b="1" dirty="0"/>
              <a:t>Process</a:t>
            </a:r>
            <a:r>
              <a:rPr lang="en-US" dirty="0"/>
              <a:t> of Converting:</a:t>
            </a:r>
          </a:p>
          <a:p>
            <a:pPr marL="0" indent="0">
              <a:buNone/>
            </a:pPr>
            <a:r>
              <a:rPr lang="en-US" b="1" dirty="0"/>
              <a:t>  What to do??</a:t>
            </a:r>
            <a:r>
              <a:rPr lang="en-US" dirty="0"/>
              <a:t>    =======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b="1" dirty="0">
                <a:sym typeface="Wingdings" panose="05000000000000000000" pitchFamily="2" charset="2"/>
              </a:rPr>
              <a:t>How to do?</a:t>
            </a:r>
            <a:br>
              <a:rPr lang="en-US" b="1" dirty="0">
                <a:sym typeface="Wingdings" panose="05000000000000000000" pitchFamily="2" charset="2"/>
              </a:rPr>
            </a:br>
            <a:r>
              <a:rPr lang="en-US" b="1" dirty="0">
                <a:sym typeface="Wingdings" panose="05000000000000000000" pitchFamily="2" charset="2"/>
              </a:rPr>
              <a:t>     (</a:t>
            </a:r>
            <a:r>
              <a:rPr lang="en-US" dirty="0">
                <a:sym typeface="Wingdings" panose="05000000000000000000" pitchFamily="2" charset="2"/>
              </a:rPr>
              <a:t>R.E</a:t>
            </a:r>
            <a:r>
              <a:rPr lang="en-US" b="1" dirty="0">
                <a:sym typeface="Wingdings" panose="05000000000000000000" pitchFamily="2" charset="2"/>
              </a:rPr>
              <a:t>)				    (</a:t>
            </a:r>
            <a:r>
              <a:rPr lang="en-US" dirty="0">
                <a:sym typeface="Wingdings" panose="05000000000000000000" pitchFamily="2" charset="2"/>
              </a:rPr>
              <a:t>Design</a:t>
            </a:r>
            <a:r>
              <a:rPr lang="en-US" b="1" dirty="0">
                <a:sym typeface="Wingdings" panose="05000000000000000000" pitchFamily="2" charset="2"/>
              </a:rPr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89560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Design?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Design is what almost every engineer wants to do, core of engineering process</a:t>
            </a:r>
          </a:p>
          <a:p>
            <a:r>
              <a:rPr lang="en-US" dirty="0"/>
              <a:t>It is the place where creativity rules—where</a:t>
            </a:r>
          </a:p>
          <a:p>
            <a:pPr lvl="1"/>
            <a:r>
              <a:rPr lang="en-US" b="1" dirty="0"/>
              <a:t>stakeholder</a:t>
            </a:r>
            <a:r>
              <a:rPr lang="en-US" dirty="0"/>
              <a:t> requirements,</a:t>
            </a:r>
          </a:p>
          <a:p>
            <a:pPr lvl="1"/>
            <a:r>
              <a:rPr lang="en-US" dirty="0"/>
              <a:t> </a:t>
            </a:r>
            <a:r>
              <a:rPr lang="en-US" b="1" dirty="0"/>
              <a:t>business</a:t>
            </a:r>
            <a:r>
              <a:rPr lang="en-US" dirty="0"/>
              <a:t> needs, </a:t>
            </a:r>
          </a:p>
          <a:p>
            <a:pPr lvl="1"/>
            <a:r>
              <a:rPr lang="en-US" dirty="0"/>
              <a:t>and </a:t>
            </a:r>
            <a:r>
              <a:rPr lang="en-US" b="1" dirty="0"/>
              <a:t>technical</a:t>
            </a:r>
            <a:r>
              <a:rPr lang="en-US" dirty="0"/>
              <a:t> considerations</a:t>
            </a:r>
          </a:p>
          <a:p>
            <a:pPr marL="0" indent="0">
              <a:buNone/>
            </a:pPr>
            <a:r>
              <a:rPr lang="en-US" dirty="0"/>
              <a:t>  all come together in the </a:t>
            </a:r>
            <a:r>
              <a:rPr lang="en-US" b="1" dirty="0"/>
              <a:t>formulation</a:t>
            </a:r>
            <a:r>
              <a:rPr lang="en-US" dirty="0"/>
              <a:t> of a </a:t>
            </a:r>
            <a:r>
              <a:rPr lang="en-US" u="sng" dirty="0" smtClean="0"/>
              <a:t>product </a:t>
            </a:r>
            <a:r>
              <a:rPr lang="en-US" u="sng" dirty="0"/>
              <a:t>or system</a:t>
            </a:r>
          </a:p>
        </p:txBody>
      </p:sp>
    </p:spTree>
    <p:extLst>
      <p:ext uri="{BB962C8B-B14F-4D97-AF65-F5344CB8AC3E}">
        <p14:creationId xmlns:p14="http://schemas.microsoft.com/office/powerpoint/2010/main" val="3690277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Design?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The design model provides detail about </a:t>
            </a:r>
          </a:p>
          <a:p>
            <a:pPr lvl="1"/>
            <a:r>
              <a:rPr lang="en-US" b="1" dirty="0"/>
              <a:t>software architecture</a:t>
            </a:r>
            <a:r>
              <a:rPr lang="en-US" dirty="0"/>
              <a:t>, </a:t>
            </a:r>
          </a:p>
          <a:p>
            <a:pPr lvl="1"/>
            <a:r>
              <a:rPr lang="en-US" b="1" dirty="0"/>
              <a:t>data structures</a:t>
            </a:r>
            <a:r>
              <a:rPr lang="en-US" dirty="0"/>
              <a:t>, </a:t>
            </a:r>
          </a:p>
          <a:p>
            <a:pPr lvl="1"/>
            <a:r>
              <a:rPr lang="en-US" b="1" dirty="0"/>
              <a:t>interfaces</a:t>
            </a:r>
            <a:r>
              <a:rPr lang="en-US" dirty="0"/>
              <a:t>, and </a:t>
            </a:r>
          </a:p>
          <a:p>
            <a:pPr lvl="1"/>
            <a:r>
              <a:rPr lang="en-US" b="1" dirty="0"/>
              <a:t>Components</a:t>
            </a:r>
          </a:p>
          <a:p>
            <a:pPr marL="0" indent="0">
              <a:buNone/>
            </a:pPr>
            <a:r>
              <a:rPr lang="en-US" dirty="0"/>
              <a:t> that are necessary to </a:t>
            </a:r>
            <a:r>
              <a:rPr lang="en-US" b="1" dirty="0"/>
              <a:t>implement</a:t>
            </a:r>
            <a:r>
              <a:rPr lang="en-US" dirty="0"/>
              <a:t> the system</a:t>
            </a:r>
          </a:p>
        </p:txBody>
      </p:sp>
    </p:spTree>
    <p:extLst>
      <p:ext uri="{BB962C8B-B14F-4D97-AF65-F5344CB8AC3E}">
        <p14:creationId xmlns:p14="http://schemas.microsoft.com/office/powerpoint/2010/main" val="1717618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System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	</a:t>
            </a:r>
            <a:r>
              <a:rPr lang="en-US" b="1" dirty="0"/>
              <a:t>A system is a collection of components organized to accomplish a specific function or set of functions</a:t>
            </a:r>
          </a:p>
          <a:p>
            <a:pPr algn="just"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	</a:t>
            </a:r>
            <a:r>
              <a:rPr lang="en-US" dirty="0"/>
              <a:t>(IEEE Std. 610.12-1990)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Software Architecture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229600" cy="4525963"/>
          </a:xfrm>
        </p:spPr>
        <p:txBody>
          <a:bodyPr/>
          <a:lstStyle/>
          <a:p>
            <a:pPr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	The software architecture of a program or computing system is the </a:t>
            </a:r>
            <a:r>
              <a:rPr lang="en-US" b="1" dirty="0"/>
              <a:t>structure or structures</a:t>
            </a:r>
            <a:r>
              <a:rPr lang="en-US" dirty="0"/>
              <a:t> of the system, which comprise software elements, and the </a:t>
            </a:r>
            <a:r>
              <a:rPr lang="en-US" b="1" dirty="0"/>
              <a:t>relationships</a:t>
            </a:r>
            <a:r>
              <a:rPr lang="en-US" dirty="0"/>
              <a:t> among them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Software Architecture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229600" cy="4525963"/>
          </a:xfrm>
        </p:spPr>
        <p:txBody>
          <a:bodyPr/>
          <a:lstStyle/>
          <a:p>
            <a:pPr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	Architectural design represents the structure of </a:t>
            </a:r>
            <a:r>
              <a:rPr lang="en-US" b="1" dirty="0"/>
              <a:t>data</a:t>
            </a:r>
            <a:r>
              <a:rPr lang="en-US" dirty="0"/>
              <a:t> and </a:t>
            </a:r>
            <a:r>
              <a:rPr lang="en-US" b="1" dirty="0"/>
              <a:t>program</a:t>
            </a:r>
            <a:r>
              <a:rPr lang="en-US" dirty="0"/>
              <a:t> components that are required to build a computer-based system.</a:t>
            </a:r>
          </a:p>
        </p:txBody>
      </p:sp>
    </p:spTree>
    <p:extLst>
      <p:ext uri="{BB962C8B-B14F-4D97-AF65-F5344CB8AC3E}">
        <p14:creationId xmlns:p14="http://schemas.microsoft.com/office/powerpoint/2010/main" val="3089018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Why is it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You wouldn’t attempt to build a house </a:t>
            </a:r>
            <a:r>
              <a:rPr lang="en-US" b="1" dirty="0"/>
              <a:t>without a map</a:t>
            </a:r>
            <a:r>
              <a:rPr lang="en-US" dirty="0"/>
              <a:t>, would you?</a:t>
            </a:r>
          </a:p>
          <a:p>
            <a:endParaRPr lang="en-US" dirty="0"/>
          </a:p>
          <a:p>
            <a:r>
              <a:rPr lang="en-US" dirty="0"/>
              <a:t>You’d need to look at the big picture—the house itself—before you worry about details.</a:t>
            </a:r>
          </a:p>
          <a:p>
            <a:endParaRPr lang="en-US" dirty="0"/>
          </a:p>
          <a:p>
            <a:r>
              <a:rPr lang="en-US" dirty="0"/>
              <a:t>That’s what architectural design does—it provides you with the </a:t>
            </a:r>
            <a:r>
              <a:rPr lang="en-US" b="1" dirty="0"/>
              <a:t>big picture </a:t>
            </a:r>
            <a:r>
              <a:rPr lang="en-US" dirty="0"/>
              <a:t>and </a:t>
            </a:r>
            <a:r>
              <a:rPr lang="en-US" b="1" dirty="0"/>
              <a:t>ensures</a:t>
            </a:r>
            <a:r>
              <a:rPr lang="en-US" dirty="0"/>
              <a:t> that you’ve got it right</a:t>
            </a:r>
          </a:p>
        </p:txBody>
      </p:sp>
    </p:spTree>
    <p:extLst>
      <p:ext uri="{BB962C8B-B14F-4D97-AF65-F5344CB8AC3E}">
        <p14:creationId xmlns:p14="http://schemas.microsoft.com/office/powerpoint/2010/main" val="224761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Why is it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Representations of software architecture is an enabler for </a:t>
            </a:r>
            <a:r>
              <a:rPr lang="en-US" b="1" dirty="0"/>
              <a:t>communication</a:t>
            </a:r>
            <a:r>
              <a:rPr lang="en-US" dirty="0"/>
              <a:t> between all parties </a:t>
            </a:r>
            <a:r>
              <a:rPr lang="en-US" b="1" dirty="0"/>
              <a:t>(stakeholders)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architecture highlights </a:t>
            </a:r>
            <a:r>
              <a:rPr lang="en-US" b="1" dirty="0"/>
              <a:t>early design</a:t>
            </a:r>
            <a:r>
              <a:rPr lang="en-US" dirty="0"/>
              <a:t> decisions that provide you solid foundations on which software </a:t>
            </a:r>
            <a:r>
              <a:rPr lang="en-US" b="1" dirty="0"/>
              <a:t>will be built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042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Software Architecture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Software architecture is:</a:t>
            </a:r>
          </a:p>
          <a:p>
            <a:pPr>
              <a:buNone/>
            </a:pPr>
            <a:r>
              <a:rPr lang="en-US" dirty="0"/>
              <a:t> </a:t>
            </a:r>
          </a:p>
          <a:p>
            <a:pPr lvl="0"/>
            <a:r>
              <a:rPr lang="en-US" dirty="0"/>
              <a:t>An overall view of the </a:t>
            </a:r>
            <a:r>
              <a:rPr lang="en-US" b="1" dirty="0"/>
              <a:t>solution</a:t>
            </a:r>
            <a:r>
              <a:rPr lang="en-US" dirty="0"/>
              <a:t> to a problem</a:t>
            </a:r>
          </a:p>
          <a:p>
            <a:pPr lvl="0">
              <a:buNone/>
            </a:pPr>
            <a:r>
              <a:rPr lang="en-US" dirty="0"/>
              <a:t> </a:t>
            </a:r>
          </a:p>
          <a:p>
            <a:pPr lvl="0"/>
            <a:r>
              <a:rPr lang="en-US" dirty="0"/>
              <a:t>The high-level design of </a:t>
            </a:r>
            <a:r>
              <a:rPr lang="en-US" b="1" dirty="0"/>
              <a:t>modular</a:t>
            </a:r>
            <a:r>
              <a:rPr lang="en-US" dirty="0"/>
              <a:t> components and how they </a:t>
            </a:r>
            <a:r>
              <a:rPr lang="en-US" b="1" dirty="0"/>
              <a:t>interact</a:t>
            </a:r>
          </a:p>
          <a:p>
            <a:pPr lvl="0">
              <a:buNone/>
            </a:pPr>
            <a:r>
              <a:rPr lang="en-US" dirty="0"/>
              <a:t> </a:t>
            </a:r>
          </a:p>
          <a:p>
            <a:pPr lvl="0"/>
            <a:r>
              <a:rPr lang="en-US" dirty="0"/>
              <a:t>A </a:t>
            </a:r>
            <a:r>
              <a:rPr lang="en-US" b="1" dirty="0"/>
              <a:t>foundation</a:t>
            </a:r>
            <a:r>
              <a:rPr lang="en-US" dirty="0"/>
              <a:t> that one can build on to solve a problem (e.g., rules, policies, attributes, etc.)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Architecture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Repository Architecture</a:t>
            </a:r>
          </a:p>
          <a:p>
            <a:r>
              <a:rPr dirty="0"/>
              <a:t>- Client–Server Architecture</a:t>
            </a:r>
          </a:p>
          <a:p>
            <a:r>
              <a:rPr dirty="0"/>
              <a:t>- Layered Architecture</a:t>
            </a:r>
          </a:p>
          <a:p>
            <a:r>
              <a:rPr dirty="0"/>
              <a:t>- Pipe and Filter Architecture</a:t>
            </a:r>
          </a:p>
          <a:p>
            <a:r>
              <a:rPr dirty="0"/>
              <a:t>- </a:t>
            </a:r>
            <a:r>
              <a:rPr dirty="0" err="1"/>
              <a:t>Microservices</a:t>
            </a:r>
            <a:r>
              <a:rPr dirty="0"/>
              <a:t> Architecture</a:t>
            </a:r>
          </a:p>
          <a:p>
            <a:r>
              <a:rPr dirty="0"/>
              <a:t>- Distributed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1D078-68B7-BAC7-54B5-49FF81090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Repository Architecture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A1684-5499-41B4-3D7A-8239E8FFE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Repository Architecture</a:t>
            </a:r>
            <a:r>
              <a:rPr lang="en-US" dirty="0"/>
              <a:t> (also called </a:t>
            </a:r>
            <a:r>
              <a:rPr lang="en-US" b="1" dirty="0"/>
              <a:t>Shared Data System</a:t>
            </a:r>
            <a:r>
              <a:rPr lang="en-US" dirty="0"/>
              <a:t>) is a design style where all system components share a </a:t>
            </a:r>
            <a:r>
              <a:rPr lang="en-US" b="1" dirty="0"/>
              <a:t>central data store (repository)</a:t>
            </a:r>
            <a:r>
              <a:rPr lang="en-US" dirty="0"/>
              <a:t> to </a:t>
            </a:r>
            <a:r>
              <a:rPr lang="en-US" b="1" dirty="0"/>
              <a:t>read, write, and exchange information</a:t>
            </a:r>
            <a:r>
              <a:rPr lang="en-US" dirty="0"/>
              <a:t>.</a:t>
            </a:r>
          </a:p>
          <a:p>
            <a:r>
              <a:rPr lang="en-US" dirty="0"/>
              <a:t>Each component works </a:t>
            </a:r>
            <a:r>
              <a:rPr lang="en-US" b="1" dirty="0"/>
              <a:t>independently</a:t>
            </a:r>
            <a:r>
              <a:rPr lang="en-US" dirty="0"/>
              <a:t>, but they communicate </a:t>
            </a:r>
            <a:r>
              <a:rPr lang="en-US" b="1" dirty="0"/>
              <a:t>indirectly</a:t>
            </a:r>
            <a:r>
              <a:rPr lang="en-US" dirty="0"/>
              <a:t> through this shared repository.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40874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Repository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742" y="1851992"/>
            <a:ext cx="7704667" cy="3332816"/>
          </a:xfrm>
        </p:spPr>
        <p:txBody>
          <a:bodyPr>
            <a:normAutofit/>
          </a:bodyPr>
          <a:lstStyle/>
          <a:p>
            <a:r>
              <a:rPr dirty="0"/>
              <a:t>Advantages: Centralized management, easy consistency.</a:t>
            </a:r>
          </a:p>
          <a:p>
            <a:r>
              <a:rPr dirty="0"/>
              <a:t>Disadvantages: Single point of failure, hard to distribute.</a:t>
            </a:r>
          </a:p>
          <a:p>
            <a:r>
              <a:rPr dirty="0"/>
              <a:t>Example: Git repository, Compiler (symbol table).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3A59A-F828-CE36-3AAB-57D615FBA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It Works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57122-CBEC-6F45-DBB9-E5EB7B34E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subsystem (like input, processing, or reporting) interacts </a:t>
            </a:r>
            <a:r>
              <a:rPr lang="en-US" b="1" dirty="0"/>
              <a:t>only with the repository</a:t>
            </a:r>
            <a:r>
              <a:rPr lang="en-US" dirty="0"/>
              <a:t>.</a:t>
            </a:r>
          </a:p>
          <a:p>
            <a:r>
              <a:rPr lang="en-US" dirty="0"/>
              <a:t>The repository </a:t>
            </a:r>
            <a:r>
              <a:rPr lang="en-US" b="1" dirty="0"/>
              <a:t>stores all shared data</a:t>
            </a:r>
            <a:r>
              <a:rPr lang="en-US" dirty="0"/>
              <a:t>.</a:t>
            </a:r>
          </a:p>
          <a:p>
            <a:r>
              <a:rPr lang="en-US" dirty="0"/>
              <a:t>When one component changes data, others can </a:t>
            </a:r>
            <a:r>
              <a:rPr lang="en-US" b="1" dirty="0"/>
              <a:t>access the updated version</a:t>
            </a:r>
            <a:r>
              <a:rPr lang="en-US" dirty="0"/>
              <a:t> immediately.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87895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7E609-22E6-8DEB-3D13-24BB08B60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BE60C-4B1A-789F-3456-5121CB8E0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683026"/>
            <a:ext cx="7704667" cy="3332816"/>
          </a:xfrm>
        </p:spPr>
        <p:txBody>
          <a:bodyPr/>
          <a:lstStyle/>
          <a:p>
            <a:r>
              <a:rPr lang="en-US" b="1" dirty="0"/>
              <a:t>Compiler Design (Repository-style)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Central symbol table acts as repository</a:t>
            </a:r>
          </a:p>
          <a:p>
            <a:pPr marL="0" indent="0">
              <a:buNone/>
            </a:pPr>
            <a:r>
              <a:rPr lang="en-US" dirty="0"/>
              <a:t>Components: Lexical analyzer, Parser, Semantic analyzer all access shared data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92164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 Brief Taxonomy of Architectural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Data-centered/ Repository architectures: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548547"/>
            <a:ext cx="7848600" cy="415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632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Client–Server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Concept: Divides system into clients (users) and servers (providers).</a:t>
            </a:r>
          </a:p>
          <a:p>
            <a:r>
              <a:t>Working: Client sends request; server sends response.</a:t>
            </a:r>
          </a:p>
          <a:p>
            <a:r>
              <a:t>Advantages: Centralized control, easy multi-client management.</a:t>
            </a:r>
          </a:p>
          <a:p>
            <a:r>
              <a:t>Disadvantages: Server overload, network dependency.</a:t>
            </a:r>
          </a:p>
          <a:p>
            <a:r>
              <a:t>Example: Web apps (browser &amp; web server), Email systems.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client–server architecture for a film library</a:t>
            </a:r>
            <a:r>
              <a:rPr lang="en-GB" dirty="0"/>
              <a:t> </a:t>
            </a:r>
            <a:endParaRPr lang="en-US" dirty="0"/>
          </a:p>
        </p:txBody>
      </p:sp>
      <p:pic>
        <p:nvPicPr>
          <p:cNvPr id="4" name="Content Placeholder 3" descr="6.11 ClientServerFilmPhoto.eps"/>
          <p:cNvPicPr>
            <a:picLocks noGrp="1" noChangeAspect="1"/>
          </p:cNvPicPr>
          <p:nvPr>
            <p:ph idx="1"/>
          </p:nvPr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2"/>
              <a:srcRect l="-1062" r="-1062"/>
              <a:stretch>
                <a:fillRect/>
              </a:stretch>
            </p:blipFill>
          </mc:Choice>
          <mc:Fallback>
            <p:blipFill>
              <a:blip r:embed="rId3"/>
              <a:srcRect l="-1062" r="-1062"/>
              <a:stretch>
                <a:fillRect/>
              </a:stretch>
            </p:blipFill>
          </mc:Fallback>
        </mc:AlternateContent>
        <p:spPr>
          <a:xfrm>
            <a:off x="822014" y="1775831"/>
            <a:ext cx="7203898" cy="3961866"/>
          </a:xfrm>
        </p:spPr>
      </p:pic>
    </p:spTree>
    <p:extLst>
      <p:ext uri="{BB962C8B-B14F-4D97-AF65-F5344CB8AC3E}">
        <p14:creationId xmlns:p14="http://schemas.microsoft.com/office/powerpoint/2010/main" val="37812691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949FA-06D1-1CC1-86CE-346EA0B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How </a:t>
            </a:r>
            <a:r>
              <a:rPr lang="en-US" b="1" dirty="0"/>
              <a:t>It Works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FB5D3-FB55-BCA8-4185-D7FD3112C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2438401"/>
            <a:ext cx="7704667" cy="3561415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Client</a:t>
            </a:r>
            <a:r>
              <a:rPr lang="en-US" dirty="0"/>
              <a:t> (e.g., web browser, mobile app) asks for information or service.</a:t>
            </a:r>
          </a:p>
          <a:p>
            <a:r>
              <a:rPr lang="en-US" b="1" dirty="0"/>
              <a:t>Server</a:t>
            </a:r>
            <a:r>
              <a:rPr lang="en-US" dirty="0"/>
              <a:t> (e.g., web server, database server) receives the request.</a:t>
            </a:r>
          </a:p>
          <a:p>
            <a:r>
              <a:rPr lang="en-US" dirty="0"/>
              <a:t>Server processes the request and returns the </a:t>
            </a:r>
            <a:r>
              <a:rPr lang="en-US" b="1" dirty="0"/>
              <a:t>result</a:t>
            </a:r>
            <a:r>
              <a:rPr lang="en-US" dirty="0"/>
              <a:t> to the client.</a:t>
            </a:r>
          </a:p>
          <a:p>
            <a:r>
              <a:rPr lang="en-US" b="1" dirty="0"/>
              <a:t>Flow:</a:t>
            </a:r>
            <a:r>
              <a:rPr lang="en-US" dirty="0"/>
              <a:t/>
            </a:r>
            <a:br>
              <a:rPr lang="en-US" dirty="0"/>
            </a:br>
            <a:r>
              <a:rPr lang="en-PK" dirty="0" smtClean="0"/>
              <a:t>💻 </a:t>
            </a:r>
            <a:r>
              <a:rPr lang="en-US" dirty="0"/>
              <a:t>Client → (Request) → </a:t>
            </a:r>
            <a:r>
              <a:rPr lang="en-PK" dirty="0"/>
              <a:t>🌐 </a:t>
            </a:r>
            <a:r>
              <a:rPr lang="en-US" dirty="0"/>
              <a:t>Server → (Response) → </a:t>
            </a:r>
            <a:r>
              <a:rPr lang="en-PK" dirty="0" smtClean="0"/>
              <a:t>💻 </a:t>
            </a:r>
            <a:r>
              <a:rPr lang="en-US" dirty="0"/>
              <a:t>Client</a:t>
            </a:r>
          </a:p>
          <a:p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893380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7CC48-FEB1-B163-6C2E-D41DB5FB8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Example : Email System</a:t>
            </a:r>
            <a:br>
              <a:rPr lang="en-US" b="1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56B6E-30FA-B51E-7F88-FE5F916C0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Client:</a:t>
            </a:r>
            <a:r>
              <a:rPr lang="en-US" dirty="0"/>
              <a:t> Email application (e.g., Gmail app, Outlook)</a:t>
            </a:r>
          </a:p>
          <a:p>
            <a:r>
              <a:rPr lang="en-US" b="1" dirty="0"/>
              <a:t>Server:</a:t>
            </a:r>
            <a:r>
              <a:rPr lang="en-US" dirty="0"/>
              <a:t> Mail server (SMTP for sending, IMAP/POP3 for receiving)</a:t>
            </a:r>
          </a:p>
          <a:p>
            <a:r>
              <a:rPr lang="en-US" b="1" dirty="0"/>
              <a:t>Process:</a:t>
            </a:r>
            <a:endParaRPr lang="en-US" dirty="0"/>
          </a:p>
          <a:p>
            <a:pPr lvl="1"/>
            <a:r>
              <a:rPr lang="en-US" dirty="0"/>
              <a:t>Client sends an email → SMTP server delivers it to recipient’s mail server.</a:t>
            </a:r>
          </a:p>
          <a:p>
            <a:pPr lvl="1"/>
            <a:r>
              <a:rPr lang="en-US" dirty="0"/>
              <a:t>Recipient’s email client retrieves it via IMAP or POP3.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7399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FE187-406D-E4A5-D6EF-511C58135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Architecture (N-tier)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C6C37-F0E1-F97D-1BC8-10374C516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Concept</a:t>
            </a:r>
          </a:p>
          <a:p>
            <a:r>
              <a:rPr lang="en-US" dirty="0"/>
              <a:t>The </a:t>
            </a:r>
            <a:r>
              <a:rPr lang="en-US" b="1" dirty="0"/>
              <a:t>Layered Architecture</a:t>
            </a:r>
            <a:r>
              <a:rPr lang="en-US" dirty="0"/>
              <a:t> organizes a software system into </a:t>
            </a:r>
            <a:r>
              <a:rPr lang="en-US" b="1" dirty="0"/>
              <a:t>layers (or tiers)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where each layer has a </a:t>
            </a:r>
            <a:r>
              <a:rPr lang="en-US" b="1" dirty="0"/>
              <a:t>specific role</a:t>
            </a:r>
            <a:r>
              <a:rPr lang="en-US" dirty="0"/>
              <a:t> and interacts </a:t>
            </a:r>
            <a:r>
              <a:rPr lang="en-US" b="1" dirty="0"/>
              <a:t>only with the layer directly above or below it</a:t>
            </a:r>
            <a:r>
              <a:rPr lang="en-US" dirty="0"/>
              <a:t>.</a:t>
            </a:r>
          </a:p>
          <a:p>
            <a:r>
              <a:rPr lang="en-US" dirty="0"/>
              <a:t>It promotes </a:t>
            </a:r>
            <a:r>
              <a:rPr lang="en-US" b="1" dirty="0"/>
              <a:t>separation of concerns</a:t>
            </a:r>
            <a:r>
              <a:rPr lang="en-US" dirty="0"/>
              <a:t> — each layer focuses on a single responsibility.</a:t>
            </a:r>
          </a:p>
          <a:p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33520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Layered Architecture (N-tier)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2438401"/>
            <a:ext cx="7704667" cy="2222946"/>
          </a:xfrm>
        </p:spPr>
        <p:txBody>
          <a:bodyPr/>
          <a:lstStyle/>
          <a:p>
            <a:endParaRPr lang="en-US" dirty="0"/>
          </a:p>
          <a:p>
            <a:r>
              <a:rPr dirty="0"/>
              <a:t>Advantages: Easy maintenance, scalability.</a:t>
            </a:r>
          </a:p>
          <a:p>
            <a:r>
              <a:rPr dirty="0"/>
              <a:t>Disadvantages: Slower performance, rigid structure.</a:t>
            </a:r>
          </a:p>
          <a:p>
            <a:r>
              <a:rPr dirty="0"/>
              <a:t>Example: Online shopping website.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generic layered architecture</a:t>
            </a:r>
            <a:r>
              <a:rPr lang="en-GB" dirty="0"/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891" y="1676400"/>
            <a:ext cx="6095709" cy="420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2954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F977F2-2149-6084-99BC-C843CE03A3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3839656"/>
              </p:ext>
            </p:extLst>
          </p:nvPr>
        </p:nvGraphicFramePr>
        <p:xfrm>
          <a:off x="457200" y="1157750"/>
          <a:ext cx="8229600" cy="29260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14320711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20312418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862811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894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1. Presentation Layer (UI)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User interface; displays information and collects 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Web page, Mobile 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4457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2. Application/Business Logic Layer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Implements system rules and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Order processing,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742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3. Data Access Layer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Handles database queries and data conversion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SQL commands, APIs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432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4. Database Layer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Stores actual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MySQL, MongoDB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908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69176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825A2-23EA-51C6-FFD9-517531285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142999"/>
          </a:xfrm>
        </p:spPr>
        <p:txBody>
          <a:bodyPr>
            <a:normAutofit/>
          </a:bodyPr>
          <a:lstStyle/>
          <a:p>
            <a:r>
              <a:rPr lang="en-US" b="1" dirty="0" smtClean="0"/>
              <a:t> </a:t>
            </a:r>
            <a:r>
              <a:rPr lang="en-US" b="1" dirty="0"/>
              <a:t>How It Works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F446A-5D4A-808A-7D26-CCAA9E032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32500" lnSpcReduction="20000"/>
          </a:bodyPr>
          <a:lstStyle/>
          <a:p>
            <a:r>
              <a:rPr lang="en-US" sz="8000" b="1" dirty="0">
                <a:latin typeface="+mj-lt"/>
              </a:rPr>
              <a:t>User</a:t>
            </a:r>
            <a:r>
              <a:rPr lang="en-US" sz="8000" dirty="0">
                <a:latin typeface="+mj-lt"/>
              </a:rPr>
              <a:t> interacts with the </a:t>
            </a:r>
            <a:r>
              <a:rPr lang="en-US" sz="8000" b="1" dirty="0">
                <a:latin typeface="+mj-lt"/>
              </a:rPr>
              <a:t>Presentation Layer</a:t>
            </a:r>
            <a:r>
              <a:rPr lang="en-US" sz="8000" dirty="0">
                <a:latin typeface="+mj-lt"/>
              </a:rPr>
              <a:t>.</a:t>
            </a:r>
          </a:p>
          <a:p>
            <a:r>
              <a:rPr lang="en-US" sz="8000" dirty="0">
                <a:latin typeface="+mj-lt"/>
              </a:rPr>
              <a:t>The </a:t>
            </a:r>
            <a:r>
              <a:rPr lang="en-US" sz="8000" b="1" dirty="0">
                <a:latin typeface="+mj-lt"/>
              </a:rPr>
              <a:t>Business Logic Layer</a:t>
            </a:r>
            <a:r>
              <a:rPr lang="en-US" sz="8000" dirty="0">
                <a:latin typeface="+mj-lt"/>
              </a:rPr>
              <a:t> processes the request.</a:t>
            </a:r>
          </a:p>
          <a:p>
            <a:r>
              <a:rPr lang="en-US" sz="8000" dirty="0">
                <a:latin typeface="+mj-lt"/>
              </a:rPr>
              <a:t>The </a:t>
            </a:r>
            <a:r>
              <a:rPr lang="en-US" sz="8000" b="1" dirty="0">
                <a:latin typeface="+mj-lt"/>
              </a:rPr>
              <a:t>Data Access Layer</a:t>
            </a:r>
            <a:r>
              <a:rPr lang="en-US" sz="8000" dirty="0">
                <a:latin typeface="+mj-lt"/>
              </a:rPr>
              <a:t> retrieves or updates data from the </a:t>
            </a:r>
            <a:r>
              <a:rPr lang="en-US" sz="8000" b="1" dirty="0">
                <a:latin typeface="+mj-lt"/>
              </a:rPr>
              <a:t>Database Layer</a:t>
            </a:r>
            <a:r>
              <a:rPr lang="en-US" sz="8000" dirty="0">
                <a:latin typeface="+mj-lt"/>
              </a:rPr>
              <a:t>.</a:t>
            </a:r>
          </a:p>
          <a:p>
            <a:r>
              <a:rPr lang="en-US" sz="8000" dirty="0">
                <a:latin typeface="+mj-lt"/>
              </a:rPr>
              <a:t>Results flow back up through the layers to the user.</a:t>
            </a:r>
          </a:p>
          <a:p>
            <a:r>
              <a:rPr lang="en-US" sz="8000" b="1" dirty="0">
                <a:latin typeface="+mj-lt"/>
              </a:rPr>
              <a:t>Flow:</a:t>
            </a:r>
            <a:r>
              <a:rPr lang="en-US" sz="8000" dirty="0">
                <a:latin typeface="+mj-lt"/>
              </a:rPr>
              <a:t/>
            </a:r>
            <a:br>
              <a:rPr lang="en-US" sz="8000" dirty="0">
                <a:latin typeface="+mj-lt"/>
              </a:rPr>
            </a:br>
            <a:r>
              <a:rPr lang="en-US" sz="8000" dirty="0" smtClean="0">
                <a:latin typeface="+mj-lt"/>
              </a:rPr>
              <a:t>User </a:t>
            </a:r>
            <a:r>
              <a:rPr lang="en-US" sz="8000" dirty="0">
                <a:latin typeface="+mj-lt"/>
              </a:rPr>
              <a:t>→ UI → Business Logic → Data Access → Database</a:t>
            </a:r>
            <a:br>
              <a:rPr lang="en-US" sz="8000" dirty="0">
                <a:latin typeface="+mj-lt"/>
              </a:rPr>
            </a:br>
            <a:r>
              <a:rPr lang="en-US" sz="8000" dirty="0">
                <a:latin typeface="+mj-lt"/>
              </a:rPr>
              <a:t>⬆️ Response follows the reverse path</a:t>
            </a:r>
          </a:p>
          <a:p>
            <a:endParaRPr lang="en-US" sz="8000" b="1" dirty="0">
              <a:latin typeface="+mj-lt"/>
            </a:endParaRP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203194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E826D-73DC-F379-56F5-46648BFA7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🛒 Example : E-Commerce Website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1B33C-00B8-D5AC-8F3B-580A0DA33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Presentation Layer:</a:t>
            </a:r>
            <a:r>
              <a:rPr lang="en-US" dirty="0"/>
              <a:t> Website interface (HTML, CSS, React).</a:t>
            </a:r>
          </a:p>
          <a:p>
            <a:r>
              <a:rPr lang="en-US" b="1" dirty="0"/>
              <a:t>Business Logic Layer:</a:t>
            </a:r>
            <a:r>
              <a:rPr lang="en-US" dirty="0"/>
              <a:t> Handles user login, payment rules, order management.</a:t>
            </a:r>
          </a:p>
          <a:p>
            <a:r>
              <a:rPr lang="en-US" b="1" dirty="0"/>
              <a:t>Data Access Layer:</a:t>
            </a:r>
            <a:r>
              <a:rPr lang="en-US" dirty="0"/>
              <a:t> Executes SQL queries.</a:t>
            </a:r>
          </a:p>
          <a:p>
            <a:r>
              <a:rPr lang="en-US" b="1" dirty="0"/>
              <a:t>Database Layer:</a:t>
            </a:r>
            <a:r>
              <a:rPr lang="en-US" dirty="0"/>
              <a:t> Stores products, users, orders (MySQL).</a:t>
            </a:r>
          </a:p>
          <a:p>
            <a:r>
              <a:rPr lang="en-US" b="1" dirty="0"/>
              <a:t>Flow: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User → UI → Order Logic → SQL Queries → Database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186672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351721"/>
          </a:xfrm>
        </p:spPr>
        <p:txBody>
          <a:bodyPr/>
          <a:lstStyle/>
          <a:p>
            <a:r>
              <a:rPr dirty="0"/>
              <a:t>Pipe and Filter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924" y="2160104"/>
            <a:ext cx="7704667" cy="3332816"/>
          </a:xfrm>
        </p:spPr>
        <p:txBody>
          <a:bodyPr>
            <a:normAutofit/>
          </a:bodyPr>
          <a:lstStyle/>
          <a:p>
            <a:r>
              <a:rPr lang="en-US" dirty="0"/>
              <a:t>Concept:</a:t>
            </a:r>
          </a:p>
          <a:p>
            <a:r>
              <a:rPr lang="en-US" dirty="0"/>
              <a:t>The </a:t>
            </a:r>
            <a:r>
              <a:rPr lang="en-US" b="1" dirty="0"/>
              <a:t>Pipe and Filter architecture</a:t>
            </a:r>
            <a:r>
              <a:rPr lang="en-US" dirty="0"/>
              <a:t> is a </a:t>
            </a:r>
            <a:r>
              <a:rPr lang="en-US" b="1" dirty="0"/>
              <a:t>data-flow design pattern</a:t>
            </a:r>
            <a:r>
              <a:rPr lang="en-US" dirty="0"/>
              <a:t> where the system is organized as a </a:t>
            </a:r>
            <a:r>
              <a:rPr lang="en-US" b="1" dirty="0"/>
              <a:t>series of processing steps (filters)</a:t>
            </a:r>
            <a:r>
              <a:rPr lang="en-US" dirty="0"/>
              <a:t> connected by </a:t>
            </a:r>
            <a:r>
              <a:rPr lang="en-US" b="1" dirty="0"/>
              <a:t>data channels (pipes)</a:t>
            </a:r>
            <a:r>
              <a:rPr lang="en-US" dirty="0"/>
              <a:t>.</a:t>
            </a:r>
          </a:p>
          <a:p>
            <a:r>
              <a:rPr lang="en-US" dirty="0"/>
              <a:t>Each </a:t>
            </a:r>
            <a:r>
              <a:rPr lang="en-US" b="1" dirty="0"/>
              <a:t>filter</a:t>
            </a:r>
            <a:r>
              <a:rPr lang="en-US" dirty="0"/>
              <a:t> takes input, processes it, and produces output that is passed to the next filter through a </a:t>
            </a:r>
            <a:r>
              <a:rPr lang="en-US" b="1" dirty="0"/>
              <a:t>pipe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 Brief Taxonomy of Architectural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Call and return/ Pipe &amp; Filter architectures: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86000"/>
            <a:ext cx="79248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8532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 example of the pipe and filter architecture</a:t>
            </a:r>
            <a:r>
              <a:rPr lang="en-GB" dirty="0"/>
              <a:t>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2286000"/>
            <a:ext cx="8948622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7413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63207-3538-8F75-3F54-21422DD50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316735"/>
          </a:xfrm>
        </p:spPr>
        <p:txBody>
          <a:bodyPr/>
          <a:lstStyle/>
          <a:p>
            <a:r>
              <a:rPr lang="en-US" dirty="0"/>
              <a:t>Pipe and Filter Architecture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618C6-3610-C1B9-3BDE-5FA839AFF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973" y="1898904"/>
            <a:ext cx="7704667" cy="3332816"/>
          </a:xfrm>
        </p:spPr>
        <p:txBody>
          <a:bodyPr/>
          <a:lstStyle/>
          <a:p>
            <a:r>
              <a:rPr lang="en-US" b="1" dirty="0"/>
              <a:t>Advantages:</a:t>
            </a:r>
            <a:r>
              <a:rPr lang="en-US" dirty="0"/>
              <a:t> Easy modification, supports parallelism. </a:t>
            </a:r>
          </a:p>
          <a:p>
            <a:r>
              <a:rPr lang="en-US" b="1" dirty="0"/>
              <a:t>Disadvantages:</a:t>
            </a:r>
            <a:r>
              <a:rPr lang="en-US" dirty="0"/>
              <a:t> Not interactive, requires compatible data formats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024052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229E3-3B35-2148-EE88-892DB1CE4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298447"/>
          </a:xfrm>
        </p:spPr>
        <p:txBody>
          <a:bodyPr>
            <a:normAutofit/>
          </a:bodyPr>
          <a:lstStyle/>
          <a:p>
            <a:r>
              <a:rPr lang="en-US" b="1" dirty="0"/>
              <a:t> Compiler System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9B0C0-920A-C89C-32D3-693B6AFFA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2" y="2017776"/>
            <a:ext cx="7704667" cy="3332816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Explanation: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 compiler processes source code through several stages — each acting as a filter.</a:t>
            </a:r>
            <a:br>
              <a:rPr lang="en-US" dirty="0"/>
            </a:br>
            <a:r>
              <a:rPr lang="en-US" b="1" dirty="0"/>
              <a:t>Filters:</a:t>
            </a:r>
            <a:endParaRPr lang="en-US" dirty="0"/>
          </a:p>
          <a:p>
            <a:r>
              <a:rPr lang="en-US" dirty="0"/>
              <a:t>Lexical Analyzer → breaks code into tokens</a:t>
            </a:r>
          </a:p>
          <a:p>
            <a:r>
              <a:rPr lang="en-US" dirty="0"/>
              <a:t>Syntax Analyzer → checks grammar</a:t>
            </a:r>
          </a:p>
          <a:p>
            <a:r>
              <a:rPr lang="en-US" dirty="0"/>
              <a:t>Semantic Analyzer → checks meaning</a:t>
            </a:r>
          </a:p>
          <a:p>
            <a:r>
              <a:rPr lang="en-US" dirty="0"/>
              <a:t>Code Generator → produces target code</a:t>
            </a:r>
          </a:p>
          <a:p>
            <a:r>
              <a:rPr lang="en-US" b="1" dirty="0"/>
              <a:t>Flow: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Source Code → Lexical → Syntax → Semantic → Code Generator → Machine Code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783107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E2C6-042E-0A8C-74A0-EA774FC35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 Architecture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B85CF-4661-495A-C533-5F6DE9FEB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2" y="2118360"/>
            <a:ext cx="7704667" cy="33328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Concept: </a:t>
            </a:r>
          </a:p>
          <a:p>
            <a:r>
              <a:rPr lang="en-US" dirty="0"/>
              <a:t>Microservices Architecture is a software design style in which an application is divided into a </a:t>
            </a:r>
            <a:r>
              <a:rPr lang="en-US" b="1" dirty="0"/>
              <a:t>collection of small, independent services</a:t>
            </a:r>
            <a:r>
              <a:rPr lang="en-US" dirty="0"/>
              <a:t> that communicate with each other using </a:t>
            </a:r>
            <a:r>
              <a:rPr lang="en-US" b="1" dirty="0"/>
              <a:t>APIs</a:t>
            </a:r>
            <a:endParaRPr lang="en-US" dirty="0"/>
          </a:p>
          <a:p>
            <a:r>
              <a:rPr lang="en-US" dirty="0"/>
              <a:t>Each microservice focuses on doing </a:t>
            </a:r>
            <a:r>
              <a:rPr lang="en-US" b="1" dirty="0"/>
              <a:t>one specific business function</a:t>
            </a:r>
            <a:r>
              <a:rPr lang="en-US" dirty="0"/>
              <a:t> and can be developed, deployed, and scaled </a:t>
            </a:r>
            <a:r>
              <a:rPr lang="en-US" b="1" dirty="0"/>
              <a:t>independently</a:t>
            </a:r>
            <a:r>
              <a:rPr lang="en-US" dirty="0"/>
              <a:t>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02388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231640"/>
          </a:xfrm>
        </p:spPr>
        <p:txBody>
          <a:bodyPr/>
          <a:lstStyle/>
          <a:p>
            <a:r>
              <a:rPr lang="en-US" dirty="0" smtClean="0"/>
              <a:t>Micro-services </a:t>
            </a:r>
            <a:r>
              <a:rPr lang="en-US" dirty="0"/>
              <a:t>Architecture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6190" y="1939212"/>
            <a:ext cx="7704667" cy="3332816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Advantages: Scalable, fault-tolerant, flexible.</a:t>
            </a:r>
          </a:p>
          <a:p>
            <a:r>
              <a:rPr dirty="0"/>
              <a:t>Disadvantages: Complex communication, harder debugging.</a:t>
            </a:r>
            <a:endParaRPr lang="en-US" dirty="0"/>
          </a:p>
          <a:p>
            <a:r>
              <a:rPr lang="en-US" dirty="0"/>
              <a:t>Examples</a:t>
            </a:r>
          </a:p>
          <a:p>
            <a:pPr lvl="1"/>
            <a:r>
              <a:rPr lang="en-US" sz="2400" dirty="0"/>
              <a:t>Netflix: Uses hundreds of microservices to handle streaming, recommendations, billing, etc.</a:t>
            </a:r>
          </a:p>
          <a:p>
            <a:pPr lvl="1"/>
            <a:r>
              <a:rPr lang="en-US" sz="2400" dirty="0"/>
              <a:t>Amazon: Every function (cart, payment, shipping) runs as a separate microservice</a:t>
            </a:r>
          </a:p>
          <a:p>
            <a:pPr lvl="1"/>
            <a:r>
              <a:rPr lang="en-US" sz="2400" dirty="0"/>
              <a:t>.Uber: Microservices for rides, payments, user management, and maps.</a:t>
            </a:r>
            <a:endParaRPr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72158C-5583-9EFF-6271-0B2592333E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36735" y="1000918"/>
            <a:ext cx="6833550" cy="445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0993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119672"/>
          </a:xfrm>
        </p:spPr>
        <p:txBody>
          <a:bodyPr/>
          <a:lstStyle/>
          <a:p>
            <a:r>
              <a:rPr lang="en-US" b="1" dirty="0"/>
              <a:t>Monolithic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0835" y="1894114"/>
            <a:ext cx="7704667" cy="4320073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 smtClean="0"/>
              <a:t>Monolithic </a:t>
            </a:r>
            <a:r>
              <a:rPr lang="en-US" b="1" dirty="0"/>
              <a:t>Architecture</a:t>
            </a:r>
            <a:r>
              <a:rPr lang="en-US" dirty="0"/>
              <a:t> is a software design where the </a:t>
            </a:r>
            <a:r>
              <a:rPr lang="en-US" b="1" dirty="0"/>
              <a:t>entire application is built as a single, unified unit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All components (UI, business logic, database access) are tightly integrated and deployed together</a:t>
            </a:r>
            <a:r>
              <a:rPr lang="en-US" dirty="0" smtClean="0"/>
              <a:t>.</a:t>
            </a:r>
          </a:p>
          <a:p>
            <a:r>
              <a:rPr lang="en-US" b="1" dirty="0"/>
              <a:t>Real-World Examples</a:t>
            </a:r>
          </a:p>
          <a:p>
            <a:r>
              <a:rPr lang="en-US" dirty="0"/>
              <a:t>Early versions of: </a:t>
            </a:r>
          </a:p>
          <a:p>
            <a:pPr lvl="1"/>
            <a:r>
              <a:rPr lang="en-US" dirty="0"/>
              <a:t>Facebook </a:t>
            </a:r>
            <a:r>
              <a:rPr lang="en-US" dirty="0" smtClean="0"/>
              <a:t>, Amazon </a:t>
            </a:r>
            <a:endParaRPr lang="en-US" dirty="0"/>
          </a:p>
          <a:p>
            <a:r>
              <a:rPr lang="en-US" dirty="0"/>
              <a:t>Many small systems like: </a:t>
            </a:r>
          </a:p>
          <a:p>
            <a:pPr lvl="1"/>
            <a:r>
              <a:rPr lang="en-US" dirty="0"/>
              <a:t>School management systems </a:t>
            </a:r>
            <a:r>
              <a:rPr lang="en-US" dirty="0" smtClean="0"/>
              <a:t>, Library systems, Basic </a:t>
            </a:r>
            <a:r>
              <a:rPr lang="en-US" dirty="0"/>
              <a:t>web </a:t>
            </a:r>
            <a:r>
              <a:rPr lang="en-US" dirty="0" smtClean="0"/>
              <a:t>applications</a:t>
            </a:r>
          </a:p>
          <a:p>
            <a:r>
              <a:rPr lang="en-US" dirty="0"/>
              <a:t>Most systems follow this journey:</a:t>
            </a:r>
          </a:p>
          <a:p>
            <a:r>
              <a:rPr lang="en-US" dirty="0" smtClean="0"/>
              <a:t>Monolithic </a:t>
            </a:r>
            <a:r>
              <a:rPr lang="en-US" dirty="0"/>
              <a:t>→ Modular Monolith → </a:t>
            </a:r>
            <a:r>
              <a:rPr lang="en-US" dirty="0" err="1"/>
              <a:t>Microservices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0149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Structure of Monolithic System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230017"/>
            <a:ext cx="7704667" cy="3947081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A </a:t>
            </a:r>
            <a:r>
              <a:rPr lang="en-US" dirty="0"/>
              <a:t>typical monolithic application contains:</a:t>
            </a:r>
          </a:p>
          <a:p>
            <a:pPr marL="0" indent="0">
              <a:buNone/>
            </a:pPr>
            <a:r>
              <a:rPr lang="en-US" b="1" dirty="0" smtClean="0"/>
              <a:t>1</a:t>
            </a:r>
            <a:r>
              <a:rPr lang="en-US" b="1" dirty="0"/>
              <a:t>. Presentation Layer</a:t>
            </a:r>
          </a:p>
          <a:p>
            <a:pPr lvl="1"/>
            <a:r>
              <a:rPr lang="en-US" dirty="0"/>
              <a:t>User interface (UI) </a:t>
            </a:r>
          </a:p>
          <a:p>
            <a:pPr lvl="1"/>
            <a:r>
              <a:rPr lang="en-US" dirty="0"/>
              <a:t>Handles user interaction </a:t>
            </a:r>
          </a:p>
          <a:p>
            <a:pPr marL="0" indent="0">
              <a:buNone/>
            </a:pPr>
            <a:r>
              <a:rPr lang="en-US" b="1" dirty="0" smtClean="0"/>
              <a:t>2</a:t>
            </a:r>
            <a:r>
              <a:rPr lang="en-US" b="1" dirty="0"/>
              <a:t>. Business Logic Layer</a:t>
            </a:r>
          </a:p>
          <a:p>
            <a:pPr lvl="1"/>
            <a:r>
              <a:rPr lang="en-US" dirty="0"/>
              <a:t>Core functionality </a:t>
            </a:r>
          </a:p>
          <a:p>
            <a:pPr lvl="1"/>
            <a:r>
              <a:rPr lang="en-US" dirty="0"/>
              <a:t>Processes rules and decisions </a:t>
            </a:r>
          </a:p>
          <a:p>
            <a:pPr marL="0" indent="0">
              <a:buNone/>
            </a:pPr>
            <a:r>
              <a:rPr lang="en-US" b="1" dirty="0" smtClean="0"/>
              <a:t> </a:t>
            </a:r>
            <a:r>
              <a:rPr lang="en-US" b="1" dirty="0"/>
              <a:t>3. Data Access Layer</a:t>
            </a:r>
          </a:p>
          <a:p>
            <a:pPr lvl="1"/>
            <a:r>
              <a:rPr lang="en-US" dirty="0"/>
              <a:t>Interacts with database </a:t>
            </a:r>
          </a:p>
          <a:p>
            <a:pPr lvl="1"/>
            <a:r>
              <a:rPr lang="en-US" dirty="0"/>
              <a:t>Handles queries and storage </a:t>
            </a:r>
          </a:p>
          <a:p>
            <a:r>
              <a:rPr lang="en-US" dirty="0" smtClean="0"/>
              <a:t> </a:t>
            </a:r>
            <a:r>
              <a:rPr lang="en-US" dirty="0"/>
              <a:t>All these are packaged and run as </a:t>
            </a:r>
            <a:r>
              <a:rPr lang="en-US" b="1" dirty="0"/>
              <a:t>one application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153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4" y="457201"/>
            <a:ext cx="7387426" cy="970383"/>
          </a:xfrm>
        </p:spPr>
        <p:txBody>
          <a:bodyPr/>
          <a:lstStyle/>
          <a:p>
            <a:r>
              <a:rPr lang="en-US" b="1" dirty="0"/>
              <a:t>How It Works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4" y="1800808"/>
            <a:ext cx="7172821" cy="4831700"/>
          </a:xfrm>
        </p:spPr>
        <p:txBody>
          <a:bodyPr>
            <a:normAutofit/>
          </a:bodyPr>
          <a:lstStyle/>
          <a:p>
            <a:r>
              <a:rPr lang="en-US" dirty="0" smtClean="0"/>
              <a:t>User </a:t>
            </a:r>
            <a:r>
              <a:rPr lang="en-US" dirty="0"/>
              <a:t>sends request </a:t>
            </a:r>
          </a:p>
          <a:p>
            <a:r>
              <a:rPr lang="en-US" dirty="0"/>
              <a:t>Entire application processes it internally </a:t>
            </a:r>
          </a:p>
          <a:p>
            <a:r>
              <a:rPr lang="en-US" dirty="0"/>
              <a:t>Response is returned </a:t>
            </a:r>
          </a:p>
          <a:p>
            <a:r>
              <a:rPr lang="en-US" dirty="0" smtClean="0"/>
              <a:t> </a:t>
            </a:r>
            <a:r>
              <a:rPr lang="en-US" dirty="0"/>
              <a:t>No external service calls (unlike </a:t>
            </a:r>
            <a:r>
              <a:rPr lang="en-US" dirty="0" err="1"/>
              <a:t>microservices</a:t>
            </a:r>
            <a:r>
              <a:rPr lang="en-US" dirty="0"/>
              <a:t>)</a:t>
            </a:r>
          </a:p>
          <a:p>
            <a:r>
              <a:rPr lang="en-US" b="1" dirty="0" smtClean="0"/>
              <a:t>Advantages</a:t>
            </a:r>
          </a:p>
          <a:p>
            <a:pPr marL="0" indent="0">
              <a:buNone/>
            </a:pPr>
            <a:r>
              <a:rPr lang="en-US" dirty="0"/>
              <a:t>Simple </a:t>
            </a:r>
            <a:r>
              <a:rPr lang="en-US" dirty="0" smtClean="0"/>
              <a:t>Development,</a:t>
            </a:r>
            <a:r>
              <a:rPr lang="en-US" dirty="0"/>
              <a:t> Easy </a:t>
            </a:r>
            <a:r>
              <a:rPr lang="en-US" dirty="0" smtClean="0"/>
              <a:t>Deployment,</a:t>
            </a:r>
            <a:r>
              <a:rPr lang="en-US" b="1" dirty="0"/>
              <a:t> </a:t>
            </a:r>
            <a:r>
              <a:rPr lang="en-US" dirty="0"/>
              <a:t>Better Performance </a:t>
            </a:r>
            <a:r>
              <a:rPr lang="en-US" dirty="0" smtClean="0"/>
              <a:t>, </a:t>
            </a:r>
            <a:r>
              <a:rPr lang="en-US" dirty="0"/>
              <a:t>Easier Testing </a:t>
            </a:r>
            <a:endParaRPr lang="en-US" dirty="0" smtClean="0"/>
          </a:p>
          <a:p>
            <a:r>
              <a:rPr lang="en-US" b="1" dirty="0" smtClean="0"/>
              <a:t>Disadvantages</a:t>
            </a:r>
          </a:p>
          <a:p>
            <a:pPr marL="0" indent="0">
              <a:buNone/>
            </a:pPr>
            <a:r>
              <a:rPr lang="en-US" dirty="0"/>
              <a:t>Poor </a:t>
            </a:r>
            <a:r>
              <a:rPr lang="en-US" dirty="0" smtClean="0"/>
              <a:t>Scalability,</a:t>
            </a:r>
            <a:r>
              <a:rPr lang="en-US" b="1" dirty="0"/>
              <a:t> </a:t>
            </a:r>
            <a:r>
              <a:rPr lang="en-US" dirty="0"/>
              <a:t>Slow Development (team </a:t>
            </a:r>
            <a:r>
              <a:rPr lang="en-US" dirty="0" smtClean="0"/>
              <a:t>issues)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3703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830423"/>
          </a:xfrm>
        </p:spPr>
        <p:txBody>
          <a:bodyPr/>
          <a:lstStyle/>
          <a:p>
            <a:r>
              <a:rPr lang="en-US" b="1" dirty="0"/>
              <a:t>Event-Driven Architecture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595535"/>
            <a:ext cx="7704667" cy="440428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What </a:t>
            </a:r>
            <a:r>
              <a:rPr lang="en-US" b="1" dirty="0"/>
              <a:t>is EDA?</a:t>
            </a:r>
          </a:p>
          <a:p>
            <a:r>
              <a:rPr lang="en-US" dirty="0"/>
              <a:t>A design pattern where components communicate via </a:t>
            </a:r>
            <a:r>
              <a:rPr lang="en-US" b="1" dirty="0"/>
              <a:t>events</a:t>
            </a:r>
            <a:r>
              <a:rPr lang="en-US" dirty="0"/>
              <a:t> </a:t>
            </a:r>
          </a:p>
          <a:p>
            <a:r>
              <a:rPr lang="en-US" dirty="0"/>
              <a:t>An </a:t>
            </a:r>
            <a:r>
              <a:rPr lang="en-US" b="1" dirty="0"/>
              <a:t>event</a:t>
            </a:r>
            <a:r>
              <a:rPr lang="en-US" dirty="0"/>
              <a:t> = change in system state (e.g., order placed, login) </a:t>
            </a:r>
          </a:p>
          <a:p>
            <a:pPr marL="0" indent="0">
              <a:buNone/>
            </a:pPr>
            <a:r>
              <a:rPr lang="en-US" b="1" dirty="0" smtClean="0"/>
              <a:t>Core </a:t>
            </a:r>
            <a:r>
              <a:rPr lang="en-US" b="1" dirty="0"/>
              <a:t>Idea</a:t>
            </a:r>
          </a:p>
          <a:p>
            <a:r>
              <a:rPr lang="en-US" dirty="0"/>
              <a:t>Producer → Generates events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Example</a:t>
            </a:r>
            <a:r>
              <a:rPr lang="en-US" dirty="0"/>
              <a:t>: User clicks “Buy Now”</a:t>
            </a:r>
          </a:p>
          <a:p>
            <a:r>
              <a:rPr lang="en-US" dirty="0"/>
              <a:t>Broker → Transfers events between </a:t>
            </a:r>
            <a:r>
              <a:rPr lang="en-US" dirty="0" smtClean="0"/>
              <a:t>components</a:t>
            </a:r>
          </a:p>
          <a:p>
            <a:r>
              <a:rPr lang="en-US" dirty="0" smtClean="0"/>
              <a:t>Consumer </a:t>
            </a:r>
            <a:r>
              <a:rPr lang="en-US" dirty="0"/>
              <a:t>→ Listens and reacts to </a:t>
            </a:r>
            <a:r>
              <a:rPr lang="en-US" dirty="0" smtClean="0"/>
              <a:t>events 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Example</a:t>
            </a:r>
            <a:r>
              <a:rPr lang="en-US" dirty="0"/>
              <a:t>: Payment service processes payment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Key </a:t>
            </a:r>
            <a:r>
              <a:rPr lang="en-US" b="1" dirty="0"/>
              <a:t>Components</a:t>
            </a:r>
          </a:p>
          <a:p>
            <a:r>
              <a:rPr lang="en-US" dirty="0"/>
              <a:t>Event Producer (Publisher) </a:t>
            </a:r>
          </a:p>
          <a:p>
            <a:r>
              <a:rPr lang="en-US" dirty="0"/>
              <a:t>Event Consumer (Subscriber) </a:t>
            </a:r>
          </a:p>
          <a:p>
            <a:r>
              <a:rPr lang="en-US" dirty="0"/>
              <a:t>Event Broker (e.g., Apache Kafka, </a:t>
            </a:r>
            <a:r>
              <a:rPr lang="en-US" dirty="0" err="1"/>
              <a:t>RabbitMQ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221462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02435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How It </a:t>
            </a:r>
            <a:r>
              <a:rPr lang="en-US" b="1" dirty="0" smtClean="0"/>
              <a:t>Works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019" y="1481559"/>
            <a:ext cx="7704667" cy="3332816"/>
          </a:xfrm>
        </p:spPr>
        <p:txBody>
          <a:bodyPr/>
          <a:lstStyle/>
          <a:p>
            <a:r>
              <a:rPr lang="en-US" dirty="0" smtClean="0"/>
              <a:t>User </a:t>
            </a:r>
            <a:r>
              <a:rPr lang="en-US" dirty="0"/>
              <a:t>performs an action </a:t>
            </a:r>
          </a:p>
          <a:p>
            <a:r>
              <a:rPr lang="en-US" dirty="0"/>
              <a:t>Producer creates an event </a:t>
            </a:r>
          </a:p>
          <a:p>
            <a:r>
              <a:rPr lang="en-US" dirty="0"/>
              <a:t>Event is sent to broker </a:t>
            </a:r>
          </a:p>
          <a:p>
            <a:r>
              <a:rPr lang="en-US" dirty="0"/>
              <a:t>Broker distributes event </a:t>
            </a:r>
          </a:p>
          <a:p>
            <a:r>
              <a:rPr lang="en-US" dirty="0"/>
              <a:t>Consumers process it </a:t>
            </a:r>
            <a:r>
              <a:rPr lang="en-US" dirty="0" smtClean="0"/>
              <a:t>independently.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4475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Real World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2285035"/>
            <a:ext cx="7704667" cy="4191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Streaming </a:t>
            </a:r>
            <a:r>
              <a:rPr lang="en-US" dirty="0" err="1"/>
              <a:t>PlatformsExample</a:t>
            </a:r>
            <a:r>
              <a:rPr lang="en-US" dirty="0"/>
              <a:t>: </a:t>
            </a:r>
            <a:endParaRPr lang="en-US" dirty="0" smtClean="0"/>
          </a:p>
          <a:p>
            <a:r>
              <a:rPr lang="en-US" dirty="0" err="1" smtClean="0"/>
              <a:t>NetflixEvents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User watches videos</a:t>
            </a:r>
          </a:p>
          <a:p>
            <a:pPr lvl="1"/>
            <a:r>
              <a:rPr lang="en-US" dirty="0" smtClean="0"/>
              <a:t>Recommendation </a:t>
            </a:r>
            <a:r>
              <a:rPr lang="en-US" dirty="0"/>
              <a:t>engine </a:t>
            </a:r>
            <a:r>
              <a:rPr lang="en-US" dirty="0" smtClean="0"/>
              <a:t>updates</a:t>
            </a:r>
          </a:p>
          <a:p>
            <a:pPr marL="0" indent="0">
              <a:buNone/>
            </a:pPr>
            <a:r>
              <a:rPr lang="en-US" dirty="0" smtClean="0"/>
              <a:t>🚗 </a:t>
            </a:r>
            <a:r>
              <a:rPr lang="en-US" dirty="0"/>
              <a:t>Ride-Hailing </a:t>
            </a:r>
            <a:r>
              <a:rPr lang="en-US" dirty="0" err="1"/>
              <a:t>AppsExample</a:t>
            </a:r>
            <a:r>
              <a:rPr lang="en-US" dirty="0" smtClean="0"/>
              <a:t>:</a:t>
            </a:r>
          </a:p>
          <a:p>
            <a:r>
              <a:rPr lang="en-US" dirty="0" smtClean="0"/>
              <a:t> Uber Events:</a:t>
            </a:r>
          </a:p>
          <a:p>
            <a:pPr lvl="1"/>
            <a:r>
              <a:rPr lang="en-US" dirty="0" smtClean="0"/>
              <a:t>Ride requested</a:t>
            </a:r>
          </a:p>
          <a:p>
            <a:pPr lvl="1"/>
            <a:r>
              <a:rPr lang="en-US" dirty="0" smtClean="0"/>
              <a:t>Driver assigned</a:t>
            </a:r>
          </a:p>
          <a:p>
            <a:pPr lvl="1"/>
            <a:r>
              <a:rPr lang="en-US" dirty="0" smtClean="0"/>
              <a:t>Ride </a:t>
            </a:r>
            <a:r>
              <a:rPr lang="en-US" dirty="0"/>
              <a:t>completed</a:t>
            </a:r>
          </a:p>
        </p:txBody>
      </p:sp>
    </p:spTree>
    <p:extLst>
      <p:ext uri="{BB962C8B-B14F-4D97-AF65-F5344CB8AC3E}">
        <p14:creationId xmlns:p14="http://schemas.microsoft.com/office/powerpoint/2010/main" val="37226665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126361" cy="4446638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Concept:</a:t>
            </a:r>
          </a:p>
          <a:p>
            <a:r>
              <a:rPr dirty="0"/>
              <a:t>A software design where </a:t>
            </a:r>
            <a:r>
              <a:rPr b="1" dirty="0"/>
              <a:t>system components </a:t>
            </a:r>
            <a:r>
              <a:rPr dirty="0"/>
              <a:t>are located on </a:t>
            </a:r>
            <a:r>
              <a:rPr b="1" dirty="0"/>
              <a:t>different networked computers </a:t>
            </a:r>
            <a:r>
              <a:rPr dirty="0"/>
              <a:t>that communicate through message passing.</a:t>
            </a:r>
          </a:p>
          <a:p>
            <a:endParaRPr dirty="0"/>
          </a:p>
          <a:p>
            <a:r>
              <a:rPr dirty="0"/>
              <a:t>Key Idea:</a:t>
            </a:r>
          </a:p>
          <a:p>
            <a:r>
              <a:rPr dirty="0"/>
              <a:t>Workload is distributed across multiple nodes, but they function as one logical system.</a:t>
            </a:r>
          </a:p>
          <a:p>
            <a:endParaRPr dirty="0"/>
          </a:p>
          <a:p>
            <a:r>
              <a:rPr dirty="0"/>
              <a:t>Characteristics:</a:t>
            </a:r>
          </a:p>
          <a:p>
            <a:r>
              <a:rPr dirty="0"/>
              <a:t>- Multiple independent nodes</a:t>
            </a:r>
          </a:p>
          <a:p>
            <a:r>
              <a:rPr dirty="0"/>
              <a:t>- Communication via network</a:t>
            </a:r>
          </a:p>
          <a:p>
            <a:r>
              <a:rPr dirty="0"/>
              <a:t>- Resource sharing</a:t>
            </a:r>
          </a:p>
          <a:p>
            <a:r>
              <a:rPr dirty="0"/>
              <a:t>- Scalable and fault-tolerant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and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146026" cy="4151671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Advantages:</a:t>
            </a:r>
          </a:p>
          <a:p>
            <a:r>
              <a:rPr dirty="0"/>
              <a:t>- Improved performance </a:t>
            </a:r>
            <a:endParaRPr lang="en-US" dirty="0"/>
          </a:p>
          <a:p>
            <a:r>
              <a:rPr dirty="0"/>
              <a:t>- Scalable </a:t>
            </a:r>
            <a:endParaRPr lang="en-US" dirty="0"/>
          </a:p>
          <a:p>
            <a:r>
              <a:rPr dirty="0"/>
              <a:t>- Fault tolerant </a:t>
            </a:r>
            <a:endParaRPr lang="en-US" dirty="0"/>
          </a:p>
          <a:p>
            <a:r>
              <a:rPr dirty="0"/>
              <a:t>- Enables resource sharing</a:t>
            </a:r>
          </a:p>
          <a:p>
            <a:endParaRPr dirty="0"/>
          </a:p>
          <a:p>
            <a:r>
              <a:rPr dirty="0"/>
              <a:t>Disadvantages:</a:t>
            </a:r>
          </a:p>
          <a:p>
            <a:r>
              <a:rPr dirty="0"/>
              <a:t>- Complex communication &amp; synchronization</a:t>
            </a:r>
          </a:p>
          <a:p>
            <a:r>
              <a:rPr dirty="0"/>
              <a:t>- Security challenges</a:t>
            </a:r>
          </a:p>
          <a:p>
            <a:r>
              <a:rPr dirty="0"/>
              <a:t>- Difficult debugging</a:t>
            </a:r>
          </a:p>
          <a:p>
            <a:r>
              <a:rPr dirty="0"/>
              <a:t>- Network dependency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Distributed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209800"/>
            <a:ext cx="7704667" cy="3332816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1. Client–Server Systems – e.g., web apps</a:t>
            </a:r>
          </a:p>
          <a:p>
            <a:pPr marL="0" indent="0">
              <a:buNone/>
            </a:pPr>
            <a:r>
              <a:rPr dirty="0"/>
              <a:t>2. Peer-to-Peer (P2P) – e.g., file sharing networks</a:t>
            </a:r>
          </a:p>
          <a:p>
            <a:pPr marL="0" indent="0">
              <a:buNone/>
            </a:pPr>
            <a:r>
              <a:rPr dirty="0"/>
              <a:t>3. Three-Tier Systems – e.g., web apps with separate logic and database servers</a:t>
            </a:r>
          </a:p>
          <a:p>
            <a:pPr marL="0" indent="0">
              <a:buNone/>
            </a:pPr>
            <a:r>
              <a:rPr dirty="0"/>
              <a:t>4. Cloud-Based Systems – e.g., services spread across data centers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1. Google Search – distributed across thousands of servers for speed and reliability.</a:t>
            </a:r>
          </a:p>
          <a:p>
            <a:pPr marL="0" indent="0">
              <a:buNone/>
            </a:pPr>
            <a:r>
              <a:rPr dirty="0"/>
              <a:t>2. Online Banking – separate servers for login, transactions, and database.</a:t>
            </a:r>
          </a:p>
          <a:p>
            <a:pPr marL="0" indent="0">
              <a:buNone/>
            </a:pPr>
            <a:r>
              <a:rPr dirty="0"/>
              <a:t>3. Multiplayer Games – distributed game servers synchronize player actions.</a:t>
            </a:r>
          </a:p>
          <a:p>
            <a:pPr marL="0" indent="0">
              <a:buNone/>
            </a:pPr>
            <a:r>
              <a:rPr dirty="0"/>
              <a:t>4. </a:t>
            </a:r>
            <a:r>
              <a:rPr dirty="0" err="1"/>
              <a:t>Blockchain</a:t>
            </a:r>
            <a:r>
              <a:rPr dirty="0"/>
              <a:t> Network – peer-to-peer system with no central control.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Distributed System Diagram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A9BC41-8871-34DB-DF92-48E5A1C32584}"/>
              </a:ext>
            </a:extLst>
          </p:cNvPr>
          <p:cNvGrpSpPr/>
          <p:nvPr/>
        </p:nvGrpSpPr>
        <p:grpSpPr>
          <a:xfrm>
            <a:off x="1661651" y="2207717"/>
            <a:ext cx="5063614" cy="3947647"/>
            <a:chOff x="4419599" y="1457635"/>
            <a:chExt cx="5309420" cy="46088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2F88DF-6148-AACE-EFC1-E52E00FE31AA}"/>
                </a:ext>
              </a:extLst>
            </p:cNvPr>
            <p:cNvSpPr/>
            <p:nvPr/>
          </p:nvSpPr>
          <p:spPr>
            <a:xfrm>
              <a:off x="5068527" y="1457635"/>
              <a:ext cx="1602658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Client A</a:t>
              </a:r>
              <a:endParaRPr lang="en-PK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676DD3-EB28-7243-5D37-D65014B2654A}"/>
                </a:ext>
              </a:extLst>
            </p:cNvPr>
            <p:cNvSpPr/>
            <p:nvPr/>
          </p:nvSpPr>
          <p:spPr>
            <a:xfrm>
              <a:off x="7325032" y="1457635"/>
              <a:ext cx="1602658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Client B</a:t>
              </a:r>
              <a:endParaRPr lang="en-PK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0834C5A-B960-78B5-13EF-C50E7D7FC584}"/>
                </a:ext>
              </a:extLst>
            </p:cNvPr>
            <p:cNvSpPr/>
            <p:nvPr/>
          </p:nvSpPr>
          <p:spPr>
            <a:xfrm>
              <a:off x="6302477" y="3298724"/>
              <a:ext cx="1602658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Distributed Network</a:t>
              </a:r>
              <a:endParaRPr lang="en-PK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613635E-F710-D56B-3214-F4D557138706}"/>
                </a:ext>
              </a:extLst>
            </p:cNvPr>
            <p:cNvSpPr/>
            <p:nvPr/>
          </p:nvSpPr>
          <p:spPr>
            <a:xfrm>
              <a:off x="8126361" y="5152103"/>
              <a:ext cx="1602658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Server 3</a:t>
              </a:r>
              <a:endParaRPr lang="en-PK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0CE9346-DEE2-D850-7136-546A3C090102}"/>
                </a:ext>
              </a:extLst>
            </p:cNvPr>
            <p:cNvSpPr/>
            <p:nvPr/>
          </p:nvSpPr>
          <p:spPr>
            <a:xfrm>
              <a:off x="6302477" y="5152103"/>
              <a:ext cx="1602658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Server 2</a:t>
              </a:r>
              <a:endParaRPr lang="en-PK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EE96092-04CD-18BE-E16C-453C565B2B4E}"/>
                </a:ext>
              </a:extLst>
            </p:cNvPr>
            <p:cNvSpPr/>
            <p:nvPr/>
          </p:nvSpPr>
          <p:spPr>
            <a:xfrm>
              <a:off x="4419599" y="5152103"/>
              <a:ext cx="1602658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Server 1</a:t>
              </a:r>
              <a:endParaRPr lang="en-PK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07DE9FC-645D-7360-44F1-540762ED55D8}"/>
                </a:ext>
              </a:extLst>
            </p:cNvPr>
            <p:cNvCxnSpPr/>
            <p:nvPr/>
          </p:nvCxnSpPr>
          <p:spPr>
            <a:xfrm>
              <a:off x="6558116" y="2372035"/>
              <a:ext cx="412955" cy="9266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8467CE5-4CDA-8EB5-C1F6-225F9FEF37BE}"/>
                </a:ext>
              </a:extLst>
            </p:cNvPr>
            <p:cNvCxnSpPr/>
            <p:nvPr/>
          </p:nvCxnSpPr>
          <p:spPr>
            <a:xfrm flipH="1">
              <a:off x="7325032" y="2372035"/>
              <a:ext cx="580103" cy="9266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4CE8A6D-E9D8-BA05-48C4-8243529194F6}"/>
                </a:ext>
              </a:extLst>
            </p:cNvPr>
            <p:cNvCxnSpPr/>
            <p:nvPr/>
          </p:nvCxnSpPr>
          <p:spPr>
            <a:xfrm flipH="1">
              <a:off x="5614219" y="4213124"/>
              <a:ext cx="943897" cy="9389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C637E70-72C1-78B3-AB05-BC85EFEADF96}"/>
                </a:ext>
              </a:extLst>
            </p:cNvPr>
            <p:cNvCxnSpPr>
              <a:cxnSpLocks/>
            </p:cNvCxnSpPr>
            <p:nvPr/>
          </p:nvCxnSpPr>
          <p:spPr>
            <a:xfrm>
              <a:off x="6971071" y="4213124"/>
              <a:ext cx="0" cy="9389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E26D091-F392-3136-991A-C1D1D6CD4CB0}"/>
                </a:ext>
              </a:extLst>
            </p:cNvPr>
            <p:cNvCxnSpPr>
              <a:cxnSpLocks/>
            </p:cNvCxnSpPr>
            <p:nvPr/>
          </p:nvCxnSpPr>
          <p:spPr>
            <a:xfrm>
              <a:off x="7615083" y="4253121"/>
              <a:ext cx="607143" cy="9112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Repository – Shared data store – </a:t>
            </a:r>
            <a:r>
              <a:rPr dirty="0" err="1"/>
              <a:t>Git</a:t>
            </a:r>
            <a:r>
              <a:rPr dirty="0"/>
              <a:t>, Compiler – Data-centered systems</a:t>
            </a:r>
          </a:p>
          <a:p>
            <a:r>
              <a:rPr dirty="0"/>
              <a:t>Client–Server – Request-response – Web app – Networked apps</a:t>
            </a:r>
          </a:p>
          <a:p>
            <a:r>
              <a:rPr dirty="0"/>
              <a:t>Layered – Hierarchical layers – E-commerce – Enterprise software</a:t>
            </a:r>
          </a:p>
          <a:p>
            <a:r>
              <a:rPr dirty="0"/>
              <a:t>Pipe &amp; Filter – Sequential processing – Unix pipeline – Data processing</a:t>
            </a:r>
          </a:p>
          <a:p>
            <a:r>
              <a:rPr dirty="0" err="1"/>
              <a:t>Microservices</a:t>
            </a:r>
            <a:r>
              <a:rPr dirty="0"/>
              <a:t> – Independent services – Netflix – Scalable systems</a:t>
            </a:r>
          </a:p>
          <a:p>
            <a:r>
              <a:rPr dirty="0"/>
              <a:t>Distributed – Networked components – Google – Large-scale systems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Software Architecture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9496" y="2228461"/>
            <a:ext cx="7704667" cy="3332816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	</a:t>
            </a:r>
            <a:r>
              <a:rPr lang="en-US" sz="3600" dirty="0" smtClean="0"/>
              <a:t>Architecture </a:t>
            </a:r>
            <a:r>
              <a:rPr lang="en-US" sz="3600" dirty="0"/>
              <a:t>focuses on how the </a:t>
            </a:r>
            <a:r>
              <a:rPr lang="en-US" sz="3600" b="1" dirty="0"/>
              <a:t>major </a:t>
            </a:r>
            <a:r>
              <a:rPr lang="en-US" sz="3600" dirty="0"/>
              <a:t>elements and </a:t>
            </a:r>
            <a:r>
              <a:rPr lang="en-US" sz="3600" b="1" dirty="0"/>
              <a:t>components</a:t>
            </a:r>
            <a:r>
              <a:rPr lang="en-US" sz="3600" dirty="0"/>
              <a:t> within an application are used by, or </a:t>
            </a:r>
            <a:r>
              <a:rPr lang="en-US" sz="3600" b="1" dirty="0"/>
              <a:t>interact</a:t>
            </a:r>
            <a:r>
              <a:rPr lang="en-US" sz="3600" dirty="0"/>
              <a:t> with, other major elements and components within the application</a:t>
            </a:r>
            <a:endParaRPr lang="en-US" sz="3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6043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Why is Architecture Important?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305800" cy="150142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Systems should be designed with consideration for the user, the system, and the business goal 	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510702974"/>
              </p:ext>
            </p:extLst>
          </p:nvPr>
        </p:nvGraphicFramePr>
        <p:xfrm>
          <a:off x="304800" y="2286000"/>
          <a:ext cx="8458200" cy="421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6043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Why is Architecture Important?</a:t>
            </a:r>
            <a:r>
              <a:rPr lang="en-US" dirty="0">
                <a:solidFill>
                  <a:srgbClr val="002060"/>
                </a:solidFill>
              </a:rPr>
              <a:t/>
            </a:r>
            <a:br>
              <a:rPr lang="en-US" dirty="0">
                <a:solidFill>
                  <a:srgbClr val="002060"/>
                </a:solidFill>
              </a:rPr>
            </a:b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305800" cy="54864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r>
              <a:rPr lang="en-US" sz="3800" dirty="0"/>
              <a:t> 	</a:t>
            </a:r>
            <a:r>
              <a:rPr lang="en-US" sz="5100" dirty="0"/>
              <a:t>Consider the following high-level concerns when thinking about software architecture:</a:t>
            </a:r>
          </a:p>
          <a:p>
            <a:pPr>
              <a:buNone/>
            </a:pPr>
            <a:r>
              <a:rPr lang="en-US" sz="5100" dirty="0"/>
              <a:t> </a:t>
            </a:r>
          </a:p>
          <a:p>
            <a:r>
              <a:rPr lang="en-US" sz="5100" dirty="0"/>
              <a:t>How will the users be using the application? </a:t>
            </a:r>
          </a:p>
          <a:p>
            <a:endParaRPr lang="en-US" sz="5100" dirty="0"/>
          </a:p>
          <a:p>
            <a:r>
              <a:rPr lang="en-US" sz="5100" dirty="0"/>
              <a:t>What are the quality attribute requirements for the application, such as security, performance, </a:t>
            </a:r>
            <a:r>
              <a:rPr lang="en-US" sz="5100" dirty="0" err="1"/>
              <a:t>etc</a:t>
            </a:r>
            <a:r>
              <a:rPr lang="en-US" sz="5100" dirty="0"/>
              <a:t>?</a:t>
            </a:r>
          </a:p>
          <a:p>
            <a:pPr>
              <a:buNone/>
            </a:pPr>
            <a:endParaRPr lang="en-US" sz="5100" dirty="0"/>
          </a:p>
          <a:p>
            <a:r>
              <a:rPr lang="en-US" sz="5100" dirty="0"/>
              <a:t>How can the application be designed to be flexible and maintainable over time? </a:t>
            </a:r>
          </a:p>
          <a:p>
            <a:pPr>
              <a:buNone/>
            </a:pPr>
            <a:r>
              <a:rPr lang="en-US" sz="5100" dirty="0"/>
              <a:t> 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The Goals of Architecture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>
            <a:noAutofit/>
          </a:bodyPr>
          <a:lstStyle/>
          <a:p>
            <a:r>
              <a:rPr lang="en-US" dirty="0"/>
              <a:t>Application architecture seeks to build a bridge between </a:t>
            </a:r>
            <a:r>
              <a:rPr lang="en-US" b="1" dirty="0"/>
              <a:t>business requirements </a:t>
            </a:r>
            <a:r>
              <a:rPr lang="en-US" dirty="0"/>
              <a:t>and </a:t>
            </a:r>
            <a:r>
              <a:rPr lang="en-US" b="1" dirty="0"/>
              <a:t>technical requirements</a:t>
            </a:r>
          </a:p>
          <a:p>
            <a:r>
              <a:rPr lang="en-US" dirty="0"/>
              <a:t>The goal of architecture is to identify the requirements that </a:t>
            </a:r>
            <a:r>
              <a:rPr lang="en-US" b="1" dirty="0"/>
              <a:t>affec</a:t>
            </a:r>
            <a:r>
              <a:rPr lang="en-US" dirty="0"/>
              <a:t>t the structure of the application</a:t>
            </a:r>
          </a:p>
          <a:p>
            <a:r>
              <a:rPr lang="en-US" dirty="0"/>
              <a:t>A good design is sufficiently flexible to be able to handle the </a:t>
            </a:r>
            <a:r>
              <a:rPr lang="en-US" b="1" dirty="0"/>
              <a:t>natural change </a:t>
            </a:r>
            <a:r>
              <a:rPr lang="en-US" dirty="0"/>
              <a:t>that will occur over time in hardware and software technology, as well as in </a:t>
            </a:r>
            <a:r>
              <a:rPr lang="en-US" b="1" dirty="0"/>
              <a:t>user requirements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The Goals of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dirty="0"/>
              <a:t>	 Keep in mind that the architecture should:</a:t>
            </a:r>
          </a:p>
          <a:p>
            <a:pPr>
              <a:buNone/>
            </a:pPr>
            <a:endParaRPr lang="en-US" dirty="0"/>
          </a:p>
          <a:p>
            <a:pPr lvl="0"/>
            <a:r>
              <a:rPr lang="en-US" dirty="0"/>
              <a:t>Expose the structure of the system but </a:t>
            </a:r>
            <a:r>
              <a:rPr lang="en-US" b="1" dirty="0"/>
              <a:t>hide the implementation</a:t>
            </a:r>
            <a:r>
              <a:rPr lang="en-US" dirty="0"/>
              <a:t> details </a:t>
            </a:r>
          </a:p>
          <a:p>
            <a:pPr lvl="0"/>
            <a:r>
              <a:rPr lang="en-US" dirty="0"/>
              <a:t>Realize all of the use cases and scenarios</a:t>
            </a:r>
          </a:p>
          <a:p>
            <a:pPr lvl="0"/>
            <a:r>
              <a:rPr lang="en-US" dirty="0"/>
              <a:t>Try to address the requirements of various stakeholders </a:t>
            </a:r>
          </a:p>
          <a:p>
            <a:pPr lvl="0"/>
            <a:r>
              <a:rPr lang="en-US" dirty="0"/>
              <a:t>Handle both functional and quality requirements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The Principles of Architecture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/>
              <a:t>Current thinking on architecture assumes that your design will </a:t>
            </a:r>
            <a:r>
              <a:rPr lang="en-US" b="1" dirty="0"/>
              <a:t>evolve over time </a:t>
            </a:r>
            <a:r>
              <a:rPr lang="en-US" dirty="0"/>
              <a:t>and that you cannot know everything you need to know up front in order to fully architect your system</a:t>
            </a:r>
          </a:p>
          <a:p>
            <a:r>
              <a:rPr lang="en-US" dirty="0"/>
              <a:t>Your design will generally need to evolve during the implementation stages of the application</a:t>
            </a:r>
          </a:p>
          <a:p>
            <a:r>
              <a:rPr lang="en-US" dirty="0"/>
              <a:t>Create your architecture with this </a:t>
            </a:r>
            <a:r>
              <a:rPr lang="en-US" b="1" dirty="0"/>
              <a:t>evolution</a:t>
            </a:r>
            <a:r>
              <a:rPr lang="en-US" dirty="0"/>
              <a:t> in mind so that it will be able to adapt to requirements that are not fully known at the start of the design process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The Principles of Architecture Design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816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/>
              <a:t>	</a:t>
            </a:r>
            <a:r>
              <a:rPr lang="en-US" sz="3500" dirty="0"/>
              <a:t>Consider the following questions as you create an architectural design:</a:t>
            </a:r>
          </a:p>
          <a:p>
            <a:pPr>
              <a:buNone/>
            </a:pPr>
            <a:r>
              <a:rPr lang="en-US" sz="3500" dirty="0"/>
              <a:t> </a:t>
            </a:r>
          </a:p>
          <a:p>
            <a:pPr lvl="0"/>
            <a:r>
              <a:rPr lang="en-US" sz="3500" dirty="0"/>
              <a:t>What are the </a:t>
            </a:r>
            <a:r>
              <a:rPr lang="en-US" sz="3500" b="1" dirty="0"/>
              <a:t>foundational parts </a:t>
            </a:r>
            <a:r>
              <a:rPr lang="en-US" sz="3500" dirty="0"/>
              <a:t>of the architecture that represent the </a:t>
            </a:r>
            <a:r>
              <a:rPr lang="en-US" sz="3500" b="1" dirty="0"/>
              <a:t>greatest risk</a:t>
            </a:r>
            <a:r>
              <a:rPr lang="en-US" sz="3500" dirty="0"/>
              <a:t>? </a:t>
            </a:r>
          </a:p>
          <a:p>
            <a:pPr lvl="0"/>
            <a:r>
              <a:rPr lang="en-US" sz="3500" dirty="0"/>
              <a:t>What are the parts of the architecture that are most likely to </a:t>
            </a:r>
            <a:r>
              <a:rPr lang="en-US" sz="3500" b="1" dirty="0"/>
              <a:t>change</a:t>
            </a:r>
            <a:r>
              <a:rPr lang="en-US" sz="3500" dirty="0"/>
              <a:t>? </a:t>
            </a:r>
          </a:p>
          <a:p>
            <a:pPr lvl="0"/>
            <a:r>
              <a:rPr lang="en-US" sz="3500" dirty="0"/>
              <a:t>What are your key assumptions, and how will you </a:t>
            </a:r>
            <a:r>
              <a:rPr lang="en-US" sz="3500" b="1" dirty="0"/>
              <a:t>test</a:t>
            </a:r>
            <a:r>
              <a:rPr lang="en-US" sz="3500" dirty="0"/>
              <a:t> them? </a:t>
            </a:r>
          </a:p>
          <a:p>
            <a:pPr lvl="0"/>
            <a:r>
              <a:rPr lang="en-US" sz="3500" dirty="0"/>
              <a:t>What conditions may require you to </a:t>
            </a:r>
            <a:r>
              <a:rPr lang="en-US" sz="3500" b="1" dirty="0"/>
              <a:t>re-factor</a:t>
            </a:r>
            <a:r>
              <a:rPr lang="en-US" sz="3500" dirty="0"/>
              <a:t> the design? </a:t>
            </a:r>
          </a:p>
          <a:p>
            <a:pPr>
              <a:buNone/>
            </a:pPr>
            <a:endParaRPr lang="en-US" sz="3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The Principles of Architecture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816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Key Architecture Principles:</a:t>
            </a:r>
            <a:r>
              <a:rPr lang="en-US" sz="3600" dirty="0"/>
              <a:t> </a:t>
            </a:r>
          </a:p>
          <a:p>
            <a:pPr lvl="0"/>
            <a:r>
              <a:rPr lang="en-US" sz="3600" dirty="0"/>
              <a:t>Build to change</a:t>
            </a:r>
          </a:p>
          <a:p>
            <a:pPr lvl="0"/>
            <a:r>
              <a:rPr lang="en-US" sz="3600" dirty="0"/>
              <a:t>Reduce risk</a:t>
            </a:r>
          </a:p>
          <a:p>
            <a:pPr lvl="0"/>
            <a:r>
              <a:rPr lang="en-US" sz="3600" dirty="0"/>
              <a:t>Use models and visualizations as a </a:t>
            </a:r>
            <a:r>
              <a:rPr lang="en-US" sz="3600" b="1" dirty="0"/>
              <a:t>communication</a:t>
            </a:r>
            <a:r>
              <a:rPr lang="en-US" sz="3600" dirty="0"/>
              <a:t> and collaboration tool</a:t>
            </a:r>
          </a:p>
          <a:p>
            <a:pPr lvl="0"/>
            <a:r>
              <a:rPr lang="en-US" sz="3600" dirty="0"/>
              <a:t>Identify key </a:t>
            </a:r>
            <a:r>
              <a:rPr lang="en-US" sz="3600" b="1" dirty="0"/>
              <a:t>engineering</a:t>
            </a:r>
            <a:r>
              <a:rPr lang="en-US" sz="3600" dirty="0"/>
              <a:t> decisions</a:t>
            </a:r>
          </a:p>
          <a:p>
            <a:pPr>
              <a:buNone/>
            </a:pPr>
            <a:endParaRPr lang="en-US" sz="3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- Architecture choice depends on project needs.</a:t>
            </a:r>
          </a:p>
          <a:p>
            <a:r>
              <a:t>- Repository: centralized data.</a:t>
            </a:r>
          </a:p>
          <a:p>
            <a:r>
              <a:t>- Client–Server: request/response model.</a:t>
            </a:r>
          </a:p>
          <a:p>
            <a:r>
              <a:t>- Layered: structured organization.</a:t>
            </a:r>
          </a:p>
          <a:p>
            <a:r>
              <a:t>- Pipe &amp; Filter: data transformation.</a:t>
            </a:r>
          </a:p>
          <a:p>
            <a:r>
              <a:t>- Microservices: scalability.</a:t>
            </a:r>
          </a:p>
          <a:p>
            <a:r>
              <a:t>- Distributed: reliability and performance.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715</TotalTime>
  <Words>2579</Words>
  <Application>Microsoft Office PowerPoint</Application>
  <PresentationFormat>On-screen Show (4:3)</PresentationFormat>
  <Paragraphs>491</Paragraphs>
  <Slides>55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Arial</vt:lpstr>
      <vt:lpstr>Calibri</vt:lpstr>
      <vt:lpstr>Corbel</vt:lpstr>
      <vt:lpstr>Wingdings</vt:lpstr>
      <vt:lpstr>Parallax</vt:lpstr>
      <vt:lpstr>Advance Software Engineering</vt:lpstr>
      <vt:lpstr>What is Design?</vt:lpstr>
      <vt:lpstr>What is Design?</vt:lpstr>
      <vt:lpstr>What is Design?</vt:lpstr>
      <vt:lpstr>System</vt:lpstr>
      <vt:lpstr>Software Architecture</vt:lpstr>
      <vt:lpstr>Software Architecture</vt:lpstr>
      <vt:lpstr>Why is it important?</vt:lpstr>
      <vt:lpstr>Why is it important?</vt:lpstr>
      <vt:lpstr>Software Architecture</vt:lpstr>
      <vt:lpstr>Software Architecture Styles</vt:lpstr>
      <vt:lpstr>Repository Architecture</vt:lpstr>
      <vt:lpstr>Repository Architecture</vt:lpstr>
      <vt:lpstr>How It Works</vt:lpstr>
      <vt:lpstr>Example:</vt:lpstr>
      <vt:lpstr>A Brief Taxonomy of Architectural Styles</vt:lpstr>
      <vt:lpstr>Client–Server Architecture</vt:lpstr>
      <vt:lpstr>A client–server architecture for a film library </vt:lpstr>
      <vt:lpstr>How It Works</vt:lpstr>
      <vt:lpstr>Example : Email System </vt:lpstr>
      <vt:lpstr>Layered Architecture (N-tier)</vt:lpstr>
      <vt:lpstr>Layered Architecture (N-tier)</vt:lpstr>
      <vt:lpstr>A generic layered architecture </vt:lpstr>
      <vt:lpstr>PowerPoint Presentation</vt:lpstr>
      <vt:lpstr> How It Works</vt:lpstr>
      <vt:lpstr>🛒 Example : E-Commerce Website</vt:lpstr>
      <vt:lpstr>Pipe and Filter Architecture</vt:lpstr>
      <vt:lpstr>A Brief Taxonomy of Architectural Styles</vt:lpstr>
      <vt:lpstr>An example of the pipe and filter architecture </vt:lpstr>
      <vt:lpstr>Pipe and Filter Architecture</vt:lpstr>
      <vt:lpstr> Compiler System</vt:lpstr>
      <vt:lpstr>Microservices Architecture</vt:lpstr>
      <vt:lpstr>Micro-services Architecture</vt:lpstr>
      <vt:lpstr>PowerPoint Presentation</vt:lpstr>
      <vt:lpstr>Monolithic Architecture</vt:lpstr>
      <vt:lpstr>Structure of Monolithic System</vt:lpstr>
      <vt:lpstr>How It Works</vt:lpstr>
      <vt:lpstr>Event-Driven Architecture</vt:lpstr>
      <vt:lpstr>How It Works </vt:lpstr>
      <vt:lpstr>Real World Examples</vt:lpstr>
      <vt:lpstr>Distributed Architecture</vt:lpstr>
      <vt:lpstr>Advantages and Disadvantages</vt:lpstr>
      <vt:lpstr>Types of Distributed Systems</vt:lpstr>
      <vt:lpstr>Examples</vt:lpstr>
      <vt:lpstr>Distributed System Diagram</vt:lpstr>
      <vt:lpstr>Comparison Table</vt:lpstr>
      <vt:lpstr>Software Architecture</vt:lpstr>
      <vt:lpstr>Why is Architecture Important? </vt:lpstr>
      <vt:lpstr>Why is Architecture Important? </vt:lpstr>
      <vt:lpstr>The Goals of Architecture</vt:lpstr>
      <vt:lpstr>The Goals of Architecture</vt:lpstr>
      <vt:lpstr>The Principles of Architecture Design</vt:lpstr>
      <vt:lpstr>The Principles of Architecture Design</vt:lpstr>
      <vt:lpstr>The Principles of Architecture Design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 Software Engineering</dc:title>
  <dc:subject/>
  <dc:creator>shehla saeed</dc:creator>
  <cp:keywords/>
  <dc:description>generated using python-pptx</dc:description>
  <cp:lastModifiedBy>shehla saeed</cp:lastModifiedBy>
  <cp:revision>24</cp:revision>
  <dcterms:created xsi:type="dcterms:W3CDTF">2013-01-27T09:14:16Z</dcterms:created>
  <dcterms:modified xsi:type="dcterms:W3CDTF">2026-03-24T10:15:11Z</dcterms:modified>
  <cp:category/>
</cp:coreProperties>
</file>
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3"/>
  </p:notesMasterIdLst>
  <p:sldIdLst>
    <p:sldId id="256" r:id="rId2"/>
    <p:sldId id="269" r:id="rId3"/>
    <p:sldId id="257" r:id="rId4"/>
    <p:sldId id="270" r:id="rId5"/>
    <p:sldId id="272" r:id="rId6"/>
    <p:sldId id="273" r:id="rId7"/>
    <p:sldId id="271" r:id="rId8"/>
    <p:sldId id="258" r:id="rId9"/>
    <p:sldId id="259" r:id="rId10"/>
    <p:sldId id="276" r:id="rId11"/>
    <p:sldId id="274" r:id="rId12"/>
    <p:sldId id="277" r:id="rId13"/>
    <p:sldId id="288" r:id="rId14"/>
    <p:sldId id="275" r:id="rId15"/>
    <p:sldId id="261" r:id="rId16"/>
    <p:sldId id="262" r:id="rId17"/>
    <p:sldId id="263" r:id="rId18"/>
    <p:sldId id="278" r:id="rId19"/>
    <p:sldId id="289" r:id="rId20"/>
    <p:sldId id="279" r:id="rId21"/>
    <p:sldId id="280" r:id="rId22"/>
    <p:sldId id="290" r:id="rId23"/>
    <p:sldId id="281" r:id="rId24"/>
    <p:sldId id="282" r:id="rId25"/>
    <p:sldId id="287" r:id="rId26"/>
    <p:sldId id="283" r:id="rId27"/>
    <p:sldId id="284" r:id="rId28"/>
    <p:sldId id="285" r:id="rId29"/>
    <p:sldId id="286" r:id="rId30"/>
    <p:sldId id="266" r:id="rId31"/>
    <p:sldId id="268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647" autoAdjust="0"/>
  </p:normalViewPr>
  <p:slideViewPr>
    <p:cSldViewPr snapToGrid="0" snapToObjects="1">
      <p:cViewPr varScale="1">
        <p:scale>
          <a:sx n="73" d="100"/>
          <a:sy n="73" d="100"/>
        </p:scale>
        <p:origin x="1493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3823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Introduction to the early phases of RE where analysts work to identify stakeholders and collect the right requirements for system success.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Requirement Engineering (RE) forms the foundation of all software projects. Each phase builds upon the previous one to ensure system correctness.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Inception is the 'getting started' phase. The main purpose is to define what problem we are solving, who is involved, and whether it’s feasible to proceed.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This example illustrates how inception helps define the vision and boundaries before development starts</a:t>
            </a:r>
            <a:r>
              <a:rPr dirty="0" smtClean="0"/>
              <a:t>.</a:t>
            </a:r>
            <a:endParaRPr lang="en-US" dirty="0" smtClean="0"/>
          </a:p>
          <a:p>
            <a:r>
              <a:rPr lang="en-US" dirty="0" smtClean="0"/>
              <a:t>Scope defines </a:t>
            </a:r>
            <a:r>
              <a:rPr lang="en-US" b="1" dirty="0" smtClean="0"/>
              <a:t>what the system will do and what it will NOT do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Budget feasibility determines whether the </a:t>
            </a:r>
            <a:r>
              <a:rPr lang="en-US" b="1" dirty="0" smtClean="0"/>
              <a:t>organization can afford to develop and maintain the system</a:t>
            </a:r>
            <a:r>
              <a:rPr lang="en-US" dirty="0" smtClean="0"/>
              <a:t>. It compares </a:t>
            </a:r>
            <a:r>
              <a:rPr lang="en-US" b="1" dirty="0" smtClean="0"/>
              <a:t>estimated project cost with available budget</a:t>
            </a:r>
            <a:r>
              <a:rPr lang="en-US" dirty="0" smtClean="0"/>
              <a:t>.</a:t>
            </a:r>
          </a:p>
          <a:p>
            <a:r>
              <a:rPr lang="en-US" dirty="0" smtClean="0"/>
              <a:t>Time feasibility evaluates whether the system can be </a:t>
            </a:r>
            <a:r>
              <a:rPr lang="en-US" b="1" dirty="0" smtClean="0"/>
              <a:t>developed and implemented within the required time frame</a:t>
            </a:r>
            <a:r>
              <a:rPr lang="en-US" dirty="0" smtClean="0"/>
              <a:t>.</a:t>
            </a:r>
            <a:endParaRPr lang="en-US" b="1" dirty="0" smtClean="0"/>
          </a:p>
          <a:p>
            <a:r>
              <a:rPr lang="en-US" b="1" dirty="0" smtClean="0"/>
              <a:t>Potential Benefits</a:t>
            </a:r>
          </a:p>
          <a:p>
            <a:r>
              <a:rPr lang="en-US" dirty="0" smtClean="0"/>
              <a:t>Reduced traffic congestion</a:t>
            </a:r>
          </a:p>
          <a:p>
            <a:r>
              <a:rPr lang="en-US" dirty="0" smtClean="0"/>
              <a:t>Improved parking revenue</a:t>
            </a:r>
          </a:p>
          <a:p>
            <a:r>
              <a:rPr lang="en-US" dirty="0" smtClean="0"/>
              <a:t>Efficient parking management</a:t>
            </a:r>
          </a:p>
          <a:p>
            <a:r>
              <a:rPr lang="en-US" dirty="0" smtClean="0"/>
              <a:t>Better driver experience</a:t>
            </a:r>
          </a:p>
          <a:p>
            <a:r>
              <a:rPr lang="en-US" b="1" dirty="0" smtClean="0"/>
              <a:t>Possible Revenue Sources</a:t>
            </a:r>
          </a:p>
          <a:p>
            <a:r>
              <a:rPr lang="en-US" dirty="0" smtClean="0"/>
              <a:t>Parking fees</a:t>
            </a:r>
          </a:p>
          <a:p>
            <a:r>
              <a:rPr lang="en-US" dirty="0" smtClean="0"/>
              <a:t>Reservation charges</a:t>
            </a:r>
          </a:p>
          <a:p>
            <a:r>
              <a:rPr lang="en-US" dirty="0" smtClean="0"/>
              <a:t>Premium parking services</a:t>
            </a:r>
          </a:p>
          <a:p>
            <a:r>
              <a:rPr lang="en-US" dirty="0" smtClean="0"/>
              <a:t>Advertising in mobile app</a:t>
            </a:r>
          </a:p>
          <a:p>
            <a:endParaRPr lang="en-US" b="1" dirty="0" smtClean="0"/>
          </a:p>
          <a:p>
            <a:r>
              <a:rPr lang="en-US" b="1" dirty="0" smtClean="0"/>
              <a:t>Required Technologies</a:t>
            </a:r>
          </a:p>
          <a:p>
            <a:r>
              <a:rPr lang="en-US" dirty="0" smtClean="0"/>
              <a:t>Parking Sensors</a:t>
            </a:r>
            <a:br>
              <a:rPr lang="en-US" dirty="0" smtClean="0"/>
            </a:br>
            <a:r>
              <a:rPr lang="en-US" dirty="0" smtClean="0"/>
              <a:t>Detect vehicle presence.</a:t>
            </a:r>
          </a:p>
          <a:p>
            <a:r>
              <a:rPr lang="en-US" dirty="0" smtClean="0"/>
              <a:t>Mobile Application</a:t>
            </a:r>
            <a:br>
              <a:rPr lang="en-US" dirty="0" smtClean="0"/>
            </a:br>
            <a:r>
              <a:rPr lang="en-US" dirty="0" smtClean="0"/>
              <a:t>Android / iOS interface for drivers.</a:t>
            </a:r>
          </a:p>
          <a:p>
            <a:r>
              <a:rPr lang="en-US" dirty="0" smtClean="0"/>
              <a:t>Cloud Server</a:t>
            </a:r>
            <a:br>
              <a:rPr lang="en-US" dirty="0" smtClean="0"/>
            </a:br>
            <a:r>
              <a:rPr lang="en-US" dirty="0" smtClean="0"/>
              <a:t>Stores parking data.</a:t>
            </a:r>
          </a:p>
          <a:p>
            <a:r>
              <a:rPr lang="en-US" dirty="0" smtClean="0"/>
              <a:t>GPS Integration</a:t>
            </a:r>
            <a:br>
              <a:rPr lang="en-US" dirty="0" smtClean="0"/>
            </a:br>
            <a:r>
              <a:rPr lang="en-US" dirty="0" smtClean="0"/>
              <a:t>Provides navigation.</a:t>
            </a:r>
          </a:p>
          <a:p>
            <a:r>
              <a:rPr lang="en-US" dirty="0" smtClean="0"/>
              <a:t>Payment Gateway</a:t>
            </a:r>
            <a:br>
              <a:rPr lang="en-US" dirty="0" smtClean="0"/>
            </a:br>
            <a:r>
              <a:rPr lang="en-US" dirty="0" smtClean="0"/>
              <a:t>Supports digital transactions.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3351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High</a:t>
            </a:r>
            <a:r>
              <a:rPr lang="en-US" baseline="0" dirty="0" smtClean="0"/>
              <a:t> level Use case diagrams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0951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Elicitation focuses on communication. Analysts use multiple methods to ensure that real user needs are captured and understood.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how analysts overcome these issues using iterative meetings, prototypes, and good documentation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Detailed Use case diagrams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b="1" dirty="0" smtClean="0"/>
              <a:t>Activity Diagrams:</a:t>
            </a:r>
            <a:r>
              <a:rPr lang="en-US" dirty="0" smtClean="0"/>
              <a:t> map the step-by-step workflow of a driver booking a spot and navigating to it.</a:t>
            </a:r>
          </a:p>
          <a:p>
            <a:r>
              <a:rPr lang="en-US" b="1" dirty="0" smtClean="0"/>
              <a:t>Conceptual Class Diagrams:</a:t>
            </a:r>
            <a:r>
              <a:rPr lang="en-US" dirty="0" smtClean="0"/>
              <a:t>  build a domain dictionary. define that a Reservation class must be linked to a User class and a </a:t>
            </a:r>
            <a:r>
              <a:rPr lang="en-US" dirty="0" err="1" smtClean="0"/>
              <a:t>ParkingSpot</a:t>
            </a:r>
            <a:r>
              <a:rPr lang="en-US" dirty="0" smtClean="0"/>
              <a:t> </a:t>
            </a:r>
            <a:r>
              <a:rPr lang="en-US" dirty="0" err="1" smtClean="0"/>
              <a:t>clas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1538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Use case diagrams help visualize </a:t>
            </a:r>
            <a:r>
              <a:rPr lang="en-US" b="1" dirty="0" smtClean="0"/>
              <a:t>how users interact with the system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5192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 Machine Diagrams.</a:t>
            </a:r>
            <a:r>
              <a:rPr lang="en-US" dirty="0" smtClean="0"/>
              <a:t> model the lifecycle of a parking spot to explicitly agree on the rules. </a:t>
            </a:r>
          </a:p>
          <a:p>
            <a:r>
              <a:rPr lang="en-US" dirty="0" smtClean="0"/>
              <a:t>define states: Available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en-US" dirty="0" smtClean="0"/>
              <a:t>Reserved.</a:t>
            </a:r>
          </a:p>
          <a:p>
            <a:r>
              <a:rPr lang="en-US" dirty="0" smtClean="0"/>
              <a:t> If the sensor doesn't detect a car in 15 minutes, it transitions back to Available (the negotiated rule).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9415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Sequence Diagrams.</a:t>
            </a:r>
            <a:r>
              <a:rPr lang="en-US" dirty="0" smtClean="0"/>
              <a:t> </a:t>
            </a:r>
          </a:p>
          <a:p>
            <a:r>
              <a:rPr lang="en-US" dirty="0" smtClean="0"/>
              <a:t> map out the exact message passing over time.</a:t>
            </a:r>
          </a:p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0141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For example: </a:t>
            </a:r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Mobile App</a:t>
            </a:r>
            <a:r>
              <a:rPr lang="en-US" dirty="0" smtClean="0"/>
              <a:t> requests reservation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en-US" dirty="0" smtClean="0"/>
              <a:t> </a:t>
            </a:r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Parking Server</a:t>
            </a:r>
            <a:r>
              <a:rPr lang="en-US" dirty="0" smtClean="0"/>
              <a:t> locks the spot in the database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</a:t>
            </a:r>
            <a:r>
              <a:rPr lang="en-US" dirty="0" smtClean="0"/>
              <a:t> sends a success payload back to the </a:t>
            </a:r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5737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EV chargers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5932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b="1" dirty="0" err="1" smtClean="0"/>
              <a:t>Req</a:t>
            </a:r>
            <a:r>
              <a:rPr lang="en-US" b="1" dirty="0" smtClean="0"/>
              <a:t> ID:</a:t>
            </a:r>
            <a:r>
              <a:rPr lang="en-US" dirty="0" smtClean="0"/>
              <a:t> Unique identifier for each requirement.</a:t>
            </a:r>
          </a:p>
          <a:p>
            <a:r>
              <a:rPr lang="en-US" b="1" dirty="0" smtClean="0"/>
              <a:t>Requirement Description:</a:t>
            </a:r>
            <a:r>
              <a:rPr lang="en-US" dirty="0" smtClean="0"/>
              <a:t> Clearly describes what the system must do.</a:t>
            </a:r>
          </a:p>
          <a:p>
            <a:r>
              <a:rPr lang="en-US" b="1" dirty="0" smtClean="0"/>
              <a:t>Type:</a:t>
            </a:r>
            <a:r>
              <a:rPr lang="en-US" dirty="0" smtClean="0"/>
              <a:t> Functional or Non-Functional requirement.</a:t>
            </a:r>
          </a:p>
          <a:p>
            <a:r>
              <a:rPr lang="en-US" b="1" dirty="0" smtClean="0"/>
              <a:t>Use Case:</a:t>
            </a:r>
            <a:r>
              <a:rPr lang="en-US" dirty="0" smtClean="0"/>
              <a:t> Links requirement to one or more </a:t>
            </a:r>
            <a:r>
              <a:rPr lang="en-US" b="1" dirty="0" smtClean="0"/>
              <a:t>UML use cases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Design Module:</a:t>
            </a:r>
            <a:r>
              <a:rPr lang="en-US" dirty="0" smtClean="0"/>
              <a:t> The system component or module implementing this requirement.</a:t>
            </a:r>
          </a:p>
          <a:p>
            <a:r>
              <a:rPr lang="en-US" b="1" dirty="0" smtClean="0"/>
              <a:t>Test Case ID:</a:t>
            </a:r>
            <a:r>
              <a:rPr lang="en-US" dirty="0" smtClean="0"/>
              <a:t> Corresponding </a:t>
            </a:r>
            <a:r>
              <a:rPr lang="en-US" b="1" dirty="0" smtClean="0"/>
              <a:t>test case</a:t>
            </a:r>
            <a:r>
              <a:rPr lang="en-US" dirty="0" smtClean="0"/>
              <a:t> to verify the requirement.</a:t>
            </a:r>
          </a:p>
          <a:p>
            <a:r>
              <a:rPr lang="en-US" b="1" dirty="0" smtClean="0"/>
              <a:t>Status:</a:t>
            </a:r>
            <a:r>
              <a:rPr lang="en-US" dirty="0" smtClean="0"/>
              <a:t> Can be Pending, Implemented, Verified, or Updated.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91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Summarize key insights: these phases determine project success or failure. Emphasize the importance of teamwork and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assignment reinforces lecture learning with hands-on practice. Encourage creativity and practical stakeholder engagement.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2290566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535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119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285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57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236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653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357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51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296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693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9700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3556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5725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6609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2310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195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0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1" y="914401"/>
            <a:ext cx="8595360" cy="3488266"/>
          </a:xfrm>
        </p:spPr>
        <p:txBody>
          <a:bodyPr>
            <a:normAutofit/>
          </a:bodyPr>
          <a:lstStyle/>
          <a:p>
            <a:r>
              <a:rPr sz="4400" b="1" dirty="0" smtClean="0"/>
              <a:t>Requirement</a:t>
            </a:r>
            <a:r>
              <a:rPr lang="en-US" sz="4400" b="1" dirty="0" smtClean="0"/>
              <a:t> </a:t>
            </a:r>
            <a:r>
              <a:rPr sz="4400" b="1" dirty="0" smtClean="0"/>
              <a:t>Engineering</a:t>
            </a:r>
            <a:r>
              <a:rPr lang="en-US" sz="4400" b="1" dirty="0" smtClean="0"/>
              <a:t> </a:t>
            </a:r>
            <a:r>
              <a:rPr lang="en-US" sz="4400" b="1" dirty="0"/>
              <a:t>Phases </a:t>
            </a:r>
            <a:r>
              <a:rPr dirty="0" smtClean="0"/>
              <a:t>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4000" dirty="0" smtClean="0"/>
              <a:t>(</a:t>
            </a:r>
            <a:r>
              <a:rPr lang="en-US" sz="4000" b="1" dirty="0"/>
              <a:t>Case Study : Smart Parking </a:t>
            </a:r>
            <a:r>
              <a:rPr lang="en-US" sz="4000" b="1" dirty="0" smtClean="0"/>
              <a:t>System)</a:t>
            </a:r>
            <a:r>
              <a:rPr lang="en-US" sz="4000" b="1" dirty="0"/>
              <a:t/>
            </a:r>
            <a:br>
              <a:rPr lang="en-US" sz="4000" b="1" dirty="0"/>
            </a:br>
            <a:endParaRPr sz="4000" dirty="0"/>
          </a:p>
        </p:txBody>
      </p:sp>
      <p:sp>
        <p:nvSpPr>
          <p:cNvPr id="4" name="Content Placeholder 3"/>
          <p:cNvSpPr>
            <a:spLocks noGrp="1"/>
          </p:cNvSpPr>
          <p:nvPr>
            <p:ph type="subTitle" idx="1"/>
          </p:nvPr>
        </p:nvSpPr>
        <p:spPr>
          <a:xfrm>
            <a:off x="2924238" y="4402667"/>
            <a:ext cx="5762563" cy="626534"/>
          </a:xfrm>
        </p:spPr>
        <p:txBody>
          <a:bodyPr>
            <a:normAutofit/>
          </a:bodyPr>
          <a:lstStyle/>
          <a:p>
            <a:r>
              <a:rPr lang="en-US" sz="2800" dirty="0" smtClean="0"/>
              <a:t>Ms. Shehla Saeed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Lecture Overview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82133" y="3594744"/>
            <a:ext cx="770466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Requirements Engineering (RE)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Traditional RE phases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UML-based RE phases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b="1" dirty="0">
                <a:latin typeface="Arial" panose="020B0604020202020204" pitchFamily="34" charset="0"/>
              </a:rPr>
              <a:t> </a:t>
            </a:r>
            <a:r>
              <a:rPr lang="en-US" altLang="en-US" sz="1800" b="1" dirty="0" smtClean="0">
                <a:latin typeface="Arial" panose="020B0604020202020204" pitchFamily="34" charset="0"/>
              </a:rPr>
              <a:t>Difference b/w the two approaches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RE phases to a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Parking System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233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Requirement Engineering?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Requirements Engineering is the </a:t>
            </a:r>
            <a:r>
              <a:rPr lang="en-US" b="1" dirty="0"/>
              <a:t>process of discovering, analyzing, documenting, validating, and managing system requirements.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Goal:</a:t>
            </a:r>
          </a:p>
          <a:p>
            <a:r>
              <a:rPr lang="en-US" dirty="0"/>
              <a:t>Ensure the software system </a:t>
            </a:r>
            <a:r>
              <a:rPr lang="en-US" b="1" dirty="0"/>
              <a:t>meets stakeholder needs and solves the real problem.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Traditional Requirements Engineering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3008711"/>
            <a:ext cx="7704667" cy="3332816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Requirements Elicitation</a:t>
            </a:r>
          </a:p>
          <a:p>
            <a:pPr>
              <a:buFont typeface="+mj-lt"/>
              <a:buAutoNum type="arabicPeriod"/>
            </a:pPr>
            <a:r>
              <a:rPr lang="en-US" dirty="0"/>
              <a:t>Requirements Analysis</a:t>
            </a:r>
          </a:p>
          <a:p>
            <a:pPr>
              <a:buFont typeface="+mj-lt"/>
              <a:buAutoNum type="arabicPeriod"/>
            </a:pPr>
            <a:r>
              <a:rPr lang="en-US" dirty="0"/>
              <a:t>Requirements Specification</a:t>
            </a:r>
          </a:p>
          <a:p>
            <a:pPr>
              <a:buFont typeface="+mj-lt"/>
              <a:buAutoNum type="arabicPeriod"/>
            </a:pPr>
            <a:r>
              <a:rPr lang="en-US" dirty="0"/>
              <a:t>Requirements Validation</a:t>
            </a:r>
          </a:p>
          <a:p>
            <a:pPr>
              <a:buFont typeface="+mj-lt"/>
              <a:buAutoNum type="arabicPeriod"/>
            </a:pPr>
            <a:r>
              <a:rPr lang="en-US" dirty="0"/>
              <a:t>Requirements Management</a:t>
            </a:r>
          </a:p>
          <a:p>
            <a:r>
              <a:rPr lang="en-US" dirty="0"/>
              <a:t>Mostly </a:t>
            </a:r>
            <a:r>
              <a:rPr lang="en-US" b="1" dirty="0"/>
              <a:t>document-driven approach</a:t>
            </a:r>
            <a:r>
              <a:rPr lang="en-US"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862148" y="2538890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Traditional </a:t>
            </a:r>
            <a:r>
              <a:rPr lang="en-US" dirty="0"/>
              <a:t>RE generally includes</a:t>
            </a:r>
            <a:r>
              <a:rPr lang="en-US" dirty="0" smtClean="0"/>
              <a:t>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191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</a:t>
            </a:r>
            <a:r>
              <a:rPr lang="en-US" dirty="0" smtClean="0"/>
              <a:t>approach </a:t>
            </a:r>
            <a:r>
              <a:rPr lang="en-US" dirty="0"/>
              <a:t>problems: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Heavy documentation(textual SRS)</a:t>
            </a:r>
            <a:endParaRPr lang="en-US" dirty="0"/>
          </a:p>
          <a:p>
            <a:r>
              <a:rPr lang="en-US" dirty="0"/>
              <a:t>Difficult stakeholder understanding</a:t>
            </a:r>
          </a:p>
          <a:p>
            <a:r>
              <a:rPr lang="en-US" dirty="0"/>
              <a:t>Limited visualization of system behavior</a:t>
            </a:r>
          </a:p>
          <a:p>
            <a:r>
              <a:rPr lang="en-US" dirty="0"/>
              <a:t>This led to the rise of </a:t>
            </a:r>
            <a:r>
              <a:rPr lang="en-US" b="1" dirty="0"/>
              <a:t>model-based approaches using UML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4937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Difference b/w the 2 approaches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Traditional </a:t>
            </a:r>
            <a:r>
              <a:rPr lang="en-US" dirty="0"/>
              <a:t>RE is like </a:t>
            </a:r>
            <a:r>
              <a:rPr lang="en-US" b="1" dirty="0"/>
              <a:t>writing a detailed description of a city</a:t>
            </a:r>
            <a:r>
              <a:rPr lang="en-US" dirty="0"/>
              <a:t>.</a:t>
            </a:r>
          </a:p>
          <a:p>
            <a:r>
              <a:rPr lang="en-US" dirty="0"/>
              <a:t>UML-based RE is like </a:t>
            </a:r>
            <a:r>
              <a:rPr lang="en-US" b="1" dirty="0"/>
              <a:t>drawing the city map showing roads, buildings, and how people move between them</a:t>
            </a:r>
            <a:r>
              <a:rPr lang="en-US" dirty="0"/>
              <a:t>.</a:t>
            </a:r>
          </a:p>
          <a:p>
            <a:r>
              <a:rPr lang="en-US" dirty="0"/>
              <a:t>Both describe the same city, but the second one lets people </a:t>
            </a:r>
            <a:r>
              <a:rPr lang="en-US" b="1" dirty="0"/>
              <a:t>see the structure instantly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68300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UML-Based RE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170610"/>
            <a:ext cx="7704667" cy="3812177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UML-based </a:t>
            </a:r>
            <a:r>
              <a:rPr lang="en-US" dirty="0"/>
              <a:t>RE includes</a:t>
            </a:r>
            <a:r>
              <a:rPr lang="en-US" dirty="0" smtClean="0"/>
              <a:t>: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Inception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Elicitation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Elaboration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Negotiation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Specification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Validation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Requirements </a:t>
            </a:r>
            <a:r>
              <a:rPr lang="en-US" dirty="0" smtClean="0"/>
              <a:t>Management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205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8" cy="640079"/>
          </a:xfrm>
        </p:spPr>
        <p:txBody>
          <a:bodyPr>
            <a:normAutofit fontScale="90000"/>
          </a:bodyPr>
          <a:lstStyle/>
          <a:p>
            <a:r>
              <a:rPr dirty="0" smtClean="0"/>
              <a:t>Phase </a:t>
            </a:r>
            <a:r>
              <a:rPr dirty="0"/>
              <a:t>1: Inception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8275" y="1711234"/>
            <a:ext cx="7798526" cy="428858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Objectives:</a:t>
            </a:r>
          </a:p>
          <a:p>
            <a:r>
              <a:rPr dirty="0" smtClean="0"/>
              <a:t>Understand </a:t>
            </a:r>
            <a:r>
              <a:rPr dirty="0"/>
              <a:t>problem domain</a:t>
            </a:r>
          </a:p>
          <a:p>
            <a:r>
              <a:rPr dirty="0" smtClean="0"/>
              <a:t> </a:t>
            </a:r>
            <a:r>
              <a:rPr dirty="0"/>
              <a:t>Identify key stakeholders</a:t>
            </a:r>
          </a:p>
          <a:p>
            <a:r>
              <a:rPr dirty="0" smtClean="0"/>
              <a:t> </a:t>
            </a:r>
            <a:r>
              <a:rPr dirty="0"/>
              <a:t>Define project scope and goals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Activities: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Identify stakeholders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Define the system purpose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Understand the problem environment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Establish project </a:t>
            </a:r>
            <a:r>
              <a:rPr lang="en-US" dirty="0" smtClean="0"/>
              <a:t>feasibility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378824"/>
            <a:ext cx="7704667" cy="1981200"/>
          </a:xfrm>
        </p:spPr>
        <p:txBody>
          <a:bodyPr/>
          <a:lstStyle/>
          <a:p>
            <a:r>
              <a:t>Example: Smart Parking System (Inception)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3406" y="2704011"/>
            <a:ext cx="7563394" cy="3896695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Problem:</a:t>
            </a:r>
            <a:r>
              <a:rPr lang="en-US" dirty="0"/>
              <a:t> Drivers cannot easily locate available parking </a:t>
            </a:r>
            <a:r>
              <a:rPr lang="en-US" dirty="0" smtClean="0"/>
              <a:t>spaces, </a:t>
            </a:r>
            <a:r>
              <a:rPr lang="en-US" dirty="0"/>
              <a:t>traffic </a:t>
            </a:r>
            <a:r>
              <a:rPr lang="en-US" dirty="0" smtClean="0"/>
              <a:t>congestion.</a:t>
            </a:r>
            <a:endParaRPr lang="en-US" dirty="0"/>
          </a:p>
          <a:p>
            <a:r>
              <a:rPr lang="en-US" b="1" dirty="0"/>
              <a:t>Goal:</a:t>
            </a:r>
            <a:r>
              <a:rPr lang="en-US" dirty="0"/>
              <a:t> Develop a system that provides </a:t>
            </a:r>
            <a:r>
              <a:rPr lang="en-US" b="1" dirty="0"/>
              <a:t>real-time parking information through a mobile application</a:t>
            </a:r>
            <a:r>
              <a:rPr lang="en-US" dirty="0" smtClean="0"/>
              <a:t>.</a:t>
            </a:r>
          </a:p>
          <a:p>
            <a:r>
              <a:rPr b="1" dirty="0" smtClean="0"/>
              <a:t>Scope:</a:t>
            </a:r>
            <a:r>
              <a:rPr lang="en-US" dirty="0"/>
              <a:t> The Smart Parking System will include:</a:t>
            </a:r>
          </a:p>
          <a:p>
            <a:pPr lvl="1"/>
            <a:r>
              <a:rPr lang="en-US" dirty="0"/>
              <a:t>Real-time parking space </a:t>
            </a:r>
            <a:r>
              <a:rPr lang="en-US" dirty="0" smtClean="0"/>
              <a:t>detection, Mobile </a:t>
            </a:r>
            <a:r>
              <a:rPr lang="en-US" dirty="0"/>
              <a:t>application for </a:t>
            </a:r>
            <a:r>
              <a:rPr lang="en-US" dirty="0" smtClean="0"/>
              <a:t>drivers, Parking </a:t>
            </a:r>
            <a:r>
              <a:rPr lang="en-US" dirty="0"/>
              <a:t>reservation </a:t>
            </a:r>
            <a:r>
              <a:rPr lang="en-US" dirty="0" smtClean="0"/>
              <a:t>system, Online </a:t>
            </a:r>
            <a:r>
              <a:rPr lang="en-US" dirty="0"/>
              <a:t>payment </a:t>
            </a:r>
            <a:r>
              <a:rPr lang="en-US" dirty="0" smtClean="0"/>
              <a:t>system, Notifications </a:t>
            </a:r>
            <a:r>
              <a:rPr lang="en-US" dirty="0"/>
              <a:t>and </a:t>
            </a:r>
            <a:r>
              <a:rPr lang="en-US" dirty="0" smtClean="0"/>
              <a:t>alerts, Parking </a:t>
            </a:r>
            <a:r>
              <a:rPr lang="en-US" dirty="0"/>
              <a:t>management dashboard</a:t>
            </a:r>
          </a:p>
          <a:p>
            <a:r>
              <a:rPr lang="en-US" b="1" dirty="0"/>
              <a:t>Out of </a:t>
            </a:r>
            <a:r>
              <a:rPr lang="en-US" b="1" dirty="0" smtClean="0"/>
              <a:t>Scope: </a:t>
            </a:r>
            <a:r>
              <a:rPr lang="en-US" dirty="0" smtClean="0"/>
              <a:t>The </a:t>
            </a:r>
            <a:r>
              <a:rPr lang="en-US" dirty="0"/>
              <a:t>system will NOT </a:t>
            </a:r>
            <a:r>
              <a:rPr lang="en-US" dirty="0" smtClean="0"/>
              <a:t>include:</a:t>
            </a:r>
          </a:p>
          <a:p>
            <a:pPr lvl="1"/>
            <a:r>
              <a:rPr lang="en-US" dirty="0" smtClean="0"/>
              <a:t>Physical </a:t>
            </a:r>
            <a:r>
              <a:rPr lang="en-US" dirty="0"/>
              <a:t>parking </a:t>
            </a:r>
            <a:r>
              <a:rPr lang="en-US" dirty="0" smtClean="0"/>
              <a:t>construction, Traffic </a:t>
            </a:r>
            <a:r>
              <a:rPr lang="en-US" dirty="0"/>
              <a:t>signal </a:t>
            </a:r>
            <a:r>
              <a:rPr lang="en-US" dirty="0" smtClean="0"/>
              <a:t>management, Law </a:t>
            </a:r>
            <a:r>
              <a:rPr lang="en-US" dirty="0"/>
              <a:t>enforcement </a:t>
            </a:r>
            <a:r>
              <a:rPr lang="en-US" dirty="0" smtClean="0"/>
              <a:t>automation</a:t>
            </a:r>
            <a:r>
              <a:rPr lang="en-US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Feasibility Assessment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Budget Feasibility </a:t>
            </a:r>
            <a:r>
              <a:rPr lang="en-US" dirty="0"/>
              <a:t>(Economic Feasibility</a:t>
            </a:r>
            <a:r>
              <a:rPr lang="en-US" dirty="0" smtClean="0"/>
              <a:t>)</a:t>
            </a:r>
          </a:p>
          <a:p>
            <a:r>
              <a:rPr lang="en-US" b="1" dirty="0"/>
              <a:t>Time Feasibility </a:t>
            </a:r>
            <a:r>
              <a:rPr lang="en-US" dirty="0"/>
              <a:t>(Schedule Feasibility)</a:t>
            </a:r>
            <a:endParaRPr lang="en-US" b="1" dirty="0" smtClean="0"/>
          </a:p>
          <a:p>
            <a:r>
              <a:rPr lang="en-US" b="1" dirty="0" smtClean="0"/>
              <a:t>Business </a:t>
            </a:r>
            <a:r>
              <a:rPr lang="en-US" b="1" dirty="0"/>
              <a:t>Feasibility</a:t>
            </a:r>
          </a:p>
          <a:p>
            <a:pPr lvl="1"/>
            <a:r>
              <a:rPr lang="en-US" b="1" dirty="0"/>
              <a:t>Potential benefits</a:t>
            </a:r>
          </a:p>
          <a:p>
            <a:pPr lvl="1"/>
            <a:r>
              <a:rPr lang="en-US" b="1" dirty="0"/>
              <a:t>Possible Revenue sources</a:t>
            </a:r>
          </a:p>
          <a:p>
            <a:r>
              <a:rPr lang="en-US" b="1" dirty="0"/>
              <a:t>Technical Feasibility</a:t>
            </a:r>
          </a:p>
          <a:p>
            <a:pPr lvl="1"/>
            <a:r>
              <a:rPr lang="en-US" dirty="0"/>
              <a:t>whether the technology exists to implement the system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34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071153"/>
          </a:xfrm>
        </p:spPr>
        <p:txBody>
          <a:bodyPr/>
          <a:lstStyle/>
          <a:p>
            <a:r>
              <a:rPr lang="en-US" b="1" dirty="0"/>
              <a:t>Stakeholder Identification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5794861"/>
              </p:ext>
            </p:extLst>
          </p:nvPr>
        </p:nvGraphicFramePr>
        <p:xfrm>
          <a:off x="786720" y="2217114"/>
          <a:ext cx="7521258" cy="246888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3760629">
                  <a:extLst>
                    <a:ext uri="{9D8B030D-6E8A-4147-A177-3AD203B41FA5}">
                      <a16:colId xmlns:a16="http://schemas.microsoft.com/office/drawing/2014/main" val="3341468032"/>
                    </a:ext>
                  </a:extLst>
                </a:gridCol>
                <a:gridCol w="3760629">
                  <a:extLst>
                    <a:ext uri="{9D8B030D-6E8A-4147-A177-3AD203B41FA5}">
                      <a16:colId xmlns:a16="http://schemas.microsoft.com/office/drawing/2014/main" val="2381366162"/>
                    </a:ext>
                  </a:extLst>
                </a:gridCol>
              </a:tblGrid>
              <a:tr h="264134">
                <a:tc>
                  <a:txBody>
                    <a:bodyPr/>
                    <a:lstStyle/>
                    <a:p>
                      <a:r>
                        <a:rPr lang="en-US" sz="1800" dirty="0"/>
                        <a:t>Stakeholder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Role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7723317"/>
                  </a:ext>
                </a:extLst>
              </a:tr>
              <a:tr h="264134">
                <a:tc>
                  <a:txBody>
                    <a:bodyPr/>
                    <a:lstStyle/>
                    <a:p>
                      <a:r>
                        <a:rPr lang="en-US" sz="1800"/>
                        <a:t>Drivers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Use mobile app to find parking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0037607"/>
                  </a:ext>
                </a:extLst>
              </a:tr>
              <a:tr h="264134">
                <a:tc>
                  <a:txBody>
                    <a:bodyPr/>
                    <a:lstStyle/>
                    <a:p>
                      <a:r>
                        <a:rPr lang="en-US" sz="1800" dirty="0"/>
                        <a:t>Parking Authority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Manage parking infrastructure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2420055"/>
                  </a:ext>
                </a:extLst>
              </a:tr>
              <a:tr h="264134">
                <a:tc>
                  <a:txBody>
                    <a:bodyPr/>
                    <a:lstStyle/>
                    <a:p>
                      <a:r>
                        <a:rPr lang="en-US" sz="1800"/>
                        <a:t>City Administration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Monitor traffic and parking utilization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2705960"/>
                  </a:ext>
                </a:extLst>
              </a:tr>
              <a:tr h="462234">
                <a:tc>
                  <a:txBody>
                    <a:bodyPr/>
                    <a:lstStyle/>
                    <a:p>
                      <a:r>
                        <a:rPr lang="en-US" sz="1800"/>
                        <a:t>Parking Attendants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Assist drivers and maintain parking areas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6832951"/>
                  </a:ext>
                </a:extLst>
              </a:tr>
              <a:tr h="264134">
                <a:tc>
                  <a:txBody>
                    <a:bodyPr/>
                    <a:lstStyle/>
                    <a:p>
                      <a:r>
                        <a:rPr lang="en-US" sz="1800" dirty="0"/>
                        <a:t>System Administrators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Maintain system operations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8747000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86720" y="1688068"/>
            <a:ext cx="23305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Primary Stakeholders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720" y="4845708"/>
            <a:ext cx="23834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External Stakeholders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918522"/>
              </p:ext>
            </p:extLst>
          </p:nvPr>
        </p:nvGraphicFramePr>
        <p:xfrm>
          <a:off x="786720" y="5259586"/>
          <a:ext cx="7704136" cy="146304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3852068">
                  <a:extLst>
                    <a:ext uri="{9D8B030D-6E8A-4147-A177-3AD203B41FA5}">
                      <a16:colId xmlns:a16="http://schemas.microsoft.com/office/drawing/2014/main" val="3180661621"/>
                    </a:ext>
                  </a:extLst>
                </a:gridCol>
                <a:gridCol w="3852068">
                  <a:extLst>
                    <a:ext uri="{9D8B030D-6E8A-4147-A177-3AD203B41FA5}">
                      <a16:colId xmlns:a16="http://schemas.microsoft.com/office/drawing/2014/main" val="332136999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Stakeholder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Role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390015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Payment Gateway Providers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Process digital payments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1578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Mobile Network Providers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Provide internet connectivity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61654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/>
                        <a:t>Hardware Vendors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Provide parking sensors and cameras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1561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5519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267096"/>
          </a:xfrm>
        </p:spPr>
        <p:txBody>
          <a:bodyPr/>
          <a:lstStyle/>
          <a:p>
            <a:r>
              <a:rPr lang="en-US" dirty="0"/>
              <a:t>Initial System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972491"/>
            <a:ext cx="7704667" cy="445443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During inception, </a:t>
            </a:r>
            <a:r>
              <a:rPr lang="en-US" dirty="0" smtClean="0"/>
              <a:t>only </a:t>
            </a:r>
            <a:r>
              <a:rPr lang="en-US" b="1" dirty="0" smtClean="0"/>
              <a:t>high-level features</a:t>
            </a:r>
            <a:r>
              <a:rPr lang="en-US" dirty="0" smtClean="0"/>
              <a:t> are </a:t>
            </a:r>
            <a:r>
              <a:rPr lang="en-US" dirty="0"/>
              <a:t>identified.</a:t>
            </a:r>
          </a:p>
          <a:p>
            <a:r>
              <a:rPr lang="en-US" b="1" dirty="0"/>
              <a:t>Major System Features</a:t>
            </a:r>
          </a:p>
          <a:p>
            <a:pPr lvl="1"/>
            <a:r>
              <a:rPr lang="en-US" dirty="0"/>
              <a:t>Real-Time Parking </a:t>
            </a:r>
            <a:r>
              <a:rPr lang="en-US" dirty="0" smtClean="0"/>
              <a:t>Availability : Sensors </a:t>
            </a:r>
            <a:r>
              <a:rPr lang="en-US" dirty="0"/>
              <a:t>detect whether parking spots are occupied.</a:t>
            </a:r>
          </a:p>
          <a:p>
            <a:pPr lvl="1"/>
            <a:r>
              <a:rPr lang="en-US" dirty="0"/>
              <a:t>Parking </a:t>
            </a:r>
            <a:r>
              <a:rPr lang="en-US" dirty="0" smtClean="0"/>
              <a:t>Search: Drivers </a:t>
            </a:r>
            <a:r>
              <a:rPr lang="en-US" dirty="0"/>
              <a:t>can search nearby parking areas.</a:t>
            </a:r>
          </a:p>
          <a:p>
            <a:pPr lvl="1"/>
            <a:r>
              <a:rPr lang="en-US" dirty="0"/>
              <a:t>Parking </a:t>
            </a:r>
            <a:r>
              <a:rPr lang="en-US" dirty="0" smtClean="0"/>
              <a:t>Reservation: Drivers </a:t>
            </a:r>
            <a:r>
              <a:rPr lang="en-US" dirty="0"/>
              <a:t>can reserve a spot before arrival.</a:t>
            </a:r>
          </a:p>
          <a:p>
            <a:pPr lvl="1"/>
            <a:r>
              <a:rPr lang="en-US" dirty="0"/>
              <a:t>Navigation </a:t>
            </a:r>
            <a:r>
              <a:rPr lang="en-US" dirty="0" smtClean="0"/>
              <a:t>Support: Drivers </a:t>
            </a:r>
            <a:r>
              <a:rPr lang="en-US" dirty="0"/>
              <a:t>receive directions to the parking spot.</a:t>
            </a:r>
          </a:p>
          <a:p>
            <a:pPr lvl="1"/>
            <a:r>
              <a:rPr lang="en-US" dirty="0"/>
              <a:t>Online </a:t>
            </a:r>
            <a:r>
              <a:rPr lang="en-US" dirty="0" smtClean="0"/>
              <a:t>Payment: Digital </a:t>
            </a:r>
            <a:r>
              <a:rPr lang="en-US" dirty="0"/>
              <a:t>payment via mobile app.</a:t>
            </a:r>
          </a:p>
          <a:p>
            <a:pPr lvl="1"/>
            <a:r>
              <a:rPr lang="en-US" dirty="0"/>
              <a:t>Parking </a:t>
            </a:r>
            <a:r>
              <a:rPr lang="en-US" dirty="0" smtClean="0"/>
              <a:t>Notifications: Alerts </a:t>
            </a:r>
            <a:r>
              <a:rPr lang="en-US" dirty="0"/>
              <a:t>for reservation confirmation and parking expiration.</a:t>
            </a:r>
          </a:p>
          <a:p>
            <a:pPr lvl="1"/>
            <a:r>
              <a:rPr lang="en-US" dirty="0"/>
              <a:t>Admin </a:t>
            </a:r>
            <a:r>
              <a:rPr lang="en-US" dirty="0" smtClean="0"/>
              <a:t>Dashboard: Parking </a:t>
            </a:r>
            <a:r>
              <a:rPr lang="en-US" dirty="0"/>
              <a:t>authorities can monitor occupancy and revenue.</a:t>
            </a:r>
          </a:p>
        </p:txBody>
      </p:sp>
    </p:spTree>
    <p:extLst>
      <p:ext uri="{BB962C8B-B14F-4D97-AF65-F5344CB8AC3E}">
        <p14:creationId xmlns:p14="http://schemas.microsoft.com/office/powerpoint/2010/main" val="3781763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99910"/>
            <a:ext cx="9024974" cy="492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851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Risk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Early </a:t>
            </a:r>
            <a:r>
              <a:rPr lang="en-US" dirty="0"/>
              <a:t>risks are identified during inception.</a:t>
            </a:r>
          </a:p>
          <a:p>
            <a:r>
              <a:rPr lang="en-US" b="1" dirty="0"/>
              <a:t>Possible Risks</a:t>
            </a:r>
          </a:p>
          <a:p>
            <a:pPr lvl="1"/>
            <a:r>
              <a:rPr lang="en-US" dirty="0"/>
              <a:t>Sensor failure leading to incorrect parking </a:t>
            </a:r>
            <a:r>
              <a:rPr lang="en-US" dirty="0" smtClean="0"/>
              <a:t>data</a:t>
            </a:r>
          </a:p>
          <a:p>
            <a:pPr lvl="1"/>
            <a:r>
              <a:rPr lang="en-US" dirty="0" smtClean="0"/>
              <a:t>Poor </a:t>
            </a:r>
            <a:r>
              <a:rPr lang="en-US" dirty="0"/>
              <a:t>internet </a:t>
            </a:r>
            <a:r>
              <a:rPr lang="en-US" dirty="0" smtClean="0"/>
              <a:t>connectivity</a:t>
            </a:r>
          </a:p>
          <a:p>
            <a:pPr lvl="1"/>
            <a:r>
              <a:rPr lang="en-US" dirty="0" smtClean="0"/>
              <a:t>User </a:t>
            </a:r>
            <a:r>
              <a:rPr lang="en-US" dirty="0"/>
              <a:t>resistance to new </a:t>
            </a:r>
            <a:r>
              <a:rPr lang="en-US" dirty="0" smtClean="0"/>
              <a:t>technology</a:t>
            </a:r>
          </a:p>
          <a:p>
            <a:pPr lvl="1"/>
            <a:r>
              <a:rPr lang="en-US" dirty="0" smtClean="0"/>
              <a:t>Security </a:t>
            </a:r>
            <a:r>
              <a:rPr lang="en-US" dirty="0"/>
              <a:t>risks in online payment systems</a:t>
            </a:r>
          </a:p>
          <a:p>
            <a:r>
              <a:rPr lang="en-US" dirty="0"/>
              <a:t>Early risk identification allows teams to </a:t>
            </a:r>
            <a:r>
              <a:rPr lang="en-US" b="1" dirty="0"/>
              <a:t>prepare mitigation strategies later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6920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Elicitation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2" y="2438401"/>
            <a:ext cx="7704667" cy="4088673"/>
          </a:xfrm>
        </p:spPr>
        <p:txBody>
          <a:bodyPr>
            <a:normAutofit fontScale="92500"/>
          </a:bodyPr>
          <a:lstStyle/>
          <a:p>
            <a:r>
              <a:rPr b="1" dirty="0"/>
              <a:t>Objective: </a:t>
            </a:r>
            <a:r>
              <a:rPr dirty="0"/>
              <a:t>Gather detailed requirements from stakeholders</a:t>
            </a:r>
          </a:p>
          <a:p>
            <a:r>
              <a:rPr lang="en-US" b="1" dirty="0" smtClean="0"/>
              <a:t>Techniques:</a:t>
            </a:r>
            <a:endParaRPr b="1" dirty="0"/>
          </a:p>
          <a:p>
            <a:pPr lvl="1"/>
            <a:r>
              <a:rPr dirty="0" smtClean="0"/>
              <a:t>Interviews</a:t>
            </a:r>
            <a:endParaRPr dirty="0"/>
          </a:p>
          <a:p>
            <a:pPr lvl="1"/>
            <a:r>
              <a:rPr dirty="0" smtClean="0"/>
              <a:t> </a:t>
            </a:r>
            <a:r>
              <a:rPr dirty="0"/>
              <a:t>Questionnaires</a:t>
            </a:r>
          </a:p>
          <a:p>
            <a:pPr lvl="1"/>
            <a:r>
              <a:rPr dirty="0" smtClean="0"/>
              <a:t> </a:t>
            </a:r>
            <a:r>
              <a:rPr dirty="0"/>
              <a:t>Observation</a:t>
            </a:r>
          </a:p>
          <a:p>
            <a:pPr lvl="1"/>
            <a:r>
              <a:rPr dirty="0" smtClean="0"/>
              <a:t> </a:t>
            </a:r>
            <a:r>
              <a:rPr dirty="0"/>
              <a:t>Workshops</a:t>
            </a:r>
          </a:p>
          <a:p>
            <a:pPr lvl="1"/>
            <a:r>
              <a:rPr dirty="0" smtClean="0"/>
              <a:t> </a:t>
            </a:r>
            <a:r>
              <a:rPr dirty="0"/>
              <a:t>Prototyping</a:t>
            </a:r>
          </a:p>
          <a:p>
            <a:pPr lvl="1"/>
            <a:r>
              <a:rPr dirty="0" smtClean="0"/>
              <a:t> </a:t>
            </a:r>
            <a:r>
              <a:rPr dirty="0"/>
              <a:t>Use </a:t>
            </a:r>
            <a:r>
              <a:rPr dirty="0" smtClean="0"/>
              <a:t>cases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.</a:t>
            </a:r>
            <a:endParaRPr lang="en-US" dirty="0"/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Elicitation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/>
              <a:t>Stakeholders unsure of what they want</a:t>
            </a:r>
          </a:p>
          <a:p>
            <a:r>
              <a:rPr dirty="0" smtClean="0"/>
              <a:t>Conflicting </a:t>
            </a:r>
            <a:r>
              <a:rPr dirty="0"/>
              <a:t>needs</a:t>
            </a:r>
          </a:p>
          <a:p>
            <a:r>
              <a:rPr dirty="0" smtClean="0"/>
              <a:t> </a:t>
            </a:r>
            <a:r>
              <a:rPr dirty="0"/>
              <a:t>Communication barriers</a:t>
            </a:r>
          </a:p>
          <a:p>
            <a:r>
              <a:rPr dirty="0" smtClean="0"/>
              <a:t> </a:t>
            </a:r>
            <a:r>
              <a:rPr dirty="0"/>
              <a:t>Changing requirements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Elicitation Results (Smart Parking)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2761" y="2438401"/>
            <a:ext cx="7704667" cy="400119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Findings </a:t>
            </a:r>
            <a:r>
              <a:rPr lang="en-US" dirty="0"/>
              <a:t>from stakeholder discussions:</a:t>
            </a:r>
          </a:p>
          <a:p>
            <a:pPr marL="0" indent="0">
              <a:buNone/>
            </a:pPr>
            <a:r>
              <a:rPr lang="en-US" b="1" dirty="0"/>
              <a:t>Drivers need:</a:t>
            </a:r>
          </a:p>
          <a:p>
            <a:r>
              <a:rPr lang="en-US" dirty="0"/>
              <a:t>Real-time parking availability</a:t>
            </a:r>
          </a:p>
          <a:p>
            <a:r>
              <a:rPr lang="en-US" dirty="0"/>
              <a:t>Navigation to available parking</a:t>
            </a:r>
          </a:p>
          <a:p>
            <a:r>
              <a:rPr lang="en-US" dirty="0"/>
              <a:t>Online payment option</a:t>
            </a:r>
          </a:p>
          <a:p>
            <a:pPr marL="0" indent="0">
              <a:buNone/>
            </a:pPr>
            <a:r>
              <a:rPr lang="en-US" b="1" dirty="0"/>
              <a:t>Parking authorities need:</a:t>
            </a:r>
          </a:p>
          <a:p>
            <a:r>
              <a:rPr lang="en-US" dirty="0"/>
              <a:t>Parking usage reports</a:t>
            </a:r>
          </a:p>
          <a:p>
            <a:r>
              <a:rPr lang="en-US" dirty="0"/>
              <a:t>Monitoring of parking occupancy</a:t>
            </a:r>
          </a:p>
          <a:p>
            <a:r>
              <a:rPr lang="en-US" dirty="0"/>
              <a:t>Revenue tracking</a:t>
            </a:r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358536"/>
          </a:xfrm>
        </p:spPr>
        <p:txBody>
          <a:bodyPr/>
          <a:lstStyle/>
          <a:p>
            <a:r>
              <a:rPr lang="en-US" b="1" dirty="0"/>
              <a:t>Phase </a:t>
            </a:r>
            <a:r>
              <a:rPr lang="en-US" b="1" dirty="0" smtClean="0"/>
              <a:t>3: Elaboration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259874"/>
            <a:ext cx="7704667" cy="4349932"/>
          </a:xfrm>
        </p:spPr>
        <p:txBody>
          <a:bodyPr>
            <a:normAutofit fontScale="92500"/>
          </a:bodyPr>
          <a:lstStyle/>
          <a:p>
            <a:r>
              <a:rPr lang="en-US" dirty="0"/>
              <a:t>Elaboration refines the collected requirements and develops </a:t>
            </a:r>
            <a:r>
              <a:rPr lang="en-US" b="1" dirty="0"/>
              <a:t>detailed requirement models using UML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Activities include:</a:t>
            </a:r>
          </a:p>
          <a:p>
            <a:r>
              <a:rPr lang="en-US" dirty="0"/>
              <a:t>Developing use case models</a:t>
            </a:r>
          </a:p>
          <a:p>
            <a:r>
              <a:rPr lang="en-US" dirty="0"/>
              <a:t>Identifying system actors</a:t>
            </a:r>
          </a:p>
          <a:p>
            <a:r>
              <a:rPr lang="en-US" dirty="0"/>
              <a:t>Defining system interactions</a:t>
            </a:r>
          </a:p>
          <a:p>
            <a:r>
              <a:rPr lang="en-US" dirty="0"/>
              <a:t>Understanding functional workflows</a:t>
            </a:r>
          </a:p>
          <a:p>
            <a:pPr marL="0" indent="0">
              <a:buNone/>
            </a:pPr>
            <a:r>
              <a:rPr lang="en-US" b="1" dirty="0"/>
              <a:t>Goal</a:t>
            </a:r>
            <a:endParaRPr lang="en-US" dirty="0"/>
          </a:p>
          <a:p>
            <a:r>
              <a:rPr lang="en-US" dirty="0"/>
              <a:t>Transform raw requirements into </a:t>
            </a:r>
            <a:r>
              <a:rPr lang="en-US" b="1" dirty="0"/>
              <a:t>structured system models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016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0" y="1138519"/>
            <a:ext cx="9121586" cy="4975411"/>
          </a:xfrm>
        </p:spPr>
      </p:pic>
    </p:spTree>
    <p:extLst>
      <p:ext uri="{BB962C8B-B14F-4D97-AF65-F5344CB8AC3E}">
        <p14:creationId xmlns:p14="http://schemas.microsoft.com/office/powerpoint/2010/main" val="6014564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940525"/>
          </a:xfrm>
        </p:spPr>
        <p:txBody>
          <a:bodyPr/>
          <a:lstStyle/>
          <a:p>
            <a:r>
              <a:rPr lang="en-US" b="1" dirty="0"/>
              <a:t>Use Case Model for Smart Parking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8903" y="1397727"/>
            <a:ext cx="7667897" cy="546027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 smtClean="0"/>
              <a:t>Actors</a:t>
            </a:r>
            <a:endParaRPr lang="en-US" dirty="0"/>
          </a:p>
          <a:p>
            <a:r>
              <a:rPr lang="en-US" dirty="0" smtClean="0"/>
              <a:t>Driver, Parking Admin, System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Main Use Cases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Driver:</a:t>
            </a:r>
          </a:p>
          <a:p>
            <a:r>
              <a:rPr lang="en-US" dirty="0"/>
              <a:t>Search </a:t>
            </a:r>
            <a:r>
              <a:rPr lang="en-US" dirty="0" smtClean="0"/>
              <a:t>parking,  Reserve </a:t>
            </a:r>
            <a:r>
              <a:rPr lang="en-US" dirty="0"/>
              <a:t>parking </a:t>
            </a:r>
            <a:r>
              <a:rPr lang="en-US" dirty="0" smtClean="0"/>
              <a:t>space, Make payment, Receive notifications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Admin:</a:t>
            </a:r>
          </a:p>
          <a:p>
            <a:r>
              <a:rPr lang="en-US" dirty="0"/>
              <a:t>Manage parking </a:t>
            </a:r>
            <a:r>
              <a:rPr lang="en-US" dirty="0" smtClean="0"/>
              <a:t>spaces, Monitor </a:t>
            </a:r>
            <a:r>
              <a:rPr lang="en-US" dirty="0"/>
              <a:t>parking </a:t>
            </a:r>
            <a:r>
              <a:rPr lang="en-US" dirty="0" smtClean="0"/>
              <a:t>usage,  Generate reports</a:t>
            </a:r>
          </a:p>
          <a:p>
            <a:pPr marL="0" indent="0">
              <a:buNone/>
            </a:pPr>
            <a:r>
              <a:rPr lang="en-US" dirty="0"/>
              <a:t>Use case diagrams help visualize </a:t>
            </a:r>
            <a:r>
              <a:rPr lang="en-US" b="1" dirty="0"/>
              <a:t>how users interact with the system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030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Phase 4: Negotiation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Sometimes </a:t>
            </a:r>
            <a:r>
              <a:rPr lang="en-US" dirty="0"/>
              <a:t>stakeholder requirements </a:t>
            </a:r>
            <a:r>
              <a:rPr lang="en-US" b="1" dirty="0"/>
              <a:t>conflict with each other</a:t>
            </a:r>
            <a:r>
              <a:rPr lang="en-US" dirty="0"/>
              <a:t>.</a:t>
            </a:r>
          </a:p>
          <a:p>
            <a:r>
              <a:rPr lang="en-US" dirty="0"/>
              <a:t>Negotiation resolves these conflicts.</a:t>
            </a:r>
          </a:p>
          <a:p>
            <a:pPr marL="0" indent="0">
              <a:buNone/>
            </a:pPr>
            <a:r>
              <a:rPr lang="en-US" b="1" dirty="0"/>
              <a:t>Example Conflict</a:t>
            </a:r>
            <a:endParaRPr lang="en-US" dirty="0"/>
          </a:p>
          <a:p>
            <a:r>
              <a:rPr lang="en-US" dirty="0"/>
              <a:t>Drivers want </a:t>
            </a:r>
            <a:r>
              <a:rPr lang="en-US" b="1" dirty="0"/>
              <a:t>long reservation times</a:t>
            </a:r>
            <a:r>
              <a:rPr lang="en-US" dirty="0"/>
              <a:t>.</a:t>
            </a:r>
          </a:p>
          <a:p>
            <a:r>
              <a:rPr lang="en-US" dirty="0"/>
              <a:t>Parking authority fears spaces will remain unused.</a:t>
            </a:r>
          </a:p>
          <a:p>
            <a:pPr marL="0" indent="0">
              <a:buNone/>
            </a:pPr>
            <a:r>
              <a:rPr lang="en-US" b="1" dirty="0"/>
              <a:t>Solution</a:t>
            </a:r>
            <a:endParaRPr lang="en-US" dirty="0"/>
          </a:p>
          <a:p>
            <a:r>
              <a:rPr lang="en-US" dirty="0"/>
              <a:t>Introduce </a:t>
            </a:r>
            <a:r>
              <a:rPr lang="en-US" b="1" dirty="0"/>
              <a:t>limited reservation duration (e.g., 10 minutes)</a:t>
            </a:r>
            <a:r>
              <a:rPr lang="en-US" dirty="0"/>
              <a:t>.</a:t>
            </a:r>
          </a:p>
          <a:p>
            <a:r>
              <a:rPr lang="en-US" dirty="0"/>
              <a:t>This ensures fairness and efficient space usage.</a:t>
            </a:r>
          </a:p>
        </p:txBody>
      </p:sp>
    </p:spTree>
    <p:extLst>
      <p:ext uri="{BB962C8B-B14F-4D97-AF65-F5344CB8AC3E}">
        <p14:creationId xmlns:p14="http://schemas.microsoft.com/office/powerpoint/2010/main" val="3451435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7768" y="1099127"/>
            <a:ext cx="7910162" cy="4802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1852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541416"/>
          </a:xfrm>
        </p:spPr>
        <p:txBody>
          <a:bodyPr>
            <a:normAutofit/>
          </a:bodyPr>
          <a:lstStyle/>
          <a:p>
            <a:r>
              <a:rPr lang="en-US" sz="3600" b="1" dirty="0"/>
              <a:t>Phase 5: Requirements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894114"/>
            <a:ext cx="7704667" cy="4105702"/>
          </a:xfrm>
        </p:spPr>
        <p:txBody>
          <a:bodyPr>
            <a:normAutofit/>
          </a:bodyPr>
          <a:lstStyle/>
          <a:p>
            <a:r>
              <a:rPr lang="en-US" dirty="0" smtClean="0"/>
              <a:t>Specification </a:t>
            </a:r>
            <a:r>
              <a:rPr lang="en-US" dirty="0"/>
              <a:t>documents requirements in a </a:t>
            </a:r>
            <a:r>
              <a:rPr lang="en-US" b="1" dirty="0"/>
              <a:t>Software Requirement Specification (SRS)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Two main types:</a:t>
            </a:r>
          </a:p>
          <a:p>
            <a:r>
              <a:rPr lang="en-US" b="1" dirty="0"/>
              <a:t>Functional </a:t>
            </a:r>
            <a:r>
              <a:rPr lang="en-US" b="1" dirty="0" smtClean="0"/>
              <a:t>Requirements: </a:t>
            </a:r>
            <a:r>
              <a:rPr lang="en-US" dirty="0" smtClean="0"/>
              <a:t>Describe </a:t>
            </a:r>
            <a:r>
              <a:rPr lang="en-US" dirty="0"/>
              <a:t>system behavior.</a:t>
            </a:r>
          </a:p>
          <a:p>
            <a:pPr lvl="1"/>
            <a:r>
              <a:rPr lang="en-US" dirty="0" smtClean="0"/>
              <a:t>System </a:t>
            </a:r>
            <a:r>
              <a:rPr lang="en-US" dirty="0"/>
              <a:t>shall display available parking spots.</a:t>
            </a:r>
          </a:p>
          <a:p>
            <a:pPr lvl="1"/>
            <a:r>
              <a:rPr lang="en-US" dirty="0"/>
              <a:t>System shall allow drivers to reserve a slot.</a:t>
            </a:r>
          </a:p>
          <a:p>
            <a:pPr lvl="1"/>
            <a:r>
              <a:rPr lang="en-US" dirty="0"/>
              <a:t>System shall process online payments</a:t>
            </a:r>
          </a:p>
        </p:txBody>
      </p:sp>
    </p:spTree>
    <p:extLst>
      <p:ext uri="{BB962C8B-B14F-4D97-AF65-F5344CB8AC3E}">
        <p14:creationId xmlns:p14="http://schemas.microsoft.com/office/powerpoint/2010/main" val="1576903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489165"/>
          </a:xfrm>
        </p:spPr>
        <p:txBody>
          <a:bodyPr/>
          <a:lstStyle/>
          <a:p>
            <a:r>
              <a:rPr lang="en-US" b="1" dirty="0"/>
              <a:t>Non-Functional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168434"/>
            <a:ext cx="7704667" cy="3831382"/>
          </a:xfrm>
        </p:spPr>
        <p:txBody>
          <a:bodyPr/>
          <a:lstStyle/>
          <a:p>
            <a:r>
              <a:rPr lang="en-US" dirty="0" smtClean="0"/>
              <a:t>Performance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Parking updates should occur within </a:t>
            </a:r>
            <a:r>
              <a:rPr lang="en-US" b="1" dirty="0"/>
              <a:t>3 seconds</a:t>
            </a:r>
            <a:r>
              <a:rPr lang="en-US" dirty="0"/>
              <a:t>.</a:t>
            </a:r>
          </a:p>
          <a:p>
            <a:r>
              <a:rPr lang="en-US" dirty="0"/>
              <a:t>Security</a:t>
            </a:r>
            <a:br>
              <a:rPr lang="en-US" dirty="0"/>
            </a:br>
            <a:r>
              <a:rPr lang="en-US" dirty="0"/>
              <a:t>Payment transactions must be encrypted.</a:t>
            </a:r>
          </a:p>
          <a:p>
            <a:r>
              <a:rPr lang="en-US" dirty="0"/>
              <a:t>Usability</a:t>
            </a:r>
            <a:br>
              <a:rPr lang="en-US" dirty="0"/>
            </a:br>
            <a:r>
              <a:rPr lang="en-US" dirty="0"/>
              <a:t>Users should locate parking within </a:t>
            </a:r>
            <a:r>
              <a:rPr lang="en-US" b="1" dirty="0"/>
              <a:t>3 clicks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5018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77422" y="914400"/>
            <a:ext cx="8887516" cy="4851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684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031965"/>
          </a:xfrm>
        </p:spPr>
        <p:txBody>
          <a:bodyPr/>
          <a:lstStyle/>
          <a:p>
            <a:r>
              <a:rPr lang="en-US" b="1" dirty="0"/>
              <a:t>Phase 6: Requirements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841863"/>
            <a:ext cx="7704667" cy="415795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Validation </a:t>
            </a:r>
            <a:r>
              <a:rPr lang="en-US" dirty="0"/>
              <a:t>ensures requirements are:</a:t>
            </a:r>
          </a:p>
          <a:p>
            <a:pPr lvl="1"/>
            <a:r>
              <a:rPr lang="en-US" dirty="0" smtClean="0"/>
              <a:t>Correct, Complete, Consistent, Feasible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Validation Techniques</a:t>
            </a:r>
            <a:endParaRPr lang="en-US" dirty="0"/>
          </a:p>
          <a:p>
            <a:pPr lvl="1"/>
            <a:r>
              <a:rPr lang="en-US" dirty="0"/>
              <a:t>Requirement reviews</a:t>
            </a:r>
          </a:p>
          <a:p>
            <a:pPr lvl="1"/>
            <a:r>
              <a:rPr lang="en-US" dirty="0"/>
              <a:t>Prototyping</a:t>
            </a:r>
          </a:p>
          <a:p>
            <a:pPr lvl="1"/>
            <a:r>
              <a:rPr lang="en-US" dirty="0"/>
              <a:t>Stakeholder meetings</a:t>
            </a:r>
          </a:p>
          <a:p>
            <a:pPr lvl="1"/>
            <a:r>
              <a:rPr lang="en-US" dirty="0"/>
              <a:t>Test case development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A </a:t>
            </a:r>
            <a:r>
              <a:rPr lang="en-US" b="1" dirty="0"/>
              <a:t>prototype parking mobile app interface</a:t>
            </a:r>
            <a:r>
              <a:rPr lang="en-US" dirty="0"/>
              <a:t> is shown to drivers for feedback.</a:t>
            </a:r>
          </a:p>
        </p:txBody>
      </p:sp>
    </p:spTree>
    <p:extLst>
      <p:ext uri="{BB962C8B-B14F-4D97-AF65-F5344CB8AC3E}">
        <p14:creationId xmlns:p14="http://schemas.microsoft.com/office/powerpoint/2010/main" val="1712297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88010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Phase 7: Requirements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794510"/>
            <a:ext cx="7704667" cy="4205306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Requirements </a:t>
            </a:r>
            <a:r>
              <a:rPr lang="en-US" dirty="0"/>
              <a:t>change during development.</a:t>
            </a:r>
          </a:p>
          <a:p>
            <a:r>
              <a:rPr lang="en-US" dirty="0"/>
              <a:t>Management ensures changes are </a:t>
            </a:r>
            <a:r>
              <a:rPr lang="en-US" b="1" dirty="0"/>
              <a:t>tracked and controlled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Activities include:</a:t>
            </a:r>
          </a:p>
          <a:p>
            <a:r>
              <a:rPr lang="en-US" dirty="0"/>
              <a:t>Change request management</a:t>
            </a:r>
          </a:p>
          <a:p>
            <a:r>
              <a:rPr lang="en-US" dirty="0"/>
              <a:t>Requirement version control</a:t>
            </a:r>
          </a:p>
          <a:p>
            <a:r>
              <a:rPr lang="en-US" dirty="0"/>
              <a:t>Traceability tracking</a:t>
            </a:r>
          </a:p>
          <a:p>
            <a:pPr marL="0" indent="0">
              <a:buNone/>
            </a:pPr>
            <a:r>
              <a:rPr lang="en-US" dirty="0"/>
              <a:t>Example Change</a:t>
            </a:r>
          </a:p>
          <a:p>
            <a:r>
              <a:rPr lang="en-US" dirty="0"/>
              <a:t>City authorities request </a:t>
            </a:r>
            <a:r>
              <a:rPr lang="en-US" b="1" dirty="0"/>
              <a:t>EV charging parking spots</a:t>
            </a:r>
            <a:r>
              <a:rPr lang="en-US" dirty="0"/>
              <a:t> to be integrated into the system.</a:t>
            </a:r>
          </a:p>
        </p:txBody>
      </p:sp>
    </p:spTree>
    <p:extLst>
      <p:ext uri="{BB962C8B-B14F-4D97-AF65-F5344CB8AC3E}">
        <p14:creationId xmlns:p14="http://schemas.microsoft.com/office/powerpoint/2010/main" val="2521941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Requirement Traceability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Traceability </a:t>
            </a:r>
            <a:r>
              <a:rPr lang="en-US" dirty="0"/>
              <a:t>connects requirements with design and testing.</a:t>
            </a:r>
          </a:p>
          <a:p>
            <a:pPr marL="0" indent="0">
              <a:buNone/>
            </a:pPr>
            <a:r>
              <a:rPr lang="en-US" dirty="0"/>
              <a:t>Example</a:t>
            </a:r>
          </a:p>
          <a:p>
            <a:r>
              <a:rPr lang="en-US" dirty="0" smtClean="0"/>
              <a:t>Requirement: Driver </a:t>
            </a:r>
            <a:r>
              <a:rPr lang="en-US" dirty="0"/>
              <a:t>can reserve parking slot</a:t>
            </a:r>
          </a:p>
          <a:p>
            <a:pPr marL="0" indent="0">
              <a:buNone/>
            </a:pPr>
            <a:r>
              <a:rPr lang="en-US" dirty="0"/>
              <a:t>Linked to</a:t>
            </a:r>
          </a:p>
          <a:p>
            <a:r>
              <a:rPr lang="en-US" dirty="0"/>
              <a:t>Use Case: Reserve Parking</a:t>
            </a:r>
          </a:p>
          <a:p>
            <a:r>
              <a:rPr lang="en-US" dirty="0"/>
              <a:t>Module: Reservation System</a:t>
            </a:r>
          </a:p>
          <a:p>
            <a:r>
              <a:rPr lang="en-US" dirty="0"/>
              <a:t>Test Case: Parking Reservation Test</a:t>
            </a:r>
          </a:p>
          <a:p>
            <a:pPr marL="0" indent="0">
              <a:buNone/>
            </a:pPr>
            <a:r>
              <a:rPr lang="en-US" dirty="0"/>
              <a:t>Traceability ensures </a:t>
            </a:r>
            <a:r>
              <a:rPr lang="en-US" b="1" dirty="0"/>
              <a:t>every requirement is implemented and tested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0350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491" y="457201"/>
            <a:ext cx="8401050" cy="128015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Traceability matrix (Smart Parking System)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1491" y="2034540"/>
            <a:ext cx="8195309" cy="394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096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8" y="994410"/>
            <a:ext cx="8545751" cy="5697168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Mini Project / </a:t>
            </a:r>
            <a:r>
              <a:rPr lang="en-US" smtClean="0"/>
              <a:t>Class Activity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Choose a simple system:</a:t>
            </a:r>
          </a:p>
          <a:p>
            <a:r>
              <a:rPr dirty="0" smtClean="0"/>
              <a:t> </a:t>
            </a:r>
            <a:r>
              <a:rPr dirty="0"/>
              <a:t>Identify stakeholders &amp; define inception summary</a:t>
            </a:r>
          </a:p>
          <a:p>
            <a:r>
              <a:rPr smtClean="0"/>
              <a:t> </a:t>
            </a:r>
            <a:r>
              <a:rPr dirty="0"/>
              <a:t>Apply one elicitation technique (interview/questionnaire)</a:t>
            </a:r>
          </a:p>
          <a:p>
            <a:r>
              <a:rPr smtClean="0"/>
              <a:t> </a:t>
            </a:r>
            <a:r>
              <a:rPr dirty="0"/>
              <a:t>Document findings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473</TotalTime>
  <Words>1478</Words>
  <Application>Microsoft Office PowerPoint</Application>
  <PresentationFormat>On-screen Show (4:3)</PresentationFormat>
  <Paragraphs>250</Paragraphs>
  <Slides>31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Corbel</vt:lpstr>
      <vt:lpstr>Wingdings</vt:lpstr>
      <vt:lpstr>Parallax</vt:lpstr>
      <vt:lpstr>Requirement Engineering Phases : (Case Study : Smart Parking System) </vt:lpstr>
      <vt:lpstr>Lecture Overview</vt:lpstr>
      <vt:lpstr>What is Requirement Engineering?</vt:lpstr>
      <vt:lpstr>Traditional Requirements Engineering Phases</vt:lpstr>
      <vt:lpstr>Traditional approach problems:</vt:lpstr>
      <vt:lpstr>Difference b/w the 2 approaches</vt:lpstr>
      <vt:lpstr>UML-Based RE Phases</vt:lpstr>
      <vt:lpstr>Phase 1: Inception</vt:lpstr>
      <vt:lpstr>Example: Smart Parking System (Inception)</vt:lpstr>
      <vt:lpstr>Feasibility Assessment </vt:lpstr>
      <vt:lpstr>Stakeholder Identification</vt:lpstr>
      <vt:lpstr>Initial System Features</vt:lpstr>
      <vt:lpstr>PowerPoint Presentation</vt:lpstr>
      <vt:lpstr>Risk Identification</vt:lpstr>
      <vt:lpstr>Phase 2: Elicitation</vt:lpstr>
      <vt:lpstr>Challenges in Elicitation</vt:lpstr>
      <vt:lpstr>Elicitation Results (Smart Parking)</vt:lpstr>
      <vt:lpstr>Phase 3: Elaboration</vt:lpstr>
      <vt:lpstr>PowerPoint Presentation</vt:lpstr>
      <vt:lpstr>Use Case Model for Smart Parking</vt:lpstr>
      <vt:lpstr>Phase 4: Negotiation</vt:lpstr>
      <vt:lpstr>PowerPoint Presentation</vt:lpstr>
      <vt:lpstr>Phase 5: Requirements Specification</vt:lpstr>
      <vt:lpstr>Non-Functional Requirements</vt:lpstr>
      <vt:lpstr>PowerPoint Presentation</vt:lpstr>
      <vt:lpstr>Phase 6: Requirements Validation</vt:lpstr>
      <vt:lpstr>Phase 7: Requirements Management</vt:lpstr>
      <vt:lpstr>Requirement Traceability Example</vt:lpstr>
      <vt:lpstr>Traceability matrix (Smart Parking System)</vt:lpstr>
      <vt:lpstr>PowerPoint Presentation</vt:lpstr>
      <vt:lpstr>Mini Project / Class Activity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Requirement Engineering: Inception &amp; Elicitation Phases</dc:title>
  <dc:subject/>
  <dc:creator>shehla saeed</dc:creator>
  <cp:keywords/>
  <dc:description>generated using python-pptx</dc:description>
  <cp:lastModifiedBy>shehla saeed</cp:lastModifiedBy>
  <cp:revision>27</cp:revision>
  <dcterms:created xsi:type="dcterms:W3CDTF">2013-01-27T09:14:16Z</dcterms:created>
  <dcterms:modified xsi:type="dcterms:W3CDTF">2026-03-11T17:21:24Z</dcterms:modified>
  <cp:category/>
</cp:coreProperties>
</file>
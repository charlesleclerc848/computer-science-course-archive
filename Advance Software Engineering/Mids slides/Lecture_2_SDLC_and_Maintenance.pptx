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837" autoAdjust="0"/>
  </p:normalViewPr>
  <p:slideViewPr>
    <p:cSldViewPr snapToGrid="0" snapToObjects="1">
      <p:cViewPr varScale="1">
        <p:scale>
          <a:sx n="79" d="100"/>
          <a:sy n="79" d="100"/>
        </p:scale>
        <p:origin x="132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164E3-B3BD-495E-9687-DCD78775162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96683-B670-4675-AF97-D717048F5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5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00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Interactive: Ask 2 students to summarize last lecture in 1 min each.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85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Prompt: Why not just start coding immediately?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77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85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Requirement Analysis – Detailed Explanation</a:t>
            </a:r>
          </a:p>
          <a:p>
            <a:r>
              <a:rPr lang="en-US" b="1" dirty="0" smtClean="0"/>
              <a:t>1. Definition</a:t>
            </a:r>
          </a:p>
          <a:p>
            <a:r>
              <a:rPr lang="en-US" dirty="0" smtClean="0"/>
              <a:t>The process of </a:t>
            </a:r>
            <a:r>
              <a:rPr lang="en-US" b="1" dirty="0" smtClean="0"/>
              <a:t>gathering, analyzing, and documenting</a:t>
            </a:r>
            <a:r>
              <a:rPr lang="en-US" dirty="0" smtClean="0"/>
              <a:t> what the customer/user expects from the system.</a:t>
            </a:r>
          </a:p>
          <a:p>
            <a:r>
              <a:rPr lang="en-US" dirty="0" smtClean="0"/>
              <a:t>Goal: Ensure developers </a:t>
            </a:r>
            <a:r>
              <a:rPr lang="en-US" b="1" dirty="0" smtClean="0"/>
              <a:t>build the right product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2. Types of Requirements</a:t>
            </a:r>
          </a:p>
          <a:p>
            <a:r>
              <a:rPr lang="en-US" b="1" dirty="0" smtClean="0"/>
              <a:t>Functional Requirements</a:t>
            </a:r>
            <a:r>
              <a:rPr lang="en-US" dirty="0" smtClean="0"/>
              <a:t> – what the system should do.</a:t>
            </a:r>
          </a:p>
          <a:p>
            <a:pPr lvl="1"/>
            <a:r>
              <a:rPr lang="en-US" dirty="0" smtClean="0"/>
              <a:t>Example: “The system shall allow users to log in with a username and password.”</a:t>
            </a:r>
          </a:p>
          <a:p>
            <a:r>
              <a:rPr lang="en-US" b="1" dirty="0" smtClean="0"/>
              <a:t>Non-Functional Requirements</a:t>
            </a:r>
            <a:r>
              <a:rPr lang="en-US" dirty="0" smtClean="0"/>
              <a:t> – qualities of the system.</a:t>
            </a:r>
          </a:p>
          <a:p>
            <a:pPr lvl="1"/>
            <a:r>
              <a:rPr lang="en-US" dirty="0" smtClean="0"/>
              <a:t>Example: performance, security, usability, scalability.</a:t>
            </a:r>
          </a:p>
          <a:p>
            <a:r>
              <a:rPr lang="en-US" b="1" dirty="0" smtClean="0"/>
              <a:t>3. Techniques for Gathering Requirements</a:t>
            </a:r>
          </a:p>
          <a:p>
            <a:r>
              <a:rPr lang="en-US" b="1" dirty="0" smtClean="0"/>
              <a:t>Interviews</a:t>
            </a:r>
            <a:r>
              <a:rPr lang="en-US" dirty="0" smtClean="0"/>
              <a:t> with stakeholders.</a:t>
            </a:r>
          </a:p>
          <a:p>
            <a:r>
              <a:rPr lang="en-US" b="1" dirty="0" smtClean="0"/>
              <a:t>Questionnaires/Surveys</a:t>
            </a:r>
            <a:r>
              <a:rPr lang="en-US" dirty="0" smtClean="0"/>
              <a:t> for large groups.</a:t>
            </a:r>
          </a:p>
          <a:p>
            <a:r>
              <a:rPr lang="en-US" b="1" dirty="0" smtClean="0"/>
              <a:t>Workshops/Brainstorming</a:t>
            </a:r>
            <a:r>
              <a:rPr lang="en-US" dirty="0" smtClean="0"/>
              <a:t> sessions.</a:t>
            </a:r>
          </a:p>
          <a:p>
            <a:r>
              <a:rPr lang="en-US" b="1" dirty="0" smtClean="0"/>
              <a:t>Observation</a:t>
            </a:r>
            <a:r>
              <a:rPr lang="en-US" dirty="0" smtClean="0"/>
              <a:t> of current systems in use.</a:t>
            </a:r>
          </a:p>
          <a:p>
            <a:r>
              <a:rPr lang="en-US" b="1" dirty="0" smtClean="0"/>
              <a:t>Use Cases/User Stories</a:t>
            </a:r>
            <a:r>
              <a:rPr lang="en-US" dirty="0" smtClean="0"/>
              <a:t> to capture real scenarios.</a:t>
            </a:r>
          </a:p>
          <a:p>
            <a:r>
              <a:rPr lang="en-US" b="1" dirty="0" smtClean="0"/>
              <a:t>4. Deliverables</a:t>
            </a:r>
          </a:p>
          <a:p>
            <a:r>
              <a:rPr lang="en-US" b="1" dirty="0" smtClean="0"/>
              <a:t>SRS (Software Requirements Specification):</a:t>
            </a:r>
            <a:endParaRPr lang="en-US" dirty="0" smtClean="0"/>
          </a:p>
          <a:p>
            <a:pPr lvl="1"/>
            <a:r>
              <a:rPr lang="en-US" dirty="0" smtClean="0"/>
              <a:t>Document containing detailed requirements.</a:t>
            </a:r>
          </a:p>
          <a:p>
            <a:pPr lvl="1"/>
            <a:r>
              <a:rPr lang="en-US" dirty="0" smtClean="0"/>
              <a:t>Includes scope, functional/non-functional requirements, assumptions, constraints.</a:t>
            </a:r>
          </a:p>
          <a:p>
            <a:r>
              <a:rPr lang="en-US" b="1" dirty="0" smtClean="0"/>
              <a:t>Use Case Models &amp; Diagrams:</a:t>
            </a:r>
            <a:r>
              <a:rPr lang="en-US" dirty="0" smtClean="0"/>
              <a:t> show how users interact with the system.</a:t>
            </a:r>
          </a:p>
          <a:p>
            <a:r>
              <a:rPr lang="en-US" b="1" dirty="0" smtClean="0"/>
              <a:t>5. Challenges</a:t>
            </a:r>
          </a:p>
          <a:p>
            <a:r>
              <a:rPr lang="en-US" dirty="0" smtClean="0"/>
              <a:t>Miscommunication between stakeholders and developers.</a:t>
            </a:r>
          </a:p>
          <a:p>
            <a:r>
              <a:rPr lang="en-US" dirty="0" smtClean="0"/>
              <a:t>Changing requirements (“scope creep”).</a:t>
            </a:r>
          </a:p>
          <a:p>
            <a:r>
              <a:rPr lang="en-US" dirty="0" smtClean="0"/>
              <a:t>Ambiguous or incomplete requirements.</a:t>
            </a:r>
          </a:p>
          <a:p>
            <a:r>
              <a:rPr lang="en-US" b="1" dirty="0" smtClean="0"/>
              <a:t>6. Example for Class</a:t>
            </a:r>
          </a:p>
          <a:p>
            <a:r>
              <a:rPr lang="en-US" dirty="0" smtClean="0"/>
              <a:t>If building a </a:t>
            </a:r>
            <a:r>
              <a:rPr lang="en-US" b="1" dirty="0" smtClean="0"/>
              <a:t>School Management System</a:t>
            </a:r>
            <a:r>
              <a:rPr lang="en-US" dirty="0" smtClean="0"/>
              <a:t>:</a:t>
            </a:r>
          </a:p>
          <a:p>
            <a:pPr lvl="1"/>
            <a:r>
              <a:rPr lang="en-US" b="1" dirty="0" smtClean="0"/>
              <a:t>Functional:</a:t>
            </a:r>
            <a:r>
              <a:rPr lang="en-US" dirty="0" smtClean="0"/>
              <a:t> Student can view timetable, teacher can mark attendance.</a:t>
            </a:r>
          </a:p>
          <a:p>
            <a:pPr lvl="1"/>
            <a:r>
              <a:rPr lang="en-US" b="1" dirty="0" smtClean="0"/>
              <a:t>Non-Functional:</a:t>
            </a:r>
            <a:r>
              <a:rPr lang="en-US" dirty="0" smtClean="0"/>
              <a:t> System should load a page within 2 seconds.</a:t>
            </a:r>
          </a:p>
          <a:p>
            <a:r>
              <a:rPr lang="en-US" dirty="0" smtClean="0"/>
              <a:t>💡 </a:t>
            </a:r>
            <a:r>
              <a:rPr lang="en-US" b="1" dirty="0" smtClean="0"/>
              <a:t>Interactive Activity for Students:</a:t>
            </a:r>
            <a:endParaRPr lang="en-US" dirty="0" smtClean="0"/>
          </a:p>
          <a:p>
            <a:r>
              <a:rPr lang="en-US" b="1" dirty="0" smtClean="0"/>
              <a:t>list 2 functional and 2 non-functional requirements</a:t>
            </a:r>
            <a:r>
              <a:rPr lang="en-US" dirty="0" smtClean="0"/>
              <a:t> for a student learning portal.</a:t>
            </a:r>
          </a:p>
          <a:p>
            <a:r>
              <a:rPr lang="en-US" dirty="0" smtClean="0"/>
              <a:t>Discuss which ones might be harder to implement and why.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2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System Design – Detailed Explanation</a:t>
            </a:r>
          </a:p>
          <a:p>
            <a:r>
              <a:rPr lang="en-US" b="1" dirty="0" smtClean="0"/>
              <a:t>1. High-Level Design (HLD)</a:t>
            </a:r>
          </a:p>
          <a:p>
            <a:r>
              <a:rPr lang="en-US" b="1" dirty="0" smtClean="0"/>
              <a:t>Definition:</a:t>
            </a:r>
            <a:r>
              <a:rPr lang="en-US" dirty="0" smtClean="0"/>
              <a:t> Blueprint of the overall system, focusing on </a:t>
            </a:r>
            <a:r>
              <a:rPr lang="en-US" b="1" dirty="0" smtClean="0"/>
              <a:t>architecture and components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Key Aspects:</a:t>
            </a:r>
            <a:endParaRPr lang="en-US" dirty="0" smtClean="0"/>
          </a:p>
          <a:p>
            <a:pPr lvl="1"/>
            <a:r>
              <a:rPr lang="en-US" dirty="0" smtClean="0"/>
              <a:t>System architecture (e.g., client-server, </a:t>
            </a:r>
            <a:r>
              <a:rPr lang="en-US" dirty="0" err="1" smtClean="0"/>
              <a:t>microservices</a:t>
            </a:r>
            <a:r>
              <a:rPr lang="en-US" dirty="0" smtClean="0"/>
              <a:t>, layered architecture).</a:t>
            </a:r>
          </a:p>
          <a:p>
            <a:pPr lvl="1"/>
            <a:r>
              <a:rPr lang="en-US" dirty="0" smtClean="0"/>
              <a:t>Division of system into </a:t>
            </a:r>
            <a:r>
              <a:rPr lang="en-US" b="1" dirty="0" smtClean="0"/>
              <a:t>modules</a:t>
            </a:r>
            <a:r>
              <a:rPr lang="en-US" dirty="0" smtClean="0"/>
              <a:t> or subsystems.</a:t>
            </a:r>
          </a:p>
          <a:p>
            <a:pPr lvl="1"/>
            <a:r>
              <a:rPr lang="en-US" dirty="0" smtClean="0"/>
              <a:t>Data flow between major components.</a:t>
            </a:r>
          </a:p>
          <a:p>
            <a:pPr lvl="1"/>
            <a:r>
              <a:rPr lang="en-US" dirty="0" smtClean="0"/>
              <a:t>Technology stack selection (e.g., Java, Python, databases, cloud).</a:t>
            </a:r>
          </a:p>
          <a:p>
            <a:r>
              <a:rPr lang="en-US" b="1" dirty="0" smtClean="0"/>
              <a:t>Deliverables:</a:t>
            </a:r>
            <a:r>
              <a:rPr lang="en-US" dirty="0" smtClean="0"/>
              <a:t> Architecture diagrams, module specifications.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> For an e-commerce app → modules like User Management, Product Catalog, Payment Gateway, Order Tracking.</a:t>
            </a:r>
          </a:p>
          <a:p>
            <a:r>
              <a:rPr lang="en-US" b="1" dirty="0" smtClean="0"/>
              <a:t>2. Low-Level Design (LLD)</a:t>
            </a:r>
          </a:p>
          <a:p>
            <a:r>
              <a:rPr lang="en-US" b="1" dirty="0" smtClean="0"/>
              <a:t>Definition:</a:t>
            </a:r>
            <a:r>
              <a:rPr lang="en-US" dirty="0" smtClean="0"/>
              <a:t> Detailed design at the component level, focusing on </a:t>
            </a:r>
            <a:r>
              <a:rPr lang="en-US" b="1" dirty="0" smtClean="0"/>
              <a:t>internal logic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Key Aspects:</a:t>
            </a:r>
            <a:endParaRPr lang="en-US" dirty="0" smtClean="0"/>
          </a:p>
          <a:p>
            <a:pPr lvl="1"/>
            <a:r>
              <a:rPr lang="en-US" dirty="0" smtClean="0"/>
              <a:t>Class diagrams with attributes, methods, and relationships.</a:t>
            </a:r>
          </a:p>
          <a:p>
            <a:pPr lvl="1"/>
            <a:r>
              <a:rPr lang="en-US" dirty="0" smtClean="0"/>
              <a:t>Database schema design (tables, keys, relationships).</a:t>
            </a:r>
          </a:p>
          <a:p>
            <a:pPr lvl="1"/>
            <a:r>
              <a:rPr lang="en-US" dirty="0" smtClean="0"/>
              <a:t>API specifications (endpoints, inputs/outputs).</a:t>
            </a:r>
          </a:p>
          <a:p>
            <a:pPr lvl="1"/>
            <a:r>
              <a:rPr lang="en-US" dirty="0" smtClean="0"/>
              <a:t>UI/UX layouts (wireframes, screen designs).</a:t>
            </a:r>
          </a:p>
          <a:p>
            <a:r>
              <a:rPr lang="en-US" b="1" dirty="0" smtClean="0"/>
              <a:t>Deliverables:</a:t>
            </a:r>
            <a:r>
              <a:rPr lang="en-US" dirty="0" smtClean="0"/>
              <a:t> Class diagrams, ER models, pseudocode, detailed design documents.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> For "Login Module" → algorithm for authentication, database table structure for users, session management rules.</a:t>
            </a:r>
          </a:p>
          <a:p>
            <a:r>
              <a:rPr lang="en-US" b="1" dirty="0" smtClean="0"/>
              <a:t>3. Tools for System Design</a:t>
            </a:r>
          </a:p>
          <a:p>
            <a:r>
              <a:rPr lang="en-US" b="1" dirty="0" smtClean="0"/>
              <a:t>UML (Unified Modeling Language):</a:t>
            </a:r>
            <a:endParaRPr lang="en-US" dirty="0" smtClean="0"/>
          </a:p>
          <a:p>
            <a:pPr lvl="1"/>
            <a:r>
              <a:rPr lang="en-US" dirty="0" smtClean="0"/>
              <a:t>Use Case Diagram → shows user interactions.</a:t>
            </a:r>
          </a:p>
          <a:p>
            <a:pPr lvl="1"/>
            <a:r>
              <a:rPr lang="en-US" dirty="0" smtClean="0"/>
              <a:t>Class Diagram → object-oriented design.</a:t>
            </a:r>
          </a:p>
          <a:p>
            <a:pPr lvl="1"/>
            <a:r>
              <a:rPr lang="en-US" dirty="0" smtClean="0"/>
              <a:t>Sequence Diagram → flow of operations between components.</a:t>
            </a:r>
          </a:p>
          <a:p>
            <a:pPr lvl="1"/>
            <a:r>
              <a:rPr lang="en-US" dirty="0" smtClean="0"/>
              <a:t>Activity Diagram → workflows.</a:t>
            </a:r>
          </a:p>
          <a:p>
            <a:r>
              <a:rPr lang="en-US" b="1" dirty="0" smtClean="0"/>
              <a:t>ER (Entity-Relationship) Model:</a:t>
            </a:r>
            <a:endParaRPr lang="en-US" dirty="0" smtClean="0"/>
          </a:p>
          <a:p>
            <a:pPr lvl="1"/>
            <a:r>
              <a:rPr lang="en-US" dirty="0" smtClean="0"/>
              <a:t>Used for database design.</a:t>
            </a:r>
          </a:p>
          <a:p>
            <a:pPr lvl="1"/>
            <a:r>
              <a:rPr lang="en-US" dirty="0" smtClean="0"/>
              <a:t>Entities, attributes, relationships (1:1, 1:N, M:N).</a:t>
            </a:r>
          </a:p>
          <a:p>
            <a:pPr lvl="1"/>
            <a:r>
              <a:rPr lang="en-US" dirty="0" smtClean="0"/>
              <a:t>Ensures normalization and efficient database schema.</a:t>
            </a:r>
          </a:p>
          <a:p>
            <a:r>
              <a:rPr lang="en-US" dirty="0" smtClean="0"/>
              <a:t>💡 </a:t>
            </a:r>
            <a:r>
              <a:rPr lang="en-US" b="1" dirty="0" smtClean="0"/>
              <a:t>How to make it interactive in class:</a:t>
            </a:r>
            <a:endParaRPr lang="en-US" dirty="0" smtClean="0"/>
          </a:p>
          <a:p>
            <a:r>
              <a:rPr lang="en-US" dirty="0" smtClean="0"/>
              <a:t>Show students a </a:t>
            </a:r>
            <a:r>
              <a:rPr lang="en-US" b="1" dirty="0" smtClean="0"/>
              <a:t>use case diagram</a:t>
            </a:r>
            <a:r>
              <a:rPr lang="en-US" dirty="0" smtClean="0"/>
              <a:t> for a "Library Management System."</a:t>
            </a:r>
          </a:p>
          <a:p>
            <a:r>
              <a:rPr lang="en-US" dirty="0" smtClean="0"/>
              <a:t>Ask: </a:t>
            </a:r>
            <a:r>
              <a:rPr lang="en-US" i="1" dirty="0" smtClean="0"/>
              <a:t>“Which part belongs to HLD and which to LLD?”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9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Definition</a:t>
            </a:r>
          </a:p>
          <a:p>
            <a:r>
              <a:rPr lang="en-US" dirty="0" smtClean="0"/>
              <a:t>The phase where </a:t>
            </a:r>
            <a:r>
              <a:rPr lang="en-US" b="1" dirty="0" smtClean="0"/>
              <a:t>design is translated into source code</a:t>
            </a:r>
            <a:r>
              <a:rPr lang="en-US" dirty="0" smtClean="0"/>
              <a:t> using programming languages, frameworks, and tools.</a:t>
            </a:r>
          </a:p>
          <a:p>
            <a:r>
              <a:rPr lang="en-US" dirty="0" smtClean="0"/>
              <a:t>Goal: Deliver </a:t>
            </a:r>
            <a:r>
              <a:rPr lang="en-US" b="1" dirty="0" smtClean="0"/>
              <a:t>working software modules</a:t>
            </a:r>
            <a:r>
              <a:rPr lang="en-US" dirty="0" smtClean="0"/>
              <a:t> that meet the design and requirements.</a:t>
            </a:r>
          </a:p>
          <a:p>
            <a:r>
              <a:rPr lang="en-US" b="1" dirty="0" smtClean="0"/>
              <a:t>2. Key Activities</a:t>
            </a:r>
          </a:p>
          <a:p>
            <a:r>
              <a:rPr lang="en-US" b="1" dirty="0" smtClean="0"/>
              <a:t>Coding:</a:t>
            </a:r>
            <a:r>
              <a:rPr lang="en-US" dirty="0" smtClean="0"/>
              <a:t> Writing programs for each module/component.</a:t>
            </a:r>
          </a:p>
          <a:p>
            <a:r>
              <a:rPr lang="en-US" b="1" dirty="0" smtClean="0"/>
              <a:t>Code Review:</a:t>
            </a:r>
            <a:r>
              <a:rPr lang="en-US" dirty="0" smtClean="0"/>
              <a:t> Peer review to maintain quality and consistency.</a:t>
            </a:r>
          </a:p>
          <a:p>
            <a:r>
              <a:rPr lang="en-US" b="1" dirty="0" smtClean="0"/>
              <a:t>Integration:</a:t>
            </a:r>
            <a:r>
              <a:rPr lang="en-US" dirty="0" smtClean="0"/>
              <a:t> Combine modules into a single system.</a:t>
            </a:r>
          </a:p>
          <a:p>
            <a:r>
              <a:rPr lang="en-US" b="1" dirty="0" smtClean="0"/>
              <a:t>Unit Testing:</a:t>
            </a:r>
            <a:r>
              <a:rPr lang="en-US" dirty="0" smtClean="0"/>
              <a:t> Test individual components during development.</a:t>
            </a:r>
          </a:p>
          <a:p>
            <a:r>
              <a:rPr lang="en-US" b="1" dirty="0" smtClean="0"/>
              <a:t>Documentation:</a:t>
            </a:r>
            <a:r>
              <a:rPr lang="en-US" dirty="0" smtClean="0"/>
              <a:t> Code comments, developer guides, and API documentation.</a:t>
            </a:r>
          </a:p>
          <a:p>
            <a:r>
              <a:rPr lang="en-US" b="1" dirty="0" smtClean="0"/>
              <a:t>3. Best Practices</a:t>
            </a:r>
          </a:p>
          <a:p>
            <a:r>
              <a:rPr lang="en-US" dirty="0" smtClean="0"/>
              <a:t>Follow </a:t>
            </a:r>
            <a:r>
              <a:rPr lang="en-US" b="1" dirty="0" smtClean="0"/>
              <a:t>coding standards</a:t>
            </a:r>
            <a:r>
              <a:rPr lang="en-US" dirty="0" smtClean="0"/>
              <a:t> (naming conventions, indentation, comments).</a:t>
            </a:r>
          </a:p>
          <a:p>
            <a:r>
              <a:rPr lang="en-US" dirty="0" smtClean="0"/>
              <a:t>Use </a:t>
            </a:r>
            <a:r>
              <a:rPr lang="en-US" b="1" dirty="0" smtClean="0"/>
              <a:t>version control</a:t>
            </a:r>
            <a:r>
              <a:rPr lang="en-US" dirty="0" smtClean="0"/>
              <a:t> (</a:t>
            </a:r>
            <a:r>
              <a:rPr lang="en-US" dirty="0" err="1" smtClean="0"/>
              <a:t>Git</a:t>
            </a:r>
            <a:r>
              <a:rPr lang="en-US" dirty="0" smtClean="0"/>
              <a:t>, GitHub, </a:t>
            </a:r>
            <a:r>
              <a:rPr lang="en-US" dirty="0" err="1" smtClean="0"/>
              <a:t>GitLab</a:t>
            </a:r>
            <a:r>
              <a:rPr lang="en-US" dirty="0" smtClean="0"/>
              <a:t>).</a:t>
            </a:r>
          </a:p>
          <a:p>
            <a:r>
              <a:rPr lang="en-US" dirty="0" smtClean="0"/>
              <a:t>Apply </a:t>
            </a:r>
            <a:r>
              <a:rPr lang="en-US" b="1" dirty="0" smtClean="0"/>
              <a:t>modularity</a:t>
            </a:r>
            <a:r>
              <a:rPr lang="en-US" dirty="0" smtClean="0"/>
              <a:t> → break system into manageable components.</a:t>
            </a:r>
          </a:p>
          <a:p>
            <a:r>
              <a:rPr lang="en-US" dirty="0" smtClean="0"/>
              <a:t>Continuous Integration (CI) → automatically test and build software.</a:t>
            </a:r>
          </a:p>
          <a:p>
            <a:r>
              <a:rPr lang="en-US" dirty="0" smtClean="0"/>
              <a:t>Ensure </a:t>
            </a:r>
            <a:r>
              <a:rPr lang="en-US" b="1" dirty="0" smtClean="0"/>
              <a:t>error handling</a:t>
            </a:r>
            <a:r>
              <a:rPr lang="en-US" dirty="0" smtClean="0"/>
              <a:t> and </a:t>
            </a:r>
            <a:r>
              <a:rPr lang="en-US" b="1" dirty="0" smtClean="0"/>
              <a:t>exception management</a:t>
            </a:r>
            <a:r>
              <a:rPr lang="en-US" dirty="0" smtClean="0"/>
              <a:t>.</a:t>
            </a:r>
            <a:r>
              <a:rPr lang="en-US" b="1" dirty="0" smtClean="0"/>
              <a:t> CI/CD</a:t>
            </a:r>
            <a:r>
              <a:rPr lang="en-US" dirty="0" smtClean="0"/>
              <a:t> stands for </a:t>
            </a:r>
            <a:r>
              <a:rPr lang="en-US" b="1" dirty="0" smtClean="0"/>
              <a:t>Continuous Integration / Continuous Delivery (or Deployment)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4. Tools &amp; Technologies</a:t>
            </a:r>
          </a:p>
          <a:p>
            <a:r>
              <a:rPr lang="en-US" b="1" dirty="0" smtClean="0"/>
              <a:t>Programming Languages:</a:t>
            </a:r>
            <a:r>
              <a:rPr lang="en-US" dirty="0" smtClean="0"/>
              <a:t> Java, Python, C#, JavaScript, etc.</a:t>
            </a:r>
          </a:p>
          <a:p>
            <a:r>
              <a:rPr lang="en-US" b="1" dirty="0" smtClean="0"/>
              <a:t>IDEs:</a:t>
            </a:r>
            <a:r>
              <a:rPr lang="en-US" dirty="0" smtClean="0"/>
              <a:t> IntelliJ, Eclipse, VS Code, </a:t>
            </a:r>
            <a:r>
              <a:rPr lang="en-US" dirty="0" err="1" smtClean="0"/>
              <a:t>PyCharm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Version Control:</a:t>
            </a:r>
            <a:r>
              <a:rPr lang="en-US" dirty="0" smtClean="0"/>
              <a:t> </a:t>
            </a:r>
            <a:r>
              <a:rPr lang="en-US" dirty="0" err="1" smtClean="0"/>
              <a:t>Git</a:t>
            </a:r>
            <a:r>
              <a:rPr lang="en-US" dirty="0" smtClean="0"/>
              <a:t>, SVN.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CI/CD Pipelines:</a:t>
            </a:r>
            <a:r>
              <a:rPr lang="en-US" dirty="0" smtClean="0"/>
              <a:t> Jenkins, GitHub Actions, </a:t>
            </a:r>
            <a:r>
              <a:rPr lang="en-US" dirty="0" err="1" smtClean="0"/>
              <a:t>GitLab</a:t>
            </a:r>
            <a:r>
              <a:rPr lang="en-US" dirty="0" smtClean="0"/>
              <a:t> CI.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It’s a set of practices in software development that </a:t>
            </a:r>
            <a:r>
              <a:rPr lang="en-US" b="1" dirty="0" smtClean="0"/>
              <a:t>automates building, testing, and releasing code</a:t>
            </a:r>
            <a:r>
              <a:rPr lang="en-US" dirty="0" smtClean="0"/>
              <a:t> so teams can deliver updates faster and with fewer bugs.</a:t>
            </a:r>
          </a:p>
          <a:p>
            <a:endParaRPr lang="en-US" dirty="0" smtClean="0"/>
          </a:p>
          <a:p>
            <a:r>
              <a:rPr lang="en-US" b="1" dirty="0" smtClean="0"/>
              <a:t>Build Tools:</a:t>
            </a:r>
            <a:r>
              <a:rPr lang="en-US" dirty="0" smtClean="0"/>
              <a:t> Maven, </a:t>
            </a:r>
            <a:r>
              <a:rPr lang="en-US" dirty="0" err="1" smtClean="0"/>
              <a:t>Gradle</a:t>
            </a:r>
            <a:r>
              <a:rPr lang="en-US" dirty="0" smtClean="0"/>
              <a:t>, </a:t>
            </a:r>
            <a:r>
              <a:rPr lang="en-US" dirty="0" err="1" smtClean="0"/>
              <a:t>npm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5. Deliverables</a:t>
            </a:r>
          </a:p>
          <a:p>
            <a:r>
              <a:rPr lang="en-US" dirty="0" smtClean="0"/>
              <a:t>Source code for each module.</a:t>
            </a:r>
          </a:p>
          <a:p>
            <a:r>
              <a:rPr lang="en-US" dirty="0" smtClean="0"/>
              <a:t>Executable files (after compilation/build).</a:t>
            </a:r>
          </a:p>
          <a:p>
            <a:r>
              <a:rPr lang="en-US" dirty="0" smtClean="0"/>
              <a:t>Unit test results.</a:t>
            </a:r>
          </a:p>
          <a:p>
            <a:r>
              <a:rPr lang="en-US" dirty="0" smtClean="0"/>
              <a:t>Developer documentation.</a:t>
            </a:r>
          </a:p>
          <a:p>
            <a:r>
              <a:rPr lang="en-US" b="1" dirty="0" smtClean="0"/>
              <a:t>6. Example for Class</a:t>
            </a:r>
          </a:p>
          <a:p>
            <a:r>
              <a:rPr lang="en-US" b="1" dirty="0" smtClean="0"/>
              <a:t>E-commerce App “Checkout Module”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Code for calculating total price.</a:t>
            </a:r>
          </a:p>
          <a:p>
            <a:pPr lvl="1"/>
            <a:r>
              <a:rPr lang="en-US" dirty="0" smtClean="0"/>
              <a:t>Integration with Payment Gateway API.</a:t>
            </a:r>
          </a:p>
          <a:p>
            <a:pPr lvl="1"/>
            <a:r>
              <a:rPr lang="en-US" dirty="0" smtClean="0"/>
              <a:t>Unit test for verifying discount logic.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Activity: Role-play coder vs tester to show unclear design errors.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34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Objective:</a:t>
            </a:r>
            <a:r>
              <a:rPr lang="en-US" dirty="0" smtClean="0"/>
              <a:t> Ensure the software works as intended, meets requirements, and is free of major defects.</a:t>
            </a:r>
          </a:p>
          <a:p>
            <a:r>
              <a:rPr lang="en-US" b="1" dirty="0" smtClean="0"/>
              <a:t>1. Levels of Testing</a:t>
            </a:r>
          </a:p>
          <a:p>
            <a:r>
              <a:rPr lang="en-US" b="1" dirty="0" smtClean="0"/>
              <a:t>Unit Testing</a:t>
            </a:r>
            <a:endParaRPr lang="en-US" dirty="0" smtClean="0"/>
          </a:p>
          <a:p>
            <a:pPr lvl="1"/>
            <a:r>
              <a:rPr lang="en-US" dirty="0" smtClean="0"/>
              <a:t>Tests </a:t>
            </a:r>
            <a:r>
              <a:rPr lang="en-US" b="1" dirty="0" smtClean="0"/>
              <a:t>individual components</a:t>
            </a:r>
            <a:r>
              <a:rPr lang="en-US" dirty="0" smtClean="0"/>
              <a:t> (functions, classes, modules).</a:t>
            </a:r>
          </a:p>
          <a:p>
            <a:pPr lvl="1"/>
            <a:r>
              <a:rPr lang="en-US" dirty="0" smtClean="0"/>
              <a:t>Example: Checkout module → “</a:t>
            </a:r>
            <a:r>
              <a:rPr lang="en-US" dirty="0" err="1" smtClean="0"/>
              <a:t>ApplyDiscount</a:t>
            </a:r>
            <a:r>
              <a:rPr lang="en-US" dirty="0" smtClean="0"/>
              <a:t>()” function tested separately.</a:t>
            </a:r>
          </a:p>
          <a:p>
            <a:r>
              <a:rPr lang="en-US" b="1" dirty="0" smtClean="0"/>
              <a:t>Integration Testing</a:t>
            </a:r>
            <a:endParaRPr lang="en-US" dirty="0" smtClean="0"/>
          </a:p>
          <a:p>
            <a:pPr lvl="1"/>
            <a:r>
              <a:rPr lang="en-US" dirty="0" smtClean="0"/>
              <a:t>Tests </a:t>
            </a:r>
            <a:r>
              <a:rPr lang="en-US" b="1" dirty="0" smtClean="0"/>
              <a:t>interaction between modules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Example: Checkout + Payment Gateway work correctly together.</a:t>
            </a:r>
          </a:p>
          <a:p>
            <a:r>
              <a:rPr lang="en-US" b="1" dirty="0" smtClean="0"/>
              <a:t>System Testing</a:t>
            </a:r>
            <a:endParaRPr lang="en-US" dirty="0" smtClean="0"/>
          </a:p>
          <a:p>
            <a:pPr lvl="1"/>
            <a:r>
              <a:rPr lang="en-US" dirty="0" smtClean="0"/>
              <a:t>Tests the </a:t>
            </a:r>
            <a:r>
              <a:rPr lang="en-US" b="1" dirty="0" smtClean="0"/>
              <a:t>entire application as a whole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Example: Full e-commerce workflow → search → add to cart → checkout → payment.</a:t>
            </a:r>
          </a:p>
          <a:p>
            <a:r>
              <a:rPr lang="en-US" b="1" dirty="0" smtClean="0"/>
              <a:t>Acceptance Testing (UAT)</a:t>
            </a:r>
            <a:endParaRPr lang="en-US" dirty="0" smtClean="0"/>
          </a:p>
          <a:p>
            <a:pPr lvl="1"/>
            <a:r>
              <a:rPr lang="en-US" dirty="0" smtClean="0"/>
              <a:t>Performed by </a:t>
            </a:r>
            <a:r>
              <a:rPr lang="en-US" b="1" dirty="0" smtClean="0"/>
              <a:t>end-users or clients</a:t>
            </a:r>
            <a:r>
              <a:rPr lang="en-US" dirty="0" smtClean="0"/>
              <a:t> to check if requirements are met.</a:t>
            </a:r>
          </a:p>
          <a:p>
            <a:pPr lvl="1"/>
            <a:r>
              <a:rPr lang="en-US" dirty="0" smtClean="0"/>
              <a:t>Example: Customer verifies that the app correctly applies discount codes.</a:t>
            </a:r>
          </a:p>
          <a:p>
            <a:r>
              <a:rPr lang="en-US" b="1" dirty="0" smtClean="0"/>
              <a:t>2. Types of Testing</a:t>
            </a:r>
          </a:p>
          <a:p>
            <a:r>
              <a:rPr lang="en-US" b="1" dirty="0" smtClean="0"/>
              <a:t>Functional Testing:</a:t>
            </a:r>
            <a:r>
              <a:rPr lang="en-US" dirty="0" smtClean="0"/>
              <a:t> Validates features (login, checkout).</a:t>
            </a:r>
          </a:p>
          <a:p>
            <a:r>
              <a:rPr lang="en-US" b="1" dirty="0" smtClean="0"/>
              <a:t>Non-Functional Testing:</a:t>
            </a:r>
            <a:r>
              <a:rPr lang="en-US" dirty="0" smtClean="0"/>
              <a:t> Checks </a:t>
            </a:r>
            <a:r>
              <a:rPr lang="en-US" b="1" dirty="0" smtClean="0"/>
              <a:t>performance, security, usability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Regression Testing:</a:t>
            </a:r>
            <a:r>
              <a:rPr lang="en-US" dirty="0" smtClean="0"/>
              <a:t> Ensures new changes don’t break old features.</a:t>
            </a:r>
          </a:p>
          <a:p>
            <a:r>
              <a:rPr lang="en-US" b="1" dirty="0" smtClean="0"/>
              <a:t>Smoke Testing:</a:t>
            </a:r>
            <a:r>
              <a:rPr lang="en-US" dirty="0" smtClean="0"/>
              <a:t> Quick test to see if the build is stable enough for further testing.</a:t>
            </a:r>
          </a:p>
          <a:p>
            <a:r>
              <a:rPr lang="en-US" b="1" dirty="0" smtClean="0"/>
              <a:t>3. Example for Students</a:t>
            </a:r>
          </a:p>
          <a:p>
            <a:r>
              <a:rPr lang="en-US" dirty="0" smtClean="0"/>
              <a:t>👉 </a:t>
            </a:r>
            <a:r>
              <a:rPr lang="en-US" i="1" dirty="0" smtClean="0"/>
              <a:t>E-commerce Checkout Module</a:t>
            </a:r>
            <a:endParaRPr lang="en-US" dirty="0" smtClean="0"/>
          </a:p>
          <a:p>
            <a:r>
              <a:rPr lang="en-US" dirty="0" smtClean="0"/>
              <a:t>Unit test: Verify discount logic.</a:t>
            </a:r>
          </a:p>
          <a:p>
            <a:r>
              <a:rPr lang="en-US" dirty="0" smtClean="0"/>
              <a:t>Integration test: Payment Gateway API processes correct amount.</a:t>
            </a:r>
          </a:p>
          <a:p>
            <a:r>
              <a:rPr lang="en-US" dirty="0" smtClean="0"/>
              <a:t>System test: Place an order end-to-end.</a:t>
            </a:r>
          </a:p>
          <a:p>
            <a:r>
              <a:rPr lang="en-US" dirty="0" smtClean="0"/>
              <a:t>Acceptance test: Client checks if UI and workflow match requirements.</a:t>
            </a:r>
          </a:p>
          <a:p>
            <a:r>
              <a:rPr lang="en-US" b="1" dirty="0" smtClean="0"/>
              <a:t>4. Tools for Testing</a:t>
            </a:r>
          </a:p>
          <a:p>
            <a:r>
              <a:rPr lang="en-US" b="1" dirty="0" smtClean="0"/>
              <a:t>JUnit, </a:t>
            </a:r>
            <a:r>
              <a:rPr lang="en-US" b="1" dirty="0" err="1" smtClean="0"/>
              <a:t>NUnit</a:t>
            </a:r>
            <a:r>
              <a:rPr lang="en-US" dirty="0" smtClean="0"/>
              <a:t> → Unit testing</a:t>
            </a:r>
          </a:p>
          <a:p>
            <a:r>
              <a:rPr lang="en-US" b="1" dirty="0" smtClean="0"/>
              <a:t>Selenium</a:t>
            </a:r>
            <a:r>
              <a:rPr lang="en-US" dirty="0" smtClean="0"/>
              <a:t> → Automated UI testing</a:t>
            </a:r>
          </a:p>
          <a:p>
            <a:r>
              <a:rPr lang="en-US" b="1" dirty="0" smtClean="0"/>
              <a:t>Postman</a:t>
            </a:r>
            <a:r>
              <a:rPr lang="en-US" dirty="0" smtClean="0"/>
              <a:t> → API testing</a:t>
            </a:r>
          </a:p>
          <a:p>
            <a:r>
              <a:rPr lang="en-US" b="1" dirty="0" err="1" smtClean="0"/>
              <a:t>JMeter</a:t>
            </a:r>
            <a:r>
              <a:rPr lang="en-US" dirty="0" smtClean="0"/>
              <a:t> → Performance testing</a:t>
            </a:r>
          </a:p>
          <a:p>
            <a:r>
              <a:rPr lang="en-US" dirty="0" smtClean="0"/>
              <a:t>💡 </a:t>
            </a:r>
            <a:r>
              <a:rPr lang="en-US" b="1" dirty="0" smtClean="0"/>
              <a:t>Class Activity Question: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>“If a bug is found during system testing, should it be fixed immediately, or logged and prioritized? Why?”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Interactive Poll: Release early with bugs or late but stable?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90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Option A: Release Early (with some bugs)</a:t>
            </a:r>
          </a:p>
          <a:p>
            <a:r>
              <a:rPr lang="en-US" dirty="0" smtClean="0"/>
              <a:t>✅ Users get new features quickly.</a:t>
            </a:r>
          </a:p>
          <a:p>
            <a:r>
              <a:rPr lang="en-US" dirty="0" smtClean="0"/>
              <a:t>✅ Faster market feedback.</a:t>
            </a:r>
          </a:p>
          <a:p>
            <a:r>
              <a:rPr lang="en-US" dirty="0" smtClean="0"/>
              <a:t>❌ Risk of damaging reputation.</a:t>
            </a:r>
          </a:p>
          <a:p>
            <a:r>
              <a:rPr lang="en-US" dirty="0" smtClean="0"/>
              <a:t>❌ More maintenance patches later.</a:t>
            </a:r>
          </a:p>
          <a:p>
            <a:r>
              <a:rPr lang="en-US" b="1" dirty="0" smtClean="0"/>
              <a:t>Option B: Release Late (stable)</a:t>
            </a:r>
          </a:p>
          <a:p>
            <a:r>
              <a:rPr lang="en-US" dirty="0" smtClean="0"/>
              <a:t>✅ Higher quality, fewer bugs.</a:t>
            </a:r>
          </a:p>
          <a:p>
            <a:r>
              <a:rPr lang="en-US" dirty="0" smtClean="0"/>
              <a:t>✅ Builds trust with customers.</a:t>
            </a:r>
          </a:p>
          <a:p>
            <a:r>
              <a:rPr lang="en-US" dirty="0" smtClean="0"/>
              <a:t>❌ Slower time-to-market.</a:t>
            </a:r>
          </a:p>
          <a:p>
            <a:r>
              <a:rPr lang="en-US" dirty="0" smtClean="0"/>
              <a:t>❌ May miss competitive opportunities.</a:t>
            </a:r>
          </a:p>
          <a:p>
            <a:endParaRPr lang="en-US" dirty="0" smtClean="0"/>
          </a:p>
          <a:p>
            <a:r>
              <a:rPr lang="en-US" dirty="0" smtClean="0"/>
              <a:t>Conclude with:</a:t>
            </a:r>
          </a:p>
          <a:p>
            <a:pPr lvl="1"/>
            <a:r>
              <a:rPr lang="en-US" i="1" dirty="0" smtClean="0"/>
              <a:t>Agile companies (like Facebook, Google) often release early and patch later.</a:t>
            </a:r>
            <a:endParaRPr lang="en-US" dirty="0" smtClean="0"/>
          </a:p>
          <a:p>
            <a:pPr lvl="1"/>
            <a:r>
              <a:rPr lang="en-US" i="1" dirty="0" smtClean="0"/>
              <a:t>Critical systems (like banking, medical software) must release stable.</a:t>
            </a:r>
            <a:endParaRPr lang="en-US" dirty="0" smtClean="0"/>
          </a:p>
          <a:p>
            <a:r>
              <a:rPr lang="en-US" dirty="0" smtClean="0"/>
              <a:t>💡 </a:t>
            </a:r>
            <a:r>
              <a:rPr lang="en-US" b="1" dirty="0" smtClean="0"/>
              <a:t>Teacher Tip:</a:t>
            </a:r>
            <a:r>
              <a:rPr lang="en-US" dirty="0" smtClean="0"/>
              <a:t> Tie this back to </a:t>
            </a:r>
            <a:r>
              <a:rPr lang="en-US" b="1" dirty="0" smtClean="0"/>
              <a:t>CI/CD Pipelines</a:t>
            </a:r>
            <a:r>
              <a:rPr lang="en-US" dirty="0" smtClean="0"/>
              <a:t> → companies can release early </a:t>
            </a:r>
            <a:r>
              <a:rPr lang="en-US" b="1" dirty="0" smtClean="0"/>
              <a:t>because pipelines ensure bugs are caught and patched quickly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01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Core Idea</a:t>
            </a:r>
          </a:p>
          <a:p>
            <a:r>
              <a:rPr lang="en-US" dirty="0" smtClean="0"/>
              <a:t>Deployment is the process of </a:t>
            </a:r>
            <a:r>
              <a:rPr lang="en-US" b="1" dirty="0" smtClean="0"/>
              <a:t>releasing the developed and tested software into the production environment</a:t>
            </a:r>
            <a:r>
              <a:rPr lang="en-US" dirty="0" smtClean="0"/>
              <a:t> so end-users can use it.</a:t>
            </a:r>
          </a:p>
          <a:p>
            <a:r>
              <a:rPr lang="en-US" b="1" dirty="0" smtClean="0"/>
              <a:t>Key Points to Explain</a:t>
            </a:r>
          </a:p>
          <a:p>
            <a:r>
              <a:rPr lang="en-US" b="1" dirty="0" smtClean="0"/>
              <a:t>Definition:</a:t>
            </a:r>
            <a:endParaRPr lang="en-US" dirty="0" smtClean="0"/>
          </a:p>
          <a:p>
            <a:pPr lvl="1"/>
            <a:r>
              <a:rPr lang="en-US" dirty="0" smtClean="0"/>
              <a:t>Deployment = delivering the software to actual users.</a:t>
            </a:r>
          </a:p>
          <a:p>
            <a:pPr lvl="1"/>
            <a:r>
              <a:rPr lang="en-US" dirty="0" smtClean="0"/>
              <a:t>Involves setup, configuration, data migration, and training.</a:t>
            </a:r>
          </a:p>
          <a:p>
            <a:r>
              <a:rPr lang="en-US" b="1" dirty="0" smtClean="0"/>
              <a:t>Strategies for Deployment:</a:t>
            </a:r>
            <a:endParaRPr lang="en-US" dirty="0" smtClean="0"/>
          </a:p>
          <a:p>
            <a:pPr lvl="1"/>
            <a:r>
              <a:rPr lang="en-US" b="1" dirty="0" smtClean="0"/>
              <a:t>Direct Cutover (Big Bang):</a:t>
            </a:r>
            <a:endParaRPr lang="en-US" dirty="0" smtClean="0"/>
          </a:p>
          <a:p>
            <a:pPr lvl="2"/>
            <a:r>
              <a:rPr lang="en-US" dirty="0" smtClean="0"/>
              <a:t>Old system is stopped, new system is started immediately.</a:t>
            </a:r>
          </a:p>
          <a:p>
            <a:pPr lvl="2"/>
            <a:r>
              <a:rPr lang="en-US" i="1" dirty="0" smtClean="0"/>
              <a:t>Advantage:</a:t>
            </a:r>
            <a:r>
              <a:rPr lang="en-US" dirty="0" smtClean="0"/>
              <a:t> Quick and simple.</a:t>
            </a:r>
          </a:p>
          <a:p>
            <a:pPr lvl="2"/>
            <a:r>
              <a:rPr lang="en-US" i="1" dirty="0" smtClean="0"/>
              <a:t>Disadvantage:</a:t>
            </a:r>
            <a:r>
              <a:rPr lang="en-US" dirty="0" smtClean="0"/>
              <a:t> High risk – if it fails, no backup.</a:t>
            </a:r>
          </a:p>
          <a:p>
            <a:pPr lvl="1"/>
            <a:r>
              <a:rPr lang="en-US" b="1" dirty="0" smtClean="0"/>
              <a:t>Parallel Running:</a:t>
            </a:r>
            <a:endParaRPr lang="en-US" dirty="0" smtClean="0"/>
          </a:p>
          <a:p>
            <a:pPr lvl="2"/>
            <a:r>
              <a:rPr lang="en-US" dirty="0" smtClean="0"/>
              <a:t>Old and new systems run together for some time.</a:t>
            </a:r>
          </a:p>
          <a:p>
            <a:pPr lvl="2"/>
            <a:r>
              <a:rPr lang="en-US" i="1" dirty="0" smtClean="0"/>
              <a:t>Advantage:</a:t>
            </a:r>
            <a:r>
              <a:rPr lang="en-US" dirty="0" smtClean="0"/>
              <a:t> Safe, easy to compare results.</a:t>
            </a:r>
          </a:p>
          <a:p>
            <a:pPr lvl="2"/>
            <a:r>
              <a:rPr lang="en-US" i="1" dirty="0" smtClean="0"/>
              <a:t>Disadvantage:</a:t>
            </a:r>
            <a:r>
              <a:rPr lang="en-US" dirty="0" smtClean="0"/>
              <a:t> Expensive, time-consuming.</a:t>
            </a:r>
          </a:p>
          <a:p>
            <a:pPr lvl="1"/>
            <a:r>
              <a:rPr lang="en-US" b="1" dirty="0" smtClean="0"/>
              <a:t>Phased Rollout:</a:t>
            </a:r>
            <a:endParaRPr lang="en-US" dirty="0" smtClean="0"/>
          </a:p>
          <a:p>
            <a:pPr lvl="2"/>
            <a:r>
              <a:rPr lang="en-US" dirty="0" smtClean="0"/>
              <a:t>New system is deployed in stages (e.g., one module or one branch at a time).</a:t>
            </a:r>
          </a:p>
          <a:p>
            <a:pPr lvl="2"/>
            <a:r>
              <a:rPr lang="en-US" i="1" dirty="0" smtClean="0"/>
              <a:t>Advantage:</a:t>
            </a:r>
            <a:r>
              <a:rPr lang="en-US" dirty="0" smtClean="0"/>
              <a:t> Lower risk, gradual adoption.</a:t>
            </a:r>
          </a:p>
          <a:p>
            <a:pPr lvl="2"/>
            <a:r>
              <a:rPr lang="en-US" i="1" dirty="0" smtClean="0"/>
              <a:t>Disadvantage:</a:t>
            </a:r>
            <a:r>
              <a:rPr lang="en-US" dirty="0" smtClean="0"/>
              <a:t> Longer implementation time.</a:t>
            </a:r>
          </a:p>
          <a:p>
            <a:r>
              <a:rPr lang="en-US" b="1" dirty="0" smtClean="0"/>
              <a:t>Deliverables:</a:t>
            </a:r>
            <a:endParaRPr lang="en-US" dirty="0" smtClean="0"/>
          </a:p>
          <a:p>
            <a:pPr lvl="1"/>
            <a:r>
              <a:rPr lang="en-US" dirty="0" smtClean="0"/>
              <a:t>Installed software</a:t>
            </a:r>
          </a:p>
          <a:p>
            <a:pPr lvl="1"/>
            <a:r>
              <a:rPr lang="en-US" dirty="0" smtClean="0"/>
              <a:t>User manuals</a:t>
            </a:r>
          </a:p>
          <a:p>
            <a:pPr lvl="1"/>
            <a:r>
              <a:rPr lang="en-US" dirty="0" smtClean="0"/>
              <a:t>Training sessions</a:t>
            </a:r>
          </a:p>
          <a:p>
            <a:pPr lvl="1"/>
            <a:r>
              <a:rPr lang="en-US" dirty="0" smtClean="0"/>
              <a:t>Post-deployment support plan</a:t>
            </a:r>
          </a:p>
          <a:p>
            <a:r>
              <a:rPr lang="en-US" b="1" dirty="0" smtClean="0"/>
              <a:t>Interactive Activity for Students</a:t>
            </a:r>
          </a:p>
          <a:p>
            <a:r>
              <a:rPr lang="en-US" b="1" dirty="0" smtClean="0"/>
              <a:t>Scenario Question:</a:t>
            </a:r>
            <a:endParaRPr lang="en-US" dirty="0" smtClean="0"/>
          </a:p>
          <a:p>
            <a:pPr lvl="1"/>
            <a:r>
              <a:rPr lang="en-US" i="1" dirty="0" smtClean="0"/>
              <a:t>“Imagine we are deploying a hospital management system. Which strategy would you choose and why?”</a:t>
            </a:r>
            <a:endParaRPr lang="en-US" dirty="0" smtClean="0"/>
          </a:p>
          <a:p>
            <a:pPr lvl="1"/>
            <a:r>
              <a:rPr lang="en-US" dirty="0" smtClean="0"/>
              <a:t>Students should weigh risks (critical system = patient safety) vs. cost/time.</a:t>
            </a:r>
          </a:p>
          <a:p>
            <a:r>
              <a:rPr lang="en-US" b="1" dirty="0" smtClean="0"/>
              <a:t>Expected Responses:</a:t>
            </a:r>
            <a:endParaRPr lang="en-US" dirty="0" smtClean="0"/>
          </a:p>
          <a:p>
            <a:pPr lvl="1"/>
            <a:r>
              <a:rPr lang="en-US" dirty="0" smtClean="0"/>
              <a:t>Parallel running or phased rollout are safer than direct cutover.</a:t>
            </a:r>
          </a:p>
          <a:p>
            <a:r>
              <a:rPr lang="en-US" b="1" dirty="0" smtClean="0"/>
              <a:t>Visual Suggestion for Slide 8</a:t>
            </a:r>
          </a:p>
          <a:p>
            <a:r>
              <a:rPr lang="en-US" dirty="0" smtClean="0"/>
              <a:t>A comparison table of the three strategies with </a:t>
            </a:r>
            <a:r>
              <a:rPr lang="en-US" b="1" dirty="0" smtClean="0"/>
              <a:t>pros &amp; cons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Or an infographic showing three paths branching from “Deployment.”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03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Prompt: Which apps on your phone get frequent updates?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70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Interactive Q: What if WhatsApp never updated after release?</a:t>
            </a:r>
          </a:p>
          <a:p>
            <a:r>
              <a:rPr lang="en-US" b="1" dirty="0" smtClean="0"/>
              <a:t>Lehman’s Laws: “Systems adapt or die”</a:t>
            </a:r>
          </a:p>
          <a:p>
            <a:r>
              <a:rPr lang="en-US" b="1" dirty="0" smtClean="0"/>
              <a:t>Core Idea:</a:t>
            </a:r>
          </a:p>
          <a:p>
            <a:r>
              <a:rPr lang="en-US" dirty="0" smtClean="0"/>
              <a:t>Software is never “done.”</a:t>
            </a:r>
          </a:p>
          <a:p>
            <a:r>
              <a:rPr lang="en-US" dirty="0" smtClean="0"/>
              <a:t>If it doesn’t evolve → it becomes obsolete.</a:t>
            </a:r>
          </a:p>
          <a:p>
            <a:r>
              <a:rPr lang="en-US" dirty="0" smtClean="0"/>
              <a:t>Changing needs, hardware, users, and competition force software to adapt.</a:t>
            </a:r>
          </a:p>
          <a:p>
            <a:r>
              <a:rPr lang="en-US" b="1" dirty="0" smtClean="0"/>
              <a:t>Examples for Class</a:t>
            </a:r>
          </a:p>
          <a:p>
            <a:r>
              <a:rPr lang="en-US" b="1" dirty="0" smtClean="0"/>
              <a:t>Windows OS</a:t>
            </a:r>
            <a:endParaRPr lang="en-US" dirty="0" smtClean="0"/>
          </a:p>
          <a:p>
            <a:pPr lvl="1"/>
            <a:r>
              <a:rPr lang="en-US" dirty="0" smtClean="0"/>
              <a:t>Windows 95 → XP → 7 → 10 → 11.</a:t>
            </a:r>
          </a:p>
          <a:p>
            <a:pPr lvl="1"/>
            <a:r>
              <a:rPr lang="en-US" dirty="0" smtClean="0"/>
              <a:t>Microsoft keeps updating because hardware, user needs, and security threats evolve.</a:t>
            </a:r>
          </a:p>
          <a:p>
            <a:pPr lvl="1"/>
            <a:r>
              <a:rPr lang="en-US" dirty="0" smtClean="0"/>
              <a:t>If Windows stopped updating after XP, it would have “died” in the market.</a:t>
            </a:r>
          </a:p>
          <a:p>
            <a:r>
              <a:rPr lang="en-US" b="1" dirty="0" smtClean="0"/>
              <a:t>WhatsApp</a:t>
            </a:r>
            <a:endParaRPr lang="en-US" dirty="0" smtClean="0"/>
          </a:p>
          <a:p>
            <a:pPr lvl="1"/>
            <a:r>
              <a:rPr lang="en-US" dirty="0" smtClean="0"/>
              <a:t>Started as simple messaging.</a:t>
            </a:r>
          </a:p>
          <a:p>
            <a:pPr lvl="1"/>
            <a:r>
              <a:rPr lang="en-US" dirty="0" smtClean="0"/>
              <a:t>Evolved to voice calls, video calls, WhatsApp Web, disappearing messages, payments.</a:t>
            </a:r>
          </a:p>
          <a:p>
            <a:pPr lvl="1"/>
            <a:r>
              <a:rPr lang="en-US" dirty="0" smtClean="0"/>
              <a:t>Without adapting, it would have lost users to Telegram or Signal.</a:t>
            </a:r>
          </a:p>
          <a:p>
            <a:r>
              <a:rPr lang="en-US" b="1" dirty="0" smtClean="0"/>
              <a:t>Android Versions</a:t>
            </a:r>
            <a:endParaRPr lang="en-US" dirty="0" smtClean="0"/>
          </a:p>
          <a:p>
            <a:pPr lvl="1"/>
            <a:r>
              <a:rPr lang="en-US" dirty="0" smtClean="0"/>
              <a:t>Cupcake → KitKat → Lollipop → Oreo → Android 14+.</a:t>
            </a:r>
          </a:p>
          <a:p>
            <a:pPr lvl="1"/>
            <a:r>
              <a:rPr lang="en-US" dirty="0" smtClean="0"/>
              <a:t>Each release adapts to new </a:t>
            </a:r>
            <a:r>
              <a:rPr lang="en-US" b="1" dirty="0" smtClean="0"/>
              <a:t>mobile hardware</a:t>
            </a:r>
            <a:r>
              <a:rPr lang="en-US" dirty="0" smtClean="0"/>
              <a:t> (foldable phones, 5G) and </a:t>
            </a:r>
            <a:r>
              <a:rPr lang="en-US" b="1" dirty="0" smtClean="0"/>
              <a:t>security needs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If Android didn’t evolve, Apple iOS would dominate completely.</a:t>
            </a:r>
          </a:p>
          <a:p>
            <a:endParaRPr lang="en-US" dirty="0" smtClean="0"/>
          </a:p>
          <a:p>
            <a:r>
              <a:rPr lang="en-US" b="1" dirty="0" smtClean="0"/>
              <a:t>Interactive Question for Students</a:t>
            </a:r>
          </a:p>
          <a:p>
            <a:r>
              <a:rPr lang="en-US" dirty="0" smtClean="0"/>
              <a:t>👉 </a:t>
            </a:r>
            <a:r>
              <a:rPr lang="en-US" i="1" dirty="0" smtClean="0"/>
              <a:t>“Can you think of an app or system you stopped using because it didn’t evolve?”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(Expected answers: Orkut, Yahoo Messenger, Windows Phone, etc.)</a:t>
            </a:r>
          </a:p>
          <a:p>
            <a:endParaRPr lang="en-US" dirty="0" smtClean="0"/>
          </a:p>
          <a:p>
            <a:r>
              <a:rPr lang="en-US" dirty="0" smtClean="0"/>
              <a:t>💡 Teacher Tip: End with the takeaway —</a:t>
            </a:r>
            <a:br>
              <a:rPr lang="en-US" dirty="0" smtClean="0"/>
            </a:br>
            <a:r>
              <a:rPr lang="en-US" b="1" dirty="0" smtClean="0"/>
              <a:t>“Adaptation is survival in software. If a system doesn’t evolve, it dies.”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096683-B670-4675-AF97-D717048F56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27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92091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4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8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9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9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73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3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3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71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23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24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51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48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11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0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Lecture 2: SDLC </a:t>
            </a:r>
            <a:r>
              <a:rPr dirty="0" smtClean="0"/>
              <a:t>Phases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Advanced Software </a:t>
            </a:r>
            <a:r>
              <a:rPr dirty="0" smtClean="0"/>
              <a:t>Engineering</a:t>
            </a:r>
            <a:endParaRPr lang="en-US" dirty="0" smtClean="0"/>
          </a:p>
          <a:p>
            <a:r>
              <a:rPr lang="en-US" dirty="0" smtClean="0"/>
              <a:t>							</a:t>
            </a:r>
          </a:p>
          <a:p>
            <a:r>
              <a:rPr lang="en-US" dirty="0"/>
              <a:t>	</a:t>
            </a:r>
            <a:r>
              <a:rPr lang="en-US" dirty="0" smtClean="0"/>
              <a:t>						Shehla Saeed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of Lecture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What is Software Engineering?</a:t>
            </a:r>
          </a:p>
          <a:p>
            <a:r>
              <a:rPr dirty="0"/>
              <a:t>- Software Process &amp; SDLC overview</a:t>
            </a:r>
          </a:p>
          <a:p>
            <a:r>
              <a:rPr dirty="0"/>
              <a:t>- Attributes of good software</a:t>
            </a:r>
          </a:p>
          <a:p>
            <a:r>
              <a:rPr dirty="0"/>
              <a:t>- Reasons for software failure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Definition: A framework of structured phases to develop, deploy, and maintain software.</a:t>
            </a:r>
          </a:p>
          <a:p>
            <a:r>
              <a:rPr dirty="0"/>
              <a:t>Purpose:</a:t>
            </a:r>
          </a:p>
          <a:p>
            <a:r>
              <a:rPr dirty="0"/>
              <a:t>- Ensures systematic development</a:t>
            </a:r>
          </a:p>
          <a:p>
            <a:r>
              <a:rPr dirty="0"/>
              <a:t>- Reduces risks</a:t>
            </a:r>
          </a:p>
          <a:p>
            <a:r>
              <a:rPr dirty="0"/>
              <a:t>- Improves quality and predictability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of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Requirement </a:t>
            </a:r>
            <a:r>
              <a:rPr lang="en-US" dirty="0" smtClean="0"/>
              <a:t>Engineering</a:t>
            </a:r>
            <a:endParaRPr dirty="0"/>
          </a:p>
          <a:p>
            <a:r>
              <a:rPr dirty="0"/>
              <a:t>- System Design</a:t>
            </a:r>
          </a:p>
          <a:p>
            <a:r>
              <a:rPr dirty="0"/>
              <a:t>- Implementation (Coding)</a:t>
            </a:r>
          </a:p>
          <a:p>
            <a:r>
              <a:rPr dirty="0"/>
              <a:t>- Testing</a:t>
            </a:r>
          </a:p>
          <a:p>
            <a:r>
              <a:rPr dirty="0"/>
              <a:t>- Deployment</a:t>
            </a:r>
          </a:p>
          <a:p>
            <a:r>
              <a:rPr dirty="0"/>
              <a:t>- 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Requirement </a:t>
            </a:r>
            <a:r>
              <a:rPr lang="en-US" dirty="0" smtClean="0"/>
              <a:t>Engineering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process of </a:t>
            </a:r>
            <a:r>
              <a:rPr lang="en-US" b="1" dirty="0"/>
              <a:t>gathering, analyzing, and documenting</a:t>
            </a:r>
            <a:r>
              <a:rPr lang="en-US" dirty="0"/>
              <a:t> </a:t>
            </a:r>
            <a:r>
              <a:rPr lang="en-US" dirty="0" smtClean="0"/>
              <a:t>requirements</a:t>
            </a:r>
            <a:r>
              <a:rPr dirty="0" smtClean="0"/>
              <a:t> </a:t>
            </a:r>
            <a:endParaRPr lang="en-US" dirty="0" smtClean="0"/>
          </a:p>
          <a:p>
            <a:r>
              <a:rPr dirty="0" smtClean="0"/>
              <a:t>Gather </a:t>
            </a:r>
            <a:r>
              <a:rPr dirty="0"/>
              <a:t>functional &amp; non-functional requirements</a:t>
            </a:r>
          </a:p>
          <a:p>
            <a:r>
              <a:rPr dirty="0"/>
              <a:t>- Techniques: Interviews, surveys, use cases</a:t>
            </a:r>
          </a:p>
          <a:p>
            <a:r>
              <a:rPr dirty="0"/>
              <a:t>- Deliverable: Software Requirement Specification (SRS</a:t>
            </a:r>
            <a:r>
              <a:rPr dirty="0" smtClean="0"/>
              <a:t>)</a:t>
            </a:r>
            <a:endParaRPr lang="en-US" dirty="0" smtClean="0"/>
          </a:p>
          <a:p>
            <a:r>
              <a:rPr lang="en-US" b="1" dirty="0" smtClean="0"/>
              <a:t> Challenges</a:t>
            </a:r>
          </a:p>
          <a:p>
            <a:pPr lvl="1"/>
            <a:r>
              <a:rPr lang="en-US" dirty="0"/>
              <a:t>Miscommunication between stakeholders and developers.</a:t>
            </a:r>
          </a:p>
          <a:p>
            <a:pPr lvl="1"/>
            <a:r>
              <a:rPr lang="en-US" dirty="0"/>
              <a:t>Changing requirements (“scope creep”).</a:t>
            </a:r>
          </a:p>
          <a:p>
            <a:pPr lvl="1"/>
            <a:r>
              <a:rPr lang="en-US" dirty="0"/>
              <a:t>Ambiguous or incomplete requirements.</a:t>
            </a:r>
          </a:p>
          <a:p>
            <a:endParaRPr lang="en-US" b="1" dirty="0" smtClean="0"/>
          </a:p>
          <a:p>
            <a:endParaRPr lang="en-US" b="1"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High-Level Design (architecture, modules)</a:t>
            </a:r>
          </a:p>
          <a:p>
            <a:r>
              <a:rPr dirty="0"/>
              <a:t>- Low-Level Design (algorithms, database schema, UI)</a:t>
            </a:r>
          </a:p>
          <a:p>
            <a:r>
              <a:rPr dirty="0"/>
              <a:t>- Tools: UML diagrams, ER models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(Coding)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- Translate design into working code</a:t>
            </a:r>
          </a:p>
          <a:p>
            <a:r>
              <a:rPr dirty="0"/>
              <a:t>- Use coding standards, version control</a:t>
            </a:r>
          </a:p>
          <a:p>
            <a:r>
              <a:rPr dirty="0"/>
              <a:t>- </a:t>
            </a:r>
            <a:r>
              <a:rPr dirty="0" smtClean="0"/>
              <a:t>Tools</a:t>
            </a:r>
            <a:r>
              <a:rPr lang="en-US" dirty="0" smtClean="0"/>
              <a:t>&amp; Technologies</a:t>
            </a:r>
            <a:r>
              <a:rPr dirty="0" smtClean="0"/>
              <a:t>:</a:t>
            </a:r>
            <a:endParaRPr lang="en-US" dirty="0"/>
          </a:p>
          <a:p>
            <a:pPr lvl="1"/>
            <a:r>
              <a:rPr lang="en-US" dirty="0" smtClean="0"/>
              <a:t>Programming languages</a:t>
            </a:r>
          </a:p>
          <a:p>
            <a:pPr lvl="1"/>
            <a:r>
              <a:rPr dirty="0" smtClean="0"/>
              <a:t> </a:t>
            </a:r>
            <a:r>
              <a:rPr lang="en-US" dirty="0" err="1"/>
              <a:t>verion</a:t>
            </a:r>
            <a:r>
              <a:rPr lang="en-US" dirty="0"/>
              <a:t> </a:t>
            </a:r>
            <a:r>
              <a:rPr lang="en-US" dirty="0" smtClean="0"/>
              <a:t>control: </a:t>
            </a:r>
            <a:r>
              <a:rPr dirty="0" err="1" smtClean="0"/>
              <a:t>Git</a:t>
            </a:r>
            <a:r>
              <a:rPr lang="en-US" dirty="0" smtClean="0"/>
              <a:t> </a:t>
            </a:r>
          </a:p>
          <a:p>
            <a:pPr lvl="1"/>
            <a:r>
              <a:rPr dirty="0" smtClean="0"/>
              <a:t>IDEs</a:t>
            </a:r>
            <a:r>
              <a:rPr lang="en-US" dirty="0" smtClean="0"/>
              <a:t> :Eclipse </a:t>
            </a:r>
            <a:r>
              <a:rPr dirty="0" smtClean="0"/>
              <a:t>,</a:t>
            </a:r>
            <a:r>
              <a:rPr lang="en-US" dirty="0" smtClean="0"/>
              <a:t>VS code, </a:t>
            </a:r>
            <a:r>
              <a:rPr lang="en-US" dirty="0" err="1" smtClean="0"/>
              <a:t>pyCharm</a:t>
            </a:r>
            <a:endParaRPr lang="en-US" dirty="0" smtClean="0"/>
          </a:p>
          <a:p>
            <a:pPr lvl="1"/>
            <a:r>
              <a:rPr dirty="0" smtClean="0"/>
              <a:t> </a:t>
            </a:r>
            <a:r>
              <a:rPr dirty="0"/>
              <a:t>CI/CD pipelines</a:t>
            </a:r>
          </a:p>
          <a:p>
            <a:r>
              <a:rPr lang="en-US" dirty="0"/>
              <a:t>Goal: Deliver </a:t>
            </a:r>
            <a:r>
              <a:rPr lang="en-US" b="1" dirty="0"/>
              <a:t>working software modules</a:t>
            </a:r>
            <a:r>
              <a:rPr lang="en-US" dirty="0"/>
              <a:t> that meet the design and requirements.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Unit Testing → components</a:t>
            </a:r>
          </a:p>
          <a:p>
            <a:r>
              <a:rPr dirty="0"/>
              <a:t>- Integration Testing → modules</a:t>
            </a:r>
          </a:p>
          <a:p>
            <a:r>
              <a:rPr dirty="0"/>
              <a:t>- System Testing → entire system</a:t>
            </a:r>
          </a:p>
          <a:p>
            <a:r>
              <a:rPr dirty="0"/>
              <a:t>- Acceptance Testing → customer validation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“If you were leading a software project, would you prefer to release the product early (with some known bugs) or release it late but fully stable?”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10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- Deliver software to users</a:t>
            </a:r>
          </a:p>
          <a:p>
            <a:r>
              <a:t>- Strategies:</a:t>
            </a:r>
          </a:p>
          <a:p>
            <a:r>
              <a:t>   * Direct Cutover: quick but risky</a:t>
            </a:r>
          </a:p>
          <a:p>
            <a:r>
              <a:t>   * Parallel Running: safe but expensive</a:t>
            </a:r>
          </a:p>
          <a:p>
            <a:r>
              <a:t>   * Phased Rollout: gradual, lower risk</a:t>
            </a:r>
          </a:p>
          <a:p>
            <a:r>
              <a:t>- Deliverables: Installed software, manuals, training</a:t>
            </a:r>
          </a:p>
          <a:p>
            <a:endParaRPr/>
          </a:p>
          <a:p>
            <a:r>
              <a:t>Scenario: Which strategy is safest for hospital software?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Activities after deployment</a:t>
            </a:r>
          </a:p>
          <a:p>
            <a:r>
              <a:rPr dirty="0"/>
              <a:t>- Types:</a:t>
            </a:r>
          </a:p>
          <a:p>
            <a:r>
              <a:rPr dirty="0"/>
              <a:t>   * Corrective: Fix errors</a:t>
            </a:r>
          </a:p>
          <a:p>
            <a:r>
              <a:rPr dirty="0"/>
              <a:t>   * Adaptive: Adjust to new environments</a:t>
            </a:r>
          </a:p>
          <a:p>
            <a:r>
              <a:rPr dirty="0"/>
              <a:t>   * Perfective: Improve features/performance</a:t>
            </a:r>
          </a:p>
          <a:p>
            <a:r>
              <a:rPr dirty="0"/>
              <a:t>   * Preventive: Avoid future risks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Software must evolve or it becomes obsolete</a:t>
            </a:r>
          </a:p>
          <a:p>
            <a:r>
              <a:rPr dirty="0"/>
              <a:t>- Lehman’s Laws: systems adapt or die</a:t>
            </a:r>
          </a:p>
          <a:p>
            <a:r>
              <a:rPr dirty="0"/>
              <a:t>- Examples: Windows OS, WhatsApp, Android versions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SDLC = structured software development approach</a:t>
            </a:r>
          </a:p>
          <a:p>
            <a:r>
              <a:t>- Each phase produces deliverables</a:t>
            </a:r>
          </a:p>
          <a:p>
            <a:r>
              <a:t>- Maintenance &amp; evolution are integral, not optional</a:t>
            </a:r>
          </a:p>
          <a:p>
            <a:r>
              <a:t>- Software is a living product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Which SDLC phase defines 'what' the system should do?</a:t>
            </a:r>
          </a:p>
          <a:p>
            <a:r>
              <a:t>2. Which phase ensures the system works correctly?</a:t>
            </a:r>
          </a:p>
          <a:p>
            <a:r>
              <a:t>3. Maintenance is optional (T/F).</a:t>
            </a:r>
          </a:p>
          <a:p>
            <a:r>
              <a:t>4. Deployment can happen in phases (T/F).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632</TotalTime>
  <Words>2125</Words>
  <Application>Microsoft Office PowerPoint</Application>
  <PresentationFormat>On-screen Show (4:3)</PresentationFormat>
  <Paragraphs>299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Corbel</vt:lpstr>
      <vt:lpstr>Parallax</vt:lpstr>
      <vt:lpstr>Lecture 2: SDLC Phases</vt:lpstr>
      <vt:lpstr>Recap of Lecture 1</vt:lpstr>
      <vt:lpstr>Introduction to SDLC</vt:lpstr>
      <vt:lpstr>Phases of SDLC</vt:lpstr>
      <vt:lpstr>Requirement Engineering</vt:lpstr>
      <vt:lpstr>System Design</vt:lpstr>
      <vt:lpstr>Implementation (Coding)</vt:lpstr>
      <vt:lpstr>Testing</vt:lpstr>
      <vt:lpstr>Question:</vt:lpstr>
      <vt:lpstr>Deployment</vt:lpstr>
      <vt:lpstr>Maintenance</vt:lpstr>
      <vt:lpstr>Software Evolution</vt:lpstr>
      <vt:lpstr>Summary</vt:lpstr>
      <vt:lpstr>Quick Quiz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SDLC Phases &amp; Software Maintenance/Evolution</dc:title>
  <dc:subject/>
  <dc:creator/>
  <cp:keywords/>
  <dc:description>generated using python-pptx</dc:description>
  <cp:lastModifiedBy>shehla saeed</cp:lastModifiedBy>
  <cp:revision>15</cp:revision>
  <dcterms:created xsi:type="dcterms:W3CDTF">2013-01-27T09:14:16Z</dcterms:created>
  <dcterms:modified xsi:type="dcterms:W3CDTF">2026-03-06T11:20:55Z</dcterms:modified>
  <cp:category/>
</cp:coreProperties>
</file>
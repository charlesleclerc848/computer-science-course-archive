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7"/>
  </p:notesMasterIdLst>
  <p:sldIdLst>
    <p:sldId id="256" r:id="rId2"/>
    <p:sldId id="284" r:id="rId3"/>
    <p:sldId id="285" r:id="rId4"/>
    <p:sldId id="286" r:id="rId5"/>
    <p:sldId id="257" r:id="rId6"/>
    <p:sldId id="278" r:id="rId7"/>
    <p:sldId id="287" r:id="rId8"/>
    <p:sldId id="288" r:id="rId9"/>
    <p:sldId id="280" r:id="rId10"/>
    <p:sldId id="289" r:id="rId11"/>
    <p:sldId id="290" r:id="rId12"/>
    <p:sldId id="291" r:id="rId13"/>
    <p:sldId id="265" r:id="rId14"/>
    <p:sldId id="266" r:id="rId15"/>
    <p:sldId id="267" r:id="rId16"/>
    <p:sldId id="273" r:id="rId17"/>
    <p:sldId id="268" r:id="rId18"/>
    <p:sldId id="269" r:id="rId19"/>
    <p:sldId id="275" r:id="rId20"/>
    <p:sldId id="270" r:id="rId21"/>
    <p:sldId id="283" r:id="rId22"/>
    <p:sldId id="271" r:id="rId23"/>
    <p:sldId id="272" r:id="rId24"/>
    <p:sldId id="274" r:id="rId25"/>
    <p:sldId id="282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017" autoAdjust="0"/>
  </p:normalViewPr>
  <p:slideViewPr>
    <p:cSldViewPr>
      <p:cViewPr varScale="1">
        <p:scale>
          <a:sx n="88" d="100"/>
          <a:sy n="88" d="100"/>
        </p:scale>
        <p:origin x="1306" y="77"/>
      </p:cViewPr>
      <p:guideLst>
        <p:guide orient="horz" pos="2160"/>
        <p:guide pos="2880"/>
      </p:guideLst>
    </p:cSldViewPr>
  </p:slideViewPr>
  <p:notesTextViewPr>
    <p:cViewPr>
      <p:scale>
        <a:sx n="66" d="100"/>
        <a:sy n="66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16404E-29EE-4A49-8AFD-B93E1F1416B5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7CA267-D06A-431D-B321-4E8603C54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311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7CA267-D06A-431D-B321-4E8603C546D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8623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CORBA</a:t>
            </a:r>
            <a:r>
              <a:rPr lang="en-US" dirty="0" smtClean="0"/>
              <a:t> is an </a:t>
            </a:r>
            <a:r>
              <a:rPr lang="en-US" b="1" dirty="0" smtClean="0"/>
              <a:t>Architectural Pattern / Middleware Architecture</a:t>
            </a:r>
            <a:r>
              <a:rPr lang="en-US" dirty="0" smtClean="0"/>
              <a:t> that enables </a:t>
            </a:r>
            <a:r>
              <a:rPr lang="en-US" b="1" dirty="0" smtClean="0"/>
              <a:t>communication between distributed objects</a:t>
            </a:r>
            <a:r>
              <a:rPr lang="en-US" dirty="0" smtClean="0"/>
              <a:t> across different systems.</a:t>
            </a:r>
          </a:p>
          <a:p>
            <a:r>
              <a:rPr lang="en-US" dirty="0" smtClean="0"/>
              <a:t>👉 Developed by: </a:t>
            </a:r>
            <a:r>
              <a:rPr lang="en-US" b="1" dirty="0" smtClean="0"/>
              <a:t>Object Management Group (OMG)</a:t>
            </a:r>
            <a:endParaRPr lang="en-US" dirty="0" smtClean="0"/>
          </a:p>
          <a:p>
            <a:r>
              <a:rPr lang="en-US" b="1" dirty="0" smtClean="0"/>
              <a:t>🔹 Key Idea:</a:t>
            </a:r>
          </a:p>
          <a:p>
            <a:r>
              <a:rPr lang="en-US" dirty="0" smtClean="0"/>
              <a:t>“Objects written in different languages and running on different machines can communicate seamlessly.”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smtClean="0"/>
              <a:t>MVC</a:t>
            </a:r>
            <a:r>
              <a:rPr lang="en-US" dirty="0" smtClean="0"/>
              <a:t> is an </a:t>
            </a:r>
            <a:r>
              <a:rPr lang="en-US" b="1" dirty="0" smtClean="0"/>
              <a:t>Architectural Pattern</a:t>
            </a:r>
            <a:r>
              <a:rPr lang="en-US" dirty="0" smtClean="0"/>
              <a:t> used to </a:t>
            </a:r>
            <a:r>
              <a:rPr lang="en-US" b="1" dirty="0" smtClean="0"/>
              <a:t>separate concerns</a:t>
            </a:r>
            <a:r>
              <a:rPr lang="en-US" dirty="0" smtClean="0"/>
              <a:t> in an application.</a:t>
            </a:r>
          </a:p>
          <a:p>
            <a:r>
              <a:rPr lang="en-US" b="1" dirty="0" smtClean="0"/>
              <a:t>Components:</a:t>
            </a:r>
          </a:p>
          <a:p>
            <a:r>
              <a:rPr lang="en-US" b="1" dirty="0" smtClean="0"/>
              <a:t>1. Model</a:t>
            </a:r>
            <a:r>
              <a:rPr lang="en-US" b="1" baseline="0" dirty="0" smtClean="0"/>
              <a:t> : </a:t>
            </a:r>
            <a:r>
              <a:rPr lang="en-US" dirty="0" smtClean="0"/>
              <a:t>Handles </a:t>
            </a:r>
            <a:r>
              <a:rPr lang="en-US" b="1" dirty="0" smtClean="0"/>
              <a:t>data &amp; business logic</a:t>
            </a:r>
            <a:r>
              <a:rPr lang="en-US" dirty="0" smtClean="0"/>
              <a:t> </a:t>
            </a:r>
          </a:p>
          <a:p>
            <a:r>
              <a:rPr lang="en-US" b="1" dirty="0" smtClean="0"/>
              <a:t>2. View :  </a:t>
            </a:r>
            <a:r>
              <a:rPr lang="en-US" dirty="0" smtClean="0"/>
              <a:t>Handles </a:t>
            </a:r>
            <a:r>
              <a:rPr lang="en-US" b="1" dirty="0" smtClean="0"/>
              <a:t>UI (User Interface)</a:t>
            </a:r>
            <a:r>
              <a:rPr lang="en-US" dirty="0" smtClean="0"/>
              <a:t> </a:t>
            </a:r>
          </a:p>
          <a:p>
            <a:r>
              <a:rPr lang="en-US" b="1" dirty="0" smtClean="0"/>
              <a:t>3. Controller :  </a:t>
            </a:r>
            <a:r>
              <a:rPr lang="en-US" dirty="0" smtClean="0"/>
              <a:t>Handles </a:t>
            </a:r>
            <a:r>
              <a:rPr lang="en-US" b="1" dirty="0" smtClean="0"/>
              <a:t>user input &amp; interaction</a:t>
            </a:r>
            <a:r>
              <a:rPr lang="en-US" dirty="0" smtClean="0"/>
              <a:t> </a:t>
            </a:r>
          </a:p>
          <a:p>
            <a:r>
              <a:rPr lang="en-US" b="1" dirty="0" smtClean="0"/>
              <a:t>🔹 Flow:</a:t>
            </a:r>
          </a:p>
          <a:p>
            <a:r>
              <a:rPr lang="en-US" dirty="0" smtClean="0"/>
              <a:t>User interacts with </a:t>
            </a:r>
            <a:r>
              <a:rPr lang="en-US" b="1" dirty="0" smtClean="0"/>
              <a:t>View</a:t>
            </a:r>
            <a:r>
              <a:rPr lang="en-US" dirty="0" smtClean="0"/>
              <a:t> </a:t>
            </a:r>
          </a:p>
          <a:p>
            <a:r>
              <a:rPr lang="en-US" dirty="0" smtClean="0"/>
              <a:t>Controller receives input </a:t>
            </a:r>
          </a:p>
          <a:p>
            <a:r>
              <a:rPr lang="en-US" dirty="0" smtClean="0"/>
              <a:t>Controller updates Model </a:t>
            </a:r>
          </a:p>
          <a:p>
            <a:r>
              <a:rPr lang="en-US" dirty="0" smtClean="0"/>
              <a:t>Model updates View </a:t>
            </a:r>
          </a:p>
          <a:p>
            <a:r>
              <a:rPr lang="en-US" b="1" dirty="0" smtClean="0"/>
              <a:t>🔹 Diagram:</a:t>
            </a:r>
          </a:p>
          <a:p>
            <a:pPr rtl="0"/>
            <a:r>
              <a:rPr lang="en-US" dirty="0" smtClean="0"/>
              <a:t>User → View → Controller → Model → View</a:t>
            </a:r>
          </a:p>
          <a:p>
            <a:endParaRPr lang="en-US" b="1" dirty="0" smtClean="0"/>
          </a:p>
          <a:p>
            <a:r>
              <a:rPr lang="en-US" b="1" dirty="0" smtClean="0"/>
              <a:t>Components of Broker Pattern</a:t>
            </a:r>
          </a:p>
          <a:p>
            <a:r>
              <a:rPr lang="en-US" b="1" dirty="0" smtClean="0"/>
              <a:t>🔹 1. Client</a:t>
            </a:r>
          </a:p>
          <a:p>
            <a:r>
              <a:rPr lang="en-US" dirty="0" smtClean="0"/>
              <a:t>Requests services </a:t>
            </a:r>
          </a:p>
          <a:p>
            <a:r>
              <a:rPr lang="en-US" b="1" dirty="0" smtClean="0"/>
              <a:t>🔹 2. Broker</a:t>
            </a:r>
          </a:p>
          <a:p>
            <a:r>
              <a:rPr lang="en-US" dirty="0" smtClean="0"/>
              <a:t>Central coordinator </a:t>
            </a:r>
          </a:p>
          <a:p>
            <a:r>
              <a:rPr lang="en-US" dirty="0" smtClean="0"/>
              <a:t>Finds appropriate server </a:t>
            </a:r>
          </a:p>
          <a:p>
            <a:r>
              <a:rPr lang="en-US" dirty="0" smtClean="0"/>
              <a:t>Handles communication </a:t>
            </a:r>
          </a:p>
          <a:p>
            <a:r>
              <a:rPr lang="en-US" b="1" dirty="0" smtClean="0"/>
              <a:t>🔹 3. Server (Service Provider)</a:t>
            </a:r>
          </a:p>
          <a:p>
            <a:r>
              <a:rPr lang="en-US" dirty="0" smtClean="0"/>
              <a:t>Provides services </a:t>
            </a:r>
          </a:p>
          <a:p>
            <a:r>
              <a:rPr lang="en-US" b="1" dirty="0" smtClean="0"/>
              <a:t>🔹 4. Stub (Client-side proxy)</a:t>
            </a:r>
          </a:p>
          <a:p>
            <a:r>
              <a:rPr lang="en-US" dirty="0" smtClean="0"/>
              <a:t>Represents server locally </a:t>
            </a:r>
          </a:p>
          <a:p>
            <a:r>
              <a:rPr lang="en-US" b="1" dirty="0" smtClean="0"/>
              <a:t>🔹 5. Skeleton (Server-side handler)</a:t>
            </a:r>
          </a:p>
          <a:p>
            <a:r>
              <a:rPr lang="en-US" dirty="0" smtClean="0"/>
              <a:t>Receives request and executes it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7CA267-D06A-431D-B321-4E8603C546D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7300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Think of a design pattern like a blueprint. </a:t>
            </a:r>
          </a:p>
          <a:p>
            <a:r>
              <a:rPr lang="en-US" dirty="0" smtClean="0"/>
              <a:t>If you want to build a house, the blueprint tells you where the walls go, but you still have to buy the bricks and lay them yourself. </a:t>
            </a:r>
          </a:p>
          <a:p>
            <a:r>
              <a:rPr lang="en-US" dirty="0" smtClean="0"/>
              <a:t>Design patterns don't give you the exact code, but they give you the architectural strategy to solve a specific problem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7CA267-D06A-431D-B321-4E8603C546D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0676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Architectural Style</a:t>
            </a:r>
          </a:p>
          <a:p>
            <a:r>
              <a:rPr lang="en-US" dirty="0" smtClean="0"/>
              <a:t>This is the </a:t>
            </a:r>
            <a:r>
              <a:rPr lang="en-US" b="1" dirty="0" smtClean="0"/>
              <a:t>high-level</a:t>
            </a:r>
            <a:r>
              <a:rPr lang="en-US" dirty="0" smtClean="0"/>
              <a:t> view of a software system.</a:t>
            </a:r>
          </a:p>
          <a:p>
            <a:r>
              <a:rPr lang="en-US" dirty="0" smtClean="0"/>
              <a:t>It defines the </a:t>
            </a:r>
            <a:r>
              <a:rPr lang="en-US" b="1" dirty="0" smtClean="0"/>
              <a:t>overall structure</a:t>
            </a:r>
            <a:r>
              <a:rPr lang="en-US" dirty="0" smtClean="0"/>
              <a:t> and how components interact.</a:t>
            </a:r>
          </a:p>
          <a:p>
            <a:r>
              <a:rPr lang="en-US" dirty="0" smtClean="0"/>
              <a:t>Examples:</a:t>
            </a:r>
          </a:p>
          <a:p>
            <a:pPr lvl="1"/>
            <a:r>
              <a:rPr lang="en-US" b="1" dirty="0" smtClean="0"/>
              <a:t>Client-Server</a:t>
            </a:r>
            <a:endParaRPr lang="en-US" dirty="0" smtClean="0"/>
          </a:p>
          <a:p>
            <a:pPr lvl="1"/>
            <a:r>
              <a:rPr lang="en-US" b="1" dirty="0" smtClean="0"/>
              <a:t>Layered Architecture</a:t>
            </a:r>
            <a:endParaRPr lang="en-US" dirty="0" smtClean="0"/>
          </a:p>
          <a:p>
            <a:pPr lvl="1"/>
            <a:r>
              <a:rPr lang="en-US" b="1" dirty="0" smtClean="0"/>
              <a:t>Event-Driven Architecture</a:t>
            </a:r>
            <a:endParaRPr lang="en-US" dirty="0" smtClean="0"/>
          </a:p>
          <a:p>
            <a:pPr lvl="1"/>
            <a:r>
              <a:rPr lang="en-US" b="1" dirty="0" err="1" smtClean="0"/>
              <a:t>Microservices</a:t>
            </a:r>
            <a:r>
              <a:rPr lang="en-US" b="1" dirty="0" smtClean="0"/>
              <a:t> Architecture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Architectural pattern</a:t>
            </a:r>
          </a:p>
          <a:p>
            <a:r>
              <a:rPr lang="en-US" dirty="0" smtClean="0"/>
              <a:t>This is a </a:t>
            </a:r>
            <a:r>
              <a:rPr lang="en-US" b="1" dirty="0" smtClean="0"/>
              <a:t>specific way to implement</a:t>
            </a:r>
            <a:r>
              <a:rPr lang="en-US" dirty="0" smtClean="0"/>
              <a:t> an architectural style.</a:t>
            </a:r>
          </a:p>
          <a:p>
            <a:r>
              <a:rPr lang="en-US" dirty="0" smtClean="0"/>
              <a:t>It adds </a:t>
            </a:r>
            <a:r>
              <a:rPr lang="en-US" b="1" dirty="0" smtClean="0"/>
              <a:t>best practices and rules</a:t>
            </a:r>
            <a:r>
              <a:rPr lang="en-US" dirty="0" smtClean="0"/>
              <a:t> to a style to guide implementation.</a:t>
            </a:r>
          </a:p>
          <a:p>
            <a:r>
              <a:rPr lang="en-US" dirty="0" smtClean="0"/>
              <a:t>Examples:</a:t>
            </a:r>
          </a:p>
          <a:p>
            <a:r>
              <a:rPr lang="en-US" dirty="0" smtClean="0"/>
              <a:t>MVC (Model-View-Controller) — often used in layered architectures</a:t>
            </a:r>
          </a:p>
          <a:p>
            <a:r>
              <a:rPr lang="en-US" dirty="0" smtClean="0"/>
              <a:t>Broker Pattern — common in distributed systems </a:t>
            </a:r>
          </a:p>
          <a:p>
            <a:r>
              <a:rPr lang="en-US" dirty="0" smtClean="0"/>
              <a:t> </a:t>
            </a:r>
            <a:r>
              <a:rPr lang="en-US" b="1" dirty="0" smtClean="0"/>
              <a:t>CORBA</a:t>
            </a:r>
            <a:r>
              <a:rPr lang="en-US" dirty="0" smtClean="0"/>
              <a:t> (Common Object Request Broker Architecture)</a:t>
            </a:r>
          </a:p>
          <a:p>
            <a:r>
              <a:rPr lang="en-US" b="1" dirty="0" smtClean="0"/>
              <a:t>Message Brokers</a:t>
            </a:r>
            <a:r>
              <a:rPr lang="en-US" dirty="0" smtClean="0"/>
              <a:t> like </a:t>
            </a:r>
            <a:r>
              <a:rPr lang="en-US" dirty="0" err="1" smtClean="0"/>
              <a:t>RabbitMQ</a:t>
            </a:r>
            <a:r>
              <a:rPr lang="en-US" dirty="0" smtClean="0"/>
              <a:t>, Kafka, or Apache </a:t>
            </a:r>
            <a:r>
              <a:rPr lang="en-US" dirty="0" err="1" smtClean="0"/>
              <a:t>ActiveMQ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Microkernel Pattern-  </a:t>
            </a:r>
            <a:r>
              <a:rPr lang="en-US" b="1" dirty="0" smtClean="0"/>
              <a:t>IDE software</a:t>
            </a:r>
            <a:r>
              <a:rPr lang="en-US" dirty="0" smtClean="0"/>
              <a:t> like Eclipse or VS Code (core + language/tool plugins)</a:t>
            </a:r>
          </a:p>
          <a:p>
            <a:r>
              <a:rPr lang="en-US" b="1" dirty="0" smtClean="0"/>
              <a:t>Browser extensions</a:t>
            </a:r>
            <a:r>
              <a:rPr lang="en-US" dirty="0" smtClean="0"/>
              <a:t> — the browser is the kernel, and plugins extend it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This solves </a:t>
            </a:r>
            <a:r>
              <a:rPr lang="en-US" b="1" dirty="0" smtClean="0"/>
              <a:t>recurring, specific coding problems</a:t>
            </a:r>
            <a:r>
              <a:rPr lang="en-US" dirty="0" smtClean="0"/>
              <a:t> in part of your system.</a:t>
            </a:r>
          </a:p>
          <a:p>
            <a:r>
              <a:rPr lang="en-US" dirty="0" smtClean="0"/>
              <a:t>Smaller in scope than architectural patterns.</a:t>
            </a:r>
          </a:p>
          <a:p>
            <a:r>
              <a:rPr lang="en-US" dirty="0" smtClean="0"/>
              <a:t>Helps with </a:t>
            </a:r>
            <a:r>
              <a:rPr lang="en-US" b="1" dirty="0" smtClean="0"/>
              <a:t>code structure, flexibility, and reuse</a:t>
            </a:r>
            <a:r>
              <a:rPr lang="en-US" dirty="0" smtClean="0"/>
              <a:t>.</a:t>
            </a:r>
          </a:p>
          <a:p>
            <a:r>
              <a:rPr lang="en-US" dirty="0" smtClean="0"/>
              <a:t>Examples:</a:t>
            </a:r>
          </a:p>
          <a:p>
            <a:r>
              <a:rPr lang="en-US" dirty="0" smtClean="0"/>
              <a:t>Singleton</a:t>
            </a:r>
          </a:p>
          <a:p>
            <a:r>
              <a:rPr lang="en-US" dirty="0" smtClean="0"/>
              <a:t>Observer</a:t>
            </a:r>
          </a:p>
          <a:p>
            <a:r>
              <a:rPr lang="en-US" dirty="0" smtClean="0"/>
              <a:t>Factory</a:t>
            </a:r>
          </a:p>
          <a:p>
            <a:r>
              <a:rPr lang="en-US" dirty="0" smtClean="0"/>
              <a:t>Strategy</a:t>
            </a:r>
          </a:p>
          <a:p>
            <a:r>
              <a:rPr lang="en-US" dirty="0" smtClean="0"/>
              <a:t>Decorator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7CA267-D06A-431D-B321-4E8603C546D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2564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It's interesting that this started in physical architecture—designing buildings and towns.</a:t>
            </a:r>
          </a:p>
          <a:p>
            <a:r>
              <a:rPr lang="en-US" dirty="0" smtClean="0"/>
              <a:t> The Gang of Four realized that software engineers were solving the same object-oriented problems over and over again. </a:t>
            </a:r>
          </a:p>
          <a:p>
            <a:r>
              <a:rPr lang="en-US" dirty="0" smtClean="0"/>
              <a:t>By documenting these 23 patterns, they changed how software is engineered."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7CA267-D06A-431D-B321-4E8603C546D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395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 biggest advantage is the shared vocabulary. When you join a tech company, your senior engineer won't explain a complex architecture from scratch. </a:t>
            </a:r>
          </a:p>
          <a:p>
            <a:r>
              <a:rPr lang="en-US" dirty="0" smtClean="0"/>
              <a:t>They'll say, 'We use a Factory pattern here and an Observer pattern there.' Knowing these patterns allows you to instantly understand the system's architecture."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7CA267-D06A-431D-B321-4E8603C546D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1446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To make it easier to digest, patterns are categorized by what they do.</a:t>
            </a:r>
          </a:p>
          <a:p>
            <a:r>
              <a:rPr lang="en-US" dirty="0" smtClean="0"/>
              <a:t> Creational is about </a:t>
            </a:r>
            <a:r>
              <a:rPr lang="en-US" i="1" dirty="0" smtClean="0"/>
              <a:t>making</a:t>
            </a:r>
            <a:r>
              <a:rPr lang="en-US" dirty="0" smtClean="0"/>
              <a:t> objects. </a:t>
            </a:r>
          </a:p>
          <a:p>
            <a:r>
              <a:rPr lang="en-US" dirty="0" smtClean="0"/>
              <a:t>Structural is about </a:t>
            </a:r>
            <a:r>
              <a:rPr lang="en-US" i="1" dirty="0" smtClean="0"/>
              <a:t>assembling</a:t>
            </a:r>
            <a:r>
              <a:rPr lang="en-US" dirty="0" smtClean="0"/>
              <a:t> objects into larger structures.</a:t>
            </a:r>
          </a:p>
          <a:p>
            <a:r>
              <a:rPr lang="en-US" dirty="0" smtClean="0"/>
              <a:t> Behavioral is about how objects </a:t>
            </a:r>
            <a:r>
              <a:rPr lang="en-US" i="1" dirty="0" smtClean="0"/>
              <a:t>talk</a:t>
            </a:r>
            <a:r>
              <a:rPr lang="en-US" dirty="0" smtClean="0"/>
              <a:t> to each other."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7CA267-D06A-431D-B321-4E8603C546D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9150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"Using the 'new' keyword tightly couples your code to a specific class. Creational patterns help us abstract the instantiation process, making our systems independent of how their objects are created, composed, and represented."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7CA267-D06A-431D-B321-4E8603C546D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8060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these are all about composing classes to form larger, more complex structures. They help guarantee that when one part of a system changes, the entire structure doesn't collapse."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7CA267-D06A-431D-B321-4E8603C546D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0867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Finally, Behavioral patterns. While creational is about 'building' and structural is about 'assembling', behavioral is about 'communicating'. It defines how objects interact and distribute the workload."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7CA267-D06A-431D-B321-4E8603C546D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2163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 smtClean="0"/>
              <a:t>A method that is declared without an implementation (i.e., no body) in an abstract class or interface.</a:t>
            </a:r>
          </a:p>
          <a:p>
            <a:r>
              <a:rPr lang="en-US" sz="1800" dirty="0" smtClean="0"/>
              <a:t>Subclasses are expected to provide the implementation.</a:t>
            </a:r>
          </a:p>
          <a:p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7CA267-D06A-431D-B321-4E8603C546D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5488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Cannot create objects</a:t>
            </a:r>
            <a:r>
              <a:rPr lang="en-US" dirty="0" smtClean="0"/>
              <a:t> directly from an abstract class.</a:t>
            </a:r>
          </a:p>
          <a:p>
            <a:r>
              <a:rPr lang="en-US" dirty="0" smtClean="0"/>
              <a:t>Can include:</a:t>
            </a:r>
          </a:p>
          <a:p>
            <a:r>
              <a:rPr lang="en-US" dirty="0" smtClean="0"/>
              <a:t>Abstract methods (no body)</a:t>
            </a:r>
          </a:p>
          <a:p>
            <a:r>
              <a:rPr lang="en-US" dirty="0" smtClean="0"/>
              <a:t>Concrete methods (with body)</a:t>
            </a:r>
          </a:p>
          <a:p>
            <a:r>
              <a:rPr lang="en-US" dirty="0" smtClean="0"/>
              <a:t>Fields (variables)</a:t>
            </a:r>
          </a:p>
          <a:p>
            <a:r>
              <a:rPr lang="en-US" dirty="0" smtClean="0"/>
              <a:t>Constructors</a:t>
            </a:r>
          </a:p>
          <a:p>
            <a:r>
              <a:rPr lang="en-US" dirty="0" smtClean="0"/>
              <a:t>Must be </a:t>
            </a:r>
            <a:r>
              <a:rPr lang="en-US" b="1" dirty="0" smtClean="0"/>
              <a:t>extended (inherited)</a:t>
            </a:r>
            <a:r>
              <a:rPr lang="en-US" dirty="0" smtClean="0"/>
              <a:t> by a subclass that provides implementation for the abstract methods.</a:t>
            </a:r>
          </a:p>
          <a:p>
            <a:r>
              <a:rPr lang="en-US" dirty="0" smtClean="0"/>
              <a:t>Supports </a:t>
            </a:r>
            <a:r>
              <a:rPr lang="en-US" b="1" dirty="0" smtClean="0"/>
              <a:t>polymorphism</a:t>
            </a:r>
            <a:r>
              <a:rPr lang="en-US" dirty="0" smtClean="0"/>
              <a:t> and </a:t>
            </a:r>
            <a:r>
              <a:rPr lang="en-US" b="1" dirty="0" smtClean="0"/>
              <a:t>inheritance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7CA267-D06A-431D-B321-4E8603C546D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036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Abstract Class</a:t>
            </a:r>
            <a:r>
              <a:rPr lang="en-US" dirty="0" smtClean="0"/>
              <a:t>:</a:t>
            </a:r>
            <a:br>
              <a:rPr lang="en-US" dirty="0" smtClean="0"/>
            </a:br>
            <a:r>
              <a:rPr lang="en-US" dirty="0" smtClean="0"/>
              <a:t>Animal is an abstract class. That means:</a:t>
            </a:r>
          </a:p>
          <a:p>
            <a:pPr lvl="1"/>
            <a:r>
              <a:rPr lang="en-US" dirty="0" smtClean="0"/>
              <a:t>You </a:t>
            </a:r>
            <a:r>
              <a:rPr lang="en-US" b="1" dirty="0" smtClean="0"/>
              <a:t>cannot create an object</a:t>
            </a:r>
            <a:r>
              <a:rPr lang="en-US" dirty="0" smtClean="0"/>
              <a:t> of Animal.</a:t>
            </a:r>
          </a:p>
          <a:p>
            <a:pPr lvl="1"/>
            <a:r>
              <a:rPr lang="en-US" dirty="0" smtClean="0"/>
              <a:t>It </a:t>
            </a:r>
            <a:r>
              <a:rPr lang="en-US" b="1" dirty="0" smtClean="0"/>
              <a:t>can have abstract methods</a:t>
            </a:r>
            <a:r>
              <a:rPr lang="en-US" dirty="0" smtClean="0"/>
              <a:t> (without body).</a:t>
            </a:r>
          </a:p>
          <a:p>
            <a:pPr lvl="1"/>
            <a:r>
              <a:rPr lang="en-US" dirty="0" smtClean="0"/>
              <a:t>It </a:t>
            </a:r>
            <a:r>
              <a:rPr lang="en-US" b="1" dirty="0" smtClean="0"/>
              <a:t>can also have regular methods</a:t>
            </a:r>
            <a:r>
              <a:rPr lang="en-US" dirty="0" smtClean="0"/>
              <a:t> (with body).</a:t>
            </a:r>
          </a:p>
          <a:p>
            <a:r>
              <a:rPr lang="en-US" b="1" dirty="0" smtClean="0"/>
              <a:t>Abstract Method</a:t>
            </a:r>
            <a:r>
              <a:rPr lang="en-US" dirty="0" smtClean="0"/>
              <a:t>:</a:t>
            </a:r>
          </a:p>
          <a:p>
            <a:pPr lvl="1"/>
            <a:r>
              <a:rPr lang="en-US" dirty="0" err="1" smtClean="0"/>
              <a:t>animalSound</a:t>
            </a:r>
            <a:r>
              <a:rPr lang="en-US" dirty="0" smtClean="0"/>
              <a:t>() is abstract → no body in Animal, but every subclass </a:t>
            </a:r>
            <a:r>
              <a:rPr lang="en-US" b="1" dirty="0" smtClean="0"/>
              <a:t>must implement it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Subclass (Dog)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Inherits from Animal.</a:t>
            </a:r>
          </a:p>
          <a:p>
            <a:pPr lvl="1"/>
            <a:r>
              <a:rPr lang="en-US" dirty="0" smtClean="0"/>
              <a:t>Provides body for the abstract method </a:t>
            </a:r>
            <a:r>
              <a:rPr lang="en-US" dirty="0" err="1" smtClean="0"/>
              <a:t>animalSound</a:t>
            </a:r>
            <a:r>
              <a:rPr lang="en-US" dirty="0" smtClean="0"/>
              <a:t>().</a:t>
            </a:r>
          </a:p>
          <a:p>
            <a:r>
              <a:rPr lang="en-US" b="1" dirty="0" smtClean="0"/>
              <a:t>Main Method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Pig </a:t>
            </a:r>
            <a:r>
              <a:rPr lang="en-US" dirty="0" err="1" smtClean="0"/>
              <a:t>myDog</a:t>
            </a:r>
            <a:r>
              <a:rPr lang="en-US" dirty="0" smtClean="0"/>
              <a:t> = new Dog(); creates an object of the Dog class.</a:t>
            </a:r>
          </a:p>
          <a:p>
            <a:pPr lvl="1"/>
            <a:r>
              <a:rPr lang="en-US" dirty="0" err="1" smtClean="0"/>
              <a:t>myDog.animalSound</a:t>
            </a:r>
            <a:r>
              <a:rPr lang="en-US" dirty="0" smtClean="0"/>
              <a:t>(); calls the implemented method → prints pig's sound.</a:t>
            </a:r>
          </a:p>
          <a:p>
            <a:pPr lvl="1"/>
            <a:r>
              <a:rPr lang="en-US" dirty="0" err="1" smtClean="0"/>
              <a:t>myDog.sleep</a:t>
            </a:r>
            <a:r>
              <a:rPr lang="en-US" dirty="0" smtClean="0"/>
              <a:t>(); calls the regular method from the parent class.</a:t>
            </a:r>
          </a:p>
          <a:p>
            <a:r>
              <a:rPr lang="en-US" b="1" dirty="0" smtClean="0"/>
              <a:t>🖨️ Output:</a:t>
            </a:r>
          </a:p>
          <a:p>
            <a:endParaRPr lang="en-US" dirty="0" smtClean="0"/>
          </a:p>
          <a:p>
            <a:pPr rtl="0"/>
            <a:r>
              <a:rPr lang="en-US" dirty="0" smtClean="0"/>
              <a:t>The Dog says: woof </a:t>
            </a:r>
            <a:r>
              <a:rPr lang="en-US" dirty="0" err="1" smtClean="0"/>
              <a:t>woof</a:t>
            </a:r>
            <a:r>
              <a:rPr lang="en-US" dirty="0" smtClean="0"/>
              <a:t> </a:t>
            </a:r>
          </a:p>
          <a:p>
            <a:pPr rtl="0"/>
            <a:r>
              <a:rPr lang="en-US" dirty="0" err="1" smtClean="0"/>
              <a:t>Zzz</a:t>
            </a:r>
            <a:endParaRPr lang="en-US" dirty="0" smtClean="0"/>
          </a:p>
          <a:p>
            <a:endParaRPr lang="en-US" b="1" dirty="0" smtClean="0"/>
          </a:p>
          <a:p>
            <a:r>
              <a:rPr lang="en-US" b="1" dirty="0" smtClean="0"/>
              <a:t>Why Use Abstract Classes?</a:t>
            </a:r>
          </a:p>
          <a:p>
            <a:r>
              <a:rPr lang="en-US" dirty="0" smtClean="0"/>
              <a:t>They’re useful when:</a:t>
            </a:r>
          </a:p>
          <a:p>
            <a:r>
              <a:rPr lang="en-US" dirty="0" smtClean="0"/>
              <a:t>You want to define a </a:t>
            </a:r>
            <a:r>
              <a:rPr lang="en-US" b="1" dirty="0" smtClean="0"/>
              <a:t>common base</a:t>
            </a:r>
            <a:r>
              <a:rPr lang="en-US" dirty="0" smtClean="0"/>
              <a:t> for many subclasses.</a:t>
            </a:r>
          </a:p>
          <a:p>
            <a:r>
              <a:rPr lang="en-US" dirty="0" smtClean="0"/>
              <a:t>Some methods should be </a:t>
            </a:r>
            <a:r>
              <a:rPr lang="en-US" b="1" dirty="0" smtClean="0"/>
              <a:t>mandatory to implement</a:t>
            </a:r>
            <a:r>
              <a:rPr lang="en-US" dirty="0" smtClean="0"/>
              <a:t>, while others can be </a:t>
            </a:r>
            <a:r>
              <a:rPr lang="en-US" b="1" dirty="0" smtClean="0"/>
              <a:t>optional</a:t>
            </a:r>
            <a:r>
              <a:rPr lang="en-US" dirty="0" smtClean="0"/>
              <a:t>.</a:t>
            </a:r>
          </a:p>
          <a:p>
            <a:pPr rtl="0"/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7CA267-D06A-431D-B321-4E8603C546D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5398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b="1" dirty="0" smtClean="0"/>
              <a:t>constructor</a:t>
            </a:r>
            <a:r>
              <a:rPr lang="en-US" dirty="0" smtClean="0"/>
              <a:t> is a </a:t>
            </a:r>
            <a:r>
              <a:rPr lang="en-US" b="1" dirty="0" smtClean="0"/>
              <a:t>special method</a:t>
            </a:r>
            <a:r>
              <a:rPr lang="en-US" dirty="0" smtClean="0"/>
              <a:t> in a class that is </a:t>
            </a:r>
            <a:r>
              <a:rPr lang="en-US" b="1" dirty="0" smtClean="0"/>
              <a:t>automatically called</a:t>
            </a:r>
            <a:r>
              <a:rPr lang="en-US" dirty="0" smtClean="0"/>
              <a:t> when an object of the class is created. Its main purpose is to </a:t>
            </a:r>
            <a:r>
              <a:rPr lang="en-US" b="1" dirty="0" smtClean="0"/>
              <a:t>initialize</a:t>
            </a:r>
            <a:r>
              <a:rPr lang="en-US" dirty="0" smtClean="0"/>
              <a:t> the object — for example, setting initial values of fields.</a:t>
            </a:r>
          </a:p>
          <a:p>
            <a:endParaRPr lang="en-US" dirty="0" smtClean="0"/>
          </a:p>
          <a:p>
            <a:r>
              <a:rPr lang="en-US" dirty="0" smtClean="0"/>
              <a:t>Has the </a:t>
            </a:r>
            <a:r>
              <a:rPr lang="en-US" b="1" dirty="0" smtClean="0"/>
              <a:t>same name as the class</a:t>
            </a:r>
            <a:r>
              <a:rPr lang="en-US" dirty="0" smtClean="0"/>
              <a:t> (in languages like Java, C++).</a:t>
            </a:r>
          </a:p>
          <a:p>
            <a:r>
              <a:rPr lang="en-US" b="1" dirty="0" smtClean="0"/>
              <a:t>No return type</a:t>
            </a:r>
            <a:r>
              <a:rPr lang="en-US" dirty="0" smtClean="0"/>
              <a:t>, not even void.</a:t>
            </a:r>
          </a:p>
          <a:p>
            <a:r>
              <a:rPr lang="en-US" dirty="0" smtClean="0"/>
              <a:t>Can be </a:t>
            </a:r>
            <a:r>
              <a:rPr lang="en-US" b="1" dirty="0" smtClean="0"/>
              <a:t>overloaded</a:t>
            </a:r>
            <a:r>
              <a:rPr lang="en-US" dirty="0" smtClean="0"/>
              <a:t> (multiple constructors with different parameters).</a:t>
            </a:r>
          </a:p>
          <a:p>
            <a:r>
              <a:rPr lang="en-US" dirty="0" smtClean="0"/>
              <a:t>Can be </a:t>
            </a:r>
            <a:r>
              <a:rPr lang="en-US" b="1" dirty="0" smtClean="0"/>
              <a:t>default</a:t>
            </a:r>
            <a:r>
              <a:rPr lang="en-US" dirty="0" smtClean="0"/>
              <a:t> (no parameters) or </a:t>
            </a:r>
            <a:r>
              <a:rPr lang="en-US" b="1" dirty="0" smtClean="0"/>
              <a:t>parameterized</a:t>
            </a:r>
            <a:r>
              <a:rPr lang="en-US" dirty="0" smtClean="0"/>
              <a:t> (takes arguments).</a:t>
            </a:r>
          </a:p>
          <a:p>
            <a:r>
              <a:rPr lang="en-US" dirty="0" smtClean="0"/>
              <a:t>In Python, the constructor is always named __</a:t>
            </a:r>
            <a:r>
              <a:rPr lang="en-US" dirty="0" err="1" smtClean="0"/>
              <a:t>init</a:t>
            </a:r>
            <a:r>
              <a:rPr lang="en-US" dirty="0" smtClean="0"/>
              <a:t>__.</a:t>
            </a:r>
          </a:p>
          <a:p>
            <a:endParaRPr lang="en-US" dirty="0" smtClean="0"/>
          </a:p>
          <a:p>
            <a:r>
              <a:rPr lang="en-US" dirty="0" err="1" smtClean="0"/>
              <a:t>TypeDescription</a:t>
            </a:r>
            <a:endParaRPr lang="en-US" dirty="0" smtClean="0"/>
          </a:p>
          <a:p>
            <a:r>
              <a:rPr lang="en-US" dirty="0" smtClean="0"/>
              <a:t>Default </a:t>
            </a:r>
            <a:r>
              <a:rPr lang="en-US" dirty="0" err="1" smtClean="0"/>
              <a:t>ConstructorTakes</a:t>
            </a:r>
            <a:r>
              <a:rPr lang="en-US" dirty="0" smtClean="0"/>
              <a:t> no parameters, used to set default values</a:t>
            </a:r>
          </a:p>
          <a:p>
            <a:r>
              <a:rPr lang="en-US" dirty="0" smtClean="0"/>
              <a:t>Parameterized </a:t>
            </a:r>
            <a:r>
              <a:rPr lang="en-US" dirty="0" err="1" smtClean="0"/>
              <a:t>ConstructorTakes</a:t>
            </a:r>
            <a:r>
              <a:rPr lang="en-US" dirty="0" smtClean="0"/>
              <a:t> arguments, allows setting custom values</a:t>
            </a:r>
          </a:p>
          <a:p>
            <a:r>
              <a:rPr lang="en-US" dirty="0" smtClean="0"/>
              <a:t>Copy Constructor (C++, optional in others)Creates a new object by copying another</a:t>
            </a:r>
          </a:p>
          <a:p>
            <a:endParaRPr lang="en-US" dirty="0" smtClean="0"/>
          </a:p>
          <a:p>
            <a:r>
              <a:rPr lang="en-US" b="1" dirty="0" smtClean="0"/>
              <a:t>public class Hello </a:t>
            </a:r>
          </a:p>
          <a:p>
            <a:r>
              <a:rPr lang="en-US" b="1" dirty="0" smtClean="0"/>
              <a:t>{ </a:t>
            </a:r>
          </a:p>
          <a:p>
            <a:r>
              <a:rPr lang="en-US" b="1" dirty="0" smtClean="0"/>
              <a:t>    String name; </a:t>
            </a:r>
          </a:p>
          <a:p>
            <a:r>
              <a:rPr lang="en-US" dirty="0" smtClean="0"/>
              <a:t>A class Hello is defined.</a:t>
            </a:r>
          </a:p>
          <a:p>
            <a:endParaRPr lang="en-US" dirty="0" smtClean="0"/>
          </a:p>
          <a:p>
            <a:r>
              <a:rPr lang="en-US" dirty="0" smtClean="0"/>
              <a:t>It has an instance variable name of type String.</a:t>
            </a:r>
          </a:p>
          <a:p>
            <a:endParaRPr lang="en-US" dirty="0" smtClean="0"/>
          </a:p>
          <a:p>
            <a:r>
              <a:rPr lang="en-US" b="1" dirty="0" smtClean="0"/>
              <a:t> // Constructor </a:t>
            </a:r>
          </a:p>
          <a:p>
            <a:r>
              <a:rPr lang="en-US" b="1" dirty="0" smtClean="0"/>
              <a:t>    Hello() </a:t>
            </a:r>
          </a:p>
          <a:p>
            <a:r>
              <a:rPr lang="en-US" b="1" dirty="0" smtClean="0"/>
              <a:t>    { </a:t>
            </a:r>
          </a:p>
          <a:p>
            <a:r>
              <a:rPr lang="en-US" b="1" dirty="0" smtClean="0"/>
              <a:t>        this.name = "BeginnersBook.com"; </a:t>
            </a:r>
          </a:p>
          <a:p>
            <a:r>
              <a:rPr lang="en-US" b="1" dirty="0" smtClean="0"/>
              <a:t>    } </a:t>
            </a:r>
          </a:p>
          <a:p>
            <a:r>
              <a:rPr lang="en-US" dirty="0" smtClean="0"/>
              <a:t>This is a constructor — it’s a special method that runs automatically when an object of the class is created.</a:t>
            </a:r>
          </a:p>
          <a:p>
            <a:endParaRPr lang="en-US" dirty="0" smtClean="0"/>
          </a:p>
          <a:p>
            <a:r>
              <a:rPr lang="en-US" dirty="0" smtClean="0"/>
              <a:t>this.name refers to the current object’s name variable, and it assigns it the string "BeginnersBook.com".</a:t>
            </a:r>
          </a:p>
          <a:p>
            <a:endParaRPr lang="en-US" dirty="0" smtClean="0"/>
          </a:p>
          <a:p>
            <a:r>
              <a:rPr lang="en-US" b="1" dirty="0" smtClean="0"/>
              <a:t>public static void main(String[] </a:t>
            </a:r>
            <a:r>
              <a:rPr lang="en-US" b="1" dirty="0" err="1" smtClean="0"/>
              <a:t>args</a:t>
            </a:r>
            <a:r>
              <a:rPr lang="en-US" b="1" dirty="0" smtClean="0"/>
              <a:t>) </a:t>
            </a:r>
          </a:p>
          <a:p>
            <a:r>
              <a:rPr lang="en-US" b="1" dirty="0" smtClean="0"/>
              <a:t>    { </a:t>
            </a:r>
          </a:p>
          <a:p>
            <a:r>
              <a:rPr lang="en-US" b="1" dirty="0" smtClean="0"/>
              <a:t>        Hello </a:t>
            </a:r>
            <a:r>
              <a:rPr lang="en-US" b="1" dirty="0" err="1" smtClean="0"/>
              <a:t>obj</a:t>
            </a:r>
            <a:r>
              <a:rPr lang="en-US" b="1" dirty="0" smtClean="0"/>
              <a:t> = new Hello(); </a:t>
            </a:r>
          </a:p>
          <a:p>
            <a:r>
              <a:rPr lang="en-US" b="1" dirty="0" smtClean="0"/>
              <a:t>        </a:t>
            </a:r>
            <a:r>
              <a:rPr lang="en-US" b="1" dirty="0" err="1" smtClean="0"/>
              <a:t>System.out.println</a:t>
            </a:r>
            <a:r>
              <a:rPr lang="en-US" b="1" dirty="0" smtClean="0"/>
              <a:t>(obj.name);</a:t>
            </a:r>
          </a:p>
          <a:p>
            <a:r>
              <a:rPr lang="en-US" b="1" dirty="0" smtClean="0"/>
              <a:t>    }</a:t>
            </a:r>
          </a:p>
          <a:p>
            <a:r>
              <a:rPr lang="en-US" dirty="0" smtClean="0"/>
              <a:t>Inside the main method:</a:t>
            </a:r>
          </a:p>
          <a:p>
            <a:endParaRPr lang="en-US" dirty="0" smtClean="0"/>
          </a:p>
          <a:p>
            <a:r>
              <a:rPr lang="en-US" dirty="0" smtClean="0"/>
              <a:t>A new object </a:t>
            </a:r>
            <a:r>
              <a:rPr lang="en-US" dirty="0" err="1" smtClean="0"/>
              <a:t>obj</a:t>
            </a:r>
            <a:r>
              <a:rPr lang="en-US" dirty="0" smtClean="0"/>
              <a:t> of class Hello is created.</a:t>
            </a:r>
          </a:p>
          <a:p>
            <a:endParaRPr lang="en-US" dirty="0" smtClean="0"/>
          </a:p>
          <a:p>
            <a:r>
              <a:rPr lang="en-US" dirty="0" smtClean="0"/>
              <a:t>The constructor is called automatically and sets obj.name to "BeginnersBook.com".</a:t>
            </a:r>
          </a:p>
          <a:p>
            <a:endParaRPr lang="en-US" dirty="0" smtClean="0"/>
          </a:p>
          <a:p>
            <a:r>
              <a:rPr lang="en-US" dirty="0" err="1" smtClean="0"/>
              <a:t>System.out.println</a:t>
            </a:r>
            <a:r>
              <a:rPr lang="en-US" dirty="0" smtClean="0"/>
              <a:t>(obj.name); prints that value.</a:t>
            </a:r>
          </a:p>
          <a:p>
            <a:endParaRPr lang="en-US" dirty="0" smtClean="0"/>
          </a:p>
          <a:p>
            <a:r>
              <a:rPr lang="en-US" dirty="0" smtClean="0"/>
              <a:t>output</a:t>
            </a:r>
          </a:p>
          <a:p>
            <a:r>
              <a:rPr lang="en-US" b="1" dirty="0" smtClean="0"/>
              <a:t>BeginnersBook.com</a:t>
            </a:r>
          </a:p>
          <a:p>
            <a:endParaRPr lang="en-US" dirty="0" smtClean="0"/>
          </a:p>
          <a:p>
            <a:r>
              <a:rPr lang="en-US" dirty="0" smtClean="0"/>
              <a:t>🧠 Why is this useful?</a:t>
            </a:r>
          </a:p>
          <a:p>
            <a:r>
              <a:rPr lang="en-US" dirty="0" smtClean="0"/>
              <a:t>Constructors are commonly used to:</a:t>
            </a:r>
          </a:p>
          <a:p>
            <a:endParaRPr lang="en-US" dirty="0" smtClean="0"/>
          </a:p>
          <a:p>
            <a:r>
              <a:rPr lang="en-US" dirty="0" smtClean="0"/>
              <a:t>Initialize values when an object is created.</a:t>
            </a:r>
          </a:p>
          <a:p>
            <a:endParaRPr lang="en-US" dirty="0" smtClean="0"/>
          </a:p>
          <a:p>
            <a:r>
              <a:rPr lang="en-US" dirty="0" smtClean="0"/>
              <a:t>Provide default or custom setups for object creation.</a:t>
            </a:r>
          </a:p>
          <a:p>
            <a:endParaRPr lang="en-US" dirty="0" smtClean="0"/>
          </a:p>
          <a:p>
            <a:r>
              <a:rPr lang="en-US" dirty="0" smtClean="0"/>
              <a:t>Avoid setting values manually after creating an object.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7CA267-D06A-431D-B321-4E8603C546D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3067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b="1" dirty="0" smtClean="0"/>
              <a:t>concrete class</a:t>
            </a:r>
            <a:r>
              <a:rPr lang="en-US" dirty="0" smtClean="0"/>
              <a:t> is a class that has a </a:t>
            </a:r>
            <a:r>
              <a:rPr lang="en-US" b="1" dirty="0" smtClean="0"/>
              <a:t>complete implementation</a:t>
            </a:r>
            <a:r>
              <a:rPr lang="en-US" dirty="0" smtClean="0"/>
              <a:t> — meaning:</a:t>
            </a:r>
          </a:p>
          <a:p>
            <a:r>
              <a:rPr lang="en-US" dirty="0" smtClean="0"/>
              <a:t>✅ All its methods are </a:t>
            </a:r>
            <a:r>
              <a:rPr lang="en-US" b="1" dirty="0" smtClean="0"/>
              <a:t>fully defined</a:t>
            </a:r>
            <a:r>
              <a:rPr lang="en-US" dirty="0" smtClean="0"/>
              <a:t> (no abstract methods).</a:t>
            </a:r>
            <a:br>
              <a:rPr lang="en-US" dirty="0" smtClean="0"/>
            </a:br>
            <a:r>
              <a:rPr lang="en-US" dirty="0" smtClean="0"/>
              <a:t>✅ It </a:t>
            </a:r>
            <a:r>
              <a:rPr lang="en-US" b="1" dirty="0" smtClean="0"/>
              <a:t>can be instantiated</a:t>
            </a:r>
            <a:r>
              <a:rPr lang="en-US" dirty="0" smtClean="0"/>
              <a:t> — you can create objects from it.</a:t>
            </a:r>
            <a:br>
              <a:rPr lang="en-US" dirty="0" smtClean="0"/>
            </a:br>
            <a:r>
              <a:rPr lang="en-US" dirty="0" smtClean="0"/>
              <a:t>✅ It can </a:t>
            </a:r>
            <a:r>
              <a:rPr lang="en-US" b="1" dirty="0" smtClean="0"/>
              <a:t>inherit</a:t>
            </a:r>
            <a:r>
              <a:rPr lang="en-US" dirty="0" smtClean="0"/>
              <a:t> from abstract classes or implement interfaces and must provide code for all inherited abstract methods.</a:t>
            </a:r>
          </a:p>
          <a:p>
            <a:r>
              <a:rPr lang="en-US" b="1" dirty="0" smtClean="0"/>
              <a:t>🔹 Key Characteristics</a:t>
            </a:r>
          </a:p>
          <a:p>
            <a:r>
              <a:rPr lang="en-US" dirty="0" smtClean="0"/>
              <a:t>Can be used to create real objects.</a:t>
            </a:r>
          </a:p>
          <a:p>
            <a:r>
              <a:rPr lang="en-US" dirty="0" smtClean="0"/>
              <a:t>Can include fields, methods, constructors, etc.</a:t>
            </a:r>
          </a:p>
          <a:p>
            <a:r>
              <a:rPr lang="en-US" dirty="0" smtClean="0"/>
              <a:t>Can </a:t>
            </a:r>
            <a:r>
              <a:rPr lang="en-US" b="1" dirty="0" smtClean="0"/>
              <a:t>extend</a:t>
            </a:r>
            <a:r>
              <a:rPr lang="en-US" dirty="0" smtClean="0"/>
              <a:t> abstract classes and </a:t>
            </a:r>
            <a:r>
              <a:rPr lang="en-US" b="1" dirty="0" smtClean="0"/>
              <a:t>implement</a:t>
            </a:r>
            <a:r>
              <a:rPr lang="en-US" dirty="0" smtClean="0"/>
              <a:t> interfaces.</a:t>
            </a:r>
          </a:p>
          <a:p>
            <a:r>
              <a:rPr lang="en-US" dirty="0" smtClean="0"/>
              <a:t>Represents actual implementations of behaviors and properties.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7CA267-D06A-431D-B321-4E8603C546D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154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This is a Java program that defines a </a:t>
            </a:r>
            <a:r>
              <a:rPr lang="en-US" b="1" dirty="0" smtClean="0"/>
              <a:t>concrete class</a:t>
            </a:r>
            <a:r>
              <a:rPr lang="en-US" dirty="0" smtClean="0"/>
              <a:t> named Main. It includes:</a:t>
            </a:r>
          </a:p>
          <a:p>
            <a:r>
              <a:rPr lang="en-US" dirty="0" smtClean="0"/>
              <a:t>Two </a:t>
            </a:r>
            <a:r>
              <a:rPr lang="en-US" b="1" dirty="0" smtClean="0"/>
              <a:t>static methods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product(</a:t>
            </a:r>
            <a:r>
              <a:rPr lang="en-US" dirty="0" err="1" smtClean="0"/>
              <a:t>int</a:t>
            </a:r>
            <a:r>
              <a:rPr lang="en-US" dirty="0" smtClean="0"/>
              <a:t> a, </a:t>
            </a:r>
            <a:r>
              <a:rPr lang="en-US" dirty="0" err="1" smtClean="0"/>
              <a:t>int</a:t>
            </a:r>
            <a:r>
              <a:rPr lang="en-US" dirty="0" smtClean="0"/>
              <a:t> b) → multiplies two integers.</a:t>
            </a:r>
          </a:p>
          <a:p>
            <a:pPr lvl="1"/>
            <a:r>
              <a:rPr lang="en-US" dirty="0" smtClean="0"/>
              <a:t>sum(</a:t>
            </a:r>
            <a:r>
              <a:rPr lang="en-US" dirty="0" err="1" smtClean="0"/>
              <a:t>int</a:t>
            </a:r>
            <a:r>
              <a:rPr lang="en-US" dirty="0" smtClean="0"/>
              <a:t> a, </a:t>
            </a:r>
            <a:r>
              <a:rPr lang="en-US" dirty="0" err="1" smtClean="0"/>
              <a:t>int</a:t>
            </a:r>
            <a:r>
              <a:rPr lang="en-US" dirty="0" smtClean="0"/>
              <a:t> b) → adds two integers.</a:t>
            </a:r>
          </a:p>
          <a:p>
            <a:r>
              <a:rPr lang="en-US" dirty="0" smtClean="0"/>
              <a:t>A main method that calls these methods and prints the results.</a:t>
            </a:r>
          </a:p>
          <a:p>
            <a:endParaRPr lang="en-US" dirty="0" smtClean="0"/>
          </a:p>
          <a:p>
            <a:r>
              <a:rPr lang="en-US" b="1" dirty="0" smtClean="0"/>
              <a:t>class Main {</a:t>
            </a:r>
          </a:p>
          <a:p>
            <a:r>
              <a:rPr lang="en-US" dirty="0" smtClean="0"/>
              <a:t>This is a concrete class — it's complete and can be used directly (you can create objects or call static methods from it).</a:t>
            </a:r>
          </a:p>
          <a:p>
            <a:endParaRPr lang="en-US" dirty="0" smtClean="0"/>
          </a:p>
          <a:p>
            <a:r>
              <a:rPr lang="en-US" b="1" dirty="0" smtClean="0"/>
              <a:t>static </a:t>
            </a:r>
            <a:r>
              <a:rPr lang="en-US" b="1" dirty="0" err="1" smtClean="0"/>
              <a:t>int</a:t>
            </a:r>
            <a:r>
              <a:rPr lang="en-US" b="1" dirty="0" smtClean="0"/>
              <a:t> product(</a:t>
            </a:r>
            <a:r>
              <a:rPr lang="en-US" b="1" dirty="0" err="1" smtClean="0"/>
              <a:t>int</a:t>
            </a:r>
            <a:r>
              <a:rPr lang="en-US" b="1" dirty="0" smtClean="0"/>
              <a:t> a, </a:t>
            </a:r>
            <a:r>
              <a:rPr lang="en-US" b="1" dirty="0" err="1" smtClean="0"/>
              <a:t>int</a:t>
            </a:r>
            <a:r>
              <a:rPr lang="en-US" b="1" dirty="0" smtClean="0"/>
              <a:t> b) {</a:t>
            </a:r>
          </a:p>
          <a:p>
            <a:r>
              <a:rPr lang="en-US" b="1" dirty="0" smtClean="0"/>
              <a:t>    return a * b;</a:t>
            </a:r>
          </a:p>
          <a:p>
            <a:r>
              <a:rPr lang="en-US" b="1" dirty="0" smtClean="0"/>
              <a:t>}</a:t>
            </a:r>
          </a:p>
          <a:p>
            <a:r>
              <a:rPr lang="en-US" dirty="0" smtClean="0"/>
              <a:t>This method multiplies two integers and returns the result.</a:t>
            </a:r>
          </a:p>
          <a:p>
            <a:endParaRPr lang="en-US" dirty="0" smtClean="0"/>
          </a:p>
          <a:p>
            <a:r>
              <a:rPr lang="en-US" b="1" dirty="0" smtClean="0"/>
              <a:t>static </a:t>
            </a:r>
            <a:r>
              <a:rPr lang="en-US" b="1" dirty="0" err="1" smtClean="0"/>
              <a:t>int</a:t>
            </a:r>
            <a:r>
              <a:rPr lang="en-US" b="1" dirty="0" smtClean="0"/>
              <a:t> sum(</a:t>
            </a:r>
            <a:r>
              <a:rPr lang="en-US" b="1" dirty="0" err="1" smtClean="0"/>
              <a:t>int</a:t>
            </a:r>
            <a:r>
              <a:rPr lang="en-US" b="1" dirty="0" smtClean="0"/>
              <a:t> a, </a:t>
            </a:r>
            <a:r>
              <a:rPr lang="en-US" b="1" dirty="0" err="1" smtClean="0"/>
              <a:t>int</a:t>
            </a:r>
            <a:r>
              <a:rPr lang="en-US" b="1" dirty="0" smtClean="0"/>
              <a:t> b) {</a:t>
            </a:r>
          </a:p>
          <a:p>
            <a:r>
              <a:rPr lang="en-US" b="1" dirty="0" smtClean="0"/>
              <a:t>    return a + b;</a:t>
            </a:r>
          </a:p>
          <a:p>
            <a:r>
              <a:rPr lang="en-US" b="1" dirty="0" smtClean="0"/>
              <a:t>}</a:t>
            </a:r>
          </a:p>
          <a:p>
            <a:r>
              <a:rPr lang="en-US" dirty="0" smtClean="0"/>
              <a:t>This method adds two integers and returns the result.</a:t>
            </a:r>
          </a:p>
          <a:p>
            <a:endParaRPr lang="en-US" dirty="0" smtClean="0"/>
          </a:p>
          <a:p>
            <a:r>
              <a:rPr lang="en-US" b="1" dirty="0" smtClean="0"/>
              <a:t>public static void main(String </a:t>
            </a:r>
            <a:r>
              <a:rPr lang="en-US" b="1" dirty="0" err="1" smtClean="0"/>
              <a:t>args</a:t>
            </a:r>
            <a:r>
              <a:rPr lang="en-US" b="1" dirty="0" smtClean="0"/>
              <a:t>[]) {</a:t>
            </a:r>
          </a:p>
          <a:p>
            <a:r>
              <a:rPr lang="en-US" b="1" dirty="0" smtClean="0"/>
              <a:t>    </a:t>
            </a:r>
            <a:r>
              <a:rPr lang="en-US" b="1" dirty="0" err="1" smtClean="0"/>
              <a:t>int</a:t>
            </a:r>
            <a:r>
              <a:rPr lang="en-US" b="1" dirty="0" smtClean="0"/>
              <a:t> p = product(5, 10);   // calls the product method: 5 * 10 = 50</a:t>
            </a:r>
          </a:p>
          <a:p>
            <a:r>
              <a:rPr lang="en-US" b="1" dirty="0" smtClean="0"/>
              <a:t>    </a:t>
            </a:r>
            <a:r>
              <a:rPr lang="en-US" b="1" dirty="0" err="1" smtClean="0"/>
              <a:t>int</a:t>
            </a:r>
            <a:r>
              <a:rPr lang="en-US" b="1" dirty="0" smtClean="0"/>
              <a:t> s = sum(5, 10);       // calls the sum method: 5 + 10 = 15</a:t>
            </a:r>
          </a:p>
          <a:p>
            <a:r>
              <a:rPr lang="en-US" dirty="0" smtClean="0"/>
              <a:t>The main method is the entry point.</a:t>
            </a:r>
          </a:p>
          <a:p>
            <a:endParaRPr lang="en-US" dirty="0" smtClean="0"/>
          </a:p>
          <a:p>
            <a:r>
              <a:rPr lang="en-US" dirty="0" smtClean="0"/>
              <a:t>It calls both methods with 5 and 10 as arguments.</a:t>
            </a:r>
          </a:p>
          <a:p>
            <a:endParaRPr lang="en-US" dirty="0" smtClean="0"/>
          </a:p>
          <a:p>
            <a:r>
              <a:rPr lang="en-US" dirty="0" smtClean="0"/>
              <a:t>Stores the results in variables p (product) and s (sum).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7CA267-D06A-431D-B321-4E8603C546D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9580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b="1" dirty="0" smtClean="0"/>
              <a:t>concrete method</a:t>
            </a:r>
            <a:r>
              <a:rPr lang="en-US" dirty="0" smtClean="0"/>
              <a:t> is a </a:t>
            </a:r>
            <a:r>
              <a:rPr lang="en-US" b="1" dirty="0" smtClean="0"/>
              <a:t>fully implemented method</a:t>
            </a:r>
            <a:r>
              <a:rPr lang="en-US" dirty="0" smtClean="0"/>
              <a:t> — it has both a </a:t>
            </a:r>
            <a:r>
              <a:rPr lang="en-US" b="1" dirty="0" smtClean="0"/>
              <a:t>name</a:t>
            </a:r>
            <a:r>
              <a:rPr lang="en-US" dirty="0" smtClean="0"/>
              <a:t>, </a:t>
            </a:r>
            <a:r>
              <a:rPr lang="en-US" b="1" dirty="0" smtClean="0"/>
              <a:t>parameters</a:t>
            </a:r>
            <a:r>
              <a:rPr lang="en-US" dirty="0" smtClean="0"/>
              <a:t>, and a </a:t>
            </a:r>
            <a:r>
              <a:rPr lang="en-US" b="1" dirty="0" smtClean="0"/>
              <a:t>body</a:t>
            </a:r>
            <a:r>
              <a:rPr lang="en-US" dirty="0" smtClean="0"/>
              <a:t> (code that performs an action).</a:t>
            </a:r>
          </a:p>
          <a:p>
            <a:r>
              <a:rPr lang="en-US" dirty="0" smtClean="0"/>
              <a:t>You can </a:t>
            </a:r>
            <a:r>
              <a:rPr lang="en-US" b="1" dirty="0" smtClean="0"/>
              <a:t>call it directly</a:t>
            </a:r>
            <a:r>
              <a:rPr lang="en-US" dirty="0" smtClean="0"/>
              <a:t>, and it does something when called.</a:t>
            </a:r>
          </a:p>
          <a:p>
            <a:r>
              <a:rPr lang="en-US" b="1" dirty="0" smtClean="0"/>
              <a:t>Characteristics:</a:t>
            </a:r>
          </a:p>
          <a:p>
            <a:r>
              <a:rPr lang="en-US" dirty="0" smtClean="0"/>
              <a:t>Belongs to a </a:t>
            </a:r>
            <a:r>
              <a:rPr lang="en-US" b="1" dirty="0" smtClean="0"/>
              <a:t>class</a:t>
            </a:r>
            <a:r>
              <a:rPr lang="en-US" dirty="0" smtClean="0"/>
              <a:t> (can be in regular or abstract classes).</a:t>
            </a:r>
          </a:p>
          <a:p>
            <a:r>
              <a:rPr lang="en-US" dirty="0" smtClean="0"/>
              <a:t>Has a </a:t>
            </a:r>
            <a:r>
              <a:rPr lang="en-US" b="1" dirty="0" smtClean="0"/>
              <a:t>body with logic</a:t>
            </a:r>
            <a:r>
              <a:rPr lang="en-US" dirty="0" smtClean="0"/>
              <a:t>.</a:t>
            </a:r>
          </a:p>
          <a:p>
            <a:r>
              <a:rPr lang="en-US" dirty="0" smtClean="0"/>
              <a:t>Unlike </a:t>
            </a:r>
            <a:r>
              <a:rPr lang="en-US" b="1" dirty="0" smtClean="0"/>
              <a:t>abstract methods</a:t>
            </a:r>
            <a:r>
              <a:rPr lang="en-US" dirty="0" smtClean="0"/>
              <a:t>, it is </a:t>
            </a:r>
            <a:r>
              <a:rPr lang="en-US" b="1" dirty="0" smtClean="0"/>
              <a:t>not abstract</a:t>
            </a:r>
            <a:r>
              <a:rPr lang="en-US" dirty="0" smtClean="0"/>
              <a:t>.</a:t>
            </a:r>
          </a:p>
          <a:p>
            <a:r>
              <a:rPr lang="en-US" dirty="0" smtClean="0"/>
              <a:t>Can be </a:t>
            </a:r>
            <a:r>
              <a:rPr lang="en-US" b="1" dirty="0" smtClean="0"/>
              <a:t>inherited</a:t>
            </a:r>
            <a:r>
              <a:rPr lang="en-US" dirty="0" smtClean="0"/>
              <a:t> or </a:t>
            </a:r>
            <a:r>
              <a:rPr lang="en-US" b="1" dirty="0" smtClean="0"/>
              <a:t>overridden</a:t>
            </a:r>
            <a:r>
              <a:rPr lang="en-US" dirty="0" smtClean="0"/>
              <a:t> by subclasses.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7CA267-D06A-431D-B321-4E8603C546D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8477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abstract class Animal</a:t>
            </a:r>
          </a:p>
          <a:p>
            <a:r>
              <a:rPr lang="en-US" dirty="0" smtClean="0"/>
              <a:t>This is an </a:t>
            </a:r>
            <a:r>
              <a:rPr lang="en-US" b="1" dirty="0" smtClean="0"/>
              <a:t>abstract class</a:t>
            </a:r>
            <a:r>
              <a:rPr lang="en-US" dirty="0" smtClean="0"/>
              <a:t> — you </a:t>
            </a:r>
            <a:r>
              <a:rPr lang="en-US" b="1" dirty="0" smtClean="0"/>
              <a:t>cannot create</a:t>
            </a:r>
            <a:r>
              <a:rPr lang="en-US" dirty="0" smtClean="0"/>
              <a:t> objects directly from it.</a:t>
            </a:r>
          </a:p>
          <a:p>
            <a:r>
              <a:rPr lang="en-US" dirty="0" smtClean="0"/>
              <a:t>It contains:</a:t>
            </a:r>
          </a:p>
          <a:p>
            <a:pPr lvl="1"/>
            <a:r>
              <a:rPr lang="en-US" b="1" dirty="0" smtClean="0"/>
              <a:t>A concrete method: sleep(), which has an implementation.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An </a:t>
            </a:r>
            <a:r>
              <a:rPr lang="en-US" b="1" dirty="0" smtClean="0"/>
              <a:t>abstract method</a:t>
            </a:r>
            <a:r>
              <a:rPr lang="en-US" dirty="0" smtClean="0"/>
              <a:t>: </a:t>
            </a:r>
            <a:r>
              <a:rPr lang="en-US" dirty="0" err="1" smtClean="0"/>
              <a:t>makeSound</a:t>
            </a:r>
            <a:r>
              <a:rPr lang="en-US" dirty="0" smtClean="0"/>
              <a:t>(), which has no body — it </a:t>
            </a:r>
            <a:r>
              <a:rPr lang="en-US" b="1" dirty="0" smtClean="0"/>
              <a:t>must</a:t>
            </a:r>
            <a:r>
              <a:rPr lang="en-US" dirty="0" smtClean="0"/>
              <a:t> be implemented in a subclass.</a:t>
            </a:r>
          </a:p>
          <a:p>
            <a:pPr lvl="1"/>
            <a:endParaRPr lang="en-US" dirty="0" smtClean="0"/>
          </a:p>
          <a:p>
            <a:r>
              <a:rPr lang="en-US" b="1" dirty="0" smtClean="0"/>
              <a:t>2. class Dog extends Animal</a:t>
            </a:r>
          </a:p>
          <a:p>
            <a:r>
              <a:rPr lang="en-US" dirty="0" smtClean="0"/>
              <a:t>Dog is a </a:t>
            </a:r>
            <a:r>
              <a:rPr lang="en-US" b="1" dirty="0" smtClean="0"/>
              <a:t>subclass</a:t>
            </a:r>
            <a:r>
              <a:rPr lang="en-US" dirty="0" smtClean="0"/>
              <a:t> of Animal. It </a:t>
            </a:r>
            <a:r>
              <a:rPr lang="en-US" b="1" dirty="0" smtClean="0"/>
              <a:t>inherits</a:t>
            </a:r>
            <a:r>
              <a:rPr lang="en-US" dirty="0" smtClean="0"/>
              <a:t> everything from Animal.</a:t>
            </a:r>
          </a:p>
          <a:p>
            <a:r>
              <a:rPr lang="en-US" dirty="0" smtClean="0"/>
              <a:t>Since Animal has an abstract method </a:t>
            </a:r>
            <a:r>
              <a:rPr lang="en-US" dirty="0" err="1" smtClean="0"/>
              <a:t>makeSound</a:t>
            </a:r>
            <a:r>
              <a:rPr lang="en-US" dirty="0" smtClean="0"/>
              <a:t>(), Dog </a:t>
            </a:r>
            <a:r>
              <a:rPr lang="en-US" b="1" dirty="0" smtClean="0"/>
              <a:t>must implement</a:t>
            </a:r>
            <a:r>
              <a:rPr lang="en-US" dirty="0" smtClean="0"/>
              <a:t> it.</a:t>
            </a:r>
          </a:p>
          <a:p>
            <a:r>
              <a:rPr lang="en-US" dirty="0" smtClean="0"/>
              <a:t>Dog provides its own version of </a:t>
            </a:r>
            <a:r>
              <a:rPr lang="en-US" dirty="0" err="1" smtClean="0"/>
              <a:t>makeSound</a:t>
            </a:r>
            <a:r>
              <a:rPr lang="en-US" dirty="0" smtClean="0"/>
              <a:t>() which prints "Woof!".</a:t>
            </a:r>
          </a:p>
          <a:p>
            <a:r>
              <a:rPr lang="en-US" b="1" dirty="0" smtClean="0"/>
              <a:t>3. public class Main { ... }</a:t>
            </a:r>
          </a:p>
          <a:p>
            <a:r>
              <a:rPr lang="en-US" dirty="0" smtClean="0"/>
              <a:t>This is the class with the main() method — the entry point of the program.</a:t>
            </a:r>
          </a:p>
          <a:p>
            <a:r>
              <a:rPr lang="en-US" dirty="0" smtClean="0"/>
              <a:t>Inside main():</a:t>
            </a:r>
          </a:p>
          <a:p>
            <a:endParaRPr lang="en-US" dirty="0" smtClean="0"/>
          </a:p>
          <a:p>
            <a:pPr rtl="0"/>
            <a:r>
              <a:rPr lang="en-US" b="1" dirty="0" smtClean="0"/>
              <a:t>Dog d = new Dog(); </a:t>
            </a:r>
          </a:p>
          <a:p>
            <a:pPr lvl="1"/>
            <a:r>
              <a:rPr lang="en-US" dirty="0" smtClean="0"/>
              <a:t>Creates a new Dog object.</a:t>
            </a:r>
          </a:p>
          <a:p>
            <a:pPr rtl="0"/>
            <a:endParaRPr lang="en-US" dirty="0" smtClean="0"/>
          </a:p>
          <a:p>
            <a:pPr rtl="0"/>
            <a:r>
              <a:rPr lang="en-US" b="1" dirty="0" err="1" smtClean="0"/>
              <a:t>d.makeSound</a:t>
            </a:r>
            <a:r>
              <a:rPr lang="en-US" b="1" dirty="0" smtClean="0"/>
              <a:t>(); // Calls Dog's method </a:t>
            </a:r>
          </a:p>
          <a:p>
            <a:pPr lvl="1"/>
            <a:r>
              <a:rPr lang="en-US" dirty="0" smtClean="0"/>
              <a:t>Executes the </a:t>
            </a:r>
            <a:r>
              <a:rPr lang="en-US" dirty="0" err="1" smtClean="0"/>
              <a:t>makeSound</a:t>
            </a:r>
            <a:r>
              <a:rPr lang="en-US" dirty="0" smtClean="0"/>
              <a:t>() method → prints "Woof!"</a:t>
            </a:r>
          </a:p>
          <a:p>
            <a:pPr rtl="0"/>
            <a:endParaRPr lang="en-US" dirty="0" smtClean="0"/>
          </a:p>
          <a:p>
            <a:pPr rtl="0"/>
            <a:endParaRPr lang="en-US" dirty="0" smtClean="0"/>
          </a:p>
          <a:p>
            <a:pPr rtl="0"/>
            <a:r>
              <a:rPr lang="en-US" b="1" dirty="0" err="1" smtClean="0"/>
              <a:t>d.sleep</a:t>
            </a:r>
            <a:r>
              <a:rPr lang="en-US" b="1" dirty="0" smtClean="0"/>
              <a:t>(); // Inherited from Animal </a:t>
            </a:r>
          </a:p>
          <a:p>
            <a:pPr lvl="1"/>
            <a:r>
              <a:rPr lang="en-US" dirty="0" smtClean="0"/>
              <a:t>Executes the sleep() method from the parent class → prints "</a:t>
            </a:r>
            <a:r>
              <a:rPr lang="en-US" dirty="0" err="1" smtClean="0"/>
              <a:t>Zzz</a:t>
            </a:r>
            <a:r>
              <a:rPr lang="en-US" dirty="0" smtClean="0"/>
              <a:t>"</a:t>
            </a:r>
          </a:p>
          <a:p>
            <a:endParaRPr lang="en-US" b="1" dirty="0" smtClean="0"/>
          </a:p>
          <a:p>
            <a:r>
              <a:rPr lang="en-US" b="1" dirty="0" smtClean="0"/>
              <a:t>Output of the Program:</a:t>
            </a:r>
          </a:p>
          <a:p>
            <a:r>
              <a:rPr lang="en-US" dirty="0" err="1" smtClean="0"/>
              <a:t>CopyEdit</a:t>
            </a:r>
            <a:endParaRPr lang="en-US" dirty="0" smtClean="0"/>
          </a:p>
          <a:p>
            <a:pPr rtl="0"/>
            <a:r>
              <a:rPr lang="en-US" dirty="0" smtClean="0"/>
              <a:t>Woof! </a:t>
            </a:r>
            <a:r>
              <a:rPr lang="en-US" dirty="0" err="1" smtClean="0"/>
              <a:t>Zzz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7CA267-D06A-431D-B321-4E8603C546D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2957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n </a:t>
            </a:r>
            <a:r>
              <a:rPr lang="en-US" b="1" dirty="0" smtClean="0"/>
              <a:t>interface</a:t>
            </a:r>
            <a:r>
              <a:rPr lang="en-US" dirty="0" smtClean="0"/>
              <a:t> is a </a:t>
            </a:r>
            <a:r>
              <a:rPr lang="en-US" b="1" dirty="0" smtClean="0"/>
              <a:t>contract</a:t>
            </a:r>
            <a:r>
              <a:rPr lang="en-US" dirty="0" smtClean="0"/>
              <a:t> or </a:t>
            </a:r>
            <a:r>
              <a:rPr lang="en-US" b="1" dirty="0" smtClean="0"/>
              <a:t>blueprint</a:t>
            </a:r>
            <a:r>
              <a:rPr lang="en-US" dirty="0" smtClean="0"/>
              <a:t> that defines a set of </a:t>
            </a:r>
            <a:r>
              <a:rPr lang="en-US" b="1" dirty="0" smtClean="0"/>
              <a:t>methods</a:t>
            </a:r>
            <a:r>
              <a:rPr lang="en-US" dirty="0" smtClean="0"/>
              <a:t> (and sometimes properties) that a class must implement.</a:t>
            </a:r>
          </a:p>
          <a:p>
            <a:r>
              <a:rPr lang="en-US" dirty="0" smtClean="0"/>
              <a:t>It contains </a:t>
            </a:r>
            <a:r>
              <a:rPr lang="en-US" b="1" dirty="0" smtClean="0"/>
              <a:t>only method signatures</a:t>
            </a:r>
            <a:r>
              <a:rPr lang="en-US" dirty="0" smtClean="0"/>
              <a:t> (no implementation — unless you're in a modern language that allows default methods).</a:t>
            </a:r>
          </a:p>
          <a:p>
            <a:r>
              <a:rPr lang="en-US" dirty="0" smtClean="0"/>
              <a:t>A class that </a:t>
            </a:r>
            <a:r>
              <a:rPr lang="en-US" b="1" dirty="0" smtClean="0"/>
              <a:t>implements</a:t>
            </a:r>
            <a:r>
              <a:rPr lang="en-US" dirty="0" smtClean="0"/>
              <a:t> an interface must provide code for </a:t>
            </a:r>
            <a:r>
              <a:rPr lang="en-US" b="1" dirty="0" smtClean="0"/>
              <a:t>all its methods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7CA267-D06A-431D-B321-4E8603C546D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8112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What the Code Does:</a:t>
            </a:r>
          </a:p>
          <a:p>
            <a:r>
              <a:rPr lang="en-US" dirty="0" smtClean="0"/>
              <a:t>Defines an interface Animal with two methods: </a:t>
            </a:r>
            <a:r>
              <a:rPr lang="en-US" dirty="0" err="1" smtClean="0"/>
              <a:t>animalSound</a:t>
            </a:r>
            <a:r>
              <a:rPr lang="en-US" dirty="0" smtClean="0"/>
              <a:t>() and sleep().</a:t>
            </a:r>
          </a:p>
          <a:p>
            <a:r>
              <a:rPr lang="en-US" dirty="0" smtClean="0"/>
              <a:t>A class Dog implements the Animal interface </a:t>
            </a:r>
          </a:p>
          <a:p>
            <a:r>
              <a:rPr lang="en-US" dirty="0" smtClean="0"/>
              <a:t>and </a:t>
            </a:r>
            <a:r>
              <a:rPr lang="en-US" b="1" dirty="0" smtClean="0"/>
              <a:t>provides concrete implementations</a:t>
            </a:r>
            <a:r>
              <a:rPr lang="en-US" dirty="0" smtClean="0"/>
              <a:t> for those two methods.</a:t>
            </a:r>
          </a:p>
          <a:p>
            <a:r>
              <a:rPr lang="en-US" dirty="0" smtClean="0"/>
              <a:t>In </a:t>
            </a:r>
            <a:r>
              <a:rPr lang="en-US" dirty="0" err="1" smtClean="0"/>
              <a:t>MyMainClass</a:t>
            </a:r>
            <a:r>
              <a:rPr lang="en-US" dirty="0" smtClean="0"/>
              <a:t>, it creates a Dog object and calls both methods.</a:t>
            </a:r>
          </a:p>
          <a:p>
            <a:endParaRPr lang="en-US" dirty="0" smtClean="0"/>
          </a:p>
          <a:p>
            <a:r>
              <a:rPr lang="en-US" dirty="0" smtClean="0"/>
              <a:t>Output</a:t>
            </a:r>
          </a:p>
          <a:p>
            <a:r>
              <a:rPr lang="en-US" dirty="0" smtClean="0"/>
              <a:t>The Dog says: woof</a:t>
            </a:r>
            <a:r>
              <a:rPr lang="en-US" baseline="0" dirty="0" smtClean="0"/>
              <a:t> </a:t>
            </a:r>
            <a:r>
              <a:rPr lang="en-US" baseline="0" dirty="0" err="1" smtClean="0"/>
              <a:t>woof</a:t>
            </a:r>
            <a:endParaRPr lang="en-US" dirty="0" smtClean="0"/>
          </a:p>
          <a:p>
            <a:r>
              <a:rPr lang="en-US" dirty="0" err="1" smtClean="0"/>
              <a:t>Zzz</a:t>
            </a: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Why </a:t>
            </a:r>
            <a:r>
              <a:rPr lang="en-US" dirty="0" err="1" smtClean="0"/>
              <a:t>thi</a:t>
            </a:r>
            <a:r>
              <a:rPr lang="en-US" dirty="0" smtClean="0"/>
              <a:t> happens:</a:t>
            </a:r>
          </a:p>
          <a:p>
            <a:r>
              <a:rPr lang="en-US" dirty="0" smtClean="0"/>
              <a:t>The interface Animal forces Dog to implement the behavior.</a:t>
            </a:r>
          </a:p>
          <a:p>
            <a:r>
              <a:rPr lang="en-US" dirty="0" err="1" smtClean="0"/>
              <a:t>myDog.animalSound</a:t>
            </a:r>
            <a:r>
              <a:rPr lang="en-US" dirty="0" smtClean="0"/>
              <a:t>() calls the overridden method in Dog.</a:t>
            </a:r>
          </a:p>
          <a:p>
            <a:r>
              <a:rPr lang="en-US" dirty="0" err="1" smtClean="0"/>
              <a:t>myDog.sleep</a:t>
            </a:r>
            <a:r>
              <a:rPr lang="en-US" dirty="0" smtClean="0"/>
              <a:t>() does the same for the sleep() method.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7CA267-D06A-431D-B321-4E8603C546D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824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00C880DB-C1D1-43AD-A8BD-AC5997255088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260671BA-01B5-4595-B38E-86AFB4481308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17174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00C880DB-C1D1-43AD-A8BD-AC5997255088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260671BA-01B5-4595-B38E-86AFB44813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555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880DB-C1D1-43AD-A8BD-AC5997255088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260671BA-01B5-4595-B38E-86AFB44813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247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880DB-C1D1-43AD-A8BD-AC5997255088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671BA-01B5-4595-B38E-86AFB44813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917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880DB-C1D1-43AD-A8BD-AC5997255088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671BA-01B5-4595-B38E-86AFB44813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455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880DB-C1D1-43AD-A8BD-AC5997255088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671BA-01B5-4595-B38E-86AFB44813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215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880DB-C1D1-43AD-A8BD-AC5997255088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671BA-01B5-4595-B38E-86AFB44813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492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880DB-C1D1-43AD-A8BD-AC5997255088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671BA-01B5-4595-B38E-86AFB44813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258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880DB-C1D1-43AD-A8BD-AC5997255088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671BA-01B5-4595-B38E-86AFB44813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72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880DB-C1D1-43AD-A8BD-AC5997255088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671BA-01B5-4595-B38E-86AFB44813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197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880DB-C1D1-43AD-A8BD-AC5997255088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671BA-01B5-4595-B38E-86AFB44813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6202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880DB-C1D1-43AD-A8BD-AC5997255088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671BA-01B5-4595-B38E-86AFB44813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0300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880DB-C1D1-43AD-A8BD-AC5997255088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671BA-01B5-4595-B38E-86AFB44813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6779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880DB-C1D1-43AD-A8BD-AC5997255088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671BA-01B5-4595-B38E-86AFB44813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2651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880DB-C1D1-43AD-A8BD-AC5997255088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671BA-01B5-4595-B38E-86AFB44813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3062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880DB-C1D1-43AD-A8BD-AC5997255088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671BA-01B5-4595-B38E-86AFB44813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9379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880DB-C1D1-43AD-A8BD-AC5997255088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671BA-01B5-4595-B38E-86AFB44813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805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0C880DB-C1D1-43AD-A8BD-AC5997255088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60671BA-01B5-4595-B38E-86AFB44813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871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Design Patterns</a:t>
            </a:r>
            <a:br>
              <a:rPr lang="en-US" dirty="0"/>
            </a:br>
            <a:r>
              <a:rPr lang="en-US" dirty="0"/>
              <a:t>Object Oriented 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Ms. Shehla Saeed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11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01445"/>
            <a:ext cx="7704667" cy="761999"/>
          </a:xfrm>
        </p:spPr>
        <p:txBody>
          <a:bodyPr/>
          <a:lstStyle/>
          <a:p>
            <a:r>
              <a:rPr lang="en-US" b="1" dirty="0" smtClean="0"/>
              <a:t> </a:t>
            </a:r>
            <a:r>
              <a:rPr lang="en-US" b="1" dirty="0"/>
              <a:t>Architectural </a:t>
            </a:r>
            <a:r>
              <a:rPr lang="en-US" b="1" dirty="0" smtClean="0"/>
              <a:t>Style/design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2" y="1600200"/>
            <a:ext cx="7704667" cy="4780616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An </a:t>
            </a:r>
            <a:r>
              <a:rPr lang="en-US" b="1" dirty="0"/>
              <a:t>Architectural Style</a:t>
            </a:r>
            <a:r>
              <a:rPr lang="en-US" dirty="0"/>
              <a:t> defines the </a:t>
            </a:r>
            <a:r>
              <a:rPr lang="en-US" b="1" dirty="0"/>
              <a:t>overall structure and organization</a:t>
            </a:r>
            <a:r>
              <a:rPr lang="en-US" dirty="0"/>
              <a:t> of a system at the </a:t>
            </a:r>
            <a:r>
              <a:rPr lang="en-US" b="1" dirty="0"/>
              <a:t>highest level of abstraction</a:t>
            </a:r>
            <a:r>
              <a:rPr lang="en-US" dirty="0"/>
              <a:t>.</a:t>
            </a:r>
          </a:p>
          <a:p>
            <a:r>
              <a:rPr lang="en-US" dirty="0"/>
              <a:t>👉 It answers:</a:t>
            </a:r>
          </a:p>
          <a:p>
            <a:r>
              <a:rPr lang="en-US" dirty="0"/>
              <a:t>How is the system </a:t>
            </a:r>
            <a:r>
              <a:rPr lang="en-US" b="1" dirty="0"/>
              <a:t>organized overall</a:t>
            </a:r>
            <a:r>
              <a:rPr lang="en-US" dirty="0"/>
              <a:t>? </a:t>
            </a:r>
          </a:p>
          <a:p>
            <a:r>
              <a:rPr lang="en-US" dirty="0"/>
              <a:t>What are the </a:t>
            </a:r>
            <a:r>
              <a:rPr lang="en-US" b="1" dirty="0"/>
              <a:t>main components</a:t>
            </a:r>
            <a:r>
              <a:rPr lang="en-US" dirty="0"/>
              <a:t>? </a:t>
            </a:r>
          </a:p>
          <a:p>
            <a:r>
              <a:rPr lang="en-US" dirty="0"/>
              <a:t>How do they </a:t>
            </a:r>
            <a:r>
              <a:rPr lang="en-US" b="1" dirty="0"/>
              <a:t>interact globally</a:t>
            </a:r>
            <a:r>
              <a:rPr lang="en-US" dirty="0"/>
              <a:t>?</a:t>
            </a:r>
          </a:p>
          <a:p>
            <a:r>
              <a:rPr lang="en-US" b="1" dirty="0" smtClean="0"/>
              <a:t>Examples</a:t>
            </a:r>
            <a:r>
              <a:rPr lang="en-US" b="1" dirty="0"/>
              <a:t>:</a:t>
            </a:r>
            <a:endParaRPr lang="en-US" dirty="0"/>
          </a:p>
          <a:p>
            <a:pPr lvl="1"/>
            <a:r>
              <a:rPr lang="en-US" b="1" dirty="0"/>
              <a:t>Client-Server:</a:t>
            </a:r>
            <a:r>
              <a:rPr lang="en-US" dirty="0"/>
              <a:t> A central server provides resources to multiple client applications.</a:t>
            </a:r>
          </a:p>
          <a:p>
            <a:pPr lvl="1"/>
            <a:r>
              <a:rPr lang="en-US" b="1" dirty="0" err="1"/>
              <a:t>Microservices</a:t>
            </a:r>
            <a:r>
              <a:rPr lang="en-US" b="1" dirty="0"/>
              <a:t>:</a:t>
            </a:r>
            <a:r>
              <a:rPr lang="en-US" dirty="0"/>
              <a:t> The application is built as a collection of small, independent services that communicate over a network.</a:t>
            </a:r>
          </a:p>
          <a:p>
            <a:pPr lvl="1"/>
            <a:r>
              <a:rPr lang="en-US" b="1" dirty="0"/>
              <a:t>Layered (N-Tier):</a:t>
            </a:r>
            <a:r>
              <a:rPr lang="en-US" dirty="0"/>
              <a:t> The system is organized into horizontal layers (e.g., presentation, business logic, database), where each layer only talks to the one directly below it.</a:t>
            </a:r>
          </a:p>
        </p:txBody>
      </p:sp>
    </p:spTree>
    <p:extLst>
      <p:ext uri="{BB962C8B-B14F-4D97-AF65-F5344CB8AC3E}">
        <p14:creationId xmlns:p14="http://schemas.microsoft.com/office/powerpoint/2010/main" val="577481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06679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Architectural Pattern (Implementation Strategy)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057400"/>
            <a:ext cx="7704667" cy="4475816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An </a:t>
            </a:r>
            <a:r>
              <a:rPr lang="en-US" b="1" dirty="0"/>
              <a:t>Architectural Pattern</a:t>
            </a:r>
            <a:r>
              <a:rPr lang="en-US" dirty="0"/>
              <a:t> is a </a:t>
            </a:r>
            <a:r>
              <a:rPr lang="en-US" b="1" dirty="0"/>
              <a:t>reusable solution</a:t>
            </a:r>
            <a:r>
              <a:rPr lang="en-US" dirty="0"/>
              <a:t> used to </a:t>
            </a:r>
            <a:r>
              <a:rPr lang="en-US" b="1" dirty="0"/>
              <a:t>implement an architectural style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👉 It answers:</a:t>
            </a:r>
          </a:p>
          <a:p>
            <a:pPr lvl="1"/>
            <a:r>
              <a:rPr lang="en-US" dirty="0"/>
              <a:t>How do we </a:t>
            </a:r>
            <a:r>
              <a:rPr lang="en-US" b="1" dirty="0"/>
              <a:t>apply</a:t>
            </a:r>
            <a:r>
              <a:rPr lang="en-US" dirty="0"/>
              <a:t> the style in practice? </a:t>
            </a:r>
          </a:p>
          <a:p>
            <a:pPr lvl="1"/>
            <a:r>
              <a:rPr lang="en-US" dirty="0"/>
              <a:t>How do components </a:t>
            </a:r>
            <a:r>
              <a:rPr lang="en-US" b="1" dirty="0"/>
              <a:t>collaborate</a:t>
            </a:r>
            <a:r>
              <a:rPr lang="en-US" dirty="0"/>
              <a:t>?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adds </a:t>
            </a:r>
            <a:r>
              <a:rPr lang="en-US" b="1" dirty="0"/>
              <a:t>best practices and rules</a:t>
            </a:r>
            <a:r>
              <a:rPr lang="en-US" dirty="0"/>
              <a:t> to a style to guide implementation.</a:t>
            </a:r>
          </a:p>
          <a:p>
            <a:pPr marL="0" indent="0">
              <a:buNone/>
            </a:pPr>
            <a:r>
              <a:rPr lang="en-US" dirty="0"/>
              <a:t>Examples:</a:t>
            </a:r>
          </a:p>
          <a:p>
            <a:r>
              <a:rPr lang="en-US" dirty="0"/>
              <a:t>MVC (Model-View-Controller) — often used in layered architectures</a:t>
            </a:r>
          </a:p>
          <a:p>
            <a:r>
              <a:rPr lang="en-US" dirty="0"/>
              <a:t>Broker Pattern — common in distributed systems </a:t>
            </a:r>
          </a:p>
          <a:p>
            <a:r>
              <a:rPr lang="en-US" dirty="0"/>
              <a:t> </a:t>
            </a:r>
            <a:r>
              <a:rPr lang="en-US" b="1" dirty="0"/>
              <a:t>CORBA</a:t>
            </a:r>
            <a:r>
              <a:rPr lang="en-US" dirty="0"/>
              <a:t> (Common Object Request Broker Architecture)</a:t>
            </a:r>
          </a:p>
          <a:p>
            <a:r>
              <a:rPr lang="en-US" b="1" dirty="0"/>
              <a:t>Message Brokers</a:t>
            </a:r>
            <a:r>
              <a:rPr lang="en-US" dirty="0"/>
              <a:t> like </a:t>
            </a:r>
            <a:r>
              <a:rPr lang="en-US" dirty="0" err="1"/>
              <a:t>RabbitMQ</a:t>
            </a:r>
            <a:r>
              <a:rPr lang="en-US" dirty="0"/>
              <a:t>, Kafka, or Apache </a:t>
            </a:r>
            <a:r>
              <a:rPr lang="en-US" dirty="0" err="1" smtClean="0"/>
              <a:t>ActiveMQ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693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Design Pattern (Low-Level Solution)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A </a:t>
            </a:r>
            <a:r>
              <a:rPr lang="en-US" b="1" dirty="0"/>
              <a:t>Design Pattern</a:t>
            </a:r>
            <a:r>
              <a:rPr lang="en-US" dirty="0"/>
              <a:t> is a </a:t>
            </a:r>
            <a:r>
              <a:rPr lang="en-US" b="1" dirty="0"/>
              <a:t>solution to a localized problem</a:t>
            </a:r>
            <a:r>
              <a:rPr lang="en-US" dirty="0"/>
              <a:t> within a small part of the system.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👉 </a:t>
            </a:r>
            <a:r>
              <a:rPr lang="en-US" dirty="0" smtClean="0"/>
              <a:t>It </a:t>
            </a:r>
            <a:r>
              <a:rPr lang="en-US" dirty="0"/>
              <a:t>answers:</a:t>
            </a:r>
          </a:p>
          <a:p>
            <a:r>
              <a:rPr lang="en-US" dirty="0"/>
              <a:t>How should a </a:t>
            </a:r>
            <a:r>
              <a:rPr lang="en-US" b="1" dirty="0"/>
              <a:t>specific piece of code</a:t>
            </a:r>
            <a:r>
              <a:rPr lang="en-US" dirty="0"/>
              <a:t> be designed? </a:t>
            </a:r>
          </a:p>
          <a:p>
            <a:r>
              <a:rPr lang="en-US" dirty="0"/>
              <a:t>How do objects/classes interact</a:t>
            </a:r>
            <a:r>
              <a:rPr lang="en-US" dirty="0" smtClean="0"/>
              <a:t>?</a:t>
            </a:r>
          </a:p>
          <a:p>
            <a:r>
              <a:rPr lang="en-US" dirty="0"/>
              <a:t>Not a finished design: It is not code you can directly copy and paste</a:t>
            </a:r>
            <a:r>
              <a:rPr lang="en-US" dirty="0" smtClean="0"/>
              <a:t>.</a:t>
            </a:r>
          </a:p>
          <a:p>
            <a:r>
              <a:rPr lang="en-US" dirty="0" smtClean="0"/>
              <a:t>A </a:t>
            </a:r>
            <a:r>
              <a:rPr lang="en-US" dirty="0"/>
              <a:t>template: It is a description or template for how to solve a problem that can be used in many different </a:t>
            </a:r>
            <a:r>
              <a:rPr lang="en-US" dirty="0" smtClean="0"/>
              <a:t>situations</a:t>
            </a:r>
            <a:r>
              <a:rPr lang="en-US" dirty="0" smtClean="0"/>
              <a:t>.</a:t>
            </a:r>
          </a:p>
          <a:p>
            <a:r>
              <a:rPr lang="en-US" dirty="0" smtClean="0"/>
              <a:t>Language </a:t>
            </a:r>
            <a:r>
              <a:rPr lang="en-US" dirty="0"/>
              <a:t>Agnostic: Concepts apply to Java, C++, Python, C#, etc.</a:t>
            </a:r>
          </a:p>
        </p:txBody>
      </p:sp>
    </p:spTree>
    <p:extLst>
      <p:ext uri="{BB962C8B-B14F-4D97-AF65-F5344CB8AC3E}">
        <p14:creationId xmlns:p14="http://schemas.microsoft.com/office/powerpoint/2010/main" val="2877813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Architectural </a:t>
            </a:r>
            <a:r>
              <a:rPr lang="en-US" dirty="0" err="1"/>
              <a:t>vs</a:t>
            </a:r>
            <a:r>
              <a:rPr lang="en-US" dirty="0"/>
              <a:t> design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An </a:t>
            </a:r>
            <a:r>
              <a:rPr lang="en-US" b="1" dirty="0"/>
              <a:t>Architectural</a:t>
            </a:r>
            <a:r>
              <a:rPr lang="en-US" dirty="0"/>
              <a:t> Style is the application </a:t>
            </a:r>
            <a:r>
              <a:rPr lang="en-US" b="1" dirty="0"/>
              <a:t>design</a:t>
            </a:r>
            <a:r>
              <a:rPr lang="en-US" dirty="0"/>
              <a:t> at the highest level of abstraction; An </a:t>
            </a:r>
            <a:r>
              <a:rPr lang="en-US" b="1" dirty="0"/>
              <a:t>Architectural Pattern</a:t>
            </a:r>
            <a:r>
              <a:rPr lang="en-US" dirty="0"/>
              <a:t> is a way to implement an </a:t>
            </a:r>
            <a:r>
              <a:rPr lang="en-US" b="1" dirty="0"/>
              <a:t>Architectural</a:t>
            </a:r>
            <a:r>
              <a:rPr lang="en-US" dirty="0"/>
              <a:t> Style</a:t>
            </a:r>
          </a:p>
          <a:p>
            <a:pPr algn="just"/>
            <a:r>
              <a:rPr lang="en-US" dirty="0"/>
              <a:t> A </a:t>
            </a:r>
            <a:r>
              <a:rPr lang="en-US" b="1" dirty="0"/>
              <a:t>Design Pattern</a:t>
            </a:r>
            <a:r>
              <a:rPr lang="en-US" dirty="0"/>
              <a:t> is a way to solve a localized problem.</a:t>
            </a:r>
          </a:p>
          <a:p>
            <a:pPr algn="just"/>
            <a:r>
              <a:rPr lang="en-US" dirty="0"/>
              <a:t>In a few words, while </a:t>
            </a:r>
            <a:r>
              <a:rPr lang="en-US" b="1" dirty="0"/>
              <a:t>Design Patterns</a:t>
            </a:r>
            <a:r>
              <a:rPr lang="en-US" dirty="0"/>
              <a:t> impact a specific section of the code base</a:t>
            </a:r>
          </a:p>
          <a:p>
            <a:pPr algn="just"/>
            <a:r>
              <a:rPr lang="en-US" dirty="0"/>
              <a:t> </a:t>
            </a:r>
            <a:r>
              <a:rPr lang="en-US" b="1" dirty="0"/>
              <a:t>Architectural Patterns</a:t>
            </a:r>
            <a:r>
              <a:rPr lang="en-US" dirty="0"/>
              <a:t> are high-level strategies that concern large-scale components, the global properties and mechanisms of a system.</a:t>
            </a:r>
          </a:p>
        </p:txBody>
      </p:sp>
    </p:spTree>
    <p:extLst>
      <p:ext uri="{BB962C8B-B14F-4D97-AF65-F5344CB8AC3E}">
        <p14:creationId xmlns:p14="http://schemas.microsoft.com/office/powerpoint/2010/main" val="504536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5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4267200"/>
            <a:ext cx="1689538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63522" name="Rectangle 2"/>
          <p:cNvSpPr>
            <a:spLocks noGrp="1" noChangeArrowheads="1"/>
          </p:cNvSpPr>
          <p:nvPr>
            <p:ph type="title"/>
          </p:nvPr>
        </p:nvSpPr>
        <p:spPr>
          <a:xfrm>
            <a:off x="982133" y="457201"/>
            <a:ext cx="7704667" cy="838199"/>
          </a:xfrm>
        </p:spPr>
        <p:txBody>
          <a:bodyPr/>
          <a:lstStyle/>
          <a:p>
            <a:r>
              <a:rPr lang="en-US" altLang="en-US" smtClean="0"/>
              <a:t>Design patterns</a:t>
            </a:r>
          </a:p>
        </p:txBody>
      </p:sp>
      <p:sp>
        <p:nvSpPr>
          <p:cNvPr id="363523" name="Rectangle 3"/>
          <p:cNvSpPr>
            <a:spLocks noGrp="1" noChangeArrowheads="1"/>
          </p:cNvSpPr>
          <p:nvPr>
            <p:ph idx="1"/>
          </p:nvPr>
        </p:nvSpPr>
        <p:spPr>
          <a:xfrm>
            <a:off x="0" y="1295400"/>
            <a:ext cx="9144000" cy="5562600"/>
          </a:xfrm>
        </p:spPr>
        <p:txBody>
          <a:bodyPr>
            <a:normAutofit/>
          </a:bodyPr>
          <a:lstStyle/>
          <a:p>
            <a:r>
              <a:rPr lang="en-US" b="1" dirty="0" smtClean="0"/>
              <a:t>A </a:t>
            </a:r>
            <a:r>
              <a:rPr lang="en-US" b="1" dirty="0"/>
              <a:t>Brief History (The Gang of Four)</a:t>
            </a:r>
          </a:p>
          <a:p>
            <a:r>
              <a:rPr lang="en-US" b="1" dirty="0"/>
              <a:t>Origin:</a:t>
            </a:r>
            <a:r>
              <a:rPr lang="en-US" dirty="0"/>
              <a:t> Concept originated in civil engineering/architecture by Christopher Alexander.</a:t>
            </a:r>
          </a:p>
          <a:p>
            <a:r>
              <a:rPr lang="en-US" b="1" dirty="0"/>
              <a:t>Software Adoption:</a:t>
            </a:r>
            <a:r>
              <a:rPr lang="en-US" dirty="0"/>
              <a:t> Popularized in 1994 by the book </a:t>
            </a:r>
            <a:r>
              <a:rPr lang="en-US" i="1" dirty="0"/>
              <a:t>"Design Patterns: Elements of Reusable Object-Oriented Software"</a:t>
            </a:r>
            <a:r>
              <a:rPr lang="en-US" dirty="0"/>
              <a:t>.</a:t>
            </a:r>
          </a:p>
          <a:p>
            <a:r>
              <a:rPr lang="en-US" b="1" dirty="0"/>
              <a:t>The </a:t>
            </a:r>
            <a:r>
              <a:rPr lang="en-US" b="1" dirty="0" err="1"/>
              <a:t>GoF</a:t>
            </a:r>
            <a:r>
              <a:rPr lang="en-US" b="1" dirty="0"/>
              <a:t>:</a:t>
            </a:r>
            <a:r>
              <a:rPr lang="en-US" dirty="0"/>
              <a:t> The four authors—Erich Gamma, Richard Helm, Ralph Johnson, and John </a:t>
            </a:r>
            <a:r>
              <a:rPr lang="en-US" dirty="0" err="1"/>
              <a:t>Vlissides</a:t>
            </a:r>
            <a:r>
              <a:rPr lang="en-US" dirty="0"/>
              <a:t>—are affectionately known in CS as the "Gang of Four" (</a:t>
            </a:r>
            <a:r>
              <a:rPr lang="en-US" dirty="0" err="1"/>
              <a:t>GoF</a:t>
            </a:r>
            <a:r>
              <a:rPr lang="en-US" dirty="0"/>
              <a:t>).</a:t>
            </a:r>
          </a:p>
          <a:p>
            <a:r>
              <a:rPr lang="en-US" b="1" dirty="0"/>
              <a:t>The Original 23:</a:t>
            </a:r>
            <a:r>
              <a:rPr lang="en-US" dirty="0"/>
              <a:t> The book cataloged 23 fundamental patterns that are still used today.</a:t>
            </a:r>
          </a:p>
          <a:p>
            <a:pPr lvl="1"/>
            <a:r>
              <a:rPr lang="en-US" altLang="en-US" dirty="0" smtClean="0">
                <a:solidFill>
                  <a:srgbClr val="404040"/>
                </a:solidFill>
              </a:rPr>
              <a:t>1995 book </a:t>
            </a:r>
            <a:r>
              <a:rPr lang="en-US" altLang="en-US" i="1" dirty="0" smtClean="0">
                <a:solidFill>
                  <a:srgbClr val="404040"/>
                </a:solidFill>
              </a:rPr>
              <a:t>Design Patterns: </a:t>
            </a:r>
            <a:br>
              <a:rPr lang="en-US" altLang="en-US" i="1" dirty="0" smtClean="0">
                <a:solidFill>
                  <a:srgbClr val="404040"/>
                </a:solidFill>
              </a:rPr>
            </a:br>
            <a:r>
              <a:rPr lang="en-US" altLang="en-US" i="1" dirty="0" smtClean="0">
                <a:solidFill>
                  <a:srgbClr val="404040"/>
                </a:solidFill>
              </a:rPr>
              <a:t>Elements of Reusable Object-Oriented </a:t>
            </a:r>
            <a:br>
              <a:rPr lang="en-US" altLang="en-US" i="1" dirty="0" smtClean="0">
                <a:solidFill>
                  <a:srgbClr val="404040"/>
                </a:solidFill>
              </a:rPr>
            </a:br>
            <a:r>
              <a:rPr lang="en-US" altLang="en-US" i="1" dirty="0" smtClean="0">
                <a:solidFill>
                  <a:srgbClr val="404040"/>
                </a:solidFill>
              </a:rPr>
              <a:t>Software</a:t>
            </a:r>
            <a:r>
              <a:rPr lang="en-US" altLang="en-US" dirty="0" smtClean="0">
                <a:solidFill>
                  <a:srgbClr val="404040"/>
                </a:solidFill>
              </a:rPr>
              <a:t> is a classic of the field</a:t>
            </a:r>
          </a:p>
        </p:txBody>
      </p:sp>
    </p:spTree>
    <p:extLst>
      <p:ext uri="{BB962C8B-B14F-4D97-AF65-F5344CB8AC3E}">
        <p14:creationId xmlns:p14="http://schemas.microsoft.com/office/powerpoint/2010/main" val="370580476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295399"/>
          </a:xfrm>
        </p:spPr>
        <p:txBody>
          <a:bodyPr/>
          <a:lstStyle/>
          <a:p>
            <a:r>
              <a:rPr lang="en-US" b="1" dirty="0"/>
              <a:t>Why Use Design Patterns?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752600"/>
            <a:ext cx="7704667" cy="4247216"/>
          </a:xfrm>
        </p:spPr>
        <p:txBody>
          <a:bodyPr>
            <a:normAutofit fontScale="92500"/>
          </a:bodyPr>
          <a:lstStyle/>
          <a:p>
            <a:r>
              <a:rPr lang="en-US" b="1" dirty="0" smtClean="0"/>
              <a:t>Proven </a:t>
            </a:r>
            <a:r>
              <a:rPr lang="en-US" b="1" dirty="0"/>
              <a:t>Solutions:</a:t>
            </a:r>
            <a:r>
              <a:rPr lang="en-US" dirty="0"/>
              <a:t> They are battle-tested by thousands of developers.</a:t>
            </a:r>
          </a:p>
          <a:p>
            <a:r>
              <a:rPr lang="en-US" b="1" dirty="0"/>
              <a:t>Code Reusability:</a:t>
            </a:r>
            <a:r>
              <a:rPr lang="en-US" dirty="0"/>
              <a:t> Promotes writing code that is modular and adaptable.</a:t>
            </a:r>
          </a:p>
          <a:p>
            <a:r>
              <a:rPr lang="en-US" b="1" dirty="0"/>
              <a:t>Shared Vocabulary:</a:t>
            </a:r>
            <a:r>
              <a:rPr lang="en-US" dirty="0"/>
              <a:t> Allows developers to communicate efficiently.</a:t>
            </a:r>
          </a:p>
          <a:p>
            <a:pPr lvl="1"/>
            <a:r>
              <a:rPr lang="en-US" i="1" dirty="0"/>
              <a:t>Instead of saying:</a:t>
            </a:r>
            <a:r>
              <a:rPr lang="en-US" dirty="0"/>
              <a:t> "I wrote a class that only lets you create one instance of it and gives global access..."</a:t>
            </a:r>
          </a:p>
          <a:p>
            <a:pPr lvl="1"/>
            <a:r>
              <a:rPr lang="en-US" i="1" dirty="0"/>
              <a:t>You say:</a:t>
            </a:r>
            <a:r>
              <a:rPr lang="en-US" dirty="0"/>
              <a:t> "I used a Singleton."</a:t>
            </a:r>
          </a:p>
          <a:p>
            <a:r>
              <a:rPr lang="en-US" b="1" dirty="0"/>
              <a:t>Faster Development:</a:t>
            </a:r>
            <a:r>
              <a:rPr lang="en-US" dirty="0"/>
              <a:t> You don't have to reinvent the wheel.</a:t>
            </a:r>
          </a:p>
        </p:txBody>
      </p:sp>
    </p:spTree>
    <p:extLst>
      <p:ext uri="{BB962C8B-B14F-4D97-AF65-F5344CB8AC3E}">
        <p14:creationId xmlns:p14="http://schemas.microsoft.com/office/powerpoint/2010/main" val="2163356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600199"/>
          </a:xfrm>
        </p:spPr>
        <p:txBody>
          <a:bodyPr/>
          <a:lstStyle/>
          <a:p>
            <a:r>
              <a:rPr lang="en-US" b="1" dirty="0"/>
              <a:t>The Three Main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The </a:t>
            </a:r>
            <a:r>
              <a:rPr lang="en-US" dirty="0"/>
              <a:t>Gang of Four grouped the 23 patterns into three main categories based on their purpose:</a:t>
            </a:r>
          </a:p>
          <a:p>
            <a:r>
              <a:rPr lang="en-US" b="1" dirty="0"/>
              <a:t>Creational Patterns:</a:t>
            </a:r>
            <a:r>
              <a:rPr lang="en-US" dirty="0"/>
              <a:t> Deal with object creation mechanisms.</a:t>
            </a:r>
          </a:p>
          <a:p>
            <a:r>
              <a:rPr lang="en-US" b="1" dirty="0"/>
              <a:t>Structural Patterns:</a:t>
            </a:r>
            <a:r>
              <a:rPr lang="en-US" dirty="0"/>
              <a:t> Deal with object composition and relationships.</a:t>
            </a:r>
          </a:p>
          <a:p>
            <a:r>
              <a:rPr lang="en-US" b="1" dirty="0"/>
              <a:t>Behavioral Patterns:</a:t>
            </a:r>
            <a:r>
              <a:rPr lang="en-US" dirty="0"/>
              <a:t> Deal with communication and assignment of responsibilities between objects.</a:t>
            </a:r>
          </a:p>
        </p:txBody>
      </p:sp>
    </p:spTree>
    <p:extLst>
      <p:ext uri="{BB962C8B-B14F-4D97-AF65-F5344CB8AC3E}">
        <p14:creationId xmlns:p14="http://schemas.microsoft.com/office/powerpoint/2010/main" val="22468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594" name="Rectangle 2"/>
          <p:cNvSpPr>
            <a:spLocks noGrp="1" noChangeArrowheads="1"/>
          </p:cNvSpPr>
          <p:nvPr>
            <p:ph type="title"/>
          </p:nvPr>
        </p:nvSpPr>
        <p:spPr>
          <a:xfrm>
            <a:off x="982133" y="457201"/>
            <a:ext cx="7704667" cy="838199"/>
          </a:xfrm>
        </p:spPr>
        <p:txBody>
          <a:bodyPr/>
          <a:lstStyle/>
          <a:p>
            <a:r>
              <a:rPr lang="en-US" altLang="en-US" dirty="0" smtClean="0"/>
              <a:t>Gang of Four (</a:t>
            </a:r>
            <a:r>
              <a:rPr lang="en-US" altLang="en-US" dirty="0" err="1" smtClean="0"/>
              <a:t>GoF</a:t>
            </a:r>
            <a:r>
              <a:rPr lang="en-US" altLang="en-US" dirty="0" smtClean="0"/>
              <a:t>) patterns</a:t>
            </a:r>
          </a:p>
        </p:txBody>
      </p:sp>
      <p:sp>
        <p:nvSpPr>
          <p:cNvPr id="366595" name="Rectangle 3"/>
          <p:cNvSpPr>
            <a:spLocks noGrp="1" noChangeArrowheads="1"/>
          </p:cNvSpPr>
          <p:nvPr>
            <p:ph idx="1"/>
          </p:nvPr>
        </p:nvSpPr>
        <p:spPr>
          <a:xfrm>
            <a:off x="0" y="1295400"/>
            <a:ext cx="9144000" cy="5562600"/>
          </a:xfrm>
        </p:spPr>
        <p:txBody>
          <a:bodyPr>
            <a:normAutofit lnSpcReduction="10000"/>
          </a:bodyPr>
          <a:lstStyle/>
          <a:p>
            <a:pPr>
              <a:tabLst>
                <a:tab pos="860425" algn="l"/>
                <a:tab pos="1143000" algn="l"/>
                <a:tab pos="1431925" algn="l"/>
                <a:tab pos="3311525" algn="l"/>
                <a:tab pos="6630988" algn="l"/>
              </a:tabLst>
            </a:pPr>
            <a:r>
              <a:rPr lang="en-US" altLang="en-US" b="1" dirty="0" smtClean="0">
                <a:solidFill>
                  <a:srgbClr val="262626"/>
                </a:solidFill>
              </a:rPr>
              <a:t>Creational Patterns	</a:t>
            </a:r>
            <a:r>
              <a:rPr lang="en-US" altLang="en-US" sz="1800" i="1" dirty="0" smtClean="0">
                <a:solidFill>
                  <a:srgbClr val="262626"/>
                </a:solidFill>
              </a:rPr>
              <a:t>(abstracting the object-instantiation process)</a:t>
            </a:r>
            <a:endParaRPr lang="en-US" altLang="en-US" sz="800" dirty="0" smtClean="0">
              <a:solidFill>
                <a:srgbClr val="262626"/>
              </a:solidFill>
            </a:endParaRPr>
          </a:p>
          <a:p>
            <a:pPr lvl="1">
              <a:lnSpc>
                <a:spcPct val="90000"/>
              </a:lnSpc>
              <a:tabLst>
                <a:tab pos="860425" algn="l"/>
                <a:tab pos="1143000" algn="l"/>
                <a:tab pos="1431925" algn="l"/>
                <a:tab pos="3311525" algn="l"/>
                <a:tab pos="6630988" algn="l"/>
              </a:tabLst>
            </a:pPr>
            <a:r>
              <a:rPr lang="en-US" altLang="en-US" dirty="0" smtClean="0">
                <a:solidFill>
                  <a:srgbClr val="404040"/>
                </a:solidFill>
              </a:rPr>
              <a:t>Factory Method	Abstract Factory	Singleton</a:t>
            </a:r>
          </a:p>
          <a:p>
            <a:pPr lvl="1">
              <a:lnSpc>
                <a:spcPct val="90000"/>
              </a:lnSpc>
              <a:tabLst>
                <a:tab pos="860425" algn="l"/>
                <a:tab pos="1143000" algn="l"/>
                <a:tab pos="1431925" algn="l"/>
                <a:tab pos="3311525" algn="l"/>
                <a:tab pos="6630988" algn="l"/>
              </a:tabLst>
            </a:pPr>
            <a:r>
              <a:rPr lang="en-US" altLang="en-US" dirty="0" smtClean="0">
                <a:solidFill>
                  <a:srgbClr val="404040"/>
                </a:solidFill>
              </a:rPr>
              <a:t>Builder	Prototype</a:t>
            </a:r>
          </a:p>
          <a:p>
            <a:pPr lvl="1">
              <a:lnSpc>
                <a:spcPct val="90000"/>
              </a:lnSpc>
              <a:tabLst>
                <a:tab pos="860425" algn="l"/>
                <a:tab pos="1143000" algn="l"/>
                <a:tab pos="1431925" algn="l"/>
                <a:tab pos="3311525" algn="l"/>
                <a:tab pos="6630988" algn="l"/>
              </a:tabLst>
            </a:pPr>
            <a:endParaRPr lang="en-US" altLang="en-US" sz="1200" dirty="0" smtClean="0">
              <a:solidFill>
                <a:srgbClr val="404040"/>
              </a:solidFill>
            </a:endParaRPr>
          </a:p>
          <a:p>
            <a:pPr>
              <a:tabLst>
                <a:tab pos="860425" algn="l"/>
                <a:tab pos="1143000" algn="l"/>
                <a:tab pos="1431925" algn="l"/>
                <a:tab pos="3311525" algn="l"/>
                <a:tab pos="6630988" algn="l"/>
              </a:tabLst>
            </a:pPr>
            <a:r>
              <a:rPr lang="en-US" altLang="en-US" b="1" dirty="0" smtClean="0">
                <a:solidFill>
                  <a:srgbClr val="262626"/>
                </a:solidFill>
              </a:rPr>
              <a:t>Structural Patterns</a:t>
            </a:r>
            <a:r>
              <a:rPr lang="en-US" altLang="en-US" dirty="0" smtClean="0">
                <a:solidFill>
                  <a:srgbClr val="262626"/>
                </a:solidFill>
              </a:rPr>
              <a:t>	</a:t>
            </a:r>
            <a:r>
              <a:rPr lang="en-US" altLang="en-US" sz="1800" i="1" dirty="0" smtClean="0">
                <a:solidFill>
                  <a:srgbClr val="262626"/>
                </a:solidFill>
              </a:rPr>
              <a:t>(how objects/classes can be combined)</a:t>
            </a:r>
            <a:endParaRPr lang="en-US" altLang="en-US" sz="800" dirty="0" smtClean="0">
              <a:solidFill>
                <a:srgbClr val="262626"/>
              </a:solidFill>
            </a:endParaRPr>
          </a:p>
          <a:p>
            <a:pPr lvl="1">
              <a:lnSpc>
                <a:spcPct val="90000"/>
              </a:lnSpc>
              <a:tabLst>
                <a:tab pos="860425" algn="l"/>
                <a:tab pos="1143000" algn="l"/>
                <a:tab pos="1431925" algn="l"/>
                <a:tab pos="3311525" algn="l"/>
                <a:tab pos="6630988" algn="l"/>
              </a:tabLst>
            </a:pPr>
            <a:r>
              <a:rPr lang="en-US" altLang="en-US" dirty="0" smtClean="0">
                <a:solidFill>
                  <a:srgbClr val="404040"/>
                </a:solidFill>
              </a:rPr>
              <a:t>Adapter	Bridge	Composite</a:t>
            </a:r>
          </a:p>
          <a:p>
            <a:pPr lvl="1">
              <a:lnSpc>
                <a:spcPct val="90000"/>
              </a:lnSpc>
              <a:tabLst>
                <a:tab pos="860425" algn="l"/>
                <a:tab pos="1143000" algn="l"/>
                <a:tab pos="1431925" algn="l"/>
                <a:tab pos="3311525" algn="l"/>
                <a:tab pos="6630988" algn="l"/>
              </a:tabLst>
            </a:pPr>
            <a:r>
              <a:rPr lang="en-US" altLang="en-US" dirty="0" smtClean="0">
                <a:solidFill>
                  <a:srgbClr val="404040"/>
                </a:solidFill>
              </a:rPr>
              <a:t>Decorator	Facade	Flyweight</a:t>
            </a:r>
          </a:p>
          <a:p>
            <a:pPr lvl="1">
              <a:lnSpc>
                <a:spcPct val="90000"/>
              </a:lnSpc>
              <a:tabLst>
                <a:tab pos="860425" algn="l"/>
                <a:tab pos="1143000" algn="l"/>
                <a:tab pos="1431925" algn="l"/>
                <a:tab pos="3311525" algn="l"/>
                <a:tab pos="6630988" algn="l"/>
              </a:tabLst>
            </a:pPr>
            <a:r>
              <a:rPr lang="en-US" altLang="en-US" dirty="0" smtClean="0">
                <a:solidFill>
                  <a:srgbClr val="404040"/>
                </a:solidFill>
              </a:rPr>
              <a:t>Proxy</a:t>
            </a:r>
          </a:p>
          <a:p>
            <a:pPr lvl="1">
              <a:lnSpc>
                <a:spcPct val="90000"/>
              </a:lnSpc>
              <a:tabLst>
                <a:tab pos="860425" algn="l"/>
                <a:tab pos="1143000" algn="l"/>
                <a:tab pos="1431925" algn="l"/>
                <a:tab pos="3311525" algn="l"/>
                <a:tab pos="6630988" algn="l"/>
              </a:tabLst>
            </a:pPr>
            <a:endParaRPr lang="en-US" altLang="en-US" sz="1200" dirty="0" smtClean="0">
              <a:solidFill>
                <a:srgbClr val="404040"/>
              </a:solidFill>
            </a:endParaRPr>
          </a:p>
          <a:p>
            <a:pPr>
              <a:tabLst>
                <a:tab pos="860425" algn="l"/>
                <a:tab pos="1143000" algn="l"/>
                <a:tab pos="1431925" algn="l"/>
                <a:tab pos="3311525" algn="l"/>
                <a:tab pos="6630988" algn="l"/>
              </a:tabLst>
            </a:pPr>
            <a:r>
              <a:rPr lang="en-US" altLang="en-US" b="1" dirty="0" smtClean="0">
                <a:solidFill>
                  <a:srgbClr val="262626"/>
                </a:solidFill>
              </a:rPr>
              <a:t>Behavioral Patterns</a:t>
            </a:r>
            <a:r>
              <a:rPr lang="en-US" altLang="en-US" sz="1800" dirty="0" smtClean="0">
                <a:solidFill>
                  <a:srgbClr val="262626"/>
                </a:solidFill>
              </a:rPr>
              <a:t>	</a:t>
            </a:r>
            <a:r>
              <a:rPr lang="en-US" altLang="en-US" sz="1800" i="1" dirty="0" smtClean="0">
                <a:solidFill>
                  <a:srgbClr val="262626"/>
                </a:solidFill>
              </a:rPr>
              <a:t>(communication between objects)</a:t>
            </a:r>
            <a:endParaRPr lang="en-US" altLang="en-US" sz="800" dirty="0" smtClean="0">
              <a:solidFill>
                <a:srgbClr val="262626"/>
              </a:solidFill>
            </a:endParaRPr>
          </a:p>
          <a:p>
            <a:pPr lvl="1">
              <a:lnSpc>
                <a:spcPct val="90000"/>
              </a:lnSpc>
              <a:tabLst>
                <a:tab pos="860425" algn="l"/>
                <a:tab pos="1143000" algn="l"/>
                <a:tab pos="1431925" algn="l"/>
                <a:tab pos="3311525" algn="l"/>
                <a:tab pos="6630988" algn="l"/>
              </a:tabLst>
            </a:pPr>
            <a:r>
              <a:rPr lang="en-US" altLang="en-US" dirty="0" smtClean="0">
                <a:solidFill>
                  <a:srgbClr val="404040"/>
                </a:solidFill>
              </a:rPr>
              <a:t>Command	Interpreter	Iterator</a:t>
            </a:r>
          </a:p>
          <a:p>
            <a:pPr lvl="1">
              <a:lnSpc>
                <a:spcPct val="90000"/>
              </a:lnSpc>
              <a:tabLst>
                <a:tab pos="860425" algn="l"/>
                <a:tab pos="1143000" algn="l"/>
                <a:tab pos="1431925" algn="l"/>
                <a:tab pos="3311525" algn="l"/>
                <a:tab pos="6630988" algn="l"/>
              </a:tabLst>
            </a:pPr>
            <a:r>
              <a:rPr lang="en-US" altLang="en-US" dirty="0" smtClean="0">
                <a:solidFill>
                  <a:srgbClr val="404040"/>
                </a:solidFill>
              </a:rPr>
              <a:t>Mediator	Observer	State</a:t>
            </a:r>
          </a:p>
          <a:p>
            <a:pPr lvl="1">
              <a:lnSpc>
                <a:spcPct val="90000"/>
              </a:lnSpc>
              <a:tabLst>
                <a:tab pos="860425" algn="l"/>
                <a:tab pos="1143000" algn="l"/>
                <a:tab pos="1431925" algn="l"/>
                <a:tab pos="3311525" algn="l"/>
                <a:tab pos="6630988" algn="l"/>
              </a:tabLst>
            </a:pPr>
            <a:r>
              <a:rPr lang="en-US" altLang="en-US" dirty="0" smtClean="0">
                <a:solidFill>
                  <a:srgbClr val="404040"/>
                </a:solidFill>
              </a:rPr>
              <a:t>Strategy	Chain of Responsibility	Visitor</a:t>
            </a:r>
          </a:p>
          <a:p>
            <a:pPr lvl="1">
              <a:lnSpc>
                <a:spcPct val="90000"/>
              </a:lnSpc>
              <a:tabLst>
                <a:tab pos="860425" algn="l"/>
                <a:tab pos="1143000" algn="l"/>
                <a:tab pos="1431925" algn="l"/>
                <a:tab pos="3311525" algn="l"/>
                <a:tab pos="6630988" algn="l"/>
              </a:tabLst>
            </a:pPr>
            <a:r>
              <a:rPr lang="en-US" altLang="en-US" dirty="0" smtClean="0">
                <a:solidFill>
                  <a:srgbClr val="404040"/>
                </a:solidFill>
              </a:rPr>
              <a:t>Template Method</a:t>
            </a:r>
          </a:p>
        </p:txBody>
      </p:sp>
    </p:spTree>
    <p:extLst>
      <p:ext uri="{BB962C8B-B14F-4D97-AF65-F5344CB8AC3E}">
        <p14:creationId xmlns:p14="http://schemas.microsoft.com/office/powerpoint/2010/main" val="4256420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altLang="en-US" smtClean="0"/>
              <a:t>Creational Patterns</a:t>
            </a:r>
            <a:endParaRPr lang="en-US" alt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>
          <a:xfrm>
            <a:off x="982133" y="2057400"/>
            <a:ext cx="7704667" cy="3942416"/>
          </a:xfrm>
        </p:spPr>
        <p:txBody>
          <a:bodyPr>
            <a:normAutofit/>
          </a:bodyPr>
          <a:lstStyle/>
          <a:p>
            <a:pPr lvl="0"/>
            <a:r>
              <a:rPr lang="en-US" altLang="en-US" smtClean="0"/>
              <a:t>Purpose: Hide the creation logic rather than instantiating objects directly using the new operator.</a:t>
            </a:r>
          </a:p>
          <a:p>
            <a:pPr lvl="0"/>
            <a:r>
              <a:rPr lang="en-US" altLang="en-US" smtClean="0"/>
              <a:t>Why it matters: Gives the program more flexibility in deciding which objects need to be created for a given use case.</a:t>
            </a:r>
          </a:p>
          <a:p>
            <a:pPr lvl="0"/>
            <a:r>
              <a:rPr lang="en-US" altLang="en-US" smtClean="0"/>
              <a:t>Common Examples:</a:t>
            </a:r>
          </a:p>
          <a:p>
            <a:pPr lvl="1"/>
            <a:r>
              <a:rPr lang="en-US" altLang="en-US" smtClean="0"/>
              <a:t>Singleton</a:t>
            </a:r>
          </a:p>
          <a:p>
            <a:pPr lvl="1"/>
            <a:r>
              <a:rPr lang="en-US" altLang="en-US" smtClean="0"/>
              <a:t>Factory Method</a:t>
            </a:r>
          </a:p>
          <a:p>
            <a:pPr lvl="1"/>
            <a:r>
              <a:rPr lang="en-US" altLang="en-US" smtClean="0"/>
              <a:t>Builder</a:t>
            </a: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466689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Structural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Purpose</a:t>
            </a:r>
            <a:r>
              <a:rPr lang="en-US" b="1" dirty="0"/>
              <a:t>:</a:t>
            </a:r>
            <a:r>
              <a:rPr lang="en-US" dirty="0"/>
              <a:t> Explain how to assemble objects and classes into larger structures while keeping these structures flexible and efficient.</a:t>
            </a:r>
          </a:p>
          <a:p>
            <a:r>
              <a:rPr lang="en-US" b="1" dirty="0"/>
              <a:t>Focus:</a:t>
            </a:r>
            <a:r>
              <a:rPr lang="en-US" dirty="0"/>
              <a:t> Interfaces and inheritance.</a:t>
            </a:r>
          </a:p>
          <a:p>
            <a:r>
              <a:rPr lang="en-US" b="1" dirty="0"/>
              <a:t>Common Examples:</a:t>
            </a:r>
            <a:endParaRPr lang="en-US" dirty="0"/>
          </a:p>
          <a:p>
            <a:pPr lvl="1"/>
            <a:r>
              <a:rPr lang="en-US" dirty="0"/>
              <a:t>Adapter</a:t>
            </a:r>
          </a:p>
          <a:p>
            <a:pPr lvl="1"/>
            <a:r>
              <a:rPr lang="en-US" dirty="0"/>
              <a:t>Decorator</a:t>
            </a:r>
          </a:p>
          <a:p>
            <a:pPr lvl="1"/>
            <a:r>
              <a:rPr lang="en-US" dirty="0"/>
              <a:t>Facade</a:t>
            </a:r>
          </a:p>
        </p:txBody>
      </p:sp>
    </p:spTree>
    <p:extLst>
      <p:ext uri="{BB962C8B-B14F-4D97-AF65-F5344CB8AC3E}">
        <p14:creationId xmlns:p14="http://schemas.microsoft.com/office/powerpoint/2010/main" val="1069791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Behavioral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Purpose</a:t>
            </a:r>
            <a:r>
              <a:rPr lang="en-US" b="1" dirty="0"/>
              <a:t>:</a:t>
            </a:r>
            <a:r>
              <a:rPr lang="en-US" dirty="0"/>
              <a:t> Concerned with algorithms and the assignment of responsibilities between objects.</a:t>
            </a:r>
          </a:p>
          <a:p>
            <a:r>
              <a:rPr lang="en-US" b="1" dirty="0"/>
              <a:t>Focus:</a:t>
            </a:r>
            <a:r>
              <a:rPr lang="en-US" dirty="0"/>
              <a:t> How objects communicate and cooperate to perform a task.</a:t>
            </a:r>
          </a:p>
          <a:p>
            <a:r>
              <a:rPr lang="en-US" b="1" dirty="0"/>
              <a:t>Common Examples:</a:t>
            </a:r>
            <a:endParaRPr lang="en-US" dirty="0"/>
          </a:p>
          <a:p>
            <a:pPr lvl="1"/>
            <a:r>
              <a:rPr lang="en-US" dirty="0"/>
              <a:t>Observer</a:t>
            </a:r>
          </a:p>
          <a:p>
            <a:pPr lvl="1"/>
            <a:r>
              <a:rPr lang="en-US" dirty="0"/>
              <a:t>Strategy</a:t>
            </a:r>
          </a:p>
          <a:p>
            <a:pPr lvl="1"/>
            <a:r>
              <a:rPr lang="en-US" dirty="0"/>
              <a:t>Command</a:t>
            </a:r>
          </a:p>
        </p:txBody>
      </p:sp>
    </p:spTree>
    <p:extLst>
      <p:ext uri="{BB962C8B-B14F-4D97-AF65-F5344CB8AC3E}">
        <p14:creationId xmlns:p14="http://schemas.microsoft.com/office/powerpoint/2010/main" val="725929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OOP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Abstract Method</a:t>
            </a:r>
          </a:p>
          <a:p>
            <a:r>
              <a:rPr lang="en-US" dirty="0"/>
              <a:t>Abstract class</a:t>
            </a:r>
          </a:p>
          <a:p>
            <a:r>
              <a:rPr lang="en-US" dirty="0"/>
              <a:t>Constructors</a:t>
            </a:r>
          </a:p>
          <a:p>
            <a:r>
              <a:rPr lang="en-US" dirty="0"/>
              <a:t>Concrete class</a:t>
            </a:r>
          </a:p>
          <a:p>
            <a:r>
              <a:rPr lang="en-US" dirty="0"/>
              <a:t>Interface</a:t>
            </a:r>
          </a:p>
        </p:txBody>
      </p:sp>
    </p:spTree>
    <p:extLst>
      <p:ext uri="{BB962C8B-B14F-4D97-AF65-F5344CB8AC3E}">
        <p14:creationId xmlns:p14="http://schemas.microsoft.com/office/powerpoint/2010/main" val="4102469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 </a:t>
            </a:r>
            <a:r>
              <a:rPr lang="en-US" b="1" dirty="0"/>
              <a:t>method</a:t>
            </a:r>
            <a:r>
              <a:rPr lang="en-US" dirty="0"/>
              <a:t> without body (no implementation) is known as </a:t>
            </a:r>
            <a:r>
              <a:rPr lang="en-US" b="1" dirty="0"/>
              <a:t>abstract method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Abstract </a:t>
            </a:r>
            <a:r>
              <a:rPr lang="en-US" b="1" dirty="0"/>
              <a:t>method</a:t>
            </a:r>
            <a:r>
              <a:rPr lang="en-US" dirty="0"/>
              <a:t> must always be declared in an </a:t>
            </a:r>
            <a:r>
              <a:rPr lang="en-US" b="1" dirty="0"/>
              <a:t>abstract</a:t>
            </a:r>
            <a:r>
              <a:rPr lang="en-US" dirty="0"/>
              <a:t> class, or in other words you can say that if a class has an </a:t>
            </a:r>
            <a:r>
              <a:rPr lang="en-US" b="1" dirty="0"/>
              <a:t>abstract method</a:t>
            </a:r>
            <a:r>
              <a:rPr lang="en-US" dirty="0"/>
              <a:t>, it should be declared </a:t>
            </a:r>
            <a:r>
              <a:rPr lang="en-US" b="1" dirty="0"/>
              <a:t>abstract</a:t>
            </a:r>
            <a:r>
              <a:rPr lang="en-US" dirty="0"/>
              <a:t> as well.</a:t>
            </a:r>
          </a:p>
          <a:p>
            <a:pPr algn="just"/>
            <a:r>
              <a:rPr lang="en-US" b="1" dirty="0"/>
              <a:t>abstract</a:t>
            </a:r>
            <a:r>
              <a:rPr lang="en-US" dirty="0"/>
              <a:t> keyword is </a:t>
            </a:r>
            <a:r>
              <a:rPr lang="en-US" b="1" dirty="0"/>
              <a:t>used</a:t>
            </a:r>
            <a:r>
              <a:rPr lang="en-US" dirty="0"/>
              <a:t> to create </a:t>
            </a:r>
            <a:r>
              <a:rPr lang="en-US" dirty="0" smtClean="0"/>
              <a:t>an</a:t>
            </a:r>
            <a:r>
              <a:rPr lang="en-US" dirty="0"/>
              <a:t> </a:t>
            </a:r>
            <a:r>
              <a:rPr lang="en-US" b="1" dirty="0"/>
              <a:t>abstract</a:t>
            </a:r>
            <a:r>
              <a:rPr lang="en-US" dirty="0"/>
              <a:t> class and </a:t>
            </a:r>
            <a:r>
              <a:rPr lang="en-US" b="1" dirty="0"/>
              <a:t>method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4474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class which is declared with the abstract keyword is known as an abstract class in Java. </a:t>
            </a:r>
          </a:p>
          <a:p>
            <a:r>
              <a:rPr lang="en-US" dirty="0"/>
              <a:t>It can have abstract and non-abstract methods (method with the body).</a:t>
            </a:r>
          </a:p>
          <a:p>
            <a:r>
              <a:rPr lang="en-US" dirty="0"/>
              <a:t>It can have final methods which will force the subclass not to change the body of the method.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1477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82133" y="304800"/>
            <a:ext cx="7704667" cy="655320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/>
              <a:t>// Abstract class</a:t>
            </a:r>
          </a:p>
          <a:p>
            <a:pPr marL="0" indent="0">
              <a:buNone/>
            </a:pPr>
            <a:r>
              <a:rPr lang="en-US" dirty="0"/>
              <a:t>abstract class Animal {</a:t>
            </a:r>
          </a:p>
          <a:p>
            <a:pPr marL="0" indent="0">
              <a:buNone/>
            </a:pPr>
            <a:r>
              <a:rPr lang="en-US" dirty="0"/>
              <a:t>  // Abstract method (does not have a body)</a:t>
            </a:r>
          </a:p>
          <a:p>
            <a:pPr marL="0" indent="0">
              <a:buNone/>
            </a:pPr>
            <a:r>
              <a:rPr lang="en-US" dirty="0"/>
              <a:t>  public abstract void </a:t>
            </a:r>
            <a:r>
              <a:rPr lang="en-US" dirty="0" err="1"/>
              <a:t>animalSound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</a:t>
            </a:r>
          </a:p>
          <a:p>
            <a:pPr marL="0" indent="0">
              <a:buNone/>
            </a:pPr>
            <a:r>
              <a:rPr lang="en-US" dirty="0"/>
              <a:t>  // Regular method</a:t>
            </a:r>
          </a:p>
          <a:p>
            <a:pPr marL="0" indent="0">
              <a:buNone/>
            </a:pPr>
            <a:r>
              <a:rPr lang="en-US" dirty="0"/>
              <a:t>  public void sleep() 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System.out.println</a:t>
            </a:r>
            <a:r>
              <a:rPr lang="en-US" dirty="0"/>
              <a:t>("</a:t>
            </a:r>
            <a:r>
              <a:rPr lang="en-US" dirty="0" err="1"/>
              <a:t>Zzz</a:t>
            </a:r>
            <a:r>
              <a:rPr lang="en-US" dirty="0"/>
              <a:t>");</a:t>
            </a:r>
          </a:p>
          <a:p>
            <a:pPr marL="0" indent="0">
              <a:buNone/>
            </a:pPr>
            <a:r>
              <a:rPr lang="en-US" dirty="0"/>
              <a:t>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// Subclass (inherit from Animal)</a:t>
            </a:r>
          </a:p>
          <a:p>
            <a:pPr marL="0" indent="0">
              <a:buNone/>
            </a:pPr>
            <a:r>
              <a:rPr lang="en-US" dirty="0"/>
              <a:t>class Dog extends Animal {</a:t>
            </a:r>
          </a:p>
          <a:p>
            <a:pPr marL="0" indent="0">
              <a:buNone/>
            </a:pPr>
            <a:r>
              <a:rPr lang="en-US" dirty="0"/>
              <a:t>  public void </a:t>
            </a:r>
            <a:r>
              <a:rPr lang="en-US" dirty="0" err="1"/>
              <a:t>animalSound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    // The body of </a:t>
            </a:r>
            <a:r>
              <a:rPr lang="en-US" dirty="0" err="1"/>
              <a:t>animalSound</a:t>
            </a:r>
            <a:r>
              <a:rPr lang="en-US" dirty="0"/>
              <a:t>() is provided here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System.out.println</a:t>
            </a:r>
            <a:r>
              <a:rPr lang="en-US" dirty="0"/>
              <a:t>("The dog says: woof woof");</a:t>
            </a:r>
          </a:p>
          <a:p>
            <a:pPr marL="0" indent="0">
              <a:buNone/>
            </a:pPr>
            <a:r>
              <a:rPr lang="en-US" dirty="0"/>
              <a:t>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MyMainClass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  Dog </a:t>
            </a:r>
            <a:r>
              <a:rPr lang="en-US" dirty="0" err="1"/>
              <a:t>myDog</a:t>
            </a:r>
            <a:r>
              <a:rPr lang="en-US" dirty="0"/>
              <a:t> = new Dog(); // Create a Dog object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myDog.animalSound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myDog.sleep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39714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133600"/>
            <a:ext cx="7704667" cy="3866216"/>
          </a:xfrm>
        </p:spPr>
        <p:txBody>
          <a:bodyPr>
            <a:normAutofit fontScale="47500" lnSpcReduction="20000"/>
          </a:bodyPr>
          <a:lstStyle/>
          <a:p>
            <a:r>
              <a:rPr lang="en-US" dirty="0"/>
              <a:t>Constructor is a block of code that initializes the newly created object. </a:t>
            </a:r>
          </a:p>
          <a:p>
            <a:pPr marL="114300" indent="0">
              <a:buNone/>
            </a:pPr>
            <a:r>
              <a:rPr lang="en-US" dirty="0"/>
              <a:t>public class Hello </a:t>
            </a:r>
          </a:p>
          <a:p>
            <a:pPr marL="114300" indent="0">
              <a:buNone/>
            </a:pPr>
            <a:r>
              <a:rPr lang="en-US" dirty="0"/>
              <a:t>{ </a:t>
            </a:r>
          </a:p>
          <a:p>
            <a:pPr marL="114300" indent="0">
              <a:buNone/>
            </a:pPr>
            <a:r>
              <a:rPr lang="en-US" dirty="0"/>
              <a:t>String name; </a:t>
            </a:r>
          </a:p>
          <a:p>
            <a:pPr marL="114300" indent="0">
              <a:buNone/>
            </a:pPr>
            <a:r>
              <a:rPr lang="en-US" dirty="0"/>
              <a:t>//Constructor </a:t>
            </a:r>
          </a:p>
          <a:p>
            <a:pPr marL="114300" indent="0">
              <a:buNone/>
            </a:pPr>
            <a:r>
              <a:rPr lang="en-US" dirty="0"/>
              <a:t>Hello()</a:t>
            </a:r>
          </a:p>
          <a:p>
            <a:pPr marL="114300" indent="0">
              <a:buNone/>
            </a:pPr>
            <a:r>
              <a:rPr lang="en-US" dirty="0"/>
              <a:t>{ </a:t>
            </a:r>
          </a:p>
          <a:p>
            <a:pPr marL="114300" indent="0">
              <a:buNone/>
            </a:pPr>
            <a:r>
              <a:rPr lang="en-US" dirty="0"/>
              <a:t>this.name = "BeginnersBook.com"; </a:t>
            </a:r>
          </a:p>
          <a:p>
            <a:pPr marL="114300" indent="0">
              <a:buNone/>
            </a:pPr>
            <a:r>
              <a:rPr lang="en-US" dirty="0"/>
              <a:t>} </a:t>
            </a:r>
          </a:p>
          <a:p>
            <a:pPr marL="114300" indent="0">
              <a:buNone/>
            </a:pPr>
            <a:r>
              <a:rPr lang="en-US" dirty="0"/>
              <a:t>public static void main(String[] </a:t>
            </a:r>
            <a:r>
              <a:rPr lang="en-US" dirty="0" err="1"/>
              <a:t>args</a:t>
            </a:r>
            <a:r>
              <a:rPr lang="en-US" dirty="0"/>
              <a:t>) </a:t>
            </a:r>
          </a:p>
          <a:p>
            <a:pPr marL="114300" indent="0">
              <a:buNone/>
            </a:pPr>
            <a:r>
              <a:rPr lang="en-US" dirty="0"/>
              <a:t>{ </a:t>
            </a:r>
          </a:p>
          <a:p>
            <a:pPr marL="114300" indent="0">
              <a:buNone/>
            </a:pPr>
            <a:r>
              <a:rPr lang="en-US" dirty="0"/>
              <a:t>Hello </a:t>
            </a:r>
            <a:r>
              <a:rPr lang="en-US" dirty="0" err="1"/>
              <a:t>obj</a:t>
            </a:r>
            <a:r>
              <a:rPr lang="en-US" dirty="0"/>
              <a:t> = new Hello(); </a:t>
            </a:r>
          </a:p>
          <a:p>
            <a:pPr marL="114300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(obj.name);</a:t>
            </a:r>
          </a:p>
          <a:p>
            <a:pPr marL="114300" indent="0">
              <a:buNone/>
            </a:pPr>
            <a:r>
              <a:rPr lang="en-US" dirty="0"/>
              <a:t> }</a:t>
            </a:r>
          </a:p>
          <a:p>
            <a:pPr marL="114300" indent="0">
              <a:buNone/>
            </a:pPr>
            <a:r>
              <a:rPr lang="en-US" dirty="0"/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3912572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Concrete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590800"/>
            <a:ext cx="4047067" cy="333281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 </a:t>
            </a:r>
            <a:r>
              <a:rPr lang="en-US" b="1" dirty="0"/>
              <a:t>concrete class</a:t>
            </a:r>
            <a:r>
              <a:rPr lang="en-US" dirty="0"/>
              <a:t> is a </a:t>
            </a:r>
            <a:r>
              <a:rPr lang="en-US" b="1" dirty="0"/>
              <a:t>class</a:t>
            </a:r>
            <a:r>
              <a:rPr lang="en-US" dirty="0"/>
              <a:t> that has an implementation for all of its methods. </a:t>
            </a:r>
          </a:p>
          <a:p>
            <a:r>
              <a:rPr lang="en-US" dirty="0"/>
              <a:t>They cannot have any unimplemented methods. </a:t>
            </a:r>
          </a:p>
          <a:p>
            <a:r>
              <a:rPr lang="en-US" dirty="0"/>
              <a:t>It can also extend an abstract </a:t>
            </a:r>
            <a:r>
              <a:rPr lang="en-US" b="1" dirty="0"/>
              <a:t>class</a:t>
            </a:r>
            <a:r>
              <a:rPr lang="en-US" dirty="0"/>
              <a:t> or implement an interface as long as it implements all their methods.</a:t>
            </a:r>
          </a:p>
          <a:p>
            <a:pPr marL="114300" indent="0">
              <a:buNone/>
            </a:pPr>
            <a:endParaRPr lang="en-US" dirty="0"/>
          </a:p>
        </p:txBody>
      </p:sp>
      <p:pic>
        <p:nvPicPr>
          <p:cNvPr id="2050" name="Picture 2" descr="C:\Users\22ad\Desktop\concrete-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2352208"/>
            <a:ext cx="4114800" cy="3809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167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E7A115-3C47-4DC8-AA12-E2967192B3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1"/>
            <a:ext cx="4348461" cy="4495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0C410D3-BF47-49AF-AB92-A29D7433B1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48201"/>
            <a:ext cx="4391638" cy="241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568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Concrete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 </a:t>
            </a:r>
            <a:r>
              <a:rPr lang="en-US" b="1" dirty="0"/>
              <a:t>concrete method</a:t>
            </a:r>
            <a:r>
              <a:rPr lang="en-US" dirty="0"/>
              <a:t> means, the </a:t>
            </a:r>
            <a:r>
              <a:rPr lang="en-US" b="1" dirty="0"/>
              <a:t>method</a:t>
            </a:r>
            <a:r>
              <a:rPr lang="en-US" dirty="0"/>
              <a:t> has complete definition but it can be overridden in the inherited class. </a:t>
            </a:r>
          </a:p>
          <a:p>
            <a:r>
              <a:rPr lang="en-US" dirty="0"/>
              <a:t>If we make this </a:t>
            </a:r>
            <a:r>
              <a:rPr lang="en-US" b="1" dirty="0"/>
              <a:t>method</a:t>
            </a:r>
            <a:r>
              <a:rPr lang="en-US" dirty="0"/>
              <a:t> "final" then it can not be overridden.</a:t>
            </a:r>
          </a:p>
          <a:p>
            <a:r>
              <a:rPr lang="en-US" dirty="0"/>
              <a:t>Declaring a </a:t>
            </a:r>
            <a:r>
              <a:rPr lang="en-US" b="1" dirty="0"/>
              <a:t>method</a:t>
            </a:r>
            <a:r>
              <a:rPr lang="en-US" dirty="0"/>
              <a:t> or class "final" means its implementation is complete.</a:t>
            </a:r>
          </a:p>
        </p:txBody>
      </p:sp>
    </p:spTree>
    <p:extLst>
      <p:ext uri="{BB962C8B-B14F-4D97-AF65-F5344CB8AC3E}">
        <p14:creationId xmlns:p14="http://schemas.microsoft.com/office/powerpoint/2010/main" val="1479376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82133" y="609600"/>
            <a:ext cx="10905067" cy="647700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/>
              <a:t>// Abstract class</a:t>
            </a:r>
          </a:p>
          <a:p>
            <a:pPr marL="0" indent="0">
              <a:buNone/>
            </a:pPr>
            <a:r>
              <a:rPr lang="en-US" dirty="0"/>
              <a:t>abstract class Animal {</a:t>
            </a:r>
          </a:p>
          <a:p>
            <a:pPr marL="0" indent="0">
              <a:buNone/>
            </a:pPr>
            <a:r>
              <a:rPr lang="en-US" dirty="0"/>
              <a:t>  // Abstract method (does not have a body)</a:t>
            </a:r>
          </a:p>
          <a:p>
            <a:pPr marL="0" indent="0">
              <a:buNone/>
            </a:pPr>
            <a:r>
              <a:rPr lang="en-US" dirty="0"/>
              <a:t>  public abstract void </a:t>
            </a:r>
            <a:r>
              <a:rPr lang="en-US" dirty="0" err="1"/>
              <a:t>animalSound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</a:t>
            </a:r>
          </a:p>
          <a:p>
            <a:pPr marL="0" indent="0">
              <a:buNone/>
            </a:pPr>
            <a:r>
              <a:rPr lang="en-US" dirty="0"/>
              <a:t>  // Regular method</a:t>
            </a:r>
          </a:p>
          <a:p>
            <a:pPr marL="0" indent="0">
              <a:buNone/>
            </a:pPr>
            <a:r>
              <a:rPr lang="en-US" dirty="0"/>
              <a:t>  public void sleep() 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System.out.println</a:t>
            </a:r>
            <a:r>
              <a:rPr lang="en-US" dirty="0"/>
              <a:t>("</a:t>
            </a:r>
            <a:r>
              <a:rPr lang="en-US" dirty="0" err="1"/>
              <a:t>Zzz</a:t>
            </a:r>
            <a:r>
              <a:rPr lang="en-US" dirty="0"/>
              <a:t>");</a:t>
            </a:r>
          </a:p>
          <a:p>
            <a:pPr marL="0" indent="0">
              <a:buNone/>
            </a:pPr>
            <a:r>
              <a:rPr lang="en-US" dirty="0"/>
              <a:t>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// Subclass (inherit from Animal)</a:t>
            </a:r>
          </a:p>
          <a:p>
            <a:pPr marL="0" indent="0">
              <a:buNone/>
            </a:pPr>
            <a:r>
              <a:rPr lang="en-US" dirty="0"/>
              <a:t>class Dog extends Animal {</a:t>
            </a:r>
          </a:p>
          <a:p>
            <a:pPr marL="0" indent="0">
              <a:buNone/>
            </a:pPr>
            <a:r>
              <a:rPr lang="en-US" dirty="0"/>
              <a:t>  public void </a:t>
            </a:r>
            <a:r>
              <a:rPr lang="en-US" dirty="0" err="1"/>
              <a:t>animalSound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    // The body of </a:t>
            </a:r>
            <a:r>
              <a:rPr lang="en-US" dirty="0" err="1"/>
              <a:t>animalSound</a:t>
            </a:r>
            <a:r>
              <a:rPr lang="en-US" dirty="0"/>
              <a:t>() is provided here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System.out.println</a:t>
            </a:r>
            <a:r>
              <a:rPr lang="en-US" dirty="0"/>
              <a:t>("The dog says: woof woof");</a:t>
            </a:r>
          </a:p>
          <a:p>
            <a:pPr marL="0" indent="0">
              <a:buNone/>
            </a:pPr>
            <a:r>
              <a:rPr lang="en-US" dirty="0"/>
              <a:t>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MyMainClass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  Dog </a:t>
            </a:r>
            <a:r>
              <a:rPr lang="en-US" dirty="0" err="1"/>
              <a:t>myDog</a:t>
            </a:r>
            <a:r>
              <a:rPr lang="en-US" dirty="0"/>
              <a:t> = new Dog(); // Create a Dog object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myDog.animalSound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myDog.sleep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83148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 </a:t>
            </a:r>
            <a:r>
              <a:rPr lang="en-US" b="1" dirty="0"/>
              <a:t>interface</a:t>
            </a:r>
            <a:r>
              <a:rPr lang="en-US" dirty="0"/>
              <a:t> is similar to class. </a:t>
            </a:r>
          </a:p>
          <a:p>
            <a:r>
              <a:rPr lang="en-US" dirty="0"/>
              <a:t>It is a collection of abstract methods. </a:t>
            </a:r>
          </a:p>
          <a:p>
            <a:r>
              <a:rPr lang="en-US" dirty="0"/>
              <a:t>A class implements an </a:t>
            </a:r>
            <a:r>
              <a:rPr lang="en-US" b="1" dirty="0"/>
              <a:t>interface</a:t>
            </a:r>
            <a:r>
              <a:rPr lang="en-US" dirty="0"/>
              <a:t>, thereby inheriting the abstract methods of the </a:t>
            </a:r>
            <a:r>
              <a:rPr lang="en-US" b="1" dirty="0"/>
              <a:t>interface</a:t>
            </a:r>
            <a:r>
              <a:rPr lang="en-US" dirty="0"/>
              <a:t>.</a:t>
            </a:r>
          </a:p>
          <a:p>
            <a:r>
              <a:rPr lang="en-US" dirty="0"/>
              <a:t>an </a:t>
            </a:r>
            <a:r>
              <a:rPr lang="en-US" b="1" dirty="0"/>
              <a:t>interface</a:t>
            </a:r>
            <a:r>
              <a:rPr lang="en-US" dirty="0"/>
              <a:t> may inherit multiple </a:t>
            </a:r>
            <a:r>
              <a:rPr lang="en-US" b="1" dirty="0"/>
              <a:t>interfaces</a:t>
            </a:r>
            <a:r>
              <a:rPr lang="en-US" dirty="0"/>
              <a:t> and a class may implement multiple </a:t>
            </a:r>
            <a:r>
              <a:rPr lang="en-US" b="1" dirty="0"/>
              <a:t>interfaces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11024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 </a:t>
            </a:r>
            <a:r>
              <a:rPr lang="en-US" b="1" dirty="0"/>
              <a:t>Java</a:t>
            </a:r>
            <a:r>
              <a:rPr lang="en-US" dirty="0"/>
              <a:t> class can only extend </a:t>
            </a:r>
            <a:r>
              <a:rPr lang="en-US" b="1" dirty="0"/>
              <a:t>one</a:t>
            </a:r>
            <a:r>
              <a:rPr lang="en-US" dirty="0"/>
              <a:t> parent class.</a:t>
            </a:r>
          </a:p>
          <a:p>
            <a:r>
              <a:rPr lang="en-US" dirty="0"/>
              <a:t> </a:t>
            </a:r>
            <a:r>
              <a:rPr lang="en-US" b="1" dirty="0"/>
              <a:t>Multiple</a:t>
            </a:r>
            <a:r>
              <a:rPr lang="en-US" dirty="0"/>
              <a:t> inheritance ( extends ) is not allowed. </a:t>
            </a:r>
          </a:p>
          <a:p>
            <a:r>
              <a:rPr lang="en-US" dirty="0"/>
              <a:t>Interfaces are not classes, however, and a class can </a:t>
            </a:r>
            <a:r>
              <a:rPr lang="en-US" b="1" dirty="0"/>
              <a:t>implement more than one interface</a:t>
            </a:r>
            <a:r>
              <a:rPr lang="en-US" dirty="0"/>
              <a:t>. </a:t>
            </a:r>
          </a:p>
          <a:p>
            <a:r>
              <a:rPr lang="en-US" dirty="0"/>
              <a:t>The parent interfaces are declared in a comma-separated list, after the implements keyword.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89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0"/>
            <a:ext cx="82296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// Interface</a:t>
            </a:r>
          </a:p>
          <a:p>
            <a:r>
              <a:rPr lang="en-US" dirty="0"/>
              <a:t>interface Animal {</a:t>
            </a:r>
          </a:p>
          <a:p>
            <a:r>
              <a:rPr lang="en-US" dirty="0"/>
              <a:t>  public void </a:t>
            </a:r>
            <a:r>
              <a:rPr lang="en-US" dirty="0" err="1"/>
              <a:t>animalSound</a:t>
            </a:r>
            <a:r>
              <a:rPr lang="en-US" dirty="0"/>
              <a:t>(); // interface method (does not have a body)</a:t>
            </a:r>
          </a:p>
          <a:p>
            <a:r>
              <a:rPr lang="en-US" dirty="0"/>
              <a:t>  public void sleep(); // interface method (does not have a body)</a:t>
            </a:r>
          </a:p>
          <a:p>
            <a:r>
              <a:rPr lang="en-US" dirty="0" smtClean="0"/>
              <a:t>}</a:t>
            </a:r>
            <a:endParaRPr lang="en-US" dirty="0"/>
          </a:p>
          <a:p>
            <a:r>
              <a:rPr lang="en-US" dirty="0"/>
              <a:t>// Dog "implements" the Animal interface</a:t>
            </a:r>
          </a:p>
          <a:p>
            <a:r>
              <a:rPr lang="en-US" dirty="0"/>
              <a:t>class Dog implements Animal {</a:t>
            </a:r>
          </a:p>
          <a:p>
            <a:r>
              <a:rPr lang="en-US" dirty="0"/>
              <a:t>  public void </a:t>
            </a:r>
            <a:r>
              <a:rPr lang="en-US" dirty="0" err="1"/>
              <a:t>animalSound</a:t>
            </a:r>
            <a:r>
              <a:rPr lang="en-US" dirty="0"/>
              <a:t>() {</a:t>
            </a:r>
          </a:p>
          <a:p>
            <a:r>
              <a:rPr lang="en-US" dirty="0"/>
              <a:t>    // The body of </a:t>
            </a:r>
            <a:r>
              <a:rPr lang="en-US" dirty="0" err="1"/>
              <a:t>animalSound</a:t>
            </a:r>
            <a:r>
              <a:rPr lang="en-US" dirty="0"/>
              <a:t>() is provided here</a:t>
            </a:r>
          </a:p>
          <a:p>
            <a:r>
              <a:rPr lang="en-US" dirty="0"/>
              <a:t>    </a:t>
            </a:r>
            <a:r>
              <a:rPr lang="en-US" dirty="0" err="1"/>
              <a:t>System.out.println</a:t>
            </a:r>
            <a:r>
              <a:rPr lang="en-US" dirty="0"/>
              <a:t>("The dog says: woof woof");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  </a:t>
            </a:r>
          </a:p>
          <a:p>
            <a:r>
              <a:rPr lang="en-US" dirty="0"/>
              <a:t>  public void sleep() {</a:t>
            </a:r>
          </a:p>
          <a:p>
            <a:r>
              <a:rPr lang="en-US" dirty="0"/>
              <a:t>    // The body of sleep() is provided here</a:t>
            </a:r>
          </a:p>
          <a:p>
            <a:r>
              <a:rPr lang="en-US" dirty="0"/>
              <a:t>    </a:t>
            </a:r>
            <a:r>
              <a:rPr lang="en-US" dirty="0" err="1"/>
              <a:t>System.out.println</a:t>
            </a:r>
            <a:r>
              <a:rPr lang="en-US" dirty="0"/>
              <a:t>("</a:t>
            </a:r>
            <a:r>
              <a:rPr lang="en-US" dirty="0" err="1"/>
              <a:t>Zzz</a:t>
            </a:r>
            <a:r>
              <a:rPr lang="en-US" dirty="0"/>
              <a:t>");</a:t>
            </a:r>
          </a:p>
          <a:p>
            <a:r>
              <a:rPr lang="en-US" dirty="0"/>
              <a:t>  }</a:t>
            </a:r>
          </a:p>
          <a:p>
            <a:r>
              <a:rPr lang="en-US" dirty="0" smtClean="0"/>
              <a:t>}</a:t>
            </a:r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MyMainClass</a:t>
            </a:r>
            <a:r>
              <a:rPr lang="en-US" dirty="0"/>
              <a:t> {</a:t>
            </a:r>
          </a:p>
          <a:p>
            <a:r>
              <a:rPr lang="en-US" dirty="0"/>
              <a:t>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r>
              <a:rPr lang="en-US" dirty="0"/>
              <a:t>    Dog </a:t>
            </a:r>
            <a:r>
              <a:rPr lang="en-US" dirty="0" err="1"/>
              <a:t>myDog</a:t>
            </a:r>
            <a:r>
              <a:rPr lang="en-US" dirty="0"/>
              <a:t> = new Dog();  // Create a Dog object</a:t>
            </a:r>
          </a:p>
          <a:p>
            <a:r>
              <a:rPr lang="en-US" dirty="0"/>
              <a:t>    </a:t>
            </a:r>
            <a:r>
              <a:rPr lang="en-US" dirty="0" err="1"/>
              <a:t>myDog.animalSound</a:t>
            </a:r>
            <a:r>
              <a:rPr lang="en-US" dirty="0"/>
              <a:t>();</a:t>
            </a:r>
          </a:p>
          <a:p>
            <a:r>
              <a:rPr lang="en-US" dirty="0"/>
              <a:t>    </a:t>
            </a:r>
            <a:r>
              <a:rPr lang="en-US" dirty="0" err="1"/>
              <a:t>myDog.sleep</a:t>
            </a:r>
            <a:r>
              <a:rPr lang="en-US" dirty="0"/>
              <a:t>();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25395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eaLnBrk="0" fontAlgn="base" hangingPunct="0">
              <a:spcAft>
                <a:spcPct val="0"/>
              </a:spcAft>
            </a:pPr>
            <a:r>
              <a:rPr lang="en-US" altLang="en-US" sz="4800" b="1" dirty="0">
                <a:solidFill>
                  <a:schemeClr val="tx1"/>
                </a:solidFill>
                <a:latin typeface="Arial" panose="020B0604020202020204" pitchFamily="34" charset="0"/>
              </a:rPr>
              <a:t>Real-world Analogy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457200" y="1876842"/>
            <a:ext cx="7162800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Interface: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vehicle should have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start()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stop()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drive()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methods — just rules.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Abstract Class: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generic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Vehicle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class defines some common behavior (e.g.,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fuelCapacity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 but leaves others like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drive()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to be defined by specific vehicles.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Concrete Class: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Car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or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Bike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class implements all the methods — you can now make actual car/bike objects from it.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3153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2682</TotalTime>
  <Words>2877</Words>
  <Application>Microsoft Office PowerPoint</Application>
  <PresentationFormat>On-screen Show (4:3)</PresentationFormat>
  <Paragraphs>489</Paragraphs>
  <Slides>25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Arial Unicode MS</vt:lpstr>
      <vt:lpstr>Calibri</vt:lpstr>
      <vt:lpstr>Corbel</vt:lpstr>
      <vt:lpstr>Parallax</vt:lpstr>
      <vt:lpstr>Design Patterns Object Oriented SE</vt:lpstr>
      <vt:lpstr> Architectural Style/design</vt:lpstr>
      <vt:lpstr>Architectural Pattern (Implementation Strategy)</vt:lpstr>
      <vt:lpstr>Design Pattern (Low-Level Solution)</vt:lpstr>
      <vt:lpstr>Architectural vs design patterns</vt:lpstr>
      <vt:lpstr>Design patterns</vt:lpstr>
      <vt:lpstr>Why Use Design Patterns?</vt:lpstr>
      <vt:lpstr>The Three Main Categories</vt:lpstr>
      <vt:lpstr>Gang of Four (GoF) patterns</vt:lpstr>
      <vt:lpstr>Creational Patterns</vt:lpstr>
      <vt:lpstr>Structural Patterns</vt:lpstr>
      <vt:lpstr>Behavioral Patterns</vt:lpstr>
      <vt:lpstr>OOP Review</vt:lpstr>
      <vt:lpstr>Abstract method</vt:lpstr>
      <vt:lpstr>Abstract Class</vt:lpstr>
      <vt:lpstr>PowerPoint Presentation</vt:lpstr>
      <vt:lpstr>Constructor</vt:lpstr>
      <vt:lpstr>Concrete Class</vt:lpstr>
      <vt:lpstr>PowerPoint Presentation</vt:lpstr>
      <vt:lpstr>Concrete Method</vt:lpstr>
      <vt:lpstr>PowerPoint Presentation</vt:lpstr>
      <vt:lpstr>Interface</vt:lpstr>
      <vt:lpstr>Interface</vt:lpstr>
      <vt:lpstr>PowerPoint Presentation</vt:lpstr>
      <vt:lpstr>Real-world Analogy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Patterns Object Oriented SE</dc:title>
  <dc:creator>22ad</dc:creator>
  <cp:lastModifiedBy>shehla saeed</cp:lastModifiedBy>
  <cp:revision>51</cp:revision>
  <dcterms:created xsi:type="dcterms:W3CDTF">2019-10-18T10:42:48Z</dcterms:created>
  <dcterms:modified xsi:type="dcterms:W3CDTF">2026-04-07T10:38:34Z</dcterms:modified>
</cp:coreProperties>
</file>
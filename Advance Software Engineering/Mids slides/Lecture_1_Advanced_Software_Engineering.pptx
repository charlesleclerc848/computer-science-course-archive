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24"/>
  </p:notesMasterIdLst>
  <p:sldIdLst>
    <p:sldId id="256" r:id="rId2"/>
    <p:sldId id="257" r:id="rId3"/>
    <p:sldId id="258" r:id="rId4"/>
    <p:sldId id="259" r:id="rId5"/>
    <p:sldId id="260"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63" r:id="rId21"/>
    <p:sldId id="264" r:id="rId22"/>
    <p:sldId id="265"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97" autoAdjust="0"/>
  </p:normalViewPr>
  <p:slideViewPr>
    <p:cSldViewPr snapToGrid="0" snapToObjects="1">
      <p:cViewPr>
        <p:scale>
          <a:sx n="87" d="100"/>
          <a:sy n="87" d="100"/>
        </p:scale>
        <p:origin x="1330" y="1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CF2EF-4EA8-4B66-A4E7-8AECB8998B68}" type="datetimeFigureOut">
              <a:rPr lang="en-US" smtClean="0"/>
              <a:t>2/26/2026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7D949A-080B-4F62-8768-9E6E6ACA58A1}" type="slidenum">
              <a:rPr lang="en-US" smtClean="0"/>
              <a:t>‹#›</a:t>
            </a:fld>
            <a:endParaRPr lang="en-US"/>
          </a:p>
        </p:txBody>
      </p:sp>
    </p:spTree>
    <p:extLst>
      <p:ext uri="{BB962C8B-B14F-4D97-AF65-F5344CB8AC3E}">
        <p14:creationId xmlns:p14="http://schemas.microsoft.com/office/powerpoint/2010/main" val="2647419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“Welcome to our first lecture on Advanced Software Engineering. Today, we’ll start from the basics of engineering, move into software and software engineering, discuss processes, models, and why software sometimes fails spectacularly.”</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1</a:t>
            </a:fld>
            <a:endParaRPr lang="en-US"/>
          </a:p>
        </p:txBody>
      </p:sp>
    </p:spTree>
    <p:extLst>
      <p:ext uri="{BB962C8B-B14F-4D97-AF65-F5344CB8AC3E}">
        <p14:creationId xmlns:p14="http://schemas.microsoft.com/office/powerpoint/2010/main" val="3615549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r>
              <a:rPr lang="en-US" sz="1200" i="1" kern="1200" dirty="0" smtClean="0">
                <a:solidFill>
                  <a:schemeClr val="tx1"/>
                </a:solidFill>
                <a:effectLst/>
                <a:latin typeface="+mn-lt"/>
                <a:ea typeface="+mn-ea"/>
                <a:cs typeface="+mn-cs"/>
              </a:rPr>
              <a:t>“When you hear the word engineering, what comes to your mind—bridges, machines, robots, or maybe… software?”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 </a:t>
            </a:r>
          </a:p>
          <a:p>
            <a:pPr lvl="0"/>
            <a:r>
              <a:rPr lang="en-US" sz="1200" b="1" kern="1200" dirty="0" smtClean="0">
                <a:solidFill>
                  <a:schemeClr val="tx1"/>
                </a:solidFill>
                <a:effectLst/>
                <a:latin typeface="+mn-lt"/>
                <a:ea typeface="+mn-ea"/>
                <a:cs typeface="+mn-cs"/>
              </a:rPr>
              <a:t>Definition:</a:t>
            </a:r>
            <a:r>
              <a:rPr lang="en-US" sz="1200" kern="1200" dirty="0" smtClean="0">
                <a:solidFill>
                  <a:schemeClr val="tx1"/>
                </a:solidFill>
                <a:effectLst/>
                <a:latin typeface="+mn-lt"/>
                <a:ea typeface="+mn-ea"/>
                <a:cs typeface="+mn-cs"/>
              </a:rPr>
              <a:t> Engineering is the application of scientific and mathematical principles to design and build systems that solve real-world problems.</a:t>
            </a:r>
          </a:p>
          <a:p>
            <a:pPr lvl="0"/>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Example:</a:t>
            </a:r>
            <a:r>
              <a:rPr lang="en-US" sz="1200" kern="1200" dirty="0" smtClean="0">
                <a:solidFill>
                  <a:schemeClr val="tx1"/>
                </a:solidFill>
                <a:effectLst/>
                <a:latin typeface="+mn-lt"/>
                <a:ea typeface="+mn-ea"/>
                <a:cs typeface="+mn-cs"/>
              </a:rPr>
              <a:t> </a:t>
            </a:r>
          </a:p>
          <a:p>
            <a:pPr lvl="0"/>
            <a:r>
              <a:rPr lang="en-US" sz="1200" kern="1200" dirty="0" smtClean="0">
                <a:solidFill>
                  <a:schemeClr val="tx1"/>
                </a:solidFill>
                <a:effectLst/>
                <a:latin typeface="+mn-lt"/>
                <a:ea typeface="+mn-ea"/>
                <a:cs typeface="+mn-cs"/>
              </a:rPr>
              <a:t>Civil engineers build bridges that don’t fall; </a:t>
            </a:r>
            <a:r>
              <a:rPr lang="en-US" sz="1200" b="1" kern="1200" dirty="0" smtClean="0">
                <a:solidFill>
                  <a:schemeClr val="tx1"/>
                </a:solidFill>
                <a:effectLst/>
                <a:latin typeface="+mn-lt"/>
                <a:ea typeface="+mn-ea"/>
                <a:cs typeface="+mn-cs"/>
              </a:rPr>
              <a:t>software engineers</a:t>
            </a:r>
            <a:r>
              <a:rPr lang="en-US" sz="1200" kern="1200" dirty="0" smtClean="0">
                <a:solidFill>
                  <a:schemeClr val="tx1"/>
                </a:solidFill>
                <a:effectLst/>
                <a:latin typeface="+mn-lt"/>
                <a:ea typeface="+mn-ea"/>
                <a:cs typeface="+mn-cs"/>
              </a:rPr>
              <a:t> build systems that don’t crash (hopefully).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2</a:t>
            </a:fld>
            <a:endParaRPr lang="en-US"/>
          </a:p>
        </p:txBody>
      </p:sp>
    </p:spTree>
    <p:extLst>
      <p:ext uri="{BB962C8B-B14F-4D97-AF65-F5344CB8AC3E}">
        <p14:creationId xmlns:p14="http://schemas.microsoft.com/office/powerpoint/2010/main" val="389224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“So, what exactly is software? Is it just the apps on your phone, or more?”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Definition:</a:t>
            </a:r>
            <a:r>
              <a:rPr lang="en-US" sz="1200" kern="1200" dirty="0" smtClean="0">
                <a:solidFill>
                  <a:schemeClr val="tx1"/>
                </a:solidFill>
                <a:effectLst/>
                <a:latin typeface="+mn-lt"/>
                <a:ea typeface="+mn-ea"/>
                <a:cs typeface="+mn-cs"/>
              </a:rPr>
              <a:t> Software is a collection of programs, data, and instructions that tell a computer how to perform tasks.</a:t>
            </a:r>
            <a:endParaRPr lang="en-US" sz="11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Examples:</a:t>
            </a:r>
            <a:endParaRPr lang="en-US" sz="1100" kern="1200" dirty="0" smtClean="0">
              <a:solidFill>
                <a:schemeClr val="tx1"/>
              </a:solidFill>
              <a:effectLst/>
              <a:latin typeface="+mn-lt"/>
              <a:ea typeface="+mn-ea"/>
              <a:cs typeface="+mn-cs"/>
            </a:endParaRPr>
          </a:p>
          <a:p>
            <a:pPr lvl="1"/>
            <a:r>
              <a:rPr lang="en-US" sz="1200" kern="1200" dirty="0" smtClean="0">
                <a:solidFill>
                  <a:schemeClr val="tx1"/>
                </a:solidFill>
                <a:effectLst/>
                <a:latin typeface="+mn-lt"/>
                <a:ea typeface="+mn-ea"/>
                <a:cs typeface="+mn-cs"/>
              </a:rPr>
              <a:t>Microsoft Word (application software)</a:t>
            </a:r>
            <a:endParaRPr lang="en-US" sz="1100" kern="1200" dirty="0" smtClean="0">
              <a:solidFill>
                <a:schemeClr val="tx1"/>
              </a:solidFill>
              <a:effectLst/>
              <a:latin typeface="+mn-lt"/>
              <a:ea typeface="+mn-ea"/>
              <a:cs typeface="+mn-cs"/>
            </a:endParaRPr>
          </a:p>
          <a:p>
            <a:pPr lvl="1"/>
            <a:r>
              <a:rPr lang="en-US" sz="1200" kern="1200" dirty="0" smtClean="0">
                <a:solidFill>
                  <a:schemeClr val="tx1"/>
                </a:solidFill>
                <a:effectLst/>
                <a:latin typeface="+mn-lt"/>
                <a:ea typeface="+mn-ea"/>
                <a:cs typeface="+mn-cs"/>
              </a:rPr>
              <a:t>Windows/Linux (system software)</a:t>
            </a:r>
            <a:endParaRPr lang="en-US" sz="1100" kern="1200" dirty="0" smtClean="0">
              <a:solidFill>
                <a:schemeClr val="tx1"/>
              </a:solidFill>
              <a:effectLst/>
              <a:latin typeface="+mn-lt"/>
              <a:ea typeface="+mn-ea"/>
              <a:cs typeface="+mn-cs"/>
            </a:endParaRPr>
          </a:p>
          <a:p>
            <a:pPr lvl="1"/>
            <a:r>
              <a:rPr lang="en-US" sz="1200" kern="1200" dirty="0" smtClean="0">
                <a:solidFill>
                  <a:schemeClr val="tx1"/>
                </a:solidFill>
                <a:effectLst/>
                <a:latin typeface="+mn-lt"/>
                <a:ea typeface="+mn-ea"/>
                <a:cs typeface="+mn-cs"/>
              </a:rPr>
              <a:t>Database engines like MySQL</a:t>
            </a:r>
            <a:endParaRPr lang="en-US" sz="1100" kern="1200" dirty="0" smtClean="0">
              <a:solidFill>
                <a:schemeClr val="tx1"/>
              </a:solidFill>
              <a:effectLst/>
              <a:latin typeface="+mn-lt"/>
              <a:ea typeface="+mn-ea"/>
              <a:cs typeface="+mn-cs"/>
            </a:endParaRPr>
          </a:p>
          <a:p>
            <a:r>
              <a:rPr lang="en-US" dirty="0" smtClean="0"/>
              <a:t>“Software is the invisible mind behind the machine. Without it, your phone is just a very expensive brick. Think of system software like the operating system, application software like WhatsApp, and embedded software like the program inside your automatic washing machine.”</a:t>
            </a:r>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3</a:t>
            </a:fld>
            <a:endParaRPr lang="en-US"/>
          </a:p>
        </p:txBody>
      </p:sp>
    </p:spTree>
    <p:extLst>
      <p:ext uri="{BB962C8B-B14F-4D97-AF65-F5344CB8AC3E}">
        <p14:creationId xmlns:p14="http://schemas.microsoft.com/office/powerpoint/2010/main" val="39288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“Why can’t we just write code and be done with it? Why complicate things with ‘software engineering’?” </a:t>
            </a:r>
            <a:r>
              <a:rPr lang="en-US" i="1" dirty="0" smtClean="0"/>
              <a:t>“Why do you think software engineering is needed instead of just ‘coding’?”</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r>
              <a:rPr lang="en-US" dirty="0" smtClean="0"/>
              <a:t>“Software engineering is about discipline. Anyone can write code. </a:t>
            </a:r>
          </a:p>
          <a:p>
            <a:r>
              <a:rPr lang="en-US" dirty="0" smtClean="0"/>
              <a:t>But to build software for banks, hospitals, or governments, we need systems that are reliable, scalable, and maintainable. This is what software engineering ensures.”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Definition:</a:t>
            </a:r>
            <a:r>
              <a:rPr lang="en-US" sz="1200" kern="1200" dirty="0" smtClean="0">
                <a:solidFill>
                  <a:schemeClr val="tx1"/>
                </a:solidFill>
                <a:effectLst/>
                <a:latin typeface="+mn-lt"/>
                <a:ea typeface="+mn-ea"/>
                <a:cs typeface="+mn-cs"/>
              </a:rPr>
              <a:t> Software Engineering is the disciplined, systematic approach to designing, developing, testing, and maintaining software.</a:t>
            </a:r>
            <a:endParaRPr lang="en-US" sz="11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Analogy:</a:t>
            </a:r>
            <a:r>
              <a:rPr lang="en-US" sz="1200" kern="1200" dirty="0" smtClean="0">
                <a:solidFill>
                  <a:schemeClr val="tx1"/>
                </a:solidFill>
                <a:effectLst/>
                <a:latin typeface="+mn-lt"/>
                <a:ea typeface="+mn-ea"/>
                <a:cs typeface="+mn-cs"/>
              </a:rPr>
              <a:t> Building software is like building a skyscraper—you need blueprints, processes, and quality checks, not just a pile of bricks.</a:t>
            </a:r>
            <a:endParaRPr lang="en-US" sz="1100" kern="1200" dirty="0" smtClean="0">
              <a:solidFill>
                <a:schemeClr val="tx1"/>
              </a:solidFill>
              <a:effectLst/>
              <a:latin typeface="+mn-lt"/>
              <a:ea typeface="+mn-ea"/>
              <a:cs typeface="+mn-cs"/>
            </a:endParaRPr>
          </a:p>
          <a:p>
            <a:pPr lvl="0"/>
            <a:r>
              <a:rPr lang="en-US" sz="1200" b="1" kern="1200" dirty="0" smtClean="0">
                <a:solidFill>
                  <a:schemeClr val="tx1"/>
                </a:solidFill>
                <a:effectLst/>
                <a:latin typeface="+mn-lt"/>
                <a:ea typeface="+mn-ea"/>
                <a:cs typeface="+mn-cs"/>
              </a:rPr>
              <a:t>Example:</a:t>
            </a:r>
            <a:endParaRPr lang="en-US" sz="1100" kern="1200" dirty="0" smtClean="0">
              <a:solidFill>
                <a:schemeClr val="tx1"/>
              </a:solidFill>
              <a:effectLst/>
              <a:latin typeface="+mn-lt"/>
              <a:ea typeface="+mn-ea"/>
              <a:cs typeface="+mn-cs"/>
            </a:endParaRPr>
          </a:p>
          <a:p>
            <a:pPr lvl="1"/>
            <a:r>
              <a:rPr lang="en-US" sz="1200" kern="1200" dirty="0" smtClean="0">
                <a:solidFill>
                  <a:schemeClr val="tx1"/>
                </a:solidFill>
                <a:effectLst/>
                <a:latin typeface="+mn-lt"/>
                <a:ea typeface="+mn-ea"/>
                <a:cs typeface="+mn-cs"/>
              </a:rPr>
              <a:t>A banking system that handles millions of transactions daily requires engineering, not random coding.</a:t>
            </a:r>
            <a:endParaRPr lang="en-US" sz="11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4</a:t>
            </a:fld>
            <a:endParaRPr lang="en-US"/>
          </a:p>
        </p:txBody>
      </p:sp>
    </p:spTree>
    <p:extLst>
      <p:ext uri="{BB962C8B-B14F-4D97-AF65-F5344CB8AC3E}">
        <p14:creationId xmlns:p14="http://schemas.microsoft.com/office/powerpoint/2010/main" val="4201953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A </a:t>
            </a:r>
            <a:r>
              <a:rPr lang="en-US" sz="1200" b="1" dirty="0" smtClean="0"/>
              <a:t>framework</a:t>
            </a:r>
            <a:r>
              <a:rPr lang="en-US" sz="1200" dirty="0" smtClean="0"/>
              <a:t> that describes the activities performed at each stage of a software development project.  </a:t>
            </a:r>
            <a:endParaRPr lang="en-GB" sz="1200" dirty="0" smtClean="0"/>
          </a:p>
          <a:p>
            <a:r>
              <a:rPr lang="en-GB" sz="1200" dirty="0" smtClean="0"/>
              <a:t>A set of activities whose goal is the development or evolution of software.</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5</a:t>
            </a:fld>
            <a:endParaRPr lang="en-US"/>
          </a:p>
        </p:txBody>
      </p:sp>
    </p:spTree>
    <p:extLst>
      <p:ext uri="{BB962C8B-B14F-4D97-AF65-F5344CB8AC3E}">
        <p14:creationId xmlns:p14="http://schemas.microsoft.com/office/powerpoint/2010/main" val="282982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6</a:t>
            </a:fld>
            <a:endParaRPr lang="en-US"/>
          </a:p>
        </p:txBody>
      </p:sp>
    </p:spTree>
    <p:extLst>
      <p:ext uri="{BB962C8B-B14F-4D97-AF65-F5344CB8AC3E}">
        <p14:creationId xmlns:p14="http://schemas.microsoft.com/office/powerpoint/2010/main" val="2013147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Definition:</a:t>
            </a:r>
            <a:r>
              <a:rPr lang="en-US" dirty="0" smtClean="0"/>
              <a:t> A traditional, structured, and heavily documented approach to software development. Everything is planned upfront, and change is discouraged.</a:t>
            </a:r>
          </a:p>
          <a:p>
            <a:r>
              <a:rPr lang="en-US" b="1" dirty="0" smtClean="0"/>
              <a:t>Characteristics:</a:t>
            </a:r>
            <a:endParaRPr lang="en-US" dirty="0" smtClean="0"/>
          </a:p>
          <a:p>
            <a:pPr lvl="1"/>
            <a:r>
              <a:rPr lang="en-US" dirty="0" smtClean="0"/>
              <a:t>Requirements defined early.</a:t>
            </a:r>
          </a:p>
          <a:p>
            <a:pPr lvl="1"/>
            <a:r>
              <a:rPr lang="en-US" dirty="0" smtClean="0"/>
              <a:t>Detailed documentation at every stage.</a:t>
            </a:r>
          </a:p>
          <a:p>
            <a:pPr lvl="1"/>
            <a:r>
              <a:rPr lang="en-US" dirty="0" smtClean="0"/>
              <a:t>Sequential phases (fits with Waterfall, V-model).</a:t>
            </a:r>
          </a:p>
          <a:p>
            <a:pPr lvl="1"/>
            <a:r>
              <a:rPr lang="en-US" dirty="0" smtClean="0"/>
              <a:t>Strict timelines and budgets.</a:t>
            </a:r>
          </a:p>
          <a:p>
            <a:r>
              <a:rPr lang="en-US" b="1" dirty="0" smtClean="0"/>
              <a:t>Strengths:</a:t>
            </a:r>
            <a:endParaRPr lang="en-US" dirty="0" smtClean="0"/>
          </a:p>
          <a:p>
            <a:pPr lvl="1"/>
            <a:r>
              <a:rPr lang="en-US" dirty="0" smtClean="0"/>
              <a:t>Works well for projects with stable, well-understood requirements.</a:t>
            </a:r>
          </a:p>
          <a:p>
            <a:pPr lvl="1"/>
            <a:r>
              <a:rPr lang="en-US" dirty="0" smtClean="0"/>
              <a:t>Easier to manage in highly regulated industries (aerospace, defense, healthcare).</a:t>
            </a:r>
          </a:p>
          <a:p>
            <a:r>
              <a:rPr lang="en-US" b="1" dirty="0" smtClean="0"/>
              <a:t>Weaknesses:</a:t>
            </a:r>
            <a:endParaRPr lang="en-US" dirty="0" smtClean="0"/>
          </a:p>
          <a:p>
            <a:pPr lvl="1"/>
            <a:r>
              <a:rPr lang="en-US" dirty="0" smtClean="0"/>
              <a:t>Inflexible—any change is costly.</a:t>
            </a:r>
          </a:p>
          <a:p>
            <a:pPr lvl="1"/>
            <a:r>
              <a:rPr lang="en-US" dirty="0" smtClean="0"/>
              <a:t>Long delays before delivering working software.</a:t>
            </a:r>
          </a:p>
          <a:p>
            <a:r>
              <a:rPr lang="en-US" b="1" dirty="0" smtClean="0"/>
              <a:t>Example:</a:t>
            </a:r>
            <a:r>
              <a:rPr lang="en-US" dirty="0" smtClean="0"/>
              <a:t> Developing software for an airplane control system. You </a:t>
            </a:r>
            <a:r>
              <a:rPr lang="en-US" i="1" dirty="0" smtClean="0"/>
              <a:t>cannot</a:t>
            </a:r>
            <a:r>
              <a:rPr lang="en-US" dirty="0" smtClean="0"/>
              <a:t> just “wing it.”</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7</a:t>
            </a:fld>
            <a:endParaRPr lang="en-US"/>
          </a:p>
        </p:txBody>
      </p:sp>
    </p:spTree>
    <p:extLst>
      <p:ext uri="{BB962C8B-B14F-4D97-AF65-F5344CB8AC3E}">
        <p14:creationId xmlns:p14="http://schemas.microsoft.com/office/powerpoint/2010/main" val="1298004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8</a:t>
            </a:fld>
            <a:endParaRPr lang="en-US"/>
          </a:p>
        </p:txBody>
      </p:sp>
    </p:spTree>
    <p:extLst>
      <p:ext uri="{BB962C8B-B14F-4D97-AF65-F5344CB8AC3E}">
        <p14:creationId xmlns:p14="http://schemas.microsoft.com/office/powerpoint/2010/main" val="359358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b="1" dirty="0" smtClean="0"/>
              <a:t>sequential SDLC model</a:t>
            </a:r>
            <a:r>
              <a:rPr lang="en-US" dirty="0" smtClean="0"/>
              <a:t> where each phase must be completed before the next begins.</a:t>
            </a:r>
          </a:p>
          <a:p>
            <a:r>
              <a:rPr lang="en-US" dirty="0" smtClean="0"/>
              <a:t>No overlapping phases</a:t>
            </a:r>
          </a:p>
          <a:p>
            <a:r>
              <a:rPr lang="en-US" dirty="0" smtClean="0"/>
              <a:t>Clear documentation</a:t>
            </a:r>
          </a:p>
          <a:p>
            <a:r>
              <a:rPr lang="en-US" dirty="0" smtClean="0"/>
              <a:t>Fixed requirements</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10</a:t>
            </a:fld>
            <a:endParaRPr lang="en-US"/>
          </a:p>
        </p:txBody>
      </p:sp>
    </p:spTree>
    <p:extLst>
      <p:ext uri="{BB962C8B-B14F-4D97-AF65-F5344CB8AC3E}">
        <p14:creationId xmlns:p14="http://schemas.microsoft.com/office/powerpoint/2010/main" val="380929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software development approach where the system is developed and delivered in </a:t>
            </a:r>
            <a:r>
              <a:rPr lang="en-US" b="1" dirty="0" smtClean="0"/>
              <a:t>multiple small releases</a:t>
            </a:r>
            <a:r>
              <a:rPr lang="en-US" dirty="0" smtClean="0"/>
              <a:t>, with each release adding new functionality.</a:t>
            </a:r>
          </a:p>
          <a:p>
            <a:r>
              <a:rPr lang="en-US" dirty="0" smtClean="0"/>
              <a:t>Requirements divided into modules</a:t>
            </a:r>
          </a:p>
          <a:p>
            <a:r>
              <a:rPr lang="en-US" dirty="0" smtClean="0"/>
              <a:t>Each increment goes through full SDLC cycle</a:t>
            </a:r>
          </a:p>
          <a:p>
            <a:r>
              <a:rPr lang="en-US" dirty="0" smtClean="0"/>
              <a:t>Working product delivered early</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11</a:t>
            </a:fld>
            <a:endParaRPr lang="en-US"/>
          </a:p>
        </p:txBody>
      </p:sp>
    </p:spTree>
    <p:extLst>
      <p:ext uri="{BB962C8B-B14F-4D97-AF65-F5344CB8AC3E}">
        <p14:creationId xmlns:p14="http://schemas.microsoft.com/office/powerpoint/2010/main" val="582899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RAD is an SDLC model that emphasizes </a:t>
            </a:r>
            <a:r>
              <a:rPr lang="en-US" b="1" dirty="0" smtClean="0"/>
              <a:t>fast development</a:t>
            </a:r>
            <a:r>
              <a:rPr lang="en-US" dirty="0" smtClean="0"/>
              <a:t>, </a:t>
            </a:r>
            <a:r>
              <a:rPr lang="en-US" b="1" dirty="0" smtClean="0"/>
              <a:t>prototyping</a:t>
            </a:r>
            <a:r>
              <a:rPr lang="en-US" dirty="0" smtClean="0"/>
              <a:t>, and </a:t>
            </a:r>
            <a:r>
              <a:rPr lang="en-US" b="1" dirty="0" smtClean="0"/>
              <a:t>continuous user feedback</a:t>
            </a:r>
            <a:r>
              <a:rPr lang="en-US" dirty="0" smtClean="0"/>
              <a:t> to quickly produce high-quality software.</a:t>
            </a:r>
          </a:p>
          <a:p>
            <a:r>
              <a:rPr lang="en-US" dirty="0" smtClean="0"/>
              <a:t>Iterative development</a:t>
            </a:r>
          </a:p>
          <a:p>
            <a:r>
              <a:rPr lang="en-US" dirty="0" smtClean="0"/>
              <a:t>Active user participation</a:t>
            </a:r>
          </a:p>
          <a:p>
            <a:r>
              <a:rPr lang="en-US" dirty="0" smtClean="0"/>
              <a:t>Fast delivery</a:t>
            </a:r>
          </a:p>
          <a:p>
            <a:endParaRPr lang="en-US" dirty="0" smtClean="0"/>
          </a:p>
          <a:p>
            <a:r>
              <a:rPr lang="en-US" b="1" dirty="0" smtClean="0"/>
              <a:t>Business Modelling</a:t>
            </a:r>
          </a:p>
          <a:p>
            <a:r>
              <a:rPr lang="en-US" dirty="0" smtClean="0"/>
              <a:t>How the organization works</a:t>
            </a:r>
          </a:p>
          <a:p>
            <a:r>
              <a:rPr lang="en-US" dirty="0" smtClean="0"/>
              <a:t>What information flows between departments</a:t>
            </a:r>
          </a:p>
          <a:p>
            <a:r>
              <a:rPr lang="en-US" dirty="0" smtClean="0"/>
              <a:t>What the business goals are</a:t>
            </a:r>
          </a:p>
          <a:p>
            <a:r>
              <a:rPr lang="en-US" b="1" dirty="0" smtClean="0"/>
              <a:t>Data Modelling </a:t>
            </a:r>
          </a:p>
          <a:p>
            <a:r>
              <a:rPr lang="en-US" dirty="0" smtClean="0"/>
              <a:t>What data is needed</a:t>
            </a:r>
          </a:p>
          <a:p>
            <a:r>
              <a:rPr lang="en-US" dirty="0" smtClean="0"/>
              <a:t>Database structure</a:t>
            </a:r>
          </a:p>
          <a:p>
            <a:r>
              <a:rPr lang="en-US" dirty="0" smtClean="0"/>
              <a:t>Relationships between data (tables, entities)</a:t>
            </a:r>
          </a:p>
          <a:p>
            <a:r>
              <a:rPr lang="en-US" b="1" dirty="0" smtClean="0"/>
              <a:t>Process Modelling</a:t>
            </a:r>
          </a:p>
          <a:p>
            <a:r>
              <a:rPr lang="en-US" dirty="0" smtClean="0"/>
              <a:t>How data moves</a:t>
            </a:r>
          </a:p>
          <a:p>
            <a:r>
              <a:rPr lang="en-US" dirty="0" smtClean="0"/>
              <a:t>What processes transform it</a:t>
            </a:r>
          </a:p>
          <a:p>
            <a:r>
              <a:rPr lang="en-US" dirty="0" smtClean="0"/>
              <a:t>Workflows and logic</a:t>
            </a:r>
          </a:p>
          <a:p>
            <a:r>
              <a:rPr lang="en-US" b="1" dirty="0" smtClean="0"/>
              <a:t>Application Generation</a:t>
            </a:r>
          </a:p>
          <a:p>
            <a:r>
              <a:rPr lang="en-US" dirty="0" smtClean="0"/>
              <a:t>Rapid coding</a:t>
            </a:r>
          </a:p>
          <a:p>
            <a:r>
              <a:rPr lang="en-US" dirty="0" smtClean="0"/>
              <a:t>Use of reusable components</a:t>
            </a:r>
          </a:p>
          <a:p>
            <a:r>
              <a:rPr lang="en-US" dirty="0" smtClean="0"/>
              <a:t>Automatic code generation tools</a:t>
            </a:r>
          </a:p>
          <a:p>
            <a:r>
              <a:rPr lang="en-US" dirty="0" smtClean="0"/>
              <a:t>RAD emphasizes speed. Developers often use frameworks, templates, or CASE tools.</a:t>
            </a:r>
          </a:p>
          <a:p>
            <a:r>
              <a:rPr lang="en-US" b="1" dirty="0" smtClean="0"/>
              <a:t>Testing and Turnover</a:t>
            </a:r>
          </a:p>
          <a:p>
            <a:r>
              <a:rPr lang="en-US" dirty="0" smtClean="0"/>
              <a:t>System testing</a:t>
            </a:r>
          </a:p>
          <a:p>
            <a:r>
              <a:rPr lang="en-US" dirty="0" smtClean="0"/>
              <a:t>User acceptance testing</a:t>
            </a:r>
          </a:p>
          <a:p>
            <a:r>
              <a:rPr lang="en-US" dirty="0" smtClean="0"/>
              <a:t>Deployment</a:t>
            </a:r>
          </a:p>
          <a:p>
            <a:r>
              <a:rPr lang="en-US" dirty="0" smtClean="0"/>
              <a:t>User training</a:t>
            </a:r>
          </a:p>
          <a:p>
            <a:r>
              <a:rPr lang="en-US" dirty="0" smtClean="0"/>
              <a:t>Then the next module starts — and the cycle repeats.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12</a:t>
            </a:fld>
            <a:endParaRPr lang="en-US"/>
          </a:p>
        </p:txBody>
      </p:sp>
    </p:spTree>
    <p:extLst>
      <p:ext uri="{BB962C8B-B14F-4D97-AF65-F5344CB8AC3E}">
        <p14:creationId xmlns:p14="http://schemas.microsoft.com/office/powerpoint/2010/main" val="472675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1" dirty="0" smtClean="0"/>
              <a:t>Spiral Model</a:t>
            </a:r>
            <a:r>
              <a:rPr lang="en-US" dirty="0" smtClean="0"/>
              <a:t> is a risk-driven software development model.</a:t>
            </a:r>
            <a:br>
              <a:rPr lang="en-US" dirty="0" smtClean="0"/>
            </a:br>
            <a:r>
              <a:rPr lang="en-US" dirty="0" smtClean="0"/>
              <a:t>It combines ideas from </a:t>
            </a:r>
            <a:r>
              <a:rPr lang="en-US" b="1" dirty="0" smtClean="0"/>
              <a:t>Waterfall</a:t>
            </a:r>
            <a:r>
              <a:rPr lang="en-US" dirty="0" smtClean="0"/>
              <a:t> (structured phases) and </a:t>
            </a:r>
            <a:r>
              <a:rPr lang="en-US" b="1" dirty="0" smtClean="0"/>
              <a:t>Iterative development</a:t>
            </a:r>
            <a:r>
              <a:rPr lang="en-US" dirty="0" smtClean="0"/>
              <a:t> (repetition), but adds one powerful ingredient:</a:t>
            </a:r>
          </a:p>
          <a:p>
            <a:r>
              <a:rPr lang="en-US" dirty="0" smtClean="0"/>
              <a:t> </a:t>
            </a:r>
            <a:r>
              <a:rPr lang="en-US" b="1" dirty="0" smtClean="0"/>
              <a:t>Risk analysis at every cycle.</a:t>
            </a:r>
            <a:endParaRPr lang="en-US" dirty="0" smtClean="0"/>
          </a:p>
          <a:p>
            <a:r>
              <a:rPr lang="en-US" dirty="0" smtClean="0"/>
              <a:t>Think of it as building software in loops — and in every loop, you </a:t>
            </a:r>
            <a:r>
              <a:rPr lang="en-US" dirty="0" err="1" smtClean="0"/>
              <a:t>ask:“What</a:t>
            </a:r>
            <a:r>
              <a:rPr lang="en-US" dirty="0" smtClean="0"/>
              <a:t> could go wrong?”</a:t>
            </a:r>
          </a:p>
          <a:p>
            <a:r>
              <a:rPr lang="en-US" b="1" dirty="0" smtClean="0"/>
              <a:t>Risk Analysis</a:t>
            </a:r>
          </a:p>
          <a:p>
            <a:r>
              <a:rPr lang="en-US" dirty="0" smtClean="0"/>
              <a:t>Identify potential risks</a:t>
            </a:r>
          </a:p>
          <a:p>
            <a:r>
              <a:rPr lang="en-US" dirty="0" smtClean="0"/>
              <a:t>Evaluate technical and cost risks</a:t>
            </a:r>
          </a:p>
          <a:p>
            <a:r>
              <a:rPr lang="en-US" dirty="0" smtClean="0"/>
              <a:t>Develop prototypes to reduce uncertainty</a:t>
            </a:r>
          </a:p>
          <a:p>
            <a:r>
              <a:rPr lang="en-US" dirty="0" smtClean="0"/>
              <a:t>This is the heart of the model.</a:t>
            </a:r>
          </a:p>
          <a:p>
            <a:r>
              <a:rPr lang="en-US" b="1" dirty="0" smtClean="0"/>
              <a:t>When to Use Spiral Model</a:t>
            </a:r>
          </a:p>
          <a:p>
            <a:r>
              <a:rPr lang="en-US" dirty="0" smtClean="0"/>
              <a:t>Large-scale projects</a:t>
            </a:r>
          </a:p>
          <a:p>
            <a:r>
              <a:rPr lang="en-US" dirty="0" smtClean="0"/>
              <a:t>High-risk systems</a:t>
            </a:r>
          </a:p>
          <a:p>
            <a:r>
              <a:rPr lang="en-US" dirty="0" smtClean="0"/>
              <a:t>New or complex technology</a:t>
            </a:r>
          </a:p>
          <a:p>
            <a:r>
              <a:rPr lang="en-US" dirty="0" smtClean="0"/>
              <a:t>Mission-critical applications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14</a:t>
            </a:fld>
            <a:endParaRPr lang="en-US"/>
          </a:p>
        </p:txBody>
      </p:sp>
    </p:spTree>
    <p:extLst>
      <p:ext uri="{BB962C8B-B14F-4D97-AF65-F5344CB8AC3E}">
        <p14:creationId xmlns:p14="http://schemas.microsoft.com/office/powerpoint/2010/main" val="264666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7 Principles of Lean Software Development</a:t>
            </a:r>
            <a:r>
              <a:rPr lang="en-US" dirty="0" smtClean="0"/>
              <a:t>.</a:t>
            </a:r>
          </a:p>
          <a:p>
            <a:r>
              <a:rPr lang="en-US" dirty="0" smtClean="0"/>
              <a:t>Not exactly a step-by-step model like Waterfall or Spiral.</a:t>
            </a:r>
            <a:br>
              <a:rPr lang="en-US" dirty="0" smtClean="0"/>
            </a:br>
            <a:r>
              <a:rPr lang="en-US" dirty="0" smtClean="0"/>
              <a:t>This is more of a </a:t>
            </a:r>
            <a:r>
              <a:rPr lang="en-US" b="1" dirty="0" smtClean="0"/>
              <a:t>philosophy</a:t>
            </a:r>
            <a:r>
              <a:rPr lang="en-US" dirty="0" smtClean="0"/>
              <a:t> — a mindset borrowed from Lean manufacturing (Toyota Production System) and adapted to software.</a:t>
            </a:r>
          </a:p>
          <a:p>
            <a:r>
              <a:rPr lang="en-US" dirty="0" smtClean="0"/>
              <a:t>Lean asks one uncomfortable question again and again:</a:t>
            </a:r>
          </a:p>
          <a:p>
            <a:r>
              <a:rPr lang="en-US" dirty="0" smtClean="0"/>
              <a:t>“Are we doing something useful — or just staying busy?”</a:t>
            </a:r>
          </a:p>
          <a:p>
            <a:r>
              <a:rPr lang="en-US" b="1" dirty="0" smtClean="0"/>
              <a:t>Waste in software is anything that does not add value to the customer.</a:t>
            </a:r>
          </a:p>
          <a:p>
            <a:r>
              <a:rPr lang="en-US" b="1" dirty="0" smtClean="0"/>
              <a:t>Examples:</a:t>
            </a:r>
          </a:p>
          <a:p>
            <a:r>
              <a:rPr lang="en-US" b="1" dirty="0" smtClean="0"/>
              <a:t>Unnecessary features</a:t>
            </a:r>
          </a:p>
          <a:p>
            <a:r>
              <a:rPr lang="en-US" b="1" dirty="0" smtClean="0"/>
              <a:t>Excess documentation</a:t>
            </a:r>
          </a:p>
          <a:p>
            <a:r>
              <a:rPr lang="en-US" b="1" dirty="0" smtClean="0"/>
              <a:t>Waiting time</a:t>
            </a:r>
          </a:p>
          <a:p>
            <a:r>
              <a:rPr lang="en-US" b="1" dirty="0" smtClean="0"/>
              <a:t>Rework due to poor requirements</a:t>
            </a:r>
          </a:p>
          <a:p>
            <a:r>
              <a:rPr lang="en-US" b="1" dirty="0" smtClean="0"/>
              <a:t>Lean says: If it doesn’t create value, remove it.</a:t>
            </a:r>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15</a:t>
            </a:fld>
            <a:endParaRPr lang="en-US"/>
          </a:p>
        </p:txBody>
      </p:sp>
    </p:spTree>
    <p:extLst>
      <p:ext uri="{BB962C8B-B14F-4D97-AF65-F5344CB8AC3E}">
        <p14:creationId xmlns:p14="http://schemas.microsoft.com/office/powerpoint/2010/main" val="3133285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“Why do software projects fail? Usually, it’s not coding errors—it’s poor planning, unclear requirements, and shifting goals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20</a:t>
            </a:fld>
            <a:endParaRPr lang="en-US"/>
          </a:p>
        </p:txBody>
      </p:sp>
    </p:spTree>
    <p:extLst>
      <p:ext uri="{BB962C8B-B14F-4D97-AF65-F5344CB8AC3E}">
        <p14:creationId xmlns:p14="http://schemas.microsoft.com/office/powerpoint/2010/main" val="955644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“Modern software faces huge challenges: </a:t>
            </a:r>
          </a:p>
          <a:p>
            <a:r>
              <a:rPr lang="en-US" dirty="0" smtClean="0"/>
              <a:t>keeping up with changing needs, staying secure, and scaling. </a:t>
            </a:r>
          </a:p>
          <a:p>
            <a:r>
              <a:rPr lang="en-US" dirty="0" smtClean="0"/>
              <a:t>Imagine the challenge Instagram faces when billions of people open the app daily.”</a:t>
            </a:r>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21</a:t>
            </a:fld>
            <a:endParaRPr lang="en-US"/>
          </a:p>
        </p:txBody>
      </p:sp>
    </p:spTree>
    <p:extLst>
      <p:ext uri="{BB962C8B-B14F-4D97-AF65-F5344CB8AC3E}">
        <p14:creationId xmlns:p14="http://schemas.microsoft.com/office/powerpoint/2010/main" val="1049509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“Software engineering is about more than just programming. </a:t>
            </a:r>
          </a:p>
          <a:p>
            <a:endParaRPr lang="en-US" dirty="0" smtClean="0"/>
          </a:p>
          <a:p>
            <a:r>
              <a:rPr lang="en-US" dirty="0" smtClean="0"/>
              <a:t>It’s about designing systems that scale, adapt, and last. The failures you’ve seen in real life are proof of why software engineering matters.”</a:t>
            </a:r>
            <a:endParaRPr lang="en-US" dirty="0"/>
          </a:p>
        </p:txBody>
      </p:sp>
      <p:sp>
        <p:nvSpPr>
          <p:cNvPr id="4" name="Slide Number Placeholder 3"/>
          <p:cNvSpPr>
            <a:spLocks noGrp="1"/>
          </p:cNvSpPr>
          <p:nvPr>
            <p:ph type="sldNum" sz="quarter" idx="10"/>
          </p:nvPr>
        </p:nvSpPr>
        <p:spPr/>
        <p:txBody>
          <a:bodyPr/>
          <a:lstStyle/>
          <a:p>
            <a:fld id="{3A7D949A-080B-4F62-8768-9E6E6ACA58A1}" type="slidenum">
              <a:rPr lang="en-US" smtClean="0"/>
              <a:t>22</a:t>
            </a:fld>
            <a:endParaRPr lang="en-US"/>
          </a:p>
        </p:txBody>
      </p:sp>
    </p:spTree>
    <p:extLst>
      <p:ext uri="{BB962C8B-B14F-4D97-AF65-F5344CB8AC3E}">
        <p14:creationId xmlns:p14="http://schemas.microsoft.com/office/powerpoint/2010/main" val="939098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1793635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4799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3760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6632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4679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7076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7347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1839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2880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4994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9836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1902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8355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7576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888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9359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7438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76444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Advanced Software Engineering</a:t>
            </a:r>
          </a:p>
        </p:txBody>
      </p:sp>
      <p:sp>
        <p:nvSpPr>
          <p:cNvPr id="3" name="Subtitle 2"/>
          <p:cNvSpPr>
            <a:spLocks noGrp="1"/>
          </p:cNvSpPr>
          <p:nvPr>
            <p:ph type="subTitle" idx="1"/>
          </p:nvPr>
        </p:nvSpPr>
        <p:spPr/>
        <p:txBody>
          <a:bodyPr>
            <a:normAutofit/>
          </a:bodyPr>
          <a:lstStyle/>
          <a:p>
            <a:r>
              <a:rPr dirty="0"/>
              <a:t>Lecture 1: </a:t>
            </a:r>
            <a:r>
              <a:rPr dirty="0" smtClean="0"/>
              <a:t>Introduction</a:t>
            </a:r>
            <a:endParaRPr lang="en-US" dirty="0" smtClean="0"/>
          </a:p>
          <a:p>
            <a:endParaRPr lang="en-US" dirty="0"/>
          </a:p>
          <a:p>
            <a:r>
              <a:rPr lang="en-US" dirty="0" smtClean="0"/>
              <a:t>Shehla Saeed</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Engineering?</a:t>
            </a:r>
          </a:p>
        </p:txBody>
      </p:sp>
      <p:sp>
        <p:nvSpPr>
          <p:cNvPr id="3" name="Content Placeholder 2"/>
          <p:cNvSpPr>
            <a:spLocks noGrp="1"/>
          </p:cNvSpPr>
          <p:nvPr>
            <p:ph idx="1"/>
          </p:nvPr>
        </p:nvSpPr>
        <p:spPr/>
        <p:txBody>
          <a:bodyPr/>
          <a:lstStyle/>
          <a:p>
            <a:r>
              <a:t>- Application of science &amp; math</a:t>
            </a:r>
          </a:p>
          <a:p>
            <a:r>
              <a:t>- Design &amp; build solutions</a:t>
            </a:r>
          </a:p>
          <a:p>
            <a:r>
              <a:t>- Solve real-world problems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Software?</a:t>
            </a:r>
          </a:p>
        </p:txBody>
      </p:sp>
      <p:sp>
        <p:nvSpPr>
          <p:cNvPr id="3" name="Content Placeholder 2"/>
          <p:cNvSpPr>
            <a:spLocks noGrp="1"/>
          </p:cNvSpPr>
          <p:nvPr>
            <p:ph idx="1"/>
          </p:nvPr>
        </p:nvSpPr>
        <p:spPr/>
        <p:txBody>
          <a:bodyPr/>
          <a:lstStyle/>
          <a:p>
            <a:r>
              <a:t>- Instructions + data for computers</a:t>
            </a:r>
          </a:p>
          <a:p>
            <a:r>
              <a:t>- Types:</a:t>
            </a:r>
          </a:p>
          <a:p>
            <a:r>
              <a:t>  • System software (OS, drivers)</a:t>
            </a:r>
          </a:p>
          <a:p>
            <a:r>
              <a:t>  • Application software (apps)</a:t>
            </a:r>
          </a:p>
          <a:p>
            <a:r>
              <a:t>  • Embedded software (IoT, devices)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Software Engineering?</a:t>
            </a:r>
          </a:p>
        </p:txBody>
      </p:sp>
      <p:sp>
        <p:nvSpPr>
          <p:cNvPr id="3" name="Content Placeholder 2"/>
          <p:cNvSpPr>
            <a:spLocks noGrp="1"/>
          </p:cNvSpPr>
          <p:nvPr>
            <p:ph idx="1"/>
          </p:nvPr>
        </p:nvSpPr>
        <p:spPr/>
        <p:txBody>
          <a:bodyPr/>
          <a:lstStyle/>
          <a:p>
            <a:r>
              <a:t>- Systematic approach to software</a:t>
            </a:r>
          </a:p>
          <a:p>
            <a:r>
              <a:t>- Combines engineering + computing</a:t>
            </a:r>
          </a:p>
          <a:p>
            <a:r>
              <a:t>- Focus: reliability, scalability, maintainability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Software Process</a:t>
            </a:r>
          </a:p>
        </p:txBody>
      </p:sp>
      <p:sp>
        <p:nvSpPr>
          <p:cNvPr id="3" name="Content Placeholder 2"/>
          <p:cNvSpPr>
            <a:spLocks noGrp="1"/>
          </p:cNvSpPr>
          <p:nvPr>
            <p:ph idx="1"/>
          </p:nvPr>
        </p:nvSpPr>
        <p:spPr>
          <a:xfrm>
            <a:off x="982133" y="2159000"/>
            <a:ext cx="7704667" cy="3840816"/>
          </a:xfrm>
        </p:spPr>
        <p:txBody>
          <a:bodyPr>
            <a:normAutofit fontScale="70000" lnSpcReduction="20000"/>
          </a:bodyPr>
          <a:lstStyle/>
          <a:p>
            <a:r>
              <a:rPr lang="en-US" dirty="0"/>
              <a:t>A </a:t>
            </a:r>
            <a:r>
              <a:rPr lang="en-US" b="1" dirty="0"/>
              <a:t>framework</a:t>
            </a:r>
            <a:r>
              <a:rPr lang="en-US" dirty="0"/>
              <a:t> that describes the activities performed at each stage of a software development project.  </a:t>
            </a:r>
            <a:endParaRPr lang="en-GB" dirty="0"/>
          </a:p>
          <a:p>
            <a:r>
              <a:rPr lang="en-GB" dirty="0"/>
              <a:t>A set of activities whose goal is the development or evolution of software.</a:t>
            </a:r>
          </a:p>
          <a:p>
            <a:pPr marL="0" indent="0">
              <a:buNone/>
            </a:pPr>
            <a:endParaRPr lang="en-US" dirty="0" smtClean="0"/>
          </a:p>
          <a:p>
            <a:r>
              <a:rPr dirty="0" smtClean="0"/>
              <a:t>S</a:t>
            </a:r>
            <a:r>
              <a:rPr lang="en-US" dirty="0" smtClean="0"/>
              <a:t>/w process activities</a:t>
            </a:r>
            <a:r>
              <a:rPr dirty="0" smtClean="0"/>
              <a:t>:</a:t>
            </a:r>
            <a:endParaRPr dirty="0"/>
          </a:p>
          <a:p>
            <a:r>
              <a:rPr dirty="0"/>
              <a:t>1. Requirements analysis</a:t>
            </a:r>
          </a:p>
          <a:p>
            <a:r>
              <a:rPr dirty="0"/>
              <a:t>2. Design</a:t>
            </a:r>
          </a:p>
          <a:p>
            <a:r>
              <a:rPr dirty="0"/>
              <a:t>3. Implementation</a:t>
            </a:r>
          </a:p>
          <a:p>
            <a:r>
              <a:rPr dirty="0"/>
              <a:t>4. Testing</a:t>
            </a:r>
          </a:p>
          <a:p>
            <a:r>
              <a:rPr dirty="0"/>
              <a:t>5. Deployment</a:t>
            </a:r>
          </a:p>
          <a:p>
            <a:r>
              <a:rPr dirty="0"/>
              <a:t>6. Maintenance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690" y="1257300"/>
            <a:ext cx="7772400" cy="857250"/>
          </a:xfrm>
        </p:spPr>
        <p:txBody>
          <a:bodyPr/>
          <a:lstStyle/>
          <a:p>
            <a:r>
              <a:rPr lang="en-US" sz="2700" dirty="0"/>
              <a:t>Plan-driven and agile processes</a:t>
            </a:r>
          </a:p>
        </p:txBody>
      </p:sp>
      <p:sp>
        <p:nvSpPr>
          <p:cNvPr id="3" name="Content Placeholder 2"/>
          <p:cNvSpPr>
            <a:spLocks noGrp="1"/>
          </p:cNvSpPr>
          <p:nvPr>
            <p:ph idx="1"/>
          </p:nvPr>
        </p:nvSpPr>
        <p:spPr>
          <a:xfrm>
            <a:off x="574964" y="2462645"/>
            <a:ext cx="8077200" cy="3086100"/>
          </a:xfrm>
        </p:spPr>
        <p:txBody>
          <a:bodyPr/>
          <a:lstStyle/>
          <a:p>
            <a:pPr algn="just">
              <a:buFont typeface="Wingdings" panose="05000000000000000000" pitchFamily="2" charset="2"/>
              <a:buChar char="q"/>
            </a:pPr>
            <a:r>
              <a:rPr lang="en-GB" sz="2100" b="1" dirty="0"/>
              <a:t>Plan-driven processes</a:t>
            </a:r>
            <a:r>
              <a:rPr lang="en-GB" sz="2100" dirty="0"/>
              <a:t> are processes where all of the process activities are planned in advance and progress is measured against this plan. </a:t>
            </a:r>
          </a:p>
          <a:p>
            <a:pPr algn="just">
              <a:buFont typeface="Wingdings" panose="05000000000000000000" pitchFamily="2" charset="2"/>
              <a:buChar char="q"/>
            </a:pPr>
            <a:r>
              <a:rPr lang="en-GB" sz="2100" dirty="0"/>
              <a:t>In </a:t>
            </a:r>
            <a:r>
              <a:rPr lang="en-GB" sz="2100" b="1" dirty="0"/>
              <a:t>agile processes</a:t>
            </a:r>
            <a:r>
              <a:rPr lang="en-GB" sz="2100" dirty="0"/>
              <a:t>, planning is incremental and it is easier to change the process to reflect changing customer requirements. </a:t>
            </a:r>
          </a:p>
          <a:p>
            <a:pPr algn="just">
              <a:buFont typeface="Wingdings" panose="05000000000000000000" pitchFamily="2" charset="2"/>
              <a:buChar char="q"/>
            </a:pPr>
            <a:r>
              <a:rPr lang="en-GB" sz="2100" dirty="0"/>
              <a:t>There are no right or wrong software processes.</a:t>
            </a:r>
            <a:endParaRPr lang="en-US" sz="2100" dirty="0"/>
          </a:p>
        </p:txBody>
      </p:sp>
    </p:spTree>
    <p:extLst>
      <p:ext uri="{BB962C8B-B14F-4D97-AF65-F5344CB8AC3E}">
        <p14:creationId xmlns:p14="http://schemas.microsoft.com/office/powerpoint/2010/main" val="358737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38199"/>
          </a:xfrm>
        </p:spPr>
        <p:txBody>
          <a:bodyPr/>
          <a:lstStyle/>
          <a:p>
            <a:r>
              <a:rPr lang="en-GB" b="1" dirty="0"/>
              <a:t>Plan-driven </a:t>
            </a:r>
            <a:r>
              <a:rPr lang="en-GB" b="1" dirty="0" smtClean="0"/>
              <a:t>process</a:t>
            </a:r>
            <a:endParaRPr lang="en-US" dirty="0"/>
          </a:p>
        </p:txBody>
      </p:sp>
      <p:sp>
        <p:nvSpPr>
          <p:cNvPr id="3" name="Content Placeholder 2"/>
          <p:cNvSpPr>
            <a:spLocks noGrp="1"/>
          </p:cNvSpPr>
          <p:nvPr>
            <p:ph idx="1"/>
          </p:nvPr>
        </p:nvSpPr>
        <p:spPr>
          <a:xfrm>
            <a:off x="982133" y="1422400"/>
            <a:ext cx="7704667" cy="5232400"/>
          </a:xfrm>
        </p:spPr>
        <p:txBody>
          <a:bodyPr>
            <a:normAutofit fontScale="77500" lnSpcReduction="20000"/>
          </a:bodyPr>
          <a:lstStyle/>
          <a:p>
            <a:r>
              <a:rPr lang="en-US" b="1" dirty="0"/>
              <a:t>Definition:</a:t>
            </a:r>
            <a:r>
              <a:rPr lang="en-US" dirty="0"/>
              <a:t> A traditional, structured, and heavily documented approach to software development. Everything is planned upfront, and change is discouraged.</a:t>
            </a:r>
          </a:p>
          <a:p>
            <a:r>
              <a:rPr lang="en-US" b="1" dirty="0"/>
              <a:t>Characteristics:</a:t>
            </a:r>
            <a:endParaRPr lang="en-US" dirty="0"/>
          </a:p>
          <a:p>
            <a:pPr lvl="1"/>
            <a:r>
              <a:rPr lang="en-US" dirty="0"/>
              <a:t>Requirements defined early.</a:t>
            </a:r>
          </a:p>
          <a:p>
            <a:pPr lvl="1"/>
            <a:r>
              <a:rPr lang="en-US" dirty="0"/>
              <a:t>Detailed documentation at every stage.</a:t>
            </a:r>
          </a:p>
          <a:p>
            <a:pPr lvl="1"/>
            <a:r>
              <a:rPr lang="en-US" dirty="0"/>
              <a:t>Sequential phases (fits with Waterfall, V-model).</a:t>
            </a:r>
          </a:p>
          <a:p>
            <a:pPr lvl="1"/>
            <a:r>
              <a:rPr lang="en-US" dirty="0"/>
              <a:t>Strict timelines and budgets</a:t>
            </a:r>
            <a:r>
              <a:rPr lang="en-US" dirty="0" smtClean="0"/>
              <a:t>.</a:t>
            </a:r>
          </a:p>
          <a:p>
            <a:r>
              <a:rPr lang="en-US" b="1" dirty="0"/>
              <a:t>Strengths:</a:t>
            </a:r>
            <a:endParaRPr lang="en-US" dirty="0"/>
          </a:p>
          <a:p>
            <a:pPr lvl="1"/>
            <a:r>
              <a:rPr lang="en-US" dirty="0"/>
              <a:t>Works well for projects with stable, well-understood requirements.</a:t>
            </a:r>
          </a:p>
          <a:p>
            <a:pPr lvl="1"/>
            <a:r>
              <a:rPr lang="en-US" dirty="0"/>
              <a:t>Easier to manage in highly regulated industries (aerospace, defense, healthcare).</a:t>
            </a:r>
          </a:p>
          <a:p>
            <a:r>
              <a:rPr lang="en-US" b="1" dirty="0"/>
              <a:t>Weaknesses:</a:t>
            </a:r>
            <a:endParaRPr lang="en-US" dirty="0"/>
          </a:p>
          <a:p>
            <a:pPr lvl="1"/>
            <a:r>
              <a:rPr lang="en-US" dirty="0"/>
              <a:t>Inflexible—any change is costly.</a:t>
            </a:r>
          </a:p>
          <a:p>
            <a:pPr lvl="1"/>
            <a:r>
              <a:rPr lang="en-US" dirty="0"/>
              <a:t>Long delays before delivering working software.</a:t>
            </a:r>
          </a:p>
          <a:p>
            <a:r>
              <a:rPr lang="en-US" b="1" dirty="0"/>
              <a:t>Example:</a:t>
            </a:r>
            <a:r>
              <a:rPr lang="en-US" dirty="0"/>
              <a:t> Developing software for an airplane control system. You </a:t>
            </a:r>
            <a:r>
              <a:rPr lang="en-US" i="1" dirty="0"/>
              <a:t>cannot</a:t>
            </a:r>
            <a:r>
              <a:rPr lang="en-US" dirty="0"/>
              <a:t> just “wing it.”</a:t>
            </a:r>
          </a:p>
          <a:p>
            <a:endParaRPr lang="en-US" dirty="0"/>
          </a:p>
        </p:txBody>
      </p:sp>
    </p:spTree>
    <p:extLst>
      <p:ext uri="{BB962C8B-B14F-4D97-AF65-F5344CB8AC3E}">
        <p14:creationId xmlns:p14="http://schemas.microsoft.com/office/powerpoint/2010/main" val="335851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308099"/>
          </a:xfrm>
        </p:spPr>
        <p:txBody>
          <a:bodyPr/>
          <a:lstStyle/>
          <a:p>
            <a:r>
              <a:rPr lang="en-US" dirty="0" smtClean="0"/>
              <a:t>Agile process</a:t>
            </a:r>
            <a:endParaRPr lang="en-US" dirty="0"/>
          </a:p>
        </p:txBody>
      </p:sp>
      <p:sp>
        <p:nvSpPr>
          <p:cNvPr id="3" name="Content Placeholder 2"/>
          <p:cNvSpPr>
            <a:spLocks noGrp="1"/>
          </p:cNvSpPr>
          <p:nvPr>
            <p:ph idx="1"/>
          </p:nvPr>
        </p:nvSpPr>
        <p:spPr>
          <a:xfrm>
            <a:off x="838201" y="1549400"/>
            <a:ext cx="7848600" cy="4851400"/>
          </a:xfrm>
        </p:spPr>
        <p:txBody>
          <a:bodyPr>
            <a:normAutofit fontScale="62500" lnSpcReduction="20000"/>
          </a:bodyPr>
          <a:lstStyle/>
          <a:p>
            <a:endParaRPr lang="en-US" dirty="0"/>
          </a:p>
          <a:p>
            <a:r>
              <a:rPr lang="en-US" b="1" dirty="0"/>
              <a:t>Definition:</a:t>
            </a:r>
            <a:r>
              <a:rPr lang="en-US" dirty="0"/>
              <a:t> An iterative and flexible approach that emphasizes collaboration, customer feedback, and working software over documentation.</a:t>
            </a:r>
          </a:p>
          <a:p>
            <a:r>
              <a:rPr lang="en-US" b="1" dirty="0"/>
              <a:t>Characteristics:</a:t>
            </a:r>
            <a:endParaRPr lang="en-US" dirty="0"/>
          </a:p>
          <a:p>
            <a:pPr lvl="1"/>
            <a:r>
              <a:rPr lang="en-US" dirty="0"/>
              <a:t>Requirements evolve over time.</a:t>
            </a:r>
          </a:p>
          <a:p>
            <a:pPr lvl="1"/>
            <a:r>
              <a:rPr lang="en-US" dirty="0"/>
              <a:t>Development is done in short iterations (sprints).</a:t>
            </a:r>
          </a:p>
          <a:p>
            <a:pPr lvl="1"/>
            <a:r>
              <a:rPr lang="en-US" dirty="0"/>
              <a:t>Continuous customer involvement.</a:t>
            </a:r>
          </a:p>
          <a:p>
            <a:pPr lvl="1"/>
            <a:r>
              <a:rPr lang="en-US" dirty="0"/>
              <a:t>Focus on delivering usable features quickly.</a:t>
            </a:r>
          </a:p>
          <a:p>
            <a:r>
              <a:rPr lang="en-US" b="1" dirty="0"/>
              <a:t>Strengths:</a:t>
            </a:r>
            <a:endParaRPr lang="en-US" dirty="0"/>
          </a:p>
          <a:p>
            <a:pPr lvl="1"/>
            <a:r>
              <a:rPr lang="en-US" dirty="0"/>
              <a:t>Adapts to changing requirements.</a:t>
            </a:r>
          </a:p>
          <a:p>
            <a:pPr lvl="1"/>
            <a:r>
              <a:rPr lang="en-US" dirty="0"/>
              <a:t>Early and frequent delivery of working software.</a:t>
            </a:r>
          </a:p>
          <a:p>
            <a:pPr lvl="1"/>
            <a:r>
              <a:rPr lang="en-US" dirty="0"/>
              <a:t>Encourages teamwork and communication.</a:t>
            </a:r>
          </a:p>
          <a:p>
            <a:r>
              <a:rPr lang="en-US" b="1" dirty="0"/>
              <a:t>Weaknesses:</a:t>
            </a:r>
            <a:endParaRPr lang="en-US" dirty="0"/>
          </a:p>
          <a:p>
            <a:pPr lvl="1"/>
            <a:r>
              <a:rPr lang="en-US" dirty="0"/>
              <a:t>Can lack documentation, which makes long-term maintenance tricky.</a:t>
            </a:r>
          </a:p>
          <a:p>
            <a:pPr lvl="1"/>
            <a:r>
              <a:rPr lang="en-US" dirty="0"/>
              <a:t>Harder to estimate cost and timeline upfront.</a:t>
            </a:r>
          </a:p>
          <a:p>
            <a:r>
              <a:rPr lang="en-US" b="1" dirty="0"/>
              <a:t>Example:</a:t>
            </a:r>
            <a:r>
              <a:rPr lang="en-US" dirty="0"/>
              <a:t> Developing a mobile app startup product, where features shift based on user feedback.</a:t>
            </a:r>
          </a:p>
          <a:p>
            <a:endParaRPr lang="en-US" dirty="0"/>
          </a:p>
          <a:p>
            <a:endParaRPr lang="en-US" dirty="0"/>
          </a:p>
        </p:txBody>
      </p:sp>
    </p:spTree>
    <p:extLst>
      <p:ext uri="{BB962C8B-B14F-4D97-AF65-F5344CB8AC3E}">
        <p14:creationId xmlns:p14="http://schemas.microsoft.com/office/powerpoint/2010/main" val="95128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SDLC Models</a:t>
            </a:r>
            <a:endParaRPr lang="en-US" b="1" dirty="0"/>
          </a:p>
        </p:txBody>
      </p:sp>
      <p:sp>
        <p:nvSpPr>
          <p:cNvPr id="3" name="Content Placeholder 2"/>
          <p:cNvSpPr>
            <a:spLocks noGrp="1"/>
          </p:cNvSpPr>
          <p:nvPr>
            <p:ph idx="1"/>
          </p:nvPr>
        </p:nvSpPr>
        <p:spPr/>
        <p:txBody>
          <a:bodyPr>
            <a:normAutofit/>
          </a:bodyPr>
          <a:lstStyle/>
          <a:p>
            <a:r>
              <a:rPr lang="en-US" sz="2100" dirty="0"/>
              <a:t>Waterfall Model</a:t>
            </a:r>
          </a:p>
          <a:p>
            <a:r>
              <a:rPr lang="en-US" sz="2100" dirty="0"/>
              <a:t>Incremental Model</a:t>
            </a:r>
          </a:p>
          <a:p>
            <a:r>
              <a:rPr lang="en-US" sz="2100" dirty="0"/>
              <a:t>RAD Model</a:t>
            </a:r>
          </a:p>
          <a:p>
            <a:r>
              <a:rPr lang="en-US" sz="2100" dirty="0"/>
              <a:t>Spiral Model</a:t>
            </a:r>
          </a:p>
          <a:p>
            <a:r>
              <a:rPr lang="en-US" sz="2100" dirty="0"/>
              <a:t>Scrum Model</a:t>
            </a:r>
          </a:p>
          <a:p>
            <a:r>
              <a:rPr lang="en-US" sz="2100" dirty="0"/>
              <a:t>Lean Development Methodology</a:t>
            </a:r>
          </a:p>
          <a:p>
            <a:r>
              <a:rPr lang="en-US" sz="2100" dirty="0"/>
              <a:t>Extreme </a:t>
            </a:r>
            <a:r>
              <a:rPr lang="en-US" sz="2100" dirty="0" smtClean="0"/>
              <a:t>Programming</a:t>
            </a:r>
            <a:endParaRPr lang="en-US" sz="2100" dirty="0"/>
          </a:p>
        </p:txBody>
      </p:sp>
    </p:spTree>
    <p:extLst>
      <p:ext uri="{BB962C8B-B14F-4D97-AF65-F5344CB8AC3E}">
        <p14:creationId xmlns:p14="http://schemas.microsoft.com/office/powerpoint/2010/main" val="22941112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t>
            </a:r>
          </a:p>
          <a:p>
            <a:endParaRPr lang="en-US" dirty="0"/>
          </a:p>
          <a:p>
            <a:endParaRPr lang="en-US" dirty="0"/>
          </a:p>
        </p:txBody>
      </p:sp>
      <p:sp>
        <p:nvSpPr>
          <p:cNvPr id="5" name="Title 4"/>
          <p:cNvSpPr>
            <a:spLocks noGrp="1"/>
          </p:cNvSpPr>
          <p:nvPr>
            <p:ph type="title"/>
          </p:nvPr>
        </p:nvSpPr>
        <p:spPr/>
        <p:txBody>
          <a:bodyPr/>
          <a:lstStyle/>
          <a:p>
            <a:r>
              <a:rPr lang="en-US" b="1" dirty="0"/>
              <a:t>WATERFALL MODEL</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96" y="2283711"/>
            <a:ext cx="8915487" cy="3202689"/>
          </a:xfrm>
          <a:prstGeom prst="rect">
            <a:avLst/>
          </a:prstGeom>
        </p:spPr>
      </p:pic>
    </p:spTree>
    <p:extLst>
      <p:ext uri="{BB962C8B-B14F-4D97-AF65-F5344CB8AC3E}">
        <p14:creationId xmlns:p14="http://schemas.microsoft.com/office/powerpoint/2010/main" val="15266393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Incremental model</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4368" y="2269794"/>
            <a:ext cx="8082307" cy="3449472"/>
          </a:xfrm>
        </p:spPr>
      </p:pic>
    </p:spTree>
    <p:extLst>
      <p:ext uri="{BB962C8B-B14F-4D97-AF65-F5344CB8AC3E}">
        <p14:creationId xmlns:p14="http://schemas.microsoft.com/office/powerpoint/2010/main" val="15938398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386" y="1054470"/>
            <a:ext cx="7543800" cy="1207008"/>
          </a:xfrm>
        </p:spPr>
        <p:txBody>
          <a:bodyPr/>
          <a:lstStyle/>
          <a:p>
            <a:r>
              <a:rPr lang="en-US" b="1" dirty="0"/>
              <a:t>RAD model</a:t>
            </a:r>
            <a:endParaRPr lang="en-US" dirty="0"/>
          </a:p>
        </p:txBody>
      </p:sp>
      <p:pic>
        <p:nvPicPr>
          <p:cNvPr id="1026" name="Picture 2" descr="C:\Users\hafiza.maria\Desktop\rad.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98965" y="2126523"/>
            <a:ext cx="4475535" cy="3546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1898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D5D3E-E0DC-4CA9-8112-2B3894B149A3}"/>
              </a:ext>
            </a:extLst>
          </p:cNvPr>
          <p:cNvSpPr>
            <a:spLocks noGrp="1"/>
          </p:cNvSpPr>
          <p:nvPr>
            <p:ph type="title"/>
          </p:nvPr>
        </p:nvSpPr>
        <p:spPr>
          <a:xfrm>
            <a:off x="797814" y="1094643"/>
            <a:ext cx="7543800" cy="1207008"/>
          </a:xfrm>
        </p:spPr>
        <p:txBody>
          <a:bodyPr/>
          <a:lstStyle/>
          <a:p>
            <a:r>
              <a:rPr lang="en-US" b="1" dirty="0"/>
              <a:t>RAD model</a:t>
            </a:r>
            <a:endParaRPr lang="en-US" dirty="0"/>
          </a:p>
        </p:txBody>
      </p:sp>
      <p:sp>
        <p:nvSpPr>
          <p:cNvPr id="3" name="Content Placeholder 2">
            <a:extLst>
              <a:ext uri="{FF2B5EF4-FFF2-40B4-BE49-F238E27FC236}">
                <a16:creationId xmlns:a16="http://schemas.microsoft.com/office/drawing/2014/main" id="{A0BB9A1B-01E9-4931-9359-DA52ABA953EA}"/>
              </a:ext>
            </a:extLst>
          </p:cNvPr>
          <p:cNvSpPr>
            <a:spLocks noGrp="1"/>
          </p:cNvSpPr>
          <p:nvPr>
            <p:ph idx="1"/>
          </p:nvPr>
        </p:nvSpPr>
        <p:spPr>
          <a:xfrm>
            <a:off x="802386" y="2102241"/>
            <a:ext cx="7543800" cy="3661117"/>
          </a:xfrm>
        </p:spPr>
        <p:txBody>
          <a:bodyPr>
            <a:normAutofit fontScale="85000" lnSpcReduction="20000"/>
          </a:bodyPr>
          <a:lstStyle/>
          <a:p>
            <a:r>
              <a:rPr lang="en-US" sz="1800" dirty="0"/>
              <a:t>The phases in the rapid application development (RAD) model are:</a:t>
            </a:r>
          </a:p>
          <a:p>
            <a:r>
              <a:rPr lang="en-US" sz="1800" b="1" dirty="0"/>
              <a:t>Business modeling:</a:t>
            </a:r>
            <a:r>
              <a:rPr lang="en-US" sz="1800" dirty="0"/>
              <a:t> The information flow is identified between various business functions.</a:t>
            </a:r>
          </a:p>
          <a:p>
            <a:r>
              <a:rPr lang="en-US" sz="1800" dirty="0"/>
              <a:t/>
            </a:r>
            <a:br>
              <a:rPr lang="en-US" sz="1800" dirty="0"/>
            </a:br>
            <a:r>
              <a:rPr lang="en-US" sz="1800" b="1" dirty="0"/>
              <a:t>Data modeling:</a:t>
            </a:r>
            <a:r>
              <a:rPr lang="en-US" sz="1800" dirty="0"/>
              <a:t> Information gathered from business modeling is used to define data objects that are needed for the business.</a:t>
            </a:r>
          </a:p>
          <a:p>
            <a:r>
              <a:rPr lang="en-US" sz="1800" dirty="0"/>
              <a:t/>
            </a:r>
            <a:br>
              <a:rPr lang="en-US" sz="1800" dirty="0"/>
            </a:br>
            <a:r>
              <a:rPr lang="en-US" sz="1800" b="1" dirty="0"/>
              <a:t>Process modeling:</a:t>
            </a:r>
            <a:r>
              <a:rPr lang="en-US" sz="1800" dirty="0"/>
              <a:t> Data objects defined in data modeling are converted to achieve the business information flow to achieve some specific business objective. Description are identified and created for CRUD of data objects.</a:t>
            </a:r>
          </a:p>
          <a:p>
            <a:r>
              <a:rPr lang="en-US" sz="1800" dirty="0"/>
              <a:t/>
            </a:r>
            <a:br>
              <a:rPr lang="en-US" sz="1800" dirty="0"/>
            </a:br>
            <a:r>
              <a:rPr lang="en-US" sz="1800" b="1" dirty="0"/>
              <a:t>Application generation:</a:t>
            </a:r>
            <a:r>
              <a:rPr lang="en-US" sz="1800" dirty="0"/>
              <a:t> Automated tools are used to convert process models into code and the actual system.</a:t>
            </a:r>
          </a:p>
          <a:p>
            <a:r>
              <a:rPr lang="en-US" sz="1800" dirty="0"/>
              <a:t/>
            </a:r>
            <a:br>
              <a:rPr lang="en-US" sz="1800" dirty="0"/>
            </a:br>
            <a:r>
              <a:rPr lang="en-US" sz="1800" b="1" dirty="0"/>
              <a:t>Testing and turnover:</a:t>
            </a:r>
            <a:r>
              <a:rPr lang="en-US" sz="1800" dirty="0"/>
              <a:t> Test new components and all the interfaces.</a:t>
            </a:r>
          </a:p>
          <a:p>
            <a:endParaRPr lang="en-US" sz="1800" dirty="0"/>
          </a:p>
        </p:txBody>
      </p:sp>
    </p:spTree>
    <p:extLst>
      <p:ext uri="{BB962C8B-B14F-4D97-AF65-F5344CB8AC3E}">
        <p14:creationId xmlns:p14="http://schemas.microsoft.com/office/powerpoint/2010/main" val="7347278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Spiral model</a:t>
            </a:r>
            <a:endParaRPr lang="en-US" dirty="0"/>
          </a:p>
        </p:txBody>
      </p:sp>
      <p:pic>
        <p:nvPicPr>
          <p:cNvPr id="7" name="Content Placeholder 6">
            <a:extLst>
              <a:ext uri="{FF2B5EF4-FFF2-40B4-BE49-F238E27FC236}">
                <a16:creationId xmlns:a16="http://schemas.microsoft.com/office/drawing/2014/main" id="{27C1A51F-BAF1-48C0-88B6-16062A17AFC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47779" y="2427733"/>
            <a:ext cx="4043985" cy="3339836"/>
          </a:xfrm>
        </p:spPr>
      </p:pic>
    </p:spTree>
    <p:extLst>
      <p:ext uri="{BB962C8B-B14F-4D97-AF65-F5344CB8AC3E}">
        <p14:creationId xmlns:p14="http://schemas.microsoft.com/office/powerpoint/2010/main" val="16083641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604" y="960951"/>
            <a:ext cx="7543800" cy="1207008"/>
          </a:xfrm>
        </p:spPr>
        <p:txBody>
          <a:bodyPr/>
          <a:lstStyle/>
          <a:p>
            <a:r>
              <a:rPr lang="en-US" dirty="0"/>
              <a:t>Lean Software Development</a:t>
            </a:r>
          </a:p>
        </p:txBody>
      </p:sp>
      <p:pic>
        <p:nvPicPr>
          <p:cNvPr id="1026" name="Picture 2" descr="C:\Users\hafiza.maria\Desktop\7-Principles-of-Lean-Software-Development.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01586" y="1864845"/>
            <a:ext cx="4353791" cy="40531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26428" y="3745922"/>
            <a:ext cx="748145" cy="2701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Deliver</a:t>
            </a:r>
          </a:p>
        </p:txBody>
      </p:sp>
    </p:spTree>
    <p:extLst>
      <p:ext uri="{BB962C8B-B14F-4D97-AF65-F5344CB8AC3E}">
        <p14:creationId xmlns:p14="http://schemas.microsoft.com/office/powerpoint/2010/main" val="40417827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173163" y="971550"/>
            <a:ext cx="7772400" cy="857250"/>
          </a:xfrm>
        </p:spPr>
        <p:txBody>
          <a:bodyPr/>
          <a:lstStyle/>
          <a:p>
            <a:r>
              <a:rPr lang="en-US" sz="2400" dirty="0"/>
              <a:t>What are the attributes of good software?</a:t>
            </a:r>
          </a:p>
        </p:txBody>
      </p:sp>
      <p:sp>
        <p:nvSpPr>
          <p:cNvPr id="26627" name="Content Placeholder 2"/>
          <p:cNvSpPr>
            <a:spLocks noGrp="1"/>
          </p:cNvSpPr>
          <p:nvPr>
            <p:ph idx="1"/>
          </p:nvPr>
        </p:nvSpPr>
        <p:spPr>
          <a:xfrm>
            <a:off x="685800" y="1828800"/>
            <a:ext cx="7772400" cy="3086100"/>
          </a:xfrm>
        </p:spPr>
        <p:txBody>
          <a:bodyPr>
            <a:normAutofit/>
          </a:bodyPr>
          <a:lstStyle/>
          <a:p>
            <a:pPr algn="just">
              <a:buFont typeface="Wingdings" panose="05000000000000000000" pitchFamily="2" charset="2"/>
              <a:buChar char="q"/>
            </a:pPr>
            <a:r>
              <a:rPr lang="en-US" dirty="0"/>
              <a:t>A software product can be judged by what it offers and how well it can be used. This software must satisfy on the following grounds: </a:t>
            </a:r>
          </a:p>
          <a:p>
            <a:pPr algn="just">
              <a:buFont typeface="Wingdings" panose="05000000000000000000" pitchFamily="2" charset="2"/>
              <a:buChar char="§"/>
            </a:pPr>
            <a:r>
              <a:rPr lang="en-US" dirty="0" smtClean="0"/>
              <a:t>Operational</a:t>
            </a:r>
            <a:endParaRPr lang="en-US" dirty="0"/>
          </a:p>
          <a:p>
            <a:pPr algn="just">
              <a:buFont typeface="Wingdings" panose="05000000000000000000" pitchFamily="2" charset="2"/>
              <a:buChar char="§"/>
            </a:pPr>
            <a:r>
              <a:rPr lang="en-US" dirty="0" smtClean="0"/>
              <a:t> </a:t>
            </a:r>
            <a:r>
              <a:rPr lang="en-US" dirty="0"/>
              <a:t>Transitional </a:t>
            </a:r>
          </a:p>
          <a:p>
            <a:pPr algn="just">
              <a:buFont typeface="Wingdings" panose="05000000000000000000" pitchFamily="2" charset="2"/>
              <a:buChar char="§"/>
            </a:pPr>
            <a:r>
              <a:rPr lang="en-US" dirty="0" smtClean="0"/>
              <a:t> </a:t>
            </a:r>
            <a:r>
              <a:rPr lang="en-US" dirty="0"/>
              <a:t>Maintenance</a:t>
            </a:r>
            <a:endParaRPr lang="en-US" sz="1500" dirty="0"/>
          </a:p>
        </p:txBody>
      </p:sp>
    </p:spTree>
    <p:extLst>
      <p:ext uri="{BB962C8B-B14F-4D97-AF65-F5344CB8AC3E}">
        <p14:creationId xmlns:p14="http://schemas.microsoft.com/office/powerpoint/2010/main" val="274774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DA51A-4422-46A6-8B46-50F8C69E9CF4}"/>
              </a:ext>
            </a:extLst>
          </p:cNvPr>
          <p:cNvSpPr>
            <a:spLocks noGrp="1"/>
          </p:cNvSpPr>
          <p:nvPr>
            <p:ph type="title"/>
          </p:nvPr>
        </p:nvSpPr>
        <p:spPr>
          <a:xfrm>
            <a:off x="412008" y="1157419"/>
            <a:ext cx="7543800" cy="1207008"/>
          </a:xfrm>
        </p:spPr>
        <p:txBody>
          <a:bodyPr/>
          <a:lstStyle/>
          <a:p>
            <a:r>
              <a:rPr lang="en-US" b="1" dirty="0"/>
              <a:t>Operational </a:t>
            </a:r>
          </a:p>
        </p:txBody>
      </p:sp>
      <p:sp>
        <p:nvSpPr>
          <p:cNvPr id="3" name="Content Placeholder 2">
            <a:extLst>
              <a:ext uri="{FF2B5EF4-FFF2-40B4-BE49-F238E27FC236}">
                <a16:creationId xmlns:a16="http://schemas.microsoft.com/office/drawing/2014/main" id="{344F966E-3804-44F2-8964-2D14B33EFCFC}"/>
              </a:ext>
            </a:extLst>
          </p:cNvPr>
          <p:cNvSpPr>
            <a:spLocks noGrp="1"/>
          </p:cNvSpPr>
          <p:nvPr>
            <p:ph idx="1"/>
          </p:nvPr>
        </p:nvSpPr>
        <p:spPr/>
        <p:txBody>
          <a:bodyPr>
            <a:normAutofit fontScale="85000" lnSpcReduction="20000"/>
          </a:bodyPr>
          <a:lstStyle/>
          <a:p>
            <a:pPr marL="0" indent="0">
              <a:buNone/>
            </a:pPr>
            <a:r>
              <a:rPr lang="en-US" dirty="0"/>
              <a:t>This tells us how well software works in operations. It can be measured on: </a:t>
            </a:r>
          </a:p>
          <a:p>
            <a:pPr>
              <a:buFont typeface="Wingdings" panose="05000000000000000000" pitchFamily="2" charset="2"/>
              <a:buChar char="§"/>
            </a:pPr>
            <a:r>
              <a:rPr lang="en-US" dirty="0" smtClean="0"/>
              <a:t> </a:t>
            </a:r>
            <a:r>
              <a:rPr lang="en-US" dirty="0"/>
              <a:t>Budget </a:t>
            </a:r>
          </a:p>
          <a:p>
            <a:pPr>
              <a:buFont typeface="Wingdings" panose="05000000000000000000" pitchFamily="2" charset="2"/>
              <a:buChar char="§"/>
            </a:pPr>
            <a:r>
              <a:rPr lang="en-US" dirty="0" smtClean="0"/>
              <a:t> </a:t>
            </a:r>
            <a:r>
              <a:rPr lang="en-US" dirty="0"/>
              <a:t>Usability</a:t>
            </a:r>
          </a:p>
          <a:p>
            <a:pPr>
              <a:buFont typeface="Wingdings" panose="05000000000000000000" pitchFamily="2" charset="2"/>
              <a:buChar char="§"/>
            </a:pPr>
            <a:r>
              <a:rPr lang="en-US" dirty="0" smtClean="0"/>
              <a:t> </a:t>
            </a:r>
            <a:r>
              <a:rPr lang="en-US" dirty="0"/>
              <a:t>Efficiency </a:t>
            </a:r>
          </a:p>
          <a:p>
            <a:pPr>
              <a:buFont typeface="Wingdings" panose="05000000000000000000" pitchFamily="2" charset="2"/>
              <a:buChar char="§"/>
            </a:pPr>
            <a:r>
              <a:rPr lang="en-US" dirty="0" smtClean="0"/>
              <a:t> </a:t>
            </a:r>
            <a:r>
              <a:rPr lang="en-US" dirty="0"/>
              <a:t>Correctness</a:t>
            </a:r>
          </a:p>
          <a:p>
            <a:pPr>
              <a:buFont typeface="Wingdings" panose="05000000000000000000" pitchFamily="2" charset="2"/>
              <a:buChar char="§"/>
            </a:pPr>
            <a:r>
              <a:rPr lang="en-US" dirty="0" smtClean="0"/>
              <a:t> </a:t>
            </a:r>
            <a:r>
              <a:rPr lang="en-US" dirty="0"/>
              <a:t>Functionality</a:t>
            </a:r>
          </a:p>
          <a:p>
            <a:pPr>
              <a:buFont typeface="Wingdings" panose="05000000000000000000" pitchFamily="2" charset="2"/>
              <a:buChar char="§"/>
            </a:pPr>
            <a:r>
              <a:rPr lang="en-US" dirty="0" smtClean="0"/>
              <a:t> </a:t>
            </a:r>
            <a:r>
              <a:rPr lang="en-US" dirty="0"/>
              <a:t>Security </a:t>
            </a:r>
          </a:p>
          <a:p>
            <a:pPr>
              <a:buFont typeface="Wingdings" panose="05000000000000000000" pitchFamily="2" charset="2"/>
              <a:buChar char="§"/>
            </a:pPr>
            <a:r>
              <a:rPr lang="en-US" dirty="0" smtClean="0"/>
              <a:t> </a:t>
            </a:r>
            <a:r>
              <a:rPr lang="en-US" dirty="0"/>
              <a:t>Safety</a:t>
            </a:r>
          </a:p>
        </p:txBody>
      </p:sp>
    </p:spTree>
    <p:extLst>
      <p:ext uri="{BB962C8B-B14F-4D97-AF65-F5344CB8AC3E}">
        <p14:creationId xmlns:p14="http://schemas.microsoft.com/office/powerpoint/2010/main" val="37632140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7CF93-AFD2-4A12-A2E7-D950077F5AB7}"/>
              </a:ext>
            </a:extLst>
          </p:cNvPr>
          <p:cNvSpPr>
            <a:spLocks noGrp="1"/>
          </p:cNvSpPr>
          <p:nvPr>
            <p:ph type="title"/>
          </p:nvPr>
        </p:nvSpPr>
        <p:spPr/>
        <p:txBody>
          <a:bodyPr/>
          <a:lstStyle/>
          <a:p>
            <a:r>
              <a:rPr lang="en-US" dirty="0"/>
              <a:t>Transitional</a:t>
            </a:r>
          </a:p>
        </p:txBody>
      </p:sp>
      <p:sp>
        <p:nvSpPr>
          <p:cNvPr id="3" name="Content Placeholder 2">
            <a:extLst>
              <a:ext uri="{FF2B5EF4-FFF2-40B4-BE49-F238E27FC236}">
                <a16:creationId xmlns:a16="http://schemas.microsoft.com/office/drawing/2014/main" id="{421C403B-99A8-474D-A9FB-A54838F0E7AF}"/>
              </a:ext>
            </a:extLst>
          </p:cNvPr>
          <p:cNvSpPr>
            <a:spLocks noGrp="1"/>
          </p:cNvSpPr>
          <p:nvPr>
            <p:ph idx="1"/>
          </p:nvPr>
        </p:nvSpPr>
        <p:spPr/>
        <p:txBody>
          <a:bodyPr/>
          <a:lstStyle/>
          <a:p>
            <a:r>
              <a:rPr lang="en-US" dirty="0"/>
              <a:t>This aspect is important when the software is moved from one platform to another: </a:t>
            </a:r>
          </a:p>
          <a:p>
            <a:r>
              <a:rPr lang="en-US" dirty="0" smtClean="0"/>
              <a:t>Portability </a:t>
            </a:r>
            <a:endParaRPr lang="en-US" dirty="0"/>
          </a:p>
          <a:p>
            <a:r>
              <a:rPr lang="en-US" dirty="0" smtClean="0"/>
              <a:t> </a:t>
            </a:r>
            <a:r>
              <a:rPr lang="en-US" dirty="0"/>
              <a:t>Reusability </a:t>
            </a:r>
          </a:p>
          <a:p>
            <a:r>
              <a:rPr lang="en-US" dirty="0" smtClean="0"/>
              <a:t> </a:t>
            </a:r>
            <a:r>
              <a:rPr lang="en-US" dirty="0"/>
              <a:t>Adaptability</a:t>
            </a:r>
          </a:p>
        </p:txBody>
      </p:sp>
    </p:spTree>
    <p:extLst>
      <p:ext uri="{BB962C8B-B14F-4D97-AF65-F5344CB8AC3E}">
        <p14:creationId xmlns:p14="http://schemas.microsoft.com/office/powerpoint/2010/main" val="26701083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35BD-9385-4A3D-8EDD-CE763EC61D42}"/>
              </a:ext>
            </a:extLst>
          </p:cNvPr>
          <p:cNvSpPr>
            <a:spLocks noGrp="1"/>
          </p:cNvSpPr>
          <p:nvPr>
            <p:ph type="title"/>
          </p:nvPr>
        </p:nvSpPr>
        <p:spPr/>
        <p:txBody>
          <a:bodyPr/>
          <a:lstStyle/>
          <a:p>
            <a:r>
              <a:rPr lang="en-US" dirty="0"/>
              <a:t>Maintenance</a:t>
            </a:r>
          </a:p>
        </p:txBody>
      </p:sp>
      <p:sp>
        <p:nvSpPr>
          <p:cNvPr id="3" name="Content Placeholder 2">
            <a:extLst>
              <a:ext uri="{FF2B5EF4-FFF2-40B4-BE49-F238E27FC236}">
                <a16:creationId xmlns:a16="http://schemas.microsoft.com/office/drawing/2014/main" id="{11363CD9-F18A-483E-9A20-BB4D898B39B6}"/>
              </a:ext>
            </a:extLst>
          </p:cNvPr>
          <p:cNvSpPr>
            <a:spLocks noGrp="1"/>
          </p:cNvSpPr>
          <p:nvPr>
            <p:ph idx="1"/>
          </p:nvPr>
        </p:nvSpPr>
        <p:spPr/>
        <p:txBody>
          <a:bodyPr>
            <a:normAutofit fontScale="92500" lnSpcReduction="10000"/>
          </a:bodyPr>
          <a:lstStyle/>
          <a:p>
            <a:r>
              <a:rPr lang="en-US" dirty="0"/>
              <a:t>This aspect briefs about how well a software has the capabilities to maintain itself in the everchanging environment: </a:t>
            </a:r>
          </a:p>
          <a:p>
            <a:pPr marL="0" indent="0">
              <a:buNone/>
            </a:pPr>
            <a:endParaRPr lang="en-US" dirty="0"/>
          </a:p>
          <a:p>
            <a:r>
              <a:rPr lang="en-US" dirty="0" smtClean="0"/>
              <a:t> </a:t>
            </a:r>
            <a:r>
              <a:rPr lang="en-US" dirty="0"/>
              <a:t>Modularity </a:t>
            </a:r>
          </a:p>
          <a:p>
            <a:r>
              <a:rPr lang="en-US" dirty="0" smtClean="0"/>
              <a:t> </a:t>
            </a:r>
            <a:r>
              <a:rPr lang="en-US" dirty="0"/>
              <a:t>Maintainability </a:t>
            </a:r>
          </a:p>
          <a:p>
            <a:r>
              <a:rPr lang="en-US" dirty="0" smtClean="0"/>
              <a:t> </a:t>
            </a:r>
            <a:r>
              <a:rPr lang="en-US" dirty="0"/>
              <a:t>Flexibility </a:t>
            </a:r>
          </a:p>
          <a:p>
            <a:r>
              <a:rPr lang="en-US" dirty="0" smtClean="0"/>
              <a:t> </a:t>
            </a:r>
            <a:r>
              <a:rPr lang="en-US" dirty="0"/>
              <a:t>Scalability</a:t>
            </a:r>
          </a:p>
        </p:txBody>
      </p:sp>
    </p:spTree>
    <p:extLst>
      <p:ext uri="{BB962C8B-B14F-4D97-AF65-F5344CB8AC3E}">
        <p14:creationId xmlns:p14="http://schemas.microsoft.com/office/powerpoint/2010/main" val="33991848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Reasons for Software Failure</a:t>
            </a:r>
          </a:p>
        </p:txBody>
      </p:sp>
      <p:sp>
        <p:nvSpPr>
          <p:cNvPr id="3" name="Content Placeholder 2"/>
          <p:cNvSpPr>
            <a:spLocks noGrp="1"/>
          </p:cNvSpPr>
          <p:nvPr>
            <p:ph idx="1"/>
          </p:nvPr>
        </p:nvSpPr>
        <p:spPr/>
        <p:txBody>
          <a:bodyPr/>
          <a:lstStyle/>
          <a:p>
            <a:r>
              <a:t>- Poor requirements</a:t>
            </a:r>
          </a:p>
          <a:p>
            <a:r>
              <a:t>- Unrealistic deadlines</a:t>
            </a:r>
          </a:p>
          <a:p>
            <a:r>
              <a:t>- Lack of testing</a:t>
            </a:r>
          </a:p>
          <a:p>
            <a:r>
              <a:t>- Scope creep</a:t>
            </a:r>
          </a:p>
          <a:p>
            <a:r>
              <a:t>- Weak management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Challenges</a:t>
            </a:r>
          </a:p>
        </p:txBody>
      </p:sp>
      <p:sp>
        <p:nvSpPr>
          <p:cNvPr id="3" name="Content Placeholder 2"/>
          <p:cNvSpPr>
            <a:spLocks noGrp="1"/>
          </p:cNvSpPr>
          <p:nvPr>
            <p:ph idx="1"/>
          </p:nvPr>
        </p:nvSpPr>
        <p:spPr/>
        <p:txBody>
          <a:bodyPr/>
          <a:lstStyle/>
          <a:p>
            <a:r>
              <a:t>- Managing complexity</a:t>
            </a:r>
          </a:p>
          <a:p>
            <a:r>
              <a:t>- Rapidly changing requirements</a:t>
            </a:r>
          </a:p>
          <a:p>
            <a:r>
              <a:t>- Security threats</a:t>
            </a:r>
          </a:p>
          <a:p>
            <a:r>
              <a:t>- Balancing cost, time, quality</a:t>
            </a:r>
          </a:p>
          <a:p>
            <a:r>
              <a:t>- Scaling to millions of users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Closing Thought</a:t>
            </a:r>
          </a:p>
        </p:txBody>
      </p:sp>
      <p:sp>
        <p:nvSpPr>
          <p:cNvPr id="3" name="Content Placeholder 2"/>
          <p:cNvSpPr>
            <a:spLocks noGrp="1"/>
          </p:cNvSpPr>
          <p:nvPr>
            <p:ph idx="1"/>
          </p:nvPr>
        </p:nvSpPr>
        <p:spPr/>
        <p:txBody>
          <a:bodyPr/>
          <a:lstStyle/>
          <a:p>
            <a:r>
              <a:t>- SE ≠ just coding</a:t>
            </a:r>
          </a:p>
          <a:p>
            <a:r>
              <a:t>- Builds scalable, reliable, human-centered systems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539</TotalTime>
  <Words>1392</Words>
  <Application>Microsoft Office PowerPoint</Application>
  <PresentationFormat>On-screen Show (4:3)</PresentationFormat>
  <Paragraphs>251</Paragraphs>
  <Slides>22</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Corbel</vt:lpstr>
      <vt:lpstr>Wingdings</vt:lpstr>
      <vt:lpstr>Parallax</vt:lpstr>
      <vt:lpstr>Advanced Software Engineering</vt:lpstr>
      <vt:lpstr>What is Engineering?</vt:lpstr>
      <vt:lpstr>What is Software?</vt:lpstr>
      <vt:lpstr>What is Software Engineering?</vt:lpstr>
      <vt:lpstr>Software Process</vt:lpstr>
      <vt:lpstr>Plan-driven and agile processes</vt:lpstr>
      <vt:lpstr>Plan-driven process</vt:lpstr>
      <vt:lpstr>Agile process</vt:lpstr>
      <vt:lpstr>Types of SDLC Models</vt:lpstr>
      <vt:lpstr>WATERFALL MODEL</vt:lpstr>
      <vt:lpstr>Incremental model</vt:lpstr>
      <vt:lpstr>RAD model</vt:lpstr>
      <vt:lpstr>RAD model</vt:lpstr>
      <vt:lpstr>Spiral model</vt:lpstr>
      <vt:lpstr>Lean Software Development</vt:lpstr>
      <vt:lpstr>What are the attributes of good software?</vt:lpstr>
      <vt:lpstr>Operational </vt:lpstr>
      <vt:lpstr>Transitional</vt:lpstr>
      <vt:lpstr>Maintenance</vt:lpstr>
      <vt:lpstr>Reasons for Software Failure</vt:lpstr>
      <vt:lpstr>Key Challenges</vt:lpstr>
      <vt:lpstr>Closing Thought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Software Engineering</dc:title>
  <dc:subject/>
  <dc:creator>shehla saeed</dc:creator>
  <cp:keywords/>
  <dc:description>generated using python-pptx</dc:description>
  <cp:lastModifiedBy>shehla saeed</cp:lastModifiedBy>
  <cp:revision>10</cp:revision>
  <dcterms:created xsi:type="dcterms:W3CDTF">2013-01-27T09:14:16Z</dcterms:created>
  <dcterms:modified xsi:type="dcterms:W3CDTF">2026-02-26T08:59:30Z</dcterms:modified>
  <cp:category/>
</cp:coreProperties>
</file>

<file path=[Content_Types].xml><?xml version="1.0" encoding="utf-8"?>
<Types xmlns="http://schemas.openxmlformats.org/package/2006/content-types">
  <Default Extension="xml" ContentType="application/vnd.openxmlformats-officedocument.presentationml.presentation.main+xml"/>
  <Default Extension="jpg" ContentType="image/jpeg"/>
  <Default Extension="png" ContentType="image/png"/>
  <Default Extension="rels" ContentType="application/vnd.openxmlformats-package.relationship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24.xml" ContentType="application/vnd.openxmlformats-officedocument.presentationml.slideLayout+xml"/>
  <Override PartName="/ppt/slideLayouts/slideLayout26.xml" ContentType="application/vnd.openxmlformats-officedocument.presentationml.slideLayout+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41.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notesSlides/notesSlide12.xml" ContentType="application/vnd.openxmlformats-officedocument.presentationml.notesSlide+xml"/>
  <Override PartName="/ppt/slides/slide15.xml" ContentType="application/vnd.openxmlformats-officedocument.presentationml.slide+xml"/>
  <Override PartName="/ppt/notesSlides/notesSlide13.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4.xml" ContentType="application/vnd.openxmlformats-officedocument.presentationml.notesSlide+xml"/>
  <Override PartName="/ppt/slides/slide21.xml" ContentType="application/vnd.openxmlformats-officedocument.presentationml.slide+xml"/>
  <Override PartName="/ppt/notesSlides/notesSlide15.xml" ContentType="application/vnd.openxmlformats-officedocument.presentationml.notesSlide+xml"/>
  <Override PartName="/ppt/slides/slide22.xml" ContentType="application/vnd.openxmlformats-officedocument.presentationml.slide+xml"/>
  <Override PartName="/ppt/notesSlides/notesSlide16.xml" ContentType="application/vnd.openxmlformats-officedocument.presentationml.notesSlide+xml"/>
  <Override PartName="/ppt/slides/slide23.xml" ContentType="application/vnd.openxmlformats-officedocument.presentationml.slide+xml"/>
  <Override PartName="/ppt/notesSlides/notesSlide17.xml" ContentType="application/vnd.openxmlformats-officedocument.presentationml.notesSlide+xml"/>
  <Override PartName="/ppt/slides/slide24.xml" ContentType="application/vnd.openxmlformats-officedocument.presentationml.slide+xml"/>
  <Override PartName="/ppt/notesSlides/notesSlide18.xml" ContentType="application/vnd.openxmlformats-officedocument.presentationml.notesSlide+xml"/>
  <Override PartName="/ppt/slides/slide25.xml" ContentType="application/vnd.openxmlformats-officedocument.presentationml.slide+xml"/>
  <Override PartName="/ppt/notesSlides/notesSlide19.xml" ContentType="application/vnd.openxmlformats-officedocument.presentationml.notesSlide+xml"/>
  <Override PartName="/ppt/slides/slide26.xml" ContentType="application/vnd.openxmlformats-officedocument.presentationml.slide+xml"/>
  <Override PartName="/ppt/notesSlides/notesSlide20.xml" ContentType="application/vnd.openxmlformats-officedocument.presentationml.notesSlide+xml"/>
  <Override PartName="/ppt/slides/slide27.xml" ContentType="application/vnd.openxmlformats-officedocument.presentationml.slide+xml"/>
  <Override PartName="/ppt/notesSlides/notesSlide21.xml" ContentType="application/vnd.openxmlformats-officedocument.presentationml.notesSlide+xml"/>
  <Override PartName="/ppt/slides/slide28.xml" ContentType="application/vnd.openxmlformats-officedocument.presentationml.slide+xml"/>
  <Override PartName="/ppt/notesSlides/notesSlide22.xml" ContentType="application/vnd.openxmlformats-officedocument.presentationml.notesSlide+xml"/>
  <Override PartName="/ppt/slides/slide29.xml" ContentType="application/vnd.openxmlformats-officedocument.presentationml.slide+xml"/>
  <Override PartName="/ppt/notesSlides/notesSlide23.xml" ContentType="application/vnd.openxmlformats-officedocument.presentationml.notesSlide+xml"/>
  <Override PartName="/ppt/slides/slide30.xml" ContentType="application/vnd.openxmlformats-officedocument.presentationml.slide+xml"/>
  <Override PartName="/ppt/notesSlides/notesSlide24.xml" ContentType="application/vnd.openxmlformats-officedocument.presentationml.notesSlide+xml"/>
  <Override PartName="/ppt/slides/slide31.xml" ContentType="application/vnd.openxmlformats-officedocument.presentationml.slide+xml"/>
  <Override PartName="/ppt/notesSlides/notesSlide25.xml" ContentType="application/vnd.openxmlformats-officedocument.presentationml.notesSlide+xml"/>
  <Override PartName="/ppt/slides/slide32.xml" ContentType="application/vnd.openxmlformats-officedocument.presentationml.slide+xml"/>
  <Override PartName="/ppt/notesSlides/notesSlide26.xml" ContentType="application/vnd.openxmlformats-officedocument.presentationml.notesSlide+xml"/>
  <Override PartName="/ppt/slides/slide33.xml" ContentType="application/vnd.openxmlformats-officedocument.presentationml.slide+xml"/>
  <Override PartName="/ppt/notesSlides/notesSlide27.xml" ContentType="application/vnd.openxmlformats-officedocument.presentationml.notesSlide+xml"/>
  <Override PartName="/ppt/slides/slide34.xml" ContentType="application/vnd.openxmlformats-officedocument.presentationml.slide+xml"/>
  <Override PartName="/ppt/notesSlides/notesSlide28.xml" ContentType="application/vnd.openxmlformats-officedocument.presentationml.notes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29.xml" ContentType="application/vnd.openxmlformats-officedocument.presentationml.notesSlide+xml"/>
  <Override PartName="/ppt/slides/slide41.xml" ContentType="application/vnd.openxmlformats-officedocument.presentationml.slide+xml"/>
  <Override PartName="/ppt/notesSlides/notesSlide30.xml" ContentType="application/vnd.openxmlformats-officedocument.presentationml.notes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Slides/notesSlide31.xml" ContentType="application/vnd.openxmlformats-officedocument.presentationml.notes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32.xml" ContentType="application/vnd.openxmlformats-officedocument.presentationml.notesSlide+xml"/>
  <Override PartName="/ppt/slides/slide48.xml" ContentType="application/vnd.openxmlformats-officedocument.presentationml.slide+xml"/>
  <Override PartName="/ppt/notesSlides/notesSlide33.xml" ContentType="application/vnd.openxmlformats-officedocument.presentationml.notesSlide+xml"/>
  <Override PartName="/ppt/slides/slide49.xml" ContentType="application/vnd.openxmlformats-officedocument.presentationml.slide+xml"/>
  <Override PartName="/ppt/slides/slide50.xml" ContentType="application/vnd.openxmlformats-officedocument.presentationml.slide+xml"/>
  <Override PartName="/ppt/notesSlides/notesSlide34.xml" ContentType="application/vnd.openxmlformats-officedocument.presentationml.notesSlide+xml"/>
  <Override PartName="/ppt/slides/slide51.xml" ContentType="application/vnd.openxmlformats-officedocument.presentationml.slide+xml"/>
  <Override PartName="/ppt/notesSlides/notesSlide35.xml" ContentType="application/vnd.openxmlformats-officedocument.presentationml.notesSlide+xml"/>
  <Override PartName="/ppt/slides/slide52.xml" ContentType="application/vnd.openxmlformats-officedocument.presentationml.slide+xml"/>
  <Override PartName="/ppt/notesSlides/notesSlide36.xml" ContentType="application/vnd.openxmlformats-officedocument.presentationml.notes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Slides/notesSlide37.xml" ContentType="application/vnd.openxmlformats-officedocument.presentationml.notesSlide+xml"/>
  <Override PartName="/ppt/slides/slide58.xml" ContentType="application/vnd.openxmlformats-officedocument.presentationml.slide+xml"/>
  <Override PartName="/ppt/slides/slide59.xml" ContentType="application/vnd.openxmlformats-officedocument.presentationml.slide+xml"/>
  <Override PartName="/ppt/notesSlides/notesSlide38.xml" ContentType="application/vnd.openxmlformats-officedocument.presentationml.notes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Slides/notesSlide39.xml" ContentType="application/vnd.openxmlformats-officedocument.presentationml.notesSlide+xml"/>
  <Override PartName="/ppt/slides/slide65.xml" ContentType="application/vnd.openxmlformats-officedocument.presentationml.slide+xml"/>
  <Override PartName="/ppt/notesSlides/notesSlide40.xml" ContentType="application/vnd.openxmlformats-officedocument.presentationml.notesSlide+xml"/>
  <Override PartName="/ppt/slides/slide66.xml" ContentType="application/vnd.openxmlformats-officedocument.presentationml.slide+xml"/>
  <Override PartName="/ppt/notesSlides/notesSlide41.xml" ContentType="application/vnd.openxmlformats-officedocument.presentationml.notesSlide+xml"/>
  <Override PartName="/ppt/slides/slide67.xml" ContentType="application/vnd.openxmlformats-officedocument.presentationml.slide+xml"/>
  <Override PartName="/ppt/tableStyles.xml" ContentType="application/vnd.openxmlformats-officedocument.presentationml.tableStyles+xml"/>
  <Override PartName="/ppt/slides/slide68.xml" ContentType="application/vnd.openxmlformats-officedocument.presentationml.slide+xml"/>
  <Override PartName="/ppt/notesSlides/notesSlide42.xml" ContentType="application/vnd.openxmlformats-officedocument.presentationml.notes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Slides/notesSlide43.xml" ContentType="application/vnd.openxmlformats-officedocument.presentationml.notesSlide+xml"/>
  <Override PartName="/ppt/slides/slide72.xml" ContentType="application/vnd.openxmlformats-officedocument.presentationml.slide+xml"/>
  <Override PartName="/ppt/notesSlides/notesSlide44.xml" ContentType="application/vnd.openxmlformats-officedocument.presentationml.notesSlide+xml"/>
  <Override PartName="/ppt/slides/slide73.xml" ContentType="application/vnd.openxmlformats-officedocument.presentationml.slide+xml"/>
  <Override PartName="/ppt/notesSlides/notesSlide45.xml" ContentType="application/vnd.openxmlformats-officedocument.presentationml.notesSlide+xml"/>
  <Override PartName="/ppt/slides/slide74.xml" ContentType="application/vnd.openxmlformats-officedocument.presentationml.slide+xml"/>
  <Override PartName="/ppt/notesSlides/notesSlide46.xml" ContentType="application/vnd.openxmlformats-officedocument.presentationml.notesSlide+xml"/>
  <Override PartName="/ppt/slides/slide75.xml" ContentType="application/vnd.openxmlformats-officedocument.presentationml.slide+xml"/>
  <Override PartName="/ppt/slides/slide76.xml" ContentType="application/vnd.openxmlformats-officedocument.presentationml.slide+xml"/>
  <Override PartName="/ppt/notesSlides/notesSlide47.xml" ContentType="application/vnd.openxmlformats-officedocument.presentationml.notesSlide+xml"/>
  <Override PartName="/ppt/slides/slide77.xml" ContentType="application/vnd.openxmlformats-officedocument.presentationml.slide+xml"/>
  <Override PartName="/ppt/notesSlides/notesSlide48.xml" ContentType="application/vnd.openxmlformats-officedocument.presentationml.notesSlide+xml"/>
  <Override PartName="/ppt/slides/slide78.xml" ContentType="application/vnd.openxmlformats-officedocument.presentationml.slide+xml"/>
  <Override PartName="/ppt/slides/slide79.xml" ContentType="application/vnd.openxmlformats-officedocument.presentationml.slide+xml"/>
  <Override PartName="/ppt/notesSlides/notesSlide49.xml" ContentType="application/vnd.openxmlformats-officedocument.presentationml.notesSlide+xml"/>
  <Override PartName="/ppt/slides/slide80.xml" ContentType="application/vnd.openxmlformats-officedocument.presentationml.slide+xml"/>
  <Override PartName="/ppt/slides/slide81.xml" ContentType="application/vnd.openxmlformats-officedocument.presentationml.slide+xml"/>
  <Override PartName="/ppt/notesSlides/notesSlide50.xml" ContentType="application/vnd.openxmlformats-officedocument.presentationml.notesSlide+xml"/>
  <Override PartName="/ppt/slides/slide82.xml" ContentType="application/vnd.openxmlformats-officedocument.presentationml.slide+xml"/>
  <Override PartName="/ppt/slides/slide83.xml" ContentType="application/vnd.openxmlformats-officedocument.presentationml.slide+xml"/>
  <Override PartName="/ppt/notesSlides/notesSlide51.xml" ContentType="application/vnd.openxmlformats-officedocument.presentationml.notesSlide+xml"/>
  <Override PartName="/ppt/slides/slide84.xml" ContentType="application/vnd.openxmlformats-officedocument.presentationml.slide+xml"/>
  <Override PartName="/ppt/slides/slide85.xml" ContentType="application/vnd.openxmlformats-officedocument.presentationml.slide+xml"/>
  <Override PartName="/ppt/notesSlides/notesSlide52.xml" ContentType="application/vnd.openxmlformats-officedocument.presentationml.notesSlide+xml"/>
  <Override PartName="/ppt/slides/slide86.xml" ContentType="application/vnd.openxmlformats-officedocument.presentationml.slide+xml"/>
  <Override PartName="/ppt/notesSlides/notesSlide53.xml" ContentType="application/vnd.openxmlformats-officedocument.presentationml.notesSlide+xml"/>
  <Override PartName="/ppt/slides/slide87.xml" ContentType="application/vnd.openxmlformats-officedocument.presentationml.slide+xml"/>
  <Override PartName="/ppt/notesSlides/notesSlide54.xml" ContentType="application/vnd.openxmlformats-officedocument.presentationml.notesSlid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58.xml" ContentType="application/vnd.openxmlformats-officedocument.presentationml.slideLayout+xml"/>
  <Override PartName="/ppt/slideLayouts/slideLayout60.xml" ContentType="application/vnd.openxmlformats-officedocument.presentationml.slideLayout+xml"/>
  <Override PartName="/ppt/slides/slide88.xml" ContentType="application/vnd.openxmlformats-officedocument.presentationml.slide+xml"/>
  <Override PartName="/ppt/notesSlides/notesSlide55.xml" ContentType="application/vnd.openxmlformats-officedocument.presentationml.notes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Slides/notesSlide56.xml" ContentType="application/vnd.openxmlformats-officedocument.presentationml.notes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0423403eb4614bf2" /><Relationship Type="http://schemas.openxmlformats.org/package/2006/relationships/metadata/core-properties" Target="/docProps/core.xml" Id="R464b4211864f4b60" /><Relationship Type="http://schemas.openxmlformats.org/officeDocument/2006/relationships/extended-properties" Target="/docProps/app.xml" Id="R2a88752d857c491a"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06bfcbf96011497c"/>
    <p:sldMasterId id="2147483666" r:id="R562cf63ef97f4d90"/>
    <p:sldMasterId id="2147483684" r:id="R774acd4ebe574877"/>
    <p:sldMasterId id="2147483702" r:id="R0b20ee9db4ac42cd"/>
  </p:sldMasterIdLst>
  <p:notesMasterIdLst>
    <p:notesMasterId r:id="Ra9a29fb0889247c8"/>
  </p:notesMasterIdLst>
  <p:sldIdLst>
    <p:sldId id="256" r:id="R18fa6cdbc2eb4d83"/>
    <p:sldId id="257" r:id="R6a8f7505e17a4c99"/>
    <p:sldId id="258" r:id="R8ee6a02b31f24e72"/>
    <p:sldId id="259" r:id="Rfcbe4bf42ba340d2"/>
    <p:sldId id="260" r:id="R25a01345a7cc4ce4"/>
    <p:sldId id="261" r:id="Rbbafc1b9e3304047"/>
    <p:sldId id="262" r:id="R101bf78f542242e8"/>
    <p:sldId id="263" r:id="R528e5e4cd9a84dea"/>
    <p:sldId id="264" r:id="Rb65c91d9c57342e3"/>
    <p:sldId id="265" r:id="Rae016c473f584d29"/>
    <p:sldId id="266" r:id="R5e1990e803894fc0"/>
    <p:sldId id="267" r:id="Rcc29bee62f7e4ee9"/>
    <p:sldId id="268" r:id="Rc43647754399425f"/>
    <p:sldId id="269" r:id="R1b011ff86d274994"/>
    <p:sldId id="270" r:id="Rb9b05082d0d64993"/>
    <p:sldId id="271" r:id="R7b576947c1d143fc"/>
    <p:sldId id="272" r:id="R682465a08761465c"/>
    <p:sldId id="273" r:id="Rdb031c10f3114bba"/>
    <p:sldId id="274" r:id="R8b252264bc53409d"/>
    <p:sldId id="275" r:id="Rcadd28e2ff244d7c"/>
    <p:sldId id="276" r:id="Refb6d385835f43ad"/>
    <p:sldId id="277" r:id="Rb158b219ed064074"/>
    <p:sldId id="278" r:id="R6e46cf794e0b4ab1"/>
    <p:sldId id="279" r:id="Rc008b9ee02784465"/>
    <p:sldId id="280" r:id="R8b1de6c78b0c4416"/>
    <p:sldId id="281" r:id="R10abcd4fe6ce4430"/>
    <p:sldId id="282" r:id="Rc83b0d5bf2f7426f"/>
    <p:sldId id="283" r:id="R3789e2ba6da942ba"/>
    <p:sldId id="284" r:id="Rec79db89c3474963"/>
    <p:sldId id="285" r:id="Rbae92e4e673347e6"/>
    <p:sldId id="286" r:id="Rcc5c16e560ed4cae"/>
    <p:sldId id="287" r:id="Raeaaedfe94ff422e"/>
    <p:sldId id="288" r:id="R7c211bb82f0f42f9"/>
    <p:sldId id="289" r:id="R26ced8aea59a40e4"/>
    <p:sldId id="290" r:id="R5aa5740791164554"/>
    <p:sldId id="291" r:id="R53cfd979fa214115"/>
    <p:sldId id="292" r:id="R8bd15caa0ad14182"/>
    <p:sldId id="293" r:id="R8cbfc90686e14058"/>
    <p:sldId id="294" r:id="R85104c85f0994596"/>
    <p:sldId id="295" r:id="R6f972b6247004d81"/>
    <p:sldId id="296" r:id="R661a75cf27004334"/>
    <p:sldId id="297" r:id="R59f41ba242a44071"/>
    <p:sldId id="298" r:id="R61ef5523ba7448ec"/>
    <p:sldId id="299" r:id="Ra7349cb1806547f8"/>
    <p:sldId id="300" r:id="R9e7dbf0c1a95486b"/>
    <p:sldId id="301" r:id="Rccc40b5c074f4801"/>
    <p:sldId id="302" r:id="Rc83f22bb5f364268"/>
    <p:sldId id="303" r:id="Rb676fd1d1bc84d69"/>
    <p:sldId id="304" r:id="R93bfa014f3bd4555"/>
    <p:sldId id="305" r:id="R3c9ec48aab484483"/>
    <p:sldId id="306" r:id="R754c0146004349cb"/>
    <p:sldId id="307" r:id="R11f837cb38674faa"/>
    <p:sldId id="308" r:id="R74e5c0bc08dc4ba7"/>
    <p:sldId id="309" r:id="R1e6254674a694508"/>
    <p:sldId id="310" r:id="Rd927cc7191c94d10"/>
    <p:sldId id="311" r:id="R61f087c37fd24f09"/>
    <p:sldId id="312" r:id="Rd5ed7430e68f4184"/>
    <p:sldId id="313" r:id="R7479b78bd1fc48ac"/>
    <p:sldId id="314" r:id="R5778aeb4a0ce4c54"/>
    <p:sldId id="315" r:id="R2a7f688a7b164829"/>
    <p:sldId id="316" r:id="R2c57be77dd5d447d"/>
    <p:sldId id="317" r:id="Rcc53af4e05b14ee1"/>
    <p:sldId id="318" r:id="R665ccde8e36e41b8"/>
    <p:sldId id="319" r:id="Rb2419feeed924b14"/>
    <p:sldId id="320" r:id="Rf50eedbd8fa64f2d"/>
    <p:sldId id="321" r:id="R921c9ee1640c469c"/>
    <p:sldId id="322" r:id="R6b125dfa464b406f"/>
    <p:sldId id="323" r:id="R8095feac3d2d4f61"/>
    <p:sldId id="324" r:id="Ra6d8d2e98eb4442c"/>
    <p:sldId id="325" r:id="R7db10d4c0ac14b43"/>
    <p:sldId id="326" r:id="R61908e83d0144cd4"/>
    <p:sldId id="327" r:id="Rea8d5b5d291c4016"/>
    <p:sldId id="328" r:id="R293165e0d0b946e7"/>
    <p:sldId id="329" r:id="R8c6f7cf8371f43a9"/>
    <p:sldId id="330" r:id="R8784b7e6fe7743b4"/>
    <p:sldId id="331" r:id="R5e4d18d6dcf841a5"/>
    <p:sldId id="332" r:id="Rb30612424eda43ad"/>
    <p:sldId id="333" r:id="R02afcbbaf9114375"/>
    <p:sldId id="334" r:id="Rde9da83fb24d4305"/>
    <p:sldId id="335" r:id="Rfc8a1a0df28e4916"/>
    <p:sldId id="336" r:id="R77abc657bfae4819"/>
    <p:sldId id="337" r:id="Rcfad5176730b42cd"/>
    <p:sldId id="338" r:id="R5dbf2adbe2974176"/>
    <p:sldId id="339" r:id="R30552c3f7dc04769"/>
    <p:sldId id="340" r:id="R42a28902b8324c27"/>
    <p:sldId id="341" r:id="Ra399fff4cd784759"/>
    <p:sldId id="342" r:id="Rf1d889f944374dcd"/>
    <p:sldId id="343" r:id="Ra5608ca27e5441ad"/>
    <p:sldId id="344" r:id="R277e8a1f10d041a7"/>
    <p:sldId id="345" r:id="Reaf8ec1668b648ef"/>
    <p:sldId id="346" r:id="R9b9febc371ef4282"/>
    <p:sldId id="347" r:id="R3e8b5fe4244e4ee4"/>
    <p:sldId id="348" r:id="R8df3e7d35dc74da1"/>
    <p:sldId id="349" r:id="Rf627e5ac1eb44030"/>
    <p:sldId id="350" r:id="R2e57b2bc7a2f432c"/>
    <p:sldId id="351" r:id="R11e8883a22584eca"/>
    <p:sldId id="352" r:id="R7fa4803578d641b3"/>
    <p:sldId id="353" r:id="R4090f909ddf44d71"/>
    <p:sldId id="354" r:id="Rbadd355e28b04dea"/>
    <p:sldId id="355" r:id="Rc02395ff10134354"/>
    <p:sldId id="356" r:id="R7b68b7920b7443bb"/>
    <p:sldId id="357" r:id="R5011284b1328400a"/>
    <p:sldId id="358" r:id="R03646bfe416f4eb2"/>
    <p:sldId id="359" r:id="R0dafe4ec8b624b28"/>
    <p:sldId id="360" r:id="R22c68147da084cba"/>
    <p:sldId id="361" r:id="R9e07298e9b9e4d57"/>
    <p:sldId id="362" r:id="R23ba684deb8948f9"/>
    <p:sldId id="363" r:id="R47ae312baf6b44c7"/>
    <p:sldId id="364" r:id="R3a39e2d0c5074f94"/>
    <p:sldId id="365" r:id="R20bcb0b9da9341c0"/>
    <p:sldId id="366" r:id="R1570134259214b5f"/>
    <p:sldId id="367" r:id="Rbe5a17aba10141b5"/>
    <p:sldId id="368" r:id="R6536dd36007e441f"/>
    <p:sldId id="369" r:id="Rde696f58f14c4e31"/>
    <p:sldId id="370" r:id="R860d85f2e1004929"/>
    <p:sldId id="371" r:id="R2591fbbd0f524e7d"/>
    <p:sldId id="372" r:id="R19bac90385424b2c"/>
    <p:sldId id="373" r:id="R9c7bddb2e70f4626"/>
    <p:sldId id="374" r:id="Red111f79cfc54c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CF1AB2-1976-4502-BF36-3FF5EA218861}">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97" autoAdjust="0"/>
  </p:normalViewPr>
  <p:slideViewPr>
    <p:cSldViewPr snapToGrid="0" snapToObjects="1">
      <p:cViewPr>
        <p:scale>
          <a:sx n="87" d="100"/>
          <a:sy n="87" d="100"/>
        </p:scale>
        <p:origin x="1330" y="1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a9a29fb0889247c8" /><Relationship Type="http://schemas.openxmlformats.org/officeDocument/2006/relationships/presProps" Target="/ppt/presProps.xml" Id="R49df7f9cafa74f64" /><Relationship Type="http://schemas.openxmlformats.org/officeDocument/2006/relationships/viewProps" Target="/ppt/viewProps.xml" Id="R5ec675e604e04b92" /><Relationship Type="http://schemas.openxmlformats.org/officeDocument/2006/relationships/slideMaster" Target="/ppt/slideMasters/slideMaster1.xml" Id="R06bfcbf96011497c" /><Relationship Type="http://schemas.openxmlformats.org/officeDocument/2006/relationships/theme" Target="/ppt/slideMasters/theme/theme2.xml" Id="R399cbaecf5254320" /><Relationship Type="http://schemas.openxmlformats.org/officeDocument/2006/relationships/slideMaster" Target="/ppt/slideMasters/slideMaster2.xml" Id="R562cf63ef97f4d90" /><Relationship Type="http://schemas.openxmlformats.org/officeDocument/2006/relationships/slideMaster" Target="/ppt/slideMasters/slideMaster3.xml" Id="R774acd4ebe574877" /><Relationship Type="http://schemas.openxmlformats.org/officeDocument/2006/relationships/slide" Target="/ppt/slides/slide1.xml" Id="R18fa6cdbc2eb4d83" /><Relationship Type="http://schemas.openxmlformats.org/officeDocument/2006/relationships/slide" Target="/ppt/slides/slide2.xml" Id="R6a8f7505e17a4c99" /><Relationship Type="http://schemas.openxmlformats.org/officeDocument/2006/relationships/slide" Target="/ppt/slides/slide3.xml" Id="R8ee6a02b31f24e72" /><Relationship Type="http://schemas.openxmlformats.org/officeDocument/2006/relationships/slide" Target="/ppt/slides/slide4.xml" Id="Rfcbe4bf42ba340d2" /><Relationship Type="http://schemas.openxmlformats.org/officeDocument/2006/relationships/slide" Target="/ppt/slides/slide5.xml" Id="R25a01345a7cc4ce4" /><Relationship Type="http://schemas.openxmlformats.org/officeDocument/2006/relationships/slide" Target="/ppt/slides/slide6.xml" Id="Rbbafc1b9e3304047" /><Relationship Type="http://schemas.openxmlformats.org/officeDocument/2006/relationships/slide" Target="/ppt/slides/slide7.xml" Id="R101bf78f542242e8" /><Relationship Type="http://schemas.openxmlformats.org/officeDocument/2006/relationships/slide" Target="/ppt/slides/slide8.xml" Id="R528e5e4cd9a84dea" /><Relationship Type="http://schemas.openxmlformats.org/officeDocument/2006/relationships/slide" Target="/ppt/slides/slide9.xml" Id="Rb65c91d9c57342e3" /><Relationship Type="http://schemas.openxmlformats.org/officeDocument/2006/relationships/slide" Target="/ppt/slides/slide10.xml" Id="Rae016c473f584d29" /><Relationship Type="http://schemas.openxmlformats.org/officeDocument/2006/relationships/slide" Target="/ppt/slides/slide11.xml" Id="R5e1990e803894fc0" /><Relationship Type="http://schemas.openxmlformats.org/officeDocument/2006/relationships/slide" Target="/ppt/slides/slide12.xml" Id="Rcc29bee62f7e4ee9" /><Relationship Type="http://schemas.openxmlformats.org/officeDocument/2006/relationships/slide" Target="/ppt/slides/slide13.xml" Id="Rc43647754399425f" /><Relationship Type="http://schemas.openxmlformats.org/officeDocument/2006/relationships/slide" Target="/ppt/slides/slide14.xml" Id="R1b011ff86d274994" /><Relationship Type="http://schemas.openxmlformats.org/officeDocument/2006/relationships/slide" Target="/ppt/slides/slide15.xml" Id="Rb9b05082d0d64993" /><Relationship Type="http://schemas.openxmlformats.org/officeDocument/2006/relationships/slide" Target="/ppt/slides/slide16.xml" Id="R7b576947c1d143fc" /><Relationship Type="http://schemas.openxmlformats.org/officeDocument/2006/relationships/slide" Target="/ppt/slides/slide17.xml" Id="R682465a08761465c" /><Relationship Type="http://schemas.openxmlformats.org/officeDocument/2006/relationships/slide" Target="/ppt/slides/slide18.xml" Id="Rdb031c10f3114bba" /><Relationship Type="http://schemas.openxmlformats.org/officeDocument/2006/relationships/slide" Target="/ppt/slides/slide19.xml" Id="R8b252264bc53409d" /><Relationship Type="http://schemas.openxmlformats.org/officeDocument/2006/relationships/slide" Target="/ppt/slides/slide20.xml" Id="Rcadd28e2ff244d7c" /><Relationship Type="http://schemas.openxmlformats.org/officeDocument/2006/relationships/slide" Target="/ppt/slides/slide21.xml" Id="Refb6d385835f43ad" /><Relationship Type="http://schemas.openxmlformats.org/officeDocument/2006/relationships/slide" Target="/ppt/slides/slide22.xml" Id="Rb158b219ed064074" /><Relationship Type="http://schemas.openxmlformats.org/officeDocument/2006/relationships/slide" Target="/ppt/slides/slide23.xml" Id="R6e46cf794e0b4ab1" /><Relationship Type="http://schemas.openxmlformats.org/officeDocument/2006/relationships/slide" Target="/ppt/slides/slide24.xml" Id="Rc008b9ee02784465" /><Relationship Type="http://schemas.openxmlformats.org/officeDocument/2006/relationships/slide" Target="/ppt/slides/slide25.xml" Id="R8b1de6c78b0c4416" /><Relationship Type="http://schemas.openxmlformats.org/officeDocument/2006/relationships/slide" Target="/ppt/slides/slide26.xml" Id="R10abcd4fe6ce4430" /><Relationship Type="http://schemas.openxmlformats.org/officeDocument/2006/relationships/slide" Target="/ppt/slides/slide27.xml" Id="Rc83b0d5bf2f7426f" /><Relationship Type="http://schemas.openxmlformats.org/officeDocument/2006/relationships/slide" Target="/ppt/slides/slide28.xml" Id="R3789e2ba6da942ba" /><Relationship Type="http://schemas.openxmlformats.org/officeDocument/2006/relationships/slide" Target="/ppt/slides/slide29.xml" Id="Rec79db89c3474963" /><Relationship Type="http://schemas.openxmlformats.org/officeDocument/2006/relationships/slide" Target="/ppt/slides/slide30.xml" Id="Rbae92e4e673347e6" /><Relationship Type="http://schemas.openxmlformats.org/officeDocument/2006/relationships/slide" Target="/ppt/slides/slide31.xml" Id="Rcc5c16e560ed4cae" /><Relationship Type="http://schemas.openxmlformats.org/officeDocument/2006/relationships/slide" Target="/ppt/slides/slide32.xml" Id="Raeaaedfe94ff422e" /><Relationship Type="http://schemas.openxmlformats.org/officeDocument/2006/relationships/slide" Target="/ppt/slides/slide33.xml" Id="R7c211bb82f0f42f9" /><Relationship Type="http://schemas.openxmlformats.org/officeDocument/2006/relationships/slide" Target="/ppt/slides/slide34.xml" Id="R26ced8aea59a40e4" /><Relationship Type="http://schemas.openxmlformats.org/officeDocument/2006/relationships/slide" Target="/ppt/slides/slide35.xml" Id="R5aa5740791164554" /><Relationship Type="http://schemas.openxmlformats.org/officeDocument/2006/relationships/slide" Target="/ppt/slides/slide36.xml" Id="R53cfd979fa214115" /><Relationship Type="http://schemas.openxmlformats.org/officeDocument/2006/relationships/slide" Target="/ppt/slides/slide37.xml" Id="R8bd15caa0ad14182" /><Relationship Type="http://schemas.openxmlformats.org/officeDocument/2006/relationships/slide" Target="/ppt/slides/slide38.xml" Id="R8cbfc90686e14058" /><Relationship Type="http://schemas.openxmlformats.org/officeDocument/2006/relationships/slide" Target="/ppt/slides/slide39.xml" Id="R85104c85f0994596" /><Relationship Type="http://schemas.openxmlformats.org/officeDocument/2006/relationships/slide" Target="/ppt/slides/slide40.xml" Id="R6f972b6247004d81" /><Relationship Type="http://schemas.openxmlformats.org/officeDocument/2006/relationships/slide" Target="/ppt/slides/slide41.xml" Id="R661a75cf27004334" /><Relationship Type="http://schemas.openxmlformats.org/officeDocument/2006/relationships/slide" Target="/ppt/slides/slide42.xml" Id="R59f41ba242a44071" /><Relationship Type="http://schemas.openxmlformats.org/officeDocument/2006/relationships/slide" Target="/ppt/slides/slide43.xml" Id="R61ef5523ba7448ec" /><Relationship Type="http://schemas.openxmlformats.org/officeDocument/2006/relationships/slide" Target="/ppt/slides/slide44.xml" Id="Ra7349cb1806547f8" /><Relationship Type="http://schemas.openxmlformats.org/officeDocument/2006/relationships/slide" Target="/ppt/slides/slide45.xml" Id="R9e7dbf0c1a95486b" /><Relationship Type="http://schemas.openxmlformats.org/officeDocument/2006/relationships/slide" Target="/ppt/slides/slide46.xml" Id="Rccc40b5c074f4801" /><Relationship Type="http://schemas.openxmlformats.org/officeDocument/2006/relationships/slide" Target="/ppt/slides/slide47.xml" Id="Rc83f22bb5f364268" /><Relationship Type="http://schemas.openxmlformats.org/officeDocument/2006/relationships/slide" Target="/ppt/slides/slide48.xml" Id="Rb676fd1d1bc84d69" /><Relationship Type="http://schemas.openxmlformats.org/officeDocument/2006/relationships/slide" Target="/ppt/slides/slide49.xml" Id="R93bfa014f3bd4555" /><Relationship Type="http://schemas.openxmlformats.org/officeDocument/2006/relationships/slide" Target="/ppt/slides/slide50.xml" Id="R3c9ec48aab484483" /><Relationship Type="http://schemas.openxmlformats.org/officeDocument/2006/relationships/slide" Target="/ppt/slides/slide51.xml" Id="R754c0146004349cb" /><Relationship Type="http://schemas.openxmlformats.org/officeDocument/2006/relationships/slide" Target="/ppt/slides/slide52.xml" Id="R11f837cb38674faa" /><Relationship Type="http://schemas.openxmlformats.org/officeDocument/2006/relationships/slide" Target="/ppt/slides/slide53.xml" Id="R74e5c0bc08dc4ba7" /><Relationship Type="http://schemas.openxmlformats.org/officeDocument/2006/relationships/slide" Target="/ppt/slides/slide54.xml" Id="R1e6254674a694508" /><Relationship Type="http://schemas.openxmlformats.org/officeDocument/2006/relationships/slide" Target="/ppt/slides/slide55.xml" Id="Rd927cc7191c94d10" /><Relationship Type="http://schemas.openxmlformats.org/officeDocument/2006/relationships/slide" Target="/ppt/slides/slide56.xml" Id="R61f087c37fd24f09" /><Relationship Type="http://schemas.openxmlformats.org/officeDocument/2006/relationships/slide" Target="/ppt/slides/slide57.xml" Id="Rd5ed7430e68f4184" /><Relationship Type="http://schemas.openxmlformats.org/officeDocument/2006/relationships/slide" Target="/ppt/slides/slide58.xml" Id="R7479b78bd1fc48ac" /><Relationship Type="http://schemas.openxmlformats.org/officeDocument/2006/relationships/slide" Target="/ppt/slides/slide59.xml" Id="R5778aeb4a0ce4c54" /><Relationship Type="http://schemas.openxmlformats.org/officeDocument/2006/relationships/slide" Target="/ppt/slides/slide60.xml" Id="R2a7f688a7b164829" /><Relationship Type="http://schemas.openxmlformats.org/officeDocument/2006/relationships/slide" Target="/ppt/slides/slide61.xml" Id="R2c57be77dd5d447d" /><Relationship Type="http://schemas.openxmlformats.org/officeDocument/2006/relationships/slide" Target="/ppt/slides/slide62.xml" Id="Rcc53af4e05b14ee1" /><Relationship Type="http://schemas.openxmlformats.org/officeDocument/2006/relationships/slide" Target="/ppt/slides/slide63.xml" Id="R665ccde8e36e41b8" /><Relationship Type="http://schemas.openxmlformats.org/officeDocument/2006/relationships/slide" Target="/ppt/slides/slide64.xml" Id="Rb2419feeed924b14" /><Relationship Type="http://schemas.openxmlformats.org/officeDocument/2006/relationships/slide" Target="/ppt/slides/slide65.xml" Id="Rf50eedbd8fa64f2d" /><Relationship Type="http://schemas.openxmlformats.org/officeDocument/2006/relationships/slide" Target="/ppt/slides/slide66.xml" Id="R921c9ee1640c469c" /><Relationship Type="http://schemas.openxmlformats.org/officeDocument/2006/relationships/slide" Target="/ppt/slides/slide67.xml" Id="R6b125dfa464b406f" /><Relationship Type="http://schemas.openxmlformats.org/officeDocument/2006/relationships/tableStyles" Target="/ppt/tableStyles.xml" Id="R7b33d2604e304a09" /><Relationship Type="http://schemas.openxmlformats.org/officeDocument/2006/relationships/slide" Target="/ppt/slides/slide68.xml" Id="R8095feac3d2d4f61" /><Relationship Type="http://schemas.openxmlformats.org/officeDocument/2006/relationships/slide" Target="/ppt/slides/slide69.xml" Id="Ra6d8d2e98eb4442c" /><Relationship Type="http://schemas.openxmlformats.org/officeDocument/2006/relationships/slide" Target="/ppt/slides/slide70.xml" Id="R7db10d4c0ac14b43" /><Relationship Type="http://schemas.openxmlformats.org/officeDocument/2006/relationships/slide" Target="/ppt/slides/slide71.xml" Id="R61908e83d0144cd4" /><Relationship Type="http://schemas.openxmlformats.org/officeDocument/2006/relationships/slide" Target="/ppt/slides/slide72.xml" Id="Rea8d5b5d291c4016" /><Relationship Type="http://schemas.openxmlformats.org/officeDocument/2006/relationships/slide" Target="/ppt/slides/slide73.xml" Id="R293165e0d0b946e7" /><Relationship Type="http://schemas.openxmlformats.org/officeDocument/2006/relationships/slide" Target="/ppt/slides/slide74.xml" Id="R8c6f7cf8371f43a9" /><Relationship Type="http://schemas.openxmlformats.org/officeDocument/2006/relationships/slide" Target="/ppt/slides/slide75.xml" Id="R8784b7e6fe7743b4" /><Relationship Type="http://schemas.openxmlformats.org/officeDocument/2006/relationships/slide" Target="/ppt/slides/slide76.xml" Id="R5e4d18d6dcf841a5" /><Relationship Type="http://schemas.openxmlformats.org/officeDocument/2006/relationships/slide" Target="/ppt/slides/slide77.xml" Id="Rb30612424eda43ad" /><Relationship Type="http://schemas.openxmlformats.org/officeDocument/2006/relationships/slide" Target="/ppt/slides/slide78.xml" Id="R02afcbbaf9114375" /><Relationship Type="http://schemas.openxmlformats.org/officeDocument/2006/relationships/slide" Target="/ppt/slides/slide79.xml" Id="Rde9da83fb24d4305" /><Relationship Type="http://schemas.openxmlformats.org/officeDocument/2006/relationships/slide" Target="/ppt/slides/slide80.xml" Id="Rfc8a1a0df28e4916" /><Relationship Type="http://schemas.openxmlformats.org/officeDocument/2006/relationships/slide" Target="/ppt/slides/slide81.xml" Id="R77abc657bfae4819" /><Relationship Type="http://schemas.openxmlformats.org/officeDocument/2006/relationships/slide" Target="/ppt/slides/slide82.xml" Id="Rcfad5176730b42cd" /><Relationship Type="http://schemas.openxmlformats.org/officeDocument/2006/relationships/slide" Target="/ppt/slides/slide83.xml" Id="R5dbf2adbe2974176" /><Relationship Type="http://schemas.openxmlformats.org/officeDocument/2006/relationships/slide" Target="/ppt/slides/slide84.xml" Id="R30552c3f7dc04769" /><Relationship Type="http://schemas.openxmlformats.org/officeDocument/2006/relationships/slide" Target="/ppt/slides/slide85.xml" Id="R42a28902b8324c27" /><Relationship Type="http://schemas.openxmlformats.org/officeDocument/2006/relationships/slide" Target="/ppt/slides/slide86.xml" Id="Ra399fff4cd784759" /><Relationship Type="http://schemas.openxmlformats.org/officeDocument/2006/relationships/slide" Target="/ppt/slides/slide87.xml" Id="Rf1d889f944374dcd" /><Relationship Type="http://schemas.openxmlformats.org/officeDocument/2006/relationships/slideMaster" Target="/ppt/slideMasters/slideMaster4.xml" Id="R0b20ee9db4ac42cd" /><Relationship Type="http://schemas.openxmlformats.org/officeDocument/2006/relationships/slide" Target="/ppt/slides/slide88.xml" Id="Ra5608ca27e5441ad" /><Relationship Type="http://schemas.openxmlformats.org/officeDocument/2006/relationships/slide" Target="/ppt/slides/slide89.xml" Id="R277e8a1f10d041a7" /><Relationship Type="http://schemas.openxmlformats.org/officeDocument/2006/relationships/slide" Target="/ppt/slides/slide90.xml" Id="Reaf8ec1668b648ef" /><Relationship Type="http://schemas.openxmlformats.org/officeDocument/2006/relationships/slide" Target="/ppt/slides/slide91.xml" Id="R9b9febc371ef4282" /><Relationship Type="http://schemas.openxmlformats.org/officeDocument/2006/relationships/slide" Target="/ppt/slides/slide92.xml" Id="R3e8b5fe4244e4ee4" /><Relationship Type="http://schemas.openxmlformats.org/officeDocument/2006/relationships/slide" Target="/ppt/slides/slide93.xml" Id="R8df3e7d35dc74da1" /><Relationship Type="http://schemas.openxmlformats.org/officeDocument/2006/relationships/slide" Target="/ppt/slides/slide94.xml" Id="Rf627e5ac1eb44030" /><Relationship Type="http://schemas.openxmlformats.org/officeDocument/2006/relationships/slide" Target="/ppt/slides/slide95.xml" Id="R2e57b2bc7a2f432c" /><Relationship Type="http://schemas.openxmlformats.org/officeDocument/2006/relationships/slide" Target="/ppt/slides/slide96.xml" Id="R11e8883a22584eca" /><Relationship Type="http://schemas.openxmlformats.org/officeDocument/2006/relationships/slide" Target="/ppt/slides/slide97.xml" Id="R7fa4803578d641b3" /><Relationship Type="http://schemas.openxmlformats.org/officeDocument/2006/relationships/slide" Target="/ppt/slides/slide98.xml" Id="R4090f909ddf44d71" /><Relationship Type="http://schemas.openxmlformats.org/officeDocument/2006/relationships/slide" Target="/ppt/slides/slide99.xml" Id="Rbadd355e28b04dea" /><Relationship Type="http://schemas.openxmlformats.org/officeDocument/2006/relationships/slide" Target="/ppt/slides/slide100.xml" Id="Rc02395ff10134354" /><Relationship Type="http://schemas.openxmlformats.org/officeDocument/2006/relationships/slide" Target="/ppt/slides/slide101.xml" Id="R7b68b7920b7443bb" /><Relationship Type="http://schemas.openxmlformats.org/officeDocument/2006/relationships/slide" Target="/ppt/slides/slide102.xml" Id="R5011284b1328400a" /><Relationship Type="http://schemas.openxmlformats.org/officeDocument/2006/relationships/slide" Target="/ppt/slides/slide103.xml" Id="R03646bfe416f4eb2" /><Relationship Type="http://schemas.openxmlformats.org/officeDocument/2006/relationships/slide" Target="/ppt/slides/slide104.xml" Id="R0dafe4ec8b624b28" /><Relationship Type="http://schemas.openxmlformats.org/officeDocument/2006/relationships/slide" Target="/ppt/slides/slide105.xml" Id="R22c68147da084cba" /><Relationship Type="http://schemas.openxmlformats.org/officeDocument/2006/relationships/slide" Target="/ppt/slides/slide106.xml" Id="R9e07298e9b9e4d57" /><Relationship Type="http://schemas.openxmlformats.org/officeDocument/2006/relationships/slide" Target="/ppt/slides/slide107.xml" Id="R23ba684deb8948f9" /><Relationship Type="http://schemas.openxmlformats.org/officeDocument/2006/relationships/slide" Target="/ppt/slides/slide108.xml" Id="R47ae312baf6b44c7" /><Relationship Type="http://schemas.openxmlformats.org/officeDocument/2006/relationships/slide" Target="/ppt/slides/slide109.xml" Id="R3a39e2d0c5074f94" /><Relationship Type="http://schemas.openxmlformats.org/officeDocument/2006/relationships/slide" Target="/ppt/slides/slide110.xml" Id="R20bcb0b9da9341c0" /><Relationship Type="http://schemas.openxmlformats.org/officeDocument/2006/relationships/slide" Target="/ppt/slides/slide111.xml" Id="R1570134259214b5f" /><Relationship Type="http://schemas.openxmlformats.org/officeDocument/2006/relationships/slide" Target="/ppt/slides/slide112.xml" Id="Rbe5a17aba10141b5" /><Relationship Type="http://schemas.openxmlformats.org/officeDocument/2006/relationships/slide" Target="/ppt/slides/slide113.xml" Id="R6536dd36007e441f" /><Relationship Type="http://schemas.openxmlformats.org/officeDocument/2006/relationships/slide" Target="/ppt/slides/slide114.xml" Id="Rde696f58f14c4e31" /><Relationship Type="http://schemas.openxmlformats.org/officeDocument/2006/relationships/slide" Target="/ppt/slides/slide115.xml" Id="R860d85f2e1004929" /><Relationship Type="http://schemas.openxmlformats.org/officeDocument/2006/relationships/slide" Target="/ppt/slides/slide116.xml" Id="R2591fbbd0f524e7d" /><Relationship Type="http://schemas.openxmlformats.org/officeDocument/2006/relationships/slide" Target="/ppt/slides/slide117.xml" Id="R19bac90385424b2c" /><Relationship Type="http://schemas.openxmlformats.org/officeDocument/2006/relationships/slide" Target="/ppt/slides/slide118.xml" Id="R9c7bddb2e70f4626" /><Relationship Type="http://schemas.openxmlformats.org/officeDocument/2006/relationships/slide" Target="/ppt/slides/slide119.xml" Id="Red111f79cfc54c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xml" Id="R9b049600613e4aa3"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CF2EF-4EA8-4B66-A4E7-8AECB8998B68}" type="datetimeFigureOut">
              <a:rPr lang="en-US"/>
              <a:t>2/26/2026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7D949A-080B-4F62-8768-9E6E6ACA58A1}" type="slidenum">
              <a:rPr lang="en-US"/>
              <a:t>‹#›</a:t>
            </a:fld>
            <a:endParaRPr lang="en-US"/>
          </a:p>
        </p:txBody>
      </p:sp>
    </p:spTree>
    <p:extLst>
      <p:ext uri="{BB962C8B-B14F-4D97-AF65-F5344CB8AC3E}">
        <p14:creationId xmlns:p14="http://schemas.microsoft.com/office/powerpoint/2010/main" val="2647419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972c9eec1c9e403e" /><Relationship Type="http://schemas.openxmlformats.org/officeDocument/2006/relationships/notesMaster" Target="/ppt/notesMasters/notesMaster1.xml" Id="R248bc9c8b7b448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3d717b5f6e49d1" /><Relationship Type="http://schemas.openxmlformats.org/officeDocument/2006/relationships/notesMaster" Target="/ppt/notesMasters/notesMaster1.xml" Id="Refcc918d2a1d47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6eead5a21345a1" /><Relationship Type="http://schemas.openxmlformats.org/officeDocument/2006/relationships/notesMaster" Target="/ppt/notesMasters/notesMaster1.xml" Id="R7aa0bbcc6c3a46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a9206e46454378" /><Relationship Type="http://schemas.openxmlformats.org/officeDocument/2006/relationships/notesMaster" Target="/ppt/notesMasters/notesMaster1.xml" Id="R867dad6834c841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be4475902c46f4" /><Relationship Type="http://schemas.openxmlformats.org/officeDocument/2006/relationships/notesMaster" Target="/ppt/notesMasters/notesMaster1.xml" Id="R619b460789544e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d1432699f04c0b" /><Relationship Type="http://schemas.openxmlformats.org/officeDocument/2006/relationships/notesMaster" Target="/ppt/notesMasters/notesMaster1.xml" Id="Rbb8031fb2fe844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852b4ca1824477" /><Relationship Type="http://schemas.openxmlformats.org/officeDocument/2006/relationships/notesMaster" Target="/ppt/notesMasters/notesMaster1.xml" Id="R09e45386366242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9a509a3bbf4dcb" /><Relationship Type="http://schemas.openxmlformats.org/officeDocument/2006/relationships/notesMaster" Target="/ppt/notesMasters/notesMaster1.xml" Id="R9d378ecc5cec4d21" /></Relationships>
</file>

<file path=ppt/notesSlides/_rels/notesSlide9.xml.rels>&#65279;<?xml version="1.0" encoding="utf-8"?><Relationships xmlns="http://schemas.openxmlformats.org/package/2006/relationships"><Relationship Type="http://schemas.openxmlformats.org/officeDocument/2006/relationships/slide" Target="/ppt/slides/slide10.xml" Id="R37c7a7389d4c4c79" /><Relationship Type="http://schemas.openxmlformats.org/officeDocument/2006/relationships/notesMaster" Target="/ppt/notesMasters/notesMaster1.xml" Id="Rfc215456d2e340b3" /></Relationships>
</file>

<file path=ppt/notesSlides/_rels/notesSlide10.xml.rels>&#65279;<?xml version="1.0" encoding="utf-8"?><Relationships xmlns="http://schemas.openxmlformats.org/package/2006/relationships"><Relationship Type="http://schemas.openxmlformats.org/officeDocument/2006/relationships/slide" Target="/ppt/slides/slide11.xml" Id="Rbe719fa7b91e47e6" /><Relationship Type="http://schemas.openxmlformats.org/officeDocument/2006/relationships/notesMaster" Target="/ppt/notesMasters/notesMaster1.xml" Id="R77811d76feaf4acb" /></Relationships>
</file>

<file path=ppt/notesSlides/_rels/notesSlide11.xml.rels>&#65279;<?xml version="1.0" encoding="utf-8"?><Relationships xmlns="http://schemas.openxmlformats.org/package/2006/relationships"><Relationship Type="http://schemas.openxmlformats.org/officeDocument/2006/relationships/slide" Target="/ppt/slides/slide12.xml" Id="R0a8a11ceb5b14520" /><Relationship Type="http://schemas.openxmlformats.org/officeDocument/2006/relationships/notesMaster" Target="/ppt/notesMasters/notesMaster1.xml" Id="Re6ee3fc6096b45b7" /></Relationships>
</file>

<file path=ppt/notesSlides/_rels/notesSlide12.xml.rels>&#65279;<?xml version="1.0" encoding="utf-8"?><Relationships xmlns="http://schemas.openxmlformats.org/package/2006/relationships"><Relationship Type="http://schemas.openxmlformats.org/officeDocument/2006/relationships/slide" Target="/ppt/slides/slide14.xml" Id="R4a10e0713bea44df" /><Relationship Type="http://schemas.openxmlformats.org/officeDocument/2006/relationships/notesMaster" Target="/ppt/notesMasters/notesMaster1.xml" Id="R3a492d760ee8431f" /></Relationships>
</file>

<file path=ppt/notesSlides/_rels/notesSlide13.xml.rels>&#65279;<?xml version="1.0" encoding="utf-8"?><Relationships xmlns="http://schemas.openxmlformats.org/package/2006/relationships"><Relationship Type="http://schemas.openxmlformats.org/officeDocument/2006/relationships/slide" Target="/ppt/slides/slide15.xml" Id="R5fe19474ae1c4429" /><Relationship Type="http://schemas.openxmlformats.org/officeDocument/2006/relationships/notesMaster" Target="/ppt/notesMasters/notesMaster1.xml" Id="Radd3162c5d9448d8" /></Relationships>
</file>

<file path=ppt/notesSlides/_rels/notesSlide14.xml.rels>&#65279;<?xml version="1.0" encoding="utf-8"?><Relationships xmlns="http://schemas.openxmlformats.org/package/2006/relationships"><Relationship Type="http://schemas.openxmlformats.org/officeDocument/2006/relationships/slide" Target="/ppt/slides/slide20.xml" Id="Redf27e8f5a4c405b" /><Relationship Type="http://schemas.openxmlformats.org/officeDocument/2006/relationships/notesMaster" Target="/ppt/notesMasters/notesMaster1.xml" Id="R6bb29d6284f8421b" /></Relationships>
</file>

<file path=ppt/notesSlides/_rels/notesSlide15.xml.rels>&#65279;<?xml version="1.0" encoding="utf-8"?><Relationships xmlns="http://schemas.openxmlformats.org/package/2006/relationships"><Relationship Type="http://schemas.openxmlformats.org/officeDocument/2006/relationships/slide" Target="/ppt/slides/slide21.xml" Id="R74ffab5b97fc44cc" /><Relationship Type="http://schemas.openxmlformats.org/officeDocument/2006/relationships/notesMaster" Target="/ppt/notesMasters/notesMaster1.xml" Id="Rb70e6cf922754ec7" /></Relationships>
</file>

<file path=ppt/notesSlides/_rels/notesSlide16.xml.rels>&#65279;<?xml version="1.0" encoding="utf-8"?><Relationships xmlns="http://schemas.openxmlformats.org/package/2006/relationships"><Relationship Type="http://schemas.openxmlformats.org/officeDocument/2006/relationships/slide" Target="/ppt/slides/slide22.xml" Id="Rfd1c4c4837964866" /><Relationship Type="http://schemas.openxmlformats.org/officeDocument/2006/relationships/notesMaster" Target="/ppt/notesMasters/notesMaster1.xml" Id="R51bc490f18bd4007" /></Relationships>
</file>

<file path=ppt/notesSlides/_rels/notesSlide17.xml.rels>&#65279;<?xml version="1.0" encoding="utf-8"?><Relationships xmlns="http://schemas.openxmlformats.org/package/2006/relationships"><Relationship Type="http://schemas.openxmlformats.org/officeDocument/2006/relationships/slide" Target="/ppt/slides/slide23.xml" Id="Rf9b8267cd7224f2e" /><Relationship Type="http://schemas.openxmlformats.org/officeDocument/2006/relationships/notesMaster" Target="/ppt/notesMasters/notesMaster1.xml" Id="R1abf4136f02544be" /></Relationships>
</file>

<file path=ppt/notesSlides/_rels/notesSlide18.xml.rels>&#65279;<?xml version="1.0" encoding="utf-8"?><Relationships xmlns="http://schemas.openxmlformats.org/package/2006/relationships"><Relationship Type="http://schemas.openxmlformats.org/officeDocument/2006/relationships/slide" Target="/ppt/slides/slide24.xml" Id="Rc560fb19c3a64a33" /><Relationship Type="http://schemas.openxmlformats.org/officeDocument/2006/relationships/notesMaster" Target="/ppt/notesMasters/notesMaster1.xml" Id="Rc5a719dc67a74966" /></Relationships>
</file>

<file path=ppt/notesSlides/_rels/notesSlide19.xml.rels>&#65279;<?xml version="1.0" encoding="utf-8"?><Relationships xmlns="http://schemas.openxmlformats.org/package/2006/relationships"><Relationship Type="http://schemas.openxmlformats.org/officeDocument/2006/relationships/slide" Target="/ppt/slides/slide25.xml" Id="R357764b869c144aa" /><Relationship Type="http://schemas.openxmlformats.org/officeDocument/2006/relationships/notesMaster" Target="/ppt/notesMasters/notesMaster1.xml" Id="Ra802d54e09a84bc8" /></Relationships>
</file>

<file path=ppt/notesSlides/_rels/notesSlide20.xml.rels>&#65279;<?xml version="1.0" encoding="utf-8"?><Relationships xmlns="http://schemas.openxmlformats.org/package/2006/relationships"><Relationship Type="http://schemas.openxmlformats.org/officeDocument/2006/relationships/slide" Target="/ppt/slides/slide26.xml" Id="R1018853b78ee4c4a" /><Relationship Type="http://schemas.openxmlformats.org/officeDocument/2006/relationships/notesMaster" Target="/ppt/notesMasters/notesMaster1.xml" Id="R816cb48f5ac24189" /></Relationships>
</file>

<file path=ppt/notesSlides/_rels/notesSlide21.xml.rels>&#65279;<?xml version="1.0" encoding="utf-8"?><Relationships xmlns="http://schemas.openxmlformats.org/package/2006/relationships"><Relationship Type="http://schemas.openxmlformats.org/officeDocument/2006/relationships/slide" Target="/ppt/slides/slide27.xml" Id="R1ad38109166e4b81" /><Relationship Type="http://schemas.openxmlformats.org/officeDocument/2006/relationships/notesMaster" Target="/ppt/notesMasters/notesMaster1.xml" Id="R30d2ca899b2c4109" /></Relationships>
</file>

<file path=ppt/notesSlides/_rels/notesSlide22.xml.rels>&#65279;<?xml version="1.0" encoding="utf-8"?><Relationships xmlns="http://schemas.openxmlformats.org/package/2006/relationships"><Relationship Type="http://schemas.openxmlformats.org/officeDocument/2006/relationships/slide" Target="/ppt/slides/slide28.xml" Id="R3562acb904ac49e3" /><Relationship Type="http://schemas.openxmlformats.org/officeDocument/2006/relationships/notesMaster" Target="/ppt/notesMasters/notesMaster1.xml" Id="R301be8fc8ec543f5" /></Relationships>
</file>

<file path=ppt/notesSlides/_rels/notesSlide23.xml.rels>&#65279;<?xml version="1.0" encoding="utf-8"?><Relationships xmlns="http://schemas.openxmlformats.org/package/2006/relationships"><Relationship Type="http://schemas.openxmlformats.org/officeDocument/2006/relationships/slide" Target="/ppt/slides/slide29.xml" Id="Rfe597cdf7c22438f" /><Relationship Type="http://schemas.openxmlformats.org/officeDocument/2006/relationships/notesMaster" Target="/ppt/notesMasters/notesMaster1.xml" Id="Rb3569dc9c2474c83" /></Relationships>
</file>

<file path=ppt/notesSlides/_rels/notesSlide24.xml.rels>&#65279;<?xml version="1.0" encoding="utf-8"?><Relationships xmlns="http://schemas.openxmlformats.org/package/2006/relationships"><Relationship Type="http://schemas.openxmlformats.org/officeDocument/2006/relationships/slide" Target="/ppt/slides/slide30.xml" Id="R6110fdc386054d37" /><Relationship Type="http://schemas.openxmlformats.org/officeDocument/2006/relationships/notesMaster" Target="/ppt/notesMasters/notesMaster1.xml" Id="R6265604079104573" /></Relationships>
</file>

<file path=ppt/notesSlides/_rels/notesSlide25.xml.rels>&#65279;<?xml version="1.0" encoding="utf-8"?><Relationships xmlns="http://schemas.openxmlformats.org/package/2006/relationships"><Relationship Type="http://schemas.openxmlformats.org/officeDocument/2006/relationships/slide" Target="/ppt/slides/slide31.xml" Id="R09a4b207f0724e46" /><Relationship Type="http://schemas.openxmlformats.org/officeDocument/2006/relationships/notesMaster" Target="/ppt/notesMasters/notesMaster1.xml" Id="R19f72d0526124644" /></Relationships>
</file>

<file path=ppt/notesSlides/_rels/notesSlide26.xml.rels>&#65279;<?xml version="1.0" encoding="utf-8"?><Relationships xmlns="http://schemas.openxmlformats.org/package/2006/relationships"><Relationship Type="http://schemas.openxmlformats.org/officeDocument/2006/relationships/slide" Target="/ppt/slides/slide32.xml" Id="Rb44e1f3f1ab74bfe" /><Relationship Type="http://schemas.openxmlformats.org/officeDocument/2006/relationships/notesMaster" Target="/ppt/notesMasters/notesMaster1.xml" Id="Rbb956deee6e446ee" /></Relationships>
</file>

<file path=ppt/notesSlides/_rels/notesSlide27.xml.rels>&#65279;<?xml version="1.0" encoding="utf-8"?><Relationships xmlns="http://schemas.openxmlformats.org/package/2006/relationships"><Relationship Type="http://schemas.openxmlformats.org/officeDocument/2006/relationships/slide" Target="/ppt/slides/slide33.xml" Id="Rbdfb0c000a714f0b" /><Relationship Type="http://schemas.openxmlformats.org/officeDocument/2006/relationships/notesMaster" Target="/ppt/notesMasters/notesMaster1.xml" Id="R7bf32b0472b04bf8" /></Relationships>
</file>

<file path=ppt/notesSlides/_rels/notesSlide28.xml.rels>&#65279;<?xml version="1.0" encoding="utf-8"?><Relationships xmlns="http://schemas.openxmlformats.org/package/2006/relationships"><Relationship Type="http://schemas.openxmlformats.org/officeDocument/2006/relationships/slide" Target="/ppt/slides/slide34.xml" Id="R303962d9d8cc479b" /><Relationship Type="http://schemas.openxmlformats.org/officeDocument/2006/relationships/notesMaster" Target="/ppt/notesMasters/notesMaster1.xml" Id="R33d66c16ff484a7e" /></Relationships>
</file>

<file path=ppt/notesSlides/_rels/notesSlide29.xml.rels>&#65279;<?xml version="1.0" encoding="utf-8"?><Relationships xmlns="http://schemas.openxmlformats.org/package/2006/relationships"><Relationship Type="http://schemas.openxmlformats.org/officeDocument/2006/relationships/slide" Target="/ppt/slides/slide40.xml" Id="R9278f4dd886541b8" /><Relationship Type="http://schemas.openxmlformats.org/officeDocument/2006/relationships/notesMaster" Target="/ppt/notesMasters/notesMaster1.xml" Id="R476e2da0a2a54af7" /></Relationships>
</file>

<file path=ppt/notesSlides/_rels/notesSlide30.xml.rels>&#65279;<?xml version="1.0" encoding="utf-8"?><Relationships xmlns="http://schemas.openxmlformats.org/package/2006/relationships"><Relationship Type="http://schemas.openxmlformats.org/officeDocument/2006/relationships/slide" Target="/ppt/slides/slide41.xml" Id="R621e42b8f52f45dc" /><Relationship Type="http://schemas.openxmlformats.org/officeDocument/2006/relationships/notesMaster" Target="/ppt/notesMasters/notesMaster1.xml" Id="R80eed9a5a5c0482e" /></Relationships>
</file>

<file path=ppt/notesSlides/_rels/notesSlide31.xml.rels>&#65279;<?xml version="1.0" encoding="utf-8"?><Relationships xmlns="http://schemas.openxmlformats.org/package/2006/relationships"><Relationship Type="http://schemas.openxmlformats.org/officeDocument/2006/relationships/slide" Target="/ppt/slides/slide44.xml" Id="Rafb2f970ceb94311" /><Relationship Type="http://schemas.openxmlformats.org/officeDocument/2006/relationships/notesMaster" Target="/ppt/notesMasters/notesMaster1.xml" Id="Ra30638f3efd1491c" /></Relationships>
</file>

<file path=ppt/notesSlides/_rels/notesSlide32.xml.rels>&#65279;<?xml version="1.0" encoding="utf-8"?><Relationships xmlns="http://schemas.openxmlformats.org/package/2006/relationships"><Relationship Type="http://schemas.openxmlformats.org/officeDocument/2006/relationships/slide" Target="/ppt/slides/slide47.xml" Id="R391cac775d05499b" /><Relationship Type="http://schemas.openxmlformats.org/officeDocument/2006/relationships/notesMaster" Target="/ppt/notesMasters/notesMaster1.xml" Id="R1372c8ca4b784eb4" /></Relationships>
</file>

<file path=ppt/notesSlides/_rels/notesSlide33.xml.rels>&#65279;<?xml version="1.0" encoding="utf-8"?><Relationships xmlns="http://schemas.openxmlformats.org/package/2006/relationships"><Relationship Type="http://schemas.openxmlformats.org/officeDocument/2006/relationships/slide" Target="/ppt/slides/slide48.xml" Id="R57d61546e0b74538" /><Relationship Type="http://schemas.openxmlformats.org/officeDocument/2006/relationships/notesMaster" Target="/ppt/notesMasters/notesMaster1.xml" Id="Ra42d71ed9a104792" /></Relationships>
</file>

<file path=ppt/notesSlides/_rels/notesSlide34.xml.rels>&#65279;<?xml version="1.0" encoding="utf-8"?><Relationships xmlns="http://schemas.openxmlformats.org/package/2006/relationships"><Relationship Type="http://schemas.openxmlformats.org/officeDocument/2006/relationships/slide" Target="/ppt/slides/slide50.xml" Id="R9d348c8d26484424" /><Relationship Type="http://schemas.openxmlformats.org/officeDocument/2006/relationships/notesMaster" Target="/ppt/notesMasters/notesMaster1.xml" Id="R3aa68adf9381468b" /></Relationships>
</file>

<file path=ppt/notesSlides/_rels/notesSlide35.xml.rels>&#65279;<?xml version="1.0" encoding="utf-8"?><Relationships xmlns="http://schemas.openxmlformats.org/package/2006/relationships"><Relationship Type="http://schemas.openxmlformats.org/officeDocument/2006/relationships/slide" Target="/ppt/slides/slide51.xml" Id="R58c4e65cf3e94e3a" /><Relationship Type="http://schemas.openxmlformats.org/officeDocument/2006/relationships/notesMaster" Target="/ppt/notesMasters/notesMaster1.xml" Id="Ra5ec4b009d724591" /></Relationships>
</file>

<file path=ppt/notesSlides/_rels/notesSlide36.xml.rels>&#65279;<?xml version="1.0" encoding="utf-8"?><Relationships xmlns="http://schemas.openxmlformats.org/package/2006/relationships"><Relationship Type="http://schemas.openxmlformats.org/officeDocument/2006/relationships/slide" Target="/ppt/slides/slide52.xml" Id="R2789ff73b29d45f6" /><Relationship Type="http://schemas.openxmlformats.org/officeDocument/2006/relationships/notesMaster" Target="/ppt/notesMasters/notesMaster1.xml" Id="Rf0475c5b6af74532" /></Relationships>
</file>

<file path=ppt/notesSlides/_rels/notesSlide37.xml.rels>&#65279;<?xml version="1.0" encoding="utf-8"?><Relationships xmlns="http://schemas.openxmlformats.org/package/2006/relationships"><Relationship Type="http://schemas.openxmlformats.org/officeDocument/2006/relationships/slide" Target="/ppt/slides/slide57.xml" Id="R45748f50befc4be9" /><Relationship Type="http://schemas.openxmlformats.org/officeDocument/2006/relationships/notesMaster" Target="/ppt/notesMasters/notesMaster1.xml" Id="Re29b1aec05a34ba0" /></Relationships>
</file>

<file path=ppt/notesSlides/_rels/notesSlide38.xml.rels>&#65279;<?xml version="1.0" encoding="utf-8"?><Relationships xmlns="http://schemas.openxmlformats.org/package/2006/relationships"><Relationship Type="http://schemas.openxmlformats.org/officeDocument/2006/relationships/slide" Target="/ppt/slides/slide59.xml" Id="R684824cfd7514d6e" /><Relationship Type="http://schemas.openxmlformats.org/officeDocument/2006/relationships/notesMaster" Target="/ppt/notesMasters/notesMaster1.xml" Id="R1e369b7ff80c450d" /></Relationships>
</file>

<file path=ppt/notesSlides/_rels/notesSlide39.xml.rels>&#65279;<?xml version="1.0" encoding="utf-8"?><Relationships xmlns="http://schemas.openxmlformats.org/package/2006/relationships"><Relationship Type="http://schemas.openxmlformats.org/officeDocument/2006/relationships/slide" Target="/ppt/slides/slide64.xml" Id="Re6e50042f7ac4dbf" /><Relationship Type="http://schemas.openxmlformats.org/officeDocument/2006/relationships/notesMaster" Target="/ppt/notesMasters/notesMaster1.xml" Id="Rafa25ad6b1584e62" /></Relationships>
</file>

<file path=ppt/notesSlides/_rels/notesSlide40.xml.rels>&#65279;<?xml version="1.0" encoding="utf-8"?><Relationships xmlns="http://schemas.openxmlformats.org/package/2006/relationships"><Relationship Type="http://schemas.openxmlformats.org/officeDocument/2006/relationships/slide" Target="/ppt/slides/slide65.xml" Id="R65fb0d7e3d8a4a1d" /><Relationship Type="http://schemas.openxmlformats.org/officeDocument/2006/relationships/notesMaster" Target="/ppt/notesMasters/notesMaster1.xml" Id="Re359b3bd9da14f30" /></Relationships>
</file>

<file path=ppt/notesSlides/_rels/notesSlide41.xml.rels>&#65279;<?xml version="1.0" encoding="utf-8"?><Relationships xmlns="http://schemas.openxmlformats.org/package/2006/relationships"><Relationship Type="http://schemas.openxmlformats.org/officeDocument/2006/relationships/slide" Target="/ppt/slides/slide66.xml" Id="Rd256860710c945c9" /><Relationship Type="http://schemas.openxmlformats.org/officeDocument/2006/relationships/notesMaster" Target="/ppt/notesMasters/notesMaster1.xml" Id="Rad289c8b3a2b4aa4" /></Relationships>
</file>

<file path=ppt/notesSlides/_rels/notesSlide42.xml.rels>&#65279;<?xml version="1.0" encoding="utf-8"?><Relationships xmlns="http://schemas.openxmlformats.org/package/2006/relationships"><Relationship Type="http://schemas.openxmlformats.org/officeDocument/2006/relationships/slide" Target="/ppt/slides/slide68.xml" Id="R81451fd0583a4553" /><Relationship Type="http://schemas.openxmlformats.org/officeDocument/2006/relationships/notesMaster" Target="/ppt/notesMasters/notesMaster1.xml" Id="R7beaa7e3c8ba42e8" /></Relationships>
</file>

<file path=ppt/notesSlides/_rels/notesSlide43.xml.rels>&#65279;<?xml version="1.0" encoding="utf-8"?><Relationships xmlns="http://schemas.openxmlformats.org/package/2006/relationships"><Relationship Type="http://schemas.openxmlformats.org/officeDocument/2006/relationships/slide" Target="/ppt/slides/slide71.xml" Id="R03893b20a41e46d5" /><Relationship Type="http://schemas.openxmlformats.org/officeDocument/2006/relationships/notesMaster" Target="/ppt/notesMasters/notesMaster1.xml" Id="R95d84306e74e4298" /></Relationships>
</file>

<file path=ppt/notesSlides/_rels/notesSlide44.xml.rels>&#65279;<?xml version="1.0" encoding="utf-8"?><Relationships xmlns="http://schemas.openxmlformats.org/package/2006/relationships"><Relationship Type="http://schemas.openxmlformats.org/officeDocument/2006/relationships/slide" Target="/ppt/slides/slide72.xml" Id="Rd22801a943844fb9" /><Relationship Type="http://schemas.openxmlformats.org/officeDocument/2006/relationships/notesMaster" Target="/ppt/notesMasters/notesMaster1.xml" Id="Re46ce94938914d04" /></Relationships>
</file>

<file path=ppt/notesSlides/_rels/notesSlide45.xml.rels>&#65279;<?xml version="1.0" encoding="utf-8"?><Relationships xmlns="http://schemas.openxmlformats.org/package/2006/relationships"><Relationship Type="http://schemas.openxmlformats.org/officeDocument/2006/relationships/slide" Target="/ppt/slides/slide73.xml" Id="R644bf266922b4c2a" /><Relationship Type="http://schemas.openxmlformats.org/officeDocument/2006/relationships/notesMaster" Target="/ppt/notesMasters/notesMaster1.xml" Id="Rbe5c342e1c104802" /></Relationships>
</file>

<file path=ppt/notesSlides/_rels/notesSlide46.xml.rels>&#65279;<?xml version="1.0" encoding="utf-8"?><Relationships xmlns="http://schemas.openxmlformats.org/package/2006/relationships"><Relationship Type="http://schemas.openxmlformats.org/officeDocument/2006/relationships/slide" Target="/ppt/slides/slide74.xml" Id="R4f2b58d45e9144e7" /><Relationship Type="http://schemas.openxmlformats.org/officeDocument/2006/relationships/notesMaster" Target="/ppt/notesMasters/notesMaster1.xml" Id="R339ccb62873e482b" /></Relationships>
</file>

<file path=ppt/notesSlides/_rels/notesSlide47.xml.rels>&#65279;<?xml version="1.0" encoding="utf-8"?><Relationships xmlns="http://schemas.openxmlformats.org/package/2006/relationships"><Relationship Type="http://schemas.openxmlformats.org/officeDocument/2006/relationships/slide" Target="/ppt/slides/slide76.xml" Id="Rea4062bff4a346f3" /><Relationship Type="http://schemas.openxmlformats.org/officeDocument/2006/relationships/notesMaster" Target="/ppt/notesMasters/notesMaster1.xml" Id="R2d7ffd57314a435b" /></Relationships>
</file>

<file path=ppt/notesSlides/_rels/notesSlide48.xml.rels>&#65279;<?xml version="1.0" encoding="utf-8"?><Relationships xmlns="http://schemas.openxmlformats.org/package/2006/relationships"><Relationship Type="http://schemas.openxmlformats.org/officeDocument/2006/relationships/slide" Target="/ppt/slides/slide77.xml" Id="Rf44cd4579f0a439e" /><Relationship Type="http://schemas.openxmlformats.org/officeDocument/2006/relationships/notesMaster" Target="/ppt/notesMasters/notesMaster1.xml" Id="Rf13223820ff94ad2" /></Relationships>
</file>

<file path=ppt/notesSlides/_rels/notesSlide49.xml.rels>&#65279;<?xml version="1.0" encoding="utf-8"?><Relationships xmlns="http://schemas.openxmlformats.org/package/2006/relationships"><Relationship Type="http://schemas.openxmlformats.org/officeDocument/2006/relationships/slide" Target="/ppt/slides/slide79.xml" Id="R8176a16acbaf4d28" /><Relationship Type="http://schemas.openxmlformats.org/officeDocument/2006/relationships/notesMaster" Target="/ppt/notesMasters/notesMaster1.xml" Id="R2ae9f0af83f3496a" /></Relationships>
</file>

<file path=ppt/notesSlides/_rels/notesSlide50.xml.rels>&#65279;<?xml version="1.0" encoding="utf-8"?><Relationships xmlns="http://schemas.openxmlformats.org/package/2006/relationships"><Relationship Type="http://schemas.openxmlformats.org/officeDocument/2006/relationships/slide" Target="/ppt/slides/slide81.xml" Id="Rde0dfec142c348c5" /><Relationship Type="http://schemas.openxmlformats.org/officeDocument/2006/relationships/notesMaster" Target="/ppt/notesMasters/notesMaster1.xml" Id="Ra21068c1f81d4902" /></Relationships>
</file>

<file path=ppt/notesSlides/_rels/notesSlide51.xml.rels>&#65279;<?xml version="1.0" encoding="utf-8"?><Relationships xmlns="http://schemas.openxmlformats.org/package/2006/relationships"><Relationship Type="http://schemas.openxmlformats.org/officeDocument/2006/relationships/slide" Target="/ppt/slides/slide83.xml" Id="R7b57e1c1eff64a9b" /><Relationship Type="http://schemas.openxmlformats.org/officeDocument/2006/relationships/notesMaster" Target="/ppt/notesMasters/notesMaster1.xml" Id="R5693fbaf63734681" /></Relationships>
</file>

<file path=ppt/notesSlides/_rels/notesSlide52.xml.rels>&#65279;<?xml version="1.0" encoding="utf-8"?><Relationships xmlns="http://schemas.openxmlformats.org/package/2006/relationships"><Relationship Type="http://schemas.openxmlformats.org/officeDocument/2006/relationships/slide" Target="/ppt/slides/slide85.xml" Id="R85286372d2f248ee" /><Relationship Type="http://schemas.openxmlformats.org/officeDocument/2006/relationships/notesMaster" Target="/ppt/notesMasters/notesMaster1.xml" Id="Rb5fd940161de47f1" /></Relationships>
</file>

<file path=ppt/notesSlides/_rels/notesSlide53.xml.rels>&#65279;<?xml version="1.0" encoding="utf-8"?><Relationships xmlns="http://schemas.openxmlformats.org/package/2006/relationships"><Relationship Type="http://schemas.openxmlformats.org/officeDocument/2006/relationships/slide" Target="/ppt/slides/slide86.xml" Id="R506390712bdc44ea" /><Relationship Type="http://schemas.openxmlformats.org/officeDocument/2006/relationships/notesMaster" Target="/ppt/notesMasters/notesMaster1.xml" Id="Re47950e1bc18429e" /></Relationships>
</file>

<file path=ppt/notesSlides/_rels/notesSlide54.xml.rels>&#65279;<?xml version="1.0" encoding="utf-8"?><Relationships xmlns="http://schemas.openxmlformats.org/package/2006/relationships"><Relationship Type="http://schemas.openxmlformats.org/officeDocument/2006/relationships/slide" Target="/ppt/slides/slide87.xml" Id="Rdddcc03b79674935" /><Relationship Type="http://schemas.openxmlformats.org/officeDocument/2006/relationships/notesMaster" Target="/ppt/notesMasters/notesMaster1.xml" Id="R5ac6bb817bcb4e4b" /></Relationships>
</file>

<file path=ppt/notesSlides/_rels/notesSlide55.xml.rels>&#65279;<?xml version="1.0" encoding="utf-8"?><Relationships xmlns="http://schemas.openxmlformats.org/package/2006/relationships"><Relationship Type="http://schemas.openxmlformats.org/officeDocument/2006/relationships/slide" Target="/ppt/slides/slide88.xml" Id="R0d49513f63374c73" /><Relationship Type="http://schemas.openxmlformats.org/officeDocument/2006/relationships/notesMaster" Target="/ppt/notesMasters/notesMaster1.xml" Id="R0fc9150e913a4c2a" /></Relationships>
</file>

<file path=ppt/notesSlides/_rels/notesSlide56.xml.rels>&#65279;<?xml version="1.0" encoding="utf-8"?><Relationships xmlns="http://schemas.openxmlformats.org/package/2006/relationships"><Relationship Type="http://schemas.openxmlformats.org/officeDocument/2006/relationships/slide" Target="/ppt/slides/slide91.xml" Id="Rae30f1139a734a43" /><Relationship Type="http://schemas.openxmlformats.org/officeDocument/2006/relationships/notesMaster" Target="/ppt/notesMasters/notesMaster1.xml" Id="R84193b42e6f742af"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“Welcome to our first lecture on Advanced Software Engineering. Today, we’ll start from the basics of engineering, move into software and software engineering, discuss processes, models, and why software sometimes fails spectacularly.”</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1</a:t>
            </a:fld>
            <a:endParaRPr lang="en-US"/>
          </a:p>
        </p:txBody>
      </p:sp>
    </p:spTree>
    <p:extLst>
      <p:ext uri="{BB962C8B-B14F-4D97-AF65-F5344CB8AC3E}">
        <p14:creationId xmlns:p14="http://schemas.microsoft.com/office/powerpoint/2010/main" val="3615549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r>
            <a:br>
              <a:rPr lang="en-US" sz="1200"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“When you hear the word engineering, what comes to your mind—bridges, machines, robots, or maybe… software?”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Definition:</a:t>
            </a:r>
            <a:r>
              <a:rPr lang="en-US" sz="1200" kern="1200" dirty="0">
                <a:solidFill>
                  <a:schemeClr val="tx1"/>
                </a:solidFill>
                <a:effectLst/>
                <a:latin typeface="+mn-lt"/>
                <a:ea typeface="+mn-ea"/>
                <a:cs typeface="+mn-cs"/>
              </a:rPr>
              <a:t> Engineering is the application of scientific and mathematical principles to design and build systems that solve real-world problems.</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Example: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Civil engineers build bridges that don’t fall; </a:t>
            </a:r>
            <a:r>
              <a:rPr lang="en-US" sz="1200" b="1" kern="1200" dirty="0">
                <a:solidFill>
                  <a:schemeClr val="tx1"/>
                </a:solidFill>
                <a:effectLst/>
                <a:latin typeface="+mn-lt"/>
                <a:ea typeface="+mn-ea"/>
                <a:cs typeface="+mn-cs"/>
              </a:rPr>
              <a:t>software engineers</a:t>
            </a:r>
            <a:r>
              <a:rPr lang="en-US" sz="1200" kern="1200" dirty="0">
                <a:solidFill>
                  <a:schemeClr val="tx1"/>
                </a:solidFill>
                <a:effectLst/>
                <a:latin typeface="+mn-lt"/>
                <a:ea typeface="+mn-ea"/>
                <a:cs typeface="+mn-cs"/>
              </a:rPr>
              <a:t> build systems that don’t crash (hopefully).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2</a:t>
            </a:fld>
            <a:endParaRPr lang="en-US"/>
          </a:p>
        </p:txBody>
      </p:sp>
    </p:spTree>
    <p:extLst>
      <p:ext uri="{BB962C8B-B14F-4D97-AF65-F5344CB8AC3E}">
        <p14:creationId xmlns:p14="http://schemas.microsoft.com/office/powerpoint/2010/main" val="3892248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“So, what exactly is software? Is it just the apps on your phone, or more?”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Definition:</a:t>
            </a:r>
            <a:r>
              <a:rPr lang="en-US" sz="1200" kern="1200" dirty="0">
                <a:solidFill>
                  <a:schemeClr val="tx1"/>
                </a:solidFill>
                <a:effectLst/>
                <a:latin typeface="+mn-lt"/>
                <a:ea typeface="+mn-ea"/>
                <a:cs typeface="+mn-cs"/>
              </a:rPr>
              <a:t> Software is a collection of programs, data, and instructions that tell a computer how to perform tasks.</a:t>
            </a:r>
            <a:endParaRPr lang="en-US" sz="11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Examples:</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Microsoft Word (application software)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Windows/Linux (system software)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Database engines like MySQL</a:t>
            </a:r>
            <a:endParaRPr lang="en-US" sz="1100" kern="1200" dirty="0">
              <a:solidFill>
                <a:schemeClr val="tx1"/>
              </a:solidFill>
              <a:effectLst/>
              <a:latin typeface="+mn-lt"/>
              <a:ea typeface="+mn-ea"/>
              <a:cs typeface="+mn-cs"/>
            </a:endParaRPr>
          </a:p>
          <a:p>
            <a:r>
              <a:rPr lang="en-US" dirty="0"/>
              <a:t>“Software is the invisible mind behind the machine. Without it, your phone is just a very expensive brick. Think of system software like the operating system, application software like WhatsApp, and embedded software like the program inside your automatic washing machine.”</a:t>
            </a:r>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3</a:t>
            </a:fld>
            <a:endParaRPr lang="en-US"/>
          </a:p>
        </p:txBody>
      </p:sp>
    </p:spTree>
    <p:extLst>
      <p:ext uri="{BB962C8B-B14F-4D97-AF65-F5344CB8AC3E}">
        <p14:creationId xmlns:p14="http://schemas.microsoft.com/office/powerpoint/2010/main" val="39288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“Why can’t we just write code and be done with it? Why complicate things with ‘software engineering’?” </a:t>
            </a:r>
            <a:r>
              <a:rPr lang="en-US" i="1" dirty="0"/>
              <a:t>“Why do you think software engineering is needed instead of just ‘coding’?”</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r>
              <a:rPr lang="en-US" dirty="0"/>
              <a:t>“Software engineering is about discipline. Anyone can write code. </a:t>
            </a:r>
          </a:p>
          <a:p>
            <a:r>
              <a:rPr lang="en-US" dirty="0"/>
              <a:t>But to build software for banks, hospitals, or governments, we need systems that are reliable, scalable, and maintainable. This is what software engineering ensures.”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Definition:</a:t>
            </a:r>
            <a:r>
              <a:rPr lang="en-US" sz="1200" kern="1200" dirty="0">
                <a:solidFill>
                  <a:schemeClr val="tx1"/>
                </a:solidFill>
                <a:effectLst/>
                <a:latin typeface="+mn-lt"/>
                <a:ea typeface="+mn-ea"/>
                <a:cs typeface="+mn-cs"/>
              </a:rPr>
              <a:t> Software Engineering is the disciplined, systematic approach to designing, developing, testing, and maintaining software.</a:t>
            </a:r>
            <a:endParaRPr lang="en-US" sz="11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Analogy:</a:t>
            </a:r>
            <a:r>
              <a:rPr lang="en-US" sz="1200" kern="1200" dirty="0">
                <a:solidFill>
                  <a:schemeClr val="tx1"/>
                </a:solidFill>
                <a:effectLst/>
                <a:latin typeface="+mn-lt"/>
                <a:ea typeface="+mn-ea"/>
                <a:cs typeface="+mn-cs"/>
              </a:rPr>
              <a:t> Building software is like building a skyscraper—you need blueprints, processes, and quality checks, not just a pile of bricks.</a:t>
            </a:r>
            <a:endParaRPr lang="en-US" sz="11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Example:</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A banking system that handles millions of transactions daily requires engineering, not random coding.</a:t>
            </a: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4</a:t>
            </a:fld>
            <a:endParaRPr lang="en-US"/>
          </a:p>
        </p:txBody>
      </p:sp>
    </p:spTree>
    <p:extLst>
      <p:ext uri="{BB962C8B-B14F-4D97-AF65-F5344CB8AC3E}">
        <p14:creationId xmlns:p14="http://schemas.microsoft.com/office/powerpoint/2010/main" val="4201953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 </a:t>
            </a:r>
            <a:r>
              <a:rPr lang="en-US" sz="1200" b="1" dirty="0"/>
              <a:t>framework</a:t>
            </a:r>
            <a:r>
              <a:rPr lang="en-US" sz="1200" dirty="0"/>
              <a:t> that describes the activities performed at each stage of a software development project.  </a:t>
            </a:r>
            <a:endParaRPr lang="en-GB" sz="1200" dirty="0"/>
          </a:p>
          <a:p>
            <a:r>
              <a:rPr lang="en-GB" sz="1200" dirty="0"/>
              <a:t>A set of activities whose goal is the development or evolution of software.</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5</a:t>
            </a:fld>
            <a:endParaRPr lang="en-US"/>
          </a:p>
        </p:txBody>
      </p:sp>
    </p:spTree>
    <p:extLst>
      <p:ext uri="{BB962C8B-B14F-4D97-AF65-F5344CB8AC3E}">
        <p14:creationId xmlns:p14="http://schemas.microsoft.com/office/powerpoint/2010/main" val="282982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6</a:t>
            </a:fld>
            <a:endParaRPr lang="en-US"/>
          </a:p>
        </p:txBody>
      </p:sp>
    </p:spTree>
    <p:extLst>
      <p:ext uri="{BB962C8B-B14F-4D97-AF65-F5344CB8AC3E}">
        <p14:creationId xmlns:p14="http://schemas.microsoft.com/office/powerpoint/2010/main" val="2013147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a:t>
            </a:r>
            <a:r>
              <a:rPr lang="en-US" dirty="0"/>
              <a:t> A traditional, structured, and heavily documented approach to software development. Everything is planned upfront, and change is discouraged.</a:t>
            </a:r>
          </a:p>
          <a:p>
            <a:r>
              <a:rPr lang="en-US" b="1" dirty="0"/>
              <a:t>Characteristics:</a:t>
            </a:r>
            <a:endParaRPr lang="en-US" dirty="0"/>
          </a:p>
          <a:p>
            <a:pPr lvl="1"/>
            <a:r>
              <a:rPr lang="en-US" dirty="0"/>
              <a:t>Requirements defined early.</a:t>
            </a:r>
          </a:p>
          <a:p>
            <a:pPr lvl="1"/>
            <a:r>
              <a:rPr lang="en-US" dirty="0"/>
              <a:t>Detailed documentation at every stage.</a:t>
            </a:r>
          </a:p>
          <a:p>
            <a:pPr lvl="1"/>
            <a:r>
              <a:rPr lang="en-US" dirty="0"/>
              <a:t>Sequential phases (fits with Waterfall, V-model).</a:t>
            </a:r>
          </a:p>
          <a:p>
            <a:pPr lvl="1"/>
            <a:r>
              <a:rPr lang="en-US" dirty="0"/>
              <a:t>Strict timelines and budgets.</a:t>
            </a:r>
          </a:p>
          <a:p>
            <a:r>
              <a:rPr lang="en-US" b="1" dirty="0"/>
              <a:t>Strengths:</a:t>
            </a:r>
            <a:endParaRPr lang="en-US" dirty="0"/>
          </a:p>
          <a:p>
            <a:pPr lvl="1"/>
            <a:r>
              <a:rPr lang="en-US" dirty="0"/>
              <a:t>Works well for projects with stable, well-understood requirements.</a:t>
            </a:r>
          </a:p>
          <a:p>
            <a:pPr lvl="1"/>
            <a:r>
              <a:rPr lang="en-US" dirty="0"/>
              <a:t>Easier to manage in highly regulated industries (aerospace, defense, healthcare).</a:t>
            </a:r>
          </a:p>
          <a:p>
            <a:r>
              <a:rPr lang="en-US" b="1" dirty="0"/>
              <a:t>Weaknesses:</a:t>
            </a:r>
            <a:endParaRPr lang="en-US" dirty="0"/>
          </a:p>
          <a:p>
            <a:pPr lvl="1"/>
            <a:r>
              <a:rPr lang="en-US" dirty="0"/>
              <a:t>Inflexible—any change is costly.</a:t>
            </a:r>
          </a:p>
          <a:p>
            <a:pPr lvl="1"/>
            <a:r>
              <a:rPr lang="en-US" dirty="0"/>
              <a:t>Long delays before delivering working software.</a:t>
            </a:r>
          </a:p>
          <a:p>
            <a:r>
              <a:rPr lang="en-US" b="1" dirty="0"/>
              <a:t>Example:</a:t>
            </a:r>
            <a:r>
              <a:rPr lang="en-US" dirty="0"/>
              <a:t> Developing software for an airplane control system. You </a:t>
            </a:r>
            <a:r>
              <a:rPr lang="en-US" i="1" dirty="0"/>
              <a:t>cannot</a:t>
            </a:r>
            <a:r>
              <a:rPr lang="en-US" dirty="0"/>
              <a:t> just “wing it.”</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7</a:t>
            </a:fld>
            <a:endParaRPr lang="en-US"/>
          </a:p>
        </p:txBody>
      </p:sp>
    </p:spTree>
    <p:extLst>
      <p:ext uri="{BB962C8B-B14F-4D97-AF65-F5344CB8AC3E}">
        <p14:creationId xmlns:p14="http://schemas.microsoft.com/office/powerpoint/2010/main" val="1298004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8</a:t>
            </a:fld>
            <a:endParaRPr lang="en-US"/>
          </a:p>
        </p:txBody>
      </p:sp>
    </p:spTree>
    <p:extLst>
      <p:ext uri="{BB962C8B-B14F-4D97-AF65-F5344CB8AC3E}">
        <p14:creationId xmlns:p14="http://schemas.microsoft.com/office/powerpoint/2010/main" val="359358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sequential SDLC model</a:t>
            </a:r>
            <a:r>
              <a:rPr lang="en-US" dirty="0"/>
              <a:t> where each phase must be completed before the next begins.</a:t>
            </a:r>
          </a:p>
          <a:p>
            <a:r>
              <a:rPr lang="en-US" dirty="0"/>
              <a:t>No overlapping phases</a:t>
            </a:r>
          </a:p>
          <a:p>
            <a:r>
              <a:rPr lang="en-US" dirty="0"/>
              <a:t>Clear documentation</a:t>
            </a:r>
          </a:p>
          <a:p>
            <a:r>
              <a:rPr lang="en-US" dirty="0"/>
              <a:t>Fixed requirements</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10</a:t>
            </a:fld>
            <a:endParaRPr lang="en-US"/>
          </a:p>
        </p:txBody>
      </p:sp>
    </p:spTree>
    <p:extLst>
      <p:ext uri="{BB962C8B-B14F-4D97-AF65-F5344CB8AC3E}">
        <p14:creationId xmlns:p14="http://schemas.microsoft.com/office/powerpoint/2010/main" val="380929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software development approach where the system is developed and delivered in </a:t>
            </a:r>
            <a:r>
              <a:rPr lang="en-US" b="1" dirty="0"/>
              <a:t>multiple small releases</a:t>
            </a:r>
            <a:r>
              <a:rPr lang="en-US" dirty="0"/>
              <a:t>, with each release adding new functionality.</a:t>
            </a:r>
          </a:p>
          <a:p>
            <a:r>
              <a:rPr lang="en-US" dirty="0"/>
              <a:t>Requirements divided into modules</a:t>
            </a:r>
          </a:p>
          <a:p>
            <a:r>
              <a:rPr lang="en-US" dirty="0"/>
              <a:t>Each increment goes through full SDLC cycle</a:t>
            </a:r>
          </a:p>
          <a:p>
            <a:r>
              <a:rPr lang="en-US" dirty="0"/>
              <a:t>Working product delivered early</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11</a:t>
            </a:fld>
            <a:endParaRPr lang="en-US"/>
          </a:p>
        </p:txBody>
      </p:sp>
    </p:spTree>
    <p:extLst>
      <p:ext uri="{BB962C8B-B14F-4D97-AF65-F5344CB8AC3E}">
        <p14:creationId xmlns:p14="http://schemas.microsoft.com/office/powerpoint/2010/main" val="582899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 is an SDLC model that emphasizes </a:t>
            </a:r>
            <a:r>
              <a:rPr lang="en-US" b="1" dirty="0"/>
              <a:t>fast development</a:t>
            </a:r>
            <a:r>
              <a:rPr lang="en-US" dirty="0"/>
              <a:t>, </a:t>
            </a:r>
            <a:r>
              <a:rPr lang="en-US" b="1" dirty="0"/>
              <a:t>prototyping</a:t>
            </a:r>
            <a:r>
              <a:rPr lang="en-US" dirty="0"/>
              <a:t>, and </a:t>
            </a:r>
            <a:r>
              <a:rPr lang="en-US" b="1" dirty="0"/>
              <a:t>continuous user feedback</a:t>
            </a:r>
            <a:r>
              <a:rPr lang="en-US" dirty="0"/>
              <a:t> to quickly produce high-quality software.</a:t>
            </a:r>
          </a:p>
          <a:p>
            <a:r>
              <a:rPr lang="en-US" dirty="0"/>
              <a:t>Iterative development</a:t>
            </a:r>
          </a:p>
          <a:p>
            <a:r>
              <a:rPr lang="en-US" dirty="0"/>
              <a:t>Active user participation</a:t>
            </a:r>
          </a:p>
          <a:p>
            <a:r>
              <a:rPr lang="en-US" dirty="0"/>
              <a:t>Fast delivery</a:t>
            </a:r>
          </a:p>
          <a:p>
            <a:endParaRPr lang="en-US" dirty="0"/>
          </a:p>
          <a:p>
            <a:r>
              <a:rPr lang="en-US" b="1" dirty="0"/>
              <a:t>Business Modelling</a:t>
            </a:r>
          </a:p>
          <a:p>
            <a:r>
              <a:rPr lang="en-US" dirty="0"/>
              <a:t>How the organization works</a:t>
            </a:r>
          </a:p>
          <a:p>
            <a:r>
              <a:rPr lang="en-US" dirty="0"/>
              <a:t>What information flows between departments</a:t>
            </a:r>
          </a:p>
          <a:p>
            <a:r>
              <a:rPr lang="en-US" dirty="0"/>
              <a:t>What the business goals are</a:t>
            </a:r>
          </a:p>
          <a:p>
            <a:r>
              <a:rPr lang="en-US" b="1" dirty="0"/>
              <a:t>Data Modelling </a:t>
            </a:r>
          </a:p>
          <a:p>
            <a:r>
              <a:rPr lang="en-US" dirty="0"/>
              <a:t>What data is needed</a:t>
            </a:r>
          </a:p>
          <a:p>
            <a:r>
              <a:rPr lang="en-US" dirty="0"/>
              <a:t>Database structure</a:t>
            </a:r>
          </a:p>
          <a:p>
            <a:r>
              <a:rPr lang="en-US" dirty="0"/>
              <a:t>Relationships between data (tables, entities)</a:t>
            </a:r>
          </a:p>
          <a:p>
            <a:r>
              <a:rPr lang="en-US" b="1" dirty="0"/>
              <a:t>Process Modelling</a:t>
            </a:r>
          </a:p>
          <a:p>
            <a:r>
              <a:rPr lang="en-US" dirty="0"/>
              <a:t>How data moves</a:t>
            </a:r>
          </a:p>
          <a:p>
            <a:r>
              <a:rPr lang="en-US" dirty="0"/>
              <a:t>What processes transform it</a:t>
            </a:r>
          </a:p>
          <a:p>
            <a:r>
              <a:rPr lang="en-US" dirty="0"/>
              <a:t>Workflows and logic</a:t>
            </a:r>
          </a:p>
          <a:p>
            <a:r>
              <a:rPr lang="en-US" b="1" dirty="0"/>
              <a:t>Application Generation</a:t>
            </a:r>
          </a:p>
          <a:p>
            <a:r>
              <a:rPr lang="en-US" dirty="0"/>
              <a:t>Rapid coding</a:t>
            </a:r>
          </a:p>
          <a:p>
            <a:r>
              <a:rPr lang="en-US" dirty="0"/>
              <a:t>Use of reusable components</a:t>
            </a:r>
          </a:p>
          <a:p>
            <a:r>
              <a:rPr lang="en-US" dirty="0"/>
              <a:t>Automatic code generation tools</a:t>
            </a:r>
          </a:p>
          <a:p>
            <a:r>
              <a:rPr lang="en-US" dirty="0"/>
              <a:t>RAD emphasizes speed. Developers often use frameworks, templates, or CASE tools.</a:t>
            </a:r>
          </a:p>
          <a:p>
            <a:r>
              <a:rPr lang="en-US" b="1" dirty="0"/>
              <a:t>Testing and Turnover</a:t>
            </a:r>
          </a:p>
          <a:p>
            <a:r>
              <a:rPr lang="en-US" dirty="0"/>
              <a:t>System testing</a:t>
            </a:r>
          </a:p>
          <a:p>
            <a:r>
              <a:rPr lang="en-US" dirty="0"/>
              <a:t>User acceptance testing</a:t>
            </a:r>
          </a:p>
          <a:p>
            <a:r>
              <a:rPr lang="en-US" dirty="0"/>
              <a:t>Deployment</a:t>
            </a:r>
          </a:p>
          <a:p>
            <a:r>
              <a:rPr lang="en-US" dirty="0"/>
              <a:t>User training</a:t>
            </a:r>
          </a:p>
          <a:p>
            <a:r>
              <a:rPr lang="en-US" dirty="0"/>
              <a:t>Then the next module starts — and the cycle repeats.</a:t>
            </a:r>
          </a:p>
          <a:p>
            <a:endParaRPr lang="en-US" dirty="0"/>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12</a:t>
            </a:fld>
            <a:endParaRPr lang="en-US"/>
          </a:p>
        </p:txBody>
      </p:sp>
    </p:spTree>
    <p:extLst>
      <p:ext uri="{BB962C8B-B14F-4D97-AF65-F5344CB8AC3E}">
        <p14:creationId xmlns:p14="http://schemas.microsoft.com/office/powerpoint/2010/main" val="472675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Spiral Model</a:t>
            </a:r>
            <a:r>
              <a:rPr lang="en-US" dirty="0"/>
              <a:t> is a risk-driven software development model.</a:t>
            </a:r>
            <a:br>
              <a:rPr lang="en-US" dirty="0"/>
            </a:br>
            <a:r>
              <a:rPr lang="en-US" dirty="0"/>
              <a:t>It combines ideas from </a:t>
            </a:r>
            <a:r>
              <a:rPr lang="en-US" b="1" dirty="0"/>
              <a:t>Waterfall</a:t>
            </a:r>
            <a:r>
              <a:rPr lang="en-US" dirty="0"/>
              <a:t> (structured phases) and </a:t>
            </a:r>
            <a:r>
              <a:rPr lang="en-US" b="1" dirty="0"/>
              <a:t>Iterative development</a:t>
            </a:r>
            <a:r>
              <a:rPr lang="en-US" dirty="0"/>
              <a:t> (repetition), but adds one powerful ingredient:</a:t>
            </a:r>
          </a:p>
          <a:p>
            <a:r>
              <a:rPr lang="en-US" dirty="0"/>
              <a:t> </a:t>
            </a:r>
            <a:r>
              <a:rPr lang="en-US" b="1" dirty="0"/>
              <a:t>Risk analysis at every cycle.</a:t>
            </a:r>
            <a:endParaRPr lang="en-US" dirty="0"/>
          </a:p>
          <a:p>
            <a:r>
              <a:rPr lang="en-US" dirty="0"/>
              <a:t>Think of it as building software in loops — and in every loop, you </a:t>
            </a:r>
            <a:r>
              <a:rPr lang="en-US" dirty="0" err="1"/>
              <a:t>ask:“What</a:t>
            </a:r>
            <a:r>
              <a:rPr lang="en-US" dirty="0"/>
              <a:t> could go wrong?”</a:t>
            </a:r>
          </a:p>
          <a:p>
            <a:r>
              <a:rPr lang="en-US" b="1" dirty="0"/>
              <a:t>Risk Analysis</a:t>
            </a:r>
          </a:p>
          <a:p>
            <a:r>
              <a:rPr lang="en-US" dirty="0"/>
              <a:t>Identify potential risks</a:t>
            </a:r>
          </a:p>
          <a:p>
            <a:r>
              <a:rPr lang="en-US" dirty="0"/>
              <a:t>Evaluate technical and cost risks</a:t>
            </a:r>
          </a:p>
          <a:p>
            <a:r>
              <a:rPr lang="en-US" dirty="0"/>
              <a:t>Develop prototypes to reduce uncertainty</a:t>
            </a:r>
          </a:p>
          <a:p>
            <a:r>
              <a:rPr lang="en-US" dirty="0"/>
              <a:t>This is the heart of the model.</a:t>
            </a:r>
          </a:p>
          <a:p>
            <a:r>
              <a:rPr lang="en-US" b="1" dirty="0"/>
              <a:t>When to Use Spiral Model</a:t>
            </a:r>
          </a:p>
          <a:p>
            <a:r>
              <a:rPr lang="en-US" dirty="0"/>
              <a:t>Large-scale projects</a:t>
            </a:r>
          </a:p>
          <a:p>
            <a:r>
              <a:rPr lang="en-US" dirty="0"/>
              <a:t>High-risk systems</a:t>
            </a:r>
          </a:p>
          <a:p>
            <a:r>
              <a:rPr lang="en-US" dirty="0"/>
              <a:t>New or complex technology</a:t>
            </a:r>
          </a:p>
          <a:p>
            <a:r>
              <a:rPr lang="en-US" dirty="0"/>
              <a:t>Mission-critical applications</a:t>
            </a:r>
          </a:p>
          <a:p>
            <a:endParaRPr lang="en-US" dirty="0"/>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14</a:t>
            </a:fld>
            <a:endParaRPr lang="en-US"/>
          </a:p>
        </p:txBody>
      </p:sp>
    </p:spTree>
    <p:extLst>
      <p:ext uri="{BB962C8B-B14F-4D97-AF65-F5344CB8AC3E}">
        <p14:creationId xmlns:p14="http://schemas.microsoft.com/office/powerpoint/2010/main" val="264666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7 Principles of Lean Software Development</a:t>
            </a:r>
            <a:r>
              <a:rPr lang="en-US" dirty="0"/>
              <a:t>.</a:t>
            </a:r>
          </a:p>
          <a:p>
            <a:r>
              <a:rPr lang="en-US" dirty="0"/>
              <a:t>Not exactly a step-by-step model like Waterfall or Spiral.</a:t>
            </a:r>
            <a:br>
              <a:rPr lang="en-US" dirty="0"/>
            </a:br>
            <a:r>
              <a:rPr lang="en-US" dirty="0"/>
              <a:t>This is more of a </a:t>
            </a:r>
            <a:r>
              <a:rPr lang="en-US" b="1" dirty="0"/>
              <a:t>philosophy</a:t>
            </a:r>
            <a:r>
              <a:rPr lang="en-US" dirty="0"/>
              <a:t> — a mindset borrowed from Lean manufacturing (Toyota Production System) and adapted to software.</a:t>
            </a:r>
          </a:p>
          <a:p>
            <a:r>
              <a:rPr lang="en-US" dirty="0"/>
              <a:t>Lean asks one uncomfortable question again and again:</a:t>
            </a:r>
          </a:p>
          <a:p>
            <a:r>
              <a:rPr lang="en-US" dirty="0"/>
              <a:t>“Are we doing something useful — or just staying busy?”</a:t>
            </a:r>
          </a:p>
          <a:p>
            <a:r>
              <a:rPr lang="en-US" b="1" dirty="0"/>
              <a:t>Waste in software is anything that does not add value to the customer.</a:t>
            </a:r>
          </a:p>
          <a:p>
            <a:r>
              <a:rPr lang="en-US" b="1" dirty="0"/>
              <a:t>Examples:</a:t>
            </a:r>
          </a:p>
          <a:p>
            <a:r>
              <a:rPr lang="en-US" b="1" dirty="0"/>
              <a:t>Unnecessary features</a:t>
            </a:r>
          </a:p>
          <a:p>
            <a:r>
              <a:rPr lang="en-US" b="1" dirty="0"/>
              <a:t>Excess documentation</a:t>
            </a:r>
          </a:p>
          <a:p>
            <a:r>
              <a:rPr lang="en-US" b="1" dirty="0"/>
              <a:t>Waiting time</a:t>
            </a:r>
          </a:p>
          <a:p>
            <a:r>
              <a:rPr lang="en-US" b="1" dirty="0"/>
              <a:t>Rework due to poor requirements</a:t>
            </a:r>
          </a:p>
          <a:p>
            <a:r>
              <a:rPr lang="en-US" b="1" dirty="0"/>
              <a:t>Lean says: If it doesn’t create value, remove it.</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15</a:t>
            </a:fld>
            <a:endParaRPr lang="en-US"/>
          </a:p>
        </p:txBody>
      </p:sp>
    </p:spTree>
    <p:extLst>
      <p:ext uri="{BB962C8B-B14F-4D97-AF65-F5344CB8AC3E}">
        <p14:creationId xmlns:p14="http://schemas.microsoft.com/office/powerpoint/2010/main" val="3133285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software projects fail? Usually, it’s not coding errors—it’s poor planning, unclear requirements, and shifting goals</a:t>
            </a:r>
          </a:p>
          <a:p>
            <a:endParaRPr lang="en-US" dirty="0"/>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20</a:t>
            </a:fld>
            <a:endParaRPr lang="en-US"/>
          </a:p>
        </p:txBody>
      </p:sp>
    </p:spTree>
    <p:extLst>
      <p:ext uri="{BB962C8B-B14F-4D97-AF65-F5344CB8AC3E}">
        <p14:creationId xmlns:p14="http://schemas.microsoft.com/office/powerpoint/2010/main" val="955644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software faces huge challenges: </a:t>
            </a:r>
          </a:p>
          <a:p>
            <a:r>
              <a:rPr lang="en-US" dirty="0"/>
              <a:t>keeping up with changing needs, staying secure, and scaling. </a:t>
            </a:r>
          </a:p>
          <a:p>
            <a:r>
              <a:rPr lang="en-US" dirty="0"/>
              <a:t>Imagine the challenge Instagram faces when billions of people open the app daily.”</a:t>
            </a:r>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21</a:t>
            </a:fld>
            <a:endParaRPr lang="en-US"/>
          </a:p>
        </p:txBody>
      </p:sp>
    </p:spTree>
    <p:extLst>
      <p:ext uri="{BB962C8B-B14F-4D97-AF65-F5344CB8AC3E}">
        <p14:creationId xmlns:p14="http://schemas.microsoft.com/office/powerpoint/2010/main" val="10495097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engineering is about more than just programming. </a:t>
            </a:r>
          </a:p>
          <a:p>
            <a:endParaRPr lang="en-US" dirty="0"/>
          </a:p>
          <a:p>
            <a:r>
              <a:rPr lang="en-US" dirty="0"/>
              <a:t>It’s about designing systems that scale, adapt, and last. The failures you’ve seen in real life are proof of why software engineering matters.”</a:t>
            </a:r>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a:t>22</a:t>
            </a:fld>
            <a:endParaRPr lang="en-US"/>
          </a:p>
        </p:txBody>
      </p:sp>
    </p:spTree>
    <p:extLst>
      <p:ext uri="{BB962C8B-B14F-4D97-AF65-F5344CB8AC3E}">
        <p14:creationId xmlns:p14="http://schemas.microsoft.com/office/powerpoint/2010/main" val="9390982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1</a:t>
            </a:fld>
            <a:endParaRPr lang="en-US"/>
          </a:p>
        </p:txBody>
      </p:sp>
    </p:spTree>
    <p:extLst>
      <p:ext uri="{BB962C8B-B14F-4D97-AF65-F5344CB8AC3E}">
        <p14:creationId xmlns:p14="http://schemas.microsoft.com/office/powerpoint/2010/main" val="11550009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Interactive: Ask 2 students to summarize last lecture in 1 min each.</a:t>
            </a:r>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2</a:t>
            </a:fld>
            <a:endParaRPr lang="en-US"/>
          </a:p>
        </p:txBody>
      </p:sp>
    </p:spTree>
    <p:extLst>
      <p:ext uri="{BB962C8B-B14F-4D97-AF65-F5344CB8AC3E}">
        <p14:creationId xmlns:p14="http://schemas.microsoft.com/office/powerpoint/2010/main" val="3969485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Prompt: Why not just start coding immediately?</a:t>
            </a:r>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3</a:t>
            </a:fld>
            <a:endParaRPr lang="en-US"/>
          </a:p>
        </p:txBody>
      </p:sp>
    </p:spTree>
    <p:extLst>
      <p:ext uri="{BB962C8B-B14F-4D97-AF65-F5344CB8AC3E}">
        <p14:creationId xmlns:p14="http://schemas.microsoft.com/office/powerpoint/2010/main" val="568677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4</a:t>
            </a:fld>
            <a:endParaRPr lang="en-US"/>
          </a:p>
        </p:txBody>
      </p:sp>
    </p:spTree>
    <p:extLst>
      <p:ext uri="{BB962C8B-B14F-4D97-AF65-F5344CB8AC3E}">
        <p14:creationId xmlns:p14="http://schemas.microsoft.com/office/powerpoint/2010/main" val="3653185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Requirement Analysis – Detailed Explanation</a:t>
            </a:r>
          </a:p>
          <a:p>
            <a:r>
              <a:rPr lang="en-US" b="1" dirty="0"/>
              <a:t>1. Definition</a:t>
            </a:r>
          </a:p>
          <a:p>
            <a:r>
              <a:rPr lang="en-US" dirty="0"/>
              <a:t>The process of </a:t>
            </a:r>
            <a:r>
              <a:rPr lang="en-US" b="1" dirty="0"/>
              <a:t>gathering, analyzing, and documenting</a:t>
            </a:r>
            <a:r>
              <a:rPr lang="en-US" dirty="0"/>
              <a:t> what the customer/user expects from the system.</a:t>
            </a:r>
          </a:p>
          <a:p>
            <a:r>
              <a:rPr lang="en-US" dirty="0"/>
              <a:t>Goal: Ensure developers </a:t>
            </a:r>
            <a:r>
              <a:rPr lang="en-US" b="1" dirty="0"/>
              <a:t>build the right product</a:t>
            </a:r>
            <a:r>
              <a:rPr lang="en-US" dirty="0"/>
              <a:t>.</a:t>
            </a:r>
          </a:p>
          <a:p>
            <a:r>
              <a:rPr lang="en-US" b="1" dirty="0"/>
              <a:t>2. Types of Requirements</a:t>
            </a:r>
          </a:p>
          <a:p>
            <a:r>
              <a:rPr lang="en-US" b="1" dirty="0"/>
              <a:t>Functional Requirements</a:t>
            </a:r>
            <a:r>
              <a:rPr lang="en-US" dirty="0"/>
              <a:t> – what the system should do.</a:t>
            </a:r>
          </a:p>
          <a:p>
            <a:pPr lvl="1"/>
            <a:r>
              <a:rPr lang="en-US" dirty="0"/>
              <a:t>Example: “The system shall allow users to log in with a username and password.”</a:t>
            </a:r>
          </a:p>
          <a:p>
            <a:r>
              <a:rPr lang="en-US" b="1" dirty="0"/>
              <a:t>Non-Functional Requirements</a:t>
            </a:r>
            <a:r>
              <a:rPr lang="en-US" dirty="0"/>
              <a:t> – qualities of the system.</a:t>
            </a:r>
          </a:p>
          <a:p>
            <a:pPr lvl="1"/>
            <a:r>
              <a:rPr lang="en-US" dirty="0"/>
              <a:t>Example: performance, security, usability, scalability.</a:t>
            </a:r>
          </a:p>
          <a:p>
            <a:r>
              <a:rPr lang="en-US" b="1" dirty="0"/>
              <a:t>3. Techniques for Gathering Requirements</a:t>
            </a:r>
          </a:p>
          <a:p>
            <a:r>
              <a:rPr lang="en-US" b="1" dirty="0"/>
              <a:t>Interviews</a:t>
            </a:r>
            <a:r>
              <a:rPr lang="en-US" dirty="0"/>
              <a:t> with stakeholders.</a:t>
            </a:r>
          </a:p>
          <a:p>
            <a:r>
              <a:rPr lang="en-US" b="1" dirty="0"/>
              <a:t>Questionnaires/Surveys</a:t>
            </a:r>
            <a:r>
              <a:rPr lang="en-US" dirty="0"/>
              <a:t> for large groups.</a:t>
            </a:r>
          </a:p>
          <a:p>
            <a:r>
              <a:rPr lang="en-US" b="1" dirty="0"/>
              <a:t>Workshops/Brainstorming</a:t>
            </a:r>
            <a:r>
              <a:rPr lang="en-US" dirty="0"/>
              <a:t> sessions.</a:t>
            </a:r>
          </a:p>
          <a:p>
            <a:r>
              <a:rPr lang="en-US" b="1" dirty="0"/>
              <a:t>Observation</a:t>
            </a:r>
            <a:r>
              <a:rPr lang="en-US" dirty="0"/>
              <a:t> of current systems in use.</a:t>
            </a:r>
          </a:p>
          <a:p>
            <a:r>
              <a:rPr lang="en-US" b="1" dirty="0"/>
              <a:t>Use Cases/User Stories</a:t>
            </a:r>
            <a:r>
              <a:rPr lang="en-US" dirty="0"/>
              <a:t> to capture real scenarios.</a:t>
            </a:r>
          </a:p>
          <a:p>
            <a:r>
              <a:rPr lang="en-US" b="1" dirty="0"/>
              <a:t>4. Deliverables</a:t>
            </a:r>
          </a:p>
          <a:p>
            <a:r>
              <a:rPr lang="en-US" b="1" dirty="0"/>
              <a:t>SRS (Software Requirements Specification):</a:t>
            </a:r>
            <a:endParaRPr lang="en-US" dirty="0"/>
          </a:p>
          <a:p>
            <a:pPr lvl="1"/>
            <a:r>
              <a:rPr lang="en-US" dirty="0"/>
              <a:t>Document containing detailed requirements.</a:t>
            </a:r>
          </a:p>
          <a:p>
            <a:pPr lvl="1"/>
            <a:r>
              <a:rPr lang="en-US" dirty="0"/>
              <a:t>Includes scope, functional/non-functional requirements, assumptions, constraints.</a:t>
            </a:r>
          </a:p>
          <a:p>
            <a:r>
              <a:rPr lang="en-US" b="1" dirty="0"/>
              <a:t>Use Case Models &amp; Diagrams:</a:t>
            </a:r>
            <a:r>
              <a:rPr lang="en-US" dirty="0"/>
              <a:t> show how users interact with the system.</a:t>
            </a:r>
          </a:p>
          <a:p>
            <a:r>
              <a:rPr lang="en-US" b="1" dirty="0"/>
              <a:t>5. Challenges</a:t>
            </a:r>
          </a:p>
          <a:p>
            <a:r>
              <a:rPr lang="en-US" dirty="0"/>
              <a:t>Miscommunication between stakeholders and developers.</a:t>
            </a:r>
          </a:p>
          <a:p>
            <a:r>
              <a:rPr lang="en-US" dirty="0"/>
              <a:t>Changing requirements (“scope creep”).</a:t>
            </a:r>
          </a:p>
          <a:p>
            <a:r>
              <a:rPr lang="en-US" dirty="0"/>
              <a:t>Ambiguous or incomplete requirements.</a:t>
            </a:r>
          </a:p>
          <a:p>
            <a:r>
              <a:rPr lang="en-US" b="1" dirty="0"/>
              <a:t>6. Example for Class</a:t>
            </a:r>
          </a:p>
          <a:p>
            <a:r>
              <a:rPr lang="en-US" dirty="0"/>
              <a:t>If building a </a:t>
            </a:r>
            <a:r>
              <a:rPr lang="en-US" b="1" dirty="0"/>
              <a:t>School Management System</a:t>
            </a:r>
            <a:r>
              <a:rPr lang="en-US" dirty="0"/>
              <a:t>:</a:t>
            </a:r>
          </a:p>
          <a:p>
            <a:pPr lvl="1"/>
            <a:r>
              <a:rPr lang="en-US" b="1" dirty="0"/>
              <a:t>Functional:</a:t>
            </a:r>
            <a:r>
              <a:rPr lang="en-US" dirty="0"/>
              <a:t> Student can view timetable, teacher can mark attendance.</a:t>
            </a:r>
          </a:p>
          <a:p>
            <a:pPr lvl="1"/>
            <a:r>
              <a:rPr lang="en-US" b="1" dirty="0"/>
              <a:t>Non-Functional:</a:t>
            </a:r>
            <a:r>
              <a:rPr lang="en-US" dirty="0"/>
              <a:t> System should load a page within 2 seconds.</a:t>
            </a:r>
          </a:p>
          <a:p>
            <a:r>
              <a:rPr lang="en-US" dirty="0"/>
              <a:t>💡 </a:t>
            </a:r>
            <a:r>
              <a:rPr lang="en-US" b="1" dirty="0"/>
              <a:t>Interactive Activity for Students:</a:t>
            </a:r>
            <a:endParaRPr lang="en-US" dirty="0"/>
          </a:p>
          <a:p>
            <a:r>
              <a:rPr lang="en-US" b="1" dirty="0"/>
              <a:t>list 2 functional and 2 non-functional requirements</a:t>
            </a:r>
            <a:r>
              <a:rPr lang="en-US" dirty="0"/>
              <a:t> for a student learning portal.</a:t>
            </a:r>
          </a:p>
          <a:p>
            <a:r>
              <a:rPr lang="en-US" dirty="0"/>
              <a:t>Discuss which ones might be harder to implement and why.</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5</a:t>
            </a:fld>
            <a:endParaRPr lang="en-US"/>
          </a:p>
        </p:txBody>
      </p:sp>
    </p:spTree>
    <p:extLst>
      <p:ext uri="{BB962C8B-B14F-4D97-AF65-F5344CB8AC3E}">
        <p14:creationId xmlns:p14="http://schemas.microsoft.com/office/powerpoint/2010/main" val="20099723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System Design – Detailed Explanation</a:t>
            </a:r>
          </a:p>
          <a:p>
            <a:r>
              <a:rPr lang="en-US" b="1" dirty="0"/>
              <a:t>1. High-Level Design (HLD)</a:t>
            </a:r>
          </a:p>
          <a:p>
            <a:r>
              <a:rPr lang="en-US" b="1" dirty="0"/>
              <a:t>Definition:</a:t>
            </a:r>
            <a:r>
              <a:rPr lang="en-US" dirty="0"/>
              <a:t> Blueprint of the overall system, focusing on </a:t>
            </a:r>
            <a:r>
              <a:rPr lang="en-US" b="1" dirty="0"/>
              <a:t>architecture and components</a:t>
            </a:r>
            <a:r>
              <a:rPr lang="en-US" dirty="0"/>
              <a:t>.</a:t>
            </a:r>
          </a:p>
          <a:p>
            <a:r>
              <a:rPr lang="en-US" b="1" dirty="0"/>
              <a:t>Key Aspects:</a:t>
            </a:r>
            <a:endParaRPr lang="en-US" dirty="0"/>
          </a:p>
          <a:p>
            <a:pPr lvl="1"/>
            <a:r>
              <a:rPr lang="en-US" dirty="0"/>
              <a:t>System architecture (e.g., client-server, </a:t>
            </a:r>
            <a:r>
              <a:rPr lang="en-US" dirty="0" err="1"/>
              <a:t>microservices</a:t>
            </a:r>
            <a:r>
              <a:rPr lang="en-US" dirty="0"/>
              <a:t>, layered architecture).</a:t>
            </a:r>
          </a:p>
          <a:p>
            <a:pPr lvl="1"/>
            <a:r>
              <a:rPr lang="en-US" dirty="0"/>
              <a:t>Division of system into </a:t>
            </a:r>
            <a:r>
              <a:rPr lang="en-US" b="1" dirty="0"/>
              <a:t>modules</a:t>
            </a:r>
            <a:r>
              <a:rPr lang="en-US" dirty="0"/>
              <a:t> or subsystems.</a:t>
            </a:r>
          </a:p>
          <a:p>
            <a:pPr lvl="1"/>
            <a:r>
              <a:rPr lang="en-US" dirty="0"/>
              <a:t>Data flow between major components.</a:t>
            </a:r>
          </a:p>
          <a:p>
            <a:pPr lvl="1"/>
            <a:r>
              <a:rPr lang="en-US" dirty="0"/>
              <a:t>Technology stack selection (e.g., Java, Python, databases, cloud).</a:t>
            </a:r>
          </a:p>
          <a:p>
            <a:r>
              <a:rPr lang="en-US" b="1" dirty="0"/>
              <a:t>Deliverables:</a:t>
            </a:r>
            <a:r>
              <a:rPr lang="en-US" dirty="0"/>
              <a:t> Architecture diagrams, module specifications.</a:t>
            </a:r>
          </a:p>
          <a:p>
            <a:r>
              <a:rPr lang="en-US" b="1" dirty="0"/>
              <a:t>Example:</a:t>
            </a:r>
            <a:r>
              <a:rPr lang="en-US" dirty="0"/>
              <a:t> For an e-commerce app → modules like User Management, Product Catalog, Payment Gateway, Order Tracking.</a:t>
            </a:r>
          </a:p>
          <a:p>
            <a:r>
              <a:rPr lang="en-US" b="1" dirty="0"/>
              <a:t>2. Low-Level Design (LLD)</a:t>
            </a:r>
          </a:p>
          <a:p>
            <a:r>
              <a:rPr lang="en-US" b="1" dirty="0"/>
              <a:t>Definition:</a:t>
            </a:r>
            <a:r>
              <a:rPr lang="en-US" dirty="0"/>
              <a:t> Detailed design at the component level, focusing on </a:t>
            </a:r>
            <a:r>
              <a:rPr lang="en-US" b="1" dirty="0"/>
              <a:t>internal logic</a:t>
            </a:r>
            <a:r>
              <a:rPr lang="en-US" dirty="0"/>
              <a:t>.</a:t>
            </a:r>
          </a:p>
          <a:p>
            <a:r>
              <a:rPr lang="en-US" b="1" dirty="0"/>
              <a:t>Key Aspects:</a:t>
            </a:r>
            <a:endParaRPr lang="en-US" dirty="0"/>
          </a:p>
          <a:p>
            <a:pPr lvl="1"/>
            <a:r>
              <a:rPr lang="en-US" dirty="0"/>
              <a:t>Class diagrams with attributes, methods, and relationships.</a:t>
            </a:r>
          </a:p>
          <a:p>
            <a:pPr lvl="1"/>
            <a:r>
              <a:rPr lang="en-US" dirty="0"/>
              <a:t>Database schema design (tables, keys, relationships).</a:t>
            </a:r>
          </a:p>
          <a:p>
            <a:pPr lvl="1"/>
            <a:r>
              <a:rPr lang="en-US" dirty="0"/>
              <a:t>API specifications (endpoints, inputs/outputs).</a:t>
            </a:r>
          </a:p>
          <a:p>
            <a:pPr lvl="1"/>
            <a:r>
              <a:rPr lang="en-US" dirty="0"/>
              <a:t>UI/UX layouts (wireframes, screen designs).</a:t>
            </a:r>
          </a:p>
          <a:p>
            <a:r>
              <a:rPr lang="en-US" b="1" dirty="0"/>
              <a:t>Deliverables:</a:t>
            </a:r>
            <a:r>
              <a:rPr lang="en-US" dirty="0"/>
              <a:t> Class diagrams, ER models, pseudocode, detailed design documents.</a:t>
            </a:r>
          </a:p>
          <a:p>
            <a:r>
              <a:rPr lang="en-US" b="1" dirty="0"/>
              <a:t>Example:</a:t>
            </a:r>
            <a:r>
              <a:rPr lang="en-US" dirty="0"/>
              <a:t> For "Login Module" → algorithm for authentication, database table structure for users, session management rules.</a:t>
            </a:r>
          </a:p>
          <a:p>
            <a:r>
              <a:rPr lang="en-US" b="1" dirty="0"/>
              <a:t>3. Tools for System Design</a:t>
            </a:r>
          </a:p>
          <a:p>
            <a:r>
              <a:rPr lang="en-US" b="1" dirty="0"/>
              <a:t>UML (Unified Modeling Language):</a:t>
            </a:r>
            <a:endParaRPr lang="en-US" dirty="0"/>
          </a:p>
          <a:p>
            <a:pPr lvl="1"/>
            <a:r>
              <a:rPr lang="en-US" dirty="0"/>
              <a:t>Use Case Diagram → shows user interactions.</a:t>
            </a:r>
          </a:p>
          <a:p>
            <a:pPr lvl="1"/>
            <a:r>
              <a:rPr lang="en-US" dirty="0"/>
              <a:t>Class Diagram → object-oriented design.</a:t>
            </a:r>
          </a:p>
          <a:p>
            <a:pPr lvl="1"/>
            <a:r>
              <a:rPr lang="en-US" dirty="0"/>
              <a:t>Sequence Diagram → flow of operations between components.</a:t>
            </a:r>
          </a:p>
          <a:p>
            <a:pPr lvl="1"/>
            <a:r>
              <a:rPr lang="en-US" dirty="0"/>
              <a:t>Activity Diagram → workflows.</a:t>
            </a:r>
          </a:p>
          <a:p>
            <a:r>
              <a:rPr lang="en-US" b="1" dirty="0"/>
              <a:t>ER (Entity-Relationship) Model:</a:t>
            </a:r>
            <a:endParaRPr lang="en-US" dirty="0"/>
          </a:p>
          <a:p>
            <a:pPr lvl="1"/>
            <a:r>
              <a:rPr lang="en-US" dirty="0"/>
              <a:t>Used for database design.</a:t>
            </a:r>
          </a:p>
          <a:p>
            <a:pPr lvl="1"/>
            <a:r>
              <a:rPr lang="en-US" dirty="0"/>
              <a:t>Entities, attributes, relationships (1:1, 1:N, M:N).</a:t>
            </a:r>
          </a:p>
          <a:p>
            <a:pPr lvl="1"/>
            <a:r>
              <a:rPr lang="en-US" dirty="0"/>
              <a:t>Ensures normalization and efficient database schema.</a:t>
            </a:r>
          </a:p>
          <a:p>
            <a:r>
              <a:rPr lang="en-US" dirty="0"/>
              <a:t>💡 </a:t>
            </a:r>
            <a:r>
              <a:rPr lang="en-US" b="1" dirty="0"/>
              <a:t>How to make it interactive in class:</a:t>
            </a:r>
            <a:endParaRPr lang="en-US" dirty="0"/>
          </a:p>
          <a:p>
            <a:r>
              <a:rPr lang="en-US" dirty="0"/>
              <a:t>Show students a </a:t>
            </a:r>
            <a:r>
              <a:rPr lang="en-US" b="1" dirty="0"/>
              <a:t>use case diagram</a:t>
            </a:r>
            <a:r>
              <a:rPr lang="en-US" dirty="0"/>
              <a:t> for a "Library Management System."</a:t>
            </a:r>
          </a:p>
          <a:p>
            <a:r>
              <a:rPr lang="en-US" dirty="0"/>
              <a:t>Ask: </a:t>
            </a:r>
            <a:r>
              <a:rPr lang="en-US" i="1" dirty="0"/>
              <a:t>“Which part belongs to HLD and which to LLD?”</a:t>
            </a:r>
            <a:endParaRPr lang="en-US" dirty="0"/>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6</a:t>
            </a:fld>
            <a:endParaRPr lang="en-US"/>
          </a:p>
        </p:txBody>
      </p:sp>
    </p:spTree>
    <p:extLst>
      <p:ext uri="{BB962C8B-B14F-4D97-AF65-F5344CB8AC3E}">
        <p14:creationId xmlns:p14="http://schemas.microsoft.com/office/powerpoint/2010/main" val="278129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a:t>
            </a:r>
          </a:p>
          <a:p>
            <a:r>
              <a:rPr lang="en-US" dirty="0"/>
              <a:t>The phase where </a:t>
            </a:r>
            <a:r>
              <a:rPr lang="en-US" b="1" dirty="0"/>
              <a:t>design is translated into source code</a:t>
            </a:r>
            <a:r>
              <a:rPr lang="en-US" dirty="0"/>
              <a:t> using programming languages, frameworks, and tools.</a:t>
            </a:r>
          </a:p>
          <a:p>
            <a:r>
              <a:rPr lang="en-US" dirty="0"/>
              <a:t>Goal: Deliver </a:t>
            </a:r>
            <a:r>
              <a:rPr lang="en-US" b="1" dirty="0"/>
              <a:t>working software modules</a:t>
            </a:r>
            <a:r>
              <a:rPr lang="en-US" dirty="0"/>
              <a:t> that meet the design and requirements.</a:t>
            </a:r>
          </a:p>
          <a:p>
            <a:r>
              <a:rPr lang="en-US" b="1" dirty="0"/>
              <a:t>2. Key Activities</a:t>
            </a:r>
          </a:p>
          <a:p>
            <a:r>
              <a:rPr lang="en-US" b="1" dirty="0"/>
              <a:t>Coding:</a:t>
            </a:r>
            <a:r>
              <a:rPr lang="en-US" dirty="0"/>
              <a:t> Writing programs for each module/component.</a:t>
            </a:r>
          </a:p>
          <a:p>
            <a:r>
              <a:rPr lang="en-US" b="1" dirty="0"/>
              <a:t>Code Review:</a:t>
            </a:r>
            <a:r>
              <a:rPr lang="en-US" dirty="0"/>
              <a:t> Peer review to maintain quality and consistency.</a:t>
            </a:r>
          </a:p>
          <a:p>
            <a:r>
              <a:rPr lang="en-US" b="1" dirty="0"/>
              <a:t>Integration:</a:t>
            </a:r>
            <a:r>
              <a:rPr lang="en-US" dirty="0"/>
              <a:t> Combine modules into a single system.</a:t>
            </a:r>
          </a:p>
          <a:p>
            <a:r>
              <a:rPr lang="en-US" b="1" dirty="0"/>
              <a:t>Unit Testing:</a:t>
            </a:r>
            <a:r>
              <a:rPr lang="en-US" dirty="0"/>
              <a:t> Test individual components during development.</a:t>
            </a:r>
          </a:p>
          <a:p>
            <a:r>
              <a:rPr lang="en-US" b="1" dirty="0"/>
              <a:t>Documentation:</a:t>
            </a:r>
            <a:r>
              <a:rPr lang="en-US" dirty="0"/>
              <a:t> Code comments, developer guides, and API documentation.</a:t>
            </a:r>
          </a:p>
          <a:p>
            <a:r>
              <a:rPr lang="en-US" b="1" dirty="0"/>
              <a:t>3. Best Practices</a:t>
            </a:r>
          </a:p>
          <a:p>
            <a:r>
              <a:rPr lang="en-US" dirty="0"/>
              <a:t>Follow </a:t>
            </a:r>
            <a:r>
              <a:rPr lang="en-US" b="1" dirty="0"/>
              <a:t>coding standards</a:t>
            </a:r>
            <a:r>
              <a:rPr lang="en-US" dirty="0"/>
              <a:t> (naming conventions, indentation, comments).</a:t>
            </a:r>
          </a:p>
          <a:p>
            <a:r>
              <a:rPr lang="en-US" dirty="0"/>
              <a:t>Use </a:t>
            </a:r>
            <a:r>
              <a:rPr lang="en-US" b="1" dirty="0"/>
              <a:t>version control</a:t>
            </a:r>
            <a:r>
              <a:rPr lang="en-US" dirty="0"/>
              <a:t> (</a:t>
            </a:r>
            <a:r>
              <a:rPr lang="en-US" dirty="0" err="1"/>
              <a:t>Git</a:t>
            </a:r>
            <a:r>
              <a:rPr lang="en-US" dirty="0"/>
              <a:t>, GitHub, </a:t>
            </a:r>
            <a:r>
              <a:rPr lang="en-US" dirty="0" err="1"/>
              <a:t>GitLab</a:t>
            </a:r>
            <a:r>
              <a:rPr lang="en-US" dirty="0"/>
              <a:t>).</a:t>
            </a:r>
          </a:p>
          <a:p>
            <a:r>
              <a:rPr lang="en-US" dirty="0"/>
              <a:t>Apply </a:t>
            </a:r>
            <a:r>
              <a:rPr lang="en-US" b="1" dirty="0"/>
              <a:t>modularity</a:t>
            </a:r>
            <a:r>
              <a:rPr lang="en-US" dirty="0"/>
              <a:t> → break system into manageable components.</a:t>
            </a:r>
          </a:p>
          <a:p>
            <a:r>
              <a:rPr lang="en-US" dirty="0"/>
              <a:t>Continuous Integration (CI) → automatically test and build software.</a:t>
            </a:r>
          </a:p>
          <a:p>
            <a:r>
              <a:rPr lang="en-US" dirty="0"/>
              <a:t>Ensure </a:t>
            </a:r>
            <a:r>
              <a:rPr lang="en-US" b="1" dirty="0"/>
              <a:t>error handling</a:t>
            </a:r>
            <a:r>
              <a:rPr lang="en-US" dirty="0"/>
              <a:t> and </a:t>
            </a:r>
            <a:r>
              <a:rPr lang="en-US" b="1" dirty="0"/>
              <a:t>exception management</a:t>
            </a:r>
            <a:r>
              <a:rPr lang="en-US" dirty="0"/>
              <a:t>.</a:t>
            </a:r>
            <a:r>
              <a:rPr lang="en-US" b="1" dirty="0"/>
              <a:t> CI/CD</a:t>
            </a:r>
            <a:r>
              <a:rPr lang="en-US" dirty="0"/>
              <a:t> stands for </a:t>
            </a:r>
            <a:r>
              <a:rPr lang="en-US" b="1" dirty="0"/>
              <a:t>Continuous Integration / Continuous Delivery (or Deployment)</a:t>
            </a:r>
            <a:r>
              <a:rPr lang="en-US" dirty="0"/>
              <a:t>.</a:t>
            </a:r>
          </a:p>
          <a:p>
            <a:r>
              <a:rPr lang="en-US" b="1" dirty="0"/>
              <a:t>4. Tools &amp; Technologies</a:t>
            </a:r>
          </a:p>
          <a:p>
            <a:r>
              <a:rPr lang="en-US" b="1" dirty="0"/>
              <a:t>Programming Languages:</a:t>
            </a:r>
            <a:r>
              <a:rPr lang="en-US" dirty="0"/>
              <a:t> Java, Python, C#, JavaScript, etc.</a:t>
            </a:r>
          </a:p>
          <a:p>
            <a:r>
              <a:rPr lang="en-US" b="1" dirty="0"/>
              <a:t>IDEs:</a:t>
            </a:r>
            <a:r>
              <a:rPr lang="en-US" dirty="0"/>
              <a:t> IntelliJ, Eclipse, VS Code, </a:t>
            </a:r>
            <a:r>
              <a:rPr lang="en-US" dirty="0" err="1"/>
              <a:t>PyCharm</a:t>
            </a:r>
            <a:r>
              <a:rPr lang="en-US" dirty="0"/>
              <a:t>.</a:t>
            </a:r>
          </a:p>
          <a:p>
            <a:r>
              <a:rPr lang="en-US" b="1" dirty="0"/>
              <a:t>Version Control:</a:t>
            </a:r>
            <a:r>
              <a:rPr lang="en-US" dirty="0"/>
              <a:t> </a:t>
            </a:r>
            <a:r>
              <a:rPr lang="en-US" dirty="0" err="1"/>
              <a:t>Git</a:t>
            </a:r>
            <a:r>
              <a:rPr lang="en-US" dirty="0"/>
              <a:t>, SVN.</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CI/CD Pipelines:</a:t>
            </a:r>
            <a:r>
              <a:rPr lang="en-US" dirty="0"/>
              <a:t> Jenkins, GitHub Actions, </a:t>
            </a:r>
            <a:r>
              <a:rPr lang="en-US" dirty="0" err="1"/>
              <a:t>GitLab</a:t>
            </a:r>
            <a:r>
              <a:rPr lang="en-US" dirty="0"/>
              <a:t> CI.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It’s a set of practices in software development that </a:t>
            </a:r>
            <a:r>
              <a:rPr lang="en-US" b="1" dirty="0"/>
              <a:t>automates building, testing, and releasing code</a:t>
            </a:r>
            <a:r>
              <a:rPr lang="en-US" dirty="0"/>
              <a:t> so teams can deliver updates faster and with fewer bugs.</a:t>
            </a:r>
          </a:p>
          <a:p>
            <a:endParaRPr lang="en-US" dirty="0"/>
          </a:p>
          <a:p>
            <a:r>
              <a:rPr lang="en-US" b="1" dirty="0"/>
              <a:t>Build Tools:</a:t>
            </a:r>
            <a:r>
              <a:rPr lang="en-US" dirty="0"/>
              <a:t> Maven, </a:t>
            </a:r>
            <a:r>
              <a:rPr lang="en-US" dirty="0" err="1"/>
              <a:t>Gradle</a:t>
            </a:r>
            <a:r>
              <a:rPr lang="en-US" dirty="0"/>
              <a:t>, </a:t>
            </a:r>
            <a:r>
              <a:rPr lang="en-US" dirty="0" err="1"/>
              <a:t>npm</a:t>
            </a:r>
            <a:r>
              <a:rPr lang="en-US" dirty="0"/>
              <a:t>.</a:t>
            </a:r>
          </a:p>
          <a:p>
            <a:r>
              <a:rPr lang="en-US" b="1" dirty="0"/>
              <a:t>5. Deliverables</a:t>
            </a:r>
          </a:p>
          <a:p>
            <a:r>
              <a:rPr lang="en-US" dirty="0"/>
              <a:t>Source code for each module.</a:t>
            </a:r>
          </a:p>
          <a:p>
            <a:r>
              <a:rPr lang="en-US" dirty="0"/>
              <a:t>Executable files (after compilation/build).</a:t>
            </a:r>
          </a:p>
          <a:p>
            <a:r>
              <a:rPr lang="en-US" dirty="0"/>
              <a:t>Unit test results.</a:t>
            </a:r>
          </a:p>
          <a:p>
            <a:r>
              <a:rPr lang="en-US" dirty="0"/>
              <a:t>Developer documentation.</a:t>
            </a:r>
          </a:p>
          <a:p>
            <a:r>
              <a:rPr lang="en-US" b="1" dirty="0"/>
              <a:t>6. Example for Class</a:t>
            </a:r>
          </a:p>
          <a:p>
            <a:r>
              <a:rPr lang="en-US" b="1" dirty="0"/>
              <a:t>E-commerce App “Checkout Module”</a:t>
            </a:r>
            <a:r>
              <a:rPr lang="en-US" dirty="0"/>
              <a:t>:</a:t>
            </a:r>
          </a:p>
          <a:p>
            <a:pPr lvl="1"/>
            <a:r>
              <a:rPr lang="en-US" dirty="0"/>
              <a:t>Code for calculating total price.</a:t>
            </a:r>
          </a:p>
          <a:p>
            <a:pPr lvl="1"/>
            <a:r>
              <a:rPr lang="en-US" dirty="0"/>
              <a:t>Integration with Payment Gateway API.</a:t>
            </a:r>
          </a:p>
          <a:p>
            <a:pPr lvl="1"/>
            <a:r>
              <a:rPr lang="en-US" dirty="0"/>
              <a:t>Unit test for verifying discount logic.</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Activity: Role-play coder vs tester to show unclear design errors.</a:t>
            </a:r>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7</a:t>
            </a:fld>
            <a:endParaRPr lang="en-US"/>
          </a:p>
        </p:txBody>
      </p:sp>
    </p:spTree>
    <p:extLst>
      <p:ext uri="{BB962C8B-B14F-4D97-AF65-F5344CB8AC3E}">
        <p14:creationId xmlns:p14="http://schemas.microsoft.com/office/powerpoint/2010/main" val="34743340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r>
              <a:rPr lang="en-US" dirty="0"/>
              <a:t> Ensure the software works as intended, meets requirements, and is free of major defects.</a:t>
            </a:r>
          </a:p>
          <a:p>
            <a:r>
              <a:rPr lang="en-US" b="1" dirty="0"/>
              <a:t>1. Levels of Testing</a:t>
            </a:r>
          </a:p>
          <a:p>
            <a:r>
              <a:rPr lang="en-US" b="1" dirty="0"/>
              <a:t>Unit Testing</a:t>
            </a:r>
            <a:endParaRPr lang="en-US" dirty="0"/>
          </a:p>
          <a:p>
            <a:pPr lvl="1"/>
            <a:r>
              <a:rPr lang="en-US" dirty="0"/>
              <a:t>Tests </a:t>
            </a:r>
            <a:r>
              <a:rPr lang="en-US" b="1" dirty="0"/>
              <a:t>individual components</a:t>
            </a:r>
            <a:r>
              <a:rPr lang="en-US" dirty="0"/>
              <a:t> (functions, classes, modules).</a:t>
            </a:r>
          </a:p>
          <a:p>
            <a:pPr lvl="1"/>
            <a:r>
              <a:rPr lang="en-US" dirty="0"/>
              <a:t>Example: Checkout module → “</a:t>
            </a:r>
            <a:r>
              <a:rPr lang="en-US" dirty="0" err="1"/>
              <a:t>ApplyDiscount</a:t>
            </a:r>
            <a:r>
              <a:rPr lang="en-US" dirty="0"/>
              <a:t>()” function tested separately.</a:t>
            </a:r>
          </a:p>
          <a:p>
            <a:r>
              <a:rPr lang="en-US" b="1" dirty="0"/>
              <a:t>Integration Testing</a:t>
            </a:r>
            <a:endParaRPr lang="en-US" dirty="0"/>
          </a:p>
          <a:p>
            <a:pPr lvl="1"/>
            <a:r>
              <a:rPr lang="en-US" dirty="0"/>
              <a:t>Tests </a:t>
            </a:r>
            <a:r>
              <a:rPr lang="en-US" b="1" dirty="0"/>
              <a:t>interaction between modules</a:t>
            </a:r>
            <a:r>
              <a:rPr lang="en-US" dirty="0"/>
              <a:t>.</a:t>
            </a:r>
          </a:p>
          <a:p>
            <a:pPr lvl="1"/>
            <a:r>
              <a:rPr lang="en-US" dirty="0"/>
              <a:t>Example: Checkout + Payment Gateway work correctly together.</a:t>
            </a:r>
          </a:p>
          <a:p>
            <a:r>
              <a:rPr lang="en-US" b="1" dirty="0"/>
              <a:t>System Testing</a:t>
            </a:r>
            <a:endParaRPr lang="en-US" dirty="0"/>
          </a:p>
          <a:p>
            <a:pPr lvl="1"/>
            <a:r>
              <a:rPr lang="en-US" dirty="0"/>
              <a:t>Tests the </a:t>
            </a:r>
            <a:r>
              <a:rPr lang="en-US" b="1" dirty="0"/>
              <a:t>entire application as a whole</a:t>
            </a:r>
            <a:r>
              <a:rPr lang="en-US" dirty="0"/>
              <a:t>.</a:t>
            </a:r>
          </a:p>
          <a:p>
            <a:pPr lvl="1"/>
            <a:r>
              <a:rPr lang="en-US" dirty="0"/>
              <a:t>Example: Full e-commerce workflow → search → add to cart → checkout → payment.</a:t>
            </a:r>
          </a:p>
          <a:p>
            <a:r>
              <a:rPr lang="en-US" b="1" dirty="0"/>
              <a:t>Acceptance Testing (UAT)</a:t>
            </a:r>
            <a:endParaRPr lang="en-US" dirty="0"/>
          </a:p>
          <a:p>
            <a:pPr lvl="1"/>
            <a:r>
              <a:rPr lang="en-US" dirty="0"/>
              <a:t>Performed by </a:t>
            </a:r>
            <a:r>
              <a:rPr lang="en-US" b="1" dirty="0"/>
              <a:t>end-users or clients</a:t>
            </a:r>
            <a:r>
              <a:rPr lang="en-US" dirty="0"/>
              <a:t> to check if requirements are met.</a:t>
            </a:r>
          </a:p>
          <a:p>
            <a:pPr lvl="1"/>
            <a:r>
              <a:rPr lang="en-US" dirty="0"/>
              <a:t>Example: Customer verifies that the app correctly applies discount codes.</a:t>
            </a:r>
          </a:p>
          <a:p>
            <a:r>
              <a:rPr lang="en-US" b="1" dirty="0"/>
              <a:t>2. Types of Testing</a:t>
            </a:r>
          </a:p>
          <a:p>
            <a:r>
              <a:rPr lang="en-US" b="1" dirty="0"/>
              <a:t>Functional Testing:</a:t>
            </a:r>
            <a:r>
              <a:rPr lang="en-US" dirty="0"/>
              <a:t> Validates features (login, checkout).</a:t>
            </a:r>
          </a:p>
          <a:p>
            <a:r>
              <a:rPr lang="en-US" b="1" dirty="0"/>
              <a:t>Non-Functional Testing:</a:t>
            </a:r>
            <a:r>
              <a:rPr lang="en-US" dirty="0"/>
              <a:t> Checks </a:t>
            </a:r>
            <a:r>
              <a:rPr lang="en-US" b="1" dirty="0"/>
              <a:t>performance, security, usability</a:t>
            </a:r>
            <a:r>
              <a:rPr lang="en-US" dirty="0"/>
              <a:t>.</a:t>
            </a:r>
          </a:p>
          <a:p>
            <a:r>
              <a:rPr lang="en-US" b="1" dirty="0"/>
              <a:t>Regression Testing:</a:t>
            </a:r>
            <a:r>
              <a:rPr lang="en-US" dirty="0"/>
              <a:t> Ensures new changes don’t break old features.</a:t>
            </a:r>
          </a:p>
          <a:p>
            <a:r>
              <a:rPr lang="en-US" b="1" dirty="0"/>
              <a:t>Smoke Testing:</a:t>
            </a:r>
            <a:r>
              <a:rPr lang="en-US" dirty="0"/>
              <a:t> Quick test to see if the build is stable enough for further testing.</a:t>
            </a:r>
          </a:p>
          <a:p>
            <a:r>
              <a:rPr lang="en-US" b="1" dirty="0"/>
              <a:t>3. Example for Students</a:t>
            </a:r>
          </a:p>
          <a:p>
            <a:r>
              <a:rPr lang="en-US" dirty="0"/>
              <a:t>👉 </a:t>
            </a:r>
            <a:r>
              <a:rPr lang="en-US" i="1" dirty="0"/>
              <a:t>E-commerce Checkout Module</a:t>
            </a:r>
            <a:endParaRPr lang="en-US" dirty="0"/>
          </a:p>
          <a:p>
            <a:r>
              <a:rPr lang="en-US" dirty="0"/>
              <a:t>Unit test: Verify discount logic.</a:t>
            </a:r>
          </a:p>
          <a:p>
            <a:r>
              <a:rPr lang="en-US" dirty="0"/>
              <a:t>Integration test: Payment Gateway API processes correct amount.</a:t>
            </a:r>
          </a:p>
          <a:p>
            <a:r>
              <a:rPr lang="en-US" dirty="0"/>
              <a:t>System test: Place an order end-to-end.</a:t>
            </a:r>
          </a:p>
          <a:p>
            <a:r>
              <a:rPr lang="en-US" dirty="0"/>
              <a:t>Acceptance test: Client checks if UI and workflow match requirements.</a:t>
            </a:r>
          </a:p>
          <a:p>
            <a:r>
              <a:rPr lang="en-US" b="1" dirty="0"/>
              <a:t>4. Tools for Testing</a:t>
            </a:r>
          </a:p>
          <a:p>
            <a:r>
              <a:rPr lang="en-US" b="1" dirty="0"/>
              <a:t>JUnit, </a:t>
            </a:r>
            <a:r>
              <a:rPr lang="en-US" b="1" dirty="0" err="1"/>
              <a:t>NUnit</a:t>
            </a:r>
            <a:r>
              <a:rPr lang="en-US" dirty="0"/>
              <a:t> → Unit testing</a:t>
            </a:r>
          </a:p>
          <a:p>
            <a:r>
              <a:rPr lang="en-US" b="1" dirty="0"/>
              <a:t>Selenium</a:t>
            </a:r>
            <a:r>
              <a:rPr lang="en-US" dirty="0"/>
              <a:t> → Automated UI testing</a:t>
            </a:r>
          </a:p>
          <a:p>
            <a:r>
              <a:rPr lang="en-US" b="1" dirty="0"/>
              <a:t>Postman</a:t>
            </a:r>
            <a:r>
              <a:rPr lang="en-US" dirty="0"/>
              <a:t> → API testing</a:t>
            </a:r>
          </a:p>
          <a:p>
            <a:r>
              <a:rPr lang="en-US" b="1" dirty="0" err="1"/>
              <a:t>JMeter</a:t>
            </a:r>
            <a:r>
              <a:rPr lang="en-US" dirty="0"/>
              <a:t> → Performance testing</a:t>
            </a:r>
          </a:p>
          <a:p>
            <a:r>
              <a:rPr lang="en-US" dirty="0"/>
              <a:t>💡 </a:t>
            </a:r>
            <a:r>
              <a:rPr lang="en-US" b="1" dirty="0"/>
              <a:t>Class Activity Question:</a:t>
            </a:r>
            <a:r>
              <a:rPr lang="en-US" dirty="0"/>
              <a:t/>
            </a:r>
            <a:br>
              <a:rPr lang="en-US" dirty="0"/>
            </a:br>
            <a:r>
              <a:rPr lang="en-US" i="1" dirty="0"/>
              <a:t>“If a bug is found during system testing, should it be fixed immediately, or logged and prioritized? Why?”</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Interactive Poll: Release early with bugs or late but stable?</a:t>
            </a:r>
          </a:p>
          <a:p>
            <a:endParaRPr lang="en-US" dirty="0"/>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8</a:t>
            </a:fld>
            <a:endParaRPr lang="en-US"/>
          </a:p>
        </p:txBody>
      </p:sp>
    </p:spTree>
    <p:extLst>
      <p:ext uri="{BB962C8B-B14F-4D97-AF65-F5344CB8AC3E}">
        <p14:creationId xmlns:p14="http://schemas.microsoft.com/office/powerpoint/2010/main" val="32782904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 A: Release Early (with some bugs)</a:t>
            </a:r>
          </a:p>
          <a:p>
            <a:r>
              <a:rPr lang="en-US" dirty="0"/>
              <a:t>✅ Users get new features quickly.</a:t>
            </a:r>
          </a:p>
          <a:p>
            <a:r>
              <a:rPr lang="en-US" dirty="0"/>
              <a:t>✅ Faster market feedback.</a:t>
            </a:r>
          </a:p>
          <a:p>
            <a:r>
              <a:rPr lang="en-US" dirty="0"/>
              <a:t>❌ Risk of damaging reputation.</a:t>
            </a:r>
          </a:p>
          <a:p>
            <a:r>
              <a:rPr lang="en-US" dirty="0"/>
              <a:t>❌ More maintenance patches later.</a:t>
            </a:r>
          </a:p>
          <a:p>
            <a:r>
              <a:rPr lang="en-US" b="1" dirty="0"/>
              <a:t>Option B: Release Late (stable)</a:t>
            </a:r>
          </a:p>
          <a:p>
            <a:r>
              <a:rPr lang="en-US" dirty="0"/>
              <a:t>✅ Higher quality, fewer bugs.</a:t>
            </a:r>
          </a:p>
          <a:p>
            <a:r>
              <a:rPr lang="en-US" dirty="0"/>
              <a:t>✅ Builds trust with customers.</a:t>
            </a:r>
          </a:p>
          <a:p>
            <a:r>
              <a:rPr lang="en-US" dirty="0"/>
              <a:t>❌ Slower time-to-market.</a:t>
            </a:r>
          </a:p>
          <a:p>
            <a:r>
              <a:rPr lang="en-US" dirty="0"/>
              <a:t>❌ May miss competitive opportunities.</a:t>
            </a:r>
          </a:p>
          <a:p>
            <a:endParaRPr lang="en-US" dirty="0"/>
          </a:p>
          <a:p>
            <a:r>
              <a:rPr lang="en-US" dirty="0"/>
              <a:t>Conclude with:</a:t>
            </a:r>
          </a:p>
          <a:p>
            <a:pPr lvl="1"/>
            <a:r>
              <a:rPr lang="en-US" i="1" dirty="0"/>
              <a:t>Agile companies (like Facebook, Google) often release early and patch later.</a:t>
            </a:r>
            <a:endParaRPr lang="en-US" dirty="0"/>
          </a:p>
          <a:p>
            <a:pPr lvl="1"/>
            <a:r>
              <a:rPr lang="en-US" i="1" dirty="0"/>
              <a:t>Critical systems (like banking, medical software) must release stable.</a:t>
            </a:r>
            <a:endParaRPr lang="en-US" dirty="0"/>
          </a:p>
          <a:p>
            <a:r>
              <a:rPr lang="en-US" dirty="0"/>
              <a:t>💡 </a:t>
            </a:r>
            <a:r>
              <a:rPr lang="en-US" b="1" dirty="0"/>
              <a:t>Teacher Tip:</a:t>
            </a:r>
            <a:r>
              <a:rPr lang="en-US" dirty="0"/>
              <a:t> Tie this back to </a:t>
            </a:r>
            <a:r>
              <a:rPr lang="en-US" b="1" dirty="0"/>
              <a:t>CI/CD Pipelines</a:t>
            </a:r>
            <a:r>
              <a:rPr lang="en-US" dirty="0"/>
              <a:t> → companies can release early </a:t>
            </a:r>
            <a:r>
              <a:rPr lang="en-US" b="1" dirty="0"/>
              <a:t>because pipelines ensure bugs are caught and patched quickly</a:t>
            </a:r>
            <a:r>
              <a:rPr lang="en-US" dirty="0"/>
              <a:t>.</a:t>
            </a:r>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9</a:t>
            </a:fld>
            <a:endParaRPr lang="en-US"/>
          </a:p>
        </p:txBody>
      </p:sp>
    </p:spTree>
    <p:extLst>
      <p:ext uri="{BB962C8B-B14F-4D97-AF65-F5344CB8AC3E}">
        <p14:creationId xmlns:p14="http://schemas.microsoft.com/office/powerpoint/2010/main" val="39155017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Core Idea</a:t>
            </a:r>
          </a:p>
          <a:p>
            <a:r>
              <a:rPr lang="en-US" dirty="0"/>
              <a:t>Deployment is the process of </a:t>
            </a:r>
            <a:r>
              <a:rPr lang="en-US" b="1" dirty="0"/>
              <a:t>releasing the developed and tested software into the production environment</a:t>
            </a:r>
            <a:r>
              <a:rPr lang="en-US" dirty="0"/>
              <a:t> so end-users can use it.</a:t>
            </a:r>
          </a:p>
          <a:p>
            <a:r>
              <a:rPr lang="en-US" b="1" dirty="0"/>
              <a:t>Key Points to Explain</a:t>
            </a:r>
          </a:p>
          <a:p>
            <a:r>
              <a:rPr lang="en-US" b="1" dirty="0"/>
              <a:t>Definition:</a:t>
            </a:r>
            <a:endParaRPr lang="en-US" dirty="0"/>
          </a:p>
          <a:p>
            <a:pPr lvl="1"/>
            <a:r>
              <a:rPr lang="en-US" dirty="0"/>
              <a:t>Deployment = delivering the software to actual users.</a:t>
            </a:r>
          </a:p>
          <a:p>
            <a:pPr lvl="1"/>
            <a:r>
              <a:rPr lang="en-US" dirty="0"/>
              <a:t>Involves setup, configuration, data migration, and training.</a:t>
            </a:r>
          </a:p>
          <a:p>
            <a:r>
              <a:rPr lang="en-US" b="1" dirty="0"/>
              <a:t>Strategies for Deployment:</a:t>
            </a:r>
            <a:endParaRPr lang="en-US" dirty="0"/>
          </a:p>
          <a:p>
            <a:pPr lvl="1"/>
            <a:r>
              <a:rPr lang="en-US" b="1" dirty="0"/>
              <a:t>Direct Cutover (Big Bang):</a:t>
            </a:r>
            <a:endParaRPr lang="en-US" dirty="0"/>
          </a:p>
          <a:p>
            <a:pPr lvl="2"/>
            <a:r>
              <a:rPr lang="en-US" dirty="0"/>
              <a:t>Old system is stopped, new system is started immediately.</a:t>
            </a:r>
          </a:p>
          <a:p>
            <a:pPr lvl="2"/>
            <a:r>
              <a:rPr lang="en-US" i="1" dirty="0"/>
              <a:t>Advantage:</a:t>
            </a:r>
            <a:r>
              <a:rPr lang="en-US" dirty="0"/>
              <a:t> Quick and simple.</a:t>
            </a:r>
          </a:p>
          <a:p>
            <a:pPr lvl="2"/>
            <a:r>
              <a:rPr lang="en-US" i="1" dirty="0"/>
              <a:t>Disadvantage:</a:t>
            </a:r>
            <a:r>
              <a:rPr lang="en-US" dirty="0"/>
              <a:t> High risk – if it fails, no backup.</a:t>
            </a:r>
          </a:p>
          <a:p>
            <a:pPr lvl="1"/>
            <a:r>
              <a:rPr lang="en-US" b="1" dirty="0"/>
              <a:t>Parallel Running:</a:t>
            </a:r>
            <a:endParaRPr lang="en-US" dirty="0"/>
          </a:p>
          <a:p>
            <a:pPr lvl="2"/>
            <a:r>
              <a:rPr lang="en-US" dirty="0"/>
              <a:t>Old and new systems run together for some time.</a:t>
            </a:r>
          </a:p>
          <a:p>
            <a:pPr lvl="2"/>
            <a:r>
              <a:rPr lang="en-US" i="1" dirty="0"/>
              <a:t>Advantage:</a:t>
            </a:r>
            <a:r>
              <a:rPr lang="en-US" dirty="0"/>
              <a:t> Safe, easy to compare results.</a:t>
            </a:r>
          </a:p>
          <a:p>
            <a:pPr lvl="2"/>
            <a:r>
              <a:rPr lang="en-US" i="1" dirty="0"/>
              <a:t>Disadvantage:</a:t>
            </a:r>
            <a:r>
              <a:rPr lang="en-US" dirty="0"/>
              <a:t> Expensive, time-consuming.</a:t>
            </a:r>
          </a:p>
          <a:p>
            <a:pPr lvl="1"/>
            <a:r>
              <a:rPr lang="en-US" b="1" dirty="0"/>
              <a:t>Phased Rollout:</a:t>
            </a:r>
            <a:endParaRPr lang="en-US" dirty="0"/>
          </a:p>
          <a:p>
            <a:pPr lvl="2"/>
            <a:r>
              <a:rPr lang="en-US" dirty="0"/>
              <a:t>New system is deployed in stages (e.g., one module or one branch at a time).</a:t>
            </a:r>
          </a:p>
          <a:p>
            <a:pPr lvl="2"/>
            <a:r>
              <a:rPr lang="en-US" i="1" dirty="0"/>
              <a:t>Advantage:</a:t>
            </a:r>
            <a:r>
              <a:rPr lang="en-US" dirty="0"/>
              <a:t> Lower risk, gradual adoption.</a:t>
            </a:r>
          </a:p>
          <a:p>
            <a:pPr lvl="2"/>
            <a:r>
              <a:rPr lang="en-US" i="1" dirty="0"/>
              <a:t>Disadvantage:</a:t>
            </a:r>
            <a:r>
              <a:rPr lang="en-US" dirty="0"/>
              <a:t> Longer implementation time.</a:t>
            </a:r>
          </a:p>
          <a:p>
            <a:r>
              <a:rPr lang="en-US" b="1" dirty="0"/>
              <a:t>Deliverables:</a:t>
            </a:r>
            <a:endParaRPr lang="en-US" dirty="0"/>
          </a:p>
          <a:p>
            <a:pPr lvl="1"/>
            <a:r>
              <a:rPr lang="en-US" dirty="0"/>
              <a:t>Installed software</a:t>
            </a:r>
          </a:p>
          <a:p>
            <a:pPr lvl="1"/>
            <a:r>
              <a:rPr lang="en-US" dirty="0"/>
              <a:t>User manuals</a:t>
            </a:r>
          </a:p>
          <a:p>
            <a:pPr lvl="1"/>
            <a:r>
              <a:rPr lang="en-US" dirty="0"/>
              <a:t>Training sessions</a:t>
            </a:r>
          </a:p>
          <a:p>
            <a:pPr lvl="1"/>
            <a:r>
              <a:rPr lang="en-US" dirty="0"/>
              <a:t>Post-deployment support plan</a:t>
            </a:r>
          </a:p>
          <a:p>
            <a:r>
              <a:rPr lang="en-US" b="1" dirty="0"/>
              <a:t>Interactive Activity for Students</a:t>
            </a:r>
          </a:p>
          <a:p>
            <a:r>
              <a:rPr lang="en-US" b="1" dirty="0"/>
              <a:t>Scenario Question:</a:t>
            </a:r>
            <a:endParaRPr lang="en-US" dirty="0"/>
          </a:p>
          <a:p>
            <a:pPr lvl="1"/>
            <a:r>
              <a:rPr lang="en-US" i="1" dirty="0"/>
              <a:t>“Imagine we are deploying a hospital management system. Which strategy would you choose and why?”</a:t>
            </a:r>
            <a:endParaRPr lang="en-US" dirty="0"/>
          </a:p>
          <a:p>
            <a:pPr lvl="1"/>
            <a:r>
              <a:rPr lang="en-US" dirty="0"/>
              <a:t>Students should weigh risks (critical system = patient safety) vs. cost/time.</a:t>
            </a:r>
          </a:p>
          <a:p>
            <a:r>
              <a:rPr lang="en-US" b="1" dirty="0"/>
              <a:t>Expected Responses:</a:t>
            </a:r>
            <a:endParaRPr lang="en-US" dirty="0"/>
          </a:p>
          <a:p>
            <a:pPr lvl="1"/>
            <a:r>
              <a:rPr lang="en-US" dirty="0"/>
              <a:t>Parallel running or phased rollout are safer than direct cutover.</a:t>
            </a:r>
          </a:p>
          <a:p>
            <a:r>
              <a:rPr lang="en-US" b="1" dirty="0"/>
              <a:t>Visual Suggestion for Slide 8</a:t>
            </a:r>
          </a:p>
          <a:p>
            <a:r>
              <a:rPr lang="en-US" dirty="0"/>
              <a:t>A comparison table of the three strategies with </a:t>
            </a:r>
            <a:r>
              <a:rPr lang="en-US" b="1" dirty="0"/>
              <a:t>pros &amp; cons</a:t>
            </a:r>
            <a:r>
              <a:rPr lang="en-US" dirty="0"/>
              <a:t>.</a:t>
            </a:r>
          </a:p>
          <a:p>
            <a:r>
              <a:rPr lang="en-US" dirty="0"/>
              <a:t>Or an infographic showing three paths branching from “Deployment.”</a:t>
            </a:r>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10</a:t>
            </a:fld>
            <a:endParaRPr lang="en-US"/>
          </a:p>
        </p:txBody>
      </p:sp>
    </p:spTree>
    <p:extLst>
      <p:ext uri="{BB962C8B-B14F-4D97-AF65-F5344CB8AC3E}">
        <p14:creationId xmlns:p14="http://schemas.microsoft.com/office/powerpoint/2010/main" val="32187038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Prompt: Which apps on your phone get frequent updates?</a:t>
            </a:r>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11</a:t>
            </a:fld>
            <a:endParaRPr lang="en-US"/>
          </a:p>
        </p:txBody>
      </p:sp>
    </p:spTree>
    <p:extLst>
      <p:ext uri="{BB962C8B-B14F-4D97-AF65-F5344CB8AC3E}">
        <p14:creationId xmlns:p14="http://schemas.microsoft.com/office/powerpoint/2010/main" val="24181708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Interactive Q: What if WhatsApp never updated after release?</a:t>
            </a:r>
          </a:p>
          <a:p>
            <a:r>
              <a:rPr lang="en-US" b="1" dirty="0"/>
              <a:t>Lehman’s Laws: “Systems adapt or die”</a:t>
            </a:r>
          </a:p>
          <a:p>
            <a:r>
              <a:rPr lang="en-US" b="1" dirty="0"/>
              <a:t>Core Idea:</a:t>
            </a:r>
          </a:p>
          <a:p>
            <a:r>
              <a:rPr lang="en-US" dirty="0"/>
              <a:t>Software is never “done.”</a:t>
            </a:r>
          </a:p>
          <a:p>
            <a:r>
              <a:rPr lang="en-US" dirty="0"/>
              <a:t>If it doesn’t evolve → it becomes obsolete.</a:t>
            </a:r>
          </a:p>
          <a:p>
            <a:r>
              <a:rPr lang="en-US" dirty="0"/>
              <a:t>Changing needs, hardware, users, and competition force software to adapt.</a:t>
            </a:r>
          </a:p>
          <a:p>
            <a:r>
              <a:rPr lang="en-US" b="1" dirty="0"/>
              <a:t>Examples for Class</a:t>
            </a:r>
          </a:p>
          <a:p>
            <a:r>
              <a:rPr lang="en-US" b="1" dirty="0"/>
              <a:t>Windows OS</a:t>
            </a:r>
            <a:endParaRPr lang="en-US" dirty="0"/>
          </a:p>
          <a:p>
            <a:pPr lvl="1"/>
            <a:r>
              <a:rPr lang="en-US" dirty="0"/>
              <a:t>Windows 95 → XP → 7 → 10 → 11.</a:t>
            </a:r>
          </a:p>
          <a:p>
            <a:pPr lvl="1"/>
            <a:r>
              <a:rPr lang="en-US" dirty="0"/>
              <a:t>Microsoft keeps updating because hardware, user needs, and security threats evolve.</a:t>
            </a:r>
          </a:p>
          <a:p>
            <a:pPr lvl="1"/>
            <a:r>
              <a:rPr lang="en-US" dirty="0"/>
              <a:t>If Windows stopped updating after XP, it would have “died” in the market.</a:t>
            </a:r>
          </a:p>
          <a:p>
            <a:r>
              <a:rPr lang="en-US" b="1" dirty="0"/>
              <a:t>WhatsApp</a:t>
            </a:r>
            <a:endParaRPr lang="en-US" dirty="0"/>
          </a:p>
          <a:p>
            <a:pPr lvl="1"/>
            <a:r>
              <a:rPr lang="en-US" dirty="0"/>
              <a:t>Started as simple messaging.</a:t>
            </a:r>
          </a:p>
          <a:p>
            <a:pPr lvl="1"/>
            <a:r>
              <a:rPr lang="en-US" dirty="0"/>
              <a:t>Evolved to voice calls, video calls, WhatsApp Web, disappearing messages, payments.</a:t>
            </a:r>
          </a:p>
          <a:p>
            <a:pPr lvl="1"/>
            <a:r>
              <a:rPr lang="en-US" dirty="0"/>
              <a:t>Without adapting, it would have lost users to Telegram or Signal.</a:t>
            </a:r>
          </a:p>
          <a:p>
            <a:r>
              <a:rPr lang="en-US" b="1" dirty="0"/>
              <a:t>Android Versions</a:t>
            </a:r>
            <a:endParaRPr lang="en-US" dirty="0"/>
          </a:p>
          <a:p>
            <a:pPr lvl="1"/>
            <a:r>
              <a:rPr lang="en-US" dirty="0"/>
              <a:t>Cupcake → KitKat → Lollipop → Oreo → Android 14+.</a:t>
            </a:r>
          </a:p>
          <a:p>
            <a:pPr lvl="1"/>
            <a:r>
              <a:rPr lang="en-US" dirty="0"/>
              <a:t>Each release adapts to new </a:t>
            </a:r>
            <a:r>
              <a:rPr lang="en-US" b="1" dirty="0"/>
              <a:t>mobile hardware</a:t>
            </a:r>
            <a:r>
              <a:rPr lang="en-US" dirty="0"/>
              <a:t> (foldable phones, 5G) and </a:t>
            </a:r>
            <a:r>
              <a:rPr lang="en-US" b="1" dirty="0"/>
              <a:t>security needs</a:t>
            </a:r>
            <a:r>
              <a:rPr lang="en-US" dirty="0"/>
              <a:t>.</a:t>
            </a:r>
          </a:p>
          <a:p>
            <a:pPr lvl="1"/>
            <a:r>
              <a:rPr lang="en-US" dirty="0"/>
              <a:t>If Android didn’t evolve, Apple iOS would dominate completely.</a:t>
            </a:r>
          </a:p>
          <a:p>
            <a:endParaRPr lang="en-US" dirty="0"/>
          </a:p>
          <a:p>
            <a:r>
              <a:rPr lang="en-US" b="1" dirty="0"/>
              <a:t>Interactive Question for Students</a:t>
            </a:r>
          </a:p>
          <a:p>
            <a:r>
              <a:rPr lang="en-US" dirty="0"/>
              <a:t>👉 </a:t>
            </a:r>
            <a:r>
              <a:rPr lang="en-US" i="1" dirty="0"/>
              <a:t>“Can you think of an app or system you stopped using because it didn’t evolve?”</a:t>
            </a:r>
            <a:r>
              <a:rPr lang="en-US" dirty="0"/>
              <a:t/>
            </a:r>
            <a:br>
              <a:rPr lang="en-US" dirty="0"/>
            </a:br>
            <a:r>
              <a:rPr lang="en-US" dirty="0"/>
              <a:t>(Expected answers: Orkut, Yahoo Messenger, Windows Phone, etc.)</a:t>
            </a:r>
          </a:p>
          <a:p>
            <a:endParaRPr lang="en-US" dirty="0"/>
          </a:p>
          <a:p>
            <a:r>
              <a:rPr lang="en-US" dirty="0"/>
              <a:t>💡 Teacher Tip: End with the takeaway —</a:t>
            </a:r>
            <a:br>
              <a:rPr lang="en-US" dirty="0"/>
            </a:br>
            <a:r>
              <a:rPr lang="en-US" b="1" dirty="0"/>
              <a:t>“Adaptation is survival in software. If a system doesn’t evolve, it dies.”</a:t>
            </a:r>
            <a:endParaRPr lang="en-US" dirty="0"/>
          </a:p>
          <a:p>
            <a:endParaRPr lang="en-US" dirty="0"/>
          </a:p>
        </p:txBody>
      </p:sp>
      <p:sp>
        <p:nvSpPr>
          <p:cNvPr id="4" name="Slide Number Placeholder 3"/>
          <p:cNvSpPr>
            <a:spLocks noGrp="1"/>
          </p:cNvSpPr>
          <p:nvPr>
            <p:ph type="sldNum" sz="quarter" idx="10"/>
          </p:nvPr>
        </p:nvSpPr>
        <p:spPr/>
        <p:txBody>
          <a:bodyPr/>
          <a:lstStyle/>
          <a:p>
            <a:fld id="{C3096683-B670-4675-AF97-D717048F569C}" type="slidenum">
              <a:rPr lang="en-US"/>
              <a:t>12</a:t>
            </a:fld>
            <a:endParaRPr lang="en-US"/>
          </a:p>
        </p:txBody>
      </p:sp>
    </p:spTree>
    <p:extLst>
      <p:ext uri="{BB962C8B-B14F-4D97-AF65-F5344CB8AC3E}">
        <p14:creationId xmlns:p14="http://schemas.microsoft.com/office/powerpoint/2010/main" val="34831279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40080" lvl="1" eaLnBrk="1" fontAlgn="auto" hangingPunct="1">
              <a:spcAft>
                <a:spcPts val="0"/>
              </a:spcAft>
              <a:defRPr/>
            </a:pPr>
            <a:r>
              <a:rPr lang="en-US" b="1" u="sng" dirty="0"/>
              <a:t>Normal requirements</a:t>
            </a:r>
            <a:r>
              <a:rPr lang="en-US" b="1" dirty="0"/>
              <a:t>: </a:t>
            </a:r>
            <a:r>
              <a:rPr lang="en-US" dirty="0"/>
              <a:t>These requirements are the objectives and goals stated for a product or system during meetings with the customer</a:t>
            </a:r>
          </a:p>
          <a:p>
            <a:pPr marL="640080" lvl="1" eaLnBrk="1" fontAlgn="auto" hangingPunct="1">
              <a:spcAft>
                <a:spcPts val="0"/>
              </a:spcAft>
              <a:defRPr/>
            </a:pPr>
            <a:r>
              <a:rPr lang="en-US" b="1" u="sng" dirty="0"/>
              <a:t>Expected requirements</a:t>
            </a:r>
            <a:r>
              <a:rPr lang="en-US" b="1" dirty="0"/>
              <a:t>:  </a:t>
            </a:r>
            <a:r>
              <a:rPr lang="en-US" dirty="0"/>
              <a:t>These requirements are understood to the product or system and may be so fundamental that the customer does not explicitly state them</a:t>
            </a:r>
          </a:p>
          <a:p>
            <a:pPr marL="640080" lvl="1" eaLnBrk="1" fontAlgn="auto" hangingPunct="1">
              <a:spcAft>
                <a:spcPts val="0"/>
              </a:spcAft>
              <a:defRPr/>
            </a:pPr>
            <a:r>
              <a:rPr lang="en-US" b="1" u="sng" dirty="0"/>
              <a:t>Exciting requirements</a:t>
            </a:r>
            <a:r>
              <a:rPr lang="en-US" b="1" dirty="0"/>
              <a:t>: </a:t>
            </a:r>
            <a:r>
              <a:rPr lang="en-US" dirty="0"/>
              <a:t>These requirements are for features that go beyond the customer's expectations and prove to be very satisfying when present</a:t>
            </a:r>
          </a:p>
          <a:p>
            <a:endParaRPr lang="en-US" dirty="0"/>
          </a:p>
        </p:txBody>
      </p:sp>
      <p:sp>
        <p:nvSpPr>
          <p:cNvPr id="4" name="Slide Number Placeholder 3"/>
          <p:cNvSpPr>
            <a:spLocks noGrp="1"/>
          </p:cNvSpPr>
          <p:nvPr>
            <p:ph type="sldNum" sz="quarter" idx="10"/>
          </p:nvPr>
        </p:nvSpPr>
        <p:spPr/>
        <p:txBody>
          <a:bodyPr/>
          <a:lstStyle/>
          <a:p>
            <a:fld id="{4518AAEC-A513-4871-A33D-6A7F45C0018F}" type="slidenum">
              <a:rPr lang="en-US"/>
              <a:t>4</a:t>
            </a:fld>
            <a:endParaRPr lang="en-US"/>
          </a:p>
        </p:txBody>
      </p:sp>
    </p:spTree>
    <p:extLst>
      <p:ext uri="{BB962C8B-B14F-4D97-AF65-F5344CB8AC3E}">
        <p14:creationId xmlns:p14="http://schemas.microsoft.com/office/powerpoint/2010/main" val="3575569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That’s a </a:t>
            </a:r>
            <a:r>
              <a:rPr lang="en-US" b="1" dirty="0"/>
              <a:t>Non-Functional Requirement (NFR)</a:t>
            </a:r>
            <a:r>
              <a:rPr lang="en-US" dirty="0"/>
              <a:t> — specifically a </a:t>
            </a:r>
            <a:r>
              <a:rPr lang="en-US" b="1" dirty="0"/>
              <a:t>Reliability / Availability</a:t>
            </a:r>
            <a:r>
              <a:rPr lang="en-US" dirty="0"/>
              <a:t> requirement.</a:t>
            </a:r>
          </a:p>
          <a:p>
            <a:r>
              <a:rPr lang="en-US" dirty="0"/>
              <a:t>It describes </a:t>
            </a:r>
            <a:r>
              <a:rPr lang="en-US" i="1" dirty="0"/>
              <a:t>how well</a:t>
            </a:r>
            <a:r>
              <a:rPr lang="en-US" dirty="0"/>
              <a:t> the system performs (uptime), not </a:t>
            </a:r>
            <a:r>
              <a:rPr lang="en-US" i="1" dirty="0"/>
              <a:t>what</a:t>
            </a:r>
            <a:r>
              <a:rPr lang="en-US" dirty="0"/>
              <a:t> it does.</a:t>
            </a:r>
          </a:p>
          <a:p>
            <a:endParaRPr lang="en-US" dirty="0"/>
          </a:p>
          <a:p>
            <a:endParaRPr lang="en-US" dirty="0"/>
          </a:p>
        </p:txBody>
      </p:sp>
      <p:sp>
        <p:nvSpPr>
          <p:cNvPr id="4" name="Slide Number Placeholder 3"/>
          <p:cNvSpPr>
            <a:spLocks noGrp="1"/>
          </p:cNvSpPr>
          <p:nvPr>
            <p:ph type="sldNum" sz="quarter" idx="10"/>
          </p:nvPr>
        </p:nvSpPr>
        <p:spPr/>
        <p:txBody>
          <a:bodyPr/>
          <a:lstStyle/>
          <a:p>
            <a:fld id="{4518AAEC-A513-4871-A33D-6A7F45C0018F}" type="slidenum">
              <a:rPr lang="en-US"/>
              <a:t>5</a:t>
            </a:fld>
            <a:endParaRPr lang="en-US"/>
          </a:p>
        </p:txBody>
      </p:sp>
    </p:spTree>
    <p:extLst>
      <p:ext uri="{BB962C8B-B14F-4D97-AF65-F5344CB8AC3E}">
        <p14:creationId xmlns:p14="http://schemas.microsoft.com/office/powerpoint/2010/main" val="6093472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 Objective:</a:t>
            </a:r>
          </a:p>
          <a:p>
            <a:r>
              <a:rPr lang="en-US" sz="1200" b="1" dirty="0"/>
              <a:t>Show how vague requirements can be clarified.</a:t>
            </a:r>
          </a:p>
          <a:p>
            <a:endParaRPr lang="en-US" dirty="0"/>
          </a:p>
          <a:p>
            <a:endParaRPr lang="en-US" dirty="0"/>
          </a:p>
          <a:p>
            <a:r>
              <a:rPr lang="en-US" dirty="0"/>
              <a:t>Why was the original requirement unclear?”</a:t>
            </a:r>
            <a:br>
              <a:rPr lang="en-US" dirty="0"/>
            </a:br>
            <a:r>
              <a:rPr lang="en-US" dirty="0"/>
              <a:t>“How did better questioning improve the requirement?”</a:t>
            </a:r>
            <a:endParaRPr lang="en-US" dirty="0"/>
          </a:p>
        </p:txBody>
      </p:sp>
      <p:sp>
        <p:nvSpPr>
          <p:cNvPr id="4" name="Slide Number Placeholder 3"/>
          <p:cNvSpPr>
            <a:spLocks noGrp="1"/>
          </p:cNvSpPr>
          <p:nvPr>
            <p:ph type="sldNum" sz="quarter" idx="10"/>
          </p:nvPr>
        </p:nvSpPr>
        <p:spPr/>
        <p:txBody>
          <a:bodyPr/>
          <a:lstStyle/>
          <a:p>
            <a:fld id="{4518AAEC-A513-4871-A33D-6A7F45C0018F}" type="slidenum">
              <a:rPr lang="en-US"/>
              <a:t>8</a:t>
            </a:fld>
            <a:endParaRPr lang="en-US"/>
          </a:p>
        </p:txBody>
      </p:sp>
    </p:spTree>
    <p:extLst>
      <p:ext uri="{BB962C8B-B14F-4D97-AF65-F5344CB8AC3E}">
        <p14:creationId xmlns:p14="http://schemas.microsoft.com/office/powerpoint/2010/main" val="17044528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Brainstorming</a:t>
            </a:r>
            <a:r>
              <a:rPr lang="en-US" dirty="0"/>
              <a:t> is another </a:t>
            </a:r>
            <a:r>
              <a:rPr lang="en-US" b="1" dirty="0"/>
              <a:t>requirement elicitation technique</a:t>
            </a:r>
            <a:r>
              <a:rPr lang="en-US" dirty="0"/>
              <a:t> used to generate a wide range of ideas or solutions in a short time. </a:t>
            </a:r>
          </a:p>
          <a:p>
            <a:r>
              <a:rPr lang="en-US" dirty="0"/>
              <a:t>💡</a:t>
            </a:r>
            <a:r>
              <a:rPr lang="en-US" b="1" dirty="0"/>
              <a:t> Key Features:</a:t>
            </a:r>
          </a:p>
          <a:p>
            <a:r>
              <a:rPr lang="en-US" b="1" dirty="0"/>
              <a:t>Group activity:</a:t>
            </a:r>
            <a:r>
              <a:rPr lang="en-US" dirty="0"/>
              <a:t> Involves stakeholders, developers, and users.</a:t>
            </a:r>
          </a:p>
          <a:p>
            <a:r>
              <a:rPr lang="en-US" b="1" dirty="0"/>
              <a:t>Goal:</a:t>
            </a:r>
            <a:r>
              <a:rPr lang="en-US" dirty="0"/>
              <a:t> Collect as many ideas as possible — no criticism allowed initially.</a:t>
            </a:r>
          </a:p>
          <a:p>
            <a:r>
              <a:rPr lang="en-US" b="1" dirty="0"/>
              <a:t>Focus:</a:t>
            </a:r>
            <a:r>
              <a:rPr lang="en-US" dirty="0"/>
              <a:t> Creativity first, evaluation later.</a:t>
            </a:r>
          </a:p>
          <a:p>
            <a:r>
              <a:rPr lang="en-US" b="1" dirty="0"/>
              <a:t>Helps:</a:t>
            </a:r>
            <a:r>
              <a:rPr lang="en-US" dirty="0"/>
              <a:t> Discover new features, identify problems, or refine system goals.</a:t>
            </a:r>
          </a:p>
          <a:p>
            <a:r>
              <a:rPr lang="en-US" b="1" dirty="0"/>
              <a:t> Steps:</a:t>
            </a:r>
          </a:p>
          <a:p>
            <a:r>
              <a:rPr lang="en-US" dirty="0"/>
              <a:t>Define the </a:t>
            </a:r>
            <a:r>
              <a:rPr lang="en-US" b="1" dirty="0"/>
              <a:t>problem or topic</a:t>
            </a:r>
            <a:r>
              <a:rPr lang="en-US" dirty="0"/>
              <a:t> clearly.</a:t>
            </a:r>
          </a:p>
          <a:p>
            <a:r>
              <a:rPr lang="en-US" dirty="0"/>
              <a:t>Encourage </a:t>
            </a:r>
            <a:r>
              <a:rPr lang="en-US" b="1" dirty="0"/>
              <a:t>free flow of ideas</a:t>
            </a:r>
            <a:r>
              <a:rPr lang="en-US" dirty="0"/>
              <a:t> — everyone contributes.</a:t>
            </a:r>
          </a:p>
          <a:p>
            <a:r>
              <a:rPr lang="en-US" dirty="0"/>
              <a:t>Record all ideas (whiteboard, sticky notes, or tools).</a:t>
            </a:r>
          </a:p>
          <a:p>
            <a:r>
              <a:rPr lang="en-US" dirty="0"/>
              <a:t>After idea generation, </a:t>
            </a:r>
            <a:r>
              <a:rPr lang="en-US" b="1" dirty="0"/>
              <a:t>analyze and prioritize</a:t>
            </a:r>
            <a:r>
              <a:rPr lang="en-US" dirty="0"/>
              <a:t> them.</a:t>
            </a:r>
          </a:p>
          <a:p>
            <a:endParaRPr lang="en-US" b="1" dirty="0"/>
          </a:p>
          <a:p>
            <a:r>
              <a:rPr lang="en-US" b="1" dirty="0"/>
              <a:t>Prototyping</a:t>
            </a:r>
          </a:p>
          <a:p>
            <a:r>
              <a:rPr lang="en-US" dirty="0"/>
              <a:t>To help users and developers </a:t>
            </a:r>
            <a:r>
              <a:rPr lang="en-US" b="1" dirty="0"/>
              <a:t>understand requirements better</a:t>
            </a:r>
            <a:r>
              <a:rPr lang="en-US" dirty="0"/>
              <a:t> by seeing a </a:t>
            </a:r>
            <a:r>
              <a:rPr lang="en-US" b="1" dirty="0"/>
              <a:t>visual or functional mock-up</a:t>
            </a:r>
            <a:r>
              <a:rPr lang="en-US" dirty="0"/>
              <a:t> of the system.</a:t>
            </a:r>
          </a:p>
          <a:p>
            <a:r>
              <a:rPr lang="en-US" b="1" dirty="0"/>
              <a:t>Steps in Prototyping</a:t>
            </a:r>
          </a:p>
          <a:p>
            <a:r>
              <a:rPr lang="en-US" b="1" dirty="0"/>
              <a:t>Gather initial requirements</a:t>
            </a:r>
            <a:endParaRPr lang="en-US" dirty="0"/>
          </a:p>
          <a:p>
            <a:r>
              <a:rPr lang="en-US" b="1" dirty="0"/>
              <a:t>Build a prototype</a:t>
            </a:r>
            <a:r>
              <a:rPr lang="en-US" dirty="0"/>
              <a:t> (UI mock-up or basic working model)</a:t>
            </a:r>
          </a:p>
          <a:p>
            <a:r>
              <a:rPr lang="en-US" b="1" dirty="0"/>
              <a:t>Show it to users</a:t>
            </a:r>
            <a:r>
              <a:rPr lang="en-US" dirty="0"/>
              <a:t> and gather feedback</a:t>
            </a:r>
          </a:p>
          <a:p>
            <a:r>
              <a:rPr lang="en-US" b="1" dirty="0"/>
              <a:t>Refine the prototype</a:t>
            </a:r>
            <a:r>
              <a:rPr lang="en-US" dirty="0"/>
              <a:t> based on feedback</a:t>
            </a:r>
          </a:p>
          <a:p>
            <a:r>
              <a:rPr lang="en-US" dirty="0"/>
              <a:t>Repeat until requirements are clear and approved</a:t>
            </a:r>
          </a:p>
          <a:p>
            <a:endParaRPr lang="en-US" b="1" dirty="0"/>
          </a:p>
          <a:p>
            <a:endParaRPr lang="en-US" b="1" dirty="0"/>
          </a:p>
          <a:p>
            <a:r>
              <a:rPr lang="en-US" b="1" dirty="0"/>
              <a:t>JAD</a:t>
            </a:r>
            <a:r>
              <a:rPr lang="en-US" dirty="0"/>
              <a:t> stands for </a:t>
            </a:r>
            <a:r>
              <a:rPr lang="en-US" b="1" dirty="0"/>
              <a:t>Joint Application Development</a:t>
            </a:r>
            <a:r>
              <a:rPr lang="en-US" dirty="0"/>
              <a:t>.</a:t>
            </a:r>
          </a:p>
          <a:p>
            <a:r>
              <a:rPr lang="en-US" dirty="0"/>
              <a:t>It’s a </a:t>
            </a:r>
            <a:r>
              <a:rPr lang="en-US" b="1" dirty="0"/>
              <a:t>requirement elicitation technique</a:t>
            </a:r>
            <a:r>
              <a:rPr lang="en-US" dirty="0"/>
              <a:t> used in software engineering where:</a:t>
            </a:r>
          </a:p>
          <a:p>
            <a:r>
              <a:rPr lang="en-US" b="1" dirty="0"/>
              <a:t>Developers, users, and stakeholders</a:t>
            </a:r>
            <a:r>
              <a:rPr lang="en-US" dirty="0"/>
              <a:t> work together in </a:t>
            </a:r>
            <a:r>
              <a:rPr lang="en-US" b="1" dirty="0"/>
              <a:t>structured workshops</a:t>
            </a:r>
            <a:endParaRPr lang="en-US" dirty="0"/>
          </a:p>
          <a:p>
            <a:r>
              <a:rPr lang="en-US" dirty="0"/>
              <a:t>The goal is to </a:t>
            </a:r>
            <a:r>
              <a:rPr lang="en-US" b="1" dirty="0"/>
              <a:t>gather and refine system requirements</a:t>
            </a:r>
            <a:r>
              <a:rPr lang="en-US" dirty="0"/>
              <a:t> quickly and clearly</a:t>
            </a:r>
          </a:p>
          <a:p>
            <a:r>
              <a:rPr lang="en-US" dirty="0"/>
              <a:t>🧠 </a:t>
            </a:r>
            <a:r>
              <a:rPr lang="en-US" b="1" dirty="0"/>
              <a:t>Key points:</a:t>
            </a:r>
            <a:endParaRPr lang="en-US" dirty="0"/>
          </a:p>
          <a:p>
            <a:r>
              <a:rPr lang="en-US" dirty="0"/>
              <a:t>Conducted by a </a:t>
            </a:r>
            <a:r>
              <a:rPr lang="en-US" b="1" dirty="0"/>
              <a:t>facilitator</a:t>
            </a:r>
            <a:endParaRPr lang="en-US" dirty="0"/>
          </a:p>
          <a:p>
            <a:r>
              <a:rPr lang="en-US" dirty="0"/>
              <a:t>Promotes </a:t>
            </a:r>
            <a:r>
              <a:rPr lang="en-US" b="1" dirty="0"/>
              <a:t>collaboration</a:t>
            </a:r>
            <a:r>
              <a:rPr lang="en-US" dirty="0"/>
              <a:t> and </a:t>
            </a:r>
            <a:r>
              <a:rPr lang="en-US" b="1" dirty="0"/>
              <a:t>consensus</a:t>
            </a:r>
            <a:endParaRPr lang="en-US" dirty="0"/>
          </a:p>
          <a:p>
            <a:r>
              <a:rPr lang="en-US" dirty="0"/>
              <a:t>Produces </a:t>
            </a:r>
            <a:r>
              <a:rPr lang="en-US" b="1" dirty="0"/>
              <a:t>detailed, well-understood requirements</a:t>
            </a:r>
            <a:endParaRPr lang="en-US" dirty="0"/>
          </a:p>
          <a:p>
            <a:r>
              <a:rPr lang="en-US" dirty="0"/>
              <a:t>Saves time compared to long interview cycles</a:t>
            </a:r>
          </a:p>
          <a:p>
            <a:r>
              <a:rPr lang="en-US" b="1" dirty="0"/>
              <a:t>Example:</a:t>
            </a:r>
            <a:r>
              <a:rPr lang="en-US" dirty="0"/>
              <a:t/>
            </a:r>
            <a:br>
              <a:rPr lang="en-US" dirty="0"/>
            </a:br>
            <a:r>
              <a:rPr lang="en-US" dirty="0"/>
              <a:t>During a JAD session for a library system, librarians, IT staff, and students discuss features like book search, borrowing limits, and reminders — all in one interactive session.</a:t>
            </a:r>
          </a:p>
          <a:p>
            <a:endParaRPr lang="en-US" dirty="0"/>
          </a:p>
        </p:txBody>
      </p:sp>
      <p:sp>
        <p:nvSpPr>
          <p:cNvPr id="4" name="Slide Number Placeholder 3"/>
          <p:cNvSpPr>
            <a:spLocks noGrp="1"/>
          </p:cNvSpPr>
          <p:nvPr>
            <p:ph type="sldNum" sz="quarter" idx="10"/>
          </p:nvPr>
        </p:nvSpPr>
        <p:spPr/>
        <p:txBody>
          <a:bodyPr/>
          <a:lstStyle/>
          <a:p>
            <a:fld id="{4518AAEC-A513-4871-A33D-6A7F45C0018F}" type="slidenum">
              <a:rPr lang="en-US"/>
              <a:t>11</a:t>
            </a:fld>
            <a:endParaRPr lang="en-US"/>
          </a:p>
        </p:txBody>
      </p:sp>
    </p:spTree>
    <p:extLst>
      <p:ext uri="{BB962C8B-B14F-4D97-AF65-F5344CB8AC3E}">
        <p14:creationId xmlns:p14="http://schemas.microsoft.com/office/powerpoint/2010/main" val="7940082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Activity: Identify one functional &amp; one non-functional requirement in a sample SRS.</a:t>
            </a:r>
          </a:p>
          <a:p>
            <a:endParaRPr lang="en-US" dirty="0"/>
          </a:p>
        </p:txBody>
      </p:sp>
      <p:sp>
        <p:nvSpPr>
          <p:cNvPr id="4" name="Slide Number Placeholder 3"/>
          <p:cNvSpPr>
            <a:spLocks noGrp="1"/>
          </p:cNvSpPr>
          <p:nvPr>
            <p:ph type="sldNum" sz="quarter" idx="10"/>
          </p:nvPr>
        </p:nvSpPr>
        <p:spPr/>
        <p:txBody>
          <a:bodyPr/>
          <a:lstStyle/>
          <a:p>
            <a:fld id="{4518AAEC-A513-4871-A33D-6A7F45C0018F}" type="slidenum">
              <a:rPr lang="en-US"/>
              <a:t>12</a:t>
            </a:fld>
            <a:endParaRPr lang="en-US"/>
          </a:p>
        </p:txBody>
      </p:sp>
    </p:spTree>
    <p:extLst>
      <p:ext uri="{BB962C8B-B14F-4D97-AF65-F5344CB8AC3E}">
        <p14:creationId xmlns:p14="http://schemas.microsoft.com/office/powerpoint/2010/main" val="21170751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800">
                <a:latin typeface="Calibri"/>
              </a:defRPr>
            </a:pPr>
            <a:endParaRPr lang="en-US" dirty="0"/>
          </a:p>
          <a:p>
            <a:pPr>
              <a:defRPr sz="1800">
                <a:latin typeface="Calibri"/>
              </a:defRPr>
            </a:pPr>
            <a:r>
              <a:rPr lang="en-US" dirty="0"/>
              <a:t>Class Discussion: How many of you have used </a:t>
            </a:r>
            <a:r>
              <a:rPr lang="en-US" dirty="0" err="1"/>
              <a:t>Careem</a:t>
            </a:r>
            <a:r>
              <a:rPr lang="en-US" dirty="0"/>
              <a:t>? Which service did you use most?</a:t>
            </a:r>
          </a:p>
          <a:p>
            <a:endParaRPr lang="en-US" dirty="0"/>
          </a:p>
        </p:txBody>
      </p:sp>
      <p:sp>
        <p:nvSpPr>
          <p:cNvPr id="4" name="Slide Number Placeholder 3"/>
          <p:cNvSpPr>
            <a:spLocks noGrp="1"/>
          </p:cNvSpPr>
          <p:nvPr>
            <p:ph type="sldNum" sz="quarter" idx="10"/>
          </p:nvPr>
        </p:nvSpPr>
        <p:spPr/>
        <p:txBody>
          <a:bodyPr/>
          <a:lstStyle/>
          <a:p>
            <a:fld id="{55038FE7-84B1-4EF7-B6E7-9BF209918A47}" type="slidenum">
              <a:rPr lang="en-US"/>
              <a:t>14</a:t>
            </a:fld>
            <a:endParaRPr lang="en-US"/>
          </a:p>
        </p:txBody>
      </p:sp>
    </p:spTree>
    <p:extLst>
      <p:ext uri="{BB962C8B-B14F-4D97-AF65-F5344CB8AC3E}">
        <p14:creationId xmlns:p14="http://schemas.microsoft.com/office/powerpoint/2010/main" val="811555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 </a:t>
            </a:r>
            <a:r>
              <a:rPr lang="en-US" b="1" dirty="0" err="1"/>
              <a:t>Careem</a:t>
            </a:r>
            <a:r>
              <a:rPr lang="en-US" b="1" dirty="0"/>
              <a:t> cars, bikes, or ride bookings are available in Lahore anymore.</a:t>
            </a:r>
            <a:endParaRPr lang="en-US" dirty="0"/>
          </a:p>
          <a:p>
            <a:r>
              <a:rPr lang="en-US" dirty="0"/>
              <a:t>The company cited </a:t>
            </a:r>
            <a:r>
              <a:rPr lang="en-US" b="1" dirty="0"/>
              <a:t>economic challenges, strong competition, and investment constraints</a:t>
            </a:r>
            <a:r>
              <a:rPr lang="en-US" dirty="0"/>
              <a:t> as the main reasons for shutting down this service.</a:t>
            </a:r>
          </a:p>
          <a:p>
            <a:endParaRPr lang="en-US" dirty="0"/>
          </a:p>
        </p:txBody>
      </p:sp>
      <p:sp>
        <p:nvSpPr>
          <p:cNvPr id="4" name="Slide Number Placeholder 3"/>
          <p:cNvSpPr>
            <a:spLocks noGrp="1"/>
          </p:cNvSpPr>
          <p:nvPr>
            <p:ph type="sldNum" sz="quarter" idx="10"/>
          </p:nvPr>
        </p:nvSpPr>
        <p:spPr/>
        <p:txBody>
          <a:bodyPr/>
          <a:lstStyle/>
          <a:p>
            <a:fld id="{4518AAEC-A513-4871-A33D-6A7F45C0018F}" type="slidenum">
              <a:rPr lang="en-US"/>
              <a:t>15</a:t>
            </a:fld>
            <a:endParaRPr lang="en-US"/>
          </a:p>
        </p:txBody>
      </p:sp>
    </p:spTree>
    <p:extLst>
      <p:ext uri="{BB962C8B-B14F-4D97-AF65-F5344CB8AC3E}">
        <p14:creationId xmlns:p14="http://schemas.microsoft.com/office/powerpoint/2010/main" val="6542673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Ask: Was this a technical failure or a requirement failure?</a:t>
            </a:r>
          </a:p>
          <a:p>
            <a:endParaRPr lang="en-US" dirty="0"/>
          </a:p>
        </p:txBody>
      </p:sp>
      <p:sp>
        <p:nvSpPr>
          <p:cNvPr id="4" name="Slide Number Placeholder 3"/>
          <p:cNvSpPr>
            <a:spLocks noGrp="1"/>
          </p:cNvSpPr>
          <p:nvPr>
            <p:ph type="sldNum" sz="quarter" idx="10"/>
          </p:nvPr>
        </p:nvSpPr>
        <p:spPr/>
        <p:txBody>
          <a:bodyPr/>
          <a:lstStyle/>
          <a:p>
            <a:fld id="{55038FE7-84B1-4EF7-B6E7-9BF209918A47}" type="slidenum">
              <a:rPr lang="en-US"/>
              <a:t>16</a:t>
            </a:fld>
            <a:endParaRPr lang="en-US"/>
          </a:p>
        </p:txBody>
      </p:sp>
    </p:spTree>
    <p:extLst>
      <p:ext uri="{BB962C8B-B14F-4D97-AF65-F5344CB8AC3E}">
        <p14:creationId xmlns:p14="http://schemas.microsoft.com/office/powerpoint/2010/main" val="35393464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Introduction to the early phases of RE where analysts work to identify stakeholders and collect the right requirements for system success.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Requirement Engineering (RE) forms the foundation of all software projects. Each phase builds upon the previous one to ensure system correctness.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Inception is the 'getting started' phase. The main purpose is to define what problem we are solving, who is involved, and whether it’s feasible to proceed.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example illustrates how inception helps define the vision and boundaries before development starts</a:t>
            </a:r>
            <a:r>
              <a:rPr dirty="0"/>
              <a:t>.</a:t>
            </a:r>
            <a:endParaRPr lang="en-US" dirty="0"/>
          </a:p>
          <a:p>
            <a:r>
              <a:rPr lang="en-US" dirty="0"/>
              <a:t>Scope defines </a:t>
            </a:r>
            <a:r>
              <a:rPr lang="en-US" b="1" dirty="0"/>
              <a:t>what the system will do and what it will NOT do</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Budget feasibility determines whether the </a:t>
            </a:r>
            <a:r>
              <a:rPr lang="en-US" b="1" dirty="0"/>
              <a:t>organization can afford to develop and maintain the system</a:t>
            </a:r>
            <a:r>
              <a:rPr lang="en-US" dirty="0"/>
              <a:t>. It compares </a:t>
            </a:r>
            <a:r>
              <a:rPr lang="en-US" b="1" dirty="0"/>
              <a:t>estimated project cost with available budget</a:t>
            </a:r>
            <a:r>
              <a:rPr lang="en-US" dirty="0"/>
              <a:t>.</a:t>
            </a:r>
          </a:p>
          <a:p>
            <a:r>
              <a:rPr lang="en-US" dirty="0"/>
              <a:t>Time feasibility evaluates whether the system can be </a:t>
            </a:r>
            <a:r>
              <a:rPr lang="en-US" b="1" dirty="0"/>
              <a:t>developed and implemented within the required time frame</a:t>
            </a:r>
            <a:r>
              <a:rPr lang="en-US" dirty="0"/>
              <a:t>.</a:t>
            </a:r>
            <a:endParaRPr lang="en-US" b="1" dirty="0"/>
          </a:p>
          <a:p>
            <a:r>
              <a:rPr lang="en-US" b="1" dirty="0"/>
              <a:t>Potential Benefits</a:t>
            </a:r>
          </a:p>
          <a:p>
            <a:r>
              <a:rPr lang="en-US" dirty="0"/>
              <a:t>Reduced traffic congestion</a:t>
            </a:r>
          </a:p>
          <a:p>
            <a:r>
              <a:rPr lang="en-US" dirty="0"/>
              <a:t>Improved parking revenue</a:t>
            </a:r>
          </a:p>
          <a:p>
            <a:r>
              <a:rPr lang="en-US" dirty="0"/>
              <a:t>Efficient parking management</a:t>
            </a:r>
          </a:p>
          <a:p>
            <a:r>
              <a:rPr lang="en-US" dirty="0"/>
              <a:t>Better driver experience</a:t>
            </a:r>
          </a:p>
          <a:p>
            <a:r>
              <a:rPr lang="en-US" b="1" dirty="0"/>
              <a:t>Possible Revenue Sources</a:t>
            </a:r>
          </a:p>
          <a:p>
            <a:r>
              <a:rPr lang="en-US" dirty="0"/>
              <a:t>Parking fees</a:t>
            </a:r>
          </a:p>
          <a:p>
            <a:r>
              <a:rPr lang="en-US" dirty="0"/>
              <a:t>Reservation charges</a:t>
            </a:r>
          </a:p>
          <a:p>
            <a:r>
              <a:rPr lang="en-US" dirty="0"/>
              <a:t>Premium parking services</a:t>
            </a:r>
          </a:p>
          <a:p>
            <a:r>
              <a:rPr lang="en-US" dirty="0"/>
              <a:t>Advertising in mobile app</a:t>
            </a:r>
          </a:p>
          <a:p>
            <a:endParaRPr lang="en-US" b="1" dirty="0"/>
          </a:p>
          <a:p>
            <a:r>
              <a:rPr lang="en-US" b="1" dirty="0"/>
              <a:t>Required Technologies</a:t>
            </a:r>
          </a:p>
          <a:p>
            <a:r>
              <a:rPr lang="en-US" dirty="0"/>
              <a:t>Parking Sensors</a:t>
            </a:r>
            <a:br>
              <a:rPr lang="en-US" dirty="0"/>
            </a:br>
            <a:r>
              <a:rPr lang="en-US" dirty="0"/>
              <a:t>Detect vehicle presence.</a:t>
            </a:r>
          </a:p>
          <a:p>
            <a:r>
              <a:rPr lang="en-US" dirty="0"/>
              <a:t>Mobile Application</a:t>
            </a:r>
            <a:br>
              <a:rPr lang="en-US" dirty="0"/>
            </a:br>
            <a:r>
              <a:rPr lang="en-US" dirty="0"/>
              <a:t>Android / iOS interface for drivers.</a:t>
            </a:r>
          </a:p>
          <a:p>
            <a:r>
              <a:rPr lang="en-US" dirty="0"/>
              <a:t>Cloud Server</a:t>
            </a:r>
            <a:br>
              <a:rPr lang="en-US" dirty="0"/>
            </a:br>
            <a:r>
              <a:rPr lang="en-US" dirty="0"/>
              <a:t>Stores parking data.</a:t>
            </a:r>
          </a:p>
          <a:p>
            <a:r>
              <a:rPr lang="en-US" dirty="0"/>
              <a:t>GPS Integration</a:t>
            </a:r>
            <a:br>
              <a:rPr lang="en-US" dirty="0"/>
            </a:br>
            <a:r>
              <a:rPr lang="en-US" dirty="0"/>
              <a:t>Provides navigation.</a:t>
            </a:r>
          </a:p>
          <a:p>
            <a:r>
              <a:rPr lang="en-US" dirty="0"/>
              <a:t>Payment Gateway</a:t>
            </a:r>
            <a:br>
              <a:rPr lang="en-US" dirty="0"/>
            </a:br>
            <a:r>
              <a:rPr lang="en-US" dirty="0"/>
              <a:t>Supports digital transactions.</a:t>
            </a:r>
          </a:p>
          <a:p>
            <a:endParaRPr lang="en-US" dirty="0"/>
          </a:p>
        </p:txBody>
      </p:sp>
    </p:spTree>
    <p:extLst>
      <p:ext uri="{BB962C8B-B14F-4D97-AF65-F5344CB8AC3E}">
        <p14:creationId xmlns:p14="http://schemas.microsoft.com/office/powerpoint/2010/main" val="31163351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a:t>
            </a:r>
            <a:r>
              <a:rPr lang="en-US" baseline="0" dirty="0"/>
              <a:t> level Use case diagrams</a:t>
            </a:r>
            <a:endParaRPr lang="en-US" dirty="0"/>
          </a:p>
          <a:p>
            <a:endParaRPr lang="en-US" dirty="0"/>
          </a:p>
        </p:txBody>
      </p:sp>
    </p:spTree>
    <p:extLst>
      <p:ext uri="{BB962C8B-B14F-4D97-AF65-F5344CB8AC3E}">
        <p14:creationId xmlns:p14="http://schemas.microsoft.com/office/powerpoint/2010/main" val="42340951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Elicitation focuses on communication. Analysts use multiple methods to ensure that real user needs are captured and understood.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analysts overcome these issues using iterative meetings, prototypes, and good documentation practices.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Detailed Use case diagrams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a:t>Activity Diagrams:</a:t>
            </a:r>
            <a:r>
              <a:rPr lang="en-US" dirty="0"/>
              <a:t> map the step-by-step workflow of a driver booking a spot and navigating to it.</a:t>
            </a:r>
          </a:p>
          <a:p>
            <a:r>
              <a:rPr lang="en-US" b="1" dirty="0"/>
              <a:t>Conceptual Class Diagrams:</a:t>
            </a:r>
            <a:r>
              <a:rPr lang="en-US" dirty="0"/>
              <a:t>  build a domain dictionary. define that a Reservation class must be linked to a User class and a </a:t>
            </a:r>
            <a:r>
              <a:rPr lang="en-US" dirty="0" err="1"/>
              <a:t>ParkingSpot</a:t>
            </a:r>
            <a:r>
              <a:rPr lang="en-US" dirty="0"/>
              <a:t> </a:t>
            </a:r>
            <a:r>
              <a:rPr lang="en-US" dirty="0" err="1"/>
              <a:t>clas</a:t>
            </a:r>
            <a:endParaRPr lang="en-US" dirty="0"/>
          </a:p>
          <a:p>
            <a:endParaRPr lang="en-US" dirty="0"/>
          </a:p>
        </p:txBody>
      </p:sp>
    </p:spTree>
    <p:extLst>
      <p:ext uri="{BB962C8B-B14F-4D97-AF65-F5344CB8AC3E}">
        <p14:creationId xmlns:p14="http://schemas.microsoft.com/office/powerpoint/2010/main" val="36491538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case diagrams help visualize </a:t>
            </a:r>
            <a:r>
              <a:rPr lang="en-US" b="1" dirty="0"/>
              <a:t>how users interact with the system</a:t>
            </a:r>
            <a:r>
              <a:rPr lang="en-US" dirty="0"/>
              <a:t>.</a:t>
            </a:r>
          </a:p>
          <a:p>
            <a:endParaRPr lang="en-US" dirty="0"/>
          </a:p>
        </p:txBody>
      </p:sp>
    </p:spTree>
    <p:extLst>
      <p:ext uri="{BB962C8B-B14F-4D97-AF65-F5344CB8AC3E}">
        <p14:creationId xmlns:p14="http://schemas.microsoft.com/office/powerpoint/2010/main" val="39205192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1" kern="1200" dirty="0">
                <a:solidFill>
                  <a:schemeClr val="tx1"/>
                </a:solidFill>
                <a:effectLst/>
                <a:latin typeface="+mn-lt"/>
                <a:ea typeface="+mn-ea"/>
                <a:cs typeface="+mn-cs"/>
              </a:rPr>
              <a:t>State Machine Diagrams.</a:t>
            </a:r>
            <a:r>
              <a:rPr lang="en-US" dirty="0"/>
              <a:t> model the lifecycle of a parking spot to explicitly agree on the rules. </a:t>
            </a:r>
          </a:p>
          <a:p>
            <a:r>
              <a:rPr lang="en-US" dirty="0"/>
              <a:t>define states: Available </a:t>
            </a:r>
            <a:r>
              <a:rPr lang="en-US" sz="1200" kern="1200" dirty="0">
                <a:solidFill>
                  <a:schemeClr val="tx1"/>
                </a:solidFill>
                <a:effectLst/>
                <a:latin typeface="+mn-lt"/>
                <a:ea typeface="+mn-ea"/>
                <a:cs typeface="+mn-cs"/>
                <a:sym typeface="Wingdings" panose="05000000000000000000" pitchFamily="2" charset="2"/>
              </a:rPr>
              <a:t></a:t>
            </a:r>
            <a:r>
              <a:rPr lang="en-US" dirty="0"/>
              <a:t>Reserved.</a:t>
            </a:r>
          </a:p>
          <a:p>
            <a:r>
              <a:rPr lang="en-US" dirty="0"/>
              <a:t> If the sensor doesn't detect a car in 15 minutes, it transitions back to Available (the negotiated rule).</a:t>
            </a:r>
            <a:endParaRPr lang="en-US" dirty="0"/>
          </a:p>
        </p:txBody>
      </p:sp>
    </p:spTree>
    <p:extLst>
      <p:ext uri="{BB962C8B-B14F-4D97-AF65-F5344CB8AC3E}">
        <p14:creationId xmlns:p14="http://schemas.microsoft.com/office/powerpoint/2010/main" val="5049415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1" kern="1200" dirty="0">
                <a:solidFill>
                  <a:schemeClr val="tx1"/>
                </a:solidFill>
                <a:effectLst/>
                <a:latin typeface="+mn-lt"/>
                <a:ea typeface="+mn-ea"/>
                <a:cs typeface="+mn-cs"/>
              </a:rPr>
              <a:t>Sequence Diagrams.</a:t>
            </a:r>
            <a:r>
              <a:rPr lang="en-US" dirty="0"/>
              <a:t> </a:t>
            </a:r>
          </a:p>
          <a:p>
            <a:r>
              <a:rPr lang="en-US" dirty="0"/>
              <a:t> map out the exact message passing over time.</a:t>
            </a:r>
          </a:p>
          <a:p>
            <a:r>
              <a:rPr lang="en-US" dirty="0"/>
              <a:t> </a:t>
            </a:r>
            <a:endParaRPr lang="en-US" dirty="0"/>
          </a:p>
        </p:txBody>
      </p:sp>
    </p:spTree>
    <p:extLst>
      <p:ext uri="{BB962C8B-B14F-4D97-AF65-F5344CB8AC3E}">
        <p14:creationId xmlns:p14="http://schemas.microsoft.com/office/powerpoint/2010/main" val="19680141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example: </a:t>
            </a:r>
            <a:r>
              <a:rPr lang="en-US" sz="1200" i="1" kern="1200" dirty="0">
                <a:solidFill>
                  <a:schemeClr val="tx1"/>
                </a:solidFill>
                <a:effectLst/>
                <a:latin typeface="+mn-lt"/>
                <a:ea typeface="+mn-ea"/>
                <a:cs typeface="+mn-cs"/>
              </a:rPr>
              <a:t>Mobile App</a:t>
            </a:r>
            <a:r>
              <a:rPr lang="en-US" dirty="0"/>
              <a:t> requests reservation </a:t>
            </a:r>
            <a:r>
              <a:rPr lang="en-US" sz="1200" kern="1200" dirty="0">
                <a:solidFill>
                  <a:schemeClr val="tx1"/>
                </a:solidFill>
                <a:effectLst/>
                <a:latin typeface="+mn-lt"/>
                <a:ea typeface="+mn-ea"/>
                <a:cs typeface="+mn-cs"/>
                <a:sym typeface="Wingdings" panose="05000000000000000000" pitchFamily="2" charset="2"/>
              </a:rPr>
              <a:t></a:t>
            </a:r>
            <a:r>
              <a:rPr lang="en-US" dirty="0"/>
              <a:t> </a:t>
            </a:r>
            <a:r>
              <a:rPr lang="en-US" sz="1200" i="1" kern="1200" dirty="0">
                <a:solidFill>
                  <a:schemeClr val="tx1"/>
                </a:solidFill>
                <a:effectLst/>
                <a:latin typeface="+mn-lt"/>
                <a:ea typeface="+mn-ea"/>
                <a:cs typeface="+mn-cs"/>
              </a:rPr>
              <a:t>Parking Server</a:t>
            </a:r>
            <a:r>
              <a:rPr lang="en-US" dirty="0"/>
              <a:t> locks the spot in the database </a:t>
            </a:r>
            <a:r>
              <a:rPr lang="en-US" sz="1200" kern="1200" dirty="0">
                <a:solidFill>
                  <a:schemeClr val="tx1"/>
                </a:solidFill>
                <a:effectLst/>
                <a:latin typeface="+mn-lt"/>
                <a:ea typeface="+mn-ea"/>
                <a:cs typeface="+mn-cs"/>
                <a:sym typeface="Wingdings" panose="05000000000000000000" pitchFamily="2" charset="2"/>
              </a:rPr>
              <a:t></a:t>
            </a:r>
            <a:r>
              <a:rPr lang="en-US" sz="1200" i="1" kern="1200" dirty="0">
                <a:solidFill>
                  <a:schemeClr val="tx1"/>
                </a:solidFill>
                <a:effectLst/>
                <a:latin typeface="+mn-lt"/>
                <a:ea typeface="+mn-ea"/>
                <a:cs typeface="+mn-cs"/>
              </a:rPr>
              <a:t>Server</a:t>
            </a:r>
            <a:r>
              <a:rPr lang="en-US" dirty="0"/>
              <a:t> sends a success payload back to the </a:t>
            </a:r>
            <a:r>
              <a:rPr lang="en-US" sz="1200" i="1" kern="1200" dirty="0">
                <a:solidFill>
                  <a:schemeClr val="tx1"/>
                </a:solidFill>
                <a:effectLst/>
                <a:latin typeface="+mn-lt"/>
                <a:ea typeface="+mn-ea"/>
                <a:cs typeface="+mn-cs"/>
              </a:rPr>
              <a:t>App</a:t>
            </a:r>
            <a:r>
              <a:rPr lang="en-US" dirty="0"/>
              <a:t>.</a:t>
            </a:r>
          </a:p>
          <a:p>
            <a:endParaRPr lang="en-US" dirty="0"/>
          </a:p>
        </p:txBody>
      </p:sp>
    </p:spTree>
    <p:extLst>
      <p:ext uri="{BB962C8B-B14F-4D97-AF65-F5344CB8AC3E}">
        <p14:creationId xmlns:p14="http://schemas.microsoft.com/office/powerpoint/2010/main" val="30905737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EV chargers </a:t>
            </a:r>
            <a:endParaRPr lang="en-US" dirty="0"/>
          </a:p>
        </p:txBody>
      </p:sp>
    </p:spTree>
    <p:extLst>
      <p:ext uri="{BB962C8B-B14F-4D97-AF65-F5344CB8AC3E}">
        <p14:creationId xmlns:p14="http://schemas.microsoft.com/office/powerpoint/2010/main" val="29305932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err="1"/>
              <a:t>Req</a:t>
            </a:r>
            <a:r>
              <a:rPr lang="en-US" b="1" dirty="0"/>
              <a:t> ID:</a:t>
            </a:r>
            <a:r>
              <a:rPr lang="en-US" dirty="0"/>
              <a:t> Unique identifier for each requirement.</a:t>
            </a:r>
          </a:p>
          <a:p>
            <a:r>
              <a:rPr lang="en-US" b="1" dirty="0"/>
              <a:t>Requirement Description:</a:t>
            </a:r>
            <a:r>
              <a:rPr lang="en-US" dirty="0"/>
              <a:t> Clearly describes what the system must do.</a:t>
            </a:r>
          </a:p>
          <a:p>
            <a:r>
              <a:rPr lang="en-US" b="1" dirty="0"/>
              <a:t>Type:</a:t>
            </a:r>
            <a:r>
              <a:rPr lang="en-US" dirty="0"/>
              <a:t> Functional or Non-Functional requirement.</a:t>
            </a:r>
          </a:p>
          <a:p>
            <a:r>
              <a:rPr lang="en-US" b="1" dirty="0"/>
              <a:t>Use Case:</a:t>
            </a:r>
            <a:r>
              <a:rPr lang="en-US" dirty="0"/>
              <a:t> Links requirement to one or more </a:t>
            </a:r>
            <a:r>
              <a:rPr lang="en-US" b="1" dirty="0"/>
              <a:t>UML use cases</a:t>
            </a:r>
            <a:r>
              <a:rPr lang="en-US" dirty="0"/>
              <a:t>.</a:t>
            </a:r>
          </a:p>
          <a:p>
            <a:r>
              <a:rPr lang="en-US" b="1" dirty="0"/>
              <a:t>Design Module:</a:t>
            </a:r>
            <a:r>
              <a:rPr lang="en-US" dirty="0"/>
              <a:t> The system component or module implementing this requirement.</a:t>
            </a:r>
          </a:p>
          <a:p>
            <a:r>
              <a:rPr lang="en-US" b="1" dirty="0"/>
              <a:t>Test Case ID:</a:t>
            </a:r>
            <a:r>
              <a:rPr lang="en-US" dirty="0"/>
              <a:t> Corresponding </a:t>
            </a:r>
            <a:r>
              <a:rPr lang="en-US" b="1" dirty="0"/>
              <a:t>test case</a:t>
            </a:r>
            <a:r>
              <a:rPr lang="en-US" dirty="0"/>
              <a:t> to verify the requirement.</a:t>
            </a:r>
          </a:p>
          <a:p>
            <a:r>
              <a:rPr lang="en-US" b="1" dirty="0"/>
              <a:t>Status:</a:t>
            </a:r>
            <a:r>
              <a:rPr lang="en-US" dirty="0"/>
              <a:t> Can be Pending, Implemented, Verified, or Updated.</a:t>
            </a:r>
          </a:p>
          <a:p>
            <a:endParaRPr lang="en-US" dirty="0"/>
          </a:p>
        </p:txBody>
      </p:sp>
    </p:spTree>
    <p:extLst>
      <p:ext uri="{BB962C8B-B14F-4D97-AF65-F5344CB8AC3E}">
        <p14:creationId xmlns:p14="http://schemas.microsoft.com/office/powerpoint/2010/main" val="1729191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Summarize key insights: these phases determine project success or failure. Emphasize the importance of teamwork and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assignment reinforces lecture learning with hands-on practice. Encourage creativity and practical stakeholder engagement.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session. Today, we are shifting our focus from </a:t>
            </a:r>
            <a:r>
              <a:rPr lang="en-US" i="1" dirty="0"/>
              <a:t>what</a:t>
            </a:r>
            <a:r>
              <a:rPr lang="en-US" dirty="0"/>
              <a:t> a system should do, to </a:t>
            </a:r>
            <a:r>
              <a:rPr lang="en-US" i="1" dirty="0"/>
              <a:t>why</a:t>
            </a:r>
            <a:r>
              <a:rPr lang="en-US" dirty="0"/>
              <a:t> it needs to do it.</a:t>
            </a:r>
            <a:endParaRPr lang="en-US" dirty="0"/>
          </a:p>
        </p:txBody>
      </p:sp>
      <p:sp>
        <p:nvSpPr>
          <p:cNvPr id="4" name="Slide Number Placeholder 3"/>
          <p:cNvSpPr>
            <a:spLocks noGrp="1"/>
          </p:cNvSpPr>
          <p:nvPr>
            <p:ph type="sldNum" sz="quarter" idx="10"/>
          </p:nvPr>
        </p:nvSpPr>
        <p:spPr/>
        <p:txBody>
          <a:bodyPr/>
          <a:lstStyle/>
          <a:p>
            <a:fld id="{C3C6D081-A711-4497-969F-D0E37265E53E}" type="slidenum">
              <a:rPr lang="en-US"/>
              <a:t>1</a:t>
            </a:fld>
            <a:endParaRPr lang="en-US"/>
          </a:p>
        </p:txBody>
      </p:sp>
    </p:spTree>
    <p:extLst>
      <p:ext uri="{BB962C8B-B14F-4D97-AF65-F5344CB8AC3E}">
        <p14:creationId xmlns:p14="http://schemas.microsoft.com/office/powerpoint/2010/main" val="18445455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asking </a:t>
            </a:r>
            <a:r>
              <a:rPr lang="en-US" i="1" dirty="0"/>
              <a:t>Why</a:t>
            </a:r>
            <a:r>
              <a:rPr lang="en-US" dirty="0"/>
              <a:t> until the requirement either collapses… or reveals its true purpose.” annoyingly curious</a:t>
            </a:r>
          </a:p>
          <a:p>
            <a:endParaRPr lang="en-US" b="1" dirty="0"/>
          </a:p>
          <a:p>
            <a:r>
              <a:rPr lang="en-US" b="1" dirty="0"/>
              <a:t>“Every feature should have a reason to exist—or it’s intellectual clutter.”</a:t>
            </a:r>
          </a:p>
          <a:p>
            <a:r>
              <a:rPr lang="en-US" dirty="0"/>
              <a:t>Traceability is about </a:t>
            </a:r>
            <a:r>
              <a:rPr lang="en-US" b="1" dirty="0"/>
              <a:t>connecting the dots</a:t>
            </a:r>
            <a:r>
              <a:rPr lang="en-US" dirty="0"/>
              <a:t> from:</a:t>
            </a:r>
          </a:p>
          <a:p>
            <a:pPr rtl="0"/>
            <a:r>
              <a:rPr lang="en-US" dirty="0"/>
              <a:t>Business Goal → Stakeholder Goal → System Requirement → Design → Code</a:t>
            </a:r>
          </a:p>
          <a:p>
            <a:pPr rtl="0"/>
            <a:endParaRPr lang="en-US" dirty="0"/>
          </a:p>
          <a:p>
            <a:pPr rtl="0"/>
            <a:endParaRPr lang="en-US" dirty="0"/>
          </a:p>
          <a:p>
            <a:endParaRPr lang="en-US" dirty="0"/>
          </a:p>
        </p:txBody>
      </p:sp>
      <p:sp>
        <p:nvSpPr>
          <p:cNvPr id="4" name="Slide Number Placeholder 3"/>
          <p:cNvSpPr>
            <a:spLocks noGrp="1"/>
          </p:cNvSpPr>
          <p:nvPr>
            <p:ph type="sldNum" sz="quarter" idx="10"/>
          </p:nvPr>
        </p:nvSpPr>
        <p:spPr/>
        <p:txBody>
          <a:bodyPr/>
          <a:lstStyle/>
          <a:p>
            <a:fld id="{C3C6D081-A711-4497-969F-D0E37265E53E}" type="slidenum">
              <a:rPr lang="en-US"/>
              <a:t>4</a:t>
            </a:fld>
            <a:endParaRPr lang="en-US"/>
          </a:p>
        </p:txBody>
      </p:sp>
    </p:spTree>
    <p:extLst>
      <p:ext uri="{BB962C8B-B14F-4D97-AF65-F5344CB8AC3E}">
        <p14:creationId xmlns:p14="http://schemas.microsoft.com/office/powerpoint/2010/main" val="3707690394"/>
      </p:ext>
    </p:extLst>
  </p:cSld>
  <p:clrMapOvr>
    <a:masterClrMapping/>
  </p:clrMapOvr>
</p:note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cee24362eec497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8dcbd512dae4ec9"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686ff81095bd475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63865fef02254894"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3.xml" Id="Rb724bd5ad4444d09"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3.xml" Id="Rbc7333cd9a274952"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3.xml" Id="R1d4188a56fff40d7"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4.xml" Id="Re430fdfbe9cc4832"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4.xml" Id="R191c88f6dee94532" /></Relationships>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a:t>2/26/2026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a:t>‹#›</a:t>
            </a:fld>
            <a:endParaRPr lang="en-US"/>
          </a:p>
        </p:txBody>
      </p:sp>
    </p:spTree>
    <p:extLst>
      <p:ext uri="{BB962C8B-B14F-4D97-AF65-F5344CB8AC3E}">
        <p14:creationId xmlns:p14="http://schemas.microsoft.com/office/powerpoint/2010/main" val="98479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a:t>2/26/2026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17936359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a:t>3/6/2026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a:t>‹#›</a:t>
            </a:fld>
            <a:endParaRPr lang="en-US"/>
          </a:p>
        </p:txBody>
      </p:sp>
    </p:spTree>
    <p:extLst>
      <p:ext uri="{BB962C8B-B14F-4D97-AF65-F5344CB8AC3E}">
        <p14:creationId xmlns:p14="http://schemas.microsoft.com/office/powerpoint/2010/main" val="27063415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a:t>3/6/2026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9209164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a:t>3/11/2026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a:t>‹#›</a:t>
            </a:fld>
            <a:endParaRPr lang="en-US"/>
          </a:p>
        </p:txBody>
      </p:sp>
    </p:spTree>
    <p:extLst>
      <p:ext uri="{BB962C8B-B14F-4D97-AF65-F5344CB8AC3E}">
        <p14:creationId xmlns:p14="http://schemas.microsoft.com/office/powerpoint/2010/main" val="2417787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a:t>3/11/2026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3559713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19783043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a:t>3/17/2026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a:t>‹#›</a:t>
            </a:fld>
            <a:endParaRPr lang="en-US"/>
          </a:p>
        </p:txBody>
      </p:sp>
    </p:spTree>
    <p:extLst>
      <p:ext uri="{BB962C8B-B14F-4D97-AF65-F5344CB8AC3E}">
        <p14:creationId xmlns:p14="http://schemas.microsoft.com/office/powerpoint/2010/main" val="205398263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a:t>3/17/2026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1188680046"/>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3fea007e0a4b0a" /><Relationship Type="http://schemas.openxmlformats.org/officeDocument/2006/relationships/slideLayout" Target="/ppt/slideLayouts/slideLayout7.xml" Id="R7552b89d49c44328" /><Relationship Type="http://schemas.openxmlformats.org/officeDocument/2006/relationships/slideLayout" Target="/ppt/slideLayouts/slideLayout9.xml" Id="R323acb4c53fd4b3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ee703acc9d842e1" /><Relationship Type="http://schemas.openxmlformats.org/officeDocument/2006/relationships/slideLayout" Target="/ppt/slideLayouts/slideLayout24.xml" Id="R28b41bc0a52c41b7" /><Relationship Type="http://schemas.openxmlformats.org/officeDocument/2006/relationships/slideLayout" Target="/ppt/slideLayouts/slideLayout26.xml" Id="R2eb6c3336ba54847"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7c47c9cca59449bb" /><Relationship Type="http://schemas.openxmlformats.org/officeDocument/2006/relationships/slideLayout" Target="/ppt/slideLayouts/slideLayout41.xml" Id="R01a00232f61e4c90" /><Relationship Type="http://schemas.openxmlformats.org/officeDocument/2006/relationships/slideLayout" Target="/ppt/slideLayouts/slideLayout43.xml" Id="Rce88f36f953247c8" /><Relationship Type="http://schemas.openxmlformats.org/officeDocument/2006/relationships/slideLayout" Target="/ppt/slideLayouts/slideLayout44.xml" Id="R030da5e4a10d4095"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0655f7e075134c9d" /><Relationship Type="http://schemas.openxmlformats.org/officeDocument/2006/relationships/slideLayout" Target="/ppt/slideLayouts/slideLayout58.xml" Id="R1c45020c64054232" /><Relationship Type="http://schemas.openxmlformats.org/officeDocument/2006/relationships/slideLayout" Target="/ppt/slideLayouts/slideLayout60.xml" Id="Rf7c0fc3ba4584162" /></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a:t>2/26/2026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a:t>‹#›</a:t>
            </a:fld>
            <a:endParaRPr lang="en-US"/>
          </a:p>
        </p:txBody>
      </p:sp>
    </p:spTree>
    <p:extLst>
      <p:ext uri="{BB962C8B-B14F-4D97-AF65-F5344CB8AC3E}">
        <p14:creationId xmlns:p14="http://schemas.microsoft.com/office/powerpoint/2010/main" val="297644405"/>
      </p:ext>
    </p:extLst>
  </p:cSld>
  <p:clrMap bg1="lt1" tx1="dk1" bg2="lt2" tx2="dk2" accent1="accent1" accent2="accent2" accent3="accent3" accent4="accent4" accent5="accent5" accent6="accent6" hlink="hlink" folHlink="folHlink"/>
  <p:sldLayoutIdLst>
    <p:sldLayoutId id="2147483655" r:id="R7552b89d49c44328"/>
    <p:sldLayoutId id="2147483657" r:id="R323acb4c53fd4b31"/>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a:t>3/6/2026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a:t>‹#›</a:t>
            </a:fld>
            <a:endParaRPr lang="en-US"/>
          </a:p>
        </p:txBody>
      </p:sp>
    </p:spTree>
    <p:extLst>
      <p:ext uri="{BB962C8B-B14F-4D97-AF65-F5344CB8AC3E}">
        <p14:creationId xmlns:p14="http://schemas.microsoft.com/office/powerpoint/2010/main" val="2120397274"/>
      </p:ext>
    </p:extLst>
  </p:cSld>
  <p:clrMap bg1="lt1" tx1="dk1" bg2="lt2" tx2="dk2" accent1="accent1" accent2="accent2" accent3="accent3" accent4="accent4" accent5="accent5" accent6="accent6" hlink="hlink" folHlink="folHlink"/>
  <p:sldLayoutIdLst>
    <p:sldLayoutId id="2147483673" r:id="R28b41bc0a52c41b7"/>
    <p:sldLayoutId id="2147483675" r:id="R2eb6c3336ba5484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a:t>3/11/2026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a:t>‹#›</a:t>
            </a:fld>
            <a:endParaRPr lang="en-US"/>
          </a:p>
        </p:txBody>
      </p:sp>
    </p:spTree>
    <p:extLst>
      <p:ext uri="{BB962C8B-B14F-4D97-AF65-F5344CB8AC3E}">
        <p14:creationId xmlns:p14="http://schemas.microsoft.com/office/powerpoint/2010/main" val="351335340"/>
      </p:ext>
    </p:extLst>
  </p:cSld>
  <p:clrMap bg1="lt1" tx1="dk1" bg2="lt2" tx2="dk2" accent1="accent1" accent2="accent2" accent3="accent3" accent4="accent4" accent5="accent5" accent6="accent6" hlink="hlink" folHlink="folHlink"/>
  <p:sldLayoutIdLst>
    <p:sldLayoutId id="2147483691" r:id="R01a00232f61e4c90"/>
    <p:sldLayoutId id="2147483693" r:id="Rce88f36f953247c8"/>
    <p:sldLayoutId id="2147483694" r:id="R030da5e4a10d4095"/>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a:t>3/17/2026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a:t>‹#›</a:t>
            </a:fld>
            <a:endParaRPr lang="en-US"/>
          </a:p>
        </p:txBody>
      </p:sp>
    </p:spTree>
    <p:extLst>
      <p:ext uri="{BB962C8B-B14F-4D97-AF65-F5344CB8AC3E}">
        <p14:creationId xmlns:p14="http://schemas.microsoft.com/office/powerpoint/2010/main" val="3263975655"/>
      </p:ext>
    </p:extLst>
  </p:cSld>
  <p:clrMap bg1="lt1" tx1="dk1" bg2="lt2" tx2="dk2" accent1="accent1" accent2="accent2" accent3="accent3" accent4="accent4" accent5="accent5" accent6="accent6" hlink="hlink" folHlink="folHlink"/>
  <p:sldLayoutIdLst>
    <p:sldLayoutId id="2147483709" r:id="R1c45020c64054232"/>
    <p:sldLayoutId id="2147483711" r:id="Rf7c0fc3ba4584162"/>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theme/_rels/theme2.xml.rels>&#65279;<?xml version="1.0" encoding="utf-8"?><Relationships xmlns="http://schemas.openxmlformats.org/package/2006/relationships"><Relationship Type="http://schemas.openxmlformats.org/officeDocument/2006/relationships/image" Target="/ppt/slideMasters/media/image.jpg" Id="R5c22dd9b81994208" /></Relationships>
</file>

<file path=ppt/slideMasters/theme/_rels/theme3.xml.rels>&#65279;<?xml version="1.0" encoding="utf-8"?><Relationships xmlns="http://schemas.openxmlformats.org/package/2006/relationships"><Relationship Type="http://schemas.openxmlformats.org/officeDocument/2006/relationships/image" Target="/ppt/slideMasters/media/image.jpg" Id="Rbfb530b44a2942d0" /></Relationships>
</file>

<file path=ppt/slideMasters/theme/_rels/theme4.xml.rels>&#65279;<?xml version="1.0" encoding="utf-8"?><Relationships xmlns="http://schemas.openxmlformats.org/package/2006/relationships"><Relationship Type="http://schemas.openxmlformats.org/officeDocument/2006/relationships/image" Target="/ppt/slideMasters/media/image.jpg" Id="Rf6de1f0fd6ec486e" /></Relationships>
</file>

<file path=ppt/slideMasters/theme/_rels/theme5.xml.rels>&#65279;<?xml version="1.0" encoding="utf-8"?><Relationships xmlns="http://schemas.openxmlformats.org/package/2006/relationships"><Relationship Type="http://schemas.openxmlformats.org/officeDocument/2006/relationships/image" Target="/ppt/slideMasters/media/image.jpg" Id="R745d8e0328d94427" /></Relationships>
</file>

<file path=ppt/slideMasters/theme/theme2.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5c22dd9b81994208">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slideMasters/theme/theme3.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bfb530b44a2942d0">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slideMasters/theme/theme4.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f6de1f0fd6ec486e">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slideMasters/theme/theme5.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745d8e0328d94427">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slides/_rels/slide1.xml.rels>&#65279;<?xml version="1.0" encoding="utf-8"?><Relationships xmlns="http://schemas.openxmlformats.org/package/2006/relationships"><Relationship Type="http://schemas.openxmlformats.org/officeDocument/2006/relationships/notesSlide" Target="/ppt/notesSlides/notesSlide1.xml" Id="R4939fb5e3b1945f4" /><Relationship Type="http://schemas.openxmlformats.org/officeDocument/2006/relationships/slideLayout" Target="/ppt/slideLayouts/slideLayout9.xml" Id="Rfa8eddd9d363476c" /></Relationships>
</file>

<file path=ppt/slides/_rels/slide2.xml.rels>&#65279;<?xml version="1.0" encoding="utf-8"?><Relationships xmlns="http://schemas.openxmlformats.org/package/2006/relationships"><Relationship Type="http://schemas.openxmlformats.org/officeDocument/2006/relationships/notesSlide" Target="/ppt/notesSlides/notesSlide2.xml" Id="R2856991b53204eab" /><Relationship Type="http://schemas.openxmlformats.org/officeDocument/2006/relationships/slideLayout" Target="/ppt/slideLayouts/slideLayout7.xml" Id="Rfef4d39afb7c4b24" /></Relationships>
</file>

<file path=ppt/slides/_rels/slide3.xml.rels>&#65279;<?xml version="1.0" encoding="utf-8"?><Relationships xmlns="http://schemas.openxmlformats.org/package/2006/relationships"><Relationship Type="http://schemas.openxmlformats.org/officeDocument/2006/relationships/notesSlide" Target="/ppt/notesSlides/notesSlide3.xml" Id="R9152cffae67e4d7a" /><Relationship Type="http://schemas.openxmlformats.org/officeDocument/2006/relationships/slideLayout" Target="/ppt/slideLayouts/slideLayout7.xml" Id="Rcebb2e69781a40e6" /></Relationships>
</file>

<file path=ppt/slides/_rels/slide4.xml.rels>&#65279;<?xml version="1.0" encoding="utf-8"?><Relationships xmlns="http://schemas.openxmlformats.org/package/2006/relationships"><Relationship Type="http://schemas.openxmlformats.org/officeDocument/2006/relationships/notesSlide" Target="/ppt/notesSlides/notesSlide4.xml" Id="R68d692d099494c6c" /><Relationship Type="http://schemas.openxmlformats.org/officeDocument/2006/relationships/slideLayout" Target="/ppt/slideLayouts/slideLayout7.xml" Id="Re070c8d0bda94111" /></Relationships>
</file>

<file path=ppt/slides/_rels/slide5.xml.rels>&#65279;<?xml version="1.0" encoding="utf-8"?><Relationships xmlns="http://schemas.openxmlformats.org/package/2006/relationships"><Relationship Type="http://schemas.openxmlformats.org/officeDocument/2006/relationships/notesSlide" Target="/ppt/notesSlides/notesSlide5.xml" Id="Rb3868bb939604d96" /><Relationship Type="http://schemas.openxmlformats.org/officeDocument/2006/relationships/slideLayout" Target="/ppt/slideLayouts/slideLayout7.xml" Id="Rda6cf972b8724965" /></Relationships>
</file>

<file path=ppt/slides/_rels/slide6.xml.rels>&#65279;<?xml version="1.0" encoding="utf-8"?><Relationships xmlns="http://schemas.openxmlformats.org/package/2006/relationships"><Relationship Type="http://schemas.openxmlformats.org/officeDocument/2006/relationships/notesSlide" Target="/ppt/notesSlides/notesSlide6.xml" Id="R25e682dc6d0541c4" /><Relationship Type="http://schemas.openxmlformats.org/officeDocument/2006/relationships/slideLayout" Target="/ppt/slideLayouts/slideLayout7.xml" Id="Rb4a388fcf8eb400b" /></Relationships>
</file>

<file path=ppt/slides/_rels/slide7.xml.rels>&#65279;<?xml version="1.0" encoding="utf-8"?><Relationships xmlns="http://schemas.openxmlformats.org/package/2006/relationships"><Relationship Type="http://schemas.openxmlformats.org/officeDocument/2006/relationships/notesSlide" Target="/ppt/notesSlides/notesSlide7.xml" Id="R7bab0b8112554fcb" /><Relationship Type="http://schemas.openxmlformats.org/officeDocument/2006/relationships/slideLayout" Target="/ppt/slideLayouts/slideLayout7.xml" Id="R2f623c4100734b91" /></Relationships>
</file>

<file path=ppt/slides/_rels/slide8.xml.rels>&#65279;<?xml version="1.0" encoding="utf-8"?><Relationships xmlns="http://schemas.openxmlformats.org/package/2006/relationships"><Relationship Type="http://schemas.openxmlformats.org/officeDocument/2006/relationships/notesSlide" Target="/ppt/notesSlides/notesSlide8.xml" Id="R54d4d05a01e044a5" /><Relationship Type="http://schemas.openxmlformats.org/officeDocument/2006/relationships/slideLayout" Target="/ppt/slideLayouts/slideLayout7.xml" Id="R1f3a669798a24b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11f3782baa8c4997" /></Relationships>
</file>

<file path=ppt/slides/_rels/slide10.xml.rels>&#65279;<?xml version="1.0" encoding="utf-8"?><Relationships xmlns="http://schemas.openxmlformats.org/package/2006/relationships"><Relationship Type="http://schemas.openxmlformats.org/officeDocument/2006/relationships/image" Target="/ppt/media/image.png" Id="Ra64be273f66346f0" /><Relationship Type="http://schemas.openxmlformats.org/officeDocument/2006/relationships/notesSlide" Target="/ppt/notesSlides/notesSlide9.xml" Id="R87a40b6d6eb64f06" /><Relationship Type="http://schemas.openxmlformats.org/officeDocument/2006/relationships/slideLayout" Target="/ppt/slideLayouts/slideLayout7.xml" Id="Rd876a8a6caba4913" /></Relationships>
</file>

<file path=ppt/slides/_rels/slide11.xml.rels>&#65279;<?xml version="1.0" encoding="utf-8"?><Relationships xmlns="http://schemas.openxmlformats.org/package/2006/relationships"><Relationship Type="http://schemas.openxmlformats.org/officeDocument/2006/relationships/image" Target="/ppt/media/image2.jpg" Id="R6b4b5ae1f1984f8f" /><Relationship Type="http://schemas.openxmlformats.org/officeDocument/2006/relationships/notesSlide" Target="/ppt/notesSlides/notesSlide10.xml" Id="R11bc50ccb8ef4004" /><Relationship Type="http://schemas.openxmlformats.org/officeDocument/2006/relationships/slideLayout" Target="/ppt/slideLayouts/slideLayout7.xml" Id="Raf23139892b647ac" /></Relationships>
</file>

<file path=ppt/slides/_rels/slide12.xml.rels>&#65279;<?xml version="1.0" encoding="utf-8"?><Relationships xmlns="http://schemas.openxmlformats.org/package/2006/relationships"><Relationship Type="http://schemas.openxmlformats.org/officeDocument/2006/relationships/image" Target="/ppt/media/image2.png" Id="R436c880e1d96439f" /><Relationship Type="http://schemas.openxmlformats.org/officeDocument/2006/relationships/notesSlide" Target="/ppt/notesSlides/notesSlide11.xml" Id="Rd695a242fe82450d" /><Relationship Type="http://schemas.openxmlformats.org/officeDocument/2006/relationships/slideLayout" Target="/ppt/slideLayouts/slideLayout7.xml" Id="Rf2351755761d45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3c21e13a0f6940fd" /></Relationships>
</file>

<file path=ppt/slides/_rels/slide14.xml.rels>&#65279;<?xml version="1.0" encoding="utf-8"?><Relationships xmlns="http://schemas.openxmlformats.org/package/2006/relationships"><Relationship Type="http://schemas.openxmlformats.org/officeDocument/2006/relationships/image" Target="/ppt/media/image3.jpg" Id="Rbda983aa511445cf" /><Relationship Type="http://schemas.openxmlformats.org/officeDocument/2006/relationships/notesSlide" Target="/ppt/notesSlides/notesSlide12.xml" Id="R2b97a38ac11e4868" /><Relationship Type="http://schemas.openxmlformats.org/officeDocument/2006/relationships/slideLayout" Target="/ppt/slideLayouts/slideLayout7.xml" Id="R328f394b8b844dc0" /></Relationships>
</file>

<file path=ppt/slides/_rels/slide15.xml.rels>&#65279;<?xml version="1.0" encoding="utf-8"?><Relationships xmlns="http://schemas.openxmlformats.org/package/2006/relationships"><Relationship Type="http://schemas.openxmlformats.org/officeDocument/2006/relationships/image" Target="/ppt/media/image3.png" Id="Rdf296adbdb2244cb" /><Relationship Type="http://schemas.openxmlformats.org/officeDocument/2006/relationships/notesSlide" Target="/ppt/notesSlides/notesSlide13.xml" Id="R4152e497d80d4f49" /><Relationship Type="http://schemas.openxmlformats.org/officeDocument/2006/relationships/slideLayout" Target="/ppt/slideLayouts/slideLayout7.xml" Id="Rf1b14f56bca94a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562cbaec2a214f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dbef95fdde034ab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d3e358817d714f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c221ff0d44334496" /></Relationships>
</file>

<file path=ppt/slides/_rels/slide20.xml.rels>&#65279;<?xml version="1.0" encoding="utf-8"?><Relationships xmlns="http://schemas.openxmlformats.org/package/2006/relationships"><Relationship Type="http://schemas.openxmlformats.org/officeDocument/2006/relationships/notesSlide" Target="/ppt/notesSlides/notesSlide14.xml" Id="R0807fed5cb7c4784" /><Relationship Type="http://schemas.openxmlformats.org/officeDocument/2006/relationships/slideLayout" Target="/ppt/slideLayouts/slideLayout7.xml" Id="Rbbaeda83aebf4ff5" /></Relationships>
</file>

<file path=ppt/slides/_rels/slide21.xml.rels>&#65279;<?xml version="1.0" encoding="utf-8"?><Relationships xmlns="http://schemas.openxmlformats.org/package/2006/relationships"><Relationship Type="http://schemas.openxmlformats.org/officeDocument/2006/relationships/notesSlide" Target="/ppt/notesSlides/notesSlide15.xml" Id="R0aaa700306c44f0b" /><Relationship Type="http://schemas.openxmlformats.org/officeDocument/2006/relationships/slideLayout" Target="/ppt/slideLayouts/slideLayout7.xml" Id="Rb9edf7f3fa054490" /></Relationships>
</file>

<file path=ppt/slides/_rels/slide22.xml.rels>&#65279;<?xml version="1.0" encoding="utf-8"?><Relationships xmlns="http://schemas.openxmlformats.org/package/2006/relationships"><Relationship Type="http://schemas.openxmlformats.org/officeDocument/2006/relationships/notesSlide" Target="/ppt/notesSlides/notesSlide16.xml" Id="R6c3cafa7974345ad" /><Relationship Type="http://schemas.openxmlformats.org/officeDocument/2006/relationships/slideLayout" Target="/ppt/slideLayouts/slideLayout7.xml" Id="Rd52bbc48aa404aac" /></Relationships>
</file>

<file path=ppt/slides/_rels/slide23.xml.rels>&#65279;<?xml version="1.0" encoding="utf-8"?><Relationships xmlns="http://schemas.openxmlformats.org/package/2006/relationships"><Relationship Type="http://schemas.openxmlformats.org/officeDocument/2006/relationships/notesSlide" Target="/ppt/notesSlides/notesSlide17.xml" Id="Ra0b19d6b091446ce" /><Relationship Type="http://schemas.openxmlformats.org/officeDocument/2006/relationships/slideLayout" Target="/ppt/slideLayouts/slideLayout26.xml" Id="R9e3455e2e1274579" /></Relationships>
</file>

<file path=ppt/slides/_rels/slide24.xml.rels>&#65279;<?xml version="1.0" encoding="utf-8"?><Relationships xmlns="http://schemas.openxmlformats.org/package/2006/relationships"><Relationship Type="http://schemas.openxmlformats.org/officeDocument/2006/relationships/notesSlide" Target="/ppt/notesSlides/notesSlide18.xml" Id="R099b39b9472c4139" /><Relationship Type="http://schemas.openxmlformats.org/officeDocument/2006/relationships/slideLayout" Target="/ppt/slideLayouts/slideLayout24.xml" Id="R4c7362b993cd4be8" /></Relationships>
</file>

<file path=ppt/slides/_rels/slide25.xml.rels>&#65279;<?xml version="1.0" encoding="utf-8"?><Relationships xmlns="http://schemas.openxmlformats.org/package/2006/relationships"><Relationship Type="http://schemas.openxmlformats.org/officeDocument/2006/relationships/notesSlide" Target="/ppt/notesSlides/notesSlide19.xml" Id="R30c78ddb4fed4bc3" /><Relationship Type="http://schemas.openxmlformats.org/officeDocument/2006/relationships/slideLayout" Target="/ppt/slideLayouts/slideLayout24.xml" Id="R4951554b4f884cea" /></Relationships>
</file>

<file path=ppt/slides/_rels/slide26.xml.rels>&#65279;<?xml version="1.0" encoding="utf-8"?><Relationships xmlns="http://schemas.openxmlformats.org/package/2006/relationships"><Relationship Type="http://schemas.openxmlformats.org/officeDocument/2006/relationships/notesSlide" Target="/ppt/notesSlides/notesSlide20.xml" Id="Re2ba7cc46e7246d0" /><Relationship Type="http://schemas.openxmlformats.org/officeDocument/2006/relationships/slideLayout" Target="/ppt/slideLayouts/slideLayout24.xml" Id="R0c21d45e4db940fb" /></Relationships>
</file>

<file path=ppt/slides/_rels/slide27.xml.rels>&#65279;<?xml version="1.0" encoding="utf-8"?><Relationships xmlns="http://schemas.openxmlformats.org/package/2006/relationships"><Relationship Type="http://schemas.openxmlformats.org/officeDocument/2006/relationships/notesSlide" Target="/ppt/notesSlides/notesSlide21.xml" Id="R542a6661098d4307" /><Relationship Type="http://schemas.openxmlformats.org/officeDocument/2006/relationships/slideLayout" Target="/ppt/slideLayouts/slideLayout24.xml" Id="R5f9f7ab154e6481a" /></Relationships>
</file>

<file path=ppt/slides/_rels/slide28.xml.rels>&#65279;<?xml version="1.0" encoding="utf-8"?><Relationships xmlns="http://schemas.openxmlformats.org/package/2006/relationships"><Relationship Type="http://schemas.openxmlformats.org/officeDocument/2006/relationships/notesSlide" Target="/ppt/notesSlides/notesSlide22.xml" Id="R9b67a02c3c7b45af" /><Relationship Type="http://schemas.openxmlformats.org/officeDocument/2006/relationships/slideLayout" Target="/ppt/slideLayouts/slideLayout24.xml" Id="R2618cb4e18c34a03" /></Relationships>
</file>

<file path=ppt/slides/_rels/slide29.xml.rels>&#65279;<?xml version="1.0" encoding="utf-8"?><Relationships xmlns="http://schemas.openxmlformats.org/package/2006/relationships"><Relationship Type="http://schemas.openxmlformats.org/officeDocument/2006/relationships/notesSlide" Target="/ppt/notesSlides/notesSlide23.xml" Id="R1ee72b6e46d341e2" /><Relationship Type="http://schemas.openxmlformats.org/officeDocument/2006/relationships/slideLayout" Target="/ppt/slideLayouts/slideLayout24.xml" Id="R2e6b8e0ab8984ac7" /></Relationships>
</file>

<file path=ppt/slides/_rels/slide30.xml.rels>&#65279;<?xml version="1.0" encoding="utf-8"?><Relationships xmlns="http://schemas.openxmlformats.org/package/2006/relationships"><Relationship Type="http://schemas.openxmlformats.org/officeDocument/2006/relationships/notesSlide" Target="/ppt/notesSlides/notesSlide24.xml" Id="R87dbc08730674e44" /><Relationship Type="http://schemas.openxmlformats.org/officeDocument/2006/relationships/slideLayout" Target="/ppt/slideLayouts/slideLayout24.xml" Id="R351fc4670bd84df5" /></Relationships>
</file>

<file path=ppt/slides/_rels/slide31.xml.rels>&#65279;<?xml version="1.0" encoding="utf-8"?><Relationships xmlns="http://schemas.openxmlformats.org/package/2006/relationships"><Relationship Type="http://schemas.openxmlformats.org/officeDocument/2006/relationships/notesSlide" Target="/ppt/notesSlides/notesSlide25.xml" Id="R39f0a74848c14ed7" /><Relationship Type="http://schemas.openxmlformats.org/officeDocument/2006/relationships/slideLayout" Target="/ppt/slideLayouts/slideLayout24.xml" Id="R4464247e338441eb" /></Relationships>
</file>

<file path=ppt/slides/_rels/slide32.xml.rels>&#65279;<?xml version="1.0" encoding="utf-8"?><Relationships xmlns="http://schemas.openxmlformats.org/package/2006/relationships"><Relationship Type="http://schemas.openxmlformats.org/officeDocument/2006/relationships/notesSlide" Target="/ppt/notesSlides/notesSlide26.xml" Id="Ra012f04a9d364606" /><Relationship Type="http://schemas.openxmlformats.org/officeDocument/2006/relationships/slideLayout" Target="/ppt/slideLayouts/slideLayout24.xml" Id="R16219d1dc91e47fe" /></Relationships>
</file>

<file path=ppt/slides/_rels/slide33.xml.rels>&#65279;<?xml version="1.0" encoding="utf-8"?><Relationships xmlns="http://schemas.openxmlformats.org/package/2006/relationships"><Relationship Type="http://schemas.openxmlformats.org/officeDocument/2006/relationships/notesSlide" Target="/ppt/notesSlides/notesSlide27.xml" Id="R51470e71d5b641a7" /><Relationship Type="http://schemas.openxmlformats.org/officeDocument/2006/relationships/slideLayout" Target="/ppt/slideLayouts/slideLayout24.xml" Id="Rcab01ceb74474099" /></Relationships>
</file>

<file path=ppt/slides/_rels/slide34.xml.rels>&#65279;<?xml version="1.0" encoding="utf-8"?><Relationships xmlns="http://schemas.openxmlformats.org/package/2006/relationships"><Relationship Type="http://schemas.openxmlformats.org/officeDocument/2006/relationships/notesSlide" Target="/ppt/notesSlides/notesSlide28.xml" Id="R9db3350526154319" /><Relationship Type="http://schemas.openxmlformats.org/officeDocument/2006/relationships/slideLayout" Target="/ppt/slideLayouts/slideLayout24.xml" Id="Rf6fd31a5947c4bd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4.xml" Id="Ra455c04bf06945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4.xml" Id="Rd8bba616f31f4d6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3.xml" Id="Rc53ceba8e34c492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41.xml" Id="Ra74e4b991a0d4b3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41.xml" Id="R021c9b97483b406f" /></Relationships>
</file>

<file path=ppt/slides/_rels/slide40.xml.rels>&#65279;<?xml version="1.0" encoding="utf-8"?><Relationships xmlns="http://schemas.openxmlformats.org/package/2006/relationships"><Relationship Type="http://schemas.openxmlformats.org/officeDocument/2006/relationships/notesSlide" Target="/ppt/notesSlides/notesSlide29.xml" Id="R83a4b4c1044b4e84" /><Relationship Type="http://schemas.openxmlformats.org/officeDocument/2006/relationships/slideLayout" Target="/ppt/slideLayouts/slideLayout41.xml" Id="R888228fccce047dc" /></Relationships>
</file>

<file path=ppt/slides/_rels/slide41.xml.rels>&#65279;<?xml version="1.0" encoding="utf-8"?><Relationships xmlns="http://schemas.openxmlformats.org/package/2006/relationships"><Relationship Type="http://schemas.openxmlformats.org/officeDocument/2006/relationships/notesSlide" Target="/ppt/notesSlides/notesSlide30.xml" Id="Rf888459ac07845c3" /><Relationship Type="http://schemas.openxmlformats.org/officeDocument/2006/relationships/slideLayout" Target="/ppt/slideLayouts/slideLayout41.xml" Id="Rd25a518fabc3434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41.xml" Id="R381e63f9b2f74b4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41.xml" Id="Rec3ff95d836d4521" /></Relationships>
</file>

<file path=ppt/slides/_rels/slide44.xml.rels>&#65279;<?xml version="1.0" encoding="utf-8"?><Relationships xmlns="http://schemas.openxmlformats.org/package/2006/relationships"><Relationship Type="http://schemas.openxmlformats.org/officeDocument/2006/relationships/notesSlide" Target="/ppt/notesSlides/notesSlide31.xml" Id="Rbcc44a4a9b764dc0" /><Relationship Type="http://schemas.openxmlformats.org/officeDocument/2006/relationships/slideLayout" Target="/ppt/slideLayouts/slideLayout41.xml" Id="R0bad4d7556b840b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4.xml" Id="R1cb6cd911e79467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41.xml" Id="R7ac9b5225ca64a9e" /></Relationships>
</file>

<file path=ppt/slides/_rels/slide47.xml.rels>&#65279;<?xml version="1.0" encoding="utf-8"?><Relationships xmlns="http://schemas.openxmlformats.org/package/2006/relationships"><Relationship Type="http://schemas.openxmlformats.org/officeDocument/2006/relationships/notesSlide" Target="/ppt/notesSlides/notesSlide32.xml" Id="R189260ea68924959" /><Relationship Type="http://schemas.openxmlformats.org/officeDocument/2006/relationships/slideLayout" Target="/ppt/slideLayouts/slideLayout41.xml" Id="R1f08b79b07314928" /></Relationships>
</file>

<file path=ppt/slides/_rels/slide48.xml.rels>&#65279;<?xml version="1.0" encoding="utf-8"?><Relationships xmlns="http://schemas.openxmlformats.org/package/2006/relationships"><Relationship Type="http://schemas.openxmlformats.org/officeDocument/2006/relationships/notesSlide" Target="/ppt/notesSlides/notesSlide33.xml" Id="R4704ee3abd984d9d" /><Relationship Type="http://schemas.openxmlformats.org/officeDocument/2006/relationships/slideLayout" Target="/ppt/slideLayouts/slideLayout41.xml" Id="Rc96aaf04ed264d2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41.xml" Id="Rf50bb42afc9d4e3a" /></Relationships>
</file>

<file path=ppt/slides/_rels/slide50.xml.rels>&#65279;<?xml version="1.0" encoding="utf-8"?><Relationships xmlns="http://schemas.openxmlformats.org/package/2006/relationships"><Relationship Type="http://schemas.openxmlformats.org/officeDocument/2006/relationships/notesSlide" Target="/ppt/notesSlides/notesSlide34.xml" Id="Rf1ec1d8e13394aa9" /><Relationship Type="http://schemas.openxmlformats.org/officeDocument/2006/relationships/slideLayout" Target="/ppt/slideLayouts/slideLayout41.xml" Id="R1a0820bf7a684db0" /></Relationships>
</file>

<file path=ppt/slides/_rels/slide51.xml.rels>&#65279;<?xml version="1.0" encoding="utf-8"?><Relationships xmlns="http://schemas.openxmlformats.org/package/2006/relationships"><Relationship Type="http://schemas.openxmlformats.org/officeDocument/2006/relationships/notesSlide" Target="/ppt/notesSlides/notesSlide35.xml" Id="R388ef5db47d74488" /><Relationship Type="http://schemas.openxmlformats.org/officeDocument/2006/relationships/slideLayout" Target="/ppt/slideLayouts/slideLayout41.xml" Id="Recc70a78855946a4" /></Relationships>
</file>

<file path=ppt/slides/_rels/slide52.xml.rels>&#65279;<?xml version="1.0" encoding="utf-8"?><Relationships xmlns="http://schemas.openxmlformats.org/package/2006/relationships"><Relationship Type="http://schemas.openxmlformats.org/officeDocument/2006/relationships/notesSlide" Target="/ppt/notesSlides/notesSlide36.xml" Id="Rceb12c1bf99b44a0" /><Relationship Type="http://schemas.openxmlformats.org/officeDocument/2006/relationships/slideLayout" Target="/ppt/slideLayouts/slideLayout41.xml" Id="R95ba5482fb9545c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41.xml" Id="R393ef7dc47d9448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41.xml" Id="Ra8d23e19768b44a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41.xml" Id="Rd838cfe48a284b3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41.xml" Id="Rb7ec57721c374dd9" /></Relationships>
</file>

<file path=ppt/slides/_rels/slide57.xml.rels>&#65279;<?xml version="1.0" encoding="utf-8"?><Relationships xmlns="http://schemas.openxmlformats.org/package/2006/relationships"><Relationship Type="http://schemas.openxmlformats.org/officeDocument/2006/relationships/notesSlide" Target="/ppt/notesSlides/notesSlide37.xml" Id="Ra996e290bc6c4cef" /><Relationship Type="http://schemas.openxmlformats.org/officeDocument/2006/relationships/slideLayout" Target="/ppt/slideLayouts/slideLayout43.xml" Id="R85533284b49f4d7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41.xml" Id="Rb3a676c3f05a4d6f" /></Relationships>
</file>

<file path=ppt/slides/_rels/slide59.xml.rels>&#65279;<?xml version="1.0" encoding="utf-8"?><Relationships xmlns="http://schemas.openxmlformats.org/package/2006/relationships"><Relationship Type="http://schemas.openxmlformats.org/officeDocument/2006/relationships/notesSlide" Target="/ppt/notesSlides/notesSlide38.xml" Id="Rbb2423f2f41b4990" /><Relationship Type="http://schemas.openxmlformats.org/officeDocument/2006/relationships/slideLayout" Target="/ppt/slideLayouts/slideLayout41.xml" Id="R28968a76cbce472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41.xml" Id="R9fbbb5b2ae484c8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41.xml" Id="R2c92a60ad7aa487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41.xml" Id="R33889175ca41422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41.xml" Id="Ra4f0ad236cbc497e" /></Relationships>
</file>

<file path=ppt/slides/_rels/slide64.xml.rels>&#65279;<?xml version="1.0" encoding="utf-8"?><Relationships xmlns="http://schemas.openxmlformats.org/package/2006/relationships"><Relationship Type="http://schemas.openxmlformats.org/officeDocument/2006/relationships/notesSlide" Target="/ppt/notesSlides/notesSlide39.xml" Id="R9b809d8ddcab4962" /><Relationship Type="http://schemas.openxmlformats.org/officeDocument/2006/relationships/slideLayout" Target="/ppt/slideLayouts/slideLayout41.xml" Id="R12815091436849ef" /></Relationships>
</file>

<file path=ppt/slides/_rels/slide65.xml.rels>&#65279;<?xml version="1.0" encoding="utf-8"?><Relationships xmlns="http://schemas.openxmlformats.org/package/2006/relationships"><Relationship Type="http://schemas.openxmlformats.org/officeDocument/2006/relationships/notesSlide" Target="/ppt/notesSlides/notesSlide40.xml" Id="Rab2fc6d8275c413a" /><Relationship Type="http://schemas.openxmlformats.org/officeDocument/2006/relationships/slideLayout" Target="/ppt/slideLayouts/slideLayout41.xml" Id="Rc96ddd985c89467d" /></Relationships>
</file>

<file path=ppt/slides/_rels/slide66.xml.rels>&#65279;<?xml version="1.0" encoding="utf-8"?><Relationships xmlns="http://schemas.openxmlformats.org/package/2006/relationships"><Relationship Type="http://schemas.openxmlformats.org/officeDocument/2006/relationships/notesSlide" Target="/ppt/notesSlides/notesSlide41.xml" Id="Rc511e80ec6094975" /><Relationship Type="http://schemas.openxmlformats.org/officeDocument/2006/relationships/slideLayout" Target="/ppt/slideLayouts/slideLayout41.xml" Id="R255b41ce391e4c62" /></Relationships>
</file>

<file path=ppt/slides/_rels/slide67.xml.rels>&#65279;<?xml version="1.0" encoding="utf-8"?><Relationships xmlns="http://schemas.openxmlformats.org/package/2006/relationships"><Relationship Type="http://schemas.openxmlformats.org/officeDocument/2006/relationships/slideLayout" Target="/ppt/slideLayouts/slideLayout41.xml" Id="R6c88dd866e2342d3" /></Relationships>
</file>

<file path=ppt/slides/_rels/slide68.xml.rels>&#65279;<?xml version="1.0" encoding="utf-8"?><Relationships xmlns="http://schemas.openxmlformats.org/package/2006/relationships"><Relationship Type="http://schemas.openxmlformats.org/officeDocument/2006/relationships/notesSlide" Target="/ppt/notesSlides/notesSlide42.xml" Id="R7fe626e96ccb4f0f" /><Relationship Type="http://schemas.openxmlformats.org/officeDocument/2006/relationships/slideLayout" Target="/ppt/slideLayouts/slideLayout41.xml" Id="Rc7655d21a2564ce7" /></Relationships>
</file>

<file path=ppt/slides/_rels/slide69.xml.rels>&#65279;<?xml version="1.0" encoding="utf-8"?><Relationships xmlns="http://schemas.openxmlformats.org/package/2006/relationships"><Relationship Type="http://schemas.openxmlformats.org/officeDocument/2006/relationships/image" Target="/ppt/media/image4.png" Id="Rfe0cad8fcec74e47" /><Relationship Type="http://schemas.openxmlformats.org/officeDocument/2006/relationships/slideLayout" Target="/ppt/slideLayouts/slideLayout41.xml" Id="Re9be3bcf555c4e3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41.xml" Id="R9296210de759400c" /></Relationships>
</file>

<file path=ppt/slides/_rels/slide71.xml.rels>&#65279;<?xml version="1.0" encoding="utf-8"?><Relationships xmlns="http://schemas.openxmlformats.org/package/2006/relationships"><Relationship Type="http://schemas.openxmlformats.org/officeDocument/2006/relationships/notesSlide" Target="/ppt/notesSlides/notesSlide43.xml" Id="R88a2d110d0ce42de" /><Relationship Type="http://schemas.openxmlformats.org/officeDocument/2006/relationships/slideLayout" Target="/ppt/slideLayouts/slideLayout41.xml" Id="Rfae8ab566ddb4662" /></Relationships>
</file>

<file path=ppt/slides/_rels/slide72.xml.rels>&#65279;<?xml version="1.0" encoding="utf-8"?><Relationships xmlns="http://schemas.openxmlformats.org/package/2006/relationships"><Relationship Type="http://schemas.openxmlformats.org/officeDocument/2006/relationships/notesSlide" Target="/ppt/notesSlides/notesSlide44.xml" Id="R370e3d93b24d4e0e" /><Relationship Type="http://schemas.openxmlformats.org/officeDocument/2006/relationships/slideLayout" Target="/ppt/slideLayouts/slideLayout41.xml" Id="R60c2f83860a64dff" /></Relationships>
</file>

<file path=ppt/slides/_rels/slide73.xml.rels>&#65279;<?xml version="1.0" encoding="utf-8"?><Relationships xmlns="http://schemas.openxmlformats.org/package/2006/relationships"><Relationship Type="http://schemas.openxmlformats.org/officeDocument/2006/relationships/notesSlide" Target="/ppt/notesSlides/notesSlide45.xml" Id="Rb19fbfe3b7ef4e5b" /><Relationship Type="http://schemas.openxmlformats.org/officeDocument/2006/relationships/slideLayout" Target="/ppt/slideLayouts/slideLayout41.xml" Id="R8e7193bbbd594dd1" /></Relationships>
</file>

<file path=ppt/slides/_rels/slide74.xml.rels>&#65279;<?xml version="1.0" encoding="utf-8"?><Relationships xmlns="http://schemas.openxmlformats.org/package/2006/relationships"><Relationship Type="http://schemas.openxmlformats.org/officeDocument/2006/relationships/notesSlide" Target="/ppt/notesSlides/notesSlide46.xml" Id="Rd050ee1650ff4504" /><Relationship Type="http://schemas.openxmlformats.org/officeDocument/2006/relationships/slideLayout" Target="/ppt/slideLayouts/slideLayout41.xml" Id="Rfc28639e74864487" /></Relationships>
</file>

<file path=ppt/slides/_rels/slide75.xml.rels>&#65279;<?xml version="1.0" encoding="utf-8"?><Relationships xmlns="http://schemas.openxmlformats.org/package/2006/relationships"><Relationship Type="http://schemas.openxmlformats.org/officeDocument/2006/relationships/image" Target="/ppt/media/image4.jpg" Id="R31cb8b6762aa42d1" /><Relationship Type="http://schemas.openxmlformats.org/officeDocument/2006/relationships/slideLayout" Target="/ppt/slideLayouts/slideLayout41.xml" Id="R12c2eeaad9334477" /></Relationships>
</file>

<file path=ppt/slides/_rels/slide76.xml.rels>&#65279;<?xml version="1.0" encoding="utf-8"?><Relationships xmlns="http://schemas.openxmlformats.org/package/2006/relationships"><Relationship Type="http://schemas.openxmlformats.org/officeDocument/2006/relationships/notesSlide" Target="/ppt/notesSlides/notesSlide47.xml" Id="R5a2d4679576446d3" /><Relationship Type="http://schemas.openxmlformats.org/officeDocument/2006/relationships/slideLayout" Target="/ppt/slideLayouts/slideLayout41.xml" Id="Rd56dd8f09e3a482c" /></Relationships>
</file>

<file path=ppt/slides/_rels/slide77.xml.rels>&#65279;<?xml version="1.0" encoding="utf-8"?><Relationships xmlns="http://schemas.openxmlformats.org/package/2006/relationships"><Relationship Type="http://schemas.openxmlformats.org/officeDocument/2006/relationships/notesSlide" Target="/ppt/notesSlides/notesSlide48.xml" Id="R6823837d0bc14246" /><Relationship Type="http://schemas.openxmlformats.org/officeDocument/2006/relationships/slideLayout" Target="/ppt/slideLayouts/slideLayout41.xml" Id="R413f4c96d779478d" /></Relationships>
</file>

<file path=ppt/slides/_rels/slide78.xml.rels>&#65279;<?xml version="1.0" encoding="utf-8"?><Relationships xmlns="http://schemas.openxmlformats.org/package/2006/relationships"><Relationship Type="http://schemas.openxmlformats.org/officeDocument/2006/relationships/image" Target="/ppt/media/image5.png" Id="Rcb969b67c6374378" /><Relationship Type="http://schemas.openxmlformats.org/officeDocument/2006/relationships/slideLayout" Target="/ppt/slideLayouts/slideLayout41.xml" Id="R20b741ae9f6c4f69" /></Relationships>
</file>

<file path=ppt/slides/_rels/slide79.xml.rels>&#65279;<?xml version="1.0" encoding="utf-8"?><Relationships xmlns="http://schemas.openxmlformats.org/package/2006/relationships"><Relationship Type="http://schemas.openxmlformats.org/officeDocument/2006/relationships/notesSlide" Target="/ppt/notesSlides/notesSlide49.xml" Id="R86087e8f86124ad3" /><Relationship Type="http://schemas.openxmlformats.org/officeDocument/2006/relationships/slideLayout" Target="/ppt/slideLayouts/slideLayout41.xml" Id="Rffd9f7806c154f8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41.xml" Id="R1fc7beeb16fe4437" /></Relationships>
</file>

<file path=ppt/slides/_rels/slide81.xml.rels>&#65279;<?xml version="1.0" encoding="utf-8"?><Relationships xmlns="http://schemas.openxmlformats.org/package/2006/relationships"><Relationship Type="http://schemas.openxmlformats.org/officeDocument/2006/relationships/image" Target="/ppt/media/image6.png" Id="R003a82ed48434c6b" /><Relationship Type="http://schemas.openxmlformats.org/officeDocument/2006/relationships/notesSlide" Target="/ppt/notesSlides/notesSlide50.xml" Id="R1827e228b3c84353" /><Relationship Type="http://schemas.openxmlformats.org/officeDocument/2006/relationships/slideLayout" Target="/ppt/slideLayouts/slideLayout41.xml" Id="R2b656a0229cf413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41.xml" Id="Rf6fe9dd6f4b64bdd" /></Relationships>
</file>

<file path=ppt/slides/_rels/slide83.xml.rels>&#65279;<?xml version="1.0" encoding="utf-8"?><Relationships xmlns="http://schemas.openxmlformats.org/package/2006/relationships"><Relationship Type="http://schemas.openxmlformats.org/officeDocument/2006/relationships/notesSlide" Target="/ppt/notesSlides/notesSlide51.xml" Id="R786a942bbd8242f9" /><Relationship Type="http://schemas.openxmlformats.org/officeDocument/2006/relationships/slideLayout" Target="/ppt/slideLayouts/slideLayout41.xml" Id="R25c768055feb4cc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41.xml" Id="Rc10c078e5df04c20" /></Relationships>
</file>

<file path=ppt/slides/_rels/slide85.xml.rels>&#65279;<?xml version="1.0" encoding="utf-8"?><Relationships xmlns="http://schemas.openxmlformats.org/package/2006/relationships"><Relationship Type="http://schemas.openxmlformats.org/officeDocument/2006/relationships/image" Target="/ppt/media/image7.png" Id="R309c084933424262" /><Relationship Type="http://schemas.openxmlformats.org/officeDocument/2006/relationships/notesSlide" Target="/ppt/notesSlides/notesSlide52.xml" Id="Rbbf080c7859a4b36" /><Relationship Type="http://schemas.openxmlformats.org/officeDocument/2006/relationships/slideLayout" Target="/ppt/slideLayouts/slideLayout41.xml" Id="R6953e161d9344d24" /></Relationships>
</file>

<file path=ppt/slides/_rels/slide86.xml.rels>&#65279;<?xml version="1.0" encoding="utf-8"?><Relationships xmlns="http://schemas.openxmlformats.org/package/2006/relationships"><Relationship Type="http://schemas.openxmlformats.org/officeDocument/2006/relationships/image" Target="/ppt/media/image8.png" Id="R5c0516b06d064a62" /><Relationship Type="http://schemas.openxmlformats.org/officeDocument/2006/relationships/notesSlide" Target="/ppt/notesSlides/notesSlide53.xml" Id="R707a0ec24a614a99" /><Relationship Type="http://schemas.openxmlformats.org/officeDocument/2006/relationships/slideLayout" Target="/ppt/slideLayouts/slideLayout41.xml" Id="Rdab9a0aad76a44be" /></Relationships>
</file>

<file path=ppt/slides/_rels/slide87.xml.rels>&#65279;<?xml version="1.0" encoding="utf-8"?><Relationships xmlns="http://schemas.openxmlformats.org/package/2006/relationships"><Relationship Type="http://schemas.openxmlformats.org/officeDocument/2006/relationships/notesSlide" Target="/ppt/notesSlides/notesSlide54.xml" Id="R4b6fe53582ac43a3" /><Relationship Type="http://schemas.openxmlformats.org/officeDocument/2006/relationships/slideLayout" Target="/ppt/slideLayouts/slideLayout41.xml" Id="R0d93124f4a2b46d7" /></Relationships>
</file>

<file path=ppt/slides/_rels/slide88.xml.rels>&#65279;<?xml version="1.0" encoding="utf-8"?><Relationships xmlns="http://schemas.openxmlformats.org/package/2006/relationships"><Relationship Type="http://schemas.openxmlformats.org/officeDocument/2006/relationships/notesSlide" Target="/ppt/notesSlides/notesSlide55.xml" Id="Rc338d7d9d39e4889" /><Relationship Type="http://schemas.openxmlformats.org/officeDocument/2006/relationships/slideLayout" Target="/ppt/slideLayouts/slideLayout60.xml" Id="Rbac881931cd14af7" /></Relationships>
</file>

<file path=ppt/slides/_rels/slide89.xml.rels>&#65279;<?xml version="1.0" encoding="utf-8"?><Relationships xmlns="http://schemas.openxmlformats.org/package/2006/relationships"><Relationship Type="http://schemas.openxmlformats.org/officeDocument/2006/relationships/slideLayout" Target="/ppt/slideLayouts/slideLayout58.xml" Id="R08f6cc55c9d1433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58.xml" Id="R7bfa6f52add1442b" /></Relationships>
</file>

<file path=ppt/slides/_rels/slide91.xml.rels>&#65279;<?xml version="1.0" encoding="utf-8"?><Relationships xmlns="http://schemas.openxmlformats.org/package/2006/relationships"><Relationship Type="http://schemas.openxmlformats.org/officeDocument/2006/relationships/notesSlide" Target="/ppt/notesSlides/notesSlide56.xml" Id="R0d1e38a6769340ad" /><Relationship Type="http://schemas.openxmlformats.org/officeDocument/2006/relationships/slideLayout" Target="/ppt/slideLayouts/slideLayout58.xml" Id="Ra52827f99fb74aa7" /></Relationships>
</file>

<file path=ppt/slides/_rels/slide92.xml.rels>&#65279;<?xml version="1.0" encoding="utf-8"?><Relationships xmlns="http://schemas.openxmlformats.org/package/2006/relationships"><Relationship Type="http://schemas.openxmlformats.org/officeDocument/2006/relationships/slideLayout" Target="/ppt/slideLayouts/slideLayout58.xml" Id="R0184acc3d311440e" /></Relationships>
</file>

<file path=ppt/slides/_rels/slide93.xml.rels>&#65279;<?xml version="1.0" encoding="utf-8"?><Relationships xmlns="http://schemas.openxmlformats.org/package/2006/relationships"><Relationship Type="http://schemas.openxmlformats.org/officeDocument/2006/relationships/slideLayout" Target="/ppt/slideLayouts/slideLayout58.xml" Id="R4a7290579a534e2f" /></Relationships>
</file>

<file path=ppt/slides/_rels/slide94.xml.rels>&#65279;<?xml version="1.0" encoding="utf-8"?><Relationships xmlns="http://schemas.openxmlformats.org/package/2006/relationships"><Relationship Type="http://schemas.openxmlformats.org/officeDocument/2006/relationships/slideLayout" Target="/ppt/slideLayouts/slideLayout58.xml" Id="Rfb59788053ef4d73" /></Relationships>
</file>

<file path=ppt/slides/_rels/slide95.xml.rels>&#65279;<?xml version="1.0" encoding="utf-8"?><Relationships xmlns="http://schemas.openxmlformats.org/package/2006/relationships"><Relationship Type="http://schemas.openxmlformats.org/officeDocument/2006/relationships/slideLayout" Target="/ppt/slideLayouts/slideLayout58.xml" Id="Rf48de64bb7cf406f" /></Relationships>
</file>

<file path=ppt/slides/_rels/slide96.xml.rels>&#65279;<?xml version="1.0" encoding="utf-8"?><Relationships xmlns="http://schemas.openxmlformats.org/package/2006/relationships"><Relationship Type="http://schemas.openxmlformats.org/officeDocument/2006/relationships/slideLayout" Target="/ppt/slideLayouts/slideLayout58.xml" Id="R05c046093f214f3c" /></Relationships>
</file>

<file path=ppt/slides/_rels/slide97.xml.rels>&#65279;<?xml version="1.0" encoding="utf-8"?><Relationships xmlns="http://schemas.openxmlformats.org/package/2006/relationships"><Relationship Type="http://schemas.openxmlformats.org/officeDocument/2006/relationships/slideLayout" Target="/ppt/slideLayouts/slideLayout58.xml" Id="Re6bf65a9b9d2422f" /></Relationships>
</file>

<file path=ppt/slides/_rels/slide98.xml.rels>&#65279;<?xml version="1.0" encoding="utf-8"?><Relationships xmlns="http://schemas.openxmlformats.org/package/2006/relationships"><Relationship Type="http://schemas.openxmlformats.org/officeDocument/2006/relationships/slideLayout" Target="/ppt/slideLayouts/slideLayout58.xml" Id="R732843aa05184831" /></Relationships>
</file>

<file path=ppt/slides/_rels/slide99.xml.rels>&#65279;<?xml version="1.0" encoding="utf-8"?><Relationships xmlns="http://schemas.openxmlformats.org/package/2006/relationships"><Relationship Type="http://schemas.openxmlformats.org/officeDocument/2006/relationships/slideLayout" Target="/ppt/slideLayouts/slideLayout58.xml" Id="Rfcc8f00f4c3f4a5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58.xml" Id="Rfc8b33893a2246bc"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58.xml" Id="Rca9ed25f5f74432d"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58.xml" Id="R1cbbab55d46c4e0b"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58.xml" Id="R65a3b7f968fe42d8"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58.xml" Id="Reb8c02d5c9cb4169"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58.xml" Id="R78a2817b19d14c18"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58.xml" Id="Rab9895f642414d1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58.xml" Id="Rd84c4a6906824eda"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58.xml" Id="R5388789865db4e81"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58.xml" Id="Rc1624dd2f02141cb"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58.xml" Id="Re198a234dcb84dcd"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58.xml" Id="Rf657815caa714422"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58.xml" Id="R0adb7fb7fca640a2"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58.xml" Id="Rbe32ab250a344cb9"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58.xml" Id="R08b5da95f60c4629" /></Relationships>
</file>

<file path=ppt/slides/_rels/slide115.xml.rels>&#65279;<?xml version="1.0" encoding="utf-8"?><Relationships xmlns="http://schemas.openxmlformats.org/package/2006/relationships"><Relationship Type="http://schemas.openxmlformats.org/officeDocument/2006/relationships/image" Target="/ppt/media/image9.png" Id="R6805867c85b84bbf" /><Relationship Type="http://schemas.openxmlformats.org/officeDocument/2006/relationships/image" Target="/ppt/media/image10.png" Id="Ra414d1fb8a694028" /><Relationship Type="http://schemas.openxmlformats.org/officeDocument/2006/relationships/slideLayout" Target="/ppt/slideLayouts/slideLayout58.xml" Id="R93e419bfc8884127" /></Relationships>
</file>

<file path=ppt/slides/_rels/slide116.xml.rels>&#65279;<?xml version="1.0" encoding="utf-8"?><Relationships xmlns="http://schemas.openxmlformats.org/package/2006/relationships"><Relationship Type="http://schemas.openxmlformats.org/officeDocument/2006/relationships/image" Target="/ppt/media/image11.png" Id="R3903a593b1f1467c" /><Relationship Type="http://schemas.openxmlformats.org/officeDocument/2006/relationships/slideLayout" Target="/ppt/slideLayouts/slideLayout58.xml" Id="R0122aad1366844fa"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58.xml" Id="Rc3c0a308dec24e86"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58.xml" Id="Rbf2a743398c3414c"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58.xml" Id="Re61a478ff9434423"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Advanced Software Engineering</a:t>
            </a:r>
          </a:p>
        </p:txBody>
      </p:sp>
      <p:sp>
        <p:nvSpPr>
          <p:cNvPr id="3" name="Subtitle 2"/>
          <p:cNvSpPr>
            <a:spLocks noGrp="1"/>
          </p:cNvSpPr>
          <p:nvPr>
            <p:ph type="subTitle" idx="1"/>
          </p:nvPr>
        </p:nvSpPr>
        <p:spPr/>
        <p:txBody>
          <a:bodyPr>
            <a:normAutofit/>
          </a:bodyPr>
          <a:lstStyle/>
          <a:p>
            <a:r>
              <a:rPr dirty="0"/>
              <a:t>Lecture 1: </a:t>
            </a:r>
            <a:r>
              <a:rPr dirty="0"/>
              <a:t>Introduction</a:t>
            </a:r>
            <a:endParaRPr lang="en-US" dirty="0"/>
          </a:p>
          <a:p>
            <a:endParaRPr lang="en-US" dirty="0"/>
          </a:p>
          <a:p>
            <a:r>
              <a:rPr lang="en-US" dirty="0"/>
              <a:t>Shehla Saeed</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Engineering?</a:t>
            </a:r>
          </a:p>
        </p:txBody>
      </p:sp>
      <p:sp>
        <p:nvSpPr>
          <p:cNvPr id="3" name="Content Placeholder 2"/>
          <p:cNvSpPr>
            <a:spLocks noGrp="1"/>
          </p:cNvSpPr>
          <p:nvPr>
            <p:ph idx="1"/>
          </p:nvPr>
        </p:nvSpPr>
        <p:spPr/>
        <p:txBody>
          <a:bodyPr/>
          <a:lstStyle/>
          <a:p>
            <a:r>
              <a:t>- Application of science &amp; math</a:t>
            </a:r>
          </a:p>
          <a:p>
            <a:r>
              <a:t>- Design &amp; build solutions</a:t>
            </a:r>
          </a:p>
          <a:p>
            <a:r>
              <a:t>- Solve real-world problems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Software?</a:t>
            </a:r>
          </a:p>
        </p:txBody>
      </p:sp>
      <p:sp>
        <p:nvSpPr>
          <p:cNvPr id="3" name="Content Placeholder 2"/>
          <p:cNvSpPr>
            <a:spLocks noGrp="1"/>
          </p:cNvSpPr>
          <p:nvPr>
            <p:ph idx="1"/>
          </p:nvPr>
        </p:nvSpPr>
        <p:spPr/>
        <p:txBody>
          <a:bodyPr/>
          <a:lstStyle/>
          <a:p>
            <a:r>
              <a:t>- Instructions + data for computers</a:t>
            </a:r>
          </a:p>
          <a:p>
            <a:r>
              <a:t>- Types:</a:t>
            </a:r>
          </a:p>
          <a:p>
            <a:r>
              <a:t>  • System software (OS, drivers)</a:t>
            </a:r>
          </a:p>
          <a:p>
            <a:r>
              <a:t>  • Application software (apps)</a:t>
            </a:r>
          </a:p>
          <a:p>
            <a:r>
              <a:t>  • Embedded software (IoT, devices)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Software Engineering?</a:t>
            </a:r>
          </a:p>
        </p:txBody>
      </p:sp>
      <p:sp>
        <p:nvSpPr>
          <p:cNvPr id="3" name="Content Placeholder 2"/>
          <p:cNvSpPr>
            <a:spLocks noGrp="1"/>
          </p:cNvSpPr>
          <p:nvPr>
            <p:ph idx="1"/>
          </p:nvPr>
        </p:nvSpPr>
        <p:spPr/>
        <p:txBody>
          <a:bodyPr/>
          <a:lstStyle/>
          <a:p>
            <a:r>
              <a:t>- Systematic approach to software</a:t>
            </a:r>
          </a:p>
          <a:p>
            <a:r>
              <a:t>- Combines engineering + computing</a:t>
            </a:r>
          </a:p>
          <a:p>
            <a:r>
              <a:t>- Focus: reliability, scalability, maintainability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Software Process</a:t>
            </a:r>
          </a:p>
        </p:txBody>
      </p:sp>
      <p:sp>
        <p:nvSpPr>
          <p:cNvPr id="3" name="Content Placeholder 2"/>
          <p:cNvSpPr>
            <a:spLocks noGrp="1"/>
          </p:cNvSpPr>
          <p:nvPr>
            <p:ph idx="1"/>
          </p:nvPr>
        </p:nvSpPr>
        <p:spPr>
          <a:xfrm>
            <a:off x="982133" y="2159000"/>
            <a:ext cx="7704667" cy="3840816"/>
          </a:xfrm>
        </p:spPr>
        <p:txBody>
          <a:bodyPr>
            <a:normAutofit fontScale="70000" lnSpcReduction="20000"/>
          </a:bodyPr>
          <a:lstStyle/>
          <a:p>
            <a:r>
              <a:rPr lang="en-US" dirty="0"/>
              <a:t>A </a:t>
            </a:r>
            <a:r>
              <a:rPr lang="en-US" b="1" dirty="0"/>
              <a:t>framework</a:t>
            </a:r>
            <a:r>
              <a:rPr lang="en-US" dirty="0"/>
              <a:t> that describes the activities performed at each stage of a software development project.  </a:t>
            </a:r>
            <a:endParaRPr lang="en-GB" dirty="0"/>
          </a:p>
          <a:p>
            <a:r>
              <a:rPr lang="en-GB" dirty="0"/>
              <a:t>A set of activities whose goal is the development or evolution of software.</a:t>
            </a:r>
          </a:p>
          <a:p>
            <a:pPr marL="0" indent="0">
              <a:buNone/>
            </a:pPr>
            <a:endParaRPr lang="en-US" dirty="0"/>
          </a:p>
          <a:p>
            <a:r>
              <a:rPr dirty="0"/>
              <a:t>S</a:t>
            </a:r>
            <a:r>
              <a:rPr lang="en-US" dirty="0"/>
              <a:t>/w process activities</a:t>
            </a:r>
            <a:r>
              <a:rPr dirty="0"/>
              <a:t>:</a:t>
            </a:r>
            <a:endParaRPr dirty="0"/>
          </a:p>
          <a:p>
            <a:r>
              <a:rPr dirty="0"/>
              <a:t>1. Requirements analysis</a:t>
            </a:r>
          </a:p>
          <a:p>
            <a:r>
              <a:rPr dirty="0"/>
              <a:t>2. Design</a:t>
            </a:r>
          </a:p>
          <a:p>
            <a:r>
              <a:rPr dirty="0"/>
              <a:t>3. Implementation</a:t>
            </a:r>
          </a:p>
          <a:p>
            <a:r>
              <a:rPr dirty="0"/>
              <a:t>4. Testing</a:t>
            </a:r>
          </a:p>
          <a:p>
            <a:r>
              <a:rPr dirty="0"/>
              <a:t>5. Deployment</a:t>
            </a:r>
          </a:p>
          <a:p>
            <a:r>
              <a:rPr dirty="0"/>
              <a:t>6. Maintenance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7690" y="1257300"/>
            <a:ext cx="7772400" cy="857250"/>
          </a:xfrm>
        </p:spPr>
        <p:txBody>
          <a:bodyPr/>
          <a:lstStyle/>
          <a:p>
            <a:r>
              <a:rPr lang="en-US" sz="2700" dirty="0"/>
              <a:t>Plan-driven and agile processes</a:t>
            </a:r>
          </a:p>
        </p:txBody>
      </p:sp>
      <p:sp>
        <p:nvSpPr>
          <p:cNvPr id="3" name="Content Placeholder 2"/>
          <p:cNvSpPr>
            <a:spLocks noGrp="1"/>
          </p:cNvSpPr>
          <p:nvPr>
            <p:ph idx="1"/>
          </p:nvPr>
        </p:nvSpPr>
        <p:spPr>
          <a:xfrm>
            <a:off x="574964" y="2462645"/>
            <a:ext cx="8077200" cy="3086100"/>
          </a:xfrm>
        </p:spPr>
        <p:txBody>
          <a:bodyPr/>
          <a:lstStyle/>
          <a:p>
            <a:pPr algn="just">
              <a:buFont typeface="Wingdings" panose="05000000000000000000" pitchFamily="2" charset="2"/>
              <a:buChar char="q"/>
            </a:pPr>
            <a:r>
              <a:rPr lang="en-GB" sz="2100" b="1" dirty="0"/>
              <a:t>Plan-driven processes</a:t>
            </a:r>
            <a:r>
              <a:rPr lang="en-GB" sz="2100" dirty="0"/>
              <a:t> are processes where all of the process activities are planned in advance and progress is measured against this plan. </a:t>
            </a:r>
          </a:p>
          <a:p>
            <a:pPr algn="just">
              <a:buFont typeface="Wingdings" panose="05000000000000000000" pitchFamily="2" charset="2"/>
              <a:buChar char="q"/>
            </a:pPr>
            <a:r>
              <a:rPr lang="en-GB" sz="2100" dirty="0"/>
              <a:t>In </a:t>
            </a:r>
            <a:r>
              <a:rPr lang="en-GB" sz="2100" b="1" dirty="0"/>
              <a:t>agile processes</a:t>
            </a:r>
            <a:r>
              <a:rPr lang="en-GB" sz="2100" dirty="0"/>
              <a:t>, planning is incremental and it is easier to change the process to reflect changing customer requirements. </a:t>
            </a:r>
          </a:p>
          <a:p>
            <a:pPr algn="just">
              <a:buFont typeface="Wingdings" panose="05000000000000000000" pitchFamily="2" charset="2"/>
              <a:buChar char="q"/>
            </a:pPr>
            <a:r>
              <a:rPr lang="en-GB" sz="2100" dirty="0"/>
              <a:t>There are no right or wrong software processes.</a:t>
            </a:r>
            <a:endParaRPr lang="en-US" sz="2100" dirty="0"/>
          </a:p>
        </p:txBody>
      </p:sp>
    </p:spTree>
    <p:extLst>
      <p:ext uri="{BB962C8B-B14F-4D97-AF65-F5344CB8AC3E}">
        <p14:creationId xmlns:p14="http://schemas.microsoft.com/office/powerpoint/2010/main" val="358737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38199"/>
          </a:xfrm>
        </p:spPr>
        <p:txBody>
          <a:bodyPr/>
          <a:lstStyle/>
          <a:p>
            <a:r>
              <a:rPr lang="en-GB" b="1" dirty="0"/>
              <a:t>Plan-driven </a:t>
            </a:r>
            <a:r>
              <a:rPr lang="en-GB" b="1" dirty="0"/>
              <a:t>process</a:t>
            </a:r>
            <a:endParaRPr lang="en-US" dirty="0"/>
          </a:p>
        </p:txBody>
      </p:sp>
      <p:sp>
        <p:nvSpPr>
          <p:cNvPr id="3" name="Content Placeholder 2"/>
          <p:cNvSpPr>
            <a:spLocks noGrp="1"/>
          </p:cNvSpPr>
          <p:nvPr>
            <p:ph idx="1"/>
          </p:nvPr>
        </p:nvSpPr>
        <p:spPr>
          <a:xfrm>
            <a:off x="982133" y="1422400"/>
            <a:ext cx="7704667" cy="5232400"/>
          </a:xfrm>
        </p:spPr>
        <p:txBody>
          <a:bodyPr>
            <a:normAutofit fontScale="77500" lnSpcReduction="20000"/>
          </a:bodyPr>
          <a:lstStyle/>
          <a:p>
            <a:r>
              <a:rPr lang="en-US" b="1" dirty="0"/>
              <a:t>Definition:</a:t>
            </a:r>
            <a:r>
              <a:rPr lang="en-US" dirty="0"/>
              <a:t> A traditional, structured, and heavily documented approach to software development. Everything is planned upfront, and change is discouraged.</a:t>
            </a:r>
          </a:p>
          <a:p>
            <a:r>
              <a:rPr lang="en-US" b="1" dirty="0"/>
              <a:t>Characteristics:</a:t>
            </a:r>
            <a:endParaRPr lang="en-US" dirty="0"/>
          </a:p>
          <a:p>
            <a:pPr lvl="1"/>
            <a:r>
              <a:rPr lang="en-US" dirty="0"/>
              <a:t>Requirements defined early.</a:t>
            </a:r>
          </a:p>
          <a:p>
            <a:pPr lvl="1"/>
            <a:r>
              <a:rPr lang="en-US" dirty="0"/>
              <a:t>Detailed documentation at every stage.</a:t>
            </a:r>
          </a:p>
          <a:p>
            <a:pPr lvl="1"/>
            <a:r>
              <a:rPr lang="en-US" dirty="0"/>
              <a:t>Sequential phases (fits with Waterfall, V-model).</a:t>
            </a:r>
          </a:p>
          <a:p>
            <a:pPr lvl="1"/>
            <a:r>
              <a:rPr lang="en-US" dirty="0"/>
              <a:t>Strict timelines and budgets</a:t>
            </a:r>
            <a:r>
              <a:rPr lang="en-US" dirty="0"/>
              <a:t>.</a:t>
            </a:r>
          </a:p>
          <a:p>
            <a:r>
              <a:rPr lang="en-US" b="1" dirty="0"/>
              <a:t>Strengths:</a:t>
            </a:r>
            <a:endParaRPr lang="en-US" dirty="0"/>
          </a:p>
          <a:p>
            <a:pPr lvl="1"/>
            <a:r>
              <a:rPr lang="en-US" dirty="0"/>
              <a:t>Works well for projects with stable, well-understood requirements.</a:t>
            </a:r>
          </a:p>
          <a:p>
            <a:pPr lvl="1"/>
            <a:r>
              <a:rPr lang="en-US" dirty="0"/>
              <a:t>Easier to manage in highly regulated industries (aerospace, defense, healthcare).</a:t>
            </a:r>
          </a:p>
          <a:p>
            <a:r>
              <a:rPr lang="en-US" b="1" dirty="0"/>
              <a:t>Weaknesses:</a:t>
            </a:r>
            <a:endParaRPr lang="en-US" dirty="0"/>
          </a:p>
          <a:p>
            <a:pPr lvl="1"/>
            <a:r>
              <a:rPr lang="en-US" dirty="0"/>
              <a:t>Inflexible—any change is costly.</a:t>
            </a:r>
          </a:p>
          <a:p>
            <a:pPr lvl="1"/>
            <a:r>
              <a:rPr lang="en-US" dirty="0"/>
              <a:t>Long delays before delivering working software.</a:t>
            </a:r>
          </a:p>
          <a:p>
            <a:r>
              <a:rPr lang="en-US" b="1" dirty="0"/>
              <a:t>Example:</a:t>
            </a:r>
            <a:r>
              <a:rPr lang="en-US" dirty="0"/>
              <a:t> Developing software for an airplane control system. You </a:t>
            </a:r>
            <a:r>
              <a:rPr lang="en-US" i="1" dirty="0"/>
              <a:t>cannot</a:t>
            </a:r>
            <a:r>
              <a:rPr lang="en-US" dirty="0"/>
              <a:t> just “wing it.”</a:t>
            </a:r>
          </a:p>
          <a:p>
            <a:endParaRPr lang="en-US" dirty="0"/>
          </a:p>
        </p:txBody>
      </p:sp>
    </p:spTree>
    <p:extLst>
      <p:ext uri="{BB962C8B-B14F-4D97-AF65-F5344CB8AC3E}">
        <p14:creationId xmlns:p14="http://schemas.microsoft.com/office/powerpoint/2010/main" val="335851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308099"/>
          </a:xfrm>
        </p:spPr>
        <p:txBody>
          <a:bodyPr/>
          <a:lstStyle/>
          <a:p>
            <a:r>
              <a:rPr lang="en-US" dirty="0"/>
              <a:t>Agile process</a:t>
            </a:r>
            <a:endParaRPr lang="en-US" dirty="0"/>
          </a:p>
        </p:txBody>
      </p:sp>
      <p:sp>
        <p:nvSpPr>
          <p:cNvPr id="3" name="Content Placeholder 2"/>
          <p:cNvSpPr>
            <a:spLocks noGrp="1"/>
          </p:cNvSpPr>
          <p:nvPr>
            <p:ph idx="1"/>
          </p:nvPr>
        </p:nvSpPr>
        <p:spPr>
          <a:xfrm>
            <a:off x="838201" y="1549400"/>
            <a:ext cx="7848600" cy="4851400"/>
          </a:xfrm>
        </p:spPr>
        <p:txBody>
          <a:bodyPr>
            <a:normAutofit fontScale="62500" lnSpcReduction="20000"/>
          </a:bodyPr>
          <a:lstStyle/>
          <a:p>
            <a:endParaRPr lang="en-US" dirty="0"/>
          </a:p>
          <a:p>
            <a:r>
              <a:rPr lang="en-US" b="1" dirty="0"/>
              <a:t>Definition:</a:t>
            </a:r>
            <a:r>
              <a:rPr lang="en-US" dirty="0"/>
              <a:t> An iterative and flexible approach that emphasizes collaboration, customer feedback, and working software over documentation.</a:t>
            </a:r>
          </a:p>
          <a:p>
            <a:r>
              <a:rPr lang="en-US" b="1" dirty="0"/>
              <a:t>Characteristics:</a:t>
            </a:r>
            <a:endParaRPr lang="en-US" dirty="0"/>
          </a:p>
          <a:p>
            <a:pPr lvl="1"/>
            <a:r>
              <a:rPr lang="en-US" dirty="0"/>
              <a:t>Requirements evolve over time.</a:t>
            </a:r>
          </a:p>
          <a:p>
            <a:pPr lvl="1"/>
            <a:r>
              <a:rPr lang="en-US" dirty="0"/>
              <a:t>Development is done in short iterations (sprints).</a:t>
            </a:r>
          </a:p>
          <a:p>
            <a:pPr lvl="1"/>
            <a:r>
              <a:rPr lang="en-US" dirty="0"/>
              <a:t>Continuous customer involvement.</a:t>
            </a:r>
          </a:p>
          <a:p>
            <a:pPr lvl="1"/>
            <a:r>
              <a:rPr lang="en-US" dirty="0"/>
              <a:t>Focus on delivering usable features quickly.</a:t>
            </a:r>
          </a:p>
          <a:p>
            <a:r>
              <a:rPr lang="en-US" b="1" dirty="0"/>
              <a:t>Strengths:</a:t>
            </a:r>
            <a:endParaRPr lang="en-US" dirty="0"/>
          </a:p>
          <a:p>
            <a:pPr lvl="1"/>
            <a:r>
              <a:rPr lang="en-US" dirty="0"/>
              <a:t>Adapts to changing requirements.</a:t>
            </a:r>
          </a:p>
          <a:p>
            <a:pPr lvl="1"/>
            <a:r>
              <a:rPr lang="en-US" dirty="0"/>
              <a:t>Early and frequent delivery of working software.</a:t>
            </a:r>
          </a:p>
          <a:p>
            <a:pPr lvl="1"/>
            <a:r>
              <a:rPr lang="en-US" dirty="0"/>
              <a:t>Encourages teamwork and communication.</a:t>
            </a:r>
          </a:p>
          <a:p>
            <a:r>
              <a:rPr lang="en-US" b="1" dirty="0"/>
              <a:t>Weaknesses:</a:t>
            </a:r>
            <a:endParaRPr lang="en-US" dirty="0"/>
          </a:p>
          <a:p>
            <a:pPr lvl="1"/>
            <a:r>
              <a:rPr lang="en-US" dirty="0"/>
              <a:t>Can lack documentation, which makes long-term maintenance tricky.</a:t>
            </a:r>
          </a:p>
          <a:p>
            <a:pPr lvl="1"/>
            <a:r>
              <a:rPr lang="en-US" dirty="0"/>
              <a:t>Harder to estimate cost and timeline upfront.</a:t>
            </a:r>
          </a:p>
          <a:p>
            <a:r>
              <a:rPr lang="en-US" b="1" dirty="0"/>
              <a:t>Example:</a:t>
            </a:r>
            <a:r>
              <a:rPr lang="en-US" dirty="0"/>
              <a:t> Developing a mobile app startup product, where features shift based on user feedback.</a:t>
            </a:r>
          </a:p>
          <a:p>
            <a:endParaRPr lang="en-US" dirty="0"/>
          </a:p>
          <a:p>
            <a:endParaRPr lang="en-US" dirty="0"/>
          </a:p>
        </p:txBody>
      </p:sp>
    </p:spTree>
    <p:extLst>
      <p:ext uri="{BB962C8B-B14F-4D97-AF65-F5344CB8AC3E}">
        <p14:creationId xmlns:p14="http://schemas.microsoft.com/office/powerpoint/2010/main" val="951281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SDLC Models</a:t>
            </a:r>
            <a:endParaRPr lang="en-US" b="1" dirty="0"/>
          </a:p>
        </p:txBody>
      </p:sp>
      <p:sp>
        <p:nvSpPr>
          <p:cNvPr id="3" name="Content Placeholder 2"/>
          <p:cNvSpPr>
            <a:spLocks noGrp="1"/>
          </p:cNvSpPr>
          <p:nvPr>
            <p:ph idx="1"/>
          </p:nvPr>
        </p:nvSpPr>
        <p:spPr/>
        <p:txBody>
          <a:bodyPr>
            <a:normAutofit/>
          </a:bodyPr>
          <a:lstStyle/>
          <a:p>
            <a:r>
              <a:rPr lang="en-US" sz="2100" dirty="0"/>
              <a:t>Waterfall Model</a:t>
            </a:r>
          </a:p>
          <a:p>
            <a:r>
              <a:rPr lang="en-US" sz="2100" dirty="0"/>
              <a:t>Incremental Model</a:t>
            </a:r>
          </a:p>
          <a:p>
            <a:r>
              <a:rPr lang="en-US" sz="2100" dirty="0"/>
              <a:t>RAD Model</a:t>
            </a:r>
          </a:p>
          <a:p>
            <a:r>
              <a:rPr lang="en-US" sz="2100" dirty="0"/>
              <a:t>Spiral Model</a:t>
            </a:r>
          </a:p>
          <a:p>
            <a:r>
              <a:rPr lang="en-US" sz="2100" dirty="0"/>
              <a:t>Scrum Model</a:t>
            </a:r>
          </a:p>
          <a:p>
            <a:r>
              <a:rPr lang="en-US" sz="2100" dirty="0"/>
              <a:t>Lean Development Methodology</a:t>
            </a:r>
          </a:p>
          <a:p>
            <a:r>
              <a:rPr lang="en-US" sz="2100" dirty="0"/>
              <a:t>Extreme </a:t>
            </a:r>
            <a:r>
              <a:rPr lang="en-US" sz="2100" dirty="0"/>
              <a:t>Programming</a:t>
            </a:r>
            <a:endParaRPr lang="en-US" sz="2100" dirty="0"/>
          </a:p>
        </p:txBody>
      </p:sp>
    </p:spTree>
    <p:extLst>
      <p:ext uri="{BB962C8B-B14F-4D97-AF65-F5344CB8AC3E}">
        <p14:creationId xmlns:p14="http://schemas.microsoft.com/office/powerpoint/2010/main" val="22941112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t>
            </a:r>
          </a:p>
          <a:p>
            <a:endParaRPr lang="en-US" dirty="0"/>
          </a:p>
          <a:p>
            <a:endParaRPr lang="en-US" dirty="0"/>
          </a:p>
        </p:txBody>
      </p:sp>
      <p:sp>
        <p:nvSpPr>
          <p:cNvPr id="5" name="Title 4"/>
          <p:cNvSpPr>
            <a:spLocks noGrp="1"/>
          </p:cNvSpPr>
          <p:nvPr>
            <p:ph type="title"/>
          </p:nvPr>
        </p:nvSpPr>
        <p:spPr/>
        <p:txBody>
          <a:bodyPr/>
          <a:lstStyle/>
          <a:p>
            <a:r>
              <a:rPr lang="en-US" b="1" dirty="0"/>
              <a:t>WATERFALL MODEL</a:t>
            </a:r>
          </a:p>
        </p:txBody>
      </p:sp>
      <p:pic>
        <p:nvPicPr>
          <p:cNvPr id="2" name="Picture 1"/>
          <p:cNvPicPr>
            <a:picLocks noChangeAspect="1"/>
          </p:cNvPicPr>
          <p:nvPr/>
        </p:nvPicPr>
        <p:blipFill>
          <a:blip r:embed="Ra64be273f66346f0">
            <a:extLst>
              <a:ext uri="{28A0092B-C50C-407E-A947-70E740481C1C}">
                <a14:useLocalDpi xmlns:a14="http://schemas.microsoft.com/office/drawing/2010/main" val="0"/>
              </a:ext>
            </a:extLst>
          </a:blip>
          <a:stretch>
            <a:fillRect/>
          </a:stretch>
        </p:blipFill>
        <p:spPr>
          <a:xfrm>
            <a:off x="255896" y="2283711"/>
            <a:ext cx="8915487" cy="3202689"/>
          </a:xfrm>
          <a:prstGeom prst="rect">
            <a:avLst/>
          </a:prstGeom>
        </p:spPr>
      </p:pic>
    </p:spTree>
    <p:extLst>
      <p:ext uri="{BB962C8B-B14F-4D97-AF65-F5344CB8AC3E}">
        <p14:creationId xmlns:p14="http://schemas.microsoft.com/office/powerpoint/2010/main" val="15266393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Incremental model</a:t>
            </a:r>
            <a:endParaRPr lang="en-US" dirty="0"/>
          </a:p>
        </p:txBody>
      </p:sp>
      <p:pic>
        <p:nvPicPr>
          <p:cNvPr id="4" name="Content Placeholder 3"/>
          <p:cNvPicPr>
            <a:picLocks noGrp="1" noChangeAspect="1"/>
          </p:cNvPicPr>
          <p:nvPr>
            <p:ph idx="1"/>
          </p:nvPr>
        </p:nvPicPr>
        <p:blipFill>
          <a:blip r:embed="R6b4b5ae1f1984f8f">
            <a:extLst>
              <a:ext uri="{28A0092B-C50C-407E-A947-70E740481C1C}">
                <a14:useLocalDpi xmlns:a14="http://schemas.microsoft.com/office/drawing/2010/main" val="0"/>
              </a:ext>
            </a:extLst>
          </a:blip>
          <a:stretch>
            <a:fillRect/>
          </a:stretch>
        </p:blipFill>
        <p:spPr>
          <a:xfrm>
            <a:off x="454368" y="2269794"/>
            <a:ext cx="8082307" cy="3449472"/>
          </a:xfrm>
        </p:spPr>
      </p:pic>
    </p:spTree>
    <p:extLst>
      <p:ext uri="{BB962C8B-B14F-4D97-AF65-F5344CB8AC3E}">
        <p14:creationId xmlns:p14="http://schemas.microsoft.com/office/powerpoint/2010/main" val="15938398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2386" y="1054470"/>
            <a:ext cx="7543800" cy="1207008"/>
          </a:xfrm>
        </p:spPr>
        <p:txBody>
          <a:bodyPr/>
          <a:lstStyle/>
          <a:p>
            <a:r>
              <a:rPr lang="en-US" b="1" dirty="0"/>
              <a:t>RAD model</a:t>
            </a:r>
            <a:endParaRPr lang="en-US" dirty="0"/>
          </a:p>
        </p:txBody>
      </p:sp>
      <p:pic>
        <p:nvPicPr>
          <p:cNvPr id="1026" name="Picture 2" descr="C:\Users\hafiza.maria\Desktop\rad.png"/>
          <p:cNvPicPr>
            <a:picLocks noGrp="1" noChangeAspect="1" noChangeArrowheads="1"/>
          </p:cNvPicPr>
          <p:nvPr>
            <p:ph idx="1"/>
          </p:nvPr>
        </p:nvPicPr>
        <p:blipFill>
          <a:blip r:embed="R436c880e1d96439f">
            <a:extLst>
              <a:ext uri="{28A0092B-C50C-407E-A947-70E740481C1C}">
                <a14:useLocalDpi xmlns:a14="http://schemas.microsoft.com/office/drawing/2010/main" val="0"/>
              </a:ext>
            </a:extLst>
          </a:blip>
          <a:srcRect/>
          <a:stretch>
            <a:fillRect/>
          </a:stretch>
        </p:blipFill>
        <p:spPr bwMode="auto">
          <a:xfrm>
            <a:off x="2098965" y="2126523"/>
            <a:ext cx="4475535" cy="3546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1898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D5D3E-E0DC-4CA9-8112-2B3894B149A3}"/>
              </a:ext>
            </a:extLst>
          </p:cNvPr>
          <p:cNvSpPr>
            <a:spLocks noGrp="1"/>
          </p:cNvSpPr>
          <p:nvPr>
            <p:ph type="title"/>
          </p:nvPr>
        </p:nvSpPr>
        <p:spPr>
          <a:xfrm>
            <a:off x="797814" y="1094643"/>
            <a:ext cx="7543800" cy="1207008"/>
          </a:xfrm>
        </p:spPr>
        <p:txBody>
          <a:bodyPr/>
          <a:lstStyle/>
          <a:p>
            <a:r>
              <a:rPr lang="en-US" b="1" dirty="0"/>
              <a:t>RAD model</a:t>
            </a:r>
            <a:endParaRPr lang="en-US" dirty="0"/>
          </a:p>
        </p:txBody>
      </p:sp>
      <p:sp>
        <p:nvSpPr>
          <p:cNvPr id="3" name="Content Placeholder 2">
            <a:extLst>
              <a:ext uri="{FF2B5EF4-FFF2-40B4-BE49-F238E27FC236}">
                <a16:creationId xmlns:a16="http://schemas.microsoft.com/office/drawing/2014/main" id="{A0BB9A1B-01E9-4931-9359-DA52ABA953EA}"/>
              </a:ext>
            </a:extLst>
          </p:cNvPr>
          <p:cNvSpPr>
            <a:spLocks noGrp="1"/>
          </p:cNvSpPr>
          <p:nvPr>
            <p:ph idx="1"/>
          </p:nvPr>
        </p:nvSpPr>
        <p:spPr>
          <a:xfrm>
            <a:off x="802386" y="2102241"/>
            <a:ext cx="7543800" cy="3661117"/>
          </a:xfrm>
        </p:spPr>
        <p:txBody>
          <a:bodyPr>
            <a:normAutofit fontScale="85000" lnSpcReduction="20000"/>
          </a:bodyPr>
          <a:lstStyle/>
          <a:p>
            <a:r>
              <a:rPr lang="en-US" sz="1800" dirty="0"/>
              <a:t>The phases in the rapid application development (RAD) model are:</a:t>
            </a:r>
          </a:p>
          <a:p>
            <a:r>
              <a:rPr lang="en-US" sz="1800" b="1" dirty="0"/>
              <a:t>Business modeling:</a:t>
            </a:r>
            <a:r>
              <a:rPr lang="en-US" sz="1800" dirty="0"/>
              <a:t> The information flow is identified between various business functions.</a:t>
            </a:r>
          </a:p>
          <a:p>
            <a:r>
              <a:rPr lang="en-US" sz="1800" dirty="0"/>
              <a:t/>
            </a:r>
            <a:br>
              <a:rPr lang="en-US" sz="1800" dirty="0"/>
            </a:br>
            <a:r>
              <a:rPr lang="en-US" sz="1800" b="1" dirty="0"/>
              <a:t>Data modeling:</a:t>
            </a:r>
            <a:r>
              <a:rPr lang="en-US" sz="1800" dirty="0"/>
              <a:t> Information gathered from business modeling is used to define data objects that are needed for the business.</a:t>
            </a:r>
          </a:p>
          <a:p>
            <a:r>
              <a:rPr lang="en-US" sz="1800" dirty="0"/>
              <a:t/>
            </a:r>
            <a:br>
              <a:rPr lang="en-US" sz="1800" dirty="0"/>
            </a:br>
            <a:r>
              <a:rPr lang="en-US" sz="1800" b="1" dirty="0"/>
              <a:t>Process modeling:</a:t>
            </a:r>
            <a:r>
              <a:rPr lang="en-US" sz="1800" dirty="0"/>
              <a:t> Data objects defined in data modeling are converted to achieve the business information flow to achieve some specific business objective. Description are identified and created for CRUD of data objects.</a:t>
            </a:r>
          </a:p>
          <a:p>
            <a:r>
              <a:rPr lang="en-US" sz="1800" dirty="0"/>
              <a:t/>
            </a:r>
            <a:br>
              <a:rPr lang="en-US" sz="1800" dirty="0"/>
            </a:br>
            <a:r>
              <a:rPr lang="en-US" sz="1800" b="1" dirty="0"/>
              <a:t>Application generation:</a:t>
            </a:r>
            <a:r>
              <a:rPr lang="en-US" sz="1800" dirty="0"/>
              <a:t> Automated tools are used to convert process models into code and the actual system.</a:t>
            </a:r>
          </a:p>
          <a:p>
            <a:r>
              <a:rPr lang="en-US" sz="1800" dirty="0"/>
              <a:t/>
            </a:r>
            <a:br>
              <a:rPr lang="en-US" sz="1800" dirty="0"/>
            </a:br>
            <a:r>
              <a:rPr lang="en-US" sz="1800" b="1" dirty="0"/>
              <a:t>Testing and turnover:</a:t>
            </a:r>
            <a:r>
              <a:rPr lang="en-US" sz="1800" dirty="0"/>
              <a:t> Test new components and all the interfaces.</a:t>
            </a:r>
          </a:p>
          <a:p>
            <a:endParaRPr lang="en-US" sz="1800" dirty="0"/>
          </a:p>
        </p:txBody>
      </p:sp>
    </p:spTree>
    <p:extLst>
      <p:ext uri="{BB962C8B-B14F-4D97-AF65-F5344CB8AC3E}">
        <p14:creationId xmlns:p14="http://schemas.microsoft.com/office/powerpoint/2010/main" val="7347278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Spiral model</a:t>
            </a:r>
            <a:endParaRPr lang="en-US" dirty="0"/>
          </a:p>
        </p:txBody>
      </p:sp>
      <p:pic>
        <p:nvPicPr>
          <p:cNvPr id="7" name="Content Placeholder 6">
            <a:extLst>
              <a:ext uri="{FF2B5EF4-FFF2-40B4-BE49-F238E27FC236}">
                <a16:creationId xmlns:a16="http://schemas.microsoft.com/office/drawing/2014/main" id="{27C1A51F-BAF1-48C0-88B6-16062A17AFC8}"/>
              </a:ext>
            </a:extLst>
          </p:cNvPr>
          <p:cNvPicPr>
            <a:picLocks noGrp="1" noChangeAspect="1"/>
          </p:cNvPicPr>
          <p:nvPr>
            <p:ph idx="1"/>
          </p:nvPr>
        </p:nvPicPr>
        <p:blipFill>
          <a:blip r:embed="Rbda983aa511445cf">
            <a:extLst>
              <a:ext uri="{28A0092B-C50C-407E-A947-70E740481C1C}">
                <a14:useLocalDpi xmlns:a14="http://schemas.microsoft.com/office/drawing/2010/main" val="0"/>
              </a:ext>
            </a:extLst>
          </a:blip>
          <a:stretch>
            <a:fillRect/>
          </a:stretch>
        </p:blipFill>
        <p:spPr>
          <a:xfrm>
            <a:off x="2447779" y="2427733"/>
            <a:ext cx="4043985" cy="3339836"/>
          </a:xfrm>
        </p:spPr>
      </p:pic>
    </p:spTree>
    <p:extLst>
      <p:ext uri="{BB962C8B-B14F-4D97-AF65-F5344CB8AC3E}">
        <p14:creationId xmlns:p14="http://schemas.microsoft.com/office/powerpoint/2010/main" val="16083641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604" y="960951"/>
            <a:ext cx="7543800" cy="1207008"/>
          </a:xfrm>
        </p:spPr>
        <p:txBody>
          <a:bodyPr/>
          <a:lstStyle/>
          <a:p>
            <a:r>
              <a:rPr lang="en-US" dirty="0"/>
              <a:t>Lean Software Development</a:t>
            </a:r>
          </a:p>
        </p:txBody>
      </p:sp>
      <p:pic>
        <p:nvPicPr>
          <p:cNvPr id="1026" name="Picture 2" descr="C:\Users\hafiza.maria\Desktop\7-Principles-of-Lean-Software-Development.png"/>
          <p:cNvPicPr>
            <a:picLocks noGrp="1" noChangeAspect="1" noChangeArrowheads="1"/>
          </p:cNvPicPr>
          <p:nvPr>
            <p:ph idx="1"/>
          </p:nvPr>
        </p:nvPicPr>
        <p:blipFill>
          <a:blip r:embed="Rdf296adbdb2244cb">
            <a:extLst>
              <a:ext uri="{28A0092B-C50C-407E-A947-70E740481C1C}">
                <a14:useLocalDpi xmlns:a14="http://schemas.microsoft.com/office/drawing/2010/main" val="0"/>
              </a:ext>
            </a:extLst>
          </a:blip>
          <a:srcRect/>
          <a:stretch>
            <a:fillRect/>
          </a:stretch>
        </p:blipFill>
        <p:spPr bwMode="auto">
          <a:xfrm>
            <a:off x="2301586" y="1864845"/>
            <a:ext cx="4353791" cy="40531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26428" y="3745922"/>
            <a:ext cx="748145" cy="2701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Deliver</a:t>
            </a:r>
          </a:p>
        </p:txBody>
      </p:sp>
    </p:spTree>
    <p:extLst>
      <p:ext uri="{BB962C8B-B14F-4D97-AF65-F5344CB8AC3E}">
        <p14:creationId xmlns:p14="http://schemas.microsoft.com/office/powerpoint/2010/main" val="40417827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173163" y="971550"/>
            <a:ext cx="7772400" cy="857250"/>
          </a:xfrm>
        </p:spPr>
        <p:txBody>
          <a:bodyPr/>
          <a:lstStyle/>
          <a:p>
            <a:r>
              <a:rPr lang="en-US" sz="2400" dirty="0"/>
              <a:t>What are the attributes of good software?</a:t>
            </a:r>
          </a:p>
        </p:txBody>
      </p:sp>
      <p:sp>
        <p:nvSpPr>
          <p:cNvPr id="26627" name="Content Placeholder 2"/>
          <p:cNvSpPr>
            <a:spLocks noGrp="1"/>
          </p:cNvSpPr>
          <p:nvPr>
            <p:ph idx="1"/>
          </p:nvPr>
        </p:nvSpPr>
        <p:spPr>
          <a:xfrm>
            <a:off x="685800" y="1828800"/>
            <a:ext cx="7772400" cy="3086100"/>
          </a:xfrm>
        </p:spPr>
        <p:txBody>
          <a:bodyPr>
            <a:normAutofit/>
          </a:bodyPr>
          <a:lstStyle/>
          <a:p>
            <a:pPr algn="just">
              <a:buFont typeface="Wingdings" panose="05000000000000000000" pitchFamily="2" charset="2"/>
              <a:buChar char="q"/>
            </a:pPr>
            <a:r>
              <a:rPr lang="en-US" dirty="0"/>
              <a:t>A software product can be judged by what it offers and how well it can be used. This software must satisfy on the following grounds: </a:t>
            </a:r>
          </a:p>
          <a:p>
            <a:pPr algn="just">
              <a:buFont typeface="Wingdings" panose="05000000000000000000" pitchFamily="2" charset="2"/>
              <a:buChar char="§"/>
            </a:pPr>
            <a:r>
              <a:rPr lang="en-US" dirty="0"/>
              <a:t>Operational</a:t>
            </a:r>
            <a:endParaRPr lang="en-US" dirty="0"/>
          </a:p>
          <a:p>
            <a:pPr algn="just">
              <a:buFont typeface="Wingdings" panose="05000000000000000000" pitchFamily="2" charset="2"/>
              <a:buChar char="§"/>
            </a:pPr>
            <a:r>
              <a:rPr lang="en-US" dirty="0"/>
              <a:t> </a:t>
            </a:r>
            <a:r>
              <a:rPr lang="en-US" dirty="0"/>
              <a:t>Transitional </a:t>
            </a:r>
          </a:p>
          <a:p>
            <a:pPr algn="just">
              <a:buFont typeface="Wingdings" panose="05000000000000000000" pitchFamily="2" charset="2"/>
              <a:buChar char="§"/>
            </a:pPr>
            <a:r>
              <a:rPr lang="en-US" dirty="0"/>
              <a:t> </a:t>
            </a:r>
            <a:r>
              <a:rPr lang="en-US" dirty="0"/>
              <a:t>Maintenance</a:t>
            </a:r>
            <a:endParaRPr lang="en-US" sz="1500" dirty="0"/>
          </a:p>
        </p:txBody>
      </p:sp>
    </p:spTree>
    <p:extLst>
      <p:ext uri="{BB962C8B-B14F-4D97-AF65-F5344CB8AC3E}">
        <p14:creationId xmlns:p14="http://schemas.microsoft.com/office/powerpoint/2010/main" val="274774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DA51A-4422-46A6-8B46-50F8C69E9CF4}"/>
              </a:ext>
            </a:extLst>
          </p:cNvPr>
          <p:cNvSpPr>
            <a:spLocks noGrp="1"/>
          </p:cNvSpPr>
          <p:nvPr>
            <p:ph type="title"/>
          </p:nvPr>
        </p:nvSpPr>
        <p:spPr>
          <a:xfrm>
            <a:off x="412008" y="1157419"/>
            <a:ext cx="7543800" cy="1207008"/>
          </a:xfrm>
        </p:spPr>
        <p:txBody>
          <a:bodyPr/>
          <a:lstStyle/>
          <a:p>
            <a:r>
              <a:rPr lang="en-US" b="1" dirty="0"/>
              <a:t>Operational </a:t>
            </a:r>
          </a:p>
        </p:txBody>
      </p:sp>
      <p:sp>
        <p:nvSpPr>
          <p:cNvPr id="3" name="Content Placeholder 2">
            <a:extLst>
              <a:ext uri="{FF2B5EF4-FFF2-40B4-BE49-F238E27FC236}">
                <a16:creationId xmlns:a16="http://schemas.microsoft.com/office/drawing/2014/main" id="{344F966E-3804-44F2-8964-2D14B33EFCFC}"/>
              </a:ext>
            </a:extLst>
          </p:cNvPr>
          <p:cNvSpPr>
            <a:spLocks noGrp="1"/>
          </p:cNvSpPr>
          <p:nvPr>
            <p:ph idx="1"/>
          </p:nvPr>
        </p:nvSpPr>
        <p:spPr/>
        <p:txBody>
          <a:bodyPr>
            <a:normAutofit fontScale="85000" lnSpcReduction="20000"/>
          </a:bodyPr>
          <a:lstStyle/>
          <a:p>
            <a:pPr marL="0" indent="0">
              <a:buNone/>
            </a:pPr>
            <a:r>
              <a:rPr lang="en-US" dirty="0"/>
              <a:t>This tells us how well software works in operations. It can be measured on: </a:t>
            </a:r>
          </a:p>
          <a:p>
            <a:pPr>
              <a:buFont typeface="Wingdings" panose="05000000000000000000" pitchFamily="2" charset="2"/>
              <a:buChar char="§"/>
            </a:pPr>
            <a:r>
              <a:rPr lang="en-US" dirty="0"/>
              <a:t> </a:t>
            </a:r>
            <a:r>
              <a:rPr lang="en-US" dirty="0"/>
              <a:t>Budget </a:t>
            </a:r>
          </a:p>
          <a:p>
            <a:pPr>
              <a:buFont typeface="Wingdings" panose="05000000000000000000" pitchFamily="2" charset="2"/>
              <a:buChar char="§"/>
            </a:pPr>
            <a:r>
              <a:rPr lang="en-US" dirty="0"/>
              <a:t> </a:t>
            </a:r>
            <a:r>
              <a:rPr lang="en-US" dirty="0"/>
              <a:t>Usability</a:t>
            </a:r>
          </a:p>
          <a:p>
            <a:pPr>
              <a:buFont typeface="Wingdings" panose="05000000000000000000" pitchFamily="2" charset="2"/>
              <a:buChar char="§"/>
            </a:pPr>
            <a:r>
              <a:rPr lang="en-US" dirty="0"/>
              <a:t> </a:t>
            </a:r>
            <a:r>
              <a:rPr lang="en-US" dirty="0"/>
              <a:t>Efficiency </a:t>
            </a:r>
          </a:p>
          <a:p>
            <a:pPr>
              <a:buFont typeface="Wingdings" panose="05000000000000000000" pitchFamily="2" charset="2"/>
              <a:buChar char="§"/>
            </a:pPr>
            <a:r>
              <a:rPr lang="en-US" dirty="0"/>
              <a:t> </a:t>
            </a:r>
            <a:r>
              <a:rPr lang="en-US" dirty="0"/>
              <a:t>Correctness</a:t>
            </a:r>
          </a:p>
          <a:p>
            <a:pPr>
              <a:buFont typeface="Wingdings" panose="05000000000000000000" pitchFamily="2" charset="2"/>
              <a:buChar char="§"/>
            </a:pPr>
            <a:r>
              <a:rPr lang="en-US" dirty="0"/>
              <a:t> </a:t>
            </a:r>
            <a:r>
              <a:rPr lang="en-US" dirty="0"/>
              <a:t>Functionality</a:t>
            </a:r>
          </a:p>
          <a:p>
            <a:pPr>
              <a:buFont typeface="Wingdings" panose="05000000000000000000" pitchFamily="2" charset="2"/>
              <a:buChar char="§"/>
            </a:pPr>
            <a:r>
              <a:rPr lang="en-US" dirty="0"/>
              <a:t> </a:t>
            </a:r>
            <a:r>
              <a:rPr lang="en-US" dirty="0"/>
              <a:t>Security </a:t>
            </a:r>
          </a:p>
          <a:p>
            <a:pPr>
              <a:buFont typeface="Wingdings" panose="05000000000000000000" pitchFamily="2" charset="2"/>
              <a:buChar char="§"/>
            </a:pPr>
            <a:r>
              <a:rPr lang="en-US" dirty="0"/>
              <a:t> </a:t>
            </a:r>
            <a:r>
              <a:rPr lang="en-US" dirty="0"/>
              <a:t>Safety</a:t>
            </a:r>
          </a:p>
        </p:txBody>
      </p:sp>
    </p:spTree>
    <p:extLst>
      <p:ext uri="{BB962C8B-B14F-4D97-AF65-F5344CB8AC3E}">
        <p14:creationId xmlns:p14="http://schemas.microsoft.com/office/powerpoint/2010/main" val="37632140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7CF93-AFD2-4A12-A2E7-D950077F5AB7}"/>
              </a:ext>
            </a:extLst>
          </p:cNvPr>
          <p:cNvSpPr>
            <a:spLocks noGrp="1"/>
          </p:cNvSpPr>
          <p:nvPr>
            <p:ph type="title"/>
          </p:nvPr>
        </p:nvSpPr>
        <p:spPr/>
        <p:txBody>
          <a:bodyPr/>
          <a:lstStyle/>
          <a:p>
            <a:r>
              <a:rPr lang="en-US" dirty="0"/>
              <a:t>Transitional</a:t>
            </a:r>
          </a:p>
        </p:txBody>
      </p:sp>
      <p:sp>
        <p:nvSpPr>
          <p:cNvPr id="3" name="Content Placeholder 2">
            <a:extLst>
              <a:ext uri="{FF2B5EF4-FFF2-40B4-BE49-F238E27FC236}">
                <a16:creationId xmlns:a16="http://schemas.microsoft.com/office/drawing/2014/main" id="{421C403B-99A8-474D-A9FB-A54838F0E7AF}"/>
              </a:ext>
            </a:extLst>
          </p:cNvPr>
          <p:cNvSpPr>
            <a:spLocks noGrp="1"/>
          </p:cNvSpPr>
          <p:nvPr>
            <p:ph idx="1"/>
          </p:nvPr>
        </p:nvSpPr>
        <p:spPr/>
        <p:txBody>
          <a:bodyPr/>
          <a:lstStyle/>
          <a:p>
            <a:r>
              <a:rPr lang="en-US" dirty="0"/>
              <a:t>This aspect is important when the software is moved from one platform to another: </a:t>
            </a:r>
          </a:p>
          <a:p>
            <a:r>
              <a:rPr lang="en-US" dirty="0"/>
              <a:t>Portability </a:t>
            </a:r>
            <a:endParaRPr lang="en-US" dirty="0"/>
          </a:p>
          <a:p>
            <a:r>
              <a:rPr lang="en-US" dirty="0"/>
              <a:t> </a:t>
            </a:r>
            <a:r>
              <a:rPr lang="en-US" dirty="0"/>
              <a:t>Reusability </a:t>
            </a:r>
          </a:p>
          <a:p>
            <a:r>
              <a:rPr lang="en-US" dirty="0"/>
              <a:t> </a:t>
            </a:r>
            <a:r>
              <a:rPr lang="en-US" dirty="0"/>
              <a:t>Adaptability</a:t>
            </a:r>
          </a:p>
        </p:txBody>
      </p:sp>
    </p:spTree>
    <p:extLst>
      <p:ext uri="{BB962C8B-B14F-4D97-AF65-F5344CB8AC3E}">
        <p14:creationId xmlns:p14="http://schemas.microsoft.com/office/powerpoint/2010/main" val="26701083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435BD-9385-4A3D-8EDD-CE763EC61D42}"/>
              </a:ext>
            </a:extLst>
          </p:cNvPr>
          <p:cNvSpPr>
            <a:spLocks noGrp="1"/>
          </p:cNvSpPr>
          <p:nvPr>
            <p:ph type="title"/>
          </p:nvPr>
        </p:nvSpPr>
        <p:spPr/>
        <p:txBody>
          <a:bodyPr/>
          <a:lstStyle/>
          <a:p>
            <a:r>
              <a:rPr lang="en-US" dirty="0"/>
              <a:t>Maintenance</a:t>
            </a:r>
          </a:p>
        </p:txBody>
      </p:sp>
      <p:sp>
        <p:nvSpPr>
          <p:cNvPr id="3" name="Content Placeholder 2">
            <a:extLst>
              <a:ext uri="{FF2B5EF4-FFF2-40B4-BE49-F238E27FC236}">
                <a16:creationId xmlns:a16="http://schemas.microsoft.com/office/drawing/2014/main" id="{11363CD9-F18A-483E-9A20-BB4D898B39B6}"/>
              </a:ext>
            </a:extLst>
          </p:cNvPr>
          <p:cNvSpPr>
            <a:spLocks noGrp="1"/>
          </p:cNvSpPr>
          <p:nvPr>
            <p:ph idx="1"/>
          </p:nvPr>
        </p:nvSpPr>
        <p:spPr/>
        <p:txBody>
          <a:bodyPr>
            <a:normAutofit fontScale="92500" lnSpcReduction="10000"/>
          </a:bodyPr>
          <a:lstStyle/>
          <a:p>
            <a:r>
              <a:rPr lang="en-US" dirty="0"/>
              <a:t>This aspect briefs about how well a software has the capabilities to maintain itself in the everchanging environment: </a:t>
            </a:r>
          </a:p>
          <a:p>
            <a:pPr marL="0" indent="0">
              <a:buNone/>
            </a:pPr>
            <a:endParaRPr lang="en-US" dirty="0"/>
          </a:p>
          <a:p>
            <a:r>
              <a:rPr lang="en-US" dirty="0"/>
              <a:t> </a:t>
            </a:r>
            <a:r>
              <a:rPr lang="en-US" dirty="0"/>
              <a:t>Modularity </a:t>
            </a:r>
          </a:p>
          <a:p>
            <a:r>
              <a:rPr lang="en-US" dirty="0"/>
              <a:t> </a:t>
            </a:r>
            <a:r>
              <a:rPr lang="en-US" dirty="0"/>
              <a:t>Maintainability </a:t>
            </a:r>
          </a:p>
          <a:p>
            <a:r>
              <a:rPr lang="en-US" dirty="0"/>
              <a:t> </a:t>
            </a:r>
            <a:r>
              <a:rPr lang="en-US" dirty="0"/>
              <a:t>Flexibility </a:t>
            </a:r>
          </a:p>
          <a:p>
            <a:r>
              <a:rPr lang="en-US" dirty="0"/>
              <a:t> </a:t>
            </a:r>
            <a:r>
              <a:rPr lang="en-US" dirty="0"/>
              <a:t>Scalability</a:t>
            </a:r>
          </a:p>
        </p:txBody>
      </p:sp>
    </p:spTree>
    <p:extLst>
      <p:ext uri="{BB962C8B-B14F-4D97-AF65-F5344CB8AC3E}">
        <p14:creationId xmlns:p14="http://schemas.microsoft.com/office/powerpoint/2010/main" val="33991848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Reasons for Software Failure</a:t>
            </a:r>
          </a:p>
        </p:txBody>
      </p:sp>
      <p:sp>
        <p:nvSpPr>
          <p:cNvPr id="3" name="Content Placeholder 2"/>
          <p:cNvSpPr>
            <a:spLocks noGrp="1"/>
          </p:cNvSpPr>
          <p:nvPr>
            <p:ph idx="1"/>
          </p:nvPr>
        </p:nvSpPr>
        <p:spPr/>
        <p:txBody>
          <a:bodyPr/>
          <a:lstStyle/>
          <a:p>
            <a:r>
              <a:t>- Poor requirements</a:t>
            </a:r>
          </a:p>
          <a:p>
            <a:r>
              <a:t>- Unrealistic deadlines</a:t>
            </a:r>
          </a:p>
          <a:p>
            <a:r>
              <a:t>- Lack of testing</a:t>
            </a:r>
          </a:p>
          <a:p>
            <a:r>
              <a:t>- Scope creep</a:t>
            </a:r>
          </a:p>
          <a:p>
            <a:r>
              <a:t>- Weak management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Challenges</a:t>
            </a:r>
          </a:p>
        </p:txBody>
      </p:sp>
      <p:sp>
        <p:nvSpPr>
          <p:cNvPr id="3" name="Content Placeholder 2"/>
          <p:cNvSpPr>
            <a:spLocks noGrp="1"/>
          </p:cNvSpPr>
          <p:nvPr>
            <p:ph idx="1"/>
          </p:nvPr>
        </p:nvSpPr>
        <p:spPr/>
        <p:txBody>
          <a:bodyPr/>
          <a:lstStyle/>
          <a:p>
            <a:r>
              <a:t>- Managing complexity</a:t>
            </a:r>
          </a:p>
          <a:p>
            <a:r>
              <a:t>- Rapidly changing requirements</a:t>
            </a:r>
          </a:p>
          <a:p>
            <a:r>
              <a:t>- Security threats</a:t>
            </a:r>
          </a:p>
          <a:p>
            <a:r>
              <a:t>- Balancing cost, time, quality</a:t>
            </a:r>
          </a:p>
          <a:p>
            <a:r>
              <a:t>- Scaling to millions of users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Closing Thought</a:t>
            </a:r>
          </a:p>
        </p:txBody>
      </p:sp>
      <p:sp>
        <p:nvSpPr>
          <p:cNvPr id="3" name="Content Placeholder 2"/>
          <p:cNvSpPr>
            <a:spLocks noGrp="1"/>
          </p:cNvSpPr>
          <p:nvPr>
            <p:ph idx="1"/>
          </p:nvPr>
        </p:nvSpPr>
        <p:spPr/>
        <p:txBody>
          <a:bodyPr/>
          <a:lstStyle/>
          <a:p>
            <a:r>
              <a:t>- SE ≠ just coding</a:t>
            </a:r>
          </a:p>
          <a:p>
            <a:r>
              <a:t>- Builds scalable, reliable, human-centered systems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Lecture 2: SDLC </a:t>
            </a:r>
            <a:r>
              <a:rPr dirty="0"/>
              <a:t>Phases</a:t>
            </a:r>
            <a:endParaRPr dirty="0"/>
          </a:p>
        </p:txBody>
      </p:sp>
      <p:sp>
        <p:nvSpPr>
          <p:cNvPr id="3" name="Subtitle 2"/>
          <p:cNvSpPr>
            <a:spLocks noGrp="1"/>
          </p:cNvSpPr>
          <p:nvPr>
            <p:ph type="subTitle" idx="1"/>
          </p:nvPr>
        </p:nvSpPr>
        <p:spPr/>
        <p:txBody>
          <a:bodyPr/>
          <a:lstStyle/>
          <a:p>
            <a:r>
              <a:rPr dirty="0"/>
              <a:t>Advanced Software </a:t>
            </a:r>
            <a:r>
              <a:rPr dirty="0"/>
              <a:t>Engineering</a:t>
            </a:r>
            <a:endParaRPr lang="en-US" dirty="0"/>
          </a:p>
          <a:p>
            <a:r>
              <a:rPr lang="en-US" dirty="0"/>
              <a:t>							</a:t>
            </a:r>
          </a:p>
          <a:p>
            <a:r>
              <a:rPr lang="en-US" dirty="0"/>
              <a:t>	</a:t>
            </a:r>
            <a:r>
              <a:rPr lang="en-US" dirty="0"/>
              <a:t>						Shehla Saeed</a:t>
            </a:r>
            <a:endParaRP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Recap of Lecture 1</a:t>
            </a:r>
          </a:p>
        </p:txBody>
      </p:sp>
      <p:sp>
        <p:nvSpPr>
          <p:cNvPr id="3" name="Content Placeholder 2"/>
          <p:cNvSpPr>
            <a:spLocks noGrp="1"/>
          </p:cNvSpPr>
          <p:nvPr>
            <p:ph idx="1"/>
          </p:nvPr>
        </p:nvSpPr>
        <p:spPr/>
        <p:txBody>
          <a:bodyPr/>
          <a:lstStyle/>
          <a:p>
            <a:r>
              <a:rPr dirty="0"/>
              <a:t>- What is Software Engineering?</a:t>
            </a:r>
          </a:p>
          <a:p>
            <a:r>
              <a:rPr dirty="0"/>
              <a:t>- Software Process &amp; SDLC overview</a:t>
            </a:r>
          </a:p>
          <a:p>
            <a:r>
              <a:rPr dirty="0"/>
              <a:t>- Attributes of good software</a:t>
            </a:r>
          </a:p>
          <a:p>
            <a:r>
              <a:rPr dirty="0"/>
              <a:t>- Reasons for software failure</a:t>
            </a:r>
          </a:p>
          <a:p>
            <a:endParaRP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SDLC</a:t>
            </a:r>
          </a:p>
        </p:txBody>
      </p:sp>
      <p:sp>
        <p:nvSpPr>
          <p:cNvPr id="3" name="Content Placeholder 2"/>
          <p:cNvSpPr>
            <a:spLocks noGrp="1"/>
          </p:cNvSpPr>
          <p:nvPr>
            <p:ph idx="1"/>
          </p:nvPr>
        </p:nvSpPr>
        <p:spPr/>
        <p:txBody>
          <a:bodyPr>
            <a:normAutofit/>
          </a:bodyPr>
          <a:lstStyle/>
          <a:p>
            <a:r>
              <a:rPr dirty="0"/>
              <a:t>Definition: A framework of structured phases to develop, deploy, and maintain software.</a:t>
            </a:r>
          </a:p>
          <a:p>
            <a:r>
              <a:rPr dirty="0"/>
              <a:t>Purpose:</a:t>
            </a:r>
          </a:p>
          <a:p>
            <a:r>
              <a:rPr dirty="0"/>
              <a:t>- Ensures systematic development</a:t>
            </a:r>
          </a:p>
          <a:p>
            <a:r>
              <a:rPr dirty="0"/>
              <a:t>- Reduces risks</a:t>
            </a:r>
          </a:p>
          <a:p>
            <a:r>
              <a:rPr dirty="0"/>
              <a:t>- Improves quality and predictability</a:t>
            </a:r>
          </a:p>
          <a:p>
            <a:endParaRP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Phases of SDLC</a:t>
            </a:r>
          </a:p>
        </p:txBody>
      </p:sp>
      <p:sp>
        <p:nvSpPr>
          <p:cNvPr id="3" name="Content Placeholder 2"/>
          <p:cNvSpPr>
            <a:spLocks noGrp="1"/>
          </p:cNvSpPr>
          <p:nvPr>
            <p:ph idx="1"/>
          </p:nvPr>
        </p:nvSpPr>
        <p:spPr/>
        <p:txBody>
          <a:bodyPr/>
          <a:lstStyle/>
          <a:p>
            <a:r>
              <a:rPr dirty="0"/>
              <a:t>- Requirement </a:t>
            </a:r>
            <a:r>
              <a:rPr lang="en-US" dirty="0"/>
              <a:t>Engineering</a:t>
            </a:r>
            <a:endParaRPr dirty="0"/>
          </a:p>
          <a:p>
            <a:r>
              <a:rPr dirty="0"/>
              <a:t>- System Design</a:t>
            </a:r>
          </a:p>
          <a:p>
            <a:r>
              <a:rPr dirty="0"/>
              <a:t>- Implementation (Coding)</a:t>
            </a:r>
          </a:p>
          <a:p>
            <a:r>
              <a:rPr dirty="0"/>
              <a:t>- Testing</a:t>
            </a:r>
          </a:p>
          <a:p>
            <a:r>
              <a:rPr dirty="0"/>
              <a:t>- Deployment</a:t>
            </a:r>
          </a:p>
          <a:p>
            <a:r>
              <a:rPr dirty="0"/>
              <a:t>- Maintenance</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Requirement </a:t>
            </a:r>
            <a:r>
              <a:rPr lang="en-US" dirty="0"/>
              <a:t>Engineering</a:t>
            </a:r>
            <a:endParaRPr dirty="0"/>
          </a:p>
        </p:txBody>
      </p:sp>
      <p:sp>
        <p:nvSpPr>
          <p:cNvPr id="3" name="Content Placeholder 2"/>
          <p:cNvSpPr>
            <a:spLocks noGrp="1"/>
          </p:cNvSpPr>
          <p:nvPr>
            <p:ph idx="1"/>
          </p:nvPr>
        </p:nvSpPr>
        <p:spPr/>
        <p:txBody>
          <a:bodyPr>
            <a:normAutofit fontScale="85000" lnSpcReduction="10000"/>
          </a:bodyPr>
          <a:lstStyle/>
          <a:p>
            <a:r>
              <a:rPr lang="en-US" dirty="0"/>
              <a:t>process of </a:t>
            </a:r>
            <a:r>
              <a:rPr lang="en-US" b="1" dirty="0"/>
              <a:t>gathering, analyzing, and documenting</a:t>
            </a:r>
            <a:r>
              <a:rPr lang="en-US" dirty="0"/>
              <a:t> </a:t>
            </a:r>
            <a:r>
              <a:rPr lang="en-US" dirty="0"/>
              <a:t>requirements</a:t>
            </a:r>
            <a:r>
              <a:rPr dirty="0"/>
              <a:t> </a:t>
            </a:r>
            <a:endParaRPr lang="en-US" dirty="0"/>
          </a:p>
          <a:p>
            <a:r>
              <a:rPr dirty="0"/>
              <a:t>Gather </a:t>
            </a:r>
            <a:r>
              <a:rPr dirty="0"/>
              <a:t>functional &amp; non-functional requirements</a:t>
            </a:r>
          </a:p>
          <a:p>
            <a:r>
              <a:rPr dirty="0"/>
              <a:t>- Techniques: Interviews, surveys, use cases</a:t>
            </a:r>
          </a:p>
          <a:p>
            <a:r>
              <a:rPr dirty="0"/>
              <a:t>- Deliverable: Software Requirement Specification (SRS</a:t>
            </a:r>
            <a:r>
              <a:rPr dirty="0"/>
              <a:t>)</a:t>
            </a:r>
            <a:endParaRPr lang="en-US" dirty="0"/>
          </a:p>
          <a:p>
            <a:r>
              <a:rPr lang="en-US" b="1" dirty="0"/>
              <a:t> Challenges</a:t>
            </a:r>
          </a:p>
          <a:p>
            <a:pPr lvl="1"/>
            <a:r>
              <a:rPr lang="en-US" dirty="0"/>
              <a:t>Miscommunication between stakeholders and developers.</a:t>
            </a:r>
          </a:p>
          <a:p>
            <a:pPr lvl="1"/>
            <a:r>
              <a:rPr lang="en-US" dirty="0"/>
              <a:t>Changing requirements (“scope creep”).</a:t>
            </a:r>
          </a:p>
          <a:p>
            <a:pPr lvl="1"/>
            <a:r>
              <a:rPr lang="en-US" dirty="0"/>
              <a:t>Ambiguous or incomplete requirements.</a:t>
            </a:r>
          </a:p>
          <a:p>
            <a:endParaRPr lang="en-US" b="1" dirty="0"/>
          </a:p>
          <a:p>
            <a:endParaRPr lang="en-US" b="1" dirty="0"/>
          </a:p>
          <a:p>
            <a:endParaRPr dirty="0"/>
          </a:p>
          <a:p>
            <a:endParaRP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Design</a:t>
            </a:r>
          </a:p>
        </p:txBody>
      </p:sp>
      <p:sp>
        <p:nvSpPr>
          <p:cNvPr id="3" name="Content Placeholder 2"/>
          <p:cNvSpPr>
            <a:spLocks noGrp="1"/>
          </p:cNvSpPr>
          <p:nvPr>
            <p:ph idx="1"/>
          </p:nvPr>
        </p:nvSpPr>
        <p:spPr/>
        <p:txBody>
          <a:bodyPr/>
          <a:lstStyle/>
          <a:p>
            <a:r>
              <a:rPr dirty="0"/>
              <a:t>- High-Level Design (architecture, modules)</a:t>
            </a:r>
          </a:p>
          <a:p>
            <a:r>
              <a:rPr dirty="0"/>
              <a:t>- Low-Level Design (algorithms, database schema, UI)</a:t>
            </a:r>
          </a:p>
          <a:p>
            <a:r>
              <a:rPr dirty="0"/>
              <a:t>- Tools: UML diagrams, ER models</a:t>
            </a:r>
          </a:p>
          <a:p>
            <a:endParaRPr dirty="0"/>
          </a:p>
          <a:p>
            <a:endParaRP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Implementation (Coding)</a:t>
            </a:r>
          </a:p>
        </p:txBody>
      </p:sp>
      <p:sp>
        <p:nvSpPr>
          <p:cNvPr id="3" name="Content Placeholder 2"/>
          <p:cNvSpPr>
            <a:spLocks noGrp="1"/>
          </p:cNvSpPr>
          <p:nvPr>
            <p:ph idx="1"/>
          </p:nvPr>
        </p:nvSpPr>
        <p:spPr/>
        <p:txBody>
          <a:bodyPr>
            <a:normAutofit fontScale="85000" lnSpcReduction="20000"/>
          </a:bodyPr>
          <a:lstStyle/>
          <a:p>
            <a:r>
              <a:rPr dirty="0"/>
              <a:t>- Translate design into working code</a:t>
            </a:r>
          </a:p>
          <a:p>
            <a:r>
              <a:rPr dirty="0"/>
              <a:t>- Use coding standards, version control</a:t>
            </a:r>
          </a:p>
          <a:p>
            <a:r>
              <a:rPr dirty="0"/>
              <a:t>- </a:t>
            </a:r>
            <a:r>
              <a:rPr dirty="0"/>
              <a:t>Tools</a:t>
            </a:r>
            <a:r>
              <a:rPr lang="en-US" dirty="0"/>
              <a:t>&amp; Technologies</a:t>
            </a:r>
            <a:r>
              <a:rPr dirty="0"/>
              <a:t>:</a:t>
            </a:r>
            <a:endParaRPr lang="en-US" dirty="0"/>
          </a:p>
          <a:p>
            <a:pPr lvl="1"/>
            <a:r>
              <a:rPr lang="en-US" dirty="0"/>
              <a:t>Programming languages</a:t>
            </a:r>
          </a:p>
          <a:p>
            <a:pPr lvl="1"/>
            <a:r>
              <a:rPr dirty="0"/>
              <a:t> </a:t>
            </a:r>
            <a:r>
              <a:rPr lang="en-US" dirty="0" err="1"/>
              <a:t>verion</a:t>
            </a:r>
            <a:r>
              <a:rPr lang="en-US" dirty="0"/>
              <a:t> </a:t>
            </a:r>
            <a:r>
              <a:rPr lang="en-US" dirty="0"/>
              <a:t>control: </a:t>
            </a:r>
            <a:r>
              <a:rPr dirty="0" err="1"/>
              <a:t>Git</a:t>
            </a:r>
            <a:r>
              <a:rPr lang="en-US" dirty="0"/>
              <a:t> </a:t>
            </a:r>
          </a:p>
          <a:p>
            <a:pPr lvl="1"/>
            <a:r>
              <a:rPr dirty="0"/>
              <a:t>IDEs</a:t>
            </a:r>
            <a:r>
              <a:rPr lang="en-US" dirty="0"/>
              <a:t> :Eclipse </a:t>
            </a:r>
            <a:r>
              <a:rPr dirty="0"/>
              <a:t>,</a:t>
            </a:r>
            <a:r>
              <a:rPr lang="en-US" dirty="0"/>
              <a:t>VS code, </a:t>
            </a:r>
            <a:r>
              <a:rPr lang="en-US" dirty="0" err="1"/>
              <a:t>pyCharm</a:t>
            </a:r>
            <a:endParaRPr lang="en-US" dirty="0"/>
          </a:p>
          <a:p>
            <a:pPr lvl="1"/>
            <a:r>
              <a:rPr dirty="0"/>
              <a:t> </a:t>
            </a:r>
            <a:r>
              <a:rPr dirty="0"/>
              <a:t>CI/CD pipelines</a:t>
            </a:r>
          </a:p>
          <a:p>
            <a:r>
              <a:rPr lang="en-US" dirty="0"/>
              <a:t>Goal: Deliver </a:t>
            </a:r>
            <a:r>
              <a:rPr lang="en-US" b="1" dirty="0"/>
              <a:t>working software modules</a:t>
            </a:r>
            <a:r>
              <a:rPr lang="en-US" dirty="0"/>
              <a:t> that meet the design and requirements.</a:t>
            </a:r>
          </a:p>
          <a:p>
            <a:endParaRP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a:t>
            </a:r>
          </a:p>
        </p:txBody>
      </p:sp>
      <p:sp>
        <p:nvSpPr>
          <p:cNvPr id="3" name="Content Placeholder 2"/>
          <p:cNvSpPr>
            <a:spLocks noGrp="1"/>
          </p:cNvSpPr>
          <p:nvPr>
            <p:ph idx="1"/>
          </p:nvPr>
        </p:nvSpPr>
        <p:spPr/>
        <p:txBody>
          <a:bodyPr/>
          <a:lstStyle/>
          <a:p>
            <a:r>
              <a:rPr dirty="0"/>
              <a:t>- Unit Testing → components</a:t>
            </a:r>
          </a:p>
          <a:p>
            <a:r>
              <a:rPr dirty="0"/>
              <a:t>- Integration Testing → modules</a:t>
            </a:r>
          </a:p>
          <a:p>
            <a:r>
              <a:rPr dirty="0"/>
              <a:t>- System Testing → entire system</a:t>
            </a:r>
          </a:p>
          <a:p>
            <a:r>
              <a:rPr dirty="0"/>
              <a:t>- Acceptance Testing → customer validation</a:t>
            </a:r>
          </a:p>
          <a:p>
            <a:endParaRP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endParaRPr lang="en-US" dirty="0"/>
          </a:p>
        </p:txBody>
      </p:sp>
      <p:sp>
        <p:nvSpPr>
          <p:cNvPr id="3" name="Content Placeholder 2"/>
          <p:cNvSpPr>
            <a:spLocks noGrp="1"/>
          </p:cNvSpPr>
          <p:nvPr>
            <p:ph idx="1"/>
          </p:nvPr>
        </p:nvSpPr>
        <p:spPr/>
        <p:txBody>
          <a:bodyPr/>
          <a:lstStyle/>
          <a:p>
            <a:r>
              <a:rPr lang="en-US" dirty="0"/>
              <a:t/>
            </a:r>
            <a:br>
              <a:rPr lang="en-US" dirty="0"/>
            </a:br>
            <a:r>
              <a:rPr lang="en-US" dirty="0"/>
              <a:t>👉 </a:t>
            </a:r>
            <a:r>
              <a:rPr lang="en-US" i="1" dirty="0"/>
              <a:t>“If you were leading a software project, would you prefer to release the product early (with some known bugs) or release it late but fully stable?”</a:t>
            </a:r>
            <a:endParaRPr lang="en-US" dirty="0"/>
          </a:p>
        </p:txBody>
      </p:sp>
    </p:spTree>
    <p:extLst>
      <p:ext uri="{BB962C8B-B14F-4D97-AF65-F5344CB8AC3E}">
        <p14:creationId xmlns:p14="http://schemas.microsoft.com/office/powerpoint/2010/main" val="5031083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Deployment</a:t>
            </a:r>
          </a:p>
        </p:txBody>
      </p:sp>
      <p:sp>
        <p:nvSpPr>
          <p:cNvPr id="3" name="Content Placeholder 2"/>
          <p:cNvSpPr>
            <a:spLocks noGrp="1"/>
          </p:cNvSpPr>
          <p:nvPr>
            <p:ph idx="1"/>
          </p:nvPr>
        </p:nvSpPr>
        <p:spPr/>
        <p:txBody>
          <a:bodyPr>
            <a:normAutofit fontScale="92500" lnSpcReduction="20000"/>
          </a:bodyPr>
          <a:lstStyle/>
          <a:p>
            <a:r>
              <a:t>- Deliver software to users</a:t>
            </a:r>
          </a:p>
          <a:p>
            <a:r>
              <a:t>- Strategies:</a:t>
            </a:r>
          </a:p>
          <a:p>
            <a:r>
              <a:t>   * Direct Cutover: quick but risky</a:t>
            </a:r>
          </a:p>
          <a:p>
            <a:r>
              <a:t>   * Parallel Running: safe but expensive</a:t>
            </a:r>
          </a:p>
          <a:p>
            <a:r>
              <a:t>   * Phased Rollout: gradual, lower risk</a:t>
            </a:r>
          </a:p>
          <a:p>
            <a:r>
              <a:t>- Deliverables: Installed software, manuals, training</a:t>
            </a:r>
          </a:p>
          <a:p>
            <a:endParaRPr/>
          </a:p>
          <a:p>
            <a:r>
              <a:t>Scenario: Which strategy is safest for hospital software?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Maintenance</a:t>
            </a:r>
          </a:p>
        </p:txBody>
      </p:sp>
      <p:sp>
        <p:nvSpPr>
          <p:cNvPr id="3" name="Content Placeholder 2"/>
          <p:cNvSpPr>
            <a:spLocks noGrp="1"/>
          </p:cNvSpPr>
          <p:nvPr>
            <p:ph idx="1"/>
          </p:nvPr>
        </p:nvSpPr>
        <p:spPr/>
        <p:txBody>
          <a:bodyPr>
            <a:normAutofit/>
          </a:bodyPr>
          <a:lstStyle/>
          <a:p>
            <a:r>
              <a:rPr dirty="0"/>
              <a:t>- Activities after deployment</a:t>
            </a:r>
          </a:p>
          <a:p>
            <a:r>
              <a:rPr dirty="0"/>
              <a:t>- Types:</a:t>
            </a:r>
          </a:p>
          <a:p>
            <a:r>
              <a:rPr dirty="0"/>
              <a:t>   * Corrective: Fix errors</a:t>
            </a:r>
          </a:p>
          <a:p>
            <a:r>
              <a:rPr dirty="0"/>
              <a:t>   * Adaptive: Adjust to new environments</a:t>
            </a:r>
          </a:p>
          <a:p>
            <a:r>
              <a:rPr dirty="0"/>
              <a:t>   * Perfective: Improve features/performance</a:t>
            </a:r>
          </a:p>
          <a:p>
            <a:r>
              <a:rPr dirty="0"/>
              <a:t>   * Preventive: Avoid future risks</a:t>
            </a:r>
          </a:p>
          <a:p>
            <a:endParaRP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 Evolution</a:t>
            </a:r>
          </a:p>
        </p:txBody>
      </p:sp>
      <p:sp>
        <p:nvSpPr>
          <p:cNvPr id="3" name="Content Placeholder 2"/>
          <p:cNvSpPr>
            <a:spLocks noGrp="1"/>
          </p:cNvSpPr>
          <p:nvPr>
            <p:ph idx="1"/>
          </p:nvPr>
        </p:nvSpPr>
        <p:spPr/>
        <p:txBody>
          <a:bodyPr/>
          <a:lstStyle/>
          <a:p>
            <a:r>
              <a:rPr dirty="0"/>
              <a:t>- Software must evolve or it becomes obsolete</a:t>
            </a:r>
          </a:p>
          <a:p>
            <a:r>
              <a:rPr dirty="0"/>
              <a:t>- Lehman’s Laws: systems adapt or die</a:t>
            </a:r>
          </a:p>
          <a:p>
            <a:r>
              <a:rPr dirty="0"/>
              <a:t>- Examples: Windows OS, WhatsApp, Android versions</a:t>
            </a:r>
          </a:p>
          <a:p>
            <a:endParaRP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 SDLC = structured software development approach</a:t>
            </a:r>
          </a:p>
          <a:p>
            <a:r>
              <a:t>- Each phase produces deliverables</a:t>
            </a:r>
          </a:p>
          <a:p>
            <a:r>
              <a:t>- Maintenance &amp; evolution are integral, not optional</a:t>
            </a:r>
          </a:p>
          <a:p>
            <a:r>
              <a:t>- Software is a living product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Quick Quiz</a:t>
            </a:r>
          </a:p>
        </p:txBody>
      </p:sp>
      <p:sp>
        <p:nvSpPr>
          <p:cNvPr id="3" name="Content Placeholder 2"/>
          <p:cNvSpPr>
            <a:spLocks noGrp="1"/>
          </p:cNvSpPr>
          <p:nvPr>
            <p:ph idx="1"/>
          </p:nvPr>
        </p:nvSpPr>
        <p:spPr/>
        <p:txBody>
          <a:bodyPr/>
          <a:lstStyle/>
          <a:p>
            <a:r>
              <a:t>1. Which SDLC phase defines 'what' the system should do?</a:t>
            </a:r>
          </a:p>
          <a:p>
            <a:r>
              <a:t>2. Which phase ensures the system works correctly?</a:t>
            </a:r>
          </a:p>
          <a:p>
            <a:r>
              <a:t>3. Maintenance is optional (T/F).</a:t>
            </a:r>
          </a:p>
          <a:p>
            <a:r>
              <a:t>4. Deployment can happen in phases (T/F).</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Requirement Engineering</a:t>
            </a:r>
          </a:p>
        </p:txBody>
      </p:sp>
      <p:sp>
        <p:nvSpPr>
          <p:cNvPr id="3" name="Subtitle 2"/>
          <p:cNvSpPr>
            <a:spLocks noGrp="1"/>
          </p:cNvSpPr>
          <p:nvPr>
            <p:ph type="subTitle" idx="1"/>
          </p:nvPr>
        </p:nvSpPr>
        <p:spPr/>
        <p:txBody>
          <a:bodyPr>
            <a:normAutofit fontScale="92500" lnSpcReduction="20000"/>
          </a:bodyPr>
          <a:lstStyle/>
          <a:p>
            <a:r>
              <a:rPr dirty="0"/>
              <a:t>Advanced Software Engineering</a:t>
            </a:r>
          </a:p>
          <a:p>
            <a:endParaRPr lang="en-US" dirty="0"/>
          </a:p>
          <a:p>
            <a:r>
              <a:rPr dirty="0"/>
              <a:t>Ms</a:t>
            </a:r>
            <a:r>
              <a:rPr dirty="0"/>
              <a:t>. Shehla Saeed </a:t>
            </a:r>
            <a:endParaRPr lang="en-US" dirty="0"/>
          </a:p>
          <a:p>
            <a:r>
              <a:rPr dirty="0"/>
              <a:t> </a:t>
            </a:r>
            <a:endParaRP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Requirement Engineering?</a:t>
            </a:r>
          </a:p>
        </p:txBody>
      </p:sp>
      <p:sp>
        <p:nvSpPr>
          <p:cNvPr id="3" name="Content Placeholder 2"/>
          <p:cNvSpPr>
            <a:spLocks noGrp="1"/>
          </p:cNvSpPr>
          <p:nvPr>
            <p:ph idx="1"/>
          </p:nvPr>
        </p:nvSpPr>
        <p:spPr>
          <a:xfrm>
            <a:off x="1014608" y="2705622"/>
            <a:ext cx="7672192" cy="3294194"/>
          </a:xfrm>
        </p:spPr>
        <p:txBody>
          <a:bodyPr/>
          <a:lstStyle/>
          <a:p>
            <a:r>
              <a:rPr dirty="0"/>
              <a:t>Requirement Engineering (RE) is the process of discovering, documenting, and maintaining what users need and expect from a software system.</a:t>
            </a:r>
          </a:p>
          <a:p>
            <a:endParaRPr dirty="0"/>
          </a:p>
          <a:p>
            <a:r>
              <a:rPr dirty="0"/>
              <a:t>It focuses on understanding problems before writing code.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Requirements Matter</a:t>
            </a:r>
          </a:p>
        </p:txBody>
      </p:sp>
      <p:sp>
        <p:nvSpPr>
          <p:cNvPr id="3" name="Content Placeholder 2"/>
          <p:cNvSpPr>
            <a:spLocks noGrp="1"/>
          </p:cNvSpPr>
          <p:nvPr>
            <p:ph idx="1"/>
          </p:nvPr>
        </p:nvSpPr>
        <p:spPr/>
        <p:txBody>
          <a:bodyPr/>
          <a:lstStyle/>
          <a:p>
            <a:r>
              <a:rPr dirty="0"/>
              <a:t> </a:t>
            </a:r>
            <a:r>
              <a:rPr dirty="0"/>
              <a:t>Around 70% of software projects fail due to unclear or changing requirements.</a:t>
            </a:r>
          </a:p>
          <a:p>
            <a:r>
              <a:rPr dirty="0"/>
              <a:t> </a:t>
            </a:r>
            <a:r>
              <a:rPr dirty="0"/>
              <a:t>Proper RE reduces cost and improves customer satisfaction.</a:t>
            </a:r>
          </a:p>
          <a:p>
            <a:endParaRPr dirty="0"/>
          </a:p>
          <a:p>
            <a:r>
              <a:rPr dirty="0"/>
              <a:t> </a:t>
            </a:r>
            <a:r>
              <a:rPr dirty="0"/>
              <a:t>Question: Why do you think most projects fail?</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Requirements</a:t>
            </a:r>
          </a:p>
        </p:txBody>
      </p:sp>
      <p:sp>
        <p:nvSpPr>
          <p:cNvPr id="8" name="Rectangle 4"/>
          <p:cNvSpPr>
            <a:spLocks noGrp="1" noChangeArrowheads="1"/>
          </p:cNvSpPr>
          <p:nvPr>
            <p:ph idx="1"/>
          </p:nvPr>
        </p:nvSpPr>
        <p:spPr bwMode="auto">
          <a:xfrm>
            <a:off x="982133" y="1876709"/>
            <a:ext cx="770466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sz="2000" b="1" dirty="0">
                <a:latin typeface="Arial" panose="020B0604020202020204" pitchFamily="34" charset="0"/>
              </a:rPr>
              <a:t>User Requirements </a:t>
            </a:r>
            <a:r>
              <a:rPr lang="en-US" altLang="en-US" sz="2000" dirty="0">
                <a:latin typeface="Arial" panose="020B0604020202020204" pitchFamily="34" charset="0"/>
              </a:rPr>
              <a:t>– What users expect (natural language)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Example: </a:t>
            </a:r>
            <a:r>
              <a:rPr kumimoji="0" lang="en-US" altLang="en-US" sz="2000" b="0" i="1" u="none" strike="noStrike" cap="none" normalizeH="0" baseline="0" dirty="0">
                <a:ln>
                  <a:noFill/>
                </a:ln>
                <a:solidFill>
                  <a:schemeClr val="tx1"/>
                </a:solidFill>
                <a:effectLst/>
                <a:latin typeface="Arial" panose="020B0604020202020204" pitchFamily="34" charset="0"/>
              </a:rPr>
              <a:t>“App should let me book a ride.”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Arial" panose="020B0604020202020204" pitchFamily="34" charset="0"/>
              </a:rPr>
              <a:t>System Requirements</a:t>
            </a:r>
            <a:r>
              <a:rPr kumimoji="0" lang="en-US" altLang="en-US" sz="2000" b="0" i="0" u="none" strike="noStrike" cap="none" normalizeH="0" baseline="0" dirty="0">
                <a:ln>
                  <a:noFill/>
                </a:ln>
                <a:solidFill>
                  <a:schemeClr val="tx1"/>
                </a:solidFill>
                <a:effectLst/>
                <a:latin typeface="Arial" panose="020B0604020202020204" pitchFamily="34" charset="0"/>
              </a:rPr>
              <a:t> – Technical details of what the system must do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Example: </a:t>
            </a:r>
            <a:r>
              <a:rPr kumimoji="0" lang="en-US" altLang="en-US" sz="2000" b="0" i="1" u="none" strike="noStrike" cap="none" normalizeH="0" baseline="0" dirty="0">
                <a:ln>
                  <a:noFill/>
                </a:ln>
                <a:solidFill>
                  <a:schemeClr val="tx1"/>
                </a:solidFill>
                <a:effectLst/>
                <a:latin typeface="Arial" panose="020B0604020202020204" pitchFamily="34" charset="0"/>
              </a:rPr>
              <a:t>“System shall store booking data in a database.”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Arial" panose="020B0604020202020204" pitchFamily="34" charset="0"/>
              </a:rPr>
              <a:t>Domain Requirements</a:t>
            </a:r>
            <a:r>
              <a:rPr kumimoji="0" lang="en-US" altLang="en-US" sz="2000" b="0" i="0" u="none" strike="noStrike" cap="none" normalizeH="0" baseline="0" dirty="0">
                <a:ln>
                  <a:noFill/>
                </a:ln>
                <a:solidFill>
                  <a:schemeClr val="tx1"/>
                </a:solidFill>
                <a:effectLst/>
                <a:latin typeface="Arial" panose="020B0604020202020204" pitchFamily="34" charset="0"/>
              </a:rPr>
              <a:t> – Constraints or rules that come from the application domain or environment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Example: </a:t>
            </a:r>
            <a:r>
              <a:rPr kumimoji="0" lang="en-US" altLang="en-US" sz="2000" b="0" i="1" u="none" strike="noStrike" cap="none" normalizeH="0" baseline="0" dirty="0">
                <a:ln>
                  <a:noFill/>
                </a:ln>
                <a:solidFill>
                  <a:schemeClr val="tx1"/>
                </a:solidFill>
                <a:effectLst/>
                <a:latin typeface="Arial" panose="020B0604020202020204" pitchFamily="34" charset="0"/>
              </a:rPr>
              <a:t>“Booking records must comply with city transport authority regulations.”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Functional vs Non-Functional Requirements</a:t>
            </a:r>
          </a:p>
        </p:txBody>
      </p:sp>
      <p:sp>
        <p:nvSpPr>
          <p:cNvPr id="3" name="Content Placeholder 2"/>
          <p:cNvSpPr>
            <a:spLocks noGrp="1"/>
          </p:cNvSpPr>
          <p:nvPr>
            <p:ph idx="1"/>
          </p:nvPr>
        </p:nvSpPr>
        <p:spPr/>
        <p:txBody>
          <a:bodyPr>
            <a:normAutofit lnSpcReduction="10000"/>
          </a:bodyPr>
          <a:lstStyle/>
          <a:p>
            <a:r>
              <a:rPr dirty="0"/>
              <a:t>Functional: Define what the system does.</a:t>
            </a:r>
          </a:p>
          <a:p>
            <a:r>
              <a:rPr dirty="0"/>
              <a:t>Example: 'User can reset password.'</a:t>
            </a:r>
          </a:p>
          <a:p>
            <a:endParaRPr dirty="0"/>
          </a:p>
          <a:p>
            <a:r>
              <a:rPr dirty="0"/>
              <a:t>Non-Functional: Define system quality.</a:t>
            </a:r>
          </a:p>
          <a:p>
            <a:r>
              <a:rPr dirty="0"/>
              <a:t>Example: 'Response time &lt; 2 seconds.'</a:t>
            </a:r>
          </a:p>
          <a:p>
            <a:endParaRPr dirty="0"/>
          </a:p>
          <a:p>
            <a:r>
              <a:rPr dirty="0"/>
              <a:t>Quick </a:t>
            </a:r>
            <a:r>
              <a:rPr dirty="0"/>
              <a:t>Quiz: Which type is ‘System uptime 99.9%’?</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vs Non-Functional </a:t>
            </a:r>
            <a:r>
              <a:rPr lang="en-US"/>
              <a:t>Requirementss</a:t>
            </a:r>
            <a:endParaRPr lang="en-US"/>
          </a:p>
        </p:txBody>
      </p:sp>
      <p:graphicFrame>
        <p:nvGraphicFramePr>
          <p:cNvPr id="4" name="Content Placeholder 3"/>
          <p:cNvGraphicFramePr>
            <a:graphicFrameLocks noGrp="1"/>
          </p:cNvGraphicFramePr>
          <p:nvPr>
            <p:ph idx="1"/>
          </p:nvPr>
        </p:nvGraphicFramePr>
        <p:xfrm>
          <a:off x="982663" y="3372961"/>
          <a:ext cx="7704138" cy="1920240"/>
        </p:xfrm>
        <a:graphic>
          <a:graphicData uri="http://schemas.openxmlformats.org/drawingml/2006/table">
            <a:tbl>
              <a:tblPr/>
              <a:tblGrid>
                <a:gridCol w="2568046">
                  <a:extLst>
                    <a:ext uri="{9D8B030D-6E8A-4147-A177-3AD203B41FA5}">
                      <a16:colId xmlns:a16="http://schemas.microsoft.com/office/drawing/2014/main" val="2983809232"/>
                    </a:ext>
                  </a:extLst>
                </a:gridCol>
                <a:gridCol w="2568046">
                  <a:extLst>
                    <a:ext uri="{9D8B030D-6E8A-4147-A177-3AD203B41FA5}">
                      <a16:colId xmlns:a16="http://schemas.microsoft.com/office/drawing/2014/main" val="2897229147"/>
                    </a:ext>
                  </a:extLst>
                </a:gridCol>
                <a:gridCol w="2568046">
                  <a:extLst>
                    <a:ext uri="{9D8B030D-6E8A-4147-A177-3AD203B41FA5}">
                      <a16:colId xmlns:a16="http://schemas.microsoft.com/office/drawing/2014/main" val="3185571392"/>
                    </a:ext>
                  </a:extLst>
                </a:gridCol>
              </a:tblGrid>
              <a:tr h="365760">
                <a:tc>
                  <a:txBody>
                    <a:bodyPr/>
                    <a:lstStyle/>
                    <a:p>
                      <a:r>
                        <a:rPr lang="en-US" sz="1800" b="1"/>
                        <a:t>Type</a:t>
                      </a:r>
                      <a:endParaRPr lang="en-US" sz="1800"/>
                    </a:p>
                  </a:txBody>
                  <a:tcPr anchor="ctr">
                    <a:lnL>
                      <a:noFill/>
                    </a:lnL>
                    <a:lnR>
                      <a:noFill/>
                    </a:lnR>
                    <a:lnT>
                      <a:noFill/>
                    </a:lnT>
                    <a:lnB>
                      <a:noFill/>
                    </a:lnB>
                  </a:tcPr>
                </a:tc>
                <a:tc>
                  <a:txBody>
                    <a:bodyPr/>
                    <a:lstStyle/>
                    <a:p>
                      <a:r>
                        <a:rPr lang="en-US" sz="1800" b="1"/>
                        <a:t>Description</a:t>
                      </a:r>
                      <a:endParaRPr lang="en-US" sz="1800"/>
                    </a:p>
                  </a:txBody>
                  <a:tcPr anchor="ctr">
                    <a:lnL>
                      <a:noFill/>
                    </a:lnL>
                    <a:lnR>
                      <a:noFill/>
                    </a:lnR>
                    <a:lnT>
                      <a:noFill/>
                    </a:lnT>
                    <a:lnB>
                      <a:noFill/>
                    </a:lnB>
                  </a:tcPr>
                </a:tc>
                <a:tc>
                  <a:txBody>
                    <a:bodyPr/>
                    <a:lstStyle/>
                    <a:p>
                      <a:r>
                        <a:rPr lang="en-US" sz="1800" b="1"/>
                        <a:t>Example</a:t>
                      </a:r>
                      <a:endParaRPr lang="en-US" sz="1800"/>
                    </a:p>
                  </a:txBody>
                  <a:tcPr anchor="ctr">
                    <a:lnL>
                      <a:noFill/>
                    </a:lnL>
                    <a:lnR>
                      <a:noFill/>
                    </a:lnR>
                    <a:lnT>
                      <a:noFill/>
                    </a:lnT>
                    <a:lnB>
                      <a:noFill/>
                    </a:lnB>
                  </a:tcPr>
                </a:tc>
                <a:extLst>
                  <a:ext uri="{0D108BD9-81ED-4DB2-BD59-A6C34878D82A}">
                    <a16:rowId xmlns:a16="http://schemas.microsoft.com/office/drawing/2014/main" val="2766076601"/>
                  </a:ext>
                </a:extLst>
              </a:tr>
              <a:tr h="640080">
                <a:tc>
                  <a:txBody>
                    <a:bodyPr/>
                    <a:lstStyle/>
                    <a:p>
                      <a:r>
                        <a:rPr lang="en-US" sz="1800" b="1"/>
                        <a:t>Functional</a:t>
                      </a:r>
                      <a:endParaRPr lang="en-US" sz="1800"/>
                    </a:p>
                  </a:txBody>
                  <a:tcPr anchor="ctr">
                    <a:lnL>
                      <a:noFill/>
                    </a:lnL>
                    <a:lnR>
                      <a:noFill/>
                    </a:lnR>
                    <a:lnT>
                      <a:noFill/>
                    </a:lnT>
                    <a:lnB>
                      <a:noFill/>
                    </a:lnB>
                  </a:tcPr>
                </a:tc>
                <a:tc>
                  <a:txBody>
                    <a:bodyPr/>
                    <a:lstStyle/>
                    <a:p>
                      <a:r>
                        <a:rPr lang="en-US" sz="1800"/>
                        <a:t>Define what the system should do</a:t>
                      </a:r>
                    </a:p>
                  </a:txBody>
                  <a:tcPr anchor="ctr">
                    <a:lnL>
                      <a:noFill/>
                    </a:lnL>
                    <a:lnR>
                      <a:noFill/>
                    </a:lnR>
                    <a:lnT>
                      <a:noFill/>
                    </a:lnT>
                    <a:lnB>
                      <a:noFill/>
                    </a:lnB>
                  </a:tcPr>
                </a:tc>
                <a:tc>
                  <a:txBody>
                    <a:bodyPr/>
                    <a:lstStyle/>
                    <a:p>
                      <a:r>
                        <a:rPr lang="en-US" sz="1800"/>
                        <a:t>“System shall allow login and password reset.”</a:t>
                      </a:r>
                    </a:p>
                  </a:txBody>
                  <a:tcPr anchor="ctr">
                    <a:lnL>
                      <a:noFill/>
                    </a:lnL>
                    <a:lnR>
                      <a:noFill/>
                    </a:lnR>
                    <a:lnT>
                      <a:noFill/>
                    </a:lnT>
                    <a:lnB>
                      <a:noFill/>
                    </a:lnB>
                  </a:tcPr>
                </a:tc>
                <a:extLst>
                  <a:ext uri="{0D108BD9-81ED-4DB2-BD59-A6C34878D82A}">
                    <a16:rowId xmlns:a16="http://schemas.microsoft.com/office/drawing/2014/main" val="417139691"/>
                  </a:ext>
                </a:extLst>
              </a:tr>
              <a:tr h="914400">
                <a:tc>
                  <a:txBody>
                    <a:bodyPr/>
                    <a:lstStyle/>
                    <a:p>
                      <a:r>
                        <a:rPr lang="en-US" sz="1800" b="1"/>
                        <a:t>Non-Functional</a:t>
                      </a:r>
                      <a:endParaRPr lang="en-US" sz="1800"/>
                    </a:p>
                  </a:txBody>
                  <a:tcPr anchor="ctr">
                    <a:lnL>
                      <a:noFill/>
                    </a:lnL>
                    <a:lnR>
                      <a:noFill/>
                    </a:lnR>
                    <a:lnT>
                      <a:noFill/>
                    </a:lnT>
                    <a:lnB>
                      <a:noFill/>
                    </a:lnB>
                  </a:tcPr>
                </a:tc>
                <a:tc>
                  <a:txBody>
                    <a:bodyPr/>
                    <a:lstStyle/>
                    <a:p>
                      <a:r>
                        <a:rPr lang="en-US" sz="1800"/>
                        <a:t>Define quality attributes (how the system performs)</a:t>
                      </a:r>
                    </a:p>
                  </a:txBody>
                  <a:tcPr anchor="ctr">
                    <a:lnL>
                      <a:noFill/>
                    </a:lnL>
                    <a:lnR>
                      <a:noFill/>
                    </a:lnR>
                    <a:lnT>
                      <a:noFill/>
                    </a:lnT>
                    <a:lnB>
                      <a:noFill/>
                    </a:lnB>
                  </a:tcPr>
                </a:tc>
                <a:tc>
                  <a:txBody>
                    <a:bodyPr/>
                    <a:lstStyle/>
                    <a:p>
                      <a:r>
                        <a:rPr lang="en-US" sz="1800" dirty="0"/>
                        <a:t>“System response time must be under 2 seconds.”</a:t>
                      </a:r>
                    </a:p>
                  </a:txBody>
                  <a:tcPr anchor="ctr">
                    <a:lnL>
                      <a:noFill/>
                    </a:lnL>
                    <a:lnR>
                      <a:noFill/>
                    </a:lnR>
                    <a:lnT>
                      <a:noFill/>
                    </a:lnT>
                    <a:lnB>
                      <a:noFill/>
                    </a:lnB>
                  </a:tcPr>
                </a:tc>
                <a:extLst>
                  <a:ext uri="{0D108BD9-81ED-4DB2-BD59-A6C34878D82A}">
                    <a16:rowId xmlns:a16="http://schemas.microsoft.com/office/drawing/2014/main" val="805615127"/>
                  </a:ext>
                </a:extLst>
              </a:tr>
            </a:tbl>
          </a:graphicData>
        </a:graphic>
      </p:graphicFrame>
    </p:spTree>
    <p:extLst>
      <p:ext uri="{BB962C8B-B14F-4D97-AF65-F5344CB8AC3E}">
        <p14:creationId xmlns:p14="http://schemas.microsoft.com/office/powerpoint/2010/main" val="20728009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Problems in RE</a:t>
            </a:r>
          </a:p>
        </p:txBody>
      </p:sp>
      <p:sp>
        <p:nvSpPr>
          <p:cNvPr id="3" name="Content Placeholder 2"/>
          <p:cNvSpPr>
            <a:spLocks noGrp="1"/>
          </p:cNvSpPr>
          <p:nvPr>
            <p:ph idx="1"/>
          </p:nvPr>
        </p:nvSpPr>
        <p:spPr/>
        <p:txBody>
          <a:bodyPr>
            <a:normAutofit lnSpcReduction="10000"/>
          </a:bodyPr>
          <a:lstStyle/>
          <a:p>
            <a:r>
              <a:rPr dirty="0"/>
              <a:t>Ambiguity</a:t>
            </a:r>
            <a:r>
              <a:rPr dirty="0"/>
              <a:t>: vague terms like 'fast' or 'easy'</a:t>
            </a:r>
          </a:p>
          <a:p>
            <a:r>
              <a:rPr dirty="0"/>
              <a:t> </a:t>
            </a:r>
            <a:r>
              <a:rPr dirty="0"/>
              <a:t>Changing requirements (scope creep)</a:t>
            </a:r>
          </a:p>
          <a:p>
            <a:r>
              <a:rPr dirty="0"/>
              <a:t> </a:t>
            </a:r>
            <a:r>
              <a:rPr dirty="0"/>
              <a:t>Conflicts among stakeholders</a:t>
            </a:r>
          </a:p>
          <a:p>
            <a:r>
              <a:rPr dirty="0"/>
              <a:t> </a:t>
            </a:r>
            <a:r>
              <a:rPr dirty="0"/>
              <a:t>Lack of documentation</a:t>
            </a:r>
          </a:p>
          <a:p>
            <a:endParaRPr dirty="0"/>
          </a:p>
          <a:p>
            <a:r>
              <a:rPr dirty="0"/>
              <a:t>Activity</a:t>
            </a:r>
            <a:r>
              <a:rPr dirty="0"/>
              <a:t>: Client says 'Make it fast' — what would you ask next?</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Roleplay Activity: 'Make It Fast!'</a:t>
            </a:r>
          </a:p>
        </p:txBody>
      </p:sp>
      <p:sp>
        <p:nvSpPr>
          <p:cNvPr id="3" name="Content Placeholder 2"/>
          <p:cNvSpPr>
            <a:spLocks noGrp="1"/>
          </p:cNvSpPr>
          <p:nvPr>
            <p:ph idx="1"/>
          </p:nvPr>
        </p:nvSpPr>
        <p:spPr>
          <a:xfrm>
            <a:off x="982133" y="2438401"/>
            <a:ext cx="7704667" cy="3561415"/>
          </a:xfrm>
        </p:spPr>
        <p:txBody>
          <a:bodyPr>
            <a:noAutofit/>
          </a:bodyPr>
          <a:lstStyle/>
          <a:p>
            <a:r>
              <a:rPr sz="1400" b="1" dirty="0"/>
              <a:t>Client says: 'Make it fast.'</a:t>
            </a:r>
          </a:p>
          <a:p>
            <a:endParaRPr sz="1400" b="1" dirty="0"/>
          </a:p>
          <a:p>
            <a:r>
              <a:rPr sz="1400" b="1" dirty="0"/>
              <a:t>💬 </a:t>
            </a:r>
            <a:r>
              <a:rPr sz="1400" b="1" dirty="0"/>
              <a:t>Analyst should ask questions like:</a:t>
            </a:r>
          </a:p>
          <a:p>
            <a:r>
              <a:rPr sz="1400" b="1" dirty="0"/>
              <a:t> </a:t>
            </a:r>
            <a:r>
              <a:rPr sz="1400" b="1" dirty="0"/>
              <a:t>What exactly do you mean by 'fast'?</a:t>
            </a:r>
          </a:p>
          <a:p>
            <a:r>
              <a:rPr sz="1400" b="1" dirty="0"/>
              <a:t> </a:t>
            </a:r>
            <a:r>
              <a:rPr sz="1400" b="1" dirty="0"/>
              <a:t>Do you mean system response time or user task speed?</a:t>
            </a:r>
          </a:p>
          <a:p>
            <a:r>
              <a:rPr sz="1400" b="1" dirty="0"/>
              <a:t> </a:t>
            </a:r>
            <a:r>
              <a:rPr sz="1400" b="1" dirty="0"/>
              <a:t>How many users will use the system simultaneously?</a:t>
            </a:r>
          </a:p>
          <a:p>
            <a:r>
              <a:rPr sz="1400" b="1" dirty="0"/>
              <a:t> </a:t>
            </a:r>
            <a:r>
              <a:rPr sz="1400" b="1" dirty="0"/>
              <a:t>What’s an acceptable response time (1s, 3s, etc</a:t>
            </a:r>
            <a:r>
              <a:rPr sz="1400" b="1" dirty="0"/>
              <a:t>.)?</a:t>
            </a:r>
            <a:endParaRPr sz="1400" b="1" dirty="0"/>
          </a:p>
          <a:p>
            <a:r>
              <a:rPr sz="1400" b="1" dirty="0"/>
              <a:t>🎓 Lesson:</a:t>
            </a:r>
          </a:p>
          <a:p>
            <a:r>
              <a:rPr sz="1400" b="1" dirty="0"/>
              <a:t>Ambiguous requirements cause confusion — clear, measurable ones ensure project success.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a:spLocks noGrp="1"/>
          </p:cNvSpPr>
          <p:nvPr>
            <p:ph type="sldNum" sz="quarter" idx="10"/>
          </p:nvPr>
        </p:nvSpPr>
        <p:spPr bwMode="auto">
          <a:noFill/>
          <a:ln>
            <a:round/>
            <a:headEnd/>
            <a:tailEnd/>
          </a:ln>
          <a:extLst>
            <a:ext uri="{909E8E84-426E-40DD-AFC4-6F175D3DCCD1}">
              <a14:hiddenFill xmlns:a14="http://schemas.microsoft.com/office/drawing/2010/main">
                <a:solidFill>
                  <a:srgbClr val="FFFFFF"/>
                </a:solidFill>
              </a14:hiddenFill>
            </a:ext>
          </a:extLst>
        </p:spPr>
        <p:txBody>
          <a:bodyPr/>
          <a:lstStyle>
            <a:lvl1pPr>
              <a:defRPr u="sng">
                <a:solidFill>
                  <a:schemeClr val="tx1"/>
                </a:solidFill>
                <a:latin typeface="Times New Roman" panose="02020603050405020304" pitchFamily="18" charset="0"/>
              </a:defRPr>
            </a:lvl1pPr>
            <a:lvl2pPr marL="742950" indent="-285750">
              <a:defRPr u="sng">
                <a:solidFill>
                  <a:schemeClr val="tx1"/>
                </a:solidFill>
                <a:latin typeface="Times New Roman" panose="02020603050405020304" pitchFamily="18" charset="0"/>
              </a:defRPr>
            </a:lvl2pPr>
            <a:lvl3pPr marL="1143000" indent="-228600">
              <a:defRPr u="sng">
                <a:solidFill>
                  <a:schemeClr val="tx1"/>
                </a:solidFill>
                <a:latin typeface="Times New Roman" panose="02020603050405020304" pitchFamily="18" charset="0"/>
              </a:defRPr>
            </a:lvl3pPr>
            <a:lvl4pPr marL="1600200" indent="-228600">
              <a:defRPr u="sng">
                <a:solidFill>
                  <a:schemeClr val="tx1"/>
                </a:solidFill>
                <a:latin typeface="Times New Roman" panose="02020603050405020304" pitchFamily="18" charset="0"/>
              </a:defRPr>
            </a:lvl4pPr>
            <a:lvl5pPr marL="2057400" indent="-228600">
              <a:defRPr u="sng">
                <a:solidFill>
                  <a:schemeClr val="tx1"/>
                </a:solidFill>
                <a:latin typeface="Times New Roman" panose="02020603050405020304" pitchFamily="18" charset="0"/>
              </a:defRPr>
            </a:lvl5pPr>
            <a:lvl6pPr marL="2514600" indent="-228600" eaLnBrk="0" fontAlgn="base" hangingPunct="0">
              <a:spcBef>
                <a:spcPct val="0"/>
              </a:spcBef>
              <a:spcAft>
                <a:spcPct val="0"/>
              </a:spcAft>
              <a:defRPr u="sng">
                <a:solidFill>
                  <a:schemeClr val="tx1"/>
                </a:solidFill>
                <a:latin typeface="Times New Roman" panose="02020603050405020304" pitchFamily="18" charset="0"/>
              </a:defRPr>
            </a:lvl6pPr>
            <a:lvl7pPr marL="2971800" indent="-228600" eaLnBrk="0" fontAlgn="base" hangingPunct="0">
              <a:spcBef>
                <a:spcPct val="0"/>
              </a:spcBef>
              <a:spcAft>
                <a:spcPct val="0"/>
              </a:spcAft>
              <a:defRPr u="sng">
                <a:solidFill>
                  <a:schemeClr val="tx1"/>
                </a:solidFill>
                <a:latin typeface="Times New Roman" panose="02020603050405020304" pitchFamily="18" charset="0"/>
              </a:defRPr>
            </a:lvl7pPr>
            <a:lvl8pPr marL="3429000" indent="-228600" eaLnBrk="0" fontAlgn="base" hangingPunct="0">
              <a:spcBef>
                <a:spcPct val="0"/>
              </a:spcBef>
              <a:spcAft>
                <a:spcPct val="0"/>
              </a:spcAft>
              <a:defRPr u="sng">
                <a:solidFill>
                  <a:schemeClr val="tx1"/>
                </a:solidFill>
                <a:latin typeface="Times New Roman" panose="02020603050405020304" pitchFamily="18" charset="0"/>
              </a:defRPr>
            </a:lvl8pPr>
            <a:lvl9pPr marL="3886200" indent="-228600" eaLnBrk="0" fontAlgn="base" hangingPunct="0">
              <a:spcBef>
                <a:spcPct val="0"/>
              </a:spcBef>
              <a:spcAft>
                <a:spcPct val="0"/>
              </a:spcAft>
              <a:defRPr u="sng">
                <a:solidFill>
                  <a:schemeClr val="tx1"/>
                </a:solidFill>
                <a:latin typeface="Times New Roman" panose="02020603050405020304" pitchFamily="18" charset="0"/>
              </a:defRPr>
            </a:lvl9pPr>
          </a:lstStyle>
          <a:p>
            <a:fld id="{72788BD4-FB0A-46C2-B515-4B5AEB758173}" type="slidenum">
              <a:rPr lang="en-US" altLang="en-US" sz="1400"/>
              <a:pPr/>
              <a:t>9</a:t>
            </a:fld>
            <a:endParaRPr lang="en-US" altLang="en-US" sz="1400"/>
          </a:p>
        </p:txBody>
      </p:sp>
      <p:sp>
        <p:nvSpPr>
          <p:cNvPr id="13315" name="Rectangle 3"/>
          <p:cNvSpPr>
            <a:spLocks noChangeArrowheads="1"/>
          </p:cNvSpPr>
          <p:nvPr/>
        </p:nvSpPr>
        <p:spPr bwMode="auto">
          <a:xfrm>
            <a:off x="6553200" y="5257800"/>
            <a:ext cx="1371600" cy="5334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u="sng">
                <a:solidFill>
                  <a:schemeClr val="tx1"/>
                </a:solidFill>
                <a:latin typeface="Times New Roman" panose="02020603050405020304" pitchFamily="18" charset="0"/>
              </a:defRPr>
            </a:lvl1pPr>
            <a:lvl2pPr marL="742950" indent="-285750">
              <a:defRPr u="sng">
                <a:solidFill>
                  <a:schemeClr val="tx1"/>
                </a:solidFill>
                <a:latin typeface="Times New Roman" panose="02020603050405020304" pitchFamily="18" charset="0"/>
              </a:defRPr>
            </a:lvl2pPr>
            <a:lvl3pPr marL="1143000" indent="-228600">
              <a:defRPr u="sng">
                <a:solidFill>
                  <a:schemeClr val="tx1"/>
                </a:solidFill>
                <a:latin typeface="Times New Roman" panose="02020603050405020304" pitchFamily="18" charset="0"/>
              </a:defRPr>
            </a:lvl3pPr>
            <a:lvl4pPr marL="1600200" indent="-228600">
              <a:defRPr u="sng">
                <a:solidFill>
                  <a:schemeClr val="tx1"/>
                </a:solidFill>
                <a:latin typeface="Times New Roman" panose="02020603050405020304" pitchFamily="18" charset="0"/>
              </a:defRPr>
            </a:lvl4pPr>
            <a:lvl5pPr marL="2057400" indent="-228600">
              <a:defRPr u="sng">
                <a:solidFill>
                  <a:schemeClr val="tx1"/>
                </a:solidFill>
                <a:latin typeface="Times New Roman" panose="02020603050405020304" pitchFamily="18" charset="0"/>
              </a:defRPr>
            </a:lvl5pPr>
            <a:lvl6pPr marL="2514600" indent="-228600" eaLnBrk="0" fontAlgn="base" hangingPunct="0">
              <a:spcBef>
                <a:spcPct val="0"/>
              </a:spcBef>
              <a:spcAft>
                <a:spcPct val="0"/>
              </a:spcAft>
              <a:defRPr u="sng">
                <a:solidFill>
                  <a:schemeClr val="tx1"/>
                </a:solidFill>
                <a:latin typeface="Times New Roman" panose="02020603050405020304" pitchFamily="18" charset="0"/>
              </a:defRPr>
            </a:lvl6pPr>
            <a:lvl7pPr marL="2971800" indent="-228600" eaLnBrk="0" fontAlgn="base" hangingPunct="0">
              <a:spcBef>
                <a:spcPct val="0"/>
              </a:spcBef>
              <a:spcAft>
                <a:spcPct val="0"/>
              </a:spcAft>
              <a:defRPr u="sng">
                <a:solidFill>
                  <a:schemeClr val="tx1"/>
                </a:solidFill>
                <a:latin typeface="Times New Roman" panose="02020603050405020304" pitchFamily="18" charset="0"/>
              </a:defRPr>
            </a:lvl7pPr>
            <a:lvl8pPr marL="3429000" indent="-228600" eaLnBrk="0" fontAlgn="base" hangingPunct="0">
              <a:spcBef>
                <a:spcPct val="0"/>
              </a:spcBef>
              <a:spcAft>
                <a:spcPct val="0"/>
              </a:spcAft>
              <a:defRPr u="sng">
                <a:solidFill>
                  <a:schemeClr val="tx1"/>
                </a:solidFill>
                <a:latin typeface="Times New Roman" panose="02020603050405020304" pitchFamily="18" charset="0"/>
              </a:defRPr>
            </a:lvl8pPr>
            <a:lvl9pPr marL="3886200" indent="-228600" eaLnBrk="0" fontAlgn="base" hangingPunct="0">
              <a:spcBef>
                <a:spcPct val="0"/>
              </a:spcBef>
              <a:spcAft>
                <a:spcPct val="0"/>
              </a:spcAft>
              <a:defRPr u="sng">
                <a:solidFill>
                  <a:schemeClr val="tx1"/>
                </a:solidFill>
                <a:latin typeface="Times New Roman" panose="02020603050405020304" pitchFamily="18" charset="0"/>
              </a:defRPr>
            </a:lvl9pPr>
          </a:lstStyle>
          <a:p>
            <a:pPr algn="ctr" eaLnBrk="1" hangingPunct="1"/>
            <a:r>
              <a:rPr lang="en-US" altLang="en-US" u="none"/>
              <a:t>Requirements</a:t>
            </a:r>
          </a:p>
          <a:p>
            <a:pPr algn="ctr" eaLnBrk="1" hangingPunct="1"/>
            <a:r>
              <a:rPr lang="en-US" altLang="en-US" u="none"/>
              <a:t>Management</a:t>
            </a:r>
          </a:p>
        </p:txBody>
      </p:sp>
      <p:sp>
        <p:nvSpPr>
          <p:cNvPr id="13316" name="Rectangle 4"/>
          <p:cNvSpPr>
            <a:spLocks noChangeArrowheads="1"/>
          </p:cNvSpPr>
          <p:nvPr/>
        </p:nvSpPr>
        <p:spPr bwMode="auto">
          <a:xfrm>
            <a:off x="5562600" y="4572000"/>
            <a:ext cx="1371600" cy="4572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u="sng">
                <a:solidFill>
                  <a:schemeClr val="tx1"/>
                </a:solidFill>
                <a:latin typeface="Times New Roman" panose="02020603050405020304" pitchFamily="18" charset="0"/>
              </a:defRPr>
            </a:lvl1pPr>
            <a:lvl2pPr marL="742950" indent="-285750">
              <a:defRPr u="sng">
                <a:solidFill>
                  <a:schemeClr val="tx1"/>
                </a:solidFill>
                <a:latin typeface="Times New Roman" panose="02020603050405020304" pitchFamily="18" charset="0"/>
              </a:defRPr>
            </a:lvl2pPr>
            <a:lvl3pPr marL="1143000" indent="-228600">
              <a:defRPr u="sng">
                <a:solidFill>
                  <a:schemeClr val="tx1"/>
                </a:solidFill>
                <a:latin typeface="Times New Roman" panose="02020603050405020304" pitchFamily="18" charset="0"/>
              </a:defRPr>
            </a:lvl3pPr>
            <a:lvl4pPr marL="1600200" indent="-228600">
              <a:defRPr u="sng">
                <a:solidFill>
                  <a:schemeClr val="tx1"/>
                </a:solidFill>
                <a:latin typeface="Times New Roman" panose="02020603050405020304" pitchFamily="18" charset="0"/>
              </a:defRPr>
            </a:lvl4pPr>
            <a:lvl5pPr marL="2057400" indent="-228600">
              <a:defRPr u="sng">
                <a:solidFill>
                  <a:schemeClr val="tx1"/>
                </a:solidFill>
                <a:latin typeface="Times New Roman" panose="02020603050405020304" pitchFamily="18" charset="0"/>
              </a:defRPr>
            </a:lvl5pPr>
            <a:lvl6pPr marL="2514600" indent="-228600" eaLnBrk="0" fontAlgn="base" hangingPunct="0">
              <a:spcBef>
                <a:spcPct val="0"/>
              </a:spcBef>
              <a:spcAft>
                <a:spcPct val="0"/>
              </a:spcAft>
              <a:defRPr u="sng">
                <a:solidFill>
                  <a:schemeClr val="tx1"/>
                </a:solidFill>
                <a:latin typeface="Times New Roman" panose="02020603050405020304" pitchFamily="18" charset="0"/>
              </a:defRPr>
            </a:lvl6pPr>
            <a:lvl7pPr marL="2971800" indent="-228600" eaLnBrk="0" fontAlgn="base" hangingPunct="0">
              <a:spcBef>
                <a:spcPct val="0"/>
              </a:spcBef>
              <a:spcAft>
                <a:spcPct val="0"/>
              </a:spcAft>
              <a:defRPr u="sng">
                <a:solidFill>
                  <a:schemeClr val="tx1"/>
                </a:solidFill>
                <a:latin typeface="Times New Roman" panose="02020603050405020304" pitchFamily="18" charset="0"/>
              </a:defRPr>
            </a:lvl7pPr>
            <a:lvl8pPr marL="3429000" indent="-228600" eaLnBrk="0" fontAlgn="base" hangingPunct="0">
              <a:spcBef>
                <a:spcPct val="0"/>
              </a:spcBef>
              <a:spcAft>
                <a:spcPct val="0"/>
              </a:spcAft>
              <a:defRPr u="sng">
                <a:solidFill>
                  <a:schemeClr val="tx1"/>
                </a:solidFill>
                <a:latin typeface="Times New Roman" panose="02020603050405020304" pitchFamily="18" charset="0"/>
              </a:defRPr>
            </a:lvl8pPr>
            <a:lvl9pPr marL="3886200" indent="-228600" eaLnBrk="0" fontAlgn="base" hangingPunct="0">
              <a:spcBef>
                <a:spcPct val="0"/>
              </a:spcBef>
              <a:spcAft>
                <a:spcPct val="0"/>
              </a:spcAft>
              <a:defRPr u="sng">
                <a:solidFill>
                  <a:schemeClr val="tx1"/>
                </a:solidFill>
                <a:latin typeface="Times New Roman" panose="02020603050405020304" pitchFamily="18" charset="0"/>
              </a:defRPr>
            </a:lvl9pPr>
          </a:lstStyle>
          <a:p>
            <a:pPr algn="ctr" eaLnBrk="1" hangingPunct="1"/>
            <a:r>
              <a:rPr lang="en-US" altLang="en-US" u="none"/>
              <a:t>Validation</a:t>
            </a:r>
          </a:p>
        </p:txBody>
      </p:sp>
      <p:sp>
        <p:nvSpPr>
          <p:cNvPr id="13317" name="Rectangle 5"/>
          <p:cNvSpPr>
            <a:spLocks noChangeArrowheads="1"/>
          </p:cNvSpPr>
          <p:nvPr/>
        </p:nvSpPr>
        <p:spPr bwMode="auto">
          <a:xfrm>
            <a:off x="685800" y="1143000"/>
            <a:ext cx="1371600" cy="457200"/>
          </a:xfrm>
          <a:prstGeom prst="rect">
            <a:avLst/>
          </a:prstGeom>
          <a:solidFill>
            <a:srgbClr val="FF99CC"/>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u="sng">
                <a:solidFill>
                  <a:schemeClr val="tx1"/>
                </a:solidFill>
                <a:latin typeface="Times New Roman" panose="02020603050405020304" pitchFamily="18" charset="0"/>
              </a:defRPr>
            </a:lvl1pPr>
            <a:lvl2pPr marL="742950" indent="-285750">
              <a:defRPr u="sng">
                <a:solidFill>
                  <a:schemeClr val="tx1"/>
                </a:solidFill>
                <a:latin typeface="Times New Roman" panose="02020603050405020304" pitchFamily="18" charset="0"/>
              </a:defRPr>
            </a:lvl2pPr>
            <a:lvl3pPr marL="1143000" indent="-228600">
              <a:defRPr u="sng">
                <a:solidFill>
                  <a:schemeClr val="tx1"/>
                </a:solidFill>
                <a:latin typeface="Times New Roman" panose="02020603050405020304" pitchFamily="18" charset="0"/>
              </a:defRPr>
            </a:lvl3pPr>
            <a:lvl4pPr marL="1600200" indent="-228600">
              <a:defRPr u="sng">
                <a:solidFill>
                  <a:schemeClr val="tx1"/>
                </a:solidFill>
                <a:latin typeface="Times New Roman" panose="02020603050405020304" pitchFamily="18" charset="0"/>
              </a:defRPr>
            </a:lvl4pPr>
            <a:lvl5pPr marL="2057400" indent="-228600">
              <a:defRPr u="sng">
                <a:solidFill>
                  <a:schemeClr val="tx1"/>
                </a:solidFill>
                <a:latin typeface="Times New Roman" panose="02020603050405020304" pitchFamily="18" charset="0"/>
              </a:defRPr>
            </a:lvl5pPr>
            <a:lvl6pPr marL="2514600" indent="-228600" eaLnBrk="0" fontAlgn="base" hangingPunct="0">
              <a:spcBef>
                <a:spcPct val="0"/>
              </a:spcBef>
              <a:spcAft>
                <a:spcPct val="0"/>
              </a:spcAft>
              <a:defRPr u="sng">
                <a:solidFill>
                  <a:schemeClr val="tx1"/>
                </a:solidFill>
                <a:latin typeface="Times New Roman" panose="02020603050405020304" pitchFamily="18" charset="0"/>
              </a:defRPr>
            </a:lvl6pPr>
            <a:lvl7pPr marL="2971800" indent="-228600" eaLnBrk="0" fontAlgn="base" hangingPunct="0">
              <a:spcBef>
                <a:spcPct val="0"/>
              </a:spcBef>
              <a:spcAft>
                <a:spcPct val="0"/>
              </a:spcAft>
              <a:defRPr u="sng">
                <a:solidFill>
                  <a:schemeClr val="tx1"/>
                </a:solidFill>
                <a:latin typeface="Times New Roman" panose="02020603050405020304" pitchFamily="18" charset="0"/>
              </a:defRPr>
            </a:lvl7pPr>
            <a:lvl8pPr marL="3429000" indent="-228600" eaLnBrk="0" fontAlgn="base" hangingPunct="0">
              <a:spcBef>
                <a:spcPct val="0"/>
              </a:spcBef>
              <a:spcAft>
                <a:spcPct val="0"/>
              </a:spcAft>
              <a:defRPr u="sng">
                <a:solidFill>
                  <a:schemeClr val="tx1"/>
                </a:solidFill>
                <a:latin typeface="Times New Roman" panose="02020603050405020304" pitchFamily="18" charset="0"/>
              </a:defRPr>
            </a:lvl8pPr>
            <a:lvl9pPr marL="3886200" indent="-228600" eaLnBrk="0" fontAlgn="base" hangingPunct="0">
              <a:spcBef>
                <a:spcPct val="0"/>
              </a:spcBef>
              <a:spcAft>
                <a:spcPct val="0"/>
              </a:spcAft>
              <a:defRPr u="sng">
                <a:solidFill>
                  <a:schemeClr val="tx1"/>
                </a:solidFill>
                <a:latin typeface="Times New Roman" panose="02020603050405020304" pitchFamily="18" charset="0"/>
              </a:defRPr>
            </a:lvl9pPr>
          </a:lstStyle>
          <a:p>
            <a:pPr algn="ctr" eaLnBrk="1" hangingPunct="1"/>
            <a:r>
              <a:rPr lang="en-US" altLang="en-US" u="none"/>
              <a:t>Inception</a:t>
            </a:r>
          </a:p>
        </p:txBody>
      </p:sp>
      <p:sp>
        <p:nvSpPr>
          <p:cNvPr id="13318" name="Rectangle 6"/>
          <p:cNvSpPr>
            <a:spLocks noChangeArrowheads="1"/>
          </p:cNvSpPr>
          <p:nvPr/>
        </p:nvSpPr>
        <p:spPr bwMode="auto">
          <a:xfrm>
            <a:off x="1524000" y="1828800"/>
            <a:ext cx="13716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u="sng">
                <a:solidFill>
                  <a:schemeClr val="tx1"/>
                </a:solidFill>
                <a:latin typeface="Times New Roman" panose="02020603050405020304" pitchFamily="18" charset="0"/>
              </a:defRPr>
            </a:lvl1pPr>
            <a:lvl2pPr marL="742950" indent="-285750">
              <a:defRPr u="sng">
                <a:solidFill>
                  <a:schemeClr val="tx1"/>
                </a:solidFill>
                <a:latin typeface="Times New Roman" panose="02020603050405020304" pitchFamily="18" charset="0"/>
              </a:defRPr>
            </a:lvl2pPr>
            <a:lvl3pPr marL="1143000" indent="-228600">
              <a:defRPr u="sng">
                <a:solidFill>
                  <a:schemeClr val="tx1"/>
                </a:solidFill>
                <a:latin typeface="Times New Roman" panose="02020603050405020304" pitchFamily="18" charset="0"/>
              </a:defRPr>
            </a:lvl3pPr>
            <a:lvl4pPr marL="1600200" indent="-228600">
              <a:defRPr u="sng">
                <a:solidFill>
                  <a:schemeClr val="tx1"/>
                </a:solidFill>
                <a:latin typeface="Times New Roman" panose="02020603050405020304" pitchFamily="18" charset="0"/>
              </a:defRPr>
            </a:lvl4pPr>
            <a:lvl5pPr marL="2057400" indent="-228600">
              <a:defRPr u="sng">
                <a:solidFill>
                  <a:schemeClr val="tx1"/>
                </a:solidFill>
                <a:latin typeface="Times New Roman" panose="02020603050405020304" pitchFamily="18" charset="0"/>
              </a:defRPr>
            </a:lvl5pPr>
            <a:lvl6pPr marL="2514600" indent="-228600" eaLnBrk="0" fontAlgn="base" hangingPunct="0">
              <a:spcBef>
                <a:spcPct val="0"/>
              </a:spcBef>
              <a:spcAft>
                <a:spcPct val="0"/>
              </a:spcAft>
              <a:defRPr u="sng">
                <a:solidFill>
                  <a:schemeClr val="tx1"/>
                </a:solidFill>
                <a:latin typeface="Times New Roman" panose="02020603050405020304" pitchFamily="18" charset="0"/>
              </a:defRPr>
            </a:lvl6pPr>
            <a:lvl7pPr marL="2971800" indent="-228600" eaLnBrk="0" fontAlgn="base" hangingPunct="0">
              <a:spcBef>
                <a:spcPct val="0"/>
              </a:spcBef>
              <a:spcAft>
                <a:spcPct val="0"/>
              </a:spcAft>
              <a:defRPr u="sng">
                <a:solidFill>
                  <a:schemeClr val="tx1"/>
                </a:solidFill>
                <a:latin typeface="Times New Roman" panose="02020603050405020304" pitchFamily="18" charset="0"/>
              </a:defRPr>
            </a:lvl7pPr>
            <a:lvl8pPr marL="3429000" indent="-228600" eaLnBrk="0" fontAlgn="base" hangingPunct="0">
              <a:spcBef>
                <a:spcPct val="0"/>
              </a:spcBef>
              <a:spcAft>
                <a:spcPct val="0"/>
              </a:spcAft>
              <a:defRPr u="sng">
                <a:solidFill>
                  <a:schemeClr val="tx1"/>
                </a:solidFill>
                <a:latin typeface="Times New Roman" panose="02020603050405020304" pitchFamily="18" charset="0"/>
              </a:defRPr>
            </a:lvl8pPr>
            <a:lvl9pPr marL="3886200" indent="-228600" eaLnBrk="0" fontAlgn="base" hangingPunct="0">
              <a:spcBef>
                <a:spcPct val="0"/>
              </a:spcBef>
              <a:spcAft>
                <a:spcPct val="0"/>
              </a:spcAft>
              <a:defRPr u="sng">
                <a:solidFill>
                  <a:schemeClr val="tx1"/>
                </a:solidFill>
                <a:latin typeface="Times New Roman" panose="02020603050405020304" pitchFamily="18" charset="0"/>
              </a:defRPr>
            </a:lvl9pPr>
          </a:lstStyle>
          <a:p>
            <a:pPr algn="ctr" eaLnBrk="1" hangingPunct="1"/>
            <a:r>
              <a:rPr lang="en-US" altLang="en-US" u="none"/>
              <a:t>Elicitation</a:t>
            </a:r>
          </a:p>
        </p:txBody>
      </p:sp>
      <p:sp>
        <p:nvSpPr>
          <p:cNvPr id="13319" name="Rectangle 7"/>
          <p:cNvSpPr>
            <a:spLocks noChangeArrowheads="1"/>
          </p:cNvSpPr>
          <p:nvPr/>
        </p:nvSpPr>
        <p:spPr bwMode="auto">
          <a:xfrm>
            <a:off x="2514600" y="2514600"/>
            <a:ext cx="1371600" cy="457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u="sng">
                <a:solidFill>
                  <a:schemeClr val="tx1"/>
                </a:solidFill>
                <a:latin typeface="Times New Roman" panose="02020603050405020304" pitchFamily="18" charset="0"/>
              </a:defRPr>
            </a:lvl1pPr>
            <a:lvl2pPr marL="742950" indent="-285750">
              <a:defRPr u="sng">
                <a:solidFill>
                  <a:schemeClr val="tx1"/>
                </a:solidFill>
                <a:latin typeface="Times New Roman" panose="02020603050405020304" pitchFamily="18" charset="0"/>
              </a:defRPr>
            </a:lvl2pPr>
            <a:lvl3pPr marL="1143000" indent="-228600">
              <a:defRPr u="sng">
                <a:solidFill>
                  <a:schemeClr val="tx1"/>
                </a:solidFill>
                <a:latin typeface="Times New Roman" panose="02020603050405020304" pitchFamily="18" charset="0"/>
              </a:defRPr>
            </a:lvl3pPr>
            <a:lvl4pPr marL="1600200" indent="-228600">
              <a:defRPr u="sng">
                <a:solidFill>
                  <a:schemeClr val="tx1"/>
                </a:solidFill>
                <a:latin typeface="Times New Roman" panose="02020603050405020304" pitchFamily="18" charset="0"/>
              </a:defRPr>
            </a:lvl4pPr>
            <a:lvl5pPr marL="2057400" indent="-228600">
              <a:defRPr u="sng">
                <a:solidFill>
                  <a:schemeClr val="tx1"/>
                </a:solidFill>
                <a:latin typeface="Times New Roman" panose="02020603050405020304" pitchFamily="18" charset="0"/>
              </a:defRPr>
            </a:lvl5pPr>
            <a:lvl6pPr marL="2514600" indent="-228600" eaLnBrk="0" fontAlgn="base" hangingPunct="0">
              <a:spcBef>
                <a:spcPct val="0"/>
              </a:spcBef>
              <a:spcAft>
                <a:spcPct val="0"/>
              </a:spcAft>
              <a:defRPr u="sng">
                <a:solidFill>
                  <a:schemeClr val="tx1"/>
                </a:solidFill>
                <a:latin typeface="Times New Roman" panose="02020603050405020304" pitchFamily="18" charset="0"/>
              </a:defRPr>
            </a:lvl6pPr>
            <a:lvl7pPr marL="2971800" indent="-228600" eaLnBrk="0" fontAlgn="base" hangingPunct="0">
              <a:spcBef>
                <a:spcPct val="0"/>
              </a:spcBef>
              <a:spcAft>
                <a:spcPct val="0"/>
              </a:spcAft>
              <a:defRPr u="sng">
                <a:solidFill>
                  <a:schemeClr val="tx1"/>
                </a:solidFill>
                <a:latin typeface="Times New Roman" panose="02020603050405020304" pitchFamily="18" charset="0"/>
              </a:defRPr>
            </a:lvl7pPr>
            <a:lvl8pPr marL="3429000" indent="-228600" eaLnBrk="0" fontAlgn="base" hangingPunct="0">
              <a:spcBef>
                <a:spcPct val="0"/>
              </a:spcBef>
              <a:spcAft>
                <a:spcPct val="0"/>
              </a:spcAft>
              <a:defRPr u="sng">
                <a:solidFill>
                  <a:schemeClr val="tx1"/>
                </a:solidFill>
                <a:latin typeface="Times New Roman" panose="02020603050405020304" pitchFamily="18" charset="0"/>
              </a:defRPr>
            </a:lvl8pPr>
            <a:lvl9pPr marL="3886200" indent="-228600" eaLnBrk="0" fontAlgn="base" hangingPunct="0">
              <a:spcBef>
                <a:spcPct val="0"/>
              </a:spcBef>
              <a:spcAft>
                <a:spcPct val="0"/>
              </a:spcAft>
              <a:defRPr u="sng">
                <a:solidFill>
                  <a:schemeClr val="tx1"/>
                </a:solidFill>
                <a:latin typeface="Times New Roman" panose="02020603050405020304" pitchFamily="18" charset="0"/>
              </a:defRPr>
            </a:lvl9pPr>
          </a:lstStyle>
          <a:p>
            <a:pPr algn="ctr" eaLnBrk="1" hangingPunct="1"/>
            <a:r>
              <a:rPr lang="en-US" altLang="en-US" u="none" dirty="0"/>
              <a:t>Elaboration</a:t>
            </a:r>
          </a:p>
        </p:txBody>
      </p:sp>
      <p:sp>
        <p:nvSpPr>
          <p:cNvPr id="13320" name="Rectangle 8"/>
          <p:cNvSpPr>
            <a:spLocks noChangeArrowheads="1"/>
          </p:cNvSpPr>
          <p:nvPr/>
        </p:nvSpPr>
        <p:spPr bwMode="auto">
          <a:xfrm>
            <a:off x="3505200" y="3200400"/>
            <a:ext cx="13716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u="sng">
                <a:solidFill>
                  <a:schemeClr val="tx1"/>
                </a:solidFill>
                <a:latin typeface="Times New Roman" panose="02020603050405020304" pitchFamily="18" charset="0"/>
              </a:defRPr>
            </a:lvl1pPr>
            <a:lvl2pPr marL="742950" indent="-285750">
              <a:defRPr u="sng">
                <a:solidFill>
                  <a:schemeClr val="tx1"/>
                </a:solidFill>
                <a:latin typeface="Times New Roman" panose="02020603050405020304" pitchFamily="18" charset="0"/>
              </a:defRPr>
            </a:lvl2pPr>
            <a:lvl3pPr marL="1143000" indent="-228600">
              <a:defRPr u="sng">
                <a:solidFill>
                  <a:schemeClr val="tx1"/>
                </a:solidFill>
                <a:latin typeface="Times New Roman" panose="02020603050405020304" pitchFamily="18" charset="0"/>
              </a:defRPr>
            </a:lvl3pPr>
            <a:lvl4pPr marL="1600200" indent="-228600">
              <a:defRPr u="sng">
                <a:solidFill>
                  <a:schemeClr val="tx1"/>
                </a:solidFill>
                <a:latin typeface="Times New Roman" panose="02020603050405020304" pitchFamily="18" charset="0"/>
              </a:defRPr>
            </a:lvl4pPr>
            <a:lvl5pPr marL="2057400" indent="-228600">
              <a:defRPr u="sng">
                <a:solidFill>
                  <a:schemeClr val="tx1"/>
                </a:solidFill>
                <a:latin typeface="Times New Roman" panose="02020603050405020304" pitchFamily="18" charset="0"/>
              </a:defRPr>
            </a:lvl5pPr>
            <a:lvl6pPr marL="2514600" indent="-228600" eaLnBrk="0" fontAlgn="base" hangingPunct="0">
              <a:spcBef>
                <a:spcPct val="0"/>
              </a:spcBef>
              <a:spcAft>
                <a:spcPct val="0"/>
              </a:spcAft>
              <a:defRPr u="sng">
                <a:solidFill>
                  <a:schemeClr val="tx1"/>
                </a:solidFill>
                <a:latin typeface="Times New Roman" panose="02020603050405020304" pitchFamily="18" charset="0"/>
              </a:defRPr>
            </a:lvl6pPr>
            <a:lvl7pPr marL="2971800" indent="-228600" eaLnBrk="0" fontAlgn="base" hangingPunct="0">
              <a:spcBef>
                <a:spcPct val="0"/>
              </a:spcBef>
              <a:spcAft>
                <a:spcPct val="0"/>
              </a:spcAft>
              <a:defRPr u="sng">
                <a:solidFill>
                  <a:schemeClr val="tx1"/>
                </a:solidFill>
                <a:latin typeface="Times New Roman" panose="02020603050405020304" pitchFamily="18" charset="0"/>
              </a:defRPr>
            </a:lvl7pPr>
            <a:lvl8pPr marL="3429000" indent="-228600" eaLnBrk="0" fontAlgn="base" hangingPunct="0">
              <a:spcBef>
                <a:spcPct val="0"/>
              </a:spcBef>
              <a:spcAft>
                <a:spcPct val="0"/>
              </a:spcAft>
              <a:defRPr u="sng">
                <a:solidFill>
                  <a:schemeClr val="tx1"/>
                </a:solidFill>
                <a:latin typeface="Times New Roman" panose="02020603050405020304" pitchFamily="18" charset="0"/>
              </a:defRPr>
            </a:lvl8pPr>
            <a:lvl9pPr marL="3886200" indent="-228600" eaLnBrk="0" fontAlgn="base" hangingPunct="0">
              <a:spcBef>
                <a:spcPct val="0"/>
              </a:spcBef>
              <a:spcAft>
                <a:spcPct val="0"/>
              </a:spcAft>
              <a:defRPr u="sng">
                <a:solidFill>
                  <a:schemeClr val="tx1"/>
                </a:solidFill>
                <a:latin typeface="Times New Roman" panose="02020603050405020304" pitchFamily="18" charset="0"/>
              </a:defRPr>
            </a:lvl9pPr>
          </a:lstStyle>
          <a:p>
            <a:pPr algn="ctr" eaLnBrk="1" hangingPunct="1"/>
            <a:r>
              <a:rPr lang="en-US" altLang="en-US" u="none"/>
              <a:t>Negotiation</a:t>
            </a:r>
          </a:p>
        </p:txBody>
      </p:sp>
      <p:sp>
        <p:nvSpPr>
          <p:cNvPr id="13321" name="Rectangle 9"/>
          <p:cNvSpPr>
            <a:spLocks noChangeArrowheads="1"/>
          </p:cNvSpPr>
          <p:nvPr/>
        </p:nvSpPr>
        <p:spPr bwMode="auto">
          <a:xfrm>
            <a:off x="4495800" y="3886200"/>
            <a:ext cx="13716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u="sng">
                <a:solidFill>
                  <a:schemeClr val="tx1"/>
                </a:solidFill>
                <a:latin typeface="Times New Roman" panose="02020603050405020304" pitchFamily="18" charset="0"/>
              </a:defRPr>
            </a:lvl1pPr>
            <a:lvl2pPr marL="742950" indent="-285750">
              <a:defRPr u="sng">
                <a:solidFill>
                  <a:schemeClr val="tx1"/>
                </a:solidFill>
                <a:latin typeface="Times New Roman" panose="02020603050405020304" pitchFamily="18" charset="0"/>
              </a:defRPr>
            </a:lvl2pPr>
            <a:lvl3pPr marL="1143000" indent="-228600">
              <a:defRPr u="sng">
                <a:solidFill>
                  <a:schemeClr val="tx1"/>
                </a:solidFill>
                <a:latin typeface="Times New Roman" panose="02020603050405020304" pitchFamily="18" charset="0"/>
              </a:defRPr>
            </a:lvl3pPr>
            <a:lvl4pPr marL="1600200" indent="-228600">
              <a:defRPr u="sng">
                <a:solidFill>
                  <a:schemeClr val="tx1"/>
                </a:solidFill>
                <a:latin typeface="Times New Roman" panose="02020603050405020304" pitchFamily="18" charset="0"/>
              </a:defRPr>
            </a:lvl4pPr>
            <a:lvl5pPr marL="2057400" indent="-228600">
              <a:defRPr u="sng">
                <a:solidFill>
                  <a:schemeClr val="tx1"/>
                </a:solidFill>
                <a:latin typeface="Times New Roman" panose="02020603050405020304" pitchFamily="18" charset="0"/>
              </a:defRPr>
            </a:lvl5pPr>
            <a:lvl6pPr marL="2514600" indent="-228600" eaLnBrk="0" fontAlgn="base" hangingPunct="0">
              <a:spcBef>
                <a:spcPct val="0"/>
              </a:spcBef>
              <a:spcAft>
                <a:spcPct val="0"/>
              </a:spcAft>
              <a:defRPr u="sng">
                <a:solidFill>
                  <a:schemeClr val="tx1"/>
                </a:solidFill>
                <a:latin typeface="Times New Roman" panose="02020603050405020304" pitchFamily="18" charset="0"/>
              </a:defRPr>
            </a:lvl6pPr>
            <a:lvl7pPr marL="2971800" indent="-228600" eaLnBrk="0" fontAlgn="base" hangingPunct="0">
              <a:spcBef>
                <a:spcPct val="0"/>
              </a:spcBef>
              <a:spcAft>
                <a:spcPct val="0"/>
              </a:spcAft>
              <a:defRPr u="sng">
                <a:solidFill>
                  <a:schemeClr val="tx1"/>
                </a:solidFill>
                <a:latin typeface="Times New Roman" panose="02020603050405020304" pitchFamily="18" charset="0"/>
              </a:defRPr>
            </a:lvl7pPr>
            <a:lvl8pPr marL="3429000" indent="-228600" eaLnBrk="0" fontAlgn="base" hangingPunct="0">
              <a:spcBef>
                <a:spcPct val="0"/>
              </a:spcBef>
              <a:spcAft>
                <a:spcPct val="0"/>
              </a:spcAft>
              <a:defRPr u="sng">
                <a:solidFill>
                  <a:schemeClr val="tx1"/>
                </a:solidFill>
                <a:latin typeface="Times New Roman" panose="02020603050405020304" pitchFamily="18" charset="0"/>
              </a:defRPr>
            </a:lvl8pPr>
            <a:lvl9pPr marL="3886200" indent="-228600" eaLnBrk="0" fontAlgn="base" hangingPunct="0">
              <a:spcBef>
                <a:spcPct val="0"/>
              </a:spcBef>
              <a:spcAft>
                <a:spcPct val="0"/>
              </a:spcAft>
              <a:defRPr u="sng">
                <a:solidFill>
                  <a:schemeClr val="tx1"/>
                </a:solidFill>
                <a:latin typeface="Times New Roman" panose="02020603050405020304" pitchFamily="18" charset="0"/>
              </a:defRPr>
            </a:lvl9pPr>
          </a:lstStyle>
          <a:p>
            <a:pPr algn="ctr" eaLnBrk="1" hangingPunct="1"/>
            <a:r>
              <a:rPr lang="en-US" altLang="en-US" u="none"/>
              <a:t>Specification</a:t>
            </a:r>
          </a:p>
        </p:txBody>
      </p:sp>
      <p:sp>
        <p:nvSpPr>
          <p:cNvPr id="10" name="Title 1"/>
          <p:cNvSpPr>
            <a:spLocks noGrp="1"/>
          </p:cNvSpPr>
          <p:nvPr>
            <p:ph type="title"/>
          </p:nvPr>
        </p:nvSpPr>
        <p:spPr>
          <a:xfrm>
            <a:off x="982133" y="457201"/>
            <a:ext cx="7704667" cy="1981200"/>
          </a:xfrm>
        </p:spPr>
        <p:txBody>
          <a:bodyPr>
            <a:normAutofit/>
          </a:bodyPr>
          <a:lstStyle/>
          <a:p>
            <a:r>
              <a:rPr dirty="0"/>
              <a:t>7 Phases of Requirement Engineering</a:t>
            </a:r>
          </a:p>
        </p:txBody>
      </p:sp>
    </p:spTree>
    <p:extLst>
      <p:ext uri="{BB962C8B-B14F-4D97-AF65-F5344CB8AC3E}">
        <p14:creationId xmlns:p14="http://schemas.microsoft.com/office/powerpoint/2010/main" val="42556036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7 Phases of Requirement Engineering</a:t>
            </a:r>
          </a:p>
        </p:txBody>
      </p:sp>
      <p:sp>
        <p:nvSpPr>
          <p:cNvPr id="3" name="Content Placeholder 2"/>
          <p:cNvSpPr>
            <a:spLocks noGrp="1"/>
          </p:cNvSpPr>
          <p:nvPr>
            <p:ph idx="1"/>
          </p:nvPr>
        </p:nvSpPr>
        <p:spPr/>
        <p:txBody>
          <a:bodyPr>
            <a:normAutofit lnSpcReduction="10000"/>
          </a:bodyPr>
          <a:lstStyle/>
          <a:p>
            <a:r>
              <a:rPr dirty="0"/>
              <a:t>1. Inception – Identify goals &amp; stakeholders</a:t>
            </a:r>
          </a:p>
          <a:p>
            <a:r>
              <a:rPr dirty="0"/>
              <a:t>2. Elicitation – Gather requirements</a:t>
            </a:r>
          </a:p>
          <a:p>
            <a:r>
              <a:rPr dirty="0"/>
              <a:t>3. Elaboration – Analyze &amp; refine</a:t>
            </a:r>
          </a:p>
          <a:p>
            <a:r>
              <a:rPr dirty="0"/>
              <a:t>4. Negotiation – Resolve conflicts</a:t>
            </a:r>
          </a:p>
          <a:p>
            <a:r>
              <a:rPr dirty="0"/>
              <a:t>5. Specification – Document formally</a:t>
            </a:r>
          </a:p>
          <a:p>
            <a:r>
              <a:rPr dirty="0"/>
              <a:t>6. Validation – Ensure correctness</a:t>
            </a:r>
          </a:p>
          <a:p>
            <a:r>
              <a:rPr dirty="0"/>
              <a:t>7. Management – Handle changes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Requirement Elicitation Techniques</a:t>
            </a:r>
          </a:p>
        </p:txBody>
      </p:sp>
      <p:sp>
        <p:nvSpPr>
          <p:cNvPr id="3" name="Content Placeholder 2"/>
          <p:cNvSpPr>
            <a:spLocks noGrp="1"/>
          </p:cNvSpPr>
          <p:nvPr>
            <p:ph idx="1"/>
          </p:nvPr>
        </p:nvSpPr>
        <p:spPr/>
        <p:txBody>
          <a:bodyPr>
            <a:normAutofit fontScale="85000" lnSpcReduction="20000"/>
          </a:bodyPr>
          <a:lstStyle/>
          <a:p>
            <a:r>
              <a:rPr dirty="0"/>
              <a:t> </a:t>
            </a:r>
            <a:r>
              <a:rPr dirty="0"/>
              <a:t>Interviews</a:t>
            </a:r>
          </a:p>
          <a:p>
            <a:r>
              <a:rPr dirty="0"/>
              <a:t>Questionnaires</a:t>
            </a:r>
            <a:endParaRPr dirty="0"/>
          </a:p>
          <a:p>
            <a:r>
              <a:rPr dirty="0"/>
              <a:t> </a:t>
            </a:r>
            <a:r>
              <a:rPr dirty="0"/>
              <a:t>Observation</a:t>
            </a:r>
          </a:p>
          <a:p>
            <a:r>
              <a:rPr dirty="0"/>
              <a:t> </a:t>
            </a:r>
            <a:r>
              <a:rPr dirty="0"/>
              <a:t>Brainstorming</a:t>
            </a:r>
          </a:p>
          <a:p>
            <a:r>
              <a:rPr dirty="0"/>
              <a:t> </a:t>
            </a:r>
            <a:r>
              <a:rPr dirty="0"/>
              <a:t>Prototyping</a:t>
            </a:r>
          </a:p>
          <a:p>
            <a:r>
              <a:rPr dirty="0"/>
              <a:t> </a:t>
            </a:r>
            <a:r>
              <a:rPr dirty="0"/>
              <a:t>Workshops (JAD)</a:t>
            </a:r>
          </a:p>
          <a:p>
            <a:endParaRPr dirty="0"/>
          </a:p>
          <a:p>
            <a:r>
              <a:rPr dirty="0"/>
              <a:t> </a:t>
            </a:r>
            <a:r>
              <a:rPr dirty="0"/>
              <a:t>Poll: Which method works best for a university management system?</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Software Requirement Specification (SRS)</a:t>
            </a:r>
          </a:p>
        </p:txBody>
      </p:sp>
      <p:sp>
        <p:nvSpPr>
          <p:cNvPr id="3" name="Content Placeholder 2"/>
          <p:cNvSpPr>
            <a:spLocks noGrp="1"/>
          </p:cNvSpPr>
          <p:nvPr>
            <p:ph idx="1"/>
          </p:nvPr>
        </p:nvSpPr>
        <p:spPr/>
        <p:txBody>
          <a:bodyPr>
            <a:normAutofit lnSpcReduction="10000"/>
          </a:bodyPr>
          <a:lstStyle/>
          <a:p>
            <a:r>
              <a:rPr dirty="0"/>
              <a:t>A formal document listing all functional and non-functional requirements.</a:t>
            </a:r>
          </a:p>
          <a:p>
            <a:endParaRPr dirty="0"/>
          </a:p>
          <a:p>
            <a:r>
              <a:rPr dirty="0"/>
              <a:t>Includes:</a:t>
            </a:r>
          </a:p>
          <a:p>
            <a:r>
              <a:rPr dirty="0"/>
              <a:t>System </a:t>
            </a:r>
            <a:r>
              <a:rPr dirty="0"/>
              <a:t>overview</a:t>
            </a:r>
          </a:p>
          <a:p>
            <a:r>
              <a:rPr dirty="0"/>
              <a:t> </a:t>
            </a:r>
            <a:r>
              <a:rPr dirty="0"/>
              <a:t>Use cases</a:t>
            </a:r>
          </a:p>
          <a:p>
            <a:r>
              <a:rPr dirty="0"/>
              <a:t> </a:t>
            </a:r>
            <a:r>
              <a:rPr dirty="0"/>
              <a:t>Constraints &amp; assumptions</a:t>
            </a:r>
          </a:p>
          <a:p>
            <a:endParaRPr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Quick Recap Quiz</a:t>
            </a:r>
          </a:p>
        </p:txBody>
      </p:sp>
      <p:sp>
        <p:nvSpPr>
          <p:cNvPr id="3" name="Content Placeholder 2"/>
          <p:cNvSpPr>
            <a:spLocks noGrp="1"/>
          </p:cNvSpPr>
          <p:nvPr>
            <p:ph idx="1"/>
          </p:nvPr>
        </p:nvSpPr>
        <p:spPr/>
        <p:txBody>
          <a:bodyPr/>
          <a:lstStyle/>
          <a:p>
            <a:r>
              <a:rPr dirty="0"/>
              <a:t>What </a:t>
            </a:r>
            <a:r>
              <a:rPr dirty="0"/>
              <a:t>is the goal of RE?</a:t>
            </a:r>
          </a:p>
          <a:p>
            <a:r>
              <a:rPr dirty="0"/>
              <a:t>Give </a:t>
            </a:r>
            <a:r>
              <a:rPr dirty="0"/>
              <a:t>one functional &amp; one non-functional requirement.</a:t>
            </a:r>
          </a:p>
          <a:p>
            <a:r>
              <a:rPr lang="en-US" dirty="0"/>
              <a:t> </a:t>
            </a:r>
            <a:r>
              <a:rPr dirty="0"/>
              <a:t>Why </a:t>
            </a:r>
            <a:r>
              <a:rPr dirty="0"/>
              <a:t>do requirements change?</a:t>
            </a:r>
          </a:p>
          <a:p>
            <a:r>
              <a:rPr dirty="0"/>
              <a:t>What </a:t>
            </a:r>
            <a:r>
              <a:rPr dirty="0"/>
              <a:t>is SRS?</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Case Study — Careem’s Super App (Pakistan)</a:t>
            </a:r>
          </a:p>
        </p:txBody>
      </p:sp>
      <p:sp>
        <p:nvSpPr>
          <p:cNvPr id="3" name="Content Placeholder 2"/>
          <p:cNvSpPr>
            <a:spLocks noGrp="1"/>
          </p:cNvSpPr>
          <p:nvPr>
            <p:ph idx="1"/>
          </p:nvPr>
        </p:nvSpPr>
        <p:spPr/>
        <p:txBody>
          <a:bodyPr/>
          <a:lstStyle/>
          <a:p>
            <a:pPr>
              <a:defRPr sz="1800">
                <a:latin typeface="Calibri"/>
              </a:defRPr>
            </a:pPr>
            <a:r>
              <a:rPr dirty="0"/>
              <a:t>Founded </a:t>
            </a:r>
            <a:r>
              <a:rPr dirty="0"/>
              <a:t>in </a:t>
            </a:r>
            <a:r>
              <a:rPr dirty="0"/>
              <a:t>201</a:t>
            </a:r>
            <a:r>
              <a:rPr lang="en-US" dirty="0"/>
              <a:t>5</a:t>
            </a:r>
            <a:r>
              <a:rPr dirty="0"/>
              <a:t> </a:t>
            </a:r>
            <a:r>
              <a:rPr dirty="0"/>
              <a:t>as a ride-hailing app.</a:t>
            </a:r>
          </a:p>
          <a:p>
            <a:pPr>
              <a:defRPr sz="1800">
                <a:latin typeface="Calibri"/>
              </a:defRPr>
            </a:pPr>
            <a:r>
              <a:rPr dirty="0"/>
              <a:t> </a:t>
            </a:r>
            <a:r>
              <a:rPr dirty="0"/>
              <a:t>Later aimed to become a 'Super App' offering: Rides, Food, Grocery, Digital Wallet, Parcel Delivery.</a:t>
            </a:r>
          </a:p>
          <a:p>
            <a:pPr>
              <a:defRPr sz="1800">
                <a:latin typeface="Calibri"/>
              </a:defRPr>
            </a:pPr>
            <a:r>
              <a:rPr dirty="0"/>
              <a:t> </a:t>
            </a:r>
            <a:r>
              <a:rPr dirty="0"/>
              <a:t>Ambition: One app for everything</a:t>
            </a:r>
            <a:r>
              <a:rPr dirty="0"/>
              <a:t>.</a:t>
            </a:r>
            <a:endParaRPr dirty="0"/>
          </a:p>
        </p:txBody>
      </p:sp>
    </p:spTree>
    <p:extLst>
      <p:ext uri="{BB962C8B-B14F-4D97-AF65-F5344CB8AC3E}">
        <p14:creationId xmlns:p14="http://schemas.microsoft.com/office/powerpoint/2010/main" val="8337719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Happened</a:t>
            </a:r>
          </a:p>
        </p:txBody>
      </p:sp>
      <p:sp>
        <p:nvSpPr>
          <p:cNvPr id="3" name="Content Placeholder 2"/>
          <p:cNvSpPr>
            <a:spLocks noGrp="1"/>
          </p:cNvSpPr>
          <p:nvPr>
            <p:ph idx="1"/>
          </p:nvPr>
        </p:nvSpPr>
        <p:spPr/>
        <p:txBody>
          <a:bodyPr>
            <a:normAutofit/>
          </a:bodyPr>
          <a:lstStyle/>
          <a:p>
            <a:pPr>
              <a:defRPr sz="1800">
                <a:latin typeface="Calibri"/>
              </a:defRPr>
            </a:pPr>
            <a:r>
              <a:rPr dirty="0"/>
              <a:t> </a:t>
            </a:r>
            <a:r>
              <a:rPr dirty="0"/>
              <a:t>2020–2021: Launch of Super App with multiple features.</a:t>
            </a:r>
          </a:p>
          <a:p>
            <a:pPr>
              <a:defRPr sz="1800">
                <a:latin typeface="Calibri"/>
              </a:defRPr>
            </a:pPr>
            <a:r>
              <a:rPr dirty="0"/>
              <a:t> </a:t>
            </a:r>
            <a:r>
              <a:rPr dirty="0"/>
              <a:t>2022: Shut down </a:t>
            </a:r>
            <a:r>
              <a:rPr dirty="0" err="1"/>
              <a:t>Careem</a:t>
            </a:r>
            <a:r>
              <a:rPr dirty="0"/>
              <a:t> Food in Pakistan (low profit).</a:t>
            </a:r>
          </a:p>
          <a:p>
            <a:pPr>
              <a:defRPr sz="1800">
                <a:latin typeface="Calibri"/>
              </a:defRPr>
            </a:pPr>
            <a:r>
              <a:rPr dirty="0"/>
              <a:t> </a:t>
            </a:r>
            <a:r>
              <a:rPr dirty="0"/>
              <a:t>2023–2024: Withdrew digital wallet license.</a:t>
            </a:r>
          </a:p>
          <a:p>
            <a:pPr>
              <a:defRPr sz="1800">
                <a:latin typeface="Calibri"/>
              </a:defRPr>
            </a:pPr>
            <a:r>
              <a:rPr lang="en-US" dirty="0"/>
              <a:t>2024--2025: Only </a:t>
            </a:r>
            <a:r>
              <a:rPr lang="en-US" dirty="0"/>
              <a:t>ride-hailing and parcel delivery active</a:t>
            </a:r>
            <a:r>
              <a:rPr lang="en-US" dirty="0"/>
              <a:t>.</a:t>
            </a:r>
          </a:p>
          <a:p>
            <a:pPr>
              <a:defRPr sz="1800">
                <a:latin typeface="Calibri"/>
              </a:defRPr>
            </a:pPr>
            <a:r>
              <a:rPr lang="en-US" dirty="0"/>
              <a:t>2026</a:t>
            </a:r>
            <a:r>
              <a:rPr dirty="0"/>
              <a:t>:</a:t>
            </a:r>
            <a:r>
              <a:rPr lang="en-US" dirty="0"/>
              <a:t> </a:t>
            </a:r>
            <a:r>
              <a:rPr lang="en-US" sz="1800" dirty="0" err="1"/>
              <a:t>Careem</a:t>
            </a:r>
            <a:r>
              <a:rPr lang="en-US" sz="1800" dirty="0"/>
              <a:t> </a:t>
            </a:r>
            <a:r>
              <a:rPr lang="en-US" sz="1800" b="1" dirty="0"/>
              <a:t>stopped its ride-hailing operations in Pakistan on 18 July 2025</a:t>
            </a:r>
            <a:endParaRPr lang="en-US" dirty="0"/>
          </a:p>
          <a:p>
            <a:pPr marL="0" indent="0">
              <a:buNone/>
              <a:defRPr sz="1800">
                <a:latin typeface="Calibri"/>
              </a:defRPr>
            </a:pPr>
            <a:r>
              <a:rPr dirty="0"/>
              <a:t> </a:t>
            </a:r>
            <a:endParaRPr dirty="0"/>
          </a:p>
          <a:p>
            <a:pPr>
              <a:defRPr sz="1800">
                <a:latin typeface="Calibri"/>
              </a:defRPr>
            </a:pPr>
            <a:r>
              <a:rPr dirty="0"/>
              <a:t>Result: Multiple services failed — super app vision scaled back.</a:t>
            </a:r>
          </a:p>
        </p:txBody>
      </p:sp>
    </p:spTree>
    <p:extLst>
      <p:ext uri="{BB962C8B-B14F-4D97-AF65-F5344CB8AC3E}">
        <p14:creationId xmlns:p14="http://schemas.microsoft.com/office/powerpoint/2010/main" val="325769167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Problems Faced</a:t>
            </a:r>
          </a:p>
        </p:txBody>
      </p:sp>
      <p:sp>
        <p:nvSpPr>
          <p:cNvPr id="3" name="Content Placeholder 2"/>
          <p:cNvSpPr>
            <a:spLocks noGrp="1"/>
          </p:cNvSpPr>
          <p:nvPr>
            <p:ph idx="1"/>
          </p:nvPr>
        </p:nvSpPr>
        <p:spPr/>
        <p:txBody>
          <a:bodyPr/>
          <a:lstStyle/>
          <a:p>
            <a:pPr>
              <a:defRPr sz="1800">
                <a:latin typeface="Calibri"/>
              </a:defRPr>
            </a:pPr>
            <a:r>
              <a:rPr dirty="0"/>
              <a:t> </a:t>
            </a:r>
            <a:r>
              <a:rPr dirty="0"/>
              <a:t>Weak requirement alignment with market conditions.</a:t>
            </a:r>
          </a:p>
          <a:p>
            <a:pPr>
              <a:defRPr sz="1800">
                <a:latin typeface="Calibri"/>
              </a:defRPr>
            </a:pPr>
            <a:r>
              <a:rPr dirty="0"/>
              <a:t> </a:t>
            </a:r>
            <a:r>
              <a:rPr dirty="0"/>
              <a:t>Overly ambitious scope (too many services too fast).</a:t>
            </a:r>
          </a:p>
          <a:p>
            <a:pPr>
              <a:defRPr sz="1800">
                <a:latin typeface="Calibri"/>
              </a:defRPr>
            </a:pPr>
            <a:r>
              <a:rPr dirty="0"/>
              <a:t> </a:t>
            </a:r>
            <a:r>
              <a:rPr dirty="0"/>
              <a:t>Regulatory challenges for digital payments.</a:t>
            </a:r>
          </a:p>
          <a:p>
            <a:pPr>
              <a:defRPr sz="1800">
                <a:latin typeface="Calibri"/>
              </a:defRPr>
            </a:pPr>
            <a:r>
              <a:rPr dirty="0"/>
              <a:t> </a:t>
            </a:r>
            <a:r>
              <a:rPr dirty="0"/>
              <a:t>Low user adoption for food/grocery services.</a:t>
            </a:r>
          </a:p>
          <a:p>
            <a:pPr>
              <a:defRPr sz="1800">
                <a:latin typeface="Calibri"/>
              </a:defRPr>
            </a:pPr>
            <a:r>
              <a:rPr dirty="0"/>
              <a:t> </a:t>
            </a:r>
            <a:r>
              <a:rPr dirty="0"/>
              <a:t>Poor management of changing requirements.</a:t>
            </a:r>
          </a:p>
          <a:p>
            <a:pPr>
              <a:defRPr sz="1800">
                <a:latin typeface="Calibri"/>
              </a:defRPr>
            </a:pPr>
            <a:endParaRPr dirty="0"/>
          </a:p>
        </p:txBody>
      </p:sp>
    </p:spTree>
    <p:extLst>
      <p:ext uri="{BB962C8B-B14F-4D97-AF65-F5344CB8AC3E}">
        <p14:creationId xmlns:p14="http://schemas.microsoft.com/office/powerpoint/2010/main" val="25800038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Requirement Engineering Analysis</a:t>
            </a:r>
          </a:p>
        </p:txBody>
      </p:sp>
      <p:sp>
        <p:nvSpPr>
          <p:cNvPr id="3" name="Content Placeholder 2"/>
          <p:cNvSpPr>
            <a:spLocks noGrp="1"/>
          </p:cNvSpPr>
          <p:nvPr>
            <p:ph idx="1"/>
          </p:nvPr>
        </p:nvSpPr>
        <p:spPr/>
        <p:txBody>
          <a:bodyPr>
            <a:normAutofit fontScale="92500"/>
          </a:bodyPr>
          <a:lstStyle/>
          <a:p>
            <a:pPr>
              <a:defRPr sz="1800">
                <a:latin typeface="Calibri"/>
              </a:defRPr>
            </a:pPr>
            <a:r>
              <a:t>Inception: Vision too broad — not validated against market realities → Over-scoped.</a:t>
            </a:r>
          </a:p>
          <a:p>
            <a:pPr>
              <a:defRPr sz="1800">
                <a:latin typeface="Calibri"/>
              </a:defRPr>
            </a:pPr>
            <a:r>
              <a:t>Elicitation: User needs for non-core services not researched → Low adoption.</a:t>
            </a:r>
          </a:p>
          <a:p>
            <a:pPr>
              <a:defRPr sz="1800">
                <a:latin typeface="Calibri"/>
              </a:defRPr>
            </a:pPr>
            <a:r>
              <a:t>Elaboration: Risks, regulations underestimated → High costs.</a:t>
            </a:r>
          </a:p>
          <a:p>
            <a:pPr>
              <a:defRPr sz="1800">
                <a:latin typeface="Calibri"/>
              </a:defRPr>
            </a:pPr>
            <a:r>
              <a:t>Negotiation: Tried to do everything → Resource dilution.</a:t>
            </a:r>
          </a:p>
          <a:p>
            <a:pPr>
              <a:defRPr sz="1800">
                <a:latin typeface="Calibri"/>
              </a:defRPr>
            </a:pPr>
            <a:r>
              <a:t>Specification: Weak documentation of non-functional needs → Compliance issues.</a:t>
            </a:r>
          </a:p>
          <a:p>
            <a:pPr>
              <a:defRPr sz="1800">
                <a:latin typeface="Calibri"/>
              </a:defRPr>
            </a:pPr>
            <a:r>
              <a:t>Validation: Released before full local testing → Failures.</a:t>
            </a:r>
          </a:p>
          <a:p>
            <a:pPr>
              <a:defRPr sz="1800">
                <a:latin typeface="Calibri"/>
              </a:defRPr>
            </a:pPr>
            <a:r>
              <a:t>Management: Frequent change requests, shutdowns → Low stakeholder trust.</a:t>
            </a:r>
          </a:p>
        </p:txBody>
      </p:sp>
    </p:spTree>
    <p:extLst>
      <p:ext uri="{BB962C8B-B14F-4D97-AF65-F5344CB8AC3E}">
        <p14:creationId xmlns:p14="http://schemas.microsoft.com/office/powerpoint/2010/main" val="213997223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Key Requirement Engineering Lessons</a:t>
            </a:r>
          </a:p>
        </p:txBody>
      </p:sp>
      <p:sp>
        <p:nvSpPr>
          <p:cNvPr id="3" name="Content Placeholder 2"/>
          <p:cNvSpPr>
            <a:spLocks noGrp="1"/>
          </p:cNvSpPr>
          <p:nvPr>
            <p:ph idx="1"/>
          </p:nvPr>
        </p:nvSpPr>
        <p:spPr/>
        <p:txBody>
          <a:bodyPr/>
          <a:lstStyle/>
          <a:p>
            <a:pPr>
              <a:defRPr sz="1800">
                <a:latin typeface="Calibri"/>
              </a:defRPr>
            </a:pPr>
            <a:r>
              <a:rPr dirty="0"/>
              <a:t> </a:t>
            </a:r>
            <a:r>
              <a:rPr dirty="0"/>
              <a:t>Start with focused scope validated by real users.</a:t>
            </a:r>
          </a:p>
          <a:p>
            <a:pPr>
              <a:defRPr sz="1800">
                <a:latin typeface="Calibri"/>
              </a:defRPr>
            </a:pPr>
            <a:r>
              <a:rPr dirty="0"/>
              <a:t> </a:t>
            </a:r>
            <a:r>
              <a:rPr dirty="0"/>
              <a:t>Perform regulatory and market analysis early.</a:t>
            </a:r>
          </a:p>
          <a:p>
            <a:pPr>
              <a:defRPr sz="1800">
                <a:latin typeface="Calibri"/>
              </a:defRPr>
            </a:pPr>
            <a:r>
              <a:rPr dirty="0"/>
              <a:t> </a:t>
            </a:r>
            <a:r>
              <a:rPr dirty="0"/>
              <a:t>Define non-functional requirements clearly (security, usability).</a:t>
            </a:r>
          </a:p>
          <a:p>
            <a:pPr>
              <a:defRPr sz="1800">
                <a:latin typeface="Calibri"/>
              </a:defRPr>
            </a:pPr>
            <a:r>
              <a:rPr dirty="0"/>
              <a:t> </a:t>
            </a:r>
            <a:r>
              <a:rPr dirty="0"/>
              <a:t>Manage changing requirements systematically.</a:t>
            </a:r>
          </a:p>
          <a:p>
            <a:pPr>
              <a:defRPr sz="1800">
                <a:latin typeface="Calibri"/>
              </a:defRPr>
            </a:pPr>
            <a:r>
              <a:rPr dirty="0"/>
              <a:t> </a:t>
            </a:r>
            <a:r>
              <a:rPr dirty="0"/>
              <a:t>Align business goals with user needs.</a:t>
            </a:r>
          </a:p>
          <a:p>
            <a:pPr>
              <a:defRPr sz="1800">
                <a:latin typeface="Calibri"/>
              </a:defRPr>
            </a:pPr>
            <a:endParaRPr dirty="0"/>
          </a:p>
          <a:p>
            <a:pPr>
              <a:defRPr sz="1800">
                <a:latin typeface="Calibri"/>
              </a:defRPr>
            </a:pPr>
            <a:r>
              <a:rPr lang="en-US" dirty="0"/>
              <a:t>Question: </a:t>
            </a:r>
            <a:r>
              <a:rPr dirty="0"/>
              <a:t> </a:t>
            </a:r>
            <a:r>
              <a:rPr dirty="0"/>
              <a:t>If you were on </a:t>
            </a:r>
            <a:r>
              <a:rPr dirty="0" err="1"/>
              <a:t>Careem’s</a:t>
            </a:r>
            <a:r>
              <a:rPr dirty="0"/>
              <a:t> RE team, which phase would you improve first — and how?</a:t>
            </a:r>
          </a:p>
        </p:txBody>
      </p:sp>
    </p:spTree>
    <p:extLst>
      <p:ext uri="{BB962C8B-B14F-4D97-AF65-F5344CB8AC3E}">
        <p14:creationId xmlns:p14="http://schemas.microsoft.com/office/powerpoint/2010/main" val="186725160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Poll</a:t>
            </a:r>
          </a:p>
        </p:txBody>
      </p:sp>
      <p:sp>
        <p:nvSpPr>
          <p:cNvPr id="3" name="Content Placeholder 2"/>
          <p:cNvSpPr>
            <a:spLocks noGrp="1"/>
          </p:cNvSpPr>
          <p:nvPr>
            <p:ph idx="1"/>
          </p:nvPr>
        </p:nvSpPr>
        <p:spPr/>
        <p:txBody>
          <a:bodyPr/>
          <a:lstStyle/>
          <a:p>
            <a:pPr>
              <a:defRPr sz="1800">
                <a:latin typeface="Calibri"/>
              </a:defRPr>
            </a:pPr>
            <a:r>
              <a:t>What was the MAIN reason the Super App failed in Pakistan?</a:t>
            </a:r>
          </a:p>
          <a:p>
            <a:pPr>
              <a:defRPr sz="1800">
                <a:latin typeface="Calibri"/>
              </a:defRPr>
            </a:pPr>
            <a:r>
              <a:t>A. Poor user requirement analysis</a:t>
            </a:r>
          </a:p>
          <a:p>
            <a:pPr>
              <a:defRPr sz="1800">
                <a:latin typeface="Calibri"/>
              </a:defRPr>
            </a:pPr>
            <a:r>
              <a:t>B. Weak regulatory understanding</a:t>
            </a:r>
          </a:p>
          <a:p>
            <a:pPr>
              <a:defRPr sz="1800">
                <a:latin typeface="Calibri"/>
              </a:defRPr>
            </a:pPr>
            <a:r>
              <a:t>C. Overly broad project scope</a:t>
            </a:r>
          </a:p>
          <a:p>
            <a:pPr>
              <a:defRPr sz="1800">
                <a:latin typeface="Calibri"/>
              </a:defRPr>
            </a:pPr>
            <a:r>
              <a:t>D. All of the above</a:t>
            </a:r>
          </a:p>
        </p:txBody>
      </p:sp>
    </p:spTree>
    <p:extLst>
      <p:ext uri="{BB962C8B-B14F-4D97-AF65-F5344CB8AC3E}">
        <p14:creationId xmlns:p14="http://schemas.microsoft.com/office/powerpoint/2010/main" val="6392447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Takeaway</a:t>
            </a:r>
          </a:p>
        </p:txBody>
      </p:sp>
      <p:sp>
        <p:nvSpPr>
          <p:cNvPr id="3" name="Content Placeholder 2"/>
          <p:cNvSpPr>
            <a:spLocks noGrp="1"/>
          </p:cNvSpPr>
          <p:nvPr>
            <p:ph idx="1"/>
          </p:nvPr>
        </p:nvSpPr>
        <p:spPr/>
        <p:txBody>
          <a:bodyPr/>
          <a:lstStyle/>
          <a:p>
            <a:pPr>
              <a:defRPr sz="1800">
                <a:latin typeface="Calibri"/>
              </a:defRPr>
            </a:pPr>
            <a:r>
              <a:t>Even successful companies can fail if requirements are unclear, unrealistic, or poorly managed.</a:t>
            </a:r>
          </a:p>
          <a:p>
            <a:pPr>
              <a:defRPr sz="1800">
                <a:latin typeface="Calibri"/>
              </a:defRPr>
            </a:pPr>
            <a:r>
              <a:t>Requirement Engineering is not just about documentation — it's about making the right choices at the right time.</a:t>
            </a:r>
          </a:p>
        </p:txBody>
      </p:sp>
    </p:spTree>
    <p:extLst>
      <p:ext uri="{BB962C8B-B14F-4D97-AF65-F5344CB8AC3E}">
        <p14:creationId xmlns:p14="http://schemas.microsoft.com/office/powerpoint/2010/main" val="10444529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1" y="914401"/>
            <a:ext cx="8595360" cy="3488266"/>
          </a:xfrm>
        </p:spPr>
        <p:txBody>
          <a:bodyPr>
            <a:normAutofit/>
          </a:bodyPr>
          <a:lstStyle/>
          <a:p>
            <a:r>
              <a:rPr sz="4400" b="1" dirty="0"/>
              <a:t>Requirement</a:t>
            </a:r>
            <a:r>
              <a:rPr lang="en-US" sz="4400" b="1" dirty="0"/>
              <a:t> </a:t>
            </a:r>
            <a:r>
              <a:rPr sz="4400" b="1" dirty="0"/>
              <a:t>Engineering</a:t>
            </a:r>
            <a:r>
              <a:rPr lang="en-US" sz="4400" b="1" dirty="0"/>
              <a:t> </a:t>
            </a:r>
            <a:r>
              <a:rPr lang="en-US" sz="4400" b="1" dirty="0"/>
              <a:t>Phases </a:t>
            </a:r>
            <a:r>
              <a:rPr dirty="0"/>
              <a:t>:</a:t>
            </a:r>
            <a:r>
              <a:rPr lang="en-US" dirty="0"/>
              <a:t/>
            </a:r>
            <a:br>
              <a:rPr lang="en-US" dirty="0"/>
            </a:br>
            <a:r>
              <a:rPr lang="en-US" sz="4000" dirty="0"/>
              <a:t>(</a:t>
            </a:r>
            <a:r>
              <a:rPr lang="en-US" sz="4000" b="1" dirty="0"/>
              <a:t>Case Study : Smart Parking </a:t>
            </a:r>
            <a:r>
              <a:rPr lang="en-US" sz="4000" b="1" dirty="0"/>
              <a:t>System)</a:t>
            </a:r>
            <a:r>
              <a:rPr lang="en-US" sz="4000" b="1" dirty="0"/>
              <a:t/>
            </a:r>
            <a:br>
              <a:rPr lang="en-US" sz="4000" b="1" dirty="0"/>
            </a:br>
            <a:endParaRPr sz="4000" dirty="0"/>
          </a:p>
        </p:txBody>
      </p:sp>
      <p:sp>
        <p:nvSpPr>
          <p:cNvPr id="4" name="Content Placeholder 3"/>
          <p:cNvSpPr>
            <a:spLocks noGrp="1"/>
          </p:cNvSpPr>
          <p:nvPr>
            <p:ph type="subTitle" idx="1"/>
          </p:nvPr>
        </p:nvSpPr>
        <p:spPr>
          <a:xfrm>
            <a:off x="2924238" y="4402667"/>
            <a:ext cx="5762563" cy="626534"/>
          </a:xfrm>
        </p:spPr>
        <p:txBody>
          <a:bodyPr>
            <a:normAutofit/>
          </a:bodyPr>
          <a:lstStyle/>
          <a:p>
            <a:r>
              <a:rPr lang="en-US" sz="2800" dirty="0"/>
              <a:t>Ms. Shehla Saeed</a:t>
            </a:r>
            <a:endParaRPr lang="en-US" sz="28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Overview</a:t>
            </a:r>
            <a:endParaRPr lang="en-US" dirty="0"/>
          </a:p>
        </p:txBody>
      </p:sp>
      <p:sp>
        <p:nvSpPr>
          <p:cNvPr id="4" name="Rectangle 1"/>
          <p:cNvSpPr>
            <a:spLocks noGrp="1" noChangeArrowheads="1"/>
          </p:cNvSpPr>
          <p:nvPr>
            <p:ph idx="1"/>
          </p:nvPr>
        </p:nvSpPr>
        <p:spPr bwMode="auto">
          <a:xfrm>
            <a:off x="982133" y="3594744"/>
            <a:ext cx="770466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Requirements Engineering (RE)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Traditional RE phases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UML-based RE phases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Arial" panose="020B0604020202020204" pitchFamily="34" charset="0"/>
              </a:rPr>
              <a:t> </a:t>
            </a:r>
            <a:r>
              <a:rPr lang="en-US" altLang="en-US" sz="1800" b="1" dirty="0">
                <a:latin typeface="Arial" panose="020B0604020202020204" pitchFamily="34" charset="0"/>
              </a:rPr>
              <a:t>Difference b/w the two approaches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 RE phases to a </a:t>
            </a:r>
            <a:r>
              <a:rPr kumimoji="0" lang="en-US" altLang="en-US" sz="1800" b="1" i="0" u="none" strike="noStrike" cap="none" normalizeH="0" baseline="0" dirty="0">
                <a:ln>
                  <a:noFill/>
                </a:ln>
                <a:solidFill>
                  <a:schemeClr val="tx1"/>
                </a:solidFill>
                <a:effectLst/>
                <a:latin typeface="Arial" panose="020B0604020202020204" pitchFamily="34" charset="0"/>
              </a:rPr>
              <a:t>Smart Parking System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223376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Requirement Engineering?</a:t>
            </a:r>
          </a:p>
        </p:txBody>
      </p:sp>
      <p:sp>
        <p:nvSpPr>
          <p:cNvPr id="3" name="Content Placeholder 2"/>
          <p:cNvSpPr>
            <a:spLocks noGrp="1"/>
          </p:cNvSpPr>
          <p:nvPr>
            <p:ph idx="1"/>
          </p:nvPr>
        </p:nvSpPr>
        <p:spPr/>
        <p:txBody>
          <a:bodyPr>
            <a:normAutofit/>
          </a:bodyPr>
          <a:lstStyle/>
          <a:p>
            <a:r>
              <a:rPr lang="en-US" dirty="0"/>
              <a:t>Requirements Engineering is the </a:t>
            </a:r>
            <a:r>
              <a:rPr lang="en-US" b="1" dirty="0"/>
              <a:t>process of discovering, analyzing, documenting, validating, and managing system requirements.</a:t>
            </a:r>
            <a:endParaRPr lang="en-US" dirty="0"/>
          </a:p>
          <a:p>
            <a:pPr marL="0" indent="0">
              <a:buNone/>
            </a:pPr>
            <a:r>
              <a:rPr lang="en-US" dirty="0"/>
              <a:t>Goal:</a:t>
            </a:r>
          </a:p>
          <a:p>
            <a:r>
              <a:rPr lang="en-US" dirty="0"/>
              <a:t>Ensure the software system </a:t>
            </a:r>
            <a:r>
              <a:rPr lang="en-US" b="1" dirty="0"/>
              <a:t>meets stakeholder needs and solves the real problem.</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Traditional Requirements Engineering Phases</a:t>
            </a:r>
          </a:p>
        </p:txBody>
      </p:sp>
      <p:sp>
        <p:nvSpPr>
          <p:cNvPr id="3" name="Content Placeholder 2"/>
          <p:cNvSpPr>
            <a:spLocks noGrp="1"/>
          </p:cNvSpPr>
          <p:nvPr>
            <p:ph idx="1"/>
          </p:nvPr>
        </p:nvSpPr>
        <p:spPr>
          <a:xfrm>
            <a:off x="982133" y="3008711"/>
            <a:ext cx="7704667" cy="3332816"/>
          </a:xfrm>
        </p:spPr>
        <p:txBody>
          <a:bodyPr/>
          <a:lstStyle/>
          <a:p>
            <a:pPr>
              <a:buFont typeface="+mj-lt"/>
              <a:buAutoNum type="arabicPeriod"/>
            </a:pPr>
            <a:r>
              <a:rPr lang="en-US" dirty="0"/>
              <a:t>Requirements Elicitation</a:t>
            </a:r>
          </a:p>
          <a:p>
            <a:pPr>
              <a:buFont typeface="+mj-lt"/>
              <a:buAutoNum type="arabicPeriod"/>
            </a:pPr>
            <a:r>
              <a:rPr lang="en-US" dirty="0"/>
              <a:t>Requirements Analysis</a:t>
            </a:r>
          </a:p>
          <a:p>
            <a:pPr>
              <a:buFont typeface="+mj-lt"/>
              <a:buAutoNum type="arabicPeriod"/>
            </a:pPr>
            <a:r>
              <a:rPr lang="en-US" dirty="0"/>
              <a:t>Requirements Specification</a:t>
            </a:r>
          </a:p>
          <a:p>
            <a:pPr>
              <a:buFont typeface="+mj-lt"/>
              <a:buAutoNum type="arabicPeriod"/>
            </a:pPr>
            <a:r>
              <a:rPr lang="en-US" dirty="0"/>
              <a:t>Requirements Validation</a:t>
            </a:r>
          </a:p>
          <a:p>
            <a:pPr>
              <a:buFont typeface="+mj-lt"/>
              <a:buAutoNum type="arabicPeriod"/>
            </a:pPr>
            <a:r>
              <a:rPr lang="en-US" dirty="0"/>
              <a:t>Requirements Management</a:t>
            </a:r>
          </a:p>
          <a:p>
            <a:r>
              <a:rPr lang="en-US" dirty="0"/>
              <a:t>Mostly </a:t>
            </a:r>
            <a:r>
              <a:rPr lang="en-US" b="1" dirty="0"/>
              <a:t>document-driven approach</a:t>
            </a:r>
            <a:r>
              <a:rPr lang="en-US" dirty="0"/>
              <a:t>.</a:t>
            </a:r>
          </a:p>
        </p:txBody>
      </p:sp>
      <p:sp>
        <p:nvSpPr>
          <p:cNvPr id="4" name="Rectangle 3"/>
          <p:cNvSpPr/>
          <p:nvPr/>
        </p:nvSpPr>
        <p:spPr>
          <a:xfrm>
            <a:off x="862148" y="2538890"/>
            <a:ext cx="4572000" cy="369332"/>
          </a:xfrm>
          <a:prstGeom prst="rect">
            <a:avLst/>
          </a:prstGeom>
        </p:spPr>
        <p:txBody>
          <a:bodyPr>
            <a:spAutoFit/>
          </a:bodyPr>
          <a:lstStyle/>
          <a:p>
            <a:r>
              <a:rPr lang="en-US" dirty="0"/>
              <a:t>Traditional </a:t>
            </a:r>
            <a:r>
              <a:rPr lang="en-US" dirty="0"/>
              <a:t>RE generally includes</a:t>
            </a:r>
            <a:r>
              <a:rPr lang="en-US" dirty="0"/>
              <a:t>:</a:t>
            </a:r>
            <a:endParaRPr lang="en-US" dirty="0"/>
          </a:p>
        </p:txBody>
      </p:sp>
    </p:spTree>
    <p:extLst>
      <p:ext uri="{BB962C8B-B14F-4D97-AF65-F5344CB8AC3E}">
        <p14:creationId xmlns:p14="http://schemas.microsoft.com/office/powerpoint/2010/main" val="154519110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a:t>
            </a:r>
            <a:r>
              <a:rPr lang="en-US" dirty="0"/>
              <a:t>approach </a:t>
            </a:r>
            <a:r>
              <a:rPr lang="en-US" dirty="0"/>
              <a:t>problems:</a:t>
            </a:r>
          </a:p>
        </p:txBody>
      </p:sp>
      <p:sp>
        <p:nvSpPr>
          <p:cNvPr id="3" name="Content Placeholder 2"/>
          <p:cNvSpPr>
            <a:spLocks noGrp="1"/>
          </p:cNvSpPr>
          <p:nvPr>
            <p:ph idx="1"/>
          </p:nvPr>
        </p:nvSpPr>
        <p:spPr/>
        <p:txBody>
          <a:bodyPr/>
          <a:lstStyle/>
          <a:p>
            <a:r>
              <a:rPr lang="en-US" dirty="0"/>
              <a:t>Heavy documentation(textual SRS)</a:t>
            </a:r>
            <a:endParaRPr lang="en-US" dirty="0"/>
          </a:p>
          <a:p>
            <a:r>
              <a:rPr lang="en-US" dirty="0"/>
              <a:t>Difficult stakeholder understanding</a:t>
            </a:r>
          </a:p>
          <a:p>
            <a:r>
              <a:rPr lang="en-US" dirty="0"/>
              <a:t>Limited visualization of system behavior</a:t>
            </a:r>
          </a:p>
          <a:p>
            <a:r>
              <a:rPr lang="en-US" dirty="0"/>
              <a:t>This led to the rise of </a:t>
            </a:r>
            <a:r>
              <a:rPr lang="en-US" b="1" dirty="0"/>
              <a:t>model-based approaches using UML</a:t>
            </a:r>
            <a:r>
              <a:rPr lang="en-US" dirty="0"/>
              <a:t>.</a:t>
            </a:r>
          </a:p>
        </p:txBody>
      </p:sp>
    </p:spTree>
    <p:extLst>
      <p:ext uri="{BB962C8B-B14F-4D97-AF65-F5344CB8AC3E}">
        <p14:creationId xmlns:p14="http://schemas.microsoft.com/office/powerpoint/2010/main" val="255493781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Difference b/w the 2 approaches</a:t>
            </a:r>
            <a:endParaRPr lang="en-US" dirty="0"/>
          </a:p>
        </p:txBody>
      </p:sp>
      <p:sp>
        <p:nvSpPr>
          <p:cNvPr id="3" name="Content Placeholder 2"/>
          <p:cNvSpPr>
            <a:spLocks noGrp="1"/>
          </p:cNvSpPr>
          <p:nvPr>
            <p:ph idx="1"/>
          </p:nvPr>
        </p:nvSpPr>
        <p:spPr/>
        <p:txBody>
          <a:bodyPr/>
          <a:lstStyle/>
          <a:p>
            <a:r>
              <a:rPr lang="en-US" dirty="0"/>
              <a:t>Traditional </a:t>
            </a:r>
            <a:r>
              <a:rPr lang="en-US" dirty="0"/>
              <a:t>RE is like </a:t>
            </a:r>
            <a:r>
              <a:rPr lang="en-US" b="1" dirty="0"/>
              <a:t>writing a detailed description of a city</a:t>
            </a:r>
            <a:r>
              <a:rPr lang="en-US" dirty="0"/>
              <a:t>.</a:t>
            </a:r>
          </a:p>
          <a:p>
            <a:r>
              <a:rPr lang="en-US" dirty="0"/>
              <a:t>UML-based RE is like </a:t>
            </a:r>
            <a:r>
              <a:rPr lang="en-US" b="1" dirty="0"/>
              <a:t>drawing the city map showing roads, buildings, and how people move between them</a:t>
            </a:r>
            <a:r>
              <a:rPr lang="en-US" dirty="0"/>
              <a:t>.</a:t>
            </a:r>
          </a:p>
          <a:p>
            <a:r>
              <a:rPr lang="en-US" dirty="0"/>
              <a:t>Both describe the same city, but the second one lets people </a:t>
            </a:r>
            <a:r>
              <a:rPr lang="en-US" b="1" dirty="0"/>
              <a:t>see the structure instantly</a:t>
            </a:r>
            <a:r>
              <a:rPr lang="en-US" dirty="0"/>
              <a:t>.</a:t>
            </a:r>
          </a:p>
        </p:txBody>
      </p:sp>
    </p:spTree>
    <p:extLst>
      <p:ext uri="{BB962C8B-B14F-4D97-AF65-F5344CB8AC3E}">
        <p14:creationId xmlns:p14="http://schemas.microsoft.com/office/powerpoint/2010/main" val="376830062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UML-Based RE Phases</a:t>
            </a:r>
          </a:p>
        </p:txBody>
      </p:sp>
      <p:sp>
        <p:nvSpPr>
          <p:cNvPr id="3" name="Content Placeholder 2"/>
          <p:cNvSpPr>
            <a:spLocks noGrp="1"/>
          </p:cNvSpPr>
          <p:nvPr>
            <p:ph idx="1"/>
          </p:nvPr>
        </p:nvSpPr>
        <p:spPr>
          <a:xfrm>
            <a:off x="982133" y="2170610"/>
            <a:ext cx="7704667" cy="3812177"/>
          </a:xfrm>
        </p:spPr>
        <p:txBody>
          <a:bodyPr>
            <a:normAutofit lnSpcReduction="10000"/>
          </a:bodyPr>
          <a:lstStyle/>
          <a:p>
            <a:r>
              <a:rPr lang="en-US" dirty="0"/>
              <a:t>UML-based </a:t>
            </a:r>
            <a:r>
              <a:rPr lang="en-US" dirty="0"/>
              <a:t>RE includes</a:t>
            </a:r>
            <a:r>
              <a:rPr lang="en-US" dirty="0"/>
              <a:t>:</a:t>
            </a:r>
            <a:endParaRPr lang="en-US" dirty="0"/>
          </a:p>
          <a:p>
            <a:pPr marL="457200" indent="-457200">
              <a:buFont typeface="+mj-lt"/>
              <a:buAutoNum type="arabicPeriod"/>
            </a:pPr>
            <a:r>
              <a:rPr lang="en-US" dirty="0"/>
              <a:t>Inception</a:t>
            </a:r>
          </a:p>
          <a:p>
            <a:pPr marL="457200" indent="-457200">
              <a:buFont typeface="+mj-lt"/>
              <a:buAutoNum type="arabicPeriod"/>
            </a:pPr>
            <a:r>
              <a:rPr lang="en-US" dirty="0"/>
              <a:t>Elicitation</a:t>
            </a:r>
          </a:p>
          <a:p>
            <a:pPr marL="457200" indent="-457200">
              <a:buFont typeface="+mj-lt"/>
              <a:buAutoNum type="arabicPeriod"/>
            </a:pPr>
            <a:r>
              <a:rPr lang="en-US" dirty="0"/>
              <a:t>Elaboration</a:t>
            </a:r>
          </a:p>
          <a:p>
            <a:pPr marL="457200" indent="-457200">
              <a:buFont typeface="+mj-lt"/>
              <a:buAutoNum type="arabicPeriod"/>
            </a:pPr>
            <a:r>
              <a:rPr lang="en-US" dirty="0"/>
              <a:t>Negotiation</a:t>
            </a:r>
          </a:p>
          <a:p>
            <a:pPr marL="457200" indent="-457200">
              <a:buFont typeface="+mj-lt"/>
              <a:buAutoNum type="arabicPeriod"/>
            </a:pPr>
            <a:r>
              <a:rPr lang="en-US" dirty="0"/>
              <a:t>Specification</a:t>
            </a:r>
          </a:p>
          <a:p>
            <a:pPr marL="457200" indent="-457200">
              <a:buFont typeface="+mj-lt"/>
              <a:buAutoNum type="arabicPeriod"/>
            </a:pPr>
            <a:r>
              <a:rPr lang="en-US" dirty="0"/>
              <a:t>Validation</a:t>
            </a:r>
          </a:p>
          <a:p>
            <a:pPr marL="457200" indent="-457200">
              <a:buFont typeface="+mj-lt"/>
              <a:buAutoNum type="arabicPeriod"/>
            </a:pPr>
            <a:r>
              <a:rPr lang="en-US" dirty="0"/>
              <a:t>Requirements </a:t>
            </a:r>
            <a:r>
              <a:rPr lang="en-US" dirty="0"/>
              <a:t>Management</a:t>
            </a:r>
            <a:endParaRPr lang="en-US" dirty="0"/>
          </a:p>
        </p:txBody>
      </p:sp>
    </p:spTree>
    <p:extLst>
      <p:ext uri="{BB962C8B-B14F-4D97-AF65-F5344CB8AC3E}">
        <p14:creationId xmlns:p14="http://schemas.microsoft.com/office/powerpoint/2010/main" val="307820561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8" cy="640079"/>
          </a:xfrm>
        </p:spPr>
        <p:txBody>
          <a:bodyPr>
            <a:normAutofit fontScale="90000"/>
          </a:bodyPr>
          <a:lstStyle/>
          <a:p>
            <a:r>
              <a:rPr dirty="0"/>
              <a:t>Phase </a:t>
            </a:r>
            <a:r>
              <a:rPr dirty="0"/>
              <a:t>1: Inception</a:t>
            </a:r>
          </a:p>
        </p:txBody>
      </p:sp>
      <p:sp>
        <p:nvSpPr>
          <p:cNvPr id="3" name="Content Placeholder 2"/>
          <p:cNvSpPr>
            <a:spLocks noGrp="1"/>
          </p:cNvSpPr>
          <p:nvPr>
            <p:ph idx="1"/>
          </p:nvPr>
        </p:nvSpPr>
        <p:spPr>
          <a:xfrm>
            <a:off x="888275" y="1711234"/>
            <a:ext cx="7798526" cy="4288582"/>
          </a:xfrm>
        </p:spPr>
        <p:txBody>
          <a:bodyPr>
            <a:normAutofit fontScale="92500" lnSpcReduction="20000"/>
          </a:bodyPr>
          <a:lstStyle/>
          <a:p>
            <a:pPr marL="0" indent="0">
              <a:buNone/>
            </a:pPr>
            <a:r>
              <a:rPr dirty="0"/>
              <a:t>Objectives:</a:t>
            </a:r>
          </a:p>
          <a:p>
            <a:r>
              <a:rPr dirty="0"/>
              <a:t>Understand </a:t>
            </a:r>
            <a:r>
              <a:rPr dirty="0"/>
              <a:t>problem domain</a:t>
            </a:r>
          </a:p>
          <a:p>
            <a:r>
              <a:rPr dirty="0"/>
              <a:t> </a:t>
            </a:r>
            <a:r>
              <a:rPr dirty="0"/>
              <a:t>Identify key stakeholders</a:t>
            </a:r>
          </a:p>
          <a:p>
            <a:r>
              <a:rPr dirty="0"/>
              <a:t> </a:t>
            </a:r>
            <a:r>
              <a:rPr dirty="0"/>
              <a:t>Define project scope and goals</a:t>
            </a:r>
          </a:p>
          <a:p>
            <a:endParaRPr dirty="0"/>
          </a:p>
          <a:p>
            <a:pPr marL="0" indent="0">
              <a:buNone/>
            </a:pPr>
            <a:r>
              <a:rPr dirty="0"/>
              <a:t>Activities:</a:t>
            </a:r>
          </a:p>
          <a:p>
            <a:pPr>
              <a:buFont typeface="Arial" panose="020B0604020202020204" pitchFamily="34" charset="0"/>
              <a:buChar char="•"/>
            </a:pPr>
            <a:r>
              <a:rPr lang="en-US" dirty="0"/>
              <a:t>Identify stakeholders</a:t>
            </a:r>
          </a:p>
          <a:p>
            <a:pPr>
              <a:buFont typeface="Arial" panose="020B0604020202020204" pitchFamily="34" charset="0"/>
              <a:buChar char="•"/>
            </a:pPr>
            <a:r>
              <a:rPr lang="en-US" dirty="0"/>
              <a:t>Define the system purpose</a:t>
            </a:r>
          </a:p>
          <a:p>
            <a:pPr>
              <a:buFont typeface="Arial" panose="020B0604020202020204" pitchFamily="34" charset="0"/>
              <a:buChar char="•"/>
            </a:pPr>
            <a:r>
              <a:rPr lang="en-US" dirty="0"/>
              <a:t>Understand the problem environment</a:t>
            </a:r>
          </a:p>
          <a:p>
            <a:pPr>
              <a:buFont typeface="Arial" panose="020B0604020202020204" pitchFamily="34" charset="0"/>
              <a:buChar char="•"/>
            </a:pPr>
            <a:r>
              <a:rPr lang="en-US" dirty="0"/>
              <a:t>Establish project </a:t>
            </a:r>
            <a:r>
              <a:rPr lang="en-US" dirty="0"/>
              <a:t>feasibility</a:t>
            </a:r>
          </a:p>
          <a:p>
            <a:pPr>
              <a:buFont typeface="Arial" panose="020B0604020202020204" pitchFamily="34" charset="0"/>
              <a:buChar char="•"/>
            </a:pP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378824"/>
            <a:ext cx="7704667" cy="1981200"/>
          </a:xfrm>
        </p:spPr>
        <p:txBody>
          <a:bodyPr/>
          <a:lstStyle/>
          <a:p>
            <a:r>
              <a:t>Example: Smart Parking System (Inception)</a:t>
            </a:r>
          </a:p>
        </p:txBody>
      </p:sp>
      <p:sp>
        <p:nvSpPr>
          <p:cNvPr id="3" name="Content Placeholder 2"/>
          <p:cNvSpPr>
            <a:spLocks noGrp="1"/>
          </p:cNvSpPr>
          <p:nvPr>
            <p:ph idx="1"/>
          </p:nvPr>
        </p:nvSpPr>
        <p:spPr>
          <a:xfrm>
            <a:off x="1123406" y="2704011"/>
            <a:ext cx="7563394" cy="3896695"/>
          </a:xfrm>
        </p:spPr>
        <p:txBody>
          <a:bodyPr>
            <a:normAutofit fontScale="92500" lnSpcReduction="20000"/>
          </a:bodyPr>
          <a:lstStyle/>
          <a:p>
            <a:r>
              <a:rPr lang="en-US" b="1" dirty="0"/>
              <a:t>Problem:</a:t>
            </a:r>
            <a:r>
              <a:rPr lang="en-US" dirty="0"/>
              <a:t> Drivers cannot easily locate available parking </a:t>
            </a:r>
            <a:r>
              <a:rPr lang="en-US" dirty="0"/>
              <a:t>spaces, </a:t>
            </a:r>
            <a:r>
              <a:rPr lang="en-US" dirty="0"/>
              <a:t>traffic </a:t>
            </a:r>
            <a:r>
              <a:rPr lang="en-US" dirty="0"/>
              <a:t>congestion.</a:t>
            </a:r>
            <a:endParaRPr lang="en-US" dirty="0"/>
          </a:p>
          <a:p>
            <a:r>
              <a:rPr lang="en-US" b="1" dirty="0"/>
              <a:t>Goal:</a:t>
            </a:r>
            <a:r>
              <a:rPr lang="en-US" dirty="0"/>
              <a:t> Develop a system that provides </a:t>
            </a:r>
            <a:r>
              <a:rPr lang="en-US" b="1" dirty="0"/>
              <a:t>real-time parking information through a mobile application</a:t>
            </a:r>
            <a:r>
              <a:rPr lang="en-US" dirty="0"/>
              <a:t>.</a:t>
            </a:r>
          </a:p>
          <a:p>
            <a:r>
              <a:rPr b="1" dirty="0"/>
              <a:t>Scope:</a:t>
            </a:r>
            <a:r>
              <a:rPr lang="en-US" dirty="0"/>
              <a:t> The Smart Parking System will include:</a:t>
            </a:r>
          </a:p>
          <a:p>
            <a:pPr lvl="1"/>
            <a:r>
              <a:rPr lang="en-US" dirty="0"/>
              <a:t>Real-time parking space </a:t>
            </a:r>
            <a:r>
              <a:rPr lang="en-US" dirty="0"/>
              <a:t>detection, Mobile </a:t>
            </a:r>
            <a:r>
              <a:rPr lang="en-US" dirty="0"/>
              <a:t>application for </a:t>
            </a:r>
            <a:r>
              <a:rPr lang="en-US" dirty="0"/>
              <a:t>drivers, Parking </a:t>
            </a:r>
            <a:r>
              <a:rPr lang="en-US" dirty="0"/>
              <a:t>reservation </a:t>
            </a:r>
            <a:r>
              <a:rPr lang="en-US" dirty="0"/>
              <a:t>system, Online </a:t>
            </a:r>
            <a:r>
              <a:rPr lang="en-US" dirty="0"/>
              <a:t>payment </a:t>
            </a:r>
            <a:r>
              <a:rPr lang="en-US" dirty="0"/>
              <a:t>system, Notifications </a:t>
            </a:r>
            <a:r>
              <a:rPr lang="en-US" dirty="0"/>
              <a:t>and </a:t>
            </a:r>
            <a:r>
              <a:rPr lang="en-US" dirty="0"/>
              <a:t>alerts, Parking </a:t>
            </a:r>
            <a:r>
              <a:rPr lang="en-US" dirty="0"/>
              <a:t>management dashboard</a:t>
            </a:r>
          </a:p>
          <a:p>
            <a:r>
              <a:rPr lang="en-US" b="1" dirty="0"/>
              <a:t>Out of </a:t>
            </a:r>
            <a:r>
              <a:rPr lang="en-US" b="1" dirty="0"/>
              <a:t>Scope: </a:t>
            </a:r>
            <a:r>
              <a:rPr lang="en-US" dirty="0"/>
              <a:t>The </a:t>
            </a:r>
            <a:r>
              <a:rPr lang="en-US" dirty="0"/>
              <a:t>system will NOT </a:t>
            </a:r>
            <a:r>
              <a:rPr lang="en-US" dirty="0"/>
              <a:t>include:</a:t>
            </a:r>
          </a:p>
          <a:p>
            <a:pPr lvl="1"/>
            <a:r>
              <a:rPr lang="en-US" dirty="0"/>
              <a:t>Physical </a:t>
            </a:r>
            <a:r>
              <a:rPr lang="en-US" dirty="0"/>
              <a:t>parking </a:t>
            </a:r>
            <a:r>
              <a:rPr lang="en-US" dirty="0"/>
              <a:t>construction, Traffic </a:t>
            </a:r>
            <a:r>
              <a:rPr lang="en-US" dirty="0"/>
              <a:t>signal </a:t>
            </a:r>
            <a:r>
              <a:rPr lang="en-US" dirty="0"/>
              <a:t>management, Law </a:t>
            </a:r>
            <a:r>
              <a:rPr lang="en-US" dirty="0"/>
              <a:t>enforcement </a:t>
            </a:r>
            <a:r>
              <a:rPr lang="en-US" dirty="0"/>
              <a:t>automation</a:t>
            </a:r>
            <a:r>
              <a:rPr lang="en-US" dirty="0"/>
              <a:t>.</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Feasibility Assessment </a:t>
            </a:r>
            <a:endParaRPr lang="en-US" dirty="0"/>
          </a:p>
        </p:txBody>
      </p:sp>
      <p:sp>
        <p:nvSpPr>
          <p:cNvPr id="3" name="Content Placeholder 2"/>
          <p:cNvSpPr>
            <a:spLocks noGrp="1"/>
          </p:cNvSpPr>
          <p:nvPr>
            <p:ph idx="1"/>
          </p:nvPr>
        </p:nvSpPr>
        <p:spPr/>
        <p:txBody>
          <a:bodyPr/>
          <a:lstStyle/>
          <a:p>
            <a:r>
              <a:rPr lang="en-US" b="1" dirty="0"/>
              <a:t>Budget Feasibility </a:t>
            </a:r>
            <a:r>
              <a:rPr lang="en-US" dirty="0"/>
              <a:t>(Economic Feasibility</a:t>
            </a:r>
            <a:r>
              <a:rPr lang="en-US" dirty="0"/>
              <a:t>)</a:t>
            </a:r>
          </a:p>
          <a:p>
            <a:r>
              <a:rPr lang="en-US" b="1" dirty="0"/>
              <a:t>Time Feasibility </a:t>
            </a:r>
            <a:r>
              <a:rPr lang="en-US" dirty="0"/>
              <a:t>(Schedule Feasibility)</a:t>
            </a:r>
            <a:endParaRPr lang="en-US" b="1" dirty="0"/>
          </a:p>
          <a:p>
            <a:r>
              <a:rPr lang="en-US" b="1" dirty="0"/>
              <a:t>Business </a:t>
            </a:r>
            <a:r>
              <a:rPr lang="en-US" b="1" dirty="0"/>
              <a:t>Feasibility</a:t>
            </a:r>
          </a:p>
          <a:p>
            <a:pPr lvl="1"/>
            <a:r>
              <a:rPr lang="en-US" b="1" dirty="0"/>
              <a:t>Potential benefits</a:t>
            </a:r>
          </a:p>
          <a:p>
            <a:pPr lvl="1"/>
            <a:r>
              <a:rPr lang="en-US" b="1" dirty="0"/>
              <a:t>Possible Revenue sources</a:t>
            </a:r>
          </a:p>
          <a:p>
            <a:r>
              <a:rPr lang="en-US" b="1" dirty="0"/>
              <a:t>Technical Feasibility</a:t>
            </a:r>
          </a:p>
          <a:p>
            <a:pPr lvl="1"/>
            <a:r>
              <a:rPr lang="en-US" dirty="0"/>
              <a:t>whether the technology exists to implement the system</a:t>
            </a:r>
            <a:r>
              <a:rPr lang="en-US" dirty="0"/>
              <a:t>.</a:t>
            </a:r>
            <a:endParaRPr lang="en-US" dirty="0"/>
          </a:p>
        </p:txBody>
      </p:sp>
    </p:spTree>
    <p:extLst>
      <p:ext uri="{BB962C8B-B14F-4D97-AF65-F5344CB8AC3E}">
        <p14:creationId xmlns:p14="http://schemas.microsoft.com/office/powerpoint/2010/main" val="3696343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071153"/>
          </a:xfrm>
        </p:spPr>
        <p:txBody>
          <a:bodyPr/>
          <a:lstStyle/>
          <a:p>
            <a:r>
              <a:rPr lang="en-US" b="1" dirty="0"/>
              <a:t>Stakeholder Identification</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835794861"/>
              </p:ext>
            </p:extLst>
          </p:nvPr>
        </p:nvGraphicFramePr>
        <p:xfrm>
          <a:off x="786720" y="2217114"/>
          <a:ext cx="7521258" cy="2468880"/>
        </p:xfrm>
        <a:graphic>
          <a:graphicData uri="http://schemas.openxmlformats.org/drawingml/2006/table">
            <a:tbl>
              <a:tblPr>
                <a:tableStyleId>{69CF1AB2-1976-4502-BF36-3FF5EA218861}</a:tableStyleId>
              </a:tblPr>
              <a:tblGrid>
                <a:gridCol w="3760629">
                  <a:extLst>
                    <a:ext uri="{9D8B030D-6E8A-4147-A177-3AD203B41FA5}">
                      <a16:colId xmlns:a16="http://schemas.microsoft.com/office/drawing/2014/main" val="3341468032"/>
                    </a:ext>
                  </a:extLst>
                </a:gridCol>
                <a:gridCol w="3760629">
                  <a:extLst>
                    <a:ext uri="{9D8B030D-6E8A-4147-A177-3AD203B41FA5}">
                      <a16:colId xmlns:a16="http://schemas.microsoft.com/office/drawing/2014/main" val="2381366162"/>
                    </a:ext>
                  </a:extLst>
                </a:gridCol>
              </a:tblGrid>
              <a:tr h="264134">
                <a:tc>
                  <a:txBody>
                    <a:bodyPr/>
                    <a:lstStyle/>
                    <a:p>
                      <a:r>
                        <a:rPr lang="en-US" sz="1800" dirty="0"/>
                        <a:t>Stakeholder</a:t>
                      </a:r>
                    </a:p>
                  </a:txBody>
                  <a:tcPr anchor="ctr"/>
                </a:tc>
                <a:tc>
                  <a:txBody>
                    <a:bodyPr/>
                    <a:lstStyle/>
                    <a:p>
                      <a:r>
                        <a:rPr lang="en-US" sz="1800"/>
                        <a:t>Role</a:t>
                      </a:r>
                    </a:p>
                  </a:txBody>
                  <a:tcPr anchor="ctr"/>
                </a:tc>
                <a:extLst>
                  <a:ext uri="{0D108BD9-81ED-4DB2-BD59-A6C34878D82A}">
                    <a16:rowId xmlns:a16="http://schemas.microsoft.com/office/drawing/2014/main" val="1347723317"/>
                  </a:ext>
                </a:extLst>
              </a:tr>
              <a:tr h="264134">
                <a:tc>
                  <a:txBody>
                    <a:bodyPr/>
                    <a:lstStyle/>
                    <a:p>
                      <a:r>
                        <a:rPr lang="en-US" sz="1800"/>
                        <a:t>Drivers</a:t>
                      </a:r>
                    </a:p>
                  </a:txBody>
                  <a:tcPr anchor="ctr"/>
                </a:tc>
                <a:tc>
                  <a:txBody>
                    <a:bodyPr/>
                    <a:lstStyle/>
                    <a:p>
                      <a:r>
                        <a:rPr lang="en-US" sz="1800"/>
                        <a:t>Use mobile app to find parking</a:t>
                      </a:r>
                    </a:p>
                  </a:txBody>
                  <a:tcPr anchor="ctr"/>
                </a:tc>
                <a:extLst>
                  <a:ext uri="{0D108BD9-81ED-4DB2-BD59-A6C34878D82A}">
                    <a16:rowId xmlns:a16="http://schemas.microsoft.com/office/drawing/2014/main" val="1500037607"/>
                  </a:ext>
                </a:extLst>
              </a:tr>
              <a:tr h="264134">
                <a:tc>
                  <a:txBody>
                    <a:bodyPr/>
                    <a:lstStyle/>
                    <a:p>
                      <a:r>
                        <a:rPr lang="en-US" sz="1800" dirty="0"/>
                        <a:t>Parking Authority</a:t>
                      </a:r>
                    </a:p>
                  </a:txBody>
                  <a:tcPr anchor="ctr"/>
                </a:tc>
                <a:tc>
                  <a:txBody>
                    <a:bodyPr/>
                    <a:lstStyle/>
                    <a:p>
                      <a:r>
                        <a:rPr lang="en-US" sz="1800"/>
                        <a:t>Manage parking infrastructure</a:t>
                      </a:r>
                    </a:p>
                  </a:txBody>
                  <a:tcPr anchor="ctr"/>
                </a:tc>
                <a:extLst>
                  <a:ext uri="{0D108BD9-81ED-4DB2-BD59-A6C34878D82A}">
                    <a16:rowId xmlns:a16="http://schemas.microsoft.com/office/drawing/2014/main" val="792420055"/>
                  </a:ext>
                </a:extLst>
              </a:tr>
              <a:tr h="264134">
                <a:tc>
                  <a:txBody>
                    <a:bodyPr/>
                    <a:lstStyle/>
                    <a:p>
                      <a:r>
                        <a:rPr lang="en-US" sz="1800"/>
                        <a:t>City Administration</a:t>
                      </a:r>
                    </a:p>
                  </a:txBody>
                  <a:tcPr anchor="ctr"/>
                </a:tc>
                <a:tc>
                  <a:txBody>
                    <a:bodyPr/>
                    <a:lstStyle/>
                    <a:p>
                      <a:r>
                        <a:rPr lang="en-US" sz="1800"/>
                        <a:t>Monitor traffic and parking utilization</a:t>
                      </a:r>
                    </a:p>
                  </a:txBody>
                  <a:tcPr anchor="ctr"/>
                </a:tc>
                <a:extLst>
                  <a:ext uri="{0D108BD9-81ED-4DB2-BD59-A6C34878D82A}">
                    <a16:rowId xmlns:a16="http://schemas.microsoft.com/office/drawing/2014/main" val="1292705960"/>
                  </a:ext>
                </a:extLst>
              </a:tr>
              <a:tr h="462234">
                <a:tc>
                  <a:txBody>
                    <a:bodyPr/>
                    <a:lstStyle/>
                    <a:p>
                      <a:r>
                        <a:rPr lang="en-US" sz="1800"/>
                        <a:t>Parking Attendants</a:t>
                      </a:r>
                    </a:p>
                  </a:txBody>
                  <a:tcPr anchor="ctr"/>
                </a:tc>
                <a:tc>
                  <a:txBody>
                    <a:bodyPr/>
                    <a:lstStyle/>
                    <a:p>
                      <a:r>
                        <a:rPr lang="en-US" sz="1800"/>
                        <a:t>Assist drivers and maintain parking areas</a:t>
                      </a:r>
                    </a:p>
                  </a:txBody>
                  <a:tcPr anchor="ctr"/>
                </a:tc>
                <a:extLst>
                  <a:ext uri="{0D108BD9-81ED-4DB2-BD59-A6C34878D82A}">
                    <a16:rowId xmlns:a16="http://schemas.microsoft.com/office/drawing/2014/main" val="596832951"/>
                  </a:ext>
                </a:extLst>
              </a:tr>
              <a:tr h="264134">
                <a:tc>
                  <a:txBody>
                    <a:bodyPr/>
                    <a:lstStyle/>
                    <a:p>
                      <a:r>
                        <a:rPr lang="en-US" sz="1800" dirty="0"/>
                        <a:t>System Administrators</a:t>
                      </a:r>
                    </a:p>
                  </a:txBody>
                  <a:tcPr anchor="ctr"/>
                </a:tc>
                <a:tc>
                  <a:txBody>
                    <a:bodyPr/>
                    <a:lstStyle/>
                    <a:p>
                      <a:r>
                        <a:rPr lang="en-US" sz="1800" dirty="0"/>
                        <a:t>Maintain system operations</a:t>
                      </a:r>
                    </a:p>
                  </a:txBody>
                  <a:tcPr anchor="ctr"/>
                </a:tc>
                <a:extLst>
                  <a:ext uri="{0D108BD9-81ED-4DB2-BD59-A6C34878D82A}">
                    <a16:rowId xmlns:a16="http://schemas.microsoft.com/office/drawing/2014/main" val="2028747000"/>
                  </a:ext>
                </a:extLst>
              </a:tr>
            </a:tbl>
          </a:graphicData>
        </a:graphic>
      </p:graphicFrame>
      <p:sp>
        <p:nvSpPr>
          <p:cNvPr id="7" name="Rectangle 6"/>
          <p:cNvSpPr/>
          <p:nvPr/>
        </p:nvSpPr>
        <p:spPr>
          <a:xfrm>
            <a:off x="786720" y="1688068"/>
            <a:ext cx="2330574" cy="369332"/>
          </a:xfrm>
          <a:prstGeom prst="rect">
            <a:avLst/>
          </a:prstGeom>
        </p:spPr>
        <p:txBody>
          <a:bodyPr wrap="none">
            <a:spAutoFit/>
          </a:bodyPr>
          <a:lstStyle/>
          <a:p>
            <a:r>
              <a:rPr lang="en-US" b="1" dirty="0"/>
              <a:t>Primary Stakeholders</a:t>
            </a:r>
          </a:p>
        </p:txBody>
      </p:sp>
      <p:sp>
        <p:nvSpPr>
          <p:cNvPr id="8" name="Rectangle 7"/>
          <p:cNvSpPr/>
          <p:nvPr/>
        </p:nvSpPr>
        <p:spPr>
          <a:xfrm>
            <a:off x="786720" y="4845708"/>
            <a:ext cx="2383473" cy="369332"/>
          </a:xfrm>
          <a:prstGeom prst="rect">
            <a:avLst/>
          </a:prstGeom>
        </p:spPr>
        <p:txBody>
          <a:bodyPr wrap="none">
            <a:spAutoFit/>
          </a:bodyPr>
          <a:lstStyle/>
          <a:p>
            <a:r>
              <a:rPr lang="en-US" b="1" dirty="0"/>
              <a:t>External Stakeholders</a:t>
            </a:r>
          </a:p>
        </p:txBody>
      </p:sp>
      <p:graphicFrame>
        <p:nvGraphicFramePr>
          <p:cNvPr id="9" name="Table 8"/>
          <p:cNvGraphicFramePr>
            <a:graphicFrameLocks noGrp="1"/>
          </p:cNvGraphicFramePr>
          <p:nvPr>
            <p:extLst>
              <p:ext uri="{D42A27DB-BD31-4B8C-83A1-F6EECF244321}">
                <p14:modId xmlns:p14="http://schemas.microsoft.com/office/powerpoint/2010/main" val="3846918522"/>
              </p:ext>
            </p:extLst>
          </p:nvPr>
        </p:nvGraphicFramePr>
        <p:xfrm>
          <a:off x="786720" y="5259586"/>
          <a:ext cx="7704136" cy="1463040"/>
        </p:xfrm>
        <a:graphic>
          <a:graphicData uri="http://schemas.openxmlformats.org/drawingml/2006/table">
            <a:tbl>
              <a:tblPr>
                <a:tableStyleId>{69CF1AB2-1976-4502-BF36-3FF5EA218861}</a:tableStyleId>
              </a:tblPr>
              <a:tblGrid>
                <a:gridCol w="3852068">
                  <a:extLst>
                    <a:ext uri="{9D8B030D-6E8A-4147-A177-3AD203B41FA5}">
                      <a16:colId xmlns:a16="http://schemas.microsoft.com/office/drawing/2014/main" val="3180661621"/>
                    </a:ext>
                  </a:extLst>
                </a:gridCol>
                <a:gridCol w="3852068">
                  <a:extLst>
                    <a:ext uri="{9D8B030D-6E8A-4147-A177-3AD203B41FA5}">
                      <a16:colId xmlns:a16="http://schemas.microsoft.com/office/drawing/2014/main" val="3321369993"/>
                    </a:ext>
                  </a:extLst>
                </a:gridCol>
              </a:tblGrid>
              <a:tr h="365760">
                <a:tc>
                  <a:txBody>
                    <a:bodyPr/>
                    <a:lstStyle/>
                    <a:p>
                      <a:r>
                        <a:rPr lang="en-US" sz="1800"/>
                        <a:t>Stakeholder</a:t>
                      </a:r>
                    </a:p>
                  </a:txBody>
                  <a:tcPr anchor="ctr"/>
                </a:tc>
                <a:tc>
                  <a:txBody>
                    <a:bodyPr/>
                    <a:lstStyle/>
                    <a:p>
                      <a:r>
                        <a:rPr lang="en-US" sz="1800"/>
                        <a:t>Role</a:t>
                      </a:r>
                    </a:p>
                  </a:txBody>
                  <a:tcPr anchor="ctr"/>
                </a:tc>
                <a:extLst>
                  <a:ext uri="{0D108BD9-81ED-4DB2-BD59-A6C34878D82A}">
                    <a16:rowId xmlns:a16="http://schemas.microsoft.com/office/drawing/2014/main" val="2073900154"/>
                  </a:ext>
                </a:extLst>
              </a:tr>
              <a:tr h="365760">
                <a:tc>
                  <a:txBody>
                    <a:bodyPr/>
                    <a:lstStyle/>
                    <a:p>
                      <a:r>
                        <a:rPr lang="en-US" sz="1800"/>
                        <a:t>Payment Gateway Providers</a:t>
                      </a:r>
                    </a:p>
                  </a:txBody>
                  <a:tcPr anchor="ctr"/>
                </a:tc>
                <a:tc>
                  <a:txBody>
                    <a:bodyPr/>
                    <a:lstStyle/>
                    <a:p>
                      <a:r>
                        <a:rPr lang="en-US" sz="1800"/>
                        <a:t>Process digital payments</a:t>
                      </a:r>
                    </a:p>
                  </a:txBody>
                  <a:tcPr anchor="ctr"/>
                </a:tc>
                <a:extLst>
                  <a:ext uri="{0D108BD9-81ED-4DB2-BD59-A6C34878D82A}">
                    <a16:rowId xmlns:a16="http://schemas.microsoft.com/office/drawing/2014/main" val="3891578000"/>
                  </a:ext>
                </a:extLst>
              </a:tr>
              <a:tr h="365760">
                <a:tc>
                  <a:txBody>
                    <a:bodyPr/>
                    <a:lstStyle/>
                    <a:p>
                      <a:r>
                        <a:rPr lang="en-US" sz="1800"/>
                        <a:t>Mobile Network Providers</a:t>
                      </a:r>
                    </a:p>
                  </a:txBody>
                  <a:tcPr anchor="ctr"/>
                </a:tc>
                <a:tc>
                  <a:txBody>
                    <a:bodyPr/>
                    <a:lstStyle/>
                    <a:p>
                      <a:r>
                        <a:rPr lang="en-US" sz="1800"/>
                        <a:t>Provide internet connectivity</a:t>
                      </a:r>
                    </a:p>
                  </a:txBody>
                  <a:tcPr anchor="ctr"/>
                </a:tc>
                <a:extLst>
                  <a:ext uri="{0D108BD9-81ED-4DB2-BD59-A6C34878D82A}">
                    <a16:rowId xmlns:a16="http://schemas.microsoft.com/office/drawing/2014/main" val="2934616548"/>
                  </a:ext>
                </a:extLst>
              </a:tr>
              <a:tr h="365760">
                <a:tc>
                  <a:txBody>
                    <a:bodyPr/>
                    <a:lstStyle/>
                    <a:p>
                      <a:r>
                        <a:rPr lang="en-US" sz="1800" dirty="0"/>
                        <a:t>Hardware Vendors</a:t>
                      </a:r>
                    </a:p>
                  </a:txBody>
                  <a:tcPr anchor="ctr"/>
                </a:tc>
                <a:tc>
                  <a:txBody>
                    <a:bodyPr/>
                    <a:lstStyle/>
                    <a:p>
                      <a:r>
                        <a:rPr lang="en-US" sz="1800" dirty="0"/>
                        <a:t>Provide parking sensors and cameras</a:t>
                      </a:r>
                    </a:p>
                  </a:txBody>
                  <a:tcPr anchor="ctr"/>
                </a:tc>
                <a:extLst>
                  <a:ext uri="{0D108BD9-81ED-4DB2-BD59-A6C34878D82A}">
                    <a16:rowId xmlns:a16="http://schemas.microsoft.com/office/drawing/2014/main" val="1651561674"/>
                  </a:ext>
                </a:extLst>
              </a:tr>
            </a:tbl>
          </a:graphicData>
        </a:graphic>
      </p:graphicFrame>
    </p:spTree>
    <p:extLst>
      <p:ext uri="{BB962C8B-B14F-4D97-AF65-F5344CB8AC3E}">
        <p14:creationId xmlns:p14="http://schemas.microsoft.com/office/powerpoint/2010/main" val="111551992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267096"/>
          </a:xfrm>
        </p:spPr>
        <p:txBody>
          <a:bodyPr/>
          <a:lstStyle/>
          <a:p>
            <a:r>
              <a:rPr lang="en-US" dirty="0"/>
              <a:t>Initial System Features</a:t>
            </a:r>
          </a:p>
        </p:txBody>
      </p:sp>
      <p:sp>
        <p:nvSpPr>
          <p:cNvPr id="3" name="Content Placeholder 2"/>
          <p:cNvSpPr>
            <a:spLocks noGrp="1"/>
          </p:cNvSpPr>
          <p:nvPr>
            <p:ph idx="1"/>
          </p:nvPr>
        </p:nvSpPr>
        <p:spPr>
          <a:xfrm>
            <a:off x="982133" y="1972491"/>
            <a:ext cx="7704667" cy="4454435"/>
          </a:xfrm>
        </p:spPr>
        <p:txBody>
          <a:bodyPr>
            <a:normAutofit fontScale="92500" lnSpcReduction="10000"/>
          </a:bodyPr>
          <a:lstStyle/>
          <a:p>
            <a:pPr marL="0" indent="0">
              <a:buNone/>
            </a:pPr>
            <a:r>
              <a:rPr lang="en-US" dirty="0"/>
              <a:t>During inception, </a:t>
            </a:r>
            <a:r>
              <a:rPr lang="en-US" dirty="0"/>
              <a:t>only </a:t>
            </a:r>
            <a:r>
              <a:rPr lang="en-US" b="1" dirty="0"/>
              <a:t>high-level features</a:t>
            </a:r>
            <a:r>
              <a:rPr lang="en-US" dirty="0"/>
              <a:t> are </a:t>
            </a:r>
            <a:r>
              <a:rPr lang="en-US" dirty="0"/>
              <a:t>identified.</a:t>
            </a:r>
          </a:p>
          <a:p>
            <a:r>
              <a:rPr lang="en-US" b="1" dirty="0"/>
              <a:t>Major System Features</a:t>
            </a:r>
          </a:p>
          <a:p>
            <a:pPr lvl="1"/>
            <a:r>
              <a:rPr lang="en-US" dirty="0"/>
              <a:t>Real-Time Parking </a:t>
            </a:r>
            <a:r>
              <a:rPr lang="en-US" dirty="0"/>
              <a:t>Availability : Sensors </a:t>
            </a:r>
            <a:r>
              <a:rPr lang="en-US" dirty="0"/>
              <a:t>detect whether parking spots are occupied.</a:t>
            </a:r>
          </a:p>
          <a:p>
            <a:pPr lvl="1"/>
            <a:r>
              <a:rPr lang="en-US" dirty="0"/>
              <a:t>Parking </a:t>
            </a:r>
            <a:r>
              <a:rPr lang="en-US" dirty="0"/>
              <a:t>Search: Drivers </a:t>
            </a:r>
            <a:r>
              <a:rPr lang="en-US" dirty="0"/>
              <a:t>can search nearby parking areas.</a:t>
            </a:r>
          </a:p>
          <a:p>
            <a:pPr lvl="1"/>
            <a:r>
              <a:rPr lang="en-US" dirty="0"/>
              <a:t>Parking </a:t>
            </a:r>
            <a:r>
              <a:rPr lang="en-US" dirty="0"/>
              <a:t>Reservation: Drivers </a:t>
            </a:r>
            <a:r>
              <a:rPr lang="en-US" dirty="0"/>
              <a:t>can reserve a spot before arrival.</a:t>
            </a:r>
          </a:p>
          <a:p>
            <a:pPr lvl="1"/>
            <a:r>
              <a:rPr lang="en-US" dirty="0"/>
              <a:t>Navigation </a:t>
            </a:r>
            <a:r>
              <a:rPr lang="en-US" dirty="0"/>
              <a:t>Support: Drivers </a:t>
            </a:r>
            <a:r>
              <a:rPr lang="en-US" dirty="0"/>
              <a:t>receive directions to the parking spot.</a:t>
            </a:r>
          </a:p>
          <a:p>
            <a:pPr lvl="1"/>
            <a:r>
              <a:rPr lang="en-US" dirty="0"/>
              <a:t>Online </a:t>
            </a:r>
            <a:r>
              <a:rPr lang="en-US" dirty="0"/>
              <a:t>Payment: Digital </a:t>
            </a:r>
            <a:r>
              <a:rPr lang="en-US" dirty="0"/>
              <a:t>payment via mobile app.</a:t>
            </a:r>
          </a:p>
          <a:p>
            <a:pPr lvl="1"/>
            <a:r>
              <a:rPr lang="en-US" dirty="0"/>
              <a:t>Parking </a:t>
            </a:r>
            <a:r>
              <a:rPr lang="en-US" dirty="0"/>
              <a:t>Notifications: Alerts </a:t>
            </a:r>
            <a:r>
              <a:rPr lang="en-US" dirty="0"/>
              <a:t>for reservation confirmation and parking expiration.</a:t>
            </a:r>
          </a:p>
          <a:p>
            <a:pPr lvl="1"/>
            <a:r>
              <a:rPr lang="en-US" dirty="0"/>
              <a:t>Admin </a:t>
            </a:r>
            <a:r>
              <a:rPr lang="en-US" dirty="0"/>
              <a:t>Dashboard: Parking </a:t>
            </a:r>
            <a:r>
              <a:rPr lang="en-US" dirty="0"/>
              <a:t>authorities can monitor occupancy and revenue.</a:t>
            </a:r>
          </a:p>
        </p:txBody>
      </p:sp>
    </p:spTree>
    <p:extLst>
      <p:ext uri="{BB962C8B-B14F-4D97-AF65-F5344CB8AC3E}">
        <p14:creationId xmlns:p14="http://schemas.microsoft.com/office/powerpoint/2010/main" val="378176364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fe0cad8fcec74e47"/>
          <a:stretch>
            <a:fillRect/>
          </a:stretch>
        </p:blipFill>
        <p:spPr>
          <a:xfrm>
            <a:off x="0" y="699910"/>
            <a:ext cx="9024974" cy="4926719"/>
          </a:xfrm>
          <a:prstGeom prst="rect">
            <a:avLst/>
          </a:prstGeom>
        </p:spPr>
      </p:pic>
    </p:spTree>
    <p:extLst>
      <p:ext uri="{BB962C8B-B14F-4D97-AF65-F5344CB8AC3E}">
        <p14:creationId xmlns:p14="http://schemas.microsoft.com/office/powerpoint/2010/main" val="385085167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Risk Identification</a:t>
            </a:r>
          </a:p>
        </p:txBody>
      </p:sp>
      <p:sp>
        <p:nvSpPr>
          <p:cNvPr id="3" name="Content Placeholder 2"/>
          <p:cNvSpPr>
            <a:spLocks noGrp="1"/>
          </p:cNvSpPr>
          <p:nvPr>
            <p:ph idx="1"/>
          </p:nvPr>
        </p:nvSpPr>
        <p:spPr/>
        <p:txBody>
          <a:bodyPr>
            <a:normAutofit fontScale="92500" lnSpcReduction="10000"/>
          </a:bodyPr>
          <a:lstStyle/>
          <a:p>
            <a:r>
              <a:rPr lang="en-US" dirty="0"/>
              <a:t>Early </a:t>
            </a:r>
            <a:r>
              <a:rPr lang="en-US" dirty="0"/>
              <a:t>risks are identified during inception.</a:t>
            </a:r>
          </a:p>
          <a:p>
            <a:r>
              <a:rPr lang="en-US" b="1" dirty="0"/>
              <a:t>Possible Risks</a:t>
            </a:r>
          </a:p>
          <a:p>
            <a:pPr lvl="1"/>
            <a:r>
              <a:rPr lang="en-US" dirty="0"/>
              <a:t>Sensor failure leading to incorrect parking </a:t>
            </a:r>
            <a:r>
              <a:rPr lang="en-US" dirty="0"/>
              <a:t>data</a:t>
            </a:r>
          </a:p>
          <a:p>
            <a:pPr lvl="1"/>
            <a:r>
              <a:rPr lang="en-US" dirty="0"/>
              <a:t>Poor </a:t>
            </a:r>
            <a:r>
              <a:rPr lang="en-US" dirty="0"/>
              <a:t>internet </a:t>
            </a:r>
            <a:r>
              <a:rPr lang="en-US" dirty="0"/>
              <a:t>connectivity</a:t>
            </a:r>
          </a:p>
          <a:p>
            <a:pPr lvl="1"/>
            <a:r>
              <a:rPr lang="en-US" dirty="0"/>
              <a:t>User </a:t>
            </a:r>
            <a:r>
              <a:rPr lang="en-US" dirty="0"/>
              <a:t>resistance to new </a:t>
            </a:r>
            <a:r>
              <a:rPr lang="en-US" dirty="0"/>
              <a:t>technology</a:t>
            </a:r>
          </a:p>
          <a:p>
            <a:pPr lvl="1"/>
            <a:r>
              <a:rPr lang="en-US" dirty="0"/>
              <a:t>Security </a:t>
            </a:r>
            <a:r>
              <a:rPr lang="en-US" dirty="0"/>
              <a:t>risks in online payment systems</a:t>
            </a:r>
          </a:p>
          <a:p>
            <a:r>
              <a:rPr lang="en-US" dirty="0"/>
              <a:t>Early risk identification allows teams to </a:t>
            </a:r>
            <a:r>
              <a:rPr lang="en-US" b="1" dirty="0"/>
              <a:t>prepare mitigation strategies later</a:t>
            </a:r>
            <a:r>
              <a:rPr lang="en-US" dirty="0"/>
              <a:t>.</a:t>
            </a:r>
          </a:p>
        </p:txBody>
      </p:sp>
    </p:spTree>
    <p:extLst>
      <p:ext uri="{BB962C8B-B14F-4D97-AF65-F5344CB8AC3E}">
        <p14:creationId xmlns:p14="http://schemas.microsoft.com/office/powerpoint/2010/main" val="120692033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2: Elicitation</a:t>
            </a:r>
          </a:p>
        </p:txBody>
      </p:sp>
      <p:sp>
        <p:nvSpPr>
          <p:cNvPr id="3" name="Content Placeholder 2"/>
          <p:cNvSpPr>
            <a:spLocks noGrp="1"/>
          </p:cNvSpPr>
          <p:nvPr>
            <p:ph idx="1"/>
          </p:nvPr>
        </p:nvSpPr>
        <p:spPr>
          <a:xfrm>
            <a:off x="982132" y="2438401"/>
            <a:ext cx="7704667" cy="4088673"/>
          </a:xfrm>
        </p:spPr>
        <p:txBody>
          <a:bodyPr>
            <a:normAutofit fontScale="92500"/>
          </a:bodyPr>
          <a:lstStyle/>
          <a:p>
            <a:r>
              <a:rPr b="1" dirty="0"/>
              <a:t>Objective: </a:t>
            </a:r>
            <a:r>
              <a:rPr dirty="0"/>
              <a:t>Gather detailed requirements from stakeholders</a:t>
            </a:r>
          </a:p>
          <a:p>
            <a:r>
              <a:rPr lang="en-US" b="1" dirty="0"/>
              <a:t>Techniques:</a:t>
            </a:r>
            <a:endParaRPr b="1" dirty="0"/>
          </a:p>
          <a:p>
            <a:pPr lvl="1"/>
            <a:r>
              <a:rPr dirty="0"/>
              <a:t>Interviews</a:t>
            </a:r>
            <a:endParaRPr dirty="0"/>
          </a:p>
          <a:p>
            <a:pPr lvl="1"/>
            <a:r>
              <a:rPr dirty="0"/>
              <a:t> </a:t>
            </a:r>
            <a:r>
              <a:rPr dirty="0"/>
              <a:t>Questionnaires</a:t>
            </a:r>
          </a:p>
          <a:p>
            <a:pPr lvl="1"/>
            <a:r>
              <a:rPr dirty="0"/>
              <a:t> </a:t>
            </a:r>
            <a:r>
              <a:rPr dirty="0"/>
              <a:t>Observation</a:t>
            </a:r>
          </a:p>
          <a:p>
            <a:pPr lvl="1"/>
            <a:r>
              <a:rPr dirty="0"/>
              <a:t> </a:t>
            </a:r>
            <a:r>
              <a:rPr dirty="0"/>
              <a:t>Workshops</a:t>
            </a:r>
          </a:p>
          <a:p>
            <a:pPr lvl="1"/>
            <a:r>
              <a:rPr dirty="0"/>
              <a:t> </a:t>
            </a:r>
            <a:r>
              <a:rPr dirty="0"/>
              <a:t>Prototyping</a:t>
            </a:r>
          </a:p>
          <a:p>
            <a:pPr lvl="1"/>
            <a:r>
              <a:rPr dirty="0"/>
              <a:t> </a:t>
            </a:r>
            <a:r>
              <a:rPr dirty="0"/>
              <a:t>Use </a:t>
            </a:r>
            <a:r>
              <a:rPr dirty="0"/>
              <a:t>cases</a:t>
            </a:r>
            <a:endParaRPr lang="en-US" dirty="0"/>
          </a:p>
          <a:p>
            <a:pPr marL="0" indent="0">
              <a:buNone/>
            </a:pPr>
            <a:r>
              <a:rPr lang="en-US" dirty="0"/>
              <a:t>.</a:t>
            </a:r>
            <a:endParaRPr lang="en-US" dirty="0"/>
          </a:p>
          <a:p>
            <a:endParaRPr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Elicitation</a:t>
            </a:r>
          </a:p>
        </p:txBody>
      </p:sp>
      <p:sp>
        <p:nvSpPr>
          <p:cNvPr id="3" name="Content Placeholder 2"/>
          <p:cNvSpPr>
            <a:spLocks noGrp="1"/>
          </p:cNvSpPr>
          <p:nvPr>
            <p:ph idx="1"/>
          </p:nvPr>
        </p:nvSpPr>
        <p:spPr/>
        <p:txBody>
          <a:bodyPr/>
          <a:lstStyle/>
          <a:p>
            <a:r>
              <a:rPr dirty="0"/>
              <a:t> </a:t>
            </a:r>
            <a:r>
              <a:rPr dirty="0"/>
              <a:t>Stakeholders unsure of what they want</a:t>
            </a:r>
          </a:p>
          <a:p>
            <a:r>
              <a:rPr dirty="0"/>
              <a:t>Conflicting </a:t>
            </a:r>
            <a:r>
              <a:rPr dirty="0"/>
              <a:t>needs</a:t>
            </a:r>
          </a:p>
          <a:p>
            <a:r>
              <a:rPr dirty="0"/>
              <a:t> </a:t>
            </a:r>
            <a:r>
              <a:rPr dirty="0"/>
              <a:t>Communication barriers</a:t>
            </a:r>
          </a:p>
          <a:p>
            <a:r>
              <a:rPr dirty="0"/>
              <a:t> </a:t>
            </a:r>
            <a:r>
              <a:rPr dirty="0"/>
              <a:t>Changing requirements</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Elicitation Results (Smart Parking)</a:t>
            </a:r>
          </a:p>
        </p:txBody>
      </p:sp>
      <p:sp>
        <p:nvSpPr>
          <p:cNvPr id="3" name="Content Placeholder 2"/>
          <p:cNvSpPr>
            <a:spLocks noGrp="1"/>
          </p:cNvSpPr>
          <p:nvPr>
            <p:ph idx="1"/>
          </p:nvPr>
        </p:nvSpPr>
        <p:spPr>
          <a:xfrm>
            <a:off x="1112761" y="2438401"/>
            <a:ext cx="7704667" cy="4001199"/>
          </a:xfrm>
        </p:spPr>
        <p:txBody>
          <a:bodyPr>
            <a:normAutofit fontScale="92500" lnSpcReduction="20000"/>
          </a:bodyPr>
          <a:lstStyle/>
          <a:p>
            <a:pPr marL="0" indent="0">
              <a:buNone/>
            </a:pPr>
            <a:r>
              <a:rPr lang="en-US" dirty="0"/>
              <a:t>Findings </a:t>
            </a:r>
            <a:r>
              <a:rPr lang="en-US" dirty="0"/>
              <a:t>from stakeholder discussions:</a:t>
            </a:r>
          </a:p>
          <a:p>
            <a:pPr marL="0" indent="0">
              <a:buNone/>
            </a:pPr>
            <a:r>
              <a:rPr lang="en-US" b="1" dirty="0"/>
              <a:t>Drivers need:</a:t>
            </a:r>
          </a:p>
          <a:p>
            <a:r>
              <a:rPr lang="en-US" dirty="0"/>
              <a:t>Real-time parking availability</a:t>
            </a:r>
          </a:p>
          <a:p>
            <a:r>
              <a:rPr lang="en-US" dirty="0"/>
              <a:t>Navigation to available parking</a:t>
            </a:r>
          </a:p>
          <a:p>
            <a:r>
              <a:rPr lang="en-US" dirty="0"/>
              <a:t>Online payment option</a:t>
            </a:r>
          </a:p>
          <a:p>
            <a:pPr marL="0" indent="0">
              <a:buNone/>
            </a:pPr>
            <a:r>
              <a:rPr lang="en-US" b="1" dirty="0"/>
              <a:t>Parking authorities need:</a:t>
            </a:r>
          </a:p>
          <a:p>
            <a:r>
              <a:rPr lang="en-US" dirty="0"/>
              <a:t>Parking usage reports</a:t>
            </a:r>
          </a:p>
          <a:p>
            <a:r>
              <a:rPr lang="en-US" dirty="0"/>
              <a:t>Monitoring of parking occupancy</a:t>
            </a:r>
          </a:p>
          <a:p>
            <a:r>
              <a:rPr lang="en-US" dirty="0"/>
              <a:t>Revenue tracking</a:t>
            </a:r>
          </a:p>
          <a:p>
            <a:endParaRPr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358536"/>
          </a:xfrm>
        </p:spPr>
        <p:txBody>
          <a:bodyPr/>
          <a:lstStyle/>
          <a:p>
            <a:r>
              <a:rPr lang="en-US" b="1" dirty="0"/>
              <a:t>Phase </a:t>
            </a:r>
            <a:r>
              <a:rPr lang="en-US" b="1" dirty="0"/>
              <a:t>3: Elaboration</a:t>
            </a:r>
            <a:endParaRPr lang="en-US" b="1" dirty="0"/>
          </a:p>
        </p:txBody>
      </p:sp>
      <p:sp>
        <p:nvSpPr>
          <p:cNvPr id="3" name="Content Placeholder 2"/>
          <p:cNvSpPr>
            <a:spLocks noGrp="1"/>
          </p:cNvSpPr>
          <p:nvPr>
            <p:ph idx="1"/>
          </p:nvPr>
        </p:nvSpPr>
        <p:spPr>
          <a:xfrm>
            <a:off x="982133" y="2259874"/>
            <a:ext cx="7704667" cy="4349932"/>
          </a:xfrm>
        </p:spPr>
        <p:txBody>
          <a:bodyPr>
            <a:normAutofit fontScale="92500"/>
          </a:bodyPr>
          <a:lstStyle/>
          <a:p>
            <a:r>
              <a:rPr lang="en-US" dirty="0"/>
              <a:t>Elaboration refines the collected requirements and develops </a:t>
            </a:r>
            <a:r>
              <a:rPr lang="en-US" b="1" dirty="0"/>
              <a:t>detailed requirement models using UML</a:t>
            </a:r>
            <a:r>
              <a:rPr lang="en-US" dirty="0"/>
              <a:t>.</a:t>
            </a:r>
          </a:p>
          <a:p>
            <a:pPr marL="0" indent="0">
              <a:buNone/>
            </a:pPr>
            <a:r>
              <a:rPr lang="en-US" dirty="0"/>
              <a:t>Activities include:</a:t>
            </a:r>
          </a:p>
          <a:p>
            <a:r>
              <a:rPr lang="en-US" dirty="0"/>
              <a:t>Developing use case models</a:t>
            </a:r>
          </a:p>
          <a:p>
            <a:r>
              <a:rPr lang="en-US" dirty="0"/>
              <a:t>Identifying system actors</a:t>
            </a:r>
          </a:p>
          <a:p>
            <a:r>
              <a:rPr lang="en-US" dirty="0"/>
              <a:t>Defining system interactions</a:t>
            </a:r>
          </a:p>
          <a:p>
            <a:r>
              <a:rPr lang="en-US" dirty="0"/>
              <a:t>Understanding functional workflows</a:t>
            </a:r>
          </a:p>
          <a:p>
            <a:pPr marL="0" indent="0">
              <a:buNone/>
            </a:pPr>
            <a:r>
              <a:rPr lang="en-US" b="1" dirty="0"/>
              <a:t>Goal</a:t>
            </a:r>
            <a:endParaRPr lang="en-US" dirty="0"/>
          </a:p>
          <a:p>
            <a:r>
              <a:rPr lang="en-US" dirty="0"/>
              <a:t>Transform raw requirements into </a:t>
            </a:r>
            <a:r>
              <a:rPr lang="en-US" b="1" dirty="0"/>
              <a:t>structured system models</a:t>
            </a:r>
            <a:r>
              <a:rPr lang="en-US" dirty="0"/>
              <a:t>.</a:t>
            </a:r>
          </a:p>
          <a:p>
            <a:endParaRPr lang="en-US" dirty="0"/>
          </a:p>
        </p:txBody>
      </p:sp>
    </p:spTree>
    <p:extLst>
      <p:ext uri="{BB962C8B-B14F-4D97-AF65-F5344CB8AC3E}">
        <p14:creationId xmlns:p14="http://schemas.microsoft.com/office/powerpoint/2010/main" val="381801601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31cb8b6762aa42d1">
            <a:extLst>
              <a:ext uri="{28A0092B-C50C-407E-A947-70E740481C1C}">
                <a14:useLocalDpi xmlns:a14="http://schemas.microsoft.com/office/drawing/2010/main" val="0"/>
              </a:ext>
            </a:extLst>
          </a:blip>
          <a:stretch>
            <a:fillRect/>
          </a:stretch>
        </p:blipFill>
        <p:spPr>
          <a:xfrm>
            <a:off x="90510" y="1138519"/>
            <a:ext cx="9121586" cy="4975411"/>
          </a:xfrm>
        </p:spPr>
      </p:pic>
    </p:spTree>
    <p:extLst>
      <p:ext uri="{BB962C8B-B14F-4D97-AF65-F5344CB8AC3E}">
        <p14:creationId xmlns:p14="http://schemas.microsoft.com/office/powerpoint/2010/main" val="6014564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40525"/>
          </a:xfrm>
        </p:spPr>
        <p:txBody>
          <a:bodyPr/>
          <a:lstStyle/>
          <a:p>
            <a:r>
              <a:rPr lang="en-US" b="1" dirty="0"/>
              <a:t>Use Case Model for Smart Parking</a:t>
            </a:r>
          </a:p>
        </p:txBody>
      </p:sp>
      <p:sp>
        <p:nvSpPr>
          <p:cNvPr id="3" name="Content Placeholder 2"/>
          <p:cNvSpPr>
            <a:spLocks noGrp="1"/>
          </p:cNvSpPr>
          <p:nvPr>
            <p:ph idx="1"/>
          </p:nvPr>
        </p:nvSpPr>
        <p:spPr>
          <a:xfrm>
            <a:off x="1018903" y="1397727"/>
            <a:ext cx="7667897" cy="5460274"/>
          </a:xfrm>
        </p:spPr>
        <p:txBody>
          <a:bodyPr>
            <a:noAutofit/>
          </a:bodyPr>
          <a:lstStyle/>
          <a:p>
            <a:pPr marL="0" indent="0">
              <a:buNone/>
            </a:pPr>
            <a:r>
              <a:rPr lang="en-US" b="1" dirty="0"/>
              <a:t>Actors</a:t>
            </a:r>
            <a:endParaRPr lang="en-US" dirty="0"/>
          </a:p>
          <a:p>
            <a:r>
              <a:rPr lang="en-US" dirty="0"/>
              <a:t>Driver, Parking Admin, System</a:t>
            </a:r>
            <a:endParaRPr lang="en-US" dirty="0"/>
          </a:p>
          <a:p>
            <a:pPr marL="0" indent="0">
              <a:buNone/>
            </a:pPr>
            <a:r>
              <a:rPr lang="en-US" b="1" dirty="0"/>
              <a:t>Main Use Cases</a:t>
            </a:r>
            <a:endParaRPr lang="en-US" dirty="0"/>
          </a:p>
          <a:p>
            <a:pPr marL="0" indent="0">
              <a:buNone/>
            </a:pPr>
            <a:r>
              <a:rPr lang="en-US" dirty="0"/>
              <a:t>Driver:</a:t>
            </a:r>
          </a:p>
          <a:p>
            <a:r>
              <a:rPr lang="en-US" dirty="0"/>
              <a:t>Search </a:t>
            </a:r>
            <a:r>
              <a:rPr lang="en-US" dirty="0"/>
              <a:t>parking,  Reserve </a:t>
            </a:r>
            <a:r>
              <a:rPr lang="en-US" dirty="0"/>
              <a:t>parking </a:t>
            </a:r>
            <a:r>
              <a:rPr lang="en-US" dirty="0"/>
              <a:t>space, Make payment, Receive notifications</a:t>
            </a:r>
            <a:endParaRPr lang="en-US" dirty="0"/>
          </a:p>
          <a:p>
            <a:pPr marL="0" indent="0">
              <a:buNone/>
            </a:pPr>
            <a:r>
              <a:rPr lang="en-US" dirty="0"/>
              <a:t>Admin:</a:t>
            </a:r>
          </a:p>
          <a:p>
            <a:r>
              <a:rPr lang="en-US" dirty="0"/>
              <a:t>Manage parking </a:t>
            </a:r>
            <a:r>
              <a:rPr lang="en-US" dirty="0"/>
              <a:t>spaces, Monitor </a:t>
            </a:r>
            <a:r>
              <a:rPr lang="en-US" dirty="0"/>
              <a:t>parking </a:t>
            </a:r>
            <a:r>
              <a:rPr lang="en-US" dirty="0"/>
              <a:t>usage,  Generate reports</a:t>
            </a:r>
          </a:p>
          <a:p>
            <a:pPr marL="0" indent="0">
              <a:buNone/>
            </a:pPr>
            <a:r>
              <a:rPr lang="en-US" dirty="0"/>
              <a:t>Use case diagrams help visualize </a:t>
            </a:r>
            <a:r>
              <a:rPr lang="en-US" b="1" dirty="0"/>
              <a:t>how users interact with the system</a:t>
            </a:r>
            <a:r>
              <a:rPr lang="en-US" dirty="0"/>
              <a:t>.</a:t>
            </a:r>
          </a:p>
          <a:p>
            <a:endParaRPr lang="en-US" dirty="0"/>
          </a:p>
        </p:txBody>
      </p:sp>
    </p:spTree>
    <p:extLst>
      <p:ext uri="{BB962C8B-B14F-4D97-AF65-F5344CB8AC3E}">
        <p14:creationId xmlns:p14="http://schemas.microsoft.com/office/powerpoint/2010/main" val="190703067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Phase 4: Negotiation</a:t>
            </a:r>
          </a:p>
        </p:txBody>
      </p:sp>
      <p:sp>
        <p:nvSpPr>
          <p:cNvPr id="3" name="Content Placeholder 2"/>
          <p:cNvSpPr>
            <a:spLocks noGrp="1"/>
          </p:cNvSpPr>
          <p:nvPr>
            <p:ph idx="1"/>
          </p:nvPr>
        </p:nvSpPr>
        <p:spPr/>
        <p:txBody>
          <a:bodyPr>
            <a:normAutofit fontScale="85000" lnSpcReduction="10000"/>
          </a:bodyPr>
          <a:lstStyle/>
          <a:p>
            <a:r>
              <a:rPr lang="en-US" dirty="0"/>
              <a:t>Sometimes </a:t>
            </a:r>
            <a:r>
              <a:rPr lang="en-US" dirty="0"/>
              <a:t>stakeholder requirements </a:t>
            </a:r>
            <a:r>
              <a:rPr lang="en-US" b="1" dirty="0"/>
              <a:t>conflict with each other</a:t>
            </a:r>
            <a:r>
              <a:rPr lang="en-US" dirty="0"/>
              <a:t>.</a:t>
            </a:r>
          </a:p>
          <a:p>
            <a:r>
              <a:rPr lang="en-US" dirty="0"/>
              <a:t>Negotiation resolves these conflicts.</a:t>
            </a:r>
          </a:p>
          <a:p>
            <a:pPr marL="0" indent="0">
              <a:buNone/>
            </a:pPr>
            <a:r>
              <a:rPr lang="en-US" b="1" dirty="0"/>
              <a:t>Example Conflict</a:t>
            </a:r>
            <a:endParaRPr lang="en-US" dirty="0"/>
          </a:p>
          <a:p>
            <a:r>
              <a:rPr lang="en-US" dirty="0"/>
              <a:t>Drivers want </a:t>
            </a:r>
            <a:r>
              <a:rPr lang="en-US" b="1" dirty="0"/>
              <a:t>long reservation times</a:t>
            </a:r>
            <a:r>
              <a:rPr lang="en-US" dirty="0"/>
              <a:t>.</a:t>
            </a:r>
          </a:p>
          <a:p>
            <a:r>
              <a:rPr lang="en-US" dirty="0"/>
              <a:t>Parking authority fears spaces will remain unused.</a:t>
            </a:r>
          </a:p>
          <a:p>
            <a:pPr marL="0" indent="0">
              <a:buNone/>
            </a:pPr>
            <a:r>
              <a:rPr lang="en-US" b="1" dirty="0"/>
              <a:t>Solution</a:t>
            </a:r>
            <a:endParaRPr lang="en-US" dirty="0"/>
          </a:p>
          <a:p>
            <a:r>
              <a:rPr lang="en-US" dirty="0"/>
              <a:t>Introduce </a:t>
            </a:r>
            <a:r>
              <a:rPr lang="en-US" b="1" dirty="0"/>
              <a:t>limited reservation duration (e.g., 10 minutes)</a:t>
            </a:r>
            <a:r>
              <a:rPr lang="en-US" dirty="0"/>
              <a:t>.</a:t>
            </a:r>
          </a:p>
          <a:p>
            <a:r>
              <a:rPr lang="en-US" dirty="0"/>
              <a:t>This ensures fairness and efficient space usage.</a:t>
            </a:r>
          </a:p>
        </p:txBody>
      </p:sp>
    </p:spTree>
    <p:extLst>
      <p:ext uri="{BB962C8B-B14F-4D97-AF65-F5344CB8AC3E}">
        <p14:creationId xmlns:p14="http://schemas.microsoft.com/office/powerpoint/2010/main" val="345143541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cb969b67c6374378"/>
          <a:stretch>
            <a:fillRect/>
          </a:stretch>
        </p:blipFill>
        <p:spPr>
          <a:xfrm>
            <a:off x="687768" y="1099127"/>
            <a:ext cx="7910162" cy="4802909"/>
          </a:xfrm>
          <a:prstGeom prst="rect">
            <a:avLst/>
          </a:prstGeom>
        </p:spPr>
      </p:pic>
    </p:spTree>
    <p:extLst>
      <p:ext uri="{BB962C8B-B14F-4D97-AF65-F5344CB8AC3E}">
        <p14:creationId xmlns:p14="http://schemas.microsoft.com/office/powerpoint/2010/main" val="6431852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541416"/>
          </a:xfrm>
        </p:spPr>
        <p:txBody>
          <a:bodyPr>
            <a:normAutofit/>
          </a:bodyPr>
          <a:lstStyle/>
          <a:p>
            <a:r>
              <a:rPr lang="en-US" sz="3600" b="1" dirty="0"/>
              <a:t>Phase 5: Requirements Specification</a:t>
            </a:r>
          </a:p>
        </p:txBody>
      </p:sp>
      <p:sp>
        <p:nvSpPr>
          <p:cNvPr id="3" name="Content Placeholder 2"/>
          <p:cNvSpPr>
            <a:spLocks noGrp="1"/>
          </p:cNvSpPr>
          <p:nvPr>
            <p:ph idx="1"/>
          </p:nvPr>
        </p:nvSpPr>
        <p:spPr>
          <a:xfrm>
            <a:off x="982133" y="1894114"/>
            <a:ext cx="7704667" cy="4105702"/>
          </a:xfrm>
        </p:spPr>
        <p:txBody>
          <a:bodyPr>
            <a:normAutofit/>
          </a:bodyPr>
          <a:lstStyle/>
          <a:p>
            <a:r>
              <a:rPr lang="en-US" dirty="0"/>
              <a:t>Specification </a:t>
            </a:r>
            <a:r>
              <a:rPr lang="en-US" dirty="0"/>
              <a:t>documents requirements in a </a:t>
            </a:r>
            <a:r>
              <a:rPr lang="en-US" b="1" dirty="0"/>
              <a:t>Software Requirement Specification (SRS)</a:t>
            </a:r>
            <a:r>
              <a:rPr lang="en-US" dirty="0"/>
              <a:t>.</a:t>
            </a:r>
          </a:p>
          <a:p>
            <a:pPr marL="0" indent="0">
              <a:buNone/>
            </a:pPr>
            <a:r>
              <a:rPr lang="en-US" dirty="0"/>
              <a:t>Two main types:</a:t>
            </a:r>
          </a:p>
          <a:p>
            <a:r>
              <a:rPr lang="en-US" b="1" dirty="0"/>
              <a:t>Functional </a:t>
            </a:r>
            <a:r>
              <a:rPr lang="en-US" b="1" dirty="0"/>
              <a:t>Requirements: </a:t>
            </a:r>
            <a:r>
              <a:rPr lang="en-US" dirty="0"/>
              <a:t>Describe </a:t>
            </a:r>
            <a:r>
              <a:rPr lang="en-US" dirty="0"/>
              <a:t>system behavior.</a:t>
            </a:r>
          </a:p>
          <a:p>
            <a:pPr lvl="1"/>
            <a:r>
              <a:rPr lang="en-US" dirty="0"/>
              <a:t>System </a:t>
            </a:r>
            <a:r>
              <a:rPr lang="en-US" dirty="0"/>
              <a:t>shall display available parking spots.</a:t>
            </a:r>
          </a:p>
          <a:p>
            <a:pPr lvl="1"/>
            <a:r>
              <a:rPr lang="en-US" dirty="0"/>
              <a:t>System shall allow drivers to reserve a slot.</a:t>
            </a:r>
          </a:p>
          <a:p>
            <a:pPr lvl="1"/>
            <a:r>
              <a:rPr lang="en-US" dirty="0"/>
              <a:t>System shall process online payments</a:t>
            </a:r>
          </a:p>
        </p:txBody>
      </p:sp>
    </p:spTree>
    <p:extLst>
      <p:ext uri="{BB962C8B-B14F-4D97-AF65-F5344CB8AC3E}">
        <p14:creationId xmlns:p14="http://schemas.microsoft.com/office/powerpoint/2010/main" val="157690372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489165"/>
          </a:xfrm>
        </p:spPr>
        <p:txBody>
          <a:bodyPr/>
          <a:lstStyle/>
          <a:p>
            <a:r>
              <a:rPr lang="en-US" b="1" dirty="0"/>
              <a:t>Non-Functional Requirements</a:t>
            </a:r>
          </a:p>
        </p:txBody>
      </p:sp>
      <p:sp>
        <p:nvSpPr>
          <p:cNvPr id="3" name="Content Placeholder 2"/>
          <p:cNvSpPr>
            <a:spLocks noGrp="1"/>
          </p:cNvSpPr>
          <p:nvPr>
            <p:ph idx="1"/>
          </p:nvPr>
        </p:nvSpPr>
        <p:spPr>
          <a:xfrm>
            <a:off x="982133" y="2168434"/>
            <a:ext cx="7704667" cy="3831382"/>
          </a:xfrm>
        </p:spPr>
        <p:txBody>
          <a:bodyPr/>
          <a:lstStyle/>
          <a:p>
            <a:r>
              <a:rPr lang="en-US" dirty="0"/>
              <a:t>Performance</a:t>
            </a:r>
            <a:r>
              <a:rPr lang="en-US" dirty="0"/>
              <a:t/>
            </a:r>
            <a:br>
              <a:rPr lang="en-US" dirty="0"/>
            </a:br>
            <a:r>
              <a:rPr lang="en-US" dirty="0"/>
              <a:t>Parking updates should occur within </a:t>
            </a:r>
            <a:r>
              <a:rPr lang="en-US" b="1" dirty="0"/>
              <a:t>3 seconds</a:t>
            </a:r>
            <a:r>
              <a:rPr lang="en-US" dirty="0"/>
              <a:t>.</a:t>
            </a:r>
          </a:p>
          <a:p>
            <a:r>
              <a:rPr lang="en-US" dirty="0"/>
              <a:t>Security</a:t>
            </a:r>
            <a:br>
              <a:rPr lang="en-US" dirty="0"/>
            </a:br>
            <a:r>
              <a:rPr lang="en-US" dirty="0"/>
              <a:t>Payment transactions must be encrypted.</a:t>
            </a:r>
          </a:p>
          <a:p>
            <a:r>
              <a:rPr lang="en-US" dirty="0"/>
              <a:t>Usability</a:t>
            </a:r>
            <a:br>
              <a:rPr lang="en-US" dirty="0"/>
            </a:br>
            <a:r>
              <a:rPr lang="en-US" dirty="0"/>
              <a:t>Users should locate parking within </a:t>
            </a:r>
            <a:r>
              <a:rPr lang="en-US" b="1" dirty="0"/>
              <a:t>3 clicks</a:t>
            </a:r>
            <a:r>
              <a:rPr lang="en-US" dirty="0"/>
              <a:t>.</a:t>
            </a:r>
          </a:p>
        </p:txBody>
      </p:sp>
    </p:spTree>
    <p:extLst>
      <p:ext uri="{BB962C8B-B14F-4D97-AF65-F5344CB8AC3E}">
        <p14:creationId xmlns:p14="http://schemas.microsoft.com/office/powerpoint/2010/main" val="224501880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003a82ed48434c6b"/>
          <a:stretch>
            <a:fillRect/>
          </a:stretch>
        </p:blipFill>
        <p:spPr>
          <a:xfrm>
            <a:off x="-77422" y="914400"/>
            <a:ext cx="8887516" cy="4851681"/>
          </a:xfrm>
          <a:prstGeom prst="rect">
            <a:avLst/>
          </a:prstGeom>
        </p:spPr>
      </p:pic>
    </p:spTree>
    <p:extLst>
      <p:ext uri="{BB962C8B-B14F-4D97-AF65-F5344CB8AC3E}">
        <p14:creationId xmlns:p14="http://schemas.microsoft.com/office/powerpoint/2010/main" val="62068451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031965"/>
          </a:xfrm>
        </p:spPr>
        <p:txBody>
          <a:bodyPr/>
          <a:lstStyle/>
          <a:p>
            <a:r>
              <a:rPr lang="en-US" b="1" dirty="0"/>
              <a:t>Phase 6: Requirements Validation</a:t>
            </a:r>
          </a:p>
        </p:txBody>
      </p:sp>
      <p:sp>
        <p:nvSpPr>
          <p:cNvPr id="3" name="Content Placeholder 2"/>
          <p:cNvSpPr>
            <a:spLocks noGrp="1"/>
          </p:cNvSpPr>
          <p:nvPr>
            <p:ph idx="1"/>
          </p:nvPr>
        </p:nvSpPr>
        <p:spPr>
          <a:xfrm>
            <a:off x="982133" y="1841863"/>
            <a:ext cx="7704667" cy="4157953"/>
          </a:xfrm>
        </p:spPr>
        <p:txBody>
          <a:bodyPr>
            <a:normAutofit fontScale="92500" lnSpcReduction="10000"/>
          </a:bodyPr>
          <a:lstStyle/>
          <a:p>
            <a:pPr marL="0" indent="0">
              <a:buNone/>
            </a:pPr>
            <a:r>
              <a:rPr lang="en-US" dirty="0"/>
              <a:t>Validation </a:t>
            </a:r>
            <a:r>
              <a:rPr lang="en-US" dirty="0"/>
              <a:t>ensures requirements are:</a:t>
            </a:r>
          </a:p>
          <a:p>
            <a:pPr lvl="1"/>
            <a:r>
              <a:rPr lang="en-US" dirty="0"/>
              <a:t>Correct, Complete, Consistent, Feasible</a:t>
            </a:r>
            <a:endParaRPr lang="en-US" dirty="0"/>
          </a:p>
          <a:p>
            <a:pPr marL="0" indent="0">
              <a:buNone/>
            </a:pPr>
            <a:r>
              <a:rPr lang="en-US" b="1" dirty="0"/>
              <a:t>Validation Techniques</a:t>
            </a:r>
            <a:endParaRPr lang="en-US" dirty="0"/>
          </a:p>
          <a:p>
            <a:pPr lvl="1"/>
            <a:r>
              <a:rPr lang="en-US" dirty="0"/>
              <a:t>Requirement reviews</a:t>
            </a:r>
          </a:p>
          <a:p>
            <a:pPr lvl="1"/>
            <a:r>
              <a:rPr lang="en-US" dirty="0"/>
              <a:t>Prototyping</a:t>
            </a:r>
          </a:p>
          <a:p>
            <a:pPr lvl="1"/>
            <a:r>
              <a:rPr lang="en-US" dirty="0"/>
              <a:t>Stakeholder meetings</a:t>
            </a:r>
          </a:p>
          <a:p>
            <a:pPr lvl="1"/>
            <a:r>
              <a:rPr lang="en-US" dirty="0"/>
              <a:t>Test case development</a:t>
            </a:r>
          </a:p>
          <a:p>
            <a:pPr marL="0" indent="0">
              <a:buNone/>
            </a:pPr>
            <a:r>
              <a:rPr lang="en-US" dirty="0"/>
              <a:t>Example:</a:t>
            </a:r>
          </a:p>
          <a:p>
            <a:r>
              <a:rPr lang="en-US" dirty="0"/>
              <a:t>A </a:t>
            </a:r>
            <a:r>
              <a:rPr lang="en-US" b="1" dirty="0"/>
              <a:t>prototype parking mobile app interface</a:t>
            </a:r>
            <a:r>
              <a:rPr lang="en-US" dirty="0"/>
              <a:t> is shown to drivers for feedback.</a:t>
            </a:r>
          </a:p>
        </p:txBody>
      </p:sp>
    </p:spTree>
    <p:extLst>
      <p:ext uri="{BB962C8B-B14F-4D97-AF65-F5344CB8AC3E}">
        <p14:creationId xmlns:p14="http://schemas.microsoft.com/office/powerpoint/2010/main" val="171229798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80109"/>
          </a:xfrm>
        </p:spPr>
        <p:txBody>
          <a:bodyPr>
            <a:normAutofit fontScale="90000"/>
          </a:bodyPr>
          <a:lstStyle/>
          <a:p>
            <a:r>
              <a:rPr lang="en-US" b="1" dirty="0"/>
              <a:t>Phase 7: Requirements Management</a:t>
            </a:r>
          </a:p>
        </p:txBody>
      </p:sp>
      <p:sp>
        <p:nvSpPr>
          <p:cNvPr id="3" name="Content Placeholder 2"/>
          <p:cNvSpPr>
            <a:spLocks noGrp="1"/>
          </p:cNvSpPr>
          <p:nvPr>
            <p:ph idx="1"/>
          </p:nvPr>
        </p:nvSpPr>
        <p:spPr>
          <a:xfrm>
            <a:off x="982133" y="1794510"/>
            <a:ext cx="7704667" cy="4205306"/>
          </a:xfrm>
        </p:spPr>
        <p:txBody>
          <a:bodyPr>
            <a:normAutofit fontScale="92500"/>
          </a:bodyPr>
          <a:lstStyle/>
          <a:p>
            <a:r>
              <a:rPr lang="en-US" dirty="0"/>
              <a:t>Requirements </a:t>
            </a:r>
            <a:r>
              <a:rPr lang="en-US" dirty="0"/>
              <a:t>change during development.</a:t>
            </a:r>
          </a:p>
          <a:p>
            <a:r>
              <a:rPr lang="en-US" dirty="0"/>
              <a:t>Management ensures changes are </a:t>
            </a:r>
            <a:r>
              <a:rPr lang="en-US" b="1" dirty="0"/>
              <a:t>tracked and controlled</a:t>
            </a:r>
            <a:r>
              <a:rPr lang="en-US" dirty="0"/>
              <a:t>.</a:t>
            </a:r>
          </a:p>
          <a:p>
            <a:pPr marL="0" indent="0">
              <a:buNone/>
            </a:pPr>
            <a:r>
              <a:rPr lang="en-US" dirty="0"/>
              <a:t>Activities include:</a:t>
            </a:r>
          </a:p>
          <a:p>
            <a:r>
              <a:rPr lang="en-US" dirty="0"/>
              <a:t>Change request management</a:t>
            </a:r>
          </a:p>
          <a:p>
            <a:r>
              <a:rPr lang="en-US" dirty="0"/>
              <a:t>Requirement version control</a:t>
            </a:r>
          </a:p>
          <a:p>
            <a:r>
              <a:rPr lang="en-US" dirty="0"/>
              <a:t>Traceability tracking</a:t>
            </a:r>
          </a:p>
          <a:p>
            <a:pPr marL="0" indent="0">
              <a:buNone/>
            </a:pPr>
            <a:r>
              <a:rPr lang="en-US" dirty="0"/>
              <a:t>Example Change</a:t>
            </a:r>
          </a:p>
          <a:p>
            <a:r>
              <a:rPr lang="en-US" dirty="0"/>
              <a:t>City authorities request </a:t>
            </a:r>
            <a:r>
              <a:rPr lang="en-US" b="1" dirty="0"/>
              <a:t>EV charging parking spots</a:t>
            </a:r>
            <a:r>
              <a:rPr lang="en-US" dirty="0"/>
              <a:t> to be integrated into the system.</a:t>
            </a:r>
          </a:p>
        </p:txBody>
      </p:sp>
    </p:spTree>
    <p:extLst>
      <p:ext uri="{BB962C8B-B14F-4D97-AF65-F5344CB8AC3E}">
        <p14:creationId xmlns:p14="http://schemas.microsoft.com/office/powerpoint/2010/main" val="252194127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 Traceability Example</a:t>
            </a:r>
          </a:p>
        </p:txBody>
      </p:sp>
      <p:sp>
        <p:nvSpPr>
          <p:cNvPr id="3" name="Content Placeholder 2"/>
          <p:cNvSpPr>
            <a:spLocks noGrp="1"/>
          </p:cNvSpPr>
          <p:nvPr>
            <p:ph idx="1"/>
          </p:nvPr>
        </p:nvSpPr>
        <p:spPr/>
        <p:txBody>
          <a:bodyPr>
            <a:normAutofit fontScale="85000" lnSpcReduction="10000"/>
          </a:bodyPr>
          <a:lstStyle/>
          <a:p>
            <a:r>
              <a:rPr lang="en-US" dirty="0"/>
              <a:t>Traceability </a:t>
            </a:r>
            <a:r>
              <a:rPr lang="en-US" dirty="0"/>
              <a:t>connects requirements with design and testing.</a:t>
            </a:r>
          </a:p>
          <a:p>
            <a:pPr marL="0" indent="0">
              <a:buNone/>
            </a:pPr>
            <a:r>
              <a:rPr lang="en-US" dirty="0"/>
              <a:t>Example</a:t>
            </a:r>
          </a:p>
          <a:p>
            <a:r>
              <a:rPr lang="en-US" dirty="0"/>
              <a:t>Requirement: Driver </a:t>
            </a:r>
            <a:r>
              <a:rPr lang="en-US" dirty="0"/>
              <a:t>can reserve parking slot</a:t>
            </a:r>
          </a:p>
          <a:p>
            <a:pPr marL="0" indent="0">
              <a:buNone/>
            </a:pPr>
            <a:r>
              <a:rPr lang="en-US" dirty="0"/>
              <a:t>Linked to</a:t>
            </a:r>
          </a:p>
          <a:p>
            <a:r>
              <a:rPr lang="en-US" dirty="0"/>
              <a:t>Use Case: Reserve Parking</a:t>
            </a:r>
          </a:p>
          <a:p>
            <a:r>
              <a:rPr lang="en-US" dirty="0"/>
              <a:t>Module: Reservation System</a:t>
            </a:r>
          </a:p>
          <a:p>
            <a:r>
              <a:rPr lang="en-US" dirty="0"/>
              <a:t>Test Case: Parking Reservation Test</a:t>
            </a:r>
          </a:p>
          <a:p>
            <a:pPr marL="0" indent="0">
              <a:buNone/>
            </a:pPr>
            <a:r>
              <a:rPr lang="en-US" dirty="0"/>
              <a:t>Traceability ensures </a:t>
            </a:r>
            <a:r>
              <a:rPr lang="en-US" b="1" dirty="0"/>
              <a:t>every requirement is implemented and tested</a:t>
            </a:r>
            <a:r>
              <a:rPr lang="en-US" dirty="0"/>
              <a:t>.</a:t>
            </a:r>
          </a:p>
        </p:txBody>
      </p:sp>
    </p:spTree>
    <p:extLst>
      <p:ext uri="{BB962C8B-B14F-4D97-AF65-F5344CB8AC3E}">
        <p14:creationId xmlns:p14="http://schemas.microsoft.com/office/powerpoint/2010/main" val="325035060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491" y="457201"/>
            <a:ext cx="8401050" cy="1280159"/>
          </a:xfrm>
        </p:spPr>
        <p:txBody>
          <a:bodyPr>
            <a:normAutofit fontScale="90000"/>
          </a:bodyPr>
          <a:lstStyle/>
          <a:p>
            <a:r>
              <a:rPr lang="en-US" dirty="0"/>
              <a:t>Traceability matrix (Smart Parking System)</a:t>
            </a:r>
            <a:endParaRPr lang="en-US" dirty="0"/>
          </a:p>
        </p:txBody>
      </p:sp>
      <p:pic>
        <p:nvPicPr>
          <p:cNvPr id="5" name="Content Placeholder 4"/>
          <p:cNvPicPr>
            <a:picLocks noGrp="1" noChangeAspect="1"/>
          </p:cNvPicPr>
          <p:nvPr>
            <p:ph idx="1"/>
          </p:nvPr>
        </p:nvPicPr>
        <p:blipFill>
          <a:blip r:embed="R309c084933424262"/>
          <a:stretch>
            <a:fillRect/>
          </a:stretch>
        </p:blipFill>
        <p:spPr>
          <a:xfrm>
            <a:off x="491491" y="2034540"/>
            <a:ext cx="8195309" cy="3943864"/>
          </a:xfrm>
          <a:prstGeom prst="rect">
            <a:avLst/>
          </a:prstGeom>
        </p:spPr>
      </p:pic>
    </p:spTree>
    <p:extLst>
      <p:ext uri="{BB962C8B-B14F-4D97-AF65-F5344CB8AC3E}">
        <p14:creationId xmlns:p14="http://schemas.microsoft.com/office/powerpoint/2010/main" val="104609605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5c0516b06d064a62">
            <a:extLst>
              <a:ext uri="{28A0092B-C50C-407E-A947-70E740481C1C}">
                <a14:useLocalDpi xmlns:a14="http://schemas.microsoft.com/office/drawing/2010/main" val="0"/>
              </a:ext>
            </a:extLst>
          </a:blip>
          <a:stretch>
            <a:fillRect/>
          </a:stretch>
        </p:blipFill>
        <p:spPr>
          <a:xfrm>
            <a:off x="335358" y="994410"/>
            <a:ext cx="8545751" cy="5697168"/>
          </a:xfr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Mini Project / </a:t>
            </a:r>
            <a:r>
              <a:rPr lang="en-US"/>
              <a:t>Class Activity</a:t>
            </a:r>
            <a:endParaRPr dirty="0"/>
          </a:p>
        </p:txBody>
      </p:sp>
      <p:sp>
        <p:nvSpPr>
          <p:cNvPr id="3" name="Content Placeholder 2"/>
          <p:cNvSpPr>
            <a:spLocks noGrp="1"/>
          </p:cNvSpPr>
          <p:nvPr>
            <p:ph idx="1"/>
          </p:nvPr>
        </p:nvSpPr>
        <p:spPr/>
        <p:txBody>
          <a:bodyPr/>
          <a:lstStyle/>
          <a:p>
            <a:r>
              <a:rPr dirty="0"/>
              <a:t>Choose a simple system:</a:t>
            </a:r>
          </a:p>
          <a:p>
            <a:r>
              <a:rPr dirty="0"/>
              <a:t> </a:t>
            </a:r>
            <a:r>
              <a:rPr dirty="0"/>
              <a:t>Identify stakeholders &amp; define inception summary</a:t>
            </a:r>
          </a:p>
          <a:p>
            <a:r>
              <a:rPr/>
              <a:t> </a:t>
            </a:r>
            <a:r>
              <a:rPr dirty="0"/>
              <a:t>Apply one elicitation technique (interview/questionnaire)</a:t>
            </a:r>
          </a:p>
          <a:p>
            <a:r>
              <a:rPr/>
              <a:t> </a:t>
            </a:r>
            <a:r>
              <a:rPr dirty="0"/>
              <a:t>Document findings</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Goal-Oriented Requirements Engineering (GORE)</a:t>
            </a:r>
            <a:endParaRPr dirty="0"/>
          </a:p>
        </p:txBody>
      </p:sp>
      <p:sp>
        <p:nvSpPr>
          <p:cNvPr id="3" name="Subtitle 2"/>
          <p:cNvSpPr>
            <a:spLocks noGrp="1"/>
          </p:cNvSpPr>
          <p:nvPr>
            <p:ph type="subTitle" idx="1"/>
          </p:nvPr>
        </p:nvSpPr>
        <p:spPr>
          <a:xfrm>
            <a:off x="2924238" y="4402666"/>
            <a:ext cx="5762563" cy="711201"/>
          </a:xfrm>
        </p:spPr>
        <p:txBody>
          <a:bodyPr/>
          <a:lstStyle/>
          <a:p>
            <a:r>
              <a:rPr lang="en-US" dirty="0"/>
              <a:t>Understanding the "Why" </a:t>
            </a:r>
            <a:r>
              <a:rPr lang="en-US" dirty="0"/>
              <a:t>behind </a:t>
            </a:r>
            <a:r>
              <a:rPr lang="en-US" dirty="0"/>
              <a:t>the </a:t>
            </a:r>
            <a:r>
              <a:rPr lang="en-US" dirty="0"/>
              <a:t>System</a:t>
            </a:r>
            <a:endParaRPr dirty="0"/>
          </a:p>
        </p:txBody>
      </p:sp>
      <p:sp>
        <p:nvSpPr>
          <p:cNvPr id="4" name="TextBox 3"/>
          <p:cNvSpPr txBox="1"/>
          <p:nvPr/>
        </p:nvSpPr>
        <p:spPr>
          <a:xfrm flipH="1">
            <a:off x="6175586" y="5305778"/>
            <a:ext cx="2222180" cy="369332"/>
          </a:xfrm>
          <a:prstGeom prst="rect">
            <a:avLst/>
          </a:prstGeom>
          <a:noFill/>
        </p:spPr>
        <p:txBody>
          <a:bodyPr wrap="square" rtlCol="0">
            <a:spAutoFit/>
          </a:bodyPr>
          <a:lstStyle/>
          <a:p>
            <a:r>
              <a:rPr lang="en-US" dirty="0"/>
              <a:t>Ms. Shehla Saeed</a:t>
            </a:r>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r>
              <a:t>Understand Goal-Oriented Requirements Engineering</a:t>
            </a:r>
          </a:p>
          <a:p>
            <a:r>
              <a:t>Identify goals, tasks, and softgoals</a:t>
            </a:r>
          </a:p>
          <a:p>
            <a:r>
              <a:t>Learn goal modeling techniques</a:t>
            </a:r>
          </a:p>
          <a:p>
            <a:r>
              <a:t>Convert goals into requirements</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141112"/>
            <a:ext cx="7704667" cy="1473199"/>
          </a:xfrm>
        </p:spPr>
        <p:txBody>
          <a:bodyPr/>
          <a:lstStyle/>
          <a:p>
            <a:r>
              <a:rPr lang="en-US" b="1" dirty="0"/>
              <a:t>What is Goal-Oriented RE?</a:t>
            </a:r>
          </a:p>
        </p:txBody>
      </p:sp>
      <p:sp>
        <p:nvSpPr>
          <p:cNvPr id="3" name="Content Placeholder 2"/>
          <p:cNvSpPr>
            <a:spLocks noGrp="1"/>
          </p:cNvSpPr>
          <p:nvPr>
            <p:ph idx="1"/>
          </p:nvPr>
        </p:nvSpPr>
        <p:spPr>
          <a:xfrm>
            <a:off x="699911" y="1919112"/>
            <a:ext cx="7874000" cy="4572000"/>
          </a:xfrm>
        </p:spPr>
        <p:txBody>
          <a:bodyPr>
            <a:normAutofit fontScale="55000" lnSpcReduction="20000"/>
          </a:bodyPr>
          <a:lstStyle/>
          <a:p>
            <a:pPr marL="0" indent="0">
              <a:buNone/>
            </a:pPr>
            <a:r>
              <a:rPr lang="en-US" sz="3300" b="1" dirty="0"/>
              <a:t>The Paradigm Shift:</a:t>
            </a:r>
            <a:r>
              <a:rPr lang="en-US" sz="3300" dirty="0"/>
              <a:t> </a:t>
            </a:r>
            <a:endParaRPr lang="en-US" sz="3300" dirty="0"/>
          </a:p>
          <a:p>
            <a:pPr marL="0" indent="0">
              <a:buNone/>
            </a:pPr>
            <a:r>
              <a:rPr lang="en-US" sz="3300" dirty="0"/>
              <a:t>Traditional </a:t>
            </a:r>
            <a:r>
              <a:rPr lang="en-US" sz="3300" dirty="0"/>
              <a:t>RE focuses on system features </a:t>
            </a:r>
            <a:r>
              <a:rPr lang="en-US" sz="3300" dirty="0"/>
              <a:t>("</a:t>
            </a:r>
            <a:r>
              <a:rPr lang="en-US" sz="3300" b="1" dirty="0"/>
              <a:t>what </a:t>
            </a:r>
            <a:r>
              <a:rPr lang="en-US" sz="3300" b="1" dirty="0"/>
              <a:t>the system should do </a:t>
            </a:r>
            <a:r>
              <a:rPr lang="en-US" sz="3300" dirty="0"/>
              <a:t>"). </a:t>
            </a:r>
            <a:r>
              <a:rPr lang="en-US" sz="3300" dirty="0"/>
              <a:t>GORE focuses on the intentions and rationale </a:t>
            </a:r>
            <a:r>
              <a:rPr lang="en-US" sz="3300" dirty="0"/>
              <a:t>("</a:t>
            </a:r>
            <a:r>
              <a:rPr lang="en-US" sz="3300" b="1" dirty="0"/>
              <a:t> why it should do it </a:t>
            </a:r>
            <a:r>
              <a:rPr lang="en-US" sz="3300" dirty="0"/>
              <a:t>").</a:t>
            </a:r>
            <a:endParaRPr lang="en-US" sz="3300" dirty="0"/>
          </a:p>
          <a:p>
            <a:pPr marL="0" indent="0">
              <a:buNone/>
            </a:pPr>
            <a:endParaRPr lang="en-US" sz="3300" dirty="0"/>
          </a:p>
          <a:p>
            <a:pPr marL="0" indent="0">
              <a:buNone/>
            </a:pPr>
            <a:r>
              <a:rPr lang="en-US" sz="3300" dirty="0"/>
              <a:t>In GORE</a:t>
            </a:r>
            <a:endParaRPr lang="en-US" sz="3300" dirty="0"/>
          </a:p>
          <a:p>
            <a:r>
              <a:rPr lang="en-US" sz="3300" b="1" dirty="0"/>
              <a:t>Stakeholders’ </a:t>
            </a:r>
            <a:r>
              <a:rPr lang="en-US" sz="3300" b="1" dirty="0"/>
              <a:t>objectives/goals </a:t>
            </a:r>
            <a:r>
              <a:rPr lang="en-US" sz="3300" b="1" dirty="0"/>
              <a:t>are identified first</a:t>
            </a:r>
            <a:endParaRPr lang="en-US" sz="3300" dirty="0"/>
          </a:p>
          <a:p>
            <a:r>
              <a:rPr lang="en-US" sz="3300" dirty="0"/>
              <a:t>Requirements are derived from these goals</a:t>
            </a:r>
          </a:p>
          <a:p>
            <a:r>
              <a:rPr lang="en-US" sz="3300" dirty="0"/>
              <a:t>Focus is on </a:t>
            </a:r>
            <a:r>
              <a:rPr lang="en-US" sz="3300" b="1" dirty="0"/>
              <a:t>why the system is needed</a:t>
            </a:r>
            <a:endParaRPr lang="en-US" sz="3300" dirty="0"/>
          </a:p>
          <a:p>
            <a:pPr marL="0" indent="0">
              <a:buNone/>
            </a:pPr>
            <a:r>
              <a:rPr lang="en-US" sz="3300" dirty="0"/>
              <a:t>Example</a:t>
            </a:r>
            <a:r>
              <a:rPr lang="en-US" sz="3300" dirty="0"/>
              <a:t>:</a:t>
            </a:r>
          </a:p>
          <a:p>
            <a:r>
              <a:rPr lang="en-US" sz="3300" b="1" dirty="0"/>
              <a:t>Goal</a:t>
            </a:r>
            <a:r>
              <a:rPr lang="en-US" sz="3300" dirty="0"/>
              <a:t/>
            </a:r>
            <a:br>
              <a:rPr lang="en-US" sz="3300" dirty="0"/>
            </a:br>
            <a:r>
              <a:rPr lang="en-US" sz="3300" dirty="0"/>
              <a:t>Improve parking availability in the city</a:t>
            </a:r>
          </a:p>
          <a:p>
            <a:r>
              <a:rPr lang="en-US" sz="3300" b="1" dirty="0"/>
              <a:t>Requirement</a:t>
            </a:r>
            <a:r>
              <a:rPr lang="en-US" sz="3300" dirty="0"/>
              <a:t/>
            </a:r>
            <a:br>
              <a:rPr lang="en-US" sz="3300" dirty="0"/>
            </a:br>
            <a:r>
              <a:rPr lang="en-US" sz="3300" dirty="0"/>
              <a:t>System should display real-time parking availability.</a:t>
            </a:r>
          </a:p>
          <a:p>
            <a:endParaRPr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Use Goal Models?</a:t>
            </a:r>
          </a:p>
        </p:txBody>
      </p:sp>
      <p:sp>
        <p:nvSpPr>
          <p:cNvPr id="3" name="Content Placeholder 2"/>
          <p:cNvSpPr>
            <a:spLocks noGrp="1"/>
          </p:cNvSpPr>
          <p:nvPr>
            <p:ph idx="1"/>
          </p:nvPr>
        </p:nvSpPr>
        <p:spPr/>
        <p:txBody>
          <a:bodyPr>
            <a:normAutofit fontScale="92500" lnSpcReduction="10000"/>
          </a:bodyPr>
          <a:lstStyle/>
          <a:p>
            <a:r>
              <a:rPr lang="en-US" b="1" dirty="0"/>
              <a:t>Requirements </a:t>
            </a:r>
            <a:r>
              <a:rPr lang="en-US" b="1" dirty="0"/>
              <a:t>Elicitation:</a:t>
            </a:r>
            <a:r>
              <a:rPr lang="en-US" dirty="0"/>
              <a:t> Helps discover hidden requirements by repeatedly asking "Why?" and "How?".</a:t>
            </a:r>
          </a:p>
          <a:p>
            <a:r>
              <a:rPr lang="en-US" b="1" dirty="0"/>
              <a:t>Traceability:</a:t>
            </a:r>
            <a:r>
              <a:rPr lang="en-US" dirty="0"/>
              <a:t> Provides a clear link from high-level business strategy down to low-level technical implementation.</a:t>
            </a:r>
          </a:p>
          <a:p>
            <a:r>
              <a:rPr lang="en-US" b="1" dirty="0"/>
              <a:t>Conflict Resolution:</a:t>
            </a:r>
            <a:r>
              <a:rPr lang="en-US" dirty="0"/>
              <a:t> Helps identify conflicting goals early (e.g., "High Security" vs. "Easy to Use") so stakeholders can negotiate trade-offs.</a:t>
            </a:r>
          </a:p>
          <a:p>
            <a:r>
              <a:rPr lang="en-US" b="1" dirty="0"/>
              <a:t>Completeness:</a:t>
            </a:r>
            <a:r>
              <a:rPr lang="en-US" dirty="0"/>
              <a:t> Ensures every implemented feature is actually tied to a business </a:t>
            </a:r>
            <a:r>
              <a:rPr lang="en-US" dirty="0"/>
              <a:t>need (preventing gold-plating).</a:t>
            </a:r>
            <a:endParaRPr lang="en-US" dirty="0"/>
          </a:p>
        </p:txBody>
      </p:sp>
    </p:spTree>
    <p:extLst>
      <p:ext uri="{BB962C8B-B14F-4D97-AF65-F5344CB8AC3E}">
        <p14:creationId xmlns:p14="http://schemas.microsoft.com/office/powerpoint/2010/main" val="417158513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Goal in RE?</a:t>
            </a:r>
          </a:p>
        </p:txBody>
      </p:sp>
      <p:sp>
        <p:nvSpPr>
          <p:cNvPr id="3" name="Content Placeholder 2"/>
          <p:cNvSpPr>
            <a:spLocks noGrp="1"/>
          </p:cNvSpPr>
          <p:nvPr>
            <p:ph idx="1"/>
          </p:nvPr>
        </p:nvSpPr>
        <p:spPr/>
        <p:txBody>
          <a:bodyPr>
            <a:normAutofit lnSpcReduction="10000"/>
          </a:bodyPr>
          <a:lstStyle/>
          <a:p>
            <a:r>
              <a:rPr lang="en-US" b="1" dirty="0"/>
              <a:t>Definition</a:t>
            </a:r>
            <a:r>
              <a:rPr lang="en-US" b="1" dirty="0"/>
              <a:t>:</a:t>
            </a:r>
            <a:r>
              <a:rPr lang="en-US" dirty="0"/>
              <a:t> A goal is an objective that the system under consideration should achieve</a:t>
            </a:r>
            <a:r>
              <a:rPr lang="en-US" dirty="0"/>
              <a:t>.</a:t>
            </a:r>
          </a:p>
          <a:p>
            <a:r>
              <a:rPr lang="en-US" dirty="0"/>
              <a:t>Stakeholder intentions are captured as goals</a:t>
            </a:r>
          </a:p>
          <a:p>
            <a:r>
              <a:rPr lang="en-US" dirty="0"/>
              <a:t>Requirements are derived from these goals</a:t>
            </a:r>
          </a:p>
          <a:p>
            <a:r>
              <a:rPr lang="en-US" b="1" dirty="0"/>
              <a:t>Scope</a:t>
            </a:r>
            <a:r>
              <a:rPr lang="en-US" b="1" dirty="0"/>
              <a:t>:</a:t>
            </a:r>
            <a:r>
              <a:rPr lang="en-US" dirty="0"/>
              <a:t> Goals can range from high-level strategic business objectives (e.g., " Improve parking management ") to low-level technical requirements (e.g., " Detect free parking slots ").</a:t>
            </a:r>
          </a:p>
        </p:txBody>
      </p:sp>
    </p:spTree>
    <p:extLst>
      <p:ext uri="{BB962C8B-B14F-4D97-AF65-F5344CB8AC3E}">
        <p14:creationId xmlns:p14="http://schemas.microsoft.com/office/powerpoint/2010/main" val="110446634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Goals</a:t>
            </a:r>
          </a:p>
        </p:txBody>
      </p:sp>
      <p:sp>
        <p:nvSpPr>
          <p:cNvPr id="3" name="Content Placeholder 2"/>
          <p:cNvSpPr>
            <a:spLocks noGrp="1"/>
          </p:cNvSpPr>
          <p:nvPr>
            <p:ph idx="1"/>
          </p:nvPr>
        </p:nvSpPr>
        <p:spPr/>
        <p:txBody>
          <a:bodyPr/>
          <a:lstStyle/>
          <a:p>
            <a:r>
              <a:rPr lang="en-US" b="1" dirty="0"/>
              <a:t>Hard </a:t>
            </a:r>
            <a:r>
              <a:rPr lang="en-US" b="1" dirty="0"/>
              <a:t>Goals → measurable → functional behavior</a:t>
            </a:r>
            <a:r>
              <a:rPr lang="en-US" dirty="0"/>
              <a:t/>
            </a:r>
            <a:br>
              <a:rPr lang="en-US" dirty="0"/>
            </a:br>
            <a:r>
              <a:rPr lang="en-US" b="1" dirty="0"/>
              <a:t>Soft Goals → quality attributes → non-functional requirements</a:t>
            </a:r>
            <a:endParaRPr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080" y="457201"/>
            <a:ext cx="8463279" cy="934719"/>
          </a:xfrm>
        </p:spPr>
        <p:txBody>
          <a:bodyPr>
            <a:normAutofit fontScale="90000"/>
          </a:bodyPr>
          <a:lstStyle/>
          <a:p>
            <a:r>
              <a:rPr lang="en-US" b="1" dirty="0"/>
              <a:t>Hard Goals → Usually Functional Requirements</a:t>
            </a:r>
          </a:p>
        </p:txBody>
      </p:sp>
      <p:sp>
        <p:nvSpPr>
          <p:cNvPr id="3" name="Content Placeholder 2"/>
          <p:cNvSpPr>
            <a:spLocks noGrp="1"/>
          </p:cNvSpPr>
          <p:nvPr>
            <p:ph idx="1"/>
          </p:nvPr>
        </p:nvSpPr>
        <p:spPr>
          <a:xfrm>
            <a:off x="904241" y="1727200"/>
            <a:ext cx="7782560" cy="4272616"/>
          </a:xfrm>
        </p:spPr>
        <p:txBody>
          <a:bodyPr>
            <a:normAutofit fontScale="92500" lnSpcReduction="20000"/>
          </a:bodyPr>
          <a:lstStyle/>
          <a:p>
            <a:r>
              <a:rPr lang="en-US" dirty="0"/>
              <a:t>A </a:t>
            </a:r>
            <a:r>
              <a:rPr lang="en-US" b="1" dirty="0"/>
              <a:t>hard goal</a:t>
            </a:r>
            <a:r>
              <a:rPr lang="en-US" dirty="0"/>
              <a:t> has </a:t>
            </a:r>
            <a:r>
              <a:rPr lang="en-US" b="1" dirty="0"/>
              <a:t>clear success criteria</a:t>
            </a:r>
            <a:r>
              <a:rPr lang="en-US" dirty="0"/>
              <a:t>.</a:t>
            </a:r>
          </a:p>
          <a:p>
            <a:pPr marL="0" indent="0">
              <a:buNone/>
            </a:pPr>
            <a:r>
              <a:rPr lang="en-US" dirty="0"/>
              <a:t>Examples </a:t>
            </a:r>
            <a:r>
              <a:rPr lang="en-US" dirty="0"/>
              <a:t>(Smart Parking System)</a:t>
            </a:r>
          </a:p>
          <a:p>
            <a:r>
              <a:rPr lang="en-US" dirty="0"/>
              <a:t>Hard Goal</a:t>
            </a:r>
            <a:br>
              <a:rPr lang="en-US" dirty="0"/>
            </a:br>
            <a:r>
              <a:rPr lang="en-US" dirty="0"/>
              <a:t>Reserve parking space</a:t>
            </a:r>
          </a:p>
          <a:p>
            <a:pPr lvl="1"/>
            <a:r>
              <a:rPr lang="en-US" dirty="0"/>
              <a:t>Derived Functional Requirement</a:t>
            </a:r>
            <a:br>
              <a:rPr lang="en-US" dirty="0"/>
            </a:br>
            <a:r>
              <a:rPr lang="en-US" dirty="0"/>
              <a:t>System shall allow users to </a:t>
            </a:r>
            <a:r>
              <a:rPr lang="en-US" b="1" dirty="0"/>
              <a:t>book a parking slot via mobile app</a:t>
            </a:r>
            <a:r>
              <a:rPr lang="en-US" dirty="0"/>
              <a:t>.</a:t>
            </a:r>
          </a:p>
          <a:p>
            <a:r>
              <a:rPr lang="en-US" dirty="0"/>
              <a:t>Hard </a:t>
            </a:r>
            <a:r>
              <a:rPr lang="en-US" dirty="0"/>
              <a:t>Goal</a:t>
            </a:r>
            <a:br>
              <a:rPr lang="en-US" dirty="0"/>
            </a:br>
            <a:r>
              <a:rPr lang="en-US" dirty="0"/>
              <a:t>Display available parking slots</a:t>
            </a:r>
          </a:p>
          <a:p>
            <a:pPr lvl="1"/>
            <a:r>
              <a:rPr lang="en-US" dirty="0"/>
              <a:t>Derived Functional Requirement</a:t>
            </a:r>
            <a:r>
              <a:rPr lang="en-US" dirty="0"/>
              <a:t/>
            </a:r>
            <a:br>
              <a:rPr lang="en-US" dirty="0"/>
            </a:br>
            <a:r>
              <a:rPr lang="en-US" dirty="0"/>
              <a:t>System shall show </a:t>
            </a:r>
            <a:r>
              <a:rPr lang="en-US" b="1" dirty="0"/>
              <a:t>real-time parking availability</a:t>
            </a:r>
            <a:r>
              <a:rPr lang="en-US" dirty="0"/>
              <a:t>.</a:t>
            </a:r>
          </a:p>
          <a:p>
            <a:r>
              <a:rPr lang="en-US" dirty="0"/>
              <a:t>These describe </a:t>
            </a:r>
            <a:r>
              <a:rPr lang="en-US" b="1" dirty="0"/>
              <a:t>system actions</a:t>
            </a:r>
            <a:r>
              <a:rPr lang="en-US" dirty="0"/>
              <a:t>, so they become </a:t>
            </a:r>
            <a:r>
              <a:rPr lang="en-US" b="1" dirty="0"/>
              <a:t>functional requirements</a:t>
            </a:r>
            <a:r>
              <a:rPr lang="en-US" dirty="0"/>
              <a:t>.</a:t>
            </a:r>
          </a:p>
        </p:txBody>
      </p:sp>
    </p:spTree>
    <p:extLst>
      <p:ext uri="{BB962C8B-B14F-4D97-AF65-F5344CB8AC3E}">
        <p14:creationId xmlns:p14="http://schemas.microsoft.com/office/powerpoint/2010/main" val="170311669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772159"/>
          </a:xfrm>
        </p:spPr>
        <p:txBody>
          <a:bodyPr>
            <a:normAutofit fontScale="90000"/>
          </a:bodyPr>
          <a:lstStyle/>
          <a:p>
            <a:r>
              <a:rPr lang="en-US" b="1" dirty="0"/>
              <a:t>Soft Goals → Usually Non-Functional Requirements</a:t>
            </a:r>
          </a:p>
        </p:txBody>
      </p:sp>
      <p:sp>
        <p:nvSpPr>
          <p:cNvPr id="3" name="Content Placeholder 2"/>
          <p:cNvSpPr>
            <a:spLocks noGrp="1"/>
          </p:cNvSpPr>
          <p:nvPr>
            <p:ph idx="1"/>
          </p:nvPr>
        </p:nvSpPr>
        <p:spPr>
          <a:xfrm>
            <a:off x="982133" y="1605280"/>
            <a:ext cx="7704667" cy="4638376"/>
          </a:xfrm>
        </p:spPr>
        <p:txBody>
          <a:bodyPr>
            <a:normAutofit fontScale="92500" lnSpcReduction="10000"/>
          </a:bodyPr>
          <a:lstStyle/>
          <a:p>
            <a:r>
              <a:rPr lang="en-US" dirty="0"/>
              <a:t>A </a:t>
            </a:r>
            <a:r>
              <a:rPr lang="en-US" b="1" dirty="0"/>
              <a:t>soft goal</a:t>
            </a:r>
            <a:r>
              <a:rPr lang="en-US" dirty="0"/>
              <a:t> describes </a:t>
            </a:r>
            <a:r>
              <a:rPr lang="en-US" b="1" dirty="0"/>
              <a:t>quality or performance</a:t>
            </a:r>
            <a:r>
              <a:rPr lang="en-US" dirty="0"/>
              <a:t>.</a:t>
            </a:r>
          </a:p>
          <a:p>
            <a:pPr marL="0" indent="0">
              <a:buNone/>
            </a:pPr>
            <a:r>
              <a:rPr lang="en-US" dirty="0"/>
              <a:t>Example</a:t>
            </a:r>
          </a:p>
          <a:p>
            <a:r>
              <a:rPr lang="en-US" dirty="0"/>
              <a:t>Soft Goal</a:t>
            </a:r>
            <a:br>
              <a:rPr lang="en-US" dirty="0"/>
            </a:br>
            <a:r>
              <a:rPr lang="en-US" dirty="0"/>
              <a:t>System should be </a:t>
            </a:r>
            <a:r>
              <a:rPr lang="en-US" b="1" dirty="0"/>
              <a:t>user friendly</a:t>
            </a:r>
            <a:endParaRPr lang="en-US" dirty="0"/>
          </a:p>
          <a:p>
            <a:pPr lvl="1"/>
            <a:r>
              <a:rPr lang="en-US" dirty="0"/>
              <a:t>Derived Non-Functional Requirement</a:t>
            </a:r>
            <a:br>
              <a:rPr lang="en-US" dirty="0"/>
            </a:br>
            <a:r>
              <a:rPr lang="en-US" dirty="0"/>
              <a:t>The mobile app should allow users to complete booking within </a:t>
            </a:r>
            <a:r>
              <a:rPr lang="en-US" b="1" dirty="0"/>
              <a:t>3 steps</a:t>
            </a:r>
            <a:r>
              <a:rPr lang="en-US" dirty="0"/>
              <a:t>.</a:t>
            </a:r>
          </a:p>
          <a:p>
            <a:r>
              <a:rPr lang="en-US" dirty="0"/>
              <a:t>Soft </a:t>
            </a:r>
            <a:r>
              <a:rPr lang="en-US" dirty="0"/>
              <a:t>Goal</a:t>
            </a:r>
            <a:br>
              <a:rPr lang="en-US" dirty="0"/>
            </a:br>
            <a:r>
              <a:rPr lang="en-US" dirty="0"/>
              <a:t>System should be </a:t>
            </a:r>
            <a:r>
              <a:rPr lang="en-US" b="1" dirty="0"/>
              <a:t>secure</a:t>
            </a:r>
            <a:endParaRPr lang="en-US" dirty="0"/>
          </a:p>
          <a:p>
            <a:pPr lvl="1"/>
            <a:r>
              <a:rPr lang="en-US" dirty="0"/>
              <a:t>Derived Non-Functional Requirement</a:t>
            </a:r>
            <a:br>
              <a:rPr lang="en-US" dirty="0"/>
            </a:br>
            <a:r>
              <a:rPr lang="en-US" dirty="0"/>
              <a:t>All payments must use </a:t>
            </a:r>
            <a:r>
              <a:rPr lang="en-US" b="1" dirty="0"/>
              <a:t>encrypted transactions</a:t>
            </a:r>
            <a:r>
              <a:rPr lang="en-US" dirty="0"/>
              <a:t>.</a:t>
            </a:r>
          </a:p>
          <a:p>
            <a:pPr marL="0" lvl="0" indent="0" defTabSz="914400" eaLnBrk="0" fontAlgn="base" hangingPunct="0">
              <a:spcBef>
                <a:spcPct val="0"/>
              </a:spcBef>
              <a:spcAft>
                <a:spcPct val="0"/>
              </a:spcAft>
              <a:buClrTx/>
              <a:buSzTx/>
              <a:buFontTx/>
              <a:buChar char="•"/>
            </a:pPr>
            <a:r>
              <a:rPr lang="en-US" dirty="0"/>
              <a:t>Soft goals usually relate to qualities </a:t>
            </a:r>
            <a:r>
              <a:rPr lang="en-US" dirty="0"/>
              <a:t>like:</a:t>
            </a:r>
          </a:p>
          <a:p>
            <a:pPr marL="0" lvl="0" indent="0" defTabSz="914400" eaLnBrk="0" fontAlgn="base" hangingPunct="0">
              <a:spcBef>
                <a:spcPct val="0"/>
              </a:spcBef>
              <a:spcAft>
                <a:spcPct val="0"/>
              </a:spcAft>
              <a:buClrTx/>
              <a:buSzTx/>
              <a:buFontTx/>
              <a:buChar char="•"/>
            </a:pPr>
            <a:r>
              <a:rPr lang="en-US" altLang="en-US" dirty="0">
                <a:latin typeface="Arial" panose="020B0604020202020204" pitchFamily="34" charset="0"/>
              </a:rPr>
              <a:t>Usability, Performance</a:t>
            </a:r>
            <a:r>
              <a:rPr lang="en-US" altLang="en-US" dirty="0">
                <a:latin typeface="Arial" panose="020B0604020202020204" pitchFamily="34" charset="0"/>
              </a:rPr>
              <a:t>, </a:t>
            </a:r>
            <a:r>
              <a:rPr lang="en-US" altLang="en-US" dirty="0" err="1">
                <a:latin typeface="Arial" panose="020B0604020202020204" pitchFamily="34" charset="0"/>
              </a:rPr>
              <a:t>Reliability,Security,scalability</a:t>
            </a:r>
            <a:endParaRPr lang="en-US" altLang="en-US" dirty="0">
              <a:latin typeface="Arial" panose="020B0604020202020204" pitchFamily="34" charset="0"/>
            </a:endParaRPr>
          </a:p>
        </p:txBody>
      </p:sp>
    </p:spTree>
    <p:extLst>
      <p:ext uri="{BB962C8B-B14F-4D97-AF65-F5344CB8AC3E}">
        <p14:creationId xmlns:p14="http://schemas.microsoft.com/office/powerpoint/2010/main" val="242864187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Goal </a:t>
            </a:r>
            <a:r>
              <a:rPr dirty="0"/>
              <a:t>Refinement</a:t>
            </a:r>
            <a:r>
              <a:rPr lang="en-US" dirty="0"/>
              <a:t>/</a:t>
            </a:r>
            <a:r>
              <a:rPr lang="en-US" kern="100" dirty="0">
                <a:latin typeface="Calibri" panose="020F0502020204030204" pitchFamily="34" charset="0"/>
                <a:ea typeface="Calibri" panose="020F0502020204030204" pitchFamily="34" charset="0"/>
                <a:cs typeface="Times New Roman" panose="02020603050405020304" pitchFamily="18" charset="0"/>
              </a:rPr>
              <a:t>Goal Decomposition</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dirty="0"/>
          </a:p>
        </p:txBody>
      </p:sp>
      <p:sp>
        <p:nvSpPr>
          <p:cNvPr id="3" name="Content Placeholder 2"/>
          <p:cNvSpPr>
            <a:spLocks noGrp="1"/>
          </p:cNvSpPr>
          <p:nvPr>
            <p:ph idx="1"/>
          </p:nvPr>
        </p:nvSpPr>
        <p:spPr>
          <a:xfrm>
            <a:off x="982133" y="2326640"/>
            <a:ext cx="7704667" cy="4358640"/>
          </a:xfrm>
        </p:spPr>
        <p:txBody>
          <a:bodyPr>
            <a:normAutofit fontScale="92500" lnSpcReduction="20000"/>
          </a:bodyPr>
          <a:lstStyle/>
          <a:p>
            <a:r>
              <a:rPr dirty="0"/>
              <a:t>Large goals are broken into smaller goals</a:t>
            </a:r>
          </a:p>
          <a:p>
            <a:r>
              <a:rPr dirty="0"/>
              <a:t>Process known as goal decomposition</a:t>
            </a:r>
          </a:p>
          <a:p>
            <a:r>
              <a:rPr dirty="0"/>
              <a:t>Helps derive clear system </a:t>
            </a:r>
            <a:r>
              <a:rPr dirty="0"/>
              <a:t>requirements</a:t>
            </a:r>
            <a:endParaRPr lang="en-US" dirty="0"/>
          </a:p>
          <a:p>
            <a:pPr marL="0" indent="0">
              <a:buNone/>
            </a:pPr>
            <a:r>
              <a:rPr lang="en-US" dirty="0"/>
              <a:t>Example:</a:t>
            </a:r>
          </a:p>
          <a:p>
            <a:r>
              <a:rPr lang="en-US" dirty="0"/>
              <a:t>Goal</a:t>
            </a:r>
            <a:br>
              <a:rPr lang="en-US" dirty="0"/>
            </a:br>
            <a:r>
              <a:rPr lang="en-US" dirty="0"/>
              <a:t>Improve parking management</a:t>
            </a:r>
          </a:p>
          <a:p>
            <a:r>
              <a:rPr lang="en-US" dirty="0"/>
              <a:t>Sub goals</a:t>
            </a:r>
          </a:p>
          <a:p>
            <a:pPr lvl="1"/>
            <a:r>
              <a:rPr lang="en-US" dirty="0"/>
              <a:t>Detect free parking slots</a:t>
            </a:r>
          </a:p>
          <a:p>
            <a:pPr lvl="1"/>
            <a:r>
              <a:rPr lang="en-US" dirty="0"/>
              <a:t>Guide drivers to available slots</a:t>
            </a:r>
          </a:p>
          <a:p>
            <a:pPr lvl="1"/>
            <a:r>
              <a:rPr lang="en-US" dirty="0"/>
              <a:t>Enable online payments</a:t>
            </a:r>
          </a:p>
          <a:p>
            <a:r>
              <a:rPr lang="en-US" dirty="0"/>
              <a:t>Eventually these goals become </a:t>
            </a:r>
            <a:r>
              <a:rPr lang="en-US" b="1" dirty="0"/>
              <a:t>system requirements</a:t>
            </a:r>
            <a:r>
              <a:rPr lang="en-US" dirty="0"/>
              <a:t>.</a:t>
            </a:r>
          </a:p>
          <a:p>
            <a:endParaRPr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361" y="457201"/>
            <a:ext cx="8219440" cy="1046479"/>
          </a:xfrm>
        </p:spPr>
        <p:txBody>
          <a:bodyPr>
            <a:normAutofit/>
          </a:bodyPr>
          <a:lstStyle/>
          <a:p>
            <a:r>
              <a:rPr dirty="0"/>
              <a:t>Goal </a:t>
            </a:r>
            <a:r>
              <a:rPr lang="en-US" dirty="0"/>
              <a:t>Decomposition &amp; </a:t>
            </a:r>
            <a:r>
              <a:rPr dirty="0"/>
              <a:t>Relationships</a:t>
            </a:r>
            <a:endParaRPr dirty="0"/>
          </a:p>
        </p:txBody>
      </p:sp>
      <p:sp>
        <p:nvSpPr>
          <p:cNvPr id="3" name="Content Placeholder 2"/>
          <p:cNvSpPr>
            <a:spLocks noGrp="1"/>
          </p:cNvSpPr>
          <p:nvPr>
            <p:ph idx="1"/>
          </p:nvPr>
        </p:nvSpPr>
        <p:spPr>
          <a:xfrm>
            <a:off x="982133" y="2032000"/>
            <a:ext cx="7704667" cy="3967816"/>
          </a:xfrm>
        </p:spPr>
        <p:txBody>
          <a:bodyPr>
            <a:normAutofit lnSpcReduction="10000"/>
          </a:bodyPr>
          <a:lstStyle/>
          <a:p>
            <a:r>
              <a:rPr dirty="0"/>
              <a:t>AND decomposition: all sub-goals required</a:t>
            </a:r>
          </a:p>
          <a:p>
            <a:r>
              <a:rPr dirty="0"/>
              <a:t>OR decomposition: any one sub-goal </a:t>
            </a:r>
            <a:r>
              <a:rPr dirty="0"/>
              <a:t>sufficient</a:t>
            </a:r>
            <a:endParaRPr lang="en-US" dirty="0"/>
          </a:p>
          <a:p>
            <a:pPr marL="0" indent="0">
              <a:buNone/>
            </a:pPr>
            <a:r>
              <a:rPr lang="en-US" b="1" dirty="0"/>
              <a:t>Contribution Links (Impacts):</a:t>
            </a:r>
            <a:r>
              <a:rPr lang="en-US" dirty="0"/>
              <a:t> Used primarily for </a:t>
            </a:r>
            <a:r>
              <a:rPr lang="en-US" dirty="0" err="1"/>
              <a:t>softgoals</a:t>
            </a:r>
            <a:r>
              <a:rPr lang="en-US" dirty="0"/>
              <a:t> to show how a task affects an objective.</a:t>
            </a:r>
          </a:p>
          <a:p>
            <a:r>
              <a:rPr lang="en-US" b="1" dirty="0"/>
              <a:t>Make (++):</a:t>
            </a:r>
            <a:r>
              <a:rPr lang="en-US" dirty="0"/>
              <a:t> Strongly positive impact.</a:t>
            </a:r>
          </a:p>
          <a:p>
            <a:r>
              <a:rPr lang="en-US" b="1" dirty="0"/>
              <a:t>Help (+):</a:t>
            </a:r>
            <a:r>
              <a:rPr lang="en-US" dirty="0"/>
              <a:t> Weakly positive impact.</a:t>
            </a:r>
          </a:p>
          <a:p>
            <a:r>
              <a:rPr lang="en-US" b="1" dirty="0"/>
              <a:t>Hurt (-):</a:t>
            </a:r>
            <a:r>
              <a:rPr lang="en-US" dirty="0"/>
              <a:t> Weakly negative impact.</a:t>
            </a:r>
          </a:p>
          <a:p>
            <a:r>
              <a:rPr lang="en-US" b="1" dirty="0"/>
              <a:t>Break (--):</a:t>
            </a:r>
            <a:r>
              <a:rPr lang="en-US" dirty="0"/>
              <a:t> Strongly negative impact.</a:t>
            </a:r>
          </a:p>
          <a:p>
            <a:endParaRPr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AND decomposition</a:t>
            </a:r>
            <a:endParaRPr lang="en-US" dirty="0"/>
          </a:p>
        </p:txBody>
      </p:sp>
      <p:sp>
        <p:nvSpPr>
          <p:cNvPr id="3" name="Content Placeholder 2"/>
          <p:cNvSpPr>
            <a:spLocks noGrp="1"/>
          </p:cNvSpPr>
          <p:nvPr>
            <p:ph idx="1"/>
          </p:nvPr>
        </p:nvSpPr>
        <p:spPr/>
        <p:txBody>
          <a:bodyPr>
            <a:normAutofit fontScale="77500" lnSpcReduction="20000"/>
          </a:bodyPr>
          <a:lstStyle/>
          <a:p>
            <a:r>
              <a:rPr lang="en-US" dirty="0"/>
              <a:t>An </a:t>
            </a:r>
            <a:r>
              <a:rPr lang="en-US" b="1" dirty="0"/>
              <a:t>AND relationship</a:t>
            </a:r>
            <a:r>
              <a:rPr lang="en-US" dirty="0"/>
              <a:t> means </a:t>
            </a:r>
            <a:r>
              <a:rPr lang="en-US" b="1" dirty="0"/>
              <a:t>all sub-goals must be satisfied</a:t>
            </a:r>
            <a:r>
              <a:rPr lang="en-US" dirty="0"/>
              <a:t> to achieve the main goal.</a:t>
            </a:r>
          </a:p>
          <a:p>
            <a:r>
              <a:rPr lang="en-US" dirty="0"/>
              <a:t>If even one sub-goal fails, the main goal fails.</a:t>
            </a:r>
          </a:p>
          <a:p>
            <a:r>
              <a:rPr lang="en-US" b="1" dirty="0"/>
              <a:t>Example – Smart Parking System</a:t>
            </a:r>
          </a:p>
          <a:p>
            <a:r>
              <a:rPr lang="en-US" dirty="0"/>
              <a:t>Main Goal</a:t>
            </a:r>
            <a:br>
              <a:rPr lang="en-US" dirty="0"/>
            </a:br>
            <a:r>
              <a:rPr lang="en-US" b="1" dirty="0"/>
              <a:t>Enable Online Parking Service</a:t>
            </a:r>
            <a:endParaRPr lang="en-US" dirty="0"/>
          </a:p>
          <a:p>
            <a:r>
              <a:rPr lang="en-US" dirty="0"/>
              <a:t>To achieve this, several things must happen</a:t>
            </a:r>
            <a:r>
              <a:rPr lang="en-US" dirty="0"/>
              <a:t>.</a:t>
            </a:r>
          </a:p>
          <a:p>
            <a:pPr lvl="1"/>
            <a:r>
              <a:rPr lang="en-US" dirty="0"/>
              <a:t>Parking spaces must be </a:t>
            </a:r>
            <a:r>
              <a:rPr lang="en-US" dirty="0"/>
              <a:t>detected</a:t>
            </a:r>
          </a:p>
          <a:p>
            <a:pPr lvl="1"/>
            <a:r>
              <a:rPr lang="en-US" dirty="0"/>
              <a:t>A </a:t>
            </a:r>
            <a:r>
              <a:rPr lang="en-US" dirty="0"/>
              <a:t>mobile application must </a:t>
            </a:r>
            <a:r>
              <a:rPr lang="en-US" dirty="0"/>
              <a:t>exist</a:t>
            </a:r>
          </a:p>
          <a:p>
            <a:pPr lvl="1"/>
            <a:r>
              <a:rPr lang="en-US" dirty="0"/>
              <a:t>Payment </a:t>
            </a:r>
            <a:r>
              <a:rPr lang="en-US" dirty="0"/>
              <a:t>must be processed</a:t>
            </a:r>
            <a:endParaRPr lang="en-US" dirty="0"/>
          </a:p>
          <a:p>
            <a:endParaRPr lang="en-US" dirty="0"/>
          </a:p>
          <a:p>
            <a:endParaRPr lang="en-US" dirty="0"/>
          </a:p>
        </p:txBody>
      </p:sp>
    </p:spTree>
    <p:extLst>
      <p:ext uri="{BB962C8B-B14F-4D97-AF65-F5344CB8AC3E}">
        <p14:creationId xmlns:p14="http://schemas.microsoft.com/office/powerpoint/2010/main" val="34876304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 Decomposition (OR Goal)</a:t>
            </a:r>
          </a:p>
        </p:txBody>
      </p:sp>
      <p:sp>
        <p:nvSpPr>
          <p:cNvPr id="4" name="Content Placeholder 3"/>
          <p:cNvSpPr>
            <a:spLocks noGrp="1"/>
          </p:cNvSpPr>
          <p:nvPr>
            <p:ph idx="1"/>
          </p:nvPr>
        </p:nvSpPr>
        <p:spPr/>
        <p:txBody>
          <a:bodyPr>
            <a:normAutofit fontScale="70000" lnSpcReduction="20000"/>
          </a:bodyPr>
          <a:lstStyle/>
          <a:p>
            <a:r>
              <a:rPr lang="en-US" dirty="0"/>
              <a:t>An </a:t>
            </a:r>
            <a:r>
              <a:rPr lang="en-US" b="1" dirty="0"/>
              <a:t>OR relationship</a:t>
            </a:r>
            <a:r>
              <a:rPr lang="en-US" dirty="0"/>
              <a:t> means </a:t>
            </a:r>
            <a:r>
              <a:rPr lang="en-US" b="1" dirty="0"/>
              <a:t>any one sub-goal can achieve the main goal</a:t>
            </a:r>
            <a:r>
              <a:rPr lang="en-US" dirty="0"/>
              <a:t>.</a:t>
            </a:r>
          </a:p>
          <a:p>
            <a:r>
              <a:rPr lang="en-US" dirty="0"/>
              <a:t>Multiple alternative solutions exist.</a:t>
            </a:r>
          </a:p>
          <a:p>
            <a:r>
              <a:rPr lang="en-US" b="1" dirty="0"/>
              <a:t>Example – Parking Reservation</a:t>
            </a:r>
          </a:p>
          <a:p>
            <a:r>
              <a:rPr lang="en-US" dirty="0"/>
              <a:t>Goal</a:t>
            </a:r>
            <a:br>
              <a:rPr lang="en-US" dirty="0"/>
            </a:br>
            <a:r>
              <a:rPr lang="en-US" b="1" dirty="0"/>
              <a:t>Allow Parking Reservation</a:t>
            </a:r>
            <a:endParaRPr lang="en-US" dirty="0"/>
          </a:p>
          <a:p>
            <a:r>
              <a:rPr lang="en-US" dirty="0"/>
              <a:t>There are multiple ways to achieve it</a:t>
            </a:r>
            <a:r>
              <a:rPr lang="en-US" dirty="0"/>
              <a:t>.</a:t>
            </a:r>
          </a:p>
          <a:p>
            <a:r>
              <a:rPr lang="en-US" dirty="0"/>
              <a:t>Drivers can reserve parking by:</a:t>
            </a:r>
          </a:p>
          <a:p>
            <a:pPr lvl="1"/>
            <a:r>
              <a:rPr lang="en-US" dirty="0"/>
              <a:t>Mobile application</a:t>
            </a:r>
            <a:br>
              <a:rPr lang="en-US" dirty="0"/>
            </a:br>
            <a:r>
              <a:rPr lang="en-US" dirty="0"/>
              <a:t>OR</a:t>
            </a:r>
          </a:p>
          <a:p>
            <a:pPr lvl="1"/>
            <a:r>
              <a:rPr lang="en-US" dirty="0"/>
              <a:t>Parking kiosk machine</a:t>
            </a:r>
          </a:p>
          <a:p>
            <a:r>
              <a:rPr lang="en-US" dirty="0"/>
              <a:t>Either option satisfies the goal</a:t>
            </a:r>
            <a:r>
              <a:rPr lang="en-US" dirty="0"/>
              <a:t>.			</a:t>
            </a:r>
            <a:endParaRPr lang="en-US" dirty="0"/>
          </a:p>
        </p:txBody>
      </p:sp>
    </p:spTree>
    <p:extLst>
      <p:ext uri="{BB962C8B-B14F-4D97-AF65-F5344CB8AC3E}">
        <p14:creationId xmlns:p14="http://schemas.microsoft.com/office/powerpoint/2010/main" val="394453242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Goal Conflicts</a:t>
            </a:r>
          </a:p>
        </p:txBody>
      </p:sp>
      <p:sp>
        <p:nvSpPr>
          <p:cNvPr id="3" name="Content Placeholder 2"/>
          <p:cNvSpPr>
            <a:spLocks noGrp="1"/>
          </p:cNvSpPr>
          <p:nvPr>
            <p:ph idx="1"/>
          </p:nvPr>
        </p:nvSpPr>
        <p:spPr/>
        <p:txBody>
          <a:bodyPr>
            <a:normAutofit fontScale="77500" lnSpcReduction="20000"/>
          </a:bodyPr>
          <a:lstStyle/>
          <a:p>
            <a:r>
              <a:rPr dirty="0"/>
              <a:t>Some goals conflict with others</a:t>
            </a:r>
          </a:p>
          <a:p>
            <a:r>
              <a:rPr dirty="0"/>
              <a:t>Example: security vs usability</a:t>
            </a:r>
          </a:p>
          <a:p>
            <a:r>
              <a:rPr dirty="0"/>
              <a:t>Goal modeling helps analyze </a:t>
            </a:r>
            <a:r>
              <a:rPr dirty="0"/>
              <a:t>trade-offs</a:t>
            </a:r>
            <a:endParaRPr lang="en-US" dirty="0"/>
          </a:p>
          <a:p>
            <a:pPr marL="0" indent="0">
              <a:buNone/>
            </a:pPr>
            <a:r>
              <a:rPr lang="en-US" dirty="0"/>
              <a:t>Example</a:t>
            </a:r>
          </a:p>
          <a:p>
            <a:pPr lvl="1"/>
            <a:r>
              <a:rPr lang="en-US" dirty="0"/>
              <a:t>Goal 1</a:t>
            </a:r>
            <a:br>
              <a:rPr lang="en-US" dirty="0"/>
            </a:br>
            <a:r>
              <a:rPr lang="en-US" dirty="0"/>
              <a:t>Provide strong security</a:t>
            </a:r>
          </a:p>
          <a:p>
            <a:pPr lvl="1"/>
            <a:r>
              <a:rPr lang="en-US" dirty="0"/>
              <a:t>Goal 2</a:t>
            </a:r>
            <a:br>
              <a:rPr lang="en-US" dirty="0"/>
            </a:br>
            <a:r>
              <a:rPr lang="en-US" dirty="0"/>
              <a:t>Provide quick access</a:t>
            </a:r>
          </a:p>
          <a:p>
            <a:r>
              <a:rPr lang="en-US" dirty="0"/>
              <a:t>More security can slow down access.</a:t>
            </a:r>
          </a:p>
          <a:p>
            <a:r>
              <a:rPr lang="en-US" dirty="0"/>
              <a:t>Goal modeling helps analyze and balance such trade-offs.</a:t>
            </a:r>
          </a:p>
          <a:p>
            <a:endParaRPr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Goal Modeling Techniques</a:t>
            </a:r>
          </a:p>
        </p:txBody>
      </p:sp>
      <p:sp>
        <p:nvSpPr>
          <p:cNvPr id="3" name="Content Placeholder 2"/>
          <p:cNvSpPr>
            <a:spLocks noGrp="1"/>
          </p:cNvSpPr>
          <p:nvPr>
            <p:ph idx="1"/>
          </p:nvPr>
        </p:nvSpPr>
        <p:spPr>
          <a:xfrm>
            <a:off x="982133" y="1981200"/>
            <a:ext cx="7704667" cy="4018616"/>
          </a:xfrm>
        </p:spPr>
        <p:txBody>
          <a:bodyPr>
            <a:normAutofit fontScale="92500" lnSpcReduction="20000"/>
          </a:bodyPr>
          <a:lstStyle/>
          <a:p>
            <a:r>
              <a:rPr lang="en-US" dirty="0"/>
              <a:t>While </a:t>
            </a:r>
            <a:r>
              <a:rPr lang="en-US" dirty="0"/>
              <a:t>the core concepts remain the same, several frameworks provide specific notations and methodologies:</a:t>
            </a:r>
          </a:p>
          <a:p>
            <a:r>
              <a:rPr lang="en-US" b="1" dirty="0"/>
              <a:t>KAOS </a:t>
            </a:r>
            <a:r>
              <a:rPr lang="en-US" b="1" dirty="0"/>
              <a:t>(Knowledge Acquisition in automated Specification</a:t>
            </a:r>
            <a:r>
              <a:rPr lang="en-US" b="1" dirty="0"/>
              <a:t>):</a:t>
            </a:r>
          </a:p>
          <a:p>
            <a:pPr lvl="1"/>
            <a:r>
              <a:rPr lang="en-US" dirty="0"/>
              <a:t> </a:t>
            </a:r>
            <a:r>
              <a:rPr lang="en-US" dirty="0"/>
              <a:t>Focuses on formal, mathematically rigorous goal refinement and system behavior</a:t>
            </a:r>
            <a:r>
              <a:rPr lang="en-US" dirty="0"/>
              <a:t>.</a:t>
            </a:r>
          </a:p>
          <a:p>
            <a:r>
              <a:rPr dirty="0" err="1"/>
              <a:t>i</a:t>
            </a:r>
            <a:r>
              <a:rPr dirty="0"/>
              <a:t>* (</a:t>
            </a:r>
            <a:r>
              <a:rPr dirty="0" err="1"/>
              <a:t>i</a:t>
            </a:r>
            <a:r>
              <a:rPr dirty="0"/>
              <a:t>-star</a:t>
            </a:r>
            <a:r>
              <a:rPr dirty="0"/>
              <a:t>)</a:t>
            </a:r>
            <a:endParaRPr lang="en-US" dirty="0"/>
          </a:p>
          <a:p>
            <a:pPr lvl="1"/>
            <a:r>
              <a:rPr lang="en-US" dirty="0"/>
              <a:t> </a:t>
            </a:r>
            <a:r>
              <a:rPr lang="en-US" dirty="0"/>
              <a:t>Focuses on actors, their intentions, and social dependencies.</a:t>
            </a:r>
            <a:endParaRPr dirty="0"/>
          </a:p>
          <a:p>
            <a:r>
              <a:rPr dirty="0" err="1"/>
              <a:t>Tropos</a:t>
            </a:r>
            <a:endParaRPr lang="en-US" dirty="0"/>
          </a:p>
          <a:p>
            <a:pPr lvl="1"/>
            <a:r>
              <a:rPr lang="en-US" dirty="0" err="1"/>
              <a:t>Tropos</a:t>
            </a:r>
            <a:r>
              <a:rPr lang="en-US" dirty="0"/>
              <a:t> </a:t>
            </a:r>
            <a:r>
              <a:rPr lang="en-US" dirty="0"/>
              <a:t>is unique because it takes the goal-oriented, agent-based philosophy and stretches it across the </a:t>
            </a:r>
            <a:r>
              <a:rPr lang="en-US" b="1" dirty="0"/>
              <a:t>entire software development lifecycle</a:t>
            </a:r>
            <a:r>
              <a:rPr lang="en-US" dirty="0"/>
              <a:t>.</a:t>
            </a:r>
            <a:endParaRPr dirty="0"/>
          </a:p>
          <a:p>
            <a:pPr marL="0" indent="0">
              <a:buNone/>
            </a:pPr>
            <a:endParaRPr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310639"/>
          </a:xfrm>
        </p:spPr>
        <p:txBody>
          <a:bodyPr/>
          <a:lstStyle/>
          <a:p>
            <a:r>
              <a:rPr lang="en-US" b="1" dirty="0"/>
              <a:t>The KAOS Framework</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a:t>Core </a:t>
            </a:r>
            <a:r>
              <a:rPr lang="en-US" b="1" dirty="0"/>
              <a:t>Philosophy:</a:t>
            </a:r>
            <a:r>
              <a:rPr lang="en-US" dirty="0"/>
              <a:t> A systematic, formal approach from high-level goals down to precise object models and state transitions.</a:t>
            </a:r>
          </a:p>
          <a:p>
            <a:r>
              <a:rPr lang="en-US" b="1" dirty="0"/>
              <a:t>Key Elements:</a:t>
            </a:r>
            <a:endParaRPr lang="en-US" dirty="0"/>
          </a:p>
          <a:p>
            <a:pPr lvl="1"/>
            <a:r>
              <a:rPr lang="en-US" b="1" dirty="0"/>
              <a:t>Goal Model:</a:t>
            </a:r>
            <a:r>
              <a:rPr lang="en-US" dirty="0"/>
              <a:t> AND/OR graphs of goals.</a:t>
            </a:r>
          </a:p>
          <a:p>
            <a:pPr lvl="1"/>
            <a:r>
              <a:rPr lang="en-US" b="1" dirty="0"/>
              <a:t>Responsibility Model:</a:t>
            </a:r>
            <a:r>
              <a:rPr lang="en-US" dirty="0"/>
              <a:t> Assigning terminal goals (requirements) to specific agents.</a:t>
            </a:r>
          </a:p>
          <a:p>
            <a:pPr lvl="1"/>
            <a:r>
              <a:rPr lang="en-US" b="1" dirty="0"/>
              <a:t>Object Model:</a:t>
            </a:r>
            <a:r>
              <a:rPr lang="en-US" dirty="0"/>
              <a:t> The domain entities involved in the goals.</a:t>
            </a:r>
          </a:p>
          <a:p>
            <a:pPr lvl="1"/>
            <a:r>
              <a:rPr lang="en-US" b="1" dirty="0"/>
              <a:t>Operation Model:</a:t>
            </a:r>
            <a:r>
              <a:rPr lang="en-US" dirty="0"/>
              <a:t> The specific system behaviors that fulfill the requirements.</a:t>
            </a:r>
          </a:p>
        </p:txBody>
      </p:sp>
    </p:spTree>
    <p:extLst>
      <p:ext uri="{BB962C8B-B14F-4D97-AF65-F5344CB8AC3E}">
        <p14:creationId xmlns:p14="http://schemas.microsoft.com/office/powerpoint/2010/main" val="7799209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The </a:t>
            </a:r>
            <a:r>
              <a:rPr lang="en-US" b="1" i="1" dirty="0" err="1"/>
              <a:t>i</a:t>
            </a:r>
            <a:r>
              <a:rPr lang="en-US" b="1" i="1" dirty="0"/>
              <a:t> (</a:t>
            </a:r>
            <a:r>
              <a:rPr lang="en-US" b="1" i="1" dirty="0" err="1"/>
              <a:t>i</a:t>
            </a:r>
            <a:r>
              <a:rPr lang="en-US" b="1" i="1" dirty="0"/>
              <a:t>-star) Framework</a:t>
            </a:r>
            <a:r>
              <a:rPr lang="en-US" b="1" dirty="0"/>
              <a:t>*</a:t>
            </a:r>
            <a:endParaRPr lang="en-US" b="1" dirty="0"/>
          </a:p>
        </p:txBody>
      </p:sp>
      <p:sp>
        <p:nvSpPr>
          <p:cNvPr id="3" name="Content Placeholder 2"/>
          <p:cNvSpPr>
            <a:spLocks noGrp="1"/>
          </p:cNvSpPr>
          <p:nvPr>
            <p:ph idx="1"/>
          </p:nvPr>
        </p:nvSpPr>
        <p:spPr>
          <a:xfrm>
            <a:off x="982133" y="2879834"/>
            <a:ext cx="7704667" cy="3687540"/>
          </a:xfrm>
        </p:spPr>
        <p:txBody>
          <a:bodyPr>
            <a:normAutofit fontScale="92500" lnSpcReduction="10000"/>
          </a:bodyPr>
          <a:lstStyle/>
          <a:p>
            <a:r>
              <a:rPr lang="en-US" b="1" dirty="0"/>
              <a:t>Core </a:t>
            </a:r>
            <a:r>
              <a:rPr lang="en-US" b="1" dirty="0"/>
              <a:t>Philosophy:</a:t>
            </a:r>
            <a:r>
              <a:rPr lang="en-US" dirty="0"/>
              <a:t> Systems involve social networks of intentional actors who depend on each other.</a:t>
            </a:r>
          </a:p>
          <a:p>
            <a:r>
              <a:rPr lang="en-US" b="1" dirty="0"/>
              <a:t>Strategic Dependency (SD) Model:</a:t>
            </a:r>
            <a:r>
              <a:rPr lang="en-US" dirty="0"/>
              <a:t> Shows </a:t>
            </a:r>
            <a:r>
              <a:rPr lang="en-US" i="1" dirty="0"/>
              <a:t>who</a:t>
            </a:r>
            <a:r>
              <a:rPr lang="en-US" dirty="0"/>
              <a:t> depends on </a:t>
            </a:r>
            <a:r>
              <a:rPr lang="en-US" i="1" dirty="0"/>
              <a:t>whom</a:t>
            </a:r>
            <a:r>
              <a:rPr lang="en-US" dirty="0"/>
              <a:t> for </a:t>
            </a:r>
            <a:r>
              <a:rPr lang="en-US" i="1" dirty="0"/>
              <a:t>what</a:t>
            </a:r>
            <a:r>
              <a:rPr lang="en-US" dirty="0"/>
              <a:t> (Goals, Tasks, Resources).</a:t>
            </a:r>
          </a:p>
          <a:p>
            <a:r>
              <a:rPr lang="en-US" b="1" dirty="0"/>
              <a:t>Strategic Rationale (SR) Model:</a:t>
            </a:r>
            <a:r>
              <a:rPr lang="en-US" dirty="0"/>
              <a:t> Looks "inside" an actor to show how their internal goals are met and what alternatives exist</a:t>
            </a:r>
            <a:r>
              <a:rPr lang="en-US" dirty="0"/>
              <a:t>.</a:t>
            </a:r>
          </a:p>
          <a:p>
            <a:r>
              <a:rPr lang="en-US" kern="100" dirty="0">
                <a:latin typeface="Calibri" panose="020F0502020204030204" pitchFamily="34" charset="0"/>
                <a:ea typeface="Calibri" panose="020F0502020204030204" pitchFamily="34" charset="0"/>
                <a:cs typeface="Times New Roman" panose="02020603050405020304" pitchFamily="18" charset="0"/>
              </a:rPr>
              <a:t>Example: A bank might depend on an IT provider for "System Maintenance," which is broken down into "Regular Updates" and "Security Patches</a:t>
            </a:r>
            <a:r>
              <a:rPr lang="en-US" kern="100" dirty="0">
                <a:latin typeface="Calibri" panose="020F0502020204030204" pitchFamily="34" charset="0"/>
                <a:ea typeface="Calibri" panose="020F0502020204030204" pitchFamily="34" charset="0"/>
                <a:cs typeface="Times New Roman" panose="02020603050405020304" pitchFamily="18" charset="0"/>
              </a:rPr>
              <a:t>."</a:t>
            </a: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110342"/>
          </a:xfrm>
        </p:spPr>
        <p:txBody>
          <a:bodyPr/>
          <a:lstStyle/>
          <a:p>
            <a:r>
              <a:rPr lang="en-US" b="1" dirty="0"/>
              <a:t>The </a:t>
            </a:r>
            <a:r>
              <a:rPr lang="en-US" b="1" dirty="0" err="1"/>
              <a:t>Tropos</a:t>
            </a:r>
            <a:r>
              <a:rPr lang="en-US" b="1" dirty="0"/>
              <a:t> </a:t>
            </a:r>
            <a:r>
              <a:rPr lang="en-US" b="1" dirty="0"/>
              <a:t>Methodology </a:t>
            </a:r>
            <a:endParaRPr lang="en-US" b="1" dirty="0"/>
          </a:p>
        </p:txBody>
      </p:sp>
      <p:sp>
        <p:nvSpPr>
          <p:cNvPr id="3" name="Content Placeholder 2"/>
          <p:cNvSpPr>
            <a:spLocks noGrp="1"/>
          </p:cNvSpPr>
          <p:nvPr>
            <p:ph idx="1"/>
          </p:nvPr>
        </p:nvSpPr>
        <p:spPr>
          <a:xfrm>
            <a:off x="982133" y="2091559"/>
            <a:ext cx="7704667" cy="3908257"/>
          </a:xfrm>
        </p:spPr>
        <p:txBody>
          <a:bodyPr>
            <a:normAutofit fontScale="92500" lnSpcReduction="20000"/>
          </a:bodyPr>
          <a:lstStyle/>
          <a:p>
            <a:r>
              <a:rPr lang="en-US" b="1" dirty="0"/>
              <a:t>What </a:t>
            </a:r>
            <a:r>
              <a:rPr lang="en-US" b="1" dirty="0"/>
              <a:t>is </a:t>
            </a:r>
            <a:r>
              <a:rPr lang="en-US" b="1" dirty="0" err="1"/>
              <a:t>Tropos</a:t>
            </a:r>
            <a:r>
              <a:rPr lang="en-US" b="1" dirty="0"/>
              <a:t>?</a:t>
            </a:r>
            <a:r>
              <a:rPr lang="en-US" dirty="0"/>
              <a:t> </a:t>
            </a:r>
            <a:endParaRPr lang="en-US" dirty="0"/>
          </a:p>
          <a:p>
            <a:pPr lvl="1"/>
            <a:r>
              <a:rPr lang="en-US" dirty="0"/>
              <a:t>An </a:t>
            </a:r>
            <a:r>
              <a:rPr lang="en-US" dirty="0"/>
              <a:t>agent-oriented software development methodology tailored for distributed, complex systems.</a:t>
            </a:r>
          </a:p>
          <a:p>
            <a:r>
              <a:rPr lang="en-US" i="1" dirty="0"/>
              <a:t>The </a:t>
            </a:r>
            <a:r>
              <a:rPr lang="en-US" i="1" dirty="0" err="1"/>
              <a:t>i</a:t>
            </a:r>
            <a:r>
              <a:rPr lang="en-US" i="1" dirty="0"/>
              <a:t> Connection:</a:t>
            </a:r>
            <a:r>
              <a:rPr lang="en-US" dirty="0"/>
              <a:t>* </a:t>
            </a:r>
            <a:endParaRPr lang="en-US" dirty="0"/>
          </a:p>
          <a:p>
            <a:pPr lvl="1"/>
            <a:r>
              <a:rPr lang="en-US" dirty="0" err="1"/>
              <a:t>Tropos</a:t>
            </a:r>
            <a:r>
              <a:rPr lang="en-US" dirty="0"/>
              <a:t> </a:t>
            </a:r>
            <a:r>
              <a:rPr lang="en-US" dirty="0"/>
              <a:t>adopts the </a:t>
            </a:r>
            <a:r>
              <a:rPr lang="en-US" i="1" dirty="0" err="1"/>
              <a:t>i</a:t>
            </a:r>
            <a:r>
              <a:rPr lang="en-US" dirty="0"/>
              <a:t>* (</a:t>
            </a:r>
            <a:r>
              <a:rPr lang="en-US" dirty="0" err="1"/>
              <a:t>i</a:t>
            </a:r>
            <a:r>
              <a:rPr lang="en-US" dirty="0"/>
              <a:t>-star) modeling language (Actors, Goals, Tasks, Resources, Dependencies) as its foundational notation.</a:t>
            </a:r>
          </a:p>
          <a:p>
            <a:r>
              <a:rPr lang="en-US" b="1" dirty="0"/>
              <a:t>The Big Differentiator:</a:t>
            </a:r>
            <a:r>
              <a:rPr lang="en-US" dirty="0"/>
              <a:t> </a:t>
            </a:r>
            <a:endParaRPr lang="en-US" dirty="0"/>
          </a:p>
          <a:p>
            <a:pPr lvl="1"/>
            <a:r>
              <a:rPr lang="en-US" dirty="0"/>
              <a:t>Instead </a:t>
            </a:r>
            <a:r>
              <a:rPr lang="en-US" dirty="0"/>
              <a:t>of changing modeling languages when moving from requirements to design (e.g., switching from Goal Models to UML Class Diagrams), </a:t>
            </a:r>
            <a:r>
              <a:rPr lang="en-US" dirty="0" err="1"/>
              <a:t>Tropos</a:t>
            </a:r>
            <a:r>
              <a:rPr lang="en-US" dirty="0"/>
              <a:t> uses the </a:t>
            </a:r>
            <a:r>
              <a:rPr lang="en-US" i="1" dirty="0"/>
              <a:t>exact same</a:t>
            </a:r>
            <a:r>
              <a:rPr lang="en-US" dirty="0"/>
              <a:t> agent-oriented concepts from the first stakeholder meeting all the way down to writing the code</a:t>
            </a:r>
            <a:r>
              <a:rPr lang="en-US" dirty="0"/>
              <a:t>.</a:t>
            </a:r>
            <a:endParaRPr lang="en-US" dirty="0"/>
          </a:p>
        </p:txBody>
      </p:sp>
    </p:spTree>
    <p:extLst>
      <p:ext uri="{BB962C8B-B14F-4D97-AF65-F5344CB8AC3E}">
        <p14:creationId xmlns:p14="http://schemas.microsoft.com/office/powerpoint/2010/main" val="159574186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Analyzing and Evaluating Goal Models</a:t>
            </a:r>
            <a:endParaRPr lang="en-US" b="1" dirty="0"/>
          </a:p>
        </p:txBody>
      </p:sp>
      <p:sp>
        <p:nvSpPr>
          <p:cNvPr id="3" name="Content Placeholder 2"/>
          <p:cNvSpPr>
            <a:spLocks noGrp="1"/>
          </p:cNvSpPr>
          <p:nvPr>
            <p:ph idx="1"/>
          </p:nvPr>
        </p:nvSpPr>
        <p:spPr/>
        <p:txBody>
          <a:bodyPr>
            <a:normAutofit fontScale="92500"/>
          </a:bodyPr>
          <a:lstStyle/>
          <a:p>
            <a:r>
              <a:rPr lang="en-US" b="1" dirty="0"/>
              <a:t>Qualitative </a:t>
            </a:r>
            <a:r>
              <a:rPr lang="en-US" b="1" dirty="0"/>
              <a:t>Evaluation:</a:t>
            </a:r>
            <a:r>
              <a:rPr lang="en-US" dirty="0"/>
              <a:t> Using contribution links (+, -, etc.) to evaluate if a </a:t>
            </a:r>
            <a:r>
              <a:rPr lang="en-US" dirty="0" err="1"/>
              <a:t>softgoal</a:t>
            </a:r>
            <a:r>
              <a:rPr lang="en-US" dirty="0"/>
              <a:t> is sufficiently "satisficed" based on chosen design alternatives.</a:t>
            </a:r>
          </a:p>
          <a:p>
            <a:r>
              <a:rPr lang="en-US" b="1" dirty="0"/>
              <a:t>Quantitative Evaluation:</a:t>
            </a:r>
            <a:r>
              <a:rPr lang="en-US" dirty="0"/>
              <a:t> Assigning numerical weights and probabilities to goals for mathematical decision-making.</a:t>
            </a:r>
          </a:p>
          <a:p>
            <a:r>
              <a:rPr lang="en-US" b="1" dirty="0"/>
              <a:t>Identifying Obstacles:</a:t>
            </a:r>
            <a:r>
              <a:rPr lang="en-US" dirty="0"/>
              <a:t> Modeling anti-goals (things we </a:t>
            </a:r>
            <a:r>
              <a:rPr lang="en-US" i="1" dirty="0"/>
              <a:t>don't</a:t>
            </a:r>
            <a:r>
              <a:rPr lang="en-US" dirty="0"/>
              <a:t> want to happen, like "System hacked") and designing mitigation goals.</a:t>
            </a:r>
          </a:p>
        </p:txBody>
      </p:sp>
    </p:spTree>
    <p:extLst>
      <p:ext uri="{BB962C8B-B14F-4D97-AF65-F5344CB8AC3E}">
        <p14:creationId xmlns:p14="http://schemas.microsoft.com/office/powerpoint/2010/main" val="274883481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95679"/>
          </a:xfrm>
        </p:spPr>
        <p:txBody>
          <a:bodyPr>
            <a:normAutofit fontScale="90000"/>
          </a:bodyPr>
          <a:lstStyle/>
          <a:p>
            <a:r>
              <a:rPr lang="en-US" altLang="en-US" sz="3200" b="1" dirty="0">
                <a:ln>
                  <a:noFill/>
                </a:ln>
                <a:latin typeface="Google Sans Text"/>
              </a:rPr>
              <a:t/>
            </a:r>
            <a:br>
              <a:rPr lang="en-US" altLang="en-US" sz="3200" b="1" dirty="0">
                <a:ln>
                  <a:noFill/>
                </a:ln>
                <a:latin typeface="Google Sans Text"/>
              </a:rPr>
            </a:br>
            <a:r>
              <a:rPr lang="en-US" altLang="en-US" sz="3200" b="1" dirty="0">
                <a:ln>
                  <a:noFill/>
                </a:ln>
                <a:latin typeface="Google Sans Text"/>
              </a:rPr>
              <a:t>Qualitative </a:t>
            </a:r>
            <a:r>
              <a:rPr lang="en-US" altLang="en-US" sz="3200" b="1" dirty="0">
                <a:ln>
                  <a:noFill/>
                </a:ln>
                <a:latin typeface="Google Sans Text"/>
              </a:rPr>
              <a:t>Evaluation – Satisficing </a:t>
            </a:r>
            <a:r>
              <a:rPr lang="en-US" altLang="en-US" sz="3200" b="1" dirty="0" err="1">
                <a:ln>
                  <a:noFill/>
                </a:ln>
                <a:latin typeface="Google Sans Text"/>
              </a:rPr>
              <a:t>Softgoals</a:t>
            </a:r>
            <a:r>
              <a:rPr lang="en-US" altLang="en-US" sz="3200" b="1" dirty="0">
                <a:ln>
                  <a:noFill/>
                </a:ln>
                <a:latin typeface="Google Sans"/>
              </a:rPr>
              <a:t/>
            </a:r>
            <a:br>
              <a:rPr lang="en-US" altLang="en-US" sz="3200" b="1" dirty="0">
                <a:ln>
                  <a:noFill/>
                </a:ln>
                <a:latin typeface="Google Sans"/>
              </a:rPr>
            </a:br>
            <a:endParaRPr lang="en-US" sz="3200" dirty="0"/>
          </a:p>
        </p:txBody>
      </p:sp>
      <p:sp>
        <p:nvSpPr>
          <p:cNvPr id="5" name="Rectangle 2"/>
          <p:cNvSpPr>
            <a:spLocks noGrp="1" noChangeArrowheads="1"/>
          </p:cNvSpPr>
          <p:nvPr>
            <p:ph idx="1"/>
          </p:nvPr>
        </p:nvSpPr>
        <p:spPr bwMode="auto">
          <a:xfrm>
            <a:off x="741680" y="1852990"/>
            <a:ext cx="7945120" cy="4508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Text"/>
              </a:rPr>
              <a:t>The Challenge:</a:t>
            </a:r>
            <a:r>
              <a:rPr kumimoji="0" lang="en-US" altLang="en-US" b="0" i="0" u="none" strike="noStrike" cap="none" normalizeH="0" baseline="0" dirty="0">
                <a:ln>
                  <a:noFill/>
                </a:ln>
                <a:solidFill>
                  <a:schemeClr val="tx1"/>
                </a:solidFill>
                <a:effectLst/>
                <a:latin typeface="Google Sans Text"/>
              </a:rPr>
              <a:t> </a:t>
            </a:r>
          </a:p>
          <a:p>
            <a:pPr marL="457200" lvl="1" indent="0" defTabSz="914400" eaLnBrk="0" fontAlgn="base" hangingPunct="0">
              <a:spcBef>
                <a:spcPct val="0"/>
              </a:spcBef>
              <a:spcAft>
                <a:spcPct val="0"/>
              </a:spcAft>
              <a:buClrTx/>
              <a:buSzTx/>
              <a:buFontTx/>
              <a:buChar char="•"/>
            </a:pPr>
            <a:r>
              <a:rPr kumimoji="0" lang="en-US" altLang="en-US" sz="1400" b="0" i="0" u="none" strike="noStrike" cap="none" normalizeH="0" baseline="0" dirty="0">
                <a:ln>
                  <a:noFill/>
                </a:ln>
                <a:solidFill>
                  <a:schemeClr val="tx1"/>
                </a:solidFill>
                <a:effectLst/>
                <a:latin typeface="Google Sans Text"/>
              </a:rPr>
              <a:t>How do we measure things that don't have hard numbers, like "Security" or "Usability"?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The Concept of "Satisficing":</a:t>
            </a:r>
            <a:r>
              <a:rPr kumimoji="0" lang="en-US" altLang="en-US" sz="1800" b="0" i="0" u="none" strike="noStrike" cap="none" normalizeH="0" baseline="0" dirty="0">
                <a:ln>
                  <a:noFill/>
                </a:ln>
                <a:solidFill>
                  <a:schemeClr val="tx1"/>
                </a:solidFill>
                <a:effectLst/>
                <a:latin typeface="Google Sans Text"/>
              </a:rPr>
              <a:t> </a:t>
            </a:r>
          </a:p>
          <a:p>
            <a:pPr marL="457200" lvl="1" indent="0" defTabSz="914400" eaLnBrk="0" fontAlgn="base" hangingPunct="0">
              <a:spcBef>
                <a:spcPct val="0"/>
              </a:spcBef>
              <a:spcAft>
                <a:spcPct val="0"/>
              </a:spcAft>
              <a:buClrTx/>
              <a:buSzTx/>
              <a:buFontTx/>
              <a:buChar char="•"/>
            </a:pPr>
            <a:r>
              <a:rPr kumimoji="0" lang="en-US" altLang="en-US" sz="1400" b="0" i="0" u="none" strike="noStrike" cap="none" normalizeH="0" baseline="0" dirty="0">
                <a:ln>
                  <a:noFill/>
                </a:ln>
                <a:solidFill>
                  <a:schemeClr val="tx1"/>
                </a:solidFill>
                <a:effectLst/>
                <a:latin typeface="Google Sans Text"/>
              </a:rPr>
              <a:t>A term coined by Herbert Simon (Satisfy + Suffice). It means a goal is met to an </a:t>
            </a:r>
            <a:r>
              <a:rPr kumimoji="0" lang="en-US" altLang="en-US" sz="1400" b="0" i="1" u="none" strike="noStrike" cap="none" normalizeH="0" baseline="0" dirty="0">
                <a:ln>
                  <a:noFill/>
                </a:ln>
                <a:solidFill>
                  <a:schemeClr val="tx1"/>
                </a:solidFill>
                <a:effectLst/>
                <a:latin typeface="Google Sans Text"/>
              </a:rPr>
              <a:t>acceptable degree</a:t>
            </a:r>
            <a:r>
              <a:rPr kumimoji="0" lang="en-US" altLang="en-US" sz="1400" b="0" i="0" u="none" strike="noStrike" cap="none" normalizeH="0" baseline="0" dirty="0">
                <a:ln>
                  <a:noFill/>
                </a:ln>
                <a:solidFill>
                  <a:schemeClr val="tx1"/>
                </a:solidFill>
                <a:effectLst/>
                <a:latin typeface="Google Sans Text"/>
              </a:rPr>
              <a:t> rather than strictly verified.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Contribution Links:</a:t>
            </a:r>
            <a:r>
              <a:rPr kumimoji="0" lang="en-US" altLang="en-US" sz="1800" b="0" i="0" u="none" strike="noStrike" cap="none" normalizeH="0" baseline="0" dirty="0">
                <a:ln>
                  <a:noFill/>
                </a:ln>
                <a:solidFill>
                  <a:schemeClr val="tx1"/>
                </a:solidFill>
                <a:effectLst/>
                <a:latin typeface="Google Sans Text"/>
              </a:rPr>
              <a:t> We evaluate alternatives based on how they impact higher-level </a:t>
            </a:r>
            <a:r>
              <a:rPr kumimoji="0" lang="en-US" altLang="en-US" sz="1800" b="0" i="0" u="none" strike="noStrike" cap="none" normalizeH="0" baseline="0" dirty="0" err="1">
                <a:ln>
                  <a:noFill/>
                </a:ln>
                <a:solidFill>
                  <a:schemeClr val="tx1"/>
                </a:solidFill>
                <a:effectLst/>
                <a:latin typeface="Google Sans Text"/>
              </a:rPr>
              <a:t>softgoals</a:t>
            </a:r>
            <a:r>
              <a:rPr kumimoji="0" lang="en-US" altLang="en-US" sz="1800" b="0" i="0" u="none" strike="noStrike" cap="none" normalizeH="0" baseline="0" dirty="0">
                <a:ln>
                  <a:noFill/>
                </a:ln>
                <a:solidFill>
                  <a:schemeClr val="tx1"/>
                </a:solidFill>
                <a:effectLst/>
                <a:latin typeface="Google Sans Text"/>
              </a:rPr>
              <a:t> using qualitative labels: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Make (++):</a:t>
            </a:r>
            <a:r>
              <a:rPr kumimoji="0" lang="en-US" altLang="en-US" sz="1800" b="0" i="0" u="none" strike="noStrike" cap="none" normalizeH="0" baseline="0" dirty="0">
                <a:ln>
                  <a:noFill/>
                </a:ln>
                <a:solidFill>
                  <a:schemeClr val="tx1"/>
                </a:solidFill>
                <a:effectLst/>
                <a:latin typeface="Google Sans Text"/>
              </a:rPr>
              <a:t> Task guarantees the goal is satisficed.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Help (+):</a:t>
            </a:r>
            <a:r>
              <a:rPr kumimoji="0" lang="en-US" altLang="en-US" sz="1800" b="0" i="0" u="none" strike="noStrike" cap="none" normalizeH="0" baseline="0" dirty="0">
                <a:ln>
                  <a:noFill/>
                </a:ln>
                <a:solidFill>
                  <a:schemeClr val="tx1"/>
                </a:solidFill>
                <a:effectLst/>
                <a:latin typeface="Google Sans Text"/>
              </a:rPr>
              <a:t> Task partially contributes to the goal.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Hurt (-):</a:t>
            </a:r>
            <a:r>
              <a:rPr kumimoji="0" lang="en-US" altLang="en-US" sz="1800" b="0" i="0" u="none" strike="noStrike" cap="none" normalizeH="0" baseline="0" dirty="0">
                <a:ln>
                  <a:noFill/>
                </a:ln>
                <a:solidFill>
                  <a:schemeClr val="tx1"/>
                </a:solidFill>
                <a:effectLst/>
                <a:latin typeface="Google Sans Text"/>
              </a:rPr>
              <a:t> Task partially prevents the goal.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Break (--):</a:t>
            </a:r>
            <a:r>
              <a:rPr kumimoji="0" lang="en-US" altLang="en-US" sz="1800" b="0" i="0" u="none" strike="noStrike" cap="none" normalizeH="0" baseline="0" dirty="0">
                <a:ln>
                  <a:noFill/>
                </a:ln>
                <a:solidFill>
                  <a:schemeClr val="tx1"/>
                </a:solidFill>
                <a:effectLst/>
                <a:latin typeface="Google Sans Text"/>
              </a:rPr>
              <a:t> Task completely denies the goal.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Bottom-Up Propagation:</a:t>
            </a:r>
            <a:r>
              <a:rPr kumimoji="0" lang="en-US" altLang="en-US" sz="1800" b="0" i="0" u="none" strike="noStrike" cap="none" normalizeH="0" baseline="0" dirty="0">
                <a:ln>
                  <a:noFill/>
                </a:ln>
                <a:solidFill>
                  <a:schemeClr val="tx1"/>
                </a:solidFill>
                <a:effectLst/>
                <a:latin typeface="Google Sans Text"/>
              </a:rPr>
              <a:t> We start at the bottom of the graph (the concrete tasks) and propagate these labels upwards.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oogle Sans Text"/>
              </a:rPr>
              <a:t>If a task "Helps" Usability but "Hurts" Security, stakeholders can visually see the trade-off and make a judgment call.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38199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300479"/>
          </a:xfrm>
        </p:spPr>
        <p:txBody>
          <a:bodyPr>
            <a:normAutofit fontScale="90000"/>
          </a:bodyPr>
          <a:lstStyle/>
          <a:p>
            <a:r>
              <a:rPr lang="en-US" dirty="0"/>
              <a:t>Quantitative Evaluation – Doing the Math</a:t>
            </a:r>
          </a:p>
        </p:txBody>
      </p:sp>
      <p:sp>
        <p:nvSpPr>
          <p:cNvPr id="4" name="Rectangle 1"/>
          <p:cNvSpPr>
            <a:spLocks noGrp="1" noChangeArrowheads="1"/>
          </p:cNvSpPr>
          <p:nvPr>
            <p:ph idx="1"/>
          </p:nvPr>
        </p:nvSpPr>
        <p:spPr bwMode="auto">
          <a:xfrm>
            <a:off x="809296" y="1904772"/>
            <a:ext cx="774612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None/>
            </a:pPr>
            <a:r>
              <a:rPr lang="en-US" altLang="en-US" sz="1800" b="1" dirty="0">
                <a:latin typeface="Arial" panose="020B0604020202020204" pitchFamily="34" charset="0"/>
              </a:rPr>
              <a:t>The Challenge: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Sometimes qualitative labels are too vague. When deciding between a $100k system architecture and a $500k one, stakeholders want numbers.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Assigning Weights:</a:t>
            </a:r>
            <a:r>
              <a:rPr kumimoji="0" lang="en-US" altLang="en-US" sz="1800" b="0" i="0" u="none" strike="noStrike" cap="none" normalizeH="0" baseline="0" dirty="0">
                <a:ln>
                  <a:noFill/>
                </a:ln>
                <a:solidFill>
                  <a:schemeClr val="tx1"/>
                </a:solidFill>
                <a:effectLst/>
                <a:latin typeface="Arial" panose="020B0604020202020204" pitchFamily="34" charset="0"/>
              </a:rPr>
              <a:t> Higher-level goals are assigned numerical weights based on priority (e.g., Security = 0.7, Performance = 0.3).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Assigning Scores/Probabilities:</a:t>
            </a:r>
            <a:r>
              <a:rPr kumimoji="0" lang="en-US" altLang="en-US" sz="1800" b="0" i="0" u="none" strike="noStrike" cap="none" normalizeH="0" baseline="0" dirty="0">
                <a:ln>
                  <a:noFill/>
                </a:ln>
                <a:solidFill>
                  <a:schemeClr val="tx1"/>
                </a:solidFill>
                <a:effectLst/>
                <a:latin typeface="Arial" panose="020B0604020202020204" pitchFamily="34" charset="0"/>
              </a:rPr>
              <a:t> Alternative tasks or system designs are given scores based on how well they fulfill the goals (e.g., Task A has a 90% probability of meeting the Performance goal, but only 40% for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Utility Functions:</a:t>
            </a:r>
            <a:r>
              <a:rPr kumimoji="0" lang="en-US" altLang="en-US" sz="1800" b="0" i="0" u="none" strike="noStrike" cap="none" normalizeH="0" baseline="0" dirty="0">
                <a:ln>
                  <a:noFill/>
                </a:ln>
                <a:solidFill>
                  <a:schemeClr val="tx1"/>
                </a:solidFill>
                <a:effectLst/>
                <a:latin typeface="Arial" panose="020B0604020202020204" pitchFamily="34" charset="0"/>
              </a:rPr>
              <a:t> By multiplying the weights by the scores and summing them up, you can calculate a final "Utility Score" for different design alternatives.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Result:</a:t>
            </a:r>
            <a:r>
              <a:rPr kumimoji="0" lang="en-US" altLang="en-US" sz="1800" b="0" i="0" u="none" strike="noStrike" cap="none" normalizeH="0" baseline="0" dirty="0">
                <a:ln>
                  <a:noFill/>
                </a:ln>
                <a:solidFill>
                  <a:schemeClr val="tx1"/>
                </a:solidFill>
                <a:effectLst/>
                <a:latin typeface="Arial" panose="020B0604020202020204" pitchFamily="34" charset="0"/>
              </a:rPr>
              <a:t> The team simply chooses the architectural alternative that yields the highest overall mathematical score.</a:t>
            </a:r>
          </a:p>
        </p:txBody>
      </p:sp>
    </p:spTree>
    <p:extLst>
      <p:ext uri="{BB962C8B-B14F-4D97-AF65-F5344CB8AC3E}">
        <p14:creationId xmlns:p14="http://schemas.microsoft.com/office/powerpoint/2010/main" val="16944067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8080587" cy="721359"/>
          </a:xfrm>
        </p:spPr>
        <p:txBody>
          <a:bodyPr>
            <a:normAutofit fontScale="90000"/>
          </a:bodyPr>
          <a:lstStyle/>
          <a:p>
            <a:r>
              <a:rPr lang="en-US" b="1" dirty="0"/>
              <a:t>Obstacle Analysis – Expecting the Unexpected</a:t>
            </a:r>
            <a:endParaRPr lang="en-US" b="1" dirty="0"/>
          </a:p>
        </p:txBody>
      </p:sp>
      <p:sp>
        <p:nvSpPr>
          <p:cNvPr id="3" name="Content Placeholder 2"/>
          <p:cNvSpPr>
            <a:spLocks noGrp="1"/>
          </p:cNvSpPr>
          <p:nvPr>
            <p:ph idx="1"/>
          </p:nvPr>
        </p:nvSpPr>
        <p:spPr>
          <a:xfrm>
            <a:off x="982133" y="1767840"/>
            <a:ext cx="7704667" cy="4506296"/>
          </a:xfrm>
        </p:spPr>
        <p:txBody>
          <a:bodyPr>
            <a:normAutofit fontScale="92500" lnSpcReduction="20000"/>
          </a:bodyPr>
          <a:lstStyle/>
          <a:p>
            <a:r>
              <a:rPr lang="en-US" b="1" dirty="0"/>
              <a:t>What </a:t>
            </a:r>
            <a:r>
              <a:rPr lang="en-US" b="1" dirty="0"/>
              <a:t>is an Obstacle</a:t>
            </a:r>
            <a:r>
              <a:rPr lang="en-US" b="1" dirty="0"/>
              <a:t>?</a:t>
            </a:r>
          </a:p>
          <a:p>
            <a:pPr lvl="1"/>
            <a:r>
              <a:rPr lang="en-US" dirty="0"/>
              <a:t> </a:t>
            </a:r>
            <a:r>
              <a:rPr lang="en-US" dirty="0"/>
              <a:t>A precondition or event that prevents a goal from being achieved. (e.g., Goal: "User is Authenticated." Obstacle: "User forgot password" or "Server is down").</a:t>
            </a:r>
          </a:p>
          <a:p>
            <a:r>
              <a:rPr lang="en-US" b="1" dirty="0"/>
              <a:t>Why Model Them</a:t>
            </a:r>
            <a:r>
              <a:rPr lang="en-US" b="1" dirty="0"/>
              <a:t>?</a:t>
            </a:r>
          </a:p>
          <a:p>
            <a:pPr lvl="1"/>
            <a:r>
              <a:rPr lang="en-US" dirty="0"/>
              <a:t> </a:t>
            </a:r>
            <a:r>
              <a:rPr lang="en-US" dirty="0"/>
              <a:t>System failures rarely happen because of what the system </a:t>
            </a:r>
            <a:r>
              <a:rPr lang="en-US" i="1" dirty="0"/>
              <a:t>does</a:t>
            </a:r>
            <a:r>
              <a:rPr lang="en-US" dirty="0"/>
              <a:t>; they happen because of what the system </a:t>
            </a:r>
            <a:r>
              <a:rPr lang="en-US" i="1" dirty="0"/>
              <a:t>failed to anticipate</a:t>
            </a:r>
            <a:r>
              <a:rPr lang="en-US" dirty="0"/>
              <a:t>. KAOS is specifically famous for rigorous obstacle analysis.</a:t>
            </a:r>
          </a:p>
          <a:p>
            <a:r>
              <a:rPr lang="en-US" b="1" dirty="0"/>
              <a:t>The Process:</a:t>
            </a:r>
            <a:endParaRPr lang="en-US" dirty="0"/>
          </a:p>
          <a:p>
            <a:pPr lvl="1"/>
            <a:r>
              <a:rPr lang="en-US" b="1" dirty="0"/>
              <a:t>Identify Obstacles:</a:t>
            </a:r>
            <a:r>
              <a:rPr lang="en-US" dirty="0"/>
              <a:t> Take every terminal goal and ask, "How could this fail?" (Often done using fault-tree analysis).</a:t>
            </a:r>
          </a:p>
          <a:p>
            <a:pPr lvl="1"/>
            <a:r>
              <a:rPr lang="en-US" b="1" dirty="0"/>
              <a:t>Assess Impact:</a:t>
            </a:r>
            <a:r>
              <a:rPr lang="en-US" dirty="0"/>
              <a:t> Is this a minor annoyance or a critical failure?</a:t>
            </a:r>
          </a:p>
          <a:p>
            <a:pPr lvl="1"/>
            <a:r>
              <a:rPr lang="en-US" b="1" dirty="0"/>
              <a:t>Generate Resolutions:</a:t>
            </a:r>
            <a:r>
              <a:rPr lang="en-US" dirty="0"/>
              <a:t> We alter the goal model to handle the obstacle</a:t>
            </a:r>
            <a:r>
              <a:rPr lang="en-US" dirty="0"/>
              <a:t>.</a:t>
            </a:r>
            <a:endParaRPr lang="en-US" dirty="0"/>
          </a:p>
        </p:txBody>
      </p:sp>
    </p:spTree>
    <p:extLst>
      <p:ext uri="{BB962C8B-B14F-4D97-AF65-F5344CB8AC3E}">
        <p14:creationId xmlns:p14="http://schemas.microsoft.com/office/powerpoint/2010/main" val="328585353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Scenario</a:t>
            </a:r>
          </a:p>
        </p:txBody>
      </p:sp>
      <p:sp>
        <p:nvSpPr>
          <p:cNvPr id="3" name="Content Placeholder 2"/>
          <p:cNvSpPr>
            <a:spLocks noGrp="1"/>
          </p:cNvSpPr>
          <p:nvPr>
            <p:ph idx="1"/>
          </p:nvPr>
        </p:nvSpPr>
        <p:spPr/>
        <p:txBody>
          <a:bodyPr/>
          <a:lstStyle/>
          <a:p>
            <a:r>
              <a:t>Smart Parking System</a:t>
            </a:r>
          </a:p>
          <a:p>
            <a:r>
              <a:t>Drivers waste time searching for parking</a:t>
            </a:r>
          </a:p>
          <a:p>
            <a:r>
              <a:t>Goal: Reduce parking search time</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High-Level Goal</a:t>
            </a:r>
          </a:p>
        </p:txBody>
      </p:sp>
      <p:sp>
        <p:nvSpPr>
          <p:cNvPr id="3" name="Content Placeholder 2"/>
          <p:cNvSpPr>
            <a:spLocks noGrp="1"/>
          </p:cNvSpPr>
          <p:nvPr>
            <p:ph idx="1"/>
          </p:nvPr>
        </p:nvSpPr>
        <p:spPr/>
        <p:txBody>
          <a:bodyPr/>
          <a:lstStyle/>
          <a:p>
            <a:r>
              <a:t>Improve Urban Parking Management</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Sub Goals</a:t>
            </a:r>
          </a:p>
        </p:txBody>
      </p:sp>
      <p:sp>
        <p:nvSpPr>
          <p:cNvPr id="3" name="Content Placeholder 2"/>
          <p:cNvSpPr>
            <a:spLocks noGrp="1"/>
          </p:cNvSpPr>
          <p:nvPr>
            <p:ph idx="1"/>
          </p:nvPr>
        </p:nvSpPr>
        <p:spPr/>
        <p:txBody>
          <a:bodyPr/>
          <a:lstStyle/>
          <a:p>
            <a:r>
              <a:t>Detect parking availability</a:t>
            </a:r>
          </a:p>
          <a:p>
            <a:r>
              <a:t>Provide mobile application</a:t>
            </a:r>
          </a:p>
          <a:p>
            <a:r>
              <a:t>Enable parking reservation</a:t>
            </a:r>
          </a:p>
          <a:p>
            <a:r>
              <a:t>Enable digital payment</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Tasks</a:t>
            </a:r>
          </a:p>
        </p:txBody>
      </p:sp>
      <p:sp>
        <p:nvSpPr>
          <p:cNvPr id="3" name="Content Placeholder 2"/>
          <p:cNvSpPr>
            <a:spLocks noGrp="1"/>
          </p:cNvSpPr>
          <p:nvPr>
            <p:ph idx="1"/>
          </p:nvPr>
        </p:nvSpPr>
        <p:spPr/>
        <p:txBody>
          <a:bodyPr/>
          <a:lstStyle/>
          <a:p>
            <a:r>
              <a:t>Install sensors</a:t>
            </a:r>
          </a:p>
          <a:p>
            <a:r>
              <a:t>Develop mobile application</a:t>
            </a:r>
          </a:p>
          <a:p>
            <a:r>
              <a:t>Integrate payment gateway</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Goal to Requirement Example</a:t>
            </a:r>
          </a:p>
        </p:txBody>
      </p:sp>
      <p:sp>
        <p:nvSpPr>
          <p:cNvPr id="3" name="Content Placeholder 2"/>
          <p:cNvSpPr>
            <a:spLocks noGrp="1"/>
          </p:cNvSpPr>
          <p:nvPr>
            <p:ph idx="1"/>
          </p:nvPr>
        </p:nvSpPr>
        <p:spPr/>
        <p:txBody>
          <a:bodyPr/>
          <a:lstStyle/>
          <a:p>
            <a:r>
              <a:t>Goal: Provide parking information</a:t>
            </a:r>
          </a:p>
          <a:p>
            <a:r>
              <a:t>Requirement: System shall display real-time parking availability</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Terminologies used </a:t>
            </a:r>
            <a:r>
              <a:rPr lang="en-US" dirty="0"/>
              <a:t>in Goal Models</a:t>
            </a:r>
          </a:p>
        </p:txBody>
      </p:sp>
      <p:sp>
        <p:nvSpPr>
          <p:cNvPr id="3" name="Content Placeholder 2"/>
          <p:cNvSpPr>
            <a:spLocks noGrp="1"/>
          </p:cNvSpPr>
          <p:nvPr>
            <p:ph idx="1"/>
          </p:nvPr>
        </p:nvSpPr>
        <p:spPr/>
        <p:txBody>
          <a:bodyPr>
            <a:normAutofit/>
          </a:bodyPr>
          <a:lstStyle/>
          <a:p>
            <a:pPr lvl="1">
              <a:buFont typeface="Wingdings" pitchFamily="2" charset="2"/>
              <a:buChar char="Ø"/>
            </a:pPr>
            <a:r>
              <a:rPr lang="en-US" dirty="0"/>
              <a:t>Goals </a:t>
            </a:r>
            <a:r>
              <a:rPr lang="en-US" dirty="0"/>
              <a:t>(Optional Goals, Mandatory Goals)</a:t>
            </a:r>
          </a:p>
          <a:p>
            <a:pPr lvl="1">
              <a:buFont typeface="Wingdings" pitchFamily="2" charset="2"/>
              <a:buChar char="Ø"/>
            </a:pPr>
            <a:r>
              <a:rPr lang="en-US" dirty="0"/>
              <a:t>Tasks and </a:t>
            </a:r>
            <a:r>
              <a:rPr lang="en-US" dirty="0"/>
              <a:t>Plans</a:t>
            </a:r>
          </a:p>
          <a:p>
            <a:pPr lvl="1">
              <a:buFont typeface="Wingdings" pitchFamily="2" charset="2"/>
              <a:buChar char="Ø"/>
            </a:pPr>
            <a:r>
              <a:rPr lang="en-US" dirty="0"/>
              <a:t>AND </a:t>
            </a:r>
            <a:r>
              <a:rPr lang="en-US" dirty="0"/>
              <a:t>/ OR decomposition</a:t>
            </a:r>
          </a:p>
          <a:p>
            <a:pPr lvl="1">
              <a:buFont typeface="Wingdings" pitchFamily="2" charset="2"/>
              <a:buChar char="Ø"/>
            </a:pPr>
            <a:r>
              <a:rPr lang="en-US" dirty="0"/>
              <a:t>Precedence Links( +</a:t>
            </a:r>
            <a:r>
              <a:rPr lang="en-US" dirty="0" err="1"/>
              <a:t>ive</a:t>
            </a:r>
            <a:r>
              <a:rPr lang="en-US" dirty="0"/>
              <a:t> and –</a:t>
            </a:r>
            <a:r>
              <a:rPr lang="en-US" dirty="0" err="1"/>
              <a:t>ive</a:t>
            </a:r>
            <a:r>
              <a:rPr lang="en-US" dirty="0"/>
              <a:t>)</a:t>
            </a:r>
          </a:p>
        </p:txBody>
      </p:sp>
    </p:spTree>
    <p:extLst>
      <p:ext uri="{BB962C8B-B14F-4D97-AF65-F5344CB8AC3E}">
        <p14:creationId xmlns:p14="http://schemas.microsoft.com/office/powerpoint/2010/main" val="685455871"/>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EFDD4D7-2EFC-40C4-AE0E-52B76539B3E0}"/>
              </a:ext>
            </a:extLst>
          </p:cNvPr>
          <p:cNvPicPr>
            <a:picLocks noGrp="1" noChangeAspect="1"/>
          </p:cNvPicPr>
          <p:nvPr>
            <p:ph idx="1"/>
          </p:nvPr>
        </p:nvPicPr>
        <p:blipFill>
          <a:blip r:embed="R6805867c85b84bbf">
            <a:extLst>
              <a:ext uri="{28A0092B-C50C-407E-A947-70E740481C1C}">
                <a14:useLocalDpi xmlns:a14="http://schemas.microsoft.com/office/drawing/2010/main" val="0"/>
              </a:ext>
            </a:extLst>
          </a:blip>
          <a:stretch>
            <a:fillRect/>
          </a:stretch>
        </p:blipFill>
        <p:spPr>
          <a:xfrm>
            <a:off x="2156995" y="5712572"/>
            <a:ext cx="5920205" cy="845744"/>
          </a:xfrm>
        </p:spPr>
      </p:pic>
      <p:pic>
        <p:nvPicPr>
          <p:cNvPr id="1026" name="Picture 2"/>
          <p:cNvPicPr>
            <a:picLocks noChangeAspect="1" noChangeArrowheads="1"/>
          </p:cNvPicPr>
          <p:nvPr/>
        </p:nvPicPr>
        <p:blipFill>
          <a:blip r:embed="Ra414d1fb8a694028">
            <a:extLst>
              <a:ext uri="{28A0092B-C50C-407E-A947-70E740481C1C}">
                <a14:useLocalDpi xmlns:a14="http://schemas.microsoft.com/office/drawing/2010/main" val="0"/>
              </a:ext>
            </a:extLst>
          </a:blip>
          <a:srcRect/>
          <a:stretch>
            <a:fillRect/>
          </a:stretch>
        </p:blipFill>
        <p:spPr bwMode="auto">
          <a:xfrm>
            <a:off x="567559" y="599090"/>
            <a:ext cx="7999467" cy="499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7832964"/>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3903a593b1f1467c">
            <a:extLst>
              <a:ext uri="{28A0092B-C50C-407E-A947-70E740481C1C}">
                <a14:useLocalDpi xmlns:a14="http://schemas.microsoft.com/office/drawing/2010/main" val="0"/>
              </a:ext>
            </a:extLst>
          </a:blip>
          <a:srcRect/>
          <a:stretch>
            <a:fillRect/>
          </a:stretch>
        </p:blipFill>
        <p:spPr bwMode="auto">
          <a:xfrm>
            <a:off x="593284" y="299546"/>
            <a:ext cx="8293764" cy="6027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3179127"/>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ve</a:t>
            </a:r>
            <a:r>
              <a:rPr lang="en-US" dirty="0"/>
              <a:t> Precedence</a:t>
            </a:r>
            <a:endParaRPr lang="en-US" dirty="0"/>
          </a:p>
        </p:txBody>
      </p:sp>
      <p:sp>
        <p:nvSpPr>
          <p:cNvPr id="4" name="Rectangle 1"/>
          <p:cNvSpPr>
            <a:spLocks noGrp="1" noChangeArrowheads="1"/>
          </p:cNvSpPr>
          <p:nvPr>
            <p:ph idx="1"/>
          </p:nvPr>
        </p:nvSpPr>
        <p:spPr bwMode="auto">
          <a:xfrm>
            <a:off x="982133" y="3179246"/>
            <a:ext cx="728757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User Authentication → Reserve Parking Slot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Explanation</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User must </a:t>
            </a:r>
            <a:r>
              <a:rPr kumimoji="0" lang="en-US" altLang="en-US" b="1" i="0" u="none" strike="noStrike" cap="none" normalizeH="0" baseline="0" dirty="0">
                <a:ln>
                  <a:noFill/>
                </a:ln>
                <a:solidFill>
                  <a:schemeClr val="tx1"/>
                </a:solidFill>
                <a:effectLst/>
                <a:latin typeface="Arial" panose="020B0604020202020204" pitchFamily="34" charset="0"/>
              </a:rPr>
              <a:t>log in first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Then they can </a:t>
            </a:r>
            <a:r>
              <a:rPr kumimoji="0" lang="en-US" altLang="en-US" b="1" i="0" u="none" strike="noStrike" cap="none" normalizeH="0" baseline="0" dirty="0">
                <a:ln>
                  <a:noFill/>
                </a:ln>
                <a:solidFill>
                  <a:schemeClr val="tx1"/>
                </a:solidFill>
                <a:effectLst/>
                <a:latin typeface="Arial" panose="020B0604020202020204" pitchFamily="34" charset="0"/>
              </a:rPr>
              <a:t>reserve parking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If authentication fails → reservation cannot proceed.</a:t>
            </a:r>
          </a:p>
        </p:txBody>
      </p:sp>
    </p:spTree>
    <p:extLst>
      <p:ext uri="{BB962C8B-B14F-4D97-AF65-F5344CB8AC3E}">
        <p14:creationId xmlns:p14="http://schemas.microsoft.com/office/powerpoint/2010/main" val="150932895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ve</a:t>
            </a:r>
            <a:r>
              <a:rPr lang="en-US" dirty="0"/>
              <a:t> Precedence</a:t>
            </a:r>
            <a:endParaRPr lang="en-US" dirty="0"/>
          </a:p>
        </p:txBody>
      </p:sp>
      <p:sp>
        <p:nvSpPr>
          <p:cNvPr id="4" name="Rectangle 1"/>
          <p:cNvSpPr>
            <a:spLocks noGrp="1" noChangeArrowheads="1"/>
          </p:cNvSpPr>
          <p:nvPr>
            <p:ph idx="1"/>
          </p:nvPr>
        </p:nvSpPr>
        <p:spPr bwMode="auto">
          <a:xfrm>
            <a:off x="745067" y="2477750"/>
            <a:ext cx="7521584" cy="4499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negative precedence</a:t>
            </a:r>
            <a:r>
              <a:rPr kumimoji="0" lang="en-US" altLang="en-US" sz="1800" b="0" i="0" u="none" strike="noStrike" cap="none" normalizeH="0" baseline="0" dirty="0">
                <a:ln>
                  <a:noFill/>
                </a:ln>
                <a:solidFill>
                  <a:schemeClr val="tx1"/>
                </a:solidFill>
                <a:effectLst/>
                <a:latin typeface="Arial" panose="020B0604020202020204" pitchFamily="34" charset="0"/>
              </a:rPr>
              <a:t> means one action or goal must </a:t>
            </a:r>
            <a:r>
              <a:rPr kumimoji="0" lang="en-US" altLang="en-US" sz="1800" b="1" i="0" u="none" strike="noStrike" cap="none" normalizeH="0" baseline="0" dirty="0">
                <a:ln>
                  <a:noFill/>
                </a:ln>
                <a:solidFill>
                  <a:schemeClr val="tx1"/>
                </a:solidFill>
                <a:effectLst/>
                <a:latin typeface="Arial" panose="020B0604020202020204" pitchFamily="34" charset="0"/>
              </a:rPr>
              <a:t>NOT happen before</a:t>
            </a:r>
            <a:r>
              <a:rPr kumimoji="0" lang="en-US" altLang="en-US" sz="1800" b="0" i="0" u="none" strike="noStrike" cap="none" normalizeH="0" baseline="0" dirty="0">
                <a:ln>
                  <a:noFill/>
                </a:ln>
                <a:solidFill>
                  <a:schemeClr val="tx1"/>
                </a:solidFill>
                <a:effectLst/>
                <a:latin typeface="Arial" panose="020B0604020202020204" pitchFamily="34" charset="0"/>
              </a:rPr>
              <a:t> another, or one condition </a:t>
            </a:r>
            <a:r>
              <a:rPr kumimoji="0" lang="en-US" altLang="en-US" sz="1800" b="1" i="0" u="none" strike="noStrike" cap="none" normalizeH="0" baseline="0" dirty="0">
                <a:ln>
                  <a:noFill/>
                </a:ln>
                <a:solidFill>
                  <a:schemeClr val="tx1"/>
                </a:solidFill>
                <a:effectLst/>
                <a:latin typeface="Arial" panose="020B0604020202020204" pitchFamily="34" charset="0"/>
              </a:rPr>
              <a:t>prevents</a:t>
            </a:r>
            <a:r>
              <a:rPr kumimoji="0" lang="en-US" altLang="en-US" sz="1800" b="0" i="0" u="none" strike="noStrike" cap="none" normalizeH="0" baseline="0" dirty="0">
                <a:ln>
                  <a:noFill/>
                </a:ln>
                <a:solidFill>
                  <a:schemeClr val="tx1"/>
                </a:solidFill>
                <a:effectLst/>
                <a:latin typeface="Arial" panose="020B0604020202020204" pitchFamily="34" charset="0"/>
              </a:rPr>
              <a:t> another.</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Think of it as:</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should not occur unless something else has happened”</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or</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“If this happens, that must NOT happen”</a:t>
            </a:r>
          </a:p>
          <a:p>
            <a:pPr marL="0" lvl="0" indent="0" defTabSz="914400" eaLnBrk="0" fontAlgn="base" hangingPunct="0">
              <a:spcBef>
                <a:spcPct val="0"/>
              </a:spcBef>
              <a:spcAft>
                <a:spcPct val="0"/>
              </a:spcAft>
              <a:buClrTx/>
              <a:buSzTx/>
              <a:buNone/>
            </a:pPr>
            <a:r>
              <a:rPr lang="en-US" altLang="en-US" sz="1800" b="1" dirty="0">
                <a:latin typeface="Arial" panose="020B0604020202020204" pitchFamily="34" charset="0"/>
              </a:rPr>
              <a:t>Example – Smart Parking </a:t>
            </a:r>
            <a:r>
              <a:rPr lang="en-US" altLang="en-US" sz="1800" b="1" dirty="0" err="1">
                <a:latin typeface="Arial" panose="020B0604020202020204" pitchFamily="34" charset="0"/>
              </a:rPr>
              <a:t>SystemPayment</a:t>
            </a:r>
            <a:r>
              <a:rPr lang="en-US" altLang="en-US" sz="1800" dirty="0">
                <a:latin typeface="Arial" panose="020B0604020202020204" pitchFamily="34" charset="0"/>
              </a:rPr>
              <a:t> </a:t>
            </a:r>
            <a:endParaRPr lang="en-US" altLang="en-US" sz="1800" dirty="0">
              <a:latin typeface="Arial" panose="020B0604020202020204" pitchFamily="34" charset="0"/>
            </a:endParaRPr>
          </a:p>
          <a:p>
            <a:pPr marL="0" lvl="0" indent="0" defTabSz="914400" eaLnBrk="0" fontAlgn="base" hangingPunct="0">
              <a:spcBef>
                <a:spcPct val="0"/>
              </a:spcBef>
              <a:spcAft>
                <a:spcPct val="0"/>
              </a:spcAft>
              <a:buClrTx/>
              <a:buSzTx/>
              <a:buNone/>
            </a:pPr>
            <a:r>
              <a:rPr lang="en-US" altLang="en-US" sz="1800" dirty="0">
                <a:latin typeface="Arial" panose="020B0604020202020204" pitchFamily="34" charset="0"/>
              </a:rPr>
              <a:t>Payment Failed ⟶ NOT Confirm </a:t>
            </a:r>
            <a:r>
              <a:rPr lang="en-US" altLang="en-US" sz="1800" dirty="0">
                <a:latin typeface="Arial" panose="020B0604020202020204" pitchFamily="34" charset="0"/>
              </a:rPr>
              <a:t>Booking</a:t>
            </a:r>
          </a:p>
          <a:p>
            <a:r>
              <a:rPr lang="en-US" sz="1800" b="1" dirty="0"/>
              <a:t>Explanation</a:t>
            </a:r>
          </a:p>
          <a:p>
            <a:r>
              <a:rPr lang="en-US" sz="1800" dirty="0"/>
              <a:t>If payment fails</a:t>
            </a:r>
          </a:p>
          <a:p>
            <a:r>
              <a:rPr lang="en-US" sz="1800" dirty="0"/>
              <a:t>System must </a:t>
            </a:r>
            <a:r>
              <a:rPr lang="en-US" sz="1800" b="1" dirty="0"/>
              <a:t>prevent booking confirmation</a:t>
            </a:r>
            <a:endParaRPr lang="en-US" sz="1800" dirty="0"/>
          </a:p>
          <a:p>
            <a:r>
              <a:rPr lang="en-US" sz="1800" dirty="0"/>
              <a:t>This is a </a:t>
            </a:r>
            <a:r>
              <a:rPr lang="en-US" sz="1800" b="1" dirty="0"/>
              <a:t>safety constraint</a:t>
            </a:r>
            <a:r>
              <a:rPr lang="en-US" sz="1800" dirty="0"/>
              <a:t>.</a:t>
            </a:r>
          </a:p>
          <a:p>
            <a:pPr marL="0" lvl="0" indent="0" defTabSz="914400" eaLnBrk="0" fontAlgn="base" hangingPunct="0">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425202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GORE focuses on stakeholder intentions</a:t>
            </a:r>
          </a:p>
          <a:p>
            <a:r>
              <a:t>Goals are refined into requirements</a:t>
            </a:r>
          </a:p>
          <a:p>
            <a:r>
              <a:t>Goal models support better system design</a:t>
            </a:r>
          </a:p>
        </p:txBody>
      </p:sp>
    </p:spTree>
  </p:cSld>
  <p:clrMapOvr>
    <a:masterClrMapping/>
  </p:clrMapOvr>
</p:sld>
</file>

<file path=docProps/app.xml><?xml version="1.0" encoding="utf-8"?>
<Properties xmlns="http://schemas.openxmlformats.org/officeDocument/2006/extended-properties" xmlns:vt="http://schemas.openxmlformats.org/officeDocument/2006/docPropsVTypes">
  <Template>Parallax</Template>
  <TotalTime>539</TotalTime>
  <Words>1392</Words>
  <Application>Microsoft Office PowerPoint</Application>
  <PresentationFormat>On-screen Show (4:3)</PresentationFormat>
  <Paragraphs>251</Paragraphs>
  <Slides>22</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Corbel</vt:lpstr>
      <vt:lpstr>Wingdings</vt:lpstr>
      <vt:lpstr>Parallax</vt:lpstr>
      <vt:lpstr>Advanced Software Engineering</vt:lpstr>
      <vt:lpstr>What is Engineering?</vt:lpstr>
      <vt:lpstr>What is Software?</vt:lpstr>
      <vt:lpstr>What is Software Engineering?</vt:lpstr>
      <vt:lpstr>Software Process</vt:lpstr>
      <vt:lpstr>Plan-driven and agile processes</vt:lpstr>
      <vt:lpstr>Plan-driven process</vt:lpstr>
      <vt:lpstr>Agile process</vt:lpstr>
      <vt:lpstr>Types of SDLC Models</vt:lpstr>
      <vt:lpstr>WATERFALL MODEL</vt:lpstr>
      <vt:lpstr>Incremental model</vt:lpstr>
      <vt:lpstr>RAD model</vt:lpstr>
      <vt:lpstr>RAD model</vt:lpstr>
      <vt:lpstr>Spiral model</vt:lpstr>
      <vt:lpstr>Lean Software Development</vt:lpstr>
      <vt:lpstr>What are the attributes of good software?</vt:lpstr>
      <vt:lpstr>Operational </vt:lpstr>
      <vt:lpstr>Transitional</vt:lpstr>
      <vt:lpstr>Maintenance</vt:lpstr>
      <vt:lpstr>Reasons for Software Failure</vt:lpstr>
      <vt:lpstr>Key Challenges</vt:lpstr>
      <vt:lpstr>Closing Thought</vt:lpstr>
    </vt:vector>
  </TitlesOfParts>
  <Manager/>
  <Company/>
  <LinksUpToDate>false</LinksUpToDate>
  <SharedDoc>false</SharedDoc>
  <HyperlinkBase/>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Advanced Software Engineering</dc:title>
  <dc:subject/>
  <dc:creator>shehla saeed</dc:creator>
  <keywords/>
  <dc:description>generated using python-pptx</dc:description>
  <lastModifiedBy>shehla saeed</lastModifiedBy>
  <revision>10</revision>
  <dcterms:created xsi:type="dcterms:W3CDTF">2013-01-27T09:14:16.0000000Z</dcterms:created>
  <dcterms:modified xsi:type="dcterms:W3CDTF">2026-03-31T14:07:54.5620000Z</dcterms:modified>
  <category/>
</coreProperties>
</file>
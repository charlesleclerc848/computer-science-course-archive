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9" r:id="rId9"/>
    <p:sldId id="271" r:id="rId10"/>
    <p:sldId id="263" r:id="rId11"/>
    <p:sldId id="264" r:id="rId12"/>
    <p:sldId id="265" r:id="rId13"/>
    <p:sldId id="267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174" autoAdjust="0"/>
  </p:normalViewPr>
  <p:slideViewPr>
    <p:cSldViewPr snapToGrid="0" snapToObjects="1">
      <p:cViewPr>
        <p:scale>
          <a:sx n="61" d="100"/>
          <a:sy n="61" d="100"/>
        </p:scale>
        <p:origin x="182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2846E-52CC-44E3-9FEC-221F3FEA019E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8AAEC-A513-4871-A33D-6A7F45C00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03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40080" lvl="1" eaLnBrk="1" fontAlgn="auto" hangingPunct="1">
              <a:spcAft>
                <a:spcPts val="0"/>
              </a:spcAft>
              <a:defRPr/>
            </a:pPr>
            <a:r>
              <a:rPr lang="en-US" b="1" u="sng" dirty="0" smtClean="0"/>
              <a:t>Normal requirements</a:t>
            </a:r>
            <a:r>
              <a:rPr lang="en-US" b="1" dirty="0" smtClean="0"/>
              <a:t>: </a:t>
            </a:r>
            <a:r>
              <a:rPr lang="en-US" dirty="0" smtClean="0"/>
              <a:t>These requirements are the objectives and goals stated for a product or system during meetings with the customer</a:t>
            </a:r>
          </a:p>
          <a:p>
            <a:pPr marL="640080" lvl="1" eaLnBrk="1" fontAlgn="auto" hangingPunct="1">
              <a:spcAft>
                <a:spcPts val="0"/>
              </a:spcAft>
              <a:defRPr/>
            </a:pPr>
            <a:r>
              <a:rPr lang="en-US" b="1" u="sng" dirty="0" smtClean="0"/>
              <a:t>Expected requirements</a:t>
            </a:r>
            <a:r>
              <a:rPr lang="en-US" b="1" dirty="0" smtClean="0"/>
              <a:t>:  </a:t>
            </a:r>
            <a:r>
              <a:rPr lang="en-US" dirty="0" smtClean="0"/>
              <a:t>These requirements are understood to the product or system and may be so fundamental that the customer does not explicitly state them</a:t>
            </a:r>
          </a:p>
          <a:p>
            <a:pPr marL="640080" lvl="1" eaLnBrk="1" fontAlgn="auto" hangingPunct="1">
              <a:spcAft>
                <a:spcPts val="0"/>
              </a:spcAft>
              <a:defRPr/>
            </a:pPr>
            <a:r>
              <a:rPr lang="en-US" b="1" u="sng" dirty="0" smtClean="0"/>
              <a:t>Exciting requirements</a:t>
            </a:r>
            <a:r>
              <a:rPr lang="en-US" b="1" dirty="0" smtClean="0"/>
              <a:t>: </a:t>
            </a:r>
            <a:r>
              <a:rPr lang="en-US" dirty="0" smtClean="0"/>
              <a:t>These requirements are for features that go beyond the customer's expectations and prove to be very satisfying when present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18AAEC-A513-4871-A33D-6A7F45C001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69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✅ That’s a </a:t>
            </a:r>
            <a:r>
              <a:rPr lang="en-US" b="1" dirty="0" smtClean="0"/>
              <a:t>Non-Functional Requirement (NFR)</a:t>
            </a:r>
            <a:r>
              <a:rPr lang="en-US" dirty="0" smtClean="0"/>
              <a:t> — specifically a </a:t>
            </a:r>
            <a:r>
              <a:rPr lang="en-US" b="1" dirty="0" smtClean="0"/>
              <a:t>Reliability / Availability</a:t>
            </a:r>
            <a:r>
              <a:rPr lang="en-US" dirty="0" smtClean="0"/>
              <a:t> requirement.</a:t>
            </a:r>
          </a:p>
          <a:p>
            <a:r>
              <a:rPr lang="en-US" dirty="0" smtClean="0"/>
              <a:t>It describes </a:t>
            </a:r>
            <a:r>
              <a:rPr lang="en-US" i="1" dirty="0" smtClean="0"/>
              <a:t>how well</a:t>
            </a:r>
            <a:r>
              <a:rPr lang="en-US" dirty="0" smtClean="0"/>
              <a:t> the system performs (uptime), not </a:t>
            </a:r>
            <a:r>
              <a:rPr lang="en-US" i="1" dirty="0" smtClean="0"/>
              <a:t>what</a:t>
            </a:r>
            <a:r>
              <a:rPr lang="en-US" dirty="0" smtClean="0"/>
              <a:t> it does.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18AAEC-A513-4871-A33D-6A7F45C001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47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 smtClean="0"/>
              <a:t>🧩 Objective:</a:t>
            </a:r>
          </a:p>
          <a:p>
            <a:r>
              <a:rPr lang="en-US" sz="1200" b="1" dirty="0" smtClean="0"/>
              <a:t>Show how vague requirements can be clarified.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Why was the original requirement unclear?”</a:t>
            </a:r>
            <a:br>
              <a:rPr lang="en-US" dirty="0" smtClean="0"/>
            </a:br>
            <a:r>
              <a:rPr lang="en-US" dirty="0" smtClean="0"/>
              <a:t>“How did better questioning improve the requirement?”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18AAEC-A513-4871-A33D-6A7F45C0018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52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Brainstorming</a:t>
            </a:r>
            <a:r>
              <a:rPr lang="en-US" dirty="0" smtClean="0"/>
              <a:t> is another </a:t>
            </a:r>
            <a:r>
              <a:rPr lang="en-US" b="1" dirty="0" smtClean="0"/>
              <a:t>requirement elicitation technique</a:t>
            </a:r>
            <a:r>
              <a:rPr lang="en-US" dirty="0" smtClean="0"/>
              <a:t> used to generate a wide range of ideas or solutions in a short time. </a:t>
            </a:r>
          </a:p>
          <a:p>
            <a:r>
              <a:rPr lang="en-US" dirty="0" smtClean="0"/>
              <a:t>💡</a:t>
            </a:r>
            <a:r>
              <a:rPr lang="en-US" b="1" dirty="0" smtClean="0"/>
              <a:t> Key Features:</a:t>
            </a:r>
          </a:p>
          <a:p>
            <a:r>
              <a:rPr lang="en-US" b="1" dirty="0" smtClean="0"/>
              <a:t>Group activity:</a:t>
            </a:r>
            <a:r>
              <a:rPr lang="en-US" dirty="0" smtClean="0"/>
              <a:t> Involves stakeholders, developers, and users.</a:t>
            </a:r>
          </a:p>
          <a:p>
            <a:r>
              <a:rPr lang="en-US" b="1" dirty="0" smtClean="0"/>
              <a:t>Goal:</a:t>
            </a:r>
            <a:r>
              <a:rPr lang="en-US" dirty="0" smtClean="0"/>
              <a:t> Collect as many ideas as possible — no criticism allowed initially.</a:t>
            </a:r>
          </a:p>
          <a:p>
            <a:r>
              <a:rPr lang="en-US" b="1" dirty="0" smtClean="0"/>
              <a:t>Focus:</a:t>
            </a:r>
            <a:r>
              <a:rPr lang="en-US" dirty="0" smtClean="0"/>
              <a:t> Creativity first, evaluation later.</a:t>
            </a:r>
          </a:p>
          <a:p>
            <a:r>
              <a:rPr lang="en-US" b="1" dirty="0" smtClean="0"/>
              <a:t>Helps:</a:t>
            </a:r>
            <a:r>
              <a:rPr lang="en-US" dirty="0" smtClean="0"/>
              <a:t> Discover new features, identify problems, or refine system goals.</a:t>
            </a:r>
          </a:p>
          <a:p>
            <a:r>
              <a:rPr lang="en-US" b="1" dirty="0" smtClean="0"/>
              <a:t> Steps:</a:t>
            </a:r>
          </a:p>
          <a:p>
            <a:r>
              <a:rPr lang="en-US" dirty="0" smtClean="0"/>
              <a:t>Define the </a:t>
            </a:r>
            <a:r>
              <a:rPr lang="en-US" b="1" dirty="0" smtClean="0"/>
              <a:t>problem or topic</a:t>
            </a:r>
            <a:r>
              <a:rPr lang="en-US" dirty="0" smtClean="0"/>
              <a:t> clearly.</a:t>
            </a:r>
          </a:p>
          <a:p>
            <a:r>
              <a:rPr lang="en-US" dirty="0" smtClean="0"/>
              <a:t>Encourage </a:t>
            </a:r>
            <a:r>
              <a:rPr lang="en-US" b="1" dirty="0" smtClean="0"/>
              <a:t>free flow of ideas</a:t>
            </a:r>
            <a:r>
              <a:rPr lang="en-US" dirty="0" smtClean="0"/>
              <a:t> — everyone contributes.</a:t>
            </a:r>
          </a:p>
          <a:p>
            <a:r>
              <a:rPr lang="en-US" dirty="0" smtClean="0"/>
              <a:t>Record all ideas (whiteboard, sticky notes, or tools).</a:t>
            </a:r>
          </a:p>
          <a:p>
            <a:r>
              <a:rPr lang="en-US" dirty="0" smtClean="0"/>
              <a:t>After idea generation, </a:t>
            </a:r>
            <a:r>
              <a:rPr lang="en-US" b="1" dirty="0" smtClean="0"/>
              <a:t>analyze and prioritize</a:t>
            </a:r>
            <a:r>
              <a:rPr lang="en-US" dirty="0" smtClean="0"/>
              <a:t> them.</a:t>
            </a:r>
          </a:p>
          <a:p>
            <a:endParaRPr lang="en-US" b="1" dirty="0" smtClean="0"/>
          </a:p>
          <a:p>
            <a:r>
              <a:rPr lang="en-US" b="1" dirty="0" smtClean="0"/>
              <a:t>Prototyping</a:t>
            </a:r>
          </a:p>
          <a:p>
            <a:r>
              <a:rPr lang="en-US" dirty="0" smtClean="0"/>
              <a:t>To help users and developers </a:t>
            </a:r>
            <a:r>
              <a:rPr lang="en-US" b="1" dirty="0" smtClean="0"/>
              <a:t>understand requirements better</a:t>
            </a:r>
            <a:r>
              <a:rPr lang="en-US" dirty="0" smtClean="0"/>
              <a:t> by seeing a </a:t>
            </a:r>
            <a:r>
              <a:rPr lang="en-US" b="1" dirty="0" smtClean="0"/>
              <a:t>visual or functional mock-up</a:t>
            </a:r>
            <a:r>
              <a:rPr lang="en-US" dirty="0" smtClean="0"/>
              <a:t> of the system.</a:t>
            </a:r>
          </a:p>
          <a:p>
            <a:r>
              <a:rPr lang="en-US" b="1" dirty="0" smtClean="0"/>
              <a:t>Steps in Prototyping</a:t>
            </a:r>
          </a:p>
          <a:p>
            <a:r>
              <a:rPr lang="en-US" b="1" dirty="0" smtClean="0"/>
              <a:t>Gather initial requirements</a:t>
            </a:r>
            <a:endParaRPr lang="en-US" dirty="0" smtClean="0"/>
          </a:p>
          <a:p>
            <a:r>
              <a:rPr lang="en-US" b="1" dirty="0" smtClean="0"/>
              <a:t>Build a prototype</a:t>
            </a:r>
            <a:r>
              <a:rPr lang="en-US" dirty="0" smtClean="0"/>
              <a:t> (UI mock-up or basic working model)</a:t>
            </a:r>
          </a:p>
          <a:p>
            <a:r>
              <a:rPr lang="en-US" b="1" dirty="0" smtClean="0"/>
              <a:t>Show it to users</a:t>
            </a:r>
            <a:r>
              <a:rPr lang="en-US" dirty="0" smtClean="0"/>
              <a:t> and gather feedback</a:t>
            </a:r>
          </a:p>
          <a:p>
            <a:r>
              <a:rPr lang="en-US" b="1" dirty="0" smtClean="0"/>
              <a:t>Refine the prototype</a:t>
            </a:r>
            <a:r>
              <a:rPr lang="en-US" dirty="0" smtClean="0"/>
              <a:t> based on feedback</a:t>
            </a:r>
          </a:p>
          <a:p>
            <a:r>
              <a:rPr lang="en-US" dirty="0" smtClean="0"/>
              <a:t>Repeat until requirements are clear and approved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JAD</a:t>
            </a:r>
            <a:r>
              <a:rPr lang="en-US" dirty="0" smtClean="0"/>
              <a:t> stands for </a:t>
            </a:r>
            <a:r>
              <a:rPr lang="en-US" b="1" dirty="0" smtClean="0"/>
              <a:t>Joint Application Development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It’s a </a:t>
            </a:r>
            <a:r>
              <a:rPr lang="en-US" b="1" dirty="0" smtClean="0"/>
              <a:t>requirement elicitation technique</a:t>
            </a:r>
            <a:r>
              <a:rPr lang="en-US" dirty="0" smtClean="0"/>
              <a:t> used in software engineering where:</a:t>
            </a:r>
          </a:p>
          <a:p>
            <a:r>
              <a:rPr lang="en-US" b="1" dirty="0" smtClean="0"/>
              <a:t>Developers, users, and stakeholders</a:t>
            </a:r>
            <a:r>
              <a:rPr lang="en-US" dirty="0" smtClean="0"/>
              <a:t> work together in </a:t>
            </a:r>
            <a:r>
              <a:rPr lang="en-US" b="1" dirty="0" smtClean="0"/>
              <a:t>structured workshops</a:t>
            </a:r>
            <a:endParaRPr lang="en-US" dirty="0" smtClean="0"/>
          </a:p>
          <a:p>
            <a:r>
              <a:rPr lang="en-US" dirty="0" smtClean="0"/>
              <a:t>The goal is to </a:t>
            </a:r>
            <a:r>
              <a:rPr lang="en-US" b="1" dirty="0" smtClean="0"/>
              <a:t>gather and refine system requirements</a:t>
            </a:r>
            <a:r>
              <a:rPr lang="en-US" dirty="0" smtClean="0"/>
              <a:t> quickly and clearly</a:t>
            </a:r>
          </a:p>
          <a:p>
            <a:r>
              <a:rPr lang="en-US" dirty="0" smtClean="0"/>
              <a:t>🧠 </a:t>
            </a:r>
            <a:r>
              <a:rPr lang="en-US" b="1" dirty="0" smtClean="0"/>
              <a:t>Key points:</a:t>
            </a:r>
            <a:endParaRPr lang="en-US" dirty="0" smtClean="0"/>
          </a:p>
          <a:p>
            <a:r>
              <a:rPr lang="en-US" dirty="0" smtClean="0"/>
              <a:t>Conducted by a </a:t>
            </a:r>
            <a:r>
              <a:rPr lang="en-US" b="1" dirty="0" smtClean="0"/>
              <a:t>facilitator</a:t>
            </a:r>
            <a:endParaRPr lang="en-US" dirty="0" smtClean="0"/>
          </a:p>
          <a:p>
            <a:r>
              <a:rPr lang="en-US" dirty="0" smtClean="0"/>
              <a:t>Promotes </a:t>
            </a:r>
            <a:r>
              <a:rPr lang="en-US" b="1" dirty="0" smtClean="0"/>
              <a:t>collaboration</a:t>
            </a:r>
            <a:r>
              <a:rPr lang="en-US" dirty="0" smtClean="0"/>
              <a:t> and </a:t>
            </a:r>
            <a:r>
              <a:rPr lang="en-US" b="1" dirty="0" smtClean="0"/>
              <a:t>consensus</a:t>
            </a:r>
            <a:endParaRPr lang="en-US" dirty="0" smtClean="0"/>
          </a:p>
          <a:p>
            <a:r>
              <a:rPr lang="en-US" dirty="0" smtClean="0"/>
              <a:t>Produces </a:t>
            </a:r>
            <a:r>
              <a:rPr lang="en-US" b="1" dirty="0" smtClean="0"/>
              <a:t>detailed, well-understood requirements</a:t>
            </a:r>
            <a:endParaRPr lang="en-US" dirty="0" smtClean="0"/>
          </a:p>
          <a:p>
            <a:r>
              <a:rPr lang="en-US" dirty="0" smtClean="0"/>
              <a:t>Saves time compared to long interview cycles</a:t>
            </a:r>
          </a:p>
          <a:p>
            <a:r>
              <a:rPr lang="en-US" b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During a JAD session for a library system, librarians, IT staff, and students discuss features like book search, borrowing limits, and reminders — all in one interactive session.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18AAEC-A513-4871-A33D-6A7F45C001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08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📘 Activity: Identify one functional &amp; one non-functional requirement in a sample SRS.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18AAEC-A513-4871-A33D-6A7F45C0018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75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endParaRPr lang="en-US" dirty="0" smtClean="0"/>
          </a:p>
          <a:p>
            <a:pPr>
              <a:defRPr sz="1800">
                <a:latin typeface="Calibri"/>
              </a:defRPr>
            </a:pPr>
            <a:r>
              <a:rPr lang="en-US" dirty="0" smtClean="0"/>
              <a:t>Class Discussion: How many of you have used </a:t>
            </a:r>
            <a:r>
              <a:rPr lang="en-US" dirty="0" err="1" smtClean="0"/>
              <a:t>Careem</a:t>
            </a:r>
            <a:r>
              <a:rPr lang="en-US" dirty="0" smtClean="0"/>
              <a:t>? Which service did you use most?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038FE7-84B1-4EF7-B6E7-9BF209918A4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55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no </a:t>
            </a:r>
            <a:r>
              <a:rPr lang="en-US" b="1" dirty="0" err="1" smtClean="0"/>
              <a:t>Careem</a:t>
            </a:r>
            <a:r>
              <a:rPr lang="en-US" b="1" dirty="0" smtClean="0"/>
              <a:t> cars, bikes, or ride bookings are available in Lahore anymore.</a:t>
            </a:r>
            <a:endParaRPr lang="en-US" dirty="0" smtClean="0"/>
          </a:p>
          <a:p>
            <a:r>
              <a:rPr lang="en-US" dirty="0" smtClean="0"/>
              <a:t>The company cited </a:t>
            </a:r>
            <a:r>
              <a:rPr lang="en-US" b="1" dirty="0" smtClean="0"/>
              <a:t>economic challenges, strong competition, and investment constraints</a:t>
            </a:r>
            <a:r>
              <a:rPr lang="en-US" dirty="0" smtClean="0"/>
              <a:t> as the main reasons for shutting down this service.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18AAEC-A513-4871-A33D-6A7F45C0018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67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Ask: Was this a technical failure or a requirement failure?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038FE7-84B1-4EF7-B6E7-9BF209918A4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346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355971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8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9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8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04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18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34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08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59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6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57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50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02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80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752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53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Requirement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Advanced Software Engineering</a:t>
            </a:r>
          </a:p>
          <a:p>
            <a:endParaRPr lang="en-US" dirty="0" smtClean="0"/>
          </a:p>
          <a:p>
            <a:r>
              <a:rPr dirty="0" smtClean="0"/>
              <a:t>Ms</a:t>
            </a:r>
            <a:r>
              <a:rPr dirty="0"/>
              <a:t>. Shehla Saeed </a:t>
            </a:r>
            <a:endParaRPr lang="en-US" dirty="0" smtClean="0"/>
          </a:p>
          <a:p>
            <a:r>
              <a:rPr dirty="0" smtClean="0"/>
              <a:t>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Requirement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608" y="2705622"/>
            <a:ext cx="7672192" cy="3294194"/>
          </a:xfrm>
        </p:spPr>
        <p:txBody>
          <a:bodyPr/>
          <a:lstStyle/>
          <a:p>
            <a:r>
              <a:rPr dirty="0"/>
              <a:t>Requirement Engineering (RE) is the process of discovering, documenting, and maintaining what users need and expect from a software system.</a:t>
            </a:r>
          </a:p>
          <a:p>
            <a:endParaRPr dirty="0"/>
          </a:p>
          <a:p>
            <a:r>
              <a:rPr dirty="0"/>
              <a:t>It focuses on understanding problems before writing code.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Requirements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Around 70% of software projects fail due to unclear or changing requirements.</a:t>
            </a:r>
          </a:p>
          <a:p>
            <a:r>
              <a:rPr dirty="0" smtClean="0"/>
              <a:t> </a:t>
            </a:r>
            <a:r>
              <a:rPr dirty="0"/>
              <a:t>Proper RE reduces cost and improves customer satisfaction.</a:t>
            </a:r>
          </a:p>
          <a:p>
            <a:endParaRPr dirty="0"/>
          </a:p>
          <a:p>
            <a:r>
              <a:rPr dirty="0" smtClean="0"/>
              <a:t> </a:t>
            </a:r>
            <a:r>
              <a:rPr dirty="0"/>
              <a:t>Question: Why do you think most projects fail?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Requirements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982133" y="1876709"/>
            <a:ext cx="7704667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User Requirements </a:t>
            </a:r>
            <a:r>
              <a:rPr lang="en-US" altLang="en-US" sz="2000" dirty="0">
                <a:latin typeface="Arial" panose="020B0604020202020204" pitchFamily="34" charset="0"/>
              </a:rPr>
              <a:t>– What users expect (natural language)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“App should let me book a ride.”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Requirements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Technical details of what the system must 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“System shall store booking data in a database.”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Requirements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Constraints or rules that come from the application domain or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“Booking records must comply with city transport authority regulations.”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Functional vs 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Functional: Define what the system does.</a:t>
            </a:r>
          </a:p>
          <a:p>
            <a:r>
              <a:rPr dirty="0"/>
              <a:t>Example: 'User can reset password.'</a:t>
            </a:r>
          </a:p>
          <a:p>
            <a:endParaRPr dirty="0"/>
          </a:p>
          <a:p>
            <a:r>
              <a:rPr dirty="0"/>
              <a:t>Non-Functional: Define system quality.</a:t>
            </a:r>
          </a:p>
          <a:p>
            <a:r>
              <a:rPr dirty="0"/>
              <a:t>Example: 'Response time &lt; 2 seconds.'</a:t>
            </a:r>
          </a:p>
          <a:p>
            <a:endParaRPr dirty="0"/>
          </a:p>
          <a:p>
            <a:r>
              <a:rPr dirty="0" smtClean="0"/>
              <a:t>Quick </a:t>
            </a:r>
            <a:r>
              <a:rPr dirty="0"/>
              <a:t>Quiz: Which type is ‘System uptime 99.9%’?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vs Non-Functional </a:t>
            </a:r>
            <a:r>
              <a:rPr lang="en-US" smtClean="0"/>
              <a:t>Requirementss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82663" y="3372961"/>
          <a:ext cx="7704138" cy="1920240"/>
        </p:xfrm>
        <a:graphic>
          <a:graphicData uri="http://schemas.openxmlformats.org/drawingml/2006/table">
            <a:tbl>
              <a:tblPr/>
              <a:tblGrid>
                <a:gridCol w="2568046">
                  <a:extLst>
                    <a:ext uri="{9D8B030D-6E8A-4147-A177-3AD203B41FA5}">
                      <a16:colId xmlns:a16="http://schemas.microsoft.com/office/drawing/2014/main" val="2983809232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2897229147"/>
                    </a:ext>
                  </a:extLst>
                </a:gridCol>
                <a:gridCol w="2568046">
                  <a:extLst>
                    <a:ext uri="{9D8B030D-6E8A-4147-A177-3AD203B41FA5}">
                      <a16:colId xmlns:a16="http://schemas.microsoft.com/office/drawing/2014/main" val="318557139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/>
                        <a:t>Type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Description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Example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0766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 b="1"/>
                        <a:t>Functional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Define what the system should 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“System shall allow login and password reset.”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3969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 b="1"/>
                        <a:t>Non-Functional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Define quality attributes (how the system performs)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“System response time must be under 2 seconds.”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5615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80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Problems in 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smtClean="0"/>
              <a:t>Ambiguity</a:t>
            </a:r>
            <a:r>
              <a:rPr dirty="0"/>
              <a:t>: vague terms like 'fast' or 'easy'</a:t>
            </a:r>
          </a:p>
          <a:p>
            <a:r>
              <a:rPr dirty="0" smtClean="0"/>
              <a:t> </a:t>
            </a:r>
            <a:r>
              <a:rPr dirty="0"/>
              <a:t>Changing requirements (scope creep)</a:t>
            </a:r>
          </a:p>
          <a:p>
            <a:r>
              <a:rPr dirty="0" smtClean="0"/>
              <a:t> </a:t>
            </a:r>
            <a:r>
              <a:rPr dirty="0"/>
              <a:t>Conflicts among stakeholders</a:t>
            </a:r>
          </a:p>
          <a:p>
            <a:r>
              <a:rPr dirty="0" smtClean="0"/>
              <a:t> </a:t>
            </a:r>
            <a:r>
              <a:rPr dirty="0"/>
              <a:t>Lack of documentation</a:t>
            </a:r>
          </a:p>
          <a:p>
            <a:endParaRPr dirty="0"/>
          </a:p>
          <a:p>
            <a:r>
              <a:rPr dirty="0" smtClean="0"/>
              <a:t>Activity</a:t>
            </a:r>
            <a:r>
              <a:rPr dirty="0"/>
              <a:t>: Client says 'Make it fast' — what would you ask next?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🎭 Roleplay Activity: 'Make It Fast!'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438401"/>
            <a:ext cx="7704667" cy="3561415"/>
          </a:xfrm>
        </p:spPr>
        <p:txBody>
          <a:bodyPr>
            <a:noAutofit/>
          </a:bodyPr>
          <a:lstStyle/>
          <a:p>
            <a:r>
              <a:rPr sz="1400" b="1" dirty="0"/>
              <a:t>Client says: 'Make it fast.'</a:t>
            </a:r>
          </a:p>
          <a:p>
            <a:endParaRPr sz="1400" b="1" dirty="0"/>
          </a:p>
          <a:p>
            <a:r>
              <a:rPr sz="1400" b="1" dirty="0" smtClean="0"/>
              <a:t>💬 </a:t>
            </a:r>
            <a:r>
              <a:rPr sz="1400" b="1" dirty="0"/>
              <a:t>Analyst should ask questions like:</a:t>
            </a:r>
          </a:p>
          <a:p>
            <a:r>
              <a:rPr sz="1400" b="1" dirty="0" smtClean="0"/>
              <a:t> </a:t>
            </a:r>
            <a:r>
              <a:rPr sz="1400" b="1" dirty="0"/>
              <a:t>What exactly do you mean by 'fast'?</a:t>
            </a:r>
          </a:p>
          <a:p>
            <a:r>
              <a:rPr sz="1400" b="1" dirty="0" smtClean="0"/>
              <a:t> </a:t>
            </a:r>
            <a:r>
              <a:rPr sz="1400" b="1" dirty="0"/>
              <a:t>Do you mean system response time or user task speed?</a:t>
            </a:r>
          </a:p>
          <a:p>
            <a:r>
              <a:rPr sz="1400" b="1" dirty="0" smtClean="0"/>
              <a:t> </a:t>
            </a:r>
            <a:r>
              <a:rPr sz="1400" b="1" dirty="0"/>
              <a:t>How many users will use the system simultaneously?</a:t>
            </a:r>
          </a:p>
          <a:p>
            <a:r>
              <a:rPr sz="1400" b="1" dirty="0" smtClean="0"/>
              <a:t> </a:t>
            </a:r>
            <a:r>
              <a:rPr sz="1400" b="1" dirty="0"/>
              <a:t>What’s an acceptable response time (1s, 3s, etc</a:t>
            </a:r>
            <a:r>
              <a:rPr sz="1400" b="1" dirty="0" smtClean="0"/>
              <a:t>.)?</a:t>
            </a:r>
            <a:endParaRPr sz="1400" b="1" dirty="0"/>
          </a:p>
          <a:p>
            <a:r>
              <a:rPr sz="1400" b="1" dirty="0"/>
              <a:t>🎓 Lesson:</a:t>
            </a:r>
          </a:p>
          <a:p>
            <a:r>
              <a:rPr sz="1400" b="1" dirty="0"/>
              <a:t>Ambiguous requirements cause confusion — clear, measurable ones ensure project success.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/>
          <p:cNvSpPr>
            <a:spLocks noGrp="1"/>
          </p:cNvSpPr>
          <p:nvPr>
            <p:ph type="sldNum" sz="quarter" idx="10"/>
          </p:nvPr>
        </p:nvSpPr>
        <p:spPr bwMode="auto">
          <a:noFill/>
          <a:ln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2788BD4-FB0A-46C2-B515-4B5AEB758173}" type="slidenum">
              <a:rPr lang="en-US" altLang="en-US" sz="1400" smtClean="0"/>
              <a:pPr/>
              <a:t>9</a:t>
            </a:fld>
            <a:endParaRPr lang="en-US" altLang="en-US" sz="1400" smtClean="0"/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6553200" y="5257800"/>
            <a:ext cx="1371600" cy="5334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u="none"/>
              <a:t>Requirements</a:t>
            </a:r>
          </a:p>
          <a:p>
            <a:pPr algn="ctr" eaLnBrk="1" hangingPunct="1"/>
            <a:r>
              <a:rPr lang="en-US" altLang="en-US" u="none"/>
              <a:t>Management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5562600" y="4572000"/>
            <a:ext cx="1371600" cy="4572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u="none"/>
              <a:t>Validation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685800" y="1143000"/>
            <a:ext cx="1371600" cy="457200"/>
          </a:xfrm>
          <a:prstGeom prst="rect">
            <a:avLst/>
          </a:prstGeom>
          <a:solidFill>
            <a:srgbClr val="FF99CC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u="none"/>
              <a:t>Inception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1524000" y="1828800"/>
            <a:ext cx="1371600" cy="4572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u="none"/>
              <a:t>Elicitation</a:t>
            </a: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2514600" y="2514600"/>
            <a:ext cx="1371600" cy="457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u="none" dirty="0"/>
              <a:t>Elaboration</a:t>
            </a: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3505200" y="3200400"/>
            <a:ext cx="1371600" cy="457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u="none"/>
              <a:t>Negotiation</a:t>
            </a:r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4495800" y="3886200"/>
            <a:ext cx="1371600" cy="4572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u="none"/>
              <a:t>Specification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>
            <a:normAutofit/>
          </a:bodyPr>
          <a:lstStyle/>
          <a:p>
            <a:r>
              <a:rPr dirty="0"/>
              <a:t>7 Phases of Requirement Engineering</a:t>
            </a:r>
          </a:p>
        </p:txBody>
      </p:sp>
    </p:spTree>
    <p:extLst>
      <p:ext uri="{BB962C8B-B14F-4D97-AF65-F5344CB8AC3E}">
        <p14:creationId xmlns:p14="http://schemas.microsoft.com/office/powerpoint/2010/main" val="42556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7 Phases of Requirement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1. Inception – Identify goals &amp; stakeholders</a:t>
            </a:r>
          </a:p>
          <a:p>
            <a:r>
              <a:rPr dirty="0"/>
              <a:t>2. Elicitation – Gather requirements</a:t>
            </a:r>
          </a:p>
          <a:p>
            <a:r>
              <a:rPr dirty="0"/>
              <a:t>3. Elaboration – Analyze &amp; refine</a:t>
            </a:r>
          </a:p>
          <a:p>
            <a:r>
              <a:rPr dirty="0"/>
              <a:t>4. Negotiation – Resolve conflicts</a:t>
            </a:r>
          </a:p>
          <a:p>
            <a:r>
              <a:rPr dirty="0"/>
              <a:t>5. Specification – Document formally</a:t>
            </a:r>
          </a:p>
          <a:p>
            <a:r>
              <a:rPr dirty="0"/>
              <a:t>6. Validation – Ensure correctness</a:t>
            </a:r>
          </a:p>
          <a:p>
            <a:r>
              <a:rPr dirty="0"/>
              <a:t>7. Management – Handle changes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Elicitation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smtClean="0"/>
              <a:t> </a:t>
            </a:r>
            <a:r>
              <a:rPr dirty="0"/>
              <a:t>Interviews</a:t>
            </a:r>
          </a:p>
          <a:p>
            <a:r>
              <a:rPr dirty="0" smtClean="0"/>
              <a:t>Questionnaires</a:t>
            </a:r>
            <a:endParaRPr dirty="0"/>
          </a:p>
          <a:p>
            <a:r>
              <a:rPr dirty="0" smtClean="0"/>
              <a:t> </a:t>
            </a:r>
            <a:r>
              <a:rPr dirty="0"/>
              <a:t>Observation</a:t>
            </a:r>
          </a:p>
          <a:p>
            <a:r>
              <a:rPr dirty="0" smtClean="0"/>
              <a:t> </a:t>
            </a:r>
            <a:r>
              <a:rPr dirty="0"/>
              <a:t>Brainstorming</a:t>
            </a:r>
          </a:p>
          <a:p>
            <a:r>
              <a:rPr dirty="0" smtClean="0"/>
              <a:t> </a:t>
            </a:r>
            <a:r>
              <a:rPr dirty="0"/>
              <a:t>Prototyping</a:t>
            </a:r>
          </a:p>
          <a:p>
            <a:r>
              <a:rPr dirty="0" smtClean="0"/>
              <a:t> </a:t>
            </a:r>
            <a:r>
              <a:rPr dirty="0"/>
              <a:t>Workshops (JAD)</a:t>
            </a:r>
          </a:p>
          <a:p>
            <a:endParaRPr dirty="0"/>
          </a:p>
          <a:p>
            <a:r>
              <a:rPr dirty="0" smtClean="0"/>
              <a:t> </a:t>
            </a:r>
            <a:r>
              <a:rPr dirty="0"/>
              <a:t>Poll: Which method works best for a university management system?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Software Requirement Specification (SRS)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A formal document listing all functional and non-functional requirements.</a:t>
            </a:r>
          </a:p>
          <a:p>
            <a:endParaRPr dirty="0"/>
          </a:p>
          <a:p>
            <a:r>
              <a:rPr dirty="0"/>
              <a:t>Includes:</a:t>
            </a:r>
          </a:p>
          <a:p>
            <a:r>
              <a:rPr dirty="0" smtClean="0"/>
              <a:t>System </a:t>
            </a:r>
            <a:r>
              <a:rPr dirty="0"/>
              <a:t>overview</a:t>
            </a:r>
          </a:p>
          <a:p>
            <a:r>
              <a:rPr dirty="0" smtClean="0"/>
              <a:t> </a:t>
            </a:r>
            <a:r>
              <a:rPr dirty="0"/>
              <a:t>Use cases</a:t>
            </a:r>
          </a:p>
          <a:p>
            <a:r>
              <a:rPr dirty="0" smtClean="0"/>
              <a:t> </a:t>
            </a:r>
            <a:r>
              <a:rPr dirty="0"/>
              <a:t>Constraints &amp; assumptions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Recap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What </a:t>
            </a:r>
            <a:r>
              <a:rPr dirty="0"/>
              <a:t>is the goal of RE?</a:t>
            </a:r>
          </a:p>
          <a:p>
            <a:r>
              <a:rPr dirty="0" smtClean="0"/>
              <a:t>Give </a:t>
            </a:r>
            <a:r>
              <a:rPr dirty="0"/>
              <a:t>one functional &amp; one non-functional requirement.</a:t>
            </a:r>
          </a:p>
          <a:p>
            <a:r>
              <a:rPr lang="en-US" dirty="0" smtClean="0"/>
              <a:t> </a:t>
            </a:r>
            <a:r>
              <a:rPr dirty="0" smtClean="0"/>
              <a:t>Why </a:t>
            </a:r>
            <a:r>
              <a:rPr dirty="0"/>
              <a:t>do requirements change?</a:t>
            </a:r>
          </a:p>
          <a:p>
            <a:r>
              <a:rPr dirty="0" smtClean="0"/>
              <a:t>What </a:t>
            </a:r>
            <a:r>
              <a:rPr dirty="0"/>
              <a:t>is SRS?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Case Study — Careem’s Super App (Pakistan)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rPr dirty="0" smtClean="0"/>
              <a:t>Founded </a:t>
            </a:r>
            <a:r>
              <a:rPr dirty="0"/>
              <a:t>in </a:t>
            </a:r>
            <a:r>
              <a:rPr dirty="0" smtClean="0"/>
              <a:t>201</a:t>
            </a:r>
            <a:r>
              <a:rPr lang="en-US" dirty="0" smtClean="0"/>
              <a:t>5</a:t>
            </a:r>
            <a:r>
              <a:rPr dirty="0" smtClean="0"/>
              <a:t> </a:t>
            </a:r>
            <a:r>
              <a:rPr dirty="0"/>
              <a:t>as a ride-hailing app.</a:t>
            </a:r>
          </a:p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Later aimed to become a 'Super App' offering: Rides, Food, Grocery, Digital Wallet, Parcel Delivery.</a:t>
            </a:r>
          </a:p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Ambition: One app for everything</a:t>
            </a:r>
            <a:r>
              <a:rPr dirty="0" smtClean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377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2020–2021: Launch of Super App with multiple features.</a:t>
            </a:r>
          </a:p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2022: Shut down </a:t>
            </a:r>
            <a:r>
              <a:rPr dirty="0" err="1"/>
              <a:t>Careem</a:t>
            </a:r>
            <a:r>
              <a:rPr dirty="0"/>
              <a:t> Food in Pakistan (low profit).</a:t>
            </a:r>
          </a:p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2023–2024: Withdrew digital wallet license.</a:t>
            </a:r>
          </a:p>
          <a:p>
            <a:pPr>
              <a:defRPr sz="1800">
                <a:latin typeface="Calibri"/>
              </a:defRPr>
            </a:pPr>
            <a:r>
              <a:rPr lang="en-US" dirty="0" smtClean="0"/>
              <a:t>2024--2025: Only </a:t>
            </a:r>
            <a:r>
              <a:rPr lang="en-US" dirty="0"/>
              <a:t>ride-hailing and parcel delivery active</a:t>
            </a:r>
            <a:r>
              <a:rPr lang="en-US" dirty="0" smtClean="0"/>
              <a:t>.</a:t>
            </a:r>
          </a:p>
          <a:p>
            <a:pPr>
              <a:defRPr sz="1800">
                <a:latin typeface="Calibri"/>
              </a:defRPr>
            </a:pPr>
            <a:r>
              <a:rPr lang="en-US" dirty="0" smtClean="0"/>
              <a:t>2026</a:t>
            </a:r>
            <a:r>
              <a:rPr dirty="0" smtClean="0"/>
              <a:t>:</a:t>
            </a:r>
            <a:r>
              <a:rPr lang="en-US" dirty="0" smtClean="0"/>
              <a:t> </a:t>
            </a:r>
            <a:r>
              <a:rPr lang="en-US" sz="1800" dirty="0" err="1" smtClean="0"/>
              <a:t>Careem</a:t>
            </a:r>
            <a:r>
              <a:rPr lang="en-US" sz="1800" dirty="0" smtClean="0"/>
              <a:t> </a:t>
            </a:r>
            <a:r>
              <a:rPr lang="en-US" sz="1800" b="1" dirty="0"/>
              <a:t>stopped its ride-hailing operations in Pakistan on 18 July 2025</a:t>
            </a:r>
            <a:endParaRPr lang="en-US" dirty="0" smtClean="0"/>
          </a:p>
          <a:p>
            <a:pPr marL="0" indent="0">
              <a:buNone/>
              <a:defRPr sz="1800">
                <a:latin typeface="Calibri"/>
              </a:defRPr>
            </a:pPr>
            <a:r>
              <a:rPr dirty="0" smtClean="0"/>
              <a:t> </a:t>
            </a:r>
            <a:endParaRPr dirty="0"/>
          </a:p>
          <a:p>
            <a:pPr>
              <a:defRPr sz="1800">
                <a:latin typeface="Calibri"/>
              </a:defRPr>
            </a:pPr>
            <a:r>
              <a:rPr dirty="0"/>
              <a:t>Result: Multiple services failed — super app vision scaled back.</a:t>
            </a:r>
          </a:p>
        </p:txBody>
      </p:sp>
    </p:spTree>
    <p:extLst>
      <p:ext uri="{BB962C8B-B14F-4D97-AF65-F5344CB8AC3E}">
        <p14:creationId xmlns:p14="http://schemas.microsoft.com/office/powerpoint/2010/main" val="325769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Weak requirement alignment with market conditions.</a:t>
            </a:r>
          </a:p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Overly ambitious scope (too many services too fast).</a:t>
            </a:r>
          </a:p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Regulatory challenges for digital payments.</a:t>
            </a:r>
          </a:p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Low user adoption for food/grocery services.</a:t>
            </a:r>
          </a:p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Poor management of changing requirements.</a:t>
            </a:r>
          </a:p>
          <a:p>
            <a:pPr>
              <a:defRPr sz="1800">
                <a:latin typeface="Calibri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00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Engineering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 sz="1800">
                <a:latin typeface="Calibri"/>
              </a:defRPr>
            </a:pPr>
            <a:r>
              <a:t>Inception: Vision too broad — not validated against market realities → Over-scoped.</a:t>
            </a:r>
          </a:p>
          <a:p>
            <a:pPr>
              <a:defRPr sz="1800">
                <a:latin typeface="Calibri"/>
              </a:defRPr>
            </a:pPr>
            <a:r>
              <a:t>Elicitation: User needs for non-core services not researched → Low adoption.</a:t>
            </a:r>
          </a:p>
          <a:p>
            <a:pPr>
              <a:defRPr sz="1800">
                <a:latin typeface="Calibri"/>
              </a:defRPr>
            </a:pPr>
            <a:r>
              <a:t>Elaboration: Risks, regulations underestimated → High costs.</a:t>
            </a:r>
          </a:p>
          <a:p>
            <a:pPr>
              <a:defRPr sz="1800">
                <a:latin typeface="Calibri"/>
              </a:defRPr>
            </a:pPr>
            <a:r>
              <a:t>Negotiation: Tried to do everything → Resource dilution.</a:t>
            </a:r>
          </a:p>
          <a:p>
            <a:pPr>
              <a:defRPr sz="1800">
                <a:latin typeface="Calibri"/>
              </a:defRPr>
            </a:pPr>
            <a:r>
              <a:t>Specification: Weak documentation of non-functional needs → Compliance issues.</a:t>
            </a:r>
          </a:p>
          <a:p>
            <a:pPr>
              <a:defRPr sz="1800">
                <a:latin typeface="Calibri"/>
              </a:defRPr>
            </a:pPr>
            <a:r>
              <a:t>Validation: Released before full local testing → Failures.</a:t>
            </a:r>
          </a:p>
          <a:p>
            <a:pPr>
              <a:defRPr sz="1800">
                <a:latin typeface="Calibri"/>
              </a:defRPr>
            </a:pPr>
            <a:r>
              <a:t>Management: Frequent change requests, shutdowns → Low stakeholder trust.</a:t>
            </a:r>
          </a:p>
        </p:txBody>
      </p:sp>
    </p:spTree>
    <p:extLst>
      <p:ext uri="{BB962C8B-B14F-4D97-AF65-F5344CB8AC3E}">
        <p14:creationId xmlns:p14="http://schemas.microsoft.com/office/powerpoint/2010/main" val="213997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Key Requirement Engineering Lessons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Start with focused scope validated by real users.</a:t>
            </a:r>
          </a:p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Perform regulatory and market analysis early.</a:t>
            </a:r>
          </a:p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Define non-functional requirements clearly (security, usability).</a:t>
            </a:r>
          </a:p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Manage changing requirements systematically.</a:t>
            </a:r>
          </a:p>
          <a:p>
            <a:pPr>
              <a:defRPr sz="1800">
                <a:latin typeface="Calibri"/>
              </a:defRPr>
            </a:pPr>
            <a:r>
              <a:rPr dirty="0" smtClean="0"/>
              <a:t> </a:t>
            </a:r>
            <a:r>
              <a:rPr dirty="0"/>
              <a:t>Align business goals with user needs.</a:t>
            </a:r>
          </a:p>
          <a:p>
            <a:pPr>
              <a:defRPr sz="1800">
                <a:latin typeface="Calibri"/>
              </a:defRPr>
            </a:pPr>
            <a:endParaRPr dirty="0"/>
          </a:p>
          <a:p>
            <a:pPr>
              <a:defRPr sz="1800">
                <a:latin typeface="Calibri"/>
              </a:defRPr>
            </a:pPr>
            <a:r>
              <a:rPr lang="en-US" dirty="0" smtClean="0"/>
              <a:t>Question: </a:t>
            </a:r>
            <a:r>
              <a:rPr dirty="0" smtClean="0"/>
              <a:t> </a:t>
            </a:r>
            <a:r>
              <a:rPr dirty="0"/>
              <a:t>If you were on </a:t>
            </a:r>
            <a:r>
              <a:rPr dirty="0" err="1"/>
              <a:t>Careem’s</a:t>
            </a:r>
            <a:r>
              <a:rPr dirty="0"/>
              <a:t> RE team, which phase would you improve first — and how?</a:t>
            </a:r>
          </a:p>
        </p:txBody>
      </p:sp>
    </p:spTree>
    <p:extLst>
      <p:ext uri="{BB962C8B-B14F-4D97-AF65-F5344CB8AC3E}">
        <p14:creationId xmlns:p14="http://schemas.microsoft.com/office/powerpoint/2010/main" val="1867251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Poll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What was the MAIN reason the Super App failed in Pakistan?</a:t>
            </a:r>
          </a:p>
          <a:p>
            <a:pPr>
              <a:defRPr sz="1800">
                <a:latin typeface="Calibri"/>
              </a:defRPr>
            </a:pPr>
            <a:r>
              <a:t>A. Poor user requirement analysis</a:t>
            </a:r>
          </a:p>
          <a:p>
            <a:pPr>
              <a:defRPr sz="1800">
                <a:latin typeface="Calibri"/>
              </a:defRPr>
            </a:pPr>
            <a:r>
              <a:t>B. Weak regulatory understanding</a:t>
            </a:r>
          </a:p>
          <a:p>
            <a:pPr>
              <a:defRPr sz="1800">
                <a:latin typeface="Calibri"/>
              </a:defRPr>
            </a:pPr>
            <a:r>
              <a:t>C. Overly broad project scope</a:t>
            </a:r>
          </a:p>
          <a:p>
            <a:pPr>
              <a:defRPr sz="1800">
                <a:latin typeface="Calibri"/>
              </a:defRPr>
            </a:pPr>
            <a:r>
              <a:t>D. All of the above</a:t>
            </a:r>
          </a:p>
        </p:txBody>
      </p:sp>
    </p:spTree>
    <p:extLst>
      <p:ext uri="{BB962C8B-B14F-4D97-AF65-F5344CB8AC3E}">
        <p14:creationId xmlns:p14="http://schemas.microsoft.com/office/powerpoint/2010/main" val="6392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Even successful companies can fail if requirements are unclear, unrealistic, or poorly managed.</a:t>
            </a:r>
          </a:p>
          <a:p>
            <a:pPr>
              <a:defRPr sz="1800">
                <a:latin typeface="Calibri"/>
              </a:defRPr>
            </a:pPr>
            <a:r>
              <a:t>Requirement Engineering is not just about documentation — it's about making the right choices at the right time.</a:t>
            </a:r>
          </a:p>
        </p:txBody>
      </p:sp>
    </p:spTree>
    <p:extLst>
      <p:ext uri="{BB962C8B-B14F-4D97-AF65-F5344CB8AC3E}">
        <p14:creationId xmlns:p14="http://schemas.microsoft.com/office/powerpoint/2010/main" val="10444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1001</TotalTime>
  <Words>1352</Words>
  <Application>Microsoft Office PowerPoint</Application>
  <PresentationFormat>On-screen Show (4:3)</PresentationFormat>
  <Paragraphs>197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Corbel</vt:lpstr>
      <vt:lpstr>Times New Roman</vt:lpstr>
      <vt:lpstr>Parallax</vt:lpstr>
      <vt:lpstr>Requirement Engineering</vt:lpstr>
      <vt:lpstr>What is Requirement Engineering?</vt:lpstr>
      <vt:lpstr>Why Requirements Matter</vt:lpstr>
      <vt:lpstr>Types of Requirements</vt:lpstr>
      <vt:lpstr>Functional vs Non-Functional Requirements</vt:lpstr>
      <vt:lpstr>Functional vs Non-Functional Requirementss</vt:lpstr>
      <vt:lpstr>Common Problems in RE</vt:lpstr>
      <vt:lpstr>🎭 Roleplay Activity: 'Make It Fast!'</vt:lpstr>
      <vt:lpstr>7 Phases of Requirement Engineering</vt:lpstr>
      <vt:lpstr>7 Phases of Requirement Engineering</vt:lpstr>
      <vt:lpstr>Requirement Elicitation Techniques</vt:lpstr>
      <vt:lpstr>Software Requirement Specification (SRS)</vt:lpstr>
      <vt:lpstr>Quick Recap Quiz</vt:lpstr>
      <vt:lpstr>Case Study — Careem’s Super App (Pakistan)</vt:lpstr>
      <vt:lpstr>What Happened</vt:lpstr>
      <vt:lpstr>Problems Faced</vt:lpstr>
      <vt:lpstr>Requirement Engineering Analysis</vt:lpstr>
      <vt:lpstr>Key Requirement Engineering Lessons</vt:lpstr>
      <vt:lpstr>Discussion Poll</vt:lpstr>
      <vt:lpstr>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 Engineering</dc:title>
  <dc:subject/>
  <dc:creator>shehla saeed</dc:creator>
  <cp:keywords/>
  <dc:description>generated using python-pptx</dc:description>
  <cp:lastModifiedBy>shehla saeed</cp:lastModifiedBy>
  <cp:revision>20</cp:revision>
  <dcterms:created xsi:type="dcterms:W3CDTF">2013-01-27T09:14:16Z</dcterms:created>
  <dcterms:modified xsi:type="dcterms:W3CDTF">2026-03-11T00:04:27Z</dcterms:modified>
  <cp:category/>
</cp:coreProperties>
</file>
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8"/>
  </p:notesMasterIdLst>
  <p:sldIdLst>
    <p:sldId id="257" r:id="rId2"/>
    <p:sldId id="258" r:id="rId3"/>
    <p:sldId id="259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60" r:id="rId12"/>
    <p:sldId id="283" r:id="rId13"/>
    <p:sldId id="284" r:id="rId14"/>
    <p:sldId id="285" r:id="rId15"/>
    <p:sldId id="261" r:id="rId16"/>
    <p:sldId id="262" r:id="rId17"/>
    <p:sldId id="263" r:id="rId18"/>
    <p:sldId id="264" r:id="rId19"/>
    <p:sldId id="287" r:id="rId20"/>
    <p:sldId id="286" r:id="rId21"/>
    <p:sldId id="266" r:id="rId22"/>
    <p:sldId id="267" r:id="rId23"/>
    <p:sldId id="268" r:id="rId24"/>
    <p:sldId id="269" r:id="rId25"/>
    <p:sldId id="270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72" r:id="rId35"/>
    <p:sldId id="297" r:id="rId36"/>
    <p:sldId id="298" r:id="rId37"/>
    <p:sldId id="299" r:id="rId38"/>
    <p:sldId id="300" r:id="rId39"/>
    <p:sldId id="302" r:id="rId40"/>
    <p:sldId id="301" r:id="rId41"/>
    <p:sldId id="273" r:id="rId42"/>
    <p:sldId id="274" r:id="rId43"/>
    <p:sldId id="389" r:id="rId44"/>
    <p:sldId id="436" r:id="rId45"/>
    <p:sldId id="390" r:id="rId46"/>
    <p:sldId id="430" r:id="rId47"/>
    <p:sldId id="431" r:id="rId48"/>
    <p:sldId id="437" r:id="rId49"/>
    <p:sldId id="394" r:id="rId50"/>
    <p:sldId id="432" r:id="rId51"/>
    <p:sldId id="433" r:id="rId52"/>
    <p:sldId id="434" r:id="rId53"/>
    <p:sldId id="435" r:id="rId54"/>
    <p:sldId id="438" r:id="rId55"/>
    <p:sldId id="439" r:id="rId56"/>
    <p:sldId id="440" r:id="rId57"/>
    <p:sldId id="441" r:id="rId58"/>
    <p:sldId id="442" r:id="rId59"/>
    <p:sldId id="443" r:id="rId60"/>
    <p:sldId id="444" r:id="rId61"/>
    <p:sldId id="445" r:id="rId62"/>
    <p:sldId id="448" r:id="rId63"/>
    <p:sldId id="447" r:id="rId64"/>
    <p:sldId id="449" r:id="rId65"/>
    <p:sldId id="450" r:id="rId66"/>
    <p:sldId id="451" r:id="rId67"/>
    <p:sldId id="402" r:id="rId68"/>
    <p:sldId id="452" r:id="rId69"/>
    <p:sldId id="453" r:id="rId70"/>
    <p:sldId id="446" r:id="rId71"/>
    <p:sldId id="374" r:id="rId72"/>
    <p:sldId id="454" r:id="rId73"/>
    <p:sldId id="256" r:id="rId74"/>
    <p:sldId id="376" r:id="rId75"/>
    <p:sldId id="455" r:id="rId76"/>
    <p:sldId id="456" r:id="rId77"/>
    <p:sldId id="457" r:id="rId78"/>
    <p:sldId id="377" r:id="rId79"/>
    <p:sldId id="458" r:id="rId80"/>
    <p:sldId id="459" r:id="rId81"/>
    <p:sldId id="460" r:id="rId82"/>
    <p:sldId id="461" r:id="rId83"/>
    <p:sldId id="386" r:id="rId84"/>
    <p:sldId id="462" r:id="rId85"/>
    <p:sldId id="410" r:id="rId86"/>
    <p:sldId id="463" r:id="rId87"/>
    <p:sldId id="411" r:id="rId88"/>
    <p:sldId id="412" r:id="rId89"/>
    <p:sldId id="464" r:id="rId90"/>
    <p:sldId id="465" r:id="rId91"/>
    <p:sldId id="414" r:id="rId92"/>
    <p:sldId id="415" r:id="rId93"/>
    <p:sldId id="421" r:id="rId94"/>
    <p:sldId id="422" r:id="rId95"/>
    <p:sldId id="423" r:id="rId96"/>
    <p:sldId id="424" r:id="rId97"/>
    <p:sldId id="466" r:id="rId98"/>
    <p:sldId id="426" r:id="rId99"/>
    <p:sldId id="427" r:id="rId100"/>
    <p:sldId id="428" r:id="rId101"/>
    <p:sldId id="429" r:id="rId102"/>
    <p:sldId id="417" r:id="rId103"/>
    <p:sldId id="418" r:id="rId104"/>
    <p:sldId id="419" r:id="rId105"/>
    <p:sldId id="420" r:id="rId106"/>
    <p:sldId id="467" r:id="rId107"/>
    <p:sldId id="468" r:id="rId108"/>
    <p:sldId id="469" r:id="rId109"/>
    <p:sldId id="354" r:id="rId110"/>
    <p:sldId id="357" r:id="rId111"/>
    <p:sldId id="337" r:id="rId112"/>
    <p:sldId id="338" r:id="rId113"/>
    <p:sldId id="351" r:id="rId114"/>
    <p:sldId id="352" r:id="rId115"/>
    <p:sldId id="358" r:id="rId116"/>
    <p:sldId id="359" r:id="rId117"/>
    <p:sldId id="343" r:id="rId118"/>
    <p:sldId id="344" r:id="rId119"/>
    <p:sldId id="425" r:id="rId120"/>
    <p:sldId id="470" r:id="rId121"/>
    <p:sldId id="471" r:id="rId122"/>
    <p:sldId id="353" r:id="rId123"/>
    <p:sldId id="340" r:id="rId124"/>
    <p:sldId id="472" r:id="rId125"/>
    <p:sldId id="473" r:id="rId126"/>
    <p:sldId id="474" r:id="rId127"/>
    <p:sldId id="475" r:id="rId128"/>
    <p:sldId id="476" r:id="rId129"/>
    <p:sldId id="271" r:id="rId130"/>
    <p:sldId id="477" r:id="rId131"/>
    <p:sldId id="478" r:id="rId132"/>
    <p:sldId id="479" r:id="rId133"/>
    <p:sldId id="480" r:id="rId134"/>
    <p:sldId id="481" r:id="rId135"/>
    <p:sldId id="482" r:id="rId136"/>
    <p:sldId id="483" r:id="rId1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63" autoAdjust="0"/>
    <p:restoredTop sz="94660"/>
  </p:normalViewPr>
  <p:slideViewPr>
    <p:cSldViewPr snapToGrid="0">
      <p:cViewPr varScale="1">
        <p:scale>
          <a:sx n="60" d="100"/>
          <a:sy n="60" d="100"/>
        </p:scale>
        <p:origin x="9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notesMaster" Target="notesMasters/notes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973135-C97A-4EAC-A9A5-4F92784C45E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9CE079-A55C-4978-AED4-38B0C8716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577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 maintenance means: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“Changing or improving software after it has been delivered and used by users.”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993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043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935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“Regression testing checks whether old features still work correctly after changes are made.”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400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/>
              <a:t>1. Fixing a Software Bug</a:t>
            </a:r>
          </a:p>
          <a:p>
            <a:r>
              <a:rPr lang="en-US" altLang="en-US" dirty="0"/>
              <a:t>A student reports that the “Submit” button in an online assignment portal does nothing.</a:t>
            </a:r>
            <a:br>
              <a:rPr lang="en-US" altLang="en-US" dirty="0"/>
            </a:br>
            <a:r>
              <a:rPr lang="en-US" altLang="en-US" dirty="0"/>
              <a:t>Developers investigate and correct the faulty event-handler code.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2. Repairing a Crashed Server</a:t>
            </a:r>
          </a:p>
          <a:p>
            <a:r>
              <a:rPr lang="en-US" altLang="en-US" dirty="0"/>
              <a:t>A university library system stops responding.</a:t>
            </a:r>
            <a:br>
              <a:rPr lang="en-US" altLang="en-US" dirty="0"/>
            </a:br>
            <a:r>
              <a:rPr lang="en-US" altLang="en-US" dirty="0"/>
              <a:t>The IT team restarts the server, replaces a corrupted configuration file, and restores normal operation.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3. Patching an Error in a Database Query</a:t>
            </a:r>
          </a:p>
          <a:p>
            <a:r>
              <a:rPr lang="en-US" altLang="en-US" dirty="0"/>
              <a:t>The “Search Books” function shows wrong results due to a faulty SQL JOIN.</a:t>
            </a:r>
            <a:br>
              <a:rPr lang="en-US" altLang="en-US" dirty="0"/>
            </a:br>
            <a:r>
              <a:rPr lang="en-US" altLang="en-US" dirty="0"/>
              <a:t>Developers rewrite the query to correct the logic.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4. Resolving an App Crash</a:t>
            </a:r>
          </a:p>
          <a:p>
            <a:r>
              <a:rPr lang="en-US" altLang="en-US" dirty="0"/>
              <a:t>The mobile app crashes whenever the user tries to view analytics.</a:t>
            </a:r>
            <a:br>
              <a:rPr lang="en-US" altLang="en-US" dirty="0"/>
            </a:br>
            <a:r>
              <a:rPr lang="en-US" altLang="en-US" dirty="0"/>
              <a:t>The issue is traced to an unhandled null pointer; the code is updated to fix it.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5. Fixing a Broken API Endpoint</a:t>
            </a:r>
          </a:p>
          <a:p>
            <a:r>
              <a:rPr lang="en-US" altLang="en-US" dirty="0"/>
              <a:t>A parking system’s mobile app shows “no data” because the backend API URL returns a 500 error.</a:t>
            </a:r>
            <a:br>
              <a:rPr lang="en-US" altLang="en-US" dirty="0"/>
            </a:br>
            <a:r>
              <a:rPr lang="en-US" altLang="en-US" dirty="0"/>
              <a:t>Engineers debug the API, correct the function causing the crash, and redeploy.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6. Correcting Wrong Output Values</a:t>
            </a:r>
          </a:p>
          <a:p>
            <a:r>
              <a:rPr lang="en-US" altLang="en-US" dirty="0"/>
              <a:t>In a billing system, customer invoices show incorrect totals due to a calculation error.</a:t>
            </a:r>
            <a:br>
              <a:rPr lang="en-US" altLang="en-US" dirty="0"/>
            </a:br>
            <a:r>
              <a:rPr lang="en-US" altLang="en-US" dirty="0"/>
              <a:t>The arithmetic logic in the code is fixed.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7. Replacing a Faulty Hardware Component</a:t>
            </a:r>
          </a:p>
          <a:p>
            <a:r>
              <a:rPr lang="en-US" altLang="en-US" dirty="0"/>
              <a:t>A drive in the server RAID array fails.</a:t>
            </a:r>
            <a:br>
              <a:rPr lang="en-US" altLang="en-US" dirty="0"/>
            </a:br>
            <a:r>
              <a:rPr lang="en-US" altLang="en-US" dirty="0"/>
              <a:t>The administrator replaces the faulty disk and rebuilds the array.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8. Fixing a Security Issue After Detection</a:t>
            </a:r>
          </a:p>
          <a:p>
            <a:r>
              <a:rPr lang="en-US" altLang="en-US" dirty="0"/>
              <a:t>A vulnerability (e.g., SQL injection) is discovered in the login system.</a:t>
            </a:r>
            <a:br>
              <a:rPr lang="en-US" altLang="en-US" dirty="0"/>
            </a:br>
            <a:r>
              <a:rPr lang="en-US" altLang="en-US" dirty="0"/>
              <a:t>Developers patch the code and update input validation.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9. Repairing a System That Fails During Update</a:t>
            </a:r>
          </a:p>
          <a:p>
            <a:r>
              <a:rPr lang="en-US" altLang="en-US" dirty="0"/>
              <a:t>A library management system crashes after applying a new theme.</a:t>
            </a:r>
            <a:br>
              <a:rPr lang="en-US" altLang="en-US" dirty="0"/>
            </a:br>
            <a:r>
              <a:rPr lang="en-US" altLang="en-US" dirty="0"/>
              <a:t>The team rolls back the update and fixes the corrupted UI files.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10. Fixing a Network Issue</a:t>
            </a:r>
          </a:p>
          <a:p>
            <a:r>
              <a:rPr lang="en-US" altLang="en-US" dirty="0"/>
              <a:t>Users can’t access the LMS due to a misconfigured router.</a:t>
            </a:r>
            <a:br>
              <a:rPr lang="en-US" altLang="en-US" dirty="0"/>
            </a:br>
            <a:r>
              <a:rPr lang="en-US" altLang="en-US" dirty="0"/>
              <a:t>The network team corrects the routing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926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/>
              <a:t>1.Updating Software to Work on a New Operating System</a:t>
            </a:r>
          </a:p>
          <a:p>
            <a:r>
              <a:rPr lang="en-US" altLang="en-US" dirty="0"/>
              <a:t>A library management system is upgraded so it works on </a:t>
            </a:r>
            <a:r>
              <a:rPr lang="en-US" altLang="en-US" b="1" dirty="0"/>
              <a:t>Windows 11</a:t>
            </a:r>
            <a:r>
              <a:rPr lang="en-US" altLang="en-US" dirty="0"/>
              <a:t> instead of Windows 7.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2. Migrating a System to Cloud Infrastructure</a:t>
            </a:r>
          </a:p>
          <a:p>
            <a:r>
              <a:rPr lang="en-US" altLang="en-US" dirty="0"/>
              <a:t>A university shifts its student portal from a local server to </a:t>
            </a:r>
            <a:r>
              <a:rPr lang="en-US" altLang="en-US" b="1" dirty="0"/>
              <a:t>AWS or Azure</a:t>
            </a:r>
            <a:r>
              <a:rPr lang="en-US" altLang="en-US" dirty="0"/>
              <a:t>, and the system is modified to run properly in the cloud.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3. Adding Support for New Browser Versions</a:t>
            </a:r>
          </a:p>
          <a:p>
            <a:r>
              <a:rPr lang="en-US" altLang="en-US" dirty="0"/>
              <a:t>An attendance management system is updated to work on the latest versions of </a:t>
            </a:r>
            <a:r>
              <a:rPr lang="en-US" altLang="en-US" b="1" dirty="0"/>
              <a:t>Chrome, Edge, and Firefox</a:t>
            </a:r>
            <a:r>
              <a:rPr lang="en-US" altLang="en-US" dirty="0"/>
              <a:t>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4. Adjusting an App for New Mobile OS</a:t>
            </a:r>
          </a:p>
          <a:p>
            <a:r>
              <a:rPr lang="en-US" altLang="en-US" dirty="0"/>
              <a:t>A smart-parking mobile app is modified to remain compatible with </a:t>
            </a:r>
            <a:r>
              <a:rPr lang="en-US" altLang="en-US" b="1" dirty="0"/>
              <a:t>Android 15 or iOS 19</a:t>
            </a:r>
            <a:r>
              <a:rPr lang="en-US" altLang="en-US" dirty="0"/>
              <a:t>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5. Updating Software Due to New Government Regulations</a:t>
            </a:r>
          </a:p>
          <a:p>
            <a:r>
              <a:rPr lang="en-US" altLang="en-US" dirty="0"/>
              <a:t>A payroll system is modified to apply a new </a:t>
            </a:r>
            <a:r>
              <a:rPr lang="en-US" altLang="en-US" b="1" dirty="0"/>
              <a:t>tax rate</a:t>
            </a:r>
            <a:r>
              <a:rPr lang="en-US" altLang="en-US" dirty="0"/>
              <a:t> or </a:t>
            </a:r>
            <a:r>
              <a:rPr lang="en-US" altLang="en-US" b="1" dirty="0"/>
              <a:t>salary structure</a:t>
            </a:r>
            <a:r>
              <a:rPr lang="en-US" altLang="en-US" dirty="0"/>
              <a:t> introduced by the government.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6. Changing Database Engine or Version</a:t>
            </a:r>
          </a:p>
          <a:p>
            <a:r>
              <a:rPr lang="en-US" altLang="en-US" dirty="0"/>
              <a:t>A system is updated to work with </a:t>
            </a:r>
            <a:r>
              <a:rPr lang="en-US" altLang="en-US" b="1" dirty="0"/>
              <a:t>MySQL 9.0</a:t>
            </a:r>
            <a:r>
              <a:rPr lang="en-US" altLang="en-US" dirty="0"/>
              <a:t> after support for older versions is discontinued.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7. Enabling Support for New Hardware</a:t>
            </a:r>
          </a:p>
          <a:p>
            <a:r>
              <a:rPr lang="en-US" altLang="en-US" dirty="0"/>
              <a:t>A parking system is updated to work with </a:t>
            </a:r>
            <a:r>
              <a:rPr lang="en-US" altLang="en-US" b="1" dirty="0"/>
              <a:t>new sensors or RFID scanners</a:t>
            </a:r>
            <a:r>
              <a:rPr lang="en-US" altLang="en-US" dirty="0"/>
              <a:t> installed in parking lots.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8. Modifying a System for New Network Protocols</a:t>
            </a:r>
          </a:p>
          <a:p>
            <a:r>
              <a:rPr lang="en-US" altLang="en-US" dirty="0"/>
              <a:t>A system is updated when the organization shifts from </a:t>
            </a:r>
            <a:r>
              <a:rPr lang="en-US" altLang="en-US" b="1" dirty="0"/>
              <a:t>IPv4 to IPv6</a:t>
            </a:r>
            <a:r>
              <a:rPr lang="en-US" altLang="en-US" dirty="0"/>
              <a:t>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9. Updating APIs After External Changes</a:t>
            </a:r>
          </a:p>
          <a:p>
            <a:r>
              <a:rPr lang="en-US" altLang="en-US" dirty="0"/>
              <a:t>A mobile app is updated because </a:t>
            </a:r>
            <a:r>
              <a:rPr lang="en-US" altLang="en-US" b="1" dirty="0"/>
              <a:t>Google Maps API</a:t>
            </a:r>
            <a:r>
              <a:rPr lang="en-US" altLang="en-US" dirty="0"/>
              <a:t> changed its structure, requiring new request formats.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10. Making a Website Responsive for Mobile</a:t>
            </a:r>
          </a:p>
          <a:p>
            <a:r>
              <a:rPr lang="en-US" altLang="en-US" dirty="0"/>
              <a:t>A previously desktop-only library website is redesigned to support </a:t>
            </a:r>
            <a:r>
              <a:rPr lang="en-US" altLang="en-US" b="1" dirty="0"/>
              <a:t>mobile and tablet</a:t>
            </a:r>
            <a:r>
              <a:rPr lang="en-US" altLang="en-US" dirty="0"/>
              <a:t> interfaces.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11. Adapting to New Security Policies</a:t>
            </a:r>
          </a:p>
          <a:p>
            <a:r>
              <a:rPr lang="en-US" altLang="en-US" dirty="0"/>
              <a:t>A university enforces </a:t>
            </a:r>
            <a:r>
              <a:rPr lang="en-US" altLang="en-US" b="1" dirty="0"/>
              <a:t>two-factor authentication</a:t>
            </a:r>
            <a:r>
              <a:rPr lang="en-US" altLang="en-US" dirty="0"/>
              <a:t>, so the LMS login module is updated to support it.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12. Changing File Formats</a:t>
            </a:r>
          </a:p>
          <a:p>
            <a:r>
              <a:rPr lang="en-US" altLang="en-US" dirty="0"/>
              <a:t>A system is updated to import/export </a:t>
            </a:r>
            <a:r>
              <a:rPr lang="en-US" altLang="en-US" b="1" dirty="0"/>
              <a:t>JSON instead of XML</a:t>
            </a:r>
            <a:r>
              <a:rPr lang="en-US" altLang="en-US" dirty="0"/>
              <a:t> because the organization changed its data standard.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183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/>
              <a:t>Improving System Performance</a:t>
            </a:r>
          </a:p>
          <a:p>
            <a:r>
              <a:rPr lang="en-US" altLang="en-US" dirty="0"/>
              <a:t>Optimizing a library management system’s search algorithm so books load </a:t>
            </a:r>
            <a:r>
              <a:rPr lang="en-US" altLang="en-US" b="1" dirty="0"/>
              <a:t>faster</a:t>
            </a:r>
            <a:r>
              <a:rPr lang="en-US" altLang="en-US" dirty="0"/>
              <a:t>, even though the old one worked fine.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2. Enhancing the User Interface (UI)</a:t>
            </a:r>
          </a:p>
          <a:p>
            <a:r>
              <a:rPr lang="en-US" altLang="en-US" dirty="0"/>
              <a:t>Redesigning the dashboard layout of a university portal to make it </a:t>
            </a:r>
            <a:r>
              <a:rPr lang="en-US" altLang="en-US" b="1" dirty="0"/>
              <a:t>more user-friendly</a:t>
            </a:r>
            <a:r>
              <a:rPr lang="en-US" altLang="en-US" dirty="0"/>
              <a:t> and attractive.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3. Adding New Features Requested by Users</a:t>
            </a:r>
          </a:p>
          <a:p>
            <a:r>
              <a:rPr lang="en-US" altLang="en-US" dirty="0"/>
              <a:t>Students request a </a:t>
            </a:r>
            <a:r>
              <a:rPr lang="en-US" altLang="en-US" b="1" dirty="0"/>
              <a:t>dark mode</a:t>
            </a:r>
            <a:r>
              <a:rPr lang="en-US" altLang="en-US" dirty="0"/>
              <a:t>, so the LMS is updated to include this new feature.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4. Increasing System Efficiency</a:t>
            </a:r>
          </a:p>
          <a:p>
            <a:r>
              <a:rPr lang="en-US" altLang="en-US" dirty="0"/>
              <a:t>Refactoring code to reduce memory usage and improve </a:t>
            </a:r>
            <a:r>
              <a:rPr lang="en-US" altLang="en-US" b="1" dirty="0"/>
              <a:t>overall system speed</a:t>
            </a:r>
            <a:r>
              <a:rPr lang="en-US" altLang="en-US" dirty="0"/>
              <a:t>, even without any errors.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5. Extending Functionality</a:t>
            </a:r>
          </a:p>
          <a:p>
            <a:r>
              <a:rPr lang="en-US" altLang="en-US" dirty="0"/>
              <a:t>Adding </a:t>
            </a:r>
            <a:r>
              <a:rPr lang="en-US" altLang="en-US" b="1" dirty="0"/>
              <a:t>advanced analytics</a:t>
            </a:r>
            <a:r>
              <a:rPr lang="en-US" altLang="en-US" dirty="0"/>
              <a:t> to your Smart Parking System so city managers can see monthly trends and </a:t>
            </a:r>
            <a:r>
              <a:rPr lang="en-US" altLang="en-US" dirty="0" err="1"/>
              <a:t>heatmaps</a:t>
            </a:r>
            <a:r>
              <a:rPr lang="en-US" altLang="en-US" dirty="0"/>
              <a:t>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6. Improving Security (Proactively)</a:t>
            </a:r>
          </a:p>
          <a:p>
            <a:r>
              <a:rPr lang="en-US" altLang="en-US" dirty="0"/>
              <a:t>Implementing </a:t>
            </a:r>
            <a:r>
              <a:rPr lang="en-US" altLang="en-US" b="1" dirty="0"/>
              <a:t>stronger password rules</a:t>
            </a:r>
            <a:r>
              <a:rPr lang="en-US" altLang="en-US" dirty="0"/>
              <a:t> or </a:t>
            </a:r>
            <a:r>
              <a:rPr lang="en-US" altLang="en-US" b="1" dirty="0"/>
              <a:t>encryption upgrades</a:t>
            </a:r>
            <a:r>
              <a:rPr lang="en-US" altLang="en-US" dirty="0"/>
              <a:t> even though no attack has occurred.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7. Enhancing Reports</a:t>
            </a:r>
          </a:p>
          <a:p>
            <a:r>
              <a:rPr lang="en-US" altLang="en-US" dirty="0"/>
              <a:t>Adding new report formats (e.g., monthly, quarterly) that library staff requested to improve their workflow.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8. Upgrading the User Experience</a:t>
            </a:r>
          </a:p>
          <a:p>
            <a:r>
              <a:rPr lang="en-US" altLang="en-US" dirty="0"/>
              <a:t>Adding </a:t>
            </a:r>
            <a:r>
              <a:rPr lang="en-US" altLang="en-US" b="1" dirty="0"/>
              <a:t>auto-suggestions</a:t>
            </a:r>
            <a:r>
              <a:rPr lang="en-US" altLang="en-US" dirty="0"/>
              <a:t> in the search bar to speed up searches.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9. Increasing Compatibility</a:t>
            </a:r>
          </a:p>
          <a:p>
            <a:r>
              <a:rPr lang="en-US" altLang="en-US" dirty="0"/>
              <a:t>Making the app support </a:t>
            </a:r>
            <a:r>
              <a:rPr lang="en-US" altLang="en-US" b="1" dirty="0"/>
              <a:t>multiple languages</a:t>
            </a:r>
            <a:r>
              <a:rPr lang="en-US" altLang="en-US" dirty="0"/>
              <a:t> to improve accessibility for different users.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10. Refining Data Validation</a:t>
            </a:r>
          </a:p>
          <a:p>
            <a:r>
              <a:rPr lang="en-US" altLang="en-US" dirty="0"/>
              <a:t>Improving form validations to reduce incorrect entries, though the old validations worked.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11. Adding Help &amp; Tutorial Sections</a:t>
            </a:r>
          </a:p>
          <a:p>
            <a:r>
              <a:rPr lang="en-US" altLang="en-US" dirty="0"/>
              <a:t>Including interactive guides or tooltips to improve usability for new users.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12. Improving Scalability</a:t>
            </a:r>
          </a:p>
          <a:p>
            <a:r>
              <a:rPr lang="en-US" altLang="en-US" dirty="0"/>
              <a:t>Rewriting parts of the code so the system can handle </a:t>
            </a:r>
            <a:r>
              <a:rPr lang="en-US" altLang="en-US" b="1" dirty="0"/>
              <a:t>more users</a:t>
            </a:r>
            <a:r>
              <a:rPr lang="en-US" altLang="en-US" dirty="0"/>
              <a:t> during peak times.</a:t>
            </a:r>
          </a:p>
          <a:p>
            <a:pPr eaLnBrk="1" hangingPunct="1"/>
            <a:endParaRPr lang="sv-SE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55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/>
              <a:t>1. Regular Code Refactoring</a:t>
            </a:r>
          </a:p>
          <a:p>
            <a:r>
              <a:rPr lang="en-US" altLang="en-US" dirty="0"/>
              <a:t>Cleaning and reorganizing code to avoid future bugs and make the system easier to maintain.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2. Updating Libraries and Frameworks</a:t>
            </a:r>
          </a:p>
          <a:p>
            <a:r>
              <a:rPr lang="en-US" altLang="en-US" dirty="0"/>
              <a:t>Upgrading outdated dependencies (e.g., React, Django, .NET, Java libraries) to prevent future security or compatibility issues.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3. Performing Routine Backups</a:t>
            </a:r>
          </a:p>
          <a:p>
            <a:r>
              <a:rPr lang="en-US" altLang="en-US" dirty="0"/>
              <a:t>Scheduling daily or weekly backups of the Library Management System database to avoid data loss.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4. Running Security Scans and Fixing Vulnerabilities</a:t>
            </a:r>
          </a:p>
          <a:p>
            <a:r>
              <a:rPr lang="en-US" altLang="en-US" dirty="0"/>
              <a:t>Using tools like security scanners to detect potential risks and patching them </a:t>
            </a:r>
            <a:r>
              <a:rPr lang="en-US" altLang="en-US" b="1" dirty="0"/>
              <a:t>before</a:t>
            </a:r>
            <a:r>
              <a:rPr lang="en-US" altLang="en-US" dirty="0"/>
              <a:t> they are exploited.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5. Database Optimization</a:t>
            </a:r>
          </a:p>
          <a:p>
            <a:r>
              <a:rPr lang="en-US" altLang="en-US" dirty="0"/>
              <a:t>Re-indexing the database, removing fragmentation, and optimizing queries to prevent future slowdowns.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6. Cleaning Up Logs and Temporary Files</a:t>
            </a:r>
          </a:p>
          <a:p>
            <a:r>
              <a:rPr lang="en-US" altLang="en-US" dirty="0"/>
              <a:t>Deleting unnecessary logs or temp files so they don’t overload the server later.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7. Hardware Maintenance</a:t>
            </a:r>
          </a:p>
          <a:p>
            <a:r>
              <a:rPr lang="en-US" altLang="en-US" dirty="0"/>
              <a:t>Replacing old hard drives or increasing server cooling </a:t>
            </a:r>
            <a:r>
              <a:rPr lang="en-US" altLang="en-US" b="1" dirty="0"/>
              <a:t>before</a:t>
            </a:r>
            <a:r>
              <a:rPr lang="en-US" altLang="en-US" dirty="0"/>
              <a:t> failures occur.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8. Monitoring System Health</a:t>
            </a:r>
          </a:p>
          <a:p>
            <a:r>
              <a:rPr lang="en-US" altLang="en-US" dirty="0"/>
              <a:t>Using monitoring tools (CPU, RAM, storage, network checks) to detect issues early and take preventive action.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9. Applying Security Patches Regularly</a:t>
            </a:r>
          </a:p>
          <a:p>
            <a:r>
              <a:rPr lang="en-US" altLang="en-US" dirty="0"/>
              <a:t>Installing OS and application patches (e.g., Windows updates, Linux patches) to prevent future vulnerabilities.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10. Running Load Tests Before Peak Usage</a:t>
            </a:r>
          </a:p>
          <a:p>
            <a:r>
              <a:rPr lang="en-US" altLang="en-US" dirty="0"/>
              <a:t>Testing the university portal before exam season to ensure it won’t crash when many students log in.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11. Reviewing Error Logs Regularly</a:t>
            </a:r>
          </a:p>
          <a:p>
            <a:r>
              <a:rPr lang="en-US" altLang="en-US" dirty="0"/>
              <a:t>Checking logs to catch minor warnings before they grow into major failures.</a:t>
            </a:r>
          </a:p>
          <a:p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12. Creating Disaster Recovery Plans</a:t>
            </a:r>
          </a:p>
          <a:p>
            <a:r>
              <a:rPr lang="en-US" altLang="en-US" dirty="0"/>
              <a:t>Preparing recovery procedures so the system can return to normal quickly in case of an outage.</a:t>
            </a:r>
          </a:p>
          <a:p>
            <a:pPr eaLnBrk="1" hangingPunct="1"/>
            <a:endParaRPr lang="sv-SE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54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Type</a:t>
            </a:r>
            <a:r>
              <a:rPr lang="en-US" dirty="0"/>
              <a:t> identifies whether the change is corrective, adaptive, perfective, or preventive.</a:t>
            </a:r>
            <a:endParaRPr lang="en-US" b="1" dirty="0"/>
          </a:p>
          <a:p>
            <a:r>
              <a:rPr lang="en-US" b="1" dirty="0"/>
              <a:t>Impact</a:t>
            </a:r>
            <a:r>
              <a:rPr lang="en-US" dirty="0"/>
              <a:t> measures how much of the system will be affected by the change. </a:t>
            </a:r>
          </a:p>
          <a:p>
            <a:r>
              <a:rPr lang="en-US" b="1" dirty="0"/>
              <a:t>Urgency</a:t>
            </a:r>
            <a:r>
              <a:rPr lang="en-US" dirty="0"/>
              <a:t> determines how quickly the change must be implemented. </a:t>
            </a:r>
          </a:p>
          <a:p>
            <a:r>
              <a:rPr lang="en-US" b="1" dirty="0"/>
              <a:t>Risk</a:t>
            </a:r>
            <a:r>
              <a:rPr lang="en-US" dirty="0"/>
              <a:t> evaluates the possibility of system failure, security issues, or negative effects after implementation. </a:t>
            </a:r>
          </a:p>
          <a:p>
            <a:r>
              <a:rPr lang="en-US" b="1" dirty="0"/>
              <a:t>Complexity</a:t>
            </a:r>
            <a:r>
              <a:rPr lang="en-US" dirty="0"/>
              <a:t> estimates the effort, time, and technical difficulty involved in making the change.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63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System crash during online transactions</a:t>
            </a:r>
            <a:br>
              <a:rPr lang="en-US" dirty="0"/>
            </a:br>
            <a:r>
              <a:rPr lang="en-US" dirty="0"/>
              <a:t>→ Immediate fix required because business operations stop.</a:t>
            </a:r>
          </a:p>
          <a:p>
            <a:r>
              <a:rPr lang="en-US" b="1" dirty="0"/>
              <a:t>Security vulnerability or hacking risk</a:t>
            </a:r>
            <a:br>
              <a:rPr lang="en-US" dirty="0"/>
            </a:br>
            <a:r>
              <a:rPr lang="en-US" dirty="0"/>
              <a:t>→ Urgent patch needed to protect user data and prevent attacks.</a:t>
            </a:r>
          </a:p>
          <a:p>
            <a:r>
              <a:rPr lang="en-US" dirty="0"/>
              <a:t> </a:t>
            </a:r>
            <a:r>
              <a:rPr lang="en-US" b="1" dirty="0"/>
              <a:t>Payment gateway not working in an e-commerce system</a:t>
            </a:r>
            <a:br>
              <a:rPr lang="en-US" dirty="0"/>
            </a:br>
            <a:r>
              <a:rPr lang="en-US" dirty="0"/>
              <a:t>→ High priority because customers cannot make purchases. </a:t>
            </a:r>
          </a:p>
          <a:p>
            <a:r>
              <a:rPr lang="en-US" b="1" dirty="0"/>
              <a:t>Hospital management system failing to display patient records</a:t>
            </a:r>
            <a:br>
              <a:rPr lang="en-US" dirty="0"/>
            </a:br>
            <a:r>
              <a:rPr lang="en-US" dirty="0"/>
              <a:t>→ Critical issue affecting patient care and safety. </a:t>
            </a:r>
          </a:p>
          <a:p>
            <a:r>
              <a:rPr lang="en-US" b="1" dirty="0"/>
              <a:t>Bug causing data loss or corruption</a:t>
            </a:r>
            <a:br>
              <a:rPr lang="en-US" dirty="0"/>
            </a:br>
            <a:r>
              <a:rPr lang="en-US" dirty="0"/>
              <a:t>→  Requires immediate attention to avoid permanent damage. </a:t>
            </a:r>
          </a:p>
          <a:p>
            <a:r>
              <a:rPr lang="en-US" b="1" dirty="0"/>
              <a:t>Software failing after an operating system update</a:t>
            </a:r>
            <a:br>
              <a:rPr lang="en-US" dirty="0"/>
            </a:br>
            <a:r>
              <a:rPr lang="en-US" dirty="0"/>
              <a:t>→ Adaptive urgent change needed for compatibility. </a:t>
            </a:r>
          </a:p>
          <a:p>
            <a:r>
              <a:rPr lang="en-US" b="1" dirty="0"/>
              <a:t>Government regulation update requiring system modification before a deadline</a:t>
            </a:r>
            <a:br>
              <a:rPr lang="en-US" dirty="0"/>
            </a:br>
            <a:r>
              <a:rPr lang="en-US" dirty="0"/>
              <a:t>→ Must be implemented quickly for legal compliance. </a:t>
            </a:r>
          </a:p>
          <a:p>
            <a:r>
              <a:rPr lang="en-US" b="1" dirty="0"/>
              <a:t>Server performance issue causing website downtime</a:t>
            </a:r>
            <a:br>
              <a:rPr lang="en-US" dirty="0"/>
            </a:br>
            <a:r>
              <a:rPr lang="en-US" dirty="0"/>
              <a:t>→ High urgency because users cannot access services.</a:t>
            </a:r>
          </a:p>
          <a:p>
            <a:r>
              <a:rPr lang="en-US" dirty="0"/>
              <a:t> </a:t>
            </a:r>
            <a:r>
              <a:rPr lang="en-US" b="1" dirty="0"/>
              <a:t>Login/authentication failure for all users</a:t>
            </a:r>
            <a:br>
              <a:rPr lang="en-US" dirty="0"/>
            </a:br>
            <a:r>
              <a:rPr lang="en-US" dirty="0"/>
              <a:t>→ Critical because no one can access the system. </a:t>
            </a:r>
          </a:p>
          <a:p>
            <a:r>
              <a:rPr lang="en-US" b="1" dirty="0"/>
              <a:t>Banking app showing incorrect account balances</a:t>
            </a:r>
            <a:br>
              <a:rPr lang="en-US" dirty="0"/>
            </a:br>
            <a:r>
              <a:rPr lang="en-US" dirty="0"/>
              <a:t>→ Immediate correction required due to financial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653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University portal works, but students cannot submit assignments before deadlines</a:t>
            </a:r>
            <a:br>
              <a:rPr lang="en-US" dirty="0"/>
            </a:br>
            <a:r>
              <a:rPr lang="en-US" dirty="0"/>
              <a:t>→ Major functionality failure causing serious inconvenience. </a:t>
            </a:r>
          </a:p>
          <a:p>
            <a:r>
              <a:rPr lang="en-US" b="1" dirty="0"/>
              <a:t>Hospital system is active, but doctors cannot access lab reports</a:t>
            </a:r>
            <a:br>
              <a:rPr lang="en-US" dirty="0"/>
            </a:br>
            <a:r>
              <a:rPr lang="en-US" dirty="0"/>
              <a:t>→ Patient treatment may be delayed and could become dangerous.</a:t>
            </a:r>
          </a:p>
          <a:p>
            <a:r>
              <a:rPr lang="en-US" dirty="0"/>
              <a:t> </a:t>
            </a:r>
            <a:r>
              <a:rPr lang="en-US" b="1" dirty="0"/>
              <a:t>Banking app opens normally, but money transfer feature is not working</a:t>
            </a:r>
            <a:br>
              <a:rPr lang="en-US" dirty="0"/>
            </a:br>
            <a:r>
              <a:rPr lang="en-US" dirty="0"/>
              <a:t>→ Customers can view accounts but cannot perform important transactions. </a:t>
            </a:r>
          </a:p>
          <a:p>
            <a:r>
              <a:rPr lang="en-US" b="1" dirty="0"/>
              <a:t>Smart Parking System displays incorrect available parking slots</a:t>
            </a:r>
            <a:br>
              <a:rPr lang="en-US" dirty="0"/>
            </a:br>
            <a:r>
              <a:rPr lang="en-US" dirty="0"/>
              <a:t>→ Drivers are misdirected, causing traffic and user frustration. </a:t>
            </a:r>
          </a:p>
          <a:p>
            <a:r>
              <a:rPr lang="en-US" b="1" dirty="0"/>
              <a:t>Company email server is extremely slow or partially unavailable</a:t>
            </a:r>
            <a:br>
              <a:rPr lang="en-US" dirty="0"/>
            </a:br>
            <a:r>
              <a:rPr lang="en-US" dirty="0"/>
              <a:t>→ Communication continues with difficulty, but business operations suffer. </a:t>
            </a:r>
          </a:p>
          <a:p>
            <a:r>
              <a:rPr lang="en-US" b="1" dirty="0"/>
              <a:t>Library Management System cannot process book returns properly</a:t>
            </a:r>
            <a:br>
              <a:rPr lang="en-US" dirty="0"/>
            </a:br>
            <a:r>
              <a:rPr lang="en-US" dirty="0"/>
              <a:t>→ Records become inaccurate and penalties may be calculated incorrectly.</a:t>
            </a:r>
          </a:p>
          <a:p>
            <a:r>
              <a:rPr lang="en-US" dirty="0"/>
              <a:t> </a:t>
            </a:r>
            <a:r>
              <a:rPr lang="en-US" b="1" dirty="0"/>
              <a:t>Frequent crashes in one important module of the software</a:t>
            </a:r>
            <a:br>
              <a:rPr lang="en-US" dirty="0"/>
            </a:br>
            <a:r>
              <a:rPr lang="en-US" dirty="0"/>
              <a:t>→ The whole system is not down, but users face repeated interruptions. </a:t>
            </a:r>
          </a:p>
          <a:p>
            <a:r>
              <a:rPr lang="en-US" b="1" dirty="0"/>
              <a:t>Payroll system calculates salaries incorrectly</a:t>
            </a:r>
            <a:br>
              <a:rPr lang="en-US" dirty="0"/>
            </a:br>
            <a:r>
              <a:rPr lang="en-US" dirty="0"/>
              <a:t>→ Employees may receive wrong payments, creating financial and legal issues.</a:t>
            </a:r>
          </a:p>
          <a:p>
            <a:r>
              <a:rPr lang="en-US" dirty="0"/>
              <a:t> </a:t>
            </a:r>
            <a:r>
              <a:rPr lang="en-US" b="1" dirty="0"/>
              <a:t>Website becomes extremely slow during high traffic hours</a:t>
            </a:r>
            <a:br>
              <a:rPr lang="en-US" dirty="0"/>
            </a:br>
            <a:r>
              <a:rPr lang="en-US" dirty="0"/>
              <a:t>→ Users can still access it, but service quality is seriously 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8641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Adding </a:t>
            </a:r>
            <a:r>
              <a:rPr lang="en-US" b="1" dirty="0"/>
              <a:t>advanced search filters</a:t>
            </a:r>
            <a:r>
              <a:rPr lang="en-US" dirty="0"/>
              <a:t> in a Library System (e.g., by author, year, category)</a:t>
            </a:r>
          </a:p>
          <a:p>
            <a:r>
              <a:rPr lang="en-US" dirty="0"/>
              <a:t> Improving </a:t>
            </a:r>
            <a:r>
              <a:rPr lang="en-US" b="1" dirty="0"/>
              <a:t>report formatting</a:t>
            </a:r>
            <a:r>
              <a:rPr lang="en-US" dirty="0"/>
              <a:t> in a university portal </a:t>
            </a:r>
          </a:p>
          <a:p>
            <a:r>
              <a:rPr lang="en-US" dirty="0"/>
              <a:t>Adding </a:t>
            </a:r>
            <a:r>
              <a:rPr lang="en-US" b="1" dirty="0"/>
              <a:t>new optional features</a:t>
            </a:r>
            <a:r>
              <a:rPr lang="en-US" dirty="0"/>
              <a:t> like book recommendations or </a:t>
            </a:r>
            <a:r>
              <a:rPr lang="en-US" dirty="0" err="1"/>
              <a:t>wishlist</a:t>
            </a:r>
            <a:r>
              <a:rPr lang="en-US" dirty="0"/>
              <a:t> </a:t>
            </a:r>
          </a:p>
          <a:p>
            <a:r>
              <a:rPr lang="en-US" dirty="0"/>
              <a:t>Optimizing </a:t>
            </a:r>
            <a:r>
              <a:rPr lang="en-US" b="1" dirty="0"/>
              <a:t>system performance</a:t>
            </a:r>
            <a:r>
              <a:rPr lang="en-US" dirty="0"/>
              <a:t> (faster page loading in non-critical modules) </a:t>
            </a:r>
          </a:p>
          <a:p>
            <a:r>
              <a:rPr lang="en-US" dirty="0"/>
              <a:t>Adding </a:t>
            </a:r>
            <a:r>
              <a:rPr lang="en-US" b="1" dirty="0"/>
              <a:t>export options (PDF/Excel)</a:t>
            </a:r>
            <a:r>
              <a:rPr lang="en-US" dirty="0"/>
              <a:t> for reports </a:t>
            </a:r>
          </a:p>
          <a:p>
            <a:r>
              <a:rPr lang="en-US" dirty="0"/>
              <a:t>Enhancing </a:t>
            </a:r>
            <a:r>
              <a:rPr lang="en-US" b="1" dirty="0"/>
              <a:t>dashboard design</a:t>
            </a:r>
            <a:r>
              <a:rPr lang="en-US" dirty="0"/>
              <a:t> for better usability </a:t>
            </a:r>
          </a:p>
          <a:p>
            <a:r>
              <a:rPr lang="en-US" dirty="0"/>
              <a:t>Adding </a:t>
            </a:r>
            <a:r>
              <a:rPr lang="en-US" b="1" dirty="0"/>
              <a:t>multilingual support</a:t>
            </a:r>
            <a:r>
              <a:rPr lang="en-US" dirty="0"/>
              <a:t> for wider user access</a:t>
            </a:r>
          </a:p>
          <a:p>
            <a:r>
              <a:rPr lang="en-US" dirty="0"/>
              <a:t> Improving </a:t>
            </a:r>
            <a:r>
              <a:rPr lang="en-US" b="1" dirty="0"/>
              <a:t>logging and monitoring tools</a:t>
            </a:r>
            <a:r>
              <a:rPr lang="en-US" dirty="0"/>
              <a:t> for system maintenance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473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Fixing </a:t>
            </a:r>
            <a:r>
              <a:rPr lang="en-US" b="1" dirty="0"/>
              <a:t>spelling mistakes or grammar errors</a:t>
            </a:r>
            <a:r>
              <a:rPr lang="en-US" dirty="0"/>
              <a:t> in system text</a:t>
            </a:r>
          </a:p>
          <a:p>
            <a:r>
              <a:rPr lang="en-US" dirty="0"/>
              <a:t> Adjusting </a:t>
            </a:r>
            <a:r>
              <a:rPr lang="en-US" b="1" dirty="0"/>
              <a:t>alignment or spacing</a:t>
            </a:r>
            <a:r>
              <a:rPr lang="en-US" dirty="0"/>
              <a:t> of interface elements </a:t>
            </a:r>
          </a:p>
          <a:p>
            <a:r>
              <a:rPr lang="en-US" dirty="0"/>
              <a:t>Updating </a:t>
            </a:r>
            <a:r>
              <a:rPr lang="en-US" b="1" dirty="0"/>
              <a:t>logo or theme colors</a:t>
            </a:r>
            <a:r>
              <a:rPr lang="en-US" dirty="0"/>
              <a:t> without affecting functionality </a:t>
            </a:r>
          </a:p>
          <a:p>
            <a:r>
              <a:rPr lang="en-US" dirty="0"/>
              <a:t>Minor </a:t>
            </a:r>
            <a:r>
              <a:rPr lang="en-US" b="1" dirty="0"/>
              <a:t>UI layout adjustments</a:t>
            </a:r>
            <a:r>
              <a:rPr lang="en-US" dirty="0"/>
              <a:t> (e.g., moving a label slightly) </a:t>
            </a:r>
          </a:p>
          <a:p>
            <a:r>
              <a:rPr lang="en-US" dirty="0"/>
              <a:t>Changing </a:t>
            </a:r>
            <a:r>
              <a:rPr lang="en-US" b="1" dirty="0"/>
              <a:t>welcome message text</a:t>
            </a:r>
            <a:r>
              <a:rPr lang="en-US" dirty="0"/>
              <a:t> </a:t>
            </a:r>
          </a:p>
          <a:p>
            <a:r>
              <a:rPr lang="en-US" dirty="0"/>
              <a:t>Updating </a:t>
            </a:r>
            <a:r>
              <a:rPr lang="en-US" b="1" dirty="0"/>
              <a:t>icon styles</a:t>
            </a:r>
            <a:r>
              <a:rPr lang="en-US" dirty="0"/>
              <a:t> for better appearance </a:t>
            </a:r>
          </a:p>
          <a:p>
            <a:r>
              <a:rPr lang="en-US" dirty="0"/>
              <a:t>Small </a:t>
            </a:r>
            <a:r>
              <a:rPr lang="en-US" b="1" dirty="0"/>
              <a:t>non-functional text edits</a:t>
            </a:r>
            <a:r>
              <a:rPr lang="en-US" dirty="0"/>
              <a:t> in reports or forms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711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Regression testing is necessary to ensure that </a:t>
            </a:r>
            <a:r>
              <a:rPr lang="en-US" b="1" dirty="0"/>
              <a:t>new changes or fixes do not break existing functionality</a:t>
            </a:r>
            <a:r>
              <a:rPr lang="en-US" dirty="0"/>
              <a:t> in the software system.</a:t>
            </a:r>
          </a:p>
          <a:p>
            <a:r>
              <a:rPr lang="en-US" dirty="0"/>
              <a:t>When developers modify software by:</a:t>
            </a:r>
          </a:p>
          <a:p>
            <a:r>
              <a:rPr lang="en-US" dirty="0"/>
              <a:t>fixing bugs, </a:t>
            </a:r>
          </a:p>
          <a:p>
            <a:r>
              <a:rPr lang="en-US" dirty="0"/>
              <a:t>adding features, </a:t>
            </a:r>
          </a:p>
          <a:p>
            <a:r>
              <a:rPr lang="en-US" dirty="0"/>
              <a:t>improving performance, or </a:t>
            </a:r>
          </a:p>
          <a:p>
            <a:r>
              <a:rPr lang="en-US" dirty="0"/>
              <a:t>adapting the system, </a:t>
            </a:r>
          </a:p>
          <a:p>
            <a:r>
              <a:rPr lang="en-US" dirty="0"/>
              <a:t>those changes may unintentionally affect other parts of the system.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B06D6-CE52-4045-9417-6BFD2B82B90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679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Software quality determines </a:t>
            </a:r>
            <a:r>
              <a:rPr lang="en-US" altLang="en-US" b="1"/>
              <a:t>how well a system works, how reliable it is, and how satisfied users are</a:t>
            </a:r>
            <a:r>
              <a:rPr lang="en-US" altLang="en-US"/>
              <a:t>. In real life, software is used in </a:t>
            </a:r>
            <a:r>
              <a:rPr lang="en-US" altLang="en-US" b="1"/>
              <a:t>critical systems</a:t>
            </a:r>
            <a:r>
              <a:rPr lang="en-US" altLang="en-US"/>
              <a:t>, not just games or websites.</a:t>
            </a:r>
          </a:p>
          <a:p>
            <a:r>
              <a:rPr lang="en-US" altLang="en-US" b="1"/>
              <a:t>High-quality software means:</a:t>
            </a:r>
            <a:endParaRPr lang="en-US" altLang="en-US"/>
          </a:p>
          <a:p>
            <a:r>
              <a:rPr lang="en-US" altLang="en-US"/>
              <a:t>Correct results</a:t>
            </a:r>
          </a:p>
          <a:p>
            <a:r>
              <a:rPr lang="en-US" altLang="en-US"/>
              <a:t>Reliable performance</a:t>
            </a:r>
          </a:p>
          <a:p>
            <a:r>
              <a:rPr lang="en-US" altLang="en-US"/>
              <a:t>Ease of use</a:t>
            </a:r>
          </a:p>
          <a:p>
            <a:r>
              <a:rPr lang="en-US" altLang="en-US"/>
              <a:t>Safety and security</a:t>
            </a:r>
          </a:p>
          <a:p>
            <a:r>
              <a:rPr lang="en-US" altLang="en-US"/>
              <a:t>Long-term maintainability</a:t>
            </a:r>
          </a:p>
          <a:p>
            <a:r>
              <a:rPr lang="en-US" altLang="en-US" b="1"/>
              <a:t>Low-quality software leads to:</a:t>
            </a:r>
            <a:endParaRPr lang="en-US" altLang="en-US"/>
          </a:p>
          <a:p>
            <a:r>
              <a:rPr lang="en-US" altLang="en-US"/>
              <a:t>System failures</a:t>
            </a:r>
          </a:p>
          <a:p>
            <a:r>
              <a:rPr lang="en-US" altLang="en-US"/>
              <a:t>Financial loss</a:t>
            </a:r>
          </a:p>
          <a:p>
            <a:r>
              <a:rPr lang="en-US" altLang="en-US"/>
              <a:t>Security breaches</a:t>
            </a:r>
          </a:p>
          <a:p>
            <a:r>
              <a:rPr lang="en-US" altLang="en-US"/>
              <a:t>Loss of trust</a:t>
            </a:r>
          </a:p>
          <a:p>
            <a:r>
              <a:rPr lang="en-US" altLang="en-US"/>
              <a:t>Legal and ethical issues</a:t>
            </a:r>
          </a:p>
          <a:p>
            <a:r>
              <a:rPr lang="en-US" altLang="en-US"/>
              <a:t>📌 </a:t>
            </a:r>
            <a:r>
              <a:rPr lang="en-US" altLang="en-US" b="1"/>
              <a:t>Example:</a:t>
            </a:r>
            <a:br>
              <a:rPr lang="en-US" altLang="en-US"/>
            </a:br>
            <a:r>
              <a:rPr lang="en-US" altLang="en-US"/>
              <a:t>A banking app that crashes during money transfer causes </a:t>
            </a:r>
            <a:r>
              <a:rPr lang="en-US" altLang="en-US" b="1"/>
              <a:t>loss of customer trust</a:t>
            </a:r>
            <a:r>
              <a:rPr lang="en-US" altLang="en-US"/>
              <a:t> and </a:t>
            </a:r>
            <a:r>
              <a:rPr lang="en-US" altLang="en-US" b="1"/>
              <a:t>financial risk</a:t>
            </a:r>
            <a:r>
              <a:rPr lang="en-US" altLang="en-US"/>
              <a:t>, even if the crash happens rarely.</a:t>
            </a:r>
          </a:p>
          <a:p>
            <a:endParaRPr lang="en-US" altLang="en-US"/>
          </a:p>
        </p:txBody>
      </p:sp>
      <p:sp>
        <p:nvSpPr>
          <p:cNvPr id="11268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1BDD72C-D0AE-4EDD-9E47-BFC24BF3F6C4}" type="slidenum">
              <a:rPr lang="en-US" altLang="en-US"/>
              <a:pPr/>
              <a:t>45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should </a:t>
            </a:r>
            <a:r>
              <a:rPr lang="en-US" b="1" dirty="0"/>
              <a:t>produce accurate and expected outputs </a:t>
            </a:r>
            <a:r>
              <a:rPr lang="en-US" dirty="0"/>
              <a:t>according to requirements.</a:t>
            </a:r>
          </a:p>
          <a:p>
            <a:r>
              <a:rPr lang="en-US" dirty="0"/>
              <a:t>If users enter valid input, the software must give the correct result every time.</a:t>
            </a:r>
          </a:p>
          <a:p>
            <a:r>
              <a:rPr lang="en-US" dirty="0"/>
              <a:t>“Would you trust a calculator that sometimes gives wrong answers?”</a:t>
            </a:r>
          </a:p>
          <a:p>
            <a:endParaRPr lang="en-US" dirty="0"/>
          </a:p>
          <a:p>
            <a:r>
              <a:rPr lang="en-US" dirty="0"/>
              <a:t>Software </a:t>
            </a:r>
            <a:r>
              <a:rPr lang="en-US" b="1" dirty="0"/>
              <a:t>should work consistently without crashing or failing</a:t>
            </a:r>
            <a:r>
              <a:rPr lang="en-US" dirty="0"/>
              <a:t>, even after long usage.</a:t>
            </a:r>
          </a:p>
          <a:p>
            <a:r>
              <a:rPr lang="en-US" dirty="0"/>
              <a:t>Reliable software performs correctly under normal and heavy conditions.</a:t>
            </a:r>
          </a:p>
          <a:p>
            <a:endParaRPr lang="en-US" dirty="0"/>
          </a:p>
          <a:p>
            <a:r>
              <a:rPr lang="en-US" b="1" dirty="0"/>
              <a:t>Online Shopping Website</a:t>
            </a:r>
          </a:p>
          <a:p>
            <a:r>
              <a:rPr lang="en-US" dirty="0"/>
              <a:t>During a big sale:</a:t>
            </a:r>
          </a:p>
          <a:p>
            <a:r>
              <a:rPr lang="en-US" dirty="0"/>
              <a:t>Thousands of users visit simultaneously </a:t>
            </a:r>
          </a:p>
          <a:p>
            <a:r>
              <a:rPr lang="en-US" dirty="0"/>
              <a:t>Orders should process properly </a:t>
            </a:r>
          </a:p>
          <a:p>
            <a:r>
              <a:rPr lang="en-US" dirty="0"/>
              <a:t>Website should not freeze or crash </a:t>
            </a:r>
          </a:p>
          <a:p>
            <a:r>
              <a:rPr lang="en-US" dirty="0"/>
              <a:t>If the system frequently stops working, users lose confidence.</a:t>
            </a:r>
          </a:p>
          <a:p>
            <a:endParaRPr lang="en-US" dirty="0"/>
          </a:p>
          <a:p>
            <a:r>
              <a:rPr lang="en-US" b="1" dirty="0"/>
              <a:t>Food Delivery App</a:t>
            </a:r>
          </a:p>
          <a:p>
            <a:r>
              <a:rPr lang="en-US" b="1" dirty="0"/>
              <a:t>Good usability includes:</a:t>
            </a:r>
          </a:p>
          <a:p>
            <a:r>
              <a:rPr lang="en-US" dirty="0"/>
              <a:t>Simple menu navigation ,Clear buttons, Easy checkout process , Fast order tracking </a:t>
            </a:r>
          </a:p>
          <a:p>
            <a:r>
              <a:rPr lang="en-US" b="1" dirty="0"/>
              <a:t>Poor usability includes:</a:t>
            </a:r>
          </a:p>
          <a:p>
            <a:r>
              <a:rPr lang="en-US" dirty="0"/>
              <a:t>Confusing layout ,Difficult navigation , Too many unnecessary steps</a:t>
            </a:r>
          </a:p>
          <a:p>
            <a:r>
              <a:rPr lang="en-US" dirty="0"/>
              <a:t>“Why do some people stop using apps after one day?”</a:t>
            </a:r>
          </a:p>
          <a:p>
            <a:endParaRPr lang="en-US" dirty="0"/>
          </a:p>
          <a:p>
            <a:r>
              <a:rPr lang="en-US" dirty="0"/>
              <a:t>Software should prevent dangerous situations that may harm people or systems.</a:t>
            </a:r>
          </a:p>
          <a:p>
            <a:r>
              <a:rPr lang="en-US" b="1" dirty="0"/>
              <a:t>Safety</a:t>
            </a:r>
            <a:r>
              <a:rPr lang="en-US" dirty="0"/>
              <a:t> is extremely important in:</a:t>
            </a:r>
          </a:p>
          <a:p>
            <a:r>
              <a:rPr lang="en-US" dirty="0"/>
              <a:t>Medical software ,Airplane systems ,Industrial control systems , Self-driving cars </a:t>
            </a:r>
          </a:p>
          <a:p>
            <a:r>
              <a:rPr lang="en-US" b="1" dirty="0"/>
              <a:t>Example</a:t>
            </a:r>
          </a:p>
          <a:p>
            <a:r>
              <a:rPr lang="en-US" b="1" dirty="0"/>
              <a:t>Hospital Software</a:t>
            </a:r>
          </a:p>
          <a:p>
            <a:r>
              <a:rPr lang="en-US" dirty="0"/>
              <a:t>If patient medicine dosage is calculated incorrectly, it may risk lives.</a:t>
            </a:r>
          </a:p>
          <a:p>
            <a:r>
              <a:rPr lang="en-US" b="1" dirty="0"/>
              <a:t>Safe software must:</a:t>
            </a:r>
          </a:p>
          <a:p>
            <a:r>
              <a:rPr lang="en-US" dirty="0"/>
              <a:t>Detect dangerous conditions , Prevent invalid operations , Provide warnings and backups</a:t>
            </a:r>
          </a:p>
          <a:p>
            <a:endParaRPr lang="en-US" dirty="0"/>
          </a:p>
          <a:p>
            <a:r>
              <a:rPr lang="en-US" b="1" dirty="0"/>
              <a:t>Security:  </a:t>
            </a:r>
            <a:r>
              <a:rPr lang="en-US" dirty="0"/>
              <a:t>Software should protect:</a:t>
            </a:r>
          </a:p>
          <a:p>
            <a:r>
              <a:rPr lang="en-US" dirty="0"/>
              <a:t>User data ,Passwords, Transactions , System resources from unauthorized access or attacks.</a:t>
            </a:r>
          </a:p>
          <a:p>
            <a:r>
              <a:rPr lang="en-US" b="1" dirty="0"/>
              <a:t>Example</a:t>
            </a:r>
          </a:p>
          <a:p>
            <a:r>
              <a:rPr lang="en-US" b="1" dirty="0"/>
              <a:t>Banking Application</a:t>
            </a:r>
          </a:p>
          <a:p>
            <a:r>
              <a:rPr lang="en-US" dirty="0"/>
              <a:t>Secure software should:</a:t>
            </a:r>
          </a:p>
          <a:p>
            <a:r>
              <a:rPr lang="en-US" dirty="0"/>
              <a:t>Encrypt passwords </a:t>
            </a:r>
          </a:p>
          <a:p>
            <a:r>
              <a:rPr lang="en-US" dirty="0"/>
              <a:t>Prevent hacking attempts </a:t>
            </a:r>
          </a:p>
          <a:p>
            <a:r>
              <a:rPr lang="en-US" dirty="0"/>
              <a:t>Protect customer information </a:t>
            </a:r>
          </a:p>
          <a:p>
            <a:r>
              <a:rPr lang="en-US" dirty="0"/>
              <a:t>Secure online transactions </a:t>
            </a:r>
          </a:p>
          <a:p>
            <a:r>
              <a:rPr lang="en-US" b="1" dirty="0"/>
              <a:t>maintainability</a:t>
            </a:r>
          </a:p>
          <a:p>
            <a:r>
              <a:rPr lang="en-US" dirty="0"/>
              <a:t> Software should be easy to:</a:t>
            </a:r>
          </a:p>
          <a:p>
            <a:r>
              <a:rPr lang="en-US" dirty="0"/>
              <a:t>Modify , Update, Repair , Improve  ,even after years of development.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431F8C-010D-48EE-BCE7-55A292B42BED}" type="slidenum">
              <a:rPr lang="en-US" altLang="en-US" smtClean="0"/>
              <a:pPr/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84915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Trust is difficult to build and easy to lose.</a:t>
            </a:r>
          </a:p>
          <a:p>
            <a:endParaRPr lang="en-US" b="1" dirty="0"/>
          </a:p>
          <a:p>
            <a:r>
              <a:rPr lang="en-US" b="1" dirty="0"/>
              <a:t>E-Commerce Website</a:t>
            </a:r>
          </a:p>
          <a:p>
            <a:r>
              <a:rPr lang="en-US" dirty="0"/>
              <a:t>If customers repeatedly experience:</a:t>
            </a:r>
          </a:p>
          <a:p>
            <a:r>
              <a:rPr lang="en-US" dirty="0"/>
              <a:t>Failed payments , Missing orders ,Wrong deliveries </a:t>
            </a:r>
          </a:p>
          <a:p>
            <a:r>
              <a:rPr lang="en-US" dirty="0"/>
              <a:t>they may stop using the platform completely.</a:t>
            </a:r>
          </a:p>
          <a:p>
            <a:endParaRPr lang="en-US" dirty="0"/>
          </a:p>
          <a:p>
            <a:r>
              <a:rPr lang="en-US" dirty="0"/>
              <a:t>Poor-quality software may violate:</a:t>
            </a:r>
          </a:p>
          <a:p>
            <a:r>
              <a:rPr lang="en-US" b="1" dirty="0"/>
              <a:t>Laws , Industry standards , Ethical responsibilities </a:t>
            </a:r>
          </a:p>
          <a:p>
            <a:r>
              <a:rPr lang="en-US" dirty="0"/>
              <a:t>Especially in sensitive domains such as:</a:t>
            </a:r>
          </a:p>
          <a:p>
            <a:r>
              <a:rPr lang="en-US" dirty="0"/>
              <a:t>Healthcare , Banking , Aviation , Government systems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431F8C-010D-48EE-BCE7-55A292B42BED}" type="slidenum">
              <a:rPr lang="en-US" altLang="en-US" smtClean="0"/>
              <a:pPr/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0050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 noChangeArrowheads="1"/>
          </p:cNvSpPr>
          <p:nvPr>
            <p:ph type="body" sz="quarter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Explain quality with real-life software examples students use daily.</a:t>
            </a:r>
          </a:p>
        </p:txBody>
      </p:sp>
      <p:sp>
        <p:nvSpPr>
          <p:cNvPr id="15364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Correctness Produces accurate results</a:t>
            </a:r>
          </a:p>
          <a:p>
            <a:r>
              <a:rPr lang="en-US" dirty="0"/>
              <a:t>Reliability Performs consistently without failure</a:t>
            </a:r>
          </a:p>
          <a:p>
            <a:r>
              <a:rPr lang="en-US" dirty="0"/>
              <a:t>Efficiency Uses system resources effectively</a:t>
            </a:r>
          </a:p>
          <a:p>
            <a:r>
              <a:rPr lang="en-US" dirty="0"/>
              <a:t>Maintainability Easy to modify and update</a:t>
            </a:r>
          </a:p>
          <a:p>
            <a:r>
              <a:rPr lang="en-US" dirty="0"/>
              <a:t>Usability Easy for users to learn and use</a:t>
            </a:r>
          </a:p>
          <a:p>
            <a:r>
              <a:rPr lang="en-US" dirty="0"/>
              <a:t>Portability Can run on different platforms</a:t>
            </a:r>
          </a:p>
          <a:p>
            <a:r>
              <a:rPr lang="en-US" dirty="0"/>
              <a:t>Testability Easy to test</a:t>
            </a:r>
          </a:p>
          <a:p>
            <a:r>
              <a:rPr lang="en-US" dirty="0" err="1"/>
              <a:t>SecurityProtects</a:t>
            </a:r>
            <a:r>
              <a:rPr lang="en-US" dirty="0"/>
              <a:t> data and prevents attacks</a:t>
            </a:r>
            <a:endParaRPr lang="en-US" altLang="en-US" dirty="0"/>
          </a:p>
          <a:p>
            <a:br>
              <a:rPr lang="en-US" altLang="en-US" dirty="0"/>
            </a:br>
            <a:endParaRPr lang="en-US" altLang="en-US" dirty="0"/>
          </a:p>
          <a:p>
            <a:endParaRPr lang="en-US" altLang="en-US" dirty="0"/>
          </a:p>
        </p:txBody>
      </p:sp>
      <p:sp>
        <p:nvSpPr>
          <p:cNvPr id="17412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CA1D16E-1FDA-442F-85F0-5995DEAE060C}" type="slidenum">
              <a:rPr lang="en-US" altLang="en-US"/>
              <a:pPr/>
              <a:t>49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reliability </a:t>
            </a:r>
          </a:p>
          <a:p>
            <a:r>
              <a:rPr lang="en-US" dirty="0"/>
              <a:t>2 usability </a:t>
            </a:r>
          </a:p>
          <a:p>
            <a:r>
              <a:rPr lang="en-US" dirty="0"/>
              <a:t>3 efficiency</a:t>
            </a:r>
          </a:p>
          <a:p>
            <a:r>
              <a:rPr lang="en-US"/>
              <a:t>4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431F8C-010D-48EE-BCE7-55A292B42BED}" type="slidenum">
              <a:rPr lang="en-US" altLang="en-US" smtClean="0"/>
              <a:pPr/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75606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/>
          <p:cNvSpPr>
            <a:spLocks noGrp="1" noChangeArrowheads="1"/>
          </p:cNvSpPr>
          <p:nvPr>
            <p:ph type="body" sz="quarter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Clarify SQA as preventive, not just testing.</a:t>
            </a:r>
          </a:p>
          <a:p>
            <a:r>
              <a:rPr lang="en-US" altLang="en-US" b="1" dirty="0"/>
              <a:t>Process quality</a:t>
            </a:r>
            <a:r>
              <a:rPr lang="en-US" altLang="en-US" dirty="0"/>
              <a:t> refers to </a:t>
            </a:r>
            <a:r>
              <a:rPr lang="en-US" altLang="en-US" b="1" dirty="0"/>
              <a:t>how well the software development process is designed, followed, monitored, and improved</a:t>
            </a:r>
            <a:r>
              <a:rPr lang="en-US" altLang="en-US" dirty="0"/>
              <a:t>.</a:t>
            </a:r>
            <a:br>
              <a:rPr lang="en-US" altLang="en-US" dirty="0"/>
            </a:br>
            <a:r>
              <a:rPr lang="en-US" altLang="en-US" dirty="0"/>
              <a:t>It focuses on the </a:t>
            </a:r>
            <a:r>
              <a:rPr lang="en-US" altLang="en-US" b="1" dirty="0"/>
              <a:t>approved plans  , methods, standards, tools, and procedures</a:t>
            </a:r>
            <a:r>
              <a:rPr lang="en-US" altLang="en-US" dirty="0"/>
              <a:t> used to build software.</a:t>
            </a:r>
          </a:p>
          <a:p>
            <a:r>
              <a:rPr lang="en-US" altLang="en-US" dirty="0"/>
              <a:t>👉 </a:t>
            </a:r>
            <a:r>
              <a:rPr lang="en-US" altLang="en-US" i="1" dirty="0"/>
              <a:t>Good process → higher chance of good product</a:t>
            </a:r>
          </a:p>
          <a:p>
            <a:r>
              <a:rPr lang="en-US" altLang="en-US" dirty="0"/>
              <a:t>Use of </a:t>
            </a:r>
            <a:r>
              <a:rPr lang="en-US" altLang="en-US" b="1" dirty="0"/>
              <a:t>defined processes</a:t>
            </a:r>
            <a:r>
              <a:rPr lang="en-US" altLang="en-US" dirty="0"/>
              <a:t> (e.g., SDLC, Agile, DevOps), Proper </a:t>
            </a:r>
            <a:r>
              <a:rPr lang="en-US" altLang="en-US" b="1" dirty="0"/>
              <a:t>documentation , Reviews and audits, Testing at each stage, </a:t>
            </a:r>
            <a:r>
              <a:rPr lang="en-US" altLang="en-US" dirty="0"/>
              <a:t>Following </a:t>
            </a:r>
            <a:r>
              <a:rPr lang="en-US" altLang="en-US" b="1" dirty="0"/>
              <a:t>standards</a:t>
            </a:r>
            <a:r>
              <a:rPr lang="en-US" altLang="en-US" dirty="0"/>
              <a:t> (CMMI, ISO, IEEE)</a:t>
            </a:r>
          </a:p>
          <a:p>
            <a:endParaRPr lang="en-US" altLang="en-US" b="1" dirty="0"/>
          </a:p>
          <a:p>
            <a:r>
              <a:rPr lang="en-US" altLang="en-US" b="1" dirty="0"/>
              <a:t>Product quality</a:t>
            </a:r>
            <a:r>
              <a:rPr lang="en-US" altLang="en-US" dirty="0"/>
              <a:t> refers to the </a:t>
            </a:r>
            <a:r>
              <a:rPr lang="en-US" altLang="en-US" b="1" dirty="0"/>
              <a:t>quality of the final software product</a:t>
            </a:r>
            <a:r>
              <a:rPr lang="en-US" altLang="en-US" dirty="0"/>
              <a:t> delivered to the user.</a:t>
            </a:r>
            <a:br>
              <a:rPr lang="en-US" altLang="en-US" dirty="0"/>
            </a:br>
            <a:r>
              <a:rPr lang="en-US" altLang="en-US" dirty="0"/>
              <a:t>It focuses on </a:t>
            </a:r>
            <a:r>
              <a:rPr lang="en-US" altLang="en-US" b="1" dirty="0"/>
              <a:t>what the user receives and experiences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👉 </a:t>
            </a:r>
            <a:r>
              <a:rPr lang="en-US" altLang="en-US" i="1" dirty="0"/>
              <a:t>Is the software correct, usable, reliable, and efficient?</a:t>
            </a:r>
          </a:p>
          <a:p>
            <a:endParaRPr lang="en-US" altLang="en-US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objective: identify and remove defects throughout the lifecycle, as early as possible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23556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 noChangeArrowheads="1"/>
          </p:cNvSpPr>
          <p:nvPr>
            <p:ph type="body" sz="quarter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Testing is the process of establishing confidence that a program or system does what it is supposed to.”	by Hetzel 1973</a:t>
            </a:r>
            <a:br>
              <a:rPr lang="en-US" altLang="en-US"/>
            </a:br>
            <a:br>
              <a:rPr lang="en-US" altLang="en-US"/>
            </a:br>
            <a:r>
              <a:rPr lang="en-US" altLang="en-US"/>
              <a:t>“Testing is the process of executing a program or system with the intent of finding errors.”	by Myers 1979</a:t>
            </a:r>
            <a:br>
              <a:rPr lang="en-US" altLang="en-US"/>
            </a:br>
            <a:br>
              <a:rPr lang="en-US" altLang="en-US"/>
            </a:br>
            <a:r>
              <a:rPr lang="en-US" altLang="en-US"/>
              <a:t>“Testing is any activity aimed at evaluating an attribute or capability of a program or system and determining that it meets its required results.”   by Hetzel 1983</a:t>
            </a:r>
            <a:br>
              <a:rPr lang="en-US" altLang="en-US"/>
            </a:br>
            <a:br>
              <a:rPr lang="en-US" altLang="en-US"/>
            </a:br>
            <a:endParaRPr lang="en-US" altLang="en-US"/>
          </a:p>
        </p:txBody>
      </p:sp>
      <p:sp>
        <p:nvSpPr>
          <p:cNvPr id="27652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SQA is broader.</a:t>
            </a:r>
          </a:p>
          <a:p>
            <a:r>
              <a:rPr lang="en-US" dirty="0"/>
              <a:t>Testing is one activity inside SQA.</a:t>
            </a:r>
          </a:p>
          <a:p>
            <a:r>
              <a:rPr lang="en-US" dirty="0"/>
              <a:t>analogy:</a:t>
            </a:r>
          </a:p>
          <a:p>
            <a:r>
              <a:rPr lang="en-US" dirty="0"/>
              <a:t>SQA is maintaining hygiene in a restaurant, while testing is tasting food before serving.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431F8C-010D-48EE-BCE7-55A292B42BED}" type="slidenum">
              <a:rPr lang="en-US" altLang="en-US" smtClean="0"/>
              <a:pPr/>
              <a:t>60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47436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testing = checking recipe before cooking</a:t>
            </a:r>
          </a:p>
          <a:p>
            <a:r>
              <a:rPr lang="en-US" dirty="0"/>
              <a:t>Dynamic testing = tasting food after cooking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431F8C-010D-48EE-BCE7-55A292B42BED}" type="slidenum">
              <a:rPr lang="en-US" altLang="en-US" smtClean="0"/>
              <a:pPr/>
              <a:t>64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825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Relationship Between Them</a:t>
            </a:r>
          </a:p>
          <a:p>
            <a:r>
              <a:rPr lang="en-US" b="1" dirty="0"/>
              <a:t>Mistake → Fault → Failure → Error</a:t>
            </a:r>
          </a:p>
          <a:p>
            <a:r>
              <a:rPr lang="en-US" dirty="0"/>
              <a:t>Human makes a </a:t>
            </a:r>
            <a:r>
              <a:rPr lang="en-US" b="1" dirty="0"/>
              <a:t>mistake</a:t>
            </a:r>
            <a:r>
              <a:rPr lang="en-US" dirty="0"/>
              <a:t> </a:t>
            </a:r>
          </a:p>
          <a:p>
            <a:r>
              <a:rPr lang="en-US" dirty="0"/>
              <a:t>Mistake introduces a </a:t>
            </a:r>
            <a:r>
              <a:rPr lang="en-US" b="1" dirty="0"/>
              <a:t>fault/defect</a:t>
            </a:r>
            <a:r>
              <a:rPr lang="en-US" dirty="0"/>
              <a:t> in code </a:t>
            </a:r>
          </a:p>
          <a:p>
            <a:r>
              <a:rPr lang="en-US" dirty="0"/>
              <a:t>Fault causes software </a:t>
            </a:r>
            <a:r>
              <a:rPr lang="en-US" b="1" dirty="0"/>
              <a:t>failure</a:t>
            </a:r>
            <a:r>
              <a:rPr lang="en-US" dirty="0"/>
              <a:t> </a:t>
            </a:r>
          </a:p>
          <a:p>
            <a:r>
              <a:rPr lang="en-US" dirty="0"/>
              <a:t>Failure produces incorrect </a:t>
            </a:r>
            <a:r>
              <a:rPr lang="en-US" b="1" dirty="0"/>
              <a:t>error/result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431F8C-010D-48EE-BCE7-55A292B42BED}" type="slidenum">
              <a:rPr lang="en-US" altLang="en-US" smtClean="0"/>
              <a:pPr/>
              <a:t>69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94505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7D859C92-49C1-F6D3-E576-877015D963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D48D8314-B3D1-E6FC-5E61-8964CB9138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PK" b="1" dirty="0"/>
              <a:t>1. Test Planning</a:t>
            </a:r>
          </a:p>
          <a:p>
            <a:r>
              <a:rPr lang="en-US" altLang="en-PK" b="1" dirty="0"/>
              <a:t>What it is:</a:t>
            </a:r>
            <a:br>
              <a:rPr lang="en-US" altLang="en-PK" dirty="0"/>
            </a:br>
            <a:r>
              <a:rPr lang="en-US" altLang="en-PK" dirty="0"/>
              <a:t>Defining </a:t>
            </a:r>
            <a:r>
              <a:rPr lang="en-US" altLang="en-PK" b="1" dirty="0"/>
              <a:t>what to test, how to test, when to test, and who will test</a:t>
            </a:r>
            <a:r>
              <a:rPr lang="en-US" altLang="en-PK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altLang="en-PK" dirty="0"/>
            </a:br>
            <a:r>
              <a:rPr lang="en-US" altLang="en-PK" i="1" dirty="0"/>
              <a:t>Important:</a:t>
            </a:r>
            <a:br>
              <a:rPr lang="en-US" altLang="en-PK" dirty="0"/>
            </a:br>
            <a:r>
              <a:rPr lang="en-US" altLang="en-PK" dirty="0"/>
              <a:t>Without planning, testing becomes random and ineffective.</a:t>
            </a:r>
            <a:br>
              <a:rPr lang="en-US" altLang="en-US" dirty="0"/>
            </a:br>
            <a:endParaRPr lang="en-PK" dirty="0"/>
          </a:p>
          <a:p>
            <a:endParaRPr lang="en-PK" altLang="en-PK" dirty="0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CB8A2592-8A3A-0F68-8EDB-CEFDCEA5CC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D4455C-B9D2-4589-8035-CDD8EE69D8E8}" type="slidenum">
              <a:rPr lang="en-US" altLang="en-US" smtClean="0"/>
              <a:pPr/>
              <a:t>74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PK" dirty="0"/>
          </a:p>
          <a:p>
            <a:r>
              <a:rPr lang="en-US" altLang="en-PK" b="1" dirty="0"/>
              <a:t>2. Test Design &amp; Specification</a:t>
            </a:r>
          </a:p>
          <a:p>
            <a:r>
              <a:rPr lang="en-US" altLang="en-PK" b="1" dirty="0"/>
              <a:t>What it is:</a:t>
            </a:r>
          </a:p>
          <a:p>
            <a:r>
              <a:rPr lang="en-US" altLang="en-PK" dirty="0"/>
              <a:t>Creating </a:t>
            </a:r>
            <a:r>
              <a:rPr lang="en-US" altLang="en-PK" b="1" dirty="0"/>
              <a:t>test cases and test scenarios</a:t>
            </a:r>
            <a:r>
              <a:rPr lang="en-US" altLang="en-PK" dirty="0"/>
              <a:t> based on requirements.</a:t>
            </a:r>
          </a:p>
          <a:p>
            <a:r>
              <a:rPr lang="en-US" altLang="en-PK" b="1" dirty="0"/>
              <a:t>Includes:</a:t>
            </a:r>
            <a:endParaRPr lang="en-US" altLang="en-PK" dirty="0"/>
          </a:p>
          <a:p>
            <a:r>
              <a:rPr lang="en-US" altLang="en-PK" dirty="0"/>
              <a:t>Test cases</a:t>
            </a:r>
          </a:p>
          <a:p>
            <a:r>
              <a:rPr lang="en-US" altLang="en-PK" dirty="0"/>
              <a:t>Expected results</a:t>
            </a:r>
          </a:p>
          <a:p>
            <a:r>
              <a:rPr lang="en-US" altLang="en-PK" dirty="0"/>
              <a:t>Test data</a:t>
            </a:r>
          </a:p>
          <a:p>
            <a:br>
              <a:rPr lang="en-US" altLang="en-PK" dirty="0"/>
            </a:b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26163-419B-4691-B31A-293B87D3BFD3}" type="slidenum">
              <a:rPr lang="en-PK" smtClean="0"/>
              <a:t>75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986155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 b="1" dirty="0"/>
              <a:t>3. Test Environment &amp; Setup</a:t>
            </a:r>
          </a:p>
          <a:p>
            <a:r>
              <a:rPr lang="en-US" altLang="en-PK" b="1" dirty="0"/>
              <a:t>What it is:</a:t>
            </a:r>
            <a:br>
              <a:rPr lang="en-US" altLang="en-PK" dirty="0"/>
            </a:br>
            <a:r>
              <a:rPr lang="en-US" altLang="en-PK" dirty="0"/>
              <a:t>Preparing the </a:t>
            </a:r>
            <a:r>
              <a:rPr lang="en-US" altLang="en-PK" b="1" dirty="0"/>
              <a:t>hardware, software, tools, and data</a:t>
            </a:r>
            <a:r>
              <a:rPr lang="en-US" altLang="en-PK" dirty="0"/>
              <a:t> required for testing.</a:t>
            </a:r>
          </a:p>
          <a:p>
            <a:r>
              <a:rPr lang="en-US" altLang="en-PK" b="1" dirty="0"/>
              <a:t>Includes:</a:t>
            </a:r>
            <a:endParaRPr lang="en-US" altLang="en-PK" dirty="0"/>
          </a:p>
          <a:p>
            <a:r>
              <a:rPr lang="en-US" altLang="en-PK" dirty="0"/>
              <a:t>Test servers, Databases, Browsers, Testing tools</a:t>
            </a:r>
          </a:p>
          <a:p>
            <a:r>
              <a:rPr lang="en-US" altLang="en-PK" b="1" dirty="0"/>
              <a:t>Example:</a:t>
            </a:r>
            <a:br>
              <a:rPr lang="en-US" altLang="en-PK" dirty="0"/>
            </a:br>
            <a:r>
              <a:rPr lang="en-US" altLang="en-PK" dirty="0"/>
              <a:t>Setting up:</a:t>
            </a:r>
          </a:p>
          <a:p>
            <a:r>
              <a:rPr lang="en-US" altLang="en-PK" dirty="0"/>
              <a:t>Chrome &amp; Firefox browsers</a:t>
            </a:r>
          </a:p>
          <a:p>
            <a:r>
              <a:rPr lang="en-US" altLang="en-PK" dirty="0"/>
              <a:t>Test database</a:t>
            </a:r>
          </a:p>
          <a:p>
            <a:r>
              <a:rPr lang="en-US" altLang="en-PK" dirty="0"/>
              <a:t>Dummy student accounts for an LMS</a:t>
            </a:r>
          </a:p>
          <a:p>
            <a:r>
              <a:rPr lang="en-US" altLang="en-PK" dirty="0"/>
              <a:t>📌 </a:t>
            </a:r>
            <a:r>
              <a:rPr lang="en-US" altLang="en-PK" i="1" dirty="0"/>
              <a:t>Why important?</a:t>
            </a:r>
            <a:br>
              <a:rPr lang="en-US" altLang="en-PK" dirty="0"/>
            </a:br>
            <a:r>
              <a:rPr lang="en-US" altLang="en-PK" dirty="0"/>
              <a:t>Wrong environment leads to </a:t>
            </a:r>
            <a:r>
              <a:rPr lang="en-US" altLang="en-PK" b="1" dirty="0"/>
              <a:t>false failures</a:t>
            </a:r>
            <a:r>
              <a:rPr lang="en-US" altLang="en-PK" dirty="0"/>
              <a:t>.</a:t>
            </a:r>
          </a:p>
          <a:p>
            <a:br>
              <a:rPr lang="en-US" altLang="en-PK" dirty="0"/>
            </a:br>
            <a:endParaRPr lang="en-US" altLang="en-PK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26163-419B-4691-B31A-293B87D3BFD3}" type="slidenum">
              <a:rPr lang="en-PK" smtClean="0"/>
              <a:t>76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246362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 b="1" dirty="0"/>
              <a:t>4. Test Execution (Test Operation)</a:t>
            </a:r>
          </a:p>
          <a:p>
            <a:r>
              <a:rPr lang="en-US" altLang="en-PK" b="1" dirty="0"/>
              <a:t>What it is:</a:t>
            </a:r>
            <a:br>
              <a:rPr lang="en-US" altLang="en-PK" dirty="0"/>
            </a:br>
            <a:r>
              <a:rPr lang="en-US" altLang="en-PK" dirty="0"/>
              <a:t>Running test cases </a:t>
            </a:r>
            <a:r>
              <a:rPr lang="en-US" altLang="en-PK" b="1" dirty="0"/>
              <a:t>manually or automatically</a:t>
            </a:r>
            <a:r>
              <a:rPr lang="en-US" altLang="en-PK" dirty="0"/>
              <a:t> and observing results.</a:t>
            </a:r>
          </a:p>
          <a:p>
            <a:r>
              <a:rPr lang="en-US" altLang="en-PK" b="1" dirty="0"/>
              <a:t>Includes:</a:t>
            </a:r>
            <a:endParaRPr lang="en-US" altLang="en-PK" dirty="0"/>
          </a:p>
          <a:p>
            <a:r>
              <a:rPr lang="en-US" altLang="en-PK" dirty="0"/>
              <a:t>Executing test cases, Recording actual results, Comparing with expected results</a:t>
            </a:r>
          </a:p>
          <a:p>
            <a:r>
              <a:rPr lang="en-US" altLang="en-PK" b="1" dirty="0"/>
              <a:t>Example:</a:t>
            </a:r>
            <a:br>
              <a:rPr lang="en-US" altLang="en-PK" dirty="0"/>
            </a:br>
            <a:r>
              <a:rPr lang="en-US" altLang="en-PK" dirty="0"/>
              <a:t>Running the “Submit Exam” test case and checking whether:</a:t>
            </a:r>
          </a:p>
          <a:p>
            <a:r>
              <a:rPr lang="en-US" altLang="en-PK" dirty="0"/>
              <a:t>Answers are saved, Timer </a:t>
            </a:r>
            <a:r>
              <a:rPr lang="en-US" altLang="en-PK" dirty="0" err="1"/>
              <a:t>stops,Confirmation</a:t>
            </a:r>
            <a:r>
              <a:rPr lang="en-US" altLang="en-PK" dirty="0"/>
              <a:t> message appears</a:t>
            </a:r>
          </a:p>
          <a:p>
            <a:r>
              <a:rPr lang="en-US" altLang="en-PK" dirty="0"/>
              <a:t>📌 </a:t>
            </a:r>
            <a:r>
              <a:rPr lang="en-US" altLang="en-PK" i="1" dirty="0"/>
              <a:t>Why important?</a:t>
            </a:r>
            <a:br>
              <a:rPr lang="en-US" altLang="en-PK" dirty="0"/>
            </a:br>
            <a:r>
              <a:rPr lang="en-US" altLang="en-PK" dirty="0"/>
              <a:t>This is where </a:t>
            </a:r>
            <a:r>
              <a:rPr lang="en-US" altLang="en-PK" b="1" dirty="0"/>
              <a:t>actual defect detection</a:t>
            </a:r>
            <a:r>
              <a:rPr lang="en-US" altLang="en-PK" dirty="0"/>
              <a:t> happens.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26163-419B-4691-B31A-293B87D3BFD3}" type="slidenum">
              <a:rPr lang="en-PK" smtClean="0"/>
              <a:t>77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092657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6B130857-9051-9B3A-CC40-1255A0EABF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A8617800-8E14-7CC5-C826-8CF0DB28EB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br>
              <a:rPr lang="en-US" altLang="en-PK" dirty="0"/>
            </a:br>
            <a:endParaRPr lang="en-US" altLang="en-PK" dirty="0"/>
          </a:p>
          <a:p>
            <a:r>
              <a:rPr lang="en-US" altLang="en-PK" b="1" dirty="0"/>
              <a:t>5. Test Result Analysis &amp; Reporting</a:t>
            </a:r>
          </a:p>
          <a:p>
            <a:r>
              <a:rPr lang="en-US" altLang="en-PK" b="1" dirty="0"/>
              <a:t>What it is:</a:t>
            </a:r>
            <a:br>
              <a:rPr lang="en-US" altLang="en-PK" dirty="0"/>
            </a:br>
            <a:r>
              <a:rPr lang="en-US" altLang="en-PK" dirty="0"/>
              <a:t>Analyzing test results and preparing </a:t>
            </a:r>
            <a:r>
              <a:rPr lang="en-US" altLang="en-PK" b="1" dirty="0"/>
              <a:t>test reports</a:t>
            </a:r>
            <a:r>
              <a:rPr lang="en-US" altLang="en-PK" dirty="0"/>
              <a:t>.</a:t>
            </a:r>
          </a:p>
          <a:p>
            <a:r>
              <a:rPr lang="en-US" altLang="en-PK" b="1" dirty="0"/>
              <a:t>Includes:</a:t>
            </a:r>
            <a:endParaRPr lang="en-US" altLang="en-PK" dirty="0"/>
          </a:p>
          <a:p>
            <a:r>
              <a:rPr lang="en-US" altLang="en-PK" dirty="0"/>
              <a:t>Pass/fail status, Defect trends, Test coverage</a:t>
            </a:r>
          </a:p>
          <a:p>
            <a:r>
              <a:rPr lang="en-US" altLang="en-PK" b="1" dirty="0"/>
              <a:t>Example:</a:t>
            </a:r>
            <a:br>
              <a:rPr lang="en-US" altLang="en-PK" dirty="0"/>
            </a:br>
            <a:r>
              <a:rPr lang="en-US" altLang="en-PK" dirty="0"/>
              <a:t>Test report shows:</a:t>
            </a:r>
          </a:p>
          <a:p>
            <a:r>
              <a:rPr lang="en-US" altLang="en-PK" dirty="0"/>
              <a:t>90% test cases passed</a:t>
            </a:r>
          </a:p>
          <a:p>
            <a:r>
              <a:rPr lang="en-US" altLang="en-PK" dirty="0"/>
              <a:t>5 critical defects found in payment module</a:t>
            </a:r>
          </a:p>
          <a:p>
            <a:r>
              <a:rPr lang="en-US" altLang="en-PK" dirty="0"/>
              <a:t>📌 </a:t>
            </a:r>
            <a:r>
              <a:rPr lang="en-US" altLang="en-PK" i="1" dirty="0"/>
              <a:t>Why important?</a:t>
            </a:r>
            <a:br>
              <a:rPr lang="en-US" altLang="en-PK" dirty="0"/>
            </a:br>
            <a:r>
              <a:rPr lang="en-US" altLang="en-PK" dirty="0"/>
              <a:t>Helps management </a:t>
            </a:r>
            <a:r>
              <a:rPr lang="en-US" altLang="en-PK" b="1" dirty="0"/>
              <a:t>decide release readiness</a:t>
            </a:r>
            <a:r>
              <a:rPr lang="en-US" altLang="en-PK" dirty="0"/>
              <a:t>.</a:t>
            </a:r>
          </a:p>
          <a:p>
            <a:br>
              <a:rPr lang="en-US" altLang="en-PK" dirty="0"/>
            </a:br>
            <a:endParaRPr lang="en-US" altLang="en-PK" dirty="0"/>
          </a:p>
          <a:p>
            <a:endParaRPr lang="en-PK" altLang="en-PK" dirty="0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D0754EC5-18FB-B3E6-473A-12657E034E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E9D9C6F-CD32-4549-8E1C-20166D0210A9}" type="slidenum">
              <a:rPr lang="en-US" altLang="en-US" smtClean="0"/>
              <a:pPr/>
              <a:t>78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 b="1" dirty="0"/>
              <a:t>6. Defect (Problem) Reporting</a:t>
            </a:r>
          </a:p>
          <a:p>
            <a:r>
              <a:rPr lang="en-US" altLang="en-PK" b="1" dirty="0"/>
              <a:t>What it is:</a:t>
            </a:r>
            <a:br>
              <a:rPr lang="en-US" altLang="en-PK" dirty="0"/>
            </a:br>
            <a:r>
              <a:rPr lang="en-US" altLang="en-PK" dirty="0"/>
              <a:t>Documenting detected bugs in a </a:t>
            </a:r>
            <a:r>
              <a:rPr lang="en-US" altLang="en-PK" b="1" dirty="0"/>
              <a:t>systematic manner</a:t>
            </a:r>
            <a:r>
              <a:rPr lang="en-US" altLang="en-PK" dirty="0"/>
              <a:t>.</a:t>
            </a:r>
          </a:p>
          <a:p>
            <a:r>
              <a:rPr lang="en-US" altLang="en-PK" b="1" dirty="0"/>
              <a:t>Includes:</a:t>
            </a:r>
            <a:endParaRPr lang="en-US" altLang="en-PK" dirty="0"/>
          </a:p>
          <a:p>
            <a:r>
              <a:rPr lang="en-US" altLang="en-PK" dirty="0"/>
              <a:t>Defect description</a:t>
            </a:r>
          </a:p>
          <a:p>
            <a:r>
              <a:rPr lang="en-US" altLang="en-PK" dirty="0"/>
              <a:t>Severity and priority</a:t>
            </a:r>
          </a:p>
          <a:p>
            <a:r>
              <a:rPr lang="en-US" altLang="en-PK" dirty="0"/>
              <a:t>Steps to reproduce</a:t>
            </a:r>
          </a:p>
          <a:p>
            <a:r>
              <a:rPr lang="en-US" altLang="en-PK" b="1" dirty="0"/>
              <a:t>Example:</a:t>
            </a:r>
            <a:br>
              <a:rPr lang="en-US" altLang="en-PK" dirty="0"/>
            </a:br>
            <a:r>
              <a:rPr lang="en-US" altLang="en-PK" dirty="0"/>
              <a:t>Bug report:</a:t>
            </a:r>
          </a:p>
          <a:p>
            <a:r>
              <a:rPr lang="en-US" altLang="en-PK" dirty="0"/>
              <a:t>Title: Payment fails on retry</a:t>
            </a:r>
          </a:p>
          <a:p>
            <a:r>
              <a:rPr lang="en-US" altLang="en-PK" dirty="0"/>
              <a:t>Severity: High</a:t>
            </a:r>
          </a:p>
          <a:p>
            <a:r>
              <a:rPr lang="en-US" altLang="en-PK" dirty="0"/>
              <a:t>Steps: Add item → Pay → Retry payment</a:t>
            </a:r>
          </a:p>
          <a:p>
            <a:r>
              <a:rPr lang="en-US" altLang="en-PK" dirty="0"/>
              <a:t>📌 </a:t>
            </a:r>
            <a:r>
              <a:rPr lang="en-US" altLang="en-PK" i="1" dirty="0"/>
              <a:t>Why important?</a:t>
            </a:r>
            <a:br>
              <a:rPr lang="en-US" altLang="en-PK" dirty="0"/>
            </a:br>
            <a:r>
              <a:rPr lang="en-US" altLang="en-PK" dirty="0"/>
              <a:t>Clear defect reports help developers fix bugs faster.</a:t>
            </a:r>
          </a:p>
          <a:p>
            <a:br>
              <a:rPr lang="en-US" altLang="en-PK" dirty="0"/>
            </a:b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26163-419B-4691-B31A-293B87D3BFD3}" type="slidenum">
              <a:rPr lang="en-PK" smtClean="0"/>
              <a:t>79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488200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PK" dirty="0"/>
          </a:p>
          <a:p>
            <a:r>
              <a:rPr lang="en-US" altLang="en-PK" b="1" dirty="0"/>
              <a:t>7. Test Management &amp; Measurement</a:t>
            </a:r>
          </a:p>
          <a:p>
            <a:r>
              <a:rPr lang="en-US" altLang="en-PK" b="1" dirty="0"/>
              <a:t>What it is:</a:t>
            </a:r>
            <a:br>
              <a:rPr lang="en-US" altLang="en-PK" dirty="0"/>
            </a:br>
            <a:r>
              <a:rPr lang="en-US" altLang="en-PK" dirty="0"/>
              <a:t>Managing testing progress, cost, effort, and schedule.</a:t>
            </a:r>
          </a:p>
          <a:p>
            <a:r>
              <a:rPr lang="en-US" altLang="en-PK" b="1" dirty="0"/>
              <a:t>Includes:</a:t>
            </a:r>
            <a:endParaRPr lang="en-US" altLang="en-PK" dirty="0"/>
          </a:p>
          <a:p>
            <a:r>
              <a:rPr lang="en-US" altLang="en-PK" dirty="0"/>
              <a:t>Tracking test execution, Measuring defect density, Managing timelines</a:t>
            </a:r>
          </a:p>
          <a:p>
            <a:r>
              <a:rPr lang="en-US" altLang="en-PK" b="1" dirty="0"/>
              <a:t>Example:</a:t>
            </a:r>
            <a:br>
              <a:rPr lang="en-US" altLang="en-PK" dirty="0"/>
            </a:br>
            <a:r>
              <a:rPr lang="en-US" altLang="en-PK" dirty="0"/>
              <a:t>Test manager monitors:</a:t>
            </a:r>
          </a:p>
          <a:p>
            <a:r>
              <a:rPr lang="en-US" altLang="en-PK" dirty="0"/>
              <a:t>Number of test cases executed daily</a:t>
            </a:r>
          </a:p>
          <a:p>
            <a:r>
              <a:rPr lang="en-US" altLang="en-PK" dirty="0"/>
              <a:t>Remaining defects before release</a:t>
            </a:r>
          </a:p>
          <a:p>
            <a:r>
              <a:rPr lang="en-US" altLang="en-PK" dirty="0"/>
              <a:t>📌 </a:t>
            </a:r>
            <a:r>
              <a:rPr lang="en-US" altLang="en-PK" i="1" dirty="0"/>
              <a:t>Why important?</a:t>
            </a:r>
            <a:br>
              <a:rPr lang="en-US" altLang="en-PK" dirty="0"/>
            </a:br>
            <a:r>
              <a:rPr lang="en-US" altLang="en-PK" dirty="0"/>
              <a:t>Ensures testing stays </a:t>
            </a:r>
            <a:r>
              <a:rPr lang="en-US" altLang="en-PK" b="1" dirty="0"/>
              <a:t>on time and within budget</a:t>
            </a:r>
            <a:r>
              <a:rPr lang="en-US" altLang="en-PK" dirty="0"/>
              <a:t>.</a:t>
            </a:r>
          </a:p>
          <a:p>
            <a:br>
              <a:rPr lang="en-US" altLang="en-PK" dirty="0"/>
            </a:b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26163-419B-4691-B31A-293B87D3BFD3}" type="slidenum">
              <a:rPr lang="en-PK" smtClean="0"/>
              <a:t>80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173577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PK" dirty="0"/>
          </a:p>
          <a:p>
            <a:r>
              <a:rPr lang="en-US" altLang="en-PK" b="1" dirty="0"/>
              <a:t>8. Test Automation</a:t>
            </a:r>
          </a:p>
          <a:p>
            <a:r>
              <a:rPr lang="en-US" altLang="en-PK" b="1" dirty="0"/>
              <a:t>What it is:</a:t>
            </a:r>
            <a:br>
              <a:rPr lang="en-US" altLang="en-PK" dirty="0"/>
            </a:br>
            <a:r>
              <a:rPr lang="en-US" altLang="en-PK" dirty="0"/>
              <a:t>Using tools to </a:t>
            </a:r>
            <a:r>
              <a:rPr lang="en-US" altLang="en-PK" b="1" dirty="0"/>
              <a:t>automate repetitive test cases</a:t>
            </a:r>
            <a:r>
              <a:rPr lang="en-US" altLang="en-PK" dirty="0"/>
              <a:t>.</a:t>
            </a:r>
          </a:p>
          <a:p>
            <a:r>
              <a:rPr lang="en-US" altLang="en-PK" b="1" dirty="0"/>
              <a:t>Includes:</a:t>
            </a:r>
            <a:endParaRPr lang="en-US" altLang="en-PK" dirty="0"/>
          </a:p>
          <a:p>
            <a:r>
              <a:rPr lang="en-US" altLang="en-PK" dirty="0"/>
              <a:t>Automation scripts, Test tools, Regression test suites</a:t>
            </a:r>
          </a:p>
          <a:p>
            <a:r>
              <a:rPr lang="en-US" altLang="en-PK" b="1" dirty="0"/>
              <a:t>Example:</a:t>
            </a:r>
            <a:br>
              <a:rPr lang="en-US" altLang="en-PK" dirty="0"/>
            </a:br>
            <a:r>
              <a:rPr lang="en-US" altLang="en-PK" dirty="0"/>
              <a:t>Automating login tests so they run </a:t>
            </a:r>
            <a:r>
              <a:rPr lang="en-US" altLang="en-PK" b="1" dirty="0"/>
              <a:t>every time code changes</a:t>
            </a:r>
            <a:r>
              <a:rPr lang="en-US" altLang="en-PK" dirty="0"/>
              <a:t>.</a:t>
            </a:r>
          </a:p>
          <a:p>
            <a:r>
              <a:rPr lang="en-US" altLang="en-PK" dirty="0"/>
              <a:t>📌 </a:t>
            </a:r>
            <a:r>
              <a:rPr lang="en-US" altLang="en-PK" i="1" dirty="0"/>
              <a:t>Why important?</a:t>
            </a:r>
            <a:br>
              <a:rPr lang="en-US" altLang="en-PK" dirty="0"/>
            </a:br>
            <a:r>
              <a:rPr lang="en-US" altLang="en-PK" dirty="0"/>
              <a:t>Saves time and supports </a:t>
            </a:r>
            <a:r>
              <a:rPr lang="en-US" altLang="en-PK" b="1" dirty="0"/>
              <a:t>continuous integration</a:t>
            </a:r>
            <a:r>
              <a:rPr lang="en-US" altLang="en-PK" dirty="0"/>
              <a:t>.</a:t>
            </a:r>
          </a:p>
          <a:p>
            <a:br>
              <a:rPr lang="en-US" altLang="en-PK" dirty="0"/>
            </a:br>
            <a:endParaRPr lang="en-US" altLang="en-PK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26163-419B-4691-B31A-293B87D3BFD3}" type="slidenum">
              <a:rPr lang="en-PK" smtClean="0"/>
              <a:t>81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653308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 b="1" dirty="0"/>
              <a:t>9. Test Configuration Management</a:t>
            </a:r>
          </a:p>
          <a:p>
            <a:r>
              <a:rPr lang="en-US" altLang="en-PK" b="1" dirty="0"/>
              <a:t>What it is:</a:t>
            </a:r>
            <a:br>
              <a:rPr lang="en-US" altLang="en-PK" dirty="0"/>
            </a:br>
            <a:r>
              <a:rPr lang="en-US" altLang="en-PK" dirty="0"/>
              <a:t>Managing </a:t>
            </a:r>
            <a:r>
              <a:rPr lang="en-US" altLang="en-PK" b="1" dirty="0"/>
              <a:t>versions</a:t>
            </a:r>
            <a:r>
              <a:rPr lang="en-US" altLang="en-PK" dirty="0"/>
              <a:t> of:</a:t>
            </a:r>
          </a:p>
          <a:p>
            <a:r>
              <a:rPr lang="en-US" altLang="en-PK" dirty="0"/>
              <a:t>Test cases, Test data, Test environments, Test tools</a:t>
            </a:r>
          </a:p>
          <a:p>
            <a:r>
              <a:rPr lang="en-US" altLang="en-PK" b="1" dirty="0"/>
              <a:t>Example:</a:t>
            </a:r>
            <a:br>
              <a:rPr lang="en-US" altLang="en-PK" dirty="0"/>
            </a:br>
            <a:r>
              <a:rPr lang="en-US" altLang="en-PK" dirty="0"/>
              <a:t>Maintaining separate test suites for:</a:t>
            </a:r>
          </a:p>
          <a:p>
            <a:r>
              <a:rPr lang="en-US" altLang="en-PK" dirty="0"/>
              <a:t>Version 1.0</a:t>
            </a:r>
          </a:p>
          <a:p>
            <a:r>
              <a:rPr lang="en-US" altLang="en-PK" dirty="0"/>
              <a:t>Version 2.0 of an application</a:t>
            </a:r>
          </a:p>
          <a:p>
            <a:r>
              <a:rPr lang="en-US" altLang="en-PK" dirty="0"/>
              <a:t>📌 </a:t>
            </a:r>
            <a:r>
              <a:rPr lang="en-US" altLang="en-PK" i="1" dirty="0"/>
              <a:t>Why important?</a:t>
            </a:r>
            <a:br>
              <a:rPr lang="en-US" altLang="en-PK" dirty="0"/>
            </a:br>
            <a:r>
              <a:rPr lang="en-US" altLang="en-PK" dirty="0"/>
              <a:t>Prevents confusion and ensures </a:t>
            </a:r>
            <a:r>
              <a:rPr lang="en-US" altLang="en-PK" b="1" dirty="0"/>
              <a:t>correct version testing</a:t>
            </a:r>
            <a:r>
              <a:rPr lang="en-US" altLang="en-PK" dirty="0"/>
              <a:t>.</a:t>
            </a:r>
          </a:p>
          <a:p>
            <a:br>
              <a:rPr lang="en-US" altLang="en-PK" dirty="0"/>
            </a:br>
            <a:endParaRPr lang="en-US" altLang="en-PK" dirty="0"/>
          </a:p>
          <a:p>
            <a:r>
              <a:rPr lang="en-US" altLang="en-PK" b="1" dirty="0"/>
              <a:t>🔁 Summary Flow (Easy to Remember)</a:t>
            </a:r>
          </a:p>
          <a:p>
            <a:r>
              <a:rPr lang="en-US" altLang="en-PK" b="1" dirty="0"/>
              <a:t>Plan → Design → Setup → Execute → Analyze → Report → Manage → Automate → Maintain</a:t>
            </a:r>
            <a:endParaRPr lang="en-US" altLang="en-PK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26163-419B-4691-B31A-293B87D3BFD3}" type="slidenum">
              <a:rPr lang="en-PK" smtClean="0"/>
              <a:t>82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463607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K" dirty="0"/>
              <a:t>Testing carried out during software development to detect defects early.</a:t>
            </a:r>
          </a:p>
          <a:p>
            <a:r>
              <a:rPr lang="en-PK" b="1" dirty="0"/>
              <a:t>Performed By</a:t>
            </a:r>
          </a:p>
          <a:p>
            <a:r>
              <a:rPr lang="en-PK" dirty="0"/>
              <a:t>Developers and development team.</a:t>
            </a:r>
          </a:p>
          <a:p>
            <a:r>
              <a:rPr lang="en-PK" b="1" dirty="0"/>
              <a:t>Purpose</a:t>
            </a:r>
          </a:p>
          <a:p>
            <a:r>
              <a:rPr lang="en-PK" dirty="0"/>
              <a:t>To ensure individual parts of software work correctly before release.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26163-419B-4691-B31A-293B87D3BFD3}" type="slidenum">
              <a:rPr lang="en-PK" smtClean="0"/>
              <a:t>85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855770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Testing performed on the complete system before releasing it to customers.</a:t>
            </a:r>
          </a:p>
          <a:p>
            <a:r>
              <a:rPr lang="en-US" b="1" dirty="0"/>
              <a:t>Performed By</a:t>
            </a:r>
          </a:p>
          <a:p>
            <a:r>
              <a:rPr lang="en-US" dirty="0"/>
              <a:t>Independent testing or QA team.</a:t>
            </a:r>
          </a:p>
          <a:p>
            <a:r>
              <a:rPr lang="en-US" b="1" dirty="0"/>
              <a:t>Purpose</a:t>
            </a:r>
          </a:p>
          <a:p>
            <a:r>
              <a:rPr lang="en-US" dirty="0"/>
              <a:t>To verify that the system satisfies specified requirements.</a:t>
            </a:r>
          </a:p>
          <a:p>
            <a:endParaRPr lang="en-US" dirty="0"/>
          </a:p>
          <a:p>
            <a:r>
              <a:rPr lang="en-US" dirty="0"/>
              <a:t>Black box : The tester checks software functionality without seeing the internal code.</a:t>
            </a:r>
          </a:p>
          <a:p>
            <a:r>
              <a:rPr lang="en-US" b="1" dirty="0"/>
              <a:t>Focus</a:t>
            </a:r>
          </a:p>
          <a:p>
            <a:r>
              <a:rPr lang="en-US" dirty="0"/>
              <a:t>What the software does </a:t>
            </a:r>
          </a:p>
          <a:p>
            <a:r>
              <a:rPr lang="en-US" dirty="0"/>
              <a:t>Input and output behavior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026163-419B-4691-B31A-293B87D3BFD3}" type="slidenum">
              <a:rPr lang="en-PK" smtClean="0"/>
              <a:t>94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383708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Requirements-Based Testing</a:t>
            </a:r>
          </a:p>
          <a:p>
            <a:r>
              <a:rPr lang="en-US" b="1" dirty="0"/>
              <a:t>Meaning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026163-419B-4691-B31A-293B87D3BFD3}" type="slidenum">
              <a:rPr lang="en-PK" smtClean="0"/>
              <a:t>96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272339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b="1" dirty="0"/>
              <a:t>c) Performance Testing</a:t>
            </a:r>
          </a:p>
          <a:p>
            <a:r>
              <a:rPr lang="en-US" b="1" dirty="0"/>
              <a:t>Meaning</a:t>
            </a:r>
          </a:p>
          <a:p>
            <a:r>
              <a:rPr lang="en-US" dirty="0"/>
              <a:t>Testing software speed, stability, and scalability.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Checking system behavior with:</a:t>
            </a:r>
          </a:p>
          <a:p>
            <a:r>
              <a:rPr lang="en-US" dirty="0"/>
              <a:t>1000 users logging in simultaneously </a:t>
            </a:r>
          </a:p>
          <a:p>
            <a:r>
              <a:rPr lang="en-US" b="1" dirty="0"/>
              <a:t>Goal</a:t>
            </a:r>
          </a:p>
          <a:p>
            <a:r>
              <a:rPr lang="en-US" dirty="0"/>
              <a:t>Ensure system performs efficiently under load.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026163-419B-4691-B31A-293B87D3BFD3}" type="slidenum">
              <a:rPr lang="en-PK" smtClean="0"/>
              <a:t>98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5251758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a) Alpha Testing</a:t>
            </a:r>
          </a:p>
          <a:p>
            <a:r>
              <a:rPr lang="en-US" b="1" dirty="0"/>
              <a:t>Meaning</a:t>
            </a:r>
          </a:p>
          <a:p>
            <a:r>
              <a:rPr lang="en-US" dirty="0"/>
              <a:t>Testing performed by selected users at the developer’s site.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Company employees test a new mobile banking app before public release.</a:t>
            </a:r>
          </a:p>
          <a:p>
            <a:r>
              <a:rPr lang="en-US" b="1" dirty="0"/>
              <a:t>Goal</a:t>
            </a:r>
          </a:p>
          <a:p>
            <a:r>
              <a:rPr lang="en-US" dirty="0"/>
              <a:t>Find defects before external release.</a:t>
            </a:r>
          </a:p>
          <a:p>
            <a:r>
              <a:rPr lang="en-US" b="1" dirty="0"/>
              <a:t>b) Beta Testing</a:t>
            </a:r>
          </a:p>
          <a:p>
            <a:r>
              <a:rPr lang="en-US" b="1" dirty="0"/>
              <a:t>Meaning</a:t>
            </a:r>
          </a:p>
          <a:p>
            <a:r>
              <a:rPr lang="en-US" dirty="0"/>
              <a:t>Testing performed by real users in a real environment.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A new game released to limited public users for feedback.</a:t>
            </a:r>
          </a:p>
          <a:p>
            <a:r>
              <a:rPr lang="en-US" b="1" dirty="0"/>
              <a:t>Goal</a:t>
            </a:r>
          </a:p>
          <a:p>
            <a:r>
              <a:rPr lang="en-US" dirty="0"/>
              <a:t>Collect real-user feedback and discover hidden issues.</a:t>
            </a:r>
          </a:p>
          <a:p>
            <a:r>
              <a:rPr lang="en-US" b="1" dirty="0"/>
              <a:t>c) Acceptance Testing</a:t>
            </a:r>
          </a:p>
          <a:p>
            <a:r>
              <a:rPr lang="en-US" b="1" dirty="0"/>
              <a:t>Meaning</a:t>
            </a:r>
          </a:p>
          <a:p>
            <a:r>
              <a:rPr lang="en-US" dirty="0"/>
              <a:t>Formal testing to decide whether the system is accepted or rejected.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A university checks whether the Library Management System fulfills all agreed requirements.</a:t>
            </a:r>
          </a:p>
          <a:p>
            <a:r>
              <a:rPr lang="en-US" b="1" dirty="0"/>
              <a:t>Goal</a:t>
            </a:r>
          </a:p>
          <a:p>
            <a:r>
              <a:rPr lang="en-US" dirty="0"/>
              <a:t>Confirm readiness for final deployment.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026163-419B-4691-B31A-293B87D3BFD3}" type="slidenum">
              <a:rPr lang="en-PK" smtClean="0"/>
              <a:t>100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444085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CMM is a framework used to check how good a company’s software process is and to help make it better.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e. g. teacher needs to choose a team of students</a:t>
            </a:r>
            <a:r>
              <a:rPr lang="en-US" dirty="0"/>
              <a:t> to build a big project</a:t>
            </a:r>
          </a:p>
          <a:p>
            <a:r>
              <a:rPr lang="en-US" b="1" dirty="0"/>
              <a:t>Capability Evaluation (Choosing a contractor)</a:t>
            </a:r>
          </a:p>
          <a:p>
            <a:r>
              <a:rPr lang="en-US" dirty="0"/>
              <a:t>The teacher checks how different teams usually work:</a:t>
            </a:r>
          </a:p>
          <a:p>
            <a:r>
              <a:rPr lang="en-US" dirty="0"/>
              <a:t>Team A plans their work, follows rules, checks mistakes, and submits on time.</a:t>
            </a:r>
          </a:p>
          <a:p>
            <a:r>
              <a:rPr lang="en-US" dirty="0"/>
              <a:t>Team B works randomly and only rushes at the last minute.</a:t>
            </a:r>
          </a:p>
          <a:p>
            <a:r>
              <a:rPr lang="en-US" dirty="0"/>
              <a:t>The teacher predicts that </a:t>
            </a:r>
            <a:r>
              <a:rPr lang="en-US" b="1" dirty="0"/>
              <a:t>Team A will perform better</a:t>
            </a:r>
            <a:r>
              <a:rPr lang="en-US" dirty="0"/>
              <a:t> if given the project.</a:t>
            </a:r>
            <a:br>
              <a:rPr lang="en-US" dirty="0"/>
            </a:br>
            <a:r>
              <a:rPr lang="en-US" dirty="0"/>
              <a:t>So, the teacher </a:t>
            </a:r>
            <a:r>
              <a:rPr lang="en-US" b="1" dirty="0"/>
              <a:t>selects Team A</a:t>
            </a:r>
            <a:r>
              <a:rPr lang="en-US" dirty="0"/>
              <a:t>.</a:t>
            </a:r>
          </a:p>
          <a:p>
            <a:r>
              <a:rPr lang="en-US" b="1" dirty="0"/>
              <a:t>Software Process Assessment (Self-improvement)</a:t>
            </a:r>
          </a:p>
          <a:p>
            <a:r>
              <a:rPr lang="en-US" dirty="0"/>
              <a:t>Now imagine </a:t>
            </a:r>
            <a:r>
              <a:rPr lang="en-US" b="1" dirty="0"/>
              <a:t>Team B</a:t>
            </a:r>
            <a:r>
              <a:rPr lang="en-US" dirty="0"/>
              <a:t> wants to improve.</a:t>
            </a:r>
            <a:br>
              <a:rPr lang="en-US" dirty="0"/>
            </a:br>
            <a:r>
              <a:rPr lang="en-US" dirty="0"/>
              <a:t>They review how they work and realize:</a:t>
            </a:r>
          </a:p>
          <a:p>
            <a:r>
              <a:rPr lang="en-US" dirty="0"/>
              <a:t>They don’t plan properly</a:t>
            </a:r>
          </a:p>
          <a:p>
            <a:r>
              <a:rPr lang="en-US" dirty="0"/>
              <a:t>They don’t check their work</a:t>
            </a:r>
          </a:p>
          <a:p>
            <a:r>
              <a:rPr lang="en-US" dirty="0"/>
              <a:t>So, they decide to make schedules, divide tasks, and review mistakes next time.</a:t>
            </a:r>
          </a:p>
          <a:p>
            <a:endParaRPr lang="en-US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803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6290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16673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Likely performance is the predicted future performance of a contractor based on the maturity and capability of their processes.</a:t>
            </a:r>
          </a:p>
          <a:p>
            <a:r>
              <a:rPr lang="en-US" dirty="0"/>
              <a:t>Likely performance refers to how the contractor is expected to perform in terms of:</a:t>
            </a:r>
          </a:p>
          <a:p>
            <a:r>
              <a:rPr lang="en-US" b="1" dirty="0"/>
              <a:t>Meeting deadlines</a:t>
            </a:r>
            <a:r>
              <a:rPr lang="en-US" dirty="0"/>
              <a:t> (schedule performance)</a:t>
            </a:r>
          </a:p>
          <a:p>
            <a:r>
              <a:rPr lang="en-US" b="1" dirty="0"/>
              <a:t>Staying within budget</a:t>
            </a:r>
            <a:r>
              <a:rPr lang="en-US" dirty="0"/>
              <a:t> (cost performance)</a:t>
            </a:r>
          </a:p>
          <a:p>
            <a:r>
              <a:rPr lang="en-US" b="1" dirty="0"/>
              <a:t>Producing quality work</a:t>
            </a:r>
            <a:r>
              <a:rPr lang="en-US" dirty="0"/>
              <a:t> (fewer defects)</a:t>
            </a:r>
          </a:p>
          <a:p>
            <a:r>
              <a:rPr lang="en-US" b="1" dirty="0"/>
              <a:t>Handling risks and changes</a:t>
            </a:r>
            <a:endParaRPr lang="en-US" dirty="0"/>
          </a:p>
          <a:p>
            <a:r>
              <a:rPr lang="en-US" b="1" dirty="0"/>
              <a:t>Consistency and predictability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0508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2483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9762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72992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Characteristics:</a:t>
            </a:r>
            <a:endParaRPr lang="en-US" dirty="0"/>
          </a:p>
          <a:p>
            <a:r>
              <a:rPr lang="en-US" dirty="0"/>
              <a:t>Processes are </a:t>
            </a:r>
            <a:r>
              <a:rPr lang="en-US" b="1" dirty="0"/>
              <a:t>ad-hoc or chaotic</a:t>
            </a:r>
            <a:endParaRPr lang="en-US" dirty="0"/>
          </a:p>
          <a:p>
            <a:r>
              <a:rPr lang="en-US" dirty="0"/>
              <a:t>Success depends on individual effort</a:t>
            </a:r>
          </a:p>
          <a:p>
            <a:r>
              <a:rPr lang="en-US" b="1" dirty="0"/>
              <a:t>High risk</a:t>
            </a:r>
            <a:r>
              <a:rPr lang="en-US" dirty="0"/>
              <a:t> of failure</a:t>
            </a:r>
          </a:p>
          <a:p>
            <a:r>
              <a:rPr lang="en-US" dirty="0"/>
              <a:t> Example: Startup developing apps without proper planning or documentation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err="1"/>
              <a:t>Disscussuion</a:t>
            </a:r>
            <a:r>
              <a:rPr lang="en-US" b="1" dirty="0"/>
              <a:t>:"What problems might users face when software is developed at Level 1?"</a:t>
            </a:r>
            <a:endParaRPr lang="en-PK" b="1" dirty="0"/>
          </a:p>
          <a:p>
            <a:endParaRPr lang="en-US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98730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Characteristics:</a:t>
            </a:r>
            <a:endParaRPr lang="en-US" dirty="0"/>
          </a:p>
          <a:p>
            <a:pPr lvl="1"/>
            <a:r>
              <a:rPr lang="en-US" dirty="0"/>
              <a:t>Basic </a:t>
            </a:r>
            <a:r>
              <a:rPr lang="en-US" b="1" dirty="0"/>
              <a:t>project management processes</a:t>
            </a:r>
            <a:r>
              <a:rPr lang="en-US" dirty="0"/>
              <a:t> are established</a:t>
            </a:r>
          </a:p>
          <a:p>
            <a:pPr lvl="1"/>
            <a:r>
              <a:rPr lang="en-US" dirty="0"/>
              <a:t>Past experiences are used to repeat successes</a:t>
            </a:r>
          </a:p>
          <a:p>
            <a:pPr lvl="1"/>
            <a:r>
              <a:rPr lang="en-US" dirty="0"/>
              <a:t>Some predictability in outcomes</a:t>
            </a:r>
          </a:p>
          <a:p>
            <a:r>
              <a:rPr lang="en-US" dirty="0"/>
              <a:t> Example: Company delivers software using checklists and templates learned from previous projects</a:t>
            </a:r>
          </a:p>
          <a:p>
            <a:r>
              <a:rPr lang="en-US" b="1" dirty="0"/>
              <a:t>Discussion: Identify one advantage of repeating processes over ad-hoc methods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65449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Characteristics:</a:t>
            </a:r>
            <a:endParaRPr lang="en-US" dirty="0"/>
          </a:p>
          <a:p>
            <a:r>
              <a:rPr lang="en-US" dirty="0"/>
              <a:t>Processes are </a:t>
            </a:r>
            <a:r>
              <a:rPr lang="en-US" b="1" dirty="0"/>
              <a:t>documented and standardized</a:t>
            </a:r>
            <a:r>
              <a:rPr lang="en-US" dirty="0"/>
              <a:t> across the organization</a:t>
            </a:r>
          </a:p>
          <a:p>
            <a:r>
              <a:rPr lang="en-US" dirty="0"/>
              <a:t>Roles, responsibilities, and standards are clearly defined</a:t>
            </a:r>
          </a:p>
          <a:p>
            <a:r>
              <a:rPr lang="en-US" dirty="0"/>
              <a:t>📍 Example: Software team uses a company-wide development methodology (like Agile or Waterfall) with formal templates, coding standards, and peer reviews</a:t>
            </a:r>
          </a:p>
          <a:p>
            <a:r>
              <a:rPr lang="en-US" dirty="0"/>
              <a:t>💬 </a:t>
            </a:r>
            <a:r>
              <a:rPr lang="en-US" b="1" dirty="0"/>
              <a:t>Question:</a:t>
            </a:r>
            <a:r>
              <a:rPr lang="en-US" dirty="0"/>
              <a:t> "Why is documentation important for development quality?"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6785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Processes are </a:t>
            </a:r>
            <a:r>
              <a:rPr lang="en-US" b="1" dirty="0"/>
              <a:t>measured and controlled</a:t>
            </a:r>
            <a:endParaRPr lang="en-US" dirty="0"/>
          </a:p>
          <a:p>
            <a:r>
              <a:rPr lang="en-US" dirty="0"/>
              <a:t>Metrics are collected to monitor productivity, quality, and performance</a:t>
            </a:r>
          </a:p>
          <a:p>
            <a:r>
              <a:rPr lang="en-US" dirty="0"/>
              <a:t>Outcomes are predictable</a:t>
            </a:r>
          </a:p>
          <a:p>
            <a:r>
              <a:rPr lang="en-US" dirty="0"/>
              <a:t> Example: A company tracks defects per release, development time, and cost, using this data to improve future projects</a:t>
            </a:r>
          </a:p>
          <a:p>
            <a:r>
              <a:rPr lang="en-US" dirty="0"/>
              <a:t>📊 </a:t>
            </a:r>
            <a:r>
              <a:rPr lang="en-US" b="1" dirty="0"/>
              <a:t>Activity:</a:t>
            </a:r>
            <a:r>
              <a:rPr lang="en-US" dirty="0"/>
              <a:t> Students suggest </a:t>
            </a:r>
            <a:r>
              <a:rPr lang="en-US" b="1" dirty="0"/>
              <a:t>three metrics</a:t>
            </a:r>
            <a:r>
              <a:rPr lang="en-US" dirty="0"/>
              <a:t> that could be used to measure development quality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28804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Pareto Chart</a:t>
            </a:r>
            <a:r>
              <a:rPr lang="en-US" dirty="0"/>
              <a:t> is a bar graph that shows the </a:t>
            </a:r>
            <a:r>
              <a:rPr lang="en-US" b="1" dirty="0"/>
              <a:t>frequency or impact of problems</a:t>
            </a:r>
            <a:r>
              <a:rPr lang="en-US" dirty="0"/>
              <a:t> in descending order. It helps identify the </a:t>
            </a:r>
            <a:r>
              <a:rPr lang="en-US" b="1" dirty="0"/>
              <a:t>most significant issues</a:t>
            </a:r>
            <a:r>
              <a:rPr lang="en-US" dirty="0"/>
              <a:t> so organizations can prioritize improvement efforts.</a:t>
            </a:r>
          </a:p>
          <a:p>
            <a:r>
              <a:rPr lang="en-US" dirty="0"/>
              <a:t>Collect data– Categorize---Count/measure---Sort---Cumulative percentage----Draw chart----analyze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8682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Fishbone Diagram</a:t>
            </a:r>
            <a:r>
              <a:rPr lang="en-US" dirty="0"/>
              <a:t> is a visual tool used to </a:t>
            </a:r>
            <a:r>
              <a:rPr lang="en-US" b="1" dirty="0"/>
              <a:t>identify root causes</a:t>
            </a:r>
            <a:r>
              <a:rPr lang="en-US" dirty="0"/>
              <a:t> of a problem. It looks like a fish skeleton: </a:t>
            </a:r>
            <a:r>
              <a:rPr lang="en-US" b="1" dirty="0"/>
              <a:t>head = problem</a:t>
            </a:r>
            <a:r>
              <a:rPr lang="en-US" dirty="0"/>
              <a:t>, </a:t>
            </a:r>
            <a:r>
              <a:rPr lang="en-US" b="1" dirty="0"/>
              <a:t>bones = causes</a:t>
            </a:r>
            <a:r>
              <a:rPr lang="en-US" dirty="0"/>
              <a:t>.</a:t>
            </a:r>
          </a:p>
          <a:p>
            <a:r>
              <a:rPr lang="en-US" b="1" dirty="0"/>
              <a:t>Head:</a:t>
            </a:r>
            <a:r>
              <a:rPr lang="en-US" dirty="0"/>
              <a:t> Problem statement (effect)</a:t>
            </a:r>
          </a:p>
          <a:p>
            <a:r>
              <a:rPr lang="en-US" b="1" dirty="0"/>
              <a:t>Major bones:</a:t>
            </a:r>
            <a:r>
              <a:rPr lang="en-US" dirty="0"/>
              <a:t> Categories of causes (often 6 </a:t>
            </a:r>
            <a:r>
              <a:rPr lang="en-US" dirty="0" err="1"/>
              <a:t>Ms</a:t>
            </a:r>
            <a:r>
              <a:rPr lang="en-US" dirty="0"/>
              <a:t>: Man, Machine, Method, Material, Measurement, Mother Nature/Environment)</a:t>
            </a:r>
          </a:p>
          <a:p>
            <a:r>
              <a:rPr lang="en-US" b="1" dirty="0"/>
              <a:t>Minor bones:</a:t>
            </a:r>
            <a:r>
              <a:rPr lang="en-US" dirty="0"/>
              <a:t> Sub-causes under each category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7772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Head:</a:t>
            </a:r>
            <a:r>
              <a:rPr lang="en-US" dirty="0"/>
              <a:t> Problem statement (effect)</a:t>
            </a:r>
          </a:p>
          <a:p>
            <a:r>
              <a:rPr lang="en-US" b="1" dirty="0"/>
              <a:t>Major bones:</a:t>
            </a:r>
            <a:r>
              <a:rPr lang="en-US" dirty="0"/>
              <a:t> Categories of causes (often 6 </a:t>
            </a:r>
            <a:r>
              <a:rPr lang="en-US" dirty="0" err="1"/>
              <a:t>Ms</a:t>
            </a:r>
            <a:r>
              <a:rPr lang="en-US" dirty="0"/>
              <a:t>: Man, Machine, Method, Material, Measurement, Mother Nature/Environment)</a:t>
            </a:r>
          </a:p>
          <a:p>
            <a:r>
              <a:rPr lang="en-US" b="1" dirty="0"/>
              <a:t>Minor bones:</a:t>
            </a:r>
            <a:r>
              <a:rPr lang="en-US" dirty="0"/>
              <a:t> Sub-causes under each category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71172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Characteristics:</a:t>
            </a:r>
            <a:endParaRPr lang="en-US" dirty="0"/>
          </a:p>
          <a:p>
            <a:r>
              <a:rPr lang="en-US" dirty="0"/>
              <a:t>Focus on </a:t>
            </a:r>
            <a:r>
              <a:rPr lang="en-US" b="1" dirty="0"/>
              <a:t>continuous process improvement</a:t>
            </a:r>
            <a:endParaRPr lang="en-US" dirty="0"/>
          </a:p>
          <a:p>
            <a:r>
              <a:rPr lang="en-US" dirty="0"/>
              <a:t>Uses </a:t>
            </a:r>
            <a:r>
              <a:rPr lang="en-US" b="1" dirty="0"/>
              <a:t>quantitative feedback</a:t>
            </a:r>
            <a:r>
              <a:rPr lang="en-US" dirty="0"/>
              <a:t> and best practices to optimize processes</a:t>
            </a:r>
          </a:p>
          <a:p>
            <a:r>
              <a:rPr lang="en-US" dirty="0"/>
              <a:t>Innovations and automation are applied</a:t>
            </a:r>
          </a:p>
          <a:p>
            <a:r>
              <a:rPr lang="en-US" dirty="0"/>
              <a:t>Example: Company analyzes trends in defects to implement predictive quality measures and automated testing tools</a:t>
            </a:r>
          </a:p>
          <a:p>
            <a:r>
              <a:rPr lang="en-US" dirty="0"/>
              <a:t>💡 </a:t>
            </a:r>
            <a:r>
              <a:rPr lang="en-US" b="1" dirty="0"/>
              <a:t>Reflection Question:</a:t>
            </a:r>
            <a:r>
              <a:rPr lang="en-US" dirty="0"/>
              <a:t> "Can Level 5 be achieved by small companies? What challenges might they face?"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72651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2745C-1202-46EB-9B43-B18230E2A19A}" type="slidenum">
              <a:rPr lang="en-US" smtClean="0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1572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CEB79-1EE1-4617-B502-DB175696CC98}" type="slidenum">
              <a:rPr lang="en-US" smtClean="0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4470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CEB79-1EE1-4617-B502-DB175696CC98}" type="slidenum">
              <a:rPr lang="en-US" smtClean="0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27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D4B7-D658-4D8A-9185-2BAB84A2FA3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1127A-2671-4273-A37C-F60520B4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165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D4B7-D658-4D8A-9185-2BAB84A2FA3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A151127A-2671-4273-A37C-F60520B4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34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D4B7-D658-4D8A-9185-2BAB84A2FA3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1127A-2671-4273-A37C-F60520B4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95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D4B7-D658-4D8A-9185-2BAB84A2FA3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1127A-2671-4273-A37C-F60520B4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377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D4B7-D658-4D8A-9185-2BAB84A2FA3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1127A-2671-4273-A37C-F60520B4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263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D4B7-D658-4D8A-9185-2BAB84A2FA3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1127A-2671-4273-A37C-F60520B4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247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D4B7-D658-4D8A-9185-2BAB84A2FA3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1127A-2671-4273-A37C-F60520B4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618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D4B7-D658-4D8A-9185-2BAB84A2FA3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1127A-2671-4273-A37C-F60520B4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539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D4B7-D658-4D8A-9185-2BAB84A2FA3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1127A-2671-4273-A37C-F60520B4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97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D4B7-D658-4D8A-9185-2BAB84A2FA3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1127A-2671-4273-A37C-F60520B4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737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D4B7-D658-4D8A-9185-2BAB84A2FA3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1127A-2671-4273-A37C-F60520B4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36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D4B7-D658-4D8A-9185-2BAB84A2FA3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1127A-2671-4273-A37C-F60520B4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699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D4B7-D658-4D8A-9185-2BAB84A2FA3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1127A-2671-4273-A37C-F60520B4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3798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D4B7-D658-4D8A-9185-2BAB84A2FA3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1127A-2671-4273-A37C-F60520B4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70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D4B7-D658-4D8A-9185-2BAB84A2FA3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1127A-2671-4273-A37C-F60520B4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11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D4B7-D658-4D8A-9185-2BAB84A2FA3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1127A-2671-4273-A37C-F60520B4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5986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D4B7-D658-4D8A-9185-2BAB84A2FA3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1127A-2671-4273-A37C-F60520B4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3419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ctrTitle"/>
          </p:nvPr>
        </p:nvSpPr>
        <p:spPr>
          <a:xfrm>
            <a:off x="914400" y="1454333"/>
            <a:ext cx="7157200" cy="39492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SzPct val="100000"/>
              <a:defRPr sz="6400" baseline="0"/>
            </a:lvl1pPr>
            <a:lvl2pPr lvl="1" algn="ctr">
              <a:spcBef>
                <a:spcPts val="0"/>
              </a:spcBef>
              <a:buSzPct val="100000"/>
              <a:defRPr sz="6400"/>
            </a:lvl2pPr>
            <a:lvl3pPr lvl="2" algn="ctr">
              <a:spcBef>
                <a:spcPts val="0"/>
              </a:spcBef>
              <a:buSzPct val="100000"/>
              <a:defRPr sz="6400"/>
            </a:lvl3pPr>
            <a:lvl4pPr lvl="3" algn="ctr">
              <a:spcBef>
                <a:spcPts val="0"/>
              </a:spcBef>
              <a:buSzPct val="100000"/>
              <a:defRPr sz="6400"/>
            </a:lvl4pPr>
            <a:lvl5pPr lvl="4" algn="ctr">
              <a:spcBef>
                <a:spcPts val="0"/>
              </a:spcBef>
              <a:buSzPct val="100000"/>
              <a:defRPr sz="6400"/>
            </a:lvl5pPr>
            <a:lvl6pPr lvl="5" algn="ctr">
              <a:spcBef>
                <a:spcPts val="0"/>
              </a:spcBef>
              <a:buSzPct val="100000"/>
              <a:defRPr sz="6400"/>
            </a:lvl6pPr>
            <a:lvl7pPr lvl="6" algn="ctr">
              <a:spcBef>
                <a:spcPts val="0"/>
              </a:spcBef>
              <a:buSzPct val="100000"/>
              <a:defRPr sz="6400"/>
            </a:lvl7pPr>
            <a:lvl8pPr lvl="7" algn="ctr">
              <a:spcBef>
                <a:spcPts val="0"/>
              </a:spcBef>
              <a:buSzPct val="100000"/>
              <a:defRPr sz="6400"/>
            </a:lvl8pPr>
            <a:lvl9pPr lvl="8" algn="ctr">
              <a:spcBef>
                <a:spcPts val="0"/>
              </a:spcBef>
              <a:buSzPct val="100000"/>
              <a:defRPr sz="64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10793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636103" y="295846"/>
            <a:ext cx="6827009" cy="680825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 sz="2400"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304800" y="1081493"/>
            <a:ext cx="11582400" cy="5025225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11239149" y="6300432"/>
            <a:ext cx="799704" cy="420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>
              <a:defRPr b="1"/>
            </a:lvl1pPr>
          </a:lstStyle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5639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_00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139913" y="295846"/>
            <a:ext cx="7323200" cy="680825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11239149" y="6300432"/>
            <a:ext cx="799704" cy="420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>
              <a:defRPr b="1"/>
            </a:lvl1pPr>
          </a:lstStyle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3145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title"/>
          </p:nvPr>
        </p:nvSpPr>
        <p:spPr>
          <a:xfrm>
            <a:off x="1085700" y="523433"/>
            <a:ext cx="7011200" cy="10216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1085700" y="2050649"/>
            <a:ext cx="4504400" cy="3632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667"/>
            </a:lvl1pPr>
            <a:lvl2pPr lvl="1">
              <a:spcBef>
                <a:spcPts val="0"/>
              </a:spcBef>
              <a:buSzPct val="100000"/>
              <a:defRPr sz="2667"/>
            </a:lvl2pPr>
            <a:lvl3pPr lvl="2">
              <a:spcBef>
                <a:spcPts val="0"/>
              </a:spcBef>
              <a:buSzPct val="100000"/>
              <a:defRPr sz="2667"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Shape 100"/>
          <p:cNvSpPr txBox="1">
            <a:spLocks noGrp="1"/>
          </p:cNvSpPr>
          <p:nvPr>
            <p:ph type="body" idx="2"/>
          </p:nvPr>
        </p:nvSpPr>
        <p:spPr>
          <a:xfrm>
            <a:off x="5861498" y="2050649"/>
            <a:ext cx="4504399" cy="3632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667"/>
            </a:lvl1pPr>
            <a:lvl2pPr lvl="1">
              <a:spcBef>
                <a:spcPts val="0"/>
              </a:spcBef>
              <a:buSzPct val="100000"/>
              <a:defRPr sz="2667"/>
            </a:lvl2pPr>
            <a:lvl3pPr lvl="2">
              <a:spcBef>
                <a:spcPts val="0"/>
              </a:spcBef>
              <a:buSzPct val="100000"/>
              <a:defRPr sz="2667"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Shape 101"/>
          <p:cNvSpPr txBox="1">
            <a:spLocks noGrp="1"/>
          </p:cNvSpPr>
          <p:nvPr>
            <p:ph type="sldNum" idx="12"/>
          </p:nvPr>
        </p:nvSpPr>
        <p:spPr>
          <a:xfrm>
            <a:off x="10157333" y="6182000"/>
            <a:ext cx="1983200" cy="420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A9D2E72A-5B69-4AA6-A9D9-5E1F5DD9A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062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B6D4B7-D658-4D8A-9185-2BAB84A2FA3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151127A-2671-4273-A37C-F60520B4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197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9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9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.S._Department_of_Defense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9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9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9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9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9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9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9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9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9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9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9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png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png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31593" y="1042418"/>
            <a:ext cx="7571232" cy="1316735"/>
          </a:xfrm>
        </p:spPr>
        <p:txBody>
          <a:bodyPr>
            <a:normAutofit fontScale="90000"/>
          </a:bodyPr>
          <a:lstStyle/>
          <a:p>
            <a:pPr algn="l"/>
            <a:r>
              <a:rPr sz="4800" dirty="0"/>
              <a:t>Advance Software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00073" y="3314531"/>
            <a:ext cx="8110729" cy="1364531"/>
          </a:xfrm>
        </p:spPr>
        <p:txBody>
          <a:bodyPr>
            <a:noAutofit/>
          </a:bodyPr>
          <a:lstStyle/>
          <a:p>
            <a:r>
              <a:rPr sz="3600" dirty="0"/>
              <a:t>Software Evolution and Maintenance</a:t>
            </a:r>
            <a:endParaRPr lang="en-US" sz="3600" dirty="0"/>
          </a:p>
          <a:p>
            <a:endParaRPr lang="en-US" sz="3600" dirty="0"/>
          </a:p>
          <a:p>
            <a:pPr algn="r"/>
            <a:r>
              <a:rPr lang="en-US" dirty="0"/>
              <a:t>Ms. Shehla Saeed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pPr algn="l"/>
            <a:r>
              <a:rPr dirty="0"/>
              <a:t>Define software maintenance and evolution</a:t>
            </a:r>
          </a:p>
          <a:p>
            <a:pPr algn="l"/>
            <a:r>
              <a:rPr dirty="0"/>
              <a:t>Differentiate development and maintenance</a:t>
            </a:r>
          </a:p>
          <a:p>
            <a:pPr algn="l"/>
            <a:r>
              <a:rPr dirty="0"/>
              <a:t>Explain maintenance types</a:t>
            </a:r>
          </a:p>
          <a:p>
            <a:pPr algn="l"/>
            <a:r>
              <a:rPr dirty="0"/>
              <a:t>Analyze change request priorities</a:t>
            </a:r>
          </a:p>
          <a:p>
            <a:pPr algn="l"/>
            <a:r>
              <a:rPr dirty="0"/>
              <a:t>Discuss maintenance cost factors</a:t>
            </a:r>
          </a:p>
          <a:p>
            <a:pPr algn="l"/>
            <a:r>
              <a:rPr dirty="0"/>
              <a:t>Explain why maintenance is difficult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Introduction to Software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Software maintenance is the modification of a software product after delivery in order to</a:t>
            </a:r>
          </a:p>
          <a:p>
            <a:pPr algn="l"/>
            <a:r>
              <a:rPr dirty="0"/>
              <a:t>Fix faults</a:t>
            </a:r>
            <a:r>
              <a:rPr lang="en-US" dirty="0"/>
              <a:t>/bugs</a:t>
            </a:r>
          </a:p>
          <a:p>
            <a:pPr algn="l"/>
            <a:r>
              <a:rPr dirty="0"/>
              <a:t>improve performance</a:t>
            </a:r>
          </a:p>
          <a:p>
            <a:pPr algn="l"/>
            <a:r>
              <a:rPr dirty="0"/>
              <a:t>Adapt to changing environments</a:t>
            </a:r>
          </a:p>
          <a:p>
            <a:pPr algn="l"/>
            <a:r>
              <a:rPr dirty="0"/>
              <a:t>Improve maintainability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Important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Software is never truly “finished.” Even after deployment:</a:t>
            </a:r>
          </a:p>
          <a:p>
            <a:pPr lvl="0"/>
            <a:r>
              <a:rPr lang="en-US" dirty="0"/>
              <a:t>Bugs appear</a:t>
            </a:r>
          </a:p>
          <a:p>
            <a:pPr lvl="0"/>
            <a:r>
              <a:rPr lang="en-US" dirty="0"/>
              <a:t>Users demand new features</a:t>
            </a:r>
          </a:p>
          <a:p>
            <a:pPr lvl="0"/>
            <a:r>
              <a:rPr lang="en-US" dirty="0"/>
              <a:t>Technology changes</a:t>
            </a:r>
          </a:p>
          <a:p>
            <a:pPr lvl="0"/>
            <a:r>
              <a:rPr lang="en-US" dirty="0"/>
              <a:t>Security threats increase</a:t>
            </a:r>
          </a:p>
          <a:p>
            <a:pPr lvl="0"/>
            <a:r>
              <a:rPr lang="en-US" dirty="0"/>
              <a:t>Organizations change their processes</a:t>
            </a:r>
          </a:p>
          <a:p>
            <a:pPr marL="0" indent="0">
              <a:buNone/>
            </a:pPr>
            <a:r>
              <a:rPr lang="en-US" dirty="0"/>
              <a:t>Therefore:</a:t>
            </a:r>
          </a:p>
          <a:p>
            <a:r>
              <a:rPr lang="en-US" dirty="0"/>
              <a:t>Maintenance continues throughout the software lifecycle.</a:t>
            </a:r>
          </a:p>
        </p:txBody>
      </p:sp>
    </p:spTree>
    <p:extLst>
      <p:ext uri="{BB962C8B-B14F-4D97-AF65-F5344CB8AC3E}">
        <p14:creationId xmlns:p14="http://schemas.microsoft.com/office/powerpoint/2010/main" val="1784430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Maintenance is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457200" indent="-457200">
              <a:buFont typeface="+mj-lt"/>
              <a:buAutoNum type="alphaUcPeriod"/>
            </a:pPr>
            <a:r>
              <a:rPr dirty="0"/>
              <a:t>Fix bugs discovered by users</a:t>
            </a:r>
          </a:p>
          <a:p>
            <a:pPr marL="457200" indent="-457200">
              <a:buFont typeface="+mj-lt"/>
              <a:buAutoNum type="alphaUcPeriod"/>
            </a:pPr>
            <a:r>
              <a:rPr dirty="0"/>
              <a:t>Adapt to technology changes</a:t>
            </a:r>
          </a:p>
          <a:p>
            <a:pPr marL="457200" indent="-457200">
              <a:buFont typeface="+mj-lt"/>
              <a:buAutoNum type="alphaUcPeriod"/>
            </a:pPr>
            <a:r>
              <a:rPr dirty="0"/>
              <a:t>Improve performance</a:t>
            </a:r>
          </a:p>
          <a:p>
            <a:pPr marL="457200" indent="-457200">
              <a:buFont typeface="+mj-lt"/>
              <a:buAutoNum type="alphaUcPeriod"/>
            </a:pPr>
            <a:r>
              <a:rPr dirty="0"/>
              <a:t>Add new features</a:t>
            </a:r>
          </a:p>
          <a:p>
            <a:pPr marL="457200" indent="-457200">
              <a:buFont typeface="+mj-lt"/>
              <a:buAutoNum type="alphaUcPeriod"/>
            </a:pPr>
            <a:r>
              <a:rPr dirty="0"/>
              <a:t>Prevent future failures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2"/>
            <a:ext cx="7704667" cy="852853"/>
          </a:xfrm>
        </p:spPr>
        <p:txBody>
          <a:bodyPr/>
          <a:lstStyle/>
          <a:p>
            <a:r>
              <a:rPr lang="en-US" b="1" dirty="0"/>
              <a:t>A. Fixing Bugs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4" y="1696916"/>
            <a:ext cx="7704667" cy="430290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Users discover errors during system operation.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pPr marL="0" indent="0">
              <a:buNone/>
            </a:pPr>
            <a:r>
              <a:rPr lang="en-US" dirty="0"/>
              <a:t>A university portal calculates GPA incorrectly for some students.</a:t>
            </a:r>
          </a:p>
          <a:p>
            <a:pPr marL="0" indent="0">
              <a:buNone/>
            </a:pPr>
            <a:r>
              <a:rPr lang="en-US" dirty="0"/>
              <a:t>Maintenance team:</a:t>
            </a:r>
          </a:p>
          <a:p>
            <a:pPr lvl="0"/>
            <a:r>
              <a:rPr lang="en-US" dirty="0"/>
              <a:t>Investigates the issue</a:t>
            </a:r>
          </a:p>
          <a:p>
            <a:pPr lvl="0"/>
            <a:r>
              <a:rPr lang="en-US" dirty="0"/>
              <a:t>Fixes the calculation logic</a:t>
            </a:r>
          </a:p>
          <a:p>
            <a:pPr lvl="0"/>
            <a:r>
              <a:rPr lang="en-US" dirty="0"/>
              <a:t>Tests the updated module</a:t>
            </a:r>
          </a:p>
          <a:p>
            <a:pPr marL="0" indent="0">
              <a:buNone/>
            </a:pPr>
            <a:r>
              <a:rPr lang="en-US" dirty="0"/>
              <a:t>This is necessary so students receive correct results.</a:t>
            </a:r>
          </a:p>
        </p:txBody>
      </p:sp>
    </p:spTree>
    <p:extLst>
      <p:ext uri="{BB962C8B-B14F-4D97-AF65-F5344CB8AC3E}">
        <p14:creationId xmlns:p14="http://schemas.microsoft.com/office/powerpoint/2010/main" val="2958580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8934" y="457201"/>
            <a:ext cx="8434429" cy="1397976"/>
          </a:xfrm>
        </p:spPr>
        <p:txBody>
          <a:bodyPr/>
          <a:lstStyle/>
          <a:p>
            <a:pPr algn="l"/>
            <a:r>
              <a:rPr lang="en-US" b="1" dirty="0"/>
              <a:t>B. Adapting to Environment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4" y="2139461"/>
            <a:ext cx="7704667" cy="33328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Technology changes continuously.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r>
              <a:rPr lang="en-US" dirty="0"/>
              <a:t>A library management system previously worked on Windows 10. The university upgrades all computers to Windows 11.</a:t>
            </a:r>
          </a:p>
          <a:p>
            <a:r>
              <a:rPr lang="en-US" dirty="0"/>
              <a:t>The software must now be updated for compatibility.</a:t>
            </a:r>
          </a:p>
        </p:txBody>
      </p:sp>
    </p:spTree>
    <p:extLst>
      <p:ext uri="{BB962C8B-B14F-4D97-AF65-F5344CB8AC3E}">
        <p14:creationId xmlns:p14="http://schemas.microsoft.com/office/powerpoint/2010/main" val="4115261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1"/>
            <a:ext cx="7704667" cy="931984"/>
          </a:xfrm>
        </p:spPr>
        <p:txBody>
          <a:bodyPr/>
          <a:lstStyle/>
          <a:p>
            <a:r>
              <a:rPr lang="en-US" b="1" dirty="0"/>
              <a:t>C. Improving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9418" y="2271346"/>
            <a:ext cx="7704667" cy="333281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Systems become slower as users increase.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pPr marL="0" indent="0">
              <a:buNone/>
            </a:pPr>
            <a:r>
              <a:rPr lang="en-US" dirty="0"/>
              <a:t>An LMS originally supported 500 students. Now 20,000 students use it during exams.</a:t>
            </a:r>
          </a:p>
          <a:p>
            <a:pPr marL="0" indent="0">
              <a:buNone/>
            </a:pPr>
            <a:r>
              <a:rPr lang="en-US" dirty="0"/>
              <a:t>Maintenance team:</a:t>
            </a:r>
          </a:p>
          <a:p>
            <a:pPr lvl="0"/>
            <a:r>
              <a:rPr lang="en-US" dirty="0"/>
              <a:t>Optimizes database queries</a:t>
            </a:r>
          </a:p>
          <a:p>
            <a:pPr lvl="0"/>
            <a:r>
              <a:rPr lang="en-US" dirty="0"/>
              <a:t>Improves server performance</a:t>
            </a:r>
          </a:p>
          <a:p>
            <a:pPr lvl="0"/>
            <a:r>
              <a:rPr lang="en-US" dirty="0"/>
              <a:t>Adds caching</a:t>
            </a:r>
          </a:p>
        </p:txBody>
      </p:sp>
    </p:spTree>
    <p:extLst>
      <p:ext uri="{BB962C8B-B14F-4D97-AF65-F5344CB8AC3E}">
        <p14:creationId xmlns:p14="http://schemas.microsoft.com/office/powerpoint/2010/main" val="2480790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1"/>
            <a:ext cx="7704667" cy="1125414"/>
          </a:xfrm>
        </p:spPr>
        <p:txBody>
          <a:bodyPr/>
          <a:lstStyle/>
          <a:p>
            <a:r>
              <a:rPr lang="en-US" b="1" dirty="0"/>
              <a:t>D. Adding New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4" y="2033954"/>
            <a:ext cx="7704667" cy="33328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Users continuously request improvements.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pPr marL="0" indent="0">
              <a:buNone/>
            </a:pPr>
            <a:r>
              <a:rPr lang="en-US" dirty="0"/>
              <a:t>Students request:</a:t>
            </a:r>
          </a:p>
          <a:p>
            <a:pPr lvl="0"/>
            <a:r>
              <a:rPr lang="en-US" dirty="0"/>
              <a:t>Dark mode</a:t>
            </a:r>
          </a:p>
          <a:p>
            <a:pPr lvl="0"/>
            <a:r>
              <a:rPr lang="en-US" dirty="0"/>
              <a:t>Online fee payment</a:t>
            </a:r>
          </a:p>
          <a:p>
            <a:pPr lvl="0"/>
            <a:r>
              <a:rPr lang="en-US" dirty="0"/>
              <a:t>Mobile notifications</a:t>
            </a:r>
          </a:p>
          <a:p>
            <a:pPr marL="0" indent="0">
              <a:buNone/>
            </a:pPr>
            <a:r>
              <a:rPr lang="en-US" dirty="0"/>
              <a:t>Developers enhance the system accordingly</a:t>
            </a:r>
          </a:p>
        </p:txBody>
      </p:sp>
    </p:spTree>
    <p:extLst>
      <p:ext uri="{BB962C8B-B14F-4D97-AF65-F5344CB8AC3E}">
        <p14:creationId xmlns:p14="http://schemas.microsoft.com/office/powerpoint/2010/main" val="419660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2"/>
            <a:ext cx="7704667" cy="1327637"/>
          </a:xfrm>
        </p:spPr>
        <p:txBody>
          <a:bodyPr/>
          <a:lstStyle/>
          <a:p>
            <a:r>
              <a:rPr lang="en-US" b="1" dirty="0"/>
              <a:t>E. Preventing Future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4" y="1978270"/>
            <a:ext cx="7704667" cy="402154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Maintenance also aims to avoid future failures.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r>
              <a:rPr lang="en-US" dirty="0"/>
              <a:t>A system uses outdated libraries with security vulnerabilities.</a:t>
            </a:r>
          </a:p>
          <a:p>
            <a:r>
              <a:rPr lang="en-US" dirty="0"/>
              <a:t>The organization upgrades libraries before hackers exploit them.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846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vs Maintenance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2304439" y="2438397"/>
          <a:ext cx="7704136" cy="3496410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3852068">
                  <a:extLst>
                    <a:ext uri="{9D8B030D-6E8A-4147-A177-3AD203B41FA5}">
                      <a16:colId xmlns:a16="http://schemas.microsoft.com/office/drawing/2014/main" val="1806560042"/>
                    </a:ext>
                  </a:extLst>
                </a:gridCol>
                <a:gridCol w="3852068">
                  <a:extLst>
                    <a:ext uri="{9D8B030D-6E8A-4147-A177-3AD203B41FA5}">
                      <a16:colId xmlns:a16="http://schemas.microsoft.com/office/drawing/2014/main" val="3030484987"/>
                    </a:ext>
                  </a:extLst>
                </a:gridCol>
              </a:tblGrid>
              <a:tr h="582735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Development</a:t>
                      </a:r>
                      <a:endParaRPr lang="en-US" sz="18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Maintenance</a:t>
                      </a:r>
                      <a:endParaRPr lang="en-US" sz="18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1421723"/>
                  </a:ext>
                </a:extLst>
              </a:tr>
              <a:tr h="582735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Creates new system</a:t>
                      </a:r>
                      <a:endParaRPr lang="en-US" sz="18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</a:rPr>
                        <a:t>Modifies existing system</a:t>
                      </a:r>
                      <a:endParaRPr lang="en-US" sz="1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7693507"/>
                  </a:ext>
                </a:extLst>
              </a:tr>
              <a:tr h="582735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Focus on building</a:t>
                      </a:r>
                      <a:endParaRPr lang="en-US" sz="18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</a:rPr>
                        <a:t>Focus on changing</a:t>
                      </a:r>
                      <a:endParaRPr lang="en-US" sz="1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6145016"/>
                  </a:ext>
                </a:extLst>
              </a:tr>
              <a:tr h="582735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New architecture</a:t>
                      </a:r>
                      <a:endParaRPr lang="en-US" sz="18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Existing architecture constraints</a:t>
                      </a:r>
                      <a:endParaRPr lang="en-US" sz="18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5785914"/>
                  </a:ext>
                </a:extLst>
              </a:tr>
              <a:tr h="582735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</a:rPr>
                        <a:t>Easier understanding</a:t>
                      </a:r>
                      <a:endParaRPr lang="en-US" sz="1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Requires understanding old code</a:t>
                      </a:r>
                      <a:endParaRPr lang="en-US" sz="18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6405377"/>
                  </a:ext>
                </a:extLst>
              </a:tr>
              <a:tr h="582735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</a:rPr>
                        <a:t>Fewer dependencies</a:t>
                      </a:r>
                      <a:endParaRPr lang="en-US" sz="18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</a:rPr>
                        <a:t>Many interdependencies</a:t>
                      </a:r>
                      <a:endParaRPr lang="en-US" sz="18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782445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1"/>
            <a:ext cx="7704667" cy="1178168"/>
          </a:xfrm>
        </p:spPr>
        <p:txBody>
          <a:bodyPr>
            <a:normAutofit/>
          </a:bodyPr>
          <a:lstStyle/>
          <a:p>
            <a:r>
              <a:rPr lang="en-US" b="1" dirty="0"/>
              <a:t>Why Maintenance is More Difficult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4" y="2227384"/>
            <a:ext cx="7704667" cy="33328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During maintenance:</a:t>
            </a:r>
          </a:p>
          <a:p>
            <a:pPr lvl="0"/>
            <a:r>
              <a:rPr lang="en-US" dirty="0"/>
              <a:t>Engineers must understand old code</a:t>
            </a:r>
          </a:p>
          <a:p>
            <a:pPr lvl="0"/>
            <a:r>
              <a:rPr lang="en-US" dirty="0"/>
              <a:t>Existing functionality must not break</a:t>
            </a:r>
          </a:p>
          <a:p>
            <a:pPr lvl="0"/>
            <a:r>
              <a:rPr lang="en-US" dirty="0"/>
              <a:t>Dependencies must be analyzed</a:t>
            </a:r>
          </a:p>
          <a:p>
            <a:pPr lvl="0"/>
            <a:r>
              <a:rPr lang="en-US" dirty="0"/>
              <a:t>Regression testing is required</a:t>
            </a:r>
          </a:p>
          <a:p>
            <a:pPr lvl="0"/>
            <a:r>
              <a:rPr lang="en-US" dirty="0"/>
              <a:t>Documentation may be incomplete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893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1"/>
            <a:ext cx="7704667" cy="1230922"/>
          </a:xfrm>
        </p:spPr>
        <p:txBody>
          <a:bodyPr/>
          <a:lstStyle/>
          <a:p>
            <a:r>
              <a:rPr lang="en-US" b="1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0434" y="1902069"/>
            <a:ext cx="7704667" cy="33328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Development Scenario</a:t>
            </a:r>
          </a:p>
          <a:p>
            <a:r>
              <a:rPr lang="en-US" dirty="0"/>
              <a:t>Building a new attendance system from scratch.</a:t>
            </a:r>
          </a:p>
          <a:p>
            <a:pPr marL="0" indent="0">
              <a:buNone/>
            </a:pPr>
            <a:r>
              <a:rPr lang="en-US" b="1" dirty="0"/>
              <a:t>Maintenance Scenario</a:t>
            </a:r>
          </a:p>
          <a:p>
            <a:r>
              <a:rPr lang="en-US" dirty="0"/>
              <a:t>Adding biometric attendance support to a 10-year-old attendance system without breaking existing reports.</a:t>
            </a:r>
          </a:p>
          <a:p>
            <a:r>
              <a:rPr lang="en-US" dirty="0"/>
              <a:t>The second task is often harder.</a:t>
            </a:r>
          </a:p>
        </p:txBody>
      </p:sp>
    </p:spTree>
    <p:extLst>
      <p:ext uri="{BB962C8B-B14F-4D97-AF65-F5344CB8AC3E}">
        <p14:creationId xmlns:p14="http://schemas.microsoft.com/office/powerpoint/2010/main" val="4234652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2"/>
            <a:ext cx="7704667" cy="1433145"/>
          </a:xfrm>
        </p:spPr>
        <p:txBody>
          <a:bodyPr/>
          <a:lstStyle/>
          <a:p>
            <a:r>
              <a:rPr lang="en-US" dirty="0"/>
              <a:t>Types of Software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3" y="2104292"/>
            <a:ext cx="7704667" cy="3332816"/>
          </a:xfrm>
        </p:spPr>
        <p:txBody>
          <a:bodyPr/>
          <a:lstStyle/>
          <a:p>
            <a:r>
              <a:rPr lang="en-GB" altLang="en-US" dirty="0"/>
              <a:t>Corrective maintenance</a:t>
            </a:r>
          </a:p>
          <a:p>
            <a:r>
              <a:rPr lang="en-GB" altLang="en-US" dirty="0"/>
              <a:t>Adaptive maintenance</a:t>
            </a:r>
          </a:p>
          <a:p>
            <a:r>
              <a:rPr lang="en-GB" altLang="en-US" dirty="0"/>
              <a:t>Perfective maintenance</a:t>
            </a:r>
          </a:p>
          <a:p>
            <a:r>
              <a:rPr lang="en-GB" altLang="en-US" dirty="0"/>
              <a:t>Preventive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1656201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1"/>
            <a:ext cx="7704667" cy="835268"/>
          </a:xfrm>
        </p:spPr>
        <p:txBody>
          <a:bodyPr/>
          <a:lstStyle/>
          <a:p>
            <a:r>
              <a:rPr dirty="0"/>
              <a:t>Corrective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3" y="1585547"/>
            <a:ext cx="7704667" cy="3332816"/>
          </a:xfrm>
        </p:spPr>
        <p:txBody>
          <a:bodyPr>
            <a:normAutofit lnSpcReduction="10000"/>
          </a:bodyPr>
          <a:lstStyle/>
          <a:p>
            <a:pPr algn="l"/>
            <a:r>
              <a:rPr dirty="0"/>
              <a:t>Fixes faults and errors</a:t>
            </a:r>
          </a:p>
          <a:p>
            <a:pPr algn="l"/>
            <a:r>
              <a:rPr dirty="0"/>
              <a:t>Reactive maintenance type</a:t>
            </a:r>
          </a:p>
          <a:p>
            <a:pPr marL="0" indent="0">
              <a:buNone/>
            </a:pPr>
            <a:r>
              <a:rPr dirty="0"/>
              <a:t>Example</a:t>
            </a:r>
            <a:r>
              <a:rPr lang="en-US" dirty="0"/>
              <a:t>s</a:t>
            </a:r>
            <a:r>
              <a:rPr dirty="0"/>
              <a:t>:</a:t>
            </a:r>
            <a:endParaRPr lang="en-US" dirty="0"/>
          </a:p>
          <a:p>
            <a:pPr algn="l"/>
            <a:r>
              <a:rPr dirty="0"/>
              <a:t> GPA calculation bug</a:t>
            </a:r>
          </a:p>
          <a:p>
            <a:pPr algn="l"/>
            <a:r>
              <a:rPr dirty="0"/>
              <a:t>Mobile app crash</a:t>
            </a:r>
            <a:endParaRPr lang="en-US" dirty="0"/>
          </a:p>
          <a:p>
            <a:r>
              <a:rPr lang="en-US" altLang="en-US" dirty="0"/>
              <a:t>Patching an Error in a Database Query</a:t>
            </a:r>
          </a:p>
          <a:p>
            <a:r>
              <a:rPr lang="en-US" altLang="en-US" dirty="0"/>
              <a:t>Correcting Wrong Output Values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1"/>
            <a:ext cx="7704667" cy="589084"/>
          </a:xfrm>
        </p:spPr>
        <p:txBody>
          <a:bodyPr>
            <a:normAutofit fontScale="90000"/>
          </a:bodyPr>
          <a:lstStyle/>
          <a:p>
            <a:r>
              <a:rPr dirty="0"/>
              <a:t>Adaptive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3" y="1814319"/>
            <a:ext cx="7704667" cy="4640270"/>
          </a:xfrm>
        </p:spPr>
        <p:txBody>
          <a:bodyPr>
            <a:normAutofit/>
          </a:bodyPr>
          <a:lstStyle/>
          <a:p>
            <a:pPr algn="l"/>
            <a:r>
              <a:rPr dirty="0"/>
              <a:t>Adapts software to new environments</a:t>
            </a:r>
            <a:endParaRPr lang="en-US" dirty="0"/>
          </a:p>
          <a:p>
            <a:pPr lvl="0"/>
            <a:r>
              <a:rPr lang="en-US" dirty="0"/>
              <a:t>Triggered by external changes</a:t>
            </a:r>
          </a:p>
          <a:p>
            <a:r>
              <a:rPr lang="en-US" dirty="0"/>
              <a:t>Required for system survival</a:t>
            </a:r>
            <a:endParaRPr dirty="0"/>
          </a:p>
          <a:p>
            <a:pPr algn="l"/>
            <a:r>
              <a:rPr dirty="0"/>
              <a:t>Example</a:t>
            </a:r>
            <a:r>
              <a:rPr lang="en-US" dirty="0"/>
              <a:t>s</a:t>
            </a:r>
            <a:r>
              <a:rPr dirty="0"/>
              <a:t>: </a:t>
            </a:r>
            <a:endParaRPr lang="en-US" dirty="0"/>
          </a:p>
          <a:p>
            <a:pPr algn="l"/>
            <a:r>
              <a:rPr dirty="0"/>
              <a:t>Windows 11 compatibility</a:t>
            </a:r>
          </a:p>
          <a:p>
            <a:pPr algn="l"/>
            <a:r>
              <a:rPr dirty="0"/>
              <a:t>Tax regulation changes</a:t>
            </a:r>
          </a:p>
          <a:p>
            <a:r>
              <a:rPr lang="en-US" altLang="en-US" dirty="0"/>
              <a:t>Enabling Support for New Hardware</a:t>
            </a:r>
            <a:endParaRPr lang="en-US" dirty="0"/>
          </a:p>
          <a:p>
            <a:r>
              <a:rPr lang="en-US" altLang="en-US" dirty="0"/>
              <a:t>Migrating a System to Cloud Infrastructure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1"/>
            <a:ext cx="7704667" cy="536330"/>
          </a:xfrm>
        </p:spPr>
        <p:txBody>
          <a:bodyPr>
            <a:normAutofit fontScale="90000"/>
          </a:bodyPr>
          <a:lstStyle/>
          <a:p>
            <a:r>
              <a:rPr dirty="0"/>
              <a:t>Perfective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9427" y="1667436"/>
            <a:ext cx="7704667" cy="4542188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dirty="0"/>
              <a:t>Improves performance and usability</a:t>
            </a:r>
          </a:p>
          <a:p>
            <a:pPr algn="l"/>
            <a:r>
              <a:rPr dirty="0"/>
              <a:t>Adds new features</a:t>
            </a:r>
            <a:endParaRPr lang="en-US" dirty="0"/>
          </a:p>
          <a:p>
            <a:r>
              <a:rPr lang="en-US" dirty="0"/>
              <a:t>User-driven</a:t>
            </a:r>
          </a:p>
          <a:p>
            <a:r>
              <a:rPr lang="en-US" dirty="0"/>
              <a:t>Usually expensive</a:t>
            </a:r>
          </a:p>
          <a:p>
            <a:r>
              <a:rPr lang="en-US" dirty="0"/>
              <a:t>Represents majority of maintenance work</a:t>
            </a:r>
          </a:p>
          <a:p>
            <a:pPr marL="0" indent="0">
              <a:buNone/>
            </a:pPr>
            <a:r>
              <a:rPr dirty="0"/>
              <a:t>Example</a:t>
            </a:r>
            <a:r>
              <a:rPr lang="en-US" dirty="0"/>
              <a:t>s</a:t>
            </a:r>
            <a:r>
              <a:rPr dirty="0"/>
              <a:t>: </a:t>
            </a:r>
            <a:endParaRPr lang="en-US" dirty="0"/>
          </a:p>
          <a:p>
            <a:r>
              <a:rPr dirty="0"/>
              <a:t>Dark mode</a:t>
            </a:r>
          </a:p>
          <a:p>
            <a:pPr algn="l"/>
            <a:r>
              <a:rPr dirty="0"/>
              <a:t>Faster search functionality</a:t>
            </a:r>
            <a:endParaRPr lang="en-US" dirty="0"/>
          </a:p>
          <a:p>
            <a:r>
              <a:rPr lang="en-US" altLang="en-US" dirty="0"/>
              <a:t>Adding new report formats (e.g., monthly, quarterly)</a:t>
            </a:r>
          </a:p>
          <a:p>
            <a:r>
              <a:rPr lang="en-US" altLang="en-US" dirty="0"/>
              <a:t>Adding Help &amp; Tutorial Sections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1"/>
            <a:ext cx="7704667" cy="835268"/>
          </a:xfrm>
        </p:spPr>
        <p:txBody>
          <a:bodyPr/>
          <a:lstStyle/>
          <a:p>
            <a:r>
              <a:rPr dirty="0"/>
              <a:t>Preventive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4" y="1826559"/>
            <a:ext cx="7704667" cy="4762500"/>
          </a:xfrm>
        </p:spPr>
        <p:txBody>
          <a:bodyPr>
            <a:normAutofit lnSpcReduction="10000"/>
          </a:bodyPr>
          <a:lstStyle/>
          <a:p>
            <a:pPr algn="l"/>
            <a:r>
              <a:rPr dirty="0"/>
              <a:t>Prevents future problems</a:t>
            </a:r>
          </a:p>
          <a:p>
            <a:pPr algn="l"/>
            <a:r>
              <a:rPr dirty="0"/>
              <a:t>Improves maintainability</a:t>
            </a:r>
            <a:endParaRPr lang="en-US" dirty="0"/>
          </a:p>
          <a:p>
            <a:pPr lvl="0"/>
            <a:r>
              <a:rPr lang="en-US" dirty="0"/>
              <a:t>Proactive approach</a:t>
            </a:r>
          </a:p>
          <a:p>
            <a:pPr lvl="0"/>
            <a:r>
              <a:rPr lang="en-US" dirty="0"/>
              <a:t>Reduces future cost</a:t>
            </a:r>
          </a:p>
          <a:p>
            <a:pPr lvl="0"/>
            <a:r>
              <a:rPr lang="en-US" dirty="0"/>
              <a:t>Often ignored due to budget constraints</a:t>
            </a:r>
          </a:p>
          <a:p>
            <a:pPr marL="0" indent="0">
              <a:buNone/>
            </a:pPr>
            <a:r>
              <a:rPr dirty="0"/>
              <a:t>Example</a:t>
            </a:r>
            <a:r>
              <a:rPr lang="en-US" dirty="0"/>
              <a:t>s</a:t>
            </a:r>
            <a:r>
              <a:rPr dirty="0"/>
              <a:t>:</a:t>
            </a:r>
            <a:endParaRPr lang="en-US" dirty="0"/>
          </a:p>
          <a:p>
            <a:r>
              <a:rPr dirty="0"/>
              <a:t> </a:t>
            </a:r>
            <a:r>
              <a:rPr lang="en-US" altLang="en-US" dirty="0"/>
              <a:t>Regular </a:t>
            </a:r>
            <a:r>
              <a:rPr dirty="0"/>
              <a:t>Code refactoring</a:t>
            </a:r>
          </a:p>
          <a:p>
            <a:pPr algn="l"/>
            <a:r>
              <a:rPr dirty="0"/>
              <a:t>Updating outdated libraries</a:t>
            </a:r>
            <a:endParaRPr lang="en-US" dirty="0"/>
          </a:p>
          <a:p>
            <a:r>
              <a:rPr lang="en-US" altLang="en-US" dirty="0"/>
              <a:t>Performing Routine Backups</a:t>
            </a:r>
          </a:p>
          <a:p>
            <a:r>
              <a:rPr lang="en-US" altLang="en-US" dirty="0"/>
              <a:t>Running Security Scans and Fixing Vulnerabilities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Priority of Change Requests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4" y="2667001"/>
            <a:ext cx="7704667" cy="2091813"/>
          </a:xfrm>
        </p:spPr>
        <p:txBody>
          <a:bodyPr/>
          <a:lstStyle/>
          <a:p>
            <a:r>
              <a:rPr lang="en-US" dirty="0"/>
              <a:t>Organizations cannot implement all changes immediately. Therefore change requests are prioritized.</a:t>
            </a:r>
          </a:p>
        </p:txBody>
      </p:sp>
    </p:spTree>
    <p:extLst>
      <p:ext uri="{BB962C8B-B14F-4D97-AF65-F5344CB8AC3E}">
        <p14:creationId xmlns:p14="http://schemas.microsoft.com/office/powerpoint/2010/main" val="3218580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3535" y="105508"/>
            <a:ext cx="7742242" cy="1497150"/>
          </a:xfrm>
        </p:spPr>
        <p:txBody>
          <a:bodyPr>
            <a:normAutofit/>
          </a:bodyPr>
          <a:lstStyle/>
          <a:p>
            <a:pPr algn="l"/>
            <a:r>
              <a:rPr lang="en-GB" altLang="en-US" sz="3200" dirty="0"/>
              <a:t>The importance of categorising software changes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8260" y="1730477"/>
            <a:ext cx="7704667" cy="4503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change request is usually categorized by analyzing its </a:t>
            </a:r>
            <a:r>
              <a:rPr lang="en-US" b="1" dirty="0"/>
              <a:t>Type, Impact, Urgency, Risk, and Complexity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By evaluating these factors, teams can decide:</a:t>
            </a:r>
          </a:p>
          <a:p>
            <a:r>
              <a:rPr lang="en-US" dirty="0"/>
              <a:t> which changes should be implemented immediately</a:t>
            </a:r>
          </a:p>
          <a:p>
            <a:r>
              <a:rPr lang="en-US" dirty="0"/>
              <a:t> which can be scheduled for later, and</a:t>
            </a:r>
          </a:p>
          <a:p>
            <a:r>
              <a:rPr lang="en-US" dirty="0"/>
              <a:t> which requests may be rejected due to high cost, low value, or excessive risk.</a:t>
            </a:r>
          </a:p>
        </p:txBody>
      </p:sp>
    </p:spTree>
    <p:extLst>
      <p:ext uri="{BB962C8B-B14F-4D97-AF65-F5344CB8AC3E}">
        <p14:creationId xmlns:p14="http://schemas.microsoft.com/office/powerpoint/2010/main" val="19395670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538166"/>
            <a:ext cx="7704667" cy="848182"/>
          </a:xfrm>
        </p:spPr>
        <p:txBody>
          <a:bodyPr>
            <a:normAutofit/>
          </a:bodyPr>
          <a:lstStyle/>
          <a:p>
            <a:r>
              <a:rPr dirty="0"/>
              <a:t>Priority 1 – Urgent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5457" y="1296427"/>
            <a:ext cx="7704667" cy="5194020"/>
          </a:xfrm>
        </p:spPr>
        <p:txBody>
          <a:bodyPr>
            <a:normAutofit/>
          </a:bodyPr>
          <a:lstStyle/>
          <a:p>
            <a:r>
              <a:rPr lang="en-US" dirty="0"/>
              <a:t>System cannot continue operation. </a:t>
            </a:r>
          </a:p>
          <a:p>
            <a:r>
              <a:rPr dirty="0"/>
              <a:t>Immediate fix required</a:t>
            </a:r>
            <a:endParaRPr lang="en-US" dirty="0"/>
          </a:p>
          <a:p>
            <a:pPr lvl="0"/>
            <a:r>
              <a:rPr lang="en-US" dirty="0"/>
              <a:t>High financial loss</a:t>
            </a:r>
          </a:p>
          <a:p>
            <a:pPr lvl="0"/>
            <a:r>
              <a:rPr lang="en-US" dirty="0"/>
              <a:t>Same-day resolution preferred</a:t>
            </a:r>
          </a:p>
          <a:p>
            <a:pPr algn="l"/>
            <a:r>
              <a:rPr dirty="0"/>
              <a:t>Example</a:t>
            </a:r>
            <a:r>
              <a:rPr lang="en-US" dirty="0"/>
              <a:t>s</a:t>
            </a:r>
            <a:r>
              <a:rPr dirty="0"/>
              <a:t>:</a:t>
            </a:r>
            <a:endParaRPr lang="en-US" dirty="0"/>
          </a:p>
          <a:p>
            <a:pPr algn="l"/>
            <a:r>
              <a:rPr dirty="0"/>
              <a:t> Airline booking failure</a:t>
            </a:r>
          </a:p>
          <a:p>
            <a:pPr algn="l"/>
            <a:r>
              <a:rPr dirty="0"/>
              <a:t>Hospital database crash</a:t>
            </a:r>
            <a:endParaRPr lang="en-US" dirty="0"/>
          </a:p>
          <a:p>
            <a:r>
              <a:rPr lang="en-US" dirty="0"/>
              <a:t>Payment gateway not working in an e-commerce system</a:t>
            </a:r>
          </a:p>
          <a:p>
            <a:r>
              <a:rPr lang="en-US" dirty="0"/>
              <a:t>Login/authentication failure for all users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2"/>
            <a:ext cx="7704667" cy="966157"/>
          </a:xfrm>
        </p:spPr>
        <p:txBody>
          <a:bodyPr/>
          <a:lstStyle/>
          <a:p>
            <a:r>
              <a:rPr dirty="0"/>
              <a:t>Priority 2 – Critical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4" y="1604865"/>
            <a:ext cx="7704667" cy="4805266"/>
          </a:xfrm>
        </p:spPr>
        <p:txBody>
          <a:bodyPr>
            <a:normAutofit fontScale="92500"/>
          </a:bodyPr>
          <a:lstStyle/>
          <a:p>
            <a:r>
              <a:rPr lang="en-US" dirty="0"/>
              <a:t>System works but major functionality is affected.</a:t>
            </a:r>
          </a:p>
          <a:p>
            <a:pPr lvl="0"/>
            <a:r>
              <a:rPr lang="en-US" dirty="0"/>
              <a:t>Serious inconvenience</a:t>
            </a:r>
          </a:p>
          <a:p>
            <a:pPr lvl="0"/>
            <a:r>
              <a:rPr lang="en-US" dirty="0"/>
              <a:t>Risk of becoming emergency</a:t>
            </a:r>
          </a:p>
          <a:p>
            <a:r>
              <a:rPr lang="en-US" dirty="0"/>
              <a:t>Quick resolution needed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dirty="0"/>
              <a:t>Example</a:t>
            </a:r>
            <a:r>
              <a:rPr lang="en-US" dirty="0"/>
              <a:t>s</a:t>
            </a:r>
            <a:r>
              <a:rPr dirty="0"/>
              <a:t>: </a:t>
            </a:r>
            <a:endParaRPr lang="en-US" dirty="0"/>
          </a:p>
          <a:p>
            <a:r>
              <a:rPr dirty="0"/>
              <a:t>Extremely slow LMS</a:t>
            </a:r>
          </a:p>
          <a:p>
            <a:r>
              <a:rPr dirty="0"/>
              <a:t>Frequent error popups</a:t>
            </a:r>
            <a:r>
              <a:rPr lang="en-US" dirty="0"/>
              <a:t> e.g., “Error: Payment failed” popup appears every time a user tries to pay</a:t>
            </a:r>
          </a:p>
          <a:p>
            <a:r>
              <a:rPr lang="en-US" dirty="0"/>
              <a:t>Smart Parking System displays incorrect available parking slots</a:t>
            </a:r>
          </a:p>
          <a:p>
            <a:r>
              <a:rPr lang="en-US" dirty="0"/>
              <a:t>Payroll system calculates salaries incorrectly</a:t>
            </a:r>
          </a:p>
          <a:p>
            <a:endParaRPr lang="en-US" dirty="0"/>
          </a:p>
          <a:p>
            <a:pPr algn="l"/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1"/>
            <a:ext cx="7704667" cy="1408544"/>
          </a:xfrm>
        </p:spPr>
        <p:txBody>
          <a:bodyPr/>
          <a:lstStyle/>
          <a:p>
            <a:r>
              <a:rPr dirty="0"/>
              <a:t>Priority 3 – </a:t>
            </a:r>
            <a:r>
              <a:rPr lang="en-US" dirty="0"/>
              <a:t>Major/Important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0861" y="1991048"/>
            <a:ext cx="7704667" cy="437243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dirty="0"/>
              <a:t>Improvement needed</a:t>
            </a:r>
            <a:r>
              <a:rPr lang="en-US" dirty="0"/>
              <a:t> but d</a:t>
            </a:r>
            <a:r>
              <a:rPr dirty="0"/>
              <a:t>elay</a:t>
            </a:r>
            <a:r>
              <a:rPr lang="en-US" dirty="0"/>
              <a:t> is</a:t>
            </a:r>
            <a:r>
              <a:rPr dirty="0"/>
              <a:t> acceptable</a:t>
            </a:r>
            <a:endParaRPr lang="en-US" dirty="0"/>
          </a:p>
          <a:p>
            <a:pPr lvl="0"/>
            <a:r>
              <a:rPr lang="en-US" dirty="0"/>
              <a:t>No operational blockage</a:t>
            </a:r>
          </a:p>
          <a:p>
            <a:pPr lvl="0"/>
            <a:r>
              <a:rPr lang="en-US" dirty="0"/>
              <a:t>Moderate urgency</a:t>
            </a:r>
          </a:p>
          <a:p>
            <a:pPr lvl="0"/>
            <a:r>
              <a:rPr lang="en-US" dirty="0"/>
              <a:t>To enhance </a:t>
            </a:r>
            <a:r>
              <a:rPr lang="en-US" b="1" dirty="0"/>
              <a:t>functionality, performance, or usability</a:t>
            </a:r>
            <a:endParaRPr lang="en-US" dirty="0"/>
          </a:p>
          <a:p>
            <a:pPr marL="0" indent="0">
              <a:buNone/>
            </a:pPr>
            <a:r>
              <a:rPr dirty="0"/>
              <a:t>Example</a:t>
            </a:r>
            <a:r>
              <a:rPr lang="en-US" dirty="0"/>
              <a:t>s</a:t>
            </a:r>
            <a:r>
              <a:rPr dirty="0"/>
              <a:t>: </a:t>
            </a:r>
            <a:endParaRPr lang="en-US" dirty="0"/>
          </a:p>
          <a:p>
            <a:r>
              <a:rPr dirty="0"/>
              <a:t>Slow search feature</a:t>
            </a:r>
          </a:p>
          <a:p>
            <a:pPr algn="l"/>
            <a:r>
              <a:rPr dirty="0"/>
              <a:t>Analytics dashboard request</a:t>
            </a:r>
            <a:endParaRPr lang="en-US" dirty="0"/>
          </a:p>
          <a:p>
            <a:r>
              <a:rPr lang="en-US" dirty="0"/>
              <a:t>Improving report formatting in a university portal</a:t>
            </a:r>
          </a:p>
          <a:p>
            <a:r>
              <a:rPr lang="en-US" dirty="0"/>
              <a:t>Adding new optional features like book recommendations or </a:t>
            </a:r>
            <a:r>
              <a:rPr lang="en-US" dirty="0" err="1"/>
              <a:t>wishlist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868219"/>
            <a:ext cx="7704667" cy="411017"/>
          </a:xfrm>
        </p:spPr>
        <p:txBody>
          <a:bodyPr>
            <a:normAutofit fontScale="90000"/>
          </a:bodyPr>
          <a:lstStyle/>
          <a:p>
            <a:r>
              <a:rPr dirty="0"/>
              <a:t>Priority 4 – Minor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3" y="1707973"/>
            <a:ext cx="7704667" cy="4586652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 algn="l"/>
            <a:r>
              <a:rPr dirty="0"/>
              <a:t>Cosmetic or low-impact issues</a:t>
            </a:r>
          </a:p>
          <a:p>
            <a:pPr algn="l"/>
            <a:r>
              <a:rPr dirty="0"/>
              <a:t>No operational blockage</a:t>
            </a:r>
            <a:endParaRPr lang="en-US" dirty="0"/>
          </a:p>
          <a:p>
            <a:r>
              <a:rPr lang="en-US" dirty="0"/>
              <a:t>They can be done when time/resources are available.</a:t>
            </a:r>
            <a:endParaRPr dirty="0"/>
          </a:p>
          <a:p>
            <a:pPr algn="l"/>
            <a:r>
              <a:rPr dirty="0"/>
              <a:t>Example</a:t>
            </a:r>
            <a:r>
              <a:rPr lang="en-US" dirty="0"/>
              <a:t>s</a:t>
            </a:r>
            <a:r>
              <a:rPr dirty="0"/>
              <a:t>:</a:t>
            </a:r>
            <a:endParaRPr lang="en-US" dirty="0"/>
          </a:p>
          <a:p>
            <a:r>
              <a:rPr dirty="0"/>
              <a:t> </a:t>
            </a:r>
            <a:r>
              <a:rPr lang="en-US" dirty="0"/>
              <a:t>Changing button color or font style in UI</a:t>
            </a:r>
          </a:p>
          <a:p>
            <a:r>
              <a:rPr lang="en-US" dirty="0"/>
              <a:t>Fixing spelling mistakes or grammar errors in system text</a:t>
            </a:r>
          </a:p>
          <a:p>
            <a:r>
              <a:rPr lang="en-US" dirty="0"/>
              <a:t>Adjusting alignment or spacing of interface elements</a:t>
            </a:r>
          </a:p>
          <a:p>
            <a:r>
              <a:rPr lang="en-US" dirty="0"/>
              <a:t>Updating logo or theme colors without affecting functionality</a:t>
            </a:r>
          </a:p>
          <a:p>
            <a:r>
              <a:rPr lang="en-US" dirty="0"/>
              <a:t>Minor UI layout adjustments (e.g., moving a label slightly)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2"/>
            <a:ext cx="7704667" cy="1464905"/>
          </a:xfrm>
        </p:spPr>
        <p:txBody>
          <a:bodyPr/>
          <a:lstStyle/>
          <a:p>
            <a:r>
              <a:rPr dirty="0"/>
              <a:t>Factors Affecting Maintenance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4" y="2064774"/>
            <a:ext cx="7704667" cy="39547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Maintenance cost depends on multiple technical and organizational factors.</a:t>
            </a:r>
            <a:endParaRPr dirty="0"/>
          </a:p>
          <a:p>
            <a:pPr algn="l"/>
            <a:r>
              <a:rPr dirty="0"/>
              <a:t>System size and complexity</a:t>
            </a:r>
          </a:p>
          <a:p>
            <a:pPr algn="l"/>
            <a:r>
              <a:rPr dirty="0"/>
              <a:t>Code quality</a:t>
            </a:r>
          </a:p>
          <a:p>
            <a:pPr algn="l"/>
            <a:r>
              <a:rPr dirty="0"/>
              <a:t>Documentation quality</a:t>
            </a:r>
          </a:p>
          <a:p>
            <a:pPr algn="l"/>
            <a:r>
              <a:rPr dirty="0"/>
              <a:t>Team experience</a:t>
            </a:r>
          </a:p>
          <a:p>
            <a:pPr algn="l"/>
            <a:r>
              <a:rPr dirty="0"/>
              <a:t>Testing quality</a:t>
            </a:r>
          </a:p>
          <a:p>
            <a:pPr algn="l"/>
            <a:r>
              <a:rPr dirty="0"/>
              <a:t>System design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3" y="781666"/>
            <a:ext cx="7704667" cy="1054358"/>
          </a:xfrm>
        </p:spPr>
        <p:txBody>
          <a:bodyPr/>
          <a:lstStyle/>
          <a:p>
            <a:r>
              <a:rPr lang="en-US" b="1" dirty="0"/>
              <a:t>System Size and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4" y="1978090"/>
            <a:ext cx="7704667" cy="4021726"/>
          </a:xfrm>
        </p:spPr>
        <p:txBody>
          <a:bodyPr/>
          <a:lstStyle/>
          <a:p>
            <a:r>
              <a:rPr lang="en-US" dirty="0"/>
              <a:t>Large systems require more effort.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r>
              <a:rPr lang="en-US" dirty="0"/>
              <a:t>A 500-module banking system is harder to modify than a small student project.</a:t>
            </a:r>
          </a:p>
          <a:p>
            <a:pPr marL="0" indent="0">
              <a:buNone/>
            </a:pPr>
            <a:r>
              <a:rPr lang="en-US" dirty="0"/>
              <a:t>Result: Higher maintenance cost.</a:t>
            </a:r>
          </a:p>
        </p:txBody>
      </p:sp>
    </p:spTree>
    <p:extLst>
      <p:ext uri="{BB962C8B-B14F-4D97-AF65-F5344CB8AC3E}">
        <p14:creationId xmlns:p14="http://schemas.microsoft.com/office/powerpoint/2010/main" val="11624285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653847"/>
            <a:ext cx="7704667" cy="1315615"/>
          </a:xfrm>
        </p:spPr>
        <p:txBody>
          <a:bodyPr/>
          <a:lstStyle/>
          <a:p>
            <a:r>
              <a:rPr lang="en-US" b="1" dirty="0"/>
              <a:t>Code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Clean code reduces maintenance effort.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pPr marL="0" indent="0">
              <a:buNone/>
            </a:pPr>
            <a:r>
              <a:rPr lang="en-US" dirty="0"/>
              <a:t>Two teams maintain similar systems:</a:t>
            </a:r>
          </a:p>
          <a:p>
            <a:pPr lvl="0"/>
            <a:r>
              <a:rPr lang="en-US" dirty="0"/>
              <a:t>Team A uses clean modular code</a:t>
            </a:r>
          </a:p>
          <a:p>
            <a:pPr lvl="0"/>
            <a:r>
              <a:rPr lang="en-US" dirty="0"/>
              <a:t>Team B uses messy undocumented code</a:t>
            </a:r>
          </a:p>
          <a:p>
            <a:r>
              <a:rPr lang="en-US" dirty="0"/>
              <a:t>Team B spends much more time debugging.</a:t>
            </a:r>
          </a:p>
          <a:p>
            <a:pPr marL="0" indent="0">
              <a:buNone/>
            </a:pPr>
            <a:r>
              <a:rPr lang="en-US" dirty="0"/>
              <a:t>Result: Poor code quality increases cost.</a:t>
            </a:r>
          </a:p>
        </p:txBody>
      </p:sp>
    </p:spTree>
    <p:extLst>
      <p:ext uri="{BB962C8B-B14F-4D97-AF65-F5344CB8AC3E}">
        <p14:creationId xmlns:p14="http://schemas.microsoft.com/office/powerpoint/2010/main" val="33214896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771833"/>
            <a:ext cx="7704667" cy="1166326"/>
          </a:xfrm>
        </p:spPr>
        <p:txBody>
          <a:bodyPr/>
          <a:lstStyle/>
          <a:p>
            <a:r>
              <a:rPr lang="en-US" b="1" dirty="0"/>
              <a:t>Documentation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Good documentation saves time.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pPr marL="0" indent="0">
              <a:buNone/>
            </a:pPr>
            <a:r>
              <a:rPr lang="en-US" dirty="0"/>
              <a:t>A developer leaves the company.</a:t>
            </a:r>
          </a:p>
          <a:p>
            <a:pPr marL="0" indent="0">
              <a:buNone/>
            </a:pPr>
            <a:r>
              <a:rPr lang="en-US" dirty="0"/>
              <a:t>If documentation exists:</a:t>
            </a:r>
          </a:p>
          <a:p>
            <a:pPr lvl="0"/>
            <a:r>
              <a:rPr lang="en-US" dirty="0"/>
              <a:t>New developers understand system quickly</a:t>
            </a:r>
          </a:p>
          <a:p>
            <a:pPr marL="0" indent="0">
              <a:buNone/>
            </a:pPr>
            <a:r>
              <a:rPr lang="en-US" dirty="0"/>
              <a:t>If documentation is missing:</a:t>
            </a:r>
          </a:p>
          <a:p>
            <a:pPr lvl="0"/>
            <a:r>
              <a:rPr lang="en-US" dirty="0"/>
              <a:t>Understanding system takes weeks</a:t>
            </a:r>
          </a:p>
          <a:p>
            <a:pPr marL="0" indent="0">
              <a:buNone/>
            </a:pPr>
            <a:r>
              <a:rPr lang="en-US" dirty="0"/>
              <a:t>Result: Maintenance becomes expensive.</a:t>
            </a:r>
          </a:p>
        </p:txBody>
      </p:sp>
    </p:spTree>
    <p:extLst>
      <p:ext uri="{BB962C8B-B14F-4D97-AF65-F5344CB8AC3E}">
        <p14:creationId xmlns:p14="http://schemas.microsoft.com/office/powerpoint/2010/main" val="3610407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1"/>
            <a:ext cx="7704667" cy="1324946"/>
          </a:xfrm>
        </p:spPr>
        <p:txBody>
          <a:bodyPr/>
          <a:lstStyle/>
          <a:p>
            <a:r>
              <a:rPr lang="en-US" b="1" dirty="0"/>
              <a:t>Age of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Older systems are difficult to maintain.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pPr marL="0" indent="0">
              <a:buNone/>
            </a:pPr>
            <a:r>
              <a:rPr lang="en-US" dirty="0"/>
              <a:t>A university still uses a COBOL-based system from the 1990s.</a:t>
            </a:r>
          </a:p>
          <a:p>
            <a:pPr marL="0" indent="0">
              <a:buNone/>
            </a:pPr>
            <a:r>
              <a:rPr lang="en-US" dirty="0"/>
              <a:t>Problems:</a:t>
            </a:r>
          </a:p>
          <a:p>
            <a:pPr lvl="0"/>
            <a:r>
              <a:rPr lang="en-US" dirty="0"/>
              <a:t>Few experts available</a:t>
            </a:r>
          </a:p>
          <a:p>
            <a:pPr lvl="0"/>
            <a:r>
              <a:rPr lang="en-US" dirty="0"/>
              <a:t>Old hardware dependency</a:t>
            </a:r>
          </a:p>
          <a:p>
            <a:pPr lvl="0"/>
            <a:r>
              <a:rPr lang="en-US" dirty="0"/>
              <a:t>Limited tool support</a:t>
            </a:r>
          </a:p>
          <a:p>
            <a:pPr marL="0" indent="0">
              <a:buNone/>
            </a:pPr>
            <a:r>
              <a:rPr lang="en-US" dirty="0"/>
              <a:t>Result: Maintenance cost increases.</a:t>
            </a:r>
          </a:p>
        </p:txBody>
      </p:sp>
    </p:spTree>
    <p:extLst>
      <p:ext uri="{BB962C8B-B14F-4D97-AF65-F5344CB8AC3E}">
        <p14:creationId xmlns:p14="http://schemas.microsoft.com/office/powerpoint/2010/main" val="24484856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2"/>
            <a:ext cx="7704667" cy="1279235"/>
          </a:xfrm>
        </p:spPr>
        <p:txBody>
          <a:bodyPr/>
          <a:lstStyle/>
          <a:p>
            <a:r>
              <a:rPr lang="en-US" b="1" dirty="0"/>
              <a:t>Team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Experienced teams solve problems faster.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pPr marL="0" indent="0">
              <a:buNone/>
            </a:pPr>
            <a:r>
              <a:rPr lang="en-US" dirty="0"/>
              <a:t>A new team takes over a hospital system.</a:t>
            </a:r>
          </a:p>
          <a:p>
            <a:pPr marL="0" indent="0">
              <a:buNone/>
            </a:pPr>
            <a:r>
              <a:rPr lang="en-US" dirty="0"/>
              <a:t>Because they lack domain knowledge:</a:t>
            </a:r>
          </a:p>
          <a:p>
            <a:pPr lvl="0"/>
            <a:r>
              <a:rPr lang="en-US" dirty="0"/>
              <a:t>More bugs occur</a:t>
            </a:r>
          </a:p>
          <a:p>
            <a:pPr lvl="0"/>
            <a:r>
              <a:rPr lang="en-US" dirty="0"/>
              <a:t>Fixes take longer</a:t>
            </a:r>
          </a:p>
          <a:p>
            <a:pPr lvl="0"/>
            <a:r>
              <a:rPr lang="en-US" dirty="0"/>
              <a:t>Testing effort increases</a:t>
            </a:r>
          </a:p>
          <a:p>
            <a:pPr marL="0" indent="0">
              <a:buNone/>
            </a:pPr>
            <a:r>
              <a:rPr lang="en-US" dirty="0"/>
              <a:t>Result: Higher maintenance cost.</a:t>
            </a:r>
          </a:p>
        </p:txBody>
      </p:sp>
    </p:spTree>
    <p:extLst>
      <p:ext uri="{BB962C8B-B14F-4D97-AF65-F5344CB8AC3E}">
        <p14:creationId xmlns:p14="http://schemas.microsoft.com/office/powerpoint/2010/main" val="34425591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Frequency of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Frequent changes increase maintenance effort.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r>
              <a:rPr lang="en-US" dirty="0"/>
              <a:t>Government changes tax rules every year.</a:t>
            </a:r>
          </a:p>
          <a:p>
            <a:r>
              <a:rPr lang="en-US" dirty="0"/>
              <a:t>Payroll systems require continuous updates.</a:t>
            </a:r>
          </a:p>
          <a:p>
            <a:pPr marL="0" indent="0">
              <a:buNone/>
            </a:pPr>
            <a:r>
              <a:rPr lang="en-US" dirty="0"/>
              <a:t>Result: Higher maintenance workload.</a:t>
            </a:r>
          </a:p>
        </p:txBody>
      </p:sp>
    </p:spTree>
    <p:extLst>
      <p:ext uri="{BB962C8B-B14F-4D97-AF65-F5344CB8AC3E}">
        <p14:creationId xmlns:p14="http://schemas.microsoft.com/office/powerpoint/2010/main" val="8361979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1"/>
            <a:ext cx="7704667" cy="1268082"/>
          </a:xfrm>
        </p:spPr>
        <p:txBody>
          <a:bodyPr/>
          <a:lstStyle/>
          <a:p>
            <a:r>
              <a:rPr lang="en-US" b="1" dirty="0"/>
              <a:t>Testing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4" y="1725284"/>
            <a:ext cx="7704667" cy="427453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Poor testing causes repeated failures.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pPr marL="0" indent="0">
              <a:buNone/>
            </a:pPr>
            <a:r>
              <a:rPr lang="en-US" dirty="0"/>
              <a:t>A change is released without regression testing.</a:t>
            </a:r>
          </a:p>
          <a:p>
            <a:pPr marL="0" indent="0">
              <a:buNone/>
            </a:pPr>
            <a:r>
              <a:rPr lang="en-US" dirty="0"/>
              <a:t>New update breaks:</a:t>
            </a:r>
          </a:p>
          <a:p>
            <a:pPr lvl="0"/>
            <a:r>
              <a:rPr lang="en-US" dirty="0"/>
              <a:t>Login system</a:t>
            </a:r>
          </a:p>
          <a:p>
            <a:pPr lvl="0"/>
            <a:r>
              <a:rPr lang="en-US" dirty="0"/>
              <a:t>Report generation</a:t>
            </a:r>
          </a:p>
          <a:p>
            <a:pPr lvl="0"/>
            <a:r>
              <a:rPr lang="en-US" dirty="0"/>
              <a:t>Notifications</a:t>
            </a:r>
          </a:p>
          <a:p>
            <a:pPr marL="0" indent="0">
              <a:buNone/>
            </a:pPr>
            <a:r>
              <a:rPr lang="en-US" dirty="0"/>
              <a:t>Result: Rework increases cost.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5134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1"/>
            <a:ext cx="7704667" cy="1163052"/>
          </a:xfrm>
        </p:spPr>
        <p:txBody>
          <a:bodyPr/>
          <a:lstStyle/>
          <a:p>
            <a:r>
              <a:rPr lang="en-US" b="1" dirty="0"/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3" y="2089484"/>
            <a:ext cx="7704667" cy="33328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Modular systems are easier to maintain.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pPr marL="0" indent="0">
              <a:buNone/>
            </a:pPr>
            <a:r>
              <a:rPr lang="en-US" dirty="0"/>
              <a:t>In modular architecture:</a:t>
            </a:r>
          </a:p>
          <a:p>
            <a:pPr lvl="0"/>
            <a:r>
              <a:rPr lang="en-US" dirty="0"/>
              <a:t>One module changes independently</a:t>
            </a:r>
          </a:p>
          <a:p>
            <a:pPr marL="0" indent="0">
              <a:buNone/>
            </a:pPr>
            <a:r>
              <a:rPr lang="en-US" dirty="0"/>
              <a:t>In tightly coupled architecture:</a:t>
            </a:r>
          </a:p>
          <a:p>
            <a:pPr lvl="0"/>
            <a:r>
              <a:rPr lang="en-US" dirty="0"/>
              <a:t>One change affects entire system</a:t>
            </a:r>
          </a:p>
          <a:p>
            <a:pPr marL="0" indent="0">
              <a:buNone/>
            </a:pPr>
            <a:r>
              <a:rPr lang="en-US" dirty="0"/>
              <a:t>Result: Poor design increases maintenance cost.</a:t>
            </a:r>
          </a:p>
        </p:txBody>
      </p:sp>
    </p:spTree>
    <p:extLst>
      <p:ext uri="{BB962C8B-B14F-4D97-AF65-F5344CB8AC3E}">
        <p14:creationId xmlns:p14="http://schemas.microsoft.com/office/powerpoint/2010/main" val="20324222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Maintenance is Difficult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4" y="1911096"/>
            <a:ext cx="7704667" cy="40887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Maintenance is one of the most difficult software engineering activities.</a:t>
            </a:r>
          </a:p>
          <a:p>
            <a:pPr marL="0" indent="0">
              <a:buNone/>
            </a:pPr>
            <a:endParaRPr dirty="0"/>
          </a:p>
          <a:p>
            <a:pPr algn="l"/>
            <a:r>
              <a:rPr dirty="0"/>
              <a:t>Lack of documentation</a:t>
            </a:r>
          </a:p>
          <a:p>
            <a:pPr algn="l"/>
            <a:r>
              <a:rPr dirty="0"/>
              <a:t>Understanding old code</a:t>
            </a:r>
          </a:p>
          <a:p>
            <a:pPr algn="l"/>
            <a:r>
              <a:rPr dirty="0"/>
              <a:t>Hidden dependencies</a:t>
            </a:r>
            <a:endParaRPr lang="en-US" dirty="0"/>
          </a:p>
          <a:p>
            <a:pPr algn="l"/>
            <a:r>
              <a:rPr lang="en-US" dirty="0"/>
              <a:t>User Expectations</a:t>
            </a:r>
            <a:endParaRPr dirty="0"/>
          </a:p>
          <a:p>
            <a:pPr algn="l"/>
            <a:r>
              <a:rPr dirty="0"/>
              <a:t>Continuous change requests</a:t>
            </a:r>
          </a:p>
          <a:p>
            <a:pPr algn="l"/>
            <a:r>
              <a:rPr dirty="0"/>
              <a:t>Regression risks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1"/>
            <a:ext cx="7704667" cy="104273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Problem 1 – Lack of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4" y="1929063"/>
            <a:ext cx="7704667" cy="333281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Scenario</a:t>
            </a:r>
          </a:p>
          <a:p>
            <a:r>
              <a:rPr lang="en-US" dirty="0"/>
              <a:t>A developer modifies payment logic but records nothing.</a:t>
            </a:r>
          </a:p>
          <a:p>
            <a:r>
              <a:rPr lang="en-US" dirty="0"/>
              <a:t>Months later another developer changes same module and unknowingly removes the fix.</a:t>
            </a:r>
          </a:p>
          <a:p>
            <a:pPr marL="0" indent="0">
              <a:buNone/>
            </a:pPr>
            <a:r>
              <a:rPr lang="en-US" dirty="0"/>
              <a:t>Result: Bug reappears.</a:t>
            </a:r>
          </a:p>
        </p:txBody>
      </p:sp>
    </p:spTree>
    <p:extLst>
      <p:ext uri="{BB962C8B-B14F-4D97-AF65-F5344CB8AC3E}">
        <p14:creationId xmlns:p14="http://schemas.microsoft.com/office/powerpoint/2010/main" val="9485417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1"/>
            <a:ext cx="7704667" cy="113898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Problem 2 – Understanding Old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1860" y="2153652"/>
            <a:ext cx="7704667" cy="333281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Scenario</a:t>
            </a:r>
          </a:p>
          <a:p>
            <a:r>
              <a:rPr lang="en-US" dirty="0"/>
              <a:t>A company maintains a 15-year-old ERP system written by developers who already left.</a:t>
            </a:r>
          </a:p>
          <a:p>
            <a:r>
              <a:rPr lang="en-US" dirty="0"/>
              <a:t>New maintainers struggle to understand:</a:t>
            </a:r>
          </a:p>
          <a:p>
            <a:pPr lvl="0"/>
            <a:r>
              <a:rPr lang="en-US" dirty="0"/>
              <a:t>Architecture</a:t>
            </a:r>
          </a:p>
          <a:p>
            <a:pPr lvl="0"/>
            <a:r>
              <a:rPr lang="en-US" dirty="0"/>
              <a:t>Business rules</a:t>
            </a:r>
          </a:p>
          <a:p>
            <a:pPr lvl="0"/>
            <a:r>
              <a:rPr lang="en-US" dirty="0"/>
              <a:t>Dependencies</a:t>
            </a:r>
          </a:p>
          <a:p>
            <a:pPr marL="0" indent="0">
              <a:buNone/>
            </a:pPr>
            <a:r>
              <a:rPr lang="en-US" dirty="0"/>
              <a:t>Result: Maintenance becomes slow and risky.</a:t>
            </a:r>
          </a:p>
        </p:txBody>
      </p:sp>
    </p:spTree>
    <p:extLst>
      <p:ext uri="{BB962C8B-B14F-4D97-AF65-F5344CB8AC3E}">
        <p14:creationId xmlns:p14="http://schemas.microsoft.com/office/powerpoint/2010/main" val="14531234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2"/>
            <a:ext cx="7704667" cy="1161287"/>
          </a:xfrm>
        </p:spPr>
        <p:txBody>
          <a:bodyPr>
            <a:normAutofit/>
          </a:bodyPr>
          <a:lstStyle/>
          <a:p>
            <a:r>
              <a:rPr lang="en-US" b="1" dirty="0"/>
              <a:t>Problem 3 – Hidden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3" y="1981200"/>
            <a:ext cx="7704667" cy="33328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</a:t>
            </a:r>
          </a:p>
          <a:p>
            <a:pPr marL="0" indent="0">
              <a:buNone/>
            </a:pPr>
            <a:r>
              <a:rPr lang="en-US" dirty="0"/>
              <a:t>Developer changes attendance module.</a:t>
            </a:r>
          </a:p>
          <a:p>
            <a:pPr marL="0" indent="0">
              <a:buNone/>
            </a:pPr>
            <a:r>
              <a:rPr lang="en-US" dirty="0"/>
              <a:t> Unexpectedly:</a:t>
            </a:r>
          </a:p>
          <a:p>
            <a:pPr lvl="0"/>
            <a:r>
              <a:rPr lang="en-US" dirty="0"/>
              <a:t>Payroll calculation fails</a:t>
            </a:r>
          </a:p>
          <a:p>
            <a:pPr lvl="0"/>
            <a:r>
              <a:rPr lang="en-US" dirty="0"/>
              <a:t>Reporting module crashes</a:t>
            </a:r>
          </a:p>
          <a:p>
            <a:pPr marL="0" indent="0">
              <a:buNone/>
            </a:pPr>
            <a:r>
              <a:rPr lang="en-US" dirty="0"/>
              <a:t>Reason: Modules were tightly connected.</a:t>
            </a:r>
          </a:p>
        </p:txBody>
      </p:sp>
    </p:spTree>
    <p:extLst>
      <p:ext uri="{BB962C8B-B14F-4D97-AF65-F5344CB8AC3E}">
        <p14:creationId xmlns:p14="http://schemas.microsoft.com/office/powerpoint/2010/main" val="26951097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2"/>
            <a:ext cx="7704667" cy="905255"/>
          </a:xfrm>
        </p:spPr>
        <p:txBody>
          <a:bodyPr/>
          <a:lstStyle/>
          <a:p>
            <a:r>
              <a:rPr lang="en-US" b="1" dirty="0"/>
              <a:t>Problem 4 – User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4" y="1938528"/>
            <a:ext cx="7704667" cy="406128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Users compare software to hardware.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pPr marL="0" indent="0">
              <a:buNone/>
            </a:pPr>
            <a:r>
              <a:rPr lang="en-US" dirty="0"/>
              <a:t>User says: “Just fix the login button quickly.”</a:t>
            </a:r>
          </a:p>
          <a:p>
            <a:pPr marL="0" indent="0">
              <a:buNone/>
            </a:pPr>
            <a:r>
              <a:rPr lang="en-US" dirty="0"/>
              <a:t>Reality: Fixing one issue may affect:</a:t>
            </a:r>
          </a:p>
          <a:p>
            <a:pPr lvl="0"/>
            <a:r>
              <a:rPr lang="en-US" dirty="0"/>
              <a:t>Authentication</a:t>
            </a:r>
          </a:p>
          <a:p>
            <a:pPr lvl="0"/>
            <a:r>
              <a:rPr lang="en-US" dirty="0"/>
              <a:t>Database</a:t>
            </a:r>
          </a:p>
          <a:p>
            <a:pPr lvl="0"/>
            <a:r>
              <a:rPr lang="en-US" dirty="0"/>
              <a:t>Security</a:t>
            </a:r>
          </a:p>
          <a:p>
            <a:pPr lvl="0"/>
            <a:r>
              <a:rPr lang="en-US" dirty="0"/>
              <a:t>API integration</a:t>
            </a:r>
          </a:p>
          <a:p>
            <a:pPr marL="0" indent="0">
              <a:buNone/>
            </a:pPr>
            <a:r>
              <a:rPr lang="en-US" dirty="0"/>
              <a:t>Software changes are interconnected.</a:t>
            </a:r>
          </a:p>
        </p:txBody>
      </p:sp>
    </p:spTree>
    <p:extLst>
      <p:ext uri="{BB962C8B-B14F-4D97-AF65-F5344CB8AC3E}">
        <p14:creationId xmlns:p14="http://schemas.microsoft.com/office/powerpoint/2010/main" val="40990618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2"/>
            <a:ext cx="7704667" cy="8595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Problem 5 – Continuous Change Requests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4" y="1917192"/>
            <a:ext cx="7704667" cy="333281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Users continuously request new features.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pPr marL="0" indent="0">
              <a:buNone/>
            </a:pPr>
            <a:r>
              <a:rPr lang="en-US" dirty="0"/>
              <a:t>After deploying LMS:</a:t>
            </a:r>
          </a:p>
          <a:p>
            <a:pPr marL="0" indent="0">
              <a:buNone/>
            </a:pPr>
            <a:r>
              <a:rPr lang="en-US" dirty="0"/>
              <a:t>Users request:</a:t>
            </a:r>
          </a:p>
          <a:p>
            <a:pPr lvl="0"/>
            <a:r>
              <a:rPr lang="en-US" dirty="0"/>
              <a:t>Dark mode</a:t>
            </a:r>
          </a:p>
          <a:p>
            <a:pPr lvl="0"/>
            <a:r>
              <a:rPr lang="en-US" dirty="0"/>
              <a:t>AI </a:t>
            </a:r>
            <a:r>
              <a:rPr lang="en-US" dirty="0" err="1"/>
              <a:t>chatbot</a:t>
            </a:r>
            <a:endParaRPr lang="en-US" dirty="0"/>
          </a:p>
          <a:p>
            <a:pPr lvl="0"/>
            <a:r>
              <a:rPr lang="en-US" dirty="0"/>
              <a:t>Online quizzes</a:t>
            </a:r>
          </a:p>
          <a:p>
            <a:pPr lvl="0"/>
            <a:r>
              <a:rPr lang="en-US" dirty="0"/>
              <a:t>Mobile app</a:t>
            </a:r>
          </a:p>
          <a:p>
            <a:pPr lvl="0"/>
            <a:r>
              <a:rPr lang="en-US" dirty="0"/>
              <a:t>Video lectures</a:t>
            </a:r>
          </a:p>
          <a:p>
            <a:pPr marL="0" indent="0">
              <a:buNone/>
            </a:pPr>
            <a:r>
              <a:rPr lang="en-US" dirty="0"/>
              <a:t>Maintenance never truly ends</a:t>
            </a:r>
          </a:p>
        </p:txBody>
      </p:sp>
    </p:spTree>
    <p:extLst>
      <p:ext uri="{BB962C8B-B14F-4D97-AF65-F5344CB8AC3E}">
        <p14:creationId xmlns:p14="http://schemas.microsoft.com/office/powerpoint/2010/main" val="31655179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6 – Regression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Fixing one bug may create another bug.</a:t>
            </a:r>
          </a:p>
          <a:p>
            <a:pPr marL="0" indent="0">
              <a:buNone/>
            </a:pPr>
            <a:r>
              <a:rPr lang="en-US" b="1" dirty="0"/>
              <a:t>Scenario</a:t>
            </a:r>
          </a:p>
          <a:p>
            <a:r>
              <a:rPr lang="en-US" dirty="0"/>
              <a:t>Developer fixes report export feature.</a:t>
            </a:r>
          </a:p>
          <a:p>
            <a:pPr marL="0" indent="0">
              <a:buNone/>
            </a:pPr>
            <a:r>
              <a:rPr lang="en-US" dirty="0"/>
              <a:t>Unexpectedly:</a:t>
            </a:r>
          </a:p>
          <a:p>
            <a:pPr lvl="0"/>
            <a:r>
              <a:rPr lang="en-US" dirty="0"/>
              <a:t>PDF generation breaks</a:t>
            </a:r>
          </a:p>
          <a:p>
            <a:pPr lvl="0"/>
            <a:r>
              <a:rPr lang="en-US" dirty="0"/>
              <a:t>Email attachments stop working</a:t>
            </a:r>
          </a:p>
          <a:p>
            <a:pPr marL="0" indent="0">
              <a:buNone/>
            </a:pPr>
            <a:r>
              <a:rPr lang="en-US" dirty="0"/>
              <a:t>Therefore regression testing is essential</a:t>
            </a:r>
          </a:p>
        </p:txBody>
      </p:sp>
    </p:spTree>
    <p:extLst>
      <p:ext uri="{BB962C8B-B14F-4D97-AF65-F5344CB8AC3E}">
        <p14:creationId xmlns:p14="http://schemas.microsoft.com/office/powerpoint/2010/main" val="7133233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Mini Case Study – Smart Parking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/>
            <a:r>
              <a:t>Payment failures reported</a:t>
            </a:r>
          </a:p>
          <a:p>
            <a:pPr algn="l"/>
            <a:r>
              <a:t>Government introduces new regulations</a:t>
            </a:r>
          </a:p>
          <a:p>
            <a:pPr algn="l"/>
            <a:r>
              <a:t>Users request mobile notifications</a:t>
            </a:r>
          </a:p>
          <a:p>
            <a:pPr algn="l"/>
            <a:r>
              <a:t>System becomes slow during rush hours</a:t>
            </a:r>
          </a:p>
          <a:p>
            <a:pPr algn="l"/>
            <a:r>
              <a:t>Security vulnerabilities discovered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/>
            <a:r>
              <a:t>Maintenance consumes major software budget</a:t>
            </a:r>
          </a:p>
          <a:p>
            <a:pPr algn="l"/>
            <a:r>
              <a:t>Software evolves continuously</a:t>
            </a:r>
          </a:p>
          <a:p>
            <a:pPr algn="l"/>
            <a:r>
              <a:t>Prioritization is necessary</a:t>
            </a:r>
          </a:p>
          <a:p>
            <a:pPr algn="l"/>
            <a:r>
              <a:t>Good design reduces future cost</a:t>
            </a:r>
          </a:p>
          <a:p>
            <a:pPr algn="l"/>
            <a:r>
              <a:t>Maintenance is harder than many expect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ctrTitle"/>
          </p:nvPr>
        </p:nvSpPr>
        <p:spPr>
          <a:xfrm>
            <a:off x="1981200" y="914400"/>
            <a:ext cx="84582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Advance Software Engineering</a:t>
            </a:r>
            <a:endParaRPr altLang="en-US" dirty="0"/>
          </a:p>
        </p:txBody>
      </p:sp>
      <p:sp>
        <p:nvSpPr>
          <p:cNvPr id="8195" name="Subtitle 1"/>
          <p:cNvSpPr>
            <a:spLocks noGrp="1"/>
          </p:cNvSpPr>
          <p:nvPr>
            <p:ph type="subTitle" idx="1"/>
          </p:nvPr>
        </p:nvSpPr>
        <p:spPr>
          <a:xfrm>
            <a:off x="3352801" y="3657601"/>
            <a:ext cx="6858001" cy="1676400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sz="4000" dirty="0"/>
              <a:t>Software Quality Assurance</a:t>
            </a:r>
          </a:p>
          <a:p>
            <a:endParaRPr lang="en-US" altLang="en-US" sz="4000" dirty="0"/>
          </a:p>
          <a:p>
            <a:r>
              <a:rPr lang="en-US" altLang="en-US" sz="3600" dirty="0"/>
              <a:t>Ms. Shehla Saeed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Software Quality Assurance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What is Quality?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22098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600"/>
              <a:t>Software Quality Assurance</a:t>
            </a:r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xfrm>
            <a:off x="2209800" y="1219200"/>
            <a:ext cx="7924800" cy="5029200"/>
          </a:xfrm>
        </p:spPr>
        <p:txBody>
          <a:bodyPr/>
          <a:lstStyle/>
          <a:p>
            <a:pPr eaLnBrk="1" hangingPunct="1"/>
            <a:r>
              <a:rPr lang="en-US" altLang="en-US"/>
              <a:t>What is “quality”?</a:t>
            </a:r>
          </a:p>
          <a:p>
            <a:pPr eaLnBrk="1" hangingPunct="1"/>
            <a:r>
              <a:rPr lang="en-US" altLang="en-US"/>
              <a:t>Software quality determines </a:t>
            </a:r>
            <a:r>
              <a:rPr lang="en-US" altLang="en-US" b="1"/>
              <a:t>how well a system works, how reliable it is, and how satisfied users are</a:t>
            </a:r>
            <a:r>
              <a:rPr lang="en-US" altLang="en-US"/>
              <a:t>.</a:t>
            </a:r>
          </a:p>
          <a:p>
            <a:pPr eaLnBrk="1" hangingPunct="1"/>
            <a:r>
              <a:rPr lang="en-US" altLang="en-US"/>
              <a:t> In real life, software is used in </a:t>
            </a:r>
            <a:r>
              <a:rPr lang="en-US" altLang="en-US" b="1"/>
              <a:t>critical systems</a:t>
            </a:r>
            <a:r>
              <a:rPr lang="en-US" altLang="en-US"/>
              <a:t>, not just games or websites.</a:t>
            </a:r>
          </a:p>
          <a:p>
            <a:pPr eaLnBrk="1" hangingPunct="1"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High-quality software means:</a:t>
            </a:r>
            <a:endParaRPr lang="en-US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537178" y="2133600"/>
            <a:ext cx="7704667" cy="3332816"/>
          </a:xfrm>
        </p:spPr>
        <p:txBody>
          <a:bodyPr/>
          <a:lstStyle/>
          <a:p>
            <a:endParaRPr lang="en-US" altLang="en-US" dirty="0"/>
          </a:p>
          <a:p>
            <a:r>
              <a:rPr lang="en-US" altLang="en-US" dirty="0"/>
              <a:t>Correct results</a:t>
            </a:r>
          </a:p>
          <a:p>
            <a:r>
              <a:rPr lang="en-US" altLang="en-US" dirty="0"/>
              <a:t>Reliable performance</a:t>
            </a:r>
          </a:p>
          <a:p>
            <a:r>
              <a:rPr lang="en-US" altLang="en-US" dirty="0"/>
              <a:t>Ease of use</a:t>
            </a:r>
          </a:p>
          <a:p>
            <a:r>
              <a:rPr lang="en-US" altLang="en-US" dirty="0"/>
              <a:t>Safety and security</a:t>
            </a:r>
          </a:p>
          <a:p>
            <a:r>
              <a:rPr lang="en-US" altLang="en-US" dirty="0"/>
              <a:t>Long-term maintainability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Low-quality software leads to:</a:t>
            </a:r>
            <a:endParaRPr lang="en-US" altLang="en-US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2506134" y="1905000"/>
            <a:ext cx="7704667" cy="4628216"/>
          </a:xfrm>
        </p:spPr>
        <p:txBody>
          <a:bodyPr>
            <a:normAutofit/>
          </a:bodyPr>
          <a:lstStyle/>
          <a:p>
            <a:r>
              <a:rPr lang="en-US" altLang="en-US" dirty="0"/>
              <a:t>System failures</a:t>
            </a:r>
          </a:p>
          <a:p>
            <a:r>
              <a:rPr lang="en-US" altLang="en-US" dirty="0"/>
              <a:t>Financial loss</a:t>
            </a:r>
          </a:p>
          <a:p>
            <a:r>
              <a:rPr lang="en-US" altLang="en-US" dirty="0"/>
              <a:t>Security breaches</a:t>
            </a:r>
          </a:p>
          <a:p>
            <a:r>
              <a:rPr lang="en-US" altLang="en-US" dirty="0"/>
              <a:t>Loss of trust</a:t>
            </a:r>
          </a:p>
          <a:p>
            <a:r>
              <a:rPr lang="en-US" altLang="en-US" dirty="0"/>
              <a:t>Legal and ethical issues</a:t>
            </a:r>
          </a:p>
          <a:p>
            <a:r>
              <a:rPr lang="en-US" altLang="en-US" dirty="0"/>
              <a:t> </a:t>
            </a:r>
            <a:r>
              <a:rPr lang="en-US" altLang="en-US" b="1" dirty="0"/>
              <a:t>Example:</a:t>
            </a:r>
            <a:br>
              <a:rPr lang="en-US" altLang="en-US" dirty="0"/>
            </a:br>
            <a:r>
              <a:rPr lang="en-US" altLang="en-US" dirty="0"/>
              <a:t>A banking app that crashes during money transfer causes </a:t>
            </a:r>
            <a:r>
              <a:rPr lang="en-US" altLang="en-US" b="1" dirty="0"/>
              <a:t>loss of customer trust</a:t>
            </a:r>
            <a:r>
              <a:rPr lang="en-US" altLang="en-US" dirty="0"/>
              <a:t> and </a:t>
            </a:r>
            <a:r>
              <a:rPr lang="en-US" altLang="en-US" b="1" dirty="0"/>
              <a:t>financial risk</a:t>
            </a:r>
            <a:r>
              <a:rPr lang="en-US" altLang="en-US" dirty="0"/>
              <a:t>, even if the crash happens rarely.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2506134" y="400757"/>
            <a:ext cx="7704667" cy="1981200"/>
          </a:xfrm>
        </p:spPr>
        <p:txBody>
          <a:bodyPr/>
          <a:lstStyle/>
          <a:p>
            <a:r>
              <a:rPr lang="en-US" altLang="en-US"/>
              <a:t>What is Software Quality?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2506133" y="1905000"/>
            <a:ext cx="7704667" cy="4247216"/>
          </a:xfrm>
        </p:spPr>
        <p:txBody>
          <a:bodyPr>
            <a:normAutofit/>
          </a:bodyPr>
          <a:lstStyle/>
          <a:p>
            <a:r>
              <a:rPr lang="en-US" b="1" dirty="0"/>
              <a:t>IEEE Definition</a:t>
            </a:r>
          </a:p>
          <a:p>
            <a:pPr marL="0" indent="0">
              <a:buNone/>
            </a:pPr>
            <a:r>
              <a:rPr lang="en-US" dirty="0"/>
              <a:t>Quality is the degree to which a system or component meets:</a:t>
            </a:r>
          </a:p>
          <a:p>
            <a:pPr lvl="1"/>
            <a:r>
              <a:rPr lang="en-US" dirty="0"/>
              <a:t>Specified requirements</a:t>
            </a:r>
          </a:p>
          <a:p>
            <a:pPr lvl="1"/>
            <a:r>
              <a:rPr lang="en-US" dirty="0"/>
              <a:t>Customer expectations and needs</a:t>
            </a:r>
          </a:p>
          <a:p>
            <a:r>
              <a:rPr lang="en-US" b="1" dirty="0"/>
              <a:t>ISO Definition</a:t>
            </a:r>
          </a:p>
          <a:p>
            <a:pPr marL="0" indent="0">
              <a:buNone/>
            </a:pPr>
            <a:r>
              <a:rPr lang="en-US" dirty="0"/>
              <a:t>Quality is the totality of characteristics of a product that affects its ability to satisfy stated or implied needs.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2209800" y="762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 sz="3600"/>
              <a:t>Software Quality Assurance</a:t>
            </a:r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xfrm>
            <a:off x="2209800" y="990600"/>
            <a:ext cx="7848600" cy="5410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Quality Criteria include:</a:t>
            </a:r>
          </a:p>
          <a:p>
            <a:pPr lvl="1" eaLnBrk="1" hangingPunct="1">
              <a:lnSpc>
                <a:spcPct val="75000"/>
              </a:lnSpc>
            </a:pPr>
            <a:r>
              <a:rPr lang="en-US" altLang="en-US" sz="2800" dirty="0"/>
              <a:t>Correctness                           </a:t>
            </a:r>
          </a:p>
          <a:p>
            <a:pPr lvl="1" eaLnBrk="1" hangingPunct="1">
              <a:lnSpc>
                <a:spcPct val="75000"/>
              </a:lnSpc>
            </a:pPr>
            <a:r>
              <a:rPr lang="en-US" altLang="en-US" sz="2800" dirty="0"/>
              <a:t>Efficiency</a:t>
            </a:r>
          </a:p>
          <a:p>
            <a:pPr lvl="1" eaLnBrk="1" hangingPunct="1">
              <a:lnSpc>
                <a:spcPct val="75000"/>
              </a:lnSpc>
            </a:pPr>
            <a:r>
              <a:rPr lang="en-US" altLang="en-US" sz="2800" dirty="0"/>
              <a:t>Flexibility</a:t>
            </a:r>
          </a:p>
          <a:p>
            <a:pPr lvl="1" eaLnBrk="1" hangingPunct="1">
              <a:lnSpc>
                <a:spcPct val="75000"/>
              </a:lnSpc>
            </a:pPr>
            <a:r>
              <a:rPr lang="en-US" altLang="en-US" sz="2800" dirty="0"/>
              <a:t>Maintainability</a:t>
            </a:r>
          </a:p>
          <a:p>
            <a:pPr lvl="1" eaLnBrk="1" hangingPunct="1">
              <a:lnSpc>
                <a:spcPct val="75000"/>
              </a:lnSpc>
            </a:pPr>
            <a:r>
              <a:rPr lang="en-US" altLang="en-US" sz="2800" dirty="0"/>
              <a:t>Portability</a:t>
            </a:r>
          </a:p>
          <a:p>
            <a:pPr lvl="1" eaLnBrk="1" hangingPunct="1">
              <a:lnSpc>
                <a:spcPct val="75000"/>
              </a:lnSpc>
            </a:pPr>
            <a:r>
              <a:rPr lang="en-US" altLang="en-US" sz="2800" dirty="0"/>
              <a:t>Reliability</a:t>
            </a:r>
          </a:p>
          <a:p>
            <a:pPr lvl="1" eaLnBrk="1" hangingPunct="1">
              <a:lnSpc>
                <a:spcPct val="75000"/>
              </a:lnSpc>
            </a:pPr>
            <a:r>
              <a:rPr lang="en-US" altLang="en-US" sz="2800" dirty="0"/>
              <a:t>Reusability</a:t>
            </a:r>
          </a:p>
          <a:p>
            <a:pPr lvl="1" eaLnBrk="1" hangingPunct="1">
              <a:lnSpc>
                <a:spcPct val="75000"/>
              </a:lnSpc>
            </a:pPr>
            <a:r>
              <a:rPr lang="en-US" altLang="en-US" sz="2800" dirty="0"/>
              <a:t>Testability</a:t>
            </a:r>
          </a:p>
          <a:p>
            <a:pPr lvl="1" eaLnBrk="1" hangingPunct="1">
              <a:lnSpc>
                <a:spcPct val="75000"/>
              </a:lnSpc>
            </a:pPr>
            <a:r>
              <a:rPr lang="en-US" altLang="en-US" sz="2800" dirty="0"/>
              <a:t>Usability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609600"/>
            <a:ext cx="7772400" cy="6096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en-US" altLang="en-PK" b="1" dirty="0"/>
              <a:t>1. Correctness</a:t>
            </a:r>
          </a:p>
          <a:p>
            <a:pPr>
              <a:defRPr/>
            </a:pPr>
            <a:r>
              <a:rPr lang="en-US" altLang="en-PK" dirty="0"/>
              <a:t>The software performs </a:t>
            </a:r>
            <a:r>
              <a:rPr lang="en-US" altLang="en-PK" b="1" dirty="0"/>
              <a:t>exactly according to the specified requirements</a:t>
            </a:r>
            <a:r>
              <a:rPr lang="en-US" altLang="en-PK" dirty="0"/>
              <a:t> and produces correct results.</a:t>
            </a:r>
          </a:p>
          <a:p>
            <a:r>
              <a:rPr lang="en-US" altLang="en-PK" b="1" dirty="0"/>
              <a:t>Example:</a:t>
            </a:r>
            <a:br>
              <a:rPr lang="en-US" altLang="en-PK" dirty="0"/>
            </a:br>
            <a:r>
              <a:rPr lang="en-US" dirty="0"/>
              <a:t>An online banking system transfers </a:t>
            </a:r>
            <a:r>
              <a:rPr lang="en-US" dirty="0" err="1"/>
              <a:t>Rs</a:t>
            </a:r>
            <a:r>
              <a:rPr lang="en-US" dirty="0"/>
              <a:t>. 5,000 from one account to another.</a:t>
            </a:r>
          </a:p>
          <a:p>
            <a:r>
              <a:rPr lang="en-US" dirty="0"/>
              <a:t>Correct behavior:</a:t>
            </a:r>
          </a:p>
          <a:p>
            <a:pPr lvl="1"/>
            <a:r>
              <a:rPr lang="en-US" dirty="0"/>
              <a:t>Sender’s balance decreases by </a:t>
            </a:r>
            <a:r>
              <a:rPr lang="en-US" dirty="0" err="1"/>
              <a:t>Rs</a:t>
            </a:r>
            <a:r>
              <a:rPr lang="en-US" dirty="0"/>
              <a:t>. 5,000 </a:t>
            </a:r>
          </a:p>
          <a:p>
            <a:pPr lvl="1"/>
            <a:r>
              <a:rPr lang="en-US" dirty="0"/>
              <a:t>Receiver’s balance increases by </a:t>
            </a:r>
            <a:r>
              <a:rPr lang="en-US" dirty="0" err="1"/>
              <a:t>Rs</a:t>
            </a:r>
            <a:r>
              <a:rPr lang="en-US" dirty="0"/>
              <a:t>. 5,000 </a:t>
            </a:r>
          </a:p>
          <a:p>
            <a:pPr lvl="1"/>
            <a:r>
              <a:rPr lang="en-US" dirty="0"/>
              <a:t>If the system deducts </a:t>
            </a:r>
            <a:r>
              <a:rPr lang="en-US" dirty="0" err="1"/>
              <a:t>Rs</a:t>
            </a:r>
            <a:r>
              <a:rPr lang="en-US" dirty="0"/>
              <a:t>. 5,500 or transfers money to the wrong account, the software is incorrect.</a:t>
            </a:r>
          </a:p>
          <a:p>
            <a:pPr marL="0" indent="0">
              <a:buNone/>
              <a:defRPr/>
            </a:pPr>
            <a:r>
              <a:rPr lang="en-US" altLang="en-PK" b="1" dirty="0"/>
              <a:t>2. Efficiency</a:t>
            </a:r>
          </a:p>
          <a:p>
            <a:pPr>
              <a:defRPr/>
            </a:pPr>
            <a:r>
              <a:rPr lang="en-US" altLang="en-PK" dirty="0"/>
              <a:t>The software uses </a:t>
            </a:r>
            <a:r>
              <a:rPr lang="en-US" altLang="en-PK" b="1" dirty="0"/>
              <a:t>minimum resources</a:t>
            </a:r>
            <a:r>
              <a:rPr lang="en-US" altLang="en-PK" dirty="0"/>
              <a:t> (time, memory, CPU) to perform its tasks.</a:t>
            </a:r>
          </a:p>
          <a:p>
            <a:pPr>
              <a:defRPr/>
            </a:pPr>
            <a:r>
              <a:rPr lang="en-US" altLang="en-PK" b="1" dirty="0"/>
              <a:t>Example:</a:t>
            </a:r>
            <a:br>
              <a:rPr lang="en-US" altLang="en-PK" dirty="0"/>
            </a:br>
            <a:r>
              <a:rPr lang="en-US" altLang="en-PK" dirty="0"/>
              <a:t>A mobile app that opens in </a:t>
            </a:r>
            <a:r>
              <a:rPr lang="en-US" altLang="en-PK" b="1" dirty="0"/>
              <a:t>2 seconds</a:t>
            </a:r>
            <a:r>
              <a:rPr lang="en-US" altLang="en-PK" dirty="0"/>
              <a:t> instead of </a:t>
            </a:r>
            <a:r>
              <a:rPr lang="en-US" altLang="en-PK" b="1" dirty="0"/>
              <a:t>10 seconds</a:t>
            </a:r>
            <a:r>
              <a:rPr lang="en-US" altLang="en-PK" dirty="0"/>
              <a:t> is more efficient.</a:t>
            </a:r>
          </a:p>
          <a:p>
            <a:pPr>
              <a:defRPr/>
            </a:pPr>
            <a:endParaRPr lang="en-PK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9300" y="571500"/>
            <a:ext cx="8153400" cy="571500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altLang="en-PK" b="1" dirty="0"/>
              <a:t>3. Flexibility</a:t>
            </a:r>
          </a:p>
          <a:p>
            <a:pPr>
              <a:defRPr/>
            </a:pPr>
            <a:r>
              <a:rPr lang="en-US" altLang="en-PK" dirty="0"/>
              <a:t>The ease with which software can be </a:t>
            </a:r>
            <a:r>
              <a:rPr lang="en-US" altLang="en-PK" b="1" dirty="0"/>
              <a:t>modified or extended</a:t>
            </a:r>
            <a:r>
              <a:rPr lang="en-US" altLang="en-PK" dirty="0"/>
              <a:t> to meet new requirements.</a:t>
            </a:r>
          </a:p>
          <a:p>
            <a:pPr>
              <a:defRPr/>
            </a:pPr>
            <a:r>
              <a:rPr lang="en-US" altLang="en-PK" b="1" dirty="0"/>
              <a:t>Example:</a:t>
            </a:r>
            <a:br>
              <a:rPr lang="en-US" altLang="en-PK" dirty="0"/>
            </a:br>
            <a:r>
              <a:rPr lang="en-US" altLang="en-PK" dirty="0"/>
              <a:t>An LMS that allows adding </a:t>
            </a:r>
            <a:r>
              <a:rPr lang="en-US" altLang="en-PK" b="1" dirty="0"/>
              <a:t>new courses or grading schemes</a:t>
            </a:r>
            <a:r>
              <a:rPr lang="en-US" altLang="en-PK" dirty="0"/>
              <a:t> without redesigning the whole system.</a:t>
            </a:r>
          </a:p>
          <a:p>
            <a:pPr marL="0" indent="0">
              <a:buNone/>
              <a:defRPr/>
            </a:pPr>
            <a:r>
              <a:rPr lang="en-US" altLang="en-PK" b="1" dirty="0"/>
              <a:t>4. Maintainability</a:t>
            </a:r>
          </a:p>
          <a:p>
            <a:pPr>
              <a:defRPr/>
            </a:pPr>
            <a:r>
              <a:rPr lang="en-US" altLang="en-PK" dirty="0"/>
              <a:t>How easily the software can be </a:t>
            </a:r>
            <a:r>
              <a:rPr lang="en-US" altLang="en-PK" b="1" dirty="0"/>
              <a:t>fixed, improved, or updated</a:t>
            </a:r>
            <a:r>
              <a:rPr lang="en-US" altLang="en-PK" dirty="0"/>
              <a:t> after deployment.</a:t>
            </a:r>
          </a:p>
          <a:p>
            <a:pPr>
              <a:defRPr/>
            </a:pPr>
            <a:r>
              <a:rPr lang="en-US" altLang="en-PK" b="1" dirty="0"/>
              <a:t>Example:</a:t>
            </a:r>
            <a:br>
              <a:rPr lang="en-US" altLang="en-PK" dirty="0"/>
            </a:br>
            <a:r>
              <a:rPr lang="en-US" altLang="en-PK" dirty="0"/>
              <a:t>A bug in a banking app is fixed quickly because the code is well-organized and documented.</a:t>
            </a:r>
          </a:p>
          <a:p>
            <a:pPr>
              <a:defRPr/>
            </a:pPr>
            <a:endParaRPr lang="en-US" altLang="en-PK" dirty="0"/>
          </a:p>
          <a:p>
            <a:pPr>
              <a:defRPr/>
            </a:pPr>
            <a:endParaRPr lang="en-PK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0" y="533400"/>
            <a:ext cx="8077200" cy="563880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altLang="en-PK" b="1" dirty="0"/>
              <a:t>5. Portability</a:t>
            </a:r>
            <a:br>
              <a:rPr lang="en-US" altLang="en-PK" dirty="0"/>
            </a:br>
            <a:r>
              <a:rPr lang="en-US" altLang="en-PK" dirty="0"/>
              <a:t>The ability of software to run on </a:t>
            </a:r>
            <a:r>
              <a:rPr lang="en-US" altLang="en-PK" b="1" dirty="0"/>
              <a:t>different platforms or environments</a:t>
            </a:r>
            <a:r>
              <a:rPr lang="en-US" altLang="en-PK" dirty="0"/>
              <a:t> with little or no change.</a:t>
            </a:r>
          </a:p>
          <a:p>
            <a:pPr>
              <a:defRPr/>
            </a:pPr>
            <a:r>
              <a:rPr lang="en-US" altLang="en-PK" b="1" dirty="0"/>
              <a:t>Example:</a:t>
            </a:r>
            <a:br>
              <a:rPr lang="en-US" altLang="en-PK" dirty="0"/>
            </a:br>
            <a:r>
              <a:rPr lang="en-US" altLang="en-PK" dirty="0"/>
              <a:t>A game that runs on </a:t>
            </a:r>
            <a:r>
              <a:rPr lang="en-US" altLang="en-PK" b="1" dirty="0"/>
              <a:t>Windows, macOS, and Linux</a:t>
            </a:r>
            <a:r>
              <a:rPr lang="en-US" altLang="en-PK" dirty="0"/>
              <a:t> without modification.</a:t>
            </a:r>
          </a:p>
          <a:p>
            <a:pPr marL="0" indent="0">
              <a:buNone/>
              <a:defRPr/>
            </a:pPr>
            <a:r>
              <a:rPr lang="en-US" altLang="en-PK" b="1" dirty="0"/>
              <a:t>6. Reliability</a:t>
            </a:r>
          </a:p>
          <a:p>
            <a:pPr>
              <a:defRPr/>
            </a:pPr>
            <a:r>
              <a:rPr lang="en-US" altLang="en-PK" dirty="0"/>
              <a:t>The ability of software to </a:t>
            </a:r>
            <a:r>
              <a:rPr lang="en-US" altLang="en-PK" b="1" dirty="0"/>
              <a:t>perform consistently without failure</a:t>
            </a:r>
            <a:r>
              <a:rPr lang="en-US" altLang="en-PK" dirty="0"/>
              <a:t> over time.</a:t>
            </a:r>
          </a:p>
          <a:p>
            <a:pPr>
              <a:defRPr/>
            </a:pPr>
            <a:r>
              <a:rPr lang="en-US" altLang="en-PK" b="1" dirty="0"/>
              <a:t>Example:</a:t>
            </a:r>
            <a:br>
              <a:rPr lang="en-US" altLang="en-PK" dirty="0"/>
            </a:br>
            <a:r>
              <a:rPr lang="en-US" altLang="en-PK" dirty="0"/>
              <a:t>An ATM system that works </a:t>
            </a:r>
            <a:r>
              <a:rPr lang="en-US" altLang="en-PK" b="1" dirty="0"/>
              <a:t>24/7</a:t>
            </a:r>
            <a:r>
              <a:rPr lang="en-US" altLang="en-PK" dirty="0"/>
              <a:t> without crashing is reliable.</a:t>
            </a:r>
          </a:p>
          <a:p>
            <a:pPr>
              <a:defRPr/>
            </a:pPr>
            <a:endParaRPr lang="en-PK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838200"/>
            <a:ext cx="8305800" cy="5715000"/>
          </a:xfrm>
        </p:spPr>
        <p:txBody>
          <a:bodyPr>
            <a:normAutofit fontScale="92500"/>
          </a:bodyPr>
          <a:lstStyle/>
          <a:p>
            <a:pPr marL="0" indent="0">
              <a:buNone/>
              <a:defRPr/>
            </a:pPr>
            <a:r>
              <a:rPr lang="en-US" altLang="en-PK" b="1" dirty="0"/>
              <a:t>7. Reusability</a:t>
            </a:r>
          </a:p>
          <a:p>
            <a:pPr marL="0" indent="0">
              <a:buNone/>
              <a:defRPr/>
            </a:pPr>
            <a:r>
              <a:rPr lang="en-US" altLang="en-PK" dirty="0"/>
              <a:t>The extent to which software components can be </a:t>
            </a:r>
            <a:r>
              <a:rPr lang="en-US" altLang="en-PK" b="1" dirty="0"/>
              <a:t>used in other applications</a:t>
            </a:r>
            <a:r>
              <a:rPr lang="en-US" altLang="en-PK" dirty="0"/>
              <a:t>.</a:t>
            </a:r>
          </a:p>
          <a:p>
            <a:pPr>
              <a:defRPr/>
            </a:pPr>
            <a:r>
              <a:rPr lang="en-US" altLang="en-PK" b="1" dirty="0"/>
              <a:t>Example: </a:t>
            </a:r>
            <a:r>
              <a:rPr lang="en-US" altLang="en-PK" dirty="0"/>
              <a:t>A login module reused in multiple applications like LMS, ERP, and portals.</a:t>
            </a:r>
          </a:p>
          <a:p>
            <a:pPr marL="0" indent="0">
              <a:buNone/>
              <a:defRPr/>
            </a:pPr>
            <a:r>
              <a:rPr lang="en-US" altLang="en-PK" b="1" dirty="0"/>
              <a:t>8. Testability</a:t>
            </a:r>
          </a:p>
          <a:p>
            <a:pPr marL="0" indent="0">
              <a:buNone/>
              <a:defRPr/>
            </a:pPr>
            <a:r>
              <a:rPr lang="en-US" altLang="en-PK" dirty="0"/>
              <a:t>How easily the software can be </a:t>
            </a:r>
            <a:r>
              <a:rPr lang="en-US" altLang="en-PK" b="1" dirty="0"/>
              <a:t>tested</a:t>
            </a:r>
            <a:r>
              <a:rPr lang="en-US" altLang="en-PK" dirty="0"/>
              <a:t> to find defects.</a:t>
            </a:r>
          </a:p>
          <a:p>
            <a:pPr>
              <a:defRPr/>
            </a:pPr>
            <a:r>
              <a:rPr lang="en-US" altLang="en-PK" b="1" dirty="0"/>
              <a:t>Example: </a:t>
            </a:r>
            <a:r>
              <a:rPr lang="en-US" altLang="en-PK" dirty="0"/>
              <a:t>A system with clear inputs and outputs makes it easy to write </a:t>
            </a:r>
            <a:r>
              <a:rPr lang="en-US" altLang="en-PK" b="1" dirty="0"/>
              <a:t>unit test cases</a:t>
            </a:r>
            <a:r>
              <a:rPr lang="en-US" altLang="en-PK" dirty="0"/>
              <a:t>.</a:t>
            </a:r>
          </a:p>
          <a:p>
            <a:pPr marL="0" indent="0">
              <a:buNone/>
              <a:defRPr/>
            </a:pPr>
            <a:r>
              <a:rPr lang="en-US" altLang="en-PK" b="1" dirty="0"/>
              <a:t>9. Usability</a:t>
            </a:r>
          </a:p>
          <a:p>
            <a:pPr marL="0" indent="0">
              <a:buNone/>
              <a:defRPr/>
            </a:pPr>
            <a:r>
              <a:rPr lang="en-US" altLang="en-PK" dirty="0"/>
              <a:t>How easy and comfortable the software is for </a:t>
            </a:r>
            <a:r>
              <a:rPr lang="en-US" altLang="en-PK" b="1" dirty="0"/>
              <a:t>users to learn and use</a:t>
            </a:r>
            <a:r>
              <a:rPr lang="en-US" altLang="en-PK" dirty="0"/>
              <a:t>.</a:t>
            </a:r>
          </a:p>
          <a:p>
            <a:pPr>
              <a:defRPr/>
            </a:pPr>
            <a:r>
              <a:rPr lang="en-US" altLang="en-PK" b="1" dirty="0"/>
              <a:t>Example: </a:t>
            </a:r>
            <a:r>
              <a:rPr lang="en-US" altLang="en-PK" dirty="0"/>
              <a:t>A food delivery app where users can place an order </a:t>
            </a:r>
            <a:r>
              <a:rPr lang="en-US" altLang="en-PK" b="1" dirty="0"/>
              <a:t>without instructions</a:t>
            </a:r>
            <a:r>
              <a:rPr lang="en-US" altLang="en-PK" dirty="0"/>
              <a:t> is highly usable.</a:t>
            </a:r>
          </a:p>
          <a:p>
            <a:pPr>
              <a:defRPr/>
            </a:pPr>
            <a:endParaRPr lang="en-PK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2"/>
            <a:ext cx="7704667" cy="12191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Scenario: Online Food Delivery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3" y="2133600"/>
            <a:ext cx="7704667" cy="37900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Suppose students order food through an app.</a:t>
            </a:r>
          </a:p>
          <a:p>
            <a:r>
              <a:rPr lang="en-US" dirty="0"/>
              <a:t>If the app crashes during payment →……… issue</a:t>
            </a:r>
          </a:p>
          <a:p>
            <a:r>
              <a:rPr lang="en-US" dirty="0"/>
              <a:t>If order tracking is confusing → …………issue</a:t>
            </a:r>
          </a:p>
          <a:p>
            <a:r>
              <a:rPr lang="en-US" dirty="0"/>
              <a:t>If app becomes slow during dinner time → ………issue</a:t>
            </a:r>
          </a:p>
          <a:p>
            <a:r>
              <a:rPr lang="en-US" dirty="0"/>
              <a:t>If developers cannot update menu easily → ………issue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9592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Software Quality Assurance (SQA)?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2506134" y="2209800"/>
            <a:ext cx="7704667" cy="33328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PK" altLang="en-PK" sz="2800" dirty="0"/>
              <a:t>Systematic activities ensuring software is fit for use</a:t>
            </a:r>
          </a:p>
          <a:p>
            <a:pPr marL="0" indent="0">
              <a:buNone/>
              <a:defRPr/>
            </a:pPr>
            <a:r>
              <a:rPr lang="en-PK" altLang="en-PK" sz="2800" dirty="0"/>
              <a:t>Focus</a:t>
            </a:r>
            <a:r>
              <a:rPr lang="en-US" altLang="en-PK" sz="2800" dirty="0"/>
              <a:t> on monitoring:</a:t>
            </a:r>
            <a:endParaRPr lang="en-PK" altLang="en-PK" sz="2800" dirty="0"/>
          </a:p>
          <a:p>
            <a:pPr>
              <a:defRPr/>
            </a:pPr>
            <a:r>
              <a:rPr lang="en-PK" altLang="en-PK" sz="2800" dirty="0"/>
              <a:t> Process quality</a:t>
            </a:r>
          </a:p>
          <a:p>
            <a:pPr>
              <a:defRPr/>
            </a:pPr>
            <a:r>
              <a:rPr lang="en-PK" altLang="en-PK" sz="2800" dirty="0"/>
              <a:t> Product quality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Main Goals of SQA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06134" y="2286000"/>
            <a:ext cx="7704667" cy="3332816"/>
          </a:xfrm>
        </p:spPr>
        <p:txBody>
          <a:bodyPr>
            <a:normAutofit/>
          </a:bodyPr>
          <a:lstStyle/>
          <a:p>
            <a:r>
              <a:rPr lang="en-US" sz="2800" dirty="0"/>
              <a:t>Prevent defects before software reaches users</a:t>
            </a:r>
          </a:p>
          <a:p>
            <a:r>
              <a:rPr lang="en-US" sz="2800" dirty="0"/>
              <a:t>Improve development process</a:t>
            </a:r>
          </a:p>
          <a:p>
            <a:r>
              <a:rPr lang="en-US" sz="2800" dirty="0"/>
              <a:t>Ensure standards are followed</a:t>
            </a:r>
          </a:p>
          <a:p>
            <a:r>
              <a:rPr lang="en-US" sz="2800" dirty="0"/>
              <a:t>Increase customer confidence</a:t>
            </a:r>
          </a:p>
          <a:p>
            <a:r>
              <a:rPr lang="en-US" sz="2800" dirty="0"/>
              <a:t>Reduce maintenance cost</a:t>
            </a:r>
          </a:p>
        </p:txBody>
      </p:sp>
    </p:spTree>
    <p:extLst>
      <p:ext uri="{BB962C8B-B14F-4D97-AF65-F5344CB8AC3E}">
        <p14:creationId xmlns:p14="http://schemas.microsoft.com/office/powerpoint/2010/main" val="39445741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Software Testing?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Testing checks whether software behaves as expected</a:t>
            </a:r>
          </a:p>
          <a:p>
            <a:pPr>
              <a:defRPr sz="2000"/>
            </a:pPr>
            <a:r>
              <a:rPr sz="2800" dirty="0"/>
              <a:t>Goal is to identify defects before users find them</a:t>
            </a:r>
          </a:p>
          <a:p>
            <a:pPr>
              <a:defRPr sz="2000"/>
            </a:pPr>
            <a:r>
              <a:rPr sz="2800" dirty="0"/>
              <a:t>Testing improves reliability and user confidence</a:t>
            </a:r>
          </a:p>
        </p:txBody>
      </p:sp>
    </p:spTree>
    <p:extLst>
      <p:ext uri="{BB962C8B-B14F-4D97-AF65-F5344CB8AC3E}">
        <p14:creationId xmlns:p14="http://schemas.microsoft.com/office/powerpoint/2010/main" val="35503183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of Software Testing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06134" y="2667000"/>
            <a:ext cx="7704667" cy="2895600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800" dirty="0"/>
              <a:t>Find defects and failures</a:t>
            </a:r>
          </a:p>
          <a:p>
            <a:pPr>
              <a:defRPr sz="2000"/>
            </a:pPr>
            <a:r>
              <a:rPr lang="en-US" sz="2800" dirty="0"/>
              <a:t>Verify system requirements</a:t>
            </a:r>
          </a:p>
          <a:p>
            <a:pPr>
              <a:defRPr sz="2000"/>
            </a:pPr>
            <a:r>
              <a:rPr lang="en-US" sz="2800" dirty="0"/>
              <a:t>Validate user expectations</a:t>
            </a:r>
          </a:p>
          <a:p>
            <a:pPr>
              <a:defRPr sz="2000"/>
            </a:pPr>
            <a:r>
              <a:rPr lang="en-US" sz="2800" dirty="0"/>
              <a:t>Reduce risk and improve quality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SQA vs Testing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506663" y="2666999"/>
          <a:ext cx="7704136" cy="27279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52068">
                  <a:extLst>
                    <a:ext uri="{9D8B030D-6E8A-4147-A177-3AD203B41FA5}">
                      <a16:colId xmlns:a16="http://schemas.microsoft.com/office/drawing/2014/main" val="2925595937"/>
                    </a:ext>
                  </a:extLst>
                </a:gridCol>
                <a:gridCol w="3852068">
                  <a:extLst>
                    <a:ext uri="{9D8B030D-6E8A-4147-A177-3AD203B41FA5}">
                      <a16:colId xmlns:a16="http://schemas.microsoft.com/office/drawing/2014/main" val="2035964837"/>
                    </a:ext>
                  </a:extLst>
                </a:gridCol>
              </a:tblGrid>
              <a:tr h="504878">
                <a:tc>
                  <a:txBody>
                    <a:bodyPr/>
                    <a:lstStyle/>
                    <a:p>
                      <a:r>
                        <a:rPr lang="en-US" sz="1800" b="1" dirty="0"/>
                        <a:t>SQA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5377470"/>
                  </a:ext>
                </a:extLst>
              </a:tr>
              <a:tr h="504878">
                <a:tc>
                  <a:txBody>
                    <a:bodyPr/>
                    <a:lstStyle/>
                    <a:p>
                      <a:r>
                        <a:rPr lang="en-US" sz="1800"/>
                        <a:t>Process-oriented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Product-oriented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1477413"/>
                  </a:ext>
                </a:extLst>
              </a:tr>
              <a:tr h="504878">
                <a:tc>
                  <a:txBody>
                    <a:bodyPr/>
                    <a:lstStyle/>
                    <a:p>
                      <a:r>
                        <a:rPr lang="en-US" sz="1800"/>
                        <a:t>Prevents defects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Finds defects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2255935"/>
                  </a:ext>
                </a:extLst>
              </a:tr>
              <a:tr h="708450">
                <a:tc>
                  <a:txBody>
                    <a:bodyPr/>
                    <a:lstStyle/>
                    <a:p>
                      <a:r>
                        <a:rPr lang="en-US" sz="1800"/>
                        <a:t>Applied throughout SDLC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Mostly after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478602"/>
                  </a:ext>
                </a:extLst>
              </a:tr>
              <a:tr h="504878">
                <a:tc>
                  <a:txBody>
                    <a:bodyPr/>
                    <a:lstStyle/>
                    <a:p>
                      <a:r>
                        <a:rPr lang="en-US" sz="1800" dirty="0"/>
                        <a:t>Includes audits and standards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Includes execution of software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851072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24001" y="20851"/>
            <a:ext cx="915635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b="1" i="1">
                <a:latin typeface="Times New Roman" panose="02020603050405020304" pitchFamily="18" charset="0"/>
              </a:rPr>
              <a:t>SQA vs Testing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b="1" i="1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194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3" y="304801"/>
            <a:ext cx="7704667" cy="1066799"/>
          </a:xfrm>
        </p:spPr>
        <p:txBody>
          <a:bodyPr>
            <a:normAutofit/>
          </a:bodyPr>
          <a:lstStyle/>
          <a:p>
            <a:r>
              <a:rPr lang="en-US" sz="3200" b="1" dirty="0"/>
              <a:t>Scenario: University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1" y="1524000"/>
            <a:ext cx="7704667" cy="47806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A university develops a portal for attendance and result management.</a:t>
            </a:r>
          </a:p>
          <a:p>
            <a:r>
              <a:rPr lang="en-US" sz="2000" b="1" dirty="0"/>
              <a:t>SQA Activities</a:t>
            </a:r>
          </a:p>
          <a:p>
            <a:pPr lvl="1"/>
            <a:r>
              <a:rPr lang="en-US" dirty="0"/>
              <a:t>Reviewing requirements before coding</a:t>
            </a:r>
          </a:p>
          <a:p>
            <a:pPr lvl="1"/>
            <a:r>
              <a:rPr lang="en-US" dirty="0"/>
              <a:t>Defining coding standards</a:t>
            </a:r>
          </a:p>
          <a:p>
            <a:pPr lvl="1"/>
            <a:r>
              <a:rPr lang="en-US" dirty="0"/>
              <a:t>Conducting design inspections</a:t>
            </a:r>
          </a:p>
          <a:p>
            <a:pPr lvl="1"/>
            <a:r>
              <a:rPr lang="en-US" dirty="0"/>
              <a:t>Ensuring testing standards are followed</a:t>
            </a:r>
          </a:p>
          <a:p>
            <a:r>
              <a:rPr lang="en-US" sz="2000" b="1" dirty="0"/>
              <a:t>Testing Activities</a:t>
            </a:r>
          </a:p>
          <a:p>
            <a:pPr lvl="1"/>
            <a:r>
              <a:rPr lang="en-US" dirty="0"/>
              <a:t>Checking login functionality</a:t>
            </a:r>
          </a:p>
          <a:p>
            <a:pPr lvl="1"/>
            <a:r>
              <a:rPr lang="en-US" dirty="0"/>
              <a:t>Verifying attendance calculations</a:t>
            </a:r>
          </a:p>
          <a:p>
            <a:pPr lvl="1"/>
            <a:r>
              <a:rPr lang="en-US" dirty="0"/>
              <a:t>Testing result generation</a:t>
            </a:r>
          </a:p>
        </p:txBody>
      </p:sp>
    </p:spTree>
    <p:extLst>
      <p:ext uri="{BB962C8B-B14F-4D97-AF65-F5344CB8AC3E}">
        <p14:creationId xmlns:p14="http://schemas.microsoft.com/office/powerpoint/2010/main" val="31246544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Static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4" y="1828800"/>
            <a:ext cx="7704667" cy="4171016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Static Testing</a:t>
            </a:r>
          </a:p>
          <a:p>
            <a:pPr lvl="1"/>
            <a:r>
              <a:rPr lang="en-US" dirty="0"/>
              <a:t>Testing performed without executing code.</a:t>
            </a:r>
          </a:p>
          <a:p>
            <a:pPr marL="0" indent="0">
              <a:buNone/>
            </a:pPr>
            <a:r>
              <a:rPr lang="en-US" b="1" dirty="0"/>
              <a:t>Examples</a:t>
            </a:r>
          </a:p>
          <a:p>
            <a:r>
              <a:rPr lang="en-US" dirty="0"/>
              <a:t>Reviews</a:t>
            </a:r>
          </a:p>
          <a:p>
            <a:r>
              <a:rPr lang="en-US" dirty="0"/>
              <a:t>Inspections</a:t>
            </a:r>
          </a:p>
          <a:p>
            <a:r>
              <a:rPr lang="en-US" dirty="0"/>
              <a:t>Walkthroughs</a:t>
            </a:r>
          </a:p>
          <a:p>
            <a:r>
              <a:rPr lang="en-US" dirty="0"/>
              <a:t>Requirement analysis</a:t>
            </a:r>
          </a:p>
          <a:p>
            <a:pPr marL="0" indent="0">
              <a:buNone/>
            </a:pPr>
            <a:r>
              <a:rPr lang="en-US" b="1" dirty="0"/>
              <a:t>Advantages</a:t>
            </a:r>
          </a:p>
          <a:p>
            <a:r>
              <a:rPr lang="en-US" dirty="0"/>
              <a:t>Detects defects early</a:t>
            </a:r>
          </a:p>
          <a:p>
            <a:r>
              <a:rPr lang="en-US" dirty="0"/>
              <a:t>Saves cost</a:t>
            </a:r>
          </a:p>
          <a:p>
            <a:r>
              <a:rPr lang="en-US" dirty="0"/>
              <a:t>Improves documentation quality</a:t>
            </a:r>
          </a:p>
        </p:txBody>
      </p:sp>
    </p:spTree>
    <p:extLst>
      <p:ext uri="{BB962C8B-B14F-4D97-AF65-F5344CB8AC3E}">
        <p14:creationId xmlns:p14="http://schemas.microsoft.com/office/powerpoint/2010/main" val="24282299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Dynamic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Testing performed by executing the software.</a:t>
            </a:r>
          </a:p>
          <a:p>
            <a:pPr marL="0" indent="0">
              <a:buNone/>
            </a:pPr>
            <a:r>
              <a:rPr lang="en-US" b="1" dirty="0"/>
              <a:t>Examples</a:t>
            </a:r>
          </a:p>
          <a:p>
            <a:r>
              <a:rPr lang="en-US" dirty="0"/>
              <a:t>Running login functionality</a:t>
            </a:r>
          </a:p>
          <a:p>
            <a:r>
              <a:rPr lang="en-US" dirty="0"/>
              <a:t>Executing test cases</a:t>
            </a:r>
          </a:p>
          <a:p>
            <a:r>
              <a:rPr lang="en-US" dirty="0"/>
              <a:t>Performance testing</a:t>
            </a:r>
          </a:p>
        </p:txBody>
      </p:sp>
    </p:spTree>
    <p:extLst>
      <p:ext uri="{BB962C8B-B14F-4D97-AF65-F5344CB8AC3E}">
        <p14:creationId xmlns:p14="http://schemas.microsoft.com/office/powerpoint/2010/main" val="31121589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2"/>
            <a:ext cx="7704667" cy="1219199"/>
          </a:xfrm>
        </p:spPr>
        <p:txBody>
          <a:bodyPr/>
          <a:lstStyle/>
          <a:p>
            <a:pPr defTabSz="914400" eaLnBrk="0" fontAlgn="base" hangingPunct="0">
              <a:spcAft>
                <a:spcPct val="0"/>
              </a:spcAft>
            </a:pPr>
            <a:r>
              <a:rPr lang="en-US" altLang="en-US" b="1" i="1" dirty="0">
                <a:ln>
                  <a:noFill/>
                </a:ln>
                <a:latin typeface="Times New Roman" panose="02020603050405020304" pitchFamily="18" charset="0"/>
              </a:rPr>
              <a:t>Comparison Table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506663" y="2514601"/>
          <a:ext cx="7704136" cy="273288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852068">
                  <a:extLst>
                    <a:ext uri="{9D8B030D-6E8A-4147-A177-3AD203B41FA5}">
                      <a16:colId xmlns:a16="http://schemas.microsoft.com/office/drawing/2014/main" val="455087157"/>
                    </a:ext>
                  </a:extLst>
                </a:gridCol>
                <a:gridCol w="3852068">
                  <a:extLst>
                    <a:ext uri="{9D8B030D-6E8A-4147-A177-3AD203B41FA5}">
                      <a16:colId xmlns:a16="http://schemas.microsoft.com/office/drawing/2014/main" val="1049676207"/>
                    </a:ext>
                  </a:extLst>
                </a:gridCol>
              </a:tblGrid>
              <a:tr h="546576">
                <a:tc>
                  <a:txBody>
                    <a:bodyPr/>
                    <a:lstStyle/>
                    <a:p>
                      <a:r>
                        <a:rPr lang="en-US" sz="1800" b="1" dirty="0"/>
                        <a:t>Static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Dynamic 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0879143"/>
                  </a:ext>
                </a:extLst>
              </a:tr>
              <a:tr h="546576">
                <a:tc>
                  <a:txBody>
                    <a:bodyPr/>
                    <a:lstStyle/>
                    <a:p>
                      <a:r>
                        <a:rPr lang="en-US" sz="1800"/>
                        <a:t>No code execution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Code execution required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779287"/>
                  </a:ext>
                </a:extLst>
              </a:tr>
              <a:tr h="546576">
                <a:tc>
                  <a:txBody>
                    <a:bodyPr/>
                    <a:lstStyle/>
                    <a:p>
                      <a:r>
                        <a:rPr lang="en-US" sz="1800"/>
                        <a:t>Finds defects early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Finds runtime defects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1343180"/>
                  </a:ext>
                </a:extLst>
              </a:tr>
              <a:tr h="546576">
                <a:tc>
                  <a:txBody>
                    <a:bodyPr/>
                    <a:lstStyle/>
                    <a:p>
                      <a:r>
                        <a:rPr lang="en-US" sz="1800"/>
                        <a:t>Less expensive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More expensive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3374714"/>
                  </a:ext>
                </a:extLst>
              </a:tr>
              <a:tr h="546576">
                <a:tc>
                  <a:txBody>
                    <a:bodyPr/>
                    <a:lstStyle/>
                    <a:p>
                      <a:r>
                        <a:rPr lang="en-US" sz="1800"/>
                        <a:t>Verification activity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Validation activity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1392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68629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2"/>
            <a:ext cx="7704667" cy="990599"/>
          </a:xfrm>
        </p:spPr>
        <p:txBody>
          <a:bodyPr/>
          <a:lstStyle/>
          <a:p>
            <a:r>
              <a:rPr lang="en-US" dirty="0"/>
              <a:t>Scenario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4" y="1752600"/>
            <a:ext cx="7704667" cy="4247216"/>
          </a:xfrm>
        </p:spPr>
        <p:txBody>
          <a:bodyPr>
            <a:normAutofit/>
          </a:bodyPr>
          <a:lstStyle/>
          <a:p>
            <a:r>
              <a:rPr lang="en-US" dirty="0"/>
              <a:t>Static Testing Scenario</a:t>
            </a:r>
          </a:p>
          <a:p>
            <a:pPr lvl="1"/>
            <a:r>
              <a:rPr lang="en-US" dirty="0"/>
              <a:t>A team reviews requirements for a ride-booking app.</a:t>
            </a:r>
          </a:p>
          <a:p>
            <a:pPr lvl="1"/>
            <a:r>
              <a:rPr lang="en-US" dirty="0"/>
              <a:t>They identify </a:t>
            </a:r>
            <a:r>
              <a:rPr lang="en-US" dirty="0" err="1"/>
              <a:t>ambiguity:“Fast</a:t>
            </a:r>
            <a:r>
              <a:rPr lang="en-US" dirty="0"/>
              <a:t> response time” is unclear.</a:t>
            </a:r>
          </a:p>
          <a:p>
            <a:pPr lvl="1"/>
            <a:r>
              <a:rPr lang="en-US" dirty="0"/>
              <a:t>This issue is fixed before coding starts.</a:t>
            </a:r>
          </a:p>
          <a:p>
            <a:r>
              <a:rPr lang="en-US" dirty="0"/>
              <a:t>Dynamic Testing Scenario:</a:t>
            </a:r>
          </a:p>
          <a:p>
            <a:pPr lvl="1"/>
            <a:r>
              <a:rPr lang="en-US" dirty="0"/>
              <a:t>After development, testers book rides repeatedly to verify fare calculations.</a:t>
            </a:r>
          </a:p>
        </p:txBody>
      </p:sp>
    </p:spTree>
    <p:extLst>
      <p:ext uri="{BB962C8B-B14F-4D97-AF65-F5344CB8AC3E}">
        <p14:creationId xmlns:p14="http://schemas.microsoft.com/office/powerpoint/2010/main" val="256903252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vs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4" y="2209800"/>
            <a:ext cx="7704667" cy="379001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 sz="2000"/>
            </a:pPr>
            <a:r>
              <a:rPr lang="en-US" sz="2600" dirty="0"/>
              <a:t>Verification: </a:t>
            </a:r>
          </a:p>
          <a:p>
            <a:pPr>
              <a:defRPr sz="2000"/>
            </a:pPr>
            <a:r>
              <a:rPr lang="en-US" sz="2600" dirty="0"/>
              <a:t>Checks whether software is built correctly according to specifications</a:t>
            </a:r>
            <a:r>
              <a:rPr lang="en-US" dirty="0"/>
              <a:t>.</a:t>
            </a:r>
          </a:p>
          <a:p>
            <a:pPr marL="457200" lvl="1" indent="0">
              <a:buNone/>
              <a:defRPr sz="2000"/>
            </a:pPr>
            <a:r>
              <a:rPr lang="en-US" sz="2400" b="1" dirty="0"/>
              <a:t>Key Question:</a:t>
            </a:r>
            <a:r>
              <a:rPr lang="en-US" sz="2400" dirty="0"/>
              <a:t> “Are we building the product right?”</a:t>
            </a:r>
          </a:p>
          <a:p>
            <a:pPr marL="0" indent="0">
              <a:buNone/>
            </a:pPr>
            <a:r>
              <a:rPr dirty="0"/>
              <a:t>Validation</a:t>
            </a:r>
            <a:r>
              <a:rPr lang="en-US" dirty="0"/>
              <a:t>:</a:t>
            </a:r>
          </a:p>
          <a:p>
            <a:r>
              <a:rPr lang="en-US" dirty="0"/>
              <a:t>Checks whether the correct product is built according to user needs.</a:t>
            </a:r>
          </a:p>
          <a:p>
            <a:pPr marL="457200" lvl="1" indent="0">
              <a:buNone/>
            </a:pPr>
            <a:r>
              <a:rPr lang="en-US" sz="2400" b="1" dirty="0"/>
              <a:t>Key Question</a:t>
            </a:r>
            <a:r>
              <a:rPr sz="2400" b="1" dirty="0"/>
              <a:t>: </a:t>
            </a:r>
            <a:r>
              <a:rPr sz="2400" dirty="0"/>
              <a:t>Are we building the right product?</a:t>
            </a:r>
          </a:p>
          <a:p>
            <a:pPr>
              <a:defRPr sz="2000"/>
            </a:pPr>
            <a:r>
              <a:rPr sz="2200" dirty="0"/>
              <a:t>Verification checks specifications</a:t>
            </a:r>
          </a:p>
          <a:p>
            <a:pPr>
              <a:defRPr sz="2000"/>
            </a:pPr>
            <a:r>
              <a:rPr sz="2200" dirty="0"/>
              <a:t>Validation checks user expectations</a:t>
            </a:r>
          </a:p>
        </p:txBody>
      </p:sp>
    </p:spTree>
    <p:extLst>
      <p:ext uri="{BB962C8B-B14F-4D97-AF65-F5344CB8AC3E}">
        <p14:creationId xmlns:p14="http://schemas.microsoft.com/office/powerpoint/2010/main" val="1613623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2"/>
            <a:ext cx="7704667" cy="685799"/>
          </a:xfrm>
        </p:spPr>
        <p:txBody>
          <a:bodyPr>
            <a:normAutofit fontScale="90000"/>
          </a:bodyPr>
          <a:lstStyle/>
          <a:p>
            <a:r>
              <a:rPr lang="en-US" dirty="0"/>
              <a:t>Scenario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0800" y="1752600"/>
            <a:ext cx="7620000" cy="424721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School Management App</a:t>
            </a:r>
          </a:p>
          <a:p>
            <a:pPr marL="0" indent="0">
              <a:buNone/>
            </a:pPr>
            <a:r>
              <a:rPr lang="en-US" dirty="0"/>
              <a:t>Requirements state:</a:t>
            </a:r>
          </a:p>
          <a:p>
            <a:r>
              <a:rPr lang="en-US" dirty="0"/>
              <a:t>Teachers can upload marks.</a:t>
            </a:r>
          </a:p>
          <a:p>
            <a:r>
              <a:rPr lang="en-US" dirty="0"/>
              <a:t>Developers implement upload feature correctly.</a:t>
            </a:r>
          </a:p>
          <a:p>
            <a:pPr marL="0" indent="0">
              <a:buNone/>
            </a:pPr>
            <a:r>
              <a:rPr lang="en-US" dirty="0"/>
              <a:t>Verification Result</a:t>
            </a:r>
          </a:p>
          <a:p>
            <a:r>
              <a:rPr lang="en-US" dirty="0"/>
              <a:t>Feature works according to specification.</a:t>
            </a:r>
          </a:p>
          <a:p>
            <a:pPr marL="0" indent="0">
              <a:buNone/>
            </a:pPr>
            <a:r>
              <a:rPr lang="en-US" dirty="0"/>
              <a:t>However:</a:t>
            </a:r>
          </a:p>
          <a:p>
            <a:pPr marL="0" indent="0">
              <a:buNone/>
            </a:pPr>
            <a:r>
              <a:rPr lang="en-US" dirty="0"/>
              <a:t> Teachers actually needed:</a:t>
            </a:r>
          </a:p>
          <a:p>
            <a:r>
              <a:rPr lang="en-US" dirty="0"/>
              <a:t>Bulk Excel upload</a:t>
            </a:r>
          </a:p>
          <a:p>
            <a:r>
              <a:rPr lang="en-US" dirty="0"/>
              <a:t>Automatic GPA calculation</a:t>
            </a:r>
          </a:p>
          <a:p>
            <a:pPr marL="0" indent="0">
              <a:buNone/>
            </a:pPr>
            <a:r>
              <a:rPr lang="en-US" dirty="0"/>
              <a:t>Validation Result</a:t>
            </a:r>
          </a:p>
          <a:p>
            <a:r>
              <a:rPr lang="en-US" dirty="0"/>
              <a:t>Software does not fully satisfy user needs.</a:t>
            </a:r>
          </a:p>
        </p:txBody>
      </p:sp>
    </p:spTree>
    <p:extLst>
      <p:ext uri="{BB962C8B-B14F-4D97-AF65-F5344CB8AC3E}">
        <p14:creationId xmlns:p14="http://schemas.microsoft.com/office/powerpoint/2010/main" val="96330996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524000" y="6453188"/>
            <a:ext cx="9144000" cy="404812"/>
          </a:xfrm>
          <a:prstGeom prst="rect">
            <a:avLst/>
          </a:prstGeom>
        </p:spPr>
        <p:style>
          <a:lnRef idx="1">
            <a:schemeClr val="accent3"/>
          </a:lnRef>
          <a:fillRef idx="1002">
            <a:schemeClr val="dk2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38915" name="Date Placeholder 10"/>
          <p:cNvSpPr>
            <a:spLocks noGrp="1"/>
          </p:cNvSpPr>
          <p:nvPr>
            <p:ph type="dt" sz="half" idx="10"/>
          </p:nvPr>
        </p:nvSpPr>
        <p:spPr bwMode="auto">
          <a:xfrm>
            <a:off x="1631950" y="6519864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</a:bodyPr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84E39A2-AEAA-47F0-A959-BF588C21FFE7}" type="datetime1">
              <a:rPr lang="en-GB" altLang="en-US" sz="1400" b="0" i="0"/>
              <a:pPr/>
              <a:t>16/06/2026</a:t>
            </a:fld>
            <a:endParaRPr lang="en-GB" altLang="en-US" sz="1400" b="0" i="0" dirty="0"/>
          </a:p>
        </p:txBody>
      </p:sp>
      <p:sp>
        <p:nvSpPr>
          <p:cNvPr id="38916" name="Slide Number Placeholder 1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283575" y="6519864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7847B86-BEA7-480B-A438-F433FE70A1D1}" type="slidenum">
              <a:rPr lang="en-GB" altLang="en-US" sz="1400" b="0" i="0"/>
              <a:pPr/>
              <a:t>67</a:t>
            </a:fld>
            <a:endParaRPr lang="en-GB" altLang="en-US" sz="1400" b="0" i="0"/>
          </a:p>
        </p:txBody>
      </p:sp>
      <p:sp>
        <p:nvSpPr>
          <p:cNvPr id="38917" name="Text Box 8"/>
          <p:cNvSpPr txBox="1">
            <a:spLocks noChangeArrowheads="1"/>
          </p:cNvSpPr>
          <p:nvPr/>
        </p:nvSpPr>
        <p:spPr bwMode="auto">
          <a:xfrm>
            <a:off x="1524000" y="1412876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3600">
                <a:solidFill>
                  <a:srgbClr val="000000"/>
                </a:solidFill>
                <a:cs typeface="Times New Roman" panose="02020603050405020304" pitchFamily="18" charset="0"/>
              </a:rPr>
              <a:t>Verification &amp; Validation  </a:t>
            </a:r>
          </a:p>
        </p:txBody>
      </p:sp>
      <p:sp>
        <p:nvSpPr>
          <p:cNvPr id="38918" name="Rectangle 5"/>
          <p:cNvSpPr>
            <a:spLocks noChangeArrowheads="1"/>
          </p:cNvSpPr>
          <p:nvPr/>
        </p:nvSpPr>
        <p:spPr bwMode="auto">
          <a:xfrm>
            <a:off x="1738314" y="3949701"/>
            <a:ext cx="8715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sz="2400"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891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414" y="2420939"/>
            <a:ext cx="8296275" cy="324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terms in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4" y="2057400"/>
            <a:ext cx="7704667" cy="39424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Mistake:</a:t>
            </a:r>
          </a:p>
          <a:p>
            <a:r>
              <a:rPr lang="en-US" dirty="0"/>
              <a:t>A human action that produces an incorrect result.</a:t>
            </a:r>
          </a:p>
          <a:p>
            <a:pPr marL="0" indent="0">
              <a:buNone/>
            </a:pPr>
            <a:r>
              <a:rPr lang="en-US" dirty="0"/>
              <a:t>Example: </a:t>
            </a:r>
          </a:p>
          <a:p>
            <a:r>
              <a:rPr lang="en-US" dirty="0"/>
              <a:t>A programmer writes the wrong formula for calculating student GPA.</a:t>
            </a:r>
          </a:p>
          <a:p>
            <a:pPr marL="0" indent="0">
              <a:buNone/>
            </a:pPr>
            <a:r>
              <a:rPr lang="en-US" b="1" dirty="0"/>
              <a:t>Fault (Defect):</a:t>
            </a:r>
          </a:p>
          <a:p>
            <a:r>
              <a:rPr lang="en-US" dirty="0"/>
              <a:t>An incorrect step, process, logic, or data definition in a program.</a:t>
            </a:r>
          </a:p>
          <a:p>
            <a:pPr marL="0" indent="0">
              <a:buNone/>
            </a:pPr>
            <a:r>
              <a:rPr lang="en-US" dirty="0"/>
              <a:t>Example: The GPA calculation code uses division incorrectly.</a:t>
            </a:r>
          </a:p>
        </p:txBody>
      </p:sp>
    </p:spTree>
    <p:extLst>
      <p:ext uri="{BB962C8B-B14F-4D97-AF65-F5344CB8AC3E}">
        <p14:creationId xmlns:p14="http://schemas.microsoft.com/office/powerpoint/2010/main" val="21640019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4" y="1219200"/>
            <a:ext cx="7552267" cy="47806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Failure</a:t>
            </a:r>
          </a:p>
          <a:p>
            <a:r>
              <a:rPr lang="en-US" dirty="0"/>
              <a:t>The inability of a system or component to perform its required function correctly.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r>
              <a:rPr lang="en-US" dirty="0"/>
              <a:t>The university portal shows incorrect GPA values to students.</a:t>
            </a:r>
          </a:p>
          <a:p>
            <a:pPr marL="0" indent="0">
              <a:buNone/>
            </a:pPr>
            <a:r>
              <a:rPr lang="en-US" b="1" dirty="0"/>
              <a:t>Error</a:t>
            </a:r>
          </a:p>
          <a:p>
            <a:r>
              <a:rPr lang="en-US" dirty="0"/>
              <a:t>The difference between the expected correct result and the actual result produced by the software.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r>
              <a:rPr lang="en-US" dirty="0"/>
              <a:t>Expected GPA = 3.50</a:t>
            </a:r>
            <a:br>
              <a:rPr lang="en-US" dirty="0"/>
            </a:br>
            <a:r>
              <a:rPr lang="en-US" dirty="0"/>
              <a:t>Displayed GPA = 2.90</a:t>
            </a:r>
          </a:p>
        </p:txBody>
      </p:sp>
    </p:spTree>
    <p:extLst>
      <p:ext uri="{BB962C8B-B14F-4D97-AF65-F5344CB8AC3E}">
        <p14:creationId xmlns:p14="http://schemas.microsoft.com/office/powerpoint/2010/main" val="66200995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2"/>
            <a:ext cx="7704667" cy="761999"/>
          </a:xfrm>
        </p:spPr>
        <p:txBody>
          <a:bodyPr/>
          <a:lstStyle/>
          <a:p>
            <a:r>
              <a:rPr lang="en-US" b="1" dirty="0"/>
              <a:t>Scenario-Based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134" y="1752600"/>
            <a:ext cx="7704667" cy="45520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Online Shopping System</a:t>
            </a:r>
          </a:p>
          <a:p>
            <a:r>
              <a:rPr lang="en-US" b="1" dirty="0"/>
              <a:t>Mistake</a:t>
            </a:r>
          </a:p>
          <a:p>
            <a:pPr marL="0" indent="0">
              <a:buNone/>
            </a:pPr>
            <a:r>
              <a:rPr lang="en-US" dirty="0"/>
              <a:t>Developer forgets to apply discount formula correctly.</a:t>
            </a:r>
          </a:p>
          <a:p>
            <a:r>
              <a:rPr lang="en-US" b="1" dirty="0"/>
              <a:t>Fault</a:t>
            </a:r>
          </a:p>
          <a:p>
            <a:pPr marL="0" indent="0">
              <a:buNone/>
            </a:pPr>
            <a:r>
              <a:rPr lang="en-US" dirty="0"/>
              <a:t>Wrong discount logic exists in code.</a:t>
            </a:r>
          </a:p>
          <a:p>
            <a:r>
              <a:rPr lang="en-US" b="1" dirty="0"/>
              <a:t>Failure</a:t>
            </a:r>
          </a:p>
          <a:p>
            <a:pPr marL="0" indent="0">
              <a:buNone/>
            </a:pPr>
            <a:r>
              <a:rPr lang="en-US" dirty="0"/>
              <a:t>Customers are charged incorrect prices.</a:t>
            </a:r>
          </a:p>
          <a:p>
            <a:r>
              <a:rPr lang="en-US" b="1" dirty="0"/>
              <a:t>Error</a:t>
            </a:r>
          </a:p>
          <a:p>
            <a:pPr marL="0" indent="0">
              <a:buNone/>
            </a:pPr>
            <a:r>
              <a:rPr lang="en-US" dirty="0"/>
              <a:t>Expected bill = </a:t>
            </a:r>
            <a:r>
              <a:rPr lang="en-US" dirty="0" err="1"/>
              <a:t>Rs</a:t>
            </a:r>
            <a:r>
              <a:rPr lang="en-US" dirty="0"/>
              <a:t>. 4500</a:t>
            </a:r>
            <a:br>
              <a:rPr lang="en-US" dirty="0"/>
            </a:br>
            <a:r>
              <a:rPr lang="en-US" dirty="0"/>
              <a:t>Actual bill = </a:t>
            </a:r>
            <a:r>
              <a:rPr lang="en-US" dirty="0" err="1"/>
              <a:t>Rs</a:t>
            </a:r>
            <a:r>
              <a:rPr lang="en-US" dirty="0"/>
              <a:t>. 5200</a:t>
            </a:r>
          </a:p>
        </p:txBody>
      </p:sp>
    </p:spTree>
    <p:extLst>
      <p:ext uri="{BB962C8B-B14F-4D97-AF65-F5344CB8AC3E}">
        <p14:creationId xmlns:p14="http://schemas.microsoft.com/office/powerpoint/2010/main" val="107184677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134" y="457202"/>
            <a:ext cx="7704667" cy="990599"/>
          </a:xfrm>
        </p:spPr>
        <p:txBody>
          <a:bodyPr/>
          <a:lstStyle/>
          <a:p>
            <a:r>
              <a:rPr lang="en-US" altLang="en-US" u="sng" dirty="0"/>
              <a:t>Who does Software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0801" y="1752600"/>
            <a:ext cx="7704667" cy="41710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sz="1400" dirty="0"/>
              <a:t>- </a:t>
            </a:r>
            <a:r>
              <a:rPr lang="en-US" altLang="en-US" dirty="0"/>
              <a:t>Test manager</a:t>
            </a:r>
            <a:br>
              <a:rPr lang="en-US" altLang="en-US" dirty="0"/>
            </a:br>
            <a:r>
              <a:rPr lang="en-US" altLang="en-US" dirty="0"/>
              <a:t>	- manage and control a software test project </a:t>
            </a:r>
            <a:br>
              <a:rPr lang="en-US" altLang="en-US" dirty="0"/>
            </a:br>
            <a:r>
              <a:rPr lang="en-US" altLang="en-US" dirty="0"/>
              <a:t>	- supervise test engineers</a:t>
            </a:r>
            <a:br>
              <a:rPr lang="en-US" altLang="en-US" dirty="0"/>
            </a:br>
            <a:r>
              <a:rPr lang="en-US" altLang="en-US" dirty="0"/>
              <a:t>	- define and specify a test plan</a:t>
            </a:r>
            <a:br>
              <a:rPr lang="en-US" altLang="en-US" dirty="0"/>
            </a:br>
            <a:r>
              <a:rPr lang="en-US" altLang="en-US" dirty="0"/>
              <a:t>- Software Test Engineers and Testers</a:t>
            </a:r>
            <a:br>
              <a:rPr lang="en-US" altLang="en-US" dirty="0"/>
            </a:br>
            <a:r>
              <a:rPr lang="en-US" altLang="en-US" dirty="0"/>
              <a:t>	- define test cases, write test specifications, run tests</a:t>
            </a:r>
            <a:br>
              <a:rPr lang="en-US" altLang="en-US" dirty="0"/>
            </a:br>
            <a:r>
              <a:rPr lang="en-US" altLang="en-US" dirty="0"/>
              <a:t>- Development Engineers</a:t>
            </a:r>
            <a:br>
              <a:rPr lang="en-US" altLang="en-US" dirty="0"/>
            </a:br>
            <a:r>
              <a:rPr lang="en-US" altLang="en-US" dirty="0"/>
              <a:t>	- Only perform unit tests and integration tests</a:t>
            </a:r>
            <a:br>
              <a:rPr lang="en-US" altLang="en-US" dirty="0"/>
            </a:br>
            <a:r>
              <a:rPr lang="en-US" altLang="en-US" dirty="0"/>
              <a:t>- Quality Assurance Group and Engineers</a:t>
            </a:r>
            <a:br>
              <a:rPr lang="en-US" altLang="en-US" dirty="0"/>
            </a:br>
            <a:r>
              <a:rPr lang="en-US" altLang="en-US" dirty="0"/>
              <a:t>	- Perform system testing</a:t>
            </a:r>
            <a:br>
              <a:rPr lang="en-US" altLang="en-US" dirty="0"/>
            </a:br>
            <a:r>
              <a:rPr lang="en-US" altLang="en-US" dirty="0"/>
              <a:t>	- Define software testing standards and quality control process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Stages of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Unit Testing</a:t>
            </a:r>
          </a:p>
          <a:p>
            <a:pPr>
              <a:defRPr sz="2000"/>
            </a:pPr>
            <a:r>
              <a:t>Integration Testing</a:t>
            </a:r>
          </a:p>
          <a:p>
            <a:pPr>
              <a:defRPr sz="2000"/>
            </a:pPr>
            <a:r>
              <a:t>System Testing</a:t>
            </a:r>
          </a:p>
          <a:p>
            <a:pPr>
              <a:defRPr sz="2000"/>
            </a:pPr>
            <a:r>
              <a:t>Acceptance Testing</a:t>
            </a:r>
          </a:p>
          <a:p>
            <a:pPr>
              <a:defRPr sz="2000"/>
            </a:pPr>
            <a:r>
              <a:t>Release Testing</a:t>
            </a:r>
          </a:p>
          <a:p>
            <a:pPr>
              <a:defRPr sz="2000"/>
            </a:pPr>
            <a:r>
              <a:t>Regression Testing</a:t>
            </a:r>
          </a:p>
        </p:txBody>
      </p:sp>
    </p:spTree>
    <p:extLst>
      <p:ext uri="{BB962C8B-B14F-4D97-AF65-F5344CB8AC3E}">
        <p14:creationId xmlns:p14="http://schemas.microsoft.com/office/powerpoint/2010/main" val="317813030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61903-C35A-2D93-9BAF-BE9DD9E132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Testing Activities 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CF62F2-2FED-7EAF-7ABB-CB32BFD5B7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Ms. Shehla Saeed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7422169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FE23-E8F8-3518-F1F4-A7403F1F9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118"/>
            <a:ext cx="10515600" cy="1325563"/>
          </a:xfrm>
        </p:spPr>
        <p:txBody>
          <a:bodyPr/>
          <a:lstStyle/>
          <a:p>
            <a:r>
              <a:rPr lang="en-US" altLang="en-US" u="sng" dirty="0"/>
              <a:t>Software Testing Activities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FF96C-0554-4CFF-CAE9-D4C932E15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736714"/>
            <a:ext cx="10515600" cy="4678213"/>
          </a:xfrm>
        </p:spPr>
        <p:txBody>
          <a:bodyPr>
            <a:normAutofit/>
          </a:bodyPr>
          <a:lstStyle/>
          <a:p>
            <a:r>
              <a:rPr lang="en-US" altLang="en-US" sz="3000" b="1" dirty="0"/>
              <a:t>Test Planning</a:t>
            </a:r>
            <a:br>
              <a:rPr lang="en-US" altLang="en-US" dirty="0"/>
            </a:br>
            <a:r>
              <a:rPr lang="en-US" altLang="en-US" dirty="0"/>
              <a:t>  Define a software test plan by specifying: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PK" dirty="0"/>
              <a:t> Test objectives, Test schedule, Resources and roles, Tools and test strategy</a:t>
            </a:r>
          </a:p>
          <a:p>
            <a:pPr marL="0" indent="0">
              <a:buNone/>
            </a:pPr>
            <a:r>
              <a:rPr lang="en-US" altLang="en-PK" b="1" dirty="0"/>
              <a:t>Example:</a:t>
            </a:r>
            <a:br>
              <a:rPr lang="en-US" altLang="en-PK" dirty="0"/>
            </a:br>
            <a:r>
              <a:rPr lang="en-US" altLang="en-PK" dirty="0"/>
              <a:t>For an </a:t>
            </a:r>
            <a:r>
              <a:rPr lang="en-US" altLang="en-PK" b="1" dirty="0"/>
              <a:t>online exam system</a:t>
            </a:r>
            <a:r>
              <a:rPr lang="en-US" altLang="en-PK" dirty="0"/>
              <a:t>, the test plan defines:</a:t>
            </a:r>
          </a:p>
          <a:p>
            <a:r>
              <a:rPr lang="en-US" altLang="en-PK" dirty="0"/>
              <a:t>Features to test (login, timer, submission)</a:t>
            </a:r>
          </a:p>
          <a:p>
            <a:r>
              <a:rPr lang="en-US" altLang="en-PK" dirty="0"/>
              <a:t>Testing schedule</a:t>
            </a:r>
          </a:p>
          <a:p>
            <a:r>
              <a:rPr lang="en-US" altLang="en-PK" dirty="0"/>
              <a:t>Number of testers</a:t>
            </a:r>
          </a:p>
          <a:p>
            <a:r>
              <a:rPr lang="en-US" altLang="en-PK" dirty="0"/>
              <a:t>Manual vs automated testing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E415D-DC9C-12B7-DF70-0D58371CF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90501"/>
            <a:ext cx="10018713" cy="1263162"/>
          </a:xfrm>
        </p:spPr>
        <p:txBody>
          <a:bodyPr/>
          <a:lstStyle/>
          <a:p>
            <a:r>
              <a:rPr lang="en-US" altLang="en-US" u="sng" dirty="0"/>
              <a:t>Software Testing Activities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70BC7-8F4D-D81C-7524-AF5F8E78B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53663"/>
            <a:ext cx="10018713" cy="4736123"/>
          </a:xfrm>
        </p:spPr>
        <p:txBody>
          <a:bodyPr>
            <a:normAutofit/>
          </a:bodyPr>
          <a:lstStyle/>
          <a:p>
            <a:r>
              <a:rPr lang="en-US" altLang="en-US" sz="2600" b="1" dirty="0"/>
              <a:t>Test Design and Specification</a:t>
            </a:r>
            <a:br>
              <a:rPr lang="en-US" altLang="en-US" dirty="0"/>
            </a:br>
            <a:r>
              <a:rPr lang="en-US" altLang="en-US" dirty="0"/>
              <a:t>	- Conduct software design based well-defined test generation methods.</a:t>
            </a:r>
            <a:br>
              <a:rPr lang="en-US" altLang="en-US" dirty="0"/>
            </a:br>
            <a:r>
              <a:rPr lang="en-US" altLang="en-US" dirty="0"/>
              <a:t>	- Specify test cases to achieve a targeted test coverage.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PK" b="1" dirty="0"/>
              <a:t>Example:</a:t>
            </a:r>
            <a:br>
              <a:rPr lang="en-US" altLang="en-PK" dirty="0"/>
            </a:br>
            <a:r>
              <a:rPr lang="en-US" altLang="en-PK" dirty="0"/>
              <a:t>Test case for login module:</a:t>
            </a:r>
          </a:p>
          <a:p>
            <a:r>
              <a:rPr lang="en-US" altLang="en-PK" dirty="0"/>
              <a:t>Input: Valid username &amp; password</a:t>
            </a:r>
          </a:p>
          <a:p>
            <a:r>
              <a:rPr lang="en-US" altLang="en-PK" dirty="0"/>
              <a:t>Expected result: User logs in successfully</a:t>
            </a:r>
          </a:p>
        </p:txBody>
      </p:sp>
    </p:spTree>
    <p:extLst>
      <p:ext uri="{BB962C8B-B14F-4D97-AF65-F5344CB8AC3E}">
        <p14:creationId xmlns:p14="http://schemas.microsoft.com/office/powerpoint/2010/main" val="399963364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D7CEC-AC69-F21E-2A69-A530CBF6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50135"/>
            <a:ext cx="10018713" cy="1021080"/>
          </a:xfrm>
        </p:spPr>
        <p:txBody>
          <a:bodyPr/>
          <a:lstStyle/>
          <a:p>
            <a:r>
              <a:rPr lang="en-US" altLang="en-US" u="sng" dirty="0"/>
              <a:t>Software Testing Activities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82736-B9CC-EBF8-883E-99A3AA17A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670" y="1844041"/>
            <a:ext cx="10018713" cy="51511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PK" sz="2800" b="1" dirty="0"/>
              <a:t>Test Environment &amp; Setup</a:t>
            </a:r>
          </a:p>
          <a:p>
            <a:r>
              <a:rPr lang="en-US" altLang="en-US" dirty="0"/>
              <a:t> Testing Tools and Environment Set-up</a:t>
            </a:r>
            <a:br>
              <a:rPr lang="en-US" altLang="en-US" dirty="0"/>
            </a:br>
            <a:r>
              <a:rPr lang="en-US" altLang="en-US" dirty="0"/>
              <a:t>	- Test Suite Set-up</a:t>
            </a:r>
          </a:p>
          <a:p>
            <a:r>
              <a:rPr lang="en-US" altLang="en-PK" b="1" dirty="0"/>
              <a:t>Includes: </a:t>
            </a:r>
            <a:r>
              <a:rPr lang="en-US" altLang="en-PK" dirty="0"/>
              <a:t>Test servers, Databases, Browsers, Testing tools</a:t>
            </a:r>
          </a:p>
          <a:p>
            <a:pPr marL="0" indent="0">
              <a:buNone/>
            </a:pPr>
            <a:r>
              <a:rPr lang="en-US" altLang="en-PK" b="1" dirty="0"/>
              <a:t>Example:</a:t>
            </a:r>
            <a:br>
              <a:rPr lang="en-US" altLang="en-PK" dirty="0"/>
            </a:br>
            <a:r>
              <a:rPr lang="en-US" altLang="en-PK" dirty="0"/>
              <a:t>Setting up:</a:t>
            </a:r>
          </a:p>
          <a:p>
            <a:r>
              <a:rPr lang="en-US" altLang="en-PK" dirty="0"/>
              <a:t>Chrome &amp; Firefox browsers</a:t>
            </a:r>
          </a:p>
          <a:p>
            <a:r>
              <a:rPr lang="en-US" altLang="en-PK" dirty="0"/>
              <a:t>Test database</a:t>
            </a:r>
          </a:p>
          <a:p>
            <a:r>
              <a:rPr lang="en-US" altLang="en-PK" dirty="0"/>
              <a:t>Dummy student accounts for an LMS</a:t>
            </a:r>
          </a:p>
          <a:p>
            <a:pPr marL="0" indent="0">
              <a:buNone/>
            </a:pPr>
            <a:r>
              <a:rPr lang="en-US" altLang="en-PK" dirty="0"/>
              <a:t>.</a:t>
            </a: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660545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957B1-5F33-8739-1B1A-4C430E3D6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38200"/>
          </a:xfrm>
        </p:spPr>
        <p:txBody>
          <a:bodyPr/>
          <a:lstStyle/>
          <a:p>
            <a:r>
              <a:rPr lang="en-US" altLang="en-US" u="sng" dirty="0"/>
              <a:t>Software Testing Activities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4E65B-175E-9331-4A4C-94CC691F2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744978"/>
            <a:ext cx="10018713" cy="47777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600" b="1" dirty="0"/>
              <a:t>Test Operation and Execution</a:t>
            </a:r>
          </a:p>
          <a:p>
            <a:r>
              <a:rPr lang="en-US" altLang="en-US" dirty="0"/>
              <a:t>Run test cases manually or automatically</a:t>
            </a:r>
          </a:p>
          <a:p>
            <a:r>
              <a:rPr lang="en-US" altLang="en-PK" b="1" dirty="0"/>
              <a:t>Includes:  </a:t>
            </a:r>
            <a:r>
              <a:rPr lang="en-US" altLang="en-PK" dirty="0"/>
              <a:t>Executing test cases, Recording actual results, Comparing with expected results</a:t>
            </a:r>
          </a:p>
          <a:p>
            <a:pPr marL="0" indent="0">
              <a:buNone/>
            </a:pPr>
            <a:r>
              <a:rPr lang="en-US" altLang="en-PK" b="1" dirty="0"/>
              <a:t>Example:</a:t>
            </a:r>
            <a:br>
              <a:rPr lang="en-US" altLang="en-PK" dirty="0"/>
            </a:br>
            <a:r>
              <a:rPr lang="en-US" altLang="en-PK" dirty="0"/>
              <a:t>Running the “Submit Exam” test case and checking whether:</a:t>
            </a:r>
          </a:p>
          <a:p>
            <a:r>
              <a:rPr lang="en-US" altLang="en-PK" dirty="0"/>
              <a:t>Answers are saved</a:t>
            </a:r>
          </a:p>
          <a:p>
            <a:r>
              <a:rPr lang="en-US" altLang="en-PK" dirty="0"/>
              <a:t>Timer stops</a:t>
            </a:r>
          </a:p>
          <a:p>
            <a:r>
              <a:rPr lang="en-US" altLang="en-PK" dirty="0"/>
              <a:t>Confirmation message appears</a:t>
            </a:r>
          </a:p>
        </p:txBody>
      </p:sp>
    </p:spTree>
    <p:extLst>
      <p:ext uri="{BB962C8B-B14F-4D97-AF65-F5344CB8AC3E}">
        <p14:creationId xmlns:p14="http://schemas.microsoft.com/office/powerpoint/2010/main" val="321530639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FCE68-9ECF-5E31-9C86-6E8D6E6F1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8111" y="-257432"/>
            <a:ext cx="10018713" cy="1752599"/>
          </a:xfrm>
        </p:spPr>
        <p:txBody>
          <a:bodyPr/>
          <a:lstStyle/>
          <a:p>
            <a:r>
              <a:rPr lang="en-US" altLang="en-US" u="sng" dirty="0"/>
              <a:t>Software Testing Activities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F4278-FCF7-6243-7503-F9C2FC6BA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8111" y="1021080"/>
            <a:ext cx="10515600" cy="53399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/>
              <a:t> </a:t>
            </a:r>
            <a:r>
              <a:rPr lang="en-US" altLang="en-US" b="1" dirty="0"/>
              <a:t>Test Result Analysis and Reporting</a:t>
            </a:r>
            <a:endParaRPr lang="en-US" altLang="en-US" dirty="0"/>
          </a:p>
          <a:p>
            <a:r>
              <a:rPr lang="en-US" altLang="en-PK" dirty="0"/>
              <a:t>Analyzing test results and preparing </a:t>
            </a:r>
            <a:r>
              <a:rPr lang="en-US" altLang="en-PK" b="1" dirty="0"/>
              <a:t>test reports</a:t>
            </a:r>
            <a:r>
              <a:rPr lang="en-US" altLang="en-PK" dirty="0"/>
              <a:t>.</a:t>
            </a:r>
          </a:p>
          <a:p>
            <a:r>
              <a:rPr lang="en-US" altLang="en-PK" b="1" dirty="0"/>
              <a:t>Includes: </a:t>
            </a:r>
            <a:r>
              <a:rPr lang="en-US" altLang="en-PK" dirty="0"/>
              <a:t>Pass/fail status, Defect trends, Test coverage</a:t>
            </a:r>
          </a:p>
          <a:p>
            <a:r>
              <a:rPr lang="en-US" altLang="en-PK" b="1" dirty="0"/>
              <a:t>Example:</a:t>
            </a:r>
            <a:br>
              <a:rPr lang="en-US" altLang="en-PK" dirty="0"/>
            </a:br>
            <a:r>
              <a:rPr lang="en-US" altLang="en-PK" dirty="0"/>
              <a:t>Test report shows:</a:t>
            </a:r>
          </a:p>
          <a:p>
            <a:r>
              <a:rPr lang="en-US" altLang="en-PK" dirty="0"/>
              <a:t>90% test cases passed</a:t>
            </a:r>
          </a:p>
          <a:p>
            <a:r>
              <a:rPr lang="en-US" altLang="en-PK" dirty="0"/>
              <a:t>5 critical defects found in payment module</a:t>
            </a:r>
          </a:p>
          <a:p>
            <a:pPr marL="0" indent="0">
              <a:buNone/>
            </a:pPr>
            <a:br>
              <a:rPr lang="en-US" altLang="en-US" dirty="0"/>
            </a:br>
            <a:endParaRPr lang="en-PK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18EB-6A22-AC31-8B9F-795AC40B4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29640"/>
          </a:xfrm>
        </p:spPr>
        <p:txBody>
          <a:bodyPr/>
          <a:lstStyle/>
          <a:p>
            <a:r>
              <a:rPr lang="en-US" altLang="en-US" u="sng" dirty="0"/>
              <a:t>Software Testing Activities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A9B21-620F-16A4-27EE-0976D4A1D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7190" y="1844041"/>
            <a:ext cx="10018713" cy="41757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800" b="1" dirty="0"/>
              <a:t>Problem Reporting</a:t>
            </a:r>
            <a:endParaRPr lang="en-US" altLang="en-US" dirty="0"/>
          </a:p>
          <a:p>
            <a:r>
              <a:rPr lang="en-US" altLang="en-PK" dirty="0"/>
              <a:t>Documenting detected bugs in a </a:t>
            </a:r>
            <a:r>
              <a:rPr lang="en-US" altLang="en-PK" b="1" dirty="0"/>
              <a:t>systematic manner</a:t>
            </a:r>
            <a:r>
              <a:rPr lang="en-US" altLang="en-PK" dirty="0"/>
              <a:t>.</a:t>
            </a:r>
          </a:p>
          <a:p>
            <a:r>
              <a:rPr lang="en-US" altLang="en-PK" b="1" dirty="0"/>
              <a:t>Includes: </a:t>
            </a:r>
            <a:r>
              <a:rPr lang="en-US" altLang="en-PK" dirty="0"/>
              <a:t>Defect description, Severity and priority, Steps to reproduce</a:t>
            </a:r>
          </a:p>
          <a:p>
            <a:pPr marL="0" indent="0">
              <a:buNone/>
            </a:pPr>
            <a:r>
              <a:rPr lang="en-US" altLang="en-PK" b="1" dirty="0"/>
              <a:t>Example:</a:t>
            </a:r>
            <a:br>
              <a:rPr lang="en-US" altLang="en-PK" dirty="0"/>
            </a:br>
            <a:r>
              <a:rPr lang="en-US" altLang="en-PK" dirty="0"/>
              <a:t>Bug report:</a:t>
            </a:r>
          </a:p>
          <a:p>
            <a:pPr lvl="1"/>
            <a:r>
              <a:rPr lang="en-US" altLang="en-PK" sz="2400" dirty="0"/>
              <a:t>Title: Payment fails on retry</a:t>
            </a:r>
          </a:p>
          <a:p>
            <a:pPr lvl="1"/>
            <a:r>
              <a:rPr lang="en-US" altLang="en-PK" sz="2400" dirty="0"/>
              <a:t>Severity: High</a:t>
            </a:r>
          </a:p>
          <a:p>
            <a:pPr lvl="1"/>
            <a:r>
              <a:rPr lang="en-US" altLang="en-PK" sz="2400" dirty="0"/>
              <a:t>Steps: Add item → Pay → Retry payment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3503651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EEF67-8704-35A7-9582-6FA600047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u="sng" dirty="0"/>
              <a:t>Software Testing Activities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53179-DD59-C061-99DA-F9585F435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910" y="2026919"/>
            <a:ext cx="10018713" cy="4434841"/>
          </a:xfrm>
        </p:spPr>
        <p:txBody>
          <a:bodyPr>
            <a:normAutofit/>
          </a:bodyPr>
          <a:lstStyle/>
          <a:p>
            <a:r>
              <a:rPr lang="en-US" altLang="en-US" b="1" dirty="0"/>
              <a:t>Test Management and Measurement</a:t>
            </a:r>
            <a:br>
              <a:rPr lang="en-US" altLang="en-US" dirty="0"/>
            </a:br>
            <a:r>
              <a:rPr lang="en-US" altLang="en-US" dirty="0"/>
              <a:t>	Manage software testing activities, control testing schedule, measure testing cost </a:t>
            </a:r>
          </a:p>
          <a:p>
            <a:pPr marL="0" indent="0">
              <a:buNone/>
            </a:pPr>
            <a:r>
              <a:rPr lang="en-US" altLang="en-PK" b="1" dirty="0"/>
              <a:t>Example:</a:t>
            </a:r>
            <a:br>
              <a:rPr lang="en-US" altLang="en-PK" dirty="0"/>
            </a:br>
            <a:r>
              <a:rPr lang="en-US" altLang="en-PK" dirty="0"/>
              <a:t>Test manager monitors:</a:t>
            </a:r>
          </a:p>
          <a:p>
            <a:pPr lvl="1"/>
            <a:r>
              <a:rPr lang="en-US" altLang="en-PK" dirty="0"/>
              <a:t>Number of test cases executed daily</a:t>
            </a:r>
          </a:p>
          <a:p>
            <a:pPr lvl="1"/>
            <a:r>
              <a:rPr lang="en-US" altLang="en-PK" dirty="0"/>
              <a:t>Remaining defects before release</a:t>
            </a:r>
          </a:p>
        </p:txBody>
      </p:sp>
    </p:spTree>
    <p:extLst>
      <p:ext uri="{BB962C8B-B14F-4D97-AF65-F5344CB8AC3E}">
        <p14:creationId xmlns:p14="http://schemas.microsoft.com/office/powerpoint/2010/main" val="134418496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146E2-7920-E892-49DD-9EC09A70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u="sng" dirty="0"/>
              <a:t>Software Testing Activities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F8123-D086-9C83-98ED-9C1D0D9F7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Test Automation</a:t>
            </a:r>
          </a:p>
          <a:p>
            <a:pPr lvl="1"/>
            <a:r>
              <a:rPr lang="en-US" altLang="en-US" dirty="0"/>
              <a:t>Define and develop software test tools</a:t>
            </a:r>
          </a:p>
          <a:p>
            <a:pPr lvl="1"/>
            <a:r>
              <a:rPr lang="en-US" altLang="en-US" dirty="0"/>
              <a:t>Adopt and use software test tools</a:t>
            </a:r>
          </a:p>
          <a:p>
            <a:pPr lvl="1"/>
            <a:r>
              <a:rPr lang="en-US" altLang="en-US" dirty="0"/>
              <a:t> Write software test scripts and facility</a:t>
            </a:r>
          </a:p>
          <a:p>
            <a:pPr marL="457200" lvl="1" indent="0">
              <a:buNone/>
            </a:pPr>
            <a:r>
              <a:rPr lang="en-US" altLang="en-PK" b="1" dirty="0"/>
              <a:t>Example: </a:t>
            </a:r>
            <a:r>
              <a:rPr lang="en-US" altLang="en-PK" dirty="0"/>
              <a:t>Automating login tests so these run </a:t>
            </a:r>
            <a:r>
              <a:rPr lang="en-US" altLang="en-PK" b="1" dirty="0"/>
              <a:t>every time code changes</a:t>
            </a:r>
            <a:r>
              <a:rPr lang="en-US" altLang="en-PK" dirty="0"/>
              <a:t>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33687917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6C6C1-ADCE-5F74-CA0C-FB1D0845D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u="sng" dirty="0"/>
              <a:t>Software Testing Activities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156E4-4B79-1F9A-B9EE-F8F4A4464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36576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b="1" dirty="0"/>
              <a:t> Test Configuration Management</a:t>
            </a:r>
            <a:br>
              <a:rPr lang="en-US" altLang="en-US" dirty="0"/>
            </a:br>
            <a:r>
              <a:rPr lang="en-US" altLang="en-US" dirty="0"/>
              <a:t>	- Manage and maintain different versions of software test suites, test 	environment and tools, and documents for various product versions.  </a:t>
            </a:r>
          </a:p>
          <a:p>
            <a:pPr marL="0" indent="0">
              <a:buNone/>
            </a:pPr>
            <a:r>
              <a:rPr lang="en-US" altLang="en-PK" b="1" dirty="0"/>
              <a:t>Example:</a:t>
            </a:r>
            <a:br>
              <a:rPr lang="en-US" altLang="en-PK" dirty="0"/>
            </a:br>
            <a:r>
              <a:rPr lang="en-US" altLang="en-PK" dirty="0"/>
              <a:t>Maintaining separate test suites for:</a:t>
            </a:r>
          </a:p>
          <a:p>
            <a:r>
              <a:rPr lang="en-US" altLang="en-PK" dirty="0"/>
              <a:t>Version 1.0</a:t>
            </a:r>
          </a:p>
          <a:p>
            <a:r>
              <a:rPr lang="en-US" altLang="en-PK" dirty="0"/>
              <a:t>Version 2.0 of an application</a:t>
            </a:r>
          </a:p>
          <a:p>
            <a:r>
              <a:rPr lang="en-US" altLang="en-PK" dirty="0"/>
              <a:t>Prevents confusion and ensures </a:t>
            </a:r>
            <a:r>
              <a:rPr lang="en-US" altLang="en-PK" b="1" dirty="0"/>
              <a:t>correct version testing</a:t>
            </a:r>
            <a:endParaRPr lang="en-US" altLang="en-PK" dirty="0"/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5788457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1D944-0D4E-BB73-5D50-F46E642BD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958"/>
            <a:ext cx="10515600" cy="1325563"/>
          </a:xfrm>
        </p:spPr>
        <p:txBody>
          <a:bodyPr/>
          <a:lstStyle/>
          <a:p>
            <a:r>
              <a:rPr lang="en-US" altLang="en-US" u="sng" dirty="0"/>
              <a:t>Software Testing Principles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07796-27DB-5493-FD92-8BA3E33C8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>
              <a:buFontTx/>
              <a:buChar char="•"/>
            </a:pPr>
            <a:r>
              <a:rPr lang="en-US" altLang="en-US" sz="6400" dirty="0"/>
              <a:t>Principle #1: Complete testing is impossible.</a:t>
            </a:r>
          </a:p>
          <a:p>
            <a:pPr>
              <a:buFontTx/>
              <a:buChar char="•"/>
            </a:pPr>
            <a:endParaRPr lang="en-US" altLang="en-US" sz="6400" dirty="0"/>
          </a:p>
          <a:p>
            <a:pPr>
              <a:buFontTx/>
              <a:buChar char="•"/>
            </a:pPr>
            <a:r>
              <a:rPr lang="en-US" altLang="en-US" sz="6400" dirty="0"/>
              <a:t>Principle #2: Software testing is not simple.</a:t>
            </a:r>
          </a:p>
          <a:p>
            <a:pPr lvl="1">
              <a:buFontTx/>
              <a:buChar char="•"/>
            </a:pPr>
            <a:r>
              <a:rPr lang="en-US" altLang="en-US" sz="6400" dirty="0"/>
              <a:t>Reasons: </a:t>
            </a:r>
          </a:p>
          <a:p>
            <a:pPr lvl="2">
              <a:buFontTx/>
              <a:buChar char="•"/>
            </a:pPr>
            <a:r>
              <a:rPr lang="en-US" altLang="en-US" sz="6400" dirty="0"/>
              <a:t>Quality testing requires testers to understand a system/product completely</a:t>
            </a:r>
          </a:p>
          <a:p>
            <a:pPr lvl="2">
              <a:buFontTx/>
              <a:buChar char="•"/>
            </a:pPr>
            <a:r>
              <a:rPr lang="en-US" altLang="en-US" sz="6400" dirty="0"/>
              <a:t>Quality testing needs adequate test set, and efficient testing methods</a:t>
            </a:r>
          </a:p>
          <a:p>
            <a:pPr lvl="2">
              <a:buFontTx/>
              <a:buChar char="•"/>
            </a:pPr>
            <a:r>
              <a:rPr lang="en-US" altLang="en-US" sz="6400" dirty="0"/>
              <a:t>A very tight schedule and lack of test tools.</a:t>
            </a:r>
          </a:p>
          <a:p>
            <a:pPr>
              <a:buFontTx/>
              <a:buChar char="•"/>
            </a:pPr>
            <a:r>
              <a:rPr lang="en-PK" sz="6400" dirty="0"/>
              <a:t>Principle #3: Early Testing Saves Time and Cost</a:t>
            </a:r>
            <a:endParaRPr lang="en-US" altLang="en-US" sz="6400" dirty="0"/>
          </a:p>
          <a:p>
            <a:pPr>
              <a:buFontTx/>
              <a:buChar char="•"/>
            </a:pPr>
            <a:r>
              <a:rPr lang="en-US" altLang="en-US" sz="6400" dirty="0"/>
              <a:t>Principle #4: Testing must be planned.</a:t>
            </a:r>
          </a:p>
          <a:p>
            <a:pPr>
              <a:buFontTx/>
              <a:buChar char="•"/>
            </a:pPr>
            <a:endParaRPr lang="en-US" altLang="en-US" sz="6400" dirty="0"/>
          </a:p>
          <a:p>
            <a:pPr>
              <a:buFontTx/>
              <a:buChar char="•"/>
            </a:pPr>
            <a:r>
              <a:rPr lang="en-US" altLang="en-US" sz="6400" dirty="0"/>
              <a:t>Principle #5: Testing requires independence.</a:t>
            </a:r>
          </a:p>
          <a:p>
            <a:pPr>
              <a:buFontTx/>
              <a:buChar char="•"/>
            </a:pPr>
            <a:endParaRPr lang="en-US" altLang="en-US" sz="6400" dirty="0"/>
          </a:p>
          <a:p>
            <a:pPr>
              <a:buFontTx/>
              <a:buChar char="•"/>
            </a:pPr>
            <a:r>
              <a:rPr lang="en-US" altLang="en-US" sz="6400" dirty="0"/>
              <a:t>Principle #6: Quality software testing depends on:</a:t>
            </a:r>
          </a:p>
          <a:p>
            <a:pPr lvl="2">
              <a:buFontTx/>
              <a:buChar char="•"/>
            </a:pPr>
            <a:r>
              <a:rPr lang="en-US" altLang="en-US" sz="6400" dirty="0"/>
              <a:t>Good understanding of software products and related domain application</a:t>
            </a:r>
          </a:p>
          <a:p>
            <a:pPr lvl="2">
              <a:buFontTx/>
              <a:buChar char="•"/>
            </a:pPr>
            <a:r>
              <a:rPr lang="en-US" altLang="en-US" sz="6400" dirty="0"/>
              <a:t>Cost-effective testing methodology, coverage, test methods, and tools.</a:t>
            </a:r>
          </a:p>
          <a:p>
            <a:pPr lvl="2">
              <a:buFontTx/>
              <a:buChar char="•"/>
            </a:pPr>
            <a:r>
              <a:rPr lang="en-US" altLang="en-US" sz="6400" dirty="0"/>
              <a:t>Good engineers with creativity, and solid software testing experience</a:t>
            </a:r>
          </a:p>
          <a:p>
            <a:endParaRPr lang="en-PK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82654-1BF6-652E-B668-5D5A38233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Stages of testing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74EAB-271B-3806-F5D2-1ADDFFB89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K" dirty="0"/>
              <a:t>Software testing is commonly divided into three major stages:</a:t>
            </a:r>
            <a:endParaRPr lang="en-US" dirty="0"/>
          </a:p>
          <a:p>
            <a:pPr marL="457200" lvl="1" indent="0">
              <a:buNone/>
            </a:pPr>
            <a:r>
              <a:rPr lang="en-PK" sz="2400" dirty="0"/>
              <a:t>Development Testing</a:t>
            </a:r>
            <a:br>
              <a:rPr lang="en-PK" sz="2400" dirty="0"/>
            </a:br>
            <a:r>
              <a:rPr lang="en-PK" sz="2400" dirty="0"/>
              <a:t>↓</a:t>
            </a:r>
            <a:br>
              <a:rPr lang="en-PK" sz="2400" dirty="0"/>
            </a:br>
            <a:r>
              <a:rPr lang="en-PK" sz="2400" dirty="0"/>
              <a:t>Release Testing</a:t>
            </a:r>
            <a:br>
              <a:rPr lang="en-PK" sz="2400" dirty="0"/>
            </a:br>
            <a:r>
              <a:rPr lang="en-PK" sz="2400" dirty="0"/>
              <a:t>↓</a:t>
            </a:r>
            <a:br>
              <a:rPr lang="en-PK" sz="2400" dirty="0"/>
            </a:br>
            <a:r>
              <a:rPr lang="en-PK" sz="2400" dirty="0"/>
              <a:t>User Testing</a:t>
            </a:r>
          </a:p>
        </p:txBody>
      </p:sp>
    </p:spTree>
    <p:extLst>
      <p:ext uri="{BB962C8B-B14F-4D97-AF65-F5344CB8AC3E}">
        <p14:creationId xmlns:p14="http://schemas.microsoft.com/office/powerpoint/2010/main" val="337709500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1D6A3A69-1577-0FA0-D8E7-574422899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Stages of testing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F89A8349-3514-856E-FE3D-278C284AE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/>
              <a:t>Development testing</a:t>
            </a:r>
            <a:r>
              <a:rPr lang="en-US" altLang="en-US"/>
              <a:t>, where the system is tested during development to discover bugs and defects. </a:t>
            </a:r>
          </a:p>
          <a:p>
            <a:r>
              <a:rPr lang="en-US" altLang="en-US" b="1"/>
              <a:t>Release testing</a:t>
            </a:r>
            <a:r>
              <a:rPr lang="en-US" altLang="en-US"/>
              <a:t>, where a separate testing team test a complete version of the system before it is released to users. </a:t>
            </a:r>
          </a:p>
          <a:p>
            <a:r>
              <a:rPr lang="en-US" altLang="en-US" b="1"/>
              <a:t>User testing, </a:t>
            </a:r>
            <a:r>
              <a:rPr lang="en-US" altLang="en-US"/>
              <a:t>where users or potential users of a system test the system in their own environment.</a:t>
            </a:r>
          </a:p>
        </p:txBody>
      </p:sp>
      <p:sp>
        <p:nvSpPr>
          <p:cNvPr id="38917" name="Slide Number Placeholder 4">
            <a:extLst>
              <a:ext uri="{FF2B5EF4-FFF2-40B4-BE49-F238E27FC236}">
                <a16:creationId xmlns:a16="http://schemas.microsoft.com/office/drawing/2014/main" id="{9EAE2A0E-E850-3C47-03E4-72FB068530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598A327-AC88-491C-8AC2-596F249D721A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85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484313" y="3223260"/>
          <a:ext cx="10018713" cy="2011680"/>
        </p:xfrm>
        <a:graphic>
          <a:graphicData uri="http://schemas.openxmlformats.org/drawingml/2006/table">
            <a:tbl>
              <a:tblPr/>
              <a:tblGrid>
                <a:gridCol w="3339571">
                  <a:extLst>
                    <a:ext uri="{9D8B030D-6E8A-4147-A177-3AD203B41FA5}">
                      <a16:colId xmlns:a16="http://schemas.microsoft.com/office/drawing/2014/main" val="457587493"/>
                    </a:ext>
                  </a:extLst>
                </a:gridCol>
                <a:gridCol w="3339571">
                  <a:extLst>
                    <a:ext uri="{9D8B030D-6E8A-4147-A177-3AD203B41FA5}">
                      <a16:colId xmlns:a16="http://schemas.microsoft.com/office/drawing/2014/main" val="564399518"/>
                    </a:ext>
                  </a:extLst>
                </a:gridCol>
                <a:gridCol w="3339571">
                  <a:extLst>
                    <a:ext uri="{9D8B030D-6E8A-4147-A177-3AD203B41FA5}">
                      <a16:colId xmlns:a16="http://schemas.microsoft.com/office/drawing/2014/main" val="4557114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Testing Stage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Main Focus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Common Types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287098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/>
                        <a:t>Development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Finding defects during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Unit, Component,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752142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/>
                        <a:t>Release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Verifying complete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Requirements, Scenario,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886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User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User satisfaction and approval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Alpha, Beta, Acceptance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2769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029888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B30925EE-0209-9D72-7E46-86C15446A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Development testing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87B439CF-8C70-E35F-767D-97423D823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/>
              <a:t>Development testing includes all testing activities that are carried out by the team developing the system. </a:t>
            </a:r>
          </a:p>
          <a:p>
            <a:pPr lvl="1"/>
            <a:r>
              <a:rPr lang="en-US" altLang="en-US" b="1" dirty="0"/>
              <a:t>Unit testing, </a:t>
            </a:r>
            <a:r>
              <a:rPr lang="en-US" altLang="en-US" dirty="0"/>
              <a:t>where individual program units or object classes are tested. Unit testing should focus on testing the functionality of objects or methods.</a:t>
            </a:r>
            <a:endParaRPr lang="en-GB" altLang="en-US" dirty="0"/>
          </a:p>
          <a:p>
            <a:pPr lvl="1"/>
            <a:r>
              <a:rPr lang="en-US" altLang="en-US" b="1" dirty="0"/>
              <a:t>Component testing, </a:t>
            </a:r>
            <a:r>
              <a:rPr lang="en-US" altLang="en-US" dirty="0"/>
              <a:t>where several individual units are integrated to create composite components.</a:t>
            </a:r>
          </a:p>
          <a:p>
            <a:pPr lvl="1"/>
            <a:r>
              <a:rPr lang="en-US" altLang="en-US" b="1" dirty="0"/>
              <a:t>Integration Testing </a:t>
            </a:r>
            <a:r>
              <a:rPr lang="en-US" dirty="0"/>
              <a:t>Where interaction between combined modules is tested.</a:t>
            </a:r>
            <a:endParaRPr lang="en-GB" altLang="en-US" dirty="0"/>
          </a:p>
          <a:p>
            <a:pPr lvl="1"/>
            <a:r>
              <a:rPr lang="en-US" altLang="en-US" b="1" dirty="0"/>
              <a:t>System testing, </a:t>
            </a:r>
            <a:r>
              <a:rPr lang="en-US" altLang="en-US" dirty="0"/>
              <a:t>where some or all of the components in a system are integrated and the system is tested as a whole. </a:t>
            </a:r>
          </a:p>
        </p:txBody>
      </p:sp>
      <p:sp>
        <p:nvSpPr>
          <p:cNvPr id="39941" name="Slide Number Placeholder 4">
            <a:extLst>
              <a:ext uri="{FF2B5EF4-FFF2-40B4-BE49-F238E27FC236}">
                <a16:creationId xmlns:a16="http://schemas.microsoft.com/office/drawing/2014/main" id="{9DEB5B88-95C3-F95A-F574-22AC4A9EE0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2009998-0BB2-4FD7-AE22-614B8776F2C6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87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1879A1C3-F6EE-3118-9055-B40FF3E30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Unit testing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BF93D194-DFD0-4129-4C33-0AC956B42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Unit testing is the process of testing individual function/ component in isolation.</a:t>
            </a:r>
          </a:p>
          <a:p>
            <a:r>
              <a:rPr lang="en-US" altLang="en-US" dirty="0"/>
              <a:t>Units may be:</a:t>
            </a:r>
          </a:p>
          <a:p>
            <a:pPr lvl="1"/>
            <a:r>
              <a:rPr lang="en-US" altLang="en-US" dirty="0"/>
              <a:t>Individual functions or methods within an object </a:t>
            </a:r>
          </a:p>
          <a:p>
            <a:pPr lvl="1"/>
            <a:r>
              <a:rPr lang="en-US" altLang="en-US" dirty="0"/>
              <a:t>Object classes with several attributes and methods </a:t>
            </a:r>
          </a:p>
        </p:txBody>
      </p:sp>
      <p:sp>
        <p:nvSpPr>
          <p:cNvPr id="40965" name="Slide Number Placeholder 3">
            <a:extLst>
              <a:ext uri="{FF2B5EF4-FFF2-40B4-BE49-F238E27FC236}">
                <a16:creationId xmlns:a16="http://schemas.microsoft.com/office/drawing/2014/main" id="{D4014F7D-0A7F-4492-4183-2967138732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4AEBAD5-C69B-4766-BB18-A8A8A5D7901E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88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Testing a complete module or component independently.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Testing the entire Login Module including:</a:t>
            </a:r>
          </a:p>
          <a:p>
            <a:r>
              <a:rPr lang="en-US" dirty="0"/>
              <a:t>username validation </a:t>
            </a:r>
          </a:p>
          <a:p>
            <a:r>
              <a:rPr lang="en-US" dirty="0"/>
              <a:t>password checking </a:t>
            </a:r>
          </a:p>
          <a:p>
            <a:r>
              <a:rPr lang="en-US" dirty="0"/>
              <a:t>error messages </a:t>
            </a:r>
          </a:p>
          <a:p>
            <a:pPr marL="0" indent="0">
              <a:buNone/>
            </a:pPr>
            <a:r>
              <a:rPr lang="en-US" b="1" dirty="0"/>
              <a:t>Goal</a:t>
            </a:r>
          </a:p>
          <a:p>
            <a:r>
              <a:rPr lang="en-US" dirty="0"/>
              <a:t>Ensure the module works properly as a whole.</a:t>
            </a:r>
          </a:p>
        </p:txBody>
      </p:sp>
    </p:spTree>
    <p:extLst>
      <p:ext uri="{BB962C8B-B14F-4D97-AF65-F5344CB8AC3E}">
        <p14:creationId xmlns:p14="http://schemas.microsoft.com/office/powerpoint/2010/main" val="366460495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1" y="2438399"/>
            <a:ext cx="10018713" cy="368709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Testing combined modules to ensure they work together correctly.</a:t>
            </a:r>
          </a:p>
          <a:p>
            <a:pPr marL="0" indent="0">
              <a:buNone/>
            </a:pPr>
            <a:r>
              <a:rPr lang="en-US" b="1" dirty="0"/>
              <a:t>Focus</a:t>
            </a:r>
          </a:p>
          <a:p>
            <a:r>
              <a:rPr lang="en-US" dirty="0"/>
              <a:t>Module interaction </a:t>
            </a:r>
          </a:p>
          <a:p>
            <a:r>
              <a:rPr lang="en-US" dirty="0"/>
              <a:t>Data communication </a:t>
            </a:r>
          </a:p>
          <a:p>
            <a:r>
              <a:rPr lang="en-US" dirty="0"/>
              <a:t>Interface connections 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In a banking system:</a:t>
            </a:r>
          </a:p>
          <a:p>
            <a:r>
              <a:rPr lang="en-US" dirty="0"/>
              <a:t>Login module connects with database </a:t>
            </a:r>
          </a:p>
          <a:p>
            <a:r>
              <a:rPr lang="en-US" dirty="0"/>
              <a:t>Payment module communicates with account module </a:t>
            </a:r>
          </a:p>
          <a:p>
            <a:pPr marL="0" indent="0">
              <a:buNone/>
            </a:pPr>
            <a:r>
              <a:rPr lang="en-US" b="1" dirty="0"/>
              <a:t>Purpose</a:t>
            </a:r>
          </a:p>
          <a:p>
            <a:r>
              <a:rPr lang="en-US" dirty="0"/>
              <a:t>To identify problems in communication between modules.</a:t>
            </a:r>
          </a:p>
        </p:txBody>
      </p:sp>
    </p:spTree>
    <p:extLst>
      <p:ext uri="{BB962C8B-B14F-4D97-AF65-F5344CB8AC3E}">
        <p14:creationId xmlns:p14="http://schemas.microsoft.com/office/powerpoint/2010/main" val="292707670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1EE63B0C-BE56-44E0-AF37-5F4D99365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System testing</a:t>
            </a:r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88397936-AAB3-9156-18E6-F94B544FA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System testing during development involves integrating components to create a version of the system and then testing the integrated system.</a:t>
            </a:r>
          </a:p>
          <a:p>
            <a:r>
              <a:rPr lang="en-US" altLang="en-US"/>
              <a:t>The focus in system testing is testing the interactions between components. </a:t>
            </a:r>
          </a:p>
          <a:p>
            <a:r>
              <a:rPr lang="en-US" altLang="en-US"/>
              <a:t>System testing checks that components are compatible, interact correctly and transfer the right data at the right time across their interfaces. </a:t>
            </a:r>
          </a:p>
          <a:p>
            <a:r>
              <a:rPr lang="en-US" altLang="en-US"/>
              <a:t>System testing tests the emergent behaviour of a system. </a:t>
            </a:r>
          </a:p>
        </p:txBody>
      </p:sp>
      <p:sp>
        <p:nvSpPr>
          <p:cNvPr id="41989" name="Slide Number Placeholder 3">
            <a:extLst>
              <a:ext uri="{FF2B5EF4-FFF2-40B4-BE49-F238E27FC236}">
                <a16:creationId xmlns:a16="http://schemas.microsoft.com/office/drawing/2014/main" id="{D78DD52A-B004-47B1-B8E5-8D4FFC6C4C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CCF0F28-12BF-4529-9E17-8D2AC587DFB0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91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3321A38B-0668-CB1E-B87D-3B8301F6A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System and component testing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F04D59DB-C8F4-64F1-64A7-280AA0387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During system testing, reusable components that have been separately developed and off-the-shelf systems may be integrated with newly developed components. The complete system is then tested.</a:t>
            </a:r>
            <a:endParaRPr lang="en-GB" altLang="en-US" dirty="0"/>
          </a:p>
          <a:p>
            <a:r>
              <a:rPr lang="en-US" altLang="en-US" dirty="0"/>
              <a:t>Components developed by different team members or sub-teams may be integrated at this stage. System testing is a collective rather than an individual process. </a:t>
            </a:r>
          </a:p>
          <a:p>
            <a:pPr lvl="1"/>
            <a:r>
              <a:rPr lang="en-US" altLang="en-US" dirty="0"/>
              <a:t>In some companies, system testing may involve a separate testing team with no involvement from designers and programmers. </a:t>
            </a:r>
          </a:p>
        </p:txBody>
      </p:sp>
      <p:sp>
        <p:nvSpPr>
          <p:cNvPr id="43013" name="Slide Number Placeholder 4">
            <a:extLst>
              <a:ext uri="{FF2B5EF4-FFF2-40B4-BE49-F238E27FC236}">
                <a16:creationId xmlns:a16="http://schemas.microsoft.com/office/drawing/2014/main" id="{09BD7899-534C-82C0-9AFE-8956AC84A9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68D5C61-4AD5-4C69-919B-257605BDD028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92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9E450E56-F899-D993-4C4A-D53F3299E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Regression testing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89B795EB-2379-C561-5965-86673D8AE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Regression testing is testing the system to check that changes have not ‘broken’ previously working code.</a:t>
            </a:r>
          </a:p>
          <a:p>
            <a:r>
              <a:rPr lang="en-US" altLang="en-US"/>
              <a:t>In a manual testing process, regression testing is expensive but, with automated testing, it is simple and straightforward. All tests are rerun every time a change is made to the program.</a:t>
            </a:r>
          </a:p>
          <a:p>
            <a:r>
              <a:rPr lang="en-US" altLang="en-US"/>
              <a:t>Tests must run ‘successfully’ before the change is committed.</a:t>
            </a:r>
          </a:p>
          <a:p>
            <a:pPr>
              <a:buFont typeface="Wingdings 2" panose="05020102010507070707" pitchFamily="18" charset="2"/>
              <a:buNone/>
            </a:pPr>
            <a:endParaRPr lang="en-US" altLang="en-US"/>
          </a:p>
        </p:txBody>
      </p:sp>
      <p:sp>
        <p:nvSpPr>
          <p:cNvPr id="48133" name="Slide Number Placeholder 3">
            <a:extLst>
              <a:ext uri="{FF2B5EF4-FFF2-40B4-BE49-F238E27FC236}">
                <a16:creationId xmlns:a16="http://schemas.microsoft.com/office/drawing/2014/main" id="{8B7AA955-B92E-76BC-60B6-3FC5F62624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82731FF-9088-4A5B-B5C3-195CDE4BC2E4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93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E036EC83-43AC-5EA3-8DE2-8E20B3457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97767"/>
          </a:xfrm>
        </p:spPr>
        <p:txBody>
          <a:bodyPr/>
          <a:lstStyle/>
          <a:p>
            <a:r>
              <a:rPr lang="en-US" altLang="en-US" dirty="0"/>
              <a:t>Release testing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71C45E4E-3F08-7E2D-322C-0F3EC814C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189" y="1600201"/>
            <a:ext cx="8632825" cy="4525963"/>
          </a:xfrm>
        </p:spPr>
        <p:txBody>
          <a:bodyPr>
            <a:normAutofit/>
          </a:bodyPr>
          <a:lstStyle/>
          <a:p>
            <a:r>
              <a:rPr lang="en-US" altLang="en-US"/>
              <a:t>Release testing is the process of testing a particular release of a system that is intended for use outside of the development team.</a:t>
            </a:r>
            <a:r>
              <a:rPr lang="en-GB" altLang="en-US"/>
              <a:t> </a:t>
            </a:r>
          </a:p>
          <a:p>
            <a:r>
              <a:rPr lang="en-US" altLang="en-US"/>
              <a:t>The primary goal of the release testing process is to convince the supplier of the system that it is good enough for use</a:t>
            </a:r>
            <a:r>
              <a:rPr lang="en-GB" altLang="en-US"/>
              <a:t>.</a:t>
            </a:r>
          </a:p>
          <a:p>
            <a:pPr lvl="1"/>
            <a:r>
              <a:rPr lang="en-US" altLang="en-US"/>
              <a:t>Release testing, therefore, has to show that the system delivers its specified functionality, performance and dependability, and that it does not fail during normal use.</a:t>
            </a:r>
            <a:r>
              <a:rPr lang="en-GB" altLang="en-US"/>
              <a:t> </a:t>
            </a:r>
          </a:p>
          <a:p>
            <a:r>
              <a:rPr lang="en-US" altLang="en-US"/>
              <a:t>Release testing is usually a </a:t>
            </a:r>
            <a:r>
              <a:rPr lang="en-US" altLang="en-US" b="1"/>
              <a:t>black-box testing </a:t>
            </a:r>
            <a:r>
              <a:rPr lang="en-US" altLang="en-US"/>
              <a:t>process where tests are only derived from the system specification. </a:t>
            </a:r>
            <a:endParaRPr lang="en-GB" altLang="en-US"/>
          </a:p>
          <a:p>
            <a:endParaRPr lang="en-US" altLang="en-US"/>
          </a:p>
        </p:txBody>
      </p:sp>
      <p:sp>
        <p:nvSpPr>
          <p:cNvPr id="49157" name="Slide Number Placeholder 3">
            <a:extLst>
              <a:ext uri="{FF2B5EF4-FFF2-40B4-BE49-F238E27FC236}">
                <a16:creationId xmlns:a16="http://schemas.microsoft.com/office/drawing/2014/main" id="{43B26DB0-3657-054D-A3EF-D5982A2803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2F5AF3B-E5A9-4C81-9DFF-CD7933B3ED37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94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B3C44B72-7409-CE77-69D3-D2464033B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Release testing and system testing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E968A71F-5401-43D5-7B7D-DADFCE487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Release testing is a form of system testing.</a:t>
            </a:r>
          </a:p>
          <a:p>
            <a:r>
              <a:rPr lang="en-US" altLang="en-US" dirty="0"/>
              <a:t>Important differences:</a:t>
            </a:r>
          </a:p>
          <a:p>
            <a:pPr lvl="1"/>
            <a:r>
              <a:rPr lang="en-US" altLang="en-US" dirty="0"/>
              <a:t>A separate team that has not been involved in the system development, should be responsible for release testing.</a:t>
            </a:r>
            <a:endParaRPr lang="en-GB" altLang="en-US" dirty="0"/>
          </a:p>
          <a:p>
            <a:pPr lvl="1"/>
            <a:r>
              <a:rPr lang="en-US" altLang="en-US" dirty="0"/>
              <a:t>System testing by the development team should focus on </a:t>
            </a:r>
            <a:r>
              <a:rPr lang="en-US" altLang="en-US" b="1" dirty="0"/>
              <a:t>discovering bugs in the system (defect testing). </a:t>
            </a:r>
          </a:p>
          <a:p>
            <a:pPr lvl="1"/>
            <a:r>
              <a:rPr lang="en-US" altLang="en-US" dirty="0"/>
              <a:t>The objective of release testing is to </a:t>
            </a:r>
            <a:r>
              <a:rPr lang="en-US" altLang="en-US" b="1" dirty="0"/>
              <a:t>check that the system meets its requirements and is good enough for external use (validation testing).</a:t>
            </a:r>
            <a:endParaRPr lang="en-GB" altLang="en-US" b="1" dirty="0"/>
          </a:p>
          <a:p>
            <a:endParaRPr lang="en-US" altLang="en-US" dirty="0"/>
          </a:p>
        </p:txBody>
      </p:sp>
      <p:sp>
        <p:nvSpPr>
          <p:cNvPr id="50181" name="Slide Number Placeholder 3">
            <a:extLst>
              <a:ext uri="{FF2B5EF4-FFF2-40B4-BE49-F238E27FC236}">
                <a16:creationId xmlns:a16="http://schemas.microsoft.com/office/drawing/2014/main" id="{FA71ED8E-2D6B-9807-E70D-F198FB0F7B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DDF36A6-8F16-4377-9BEB-3C195910D1B3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95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8165165F-6CFE-4462-0119-C2EBF4A53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Requirements based testing</a:t>
            </a:r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4DC9C5C1-5553-F22A-15C7-7A8A48C26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en-US" dirty="0"/>
              <a:t>Requirements-based testing involves examining each requirement and developing a test or tests for it.</a:t>
            </a:r>
          </a:p>
          <a:p>
            <a:r>
              <a:rPr lang="en-US" dirty="0"/>
              <a:t>Testing software against functional and non-functional requirements.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r>
              <a:rPr lang="en-US" dirty="0"/>
              <a:t>Checking whether:</a:t>
            </a:r>
          </a:p>
          <a:p>
            <a:r>
              <a:rPr lang="en-US" dirty="0"/>
              <a:t>response time is under 2 seconds </a:t>
            </a:r>
          </a:p>
          <a:p>
            <a:r>
              <a:rPr lang="en-US" dirty="0"/>
              <a:t>login feature works according to requirements </a:t>
            </a:r>
          </a:p>
          <a:p>
            <a:pPr marL="0" indent="0">
              <a:buNone/>
            </a:pPr>
            <a:r>
              <a:rPr lang="en-US" b="1" dirty="0"/>
              <a:t>Goal</a:t>
            </a:r>
          </a:p>
          <a:p>
            <a:r>
              <a:rPr lang="en-US" dirty="0"/>
              <a:t>Ensure all requirements are fulfilled.</a:t>
            </a:r>
          </a:p>
        </p:txBody>
      </p:sp>
      <p:sp>
        <p:nvSpPr>
          <p:cNvPr id="51205" name="Slide Number Placeholder 3">
            <a:extLst>
              <a:ext uri="{FF2B5EF4-FFF2-40B4-BE49-F238E27FC236}">
                <a16:creationId xmlns:a16="http://schemas.microsoft.com/office/drawing/2014/main" id="{BC67FA38-22C8-F95E-C5A8-9C23B9C3E0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20A1CF6-3B4C-4B57-B2D3-D0A2CE669263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96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Scenario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Testing realistic user situations and workflows.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E-commerce scenario:</a:t>
            </a:r>
          </a:p>
          <a:p>
            <a:r>
              <a:rPr lang="en-US" dirty="0"/>
              <a:t>User logs in </a:t>
            </a:r>
          </a:p>
          <a:p>
            <a:r>
              <a:rPr lang="en-US" dirty="0"/>
              <a:t>Adds product to cart </a:t>
            </a:r>
          </a:p>
          <a:p>
            <a:r>
              <a:rPr lang="en-US" dirty="0"/>
              <a:t>Makes payment </a:t>
            </a:r>
          </a:p>
          <a:p>
            <a:r>
              <a:rPr lang="en-US" dirty="0"/>
              <a:t>Receives confirmation </a:t>
            </a:r>
          </a:p>
          <a:p>
            <a:pPr marL="0" indent="0">
              <a:buNone/>
            </a:pPr>
            <a:r>
              <a:rPr lang="en-US" b="1" dirty="0"/>
              <a:t>Goal</a:t>
            </a:r>
          </a:p>
          <a:p>
            <a:r>
              <a:rPr lang="en-US" dirty="0"/>
              <a:t>Verify complete real-world operations.</a:t>
            </a:r>
          </a:p>
        </p:txBody>
      </p:sp>
    </p:spTree>
    <p:extLst>
      <p:ext uri="{BB962C8B-B14F-4D97-AF65-F5344CB8AC3E}">
        <p14:creationId xmlns:p14="http://schemas.microsoft.com/office/powerpoint/2010/main" val="163751874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54704E37-397D-E82B-01CF-D7AA9B03E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Performance testing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DA6CB3F5-2537-1A4F-ABEC-404EA7465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4048433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/>
              <a:t>Part of release testing</a:t>
            </a:r>
          </a:p>
          <a:p>
            <a:r>
              <a:rPr lang="en-US" altLang="en-US" dirty="0"/>
              <a:t>testing the emergent properties of a system, such as performance, reliability, scalability and speed.</a:t>
            </a:r>
          </a:p>
          <a:p>
            <a:r>
              <a:rPr lang="en-US" altLang="en-US" b="1" dirty="0"/>
              <a:t>Performance tests </a:t>
            </a:r>
            <a:r>
              <a:rPr lang="en-US" altLang="en-US" dirty="0"/>
              <a:t>usually involve planning a series of tests where the load is steadily increased until the system performance becomes unacceptable.</a:t>
            </a:r>
          </a:p>
          <a:p>
            <a:r>
              <a:rPr lang="en-US" altLang="en-US" b="1" dirty="0"/>
              <a:t>Stress testing </a:t>
            </a:r>
            <a:r>
              <a:rPr lang="en-US" altLang="en-US" dirty="0"/>
              <a:t>is a form of performance testing where the system is deliberately overloaded to test its failure behavior.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Checking system behavior with:</a:t>
            </a:r>
          </a:p>
          <a:p>
            <a:r>
              <a:rPr lang="en-US" dirty="0"/>
              <a:t>1000 users logging in simultaneously </a:t>
            </a:r>
          </a:p>
          <a:p>
            <a:pPr marL="0" indent="0">
              <a:buNone/>
            </a:pPr>
            <a:r>
              <a:rPr lang="en-US" b="1" dirty="0"/>
              <a:t>Goal</a:t>
            </a:r>
          </a:p>
          <a:p>
            <a:r>
              <a:rPr lang="en-US" dirty="0"/>
              <a:t>Ensure system performs efficiently under load.</a:t>
            </a:r>
          </a:p>
        </p:txBody>
      </p:sp>
      <p:sp>
        <p:nvSpPr>
          <p:cNvPr id="52229" name="Slide Number Placeholder 3">
            <a:extLst>
              <a:ext uri="{FF2B5EF4-FFF2-40B4-BE49-F238E27FC236}">
                <a16:creationId xmlns:a16="http://schemas.microsoft.com/office/drawing/2014/main" id="{ACC3BFDD-067A-7DEA-6E0E-330A02A218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9C70E4E-69B1-4857-9AC0-E475839853CE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98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ACBDB44F-B0B1-7C12-124C-F7800FC72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User testing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7D322CF2-0D7C-0BE9-9741-A6636A428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User or customer testing is a stage in the testing process in which users or customers provide input and advice on system testing. </a:t>
            </a:r>
          </a:p>
          <a:p>
            <a:r>
              <a:rPr lang="en-US" altLang="en-US"/>
              <a:t>User testing is essential, even when comprehensive system and release testing have been carried out. </a:t>
            </a:r>
          </a:p>
          <a:p>
            <a:pPr lvl="1"/>
            <a:r>
              <a:rPr lang="en-US" altLang="en-US"/>
              <a:t>The reason for this is that influences from the user’s working environment have a major effect on the reliability, performance, usability and robustness of a system. These cannot be replicated in a testing environment.</a:t>
            </a:r>
            <a:endParaRPr lang="en-GB" altLang="en-US"/>
          </a:p>
          <a:p>
            <a:endParaRPr lang="en-US" altLang="en-US"/>
          </a:p>
        </p:txBody>
      </p:sp>
      <p:sp>
        <p:nvSpPr>
          <p:cNvPr id="53253" name="Slide Number Placeholder 3">
            <a:extLst>
              <a:ext uri="{FF2B5EF4-FFF2-40B4-BE49-F238E27FC236}">
                <a16:creationId xmlns:a16="http://schemas.microsoft.com/office/drawing/2014/main" id="{31D9158E-72C5-27F4-B055-0D31C11CF5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B977DF6-0AEE-4A60-8AC3-AC75524A617E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99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9B80DE8A-A96D-361D-2D63-564FB4E16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user testing</a:t>
            </a:r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7E7DC4F3-4740-EEA6-0067-B492E1175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en-US"/>
              <a:t>Alpha testing</a:t>
            </a:r>
          </a:p>
          <a:p>
            <a:pPr lvl="1"/>
            <a:r>
              <a:rPr lang="en-US" altLang="en-US"/>
              <a:t>Users of the software work with the development team to test the software at the developer’s site.</a:t>
            </a:r>
            <a:endParaRPr lang="en-GB" altLang="en-US"/>
          </a:p>
          <a:p>
            <a:r>
              <a:rPr lang="en-US" altLang="en-US"/>
              <a:t>Beta testing</a:t>
            </a:r>
          </a:p>
          <a:p>
            <a:pPr lvl="1"/>
            <a:r>
              <a:rPr lang="en-US" altLang="en-US"/>
              <a:t>A release of the software is made available to users to allow them to experiment and to raise problems that they discover with the system developers.</a:t>
            </a:r>
            <a:endParaRPr lang="en-GB" altLang="en-US"/>
          </a:p>
          <a:p>
            <a:r>
              <a:rPr lang="en-US" altLang="en-US"/>
              <a:t>Acceptance testing</a:t>
            </a:r>
          </a:p>
          <a:p>
            <a:pPr lvl="1"/>
            <a:r>
              <a:rPr lang="en-US" altLang="en-US"/>
              <a:t>Customers test a system to decide whether or not it is ready to be accepted from the system developers and deployed in the customer environment. Primarily for custom systems.</a:t>
            </a:r>
            <a:endParaRPr lang="en-GB" altLang="en-US"/>
          </a:p>
          <a:p>
            <a:endParaRPr lang="en-US" altLang="en-US"/>
          </a:p>
        </p:txBody>
      </p:sp>
      <p:sp>
        <p:nvSpPr>
          <p:cNvPr id="54277" name="Slide Number Placeholder 3">
            <a:extLst>
              <a:ext uri="{FF2B5EF4-FFF2-40B4-BE49-F238E27FC236}">
                <a16:creationId xmlns:a16="http://schemas.microsoft.com/office/drawing/2014/main" id="{F14CBC74-0C88-3CBC-9A18-54954809A5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1EE4F36-4B0B-438E-852E-6AB3D7DE8D47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100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C0F9E-05D2-A9A3-24D0-63A29BBF1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Agile methods and acceptance testing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659860C1-0E1F-F60F-5BD1-FCA5A9015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In agile methods, the user/customer is part of the development team and is responsible for making decisions on the acceptability of the system.</a:t>
            </a:r>
          </a:p>
          <a:p>
            <a:r>
              <a:rPr lang="en-US" altLang="en-US"/>
              <a:t>Tests are defined by the user/customer and are integrated with other tests in that they are run automatically when changes are made.</a:t>
            </a:r>
          </a:p>
          <a:p>
            <a:r>
              <a:rPr lang="en-US" altLang="en-US"/>
              <a:t>There is no separate acceptance testing process.</a:t>
            </a:r>
          </a:p>
        </p:txBody>
      </p:sp>
      <p:sp>
        <p:nvSpPr>
          <p:cNvPr id="55301" name="Slide Number Placeholder 3">
            <a:extLst>
              <a:ext uri="{FF2B5EF4-FFF2-40B4-BE49-F238E27FC236}">
                <a16:creationId xmlns:a16="http://schemas.microsoft.com/office/drawing/2014/main" id="{D7DFF30C-06D1-2E1E-4233-CC03AE78FD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DE3D49B-9B18-451B-A619-7D96BECC4DCD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101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157F2D6B-8DFE-F591-05A0-B44320C8F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Test-driven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39D98-1D70-71AE-7A7F-353464E5F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dirty="0"/>
              <a:t>Test-driven development (TDD) is an approach to program development in which you inter-leave testing and code development.</a:t>
            </a:r>
          </a:p>
          <a:p>
            <a:pPr>
              <a:defRPr/>
            </a:pPr>
            <a:r>
              <a:rPr lang="en-US" dirty="0"/>
              <a:t>Tests are written before code and ‘passing’ the tests is the critical driver of development. </a:t>
            </a:r>
          </a:p>
          <a:p>
            <a:pPr>
              <a:defRPr/>
            </a:pPr>
            <a:r>
              <a:rPr lang="en-US" dirty="0"/>
              <a:t>You develop code incrementally, along with a test for that increment. You don’t move on to the next increment until the code that you have developed passes its test. </a:t>
            </a:r>
          </a:p>
          <a:p>
            <a:pPr>
              <a:defRPr/>
            </a:pPr>
            <a:r>
              <a:rPr lang="en-US" dirty="0"/>
              <a:t>TDD was introduced as part of agile methods such as Extreme Programming. However, it can also be used in plan-driven development processes. </a:t>
            </a:r>
            <a:endParaRPr lang="en-GB" dirty="0"/>
          </a:p>
          <a:p>
            <a:pPr>
              <a:defRPr/>
            </a:pPr>
            <a:endParaRPr lang="en-US" dirty="0"/>
          </a:p>
        </p:txBody>
      </p:sp>
      <p:sp>
        <p:nvSpPr>
          <p:cNvPr id="44037" name="Slide Number Placeholder 3">
            <a:extLst>
              <a:ext uri="{FF2B5EF4-FFF2-40B4-BE49-F238E27FC236}">
                <a16:creationId xmlns:a16="http://schemas.microsoft.com/office/drawing/2014/main" id="{05358FDE-A913-3DDD-2816-CE352C76C4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1CDC88C-6649-416C-A33C-C2F494E62C0E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102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29181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4A8476F7-DDEE-1CC3-45CE-32E9014A9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Test-driven development</a:t>
            </a:r>
          </a:p>
        </p:txBody>
      </p:sp>
      <p:pic>
        <p:nvPicPr>
          <p:cNvPr id="45059" name="Content Placeholder 3" descr="8.9 TestDrivenDev.eps">
            <a:extLst>
              <a:ext uri="{FF2B5EF4-FFF2-40B4-BE49-F238E27FC236}">
                <a16:creationId xmlns:a16="http://schemas.microsoft.com/office/drawing/2014/main" id="{7203CEC5-47FA-DC9E-A65B-55AE6B0716B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975" y="2715208"/>
            <a:ext cx="8497489" cy="2494676"/>
          </a:xfrm>
        </p:spPr>
      </p:pic>
      <p:sp>
        <p:nvSpPr>
          <p:cNvPr id="45061" name="Slide Number Placeholder 4">
            <a:extLst>
              <a:ext uri="{FF2B5EF4-FFF2-40B4-BE49-F238E27FC236}">
                <a16:creationId xmlns:a16="http://schemas.microsoft.com/office/drawing/2014/main" id="{EE017A48-316B-C53A-52F2-02053A3A95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A35811B-C3A3-4251-B0FF-0A3573330604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103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037456" y="1829843"/>
            <a:ext cx="18288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Write Test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Run Test (Fails)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Write Code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Run Test (Passes)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Refactor Code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397285589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C7AADE90-DAE8-AC7A-4113-0CF53256B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TDD process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9C633-7E03-8A88-B732-ACDF5B9CD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dirty="0"/>
              <a:t>Start by identifying the increment of functionality that is required. This should normally be small and implementable in a few lines of code.</a:t>
            </a:r>
            <a:endParaRPr lang="en-GB" dirty="0"/>
          </a:p>
          <a:p>
            <a:pPr>
              <a:defRPr/>
            </a:pPr>
            <a:r>
              <a:rPr lang="en-US" dirty="0"/>
              <a:t>Write a test for this functionality and implement this as an automated test. </a:t>
            </a:r>
            <a:endParaRPr lang="en-GB" dirty="0"/>
          </a:p>
          <a:p>
            <a:pPr>
              <a:defRPr/>
            </a:pPr>
            <a:r>
              <a:rPr lang="en-US" dirty="0"/>
              <a:t>Run the test, along with all other tests that have been implemented. Initially, you have not implemented the functionality so the new test will fail. </a:t>
            </a:r>
            <a:endParaRPr lang="en-GB" dirty="0"/>
          </a:p>
          <a:p>
            <a:pPr>
              <a:defRPr/>
            </a:pPr>
            <a:r>
              <a:rPr lang="en-US" dirty="0"/>
              <a:t>Implement the functionality and re-run the test. </a:t>
            </a:r>
            <a:endParaRPr lang="en-GB" dirty="0"/>
          </a:p>
          <a:p>
            <a:pPr>
              <a:defRPr/>
            </a:pPr>
            <a:r>
              <a:rPr lang="en-US" dirty="0"/>
              <a:t>Once all tests run successfully, you move on to implementing the next chunk of functionality.</a:t>
            </a:r>
            <a:endParaRPr lang="en-GB" dirty="0"/>
          </a:p>
          <a:p>
            <a:pPr>
              <a:defRPr/>
            </a:pPr>
            <a:endParaRPr lang="en-US" dirty="0"/>
          </a:p>
        </p:txBody>
      </p:sp>
      <p:sp>
        <p:nvSpPr>
          <p:cNvPr id="46085" name="Slide Number Placeholder 3">
            <a:extLst>
              <a:ext uri="{FF2B5EF4-FFF2-40B4-BE49-F238E27FC236}">
                <a16:creationId xmlns:a16="http://schemas.microsoft.com/office/drawing/2014/main" id="{3EF4DA00-C03C-7CBD-878A-D2265FAB51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D644803-787F-4A20-B75D-992275734BA6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104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04540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9344E-4BB0-298B-A8FC-9D1658BB8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Benefits of test-driven development</a:t>
            </a:r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A6407BD0-D74E-07A9-4BA5-2370A60DE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>
                <a:solidFill>
                  <a:srgbClr val="000000"/>
                </a:solidFill>
              </a:rPr>
              <a:t>Code coverage </a:t>
            </a:r>
          </a:p>
          <a:p>
            <a:pPr lvl="1"/>
            <a:r>
              <a:rPr lang="en-US" altLang="en-US"/>
              <a:t>Every code segment that you write has at least one associated test so all code written has at least one test.</a:t>
            </a:r>
            <a:endParaRPr lang="en-GB" altLang="en-US"/>
          </a:p>
          <a:p>
            <a:r>
              <a:rPr lang="en-US" altLang="en-US">
                <a:solidFill>
                  <a:srgbClr val="000000"/>
                </a:solidFill>
              </a:rPr>
              <a:t>Regression testing </a:t>
            </a:r>
          </a:p>
          <a:p>
            <a:pPr lvl="1"/>
            <a:r>
              <a:rPr lang="en-US" altLang="en-US"/>
              <a:t>A regression test suite is developed incrementally as a program is developed. </a:t>
            </a:r>
            <a:endParaRPr lang="en-GB" altLang="en-US"/>
          </a:p>
          <a:p>
            <a:r>
              <a:rPr lang="en-US" altLang="en-US">
                <a:solidFill>
                  <a:srgbClr val="000000"/>
                </a:solidFill>
              </a:rPr>
              <a:t>Simplified debugging </a:t>
            </a:r>
          </a:p>
          <a:p>
            <a:pPr lvl="1"/>
            <a:r>
              <a:rPr lang="en-US" altLang="en-US"/>
              <a:t>When a test fails, it should be obvious where the problem lies. The newly written code needs to be checked and modified. </a:t>
            </a:r>
            <a:endParaRPr lang="en-GB" altLang="en-US"/>
          </a:p>
        </p:txBody>
      </p:sp>
      <p:sp>
        <p:nvSpPr>
          <p:cNvPr id="47109" name="Slide Number Placeholder 3">
            <a:extLst>
              <a:ext uri="{FF2B5EF4-FFF2-40B4-BE49-F238E27FC236}">
                <a16:creationId xmlns:a16="http://schemas.microsoft.com/office/drawing/2014/main" id="{78D7E709-B08D-5072-AB1F-DEC034AED0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6C95283-33E1-474E-BC9B-5C0D32556940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105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914400" y="1454333"/>
            <a:ext cx="9429750" cy="3949200"/>
          </a:xfrm>
        </p:spPr>
        <p:txBody>
          <a:bodyPr/>
          <a:lstStyle/>
          <a:p>
            <a:pPr algn="ctr"/>
            <a:r>
              <a:rPr lang="en-US" altLang="en-US" sz="5400" dirty="0"/>
              <a:t>Capability Maturity Model</a:t>
            </a:r>
            <a:br>
              <a:rPr lang="en-US" sz="5400" dirty="0"/>
            </a:br>
            <a:r>
              <a:rPr lang="en-US" sz="5400" dirty="0"/>
              <a:t>		 </a:t>
            </a:r>
            <a:r>
              <a:rPr lang="en-US" sz="2400" dirty="0"/>
              <a:t>Advanced Software Engineering</a:t>
            </a: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481455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82D975-068F-E2A1-2B18-AF0F54FDE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183" y="751282"/>
            <a:ext cx="6827009" cy="680825"/>
          </a:xfrm>
        </p:spPr>
        <p:txBody>
          <a:bodyPr>
            <a:normAutofit/>
          </a:bodyPr>
          <a:lstStyle/>
          <a:p>
            <a:r>
              <a:rPr lang="en-US" sz="2800" b="1" dirty="0"/>
              <a:t>What is CMM?</a:t>
            </a:r>
            <a:endParaRPr lang="en-PK" sz="2800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76866E-0212-9E8F-F4DA-9E2AA113E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1986" y="1258529"/>
            <a:ext cx="10245213" cy="4848189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method for assessing</a:t>
            </a:r>
            <a:r>
              <a:rPr lang="en-US" dirty="0"/>
              <a:t> software processes</a:t>
            </a:r>
          </a:p>
          <a:p>
            <a:r>
              <a:rPr lang="en-US" dirty="0"/>
              <a:t>A </a:t>
            </a:r>
            <a:r>
              <a:rPr lang="en-US" b="1" dirty="0"/>
              <a:t>benchmark</a:t>
            </a:r>
            <a:r>
              <a:rPr lang="en-US" dirty="0"/>
              <a:t> to measure the maturity of an organization’s software development process</a:t>
            </a:r>
          </a:p>
          <a:p>
            <a:r>
              <a:rPr lang="en-US" dirty="0"/>
              <a:t>Helps organizations </a:t>
            </a:r>
            <a:r>
              <a:rPr lang="en-US" b="1" dirty="0"/>
              <a:t>develop, improve, and refine</a:t>
            </a:r>
            <a:r>
              <a:rPr lang="en-US" dirty="0"/>
              <a:t> their software processes</a:t>
            </a:r>
          </a:p>
          <a:p>
            <a:endParaRPr lang="en-P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40276D-3CFB-5869-8866-BFE5B2E47C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23046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D8749-E016-6403-EED4-C77AB17A2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6103" y="549846"/>
            <a:ext cx="6827009" cy="680825"/>
          </a:xfrm>
        </p:spPr>
        <p:txBody>
          <a:bodyPr>
            <a:normAutofit/>
          </a:bodyPr>
          <a:lstStyle/>
          <a:p>
            <a:r>
              <a:rPr lang="en-US" sz="2800" b="1" dirty="0"/>
              <a:t>CMM</a:t>
            </a:r>
            <a:endParaRPr lang="en-PK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86547-4289-9AA4-1144-C7BFC80B5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6516" y="1573161"/>
            <a:ext cx="10510684" cy="4533557"/>
          </a:xfrm>
        </p:spPr>
        <p:txBody>
          <a:bodyPr/>
          <a:lstStyle/>
          <a:p>
            <a:r>
              <a:rPr lang="en-US" dirty="0"/>
              <a:t>Developed to </a:t>
            </a:r>
            <a:r>
              <a:rPr lang="en-US" b="1" dirty="0"/>
              <a:t>assess and improve software development processes</a:t>
            </a:r>
            <a:endParaRPr lang="en-US" dirty="0"/>
          </a:p>
          <a:p>
            <a:r>
              <a:rPr lang="en-US" dirty="0"/>
              <a:t>Helps organizations progress from </a:t>
            </a:r>
            <a:r>
              <a:rPr lang="en-US" b="1" dirty="0"/>
              <a:t>chaotic → predictable → optimized</a:t>
            </a:r>
          </a:p>
          <a:p>
            <a:r>
              <a:rPr lang="en-US" b="1" dirty="0"/>
              <a:t>CMM Focus Areas:</a:t>
            </a:r>
          </a:p>
          <a:p>
            <a:pPr lvl="1"/>
            <a:r>
              <a:rPr lang="en-US" dirty="0"/>
              <a:t>Process standardization</a:t>
            </a:r>
          </a:p>
          <a:p>
            <a:pPr lvl="1"/>
            <a:r>
              <a:rPr lang="en-US" dirty="0"/>
              <a:t>Process measurement</a:t>
            </a:r>
          </a:p>
          <a:p>
            <a:pPr lvl="1"/>
            <a:r>
              <a:rPr lang="en-US" dirty="0"/>
              <a:t>Process improvement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b="1" dirty="0"/>
              <a:t>Analogy:</a:t>
            </a:r>
            <a:r>
              <a:rPr lang="en-US" dirty="0"/>
              <a:t> Learning to cook:</a:t>
            </a:r>
          </a:p>
          <a:p>
            <a:pPr lvl="1"/>
            <a:r>
              <a:rPr lang="en-US" dirty="0"/>
              <a:t>Level 1: Randomly following recipes</a:t>
            </a:r>
          </a:p>
          <a:p>
            <a:pPr lvl="1"/>
            <a:r>
              <a:rPr lang="en-US" dirty="0"/>
              <a:t>Level 5: Perfecting techniques and experimenting efficiently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DFC46-D0A5-0E22-1AD5-9CFCEFDA41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2428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0644" y="630143"/>
            <a:ext cx="6827009" cy="680825"/>
          </a:xfrm>
        </p:spPr>
        <p:txBody>
          <a:bodyPr/>
          <a:lstStyle/>
          <a:p>
            <a:r>
              <a:rPr lang="en-US" b="1" dirty="0"/>
              <a:t>Overview of the Capability Maturity Model (CMM)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0644" y="2428568"/>
            <a:ext cx="10166555" cy="387186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b="1" dirty="0"/>
              <a:t>Capability Maturity Model</a:t>
            </a:r>
            <a:r>
              <a:rPr lang="en-US" dirty="0"/>
              <a:t> (</a:t>
            </a:r>
            <a:r>
              <a:rPr lang="en-US" b="1" dirty="0"/>
              <a:t>CMM</a:t>
            </a:r>
            <a:r>
              <a:rPr lang="en-US" dirty="0"/>
              <a:t>)is a development model created after a study of data collected from organizations that contracted with the </a:t>
            </a:r>
            <a:r>
              <a:rPr lang="en-US" dirty="0">
                <a:hlinkClick r:id="rId3" tooltip="U.S. Department of Defense"/>
              </a:rPr>
              <a:t>U.S. Department of Defense</a:t>
            </a:r>
            <a:r>
              <a:rPr lang="en-US" dirty="0"/>
              <a:t>, who funded the research. </a:t>
            </a:r>
          </a:p>
          <a:p>
            <a:endParaRPr lang="en-US" dirty="0"/>
          </a:p>
          <a:p>
            <a:r>
              <a:rPr lang="en-US" altLang="en-US" dirty="0"/>
              <a:t>Developed by the Software Engineering Institute of the Carnegie Mellon University.</a:t>
            </a:r>
          </a:p>
          <a:p>
            <a:r>
              <a:rPr lang="en-US" altLang="en-US" dirty="0"/>
              <a:t>Framework that describes the key elements of an effective software process.</a:t>
            </a:r>
          </a:p>
          <a:p>
            <a:r>
              <a:rPr lang="en-US" dirty="0"/>
              <a:t>Helped organizations to improve the quality of the software.</a:t>
            </a:r>
          </a:p>
          <a:p>
            <a:r>
              <a:rPr lang="en-US" dirty="0"/>
              <a:t>Adoption of SEI CMM has significant business benefits.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26414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D3DAD-79AB-4E67-9246-CF6017427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322" y="531820"/>
            <a:ext cx="8976851" cy="680825"/>
          </a:xfrm>
        </p:spPr>
        <p:txBody>
          <a:bodyPr>
            <a:normAutofit fontScale="90000"/>
          </a:bodyPr>
          <a:lstStyle/>
          <a:p>
            <a:r>
              <a:rPr lang="en-US" dirty="0"/>
              <a:t>SEI CMM (Software Engineering Institute – Capability Maturity Model)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BE6C52-E3F8-421C-858F-B952AAA17A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F3B8E9-4869-4215-A1FB-9EB8EE7E8278}"/>
              </a:ext>
            </a:extLst>
          </p:cNvPr>
          <p:cNvSpPr txBox="1"/>
          <p:nvPr/>
        </p:nvSpPr>
        <p:spPr>
          <a:xfrm>
            <a:off x="1622323" y="1907458"/>
            <a:ext cx="94537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SEI CMM can be used in two ways: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Capability evaluation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Process Assessment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Capability Evaluation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used to check how capable an organization’s software process is.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predict how well a contractor is likely to perform if given a project, so it can be used to choose the right contractor.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Process Assessment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used by an organization to review its own software processes and find ways to improve them.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69424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2452" y="954607"/>
            <a:ext cx="6827009" cy="680825"/>
          </a:xfrm>
        </p:spPr>
        <p:txBody>
          <a:bodyPr/>
          <a:lstStyle/>
          <a:p>
            <a:r>
              <a:rPr lang="en-US" b="1" dirty="0"/>
              <a:t>Purpose of the Capability Maturity Model (CMM)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06012" y="1936955"/>
            <a:ext cx="10481187" cy="4169763"/>
          </a:xfrm>
        </p:spPr>
        <p:txBody>
          <a:bodyPr/>
          <a:lstStyle/>
          <a:p>
            <a:r>
              <a:rPr lang="en-US" altLang="en-US" dirty="0"/>
              <a:t>Describes an evolutionary improvement path for software organizations from an ad hoc, immature process to a mature, disciplined one.</a:t>
            </a:r>
          </a:p>
          <a:p>
            <a:endParaRPr lang="en-US" altLang="en-US" dirty="0"/>
          </a:p>
          <a:p>
            <a:r>
              <a:rPr lang="en-US" altLang="en-US" dirty="0"/>
              <a:t>Provides guidance on how to gain control of processes for developing and maintaining software and how to evolve toward a culture of software engineering and management excellence.</a:t>
            </a:r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8216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823" y="461232"/>
            <a:ext cx="6827009" cy="680825"/>
          </a:xfrm>
        </p:spPr>
        <p:txBody>
          <a:bodyPr/>
          <a:lstStyle/>
          <a:p>
            <a:r>
              <a:rPr lang="en-US" altLang="en-US" b="1" dirty="0"/>
              <a:t>Process Maturity Concepts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6683" y="1691149"/>
            <a:ext cx="10349199" cy="470561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Software Process</a:t>
            </a:r>
          </a:p>
          <a:p>
            <a:pPr marL="457200" lvl="4" indent="-457200">
              <a:lnSpc>
                <a:spcPct val="90000"/>
              </a:lnSpc>
            </a:pPr>
            <a:r>
              <a:rPr lang="en-US" sz="2800" dirty="0"/>
              <a:t>The set of activities, methods, and practices used to develop and maintain software, along with related artifacts like plans, designs, code, tests, and user manuals.</a:t>
            </a:r>
          </a:p>
          <a:p>
            <a:pPr lvl="1">
              <a:lnSpc>
                <a:spcPct val="90000"/>
              </a:lnSpc>
            </a:pPr>
            <a:endParaRPr lang="en-US" altLang="en-US" sz="2800" dirty="0"/>
          </a:p>
          <a:p>
            <a:pPr>
              <a:lnSpc>
                <a:spcPct val="90000"/>
              </a:lnSpc>
            </a:pPr>
            <a:r>
              <a:rPr lang="en-US" altLang="en-US" sz="2800" dirty="0"/>
              <a:t>Software Process Capability</a:t>
            </a:r>
          </a:p>
          <a:p>
            <a:pPr marL="808038" lvl="1" indent="-342900">
              <a:lnSpc>
                <a:spcPct val="90000"/>
              </a:lnSpc>
            </a:pPr>
            <a:r>
              <a:rPr lang="en-US" altLang="en-US" sz="2800" dirty="0"/>
              <a:t>describes the range of expected results that can be achieved by following a software process</a:t>
            </a:r>
          </a:p>
          <a:p>
            <a:pPr marL="808038" lvl="1" indent="-342900">
              <a:lnSpc>
                <a:spcPct val="90000"/>
              </a:lnSpc>
            </a:pPr>
            <a:r>
              <a:rPr lang="en-US" altLang="en-US" sz="2800" dirty="0"/>
              <a:t>means of predicting the most likely outcomes to be expected from the future software project the organization undertakes </a:t>
            </a:r>
          </a:p>
          <a:p>
            <a:pPr marL="808038" lvl="1" indent="-342900">
              <a:lnSpc>
                <a:spcPct val="90000"/>
              </a:lnSpc>
            </a:pPr>
            <a:endParaRPr lang="en-US" altLang="en-US" dirty="0"/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5609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561317"/>
            <a:ext cx="6827009" cy="680825"/>
          </a:xfrm>
        </p:spPr>
        <p:txBody>
          <a:bodyPr>
            <a:normAutofit/>
          </a:bodyPr>
          <a:lstStyle/>
          <a:p>
            <a:r>
              <a:rPr lang="en-US" altLang="en-US" sz="3200" b="1" dirty="0"/>
              <a:t>Process Maturity Concepts</a:t>
            </a:r>
            <a:endParaRPr lang="en-US" sz="32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553497"/>
            <a:ext cx="10363200" cy="455322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Software Process Performance</a:t>
            </a:r>
          </a:p>
          <a:p>
            <a:pPr marL="808038" lvl="1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actual results achieved by following a software process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Software Process Maturity</a:t>
            </a:r>
          </a:p>
          <a:p>
            <a:pPr marL="808038" lvl="1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extent to which a specific process is explicitly defined, managed, measured, controlled and effective</a:t>
            </a:r>
          </a:p>
          <a:p>
            <a:pPr marL="808038" lvl="1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implies potential growth in capability</a:t>
            </a:r>
          </a:p>
          <a:p>
            <a:pPr marL="808038" lvl="1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indicates richness of process and consistency with which it is applied in projects throughout the organization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2486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7290" y="295846"/>
            <a:ext cx="5545822" cy="680825"/>
          </a:xfrm>
        </p:spPr>
        <p:txBody>
          <a:bodyPr>
            <a:normAutofit/>
          </a:bodyPr>
          <a:lstStyle/>
          <a:p>
            <a:r>
              <a:rPr lang="en-US" altLang="en-US" sz="3200" b="1" dirty="0"/>
              <a:t>What are the CMM Levels?</a:t>
            </a:r>
            <a:endParaRPr lang="en-US" sz="32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38632" y="1563329"/>
            <a:ext cx="10048568" cy="4543389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altLang="en-US" sz="2800" dirty="0"/>
              <a:t>The five levels of software process maturity.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alt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altLang="en-US" sz="2800" dirty="0"/>
              <a:t>Maturity level indicates level of process capability:</a:t>
            </a:r>
          </a:p>
          <a:p>
            <a:pPr marL="1371600" indent="-457200">
              <a:buFont typeface="Wingdings" panose="05000000000000000000" pitchFamily="2" charset="2"/>
              <a:buChar char="ü"/>
            </a:pPr>
            <a:r>
              <a:rPr lang="en-US" altLang="en-US" sz="2800" dirty="0"/>
              <a:t>Initial</a:t>
            </a:r>
          </a:p>
          <a:p>
            <a:pPr marL="1371600" indent="-457200">
              <a:buFont typeface="Wingdings" panose="05000000000000000000" pitchFamily="2" charset="2"/>
              <a:buChar char="ü"/>
            </a:pPr>
            <a:r>
              <a:rPr lang="en-US" altLang="en-US" sz="2800" dirty="0"/>
              <a:t>Repeatable</a:t>
            </a:r>
          </a:p>
          <a:p>
            <a:pPr marL="1371600" indent="-457200">
              <a:buFont typeface="Wingdings" panose="05000000000000000000" pitchFamily="2" charset="2"/>
              <a:buChar char="ü"/>
            </a:pPr>
            <a:r>
              <a:rPr lang="en-US" altLang="en-US" sz="2800" dirty="0"/>
              <a:t>Defined</a:t>
            </a:r>
          </a:p>
          <a:p>
            <a:pPr marL="1371600" indent="-457200">
              <a:buFont typeface="Wingdings" panose="05000000000000000000" pitchFamily="2" charset="2"/>
              <a:buChar char="ü"/>
            </a:pPr>
            <a:r>
              <a:rPr lang="en-US" altLang="en-US" sz="2800" dirty="0"/>
              <a:t>Managed</a:t>
            </a:r>
          </a:p>
          <a:p>
            <a:pPr marL="1371600" indent="-457200">
              <a:buFont typeface="Wingdings" panose="05000000000000000000" pitchFamily="2" charset="2"/>
              <a:buChar char="ü"/>
            </a:pPr>
            <a:r>
              <a:rPr lang="en-US" altLang="en-US" sz="2800" dirty="0"/>
              <a:t>Optimizing</a:t>
            </a:r>
          </a:p>
          <a:p>
            <a:pPr>
              <a:lnSpc>
                <a:spcPct val="90000"/>
              </a:lnSpc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2270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BDAD3-E3B4-4DC1-AB3B-D0ABA094A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361" y="594382"/>
            <a:ext cx="6827009" cy="680825"/>
          </a:xfrm>
        </p:spPr>
        <p:txBody>
          <a:bodyPr>
            <a:normAutofit/>
          </a:bodyPr>
          <a:lstStyle/>
          <a:p>
            <a:r>
              <a:rPr lang="en-US" sz="2800" b="1" dirty="0"/>
              <a:t>Level 1: Initial (AKA Chaotic)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BEFBD-B61E-498E-B255-903E731A1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3328" y="1628232"/>
            <a:ext cx="10323871" cy="4672200"/>
          </a:xfrm>
        </p:spPr>
        <p:txBody>
          <a:bodyPr>
            <a:normAutofit/>
          </a:bodyPr>
          <a:lstStyle/>
          <a:p>
            <a:r>
              <a:rPr lang="en-US" dirty="0"/>
              <a:t>Software development organization at this level is characterized by ad hoc activities.</a:t>
            </a:r>
          </a:p>
          <a:p>
            <a:r>
              <a:rPr lang="en-US" dirty="0"/>
              <a:t>Very few or no processes are defined and followed.</a:t>
            </a:r>
          </a:p>
          <a:p>
            <a:r>
              <a:rPr lang="en-US" dirty="0"/>
              <a:t>Since, processes are not defined, engineers follow their own processes and as a result, development efforts become chaotic(disordered or messy).</a:t>
            </a:r>
          </a:p>
          <a:p>
            <a:r>
              <a:rPr lang="en-US" dirty="0"/>
              <a:t>The success of project depends on individual efforts. </a:t>
            </a:r>
          </a:p>
          <a:p>
            <a:r>
              <a:rPr lang="en-US" dirty="0"/>
              <a:t>When engineers leave, the successor have great difficulty in understanding the process followed and the work completed.</a:t>
            </a:r>
          </a:p>
          <a:p>
            <a:r>
              <a:rPr lang="en-US" dirty="0"/>
              <a:t>Since, formal project management practices are not followed, under time pressure, short cuts are tried out leading to low quality product. </a:t>
            </a:r>
          </a:p>
          <a:p>
            <a:r>
              <a:rPr lang="en-US" altLang="en-US" dirty="0"/>
              <a:t>Products developed are often over budget and schedule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A4D30-3C45-4C35-A05D-59E075B9C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06961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FD9D6-4DF0-45AE-93B3-B93DE954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832" y="509206"/>
            <a:ext cx="6827009" cy="680825"/>
          </a:xfrm>
        </p:spPr>
        <p:txBody>
          <a:bodyPr>
            <a:normAutofit/>
          </a:bodyPr>
          <a:lstStyle/>
          <a:p>
            <a:r>
              <a:rPr lang="en-US" sz="2800" b="1" dirty="0"/>
              <a:t>Level 2: Repeatable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E14FC-FD9C-4015-990D-F1FD814EE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3832" y="1720645"/>
            <a:ext cx="10353368" cy="4386073"/>
          </a:xfrm>
        </p:spPr>
        <p:txBody>
          <a:bodyPr/>
          <a:lstStyle/>
          <a:p>
            <a:r>
              <a:rPr lang="en-US" altLang="en-US" dirty="0"/>
              <a:t>At this level, basic process management processes are established to track cost, schedule, and functionality.</a:t>
            </a:r>
          </a:p>
          <a:p>
            <a:r>
              <a:rPr lang="en-US" altLang="en-US" dirty="0"/>
              <a:t>Realistic project commitments based on results observed on previous projects</a:t>
            </a:r>
          </a:p>
          <a:p>
            <a:r>
              <a:rPr lang="en-US" altLang="en-US" dirty="0"/>
              <a:t>Software project standards are defined and faithfully followed</a:t>
            </a:r>
          </a:p>
          <a:p>
            <a:r>
              <a:rPr lang="en-US" altLang="en-US" dirty="0"/>
              <a:t>Processes may differ between projects</a:t>
            </a:r>
          </a:p>
          <a:p>
            <a:r>
              <a:rPr lang="en-US" altLang="en-US" dirty="0"/>
              <a:t>Process is disciplined </a:t>
            </a:r>
          </a:p>
          <a:p>
            <a:r>
              <a:rPr lang="en-US" altLang="en-US" dirty="0"/>
              <a:t>earlier successes can be repeated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C4B2B-9417-45CC-B4A9-6D3CFB1359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5756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4103" y="641286"/>
            <a:ext cx="6827009" cy="680825"/>
          </a:xfrm>
        </p:spPr>
        <p:txBody>
          <a:bodyPr>
            <a:normAutofit/>
          </a:bodyPr>
          <a:lstStyle/>
          <a:p>
            <a:r>
              <a:rPr lang="en-US" sz="2800" b="1" dirty="0"/>
              <a:t>Level 3: Defined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5174" y="1681316"/>
            <a:ext cx="10432026" cy="4425402"/>
          </a:xfrm>
        </p:spPr>
        <p:txBody>
          <a:bodyPr/>
          <a:lstStyle/>
          <a:p>
            <a:pPr>
              <a:buFont typeface="Monotype Sorts" pitchFamily="2" charset="2"/>
              <a:buChar char="Ì"/>
            </a:pPr>
            <a:r>
              <a:rPr lang="en-US" altLang="en-US" dirty="0"/>
              <a:t>The software process for both management and engineering activities is documented, standardized, and integrated into a standard software process for the organization. </a:t>
            </a:r>
          </a:p>
          <a:p>
            <a:pPr>
              <a:buFont typeface="Monotype Sorts" pitchFamily="2" charset="2"/>
              <a:buChar char="Ì"/>
            </a:pPr>
            <a:endParaRPr lang="en-US" altLang="en-US" dirty="0"/>
          </a:p>
          <a:p>
            <a:pPr>
              <a:buFont typeface="Monotype Sorts" pitchFamily="2" charset="2"/>
              <a:buChar char="Ì"/>
            </a:pPr>
            <a:r>
              <a:rPr lang="en-US" altLang="en-US" dirty="0"/>
              <a:t>All projects use an approved, personalized version of the organization’s standard software process for developing and maintaining software.</a:t>
            </a:r>
          </a:p>
          <a:p>
            <a:pPr>
              <a:buFont typeface="Monotype Sorts" pitchFamily="2" charset="2"/>
              <a:buChar char="Ì"/>
            </a:pPr>
            <a:endParaRPr lang="en-US" altLang="en-US" dirty="0"/>
          </a:p>
          <a:p>
            <a:pPr>
              <a:buFont typeface="Monotype Sorts" pitchFamily="2" charset="2"/>
              <a:buChar char="Ì"/>
            </a:pPr>
            <a:r>
              <a:rPr lang="en-US" dirty="0"/>
              <a:t>Roles, responsibilities, and standards are clearly defined</a:t>
            </a:r>
          </a:p>
          <a:p>
            <a:pPr>
              <a:buFont typeface="Monotype Sorts" pitchFamily="2" charset="2"/>
              <a:buChar char="Ì"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72805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7623" y="356806"/>
            <a:ext cx="6827009" cy="680825"/>
          </a:xfrm>
        </p:spPr>
        <p:txBody>
          <a:bodyPr>
            <a:normAutofit/>
          </a:bodyPr>
          <a:lstStyle/>
          <a:p>
            <a:r>
              <a:rPr lang="en-US" sz="2800" b="1" dirty="0"/>
              <a:t>Level 4: Managed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6953" y="1508258"/>
            <a:ext cx="9930581" cy="521297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At this level, the focus is on software metrics.</a:t>
            </a:r>
          </a:p>
          <a:p>
            <a:pPr>
              <a:buNone/>
            </a:pPr>
            <a:r>
              <a:rPr lang="en-US" dirty="0"/>
              <a:t>Two types of metrics are collected:</a:t>
            </a:r>
          </a:p>
          <a:p>
            <a:pPr marL="342900" indent="-342900"/>
            <a:r>
              <a:rPr lang="en-US" b="1" dirty="0"/>
              <a:t>Product Metrics </a:t>
            </a:r>
            <a:r>
              <a:rPr lang="en-US" dirty="0"/>
              <a:t>measure the characteristics of the product being developed such as its size, reliability, complexity, understandability etc.</a:t>
            </a:r>
          </a:p>
          <a:p>
            <a:pPr marL="342900" indent="-342900"/>
            <a:r>
              <a:rPr lang="en-US" b="1" dirty="0"/>
              <a:t>Process Metrics </a:t>
            </a:r>
            <a:r>
              <a:rPr lang="en-US" dirty="0"/>
              <a:t>reflects the effectiveness of the process being used. such as </a:t>
            </a:r>
          </a:p>
          <a:p>
            <a:pPr marL="342900" lvl="1" indent="-342900"/>
            <a:r>
              <a:rPr lang="en-US" dirty="0"/>
              <a:t>average defect correction time,</a:t>
            </a:r>
          </a:p>
          <a:p>
            <a:pPr marL="342900" lvl="1" indent="-342900"/>
            <a:r>
              <a:rPr lang="en-US" dirty="0"/>
              <a:t> average number of defects found per hour inspection,</a:t>
            </a:r>
          </a:p>
          <a:p>
            <a:pPr marL="342900" lvl="1" indent="-342900"/>
            <a:r>
              <a:rPr lang="en-US" dirty="0"/>
              <a:t> average number of failures detected during testing etc.</a:t>
            </a:r>
          </a:p>
          <a:p>
            <a:pPr marL="342900" indent="-342900"/>
            <a:r>
              <a:rPr lang="en-US" dirty="0"/>
              <a:t>Software process and product quality is measured and quantitative quality requirements for the product are met.</a:t>
            </a:r>
          </a:p>
          <a:p>
            <a:pPr marL="342900" indent="-342900"/>
            <a:r>
              <a:rPr lang="en-US" dirty="0"/>
              <a:t>Pareto charts and Fishbone diagrams are used to measure the product and process quality.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21735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6DEFC-FCB8-4CF8-8BB9-6E6BABE18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Pareto chart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D13F6-FDE6-4C4A-A157-01DE7B1BE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2723" y="2050649"/>
            <a:ext cx="4244109" cy="404105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Pareto chart </a:t>
            </a:r>
            <a:r>
              <a:rPr lang="en-US" dirty="0"/>
              <a:t>is a histogram that can help you identify and prioritize problem areas. </a:t>
            </a:r>
          </a:p>
          <a:p>
            <a:r>
              <a:rPr lang="en-US" b="1" dirty="0"/>
              <a:t>Pareto analysis </a:t>
            </a:r>
            <a:r>
              <a:rPr lang="en-US" dirty="0"/>
              <a:t>is sometimes referred to as the 80-20 rule, meaning that 80 percent of problems are often due to 20 percent of the causes.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F542DB-0133-46E5-A6A5-F099A902199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A12BA6-DD57-4B38-AC1A-0136A46461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119</a:t>
            </a:fld>
            <a:endParaRPr lang="en-US"/>
          </a:p>
        </p:txBody>
      </p:sp>
      <p:pic>
        <p:nvPicPr>
          <p:cNvPr id="6" name="Picture 2" descr="C:\Users\hafiza.maria\Desktop\6.PNG">
            <a:extLst>
              <a:ext uri="{FF2B5EF4-FFF2-40B4-BE49-F238E27FC236}">
                <a16:creationId xmlns:a16="http://schemas.microsoft.com/office/drawing/2014/main" id="{91D61335-4611-422A-AB39-6A65EAD3C6D8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4796" y="2066020"/>
            <a:ext cx="6377204" cy="3617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39685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1A871-9E80-4404-AC84-8AB7023DD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316" y="571149"/>
            <a:ext cx="6827009" cy="680825"/>
          </a:xfrm>
        </p:spPr>
        <p:txBody>
          <a:bodyPr>
            <a:normAutofit/>
          </a:bodyPr>
          <a:lstStyle/>
          <a:p>
            <a:r>
              <a:rPr lang="pt-BR" sz="2800" b="1" dirty="0"/>
              <a:t>Fishbone Diagram</a:t>
            </a:r>
            <a:endParaRPr lang="en-US" sz="2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BCE0F-1FFF-493A-B588-C665FB42B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1316" y="1524000"/>
            <a:ext cx="10205884" cy="4582718"/>
          </a:xfrm>
        </p:spPr>
        <p:txBody>
          <a:bodyPr/>
          <a:lstStyle/>
          <a:p>
            <a:r>
              <a:rPr lang="en-US" b="1" i="1" dirty="0"/>
              <a:t>Cause-and-effect diagrams</a:t>
            </a:r>
            <a:r>
              <a:rPr lang="en-US" dirty="0"/>
              <a:t>: Trace complaints about quality problems back to the responsible production operations. </a:t>
            </a:r>
          </a:p>
          <a:p>
            <a:r>
              <a:rPr lang="en-US" dirty="0"/>
              <a:t>In other words, they help you find the root cause of a problem. They are also known as </a:t>
            </a:r>
            <a:r>
              <a:rPr lang="en-US" b="1" dirty="0"/>
              <a:t>fishbone </a:t>
            </a:r>
            <a:r>
              <a:rPr lang="en-US" dirty="0"/>
              <a:t>or </a:t>
            </a:r>
            <a:r>
              <a:rPr lang="en-US" b="1" dirty="0"/>
              <a:t>Ishikawa diagrams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BE9FA0-0866-4CBC-A7F2-D785A7CA77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19603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430A3-BB41-1419-342E-F025477A41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121</a:t>
            </a:fld>
            <a:endParaRPr lang="en-US"/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7906EA57-BDD3-4C78-8348-61B660CD34C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825" y="928688"/>
            <a:ext cx="10290175" cy="5792787"/>
          </a:xfrm>
        </p:spPr>
      </p:pic>
    </p:spTree>
    <p:extLst>
      <p:ext uri="{BB962C8B-B14F-4D97-AF65-F5344CB8AC3E}">
        <p14:creationId xmlns:p14="http://schemas.microsoft.com/office/powerpoint/2010/main" val="181259415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743" y="410869"/>
            <a:ext cx="6827009" cy="680825"/>
          </a:xfrm>
        </p:spPr>
        <p:txBody>
          <a:bodyPr>
            <a:normAutofit/>
          </a:bodyPr>
          <a:lstStyle/>
          <a:p>
            <a:r>
              <a:rPr lang="en-US" sz="2800" b="1" dirty="0"/>
              <a:t>Level 5: Optimizing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94270" y="1622323"/>
            <a:ext cx="9792929" cy="4484395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2" charset="2"/>
              <a:buChar char="Î"/>
            </a:pPr>
            <a:r>
              <a:rPr lang="en-US" altLang="en-US" sz="2800" dirty="0"/>
              <a:t>Continuous process improvement is enabled by quantitative feedback from the process and from showing innovative ideas and technologies.</a:t>
            </a:r>
          </a:p>
          <a:p>
            <a:pPr>
              <a:lnSpc>
                <a:spcPct val="90000"/>
              </a:lnSpc>
              <a:buFont typeface="Monotype Sorts" pitchFamily="2" charset="2"/>
              <a:buChar char="Î"/>
            </a:pPr>
            <a:r>
              <a:rPr lang="en-US" altLang="en-US" sz="2800" dirty="0"/>
              <a:t>Goal is to prevent the occurrence of defects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2" charset="2"/>
              <a:buChar char="Î"/>
            </a:pPr>
            <a:r>
              <a:rPr lang="en-US" altLang="en-US" sz="2800" dirty="0"/>
              <a:t>Data on process effectiveness used for cost benefit analysis of new technologies and proposed process changes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6509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Levels of CMM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123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848023" y="976671"/>
          <a:ext cx="5386489" cy="5562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4266667" imgH="4406349" progId="Photoshop.Image.6">
                  <p:embed/>
                </p:oleObj>
              </mc:Choice>
              <mc:Fallback>
                <p:oleObj name="Image" r:id="rId3" imgW="4266667" imgH="4406349" progId="Photoshop.Image.6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8023" y="976671"/>
                        <a:ext cx="5386489" cy="55623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25659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C29C4-3EE1-4795-AE4B-0EE02D2A1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Characteristics of CMM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9F31B-0480-4035-BCDB-29FA3DB39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4160" y="1391920"/>
            <a:ext cx="9946640" cy="4806238"/>
          </a:xfrm>
        </p:spPr>
        <p:txBody>
          <a:bodyPr/>
          <a:lstStyle/>
          <a:p>
            <a:r>
              <a:rPr lang="en-US" dirty="0"/>
              <a:t>SEI CMM assessment is purely for internal use.</a:t>
            </a:r>
          </a:p>
          <a:p>
            <a:r>
              <a:rPr lang="en-US" dirty="0"/>
              <a:t>Was developed successfully for software industry and therefore addresses many issues which are specific to software industry.</a:t>
            </a:r>
          </a:p>
          <a:p>
            <a:r>
              <a:rPr lang="en-US" dirty="0"/>
              <a:t>Goes beyond quality assurance and prepares an organization to ultimately achieve Total Quality Management.</a:t>
            </a:r>
          </a:p>
          <a:p>
            <a:r>
              <a:rPr lang="en-US" dirty="0"/>
              <a:t>Model provides a list of key process areas on which an organization at any maturity level needs to concentrate to take it from one maturity level to the next.</a:t>
            </a:r>
          </a:p>
          <a:p>
            <a:r>
              <a:rPr lang="en-US" dirty="0"/>
              <a:t>Provides a way of achieving gradual quality improvement.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37864-4502-4B9C-BB6D-BEC8D9C5D6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0114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A089A-AF3E-4175-911B-AC3F5696F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Applicability of SEI CMM to organizations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BB086-6F16-4038-BE9B-9861F8EAF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6880" y="1402080"/>
            <a:ext cx="10180320" cy="4704638"/>
          </a:xfrm>
        </p:spPr>
        <p:txBody>
          <a:bodyPr/>
          <a:lstStyle/>
          <a:p>
            <a:r>
              <a:rPr lang="en-US" dirty="0"/>
              <a:t>Highly systematic and measured approach to software development </a:t>
            </a:r>
            <a:r>
              <a:rPr lang="en-US" b="1" dirty="0"/>
              <a:t>suits large organizations dealing with negotiated software, safety-critical software etc.</a:t>
            </a:r>
          </a:p>
          <a:p>
            <a:r>
              <a:rPr lang="en-US" dirty="0"/>
              <a:t>But small organizations typically handle applications such as Internet, e-commerce, and are without an established product range, revenue base, and experience on past projects, etc. </a:t>
            </a:r>
          </a:p>
          <a:p>
            <a:r>
              <a:rPr lang="en-US" dirty="0"/>
              <a:t>For such organizations, a CMM-based evaluation is probably unnecessary. </a:t>
            </a:r>
          </a:p>
          <a:p>
            <a:r>
              <a:rPr lang="en-US" dirty="0"/>
              <a:t>These organizations need to operate more efficiently at the lower levels of maturity.</a:t>
            </a:r>
          </a:p>
          <a:p>
            <a:r>
              <a:rPr lang="en-US" dirty="0"/>
              <a:t>For example, they need to practice effective project management, reviews, configuration management,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633C8-5D71-419E-BC05-07F5610BD8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D2E72A-5B69-4AA6-A9D9-5E1F5DD9A317}" type="slidenum">
              <a:rPr lang="en-US" smtClean="0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55063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Internal Structure to Maturity Levels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37360" y="1452880"/>
            <a:ext cx="10149840" cy="46538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Except for level 1, each level is decomposed into key process areas (KPA)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Each KPA identifies a cluster of related activities that, when performed collectively, achieve a set of goals considered important for enhancing software capability.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commitment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ability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activity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measurement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verification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60" name="Object 4"/>
          <p:cNvGraphicFramePr>
            <a:graphicFrameLocks noChangeAspect="1"/>
          </p:cNvGraphicFramePr>
          <p:nvPr/>
        </p:nvGraphicFramePr>
        <p:xfrm>
          <a:off x="3759200" y="533400"/>
          <a:ext cx="4927600" cy="561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4673016" imgH="5434921" progId="Photoshop.Image.6">
                  <p:embed/>
                </p:oleObj>
              </mc:Choice>
              <mc:Fallback>
                <p:oleObj name="Image" r:id="rId3" imgW="4673016" imgH="5434921" progId="Photoshop.Image.6">
                  <p:embed/>
                  <p:pic>
                    <p:nvPicPr>
                      <p:cNvPr id="450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9200" y="533400"/>
                        <a:ext cx="4927600" cy="561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4" name="Object 2"/>
          <p:cNvGraphicFramePr>
            <a:graphicFrameLocks noChangeAspect="1"/>
          </p:cNvGraphicFramePr>
          <p:nvPr/>
        </p:nvGraphicFramePr>
        <p:xfrm>
          <a:off x="2095485" y="1003300"/>
          <a:ext cx="4559300" cy="547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4558730" imgH="5473016" progId="Photoshop.Image.6">
                  <p:embed/>
                </p:oleObj>
              </mc:Choice>
              <mc:Fallback>
                <p:oleObj name="Image" r:id="rId3" imgW="4558730" imgH="5473016" progId="Photoshop.Image.6">
                  <p:embed/>
                  <p:pic>
                    <p:nvPicPr>
                      <p:cNvPr id="4915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485" y="1003300"/>
                        <a:ext cx="4559300" cy="547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5" name="Object 3"/>
          <p:cNvGraphicFramePr>
            <a:graphicFrameLocks noChangeAspect="1"/>
          </p:cNvGraphicFramePr>
          <p:nvPr/>
        </p:nvGraphicFramePr>
        <p:xfrm>
          <a:off x="5231904" y="6308071"/>
          <a:ext cx="33020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3301587" imgH="152274" progId="Photoshop.Image.6">
                  <p:embed/>
                </p:oleObj>
              </mc:Choice>
              <mc:Fallback>
                <p:oleObj name="Image" r:id="rId5" imgW="3301587" imgH="152274" progId="Photoshop.Image.6">
                  <p:embed/>
                  <p:pic>
                    <p:nvPicPr>
                      <p:cNvPr id="4915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1904" y="6308071"/>
                        <a:ext cx="33020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Level 2 KPAs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45920" y="1249680"/>
            <a:ext cx="10241280" cy="48570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Requirements Management</a:t>
            </a:r>
          </a:p>
          <a:p>
            <a:pPr marL="404813" lvl="1">
              <a:lnSpc>
                <a:spcPct val="90000"/>
              </a:lnSpc>
            </a:pPr>
            <a:r>
              <a:rPr lang="en-US" altLang="en-US" dirty="0"/>
              <a:t>Establish common understanding of customer requirements between the customer and the software project </a:t>
            </a:r>
          </a:p>
          <a:p>
            <a:pPr marL="404813" lvl="1">
              <a:lnSpc>
                <a:spcPct val="90000"/>
              </a:lnSpc>
            </a:pPr>
            <a:r>
              <a:rPr lang="en-US" altLang="en-US" dirty="0"/>
              <a:t>Requirements is basis for planning and managing the software project</a:t>
            </a:r>
          </a:p>
          <a:p>
            <a:pPr marL="404813"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sz="2800" dirty="0"/>
              <a:t>Software Project Planning</a:t>
            </a:r>
          </a:p>
          <a:p>
            <a:pPr marL="344488" lvl="1">
              <a:lnSpc>
                <a:spcPct val="90000"/>
              </a:lnSpc>
            </a:pPr>
            <a:r>
              <a:rPr lang="en-US" altLang="en-US" dirty="0"/>
              <a:t>Establish reasonable plans for performing the software engineering activities and for managing the software project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Level 2 KPAs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615440"/>
            <a:ext cx="10363200" cy="449127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Software Project Tracking and Oversight</a:t>
            </a:r>
          </a:p>
          <a:p>
            <a:pPr marL="344488" lvl="1">
              <a:lnSpc>
                <a:spcPct val="90000"/>
              </a:lnSpc>
            </a:pPr>
            <a:r>
              <a:rPr lang="en-US" altLang="en-US" dirty="0"/>
              <a:t>Establish adequate visibility into actual progress</a:t>
            </a:r>
          </a:p>
          <a:p>
            <a:pPr marL="344488" lvl="1">
              <a:lnSpc>
                <a:spcPct val="90000"/>
              </a:lnSpc>
            </a:pPr>
            <a:r>
              <a:rPr lang="en-US" altLang="en-US" dirty="0"/>
              <a:t>Take effective actions when project’s performance deviates significantly from planned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Software Subcontract Management</a:t>
            </a:r>
          </a:p>
          <a:p>
            <a:pPr marL="344488" lvl="1">
              <a:lnSpc>
                <a:spcPct val="90000"/>
              </a:lnSpc>
            </a:pPr>
            <a:r>
              <a:rPr lang="en-US" altLang="en-US" dirty="0"/>
              <a:t>Manage projects outsourced to subcontractors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Software Quality Assurance</a:t>
            </a:r>
          </a:p>
          <a:p>
            <a:pPr marL="284163" lvl="1">
              <a:lnSpc>
                <a:spcPct val="90000"/>
              </a:lnSpc>
            </a:pPr>
            <a:r>
              <a:rPr lang="en-US" altLang="en-US" dirty="0"/>
              <a:t>Provide management with appropriate visibility into process being used by the software projects work products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Level 3 KPAs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40560" y="1727200"/>
            <a:ext cx="9946640" cy="4379518"/>
          </a:xfrm>
        </p:spPr>
        <p:txBody>
          <a:bodyPr/>
          <a:lstStyle/>
          <a:p>
            <a:r>
              <a:rPr lang="en-US" altLang="en-US" sz="2800" dirty="0"/>
              <a:t>Organization Process Focus</a:t>
            </a:r>
          </a:p>
          <a:p>
            <a:pPr lvl="1"/>
            <a:r>
              <a:rPr lang="en-US" altLang="en-US" dirty="0"/>
              <a:t>Establish organizational responsibility for software process activities that improve the organization’s overall software process capability</a:t>
            </a:r>
          </a:p>
          <a:p>
            <a:r>
              <a:rPr lang="en-US" altLang="en-US" sz="2800" dirty="0"/>
              <a:t>Organization Process Definition</a:t>
            </a:r>
          </a:p>
          <a:p>
            <a:pPr lvl="1"/>
            <a:r>
              <a:rPr lang="en-US" altLang="en-US" dirty="0"/>
              <a:t>Develop and maintain a usable set of software process assets</a:t>
            </a:r>
          </a:p>
          <a:p>
            <a:pPr lvl="2"/>
            <a:r>
              <a:rPr lang="en-US" altLang="en-US" sz="2000" dirty="0"/>
              <a:t>stable foundation that can be established</a:t>
            </a:r>
          </a:p>
          <a:p>
            <a:pPr lvl="2"/>
            <a:r>
              <a:rPr lang="en-US" altLang="en-US" sz="2000" dirty="0"/>
              <a:t>basis for defining meaningful data for quantitative process management</a:t>
            </a:r>
          </a:p>
          <a:p>
            <a:endParaRPr lang="en-US" altLang="en-US" sz="28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Level 3 KPAs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7040" y="1056641"/>
            <a:ext cx="10170160" cy="505007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Training Program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Develop skills and knowledge so that individual can perform their roles effectively and efficiently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Organizational responsibility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Needs identified by project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Integrated Software Management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Integrated engineering and management activities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Engineering and management processes are custom-made from the organizational standard processes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Modifying based on business environment and project needs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Level 3 KPAs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51280" y="1239520"/>
            <a:ext cx="10535920" cy="486719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Software Product Engineering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technical activities of the project are well defined (SDLC)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correct, consistent work products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Intergroup Coordination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Software engineering groups participate actively with other groups 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Peer Reviews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early defect detection and removal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better understanding of the products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implemented with inspections, walkthroughs, </a:t>
            </a:r>
            <a:r>
              <a:rPr lang="en-US" altLang="en-US" dirty="0" err="1"/>
              <a:t>etc</a:t>
            </a:r>
            <a:endParaRPr lang="en-US" altLang="en-US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Level 4 KPAs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61440" y="1270000"/>
            <a:ext cx="10525760" cy="4836718"/>
          </a:xfrm>
        </p:spPr>
        <p:txBody>
          <a:bodyPr/>
          <a:lstStyle/>
          <a:p>
            <a:r>
              <a:rPr lang="en-US" altLang="en-US" sz="2800" dirty="0"/>
              <a:t>Quantitative Process Management</a:t>
            </a:r>
          </a:p>
          <a:p>
            <a:pPr lvl="1"/>
            <a:r>
              <a:rPr lang="en-US" altLang="en-US" dirty="0"/>
              <a:t>control process performance quantitatively</a:t>
            </a:r>
          </a:p>
          <a:p>
            <a:pPr lvl="1"/>
            <a:r>
              <a:rPr lang="en-US" altLang="en-US" dirty="0"/>
              <a:t>actual results from following a software process</a:t>
            </a:r>
          </a:p>
          <a:p>
            <a:pPr lvl="1"/>
            <a:r>
              <a:rPr lang="en-US" altLang="en-US" dirty="0"/>
              <a:t>focus on identifying and correcting special causes of variation with respect to a baseline process</a:t>
            </a:r>
          </a:p>
          <a:p>
            <a:r>
              <a:rPr lang="en-US" altLang="en-US" sz="2800" dirty="0"/>
              <a:t>Software Quality Management</a:t>
            </a:r>
          </a:p>
          <a:p>
            <a:pPr lvl="1"/>
            <a:r>
              <a:rPr lang="en-US" altLang="en-US" dirty="0"/>
              <a:t>quantitative understanding of software quality</a:t>
            </a:r>
          </a:p>
          <a:p>
            <a:pPr lvl="2"/>
            <a:r>
              <a:rPr lang="en-US" altLang="en-US" sz="2000" dirty="0"/>
              <a:t>products</a:t>
            </a:r>
          </a:p>
          <a:p>
            <a:pPr lvl="2"/>
            <a:r>
              <a:rPr lang="en-US" altLang="en-US" sz="2000" dirty="0"/>
              <a:t>process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Level 5 KPAs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5280" y="1747520"/>
            <a:ext cx="10281920" cy="435919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Process Change Management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continuous process improvement to improve quality, increase productivity, decrease cycle time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Technology Change Management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identify and transfer beneficial new technologies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tools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methods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processes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Defect Prevention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causal analysis of defects to prevent recurrence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007703" y="856104"/>
            <a:ext cx="6827009" cy="680825"/>
          </a:xfrm>
        </p:spPr>
        <p:txBody>
          <a:bodyPr/>
          <a:lstStyle/>
          <a:p>
            <a:r>
              <a:rPr lang="en-US" altLang="en-US" b="1" dirty="0"/>
              <a:t>Why measure software and software process?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7680" y="1536929"/>
            <a:ext cx="11582400" cy="5025225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dirty="0"/>
              <a:t>Obtain data that helps us to better control</a:t>
            </a:r>
          </a:p>
          <a:p>
            <a:r>
              <a:rPr lang="en-US" altLang="en-US" dirty="0"/>
              <a:t>schedule</a:t>
            </a:r>
          </a:p>
          <a:p>
            <a:r>
              <a:rPr lang="en-US" altLang="en-US" dirty="0"/>
              <a:t>cost</a:t>
            </a:r>
          </a:p>
          <a:p>
            <a:r>
              <a:rPr lang="en-US" altLang="en-US" dirty="0"/>
              <a:t>quality of software products</a:t>
            </a:r>
          </a:p>
          <a:p>
            <a:pPr>
              <a:buFont typeface="Monotype Sorts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</TotalTime>
  <Words>10460</Words>
  <Application>Microsoft Office PowerPoint</Application>
  <PresentationFormat>Widescreen</PresentationFormat>
  <Paragraphs>1523</Paragraphs>
  <Slides>136</Slides>
  <Notes>57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136</vt:i4>
      </vt:variant>
    </vt:vector>
  </HeadingPairs>
  <TitlesOfParts>
    <vt:vector size="146" baseType="lpstr">
      <vt:lpstr>Aptos</vt:lpstr>
      <vt:lpstr>Arial</vt:lpstr>
      <vt:lpstr>Corbel</vt:lpstr>
      <vt:lpstr>Franklin Gothic Book</vt:lpstr>
      <vt:lpstr>Monotype Sorts</vt:lpstr>
      <vt:lpstr>Times New Roman</vt:lpstr>
      <vt:lpstr>Wingdings</vt:lpstr>
      <vt:lpstr>Wingdings 2</vt:lpstr>
      <vt:lpstr>Parallax</vt:lpstr>
      <vt:lpstr>Image</vt:lpstr>
      <vt:lpstr>Advance Software Engineering</vt:lpstr>
      <vt:lpstr>Lecture Objectives</vt:lpstr>
      <vt:lpstr>Introduction to Software Maintenance</vt:lpstr>
      <vt:lpstr>Important Reality</vt:lpstr>
      <vt:lpstr>Why Maintenance is Needed</vt:lpstr>
      <vt:lpstr>A. Fixing Bugs</vt:lpstr>
      <vt:lpstr>B. Adapting to Environment Changes</vt:lpstr>
      <vt:lpstr>C. Improving Performance</vt:lpstr>
      <vt:lpstr>D. Adding New Features</vt:lpstr>
      <vt:lpstr>E. Preventing Future Problems</vt:lpstr>
      <vt:lpstr>Development vs Maintenance</vt:lpstr>
      <vt:lpstr>Why Maintenance is More Difficult</vt:lpstr>
      <vt:lpstr>Example</vt:lpstr>
      <vt:lpstr>Types of Software Maintenance</vt:lpstr>
      <vt:lpstr>Corrective Maintenance</vt:lpstr>
      <vt:lpstr>Adaptive Maintenance</vt:lpstr>
      <vt:lpstr>Perfective Maintenance</vt:lpstr>
      <vt:lpstr>Preventive Maintenance</vt:lpstr>
      <vt:lpstr>Priority of Change Requests</vt:lpstr>
      <vt:lpstr>The importance of categorising software changes </vt:lpstr>
      <vt:lpstr>Priority 1 – Urgent</vt:lpstr>
      <vt:lpstr>Priority 2 – Critical</vt:lpstr>
      <vt:lpstr>Priority 3 – Major/Important </vt:lpstr>
      <vt:lpstr>Priority 4 – Minor</vt:lpstr>
      <vt:lpstr>Factors Affecting Maintenance Cost</vt:lpstr>
      <vt:lpstr>System Size and Complexity</vt:lpstr>
      <vt:lpstr>Code Quality</vt:lpstr>
      <vt:lpstr>Documentation Quality</vt:lpstr>
      <vt:lpstr>Age of System</vt:lpstr>
      <vt:lpstr>Team Experience</vt:lpstr>
      <vt:lpstr>Frequency of Changes</vt:lpstr>
      <vt:lpstr>Testing Quality</vt:lpstr>
      <vt:lpstr>System Design</vt:lpstr>
      <vt:lpstr>Why Maintenance is Difficult</vt:lpstr>
      <vt:lpstr>Problem 1 – Lack of Documentation</vt:lpstr>
      <vt:lpstr>Problem 2 – Understanding Old Code</vt:lpstr>
      <vt:lpstr>Problem 3 – Hidden Dependencies</vt:lpstr>
      <vt:lpstr>Problem 4 – User Expectations</vt:lpstr>
      <vt:lpstr>Problem 5 – Continuous Change Requests</vt:lpstr>
      <vt:lpstr>Problem 6 – Regression Risk</vt:lpstr>
      <vt:lpstr>Mini Case Study – Smart Parking System</vt:lpstr>
      <vt:lpstr>Key Takeaways</vt:lpstr>
      <vt:lpstr>Advance Software Engineering</vt:lpstr>
      <vt:lpstr>Software Quality Assurance</vt:lpstr>
      <vt:lpstr>Software Quality Assurance</vt:lpstr>
      <vt:lpstr>High-quality software means:</vt:lpstr>
      <vt:lpstr>Low-quality software leads to:</vt:lpstr>
      <vt:lpstr>What is Software Quality?</vt:lpstr>
      <vt:lpstr>Software Quality Assurance</vt:lpstr>
      <vt:lpstr>PowerPoint Presentation</vt:lpstr>
      <vt:lpstr>PowerPoint Presentation</vt:lpstr>
      <vt:lpstr>PowerPoint Presentation</vt:lpstr>
      <vt:lpstr>PowerPoint Presentation</vt:lpstr>
      <vt:lpstr>Scenario: Online Food Delivery App</vt:lpstr>
      <vt:lpstr>What is Software Quality Assurance (SQA)?</vt:lpstr>
      <vt:lpstr>Main Goals of SQA</vt:lpstr>
      <vt:lpstr>What is Software Testing?</vt:lpstr>
      <vt:lpstr>Objectives of Software Testing</vt:lpstr>
      <vt:lpstr>SQA vs Testing</vt:lpstr>
      <vt:lpstr>Scenario: University Management System</vt:lpstr>
      <vt:lpstr>Static Testing</vt:lpstr>
      <vt:lpstr>Dynamic Testing</vt:lpstr>
      <vt:lpstr>Comparison Table</vt:lpstr>
      <vt:lpstr>Scenario Example</vt:lpstr>
      <vt:lpstr>Verification vs Validation</vt:lpstr>
      <vt:lpstr>Scenario Example</vt:lpstr>
      <vt:lpstr>PowerPoint Presentation</vt:lpstr>
      <vt:lpstr>Common terms in Testing</vt:lpstr>
      <vt:lpstr>PowerPoint Presentation</vt:lpstr>
      <vt:lpstr>Scenario-Based Example</vt:lpstr>
      <vt:lpstr>Who does Software Testing</vt:lpstr>
      <vt:lpstr>Stages of Testing</vt:lpstr>
      <vt:lpstr>Software Testing Activities </vt:lpstr>
      <vt:lpstr>Software Testing Activities</vt:lpstr>
      <vt:lpstr>Software Testing Activities</vt:lpstr>
      <vt:lpstr>Software Testing Activities</vt:lpstr>
      <vt:lpstr>Software Testing Activities</vt:lpstr>
      <vt:lpstr>Software Testing Activities</vt:lpstr>
      <vt:lpstr>Software Testing Activities</vt:lpstr>
      <vt:lpstr>Software Testing Activities</vt:lpstr>
      <vt:lpstr>Software Testing Activities</vt:lpstr>
      <vt:lpstr>Software Testing Activities</vt:lpstr>
      <vt:lpstr>Software Testing Principles</vt:lpstr>
      <vt:lpstr>Stages of testing</vt:lpstr>
      <vt:lpstr>Stages of testing</vt:lpstr>
      <vt:lpstr>PowerPoint Presentation</vt:lpstr>
      <vt:lpstr>Development testing</vt:lpstr>
      <vt:lpstr>Unit testing</vt:lpstr>
      <vt:lpstr>Component Testing</vt:lpstr>
      <vt:lpstr>Integration Testing</vt:lpstr>
      <vt:lpstr>System testing</vt:lpstr>
      <vt:lpstr>System and component testing</vt:lpstr>
      <vt:lpstr>Regression testing</vt:lpstr>
      <vt:lpstr>Release testing</vt:lpstr>
      <vt:lpstr>Release testing and system testing</vt:lpstr>
      <vt:lpstr>Requirements based testing</vt:lpstr>
      <vt:lpstr>Scenario Testing</vt:lpstr>
      <vt:lpstr>Performance testing</vt:lpstr>
      <vt:lpstr>User testing</vt:lpstr>
      <vt:lpstr>Types of user testing</vt:lpstr>
      <vt:lpstr>Agile methods and acceptance testing</vt:lpstr>
      <vt:lpstr>Test-driven development</vt:lpstr>
      <vt:lpstr>Test-driven development</vt:lpstr>
      <vt:lpstr>TDD process activities</vt:lpstr>
      <vt:lpstr>Benefits of test-driven development</vt:lpstr>
      <vt:lpstr>Capability Maturity Model    Advanced Software Engineering  </vt:lpstr>
      <vt:lpstr>What is CMM?</vt:lpstr>
      <vt:lpstr>CMM</vt:lpstr>
      <vt:lpstr>Overview of the Capability Maturity Model (CMM)</vt:lpstr>
      <vt:lpstr>SEI CMM (Software Engineering Institute – Capability Maturity Model)</vt:lpstr>
      <vt:lpstr>Purpose of the Capability Maturity Model (CMM)</vt:lpstr>
      <vt:lpstr>Process Maturity Concepts</vt:lpstr>
      <vt:lpstr>Process Maturity Concepts</vt:lpstr>
      <vt:lpstr>What are the CMM Levels?</vt:lpstr>
      <vt:lpstr>Level 1: Initial (AKA Chaotic)</vt:lpstr>
      <vt:lpstr>Level 2: Repeatable</vt:lpstr>
      <vt:lpstr>Level 3: Defined</vt:lpstr>
      <vt:lpstr>Level 4: Managed</vt:lpstr>
      <vt:lpstr>Pareto chart</vt:lpstr>
      <vt:lpstr>Fishbone Diagram</vt:lpstr>
      <vt:lpstr>PowerPoint Presentation</vt:lpstr>
      <vt:lpstr>Level 5: Optimizing</vt:lpstr>
      <vt:lpstr>Levels of CMM</vt:lpstr>
      <vt:lpstr>Characteristics of CMM</vt:lpstr>
      <vt:lpstr>Applicability of SEI CMM to organizations</vt:lpstr>
      <vt:lpstr>Internal Structure to Maturity Levels</vt:lpstr>
      <vt:lpstr>PowerPoint Presentation</vt:lpstr>
      <vt:lpstr>PowerPoint Presentation</vt:lpstr>
      <vt:lpstr>Level 2 KPAs</vt:lpstr>
      <vt:lpstr>Level 2 KPAs</vt:lpstr>
      <vt:lpstr>Level 3 KPAs</vt:lpstr>
      <vt:lpstr>Level 3 KPAs</vt:lpstr>
      <vt:lpstr>Level 3 KPAs</vt:lpstr>
      <vt:lpstr>Level 4 KPAs</vt:lpstr>
      <vt:lpstr>Level 5 KPAs</vt:lpstr>
      <vt:lpstr>Why measure software and software process?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Mian Daniyal Hassan</dc:creator>
  <cp:lastModifiedBy>Mian Daniyal Hassan</cp:lastModifiedBy>
  <cp:revision>1</cp:revision>
  <dcterms:created xsi:type="dcterms:W3CDTF">2026-06-16T10:26:13Z</dcterms:created>
  <dcterms:modified xsi:type="dcterms:W3CDTF">2026-06-16T10:28:01Z</dcterms:modified>
</cp:coreProperties>
</file>
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376" r:id="rId3"/>
    <p:sldId id="430" r:id="rId4"/>
    <p:sldId id="431" r:id="rId5"/>
    <p:sldId id="432" r:id="rId6"/>
    <p:sldId id="377" r:id="rId7"/>
    <p:sldId id="433" r:id="rId8"/>
    <p:sldId id="434" r:id="rId9"/>
    <p:sldId id="436" r:id="rId10"/>
    <p:sldId id="435" r:id="rId11"/>
    <p:sldId id="386" r:id="rId12"/>
    <p:sldId id="437" r:id="rId13"/>
    <p:sldId id="410" r:id="rId14"/>
    <p:sldId id="438" r:id="rId15"/>
    <p:sldId id="411" r:id="rId16"/>
    <p:sldId id="412" r:id="rId17"/>
    <p:sldId id="440" r:id="rId18"/>
    <p:sldId id="441" r:id="rId19"/>
    <p:sldId id="414" r:id="rId20"/>
    <p:sldId id="415" r:id="rId21"/>
    <p:sldId id="421" r:id="rId22"/>
    <p:sldId id="422" r:id="rId23"/>
    <p:sldId id="423" r:id="rId24"/>
    <p:sldId id="424" r:id="rId25"/>
    <p:sldId id="439" r:id="rId26"/>
    <p:sldId id="426" r:id="rId27"/>
    <p:sldId id="427" r:id="rId28"/>
    <p:sldId id="428" r:id="rId29"/>
    <p:sldId id="429" r:id="rId30"/>
    <p:sldId id="417" r:id="rId31"/>
    <p:sldId id="418" r:id="rId32"/>
    <p:sldId id="419" r:id="rId33"/>
    <p:sldId id="42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4125" autoAdjust="0"/>
  </p:normalViewPr>
  <p:slideViewPr>
    <p:cSldViewPr snapToGrid="0">
      <p:cViewPr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-55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6FB5C-019E-4095-852D-756E8D1E65B7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26163-419B-4691-B31A-293B87D3BFD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4324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7D859C92-49C1-F6D3-E576-877015D963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D48D8314-B3D1-E6FC-5E61-8964CB913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PK" b="1" dirty="0"/>
              <a:t>1. Test Planning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Defining </a:t>
            </a:r>
            <a:r>
              <a:rPr lang="en-US" altLang="en-PK" b="1" dirty="0"/>
              <a:t>what to test, how to test, when to test, and who will test</a:t>
            </a:r>
            <a:r>
              <a:rPr lang="en-US" altLang="en-PK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i="1" dirty="0"/>
              <a:t>Important: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Without planning, testing becomes random and ineffective.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PK" dirty="0"/>
          </a:p>
          <a:p>
            <a:endParaRPr lang="en-PK" altLang="en-PK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CB8A2592-8A3A-0F68-8EDB-CEFDCEA5CC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0D4455C-B9D2-4589-8035-CDD8EE69D8E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PK" dirty="0"/>
          </a:p>
          <a:p>
            <a:r>
              <a:rPr lang="en-US" altLang="en-PK" b="1" dirty="0"/>
              <a:t>2. Test Design &amp; Specification</a:t>
            </a:r>
          </a:p>
          <a:p>
            <a:r>
              <a:rPr lang="en-US" altLang="en-PK" b="1" dirty="0"/>
              <a:t>What it is:</a:t>
            </a:r>
          </a:p>
          <a:p>
            <a:r>
              <a:rPr lang="en-US" altLang="en-PK" dirty="0"/>
              <a:t>Creating </a:t>
            </a:r>
            <a:r>
              <a:rPr lang="en-US" altLang="en-PK" b="1" dirty="0"/>
              <a:t>test cases and test scenarios</a:t>
            </a:r>
            <a:r>
              <a:rPr lang="en-US" altLang="en-PK" dirty="0"/>
              <a:t> based on requirements.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Test cases</a:t>
            </a:r>
          </a:p>
          <a:p>
            <a:r>
              <a:rPr lang="en-US" altLang="en-PK" dirty="0"/>
              <a:t>Expected results</a:t>
            </a:r>
          </a:p>
          <a:p>
            <a:r>
              <a:rPr lang="en-US" altLang="en-PK" dirty="0"/>
              <a:t>Test data</a:t>
            </a:r>
          </a:p>
          <a:p>
            <a:r>
              <a:rPr lang="en-US" altLang="en-PK" dirty="0"/>
              <a:t/>
            </a:r>
            <a:br>
              <a:rPr lang="en-US" altLang="en-PK" dirty="0"/>
            </a:b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98615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3. Test Environment &amp; Setup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Preparing the </a:t>
            </a:r>
            <a:r>
              <a:rPr lang="en-US" altLang="en-PK" b="1" dirty="0"/>
              <a:t>hardware, software, tools, and data</a:t>
            </a:r>
            <a:r>
              <a:rPr lang="en-US" altLang="en-PK" dirty="0"/>
              <a:t> required for testing.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Test servers, Databases, Browsers, Testing tools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Setting up:</a:t>
            </a:r>
          </a:p>
          <a:p>
            <a:r>
              <a:rPr lang="en-US" altLang="en-PK" dirty="0"/>
              <a:t>Chrome &amp; Firefox browsers</a:t>
            </a:r>
          </a:p>
          <a:p>
            <a:r>
              <a:rPr lang="en-US" altLang="en-PK" dirty="0"/>
              <a:t>Test database</a:t>
            </a:r>
          </a:p>
          <a:p>
            <a:r>
              <a:rPr lang="en-US" altLang="en-PK" dirty="0"/>
              <a:t>Dummy student accounts for an LMS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Wrong environment leads to </a:t>
            </a:r>
            <a:r>
              <a:rPr lang="en-US" altLang="en-PK" b="1" dirty="0"/>
              <a:t>false failures</a:t>
            </a:r>
            <a:r>
              <a:rPr lang="en-US" altLang="en-PK" dirty="0"/>
              <a:t>.</a:t>
            </a:r>
          </a:p>
          <a:p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4636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4. Test Execution (Test Operation)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Running test cases </a:t>
            </a:r>
            <a:r>
              <a:rPr lang="en-US" altLang="en-PK" b="1" dirty="0"/>
              <a:t>manually or automatically</a:t>
            </a:r>
            <a:r>
              <a:rPr lang="en-US" altLang="en-PK" dirty="0"/>
              <a:t> and observing results.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Executing test cases, Recording actual results, Comparing with expected results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Running the “Submit Exam” test case and checking whether:</a:t>
            </a:r>
          </a:p>
          <a:p>
            <a:r>
              <a:rPr lang="en-US" altLang="en-PK" dirty="0"/>
              <a:t>Answers are saved, Timer </a:t>
            </a:r>
            <a:r>
              <a:rPr lang="en-US" altLang="en-PK" dirty="0" err="1"/>
              <a:t>stops,Confirmation</a:t>
            </a:r>
            <a:r>
              <a:rPr lang="en-US" altLang="en-PK" dirty="0"/>
              <a:t> message appears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This is where </a:t>
            </a:r>
            <a:r>
              <a:rPr lang="en-US" altLang="en-PK" b="1" dirty="0"/>
              <a:t>actual defect detection</a:t>
            </a:r>
            <a:r>
              <a:rPr lang="en-US" altLang="en-PK" dirty="0"/>
              <a:t> happens.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265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6B130857-9051-9B3A-CC40-1255A0EABF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A8617800-8E14-7CC5-C826-8CF0DB28E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  <a:p>
            <a:r>
              <a:rPr lang="en-US" altLang="en-PK" b="1" dirty="0"/>
              <a:t>5. Test Result Analysis &amp; Reporting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Analyzing test results and preparing </a:t>
            </a:r>
            <a:r>
              <a:rPr lang="en-US" altLang="en-PK" b="1" dirty="0"/>
              <a:t>test reports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Pass/fail status, Defect trends, Test coverage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Test report shows:</a:t>
            </a:r>
          </a:p>
          <a:p>
            <a:r>
              <a:rPr lang="en-US" altLang="en-PK" dirty="0"/>
              <a:t>90% test cases passed</a:t>
            </a:r>
          </a:p>
          <a:p>
            <a:r>
              <a:rPr lang="en-US" altLang="en-PK" dirty="0"/>
              <a:t>5 critical defects found in payment module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Helps management </a:t>
            </a:r>
            <a:r>
              <a:rPr lang="en-US" altLang="en-PK" b="1" dirty="0"/>
              <a:t>decide release readiness</a:t>
            </a:r>
            <a:r>
              <a:rPr lang="en-US" altLang="en-PK" dirty="0"/>
              <a:t>.</a:t>
            </a:r>
          </a:p>
          <a:p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  <a:p>
            <a:endParaRPr lang="en-PK" altLang="en-PK" dirty="0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D0754EC5-18FB-B3E6-473A-12657E034E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9D9C6F-CD32-4549-8E1C-20166D0210A9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6. Defect (Problem) Reporting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Documenting detected bugs in a </a:t>
            </a:r>
            <a:r>
              <a:rPr lang="en-US" altLang="en-PK" b="1" dirty="0"/>
              <a:t>systematic manner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Defect description</a:t>
            </a:r>
          </a:p>
          <a:p>
            <a:r>
              <a:rPr lang="en-US" altLang="en-PK" dirty="0"/>
              <a:t>Severity and priority</a:t>
            </a:r>
          </a:p>
          <a:p>
            <a:r>
              <a:rPr lang="en-US" altLang="en-PK" dirty="0"/>
              <a:t>Steps to reproduce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Bug report:</a:t>
            </a:r>
          </a:p>
          <a:p>
            <a:r>
              <a:rPr lang="en-US" altLang="en-PK" dirty="0"/>
              <a:t>Title: Payment fails on retry</a:t>
            </a:r>
          </a:p>
          <a:p>
            <a:r>
              <a:rPr lang="en-US" altLang="en-PK" dirty="0"/>
              <a:t>Severity: High</a:t>
            </a:r>
          </a:p>
          <a:p>
            <a:r>
              <a:rPr lang="en-US" altLang="en-PK" dirty="0"/>
              <a:t>Steps: Add item → Pay → Retry payment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Clear defect reports help developers fix bugs faster.</a:t>
            </a:r>
          </a:p>
          <a:p>
            <a:r>
              <a:rPr lang="en-US" altLang="en-PK" dirty="0"/>
              <a:t/>
            </a:r>
            <a:br>
              <a:rPr lang="en-US" altLang="en-PK" dirty="0"/>
            </a:b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8820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PK" dirty="0"/>
          </a:p>
          <a:p>
            <a:r>
              <a:rPr lang="en-US" altLang="en-PK" b="1" dirty="0"/>
              <a:t>7. Test Management &amp; Measurement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Managing testing progress, cost, effort, and schedule.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Tracking test execution, Measuring defect density, Managing timelines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Test manager monitors:</a:t>
            </a:r>
          </a:p>
          <a:p>
            <a:r>
              <a:rPr lang="en-US" altLang="en-PK" dirty="0"/>
              <a:t>Number of test cases executed daily</a:t>
            </a:r>
          </a:p>
          <a:p>
            <a:r>
              <a:rPr lang="en-US" altLang="en-PK" dirty="0"/>
              <a:t>Remaining defects before release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Ensures testing stays </a:t>
            </a:r>
            <a:r>
              <a:rPr lang="en-US" altLang="en-PK" b="1" dirty="0"/>
              <a:t>on time and within budget</a:t>
            </a:r>
            <a:r>
              <a:rPr lang="en-US" altLang="en-PK" dirty="0"/>
              <a:t>.</a:t>
            </a:r>
          </a:p>
          <a:p>
            <a:r>
              <a:rPr lang="en-US" altLang="en-PK" dirty="0"/>
              <a:t/>
            </a:r>
            <a:br>
              <a:rPr lang="en-US" altLang="en-PK" dirty="0"/>
            </a:b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7357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PK" dirty="0"/>
          </a:p>
          <a:p>
            <a:r>
              <a:rPr lang="en-US" altLang="en-PK" b="1" dirty="0"/>
              <a:t>8. Test Automation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Using tools to </a:t>
            </a:r>
            <a:r>
              <a:rPr lang="en-US" altLang="en-PK" b="1" dirty="0"/>
              <a:t>automate repetitive test cases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</a:t>
            </a:r>
            <a:endParaRPr lang="en-US" altLang="en-PK" dirty="0"/>
          </a:p>
          <a:p>
            <a:r>
              <a:rPr lang="en-US" altLang="en-PK" dirty="0"/>
              <a:t>Automation scripts, Test tools, Regression test suites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Automating login tests so they run </a:t>
            </a:r>
            <a:r>
              <a:rPr lang="en-US" altLang="en-PK" b="1" dirty="0"/>
              <a:t>every time code changes</a:t>
            </a:r>
            <a:r>
              <a:rPr lang="en-US" altLang="en-PK" dirty="0"/>
              <a:t>.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Saves time and supports </a:t>
            </a:r>
            <a:r>
              <a:rPr lang="en-US" altLang="en-PK" b="1" dirty="0"/>
              <a:t>continuous integration</a:t>
            </a:r>
            <a:r>
              <a:rPr lang="en-US" altLang="en-PK" dirty="0"/>
              <a:t>.</a:t>
            </a:r>
          </a:p>
          <a:p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5330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b="1" dirty="0"/>
              <a:t>9. Test Configuration Management</a:t>
            </a:r>
          </a:p>
          <a:p>
            <a:r>
              <a:rPr lang="en-US" altLang="en-PK" b="1" dirty="0"/>
              <a:t>What it is: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Managing </a:t>
            </a:r>
            <a:r>
              <a:rPr lang="en-US" altLang="en-PK" b="1" dirty="0"/>
              <a:t>versions</a:t>
            </a:r>
            <a:r>
              <a:rPr lang="en-US" altLang="en-PK" dirty="0"/>
              <a:t> of:</a:t>
            </a:r>
          </a:p>
          <a:p>
            <a:r>
              <a:rPr lang="en-US" altLang="en-PK" dirty="0"/>
              <a:t>Test cases, Test data, Test environments, Test tools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Maintaining separate test suites for:</a:t>
            </a:r>
          </a:p>
          <a:p>
            <a:r>
              <a:rPr lang="en-US" altLang="en-PK" dirty="0"/>
              <a:t>Version 1.0</a:t>
            </a:r>
          </a:p>
          <a:p>
            <a:r>
              <a:rPr lang="en-US" altLang="en-PK" dirty="0"/>
              <a:t>Version 2.0 of an application</a:t>
            </a:r>
          </a:p>
          <a:p>
            <a:r>
              <a:rPr lang="en-US" altLang="en-PK" dirty="0"/>
              <a:t>📌 </a:t>
            </a:r>
            <a:r>
              <a:rPr lang="en-US" altLang="en-PK" i="1" dirty="0"/>
              <a:t>Why important?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Prevents confusion and ensures </a:t>
            </a:r>
            <a:r>
              <a:rPr lang="en-US" altLang="en-PK" b="1" dirty="0"/>
              <a:t>correct version testing</a:t>
            </a:r>
            <a:r>
              <a:rPr lang="en-US" altLang="en-PK" dirty="0"/>
              <a:t>.</a:t>
            </a:r>
          </a:p>
          <a:p>
            <a:r>
              <a:rPr lang="en-US" altLang="en-PK" dirty="0"/>
              <a:t/>
            </a:r>
            <a:br>
              <a:rPr lang="en-US" altLang="en-PK" dirty="0"/>
            </a:br>
            <a:endParaRPr lang="en-US" altLang="en-PK" dirty="0"/>
          </a:p>
          <a:p>
            <a:r>
              <a:rPr lang="en-US" altLang="en-PK" b="1" dirty="0"/>
              <a:t>🔁 Summary Flow (Easy to Remember)</a:t>
            </a:r>
          </a:p>
          <a:p>
            <a:r>
              <a:rPr lang="en-US" altLang="en-PK" b="1" dirty="0"/>
              <a:t>Plan → Design → Setup → Execute → Analyze → Report → Manage → Automate → Maintain</a:t>
            </a:r>
            <a:endParaRPr lang="en-US" alt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6360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Testing carried out during software development to detect defects early.</a:t>
            </a:r>
          </a:p>
          <a:p>
            <a:r>
              <a:rPr lang="en-PK" b="1" dirty="0"/>
              <a:t>Performed By</a:t>
            </a:r>
          </a:p>
          <a:p>
            <a:r>
              <a:rPr lang="en-PK" dirty="0"/>
              <a:t>Developers and development team.</a:t>
            </a:r>
          </a:p>
          <a:p>
            <a:r>
              <a:rPr lang="en-PK" b="1" dirty="0"/>
              <a:t>Purpose</a:t>
            </a:r>
          </a:p>
          <a:p>
            <a:r>
              <a:rPr lang="en-PK" dirty="0"/>
              <a:t>To ensure individual parts of software work correctly before release.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5577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Testing performed on the complete system before releasing it to customers.</a:t>
            </a:r>
          </a:p>
          <a:p>
            <a:r>
              <a:rPr lang="en-US" b="1" dirty="0" smtClean="0"/>
              <a:t>Performed By</a:t>
            </a:r>
          </a:p>
          <a:p>
            <a:r>
              <a:rPr lang="en-US" dirty="0" smtClean="0"/>
              <a:t>Independent testing or QA team.</a:t>
            </a:r>
          </a:p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To verify that the system satisfies specified requirements.</a:t>
            </a:r>
          </a:p>
          <a:p>
            <a:endParaRPr lang="en-US" dirty="0" smtClean="0"/>
          </a:p>
          <a:p>
            <a:r>
              <a:rPr lang="en-US" dirty="0" smtClean="0"/>
              <a:t>Black box : The tester checks software functionality without seeing the internal code.</a:t>
            </a:r>
          </a:p>
          <a:p>
            <a:r>
              <a:rPr lang="en-US" b="1" dirty="0" smtClean="0"/>
              <a:t>Focus</a:t>
            </a:r>
          </a:p>
          <a:p>
            <a:r>
              <a:rPr lang="en-US" dirty="0" smtClean="0"/>
              <a:t>What the software does </a:t>
            </a:r>
          </a:p>
          <a:p>
            <a:r>
              <a:rPr lang="en-US" dirty="0" smtClean="0"/>
              <a:t>Input and output behavior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8370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Requirements-Based Testing</a:t>
            </a:r>
          </a:p>
          <a:p>
            <a:r>
              <a:rPr lang="en-US" b="1" dirty="0" smtClean="0"/>
              <a:t>Meaning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24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7233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 smtClean="0"/>
          </a:p>
          <a:p>
            <a:r>
              <a:rPr lang="en-US" b="1" dirty="0" smtClean="0"/>
              <a:t>c) Performance Testing</a:t>
            </a:r>
          </a:p>
          <a:p>
            <a:r>
              <a:rPr lang="en-US" b="1" dirty="0" smtClean="0"/>
              <a:t>Meaning</a:t>
            </a:r>
          </a:p>
          <a:p>
            <a:r>
              <a:rPr lang="en-US" dirty="0" smtClean="0"/>
              <a:t>Testing software speed, stability, and scalability.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Checking system behavior with:</a:t>
            </a:r>
          </a:p>
          <a:p>
            <a:r>
              <a:rPr lang="en-US" dirty="0" smtClean="0"/>
              <a:t>1000 users logging in simultaneously </a:t>
            </a:r>
          </a:p>
          <a:p>
            <a:r>
              <a:rPr lang="en-US" b="1" dirty="0" smtClean="0"/>
              <a:t>Goal</a:t>
            </a:r>
          </a:p>
          <a:p>
            <a:r>
              <a:rPr lang="en-US" dirty="0" smtClean="0"/>
              <a:t>Ensure system performs efficiently under load.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26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2517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a) Alpha Testing</a:t>
            </a:r>
          </a:p>
          <a:p>
            <a:r>
              <a:rPr lang="en-US" b="1" dirty="0" smtClean="0"/>
              <a:t>Meaning</a:t>
            </a:r>
          </a:p>
          <a:p>
            <a:r>
              <a:rPr lang="en-US" dirty="0" smtClean="0"/>
              <a:t>Testing performed by selected users at the developer’s site.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Company employees test a new mobile banking app before public release.</a:t>
            </a:r>
          </a:p>
          <a:p>
            <a:r>
              <a:rPr lang="en-US" b="1" dirty="0" smtClean="0"/>
              <a:t>Goal</a:t>
            </a:r>
          </a:p>
          <a:p>
            <a:r>
              <a:rPr lang="en-US" dirty="0" smtClean="0"/>
              <a:t>Find defects before external release.</a:t>
            </a:r>
          </a:p>
          <a:p>
            <a:r>
              <a:rPr lang="en-US" b="1" dirty="0" smtClean="0"/>
              <a:t>b) Beta Testing</a:t>
            </a:r>
          </a:p>
          <a:p>
            <a:r>
              <a:rPr lang="en-US" b="1" dirty="0" smtClean="0"/>
              <a:t>Meaning</a:t>
            </a:r>
          </a:p>
          <a:p>
            <a:r>
              <a:rPr lang="en-US" dirty="0" smtClean="0"/>
              <a:t>Testing performed by real users in a real environment.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A new game released to limited public users for feedback.</a:t>
            </a:r>
          </a:p>
          <a:p>
            <a:r>
              <a:rPr lang="en-US" b="1" dirty="0" smtClean="0"/>
              <a:t>Goal</a:t>
            </a:r>
          </a:p>
          <a:p>
            <a:r>
              <a:rPr lang="en-US" dirty="0" smtClean="0"/>
              <a:t>Collect real-user feedback and discover hidden issues.</a:t>
            </a:r>
          </a:p>
          <a:p>
            <a:r>
              <a:rPr lang="en-US" b="1" dirty="0" smtClean="0"/>
              <a:t>c) Acceptance Testing</a:t>
            </a:r>
          </a:p>
          <a:p>
            <a:r>
              <a:rPr lang="en-US" b="1" dirty="0" smtClean="0"/>
              <a:t>Meaning</a:t>
            </a:r>
          </a:p>
          <a:p>
            <a:r>
              <a:rPr lang="en-US" dirty="0" smtClean="0"/>
              <a:t>Formal testing to decide whether the system is accepted or rejected.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A university checks whether the Library Management System fulfills all agreed requirements.</a:t>
            </a:r>
          </a:p>
          <a:p>
            <a:r>
              <a:rPr lang="en-US" b="1" dirty="0" smtClean="0"/>
              <a:t>Goal</a:t>
            </a:r>
          </a:p>
          <a:p>
            <a:r>
              <a:rPr lang="en-US" dirty="0" smtClean="0"/>
              <a:t>Confirm readiness for final deployment.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26163-419B-4691-B31A-293B87D3BFD3}" type="slidenum">
              <a:rPr lang="en-PK" smtClean="0"/>
              <a:t>28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4408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5299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506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157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876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8006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493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554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652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178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025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3332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5351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1713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6514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83786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3894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487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F18884D-9785-4821-AA2A-7BA76B03FDB0}" type="datetimeFigureOut">
              <a:rPr lang="en-PK" smtClean="0"/>
              <a:t>05/14/2026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7432D5-324B-4590-AF7A-38589FD33AB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2141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1903-C35A-2D93-9BAF-BE9DD9E132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Testing Activities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F62F2-2FED-7EAF-7ABB-CB32BFD5B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Ms. Shehla Saeed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7422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E23-E8F8-3518-F1F4-A7403F1F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118"/>
            <a:ext cx="10515600" cy="1325563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F96C-0554-4CFF-CAE9-D4C932E15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736714"/>
            <a:ext cx="10515600" cy="4678213"/>
          </a:xfrm>
        </p:spPr>
        <p:txBody>
          <a:bodyPr>
            <a:normAutofit/>
          </a:bodyPr>
          <a:lstStyle/>
          <a:p>
            <a:r>
              <a:rPr lang="en-US" altLang="en-US" sz="3000" b="1" dirty="0"/>
              <a:t>Test Planning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 Define a software test plan by specifying: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PK" dirty="0"/>
              <a:t> Test objectives, Test schedule, Resources and roles, Tools and test strategy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For an </a:t>
            </a:r>
            <a:r>
              <a:rPr lang="en-US" altLang="en-PK" b="1" dirty="0"/>
              <a:t>online exam system</a:t>
            </a:r>
            <a:r>
              <a:rPr lang="en-US" altLang="en-PK" dirty="0"/>
              <a:t>, the test plan defines:</a:t>
            </a:r>
          </a:p>
          <a:p>
            <a:r>
              <a:rPr lang="en-US" altLang="en-PK" dirty="0"/>
              <a:t>Features to test (login, timer, submission)</a:t>
            </a:r>
          </a:p>
          <a:p>
            <a:r>
              <a:rPr lang="en-US" altLang="en-PK" dirty="0"/>
              <a:t>Testing schedule</a:t>
            </a:r>
          </a:p>
          <a:p>
            <a:r>
              <a:rPr lang="en-US" altLang="en-PK" dirty="0"/>
              <a:t>Number of testers</a:t>
            </a:r>
          </a:p>
          <a:p>
            <a:r>
              <a:rPr lang="en-US" altLang="en-PK" dirty="0"/>
              <a:t>Manual vs automated testing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415D-DC9C-12B7-DF70-0D58371C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1"/>
            <a:ext cx="10018713" cy="1263162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0BC7-8F4D-D81C-7524-AF5F8E78B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3663"/>
            <a:ext cx="10018713" cy="4736123"/>
          </a:xfrm>
        </p:spPr>
        <p:txBody>
          <a:bodyPr>
            <a:normAutofit/>
          </a:bodyPr>
          <a:lstStyle/>
          <a:p>
            <a:r>
              <a:rPr lang="en-US" altLang="en-US" sz="2600" b="1" dirty="0"/>
              <a:t>Test Design and Specification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- Conduct software design based well-defined test generation methods.</a:t>
            </a:r>
            <a:br>
              <a:rPr lang="en-US" altLang="en-US" dirty="0"/>
            </a:br>
            <a:r>
              <a:rPr lang="en-US" altLang="en-US" dirty="0"/>
              <a:t>	- Specify test cases to achieve a targeted test coverage.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Test case for login module:</a:t>
            </a:r>
          </a:p>
          <a:p>
            <a:r>
              <a:rPr lang="en-US" altLang="en-PK" dirty="0"/>
              <a:t>Input: Valid username &amp; password</a:t>
            </a:r>
          </a:p>
          <a:p>
            <a:r>
              <a:rPr lang="en-US" altLang="en-PK" dirty="0"/>
              <a:t>Expected result: User logs in successfully</a:t>
            </a:r>
          </a:p>
        </p:txBody>
      </p:sp>
    </p:spTree>
    <p:extLst>
      <p:ext uri="{BB962C8B-B14F-4D97-AF65-F5344CB8AC3E}">
        <p14:creationId xmlns:p14="http://schemas.microsoft.com/office/powerpoint/2010/main" val="399963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7CEC-AC69-F21E-2A69-A530CBF6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50135"/>
            <a:ext cx="10018713" cy="1021080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82736-B9CC-EBF8-883E-99A3AA17A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670" y="1844041"/>
            <a:ext cx="10018713" cy="5151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PK" sz="2800" b="1" dirty="0"/>
              <a:t>Test Environment &amp; Setup</a:t>
            </a:r>
          </a:p>
          <a:p>
            <a:r>
              <a:rPr lang="en-US" altLang="en-US" dirty="0"/>
              <a:t> Testing Tools and Environment Set-up</a:t>
            </a:r>
            <a:br>
              <a:rPr lang="en-US" altLang="en-US" dirty="0"/>
            </a:br>
            <a:r>
              <a:rPr lang="en-US" altLang="en-US" dirty="0"/>
              <a:t>	- Test Suite Set-up</a:t>
            </a:r>
          </a:p>
          <a:p>
            <a:r>
              <a:rPr lang="en-US" altLang="en-PK" b="1" dirty="0"/>
              <a:t>Includes: </a:t>
            </a:r>
            <a:r>
              <a:rPr lang="en-US" altLang="en-PK" dirty="0"/>
              <a:t>Test servers, Databases, Browsers, Testing tools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Setting up:</a:t>
            </a:r>
          </a:p>
          <a:p>
            <a:r>
              <a:rPr lang="en-US" altLang="en-PK" dirty="0"/>
              <a:t>Chrome &amp; Firefox browsers</a:t>
            </a:r>
          </a:p>
          <a:p>
            <a:r>
              <a:rPr lang="en-US" altLang="en-PK" dirty="0"/>
              <a:t>Test database</a:t>
            </a:r>
          </a:p>
          <a:p>
            <a:r>
              <a:rPr lang="en-US" altLang="en-PK" dirty="0"/>
              <a:t>Dummy student accounts for an LMS</a:t>
            </a:r>
          </a:p>
          <a:p>
            <a:pPr marL="0" indent="0">
              <a:buNone/>
            </a:pPr>
            <a:r>
              <a:rPr lang="en-US" altLang="en-PK" dirty="0"/>
              <a:t>.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660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57B1-5F33-8739-1B1A-4C430E3D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8200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4E65B-175E-9331-4A4C-94CC691F2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44978"/>
            <a:ext cx="10018713" cy="47777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b="1" dirty="0"/>
              <a:t>Test Operation and Execution</a:t>
            </a:r>
          </a:p>
          <a:p>
            <a:r>
              <a:rPr lang="en-US" altLang="en-US" dirty="0"/>
              <a:t>Run test cases manually or automatically</a:t>
            </a:r>
          </a:p>
          <a:p>
            <a:r>
              <a:rPr lang="en-US" altLang="en-PK" b="1" dirty="0"/>
              <a:t>Includes:  </a:t>
            </a:r>
            <a:r>
              <a:rPr lang="en-US" altLang="en-PK" dirty="0"/>
              <a:t>Executing test cases, Recording actual results, Comparing with expected results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Running the “Submit Exam” test case and checking whether:</a:t>
            </a:r>
          </a:p>
          <a:p>
            <a:r>
              <a:rPr lang="en-US" altLang="en-PK" dirty="0"/>
              <a:t>Answers are saved</a:t>
            </a:r>
          </a:p>
          <a:p>
            <a:r>
              <a:rPr lang="en-US" altLang="en-PK" dirty="0"/>
              <a:t>Timer stops</a:t>
            </a:r>
          </a:p>
          <a:p>
            <a:r>
              <a:rPr lang="en-US" altLang="en-PK" dirty="0"/>
              <a:t>Confirmation message appears</a:t>
            </a:r>
          </a:p>
        </p:txBody>
      </p:sp>
    </p:spTree>
    <p:extLst>
      <p:ext uri="{BB962C8B-B14F-4D97-AF65-F5344CB8AC3E}">
        <p14:creationId xmlns:p14="http://schemas.microsoft.com/office/powerpoint/2010/main" val="321530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CE68-9ECF-5E31-9C86-6E8D6E6F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111" y="-257432"/>
            <a:ext cx="10018713" cy="1752599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4278-FCF7-6243-7503-F9C2FC6B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111" y="1021080"/>
            <a:ext cx="10515600" cy="5339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 </a:t>
            </a:r>
            <a:r>
              <a:rPr lang="en-US" altLang="en-US" b="1" dirty="0"/>
              <a:t>Test Result Analysis and Reporting</a:t>
            </a:r>
            <a:endParaRPr lang="en-US" altLang="en-US" dirty="0"/>
          </a:p>
          <a:p>
            <a:r>
              <a:rPr lang="en-US" altLang="en-PK" dirty="0"/>
              <a:t>Analyzing test results and preparing </a:t>
            </a:r>
            <a:r>
              <a:rPr lang="en-US" altLang="en-PK" b="1" dirty="0"/>
              <a:t>test reports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 </a:t>
            </a:r>
            <a:r>
              <a:rPr lang="en-US" altLang="en-PK" dirty="0"/>
              <a:t>Pass/fail status, Defect trends, Test coverage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Test report shows:</a:t>
            </a:r>
          </a:p>
          <a:p>
            <a:r>
              <a:rPr lang="en-US" altLang="en-PK" dirty="0"/>
              <a:t>90% test cases passed</a:t>
            </a:r>
          </a:p>
          <a:p>
            <a:r>
              <a:rPr lang="en-US" altLang="en-PK" dirty="0"/>
              <a:t>5 critical defects found in payment module</a:t>
            </a:r>
          </a:p>
          <a:p>
            <a:pPr marL="0" indent="0"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PK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18EB-6A22-AC31-8B9F-795AC40B4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9640"/>
          </a:xfrm>
        </p:spPr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9B21-620F-16A4-27EE-0976D4A1D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190" y="1844041"/>
            <a:ext cx="10018713" cy="4175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b="1" dirty="0"/>
              <a:t>Problem Reporting</a:t>
            </a:r>
            <a:endParaRPr lang="en-US" altLang="en-US" dirty="0"/>
          </a:p>
          <a:p>
            <a:r>
              <a:rPr lang="en-US" altLang="en-PK" dirty="0"/>
              <a:t>Documenting detected bugs in a </a:t>
            </a:r>
            <a:r>
              <a:rPr lang="en-US" altLang="en-PK" b="1" dirty="0"/>
              <a:t>systematic manner</a:t>
            </a:r>
            <a:r>
              <a:rPr lang="en-US" altLang="en-PK" dirty="0"/>
              <a:t>.</a:t>
            </a:r>
          </a:p>
          <a:p>
            <a:r>
              <a:rPr lang="en-US" altLang="en-PK" b="1" dirty="0"/>
              <a:t>Includes: </a:t>
            </a:r>
            <a:r>
              <a:rPr lang="en-US" altLang="en-PK" dirty="0"/>
              <a:t>Defect description, Severity and priority, Steps to reproduce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Bug report:</a:t>
            </a:r>
          </a:p>
          <a:p>
            <a:pPr lvl="1"/>
            <a:r>
              <a:rPr lang="en-US" altLang="en-PK" sz="2400" dirty="0"/>
              <a:t>Title: Payment fails on retry</a:t>
            </a:r>
          </a:p>
          <a:p>
            <a:pPr lvl="1"/>
            <a:r>
              <a:rPr lang="en-US" altLang="en-PK" sz="2400" dirty="0"/>
              <a:t>Severity: High</a:t>
            </a:r>
          </a:p>
          <a:p>
            <a:pPr lvl="1"/>
            <a:r>
              <a:rPr lang="en-US" altLang="en-PK" sz="2400" dirty="0"/>
              <a:t>Steps: Add item → Pay → Retry payment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3503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EF67-8704-35A7-9582-6FA60004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53179-DD59-C061-99DA-F9585F435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910" y="2026919"/>
            <a:ext cx="10018713" cy="4434841"/>
          </a:xfrm>
        </p:spPr>
        <p:txBody>
          <a:bodyPr>
            <a:normAutofit/>
          </a:bodyPr>
          <a:lstStyle/>
          <a:p>
            <a:r>
              <a:rPr lang="en-US" altLang="en-US" b="1" dirty="0"/>
              <a:t>Test Management and Measurement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Manage software testing activities, control testing schedule, measure testing cost 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Test manager monitors:</a:t>
            </a:r>
          </a:p>
          <a:p>
            <a:pPr lvl="1"/>
            <a:r>
              <a:rPr lang="en-US" altLang="en-PK" dirty="0"/>
              <a:t>Number of test cases executed daily</a:t>
            </a:r>
          </a:p>
          <a:p>
            <a:pPr lvl="1"/>
            <a:r>
              <a:rPr lang="en-US" altLang="en-PK" dirty="0"/>
              <a:t>Remaining defects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134418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146E2-7920-E892-49DD-9EC09A70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8123-D086-9C83-98ED-9C1D0D9F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Test Automation</a:t>
            </a:r>
          </a:p>
          <a:p>
            <a:pPr lvl="1"/>
            <a:r>
              <a:rPr lang="en-US" altLang="en-US" dirty="0"/>
              <a:t>Define and develop software test tools</a:t>
            </a:r>
          </a:p>
          <a:p>
            <a:pPr lvl="1"/>
            <a:r>
              <a:rPr lang="en-US" altLang="en-US" dirty="0"/>
              <a:t>Adopt and use software test tools</a:t>
            </a:r>
          </a:p>
          <a:p>
            <a:pPr lvl="1"/>
            <a:r>
              <a:rPr lang="en-US" altLang="en-US" dirty="0"/>
              <a:t> Write software test scripts and facility</a:t>
            </a:r>
          </a:p>
          <a:p>
            <a:pPr marL="457200" lvl="1" indent="0">
              <a:buNone/>
            </a:pPr>
            <a:r>
              <a:rPr lang="en-US" altLang="en-PK" b="1" dirty="0"/>
              <a:t>Example: </a:t>
            </a:r>
            <a:r>
              <a:rPr lang="en-US" altLang="en-PK" dirty="0"/>
              <a:t>Automating login tests so these run </a:t>
            </a:r>
            <a:r>
              <a:rPr lang="en-US" altLang="en-PK" b="1" dirty="0"/>
              <a:t>every time code changes</a:t>
            </a:r>
            <a:r>
              <a:rPr lang="en-US" altLang="en-PK" dirty="0"/>
              <a:t>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3687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C6C1-ADCE-5F74-CA0C-FB1D0845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 dirty="0"/>
              <a:t>Software Testing Activities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56E4-4B79-1F9A-B9EE-F8F4A4464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6576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 dirty="0"/>
              <a:t> Test Configuration Management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- Manage and maintain different versions of software test suites, test 	environment and tools, and documents for various product versions.  </a:t>
            </a:r>
          </a:p>
          <a:p>
            <a:pPr marL="0" indent="0">
              <a:buNone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Maintaining separate test suites for:</a:t>
            </a:r>
          </a:p>
          <a:p>
            <a:r>
              <a:rPr lang="en-US" altLang="en-PK" dirty="0"/>
              <a:t>Version 1.0</a:t>
            </a:r>
          </a:p>
          <a:p>
            <a:r>
              <a:rPr lang="en-US" altLang="en-PK" dirty="0"/>
              <a:t>Version 2.0 of an application</a:t>
            </a:r>
          </a:p>
          <a:p>
            <a:r>
              <a:rPr lang="en-US" altLang="en-PK" dirty="0"/>
              <a:t>Prevents confusion and ensures </a:t>
            </a:r>
            <a:r>
              <a:rPr lang="en-US" altLang="en-PK" b="1" dirty="0"/>
              <a:t>correct version testing</a:t>
            </a:r>
            <a:endParaRPr lang="en-US" altLang="en-PK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5788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D944-0D4E-BB73-5D50-F46E642BD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8"/>
            <a:ext cx="10515600" cy="1325563"/>
          </a:xfrm>
        </p:spPr>
        <p:txBody>
          <a:bodyPr/>
          <a:lstStyle/>
          <a:p>
            <a:r>
              <a:rPr lang="en-US" altLang="en-US" u="sng" dirty="0"/>
              <a:t>Software Testing Principles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07796-27DB-5493-FD92-8BA3E33C8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FontTx/>
              <a:buChar char="•"/>
            </a:pPr>
            <a:r>
              <a:rPr lang="en-US" altLang="en-US" sz="6400" dirty="0"/>
              <a:t>Principle #1: Complete testing is impossible.</a:t>
            </a:r>
          </a:p>
          <a:p>
            <a:pPr>
              <a:buFontTx/>
              <a:buChar char="•"/>
            </a:pP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#2: Software testing is not simple.</a:t>
            </a:r>
          </a:p>
          <a:p>
            <a:pPr lvl="1">
              <a:buFontTx/>
              <a:buChar char="•"/>
            </a:pPr>
            <a:r>
              <a:rPr lang="en-US" altLang="en-US" sz="6400" dirty="0"/>
              <a:t>Reasons: 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Quality testing requires testers to understand a system/product completely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Quality testing needs adequate test set, and efficient testing methods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A very tight schedule and lack of test tools.</a:t>
            </a:r>
          </a:p>
          <a:p>
            <a:pPr>
              <a:buFontTx/>
              <a:buChar char="•"/>
            </a:pPr>
            <a:r>
              <a:rPr lang="en-PK" sz="6400" dirty="0"/>
              <a:t>Principle #3: Early Testing Saves Time and Cost</a:t>
            </a: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#4: Testing must be planned.</a:t>
            </a:r>
          </a:p>
          <a:p>
            <a:pPr>
              <a:buFontTx/>
              <a:buChar char="•"/>
            </a:pP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#5: Testing requires independence.</a:t>
            </a:r>
          </a:p>
          <a:p>
            <a:pPr>
              <a:buFontTx/>
              <a:buChar char="•"/>
            </a:pPr>
            <a:endParaRPr lang="en-US" altLang="en-US" sz="6400" dirty="0"/>
          </a:p>
          <a:p>
            <a:pPr>
              <a:buFontTx/>
              <a:buChar char="•"/>
            </a:pPr>
            <a:r>
              <a:rPr lang="en-US" altLang="en-US" sz="6400" dirty="0"/>
              <a:t>Principle #6: Quality software testing depends on: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Good understanding of software products and related domain application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Cost-effective testing methodology, coverage, test methods, and tools.</a:t>
            </a:r>
          </a:p>
          <a:p>
            <a:pPr lvl="2">
              <a:buFontTx/>
              <a:buChar char="•"/>
            </a:pPr>
            <a:r>
              <a:rPr lang="en-US" altLang="en-US" sz="6400" dirty="0"/>
              <a:t>Good engineers with creativity, and solid software testing experience</a:t>
            </a:r>
          </a:p>
          <a:p>
            <a:endParaRPr lang="en-PK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2654-1BF6-652E-B668-5D5A3823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Stages of testing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4EAB-271B-3806-F5D2-1ADDFFB89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K" dirty="0"/>
              <a:t>Software testing is commonly divided into three major stages:</a:t>
            </a:r>
            <a:endParaRPr lang="en-US" dirty="0"/>
          </a:p>
          <a:p>
            <a:pPr marL="457200" lvl="1" indent="0">
              <a:buNone/>
            </a:pPr>
            <a:r>
              <a:rPr lang="en-PK" sz="2400" dirty="0"/>
              <a:t>Development Testing</a:t>
            </a:r>
            <a:br>
              <a:rPr lang="en-PK" sz="2400" dirty="0"/>
            </a:br>
            <a:r>
              <a:rPr lang="en-PK" sz="2400" dirty="0"/>
              <a:t>↓</a:t>
            </a:r>
            <a:br>
              <a:rPr lang="en-PK" sz="2400" dirty="0"/>
            </a:br>
            <a:r>
              <a:rPr lang="en-PK" sz="2400" dirty="0"/>
              <a:t>Release Testing</a:t>
            </a:r>
            <a:br>
              <a:rPr lang="en-PK" sz="2400" dirty="0"/>
            </a:br>
            <a:r>
              <a:rPr lang="en-PK" sz="2400" dirty="0"/>
              <a:t>↓</a:t>
            </a:r>
            <a:br>
              <a:rPr lang="en-PK" sz="2400" dirty="0"/>
            </a:br>
            <a:r>
              <a:rPr lang="en-PK" sz="2400" dirty="0"/>
              <a:t>User Testing</a:t>
            </a:r>
          </a:p>
        </p:txBody>
      </p:sp>
    </p:spTree>
    <p:extLst>
      <p:ext uri="{BB962C8B-B14F-4D97-AF65-F5344CB8AC3E}">
        <p14:creationId xmlns:p14="http://schemas.microsoft.com/office/powerpoint/2010/main" val="337709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D6A3A69-1577-0FA0-D8E7-57442289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Stages of testing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F89A8349-3514-856E-FE3D-278C284AE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Development testing</a:t>
            </a:r>
            <a:r>
              <a:rPr lang="en-US" altLang="en-US"/>
              <a:t>, where the system is tested during development to discover bugs and defects. </a:t>
            </a:r>
          </a:p>
          <a:p>
            <a:r>
              <a:rPr lang="en-US" altLang="en-US" b="1"/>
              <a:t>Release testing</a:t>
            </a:r>
            <a:r>
              <a:rPr lang="en-US" altLang="en-US"/>
              <a:t>, where a separate testing team test a complete version of the system before it is released to users. </a:t>
            </a:r>
          </a:p>
          <a:p>
            <a:r>
              <a:rPr lang="en-US" altLang="en-US" b="1"/>
              <a:t>User testing, </a:t>
            </a:r>
            <a:r>
              <a:rPr lang="en-US" altLang="en-US"/>
              <a:t>where users or potential users of a system test the system in their own environment.</a:t>
            </a:r>
          </a:p>
        </p:txBody>
      </p:sp>
      <p:sp>
        <p:nvSpPr>
          <p:cNvPr id="38917" name="Slide Number Placeholder 4">
            <a:extLst>
              <a:ext uri="{FF2B5EF4-FFF2-40B4-BE49-F238E27FC236}">
                <a16:creationId xmlns:a16="http://schemas.microsoft.com/office/drawing/2014/main" id="{9EAE2A0E-E850-3C47-03E4-72FB068530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598A327-AC88-491C-8AC2-596F249D721A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13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84313" y="3223260"/>
          <a:ext cx="10018713" cy="2011680"/>
        </p:xfrm>
        <a:graphic>
          <a:graphicData uri="http://schemas.openxmlformats.org/drawingml/2006/table">
            <a:tbl>
              <a:tblPr/>
              <a:tblGrid>
                <a:gridCol w="3339571">
                  <a:extLst>
                    <a:ext uri="{9D8B030D-6E8A-4147-A177-3AD203B41FA5}">
                      <a16:colId xmlns:a16="http://schemas.microsoft.com/office/drawing/2014/main" val="457587493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564399518"/>
                    </a:ext>
                  </a:extLst>
                </a:gridCol>
                <a:gridCol w="3339571">
                  <a:extLst>
                    <a:ext uri="{9D8B030D-6E8A-4147-A177-3AD203B41FA5}">
                      <a16:colId xmlns:a16="http://schemas.microsoft.com/office/drawing/2014/main" val="4557114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Testing 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Main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Common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8709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Development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Finding defects during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Unit, Component,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5214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Release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Verifying complete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Requirements, Scenario,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886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User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User satisfaction and approval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Alpha, Beta, Acceptance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769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29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B30925EE-0209-9D72-7E46-86C15446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Development testing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87B439CF-8C70-E35F-767D-97423D823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Development testing includes all testing activities that are carried out by the team developing the system. </a:t>
            </a:r>
          </a:p>
          <a:p>
            <a:pPr lvl="1"/>
            <a:r>
              <a:rPr lang="en-US" altLang="en-US" b="1" dirty="0"/>
              <a:t>Unit testing, </a:t>
            </a:r>
            <a:r>
              <a:rPr lang="en-US" altLang="en-US" dirty="0"/>
              <a:t>where individual program units or object classes are tested. Unit testing should focus on testing the functionality of objects or methods.</a:t>
            </a:r>
            <a:endParaRPr lang="en-GB" altLang="en-US" dirty="0"/>
          </a:p>
          <a:p>
            <a:pPr lvl="1"/>
            <a:r>
              <a:rPr lang="en-US" altLang="en-US" b="1" dirty="0"/>
              <a:t>Component testing, </a:t>
            </a:r>
            <a:r>
              <a:rPr lang="en-US" altLang="en-US" dirty="0"/>
              <a:t>where several individual units are integrated to create composite components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b="1" dirty="0" smtClean="0"/>
              <a:t>Integration Testing </a:t>
            </a:r>
            <a:r>
              <a:rPr lang="en-US" dirty="0" smtClean="0"/>
              <a:t>Where </a:t>
            </a:r>
            <a:r>
              <a:rPr lang="en-US" dirty="0"/>
              <a:t>interaction between combined </a:t>
            </a:r>
            <a:r>
              <a:rPr lang="en-US" dirty="0" smtClean="0"/>
              <a:t>modules is tested.</a:t>
            </a:r>
            <a:endParaRPr lang="en-GB" altLang="en-US" dirty="0"/>
          </a:p>
          <a:p>
            <a:pPr lvl="1"/>
            <a:r>
              <a:rPr lang="en-US" altLang="en-US" b="1" dirty="0"/>
              <a:t>System testing, </a:t>
            </a:r>
            <a:r>
              <a:rPr lang="en-US" altLang="en-US" dirty="0"/>
              <a:t>where some or all of the components in a system are integrated and the system is tested as a whole. 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9DEB5B88-95C3-F95A-F574-22AC4A9EE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009998-0BB2-4FD7-AE22-614B8776F2C6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15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879A1C3-F6EE-3118-9055-B40FF3E3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Unit testing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F93D194-DFD0-4129-4C33-0AC956B42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Unit testing is the process of testing </a:t>
            </a:r>
            <a:r>
              <a:rPr lang="en-US" altLang="en-US" dirty="0" smtClean="0"/>
              <a:t>individual function/ component </a:t>
            </a:r>
            <a:r>
              <a:rPr lang="en-US" altLang="en-US" dirty="0"/>
              <a:t>in isolation.</a:t>
            </a:r>
          </a:p>
          <a:p>
            <a:r>
              <a:rPr lang="en-US" altLang="en-US" dirty="0"/>
              <a:t>Units may be:</a:t>
            </a:r>
          </a:p>
          <a:p>
            <a:pPr lvl="1"/>
            <a:r>
              <a:rPr lang="en-US" altLang="en-US" dirty="0"/>
              <a:t>Individual functions or methods within an object </a:t>
            </a:r>
          </a:p>
          <a:p>
            <a:pPr lvl="1"/>
            <a:r>
              <a:rPr lang="en-US" altLang="en-US" dirty="0"/>
              <a:t>Object classes with several attributes and methods </a:t>
            </a:r>
          </a:p>
        </p:txBody>
      </p:sp>
      <p:sp>
        <p:nvSpPr>
          <p:cNvPr id="40965" name="Slide Number Placeholder 3">
            <a:extLst>
              <a:ext uri="{FF2B5EF4-FFF2-40B4-BE49-F238E27FC236}">
                <a16:creationId xmlns:a16="http://schemas.microsoft.com/office/drawing/2014/main" id="{D4014F7D-0A7F-4492-4183-2967138732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AEBAD5-C69B-4766-BB18-A8A8A5D7901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16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Testing a complete module or component independently.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Testing the entire Login Module including:</a:t>
            </a:r>
          </a:p>
          <a:p>
            <a:r>
              <a:rPr lang="en-US" dirty="0"/>
              <a:t>username validation </a:t>
            </a:r>
          </a:p>
          <a:p>
            <a:r>
              <a:rPr lang="en-US" dirty="0"/>
              <a:t>password checking </a:t>
            </a:r>
          </a:p>
          <a:p>
            <a:r>
              <a:rPr lang="en-US" dirty="0"/>
              <a:t>error messages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Ensure the module works properly as a whole.</a:t>
            </a:r>
          </a:p>
        </p:txBody>
      </p:sp>
    </p:spTree>
    <p:extLst>
      <p:ext uri="{BB962C8B-B14F-4D97-AF65-F5344CB8AC3E}">
        <p14:creationId xmlns:p14="http://schemas.microsoft.com/office/powerpoint/2010/main" val="3664604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438399"/>
            <a:ext cx="10018713" cy="36870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Testing </a:t>
            </a:r>
            <a:r>
              <a:rPr lang="en-US" dirty="0"/>
              <a:t>combined modules to ensure they work together correctly.</a:t>
            </a:r>
          </a:p>
          <a:p>
            <a:pPr marL="0" indent="0">
              <a:buNone/>
            </a:pPr>
            <a:r>
              <a:rPr lang="en-US" b="1" dirty="0"/>
              <a:t>Focus</a:t>
            </a:r>
          </a:p>
          <a:p>
            <a:r>
              <a:rPr lang="en-US" dirty="0"/>
              <a:t>Module interaction </a:t>
            </a:r>
          </a:p>
          <a:p>
            <a:r>
              <a:rPr lang="en-US" dirty="0"/>
              <a:t>Data communication </a:t>
            </a:r>
          </a:p>
          <a:p>
            <a:r>
              <a:rPr lang="en-US" dirty="0"/>
              <a:t>Interface connections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Example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In a banking system:</a:t>
            </a:r>
          </a:p>
          <a:p>
            <a:r>
              <a:rPr lang="en-US" dirty="0"/>
              <a:t>Login module connects with database </a:t>
            </a:r>
          </a:p>
          <a:p>
            <a:r>
              <a:rPr lang="en-US" dirty="0"/>
              <a:t>Payment module communicates with account module </a:t>
            </a:r>
          </a:p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To identify problems in communication between modules.</a:t>
            </a:r>
          </a:p>
        </p:txBody>
      </p:sp>
    </p:spTree>
    <p:extLst>
      <p:ext uri="{BB962C8B-B14F-4D97-AF65-F5344CB8AC3E}">
        <p14:creationId xmlns:p14="http://schemas.microsoft.com/office/powerpoint/2010/main" val="2927076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1EE63B0C-BE56-44E0-AF37-5F4D9936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testing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88397936-AAB3-9156-18E6-F94B544FA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System testing during development involves integrating components to create a version of the system and then testing the integrated system.</a:t>
            </a:r>
          </a:p>
          <a:p>
            <a:r>
              <a:rPr lang="en-US" altLang="en-US"/>
              <a:t>The focus in system testing is testing the interactions between components. </a:t>
            </a:r>
          </a:p>
          <a:p>
            <a:r>
              <a:rPr lang="en-US" altLang="en-US"/>
              <a:t>System testing checks that components are compatible, interact correctly and transfer the right data at the right time across their interfaces. </a:t>
            </a:r>
          </a:p>
          <a:p>
            <a:r>
              <a:rPr lang="en-US" altLang="en-US"/>
              <a:t>System testing tests the emergent behaviour of a system. </a:t>
            </a:r>
          </a:p>
        </p:txBody>
      </p:sp>
      <p:sp>
        <p:nvSpPr>
          <p:cNvPr id="41989" name="Slide Number Placeholder 3">
            <a:extLst>
              <a:ext uri="{FF2B5EF4-FFF2-40B4-BE49-F238E27FC236}">
                <a16:creationId xmlns:a16="http://schemas.microsoft.com/office/drawing/2014/main" id="{D78DD52A-B004-47B1-B8E5-8D4FFC6C4C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CF0F28-12BF-4529-9E17-8D2AC587DFB0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19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3321A38B-0668-CB1E-B87D-3B8301F6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and component testing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04D59DB-C8F4-64F1-64A7-280AA0387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During system testing, reusable components that have been separately developed and off-the-shelf systems may be integrated with newly developed components. The complete system is then tested.</a:t>
            </a:r>
            <a:endParaRPr lang="en-GB" altLang="en-US" dirty="0"/>
          </a:p>
          <a:p>
            <a:r>
              <a:rPr lang="en-US" altLang="en-US" dirty="0"/>
              <a:t>Components developed by different team members or sub-teams may be integrated at this stage. System testing is a collective rather than an individual process. </a:t>
            </a:r>
          </a:p>
          <a:p>
            <a:pPr lvl="1"/>
            <a:r>
              <a:rPr lang="en-US" altLang="en-US" dirty="0"/>
              <a:t>In some companies, system testing may involve a separate testing team with no involvement from designers and programmers. </a:t>
            </a:r>
          </a:p>
        </p:txBody>
      </p:sp>
      <p:sp>
        <p:nvSpPr>
          <p:cNvPr id="43013" name="Slide Number Placeholder 4">
            <a:extLst>
              <a:ext uri="{FF2B5EF4-FFF2-40B4-BE49-F238E27FC236}">
                <a16:creationId xmlns:a16="http://schemas.microsoft.com/office/drawing/2014/main" id="{09BD7899-534C-82C0-9AFE-8956AC84A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68D5C61-4AD5-4C69-919B-257605BDD028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20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9E450E56-F899-D993-4C4A-D53F3299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Regression testing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89B795EB-2379-C561-5965-86673D8AE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Regression testing is testing the system to check that changes have not ‘broken’ previously working code.</a:t>
            </a:r>
          </a:p>
          <a:p>
            <a:r>
              <a:rPr lang="en-US" altLang="en-US"/>
              <a:t>In a manual testing process, regression testing is expensive but, with automated testing, it is simple and straightforward. All tests are rerun every time a change is made to the program.</a:t>
            </a:r>
          </a:p>
          <a:p>
            <a:r>
              <a:rPr lang="en-US" altLang="en-US"/>
              <a:t>Tests must run ‘successfully’ before the change is committed.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en-US"/>
          </a:p>
        </p:txBody>
      </p:sp>
      <p:sp>
        <p:nvSpPr>
          <p:cNvPr id="48133" name="Slide Number Placeholder 3">
            <a:extLst>
              <a:ext uri="{FF2B5EF4-FFF2-40B4-BE49-F238E27FC236}">
                <a16:creationId xmlns:a16="http://schemas.microsoft.com/office/drawing/2014/main" id="{8B7AA955-B92E-76BC-60B6-3FC5F62624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2731FF-9088-4A5B-B5C3-195CDE4BC2E4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21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E036EC83-43AC-5EA3-8DE2-8E20B345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7767"/>
          </a:xfrm>
        </p:spPr>
        <p:txBody>
          <a:bodyPr/>
          <a:lstStyle/>
          <a:p>
            <a:r>
              <a:rPr lang="en-US" altLang="en-US" dirty="0"/>
              <a:t>Release testing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71C45E4E-3F08-7E2D-322C-0F3EC814C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189" y="1600201"/>
            <a:ext cx="8632825" cy="4525963"/>
          </a:xfrm>
        </p:spPr>
        <p:txBody>
          <a:bodyPr>
            <a:normAutofit/>
          </a:bodyPr>
          <a:lstStyle/>
          <a:p>
            <a:r>
              <a:rPr lang="en-US" altLang="en-US"/>
              <a:t>Release testing is the process of testing a particular release of a system that is intended for use outside of the development team.</a:t>
            </a:r>
            <a:r>
              <a:rPr lang="en-GB" altLang="en-US"/>
              <a:t> </a:t>
            </a:r>
          </a:p>
          <a:p>
            <a:r>
              <a:rPr lang="en-US" altLang="en-US"/>
              <a:t>The primary goal of the release testing process is to convince the supplier of the system that it is good enough for use</a:t>
            </a:r>
            <a:r>
              <a:rPr lang="en-GB" altLang="en-US"/>
              <a:t>.</a:t>
            </a:r>
          </a:p>
          <a:p>
            <a:pPr lvl="1"/>
            <a:r>
              <a:rPr lang="en-US" altLang="en-US"/>
              <a:t>Release testing, therefore, has to show that the system delivers its specified functionality, performance and dependability, and that it does not fail during normal use.</a:t>
            </a:r>
            <a:r>
              <a:rPr lang="en-GB" altLang="en-US"/>
              <a:t> </a:t>
            </a:r>
          </a:p>
          <a:p>
            <a:r>
              <a:rPr lang="en-US" altLang="en-US"/>
              <a:t>Release testing is usually a </a:t>
            </a:r>
            <a:r>
              <a:rPr lang="en-US" altLang="en-US" b="1"/>
              <a:t>black-box testing </a:t>
            </a:r>
            <a:r>
              <a:rPr lang="en-US" altLang="en-US"/>
              <a:t>process where tests are only derived from the system specification. </a:t>
            </a:r>
            <a:endParaRPr lang="en-GB" altLang="en-US"/>
          </a:p>
          <a:p>
            <a:endParaRPr lang="en-US" altLang="en-US"/>
          </a:p>
        </p:txBody>
      </p:sp>
      <p:sp>
        <p:nvSpPr>
          <p:cNvPr id="49157" name="Slide Number Placeholder 3">
            <a:extLst>
              <a:ext uri="{FF2B5EF4-FFF2-40B4-BE49-F238E27FC236}">
                <a16:creationId xmlns:a16="http://schemas.microsoft.com/office/drawing/2014/main" id="{43B26DB0-3657-054D-A3EF-D5982A2803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2F5AF3B-E5A9-4C81-9DFF-CD7933B3ED37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22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B3C44B72-7409-CE77-69D3-D2464033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Release testing and system testing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E968A71F-5401-43D5-7B7D-DADFCE487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Release testing is a form of system testing.</a:t>
            </a:r>
          </a:p>
          <a:p>
            <a:r>
              <a:rPr lang="en-US" altLang="en-US" dirty="0"/>
              <a:t>Important differences:</a:t>
            </a:r>
          </a:p>
          <a:p>
            <a:pPr lvl="1"/>
            <a:r>
              <a:rPr lang="en-US" altLang="en-US" dirty="0"/>
              <a:t>A separate team that has not been involved in the system development, should be responsible for release testing.</a:t>
            </a:r>
            <a:endParaRPr lang="en-GB" altLang="en-US" dirty="0"/>
          </a:p>
          <a:p>
            <a:pPr lvl="1"/>
            <a:r>
              <a:rPr lang="en-US" altLang="en-US" dirty="0"/>
              <a:t>System testing by the development team should focus on </a:t>
            </a:r>
            <a:r>
              <a:rPr lang="en-US" altLang="en-US" b="1" dirty="0"/>
              <a:t>discovering bugs in the system (defect testing). </a:t>
            </a:r>
            <a:endParaRPr lang="en-US" altLang="en-US" b="1" dirty="0" smtClean="0"/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/>
              <a:t>objective of release testing is to </a:t>
            </a:r>
            <a:r>
              <a:rPr lang="en-US" altLang="en-US" b="1" dirty="0"/>
              <a:t>check that the system meets its requirements and is good enough for external use (validation testing).</a:t>
            </a:r>
            <a:endParaRPr lang="en-GB" altLang="en-US" b="1" dirty="0"/>
          </a:p>
          <a:p>
            <a:endParaRPr lang="en-US" altLang="en-US" dirty="0"/>
          </a:p>
        </p:txBody>
      </p:sp>
      <p:sp>
        <p:nvSpPr>
          <p:cNvPr id="50181" name="Slide Number Placeholder 3">
            <a:extLst>
              <a:ext uri="{FF2B5EF4-FFF2-40B4-BE49-F238E27FC236}">
                <a16:creationId xmlns:a16="http://schemas.microsoft.com/office/drawing/2014/main" id="{FA71ED8E-2D6B-9807-E70D-F198FB0F7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DF36A6-8F16-4377-9BEB-3C195910D1B3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23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8165165F-6CFE-4462-0119-C2EBF4A5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Requirements based testing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4DC9C5C1-5553-F22A-15C7-7A8A48C26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Requirements-based testing involves examining each requirement and developing a test or tests for it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r>
              <a:rPr lang="en-US" dirty="0"/>
              <a:t>Testing software against functional and non-functional requirements.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Checking whether:</a:t>
            </a:r>
          </a:p>
          <a:p>
            <a:r>
              <a:rPr lang="en-US" dirty="0"/>
              <a:t>response time is under 2 seconds </a:t>
            </a:r>
          </a:p>
          <a:p>
            <a:r>
              <a:rPr lang="en-US" dirty="0"/>
              <a:t>login feature works according to requirements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Ensure all requirements are fulfilled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1205" name="Slide Number Placeholder 3">
            <a:extLst>
              <a:ext uri="{FF2B5EF4-FFF2-40B4-BE49-F238E27FC236}">
                <a16:creationId xmlns:a16="http://schemas.microsoft.com/office/drawing/2014/main" id="{BC67FA38-22C8-F95E-C5A8-9C23B9C3E0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0A1CF6-3B4C-4B57-B2D3-D0A2CE669263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24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Scenario Testing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Testing </a:t>
            </a:r>
            <a:r>
              <a:rPr lang="en-US" dirty="0"/>
              <a:t>realistic user situations and workflows.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E-commerce scenario:</a:t>
            </a:r>
          </a:p>
          <a:p>
            <a:r>
              <a:rPr lang="en-US" dirty="0"/>
              <a:t>User logs in </a:t>
            </a:r>
          </a:p>
          <a:p>
            <a:r>
              <a:rPr lang="en-US" dirty="0"/>
              <a:t>Adds product to cart </a:t>
            </a:r>
          </a:p>
          <a:p>
            <a:r>
              <a:rPr lang="en-US" dirty="0"/>
              <a:t>Makes payment </a:t>
            </a:r>
          </a:p>
          <a:p>
            <a:r>
              <a:rPr lang="en-US" dirty="0"/>
              <a:t>Receives confirmation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Verify complete real-world operations.</a:t>
            </a:r>
          </a:p>
        </p:txBody>
      </p:sp>
    </p:spTree>
    <p:extLst>
      <p:ext uri="{BB962C8B-B14F-4D97-AF65-F5344CB8AC3E}">
        <p14:creationId xmlns:p14="http://schemas.microsoft.com/office/powerpoint/2010/main" val="1637518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4704E37-397D-E82B-01CF-D7AA9B03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testing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A6CB3F5-2537-1A4F-ABEC-404EA7465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4048433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Part of release </a:t>
            </a:r>
            <a:r>
              <a:rPr lang="en-US" altLang="en-US" dirty="0" smtClean="0"/>
              <a:t>testing</a:t>
            </a:r>
          </a:p>
          <a:p>
            <a:r>
              <a:rPr lang="en-US" altLang="en-US" dirty="0" smtClean="0"/>
              <a:t>testing </a:t>
            </a:r>
            <a:r>
              <a:rPr lang="en-US" altLang="en-US" dirty="0"/>
              <a:t>the emergent properties of a system, such as </a:t>
            </a:r>
            <a:r>
              <a:rPr lang="en-US" altLang="en-US" dirty="0" smtClean="0"/>
              <a:t>performance, reliability, scalability and speed.</a:t>
            </a:r>
            <a:endParaRPr lang="en-US" altLang="en-US" dirty="0"/>
          </a:p>
          <a:p>
            <a:r>
              <a:rPr lang="en-US" altLang="en-US" b="1" dirty="0" smtClean="0"/>
              <a:t>Performance </a:t>
            </a:r>
            <a:r>
              <a:rPr lang="en-US" altLang="en-US" b="1" dirty="0"/>
              <a:t>tests </a:t>
            </a:r>
            <a:r>
              <a:rPr lang="en-US" altLang="en-US" dirty="0"/>
              <a:t>usually involve planning a series of tests where the load is steadily increased until the system performance becomes unacceptable.</a:t>
            </a:r>
          </a:p>
          <a:p>
            <a:r>
              <a:rPr lang="en-US" altLang="en-US" b="1" dirty="0"/>
              <a:t>Stress testing </a:t>
            </a:r>
            <a:r>
              <a:rPr lang="en-US" altLang="en-US" dirty="0"/>
              <a:t>is a form of performance testing where the system is deliberately overloaded to test its failure </a:t>
            </a:r>
            <a:r>
              <a:rPr lang="en-US" altLang="en-US" dirty="0" smtClean="0"/>
              <a:t>behavior.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Checking system behavior with:</a:t>
            </a:r>
          </a:p>
          <a:p>
            <a:r>
              <a:rPr lang="en-US" dirty="0"/>
              <a:t>1000 users logging in simultaneously </a:t>
            </a:r>
          </a:p>
          <a:p>
            <a:pPr marL="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Ensure system performs efficiently under load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2229" name="Slide Number Placeholder 3">
            <a:extLst>
              <a:ext uri="{FF2B5EF4-FFF2-40B4-BE49-F238E27FC236}">
                <a16:creationId xmlns:a16="http://schemas.microsoft.com/office/drawing/2014/main" id="{ACC3BFDD-067A-7DEA-6E0E-330A02A218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9C70E4E-69B1-4857-9AC0-E475839853C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26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ACBDB44F-B0B1-7C12-124C-F7800FC7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testing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7D322CF2-0D7C-0BE9-9741-A6636A428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User or customer testing is a stage in the testing process in which users or customers provide input and advice on system testing. </a:t>
            </a:r>
          </a:p>
          <a:p>
            <a:r>
              <a:rPr lang="en-US" altLang="en-US"/>
              <a:t>User testing is essential, even when comprehensive system and release testing have been carried out. </a:t>
            </a:r>
          </a:p>
          <a:p>
            <a:pPr lvl="1"/>
            <a:r>
              <a:rPr lang="en-US" altLang="en-US"/>
              <a:t>The reason for this is that influences from the user’s working environment have a major effect on the reliability, performance, usability and robustness of a system. These cannot be replicated in a testing environment.</a:t>
            </a:r>
            <a:endParaRPr lang="en-GB" altLang="en-US"/>
          </a:p>
          <a:p>
            <a:endParaRPr lang="en-US" altLang="en-US"/>
          </a:p>
        </p:txBody>
      </p:sp>
      <p:sp>
        <p:nvSpPr>
          <p:cNvPr id="53253" name="Slide Number Placeholder 3">
            <a:extLst>
              <a:ext uri="{FF2B5EF4-FFF2-40B4-BE49-F238E27FC236}">
                <a16:creationId xmlns:a16="http://schemas.microsoft.com/office/drawing/2014/main" id="{31D9158E-72C5-27F4-B055-0D31C11CF5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977DF6-0AEE-4A60-8AC3-AC75524A617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27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9B80DE8A-A96D-361D-2D63-564FB4E1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user testing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7E7DC4F3-4740-EEA6-0067-B492E1175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/>
              <a:t>Alpha testing</a:t>
            </a:r>
          </a:p>
          <a:p>
            <a:pPr lvl="1"/>
            <a:r>
              <a:rPr lang="en-US" altLang="en-US"/>
              <a:t>Users of the software work with the development team to test the software at the developer’s site.</a:t>
            </a:r>
            <a:endParaRPr lang="en-GB" altLang="en-US"/>
          </a:p>
          <a:p>
            <a:r>
              <a:rPr lang="en-US" altLang="en-US"/>
              <a:t>Beta testing</a:t>
            </a:r>
          </a:p>
          <a:p>
            <a:pPr lvl="1"/>
            <a:r>
              <a:rPr lang="en-US" altLang="en-US"/>
              <a:t>A release of the software is made available to users to allow them to experiment and to raise problems that they discover with the system developers.</a:t>
            </a:r>
            <a:endParaRPr lang="en-GB" altLang="en-US"/>
          </a:p>
          <a:p>
            <a:r>
              <a:rPr lang="en-US" altLang="en-US"/>
              <a:t>Acceptance testing</a:t>
            </a:r>
          </a:p>
          <a:p>
            <a:pPr lvl="1"/>
            <a:r>
              <a:rPr lang="en-US" altLang="en-US"/>
              <a:t>Customers test a system to decide whether or not it is ready to be accepted from the system developers and deployed in the customer environment. Primarily for custom systems.</a:t>
            </a:r>
            <a:endParaRPr lang="en-GB" altLang="en-US"/>
          </a:p>
          <a:p>
            <a:endParaRPr lang="en-US" altLang="en-US"/>
          </a:p>
        </p:txBody>
      </p:sp>
      <p:sp>
        <p:nvSpPr>
          <p:cNvPr id="54277" name="Slide Number Placeholder 3">
            <a:extLst>
              <a:ext uri="{FF2B5EF4-FFF2-40B4-BE49-F238E27FC236}">
                <a16:creationId xmlns:a16="http://schemas.microsoft.com/office/drawing/2014/main" id="{F14CBC74-0C88-3CBC-9A18-54954809A5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EE4F36-4B0B-438E-852E-6AB3D7DE8D47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28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0F9E-05D2-A9A3-24D0-63A29BBF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Agile methods and acceptance testing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659860C1-0E1F-F60F-5BD1-FCA5A901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 agile methods, the user/customer is part of the development team and is responsible for making decisions on the acceptability of the system.</a:t>
            </a:r>
          </a:p>
          <a:p>
            <a:r>
              <a:rPr lang="en-US" altLang="en-US"/>
              <a:t>Tests are defined by the user/customer and are integrated with other tests in that they are run automatically when changes are made.</a:t>
            </a:r>
          </a:p>
          <a:p>
            <a:r>
              <a:rPr lang="en-US" altLang="en-US"/>
              <a:t>There is no separate acceptance testing process.</a:t>
            </a:r>
          </a:p>
        </p:txBody>
      </p:sp>
      <p:sp>
        <p:nvSpPr>
          <p:cNvPr id="55301" name="Slide Number Placeholder 3">
            <a:extLst>
              <a:ext uri="{FF2B5EF4-FFF2-40B4-BE49-F238E27FC236}">
                <a16:creationId xmlns:a16="http://schemas.microsoft.com/office/drawing/2014/main" id="{D7DFF30C-06D1-2E1E-4233-CC03AE78FD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E3D49B-9B18-451B-A619-7D96BECC4DCD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29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157F2D6B-8DFE-F591-05A0-B44320C8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Test-driven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39D98-1D70-71AE-7A7F-353464E5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Test-driven development (TDD) is an approach to program development in which you inter-leave testing and code development.</a:t>
            </a:r>
          </a:p>
          <a:p>
            <a:pPr>
              <a:defRPr/>
            </a:pPr>
            <a:r>
              <a:rPr lang="en-US" dirty="0"/>
              <a:t>Tests are written before code and ‘passing’ the tests is the critical driver of development. </a:t>
            </a:r>
          </a:p>
          <a:p>
            <a:pPr>
              <a:defRPr/>
            </a:pPr>
            <a:r>
              <a:rPr lang="en-US" dirty="0"/>
              <a:t>You develop code incrementally, along with a test for that increment. You don’t move on to the next increment until the code that you have developed passes its test. </a:t>
            </a:r>
          </a:p>
          <a:p>
            <a:pPr>
              <a:defRPr/>
            </a:pPr>
            <a:r>
              <a:rPr lang="en-US" dirty="0"/>
              <a:t>TDD was introduced as part of agile methods such as Extreme Programming. However, it can also be used in plan-driven development processes. </a:t>
            </a:r>
            <a:endParaRPr lang="en-GB" dirty="0"/>
          </a:p>
          <a:p>
            <a:pPr>
              <a:defRPr/>
            </a:pPr>
            <a:endParaRPr lang="en-US" dirty="0"/>
          </a:p>
        </p:txBody>
      </p:sp>
      <p:sp>
        <p:nvSpPr>
          <p:cNvPr id="44037" name="Slide Number Placeholder 3">
            <a:extLst>
              <a:ext uri="{FF2B5EF4-FFF2-40B4-BE49-F238E27FC236}">
                <a16:creationId xmlns:a16="http://schemas.microsoft.com/office/drawing/2014/main" id="{05358FDE-A913-3DDD-2816-CE352C76C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CDC88C-6649-416C-A33C-C2F494E62C0E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30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29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A8476F7-DDEE-1CC3-45CE-32E9014A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Test-driven development</a:t>
            </a:r>
          </a:p>
        </p:txBody>
      </p:sp>
      <p:pic>
        <p:nvPicPr>
          <p:cNvPr id="45059" name="Content Placeholder 3" descr="8.9 TestDrivenDev.eps">
            <a:extLst>
              <a:ext uri="{FF2B5EF4-FFF2-40B4-BE49-F238E27FC236}">
                <a16:creationId xmlns:a16="http://schemas.microsoft.com/office/drawing/2014/main" id="{7203CEC5-47FA-DC9E-A65B-55AE6B0716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975" y="2715208"/>
            <a:ext cx="8497489" cy="2494676"/>
          </a:xfrm>
        </p:spPr>
      </p:pic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EE017A48-316B-C53A-52F2-02053A3A9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35811B-C3A3-4251-B0FF-0A3573330604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31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037456" y="1829843"/>
            <a:ext cx="1828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Write Test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Run Test (Fails)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Write Code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Run Test (Passes)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Refactor Code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97285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C7AADE90-DAE8-AC7A-4113-0CF53256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TDD process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9C633-7E03-8A88-B732-ACDF5B9C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Start by identifying the increment of functionality that is required. This should normally be small and implementable in a few lines of code.</a:t>
            </a:r>
            <a:endParaRPr lang="en-GB" dirty="0"/>
          </a:p>
          <a:p>
            <a:pPr>
              <a:defRPr/>
            </a:pPr>
            <a:r>
              <a:rPr lang="en-US" dirty="0"/>
              <a:t>Write a test for this functionality and implement this as an automated test. </a:t>
            </a:r>
            <a:endParaRPr lang="en-GB" dirty="0"/>
          </a:p>
          <a:p>
            <a:pPr>
              <a:defRPr/>
            </a:pPr>
            <a:r>
              <a:rPr lang="en-US" dirty="0"/>
              <a:t>Run the test, along with all other tests that have been implemented. Initially, you have not implemented the functionality so the new test will fail. </a:t>
            </a:r>
            <a:endParaRPr lang="en-GB" dirty="0"/>
          </a:p>
          <a:p>
            <a:pPr>
              <a:defRPr/>
            </a:pPr>
            <a:r>
              <a:rPr lang="en-US" dirty="0"/>
              <a:t>Implement the functionality and re-run the test. </a:t>
            </a:r>
            <a:endParaRPr lang="en-GB" dirty="0"/>
          </a:p>
          <a:p>
            <a:pPr>
              <a:defRPr/>
            </a:pPr>
            <a:r>
              <a:rPr lang="en-US" dirty="0"/>
              <a:t>Once all tests run successfully, you move on to implementing the next chunk of functionality.</a:t>
            </a:r>
            <a:endParaRPr lang="en-GB" dirty="0"/>
          </a:p>
          <a:p>
            <a:pPr>
              <a:defRPr/>
            </a:pPr>
            <a:endParaRPr lang="en-US" dirty="0"/>
          </a:p>
        </p:txBody>
      </p:sp>
      <p:sp>
        <p:nvSpPr>
          <p:cNvPr id="46085" name="Slide Number Placeholder 3">
            <a:extLst>
              <a:ext uri="{FF2B5EF4-FFF2-40B4-BE49-F238E27FC236}">
                <a16:creationId xmlns:a16="http://schemas.microsoft.com/office/drawing/2014/main" id="{3EF4DA00-C03C-7CBD-878A-D2265FAB5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644803-787F-4A20-B75D-992275734BA6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32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04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344E-4BB0-298B-A8FC-9D1658BB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Benefits of test-driven development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A6407BD0-D74E-07A9-4BA5-2370A60DE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>
                <a:solidFill>
                  <a:srgbClr val="000000"/>
                </a:solidFill>
              </a:rPr>
              <a:t>Code coverage </a:t>
            </a:r>
          </a:p>
          <a:p>
            <a:pPr lvl="1"/>
            <a:r>
              <a:rPr lang="en-US" altLang="en-US"/>
              <a:t>Every code segment that you write has at least one associated test so all code written has at least one test.</a:t>
            </a:r>
            <a:endParaRPr lang="en-GB" altLang="en-US"/>
          </a:p>
          <a:p>
            <a:r>
              <a:rPr lang="en-US" altLang="en-US">
                <a:solidFill>
                  <a:srgbClr val="000000"/>
                </a:solidFill>
              </a:rPr>
              <a:t>Regression testing </a:t>
            </a:r>
          </a:p>
          <a:p>
            <a:pPr lvl="1"/>
            <a:r>
              <a:rPr lang="en-US" altLang="en-US"/>
              <a:t>A regression test suite is developed incrementally as a program is developed. </a:t>
            </a:r>
            <a:endParaRPr lang="en-GB" altLang="en-US"/>
          </a:p>
          <a:p>
            <a:r>
              <a:rPr lang="en-US" altLang="en-US">
                <a:solidFill>
                  <a:srgbClr val="000000"/>
                </a:solidFill>
              </a:rPr>
              <a:t>Simplified debugging </a:t>
            </a:r>
          </a:p>
          <a:p>
            <a:pPr lvl="1"/>
            <a:r>
              <a:rPr lang="en-US" altLang="en-US"/>
              <a:t>When a test fails, it should be obvious where the problem lies. The newly written code needs to be checked and modified. </a:t>
            </a:r>
            <a:endParaRPr lang="en-GB" altLang="en-US"/>
          </a:p>
        </p:txBody>
      </p:sp>
      <p:sp>
        <p:nvSpPr>
          <p:cNvPr id="47109" name="Slide Number Placeholder 3">
            <a:extLst>
              <a:ext uri="{FF2B5EF4-FFF2-40B4-BE49-F238E27FC236}">
                <a16:creationId xmlns:a16="http://schemas.microsoft.com/office/drawing/2014/main" id="{78D7E709-B08D-5072-AB1F-DEC034AED0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C95283-33E1-474E-BC9B-5C0D32556940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33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809</TotalTime>
  <Words>2017</Words>
  <Application>Microsoft Office PowerPoint</Application>
  <PresentationFormat>Widescreen</PresentationFormat>
  <Paragraphs>376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Corbel</vt:lpstr>
      <vt:lpstr>Franklin Gothic Book</vt:lpstr>
      <vt:lpstr>Times New Roman</vt:lpstr>
      <vt:lpstr>Wingdings 2</vt:lpstr>
      <vt:lpstr>Parallax</vt:lpstr>
      <vt:lpstr>Software Testing Activities 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Activities</vt:lpstr>
      <vt:lpstr>Software Testing Principles</vt:lpstr>
      <vt:lpstr>Stages of testing</vt:lpstr>
      <vt:lpstr>Stages of testing</vt:lpstr>
      <vt:lpstr>PowerPoint Presentation</vt:lpstr>
      <vt:lpstr>Development testing</vt:lpstr>
      <vt:lpstr>Unit testing</vt:lpstr>
      <vt:lpstr>Component Testing</vt:lpstr>
      <vt:lpstr>Integration Testing</vt:lpstr>
      <vt:lpstr>System testing</vt:lpstr>
      <vt:lpstr>System and component testing</vt:lpstr>
      <vt:lpstr>Regression testing</vt:lpstr>
      <vt:lpstr>Release testing</vt:lpstr>
      <vt:lpstr>Release testing and system testing</vt:lpstr>
      <vt:lpstr>Requirements based testing</vt:lpstr>
      <vt:lpstr>Scenario Testing</vt:lpstr>
      <vt:lpstr>Performance testing</vt:lpstr>
      <vt:lpstr>User testing</vt:lpstr>
      <vt:lpstr>Types of user testing</vt:lpstr>
      <vt:lpstr>Agile methods and acceptance testing</vt:lpstr>
      <vt:lpstr>Test-driven development</vt:lpstr>
      <vt:lpstr>Test-driven development</vt:lpstr>
      <vt:lpstr>TDD process activities</vt:lpstr>
      <vt:lpstr>Benefits of test-driven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Activities</dc:title>
  <dc:creator>Liaqat Ali</dc:creator>
  <cp:lastModifiedBy>shehla saeed</cp:lastModifiedBy>
  <cp:revision>17</cp:revision>
  <dcterms:created xsi:type="dcterms:W3CDTF">2025-12-30T14:06:19Z</dcterms:created>
  <dcterms:modified xsi:type="dcterms:W3CDTF">2026-05-14T03:44:44Z</dcterms:modified>
</cp:coreProperties>
</file>
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4"/>
  </p:notesMasterIdLst>
  <p:sldIdLst>
    <p:sldId id="256" r:id="rId3"/>
    <p:sldId id="428" r:id="rId4"/>
    <p:sldId id="430" r:id="rId5"/>
    <p:sldId id="354" r:id="rId6"/>
    <p:sldId id="357" r:id="rId7"/>
    <p:sldId id="337" r:id="rId8"/>
    <p:sldId id="338" r:id="rId9"/>
    <p:sldId id="351" r:id="rId10"/>
    <p:sldId id="352" r:id="rId11"/>
    <p:sldId id="358" r:id="rId12"/>
    <p:sldId id="359" r:id="rId13"/>
    <p:sldId id="343" r:id="rId14"/>
    <p:sldId id="344" r:id="rId15"/>
    <p:sldId id="425" r:id="rId16"/>
    <p:sldId id="424" r:id="rId17"/>
    <p:sldId id="431" r:id="rId18"/>
    <p:sldId id="353" r:id="rId19"/>
    <p:sldId id="340" r:id="rId20"/>
    <p:sldId id="427" r:id="rId21"/>
    <p:sldId id="426" r:id="rId22"/>
    <p:sldId id="269" r:id="rId23"/>
    <p:sldId id="286" r:id="rId24"/>
    <p:sldId id="287" r:id="rId25"/>
    <p:sldId id="271" r:id="rId26"/>
    <p:sldId id="288" r:id="rId27"/>
    <p:sldId id="272" r:id="rId28"/>
    <p:sldId id="291" r:id="rId29"/>
    <p:sldId id="290" r:id="rId30"/>
    <p:sldId id="281" r:id="rId31"/>
    <p:sldId id="282" r:id="rId32"/>
    <p:sldId id="27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6C4FE-7156-49C8-83FF-1AAA4DE4876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2745C-1202-46EB-9B43-B18230E2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0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CMM is a framework used to check how good a company’s software process is and to help make it better.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e. g. teacher needs to choose a team of students</a:t>
            </a:r>
            <a:r>
              <a:rPr lang="en-US" dirty="0"/>
              <a:t> to build a big project</a:t>
            </a:r>
          </a:p>
          <a:p>
            <a:r>
              <a:rPr lang="en-US" b="1" dirty="0"/>
              <a:t>Capability Evaluation (Choosing a contractor)</a:t>
            </a:r>
          </a:p>
          <a:p>
            <a:r>
              <a:rPr lang="en-US" dirty="0"/>
              <a:t>The teacher checks how different teams usually work:</a:t>
            </a:r>
          </a:p>
          <a:p>
            <a:r>
              <a:rPr lang="en-US" dirty="0"/>
              <a:t>Team A plans their work, follows rules, checks mistakes, and submits on time.</a:t>
            </a:r>
          </a:p>
          <a:p>
            <a:r>
              <a:rPr lang="en-US" dirty="0"/>
              <a:t>Team B works randomly and only rushes at the last minute.</a:t>
            </a:r>
          </a:p>
          <a:p>
            <a:r>
              <a:rPr lang="en-US" dirty="0"/>
              <a:t>The teacher predicts that </a:t>
            </a:r>
            <a:r>
              <a:rPr lang="en-US" b="1" dirty="0"/>
              <a:t>Team A will perform better</a:t>
            </a:r>
            <a:r>
              <a:rPr lang="en-US" dirty="0"/>
              <a:t> if given the project.</a:t>
            </a:r>
            <a:br>
              <a:rPr lang="en-US" dirty="0"/>
            </a:br>
            <a:r>
              <a:rPr lang="en-US" dirty="0"/>
              <a:t>So, the teacher </a:t>
            </a:r>
            <a:r>
              <a:rPr lang="en-US" b="1" dirty="0"/>
              <a:t>selects Team A</a:t>
            </a:r>
            <a:r>
              <a:rPr lang="en-US" dirty="0"/>
              <a:t>.</a:t>
            </a:r>
          </a:p>
          <a:p>
            <a:r>
              <a:rPr lang="en-US" b="1" dirty="0"/>
              <a:t>Software Process Assessment (Self-improvement)</a:t>
            </a:r>
          </a:p>
          <a:p>
            <a:r>
              <a:rPr lang="en-US" dirty="0"/>
              <a:t>Now imagine </a:t>
            </a:r>
            <a:r>
              <a:rPr lang="en-US" b="1" dirty="0"/>
              <a:t>Team B</a:t>
            </a:r>
            <a:r>
              <a:rPr lang="en-US" dirty="0"/>
              <a:t> wants to improve.</a:t>
            </a:r>
            <a:br>
              <a:rPr lang="en-US" dirty="0"/>
            </a:br>
            <a:r>
              <a:rPr lang="en-US" dirty="0"/>
              <a:t>They review how they work and realize:</a:t>
            </a:r>
          </a:p>
          <a:p>
            <a:r>
              <a:rPr lang="en-US" dirty="0"/>
              <a:t>They don’t plan properly</a:t>
            </a:r>
          </a:p>
          <a:p>
            <a:r>
              <a:rPr lang="en-US" dirty="0"/>
              <a:t>They don’t check their work</a:t>
            </a:r>
          </a:p>
          <a:p>
            <a:r>
              <a:rPr lang="en-US" dirty="0"/>
              <a:t>So, they decide to make schedules, divide tasks, and review mistakes next time.</a:t>
            </a: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80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2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66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performance is the predicted future performance of a contractor based on the maturity and capability of their processes.</a:t>
            </a:r>
          </a:p>
          <a:p>
            <a:r>
              <a:rPr lang="en-US" dirty="0"/>
              <a:t>Likely performance refers to how the contractor is expected to perform in terms of:</a:t>
            </a:r>
          </a:p>
          <a:p>
            <a:r>
              <a:rPr lang="en-US" b="1" dirty="0"/>
              <a:t>Meeting deadlines</a:t>
            </a:r>
            <a:r>
              <a:rPr lang="en-US" dirty="0"/>
              <a:t> (schedule performance)</a:t>
            </a:r>
          </a:p>
          <a:p>
            <a:r>
              <a:rPr lang="en-US" b="1" dirty="0"/>
              <a:t>Staying within budget</a:t>
            </a:r>
            <a:r>
              <a:rPr lang="en-US" dirty="0"/>
              <a:t> (cost performance)</a:t>
            </a:r>
          </a:p>
          <a:p>
            <a:r>
              <a:rPr lang="en-US" b="1" dirty="0"/>
              <a:t>Producing quality work</a:t>
            </a:r>
            <a:r>
              <a:rPr lang="en-US" dirty="0"/>
              <a:t> (fewer defects)</a:t>
            </a:r>
          </a:p>
          <a:p>
            <a:r>
              <a:rPr lang="en-US" b="1" dirty="0"/>
              <a:t>Handling risks and changes</a:t>
            </a:r>
            <a:endParaRPr lang="en-US" dirty="0"/>
          </a:p>
          <a:p>
            <a:r>
              <a:rPr lang="en-US" b="1" dirty="0"/>
              <a:t>Consistency and predictability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05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4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97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29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Processes are </a:t>
            </a:r>
            <a:r>
              <a:rPr lang="en-US" b="1" dirty="0"/>
              <a:t>ad-hoc or chaotic</a:t>
            </a:r>
            <a:endParaRPr lang="en-US" dirty="0"/>
          </a:p>
          <a:p>
            <a:r>
              <a:rPr lang="en-US" dirty="0"/>
              <a:t>Success depends on individual effort</a:t>
            </a:r>
          </a:p>
          <a:p>
            <a:r>
              <a:rPr lang="en-US" b="1" dirty="0"/>
              <a:t>High risk</a:t>
            </a:r>
            <a:r>
              <a:rPr lang="en-US" dirty="0"/>
              <a:t> of failure</a:t>
            </a:r>
          </a:p>
          <a:p>
            <a:r>
              <a:rPr lang="en-US" dirty="0"/>
              <a:t> Example: Startup developing apps without proper planning or documentation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Disscussuion</a:t>
            </a:r>
            <a:r>
              <a:rPr lang="en-US" b="1" dirty="0"/>
              <a:t>:"What problems might users face when software is developed at Level 1?"</a:t>
            </a:r>
            <a:endParaRPr lang="en-PK" b="1" dirty="0"/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7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Basic </a:t>
            </a:r>
            <a:r>
              <a:rPr lang="en-US" b="1" dirty="0"/>
              <a:t>project management processes</a:t>
            </a:r>
            <a:r>
              <a:rPr lang="en-US" dirty="0"/>
              <a:t> are established</a:t>
            </a:r>
          </a:p>
          <a:p>
            <a:pPr lvl="1"/>
            <a:r>
              <a:rPr lang="en-US" dirty="0"/>
              <a:t>Past experiences are used to repeat successes</a:t>
            </a:r>
          </a:p>
          <a:p>
            <a:pPr lvl="1"/>
            <a:r>
              <a:rPr lang="en-US" dirty="0"/>
              <a:t>Some predictability in outcomes</a:t>
            </a:r>
          </a:p>
          <a:p>
            <a:r>
              <a:rPr lang="en-US" dirty="0"/>
              <a:t> Example: Company delivers software using checklists and templates learned from previous projects</a:t>
            </a:r>
          </a:p>
          <a:p>
            <a:r>
              <a:rPr lang="en-US" b="1" dirty="0"/>
              <a:t>Discussion: Identify one advantage of repeating processes over ad-hoc methods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54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Processes are </a:t>
            </a:r>
            <a:r>
              <a:rPr lang="en-US" b="1" dirty="0"/>
              <a:t>documented and standardized</a:t>
            </a:r>
            <a:r>
              <a:rPr lang="en-US" dirty="0"/>
              <a:t> across the organization</a:t>
            </a:r>
          </a:p>
          <a:p>
            <a:r>
              <a:rPr lang="en-US" dirty="0"/>
              <a:t>Roles, responsibilities, and standards are clearly defined</a:t>
            </a:r>
          </a:p>
          <a:p>
            <a:r>
              <a:rPr lang="en-US" dirty="0"/>
              <a:t>📍 Example: Software team uses a company-wide development methodology (like Agile or Waterfall) with formal templates, coding standards, and peer reviews</a:t>
            </a:r>
          </a:p>
          <a:p>
            <a:r>
              <a:rPr lang="en-US" dirty="0"/>
              <a:t>💬 </a:t>
            </a:r>
            <a:r>
              <a:rPr lang="en-US" b="1" dirty="0"/>
              <a:t>Question:</a:t>
            </a:r>
            <a:r>
              <a:rPr lang="en-US" dirty="0"/>
              <a:t> "Why is documentation important for development quality?"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67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Processes are </a:t>
            </a:r>
            <a:r>
              <a:rPr lang="en-US" b="1" dirty="0"/>
              <a:t>measured and controlled</a:t>
            </a:r>
            <a:endParaRPr lang="en-US" dirty="0"/>
          </a:p>
          <a:p>
            <a:r>
              <a:rPr lang="en-US" dirty="0"/>
              <a:t>Metrics are collected to monitor productivity, quality, and performance</a:t>
            </a:r>
          </a:p>
          <a:p>
            <a:r>
              <a:rPr lang="en-US" dirty="0"/>
              <a:t>Outcomes are predictable</a:t>
            </a:r>
          </a:p>
          <a:p>
            <a:r>
              <a:rPr lang="en-US" dirty="0"/>
              <a:t> Example: A company tracks defects per release, development time, and cost, using this data to improve future projects</a:t>
            </a:r>
          </a:p>
          <a:p>
            <a:r>
              <a:rPr lang="en-US" dirty="0"/>
              <a:t>📊 </a:t>
            </a:r>
            <a:r>
              <a:rPr lang="en-US" b="1" dirty="0"/>
              <a:t>Activity:</a:t>
            </a:r>
            <a:r>
              <a:rPr lang="en-US" dirty="0"/>
              <a:t> Students suggest </a:t>
            </a:r>
            <a:r>
              <a:rPr lang="en-US" b="1" dirty="0"/>
              <a:t>three metrics</a:t>
            </a:r>
            <a:r>
              <a:rPr lang="en-US" dirty="0"/>
              <a:t> that could be used to measure development quality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88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Pareto Chart</a:t>
            </a:r>
            <a:r>
              <a:rPr lang="en-US" dirty="0"/>
              <a:t> is a bar graph that shows the </a:t>
            </a:r>
            <a:r>
              <a:rPr lang="en-US" b="1" dirty="0"/>
              <a:t>frequency or impact of problems</a:t>
            </a:r>
            <a:r>
              <a:rPr lang="en-US" dirty="0"/>
              <a:t> in descending order. It helps identify the </a:t>
            </a:r>
            <a:r>
              <a:rPr lang="en-US" b="1" dirty="0"/>
              <a:t>most significant issues</a:t>
            </a:r>
            <a:r>
              <a:rPr lang="en-US" dirty="0"/>
              <a:t> so organizations can prioritize improvement efforts.</a:t>
            </a:r>
          </a:p>
          <a:p>
            <a:r>
              <a:rPr lang="en-US" dirty="0"/>
              <a:t>Collect data– Categorize---Count/measure---Sort---Cumulative percentage----Draw chart----analyze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86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Fishbone Diagram</a:t>
            </a:r>
            <a:r>
              <a:rPr lang="en-US" dirty="0"/>
              <a:t> is a visual tool used to </a:t>
            </a:r>
            <a:r>
              <a:rPr lang="en-US" b="1" dirty="0"/>
              <a:t>identify root causes</a:t>
            </a:r>
            <a:r>
              <a:rPr lang="en-US" dirty="0"/>
              <a:t> of a problem. It looks like a fish skeleton: </a:t>
            </a:r>
            <a:r>
              <a:rPr lang="en-US" b="1" dirty="0"/>
              <a:t>head = problem</a:t>
            </a:r>
            <a:r>
              <a:rPr lang="en-US" dirty="0"/>
              <a:t>, </a:t>
            </a:r>
            <a:r>
              <a:rPr lang="en-US" b="1" dirty="0"/>
              <a:t>bones = causes</a:t>
            </a:r>
            <a:r>
              <a:rPr lang="en-US" dirty="0"/>
              <a:t>.</a:t>
            </a:r>
          </a:p>
          <a:p>
            <a:r>
              <a:rPr lang="en-US" b="1" dirty="0"/>
              <a:t>Head:</a:t>
            </a:r>
            <a:r>
              <a:rPr lang="en-US" dirty="0"/>
              <a:t> Problem statement (effect)</a:t>
            </a:r>
          </a:p>
          <a:p>
            <a:r>
              <a:rPr lang="en-US" b="1" dirty="0"/>
              <a:t>Major bones:</a:t>
            </a:r>
            <a:r>
              <a:rPr lang="en-US" dirty="0"/>
              <a:t> Categories of causes (often 6 </a:t>
            </a:r>
            <a:r>
              <a:rPr lang="en-US" dirty="0" err="1"/>
              <a:t>Ms</a:t>
            </a:r>
            <a:r>
              <a:rPr lang="en-US" dirty="0"/>
              <a:t>: Man, Machine, Method, Material, Measurement, Mother Nature/Environment)</a:t>
            </a:r>
          </a:p>
          <a:p>
            <a:r>
              <a:rPr lang="en-US" b="1" dirty="0"/>
              <a:t>Minor bones:</a:t>
            </a:r>
            <a:r>
              <a:rPr lang="en-US" dirty="0"/>
              <a:t> Sub-causes under each category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77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Head:</a:t>
            </a:r>
            <a:r>
              <a:rPr lang="en-US" dirty="0"/>
              <a:t> Problem statement (effect)</a:t>
            </a:r>
          </a:p>
          <a:p>
            <a:r>
              <a:rPr lang="en-US" b="1" dirty="0"/>
              <a:t>Major bones:</a:t>
            </a:r>
            <a:r>
              <a:rPr lang="en-US" dirty="0"/>
              <a:t> Categories of causes (often 6 </a:t>
            </a:r>
            <a:r>
              <a:rPr lang="en-US" dirty="0" err="1"/>
              <a:t>Ms</a:t>
            </a:r>
            <a:r>
              <a:rPr lang="en-US" dirty="0"/>
              <a:t>: Man, Machine, Method, Material, Measurement, Mother Nature/Environment)</a:t>
            </a:r>
          </a:p>
          <a:p>
            <a:r>
              <a:rPr lang="en-US" b="1" dirty="0"/>
              <a:t>Minor bones:</a:t>
            </a:r>
            <a:r>
              <a:rPr lang="en-US" dirty="0"/>
              <a:t> Sub-causes under each category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11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Focus on </a:t>
            </a:r>
            <a:r>
              <a:rPr lang="en-US" b="1" dirty="0"/>
              <a:t>continuous process improvement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quantitative feedback</a:t>
            </a:r>
            <a:r>
              <a:rPr lang="en-US" dirty="0"/>
              <a:t> and best practices to optimize processes</a:t>
            </a:r>
          </a:p>
          <a:p>
            <a:r>
              <a:rPr lang="en-US" dirty="0"/>
              <a:t>Innovations and automation are applied</a:t>
            </a:r>
          </a:p>
          <a:p>
            <a:r>
              <a:rPr lang="en-US" dirty="0"/>
              <a:t>Example: Company analyzes trends in defects to implement predictive quality measures and automated testing tools</a:t>
            </a:r>
          </a:p>
          <a:p>
            <a:r>
              <a:rPr lang="en-US" dirty="0"/>
              <a:t>💡 </a:t>
            </a:r>
            <a:r>
              <a:rPr lang="en-US" b="1" dirty="0"/>
              <a:t>Reflection Question:</a:t>
            </a:r>
            <a:r>
              <a:rPr lang="en-US" dirty="0"/>
              <a:t> "Can Level 5 be achieved by small companies? What challenges might they face?"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2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15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EB79-1EE1-4617-B502-DB175696CC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4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EB79-1EE1-4617-B502-DB175696CC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0059309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Shape 11"/>
          <p:cNvGrpSpPr/>
          <p:nvPr/>
        </p:nvGrpSpPr>
        <p:grpSpPr>
          <a:xfrm>
            <a:off x="0" y="-9451"/>
            <a:ext cx="11548531" cy="6867451"/>
            <a:chOff x="0" y="-7088"/>
            <a:chExt cx="8661398" cy="5150588"/>
          </a:xfrm>
        </p:grpSpPr>
        <p:sp>
          <p:nvSpPr>
            <p:cNvPr id="12" name="Shape 1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sp>
          <p:nvSpPr>
            <p:cNvPr id="13" name="Shape 1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Shape 14"/>
          <p:cNvGrpSpPr/>
          <p:nvPr/>
        </p:nvGrpSpPr>
        <p:grpSpPr>
          <a:xfrm rot="10800000" flipH="1">
            <a:off x="1" y="1454349"/>
            <a:ext cx="11796668" cy="3949299"/>
            <a:chOff x="-8178042" y="-4493254"/>
            <a:chExt cx="19483597" cy="6522736"/>
          </a:xfrm>
        </p:grpSpPr>
        <p:sp>
          <p:nvSpPr>
            <p:cNvPr id="15" name="Shape 15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Shape 16"/>
            <p:cNvSpPr/>
            <p:nvPr/>
          </p:nvSpPr>
          <p:spPr>
            <a:xfrm>
              <a:off x="4782955" y="-4493254"/>
              <a:ext cx="6522599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Shape 17"/>
          <p:cNvGrpSpPr/>
          <p:nvPr/>
        </p:nvGrpSpPr>
        <p:grpSpPr>
          <a:xfrm>
            <a:off x="4902980" y="5704464"/>
            <a:ext cx="7307771" cy="577328"/>
            <a:chOff x="5582264" y="4646737"/>
            <a:chExt cx="5480828" cy="432996"/>
          </a:xfrm>
        </p:grpSpPr>
        <p:sp>
          <p:nvSpPr>
            <p:cNvPr id="18" name="Shape 18"/>
            <p:cNvSpPr/>
            <p:nvPr/>
          </p:nvSpPr>
          <p:spPr>
            <a:xfrm rot="10800000">
              <a:off x="5582264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19" name="Shape 19"/>
            <p:cNvGrpSpPr/>
            <p:nvPr/>
          </p:nvGrpSpPr>
          <p:grpSpPr>
            <a:xfrm flipH="1">
              <a:off x="5585231" y="4646737"/>
              <a:ext cx="5477861" cy="304551"/>
              <a:chOff x="-24158748" y="330075"/>
              <a:chExt cx="30568422" cy="1699505"/>
            </a:xfrm>
          </p:grpSpPr>
          <p:sp>
            <p:nvSpPr>
              <p:cNvPr id="20" name="Shape 20"/>
              <p:cNvSpPr/>
              <p:nvPr/>
            </p:nvSpPr>
            <p:spPr>
              <a:xfrm>
                <a:off x="-24158748" y="330080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4710174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22" name="Shape 22"/>
          <p:cNvSpPr txBox="1">
            <a:spLocks noGrp="1"/>
          </p:cNvSpPr>
          <p:nvPr>
            <p:ph type="ctrTitle"/>
          </p:nvPr>
        </p:nvSpPr>
        <p:spPr>
          <a:xfrm>
            <a:off x="914400" y="1454333"/>
            <a:ext cx="7157200" cy="39492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6400" baseline="0"/>
            </a:lvl1pPr>
            <a:lvl2pPr lvl="1" algn="ctr">
              <a:spcBef>
                <a:spcPts val="0"/>
              </a:spcBef>
              <a:buSzPct val="100000"/>
              <a:defRPr sz="6400"/>
            </a:lvl2pPr>
            <a:lvl3pPr lvl="2" algn="ctr">
              <a:spcBef>
                <a:spcPts val="0"/>
              </a:spcBef>
              <a:buSzPct val="100000"/>
              <a:defRPr sz="6400"/>
            </a:lvl3pPr>
            <a:lvl4pPr lvl="3" algn="ctr">
              <a:spcBef>
                <a:spcPts val="0"/>
              </a:spcBef>
              <a:buSzPct val="100000"/>
              <a:defRPr sz="6400"/>
            </a:lvl4pPr>
            <a:lvl5pPr lvl="4" algn="ctr">
              <a:spcBef>
                <a:spcPts val="0"/>
              </a:spcBef>
              <a:buSzPct val="100000"/>
              <a:defRPr sz="6400"/>
            </a:lvl5pPr>
            <a:lvl6pPr lvl="5" algn="ctr">
              <a:spcBef>
                <a:spcPts val="0"/>
              </a:spcBef>
              <a:buSzPct val="100000"/>
              <a:defRPr sz="6400"/>
            </a:lvl6pPr>
            <a:lvl7pPr lvl="6" algn="ctr">
              <a:spcBef>
                <a:spcPts val="0"/>
              </a:spcBef>
              <a:buSzPct val="100000"/>
              <a:defRPr sz="6400"/>
            </a:lvl7pPr>
            <a:lvl8pPr lvl="7" algn="ctr">
              <a:spcBef>
                <a:spcPts val="0"/>
              </a:spcBef>
              <a:buSzPct val="100000"/>
              <a:defRPr sz="6400"/>
            </a:lvl8pPr>
            <a:lvl9pPr lvl="8" algn="ctr">
              <a:spcBef>
                <a:spcPts val="0"/>
              </a:spcBef>
              <a:buSzPct val="100000"/>
              <a:defRPr sz="6400"/>
            </a:lvl9pPr>
          </a:lstStyle>
          <a:p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949" y="4399443"/>
            <a:ext cx="3469131" cy="125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 62"/>
          <p:cNvGrpSpPr/>
          <p:nvPr/>
        </p:nvGrpSpPr>
        <p:grpSpPr>
          <a:xfrm>
            <a:off x="-5" y="54"/>
            <a:ext cx="9727101" cy="1135769"/>
            <a:chOff x="-3" y="40"/>
            <a:chExt cx="7072430" cy="1327314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Shape 64"/>
            <p:cNvGrpSpPr/>
            <p:nvPr/>
          </p:nvGrpSpPr>
          <p:grpSpPr>
            <a:xfrm rot="10800000" flipH="1">
              <a:off x="2" y="40"/>
              <a:ext cx="6756166" cy="1327314"/>
              <a:chOff x="-2168137" y="330075"/>
              <a:chExt cx="8650661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7" y="553637"/>
                <a:ext cx="6958200" cy="1475944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 rot="10800000" flipH="1">
              <a:off x="-3" y="381007"/>
              <a:ext cx="7072430" cy="771743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Shape 70"/>
          <p:cNvGrpSpPr/>
          <p:nvPr/>
        </p:nvGrpSpPr>
        <p:grpSpPr>
          <a:xfrm>
            <a:off x="10566400" y="6182000"/>
            <a:ext cx="1633160" cy="676021"/>
            <a:chOff x="5575241" y="4472722"/>
            <a:chExt cx="2202829" cy="670794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72" name="Shape 72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  <p:grpSp>
          <p:nvGrpSpPr>
            <p:cNvPr id="75" name="Shape 75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636103" y="295846"/>
            <a:ext cx="6827009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4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304800" y="1081493"/>
            <a:ext cx="11582400" cy="50252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470" y="108188"/>
            <a:ext cx="2194361" cy="79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9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 62"/>
          <p:cNvGrpSpPr/>
          <p:nvPr/>
        </p:nvGrpSpPr>
        <p:grpSpPr>
          <a:xfrm>
            <a:off x="-5" y="54"/>
            <a:ext cx="9727101" cy="1135769"/>
            <a:chOff x="-3" y="40"/>
            <a:chExt cx="7072430" cy="1327314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Shape 64"/>
            <p:cNvGrpSpPr/>
            <p:nvPr/>
          </p:nvGrpSpPr>
          <p:grpSpPr>
            <a:xfrm rot="10800000" flipH="1">
              <a:off x="2" y="40"/>
              <a:ext cx="6756166" cy="1327314"/>
              <a:chOff x="-2168137" y="330075"/>
              <a:chExt cx="8650661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7" y="553637"/>
                <a:ext cx="6958200" cy="1475944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 rot="10800000" flipH="1">
              <a:off x="-3" y="381007"/>
              <a:ext cx="7072430" cy="771743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Shape 70"/>
          <p:cNvGrpSpPr/>
          <p:nvPr/>
        </p:nvGrpSpPr>
        <p:grpSpPr>
          <a:xfrm>
            <a:off x="10566400" y="6182000"/>
            <a:ext cx="1633160" cy="676021"/>
            <a:chOff x="5575241" y="4472722"/>
            <a:chExt cx="2202829" cy="670794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72" name="Shape 72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  <p:grpSp>
          <p:nvGrpSpPr>
            <p:cNvPr id="75" name="Shape 75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39913" y="295846"/>
            <a:ext cx="7323200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470" y="108188"/>
            <a:ext cx="2194361" cy="795665"/>
          </a:xfrm>
          <a:prstGeom prst="rect">
            <a:avLst/>
          </a:prstGeom>
        </p:spPr>
      </p:pic>
      <p:sp>
        <p:nvSpPr>
          <p:cNvPr id="22" name="Shape 99"/>
          <p:cNvSpPr txBox="1">
            <a:spLocks noGrp="1"/>
          </p:cNvSpPr>
          <p:nvPr>
            <p:ph type="body" idx="1"/>
          </p:nvPr>
        </p:nvSpPr>
        <p:spPr>
          <a:xfrm>
            <a:off x="502603" y="1360245"/>
            <a:ext cx="5364400" cy="460545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100"/>
          <p:cNvSpPr txBox="1">
            <a:spLocks noGrp="1"/>
          </p:cNvSpPr>
          <p:nvPr>
            <p:ph type="body" idx="2"/>
          </p:nvPr>
        </p:nvSpPr>
        <p:spPr>
          <a:xfrm>
            <a:off x="6391584" y="1360245"/>
            <a:ext cx="5364399" cy="460545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91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0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 62"/>
          <p:cNvGrpSpPr/>
          <p:nvPr/>
        </p:nvGrpSpPr>
        <p:grpSpPr>
          <a:xfrm>
            <a:off x="-5" y="54"/>
            <a:ext cx="9727101" cy="1135769"/>
            <a:chOff x="-3" y="40"/>
            <a:chExt cx="7072430" cy="1327314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Shape 64"/>
            <p:cNvGrpSpPr/>
            <p:nvPr/>
          </p:nvGrpSpPr>
          <p:grpSpPr>
            <a:xfrm rot="10800000" flipH="1">
              <a:off x="2" y="40"/>
              <a:ext cx="6756166" cy="1327314"/>
              <a:chOff x="-2168137" y="330075"/>
              <a:chExt cx="8650661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7" y="553637"/>
                <a:ext cx="6958200" cy="1475944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 rot="10800000" flipH="1">
              <a:off x="-3" y="381007"/>
              <a:ext cx="7072430" cy="771743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Shape 70"/>
          <p:cNvGrpSpPr/>
          <p:nvPr/>
        </p:nvGrpSpPr>
        <p:grpSpPr>
          <a:xfrm>
            <a:off x="10566400" y="6182000"/>
            <a:ext cx="1633160" cy="676021"/>
            <a:chOff x="5575241" y="4472722"/>
            <a:chExt cx="2202829" cy="670794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72" name="Shape 72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  <p:grpSp>
          <p:nvGrpSpPr>
            <p:cNvPr id="75" name="Shape 75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39913" y="295846"/>
            <a:ext cx="7323200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470" y="108188"/>
            <a:ext cx="2194361" cy="79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9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Shape 82"/>
          <p:cNvGrpSpPr/>
          <p:nvPr/>
        </p:nvGrpSpPr>
        <p:grpSpPr>
          <a:xfrm>
            <a:off x="-4" y="53"/>
            <a:ext cx="9429907" cy="1769752"/>
            <a:chOff x="-3" y="40"/>
            <a:chExt cx="7072430" cy="1327314"/>
          </a:xfrm>
        </p:grpSpPr>
        <p:sp>
          <p:nvSpPr>
            <p:cNvPr id="83" name="Shape 8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Shape 84"/>
            <p:cNvGrpSpPr/>
            <p:nvPr/>
          </p:nvGrpSpPr>
          <p:grpSpPr>
            <a:xfrm rot="10800000" flipH="1">
              <a:off x="2" y="40"/>
              <a:ext cx="6756167" cy="1327314"/>
              <a:chOff x="-2168137" y="330075"/>
              <a:chExt cx="8650662" cy="1699506"/>
            </a:xfrm>
          </p:grpSpPr>
          <p:sp>
            <p:nvSpPr>
              <p:cNvPr id="85" name="Shape 85"/>
              <p:cNvSpPr/>
              <p:nvPr/>
            </p:nvSpPr>
            <p:spPr>
              <a:xfrm>
                <a:off x="-2168137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Shape 86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Shape 87"/>
            <p:cNvGrpSpPr/>
            <p:nvPr/>
          </p:nvGrpSpPr>
          <p:grpSpPr>
            <a:xfrm rot="10800000" flipH="1">
              <a:off x="-3" y="381007"/>
              <a:ext cx="7072430" cy="771743"/>
              <a:chOff x="-9092084" y="330075"/>
              <a:chExt cx="15574609" cy="1699501"/>
            </a:xfrm>
          </p:grpSpPr>
          <p:sp>
            <p:nvSpPr>
              <p:cNvPr id="88" name="Shape 8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Shape 89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Shape 90"/>
          <p:cNvGrpSpPr/>
          <p:nvPr/>
        </p:nvGrpSpPr>
        <p:grpSpPr>
          <a:xfrm>
            <a:off x="9262456" y="5963629"/>
            <a:ext cx="2937105" cy="894392"/>
            <a:chOff x="5575241" y="4472722"/>
            <a:chExt cx="2202829" cy="670794"/>
          </a:xfrm>
        </p:grpSpPr>
        <p:sp>
          <p:nvSpPr>
            <p:cNvPr id="91" name="Shape 91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92" name="Shape 92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93" name="Shape 93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94" name="Shape 9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  <p:grpSp>
          <p:nvGrpSpPr>
            <p:cNvPr id="95" name="Shape 95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96" name="Shape 96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97" name="Shape 97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1085700" y="2050649"/>
            <a:ext cx="4504400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2"/>
          </p:nvPr>
        </p:nvSpPr>
        <p:spPr>
          <a:xfrm>
            <a:off x="5861498" y="2050649"/>
            <a:ext cx="4504399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03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Shape 103"/>
          <p:cNvGrpSpPr/>
          <p:nvPr/>
        </p:nvGrpSpPr>
        <p:grpSpPr>
          <a:xfrm>
            <a:off x="-4" y="53"/>
            <a:ext cx="9429907" cy="1769752"/>
            <a:chOff x="-3" y="40"/>
            <a:chExt cx="7072430" cy="1327314"/>
          </a:xfrm>
        </p:grpSpPr>
        <p:sp>
          <p:nvSpPr>
            <p:cNvPr id="104" name="Shape 104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Shape 105"/>
            <p:cNvGrpSpPr/>
            <p:nvPr/>
          </p:nvGrpSpPr>
          <p:grpSpPr>
            <a:xfrm rot="10800000" flipH="1">
              <a:off x="2" y="40"/>
              <a:ext cx="6756167" cy="1327314"/>
              <a:chOff x="-2168137" y="330075"/>
              <a:chExt cx="8650662" cy="1699506"/>
            </a:xfrm>
          </p:grpSpPr>
          <p:sp>
            <p:nvSpPr>
              <p:cNvPr id="106" name="Shape 106"/>
              <p:cNvSpPr/>
              <p:nvPr/>
            </p:nvSpPr>
            <p:spPr>
              <a:xfrm>
                <a:off x="-2168137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Shape 107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Shape 108"/>
            <p:cNvGrpSpPr/>
            <p:nvPr/>
          </p:nvGrpSpPr>
          <p:grpSpPr>
            <a:xfrm rot="10800000" flipH="1">
              <a:off x="-3" y="381007"/>
              <a:ext cx="7072430" cy="771743"/>
              <a:chOff x="-9092084" y="330075"/>
              <a:chExt cx="15574609" cy="1699501"/>
            </a:xfrm>
          </p:grpSpPr>
          <p:sp>
            <p:nvSpPr>
              <p:cNvPr id="109" name="Shape 10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Shape 110"/>
              <p:cNvSpPr/>
              <p:nvPr/>
            </p:nvSpPr>
            <p:spPr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Shape 111"/>
          <p:cNvGrpSpPr/>
          <p:nvPr/>
        </p:nvGrpSpPr>
        <p:grpSpPr>
          <a:xfrm>
            <a:off x="9262456" y="5963629"/>
            <a:ext cx="2937105" cy="894392"/>
            <a:chOff x="5575241" y="4472722"/>
            <a:chExt cx="2202829" cy="670794"/>
          </a:xfrm>
        </p:grpSpPr>
        <p:sp>
          <p:nvSpPr>
            <p:cNvPr id="112" name="Shape 112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2400"/>
            </a:p>
          </p:txBody>
        </p:sp>
        <p:grpSp>
          <p:nvGrpSpPr>
            <p:cNvPr id="113" name="Shape 113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114" name="Shape 114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115" name="Shape 11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  <p:grpSp>
          <p:nvGrpSpPr>
            <p:cNvPr id="116" name="Shape 116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117" name="Shape 117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2400"/>
              </a:p>
            </p:txBody>
          </p:sp>
          <p:sp>
            <p:nvSpPr>
              <p:cNvPr id="118" name="Shape 118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2400"/>
              </a:p>
            </p:txBody>
          </p:sp>
        </p:grpSp>
      </p:grpSp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1160600" y="2060100"/>
            <a:ext cx="2997200" cy="361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Shape 121"/>
          <p:cNvSpPr txBox="1">
            <a:spLocks noGrp="1"/>
          </p:cNvSpPr>
          <p:nvPr>
            <p:ph type="body" idx="2"/>
          </p:nvPr>
        </p:nvSpPr>
        <p:spPr>
          <a:xfrm>
            <a:off x="4311516" y="2060100"/>
            <a:ext cx="2997200" cy="361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3"/>
          </p:nvPr>
        </p:nvSpPr>
        <p:spPr>
          <a:xfrm>
            <a:off x="7387532" y="2060100"/>
            <a:ext cx="2997200" cy="361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8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9920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5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D393FB40-4CBE-46D1-86C8-54BAE4786B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164" name="Shape 164"/>
          <p:cNvGrpSpPr/>
          <p:nvPr/>
        </p:nvGrpSpPr>
        <p:grpSpPr>
          <a:xfrm>
            <a:off x="9262457" y="5963629"/>
            <a:ext cx="2937105" cy="894392"/>
            <a:chOff x="5575241" y="4472722"/>
            <a:chExt cx="2202829" cy="670794"/>
          </a:xfrm>
        </p:grpSpPr>
        <p:sp>
          <p:nvSpPr>
            <p:cNvPr id="165" name="Shape 165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1800"/>
            </a:p>
          </p:txBody>
        </p:sp>
        <p:grpSp>
          <p:nvGrpSpPr>
            <p:cNvPr id="166" name="Shape 166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167" name="Shape 167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1800"/>
              </a:p>
            </p:txBody>
          </p:sp>
          <p:sp>
            <p:nvSpPr>
              <p:cNvPr id="168" name="Shape 16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1800"/>
              </a:p>
            </p:txBody>
          </p:sp>
        </p:grpSp>
        <p:grpSp>
          <p:nvGrpSpPr>
            <p:cNvPr id="169" name="Shape 169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170" name="Shape 170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1800"/>
              </a:p>
            </p:txBody>
          </p:sp>
          <p:sp>
            <p:nvSpPr>
              <p:cNvPr id="171" name="Shape 171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1800"/>
              </a:p>
            </p:txBody>
          </p:sp>
        </p:grpSp>
      </p:grpSp>
      <p:grpSp>
        <p:nvGrpSpPr>
          <p:cNvPr id="172" name="Shape 172"/>
          <p:cNvGrpSpPr/>
          <p:nvPr/>
        </p:nvGrpSpPr>
        <p:grpSpPr>
          <a:xfrm rot="10800000">
            <a:off x="-9" y="-3"/>
            <a:ext cx="2937105" cy="894392"/>
            <a:chOff x="5575241" y="4472722"/>
            <a:chExt cx="2202829" cy="670794"/>
          </a:xfrm>
        </p:grpSpPr>
        <p:sp>
          <p:nvSpPr>
            <p:cNvPr id="173" name="Shape 173"/>
            <p:cNvSpPr/>
            <p:nvPr/>
          </p:nvSpPr>
          <p:spPr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 sz="1800"/>
            </a:p>
          </p:txBody>
        </p:sp>
        <p:grpSp>
          <p:nvGrpSpPr>
            <p:cNvPr id="174" name="Shape 174"/>
            <p:cNvGrpSpPr/>
            <p:nvPr/>
          </p:nvGrpSpPr>
          <p:grpSpPr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175" name="Shape 175"/>
              <p:cNvSpPr/>
              <p:nvPr/>
            </p:nvSpPr>
            <p:spPr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1800"/>
              </a:p>
            </p:txBody>
          </p:sp>
          <p:sp>
            <p:nvSpPr>
              <p:cNvPr id="176" name="Shape 17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1800"/>
              </a:p>
            </p:txBody>
          </p:sp>
        </p:grpSp>
        <p:grpSp>
          <p:nvGrpSpPr>
            <p:cNvPr id="177" name="Shape 177"/>
            <p:cNvGrpSpPr/>
            <p:nvPr/>
          </p:nvGrpSpPr>
          <p:grpSpPr>
            <a:xfrm flipH="1">
              <a:off x="5578208" y="4646737"/>
              <a:ext cx="2199862" cy="304562"/>
              <a:chOff x="-5827152" y="330075"/>
              <a:chExt cx="12276018" cy="1699568"/>
            </a:xfrm>
          </p:grpSpPr>
          <p:sp>
            <p:nvSpPr>
              <p:cNvPr id="178" name="Shape 178"/>
              <p:cNvSpPr/>
              <p:nvPr/>
            </p:nvSpPr>
            <p:spPr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 sz="1800"/>
              </a:p>
            </p:txBody>
          </p:sp>
          <p:sp>
            <p:nvSpPr>
              <p:cNvPr id="179" name="Shape 179"/>
              <p:cNvSpPr/>
              <p:nvPr/>
            </p:nvSpPr>
            <p:spPr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8109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4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205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5798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1795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5637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5165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FB40-4CBE-46D1-86C8-54BAE4786BB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6818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9993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6005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5859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56471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3404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1705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94252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1801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0997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9446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ctrTitle"/>
          </p:nvPr>
        </p:nvSpPr>
        <p:spPr>
          <a:xfrm>
            <a:off x="914400" y="1454333"/>
            <a:ext cx="7157200" cy="39492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6400" baseline="0"/>
            </a:lvl1pPr>
            <a:lvl2pPr lvl="1" algn="ctr">
              <a:spcBef>
                <a:spcPts val="0"/>
              </a:spcBef>
              <a:buSzPct val="100000"/>
              <a:defRPr sz="6400"/>
            </a:lvl2pPr>
            <a:lvl3pPr lvl="2" algn="ctr">
              <a:spcBef>
                <a:spcPts val="0"/>
              </a:spcBef>
              <a:buSzPct val="100000"/>
              <a:defRPr sz="6400"/>
            </a:lvl3pPr>
            <a:lvl4pPr lvl="3" algn="ctr">
              <a:spcBef>
                <a:spcPts val="0"/>
              </a:spcBef>
              <a:buSzPct val="100000"/>
              <a:defRPr sz="6400"/>
            </a:lvl4pPr>
            <a:lvl5pPr lvl="4" algn="ctr">
              <a:spcBef>
                <a:spcPts val="0"/>
              </a:spcBef>
              <a:buSzPct val="100000"/>
              <a:defRPr sz="6400"/>
            </a:lvl5pPr>
            <a:lvl6pPr lvl="5" algn="ctr">
              <a:spcBef>
                <a:spcPts val="0"/>
              </a:spcBef>
              <a:buSzPct val="100000"/>
              <a:defRPr sz="6400"/>
            </a:lvl6pPr>
            <a:lvl7pPr lvl="6" algn="ctr">
              <a:spcBef>
                <a:spcPts val="0"/>
              </a:spcBef>
              <a:buSzPct val="100000"/>
              <a:defRPr sz="6400"/>
            </a:lvl7pPr>
            <a:lvl8pPr lvl="7" algn="ctr">
              <a:spcBef>
                <a:spcPts val="0"/>
              </a:spcBef>
              <a:buSzPct val="100000"/>
              <a:defRPr sz="6400"/>
            </a:lvl8pPr>
            <a:lvl9pPr lvl="8" algn="ctr">
              <a:spcBef>
                <a:spcPts val="0"/>
              </a:spcBef>
              <a:buSzPct val="100000"/>
              <a:defRPr sz="6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62235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636103" y="295846"/>
            <a:ext cx="6827009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4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304800" y="1081493"/>
            <a:ext cx="11582400" cy="50252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931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0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39913" y="295846"/>
            <a:ext cx="7323200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29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1085700" y="2050649"/>
            <a:ext cx="4504400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2"/>
          </p:nvPr>
        </p:nvSpPr>
        <p:spPr>
          <a:xfrm>
            <a:off x="5861498" y="2050649"/>
            <a:ext cx="4504399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2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60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spcBef>
                <a:spcPts val="48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spcBef>
                <a:spcPts val="48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524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9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transition>
    <p:fade/>
  </p:transition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.S._Department_of_Defens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14400" y="1454333"/>
            <a:ext cx="9429750" cy="3949200"/>
          </a:xfrm>
        </p:spPr>
        <p:txBody>
          <a:bodyPr/>
          <a:lstStyle/>
          <a:p>
            <a:pPr algn="ctr"/>
            <a:r>
              <a:rPr lang="en-US" altLang="en-US" sz="5400" dirty="0"/>
              <a:t>Capability Maturity Model</a:t>
            </a:r>
            <a:br>
              <a:rPr lang="en-US" sz="5400" dirty="0"/>
            </a:br>
            <a:r>
              <a:rPr lang="en-US" sz="5400" dirty="0"/>
              <a:t>		 </a:t>
            </a:r>
            <a:r>
              <a:rPr lang="en-US" sz="2400" dirty="0"/>
              <a:t>Advanced Software Engineering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81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2D975-068F-E2A1-2B18-AF0F54FD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183" y="751282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CMM?</a:t>
            </a:r>
            <a:endParaRPr lang="en-PK" sz="28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6866E-0212-9E8F-F4DA-9E2AA113E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1986" y="1258529"/>
            <a:ext cx="10245213" cy="484818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method for assessing</a:t>
            </a:r>
            <a:r>
              <a:rPr lang="en-US" dirty="0"/>
              <a:t> software processes</a:t>
            </a:r>
          </a:p>
          <a:p>
            <a:r>
              <a:rPr lang="en-US" dirty="0"/>
              <a:t>A </a:t>
            </a:r>
            <a:r>
              <a:rPr lang="en-US" b="1" dirty="0"/>
              <a:t>benchmark</a:t>
            </a:r>
            <a:r>
              <a:rPr lang="en-US" dirty="0"/>
              <a:t> to measure the maturity of an organization’s software development process</a:t>
            </a:r>
          </a:p>
          <a:p>
            <a:r>
              <a:rPr lang="en-US" dirty="0"/>
              <a:t>Helps organizations </a:t>
            </a:r>
            <a:r>
              <a:rPr lang="en-US" b="1" dirty="0"/>
              <a:t>develop, improve, and refine</a:t>
            </a:r>
            <a:r>
              <a:rPr lang="en-US" dirty="0"/>
              <a:t> their software processes</a:t>
            </a:r>
          </a:p>
          <a:p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0276D-3CFB-5869-8866-BFE5B2E47C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3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8749-E016-6403-EED4-C77AB17A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103" y="54984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CMM</a:t>
            </a:r>
            <a:endParaRPr lang="en-PK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6547-4289-9AA4-1144-C7BFC80B5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16" y="1573161"/>
            <a:ext cx="10510684" cy="4533557"/>
          </a:xfrm>
        </p:spPr>
        <p:txBody>
          <a:bodyPr/>
          <a:lstStyle/>
          <a:p>
            <a:r>
              <a:rPr lang="en-US" dirty="0"/>
              <a:t>Developed to </a:t>
            </a:r>
            <a:r>
              <a:rPr lang="en-US" b="1" dirty="0"/>
              <a:t>assess and improve software development processes</a:t>
            </a:r>
            <a:endParaRPr lang="en-US" dirty="0"/>
          </a:p>
          <a:p>
            <a:r>
              <a:rPr lang="en-US" dirty="0"/>
              <a:t>Helps organizations progress from </a:t>
            </a:r>
            <a:r>
              <a:rPr lang="en-US" b="1" dirty="0"/>
              <a:t>chaotic → predictable → optimized</a:t>
            </a:r>
          </a:p>
          <a:p>
            <a:r>
              <a:rPr lang="en-US" b="1" dirty="0"/>
              <a:t>CMM Focus Areas:</a:t>
            </a:r>
          </a:p>
          <a:p>
            <a:pPr lvl="1"/>
            <a:r>
              <a:rPr lang="en-US" dirty="0"/>
              <a:t>Process standardization</a:t>
            </a:r>
          </a:p>
          <a:p>
            <a:pPr lvl="1"/>
            <a:r>
              <a:rPr lang="en-US" dirty="0"/>
              <a:t>Process measurement</a:t>
            </a:r>
          </a:p>
          <a:p>
            <a:pPr lvl="1"/>
            <a:r>
              <a:rPr lang="en-US" dirty="0"/>
              <a:t>Process improvement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Analogy:</a:t>
            </a:r>
            <a:r>
              <a:rPr lang="en-US" dirty="0"/>
              <a:t> Learning to cook:</a:t>
            </a:r>
          </a:p>
          <a:p>
            <a:pPr lvl="1"/>
            <a:r>
              <a:rPr lang="en-US" dirty="0"/>
              <a:t>Level 1: Randomly following recipes</a:t>
            </a:r>
          </a:p>
          <a:p>
            <a:pPr lvl="1"/>
            <a:r>
              <a:rPr lang="en-US" dirty="0"/>
              <a:t>Level 5: Perfecting techniques and experimenting efficiently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DFC46-D0A5-0E22-1AD5-9CFCEFDA41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644" y="630143"/>
            <a:ext cx="6827009" cy="680825"/>
          </a:xfrm>
        </p:spPr>
        <p:txBody>
          <a:bodyPr/>
          <a:lstStyle/>
          <a:p>
            <a:r>
              <a:rPr lang="en-US" b="1" dirty="0"/>
              <a:t>Overview of the Capability Maturity Model (CMM)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0644" y="2428568"/>
            <a:ext cx="10166555" cy="3871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Capability Maturity Model</a:t>
            </a:r>
            <a:r>
              <a:rPr lang="en-US" dirty="0"/>
              <a:t> (</a:t>
            </a:r>
            <a:r>
              <a:rPr lang="en-US" b="1" dirty="0"/>
              <a:t>CMM</a:t>
            </a:r>
            <a:r>
              <a:rPr lang="en-US" dirty="0"/>
              <a:t>)is a development model created after a study of data collected from organizations that contracted with the </a:t>
            </a:r>
            <a:r>
              <a:rPr lang="en-US" dirty="0">
                <a:hlinkClick r:id="rId3" tooltip="U.S. Department of Defense"/>
              </a:rPr>
              <a:t>U.S. Department of Defense</a:t>
            </a:r>
            <a:r>
              <a:rPr lang="en-US" dirty="0"/>
              <a:t>, who funded the research. </a:t>
            </a:r>
          </a:p>
          <a:p>
            <a:endParaRPr lang="en-US" dirty="0"/>
          </a:p>
          <a:p>
            <a:r>
              <a:rPr lang="en-US" altLang="en-US" dirty="0"/>
              <a:t>Developed by the Software Engineering Institute of the Carnegie Mellon University.</a:t>
            </a:r>
          </a:p>
          <a:p>
            <a:r>
              <a:rPr lang="en-US" altLang="en-US" dirty="0"/>
              <a:t>Framework that describes the key elements of an effective software process.</a:t>
            </a:r>
          </a:p>
          <a:p>
            <a:r>
              <a:rPr lang="en-US" dirty="0"/>
              <a:t>Helped organizations to improve the quality of the software.</a:t>
            </a:r>
          </a:p>
          <a:p>
            <a:r>
              <a:rPr lang="en-US" dirty="0"/>
              <a:t>Adoption of SEI CMM has significant business benefits.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3DAD-79AB-4E67-9246-CF601742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2" y="531820"/>
            <a:ext cx="8976851" cy="680825"/>
          </a:xfrm>
        </p:spPr>
        <p:txBody>
          <a:bodyPr>
            <a:normAutofit fontScale="90000"/>
          </a:bodyPr>
          <a:lstStyle/>
          <a:p>
            <a:r>
              <a:rPr lang="en-US" dirty="0"/>
              <a:t>SEI CMM (Software Engineering Institute – Capability Maturity Model)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E6C52-E3F8-421C-858F-B952AAA17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3B8E9-4869-4215-A1FB-9EB8EE7E8278}"/>
              </a:ext>
            </a:extLst>
          </p:cNvPr>
          <p:cNvSpPr txBox="1"/>
          <p:nvPr/>
        </p:nvSpPr>
        <p:spPr>
          <a:xfrm>
            <a:off x="1622323" y="1907458"/>
            <a:ext cx="94537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 CMM can be used in two 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Assessment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Evaluation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to check how capable an organization’s software process 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predict how well a contractor is likely to perform if given a project, so it can be used to choose the right contractor.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Assessment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by an organization to review its own software processes and find ways to improve them.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69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452" y="954607"/>
            <a:ext cx="6827009" cy="680825"/>
          </a:xfrm>
        </p:spPr>
        <p:txBody>
          <a:bodyPr/>
          <a:lstStyle/>
          <a:p>
            <a:r>
              <a:rPr lang="en-US" b="1" dirty="0"/>
              <a:t>Purpose of the Capability Maturity Model (CMM)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6012" y="1936955"/>
            <a:ext cx="10481187" cy="4169763"/>
          </a:xfrm>
        </p:spPr>
        <p:txBody>
          <a:bodyPr/>
          <a:lstStyle/>
          <a:p>
            <a:r>
              <a:rPr lang="en-US" altLang="en-US" dirty="0"/>
              <a:t>Describes an evolutionary improvement path for software organizations from an ad hoc, immature process to a mature, disciplined one.</a:t>
            </a:r>
          </a:p>
          <a:p>
            <a:endParaRPr lang="en-US" altLang="en-US" dirty="0"/>
          </a:p>
          <a:p>
            <a:r>
              <a:rPr lang="en-US" altLang="en-US" dirty="0"/>
              <a:t>Provides guidance on how to gain control of processes for developing and maintaining software and how to evolve toward a culture of software engineering and management excellence.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823" y="461232"/>
            <a:ext cx="6827009" cy="680825"/>
          </a:xfrm>
        </p:spPr>
        <p:txBody>
          <a:bodyPr/>
          <a:lstStyle/>
          <a:p>
            <a:r>
              <a:rPr lang="en-US" altLang="en-US" b="1" dirty="0"/>
              <a:t>Process Maturity Concepts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6683" y="1691149"/>
            <a:ext cx="10349199" cy="470561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Process</a:t>
            </a:r>
          </a:p>
          <a:p>
            <a:pPr marL="457200" lvl="4" indent="-457200">
              <a:lnSpc>
                <a:spcPct val="90000"/>
              </a:lnSpc>
            </a:pPr>
            <a:r>
              <a:rPr lang="en-US" sz="2800" dirty="0"/>
              <a:t>The set of activities, methods, and practices used to develop and maintain software, along with related artifacts like plans, designs, code, tests, and user manuals.</a:t>
            </a:r>
          </a:p>
          <a:p>
            <a:pPr lvl="1"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Process Capability</a:t>
            </a:r>
          </a:p>
          <a:p>
            <a:pPr marL="808038" lvl="1" indent="-342900">
              <a:lnSpc>
                <a:spcPct val="90000"/>
              </a:lnSpc>
            </a:pPr>
            <a:r>
              <a:rPr lang="en-US" altLang="en-US" sz="2800" dirty="0"/>
              <a:t>describes the range of expected results that can be achieved by following a software process</a:t>
            </a:r>
          </a:p>
          <a:p>
            <a:pPr marL="808038" lvl="1" indent="-342900">
              <a:lnSpc>
                <a:spcPct val="90000"/>
              </a:lnSpc>
            </a:pPr>
            <a:r>
              <a:rPr lang="en-US" altLang="en-US" sz="2800" dirty="0"/>
              <a:t>means of predicting the most likely outcomes to be expected from the future software project the organization undertakes </a:t>
            </a:r>
          </a:p>
          <a:p>
            <a:pPr marL="808038" lvl="1" indent="-342900">
              <a:lnSpc>
                <a:spcPct val="90000"/>
              </a:lnSpc>
            </a:pPr>
            <a:endParaRPr lang="en-US" alt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5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61317"/>
            <a:ext cx="6827009" cy="680825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Process Maturity Concepts</a:t>
            </a:r>
            <a:endParaRPr lang="en-US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553497"/>
            <a:ext cx="10363200" cy="45532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Process Performance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actual results achieved by following a software process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Process Maturity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extent to which a specific process is explicitly defined, managed, measured, controlled and effective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implies potential growth in capability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indicates richness of process and consistency with which it is applied in projects throughout the organization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290" y="295846"/>
            <a:ext cx="5545822" cy="680825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What are the CMM Levels?</a:t>
            </a:r>
            <a:endParaRPr lang="en-US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8632" y="1563329"/>
            <a:ext cx="10048568" cy="454338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/>
              <a:t>The five levels of software process maturity.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/>
              <a:t>Maturity level indicates level of process capability: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Initial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Repeatable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Defined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Managed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Optimizing</a:t>
            </a:r>
          </a:p>
          <a:p>
            <a:pPr>
              <a:lnSpc>
                <a:spcPct val="90000"/>
              </a:lnSpc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2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DAD3-E3B4-4DC1-AB3B-D0ABA094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361" y="594382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1: Initial (AKA Chaotic)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BEFBD-B61E-498E-B255-903E731A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3328" y="1628232"/>
            <a:ext cx="10323871" cy="4672200"/>
          </a:xfrm>
        </p:spPr>
        <p:txBody>
          <a:bodyPr>
            <a:normAutofit/>
          </a:bodyPr>
          <a:lstStyle/>
          <a:p>
            <a:r>
              <a:rPr lang="en-US" dirty="0"/>
              <a:t>Software development organization at this level is characterized by ad hoc activities.</a:t>
            </a:r>
          </a:p>
          <a:p>
            <a:r>
              <a:rPr lang="en-US" dirty="0"/>
              <a:t>Very few or no processes are defined and followed.</a:t>
            </a:r>
          </a:p>
          <a:p>
            <a:r>
              <a:rPr lang="en-US" dirty="0"/>
              <a:t>Since, processes are not defined, engineers follow their own processes and as a result, development efforts become chaotic(disordered or messy).</a:t>
            </a:r>
          </a:p>
          <a:p>
            <a:r>
              <a:rPr lang="en-US" dirty="0"/>
              <a:t>The success of project depends on individual efforts. </a:t>
            </a:r>
          </a:p>
          <a:p>
            <a:r>
              <a:rPr lang="en-US" dirty="0"/>
              <a:t>When engineers leave, the successor have great difficulty in understanding the process followed and the work completed.</a:t>
            </a:r>
          </a:p>
          <a:p>
            <a:r>
              <a:rPr lang="en-US" dirty="0"/>
              <a:t>Since, formal project management practices are not followed, under time pressure, short cuts are tried out leading to low quality product. </a:t>
            </a:r>
          </a:p>
          <a:p>
            <a:r>
              <a:rPr lang="en-US" altLang="en-US" dirty="0"/>
              <a:t>Products developed are often over budget and schedule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4D30-3C45-4C35-A05D-59E075B9C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6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D9D6-4DF0-45AE-93B3-B93DE954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832" y="50920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2: Repeatable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E14FC-FD9C-4015-990D-F1FD814E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832" y="1720645"/>
            <a:ext cx="10353368" cy="4386073"/>
          </a:xfrm>
        </p:spPr>
        <p:txBody>
          <a:bodyPr/>
          <a:lstStyle/>
          <a:p>
            <a:r>
              <a:rPr lang="en-US" altLang="en-US" dirty="0"/>
              <a:t>At this level, basic process management processes are established to track cost, schedule, and functionality.</a:t>
            </a:r>
          </a:p>
          <a:p>
            <a:r>
              <a:rPr lang="en-US" altLang="en-US" dirty="0"/>
              <a:t>Realistic project commitments based on results observed on previous projects</a:t>
            </a:r>
          </a:p>
          <a:p>
            <a:r>
              <a:rPr lang="en-US" altLang="en-US" dirty="0"/>
              <a:t>Software project standards are defined and faithfully followed</a:t>
            </a:r>
          </a:p>
          <a:p>
            <a:r>
              <a:rPr lang="en-US" altLang="en-US" dirty="0"/>
              <a:t>Processes may differ between projects</a:t>
            </a:r>
          </a:p>
          <a:p>
            <a:r>
              <a:rPr lang="en-US" altLang="en-US" dirty="0"/>
              <a:t>Process is disciplined </a:t>
            </a:r>
          </a:p>
          <a:p>
            <a:r>
              <a:rPr lang="en-US" altLang="en-US" dirty="0"/>
              <a:t>earlier successes can be repeated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C4B2B-9417-45CC-B4A9-6D3CFB1359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5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103" y="64128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3: Defined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5174" y="1681316"/>
            <a:ext cx="10432026" cy="4425402"/>
          </a:xfrm>
        </p:spPr>
        <p:txBody>
          <a:bodyPr/>
          <a:lstStyle/>
          <a:p>
            <a:pPr>
              <a:buFont typeface="Monotype Sorts" pitchFamily="2" charset="2"/>
              <a:buChar char="Ì"/>
            </a:pPr>
            <a:r>
              <a:rPr lang="en-US" altLang="en-US" dirty="0"/>
              <a:t>The software process for both management and engineering activities is documented, standardized, and integrated into a standard software process for the organization. 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  <a:p>
            <a:pPr>
              <a:buFont typeface="Monotype Sorts" pitchFamily="2" charset="2"/>
              <a:buChar char="Ì"/>
            </a:pPr>
            <a:r>
              <a:rPr lang="en-US" altLang="en-US" dirty="0"/>
              <a:t>All projects use an approved, personalized version of the organization’s standard software process for developing and maintaining software.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  <a:p>
            <a:pPr>
              <a:buFont typeface="Monotype Sorts" pitchFamily="2" charset="2"/>
              <a:buChar char="Ì"/>
            </a:pPr>
            <a:r>
              <a:rPr lang="en-US" dirty="0"/>
              <a:t>Roles, responsibilities, and standards are clearly defined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2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623" y="35680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4: Managed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6953" y="1508258"/>
            <a:ext cx="9930581" cy="521297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At this level, the focus is on software metrics.</a:t>
            </a:r>
          </a:p>
          <a:p>
            <a:pPr>
              <a:buNone/>
            </a:pPr>
            <a:r>
              <a:rPr lang="en-US" dirty="0"/>
              <a:t>Two types of metrics are collected:</a:t>
            </a:r>
          </a:p>
          <a:p>
            <a:pPr marL="342900" indent="-342900"/>
            <a:r>
              <a:rPr lang="en-US" b="1" dirty="0"/>
              <a:t>Product Metrics </a:t>
            </a:r>
            <a:r>
              <a:rPr lang="en-US" dirty="0"/>
              <a:t>measure the characteristics of the product being developed such as its size, reliability, complexity, understandability etc.</a:t>
            </a:r>
          </a:p>
          <a:p>
            <a:pPr marL="342900" indent="-342900"/>
            <a:r>
              <a:rPr lang="en-US" b="1" dirty="0"/>
              <a:t>Process Metrics </a:t>
            </a:r>
            <a:r>
              <a:rPr lang="en-US" dirty="0"/>
              <a:t>reflects the effectiveness of the process being used. such as </a:t>
            </a:r>
          </a:p>
          <a:p>
            <a:pPr marL="342900" lvl="1" indent="-342900"/>
            <a:r>
              <a:rPr lang="en-US" dirty="0"/>
              <a:t>average defect correction time,</a:t>
            </a:r>
          </a:p>
          <a:p>
            <a:pPr marL="342900" lvl="1" indent="-342900"/>
            <a:r>
              <a:rPr lang="en-US" dirty="0"/>
              <a:t> average number of defects found per hour inspection,</a:t>
            </a:r>
          </a:p>
          <a:p>
            <a:pPr marL="342900" lvl="1" indent="-342900"/>
            <a:r>
              <a:rPr lang="en-US" dirty="0"/>
              <a:t> average number of failures detected during testing etc.</a:t>
            </a:r>
          </a:p>
          <a:p>
            <a:pPr marL="342900" indent="-342900"/>
            <a:r>
              <a:rPr lang="en-US" dirty="0"/>
              <a:t>Software process and product quality is measured and quantitative quality requirements for the product are met.</a:t>
            </a:r>
          </a:p>
          <a:p>
            <a:pPr marL="342900" indent="-342900"/>
            <a:r>
              <a:rPr lang="en-US" dirty="0"/>
              <a:t>Pareto charts and Fishbone diagrams are used to measure the product and process quality.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1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DEFC-FCB8-4CF8-8BB9-6E6BABE1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Pareto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D13F6-FDE6-4C4A-A157-01DE7B1B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723" y="2050649"/>
            <a:ext cx="4244109" cy="404105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Pareto chart </a:t>
            </a:r>
            <a:r>
              <a:rPr lang="en-US" dirty="0"/>
              <a:t>is a histogram that can help you identify and prioritize problem areas. </a:t>
            </a:r>
          </a:p>
          <a:p>
            <a:r>
              <a:rPr lang="en-US" b="1" dirty="0"/>
              <a:t>Pareto analysis </a:t>
            </a:r>
            <a:r>
              <a:rPr lang="en-US" dirty="0"/>
              <a:t>is sometimes referred to as the 80-20 rule, meaning that 80 percent of problems are often due to 20 percent of the causes.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542DB-0133-46E5-A6A5-F099A902199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12BA6-DD57-4B38-AC1A-0136A4646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2" descr="C:\Users\hafiza.maria\Desktop\6.PNG">
            <a:extLst>
              <a:ext uri="{FF2B5EF4-FFF2-40B4-BE49-F238E27FC236}">
                <a16:creationId xmlns:a16="http://schemas.microsoft.com/office/drawing/2014/main" id="{91D61335-4611-422A-AB39-6A65EAD3C6D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96" y="2066020"/>
            <a:ext cx="6377204" cy="361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96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A871-9E80-4404-AC84-8AB7023D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571149"/>
            <a:ext cx="6827009" cy="680825"/>
          </a:xfrm>
        </p:spPr>
        <p:txBody>
          <a:bodyPr>
            <a:normAutofit/>
          </a:bodyPr>
          <a:lstStyle/>
          <a:p>
            <a:r>
              <a:rPr lang="pt-BR" sz="2800" b="1" dirty="0"/>
              <a:t>Fishbone Diagram</a:t>
            </a:r>
            <a:endParaRPr lang="en-US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BCE0F-1FFF-493A-B588-C665FB42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316" y="1524000"/>
            <a:ext cx="10205884" cy="4582718"/>
          </a:xfrm>
        </p:spPr>
        <p:txBody>
          <a:bodyPr/>
          <a:lstStyle/>
          <a:p>
            <a:r>
              <a:rPr lang="en-US" b="1" i="1" dirty="0"/>
              <a:t>Cause-and-effect diagrams</a:t>
            </a:r>
            <a:r>
              <a:rPr lang="en-US" dirty="0"/>
              <a:t>: Trace complaints about quality problems back to the responsible production operations. </a:t>
            </a:r>
          </a:p>
          <a:p>
            <a:r>
              <a:rPr lang="en-US" dirty="0"/>
              <a:t>In other words, they help you find the root cause of a problem. They are also known as </a:t>
            </a:r>
            <a:r>
              <a:rPr lang="en-US" b="1" dirty="0"/>
              <a:t>fishbone </a:t>
            </a:r>
            <a:r>
              <a:rPr lang="en-US" dirty="0"/>
              <a:t>or </a:t>
            </a:r>
            <a:r>
              <a:rPr lang="en-US" b="1" dirty="0"/>
              <a:t>Ishikawa diagrams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E9FA0-0866-4CBC-A7F2-D785A7CA77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430A3-BB41-1419-342E-F025477A4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16</a:t>
            </a:fld>
            <a:endParaRPr 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7906EA57-BDD3-4C78-8348-61B660CD34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928688"/>
            <a:ext cx="10290175" cy="5792787"/>
          </a:xfrm>
        </p:spPr>
      </p:pic>
    </p:spTree>
    <p:extLst>
      <p:ext uri="{BB962C8B-B14F-4D97-AF65-F5344CB8AC3E}">
        <p14:creationId xmlns:p14="http://schemas.microsoft.com/office/powerpoint/2010/main" val="181259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743" y="410869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5: Optimizing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4270" y="1622323"/>
            <a:ext cx="9792929" cy="448439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Continuous process improvement is enabled by quantitative feedback from the process and from showing innovative ideas and technologies.</a:t>
            </a:r>
          </a:p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Goal is to prevent the occurrence of defects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Data on process effectiveness used for cost benefit analysis of new technologies and proposed process changes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5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Levels of CMM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386908"/>
              </p:ext>
            </p:extLst>
          </p:nvPr>
        </p:nvGraphicFramePr>
        <p:xfrm>
          <a:off x="1848023" y="976671"/>
          <a:ext cx="5386489" cy="556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266667" imgH="4406349" progId="Photoshop.Image.6">
                  <p:embed/>
                </p:oleObj>
              </mc:Choice>
              <mc:Fallback>
                <p:oleObj name="Image" r:id="rId3" imgW="4266667" imgH="4406349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023" y="976671"/>
                        <a:ext cx="5386489" cy="5562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5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29C4-3EE1-4795-AE4B-0EE02D2A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CMM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F31B-0480-4035-BCDB-29FA3DB39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4160" y="1391920"/>
            <a:ext cx="9946640" cy="4806238"/>
          </a:xfrm>
        </p:spPr>
        <p:txBody>
          <a:bodyPr/>
          <a:lstStyle/>
          <a:p>
            <a:r>
              <a:rPr lang="en-US" dirty="0"/>
              <a:t>SEI CMM assessment is purely for internal use.</a:t>
            </a:r>
          </a:p>
          <a:p>
            <a:r>
              <a:rPr lang="en-US" dirty="0"/>
              <a:t>Was developed successfully for software industry and therefore addresses many issues which are specific to software industry.</a:t>
            </a:r>
          </a:p>
          <a:p>
            <a:r>
              <a:rPr lang="en-US" dirty="0"/>
              <a:t>Goes beyond quality assurance and prepares an organization to ultimately achieve Total Quality Management.</a:t>
            </a:r>
          </a:p>
          <a:p>
            <a:r>
              <a:rPr lang="en-US" dirty="0"/>
              <a:t>Model provides a list of key process areas on which an organization at any maturity level needs to concentrate to take it from one maturity level to the next.</a:t>
            </a:r>
          </a:p>
          <a:p>
            <a:r>
              <a:rPr lang="en-US" dirty="0"/>
              <a:t>Provides a way of achieving gradual quality improvement.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37864-4502-4B9C-BB6D-BEC8D9C5D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089A-AF3E-4175-911B-AC3F5696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Applicability of SEI CMM to organizations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BB086-6F16-4038-BE9B-9861F8EAF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6880" y="1402080"/>
            <a:ext cx="10180320" cy="4704638"/>
          </a:xfrm>
        </p:spPr>
        <p:txBody>
          <a:bodyPr/>
          <a:lstStyle/>
          <a:p>
            <a:r>
              <a:rPr lang="en-US" dirty="0"/>
              <a:t>Highly systematic and measured approach to software development </a:t>
            </a:r>
            <a:r>
              <a:rPr lang="en-US" b="1" dirty="0"/>
              <a:t>suits large organizations dealing with negotiated software, safety-critical software etc.</a:t>
            </a:r>
          </a:p>
          <a:p>
            <a:r>
              <a:rPr lang="en-US" dirty="0"/>
              <a:t>But small organizations typically handle applications such as Internet, e-commerce, and are without an established product range, revenue base, and experience on past projects, etc. </a:t>
            </a:r>
          </a:p>
          <a:p>
            <a:r>
              <a:rPr lang="en-US" dirty="0"/>
              <a:t>For such organizations, a CMM-based evaluation is probably unnecessary. </a:t>
            </a:r>
          </a:p>
          <a:p>
            <a:r>
              <a:rPr lang="en-US" dirty="0"/>
              <a:t>These organizations need to operate more efficiently at the lower levels of maturity.</a:t>
            </a:r>
          </a:p>
          <a:p>
            <a:r>
              <a:rPr lang="en-US" dirty="0"/>
              <a:t>For example, they need to practice effective project management, reviews, configuration management,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633C8-5D71-419E-BC05-07F5610BD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50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Internal Structure to Maturity Levels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7360" y="1452880"/>
            <a:ext cx="10149840" cy="46538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Except for level 1, each level is decomposed into key process areas (KPA)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Each KPA identifies a cluster of related activities that, when performed collectively, achieve a set of goals considered important for enhancing software capability.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commitment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activity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measurement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verification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3759200" y="533400"/>
          <a:ext cx="4927600" cy="561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673016" imgH="5434921" progId="Photoshop.Image.6">
                  <p:embed/>
                </p:oleObj>
              </mc:Choice>
              <mc:Fallback>
                <p:oleObj name="Image" r:id="rId3" imgW="4673016" imgH="5434921" progId="Photoshop.Image.6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33400"/>
                        <a:ext cx="4927600" cy="561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2095485" y="1003300"/>
          <a:ext cx="4559300" cy="547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558730" imgH="5473016" progId="Photoshop.Image.6">
                  <p:embed/>
                </p:oleObj>
              </mc:Choice>
              <mc:Fallback>
                <p:oleObj name="Image" r:id="rId3" imgW="4558730" imgH="5473016" progId="Photoshop.Image.6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485" y="1003300"/>
                        <a:ext cx="4559300" cy="547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5231904" y="6308071"/>
          <a:ext cx="3302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3301587" imgH="152274" progId="Photoshop.Image.6">
                  <p:embed/>
                </p:oleObj>
              </mc:Choice>
              <mc:Fallback>
                <p:oleObj name="Image" r:id="rId5" imgW="3301587" imgH="152274" progId="Photoshop.Image.6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6308071"/>
                        <a:ext cx="33020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2 KPAs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5920" y="1249680"/>
            <a:ext cx="10241280" cy="48570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Requirements Management</a:t>
            </a:r>
          </a:p>
          <a:p>
            <a:pPr marL="404813" lvl="1">
              <a:lnSpc>
                <a:spcPct val="90000"/>
              </a:lnSpc>
            </a:pPr>
            <a:r>
              <a:rPr lang="en-US" altLang="en-US" dirty="0"/>
              <a:t>Establish common understanding of customer requirements between the customer and the software project </a:t>
            </a:r>
          </a:p>
          <a:p>
            <a:pPr marL="404813" lvl="1">
              <a:lnSpc>
                <a:spcPct val="90000"/>
              </a:lnSpc>
            </a:pPr>
            <a:r>
              <a:rPr lang="en-US" altLang="en-US" dirty="0"/>
              <a:t>Requirements is basis for planning and managing the software project</a:t>
            </a:r>
          </a:p>
          <a:p>
            <a:pPr marL="404813"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Project Planning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Establish reasonable plans for performing the software engineering activities and for managing the software project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2 KPAs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615440"/>
            <a:ext cx="10363200" cy="449127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Project Tracking and Oversight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Establish adequate visibility into actual progress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Take effective actions when project’s performance deviates significantly from planned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Subcontract Management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Manage projects outsourced to subcontractors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Quality Assurance</a:t>
            </a:r>
          </a:p>
          <a:p>
            <a:pPr marL="284163" lvl="1">
              <a:lnSpc>
                <a:spcPct val="90000"/>
              </a:lnSpc>
            </a:pPr>
            <a:r>
              <a:rPr lang="en-US" altLang="en-US" dirty="0"/>
              <a:t>Provide management with appropriate visibility into process being used by the software projects work products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0560" y="1727200"/>
            <a:ext cx="9946640" cy="4379518"/>
          </a:xfrm>
        </p:spPr>
        <p:txBody>
          <a:bodyPr/>
          <a:lstStyle/>
          <a:p>
            <a:r>
              <a:rPr lang="en-US" altLang="en-US" sz="2800" dirty="0"/>
              <a:t>Organization Process Focus</a:t>
            </a:r>
          </a:p>
          <a:p>
            <a:pPr lvl="1"/>
            <a:r>
              <a:rPr lang="en-US" altLang="en-US" dirty="0"/>
              <a:t>Establish organizational responsibility for software process activities that improve the organization’s overall software process capability</a:t>
            </a:r>
          </a:p>
          <a:p>
            <a:r>
              <a:rPr lang="en-US" altLang="en-US" sz="2800" dirty="0"/>
              <a:t>Organization Process Definition</a:t>
            </a:r>
          </a:p>
          <a:p>
            <a:pPr lvl="1"/>
            <a:r>
              <a:rPr lang="en-US" altLang="en-US" dirty="0"/>
              <a:t>Develop and maintain a usable set of software process assets</a:t>
            </a:r>
          </a:p>
          <a:p>
            <a:pPr lvl="2"/>
            <a:r>
              <a:rPr lang="en-US" altLang="en-US" sz="2000" dirty="0"/>
              <a:t>stable foundation that can be established</a:t>
            </a:r>
          </a:p>
          <a:p>
            <a:pPr lvl="2"/>
            <a:r>
              <a:rPr lang="en-US" altLang="en-US" sz="2000" dirty="0"/>
              <a:t>basis for defining meaningful data for quantitative process management</a:t>
            </a:r>
          </a:p>
          <a:p>
            <a:endParaRPr lang="en-US" alt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7040" y="1056641"/>
            <a:ext cx="10170160" cy="505007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Training Program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Develop skills and knowledge so that individual can perform their roles effectively and efficiently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Organizational responsibility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Needs identified by project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Integrated Software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Integrated engineering and management activities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Engineering and management processes are custom-made from the organizational standard processes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Modifying based on business environment and project needs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1280" y="1239520"/>
            <a:ext cx="10535920" cy="48671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Product Engineering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technical activities of the project are well defined (SDLC)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correct, consistent work products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Intergroup Coordination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Software engineering groups participate actively with other groups 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Peer Reviews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early defect detection and removal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better understanding of the products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implemented with inspections, walkthroughs,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4 KPAs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1440" y="1270000"/>
            <a:ext cx="10525760" cy="4836718"/>
          </a:xfrm>
        </p:spPr>
        <p:txBody>
          <a:bodyPr/>
          <a:lstStyle/>
          <a:p>
            <a:r>
              <a:rPr lang="en-US" altLang="en-US" sz="2800" dirty="0"/>
              <a:t>Quantitative Process Management</a:t>
            </a:r>
          </a:p>
          <a:p>
            <a:pPr lvl="1"/>
            <a:r>
              <a:rPr lang="en-US" altLang="en-US" dirty="0"/>
              <a:t>control process performance quantitatively</a:t>
            </a:r>
          </a:p>
          <a:p>
            <a:pPr lvl="1"/>
            <a:r>
              <a:rPr lang="en-US" altLang="en-US" dirty="0"/>
              <a:t>actual results from following a software process</a:t>
            </a:r>
          </a:p>
          <a:p>
            <a:pPr lvl="1"/>
            <a:r>
              <a:rPr lang="en-US" altLang="en-US" dirty="0"/>
              <a:t>focus on identifying and correcting special causes of variation with respect to a baseline process</a:t>
            </a:r>
          </a:p>
          <a:p>
            <a:r>
              <a:rPr lang="en-US" altLang="en-US" sz="2800" dirty="0"/>
              <a:t>Software Quality Management</a:t>
            </a:r>
          </a:p>
          <a:p>
            <a:pPr lvl="1"/>
            <a:r>
              <a:rPr lang="en-US" altLang="en-US" dirty="0"/>
              <a:t>quantitative understanding of software quality</a:t>
            </a:r>
          </a:p>
          <a:p>
            <a:pPr lvl="2"/>
            <a:r>
              <a:rPr lang="en-US" altLang="en-US" sz="2000" dirty="0"/>
              <a:t>products</a:t>
            </a:r>
          </a:p>
          <a:p>
            <a:pPr lvl="2"/>
            <a:r>
              <a:rPr lang="en-US" altLang="en-US" sz="2000" dirty="0"/>
              <a:t>process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5 KPAs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5280" y="1747520"/>
            <a:ext cx="10281920" cy="43591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Process Change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continuous process improvement to improve quality, increase productivity, decrease cycle time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Technology Change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identify and transfer beneficial new technologies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tools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methods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processes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Defect Prevention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causal analysis of defects to prevent recurrence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07703" y="856104"/>
            <a:ext cx="6827009" cy="680825"/>
          </a:xfrm>
        </p:spPr>
        <p:txBody>
          <a:bodyPr/>
          <a:lstStyle/>
          <a:p>
            <a:r>
              <a:rPr lang="en-US" altLang="en-US" b="1" dirty="0"/>
              <a:t>Why measure software and software process?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7680" y="1536929"/>
            <a:ext cx="11582400" cy="50252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Obtain data that helps us to better control</a:t>
            </a:r>
          </a:p>
          <a:p>
            <a:r>
              <a:rPr lang="en-US" altLang="en-US" dirty="0"/>
              <a:t>schedule</a:t>
            </a:r>
          </a:p>
          <a:p>
            <a:r>
              <a:rPr lang="en-US" altLang="en-US" dirty="0"/>
              <a:t>cost</a:t>
            </a:r>
          </a:p>
          <a:p>
            <a:r>
              <a:rPr lang="en-US" altLang="en-US" dirty="0"/>
              <a:t>quality of software products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UOL_Awai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L_Awais" id="{7BAF8740-C4A7-4568-96B7-0DB2FAE95DF0}" vid="{3F91DCA7-FD74-407E-ACB8-92DAA61E13F2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2161</TotalTime>
  <Words>2234</Words>
  <Application>Microsoft Office PowerPoint</Application>
  <PresentationFormat>Widescreen</PresentationFormat>
  <Paragraphs>285</Paragraphs>
  <Slides>31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Arvo</vt:lpstr>
      <vt:lpstr>Calibri</vt:lpstr>
      <vt:lpstr>Corbel</vt:lpstr>
      <vt:lpstr>Monotype Sorts</vt:lpstr>
      <vt:lpstr>Roboto Condensed</vt:lpstr>
      <vt:lpstr>Roboto Condensed Light</vt:lpstr>
      <vt:lpstr>Times New Roman</vt:lpstr>
      <vt:lpstr>Wingdings</vt:lpstr>
      <vt:lpstr>UOL_Awais</vt:lpstr>
      <vt:lpstr>Parallax</vt:lpstr>
      <vt:lpstr>Image</vt:lpstr>
      <vt:lpstr>Capability Maturity Model    Advanced Software Engineering  </vt:lpstr>
      <vt:lpstr>What is CMM?</vt:lpstr>
      <vt:lpstr>CMM</vt:lpstr>
      <vt:lpstr>Overview of the Capability Maturity Model (CMM)</vt:lpstr>
      <vt:lpstr>SEI CMM (Software Engineering Institute – Capability Maturity Model)</vt:lpstr>
      <vt:lpstr>Purpose of the Capability Maturity Model (CMM)</vt:lpstr>
      <vt:lpstr>Process Maturity Concepts</vt:lpstr>
      <vt:lpstr>Process Maturity Concepts</vt:lpstr>
      <vt:lpstr>What are the CMM Levels?</vt:lpstr>
      <vt:lpstr>Level 1: Initial (AKA Chaotic)</vt:lpstr>
      <vt:lpstr>Level 2: Repeatable</vt:lpstr>
      <vt:lpstr>Level 3: Defined</vt:lpstr>
      <vt:lpstr>Level 4: Managed</vt:lpstr>
      <vt:lpstr>Pareto chart</vt:lpstr>
      <vt:lpstr>Fishbone Diagram</vt:lpstr>
      <vt:lpstr>PowerPoint Presentation</vt:lpstr>
      <vt:lpstr>Level 5: Optimizing</vt:lpstr>
      <vt:lpstr>Levels of CMM</vt:lpstr>
      <vt:lpstr>Characteristics of CMM</vt:lpstr>
      <vt:lpstr>Applicability of SEI CMM to organizations</vt:lpstr>
      <vt:lpstr>Internal Structure to Maturity Levels</vt:lpstr>
      <vt:lpstr>PowerPoint Presentation</vt:lpstr>
      <vt:lpstr>PowerPoint Presentation</vt:lpstr>
      <vt:lpstr>Level 2 KPAs</vt:lpstr>
      <vt:lpstr>Level 2 KPAs</vt:lpstr>
      <vt:lpstr>Level 3 KPAs</vt:lpstr>
      <vt:lpstr>Level 3 KPAs</vt:lpstr>
      <vt:lpstr>Level 3 KPAs</vt:lpstr>
      <vt:lpstr>Level 4 KPAs</vt:lpstr>
      <vt:lpstr>Level 5 KPAs</vt:lpstr>
      <vt:lpstr>Why measure software and software process?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Awais shah</dc:creator>
  <cp:lastModifiedBy>shehla.saeed@cs.uol.edu.pk</cp:lastModifiedBy>
  <cp:revision>121</cp:revision>
  <dcterms:created xsi:type="dcterms:W3CDTF">2018-01-25T10:58:35Z</dcterms:created>
  <dcterms:modified xsi:type="dcterms:W3CDTF">2026-05-19T09:50:24Z</dcterms:modified>
</cp:coreProperties>
</file>
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12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58" r:id="rId4"/>
    <p:sldId id="276" r:id="rId5"/>
    <p:sldId id="259" r:id="rId6"/>
    <p:sldId id="278" r:id="rId7"/>
    <p:sldId id="279" r:id="rId8"/>
    <p:sldId id="280" r:id="rId9"/>
    <p:sldId id="281" r:id="rId10"/>
    <p:sldId id="282" r:id="rId11"/>
    <p:sldId id="260" r:id="rId12"/>
    <p:sldId id="283" r:id="rId13"/>
    <p:sldId id="284" r:id="rId14"/>
    <p:sldId id="285" r:id="rId15"/>
    <p:sldId id="261" r:id="rId16"/>
    <p:sldId id="262" r:id="rId17"/>
    <p:sldId id="263" r:id="rId18"/>
    <p:sldId id="264" r:id="rId19"/>
    <p:sldId id="287" r:id="rId20"/>
    <p:sldId id="286" r:id="rId21"/>
    <p:sldId id="266" r:id="rId22"/>
    <p:sldId id="267" r:id="rId23"/>
    <p:sldId id="268" r:id="rId24"/>
    <p:sldId id="269" r:id="rId25"/>
    <p:sldId id="270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72" r:id="rId35"/>
    <p:sldId id="297" r:id="rId36"/>
    <p:sldId id="298" r:id="rId37"/>
    <p:sldId id="299" r:id="rId38"/>
    <p:sldId id="300" r:id="rId39"/>
    <p:sldId id="302" r:id="rId40"/>
    <p:sldId id="301" r:id="rId41"/>
    <p:sldId id="273" r:id="rId42"/>
    <p:sldId id="274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35" autoAdjust="0"/>
  </p:normalViewPr>
  <p:slideViewPr>
    <p:cSldViewPr snapToGrid="0" snapToObjects="1">
      <p:cViewPr>
        <p:scale>
          <a:sx n="78" d="100"/>
          <a:sy n="78" d="100"/>
        </p:scale>
        <p:origin x="159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D398-4568-455B-9CA7-E1AEAABF51F8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B06D6-CE52-4045-9417-6BFD2B82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3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maintenance means: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“Changing or improving software after it has been delivered and used by users.”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93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4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35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“Regression testing checks whether old features still work correctly after changes are made.”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0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1. Fixing a Software Bug</a:t>
            </a:r>
          </a:p>
          <a:p>
            <a:r>
              <a:rPr lang="en-US" altLang="en-US" dirty="0" smtClean="0"/>
              <a:t>A student reports that the “Submit” button in an online assignment portal does nothing.</a:t>
            </a:r>
            <a:br>
              <a:rPr lang="en-US" altLang="en-US" dirty="0" smtClean="0"/>
            </a:br>
            <a:r>
              <a:rPr lang="en-US" altLang="en-US" dirty="0" smtClean="0"/>
              <a:t>Developers investigate and correct the faulty event-handler code.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2. Repairing a Crashed Server</a:t>
            </a:r>
          </a:p>
          <a:p>
            <a:r>
              <a:rPr lang="en-US" altLang="en-US" dirty="0" smtClean="0"/>
              <a:t>A university library system stops responding.</a:t>
            </a:r>
            <a:br>
              <a:rPr lang="en-US" altLang="en-US" dirty="0" smtClean="0"/>
            </a:br>
            <a:r>
              <a:rPr lang="en-US" altLang="en-US" dirty="0" smtClean="0"/>
              <a:t>The IT team restarts the server, replaces a corrupted configuration file, and restores normal operation.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3. Patching an Error in a Database Query</a:t>
            </a:r>
          </a:p>
          <a:p>
            <a:r>
              <a:rPr lang="en-US" altLang="en-US" dirty="0" smtClean="0"/>
              <a:t>The “Search Books” function shows wrong results due to a faulty SQL JOIN.</a:t>
            </a:r>
            <a:br>
              <a:rPr lang="en-US" altLang="en-US" dirty="0" smtClean="0"/>
            </a:br>
            <a:r>
              <a:rPr lang="en-US" altLang="en-US" dirty="0" smtClean="0"/>
              <a:t>Developers rewrite the query to correct the logic.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4. Resolving an App Crash</a:t>
            </a:r>
          </a:p>
          <a:p>
            <a:r>
              <a:rPr lang="en-US" altLang="en-US" dirty="0" smtClean="0"/>
              <a:t>The mobile app crashes whenever the user tries to view analytics.</a:t>
            </a:r>
            <a:br>
              <a:rPr lang="en-US" altLang="en-US" dirty="0" smtClean="0"/>
            </a:br>
            <a:r>
              <a:rPr lang="en-US" altLang="en-US" dirty="0" smtClean="0"/>
              <a:t>The issue is traced to an unhandled null pointer; the code is updated to fix it.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5. Fixing a Broken API Endpoint</a:t>
            </a:r>
          </a:p>
          <a:p>
            <a:r>
              <a:rPr lang="en-US" altLang="en-US" dirty="0" smtClean="0"/>
              <a:t>A parking system’s mobile app shows “no data” because the backend API URL returns a 500 error.</a:t>
            </a:r>
            <a:br>
              <a:rPr lang="en-US" altLang="en-US" dirty="0" smtClean="0"/>
            </a:br>
            <a:r>
              <a:rPr lang="en-US" altLang="en-US" dirty="0" smtClean="0"/>
              <a:t>Engineers debug the API, correct the function causing the crash, and redeploy.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6. Correcting Wrong Output Values</a:t>
            </a:r>
          </a:p>
          <a:p>
            <a:r>
              <a:rPr lang="en-US" altLang="en-US" dirty="0" smtClean="0"/>
              <a:t>In a billing system, customer invoices show incorrect totals due to a calculation error.</a:t>
            </a:r>
            <a:br>
              <a:rPr lang="en-US" altLang="en-US" dirty="0" smtClean="0"/>
            </a:br>
            <a:r>
              <a:rPr lang="en-US" altLang="en-US" dirty="0" smtClean="0"/>
              <a:t>The arithmetic logic in the code is fixed.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7. Replacing a Faulty Hardware Component</a:t>
            </a:r>
          </a:p>
          <a:p>
            <a:r>
              <a:rPr lang="en-US" altLang="en-US" dirty="0" smtClean="0"/>
              <a:t>A drive in the server RAID array fails.</a:t>
            </a:r>
            <a:br>
              <a:rPr lang="en-US" altLang="en-US" dirty="0" smtClean="0"/>
            </a:br>
            <a:r>
              <a:rPr lang="en-US" altLang="en-US" dirty="0" smtClean="0"/>
              <a:t>The administrator replaces the faulty disk and rebuilds the array.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8. Fixing a Security Issue After Detection</a:t>
            </a:r>
          </a:p>
          <a:p>
            <a:r>
              <a:rPr lang="en-US" altLang="en-US" dirty="0" smtClean="0"/>
              <a:t>A vulnerability (e.g., SQL injection) is discovered in the login system.</a:t>
            </a:r>
            <a:br>
              <a:rPr lang="en-US" altLang="en-US" dirty="0" smtClean="0"/>
            </a:br>
            <a:r>
              <a:rPr lang="en-US" altLang="en-US" dirty="0" smtClean="0"/>
              <a:t>Developers patch the code and update input validation.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9. Repairing a System That Fails During Update</a:t>
            </a:r>
          </a:p>
          <a:p>
            <a:r>
              <a:rPr lang="en-US" altLang="en-US" dirty="0" smtClean="0"/>
              <a:t>A library management system crashes after applying a new theme.</a:t>
            </a:r>
            <a:br>
              <a:rPr lang="en-US" altLang="en-US" dirty="0" smtClean="0"/>
            </a:br>
            <a:r>
              <a:rPr lang="en-US" altLang="en-US" dirty="0" smtClean="0"/>
              <a:t>The team rolls back the update and fixes the corrupted UI files.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10. Fixing a Network Issue</a:t>
            </a:r>
          </a:p>
          <a:p>
            <a:r>
              <a:rPr lang="en-US" altLang="en-US" dirty="0" smtClean="0"/>
              <a:t>Users can’t access the LMS due to a misconfigured router.</a:t>
            </a:r>
            <a:br>
              <a:rPr lang="en-US" altLang="en-US" dirty="0" smtClean="0"/>
            </a:br>
            <a:r>
              <a:rPr lang="en-US" altLang="en-US" dirty="0" smtClean="0"/>
              <a:t>The network team corrects the routing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2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1.Updating Software to Work on a New Operating System</a:t>
            </a:r>
          </a:p>
          <a:p>
            <a:r>
              <a:rPr lang="en-US" altLang="en-US" dirty="0" smtClean="0"/>
              <a:t>A library management system is upgraded so it works on </a:t>
            </a:r>
            <a:r>
              <a:rPr lang="en-US" altLang="en-US" b="1" dirty="0" smtClean="0"/>
              <a:t>Windows 11</a:t>
            </a:r>
            <a:r>
              <a:rPr lang="en-US" altLang="en-US" dirty="0" smtClean="0"/>
              <a:t> instead of Windows 7.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2. Migrating a System to Cloud Infrastructure</a:t>
            </a:r>
          </a:p>
          <a:p>
            <a:r>
              <a:rPr lang="en-US" altLang="en-US" dirty="0" smtClean="0"/>
              <a:t>A university shifts its student portal from a local server to </a:t>
            </a:r>
            <a:r>
              <a:rPr lang="en-US" altLang="en-US" b="1" dirty="0" smtClean="0"/>
              <a:t>AWS or Azure</a:t>
            </a:r>
            <a:r>
              <a:rPr lang="en-US" altLang="en-US" dirty="0" smtClean="0"/>
              <a:t>, and the system is modified to run properly in the cloud.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3. Adding Support for New Browser Versions</a:t>
            </a:r>
          </a:p>
          <a:p>
            <a:r>
              <a:rPr lang="en-US" altLang="en-US" dirty="0" smtClean="0"/>
              <a:t>An attendance management system is updated to work on the latest versions of </a:t>
            </a:r>
            <a:r>
              <a:rPr lang="en-US" altLang="en-US" b="1" dirty="0" smtClean="0"/>
              <a:t>Chrome, Edge, and Firefox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4. Adjusting an App for New Mobile OS</a:t>
            </a:r>
          </a:p>
          <a:p>
            <a:r>
              <a:rPr lang="en-US" altLang="en-US" dirty="0" smtClean="0"/>
              <a:t>A smart-parking mobile app is modified to remain compatible with </a:t>
            </a:r>
            <a:r>
              <a:rPr lang="en-US" altLang="en-US" b="1" dirty="0" smtClean="0"/>
              <a:t>Android 15 or iOS 19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5. Updating Software Due to New Government Regulations</a:t>
            </a:r>
          </a:p>
          <a:p>
            <a:r>
              <a:rPr lang="en-US" altLang="en-US" dirty="0" smtClean="0"/>
              <a:t>A payroll system is modified to apply a new </a:t>
            </a:r>
            <a:r>
              <a:rPr lang="en-US" altLang="en-US" b="1" dirty="0" smtClean="0"/>
              <a:t>tax rate</a:t>
            </a:r>
            <a:r>
              <a:rPr lang="en-US" altLang="en-US" dirty="0" smtClean="0"/>
              <a:t> or </a:t>
            </a:r>
            <a:r>
              <a:rPr lang="en-US" altLang="en-US" b="1" dirty="0" smtClean="0"/>
              <a:t>salary structure</a:t>
            </a:r>
            <a:r>
              <a:rPr lang="en-US" altLang="en-US" dirty="0" smtClean="0"/>
              <a:t> introduced by the government.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6. Changing Database Engine or Version</a:t>
            </a:r>
          </a:p>
          <a:p>
            <a:r>
              <a:rPr lang="en-US" altLang="en-US" dirty="0" smtClean="0"/>
              <a:t>A system is updated to work with </a:t>
            </a:r>
            <a:r>
              <a:rPr lang="en-US" altLang="en-US" b="1" dirty="0" smtClean="0"/>
              <a:t>MySQL 9.0</a:t>
            </a:r>
            <a:r>
              <a:rPr lang="en-US" altLang="en-US" dirty="0" smtClean="0"/>
              <a:t> after support for older versions is discontinued.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7. Enabling Support for New Hardware</a:t>
            </a:r>
          </a:p>
          <a:p>
            <a:r>
              <a:rPr lang="en-US" altLang="en-US" dirty="0" smtClean="0"/>
              <a:t>A parking system is updated to work with </a:t>
            </a:r>
            <a:r>
              <a:rPr lang="en-US" altLang="en-US" b="1" dirty="0" smtClean="0"/>
              <a:t>new sensors or RFID scanners</a:t>
            </a:r>
            <a:r>
              <a:rPr lang="en-US" altLang="en-US" dirty="0" smtClean="0"/>
              <a:t> installed in parking lots.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8. Modifying a System for New Network Protocols</a:t>
            </a:r>
          </a:p>
          <a:p>
            <a:r>
              <a:rPr lang="en-US" altLang="en-US" dirty="0" smtClean="0"/>
              <a:t>A system is updated when the organization shifts from </a:t>
            </a:r>
            <a:r>
              <a:rPr lang="en-US" altLang="en-US" b="1" dirty="0" smtClean="0"/>
              <a:t>IPv4 to IPv6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9. Updating APIs After External Changes</a:t>
            </a:r>
          </a:p>
          <a:p>
            <a:r>
              <a:rPr lang="en-US" altLang="en-US" dirty="0" smtClean="0"/>
              <a:t>A mobile app is updated because </a:t>
            </a:r>
            <a:r>
              <a:rPr lang="en-US" altLang="en-US" b="1" dirty="0" smtClean="0"/>
              <a:t>Google Maps API</a:t>
            </a:r>
            <a:r>
              <a:rPr lang="en-US" altLang="en-US" dirty="0" smtClean="0"/>
              <a:t> changed its structure, requiring new request formats.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10. Making a Website Responsive for Mobile</a:t>
            </a:r>
          </a:p>
          <a:p>
            <a:r>
              <a:rPr lang="en-US" altLang="en-US" dirty="0" smtClean="0"/>
              <a:t>A previously desktop-only library website is redesigned to support </a:t>
            </a:r>
            <a:r>
              <a:rPr lang="en-US" altLang="en-US" b="1" dirty="0" smtClean="0"/>
              <a:t>mobile and tablet</a:t>
            </a:r>
            <a:r>
              <a:rPr lang="en-US" altLang="en-US" dirty="0" smtClean="0"/>
              <a:t> interfaces.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11. Adapting to New Security Policies</a:t>
            </a:r>
          </a:p>
          <a:p>
            <a:r>
              <a:rPr lang="en-US" altLang="en-US" dirty="0" smtClean="0"/>
              <a:t>A university enforces </a:t>
            </a:r>
            <a:r>
              <a:rPr lang="en-US" altLang="en-US" b="1" dirty="0" smtClean="0"/>
              <a:t>two-factor authentication</a:t>
            </a:r>
            <a:r>
              <a:rPr lang="en-US" altLang="en-US" dirty="0" smtClean="0"/>
              <a:t>, so the LMS login module is updated to support it.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12. Changing File Formats</a:t>
            </a:r>
          </a:p>
          <a:p>
            <a:r>
              <a:rPr lang="en-US" altLang="en-US" dirty="0" smtClean="0"/>
              <a:t>A system is updated to import/export </a:t>
            </a:r>
            <a:r>
              <a:rPr lang="en-US" altLang="en-US" b="1" dirty="0" smtClean="0"/>
              <a:t>JSON instead of XML</a:t>
            </a:r>
            <a:r>
              <a:rPr lang="en-US" altLang="en-US" dirty="0" smtClean="0"/>
              <a:t> because the organization changed its data standard.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83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Improving System Performance</a:t>
            </a:r>
          </a:p>
          <a:p>
            <a:r>
              <a:rPr lang="en-US" altLang="en-US" dirty="0" smtClean="0"/>
              <a:t>Optimizing a library management system’s search algorithm so books load </a:t>
            </a:r>
            <a:r>
              <a:rPr lang="en-US" altLang="en-US" b="1" dirty="0" smtClean="0"/>
              <a:t>faster</a:t>
            </a:r>
            <a:r>
              <a:rPr lang="en-US" altLang="en-US" dirty="0" smtClean="0"/>
              <a:t>, even though the old one worked fine.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2. Enhancing the User Interface (UI)</a:t>
            </a:r>
          </a:p>
          <a:p>
            <a:r>
              <a:rPr lang="en-US" altLang="en-US" dirty="0" smtClean="0"/>
              <a:t>Redesigning the dashboard layout of a university portal to make it </a:t>
            </a:r>
            <a:r>
              <a:rPr lang="en-US" altLang="en-US" b="1" dirty="0" smtClean="0"/>
              <a:t>more user-friendly</a:t>
            </a:r>
            <a:r>
              <a:rPr lang="en-US" altLang="en-US" dirty="0" smtClean="0"/>
              <a:t> and attractive.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3. Adding New Features Requested by Users</a:t>
            </a:r>
          </a:p>
          <a:p>
            <a:r>
              <a:rPr lang="en-US" altLang="en-US" dirty="0" smtClean="0"/>
              <a:t>Students request a </a:t>
            </a:r>
            <a:r>
              <a:rPr lang="en-US" altLang="en-US" b="1" dirty="0" smtClean="0"/>
              <a:t>dark mode</a:t>
            </a:r>
            <a:r>
              <a:rPr lang="en-US" altLang="en-US" dirty="0" smtClean="0"/>
              <a:t>, so the LMS is updated to include this new feature.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4. Increasing System Efficiency</a:t>
            </a:r>
          </a:p>
          <a:p>
            <a:r>
              <a:rPr lang="en-US" altLang="en-US" dirty="0" smtClean="0"/>
              <a:t>Refactoring code to reduce memory usage and improve </a:t>
            </a:r>
            <a:r>
              <a:rPr lang="en-US" altLang="en-US" b="1" dirty="0" smtClean="0"/>
              <a:t>overall system speed</a:t>
            </a:r>
            <a:r>
              <a:rPr lang="en-US" altLang="en-US" dirty="0" smtClean="0"/>
              <a:t>, even without any errors.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5. Extending Functionality</a:t>
            </a:r>
          </a:p>
          <a:p>
            <a:r>
              <a:rPr lang="en-US" altLang="en-US" dirty="0" smtClean="0"/>
              <a:t>Adding </a:t>
            </a:r>
            <a:r>
              <a:rPr lang="en-US" altLang="en-US" b="1" dirty="0" smtClean="0"/>
              <a:t>advanced analytics</a:t>
            </a:r>
            <a:r>
              <a:rPr lang="en-US" altLang="en-US" dirty="0" smtClean="0"/>
              <a:t> to your Smart Parking System so city managers can see monthly trends and </a:t>
            </a:r>
            <a:r>
              <a:rPr lang="en-US" altLang="en-US" dirty="0" err="1" smtClean="0"/>
              <a:t>heatmaps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6. Improving Security (Proactively)</a:t>
            </a:r>
          </a:p>
          <a:p>
            <a:r>
              <a:rPr lang="en-US" altLang="en-US" dirty="0" smtClean="0"/>
              <a:t>Implementing </a:t>
            </a:r>
            <a:r>
              <a:rPr lang="en-US" altLang="en-US" b="1" dirty="0" smtClean="0"/>
              <a:t>stronger password rules</a:t>
            </a:r>
            <a:r>
              <a:rPr lang="en-US" altLang="en-US" dirty="0" smtClean="0"/>
              <a:t> or </a:t>
            </a:r>
            <a:r>
              <a:rPr lang="en-US" altLang="en-US" b="1" dirty="0" smtClean="0"/>
              <a:t>encryption upgrades</a:t>
            </a:r>
            <a:r>
              <a:rPr lang="en-US" altLang="en-US" dirty="0" smtClean="0"/>
              <a:t> even though no attack has occurred.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7. Enhancing Reports</a:t>
            </a:r>
          </a:p>
          <a:p>
            <a:r>
              <a:rPr lang="en-US" altLang="en-US" dirty="0" smtClean="0"/>
              <a:t>Adding new report formats (e.g., monthly, quarterly) that library staff requested to improve their workflow.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8. Upgrading the User Experience</a:t>
            </a:r>
          </a:p>
          <a:p>
            <a:r>
              <a:rPr lang="en-US" altLang="en-US" dirty="0" smtClean="0"/>
              <a:t>Adding </a:t>
            </a:r>
            <a:r>
              <a:rPr lang="en-US" altLang="en-US" b="1" dirty="0" smtClean="0"/>
              <a:t>auto-suggestions</a:t>
            </a:r>
            <a:r>
              <a:rPr lang="en-US" altLang="en-US" dirty="0" smtClean="0"/>
              <a:t> in the search bar to speed up searches.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9. Increasing Compatibility</a:t>
            </a:r>
          </a:p>
          <a:p>
            <a:r>
              <a:rPr lang="en-US" altLang="en-US" dirty="0" smtClean="0"/>
              <a:t>Making the app support </a:t>
            </a:r>
            <a:r>
              <a:rPr lang="en-US" altLang="en-US" b="1" dirty="0" smtClean="0"/>
              <a:t>multiple languages</a:t>
            </a:r>
            <a:r>
              <a:rPr lang="en-US" altLang="en-US" dirty="0" smtClean="0"/>
              <a:t> to improve accessibility for different users.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10. Refining Data Validation</a:t>
            </a:r>
          </a:p>
          <a:p>
            <a:r>
              <a:rPr lang="en-US" altLang="en-US" dirty="0" smtClean="0"/>
              <a:t>Improving form validations to reduce incorrect entries, though the old validations worked.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11. Adding Help &amp; Tutorial Sections</a:t>
            </a:r>
          </a:p>
          <a:p>
            <a:r>
              <a:rPr lang="en-US" altLang="en-US" dirty="0" smtClean="0"/>
              <a:t>Including interactive guides or tooltips to improve usability for new users.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12. Improving Scalability</a:t>
            </a:r>
          </a:p>
          <a:p>
            <a:r>
              <a:rPr lang="en-US" altLang="en-US" dirty="0" smtClean="0"/>
              <a:t>Rewriting parts of the code so the system can handle </a:t>
            </a:r>
            <a:r>
              <a:rPr lang="en-US" altLang="en-US" b="1" dirty="0" smtClean="0"/>
              <a:t>more users</a:t>
            </a:r>
            <a:r>
              <a:rPr lang="en-US" altLang="en-US" dirty="0" smtClean="0"/>
              <a:t> during peak times.</a:t>
            </a:r>
          </a:p>
          <a:p>
            <a:pPr eaLnBrk="1" hangingPunct="1"/>
            <a:endParaRPr lang="sv-SE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1. Regular Code Refactoring</a:t>
            </a:r>
          </a:p>
          <a:p>
            <a:r>
              <a:rPr lang="en-US" altLang="en-US" dirty="0" smtClean="0"/>
              <a:t>Cleaning and reorganizing code to avoid future bugs and make the system easier to maintain.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2. Updating Libraries and Frameworks</a:t>
            </a:r>
          </a:p>
          <a:p>
            <a:r>
              <a:rPr lang="en-US" altLang="en-US" dirty="0" smtClean="0"/>
              <a:t>Upgrading outdated dependencies (e.g., React, Django, .NET, Java libraries) to prevent future security or compatibility issues.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3. Performing Routine Backups</a:t>
            </a:r>
          </a:p>
          <a:p>
            <a:r>
              <a:rPr lang="en-US" altLang="en-US" dirty="0" smtClean="0"/>
              <a:t>Scheduling daily or weekly backups of the Library Management System database to avoid data loss.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4. Running Security Scans and Fixing Vulnerabilities</a:t>
            </a:r>
          </a:p>
          <a:p>
            <a:r>
              <a:rPr lang="en-US" altLang="en-US" dirty="0" smtClean="0"/>
              <a:t>Using tools like security scanners to detect potential risks and patching them </a:t>
            </a:r>
            <a:r>
              <a:rPr lang="en-US" altLang="en-US" b="1" dirty="0" smtClean="0"/>
              <a:t>before</a:t>
            </a:r>
            <a:r>
              <a:rPr lang="en-US" altLang="en-US" dirty="0" smtClean="0"/>
              <a:t> they are exploited.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5. Database Optimization</a:t>
            </a:r>
          </a:p>
          <a:p>
            <a:r>
              <a:rPr lang="en-US" altLang="en-US" dirty="0" smtClean="0"/>
              <a:t>Re-indexing the database, removing fragmentation, and optimizing queries to prevent future slowdowns.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6. Cleaning Up Logs and Temporary Files</a:t>
            </a:r>
          </a:p>
          <a:p>
            <a:r>
              <a:rPr lang="en-US" altLang="en-US" dirty="0" smtClean="0"/>
              <a:t>Deleting unnecessary logs or temp files so they don’t overload the server later.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7. Hardware Maintenance</a:t>
            </a:r>
          </a:p>
          <a:p>
            <a:r>
              <a:rPr lang="en-US" altLang="en-US" dirty="0" smtClean="0"/>
              <a:t>Replacing old hard drives or increasing server cooling </a:t>
            </a:r>
            <a:r>
              <a:rPr lang="en-US" altLang="en-US" b="1" dirty="0" smtClean="0"/>
              <a:t>before</a:t>
            </a:r>
            <a:r>
              <a:rPr lang="en-US" altLang="en-US" dirty="0" smtClean="0"/>
              <a:t> failures occur.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8. Monitoring System Health</a:t>
            </a:r>
          </a:p>
          <a:p>
            <a:r>
              <a:rPr lang="en-US" altLang="en-US" dirty="0" smtClean="0"/>
              <a:t>Using monitoring tools (CPU, RAM, storage, network checks) to detect issues early and take preventive action.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9. Applying Security Patches Regularly</a:t>
            </a:r>
          </a:p>
          <a:p>
            <a:r>
              <a:rPr lang="en-US" altLang="en-US" dirty="0" smtClean="0"/>
              <a:t>Installing OS and application patches (e.g., Windows updates, Linux patches) to prevent future vulnerabilities.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10. Running Load Tests Before Peak Usage</a:t>
            </a:r>
          </a:p>
          <a:p>
            <a:r>
              <a:rPr lang="en-US" altLang="en-US" dirty="0" smtClean="0"/>
              <a:t>Testing the university portal before exam season to ensure it won’t crash when many students log in.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11. Reviewing Error Logs Regularly</a:t>
            </a:r>
          </a:p>
          <a:p>
            <a:r>
              <a:rPr lang="en-US" altLang="en-US" dirty="0" smtClean="0"/>
              <a:t>Checking logs to catch minor warnings before they grow into major failures.</a:t>
            </a:r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12. Creating Disaster Recovery Plans</a:t>
            </a:r>
          </a:p>
          <a:p>
            <a:r>
              <a:rPr lang="en-US" altLang="en-US" dirty="0" smtClean="0"/>
              <a:t>Preparing recovery procedures so the system can return to normal quickly in case of an outage.</a:t>
            </a:r>
          </a:p>
          <a:p>
            <a:pPr eaLnBrk="1" hangingPunct="1"/>
            <a:endParaRPr lang="sv-SE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4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Type</a:t>
            </a:r>
            <a:r>
              <a:rPr lang="en-US" dirty="0" smtClean="0"/>
              <a:t> identifies whether the change is corrective, adaptive, perfective, or preventive.</a:t>
            </a:r>
            <a:endParaRPr lang="en-US" b="1" dirty="0" smtClean="0"/>
          </a:p>
          <a:p>
            <a:r>
              <a:rPr lang="en-US" b="1" dirty="0" smtClean="0"/>
              <a:t>Impact</a:t>
            </a:r>
            <a:r>
              <a:rPr lang="en-US" dirty="0" smtClean="0"/>
              <a:t> measures how much of the system will be affected by the change. </a:t>
            </a:r>
          </a:p>
          <a:p>
            <a:r>
              <a:rPr lang="en-US" b="1" dirty="0" smtClean="0"/>
              <a:t>Urgency</a:t>
            </a:r>
            <a:r>
              <a:rPr lang="en-US" dirty="0" smtClean="0"/>
              <a:t> determines how quickly the change must be implemented. </a:t>
            </a:r>
          </a:p>
          <a:p>
            <a:r>
              <a:rPr lang="en-US" b="1" dirty="0" smtClean="0"/>
              <a:t>Risk</a:t>
            </a:r>
            <a:r>
              <a:rPr lang="en-US" dirty="0" smtClean="0"/>
              <a:t> evaluates the possibility of system failure, security issues, or negative effects after implementation. </a:t>
            </a:r>
          </a:p>
          <a:p>
            <a:r>
              <a:rPr lang="en-US" b="1" dirty="0" smtClean="0"/>
              <a:t>Complexity</a:t>
            </a:r>
            <a:r>
              <a:rPr lang="en-US" dirty="0" smtClean="0"/>
              <a:t> estimates the effort, time, and technical difficulty involved in making the change.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63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System crash during online transactions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Immediate fix required because business operations stop.</a:t>
            </a:r>
          </a:p>
          <a:p>
            <a:r>
              <a:rPr lang="en-US" b="1" dirty="0" smtClean="0"/>
              <a:t>Security vulnerability or hacking risk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Urgent patch needed to protect user data and prevent attacks.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Payment gateway not working in an e-commerce system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High priority because customers cannot make purchases. </a:t>
            </a:r>
          </a:p>
          <a:p>
            <a:r>
              <a:rPr lang="en-US" b="1" dirty="0" smtClean="0"/>
              <a:t>Hospital management system failing to display patient records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Critical issue affecting patient care and safety. </a:t>
            </a:r>
          </a:p>
          <a:p>
            <a:r>
              <a:rPr lang="en-US" b="1" dirty="0" smtClean="0"/>
              <a:t>Bug causing data loss or corruption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 Requires immediate attention to avoid permanent damage. </a:t>
            </a:r>
          </a:p>
          <a:p>
            <a:r>
              <a:rPr lang="en-US" b="1" dirty="0" smtClean="0"/>
              <a:t>Software failing after an operating system update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Adaptive urgent change needed for compatibility. </a:t>
            </a:r>
          </a:p>
          <a:p>
            <a:r>
              <a:rPr lang="en-US" b="1" dirty="0" smtClean="0"/>
              <a:t>Government regulation update requiring system modification before a deadline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Must be implemented quickly for legal compliance. </a:t>
            </a:r>
          </a:p>
          <a:p>
            <a:r>
              <a:rPr lang="en-US" b="1" dirty="0" smtClean="0"/>
              <a:t>Server performance issue causing website downtime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High urgency because users cannot access services.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Login/authentication failure for all users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Critical because no one can access the system. </a:t>
            </a:r>
          </a:p>
          <a:p>
            <a:r>
              <a:rPr lang="en-US" b="1" dirty="0" smtClean="0"/>
              <a:t>Banking app showing incorrect account balances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Immediate correction required due to financial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65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University portal works, but students cannot submit assignments before deadlines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Major functionality failure causing serious inconvenience. </a:t>
            </a:r>
          </a:p>
          <a:p>
            <a:r>
              <a:rPr lang="en-US" b="1" dirty="0" smtClean="0"/>
              <a:t>Hospital system is active, but doctors cannot access lab reports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Patient treatment may be delayed and could become dangerous.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Banking app opens normally, but money transfer feature is not working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Customers can view accounts but cannot perform important transactions. </a:t>
            </a:r>
          </a:p>
          <a:p>
            <a:r>
              <a:rPr lang="en-US" b="1" dirty="0" smtClean="0"/>
              <a:t>Smart Parking System displays incorrect available parking slots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Drivers are misdirected, causing traffic and user frustration. </a:t>
            </a:r>
          </a:p>
          <a:p>
            <a:r>
              <a:rPr lang="en-US" b="1" dirty="0" smtClean="0"/>
              <a:t>Company email server is extremely slow or partially unavailable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Communication continues with difficulty, but business operations suffer. </a:t>
            </a:r>
          </a:p>
          <a:p>
            <a:r>
              <a:rPr lang="en-US" b="1" dirty="0" smtClean="0"/>
              <a:t>Library Management System cannot process book returns properly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Records become inaccurate and penalties may be calculated incorrectly.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Frequent crashes in one important module of the software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The whole system is not down, but users face repeated interruptions. </a:t>
            </a:r>
          </a:p>
          <a:p>
            <a:r>
              <a:rPr lang="en-US" b="1" dirty="0" smtClean="0"/>
              <a:t>Payroll system calculates salaries incorrectly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Employees may receive wrong payments, creating financial and legal issues.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Website becomes extremely slow during high traffic hours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→ Users can still access it, but service quality is seriously 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64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Adding </a:t>
            </a:r>
            <a:r>
              <a:rPr lang="en-US" b="1" dirty="0" smtClean="0"/>
              <a:t>advanced search filters</a:t>
            </a:r>
            <a:r>
              <a:rPr lang="en-US" dirty="0" smtClean="0"/>
              <a:t> in a Library System (e.g., by author, year, category)</a:t>
            </a:r>
          </a:p>
          <a:p>
            <a:r>
              <a:rPr lang="en-US" dirty="0" smtClean="0"/>
              <a:t> Improving </a:t>
            </a:r>
            <a:r>
              <a:rPr lang="en-US" b="1" dirty="0" smtClean="0"/>
              <a:t>report formatting</a:t>
            </a:r>
            <a:r>
              <a:rPr lang="en-US" dirty="0" smtClean="0"/>
              <a:t> in a university portal </a:t>
            </a:r>
          </a:p>
          <a:p>
            <a:r>
              <a:rPr lang="en-US" dirty="0" smtClean="0"/>
              <a:t>Adding </a:t>
            </a:r>
            <a:r>
              <a:rPr lang="en-US" b="1" dirty="0" smtClean="0"/>
              <a:t>new optional features</a:t>
            </a:r>
            <a:r>
              <a:rPr lang="en-US" dirty="0" smtClean="0"/>
              <a:t> like book recommendations or </a:t>
            </a:r>
            <a:r>
              <a:rPr lang="en-US" dirty="0" err="1" smtClean="0"/>
              <a:t>wishlist</a:t>
            </a:r>
            <a:r>
              <a:rPr lang="en-US" dirty="0" smtClean="0"/>
              <a:t> </a:t>
            </a:r>
          </a:p>
          <a:p>
            <a:r>
              <a:rPr lang="en-US" dirty="0" smtClean="0"/>
              <a:t>Optimizing </a:t>
            </a:r>
            <a:r>
              <a:rPr lang="en-US" b="1" dirty="0" smtClean="0"/>
              <a:t>system performance</a:t>
            </a:r>
            <a:r>
              <a:rPr lang="en-US" dirty="0" smtClean="0"/>
              <a:t> (faster page loading in non-critical modules) </a:t>
            </a:r>
          </a:p>
          <a:p>
            <a:r>
              <a:rPr lang="en-US" dirty="0" smtClean="0"/>
              <a:t>Adding </a:t>
            </a:r>
            <a:r>
              <a:rPr lang="en-US" b="1" dirty="0" smtClean="0"/>
              <a:t>export options (PDF/Excel)</a:t>
            </a:r>
            <a:r>
              <a:rPr lang="en-US" dirty="0" smtClean="0"/>
              <a:t> for reports </a:t>
            </a:r>
          </a:p>
          <a:p>
            <a:r>
              <a:rPr lang="en-US" dirty="0" smtClean="0"/>
              <a:t>Enhancing </a:t>
            </a:r>
            <a:r>
              <a:rPr lang="en-US" b="1" dirty="0" smtClean="0"/>
              <a:t>dashboard design</a:t>
            </a:r>
            <a:r>
              <a:rPr lang="en-US" dirty="0" smtClean="0"/>
              <a:t> for better usability </a:t>
            </a:r>
          </a:p>
          <a:p>
            <a:r>
              <a:rPr lang="en-US" dirty="0" smtClean="0"/>
              <a:t>Adding </a:t>
            </a:r>
            <a:r>
              <a:rPr lang="en-US" b="1" dirty="0" smtClean="0"/>
              <a:t>multilingual support</a:t>
            </a:r>
            <a:r>
              <a:rPr lang="en-US" dirty="0" smtClean="0"/>
              <a:t> for wider user access</a:t>
            </a:r>
          </a:p>
          <a:p>
            <a:r>
              <a:rPr lang="en-US" dirty="0" smtClean="0"/>
              <a:t> Improving </a:t>
            </a:r>
            <a:r>
              <a:rPr lang="en-US" b="1" dirty="0" smtClean="0"/>
              <a:t>logging and monitoring tools</a:t>
            </a:r>
            <a:r>
              <a:rPr lang="en-US" dirty="0" smtClean="0"/>
              <a:t> for system maintenance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47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Fixing </a:t>
            </a:r>
            <a:r>
              <a:rPr lang="en-US" b="1" dirty="0" smtClean="0"/>
              <a:t>spelling mistakes or grammar errors</a:t>
            </a:r>
            <a:r>
              <a:rPr lang="en-US" dirty="0" smtClean="0"/>
              <a:t> in system text</a:t>
            </a:r>
          </a:p>
          <a:p>
            <a:r>
              <a:rPr lang="en-US" dirty="0" smtClean="0"/>
              <a:t> Adjusting </a:t>
            </a:r>
            <a:r>
              <a:rPr lang="en-US" b="1" dirty="0" smtClean="0"/>
              <a:t>alignment or spacing</a:t>
            </a:r>
            <a:r>
              <a:rPr lang="en-US" dirty="0" smtClean="0"/>
              <a:t> of interface elements </a:t>
            </a:r>
          </a:p>
          <a:p>
            <a:r>
              <a:rPr lang="en-US" dirty="0" smtClean="0"/>
              <a:t>Updating </a:t>
            </a:r>
            <a:r>
              <a:rPr lang="en-US" b="1" dirty="0" smtClean="0"/>
              <a:t>logo or theme colors</a:t>
            </a:r>
            <a:r>
              <a:rPr lang="en-US" dirty="0" smtClean="0"/>
              <a:t> without affecting functionality </a:t>
            </a:r>
          </a:p>
          <a:p>
            <a:r>
              <a:rPr lang="en-US" dirty="0" smtClean="0"/>
              <a:t>Minor </a:t>
            </a:r>
            <a:r>
              <a:rPr lang="en-US" b="1" dirty="0" smtClean="0"/>
              <a:t>UI layout adjustments</a:t>
            </a:r>
            <a:r>
              <a:rPr lang="en-US" dirty="0" smtClean="0"/>
              <a:t> (e.g., moving a label slightly) </a:t>
            </a:r>
          </a:p>
          <a:p>
            <a:r>
              <a:rPr lang="en-US" dirty="0" smtClean="0"/>
              <a:t>Changing </a:t>
            </a:r>
            <a:r>
              <a:rPr lang="en-US" b="1" dirty="0" smtClean="0"/>
              <a:t>welcome message text</a:t>
            </a:r>
            <a:r>
              <a:rPr lang="en-US" dirty="0" smtClean="0"/>
              <a:t> </a:t>
            </a:r>
          </a:p>
          <a:p>
            <a:r>
              <a:rPr lang="en-US" dirty="0" smtClean="0"/>
              <a:t>Updating </a:t>
            </a:r>
            <a:r>
              <a:rPr lang="en-US" b="1" dirty="0" smtClean="0"/>
              <a:t>icon styles</a:t>
            </a:r>
            <a:r>
              <a:rPr lang="en-US" dirty="0" smtClean="0"/>
              <a:t> for better appearance </a:t>
            </a:r>
          </a:p>
          <a:p>
            <a:r>
              <a:rPr lang="en-US" dirty="0" smtClean="0"/>
              <a:t>Small </a:t>
            </a:r>
            <a:r>
              <a:rPr lang="en-US" b="1" dirty="0" smtClean="0"/>
              <a:t>non-functional text edits</a:t>
            </a:r>
            <a:r>
              <a:rPr lang="en-US" dirty="0" smtClean="0"/>
              <a:t> in reports or forms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71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Regression testing is necessary to ensure that </a:t>
            </a:r>
            <a:r>
              <a:rPr lang="en-US" b="1" dirty="0" smtClean="0"/>
              <a:t>new changes or fixes do not break existing functionality</a:t>
            </a:r>
            <a:r>
              <a:rPr lang="en-US" dirty="0" smtClean="0"/>
              <a:t> in the software system.</a:t>
            </a:r>
          </a:p>
          <a:p>
            <a:r>
              <a:rPr lang="en-US" dirty="0" smtClean="0"/>
              <a:t>When developers modify software by:</a:t>
            </a:r>
          </a:p>
          <a:p>
            <a:r>
              <a:rPr lang="en-US" dirty="0" smtClean="0"/>
              <a:t>fixing bugs, </a:t>
            </a:r>
          </a:p>
          <a:p>
            <a:r>
              <a:rPr lang="en-US" dirty="0" smtClean="0"/>
              <a:t>adding features, </a:t>
            </a:r>
          </a:p>
          <a:p>
            <a:r>
              <a:rPr lang="en-US" dirty="0" smtClean="0"/>
              <a:t>improving performance, or </a:t>
            </a:r>
          </a:p>
          <a:p>
            <a:r>
              <a:rPr lang="en-US" dirty="0" smtClean="0"/>
              <a:t>adapting the system, </a:t>
            </a:r>
          </a:p>
          <a:p>
            <a:r>
              <a:rPr lang="en-US" dirty="0" smtClean="0"/>
              <a:t>those changes may unintentionally affect other parts of the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6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85940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7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88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6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9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0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6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0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2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68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4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6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34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74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8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7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0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7593" y="1042417"/>
            <a:ext cx="7571232" cy="1316735"/>
          </a:xfrm>
        </p:spPr>
        <p:txBody>
          <a:bodyPr>
            <a:normAutofit fontScale="90000"/>
          </a:bodyPr>
          <a:lstStyle/>
          <a:p>
            <a:pPr algn="l"/>
            <a:r>
              <a:rPr sz="4800" dirty="0"/>
              <a:t>Advance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72" y="3314530"/>
            <a:ext cx="8110729" cy="1364531"/>
          </a:xfrm>
        </p:spPr>
        <p:txBody>
          <a:bodyPr>
            <a:noAutofit/>
          </a:bodyPr>
          <a:lstStyle/>
          <a:p>
            <a:r>
              <a:rPr sz="3600" dirty="0"/>
              <a:t>Software Evolution and </a:t>
            </a:r>
            <a:r>
              <a:rPr sz="3600" dirty="0" smtClean="0"/>
              <a:t>Maintenance</a:t>
            </a:r>
            <a:endParaRPr lang="en-US" sz="3600" dirty="0" smtClean="0"/>
          </a:p>
          <a:p>
            <a:endParaRPr lang="en-US" sz="3600" dirty="0"/>
          </a:p>
          <a:p>
            <a:pPr algn="r"/>
            <a:r>
              <a:rPr lang="en-US" sz="2400" dirty="0" smtClean="0"/>
              <a:t>Ms. Shehla Saeed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algn="l"/>
            <a:r>
              <a:rPr dirty="0"/>
              <a:t>Define software maintenance and evolution</a:t>
            </a:r>
          </a:p>
          <a:p>
            <a:pPr algn="l"/>
            <a:r>
              <a:rPr dirty="0"/>
              <a:t>Differentiate development and maintenance</a:t>
            </a:r>
          </a:p>
          <a:p>
            <a:pPr algn="l"/>
            <a:r>
              <a:rPr dirty="0"/>
              <a:t>Explain maintenance types</a:t>
            </a:r>
          </a:p>
          <a:p>
            <a:pPr algn="l"/>
            <a:r>
              <a:rPr dirty="0"/>
              <a:t>Analyze change request priorities</a:t>
            </a:r>
          </a:p>
          <a:p>
            <a:pPr algn="l"/>
            <a:r>
              <a:rPr dirty="0"/>
              <a:t>Discuss maintenance cost factors</a:t>
            </a:r>
          </a:p>
          <a:p>
            <a:pPr algn="l"/>
            <a:r>
              <a:rPr dirty="0"/>
              <a:t>Explain why maintenance is difficult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to Software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Software maintenance is the modification of a software product after delivery in order to</a:t>
            </a:r>
            <a:endParaRPr lang="en-US" dirty="0" smtClean="0"/>
          </a:p>
          <a:p>
            <a:pPr algn="l"/>
            <a:r>
              <a:rPr dirty="0" smtClean="0"/>
              <a:t>Fix faults</a:t>
            </a:r>
            <a:r>
              <a:rPr lang="en-US" dirty="0" smtClean="0"/>
              <a:t>/bugs</a:t>
            </a:r>
          </a:p>
          <a:p>
            <a:pPr algn="l"/>
            <a:r>
              <a:rPr dirty="0" smtClean="0"/>
              <a:t>improve </a:t>
            </a:r>
            <a:r>
              <a:rPr dirty="0"/>
              <a:t>performance</a:t>
            </a:r>
          </a:p>
          <a:p>
            <a:pPr algn="l"/>
            <a:r>
              <a:rPr dirty="0"/>
              <a:t>Adapt to changing environments</a:t>
            </a:r>
          </a:p>
          <a:p>
            <a:pPr algn="l"/>
            <a:r>
              <a:rPr dirty="0"/>
              <a:t>Improve maintainability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Reality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Software </a:t>
            </a:r>
            <a:r>
              <a:rPr lang="en-US" dirty="0"/>
              <a:t>is never truly “finished</a:t>
            </a:r>
            <a:r>
              <a:rPr lang="en-US" dirty="0" smtClean="0"/>
              <a:t>.” Even </a:t>
            </a:r>
            <a:r>
              <a:rPr lang="en-US" dirty="0"/>
              <a:t>after deployment:</a:t>
            </a:r>
          </a:p>
          <a:p>
            <a:pPr lvl="0"/>
            <a:r>
              <a:rPr lang="en-US" dirty="0"/>
              <a:t>Bugs appear</a:t>
            </a:r>
          </a:p>
          <a:p>
            <a:pPr lvl="0"/>
            <a:r>
              <a:rPr lang="en-US" dirty="0"/>
              <a:t>Users demand new features</a:t>
            </a:r>
          </a:p>
          <a:p>
            <a:pPr lvl="0"/>
            <a:r>
              <a:rPr lang="en-US" dirty="0"/>
              <a:t>Technology changes</a:t>
            </a:r>
          </a:p>
          <a:p>
            <a:pPr lvl="0"/>
            <a:r>
              <a:rPr lang="en-US" dirty="0"/>
              <a:t>Security threats increase</a:t>
            </a:r>
          </a:p>
          <a:p>
            <a:pPr lvl="0"/>
            <a:r>
              <a:rPr lang="en-US" dirty="0"/>
              <a:t>Organizations change their processes</a:t>
            </a:r>
          </a:p>
          <a:p>
            <a:pPr marL="0" indent="0">
              <a:buNone/>
            </a:pPr>
            <a:r>
              <a:rPr lang="en-US" dirty="0"/>
              <a:t>Therefore:</a:t>
            </a:r>
          </a:p>
          <a:p>
            <a:r>
              <a:rPr lang="en-US" dirty="0"/>
              <a:t>Maintenance continues throughout the software lifecycle.</a:t>
            </a:r>
          </a:p>
        </p:txBody>
      </p:sp>
    </p:spTree>
    <p:extLst>
      <p:ext uri="{BB962C8B-B14F-4D97-AF65-F5344CB8AC3E}">
        <p14:creationId xmlns:p14="http://schemas.microsoft.com/office/powerpoint/2010/main" val="1784430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Maintenance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 algn="l">
              <a:buFont typeface="+mj-lt"/>
              <a:buAutoNum type="alphaUcPeriod"/>
            </a:pPr>
            <a:r>
              <a:rPr dirty="0"/>
              <a:t>Fix bugs discovered by users</a:t>
            </a:r>
          </a:p>
          <a:p>
            <a:pPr marL="457200" indent="-457200" algn="l">
              <a:buFont typeface="+mj-lt"/>
              <a:buAutoNum type="alphaUcPeriod"/>
            </a:pPr>
            <a:r>
              <a:rPr dirty="0"/>
              <a:t>Adapt to technology changes</a:t>
            </a:r>
          </a:p>
          <a:p>
            <a:pPr marL="457200" indent="-457200" algn="l">
              <a:buFont typeface="+mj-lt"/>
              <a:buAutoNum type="alphaUcPeriod"/>
            </a:pPr>
            <a:r>
              <a:rPr dirty="0"/>
              <a:t>Improve performance</a:t>
            </a:r>
          </a:p>
          <a:p>
            <a:pPr marL="457200" indent="-457200" algn="l">
              <a:buFont typeface="+mj-lt"/>
              <a:buAutoNum type="alphaUcPeriod"/>
            </a:pPr>
            <a:r>
              <a:rPr dirty="0"/>
              <a:t>Add new features</a:t>
            </a:r>
          </a:p>
          <a:p>
            <a:pPr marL="457200" indent="-457200" algn="l">
              <a:buFont typeface="+mj-lt"/>
              <a:buAutoNum type="alphaUcPeriod"/>
            </a:pPr>
            <a:r>
              <a:rPr dirty="0"/>
              <a:t>Prevent future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52853"/>
          </a:xfrm>
        </p:spPr>
        <p:txBody>
          <a:bodyPr/>
          <a:lstStyle/>
          <a:p>
            <a:r>
              <a:rPr lang="en-US" b="1" dirty="0"/>
              <a:t>A. Fixing Bugs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96915"/>
            <a:ext cx="7704667" cy="430290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Users </a:t>
            </a:r>
            <a:r>
              <a:rPr lang="en-US" dirty="0"/>
              <a:t>discover errors during system operation.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university portal calculates GPA incorrectly for some students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Maintenance team:</a:t>
            </a:r>
          </a:p>
          <a:p>
            <a:pPr lvl="0"/>
            <a:r>
              <a:rPr lang="en-US" dirty="0"/>
              <a:t>Investigates the issue</a:t>
            </a:r>
          </a:p>
          <a:p>
            <a:pPr lvl="0"/>
            <a:r>
              <a:rPr lang="en-US" dirty="0"/>
              <a:t>Fixes the calculation logic</a:t>
            </a:r>
          </a:p>
          <a:p>
            <a:pPr lvl="0"/>
            <a:r>
              <a:rPr lang="en-US" dirty="0"/>
              <a:t>Tests the updated module</a:t>
            </a:r>
          </a:p>
          <a:p>
            <a:pPr marL="0" indent="0">
              <a:buNone/>
            </a:pPr>
            <a:r>
              <a:rPr lang="en-US" dirty="0"/>
              <a:t>This is necessary so students receive correct results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8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933" y="457201"/>
            <a:ext cx="8434429" cy="1397976"/>
          </a:xfrm>
        </p:spPr>
        <p:txBody>
          <a:bodyPr/>
          <a:lstStyle/>
          <a:p>
            <a:pPr algn="l"/>
            <a:r>
              <a:rPr lang="en-US" b="1" dirty="0"/>
              <a:t>B. Adapting to Environment Changes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39461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Technology </a:t>
            </a:r>
            <a:r>
              <a:rPr lang="en-US" dirty="0"/>
              <a:t>changes continuously.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library management system previously worked on Windows 10. The university upgrades all computers to Windows 11.</a:t>
            </a:r>
          </a:p>
          <a:p>
            <a:r>
              <a:rPr lang="en-US" dirty="0"/>
              <a:t>The software must now be updated for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411526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31984"/>
          </a:xfrm>
        </p:spPr>
        <p:txBody>
          <a:bodyPr/>
          <a:lstStyle/>
          <a:p>
            <a:r>
              <a:rPr lang="en-US" b="1" dirty="0"/>
              <a:t>C. Improving Performance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417" y="2271346"/>
            <a:ext cx="7704667" cy="33328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Systems </a:t>
            </a:r>
            <a:r>
              <a:rPr lang="en-US" dirty="0"/>
              <a:t>become slower as users increase.</a:t>
            </a:r>
          </a:p>
          <a:p>
            <a:pPr marL="0" indent="0">
              <a:buNone/>
            </a:pPr>
            <a:r>
              <a:rPr lang="en-US" b="1" dirty="0" smtClean="0"/>
              <a:t>Scenario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An LMS originally supported 500 students. Now 20,000 students use it during exams.</a:t>
            </a:r>
          </a:p>
          <a:p>
            <a:pPr marL="0" indent="0">
              <a:buNone/>
            </a:pPr>
            <a:r>
              <a:rPr lang="en-US" dirty="0"/>
              <a:t>Maintenance team:</a:t>
            </a:r>
          </a:p>
          <a:p>
            <a:pPr lvl="0"/>
            <a:r>
              <a:rPr lang="en-US" dirty="0"/>
              <a:t>Optimizes database queries</a:t>
            </a:r>
          </a:p>
          <a:p>
            <a:pPr lvl="0"/>
            <a:r>
              <a:rPr lang="en-US" dirty="0"/>
              <a:t>Improves server performance</a:t>
            </a:r>
          </a:p>
          <a:p>
            <a:pPr lvl="0"/>
            <a:r>
              <a:rPr lang="en-US" dirty="0"/>
              <a:t>Adds caching</a:t>
            </a:r>
          </a:p>
        </p:txBody>
      </p:sp>
    </p:spTree>
    <p:extLst>
      <p:ext uri="{BB962C8B-B14F-4D97-AF65-F5344CB8AC3E}">
        <p14:creationId xmlns:p14="http://schemas.microsoft.com/office/powerpoint/2010/main" val="248079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25414"/>
          </a:xfrm>
        </p:spPr>
        <p:txBody>
          <a:bodyPr/>
          <a:lstStyle/>
          <a:p>
            <a:r>
              <a:rPr lang="en-US" b="1" dirty="0"/>
              <a:t>D. Adding New 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33954"/>
            <a:ext cx="7704667" cy="3332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Users </a:t>
            </a:r>
            <a:r>
              <a:rPr lang="en-US" dirty="0"/>
              <a:t>continuously request improvements.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Students request:</a:t>
            </a:r>
          </a:p>
          <a:p>
            <a:pPr lvl="0"/>
            <a:r>
              <a:rPr lang="en-US" dirty="0"/>
              <a:t>Dark mode</a:t>
            </a:r>
          </a:p>
          <a:p>
            <a:pPr lvl="0"/>
            <a:r>
              <a:rPr lang="en-US" dirty="0"/>
              <a:t>Online fee payment</a:t>
            </a:r>
          </a:p>
          <a:p>
            <a:pPr lvl="0"/>
            <a:r>
              <a:rPr lang="en-US" dirty="0"/>
              <a:t>Mobile notifications</a:t>
            </a:r>
          </a:p>
          <a:p>
            <a:pPr marL="0" indent="0">
              <a:buNone/>
            </a:pPr>
            <a:r>
              <a:rPr lang="en-US" dirty="0"/>
              <a:t>Developers enhance the system accordingly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6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27637"/>
          </a:xfrm>
        </p:spPr>
        <p:txBody>
          <a:bodyPr/>
          <a:lstStyle/>
          <a:p>
            <a:r>
              <a:rPr lang="en-US" b="1" dirty="0"/>
              <a:t>E. Preventing Future Problems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8269"/>
            <a:ext cx="7704667" cy="402154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Maintenance </a:t>
            </a:r>
            <a:r>
              <a:rPr lang="en-US" dirty="0"/>
              <a:t>also aims to avoid future failures.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system uses outdated libraries with security vulnerabilities.</a:t>
            </a:r>
          </a:p>
          <a:p>
            <a:r>
              <a:rPr lang="en-US" dirty="0"/>
              <a:t>The organization upgrades libraries before hackers exploit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4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vs Maintenance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769121"/>
              </p:ext>
            </p:extLst>
          </p:nvPr>
        </p:nvGraphicFramePr>
        <p:xfrm>
          <a:off x="780439" y="2438397"/>
          <a:ext cx="7704136" cy="349641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1806560042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3030484987"/>
                    </a:ext>
                  </a:extLst>
                </a:gridCol>
              </a:tblGrid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Development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Maintenance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1421723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Creates new system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Modifies existing system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7693507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Focus on building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Focus on changing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145016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New architecture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Existing architecture constraints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785914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Easier understanding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Requires understanding old code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405377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Fewer dependencies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Many interdependencies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82445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78168"/>
          </a:xfrm>
        </p:spPr>
        <p:txBody>
          <a:bodyPr/>
          <a:lstStyle/>
          <a:p>
            <a:r>
              <a:rPr lang="en-US" b="1" dirty="0"/>
              <a:t>Why Maintenance is More Difficult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27384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During </a:t>
            </a:r>
            <a:r>
              <a:rPr lang="en-US" dirty="0"/>
              <a:t>maintenance:</a:t>
            </a:r>
          </a:p>
          <a:p>
            <a:pPr lvl="0"/>
            <a:r>
              <a:rPr lang="en-US" dirty="0"/>
              <a:t>Engineers must understand old code</a:t>
            </a:r>
          </a:p>
          <a:p>
            <a:pPr lvl="0"/>
            <a:r>
              <a:rPr lang="en-US" dirty="0"/>
              <a:t>Existing functionality must not break</a:t>
            </a:r>
          </a:p>
          <a:p>
            <a:pPr lvl="0"/>
            <a:r>
              <a:rPr lang="en-US" dirty="0"/>
              <a:t>Dependencies must be analyzed</a:t>
            </a:r>
          </a:p>
          <a:p>
            <a:pPr lvl="0"/>
            <a:r>
              <a:rPr lang="en-US" dirty="0"/>
              <a:t>Regression testing is required</a:t>
            </a:r>
          </a:p>
          <a:p>
            <a:pPr lvl="0"/>
            <a:r>
              <a:rPr lang="en-US" dirty="0"/>
              <a:t>Documentation may be incomplete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9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30922"/>
          </a:xfrm>
        </p:spPr>
        <p:txBody>
          <a:bodyPr/>
          <a:lstStyle/>
          <a:p>
            <a:r>
              <a:rPr lang="en-US" b="1" dirty="0"/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433" y="1902069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Development </a:t>
            </a:r>
            <a:r>
              <a:rPr lang="en-US" b="1" dirty="0"/>
              <a:t>Scenario</a:t>
            </a:r>
          </a:p>
          <a:p>
            <a:r>
              <a:rPr lang="en-US" dirty="0"/>
              <a:t>Building a new attendance system from scratch.</a:t>
            </a:r>
          </a:p>
          <a:p>
            <a:pPr marL="0" indent="0">
              <a:buNone/>
            </a:pPr>
            <a:r>
              <a:rPr lang="en-US" b="1" dirty="0"/>
              <a:t>Maintenance Scenario</a:t>
            </a:r>
          </a:p>
          <a:p>
            <a:r>
              <a:rPr lang="en-US" dirty="0"/>
              <a:t>Adding biometric attendance support to a 10-year-old attendance system without breaking existing reports.</a:t>
            </a:r>
          </a:p>
          <a:p>
            <a:r>
              <a:rPr lang="en-US" dirty="0"/>
              <a:t>The second task is often harder.</a:t>
            </a:r>
          </a:p>
        </p:txBody>
      </p:sp>
    </p:spTree>
    <p:extLst>
      <p:ext uri="{BB962C8B-B14F-4D97-AF65-F5344CB8AC3E}">
        <p14:creationId xmlns:p14="http://schemas.microsoft.com/office/powerpoint/2010/main" val="4234652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33145"/>
          </a:xfrm>
        </p:spPr>
        <p:txBody>
          <a:bodyPr/>
          <a:lstStyle/>
          <a:p>
            <a:r>
              <a:rPr lang="en-US" dirty="0"/>
              <a:t>Types of 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104292"/>
            <a:ext cx="7704667" cy="3332816"/>
          </a:xfrm>
        </p:spPr>
        <p:txBody>
          <a:bodyPr/>
          <a:lstStyle/>
          <a:p>
            <a:r>
              <a:rPr lang="en-GB" altLang="en-US" dirty="0"/>
              <a:t>Corrective maintenance</a:t>
            </a:r>
          </a:p>
          <a:p>
            <a:r>
              <a:rPr lang="en-GB" altLang="en-US" dirty="0"/>
              <a:t>Adaptive maintenance</a:t>
            </a:r>
          </a:p>
          <a:p>
            <a:r>
              <a:rPr lang="en-GB" altLang="en-US" dirty="0"/>
              <a:t>Perfective maintenance</a:t>
            </a:r>
          </a:p>
          <a:p>
            <a:r>
              <a:rPr lang="en-GB" altLang="en-US" dirty="0"/>
              <a:t>Preventive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165620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35268"/>
          </a:xfrm>
        </p:spPr>
        <p:txBody>
          <a:bodyPr/>
          <a:lstStyle/>
          <a:p>
            <a:r>
              <a:rPr dirty="0"/>
              <a:t>Corrective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585547"/>
            <a:ext cx="7704667" cy="3332816"/>
          </a:xfrm>
        </p:spPr>
        <p:txBody>
          <a:bodyPr>
            <a:normAutofit lnSpcReduction="10000"/>
          </a:bodyPr>
          <a:lstStyle/>
          <a:p>
            <a:pPr algn="l"/>
            <a:r>
              <a:rPr dirty="0" smtClean="0"/>
              <a:t>Fixes </a:t>
            </a:r>
            <a:r>
              <a:rPr dirty="0"/>
              <a:t>faults and errors</a:t>
            </a:r>
          </a:p>
          <a:p>
            <a:pPr algn="l"/>
            <a:r>
              <a:rPr dirty="0"/>
              <a:t>Reactive maintenance type</a:t>
            </a:r>
          </a:p>
          <a:p>
            <a:pPr marL="0" indent="0" algn="l">
              <a:buNone/>
            </a:pPr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</a:t>
            </a:r>
            <a:endParaRPr lang="en-US" dirty="0" smtClean="0"/>
          </a:p>
          <a:p>
            <a:pPr algn="l"/>
            <a:r>
              <a:rPr dirty="0" smtClean="0"/>
              <a:t> </a:t>
            </a:r>
            <a:r>
              <a:rPr dirty="0"/>
              <a:t>GPA calculation bug</a:t>
            </a:r>
          </a:p>
          <a:p>
            <a:pPr algn="l"/>
            <a:r>
              <a:rPr dirty="0" smtClean="0"/>
              <a:t>Mobile </a:t>
            </a:r>
            <a:r>
              <a:rPr dirty="0"/>
              <a:t>app </a:t>
            </a:r>
            <a:r>
              <a:rPr dirty="0" smtClean="0"/>
              <a:t>crash</a:t>
            </a:r>
            <a:endParaRPr lang="en-US" dirty="0" smtClean="0"/>
          </a:p>
          <a:p>
            <a:r>
              <a:rPr lang="en-US" altLang="en-US" dirty="0"/>
              <a:t>Patching an Error in a Database </a:t>
            </a:r>
            <a:r>
              <a:rPr lang="en-US" altLang="en-US" dirty="0" smtClean="0"/>
              <a:t>Query</a:t>
            </a:r>
          </a:p>
          <a:p>
            <a:r>
              <a:rPr lang="en-US" altLang="en-US" dirty="0"/>
              <a:t>Correcting Wrong Output </a:t>
            </a:r>
            <a:r>
              <a:rPr lang="en-US" altLang="en-US" dirty="0" smtClean="0"/>
              <a:t>Values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89084"/>
          </a:xfrm>
        </p:spPr>
        <p:txBody>
          <a:bodyPr>
            <a:normAutofit fontScale="90000"/>
          </a:bodyPr>
          <a:lstStyle/>
          <a:p>
            <a:r>
              <a:rPr dirty="0"/>
              <a:t>Adaptive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814319"/>
            <a:ext cx="7704667" cy="4640270"/>
          </a:xfrm>
        </p:spPr>
        <p:txBody>
          <a:bodyPr>
            <a:normAutofit/>
          </a:bodyPr>
          <a:lstStyle/>
          <a:p>
            <a:pPr algn="l"/>
            <a:r>
              <a:rPr dirty="0" smtClean="0"/>
              <a:t>Adapts </a:t>
            </a:r>
            <a:r>
              <a:rPr dirty="0"/>
              <a:t>software to new </a:t>
            </a:r>
            <a:r>
              <a:rPr dirty="0" smtClean="0"/>
              <a:t>environments</a:t>
            </a:r>
            <a:endParaRPr lang="en-US" dirty="0" smtClean="0"/>
          </a:p>
          <a:p>
            <a:pPr lvl="0"/>
            <a:r>
              <a:rPr lang="en-US" dirty="0"/>
              <a:t>Triggered by external changes</a:t>
            </a:r>
          </a:p>
          <a:p>
            <a:r>
              <a:rPr lang="en-US" dirty="0"/>
              <a:t>Required for system survival</a:t>
            </a:r>
            <a:endParaRPr dirty="0"/>
          </a:p>
          <a:p>
            <a:pPr algn="l"/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 </a:t>
            </a:r>
            <a:endParaRPr lang="en-US" dirty="0" smtClean="0"/>
          </a:p>
          <a:p>
            <a:pPr algn="l"/>
            <a:r>
              <a:rPr dirty="0" smtClean="0"/>
              <a:t>Windows </a:t>
            </a:r>
            <a:r>
              <a:rPr dirty="0"/>
              <a:t>11 compatibility</a:t>
            </a:r>
          </a:p>
          <a:p>
            <a:pPr algn="l"/>
            <a:r>
              <a:rPr dirty="0" smtClean="0"/>
              <a:t>Tax </a:t>
            </a:r>
            <a:r>
              <a:rPr dirty="0"/>
              <a:t>regulation changes</a:t>
            </a:r>
          </a:p>
          <a:p>
            <a:r>
              <a:rPr lang="en-US" altLang="en-US" dirty="0" smtClean="0"/>
              <a:t>Enabling Support </a:t>
            </a:r>
            <a:r>
              <a:rPr lang="en-US" altLang="en-US" dirty="0"/>
              <a:t>for New Hardware</a:t>
            </a:r>
            <a:endParaRPr lang="en-US" dirty="0"/>
          </a:p>
          <a:p>
            <a:r>
              <a:rPr lang="en-US" altLang="en-US" dirty="0" smtClean="0"/>
              <a:t>Migrating </a:t>
            </a:r>
            <a:r>
              <a:rPr lang="en-US" altLang="en-US" dirty="0"/>
              <a:t>a System to Cloud Infrastructure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36330"/>
          </a:xfrm>
        </p:spPr>
        <p:txBody>
          <a:bodyPr>
            <a:normAutofit fontScale="90000"/>
          </a:bodyPr>
          <a:lstStyle/>
          <a:p>
            <a:r>
              <a:rPr dirty="0"/>
              <a:t>Perfective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426" y="1667436"/>
            <a:ext cx="7704667" cy="454218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dirty="0" smtClean="0"/>
              <a:t>Improves </a:t>
            </a:r>
            <a:r>
              <a:rPr dirty="0"/>
              <a:t>performance and usability</a:t>
            </a:r>
          </a:p>
          <a:p>
            <a:pPr algn="l"/>
            <a:r>
              <a:rPr dirty="0"/>
              <a:t>Adds new </a:t>
            </a:r>
            <a:r>
              <a:rPr dirty="0" smtClean="0"/>
              <a:t>features</a:t>
            </a:r>
            <a:endParaRPr lang="en-US" dirty="0" smtClean="0"/>
          </a:p>
          <a:p>
            <a:r>
              <a:rPr lang="en-US" dirty="0" smtClean="0"/>
              <a:t>User-driven</a:t>
            </a:r>
            <a:endParaRPr lang="en-US" dirty="0"/>
          </a:p>
          <a:p>
            <a:r>
              <a:rPr lang="en-US" dirty="0" smtClean="0"/>
              <a:t>Usually </a:t>
            </a:r>
            <a:r>
              <a:rPr lang="en-US" dirty="0"/>
              <a:t>expensive</a:t>
            </a:r>
          </a:p>
          <a:p>
            <a:r>
              <a:rPr lang="en-US" dirty="0" smtClean="0"/>
              <a:t>Represents </a:t>
            </a:r>
            <a:r>
              <a:rPr lang="en-US" dirty="0"/>
              <a:t>majority of maintenance </a:t>
            </a:r>
            <a:r>
              <a:rPr lang="en-US" dirty="0" smtClean="0"/>
              <a:t>work</a:t>
            </a:r>
            <a:endParaRPr lang="en-US" dirty="0"/>
          </a:p>
          <a:p>
            <a:pPr marL="0" indent="0" algn="l">
              <a:buNone/>
            </a:pPr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 </a:t>
            </a:r>
            <a:endParaRPr lang="en-US" dirty="0" smtClean="0"/>
          </a:p>
          <a:p>
            <a:r>
              <a:rPr dirty="0" smtClean="0"/>
              <a:t>Dark </a:t>
            </a:r>
            <a:r>
              <a:rPr dirty="0"/>
              <a:t>mode</a:t>
            </a:r>
          </a:p>
          <a:p>
            <a:pPr algn="l"/>
            <a:r>
              <a:rPr dirty="0" smtClean="0"/>
              <a:t>Faster </a:t>
            </a:r>
            <a:r>
              <a:rPr dirty="0"/>
              <a:t>search </a:t>
            </a:r>
            <a:r>
              <a:rPr dirty="0" smtClean="0"/>
              <a:t>functionality</a:t>
            </a:r>
            <a:endParaRPr lang="en-US" dirty="0" smtClean="0"/>
          </a:p>
          <a:p>
            <a:r>
              <a:rPr lang="en-US" altLang="en-US" dirty="0"/>
              <a:t>Adding new report formats (e.g., monthly, quarterly</a:t>
            </a:r>
            <a:r>
              <a:rPr lang="en-US" altLang="en-US" dirty="0" smtClean="0"/>
              <a:t>)</a:t>
            </a:r>
          </a:p>
          <a:p>
            <a:r>
              <a:rPr lang="en-US" altLang="en-US" dirty="0"/>
              <a:t>Adding Help &amp; Tutorial </a:t>
            </a:r>
            <a:r>
              <a:rPr lang="en-US" altLang="en-US" dirty="0" smtClean="0"/>
              <a:t>Sections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35268"/>
          </a:xfrm>
        </p:spPr>
        <p:txBody>
          <a:bodyPr/>
          <a:lstStyle/>
          <a:p>
            <a:r>
              <a:rPr dirty="0"/>
              <a:t>Preventive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26559"/>
            <a:ext cx="7704667" cy="4762500"/>
          </a:xfrm>
        </p:spPr>
        <p:txBody>
          <a:bodyPr>
            <a:normAutofit lnSpcReduction="10000"/>
          </a:bodyPr>
          <a:lstStyle/>
          <a:p>
            <a:pPr algn="l"/>
            <a:r>
              <a:rPr dirty="0" smtClean="0"/>
              <a:t>Prevents </a:t>
            </a:r>
            <a:r>
              <a:rPr dirty="0"/>
              <a:t>future problems</a:t>
            </a:r>
          </a:p>
          <a:p>
            <a:pPr algn="l"/>
            <a:r>
              <a:rPr dirty="0"/>
              <a:t>Improves </a:t>
            </a:r>
            <a:r>
              <a:rPr dirty="0" smtClean="0"/>
              <a:t>maintainability</a:t>
            </a:r>
            <a:endParaRPr lang="en-US" dirty="0" smtClean="0"/>
          </a:p>
          <a:p>
            <a:pPr lvl="0"/>
            <a:r>
              <a:rPr lang="en-US" dirty="0"/>
              <a:t>Proactive approach</a:t>
            </a:r>
          </a:p>
          <a:p>
            <a:pPr lvl="0"/>
            <a:r>
              <a:rPr lang="en-US" dirty="0"/>
              <a:t>Reduces future cost</a:t>
            </a:r>
          </a:p>
          <a:p>
            <a:pPr lvl="0"/>
            <a:r>
              <a:rPr lang="en-US" dirty="0" smtClean="0"/>
              <a:t>Often </a:t>
            </a:r>
            <a:r>
              <a:rPr lang="en-US" dirty="0"/>
              <a:t>ignored due to budget constraints</a:t>
            </a:r>
          </a:p>
          <a:p>
            <a:pPr marL="0" indent="0" algn="l">
              <a:buNone/>
            </a:pPr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</a:t>
            </a:r>
            <a:endParaRPr lang="en-US" dirty="0" smtClean="0"/>
          </a:p>
          <a:p>
            <a:r>
              <a:rPr dirty="0" smtClean="0"/>
              <a:t> </a:t>
            </a:r>
            <a:r>
              <a:rPr lang="en-US" altLang="en-US" dirty="0"/>
              <a:t>Regular </a:t>
            </a:r>
            <a:r>
              <a:rPr dirty="0" smtClean="0"/>
              <a:t>Code </a:t>
            </a:r>
            <a:r>
              <a:rPr dirty="0"/>
              <a:t>refactoring</a:t>
            </a:r>
          </a:p>
          <a:p>
            <a:pPr algn="l"/>
            <a:r>
              <a:rPr dirty="0" smtClean="0"/>
              <a:t>Updating </a:t>
            </a:r>
            <a:r>
              <a:rPr dirty="0"/>
              <a:t>outdated </a:t>
            </a:r>
            <a:r>
              <a:rPr dirty="0" smtClean="0"/>
              <a:t>libraries</a:t>
            </a:r>
            <a:endParaRPr lang="en-US" dirty="0" smtClean="0"/>
          </a:p>
          <a:p>
            <a:r>
              <a:rPr lang="en-US" altLang="en-US" dirty="0"/>
              <a:t>Performing Routine </a:t>
            </a:r>
            <a:r>
              <a:rPr lang="en-US" altLang="en-US" dirty="0" smtClean="0"/>
              <a:t>Backups</a:t>
            </a:r>
          </a:p>
          <a:p>
            <a:r>
              <a:rPr lang="en-US" altLang="en-US" dirty="0"/>
              <a:t>Running Security Scans and Fixing Vulnerabilities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Priority of Change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2091813"/>
          </a:xfrm>
        </p:spPr>
        <p:txBody>
          <a:bodyPr/>
          <a:lstStyle/>
          <a:p>
            <a:r>
              <a:rPr lang="en-US" dirty="0"/>
              <a:t>Organizations cannot implement all changes immediately. Therefore change requests are prioritized.</a:t>
            </a:r>
          </a:p>
        </p:txBody>
      </p:sp>
    </p:spTree>
    <p:extLst>
      <p:ext uri="{BB962C8B-B14F-4D97-AF65-F5344CB8AC3E}">
        <p14:creationId xmlns:p14="http://schemas.microsoft.com/office/powerpoint/2010/main" val="3218580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535" y="105508"/>
            <a:ext cx="7742242" cy="1497150"/>
          </a:xfrm>
        </p:spPr>
        <p:txBody>
          <a:bodyPr>
            <a:normAutofit/>
          </a:bodyPr>
          <a:lstStyle/>
          <a:p>
            <a:pPr algn="l"/>
            <a:r>
              <a:rPr lang="en-GB" altLang="en-US" sz="3200" dirty="0"/>
              <a:t>The importance of categorising software </a:t>
            </a:r>
            <a:r>
              <a:rPr lang="en-GB" altLang="en-US" sz="3200" dirty="0" smtClean="0"/>
              <a:t>changes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259" y="1730477"/>
            <a:ext cx="7704667" cy="4503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change request is usually categorized by analyzing its </a:t>
            </a:r>
            <a:r>
              <a:rPr lang="en-US" b="1" dirty="0" smtClean="0"/>
              <a:t>Type</a:t>
            </a:r>
            <a:r>
              <a:rPr lang="en-US" b="1" dirty="0"/>
              <a:t>, Impact, Urgency, Risk, and Complexity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smtClean="0"/>
              <a:t>By </a:t>
            </a:r>
            <a:r>
              <a:rPr lang="en-US" dirty="0"/>
              <a:t>evaluating these factors, teams can decide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which changes should be implemented </a:t>
            </a:r>
            <a:r>
              <a:rPr lang="en-US" dirty="0" smtClean="0"/>
              <a:t>immediately</a:t>
            </a:r>
          </a:p>
          <a:p>
            <a:r>
              <a:rPr lang="en-US" dirty="0" smtClean="0"/>
              <a:t> </a:t>
            </a:r>
            <a:r>
              <a:rPr lang="en-US" dirty="0"/>
              <a:t>which can be scheduled for later, </a:t>
            </a:r>
            <a:r>
              <a:rPr lang="en-US" dirty="0" smtClean="0"/>
              <a:t>and</a:t>
            </a:r>
          </a:p>
          <a:p>
            <a:r>
              <a:rPr lang="en-US" dirty="0" smtClean="0"/>
              <a:t> </a:t>
            </a:r>
            <a:r>
              <a:rPr lang="en-US" dirty="0"/>
              <a:t>which requests may be rejected due to high cost, low value, or excessive risk.</a:t>
            </a:r>
          </a:p>
        </p:txBody>
      </p:sp>
    </p:spTree>
    <p:extLst>
      <p:ext uri="{BB962C8B-B14F-4D97-AF65-F5344CB8AC3E}">
        <p14:creationId xmlns:p14="http://schemas.microsoft.com/office/powerpoint/2010/main" val="1939567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38166"/>
            <a:ext cx="7704667" cy="848182"/>
          </a:xfrm>
        </p:spPr>
        <p:txBody>
          <a:bodyPr>
            <a:normAutofit/>
          </a:bodyPr>
          <a:lstStyle/>
          <a:p>
            <a:r>
              <a:rPr dirty="0"/>
              <a:t>Priority 1 – Urgent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456" y="1296427"/>
            <a:ext cx="7704667" cy="5194020"/>
          </a:xfrm>
        </p:spPr>
        <p:txBody>
          <a:bodyPr>
            <a:normAutofit/>
          </a:bodyPr>
          <a:lstStyle/>
          <a:p>
            <a:r>
              <a:rPr lang="en-US" dirty="0"/>
              <a:t>System cannot continue operation. </a:t>
            </a:r>
            <a:endParaRPr lang="en-US" dirty="0" smtClean="0"/>
          </a:p>
          <a:p>
            <a:r>
              <a:rPr dirty="0" smtClean="0"/>
              <a:t>Immediate </a:t>
            </a:r>
            <a:r>
              <a:rPr dirty="0"/>
              <a:t>fix </a:t>
            </a:r>
            <a:r>
              <a:rPr dirty="0" smtClean="0"/>
              <a:t>required</a:t>
            </a:r>
            <a:endParaRPr lang="en-US" dirty="0" smtClean="0"/>
          </a:p>
          <a:p>
            <a:pPr lvl="0"/>
            <a:r>
              <a:rPr lang="en-US" dirty="0" smtClean="0"/>
              <a:t>High </a:t>
            </a:r>
            <a:r>
              <a:rPr lang="en-US" dirty="0"/>
              <a:t>financial loss</a:t>
            </a:r>
          </a:p>
          <a:p>
            <a:pPr lvl="0"/>
            <a:r>
              <a:rPr lang="en-US" dirty="0" smtClean="0"/>
              <a:t>Same-day </a:t>
            </a:r>
            <a:r>
              <a:rPr lang="en-US" dirty="0"/>
              <a:t>resolution preferred</a:t>
            </a:r>
          </a:p>
          <a:p>
            <a:pPr algn="l"/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</a:t>
            </a:r>
            <a:endParaRPr lang="en-US" dirty="0" smtClean="0"/>
          </a:p>
          <a:p>
            <a:pPr algn="l"/>
            <a:r>
              <a:rPr dirty="0" smtClean="0"/>
              <a:t> </a:t>
            </a:r>
            <a:r>
              <a:rPr dirty="0"/>
              <a:t>Airline booking failure</a:t>
            </a:r>
          </a:p>
          <a:p>
            <a:pPr algn="l"/>
            <a:r>
              <a:rPr dirty="0" smtClean="0"/>
              <a:t>Hospital </a:t>
            </a:r>
            <a:r>
              <a:rPr dirty="0"/>
              <a:t>database </a:t>
            </a:r>
            <a:r>
              <a:rPr dirty="0" smtClean="0"/>
              <a:t>crash</a:t>
            </a:r>
            <a:endParaRPr lang="en-US" dirty="0" smtClean="0"/>
          </a:p>
          <a:p>
            <a:r>
              <a:rPr lang="en-US" dirty="0"/>
              <a:t>Payment gateway not working in an e-commerce </a:t>
            </a:r>
            <a:r>
              <a:rPr lang="en-US" dirty="0" smtClean="0"/>
              <a:t>system</a:t>
            </a:r>
          </a:p>
          <a:p>
            <a:r>
              <a:rPr lang="en-US" dirty="0"/>
              <a:t>Login/authentication failure for all </a:t>
            </a:r>
            <a:r>
              <a:rPr lang="en-US" dirty="0" smtClean="0"/>
              <a:t>users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66157"/>
          </a:xfrm>
        </p:spPr>
        <p:txBody>
          <a:bodyPr/>
          <a:lstStyle/>
          <a:p>
            <a:r>
              <a:rPr dirty="0"/>
              <a:t>Priority 2 –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04865"/>
            <a:ext cx="7704667" cy="4805266"/>
          </a:xfrm>
        </p:spPr>
        <p:txBody>
          <a:bodyPr>
            <a:normAutofit fontScale="92500"/>
          </a:bodyPr>
          <a:lstStyle/>
          <a:p>
            <a:r>
              <a:rPr lang="en-US" dirty="0"/>
              <a:t>System works but major functionality is affected</a:t>
            </a:r>
            <a:r>
              <a:rPr lang="en-US" dirty="0" smtClean="0"/>
              <a:t>.</a:t>
            </a:r>
          </a:p>
          <a:p>
            <a:pPr lvl="0"/>
            <a:r>
              <a:rPr lang="en-US" dirty="0"/>
              <a:t>Serious inconvenience</a:t>
            </a:r>
          </a:p>
          <a:p>
            <a:pPr lvl="0"/>
            <a:r>
              <a:rPr lang="en-US" dirty="0"/>
              <a:t>Risk of becoming emergency</a:t>
            </a:r>
          </a:p>
          <a:p>
            <a:r>
              <a:rPr lang="en-US" dirty="0"/>
              <a:t>Quick resolution </a:t>
            </a:r>
            <a:r>
              <a:rPr lang="en-US" dirty="0" smtClean="0"/>
              <a:t>needed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 </a:t>
            </a:r>
            <a:endParaRPr lang="en-US" dirty="0" smtClean="0"/>
          </a:p>
          <a:p>
            <a:r>
              <a:rPr dirty="0" smtClean="0"/>
              <a:t>Extremely </a:t>
            </a:r>
            <a:r>
              <a:rPr dirty="0"/>
              <a:t>slow LMS</a:t>
            </a:r>
          </a:p>
          <a:p>
            <a:r>
              <a:rPr dirty="0" smtClean="0"/>
              <a:t>Frequent error popups</a:t>
            </a:r>
            <a:r>
              <a:rPr lang="en-US" dirty="0"/>
              <a:t> </a:t>
            </a:r>
            <a:r>
              <a:rPr lang="en-US" dirty="0" smtClean="0"/>
              <a:t>e.g., “Error</a:t>
            </a:r>
            <a:r>
              <a:rPr lang="en-US" dirty="0"/>
              <a:t>: Payment failed” popup appears every time a user tries to pay</a:t>
            </a:r>
            <a:endParaRPr lang="en-US" dirty="0" smtClean="0"/>
          </a:p>
          <a:p>
            <a:r>
              <a:rPr lang="en-US" dirty="0" smtClean="0"/>
              <a:t>Smart </a:t>
            </a:r>
            <a:r>
              <a:rPr lang="en-US" dirty="0"/>
              <a:t>Parking System displays incorrect available parking </a:t>
            </a:r>
            <a:r>
              <a:rPr lang="en-US" dirty="0" smtClean="0"/>
              <a:t>slots</a:t>
            </a:r>
          </a:p>
          <a:p>
            <a:r>
              <a:rPr lang="en-US" dirty="0"/>
              <a:t>Payroll system calculates salaries incorrectly</a:t>
            </a:r>
            <a:endParaRPr lang="en-US" dirty="0" smtClean="0"/>
          </a:p>
          <a:p>
            <a:endParaRPr lang="en-US" dirty="0"/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08544"/>
          </a:xfrm>
        </p:spPr>
        <p:txBody>
          <a:bodyPr/>
          <a:lstStyle/>
          <a:p>
            <a:r>
              <a:rPr dirty="0"/>
              <a:t>Priority 3 – </a:t>
            </a:r>
            <a:r>
              <a:rPr lang="en-US" dirty="0" smtClean="0"/>
              <a:t>Major/Important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860" y="1991048"/>
            <a:ext cx="7704667" cy="437243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dirty="0" smtClean="0"/>
              <a:t>Improvement needed</a:t>
            </a:r>
            <a:r>
              <a:rPr lang="en-US" dirty="0" smtClean="0"/>
              <a:t> but d</a:t>
            </a:r>
            <a:r>
              <a:rPr dirty="0" smtClean="0"/>
              <a:t>elay</a:t>
            </a:r>
            <a:r>
              <a:rPr lang="en-US" dirty="0" smtClean="0"/>
              <a:t> is</a:t>
            </a:r>
            <a:r>
              <a:rPr dirty="0" smtClean="0"/>
              <a:t> acceptable</a:t>
            </a:r>
            <a:endParaRPr lang="en-US" dirty="0" smtClean="0"/>
          </a:p>
          <a:p>
            <a:pPr lvl="0"/>
            <a:r>
              <a:rPr lang="en-US" dirty="0" smtClean="0"/>
              <a:t>No operational blockage</a:t>
            </a:r>
          </a:p>
          <a:p>
            <a:pPr lvl="0"/>
            <a:r>
              <a:rPr lang="en-US" dirty="0" smtClean="0"/>
              <a:t>Moderate urgency</a:t>
            </a:r>
          </a:p>
          <a:p>
            <a:pPr lvl="0"/>
            <a:r>
              <a:rPr lang="en-US" dirty="0" smtClean="0"/>
              <a:t>To enhance </a:t>
            </a:r>
            <a:r>
              <a:rPr lang="en-US" b="1" dirty="0"/>
              <a:t>functionality, performance, or </a:t>
            </a:r>
            <a:r>
              <a:rPr lang="en-US" b="1" dirty="0" smtClean="0"/>
              <a:t>usability</a:t>
            </a:r>
            <a:endParaRPr lang="en-US" dirty="0" smtClean="0"/>
          </a:p>
          <a:p>
            <a:pPr marL="0" indent="0" algn="l">
              <a:buNone/>
            </a:pPr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 </a:t>
            </a:r>
            <a:endParaRPr lang="en-US" dirty="0" smtClean="0"/>
          </a:p>
          <a:p>
            <a:r>
              <a:rPr dirty="0" smtClean="0"/>
              <a:t>Slow </a:t>
            </a:r>
            <a:r>
              <a:rPr dirty="0"/>
              <a:t>search feature</a:t>
            </a:r>
          </a:p>
          <a:p>
            <a:pPr algn="l"/>
            <a:r>
              <a:rPr dirty="0" smtClean="0"/>
              <a:t>Analytics </a:t>
            </a:r>
            <a:r>
              <a:rPr dirty="0"/>
              <a:t>dashboard </a:t>
            </a:r>
            <a:r>
              <a:rPr dirty="0" smtClean="0"/>
              <a:t>request</a:t>
            </a:r>
            <a:endParaRPr lang="en-US" dirty="0" smtClean="0"/>
          </a:p>
          <a:p>
            <a:r>
              <a:rPr lang="en-US" dirty="0"/>
              <a:t>Improving report formatting in a university </a:t>
            </a:r>
            <a:r>
              <a:rPr lang="en-US" dirty="0" smtClean="0"/>
              <a:t>portal</a:t>
            </a:r>
          </a:p>
          <a:p>
            <a:r>
              <a:rPr lang="en-US" dirty="0" smtClean="0"/>
              <a:t>Adding </a:t>
            </a:r>
            <a:r>
              <a:rPr lang="en-US" dirty="0"/>
              <a:t>new optional features like book recommendations or </a:t>
            </a:r>
            <a:r>
              <a:rPr lang="en-US" dirty="0" err="1"/>
              <a:t>wishlist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868218"/>
            <a:ext cx="7704667" cy="411017"/>
          </a:xfrm>
        </p:spPr>
        <p:txBody>
          <a:bodyPr>
            <a:normAutofit fontScale="90000"/>
          </a:bodyPr>
          <a:lstStyle/>
          <a:p>
            <a:r>
              <a:rPr dirty="0"/>
              <a:t>Priority 4 – Minor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707973"/>
            <a:ext cx="7704667" cy="4586652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algn="l"/>
            <a:r>
              <a:rPr dirty="0"/>
              <a:t>Cosmetic or low-impact issues</a:t>
            </a:r>
          </a:p>
          <a:p>
            <a:pPr algn="l"/>
            <a:r>
              <a:rPr dirty="0"/>
              <a:t>No operational </a:t>
            </a:r>
            <a:r>
              <a:rPr dirty="0" smtClean="0"/>
              <a:t>blockage</a:t>
            </a:r>
            <a:endParaRPr lang="en-US" dirty="0" smtClean="0"/>
          </a:p>
          <a:p>
            <a:r>
              <a:rPr lang="en-US" dirty="0"/>
              <a:t>They can be done when time/resources are available.</a:t>
            </a:r>
            <a:endParaRPr dirty="0"/>
          </a:p>
          <a:p>
            <a:pPr algn="l"/>
            <a:r>
              <a:rPr dirty="0" smtClean="0"/>
              <a:t>Example</a:t>
            </a:r>
            <a:r>
              <a:rPr lang="en-US" dirty="0" smtClean="0"/>
              <a:t>s</a:t>
            </a:r>
            <a:r>
              <a:rPr dirty="0" smtClean="0"/>
              <a:t>:</a:t>
            </a:r>
            <a:endParaRPr lang="en-US" dirty="0" smtClean="0"/>
          </a:p>
          <a:p>
            <a:r>
              <a:rPr dirty="0" smtClean="0"/>
              <a:t> </a:t>
            </a:r>
            <a:r>
              <a:rPr lang="en-US" dirty="0"/>
              <a:t>Changing button color or font style in </a:t>
            </a:r>
            <a:r>
              <a:rPr lang="en-US" dirty="0" smtClean="0"/>
              <a:t>UI</a:t>
            </a:r>
          </a:p>
          <a:p>
            <a:r>
              <a:rPr lang="en-US" dirty="0" smtClean="0"/>
              <a:t>Fixing </a:t>
            </a:r>
            <a:r>
              <a:rPr lang="en-US" dirty="0"/>
              <a:t>spelling mistakes or grammar errors in system </a:t>
            </a:r>
            <a:r>
              <a:rPr lang="en-US" dirty="0" smtClean="0"/>
              <a:t>text</a:t>
            </a:r>
          </a:p>
          <a:p>
            <a:r>
              <a:rPr lang="en-US" dirty="0" smtClean="0"/>
              <a:t>Adjusting </a:t>
            </a:r>
            <a:r>
              <a:rPr lang="en-US" dirty="0"/>
              <a:t>alignment or spacing of interface </a:t>
            </a:r>
            <a:r>
              <a:rPr lang="en-US" dirty="0" smtClean="0"/>
              <a:t>elements</a:t>
            </a:r>
          </a:p>
          <a:p>
            <a:r>
              <a:rPr lang="en-US" dirty="0"/>
              <a:t>Updating logo or theme colors without affecting </a:t>
            </a:r>
            <a:r>
              <a:rPr lang="en-US" dirty="0" smtClean="0"/>
              <a:t>functionality</a:t>
            </a:r>
          </a:p>
          <a:p>
            <a:r>
              <a:rPr lang="en-US" dirty="0" smtClean="0"/>
              <a:t>Minor </a:t>
            </a:r>
            <a:r>
              <a:rPr lang="en-US" dirty="0"/>
              <a:t>UI layout adjustments (e.g., moving a label slightly)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64905"/>
          </a:xfrm>
        </p:spPr>
        <p:txBody>
          <a:bodyPr/>
          <a:lstStyle/>
          <a:p>
            <a:r>
              <a:rPr dirty="0"/>
              <a:t>Factors Affecting Maintenance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64774"/>
            <a:ext cx="7704667" cy="395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Maintenance cost depends on multiple technical and organizational factors</a:t>
            </a:r>
            <a:r>
              <a:rPr lang="en-US" dirty="0" smtClean="0"/>
              <a:t>.</a:t>
            </a:r>
            <a:endParaRPr dirty="0"/>
          </a:p>
          <a:p>
            <a:pPr algn="l"/>
            <a:r>
              <a:rPr dirty="0"/>
              <a:t>System size and complexity</a:t>
            </a:r>
          </a:p>
          <a:p>
            <a:pPr algn="l"/>
            <a:r>
              <a:rPr dirty="0"/>
              <a:t>Code quality</a:t>
            </a:r>
          </a:p>
          <a:p>
            <a:pPr algn="l"/>
            <a:r>
              <a:rPr dirty="0"/>
              <a:t>Documentation quality</a:t>
            </a:r>
          </a:p>
          <a:p>
            <a:pPr algn="l"/>
            <a:r>
              <a:rPr dirty="0"/>
              <a:t>Team experience</a:t>
            </a:r>
          </a:p>
          <a:p>
            <a:pPr algn="l"/>
            <a:r>
              <a:rPr dirty="0"/>
              <a:t>Testing quality</a:t>
            </a:r>
          </a:p>
          <a:p>
            <a:pPr algn="l"/>
            <a:r>
              <a:rPr dirty="0"/>
              <a:t>System 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781666"/>
            <a:ext cx="7704667" cy="1054358"/>
          </a:xfrm>
        </p:spPr>
        <p:txBody>
          <a:bodyPr/>
          <a:lstStyle/>
          <a:p>
            <a:r>
              <a:rPr lang="en-US" b="1" dirty="0"/>
              <a:t>System Size and Complexity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8090"/>
            <a:ext cx="7704667" cy="4021726"/>
          </a:xfrm>
        </p:spPr>
        <p:txBody>
          <a:bodyPr/>
          <a:lstStyle/>
          <a:p>
            <a:r>
              <a:rPr lang="en-US" dirty="0" smtClean="0"/>
              <a:t>Large </a:t>
            </a:r>
            <a:r>
              <a:rPr lang="en-US" dirty="0"/>
              <a:t>systems require more effort.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500-module banking system is harder to modify than a small student project.</a:t>
            </a:r>
          </a:p>
          <a:p>
            <a:pPr marL="0" indent="0">
              <a:buNone/>
            </a:pPr>
            <a:r>
              <a:rPr lang="en-US" dirty="0"/>
              <a:t>Result: Higher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1162428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53846"/>
            <a:ext cx="7704667" cy="1315615"/>
          </a:xfrm>
        </p:spPr>
        <p:txBody>
          <a:bodyPr/>
          <a:lstStyle/>
          <a:p>
            <a:r>
              <a:rPr lang="en-US" b="1" dirty="0"/>
              <a:t>Code Quality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Clean </a:t>
            </a:r>
            <a:r>
              <a:rPr lang="en-US" dirty="0"/>
              <a:t>code reduces maintenance effort.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Two teams maintain similar systems:</a:t>
            </a:r>
          </a:p>
          <a:p>
            <a:pPr lvl="0"/>
            <a:r>
              <a:rPr lang="en-US" dirty="0"/>
              <a:t>Team A uses clean modular code</a:t>
            </a:r>
          </a:p>
          <a:p>
            <a:pPr lvl="0"/>
            <a:r>
              <a:rPr lang="en-US" dirty="0"/>
              <a:t>Team B uses messy undocumented code</a:t>
            </a:r>
          </a:p>
          <a:p>
            <a:r>
              <a:rPr lang="en-US" dirty="0"/>
              <a:t>Team B spends much more time debugging.</a:t>
            </a:r>
          </a:p>
          <a:p>
            <a:pPr marL="0" indent="0">
              <a:buNone/>
            </a:pPr>
            <a:r>
              <a:rPr lang="en-US" dirty="0"/>
              <a:t>Result: Poor code quality increases cost.</a:t>
            </a:r>
          </a:p>
        </p:txBody>
      </p:sp>
    </p:spTree>
    <p:extLst>
      <p:ext uri="{BB962C8B-B14F-4D97-AF65-F5344CB8AC3E}">
        <p14:creationId xmlns:p14="http://schemas.microsoft.com/office/powerpoint/2010/main" val="3321489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771833"/>
            <a:ext cx="7704667" cy="1166326"/>
          </a:xfrm>
        </p:spPr>
        <p:txBody>
          <a:bodyPr/>
          <a:lstStyle/>
          <a:p>
            <a:r>
              <a:rPr lang="en-US" b="1" dirty="0"/>
              <a:t>Documentation Quality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Good </a:t>
            </a:r>
            <a:r>
              <a:rPr lang="en-US" dirty="0"/>
              <a:t>documentation saves time.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developer leaves the company.</a:t>
            </a:r>
          </a:p>
          <a:p>
            <a:pPr marL="0" indent="0">
              <a:buNone/>
            </a:pPr>
            <a:r>
              <a:rPr lang="en-US" dirty="0"/>
              <a:t>If documentation exists:</a:t>
            </a:r>
          </a:p>
          <a:p>
            <a:pPr lvl="0"/>
            <a:r>
              <a:rPr lang="en-US" dirty="0"/>
              <a:t>New developers understand system quickly</a:t>
            </a:r>
          </a:p>
          <a:p>
            <a:pPr marL="0" indent="0">
              <a:buNone/>
            </a:pPr>
            <a:r>
              <a:rPr lang="en-US" dirty="0"/>
              <a:t>If documentation is missing:</a:t>
            </a:r>
          </a:p>
          <a:p>
            <a:pPr lvl="0"/>
            <a:r>
              <a:rPr lang="en-US" dirty="0"/>
              <a:t>Understanding system takes weeks</a:t>
            </a:r>
          </a:p>
          <a:p>
            <a:pPr marL="0" indent="0">
              <a:buNone/>
            </a:pPr>
            <a:r>
              <a:rPr lang="en-US" dirty="0"/>
              <a:t>Result: Maintenance becomes expensive.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40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24946"/>
          </a:xfrm>
        </p:spPr>
        <p:txBody>
          <a:bodyPr/>
          <a:lstStyle/>
          <a:p>
            <a:r>
              <a:rPr lang="en-US" b="1" dirty="0"/>
              <a:t>Age of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Older </a:t>
            </a:r>
            <a:r>
              <a:rPr lang="en-US" dirty="0"/>
              <a:t>systems are difficult to maintain.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university still uses a COBOL-based system from the 1990s.</a:t>
            </a:r>
          </a:p>
          <a:p>
            <a:pPr marL="0" indent="0">
              <a:buNone/>
            </a:pPr>
            <a:r>
              <a:rPr lang="en-US" dirty="0"/>
              <a:t>Problems:</a:t>
            </a:r>
          </a:p>
          <a:p>
            <a:pPr lvl="0"/>
            <a:r>
              <a:rPr lang="en-US" dirty="0"/>
              <a:t>Few experts available</a:t>
            </a:r>
          </a:p>
          <a:p>
            <a:pPr lvl="0"/>
            <a:r>
              <a:rPr lang="en-US" dirty="0"/>
              <a:t>Old hardware dependency</a:t>
            </a:r>
          </a:p>
          <a:p>
            <a:pPr lvl="0"/>
            <a:r>
              <a:rPr lang="en-US" dirty="0"/>
              <a:t>Limited tool support</a:t>
            </a:r>
          </a:p>
          <a:p>
            <a:pPr marL="0" indent="0">
              <a:buNone/>
            </a:pPr>
            <a:r>
              <a:rPr lang="en-US" dirty="0"/>
              <a:t>Result: Maintenance cost increases.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85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79235"/>
          </a:xfrm>
        </p:spPr>
        <p:txBody>
          <a:bodyPr/>
          <a:lstStyle/>
          <a:p>
            <a:r>
              <a:rPr lang="en-US" b="1" dirty="0"/>
              <a:t>Team Experience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Experienced </a:t>
            </a:r>
            <a:r>
              <a:rPr lang="en-US" dirty="0"/>
              <a:t>teams solve problems faster.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new team takes over a hospital system.</a:t>
            </a:r>
          </a:p>
          <a:p>
            <a:pPr marL="0" indent="0">
              <a:buNone/>
            </a:pPr>
            <a:r>
              <a:rPr lang="en-US" dirty="0"/>
              <a:t>Because they lack domain knowledge:</a:t>
            </a:r>
          </a:p>
          <a:p>
            <a:pPr lvl="0"/>
            <a:r>
              <a:rPr lang="en-US" dirty="0"/>
              <a:t>More bugs occur</a:t>
            </a:r>
          </a:p>
          <a:p>
            <a:pPr lvl="0"/>
            <a:r>
              <a:rPr lang="en-US" dirty="0"/>
              <a:t>Fixes take longer</a:t>
            </a:r>
          </a:p>
          <a:p>
            <a:pPr lvl="0"/>
            <a:r>
              <a:rPr lang="en-US" dirty="0"/>
              <a:t>Testing effort increases</a:t>
            </a:r>
          </a:p>
          <a:p>
            <a:pPr marL="0" indent="0">
              <a:buNone/>
            </a:pPr>
            <a:r>
              <a:rPr lang="en-US" dirty="0"/>
              <a:t>Result: Higher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3442559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Frequency of Changes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Frequent </a:t>
            </a:r>
            <a:r>
              <a:rPr lang="en-US" dirty="0"/>
              <a:t>changes increase maintenance effort.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Government changes tax rules every year.</a:t>
            </a:r>
          </a:p>
          <a:p>
            <a:r>
              <a:rPr lang="en-US" dirty="0"/>
              <a:t>Payroll systems require continuous updates.</a:t>
            </a:r>
          </a:p>
          <a:p>
            <a:pPr marL="0" indent="0">
              <a:buNone/>
            </a:pPr>
            <a:r>
              <a:rPr lang="en-US" dirty="0"/>
              <a:t>Result: Higher maintenance workload.</a:t>
            </a:r>
          </a:p>
        </p:txBody>
      </p:sp>
    </p:spTree>
    <p:extLst>
      <p:ext uri="{BB962C8B-B14F-4D97-AF65-F5344CB8AC3E}">
        <p14:creationId xmlns:p14="http://schemas.microsoft.com/office/powerpoint/2010/main" val="836197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68082"/>
          </a:xfrm>
        </p:spPr>
        <p:txBody>
          <a:bodyPr/>
          <a:lstStyle/>
          <a:p>
            <a:r>
              <a:rPr lang="en-US" b="1" dirty="0"/>
              <a:t>Testing Quality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25283"/>
            <a:ext cx="7704667" cy="42745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Poor </a:t>
            </a:r>
            <a:r>
              <a:rPr lang="en-US" dirty="0"/>
              <a:t>testing causes repeated failures.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change is released without regression testing.</a:t>
            </a:r>
          </a:p>
          <a:p>
            <a:pPr marL="0" indent="0">
              <a:buNone/>
            </a:pPr>
            <a:r>
              <a:rPr lang="en-US" dirty="0"/>
              <a:t>New update breaks:</a:t>
            </a:r>
          </a:p>
          <a:p>
            <a:pPr lvl="0"/>
            <a:r>
              <a:rPr lang="en-US" dirty="0"/>
              <a:t>Login system</a:t>
            </a:r>
          </a:p>
          <a:p>
            <a:pPr lvl="0"/>
            <a:r>
              <a:rPr lang="en-US" dirty="0"/>
              <a:t>Report generation</a:t>
            </a:r>
          </a:p>
          <a:p>
            <a:pPr lvl="0"/>
            <a:r>
              <a:rPr lang="en-US" dirty="0"/>
              <a:t>Notifications</a:t>
            </a:r>
          </a:p>
          <a:p>
            <a:pPr marL="0" indent="0">
              <a:buNone/>
            </a:pPr>
            <a:r>
              <a:rPr lang="en-US" dirty="0"/>
              <a:t>Result: Rework increases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1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63052"/>
          </a:xfrm>
        </p:spPr>
        <p:txBody>
          <a:bodyPr/>
          <a:lstStyle/>
          <a:p>
            <a:r>
              <a:rPr lang="en-US" b="1" dirty="0"/>
              <a:t>System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089484"/>
            <a:ext cx="7704667" cy="3332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Modular </a:t>
            </a:r>
            <a:r>
              <a:rPr lang="en-US" dirty="0"/>
              <a:t>systems are easier to maintain.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In modular architecture:</a:t>
            </a:r>
          </a:p>
          <a:p>
            <a:pPr lvl="0"/>
            <a:r>
              <a:rPr lang="en-US" dirty="0"/>
              <a:t>One module changes independently</a:t>
            </a:r>
          </a:p>
          <a:p>
            <a:pPr marL="0" indent="0">
              <a:buNone/>
            </a:pPr>
            <a:r>
              <a:rPr lang="en-US" dirty="0"/>
              <a:t>In tightly coupled architecture:</a:t>
            </a:r>
          </a:p>
          <a:p>
            <a:pPr lvl="0"/>
            <a:r>
              <a:rPr lang="en-US" dirty="0"/>
              <a:t>One change affects entire system</a:t>
            </a:r>
          </a:p>
          <a:p>
            <a:pPr marL="0" indent="0">
              <a:buNone/>
            </a:pPr>
            <a:r>
              <a:rPr lang="en-US" dirty="0"/>
              <a:t>Result: Poor design increases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2032422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Maintenance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1096"/>
            <a:ext cx="7704667" cy="40887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Maintenance is one of the most difficult software engineering activities.</a:t>
            </a:r>
          </a:p>
          <a:p>
            <a:pPr marL="0" indent="0">
              <a:buNone/>
            </a:pPr>
            <a:endParaRPr dirty="0"/>
          </a:p>
          <a:p>
            <a:pPr algn="l"/>
            <a:r>
              <a:rPr dirty="0"/>
              <a:t>Lack of documentation</a:t>
            </a:r>
          </a:p>
          <a:p>
            <a:pPr algn="l"/>
            <a:r>
              <a:rPr dirty="0"/>
              <a:t>Understanding old code</a:t>
            </a:r>
          </a:p>
          <a:p>
            <a:pPr algn="l"/>
            <a:r>
              <a:rPr dirty="0"/>
              <a:t>Hidden </a:t>
            </a:r>
            <a:r>
              <a:rPr dirty="0" smtClean="0"/>
              <a:t>dependencies</a:t>
            </a:r>
            <a:endParaRPr lang="en-US" dirty="0" smtClean="0"/>
          </a:p>
          <a:p>
            <a:pPr algn="l"/>
            <a:r>
              <a:rPr lang="en-US" dirty="0" smtClean="0"/>
              <a:t>User Expectations</a:t>
            </a:r>
            <a:endParaRPr dirty="0"/>
          </a:p>
          <a:p>
            <a:pPr algn="l"/>
            <a:r>
              <a:rPr dirty="0"/>
              <a:t>Continuous change requests</a:t>
            </a:r>
          </a:p>
          <a:p>
            <a:pPr algn="l"/>
            <a:r>
              <a:rPr dirty="0"/>
              <a:t>Regression risks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4273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1 – Lack of Documentation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29063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Scenario</a:t>
            </a:r>
            <a:endParaRPr lang="en-US" b="1" dirty="0"/>
          </a:p>
          <a:p>
            <a:r>
              <a:rPr lang="en-US" dirty="0"/>
              <a:t>A developer modifies payment logic but records nothing.</a:t>
            </a:r>
          </a:p>
          <a:p>
            <a:r>
              <a:rPr lang="en-US" dirty="0"/>
              <a:t>Months later another developer changes same module and unknowingly removes the fix.</a:t>
            </a:r>
          </a:p>
          <a:p>
            <a:pPr marL="0" indent="0">
              <a:buNone/>
            </a:pPr>
            <a:r>
              <a:rPr lang="en-US" dirty="0"/>
              <a:t>Result: Bug reappears.</a:t>
            </a:r>
          </a:p>
        </p:txBody>
      </p:sp>
    </p:spTree>
    <p:extLst>
      <p:ext uri="{BB962C8B-B14F-4D97-AF65-F5344CB8AC3E}">
        <p14:creationId xmlns:p14="http://schemas.microsoft.com/office/powerpoint/2010/main" val="948541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389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2 – Understanding Old Code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859" y="2153652"/>
            <a:ext cx="7704667" cy="33328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Scenario</a:t>
            </a:r>
            <a:endParaRPr lang="en-US" b="1" dirty="0"/>
          </a:p>
          <a:p>
            <a:r>
              <a:rPr lang="en-US" dirty="0"/>
              <a:t>A company maintains a 15-year-old ERP system written by developers who already left.</a:t>
            </a:r>
          </a:p>
          <a:p>
            <a:r>
              <a:rPr lang="en-US" dirty="0"/>
              <a:t>New maintainers struggle to understand:</a:t>
            </a:r>
          </a:p>
          <a:p>
            <a:pPr lvl="0"/>
            <a:r>
              <a:rPr lang="en-US" dirty="0"/>
              <a:t>Architecture</a:t>
            </a:r>
          </a:p>
          <a:p>
            <a:pPr lvl="0"/>
            <a:r>
              <a:rPr lang="en-US" dirty="0"/>
              <a:t>Business rules</a:t>
            </a:r>
          </a:p>
          <a:p>
            <a:pPr lvl="0"/>
            <a:r>
              <a:rPr lang="en-US" dirty="0"/>
              <a:t>Dependencies</a:t>
            </a:r>
          </a:p>
          <a:p>
            <a:pPr marL="0" indent="0">
              <a:buNone/>
            </a:pPr>
            <a:r>
              <a:rPr lang="en-US" dirty="0"/>
              <a:t>Result: Maintenance becomes slow and risky.</a:t>
            </a:r>
          </a:p>
        </p:txBody>
      </p:sp>
    </p:spTree>
    <p:extLst>
      <p:ext uri="{BB962C8B-B14F-4D97-AF65-F5344CB8AC3E}">
        <p14:creationId xmlns:p14="http://schemas.microsoft.com/office/powerpoint/2010/main" val="1453123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61287"/>
          </a:xfrm>
        </p:spPr>
        <p:txBody>
          <a:bodyPr/>
          <a:lstStyle/>
          <a:p>
            <a:r>
              <a:rPr lang="en-US" b="1" dirty="0"/>
              <a:t>Problem 3 – Hidden Dependencies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981200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Scenario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Developer changes attendance module.</a:t>
            </a:r>
          </a:p>
          <a:p>
            <a:pPr marL="0" indent="0">
              <a:buNone/>
            </a:pPr>
            <a:r>
              <a:rPr lang="en-US" dirty="0" smtClean="0"/>
              <a:t> Unexpectedly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Payroll calculation fails</a:t>
            </a:r>
          </a:p>
          <a:p>
            <a:pPr lvl="0"/>
            <a:r>
              <a:rPr lang="en-US" dirty="0"/>
              <a:t>Reporting module crashes</a:t>
            </a:r>
          </a:p>
          <a:p>
            <a:pPr marL="0" indent="0">
              <a:buNone/>
            </a:pPr>
            <a:r>
              <a:rPr lang="en-US" dirty="0"/>
              <a:t>Reason: Modules were tightly connected.</a:t>
            </a:r>
          </a:p>
        </p:txBody>
      </p:sp>
    </p:spTree>
    <p:extLst>
      <p:ext uri="{BB962C8B-B14F-4D97-AF65-F5344CB8AC3E}">
        <p14:creationId xmlns:p14="http://schemas.microsoft.com/office/powerpoint/2010/main" val="2695109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05255"/>
          </a:xfrm>
        </p:spPr>
        <p:txBody>
          <a:bodyPr/>
          <a:lstStyle/>
          <a:p>
            <a:r>
              <a:rPr lang="en-US" b="1" dirty="0"/>
              <a:t>Problem 4 – User Expectations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38528"/>
            <a:ext cx="7704667" cy="40612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Users </a:t>
            </a:r>
            <a:r>
              <a:rPr lang="en-US" dirty="0"/>
              <a:t>compare software to hardware.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User says: “Just fix the login button quickly.”</a:t>
            </a:r>
          </a:p>
          <a:p>
            <a:pPr marL="0" indent="0">
              <a:buNone/>
            </a:pPr>
            <a:r>
              <a:rPr lang="en-US" dirty="0"/>
              <a:t>Reality: Fixing one issue may affect:</a:t>
            </a:r>
          </a:p>
          <a:p>
            <a:pPr lvl="0"/>
            <a:r>
              <a:rPr lang="en-US" dirty="0"/>
              <a:t>Authentication</a:t>
            </a:r>
          </a:p>
          <a:p>
            <a:pPr lvl="0"/>
            <a:r>
              <a:rPr lang="en-US" dirty="0"/>
              <a:t>Database</a:t>
            </a:r>
          </a:p>
          <a:p>
            <a:pPr lvl="0"/>
            <a:r>
              <a:rPr lang="en-US" dirty="0"/>
              <a:t>Security</a:t>
            </a:r>
          </a:p>
          <a:p>
            <a:pPr lvl="0"/>
            <a:r>
              <a:rPr lang="en-US" dirty="0"/>
              <a:t>API integration</a:t>
            </a:r>
          </a:p>
          <a:p>
            <a:pPr marL="0" indent="0">
              <a:buNone/>
            </a:pPr>
            <a:r>
              <a:rPr lang="en-US" dirty="0"/>
              <a:t>Software changes are interconnected.</a:t>
            </a:r>
          </a:p>
        </p:txBody>
      </p:sp>
    </p:spTree>
    <p:extLst>
      <p:ext uri="{BB962C8B-B14F-4D97-AF65-F5344CB8AC3E}">
        <p14:creationId xmlns:p14="http://schemas.microsoft.com/office/powerpoint/2010/main" val="4099061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595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5 – Continuous Change Requests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7192"/>
            <a:ext cx="7704667" cy="33328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Users </a:t>
            </a:r>
            <a:r>
              <a:rPr lang="en-US" dirty="0"/>
              <a:t>continuously request new features.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After deploying LMS:</a:t>
            </a:r>
          </a:p>
          <a:p>
            <a:pPr marL="0" indent="0">
              <a:buNone/>
            </a:pPr>
            <a:r>
              <a:rPr lang="en-US" dirty="0"/>
              <a:t>Users request:</a:t>
            </a:r>
          </a:p>
          <a:p>
            <a:pPr lvl="0"/>
            <a:r>
              <a:rPr lang="en-US" dirty="0"/>
              <a:t>Dark mode</a:t>
            </a:r>
          </a:p>
          <a:p>
            <a:pPr lvl="0"/>
            <a:r>
              <a:rPr lang="en-US" dirty="0"/>
              <a:t>AI </a:t>
            </a:r>
            <a:r>
              <a:rPr lang="en-US" dirty="0" err="1"/>
              <a:t>chatbot</a:t>
            </a:r>
            <a:endParaRPr lang="en-US" dirty="0"/>
          </a:p>
          <a:p>
            <a:pPr lvl="0"/>
            <a:r>
              <a:rPr lang="en-US" dirty="0"/>
              <a:t>Online quizzes</a:t>
            </a:r>
          </a:p>
          <a:p>
            <a:pPr lvl="0"/>
            <a:r>
              <a:rPr lang="en-US" dirty="0"/>
              <a:t>Mobile app</a:t>
            </a:r>
          </a:p>
          <a:p>
            <a:pPr lvl="0"/>
            <a:r>
              <a:rPr lang="en-US" dirty="0"/>
              <a:t>Video lectures</a:t>
            </a:r>
          </a:p>
          <a:p>
            <a:pPr marL="0" indent="0">
              <a:buNone/>
            </a:pPr>
            <a:r>
              <a:rPr lang="en-US" dirty="0"/>
              <a:t>Maintenance never truly ends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17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6 – Regression Risk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Fixing </a:t>
            </a:r>
            <a:r>
              <a:rPr lang="en-US" dirty="0"/>
              <a:t>one bug may create another bug.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Developer fixes report export feature.</a:t>
            </a:r>
          </a:p>
          <a:p>
            <a:pPr marL="0" indent="0">
              <a:buNone/>
            </a:pPr>
            <a:r>
              <a:rPr lang="en-US" dirty="0"/>
              <a:t>Unexpectedly:</a:t>
            </a:r>
          </a:p>
          <a:p>
            <a:pPr lvl="0"/>
            <a:r>
              <a:rPr lang="en-US" dirty="0"/>
              <a:t>PDF generation breaks</a:t>
            </a:r>
          </a:p>
          <a:p>
            <a:pPr lvl="0"/>
            <a:r>
              <a:rPr lang="en-US" dirty="0"/>
              <a:t>Email attachments stop working</a:t>
            </a:r>
          </a:p>
          <a:p>
            <a:pPr marL="0" indent="0">
              <a:buNone/>
            </a:pPr>
            <a:r>
              <a:rPr lang="en-US" dirty="0"/>
              <a:t>Therefore regression testing is </a:t>
            </a:r>
            <a:r>
              <a:rPr lang="en-US" dirty="0" smtClean="0"/>
              <a:t>essential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23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Mini Case Study – Smart Parking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/>
            <a:r>
              <a:t>Payment failures reported</a:t>
            </a:r>
          </a:p>
          <a:p>
            <a:pPr algn="l"/>
            <a:r>
              <a:t>Government introduces new regulations</a:t>
            </a:r>
          </a:p>
          <a:p>
            <a:pPr algn="l"/>
            <a:r>
              <a:t>Users request mobile notifications</a:t>
            </a:r>
          </a:p>
          <a:p>
            <a:pPr algn="l"/>
            <a:r>
              <a:t>System becomes slow during rush hours</a:t>
            </a:r>
          </a:p>
          <a:p>
            <a:pPr algn="l"/>
            <a:r>
              <a:t>Security vulnerabilities discovered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/>
            <a:r>
              <a:t>Maintenance consumes major software budget</a:t>
            </a:r>
          </a:p>
          <a:p>
            <a:pPr algn="l"/>
            <a:r>
              <a:t>Software evolves continuously</a:t>
            </a:r>
          </a:p>
          <a:p>
            <a:pPr algn="l"/>
            <a:r>
              <a:t>Prioritization is necessary</a:t>
            </a:r>
          </a:p>
          <a:p>
            <a:pPr algn="l"/>
            <a:r>
              <a:t>Good design reduces future cost</a:t>
            </a:r>
          </a:p>
          <a:p>
            <a:pPr algn="l"/>
            <a:r>
              <a:t>Maintenance is harder than many expect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200</TotalTime>
  <Words>1835</Words>
  <Application>Microsoft Office PowerPoint</Application>
  <PresentationFormat>On-screen Show (4:3)</PresentationFormat>
  <Paragraphs>529</Paragraphs>
  <Slides>42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Arial</vt:lpstr>
      <vt:lpstr>Calibri</vt:lpstr>
      <vt:lpstr>Corbel</vt:lpstr>
      <vt:lpstr>Times New Roman</vt:lpstr>
      <vt:lpstr>Parallax</vt:lpstr>
      <vt:lpstr>Advance Software Engineering</vt:lpstr>
      <vt:lpstr>Lecture Objectives</vt:lpstr>
      <vt:lpstr>Introduction to Software Maintenance</vt:lpstr>
      <vt:lpstr>Important Reality</vt:lpstr>
      <vt:lpstr>Why Maintenance is Needed</vt:lpstr>
      <vt:lpstr>A. Fixing Bugs</vt:lpstr>
      <vt:lpstr>B. Adapting to Environment Changes</vt:lpstr>
      <vt:lpstr>C. Improving Performance</vt:lpstr>
      <vt:lpstr>D. Adding New Features</vt:lpstr>
      <vt:lpstr>E. Preventing Future Problems</vt:lpstr>
      <vt:lpstr>Development vs Maintenance</vt:lpstr>
      <vt:lpstr>Why Maintenance is More Difficult</vt:lpstr>
      <vt:lpstr>Example</vt:lpstr>
      <vt:lpstr>Types of Software Maintenance</vt:lpstr>
      <vt:lpstr>Corrective Maintenance</vt:lpstr>
      <vt:lpstr>Adaptive Maintenance</vt:lpstr>
      <vt:lpstr>Perfective Maintenance</vt:lpstr>
      <vt:lpstr>Preventive Maintenance</vt:lpstr>
      <vt:lpstr>Priority of Change Requests</vt:lpstr>
      <vt:lpstr>The importance of categorising software changes </vt:lpstr>
      <vt:lpstr>Priority 1 – Urgent</vt:lpstr>
      <vt:lpstr>Priority 2 – Critical</vt:lpstr>
      <vt:lpstr>Priority 3 – Major/Important </vt:lpstr>
      <vt:lpstr>Priority 4 – Minor</vt:lpstr>
      <vt:lpstr>Factors Affecting Maintenance Cost</vt:lpstr>
      <vt:lpstr>System Size and Complexity</vt:lpstr>
      <vt:lpstr>Code Quality</vt:lpstr>
      <vt:lpstr>Documentation Quality</vt:lpstr>
      <vt:lpstr>Age of System</vt:lpstr>
      <vt:lpstr>Team Experience</vt:lpstr>
      <vt:lpstr>Frequency of Changes</vt:lpstr>
      <vt:lpstr>Testing Quality</vt:lpstr>
      <vt:lpstr>System Design</vt:lpstr>
      <vt:lpstr>Why Maintenance is Difficult</vt:lpstr>
      <vt:lpstr>Problem 1 – Lack of Documentation</vt:lpstr>
      <vt:lpstr>Problem 2 – Understanding Old Code</vt:lpstr>
      <vt:lpstr>Problem 3 – Hidden Dependencies</vt:lpstr>
      <vt:lpstr>Problem 4 – User Expectations</vt:lpstr>
      <vt:lpstr>Problem 5 – Continuous Change Requests</vt:lpstr>
      <vt:lpstr>Problem 6 – Regression Risk</vt:lpstr>
      <vt:lpstr>Mini Case Study – Smart Parking System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 Software Engineering</dc:title>
  <dc:subject/>
  <dc:creator>shehla saeed</dc:creator>
  <cp:keywords/>
  <dc:description>generated using python-pptx</dc:description>
  <cp:lastModifiedBy>shehla saeed</cp:lastModifiedBy>
  <cp:revision>22</cp:revision>
  <dcterms:created xsi:type="dcterms:W3CDTF">2013-01-27T09:14:16Z</dcterms:created>
  <dcterms:modified xsi:type="dcterms:W3CDTF">2026-05-09T13:51:38Z</dcterms:modified>
  <cp:category/>
</cp:coreProperties>
</file>
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52" r:id="rId1"/>
  </p:sldMasterIdLst>
  <p:notesMasterIdLst>
    <p:notesMasterId r:id="rId32"/>
  </p:notesMasterIdLst>
  <p:handoutMasterIdLst>
    <p:handoutMasterId r:id="rId33"/>
  </p:handoutMasterIdLst>
  <p:sldIdLst>
    <p:sldId id="389" r:id="rId2"/>
    <p:sldId id="436" r:id="rId3"/>
    <p:sldId id="390" r:id="rId4"/>
    <p:sldId id="430" r:id="rId5"/>
    <p:sldId id="431" r:id="rId6"/>
    <p:sldId id="257" r:id="rId7"/>
    <p:sldId id="394" r:id="rId8"/>
    <p:sldId id="432" r:id="rId9"/>
    <p:sldId id="433" r:id="rId10"/>
    <p:sldId id="434" r:id="rId11"/>
    <p:sldId id="435" r:id="rId12"/>
    <p:sldId id="437" r:id="rId13"/>
    <p:sldId id="259" r:id="rId14"/>
    <p:sldId id="438" r:id="rId15"/>
    <p:sldId id="439" r:id="rId16"/>
    <p:sldId id="261" r:id="rId17"/>
    <p:sldId id="440" r:id="rId18"/>
    <p:sldId id="441" r:id="rId19"/>
    <p:sldId id="444" r:id="rId20"/>
    <p:sldId id="448" r:id="rId21"/>
    <p:sldId id="447" r:id="rId22"/>
    <p:sldId id="449" r:id="rId23"/>
    <p:sldId id="445" r:id="rId24"/>
    <p:sldId id="450" r:id="rId25"/>
    <p:sldId id="402" r:id="rId26"/>
    <p:sldId id="442" r:id="rId27"/>
    <p:sldId id="443" r:id="rId28"/>
    <p:sldId id="446" r:id="rId29"/>
    <p:sldId id="374" r:id="rId30"/>
    <p:sldId id="451" r:id="rId31"/>
  </p:sldIdLst>
  <p:sldSz cx="9144000" cy="6858000" type="screen4x3"/>
  <p:notesSz cx="7000875" cy="92868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76941" autoAdjust="0"/>
  </p:normalViewPr>
  <p:slideViewPr>
    <p:cSldViewPr>
      <p:cViewPr varScale="1">
        <p:scale>
          <a:sx n="71" d="100"/>
          <a:sy n="71" d="100"/>
        </p:scale>
        <p:origin x="18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68" tIns="46534" rIns="93068" bIns="46534" numCol="1" anchor="t" anchorCtr="0" compatLnSpc="1">
            <a:prstTxWarp prst="textNoShape">
              <a:avLst/>
            </a:prstTxWarp>
          </a:bodyPr>
          <a:lstStyle>
            <a:lvl1pPr algn="l" defTabSz="930275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33712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68" tIns="46534" rIns="93068" bIns="46534" numCol="1" anchor="t" anchorCtr="0" compatLnSpc="1">
            <a:prstTxWarp prst="textNoShape">
              <a:avLst/>
            </a:prstTxWarp>
          </a:bodyPr>
          <a:lstStyle>
            <a:lvl1pPr algn="r" defTabSz="930275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1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3325"/>
            <a:ext cx="3033713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68" tIns="46534" rIns="93068" bIns="46534" numCol="1" anchor="b" anchorCtr="0" compatLnSpc="1">
            <a:prstTxWarp prst="textNoShape">
              <a:avLst/>
            </a:prstTxWarp>
          </a:bodyPr>
          <a:lstStyle>
            <a:lvl1pPr algn="l" defTabSz="930275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1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23325"/>
            <a:ext cx="3033712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068" tIns="46534" rIns="93068" bIns="46534" numCol="1" anchor="b" anchorCtr="0" compatLnSpc="1">
            <a:prstTxWarp prst="textNoShape">
              <a:avLst/>
            </a:prstTxWarp>
          </a:bodyPr>
          <a:lstStyle>
            <a:lvl1pPr algn="r" defTabSz="930275">
              <a:defRPr/>
            </a:lvl1pPr>
          </a:lstStyle>
          <a:p>
            <a:fld id="{5250F8A3-45F7-4CCB-A6AA-F5EEAFB907D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37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5575" y="0"/>
            <a:ext cx="30337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685AF14-75B2-4F19-846A-611353ACC78B}" type="datetimeFigureOut">
              <a:rPr lang="en-US"/>
              <a:pPr>
                <a:defRPr/>
              </a:pPr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696913"/>
            <a:ext cx="4645025" cy="3482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11663"/>
            <a:ext cx="5600700" cy="41783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0150"/>
            <a:ext cx="30337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5575" y="8820150"/>
            <a:ext cx="3033713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79431F8C-010D-48EE-BCE7-55A292B42BE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Software quality determines </a:t>
            </a:r>
            <a:r>
              <a:rPr lang="en-US" altLang="en-US" b="1" smtClean="0"/>
              <a:t>how well a system works, how reliable it is, and how satisfied users are</a:t>
            </a:r>
            <a:r>
              <a:rPr lang="en-US" altLang="en-US" smtClean="0"/>
              <a:t>. In real life, software is used in </a:t>
            </a:r>
            <a:r>
              <a:rPr lang="en-US" altLang="en-US" b="1" smtClean="0"/>
              <a:t>critical systems</a:t>
            </a:r>
            <a:r>
              <a:rPr lang="en-US" altLang="en-US" smtClean="0"/>
              <a:t>, not just games or websites.</a:t>
            </a:r>
          </a:p>
          <a:p>
            <a:r>
              <a:rPr lang="en-US" altLang="en-US" b="1" smtClean="0"/>
              <a:t>High-quality software means:</a:t>
            </a:r>
            <a:endParaRPr lang="en-US" altLang="en-US" smtClean="0"/>
          </a:p>
          <a:p>
            <a:r>
              <a:rPr lang="en-US" altLang="en-US" smtClean="0"/>
              <a:t>Correct results</a:t>
            </a:r>
          </a:p>
          <a:p>
            <a:r>
              <a:rPr lang="en-US" altLang="en-US" smtClean="0"/>
              <a:t>Reliable performance</a:t>
            </a:r>
          </a:p>
          <a:p>
            <a:r>
              <a:rPr lang="en-US" altLang="en-US" smtClean="0"/>
              <a:t>Ease of use</a:t>
            </a:r>
          </a:p>
          <a:p>
            <a:r>
              <a:rPr lang="en-US" altLang="en-US" smtClean="0"/>
              <a:t>Safety and security</a:t>
            </a:r>
          </a:p>
          <a:p>
            <a:r>
              <a:rPr lang="en-US" altLang="en-US" smtClean="0"/>
              <a:t>Long-term maintainability</a:t>
            </a:r>
          </a:p>
          <a:p>
            <a:r>
              <a:rPr lang="en-US" altLang="en-US" b="1" smtClean="0"/>
              <a:t>Low-quality software leads to:</a:t>
            </a:r>
            <a:endParaRPr lang="en-US" altLang="en-US" smtClean="0"/>
          </a:p>
          <a:p>
            <a:r>
              <a:rPr lang="en-US" altLang="en-US" smtClean="0"/>
              <a:t>System failures</a:t>
            </a:r>
          </a:p>
          <a:p>
            <a:r>
              <a:rPr lang="en-US" altLang="en-US" smtClean="0"/>
              <a:t>Financial loss</a:t>
            </a:r>
          </a:p>
          <a:p>
            <a:r>
              <a:rPr lang="en-US" altLang="en-US" smtClean="0"/>
              <a:t>Security breaches</a:t>
            </a:r>
          </a:p>
          <a:p>
            <a:r>
              <a:rPr lang="en-US" altLang="en-US" smtClean="0"/>
              <a:t>Loss of trust</a:t>
            </a:r>
          </a:p>
          <a:p>
            <a:r>
              <a:rPr lang="en-US" altLang="en-US" smtClean="0"/>
              <a:t>Legal and ethical issues</a:t>
            </a:r>
          </a:p>
          <a:p>
            <a:r>
              <a:rPr lang="en-US" altLang="en-US" smtClean="0"/>
              <a:t>📌 </a:t>
            </a:r>
            <a:r>
              <a:rPr lang="en-US" altLang="en-US" b="1" smtClean="0"/>
              <a:t>Example: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A banking app that crashes during money transfer causes </a:t>
            </a:r>
            <a:r>
              <a:rPr lang="en-US" altLang="en-US" b="1" smtClean="0"/>
              <a:t>loss of customer trust</a:t>
            </a:r>
            <a:r>
              <a:rPr lang="en-US" altLang="en-US" smtClean="0"/>
              <a:t> and </a:t>
            </a:r>
            <a:r>
              <a:rPr lang="en-US" altLang="en-US" b="1" smtClean="0"/>
              <a:t>financial risk</a:t>
            </a:r>
            <a:r>
              <a:rPr lang="en-US" altLang="en-US" smtClean="0"/>
              <a:t>, even if the crash happens rarely.</a:t>
            </a:r>
          </a:p>
          <a:p>
            <a:endParaRPr lang="en-US" altLang="en-US" smtClean="0"/>
          </a:p>
        </p:txBody>
      </p:sp>
      <p:sp>
        <p:nvSpPr>
          <p:cNvPr id="1126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BDD72C-D0AE-4EDD-9E47-BFC24BF3F6C4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Software should </a:t>
            </a:r>
            <a:r>
              <a:rPr lang="en-US" b="1" dirty="0" smtClean="0"/>
              <a:t>produce accurate and expected outputs </a:t>
            </a:r>
            <a:r>
              <a:rPr lang="en-US" dirty="0" smtClean="0"/>
              <a:t>according to requirements.</a:t>
            </a:r>
          </a:p>
          <a:p>
            <a:r>
              <a:rPr lang="en-US" dirty="0" smtClean="0"/>
              <a:t>If users enter valid input, the software must give the correct result every time.</a:t>
            </a:r>
          </a:p>
          <a:p>
            <a:r>
              <a:rPr lang="en-US" dirty="0" smtClean="0"/>
              <a:t>“Would you trust a calculator that sometimes gives wrong answers?”</a:t>
            </a:r>
          </a:p>
          <a:p>
            <a:endParaRPr lang="en-US" dirty="0" smtClean="0"/>
          </a:p>
          <a:p>
            <a:r>
              <a:rPr lang="en-US" dirty="0" smtClean="0"/>
              <a:t>Software </a:t>
            </a:r>
            <a:r>
              <a:rPr lang="en-US" b="1" dirty="0" smtClean="0"/>
              <a:t>should work consistently without crashing or failing</a:t>
            </a:r>
            <a:r>
              <a:rPr lang="en-US" dirty="0" smtClean="0"/>
              <a:t>, even after long usage.</a:t>
            </a:r>
          </a:p>
          <a:p>
            <a:r>
              <a:rPr lang="en-US" dirty="0" smtClean="0"/>
              <a:t>Reliable software performs correctly under normal and heavy conditions.</a:t>
            </a:r>
          </a:p>
          <a:p>
            <a:endParaRPr lang="en-US" dirty="0" smtClean="0"/>
          </a:p>
          <a:p>
            <a:r>
              <a:rPr lang="en-US" b="1" dirty="0" smtClean="0"/>
              <a:t>Online Shopping Website</a:t>
            </a:r>
          </a:p>
          <a:p>
            <a:r>
              <a:rPr lang="en-US" dirty="0" smtClean="0"/>
              <a:t>During a big sale:</a:t>
            </a:r>
          </a:p>
          <a:p>
            <a:r>
              <a:rPr lang="en-US" dirty="0" smtClean="0"/>
              <a:t>Thousands of users visit simultaneously </a:t>
            </a:r>
          </a:p>
          <a:p>
            <a:r>
              <a:rPr lang="en-US" dirty="0" smtClean="0"/>
              <a:t>Orders should process properly </a:t>
            </a:r>
          </a:p>
          <a:p>
            <a:r>
              <a:rPr lang="en-US" dirty="0" smtClean="0"/>
              <a:t>Website should not freeze or crash </a:t>
            </a:r>
          </a:p>
          <a:p>
            <a:r>
              <a:rPr lang="en-US" dirty="0" smtClean="0"/>
              <a:t>If the system frequently stops working, users lose confidence.</a:t>
            </a:r>
          </a:p>
          <a:p>
            <a:endParaRPr lang="en-US" dirty="0" smtClean="0"/>
          </a:p>
          <a:p>
            <a:r>
              <a:rPr lang="en-US" b="1" dirty="0" smtClean="0"/>
              <a:t>Food Delivery App</a:t>
            </a:r>
          </a:p>
          <a:p>
            <a:r>
              <a:rPr lang="en-US" b="1" dirty="0" smtClean="0"/>
              <a:t>Good usability includes:</a:t>
            </a:r>
          </a:p>
          <a:p>
            <a:r>
              <a:rPr lang="en-US" dirty="0" smtClean="0"/>
              <a:t>Simple menu navigation ,Clear buttons, Easy checkout process , Fast order tracking </a:t>
            </a:r>
          </a:p>
          <a:p>
            <a:r>
              <a:rPr lang="en-US" b="1" dirty="0" smtClean="0"/>
              <a:t>Poor usability includes:</a:t>
            </a:r>
          </a:p>
          <a:p>
            <a:r>
              <a:rPr lang="en-US" dirty="0" smtClean="0"/>
              <a:t>Confusing layout ,Difficult navigation , Too many unnecessary steps</a:t>
            </a:r>
          </a:p>
          <a:p>
            <a:r>
              <a:rPr lang="en-US" dirty="0" smtClean="0"/>
              <a:t>“Why do some people stop using apps after one day?”</a:t>
            </a:r>
          </a:p>
          <a:p>
            <a:endParaRPr lang="en-US" dirty="0" smtClean="0"/>
          </a:p>
          <a:p>
            <a:r>
              <a:rPr lang="en-US" dirty="0" smtClean="0"/>
              <a:t>Software should prevent dangerous situations that may harm people or systems.</a:t>
            </a:r>
          </a:p>
          <a:p>
            <a:r>
              <a:rPr lang="en-US" b="1" dirty="0" smtClean="0"/>
              <a:t>Safety</a:t>
            </a:r>
            <a:r>
              <a:rPr lang="en-US" dirty="0" smtClean="0"/>
              <a:t> is extremely important in:</a:t>
            </a:r>
          </a:p>
          <a:p>
            <a:r>
              <a:rPr lang="en-US" dirty="0" smtClean="0"/>
              <a:t>Medical software ,Airplane systems ,Industrial control systems , Self-driving cars </a:t>
            </a:r>
          </a:p>
          <a:p>
            <a:r>
              <a:rPr lang="en-US" b="1" dirty="0" smtClean="0"/>
              <a:t>Example</a:t>
            </a:r>
          </a:p>
          <a:p>
            <a:r>
              <a:rPr lang="en-US" b="1" dirty="0" smtClean="0"/>
              <a:t>Hospital Software</a:t>
            </a:r>
          </a:p>
          <a:p>
            <a:r>
              <a:rPr lang="en-US" dirty="0" smtClean="0"/>
              <a:t>If patient medicine dosage is calculated incorrectly, it may risk lives.</a:t>
            </a:r>
          </a:p>
          <a:p>
            <a:r>
              <a:rPr lang="en-US" b="1" dirty="0" smtClean="0"/>
              <a:t>Safe software must:</a:t>
            </a:r>
          </a:p>
          <a:p>
            <a:r>
              <a:rPr lang="en-US" dirty="0" smtClean="0"/>
              <a:t>Detect dangerous conditions , Prevent invalid operations , Provide warnings and backups</a:t>
            </a:r>
          </a:p>
          <a:p>
            <a:endParaRPr lang="en-US" dirty="0" smtClean="0"/>
          </a:p>
          <a:p>
            <a:r>
              <a:rPr lang="en-US" b="1" dirty="0" smtClean="0"/>
              <a:t>Security:  </a:t>
            </a:r>
            <a:r>
              <a:rPr lang="en-US" dirty="0" smtClean="0"/>
              <a:t>Software should protect:</a:t>
            </a:r>
          </a:p>
          <a:p>
            <a:r>
              <a:rPr lang="en-US" dirty="0" smtClean="0"/>
              <a:t>User data ,Passwords, Transactions , System resources from unauthorized access or attacks.</a:t>
            </a:r>
          </a:p>
          <a:p>
            <a:r>
              <a:rPr lang="en-US" b="1" dirty="0" smtClean="0"/>
              <a:t>Example</a:t>
            </a:r>
          </a:p>
          <a:p>
            <a:r>
              <a:rPr lang="en-US" b="1" dirty="0" smtClean="0"/>
              <a:t>Banking Application</a:t>
            </a:r>
          </a:p>
          <a:p>
            <a:r>
              <a:rPr lang="en-US" dirty="0" smtClean="0"/>
              <a:t>Secure software should:</a:t>
            </a:r>
          </a:p>
          <a:p>
            <a:r>
              <a:rPr lang="en-US" dirty="0" smtClean="0"/>
              <a:t>Encrypt passwords </a:t>
            </a:r>
          </a:p>
          <a:p>
            <a:r>
              <a:rPr lang="en-US" dirty="0" smtClean="0"/>
              <a:t>Prevent hacking attempts </a:t>
            </a:r>
          </a:p>
          <a:p>
            <a:r>
              <a:rPr lang="en-US" dirty="0" smtClean="0"/>
              <a:t>Protect customer information </a:t>
            </a:r>
          </a:p>
          <a:p>
            <a:r>
              <a:rPr lang="en-US" dirty="0" smtClean="0"/>
              <a:t>Secure online transactions </a:t>
            </a:r>
          </a:p>
          <a:p>
            <a:r>
              <a:rPr lang="en-US" b="1" dirty="0" smtClean="0"/>
              <a:t>maintainability</a:t>
            </a:r>
          </a:p>
          <a:p>
            <a:r>
              <a:rPr lang="en-US" dirty="0" smtClean="0"/>
              <a:t> Software should be easy to:</a:t>
            </a:r>
          </a:p>
          <a:p>
            <a:r>
              <a:rPr lang="en-US" dirty="0" smtClean="0"/>
              <a:t>Modify , Update, Repair , Improve  ,even after years of development.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8491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Trust is difficult to build and easy to lose.</a:t>
            </a:r>
          </a:p>
          <a:p>
            <a:endParaRPr lang="en-US" b="1" dirty="0" smtClean="0"/>
          </a:p>
          <a:p>
            <a:r>
              <a:rPr lang="en-US" b="1" dirty="0" smtClean="0"/>
              <a:t>E-Commerce Website</a:t>
            </a:r>
          </a:p>
          <a:p>
            <a:r>
              <a:rPr lang="en-US" dirty="0" smtClean="0"/>
              <a:t>If customers repeatedly experience:</a:t>
            </a:r>
          </a:p>
          <a:p>
            <a:r>
              <a:rPr lang="en-US" dirty="0" smtClean="0"/>
              <a:t>Failed payments , Missing orders ,Wrong deliveries </a:t>
            </a:r>
          </a:p>
          <a:p>
            <a:r>
              <a:rPr lang="en-US" dirty="0" smtClean="0"/>
              <a:t>they may stop using the platform completely.</a:t>
            </a:r>
          </a:p>
          <a:p>
            <a:endParaRPr lang="en-US" dirty="0" smtClean="0"/>
          </a:p>
          <a:p>
            <a:r>
              <a:rPr lang="en-US" dirty="0" smtClean="0"/>
              <a:t>Poor-quality software may violate:</a:t>
            </a:r>
          </a:p>
          <a:p>
            <a:r>
              <a:rPr lang="en-US" b="1" dirty="0" smtClean="0"/>
              <a:t>Laws , Industry standards , Ethical responsibilities </a:t>
            </a:r>
          </a:p>
          <a:p>
            <a:r>
              <a:rPr lang="en-US" dirty="0" smtClean="0"/>
              <a:t>Especially in sensitive domains such as:</a:t>
            </a:r>
          </a:p>
          <a:p>
            <a:r>
              <a:rPr lang="en-US" dirty="0" smtClean="0"/>
              <a:t>Healthcare , Banking , Aviation , Government systems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005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 noChangeArrowheads="1"/>
          </p:cNvSpPr>
          <p:nvPr>
            <p:ph type="body" sz="quarter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Explain quality with real-life software examples students use daily.</a:t>
            </a:r>
          </a:p>
        </p:txBody>
      </p:sp>
      <p:sp>
        <p:nvSpPr>
          <p:cNvPr id="1536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Correctness Produces accurate results</a:t>
            </a:r>
          </a:p>
          <a:p>
            <a:r>
              <a:rPr lang="en-US" dirty="0" smtClean="0"/>
              <a:t>Reliability Performs consistently without failure</a:t>
            </a:r>
          </a:p>
          <a:p>
            <a:r>
              <a:rPr lang="en-US" dirty="0" smtClean="0"/>
              <a:t>Efficiency Uses system resources effectively</a:t>
            </a:r>
          </a:p>
          <a:p>
            <a:r>
              <a:rPr lang="en-US" dirty="0" smtClean="0"/>
              <a:t>Maintainability Easy to modify and update</a:t>
            </a:r>
          </a:p>
          <a:p>
            <a:r>
              <a:rPr lang="en-US" dirty="0" smtClean="0"/>
              <a:t>Usability Easy for users to learn and use</a:t>
            </a:r>
          </a:p>
          <a:p>
            <a:r>
              <a:rPr lang="en-US" dirty="0" smtClean="0"/>
              <a:t>Portability Can run on different platforms</a:t>
            </a:r>
          </a:p>
          <a:p>
            <a:r>
              <a:rPr lang="en-US" dirty="0" smtClean="0"/>
              <a:t>Testability Easy to test</a:t>
            </a:r>
          </a:p>
          <a:p>
            <a:r>
              <a:rPr lang="en-US" dirty="0" err="1" smtClean="0"/>
              <a:t>SecurityProtects</a:t>
            </a:r>
            <a:r>
              <a:rPr lang="en-US" dirty="0" smtClean="0"/>
              <a:t> data and prevents attacks</a:t>
            </a:r>
            <a:endParaRPr lang="en-US" altLang="en-US" dirty="0" smtClean="0"/>
          </a:p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1741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CA1D16E-1FDA-442F-85F0-5995DEAE060C}" type="slidenum">
              <a:rPr lang="en-US" altLang="en-US"/>
              <a:pPr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 reliability </a:t>
            </a:r>
          </a:p>
          <a:p>
            <a:r>
              <a:rPr lang="en-US" dirty="0" smtClean="0"/>
              <a:t>2 usability </a:t>
            </a:r>
          </a:p>
          <a:p>
            <a:r>
              <a:rPr lang="en-US" dirty="0" smtClean="0"/>
              <a:t>3 efficiency</a:t>
            </a:r>
          </a:p>
          <a:p>
            <a:r>
              <a:rPr lang="en-US" smtClean="0"/>
              <a:t>4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7560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 noChangeArrowheads="1"/>
          </p:cNvSpPr>
          <p:nvPr>
            <p:ph type="body" sz="quarter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Clarify SQA as preventive, not just testing.</a:t>
            </a:r>
          </a:p>
          <a:p>
            <a:r>
              <a:rPr lang="en-US" altLang="en-US" b="1" dirty="0" smtClean="0"/>
              <a:t>Process quality</a:t>
            </a:r>
            <a:r>
              <a:rPr lang="en-US" altLang="en-US" dirty="0" smtClean="0"/>
              <a:t> refers to </a:t>
            </a:r>
            <a:r>
              <a:rPr lang="en-US" altLang="en-US" b="1" dirty="0" smtClean="0"/>
              <a:t>how well the software development process is designed, followed, monitored, and improved</a:t>
            </a:r>
            <a:r>
              <a:rPr lang="en-US" altLang="en-US" dirty="0" smtClean="0"/>
              <a:t>.</a:t>
            </a:r>
            <a:br>
              <a:rPr lang="en-US" altLang="en-US" dirty="0" smtClean="0"/>
            </a:br>
            <a:r>
              <a:rPr lang="en-US" altLang="en-US" dirty="0" smtClean="0"/>
              <a:t>It focuses on the </a:t>
            </a:r>
            <a:r>
              <a:rPr lang="en-US" altLang="en-US" b="1" dirty="0" smtClean="0"/>
              <a:t>approved plans  , methods, standards, tools, and procedures</a:t>
            </a:r>
            <a:r>
              <a:rPr lang="en-US" altLang="en-US" dirty="0" smtClean="0"/>
              <a:t> used to build software.</a:t>
            </a:r>
          </a:p>
          <a:p>
            <a:r>
              <a:rPr lang="en-US" altLang="en-US" dirty="0" smtClean="0"/>
              <a:t>👉 </a:t>
            </a:r>
            <a:r>
              <a:rPr lang="en-US" altLang="en-US" i="1" dirty="0" smtClean="0"/>
              <a:t>Good process → higher chance of good product</a:t>
            </a:r>
          </a:p>
          <a:p>
            <a:r>
              <a:rPr lang="en-US" altLang="en-US" dirty="0" smtClean="0"/>
              <a:t>Use of </a:t>
            </a:r>
            <a:r>
              <a:rPr lang="en-US" altLang="en-US" b="1" dirty="0" smtClean="0"/>
              <a:t>defined processes</a:t>
            </a:r>
            <a:r>
              <a:rPr lang="en-US" altLang="en-US" dirty="0" smtClean="0"/>
              <a:t> (e.g., SDLC, Agile, DevOps), Proper </a:t>
            </a:r>
            <a:r>
              <a:rPr lang="en-US" altLang="en-US" b="1" dirty="0" smtClean="0"/>
              <a:t>documentation , Reviews and audits, Testing at each stage, </a:t>
            </a:r>
            <a:r>
              <a:rPr lang="en-US" altLang="en-US" dirty="0" smtClean="0"/>
              <a:t>Following </a:t>
            </a:r>
            <a:r>
              <a:rPr lang="en-US" altLang="en-US" b="1" dirty="0" smtClean="0"/>
              <a:t>standards</a:t>
            </a:r>
            <a:r>
              <a:rPr lang="en-US" altLang="en-US" dirty="0" smtClean="0"/>
              <a:t> (CMMI, ISO, IEEE)</a:t>
            </a:r>
          </a:p>
          <a:p>
            <a:endParaRPr lang="en-US" altLang="en-US" b="1" dirty="0" smtClean="0"/>
          </a:p>
          <a:p>
            <a:r>
              <a:rPr lang="en-US" altLang="en-US" b="1" dirty="0" smtClean="0"/>
              <a:t>Product quality</a:t>
            </a:r>
            <a:r>
              <a:rPr lang="en-US" altLang="en-US" dirty="0" smtClean="0"/>
              <a:t> refers to the </a:t>
            </a:r>
            <a:r>
              <a:rPr lang="en-US" altLang="en-US" b="1" dirty="0" smtClean="0"/>
              <a:t>quality of the final software product</a:t>
            </a:r>
            <a:r>
              <a:rPr lang="en-US" altLang="en-US" dirty="0" smtClean="0"/>
              <a:t> delivered to the user.</a:t>
            </a:r>
            <a:br>
              <a:rPr lang="en-US" altLang="en-US" dirty="0" smtClean="0"/>
            </a:br>
            <a:r>
              <a:rPr lang="en-US" altLang="en-US" dirty="0" smtClean="0"/>
              <a:t>It focuses on </a:t>
            </a:r>
            <a:r>
              <a:rPr lang="en-US" altLang="en-US" b="1" dirty="0" smtClean="0"/>
              <a:t>what the user receives and experiences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>👉 </a:t>
            </a:r>
            <a:r>
              <a:rPr lang="en-US" altLang="en-US" i="1" dirty="0" smtClean="0"/>
              <a:t>Is the software correct, usable, reliable, and efficient?</a:t>
            </a:r>
          </a:p>
          <a:p>
            <a:endParaRPr lang="en-US" alt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objective: identify and remove defects throughout the lifecycle, as early as possible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2355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 noChangeArrowheads="1"/>
          </p:cNvSpPr>
          <p:nvPr>
            <p:ph type="body" sz="quarter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Testing is the process of establishing confidence that a program or system does what it is supposed to.”	by Hetzel 1973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“Testing is the process of executing a program or system with the intent of finding errors.”	by Myers 1979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“Testing is any activity aimed at evaluating an attribute or capability of a program or system and determining that it meets its required results.”   by Hetzel 1983</a:t>
            </a:r>
            <a:br>
              <a:rPr lang="en-US" altLang="en-US" smtClean="0"/>
            </a:b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2765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SQA is broader.</a:t>
            </a:r>
          </a:p>
          <a:p>
            <a:r>
              <a:rPr lang="en-US" dirty="0" smtClean="0"/>
              <a:t>Testing is one activity inside SQA.</a:t>
            </a:r>
          </a:p>
          <a:p>
            <a:r>
              <a:rPr lang="en-US" dirty="0" smtClean="0"/>
              <a:t>analogy:</a:t>
            </a:r>
          </a:p>
          <a:p>
            <a:r>
              <a:rPr lang="en-US" dirty="0" smtClean="0"/>
              <a:t>SQA is maintaining hygiene in a restaurant, while testing is tasting food before serving.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4743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Static testing = checking recipe before cooking</a:t>
            </a:r>
          </a:p>
          <a:p>
            <a:r>
              <a:rPr lang="en-US" dirty="0" smtClean="0"/>
              <a:t>Dynamic testing = tasting food after cooking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2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Relationship Between Them</a:t>
            </a:r>
          </a:p>
          <a:p>
            <a:r>
              <a:rPr lang="en-US" b="1" dirty="0" smtClean="0"/>
              <a:t>Mistake → Fault → Failure → Error</a:t>
            </a:r>
          </a:p>
          <a:p>
            <a:r>
              <a:rPr lang="en-US" dirty="0" smtClean="0"/>
              <a:t>Human makes a </a:t>
            </a:r>
            <a:r>
              <a:rPr lang="en-US" b="1" dirty="0" smtClean="0"/>
              <a:t>mistake</a:t>
            </a:r>
            <a:r>
              <a:rPr lang="en-US" dirty="0" smtClean="0"/>
              <a:t> </a:t>
            </a:r>
          </a:p>
          <a:p>
            <a:r>
              <a:rPr lang="en-US" dirty="0" smtClean="0"/>
              <a:t>Mistake introduces a </a:t>
            </a:r>
            <a:r>
              <a:rPr lang="en-US" b="1" dirty="0" smtClean="0"/>
              <a:t>fault/defect</a:t>
            </a:r>
            <a:r>
              <a:rPr lang="en-US" dirty="0" smtClean="0"/>
              <a:t> in code </a:t>
            </a:r>
          </a:p>
          <a:p>
            <a:r>
              <a:rPr lang="en-US" dirty="0" smtClean="0"/>
              <a:t>Fault causes software </a:t>
            </a:r>
            <a:r>
              <a:rPr lang="en-US" b="1" dirty="0" smtClean="0"/>
              <a:t>failure</a:t>
            </a:r>
            <a:r>
              <a:rPr lang="en-US" dirty="0" smtClean="0"/>
              <a:t> </a:t>
            </a:r>
          </a:p>
          <a:p>
            <a:r>
              <a:rPr lang="en-US" dirty="0" smtClean="0"/>
              <a:t>Failure produces incorrect </a:t>
            </a:r>
            <a:r>
              <a:rPr lang="en-US" b="1" dirty="0" smtClean="0"/>
              <a:t>error/result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431F8C-010D-48EE-BCE7-55A292B42BE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945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FF897458-7323-4C04-8A83-A05A1803A13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840898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9CA14F65-AAAE-4E14-9576-13F28C420D7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18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02AF8685-6356-4D0D-A026-3D483E1CF28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959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2AF80-81AA-41AF-82CA-62E91E7BEF3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943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873BF-61CC-44DA-BA44-21A67BF65AC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503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3E5E4-0539-4251-BD12-6DBCC487794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432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E8FE-B21C-4BE5-97FB-D81E7934BB2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90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63080-AC5D-491E-BE06-A9086C48DFE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875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56AB3-6CE6-4767-9EF7-25CCB3FAD6D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08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0B5-FF5D-4462-ACC8-0BB0256B441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859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0B5-FF5D-4462-ACC8-0BB0256B441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295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0B5-FF5D-4462-ACC8-0BB0256B441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784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0B5-FF5D-4462-ACC8-0BB0256B441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2087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0B5-FF5D-4462-ACC8-0BB0256B441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3540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AF0B5-FF5D-4462-ACC8-0BB0256B441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6841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8CD07-C77B-42EE-AB46-C0BBB680635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2548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2DE5A-DA41-4637-924C-F1DECB7C945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670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FEAF0B5-FF5D-4462-ACC8-0BB0256B441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78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ctrTitle"/>
          </p:nvPr>
        </p:nvSpPr>
        <p:spPr>
          <a:xfrm>
            <a:off x="457200" y="914400"/>
            <a:ext cx="84582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Advance Software Engineering</a:t>
            </a:r>
            <a:endParaRPr altLang="en-US" dirty="0" smtClean="0"/>
          </a:p>
        </p:txBody>
      </p:sp>
      <p:sp>
        <p:nvSpPr>
          <p:cNvPr id="8195" name="Subtitle 1"/>
          <p:cNvSpPr>
            <a:spLocks noGrp="1"/>
          </p:cNvSpPr>
          <p:nvPr>
            <p:ph type="subTitle" idx="1"/>
          </p:nvPr>
        </p:nvSpPr>
        <p:spPr>
          <a:xfrm>
            <a:off x="1828800" y="3657601"/>
            <a:ext cx="6858001" cy="16764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4000" dirty="0"/>
              <a:t>Software Quality </a:t>
            </a:r>
            <a:r>
              <a:rPr lang="en-US" altLang="en-US" sz="4000" dirty="0" smtClean="0"/>
              <a:t>Assurance</a:t>
            </a:r>
          </a:p>
          <a:p>
            <a:endParaRPr lang="en-US" altLang="en-US" sz="4000" dirty="0"/>
          </a:p>
          <a:p>
            <a:r>
              <a:rPr lang="en-US" altLang="en-US" sz="3600" dirty="0" smtClean="0"/>
              <a:t>Ms. Shehla Saeed</a:t>
            </a:r>
            <a:endParaRPr lang="en-US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Software Quality Assurance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What is Quality?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Software Quality Assurance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685800" y="1219200"/>
            <a:ext cx="7924800" cy="5029200"/>
          </a:xfrm>
        </p:spPr>
        <p:txBody>
          <a:bodyPr/>
          <a:lstStyle/>
          <a:p>
            <a:pPr eaLnBrk="1" hangingPunct="1"/>
            <a:r>
              <a:rPr lang="en-US" altLang="en-US" smtClean="0"/>
              <a:t>What is “quality”?</a:t>
            </a:r>
          </a:p>
          <a:p>
            <a:pPr eaLnBrk="1" hangingPunct="1"/>
            <a:r>
              <a:rPr lang="en-US" altLang="en-US" smtClean="0"/>
              <a:t>Software quality determines </a:t>
            </a:r>
            <a:r>
              <a:rPr lang="en-US" altLang="en-US" b="1" smtClean="0"/>
              <a:t>how well a system works, how reliable it is, and how satisfied users are</a:t>
            </a:r>
            <a:r>
              <a:rPr lang="en-US" altLang="en-US" smtClean="0"/>
              <a:t>.</a:t>
            </a:r>
          </a:p>
          <a:p>
            <a:pPr eaLnBrk="1" hangingPunct="1"/>
            <a:r>
              <a:rPr lang="en-US" altLang="en-US" smtClean="0"/>
              <a:t> In real life, software is used in </a:t>
            </a:r>
            <a:r>
              <a:rPr lang="en-US" altLang="en-US" b="1" smtClean="0"/>
              <a:t>critical systems</a:t>
            </a:r>
            <a:r>
              <a:rPr lang="en-US" altLang="en-US" smtClean="0"/>
              <a:t>, not just games or websites.</a:t>
            </a:r>
          </a:p>
          <a:p>
            <a:pPr eaLnBrk="1" hangingPunct="1">
              <a:buFontTx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/>
              <a:t>High-quality software means:</a:t>
            </a:r>
            <a:endParaRPr lang="en-US" altLang="en-US" dirty="0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013177" y="2133600"/>
            <a:ext cx="7704667" cy="3332816"/>
          </a:xfrm>
        </p:spPr>
        <p:txBody>
          <a:bodyPr/>
          <a:lstStyle/>
          <a:p>
            <a:endParaRPr lang="en-US" altLang="en-US" dirty="0" smtClean="0"/>
          </a:p>
          <a:p>
            <a:r>
              <a:rPr lang="en-US" altLang="en-US" dirty="0" smtClean="0"/>
              <a:t>Correct results</a:t>
            </a:r>
          </a:p>
          <a:p>
            <a:r>
              <a:rPr lang="en-US" altLang="en-US" dirty="0" smtClean="0"/>
              <a:t>Reliable performance</a:t>
            </a:r>
          </a:p>
          <a:p>
            <a:r>
              <a:rPr lang="en-US" altLang="en-US" dirty="0" smtClean="0"/>
              <a:t>Ease of use</a:t>
            </a:r>
          </a:p>
          <a:p>
            <a:r>
              <a:rPr lang="en-US" altLang="en-US" dirty="0" smtClean="0"/>
              <a:t>Safety and security</a:t>
            </a:r>
          </a:p>
          <a:p>
            <a:r>
              <a:rPr lang="en-US" altLang="en-US" dirty="0" smtClean="0"/>
              <a:t>Long-term maintainability</a:t>
            </a:r>
          </a:p>
          <a:p>
            <a:endParaRPr lang="en-US" alt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/>
              <a:t>Low-quality software leads to:</a:t>
            </a:r>
            <a:endParaRPr lang="en-US" altLang="en-US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982133" y="1905000"/>
            <a:ext cx="7704667" cy="4628216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System failures</a:t>
            </a:r>
          </a:p>
          <a:p>
            <a:r>
              <a:rPr lang="en-US" altLang="en-US" dirty="0" smtClean="0"/>
              <a:t>Financial loss</a:t>
            </a:r>
          </a:p>
          <a:p>
            <a:r>
              <a:rPr lang="en-US" altLang="en-US" dirty="0" smtClean="0"/>
              <a:t>Security breaches</a:t>
            </a:r>
          </a:p>
          <a:p>
            <a:r>
              <a:rPr lang="en-US" altLang="en-US" dirty="0" smtClean="0"/>
              <a:t>Loss of trust</a:t>
            </a:r>
          </a:p>
          <a:p>
            <a:r>
              <a:rPr lang="en-US" altLang="en-US" dirty="0" smtClean="0"/>
              <a:t>Legal and ethical issues</a:t>
            </a:r>
          </a:p>
          <a:p>
            <a:r>
              <a:rPr lang="en-US" altLang="en-US" dirty="0" smtClean="0"/>
              <a:t> </a:t>
            </a:r>
            <a:r>
              <a:rPr lang="en-US" altLang="en-US" b="1" dirty="0" smtClean="0"/>
              <a:t>Example: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A banking app that crashes during money transfer causes </a:t>
            </a:r>
            <a:r>
              <a:rPr lang="en-US" altLang="en-US" b="1" dirty="0" smtClean="0"/>
              <a:t>loss of customer trust</a:t>
            </a:r>
            <a:r>
              <a:rPr lang="en-US" altLang="en-US" dirty="0" smtClean="0"/>
              <a:t> and </a:t>
            </a:r>
            <a:r>
              <a:rPr lang="en-US" altLang="en-US" b="1" dirty="0" smtClean="0"/>
              <a:t>financial risk</a:t>
            </a:r>
            <a:r>
              <a:rPr lang="en-US" altLang="en-US" dirty="0" smtClean="0"/>
              <a:t>, even if the crash happens rarely.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82133" y="400757"/>
            <a:ext cx="7704667" cy="1981200"/>
          </a:xfrm>
        </p:spPr>
        <p:txBody>
          <a:bodyPr/>
          <a:lstStyle/>
          <a:p>
            <a:r>
              <a:rPr lang="en-US" altLang="en-US" smtClean="0"/>
              <a:t>What is Software Quality?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982132" y="1905000"/>
            <a:ext cx="7704667" cy="4247216"/>
          </a:xfrm>
        </p:spPr>
        <p:txBody>
          <a:bodyPr>
            <a:normAutofit/>
          </a:bodyPr>
          <a:lstStyle/>
          <a:p>
            <a:r>
              <a:rPr lang="en-US" b="1" dirty="0"/>
              <a:t>IEEE Definition</a:t>
            </a:r>
          </a:p>
          <a:p>
            <a:pPr marL="0" indent="0">
              <a:buNone/>
            </a:pPr>
            <a:r>
              <a:rPr lang="en-US" dirty="0"/>
              <a:t>Quality is the degree to which a system or component meets:</a:t>
            </a:r>
          </a:p>
          <a:p>
            <a:pPr lvl="1"/>
            <a:r>
              <a:rPr lang="en-US" dirty="0"/>
              <a:t>Specified requirements</a:t>
            </a:r>
          </a:p>
          <a:p>
            <a:pPr lvl="1"/>
            <a:r>
              <a:rPr lang="en-US" dirty="0"/>
              <a:t>Customer expectations and needs</a:t>
            </a:r>
          </a:p>
          <a:p>
            <a:r>
              <a:rPr lang="en-US" b="1" dirty="0"/>
              <a:t>ISO Definition</a:t>
            </a:r>
          </a:p>
          <a:p>
            <a:pPr marL="0" indent="0">
              <a:buNone/>
            </a:pPr>
            <a:r>
              <a:rPr lang="en-US" dirty="0"/>
              <a:t>Quality is the totality of characteristics of a product that affects its ability to satisfy stated or implied needs.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Software Quality Assurance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685800" y="990600"/>
            <a:ext cx="7848600" cy="54102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Quality Criteria include: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 smtClean="0"/>
              <a:t>Correctness                           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 smtClean="0"/>
              <a:t>Efficiency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 smtClean="0"/>
              <a:t>Flexibility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 smtClean="0"/>
              <a:t>Maintainability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 smtClean="0"/>
              <a:t>Portability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 smtClean="0"/>
              <a:t>Reliability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 smtClean="0"/>
              <a:t>Reusability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 smtClean="0"/>
              <a:t>Testability</a:t>
            </a:r>
          </a:p>
          <a:p>
            <a:pPr lvl="1" eaLnBrk="1" hangingPunct="1">
              <a:lnSpc>
                <a:spcPct val="75000"/>
              </a:lnSpc>
            </a:pPr>
            <a:r>
              <a:rPr lang="en-US" altLang="en-US" sz="2800" dirty="0" smtClean="0"/>
              <a:t>Usability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6096000"/>
          </a:xfrm>
        </p:spPr>
        <p:txBody>
          <a:bodyPr>
            <a:normAutofit fontScale="92500" lnSpcReduction="20000"/>
          </a:bodyPr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en-PK" b="1" dirty="0"/>
              <a:t>1. Correctness</a:t>
            </a:r>
          </a:p>
          <a:p>
            <a:pPr>
              <a:defRPr/>
            </a:pPr>
            <a:r>
              <a:rPr lang="en-US" altLang="en-PK" dirty="0" smtClean="0"/>
              <a:t>The </a:t>
            </a:r>
            <a:r>
              <a:rPr lang="en-US" altLang="en-PK" dirty="0"/>
              <a:t>software performs </a:t>
            </a:r>
            <a:r>
              <a:rPr lang="en-US" altLang="en-PK" b="1" dirty="0"/>
              <a:t>exactly according to the specified requirements</a:t>
            </a:r>
            <a:r>
              <a:rPr lang="en-US" altLang="en-PK" dirty="0"/>
              <a:t> and produces correct results.</a:t>
            </a:r>
          </a:p>
          <a:p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dirty="0"/>
              <a:t>An online banking system transfers </a:t>
            </a:r>
            <a:r>
              <a:rPr lang="en-US" dirty="0" err="1"/>
              <a:t>Rs</a:t>
            </a:r>
            <a:r>
              <a:rPr lang="en-US" dirty="0"/>
              <a:t>. 5,000 from one account to another.</a:t>
            </a:r>
          </a:p>
          <a:p>
            <a:r>
              <a:rPr lang="en-US" dirty="0"/>
              <a:t>Correct behavior:</a:t>
            </a:r>
          </a:p>
          <a:p>
            <a:pPr lvl="1"/>
            <a:r>
              <a:rPr lang="en-US" dirty="0"/>
              <a:t>Sender’s balance decreases by </a:t>
            </a:r>
            <a:r>
              <a:rPr lang="en-US" dirty="0" err="1"/>
              <a:t>Rs</a:t>
            </a:r>
            <a:r>
              <a:rPr lang="en-US" dirty="0"/>
              <a:t>. 5,000 </a:t>
            </a:r>
          </a:p>
          <a:p>
            <a:pPr lvl="1"/>
            <a:r>
              <a:rPr lang="en-US" dirty="0"/>
              <a:t>Receiver’s balance increases by </a:t>
            </a:r>
            <a:r>
              <a:rPr lang="en-US" dirty="0" err="1"/>
              <a:t>Rs</a:t>
            </a:r>
            <a:r>
              <a:rPr lang="en-US" dirty="0"/>
              <a:t>. 5,000 </a:t>
            </a:r>
          </a:p>
          <a:p>
            <a:pPr lvl="1"/>
            <a:r>
              <a:rPr lang="en-US" dirty="0"/>
              <a:t>If the system deducts </a:t>
            </a:r>
            <a:r>
              <a:rPr lang="en-US" dirty="0" err="1"/>
              <a:t>Rs</a:t>
            </a:r>
            <a:r>
              <a:rPr lang="en-US" dirty="0"/>
              <a:t>. 5,500 or transfers money to the wrong account, the software is incorrect.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en-PK" b="1" dirty="0" smtClean="0"/>
              <a:t>2</a:t>
            </a:r>
            <a:r>
              <a:rPr lang="en-US" altLang="en-PK" b="1" dirty="0"/>
              <a:t>. Efficiency</a:t>
            </a:r>
          </a:p>
          <a:p>
            <a:pPr>
              <a:defRPr/>
            </a:pPr>
            <a:r>
              <a:rPr lang="en-US" altLang="en-PK" dirty="0" smtClean="0"/>
              <a:t>The </a:t>
            </a:r>
            <a:r>
              <a:rPr lang="en-US" altLang="en-PK" dirty="0"/>
              <a:t>software uses </a:t>
            </a:r>
            <a:r>
              <a:rPr lang="en-US" altLang="en-PK" b="1" dirty="0"/>
              <a:t>minimum resources</a:t>
            </a:r>
            <a:r>
              <a:rPr lang="en-US" altLang="en-PK" dirty="0"/>
              <a:t> (time, memory, CPU) to perform its tasks.</a:t>
            </a:r>
          </a:p>
          <a:p>
            <a:pPr>
              <a:defRPr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A mobile app that opens in </a:t>
            </a:r>
            <a:r>
              <a:rPr lang="en-US" altLang="en-PK" b="1" dirty="0"/>
              <a:t>2 seconds</a:t>
            </a:r>
            <a:r>
              <a:rPr lang="en-US" altLang="en-PK" dirty="0"/>
              <a:t> instead of </a:t>
            </a:r>
            <a:r>
              <a:rPr lang="en-US" altLang="en-PK" b="1" dirty="0"/>
              <a:t>10 seconds</a:t>
            </a:r>
            <a:r>
              <a:rPr lang="en-US" altLang="en-PK" dirty="0"/>
              <a:t> is more efficient.</a:t>
            </a:r>
          </a:p>
          <a:p>
            <a:pPr>
              <a:defRPr/>
            </a:pPr>
            <a:endParaRPr lang="en-PK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571500"/>
            <a:ext cx="8153400" cy="5715000"/>
          </a:xfrm>
        </p:spPr>
        <p:txBody>
          <a:bodyPr>
            <a:normAutofit/>
          </a:bodyPr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en-PK" b="1" dirty="0"/>
              <a:t>3. Flexibility</a:t>
            </a:r>
          </a:p>
          <a:p>
            <a:pPr>
              <a:defRPr/>
            </a:pPr>
            <a:r>
              <a:rPr lang="en-US" altLang="en-PK" dirty="0" smtClean="0"/>
              <a:t>The </a:t>
            </a:r>
            <a:r>
              <a:rPr lang="en-US" altLang="en-PK" dirty="0"/>
              <a:t>ease with which software can be </a:t>
            </a:r>
            <a:r>
              <a:rPr lang="en-US" altLang="en-PK" b="1" dirty="0"/>
              <a:t>modified or extended</a:t>
            </a:r>
            <a:r>
              <a:rPr lang="en-US" altLang="en-PK" dirty="0"/>
              <a:t> to meet new requirements.</a:t>
            </a:r>
          </a:p>
          <a:p>
            <a:pPr>
              <a:defRPr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An LMS that allows adding </a:t>
            </a:r>
            <a:r>
              <a:rPr lang="en-US" altLang="en-PK" b="1" dirty="0"/>
              <a:t>new courses or grading schemes</a:t>
            </a:r>
            <a:r>
              <a:rPr lang="en-US" altLang="en-PK" dirty="0"/>
              <a:t> without redesigning the whole system.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en-PK" b="1" dirty="0"/>
              <a:t>4. Maintainability</a:t>
            </a:r>
          </a:p>
          <a:p>
            <a:pPr>
              <a:defRPr/>
            </a:pPr>
            <a:r>
              <a:rPr lang="en-US" altLang="en-PK" dirty="0" smtClean="0"/>
              <a:t>How </a:t>
            </a:r>
            <a:r>
              <a:rPr lang="en-US" altLang="en-PK" dirty="0"/>
              <a:t>easily the software can be </a:t>
            </a:r>
            <a:r>
              <a:rPr lang="en-US" altLang="en-PK" b="1" dirty="0"/>
              <a:t>fixed, improved, or updated</a:t>
            </a:r>
            <a:r>
              <a:rPr lang="en-US" altLang="en-PK" dirty="0"/>
              <a:t> after deployment.</a:t>
            </a:r>
          </a:p>
          <a:p>
            <a:pPr>
              <a:defRPr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A bug in a banking app is fixed quickly because the code is well-organized and documented.</a:t>
            </a:r>
          </a:p>
          <a:p>
            <a:pPr>
              <a:defRPr/>
            </a:pPr>
            <a:endParaRPr lang="en-US" altLang="en-PK" dirty="0"/>
          </a:p>
          <a:p>
            <a:pPr>
              <a:defRPr/>
            </a:pPr>
            <a:endParaRPr lang="en-PK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8077200" cy="5638800"/>
          </a:xfrm>
        </p:spPr>
        <p:txBody>
          <a:bodyPr>
            <a:normAutofit/>
          </a:bodyPr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en-PK" b="1" dirty="0"/>
              <a:t>5. </a:t>
            </a:r>
            <a:r>
              <a:rPr lang="en-US" altLang="en-PK" b="1" dirty="0" smtClean="0"/>
              <a:t>Portability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The ability of software to run on </a:t>
            </a:r>
            <a:r>
              <a:rPr lang="en-US" altLang="en-PK" b="1" dirty="0"/>
              <a:t>different platforms or environments</a:t>
            </a:r>
            <a:r>
              <a:rPr lang="en-US" altLang="en-PK" dirty="0"/>
              <a:t> with little or no change.</a:t>
            </a:r>
          </a:p>
          <a:p>
            <a:pPr>
              <a:defRPr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A game that runs on </a:t>
            </a:r>
            <a:r>
              <a:rPr lang="en-US" altLang="en-PK" b="1" dirty="0"/>
              <a:t>Windows, macOS, and Linux</a:t>
            </a:r>
            <a:r>
              <a:rPr lang="en-US" altLang="en-PK" dirty="0"/>
              <a:t> without modification.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en-PK" b="1" dirty="0"/>
              <a:t>6. Reliability</a:t>
            </a:r>
          </a:p>
          <a:p>
            <a:pPr>
              <a:defRPr/>
            </a:pPr>
            <a:r>
              <a:rPr lang="en-US" altLang="en-PK" dirty="0" smtClean="0"/>
              <a:t>The </a:t>
            </a:r>
            <a:r>
              <a:rPr lang="en-US" altLang="en-PK" dirty="0"/>
              <a:t>ability of software to </a:t>
            </a:r>
            <a:r>
              <a:rPr lang="en-US" altLang="en-PK" b="1" dirty="0"/>
              <a:t>perform consistently without failure</a:t>
            </a:r>
            <a:r>
              <a:rPr lang="en-US" altLang="en-PK" dirty="0"/>
              <a:t> over time.</a:t>
            </a:r>
          </a:p>
          <a:p>
            <a:pPr>
              <a:defRPr/>
            </a:pPr>
            <a:r>
              <a:rPr lang="en-US" altLang="en-PK" b="1" dirty="0"/>
              <a:t>Example:</a:t>
            </a:r>
            <a:r>
              <a:rPr lang="en-US" altLang="en-PK" dirty="0"/>
              <a:t/>
            </a:r>
            <a:br>
              <a:rPr lang="en-US" altLang="en-PK" dirty="0"/>
            </a:br>
            <a:r>
              <a:rPr lang="en-US" altLang="en-PK" dirty="0"/>
              <a:t>An ATM system that works </a:t>
            </a:r>
            <a:r>
              <a:rPr lang="en-US" altLang="en-PK" b="1" dirty="0"/>
              <a:t>24/7</a:t>
            </a:r>
            <a:r>
              <a:rPr lang="en-US" altLang="en-PK" dirty="0"/>
              <a:t> without crashing is reliable.</a:t>
            </a:r>
          </a:p>
          <a:p>
            <a:pPr>
              <a:defRPr/>
            </a:pPr>
            <a:endParaRPr lang="en-PK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8200"/>
            <a:ext cx="8305800" cy="5715000"/>
          </a:xfrm>
        </p:spPr>
        <p:txBody>
          <a:bodyPr>
            <a:normAutofit fontScale="92500"/>
          </a:bodyPr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en-PK" b="1" dirty="0"/>
              <a:t>7. Reusability</a:t>
            </a:r>
          </a:p>
          <a:p>
            <a:pPr marL="0" indent="0">
              <a:buNone/>
              <a:defRPr/>
            </a:pPr>
            <a:r>
              <a:rPr lang="en-US" altLang="en-PK" dirty="0" smtClean="0"/>
              <a:t>The </a:t>
            </a:r>
            <a:r>
              <a:rPr lang="en-US" altLang="en-PK" dirty="0"/>
              <a:t>extent to which software components can be </a:t>
            </a:r>
            <a:r>
              <a:rPr lang="en-US" altLang="en-PK" b="1" dirty="0"/>
              <a:t>used in other applications</a:t>
            </a:r>
            <a:r>
              <a:rPr lang="en-US" altLang="en-PK" dirty="0"/>
              <a:t>.</a:t>
            </a:r>
          </a:p>
          <a:p>
            <a:pPr>
              <a:defRPr/>
            </a:pPr>
            <a:r>
              <a:rPr lang="en-US" altLang="en-PK" b="1" dirty="0"/>
              <a:t>Example: </a:t>
            </a:r>
            <a:r>
              <a:rPr lang="en-US" altLang="en-PK" dirty="0"/>
              <a:t>A login module reused in multiple applications like LMS, ERP, and portals.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en-PK" b="1" dirty="0"/>
              <a:t>8. Testability</a:t>
            </a:r>
          </a:p>
          <a:p>
            <a:pPr marL="0" indent="0">
              <a:buNone/>
              <a:defRPr/>
            </a:pPr>
            <a:r>
              <a:rPr lang="en-US" altLang="en-PK" dirty="0" smtClean="0"/>
              <a:t>How </a:t>
            </a:r>
            <a:r>
              <a:rPr lang="en-US" altLang="en-PK" dirty="0"/>
              <a:t>easily the software can be </a:t>
            </a:r>
            <a:r>
              <a:rPr lang="en-US" altLang="en-PK" b="1" dirty="0"/>
              <a:t>tested</a:t>
            </a:r>
            <a:r>
              <a:rPr lang="en-US" altLang="en-PK" dirty="0"/>
              <a:t> to find defects.</a:t>
            </a:r>
          </a:p>
          <a:p>
            <a:pPr>
              <a:defRPr/>
            </a:pPr>
            <a:r>
              <a:rPr lang="en-US" altLang="en-PK" b="1" dirty="0"/>
              <a:t>Example: </a:t>
            </a:r>
            <a:r>
              <a:rPr lang="en-US" altLang="en-PK" dirty="0"/>
              <a:t>A system with clear inputs and outputs makes it easy to write </a:t>
            </a:r>
            <a:r>
              <a:rPr lang="en-US" altLang="en-PK" b="1" dirty="0"/>
              <a:t>unit test cases</a:t>
            </a:r>
            <a:r>
              <a:rPr lang="en-US" altLang="en-PK" dirty="0"/>
              <a:t>.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altLang="en-PK" b="1" dirty="0"/>
              <a:t>9. Usability</a:t>
            </a:r>
          </a:p>
          <a:p>
            <a:pPr marL="0" indent="0">
              <a:buNone/>
              <a:defRPr/>
            </a:pPr>
            <a:r>
              <a:rPr lang="en-US" altLang="en-PK" dirty="0" smtClean="0"/>
              <a:t>How </a:t>
            </a:r>
            <a:r>
              <a:rPr lang="en-US" altLang="en-PK" dirty="0"/>
              <a:t>easy and comfortable the software is for </a:t>
            </a:r>
            <a:r>
              <a:rPr lang="en-US" altLang="en-PK" b="1" dirty="0"/>
              <a:t>users to learn and use</a:t>
            </a:r>
            <a:r>
              <a:rPr lang="en-US" altLang="en-PK" dirty="0"/>
              <a:t>.</a:t>
            </a:r>
          </a:p>
          <a:p>
            <a:pPr>
              <a:defRPr/>
            </a:pPr>
            <a:r>
              <a:rPr lang="en-US" altLang="en-PK" b="1" dirty="0"/>
              <a:t>Example: </a:t>
            </a:r>
            <a:r>
              <a:rPr lang="en-US" altLang="en-PK" dirty="0"/>
              <a:t>A food delivery app where users can place an order </a:t>
            </a:r>
            <a:r>
              <a:rPr lang="en-US" altLang="en-PK" b="1" dirty="0"/>
              <a:t>without instructions</a:t>
            </a:r>
            <a:r>
              <a:rPr lang="en-US" altLang="en-PK" dirty="0"/>
              <a:t> is highly usable.</a:t>
            </a:r>
          </a:p>
          <a:p>
            <a:pPr>
              <a:defRPr/>
            </a:pPr>
            <a:endParaRPr lang="en-PK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191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Scenario: Online Food Delivery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133600"/>
            <a:ext cx="7704667" cy="3790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Suppose </a:t>
            </a:r>
            <a:r>
              <a:rPr lang="en-US" dirty="0"/>
              <a:t>students order food through an app.</a:t>
            </a:r>
          </a:p>
          <a:p>
            <a:r>
              <a:rPr lang="en-US" dirty="0"/>
              <a:t>If the app crashes during payment </a:t>
            </a:r>
            <a:r>
              <a:rPr lang="en-US" dirty="0" smtClean="0"/>
              <a:t>→……… issue</a:t>
            </a:r>
            <a:endParaRPr lang="en-US" dirty="0"/>
          </a:p>
          <a:p>
            <a:r>
              <a:rPr lang="en-US" dirty="0"/>
              <a:t>If order tracking is confusing → </a:t>
            </a:r>
            <a:r>
              <a:rPr lang="en-US" dirty="0" smtClean="0"/>
              <a:t>…………issue</a:t>
            </a:r>
            <a:endParaRPr lang="en-US" dirty="0"/>
          </a:p>
          <a:p>
            <a:r>
              <a:rPr lang="en-US" dirty="0"/>
              <a:t>If app becomes slow during dinner time → </a:t>
            </a:r>
            <a:r>
              <a:rPr lang="en-US" dirty="0" smtClean="0"/>
              <a:t>………issue</a:t>
            </a:r>
            <a:endParaRPr lang="en-US" dirty="0"/>
          </a:p>
          <a:p>
            <a:r>
              <a:rPr lang="en-US" dirty="0"/>
              <a:t>If developers cannot update menu easily → </a:t>
            </a:r>
            <a:r>
              <a:rPr lang="en-US" dirty="0" smtClean="0"/>
              <a:t>………issue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95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What is Software Quality Assurance (SQA)?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982133" y="2209800"/>
            <a:ext cx="7704667" cy="33328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PK" altLang="en-PK" sz="2800" dirty="0"/>
              <a:t>Systematic activities ensuring software is fit for use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PK" altLang="en-PK" sz="2800" dirty="0" smtClean="0"/>
              <a:t>Focus</a:t>
            </a:r>
            <a:r>
              <a:rPr lang="en-US" altLang="en-PK" sz="2800" dirty="0" smtClean="0"/>
              <a:t> on monitoring:</a:t>
            </a:r>
            <a:endParaRPr lang="en-PK" altLang="en-PK" sz="2800" dirty="0"/>
          </a:p>
          <a:p>
            <a:pPr>
              <a:defRPr/>
            </a:pPr>
            <a:r>
              <a:rPr lang="en-PK" altLang="en-PK" sz="2800" dirty="0"/>
              <a:t> Process quality</a:t>
            </a:r>
          </a:p>
          <a:p>
            <a:pPr>
              <a:defRPr/>
            </a:pPr>
            <a:r>
              <a:rPr lang="en-PK" altLang="en-PK" sz="2800" dirty="0"/>
              <a:t> Product quality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Main Goals of SQA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82133" y="2286000"/>
            <a:ext cx="7704667" cy="3332816"/>
          </a:xfrm>
        </p:spPr>
        <p:txBody>
          <a:bodyPr>
            <a:normAutofit/>
          </a:bodyPr>
          <a:lstStyle/>
          <a:p>
            <a:r>
              <a:rPr lang="en-US" sz="2800" dirty="0"/>
              <a:t>Prevent defects before software reaches </a:t>
            </a:r>
            <a:r>
              <a:rPr lang="en-US" sz="2800" dirty="0" smtClean="0"/>
              <a:t>users</a:t>
            </a:r>
          </a:p>
          <a:p>
            <a:r>
              <a:rPr lang="en-US" sz="2800" dirty="0" smtClean="0"/>
              <a:t>Improve </a:t>
            </a:r>
            <a:r>
              <a:rPr lang="en-US" sz="2800" dirty="0"/>
              <a:t>development </a:t>
            </a:r>
            <a:r>
              <a:rPr lang="en-US" sz="2800" dirty="0" smtClean="0"/>
              <a:t>process</a:t>
            </a:r>
          </a:p>
          <a:p>
            <a:r>
              <a:rPr lang="en-US" sz="2800" dirty="0" smtClean="0"/>
              <a:t>Ensure </a:t>
            </a:r>
            <a:r>
              <a:rPr lang="en-US" sz="2800" dirty="0"/>
              <a:t>standards are </a:t>
            </a:r>
            <a:r>
              <a:rPr lang="en-US" sz="2800" dirty="0" smtClean="0"/>
              <a:t>followed</a:t>
            </a:r>
          </a:p>
          <a:p>
            <a:r>
              <a:rPr lang="en-US" sz="2800" dirty="0" smtClean="0"/>
              <a:t>Increase </a:t>
            </a:r>
            <a:r>
              <a:rPr lang="en-US" sz="2800" dirty="0"/>
              <a:t>customer </a:t>
            </a:r>
            <a:r>
              <a:rPr lang="en-US" sz="2800" dirty="0" smtClean="0"/>
              <a:t>confidence</a:t>
            </a:r>
          </a:p>
          <a:p>
            <a:r>
              <a:rPr lang="en-US" sz="2800" dirty="0" smtClean="0"/>
              <a:t>Reduce </a:t>
            </a:r>
            <a:r>
              <a:rPr lang="en-US" sz="2800" dirty="0"/>
              <a:t>maintenance cost</a:t>
            </a:r>
          </a:p>
        </p:txBody>
      </p:sp>
    </p:spTree>
    <p:extLst>
      <p:ext uri="{BB962C8B-B14F-4D97-AF65-F5344CB8AC3E}">
        <p14:creationId xmlns:p14="http://schemas.microsoft.com/office/powerpoint/2010/main" val="394457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Software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Testing checks whether software behaves as expected</a:t>
            </a:r>
          </a:p>
          <a:p>
            <a:pPr>
              <a:defRPr sz="2000"/>
            </a:pPr>
            <a:r>
              <a:rPr sz="2800" dirty="0"/>
              <a:t>Goal is to identify defects before users find them</a:t>
            </a:r>
          </a:p>
          <a:p>
            <a:pPr>
              <a:defRPr sz="2000"/>
            </a:pPr>
            <a:r>
              <a:rPr sz="2800" dirty="0"/>
              <a:t>Testing improves reliability and user confidence</a:t>
            </a:r>
          </a:p>
        </p:txBody>
      </p:sp>
    </p:spTree>
    <p:extLst>
      <p:ext uri="{BB962C8B-B14F-4D97-AF65-F5344CB8AC3E}">
        <p14:creationId xmlns:p14="http://schemas.microsoft.com/office/powerpoint/2010/main" val="3550318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Software Testing</a:t>
            </a:r>
            <a:endParaRPr lang="en-US" altLang="en-US" dirty="0" smtClean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2895600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800" dirty="0"/>
              <a:t>Find defects and failures</a:t>
            </a:r>
          </a:p>
          <a:p>
            <a:pPr>
              <a:defRPr sz="2000"/>
            </a:pPr>
            <a:r>
              <a:rPr lang="en-US" sz="2800" dirty="0"/>
              <a:t>Verify system requirements</a:t>
            </a:r>
          </a:p>
          <a:p>
            <a:pPr>
              <a:defRPr sz="2000"/>
            </a:pPr>
            <a:r>
              <a:rPr lang="en-US" sz="2800" dirty="0"/>
              <a:t>Validate user expectations</a:t>
            </a:r>
          </a:p>
          <a:p>
            <a:pPr>
              <a:defRPr sz="2000"/>
            </a:pPr>
            <a:r>
              <a:rPr lang="en-US" sz="2800" dirty="0"/>
              <a:t>Reduce risk and improve quality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SQA vs Testing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8612048"/>
              </p:ext>
            </p:extLst>
          </p:nvPr>
        </p:nvGraphicFramePr>
        <p:xfrm>
          <a:off x="982663" y="2666999"/>
          <a:ext cx="7704136" cy="27279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2068">
                  <a:extLst>
                    <a:ext uri="{9D8B030D-6E8A-4147-A177-3AD203B41FA5}">
                      <a16:colId xmlns:a16="http://schemas.microsoft.com/office/drawing/2014/main" val="2925595937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2035964837"/>
                    </a:ext>
                  </a:extLst>
                </a:gridCol>
              </a:tblGrid>
              <a:tr h="504878">
                <a:tc>
                  <a:txBody>
                    <a:bodyPr/>
                    <a:lstStyle/>
                    <a:p>
                      <a:r>
                        <a:rPr lang="en-US" sz="1800" b="1" dirty="0"/>
                        <a:t>SQA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377470"/>
                  </a:ext>
                </a:extLst>
              </a:tr>
              <a:tr h="504878">
                <a:tc>
                  <a:txBody>
                    <a:bodyPr/>
                    <a:lstStyle/>
                    <a:p>
                      <a:r>
                        <a:rPr lang="en-US" sz="1800"/>
                        <a:t>Process-oriented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Product-oriented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1477413"/>
                  </a:ext>
                </a:extLst>
              </a:tr>
              <a:tr h="504878">
                <a:tc>
                  <a:txBody>
                    <a:bodyPr/>
                    <a:lstStyle/>
                    <a:p>
                      <a:r>
                        <a:rPr lang="en-US" sz="1800"/>
                        <a:t>Prevents defects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Finds defects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255935"/>
                  </a:ext>
                </a:extLst>
              </a:tr>
              <a:tr h="708450">
                <a:tc>
                  <a:txBody>
                    <a:bodyPr/>
                    <a:lstStyle/>
                    <a:p>
                      <a:r>
                        <a:rPr lang="en-US" sz="1800"/>
                        <a:t>Applied throughout SDLC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Mostly after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78602"/>
                  </a:ext>
                </a:extLst>
              </a:tr>
              <a:tr h="504878">
                <a:tc>
                  <a:txBody>
                    <a:bodyPr/>
                    <a:lstStyle/>
                    <a:p>
                      <a:r>
                        <a:rPr lang="en-US" sz="1800" dirty="0"/>
                        <a:t>Includes audits and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Includes execution of software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85107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SQA vs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19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2" y="304800"/>
            <a:ext cx="7704667" cy="1066799"/>
          </a:xfrm>
        </p:spPr>
        <p:txBody>
          <a:bodyPr>
            <a:normAutofit/>
          </a:bodyPr>
          <a:lstStyle/>
          <a:p>
            <a:r>
              <a:rPr lang="en-US" sz="3200" b="1" dirty="0"/>
              <a:t>Scenario: University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7704667" cy="47806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A </a:t>
            </a:r>
            <a:r>
              <a:rPr lang="en-US" sz="2000" dirty="0"/>
              <a:t>university develops a portal for attendance and result management.</a:t>
            </a:r>
          </a:p>
          <a:p>
            <a:r>
              <a:rPr lang="en-US" sz="2000" b="1" dirty="0"/>
              <a:t>SQA Activities</a:t>
            </a:r>
          </a:p>
          <a:p>
            <a:pPr lvl="1"/>
            <a:r>
              <a:rPr lang="en-US" dirty="0"/>
              <a:t>Reviewing requirements before coding</a:t>
            </a:r>
          </a:p>
          <a:p>
            <a:pPr lvl="1"/>
            <a:r>
              <a:rPr lang="en-US" dirty="0"/>
              <a:t>Defining coding standards</a:t>
            </a:r>
          </a:p>
          <a:p>
            <a:pPr lvl="1"/>
            <a:r>
              <a:rPr lang="en-US" dirty="0"/>
              <a:t>Conducting design inspections</a:t>
            </a:r>
          </a:p>
          <a:p>
            <a:pPr lvl="1"/>
            <a:r>
              <a:rPr lang="en-US" dirty="0"/>
              <a:t>Ensuring testing standards are followed</a:t>
            </a:r>
          </a:p>
          <a:p>
            <a:r>
              <a:rPr lang="en-US" sz="2000" b="1" dirty="0"/>
              <a:t>Testing Activities</a:t>
            </a:r>
          </a:p>
          <a:p>
            <a:pPr lvl="1"/>
            <a:r>
              <a:rPr lang="en-US" dirty="0"/>
              <a:t>Checking login functionality</a:t>
            </a:r>
          </a:p>
          <a:p>
            <a:pPr lvl="1"/>
            <a:r>
              <a:rPr lang="en-US" dirty="0"/>
              <a:t>Verifying attendance calculations</a:t>
            </a:r>
          </a:p>
          <a:p>
            <a:pPr lvl="1"/>
            <a:r>
              <a:rPr lang="en-US" dirty="0"/>
              <a:t>Testing result generation</a:t>
            </a:r>
          </a:p>
        </p:txBody>
      </p:sp>
    </p:spTree>
    <p:extLst>
      <p:ext uri="{BB962C8B-B14F-4D97-AF65-F5344CB8AC3E}">
        <p14:creationId xmlns:p14="http://schemas.microsoft.com/office/powerpoint/2010/main" val="3124654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Static </a:t>
            </a:r>
            <a:r>
              <a:rPr dirty="0" smtClean="0"/>
              <a:t>Testing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28800"/>
            <a:ext cx="7704667" cy="417101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Static Testing</a:t>
            </a:r>
          </a:p>
          <a:p>
            <a:pPr lvl="1"/>
            <a:r>
              <a:rPr lang="en-US" dirty="0"/>
              <a:t>Testing performed without executing code.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Reviews</a:t>
            </a:r>
          </a:p>
          <a:p>
            <a:r>
              <a:rPr lang="en-US" dirty="0"/>
              <a:t>Inspections</a:t>
            </a:r>
          </a:p>
          <a:p>
            <a:r>
              <a:rPr lang="en-US" dirty="0"/>
              <a:t>Walkthroughs</a:t>
            </a:r>
          </a:p>
          <a:p>
            <a:r>
              <a:rPr lang="en-US" dirty="0"/>
              <a:t>Requirement analysis</a:t>
            </a:r>
          </a:p>
          <a:p>
            <a:pPr marL="0" indent="0">
              <a:buNone/>
            </a:pPr>
            <a:r>
              <a:rPr lang="en-US" b="1" dirty="0"/>
              <a:t>Advantages</a:t>
            </a:r>
          </a:p>
          <a:p>
            <a:r>
              <a:rPr lang="en-US" dirty="0"/>
              <a:t>Detects defects early</a:t>
            </a:r>
          </a:p>
          <a:p>
            <a:r>
              <a:rPr lang="en-US" dirty="0"/>
              <a:t>Saves cost</a:t>
            </a:r>
          </a:p>
          <a:p>
            <a:r>
              <a:rPr lang="en-US" dirty="0"/>
              <a:t>Improves documentation quality</a:t>
            </a:r>
          </a:p>
        </p:txBody>
      </p:sp>
    </p:spTree>
    <p:extLst>
      <p:ext uri="{BB962C8B-B14F-4D97-AF65-F5344CB8AC3E}">
        <p14:creationId xmlns:p14="http://schemas.microsoft.com/office/powerpoint/2010/main" val="2428229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Dynamic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Testing </a:t>
            </a:r>
            <a:r>
              <a:rPr lang="en-US" dirty="0"/>
              <a:t>performed by executing the software.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Running login functionality</a:t>
            </a:r>
          </a:p>
          <a:p>
            <a:r>
              <a:rPr lang="en-US" dirty="0"/>
              <a:t>Executing test cases</a:t>
            </a:r>
          </a:p>
          <a:p>
            <a:r>
              <a:rPr lang="en-US" dirty="0"/>
              <a:t>Performance testing</a:t>
            </a:r>
          </a:p>
        </p:txBody>
      </p:sp>
    </p:spTree>
    <p:extLst>
      <p:ext uri="{BB962C8B-B14F-4D97-AF65-F5344CB8AC3E}">
        <p14:creationId xmlns:p14="http://schemas.microsoft.com/office/powerpoint/2010/main" val="3112158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19199"/>
          </a:xfrm>
        </p:spPr>
        <p:txBody>
          <a:bodyPr/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en-US" altLang="en-US" b="1" i="1" dirty="0">
                <a:ln>
                  <a:noFill/>
                </a:ln>
                <a:latin typeface="Times New Roman" panose="02020603050405020304" pitchFamily="18" charset="0"/>
              </a:rPr>
              <a:t>Comparison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079437"/>
              </p:ext>
            </p:extLst>
          </p:nvPr>
        </p:nvGraphicFramePr>
        <p:xfrm>
          <a:off x="982663" y="2514601"/>
          <a:ext cx="7704136" cy="27328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852068">
                  <a:extLst>
                    <a:ext uri="{9D8B030D-6E8A-4147-A177-3AD203B41FA5}">
                      <a16:colId xmlns:a16="http://schemas.microsoft.com/office/drawing/2014/main" val="455087157"/>
                    </a:ext>
                  </a:extLst>
                </a:gridCol>
                <a:gridCol w="3852068">
                  <a:extLst>
                    <a:ext uri="{9D8B030D-6E8A-4147-A177-3AD203B41FA5}">
                      <a16:colId xmlns:a16="http://schemas.microsoft.com/office/drawing/2014/main" val="1049676207"/>
                    </a:ext>
                  </a:extLst>
                </a:gridCol>
              </a:tblGrid>
              <a:tr h="546576">
                <a:tc>
                  <a:txBody>
                    <a:bodyPr/>
                    <a:lstStyle/>
                    <a:p>
                      <a:r>
                        <a:rPr lang="en-US" sz="1800" b="1" dirty="0"/>
                        <a:t>Static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Dynamic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879143"/>
                  </a:ext>
                </a:extLst>
              </a:tr>
              <a:tr h="546576">
                <a:tc>
                  <a:txBody>
                    <a:bodyPr/>
                    <a:lstStyle/>
                    <a:p>
                      <a:r>
                        <a:rPr lang="en-US" sz="1800"/>
                        <a:t>No code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Code execution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779287"/>
                  </a:ext>
                </a:extLst>
              </a:tr>
              <a:tr h="546576">
                <a:tc>
                  <a:txBody>
                    <a:bodyPr/>
                    <a:lstStyle/>
                    <a:p>
                      <a:r>
                        <a:rPr lang="en-US" sz="1800"/>
                        <a:t>Finds defects early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Finds runtime defects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343180"/>
                  </a:ext>
                </a:extLst>
              </a:tr>
              <a:tr h="546576">
                <a:tc>
                  <a:txBody>
                    <a:bodyPr/>
                    <a:lstStyle/>
                    <a:p>
                      <a:r>
                        <a:rPr lang="en-US" sz="1800"/>
                        <a:t>Less expensive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More expensive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3374714"/>
                  </a:ext>
                </a:extLst>
              </a:tr>
              <a:tr h="546576">
                <a:tc>
                  <a:txBody>
                    <a:bodyPr/>
                    <a:lstStyle/>
                    <a:p>
                      <a:r>
                        <a:rPr lang="en-US" sz="1800"/>
                        <a:t>Verification 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Validation 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392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862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90599"/>
          </a:xfrm>
        </p:spPr>
        <p:txBody>
          <a:bodyPr/>
          <a:lstStyle/>
          <a:p>
            <a:r>
              <a:rPr lang="en-US" dirty="0" smtClean="0"/>
              <a:t>Scenario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52600"/>
            <a:ext cx="7704667" cy="4247216"/>
          </a:xfrm>
        </p:spPr>
        <p:txBody>
          <a:bodyPr>
            <a:normAutofit/>
          </a:bodyPr>
          <a:lstStyle/>
          <a:p>
            <a:r>
              <a:rPr lang="en-US" dirty="0"/>
              <a:t>Static Testing </a:t>
            </a:r>
            <a:r>
              <a:rPr lang="en-US" dirty="0" smtClean="0"/>
              <a:t>Scenario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team reviews requirements for a ride-booking app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They </a:t>
            </a:r>
            <a:r>
              <a:rPr lang="en-US" dirty="0"/>
              <a:t>identify </a:t>
            </a:r>
            <a:r>
              <a:rPr lang="en-US" dirty="0" err="1"/>
              <a:t>ambiguity:“Fast</a:t>
            </a:r>
            <a:r>
              <a:rPr lang="en-US" dirty="0"/>
              <a:t> response time” is unclear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issue is fixed before coding starts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Dynamic </a:t>
            </a:r>
            <a:r>
              <a:rPr lang="en-US" dirty="0"/>
              <a:t>Testing </a:t>
            </a:r>
            <a:r>
              <a:rPr lang="en-US" dirty="0" smtClean="0"/>
              <a:t>Scenario:</a:t>
            </a:r>
          </a:p>
          <a:p>
            <a:pPr lvl="1"/>
            <a:r>
              <a:rPr lang="en-US" dirty="0" smtClean="0"/>
              <a:t>After </a:t>
            </a:r>
            <a:r>
              <a:rPr lang="en-US" dirty="0"/>
              <a:t>development, testers book rides repeatedly to verify fare calculations.</a:t>
            </a:r>
          </a:p>
        </p:txBody>
      </p:sp>
    </p:spTree>
    <p:extLst>
      <p:ext uri="{BB962C8B-B14F-4D97-AF65-F5344CB8AC3E}">
        <p14:creationId xmlns:p14="http://schemas.microsoft.com/office/powerpoint/2010/main" val="2569032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vs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09800"/>
            <a:ext cx="7704667" cy="379001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 sz="2000"/>
            </a:pPr>
            <a:r>
              <a:rPr lang="en-US" sz="2600" dirty="0"/>
              <a:t>Verification: </a:t>
            </a:r>
          </a:p>
          <a:p>
            <a:pPr>
              <a:defRPr sz="2000"/>
            </a:pPr>
            <a:r>
              <a:rPr lang="en-US" sz="2600" dirty="0"/>
              <a:t>Checks whether software is built correctly according to specifications</a:t>
            </a:r>
            <a:r>
              <a:rPr lang="en-US" dirty="0"/>
              <a:t>.</a:t>
            </a:r>
          </a:p>
          <a:p>
            <a:pPr marL="457200" lvl="1" indent="0">
              <a:buNone/>
              <a:defRPr sz="2000"/>
            </a:pPr>
            <a:r>
              <a:rPr lang="en-US" sz="2400" b="1" dirty="0"/>
              <a:t>Key Question:</a:t>
            </a:r>
            <a:r>
              <a:rPr lang="en-US" sz="2400" dirty="0"/>
              <a:t> “Are we building the product right?”</a:t>
            </a:r>
          </a:p>
          <a:p>
            <a:pPr marL="0" indent="0">
              <a:buNone/>
            </a:pPr>
            <a:r>
              <a:rPr dirty="0" smtClean="0"/>
              <a:t>Validation</a:t>
            </a:r>
            <a:r>
              <a:rPr lang="en-US" dirty="0" smtClean="0"/>
              <a:t>:</a:t>
            </a:r>
          </a:p>
          <a:p>
            <a:r>
              <a:rPr lang="en-US" dirty="0" smtClean="0"/>
              <a:t>Checks </a:t>
            </a:r>
            <a:r>
              <a:rPr lang="en-US" dirty="0"/>
              <a:t>whether the correct product is built according to user needs.</a:t>
            </a:r>
          </a:p>
          <a:p>
            <a:pPr marL="457200" lvl="1" indent="0">
              <a:buNone/>
            </a:pPr>
            <a:r>
              <a:rPr lang="en-US" sz="2400" b="1" dirty="0"/>
              <a:t>Key Question</a:t>
            </a:r>
            <a:r>
              <a:rPr sz="2400" b="1" dirty="0"/>
              <a:t>: </a:t>
            </a:r>
            <a:r>
              <a:rPr sz="2400" dirty="0"/>
              <a:t>Are we building the right product?</a:t>
            </a:r>
          </a:p>
          <a:p>
            <a:pPr>
              <a:defRPr sz="2000"/>
            </a:pPr>
            <a:r>
              <a:rPr sz="2200" dirty="0"/>
              <a:t>Verification checks specifications</a:t>
            </a:r>
          </a:p>
          <a:p>
            <a:pPr>
              <a:defRPr sz="2000"/>
            </a:pPr>
            <a:r>
              <a:rPr sz="2200" dirty="0"/>
              <a:t>Validation checks user expectations</a:t>
            </a:r>
          </a:p>
        </p:txBody>
      </p:sp>
    </p:spTree>
    <p:extLst>
      <p:ext uri="{BB962C8B-B14F-4D97-AF65-F5344CB8AC3E}">
        <p14:creationId xmlns:p14="http://schemas.microsoft.com/office/powerpoint/2010/main" val="1613623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685799"/>
          </a:xfrm>
        </p:spPr>
        <p:txBody>
          <a:bodyPr>
            <a:normAutofit fontScale="90000"/>
          </a:bodyPr>
          <a:lstStyle/>
          <a:p>
            <a:r>
              <a:rPr lang="en-US" dirty="0"/>
              <a:t>Scenario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752600"/>
            <a:ext cx="7620000" cy="4247216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School </a:t>
            </a:r>
            <a:r>
              <a:rPr lang="en-US" dirty="0"/>
              <a:t>Management </a:t>
            </a:r>
            <a:r>
              <a:rPr lang="en-US" dirty="0" smtClean="0"/>
              <a:t>App</a:t>
            </a:r>
          </a:p>
          <a:p>
            <a:pPr marL="0" indent="0">
              <a:buNone/>
            </a:pPr>
            <a:r>
              <a:rPr lang="en-US" dirty="0" smtClean="0"/>
              <a:t>Requirements </a:t>
            </a:r>
            <a:r>
              <a:rPr lang="en-US" dirty="0"/>
              <a:t>state</a:t>
            </a:r>
            <a:r>
              <a:rPr lang="en-US" dirty="0" smtClean="0"/>
              <a:t>:</a:t>
            </a:r>
          </a:p>
          <a:p>
            <a:r>
              <a:rPr lang="en-US" dirty="0" smtClean="0"/>
              <a:t>Teachers </a:t>
            </a:r>
            <a:r>
              <a:rPr lang="en-US" dirty="0"/>
              <a:t>can upload marks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Developers </a:t>
            </a:r>
            <a:r>
              <a:rPr lang="en-US" dirty="0"/>
              <a:t>implement upload feature </a:t>
            </a:r>
            <a:r>
              <a:rPr lang="en-US" dirty="0" smtClean="0"/>
              <a:t>correctly.</a:t>
            </a:r>
          </a:p>
          <a:p>
            <a:pPr marL="0" indent="0">
              <a:buNone/>
            </a:pPr>
            <a:r>
              <a:rPr lang="en-US" dirty="0" smtClean="0"/>
              <a:t>Verification Result</a:t>
            </a:r>
          </a:p>
          <a:p>
            <a:r>
              <a:rPr lang="en-US" dirty="0" smtClean="0"/>
              <a:t>Feature </a:t>
            </a:r>
            <a:r>
              <a:rPr lang="en-US" dirty="0"/>
              <a:t>works according to specification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However: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Teachers actually needed</a:t>
            </a:r>
            <a:r>
              <a:rPr lang="en-US" dirty="0" smtClean="0"/>
              <a:t>:</a:t>
            </a:r>
          </a:p>
          <a:p>
            <a:r>
              <a:rPr lang="en-US" dirty="0" smtClean="0"/>
              <a:t>Bulk </a:t>
            </a:r>
            <a:r>
              <a:rPr lang="en-US" dirty="0"/>
              <a:t>Excel </a:t>
            </a:r>
            <a:r>
              <a:rPr lang="en-US" dirty="0" smtClean="0"/>
              <a:t>upload</a:t>
            </a:r>
          </a:p>
          <a:p>
            <a:r>
              <a:rPr lang="en-US" dirty="0" smtClean="0"/>
              <a:t>Automatic </a:t>
            </a:r>
            <a:r>
              <a:rPr lang="en-US" dirty="0"/>
              <a:t>GPA </a:t>
            </a:r>
            <a:r>
              <a:rPr lang="en-US" dirty="0" smtClean="0"/>
              <a:t>calculation</a:t>
            </a:r>
          </a:p>
          <a:p>
            <a:pPr marL="0" indent="0">
              <a:buNone/>
            </a:pPr>
            <a:r>
              <a:rPr lang="en-US" dirty="0" smtClean="0"/>
              <a:t>Validation Result</a:t>
            </a:r>
          </a:p>
          <a:p>
            <a:r>
              <a:rPr lang="en-US" dirty="0" smtClean="0"/>
              <a:t>Software </a:t>
            </a:r>
            <a:r>
              <a:rPr lang="en-US" dirty="0"/>
              <a:t>does not fully satisfy user needs.</a:t>
            </a:r>
          </a:p>
        </p:txBody>
      </p:sp>
    </p:spTree>
    <p:extLst>
      <p:ext uri="{BB962C8B-B14F-4D97-AF65-F5344CB8AC3E}">
        <p14:creationId xmlns:p14="http://schemas.microsoft.com/office/powerpoint/2010/main" val="963309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453188"/>
            <a:ext cx="9144000" cy="404812"/>
          </a:xfrm>
          <a:prstGeom prst="rect">
            <a:avLst/>
          </a:prstGeom>
        </p:spPr>
        <p:style>
          <a:lnRef idx="1">
            <a:schemeClr val="accent3"/>
          </a:lnRef>
          <a:fillRef idx="1002">
            <a:schemeClr val="dk2"/>
          </a:fillRef>
          <a:effectRef idx="2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dirty="0"/>
          </a:p>
        </p:txBody>
      </p:sp>
      <p:sp>
        <p:nvSpPr>
          <p:cNvPr id="38915" name="Date Placeholder 10"/>
          <p:cNvSpPr>
            <a:spLocks noGrp="1"/>
          </p:cNvSpPr>
          <p:nvPr>
            <p:ph type="dt" sz="half" idx="10"/>
          </p:nvPr>
        </p:nvSpPr>
        <p:spPr bwMode="auto">
          <a:xfrm>
            <a:off x="107950" y="65198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84E39A2-AEAA-47F0-A959-BF588C21FFE7}" type="datetime1">
              <a:rPr lang="en-GB" altLang="en-US" sz="1400" b="0" i="0" smtClean="0"/>
              <a:pPr/>
              <a:t>11/05/2026</a:t>
            </a:fld>
            <a:endParaRPr lang="en-GB" altLang="en-US" sz="1400" b="0" i="0" dirty="0" smtClean="0"/>
          </a:p>
        </p:txBody>
      </p:sp>
      <p:sp>
        <p:nvSpPr>
          <p:cNvPr id="38916" name="Slide Number Placeholder 1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59575" y="6519863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7847B86-BEA7-480B-A438-F433FE70A1D1}" type="slidenum">
              <a:rPr lang="en-GB" altLang="en-US" sz="1400" b="0" i="0"/>
              <a:pPr/>
              <a:t>25</a:t>
            </a:fld>
            <a:endParaRPr lang="en-GB" altLang="en-US" sz="1400" b="0" i="0"/>
          </a:p>
        </p:txBody>
      </p:sp>
      <p:sp>
        <p:nvSpPr>
          <p:cNvPr id="38917" name="Text Box 8"/>
          <p:cNvSpPr txBox="1">
            <a:spLocks noChangeArrowheads="1"/>
          </p:cNvSpPr>
          <p:nvPr/>
        </p:nvSpPr>
        <p:spPr bwMode="auto">
          <a:xfrm>
            <a:off x="0" y="1412875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600">
                <a:solidFill>
                  <a:srgbClr val="000000"/>
                </a:solidFill>
                <a:cs typeface="Times New Roman" panose="02020603050405020304" pitchFamily="18" charset="0"/>
              </a:rPr>
              <a:t>Verification &amp; Validation  </a:t>
            </a:r>
          </a:p>
        </p:txBody>
      </p:sp>
      <p:sp>
        <p:nvSpPr>
          <p:cNvPr id="38918" name="Rectangle 5"/>
          <p:cNvSpPr>
            <a:spLocks noChangeArrowheads="1"/>
          </p:cNvSpPr>
          <p:nvPr/>
        </p:nvSpPr>
        <p:spPr bwMode="auto">
          <a:xfrm>
            <a:off x="214313" y="3949700"/>
            <a:ext cx="8715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  <a:defRPr sz="1200" b="1" 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en-US" altLang="en-US" sz="2400"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89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2420938"/>
            <a:ext cx="8296275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Common terms in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57400"/>
            <a:ext cx="7704667" cy="39424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Mistake:</a:t>
            </a:r>
          </a:p>
          <a:p>
            <a:r>
              <a:rPr lang="en-US" dirty="0"/>
              <a:t>A human action that produces an incorrect result.</a:t>
            </a:r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r>
              <a:rPr lang="en-US" dirty="0"/>
              <a:t>A programmer writes the wrong formula for calculating student GPA.</a:t>
            </a:r>
          </a:p>
          <a:p>
            <a:pPr marL="0" indent="0">
              <a:buNone/>
            </a:pPr>
            <a:r>
              <a:rPr lang="en-US" b="1" dirty="0"/>
              <a:t>Fault (Defect):</a:t>
            </a:r>
          </a:p>
          <a:p>
            <a:r>
              <a:rPr lang="en-US" dirty="0"/>
              <a:t>An incorrect step, process, logic, or data definition in a program.</a:t>
            </a:r>
          </a:p>
          <a:p>
            <a:pPr marL="0" indent="0">
              <a:buNone/>
            </a:pPr>
            <a:r>
              <a:rPr lang="en-US" dirty="0"/>
              <a:t>Example: The GPA calculation code uses division incorrectly.</a:t>
            </a:r>
          </a:p>
        </p:txBody>
      </p:sp>
    </p:spTree>
    <p:extLst>
      <p:ext uri="{BB962C8B-B14F-4D97-AF65-F5344CB8AC3E}">
        <p14:creationId xmlns:p14="http://schemas.microsoft.com/office/powerpoint/2010/main" val="2164001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219200"/>
            <a:ext cx="7552267" cy="47806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Failure</a:t>
            </a:r>
          </a:p>
          <a:p>
            <a:r>
              <a:rPr lang="en-US" dirty="0"/>
              <a:t>The inability of a system or component to perform its required function correctly.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The university portal shows incorrect GPA values to students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Error</a:t>
            </a:r>
          </a:p>
          <a:p>
            <a:r>
              <a:rPr lang="en-US" dirty="0"/>
              <a:t>The difference between the expected correct result and the actual result produced by the software.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Expected GPA = 3.50</a:t>
            </a:r>
            <a:br>
              <a:rPr lang="en-US" dirty="0"/>
            </a:br>
            <a:r>
              <a:rPr lang="en-US" dirty="0"/>
              <a:t>Displayed GPA = </a:t>
            </a:r>
            <a:r>
              <a:rPr lang="en-US" dirty="0" smtClean="0"/>
              <a:t>2.90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09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61999"/>
          </a:xfrm>
        </p:spPr>
        <p:txBody>
          <a:bodyPr/>
          <a:lstStyle/>
          <a:p>
            <a:r>
              <a:rPr lang="en-US" b="1" dirty="0"/>
              <a:t>Scenario-Based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52600"/>
            <a:ext cx="7704667" cy="45520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Online </a:t>
            </a:r>
            <a:r>
              <a:rPr lang="en-US" b="1" dirty="0"/>
              <a:t>Shopping System</a:t>
            </a:r>
          </a:p>
          <a:p>
            <a:r>
              <a:rPr lang="en-US" b="1" dirty="0"/>
              <a:t>Mistake</a:t>
            </a:r>
          </a:p>
          <a:p>
            <a:pPr marL="0" indent="0">
              <a:buNone/>
            </a:pPr>
            <a:r>
              <a:rPr lang="en-US" dirty="0" smtClean="0"/>
              <a:t>Developer </a:t>
            </a:r>
            <a:r>
              <a:rPr lang="en-US" dirty="0"/>
              <a:t>forgets to apply discount formula correctly.</a:t>
            </a:r>
          </a:p>
          <a:p>
            <a:r>
              <a:rPr lang="en-US" b="1" dirty="0"/>
              <a:t>Fault</a:t>
            </a:r>
          </a:p>
          <a:p>
            <a:pPr marL="0" indent="0">
              <a:buNone/>
            </a:pPr>
            <a:r>
              <a:rPr lang="en-US" dirty="0"/>
              <a:t>Wrong discount logic exists in code.</a:t>
            </a:r>
          </a:p>
          <a:p>
            <a:r>
              <a:rPr lang="en-US" b="1" dirty="0"/>
              <a:t>Failure</a:t>
            </a:r>
          </a:p>
          <a:p>
            <a:pPr marL="0" indent="0">
              <a:buNone/>
            </a:pPr>
            <a:r>
              <a:rPr lang="en-US" dirty="0"/>
              <a:t>Customers are charged incorrect prices.</a:t>
            </a:r>
          </a:p>
          <a:p>
            <a:r>
              <a:rPr lang="en-US" b="1" dirty="0"/>
              <a:t>Error</a:t>
            </a:r>
          </a:p>
          <a:p>
            <a:pPr marL="0" indent="0">
              <a:buNone/>
            </a:pPr>
            <a:r>
              <a:rPr lang="en-US" dirty="0"/>
              <a:t>Expected bill = </a:t>
            </a:r>
            <a:r>
              <a:rPr lang="en-US" dirty="0" err="1"/>
              <a:t>Rs</a:t>
            </a:r>
            <a:r>
              <a:rPr lang="en-US" dirty="0"/>
              <a:t>. 4500</a:t>
            </a:r>
            <a:br>
              <a:rPr lang="en-US" dirty="0"/>
            </a:br>
            <a:r>
              <a:rPr lang="en-US" dirty="0"/>
              <a:t>Actual bill = </a:t>
            </a:r>
            <a:r>
              <a:rPr lang="en-US" dirty="0" err="1"/>
              <a:t>Rs</a:t>
            </a:r>
            <a:r>
              <a:rPr lang="en-US" dirty="0"/>
              <a:t>. 5200</a:t>
            </a:r>
          </a:p>
        </p:txBody>
      </p:sp>
    </p:spTree>
    <p:extLst>
      <p:ext uri="{BB962C8B-B14F-4D97-AF65-F5344CB8AC3E}">
        <p14:creationId xmlns:p14="http://schemas.microsoft.com/office/powerpoint/2010/main" val="1071846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90599"/>
          </a:xfrm>
        </p:spPr>
        <p:txBody>
          <a:bodyPr/>
          <a:lstStyle/>
          <a:p>
            <a:r>
              <a:rPr lang="en-US" altLang="en-US" u="sng" dirty="0"/>
              <a:t>Who does 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752600"/>
            <a:ext cx="7704667" cy="41710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1400" dirty="0"/>
              <a:t>- </a:t>
            </a:r>
            <a:r>
              <a:rPr lang="en-US" altLang="en-US" dirty="0"/>
              <a:t>Test manager</a:t>
            </a:r>
            <a:br>
              <a:rPr lang="en-US" altLang="en-US" dirty="0"/>
            </a:br>
            <a:r>
              <a:rPr lang="en-US" altLang="en-US" dirty="0"/>
              <a:t>	- manage and control a software test project </a:t>
            </a:r>
            <a:br>
              <a:rPr lang="en-US" altLang="en-US" dirty="0"/>
            </a:br>
            <a:r>
              <a:rPr lang="en-US" altLang="en-US" dirty="0"/>
              <a:t>	- supervise test engineers</a:t>
            </a:r>
            <a:br>
              <a:rPr lang="en-US" altLang="en-US" dirty="0"/>
            </a:br>
            <a:r>
              <a:rPr lang="en-US" altLang="en-US" dirty="0"/>
              <a:t>	- define and specify a test plan</a:t>
            </a:r>
            <a:br>
              <a:rPr lang="en-US" altLang="en-US" dirty="0"/>
            </a:br>
            <a:r>
              <a:rPr lang="en-US" altLang="en-US" dirty="0"/>
              <a:t>- Software Test Engineers and Testers</a:t>
            </a:r>
            <a:br>
              <a:rPr lang="en-US" altLang="en-US" dirty="0"/>
            </a:br>
            <a:r>
              <a:rPr lang="en-US" altLang="en-US" dirty="0"/>
              <a:t>	- define test cases, write test specifications, run tests</a:t>
            </a:r>
            <a:br>
              <a:rPr lang="en-US" altLang="en-US" dirty="0"/>
            </a:br>
            <a:r>
              <a:rPr lang="en-US" altLang="en-US" dirty="0"/>
              <a:t>- Development Engineers</a:t>
            </a:r>
            <a:br>
              <a:rPr lang="en-US" altLang="en-US" dirty="0"/>
            </a:br>
            <a:r>
              <a:rPr lang="en-US" altLang="en-US" dirty="0"/>
              <a:t>	- Only perform unit tests and integration tests</a:t>
            </a:r>
            <a:br>
              <a:rPr lang="en-US" altLang="en-US" dirty="0"/>
            </a:br>
            <a:r>
              <a:rPr lang="en-US" altLang="en-US" dirty="0"/>
              <a:t>- Quality Assurance Group and Engineers</a:t>
            </a:r>
            <a:br>
              <a:rPr lang="en-US" altLang="en-US" dirty="0"/>
            </a:br>
            <a:r>
              <a:rPr lang="en-US" altLang="en-US" dirty="0"/>
              <a:t>	- Perform system testing</a:t>
            </a:r>
            <a:br>
              <a:rPr lang="en-US" altLang="en-US" dirty="0"/>
            </a:br>
            <a:r>
              <a:rPr lang="en-US" altLang="en-US" dirty="0"/>
              <a:t>	- Define software testing standards and quality control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Unit Testing</a:t>
            </a:r>
          </a:p>
          <a:p>
            <a:pPr>
              <a:defRPr sz="2000"/>
            </a:pPr>
            <a:r>
              <a:t>Integration Testing</a:t>
            </a:r>
          </a:p>
          <a:p>
            <a:pPr>
              <a:defRPr sz="2000"/>
            </a:pPr>
            <a:r>
              <a:t>System Testing</a:t>
            </a:r>
          </a:p>
          <a:p>
            <a:pPr>
              <a:defRPr sz="2000"/>
            </a:pPr>
            <a:r>
              <a:t>Acceptance Testing</a:t>
            </a:r>
          </a:p>
          <a:p>
            <a:pPr>
              <a:defRPr sz="2000"/>
            </a:pPr>
            <a:r>
              <a:t>Release Testing</a:t>
            </a:r>
          </a:p>
          <a:p>
            <a:pPr>
              <a:defRPr sz="2000"/>
            </a:pPr>
            <a:r>
              <a:t>Regression Testing</a:t>
            </a:r>
          </a:p>
        </p:txBody>
      </p:sp>
    </p:spTree>
    <p:extLst>
      <p:ext uri="{BB962C8B-B14F-4D97-AF65-F5344CB8AC3E}">
        <p14:creationId xmlns:p14="http://schemas.microsoft.com/office/powerpoint/2010/main" val="3178130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8019</TotalTime>
  <Words>1504</Words>
  <Application>Microsoft Office PowerPoint</Application>
  <PresentationFormat>On-screen Show (4:3)</PresentationFormat>
  <Paragraphs>333</Paragraphs>
  <Slides>30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Corbel</vt:lpstr>
      <vt:lpstr>Times New Roman</vt:lpstr>
      <vt:lpstr>Wingdings 2</vt:lpstr>
      <vt:lpstr>Parallax</vt:lpstr>
      <vt:lpstr>Advance Software Engineering</vt:lpstr>
      <vt:lpstr>Software Quality Assurance</vt:lpstr>
      <vt:lpstr>Software Quality Assurance</vt:lpstr>
      <vt:lpstr>High-quality software means:</vt:lpstr>
      <vt:lpstr>Low-quality software leads to:</vt:lpstr>
      <vt:lpstr>What is Software Quality?</vt:lpstr>
      <vt:lpstr>Software Quality Assurance</vt:lpstr>
      <vt:lpstr>PowerPoint Presentation</vt:lpstr>
      <vt:lpstr>PowerPoint Presentation</vt:lpstr>
      <vt:lpstr>PowerPoint Presentation</vt:lpstr>
      <vt:lpstr>PowerPoint Presentation</vt:lpstr>
      <vt:lpstr>Scenario: Online Food Delivery App</vt:lpstr>
      <vt:lpstr>What is Software Quality Assurance (SQA)?</vt:lpstr>
      <vt:lpstr>Main Goals of SQA</vt:lpstr>
      <vt:lpstr>What is Software Testing?</vt:lpstr>
      <vt:lpstr>Objectives of Software Testing</vt:lpstr>
      <vt:lpstr>SQA vs Testing</vt:lpstr>
      <vt:lpstr>Scenario: University Management System</vt:lpstr>
      <vt:lpstr>Static Testing</vt:lpstr>
      <vt:lpstr>Dynamic Testing</vt:lpstr>
      <vt:lpstr>Comparison Table</vt:lpstr>
      <vt:lpstr>Scenario Example</vt:lpstr>
      <vt:lpstr>Verification vs Validation</vt:lpstr>
      <vt:lpstr>Scenario Example</vt:lpstr>
      <vt:lpstr>PowerPoint Presentation</vt:lpstr>
      <vt:lpstr>Common terms in Testing</vt:lpstr>
      <vt:lpstr>PowerPoint Presentation</vt:lpstr>
      <vt:lpstr>Scenario-Based Example</vt:lpstr>
      <vt:lpstr>Who does Software Testing</vt:lpstr>
      <vt:lpstr>Stages of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GUI Using Java With AWT</dc:title>
  <dc:creator>JERRY   GAO</dc:creator>
  <cp:lastModifiedBy>shehla saeed</cp:lastModifiedBy>
  <cp:revision>339</cp:revision>
  <cp:lastPrinted>1999-03-17T03:36:37Z</cp:lastPrinted>
  <dcterms:created xsi:type="dcterms:W3CDTF">1997-09-28T04:40:08Z</dcterms:created>
  <dcterms:modified xsi:type="dcterms:W3CDTF">2026-05-11T03:23:09Z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3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
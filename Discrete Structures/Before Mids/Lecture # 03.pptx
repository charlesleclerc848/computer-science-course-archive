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92" autoAdjust="0"/>
    <p:restoredTop sz="94660"/>
  </p:normalViewPr>
  <p:slideViewPr>
    <p:cSldViewPr showGuides="1">
      <p:cViewPr varScale="1">
        <p:scale>
          <a:sx n="38" d="100"/>
          <a:sy n="38" d="100"/>
        </p:scale>
        <p:origin x="131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2FFEF-1113-4E60-88FE-EA47470A374B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CEA7A-0DCF-4742-BD22-DF14B59E4523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CEA7A-0DCF-4742-BD22-DF14B59E452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 panose="05040102010807070707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 panose="05040102010807070707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 panose="05040102010807070707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 panose="05000000000000000000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 panose="05000000000000000000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 panose="05040102010807070707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 panose="05040102010807070707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b="1" u="sng" dirty="0" smtClean="0">
                <a:solidFill>
                  <a:srgbClr val="C00000"/>
                </a:solidFill>
              </a:rPr>
              <a:t>LAWS OF LOGIC</a:t>
            </a:r>
            <a:b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Lecture # 03</a:t>
            </a:r>
            <a:b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Applying Laws of Logic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Using laws of logic simplify the statement form.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[~(~p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q)] </a:t>
            </a:r>
            <a:endParaRPr lang="en-US" dirty="0" smtClean="0"/>
          </a:p>
          <a:p>
            <a:r>
              <a:rPr lang="en-US" b="1" u="sng" dirty="0" smtClean="0"/>
              <a:t>Solution:</a:t>
            </a:r>
            <a:endParaRPr lang="en-US" b="1" u="sng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 p  [~(~p)  (~q)] </a:t>
            </a:r>
            <a:r>
              <a:rPr lang="en-US" dirty="0" smtClean="0"/>
              <a:t>		</a:t>
            </a:r>
            <a:r>
              <a:rPr lang="en-US" dirty="0" err="1" smtClean="0"/>
              <a:t>DeMorgan’s</a:t>
            </a:r>
            <a:r>
              <a:rPr lang="en-US" dirty="0" smtClean="0"/>
              <a:t> Law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 p  [p(~q)]</a:t>
            </a:r>
            <a:r>
              <a:rPr lang="en-US" dirty="0" smtClean="0"/>
              <a:t>			Double Negative Law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 [p  p](~q)</a:t>
            </a:r>
            <a:r>
              <a:rPr lang="en-US" dirty="0" smtClean="0"/>
              <a:t>			Associative Law for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</a:t>
            </a:r>
            <a:endParaRPr lang="en-US" dirty="0" smtClean="0">
              <a:solidFill>
                <a:srgbClr val="C00000"/>
              </a:solidFill>
              <a:sym typeface="Symbol" panose="05050102010706020507"/>
            </a:endParaRPr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 </a:t>
            </a:r>
            <a:r>
              <a:rPr lang="en-US" dirty="0" smtClean="0">
                <a:solidFill>
                  <a:srgbClr val="C00000"/>
                </a:solidFill>
              </a:rPr>
              <a:t>p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</a:t>
            </a:r>
            <a:r>
              <a:rPr lang="en-US" dirty="0" smtClean="0">
                <a:solidFill>
                  <a:srgbClr val="C00000"/>
                </a:solidFill>
              </a:rPr>
              <a:t> (~q)</a:t>
            </a:r>
            <a:r>
              <a:rPr lang="en-US" dirty="0" smtClean="0"/>
              <a:t>				</a:t>
            </a:r>
            <a:r>
              <a:rPr lang="en-US" dirty="0" err="1" smtClean="0"/>
              <a:t>Indempotent</a:t>
            </a:r>
            <a:r>
              <a:rPr lang="en-US" dirty="0" smtClean="0"/>
              <a:t> Law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This is the simplified statement form.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58200" cy="4937760"/>
          </a:xfrm>
        </p:spPr>
        <p:txBody>
          <a:bodyPr/>
          <a:lstStyle/>
          <a:p>
            <a:r>
              <a:rPr lang="en-US" dirty="0" smtClean="0"/>
              <a:t>Using Laws of Logic, verify the logical equivalence.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~ (~ p 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q)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(p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 panose="05050102010706020507"/>
              </a:rPr>
              <a:t> </a:t>
            </a:r>
            <a:r>
              <a:rPr lang="en-US" dirty="0" smtClean="0"/>
              <a:t>p</a:t>
            </a:r>
            <a:endParaRPr lang="en-US" dirty="0" smtClean="0"/>
          </a:p>
          <a:p>
            <a:pPr>
              <a:buNone/>
            </a:pPr>
            <a:r>
              <a:rPr lang="en-US" b="1" u="sng" dirty="0" smtClean="0"/>
              <a:t>Solution:</a:t>
            </a:r>
            <a:endParaRPr lang="en-US" b="1" u="sng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</a:t>
            </a:r>
            <a:r>
              <a:rPr lang="en-US" dirty="0" smtClean="0">
                <a:solidFill>
                  <a:srgbClr val="C00000"/>
                </a:solidFill>
              </a:rPr>
              <a:t> (~(~p)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</a:t>
            </a:r>
            <a:r>
              <a:rPr lang="en-US" dirty="0" smtClean="0">
                <a:solidFill>
                  <a:srgbClr val="C00000"/>
                </a:solidFill>
              </a:rPr>
              <a:t> ~q)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</a:t>
            </a:r>
            <a:r>
              <a:rPr lang="en-US" dirty="0" smtClean="0">
                <a:solidFill>
                  <a:srgbClr val="C00000"/>
                </a:solidFill>
              </a:rPr>
              <a:t>(p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</a:t>
            </a:r>
            <a:r>
              <a:rPr lang="en-US" dirty="0" smtClean="0">
                <a:solidFill>
                  <a:srgbClr val="C00000"/>
                </a:solidFill>
              </a:rPr>
              <a:t> q)</a:t>
            </a:r>
            <a:r>
              <a:rPr lang="en-US" dirty="0" smtClean="0"/>
              <a:t>		</a:t>
            </a:r>
            <a:r>
              <a:rPr lang="en-US" dirty="0" err="1" smtClean="0"/>
              <a:t>DeMorgan’s</a:t>
            </a:r>
            <a:r>
              <a:rPr lang="en-US" dirty="0" smtClean="0"/>
              <a:t> Law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 (p  ~q)  (p  q)</a:t>
            </a:r>
            <a:r>
              <a:rPr lang="en-US" dirty="0" smtClean="0"/>
              <a:t>		Double Negative Law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 p  (~q  q)</a:t>
            </a:r>
            <a:r>
              <a:rPr lang="en-US" dirty="0" smtClean="0"/>
              <a:t>			Distributive Law in reverse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 p  c</a:t>
            </a:r>
            <a:r>
              <a:rPr lang="en-US" dirty="0" smtClean="0"/>
              <a:t>				Negation Law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 p	</a:t>
            </a:r>
            <a:r>
              <a:rPr lang="en-US" dirty="0" smtClean="0"/>
              <a:t>				Identity Law	 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 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SIMPLIFYING A STATEMENT: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“You will get an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A</a:t>
            </a:r>
            <a:r>
              <a:rPr lang="en-US" dirty="0" smtClean="0"/>
              <a:t> if you are hardworking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and</a:t>
            </a:r>
            <a:r>
              <a:rPr lang="en-US" dirty="0" smtClean="0"/>
              <a:t> the sun shines,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or</a:t>
            </a:r>
            <a:r>
              <a:rPr lang="en-US" dirty="0" smtClean="0"/>
              <a:t> you are hardworking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and </a:t>
            </a:r>
            <a:r>
              <a:rPr lang="en-US" dirty="0" smtClean="0"/>
              <a:t>it rains.”</a:t>
            </a:r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/>
              <a:t>Solution:</a:t>
            </a:r>
            <a:endParaRPr lang="en-US" b="1" u="sng" dirty="0" smtClean="0"/>
          </a:p>
          <a:p>
            <a:pPr>
              <a:buNone/>
            </a:pPr>
            <a:r>
              <a:rPr lang="en-US" dirty="0" smtClean="0"/>
              <a:t>	Let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p = “You are hardworking’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q = “The sun shines”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r = “It rains”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condition is </a:t>
            </a:r>
            <a:r>
              <a:rPr lang="en-US" dirty="0" smtClean="0">
                <a:sym typeface="Symbol" panose="05050102010706020507"/>
              </a:rPr>
              <a:t>then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(p  q)  (p  r) </a:t>
            </a:r>
            <a:endParaRPr lang="en-US" dirty="0" smtClean="0">
              <a:solidFill>
                <a:srgbClr val="C00000"/>
              </a:solidFill>
              <a:sym typeface="Symbol" panose="0505010201070602050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ym typeface="Symbol" panose="05050102010706020507"/>
              </a:rPr>
              <a:t>				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(p  q)  (p  r)</a:t>
            </a:r>
            <a:endParaRPr lang="en-US" dirty="0" smtClean="0">
              <a:solidFill>
                <a:srgbClr val="C00000"/>
              </a:solidFill>
              <a:sym typeface="Symbol" panose="05050102010706020507"/>
            </a:endParaRPr>
          </a:p>
          <a:p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 p  (q  r)  </a:t>
            </a:r>
            <a:r>
              <a:rPr lang="en-US" dirty="0" smtClean="0">
                <a:sym typeface="Symbol" panose="05050102010706020507"/>
              </a:rPr>
              <a:t>Distributive law in reverse</a:t>
            </a:r>
            <a:endParaRPr lang="en-US" dirty="0" smtClean="0">
              <a:sym typeface="Symbol" panose="05050102010706020507"/>
            </a:endParaRPr>
          </a:p>
          <a:p>
            <a:endParaRPr lang="en-US" dirty="0" smtClean="0">
              <a:sym typeface="Symbol" panose="05050102010706020507"/>
            </a:endParaRPr>
          </a:p>
          <a:p>
            <a:r>
              <a:rPr lang="en-US" dirty="0" smtClean="0"/>
              <a:t>Putting 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(q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r) back into English, we can rephrase the given sentence as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“You will get an A if you are hardworking and the sun shines or it rains.”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Use Logical Equivalence to rewrite each of the following sentences more simply.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1. It is not true that I am tired and you are smart.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{I am not tired or you are not smart.} </a:t>
            </a:r>
            <a:endParaRPr lang="en-US" dirty="0" smtClean="0"/>
          </a:p>
          <a:p>
            <a:r>
              <a:rPr lang="en-US" b="1" dirty="0" smtClean="0"/>
              <a:t>2. It is not true that I am tired or you are smart.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{I am not tired and you are not smart.}</a:t>
            </a:r>
            <a:endParaRPr lang="en-US" dirty="0" smtClean="0"/>
          </a:p>
          <a:p>
            <a:r>
              <a:rPr lang="en-US" b="1" dirty="0" smtClean="0"/>
              <a:t>3. I forgot my pen or my bag and I forgot my pen or my glasses.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{I forgot my pen or I forgot my bag and glasses.</a:t>
            </a:r>
            <a:endParaRPr lang="en-US" dirty="0" smtClean="0"/>
          </a:p>
          <a:p>
            <a:r>
              <a:rPr lang="en-US" b="1" dirty="0" smtClean="0"/>
              <a:t>4. It is raining and I have forgotten my umbrella, or it is raining and I have forgotten my hat.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{It is raining and I have forgotten my umbrella or my hat.}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CONDITIONAL STATEMENT or IMPLICATION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u="sng" dirty="0" smtClean="0"/>
              <a:t>Introduction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Consider the statement: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"</a:t>
            </a:r>
            <a:r>
              <a:rPr lang="en-US" b="1" dirty="0" smtClean="0"/>
              <a:t>If you earn an A in Math, then I'll buy you a computer</a:t>
            </a:r>
            <a:r>
              <a:rPr lang="en-US" dirty="0" smtClean="0"/>
              <a:t>."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This statement is made up of two simpler statements: 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p: "You earn an A in Math,"</a:t>
            </a:r>
            <a:r>
              <a:rPr lang="en-US" dirty="0" smtClean="0"/>
              <a:t> and 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q: "I will buy you a computer."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</a:t>
            </a:r>
            <a:r>
              <a:rPr lang="en-US" i="1" dirty="0" smtClean="0"/>
              <a:t>if p is true, then q is true,</a:t>
            </a:r>
            <a:r>
              <a:rPr lang="en-US" dirty="0" smtClean="0"/>
              <a:t> or, more simply, </a:t>
            </a:r>
            <a:r>
              <a:rPr lang="en-US" b="1" dirty="0" smtClean="0"/>
              <a:t>if</a:t>
            </a:r>
            <a:r>
              <a:rPr lang="en-US" dirty="0" smtClean="0"/>
              <a:t> p, </a:t>
            </a:r>
            <a:r>
              <a:rPr lang="en-US" b="1" dirty="0" smtClean="0"/>
              <a:t>then</a:t>
            </a:r>
            <a:r>
              <a:rPr lang="en-US" dirty="0" smtClean="0"/>
              <a:t> q.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 We can also phrase this as p </a:t>
            </a:r>
            <a:r>
              <a:rPr lang="en-US" b="1" dirty="0" smtClean="0"/>
              <a:t>implies</a:t>
            </a:r>
            <a:r>
              <a:rPr lang="en-US" dirty="0" smtClean="0"/>
              <a:t> q, and we write </a:t>
            </a:r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q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493776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The original statement is then saying: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i="1" dirty="0" smtClean="0"/>
              <a:t>			</a:t>
            </a:r>
            <a:r>
              <a:rPr lang="en-US" i="1" dirty="0" smtClean="0">
                <a:solidFill>
                  <a:srgbClr val="C00000"/>
                </a:solidFill>
              </a:rPr>
              <a:t>if p is true, then q is true</a:t>
            </a:r>
            <a:endParaRPr lang="en-US" i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i="1" dirty="0" smtClean="0"/>
              <a:t>					Or</a:t>
            </a:r>
            <a:endParaRPr lang="en-US" i="1" dirty="0" smtClean="0"/>
          </a:p>
          <a:p>
            <a:pPr>
              <a:buNone/>
            </a:pPr>
            <a:endParaRPr lang="en-US" i="1" dirty="0" smtClean="0"/>
          </a:p>
          <a:p>
            <a:pPr>
              <a:buNone/>
            </a:pPr>
            <a:r>
              <a:rPr lang="en-US" dirty="0" smtClean="0"/>
              <a:t>	more simply,	 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dirty="0" smtClean="0">
                <a:solidFill>
                  <a:srgbClr val="C00000"/>
                </a:solidFill>
              </a:rPr>
              <a:t> p, </a:t>
            </a:r>
            <a:r>
              <a:rPr lang="en-US" b="1" dirty="0" smtClean="0">
                <a:solidFill>
                  <a:srgbClr val="C00000"/>
                </a:solidFill>
              </a:rPr>
              <a:t>then</a:t>
            </a:r>
            <a:r>
              <a:rPr lang="en-US" dirty="0" smtClean="0">
                <a:solidFill>
                  <a:srgbClr val="C00000"/>
                </a:solidFill>
              </a:rPr>
              <a:t> q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We can also phrase this as </a:t>
            </a:r>
            <a:r>
              <a:rPr lang="en-US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</a:t>
            </a:r>
            <a:r>
              <a:rPr lang="en-US" b="1" dirty="0" smtClean="0"/>
              <a:t>implies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, and we write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 q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TRUTH TABLE for p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q</a:t>
            </a:r>
            <a:endParaRPr lang="en-US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1676400" y="1600200"/>
          <a:ext cx="5372100" cy="2286000"/>
        </p:xfrm>
        <a:graphic>
          <a:graphicData uri="http://schemas.openxmlformats.org/drawingml/2006/table">
            <a:tbl>
              <a:tblPr/>
              <a:tblGrid>
                <a:gridCol w="1825625"/>
                <a:gridCol w="1773238"/>
                <a:gridCol w="1773237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CONDITIONAL STATEMENTS OR IMPLICATIONS: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u="sng" dirty="0" smtClean="0"/>
              <a:t>Definition:</a:t>
            </a:r>
            <a:endParaRPr lang="en-US" b="1" u="sng" dirty="0" smtClean="0"/>
          </a:p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are statement variables, the conditional of </a:t>
            </a:r>
            <a:r>
              <a:rPr lang="en-US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is  </a:t>
            </a:r>
            <a:r>
              <a:rPr lang="en-US" dirty="0" smtClean="0">
                <a:solidFill>
                  <a:srgbClr val="C00000"/>
                </a:solidFill>
              </a:rPr>
              <a:t>“If p then q”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C00000"/>
                </a:solidFill>
              </a:rPr>
              <a:t>“p implies q”</a:t>
            </a:r>
            <a:r>
              <a:rPr lang="en-US" dirty="0" smtClean="0"/>
              <a:t> and is denoted </a:t>
            </a:r>
            <a:r>
              <a:rPr lang="en-US" dirty="0" smtClean="0">
                <a:solidFill>
                  <a:srgbClr val="C00000"/>
                </a:solidFill>
              </a:rPr>
              <a:t>p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 q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It is false when p is true and q is false; otherwise it is true.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arrow </a:t>
            </a:r>
            <a:r>
              <a:rPr lang="en-US" dirty="0" smtClean="0">
                <a:solidFill>
                  <a:srgbClr val="C00000"/>
                </a:solidFill>
              </a:rPr>
              <a:t>"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 " </a:t>
            </a:r>
            <a:r>
              <a:rPr lang="en-US" dirty="0" smtClean="0"/>
              <a:t>is the </a:t>
            </a:r>
            <a:r>
              <a:rPr lang="en-US" b="1" dirty="0" smtClean="0">
                <a:solidFill>
                  <a:srgbClr val="C00000"/>
                </a:solidFill>
              </a:rPr>
              <a:t>conditional</a:t>
            </a:r>
            <a:r>
              <a:rPr lang="en-US" dirty="0" smtClean="0"/>
              <a:t> operator</a:t>
            </a:r>
            <a:endParaRPr lang="en-US" dirty="0" smtClean="0"/>
          </a:p>
          <a:p>
            <a:r>
              <a:rPr lang="en-US" dirty="0" smtClean="0"/>
              <a:t>and in p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dirty="0" smtClean="0"/>
              <a:t> q the statement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b="1" dirty="0" smtClean="0"/>
              <a:t> </a:t>
            </a:r>
            <a:r>
              <a:rPr lang="en-US" dirty="0" smtClean="0"/>
              <a:t>is called</a:t>
            </a:r>
            <a:r>
              <a:rPr lang="en-US" b="1" dirty="0" smtClean="0"/>
              <a:t> </a:t>
            </a:r>
            <a:r>
              <a:rPr lang="en-US" dirty="0" smtClean="0"/>
              <a:t>the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hypothesis 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/>
              <a:t>(or </a:t>
            </a:r>
            <a:r>
              <a:rPr lang="en-US" b="1" dirty="0" smtClean="0">
                <a:solidFill>
                  <a:srgbClr val="C00000"/>
                </a:solidFill>
              </a:rPr>
              <a:t>antecedent</a:t>
            </a:r>
            <a:r>
              <a:rPr lang="en-US" b="1" dirty="0" smtClean="0"/>
              <a:t>)</a:t>
            </a:r>
            <a:endParaRPr lang="en-US" b="1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C00000"/>
                </a:solidFill>
              </a:rPr>
              <a:t>conclusion</a:t>
            </a:r>
            <a:r>
              <a:rPr lang="en-US" dirty="0" smtClean="0"/>
              <a:t> (or </a:t>
            </a:r>
            <a:r>
              <a:rPr lang="en-US" dirty="0" smtClean="0">
                <a:solidFill>
                  <a:srgbClr val="C00000"/>
                </a:solidFill>
              </a:rPr>
              <a:t>consequent</a:t>
            </a:r>
            <a:r>
              <a:rPr lang="en-US" dirty="0" smtClean="0"/>
              <a:t>).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u="sng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PRACTICE WITH CONDITIONAL STATEMENTS: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Determine the truth value of each of the following conditional statements: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1, then 3 = 3.”			</a:t>
            </a:r>
            <a:r>
              <a:rPr lang="en-US" b="1" dirty="0" smtClean="0">
                <a:solidFill>
                  <a:srgbClr val="C00000"/>
                </a:solidFill>
              </a:rPr>
              <a:t>TRUE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 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1, then 2 = 3.”			</a:t>
            </a:r>
            <a:r>
              <a:rPr lang="en-US" b="1" dirty="0" smtClean="0">
                <a:solidFill>
                  <a:srgbClr val="C00000"/>
                </a:solidFill>
              </a:rPr>
              <a:t>FALSE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 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0, then 3 = 3.” 			</a:t>
            </a:r>
            <a:r>
              <a:rPr lang="en-US" b="1" dirty="0" smtClean="0">
                <a:solidFill>
                  <a:srgbClr val="C00000"/>
                </a:solidFill>
              </a:rPr>
              <a:t>TRUE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2, then 2 = 3.”			</a:t>
            </a:r>
            <a:r>
              <a:rPr lang="en-US" b="1" dirty="0" smtClean="0">
                <a:solidFill>
                  <a:srgbClr val="C00000"/>
                </a:solidFill>
              </a:rPr>
              <a:t>TRUE</a:t>
            </a:r>
            <a:r>
              <a:rPr lang="en-US" dirty="0" smtClean="0">
                <a:solidFill>
                  <a:srgbClr val="C00000"/>
                </a:solidFill>
              </a:rPr>
              <a:t> 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1, then 1 = 2 and 2 = 3.”		</a:t>
            </a:r>
            <a:r>
              <a:rPr lang="en-US" b="1" dirty="0" smtClean="0">
                <a:solidFill>
                  <a:srgbClr val="C00000"/>
                </a:solidFill>
              </a:rPr>
              <a:t>FALSE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“If 1 = 3 or 1 = 2 then 3 = 3.”		</a:t>
            </a:r>
            <a:r>
              <a:rPr lang="en-US" b="1" dirty="0" smtClean="0">
                <a:solidFill>
                  <a:srgbClr val="C00000"/>
                </a:solidFill>
              </a:rPr>
              <a:t>TRUE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ALTERNATIVE WAYS OF EXPRESSING IMPLICATIONS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implication </a:t>
            </a:r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q </a:t>
            </a:r>
            <a:r>
              <a:rPr lang="en-US" dirty="0" smtClean="0"/>
              <a:t>could be expressed in many alternative ways as: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“if p then q”                      “not p unless q”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“p implies q”		“q follows from p”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“if p, q”			“q if p”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“p only if q”			“q whenever p”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“p is sufficient for q”</a:t>
            </a:r>
            <a:r>
              <a:rPr lang="en-US" smtClean="0"/>
              <a:t>	“</a:t>
            </a:r>
            <a:r>
              <a:rPr lang="en-US" dirty="0" smtClean="0"/>
              <a:t>q is necessary for p”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following statements in the form “</a:t>
            </a:r>
            <a:r>
              <a:rPr lang="en-US" b="1" dirty="0" smtClean="0">
                <a:solidFill>
                  <a:srgbClr val="FF0000"/>
                </a:solidFill>
              </a:rPr>
              <a:t>if p, then q</a:t>
            </a:r>
            <a:r>
              <a:rPr lang="en-US" dirty="0" smtClean="0"/>
              <a:t>” in English.</a:t>
            </a:r>
            <a:endParaRPr lang="en-US" dirty="0" smtClean="0"/>
          </a:p>
          <a:p>
            <a:pPr>
              <a:buNone/>
            </a:pPr>
            <a:r>
              <a:rPr lang="en-US" b="1" i="1" dirty="0" smtClean="0"/>
              <a:t>	a) Your guarantee is good </a:t>
            </a:r>
            <a:r>
              <a:rPr lang="en-US" b="1" i="1" dirty="0" smtClean="0">
                <a:solidFill>
                  <a:srgbClr val="00B050"/>
                </a:solidFill>
              </a:rPr>
              <a:t>only if</a:t>
            </a:r>
            <a:r>
              <a:rPr lang="en-US" b="1" i="1" dirty="0" smtClean="0"/>
              <a:t> you bought your CD less than 90 days ago.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dirty="0" smtClean="0"/>
              <a:t> your guarantee is good, </a:t>
            </a:r>
            <a:r>
              <a:rPr lang="en-US" b="1" dirty="0" smtClean="0">
                <a:solidFill>
                  <a:srgbClr val="C00000"/>
                </a:solidFill>
              </a:rPr>
              <a:t>then</a:t>
            </a:r>
            <a:r>
              <a:rPr lang="en-US" dirty="0" smtClean="0"/>
              <a:t> you must have bought your CD less than 90 days ago.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b="1" i="1" dirty="0" smtClean="0"/>
              <a:t>	b) To get tenure as a professor, </a:t>
            </a:r>
            <a:r>
              <a:rPr lang="en-US" b="1" i="1" dirty="0" smtClean="0">
                <a:solidFill>
                  <a:srgbClr val="00B050"/>
                </a:solidFill>
              </a:rPr>
              <a:t>it is sufficient</a:t>
            </a:r>
            <a:r>
              <a:rPr lang="en-US" b="1" i="1" dirty="0" smtClean="0"/>
              <a:t> to be world-famous.</a:t>
            </a:r>
            <a:endParaRPr lang="en-US" dirty="0" smtClean="0"/>
          </a:p>
          <a:p>
            <a:pPr>
              <a:buNone/>
            </a:pPr>
            <a:r>
              <a:rPr lang="en-US" b="1" i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dirty="0" smtClean="0"/>
              <a:t> you are world-famous, </a:t>
            </a:r>
            <a:r>
              <a:rPr lang="en-US" b="1" dirty="0" smtClean="0">
                <a:solidFill>
                  <a:srgbClr val="C00000"/>
                </a:solidFill>
              </a:rPr>
              <a:t>then</a:t>
            </a:r>
            <a:r>
              <a:rPr lang="en-US" dirty="0" smtClean="0"/>
              <a:t> you will get tenure as a professor.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i="1" dirty="0" smtClean="0"/>
              <a:t>	c) That you get the job </a:t>
            </a:r>
            <a:r>
              <a:rPr lang="en-US" b="1" i="1" dirty="0" smtClean="0">
                <a:solidFill>
                  <a:srgbClr val="00B050"/>
                </a:solidFill>
              </a:rPr>
              <a:t>implies</a:t>
            </a:r>
            <a:r>
              <a:rPr lang="en-US" b="1" i="1" dirty="0" smtClean="0"/>
              <a:t> that you have the best credentials.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dirty="0" smtClean="0"/>
              <a:t> you get the job, </a:t>
            </a:r>
            <a:r>
              <a:rPr lang="en-US" b="1" dirty="0" smtClean="0">
                <a:solidFill>
                  <a:srgbClr val="C00000"/>
                </a:solidFill>
              </a:rPr>
              <a:t>then</a:t>
            </a:r>
            <a:r>
              <a:rPr lang="en-US" dirty="0" smtClean="0"/>
              <a:t> you have the best credentials.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i="1" dirty="0" smtClean="0"/>
              <a:t>	d) It is </a:t>
            </a:r>
            <a:r>
              <a:rPr lang="en-US" b="1" i="1" dirty="0" smtClean="0">
                <a:solidFill>
                  <a:srgbClr val="00B050"/>
                </a:solidFill>
              </a:rPr>
              <a:t>necessary</a:t>
            </a:r>
            <a:r>
              <a:rPr lang="en-US" b="1" i="1" dirty="0" smtClean="0"/>
              <a:t> to walk 8 miles to get to the top of the Peak.</a:t>
            </a:r>
            <a:endParaRPr lang="en-US" b="1" i="1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If</a:t>
            </a:r>
            <a:r>
              <a:rPr lang="en-US" dirty="0" smtClean="0"/>
              <a:t> you get to the top of the peak, </a:t>
            </a:r>
            <a:r>
              <a:rPr lang="en-US" b="1" dirty="0" smtClean="0">
                <a:solidFill>
                  <a:srgbClr val="C00000"/>
                </a:solidFill>
              </a:rPr>
              <a:t>then</a:t>
            </a:r>
            <a:r>
              <a:rPr lang="en-US" dirty="0" smtClean="0"/>
              <a:t> you must have walked  8 miles.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TRANSLATING ENGLISH SENTENCES TO SYMBOLS: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b="1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b="1" dirty="0" smtClean="0"/>
              <a:t> be propositions: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		p = “you get an A on the final exam”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q = “you do every exercise in this book”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r = “you get an A in this class”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Write the following propositions using p, q, and r and logical connectives.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To get an A in this class it is necessary for you to get an A on the final.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</a:t>
            </a: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 r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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 smtClean="0"/>
              <a:t>do every exercise in this book; You get an A on the final, implies, you  get an A in the class.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u="sng" dirty="0" smtClean="0"/>
              <a:t>SOLUTION</a:t>
            </a: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</a:t>
            </a:r>
            <a:r>
              <a:rPr lang="en-US" b="1" dirty="0" smtClean="0">
                <a:solidFill>
                  <a:srgbClr val="C00000"/>
                </a:solidFill>
              </a:rPr>
              <a:t> q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 r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Getting </a:t>
            </a:r>
            <a:r>
              <a:rPr lang="en-US" dirty="0" smtClean="0"/>
              <a:t>an A on the final and doing every exercise in this book is sufficient for getting an A in this class.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</a:t>
            </a: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</a:t>
            </a:r>
            <a:r>
              <a:rPr lang="en-US" b="1" dirty="0" smtClean="0">
                <a:solidFill>
                  <a:srgbClr val="C00000"/>
                </a:solidFill>
              </a:rPr>
              <a:t> q 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 r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TRANSLATING SYMBOLIC PROPOSITIONS TO ENGLISH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/>
              <a:t>p</a:t>
            </a:r>
            <a:r>
              <a:rPr lang="en-US" dirty="0" smtClean="0"/>
              <a:t>, </a:t>
            </a:r>
            <a:r>
              <a:rPr lang="en-US" b="1" dirty="0" smtClean="0"/>
              <a:t>q</a:t>
            </a:r>
            <a:r>
              <a:rPr lang="en-US" dirty="0" smtClean="0"/>
              <a:t>, and </a:t>
            </a:r>
            <a:r>
              <a:rPr lang="en-US" b="1" dirty="0" smtClean="0"/>
              <a:t>r</a:t>
            </a:r>
            <a:r>
              <a:rPr lang="en-US" dirty="0" smtClean="0"/>
              <a:t> be the propositions: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“you have the flu”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“you miss the final exam”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= “you pass the course”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Express the following propositions as an English sentence.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 p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q 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If you have flu, then you will miss the final exam.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~</a:t>
            </a:r>
            <a:r>
              <a:rPr lang="en-US" b="1" dirty="0" smtClean="0"/>
              <a:t>q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r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If you don’t miss the final exam, you will pass the course.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~p </a:t>
            </a:r>
            <a:r>
              <a:rPr lang="en-US" b="1" dirty="0" smtClean="0">
                <a:sym typeface="Symbol" panose="05050102010706020507"/>
              </a:rPr>
              <a:t></a:t>
            </a:r>
            <a:r>
              <a:rPr lang="en-US" b="1" dirty="0" smtClean="0"/>
              <a:t> ~q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r</a:t>
            </a:r>
            <a:endParaRPr lang="en-US" b="1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olidFill>
                  <a:srgbClr val="C00000"/>
                </a:solidFill>
              </a:rPr>
              <a:t>If you neither have flu nor miss the final exam, then you will pass the course.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HIERARCHY OF OPERATIONS</a:t>
            </a:r>
            <a:br>
              <a:rPr lang="en-US" b="1" dirty="0" smtClean="0"/>
            </a:br>
            <a:r>
              <a:rPr lang="en-US" b="1" dirty="0" smtClean="0"/>
              <a:t>FOR LOGICAL CONNECTIVES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dirty="0" smtClean="0"/>
              <a:t> (negation)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			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</a:t>
            </a:r>
            <a:r>
              <a:rPr lang="en-US" dirty="0" smtClean="0"/>
              <a:t> (conjunction)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			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</a:t>
            </a:r>
            <a:r>
              <a:rPr lang="en-US" dirty="0" smtClean="0"/>
              <a:t> (disjunction)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			</a:t>
            </a:r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</a:t>
            </a:r>
            <a:r>
              <a:rPr lang="en-US" dirty="0" smtClean="0"/>
              <a:t> (conditional)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Construct a truth table for the statement form </a:t>
            </a:r>
            <a:r>
              <a:rPr lang="en-US" b="1" dirty="0" smtClean="0"/>
              <a:t>(p </a:t>
            </a:r>
            <a:r>
              <a:rPr lang="en-US" b="1" dirty="0" smtClean="0">
                <a:sym typeface="Symbol" panose="05050102010706020507"/>
              </a:rPr>
              <a:t></a:t>
            </a:r>
            <a:r>
              <a:rPr lang="en-US" b="1" dirty="0" smtClean="0"/>
              <a:t> ~ q)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~ p</a:t>
            </a:r>
            <a:endParaRPr lang="en-US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1447800" y="1447800"/>
          <a:ext cx="6553200" cy="2344738"/>
        </p:xfrm>
        <a:graphic>
          <a:graphicData uri="http://schemas.openxmlformats.org/drawingml/2006/table">
            <a:tbl>
              <a:tblPr/>
              <a:tblGrid>
                <a:gridCol w="471714"/>
                <a:gridCol w="678090"/>
                <a:gridCol w="678997"/>
                <a:gridCol w="812799"/>
                <a:gridCol w="1549401"/>
                <a:gridCol w="2362199"/>
              </a:tblGrid>
              <a:tr h="515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 ~q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(p  ~ q)  ~ 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Construct a truth table for the statement form (</a:t>
            </a:r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q)</a:t>
            </a:r>
            <a:r>
              <a:rPr lang="en-US" b="1" dirty="0" smtClean="0">
                <a:sym typeface="Symbol" panose="05050102010706020507"/>
              </a:rPr>
              <a:t></a:t>
            </a:r>
            <a:r>
              <a:rPr lang="en-US" b="1" dirty="0" smtClean="0"/>
              <a:t>(~ p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r)</a:t>
            </a:r>
            <a:endParaRPr lang="en-US" dirty="0"/>
          </a:p>
        </p:txBody>
      </p:sp>
      <p:graphicFrame>
        <p:nvGraphicFramePr>
          <p:cNvPr id="2050" name="Group 2"/>
          <p:cNvGraphicFramePr>
            <a:graphicFrameLocks noGrp="1"/>
          </p:cNvGraphicFramePr>
          <p:nvPr/>
        </p:nvGraphicFramePr>
        <p:xfrm>
          <a:off x="914401" y="1295400"/>
          <a:ext cx="7696199" cy="4114800"/>
        </p:xfrm>
        <a:graphic>
          <a:graphicData uri="http://schemas.openxmlformats.org/drawingml/2006/table">
            <a:tbl>
              <a:tblPr/>
              <a:tblGrid>
                <a:gridCol w="425524"/>
                <a:gridCol w="336475"/>
                <a:gridCol w="381000"/>
                <a:gridCol w="939501"/>
                <a:gridCol w="724348"/>
                <a:gridCol w="1460351"/>
                <a:gridCol w="34290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r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pq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~pr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(p  q)  (~ p r)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LOGICAL EQUIVALENCE INVOLVING IMPLICATION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8229600" cy="4937760"/>
          </a:xfrm>
        </p:spPr>
        <p:txBody>
          <a:bodyPr/>
          <a:lstStyle/>
          <a:p>
            <a:r>
              <a:rPr lang="en-US" dirty="0" smtClean="0"/>
              <a:t>Use truth table to show </a:t>
            </a:r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 </a:t>
            </a:r>
            <a:r>
              <a:rPr lang="en-US" b="1" dirty="0" smtClean="0"/>
              <a:t>q </a:t>
            </a:r>
            <a:r>
              <a:rPr lang="en-US" b="1" dirty="0" smtClean="0">
                <a:sym typeface="Symbol" panose="05050102010706020507"/>
              </a:rPr>
              <a:t></a:t>
            </a:r>
            <a:r>
              <a:rPr lang="en-US" b="1" dirty="0" smtClean="0"/>
              <a:t> ~q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~p</a:t>
            </a:r>
            <a:endParaRPr lang="en-US" dirty="0"/>
          </a:p>
        </p:txBody>
      </p:sp>
      <p:graphicFrame>
        <p:nvGraphicFramePr>
          <p:cNvPr id="38914" name="Group 2"/>
          <p:cNvGraphicFramePr>
            <a:graphicFrameLocks noGrp="1"/>
          </p:cNvGraphicFramePr>
          <p:nvPr/>
        </p:nvGraphicFramePr>
        <p:xfrm>
          <a:off x="1371600" y="1905000"/>
          <a:ext cx="5867400" cy="2286000"/>
        </p:xfrm>
        <a:graphic>
          <a:graphicData uri="http://schemas.openxmlformats.org/drawingml/2006/table">
            <a:tbl>
              <a:tblPr/>
              <a:tblGrid>
                <a:gridCol w="805543"/>
                <a:gridCol w="886097"/>
                <a:gridCol w="644434"/>
                <a:gridCol w="724989"/>
                <a:gridCol w="1208314"/>
                <a:gridCol w="1598023"/>
              </a:tblGrid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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~q  ~p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85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8960" name="Group 48"/>
          <p:cNvGrpSpPr/>
          <p:nvPr/>
        </p:nvGrpSpPr>
        <p:grpSpPr bwMode="auto">
          <a:xfrm>
            <a:off x="5181600" y="4191000"/>
            <a:ext cx="838200" cy="609600"/>
            <a:chOff x="2400" y="3840"/>
            <a:chExt cx="528" cy="384"/>
          </a:xfrm>
        </p:grpSpPr>
        <p:sp>
          <p:nvSpPr>
            <p:cNvPr id="38961" name="Line 49"/>
            <p:cNvSpPr>
              <a:spLocks noChangeShapeType="1"/>
            </p:cNvSpPr>
            <p:nvPr/>
          </p:nvSpPr>
          <p:spPr bwMode="auto">
            <a:xfrm>
              <a:off x="2400" y="3840"/>
              <a:ext cx="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8962" name="Line 50"/>
            <p:cNvSpPr>
              <a:spLocks noChangeShapeType="1"/>
            </p:cNvSpPr>
            <p:nvPr/>
          </p:nvSpPr>
          <p:spPr bwMode="auto">
            <a:xfrm>
              <a:off x="2928" y="3840"/>
              <a:ext cx="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54" name="Rectangle 53"/>
          <p:cNvSpPr/>
          <p:nvPr/>
        </p:nvSpPr>
        <p:spPr>
          <a:xfrm>
            <a:off x="4648200" y="4800600"/>
            <a:ext cx="1827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same truth values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IMPLICATION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 </a:t>
            </a:r>
            <a:r>
              <a:rPr lang="en-US" b="1" dirty="0" smtClean="0"/>
              <a:t>q </a:t>
            </a:r>
            <a:r>
              <a:rPr lang="en-US" b="1" dirty="0" smtClean="0">
                <a:sym typeface="Symbol" panose="05050102010706020507"/>
              </a:rPr>
              <a:t></a:t>
            </a:r>
            <a:r>
              <a:rPr lang="en-US" b="1" dirty="0" smtClean="0"/>
              <a:t> ~p </a:t>
            </a:r>
            <a:r>
              <a:rPr lang="en-US" b="1" dirty="0" smtClean="0">
                <a:sym typeface="Symbol" panose="05050102010706020507"/>
              </a:rPr>
              <a:t> </a:t>
            </a:r>
            <a:r>
              <a:rPr lang="en-US" b="1" dirty="0" smtClean="0"/>
              <a:t>q</a:t>
            </a:r>
            <a:endParaRPr lang="en-US" dirty="0"/>
          </a:p>
        </p:txBody>
      </p:sp>
      <p:graphicFrame>
        <p:nvGraphicFramePr>
          <p:cNvPr id="39938" name="Group 2"/>
          <p:cNvGraphicFramePr>
            <a:graphicFrameLocks noGrp="1"/>
          </p:cNvGraphicFramePr>
          <p:nvPr/>
        </p:nvGraphicFramePr>
        <p:xfrm>
          <a:off x="1447800" y="2057400"/>
          <a:ext cx="5486400" cy="2286000"/>
        </p:xfrm>
        <a:graphic>
          <a:graphicData uri="http://schemas.openxmlformats.org/drawingml/2006/table">
            <a:tbl>
              <a:tblPr/>
              <a:tblGrid>
                <a:gridCol w="1096963"/>
                <a:gridCol w="1096962"/>
                <a:gridCol w="1098550"/>
                <a:gridCol w="1096963"/>
                <a:gridCol w="1096962"/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pq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 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NEGATION OF A CONDITIONAL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Since p </a:t>
            </a:r>
            <a:r>
              <a:rPr lang="en-US" dirty="0" smtClean="0">
                <a:sym typeface="Symbol" panose="05050102010706020507"/>
              </a:rPr>
              <a:t> </a:t>
            </a:r>
            <a:r>
              <a:rPr lang="en-US" dirty="0" smtClean="0"/>
              <a:t>q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 panose="05050102010706020507"/>
              </a:rPr>
              <a:t> </a:t>
            </a:r>
            <a:r>
              <a:rPr lang="en-US" dirty="0" smtClean="0"/>
              <a:t>q therefore</a:t>
            </a:r>
            <a:endParaRPr lang="en-US" dirty="0" smtClean="0"/>
          </a:p>
          <a:p>
            <a:r>
              <a:rPr lang="en-US" dirty="0" smtClean="0"/>
              <a:t>~ (p </a:t>
            </a:r>
            <a:r>
              <a:rPr lang="en-US" dirty="0" smtClean="0">
                <a:sym typeface="Symbol" panose="05050102010706020507"/>
              </a:rPr>
              <a:t></a:t>
            </a:r>
            <a:r>
              <a:rPr lang="en-US" dirty="0" smtClean="0"/>
              <a:t> q) 	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~ (~ 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q)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		</a:t>
            </a:r>
            <a:r>
              <a:rPr lang="en-US" dirty="0" smtClean="0"/>
              <a:t> ~ (~ p)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(~ q)	by De Morgan’s law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		</a:t>
            </a:r>
            <a:r>
              <a:rPr lang="en-US" dirty="0" smtClean="0"/>
              <a:t>  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~ q 	by the Double Negative law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Thus the negation of “</a:t>
            </a:r>
            <a:r>
              <a:rPr lang="en-US" b="1" dirty="0" smtClean="0">
                <a:solidFill>
                  <a:srgbClr val="C00000"/>
                </a:solidFill>
              </a:rPr>
              <a:t>if p then q</a:t>
            </a:r>
            <a:r>
              <a:rPr lang="en-US" dirty="0" smtClean="0"/>
              <a:t>” is logically equivalent to </a:t>
            </a:r>
            <a:r>
              <a:rPr lang="en-US" dirty="0" smtClean="0">
                <a:solidFill>
                  <a:srgbClr val="C00000"/>
                </a:solidFill>
              </a:rPr>
              <a:t>“</a:t>
            </a:r>
            <a:r>
              <a:rPr lang="en-US" b="1" dirty="0" smtClean="0">
                <a:solidFill>
                  <a:srgbClr val="C00000"/>
                </a:solidFill>
              </a:rPr>
              <a:t>p and not q</a:t>
            </a:r>
            <a:r>
              <a:rPr lang="en-US" dirty="0" smtClean="0"/>
              <a:t>”.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Note: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Accordingly, the negation of an if-then statement does not start with the word if.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Write negations of each of the following statements: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dirty="0" smtClean="0"/>
              <a:t>If Ali lives in Pakistan then he lives in Lahore.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Ali lives in Pakistan and he does not live in Lahore.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If my car is in the repair shop, then I cannot get to class.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My car is in the repair shop and I can get to class.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x is prime then x is odd </a:t>
            </a:r>
            <a:r>
              <a:rPr lang="en-US" b="1" dirty="0" smtClean="0"/>
              <a:t>or</a:t>
            </a:r>
            <a:r>
              <a:rPr lang="en-US" dirty="0" smtClean="0"/>
              <a:t> x is 2.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x is prime but x is not odd </a:t>
            </a:r>
            <a:r>
              <a:rPr lang="en-US" b="1" dirty="0" smtClean="0">
                <a:solidFill>
                  <a:srgbClr val="C00000"/>
                </a:solidFill>
              </a:rPr>
              <a:t>and</a:t>
            </a:r>
            <a:r>
              <a:rPr lang="en-US" dirty="0" smtClean="0">
                <a:solidFill>
                  <a:srgbClr val="C00000"/>
                </a:solidFill>
              </a:rPr>
              <a:t> x is not 2.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If n is divisible by 6, then n is divisible by 2 </a:t>
            </a:r>
            <a:r>
              <a:rPr lang="en-US" b="1" dirty="0" smtClean="0"/>
              <a:t>and</a:t>
            </a:r>
            <a:r>
              <a:rPr lang="en-US" dirty="0" smtClean="0"/>
              <a:t> n is divisible by 3.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n is divisible by 6 but n is not divisible by 2 </a:t>
            </a:r>
            <a:r>
              <a:rPr lang="en-US" b="1" dirty="0" smtClean="0">
                <a:solidFill>
                  <a:srgbClr val="C00000"/>
                </a:solidFill>
              </a:rPr>
              <a:t>or</a:t>
            </a:r>
            <a:r>
              <a:rPr lang="en-US" dirty="0" smtClean="0">
                <a:solidFill>
                  <a:srgbClr val="C00000"/>
                </a:solidFill>
              </a:rPr>
              <a:t> by 3.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INVERSE OF A CONDITIONAL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inverse of the conditional statement </a:t>
            </a:r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q</a:t>
            </a:r>
            <a:r>
              <a:rPr lang="en-US" dirty="0" smtClean="0"/>
              <a:t> is 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~p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~q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dirty="0" smtClean="0"/>
              <a:t>A conditional and its inverse are not equivalent as could be seen from the truth table.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graphicFrame>
        <p:nvGraphicFramePr>
          <p:cNvPr id="40962" name="Group 2"/>
          <p:cNvGraphicFramePr>
            <a:graphicFrameLocks noGrp="1"/>
          </p:cNvGraphicFramePr>
          <p:nvPr/>
        </p:nvGraphicFramePr>
        <p:xfrm>
          <a:off x="1828800" y="3352800"/>
          <a:ext cx="5867400" cy="2286000"/>
        </p:xfrm>
        <a:graphic>
          <a:graphicData uri="http://schemas.openxmlformats.org/drawingml/2006/table">
            <a:tbl>
              <a:tblPr/>
              <a:tblGrid>
                <a:gridCol w="585788"/>
                <a:gridCol w="657225"/>
                <a:gridCol w="1098550"/>
                <a:gridCol w="1096962"/>
                <a:gridCol w="1096963"/>
                <a:gridCol w="1331912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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 ~q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41008" name="Group 48"/>
          <p:cNvGrpSpPr/>
          <p:nvPr/>
        </p:nvGrpSpPr>
        <p:grpSpPr bwMode="auto">
          <a:xfrm>
            <a:off x="3733800" y="5642430"/>
            <a:ext cx="3200400" cy="304800"/>
            <a:chOff x="1536" y="1872"/>
            <a:chExt cx="2112" cy="192"/>
          </a:xfrm>
        </p:grpSpPr>
        <p:sp>
          <p:nvSpPr>
            <p:cNvPr id="41009" name="Line 49"/>
            <p:cNvSpPr>
              <a:spLocks noChangeShapeType="1"/>
            </p:cNvSpPr>
            <p:nvPr/>
          </p:nvSpPr>
          <p:spPr bwMode="auto">
            <a:xfrm flipV="1">
              <a:off x="1554" y="1872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1010" name="Line 50"/>
            <p:cNvSpPr>
              <a:spLocks noChangeShapeType="1"/>
            </p:cNvSpPr>
            <p:nvPr/>
          </p:nvSpPr>
          <p:spPr bwMode="auto">
            <a:xfrm flipV="1">
              <a:off x="3648" y="1872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1011" name="Line 51"/>
            <p:cNvSpPr>
              <a:spLocks noChangeShapeType="1"/>
            </p:cNvSpPr>
            <p:nvPr/>
          </p:nvSpPr>
          <p:spPr bwMode="auto">
            <a:xfrm>
              <a:off x="1536" y="2064"/>
              <a:ext cx="2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55" name="Rectangle 54"/>
          <p:cNvSpPr/>
          <p:nvPr/>
        </p:nvSpPr>
        <p:spPr>
          <a:xfrm>
            <a:off x="3519714" y="5987142"/>
            <a:ext cx="36483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different truth values in rows 2 and 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WRITING INVERSE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i="1" dirty="0" smtClean="0"/>
              <a:t>If today is Friday, then 2 + 3 = 5.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today is not Friday, then 2 + 3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5.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i="1" dirty="0" smtClean="0"/>
              <a:t>If it snows today, I will ski tomorrow.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it does not snow today I will not ski tomorrow.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i="1" dirty="0" smtClean="0"/>
              <a:t>If P is a square, then P is a rectangle.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P is not a square then P is not a rectangle.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i="1" dirty="0" smtClean="0"/>
              <a:t>If my car is in the repair shop, then I cannot get to class.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my car is not in the repair shop, then I shall get to the class.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CONVERSE OF A CONDITIONAL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34440"/>
            <a:ext cx="8229600" cy="4937760"/>
          </a:xfrm>
        </p:spPr>
        <p:txBody>
          <a:bodyPr/>
          <a:lstStyle/>
          <a:p>
            <a:r>
              <a:rPr lang="en-US" dirty="0" smtClean="0"/>
              <a:t>The converse of the conditional statement </a:t>
            </a:r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q</a:t>
            </a:r>
            <a:r>
              <a:rPr lang="en-US" dirty="0" smtClean="0"/>
              <a:t> is 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q </a:t>
            </a:r>
            <a:r>
              <a:rPr lang="en-US" b="1" dirty="0" smtClean="0">
                <a:sym typeface="Symbol" panose="05050102010706020507"/>
              </a:rPr>
              <a:t>	</a:t>
            </a:r>
            <a:r>
              <a:rPr lang="en-US" b="1" dirty="0" smtClean="0"/>
              <a:t>p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dirty="0" smtClean="0"/>
              <a:t>A conditional and its converse are not equivalent.</a:t>
            </a:r>
            <a:endParaRPr lang="en-US" dirty="0" smtClean="0"/>
          </a:p>
          <a:p>
            <a:r>
              <a:rPr lang="en-US" dirty="0" smtClean="0"/>
              <a:t>i.e.,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 </a:t>
            </a:r>
            <a:r>
              <a:rPr lang="en-US" dirty="0" smtClean="0"/>
              <a:t>is not a commutative operator.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41986" name="Group 2"/>
          <p:cNvGraphicFramePr>
            <a:graphicFrameLocks noGrp="1"/>
          </p:cNvGraphicFramePr>
          <p:nvPr/>
        </p:nvGraphicFramePr>
        <p:xfrm>
          <a:off x="2514600" y="3276600"/>
          <a:ext cx="3428999" cy="2286000"/>
        </p:xfrm>
        <a:graphic>
          <a:graphicData uri="http://schemas.openxmlformats.org/drawingml/2006/table">
            <a:tbl>
              <a:tblPr/>
              <a:tblGrid>
                <a:gridCol w="533399"/>
                <a:gridCol w="549442"/>
                <a:gridCol w="1173079"/>
                <a:gridCol w="1173079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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  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42018" name="Group 34"/>
          <p:cNvGrpSpPr/>
          <p:nvPr/>
        </p:nvGrpSpPr>
        <p:grpSpPr bwMode="auto">
          <a:xfrm>
            <a:off x="4343400" y="5551716"/>
            <a:ext cx="762000" cy="304800"/>
            <a:chOff x="2160" y="1515"/>
            <a:chExt cx="480" cy="192"/>
          </a:xfrm>
        </p:grpSpPr>
        <p:sp>
          <p:nvSpPr>
            <p:cNvPr id="42019" name="Line 35"/>
            <p:cNvSpPr>
              <a:spLocks noChangeShapeType="1"/>
            </p:cNvSpPr>
            <p:nvPr/>
          </p:nvSpPr>
          <p:spPr bwMode="auto">
            <a:xfrm flipV="1">
              <a:off x="2184" y="1515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2020" name="Line 36"/>
            <p:cNvSpPr>
              <a:spLocks noChangeShapeType="1"/>
            </p:cNvSpPr>
            <p:nvPr/>
          </p:nvSpPr>
          <p:spPr bwMode="auto">
            <a:xfrm flipV="1">
              <a:off x="2640" y="1515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2021" name="Line 37"/>
            <p:cNvSpPr>
              <a:spLocks noChangeShapeType="1"/>
            </p:cNvSpPr>
            <p:nvPr/>
          </p:nvSpPr>
          <p:spPr bwMode="auto">
            <a:xfrm>
              <a:off x="2160" y="1680"/>
              <a:ext cx="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4038600" y="5867400"/>
            <a:ext cx="1409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not the same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 </a:t>
            </a:r>
            <a:r>
              <a:rPr lang="en-US" b="1" u="sng" dirty="0" smtClean="0"/>
              <a:t>WRITING CONVERSE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i="1" dirty="0" smtClean="0"/>
              <a:t>If today is Friday, then 2 + 3 = 5.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2 + 3 = 5, then today is Friday.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i="1" dirty="0" smtClean="0"/>
              <a:t>If it snows today, I will ski tomorrow.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 will ski tomorrow only if it snows today.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i="1" dirty="0" smtClean="0"/>
              <a:t>If P is a square, then P is a rectangle.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P is a rectangle then P is a square.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i="1" dirty="0" smtClean="0"/>
              <a:t>If my car is in the repair shop, then I cannot get to class.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If I cannot get to the class, then my car is in the  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     repair shop.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CONTRAPOSITIVE OF A CONDITIONAL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contrapositive</a:t>
            </a:r>
            <a:r>
              <a:rPr lang="en-US" dirty="0" smtClean="0"/>
              <a:t> of the conditional statement </a:t>
            </a:r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q</a:t>
            </a:r>
            <a:r>
              <a:rPr lang="en-US" dirty="0" smtClean="0"/>
              <a:t> is </a:t>
            </a:r>
            <a:r>
              <a:rPr lang="en-US" b="1" dirty="0" smtClean="0"/>
              <a:t>~ q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~ p</a:t>
            </a:r>
            <a:r>
              <a:rPr lang="en-US" dirty="0" smtClean="0"/>
              <a:t>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 conditional and its </a:t>
            </a:r>
            <a:r>
              <a:rPr lang="en-US" dirty="0" err="1" smtClean="0"/>
              <a:t>contrapositive</a:t>
            </a:r>
            <a:r>
              <a:rPr lang="en-US" dirty="0" smtClean="0"/>
              <a:t> are equivalent. Symbolically </a:t>
            </a:r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 </a:t>
            </a:r>
            <a:r>
              <a:rPr lang="en-US" b="1" dirty="0" smtClean="0"/>
              <a:t>q </a:t>
            </a:r>
            <a:r>
              <a:rPr lang="en-US" b="1" dirty="0" smtClean="0">
                <a:sym typeface="Symbol" panose="05050102010706020507"/>
              </a:rPr>
              <a:t></a:t>
            </a:r>
            <a:r>
              <a:rPr lang="en-US" b="1" dirty="0" smtClean="0"/>
              <a:t> ~q </a:t>
            </a:r>
            <a:r>
              <a:rPr lang="en-US" b="1" dirty="0" smtClean="0">
                <a:sym typeface="Symbol" panose="05050102010706020507"/>
              </a:rPr>
              <a:t></a:t>
            </a:r>
            <a:r>
              <a:rPr lang="en-US" b="1" dirty="0" smtClean="0"/>
              <a:t> ~p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 smtClean="0"/>
              <a:t>If today is Friday, then 2 + 3 = 5.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If 2 + 3 </a:t>
            </a:r>
            <a:r>
              <a:rPr lang="en-US" dirty="0" smtClean="0">
                <a:solidFill>
                  <a:srgbClr val="C00000"/>
                </a:solidFill>
                <a:sym typeface="Symbol" panose="05050102010706020507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5, then today is not Friday.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i="1" dirty="0" smtClean="0"/>
              <a:t>If it snows today, I will ski tomorrow.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I will not ski tomorrow only if it does not snow today.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i="1" dirty="0" smtClean="0"/>
              <a:t>If P is a square, then P is a rectangle.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If P is not a rectangle then P is not a square.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i="1" dirty="0" smtClean="0"/>
              <a:t>If my car is in the repair shop, then I cannot get to class.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If I get to the class, then my car is not in the repair shop.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0</TotalTime>
  <Words>8093</Words>
  <Application>WPS Presentation</Application>
  <PresentationFormat>On-screen Show (4:3)</PresentationFormat>
  <Paragraphs>740</Paragraphs>
  <Slides>32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7" baseType="lpstr">
      <vt:lpstr>Arial</vt:lpstr>
      <vt:lpstr>SimSun</vt:lpstr>
      <vt:lpstr>Wingdings</vt:lpstr>
      <vt:lpstr>Wingdings 3</vt:lpstr>
      <vt:lpstr>Wingdings</vt:lpstr>
      <vt:lpstr>Symbol</vt:lpstr>
      <vt:lpstr>Calibri</vt:lpstr>
      <vt:lpstr>Symbol</vt:lpstr>
      <vt:lpstr>Gill Sans MT</vt:lpstr>
      <vt:lpstr>Bookman Old Style</vt:lpstr>
      <vt:lpstr>Microsoft YaHei</vt:lpstr>
      <vt:lpstr>Arial Unicode MS</vt:lpstr>
      <vt:lpstr>Bell MT</vt:lpstr>
      <vt:lpstr>Times New Roman</vt:lpstr>
      <vt:lpstr>Origin</vt:lpstr>
      <vt:lpstr>LAWS OF LOGIC Lecture # 03 </vt:lpstr>
      <vt:lpstr>Applying Laws of Logic</vt:lpstr>
      <vt:lpstr>EXAMPLE</vt:lpstr>
      <vt:lpstr>SIMPLIFYING A STATEMENT:</vt:lpstr>
      <vt:lpstr>PowerPoint 演示文稿</vt:lpstr>
      <vt:lpstr>EXERCISE:</vt:lpstr>
      <vt:lpstr>CONDITIONAL STATEMENT or IMPLICATION</vt:lpstr>
      <vt:lpstr>PowerPoint 演示文稿</vt:lpstr>
      <vt:lpstr>TRUTH TABLE for p  q</vt:lpstr>
      <vt:lpstr>CONDITIONAL STATEMENTS OR IMPLICATIONS:</vt:lpstr>
      <vt:lpstr>PRACTICE WITH CONDITIONAL STATEMENTS:</vt:lpstr>
      <vt:lpstr>ALTERNATIVE WAYS OF EXPRESSING IMPLICATIONS</vt:lpstr>
      <vt:lpstr>EXERCISE:</vt:lpstr>
      <vt:lpstr>PowerPoint 演示文稿</vt:lpstr>
      <vt:lpstr>TRANSLATING ENGLISH SENTENCES TO SYMBOLS:</vt:lpstr>
      <vt:lpstr>PowerPoint 演示文稿</vt:lpstr>
      <vt:lpstr>TRANSLATING SYMBOLIC PROPOSITIONS TO ENGLISH</vt:lpstr>
      <vt:lpstr>PowerPoint 演示文稿</vt:lpstr>
      <vt:lpstr>HIERARCHY OF OPERATIONS FOR LOGICAL CONNECTIVES</vt:lpstr>
      <vt:lpstr>Construct a truth table for the statement form (p  ~ q)  ~ p</vt:lpstr>
      <vt:lpstr>Construct a truth table for the statement form (p q)(~ p  r)</vt:lpstr>
      <vt:lpstr>LOGICAL EQUIVALENCE INVOLVING IMPLICATION</vt:lpstr>
      <vt:lpstr>IMPLICATION LAW</vt:lpstr>
      <vt:lpstr>NEGATION OF A CONDITIONAL STATEMENT</vt:lpstr>
      <vt:lpstr>EXAMPLES</vt:lpstr>
      <vt:lpstr>PowerPoint 演示文稿</vt:lpstr>
      <vt:lpstr>INVERSE OF A CONDITIONAL STATEMENT</vt:lpstr>
      <vt:lpstr>WRITING INVERSE</vt:lpstr>
      <vt:lpstr>CONVERSE OF A CONDITIONAL STATEMENT</vt:lpstr>
      <vt:lpstr> WRITING CONVERSE</vt:lpstr>
      <vt:lpstr>CONTRAPOSITIVE OF A CONDITIONAL STATEMENT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Discrete Structures </dc:title>
  <dc:creator>C &amp; M</dc:creator>
  <cp:lastModifiedBy>Dell</cp:lastModifiedBy>
  <cp:revision>153</cp:revision>
  <dcterms:created xsi:type="dcterms:W3CDTF">2013-09-11T16:39:00Z</dcterms:created>
  <dcterms:modified xsi:type="dcterms:W3CDTF">2024-09-26T05:57:42Z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353A6B98300548AF85FA9C52045A0162_12</vt:lpwstr>
  </property>
  <property fmtid="{D5CDD505-2E9C-101B-9397-08002B2CF9AE}" pid="3" name="KSOProductBuildVer">
    <vt:lpwstr>1033-12.2.0.18283</vt:lpwstr>
  </property>
</Properties>
</file>
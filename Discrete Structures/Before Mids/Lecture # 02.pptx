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3" autoAdjust="0"/>
    <p:restoredTop sz="94660"/>
  </p:normalViewPr>
  <p:slideViewPr>
    <p:cSldViewPr showGuides="1">
      <p:cViewPr varScale="1">
        <p:scale>
          <a:sx n="66" d="100"/>
          <a:sy n="66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commentAuthors" Target="commentAuthors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9-19T14:31:20.902" idx="1">
    <p:pos x="10" y="10"/>
    <p:text> &gt;  &lt;=
&lt;=  &gt;
&gt;= &lt;
&lt;  &gt;=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2FFEF-1113-4E60-88FE-EA47470A374B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CEA7A-0DCF-4742-BD22-DF14B59E4523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3AE37AA-4ADA-4492-8893-14EEC95ADC5E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B2CFDAD-2A26-4686-9CA8-B01433D3CFBE}" type="slidenum">
              <a:rPr lang="en-US" smtClean="0"/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 panose="05040102010807070707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 panose="05040102010807070707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 panose="05040102010807070707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 panose="05000000000000000000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 panose="05000000000000000000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 panose="05040102010807070707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 panose="05040102010807070707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 panose="05040102010807070707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 panose="05040102010807070707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Discrete Structures 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BSCS (3</a:t>
            </a:r>
            <a:r>
              <a:rPr lang="en-US" b="1" baseline="300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Credit Hour)</a:t>
            </a:r>
            <a:b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Lecture # 02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Truth tables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dirty="0" smtClean="0"/>
              <a:t>Truth tables for:</a:t>
            </a:r>
            <a:endParaRPr lang="en-US" sz="3200" dirty="0" smtClean="0"/>
          </a:p>
          <a:p>
            <a:pPr>
              <a:buNone/>
            </a:pPr>
            <a:r>
              <a:rPr lang="en-US" b="1" dirty="0" smtClean="0"/>
              <a:t>	~ p </a:t>
            </a:r>
            <a:r>
              <a:rPr lang="en-US" b="1" dirty="0" smtClean="0">
                <a:sym typeface="Symbol" panose="05050102010706020507"/>
              </a:rPr>
              <a:t></a:t>
            </a:r>
            <a:r>
              <a:rPr lang="en-US" b="1" dirty="0" smtClean="0"/>
              <a:t> q</a:t>
            </a:r>
            <a:endParaRPr lang="en-US" dirty="0" smtClean="0"/>
          </a:p>
          <a:p>
            <a:pPr lvl="1">
              <a:buNone/>
            </a:pPr>
            <a:r>
              <a:rPr lang="en-US" sz="2600" b="1" dirty="0" smtClean="0"/>
              <a:t>~ p </a:t>
            </a:r>
            <a:r>
              <a:rPr lang="en-US" sz="2600" b="1" dirty="0" smtClean="0">
                <a:sym typeface="Symbol" panose="05050102010706020507"/>
              </a:rPr>
              <a:t></a:t>
            </a:r>
            <a:r>
              <a:rPr lang="en-US" sz="2600" b="1" dirty="0" smtClean="0"/>
              <a:t> (q </a:t>
            </a:r>
            <a:r>
              <a:rPr lang="en-US" sz="2600" b="1" dirty="0" smtClean="0">
                <a:sym typeface="Symbol" panose="05050102010706020507"/>
              </a:rPr>
              <a:t></a:t>
            </a:r>
            <a:r>
              <a:rPr lang="en-US" sz="2600" b="1" dirty="0" smtClean="0"/>
              <a:t> ~ r)</a:t>
            </a:r>
            <a:endParaRPr lang="en-US" sz="2600" dirty="0" smtClean="0"/>
          </a:p>
          <a:p>
            <a:pPr>
              <a:buNone/>
            </a:pPr>
            <a:r>
              <a:rPr lang="en-US" b="1" dirty="0" smtClean="0"/>
              <a:t>	 (p </a:t>
            </a:r>
            <a:r>
              <a:rPr lang="en-US" b="1" dirty="0" smtClean="0">
                <a:sym typeface="Symbol" panose="05050102010706020507"/>
              </a:rPr>
              <a:t> </a:t>
            </a:r>
            <a:r>
              <a:rPr lang="en-US" b="1" dirty="0" smtClean="0"/>
              <a:t>q) </a:t>
            </a:r>
            <a:r>
              <a:rPr lang="en-US" b="1" dirty="0" smtClean="0">
                <a:sym typeface="Symbol" panose="05050102010706020507"/>
              </a:rPr>
              <a:t></a:t>
            </a:r>
            <a:r>
              <a:rPr lang="en-US" b="1" dirty="0" smtClean="0"/>
              <a:t> ~ (p </a:t>
            </a:r>
            <a:r>
              <a:rPr lang="en-US" b="1" dirty="0" smtClean="0">
                <a:sym typeface="Symbol" panose="05050102010706020507"/>
              </a:rPr>
              <a:t> </a:t>
            </a:r>
            <a:r>
              <a:rPr lang="en-US" b="1" dirty="0" smtClean="0"/>
              <a:t>q)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Truth table for the statement form </a:t>
            </a:r>
            <a:r>
              <a:rPr lang="en-US" b="1" dirty="0" smtClean="0"/>
              <a:t>~ p </a:t>
            </a:r>
            <a:r>
              <a:rPr lang="en-US" b="1" dirty="0" smtClean="0">
                <a:sym typeface="Symbol" panose="05050102010706020507"/>
              </a:rPr>
              <a:t></a:t>
            </a:r>
            <a:r>
              <a:rPr lang="en-US" b="1" dirty="0" smtClean="0"/>
              <a:t> q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2598156" y="1524000"/>
          <a:ext cx="3962400" cy="3139440"/>
        </p:xfrm>
        <a:graphic>
          <a:graphicData uri="http://schemas.openxmlformats.org/drawingml/2006/table">
            <a:tbl>
              <a:tblPr/>
              <a:tblGrid>
                <a:gridCol w="990600"/>
                <a:gridCol w="707571"/>
                <a:gridCol w="849086"/>
                <a:gridCol w="1415143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 p 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Truth table for </a:t>
            </a:r>
            <a:r>
              <a:rPr lang="en-US" b="1" dirty="0" smtClean="0"/>
              <a:t>~ p </a:t>
            </a:r>
            <a:r>
              <a:rPr lang="en-US" b="1" dirty="0" smtClean="0">
                <a:sym typeface="Symbol" panose="05050102010706020507"/>
              </a:rPr>
              <a:t></a:t>
            </a:r>
            <a:r>
              <a:rPr lang="en-US" b="1" dirty="0" smtClean="0"/>
              <a:t> (q </a:t>
            </a:r>
            <a:r>
              <a:rPr lang="en-US" b="1" dirty="0" smtClean="0">
                <a:sym typeface="Symbol" panose="05050102010706020507"/>
              </a:rPr>
              <a:t></a:t>
            </a:r>
            <a:r>
              <a:rPr lang="en-US" b="1" dirty="0" smtClean="0"/>
              <a:t> ~ r)</a:t>
            </a:r>
            <a:endParaRPr lang="en-US" b="1" dirty="0"/>
          </a:p>
        </p:txBody>
      </p:sp>
      <p:graphicFrame>
        <p:nvGraphicFramePr>
          <p:cNvPr id="2050" name="Group 2"/>
          <p:cNvGraphicFramePr>
            <a:graphicFrameLocks noGrp="1"/>
          </p:cNvGraphicFramePr>
          <p:nvPr/>
        </p:nvGraphicFramePr>
        <p:xfrm>
          <a:off x="1600200" y="1371600"/>
          <a:ext cx="6248400" cy="4191000"/>
        </p:xfrm>
        <a:graphic>
          <a:graphicData uri="http://schemas.openxmlformats.org/drawingml/2006/table">
            <a:tbl>
              <a:tblPr/>
              <a:tblGrid>
                <a:gridCol w="533400"/>
                <a:gridCol w="457200"/>
                <a:gridCol w="458611"/>
                <a:gridCol w="608189"/>
                <a:gridCol w="1175456"/>
                <a:gridCol w="780344"/>
                <a:gridCol w="2235200"/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r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 r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  ~ r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 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 p  (q  ~ r)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 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59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Truth table for </a:t>
            </a:r>
            <a:r>
              <a:rPr lang="en-US" b="1" dirty="0" smtClean="0"/>
              <a:t>(p </a:t>
            </a:r>
            <a:r>
              <a:rPr lang="en-US" b="1" dirty="0" smtClean="0">
                <a:sym typeface="Symbol" panose="05050102010706020507"/>
              </a:rPr>
              <a:t> </a:t>
            </a:r>
            <a:r>
              <a:rPr lang="en-US" b="1" dirty="0" smtClean="0"/>
              <a:t>q) </a:t>
            </a:r>
            <a:r>
              <a:rPr lang="en-US" b="1" dirty="0" smtClean="0">
                <a:sym typeface="Symbol" panose="05050102010706020507"/>
              </a:rPr>
              <a:t></a:t>
            </a:r>
            <a:r>
              <a:rPr lang="en-US" b="1" dirty="0" smtClean="0"/>
              <a:t> ~ (p </a:t>
            </a:r>
            <a:r>
              <a:rPr lang="en-US" b="1" dirty="0" smtClean="0">
                <a:sym typeface="Symbol" panose="05050102010706020507"/>
              </a:rPr>
              <a:t> </a:t>
            </a:r>
            <a:r>
              <a:rPr lang="en-US" b="1" dirty="0" smtClean="0"/>
              <a:t>q)</a:t>
            </a:r>
            <a:endParaRPr lang="en-US" dirty="0"/>
          </a:p>
        </p:txBody>
      </p:sp>
      <p:graphicFrame>
        <p:nvGraphicFramePr>
          <p:cNvPr id="3074" name="Group 2"/>
          <p:cNvGraphicFramePr>
            <a:graphicFrameLocks noGrp="1"/>
          </p:cNvGraphicFramePr>
          <p:nvPr/>
        </p:nvGraphicFramePr>
        <p:xfrm>
          <a:off x="838200" y="1447800"/>
          <a:ext cx="7772400" cy="2743200"/>
        </p:xfrm>
        <a:graphic>
          <a:graphicData uri="http://schemas.openxmlformats.org/drawingml/2006/table">
            <a:tbl>
              <a:tblPr/>
              <a:tblGrid>
                <a:gridCol w="834513"/>
                <a:gridCol w="834513"/>
                <a:gridCol w="997974"/>
                <a:gridCol w="914400"/>
                <a:gridCol w="1306462"/>
                <a:gridCol w="2884538"/>
              </a:tblGrid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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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 (pq)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(p  q)  ~ (p  q)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0F9C9"/>
                    </a:solidFill>
                  </a:tcPr>
                </a:tc>
              </a:tr>
              <a:tr h="5509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80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Double Negative Property ~(~p) </a:t>
            </a:r>
            <a:r>
              <a:rPr lang="en-US" u="sng" dirty="0" smtClean="0">
                <a:sym typeface="Symbol" panose="05050102010706020507"/>
              </a:rPr>
              <a:t></a:t>
            </a:r>
            <a:r>
              <a:rPr lang="en-US" b="1" u="sng" dirty="0" smtClean="0"/>
              <a:t> p</a:t>
            </a:r>
            <a:endParaRPr lang="en-US" dirty="0"/>
          </a:p>
        </p:txBody>
      </p:sp>
      <p:graphicFrame>
        <p:nvGraphicFramePr>
          <p:cNvPr id="4098" name="Group 2"/>
          <p:cNvGraphicFramePr>
            <a:graphicFrameLocks noGrp="1"/>
          </p:cNvGraphicFramePr>
          <p:nvPr/>
        </p:nvGraphicFramePr>
        <p:xfrm>
          <a:off x="3215160" y="1455180"/>
          <a:ext cx="2957039" cy="1371600"/>
        </p:xfrm>
        <a:graphic>
          <a:graphicData uri="http://schemas.openxmlformats.org/drawingml/2006/table">
            <a:tbl>
              <a:tblPr/>
              <a:tblGrid>
                <a:gridCol w="1064534"/>
                <a:gridCol w="827971"/>
                <a:gridCol w="1064534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~(~p)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24" name="Straight Connector 23"/>
          <p:cNvCxnSpPr/>
          <p:nvPr/>
        </p:nvCxnSpPr>
        <p:spPr>
          <a:xfrm>
            <a:off x="3657600" y="3429000"/>
            <a:ext cx="1676400" cy="1588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rot="5400000" flipH="1" flipV="1">
            <a:off x="3352800" y="3124200"/>
            <a:ext cx="609600" cy="1588"/>
          </a:xfrm>
          <a:prstGeom prst="straightConnector1">
            <a:avLst/>
          </a:prstGeom>
          <a:ln w="22225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rot="5400000" flipH="1" flipV="1">
            <a:off x="5029200" y="3124200"/>
            <a:ext cx="609600" cy="1588"/>
          </a:xfrm>
          <a:prstGeom prst="straightConnector1">
            <a:avLst/>
          </a:prstGeom>
          <a:ln w="22225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“It is not true that I am not happy”</a:t>
            </a:r>
            <a:endParaRPr lang="en-US" dirty="0" smtClean="0"/>
          </a:p>
          <a:p>
            <a:r>
              <a:rPr lang="en-US" dirty="0" smtClean="0"/>
              <a:t>Prove it double negation property for the above statement ~ (~</a:t>
            </a:r>
            <a:r>
              <a:rPr lang="en-US" b="1" dirty="0" smtClean="0"/>
              <a:t>p</a:t>
            </a:r>
            <a:r>
              <a:rPr lang="en-US" dirty="0" smtClean="0"/>
              <a:t>)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</a:t>
            </a:r>
            <a:r>
              <a:rPr lang="en-US" b="1" dirty="0" smtClean="0"/>
              <a:t>p</a:t>
            </a:r>
            <a:r>
              <a:rPr lang="en-US" dirty="0" smtClean="0"/>
              <a:t> </a:t>
            </a:r>
            <a:endParaRPr lang="en-US" dirty="0" smtClean="0"/>
          </a:p>
          <a:p>
            <a:r>
              <a:rPr lang="en-US" b="1" dirty="0" smtClean="0"/>
              <a:t>Solution: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b="1" dirty="0" smtClean="0"/>
              <a:t>p</a:t>
            </a:r>
            <a:r>
              <a:rPr lang="en-US" dirty="0" smtClean="0"/>
              <a:t> = “I am happy”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Then ~</a:t>
            </a:r>
            <a:r>
              <a:rPr lang="en-US" b="1" dirty="0" smtClean="0"/>
              <a:t>p </a:t>
            </a:r>
            <a:r>
              <a:rPr lang="en-US" dirty="0" smtClean="0"/>
              <a:t>= “I am not happy”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and ~</a:t>
            </a:r>
            <a:r>
              <a:rPr lang="en-US" b="1" dirty="0" smtClean="0"/>
              <a:t>(</a:t>
            </a:r>
            <a:r>
              <a:rPr lang="en-US" dirty="0" smtClean="0"/>
              <a:t>~</a:t>
            </a:r>
            <a:r>
              <a:rPr lang="en-US" b="1" dirty="0" smtClean="0"/>
              <a:t> p)</a:t>
            </a:r>
            <a:r>
              <a:rPr lang="en-US" dirty="0" smtClean="0"/>
              <a:t> = “It is not true that I am not happy”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Since ~ (~</a:t>
            </a:r>
            <a:r>
              <a:rPr lang="en-US" b="1" dirty="0" smtClean="0"/>
              <a:t>p</a:t>
            </a:r>
            <a:r>
              <a:rPr lang="en-US" dirty="0" smtClean="0"/>
              <a:t>)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</a:t>
            </a:r>
            <a:r>
              <a:rPr lang="en-US" b="1" dirty="0" smtClean="0"/>
              <a:t>p</a:t>
            </a:r>
            <a:r>
              <a:rPr lang="en-US" dirty="0" smtClean="0"/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Hence the given statement is equivalent to: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“</a:t>
            </a:r>
            <a:r>
              <a:rPr lang="en-US" b="1" dirty="0" smtClean="0"/>
              <a:t>I am happy</a:t>
            </a:r>
            <a:r>
              <a:rPr lang="en-US" dirty="0" smtClean="0"/>
              <a:t>”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~ (p </a:t>
            </a:r>
            <a:r>
              <a:rPr lang="en-US" dirty="0" smtClean="0">
                <a:sym typeface="Symbol" panose="05050102010706020507"/>
              </a:rPr>
              <a:t> </a:t>
            </a:r>
            <a:r>
              <a:rPr lang="en-US" dirty="0" smtClean="0"/>
              <a:t>q) and ~p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~q are not logically equivalent</a:t>
            </a:r>
            <a:endParaRPr lang="en-US" dirty="0"/>
          </a:p>
        </p:txBody>
      </p:sp>
      <p:graphicFrame>
        <p:nvGraphicFramePr>
          <p:cNvPr id="5122" name="Group 2"/>
          <p:cNvGraphicFramePr>
            <a:graphicFrameLocks noGrp="1"/>
          </p:cNvGraphicFramePr>
          <p:nvPr/>
        </p:nvGraphicFramePr>
        <p:xfrm>
          <a:off x="1143000" y="1600200"/>
          <a:ext cx="6324600" cy="2286000"/>
        </p:xfrm>
        <a:graphic>
          <a:graphicData uri="http://schemas.openxmlformats.org/drawingml/2006/table">
            <a:tbl>
              <a:tblPr/>
              <a:tblGrid>
                <a:gridCol w="486509"/>
                <a:gridCol w="608137"/>
                <a:gridCol w="729762"/>
                <a:gridCol w="729762"/>
                <a:gridCol w="973013"/>
                <a:gridCol w="1216267"/>
                <a:gridCol w="158115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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~(pq)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  ~q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55" name="Straight Arrow Connector 54"/>
          <p:cNvCxnSpPr/>
          <p:nvPr/>
        </p:nvCxnSpPr>
        <p:spPr>
          <a:xfrm rot="5400000" flipH="1" flipV="1">
            <a:off x="4969414" y="4192666"/>
            <a:ext cx="609600" cy="1588"/>
          </a:xfrm>
          <a:prstGeom prst="straightConnector1">
            <a:avLst/>
          </a:prstGeom>
          <a:ln w="22225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rot="5400000" flipH="1" flipV="1">
            <a:off x="6355762" y="4187746"/>
            <a:ext cx="609600" cy="1588"/>
          </a:xfrm>
          <a:prstGeom prst="straightConnector1">
            <a:avLst/>
          </a:prstGeom>
          <a:ln w="22225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243052" y="4481912"/>
            <a:ext cx="1447800" cy="13888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DE MORGAN’S LAWS: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negation of an </a:t>
            </a:r>
            <a:r>
              <a:rPr lang="en-US" b="1" dirty="0" smtClean="0"/>
              <a:t>and </a:t>
            </a:r>
            <a:r>
              <a:rPr lang="en-US" dirty="0" smtClean="0"/>
              <a:t>statement is logically equivalent to the </a:t>
            </a:r>
            <a:r>
              <a:rPr lang="en-US" b="1" dirty="0" smtClean="0"/>
              <a:t>or </a:t>
            </a:r>
            <a:r>
              <a:rPr lang="en-US" dirty="0" smtClean="0"/>
              <a:t>statement in which each component is negated.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 Symbolically: ~(p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q)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~q.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 negation of an </a:t>
            </a:r>
            <a:r>
              <a:rPr lang="en-US" b="1" dirty="0" smtClean="0"/>
              <a:t>or </a:t>
            </a:r>
            <a:r>
              <a:rPr lang="en-US" dirty="0" smtClean="0"/>
              <a:t>statement is logically equivalent to the </a:t>
            </a:r>
            <a:r>
              <a:rPr lang="en-US" b="1" dirty="0" smtClean="0"/>
              <a:t>and </a:t>
            </a:r>
            <a:r>
              <a:rPr lang="en-US" dirty="0" smtClean="0"/>
              <a:t>statement in which each component is negated.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                  Symbolically: ~(p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~q.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                </a:t>
            </a: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Truth Table for ~(p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~q</a:t>
            </a:r>
            <a:endParaRPr lang="en-US" dirty="0"/>
          </a:p>
        </p:txBody>
      </p:sp>
      <p:graphicFrame>
        <p:nvGraphicFramePr>
          <p:cNvPr id="1026" name="Group 2"/>
          <p:cNvGraphicFramePr>
            <a:graphicFrameLocks noGrp="1"/>
          </p:cNvGraphicFramePr>
          <p:nvPr/>
        </p:nvGraphicFramePr>
        <p:xfrm>
          <a:off x="838201" y="1524000"/>
          <a:ext cx="6934200" cy="2286000"/>
        </p:xfrm>
        <a:graphic>
          <a:graphicData uri="http://schemas.openxmlformats.org/drawingml/2006/table">
            <a:tbl>
              <a:tblPr/>
              <a:tblGrid>
                <a:gridCol w="761999"/>
                <a:gridCol w="838200"/>
                <a:gridCol w="762000"/>
                <a:gridCol w="685800"/>
                <a:gridCol w="914400"/>
                <a:gridCol w="1600203"/>
                <a:gridCol w="1371598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 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~(p  q)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~p  ~q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7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55" name="Straight Arrow Connector 54"/>
          <p:cNvCxnSpPr/>
          <p:nvPr/>
        </p:nvCxnSpPr>
        <p:spPr>
          <a:xfrm rot="5400000" flipH="1" flipV="1">
            <a:off x="5468398" y="4133674"/>
            <a:ext cx="609600" cy="1588"/>
          </a:xfrm>
          <a:prstGeom prst="straightConnector1">
            <a:avLst/>
          </a:prstGeom>
          <a:ln w="22225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rot="5400000" flipH="1" flipV="1">
            <a:off x="6768718" y="4143502"/>
            <a:ext cx="609600" cy="1588"/>
          </a:xfrm>
          <a:prstGeom prst="straightConnector1">
            <a:avLst/>
          </a:prstGeom>
          <a:ln w="22225"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5746956" y="4434348"/>
            <a:ext cx="1339644" cy="32816"/>
          </a:xfrm>
          <a:prstGeom prst="line">
            <a:avLst/>
          </a:prstGeom>
          <a:ln w="2222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Application of De </a:t>
            </a:r>
            <a:r>
              <a:rPr lang="en-US" b="1" u="sng" dirty="0" err="1" smtClean="0"/>
              <a:t>morgan’s</a:t>
            </a:r>
            <a:r>
              <a:rPr lang="en-US" b="1" u="sng" dirty="0" smtClean="0"/>
              <a:t> Law using statements: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Give negations for each of the following statements: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The fan is slow </a:t>
            </a:r>
            <a:r>
              <a:rPr lang="en-US" b="1" dirty="0" smtClean="0"/>
              <a:t>or </a:t>
            </a:r>
            <a:r>
              <a:rPr lang="en-US" dirty="0" smtClean="0"/>
              <a:t>it is very hot.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err="1" smtClean="0"/>
              <a:t>Akram</a:t>
            </a:r>
            <a:r>
              <a:rPr lang="en-US" dirty="0" smtClean="0"/>
              <a:t> is unfit </a:t>
            </a:r>
            <a:r>
              <a:rPr lang="en-US" b="1" dirty="0" smtClean="0"/>
              <a:t>and </a:t>
            </a:r>
            <a:r>
              <a:rPr lang="en-US" dirty="0" err="1" smtClean="0"/>
              <a:t>Saleem</a:t>
            </a:r>
            <a:r>
              <a:rPr lang="en-US" dirty="0" smtClean="0"/>
              <a:t> is injured.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Solution: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The fan is </a:t>
            </a:r>
            <a:r>
              <a:rPr lang="en-US" b="1" dirty="0" smtClean="0"/>
              <a:t>not </a:t>
            </a:r>
            <a:r>
              <a:rPr lang="en-US" dirty="0" smtClean="0"/>
              <a:t>slow </a:t>
            </a:r>
            <a:r>
              <a:rPr lang="en-US" b="1" dirty="0" smtClean="0"/>
              <a:t>and </a:t>
            </a:r>
            <a:r>
              <a:rPr lang="en-US" dirty="0" smtClean="0"/>
              <a:t>it is </a:t>
            </a:r>
            <a:r>
              <a:rPr lang="en-US" b="1" dirty="0" smtClean="0"/>
              <a:t>not </a:t>
            </a:r>
            <a:r>
              <a:rPr lang="en-US" dirty="0" smtClean="0"/>
              <a:t>very hot.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 </a:t>
            </a:r>
            <a:r>
              <a:rPr lang="en-US" dirty="0" err="1" smtClean="0"/>
              <a:t>Akram</a:t>
            </a:r>
            <a:r>
              <a:rPr lang="en-US" dirty="0" smtClean="0"/>
              <a:t> is </a:t>
            </a:r>
            <a:r>
              <a:rPr lang="en-US" b="1" dirty="0" smtClean="0"/>
              <a:t>not </a:t>
            </a:r>
            <a:r>
              <a:rPr lang="en-US" dirty="0" smtClean="0"/>
              <a:t>unfit </a:t>
            </a:r>
            <a:r>
              <a:rPr lang="en-US" b="1" dirty="0" smtClean="0"/>
              <a:t>or </a:t>
            </a:r>
            <a:r>
              <a:rPr lang="en-US" dirty="0" err="1" smtClean="0"/>
              <a:t>Saleem</a:t>
            </a:r>
            <a:r>
              <a:rPr lang="en-US" dirty="0" smtClean="0"/>
              <a:t> is </a:t>
            </a:r>
            <a:r>
              <a:rPr lang="en-US" b="1" dirty="0" smtClean="0"/>
              <a:t>not </a:t>
            </a:r>
            <a:r>
              <a:rPr lang="en-US" dirty="0" smtClean="0"/>
              <a:t>injured.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Exercise: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b="1" u="sng" dirty="0" smtClean="0"/>
              <a:t>Associative Law</a:t>
            </a:r>
            <a:endParaRPr lang="en-US" b="1" u="sng" dirty="0" smtClean="0"/>
          </a:p>
          <a:p>
            <a:endParaRPr lang="pt-BR" dirty="0" smtClean="0"/>
          </a:p>
          <a:p>
            <a:r>
              <a:rPr lang="pt-BR" dirty="0" smtClean="0"/>
              <a:t>Are the statements (p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pt-BR" dirty="0" smtClean="0"/>
              <a:t> q)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pt-BR" dirty="0" smtClean="0"/>
              <a:t> r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pt-BR" dirty="0" smtClean="0"/>
              <a:t> p </a:t>
            </a:r>
            <a:r>
              <a:rPr lang="en-US" dirty="0" smtClean="0">
                <a:sym typeface="Symbol" panose="05050102010706020507"/>
              </a:rPr>
              <a:t> </a:t>
            </a:r>
            <a:r>
              <a:rPr lang="pt-BR" dirty="0" smtClean="0"/>
              <a:t>(q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pt-BR" dirty="0" smtClean="0"/>
              <a:t> r)?</a:t>
            </a:r>
            <a:endParaRPr lang="pt-BR" dirty="0" smtClean="0"/>
          </a:p>
          <a:p>
            <a:r>
              <a:rPr lang="en-US" dirty="0" smtClean="0"/>
              <a:t>Are the statements (p </a:t>
            </a:r>
            <a:r>
              <a:rPr lang="en-US" dirty="0" smtClean="0">
                <a:sym typeface="Symbol" panose="05050102010706020507"/>
              </a:rPr>
              <a:t> </a:t>
            </a:r>
            <a:r>
              <a:rPr lang="en-US" dirty="0" smtClean="0"/>
              <a:t>q) </a:t>
            </a:r>
            <a:r>
              <a:rPr lang="en-US" dirty="0" smtClean="0">
                <a:sym typeface="Symbol" panose="05050102010706020507"/>
              </a:rPr>
              <a:t> </a:t>
            </a:r>
            <a:r>
              <a:rPr lang="en-US" dirty="0" smtClean="0"/>
              <a:t>r </a:t>
            </a:r>
            <a:r>
              <a:rPr lang="en-US" dirty="0" smtClean="0">
                <a:sym typeface="Symbol" panose="05050102010706020507"/>
              </a:rPr>
              <a:t> </a:t>
            </a:r>
            <a:r>
              <a:rPr lang="en-US" dirty="0" smtClean="0"/>
              <a:t>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(q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r) logically equivalent?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/>
              <a:t>TAUTOLOGY: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tautology is a statement form that is always </a:t>
            </a:r>
            <a:r>
              <a:rPr lang="en-US" b="1" i="1" dirty="0" smtClean="0"/>
              <a:t>true</a:t>
            </a:r>
            <a:r>
              <a:rPr lang="en-US" dirty="0" smtClean="0"/>
              <a:t> regardless of the truth values of the statement variables.</a:t>
            </a:r>
            <a:endParaRPr lang="en-US" dirty="0" smtClean="0"/>
          </a:p>
          <a:p>
            <a:r>
              <a:rPr lang="en-US" dirty="0" smtClean="0"/>
              <a:t>A tautology is represented by the symbol “</a:t>
            </a:r>
            <a:r>
              <a:rPr lang="en-US" b="1" dirty="0" smtClean="0"/>
              <a:t>T</a:t>
            </a:r>
            <a:r>
              <a:rPr lang="en-US" dirty="0" smtClean="0"/>
              <a:t>”..</a:t>
            </a:r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/>
              <a:t>EXAMPLE:</a:t>
            </a:r>
            <a:endParaRPr lang="en-US" b="1" u="sng" dirty="0" smtClean="0"/>
          </a:p>
          <a:p>
            <a:pPr>
              <a:buNone/>
            </a:pPr>
            <a:r>
              <a:rPr lang="en-US" dirty="0" smtClean="0"/>
              <a:t>	The statement form 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~ p is tautology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	 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~p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</a:t>
            </a:r>
            <a:r>
              <a:rPr lang="en-US" b="1" dirty="0" smtClean="0"/>
              <a:t>T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2050" name="Group 2"/>
          <p:cNvGraphicFramePr>
            <a:graphicFrameLocks noGrp="1"/>
          </p:cNvGraphicFramePr>
          <p:nvPr/>
        </p:nvGraphicFramePr>
        <p:xfrm>
          <a:off x="3667428" y="3942732"/>
          <a:ext cx="2657172" cy="1371600"/>
        </p:xfrm>
        <a:graphic>
          <a:graphicData uri="http://schemas.openxmlformats.org/drawingml/2006/table">
            <a:tbl>
              <a:tblPr/>
              <a:tblGrid>
                <a:gridCol w="635977"/>
                <a:gridCol w="635977"/>
                <a:gridCol w="1385218"/>
              </a:tblGrid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 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 ~ 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CONTRADICTION: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contradiction is a statement form that is always </a:t>
            </a:r>
            <a:r>
              <a:rPr lang="en-US" b="1" i="1" dirty="0" smtClean="0"/>
              <a:t>false</a:t>
            </a:r>
            <a:r>
              <a:rPr lang="en-US" dirty="0" smtClean="0"/>
              <a:t> regardless of the truth values of the statement variables.</a:t>
            </a:r>
            <a:endParaRPr lang="en-US" dirty="0" smtClean="0"/>
          </a:p>
          <a:p>
            <a:r>
              <a:rPr lang="en-US" dirty="0" smtClean="0"/>
              <a:t>A contradiction is represented by the symbol “c”.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Note: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	So if we have to prove that a given statement form is </a:t>
            </a:r>
            <a:r>
              <a:rPr lang="en-US" b="1" dirty="0" smtClean="0"/>
              <a:t>CONTRADICTION</a:t>
            </a:r>
            <a:r>
              <a:rPr lang="en-US" dirty="0" smtClean="0"/>
              <a:t> we will make the truth table for the statement form and if in the column of the given statement form all the entries are F ,then we say that statement form is contradiction.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58240"/>
            <a:ext cx="8229600" cy="4937760"/>
          </a:xfrm>
        </p:spPr>
        <p:txBody>
          <a:bodyPr/>
          <a:lstStyle/>
          <a:p>
            <a:r>
              <a:rPr lang="en-US" dirty="0" smtClean="0"/>
              <a:t>The statement form 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~ p is a contradiction.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Since in the last column in the truth table we have F in all the entries so is a contradiction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	</a:t>
            </a:r>
            <a:r>
              <a:rPr lang="en-US" b="1" dirty="0" smtClean="0"/>
              <a:t>p </a:t>
            </a:r>
            <a:r>
              <a:rPr lang="en-US" b="1" dirty="0" smtClean="0">
                <a:sym typeface="Symbol" panose="05050102010706020507"/>
              </a:rPr>
              <a:t></a:t>
            </a:r>
            <a:r>
              <a:rPr lang="en-US" b="1" dirty="0" smtClean="0"/>
              <a:t> ~p </a:t>
            </a:r>
            <a:r>
              <a:rPr lang="en-US" b="1" dirty="0" smtClean="0">
                <a:sym typeface="Symbol" panose="05050102010706020507"/>
              </a:rPr>
              <a:t></a:t>
            </a:r>
            <a:r>
              <a:rPr lang="en-US" b="1" dirty="0" smtClean="0"/>
              <a:t>c</a:t>
            </a:r>
            <a:endParaRPr lang="en-US" b="1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74878" y="2017831"/>
          <a:ext cx="2968722" cy="1097280"/>
        </p:xfrm>
        <a:graphic>
          <a:graphicData uri="http://schemas.openxmlformats.org/drawingml/2006/table">
            <a:tbl>
              <a:tblPr/>
              <a:tblGrid>
                <a:gridCol w="946150"/>
                <a:gridCol w="946150"/>
                <a:gridCol w="1076422"/>
              </a:tblGrid>
              <a:tr h="2679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~ 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p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/>
                        </a:rPr>
                        <a:t>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Bell MT" panose="02020503060305020303" pitchFamily="18" charset="0"/>
                          <a:ea typeface="+mn-ea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 ~ 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Bell MT" panose="02020503060305020303" pitchFamily="18" charset="0"/>
                        <a:ea typeface="+mn-ea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2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REMARKS: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400" dirty="0" smtClean="0"/>
              <a:t>Most statements are neither tautologies nor contradictions.</a:t>
            </a:r>
            <a:endParaRPr lang="en-US" sz="2400" dirty="0" smtClean="0"/>
          </a:p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en-US" sz="2400" dirty="0" smtClean="0"/>
              <a:t>The negation of a tautology is a contradiction and vice versa.</a:t>
            </a:r>
            <a:endParaRPr lang="en-US" sz="2400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LOGICAL EQUIVALENCE INVOLVING TAUTOLOGY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Show that 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t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p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Since in the above table the entries in the first and last columns are identical so we have the corresponding statement forms are Logically Equivalent that is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b="1" dirty="0" smtClean="0"/>
              <a:t>	p </a:t>
            </a:r>
            <a:r>
              <a:rPr lang="en-US" b="1" dirty="0" smtClean="0">
                <a:sym typeface="Symbol" panose="05050102010706020507"/>
              </a:rPr>
              <a:t></a:t>
            </a:r>
            <a:r>
              <a:rPr lang="en-US" b="1" dirty="0" smtClean="0"/>
              <a:t> T </a:t>
            </a:r>
            <a:r>
              <a:rPr lang="en-US" b="1" dirty="0" smtClean="0">
                <a:sym typeface="Symbol" panose="05050102010706020507"/>
              </a:rPr>
              <a:t></a:t>
            </a:r>
            <a:r>
              <a:rPr lang="en-US" b="1" dirty="0" smtClean="0"/>
              <a:t> p</a:t>
            </a:r>
            <a:endParaRPr lang="en-US" b="1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64840" y="2133600"/>
          <a:ext cx="2854960" cy="1097280"/>
        </p:xfrm>
        <a:graphic>
          <a:graphicData uri="http://schemas.openxmlformats.org/drawingml/2006/table">
            <a:tbl>
              <a:tblPr/>
              <a:tblGrid>
                <a:gridCol w="694690"/>
                <a:gridCol w="857885"/>
                <a:gridCol w="1302385"/>
              </a:tblGrid>
              <a:tr h="2806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t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p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Symbol" panose="05050102010706020507"/>
                        </a:rPr>
                        <a:t>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 T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LOGICAL EQUIVALENCE INVOLVING CONTRADICTION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Show that p </a:t>
            </a:r>
            <a:r>
              <a:rPr lang="en-US" dirty="0" smtClean="0">
                <a:sym typeface="Symbol" panose="05050102010706020507"/>
              </a:rPr>
              <a:t> </a:t>
            </a:r>
            <a:r>
              <a:rPr lang="en-US" dirty="0" smtClean="0"/>
              <a:t>c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c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Same truth values in the indicated columns so </a:t>
            </a:r>
            <a:r>
              <a:rPr lang="en-US" dirty="0" err="1" smtClean="0"/>
              <a:t>p</a:t>
            </a:r>
            <a:r>
              <a:rPr lang="en-US" dirty="0" err="1" smtClean="0">
                <a:sym typeface="Symbol" panose="05050102010706020507"/>
              </a:rPr>
              <a:t></a:t>
            </a:r>
            <a:r>
              <a:rPr lang="en-US" dirty="0" err="1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c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0" y="1977576"/>
          <a:ext cx="2604135" cy="1097280"/>
        </p:xfrm>
        <a:graphic>
          <a:graphicData uri="http://schemas.openxmlformats.org/drawingml/2006/table">
            <a:tbl>
              <a:tblPr/>
              <a:tblGrid>
                <a:gridCol w="868045"/>
                <a:gridCol w="868045"/>
                <a:gridCol w="868045"/>
              </a:tblGrid>
              <a:tr h="298450"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p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p 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Symbol" panose="05050102010706020507"/>
                        </a:rPr>
                        <a:t></a:t>
                      </a:r>
                      <a:r>
                        <a:rPr kumimoji="0" lang="en-US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 c</a:t>
                      </a:r>
                      <a:endParaRPr kumimoji="0" lang="en-US" sz="24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  <a:sym typeface="Symbol" panose="05050102010706020507" pitchFamily="18" charset="2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0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4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F</a:t>
                      </a:r>
                      <a:endParaRPr kumimoji="0" lang="en-US" sz="2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/>
              <a:t>EXERCISE: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Use truth table to show that (p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q) </a:t>
            </a:r>
            <a:r>
              <a:rPr lang="en-US" dirty="0" smtClean="0">
                <a:sym typeface="Symbol" panose="05050102010706020507"/>
              </a:rPr>
              <a:t> </a:t>
            </a:r>
            <a:r>
              <a:rPr lang="en-US" dirty="0" smtClean="0"/>
              <a:t>(~p </a:t>
            </a:r>
            <a:r>
              <a:rPr lang="en-US" dirty="0" smtClean="0">
                <a:sym typeface="Symbol" panose="05050102010706020507"/>
              </a:rPr>
              <a:t> </a:t>
            </a:r>
            <a:r>
              <a:rPr lang="en-US" dirty="0" smtClean="0"/>
              <a:t>(p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~q)) is a tautology.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Use truth table to show that (p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~q) </a:t>
            </a:r>
            <a:r>
              <a:rPr lang="en-US" dirty="0" smtClean="0">
                <a:sym typeface="Symbol" panose="05050102010706020507"/>
              </a:rPr>
              <a:t> </a:t>
            </a:r>
            <a:r>
              <a:rPr lang="en-US" dirty="0" smtClean="0"/>
              <a:t>(~p </a:t>
            </a:r>
            <a:r>
              <a:rPr lang="en-US" dirty="0" smtClean="0">
                <a:sym typeface="Symbol" panose="05050102010706020507"/>
              </a:rPr>
              <a:t> </a:t>
            </a:r>
            <a:r>
              <a:rPr lang="en-US" dirty="0" smtClean="0"/>
              <a:t>q) is a contradiction.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/>
              <a:t>INEQUALITIES AND DEMORGAN’S LAWS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Use De-Morgan’s Laws to write the negation of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-1 &lt; </a:t>
            </a:r>
            <a:r>
              <a:rPr lang="en-US" i="1" dirty="0" smtClean="0"/>
              <a:t>x </a:t>
            </a:r>
            <a:r>
              <a:rPr lang="en-US" dirty="0" smtClean="0">
                <a:sym typeface="Symbol" panose="05050102010706020507"/>
              </a:rPr>
              <a:t></a:t>
            </a:r>
            <a:r>
              <a:rPr lang="en-US" dirty="0" smtClean="0"/>
              <a:t> 4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-1 &lt; </a:t>
            </a:r>
            <a:r>
              <a:rPr lang="en-US" i="1" dirty="0" smtClean="0"/>
              <a:t>x </a:t>
            </a:r>
            <a:r>
              <a:rPr lang="en-US" dirty="0" smtClean="0">
                <a:sym typeface="Symbol" panose="05050102010706020507"/>
              </a:rPr>
              <a:t></a:t>
            </a:r>
            <a:r>
              <a:rPr lang="en-US" dirty="0" smtClean="0"/>
              <a:t> 4 means </a:t>
            </a:r>
            <a:r>
              <a:rPr lang="en-US" i="1" dirty="0" smtClean="0"/>
              <a:t>x</a:t>
            </a:r>
            <a:r>
              <a:rPr lang="en-US" dirty="0" smtClean="0"/>
              <a:t> &gt; –1 </a:t>
            </a:r>
            <a:r>
              <a:rPr lang="en-US" b="1" dirty="0" smtClean="0"/>
              <a:t>and </a:t>
            </a:r>
            <a:r>
              <a:rPr lang="en-US" i="1" dirty="0" smtClean="0"/>
              <a:t>x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/>
              </a:rPr>
              <a:t></a:t>
            </a:r>
            <a:r>
              <a:rPr lang="en-US" dirty="0" smtClean="0"/>
              <a:t> 4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By </a:t>
            </a:r>
            <a:r>
              <a:rPr lang="en-US" dirty="0" err="1" smtClean="0"/>
              <a:t>DeMorgan’s</a:t>
            </a:r>
            <a:r>
              <a:rPr lang="en-US" dirty="0" smtClean="0"/>
              <a:t> Law, the negation is: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Which is equivalent to:  </a:t>
            </a:r>
            <a:r>
              <a:rPr lang="en-US" i="1" dirty="0" smtClean="0"/>
              <a:t>x</a:t>
            </a:r>
            <a:r>
              <a:rPr lang="en-US" dirty="0" smtClean="0"/>
              <a:t> </a:t>
            </a:r>
            <a:r>
              <a:rPr lang="en-US" dirty="0" smtClean="0">
                <a:sym typeface="Symbol" panose="05050102010706020507"/>
              </a:rPr>
              <a:t></a:t>
            </a:r>
            <a:r>
              <a:rPr lang="en-US" dirty="0" smtClean="0"/>
              <a:t> –1 </a:t>
            </a:r>
            <a:r>
              <a:rPr lang="en-US" b="1" dirty="0" smtClean="0"/>
              <a:t>or </a:t>
            </a:r>
            <a:r>
              <a:rPr lang="en-US" i="1" dirty="0" smtClean="0"/>
              <a:t>x</a:t>
            </a:r>
            <a:r>
              <a:rPr lang="en-US" dirty="0" smtClean="0"/>
              <a:t> &gt; 4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LAWS OF LOGIC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Given any statement variables p, q and r, a tautology t and a contradiction c, the following logical equivalences hold: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Commutative Laws:</a:t>
            </a:r>
            <a:r>
              <a:rPr lang="en-US" dirty="0" smtClean="0"/>
              <a:t>		 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q </a:t>
            </a:r>
            <a:r>
              <a:rPr lang="en-US" dirty="0" smtClean="0">
                <a:sym typeface="Symbol" panose="05050102010706020507"/>
              </a:rPr>
              <a:t> </a:t>
            </a:r>
            <a:r>
              <a:rPr lang="en-US" dirty="0" smtClean="0"/>
              <a:t>q</a:t>
            </a:r>
            <a:r>
              <a:rPr lang="en-US" dirty="0" smtClean="0">
                <a:sym typeface="Symbol" panose="05050102010706020507"/>
              </a:rPr>
              <a:t>  </a:t>
            </a:r>
            <a:r>
              <a:rPr lang="en-US" dirty="0" smtClean="0"/>
              <a:t>p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		 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q</a:t>
            </a:r>
            <a:r>
              <a:rPr lang="en-US" dirty="0" smtClean="0">
                <a:sym typeface="Symbol" panose="05050102010706020507"/>
              </a:rPr>
              <a:t>  </a:t>
            </a:r>
            <a:r>
              <a:rPr lang="en-US" dirty="0" smtClean="0"/>
              <a:t>q </a:t>
            </a:r>
            <a:r>
              <a:rPr lang="en-US" dirty="0" smtClean="0">
                <a:sym typeface="Symbol" panose="05050102010706020507"/>
              </a:rPr>
              <a:t> </a:t>
            </a:r>
            <a:r>
              <a:rPr lang="en-US" dirty="0" smtClean="0"/>
              <a:t>p</a:t>
            </a: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Associative Laws: </a:t>
            </a:r>
            <a:r>
              <a:rPr lang="en-US" dirty="0" smtClean="0"/>
              <a:t>		</a:t>
            </a:r>
            <a:r>
              <a:rPr lang="pt-BR" dirty="0" smtClean="0"/>
              <a:t>(p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pt-BR" dirty="0" smtClean="0"/>
              <a:t> q)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pt-BR" dirty="0" smtClean="0"/>
              <a:t> r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pt-BR" dirty="0" smtClean="0"/>
              <a:t> p </a:t>
            </a:r>
            <a:r>
              <a:rPr lang="en-US" dirty="0" smtClean="0">
                <a:sym typeface="Symbol" panose="05050102010706020507"/>
              </a:rPr>
              <a:t> </a:t>
            </a:r>
            <a:r>
              <a:rPr lang="pt-BR" dirty="0" smtClean="0"/>
              <a:t>(q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pt-BR" dirty="0" smtClean="0"/>
              <a:t> r)</a:t>
            </a:r>
            <a:endParaRPr lang="pt-BR" dirty="0" smtClean="0"/>
          </a:p>
          <a:p>
            <a:pPr>
              <a:buNone/>
            </a:pPr>
            <a:r>
              <a:rPr lang="en-US" dirty="0" smtClean="0"/>
              <a:t>						(p </a:t>
            </a:r>
            <a:r>
              <a:rPr lang="en-US" dirty="0" smtClean="0">
                <a:sym typeface="Symbol" panose="05050102010706020507"/>
              </a:rPr>
              <a:t> </a:t>
            </a:r>
            <a:r>
              <a:rPr lang="en-US" dirty="0" smtClean="0"/>
              <a:t>q) </a:t>
            </a:r>
            <a:r>
              <a:rPr lang="en-US" dirty="0" smtClean="0">
                <a:sym typeface="Symbol" panose="05050102010706020507"/>
              </a:rPr>
              <a:t> </a:t>
            </a:r>
            <a:r>
              <a:rPr lang="en-US" dirty="0" smtClean="0"/>
              <a:t>r </a:t>
            </a:r>
            <a:r>
              <a:rPr lang="en-US" dirty="0" smtClean="0">
                <a:sym typeface="Symbol" panose="05050102010706020507"/>
              </a:rPr>
              <a:t> </a:t>
            </a:r>
            <a:r>
              <a:rPr lang="en-US" dirty="0" smtClean="0"/>
              <a:t>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(q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r)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Distributive Law: </a:t>
            </a:r>
            <a:r>
              <a:rPr lang="en-US" dirty="0" smtClean="0"/>
              <a:t>	p </a:t>
            </a:r>
            <a:r>
              <a:rPr lang="en-US" dirty="0" smtClean="0">
                <a:sym typeface="Symbol" panose="05050102010706020507"/>
              </a:rPr>
              <a:t> </a:t>
            </a:r>
            <a:r>
              <a:rPr lang="en-US" dirty="0" smtClean="0"/>
              <a:t>(q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r) </a:t>
            </a:r>
            <a:r>
              <a:rPr lang="en-US" dirty="0" smtClean="0">
                <a:sym typeface="Symbol" panose="05050102010706020507"/>
              </a:rPr>
              <a:t> </a:t>
            </a:r>
            <a:r>
              <a:rPr lang="pt-BR" dirty="0" smtClean="0"/>
              <a:t>(p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pt-BR" dirty="0" smtClean="0"/>
              <a:t> q)</a:t>
            </a:r>
            <a:r>
              <a:rPr lang="en-US" dirty="0" smtClean="0">
                <a:sym typeface="Symbol" panose="05050102010706020507"/>
              </a:rPr>
              <a:t>  </a:t>
            </a:r>
            <a:r>
              <a:rPr lang="pt-BR" dirty="0" smtClean="0"/>
              <a:t>(</a:t>
            </a:r>
            <a:r>
              <a:rPr lang="en-US" dirty="0" smtClean="0"/>
              <a:t>p</a:t>
            </a:r>
            <a:r>
              <a:rPr lang="en-US" dirty="0" smtClean="0">
                <a:sym typeface="Symbol" panose="05050102010706020507"/>
              </a:rPr>
              <a:t>  </a:t>
            </a:r>
            <a:r>
              <a:rPr lang="en-US" dirty="0" smtClean="0"/>
              <a:t>r</a:t>
            </a:r>
            <a:r>
              <a:rPr lang="pt-BR" dirty="0" smtClean="0"/>
              <a:t>)</a:t>
            </a:r>
            <a:endParaRPr lang="pt-BR" dirty="0" smtClean="0"/>
          </a:p>
          <a:p>
            <a:pPr>
              <a:buNone/>
            </a:pPr>
            <a:r>
              <a:rPr lang="en-US" dirty="0" smtClean="0"/>
              <a:t>					p </a:t>
            </a:r>
            <a:r>
              <a:rPr lang="en-US" dirty="0" smtClean="0">
                <a:sym typeface="Symbol" panose="05050102010706020507"/>
              </a:rPr>
              <a:t> </a:t>
            </a:r>
            <a:r>
              <a:rPr lang="en-US" dirty="0" smtClean="0"/>
              <a:t>(q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r) </a:t>
            </a:r>
            <a:r>
              <a:rPr lang="en-US" dirty="0" smtClean="0">
                <a:sym typeface="Symbol" panose="05050102010706020507"/>
              </a:rPr>
              <a:t> </a:t>
            </a:r>
            <a:r>
              <a:rPr lang="pt-BR" dirty="0" smtClean="0"/>
              <a:t>(p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pt-BR" dirty="0" smtClean="0"/>
              <a:t> q)</a:t>
            </a:r>
            <a:r>
              <a:rPr lang="en-US" dirty="0" smtClean="0">
                <a:sym typeface="Symbol" panose="05050102010706020507"/>
              </a:rPr>
              <a:t>  </a:t>
            </a:r>
            <a:r>
              <a:rPr lang="pt-BR" dirty="0" smtClean="0"/>
              <a:t>(</a:t>
            </a:r>
            <a:r>
              <a:rPr lang="en-US" dirty="0" smtClean="0"/>
              <a:t>p</a:t>
            </a:r>
            <a:r>
              <a:rPr lang="en-US" dirty="0" smtClean="0">
                <a:sym typeface="Symbol" panose="05050102010706020507"/>
              </a:rPr>
              <a:t>  </a:t>
            </a:r>
            <a:r>
              <a:rPr lang="en-US" dirty="0" smtClean="0"/>
              <a:t>r</a:t>
            </a:r>
            <a:r>
              <a:rPr lang="pt-BR" dirty="0" smtClean="0"/>
              <a:t>)</a:t>
            </a:r>
            <a:endParaRPr lang="pt-BR" dirty="0" smtClean="0"/>
          </a:p>
          <a:p>
            <a:endParaRPr lang="pt-BR" dirty="0" smtClean="0"/>
          </a:p>
          <a:p>
            <a:r>
              <a:rPr lang="pt-BR" b="1" dirty="0" smtClean="0">
                <a:solidFill>
                  <a:srgbClr val="C00000"/>
                </a:solidFill>
              </a:rPr>
              <a:t>Identity Laws:</a:t>
            </a:r>
            <a:r>
              <a:rPr lang="pt-BR" dirty="0" smtClean="0"/>
              <a:t>		</a:t>
            </a:r>
            <a:r>
              <a:rPr lang="en-US" dirty="0" smtClean="0"/>
              <a:t>p </a:t>
            </a:r>
            <a:r>
              <a:rPr lang="en-US" dirty="0" smtClean="0">
                <a:sym typeface="Symbol" panose="05050102010706020507"/>
              </a:rPr>
              <a:t> t  p</a:t>
            </a:r>
            <a:endParaRPr lang="en-US" dirty="0" smtClean="0">
              <a:sym typeface="Symbol" panose="05050102010706020507"/>
            </a:endParaRPr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				p  c  p</a:t>
            </a:r>
            <a:endParaRPr lang="en-US" dirty="0" smtClean="0">
              <a:sym typeface="Symbol" panose="05050102010706020507"/>
            </a:endParaRPr>
          </a:p>
          <a:p>
            <a:endParaRPr lang="en-US" dirty="0" smtClean="0">
              <a:sym typeface="Symbol" panose="05050102010706020507"/>
            </a:endParaRPr>
          </a:p>
          <a:p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Negation Laws: </a:t>
            </a:r>
            <a:r>
              <a:rPr lang="en-US" b="1" dirty="0" smtClean="0">
                <a:sym typeface="Symbol" panose="05050102010706020507"/>
              </a:rPr>
              <a:t>		</a:t>
            </a:r>
            <a:r>
              <a:rPr lang="en-US" dirty="0" smtClean="0">
                <a:sym typeface="Symbol" panose="05050102010706020507"/>
              </a:rPr>
              <a:t>p  </a:t>
            </a:r>
            <a:r>
              <a:rPr lang="en-US" dirty="0" smtClean="0"/>
              <a:t>~ p</a:t>
            </a:r>
            <a:r>
              <a:rPr lang="en-US" dirty="0" smtClean="0">
                <a:sym typeface="Symbol" panose="05050102010706020507"/>
              </a:rPr>
              <a:t>  </a:t>
            </a:r>
            <a:r>
              <a:rPr lang="en-US" b="1" dirty="0" smtClean="0">
                <a:sym typeface="Symbol" panose="05050102010706020507"/>
              </a:rPr>
              <a:t>T</a:t>
            </a:r>
            <a:endParaRPr lang="en-US" dirty="0" smtClean="0">
              <a:sym typeface="Symbol" panose="05050102010706020507"/>
            </a:endParaRPr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				p  </a:t>
            </a:r>
            <a:r>
              <a:rPr lang="en-US" dirty="0" smtClean="0"/>
              <a:t>~ p </a:t>
            </a:r>
            <a:r>
              <a:rPr lang="en-US" dirty="0" smtClean="0">
                <a:sym typeface="Symbol" panose="05050102010706020507"/>
              </a:rPr>
              <a:t> c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Double Negation Law: </a:t>
            </a:r>
            <a:r>
              <a:rPr lang="en-US" dirty="0" smtClean="0"/>
              <a:t>	~ (~p)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p 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Idempotent Laws: </a:t>
            </a:r>
            <a:r>
              <a:rPr lang="en-US" b="1" dirty="0" smtClean="0"/>
              <a:t>		</a:t>
            </a:r>
            <a:r>
              <a:rPr lang="en-US" dirty="0" smtClean="0"/>
              <a:t> </a:t>
            </a:r>
            <a:r>
              <a:rPr lang="pt-BR" dirty="0" smtClean="0"/>
              <a:t>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pt-BR" dirty="0" smtClean="0"/>
              <a:t> p</a:t>
            </a:r>
            <a:r>
              <a:rPr lang="en-US" dirty="0" smtClean="0">
                <a:sym typeface="Symbol" panose="05050102010706020507"/>
              </a:rPr>
              <a:t>  p</a:t>
            </a:r>
            <a:endParaRPr lang="en-US" dirty="0" smtClean="0">
              <a:sym typeface="Symbol" panose="05050102010706020507"/>
            </a:endParaRPr>
          </a:p>
          <a:p>
            <a:pPr>
              <a:buNone/>
            </a:pPr>
            <a:r>
              <a:rPr lang="pt-BR" dirty="0" smtClean="0"/>
              <a:t>						 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pt-BR" dirty="0" smtClean="0"/>
              <a:t> p </a:t>
            </a:r>
            <a:r>
              <a:rPr lang="en-US" dirty="0" smtClean="0">
                <a:sym typeface="Symbol" panose="05050102010706020507"/>
              </a:rPr>
              <a:t> p</a:t>
            </a:r>
            <a:endParaRPr lang="en-US" dirty="0" smtClean="0">
              <a:sym typeface="Symbol" panose="05050102010706020507"/>
            </a:endParaRPr>
          </a:p>
          <a:p>
            <a:endParaRPr lang="en-US" dirty="0" smtClean="0">
              <a:sym typeface="Symbol" panose="05050102010706020507"/>
            </a:endParaRPr>
          </a:p>
          <a:p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De Morgan’s Laws: </a:t>
            </a:r>
            <a:r>
              <a:rPr lang="en-US" b="1" dirty="0" smtClean="0">
                <a:sym typeface="Symbol" panose="05050102010706020507"/>
              </a:rPr>
              <a:t>		</a:t>
            </a:r>
            <a:r>
              <a:rPr lang="en-US" dirty="0" smtClean="0"/>
              <a:t>~(p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q)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~q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		~(p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 panose="05050102010706020507"/>
              </a:rPr>
              <a:t></a:t>
            </a:r>
            <a:r>
              <a:rPr lang="en-US" dirty="0" smtClean="0"/>
              <a:t> ~p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~q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Universal Bound Law: </a:t>
            </a:r>
            <a:r>
              <a:rPr lang="en-US" b="1" dirty="0" smtClean="0"/>
              <a:t>		</a:t>
            </a:r>
            <a:r>
              <a:rPr lang="en-US" dirty="0" smtClean="0"/>
              <a:t>p </a:t>
            </a:r>
            <a:r>
              <a:rPr lang="en-US" dirty="0" smtClean="0">
                <a:sym typeface="Symbol" panose="05050102010706020507"/>
              </a:rPr>
              <a:t> </a:t>
            </a:r>
            <a:r>
              <a:rPr lang="en-US" b="1" dirty="0" smtClean="0">
                <a:sym typeface="Symbol" panose="05050102010706020507"/>
              </a:rPr>
              <a:t>T</a:t>
            </a:r>
            <a:r>
              <a:rPr lang="en-US" dirty="0" smtClean="0">
                <a:sym typeface="Symbol" panose="05050102010706020507"/>
              </a:rPr>
              <a:t>  </a:t>
            </a:r>
            <a:r>
              <a:rPr lang="en-US" b="1" dirty="0" smtClean="0">
                <a:sym typeface="Symbol" panose="05050102010706020507"/>
              </a:rPr>
              <a:t>T</a:t>
            </a:r>
            <a:endParaRPr lang="en-US" dirty="0" smtClean="0">
              <a:sym typeface="Symbol" panose="05050102010706020507"/>
            </a:endParaRPr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						p  c  c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Absorptions Laws: </a:t>
            </a:r>
            <a:r>
              <a:rPr lang="en-US" b="1" dirty="0" smtClean="0"/>
              <a:t>			</a:t>
            </a:r>
            <a:r>
              <a:rPr lang="en-US" dirty="0" smtClean="0"/>
              <a:t>p </a:t>
            </a:r>
            <a:r>
              <a:rPr lang="en-US" dirty="0" smtClean="0">
                <a:sym typeface="Symbol" panose="05050102010706020507"/>
              </a:rPr>
              <a:t> </a:t>
            </a:r>
            <a:r>
              <a:rPr lang="en-US" dirty="0" smtClean="0"/>
              <a:t>(p </a:t>
            </a:r>
            <a:r>
              <a:rPr lang="en-US" dirty="0" smtClean="0">
                <a:sym typeface="Symbol" panose="05050102010706020507"/>
              </a:rPr>
              <a:t></a:t>
            </a:r>
            <a:r>
              <a:rPr lang="en-US" dirty="0" smtClean="0"/>
              <a:t> q) </a:t>
            </a:r>
            <a:r>
              <a:rPr lang="en-US" dirty="0" smtClean="0">
                <a:sym typeface="Symbol" panose="05050102010706020507"/>
              </a:rPr>
              <a:t> p</a:t>
            </a:r>
            <a:endParaRPr lang="en-US" dirty="0" smtClean="0">
              <a:sym typeface="Symbol" panose="05050102010706020507"/>
            </a:endParaRPr>
          </a:p>
          <a:p>
            <a:pPr>
              <a:buNone/>
            </a:pPr>
            <a:r>
              <a:rPr lang="en-US" dirty="0" smtClean="0">
                <a:sym typeface="Symbol" panose="05050102010706020507"/>
              </a:rPr>
              <a:t>							p </a:t>
            </a:r>
            <a:r>
              <a:rPr lang="en-US" dirty="0" smtClean="0"/>
              <a:t> (p </a:t>
            </a:r>
            <a:r>
              <a:rPr lang="en-US" dirty="0" smtClean="0">
                <a:sym typeface="Symbol" panose="05050102010706020507"/>
              </a:rPr>
              <a:t></a:t>
            </a:r>
            <a:r>
              <a:rPr lang="en-US" dirty="0" smtClean="0"/>
              <a:t> q) </a:t>
            </a:r>
            <a:r>
              <a:rPr lang="en-US" dirty="0" smtClean="0">
                <a:sym typeface="Symbol" panose="05050102010706020507"/>
              </a:rPr>
              <a:t> p</a:t>
            </a:r>
            <a:endParaRPr lang="en-US" dirty="0" smtClean="0">
              <a:sym typeface="Symbol" panose="05050102010706020507"/>
            </a:endParaRPr>
          </a:p>
          <a:p>
            <a:endParaRPr lang="en-US" dirty="0" smtClean="0">
              <a:sym typeface="Symbol" panose="05050102010706020507"/>
            </a:endParaRPr>
          </a:p>
          <a:p>
            <a:r>
              <a:rPr lang="en-US" b="1" dirty="0" smtClean="0">
                <a:solidFill>
                  <a:srgbClr val="C00000"/>
                </a:solidFill>
                <a:sym typeface="Symbol" panose="05050102010706020507"/>
              </a:rPr>
              <a:t>Negation of t and c: </a:t>
            </a:r>
            <a:r>
              <a:rPr lang="en-US" b="1" dirty="0" smtClean="0">
                <a:sym typeface="Symbol" panose="05050102010706020507"/>
              </a:rPr>
              <a:t>			</a:t>
            </a:r>
            <a:r>
              <a:rPr lang="en-US" dirty="0" smtClean="0"/>
              <a:t>~ </a:t>
            </a:r>
            <a:r>
              <a:rPr lang="en-US" b="1" dirty="0" smtClean="0"/>
              <a:t>T</a:t>
            </a:r>
            <a:r>
              <a:rPr lang="en-US" dirty="0" smtClean="0">
                <a:sym typeface="Symbol" panose="05050102010706020507"/>
              </a:rPr>
              <a:t>  c</a:t>
            </a:r>
            <a:endParaRPr lang="en-US" dirty="0" smtClean="0">
              <a:sym typeface="Symbol" panose="05050102010706020507"/>
            </a:endParaRPr>
          </a:p>
          <a:p>
            <a:pPr>
              <a:buNone/>
            </a:pPr>
            <a:r>
              <a:rPr lang="en-US" dirty="0" smtClean="0"/>
              <a:t>							~ c </a:t>
            </a:r>
            <a:r>
              <a:rPr lang="en-US" dirty="0" smtClean="0">
                <a:sym typeface="Symbol" panose="05050102010706020507"/>
              </a:rPr>
              <a:t> </a:t>
            </a:r>
            <a:r>
              <a:rPr lang="en-US" b="1" dirty="0" smtClean="0">
                <a:sym typeface="Symbol" panose="05050102010706020507"/>
              </a:rPr>
              <a:t>T</a:t>
            </a:r>
            <a:endParaRPr lang="en-US" dirty="0" smtClean="0">
              <a:sym typeface="Symbol" panose="05050102010706020507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0</TotalTime>
  <Words>4133</Words>
  <Application>WPS Presentation</Application>
  <PresentationFormat>On-screen Show (4:3)</PresentationFormat>
  <Paragraphs>652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Arial</vt:lpstr>
      <vt:lpstr>SimSun</vt:lpstr>
      <vt:lpstr>Wingdings</vt:lpstr>
      <vt:lpstr>Wingdings 3</vt:lpstr>
      <vt:lpstr>Wingdings</vt:lpstr>
      <vt:lpstr>Symbol</vt:lpstr>
      <vt:lpstr>Bell MT</vt:lpstr>
      <vt:lpstr>Times New Roman</vt:lpstr>
      <vt:lpstr>Symbol</vt:lpstr>
      <vt:lpstr>Calibri</vt:lpstr>
      <vt:lpstr>Gill Sans MT</vt:lpstr>
      <vt:lpstr>Bookman Old Style</vt:lpstr>
      <vt:lpstr>Microsoft YaHei</vt:lpstr>
      <vt:lpstr>Arial Unicode MS</vt:lpstr>
      <vt:lpstr>Origin</vt:lpstr>
      <vt:lpstr>Discrete Structures  BSCS (3  Credit Hour) </vt:lpstr>
      <vt:lpstr>Truth tables</vt:lpstr>
      <vt:lpstr>Truth table for the statement form ~ p  q </vt:lpstr>
      <vt:lpstr>Truth table for ~ p  (q  ~ r)</vt:lpstr>
      <vt:lpstr>Truth table for (p  q)  ~ (p  q)</vt:lpstr>
      <vt:lpstr>Double Negative Property ~(~p)  p</vt:lpstr>
      <vt:lpstr>Example:</vt:lpstr>
      <vt:lpstr>~ (p  q) and ~p  ~q are not logically equivalent</vt:lpstr>
      <vt:lpstr>DE MORGAN’S LAWS:</vt:lpstr>
      <vt:lpstr>Truth Table for ~(p  q)  ~p  ~q</vt:lpstr>
      <vt:lpstr>Application of De morgan’s Law using statements:</vt:lpstr>
      <vt:lpstr>Exercise:</vt:lpstr>
      <vt:lpstr>TAUTOLOGY:</vt:lpstr>
      <vt:lpstr>CONTRADICTION:</vt:lpstr>
      <vt:lpstr>EXAMPLE:</vt:lpstr>
      <vt:lpstr>REMARKS:</vt:lpstr>
      <vt:lpstr>LOGICAL EQUIVALENCE INVOLVING TAUTOLOGY</vt:lpstr>
      <vt:lpstr>LOGICAL EQUIVALENCE INVOLVING CONTRADICTION</vt:lpstr>
      <vt:lpstr>EXERCISE:</vt:lpstr>
      <vt:lpstr>INEQUALITIES AND DEMORGAN’S LAWS</vt:lpstr>
      <vt:lpstr>LAWS OF LOGIC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Structures</dc:title>
  <dc:creator>C &amp; M</dc:creator>
  <cp:lastModifiedBy>Dell</cp:lastModifiedBy>
  <cp:revision>108</cp:revision>
  <dcterms:created xsi:type="dcterms:W3CDTF">2013-09-11T16:39:00Z</dcterms:created>
  <dcterms:modified xsi:type="dcterms:W3CDTF">2024-09-30T08:56:31Z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03C277E7975443BA846ABA27C4BD4C06_12</vt:lpwstr>
  </property>
  <property fmtid="{D5CDD505-2E9C-101B-9397-08002B2CF9AE}" pid="3" name="KSOProductBuildVer">
    <vt:lpwstr>1033-12.2.0.18283</vt:lpwstr>
  </property>
</Properties>
</file>
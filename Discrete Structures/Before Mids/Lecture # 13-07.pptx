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6" r:id="rId9"/>
    <p:sldId id="263" r:id="rId10"/>
    <p:sldId id="264" r:id="rId11"/>
    <p:sldId id="289" r:id="rId12"/>
    <p:sldId id="290" r:id="rId13"/>
    <p:sldId id="291" r:id="rId14"/>
    <p:sldId id="293" r:id="rId15"/>
    <p:sldId id="294" r:id="rId16"/>
    <p:sldId id="295" r:id="rId17"/>
    <p:sldId id="265" r:id="rId18"/>
    <p:sldId id="266" r:id="rId19"/>
    <p:sldId id="267" r:id="rId20"/>
    <p:sldId id="268" r:id="rId21"/>
    <p:sldId id="269" r:id="rId22"/>
    <p:sldId id="297" r:id="rId23"/>
    <p:sldId id="298" r:id="rId24"/>
    <p:sldId id="299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300" r:id="rId35"/>
    <p:sldId id="282" r:id="rId36"/>
    <p:sldId id="283" r:id="rId37"/>
    <p:sldId id="284" r:id="rId38"/>
    <p:sldId id="285" r:id="rId39"/>
    <p:sldId id="286" r:id="rId40"/>
    <p:sldId id="287" r:id="rId41"/>
    <p:sldId id="288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7" d="100"/>
          <a:sy n="57" d="100"/>
        </p:scale>
        <p:origin x="-336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6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0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TYPES OF FUNCTIONS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</a:t>
            </a:r>
            <a:r>
              <a:rPr lang="en-US" sz="2900" b="1" smtClean="0">
                <a:solidFill>
                  <a:srgbClr val="0070C0"/>
                </a:solidFill>
              </a:rPr>
              <a:t># </a:t>
            </a:r>
            <a:r>
              <a:rPr lang="en-US" sz="2900" b="1" smtClean="0">
                <a:solidFill>
                  <a:srgbClr val="0070C0"/>
                </a:solidFill>
              </a:rPr>
              <a:t>13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 </a:t>
            </a:r>
            <a:r>
              <a:rPr lang="en-US" sz="3600" b="1" u="sng" dirty="0" smtClean="0">
                <a:solidFill>
                  <a:srgbClr val="0070C0"/>
                </a:solidFill>
              </a:rPr>
              <a:t>ONE-TO-ONE FUNCTION / INJECTIVE FUNCTION  </a:t>
            </a:r>
            <a:endParaRPr lang="en-US" sz="3600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Y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00000"/>
                </a:solidFill>
              </a:rPr>
              <a:t>one-to-one </a:t>
            </a:r>
            <a:r>
              <a:rPr lang="en-US" dirty="0" smtClean="0"/>
              <a:t>if, and only if, 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if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That is, </a:t>
            </a: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if it maps </a:t>
            </a:r>
            <a:r>
              <a:rPr lang="en-US" b="1" dirty="0" smtClean="0">
                <a:solidFill>
                  <a:srgbClr val="C00000"/>
                </a:solidFill>
              </a:rPr>
              <a:t>distinct points </a:t>
            </a:r>
            <a:r>
              <a:rPr lang="en-US" dirty="0" smtClean="0"/>
              <a:t>of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into the </a:t>
            </a:r>
            <a:r>
              <a:rPr lang="en-US" b="1" dirty="0" smtClean="0">
                <a:solidFill>
                  <a:srgbClr val="C00000"/>
                </a:solidFill>
              </a:rPr>
              <a:t>distinct points </a:t>
            </a:r>
            <a:r>
              <a:rPr lang="en-US" dirty="0" smtClean="0"/>
              <a:t>of the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3352800"/>
            <a:ext cx="5029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 NOT ONE-TO-ONE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function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is </a:t>
            </a:r>
            <a:r>
              <a:rPr lang="en-US" dirty="0" smtClean="0">
                <a:solidFill>
                  <a:srgbClr val="C00000"/>
                </a:solidFill>
              </a:rPr>
              <a:t>not one-to-one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there exist </a:t>
            </a:r>
            <a:r>
              <a:rPr lang="en-US" dirty="0" smtClean="0"/>
              <a:t>elements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but 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That is, if</a:t>
            </a:r>
            <a:r>
              <a:rPr lang="en-US" dirty="0" smtClean="0">
                <a:solidFill>
                  <a:srgbClr val="C00000"/>
                </a:solidFill>
              </a:rPr>
              <a:t> distinct elements 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and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 can found in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then they have the </a:t>
            </a:r>
            <a:r>
              <a:rPr lang="en-US" dirty="0" smtClean="0">
                <a:solidFill>
                  <a:srgbClr val="C00000"/>
                </a:solidFill>
              </a:rPr>
              <a:t>same function value</a:t>
            </a:r>
            <a:r>
              <a:rPr lang="en-US" dirty="0" smtClean="0"/>
              <a:t>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505200"/>
            <a:ext cx="6477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of the </a:t>
            </a:r>
            <a:r>
              <a:rPr lang="en-US" b="1" dirty="0" smtClean="0">
                <a:solidFill>
                  <a:srgbClr val="C00000"/>
                </a:solidFill>
              </a:rPr>
              <a:t>arrow diagrams </a:t>
            </a:r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one-to-one functions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133600"/>
            <a:ext cx="6553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143000" y="5486400"/>
            <a:ext cx="2819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Image of (a) = 2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5486400"/>
            <a:ext cx="2819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Image of (b) = 1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43000" y="5483940"/>
            <a:ext cx="2819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Image of (c) = 3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5491296"/>
            <a:ext cx="3505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f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solidFill>
                  <a:srgbClr val="002060"/>
                </a:solidFill>
                <a:latin typeface="Arial Black" pitchFamily="34" charset="0"/>
              </a:rPr>
              <a:t>is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one-to-one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function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7720" y="5440680"/>
            <a:ext cx="3886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f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is NOT </a:t>
            </a:r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one-to-one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function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Find all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from X = </a:t>
            </a:r>
            <a:r>
              <a:rPr lang="en-US" dirty="0" smtClean="0">
                <a:solidFill>
                  <a:srgbClr val="C00000"/>
                </a:solidFill>
              </a:rPr>
              <a:t>{ a, b 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 u, v }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r>
              <a:rPr lang="en-US" b="1" u="sng" dirty="0" smtClean="0"/>
              <a:t>:</a:t>
            </a:r>
          </a:p>
          <a:p>
            <a:r>
              <a:rPr lang="en-US" dirty="0" smtClean="0"/>
              <a:t>There are </a:t>
            </a:r>
            <a:r>
              <a:rPr lang="en-US" dirty="0" smtClean="0">
                <a:solidFill>
                  <a:srgbClr val="C00000"/>
                </a:solidFill>
              </a:rPr>
              <a:t>two one-to-one functions </a:t>
            </a:r>
            <a:r>
              <a:rPr lang="en-US" dirty="0" smtClean="0"/>
              <a:t>from X to Y defined by the arrow diagrams.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We have only </a:t>
            </a:r>
            <a:r>
              <a:rPr lang="en-US" b="1" dirty="0" smtClean="0">
                <a:solidFill>
                  <a:srgbClr val="C00000"/>
                </a:solidFill>
              </a:rPr>
              <a:t>two one-to-one functions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691588"/>
            <a:ext cx="7467600" cy="281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How many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are there from a </a:t>
            </a:r>
            <a:r>
              <a:rPr lang="en-US" b="1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a </a:t>
            </a:r>
            <a:r>
              <a:rPr lang="en-US" b="1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four elements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</a:t>
            </a:r>
          </a:p>
          <a:p>
            <a:pPr>
              <a:buNone/>
            </a:pPr>
            <a:r>
              <a:rPr lang="en-US" dirty="0" smtClean="0"/>
              <a:t>	Let X = </a:t>
            </a:r>
            <a:r>
              <a:rPr lang="en-US" dirty="0" smtClean="0">
                <a:solidFill>
                  <a:srgbClr val="C00000"/>
                </a:solidFill>
              </a:rPr>
              <a:t>{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 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4 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may be mapped to any of the </a:t>
            </a:r>
            <a:r>
              <a:rPr lang="en-US" dirty="0" smtClean="0">
                <a:solidFill>
                  <a:srgbClr val="C00000"/>
                </a:solidFill>
              </a:rPr>
              <a:t>4 elements of Y</a:t>
            </a:r>
            <a:r>
              <a:rPr lang="en-US" dirty="0" smtClean="0"/>
              <a:t>.  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may be mapped to any of the </a:t>
            </a:r>
            <a:r>
              <a:rPr lang="en-US" dirty="0" smtClean="0">
                <a:solidFill>
                  <a:srgbClr val="C00000"/>
                </a:solidFill>
              </a:rPr>
              <a:t>remaining 3 elements of Y </a:t>
            </a:r>
            <a:r>
              <a:rPr lang="en-US" dirty="0" smtClean="0"/>
              <a:t>&amp; finally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may be mapped to any of the </a:t>
            </a:r>
            <a:r>
              <a:rPr lang="en-US" dirty="0" smtClean="0">
                <a:solidFill>
                  <a:srgbClr val="C00000"/>
                </a:solidFill>
              </a:rPr>
              <a:t>remaining 2 elements of 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Hence, total no. of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from </a:t>
            </a:r>
            <a:r>
              <a:rPr lang="en-US" dirty="0" smtClean="0">
                <a:solidFill>
                  <a:srgbClr val="C00000"/>
                </a:solidFill>
              </a:rPr>
              <a:t>X to Y </a:t>
            </a:r>
            <a:r>
              <a:rPr lang="en-US" dirty="0" smtClean="0"/>
              <a:t>are</a:t>
            </a:r>
          </a:p>
          <a:p>
            <a:pPr algn="ctr">
              <a:buNone/>
            </a:pPr>
            <a:r>
              <a:rPr lang="en-US" dirty="0" smtClean="0"/>
              <a:t>	 4 </a:t>
            </a:r>
            <a:r>
              <a:rPr lang="en-US" dirty="0" smtClean="0">
                <a:solidFill>
                  <a:srgbClr val="C00000"/>
                </a:solidFill>
              </a:rPr>
              <a:t>×</a:t>
            </a:r>
            <a:r>
              <a:rPr lang="en-US" dirty="0" smtClean="0"/>
              <a:t> 3 </a:t>
            </a:r>
            <a:r>
              <a:rPr lang="en-US" dirty="0" smtClean="0">
                <a:solidFill>
                  <a:srgbClr val="C00000"/>
                </a:solidFill>
              </a:rPr>
              <a:t>×</a:t>
            </a:r>
            <a:r>
              <a:rPr lang="en-US" b="1" dirty="0" smtClean="0"/>
              <a:t> </a:t>
            </a:r>
            <a:r>
              <a:rPr lang="en-US" dirty="0" smtClean="0"/>
              <a:t>2 </a:t>
            </a:r>
            <a:r>
              <a:rPr lang="en-US" dirty="0" smtClean="0">
                <a:solidFill>
                  <a:srgbClr val="C00000"/>
                </a:solidFill>
              </a:rPr>
              <a:t>= 24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are there from a set with </a:t>
            </a:r>
            <a:r>
              <a:rPr lang="en-US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a set with </a:t>
            </a:r>
            <a:r>
              <a:rPr lang="en-US" dirty="0" smtClean="0">
                <a:solidFill>
                  <a:srgbClr val="C00000"/>
                </a:solidFill>
              </a:rPr>
              <a:t>two elements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/>
              <a:t>SOLUTION</a:t>
            </a:r>
          </a:p>
          <a:p>
            <a:endParaRPr lang="en-US" b="1" u="sng" dirty="0" smtClean="0"/>
          </a:p>
          <a:p>
            <a:r>
              <a:rPr lang="en-US" dirty="0" smtClean="0"/>
              <a:t>Let  X = </a:t>
            </a:r>
            <a:r>
              <a:rPr lang="en-US" dirty="0" smtClean="0">
                <a:solidFill>
                  <a:srgbClr val="C00000"/>
                </a:solidFill>
              </a:rPr>
              <a:t>{x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  <a:r>
              <a:rPr lang="en-US" dirty="0" smtClean="0"/>
              <a:t>	and Y = </a:t>
            </a:r>
            <a:r>
              <a:rPr lang="en-US" dirty="0" smtClean="0">
                <a:solidFill>
                  <a:srgbClr val="C00000"/>
                </a:solidFill>
              </a:rPr>
              <a:t>{y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endParaRPr lang="en-US" b="1" u="sng" dirty="0" smtClean="0"/>
          </a:p>
          <a:p>
            <a:r>
              <a:rPr lang="en-US" dirty="0" smtClean="0"/>
              <a:t>Two elements in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could be </a:t>
            </a:r>
            <a:r>
              <a:rPr lang="en-US" dirty="0" smtClean="0">
                <a:solidFill>
                  <a:srgbClr val="C00000"/>
                </a:solidFill>
              </a:rPr>
              <a:t>mapped </a:t>
            </a:r>
            <a:r>
              <a:rPr lang="en-US" dirty="0" smtClean="0"/>
              <a:t>to the two elements in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separately. But there is no new element in Y to which the third element in X could be mapped. Accordingly there is </a:t>
            </a:r>
            <a:r>
              <a:rPr lang="en-US" dirty="0" smtClean="0">
                <a:solidFill>
                  <a:srgbClr val="C00000"/>
                </a:solidFill>
              </a:rPr>
              <a:t>no one-to-one </a:t>
            </a:r>
            <a:r>
              <a:rPr lang="en-US" dirty="0" smtClean="0"/>
              <a:t>function from a set with three elements to a set with two elements.</a:t>
            </a:r>
          </a:p>
          <a:p>
            <a:endParaRPr lang="en-US" b="1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C00000"/>
                </a:solidFill>
              </a:rPr>
              <a:t>one-to-one functions </a:t>
            </a:r>
            <a:r>
              <a:rPr lang="en-US" dirty="0" smtClean="0"/>
              <a:t>are there from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two elements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 </a:t>
            </a:r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  <a:r>
              <a:rPr lang="en-US" dirty="0" smtClean="0"/>
              <a:t>	and Y = </a:t>
            </a:r>
            <a:r>
              <a:rPr lang="en-US" dirty="0" smtClean="0">
                <a:solidFill>
                  <a:srgbClr val="C00000"/>
                </a:solidFill>
              </a:rPr>
              <a:t>{y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	Two elements in X could be mapped to the two elements in Y separately. But there is no new element in Y to which the third element in X could be mapped. Accordingly there is </a:t>
            </a:r>
            <a:r>
              <a:rPr lang="en-US" dirty="0" smtClean="0">
                <a:solidFill>
                  <a:srgbClr val="C00000"/>
                </a:solidFill>
              </a:rPr>
              <a:t>no one-to-one function </a:t>
            </a:r>
            <a:r>
              <a:rPr lang="en-US" dirty="0" smtClean="0"/>
              <a:t>from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two elements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2514600"/>
            <a:ext cx="3657600" cy="2162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GRAPH OF ONE-TO-ONE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every </a:t>
            </a:r>
            <a:r>
              <a:rPr lang="en-US" b="1" dirty="0" smtClean="0">
                <a:solidFill>
                  <a:srgbClr val="C00000"/>
                </a:solidFill>
              </a:rPr>
              <a:t>horizontal line </a:t>
            </a:r>
            <a:r>
              <a:rPr lang="en-US" dirty="0" smtClean="0"/>
              <a:t>intersects the </a:t>
            </a:r>
            <a:r>
              <a:rPr lang="en-US" b="1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in </a:t>
            </a:r>
            <a:r>
              <a:rPr lang="en-US" b="1" dirty="0" smtClean="0">
                <a:solidFill>
                  <a:srgbClr val="C00000"/>
                </a:solidFill>
              </a:rPr>
              <a:t>at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most one point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19200"/>
            <a:ext cx="8382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ALTERNATIVE DEFINITION OF ONE-TO-ONE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Y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00000"/>
                </a:solidFill>
              </a:rPr>
              <a:t>one-to-one </a:t>
            </a:r>
            <a:r>
              <a:rPr lang="en-US" dirty="0" smtClean="0"/>
              <a:t>if, and only if, 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IF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endParaRPr lang="en-US" dirty="0" smtClean="0"/>
          </a:p>
          <a:p>
            <a:r>
              <a:rPr lang="en-US" dirty="0" smtClean="0"/>
              <a:t>The contra-positive of definition is: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If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then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=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 </a:t>
            </a:r>
          </a:p>
          <a:p>
            <a:pPr>
              <a:buNone/>
            </a:pP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If the </a:t>
            </a:r>
            <a:r>
              <a:rPr lang="en-US" dirty="0" err="1" smtClean="0"/>
              <a:t>contrapositive</a:t>
            </a:r>
            <a:r>
              <a:rPr lang="en-US" dirty="0" smtClean="0"/>
              <a:t> of the definition is also satisfied then the function is also one-to-one.</a:t>
            </a:r>
          </a:p>
          <a:p>
            <a:pPr>
              <a:buNone/>
            </a:pP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aseline="-25000" dirty="0" smtClean="0">
                <a:solidFill>
                  <a:srgbClr val="C00000"/>
                </a:solidFill>
              </a:rPr>
              <a:t>	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R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/>
              <a:t>R by the rule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4x-1</a:t>
            </a:r>
            <a:r>
              <a:rPr lang="en-US" dirty="0" smtClean="0"/>
              <a:t>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f one to one</a:t>
            </a:r>
            <a:r>
              <a:rPr lang="en-US" dirty="0" smtClean="0"/>
              <a:t>? </a:t>
            </a:r>
          </a:p>
          <a:p>
            <a:endParaRPr lang="en-US" dirty="0" smtClean="0"/>
          </a:p>
          <a:p>
            <a:r>
              <a:rPr lang="en-US" dirty="0" smtClean="0"/>
              <a:t>Prove or give a </a:t>
            </a:r>
            <a:r>
              <a:rPr lang="en-US" b="1" dirty="0" smtClean="0">
                <a:solidFill>
                  <a:srgbClr val="C00000"/>
                </a:solidFill>
              </a:rPr>
              <a:t>counter example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have to prove the implication.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If 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 </a:t>
            </a:r>
            <a:r>
              <a:rPr lang="en-US" dirty="0" smtClean="0"/>
              <a:t>then</a:t>
            </a:r>
            <a:r>
              <a:rPr lang="en-US" dirty="0" smtClean="0">
                <a:solidFill>
                  <a:srgbClr val="C00000"/>
                </a:solidFill>
              </a:rPr>
              <a:t> 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=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</a:t>
            </a:r>
          </a:p>
          <a:p>
            <a:pPr>
              <a:buNone/>
            </a:pP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First we suppose that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</a:p>
          <a:p>
            <a:pPr>
              <a:buNone/>
            </a:pPr>
            <a:r>
              <a:rPr lang="en-US" dirty="0" smtClean="0"/>
              <a:t>	then we will show that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=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1,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 such that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    </a:t>
            </a:r>
            <a:r>
              <a:rPr lang="en-US" dirty="0" smtClean="0"/>
              <a:t>4x</a:t>
            </a:r>
            <a:r>
              <a:rPr lang="en-US" baseline="-25000" dirty="0" smtClean="0"/>
              <a:t>1</a:t>
            </a:r>
            <a:r>
              <a:rPr lang="en-US" dirty="0" smtClean="0"/>
              <a:t> - 1 = 4 x</a:t>
            </a:r>
            <a:r>
              <a:rPr lang="en-US" baseline="-25000" dirty="0" smtClean="0"/>
              <a:t>2</a:t>
            </a:r>
            <a:r>
              <a:rPr lang="en-US" dirty="0" smtClean="0"/>
              <a:t> – 1	(</a:t>
            </a:r>
            <a:r>
              <a:rPr lang="en-US" dirty="0" smtClean="0">
                <a:solidFill>
                  <a:srgbClr val="C00000"/>
                </a:solidFill>
              </a:rPr>
              <a:t>by definition of f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</a:t>
            </a:r>
            <a:r>
              <a:rPr lang="en-US" dirty="0" smtClean="0"/>
              <a:t>       4 x</a:t>
            </a:r>
            <a:r>
              <a:rPr lang="en-US" baseline="-25000" dirty="0" smtClean="0"/>
              <a:t>1</a:t>
            </a:r>
            <a:r>
              <a:rPr lang="en-US" dirty="0" smtClean="0"/>
              <a:t> = 4 x</a:t>
            </a:r>
            <a:r>
              <a:rPr lang="en-US" baseline="-25000" dirty="0" smtClean="0"/>
              <a:t>2</a:t>
            </a:r>
            <a:r>
              <a:rPr lang="en-US" dirty="0" smtClean="0"/>
              <a:t>	   (</a:t>
            </a:r>
            <a:r>
              <a:rPr lang="en-US" dirty="0" smtClean="0">
                <a:solidFill>
                  <a:srgbClr val="C00000"/>
                </a:solidFill>
              </a:rPr>
              <a:t>adding 1 to both sides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</a:t>
            </a:r>
            <a:r>
              <a:rPr lang="en-US" dirty="0" smtClean="0"/>
              <a:t>          x</a:t>
            </a:r>
            <a:r>
              <a:rPr lang="en-US" baseline="-25000" dirty="0" smtClean="0"/>
              <a:t>1</a:t>
            </a:r>
            <a:r>
              <a:rPr lang="en-US" dirty="0" smtClean="0"/>
              <a:t> = x</a:t>
            </a:r>
            <a:r>
              <a:rPr lang="en-US" baseline="-25000" dirty="0" smtClean="0"/>
              <a:t>2</a:t>
            </a:r>
            <a:r>
              <a:rPr lang="en-US" dirty="0" smtClean="0"/>
              <a:t> 	 (</a:t>
            </a:r>
            <a:r>
              <a:rPr lang="en-US" dirty="0" smtClean="0">
                <a:solidFill>
                  <a:srgbClr val="C00000"/>
                </a:solidFill>
              </a:rPr>
              <a:t>dividing both sides by 4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Thus we have shown that if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Therefore,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: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 Z by the rule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  g(n)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for all 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Z                        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      Is </a:t>
            </a:r>
            <a:r>
              <a:rPr lang="en-US" dirty="0" smtClean="0">
                <a:solidFill>
                  <a:srgbClr val="C00000"/>
                </a:solidFill>
              </a:rPr>
              <a:t>g one-to-one</a:t>
            </a:r>
            <a:r>
              <a:rPr lang="en-US" dirty="0" smtClean="0"/>
              <a:t>?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Prove</a:t>
            </a:r>
            <a:r>
              <a:rPr lang="en-US" dirty="0" smtClean="0"/>
              <a:t> or give a counter example.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Z </a:t>
            </a:r>
            <a:r>
              <a:rPr lang="en-US" dirty="0" smtClean="0"/>
              <a:t>and suppose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g(n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g(n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               	    n</a:t>
            </a:r>
            <a:r>
              <a:rPr lang="en-US" baseline="-25000" dirty="0" smtClean="0"/>
              <a:t>1</a:t>
            </a:r>
            <a:r>
              <a:rPr lang="en-US" baseline="30000" dirty="0" smtClean="0"/>
              <a:t>2</a:t>
            </a:r>
            <a:r>
              <a:rPr lang="en-US" dirty="0" smtClean="0"/>
              <a:t> = n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2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(by definition of g)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</a:t>
            </a:r>
            <a:r>
              <a:rPr lang="pt-BR" dirty="0" smtClean="0"/>
              <a:t>	 either	 n</a:t>
            </a:r>
            <a:r>
              <a:rPr lang="pt-BR" baseline="-25000" dirty="0" smtClean="0"/>
              <a:t>1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C00000"/>
                </a:solidFill>
              </a:rPr>
              <a:t>+</a:t>
            </a:r>
            <a:r>
              <a:rPr lang="pt-BR" dirty="0" smtClean="0"/>
              <a:t> n</a:t>
            </a:r>
            <a:r>
              <a:rPr lang="pt-BR" baseline="-25000" dirty="0" smtClean="0"/>
              <a:t>2</a:t>
            </a:r>
            <a:r>
              <a:rPr lang="pt-BR" dirty="0" smtClean="0"/>
              <a:t>     or	  n</a:t>
            </a:r>
            <a:r>
              <a:rPr lang="pt-BR" baseline="-25000" dirty="0" smtClean="0"/>
              <a:t>1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C00000"/>
                </a:solidFill>
              </a:rPr>
              <a:t>-</a:t>
            </a:r>
            <a:r>
              <a:rPr lang="pt-BR" dirty="0" smtClean="0"/>
              <a:t> n</a:t>
            </a:r>
            <a:r>
              <a:rPr lang="pt-BR" baseline="-25000" dirty="0" smtClean="0"/>
              <a:t>2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Thus </a:t>
            </a:r>
            <a:r>
              <a:rPr lang="en-US" dirty="0" smtClean="0">
                <a:solidFill>
                  <a:srgbClr val="C00000"/>
                </a:solidFill>
              </a:rPr>
              <a:t>g(n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g(n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/>
              <a:t>				 does not imply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always.</a:t>
            </a:r>
          </a:p>
          <a:p>
            <a:r>
              <a:rPr lang="en-US" u="sng" dirty="0" smtClean="0">
                <a:solidFill>
                  <a:srgbClr val="C00000"/>
                </a:solidFill>
              </a:rPr>
              <a:t>COUNTER EXAMPLE: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2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. 	Then </a:t>
            </a:r>
          </a:p>
          <a:p>
            <a:pPr>
              <a:buNone/>
            </a:pPr>
            <a:r>
              <a:rPr lang="en-US" dirty="0" smtClean="0"/>
              <a:t>	                      g(n</a:t>
            </a:r>
            <a:r>
              <a:rPr lang="en-US" baseline="-25000" dirty="0" smtClean="0"/>
              <a:t>1</a:t>
            </a:r>
            <a:r>
              <a:rPr lang="en-US" dirty="0" smtClean="0"/>
              <a:t>) = g(2) = 2</a:t>
            </a:r>
            <a:r>
              <a:rPr lang="en-US" baseline="30000" dirty="0" smtClean="0"/>
              <a:t>2</a:t>
            </a:r>
            <a:r>
              <a:rPr lang="en-US" dirty="0" smtClean="0"/>
              <a:t> = 4	</a:t>
            </a:r>
          </a:p>
          <a:p>
            <a:pPr>
              <a:buNone/>
            </a:pPr>
            <a:r>
              <a:rPr lang="en-US" dirty="0" smtClean="0"/>
              <a:t>			     g(n</a:t>
            </a:r>
            <a:r>
              <a:rPr lang="en-US" baseline="-25000" dirty="0" smtClean="0"/>
              <a:t>2</a:t>
            </a:r>
            <a:r>
              <a:rPr lang="en-US" dirty="0" smtClean="0"/>
              <a:t>) = g(-2) = (-2)</a:t>
            </a:r>
            <a:r>
              <a:rPr lang="en-US" baseline="30000" dirty="0" smtClean="0"/>
              <a:t> 2</a:t>
            </a:r>
            <a:r>
              <a:rPr lang="en-US" dirty="0" smtClean="0"/>
              <a:t> = 4</a:t>
            </a:r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dirty="0" smtClean="0">
                <a:solidFill>
                  <a:srgbClr val="C00000"/>
                </a:solidFill>
              </a:rPr>
              <a:t>g(2) = g(-2) </a:t>
            </a:r>
            <a:r>
              <a:rPr lang="en-US" dirty="0" smtClean="0"/>
              <a:t>where as </a:t>
            </a:r>
            <a:r>
              <a:rPr lang="en-US" dirty="0" smtClean="0">
                <a:solidFill>
                  <a:srgbClr val="C00000"/>
                </a:solidFill>
              </a:rPr>
              <a:t>2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-2</a:t>
            </a:r>
            <a:r>
              <a:rPr lang="en-US" dirty="0" smtClean="0"/>
              <a:t> and so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not one-to-one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SURJECTIVE FUNCTION /ONTO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be a </a:t>
            </a:r>
            <a:r>
              <a:rPr lang="en-US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if, and only </a:t>
            </a:r>
            <a:r>
              <a:rPr lang="en-US" smtClean="0"/>
              <a:t>if,</a:t>
            </a:r>
            <a:endParaRPr lang="en-US" dirty="0" smtClean="0">
              <a:sym typeface="Times New Roman"/>
            </a:endParaRPr>
          </a:p>
          <a:p>
            <a:pPr>
              <a:buNone/>
            </a:pPr>
            <a:r>
              <a:rPr lang="en-US" dirty="0" smtClean="0">
                <a:sym typeface="Times New Roman"/>
              </a:rPr>
              <a:t>	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 </a:t>
            </a:r>
            <a:r>
              <a:rPr lang="en-US" dirty="0" smtClean="0"/>
              <a:t>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Y,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</a:t>
            </a:r>
            <a:r>
              <a:rPr lang="en-US" dirty="0" smtClean="0"/>
              <a:t> 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X such that </a:t>
            </a:r>
            <a:r>
              <a:rPr lang="en-US" dirty="0" smtClean="0">
                <a:solidFill>
                  <a:srgbClr val="C00000"/>
                </a:solidFill>
              </a:rPr>
              <a:t>f(x) = y.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That is, f is onto if </a:t>
            </a:r>
            <a:r>
              <a:rPr lang="en-US" dirty="0" smtClean="0">
                <a:solidFill>
                  <a:srgbClr val="C00000"/>
                </a:solidFill>
              </a:rPr>
              <a:t>every element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some element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 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That is,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if </a:t>
            </a:r>
            <a:r>
              <a:rPr lang="en-US" dirty="0" smtClean="0">
                <a:solidFill>
                  <a:srgbClr val="C00000"/>
                </a:solidFill>
              </a:rPr>
              <a:t>every element </a:t>
            </a:r>
            <a:r>
              <a:rPr lang="en-US" dirty="0" smtClean="0"/>
              <a:t>of its </a:t>
            </a:r>
            <a:r>
              <a:rPr lang="en-US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some element(s) </a:t>
            </a:r>
            <a:r>
              <a:rPr lang="en-US" dirty="0" smtClean="0"/>
              <a:t>of its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smtClean="0"/>
              <a:t>			i.e</a:t>
            </a:r>
            <a:r>
              <a:rPr lang="en-US" dirty="0" smtClean="0"/>
              <a:t>., co-domain of </a:t>
            </a:r>
            <a:r>
              <a:rPr lang="en-US" dirty="0" smtClean="0">
                <a:solidFill>
                  <a:srgbClr val="C00000"/>
                </a:solidFill>
              </a:rPr>
              <a:t>f = range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362200"/>
            <a:ext cx="7315200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 NOT ONTO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function </a:t>
            </a:r>
            <a:r>
              <a:rPr lang="en-US" dirty="0" smtClean="0">
                <a:solidFill>
                  <a:srgbClr val="C00000"/>
                </a:solidFill>
              </a:rPr>
              <a:t>f:</a:t>
            </a:r>
            <a:r>
              <a:rPr lang="en-US" dirty="0" smtClean="0"/>
              <a:t>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is </a:t>
            </a:r>
            <a:r>
              <a:rPr lang="en-US" dirty="0" smtClean="0">
                <a:solidFill>
                  <a:srgbClr val="C00000"/>
                </a:solidFill>
              </a:rPr>
              <a:t>not onto </a:t>
            </a:r>
            <a:r>
              <a:rPr lang="en-US" dirty="0" err="1" smtClean="0"/>
              <a:t>iff</a:t>
            </a:r>
            <a:r>
              <a:rPr lang="en-US" dirty="0" smtClean="0"/>
              <a:t> there </a:t>
            </a:r>
            <a:r>
              <a:rPr lang="en-US" dirty="0" smtClean="0">
                <a:solidFill>
                  <a:srgbClr val="C00000"/>
                </a:solidFill>
              </a:rPr>
              <a:t>exists</a:t>
            </a:r>
            <a:r>
              <a:rPr lang="en-US" dirty="0" smtClean="0"/>
              <a:t>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Y such that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X, f(x) </a:t>
            </a:r>
            <a:r>
              <a:rPr lang="en-US" dirty="0" smtClean="0">
                <a:solidFill>
                  <a:srgbClr val="C00000"/>
                </a:solidFill>
              </a:rPr>
              <a:t>≠</a:t>
            </a:r>
            <a:r>
              <a:rPr lang="en-US" dirty="0" smtClean="0"/>
              <a:t> y. </a:t>
            </a:r>
          </a:p>
          <a:p>
            <a:endParaRPr lang="en-US" dirty="0" smtClean="0"/>
          </a:p>
          <a:p>
            <a:r>
              <a:rPr lang="en-US" dirty="0" smtClean="0"/>
              <a:t>That is, there is </a:t>
            </a:r>
            <a:r>
              <a:rPr lang="en-US" dirty="0" smtClean="0">
                <a:solidFill>
                  <a:srgbClr val="C00000"/>
                </a:solidFill>
              </a:rPr>
              <a:t>some element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that is not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any element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429000"/>
            <a:ext cx="6705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of the </a:t>
            </a:r>
            <a:r>
              <a:rPr lang="en-US" b="1" dirty="0" smtClean="0">
                <a:solidFill>
                  <a:srgbClr val="C00000"/>
                </a:solidFill>
              </a:rPr>
              <a:t>arrow diagrams </a:t>
            </a:r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onto functions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828800"/>
            <a:ext cx="6705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/>
              <a:t>SOLUTION: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not onto </a:t>
            </a:r>
            <a:r>
              <a:rPr lang="en-US" dirty="0" smtClean="0"/>
              <a:t>because </a:t>
            </a:r>
            <a:r>
              <a:rPr lang="en-US" dirty="0" smtClean="0">
                <a:solidFill>
                  <a:srgbClr val="C00000"/>
                </a:solidFill>
              </a:rPr>
              <a:t>3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f(x) </a:t>
            </a:r>
            <a:r>
              <a:rPr lang="en-US" dirty="0" smtClean="0"/>
              <a:t>for any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  (3 an element which is not image of any element of set X)	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g </a:t>
            </a:r>
            <a:r>
              <a:rPr lang="en-US" dirty="0" smtClean="0"/>
              <a:t>is clearly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because </a:t>
            </a:r>
            <a:r>
              <a:rPr lang="en-US" b="1" dirty="0" smtClean="0">
                <a:solidFill>
                  <a:srgbClr val="C00000"/>
                </a:solidFill>
              </a:rPr>
              <a:t>each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 Y </a:t>
            </a:r>
            <a:r>
              <a:rPr lang="en-US" dirty="0" smtClean="0"/>
              <a:t>equals </a:t>
            </a:r>
            <a:r>
              <a:rPr lang="en-US" b="1" dirty="0" smtClean="0">
                <a:solidFill>
                  <a:srgbClr val="C00000"/>
                </a:solidFill>
              </a:rPr>
              <a:t>g(x)</a:t>
            </a:r>
            <a:r>
              <a:rPr lang="en-US" dirty="0" smtClean="0"/>
              <a:t> for </a:t>
            </a:r>
            <a:r>
              <a:rPr lang="en-US" b="1" dirty="0" smtClean="0">
                <a:solidFill>
                  <a:srgbClr val="C00000"/>
                </a:solidFill>
              </a:rPr>
              <a:t>some x</a:t>
            </a:r>
            <a:r>
              <a:rPr lang="en-US" dirty="0" smtClean="0"/>
              <a:t> in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 (co-domain all elements are images of some elements of domain)</a:t>
            </a:r>
          </a:p>
          <a:p>
            <a:pPr>
              <a:buNone/>
            </a:pPr>
            <a:r>
              <a:rPr lang="en-US" dirty="0" smtClean="0"/>
              <a:t>	as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g(c)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g(d)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g(a)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g(b)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R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/>
              <a:t>R by the rule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4x-1</a:t>
            </a:r>
            <a:r>
              <a:rPr lang="en-US" dirty="0" smtClean="0"/>
              <a:t>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f onto</a:t>
            </a:r>
            <a:r>
              <a:rPr lang="en-US" dirty="0" smtClean="0"/>
              <a:t>? </a:t>
            </a:r>
          </a:p>
          <a:p>
            <a:endParaRPr lang="en-US" dirty="0" smtClean="0"/>
          </a:p>
          <a:p>
            <a:r>
              <a:rPr lang="en-US" dirty="0" smtClean="0"/>
              <a:t>Prove or give a </a:t>
            </a:r>
            <a:r>
              <a:rPr lang="en-US" b="1" dirty="0" smtClean="0">
                <a:solidFill>
                  <a:srgbClr val="C00000"/>
                </a:solidFill>
              </a:rPr>
              <a:t>counter example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We search for an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 R </a:t>
            </a:r>
            <a:r>
              <a:rPr lang="en-US" dirty="0" smtClean="0"/>
              <a:t>such that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y</a:t>
            </a:r>
          </a:p>
          <a:p>
            <a:pPr>
              <a:buNone/>
            </a:pPr>
            <a:r>
              <a:rPr lang="en-US" dirty="0" smtClean="0"/>
              <a:t>		or	4x-1 = y		</a:t>
            </a:r>
            <a:r>
              <a:rPr lang="en-US" dirty="0" smtClean="0">
                <a:solidFill>
                  <a:srgbClr val="C00000"/>
                </a:solidFill>
              </a:rPr>
              <a:t>(by definition of f)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Solving it for x, we find  </a:t>
            </a:r>
          </a:p>
          <a:p>
            <a:pPr>
              <a:buNone/>
            </a:pPr>
            <a:r>
              <a:rPr lang="en-US" dirty="0" smtClean="0"/>
              <a:t>				4x=y+1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3352798" y="4648199"/>
          <a:ext cx="1600201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r:id="rId4" imgW="825480" imgH="393480" progId="">
                  <p:embed/>
                </p:oleObj>
              </mc:Choice>
              <mc:Fallback>
                <p:oleObj r:id="rId4" imgW="8254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798" y="4648199"/>
                        <a:ext cx="1600201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Hence for every 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, there exists  </a:t>
            </a:r>
          </a:p>
          <a:p>
            <a:pPr>
              <a:buNone/>
            </a:pPr>
            <a:r>
              <a:rPr lang="en-US" dirty="0" smtClean="0"/>
              <a:t>                                                    </a:t>
            </a:r>
          </a:p>
          <a:p>
            <a:pPr>
              <a:buNone/>
            </a:pPr>
            <a:r>
              <a:rPr lang="en-US" dirty="0" smtClean="0"/>
              <a:t>						such that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3217632" y="1905000"/>
          <a:ext cx="1597742" cy="946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r:id="rId3" imgW="825480" imgH="393480" progId="">
                  <p:embed/>
                </p:oleObj>
              </mc:Choice>
              <mc:Fallback>
                <p:oleObj r:id="rId3" imgW="8254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632" y="1905000"/>
                        <a:ext cx="1597742" cy="946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3082415" y="2895598"/>
          <a:ext cx="2070849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r:id="rId5" imgW="1066680" imgH="431640" progId="">
                  <p:embed/>
                </p:oleObj>
              </mc:Choice>
              <mc:Fallback>
                <p:oleObj r:id="rId5" imgW="106668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415" y="2895598"/>
                        <a:ext cx="2070849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3048000" y="3962400"/>
          <a:ext cx="3953436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r:id="rId7" imgW="1866600" imgH="431640" progId="">
                  <p:embed/>
                </p:oleObj>
              </mc:Choice>
              <mc:Fallback>
                <p:oleObj r:id="rId7" imgW="186660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62400"/>
                        <a:ext cx="3953436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895600" y="51054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Hence</a:t>
            </a:r>
            <a:r>
              <a:rPr lang="en-US" sz="2400" b="1" dirty="0" smtClean="0">
                <a:solidFill>
                  <a:srgbClr val="C00000"/>
                </a:solidFill>
              </a:rPr>
              <a:t> f</a:t>
            </a:r>
            <a:r>
              <a:rPr lang="en-US" sz="2400" b="1" dirty="0" smtClean="0">
                <a:solidFill>
                  <a:schemeClr val="tx1"/>
                </a:solidFill>
              </a:rPr>
              <a:t> is </a:t>
            </a:r>
            <a:r>
              <a:rPr lang="en-US" sz="2400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.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: Z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/>
              <a:t>Z by the rule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pt-BR" b="1" dirty="0" smtClean="0">
                <a:solidFill>
                  <a:srgbClr val="C00000"/>
                </a:solidFill>
              </a:rPr>
              <a:t>h(n) = 4n - 1 </a:t>
            </a:r>
            <a:r>
              <a:rPr lang="pt-BR" dirty="0" smtClean="0"/>
              <a:t>for all n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/>
              <a:t> Z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Is </a:t>
            </a:r>
            <a:r>
              <a:rPr lang="en-US" b="1" dirty="0" smtClean="0">
                <a:solidFill>
                  <a:srgbClr val="C00000"/>
                </a:solidFill>
              </a:rPr>
              <a:t>h onto</a:t>
            </a:r>
            <a:r>
              <a:rPr lang="en-US" dirty="0" smtClean="0"/>
              <a:t>?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Prove or give a</a:t>
            </a:r>
            <a:r>
              <a:rPr lang="en-US" dirty="0" smtClean="0">
                <a:solidFill>
                  <a:srgbClr val="C00000"/>
                </a:solidFill>
              </a:rPr>
              <a:t> counter </a:t>
            </a:r>
            <a:r>
              <a:rPr lang="en-US" dirty="0" smtClean="0"/>
              <a:t>example.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m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.  We search for an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Z </a:t>
            </a:r>
            <a:r>
              <a:rPr lang="en-US" dirty="0" smtClean="0"/>
              <a:t>such that</a:t>
            </a:r>
          </a:p>
          <a:p>
            <a:pPr>
              <a:buNone/>
            </a:pPr>
            <a:r>
              <a:rPr lang="en-US" dirty="0" smtClean="0"/>
              <a:t>			 	</a:t>
            </a:r>
            <a:r>
              <a:rPr lang="en-US" dirty="0" smtClean="0">
                <a:solidFill>
                  <a:srgbClr val="C00000"/>
                </a:solidFill>
              </a:rPr>
              <a:t>h(n) = 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or      4n - 1 = m	 </a:t>
            </a:r>
            <a:r>
              <a:rPr lang="en-US" dirty="0" smtClean="0">
                <a:solidFill>
                  <a:srgbClr val="C00000"/>
                </a:solidFill>
              </a:rPr>
              <a:t>(by definition of h)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Solving it for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, we find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                    is not always an integer for all m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Z.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769" name="Object 1"/>
          <p:cNvGraphicFramePr>
            <a:graphicFrameLocks noChangeAspect="1"/>
          </p:cNvGraphicFramePr>
          <p:nvPr/>
        </p:nvGraphicFramePr>
        <p:xfrm>
          <a:off x="4038600" y="3429000"/>
          <a:ext cx="1682494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r:id="rId3" imgW="596641" imgH="393529" progId="">
                  <p:embed/>
                </p:oleObj>
              </mc:Choice>
              <mc:Fallback>
                <p:oleObj r:id="rId3" imgW="596641" imgH="393529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429000"/>
                        <a:ext cx="1682494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1546472" y="4419600"/>
          <a:ext cx="1501528" cy="791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r:id="rId5" imgW="596641" imgH="393529" progId="">
                  <p:embed/>
                </p:oleObj>
              </mc:Choice>
              <mc:Fallback>
                <p:oleObj r:id="rId5" imgW="596641" imgH="39352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472" y="4419600"/>
                        <a:ext cx="1501528" cy="7914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m = 3 </a:t>
            </a:r>
            <a:r>
              <a:rPr lang="en-US" dirty="0" smtClean="0"/>
              <a:t>then</a:t>
            </a:r>
          </a:p>
          <a:p>
            <a:pPr>
              <a:buNone/>
            </a:pPr>
            <a:r>
              <a:rPr lang="en-US" dirty="0" smtClean="0"/>
              <a:t>					    </a:t>
            </a:r>
            <a:r>
              <a:rPr lang="en-US" dirty="0" smtClean="0">
                <a:solidFill>
                  <a:srgbClr val="C00000"/>
                </a:solidFill>
              </a:rPr>
              <a:t>integer</a:t>
            </a:r>
          </a:p>
          <a:p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m = 5 </a:t>
            </a:r>
            <a:r>
              <a:rPr lang="en-US" dirty="0" smtClean="0"/>
              <a:t>then</a:t>
            </a:r>
          </a:p>
          <a:p>
            <a:pPr>
              <a:buNone/>
            </a:pPr>
            <a:r>
              <a:rPr lang="en-US" dirty="0" smtClean="0"/>
              <a:t>					     </a:t>
            </a:r>
            <a:r>
              <a:rPr lang="en-US" dirty="0" smtClean="0">
                <a:solidFill>
                  <a:srgbClr val="C00000"/>
                </a:solidFill>
              </a:rPr>
              <a:t>not an integer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r>
              <a:rPr lang="en-US" dirty="0" smtClean="0"/>
              <a:t>As a </a:t>
            </a:r>
            <a:r>
              <a:rPr lang="en-US" b="1" dirty="0" smtClean="0">
                <a:solidFill>
                  <a:srgbClr val="C00000"/>
                </a:solidFill>
              </a:rPr>
              <a:t>counter example</a:t>
            </a:r>
            <a:r>
              <a:rPr lang="en-US" dirty="0" smtClean="0"/>
              <a:t>, let </a:t>
            </a:r>
            <a:r>
              <a:rPr lang="en-US" dirty="0" smtClean="0">
                <a:solidFill>
                  <a:srgbClr val="C00000"/>
                </a:solidFill>
              </a:rPr>
              <a:t>m = 0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Z, then</a:t>
            </a:r>
          </a:p>
          <a:p>
            <a:pPr>
              <a:buNone/>
            </a:pPr>
            <a:r>
              <a:rPr lang="pt-BR" dirty="0" smtClean="0"/>
              <a:t>				h(n)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pt-BR" dirty="0" smtClean="0"/>
              <a:t>	4n-1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pt-BR" dirty="0" smtClean="0"/>
              <a:t>	4n = 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/>
              <a:t>	Hence there is </a:t>
            </a:r>
            <a:r>
              <a:rPr lang="pt-BR" dirty="0" smtClean="0">
                <a:solidFill>
                  <a:srgbClr val="C00000"/>
                </a:solidFill>
              </a:rPr>
              <a:t>no integer </a:t>
            </a:r>
            <a:r>
              <a:rPr lang="pt-BR" dirty="0" smtClean="0"/>
              <a:t>n for which </a:t>
            </a:r>
            <a:r>
              <a:rPr lang="pt-BR" dirty="0" smtClean="0">
                <a:solidFill>
                  <a:srgbClr val="C00000"/>
                </a:solidFill>
              </a:rPr>
              <a:t>h(n) = 0</a:t>
            </a:r>
            <a:r>
              <a:rPr lang="pt-BR" dirty="0" smtClean="0"/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Accordingly, </a:t>
            </a:r>
            <a:r>
              <a:rPr lang="en-US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not onto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959512" y="1386348"/>
          <a:ext cx="1482216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5" imgW="850680" imgH="393480" progId="Equation.3">
                  <p:embed/>
                </p:oleObj>
              </mc:Choice>
              <mc:Fallback>
                <p:oleObj name="Equation" r:id="rId5" imgW="8506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512" y="1386348"/>
                        <a:ext cx="1482216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95600" y="2362200"/>
          <a:ext cx="16002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Equation" r:id="rId7" imgW="634680" imgH="393480" progId="Equation.3">
                  <p:embed/>
                </p:oleObj>
              </mc:Choice>
              <mc:Fallback>
                <p:oleObj name="Equation" r:id="rId7" imgW="63468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362200"/>
                        <a:ext cx="16002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3276600" y="4495800"/>
          <a:ext cx="1600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r:id="rId9" imgW="622030" imgH="393529" progId="">
                  <p:embed/>
                </p:oleObj>
              </mc:Choice>
              <mc:Fallback>
                <p:oleObj r:id="rId9" imgW="622030" imgH="393529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495800"/>
                        <a:ext cx="1600200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GRAPH OF ONTO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229600" cy="4937760"/>
          </a:xfrm>
        </p:spPr>
        <p:txBody>
          <a:bodyPr/>
          <a:lstStyle/>
          <a:p>
            <a:r>
              <a:rPr lang="en-US" dirty="0" smtClean="0"/>
              <a:t>A graph of a function </a:t>
            </a: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</a:t>
            </a:r>
            <a:r>
              <a:rPr lang="en-US" b="1" dirty="0" smtClean="0">
                <a:solidFill>
                  <a:srgbClr val="C00000"/>
                </a:solidFill>
              </a:rPr>
              <a:t> onto </a:t>
            </a:r>
            <a:r>
              <a:rPr lang="en-US" dirty="0" err="1" smtClean="0"/>
              <a:t>iff</a:t>
            </a:r>
            <a:r>
              <a:rPr lang="en-US" dirty="0" smtClean="0"/>
              <a:t> every </a:t>
            </a:r>
            <a:r>
              <a:rPr lang="en-US" b="1" dirty="0" smtClean="0">
                <a:solidFill>
                  <a:srgbClr val="C00000"/>
                </a:solidFill>
              </a:rPr>
              <a:t>horizontal line </a:t>
            </a:r>
            <a:r>
              <a:rPr lang="en-US" dirty="0" smtClean="0"/>
              <a:t>intersects the graph in </a:t>
            </a:r>
            <a:r>
              <a:rPr lang="en-US" b="1" dirty="0" smtClean="0">
                <a:solidFill>
                  <a:srgbClr val="C00000"/>
                </a:solidFill>
              </a:rPr>
              <a:t>at least one point </a:t>
            </a:r>
            <a:r>
              <a:rPr lang="en-US" dirty="0" smtClean="0"/>
              <a:t>within the </a:t>
            </a:r>
            <a:r>
              <a:rPr lang="en-US" dirty="0" err="1" smtClean="0"/>
              <a:t>codomain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EXAMPLE</a:t>
            </a:r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514600"/>
            <a:ext cx="7391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{1, 5, 9}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{3, 4, 7}.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Define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by specifying that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g(1) = 7,	g(5) = 3,	g(9) = 4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Is g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? Is g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X = </a:t>
            </a:r>
            <a:r>
              <a:rPr lang="en-US" dirty="0" smtClean="0">
                <a:solidFill>
                  <a:srgbClr val="C00000"/>
                </a:solidFill>
              </a:rPr>
              <a:t>{1, 5, 9}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{3, 4, 7}.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olidFill>
                  <a:srgbClr val="00B050"/>
                </a:solidFill>
              </a:rPr>
              <a:t>g(1) = 7,	g(5) = 3,	g(9) = 4</a:t>
            </a:r>
          </a:p>
          <a:p>
            <a:pPr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g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because each of the </a:t>
            </a:r>
            <a:r>
              <a:rPr lang="en-US" b="1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C00000"/>
                </a:solidFill>
              </a:rPr>
              <a:t>mapped</a:t>
            </a:r>
            <a:r>
              <a:rPr lang="en-US" dirty="0" smtClean="0"/>
              <a:t> to a </a:t>
            </a:r>
            <a:r>
              <a:rPr lang="en-US" b="1" dirty="0" smtClean="0">
                <a:solidFill>
                  <a:srgbClr val="C00000"/>
                </a:solidFill>
              </a:rPr>
              <a:t>different elements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by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as well, because </a:t>
            </a:r>
            <a:r>
              <a:rPr lang="en-US" b="1" dirty="0" smtClean="0">
                <a:solidFill>
                  <a:srgbClr val="C00000"/>
                </a:solidFill>
              </a:rPr>
              <a:t>each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the </a:t>
            </a:r>
            <a:r>
              <a:rPr lang="en-US" b="1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some element </a:t>
            </a:r>
            <a:r>
              <a:rPr lang="en-US" dirty="0" smtClean="0"/>
              <a:t>of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7030A0"/>
                </a:solidFill>
              </a:rPr>
              <a:t>3 = g(5),	4 = g(9),	7 = g(1)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Determine if each of the </a:t>
            </a:r>
            <a:r>
              <a:rPr lang="en-US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 or </a:t>
            </a:r>
            <a:r>
              <a:rPr lang="en-US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a.	</a:t>
            </a:r>
            <a:r>
              <a:rPr lang="en-US" dirty="0" smtClean="0">
                <a:solidFill>
                  <a:srgbClr val="C00000"/>
                </a:solidFill>
              </a:rPr>
              <a:t>f:</a:t>
            </a:r>
            <a:r>
              <a:rPr lang="en-US" dirty="0" smtClean="0"/>
              <a:t>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Z+ define as </a:t>
            </a:r>
            <a:r>
              <a:rPr lang="en-US" dirty="0" smtClean="0">
                <a:solidFill>
                  <a:srgbClr val="C00000"/>
                </a:solidFill>
              </a:rPr>
              <a:t>f(x) = |x|</a:t>
            </a:r>
          </a:p>
          <a:p>
            <a:pPr>
              <a:buNone/>
            </a:pPr>
            <a:r>
              <a:rPr lang="en-US" dirty="0" smtClean="0"/>
              <a:t>	b.	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: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/>
              <a:t> Z+ defined as </a:t>
            </a:r>
            <a:r>
              <a:rPr lang="en-US" dirty="0" smtClean="0">
                <a:solidFill>
                  <a:srgbClr val="C00000"/>
                </a:solidFill>
              </a:rPr>
              <a:t>g(x)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(x, x+1)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b="1" dirty="0" smtClean="0"/>
              <a:t>is not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, because distinct element have same images.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f(1)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|1|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	and	</a:t>
            </a:r>
            <a:r>
              <a:rPr lang="en-US" dirty="0" smtClean="0">
                <a:solidFill>
                  <a:srgbClr val="C00000"/>
                </a:solidFill>
              </a:rPr>
              <a:t>f(-1)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|-1|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	i.e.,      </a:t>
            </a:r>
            <a:r>
              <a:rPr lang="en-US" dirty="0" smtClean="0">
                <a:solidFill>
                  <a:srgbClr val="C00000"/>
                </a:solidFill>
              </a:rPr>
              <a:t>f(1)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f(-1) </a:t>
            </a:r>
            <a:r>
              <a:rPr lang="en-US" dirty="0" smtClean="0"/>
              <a:t>	but	1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/>
              <a:t> -1</a:t>
            </a:r>
          </a:p>
          <a:p>
            <a:pPr>
              <a:buNone/>
            </a:pPr>
            <a:r>
              <a:rPr lang="en-US" sz="2400" i="1" dirty="0" smtClean="0"/>
              <a:t>	(clearly not onto, because distinct elements have same images)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, because for every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Z+, </a:t>
            </a:r>
          </a:p>
          <a:p>
            <a:pPr>
              <a:buNone/>
            </a:pPr>
            <a:r>
              <a:rPr lang="en-US" dirty="0" smtClean="0"/>
              <a:t>	there exist </a:t>
            </a:r>
            <a:r>
              <a:rPr lang="en-US" dirty="0" smtClean="0">
                <a:solidFill>
                  <a:srgbClr val="C00000"/>
                </a:solidFill>
              </a:rPr>
              <a:t>–a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+a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such that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f(-a)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|-a|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</a:p>
          <a:p>
            <a:pPr>
              <a:buNone/>
            </a:pPr>
            <a:r>
              <a:rPr lang="en-US" dirty="0" smtClean="0"/>
              <a:t>			and      </a:t>
            </a:r>
            <a:r>
              <a:rPr lang="en-US" dirty="0" smtClean="0">
                <a:solidFill>
                  <a:srgbClr val="C00000"/>
                </a:solidFill>
              </a:rPr>
              <a:t>f(a)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|a|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: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/>
              <a:t> Z+ 	defined as</a:t>
            </a:r>
          </a:p>
          <a:p>
            <a:pPr marL="514350" indent="-514350"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g(x)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(x, x+1)</a:t>
            </a:r>
          </a:p>
          <a:p>
            <a:pPr marL="514350" indent="-514350">
              <a:buNone/>
            </a:pPr>
            <a:r>
              <a:rPr lang="en-US" dirty="0" smtClean="0"/>
              <a:t>	Let         </a:t>
            </a:r>
            <a:r>
              <a:rPr lang="en-US" dirty="0" smtClean="0">
                <a:solidFill>
                  <a:srgbClr val="C00000"/>
                </a:solidFill>
              </a:rPr>
              <a:t>g(x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g(x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 for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   </a:t>
            </a:r>
            <a:r>
              <a:rPr lang="en-US" dirty="0" smtClean="0"/>
              <a:t>	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+1) = 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+1)	</a:t>
            </a:r>
            <a:r>
              <a:rPr lang="en-US" dirty="0" smtClean="0">
                <a:solidFill>
                  <a:srgbClr val="C00000"/>
                </a:solidFill>
              </a:rPr>
              <a:t>(by definition of g)</a:t>
            </a:r>
          </a:p>
          <a:p>
            <a:pPr marL="514350" indent="-514350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	 and 	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+ 1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+ 1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(by equality of ordered pairs)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 = 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Thus if g(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) = g(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) 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            Hence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not onto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because </a:t>
            </a:r>
            <a:r>
              <a:rPr lang="en-US" dirty="0" smtClean="0">
                <a:solidFill>
                  <a:srgbClr val="C00000"/>
                </a:solidFill>
              </a:rPr>
              <a:t>(1,1)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  <a:r>
              <a:rPr lang="en-US" dirty="0" smtClean="0"/>
              <a:t> is not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any </a:t>
            </a:r>
            <a:r>
              <a:rPr lang="en-US" dirty="0" smtClean="0">
                <a:solidFill>
                  <a:srgbClr val="C00000"/>
                </a:solidFill>
              </a:rPr>
              <a:t>element</a:t>
            </a:r>
            <a:r>
              <a:rPr lang="en-US" dirty="0" smtClean="0"/>
              <a:t> of Z+.</a:t>
            </a:r>
          </a:p>
          <a:p>
            <a:endParaRPr lang="en-US" dirty="0" smtClean="0"/>
          </a:p>
          <a:p>
            <a:r>
              <a:rPr lang="en-US" dirty="0" smtClean="0"/>
              <a:t>Counter Example: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= 1 </a:t>
            </a:r>
            <a:r>
              <a:rPr lang="en-US" dirty="0" smtClean="0"/>
              <a:t>then </a:t>
            </a:r>
            <a:r>
              <a:rPr lang="en-US" dirty="0" smtClean="0">
                <a:solidFill>
                  <a:srgbClr val="C00000"/>
                </a:solidFill>
              </a:rPr>
              <a:t>g(x) = (1, 2)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= 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g(x) = (2, 3)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= 3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g(x) = (3, 4)</a:t>
            </a:r>
            <a:r>
              <a:rPr lang="en-US" dirty="0" smtClean="0"/>
              <a:t> …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Clearly, (1,1), (2,2), (2,4) etc which are the elements of co-domain 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C00000"/>
                </a:solidFill>
              </a:rPr>
              <a:t>Z+ </a:t>
            </a:r>
            <a:r>
              <a:rPr lang="en-US" dirty="0" smtClean="0"/>
              <a:t>are not </a:t>
            </a:r>
            <a:r>
              <a:rPr lang="en-US" dirty="0" smtClean="0">
                <a:solidFill>
                  <a:srgbClr val="C00000"/>
                </a:solidFill>
              </a:rPr>
              <a:t>images </a:t>
            </a:r>
            <a:r>
              <a:rPr lang="en-US" dirty="0" smtClean="0"/>
              <a:t>of any</a:t>
            </a:r>
            <a:r>
              <a:rPr lang="en-US" dirty="0" smtClean="0">
                <a:solidFill>
                  <a:srgbClr val="C00000"/>
                </a:solidFill>
              </a:rPr>
              <a:t> elements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Z+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BIJECTIVE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that is both </a:t>
            </a:r>
            <a:r>
              <a:rPr lang="en-US" dirty="0" smtClean="0">
                <a:solidFill>
                  <a:srgbClr val="C00000"/>
                </a:solidFill>
              </a:rPr>
              <a:t>one-to-one (injective)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/>
              <a:t>) is called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C00000"/>
                </a:solidFill>
              </a:rPr>
              <a:t>one-to-one correspondence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590800"/>
            <a:ext cx="6477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defined by the </a:t>
            </a:r>
            <a:r>
              <a:rPr lang="en-US" dirty="0" smtClean="0">
                <a:solidFill>
                  <a:srgbClr val="C00000"/>
                </a:solidFill>
              </a:rPr>
              <a:t>arrow diagram </a:t>
            </a:r>
            <a:r>
              <a:rPr lang="en-US" dirty="0" smtClean="0"/>
              <a:t>is both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; hence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 function.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133600"/>
            <a:ext cx="5791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R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R be defined by the rule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³</a:t>
            </a:r>
            <a:r>
              <a:rPr lang="en-US" dirty="0" smtClean="0">
                <a:latin typeface="Arial"/>
                <a:cs typeface="Arial"/>
              </a:rPr>
              <a:t>.</a:t>
            </a:r>
          </a:p>
          <a:p>
            <a:pPr>
              <a:buNone/>
            </a:pPr>
            <a:r>
              <a:rPr lang="en-US" dirty="0" smtClean="0"/>
              <a:t>	Show that </a:t>
            </a:r>
            <a:r>
              <a:rPr lang="en-US" dirty="0" smtClean="0">
                <a:solidFill>
                  <a:srgbClr val="C00000"/>
                </a:solidFill>
              </a:rPr>
              <a:t>f i</a:t>
            </a:r>
            <a:r>
              <a:rPr lang="en-US" dirty="0" smtClean="0"/>
              <a:t>s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one-to-one correspondence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b="1" dirty="0" smtClean="0"/>
              <a:t>	SOLUTION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	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	for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³ </a:t>
            </a:r>
            <a:r>
              <a:rPr lang="en-US" dirty="0" smtClean="0"/>
              <a:t>= x</a:t>
            </a:r>
            <a:r>
              <a:rPr lang="en-US" baseline="-25000" dirty="0" smtClean="0"/>
              <a:t>2</a:t>
            </a:r>
            <a:r>
              <a:rPr lang="en-US" baseline="-25000" dirty="0" smtClean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³ 		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C00000"/>
                </a:solidFill>
              </a:rPr>
              <a:t>by definition of f(x))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³</a:t>
            </a:r>
            <a:r>
              <a:rPr lang="en-US" dirty="0" smtClean="0"/>
              <a:t> - x</a:t>
            </a:r>
            <a:r>
              <a:rPr lang="en-US" baseline="-25000" dirty="0" smtClean="0"/>
              <a:t>2</a:t>
            </a:r>
            <a:r>
              <a:rPr lang="en-US" dirty="0" smtClean="0">
                <a:latin typeface="Arial"/>
                <a:cs typeface="Arial"/>
              </a:rPr>
              <a:t>³</a:t>
            </a:r>
            <a:r>
              <a:rPr lang="en-US" dirty="0" smtClean="0"/>
              <a:t>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(x</a:t>
            </a:r>
            <a:r>
              <a:rPr lang="en-US" baseline="-25000" dirty="0" smtClean="0"/>
              <a:t>1</a:t>
            </a:r>
            <a:r>
              <a:rPr lang="en-US" dirty="0" smtClean="0"/>
              <a:t> -x</a:t>
            </a:r>
            <a:r>
              <a:rPr lang="en-US" baseline="-25000" dirty="0" smtClean="0"/>
              <a:t>2</a:t>
            </a:r>
            <a:r>
              <a:rPr lang="en-US" dirty="0" smtClean="0"/>
              <a:t>) (x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² </a:t>
            </a:r>
            <a:r>
              <a:rPr lang="en-US" dirty="0" smtClean="0"/>
              <a:t>+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>
                <a:latin typeface="Arial"/>
                <a:cs typeface="Arial"/>
              </a:rPr>
              <a:t>²</a:t>
            </a:r>
            <a:r>
              <a:rPr lang="en-US" dirty="0" smtClean="0"/>
              <a:t>)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x</a:t>
            </a:r>
            <a:r>
              <a:rPr lang="en-US" baseline="-25000" dirty="0" smtClean="0"/>
              <a:t>1</a:t>
            </a:r>
            <a:r>
              <a:rPr lang="en-US" dirty="0" smtClean="0"/>
              <a:t> - x</a:t>
            </a:r>
            <a:r>
              <a:rPr lang="en-US" baseline="-25000" dirty="0" smtClean="0"/>
              <a:t>2</a:t>
            </a:r>
            <a:r>
              <a:rPr lang="en-US" dirty="0" smtClean="0"/>
              <a:t> = 0	or	 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²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>
                <a:latin typeface="Arial"/>
                <a:cs typeface="Arial"/>
              </a:rPr>
              <a:t>² </a:t>
            </a:r>
            <a:r>
              <a:rPr lang="en-US" dirty="0" smtClean="0"/>
              <a:t>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x</a:t>
            </a:r>
            <a:r>
              <a:rPr lang="en-US" baseline="-25000" dirty="0" smtClean="0"/>
              <a:t>1</a:t>
            </a:r>
            <a:r>
              <a:rPr lang="en-US" dirty="0" smtClean="0"/>
              <a:t> = x</a:t>
            </a:r>
            <a:r>
              <a:rPr lang="en-US" baseline="-25000" dirty="0" smtClean="0"/>
              <a:t>2 </a:t>
            </a:r>
            <a:r>
              <a:rPr lang="en-US" dirty="0" smtClean="0"/>
              <a:t>(the second equation gives </a:t>
            </a:r>
            <a:r>
              <a:rPr lang="en-US" dirty="0" smtClean="0">
                <a:solidFill>
                  <a:srgbClr val="C00000"/>
                </a:solidFill>
              </a:rPr>
              <a:t>no real solution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		Accordingly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Let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R. We search for a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such that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f(x) = y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x</a:t>
            </a:r>
            <a:r>
              <a:rPr lang="en-US" dirty="0" smtClean="0">
                <a:latin typeface="Arial"/>
                <a:cs typeface="Arial"/>
              </a:rPr>
              <a:t>³</a:t>
            </a:r>
            <a:r>
              <a:rPr lang="en-US" dirty="0" smtClean="0"/>
              <a:t> = y		</a:t>
            </a:r>
            <a:r>
              <a:rPr lang="en-US" dirty="0" smtClean="0">
                <a:solidFill>
                  <a:srgbClr val="C00000"/>
                </a:solidFill>
              </a:rPr>
              <a:t>(by definition of f)</a:t>
            </a:r>
          </a:p>
          <a:p>
            <a:pPr>
              <a:buNone/>
            </a:pPr>
            <a:r>
              <a:rPr lang="en-US" dirty="0" smtClean="0"/>
              <a:t>	or	x </a:t>
            </a:r>
            <a:r>
              <a:rPr lang="en-US" dirty="0" smtClean="0">
                <a:solidFill>
                  <a:srgbClr val="C00000"/>
                </a:solidFill>
              </a:rPr>
              <a:t>=</a:t>
            </a:r>
            <a:r>
              <a:rPr lang="en-US" dirty="0" smtClean="0"/>
              <a:t> (y)</a:t>
            </a:r>
            <a:r>
              <a:rPr lang="en-US" dirty="0" smtClean="0">
                <a:latin typeface="Arial"/>
                <a:cs typeface="Arial"/>
              </a:rPr>
              <a:t>¹/³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for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C00000"/>
                </a:solidFill>
              </a:rPr>
              <a:t>x = (y)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¹/³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 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such that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f((y)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¹/³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/>
              <a:t>			       = </a:t>
            </a:r>
            <a:r>
              <a:rPr lang="en-US" dirty="0" smtClean="0">
                <a:solidFill>
                  <a:srgbClr val="C00000"/>
                </a:solidFill>
              </a:rPr>
              <a:t>((y)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¹/³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³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</a:p>
          <a:p>
            <a:pPr>
              <a:buNone/>
            </a:pPr>
            <a:r>
              <a:rPr lang="en-US" dirty="0" smtClean="0"/>
              <a:t>	Accordingly</a:t>
            </a:r>
            <a:r>
              <a:rPr lang="en-US" dirty="0" smtClean="0">
                <a:solidFill>
                  <a:srgbClr val="C00000"/>
                </a:solidFill>
              </a:rPr>
              <a:t> f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. Thus, f is a </a:t>
            </a:r>
            <a:r>
              <a:rPr lang="en-US" b="1" dirty="0" err="1" smtClean="0">
                <a:solidFill>
                  <a:srgbClr val="C00000"/>
                </a:solidFill>
              </a:rPr>
              <a:t>bijective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GRAPH OF BIJECTIVE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 is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every horizontal line intersects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C00000"/>
                </a:solidFill>
              </a:rPr>
              <a:t>exactly one point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438400"/>
            <a:ext cx="8077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916860" y="3657600"/>
            <a:ext cx="3276600" cy="1588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04572" y="5027612"/>
            <a:ext cx="3276600" cy="1588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IDENTITY FUNCTION ON 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a </a:t>
            </a:r>
            <a:r>
              <a:rPr lang="en-US" b="1" dirty="0" smtClean="0">
                <a:solidFill>
                  <a:srgbClr val="C00000"/>
                </a:solidFill>
              </a:rPr>
              <a:t>set X</a:t>
            </a:r>
            <a:r>
              <a:rPr lang="en-US" dirty="0" smtClean="0">
                <a:solidFill>
                  <a:srgbClr val="C00000"/>
                </a:solidFill>
              </a:rPr>
              <a:t>,</a:t>
            </a:r>
            <a:r>
              <a:rPr lang="en-US" dirty="0" smtClean="0"/>
              <a:t> define a </a:t>
            </a:r>
            <a:r>
              <a:rPr lang="en-US" b="1" dirty="0" smtClean="0">
                <a:solidFill>
                  <a:srgbClr val="C00000"/>
                </a:solidFill>
              </a:rPr>
              <a:t>function 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from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 by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b="1" dirty="0" smtClean="0">
                <a:solidFill>
                  <a:srgbClr val="C00000"/>
                </a:solidFill>
              </a:rPr>
              <a:t>(x) = x</a:t>
            </a:r>
            <a:r>
              <a:rPr lang="en-US" dirty="0" smtClean="0"/>
              <a:t>  from all </a:t>
            </a:r>
            <a:r>
              <a:rPr lang="en-US" b="1" dirty="0" smtClean="0">
                <a:solidFill>
                  <a:srgbClr val="C00000"/>
                </a:solidFill>
              </a:rPr>
              <a:t>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function 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called the </a:t>
            </a:r>
            <a:r>
              <a:rPr lang="en-US" b="1" dirty="0" smtClean="0">
                <a:solidFill>
                  <a:srgbClr val="C00000"/>
                </a:solidFill>
              </a:rPr>
              <a:t>identity function </a:t>
            </a:r>
            <a:r>
              <a:rPr lang="en-US" dirty="0" smtClean="0"/>
              <a:t>on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because it sends </a:t>
            </a:r>
            <a:r>
              <a:rPr lang="en-US" b="1" dirty="0" smtClean="0">
                <a:solidFill>
                  <a:srgbClr val="C00000"/>
                </a:solidFill>
              </a:rPr>
              <a:t>each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mapped to </a:t>
            </a:r>
            <a:r>
              <a:rPr lang="en-US" b="1" dirty="0" smtClean="0">
                <a:solidFill>
                  <a:srgbClr val="C00000"/>
                </a:solidFill>
              </a:rPr>
              <a:t>itself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{1, 2, 3, 4}.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identity function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on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represented by the </a:t>
            </a:r>
            <a:r>
              <a:rPr lang="en-US" dirty="0" smtClean="0">
                <a:solidFill>
                  <a:srgbClr val="C00000"/>
                </a:solidFill>
              </a:rPr>
              <a:t>arrow diagram.</a:t>
            </a:r>
          </a:p>
          <a:p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209800"/>
            <a:ext cx="55626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1676</TotalTime>
  <Words>878</Words>
  <Application>Microsoft Office PowerPoint</Application>
  <PresentationFormat>On-screen Show (4:3)</PresentationFormat>
  <Paragraphs>294</Paragraphs>
  <Slides>41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Origin</vt:lpstr>
      <vt:lpstr>Equation</vt:lpstr>
      <vt:lpstr>TYPES OF FUNCTIONS Lecture # 13</vt:lpstr>
      <vt:lpstr> ONE-TO-ONE FUNCTION / INJECTIVE FUNCTION  </vt:lpstr>
      <vt:lpstr>FUNCTION NOT ONE-TO-ONE</vt:lpstr>
      <vt:lpstr>EXAMPLE</vt:lpstr>
      <vt:lpstr>EXERCISE</vt:lpstr>
      <vt:lpstr>EXERCISE</vt:lpstr>
      <vt:lpstr>EXERCISE</vt:lpstr>
      <vt:lpstr>EXERCISE</vt:lpstr>
      <vt:lpstr>GRAPH OF ONE-TO-ONE FUNCTION</vt:lpstr>
      <vt:lpstr>EXAMPLE</vt:lpstr>
      <vt:lpstr>ALTERNATIVE DEFINITION OF ONE-TO-ONE FUNCTION</vt:lpstr>
      <vt:lpstr>EXAMPLE</vt:lpstr>
      <vt:lpstr>SOLUTION</vt:lpstr>
      <vt:lpstr>PowerPoint Presentation</vt:lpstr>
      <vt:lpstr>EXAMPLE</vt:lpstr>
      <vt:lpstr>SOLUTION</vt:lpstr>
      <vt:lpstr>SURJECTIVE FUNCTION /ONTO FUNCTION</vt:lpstr>
      <vt:lpstr>PowerPoint Presentation</vt:lpstr>
      <vt:lpstr>FUNCTION NOT ONTO</vt:lpstr>
      <vt:lpstr>EXAMPLE</vt:lpstr>
      <vt:lpstr>PowerPoint Presentation</vt:lpstr>
      <vt:lpstr>EXAMPLE</vt:lpstr>
      <vt:lpstr>SOLUTION</vt:lpstr>
      <vt:lpstr>Cont…</vt:lpstr>
      <vt:lpstr>EXAMPLE</vt:lpstr>
      <vt:lpstr>SOLUTION</vt:lpstr>
      <vt:lpstr>Cont…</vt:lpstr>
      <vt:lpstr>GRAPH OF ONTO FUNCTION</vt:lpstr>
      <vt:lpstr>EXERCISE</vt:lpstr>
      <vt:lpstr>SOLUTION</vt:lpstr>
      <vt:lpstr>EXERCISE</vt:lpstr>
      <vt:lpstr>SOLUTION</vt:lpstr>
      <vt:lpstr>Cont…</vt:lpstr>
      <vt:lpstr>PowerPoint Presentation</vt:lpstr>
      <vt:lpstr>BIJECTIVE FUNCTION </vt:lpstr>
      <vt:lpstr>EXAMPLE</vt:lpstr>
      <vt:lpstr>EXERCISE</vt:lpstr>
      <vt:lpstr>Cont…</vt:lpstr>
      <vt:lpstr>GRAPH OF BIJECTIVE FUNCTION</vt:lpstr>
      <vt:lpstr>IDENTITY FUNCTION ON A SET</vt:lpstr>
      <vt:lpstr>EXAMPLE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Dell</cp:lastModifiedBy>
  <cp:revision>191</cp:revision>
  <dcterms:created xsi:type="dcterms:W3CDTF">2013-10-15T06:26:31Z</dcterms:created>
  <dcterms:modified xsi:type="dcterms:W3CDTF">2024-11-07T08:22:52Z</dcterms:modified>
</cp:coreProperties>
</file>
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3"/>
    <p:sldId id="257" r:id="rId4"/>
    <p:sldId id="258" r:id="rId5"/>
    <p:sldId id="260" r:id="rId6"/>
    <p:sldId id="262" r:id="rId7"/>
    <p:sldId id="263" r:id="rId8"/>
    <p:sldId id="265" r:id="rId9"/>
    <p:sldId id="266" r:id="rId10"/>
    <p:sldId id="264" r:id="rId11"/>
    <p:sldId id="267" r:id="rId12"/>
    <p:sldId id="268" r:id="rId13"/>
    <p:sldId id="269" r:id="rId14"/>
    <p:sldId id="270" r:id="rId15"/>
    <p:sldId id="271" r:id="rId16"/>
    <p:sldId id="272" r:id="rId17"/>
    <p:sldId id="273" r:id="rId18"/>
    <p:sldId id="274" r:id="rId19"/>
    <p:sldId id="277" r:id="rId20"/>
    <p:sldId id="278" r:id="rId21"/>
    <p:sldId id="309" r:id="rId22"/>
    <p:sldId id="279" r:id="rId23"/>
    <p:sldId id="294" r:id="rId24"/>
    <p:sldId id="280" r:id="rId25"/>
    <p:sldId id="281" r:id="rId26"/>
    <p:sldId id="282" r:id="rId27"/>
    <p:sldId id="295" r:id="rId28"/>
    <p:sldId id="283" r:id="rId29"/>
    <p:sldId id="284" r:id="rId30"/>
    <p:sldId id="285" r:id="rId31"/>
    <p:sldId id="287" r:id="rId32"/>
    <p:sldId id="288" r:id="rId33"/>
    <p:sldId id="289" r:id="rId34"/>
    <p:sldId id="286"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23" autoAdjust="0"/>
    <p:restoredTop sz="94660"/>
  </p:normalViewPr>
  <p:slideViewPr>
    <p:cSldViewPr showGuides="1">
      <p:cViewPr varScale="1">
        <p:scale>
          <a:sx n="66" d="100"/>
          <a:sy n="66" d="100"/>
        </p:scale>
        <p:origin x="1434"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48"/>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notesMaster" Target="notesMasters/notesMaster1.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32FFEF-1113-4E60-88FE-EA47470A374B}" type="datetimeFigureOut">
              <a:rPr lang="en-US" smtClean="0"/>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9CEA7A-0DCF-4742-BD22-DF14B59E4523}"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73AE37AA-4ADA-4492-8893-14EEC95ADC5E}" type="datetimeFigureOut">
              <a:rPr lang="en-US" smtClean="0"/>
            </a:fld>
            <a:endParaRPr lang="en-US" dirty="0"/>
          </a:p>
        </p:txBody>
      </p:sp>
      <p:sp>
        <p:nvSpPr>
          <p:cNvPr id="17" name="Footer Placeholder 16"/>
          <p:cNvSpPr>
            <a:spLocks noGrp="1"/>
          </p:cNvSpPr>
          <p:nvPr>
            <p:ph type="ftr" sz="quarter" idx="11"/>
          </p:nvPr>
        </p:nvSpPr>
        <p:spPr>
          <a:xfrm>
            <a:off x="2898648" y="6355080"/>
            <a:ext cx="3474720" cy="365760"/>
          </a:xfrm>
        </p:spPr>
        <p:txBody>
          <a:bodyPr/>
          <a:lstStyle/>
          <a:p>
            <a:endParaRPr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CB2CFDAD-2A26-4686-9CA8-B01433D3CFBE}" type="slidenum">
              <a:rPr lang="en-US" smtClean="0"/>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73AE37AA-4ADA-4492-8893-14EEC95ADC5E}"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B2CFDAD-2A26-4686-9CA8-B01433D3CFBE}" type="slidenum">
              <a:rPr lang="en-US" smtClean="0"/>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a:xfrm>
            <a:off x="6400800" y="6355080"/>
            <a:ext cx="2286000" cy="365760"/>
          </a:xfrm>
        </p:spPr>
        <p:txBody>
          <a:bodyPr/>
          <a:lstStyle/>
          <a:p>
            <a:fld id="{73AE37AA-4ADA-4492-8893-14EEC95ADC5E}" type="datetimeFigureOut">
              <a:rPr lang="en-US" smtClean="0"/>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lang="en-US" dirty="0"/>
          </a:p>
        </p:txBody>
      </p:sp>
      <p:sp>
        <p:nvSpPr>
          <p:cNvPr id="6" name="Slide Number Placeholder 5"/>
          <p:cNvSpPr>
            <a:spLocks noGrp="1"/>
          </p:cNvSpPr>
          <p:nvPr>
            <p:ph type="sldNum" sz="quarter" idx="12"/>
          </p:nvPr>
        </p:nvSpPr>
        <p:spPr>
          <a:xfrm>
            <a:off x="1069848" y="6355080"/>
            <a:ext cx="1520952" cy="365760"/>
          </a:xfrm>
        </p:spPr>
        <p:txBody>
          <a:bodyPr/>
          <a:lstStyle/>
          <a:p>
            <a:fld id="{CB2CFDAD-2A26-4686-9CA8-B01433D3CFBE}" type="slidenum">
              <a:rPr lang="en-US" smtClean="0"/>
            </a:fld>
            <a:endParaRPr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73AE37AA-4ADA-4492-8893-14EEC95ADC5E}"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B2CFDAD-2A26-4686-9CA8-B01433D3CFBE}" type="slidenum">
              <a:rPr lang="en-US" smtClean="0"/>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7" name="Date Placeholder 6"/>
          <p:cNvSpPr>
            <a:spLocks noGrp="1"/>
          </p:cNvSpPr>
          <p:nvPr>
            <p:ph type="dt" sz="half" idx="10"/>
          </p:nvPr>
        </p:nvSpPr>
        <p:spPr/>
        <p:txBody>
          <a:bodyPr/>
          <a:lstStyle/>
          <a:p>
            <a:fld id="{73AE37AA-4ADA-4492-8893-14EEC95ADC5E}"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B2CFDAD-2A26-4686-9CA8-B01433D3CFBE}" type="slidenum">
              <a:rPr lang="en-US" smtClean="0"/>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3AE37AA-4ADA-4492-8893-14EEC95ADC5E}"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B2CFDAD-2A26-4686-9CA8-B01433D3CFBE}" type="slidenum">
              <a:rPr lang="en-US" smtClean="0"/>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AE37AA-4ADA-4492-8893-14EEC95ADC5E}"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B2CFDAD-2A26-4686-9CA8-B01433D3CFBE}" type="slidenum">
              <a:rPr lang="en-US" smtClean="0"/>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73AE37AA-4ADA-4492-8893-14EEC95ADC5E}"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B2CFDAD-2A26-4686-9CA8-B01433D3CFBE}" type="slidenum">
              <a:rPr lang="en-US" smtClean="0"/>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73AE37AA-4ADA-4492-8893-14EEC95ADC5E}"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B2CFDAD-2A26-4686-9CA8-B01433D3CFBE}" type="slidenum">
              <a:rPr lang="en-US" smtClean="0"/>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3AE37AA-4ADA-4492-8893-14EEC95ADC5E}"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B2CFDAD-2A26-4686-9CA8-B01433D3CFBE}"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3AE37AA-4ADA-4492-8893-14EEC95ADC5E}"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B2CFDAD-2A26-4686-9CA8-B01433D3CFBE}" type="slidenum">
              <a:rPr lang="en-US" smtClean="0"/>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73AE37AA-4ADA-4492-8893-14EEC95ADC5E}" type="datetimeFigureOut">
              <a:rPr lang="en-US" smtClean="0"/>
            </a:fld>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dirty="0"/>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CB2CFDAD-2A26-4686-9CA8-B01433D3CFBE}" type="slidenum">
              <a:rPr lang="en-US" smtClean="0"/>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panose="05040102010807070707"/>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panose="05040102010807070707"/>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panose="05040102010807070707"/>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panose="05000000000000000000"/>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panose="05000000000000000000"/>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microsoft.com/office/2007/relationships/media" Target="file:///C:\Documents%20and%20Settings\Administrator\Desktop\New%20Folder\MTH202-062111.wmv" TargetMode="External"/><Relationship Id="rId1" Type="http://schemas.openxmlformats.org/officeDocument/2006/relationships/video" Target="file:///C:\Documents%20and%20Settings\Administrator\Desktop\New%20Folder\MTH202-062111.wmv"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microsoft.com/office/2007/relationships/media" Target="file:///C:\Documents%20and%20Settings\Administrator\Desktop\New%20Folder\MTH202-06211.wmv" TargetMode="External"/><Relationship Id="rId1" Type="http://schemas.openxmlformats.org/officeDocument/2006/relationships/video" Target="file:///C:\Documents%20and%20Settings\Administrator\Desktop\New%20Folder\MTH202-06211.wmv"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wm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em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image" Target="../media/image8.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image" Target="../media/image10.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b="1" u="sng" dirty="0" smtClean="0">
                <a:solidFill>
                  <a:srgbClr val="C00000"/>
                </a:solidFill>
              </a:rPr>
              <a:t>APPLICATION OF LOGIC</a:t>
            </a:r>
            <a:br>
              <a:rPr lang="en-US" b="1" u="sng" dirty="0" smtClean="0">
                <a:solidFill>
                  <a:srgbClr val="C00000"/>
                </a:solidFill>
              </a:rPr>
            </a:br>
            <a:r>
              <a:rPr lang="en-US" b="1" dirty="0" smtClean="0">
                <a:solidFill>
                  <a:schemeClr val="tx1">
                    <a:lumMod val="95000"/>
                    <a:lumOff val="5000"/>
                  </a:schemeClr>
                </a:solidFill>
              </a:rPr>
              <a:t>Lecture # 06</a:t>
            </a:r>
            <a:br>
              <a:rPr lang="en-US" b="1" dirty="0" smtClean="0">
                <a:solidFill>
                  <a:schemeClr val="tx1">
                    <a:lumMod val="95000"/>
                    <a:lumOff val="5000"/>
                  </a:schemeClr>
                </a:solidFill>
              </a:rPr>
            </a:br>
            <a:br>
              <a:rPr lang="en-US" b="1" dirty="0" smtClean="0">
                <a:solidFill>
                  <a:schemeClr val="tx1">
                    <a:lumMod val="95000"/>
                    <a:lumOff val="5000"/>
                  </a:schemeClr>
                </a:solidFill>
              </a:rPr>
            </a:br>
            <a:endParaRPr lang="en-US" b="1" u="sng" dirty="0">
              <a:solidFill>
                <a:srgbClr val="C00000"/>
              </a:solidFill>
            </a:endParaRPr>
          </a:p>
        </p:txBody>
      </p:sp>
      <p:sp>
        <p:nvSpPr>
          <p:cNvPr id="3" name="Subtitle 2"/>
          <p:cNvSpPr>
            <a:spLocks noGrp="1"/>
          </p:cNvSpPr>
          <p:nvPr>
            <p:ph type="subTitle" idx="1"/>
          </p:nvPr>
        </p:nvSpPr>
        <p:spPr/>
        <p:txBody>
          <a:bodyPr/>
          <a:lstStyle/>
          <a:p>
            <a:pPr algn="ctr"/>
            <a:endParaRPr lang="en-US" b="1" dirty="0">
              <a:solidFill>
                <a:schemeClr val="tx1">
                  <a:lumMod val="95000"/>
                  <a:lumOff val="5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solidFill>
                  <a:srgbClr val="C00000"/>
                </a:solidFill>
              </a:rPr>
              <a:t>Application of logic in Digital Logic Circuits.</a:t>
            </a:r>
            <a:endParaRPr lang="en-US" b="1" u="sng" dirty="0">
              <a:solidFill>
                <a:srgbClr val="C00000"/>
              </a:solidFill>
            </a:endParaRPr>
          </a:p>
        </p:txBody>
      </p:sp>
      <p:sp>
        <p:nvSpPr>
          <p:cNvPr id="3" name="Content Placeholder 2"/>
          <p:cNvSpPr>
            <a:spLocks noGrp="1"/>
          </p:cNvSpPr>
          <p:nvPr>
            <p:ph sz="quarter" idx="1"/>
          </p:nvPr>
        </p:nvSpPr>
        <p:spPr/>
        <p:txBody>
          <a:bodyPr>
            <a:normAutofit fontScale="92500" lnSpcReduction="20000"/>
          </a:bodyPr>
          <a:lstStyle/>
          <a:p>
            <a:r>
              <a:rPr lang="en-US" dirty="0" smtClean="0"/>
              <a:t>Logic have </a:t>
            </a:r>
            <a:r>
              <a:rPr lang="en-US" b="1" dirty="0" smtClean="0">
                <a:solidFill>
                  <a:srgbClr val="00B0F0"/>
                </a:solidFill>
              </a:rPr>
              <a:t>application</a:t>
            </a:r>
            <a:r>
              <a:rPr lang="en-US" dirty="0" smtClean="0"/>
              <a:t> in many diverse fields. But we study the application of logic that have relevance in </a:t>
            </a:r>
            <a:r>
              <a:rPr lang="en-US" b="1" dirty="0" smtClean="0">
                <a:solidFill>
                  <a:srgbClr val="00B0F0"/>
                </a:solidFill>
              </a:rPr>
              <a:t>computer science</a:t>
            </a:r>
            <a:r>
              <a:rPr lang="en-US" dirty="0" smtClean="0"/>
              <a:t>.</a:t>
            </a:r>
            <a:endParaRPr lang="en-US" dirty="0" smtClean="0"/>
          </a:p>
          <a:p>
            <a:endParaRPr lang="en-US" dirty="0" smtClean="0"/>
          </a:p>
          <a:p>
            <a:r>
              <a:rPr lang="en-US" dirty="0" smtClean="0"/>
              <a:t>We will see how logic will use to </a:t>
            </a:r>
            <a:r>
              <a:rPr lang="en-US" b="1" dirty="0" smtClean="0">
                <a:solidFill>
                  <a:srgbClr val="00B0F0"/>
                </a:solidFill>
              </a:rPr>
              <a:t>simplify the circuits</a:t>
            </a:r>
            <a:r>
              <a:rPr lang="en-US" dirty="0" smtClean="0"/>
              <a:t>. This idea is given by an American scientist, when he was not actually a scientist, he was just a student.</a:t>
            </a:r>
            <a:endParaRPr lang="en-US" dirty="0" smtClean="0"/>
          </a:p>
          <a:p>
            <a:endParaRPr lang="en-US" dirty="0" smtClean="0"/>
          </a:p>
          <a:p>
            <a:r>
              <a:rPr lang="en-US" dirty="0" smtClean="0"/>
              <a:t>He note down the </a:t>
            </a:r>
            <a:r>
              <a:rPr lang="en-US" dirty="0" smtClean="0">
                <a:solidFill>
                  <a:srgbClr val="00B0F0"/>
                </a:solidFill>
              </a:rPr>
              <a:t>Analogy between the operation of switching devices and the operation of logical connectives</a:t>
            </a:r>
            <a:r>
              <a:rPr lang="en-US" dirty="0" smtClean="0"/>
              <a:t>. He identify that how to simply a circuit and the problems occurs in the circuit, how to solve them by using laws of logic.</a:t>
            </a:r>
            <a:endParaRPr lang="en-US" dirty="0" smtClean="0"/>
          </a:p>
          <a:p>
            <a:endParaRPr lang="en-US" dirty="0" smtClean="0"/>
          </a:p>
          <a:p>
            <a:r>
              <a:rPr lang="en-US" dirty="0" smtClean="0"/>
              <a:t>He identify a method through which we simplify a circuit through logic.</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solidFill>
                  <a:srgbClr val="C00000"/>
                </a:solidFill>
              </a:rPr>
              <a:t>Basic components of circuits</a:t>
            </a:r>
            <a:endParaRPr lang="en-US" b="1" dirty="0">
              <a:solidFill>
                <a:srgbClr val="C00000"/>
              </a:solidFill>
            </a:endParaRPr>
          </a:p>
        </p:txBody>
      </p:sp>
      <p:sp>
        <p:nvSpPr>
          <p:cNvPr id="3" name="Content Placeholder 2"/>
          <p:cNvSpPr>
            <a:spLocks noGrp="1"/>
          </p:cNvSpPr>
          <p:nvPr>
            <p:ph sz="quarter" idx="1"/>
          </p:nvPr>
        </p:nvSpPr>
        <p:spPr/>
        <p:txBody>
          <a:bodyPr>
            <a:normAutofit lnSpcReduction="10000"/>
          </a:bodyPr>
          <a:lstStyle/>
          <a:p>
            <a:pPr>
              <a:buNone/>
            </a:pPr>
            <a:endParaRPr lang="en-US" dirty="0" smtClean="0"/>
          </a:p>
          <a:p>
            <a:pPr>
              <a:buNone/>
            </a:pPr>
            <a:r>
              <a:rPr lang="en-US" dirty="0" smtClean="0"/>
              <a:t>	</a:t>
            </a:r>
            <a:r>
              <a:rPr lang="en-US" b="1" dirty="0" smtClean="0">
                <a:solidFill>
                  <a:srgbClr val="00B0F0"/>
                </a:solidFill>
              </a:rPr>
              <a:t>Switches “in series”</a:t>
            </a:r>
            <a:endParaRPr lang="en-US" b="1" dirty="0" smtClean="0">
              <a:solidFill>
                <a:srgbClr val="00B0F0"/>
              </a:solidFill>
            </a:endParaRPr>
          </a:p>
          <a:p>
            <a:pPr>
              <a:buNone/>
            </a:pPr>
            <a:r>
              <a:rPr lang="en-US" dirty="0" smtClean="0"/>
              <a:t>	</a:t>
            </a:r>
            <a:r>
              <a:rPr lang="en-US" b="1" smtClean="0">
                <a:solidFill>
                  <a:srgbClr val="00B0F0"/>
                </a:solidFill>
              </a:rPr>
              <a:t>Switches “in parallel”</a:t>
            </a:r>
            <a:endParaRPr lang="en-US" b="1" dirty="0" smtClean="0">
              <a:solidFill>
                <a:srgbClr val="00B0F0"/>
              </a:solidFill>
            </a:endParaRPr>
          </a:p>
          <a:p>
            <a:endParaRPr lang="en-US" dirty="0" smtClean="0"/>
          </a:p>
          <a:p>
            <a:r>
              <a:rPr lang="en-US" b="1" u="sng" dirty="0" smtClean="0">
                <a:solidFill>
                  <a:srgbClr val="C00000"/>
                </a:solidFill>
              </a:rPr>
              <a:t>Notations:</a:t>
            </a:r>
            <a:endParaRPr lang="en-US" b="1" u="sng" dirty="0" smtClean="0">
              <a:solidFill>
                <a:srgbClr val="C00000"/>
              </a:solidFill>
            </a:endParaRPr>
          </a:p>
          <a:p>
            <a:pPr>
              <a:buNone/>
            </a:pPr>
            <a:r>
              <a:rPr lang="en-US" dirty="0" smtClean="0"/>
              <a:t>	a battery,</a:t>
            </a:r>
            <a:endParaRPr lang="en-US" dirty="0" smtClean="0"/>
          </a:p>
          <a:p>
            <a:pPr>
              <a:buNone/>
            </a:pPr>
            <a:r>
              <a:rPr lang="en-US" dirty="0" smtClean="0"/>
              <a:t>	2 switches P &amp; Q</a:t>
            </a:r>
            <a:endParaRPr lang="en-US" dirty="0" smtClean="0"/>
          </a:p>
          <a:p>
            <a:pPr>
              <a:buNone/>
            </a:pPr>
            <a:r>
              <a:rPr lang="en-US" dirty="0" smtClean="0"/>
              <a:t>	Light bulb</a:t>
            </a:r>
            <a:endParaRPr lang="en-US" dirty="0" smtClean="0"/>
          </a:p>
          <a:p>
            <a:pPr>
              <a:buNone/>
            </a:pPr>
            <a:endParaRPr lang="en-US" dirty="0" smtClean="0"/>
          </a:p>
          <a:p>
            <a:r>
              <a:rPr lang="en-US" dirty="0" smtClean="0"/>
              <a:t>If switches are open then current can not pass through them.</a:t>
            </a:r>
            <a:endParaRPr lang="en-US" dirty="0" smtClean="0"/>
          </a:p>
          <a:p>
            <a:endParaRPr lang="en-US" dirty="0" smtClean="0"/>
          </a:p>
          <a:p>
            <a:endParaRPr lang="en-US"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SWITCHES IN SERIES</a:t>
            </a:r>
            <a:endParaRPr lang="en-US" b="1" u="sng" dirty="0">
              <a:solidFill>
                <a:srgbClr val="C00000"/>
              </a:solidFill>
            </a:endParaRPr>
          </a:p>
        </p:txBody>
      </p:sp>
      <p:graphicFrame>
        <p:nvGraphicFramePr>
          <p:cNvPr id="68610" name="Group 2"/>
          <p:cNvGraphicFramePr>
            <a:graphicFrameLocks noGrp="1"/>
          </p:cNvGraphicFramePr>
          <p:nvPr/>
        </p:nvGraphicFramePr>
        <p:xfrm>
          <a:off x="1992084" y="1447800"/>
          <a:ext cx="5105400" cy="2971800"/>
        </p:xfrm>
        <a:graphic>
          <a:graphicData uri="http://schemas.openxmlformats.org/drawingml/2006/table">
            <a:tbl>
              <a:tblPr/>
              <a:tblGrid>
                <a:gridCol w="2552700"/>
                <a:gridCol w="2552700"/>
              </a:tblGrid>
              <a:tr h="5334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Switches</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Light Bulb</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4494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P	  Q</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State</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5334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  Closed       Closed</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On</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Closed       Open</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Off</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  Open         Closed</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Off</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  Open	        Open</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Off</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SWITCHES IN PARALLEL</a:t>
            </a:r>
            <a:endParaRPr lang="en-US" b="1" u="sng" dirty="0">
              <a:solidFill>
                <a:srgbClr val="C00000"/>
              </a:solidFill>
            </a:endParaRPr>
          </a:p>
        </p:txBody>
      </p:sp>
      <p:graphicFrame>
        <p:nvGraphicFramePr>
          <p:cNvPr id="69634" name="Group 2"/>
          <p:cNvGraphicFramePr>
            <a:graphicFrameLocks noGrp="1"/>
          </p:cNvGraphicFramePr>
          <p:nvPr/>
        </p:nvGraphicFramePr>
        <p:xfrm>
          <a:off x="2445666" y="1371600"/>
          <a:ext cx="4397826" cy="2819400"/>
        </p:xfrm>
        <a:graphic>
          <a:graphicData uri="http://schemas.openxmlformats.org/drawingml/2006/table">
            <a:tbl>
              <a:tblPr/>
              <a:tblGrid>
                <a:gridCol w="2416626"/>
                <a:gridCol w="1981200"/>
              </a:tblGrid>
              <a:tr h="44958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Switches</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Light Bulb</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P              Q</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State</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Closed   Closed</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On</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Closed   Open</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On</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Open     Closed</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On</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Open     Open</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Off</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C00000"/>
                </a:solidFill>
              </a:rPr>
              <a:t>SWITCHES IN SERIES</a:t>
            </a:r>
            <a:endParaRPr lang="en-US" dirty="0">
              <a:solidFill>
                <a:srgbClr val="C00000"/>
              </a:solidFill>
            </a:endParaRPr>
          </a:p>
        </p:txBody>
      </p:sp>
      <p:graphicFrame>
        <p:nvGraphicFramePr>
          <p:cNvPr id="28" name="Group 2"/>
          <p:cNvGraphicFramePr>
            <a:graphicFrameLocks noGrp="1"/>
          </p:cNvGraphicFramePr>
          <p:nvPr/>
        </p:nvGraphicFramePr>
        <p:xfrm>
          <a:off x="457200" y="1524000"/>
          <a:ext cx="4419600" cy="2971800"/>
        </p:xfrm>
        <a:graphic>
          <a:graphicData uri="http://schemas.openxmlformats.org/drawingml/2006/table">
            <a:tbl>
              <a:tblPr/>
              <a:tblGrid>
                <a:gridCol w="2552700"/>
                <a:gridCol w="1866900"/>
              </a:tblGrid>
              <a:tr h="5334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Switches</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Light Bulb</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4494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P	  Q</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State</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5334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  Closed       Closed</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On</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Closed       Open</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Off</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  Open         Closed</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Off</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  Open	        Open</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Off</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70681" name="AutoShape 25"/>
          <p:cNvSpPr>
            <a:spLocks noChangeArrowheads="1"/>
          </p:cNvSpPr>
          <p:nvPr/>
        </p:nvSpPr>
        <p:spPr bwMode="auto">
          <a:xfrm>
            <a:off x="5029200" y="2971800"/>
            <a:ext cx="685800" cy="152400"/>
          </a:xfrm>
          <a:prstGeom prst="leftRightArrow">
            <a:avLst>
              <a:gd name="adj1" fmla="val 50000"/>
              <a:gd name="adj2" fmla="val 90000"/>
            </a:avLst>
          </a:prstGeom>
          <a:noFill/>
          <a:ln w="9525">
            <a:solidFill>
              <a:srgbClr val="000000"/>
            </a:solidFill>
            <a:miter lim="800000"/>
          </a:ln>
        </p:spPr>
        <p:txBody>
          <a:bodyPr vert="horz" wrap="none" lIns="91440" tIns="45720" rIns="91440" bIns="45720" numCol="1" anchor="ctr" anchorCtr="0" compatLnSpc="1"/>
          <a:lstStyle/>
          <a:p>
            <a:endParaRPr lang="en-US"/>
          </a:p>
        </p:txBody>
      </p:sp>
      <p:graphicFrame>
        <p:nvGraphicFramePr>
          <p:cNvPr id="70682" name="Group 26"/>
          <p:cNvGraphicFramePr>
            <a:graphicFrameLocks noGrp="1"/>
          </p:cNvGraphicFramePr>
          <p:nvPr/>
        </p:nvGraphicFramePr>
        <p:xfrm>
          <a:off x="5943600" y="2064654"/>
          <a:ext cx="1981200" cy="2286000"/>
        </p:xfrm>
        <a:graphic>
          <a:graphicData uri="http://schemas.openxmlformats.org/drawingml/2006/table">
            <a:tbl>
              <a:tblPr/>
              <a:tblGrid>
                <a:gridCol w="457200"/>
                <a:gridCol w="533400"/>
                <a:gridCol w="990600"/>
              </a:tblGrid>
              <a:tr h="3810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P</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Q</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P  Q</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20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0681"/>
                                        </p:tgtEl>
                                        <p:attrNameLst>
                                          <p:attrName>style.visibility</p:attrName>
                                        </p:attrNameLst>
                                      </p:cBhvr>
                                      <p:to>
                                        <p:strVal val="visible"/>
                                      </p:to>
                                    </p:set>
                                    <p:animEffect transition="in" filter="fade">
                                      <p:cBhvr>
                                        <p:cTn id="12" dur="2000"/>
                                        <p:tgtEl>
                                          <p:spTgt spid="7068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0682"/>
                                        </p:tgtEl>
                                        <p:attrNameLst>
                                          <p:attrName>style.visibility</p:attrName>
                                        </p:attrNameLst>
                                      </p:cBhvr>
                                      <p:to>
                                        <p:strVal val="visible"/>
                                      </p:to>
                                    </p:set>
                                    <p:animEffect transition="in" filter="fade">
                                      <p:cBhvr>
                                        <p:cTn id="17" dur="2000"/>
                                        <p:tgtEl>
                                          <p:spTgt spid="70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8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MTH202-062111.wmv">
            <a:hlinkClick r:id="" action="ppaction://media"/>
          </p:cNvPr>
          <p:cNvPicPr>
            <a:picLocks noGrp="1" noRot="1" noChangeAspect="1"/>
          </p:cNvPicPr>
          <p:nvPr>
            <p:ph sz="quarter" idx="1"/>
            <a:videoFile r:link="rId1"/>
            <p:extLst>
              <p:ext uri="{DAA4B4D4-6D71-4841-9C94-3DE7FCFB9230}">
                <p14:media xmlns:p14="http://schemas.microsoft.com/office/powerpoint/2010/main" r:link="rId2"/>
              </p:ext>
            </p:extLst>
          </p:nvPr>
        </p:nvPicPr>
        <p:blipFill>
          <a:blip r:embed="rId3"/>
          <a:stretch>
            <a:fillRect/>
          </a:stretch>
        </p:blipFill>
        <p:spPr>
          <a:xfrm>
            <a:off x="0" y="0"/>
            <a:ext cx="9144000" cy="6858000"/>
          </a:xfrm>
          <a:prstGeom prst="rect">
            <a:avLst/>
          </a:prstGeom>
        </p:spPr>
      </p:pic>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629"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mute="1">
                <p:cTn id="7" repeatCount="indefinite" fill="hold" display="0">
                  <p:stCondLst>
                    <p:cond delay="indefinite"/>
                  </p:stCondLst>
                  <p:endCondLst>
                    <p:cond evt="onNext" delay="0">
                      <p:tgtEl>
                        <p:sldTgt/>
                      </p:tgtEl>
                    </p:cond>
                    <p:cond evt="onPrev" delay="0">
                      <p:tgtEl>
                        <p:sldTgt/>
                      </p:tgtEl>
                    </p:cond>
                  </p:end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C00000"/>
                </a:solidFill>
              </a:rPr>
              <a:t>SWITCHES IN PARALLEL</a:t>
            </a:r>
            <a:endParaRPr lang="en-US" dirty="0">
              <a:solidFill>
                <a:srgbClr val="C00000"/>
              </a:solidFill>
            </a:endParaRPr>
          </a:p>
        </p:txBody>
      </p:sp>
      <p:graphicFrame>
        <p:nvGraphicFramePr>
          <p:cNvPr id="71683" name="Group 3"/>
          <p:cNvGraphicFramePr>
            <a:graphicFrameLocks noGrp="1"/>
          </p:cNvGraphicFramePr>
          <p:nvPr/>
        </p:nvGraphicFramePr>
        <p:xfrm>
          <a:off x="6248400" y="1719942"/>
          <a:ext cx="2286000" cy="2286000"/>
        </p:xfrm>
        <a:graphic>
          <a:graphicData uri="http://schemas.openxmlformats.org/drawingml/2006/table">
            <a:tbl>
              <a:tblPr/>
              <a:tblGrid>
                <a:gridCol w="649288"/>
                <a:gridCol w="576262"/>
                <a:gridCol w="1060450"/>
              </a:tblGrid>
              <a:tr h="3048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P</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Q</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P  Q</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3048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4" name="Group 2"/>
          <p:cNvGraphicFramePr>
            <a:graphicFrameLocks noGrp="1"/>
          </p:cNvGraphicFramePr>
          <p:nvPr/>
        </p:nvGraphicFramePr>
        <p:xfrm>
          <a:off x="573312" y="1357086"/>
          <a:ext cx="4397826" cy="2819400"/>
        </p:xfrm>
        <a:graphic>
          <a:graphicData uri="http://schemas.openxmlformats.org/drawingml/2006/table">
            <a:tbl>
              <a:tblPr/>
              <a:tblGrid>
                <a:gridCol w="2416626"/>
                <a:gridCol w="1981200"/>
              </a:tblGrid>
              <a:tr h="44958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Switches</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Light Bulb</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P              Q</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State</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Closed   Closed</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On</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Closed   Open</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On</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Open     Closed</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On</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Open     Open</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Off</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71682" name="AutoShape 2"/>
          <p:cNvSpPr>
            <a:spLocks noChangeArrowheads="1"/>
          </p:cNvSpPr>
          <p:nvPr/>
        </p:nvSpPr>
        <p:spPr bwMode="auto">
          <a:xfrm>
            <a:off x="5346694" y="2783118"/>
            <a:ext cx="520700" cy="152400"/>
          </a:xfrm>
          <a:prstGeom prst="leftRightArrow">
            <a:avLst>
              <a:gd name="adj1" fmla="val 50000"/>
              <a:gd name="adj2" fmla="val 68333"/>
            </a:avLst>
          </a:prstGeom>
          <a:noFill/>
          <a:ln w="9525">
            <a:solidFill>
              <a:srgbClr val="000000"/>
            </a:solidFill>
            <a:miter lim="800000"/>
          </a:ln>
        </p:spPr>
        <p:txBody>
          <a:bodyPr vert="horz" wrap="none" lIns="91440" tIns="45720" rIns="91440" bIns="45720" numCol="1" anchor="ctr" anchorCtr="0" compatLnSpc="1"/>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1682"/>
                                        </p:tgtEl>
                                        <p:attrNameLst>
                                          <p:attrName>style.visibility</p:attrName>
                                        </p:attrNameLst>
                                      </p:cBhvr>
                                      <p:to>
                                        <p:strVal val="visible"/>
                                      </p:to>
                                    </p:set>
                                    <p:animEffect transition="in" filter="fade">
                                      <p:cBhvr>
                                        <p:cTn id="10" dur="2000"/>
                                        <p:tgtEl>
                                          <p:spTgt spid="7168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1683"/>
                                        </p:tgtEl>
                                        <p:attrNameLst>
                                          <p:attrName>style.visibility</p:attrName>
                                        </p:attrNameLst>
                                      </p:cBhvr>
                                      <p:to>
                                        <p:strVal val="visible"/>
                                      </p:to>
                                    </p:set>
                                    <p:animEffect transition="in" filter="fade">
                                      <p:cBhvr>
                                        <p:cTn id="15" dur="2000"/>
                                        <p:tgtEl>
                                          <p:spTgt spid="71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MTH202-06211.wmv">
            <a:hlinkClick r:id="" action="ppaction://media"/>
          </p:cNvPr>
          <p:cNvPicPr>
            <a:picLocks noGrp="1" noRot="1" noChangeAspect="1"/>
          </p:cNvPicPr>
          <p:nvPr>
            <p:ph sz="quarter" idx="1"/>
            <a:videoFile r:link="rId1"/>
            <p:extLst>
              <p:ext uri="{DAA4B4D4-6D71-4841-9C94-3DE7FCFB9230}">
                <p14:media xmlns:p14="http://schemas.microsoft.com/office/powerpoint/2010/main" r:link="rId2"/>
              </p:ext>
            </p:extLst>
          </p:nvPr>
        </p:nvPicPr>
        <p:blipFill>
          <a:blip r:embed="rId3"/>
          <a:stretch>
            <a:fillRect/>
          </a:stretch>
        </p:blipFill>
        <p:spPr>
          <a:xfrm>
            <a:off x="0" y="0"/>
            <a:ext cx="9144000" cy="6858000"/>
          </a:xfrm>
          <a:prstGeom prst="rect">
            <a:avLst/>
          </a:prstGeom>
        </p:spPr>
      </p:pic>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41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mute="1">
                <p:cTn id="7" repeatCount="indefinite" fill="hold" display="0">
                  <p:stCondLst>
                    <p:cond delay="indefinite"/>
                  </p:stCondLst>
                  <p:endCondLst>
                    <p:cond evt="onNext" delay="0">
                      <p:tgtEl>
                        <p:sldTgt/>
                      </p:tgtEl>
                    </p:cond>
                    <p:cond evt="onPrev" delay="0">
                      <p:tgtEl>
                        <p:sldTgt/>
                      </p:tgtEl>
                    </p:cond>
                  </p:end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Vocabulary</a:t>
            </a:r>
            <a:endParaRPr lang="en-US" u="sng" dirty="0">
              <a:solidFill>
                <a:srgbClr val="C00000"/>
              </a:solidFill>
            </a:endParaRPr>
          </a:p>
        </p:txBody>
      </p:sp>
      <p:sp>
        <p:nvSpPr>
          <p:cNvPr id="3" name="Content Placeholder 2"/>
          <p:cNvSpPr>
            <a:spLocks noGrp="1"/>
          </p:cNvSpPr>
          <p:nvPr>
            <p:ph sz="quarter" idx="1"/>
          </p:nvPr>
        </p:nvSpPr>
        <p:spPr/>
        <p:txBody>
          <a:bodyPr/>
          <a:lstStyle/>
          <a:p>
            <a:endParaRPr lang="en-US" dirty="0" smtClean="0"/>
          </a:p>
          <a:p>
            <a:endParaRPr lang="en-US" dirty="0" smtClean="0"/>
          </a:p>
          <a:p>
            <a:endParaRPr lang="en-US" dirty="0" smtClean="0"/>
          </a:p>
          <a:p>
            <a:endParaRPr lang="en-US" dirty="0" smtClean="0"/>
          </a:p>
          <a:p>
            <a:r>
              <a:rPr lang="en-US" dirty="0" smtClean="0">
                <a:solidFill>
                  <a:srgbClr val="00B0F0"/>
                </a:solidFill>
              </a:rPr>
              <a:t>Electronic engineer name these switches logical gates.</a:t>
            </a:r>
            <a:endParaRPr lang="en-US" dirty="0" smtClean="0">
              <a:solidFill>
                <a:srgbClr val="00B0F0"/>
              </a:solidFill>
            </a:endParaRPr>
          </a:p>
          <a:p>
            <a:endParaRPr lang="en-US" dirty="0"/>
          </a:p>
        </p:txBody>
      </p:sp>
      <p:graphicFrame>
        <p:nvGraphicFramePr>
          <p:cNvPr id="4" name="Content Placeholder 3"/>
          <p:cNvGraphicFramePr/>
          <p:nvPr/>
        </p:nvGraphicFramePr>
        <p:xfrm>
          <a:off x="685800" y="1371600"/>
          <a:ext cx="7467600" cy="1371600"/>
        </p:xfrm>
        <a:graphic>
          <a:graphicData uri="http://schemas.openxmlformats.org/drawingml/2006/table">
            <a:tbl>
              <a:tblPr firstRow="1" firstCol="1" lastRow="1" lastCol="1" bandRow="1" bandCol="1">
                <a:tableStyleId>{2D5ABB26-0587-4C30-8999-92F81FD0307C}</a:tableStyleId>
              </a:tblPr>
              <a:tblGrid>
                <a:gridCol w="2489200"/>
                <a:gridCol w="2489200"/>
                <a:gridCol w="2489200"/>
              </a:tblGrid>
              <a:tr h="370840">
                <a:tc>
                  <a:txBody>
                    <a:bodyPr/>
                    <a:lstStyle/>
                    <a:p>
                      <a:pPr algn="ct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BULB</a:t>
                      </a:r>
                      <a:endParaRPr kumimoji="0" lang="en-US" sz="2400" b="1" i="0" u="none" strike="noStrike" kern="1200" cap="none" normalizeH="0" baseline="0" dirty="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Output</a:t>
                      </a:r>
                      <a:endParaRPr kumimoji="0" lang="en-US" sz="2400" b="1" i="0" u="none" strike="noStrike" kern="1200" cap="none" normalizeH="0" baseline="0" dirty="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r>
              <a:tr h="370840">
                <a:tc>
                  <a:txBody>
                    <a:bodyPr/>
                    <a:lstStyle/>
                    <a:p>
                      <a:pPr algn="ct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ON</a:t>
                      </a:r>
                      <a:endParaRPr kumimoji="0" lang="en-US" sz="2400" b="0" i="0" u="none" strike="noStrike" kern="1200" cap="none" normalizeH="0" baseline="0" dirty="0">
                        <a:ln>
                          <a:noFill/>
                        </a:ln>
                        <a:solidFill>
                          <a:srgbClr val="000000"/>
                        </a:solidFill>
                        <a:effectLst/>
                        <a:latin typeface="Calibri" panose="020F050202020403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a:ln>
                          <a:noFill/>
                        </a:ln>
                        <a:solidFill>
                          <a:srgbClr val="000000"/>
                        </a:solidFill>
                        <a:effectLst/>
                        <a:latin typeface="Calibri" panose="020F050202020403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True</a:t>
                      </a:r>
                      <a:endParaRPr kumimoji="0" lang="en-US" sz="2400" b="0" i="0" u="none" strike="noStrike" kern="1200" cap="none" normalizeH="0" baseline="0" dirty="0">
                        <a:ln>
                          <a:noFill/>
                        </a:ln>
                        <a:solidFill>
                          <a:srgbClr val="000000"/>
                        </a:solidFill>
                        <a:effectLst/>
                        <a:latin typeface="Calibri" panose="020F050202020403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ct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OFF</a:t>
                      </a:r>
                      <a:endParaRPr kumimoji="0" lang="en-US" sz="2400" b="0" i="0" u="none" strike="noStrike" kern="1200" cap="none" normalizeH="0" baseline="0" dirty="0">
                        <a:ln>
                          <a:noFill/>
                        </a:ln>
                        <a:solidFill>
                          <a:srgbClr val="000000"/>
                        </a:solidFill>
                        <a:effectLst/>
                        <a:latin typeface="Calibri" panose="020F050202020403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a:ln>
                          <a:noFill/>
                        </a:ln>
                        <a:solidFill>
                          <a:srgbClr val="000000"/>
                        </a:solidFill>
                        <a:effectLst/>
                        <a:latin typeface="Calibri" panose="020F050202020403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False</a:t>
                      </a:r>
                      <a:endParaRPr kumimoji="0" lang="en-US" sz="2400" b="0" i="0" u="none" strike="noStrike" kern="1200" cap="none" normalizeH="0" baseline="0" dirty="0">
                        <a:ln>
                          <a:noFill/>
                        </a:ln>
                        <a:solidFill>
                          <a:srgbClr val="000000"/>
                        </a:solidFill>
                        <a:effectLst/>
                        <a:latin typeface="Calibri" panose="020F050202020403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NOT GATE or INVERTOR</a:t>
            </a:r>
            <a:endParaRPr lang="en-US" b="1" u="sng" dirty="0">
              <a:solidFill>
                <a:srgbClr val="C00000"/>
              </a:solidFill>
            </a:endParaRPr>
          </a:p>
        </p:txBody>
      </p:sp>
      <p:sp>
        <p:nvSpPr>
          <p:cNvPr id="3" name="Content Placeholder 2"/>
          <p:cNvSpPr>
            <a:spLocks noGrp="1"/>
          </p:cNvSpPr>
          <p:nvPr>
            <p:ph sz="quarter" idx="1"/>
          </p:nvPr>
        </p:nvSpPr>
        <p:spPr/>
        <p:txBody>
          <a:bodyPr/>
          <a:lstStyle/>
          <a:p>
            <a:r>
              <a:rPr lang="en-US" dirty="0" smtClean="0"/>
              <a:t>A NOT-gate (or inverter) is a circuit with one input and one output signal. If the input signal is 1, the output signal is 0. Conversely, if the input signal is 0, then the output signal is 1.</a:t>
            </a:r>
            <a:endParaRPr lang="en-US" dirty="0" smtClean="0"/>
          </a:p>
          <a:p>
            <a:endParaRPr lang="en-US" dirty="0"/>
          </a:p>
        </p:txBody>
      </p:sp>
      <p:sp>
        <p:nvSpPr>
          <p:cNvPr id="72706" name="Line 2"/>
          <p:cNvSpPr>
            <a:spLocks noChangeShapeType="1"/>
          </p:cNvSpPr>
          <p:nvPr/>
        </p:nvSpPr>
        <p:spPr bwMode="auto">
          <a:xfrm>
            <a:off x="3218544" y="3524250"/>
            <a:ext cx="990600" cy="0"/>
          </a:xfrm>
          <a:prstGeom prst="line">
            <a:avLst/>
          </a:prstGeom>
          <a:noFill/>
          <a:ln w="31750">
            <a:solidFill>
              <a:srgbClr val="000000"/>
            </a:solidFill>
            <a:round/>
          </a:ln>
        </p:spPr>
        <p:txBody>
          <a:bodyPr vert="horz" wrap="square" lIns="91440" tIns="45720" rIns="91440" bIns="45720" numCol="1" anchor="t" anchorCtr="0" compatLnSpc="1"/>
          <a:lstStyle/>
          <a:p>
            <a:endParaRPr lang="en-US"/>
          </a:p>
        </p:txBody>
      </p:sp>
      <p:sp>
        <p:nvSpPr>
          <p:cNvPr id="72707" name="AutoShape 3"/>
          <p:cNvSpPr>
            <a:spLocks noChangeArrowheads="1"/>
          </p:cNvSpPr>
          <p:nvPr/>
        </p:nvSpPr>
        <p:spPr bwMode="auto">
          <a:xfrm rot="5400000">
            <a:off x="4284891" y="3228975"/>
            <a:ext cx="514350" cy="609600"/>
          </a:xfrm>
          <a:prstGeom prst="triangle">
            <a:avLst>
              <a:gd name="adj" fmla="val 50000"/>
            </a:avLst>
          </a:prstGeom>
          <a:noFill/>
          <a:ln w="31750">
            <a:solidFill>
              <a:srgbClr val="000000"/>
            </a:solidFill>
            <a:miter lim="800000"/>
          </a:ln>
        </p:spPr>
        <p:txBody>
          <a:bodyPr vert="horz" wrap="none" lIns="91440" tIns="45720" rIns="91440" bIns="45720" numCol="1" anchor="ctr" anchorCtr="0" compatLnSpc="1"/>
          <a:lstStyle/>
          <a:p>
            <a:endParaRPr lang="en-US"/>
          </a:p>
        </p:txBody>
      </p:sp>
      <p:sp>
        <p:nvSpPr>
          <p:cNvPr id="72708" name="Oval 4"/>
          <p:cNvSpPr>
            <a:spLocks noChangeArrowheads="1"/>
          </p:cNvSpPr>
          <p:nvPr/>
        </p:nvSpPr>
        <p:spPr bwMode="auto">
          <a:xfrm>
            <a:off x="4876800" y="3440113"/>
            <a:ext cx="152400" cy="152400"/>
          </a:xfrm>
          <a:prstGeom prst="ellipse">
            <a:avLst/>
          </a:prstGeom>
          <a:noFill/>
          <a:ln w="31750">
            <a:solidFill>
              <a:srgbClr val="000000"/>
            </a:solidFill>
            <a:round/>
          </a:ln>
        </p:spPr>
        <p:txBody>
          <a:bodyPr vert="horz" wrap="none" lIns="91440" tIns="45720" rIns="91440" bIns="45720" numCol="1" anchor="ctr" anchorCtr="0" compatLnSpc="1"/>
          <a:lstStyle/>
          <a:p>
            <a:endParaRPr lang="en-US"/>
          </a:p>
        </p:txBody>
      </p:sp>
      <p:sp>
        <p:nvSpPr>
          <p:cNvPr id="72709" name="Line 5"/>
          <p:cNvSpPr>
            <a:spLocks noChangeShapeType="1"/>
          </p:cNvSpPr>
          <p:nvPr/>
        </p:nvSpPr>
        <p:spPr bwMode="auto">
          <a:xfrm>
            <a:off x="5058228" y="3515178"/>
            <a:ext cx="685800" cy="0"/>
          </a:xfrm>
          <a:prstGeom prst="line">
            <a:avLst/>
          </a:prstGeom>
          <a:noFill/>
          <a:ln w="31750">
            <a:solidFill>
              <a:srgbClr val="000000"/>
            </a:solidFill>
            <a:round/>
          </a:ln>
        </p:spPr>
        <p:txBody>
          <a:bodyPr vert="horz" wrap="square" lIns="91440" tIns="45720" rIns="91440" bIns="45720" numCol="1" anchor="t" anchorCtr="0" compatLnSpc="1"/>
          <a:lstStyle/>
          <a:p>
            <a:endParaRPr lang="en-US"/>
          </a:p>
        </p:txBody>
      </p:sp>
      <p:sp>
        <p:nvSpPr>
          <p:cNvPr id="72710" name="Text Box 6"/>
          <p:cNvSpPr txBox="1">
            <a:spLocks noChangeArrowheads="1"/>
          </p:cNvSpPr>
          <p:nvPr/>
        </p:nvSpPr>
        <p:spPr bwMode="auto">
          <a:xfrm>
            <a:off x="2942778" y="3310615"/>
            <a:ext cx="381000" cy="415925"/>
          </a:xfrm>
          <a:prstGeom prst="rect">
            <a:avLst/>
          </a:prstGeom>
          <a:noFill/>
          <a:ln w="9525">
            <a:noFill/>
            <a:miter lim="800000"/>
          </a:ln>
        </p:spPr>
        <p:txBody>
          <a:bodyPr vert="horz" wrap="square" lIns="91440" tIns="45720" rIns="91440" bIns="45720" numCol="1" anchor="t" anchorCtr="0" compatLnSpc="1">
            <a:spAutoFit/>
          </a:bodyPr>
          <a:lstStyle/>
          <a:p>
            <a:pPr marL="0" marR="0" lvl="0" indent="0" algn="l" defTabSz="914400" rtl="0" eaLnBrk="1" fontAlgn="base" latinLnBrk="0" hangingPunct="1">
              <a:lnSpc>
                <a:spcPct val="100000"/>
              </a:lnSpc>
              <a:spcBef>
                <a:spcPct val="0"/>
              </a:spcBef>
              <a:spcAft>
                <a:spcPts val="1000"/>
              </a:spcAft>
              <a:buClrTx/>
              <a:buSzTx/>
              <a:buFontTx/>
              <a:buNone/>
            </a:pPr>
            <a:r>
              <a:rPr kumimoji="0" lang="en-US" sz="2000" b="1" i="0" u="none" strike="noStrike" cap="none" normalizeH="0" baseline="0" dirty="0" smtClean="0">
                <a:ln>
                  <a:noFill/>
                </a:ln>
                <a:solidFill>
                  <a:srgbClr val="000000"/>
                </a:solidFill>
                <a:effectLst/>
                <a:latin typeface="Calibri" panose="020F0502020204030204" pitchFamily="34" charset="0"/>
              </a:rPr>
              <a:t>P</a:t>
            </a:r>
            <a:endParaRPr kumimoji="0" lang="en-US" sz="2000" b="1" i="0" u="none" strike="noStrike" cap="none" normalizeH="0" baseline="0" dirty="0" smtClean="0">
              <a:ln>
                <a:noFill/>
              </a:ln>
              <a:solidFill>
                <a:schemeClr val="tx1"/>
              </a:solidFill>
              <a:effectLst/>
              <a:latin typeface="Arial" panose="020B0604020202020204" pitchFamily="34" charset="0"/>
            </a:endParaRPr>
          </a:p>
        </p:txBody>
      </p:sp>
      <p:sp>
        <p:nvSpPr>
          <p:cNvPr id="9" name="Text Box 6"/>
          <p:cNvSpPr txBox="1">
            <a:spLocks noChangeArrowheads="1"/>
          </p:cNvSpPr>
          <p:nvPr/>
        </p:nvSpPr>
        <p:spPr bwMode="auto">
          <a:xfrm>
            <a:off x="5685972" y="3272970"/>
            <a:ext cx="381000" cy="415925"/>
          </a:xfrm>
          <a:prstGeom prst="rect">
            <a:avLst/>
          </a:prstGeom>
          <a:noFill/>
          <a:ln w="9525">
            <a:noFill/>
            <a:miter lim="800000"/>
          </a:ln>
        </p:spPr>
        <p:txBody>
          <a:bodyPr vert="horz" wrap="square" lIns="91440" tIns="45720" rIns="91440" bIns="45720" numCol="1" anchor="t" anchorCtr="0" compatLnSpc="1">
            <a:spAutoFit/>
          </a:bodyPr>
          <a:lstStyle/>
          <a:p>
            <a:pPr marL="0" marR="0" lvl="0" indent="0" algn="l" defTabSz="914400" rtl="0" eaLnBrk="1" fontAlgn="base" latinLnBrk="0" hangingPunct="1">
              <a:lnSpc>
                <a:spcPct val="100000"/>
              </a:lnSpc>
              <a:spcBef>
                <a:spcPct val="0"/>
              </a:spcBef>
              <a:spcAft>
                <a:spcPts val="1000"/>
              </a:spcAft>
              <a:buClrTx/>
              <a:buSzTx/>
              <a:buFontTx/>
              <a:buNone/>
            </a:pPr>
            <a:r>
              <a:rPr lang="en-US" sz="2000" b="1" dirty="0" smtClean="0">
                <a:solidFill>
                  <a:srgbClr val="000000"/>
                </a:solidFill>
                <a:latin typeface="Calibri" panose="020F0502020204030204" pitchFamily="34" charset="0"/>
              </a:rPr>
              <a:t>R</a:t>
            </a:r>
            <a:endParaRPr kumimoji="0" lang="en-US" sz="2000" b="1" i="0" u="none" strike="noStrike" cap="none" normalizeH="0" baseline="0" dirty="0" smtClean="0">
              <a:ln>
                <a:noFill/>
              </a:ln>
              <a:solidFill>
                <a:schemeClr val="tx1"/>
              </a:solidFill>
              <a:effectLst/>
              <a:latin typeface="Arial" panose="020B0604020202020204" pitchFamily="34" charset="0"/>
            </a:endParaRPr>
          </a:p>
        </p:txBody>
      </p:sp>
      <p:graphicFrame>
        <p:nvGraphicFramePr>
          <p:cNvPr id="72711" name="Group 7"/>
          <p:cNvGraphicFramePr>
            <a:graphicFrameLocks noGrp="1"/>
          </p:cNvGraphicFramePr>
          <p:nvPr/>
        </p:nvGraphicFramePr>
        <p:xfrm>
          <a:off x="3338286" y="4071258"/>
          <a:ext cx="2438400" cy="1828800"/>
        </p:xfrm>
        <a:graphic>
          <a:graphicData uri="http://schemas.openxmlformats.org/drawingml/2006/table">
            <a:tbl>
              <a:tblPr/>
              <a:tblGrid>
                <a:gridCol w="1143000"/>
                <a:gridCol w="1295400"/>
              </a:tblGrid>
              <a:tr h="2540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Input</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Output</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255588">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P</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R</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571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AND-GATE</a:t>
            </a:r>
            <a:endParaRPr lang="en-US" dirty="0"/>
          </a:p>
        </p:txBody>
      </p:sp>
      <p:sp>
        <p:nvSpPr>
          <p:cNvPr id="3" name="Content Placeholder 2"/>
          <p:cNvSpPr>
            <a:spLocks noGrp="1"/>
          </p:cNvSpPr>
          <p:nvPr>
            <p:ph sz="quarter" idx="1"/>
          </p:nvPr>
        </p:nvSpPr>
        <p:spPr/>
        <p:txBody>
          <a:bodyPr/>
          <a:lstStyle/>
          <a:p>
            <a:r>
              <a:rPr lang="en-US" dirty="0" smtClean="0"/>
              <a:t>An AND-gate is a circuit with two input signals and one output signal.</a:t>
            </a:r>
            <a:endParaRPr lang="en-US" dirty="0" smtClean="0"/>
          </a:p>
          <a:p>
            <a:r>
              <a:rPr lang="en-US" dirty="0" smtClean="0"/>
              <a:t>If both input signals are 1, the output signal is 1. Otherwise the output signal is 0.</a:t>
            </a:r>
            <a:endParaRPr lang="en-US" dirty="0" smtClean="0"/>
          </a:p>
          <a:p>
            <a:endParaRPr lang="en-US" dirty="0"/>
          </a:p>
        </p:txBody>
      </p:sp>
      <p:pic>
        <p:nvPicPr>
          <p:cNvPr id="1026" name="Picture 2"/>
          <p:cNvPicPr>
            <a:picLocks noChangeAspect="1" noChangeArrowheads="1"/>
          </p:cNvPicPr>
          <p:nvPr/>
        </p:nvPicPr>
        <p:blipFill>
          <a:blip r:embed="rId1"/>
          <a:srcRect/>
          <a:stretch>
            <a:fillRect/>
          </a:stretch>
        </p:blipFill>
        <p:spPr bwMode="auto">
          <a:xfrm>
            <a:off x="1111706" y="3648075"/>
            <a:ext cx="3630591" cy="1000125"/>
          </a:xfrm>
          <a:prstGeom prst="rect">
            <a:avLst/>
          </a:prstGeom>
          <a:noFill/>
          <a:ln w="9525">
            <a:noFill/>
            <a:miter lim="800000"/>
            <a:headEnd/>
            <a:tailEnd/>
          </a:ln>
        </p:spPr>
      </p:pic>
      <p:sp>
        <p:nvSpPr>
          <p:cNvPr id="1027" name="Text Box 3"/>
          <p:cNvSpPr txBox="1">
            <a:spLocks noChangeArrowheads="1"/>
          </p:cNvSpPr>
          <p:nvPr/>
        </p:nvSpPr>
        <p:spPr bwMode="auto">
          <a:xfrm>
            <a:off x="1255712" y="3429000"/>
            <a:ext cx="356188" cy="738664"/>
          </a:xfrm>
          <a:prstGeom prst="rect">
            <a:avLst/>
          </a:prstGeom>
          <a:noFill/>
          <a:ln w="9525">
            <a:noFill/>
            <a:miter lim="800000"/>
          </a:ln>
        </p:spPr>
        <p:txBody>
          <a:bodyPr vert="horz" wrap="none" lIns="91440" tIns="45720" rIns="91440" bIns="4572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2400" b="0" i="0" u="none" strike="noStrike" cap="none" normalizeH="0" baseline="0" dirty="0" smtClean="0">
                <a:ln>
                  <a:noFill/>
                </a:ln>
                <a:solidFill>
                  <a:srgbClr val="000000"/>
                </a:solidFill>
                <a:effectLst/>
                <a:latin typeface="Times New Roman" panose="02020603050405020304" pitchFamily="18" charset="0"/>
              </a:rPr>
              <a:t>P</a:t>
            </a:r>
            <a:endParaRPr kumimoji="0" lang="en-US" sz="2400" b="0" i="0" u="none" strike="noStrike" cap="none" normalizeH="0" baseline="0" dirty="0" smtClean="0">
              <a:ln>
                <a:noFill/>
              </a:ln>
              <a:solidFill>
                <a:srgbClr val="000000"/>
              </a:solidFill>
              <a:effectLst/>
              <a:latin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graphicFrame>
        <p:nvGraphicFramePr>
          <p:cNvPr id="1028" name="Group 4"/>
          <p:cNvGraphicFramePr>
            <a:graphicFrameLocks noGrp="1"/>
          </p:cNvGraphicFramePr>
          <p:nvPr/>
        </p:nvGraphicFramePr>
        <p:xfrm>
          <a:off x="5410200" y="3073404"/>
          <a:ext cx="2438400" cy="2743200"/>
        </p:xfrm>
        <a:graphic>
          <a:graphicData uri="http://schemas.openxmlformats.org/drawingml/2006/table">
            <a:tbl>
              <a:tblPr/>
              <a:tblGrid>
                <a:gridCol w="609600"/>
                <a:gridCol w="609600"/>
                <a:gridCol w="1219200"/>
              </a:tblGrid>
              <a:tr h="303213">
                <a:tc gridSpan="2">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Input</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hMerge="1">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Output</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P</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Q</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R</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br>
              <a:rPr lang="en-US" b="1" dirty="0" smtClean="0"/>
            </a:br>
            <a:r>
              <a:rPr lang="en-US" b="1" u="sng" dirty="0" smtClean="0">
                <a:solidFill>
                  <a:srgbClr val="C00000"/>
                </a:solidFill>
              </a:rPr>
              <a:t>OR-GATE</a:t>
            </a:r>
            <a:endParaRPr lang="en-US" u="sng" dirty="0">
              <a:solidFill>
                <a:srgbClr val="C00000"/>
              </a:solidFill>
            </a:endParaRPr>
          </a:p>
        </p:txBody>
      </p:sp>
      <p:sp>
        <p:nvSpPr>
          <p:cNvPr id="3" name="Content Placeholder 2"/>
          <p:cNvSpPr>
            <a:spLocks noGrp="1"/>
          </p:cNvSpPr>
          <p:nvPr>
            <p:ph sz="quarter" idx="1"/>
          </p:nvPr>
        </p:nvSpPr>
        <p:spPr/>
        <p:txBody>
          <a:bodyPr/>
          <a:lstStyle/>
          <a:p>
            <a:r>
              <a:rPr lang="en-US" dirty="0" smtClean="0"/>
              <a:t>An OR-gate is a circuit with two input signals and one output signal.</a:t>
            </a:r>
            <a:endParaRPr lang="en-US" dirty="0" smtClean="0"/>
          </a:p>
          <a:p>
            <a:r>
              <a:rPr lang="en-US" dirty="0" smtClean="0"/>
              <a:t>If both input signals are 0, then the output signal is 0. Otherwise, the output signal is 1. </a:t>
            </a:r>
            <a:endParaRPr lang="en-US" dirty="0" smtClean="0"/>
          </a:p>
          <a:p>
            <a:endParaRPr lang="en-US" dirty="0"/>
          </a:p>
        </p:txBody>
      </p:sp>
      <p:pic>
        <p:nvPicPr>
          <p:cNvPr id="2050" name="Picture 2"/>
          <p:cNvPicPr>
            <a:picLocks noChangeAspect="1" noChangeArrowheads="1"/>
          </p:cNvPicPr>
          <p:nvPr/>
        </p:nvPicPr>
        <p:blipFill>
          <a:blip r:embed="rId1"/>
          <a:srcRect/>
          <a:stretch>
            <a:fillRect/>
          </a:stretch>
        </p:blipFill>
        <p:spPr bwMode="auto">
          <a:xfrm>
            <a:off x="1460500" y="3505200"/>
            <a:ext cx="2654300" cy="914400"/>
          </a:xfrm>
          <a:prstGeom prst="rect">
            <a:avLst/>
          </a:prstGeom>
          <a:noFill/>
          <a:ln w="9525">
            <a:noFill/>
            <a:miter lim="800000"/>
            <a:headEnd/>
            <a:tailEnd/>
          </a:ln>
          <a:effectLst/>
        </p:spPr>
      </p:pic>
      <p:graphicFrame>
        <p:nvGraphicFramePr>
          <p:cNvPr id="2051" name="Group 3"/>
          <p:cNvGraphicFramePr>
            <a:graphicFrameLocks noGrp="1"/>
          </p:cNvGraphicFramePr>
          <p:nvPr/>
        </p:nvGraphicFramePr>
        <p:xfrm>
          <a:off x="4776108" y="3218544"/>
          <a:ext cx="2615292" cy="2743200"/>
        </p:xfrm>
        <a:graphic>
          <a:graphicData uri="http://schemas.openxmlformats.org/drawingml/2006/table">
            <a:tbl>
              <a:tblPr/>
              <a:tblGrid>
                <a:gridCol w="634092"/>
                <a:gridCol w="609600"/>
                <a:gridCol w="1371600"/>
              </a:tblGrid>
              <a:tr h="180975">
                <a:tc gridSpan="2">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Input</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hMerge="1">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Output</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P</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Q</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R</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C00000"/>
                </a:solidFill>
              </a:rPr>
              <a:t>COMBINATIONAL CIRCUIT</a:t>
            </a:r>
            <a:endParaRPr lang="en-US" dirty="0">
              <a:solidFill>
                <a:srgbClr val="C00000"/>
              </a:solidFill>
            </a:endParaRPr>
          </a:p>
        </p:txBody>
      </p:sp>
      <p:sp>
        <p:nvSpPr>
          <p:cNvPr id="3" name="Content Placeholder 2"/>
          <p:cNvSpPr>
            <a:spLocks noGrp="1"/>
          </p:cNvSpPr>
          <p:nvPr>
            <p:ph sz="quarter" idx="1"/>
          </p:nvPr>
        </p:nvSpPr>
        <p:spPr/>
        <p:txBody>
          <a:bodyPr/>
          <a:lstStyle/>
          <a:p>
            <a:r>
              <a:rPr lang="en-US" dirty="0" smtClean="0"/>
              <a:t>A Combinational Circuit is a compound circuit consisting of the basic logic gates such as NOT,  AND, OR.</a:t>
            </a:r>
            <a:endParaRPr lang="en-US" dirty="0" smtClean="0"/>
          </a:p>
          <a:p>
            <a:endParaRPr lang="en-US" dirty="0" smtClean="0"/>
          </a:p>
          <a:p>
            <a:r>
              <a:rPr lang="en-US" b="1" u="sng" dirty="0" smtClean="0">
                <a:solidFill>
                  <a:srgbClr val="C00000"/>
                </a:solidFill>
              </a:rPr>
              <a:t>Example:</a:t>
            </a:r>
            <a:endParaRPr lang="en-US" b="1" u="sng" dirty="0" smtClean="0">
              <a:solidFill>
                <a:srgbClr val="C00000"/>
              </a:solidFill>
            </a:endParaRPr>
          </a:p>
          <a:p>
            <a:endParaRPr lang="en-US" dirty="0" smtClean="0"/>
          </a:p>
          <a:p>
            <a:endParaRPr lang="en-US" dirty="0"/>
          </a:p>
        </p:txBody>
      </p:sp>
      <p:pic>
        <p:nvPicPr>
          <p:cNvPr id="3074" name="Picture 2"/>
          <p:cNvPicPr>
            <a:picLocks noChangeAspect="1" noChangeArrowheads="1"/>
          </p:cNvPicPr>
          <p:nvPr/>
        </p:nvPicPr>
        <p:blipFill>
          <a:blip r:embed="rId1"/>
          <a:srcRect/>
          <a:stretch>
            <a:fillRect/>
          </a:stretch>
        </p:blipFill>
        <p:spPr bwMode="auto">
          <a:xfrm>
            <a:off x="1221419" y="3352800"/>
            <a:ext cx="6779581" cy="2133600"/>
          </a:xfrm>
          <a:prstGeom prst="rect">
            <a:avLst/>
          </a:prstGeom>
          <a:noFill/>
          <a:ln w="9525">
            <a:noFill/>
            <a:miter lim="800000"/>
            <a:headEnd/>
            <a:tailEnd/>
          </a:ln>
          <a:effectLst/>
        </p:spPr>
      </p:pic>
      <p:sp>
        <p:nvSpPr>
          <p:cNvPr id="5" name="Rectangle 4"/>
          <p:cNvSpPr/>
          <p:nvPr/>
        </p:nvSpPr>
        <p:spPr>
          <a:xfrm>
            <a:off x="7667172" y="4270830"/>
            <a:ext cx="3810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s</a:t>
            </a:r>
            <a:endParaRPr lang="en-US" sz="2800" dirty="0">
              <a:solidFill>
                <a:schemeClr val="tx1"/>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solidFill>
                  <a:srgbClr val="C00000"/>
                </a:solidFill>
              </a:rPr>
              <a:t>Rules to form a COMBINATIONAL CIRCUIT</a:t>
            </a:r>
            <a:endParaRPr lang="en-US" u="sng" dirty="0">
              <a:solidFill>
                <a:srgbClr val="C00000"/>
              </a:solidFill>
            </a:endParaRPr>
          </a:p>
        </p:txBody>
      </p:sp>
      <p:sp>
        <p:nvSpPr>
          <p:cNvPr id="3" name="Content Placeholder 2"/>
          <p:cNvSpPr>
            <a:spLocks noGrp="1"/>
          </p:cNvSpPr>
          <p:nvPr>
            <p:ph sz="quarter" idx="1"/>
          </p:nvPr>
        </p:nvSpPr>
        <p:spPr/>
        <p:txBody>
          <a:bodyPr/>
          <a:lstStyle/>
          <a:p>
            <a:r>
              <a:rPr lang="en-US" dirty="0" smtClean="0"/>
              <a:t>To combine two inputs we will MUST use any gate.</a:t>
            </a:r>
            <a:endParaRPr lang="en-US" dirty="0" smtClean="0"/>
          </a:p>
          <a:p>
            <a:endParaRPr lang="en-US" dirty="0" smtClean="0"/>
          </a:p>
          <a:p>
            <a:r>
              <a:rPr lang="en-US" dirty="0" smtClean="0"/>
              <a:t>We can split input and use it for different gates.</a:t>
            </a:r>
            <a:endParaRPr lang="en-US" dirty="0" smtClean="0"/>
          </a:p>
          <a:p>
            <a:endParaRPr lang="en-US" dirty="0" smtClean="0"/>
          </a:p>
          <a:p>
            <a:r>
              <a:rPr lang="en-US" dirty="0" smtClean="0"/>
              <a:t>The output of one gate can be use for input for other gates.</a:t>
            </a:r>
            <a:endParaRPr lang="en-US" dirty="0" smtClean="0"/>
          </a:p>
          <a:p>
            <a:endParaRPr lang="en-US" dirty="0" smtClean="0"/>
          </a:p>
          <a:p>
            <a:r>
              <a:rPr lang="en-US" dirty="0" smtClean="0"/>
              <a:t>The output of one gate CANNOT be used for input for the same gate. (this rule is specific to combinational circuit, not implemented to other circuits)</a:t>
            </a:r>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solidFill>
                  <a:srgbClr val="C00000"/>
                </a:solidFill>
              </a:rPr>
              <a:t>DETERMINING OUTPUT FOR A GIVEN INPUT</a:t>
            </a:r>
            <a:endParaRPr lang="en-US" dirty="0">
              <a:solidFill>
                <a:srgbClr val="C00000"/>
              </a:solidFill>
            </a:endParaRPr>
          </a:p>
        </p:txBody>
      </p:sp>
      <p:sp>
        <p:nvSpPr>
          <p:cNvPr id="3" name="Content Placeholder 2"/>
          <p:cNvSpPr>
            <a:spLocks noGrp="1"/>
          </p:cNvSpPr>
          <p:nvPr>
            <p:ph sz="quarter" idx="1"/>
          </p:nvPr>
        </p:nvSpPr>
        <p:spPr/>
        <p:txBody>
          <a:bodyPr/>
          <a:lstStyle/>
          <a:p>
            <a:r>
              <a:rPr lang="en-US" dirty="0" smtClean="0"/>
              <a:t>Indicate the output of the circuit below when the input signals are P = 1, Q = 0 and R = 0</a:t>
            </a:r>
            <a:endParaRPr lang="en-US" dirty="0" smtClean="0"/>
          </a:p>
          <a:p>
            <a:endParaRPr lang="en-US" dirty="0"/>
          </a:p>
        </p:txBody>
      </p:sp>
      <p:pic>
        <p:nvPicPr>
          <p:cNvPr id="4098" name="Picture 2"/>
          <p:cNvPicPr>
            <a:picLocks noChangeAspect="1" noChangeArrowheads="1"/>
          </p:cNvPicPr>
          <p:nvPr/>
        </p:nvPicPr>
        <p:blipFill>
          <a:blip r:embed="rId1"/>
          <a:srcRect/>
          <a:stretch>
            <a:fillRect/>
          </a:stretch>
        </p:blipFill>
        <p:spPr bwMode="auto">
          <a:xfrm>
            <a:off x="1533978" y="2349051"/>
            <a:ext cx="5962650" cy="223857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OUTPUT FOR A GIVEN INPUT</a:t>
            </a:r>
            <a:endParaRPr lang="en-US" b="1" u="sng" dirty="0">
              <a:solidFill>
                <a:srgbClr val="C00000"/>
              </a:solidFill>
            </a:endParaRPr>
          </a:p>
        </p:txBody>
      </p:sp>
      <p:sp>
        <p:nvSpPr>
          <p:cNvPr id="3" name="Content Placeholder 2"/>
          <p:cNvSpPr>
            <a:spLocks noGrp="1"/>
          </p:cNvSpPr>
          <p:nvPr>
            <p:ph sz="quarter" idx="1"/>
          </p:nvPr>
        </p:nvSpPr>
        <p:spPr/>
        <p:txBody>
          <a:bodyPr/>
          <a:lstStyle/>
          <a:p>
            <a:pPr>
              <a:buNone/>
            </a:pPr>
            <a:r>
              <a:rPr lang="en-US" dirty="0" smtClean="0"/>
              <a:t>				P = 1, Q = 0 and R = 0</a:t>
            </a: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b="1" dirty="0" smtClean="0"/>
              <a:t>				</a:t>
            </a:r>
            <a:r>
              <a:rPr lang="en-US" b="1" u="sng" dirty="0" smtClean="0"/>
              <a:t>Output S = 1</a:t>
            </a:r>
            <a:endParaRPr lang="en-US" dirty="0" smtClean="0"/>
          </a:p>
          <a:p>
            <a:pPr>
              <a:buNone/>
            </a:pPr>
            <a:endParaRPr lang="en-US" dirty="0"/>
          </a:p>
        </p:txBody>
      </p:sp>
      <p:pic>
        <p:nvPicPr>
          <p:cNvPr id="5122" name="Picture 2"/>
          <p:cNvPicPr>
            <a:picLocks noChangeAspect="1" noChangeArrowheads="1"/>
          </p:cNvPicPr>
          <p:nvPr/>
        </p:nvPicPr>
        <p:blipFill>
          <a:blip r:embed="rId1"/>
          <a:srcRect/>
          <a:stretch>
            <a:fillRect/>
          </a:stretch>
        </p:blipFill>
        <p:spPr bwMode="auto">
          <a:xfrm>
            <a:off x="1219200" y="1828800"/>
            <a:ext cx="6934200" cy="2514599"/>
          </a:xfrm>
          <a:prstGeom prst="rect">
            <a:avLst/>
          </a:prstGeom>
          <a:noFill/>
          <a:ln w="9525">
            <a:noFill/>
            <a:miter lim="800000"/>
            <a:headEnd/>
            <a:tailEnd/>
          </a:ln>
        </p:spPr>
      </p:pic>
      <p:sp>
        <p:nvSpPr>
          <p:cNvPr id="5" name="Rectangle 4"/>
          <p:cNvSpPr/>
          <p:nvPr/>
        </p:nvSpPr>
        <p:spPr>
          <a:xfrm>
            <a:off x="1752600" y="1875972"/>
            <a:ext cx="6858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rgbClr val="C00000"/>
                </a:solidFill>
              </a:rPr>
              <a:t>1</a:t>
            </a:r>
            <a:endParaRPr lang="en-US" sz="2400" b="1" dirty="0">
              <a:solidFill>
                <a:srgbClr val="C00000"/>
              </a:solidFill>
            </a:endParaRPr>
          </a:p>
        </p:txBody>
      </p:sp>
      <p:sp>
        <p:nvSpPr>
          <p:cNvPr id="6" name="Rectangle 5"/>
          <p:cNvSpPr/>
          <p:nvPr/>
        </p:nvSpPr>
        <p:spPr>
          <a:xfrm>
            <a:off x="1752600" y="2362200"/>
            <a:ext cx="6858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rgbClr val="C00000"/>
                </a:solidFill>
              </a:rPr>
              <a:t>0</a:t>
            </a:r>
            <a:endParaRPr lang="en-US" sz="2400" b="1" dirty="0">
              <a:solidFill>
                <a:srgbClr val="C00000"/>
              </a:solidFill>
            </a:endParaRPr>
          </a:p>
        </p:txBody>
      </p:sp>
      <p:sp>
        <p:nvSpPr>
          <p:cNvPr id="7" name="Rectangle 6"/>
          <p:cNvSpPr/>
          <p:nvPr/>
        </p:nvSpPr>
        <p:spPr>
          <a:xfrm>
            <a:off x="1752600" y="3352800"/>
            <a:ext cx="6858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rgbClr val="C00000"/>
                </a:solidFill>
              </a:rPr>
              <a:t>0</a:t>
            </a:r>
            <a:endParaRPr lang="en-US" sz="2400" b="1" dirty="0">
              <a:solidFill>
                <a:srgbClr val="C00000"/>
              </a:solidFill>
            </a:endParaRPr>
          </a:p>
        </p:txBody>
      </p:sp>
      <p:sp>
        <p:nvSpPr>
          <p:cNvPr id="8" name="Rectangle 7"/>
          <p:cNvSpPr/>
          <p:nvPr/>
        </p:nvSpPr>
        <p:spPr>
          <a:xfrm>
            <a:off x="3657600" y="2057400"/>
            <a:ext cx="6858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rgbClr val="C00000"/>
                </a:solidFill>
              </a:rPr>
              <a:t>0</a:t>
            </a:r>
            <a:endParaRPr lang="en-US" sz="2400" b="1" dirty="0">
              <a:solidFill>
                <a:srgbClr val="C00000"/>
              </a:solidFill>
            </a:endParaRPr>
          </a:p>
        </p:txBody>
      </p:sp>
      <p:sp>
        <p:nvSpPr>
          <p:cNvPr id="9" name="Rectangle 8"/>
          <p:cNvSpPr/>
          <p:nvPr/>
        </p:nvSpPr>
        <p:spPr>
          <a:xfrm>
            <a:off x="4876800" y="2024742"/>
            <a:ext cx="6858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rgbClr val="C00000"/>
                </a:solidFill>
              </a:rPr>
              <a:t>1</a:t>
            </a:r>
            <a:endParaRPr lang="en-US" sz="2400" b="1" dirty="0">
              <a:solidFill>
                <a:srgbClr val="C00000"/>
              </a:solidFill>
            </a:endParaRPr>
          </a:p>
        </p:txBody>
      </p:sp>
      <p:sp>
        <p:nvSpPr>
          <p:cNvPr id="10" name="Rectangle 9"/>
          <p:cNvSpPr/>
          <p:nvPr/>
        </p:nvSpPr>
        <p:spPr>
          <a:xfrm>
            <a:off x="7848600" y="3352800"/>
            <a:ext cx="6858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rgbClr val="C00000"/>
                </a:solidFill>
              </a:rPr>
              <a:t>1</a:t>
            </a:r>
            <a:endParaRPr lang="en-US" sz="2400"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2000"/>
                                        <p:tgtEl>
                                          <p:spTgt spid="51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2000"/>
                                        <p:tgtEl>
                                          <p:spTgt spid="5">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2000"/>
                                        <p:tgtEl>
                                          <p:spTgt spid="6">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fade">
                                      <p:cBhvr>
                                        <p:cTn id="18" dur="2000"/>
                                        <p:tgtEl>
                                          <p:spTgt spid="7">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fade">
                                      <p:cBhvr>
                                        <p:cTn id="23" dur="2000"/>
                                        <p:tgtEl>
                                          <p:spTgt spid="8">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0" end="0"/>
                                            </p:txEl>
                                          </p:spTgt>
                                        </p:tgtEl>
                                        <p:attrNameLst>
                                          <p:attrName>style.visibility</p:attrName>
                                        </p:attrNameLst>
                                      </p:cBhvr>
                                      <p:to>
                                        <p:strVal val="visible"/>
                                      </p:to>
                                    </p:set>
                                    <p:animEffect transition="in" filter="fade">
                                      <p:cBhvr>
                                        <p:cTn id="28" dur="2000"/>
                                        <p:tgtEl>
                                          <p:spTgt spid="9">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xEl>
                                              <p:pRg st="0" end="0"/>
                                            </p:txEl>
                                          </p:spTgt>
                                        </p:tgtEl>
                                        <p:attrNameLst>
                                          <p:attrName>style.visibility</p:attrName>
                                        </p:attrNameLst>
                                      </p:cBhvr>
                                      <p:to>
                                        <p:strVal val="visible"/>
                                      </p:to>
                                    </p:set>
                                    <p:animEffect transition="in" filter="fade">
                                      <p:cBhvr>
                                        <p:cTn id="33" dur="2000"/>
                                        <p:tgtEl>
                                          <p:spTgt spid="10">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0" end="0"/>
                                            </p:txEl>
                                          </p:spTgt>
                                        </p:tgtEl>
                                        <p:attrNameLst>
                                          <p:attrName>style.visibility</p:attrName>
                                        </p:attrNameLst>
                                      </p:cBhvr>
                                      <p:to>
                                        <p:strVal val="visible"/>
                                      </p:to>
                                    </p:set>
                                    <p:animEffect transition="in" filter="fade">
                                      <p:cBhvr>
                                        <p:cTn id="38" dur="2000"/>
                                        <p:tgtEl>
                                          <p:spTgt spid="3">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P spid="6" grpId="0" build="p"/>
      <p:bldP spid="7" grpId="0" build="p"/>
      <p:bldP spid="8" grpId="0" build="p"/>
      <p:bldP spid="9" grpId="0" build="p"/>
      <p:bldP spid="1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INPUT/OUTPUT Table for a Circuit</a:t>
            </a:r>
            <a:endParaRPr lang="en-US" b="1" u="sng" dirty="0">
              <a:solidFill>
                <a:srgbClr val="C00000"/>
              </a:solidFill>
            </a:endParaRPr>
          </a:p>
        </p:txBody>
      </p:sp>
      <p:sp>
        <p:nvSpPr>
          <p:cNvPr id="3" name="Content Placeholder 2"/>
          <p:cNvSpPr>
            <a:spLocks noGrp="1"/>
          </p:cNvSpPr>
          <p:nvPr>
            <p:ph sz="quarter" idx="1"/>
          </p:nvPr>
        </p:nvSpPr>
        <p:spPr/>
        <p:txBody>
          <a:bodyPr/>
          <a:lstStyle/>
          <a:p>
            <a:r>
              <a:rPr lang="en-US" dirty="0" smtClean="0"/>
              <a:t>Construct the input/output table for the following circuit.</a:t>
            </a:r>
            <a:endParaRPr lang="en-US" dirty="0" smtClean="0"/>
          </a:p>
          <a:p>
            <a:endParaRPr lang="en-US" dirty="0" smtClean="0"/>
          </a:p>
          <a:p>
            <a:endParaRPr lang="en-US" dirty="0" smtClean="0"/>
          </a:p>
          <a:p>
            <a:endParaRPr lang="en-US" dirty="0" smtClean="0"/>
          </a:p>
          <a:p>
            <a:endParaRPr lang="en-US" b="1" u="sng" dirty="0" smtClean="0"/>
          </a:p>
          <a:p>
            <a:r>
              <a:rPr lang="en-US" u="sng" dirty="0" smtClean="0">
                <a:solidFill>
                  <a:srgbClr val="C00000"/>
                </a:solidFill>
              </a:rPr>
              <a:t>LABELING INTERMEDIATE OUTPUTS</a:t>
            </a:r>
            <a:endParaRPr lang="en-US" dirty="0" smtClean="0">
              <a:solidFill>
                <a:srgbClr val="C00000"/>
              </a:solidFill>
            </a:endParaRPr>
          </a:p>
          <a:p>
            <a:endParaRPr lang="en-US" dirty="0" smtClean="0"/>
          </a:p>
          <a:p>
            <a:endParaRPr lang="en-US" dirty="0"/>
          </a:p>
        </p:txBody>
      </p:sp>
      <p:pic>
        <p:nvPicPr>
          <p:cNvPr id="7171" name="Picture 3"/>
          <p:cNvPicPr>
            <a:picLocks noChangeAspect="1" noChangeArrowheads="1"/>
          </p:cNvPicPr>
          <p:nvPr/>
        </p:nvPicPr>
        <p:blipFill>
          <a:blip r:embed="rId1"/>
          <a:srcRect/>
          <a:stretch>
            <a:fillRect/>
          </a:stretch>
        </p:blipFill>
        <p:spPr bwMode="auto">
          <a:xfrm>
            <a:off x="1969833" y="4343400"/>
            <a:ext cx="5819775" cy="1498600"/>
          </a:xfrm>
          <a:prstGeom prst="rect">
            <a:avLst/>
          </a:prstGeom>
          <a:noFill/>
          <a:ln w="9525">
            <a:noFill/>
            <a:miter lim="800000"/>
            <a:headEnd/>
            <a:tailEnd/>
          </a:ln>
          <a:effectLst/>
        </p:spPr>
      </p:pic>
      <p:pic>
        <p:nvPicPr>
          <p:cNvPr id="6146" name="Picture 2"/>
          <p:cNvPicPr>
            <a:picLocks noChangeAspect="1" noChangeArrowheads="1"/>
          </p:cNvPicPr>
          <p:nvPr/>
        </p:nvPicPr>
        <p:blipFill>
          <a:blip r:embed="rId2"/>
          <a:srcRect/>
          <a:stretch>
            <a:fillRect/>
          </a:stretch>
        </p:blipFill>
        <p:spPr bwMode="auto">
          <a:xfrm>
            <a:off x="1999344" y="2006610"/>
            <a:ext cx="5727700" cy="147637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fade">
                                      <p:cBhvr>
                                        <p:cTn id="7" dur="2000"/>
                                        <p:tgtEl>
                                          <p:spTgt spid="61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20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171"/>
                                        </p:tgtEl>
                                        <p:attrNameLst>
                                          <p:attrName>style.visibility</p:attrName>
                                        </p:attrNameLst>
                                      </p:cBhvr>
                                      <p:to>
                                        <p:strVal val="visible"/>
                                      </p:to>
                                    </p:set>
                                    <p:animEffect transition="in" filter="fade">
                                      <p:cBhvr>
                                        <p:cTn id="22" dur="2000"/>
                                        <p:tgtEl>
                                          <p:spTgt spid="7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TRUTH TABLE FOR CIRCUIT</a:t>
            </a:r>
            <a:endParaRPr lang="en-US" b="1" u="sng" dirty="0">
              <a:solidFill>
                <a:srgbClr val="C00000"/>
              </a:solidFill>
            </a:endParaRPr>
          </a:p>
        </p:txBody>
      </p:sp>
      <p:graphicFrame>
        <p:nvGraphicFramePr>
          <p:cNvPr id="7170" name="Group 2"/>
          <p:cNvGraphicFramePr>
            <a:graphicFrameLocks noGrp="1"/>
          </p:cNvGraphicFramePr>
          <p:nvPr/>
        </p:nvGraphicFramePr>
        <p:xfrm>
          <a:off x="1774368" y="1418772"/>
          <a:ext cx="5638800" cy="4114800"/>
        </p:xfrm>
        <a:graphic>
          <a:graphicData uri="http://schemas.openxmlformats.org/drawingml/2006/table">
            <a:tbl>
              <a:tblPr/>
              <a:tblGrid>
                <a:gridCol w="990600"/>
                <a:gridCol w="990600"/>
                <a:gridCol w="914400"/>
                <a:gridCol w="838200"/>
                <a:gridCol w="914400"/>
                <a:gridCol w="990600"/>
              </a:tblGrid>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P</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Q</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R</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X</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Y</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S</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TRUTH TABLE FOR CIRCUIT</a:t>
            </a:r>
            <a:endParaRPr lang="en-US" b="1" u="sng" dirty="0">
              <a:solidFill>
                <a:srgbClr val="C00000"/>
              </a:solidFill>
            </a:endParaRPr>
          </a:p>
        </p:txBody>
      </p:sp>
      <p:graphicFrame>
        <p:nvGraphicFramePr>
          <p:cNvPr id="7170" name="Group 2"/>
          <p:cNvGraphicFramePr>
            <a:graphicFrameLocks noGrp="1"/>
          </p:cNvGraphicFramePr>
          <p:nvPr/>
        </p:nvGraphicFramePr>
        <p:xfrm>
          <a:off x="1774368" y="1418772"/>
          <a:ext cx="5638800" cy="4114800"/>
        </p:xfrm>
        <a:graphic>
          <a:graphicData uri="http://schemas.openxmlformats.org/drawingml/2006/table">
            <a:tbl>
              <a:tblPr/>
              <a:tblGrid>
                <a:gridCol w="990600"/>
                <a:gridCol w="990600"/>
                <a:gridCol w="914400"/>
                <a:gridCol w="838200"/>
                <a:gridCol w="914400"/>
                <a:gridCol w="990600"/>
              </a:tblGrid>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P</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Q</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R</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X</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Y</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S</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solidFill>
                  <a:srgbClr val="C00000"/>
                </a:solidFill>
              </a:rPr>
              <a:t>BOOLEAN VARIABLE &amp; BOOLEAN EXPRESSION</a:t>
            </a:r>
            <a:endParaRPr lang="en-US" b="1" u="sng" dirty="0">
              <a:solidFill>
                <a:srgbClr val="C00000"/>
              </a:solidFill>
            </a:endParaRPr>
          </a:p>
        </p:txBody>
      </p:sp>
      <p:sp>
        <p:nvSpPr>
          <p:cNvPr id="3" name="Content Placeholder 2"/>
          <p:cNvSpPr>
            <a:spLocks noGrp="1"/>
          </p:cNvSpPr>
          <p:nvPr>
            <p:ph sz="quarter" idx="1"/>
          </p:nvPr>
        </p:nvSpPr>
        <p:spPr/>
        <p:txBody>
          <a:bodyPr/>
          <a:lstStyle/>
          <a:p>
            <a:r>
              <a:rPr lang="en-US" dirty="0" smtClean="0"/>
              <a:t>The variable that have only two possible values, that variable is called </a:t>
            </a:r>
            <a:r>
              <a:rPr lang="en-US" b="1" i="1" dirty="0" smtClean="0">
                <a:solidFill>
                  <a:srgbClr val="00B0F0"/>
                </a:solidFill>
              </a:rPr>
              <a:t>Boolean Variable</a:t>
            </a:r>
            <a:r>
              <a:rPr lang="en-US" dirty="0" smtClean="0"/>
              <a:t>.</a:t>
            </a:r>
            <a:endParaRPr lang="en-US" dirty="0" smtClean="0"/>
          </a:p>
          <a:p>
            <a:endParaRPr lang="en-US" dirty="0" smtClean="0"/>
          </a:p>
          <a:p>
            <a:r>
              <a:rPr lang="en-US" dirty="0" smtClean="0"/>
              <a:t>When we connect Boolean variables with different AND, OR and NOT connective, the resultant expression is called </a:t>
            </a:r>
            <a:r>
              <a:rPr lang="en-US" b="1" i="1" dirty="0" smtClean="0">
                <a:solidFill>
                  <a:srgbClr val="00B0F0"/>
                </a:solidFill>
              </a:rPr>
              <a:t>Boolean Expression</a:t>
            </a:r>
            <a:r>
              <a:rPr lang="en-US" dirty="0" smtClean="0"/>
              <a:t>.</a:t>
            </a:r>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solidFill>
                  <a:srgbClr val="C00000"/>
                </a:solidFill>
              </a:rPr>
              <a:t>FINDING A BOOLEAN EXPRESSION FOR A CIRCUIT</a:t>
            </a:r>
            <a:endParaRPr lang="en-US" dirty="0"/>
          </a:p>
        </p:txBody>
      </p:sp>
      <p:sp>
        <p:nvSpPr>
          <p:cNvPr id="3" name="Content Placeholder 2"/>
          <p:cNvSpPr>
            <a:spLocks noGrp="1"/>
          </p:cNvSpPr>
          <p:nvPr>
            <p:ph sz="quarter" idx="1"/>
          </p:nvPr>
        </p:nvSpPr>
        <p:spPr/>
        <p:txBody>
          <a:bodyPr/>
          <a:lstStyle/>
          <a:p>
            <a:r>
              <a:rPr lang="en-US" dirty="0"/>
              <a:t>Find a Boolean expression for a circuit?</a:t>
            </a:r>
            <a:endParaRPr lang="en-US" dirty="0"/>
          </a:p>
          <a:p>
            <a:endParaRPr lang="en-US" dirty="0"/>
          </a:p>
          <a:p>
            <a:endParaRPr lang="en-US" dirty="0"/>
          </a:p>
        </p:txBody>
      </p:sp>
      <p:pic>
        <p:nvPicPr>
          <p:cNvPr id="4" name="Picture 2"/>
          <p:cNvPicPr>
            <a:picLocks noChangeAspect="1" noChangeArrowheads="1"/>
          </p:cNvPicPr>
          <p:nvPr/>
        </p:nvPicPr>
        <p:blipFill>
          <a:blip r:embed="rId1"/>
          <a:srcRect/>
          <a:stretch>
            <a:fillRect/>
          </a:stretch>
        </p:blipFill>
        <p:spPr bwMode="auto">
          <a:xfrm>
            <a:off x="1981200" y="2901474"/>
            <a:ext cx="5459413" cy="1573212"/>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solidFill>
                  <a:srgbClr val="C00000"/>
                </a:solidFill>
              </a:rPr>
              <a:t>FINDING A BOOLEAN EXPRESSION FOR A CIRCUIT</a:t>
            </a:r>
            <a:endParaRPr lang="en-US" dirty="0">
              <a:solidFill>
                <a:srgbClr val="C00000"/>
              </a:solidFill>
            </a:endParaRPr>
          </a:p>
        </p:txBody>
      </p:sp>
      <p:sp>
        <p:nvSpPr>
          <p:cNvPr id="3" name="Content Placeholder 2"/>
          <p:cNvSpPr>
            <a:spLocks noGrp="1"/>
          </p:cNvSpPr>
          <p:nvPr>
            <p:ph sz="quarter" idx="1"/>
          </p:nvPr>
        </p:nvSpPr>
        <p:spPr>
          <a:xfrm>
            <a:off x="457200" y="1219200"/>
            <a:ext cx="8229600" cy="5181600"/>
          </a:xfrm>
        </p:spPr>
        <p:txBody>
          <a:bodyPr/>
          <a:lstStyle/>
          <a:p>
            <a:r>
              <a:rPr lang="en-US" dirty="0" smtClean="0"/>
              <a:t>Find a Boolean expression for a circuit?</a:t>
            </a:r>
            <a:endParaRPr lang="en-US" dirty="0" smtClean="0"/>
          </a:p>
          <a:p>
            <a:endParaRPr lang="en-US" dirty="0" smtClean="0"/>
          </a:p>
          <a:p>
            <a:endParaRPr lang="en-US" dirty="0" smtClean="0"/>
          </a:p>
          <a:p>
            <a:endParaRPr lang="en-US" dirty="0" smtClean="0"/>
          </a:p>
          <a:p>
            <a:r>
              <a:rPr lang="en-US" b="1" u="sng" dirty="0" smtClean="0">
                <a:solidFill>
                  <a:srgbClr val="C00000"/>
                </a:solidFill>
              </a:rPr>
              <a:t>Solution:</a:t>
            </a:r>
            <a:endParaRPr lang="en-US" b="1" u="sng" dirty="0" smtClean="0">
              <a:solidFill>
                <a:srgbClr val="C00000"/>
              </a:solidFill>
            </a:endParaRPr>
          </a:p>
          <a:p>
            <a:pPr>
              <a:buNone/>
            </a:pPr>
            <a:r>
              <a:rPr lang="en-US" dirty="0" smtClean="0"/>
              <a:t>	Trace through the circuit from left to right, writing down the output of each logic gate.</a:t>
            </a:r>
            <a:endParaRPr lang="en-US" dirty="0" smtClean="0"/>
          </a:p>
          <a:p>
            <a:pPr>
              <a:buNone/>
            </a:pPr>
            <a:endParaRPr lang="en-US" dirty="0" smtClean="0"/>
          </a:p>
          <a:p>
            <a:pPr>
              <a:buNone/>
            </a:pPr>
            <a:endParaRPr lang="en-US" dirty="0" smtClean="0"/>
          </a:p>
          <a:p>
            <a:pPr>
              <a:buNone/>
            </a:pPr>
            <a:endParaRPr lang="en-US" dirty="0" smtClean="0"/>
          </a:p>
          <a:p>
            <a:pPr>
              <a:buNone/>
            </a:pPr>
            <a:r>
              <a:rPr lang="en-US" sz="2400" dirty="0" smtClean="0"/>
              <a:t>Hence                       is the Boolean expression for this circuit</a:t>
            </a:r>
            <a:r>
              <a:rPr lang="en-US" dirty="0" smtClean="0"/>
              <a:t>.</a:t>
            </a:r>
            <a:endParaRPr lang="en-US" dirty="0" smtClean="0"/>
          </a:p>
          <a:p>
            <a:endParaRPr lang="en-US" dirty="0" smtClean="0"/>
          </a:p>
          <a:p>
            <a:endParaRPr lang="en-US" dirty="0" smtClean="0"/>
          </a:p>
          <a:p>
            <a:endParaRPr lang="en-US" dirty="0" smtClean="0"/>
          </a:p>
          <a:p>
            <a:endParaRPr lang="en-US" dirty="0" smtClean="0"/>
          </a:p>
          <a:p>
            <a:endParaRPr lang="en-US" dirty="0"/>
          </a:p>
        </p:txBody>
      </p:sp>
      <p:pic>
        <p:nvPicPr>
          <p:cNvPr id="1026" name="Picture 2"/>
          <p:cNvPicPr>
            <a:picLocks noChangeAspect="1" noChangeArrowheads="1"/>
          </p:cNvPicPr>
          <p:nvPr/>
        </p:nvPicPr>
        <p:blipFill>
          <a:blip r:embed="rId1"/>
          <a:srcRect/>
          <a:stretch>
            <a:fillRect/>
          </a:stretch>
        </p:blipFill>
        <p:spPr bwMode="auto">
          <a:xfrm>
            <a:off x="2418203" y="1658256"/>
            <a:ext cx="5459413" cy="1573212"/>
          </a:xfrm>
          <a:prstGeom prst="rect">
            <a:avLst/>
          </a:prstGeom>
          <a:noFill/>
          <a:ln w="9525">
            <a:noFill/>
            <a:miter lim="800000"/>
            <a:headEnd/>
            <a:tailEnd/>
          </a:ln>
          <a:effectLst/>
        </p:spPr>
      </p:pic>
      <p:pic>
        <p:nvPicPr>
          <p:cNvPr id="1027" name="Picture 3"/>
          <p:cNvPicPr>
            <a:picLocks noChangeAspect="1" noChangeArrowheads="1"/>
          </p:cNvPicPr>
          <p:nvPr/>
        </p:nvPicPr>
        <p:blipFill>
          <a:blip r:embed="rId2"/>
          <a:srcRect/>
          <a:stretch>
            <a:fillRect/>
          </a:stretch>
        </p:blipFill>
        <p:spPr bwMode="auto">
          <a:xfrm>
            <a:off x="2510517" y="4454749"/>
            <a:ext cx="5915025" cy="1604963"/>
          </a:xfrm>
          <a:prstGeom prst="rect">
            <a:avLst/>
          </a:prstGeom>
          <a:noFill/>
          <a:ln w="9525">
            <a:noFill/>
            <a:miter lim="800000"/>
            <a:headEnd/>
            <a:tailEnd/>
          </a:ln>
          <a:effectLst/>
        </p:spPr>
      </p:pic>
      <p:sp>
        <p:nvSpPr>
          <p:cNvPr id="6" name="Rectangle 5"/>
          <p:cNvSpPr/>
          <p:nvPr/>
        </p:nvSpPr>
        <p:spPr>
          <a:xfrm>
            <a:off x="5334000" y="4495800"/>
            <a:ext cx="5334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228772" y="5232396"/>
            <a:ext cx="5334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191828" y="4894938"/>
            <a:ext cx="1175658" cy="2249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105400" y="4419600"/>
            <a:ext cx="838200"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C00000"/>
                </a:solidFill>
              </a:rPr>
              <a:t>P </a:t>
            </a:r>
            <a:r>
              <a:rPr lang="en-US" b="1" dirty="0" smtClean="0">
                <a:solidFill>
                  <a:srgbClr val="C00000"/>
                </a:solidFill>
                <a:sym typeface="Symbol" panose="05050102010706020507"/>
              </a:rPr>
              <a:t> Q</a:t>
            </a:r>
            <a:endParaRPr lang="en-US" dirty="0">
              <a:solidFill>
                <a:srgbClr val="C00000"/>
              </a:solidFill>
            </a:endParaRPr>
          </a:p>
        </p:txBody>
      </p:sp>
      <p:sp>
        <p:nvSpPr>
          <p:cNvPr id="10" name="Rectangle 9"/>
          <p:cNvSpPr/>
          <p:nvPr/>
        </p:nvSpPr>
        <p:spPr>
          <a:xfrm>
            <a:off x="5145728" y="5040868"/>
            <a:ext cx="758541" cy="369332"/>
          </a:xfrm>
          <a:prstGeom prst="rect">
            <a:avLst/>
          </a:prstGeom>
        </p:spPr>
        <p:txBody>
          <a:bodyPr wrap="none">
            <a:spAutoFit/>
          </a:bodyPr>
          <a:lstStyle/>
          <a:p>
            <a:r>
              <a:rPr lang="en-US" b="1" dirty="0" smtClean="0">
                <a:solidFill>
                  <a:srgbClr val="C00000"/>
                </a:solidFill>
              </a:rPr>
              <a:t>P </a:t>
            </a:r>
            <a:r>
              <a:rPr lang="en-US" b="1" dirty="0" smtClean="0">
                <a:solidFill>
                  <a:srgbClr val="C00000"/>
                </a:solidFill>
                <a:sym typeface="Symbol" panose="05050102010706020507"/>
              </a:rPr>
              <a:t> R</a:t>
            </a:r>
            <a:endParaRPr lang="en-US" dirty="0">
              <a:solidFill>
                <a:srgbClr val="C00000"/>
              </a:solidFill>
            </a:endParaRPr>
          </a:p>
        </p:txBody>
      </p:sp>
      <p:sp>
        <p:nvSpPr>
          <p:cNvPr id="11" name="Rectangle 10"/>
          <p:cNvSpPr/>
          <p:nvPr/>
        </p:nvSpPr>
        <p:spPr>
          <a:xfrm>
            <a:off x="7162800" y="4724400"/>
            <a:ext cx="19812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rgbClr val="C00000"/>
                </a:solidFill>
              </a:rPr>
              <a:t>(P </a:t>
            </a:r>
            <a:r>
              <a:rPr lang="en-US" b="1" dirty="0" smtClean="0">
                <a:solidFill>
                  <a:srgbClr val="C00000"/>
                </a:solidFill>
                <a:sym typeface="Symbol" panose="05050102010706020507"/>
              </a:rPr>
              <a:t> Q)</a:t>
            </a:r>
            <a:r>
              <a:rPr lang="en-US" b="1" dirty="0" smtClean="0">
                <a:sym typeface="Symbol" panose="05050102010706020507"/>
              </a:rPr>
              <a:t> </a:t>
            </a:r>
            <a:r>
              <a:rPr lang="en-US" b="1" dirty="0" smtClean="0">
                <a:solidFill>
                  <a:srgbClr val="C00000"/>
                </a:solidFill>
                <a:sym typeface="Symbol" panose="05050102010706020507"/>
              </a:rPr>
              <a:t> (</a:t>
            </a:r>
            <a:r>
              <a:rPr lang="en-US" b="1" dirty="0" smtClean="0">
                <a:solidFill>
                  <a:srgbClr val="C00000"/>
                </a:solidFill>
              </a:rPr>
              <a:t>P </a:t>
            </a:r>
            <a:r>
              <a:rPr lang="en-US" b="1" dirty="0" smtClean="0">
                <a:solidFill>
                  <a:srgbClr val="C00000"/>
                </a:solidFill>
                <a:sym typeface="Symbol" panose="05050102010706020507"/>
              </a:rPr>
              <a:t> R)</a:t>
            </a:r>
            <a:endParaRPr lang="en-US" dirty="0">
              <a:solidFill>
                <a:srgbClr val="C00000"/>
              </a:solidFill>
            </a:endParaRPr>
          </a:p>
        </p:txBody>
      </p:sp>
      <p:sp>
        <p:nvSpPr>
          <p:cNvPr id="13" name="Rectangle 12"/>
          <p:cNvSpPr/>
          <p:nvPr/>
        </p:nvSpPr>
        <p:spPr>
          <a:xfrm>
            <a:off x="1328058" y="5889168"/>
            <a:ext cx="19812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rgbClr val="C00000"/>
                </a:solidFill>
              </a:rPr>
              <a:t>(P </a:t>
            </a:r>
            <a:r>
              <a:rPr lang="en-US" b="1" dirty="0" smtClean="0">
                <a:solidFill>
                  <a:srgbClr val="C00000"/>
                </a:solidFill>
                <a:sym typeface="Symbol" panose="05050102010706020507"/>
              </a:rPr>
              <a:t> Q)</a:t>
            </a:r>
            <a:r>
              <a:rPr lang="en-US" b="1" dirty="0" smtClean="0">
                <a:sym typeface="Symbol" panose="05050102010706020507"/>
              </a:rPr>
              <a:t> </a:t>
            </a:r>
            <a:r>
              <a:rPr lang="en-US" b="1" dirty="0" smtClean="0">
                <a:solidFill>
                  <a:srgbClr val="C00000"/>
                </a:solidFill>
                <a:sym typeface="Symbol" panose="05050102010706020507"/>
              </a:rPr>
              <a:t> (</a:t>
            </a:r>
            <a:r>
              <a:rPr lang="en-US" b="1" dirty="0" smtClean="0">
                <a:solidFill>
                  <a:srgbClr val="C00000"/>
                </a:solidFill>
              </a:rPr>
              <a:t>P </a:t>
            </a:r>
            <a:r>
              <a:rPr lang="en-US" b="1" dirty="0" smtClean="0">
                <a:solidFill>
                  <a:srgbClr val="C00000"/>
                </a:solidFill>
                <a:sym typeface="Symbol" panose="05050102010706020507"/>
              </a:rPr>
              <a:t> R)</a:t>
            </a:r>
            <a:endParaRPr lang="en-US"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fade">
                                      <p:cBhvr>
                                        <p:cTn id="7" dur="2000"/>
                                        <p:tgtEl>
                                          <p:spTgt spid="10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20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fade">
                                      <p:cBhvr>
                                        <p:cTn id="17" dur="2000"/>
                                        <p:tgtEl>
                                          <p:spTgt spid="1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xEl>
                                              <p:pRg st="0" end="0"/>
                                            </p:txEl>
                                          </p:spTgt>
                                        </p:tgtEl>
                                        <p:attrNameLst>
                                          <p:attrName>style.visibility</p:attrName>
                                        </p:attrNameLst>
                                      </p:cBhvr>
                                      <p:to>
                                        <p:strVal val="visible"/>
                                      </p:to>
                                    </p:set>
                                    <p:animEffect transition="in" filter="fade">
                                      <p:cBhvr>
                                        <p:cTn id="22" dur="2000"/>
                                        <p:tgtEl>
                                          <p:spTgt spid="1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xEl>
                                              <p:pRg st="0" end="0"/>
                                            </p:txEl>
                                          </p:spTgt>
                                        </p:tgtEl>
                                        <p:attrNameLst>
                                          <p:attrName>style.visibility</p:attrName>
                                        </p:attrNameLst>
                                      </p:cBhvr>
                                      <p:to>
                                        <p:strVal val="visible"/>
                                      </p:to>
                                    </p:set>
                                    <p:animEffect transition="in" filter="fade">
                                      <p:cBhvr>
                                        <p:cTn id="27" dur="2000"/>
                                        <p:tgtEl>
                                          <p:spTgt spid="1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0" end="0"/>
                                            </p:txEl>
                                          </p:spTgt>
                                        </p:tgtEl>
                                        <p:attrNameLst>
                                          <p:attrName>style.visibility</p:attrName>
                                        </p:attrNameLst>
                                      </p:cBhvr>
                                      <p:to>
                                        <p:strVal val="visible"/>
                                      </p:to>
                                    </p:set>
                                    <p:animEffect transition="in" filter="fade">
                                      <p:cBhvr>
                                        <p:cTn id="32" dur="2000"/>
                                        <p:tgtEl>
                                          <p:spTgt spid="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20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2000"/>
                                        <p:tgtEl>
                                          <p:spTgt spid="3">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build="p"/>
      <p:bldP spid="10" grpId="0" build="p"/>
      <p:bldP spid="11" grpId="0" build="p"/>
      <p:bldP spid="1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Methods to describe a digital circuit</a:t>
            </a:r>
            <a:endParaRPr lang="en-US" b="1" u="sng" dirty="0">
              <a:solidFill>
                <a:srgbClr val="C00000"/>
              </a:solidFill>
            </a:endParaRPr>
          </a:p>
        </p:txBody>
      </p:sp>
      <p:sp>
        <p:nvSpPr>
          <p:cNvPr id="3" name="Content Placeholder 2"/>
          <p:cNvSpPr>
            <a:spLocks noGrp="1"/>
          </p:cNvSpPr>
          <p:nvPr>
            <p:ph sz="quarter" idx="1"/>
          </p:nvPr>
        </p:nvSpPr>
        <p:spPr/>
        <p:txBody>
          <a:bodyPr/>
          <a:lstStyle/>
          <a:p>
            <a:r>
              <a:rPr lang="en-US" dirty="0" smtClean="0"/>
              <a:t>There are three methods to describe a digital circuit.</a:t>
            </a:r>
            <a:endParaRPr lang="en-US" dirty="0" smtClean="0"/>
          </a:p>
          <a:p>
            <a:pPr>
              <a:buNone/>
            </a:pPr>
            <a:endParaRPr lang="en-US" dirty="0" smtClean="0"/>
          </a:p>
          <a:p>
            <a:pPr lvl="1"/>
            <a:r>
              <a:rPr lang="en-US" dirty="0" smtClean="0"/>
              <a:t>Draw it with the help of gates.</a:t>
            </a:r>
            <a:endParaRPr lang="en-US" dirty="0" smtClean="0"/>
          </a:p>
          <a:p>
            <a:pPr lvl="1"/>
            <a:r>
              <a:rPr lang="en-US" dirty="0" smtClean="0"/>
              <a:t>Describe any digital circuit with the help of truth table.</a:t>
            </a:r>
            <a:endParaRPr lang="en-US" dirty="0" smtClean="0"/>
          </a:p>
          <a:p>
            <a:pPr lvl="1"/>
            <a:r>
              <a:rPr lang="en-US" dirty="0" smtClean="0"/>
              <a:t>Write a Boolean expression for any digital circuit.</a:t>
            </a:r>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20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2000"/>
                                        <p:tgtEl>
                                          <p:spTgt spid="3">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rgbClr val="C00000"/>
                </a:solidFill>
              </a:rPr>
              <a:t>EXERCISE</a:t>
            </a:r>
            <a:endParaRPr lang="en-US" dirty="0">
              <a:solidFill>
                <a:srgbClr val="C00000"/>
              </a:solidFill>
            </a:endParaRPr>
          </a:p>
        </p:txBody>
      </p:sp>
      <p:sp>
        <p:nvSpPr>
          <p:cNvPr id="3" name="Content Placeholder 2"/>
          <p:cNvSpPr>
            <a:spLocks noGrp="1"/>
          </p:cNvSpPr>
          <p:nvPr>
            <p:ph sz="quarter" idx="1"/>
          </p:nvPr>
        </p:nvSpPr>
        <p:spPr/>
        <p:txBody>
          <a:bodyPr/>
          <a:lstStyle/>
          <a:p>
            <a:r>
              <a:rPr lang="en-US" dirty="0" smtClean="0"/>
              <a:t>Construct circuit for the Boolean expression    </a:t>
            </a:r>
            <a:endParaRPr lang="en-US" dirty="0" smtClean="0"/>
          </a:p>
          <a:p>
            <a:pPr>
              <a:buNone/>
            </a:pPr>
            <a:r>
              <a:rPr lang="en-US" dirty="0" smtClean="0"/>
              <a:t>				(P</a:t>
            </a:r>
            <a:r>
              <a:rPr lang="en-US" dirty="0" smtClean="0">
                <a:sym typeface="Symbol" panose="05050102010706020507"/>
              </a:rPr>
              <a:t></a:t>
            </a:r>
            <a:r>
              <a:rPr lang="en-US" dirty="0" smtClean="0"/>
              <a:t>Q) </a:t>
            </a:r>
            <a:r>
              <a:rPr lang="en-US" dirty="0" smtClean="0">
                <a:sym typeface="Symbol" panose="05050102010706020507"/>
              </a:rPr>
              <a:t></a:t>
            </a:r>
            <a:r>
              <a:rPr lang="en-US" dirty="0" smtClean="0"/>
              <a:t> ~R</a:t>
            </a:r>
            <a:endParaRPr lang="en-US" dirty="0" smtClean="0"/>
          </a:p>
          <a:p>
            <a:endParaRPr lang="en-US" dirty="0" smtClean="0"/>
          </a:p>
          <a:p>
            <a:r>
              <a:rPr lang="en-US" b="1" dirty="0" smtClean="0"/>
              <a:t>SOLUTION</a:t>
            </a:r>
            <a:endParaRPr lang="en-US" dirty="0" smtClean="0"/>
          </a:p>
          <a:p>
            <a:pPr>
              <a:buNone/>
            </a:pPr>
            <a:r>
              <a:rPr lang="en-US" dirty="0" smtClean="0"/>
              <a:t>			</a:t>
            </a:r>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1"/>
          <a:srcRect/>
          <a:stretch>
            <a:fillRect/>
          </a:stretch>
        </p:blipFill>
        <p:spPr bwMode="auto">
          <a:xfrm>
            <a:off x="1704181" y="2514600"/>
            <a:ext cx="5735638" cy="183832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solidFill>
                  <a:srgbClr val="002060"/>
                </a:solidFill>
              </a:rPr>
              <a:t>Exercise:</a:t>
            </a:r>
            <a:r>
              <a:rPr lang="en-US" b="1" dirty="0" smtClean="0">
                <a:solidFill>
                  <a:srgbClr val="C00000"/>
                </a:solidFill>
              </a:rPr>
              <a:t> Draw a circuit for a following Input/output Table</a:t>
            </a:r>
            <a:endParaRPr lang="en-US" dirty="0">
              <a:solidFill>
                <a:srgbClr val="C00000"/>
              </a:solidFill>
            </a:endParaRPr>
          </a:p>
        </p:txBody>
      </p:sp>
      <p:graphicFrame>
        <p:nvGraphicFramePr>
          <p:cNvPr id="3074" name="Group 2"/>
          <p:cNvGraphicFramePr>
            <a:graphicFrameLocks noGrp="1"/>
          </p:cNvGraphicFramePr>
          <p:nvPr/>
        </p:nvGraphicFramePr>
        <p:xfrm>
          <a:off x="2667000" y="1360716"/>
          <a:ext cx="3810000" cy="4572000"/>
        </p:xfrm>
        <a:graphic>
          <a:graphicData uri="http://schemas.openxmlformats.org/drawingml/2006/table">
            <a:tbl>
              <a:tblPr/>
              <a:tblGrid>
                <a:gridCol w="609600"/>
                <a:gridCol w="609600"/>
                <a:gridCol w="609600"/>
                <a:gridCol w="1981200"/>
              </a:tblGrid>
              <a:tr h="180975">
                <a:tc gridSpan="3">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INPUTS</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hMerge="1">
                  <a:tcPr/>
                </a:tc>
                <a:tc hMerge="1">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OUTPUT</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P</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Q</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R</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S</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solidFill>
                  <a:srgbClr val="C00000"/>
                </a:solidFill>
              </a:rPr>
              <a:t>SOLUTION:</a:t>
            </a:r>
            <a:endParaRPr lang="en-US" dirty="0">
              <a:solidFill>
                <a:srgbClr val="C00000"/>
              </a:solidFill>
            </a:endParaRPr>
          </a:p>
        </p:txBody>
      </p:sp>
      <p:graphicFrame>
        <p:nvGraphicFramePr>
          <p:cNvPr id="4098" name="Group 2"/>
          <p:cNvGraphicFramePr>
            <a:graphicFrameLocks noGrp="1"/>
          </p:cNvGraphicFramePr>
          <p:nvPr/>
        </p:nvGraphicFramePr>
        <p:xfrm>
          <a:off x="1600200" y="1371600"/>
          <a:ext cx="3505200" cy="4572000"/>
        </p:xfrm>
        <a:graphic>
          <a:graphicData uri="http://schemas.openxmlformats.org/drawingml/2006/table">
            <a:tbl>
              <a:tblPr/>
              <a:tblGrid>
                <a:gridCol w="533400"/>
                <a:gridCol w="533400"/>
                <a:gridCol w="685800"/>
                <a:gridCol w="1752600"/>
              </a:tblGrid>
              <a:tr h="303213">
                <a:tc gridSpan="3">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INPUTS</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hMerge="1">
                  <a:tcPr/>
                </a:tc>
                <a:tc hMerge="1">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OUTPUT</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P</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Q</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R</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S</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153" name="Rectangle 57"/>
          <p:cNvSpPr>
            <a:spLocks noChangeArrowheads="1"/>
          </p:cNvSpPr>
          <p:nvPr/>
        </p:nvSpPr>
        <p:spPr bwMode="auto">
          <a:xfrm>
            <a:off x="5883275" y="2819400"/>
            <a:ext cx="1660525" cy="400110"/>
          </a:xfrm>
          <a:prstGeom prst="rect">
            <a:avLst/>
          </a:prstGeom>
          <a:noFill/>
          <a:ln w="9525">
            <a:noFill/>
            <a:miter lim="800000"/>
          </a:ln>
        </p:spPr>
        <p:txBody>
          <a:bodyPr vert="horz" wrap="square" lIns="91440" tIns="45720" rIns="91440" bIns="45720" numCol="1" anchor="t" anchorCtr="0" compatLnSpc="1">
            <a:spAutoFit/>
          </a:bodyPr>
          <a:lstStyle/>
          <a:p>
            <a:pPr marL="0" marR="0" lvl="0" indent="0" algn="l" defTabSz="914400" rtl="0" eaLnBrk="1" fontAlgn="base" latinLnBrk="0" hangingPunct="1">
              <a:lnSpc>
                <a:spcPct val="100000"/>
              </a:lnSpc>
              <a:spcBef>
                <a:spcPct val="0"/>
              </a:spcBef>
              <a:spcAft>
                <a:spcPts val="1000"/>
              </a:spcAft>
              <a:buClrTx/>
              <a:buSzTx/>
              <a:buFontTx/>
              <a:buNone/>
            </a:pPr>
            <a:r>
              <a:rPr kumimoji="0" lang="en-US" sz="2000" b="1" i="0" u="none" strike="noStrike" cap="none" normalizeH="0" baseline="0" dirty="0" smtClean="0">
                <a:ln>
                  <a:noFill/>
                </a:ln>
                <a:solidFill>
                  <a:srgbClr val="000000"/>
                </a:solidFill>
                <a:effectLst/>
                <a:latin typeface="Bell MT" panose="02020503060305020303" pitchFamily="18" charset="0"/>
              </a:rPr>
              <a:t>P </a:t>
            </a:r>
            <a:r>
              <a:rPr kumimoji="0" lang="en-US" sz="2000" b="1" i="0" u="none" strike="noStrike" cap="none" normalizeH="0" baseline="0" dirty="0" smtClean="0">
                <a:ln>
                  <a:noFill/>
                </a:ln>
                <a:solidFill>
                  <a:srgbClr val="000000"/>
                </a:solidFill>
                <a:effectLst/>
                <a:latin typeface="Bell MT" panose="02020503060305020303" pitchFamily="18" charset="0"/>
                <a:sym typeface="Symbol" panose="05050102010706020507" pitchFamily="18" charset="2"/>
              </a:rPr>
              <a:t></a:t>
            </a:r>
            <a:r>
              <a:rPr kumimoji="0" lang="en-US" sz="2000" b="1" i="0" u="none" strike="noStrike" cap="none" normalizeH="0" baseline="0" dirty="0" smtClean="0">
                <a:ln>
                  <a:noFill/>
                </a:ln>
                <a:solidFill>
                  <a:srgbClr val="000000"/>
                </a:solidFill>
                <a:effectLst/>
                <a:latin typeface="Bell MT" panose="02020503060305020303" pitchFamily="18" charset="0"/>
              </a:rPr>
              <a:t> Q </a:t>
            </a:r>
            <a:r>
              <a:rPr kumimoji="0" lang="en-US" sz="2000" b="1" i="0" u="none" strike="noStrike" cap="none" normalizeH="0" baseline="0" dirty="0" smtClean="0">
                <a:ln>
                  <a:noFill/>
                </a:ln>
                <a:solidFill>
                  <a:srgbClr val="000000"/>
                </a:solidFill>
                <a:effectLst/>
                <a:latin typeface="Bell MT" panose="02020503060305020303" pitchFamily="18" charset="0"/>
                <a:sym typeface="Symbol" panose="05050102010706020507" pitchFamily="18" charset="2"/>
              </a:rPr>
              <a:t></a:t>
            </a:r>
            <a:r>
              <a:rPr kumimoji="0" lang="en-US" sz="2000" b="1" i="0" u="none" strike="noStrike" cap="none" normalizeH="0" baseline="0" dirty="0" smtClean="0">
                <a:ln>
                  <a:noFill/>
                </a:ln>
                <a:solidFill>
                  <a:srgbClr val="000000"/>
                </a:solidFill>
                <a:effectLst/>
                <a:latin typeface="Bell MT" panose="02020503060305020303" pitchFamily="18" charset="0"/>
              </a:rPr>
              <a:t> ~R</a:t>
            </a:r>
            <a:endParaRPr kumimoji="0" lang="en-US" sz="2000" b="1" i="0" u="none" strike="noStrike" cap="none" normalizeH="0" baseline="0" dirty="0" smtClean="0">
              <a:ln>
                <a:noFill/>
              </a:ln>
              <a:solidFill>
                <a:schemeClr val="tx1"/>
              </a:solidFill>
              <a:effectLst/>
              <a:latin typeface="Bell MT" panose="02020503060305020303" pitchFamily="18" charset="0"/>
            </a:endParaRPr>
          </a:p>
        </p:txBody>
      </p:sp>
      <p:sp>
        <p:nvSpPr>
          <p:cNvPr id="4154" name="Rectangle 58"/>
          <p:cNvSpPr>
            <a:spLocks noChangeArrowheads="1"/>
          </p:cNvSpPr>
          <p:nvPr/>
        </p:nvSpPr>
        <p:spPr bwMode="auto">
          <a:xfrm>
            <a:off x="5868761" y="4147458"/>
            <a:ext cx="1522639" cy="400110"/>
          </a:xfrm>
          <a:prstGeom prst="rect">
            <a:avLst/>
          </a:prstGeom>
          <a:noFill/>
          <a:ln w="9525">
            <a:noFill/>
            <a:miter lim="800000"/>
          </a:ln>
        </p:spPr>
        <p:txBody>
          <a:bodyPr vert="horz" wrap="square" lIns="91440" tIns="45720" rIns="91440" bIns="45720" numCol="1" anchor="t" anchorCtr="0" compatLnSpc="1">
            <a:spAutoFit/>
          </a:bodyPr>
          <a:lstStyle/>
          <a:p>
            <a:pPr marL="0" marR="0" lvl="0" indent="0" algn="l" defTabSz="914400" rtl="0" eaLnBrk="1" fontAlgn="base" latinLnBrk="0" hangingPunct="1">
              <a:lnSpc>
                <a:spcPct val="100000"/>
              </a:lnSpc>
              <a:spcBef>
                <a:spcPct val="0"/>
              </a:spcBef>
              <a:spcAft>
                <a:spcPts val="1000"/>
              </a:spcAft>
              <a:buClrTx/>
              <a:buSzTx/>
              <a:buFontTx/>
              <a:buNone/>
            </a:pPr>
            <a:r>
              <a:rPr kumimoji="0" lang="en-US" sz="2000" b="1" i="0" u="none" strike="noStrike" cap="none" normalizeH="0" baseline="0" dirty="0" smtClean="0">
                <a:ln>
                  <a:noFill/>
                </a:ln>
                <a:solidFill>
                  <a:srgbClr val="000000"/>
                </a:solidFill>
                <a:effectLst/>
                <a:latin typeface="Bell MT" panose="02020503060305020303" pitchFamily="18" charset="0"/>
              </a:rPr>
              <a:t>~P </a:t>
            </a:r>
            <a:r>
              <a:rPr kumimoji="0" lang="en-US" sz="2000" b="1" i="0" u="none" strike="noStrike" cap="none" normalizeH="0" baseline="0" dirty="0" smtClean="0">
                <a:ln>
                  <a:noFill/>
                </a:ln>
                <a:solidFill>
                  <a:srgbClr val="000000"/>
                </a:solidFill>
                <a:effectLst/>
                <a:latin typeface="Bell MT" panose="02020503060305020303" pitchFamily="18" charset="0"/>
                <a:sym typeface="Symbol" panose="05050102010706020507" pitchFamily="18" charset="2"/>
              </a:rPr>
              <a:t></a:t>
            </a:r>
            <a:r>
              <a:rPr kumimoji="0" lang="en-US" sz="2000" b="1" i="0" u="none" strike="noStrike" cap="none" normalizeH="0" baseline="0" dirty="0" smtClean="0">
                <a:ln>
                  <a:noFill/>
                </a:ln>
                <a:solidFill>
                  <a:srgbClr val="000000"/>
                </a:solidFill>
                <a:effectLst/>
                <a:latin typeface="Bell MT" panose="02020503060305020303" pitchFamily="18" charset="0"/>
              </a:rPr>
              <a:t> Q </a:t>
            </a:r>
            <a:r>
              <a:rPr kumimoji="0" lang="en-US" sz="2000" b="1" i="0" u="none" strike="noStrike" cap="none" normalizeH="0" baseline="0" dirty="0" smtClean="0">
                <a:ln>
                  <a:noFill/>
                </a:ln>
                <a:solidFill>
                  <a:srgbClr val="000000"/>
                </a:solidFill>
                <a:effectLst/>
                <a:latin typeface="Bell MT" panose="02020503060305020303" pitchFamily="18" charset="0"/>
                <a:sym typeface="Symbol" panose="05050102010706020507" pitchFamily="18" charset="2"/>
              </a:rPr>
              <a:t></a:t>
            </a:r>
            <a:r>
              <a:rPr kumimoji="0" lang="en-US" sz="2000" b="1" i="0" u="none" strike="noStrike" cap="none" normalizeH="0" baseline="0" dirty="0" smtClean="0">
                <a:ln>
                  <a:noFill/>
                </a:ln>
                <a:solidFill>
                  <a:srgbClr val="000000"/>
                </a:solidFill>
                <a:effectLst/>
                <a:latin typeface="Bell MT" panose="02020503060305020303" pitchFamily="18" charset="0"/>
              </a:rPr>
              <a:t> R</a:t>
            </a:r>
            <a:endParaRPr kumimoji="0" lang="en-US" sz="2000" b="1" i="0" u="none" strike="noStrike" cap="none" normalizeH="0" baseline="0" dirty="0" smtClean="0">
              <a:ln>
                <a:noFill/>
              </a:ln>
              <a:solidFill>
                <a:schemeClr val="tx1"/>
              </a:solidFill>
              <a:effectLst/>
              <a:latin typeface="Bell MT" panose="02020503060305020303" pitchFamily="18" charset="0"/>
            </a:endParaRPr>
          </a:p>
        </p:txBody>
      </p:sp>
      <p:sp>
        <p:nvSpPr>
          <p:cNvPr id="4155" name="Line 59"/>
          <p:cNvSpPr>
            <a:spLocks noChangeShapeType="1"/>
          </p:cNvSpPr>
          <p:nvPr/>
        </p:nvSpPr>
        <p:spPr bwMode="auto">
          <a:xfrm>
            <a:off x="5410200" y="3048000"/>
            <a:ext cx="381000" cy="0"/>
          </a:xfrm>
          <a:prstGeom prst="line">
            <a:avLst/>
          </a:prstGeom>
          <a:noFill/>
          <a:ln w="25400" cmpd="sng">
            <a:solidFill>
              <a:srgbClr val="000000"/>
            </a:solidFill>
            <a:round/>
            <a:tailEnd type="triangle" w="med" len="med"/>
          </a:ln>
        </p:spPr>
        <p:txBody>
          <a:bodyPr vert="horz" wrap="square" lIns="91440" tIns="45720" rIns="91440" bIns="45720" numCol="1" anchor="t" anchorCtr="0" compatLnSpc="1"/>
          <a:lstStyle/>
          <a:p>
            <a:endParaRPr lang="en-US"/>
          </a:p>
        </p:txBody>
      </p:sp>
      <p:sp>
        <p:nvSpPr>
          <p:cNvPr id="65" name="Line 59"/>
          <p:cNvSpPr>
            <a:spLocks noChangeShapeType="1"/>
          </p:cNvSpPr>
          <p:nvPr/>
        </p:nvSpPr>
        <p:spPr bwMode="auto">
          <a:xfrm>
            <a:off x="5410200" y="4339758"/>
            <a:ext cx="381000" cy="0"/>
          </a:xfrm>
          <a:prstGeom prst="line">
            <a:avLst/>
          </a:prstGeom>
          <a:noFill/>
          <a:ln w="25400" cmpd="sng">
            <a:solidFill>
              <a:srgbClr val="000000"/>
            </a:solidFill>
            <a:round/>
            <a:tailEnd type="triangle" w="med" len="med"/>
          </a:ln>
        </p:spPr>
        <p:txBody>
          <a:bodyPr vert="horz" wrap="square" lIns="91440" tIns="45720" rIns="91440" bIns="45720" numCol="1" anchor="t" anchorCtr="0" compatLnSpc="1"/>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20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155"/>
                                        </p:tgtEl>
                                        <p:attrNameLst>
                                          <p:attrName>style.visibility</p:attrName>
                                        </p:attrNameLst>
                                      </p:cBhvr>
                                      <p:to>
                                        <p:strVal val="visible"/>
                                      </p:to>
                                    </p:set>
                                    <p:animEffect transition="in" filter="fade">
                                      <p:cBhvr>
                                        <p:cTn id="12" dur="2000"/>
                                        <p:tgtEl>
                                          <p:spTgt spid="415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153">
                                            <p:txEl>
                                              <p:pRg st="0" end="0"/>
                                            </p:txEl>
                                          </p:spTgt>
                                        </p:tgtEl>
                                        <p:attrNameLst>
                                          <p:attrName>style.visibility</p:attrName>
                                        </p:attrNameLst>
                                      </p:cBhvr>
                                      <p:to>
                                        <p:strVal val="visible"/>
                                      </p:to>
                                    </p:set>
                                    <p:animEffect transition="in" filter="fade">
                                      <p:cBhvr>
                                        <p:cTn id="17" dur="2000"/>
                                        <p:tgtEl>
                                          <p:spTgt spid="415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5"/>
                                        </p:tgtEl>
                                        <p:attrNameLst>
                                          <p:attrName>style.visibility</p:attrName>
                                        </p:attrNameLst>
                                      </p:cBhvr>
                                      <p:to>
                                        <p:strVal val="visible"/>
                                      </p:to>
                                    </p:set>
                                    <p:animEffect transition="in" filter="fade">
                                      <p:cBhvr>
                                        <p:cTn id="22" dur="2000"/>
                                        <p:tgtEl>
                                          <p:spTgt spid="6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154">
                                            <p:txEl>
                                              <p:pRg st="0" end="0"/>
                                            </p:txEl>
                                          </p:spTgt>
                                        </p:tgtEl>
                                        <p:attrNameLst>
                                          <p:attrName>style.visibility</p:attrName>
                                        </p:attrNameLst>
                                      </p:cBhvr>
                                      <p:to>
                                        <p:strVal val="visible"/>
                                      </p:to>
                                    </p:set>
                                    <p:animEffect transition="in" filter="fade">
                                      <p:cBhvr>
                                        <p:cTn id="27" dur="2000"/>
                                        <p:tgtEl>
                                          <p:spTgt spid="41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3" grpId="0" build="p"/>
      <p:bldP spid="4154" grpId="0" build="p"/>
      <p:bldP spid="4155" grpId="0" animBg="1"/>
      <p:bldP spid="6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t>CIRCUIT DIAGRAM: HOMEWORK</a:t>
            </a:r>
            <a:endParaRPr lang="en-US" dirty="0"/>
          </a:p>
        </p:txBody>
      </p:sp>
      <p:sp>
        <p:nvSpPr>
          <p:cNvPr id="3" name="Content Placeholder 2"/>
          <p:cNvSpPr>
            <a:spLocks noGrp="1"/>
          </p:cNvSpPr>
          <p:nvPr>
            <p:ph sz="quarter" idx="1"/>
          </p:nvPr>
        </p:nvSpPr>
        <p:spPr/>
        <p:txBody>
          <a:bodyPr/>
          <a:lstStyle/>
          <a:p>
            <a:r>
              <a:rPr lang="en-US" dirty="0" smtClean="0"/>
              <a:t>Draw the circuit diagram of the Boolean expression:</a:t>
            </a:r>
            <a:endParaRPr lang="en-US" dirty="0" smtClean="0"/>
          </a:p>
          <a:p>
            <a:endParaRPr lang="en-US" dirty="0"/>
          </a:p>
        </p:txBody>
      </p:sp>
      <p:sp>
        <p:nvSpPr>
          <p:cNvPr id="4" name="Rectangle 57"/>
          <p:cNvSpPr>
            <a:spLocks noChangeArrowheads="1"/>
          </p:cNvSpPr>
          <p:nvPr/>
        </p:nvSpPr>
        <p:spPr bwMode="auto">
          <a:xfrm>
            <a:off x="2590800" y="1905000"/>
            <a:ext cx="1752600" cy="400110"/>
          </a:xfrm>
          <a:prstGeom prst="rect">
            <a:avLst/>
          </a:prstGeom>
          <a:noFill/>
          <a:ln w="9525">
            <a:noFill/>
            <a:miter lim="800000"/>
          </a:ln>
        </p:spPr>
        <p:txBody>
          <a:bodyPr vert="horz" wrap="square" lIns="91440" tIns="45720" rIns="91440" bIns="45720" numCol="1" anchor="t" anchorCtr="0" compatLnSpc="1">
            <a:spAutoFit/>
          </a:bodyPr>
          <a:lstStyle/>
          <a:p>
            <a:pPr marL="0" marR="0" lvl="0" indent="0" algn="l" defTabSz="914400" rtl="0" eaLnBrk="1" fontAlgn="base" latinLnBrk="0" hangingPunct="1">
              <a:lnSpc>
                <a:spcPct val="100000"/>
              </a:lnSpc>
              <a:spcBef>
                <a:spcPct val="0"/>
              </a:spcBef>
              <a:spcAft>
                <a:spcPts val="1000"/>
              </a:spcAft>
              <a:buClrTx/>
              <a:buSzTx/>
              <a:buFontTx/>
              <a:buNone/>
            </a:pPr>
            <a:r>
              <a:rPr lang="en-US" sz="2000" b="1" dirty="0" smtClean="0">
                <a:solidFill>
                  <a:srgbClr val="C00000"/>
                </a:solidFill>
                <a:latin typeface="Bell MT" panose="02020503060305020303" pitchFamily="18" charset="0"/>
              </a:rPr>
              <a:t>(</a:t>
            </a:r>
            <a:r>
              <a:rPr kumimoji="0" lang="en-US" sz="2000" b="1" i="0" u="none" strike="noStrike" cap="none" normalizeH="0" baseline="0" dirty="0" smtClean="0">
                <a:ln>
                  <a:noFill/>
                </a:ln>
                <a:solidFill>
                  <a:srgbClr val="C00000"/>
                </a:solidFill>
                <a:effectLst/>
                <a:latin typeface="Bell MT" panose="02020503060305020303" pitchFamily="18" charset="0"/>
              </a:rPr>
              <a:t>P </a:t>
            </a:r>
            <a:r>
              <a:rPr kumimoji="0" lang="en-US" sz="2000" b="1" i="0" u="none" strike="noStrike" cap="none" normalizeH="0" baseline="0" dirty="0" smtClean="0">
                <a:ln>
                  <a:noFill/>
                </a:ln>
                <a:solidFill>
                  <a:srgbClr val="C00000"/>
                </a:solidFill>
                <a:effectLst/>
                <a:latin typeface="Bell MT" panose="02020503060305020303" pitchFamily="18" charset="0"/>
                <a:sym typeface="Symbol" panose="05050102010706020507" pitchFamily="18" charset="2"/>
              </a:rPr>
              <a:t></a:t>
            </a:r>
            <a:r>
              <a:rPr kumimoji="0" lang="en-US" sz="2000" b="1" i="0" u="none" strike="noStrike" cap="none" normalizeH="0" baseline="0" dirty="0" smtClean="0">
                <a:ln>
                  <a:noFill/>
                </a:ln>
                <a:solidFill>
                  <a:srgbClr val="C00000"/>
                </a:solidFill>
                <a:effectLst/>
                <a:latin typeface="Bell MT" panose="02020503060305020303" pitchFamily="18" charset="0"/>
              </a:rPr>
              <a:t> Q </a:t>
            </a:r>
            <a:r>
              <a:rPr kumimoji="0" lang="en-US" sz="2000" b="1" i="0" u="none" strike="noStrike" cap="none" normalizeH="0" baseline="0" dirty="0" smtClean="0">
                <a:ln>
                  <a:noFill/>
                </a:ln>
                <a:solidFill>
                  <a:srgbClr val="C00000"/>
                </a:solidFill>
                <a:effectLst/>
                <a:latin typeface="Bell MT" panose="02020503060305020303" pitchFamily="18" charset="0"/>
                <a:sym typeface="Symbol" panose="05050102010706020507" pitchFamily="18" charset="2"/>
              </a:rPr>
              <a:t></a:t>
            </a:r>
            <a:r>
              <a:rPr kumimoji="0" lang="en-US" sz="2000" b="1" i="0" u="none" strike="noStrike" cap="none" normalizeH="0" baseline="0" dirty="0" smtClean="0">
                <a:ln>
                  <a:noFill/>
                </a:ln>
                <a:solidFill>
                  <a:srgbClr val="C00000"/>
                </a:solidFill>
                <a:effectLst/>
                <a:latin typeface="Bell MT" panose="02020503060305020303" pitchFamily="18" charset="0"/>
              </a:rPr>
              <a:t> ~R)</a:t>
            </a:r>
            <a:endParaRPr kumimoji="0" lang="en-US" sz="2000" b="1" i="0" u="none" strike="noStrike" cap="none" normalizeH="0" baseline="0" dirty="0" smtClean="0">
              <a:ln>
                <a:noFill/>
              </a:ln>
              <a:solidFill>
                <a:srgbClr val="C00000"/>
              </a:solidFill>
              <a:effectLst/>
              <a:latin typeface="Bell MT" panose="02020503060305020303" pitchFamily="18" charset="0"/>
            </a:endParaRPr>
          </a:p>
        </p:txBody>
      </p:sp>
      <p:sp>
        <p:nvSpPr>
          <p:cNvPr id="5" name="Rectangle 58"/>
          <p:cNvSpPr>
            <a:spLocks noChangeArrowheads="1"/>
          </p:cNvSpPr>
          <p:nvPr/>
        </p:nvSpPr>
        <p:spPr bwMode="auto">
          <a:xfrm>
            <a:off x="4343400" y="1905000"/>
            <a:ext cx="2209800" cy="400110"/>
          </a:xfrm>
          <a:prstGeom prst="rect">
            <a:avLst/>
          </a:prstGeom>
          <a:noFill/>
          <a:ln w="9525">
            <a:noFill/>
            <a:miter lim="800000"/>
          </a:ln>
        </p:spPr>
        <p:txBody>
          <a:bodyPr vert="horz" wrap="square" lIns="91440" tIns="45720" rIns="91440" bIns="45720" numCol="1" anchor="t" anchorCtr="0" compatLnSpc="1">
            <a:spAutoFit/>
          </a:bodyPr>
          <a:lstStyle/>
          <a:p>
            <a:pPr marL="0" marR="0" lvl="0" indent="0" algn="l" defTabSz="914400" rtl="0" eaLnBrk="1" fontAlgn="base" latinLnBrk="0" hangingPunct="1">
              <a:lnSpc>
                <a:spcPct val="100000"/>
              </a:lnSpc>
              <a:spcBef>
                <a:spcPct val="0"/>
              </a:spcBef>
              <a:spcAft>
                <a:spcPts val="1000"/>
              </a:spcAft>
              <a:buClrTx/>
              <a:buSzTx/>
              <a:buFontTx/>
              <a:buNone/>
            </a:pPr>
            <a:r>
              <a:rPr kumimoji="0" lang="en-US" sz="2000" b="1" i="0" u="none" strike="noStrike" cap="none" normalizeH="0" baseline="0" dirty="0" smtClean="0">
                <a:ln>
                  <a:noFill/>
                </a:ln>
                <a:solidFill>
                  <a:srgbClr val="C00000"/>
                </a:solidFill>
                <a:effectLst/>
                <a:latin typeface="Bell MT" panose="02020503060305020303" pitchFamily="18" charset="0"/>
              </a:rPr>
              <a:t>(~P </a:t>
            </a:r>
            <a:r>
              <a:rPr kumimoji="0" lang="en-US" sz="2000" b="1" i="0" u="none" strike="noStrike" cap="none" normalizeH="0" baseline="0" dirty="0" smtClean="0">
                <a:ln>
                  <a:noFill/>
                </a:ln>
                <a:solidFill>
                  <a:srgbClr val="C00000"/>
                </a:solidFill>
                <a:effectLst/>
                <a:latin typeface="Bell MT" panose="02020503060305020303" pitchFamily="18" charset="0"/>
                <a:sym typeface="Symbol" panose="05050102010706020507" pitchFamily="18" charset="2"/>
              </a:rPr>
              <a:t></a:t>
            </a:r>
            <a:r>
              <a:rPr kumimoji="0" lang="en-US" sz="2000" b="1" i="0" u="none" strike="noStrike" cap="none" normalizeH="0" baseline="0" dirty="0" smtClean="0">
                <a:ln>
                  <a:noFill/>
                </a:ln>
                <a:solidFill>
                  <a:srgbClr val="C00000"/>
                </a:solidFill>
                <a:effectLst/>
                <a:latin typeface="Bell MT" panose="02020503060305020303" pitchFamily="18" charset="0"/>
              </a:rPr>
              <a:t> Q </a:t>
            </a:r>
            <a:r>
              <a:rPr kumimoji="0" lang="en-US" sz="2000" b="1" i="0" u="none" strike="noStrike" cap="none" normalizeH="0" baseline="0" dirty="0" smtClean="0">
                <a:ln>
                  <a:noFill/>
                </a:ln>
                <a:solidFill>
                  <a:srgbClr val="C00000"/>
                </a:solidFill>
                <a:effectLst/>
                <a:latin typeface="Bell MT" panose="02020503060305020303" pitchFamily="18" charset="0"/>
                <a:sym typeface="Symbol" panose="05050102010706020507" pitchFamily="18" charset="2"/>
              </a:rPr>
              <a:t></a:t>
            </a:r>
            <a:r>
              <a:rPr kumimoji="0" lang="en-US" sz="2000" b="1" i="0" u="none" strike="noStrike" cap="none" normalizeH="0" baseline="0" dirty="0" smtClean="0">
                <a:ln>
                  <a:noFill/>
                </a:ln>
                <a:solidFill>
                  <a:srgbClr val="C00000"/>
                </a:solidFill>
                <a:effectLst/>
                <a:latin typeface="Bell MT" panose="02020503060305020303" pitchFamily="18" charset="0"/>
              </a:rPr>
              <a:t> R) =</a:t>
            </a:r>
            <a:r>
              <a:rPr kumimoji="0" lang="en-US" sz="2000" b="1" i="0" u="none" strike="noStrike" cap="none" normalizeH="0" dirty="0" smtClean="0">
                <a:ln>
                  <a:noFill/>
                </a:ln>
                <a:solidFill>
                  <a:srgbClr val="C00000"/>
                </a:solidFill>
                <a:effectLst/>
                <a:latin typeface="Bell MT" panose="02020503060305020303" pitchFamily="18" charset="0"/>
              </a:rPr>
              <a:t> S</a:t>
            </a:r>
            <a:endParaRPr kumimoji="0" lang="en-US" sz="2000" b="1" i="0" u="none" strike="noStrike" cap="none" normalizeH="0" baseline="0" dirty="0" smtClean="0">
              <a:ln>
                <a:noFill/>
              </a:ln>
              <a:solidFill>
                <a:srgbClr val="C00000"/>
              </a:solidFill>
              <a:effectLst/>
              <a:latin typeface="Bell MT" panose="02020503060305020303" pitchFamily="18" charset="0"/>
            </a:endParaRPr>
          </a:p>
        </p:txBody>
      </p:sp>
      <p:sp>
        <p:nvSpPr>
          <p:cNvPr id="7" name="Rectangle 6"/>
          <p:cNvSpPr/>
          <p:nvPr/>
        </p:nvSpPr>
        <p:spPr>
          <a:xfrm>
            <a:off x="4161972" y="1912260"/>
            <a:ext cx="324128" cy="369332"/>
          </a:xfrm>
          <a:prstGeom prst="rect">
            <a:avLst/>
          </a:prstGeom>
        </p:spPr>
        <p:txBody>
          <a:bodyPr wrap="none">
            <a:spAutoFit/>
          </a:bodyPr>
          <a:lstStyle/>
          <a:p>
            <a:r>
              <a:rPr lang="en-US" b="1" dirty="0" smtClean="0">
                <a:solidFill>
                  <a:srgbClr val="C00000"/>
                </a:solidFill>
                <a:sym typeface="Symbol" panose="05050102010706020507"/>
              </a:rPr>
              <a:t></a:t>
            </a:r>
            <a:endParaRPr lang="en-US"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2000"/>
                                        <p:tgtEl>
                                          <p:spTgt spid="4">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fade">
                                      <p:cBhvr>
                                        <p:cTn id="13"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7"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2060"/>
                </a:solidFill>
              </a:rPr>
              <a:t>Exercise:</a:t>
            </a:r>
            <a:endParaRPr lang="en-US" dirty="0"/>
          </a:p>
        </p:txBody>
      </p:sp>
      <p:sp>
        <p:nvSpPr>
          <p:cNvPr id="3" name="Content Placeholder 2"/>
          <p:cNvSpPr>
            <a:spLocks noGrp="1"/>
          </p:cNvSpPr>
          <p:nvPr>
            <p:ph sz="quarter" idx="1"/>
          </p:nvPr>
        </p:nvSpPr>
        <p:spPr/>
        <p:txBody>
          <a:bodyPr/>
          <a:lstStyle/>
          <a:p>
            <a:r>
              <a:rPr lang="en-US" dirty="0" smtClean="0"/>
              <a:t>Design a circuit to take </a:t>
            </a:r>
            <a:r>
              <a:rPr lang="en-US" b="1" dirty="0" smtClean="0">
                <a:solidFill>
                  <a:srgbClr val="C00000"/>
                </a:solidFill>
              </a:rPr>
              <a:t>input</a:t>
            </a:r>
            <a:r>
              <a:rPr lang="en-US" dirty="0" smtClean="0"/>
              <a:t> signals </a:t>
            </a:r>
            <a:r>
              <a:rPr lang="en-US" b="1" dirty="0" smtClean="0">
                <a:solidFill>
                  <a:srgbClr val="C00000"/>
                </a:solidFill>
              </a:rPr>
              <a:t>P</a:t>
            </a:r>
            <a:r>
              <a:rPr lang="en-US" dirty="0" smtClean="0"/>
              <a:t>, </a:t>
            </a:r>
            <a:r>
              <a:rPr lang="en-US" b="1" dirty="0" smtClean="0">
                <a:solidFill>
                  <a:srgbClr val="C00000"/>
                </a:solidFill>
              </a:rPr>
              <a:t>Q</a:t>
            </a:r>
            <a:r>
              <a:rPr lang="en-US" dirty="0" smtClean="0"/>
              <a:t> and </a:t>
            </a:r>
            <a:r>
              <a:rPr lang="en-US" b="1" dirty="0" smtClean="0">
                <a:solidFill>
                  <a:srgbClr val="C00000"/>
                </a:solidFill>
              </a:rPr>
              <a:t>R</a:t>
            </a:r>
            <a:r>
              <a:rPr lang="en-US" dirty="0" smtClean="0"/>
              <a:t> and </a:t>
            </a:r>
            <a:r>
              <a:rPr lang="en-US" b="1" dirty="0" smtClean="0">
                <a:solidFill>
                  <a:srgbClr val="C00000"/>
                </a:solidFill>
              </a:rPr>
              <a:t>output</a:t>
            </a:r>
            <a:r>
              <a:rPr lang="en-US" dirty="0" smtClean="0"/>
              <a:t> is </a:t>
            </a:r>
            <a:r>
              <a:rPr lang="en-US" b="1" dirty="0" smtClean="0">
                <a:solidFill>
                  <a:srgbClr val="C00000"/>
                </a:solidFill>
              </a:rPr>
              <a:t>1</a:t>
            </a:r>
            <a:r>
              <a:rPr lang="en-US" dirty="0" smtClean="0"/>
              <a:t> if, and only if, </a:t>
            </a:r>
            <a:r>
              <a:rPr lang="en-US" b="1" dirty="0" smtClean="0">
                <a:solidFill>
                  <a:srgbClr val="C00000"/>
                </a:solidFill>
              </a:rPr>
              <a:t>P</a:t>
            </a:r>
            <a:r>
              <a:rPr lang="en-US" dirty="0" smtClean="0"/>
              <a:t> and </a:t>
            </a:r>
            <a:r>
              <a:rPr lang="en-US" b="1" dirty="0" smtClean="0">
                <a:solidFill>
                  <a:srgbClr val="C00000"/>
                </a:solidFill>
              </a:rPr>
              <a:t>Q</a:t>
            </a:r>
            <a:r>
              <a:rPr lang="en-US" dirty="0" smtClean="0"/>
              <a:t> have the same value and </a:t>
            </a:r>
            <a:r>
              <a:rPr lang="en-US" b="1" dirty="0" smtClean="0">
                <a:solidFill>
                  <a:srgbClr val="C00000"/>
                </a:solidFill>
              </a:rPr>
              <a:t>Q</a:t>
            </a:r>
            <a:r>
              <a:rPr lang="en-US" dirty="0" smtClean="0"/>
              <a:t> and </a:t>
            </a:r>
            <a:r>
              <a:rPr lang="en-US" b="1" dirty="0" smtClean="0">
                <a:solidFill>
                  <a:srgbClr val="C00000"/>
                </a:solidFill>
              </a:rPr>
              <a:t>R</a:t>
            </a:r>
            <a:r>
              <a:rPr lang="en-US" dirty="0" smtClean="0"/>
              <a:t> have opposite values.</a:t>
            </a:r>
            <a:endParaRPr lang="en-US" dirty="0" smtClean="0"/>
          </a:p>
          <a:p>
            <a:endParaRPr lang="en-US" dirty="0" smtClean="0"/>
          </a:p>
          <a:p>
            <a:r>
              <a:rPr lang="en-US" b="1" u="sng" dirty="0" smtClean="0"/>
              <a:t>Solution:</a:t>
            </a:r>
            <a:endParaRPr lang="en-US" b="1" u="sng" dirty="0" smtClean="0"/>
          </a:p>
          <a:p>
            <a:pPr>
              <a:buNone/>
            </a:pPr>
            <a:r>
              <a:rPr lang="en-US" dirty="0" smtClean="0"/>
              <a:t>   </a:t>
            </a:r>
            <a:endParaRPr lang="en-US" dirty="0" smtClean="0"/>
          </a:p>
          <a:p>
            <a:pPr>
              <a:buNone/>
            </a:pPr>
            <a:r>
              <a:rPr lang="en-US" dirty="0" smtClean="0"/>
              <a:t>   </a:t>
            </a:r>
            <a:r>
              <a:rPr lang="en-US" b="1" dirty="0" smtClean="0">
                <a:solidFill>
                  <a:srgbClr val="C00000"/>
                </a:solidFill>
              </a:rPr>
              <a:t> Step1: </a:t>
            </a:r>
            <a:r>
              <a:rPr lang="en-US" dirty="0" smtClean="0"/>
              <a:t>Draw a table</a:t>
            </a:r>
            <a:endParaRPr lang="en-US" dirty="0" smtClean="0"/>
          </a:p>
          <a:p>
            <a:pPr>
              <a:buNone/>
            </a:pPr>
            <a:r>
              <a:rPr lang="en-US" dirty="0" smtClean="0"/>
              <a:t>    </a:t>
            </a:r>
            <a:r>
              <a:rPr lang="en-US" b="1" dirty="0" smtClean="0">
                <a:solidFill>
                  <a:srgbClr val="C00000"/>
                </a:solidFill>
              </a:rPr>
              <a:t>Step 2: </a:t>
            </a:r>
            <a:r>
              <a:rPr lang="en-US" dirty="0" smtClean="0"/>
              <a:t>In output we have 1 only when we have same values of P and Q and opposite values of Q and R, both the conditions should be fulfilled.</a:t>
            </a:r>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a:xfrm>
            <a:off x="457200" y="1219200"/>
            <a:ext cx="8229600" cy="4937760"/>
          </a:xfrm>
        </p:spPr>
        <p:txBody>
          <a:bodyPr>
            <a:normAutofit lnSpcReduction="10000"/>
          </a:bodyPr>
          <a:lstStyle/>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dirty="0" smtClean="0"/>
          </a:p>
          <a:p>
            <a:r>
              <a:rPr lang="en-US" sz="2000" dirty="0" smtClean="0"/>
              <a:t>S </a:t>
            </a:r>
            <a:r>
              <a:rPr lang="en-US" sz="2000" dirty="0" smtClean="0">
                <a:latin typeface="Arial" panose="020B0604020202020204"/>
                <a:cs typeface="Arial" panose="020B0604020202020204"/>
              </a:rPr>
              <a:t>≡ (p </a:t>
            </a:r>
            <a:r>
              <a:rPr lang="en-US" sz="2000" dirty="0" smtClean="0">
                <a:latin typeface="Cambria Math" panose="02040503050406030204"/>
                <a:ea typeface="Cambria Math" panose="02040503050406030204"/>
                <a:cs typeface="Arial" panose="020B0604020202020204"/>
              </a:rPr>
              <a:t>∧ q ∧ ~r</a:t>
            </a:r>
            <a:r>
              <a:rPr lang="en-US" sz="2000" dirty="0" smtClean="0">
                <a:latin typeface="Arial" panose="020B0604020202020204"/>
                <a:cs typeface="Arial" panose="020B0604020202020204"/>
              </a:rPr>
              <a:t>) </a:t>
            </a:r>
            <a:r>
              <a:rPr lang="en-US" sz="2000" dirty="0" smtClean="0">
                <a:latin typeface="Cambria Math" panose="02040503050406030204"/>
                <a:ea typeface="Cambria Math" panose="02040503050406030204"/>
                <a:cs typeface="Arial" panose="020B0604020202020204"/>
              </a:rPr>
              <a:t>∨ (~p ∧ ~q ∧ r) Boolean Expression</a:t>
            </a:r>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a:p>
            <a:endParaRPr lang="en-US" sz="2000" b="1" dirty="0" smtClean="0">
              <a:solidFill>
                <a:srgbClr val="000000"/>
              </a:solidFill>
              <a:latin typeface="Bell MT" panose="02020503060305020303" pitchFamily="18" charset="0"/>
            </a:endParaRPr>
          </a:p>
        </p:txBody>
      </p:sp>
      <p:graphicFrame>
        <p:nvGraphicFramePr>
          <p:cNvPr id="4" name="Group 2"/>
          <p:cNvGraphicFramePr>
            <a:graphicFrameLocks noGrp="1"/>
          </p:cNvGraphicFramePr>
          <p:nvPr/>
        </p:nvGraphicFramePr>
        <p:xfrm>
          <a:off x="1259118" y="1139376"/>
          <a:ext cx="3810000" cy="4572000"/>
        </p:xfrm>
        <a:graphic>
          <a:graphicData uri="http://schemas.openxmlformats.org/drawingml/2006/table">
            <a:tbl>
              <a:tblPr/>
              <a:tblGrid>
                <a:gridCol w="745067"/>
                <a:gridCol w="745067"/>
                <a:gridCol w="745067"/>
                <a:gridCol w="1574799"/>
              </a:tblGrid>
              <a:tr h="411956">
                <a:tc gridSpan="3">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INPUTS</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hMerge="1">
                  <a:tcPr/>
                </a:tc>
                <a:tc hMerge="1">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OUTPUT</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411956">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P</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Q</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R</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S</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411956">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1956">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1956">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1956">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1956">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1956">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1956">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1</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1956">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rPr>
                        <a:t>0</a:t>
                      </a:r>
                      <a:endParaRPr kumimoji="0" lang="en-US" sz="2400" b="0" i="0" u="none" strike="noStrike" kern="1200" cap="none" normalizeH="0" baseline="0" dirty="0" smtClean="0">
                        <a:ln>
                          <a:noFill/>
                        </a:ln>
                        <a:solidFill>
                          <a:srgbClr val="000000"/>
                        </a:solidFill>
                        <a:effectLst/>
                        <a:latin typeface="Calibri" panose="020F0502020204030204" pitchFamily="3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5" name="Rectangle 57"/>
          <p:cNvSpPr>
            <a:spLocks noChangeArrowheads="1"/>
          </p:cNvSpPr>
          <p:nvPr/>
        </p:nvSpPr>
        <p:spPr bwMode="auto">
          <a:xfrm>
            <a:off x="5970359" y="2569032"/>
            <a:ext cx="1573441" cy="400110"/>
          </a:xfrm>
          <a:prstGeom prst="rect">
            <a:avLst/>
          </a:prstGeom>
          <a:noFill/>
          <a:ln w="9525">
            <a:noFill/>
            <a:miter lim="800000"/>
          </a:ln>
        </p:spPr>
        <p:txBody>
          <a:bodyPr vert="horz" wrap="square" lIns="91440" tIns="45720" rIns="91440" bIns="45720" numCol="1" anchor="t" anchorCtr="0" compatLnSpc="1">
            <a:spAutoFit/>
          </a:bodyPr>
          <a:lstStyle/>
          <a:p>
            <a:pPr marL="0" marR="0" lvl="0" indent="0" algn="l" defTabSz="914400" rtl="0" eaLnBrk="1" fontAlgn="base" latinLnBrk="0" hangingPunct="1">
              <a:lnSpc>
                <a:spcPct val="100000"/>
              </a:lnSpc>
              <a:spcBef>
                <a:spcPct val="0"/>
              </a:spcBef>
              <a:spcAft>
                <a:spcPts val="1000"/>
              </a:spcAft>
              <a:buClrTx/>
              <a:buSzTx/>
              <a:buFontTx/>
              <a:buNone/>
            </a:pPr>
            <a:r>
              <a:rPr kumimoji="0" lang="en-US" sz="2000" b="1" i="0" u="none" strike="noStrike" cap="none" normalizeH="0" baseline="0" dirty="0" smtClean="0">
                <a:ln>
                  <a:noFill/>
                </a:ln>
                <a:solidFill>
                  <a:srgbClr val="000000"/>
                </a:solidFill>
                <a:effectLst/>
                <a:latin typeface="Bell MT" panose="02020503060305020303" pitchFamily="18" charset="0"/>
              </a:rPr>
              <a:t>P </a:t>
            </a:r>
            <a:r>
              <a:rPr kumimoji="0" lang="en-US" sz="2000" b="1" i="0" u="none" strike="noStrike" cap="none" normalizeH="0" baseline="0" dirty="0" smtClean="0">
                <a:ln>
                  <a:noFill/>
                </a:ln>
                <a:solidFill>
                  <a:srgbClr val="000000"/>
                </a:solidFill>
                <a:effectLst/>
                <a:latin typeface="Bell MT" panose="02020503060305020303" pitchFamily="18" charset="0"/>
                <a:sym typeface="Symbol" panose="05050102010706020507" pitchFamily="18" charset="2"/>
              </a:rPr>
              <a:t></a:t>
            </a:r>
            <a:r>
              <a:rPr kumimoji="0" lang="en-US" sz="2000" b="1" i="0" u="none" strike="noStrike" cap="none" normalizeH="0" baseline="0" dirty="0" smtClean="0">
                <a:ln>
                  <a:noFill/>
                </a:ln>
                <a:solidFill>
                  <a:srgbClr val="000000"/>
                </a:solidFill>
                <a:effectLst/>
                <a:latin typeface="Bell MT" panose="02020503060305020303" pitchFamily="18" charset="0"/>
              </a:rPr>
              <a:t> Q </a:t>
            </a:r>
            <a:r>
              <a:rPr kumimoji="0" lang="en-US" sz="2000" b="1" i="0" u="none" strike="noStrike" cap="none" normalizeH="0" baseline="0" dirty="0" smtClean="0">
                <a:ln>
                  <a:noFill/>
                </a:ln>
                <a:solidFill>
                  <a:srgbClr val="000000"/>
                </a:solidFill>
                <a:effectLst/>
                <a:latin typeface="Bell MT" panose="02020503060305020303" pitchFamily="18" charset="0"/>
                <a:sym typeface="Symbol" panose="05050102010706020507" pitchFamily="18" charset="2"/>
              </a:rPr>
              <a:t></a:t>
            </a:r>
            <a:r>
              <a:rPr kumimoji="0" lang="en-US" sz="2000" b="1" i="0" u="none" strike="noStrike" cap="none" normalizeH="0" baseline="0" dirty="0" smtClean="0">
                <a:ln>
                  <a:noFill/>
                </a:ln>
                <a:solidFill>
                  <a:srgbClr val="000000"/>
                </a:solidFill>
                <a:effectLst/>
                <a:latin typeface="Bell MT" panose="02020503060305020303" pitchFamily="18" charset="0"/>
              </a:rPr>
              <a:t> ~R</a:t>
            </a:r>
            <a:endParaRPr kumimoji="0" lang="en-US" sz="2000" b="1" i="0" u="none" strike="noStrike" cap="none" normalizeH="0" baseline="0" dirty="0" smtClean="0">
              <a:ln>
                <a:noFill/>
              </a:ln>
              <a:solidFill>
                <a:schemeClr val="tx1"/>
              </a:solidFill>
              <a:effectLst/>
              <a:latin typeface="Bell MT" panose="02020503060305020303" pitchFamily="18" charset="0"/>
            </a:endParaRPr>
          </a:p>
        </p:txBody>
      </p:sp>
      <p:sp>
        <p:nvSpPr>
          <p:cNvPr id="6" name="Rectangle 57"/>
          <p:cNvSpPr>
            <a:spLocks noChangeArrowheads="1"/>
          </p:cNvSpPr>
          <p:nvPr/>
        </p:nvSpPr>
        <p:spPr bwMode="auto">
          <a:xfrm>
            <a:off x="6052458" y="4839552"/>
            <a:ext cx="1828800" cy="400110"/>
          </a:xfrm>
          <a:prstGeom prst="rect">
            <a:avLst/>
          </a:prstGeom>
          <a:noFill/>
          <a:ln w="9525">
            <a:noFill/>
            <a:miter lim="800000"/>
          </a:ln>
        </p:spPr>
        <p:txBody>
          <a:bodyPr vert="horz" wrap="square" lIns="91440" tIns="45720" rIns="91440" bIns="45720" numCol="1" anchor="t" anchorCtr="0" compatLnSpc="1">
            <a:spAutoFit/>
          </a:bodyPr>
          <a:lstStyle/>
          <a:p>
            <a:pPr lvl="0" fontAlgn="base">
              <a:spcBef>
                <a:spcPct val="0"/>
              </a:spcBef>
              <a:spcAft>
                <a:spcPts val="1000"/>
              </a:spcAft>
            </a:pPr>
            <a:r>
              <a:rPr lang="en-US" sz="2000" b="1" dirty="0" smtClean="0">
                <a:solidFill>
                  <a:srgbClr val="000000"/>
                </a:solidFill>
                <a:latin typeface="Bell MT" panose="02020503060305020303" pitchFamily="18" charset="0"/>
              </a:rPr>
              <a:t>~ </a:t>
            </a:r>
            <a:r>
              <a:rPr kumimoji="0" lang="en-US" sz="2000" b="1" i="0" u="none" strike="noStrike" cap="none" normalizeH="0" baseline="0" dirty="0" smtClean="0">
                <a:ln>
                  <a:noFill/>
                </a:ln>
                <a:solidFill>
                  <a:srgbClr val="000000"/>
                </a:solidFill>
                <a:effectLst/>
                <a:latin typeface="Bell MT" panose="02020503060305020303" pitchFamily="18" charset="0"/>
              </a:rPr>
              <a:t>P </a:t>
            </a:r>
            <a:r>
              <a:rPr kumimoji="0" lang="en-US" sz="2000" b="1" i="0" u="none" strike="noStrike" cap="none" normalizeH="0" baseline="0" dirty="0" smtClean="0">
                <a:ln>
                  <a:noFill/>
                </a:ln>
                <a:solidFill>
                  <a:srgbClr val="000000"/>
                </a:solidFill>
                <a:effectLst/>
                <a:latin typeface="Bell MT" panose="02020503060305020303" pitchFamily="18" charset="0"/>
                <a:sym typeface="Symbol" panose="05050102010706020507" pitchFamily="18" charset="2"/>
              </a:rPr>
              <a:t></a:t>
            </a:r>
            <a:r>
              <a:rPr kumimoji="0" lang="en-US" sz="2000" b="1" i="0" u="none" strike="noStrike" cap="none" normalizeH="0" baseline="0" dirty="0" smtClean="0">
                <a:ln>
                  <a:noFill/>
                </a:ln>
                <a:solidFill>
                  <a:srgbClr val="000000"/>
                </a:solidFill>
                <a:effectLst/>
                <a:latin typeface="Bell MT" panose="02020503060305020303" pitchFamily="18" charset="0"/>
              </a:rPr>
              <a:t> </a:t>
            </a:r>
            <a:r>
              <a:rPr lang="en-US" sz="2000" b="1" dirty="0" smtClean="0">
                <a:solidFill>
                  <a:srgbClr val="000000"/>
                </a:solidFill>
                <a:latin typeface="Bell MT" panose="02020503060305020303" pitchFamily="18" charset="0"/>
              </a:rPr>
              <a:t>~ </a:t>
            </a:r>
            <a:r>
              <a:rPr kumimoji="0" lang="en-US" sz="2000" b="1" i="0" u="none" strike="noStrike" cap="none" normalizeH="0" baseline="0" dirty="0" smtClean="0">
                <a:ln>
                  <a:noFill/>
                </a:ln>
                <a:solidFill>
                  <a:srgbClr val="000000"/>
                </a:solidFill>
                <a:effectLst/>
                <a:latin typeface="Bell MT" panose="02020503060305020303" pitchFamily="18" charset="0"/>
              </a:rPr>
              <a:t>Q </a:t>
            </a:r>
            <a:r>
              <a:rPr kumimoji="0" lang="en-US" sz="2000" b="1" i="0" u="none" strike="noStrike" cap="none" normalizeH="0" baseline="0" dirty="0" smtClean="0">
                <a:ln>
                  <a:noFill/>
                </a:ln>
                <a:solidFill>
                  <a:srgbClr val="000000"/>
                </a:solidFill>
                <a:effectLst/>
                <a:latin typeface="Bell MT" panose="02020503060305020303" pitchFamily="18" charset="0"/>
                <a:sym typeface="Symbol" panose="05050102010706020507" pitchFamily="18" charset="2"/>
              </a:rPr>
              <a:t></a:t>
            </a:r>
            <a:r>
              <a:rPr kumimoji="0" lang="en-US" sz="2000" b="1" i="0" u="none" strike="noStrike" cap="none" normalizeH="0" baseline="0" dirty="0" smtClean="0">
                <a:ln>
                  <a:noFill/>
                </a:ln>
                <a:solidFill>
                  <a:srgbClr val="000000"/>
                </a:solidFill>
                <a:effectLst/>
                <a:latin typeface="Bell MT" panose="02020503060305020303" pitchFamily="18" charset="0"/>
              </a:rPr>
              <a:t> R</a:t>
            </a:r>
            <a:endParaRPr kumimoji="0" lang="en-US" sz="2000" b="1" i="0" u="none" strike="noStrike" cap="none" normalizeH="0" baseline="0" dirty="0" smtClean="0">
              <a:ln>
                <a:noFill/>
              </a:ln>
              <a:solidFill>
                <a:schemeClr val="tx1"/>
              </a:solidFill>
              <a:effectLst/>
              <a:latin typeface="Bell MT" panose="02020503060305020303" pitchFamily="18" charset="0"/>
            </a:endParaRPr>
          </a:p>
        </p:txBody>
      </p:sp>
      <p:sp>
        <p:nvSpPr>
          <p:cNvPr id="8" name="Line 59"/>
          <p:cNvSpPr>
            <a:spLocks noChangeShapeType="1"/>
          </p:cNvSpPr>
          <p:nvPr/>
        </p:nvSpPr>
        <p:spPr bwMode="auto">
          <a:xfrm>
            <a:off x="5486400" y="2761344"/>
            <a:ext cx="381000" cy="0"/>
          </a:xfrm>
          <a:prstGeom prst="line">
            <a:avLst/>
          </a:prstGeom>
          <a:noFill/>
          <a:ln w="25400" cmpd="sng">
            <a:solidFill>
              <a:srgbClr val="000000"/>
            </a:solidFill>
            <a:round/>
            <a:tailEnd type="triangle" w="med" len="med"/>
          </a:ln>
        </p:spPr>
        <p:txBody>
          <a:bodyPr vert="horz" wrap="square" lIns="91440" tIns="45720" rIns="91440" bIns="45720" numCol="1" anchor="t" anchorCtr="0" compatLnSpc="1"/>
          <a:lstStyle/>
          <a:p>
            <a:endParaRPr lang="en-US"/>
          </a:p>
        </p:txBody>
      </p:sp>
      <p:sp>
        <p:nvSpPr>
          <p:cNvPr id="9" name="Line 59"/>
          <p:cNvSpPr>
            <a:spLocks noChangeShapeType="1"/>
          </p:cNvSpPr>
          <p:nvPr/>
        </p:nvSpPr>
        <p:spPr bwMode="auto">
          <a:xfrm>
            <a:off x="5504544" y="5050968"/>
            <a:ext cx="381000" cy="0"/>
          </a:xfrm>
          <a:prstGeom prst="line">
            <a:avLst/>
          </a:prstGeom>
          <a:noFill/>
          <a:ln w="25400" cmpd="sng">
            <a:solidFill>
              <a:srgbClr val="000000"/>
            </a:solidFill>
            <a:round/>
            <a:tailEnd type="triangle" w="med" len="med"/>
          </a:ln>
        </p:spPr>
        <p:txBody>
          <a:bodyPr vert="horz" wrap="square" lIns="91440" tIns="45720" rIns="91440" bIns="45720" numCol="1" anchor="t" anchorCtr="0" compatLnSpc="1"/>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2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20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2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fade">
                                      <p:cBhvr>
                                        <p:cTn id="27" dur="2000"/>
                                        <p:tgtEl>
                                          <p:spTgt spid="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13" end="13"/>
                                            </p:txEl>
                                          </p:spTgt>
                                        </p:tgtEl>
                                        <p:attrNameLst>
                                          <p:attrName>style.visibility</p:attrName>
                                        </p:attrNameLst>
                                      </p:cBhvr>
                                      <p:to>
                                        <p:strVal val="visible"/>
                                      </p:to>
                                    </p:set>
                                    <p:animEffect transition="in" filter="fade">
                                      <p:cBhvr>
                                        <p:cTn id="32" dur="20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P spid="6" grpId="0" build="p"/>
      <p:bldP spid="8"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4" name="Content Placeholder 3" descr="MTH202-06.jpg"/>
          <p:cNvPicPr>
            <a:picLocks noChangeAspect="1"/>
          </p:cNvPicPr>
          <p:nvPr/>
        </p:nvPicPr>
        <p:blipFill>
          <a:blip r:embed="rId1"/>
          <a:stretch>
            <a:fillRect/>
          </a:stretch>
        </p:blipFill>
        <p:spPr>
          <a:xfrm>
            <a:off x="457200" y="152400"/>
            <a:ext cx="8229600" cy="6096000"/>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solidFill>
                  <a:srgbClr val="C00000"/>
                </a:solidFill>
              </a:rPr>
              <a:t>EXERCISE:</a:t>
            </a:r>
            <a:endParaRPr lang="en-US" dirty="0">
              <a:solidFill>
                <a:srgbClr val="C00000"/>
              </a:solidFill>
            </a:endParaRPr>
          </a:p>
        </p:txBody>
      </p:sp>
      <p:sp>
        <p:nvSpPr>
          <p:cNvPr id="3" name="Content Placeholder 2"/>
          <p:cNvSpPr>
            <a:spLocks noGrp="1"/>
          </p:cNvSpPr>
          <p:nvPr>
            <p:ph sz="quarter" idx="1"/>
          </p:nvPr>
        </p:nvSpPr>
        <p:spPr/>
        <p:txBody>
          <a:bodyPr/>
          <a:lstStyle/>
          <a:p>
            <a:r>
              <a:rPr lang="en-US" dirty="0" smtClean="0"/>
              <a:t>Find the Boolean expression for this circuit and simplify by using laws of logic.</a:t>
            </a:r>
            <a:endParaRPr lang="en-US" dirty="0"/>
          </a:p>
        </p:txBody>
      </p:sp>
      <p:pic>
        <p:nvPicPr>
          <p:cNvPr id="6146" name="Picture 2"/>
          <p:cNvPicPr>
            <a:picLocks noChangeAspect="1" noChangeArrowheads="1"/>
          </p:cNvPicPr>
          <p:nvPr/>
        </p:nvPicPr>
        <p:blipFill>
          <a:blip r:embed="rId1"/>
          <a:srcRect/>
          <a:stretch>
            <a:fillRect/>
          </a:stretch>
        </p:blipFill>
        <p:spPr bwMode="auto">
          <a:xfrm>
            <a:off x="1830388" y="2434774"/>
            <a:ext cx="5789612" cy="2235200"/>
          </a:xfrm>
          <a:prstGeom prst="rect">
            <a:avLst/>
          </a:prstGeom>
          <a:noFill/>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Trek</Template>
  <TotalTime>0</TotalTime>
  <Words>4851</Words>
  <Application>WPS Presentation</Application>
  <PresentationFormat>On-screen Show (4:3)</PresentationFormat>
  <Paragraphs>869</Paragraphs>
  <Slides>33</Slides>
  <Notes>0</Notes>
  <HiddenSlides>0</HiddenSlides>
  <MMClips>2</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33</vt:i4>
      </vt:variant>
    </vt:vector>
  </HeadingPairs>
  <TitlesOfParts>
    <vt:vector size="50" baseType="lpstr">
      <vt:lpstr>Arial</vt:lpstr>
      <vt:lpstr>SimSun</vt:lpstr>
      <vt:lpstr>Wingdings</vt:lpstr>
      <vt:lpstr>Wingdings 3</vt:lpstr>
      <vt:lpstr>Wingdings</vt:lpstr>
      <vt:lpstr>Bell MT</vt:lpstr>
      <vt:lpstr>Times New Roman</vt:lpstr>
      <vt:lpstr>Symbol</vt:lpstr>
      <vt:lpstr>Calibri</vt:lpstr>
      <vt:lpstr>Gill Sans MT</vt:lpstr>
      <vt:lpstr>Bookman Old Style</vt:lpstr>
      <vt:lpstr>Microsoft YaHei</vt:lpstr>
      <vt:lpstr>Arial Unicode MS</vt:lpstr>
      <vt:lpstr>Symbol</vt:lpstr>
      <vt:lpstr>Arial</vt:lpstr>
      <vt:lpstr>Cambria Math</vt:lpstr>
      <vt:lpstr>Origin</vt:lpstr>
      <vt:lpstr>APPLICATION OF LOGIC Lecture # 06  </vt:lpstr>
      <vt:lpstr>Application of logic in Digital Logic Circuits.</vt:lpstr>
      <vt:lpstr>Basic components of circuits</vt:lpstr>
      <vt:lpstr>SWITCHES IN SERIES</vt:lpstr>
      <vt:lpstr>SWITCHES IN PARALLEL</vt:lpstr>
      <vt:lpstr>SWITCHES IN SERIES</vt:lpstr>
      <vt:lpstr>PowerPoint 演示文稿</vt:lpstr>
      <vt:lpstr>SWITCHES IN PARALLEL</vt:lpstr>
      <vt:lpstr>PowerPoint 演示文稿</vt:lpstr>
      <vt:lpstr>Vocabulary</vt:lpstr>
      <vt:lpstr>NOT GATE or INVERTOR</vt:lpstr>
      <vt:lpstr>AND-GATE</vt:lpstr>
      <vt:lpstr> OR-GATE</vt:lpstr>
      <vt:lpstr>COMBINATIONAL CIRCUIT</vt:lpstr>
      <vt:lpstr>Rules to form a COMBINATIONAL CIRCUIT</vt:lpstr>
      <vt:lpstr>DETERMINING OUTPUT FOR A GIVEN INPUT</vt:lpstr>
      <vt:lpstr>OUTPUT FOR A GIVEN INPUT</vt:lpstr>
      <vt:lpstr>INPUT/OUTPUT Table for a Circuit</vt:lpstr>
      <vt:lpstr>TRUTH TABLE FOR CIRCUIT</vt:lpstr>
      <vt:lpstr>TRUTH TABLE FOR CIRCUIT</vt:lpstr>
      <vt:lpstr>BOOLEAN VARIABLE &amp; BOOLEAN EXPRESSION</vt:lpstr>
      <vt:lpstr>FINDING A BOOLEAN EXPRESSION FOR A CIRCUIT</vt:lpstr>
      <vt:lpstr>FINDING A BOOLEAN EXPRESSION FOR A CIRCUIT</vt:lpstr>
      <vt:lpstr>Methods to describe a digital circuit</vt:lpstr>
      <vt:lpstr>EXERCISE</vt:lpstr>
      <vt:lpstr>PowerPoint 演示文稿</vt:lpstr>
      <vt:lpstr>Exercise: Draw a circuit for a following Input/output Table</vt:lpstr>
      <vt:lpstr>SOLUTION:</vt:lpstr>
      <vt:lpstr>CIRCUIT DIAGRAM: HOMEWORK</vt:lpstr>
      <vt:lpstr>Exercise:</vt:lpstr>
      <vt:lpstr>PowerPoint 演示文稿</vt:lpstr>
      <vt:lpstr>PowerPoint 演示文稿</vt:lpstr>
      <vt:lpstr>EXERCISE: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Discrete Structures </dc:title>
  <dc:creator>C &amp; M</dc:creator>
  <cp:lastModifiedBy>Dell</cp:lastModifiedBy>
  <cp:revision>250</cp:revision>
  <dcterms:created xsi:type="dcterms:W3CDTF">2013-09-11T16:39:00Z</dcterms:created>
  <dcterms:modified xsi:type="dcterms:W3CDTF">2024-10-08T04:15:17Z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C3256BE739C64B8BB93A0A204E6EE63B_12</vt:lpwstr>
  </property>
  <property fmtid="{D5CDD505-2E9C-101B-9397-08002B2CF9AE}" pid="3" name="KSOProductBuildVer">
    <vt:lpwstr>1033-12.2.0.18283</vt:lpwstr>
  </property>
</Properties>
</file>
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3"/>
    <p:sldId id="260" r:id="rId4"/>
    <p:sldId id="261" r:id="rId5"/>
    <p:sldId id="262" r:id="rId6"/>
    <p:sldId id="287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88" r:id="rId17"/>
    <p:sldId id="273" r:id="rId18"/>
    <p:sldId id="274" r:id="rId19"/>
    <p:sldId id="275" r:id="rId20"/>
    <p:sldId id="289" r:id="rId21"/>
    <p:sldId id="276" r:id="rId22"/>
    <p:sldId id="290" r:id="rId23"/>
    <p:sldId id="279" r:id="rId24"/>
    <p:sldId id="291" r:id="rId25"/>
    <p:sldId id="278" r:id="rId26"/>
    <p:sldId id="292" r:id="rId27"/>
    <p:sldId id="280" r:id="rId28"/>
    <p:sldId id="293" r:id="rId29"/>
    <p:sldId id="282" r:id="rId30"/>
    <p:sldId id="283" r:id="rId31"/>
    <p:sldId id="284" r:id="rId32"/>
    <p:sldId id="294" r:id="rId33"/>
    <p:sldId id="285" r:id="rId34"/>
    <p:sldId id="286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3" autoAdjust="0"/>
    <p:restoredTop sz="94660"/>
  </p:normalViewPr>
  <p:slideViewPr>
    <p:cSldViewPr showGuides="1">
      <p:cViewPr varScale="1">
        <p:scale>
          <a:sx n="66" d="100"/>
          <a:sy n="66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commentAuthors" Target="commentAuthors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9-26T10:41:16.269" idx="1">
    <p:pos x="524" y="2841"/>
    <p:text>(p-&gt;q)^(q-&gt;p)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2FFEF-1113-4E60-88FE-EA47470A374B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CEA7A-0DCF-4742-BD22-DF14B59E4523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 panose="05040102010807070707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 panose="05040102010807070707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 panose="05040102010807070707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 panose="05000000000000000000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 panose="05000000000000000000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 panose="05040102010807070707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 panose="05040102010807070707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 panose="05040102010807070707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 panose="05040102010807070707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DOUBLE IMPLICATION/BICONDITIONAL</a:t>
            </a:r>
            <a:br>
              <a:rPr lang="en-US" b="1" u="sng" dirty="0" smtClean="0">
                <a:solidFill>
                  <a:srgbClr val="C00000"/>
                </a:solidFill>
              </a:rPr>
            </a:br>
            <a:br>
              <a:rPr lang="en-US" b="1" u="sng" dirty="0" smtClean="0">
                <a:solidFill>
                  <a:srgbClr val="C00000"/>
                </a:solidFill>
              </a:rPr>
            </a:b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Lecture # 04</a:t>
            </a:r>
            <a:b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Truth table for EXCLUSIVE OR</a:t>
            </a:r>
            <a:endParaRPr lang="en-US" b="1" dirty="0"/>
          </a:p>
        </p:txBody>
      </p:sp>
      <p:graphicFrame>
        <p:nvGraphicFramePr>
          <p:cNvPr id="3074" name="Group 2"/>
          <p:cNvGraphicFramePr>
            <a:graphicFrameLocks noGrp="1"/>
          </p:cNvGraphicFramePr>
          <p:nvPr/>
        </p:nvGraphicFramePr>
        <p:xfrm>
          <a:off x="838200" y="2057400"/>
          <a:ext cx="7772400" cy="2743200"/>
        </p:xfrm>
        <a:graphic>
          <a:graphicData uri="http://schemas.openxmlformats.org/drawingml/2006/table">
            <a:tbl>
              <a:tblPr/>
              <a:tblGrid>
                <a:gridCol w="834513"/>
                <a:gridCol w="834513"/>
                <a:gridCol w="997974"/>
                <a:gridCol w="914400"/>
                <a:gridCol w="1306462"/>
                <a:gridCol w="2884538"/>
              </a:tblGrid>
              <a:tr h="5480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  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  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 (pq)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(p  q)  ~ (p  q)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</a:tr>
              <a:tr h="5509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80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5480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5480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133600" y="1219200"/>
            <a:ext cx="56388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rgbClr val="C00000"/>
                </a:solidFill>
              </a:rPr>
              <a:t>(p </a:t>
            </a:r>
            <a:r>
              <a:rPr lang="en-US" sz="3200" b="1" dirty="0" smtClean="0">
                <a:solidFill>
                  <a:srgbClr val="C00000"/>
                </a:solidFill>
                <a:sym typeface="Symbol" panose="05050102010706020507"/>
              </a:rPr>
              <a:t> </a:t>
            </a:r>
            <a:r>
              <a:rPr lang="en-US" sz="3200" b="1" dirty="0" smtClean="0">
                <a:solidFill>
                  <a:srgbClr val="C00000"/>
                </a:solidFill>
              </a:rPr>
              <a:t>q) </a:t>
            </a:r>
            <a:r>
              <a:rPr lang="en-US" sz="3200" b="1" dirty="0" smtClean="0">
                <a:solidFill>
                  <a:srgbClr val="C00000"/>
                </a:solidFill>
                <a:sym typeface="Symbol" panose="05050102010706020507"/>
              </a:rPr>
              <a:t></a:t>
            </a:r>
            <a:r>
              <a:rPr lang="en-US" sz="3200" b="1" dirty="0" smtClean="0">
                <a:solidFill>
                  <a:srgbClr val="C00000"/>
                </a:solidFill>
              </a:rPr>
              <a:t> ~ (p </a:t>
            </a:r>
            <a:r>
              <a:rPr lang="en-US" sz="3200" b="1" dirty="0" smtClean="0">
                <a:solidFill>
                  <a:srgbClr val="C00000"/>
                </a:solidFill>
                <a:sym typeface="Symbol" panose="05050102010706020507"/>
              </a:rPr>
              <a:t> </a:t>
            </a:r>
            <a:r>
              <a:rPr lang="en-US" sz="3200" b="1" dirty="0" smtClean="0">
                <a:solidFill>
                  <a:srgbClr val="C00000"/>
                </a:solidFill>
              </a:rPr>
              <a:t>q)</a:t>
            </a:r>
            <a:endParaRPr lang="en-US" sz="3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EXCLUSIVE OR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In English when we use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OR</a:t>
            </a:r>
            <a:r>
              <a:rPr lang="en-US" dirty="0" smtClean="0"/>
              <a:t> in this sense, when we say p or q. It means either p is true or q is true or possibly both are true.</a:t>
            </a:r>
            <a:endParaRPr lang="en-US" dirty="0" smtClean="0"/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C00000"/>
                </a:solidFill>
              </a:rPr>
              <a:t>E.g.: </a:t>
            </a:r>
            <a:r>
              <a:rPr lang="en-US" dirty="0" smtClean="0"/>
              <a:t>Give me a book or bag. It means either give me a book or bag or possibly give him both bag and book.</a:t>
            </a:r>
            <a:endParaRPr lang="en-US" dirty="0" smtClean="0"/>
          </a:p>
          <a:p>
            <a:r>
              <a:rPr lang="en-US" dirty="0" smtClean="0"/>
              <a:t>In the above statement, we are using </a:t>
            </a:r>
            <a:r>
              <a:rPr lang="en-US" b="1" dirty="0" smtClean="0">
                <a:solidFill>
                  <a:srgbClr val="C00000"/>
                </a:solidFill>
              </a:rPr>
              <a:t>OR in Inclusive </a:t>
            </a:r>
            <a:r>
              <a:rPr lang="en-US" dirty="0" smtClean="0"/>
              <a:t>sense.</a:t>
            </a:r>
            <a:endParaRPr lang="en-US" dirty="0" smtClean="0"/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C00000"/>
                </a:solidFill>
              </a:rPr>
              <a:t>E.g.: </a:t>
            </a:r>
            <a:r>
              <a:rPr lang="en-US" dirty="0" smtClean="0"/>
              <a:t>Tomorrow at 9’o clock, I will be in Lahore or Islamabad.</a:t>
            </a:r>
            <a:endParaRPr lang="en-US" dirty="0" smtClean="0"/>
          </a:p>
          <a:p>
            <a:r>
              <a:rPr lang="en-US" dirty="0" smtClean="0"/>
              <a:t>In the above statement, we are using </a:t>
            </a:r>
            <a:r>
              <a:rPr lang="en-US" b="1" dirty="0" smtClean="0">
                <a:solidFill>
                  <a:srgbClr val="C00000"/>
                </a:solidFill>
              </a:rPr>
              <a:t>OR in Exclusive </a:t>
            </a:r>
            <a:r>
              <a:rPr lang="en-US" dirty="0" smtClean="0"/>
              <a:t>sense.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Exclusive OR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When </a:t>
            </a:r>
            <a:r>
              <a:rPr lang="en-US" b="1" dirty="0" smtClean="0">
                <a:solidFill>
                  <a:srgbClr val="C00000"/>
                </a:solidFill>
              </a:rPr>
              <a:t>OR</a:t>
            </a:r>
            <a:r>
              <a:rPr lang="en-US" dirty="0" smtClean="0"/>
              <a:t> is used in exclusive sense, the statement “p or q” means “p or q but not both”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	 or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“</a:t>
            </a:r>
            <a:r>
              <a:rPr lang="en-US" b="1" dirty="0" smtClean="0">
                <a:solidFill>
                  <a:srgbClr val="C00000"/>
                </a:solidFill>
              </a:rPr>
              <a:t>p or q and not p and q</a:t>
            </a:r>
            <a:r>
              <a:rPr lang="en-US" dirty="0" smtClean="0"/>
              <a:t>” which translates into symbols as: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			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b="1" dirty="0">
                <a:solidFill>
                  <a:srgbClr val="C00000"/>
                </a:solidFill>
              </a:rPr>
              <a:t>p or q and not p and q</a:t>
            </a:r>
            <a:r>
              <a:rPr lang="en-US" dirty="0"/>
              <a:t>” which translates into symbols as:</a:t>
            </a:r>
            <a:endParaRPr lang="en-US" dirty="0"/>
          </a:p>
          <a:p>
            <a:pPr>
              <a:buNone/>
            </a:pPr>
            <a:r>
              <a:rPr lang="en-US" b="1" dirty="0"/>
              <a:t>				</a:t>
            </a:r>
            <a:endParaRPr lang="en-US" b="1" dirty="0"/>
          </a:p>
          <a:p>
            <a:pPr>
              <a:buNone/>
            </a:pPr>
            <a:r>
              <a:rPr lang="en-US" b="1" dirty="0"/>
              <a:t>				(p </a:t>
            </a:r>
            <a:r>
              <a:rPr lang="en-US" b="1" dirty="0">
                <a:sym typeface="Symbol" panose="05050102010706020507"/>
              </a:rPr>
              <a:t></a:t>
            </a:r>
            <a:r>
              <a:rPr lang="en-US" b="1" dirty="0"/>
              <a:t> q) </a:t>
            </a:r>
            <a:r>
              <a:rPr lang="en-US" b="1" dirty="0">
                <a:sym typeface="Symbol" panose="05050102010706020507"/>
              </a:rPr>
              <a:t></a:t>
            </a:r>
            <a:r>
              <a:rPr lang="en-US" b="1" dirty="0"/>
              <a:t> ~ (p </a:t>
            </a:r>
            <a:r>
              <a:rPr lang="en-US" b="1" dirty="0">
                <a:sym typeface="Symbol" panose="05050102010706020507"/>
              </a:rPr>
              <a:t></a:t>
            </a:r>
            <a:r>
              <a:rPr lang="en-US" b="1" dirty="0"/>
              <a:t> q)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Symbols for EXCLUSIVE OR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					</a:t>
            </a:r>
            <a:r>
              <a:rPr lang="en-US" b="1" dirty="0" smtClean="0">
                <a:solidFill>
                  <a:srgbClr val="C00000"/>
                </a:solidFill>
              </a:rPr>
              <a:t>p</a:t>
            </a:r>
            <a:r>
              <a:rPr lang="en-US" b="1" dirty="0" smtClean="0"/>
              <a:t> </a:t>
            </a:r>
            <a:r>
              <a:rPr lang="en-US" b="1" dirty="0" smtClean="0">
                <a:sym typeface="Symbol" panose="05050102010706020507"/>
              </a:rPr>
              <a:t>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	   or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       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p </a:t>
            </a:r>
            <a:r>
              <a:rPr lang="en-US" b="1" dirty="0" smtClean="0"/>
              <a:t>XOR 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C00000"/>
                </a:solidFill>
              </a:rPr>
              <a:t>Note: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Basically</a:t>
            </a:r>
            <a:r>
              <a:rPr lang="en-US" dirty="0" smtClean="0"/>
              <a:t> 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	p </a:t>
            </a:r>
            <a:r>
              <a:rPr lang="en-US" b="1" dirty="0" smtClean="0">
                <a:sym typeface="Symbol" panose="05050102010706020507"/>
              </a:rPr>
              <a:t></a:t>
            </a:r>
            <a:r>
              <a:rPr lang="en-US" b="1" dirty="0" smtClean="0"/>
              <a:t> q</a:t>
            </a:r>
            <a:r>
              <a:rPr lang="en-US" dirty="0" smtClean="0"/>
              <a:t> ≡ </a:t>
            </a:r>
            <a:r>
              <a:rPr lang="en-US" sz="2800" dirty="0" smtClean="0"/>
              <a:t>(p </a:t>
            </a:r>
            <a:r>
              <a:rPr lang="en-US" sz="2800" dirty="0" smtClean="0">
                <a:sym typeface="Symbol" panose="05050102010706020507"/>
              </a:rPr>
              <a:t> </a:t>
            </a:r>
            <a:r>
              <a:rPr lang="en-US" sz="2800" dirty="0" smtClean="0"/>
              <a:t>q) </a:t>
            </a:r>
            <a:r>
              <a:rPr lang="en-US" sz="2800" dirty="0" smtClean="0">
                <a:sym typeface="Symbol" panose="05050102010706020507"/>
              </a:rPr>
              <a:t></a:t>
            </a:r>
            <a:r>
              <a:rPr lang="en-US" sz="2800" dirty="0" smtClean="0"/>
              <a:t> ~ (p </a:t>
            </a:r>
            <a:r>
              <a:rPr lang="en-US" sz="2800" dirty="0" smtClean="0">
                <a:sym typeface="Symbol" panose="05050102010706020507"/>
              </a:rPr>
              <a:t> </a:t>
            </a:r>
            <a:r>
              <a:rPr lang="en-US" sz="2800" dirty="0" smtClean="0"/>
              <a:t>q)</a:t>
            </a:r>
            <a:endParaRPr lang="en-US" sz="2800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Examples of Implication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p</a:t>
            </a:r>
            <a:r>
              <a:rPr lang="en-US" dirty="0" smtClean="0"/>
              <a:t> = “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Aslam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lives in Multan</a:t>
            </a:r>
            <a:r>
              <a:rPr lang="en-US" dirty="0" smtClean="0"/>
              <a:t>”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</a:t>
            </a:r>
            <a:r>
              <a:rPr lang="en-US" b="1" dirty="0" smtClean="0"/>
              <a:t>q </a:t>
            </a:r>
            <a:r>
              <a:rPr lang="en-US" dirty="0" smtClean="0"/>
              <a:t>= “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Aslam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lives in Pakistan</a:t>
            </a:r>
            <a:r>
              <a:rPr lang="en-US" dirty="0" smtClean="0"/>
              <a:t>”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 	“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if</a:t>
            </a:r>
            <a:r>
              <a:rPr lang="en-US" b="1" dirty="0" smtClean="0"/>
              <a:t> p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then</a:t>
            </a:r>
            <a:r>
              <a:rPr lang="en-US" b="1" dirty="0" smtClean="0"/>
              <a:t> q”</a:t>
            </a:r>
            <a:endParaRPr lang="en-US" b="1" dirty="0" smtClean="0"/>
          </a:p>
          <a:p>
            <a:pPr>
              <a:buNone/>
            </a:pPr>
            <a:r>
              <a:rPr lang="en-US" b="1" dirty="0" smtClean="0"/>
              <a:t>    “p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implies </a:t>
            </a:r>
            <a:r>
              <a:rPr lang="en-US" b="1" dirty="0" smtClean="0"/>
              <a:t>q”</a:t>
            </a:r>
            <a:endParaRPr lang="en-US" b="1" dirty="0" smtClean="0"/>
          </a:p>
          <a:p>
            <a:pPr>
              <a:buNone/>
            </a:pPr>
            <a:r>
              <a:rPr lang="en-US" b="1" dirty="0" smtClean="0"/>
              <a:t>    “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if </a:t>
            </a:r>
            <a:r>
              <a:rPr lang="en-US" b="1" dirty="0" smtClean="0"/>
              <a:t>p, q”</a:t>
            </a:r>
            <a:endParaRPr lang="en-US" b="1" dirty="0" smtClean="0"/>
          </a:p>
          <a:p>
            <a:pPr>
              <a:buNone/>
            </a:pPr>
            <a:r>
              <a:rPr lang="en-US" b="1" dirty="0" smtClean="0"/>
              <a:t>    “p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only if </a:t>
            </a:r>
            <a:r>
              <a:rPr lang="en-US" b="1" dirty="0" smtClean="0"/>
              <a:t>q”</a:t>
            </a:r>
            <a:endParaRPr lang="en-US" b="1" dirty="0" smtClean="0"/>
          </a:p>
          <a:p>
            <a:pPr>
              <a:buNone/>
            </a:pPr>
            <a:r>
              <a:rPr lang="en-US" b="1" dirty="0" smtClean="0"/>
              <a:t>    “p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is sufficient for </a:t>
            </a:r>
            <a:r>
              <a:rPr lang="en-US" b="1" dirty="0" smtClean="0"/>
              <a:t>q”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Note: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IMPLICATION is logically equivalent to its CONTROPOSITIVE.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IMPLLICATION and its CONVERSE they are not equivalent to each other logically.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Implication’s INVERSE and CONVERSE are logically equivalent to each other.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IMPLICATION and its CONTROPOSITIVE are equivalent to each other.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If you work hard you get good grades.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		w = “You work hard”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 g = “You get good grades”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w     g = If w then g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= “If you work hard then you get good grades”.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    Converse: True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    g     w = If g then w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      =  g only if w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= “You get good grades only if you work hard.”</a:t>
            </a:r>
            <a:endParaRPr lang="en-US" dirty="0" smtClean="0"/>
          </a:p>
          <a:p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1223184" y="3385458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132116" y="4799012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If we sum up the implication (w     g) and its converse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 (g    w) we get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“You get good grades </a:t>
            </a:r>
            <a:r>
              <a:rPr lang="en-US" b="1" i="1" dirty="0" smtClean="0"/>
              <a:t>if and only if</a:t>
            </a:r>
            <a:r>
              <a:rPr lang="en-US" dirty="0" smtClean="0"/>
              <a:t> you work hard.”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By summing up we get a new connective and we called this new connective </a:t>
            </a:r>
            <a:r>
              <a:rPr lang="en-US" b="1" dirty="0" smtClean="0">
                <a:solidFill>
                  <a:srgbClr val="C00000"/>
                </a:solidFill>
              </a:rPr>
              <a:t>BICONDITIONAL</a:t>
            </a:r>
            <a:r>
              <a:rPr lang="en-US" dirty="0" smtClean="0"/>
              <a:t>.</a:t>
            </a:r>
            <a:endParaRPr lang="en-US" dirty="0" smtClean="0"/>
          </a:p>
          <a:p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5105400" y="1494972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194156" y="1959432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Bi-Conditional Connective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If p and q are statement variables, the </a:t>
            </a:r>
            <a:r>
              <a:rPr lang="en-US" dirty="0" err="1" smtClean="0"/>
              <a:t>biconditional</a:t>
            </a:r>
            <a:r>
              <a:rPr lang="en-US" dirty="0" smtClean="0"/>
              <a:t> of p and q is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“</a:t>
            </a:r>
            <a:r>
              <a:rPr lang="en-US" b="1" dirty="0" smtClean="0"/>
              <a:t>p if, and only if, q</a:t>
            </a:r>
            <a:r>
              <a:rPr lang="en-US" dirty="0" smtClean="0"/>
              <a:t>” and is denoted </a:t>
            </a:r>
            <a:r>
              <a:rPr lang="en-US" b="1" dirty="0" smtClean="0"/>
              <a:t>p </a:t>
            </a:r>
            <a:r>
              <a:rPr lang="en-US" b="1" dirty="0" smtClean="0">
                <a:sym typeface="Symbol" panose="05050102010706020507"/>
              </a:rPr>
              <a:t> </a:t>
            </a:r>
            <a:r>
              <a:rPr lang="en-US" b="1" dirty="0" smtClean="0"/>
              <a:t>q</a:t>
            </a:r>
            <a:r>
              <a:rPr lang="en-US" dirty="0" smtClean="0"/>
              <a:t>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i="1" dirty="0" smtClean="0"/>
              <a:t>if and only if </a:t>
            </a:r>
            <a:r>
              <a:rPr lang="en-US" dirty="0" smtClean="0"/>
              <a:t>abbreviated </a:t>
            </a:r>
            <a:r>
              <a:rPr lang="en-US" b="1" dirty="0" err="1" smtClean="0"/>
              <a:t>iff</a:t>
            </a:r>
            <a:r>
              <a:rPr lang="en-US" b="1" dirty="0" smtClean="0"/>
              <a:t>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TRUTH  TABLE FOR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					</a:t>
            </a:r>
            <a:r>
              <a:rPr lang="en-US" sz="3200" b="1" dirty="0" smtClean="0"/>
              <a:t>p </a:t>
            </a:r>
            <a:r>
              <a:rPr lang="en-US" sz="3200" b="1" dirty="0" smtClean="0">
                <a:sym typeface="Symbol" panose="05050102010706020507"/>
              </a:rPr>
              <a:t> </a:t>
            </a:r>
            <a:r>
              <a:rPr lang="en-US" sz="3200" b="1" dirty="0" smtClean="0"/>
              <a:t>q</a:t>
            </a:r>
            <a:endParaRPr lang="en-US" sz="3200" dirty="0"/>
          </a:p>
        </p:txBody>
      </p:sp>
      <p:graphicFrame>
        <p:nvGraphicFramePr>
          <p:cNvPr id="1026" name="Group 2"/>
          <p:cNvGraphicFramePr>
            <a:graphicFrameLocks noGrp="1"/>
          </p:cNvGraphicFramePr>
          <p:nvPr/>
        </p:nvGraphicFramePr>
        <p:xfrm>
          <a:off x="3352800" y="1981200"/>
          <a:ext cx="2486343" cy="2286000"/>
        </p:xfrm>
        <a:graphic>
          <a:graphicData uri="http://schemas.openxmlformats.org/drawingml/2006/table">
            <a:tbl>
              <a:tblPr/>
              <a:tblGrid>
                <a:gridCol w="428943"/>
                <a:gridCol w="561657"/>
                <a:gridCol w="1495743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  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EXAMPLES: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“1 + 1 = 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if and only if </a:t>
            </a:r>
            <a:r>
              <a:rPr lang="en-US" b="1" dirty="0" smtClean="0">
                <a:solidFill>
                  <a:srgbClr val="C00000"/>
                </a:solidFill>
              </a:rPr>
              <a:t>earth is flat</a:t>
            </a:r>
            <a:r>
              <a:rPr lang="en-US" b="1" dirty="0" smtClean="0"/>
              <a:t>.</a:t>
            </a:r>
            <a:r>
              <a:rPr lang="en-US" dirty="0" smtClean="0"/>
              <a:t>”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    TRUE</a:t>
            </a:r>
            <a:endParaRPr lang="en-US" b="1" dirty="0" smtClean="0"/>
          </a:p>
          <a:p>
            <a:pPr>
              <a:buNone/>
            </a:pPr>
            <a:endParaRPr lang="en-US" b="1" dirty="0" smtClean="0"/>
          </a:p>
          <a:p>
            <a:r>
              <a:rPr lang="en-US" dirty="0" smtClean="0"/>
              <a:t>“</a:t>
            </a:r>
            <a:r>
              <a:rPr lang="en-US" b="1" dirty="0" smtClean="0">
                <a:solidFill>
                  <a:srgbClr val="C00000"/>
                </a:solidFill>
              </a:rPr>
              <a:t>Sky is blue</a:t>
            </a:r>
            <a:r>
              <a:rPr lang="en-US" b="1" dirty="0" smtClean="0">
                <a:solidFill>
                  <a:schemeClr val="accent3"/>
                </a:solidFill>
              </a:rPr>
              <a:t> </a:t>
            </a:r>
            <a:r>
              <a:rPr lang="en-US" dirty="0" err="1" smtClean="0"/>
              <a:t>iff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1 = 0</a:t>
            </a:r>
            <a:r>
              <a:rPr lang="en-US" dirty="0" smtClean="0"/>
              <a:t>”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    FALSE</a:t>
            </a:r>
            <a:endParaRPr lang="en-US" b="1" dirty="0" smtClean="0"/>
          </a:p>
          <a:p>
            <a:endParaRPr lang="en-US" dirty="0" smtClean="0"/>
          </a:p>
          <a:p>
            <a:r>
              <a:rPr lang="en-US" dirty="0" smtClean="0"/>
              <a:t>“</a:t>
            </a:r>
            <a:r>
              <a:rPr lang="en-US" b="1" dirty="0" smtClean="0">
                <a:solidFill>
                  <a:srgbClr val="C00000"/>
                </a:solidFill>
              </a:rPr>
              <a:t>Milk is white </a:t>
            </a:r>
            <a:r>
              <a:rPr lang="en-US" dirty="0" err="1" smtClean="0"/>
              <a:t>iff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birds lay eggs</a:t>
            </a:r>
            <a:r>
              <a:rPr lang="en-US" b="1" dirty="0" smtClean="0">
                <a:solidFill>
                  <a:schemeClr val="accent3"/>
                </a:solidFill>
              </a:rPr>
              <a:t>.</a:t>
            </a:r>
            <a:r>
              <a:rPr lang="en-US" dirty="0" smtClean="0"/>
              <a:t>”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    TRUE</a:t>
            </a:r>
            <a:endParaRPr lang="en-US" b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“</a:t>
            </a:r>
            <a:r>
              <a:rPr lang="en-US" b="1" dirty="0" smtClean="0">
                <a:solidFill>
                  <a:srgbClr val="C00000"/>
                </a:solidFill>
              </a:rPr>
              <a:t>33 is divisible by 4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if and only if </a:t>
            </a:r>
            <a:r>
              <a:rPr lang="en-US" b="1" dirty="0" smtClean="0">
                <a:solidFill>
                  <a:srgbClr val="C00000"/>
                </a:solidFill>
              </a:rPr>
              <a:t>horse has four legs</a:t>
            </a:r>
            <a:r>
              <a:rPr lang="en-US" b="1" dirty="0" smtClean="0"/>
              <a:t>.</a:t>
            </a:r>
            <a:r>
              <a:rPr lang="en-US" dirty="0" smtClean="0"/>
              <a:t>”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   FALSE</a:t>
            </a:r>
            <a:endParaRPr lang="en-US" b="1" dirty="0" smtClean="0"/>
          </a:p>
          <a:p>
            <a:pPr>
              <a:buNone/>
            </a:pPr>
            <a:endParaRPr lang="en-US" b="1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b="1" dirty="0" smtClean="0"/>
              <a:t>Note: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Biconditional</a:t>
            </a:r>
            <a:r>
              <a:rPr lang="en-US" dirty="0" smtClean="0"/>
              <a:t> is logically equivalent to conjunction of two implications: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	p </a:t>
            </a:r>
            <a:r>
              <a:rPr lang="en-US" dirty="0" smtClean="0">
                <a:sym typeface="Symbol" panose="05050102010706020507"/>
              </a:rPr>
              <a:t> </a:t>
            </a:r>
            <a:r>
              <a:rPr lang="en-US" dirty="0" smtClean="0"/>
              <a:t>q 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en-US" dirty="0" smtClean="0"/>
              <a:t> (p </a:t>
            </a:r>
            <a:r>
              <a:rPr lang="en-US" dirty="0" smtClean="0">
                <a:sym typeface="Symbol" panose="05050102010706020507"/>
              </a:rPr>
              <a:t> </a:t>
            </a:r>
            <a:r>
              <a:rPr lang="en-US" dirty="0" smtClean="0"/>
              <a:t>q) </a:t>
            </a:r>
            <a:r>
              <a:rPr lang="en-US" dirty="0" smtClean="0">
                <a:sym typeface="Symbol" panose="05050102010706020507"/>
              </a:rPr>
              <a:t> </a:t>
            </a:r>
            <a:r>
              <a:rPr lang="en-US" dirty="0" smtClean="0"/>
              <a:t>(q </a:t>
            </a:r>
            <a:r>
              <a:rPr lang="en-US" dirty="0" smtClean="0">
                <a:sym typeface="Symbol" panose="05050102010706020507"/>
              </a:rPr>
              <a:t> </a:t>
            </a:r>
            <a:r>
              <a:rPr lang="en-US" dirty="0" smtClean="0"/>
              <a:t>p) 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HOMEWORK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p </a:t>
            </a:r>
            <a:r>
              <a:rPr lang="en-US" b="1" dirty="0">
                <a:sym typeface="Symbol" panose="05050102010706020507"/>
              </a:rPr>
              <a:t> </a:t>
            </a:r>
            <a:r>
              <a:rPr lang="en-US" b="1" dirty="0"/>
              <a:t>q </a:t>
            </a:r>
            <a:r>
              <a:rPr lang="en-US" b="1" dirty="0">
                <a:sym typeface="Symbol" panose="05050102010706020507"/>
              </a:rPr>
              <a:t></a:t>
            </a:r>
            <a:r>
              <a:rPr lang="en-US" b="1" dirty="0"/>
              <a:t> (p </a:t>
            </a:r>
            <a:r>
              <a:rPr lang="en-US" b="1" dirty="0">
                <a:sym typeface="Symbol" panose="05050102010706020507"/>
              </a:rPr>
              <a:t> </a:t>
            </a:r>
            <a:r>
              <a:rPr lang="en-US" b="1" dirty="0"/>
              <a:t>q) </a:t>
            </a:r>
            <a:r>
              <a:rPr lang="en-US" b="1" dirty="0">
                <a:sym typeface="Symbol" panose="05050102010706020507"/>
              </a:rPr>
              <a:t> </a:t>
            </a:r>
            <a:r>
              <a:rPr lang="en-US" b="1" dirty="0"/>
              <a:t>(q </a:t>
            </a:r>
            <a:r>
              <a:rPr lang="en-US" b="1" dirty="0">
                <a:sym typeface="Symbol" panose="05050102010706020507"/>
              </a:rPr>
              <a:t> </a:t>
            </a:r>
            <a:r>
              <a:rPr lang="en-US" b="1" dirty="0"/>
              <a:t>p) </a:t>
            </a:r>
            <a:r>
              <a:rPr lang="en-US" b="1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REPHRASING BICONDITIONAL: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p 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 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is also expressed as: 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“p is </a:t>
            </a:r>
            <a:r>
              <a:rPr lang="en-US" b="1" dirty="0" smtClean="0">
                <a:solidFill>
                  <a:srgbClr val="C00000"/>
                </a:solidFill>
              </a:rPr>
              <a:t>necessary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sufficient </a:t>
            </a:r>
            <a:r>
              <a:rPr lang="en-US" dirty="0" smtClean="0"/>
              <a:t>for q”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“if p </a:t>
            </a:r>
            <a:r>
              <a:rPr lang="en-US" b="1" dirty="0" smtClean="0">
                <a:solidFill>
                  <a:srgbClr val="C00000"/>
                </a:solidFill>
              </a:rPr>
              <a:t>then</a:t>
            </a:r>
            <a:r>
              <a:rPr lang="en-US" dirty="0" smtClean="0"/>
              <a:t> q, and </a:t>
            </a:r>
            <a:r>
              <a:rPr lang="en-US" b="1" dirty="0" smtClean="0">
                <a:solidFill>
                  <a:srgbClr val="C00000"/>
                </a:solidFill>
              </a:rPr>
              <a:t>conversely</a:t>
            </a:r>
            <a:r>
              <a:rPr lang="en-US" dirty="0" smtClean="0"/>
              <a:t>”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“p is </a:t>
            </a:r>
            <a:r>
              <a:rPr lang="en-US" b="1" dirty="0" smtClean="0">
                <a:solidFill>
                  <a:srgbClr val="C00000"/>
                </a:solidFill>
              </a:rPr>
              <a:t>equivalent</a:t>
            </a:r>
            <a:r>
              <a:rPr lang="en-US" dirty="0" smtClean="0"/>
              <a:t> to q”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Note: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   </a:t>
            </a:r>
            <a:r>
              <a:rPr lang="en-US" b="1" dirty="0" smtClean="0">
                <a:solidFill>
                  <a:srgbClr val="C00000"/>
                </a:solidFill>
              </a:rPr>
              <a:t>p 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 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q 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</a:t>
            </a:r>
            <a:r>
              <a:rPr lang="en-US" b="1" dirty="0" smtClean="0">
                <a:solidFill>
                  <a:srgbClr val="C00000"/>
                </a:solidFill>
              </a:rPr>
              <a:t> p </a:t>
            </a:r>
            <a:r>
              <a:rPr lang="en-US" b="1" dirty="0" smtClean="0"/>
              <a:t>are EQUIVALENT.</a:t>
            </a:r>
            <a:endParaRPr lang="en-US" b="1" dirty="0" smtClean="0"/>
          </a:p>
          <a:p>
            <a:pPr>
              <a:buNone/>
            </a:pPr>
            <a:r>
              <a:rPr lang="en-US" b="1" dirty="0" smtClean="0"/>
              <a:t>   </a:t>
            </a:r>
            <a:r>
              <a:rPr lang="en-US" b="1" dirty="0" smtClean="0">
                <a:solidFill>
                  <a:srgbClr val="C00000"/>
                </a:solidFill>
              </a:rPr>
              <a:t>p </a:t>
            </a:r>
            <a:r>
              <a:rPr lang="en-US" b="1" dirty="0" err="1" smtClean="0">
                <a:solidFill>
                  <a:srgbClr val="C00000"/>
                </a:solidFill>
              </a:rPr>
              <a:t>iff</a:t>
            </a:r>
            <a:r>
              <a:rPr lang="en-US" b="1" dirty="0" smtClean="0">
                <a:solidFill>
                  <a:srgbClr val="C00000"/>
                </a:solidFill>
              </a:rPr>
              <a:t> q </a:t>
            </a:r>
            <a:r>
              <a:rPr lang="en-US" dirty="0" smtClean="0"/>
              <a:t>and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q </a:t>
            </a:r>
            <a:r>
              <a:rPr lang="en-US" b="1" dirty="0" err="1" smtClean="0">
                <a:solidFill>
                  <a:srgbClr val="C00000"/>
                </a:solidFill>
              </a:rPr>
              <a:t>iff</a:t>
            </a:r>
            <a:r>
              <a:rPr lang="en-US" b="1" dirty="0" smtClean="0">
                <a:solidFill>
                  <a:srgbClr val="C00000"/>
                </a:solidFill>
              </a:rPr>
              <a:t> p</a:t>
            </a:r>
            <a:r>
              <a:rPr lang="en-US" b="1" dirty="0" smtClean="0"/>
              <a:t> are EQUIVALENT.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REPHARASING ENGLISH SENTENCES IN BICONDITIONAL CONECTIVE.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If</a:t>
            </a:r>
            <a:r>
              <a:rPr lang="en-US" b="1" dirty="0" smtClean="0"/>
              <a:t> it is hot outside you buy an ice cream cone, and if you buy an ice cream cone it is hot outside.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	You buy an ice cream cone </a:t>
            </a:r>
            <a:r>
              <a:rPr lang="en-US" dirty="0" smtClean="0">
                <a:solidFill>
                  <a:srgbClr val="C00000"/>
                </a:solidFill>
              </a:rPr>
              <a:t>if and only if</a:t>
            </a:r>
            <a:r>
              <a:rPr lang="en-US" dirty="0" smtClean="0"/>
              <a:t> it is hot outside.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b="1" dirty="0" smtClean="0"/>
              <a:t>For you to win the contest it is </a:t>
            </a:r>
            <a:r>
              <a:rPr lang="en-US" b="1" dirty="0" smtClean="0">
                <a:solidFill>
                  <a:srgbClr val="C00000"/>
                </a:solidFill>
              </a:rPr>
              <a:t>necessary and sufficient</a:t>
            </a:r>
            <a:r>
              <a:rPr lang="en-US" b="1" dirty="0" smtClean="0"/>
              <a:t> that you have the only winning ticket.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	You win the contest </a:t>
            </a:r>
            <a:r>
              <a:rPr lang="en-US" dirty="0" smtClean="0">
                <a:solidFill>
                  <a:srgbClr val="C00000"/>
                </a:solidFill>
              </a:rPr>
              <a:t>if and only if</a:t>
            </a:r>
            <a:r>
              <a:rPr lang="en-US" dirty="0" smtClean="0"/>
              <a:t> you have the only winning ticket.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If</a:t>
            </a:r>
            <a:r>
              <a:rPr lang="en-US" b="1" dirty="0" smtClean="0"/>
              <a:t> you read the news paper every day, you will be informed and </a:t>
            </a:r>
            <a:r>
              <a:rPr lang="en-US" b="1" dirty="0" smtClean="0">
                <a:solidFill>
                  <a:srgbClr val="C00000"/>
                </a:solidFill>
              </a:rPr>
              <a:t>conversely</a:t>
            </a:r>
            <a:r>
              <a:rPr lang="en-US" dirty="0" smtClean="0"/>
              <a:t>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You will be informed </a:t>
            </a:r>
            <a:r>
              <a:rPr lang="en-US" dirty="0" smtClean="0">
                <a:solidFill>
                  <a:srgbClr val="C00000"/>
                </a:solidFill>
              </a:rPr>
              <a:t>if and only if</a:t>
            </a:r>
            <a:r>
              <a:rPr lang="en-US" dirty="0" smtClean="0"/>
              <a:t> you read the newspaper every day.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It rains </a:t>
            </a:r>
            <a:r>
              <a:rPr lang="en-US" b="1" dirty="0" smtClean="0">
                <a:solidFill>
                  <a:srgbClr val="C00000"/>
                </a:solidFill>
              </a:rPr>
              <a:t>if</a:t>
            </a:r>
            <a:r>
              <a:rPr lang="en-US" b="1" dirty="0" smtClean="0"/>
              <a:t> it is a weekend day, and it is a weekend day </a:t>
            </a:r>
            <a:r>
              <a:rPr lang="en-US" b="1" dirty="0" smtClean="0">
                <a:solidFill>
                  <a:srgbClr val="C00000"/>
                </a:solidFill>
              </a:rPr>
              <a:t>if</a:t>
            </a:r>
            <a:r>
              <a:rPr lang="en-US" b="1" dirty="0" smtClean="0"/>
              <a:t> it rains.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	It rains </a:t>
            </a:r>
            <a:r>
              <a:rPr lang="en-US" dirty="0" smtClean="0">
                <a:solidFill>
                  <a:srgbClr val="C00000"/>
                </a:solidFill>
              </a:rPr>
              <a:t>if and only if </a:t>
            </a:r>
            <a:r>
              <a:rPr lang="en-US" dirty="0" smtClean="0"/>
              <a:t>it is a weekend day.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This number is divisible by 6 precisely when it is divisible by both 2 and 3.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	This number is divisible by 6 </a:t>
            </a:r>
            <a:r>
              <a:rPr lang="en-US" dirty="0" smtClean="0">
                <a:solidFill>
                  <a:srgbClr val="C00000"/>
                </a:solidFill>
              </a:rPr>
              <a:t>if and only if</a:t>
            </a:r>
            <a:r>
              <a:rPr lang="en-US" dirty="0" smtClean="0"/>
              <a:t> it is divisible by both 2 and 3.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TRUTH </a:t>
            </a:r>
            <a:r>
              <a:rPr lang="en-US" b="1" dirty="0"/>
              <a:t>TABLE FOR (p </a:t>
            </a:r>
            <a:r>
              <a:rPr lang="en-US" b="1" dirty="0">
                <a:sym typeface="Symbol" panose="05050102010706020507"/>
              </a:rPr>
              <a:t> </a:t>
            </a:r>
            <a:r>
              <a:rPr lang="en-US" b="1" dirty="0"/>
              <a:t>q) </a:t>
            </a:r>
            <a:r>
              <a:rPr lang="en-US" b="1" dirty="0">
                <a:sym typeface="Symbol" panose="05050102010706020507"/>
              </a:rPr>
              <a:t></a:t>
            </a:r>
            <a:r>
              <a:rPr lang="en-US" b="1" dirty="0"/>
              <a:t> (~ q</a:t>
            </a:r>
            <a:r>
              <a:rPr lang="en-US" b="1" dirty="0">
                <a:sym typeface="Symbol" panose="05050102010706020507"/>
              </a:rPr>
              <a:t></a:t>
            </a:r>
            <a:r>
              <a:rPr lang="en-US" b="1" dirty="0"/>
              <a:t> ~ p)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TRUTH TABLE FOR (p </a:t>
            </a:r>
            <a:r>
              <a:rPr lang="en-US" b="1" dirty="0" smtClean="0">
                <a:sym typeface="Symbol" panose="05050102010706020507"/>
              </a:rPr>
              <a:t> </a:t>
            </a:r>
            <a:r>
              <a:rPr lang="en-US" b="1" dirty="0" smtClean="0"/>
              <a:t>q) </a:t>
            </a:r>
            <a:r>
              <a:rPr lang="en-US" b="1" dirty="0" smtClean="0">
                <a:sym typeface="Symbol" panose="05050102010706020507"/>
              </a:rPr>
              <a:t></a:t>
            </a:r>
            <a:r>
              <a:rPr lang="en-US" b="1" dirty="0" smtClean="0"/>
              <a:t> (~ q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en-US" b="1" dirty="0" smtClean="0"/>
              <a:t> ~ p)</a:t>
            </a:r>
            <a:endParaRPr lang="en-US" dirty="0"/>
          </a:p>
        </p:txBody>
      </p:sp>
      <p:graphicFrame>
        <p:nvGraphicFramePr>
          <p:cNvPr id="1026" name="Group 2"/>
          <p:cNvGraphicFramePr>
            <a:graphicFrameLocks noGrp="1"/>
          </p:cNvGraphicFramePr>
          <p:nvPr/>
        </p:nvGraphicFramePr>
        <p:xfrm>
          <a:off x="457200" y="1447800"/>
          <a:ext cx="8153400" cy="2503056"/>
        </p:xfrm>
        <a:graphic>
          <a:graphicData uri="http://schemas.openxmlformats.org/drawingml/2006/table">
            <a:tbl>
              <a:tblPr/>
              <a:tblGrid>
                <a:gridCol w="533400"/>
                <a:gridCol w="533400"/>
                <a:gridCol w="1066800"/>
                <a:gridCol w="609600"/>
                <a:gridCol w="609600"/>
                <a:gridCol w="1542472"/>
                <a:gridCol w="3258128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  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 q ~ 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(p  q)  (~ q ~ p)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73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3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3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3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5" name="Rectangle 54"/>
          <p:cNvSpPr/>
          <p:nvPr/>
        </p:nvSpPr>
        <p:spPr>
          <a:xfrm>
            <a:off x="533400" y="4114800"/>
            <a:ext cx="8153400" cy="1143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rgbClr val="C00000"/>
                </a:solidFill>
              </a:rPr>
              <a:t>Note:</a:t>
            </a:r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The result is </a:t>
            </a:r>
            <a:r>
              <a:rPr lang="en-US" b="1" dirty="0" smtClean="0">
                <a:solidFill>
                  <a:schemeClr val="tx1"/>
                </a:solidFill>
              </a:rPr>
              <a:t>TAUTOLOGY</a:t>
            </a:r>
            <a:r>
              <a:rPr lang="en-US" dirty="0" smtClean="0">
                <a:solidFill>
                  <a:schemeClr val="tx1"/>
                </a:solidFill>
              </a:rPr>
              <a:t>, It means both the expressions involved in statement form are equivalent.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8800"/>
            <a:ext cx="8229600" cy="914400"/>
          </a:xfrm>
        </p:spPr>
        <p:txBody>
          <a:bodyPr/>
          <a:lstStyle/>
          <a:p>
            <a:r>
              <a:rPr lang="en-US" b="1" dirty="0"/>
              <a:t>(p </a:t>
            </a:r>
            <a:r>
              <a:rPr lang="en-US" b="1" dirty="0">
                <a:sym typeface="Symbol" panose="05050102010706020507"/>
              </a:rPr>
              <a:t> </a:t>
            </a:r>
            <a:r>
              <a:rPr lang="en-US" b="1" dirty="0"/>
              <a:t>q) </a:t>
            </a:r>
            <a:r>
              <a:rPr lang="en-US" b="1" dirty="0">
                <a:sym typeface="Symbol" panose="05050102010706020507"/>
              </a:rPr>
              <a:t> </a:t>
            </a:r>
            <a:r>
              <a:rPr lang="en-US" b="1" dirty="0"/>
              <a:t>(r </a:t>
            </a:r>
            <a:r>
              <a:rPr lang="en-US" b="1" dirty="0">
                <a:sym typeface="Symbol" panose="05050102010706020507"/>
              </a:rPr>
              <a:t> </a:t>
            </a:r>
            <a:r>
              <a:rPr lang="en-US" b="1" dirty="0"/>
              <a:t>q)</a:t>
            </a:r>
            <a:endParaRPr 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2315210" y="45148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HOMEWORK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HIERARCY OF CONNECTIVES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Resolve Innermost parenthesis, outmost parenthesis,.</a:t>
            </a:r>
            <a:endParaRPr lang="en-US" dirty="0" smtClean="0"/>
          </a:p>
          <a:p>
            <a:r>
              <a:rPr lang="en-US" dirty="0" smtClean="0"/>
              <a:t>Negation</a:t>
            </a:r>
            <a:endParaRPr lang="en-US" dirty="0" smtClean="0"/>
          </a:p>
          <a:p>
            <a:r>
              <a:rPr lang="en-US" dirty="0" smtClean="0"/>
              <a:t>Conjunction and Disjunction</a:t>
            </a:r>
            <a:endParaRPr lang="en-US" dirty="0" smtClean="0"/>
          </a:p>
          <a:p>
            <a:r>
              <a:rPr lang="en-US" dirty="0" smtClean="0"/>
              <a:t>Implication or </a:t>
            </a:r>
            <a:r>
              <a:rPr lang="en-US" dirty="0" err="1" smtClean="0"/>
              <a:t>Biconditional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8800"/>
            <a:ext cx="8229600" cy="914400"/>
          </a:xfrm>
        </p:spPr>
        <p:txBody>
          <a:bodyPr/>
          <a:lstStyle/>
          <a:p>
            <a:r>
              <a:rPr lang="en-US" b="1" dirty="0"/>
              <a:t>p </a:t>
            </a:r>
            <a:r>
              <a:rPr lang="en-US" b="1" dirty="0">
                <a:sym typeface="Symbol" panose="05050102010706020507"/>
              </a:rPr>
              <a:t></a:t>
            </a:r>
            <a:r>
              <a:rPr lang="en-US" b="1" dirty="0"/>
              <a:t> ~r </a:t>
            </a:r>
            <a:r>
              <a:rPr lang="en-US" b="1" dirty="0">
                <a:sym typeface="Symbol" panose="05050102010706020507"/>
              </a:rPr>
              <a:t> </a:t>
            </a:r>
            <a:r>
              <a:rPr lang="en-US" b="1" dirty="0"/>
              <a:t>q </a:t>
            </a:r>
            <a:r>
              <a:rPr lang="en-US" b="1" dirty="0">
                <a:sym typeface="Symbol" panose="05050102010706020507"/>
              </a:rPr>
              <a:t> </a:t>
            </a:r>
            <a:r>
              <a:rPr lang="en-US" b="1" dirty="0"/>
              <a:t>r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p </a:t>
            </a:r>
            <a:r>
              <a:rPr lang="en-US" b="1" dirty="0" smtClean="0">
                <a:sym typeface="Symbol" panose="05050102010706020507"/>
              </a:rPr>
              <a:t></a:t>
            </a:r>
            <a:r>
              <a:rPr lang="en-US" b="1" dirty="0" smtClean="0"/>
              <a:t> ~r </a:t>
            </a:r>
            <a:r>
              <a:rPr lang="en-US" b="1" dirty="0" smtClean="0">
                <a:sym typeface="Symbol" panose="05050102010706020507"/>
              </a:rPr>
              <a:t> </a:t>
            </a:r>
            <a:r>
              <a:rPr lang="en-US" b="1" dirty="0" smtClean="0"/>
              <a:t>q </a:t>
            </a:r>
            <a:r>
              <a:rPr lang="en-US" b="1" dirty="0" smtClean="0">
                <a:sym typeface="Symbol" panose="05050102010706020507"/>
              </a:rPr>
              <a:t> </a:t>
            </a:r>
            <a:r>
              <a:rPr lang="en-US" b="1" dirty="0" smtClean="0"/>
              <a:t>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this statement form we have no parenthesis. </a:t>
            </a:r>
            <a:endParaRPr lang="en-US" dirty="0" smtClean="0"/>
          </a:p>
          <a:p>
            <a:r>
              <a:rPr lang="pt-BR" dirty="0" smtClean="0"/>
              <a:t>Here 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pt-BR" dirty="0" smtClean="0"/>
              <a:t> ~ r </a:t>
            </a:r>
            <a:r>
              <a:rPr lang="en-US" dirty="0" smtClean="0">
                <a:sym typeface="Symbol" panose="05050102010706020507"/>
              </a:rPr>
              <a:t> </a:t>
            </a:r>
            <a:r>
              <a:rPr lang="pt-BR" dirty="0" smtClean="0"/>
              <a:t>q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pt-BR" dirty="0" smtClean="0"/>
              <a:t> r</a:t>
            </a:r>
            <a:r>
              <a:rPr lang="pt-BR" b="1" dirty="0" smtClean="0"/>
              <a:t> </a:t>
            </a:r>
            <a:r>
              <a:rPr lang="pt-BR" dirty="0" smtClean="0"/>
              <a:t>means (p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pt-BR" dirty="0" smtClean="0"/>
              <a:t> (~ r)) </a:t>
            </a:r>
            <a:r>
              <a:rPr lang="en-US" dirty="0" smtClean="0">
                <a:sym typeface="Symbol" panose="05050102010706020507"/>
              </a:rPr>
              <a:t> </a:t>
            </a:r>
            <a:r>
              <a:rPr lang="pt-BR" dirty="0" smtClean="0"/>
              <a:t>(q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pt-BR" dirty="0" smtClean="0"/>
              <a:t> r)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3074" name="Group 2"/>
          <p:cNvGraphicFramePr>
            <a:graphicFrameLocks noGrp="1"/>
          </p:cNvGraphicFramePr>
          <p:nvPr/>
        </p:nvGraphicFramePr>
        <p:xfrm>
          <a:off x="990600" y="2286000"/>
          <a:ext cx="6934202" cy="4177008"/>
        </p:xfrm>
        <a:graphic>
          <a:graphicData uri="http://schemas.openxmlformats.org/drawingml/2006/table">
            <a:tbl>
              <a:tblPr/>
              <a:tblGrid>
                <a:gridCol w="381002"/>
                <a:gridCol w="381000"/>
                <a:gridCol w="364806"/>
                <a:gridCol w="549594"/>
                <a:gridCol w="1066800"/>
                <a:gridCol w="990600"/>
                <a:gridCol w="32004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r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~r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 ~r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q  r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  ~r  q  r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4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4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4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4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4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4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4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4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098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Show that </a:t>
            </a:r>
            <a:r>
              <a:rPr lang="en-US" b="1" dirty="0"/>
              <a:t>~p </a:t>
            </a:r>
            <a:r>
              <a:rPr lang="en-US" b="1" dirty="0">
                <a:sym typeface="Symbol" panose="05050102010706020507"/>
              </a:rPr>
              <a:t> </a:t>
            </a:r>
            <a:r>
              <a:rPr lang="en-US" b="1" dirty="0"/>
              <a:t>q</a:t>
            </a:r>
            <a:r>
              <a:rPr lang="en-US" dirty="0"/>
              <a:t> and </a:t>
            </a:r>
            <a:r>
              <a:rPr lang="en-US" b="1" dirty="0"/>
              <a:t>p </a:t>
            </a:r>
            <a:r>
              <a:rPr lang="en-US" b="1" dirty="0">
                <a:sym typeface="Symbol" panose="05050102010706020507"/>
              </a:rPr>
              <a:t> </a:t>
            </a:r>
            <a:r>
              <a:rPr lang="en-US" b="1" dirty="0"/>
              <a:t>~q</a:t>
            </a:r>
            <a:r>
              <a:rPr lang="en-US" dirty="0"/>
              <a:t> are logically equivalent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Show that </a:t>
            </a:r>
            <a:r>
              <a:rPr lang="en-US" b="1" dirty="0" smtClean="0"/>
              <a:t>~p </a:t>
            </a:r>
            <a:r>
              <a:rPr lang="en-US" b="1" dirty="0" smtClean="0">
                <a:sym typeface="Symbol" panose="05050102010706020507"/>
              </a:rPr>
              <a:t> </a:t>
            </a:r>
            <a:r>
              <a:rPr lang="en-US" b="1" dirty="0" smtClean="0"/>
              <a:t>q</a:t>
            </a:r>
            <a:r>
              <a:rPr lang="en-US" dirty="0" smtClean="0"/>
              <a:t> and </a:t>
            </a:r>
            <a:r>
              <a:rPr lang="en-US" b="1" dirty="0" smtClean="0"/>
              <a:t>p </a:t>
            </a:r>
            <a:r>
              <a:rPr lang="en-US" b="1" dirty="0" smtClean="0">
                <a:sym typeface="Symbol" panose="05050102010706020507"/>
              </a:rPr>
              <a:t> </a:t>
            </a:r>
            <a:r>
              <a:rPr lang="en-US" b="1" dirty="0" smtClean="0"/>
              <a:t>~q</a:t>
            </a:r>
            <a:r>
              <a:rPr lang="en-US" dirty="0" smtClean="0"/>
              <a:t> are logically equivalent</a:t>
            </a:r>
            <a:endParaRPr lang="en-US" dirty="0"/>
          </a:p>
        </p:txBody>
      </p:sp>
      <p:graphicFrame>
        <p:nvGraphicFramePr>
          <p:cNvPr id="1026" name="Group 2"/>
          <p:cNvGraphicFramePr>
            <a:graphicFrameLocks noGrp="1"/>
          </p:cNvGraphicFramePr>
          <p:nvPr/>
        </p:nvGraphicFramePr>
        <p:xfrm>
          <a:off x="1828800" y="1524000"/>
          <a:ext cx="5105400" cy="2286000"/>
        </p:xfrm>
        <a:graphic>
          <a:graphicData uri="http://schemas.openxmlformats.org/drawingml/2006/table">
            <a:tbl>
              <a:tblPr/>
              <a:tblGrid>
                <a:gridCol w="607785"/>
                <a:gridCol w="509021"/>
                <a:gridCol w="638175"/>
                <a:gridCol w="717947"/>
                <a:gridCol w="1416900"/>
                <a:gridCol w="1215572"/>
              </a:tblGrid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~p  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  ~q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070" name="Group 46"/>
          <p:cNvGrpSpPr/>
          <p:nvPr/>
        </p:nvGrpSpPr>
        <p:grpSpPr bwMode="auto">
          <a:xfrm>
            <a:off x="5148263" y="3810000"/>
            <a:ext cx="795337" cy="152400"/>
            <a:chOff x="2304" y="3984"/>
            <a:chExt cx="501" cy="96"/>
          </a:xfrm>
        </p:grpSpPr>
        <p:sp>
          <p:nvSpPr>
            <p:cNvPr id="1071" name="Line 47"/>
            <p:cNvSpPr>
              <a:spLocks noChangeShapeType="1"/>
            </p:cNvSpPr>
            <p:nvPr/>
          </p:nvSpPr>
          <p:spPr bwMode="auto">
            <a:xfrm flipV="1">
              <a:off x="2304" y="3984"/>
              <a:ext cx="21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72" name="Line 48"/>
            <p:cNvSpPr>
              <a:spLocks noChangeShapeType="1"/>
            </p:cNvSpPr>
            <p:nvPr/>
          </p:nvSpPr>
          <p:spPr bwMode="auto">
            <a:xfrm flipV="1">
              <a:off x="2784" y="3984"/>
              <a:ext cx="21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73" name="Line 49"/>
            <p:cNvSpPr>
              <a:spLocks noChangeShapeType="1"/>
            </p:cNvSpPr>
            <p:nvPr/>
          </p:nvSpPr>
          <p:spPr bwMode="auto">
            <a:xfrm>
              <a:off x="2304" y="4080"/>
              <a:ext cx="4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55" name="Rectangle 54"/>
          <p:cNvSpPr/>
          <p:nvPr/>
        </p:nvSpPr>
        <p:spPr>
          <a:xfrm>
            <a:off x="4648200" y="3974068"/>
            <a:ext cx="18277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same truth values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90800"/>
            <a:ext cx="8229600" cy="914400"/>
          </a:xfrm>
        </p:spPr>
        <p:txBody>
          <a:bodyPr>
            <a:normAutofit fontScale="90000"/>
          </a:bodyPr>
          <a:lstStyle/>
          <a:p>
            <a:br>
              <a:rPr lang="en-US" dirty="0" smtClean="0"/>
            </a:b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09600" y="2967335"/>
            <a:ext cx="77724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Show that </a:t>
            </a:r>
            <a:r>
              <a:rPr lang="en-US" sz="2400" b="1" dirty="0"/>
              <a:t>~(p </a:t>
            </a:r>
            <a:r>
              <a:rPr lang="en-US" sz="2400" b="1" dirty="0">
                <a:sym typeface="Symbol" panose="05050102010706020507"/>
              </a:rPr>
              <a:t> </a:t>
            </a:r>
            <a:r>
              <a:rPr lang="en-US" sz="2400" b="1" dirty="0"/>
              <a:t>q)</a:t>
            </a:r>
            <a:r>
              <a:rPr lang="en-US" sz="2400" dirty="0"/>
              <a:t> and </a:t>
            </a:r>
            <a:r>
              <a:rPr lang="en-US" sz="2400" b="1" dirty="0"/>
              <a:t>p </a:t>
            </a:r>
            <a:r>
              <a:rPr lang="en-US" sz="2400" b="1" dirty="0">
                <a:sym typeface="Symbol" panose="05050102010706020507"/>
              </a:rPr>
              <a:t> </a:t>
            </a:r>
            <a:r>
              <a:rPr lang="en-US" sz="2400" b="1" dirty="0"/>
              <a:t>q</a:t>
            </a:r>
            <a:r>
              <a:rPr lang="en-US" sz="2400" dirty="0"/>
              <a:t> are logically equivalent</a:t>
            </a:r>
            <a:endParaRPr lang="en-US" sz="2400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Text Box 3"/>
          <p:cNvSpPr txBox="1"/>
          <p:nvPr/>
        </p:nvSpPr>
        <p:spPr>
          <a:xfrm>
            <a:off x="2315210" y="29908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HOMEWORK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Laws of Logic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Commutative Law:</a:t>
            </a:r>
            <a:r>
              <a:rPr lang="en-US" dirty="0" smtClean="0"/>
              <a:t>	         	p </a:t>
            </a:r>
            <a:r>
              <a:rPr lang="en-US" dirty="0" smtClean="0">
                <a:sym typeface="Symbol" panose="05050102010706020507"/>
              </a:rPr>
              <a:t></a:t>
            </a:r>
            <a:r>
              <a:rPr lang="en-US" dirty="0" smtClean="0"/>
              <a:t> q 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en-US" dirty="0" smtClean="0"/>
              <a:t> q </a:t>
            </a:r>
            <a:r>
              <a:rPr lang="en-US" dirty="0" smtClean="0">
                <a:sym typeface="Symbol" panose="05050102010706020507"/>
              </a:rPr>
              <a:t></a:t>
            </a:r>
            <a:r>
              <a:rPr lang="en-US" dirty="0" smtClean="0"/>
              <a:t> p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Implication Laws:</a:t>
            </a:r>
            <a:r>
              <a:rPr lang="en-US" dirty="0" smtClean="0"/>
              <a:t>		p </a:t>
            </a:r>
            <a:r>
              <a:rPr lang="en-US" dirty="0" smtClean="0">
                <a:sym typeface="Symbol" panose="05050102010706020507"/>
              </a:rPr>
              <a:t></a:t>
            </a:r>
            <a:r>
              <a:rPr lang="en-US" dirty="0" smtClean="0"/>
              <a:t>q 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en-US" dirty="0" smtClean="0"/>
              <a:t> ~p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en-US" dirty="0" smtClean="0"/>
              <a:t> q 					                   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en-US" dirty="0" smtClean="0"/>
              <a:t> ~(p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 ~q)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Exportation Law:</a:t>
            </a:r>
            <a:r>
              <a:rPr lang="en-US" dirty="0" smtClean="0"/>
              <a:t>	     	(p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 q)</a:t>
            </a:r>
            <a:r>
              <a:rPr lang="en-US" dirty="0" smtClean="0">
                <a:sym typeface="Symbol" panose="05050102010706020507"/>
              </a:rPr>
              <a:t></a:t>
            </a:r>
            <a:r>
              <a:rPr lang="en-US" dirty="0" smtClean="0"/>
              <a:t>r 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en-US" dirty="0" smtClean="0"/>
              <a:t> p </a:t>
            </a:r>
            <a:r>
              <a:rPr lang="en-US" dirty="0" smtClean="0">
                <a:sym typeface="Symbol" panose="05050102010706020507"/>
              </a:rPr>
              <a:t></a:t>
            </a:r>
            <a:r>
              <a:rPr lang="en-US" dirty="0" smtClean="0"/>
              <a:t>(q </a:t>
            </a:r>
            <a:r>
              <a:rPr lang="en-US" dirty="0" smtClean="0">
                <a:sym typeface="Symbol" panose="05050102010706020507"/>
              </a:rPr>
              <a:t></a:t>
            </a:r>
            <a:r>
              <a:rPr lang="en-US" dirty="0" smtClean="0"/>
              <a:t>r)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Equivalence:</a:t>
            </a:r>
            <a:r>
              <a:rPr lang="en-US" dirty="0" smtClean="0"/>
              <a:t>	          p </a:t>
            </a:r>
            <a:r>
              <a:rPr lang="en-US" dirty="0" smtClean="0">
                <a:sym typeface="Symbol" panose="05050102010706020507"/>
              </a:rPr>
              <a:t></a:t>
            </a:r>
            <a:r>
              <a:rPr lang="en-US" dirty="0" smtClean="0"/>
              <a:t> q 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en-US" dirty="0" smtClean="0"/>
              <a:t> (p </a:t>
            </a:r>
            <a:r>
              <a:rPr lang="en-US" dirty="0" smtClean="0">
                <a:sym typeface="Symbol" panose="05050102010706020507"/>
              </a:rPr>
              <a:t></a:t>
            </a:r>
            <a:r>
              <a:rPr lang="en-US" dirty="0" smtClean="0"/>
              <a:t>q) </a:t>
            </a:r>
            <a:r>
              <a:rPr lang="en-US" dirty="0" smtClean="0">
                <a:sym typeface="Symbol" panose="05050102010706020507"/>
              </a:rPr>
              <a:t> </a:t>
            </a:r>
            <a:r>
              <a:rPr lang="en-US" dirty="0" smtClean="0"/>
              <a:t>(q </a:t>
            </a:r>
            <a:r>
              <a:rPr lang="en-US" dirty="0" smtClean="0">
                <a:sym typeface="Symbol" panose="05050102010706020507"/>
              </a:rPr>
              <a:t></a:t>
            </a:r>
            <a:r>
              <a:rPr lang="en-US" dirty="0" smtClean="0"/>
              <a:t>p)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err="1" smtClean="0"/>
              <a:t>Reductio</a:t>
            </a:r>
            <a:r>
              <a:rPr lang="en-US" b="1" dirty="0" smtClean="0"/>
              <a:t> ad absurdum</a:t>
            </a:r>
            <a:r>
              <a:rPr lang="en-US" dirty="0" smtClean="0"/>
              <a:t>            p </a:t>
            </a:r>
            <a:r>
              <a:rPr lang="en-US" dirty="0" smtClean="0">
                <a:sym typeface="Symbol" panose="05050102010706020507"/>
              </a:rPr>
              <a:t></a:t>
            </a:r>
            <a:r>
              <a:rPr lang="en-US" dirty="0" smtClean="0"/>
              <a:t>q 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en-US" dirty="0" smtClean="0"/>
              <a:t> (p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 ~q) </a:t>
            </a:r>
            <a:r>
              <a:rPr lang="en-US" dirty="0" smtClean="0">
                <a:sym typeface="Symbol" panose="05050102010706020507"/>
              </a:rPr>
              <a:t></a:t>
            </a:r>
            <a:r>
              <a:rPr lang="en-US" dirty="0" smtClean="0"/>
              <a:t>c 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APPLICATION: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Rewrite the statement forms without using the symbols 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en-US" b="1" dirty="0" smtClean="0"/>
              <a:t> or </a:t>
            </a:r>
            <a:r>
              <a:rPr lang="en-US" b="1" dirty="0" smtClean="0">
                <a:sym typeface="Symbol" panose="05050102010706020507"/>
              </a:rPr>
              <a:t></a:t>
            </a:r>
            <a:endParaRPr lang="en-US" dirty="0" smtClean="0"/>
          </a:p>
          <a:p>
            <a:pPr>
              <a:buNone/>
            </a:pPr>
            <a:r>
              <a:rPr lang="pt-BR" dirty="0" smtClean="0"/>
              <a:t>	1.  p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pt-BR" dirty="0" smtClean="0"/>
              <a:t>~q</a:t>
            </a:r>
            <a:r>
              <a:rPr lang="en-US" dirty="0" smtClean="0">
                <a:sym typeface="Symbol" panose="05050102010706020507"/>
              </a:rPr>
              <a:t></a:t>
            </a:r>
            <a:r>
              <a:rPr lang="pt-BR" dirty="0" smtClean="0"/>
              <a:t>r			2.   (p</a:t>
            </a:r>
            <a:r>
              <a:rPr lang="en-US" dirty="0" smtClean="0">
                <a:sym typeface="Symbol" panose="05050102010706020507"/>
              </a:rPr>
              <a:t></a:t>
            </a:r>
            <a:r>
              <a:rPr lang="pt-BR" dirty="0" smtClean="0"/>
              <a:t>r)</a:t>
            </a:r>
            <a:r>
              <a:rPr lang="en-US" dirty="0" smtClean="0">
                <a:sym typeface="Symbol" panose="05050102010706020507"/>
              </a:rPr>
              <a:t></a:t>
            </a:r>
            <a:r>
              <a:rPr lang="pt-BR" dirty="0" smtClean="0"/>
              <a:t>(q </a:t>
            </a:r>
            <a:r>
              <a:rPr lang="en-US" dirty="0" smtClean="0">
                <a:sym typeface="Symbol" panose="05050102010706020507"/>
              </a:rPr>
              <a:t></a:t>
            </a:r>
            <a:r>
              <a:rPr lang="pt-BR" dirty="0" smtClean="0"/>
              <a:t>r)</a:t>
            </a:r>
            <a:endParaRPr lang="pt-BR" dirty="0" smtClean="0"/>
          </a:p>
          <a:p>
            <a:endParaRPr lang="pt-BR" dirty="0" smtClean="0"/>
          </a:p>
          <a:p>
            <a:r>
              <a:rPr lang="pt-BR" b="1" dirty="0" smtClean="0"/>
              <a:t>Solution:</a:t>
            </a:r>
            <a:endParaRPr lang="en-US" b="1" dirty="0" smtClean="0"/>
          </a:p>
          <a:p>
            <a:r>
              <a:rPr lang="en-US" dirty="0" smtClean="0"/>
              <a:t>p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~q </a:t>
            </a:r>
            <a:r>
              <a:rPr lang="en-US" dirty="0" smtClean="0">
                <a:sym typeface="Symbol" panose="05050102010706020507"/>
              </a:rPr>
              <a:t> </a:t>
            </a:r>
            <a:r>
              <a:rPr lang="en-US" dirty="0" smtClean="0"/>
              <a:t>r 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en-US" dirty="0" smtClean="0"/>
              <a:t> (p </a:t>
            </a:r>
            <a:r>
              <a:rPr lang="en-US" dirty="0" smtClean="0">
                <a:sym typeface="Symbol" panose="05050102010706020507"/>
              </a:rPr>
              <a:t> </a:t>
            </a:r>
            <a:r>
              <a:rPr lang="en-US" dirty="0" smtClean="0"/>
              <a:t>~q)</a:t>
            </a:r>
            <a:r>
              <a:rPr lang="en-US" dirty="0" smtClean="0">
                <a:sym typeface="Symbol" panose="05050102010706020507"/>
              </a:rPr>
              <a:t></a:t>
            </a:r>
            <a:r>
              <a:rPr lang="en-US" dirty="0" smtClean="0"/>
              <a:t>r		order of operations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Symbol" panose="05050102010706020507"/>
              </a:rPr>
              <a:t>		          </a:t>
            </a:r>
            <a:r>
              <a:rPr lang="en-US" dirty="0" smtClean="0"/>
              <a:t>~(p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~q)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en-US" dirty="0" smtClean="0"/>
              <a:t> r		implication law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pt-BR" b="1" dirty="0" smtClean="0"/>
              <a:t>2. (p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pt-BR" b="1" dirty="0" smtClean="0"/>
              <a:t>r)</a:t>
            </a:r>
            <a:r>
              <a:rPr lang="en-US" b="1" dirty="0" smtClean="0">
                <a:sym typeface="Symbol" panose="05050102010706020507"/>
              </a:rPr>
              <a:t></a:t>
            </a:r>
            <a:r>
              <a:rPr lang="pt-BR" b="1" dirty="0" smtClean="0"/>
              <a:t>(q 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pt-BR" b="1" dirty="0" smtClean="0"/>
              <a:t>r) </a:t>
            </a:r>
            <a:r>
              <a:rPr lang="pt-BR" b="1" dirty="0" smtClean="0"/>
              <a:t> 	</a:t>
            </a:r>
            <a:r>
              <a:rPr lang="en-US" dirty="0"/>
              <a:t>p </a:t>
            </a:r>
            <a:r>
              <a:rPr lang="en-US" dirty="0">
                <a:sym typeface="Symbol" panose="05050102010706020507"/>
              </a:rPr>
              <a:t></a:t>
            </a:r>
            <a:r>
              <a:rPr lang="en-US" dirty="0"/>
              <a:t>q </a:t>
            </a:r>
            <a:r>
              <a:rPr lang="en-US" dirty="0">
                <a:sym typeface="Symbol" panose="05050102010706020507"/>
              </a:rPr>
              <a:t></a:t>
            </a:r>
            <a:r>
              <a:rPr lang="en-US" dirty="0"/>
              <a:t> ~p </a:t>
            </a:r>
            <a:r>
              <a:rPr lang="en-US" dirty="0">
                <a:sym typeface="Symbol" panose="05050102010706020507"/>
              </a:rPr>
              <a:t></a:t>
            </a:r>
            <a:r>
              <a:rPr lang="en-US" dirty="0"/>
              <a:t> q 					                   </a:t>
            </a:r>
            <a:r>
              <a:rPr lang="en-US" dirty="0">
                <a:sym typeface="Symbol" panose="05050102010706020507"/>
              </a:rPr>
              <a:t></a:t>
            </a:r>
            <a:r>
              <a:rPr lang="en-US" dirty="0"/>
              <a:t> ~(p </a:t>
            </a:r>
            <a:r>
              <a:rPr lang="en-US" dirty="0">
                <a:sym typeface="Symbol" panose="05050102010706020507"/>
              </a:rPr>
              <a:t></a:t>
            </a:r>
            <a:r>
              <a:rPr lang="en-US" dirty="0"/>
              <a:t> ~q</a:t>
            </a:r>
            <a:r>
              <a:rPr lang="en-US" dirty="0" smtClean="0"/>
              <a:t>)</a:t>
            </a:r>
            <a:endParaRPr lang="pt-BR" b="1" dirty="0" smtClean="0"/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Text Box 3"/>
          <p:cNvSpPr txBox="1"/>
          <p:nvPr/>
        </p:nvSpPr>
        <p:spPr>
          <a:xfrm>
            <a:off x="2743200" y="46355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HOMEWORK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57400"/>
            <a:ext cx="8229600" cy="1981200"/>
          </a:xfrm>
        </p:spPr>
        <p:txBody>
          <a:bodyPr>
            <a:normAutofit fontScale="90000"/>
          </a:bodyPr>
          <a:lstStyle/>
          <a:p>
            <a:r>
              <a:rPr lang="en-US" dirty="0"/>
              <a:t>Rewrite the statement form  </a:t>
            </a:r>
            <a:r>
              <a:rPr lang="en-US" b="1" dirty="0"/>
              <a:t>~p </a:t>
            </a:r>
            <a:r>
              <a:rPr lang="en-US" b="1" dirty="0">
                <a:sym typeface="Symbol" panose="05050102010706020507"/>
              </a:rPr>
              <a:t></a:t>
            </a:r>
            <a:r>
              <a:rPr lang="en-US" b="1" dirty="0"/>
              <a:t> q </a:t>
            </a:r>
            <a:r>
              <a:rPr lang="en-US" b="1" dirty="0">
                <a:sym typeface="Symbol" panose="05050102010706020507"/>
              </a:rPr>
              <a:t></a:t>
            </a:r>
            <a:r>
              <a:rPr lang="en-US" b="1" dirty="0"/>
              <a:t> r </a:t>
            </a:r>
            <a:r>
              <a:rPr lang="en-US" b="1" dirty="0">
                <a:sym typeface="Symbol" panose="05050102010706020507"/>
              </a:rPr>
              <a:t></a:t>
            </a:r>
            <a:r>
              <a:rPr lang="en-US" b="1" dirty="0"/>
              <a:t> ~q</a:t>
            </a:r>
            <a:r>
              <a:rPr lang="en-US" dirty="0"/>
              <a:t> to a logically equivalent form that uses only </a:t>
            </a:r>
            <a:r>
              <a:rPr lang="en-US" b="1" dirty="0"/>
              <a:t>~</a:t>
            </a:r>
            <a:r>
              <a:rPr lang="en-US" dirty="0"/>
              <a:t> and </a:t>
            </a:r>
            <a:r>
              <a:rPr lang="en-US" b="1" dirty="0">
                <a:sym typeface="Symbol" panose="05050102010706020507"/>
              </a:rPr>
              <a:t>.</a:t>
            </a:r>
            <a:br>
              <a:rPr lang="en-US" b="1" dirty="0">
                <a:sym typeface="Symbol" panose="05050102010706020507"/>
              </a:rPr>
            </a:br>
            <a:endParaRPr lang="en-US" dirty="0"/>
          </a:p>
        </p:txBody>
      </p:sp>
      <p:sp>
        <p:nvSpPr>
          <p:cNvPr id="4" name="Text Box 3"/>
          <p:cNvSpPr txBox="1"/>
          <p:nvPr/>
        </p:nvSpPr>
        <p:spPr>
          <a:xfrm>
            <a:off x="2315210" y="45148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HOMEWORK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HOMEWORK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Rewrite the statement form  </a:t>
            </a:r>
            <a:r>
              <a:rPr lang="en-US" b="1" dirty="0" smtClean="0"/>
              <a:t>~p </a:t>
            </a:r>
            <a:r>
              <a:rPr lang="en-US" b="1" dirty="0" smtClean="0">
                <a:sym typeface="Symbol" panose="05050102010706020507"/>
              </a:rPr>
              <a:t></a:t>
            </a:r>
            <a:r>
              <a:rPr lang="en-US" b="1" dirty="0" smtClean="0"/>
              <a:t> q 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en-US" b="1" dirty="0" smtClean="0"/>
              <a:t> r </a:t>
            </a:r>
            <a:r>
              <a:rPr lang="en-US" b="1" dirty="0" smtClean="0">
                <a:sym typeface="Symbol" panose="05050102010706020507"/>
              </a:rPr>
              <a:t></a:t>
            </a:r>
            <a:r>
              <a:rPr lang="en-US" b="1" dirty="0" smtClean="0"/>
              <a:t> ~q</a:t>
            </a:r>
            <a:r>
              <a:rPr lang="en-US" dirty="0" smtClean="0"/>
              <a:t> to a logically equivalent form that uses only </a:t>
            </a:r>
            <a:r>
              <a:rPr lang="en-US" b="1" dirty="0" smtClean="0"/>
              <a:t>~</a:t>
            </a:r>
            <a:r>
              <a:rPr lang="en-US" dirty="0" smtClean="0"/>
              <a:t> and </a:t>
            </a:r>
            <a:r>
              <a:rPr lang="en-US" b="1" dirty="0" smtClean="0">
                <a:sym typeface="Symbol" panose="05050102010706020507"/>
              </a:rPr>
              <a:t>.</a:t>
            </a:r>
            <a:endParaRPr lang="en-US" b="1" dirty="0" smtClean="0">
              <a:sym typeface="Symbol" panose="05050102010706020507"/>
            </a:endParaRPr>
          </a:p>
          <a:p>
            <a:endParaRPr lang="en-US" b="1" dirty="0" smtClean="0">
              <a:sym typeface="Symbol" panose="05050102010706020507"/>
            </a:endParaRPr>
          </a:p>
          <a:p>
            <a:r>
              <a:rPr lang="en-US" b="1" u="sng" dirty="0" smtClean="0"/>
              <a:t>SOLUTION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Show that </a:t>
            </a:r>
            <a:r>
              <a:rPr lang="en-US" b="1" dirty="0" smtClean="0"/>
              <a:t>~(p </a:t>
            </a:r>
            <a:r>
              <a:rPr lang="en-US" b="1" dirty="0" smtClean="0">
                <a:sym typeface="Symbol" panose="05050102010706020507"/>
              </a:rPr>
              <a:t> </a:t>
            </a:r>
            <a:r>
              <a:rPr lang="en-US" b="1" dirty="0" smtClean="0"/>
              <a:t>q) 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en-US" b="1" dirty="0" smtClean="0"/>
              <a:t> p</a:t>
            </a:r>
            <a:r>
              <a:rPr lang="en-US" dirty="0" smtClean="0"/>
              <a:t> is a tautology without using truth tables.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SOLUTION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Symbol" panose="05050102010706020507"/>
              </a:rPr>
              <a:t>	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0</TotalTime>
  <Words>5153</Words>
  <Application>WPS Presentation</Application>
  <PresentationFormat>On-screen Show (4:3)</PresentationFormat>
  <Paragraphs>610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51" baseType="lpstr">
      <vt:lpstr>Arial</vt:lpstr>
      <vt:lpstr>SimSun</vt:lpstr>
      <vt:lpstr>Wingdings</vt:lpstr>
      <vt:lpstr>Wingdings 3</vt:lpstr>
      <vt:lpstr>Wingdings</vt:lpstr>
      <vt:lpstr>Bell MT</vt:lpstr>
      <vt:lpstr>Times New Roman</vt:lpstr>
      <vt:lpstr>Symbol</vt:lpstr>
      <vt:lpstr>Calibri</vt:lpstr>
      <vt:lpstr>Symbol</vt:lpstr>
      <vt:lpstr>Gill Sans MT</vt:lpstr>
      <vt:lpstr>Bookman Old Style</vt:lpstr>
      <vt:lpstr>Microsoft YaHei</vt:lpstr>
      <vt:lpstr>Arial Unicode MS</vt:lpstr>
      <vt:lpstr>Arial</vt:lpstr>
      <vt:lpstr>MS Mincho</vt:lpstr>
      <vt:lpstr>Yu Gothic</vt:lpstr>
      <vt:lpstr>Origin</vt:lpstr>
      <vt:lpstr>DOUBLE IMPLICATION/BICONDITIONAL Lecture # 04  </vt:lpstr>
      <vt:lpstr>Truth table for EXCLUSIVE OR</vt:lpstr>
      <vt:lpstr>EXCLUSIVE OR</vt:lpstr>
      <vt:lpstr>Exclusive OR</vt:lpstr>
      <vt:lpstr>PowerPoint 演示文稿</vt:lpstr>
      <vt:lpstr>Symbols for EXCLUSIVE OR</vt:lpstr>
      <vt:lpstr>Examples of Implication</vt:lpstr>
      <vt:lpstr>Note:</vt:lpstr>
      <vt:lpstr>Examples:</vt:lpstr>
      <vt:lpstr>PowerPoint 演示文稿</vt:lpstr>
      <vt:lpstr>Bi-Conditional Connective</vt:lpstr>
      <vt:lpstr>TRUTH  TABLE FOR</vt:lpstr>
      <vt:lpstr>EXAMPLES:</vt:lpstr>
      <vt:lpstr>PowerPoint 演示文稿</vt:lpstr>
      <vt:lpstr>PowerPoint 演示文稿</vt:lpstr>
      <vt:lpstr>REPHRASING BICONDITIONAL:</vt:lpstr>
      <vt:lpstr>REPHARASING ENGLISH SENTENCES IN BICONDITIONAL CONECTIVE.</vt:lpstr>
      <vt:lpstr>PowerPoint 演示文稿</vt:lpstr>
      <vt:lpstr>PowerPoint 演示文稿</vt:lpstr>
      <vt:lpstr>TRUTH TABLE FOR (p  q)  (~ q ~ p)</vt:lpstr>
      <vt:lpstr>(p  q)  (r  q)</vt:lpstr>
      <vt:lpstr>HIERARCY OF CONNECTIVES</vt:lpstr>
      <vt:lpstr>p  ~r  q  r</vt:lpstr>
      <vt:lpstr>p  ~r  q  r</vt:lpstr>
      <vt:lpstr>Show that ~p  q and p  ~q are logically equivalent</vt:lpstr>
      <vt:lpstr>Show that ~p  q and p  ~q are logically equivalent</vt:lpstr>
      <vt:lpstr> </vt:lpstr>
      <vt:lpstr>Laws of Logic</vt:lpstr>
      <vt:lpstr>APPLICATION:</vt:lpstr>
      <vt:lpstr>PowerPoint 演示文稿</vt:lpstr>
      <vt:lpstr>Rewrite the statement form  ~p  q  r  ~q to a logically equivalent form that uses only ~ and . </vt:lpstr>
      <vt:lpstr>PowerPoint 演示文稿</vt:lpstr>
      <vt:lpstr>Show that ~(p  q)  p is a tautology without using truth tables.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Discrete Structures </dc:title>
  <dc:creator>C &amp; M</dc:creator>
  <cp:lastModifiedBy>Dell</cp:lastModifiedBy>
  <cp:revision>165</cp:revision>
  <dcterms:created xsi:type="dcterms:W3CDTF">2013-09-11T16:39:00Z</dcterms:created>
  <dcterms:modified xsi:type="dcterms:W3CDTF">2024-10-07T06:35:41Z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F3B4A313327B4B8FBE82B134F8F4AFE3_12</vt:lpwstr>
  </property>
  <property fmtid="{D5CDD505-2E9C-101B-9397-08002B2CF9AE}" pid="3" name="KSOProductBuildVer">
    <vt:lpwstr>1033-12.2.0.18283</vt:lpwstr>
  </property>
</Properties>
</file>
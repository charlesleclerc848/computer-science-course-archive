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7"/>
  </p:notes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5" r:id="rId9"/>
    <p:sldId id="294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29" r:id="rId43"/>
    <p:sldId id="330" r:id="rId44"/>
    <p:sldId id="331" r:id="rId45"/>
    <p:sldId id="332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62" d="100"/>
          <a:sy n="62" d="100"/>
        </p:scale>
        <p:origin x="-192" y="-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6.wmf"/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552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8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3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6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INVERSE &amp; COMPOSITIONS OF FUNCTIONS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Lecture </a:t>
            </a:r>
            <a:r>
              <a:rPr lang="en-US" b="1" smtClean="0">
                <a:solidFill>
                  <a:srgbClr val="0070C0"/>
                </a:solidFill>
              </a:rPr>
              <a:t># </a:t>
            </a:r>
            <a:r>
              <a:rPr lang="en-US" b="1" smtClean="0">
                <a:solidFill>
                  <a:srgbClr val="0070C0"/>
                </a:solidFill>
              </a:rPr>
              <a:t>14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EQUALITY OF FUNCTIONS</a:t>
            </a:r>
            <a:endParaRPr lang="en-US" b="1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Suppose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are functions from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to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.  Then </a:t>
            </a:r>
            <a:r>
              <a:rPr lang="en-US" b="1" dirty="0" smtClean="0">
                <a:solidFill>
                  <a:srgbClr val="C00000"/>
                </a:solidFill>
              </a:rPr>
              <a:t>f equals g,</a:t>
            </a:r>
            <a:r>
              <a:rPr lang="en-US" dirty="0" smtClean="0"/>
              <a:t> written  </a:t>
            </a:r>
            <a:r>
              <a:rPr lang="en-US" b="1" dirty="0" smtClean="0">
                <a:solidFill>
                  <a:srgbClr val="C00000"/>
                </a:solidFill>
              </a:rPr>
              <a:t>f = g</a:t>
            </a:r>
            <a:r>
              <a:rPr lang="en-US" dirty="0" smtClean="0"/>
              <a:t>, if, and only if,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f(x) = g(x)    </a:t>
            </a:r>
            <a:r>
              <a:rPr lang="en-US" dirty="0" smtClean="0"/>
              <a:t>for all   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</a:p>
          <a:p>
            <a:r>
              <a:rPr lang="en-US" dirty="0" smtClean="0"/>
              <a:t>i.e.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image of x under f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image of x under g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u="sng" dirty="0" smtClean="0"/>
              <a:t>Note: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For functions to be equal, their </a:t>
            </a:r>
            <a:r>
              <a:rPr lang="en-US" b="1" i="1" dirty="0" smtClean="0">
                <a:solidFill>
                  <a:srgbClr val="00B050"/>
                </a:solidFill>
              </a:rPr>
              <a:t>domain</a:t>
            </a:r>
            <a:r>
              <a:rPr lang="en-US" dirty="0" smtClean="0">
                <a:solidFill>
                  <a:srgbClr val="C00000"/>
                </a:solidFill>
              </a:rPr>
              <a:t> and </a:t>
            </a:r>
            <a:r>
              <a:rPr lang="en-US" b="1" i="1" dirty="0" smtClean="0">
                <a:solidFill>
                  <a:srgbClr val="00B050"/>
                </a:solidFill>
              </a:rPr>
              <a:t>co-domain</a:t>
            </a:r>
            <a:r>
              <a:rPr lang="en-US" dirty="0" smtClean="0">
                <a:solidFill>
                  <a:srgbClr val="C00000"/>
                </a:solidFill>
              </a:rPr>
              <a:t> must be the </a:t>
            </a:r>
            <a:r>
              <a:rPr lang="en-US" b="1" i="1" dirty="0" smtClean="0">
                <a:solidFill>
                  <a:srgbClr val="00B050"/>
                </a:solidFill>
              </a:rPr>
              <a:t>same</a:t>
            </a:r>
            <a:r>
              <a:rPr lang="en-US" dirty="0" smtClean="0">
                <a:solidFill>
                  <a:srgbClr val="C00000"/>
                </a:solidFill>
              </a:rPr>
              <a:t>. If domain and co-domain are not equal then their functions equality is not possible.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f: R →R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g: R→R </a:t>
            </a:r>
            <a:r>
              <a:rPr lang="en-US" dirty="0" smtClean="0"/>
              <a:t>by formulas:</a:t>
            </a:r>
          </a:p>
          <a:p>
            <a:pPr>
              <a:buNone/>
            </a:pPr>
            <a:r>
              <a:rPr lang="en-US" dirty="0" smtClean="0"/>
              <a:t>				</a:t>
            </a:r>
          </a:p>
          <a:p>
            <a:pPr>
              <a:buNone/>
            </a:pPr>
            <a:r>
              <a:rPr lang="en-US" dirty="0" smtClean="0"/>
              <a:t>			    </a:t>
            </a:r>
            <a:r>
              <a:rPr lang="en-US" b="1" dirty="0" smtClean="0">
                <a:solidFill>
                  <a:srgbClr val="C00000"/>
                </a:solidFill>
              </a:rPr>
              <a:t>f(x) =</a:t>
            </a:r>
            <a:r>
              <a:rPr lang="en-US" dirty="0" smtClean="0"/>
              <a:t> |x|		for all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pPr>
              <a:buNone/>
            </a:pPr>
            <a:r>
              <a:rPr lang="en-US" dirty="0" smtClean="0"/>
              <a:t>                       </a:t>
            </a:r>
            <a:r>
              <a:rPr lang="en-US" b="1" dirty="0" smtClean="0">
                <a:solidFill>
                  <a:srgbClr val="C00000"/>
                </a:solidFill>
              </a:rPr>
              <a:t>g(x) =      </a:t>
            </a:r>
            <a:r>
              <a:rPr lang="en-US" dirty="0" smtClean="0"/>
              <a:t>		for all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Since the </a:t>
            </a:r>
            <a:r>
              <a:rPr lang="en-US" dirty="0" smtClean="0">
                <a:solidFill>
                  <a:srgbClr val="C00000"/>
                </a:solidFill>
              </a:rPr>
              <a:t>absolute value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real number </a:t>
            </a:r>
            <a:r>
              <a:rPr lang="en-US" dirty="0" smtClean="0"/>
              <a:t>equals to </a:t>
            </a:r>
            <a:r>
              <a:rPr lang="en-US" dirty="0" smtClean="0">
                <a:solidFill>
                  <a:srgbClr val="C00000"/>
                </a:solidFill>
              </a:rPr>
              <a:t>square root </a:t>
            </a:r>
            <a:r>
              <a:rPr lang="en-US" dirty="0" smtClean="0"/>
              <a:t>of its </a:t>
            </a:r>
            <a:r>
              <a:rPr lang="en-US" dirty="0" smtClean="0">
                <a:solidFill>
                  <a:srgbClr val="C00000"/>
                </a:solidFill>
              </a:rPr>
              <a:t>square.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i.e., 	 |x| = 	       for all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pPr>
              <a:buNone/>
            </a:pPr>
            <a:r>
              <a:rPr lang="en-US" dirty="0" smtClean="0"/>
              <a:t>	Therefore  </a:t>
            </a:r>
            <a:r>
              <a:rPr lang="en-US" b="1" dirty="0" smtClean="0">
                <a:solidFill>
                  <a:srgbClr val="C00000"/>
                </a:solidFill>
              </a:rPr>
              <a:t>f(x) = g(x) </a:t>
            </a:r>
            <a:r>
              <a:rPr lang="en-US" dirty="0" smtClean="0"/>
              <a:t>for all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3581400" y="2667000"/>
          <a:ext cx="68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Equation" r:id="rId3" imgW="304560" imgH="253800" progId="Equation.3">
                  <p:embed/>
                </p:oleObj>
              </mc:Choice>
              <mc:Fallback>
                <p:oleObj name="Equation" r:id="rId3" imgW="304560" imgH="253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667000"/>
                        <a:ext cx="685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2118852" y="4987404"/>
          <a:ext cx="68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5" name="Equation" r:id="rId5" imgW="304560" imgH="253800" progId="Equation.3">
                  <p:embed/>
                </p:oleObj>
              </mc:Choice>
              <mc:Fallback>
                <p:oleObj name="Equation" r:id="rId5" imgW="304560" imgH="253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852" y="4987404"/>
                        <a:ext cx="685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functions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</a:t>
            </a:r>
            <a:r>
              <a:rPr lang="en-US" dirty="0" smtClean="0">
                <a:solidFill>
                  <a:srgbClr val="C00000"/>
                </a:solidFill>
              </a:rPr>
              <a:t> R </a:t>
            </a:r>
            <a:r>
              <a:rPr lang="en-US" dirty="0" smtClean="0"/>
              <a:t>by formulas: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f(x) = 2x 	and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for all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	Show that </a:t>
            </a:r>
          </a:p>
          <a:p>
            <a:pPr>
              <a:buNone/>
            </a:pPr>
            <a:r>
              <a:rPr lang="en-US" dirty="0" smtClean="0"/>
              <a:t>					</a:t>
            </a:r>
            <a:r>
              <a:rPr lang="en-US" b="1" dirty="0" smtClean="0">
                <a:solidFill>
                  <a:srgbClr val="C00000"/>
                </a:solidFill>
              </a:rPr>
              <a:t>f = g</a:t>
            </a:r>
          </a:p>
          <a:p>
            <a:endParaRPr lang="en-US" dirty="0"/>
          </a:p>
        </p:txBody>
      </p:sp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4191000" y="2057400"/>
          <a:ext cx="184727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r:id="rId3" imgW="1015920" imgH="419040" progId="">
                  <p:embed/>
                </p:oleObj>
              </mc:Choice>
              <mc:Fallback>
                <p:oleObj r:id="rId3" imgW="101592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057400"/>
                        <a:ext cx="184727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Accordingly  </a:t>
            </a:r>
            <a:r>
              <a:rPr lang="en-US" b="1" dirty="0" smtClean="0">
                <a:solidFill>
                  <a:srgbClr val="C00000"/>
                </a:solidFill>
              </a:rPr>
              <a:t>f = g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2286000" y="1371600"/>
          <a:ext cx="6172200" cy="3191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r:id="rId3" imgW="2603160" imgH="1346040" progId="">
                  <p:embed/>
                </p:oleObj>
              </mc:Choice>
              <mc:Fallback>
                <p:oleObj r:id="rId3" imgW="2603160" imgH="1346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71600"/>
                        <a:ext cx="6172200" cy="31914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Inverse</a:t>
            </a:r>
            <a:r>
              <a:rPr lang="en-US" dirty="0" smtClean="0"/>
              <a:t> of a </a:t>
            </a:r>
            <a:r>
              <a:rPr lang="en-US" b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 may not be a </a:t>
            </a:r>
            <a:r>
              <a:rPr lang="en-US" b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19200"/>
            <a:ext cx="7315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OF INJECTIVE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Inverse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Injective function</a:t>
            </a:r>
            <a:r>
              <a:rPr lang="en-US" dirty="0" smtClean="0"/>
              <a:t> may not be a </a:t>
            </a:r>
            <a:r>
              <a:rPr lang="en-US" b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95400"/>
            <a:ext cx="7467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OF SURJECTIVE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Inverse</a:t>
            </a:r>
            <a:r>
              <a:rPr lang="en-US" dirty="0" smtClean="0"/>
              <a:t> of </a:t>
            </a:r>
            <a:r>
              <a:rPr lang="en-US" b="1" dirty="0" err="1" smtClean="0">
                <a:solidFill>
                  <a:srgbClr val="C00000"/>
                </a:solidFill>
              </a:rPr>
              <a:t>Surjective</a:t>
            </a:r>
            <a:r>
              <a:rPr lang="en-US" b="1" dirty="0" smtClean="0">
                <a:solidFill>
                  <a:srgbClr val="C00000"/>
                </a:solidFill>
              </a:rPr>
              <a:t> function</a:t>
            </a:r>
            <a:r>
              <a:rPr lang="en-US" dirty="0" smtClean="0"/>
              <a:t> may not be a </a:t>
            </a:r>
            <a:r>
              <a:rPr lang="en-US" b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295400"/>
            <a:ext cx="7848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OF BIJECTIVE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143000"/>
            <a:ext cx="8229600" cy="5257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219200"/>
            <a:ext cx="7924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958644" y="5933748"/>
            <a:ext cx="662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Note: </a:t>
            </a:r>
            <a:r>
              <a:rPr lang="en-US" b="1" i="1" dirty="0" smtClean="0">
                <a:solidFill>
                  <a:srgbClr val="C00000"/>
                </a:solidFill>
              </a:rPr>
              <a:t>Inverse of a </a:t>
            </a:r>
            <a:r>
              <a:rPr lang="en-US" b="1" i="1" dirty="0" err="1" smtClean="0">
                <a:solidFill>
                  <a:srgbClr val="C00000"/>
                </a:solidFill>
              </a:rPr>
              <a:t>Bijective</a:t>
            </a:r>
            <a:r>
              <a:rPr lang="en-US" b="1" i="1" dirty="0" smtClean="0">
                <a:solidFill>
                  <a:srgbClr val="C00000"/>
                </a:solidFill>
              </a:rPr>
              <a:t> function will always be a function.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Suppose </a:t>
            </a:r>
            <a:r>
              <a:rPr lang="en-US" b="1" dirty="0" smtClean="0">
                <a:solidFill>
                  <a:srgbClr val="C00000"/>
                </a:solidFill>
              </a:rPr>
              <a:t>f: X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is a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>
                <a:solidFill>
                  <a:srgbClr val="C00000"/>
                </a:solidFill>
              </a:rPr>
              <a:t> function</a:t>
            </a:r>
            <a:r>
              <a:rPr lang="en-US" dirty="0" smtClean="0"/>
              <a:t>. Then the </a:t>
            </a:r>
            <a:r>
              <a:rPr lang="en-US" dirty="0" smtClean="0">
                <a:solidFill>
                  <a:srgbClr val="C00000"/>
                </a:solidFill>
              </a:rPr>
              <a:t>inverse function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baseline="30000" dirty="0" smtClean="0">
                <a:solidFill>
                  <a:srgbClr val="C00000"/>
                </a:solidFill>
              </a:rPr>
              <a:t>-1</a:t>
            </a:r>
            <a:r>
              <a:rPr lang="en-US" b="1" dirty="0" smtClean="0">
                <a:solidFill>
                  <a:srgbClr val="C00000"/>
                </a:solidFill>
              </a:rPr>
              <a:t>: Y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X </a:t>
            </a:r>
            <a:r>
              <a:rPr lang="en-US" dirty="0" smtClean="0"/>
              <a:t>is defined as: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		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>
                <a:solidFill>
                  <a:srgbClr val="C00000"/>
                </a:solidFill>
              </a:rPr>
              <a:t>(y) = x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</a:t>
            </a:r>
            <a:r>
              <a:rPr lang="en-US" dirty="0" smtClean="0">
                <a:solidFill>
                  <a:srgbClr val="C00000"/>
                </a:solidFill>
              </a:rPr>
              <a:t> y = f(x) 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  </a:t>
            </a:r>
            <a:r>
              <a:rPr lang="en-US" dirty="0" smtClean="0">
                <a:solidFill>
                  <a:srgbClr val="C00000"/>
                </a:solidFill>
              </a:rPr>
              <a:t> 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</a:p>
          <a:p>
            <a:endParaRPr lang="en-US" dirty="0" smtClean="0"/>
          </a:p>
          <a:p>
            <a:r>
              <a:rPr lang="en-US" dirty="0" smtClean="0"/>
              <a:t>That is,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/>
              <a:t> sends </a:t>
            </a:r>
            <a:r>
              <a:rPr lang="en-US" b="1" dirty="0" smtClean="0">
                <a:solidFill>
                  <a:srgbClr val="C00000"/>
                </a:solidFill>
              </a:rPr>
              <a:t>each element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back to the element of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that it came from under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ARROW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524000"/>
            <a:ext cx="8305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 whose </a:t>
            </a:r>
            <a:r>
              <a:rPr lang="en-US" dirty="0" smtClean="0">
                <a:solidFill>
                  <a:srgbClr val="C00000"/>
                </a:solidFill>
              </a:rPr>
              <a:t>inverse function </a:t>
            </a:r>
            <a:r>
              <a:rPr lang="en-US" dirty="0" smtClean="0"/>
              <a:t>exists is called an </a:t>
            </a:r>
            <a:r>
              <a:rPr lang="en-US" b="1" dirty="0" smtClean="0">
                <a:solidFill>
                  <a:srgbClr val="C00000"/>
                </a:solidFill>
              </a:rPr>
              <a:t>invertible function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Only </a:t>
            </a:r>
            <a:r>
              <a:rPr lang="en-US" b="1" dirty="0" err="1" smtClean="0">
                <a:solidFill>
                  <a:srgbClr val="C00000"/>
                </a:solidFill>
              </a:rPr>
              <a:t>Bijective</a:t>
            </a:r>
            <a:r>
              <a:rPr lang="en-US" b="1" dirty="0" smtClean="0">
                <a:solidFill>
                  <a:srgbClr val="C00000"/>
                </a:solidFill>
              </a:rPr>
              <a:t> functions </a:t>
            </a:r>
            <a:r>
              <a:rPr lang="en-US" dirty="0" smtClean="0"/>
              <a:t>are </a:t>
            </a:r>
            <a:r>
              <a:rPr lang="en-US" b="1" dirty="0" smtClean="0">
                <a:solidFill>
                  <a:srgbClr val="C00000"/>
                </a:solidFill>
              </a:rPr>
              <a:t>invertible functions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FUNCTION FROM AN ARROW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 smtClean="0"/>
              <a:t>Let the </a:t>
            </a:r>
            <a:r>
              <a:rPr lang="en-US" sz="3200" dirty="0" err="1" smtClean="0">
                <a:solidFill>
                  <a:srgbClr val="C00000"/>
                </a:solidFill>
              </a:rPr>
              <a:t>bijection</a:t>
            </a:r>
            <a:r>
              <a:rPr lang="en-US" sz="3200" dirty="0" smtClean="0">
                <a:solidFill>
                  <a:srgbClr val="C00000"/>
                </a:solidFill>
              </a:rPr>
              <a:t> f:X</a:t>
            </a:r>
            <a:r>
              <a:rPr lang="en-US" sz="3200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3200" dirty="0" smtClean="0">
                <a:solidFill>
                  <a:srgbClr val="C00000"/>
                </a:solidFill>
              </a:rPr>
              <a:t>Y </a:t>
            </a:r>
            <a:r>
              <a:rPr lang="en-US" sz="3200" dirty="0" smtClean="0"/>
              <a:t>be defined by the arrow diagram.</a:t>
            </a:r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 smtClean="0"/>
              <a:t>The inverse function </a:t>
            </a:r>
            <a:r>
              <a:rPr lang="en-US" sz="3200" b="1" dirty="0" smtClean="0">
                <a:solidFill>
                  <a:srgbClr val="C00000"/>
                </a:solidFill>
              </a:rPr>
              <a:t>f</a:t>
            </a:r>
            <a:r>
              <a:rPr lang="en-US" sz="3200" b="1" baseline="30000" dirty="0" smtClean="0">
                <a:solidFill>
                  <a:srgbClr val="C00000"/>
                </a:solidFill>
              </a:rPr>
              <a:t>-1</a:t>
            </a:r>
            <a:r>
              <a:rPr lang="en-US" sz="3200" b="1" dirty="0" smtClean="0">
                <a:solidFill>
                  <a:srgbClr val="C00000"/>
                </a:solidFill>
              </a:rPr>
              <a:t>:Y</a:t>
            </a:r>
            <a:r>
              <a:rPr lang="en-US" sz="3200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3200" b="1" dirty="0" smtClean="0">
                <a:solidFill>
                  <a:srgbClr val="C00000"/>
                </a:solidFill>
              </a:rPr>
              <a:t>X </a:t>
            </a:r>
            <a:r>
              <a:rPr lang="en-US" sz="3200" dirty="0" smtClean="0"/>
              <a:t>is represented below by the arrow diagram.</a:t>
            </a:r>
          </a:p>
          <a:p>
            <a:endParaRPr lang="en-US" sz="3200" dirty="0" smtClean="0"/>
          </a:p>
          <a:p>
            <a:endParaRPr lang="en-US" sz="3200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769808"/>
            <a:ext cx="324802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3432" y="1524000"/>
            <a:ext cx="29718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990600"/>
          </a:xfrm>
        </p:spPr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FUNCTION FROM A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f: R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be defined by the formula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f(x) = 4x-1 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     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f</a:t>
            </a:r>
            <a:r>
              <a:rPr lang="en-US" baseline="30000" dirty="0" smtClean="0"/>
              <a:t>-1</a:t>
            </a:r>
            <a:r>
              <a:rPr lang="en-US" dirty="0" smtClean="0"/>
              <a:t> exists ???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have to prove that </a:t>
            </a:r>
            <a:r>
              <a:rPr lang="en-US" dirty="0" smtClean="0">
                <a:solidFill>
                  <a:srgbClr val="C00000"/>
                </a:solidFill>
              </a:rPr>
              <a:t>f </a:t>
            </a:r>
            <a:r>
              <a:rPr lang="en-US" dirty="0" smtClean="0"/>
              <a:t>is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We have already proved that this function is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By definition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		            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>
                <a:solidFill>
                  <a:srgbClr val="C00000"/>
                </a:solidFill>
              </a:rPr>
              <a:t> (y) =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</a:t>
            </a:r>
            <a:r>
              <a:rPr lang="en-US" dirty="0" smtClean="0">
                <a:solidFill>
                  <a:srgbClr val="C00000"/>
                </a:solidFill>
              </a:rPr>
              <a:t> f(x) = y</a:t>
            </a:r>
          </a:p>
          <a:p>
            <a:pPr>
              <a:buNone/>
            </a:pPr>
            <a:r>
              <a:rPr lang="en-US" dirty="0" smtClean="0"/>
              <a:t>	Now solving    </a:t>
            </a:r>
            <a:r>
              <a:rPr lang="en-US" dirty="0" smtClean="0">
                <a:solidFill>
                  <a:srgbClr val="C00000"/>
                </a:solidFill>
              </a:rPr>
              <a:t>f(x) = y    </a:t>
            </a:r>
            <a:r>
              <a:rPr lang="en-US" dirty="0" smtClean="0"/>
              <a:t>for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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4x-1 = y</a:t>
            </a:r>
            <a:r>
              <a:rPr lang="en-US" dirty="0" smtClean="0"/>
              <a:t>	(by definition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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4x = y + 1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 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Hence, f</a:t>
            </a:r>
            <a:r>
              <a:rPr lang="en-US" baseline="30000" dirty="0" smtClean="0"/>
              <a:t>-1</a:t>
            </a:r>
            <a:r>
              <a:rPr lang="en-US" dirty="0" smtClean="0"/>
              <a:t> (y) =          is the inverse of f(x)=4x-1</a:t>
            </a:r>
          </a:p>
          <a:p>
            <a:pPr>
              <a:buNone/>
            </a:pPr>
            <a:r>
              <a:rPr lang="en-US" dirty="0" smtClean="0"/>
              <a:t>	 which defines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>
                <a:solidFill>
                  <a:srgbClr val="C00000"/>
                </a:solidFill>
              </a:rPr>
              <a:t> : R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endParaRPr lang="en-US" dirty="0" smtClean="0"/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1447800" y="3522408"/>
          <a:ext cx="995516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0" r:id="rId4" imgW="571320" imgH="393480" progId="">
                  <p:embed/>
                </p:oleObj>
              </mc:Choice>
              <mc:Fallback>
                <p:oleObj r:id="rId4" imgW="5713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22408"/>
                        <a:ext cx="995516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2971800" y="4495800"/>
          <a:ext cx="609600" cy="699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1" r:id="rId6" imgW="342720" imgH="393480" progId="">
                  <p:embed/>
                </p:oleObj>
              </mc:Choice>
              <mc:Fallback>
                <p:oleObj r:id="rId6" imgW="342720" imgH="393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495800"/>
                        <a:ext cx="609600" cy="6999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WORKING RULE TO FIND INVERSE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First we write the function </a:t>
            </a:r>
            <a:r>
              <a:rPr lang="en-US" dirty="0" smtClean="0">
                <a:solidFill>
                  <a:srgbClr val="C00000"/>
                </a:solidFill>
              </a:rPr>
              <a:t>f(x)</a:t>
            </a:r>
            <a:r>
              <a:rPr lang="en-US" dirty="0" smtClean="0"/>
              <a:t> and solve </a:t>
            </a:r>
            <a:r>
              <a:rPr lang="en-US" dirty="0" smtClean="0">
                <a:solidFill>
                  <a:srgbClr val="C00000"/>
                </a:solidFill>
              </a:rPr>
              <a:t>f(x) = y </a:t>
            </a:r>
            <a:r>
              <a:rPr lang="en-US" dirty="0" smtClean="0"/>
              <a:t>for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(after putting the value of </a:t>
            </a:r>
            <a:r>
              <a:rPr lang="en-US" dirty="0" smtClean="0">
                <a:solidFill>
                  <a:srgbClr val="C00000"/>
                </a:solidFill>
              </a:rPr>
              <a:t>f(x)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 smtClean="0"/>
              <a:t>Then we write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>
                <a:solidFill>
                  <a:srgbClr val="C00000"/>
                </a:solidFill>
              </a:rPr>
              <a:t> (y) = </a:t>
            </a:r>
            <a:r>
              <a:rPr lang="en-US" b="1" dirty="0" smtClean="0">
                <a:solidFill>
                  <a:srgbClr val="C00000"/>
                </a:solidFill>
              </a:rPr>
              <a:t>Right hand side of our 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                                      equation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a function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be defined on a set of real numbers as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 for all real numbers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1.</a:t>
            </a:r>
            <a:r>
              <a:rPr lang="en-US" dirty="0" smtClean="0"/>
              <a:t>	Show that </a:t>
            </a:r>
            <a:r>
              <a:rPr lang="en-US" dirty="0" smtClean="0">
                <a:solidFill>
                  <a:srgbClr val="C00000"/>
                </a:solidFill>
              </a:rPr>
              <a:t>f </a:t>
            </a:r>
            <a:r>
              <a:rPr lang="en-US" dirty="0" smtClean="0"/>
              <a:t>is a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>
                <a:solidFill>
                  <a:srgbClr val="C00000"/>
                </a:solidFill>
              </a:rPr>
              <a:t> function </a:t>
            </a:r>
            <a:r>
              <a:rPr lang="en-US" dirty="0" smtClean="0"/>
              <a:t>on </a:t>
            </a:r>
            <a:r>
              <a:rPr lang="en-US" dirty="0" smtClean="0">
                <a:solidFill>
                  <a:srgbClr val="C00000"/>
                </a:solidFill>
              </a:rPr>
              <a:t>R - {1}.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2.</a:t>
            </a:r>
            <a:r>
              <a:rPr lang="en-US" dirty="0" smtClean="0"/>
              <a:t>	Find the </a:t>
            </a:r>
            <a:r>
              <a:rPr lang="en-US" dirty="0" smtClean="0">
                <a:solidFill>
                  <a:srgbClr val="C00000"/>
                </a:solidFill>
              </a:rPr>
              <a:t>inverse function 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/>
        </p:nvGraphicFramePr>
        <p:xfrm>
          <a:off x="1737852" y="2044909"/>
          <a:ext cx="1524000" cy="774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3" r:id="rId3" imgW="774360" imgH="393480" progId="">
                  <p:embed/>
                </p:oleObj>
              </mc:Choice>
              <mc:Fallback>
                <p:oleObj r:id="rId3" imgW="77436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852" y="2044909"/>
                        <a:ext cx="1524000" cy="7744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b="1" dirty="0" smtClean="0">
                <a:solidFill>
                  <a:srgbClr val="C00000"/>
                </a:solidFill>
              </a:rPr>
              <a:t>f is injective</a:t>
            </a:r>
          </a:p>
          <a:p>
            <a:pPr marL="514350" indent="-514350">
              <a:buNone/>
            </a:pPr>
            <a:r>
              <a:rPr lang="en-US" b="1" dirty="0" smtClean="0"/>
              <a:t>	</a:t>
            </a:r>
            <a:r>
              <a:rPr lang="en-US" dirty="0" smtClean="0"/>
              <a:t> Let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 - {1} </a:t>
            </a:r>
            <a:r>
              <a:rPr lang="en-US" dirty="0" smtClean="0"/>
              <a:t>and</a:t>
            </a:r>
          </a:p>
          <a:p>
            <a:pPr marL="514350" indent="-514350">
              <a:buNone/>
            </a:pPr>
            <a:r>
              <a:rPr lang="en-US" dirty="0" smtClean="0"/>
              <a:t>	 suppose</a:t>
            </a:r>
          </a:p>
          <a:p>
            <a:pPr marL="514350" indent="-514350"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=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/>
              <a:t>we have to show that</a:t>
            </a:r>
          </a:p>
          <a:p>
            <a:pPr marL="514350" indent="-514350"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=x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</a:p>
          <a:p>
            <a:pPr marL="514350" indent="-514350">
              <a:buNone/>
            </a:pPr>
            <a:r>
              <a:rPr lang="en-US" dirty="0" smtClean="0"/>
              <a:t>						</a:t>
            </a:r>
            <a:r>
              <a:rPr lang="en-US" dirty="0" smtClean="0">
                <a:solidFill>
                  <a:srgbClr val="C00000"/>
                </a:solidFill>
              </a:rPr>
              <a:t>(by definition of f)</a:t>
            </a:r>
          </a:p>
          <a:p>
            <a:pPr marL="514350" indent="-514350">
              <a:buNone/>
            </a:pPr>
            <a:endParaRPr lang="en-US" baseline="-25000" dirty="0" smtClean="0"/>
          </a:p>
          <a:p>
            <a:pPr marL="514350" indent="-514350">
              <a:buNone/>
            </a:pPr>
            <a:r>
              <a:rPr lang="en-US" baseline="-25000" dirty="0" smtClean="0"/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(x</a:t>
            </a:r>
            <a:r>
              <a:rPr lang="en-US" baseline="-25000" dirty="0" smtClean="0"/>
              <a:t>1</a:t>
            </a:r>
            <a:r>
              <a:rPr lang="en-US" dirty="0" smtClean="0"/>
              <a:t> + 1) (x</a:t>
            </a:r>
            <a:r>
              <a:rPr lang="en-US" baseline="-25000" dirty="0" smtClean="0"/>
              <a:t>2</a:t>
            </a:r>
            <a:r>
              <a:rPr lang="en-US" dirty="0" smtClean="0"/>
              <a:t> - 1) = (x</a:t>
            </a:r>
            <a:r>
              <a:rPr lang="en-US" baseline="-25000" dirty="0" smtClean="0"/>
              <a:t>2</a:t>
            </a:r>
            <a:r>
              <a:rPr lang="en-US" dirty="0" smtClean="0"/>
              <a:t> + 1) (x</a:t>
            </a:r>
            <a:r>
              <a:rPr lang="en-US" baseline="-25000" dirty="0" smtClean="0"/>
              <a:t>1</a:t>
            </a:r>
            <a:r>
              <a:rPr lang="en-US" dirty="0" smtClean="0"/>
              <a:t> - 1) </a:t>
            </a:r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x</a:t>
            </a:r>
            <a:r>
              <a:rPr lang="en-US" baseline="-25000" dirty="0" smtClean="0"/>
              <a:t>1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 - x</a:t>
            </a:r>
            <a:r>
              <a:rPr lang="en-US" baseline="-25000" dirty="0" smtClean="0"/>
              <a:t>1</a:t>
            </a:r>
            <a:r>
              <a:rPr lang="en-US" dirty="0" smtClean="0"/>
              <a:t> + x</a:t>
            </a:r>
            <a:r>
              <a:rPr lang="en-US" baseline="-25000" dirty="0" smtClean="0"/>
              <a:t>2</a:t>
            </a:r>
            <a:r>
              <a:rPr lang="en-US" dirty="0" smtClean="0"/>
              <a:t> - 1 = x</a:t>
            </a:r>
            <a:r>
              <a:rPr lang="en-US" baseline="-25000" dirty="0" smtClean="0"/>
              <a:t>1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 - x</a:t>
            </a:r>
            <a:r>
              <a:rPr lang="en-US" baseline="-25000" dirty="0" smtClean="0"/>
              <a:t>2</a:t>
            </a:r>
            <a:r>
              <a:rPr lang="en-US" dirty="0" smtClean="0"/>
              <a:t> + x</a:t>
            </a:r>
            <a:r>
              <a:rPr lang="en-US" baseline="-25000" dirty="0" smtClean="0"/>
              <a:t>1</a:t>
            </a:r>
            <a:r>
              <a:rPr lang="en-US" dirty="0" smtClean="0"/>
              <a:t> – 1</a:t>
            </a:r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- x</a:t>
            </a:r>
            <a:r>
              <a:rPr lang="en-US" baseline="-25000" dirty="0" smtClean="0"/>
              <a:t>1</a:t>
            </a:r>
            <a:r>
              <a:rPr lang="en-US" dirty="0" smtClean="0"/>
              <a:t> + x</a:t>
            </a:r>
            <a:r>
              <a:rPr lang="en-US" baseline="-25000" dirty="0" smtClean="0"/>
              <a:t>2</a:t>
            </a:r>
            <a:r>
              <a:rPr lang="en-US" dirty="0" smtClean="0"/>
              <a:t> = - x</a:t>
            </a:r>
            <a:r>
              <a:rPr lang="en-US" baseline="-25000" dirty="0" smtClean="0"/>
              <a:t>2</a:t>
            </a:r>
            <a:r>
              <a:rPr lang="en-US" dirty="0" smtClean="0"/>
              <a:t> + x</a:t>
            </a:r>
            <a:r>
              <a:rPr lang="en-US" baseline="-25000" dirty="0" smtClean="0"/>
              <a:t>1</a:t>
            </a:r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x</a:t>
            </a:r>
            <a:r>
              <a:rPr lang="en-US" baseline="-25000" dirty="0" smtClean="0"/>
              <a:t>2</a:t>
            </a:r>
            <a:r>
              <a:rPr lang="en-US" dirty="0" smtClean="0"/>
              <a:t> + x</a:t>
            </a:r>
            <a:r>
              <a:rPr lang="en-US" baseline="-25000" dirty="0" smtClean="0"/>
              <a:t>2</a:t>
            </a:r>
            <a:r>
              <a:rPr lang="en-US" dirty="0" smtClean="0"/>
              <a:t> = x</a:t>
            </a:r>
            <a:r>
              <a:rPr lang="en-US" baseline="-25000" dirty="0" smtClean="0"/>
              <a:t>1</a:t>
            </a:r>
            <a:r>
              <a:rPr lang="en-US" dirty="0" smtClean="0"/>
              <a:t> + x</a:t>
            </a:r>
            <a:r>
              <a:rPr lang="en-US" baseline="-25000" dirty="0" smtClean="0"/>
              <a:t>1</a:t>
            </a:r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2x</a:t>
            </a:r>
            <a:r>
              <a:rPr lang="en-US" baseline="-25000" dirty="0" smtClean="0"/>
              <a:t>2</a:t>
            </a:r>
            <a:r>
              <a:rPr lang="en-US" dirty="0" smtClean="0"/>
              <a:t> = 2x</a:t>
            </a:r>
            <a:r>
              <a:rPr lang="en-US" baseline="-25000" dirty="0" smtClean="0"/>
              <a:t>1</a:t>
            </a:r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 = x</a:t>
            </a:r>
            <a:r>
              <a:rPr lang="en-US" baseline="-25000" dirty="0" smtClean="0"/>
              <a:t>1</a:t>
            </a:r>
          </a:p>
          <a:p>
            <a:pPr marL="514350" indent="-514350">
              <a:buNone/>
            </a:pPr>
            <a:r>
              <a:rPr lang="en-US" dirty="0" smtClean="0"/>
              <a:t>		Hence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injective</a:t>
            </a:r>
            <a:r>
              <a:rPr lang="en-US" dirty="0" smtClean="0"/>
              <a:t>.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baseline="-25000" dirty="0" smtClean="0"/>
          </a:p>
          <a:p>
            <a:pPr marL="514350" indent="-514350">
              <a:buNone/>
            </a:pPr>
            <a:endParaRPr lang="en-US" baseline="-25000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2578500" y="2949672"/>
          <a:ext cx="2362201" cy="750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7" r:id="rId3" imgW="1054080" imgH="431640" progId="">
                  <p:embed/>
                </p:oleObj>
              </mc:Choice>
              <mc:Fallback>
                <p:oleObj r:id="rId3" imgW="105408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500" y="2949672"/>
                        <a:ext cx="2362201" cy="7506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lphaLcParenR" startAt="2"/>
            </a:pPr>
            <a:r>
              <a:rPr lang="en-US" b="1" dirty="0" smtClean="0">
                <a:solidFill>
                  <a:srgbClr val="C00000"/>
                </a:solidFill>
              </a:rPr>
              <a:t>f is </a:t>
            </a:r>
            <a:r>
              <a:rPr lang="en-US" b="1" dirty="0" err="1" smtClean="0">
                <a:solidFill>
                  <a:srgbClr val="C00000"/>
                </a:solidFill>
              </a:rPr>
              <a:t>surjective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514350" indent="-514350">
              <a:buNone/>
            </a:pPr>
            <a:r>
              <a:rPr lang="en-US" b="1" dirty="0" smtClean="0"/>
              <a:t>	</a:t>
            </a:r>
            <a:r>
              <a:rPr lang="en-US" dirty="0" smtClean="0"/>
              <a:t> 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R - {1} </a:t>
            </a:r>
            <a:r>
              <a:rPr lang="en-US" dirty="0" smtClean="0"/>
              <a:t>. We look for an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 </a:t>
            </a:r>
            <a:r>
              <a:rPr lang="en-US" dirty="0" smtClean="0">
                <a:solidFill>
                  <a:srgbClr val="C00000"/>
                </a:solidFill>
              </a:rPr>
              <a:t>R - {1}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	 such that</a:t>
            </a:r>
          </a:p>
          <a:p>
            <a:pPr marL="514350" indent="-514350"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 f(x) = y </a:t>
            </a:r>
          </a:p>
          <a:p>
            <a:pPr marL="514350" lvl="0" indent="-514350">
              <a:buNone/>
            </a:pPr>
            <a:r>
              <a:rPr lang="en-US" baseline="-25000" dirty="0" smtClean="0"/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</a:t>
            </a:r>
            <a:r>
              <a:rPr lang="es-ES" dirty="0" smtClean="0"/>
              <a:t>x + 1= y(x-1)</a:t>
            </a:r>
            <a:endParaRPr lang="en-US" dirty="0" smtClean="0"/>
          </a:p>
          <a:p>
            <a:pPr marL="514350" lvl="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</a:t>
            </a:r>
            <a:r>
              <a:rPr lang="es-ES" dirty="0" smtClean="0"/>
              <a:t>x+1= </a:t>
            </a:r>
            <a:r>
              <a:rPr lang="es-ES" dirty="0" err="1" smtClean="0"/>
              <a:t>yx</a:t>
            </a:r>
            <a:r>
              <a:rPr lang="es-ES" dirty="0" smtClean="0"/>
              <a:t>-y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</a:t>
            </a:r>
            <a:r>
              <a:rPr lang="es-ES" dirty="0" smtClean="0"/>
              <a:t>1+ y = </a:t>
            </a:r>
            <a:r>
              <a:rPr lang="es-ES" dirty="0" err="1" smtClean="0"/>
              <a:t>xy</a:t>
            </a:r>
            <a:r>
              <a:rPr lang="es-ES" dirty="0" smtClean="0"/>
              <a:t> - x</a:t>
            </a:r>
            <a:endParaRPr lang="en-US" baseline="-25000" dirty="0" smtClean="0"/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</a:t>
            </a:r>
            <a:r>
              <a:rPr lang="es-ES" dirty="0" smtClean="0"/>
              <a:t>1 + y = x(y-1)</a:t>
            </a:r>
            <a:endParaRPr lang="en-US" baseline="-25000" dirty="0" smtClean="0"/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</a:t>
            </a:r>
            <a:endParaRPr lang="en-US" baseline="-25000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Thus for each y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R - {1}, there exists                  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R - {1}</a:t>
            </a:r>
          </a:p>
          <a:p>
            <a:pPr>
              <a:buNone/>
            </a:pPr>
            <a:r>
              <a:rPr lang="en-US" baseline="-25000" dirty="0" smtClean="0"/>
              <a:t>	</a:t>
            </a:r>
            <a:r>
              <a:rPr lang="en-US" dirty="0" smtClean="0"/>
              <a:t> such that   </a:t>
            </a:r>
            <a:endParaRPr lang="en-US" baseline="-25000" dirty="0" smtClean="0"/>
          </a:p>
          <a:p>
            <a:pPr marL="514350" indent="-514350">
              <a:buNone/>
            </a:pPr>
            <a:r>
              <a:rPr lang="en-US" dirty="0" smtClean="0"/>
              <a:t>					Hence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err="1" smtClean="0">
                <a:solidFill>
                  <a:srgbClr val="C00000"/>
                </a:solidFill>
              </a:rPr>
              <a:t>surjective</a:t>
            </a:r>
            <a:r>
              <a:rPr lang="en-US" dirty="0" smtClean="0"/>
              <a:t>.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baseline="-25000" dirty="0" smtClean="0"/>
          </a:p>
          <a:p>
            <a:pPr marL="514350" indent="-514350">
              <a:buNone/>
            </a:pPr>
            <a:endParaRPr lang="en-US" baseline="-25000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1832187" y="4097592"/>
          <a:ext cx="1321509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5" r:id="rId3" imgW="571320" imgH="419040" progId="">
                  <p:embed/>
                </p:oleObj>
              </mc:Choice>
              <mc:Fallback>
                <p:oleObj r:id="rId3" imgW="57132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187" y="4097592"/>
                        <a:ext cx="1321509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5628148" y="4815347"/>
          <a:ext cx="1320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6" r:id="rId5" imgW="571320" imgH="419040" progId="">
                  <p:embed/>
                </p:oleObj>
              </mc:Choice>
              <mc:Fallback>
                <p:oleObj r:id="rId5" imgW="571320" imgH="4190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8148" y="4815347"/>
                        <a:ext cx="13208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/>
        </p:nvGraphicFramePr>
        <p:xfrm>
          <a:off x="2175384" y="5179140"/>
          <a:ext cx="192404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7" name="Equation" r:id="rId6" imgW="1282680" imgH="457200" progId="Equation.3">
                  <p:embed/>
                </p:oleObj>
              </mc:Choice>
              <mc:Fallback>
                <p:oleObj name="Equation" r:id="rId6" imgW="128268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384" y="5179140"/>
                        <a:ext cx="1924048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b="1" dirty="0" smtClean="0">
                <a:solidFill>
                  <a:srgbClr val="C00000"/>
                </a:solidFill>
              </a:rPr>
              <a:t>inverse function of f</a:t>
            </a:r>
          </a:p>
          <a:p>
            <a:pPr marL="514350" indent="-514350">
              <a:buNone/>
            </a:pPr>
            <a:r>
              <a:rPr lang="en-US" b="1" dirty="0" smtClean="0"/>
              <a:t>	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given function</a:t>
            </a:r>
            <a:r>
              <a:rPr lang="en-US" dirty="0" smtClean="0"/>
              <a:t> f is defined by the </a:t>
            </a:r>
            <a:r>
              <a:rPr lang="en-US" dirty="0" smtClean="0">
                <a:solidFill>
                  <a:srgbClr val="C00000"/>
                </a:solidFill>
              </a:rPr>
              <a:t>rule</a:t>
            </a:r>
          </a:p>
          <a:p>
            <a:pPr marL="514350" indent="-514350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  <a:r>
              <a:rPr lang="es-ES" dirty="0" smtClean="0"/>
              <a:t>	</a:t>
            </a:r>
            <a:r>
              <a:rPr lang="es-ES" dirty="0" smtClean="0">
                <a:solidFill>
                  <a:srgbClr val="C00000"/>
                </a:solidFill>
              </a:rPr>
              <a:t>x + 1 = y (x-1)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  <a:r>
              <a:rPr lang="es-ES" dirty="0" smtClean="0"/>
              <a:t>	</a:t>
            </a:r>
            <a:r>
              <a:rPr lang="es-ES" dirty="0" smtClean="0">
                <a:solidFill>
                  <a:srgbClr val="C00000"/>
                </a:solidFill>
              </a:rPr>
              <a:t>x + 1 = </a:t>
            </a:r>
            <a:r>
              <a:rPr lang="es-ES" dirty="0" err="1" smtClean="0">
                <a:solidFill>
                  <a:srgbClr val="C00000"/>
                </a:solidFill>
              </a:rPr>
              <a:t>yx</a:t>
            </a:r>
            <a:r>
              <a:rPr lang="es-ES" dirty="0" smtClean="0">
                <a:solidFill>
                  <a:srgbClr val="C00000"/>
                </a:solidFill>
              </a:rPr>
              <a:t>-y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  <a:r>
              <a:rPr lang="es-ES" dirty="0" smtClean="0"/>
              <a:t>	</a:t>
            </a:r>
            <a:r>
              <a:rPr lang="es-ES" dirty="0" smtClean="0">
                <a:solidFill>
                  <a:srgbClr val="C00000"/>
                </a:solidFill>
              </a:rPr>
              <a:t>y + 1 = </a:t>
            </a:r>
            <a:r>
              <a:rPr lang="es-ES" dirty="0" err="1" smtClean="0">
                <a:solidFill>
                  <a:srgbClr val="C00000"/>
                </a:solidFill>
              </a:rPr>
              <a:t>yx</a:t>
            </a:r>
            <a:r>
              <a:rPr lang="es-ES" dirty="0" smtClean="0">
                <a:solidFill>
                  <a:srgbClr val="C00000"/>
                </a:solidFill>
              </a:rPr>
              <a:t>-x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y + 1 = x(y-1)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</a:p>
          <a:p>
            <a:pPr>
              <a:buNone/>
            </a:pPr>
            <a:endParaRPr lang="en-US" dirty="0" smtClean="0">
              <a:sym typeface="Symbol"/>
            </a:endParaRPr>
          </a:p>
          <a:p>
            <a:pPr>
              <a:buNone/>
            </a:pPr>
            <a:r>
              <a:rPr lang="en-US" dirty="0" smtClean="0"/>
              <a:t>			Hence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baseline="30000" dirty="0" smtClean="0">
                <a:solidFill>
                  <a:srgbClr val="C00000"/>
                </a:solidFill>
              </a:rPr>
              <a:t>-1</a:t>
            </a:r>
            <a:r>
              <a:rPr lang="en-US" b="1" dirty="0" smtClean="0">
                <a:solidFill>
                  <a:srgbClr val="C00000"/>
                </a:solidFill>
              </a:rPr>
              <a:t>(y) =</a:t>
            </a:r>
            <a:r>
              <a:rPr lang="en-US" dirty="0" smtClean="0"/>
              <a:t> 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3314700" y="2116392"/>
          <a:ext cx="3242510" cy="779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7" r:id="rId3" imgW="1638000" imgH="393480" progId="">
                  <p:embed/>
                </p:oleObj>
              </mc:Choice>
              <mc:Fallback>
                <p:oleObj r:id="rId3" imgW="163800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2116392"/>
                        <a:ext cx="3242510" cy="7792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3810000" y="4599940"/>
          <a:ext cx="1104900" cy="810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8" r:id="rId5" imgW="571320" imgH="419040" progId="">
                  <p:embed/>
                </p:oleObj>
              </mc:Choice>
              <mc:Fallback>
                <p:oleObj r:id="rId5" imgW="57132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599940"/>
                        <a:ext cx="1104900" cy="8102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4370293" y="5363496"/>
          <a:ext cx="279250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9" r:id="rId7" imgW="1269720" imgH="419040" progId="">
                  <p:embed/>
                </p:oleObj>
              </mc:Choice>
              <mc:Fallback>
                <p:oleObj r:id="rId7" imgW="1269720" imgH="4190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0293" y="5363496"/>
                        <a:ext cx="2792507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f: R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be defined by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>
                <a:solidFill>
                  <a:srgbClr val="C00000"/>
                </a:solidFill>
              </a:rPr>
              <a:t>f(x) = x</a:t>
            </a:r>
            <a:r>
              <a:rPr lang="en-US" b="1" baseline="30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 + 5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Show that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Find a formula that defines the </a:t>
            </a:r>
            <a:r>
              <a:rPr lang="en-US" b="1" dirty="0" smtClean="0">
                <a:solidFill>
                  <a:srgbClr val="C00000"/>
                </a:solidFill>
              </a:rPr>
              <a:t>inverse function f</a:t>
            </a:r>
            <a:r>
              <a:rPr lang="en-US" b="1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=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	for  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+ 5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+ 5</a:t>
            </a:r>
            <a:r>
              <a:rPr lang="en-US" dirty="0" smtClean="0"/>
              <a:t>	(by definition of f)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</a:t>
            </a:r>
            <a:r>
              <a:rPr lang="en-US" dirty="0" smtClean="0"/>
              <a:t>	    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		(subtracting 5 on both sides)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     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			Hence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onto</a:t>
            </a: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R.</a:t>
            </a:r>
            <a:r>
              <a:rPr lang="en-US" dirty="0" smtClean="0"/>
              <a:t> We search for an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such that </a:t>
            </a:r>
            <a:r>
              <a:rPr lang="en-US" dirty="0" smtClean="0">
                <a:solidFill>
                  <a:srgbClr val="C00000"/>
                </a:solidFill>
              </a:rPr>
              <a:t>f(x) = y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+ 5 = y</a:t>
            </a:r>
            <a:r>
              <a:rPr lang="en-US" dirty="0" smtClean="0"/>
              <a:t>	(by definition of f)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ym typeface="Symbol"/>
              </a:rPr>
              <a:t>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y - 5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x =</a:t>
            </a:r>
            <a:r>
              <a:rPr lang="en-US" dirty="0" smtClean="0"/>
              <a:t> </a:t>
            </a:r>
          </a:p>
          <a:p>
            <a:r>
              <a:rPr lang="en-US" dirty="0" smtClean="0"/>
              <a:t>Thus for each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, there exists </a:t>
            </a:r>
            <a:r>
              <a:rPr lang="en-US" dirty="0" smtClean="0">
                <a:solidFill>
                  <a:srgbClr val="C00000"/>
                </a:solidFill>
              </a:rPr>
              <a:t>x =</a:t>
            </a:r>
            <a:r>
              <a:rPr lang="en-US" dirty="0" smtClean="0"/>
              <a:t>          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such that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graphicFrame>
        <p:nvGraphicFramePr>
          <p:cNvPr id="70658" name="Object 2"/>
          <p:cNvGraphicFramePr>
            <a:graphicFrameLocks noChangeAspect="1"/>
          </p:cNvGraphicFramePr>
          <p:nvPr/>
        </p:nvGraphicFramePr>
        <p:xfrm>
          <a:off x="2819400" y="3657600"/>
          <a:ext cx="99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2" r:id="rId3" imgW="457200" imgH="253800" progId="">
                  <p:embed/>
                </p:oleObj>
              </mc:Choice>
              <mc:Fallback>
                <p:oleObj r:id="rId3" imgW="457200" imgH="2538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990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/>
          <p:cNvGraphicFramePr>
            <a:graphicFrameLocks noChangeAspect="1"/>
          </p:cNvGraphicFramePr>
          <p:nvPr/>
        </p:nvGraphicFramePr>
        <p:xfrm>
          <a:off x="5715000" y="4089400"/>
          <a:ext cx="99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3" r:id="rId5" imgW="457200" imgH="253800" progId="">
                  <p:embed/>
                </p:oleObj>
              </mc:Choice>
              <mc:Fallback>
                <p:oleObj r:id="rId5" imgW="457200" imgH="2538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089400"/>
                        <a:ext cx="990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ChangeAspect="1"/>
          </p:cNvGraphicFramePr>
          <p:nvPr/>
        </p:nvGraphicFramePr>
        <p:xfrm>
          <a:off x="2743199" y="4495800"/>
          <a:ext cx="5778457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4" r:id="rId6" imgW="3124080" imgH="888840" progId="">
                  <p:embed/>
                </p:oleObj>
              </mc:Choice>
              <mc:Fallback>
                <p:oleObj r:id="rId6" imgW="3124080" imgH="8888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199" y="4495800"/>
                        <a:ext cx="5778457" cy="180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3505200" y="6324600"/>
            <a:ext cx="2514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Hence</a:t>
            </a:r>
            <a:r>
              <a:rPr lang="en-US" sz="2400" b="1" dirty="0" smtClean="0">
                <a:solidFill>
                  <a:srgbClr val="C00000"/>
                </a:solidFill>
              </a:rPr>
              <a:t> f </a:t>
            </a:r>
            <a:r>
              <a:rPr lang="en-US" sz="2400" b="1" dirty="0" smtClean="0">
                <a:solidFill>
                  <a:schemeClr val="tx1"/>
                </a:solidFill>
              </a:rPr>
              <a:t>is</a:t>
            </a:r>
            <a:r>
              <a:rPr lang="en-US" sz="2400" b="1" dirty="0" smtClean="0">
                <a:solidFill>
                  <a:srgbClr val="C00000"/>
                </a:solidFill>
              </a:rPr>
              <a:t> onto.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formula for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defined by </a:t>
            </a:r>
            <a:r>
              <a:rPr lang="en-US" dirty="0" smtClean="0">
                <a:solidFill>
                  <a:srgbClr val="C00000"/>
                </a:solidFill>
              </a:rPr>
              <a:t>y = f(x) = x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+ 5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y-5 = x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or	</a:t>
            </a:r>
            <a:r>
              <a:rPr lang="en-US" dirty="0" smtClean="0">
                <a:solidFill>
                  <a:srgbClr val="C00000"/>
                </a:solidFill>
              </a:rPr>
              <a:t>x =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 Hence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>
                <a:solidFill>
                  <a:srgbClr val="C00000"/>
                </a:solidFill>
              </a:rPr>
              <a:t>(y) =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 which defines the </a:t>
            </a:r>
            <a:r>
              <a:rPr lang="en-US" dirty="0" smtClean="0">
                <a:solidFill>
                  <a:srgbClr val="C00000"/>
                </a:solidFill>
              </a:rPr>
              <a:t>inverse function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1966452" y="3153696"/>
          <a:ext cx="1066800" cy="431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4" name="Equation" r:id="rId3" imgW="457200" imgH="253800" progId="Equation.3">
                  <p:embed/>
                </p:oleObj>
              </mc:Choice>
              <mc:Fallback>
                <p:oleObj name="Equation" r:id="rId3" imgW="457200" imgH="253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452" y="3153696"/>
                        <a:ext cx="1066800" cy="4310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ChangeAspect="1"/>
          </p:cNvGraphicFramePr>
          <p:nvPr/>
        </p:nvGraphicFramePr>
        <p:xfrm>
          <a:off x="2819400" y="4109832"/>
          <a:ext cx="10668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5" name="Equation" r:id="rId5" imgW="457200" imgH="253800" progId="Equation.3">
                  <p:embed/>
                </p:oleObj>
              </mc:Choice>
              <mc:Fallback>
                <p:oleObj name="Equation" r:id="rId5" imgW="457200" imgH="253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109832"/>
                        <a:ext cx="1066800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COMPOSITION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Note:</a:t>
            </a:r>
          </a:p>
          <a:p>
            <a:pPr marL="788670" lvl="1" indent="-514350">
              <a:buFont typeface="+mj-lt"/>
              <a:buAutoNum type="alphaLcParenR"/>
            </a:pPr>
            <a:r>
              <a:rPr lang="en-US" dirty="0" smtClean="0"/>
              <a:t>Composition of function is always a function.</a:t>
            </a:r>
          </a:p>
          <a:p>
            <a:pPr marL="788670" lvl="1" indent="-514350">
              <a:buNone/>
            </a:pPr>
            <a:endParaRPr lang="en-US" dirty="0" smtClean="0"/>
          </a:p>
          <a:p>
            <a:pPr marL="788670" lvl="1" indent="-514350">
              <a:buFont typeface="+mj-lt"/>
              <a:buAutoNum type="alphaLcParenR"/>
            </a:pPr>
            <a:r>
              <a:rPr lang="en-US" dirty="0" smtClean="0"/>
              <a:t>The condition to apply composition of function is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b="1" baseline="30000" dirty="0" smtClean="0">
                <a:solidFill>
                  <a:srgbClr val="C00000"/>
                </a:solidFill>
              </a:rPr>
              <a:t>st</a:t>
            </a:r>
            <a:r>
              <a:rPr lang="en-US" b="1" dirty="0" smtClean="0">
                <a:solidFill>
                  <a:srgbClr val="C00000"/>
                </a:solidFill>
              </a:rPr>
              <a:t> function range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2</a:t>
            </a:r>
            <a:r>
              <a:rPr lang="en-US" b="1" baseline="30000" dirty="0" smtClean="0">
                <a:solidFill>
                  <a:srgbClr val="C00000"/>
                </a:solidFill>
              </a:rPr>
              <a:t>nd</a:t>
            </a:r>
            <a:r>
              <a:rPr lang="en-US" b="1" dirty="0" smtClean="0">
                <a:solidFill>
                  <a:srgbClr val="C00000"/>
                </a:solidFill>
              </a:rPr>
              <a:t> function domain’s subset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COMPOSITION OF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f: X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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g: Y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Z</a:t>
            </a:r>
            <a:r>
              <a:rPr lang="en-US" dirty="0" smtClean="0"/>
              <a:t> be functions with the property that the </a:t>
            </a:r>
            <a:r>
              <a:rPr lang="en-US" b="1" dirty="0" smtClean="0">
                <a:solidFill>
                  <a:srgbClr val="C00000"/>
                </a:solidFill>
              </a:rPr>
              <a:t>range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a </a:t>
            </a:r>
            <a:r>
              <a:rPr lang="en-US" b="1" dirty="0" smtClean="0">
                <a:solidFill>
                  <a:srgbClr val="C00000"/>
                </a:solidFill>
              </a:rPr>
              <a:t>subset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g </a:t>
            </a:r>
            <a:r>
              <a:rPr lang="en-US" dirty="0" smtClean="0"/>
              <a:t>i.e. </a:t>
            </a:r>
            <a:r>
              <a:rPr lang="en-US" b="1" dirty="0" smtClean="0">
                <a:solidFill>
                  <a:srgbClr val="C00000"/>
                </a:solidFill>
              </a:rPr>
              <a:t>f(X)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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Define a new function </a:t>
            </a:r>
            <a:r>
              <a:rPr lang="en-US" b="1" dirty="0" err="1" smtClean="0">
                <a:solidFill>
                  <a:srgbClr val="C00000"/>
                </a:solidFill>
              </a:rPr>
              <a:t>gof</a:t>
            </a:r>
            <a:r>
              <a:rPr lang="en-US" b="1" dirty="0" smtClean="0">
                <a:solidFill>
                  <a:srgbClr val="C00000"/>
                </a:solidFill>
              </a:rPr>
              <a:t>: X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Z</a:t>
            </a:r>
            <a:r>
              <a:rPr lang="en-US" dirty="0" smtClean="0"/>
              <a:t> as follows:</a:t>
            </a:r>
          </a:p>
          <a:p>
            <a:pPr>
              <a:buNone/>
            </a:pPr>
            <a:r>
              <a:rPr lang="en-US" dirty="0" smtClean="0"/>
              <a:t>	 		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g(f(x))</a:t>
            </a:r>
            <a:r>
              <a:rPr lang="en-US" dirty="0" smtClean="0"/>
              <a:t>	for all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The function 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C00000"/>
                </a:solidFill>
              </a:rPr>
              <a:t>composition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924300"/>
            <a:ext cx="72390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b="1" u="sng" dirty="0" smtClean="0">
                <a:solidFill>
                  <a:srgbClr val="0070C0"/>
                </a:solidFill>
              </a:rPr>
              <a:t>COMPOSITION OF FUNCTIONS DEFINED BY ARROW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r>
              <a:rPr lang="en-US" dirty="0" smtClean="0"/>
              <a:t>Let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X = {1, 2, 3}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</a:t>
            </a:r>
            <a:r>
              <a:rPr lang="en-US" dirty="0" smtClean="0">
                <a:solidFill>
                  <a:srgbClr val="C00000"/>
                </a:solidFill>
              </a:rPr>
              <a:t>= {a, b, c, d}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Y = {a, b, c, d, e}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Z = {x, y, z}.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Define functions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smtClean="0">
                <a:solidFill>
                  <a:srgbClr val="C00000"/>
                </a:solidFill>
              </a:rPr>
              <a:t>f: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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g: 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Z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by the arrow diagrams: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301" y="45720"/>
            <a:ext cx="8190499" cy="6583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 = {1, 2, 3, 4, 5}</a:t>
            </a:r>
            <a:r>
              <a:rPr lang="en-US" dirty="0" smtClean="0"/>
              <a:t> and we define functions </a:t>
            </a:r>
            <a:r>
              <a:rPr lang="en-US" dirty="0" smtClean="0">
                <a:solidFill>
                  <a:srgbClr val="C00000"/>
                </a:solidFill>
              </a:rPr>
              <a:t>f: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and then </a:t>
            </a:r>
            <a:r>
              <a:rPr lang="en-US" dirty="0" smtClean="0">
                <a:solidFill>
                  <a:srgbClr val="C00000"/>
                </a:solidFill>
              </a:rPr>
              <a:t>g: A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/>
              <a:t>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f(1)=3</a:t>
            </a:r>
            <a:r>
              <a:rPr lang="en-US" dirty="0" smtClean="0"/>
              <a:t>,     </a:t>
            </a:r>
            <a:r>
              <a:rPr lang="en-US" dirty="0" smtClean="0">
                <a:solidFill>
                  <a:srgbClr val="C00000"/>
                </a:solidFill>
              </a:rPr>
              <a:t>f(2)=5</a:t>
            </a:r>
            <a:r>
              <a:rPr lang="en-US" dirty="0" smtClean="0"/>
              <a:t>,     </a:t>
            </a:r>
            <a:r>
              <a:rPr lang="en-US" dirty="0" smtClean="0">
                <a:solidFill>
                  <a:srgbClr val="C00000"/>
                </a:solidFill>
              </a:rPr>
              <a:t>f(3)=3</a:t>
            </a:r>
            <a:r>
              <a:rPr lang="en-US" dirty="0" smtClean="0"/>
              <a:t>,      </a:t>
            </a:r>
            <a:r>
              <a:rPr lang="en-US" dirty="0" smtClean="0">
                <a:solidFill>
                  <a:srgbClr val="C00000"/>
                </a:solidFill>
              </a:rPr>
              <a:t>f(4)=1</a:t>
            </a:r>
            <a:r>
              <a:rPr lang="en-US" dirty="0" smtClean="0"/>
              <a:t>,	  </a:t>
            </a:r>
            <a:r>
              <a:rPr lang="en-US" dirty="0" smtClean="0">
                <a:solidFill>
                  <a:srgbClr val="C00000"/>
                </a:solidFill>
              </a:rPr>
              <a:t>f(5)=2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g(1)=4</a:t>
            </a:r>
            <a:r>
              <a:rPr lang="en-US" dirty="0" smtClean="0"/>
              <a:t>,    </a:t>
            </a:r>
            <a:r>
              <a:rPr lang="en-US" dirty="0" smtClean="0">
                <a:solidFill>
                  <a:srgbClr val="C00000"/>
                </a:solidFill>
              </a:rPr>
              <a:t>g(2)=1</a:t>
            </a:r>
            <a:r>
              <a:rPr lang="en-US" dirty="0" smtClean="0"/>
              <a:t>,     </a:t>
            </a:r>
            <a:r>
              <a:rPr lang="en-US" dirty="0" smtClean="0">
                <a:solidFill>
                  <a:srgbClr val="C00000"/>
                </a:solidFill>
              </a:rPr>
              <a:t>g(3)=1</a:t>
            </a:r>
            <a:r>
              <a:rPr lang="en-US" dirty="0" smtClean="0"/>
              <a:t>,     </a:t>
            </a:r>
            <a:r>
              <a:rPr lang="en-US" dirty="0" smtClean="0">
                <a:solidFill>
                  <a:srgbClr val="C00000"/>
                </a:solidFill>
              </a:rPr>
              <a:t>g(4)=2</a:t>
            </a:r>
            <a:r>
              <a:rPr lang="en-US" dirty="0" smtClean="0"/>
              <a:t>,     </a:t>
            </a:r>
            <a:r>
              <a:rPr lang="en-US" dirty="0" smtClean="0">
                <a:solidFill>
                  <a:srgbClr val="C00000"/>
                </a:solidFill>
              </a:rPr>
              <a:t>g(5)=3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Find the composition functions </a:t>
            </a:r>
            <a:r>
              <a:rPr lang="en-US" b="1" dirty="0" smtClean="0">
                <a:solidFill>
                  <a:srgbClr val="C00000"/>
                </a:solidFill>
              </a:rPr>
              <a:t>fog</a:t>
            </a:r>
            <a:r>
              <a:rPr lang="en-US" dirty="0" smtClean="0"/>
              <a:t> and </a:t>
            </a:r>
            <a:r>
              <a:rPr lang="en-US" b="1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 </a:t>
            </a:r>
            <a:br>
              <a:rPr lang="en-US" dirty="0" smtClean="0"/>
            </a:br>
            <a:r>
              <a:rPr lang="en-US" sz="3600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have the definition of the </a:t>
            </a:r>
            <a:r>
              <a:rPr lang="en-US" dirty="0" smtClean="0">
                <a:solidFill>
                  <a:srgbClr val="C00000"/>
                </a:solidFill>
              </a:rPr>
              <a:t>composition of functions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compute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f(1)=3,	f(2)=5,	       f(3)=3,	   f(4)=1,	f(5)=2</a:t>
            </a:r>
          </a:p>
          <a:p>
            <a:pPr>
              <a:buNone/>
            </a:pPr>
            <a:r>
              <a:rPr lang="en-US" dirty="0" smtClean="0"/>
              <a:t>	g(1)=4,       g(2)=1,       g(3)=1,      g(4)=2,       g(5)=3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(fog) (1) = f(g(1)) = f(4) = 1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(fog) (2) = f(g(2)) = f(1) = 3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(fog) (3) = f(g(3)) = f(1) = 3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(fog) (4) = f(g(4)) = f(2) = 5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(fog) (5) = f(g(5)) = f(3) = 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Also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 (1) = g(f(1)) = g(3) = 1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 (2) = g(f(2)) = g(5) = 3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 (3) = g(f(3)) = g(3) = 1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 (4) = g(f(4)) = g(1) = 4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 (5) = g(f(5)) = g(2) = 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REMARK:</a:t>
            </a:r>
            <a:r>
              <a:rPr lang="en-US" dirty="0" smtClean="0"/>
              <a:t> The functions </a:t>
            </a:r>
            <a:r>
              <a:rPr lang="en-US" dirty="0" smtClean="0">
                <a:solidFill>
                  <a:srgbClr val="C00000"/>
                </a:solidFill>
              </a:rPr>
              <a:t>fog</a:t>
            </a:r>
            <a:r>
              <a:rPr lang="en-US" dirty="0" smtClean="0"/>
              <a:t> and 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/>
              <a:t> are not equal.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COMPOSITION OF FUNCTIONS DEFINED BY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f: Z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Z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g: Z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 Z </a:t>
            </a:r>
            <a:r>
              <a:rPr lang="en-US" dirty="0" smtClean="0"/>
              <a:t>be defined by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f(n) = n+1</a:t>
            </a:r>
            <a:r>
              <a:rPr lang="pt-BR" dirty="0" smtClean="0"/>
              <a:t>	for </a:t>
            </a:r>
            <a:r>
              <a:rPr lang="pt-BR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dirty="0" smtClean="0">
                <a:solidFill>
                  <a:srgbClr val="C00000"/>
                </a:solidFill>
              </a:rPr>
              <a:t>Z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and 		</a:t>
            </a:r>
            <a:r>
              <a:rPr lang="pt-BR" dirty="0" smtClean="0">
                <a:solidFill>
                  <a:srgbClr val="C00000"/>
                </a:solidFill>
              </a:rPr>
              <a:t>g(n) = 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/>
              <a:t>	for </a:t>
            </a:r>
            <a:r>
              <a:rPr lang="pt-BR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dirty="0" smtClean="0">
                <a:solidFill>
                  <a:srgbClr val="C00000"/>
                </a:solidFill>
              </a:rPr>
              <a:t>Z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a.	Find the compositions 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fog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b.	Is 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 = fog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AutoNum type="alphaLcPeriod"/>
            </a:pPr>
            <a:r>
              <a:rPr lang="en-US" dirty="0" smtClean="0"/>
              <a:t>By definition of the composition of functions</a:t>
            </a:r>
          </a:p>
          <a:p>
            <a:pPr marL="514350" indent="-514350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pt-BR" dirty="0" smtClean="0"/>
              <a:t>(gof) (n) = </a:t>
            </a:r>
            <a:r>
              <a:rPr lang="pt-BR" dirty="0" smtClean="0">
                <a:solidFill>
                  <a:srgbClr val="C00000"/>
                </a:solidFill>
              </a:rPr>
              <a:t>g(f(n))</a:t>
            </a:r>
          </a:p>
          <a:p>
            <a:pPr>
              <a:buNone/>
            </a:pPr>
            <a:r>
              <a:rPr lang="pt-BR" dirty="0" smtClean="0"/>
              <a:t>			     = </a:t>
            </a:r>
            <a:r>
              <a:rPr lang="pt-BR" dirty="0" smtClean="0">
                <a:solidFill>
                  <a:srgbClr val="C00000"/>
                </a:solidFill>
              </a:rPr>
              <a:t>g(n+1)</a:t>
            </a:r>
            <a:r>
              <a:rPr lang="pt-BR" dirty="0" smtClean="0"/>
              <a:t> 		(Since </a:t>
            </a:r>
            <a:r>
              <a:rPr lang="pt-BR" dirty="0" smtClean="0">
                <a:solidFill>
                  <a:srgbClr val="C00000"/>
                </a:solidFill>
              </a:rPr>
              <a:t>f(n) = n+1</a:t>
            </a:r>
            <a:r>
              <a:rPr lang="pt-BR" dirty="0" smtClean="0"/>
              <a:t>)</a:t>
            </a:r>
          </a:p>
          <a:p>
            <a:pPr>
              <a:buNone/>
            </a:pPr>
            <a:r>
              <a:rPr lang="pt-BR" dirty="0" smtClean="0"/>
              <a:t>			     = </a:t>
            </a:r>
            <a:r>
              <a:rPr lang="pt-BR" dirty="0" smtClean="0">
                <a:solidFill>
                  <a:srgbClr val="C00000"/>
                </a:solidFill>
              </a:rPr>
              <a:t>(n+1)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</a:t>
            </a:r>
            <a:r>
              <a:rPr lang="pt-BR" dirty="0" smtClean="0"/>
              <a:t>		(Since </a:t>
            </a:r>
            <a:r>
              <a:rPr lang="pt-BR" dirty="0" smtClean="0">
                <a:solidFill>
                  <a:srgbClr val="C00000"/>
                </a:solidFill>
              </a:rPr>
              <a:t>g(n) = 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/>
              <a:t>)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	 </a:t>
            </a:r>
            <a:r>
              <a:rPr lang="pt-BR" dirty="0" smtClean="0">
                <a:solidFill>
                  <a:srgbClr val="C00000"/>
                </a:solidFill>
              </a:rPr>
              <a:t>(gof) (n) =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(n+1)</a:t>
            </a:r>
            <a:r>
              <a:rPr lang="pt-BR" baseline="30000" dirty="0" smtClean="0">
                <a:solidFill>
                  <a:srgbClr val="C00000"/>
                </a:solidFill>
              </a:rPr>
              <a:t>2 </a:t>
            </a:r>
            <a:r>
              <a:rPr lang="pt-BR" dirty="0" smtClean="0"/>
              <a:t>		for all n </a:t>
            </a:r>
            <a:r>
              <a:rPr lang="en-US" dirty="0" smtClean="0">
                <a:sym typeface="Symbol"/>
              </a:rPr>
              <a:t></a:t>
            </a:r>
            <a:r>
              <a:rPr lang="pt-BR" dirty="0" smtClean="0"/>
              <a:t>Z and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		</a:t>
            </a:r>
            <a:r>
              <a:rPr lang="pt-BR" dirty="0" smtClean="0">
                <a:solidFill>
                  <a:srgbClr val="C00000"/>
                </a:solidFill>
              </a:rPr>
              <a:t>(fog) (n) = f(g(n)) </a:t>
            </a:r>
          </a:p>
          <a:p>
            <a:pPr>
              <a:buNone/>
            </a:pPr>
            <a:r>
              <a:rPr lang="pt-BR" dirty="0" smtClean="0"/>
              <a:t>			(By definition of composition of function)</a:t>
            </a:r>
          </a:p>
          <a:p>
            <a:pPr>
              <a:buNone/>
            </a:pPr>
            <a:r>
              <a:rPr lang="pt-BR" dirty="0" smtClean="0"/>
              <a:t>			   </a:t>
            </a:r>
            <a:r>
              <a:rPr lang="pt-BR" dirty="0" smtClean="0">
                <a:solidFill>
                  <a:srgbClr val="C00000"/>
                </a:solidFill>
              </a:rPr>
              <a:t>= f(n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)</a:t>
            </a:r>
            <a:r>
              <a:rPr lang="pt-BR" dirty="0" smtClean="0"/>
              <a:t>	(Since </a:t>
            </a:r>
            <a:r>
              <a:rPr lang="pt-BR" dirty="0" smtClean="0">
                <a:solidFill>
                  <a:srgbClr val="C00000"/>
                </a:solidFill>
              </a:rPr>
              <a:t>g(n) = 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/>
              <a:t>)</a:t>
            </a:r>
          </a:p>
          <a:p>
            <a:pPr>
              <a:buNone/>
            </a:pPr>
            <a:r>
              <a:rPr lang="pt-BR" dirty="0" smtClean="0"/>
              <a:t>                       </a:t>
            </a:r>
            <a:r>
              <a:rPr lang="pt-BR" dirty="0" smtClean="0">
                <a:solidFill>
                  <a:srgbClr val="C00000"/>
                </a:solidFill>
              </a:rPr>
              <a:t>= 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+1 </a:t>
            </a:r>
            <a:r>
              <a:rPr lang="pt-BR" dirty="0" smtClean="0"/>
              <a:t>	(Since </a:t>
            </a:r>
            <a:r>
              <a:rPr lang="pt-BR" dirty="0" smtClean="0">
                <a:solidFill>
                  <a:srgbClr val="C00000"/>
                </a:solidFill>
              </a:rPr>
              <a:t>f(n) = n+1</a:t>
            </a:r>
            <a:r>
              <a:rPr lang="pt-BR" dirty="0" smtClean="0"/>
              <a:t>)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	</a:t>
            </a:r>
            <a:r>
              <a:rPr lang="pt-BR" dirty="0" smtClean="0">
                <a:solidFill>
                  <a:srgbClr val="C00000"/>
                </a:solidFill>
              </a:rPr>
              <a:t> (fog) (n) = 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+1</a:t>
            </a:r>
            <a:r>
              <a:rPr lang="pt-BR" dirty="0" smtClean="0"/>
              <a:t>		for all n </a:t>
            </a:r>
            <a:r>
              <a:rPr lang="en-US" dirty="0" smtClean="0">
                <a:sym typeface="Symbol"/>
              </a:rPr>
              <a:t></a:t>
            </a:r>
            <a:r>
              <a:rPr lang="pt-BR" dirty="0" smtClean="0"/>
              <a:t>Z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Wingdings 3"/>
              <a:buAutoNum type="alphaLcPeriod" startAt="2"/>
            </a:pPr>
            <a:r>
              <a:rPr lang="en-US" dirty="0" smtClean="0"/>
              <a:t>Is 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 = fog</a:t>
            </a:r>
            <a:r>
              <a:rPr lang="en-US" dirty="0" smtClean="0"/>
              <a:t>?</a:t>
            </a:r>
          </a:p>
          <a:p>
            <a:pPr marL="514350" indent="-514350">
              <a:buNone/>
            </a:pPr>
            <a:r>
              <a:rPr lang="en-US" dirty="0" smtClean="0"/>
              <a:t>	In this case,</a:t>
            </a:r>
          </a:p>
          <a:p>
            <a:pPr marL="514350" indent="-514350">
              <a:buNone/>
            </a:pPr>
            <a:r>
              <a:rPr lang="en-US" dirty="0" smtClean="0"/>
              <a:t>	For </a:t>
            </a:r>
            <a:r>
              <a:rPr lang="en-US" dirty="0" smtClean="0">
                <a:solidFill>
                  <a:srgbClr val="C00000"/>
                </a:solidFill>
              </a:rPr>
              <a:t>n = 1</a:t>
            </a:r>
          </a:p>
          <a:p>
            <a:pPr marL="514350" indent="-514350"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)(1) = g(f(1))</a:t>
            </a:r>
          </a:p>
          <a:p>
            <a:pPr marL="514350" indent="-514350">
              <a:buNone/>
            </a:pPr>
            <a:r>
              <a:rPr lang="en-US" dirty="0" smtClean="0"/>
              <a:t>				  </a:t>
            </a:r>
            <a:r>
              <a:rPr lang="en-US" dirty="0" smtClean="0">
                <a:solidFill>
                  <a:srgbClr val="C00000"/>
                </a:solidFill>
              </a:rPr>
              <a:t>= g(1 + 1)</a:t>
            </a:r>
            <a:r>
              <a:rPr lang="en-US" baseline="30000" dirty="0" smtClean="0"/>
              <a:t> 	</a:t>
            </a:r>
            <a:r>
              <a:rPr lang="pt-BR" dirty="0" smtClean="0"/>
              <a:t>(Since </a:t>
            </a:r>
            <a:r>
              <a:rPr lang="pt-BR" dirty="0" smtClean="0">
                <a:solidFill>
                  <a:srgbClr val="C00000"/>
                </a:solidFill>
              </a:rPr>
              <a:t>f(n) = n+1</a:t>
            </a:r>
            <a:r>
              <a:rPr lang="pt-BR" dirty="0" smtClean="0"/>
              <a:t>)</a:t>
            </a:r>
            <a:endParaRPr lang="en-US" baseline="30000" dirty="0" smtClean="0"/>
          </a:p>
          <a:p>
            <a:pPr marL="514350" indent="-514350">
              <a:buNone/>
            </a:pPr>
            <a:r>
              <a:rPr lang="en-US" baseline="30000" dirty="0" smtClean="0"/>
              <a:t>				 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= (1 + 1)</a:t>
            </a:r>
            <a:r>
              <a:rPr lang="en-US" baseline="30000" dirty="0" smtClean="0">
                <a:solidFill>
                  <a:srgbClr val="C00000"/>
                </a:solidFill>
              </a:rPr>
              <a:t> 2</a:t>
            </a:r>
            <a:r>
              <a:rPr lang="en-US" baseline="30000" dirty="0" smtClean="0"/>
              <a:t>	</a:t>
            </a:r>
            <a:r>
              <a:rPr lang="pt-BR" dirty="0" smtClean="0"/>
              <a:t>(Since </a:t>
            </a:r>
            <a:r>
              <a:rPr lang="pt-BR" dirty="0" smtClean="0">
                <a:solidFill>
                  <a:srgbClr val="C00000"/>
                </a:solidFill>
              </a:rPr>
              <a:t>g(n) = 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/>
              <a:t>)</a:t>
            </a:r>
          </a:p>
          <a:p>
            <a:pPr marL="514350" indent="-514350">
              <a:buNone/>
            </a:pPr>
            <a:endParaRPr lang="en-US" baseline="30000" dirty="0" smtClean="0"/>
          </a:p>
          <a:p>
            <a:pPr marL="514350" indent="-514350">
              <a:buNone/>
            </a:pPr>
            <a:r>
              <a:rPr lang="en-US" baseline="30000" dirty="0" smtClean="0"/>
              <a:t>				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C00000"/>
                </a:solidFill>
              </a:rPr>
              <a:t>= 4</a:t>
            </a:r>
            <a:r>
              <a:rPr lang="en-US" dirty="0" smtClean="0"/>
              <a:t>  where as</a:t>
            </a:r>
          </a:p>
          <a:p>
            <a:pPr marL="514350" indent="-514350">
              <a:buNone/>
            </a:pPr>
            <a:r>
              <a:rPr lang="en-US" dirty="0" smtClean="0"/>
              <a:t> 			</a:t>
            </a:r>
            <a:r>
              <a:rPr lang="en-US" dirty="0" smtClean="0">
                <a:solidFill>
                  <a:srgbClr val="C00000"/>
                </a:solidFill>
              </a:rPr>
              <a:t>(fog)(1) = f(g(1))=1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 = 2</a:t>
            </a:r>
          </a:p>
          <a:p>
            <a:pPr marL="514350" indent="-514350">
              <a:buNone/>
            </a:pPr>
            <a:r>
              <a:rPr lang="en-US" dirty="0" smtClean="0"/>
              <a:t>	 		Thus 	</a:t>
            </a:r>
            <a:r>
              <a:rPr lang="en-US" dirty="0" smtClean="0">
                <a:solidFill>
                  <a:srgbClr val="C00000"/>
                </a:solidFill>
              </a:rPr>
              <a:t>fog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endParaRPr lang="en-US" dirty="0" smtClean="0">
              <a:solidFill>
                <a:srgbClr val="C00000"/>
              </a:solidFill>
            </a:endParaRP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composition</a:t>
            </a:r>
            <a:r>
              <a:rPr lang="en-US" dirty="0" smtClean="0"/>
              <a:t> of functions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a </a:t>
            </a:r>
            <a:r>
              <a:rPr lang="en-US" b="1" dirty="0" smtClean="0">
                <a:solidFill>
                  <a:srgbClr val="C00000"/>
                </a:solidFill>
              </a:rPr>
              <a:t>commutative</a:t>
            </a:r>
            <a:r>
              <a:rPr lang="en-US" dirty="0" smtClean="0"/>
              <a:t> operation.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OPERATIONS 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SUM OF FUNCTIONS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DIFFERENCE OF FUNCTIONS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PRODUCT OF FUNCTIONS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QUOTIENT OF FUNCTIONS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be real valued functions with the </a:t>
            </a:r>
            <a:r>
              <a:rPr lang="en-US" b="1" dirty="0" smtClean="0">
                <a:solidFill>
                  <a:srgbClr val="C00000"/>
                </a:solidFill>
              </a:rPr>
              <a:t>same domain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X.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That is </a:t>
            </a:r>
            <a:r>
              <a:rPr lang="en-US" dirty="0" smtClean="0">
                <a:solidFill>
                  <a:srgbClr val="C00000"/>
                </a:solidFill>
              </a:rPr>
              <a:t>f: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denoted </a:t>
            </a:r>
            <a:r>
              <a:rPr lang="en-US" dirty="0" smtClean="0">
                <a:solidFill>
                  <a:srgbClr val="C00000"/>
                </a:solidFill>
              </a:rPr>
              <a:t>f + g</a:t>
            </a:r>
            <a:r>
              <a:rPr lang="en-US" dirty="0" smtClean="0"/>
              <a:t> is a real valued function with the </a:t>
            </a:r>
            <a:r>
              <a:rPr lang="en-US" dirty="0" smtClean="0">
                <a:solidFill>
                  <a:srgbClr val="C00000"/>
                </a:solidFill>
              </a:rPr>
              <a:t>same domain X </a:t>
            </a:r>
          </a:p>
          <a:p>
            <a:pPr>
              <a:buNone/>
            </a:pPr>
            <a:r>
              <a:rPr lang="en-US" dirty="0" smtClean="0"/>
              <a:t>	i.e. </a:t>
            </a:r>
            <a:r>
              <a:rPr lang="en-US" dirty="0" err="1" smtClean="0">
                <a:solidFill>
                  <a:srgbClr val="C00000"/>
                </a:solidFill>
              </a:rPr>
              <a:t>f+g</a:t>
            </a:r>
            <a:r>
              <a:rPr lang="en-US" dirty="0" smtClean="0">
                <a:solidFill>
                  <a:srgbClr val="C00000"/>
                </a:solidFill>
              </a:rPr>
              <a:t>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defined by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f+g</a:t>
            </a:r>
            <a:r>
              <a:rPr lang="en-US" dirty="0" smtClean="0">
                <a:solidFill>
                  <a:srgbClr val="C00000"/>
                </a:solidFill>
              </a:rPr>
              <a:t>)(x) = f(x) + g(x)</a:t>
            </a: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</a:t>
            </a:r>
            <a:r>
              <a:rPr lang="en-US" dirty="0" smtClean="0"/>
              <a:t> x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X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f(x) =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g(x) = x + 2</a:t>
            </a:r>
            <a:r>
              <a:rPr lang="en-US" dirty="0" smtClean="0"/>
              <a:t> defines functions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Then		 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f+g</a:t>
            </a:r>
            <a:r>
              <a:rPr lang="en-US" dirty="0" smtClean="0">
                <a:solidFill>
                  <a:srgbClr val="C00000"/>
                </a:solidFill>
              </a:rPr>
              <a:t>) (x) =  f(x) + g(x)</a:t>
            </a:r>
          </a:p>
          <a:p>
            <a:pPr>
              <a:buNone/>
            </a:pPr>
            <a:r>
              <a:rPr lang="en-US" dirty="0" smtClean="0"/>
              <a:t>                                           </a:t>
            </a:r>
            <a:r>
              <a:rPr lang="en-US" dirty="0" smtClean="0">
                <a:solidFill>
                  <a:srgbClr val="C00000"/>
                </a:solidFill>
              </a:rPr>
              <a:t>=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+ 1) + (x + 2)</a:t>
            </a:r>
          </a:p>
          <a:p>
            <a:pPr>
              <a:buNone/>
            </a:pPr>
            <a:r>
              <a:rPr lang="en-US" dirty="0" smtClean="0"/>
              <a:t>                                           </a:t>
            </a:r>
            <a:r>
              <a:rPr lang="en-US" dirty="0" smtClean="0">
                <a:solidFill>
                  <a:srgbClr val="C00000"/>
                </a:solidFill>
              </a:rPr>
              <a:t>=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x + 3</a:t>
            </a: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 </a:t>
            </a:r>
            <a:r>
              <a:rPr lang="en-US" dirty="0" smtClean="0"/>
              <a:t>x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which defines the </a:t>
            </a:r>
            <a:r>
              <a:rPr lang="en-US" dirty="0" smtClean="0">
                <a:solidFill>
                  <a:srgbClr val="C00000"/>
                </a:solidFill>
              </a:rPr>
              <a:t>sum functions </a:t>
            </a:r>
            <a:r>
              <a:rPr lang="en-US" dirty="0" err="1" smtClean="0">
                <a:solidFill>
                  <a:srgbClr val="C00000"/>
                </a:solidFill>
              </a:rPr>
              <a:t>f+g</a:t>
            </a:r>
            <a:r>
              <a:rPr lang="en-US" dirty="0" smtClean="0">
                <a:solidFill>
                  <a:srgbClr val="C00000"/>
                </a:solidFill>
              </a:rPr>
              <a:t>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DIFFERENCE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g:X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be real valued functions. The </a:t>
            </a:r>
            <a:r>
              <a:rPr lang="en-US" dirty="0" smtClean="0">
                <a:solidFill>
                  <a:srgbClr val="C00000"/>
                </a:solidFill>
              </a:rPr>
              <a:t>difference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denoted by </a:t>
            </a:r>
            <a:r>
              <a:rPr lang="en-US" dirty="0" smtClean="0">
                <a:solidFill>
                  <a:srgbClr val="C00000"/>
                </a:solidFill>
              </a:rPr>
              <a:t>f-g</a:t>
            </a:r>
            <a:r>
              <a:rPr lang="en-US" dirty="0" smtClean="0"/>
              <a:t> which is a function from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defined by: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(f-g)(x) = f(x) - g(x)</a:t>
            </a:r>
            <a:r>
              <a:rPr lang="en-US" dirty="0" smtClean="0"/>
              <a:t>	   </a:t>
            </a:r>
            <a:r>
              <a:rPr lang="en-US" dirty="0" smtClean="0">
                <a:sym typeface="Symbol"/>
              </a:rPr>
              <a:t></a:t>
            </a:r>
            <a:r>
              <a:rPr lang="en-US" dirty="0" smtClean="0"/>
              <a:t> 	x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X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f(x) =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g(x) = x + 2</a:t>
            </a:r>
            <a:r>
              <a:rPr lang="en-US" dirty="0" smtClean="0"/>
              <a:t> define functions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Then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 	</a:t>
            </a:r>
            <a:r>
              <a:rPr lang="pt-BR" dirty="0" smtClean="0">
                <a:solidFill>
                  <a:srgbClr val="C00000"/>
                </a:solidFill>
              </a:rPr>
              <a:t>(f-g) (x) =  f(x) - g(x)</a:t>
            </a:r>
          </a:p>
          <a:p>
            <a:pPr>
              <a:buNone/>
            </a:pPr>
            <a:r>
              <a:rPr lang="pt-BR" dirty="0" smtClean="0"/>
              <a:t>         			  </a:t>
            </a:r>
            <a:r>
              <a:rPr lang="pt-BR" dirty="0" smtClean="0">
                <a:solidFill>
                  <a:srgbClr val="C00000"/>
                </a:solidFill>
              </a:rPr>
              <a:t>=  (x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+ 1) - (x + 2)</a:t>
            </a:r>
          </a:p>
          <a:p>
            <a:pPr>
              <a:buNone/>
            </a:pPr>
            <a:r>
              <a:rPr lang="pt-BR" dirty="0" smtClean="0"/>
              <a:t>				  </a:t>
            </a:r>
            <a:r>
              <a:rPr lang="pt-BR" dirty="0" smtClean="0">
                <a:solidFill>
                  <a:srgbClr val="C00000"/>
                </a:solidFill>
              </a:rPr>
              <a:t>= x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- x – 1</a:t>
            </a:r>
            <a:r>
              <a:rPr lang="pt-BR" dirty="0" smtClean="0"/>
              <a:t>  </a:t>
            </a:r>
            <a:r>
              <a:rPr lang="en-US" dirty="0" smtClean="0">
                <a:sym typeface="Symbol"/>
              </a:rPr>
              <a:t>   </a:t>
            </a:r>
            <a:r>
              <a:rPr lang="pt-BR" dirty="0" smtClean="0"/>
              <a:t>x </a:t>
            </a:r>
            <a:r>
              <a:rPr lang="en-US" dirty="0" smtClean="0">
                <a:sym typeface="Symbol"/>
              </a:rPr>
              <a:t> </a:t>
            </a:r>
            <a:r>
              <a:rPr lang="pt-BR" dirty="0" smtClean="0"/>
              <a:t>R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 which defines the </a:t>
            </a:r>
            <a:r>
              <a:rPr lang="en-US" dirty="0" smtClean="0">
                <a:solidFill>
                  <a:srgbClr val="C00000"/>
                </a:solidFill>
              </a:rPr>
              <a:t>difference function f-g: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PRODUCT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be real valued functions. The </a:t>
            </a:r>
            <a:r>
              <a:rPr lang="en-US" dirty="0" smtClean="0">
                <a:solidFill>
                  <a:srgbClr val="C00000"/>
                </a:solidFill>
              </a:rPr>
              <a:t>product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denoted </a:t>
            </a:r>
            <a:r>
              <a:rPr lang="en-US" dirty="0" err="1" smtClean="0">
                <a:solidFill>
                  <a:srgbClr val="C00000"/>
                </a:solidFill>
              </a:rPr>
              <a:t>f</a:t>
            </a:r>
            <a:r>
              <a:rPr lang="en-US" b="1" dirty="0" err="1" smtClean="0">
                <a:solidFill>
                  <a:srgbClr val="C00000"/>
                </a:solidFill>
              </a:rPr>
              <a:t>.</a:t>
            </a:r>
            <a:r>
              <a:rPr lang="en-US" dirty="0" err="1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 or simply </a:t>
            </a:r>
            <a:r>
              <a:rPr lang="en-US" dirty="0" err="1" smtClean="0">
                <a:solidFill>
                  <a:srgbClr val="C00000"/>
                </a:solidFill>
              </a:rPr>
              <a:t>fg</a:t>
            </a:r>
            <a:r>
              <a:rPr lang="en-US" dirty="0" smtClean="0"/>
              <a:t> is a function from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defined by: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olidFill>
                  <a:srgbClr val="C00000"/>
                </a:solidFill>
              </a:rPr>
              <a:t>(f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r>
              <a:rPr lang="en-US" dirty="0" smtClean="0">
                <a:solidFill>
                  <a:srgbClr val="C00000"/>
                </a:solidFill>
              </a:rPr>
              <a:t> g)(x) = f(x)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r>
              <a:rPr lang="en-US" dirty="0" smtClean="0">
                <a:solidFill>
                  <a:srgbClr val="C00000"/>
                </a:solidFill>
              </a:rPr>
              <a:t> g(x)</a:t>
            </a: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</a:t>
            </a:r>
            <a:r>
              <a:rPr lang="en-US" dirty="0" smtClean="0"/>
              <a:t>       x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X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f(x) =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g(x) = x + 2</a:t>
            </a:r>
            <a:r>
              <a:rPr lang="en-US" dirty="0" smtClean="0"/>
              <a:t> define functions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Then	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r>
              <a:rPr lang="en-US" dirty="0" smtClean="0">
                <a:solidFill>
                  <a:srgbClr val="C00000"/>
                </a:solidFill>
              </a:rPr>
              <a:t> g) (x) = f(x)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r>
              <a:rPr lang="en-US" dirty="0" smtClean="0">
                <a:solidFill>
                  <a:srgbClr val="C00000"/>
                </a:solidFill>
              </a:rPr>
              <a:t> g(x)</a:t>
            </a:r>
          </a:p>
          <a:p>
            <a:pPr>
              <a:buNone/>
            </a:pPr>
            <a:r>
              <a:rPr lang="en-US" dirty="0" smtClean="0"/>
              <a:t>				    </a:t>
            </a:r>
            <a:r>
              <a:rPr lang="en-US" dirty="0" smtClean="0">
                <a:solidFill>
                  <a:srgbClr val="C00000"/>
                </a:solidFill>
              </a:rPr>
              <a:t>=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+ 1)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r>
              <a:rPr lang="en-US" dirty="0" smtClean="0">
                <a:solidFill>
                  <a:srgbClr val="C00000"/>
                </a:solidFill>
              </a:rPr>
              <a:t> (x + 2)</a:t>
            </a:r>
          </a:p>
          <a:p>
            <a:pPr>
              <a:buNone/>
            </a:pPr>
            <a:r>
              <a:rPr lang="en-US" dirty="0" smtClean="0"/>
              <a:t>				    </a:t>
            </a:r>
            <a:r>
              <a:rPr lang="en-US" dirty="0" smtClean="0">
                <a:solidFill>
                  <a:srgbClr val="C00000"/>
                </a:solidFill>
              </a:rPr>
              <a:t>= x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+ 2x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x + 2</a:t>
            </a: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 </a:t>
            </a:r>
            <a:r>
              <a:rPr lang="en-US" dirty="0" smtClean="0"/>
              <a:t>x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 which defines the </a:t>
            </a:r>
            <a:r>
              <a:rPr lang="en-US" dirty="0" smtClean="0">
                <a:solidFill>
                  <a:srgbClr val="C00000"/>
                </a:solidFill>
              </a:rPr>
              <a:t>product function f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r>
              <a:rPr lang="en-US" dirty="0" smtClean="0">
                <a:solidFill>
                  <a:srgbClr val="C00000"/>
                </a:solidFill>
              </a:rPr>
              <a:t> g: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QUOTIENT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f: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 </a:t>
            </a:r>
            <a:r>
              <a:rPr lang="en-US" dirty="0" smtClean="0"/>
              <a:t>be real valued functions. The </a:t>
            </a:r>
            <a:r>
              <a:rPr lang="en-US" dirty="0" smtClean="0">
                <a:solidFill>
                  <a:srgbClr val="C00000"/>
                </a:solidFill>
              </a:rPr>
              <a:t>quotient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denoted       is a function from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defined by:</a:t>
            </a:r>
          </a:p>
          <a:p>
            <a:pPr>
              <a:buNone/>
            </a:pPr>
            <a:r>
              <a:rPr lang="en-US" dirty="0" smtClean="0"/>
              <a:t>	</a:t>
            </a:r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4753" name="Object 1"/>
          <p:cNvGraphicFramePr>
            <a:graphicFrameLocks noChangeAspect="1"/>
          </p:cNvGraphicFramePr>
          <p:nvPr/>
        </p:nvGraphicFramePr>
        <p:xfrm>
          <a:off x="4267200" y="1541207"/>
          <a:ext cx="652923" cy="789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6" r:id="rId3" imgW="177723" imgH="418918" progId="">
                  <p:embed/>
                </p:oleObj>
              </mc:Choice>
              <mc:Fallback>
                <p:oleObj r:id="rId3" imgW="177723" imgH="418918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541207"/>
                        <a:ext cx="652923" cy="7895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1595966" y="2895600"/>
          <a:ext cx="6328834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7" r:id="rId5" imgW="2920680" imgH="457200" progId="">
                  <p:embed/>
                </p:oleObj>
              </mc:Choice>
              <mc:Fallback>
                <p:oleObj r:id="rId5" imgW="2920680" imgH="4572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966" y="2895600"/>
                        <a:ext cx="6328834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f(x) =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g(x) = x + 2</a:t>
            </a:r>
            <a:r>
              <a:rPr lang="en-US" dirty="0" smtClean="0"/>
              <a:t> defines functions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Then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which defines the </a:t>
            </a:r>
            <a:r>
              <a:rPr lang="en-US" dirty="0" smtClean="0">
                <a:solidFill>
                  <a:srgbClr val="C00000"/>
                </a:solidFill>
              </a:rPr>
              <a:t>quotient function</a:t>
            </a:r>
            <a:r>
              <a:rPr lang="en-US" dirty="0" smtClean="0"/>
              <a:t>        : X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R.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95234" name="Object 2"/>
          <p:cNvGraphicFramePr>
            <a:graphicFrameLocks noChangeAspect="1"/>
          </p:cNvGraphicFramePr>
          <p:nvPr/>
        </p:nvGraphicFramePr>
        <p:xfrm>
          <a:off x="2400300" y="2362200"/>
          <a:ext cx="5067300" cy="990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0" r:id="rId3" imgW="2552400" imgH="457200" progId="">
                  <p:embed/>
                </p:oleObj>
              </mc:Choice>
              <mc:Fallback>
                <p:oleObj r:id="rId3" imgW="2552400" imgH="4572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2362200"/>
                        <a:ext cx="5067300" cy="9906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5238" name="Object 6"/>
          <p:cNvGraphicFramePr>
            <a:graphicFrameLocks noChangeAspect="1"/>
          </p:cNvGraphicFramePr>
          <p:nvPr/>
        </p:nvGraphicFramePr>
        <p:xfrm>
          <a:off x="5716381" y="4331161"/>
          <a:ext cx="652463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1" r:id="rId5" imgW="177723" imgH="418918" progId="">
                  <p:embed/>
                </p:oleObj>
              </mc:Choice>
              <mc:Fallback>
                <p:oleObj r:id="rId5" imgW="177723" imgH="418918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6381" y="4331161"/>
                        <a:ext cx="652463" cy="788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481388" y="3429000"/>
          <a:ext cx="96361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2" name="Equation" r:id="rId7" imgW="545760" imgH="457200" progId="Equation.3">
                  <p:embed/>
                </p:oleObj>
              </mc:Choice>
              <mc:Fallback>
                <p:oleObj name="Equation" r:id="rId7" imgW="54576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3429000"/>
                        <a:ext cx="963612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1724</TotalTime>
  <Words>766</Words>
  <Application>Microsoft Office PowerPoint</Application>
  <PresentationFormat>On-screen Show (4:3)</PresentationFormat>
  <Paragraphs>371</Paragraphs>
  <Slides>45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7" baseType="lpstr">
      <vt:lpstr>Origin</vt:lpstr>
      <vt:lpstr>Equation</vt:lpstr>
      <vt:lpstr>INVERSE &amp; COMPOSITIONS OF FUNCTIONS </vt:lpstr>
      <vt:lpstr>EQUALITY OF FUNCTIONS</vt:lpstr>
      <vt:lpstr>EXAMPLE</vt:lpstr>
      <vt:lpstr>EXERCISE</vt:lpstr>
      <vt:lpstr>SOLUTION</vt:lpstr>
      <vt:lpstr>INVERSE OF A FUNCTION</vt:lpstr>
      <vt:lpstr>INVERSE OF INJECTIVE FUNCTION</vt:lpstr>
      <vt:lpstr>INVERSE OF SURJECTIVE FUNCTION</vt:lpstr>
      <vt:lpstr>INVERSE OF BIJECTIVE FUNCTION</vt:lpstr>
      <vt:lpstr>INVERSE FUNCTION</vt:lpstr>
      <vt:lpstr>ARROW DIAGRAM</vt:lpstr>
      <vt:lpstr>REMARK</vt:lpstr>
      <vt:lpstr>INVERSE FUNCTION FROM AN ARROW DIAGRAM</vt:lpstr>
      <vt:lpstr>INVERSE FUNCTION FROM A FORMULA</vt:lpstr>
      <vt:lpstr>PowerPoint Presentation</vt:lpstr>
      <vt:lpstr>WORKING RULE TO FIND INVERSE FUNCTION</vt:lpstr>
      <vt:lpstr>EXAMPLE</vt:lpstr>
      <vt:lpstr>SOLUTION</vt:lpstr>
      <vt:lpstr>SOLUTION</vt:lpstr>
      <vt:lpstr>PowerPoint Presentation</vt:lpstr>
      <vt:lpstr>EXERCISE</vt:lpstr>
      <vt:lpstr>SOLUTION</vt:lpstr>
      <vt:lpstr>PowerPoint Presentation</vt:lpstr>
      <vt:lpstr>PowerPoint Presentation</vt:lpstr>
      <vt:lpstr>COMPOSITION OF FUNCTIONS</vt:lpstr>
      <vt:lpstr>COMPOSITION OF FUNCTIONS</vt:lpstr>
      <vt:lpstr>COMPOSITION OF FUNCTIONS DEFINED BY ARROW DIAGRAMS</vt:lpstr>
      <vt:lpstr> </vt:lpstr>
      <vt:lpstr>EXERCISE</vt:lpstr>
      <vt:lpstr>  SOLUTION</vt:lpstr>
      <vt:lpstr>PowerPoint Presentation</vt:lpstr>
      <vt:lpstr>COMPOSITION OF FUNCTIONS DEFINED BY FORMULAS</vt:lpstr>
      <vt:lpstr>SOLUTION</vt:lpstr>
      <vt:lpstr>PowerPoint Presentation</vt:lpstr>
      <vt:lpstr>PowerPoint Presentation</vt:lpstr>
      <vt:lpstr>REMARK</vt:lpstr>
      <vt:lpstr>OPERATIONS ON FUNCTIONS</vt:lpstr>
      <vt:lpstr>SUM OF FUNCTIONS</vt:lpstr>
      <vt:lpstr>EXAMPLE</vt:lpstr>
      <vt:lpstr>DIFFERENCE OF FUNCTIONS</vt:lpstr>
      <vt:lpstr>EXAMPLE</vt:lpstr>
      <vt:lpstr>PRODUCT OF FUNCTIONS</vt:lpstr>
      <vt:lpstr>EXAMPLE</vt:lpstr>
      <vt:lpstr>QUOTIENT OF FUNCTIONS</vt:lpstr>
      <vt:lpstr>EXAMPLE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OF INFERENCE Lecture # 08</dc:title>
  <dc:creator>C &amp; M</dc:creator>
  <cp:lastModifiedBy>Dell</cp:lastModifiedBy>
  <cp:revision>208</cp:revision>
  <dcterms:created xsi:type="dcterms:W3CDTF">2013-10-15T06:26:31Z</dcterms:created>
  <dcterms:modified xsi:type="dcterms:W3CDTF">2024-11-07T08:23:09Z</dcterms:modified>
</cp:coreProperties>
</file>
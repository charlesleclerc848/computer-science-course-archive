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258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65" r:id="rId16"/>
    <p:sldId id="331" r:id="rId17"/>
    <p:sldId id="366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28" autoAdjust="0"/>
    <p:restoredTop sz="94660"/>
  </p:normalViewPr>
  <p:slideViewPr>
    <p:cSldViewPr>
      <p:cViewPr>
        <p:scale>
          <a:sx n="70" d="100"/>
          <a:sy n="70" d="100"/>
        </p:scale>
        <p:origin x="-139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4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21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INTRODUCTION TO PROOFS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18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proof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valid argument</a:t>
            </a:r>
            <a:r>
              <a:rPr lang="en-US" dirty="0" smtClean="0"/>
              <a:t> that establishes the </a:t>
            </a:r>
            <a:r>
              <a:rPr lang="en-US" dirty="0" smtClean="0">
                <a:solidFill>
                  <a:srgbClr val="C00000"/>
                </a:solidFill>
              </a:rPr>
              <a:t>truth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mathematical statement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methods we will study for building proofs are also used throughout computer science.</a:t>
            </a:r>
          </a:p>
          <a:p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 smtClean="0">
                <a:solidFill>
                  <a:srgbClr val="C00000"/>
                </a:solidFill>
              </a:rPr>
              <a:t>theorems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mathematics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implications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. The techniques of proving implications give rise to different methods of proofs.</a:t>
            </a:r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SOME TERMINOLOGY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theorem</a:t>
            </a:r>
            <a:r>
              <a:rPr lang="en-US" dirty="0" smtClean="0"/>
              <a:t> is a statement that can be shown as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Less important theorems sometimes are called </a:t>
            </a:r>
            <a:r>
              <a:rPr lang="en-US" dirty="0" smtClean="0">
                <a:solidFill>
                  <a:srgbClr val="C00000"/>
                </a:solidFill>
              </a:rPr>
              <a:t>propositions</a:t>
            </a:r>
            <a:r>
              <a:rPr lang="en-US" dirty="0" smtClean="0"/>
              <a:t> (facts or results).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 theorem may be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conditional statement</a:t>
            </a:r>
            <a:r>
              <a:rPr lang="en-US" dirty="0" smtClean="0"/>
              <a:t> with one or more </a:t>
            </a:r>
            <a:r>
              <a:rPr lang="en-US" dirty="0" smtClean="0">
                <a:solidFill>
                  <a:srgbClr val="C00000"/>
                </a:solidFill>
              </a:rPr>
              <a:t>premises</a:t>
            </a:r>
            <a:r>
              <a:rPr lang="en-US" dirty="0" smtClean="0"/>
              <a:t> and a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proof</a:t>
            </a:r>
            <a:r>
              <a:rPr lang="en-US" dirty="0" smtClean="0"/>
              <a:t> is a valid argument that establishes the truth of a theorem.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s used in proof can include </a:t>
            </a:r>
            <a:r>
              <a:rPr lang="en-US" dirty="0" smtClean="0">
                <a:solidFill>
                  <a:srgbClr val="C00000"/>
                </a:solidFill>
              </a:rPr>
              <a:t>axioms</a:t>
            </a:r>
            <a:r>
              <a:rPr lang="en-US" dirty="0" smtClean="0"/>
              <a:t> (or postulates)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 less important theorem that is helpful in the proof of other results is called a </a:t>
            </a:r>
            <a:r>
              <a:rPr lang="en-US" dirty="0" smtClean="0">
                <a:solidFill>
                  <a:srgbClr val="C00000"/>
                </a:solidFill>
              </a:rPr>
              <a:t>lemma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A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corollary </a:t>
            </a:r>
            <a:r>
              <a:rPr lang="en-US" dirty="0" smtClean="0">
                <a:sym typeface="Symbol" charset="2"/>
              </a:rPr>
              <a:t>is a theorem that can be established directly from a theorem that has been proved.</a:t>
            </a:r>
          </a:p>
          <a:p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A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conjecture </a:t>
            </a:r>
            <a:r>
              <a:rPr lang="en-US" dirty="0" smtClean="0">
                <a:sym typeface="Symbol" charset="2"/>
              </a:rPr>
              <a:t>is a statement that is being proposed to be true statement.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097" name="Group 1"/>
          <p:cNvGrpSpPr>
            <a:grpSpLocks noChangeAspect="1"/>
          </p:cNvGrpSpPr>
          <p:nvPr/>
        </p:nvGrpSpPr>
        <p:grpSpPr bwMode="auto">
          <a:xfrm>
            <a:off x="0" y="0"/>
            <a:ext cx="5641975" cy="3313113"/>
            <a:chOff x="1800" y="5046"/>
            <a:chExt cx="8885" cy="5217"/>
          </a:xfrm>
        </p:grpSpPr>
        <p:sp>
          <p:nvSpPr>
            <p:cNvPr id="132098" name="AutoShape 2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100" name="Group 4"/>
          <p:cNvGrpSpPr>
            <a:grpSpLocks noChangeAspect="1"/>
          </p:cNvGrpSpPr>
          <p:nvPr/>
        </p:nvGrpSpPr>
        <p:grpSpPr bwMode="auto">
          <a:xfrm>
            <a:off x="0" y="0"/>
            <a:ext cx="5641975" cy="3313113"/>
            <a:chOff x="1800" y="5046"/>
            <a:chExt cx="8885" cy="5217"/>
          </a:xfrm>
        </p:grpSpPr>
        <p:sp>
          <p:nvSpPr>
            <p:cNvPr id="132101" name="AutoShape 5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3" name="Line 7"/>
          <p:cNvSpPr>
            <a:spLocks noChangeShapeType="1"/>
          </p:cNvSpPr>
          <p:nvPr/>
        </p:nvSpPr>
        <p:spPr bwMode="auto">
          <a:xfrm flipV="1">
            <a:off x="2774950" y="1930400"/>
            <a:ext cx="3001963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2784475" y="19558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>
            <a:off x="5776913" y="19304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4741862" y="2274887"/>
            <a:ext cx="1887537" cy="465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INDIRECT PROOF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1905000" y="2344737"/>
            <a:ext cx="1711325" cy="85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DIRECT PROOF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p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sym typeface="Symbol" pitchFamily="18" charset="2"/>
              </a:rPr>
              <a:t>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q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</a:endParaRPr>
          </a:p>
        </p:txBody>
      </p:sp>
      <p:sp>
        <p:nvSpPr>
          <p:cNvPr id="132108" name="Line 12"/>
          <p:cNvSpPr>
            <a:spLocks noChangeShapeType="1"/>
          </p:cNvSpPr>
          <p:nvPr/>
        </p:nvSpPr>
        <p:spPr bwMode="auto">
          <a:xfrm>
            <a:off x="4413250" y="3046412"/>
            <a:ext cx="24844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9" name="Line 13"/>
          <p:cNvSpPr>
            <a:spLocks noChangeShapeType="1"/>
          </p:cNvSpPr>
          <p:nvPr/>
        </p:nvSpPr>
        <p:spPr bwMode="auto">
          <a:xfrm>
            <a:off x="4413250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0" name="Line 14"/>
          <p:cNvSpPr>
            <a:spLocks noChangeShapeType="1"/>
          </p:cNvSpPr>
          <p:nvPr/>
        </p:nvSpPr>
        <p:spPr bwMode="auto">
          <a:xfrm>
            <a:off x="6897688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3443748" y="3408823"/>
            <a:ext cx="1981200" cy="1254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PROOF BY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CONTRAPOSITION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p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sym typeface="Symbol" pitchFamily="18" charset="2"/>
              </a:rPr>
              <a:t>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q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sym typeface="Symbol" pitchFamily="18" charset="2"/>
              </a:rPr>
              <a:t>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Gill Sans MT" pitchFamily="34" charset="0"/>
              </a:rPr>
              <a:t>~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q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b="1" dirty="0" smtClean="0">
                <a:solidFill>
                  <a:srgbClr val="C00000"/>
                </a:solidFill>
                <a:latin typeface="Gill Sans MT" pitchFamily="34" charset="0"/>
              </a:rPr>
              <a:t>~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</a:rPr>
              <a:t>p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</a:endParaRPr>
          </a:p>
        </p:txBody>
      </p:sp>
      <p:sp>
        <p:nvSpPr>
          <p:cNvPr id="132112" name="Rectangle 16"/>
          <p:cNvSpPr>
            <a:spLocks noChangeArrowheads="1"/>
          </p:cNvSpPr>
          <p:nvPr/>
        </p:nvSpPr>
        <p:spPr bwMode="auto">
          <a:xfrm>
            <a:off x="5914565" y="3408823"/>
            <a:ext cx="2086435" cy="1406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0000"/>
                </a:solidFill>
                <a:latin typeface="Calibri" pitchFamily="34" charset="0"/>
              </a:rPr>
              <a:t>PROOF BY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000000"/>
                </a:solidFill>
                <a:latin typeface="Calibri" pitchFamily="34" charset="0"/>
              </a:rPr>
              <a:t>CONTRADICTION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p 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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q 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 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(p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</a:t>
            </a:r>
            <a:r>
              <a:rPr lang="en-US" b="1" dirty="0" smtClean="0">
                <a:solidFill>
                  <a:srgbClr val="C00000"/>
                </a:solidFill>
                <a:latin typeface="Gill Sans MT" pitchFamily="34" charset="0"/>
              </a:rPr>
              <a:t>~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q) 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 </a:t>
            </a:r>
            <a:r>
              <a:rPr lang="en-US" b="1" dirty="0" smtClean="0">
                <a:solidFill>
                  <a:srgbClr val="C00000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132113" name="Line 17"/>
          <p:cNvSpPr>
            <a:spLocks noChangeShapeType="1"/>
          </p:cNvSpPr>
          <p:nvPr/>
        </p:nvSpPr>
        <p:spPr bwMode="auto">
          <a:xfrm>
            <a:off x="4397375" y="1600200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5776913" y="2759075"/>
            <a:ext cx="0" cy="276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2819400" y="1125792"/>
            <a:ext cx="30480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400" b="1" u="sng" dirty="0" smtClean="0">
                <a:solidFill>
                  <a:srgbClr val="FF0000"/>
                </a:solidFill>
                <a:latin typeface="Calibri" pitchFamily="34" charset="0"/>
              </a:rPr>
              <a:t>METHODS OF </a:t>
            </a: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</a:rPr>
              <a:t> PROOF</a:t>
            </a:r>
            <a:endParaRPr kumimoji="0" lang="en-US" sz="2400" b="1" i="0" u="sng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DIRECT PROOF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implication 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can be proved by showing that if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must also be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This shows that the combination </a:t>
            </a:r>
            <a:r>
              <a:rPr lang="en-US" dirty="0" smtClean="0">
                <a:solidFill>
                  <a:srgbClr val="C00000"/>
                </a:solidFill>
              </a:rPr>
              <a:t>p true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 false</a:t>
            </a:r>
            <a:r>
              <a:rPr lang="en-US" dirty="0" smtClean="0"/>
              <a:t> never </a:t>
            </a:r>
            <a:r>
              <a:rPr lang="en-US" dirty="0" smtClean="0">
                <a:solidFill>
                  <a:srgbClr val="C00000"/>
                </a:solidFill>
              </a:rPr>
              <a:t>occurs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 proof of this kind is called a </a:t>
            </a:r>
            <a:r>
              <a:rPr lang="en-US" dirty="0" smtClean="0">
                <a:solidFill>
                  <a:srgbClr val="C00000"/>
                </a:solidFill>
              </a:rPr>
              <a:t>direct proof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SOME BASICS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C00000"/>
                </a:solidFill>
              </a:rPr>
              <a:t>integer n </a:t>
            </a:r>
            <a:r>
              <a:rPr lang="en-US" dirty="0" smtClean="0"/>
              <a:t>is</a:t>
            </a:r>
            <a:r>
              <a:rPr lang="en-US" dirty="0" smtClean="0">
                <a:solidFill>
                  <a:srgbClr val="C00000"/>
                </a:solidFill>
              </a:rPr>
              <a:t> even</a:t>
            </a:r>
            <a:r>
              <a:rPr lang="en-US" dirty="0" smtClean="0"/>
              <a:t> if, and only if, </a:t>
            </a:r>
            <a:r>
              <a:rPr lang="en-US" dirty="0" smtClean="0">
                <a:solidFill>
                  <a:srgbClr val="C00000"/>
                </a:solidFill>
              </a:rPr>
              <a:t>n = 2k</a:t>
            </a:r>
            <a:r>
              <a:rPr lang="en-US" dirty="0" smtClean="0"/>
              <a:t> for some integer k.</a:t>
            </a:r>
          </a:p>
          <a:p>
            <a:endParaRPr lang="en-US" dirty="0" smtClean="0"/>
          </a:p>
          <a:p>
            <a:r>
              <a:rPr lang="en-US" dirty="0" smtClean="0"/>
              <a:t> An </a:t>
            </a:r>
            <a:r>
              <a:rPr lang="en-US" dirty="0" smtClean="0">
                <a:solidFill>
                  <a:srgbClr val="C00000"/>
                </a:solidFill>
              </a:rPr>
              <a:t>integer n </a:t>
            </a:r>
            <a:r>
              <a:rPr lang="en-US" dirty="0" smtClean="0"/>
              <a:t>is</a:t>
            </a:r>
            <a:r>
              <a:rPr lang="en-US" dirty="0" smtClean="0">
                <a:solidFill>
                  <a:srgbClr val="C00000"/>
                </a:solidFill>
              </a:rPr>
              <a:t> odd</a:t>
            </a:r>
            <a:r>
              <a:rPr lang="en-US" dirty="0" smtClean="0"/>
              <a:t> if, and only if, </a:t>
            </a:r>
            <a:r>
              <a:rPr lang="en-US" dirty="0" smtClean="0">
                <a:solidFill>
                  <a:srgbClr val="C00000"/>
                </a:solidFill>
              </a:rPr>
              <a:t>n = 2k + 1</a:t>
            </a:r>
            <a:r>
              <a:rPr lang="en-US" dirty="0" smtClean="0"/>
              <a:t> for some integer k.</a:t>
            </a:r>
          </a:p>
          <a:p>
            <a:endParaRPr lang="en-US" dirty="0" smtClean="0"/>
          </a:p>
          <a:p>
            <a:r>
              <a:rPr lang="en-US" dirty="0" smtClean="0"/>
              <a:t> An </a:t>
            </a:r>
            <a:r>
              <a:rPr lang="en-US" dirty="0" smtClean="0">
                <a:solidFill>
                  <a:srgbClr val="C00000"/>
                </a:solidFill>
              </a:rPr>
              <a:t>integer n </a:t>
            </a:r>
            <a:r>
              <a:rPr lang="en-US" dirty="0" smtClean="0"/>
              <a:t>is</a:t>
            </a:r>
            <a:r>
              <a:rPr lang="en-US" dirty="0" smtClean="0">
                <a:solidFill>
                  <a:srgbClr val="C00000"/>
                </a:solidFill>
              </a:rPr>
              <a:t> prime</a:t>
            </a:r>
            <a:r>
              <a:rPr lang="en-US" dirty="0" smtClean="0"/>
              <a:t> if, and only if, n &gt; 1 and for </a:t>
            </a:r>
            <a:r>
              <a:rPr lang="en-US" dirty="0" smtClean="0">
                <a:solidFill>
                  <a:srgbClr val="C00000"/>
                </a:solidFill>
              </a:rPr>
              <a:t>all</a:t>
            </a:r>
            <a:r>
              <a:rPr lang="en-US" dirty="0" smtClean="0"/>
              <a:t> positive </a:t>
            </a:r>
            <a:r>
              <a:rPr lang="en-US" dirty="0" smtClean="0">
                <a:solidFill>
                  <a:srgbClr val="C00000"/>
                </a:solidFill>
              </a:rPr>
              <a:t>integers r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s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C00000"/>
                </a:solidFill>
              </a:rPr>
              <a:t>n = </a:t>
            </a:r>
            <a:r>
              <a:rPr lang="en-US" dirty="0" err="1" smtClean="0">
                <a:solidFill>
                  <a:srgbClr val="C00000"/>
                </a:solidFill>
              </a:rPr>
              <a:t>r.s</a:t>
            </a:r>
            <a:r>
              <a:rPr lang="en-US" dirty="0" smtClean="0"/>
              <a:t>, then r = 1 or s = 1.</a:t>
            </a:r>
          </a:p>
          <a:p>
            <a:endParaRPr lang="en-US" dirty="0" smtClean="0"/>
          </a:p>
          <a:p>
            <a:r>
              <a:rPr lang="en-US" dirty="0" smtClean="0"/>
              <a:t>An integer </a:t>
            </a:r>
            <a:r>
              <a:rPr lang="en-US" dirty="0" smtClean="0">
                <a:solidFill>
                  <a:srgbClr val="C00000"/>
                </a:solidFill>
              </a:rPr>
              <a:t>n &gt; 1 </a:t>
            </a:r>
            <a:r>
              <a:rPr lang="en-US" dirty="0" smtClean="0"/>
              <a:t>is</a:t>
            </a:r>
            <a:r>
              <a:rPr lang="en-US" dirty="0" smtClean="0">
                <a:solidFill>
                  <a:srgbClr val="C00000"/>
                </a:solidFill>
              </a:rPr>
              <a:t> composite</a:t>
            </a:r>
            <a:r>
              <a:rPr lang="en-US" dirty="0" smtClean="0"/>
              <a:t> if, and only if, </a:t>
            </a:r>
            <a:r>
              <a:rPr lang="en-US" dirty="0" smtClean="0">
                <a:solidFill>
                  <a:srgbClr val="C00000"/>
                </a:solidFill>
              </a:rPr>
              <a:t>n = </a:t>
            </a:r>
            <a:r>
              <a:rPr lang="en-US" dirty="0" err="1" smtClean="0">
                <a:solidFill>
                  <a:srgbClr val="C00000"/>
                </a:solidFill>
              </a:rPr>
              <a:t>r.s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C00000"/>
                </a:solidFill>
              </a:rPr>
              <a:t>some</a:t>
            </a:r>
            <a:r>
              <a:rPr lang="en-US" dirty="0" smtClean="0"/>
              <a:t> positive </a:t>
            </a:r>
            <a:r>
              <a:rPr lang="en-US" dirty="0" smtClean="0">
                <a:solidFill>
                  <a:srgbClr val="C00000"/>
                </a:solidFill>
              </a:rPr>
              <a:t>integers r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s</a:t>
            </a:r>
            <a:r>
              <a:rPr lang="en-US" dirty="0" smtClean="0"/>
              <a:t> with r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1 and s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1.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real number r is rational</a:t>
            </a:r>
            <a:r>
              <a:rPr lang="en-US" dirty="0" smtClean="0"/>
              <a:t> if, and only if, </a:t>
            </a:r>
            <a:r>
              <a:rPr lang="en-US" dirty="0" smtClean="0">
                <a:solidFill>
                  <a:srgbClr val="C00000"/>
                </a:solidFill>
              </a:rPr>
              <a:t>r =</a:t>
            </a:r>
            <a:r>
              <a:rPr lang="en-US" dirty="0" smtClean="0"/>
              <a:t>     for </a:t>
            </a:r>
            <a:r>
              <a:rPr lang="en-US" dirty="0" smtClean="0">
                <a:solidFill>
                  <a:srgbClr val="C00000"/>
                </a:solidFill>
              </a:rPr>
              <a:t>some</a:t>
            </a:r>
            <a:r>
              <a:rPr lang="en-US" dirty="0" smtClean="0"/>
              <a:t> integers a and b with b </a:t>
            </a:r>
            <a:r>
              <a:rPr lang="en-US" dirty="0" smtClean="0">
                <a:sym typeface="Symbol"/>
              </a:rPr>
              <a:t> </a:t>
            </a:r>
            <a:r>
              <a:rPr lang="en-US" dirty="0" smtClean="0"/>
              <a:t>0.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C00000"/>
                </a:solidFill>
              </a:rPr>
              <a:t>d divides n</a:t>
            </a:r>
            <a:r>
              <a:rPr lang="en-US" dirty="0" smtClean="0"/>
              <a:t>, written </a:t>
            </a:r>
            <a:r>
              <a:rPr lang="en-US" dirty="0" err="1" smtClean="0">
                <a:solidFill>
                  <a:srgbClr val="C00000"/>
                </a:solidFill>
              </a:rPr>
              <a:t>d|n</a:t>
            </a:r>
            <a:r>
              <a:rPr lang="en-US" dirty="0" smtClean="0"/>
              <a:t> if, and only if, </a:t>
            </a:r>
            <a:r>
              <a:rPr lang="en-US" dirty="0" smtClean="0">
                <a:solidFill>
                  <a:srgbClr val="C00000"/>
                </a:solidFill>
              </a:rPr>
              <a:t>n = </a:t>
            </a:r>
            <a:r>
              <a:rPr lang="en-US" dirty="0" err="1" smtClean="0">
                <a:solidFill>
                  <a:srgbClr val="C00000"/>
                </a:solidFill>
              </a:rPr>
              <a:t>d.k</a:t>
            </a:r>
            <a:r>
              <a:rPr lang="en-US" dirty="0" smtClean="0"/>
              <a:t> for some integers k.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C00000"/>
                </a:solidFill>
              </a:rPr>
              <a:t>integer n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C00000"/>
                </a:solidFill>
              </a:rPr>
              <a:t>perfect square</a:t>
            </a:r>
            <a:r>
              <a:rPr lang="en-US" dirty="0" smtClean="0"/>
              <a:t>, if and only if, </a:t>
            </a:r>
            <a:r>
              <a:rPr lang="en-US" dirty="0" smtClean="0">
                <a:solidFill>
                  <a:srgbClr val="C00000"/>
                </a:solidFill>
              </a:rPr>
              <a:t>n = 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for some integer k.</a:t>
            </a:r>
          </a:p>
          <a:p>
            <a:endParaRPr lang="en-US" dirty="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6433" name="Object 1"/>
          <p:cNvGraphicFramePr>
            <a:graphicFrameLocks noChangeAspect="1"/>
          </p:cNvGraphicFramePr>
          <p:nvPr/>
        </p:nvGraphicFramePr>
        <p:xfrm>
          <a:off x="6725528" y="1066799"/>
          <a:ext cx="323087" cy="807717"/>
        </p:xfrm>
        <a:graphic>
          <a:graphicData uri="http://schemas.openxmlformats.org/presentationml/2006/ole">
            <p:oleObj spid="_x0000_s146433" r:id="rId3" imgW="152334" imgH="39352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that the sum of two odd integers is even.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be </a:t>
            </a:r>
            <a:r>
              <a:rPr lang="en-US" dirty="0" smtClean="0">
                <a:solidFill>
                  <a:srgbClr val="C00000"/>
                </a:solidFill>
              </a:rPr>
              <a:t>two odd integers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Then by definition of </a:t>
            </a:r>
            <a:r>
              <a:rPr lang="en-US" dirty="0" smtClean="0">
                <a:solidFill>
                  <a:srgbClr val="C00000"/>
                </a:solidFill>
              </a:rPr>
              <a:t>odd numbers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m = 2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	for some 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2</a:t>
            </a:r>
            <a:r>
              <a:rPr lang="en-US" i="1" dirty="0" smtClean="0">
                <a:solidFill>
                  <a:srgbClr val="C00000"/>
                </a:solidFill>
              </a:rPr>
              <a:t>l </a:t>
            </a:r>
            <a:r>
              <a:rPr lang="en-US" dirty="0" smtClean="0">
                <a:solidFill>
                  <a:srgbClr val="C00000"/>
                </a:solidFill>
              </a:rPr>
              <a:t>+ 1</a:t>
            </a:r>
            <a:r>
              <a:rPr lang="en-US" dirty="0" smtClean="0"/>
              <a:t>	for some </a:t>
            </a:r>
            <a:r>
              <a:rPr lang="en-US" i="1" dirty="0" smtClean="0"/>
              <a:t>l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Now,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m + n 	= (2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+ 1) + (2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=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+ 2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+ 2</a:t>
            </a:r>
          </a:p>
          <a:p>
            <a:pPr>
              <a:buNone/>
            </a:pPr>
            <a:r>
              <a:rPr lang="en-US" dirty="0" smtClean="0"/>
              <a:t>		= </a:t>
            </a:r>
            <a:r>
              <a:rPr lang="en-US" dirty="0" smtClean="0">
                <a:solidFill>
                  <a:srgbClr val="C00000"/>
                </a:solidFill>
              </a:rPr>
              <a:t>2 (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+ 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en-US" dirty="0" smtClean="0"/>
              <a:t>		= </a:t>
            </a:r>
            <a:r>
              <a:rPr lang="en-US" dirty="0" smtClean="0">
                <a:solidFill>
                  <a:srgbClr val="C00000"/>
                </a:solidFill>
              </a:rPr>
              <a:t>2r</a:t>
            </a: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/>
              <a:t>		where,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r = (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+ 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+ 1)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Z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Hence </a:t>
            </a:r>
            <a:r>
              <a:rPr lang="en-US" dirty="0" smtClean="0">
                <a:solidFill>
                  <a:srgbClr val="C00000"/>
                </a:solidFill>
              </a:rPr>
              <a:t>m + n is even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that if n is any even integer, then (-1)</a:t>
            </a:r>
            <a:r>
              <a:rPr lang="en-US" baseline="30000" dirty="0" smtClean="0"/>
              <a:t>n</a:t>
            </a:r>
            <a:r>
              <a:rPr lang="en-US" dirty="0" smtClean="0"/>
              <a:t> = 1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even integer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Then </a:t>
            </a:r>
            <a:r>
              <a:rPr lang="en-US" dirty="0" smtClean="0">
                <a:solidFill>
                  <a:srgbClr val="C00000"/>
                </a:solidFill>
              </a:rPr>
              <a:t>n = 2k</a:t>
            </a:r>
            <a:r>
              <a:rPr lang="en-US" dirty="0" smtClean="0"/>
              <a:t> for some integer k.</a:t>
            </a:r>
          </a:p>
          <a:p>
            <a:pPr>
              <a:buNone/>
            </a:pPr>
            <a:r>
              <a:rPr lang="en-US" dirty="0" smtClean="0"/>
              <a:t>	Now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(-1)</a:t>
            </a:r>
            <a:r>
              <a:rPr lang="en-US" baseline="30000" dirty="0" smtClean="0">
                <a:solidFill>
                  <a:srgbClr val="C00000"/>
                </a:solidFill>
              </a:rPr>
              <a:t> n </a:t>
            </a:r>
            <a:r>
              <a:rPr lang="en-US" dirty="0" smtClean="0">
                <a:solidFill>
                  <a:srgbClr val="C00000"/>
                </a:solidFill>
              </a:rPr>
              <a:t>= (-1)</a:t>
            </a:r>
            <a:r>
              <a:rPr lang="en-US" baseline="30000" dirty="0" smtClean="0">
                <a:solidFill>
                  <a:srgbClr val="C00000"/>
                </a:solidFill>
              </a:rPr>
              <a:t>2k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        = </a:t>
            </a:r>
            <a:r>
              <a:rPr lang="en-US" dirty="0" smtClean="0">
                <a:solidFill>
                  <a:srgbClr val="C00000"/>
                </a:solidFill>
              </a:rPr>
              <a:t>[(-1)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        = </a:t>
            </a:r>
            <a:r>
              <a:rPr lang="en-US" dirty="0" smtClean="0">
                <a:solidFill>
                  <a:srgbClr val="C00000"/>
                </a:solidFill>
              </a:rPr>
              <a:t>(1)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       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		(proved)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that the product of an even integer and an odd integer is even.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even integer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odd integer</a:t>
            </a:r>
            <a:r>
              <a:rPr lang="en-US" dirty="0" smtClean="0"/>
              <a:t>.  Then,</a:t>
            </a:r>
          </a:p>
          <a:p>
            <a:pPr>
              <a:buNone/>
            </a:pPr>
            <a:r>
              <a:rPr lang="en-US" dirty="0" smtClean="0"/>
              <a:t>		     </a:t>
            </a:r>
            <a:r>
              <a:rPr lang="en-US" dirty="0" smtClean="0">
                <a:solidFill>
                  <a:srgbClr val="C00000"/>
                </a:solidFill>
              </a:rPr>
              <a:t>m = 2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		for some integer </a:t>
            </a:r>
            <a:r>
              <a:rPr lang="en-US" i="1" dirty="0" smtClean="0"/>
              <a:t>k</a:t>
            </a:r>
          </a:p>
          <a:p>
            <a:pPr>
              <a:buNone/>
            </a:pPr>
            <a:r>
              <a:rPr lang="en-US" dirty="0" smtClean="0"/>
              <a:t>	 and      </a:t>
            </a:r>
            <a:r>
              <a:rPr lang="en-US" dirty="0" smtClean="0">
                <a:solidFill>
                  <a:srgbClr val="C00000"/>
                </a:solidFill>
              </a:rPr>
              <a:t>n = 2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		for some integer </a:t>
            </a:r>
            <a:r>
              <a:rPr lang="en-US" i="1" dirty="0" smtClean="0"/>
              <a:t>l</a:t>
            </a:r>
          </a:p>
          <a:p>
            <a:pPr>
              <a:buNone/>
            </a:pPr>
            <a:r>
              <a:rPr lang="en-US" dirty="0" smtClean="0"/>
              <a:t>	Now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>
                <a:solidFill>
                  <a:srgbClr val="C00000"/>
                </a:solidFill>
              </a:rPr>
              <a:t>m.n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. (2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en-US" dirty="0" smtClean="0"/>
              <a:t>		      = </a:t>
            </a:r>
            <a:r>
              <a:rPr lang="en-US" dirty="0" smtClean="0">
                <a:solidFill>
                  <a:srgbClr val="C00000"/>
                </a:solidFill>
              </a:rPr>
              <a:t>2.</a:t>
            </a:r>
            <a:r>
              <a:rPr lang="en-US" i="1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(2</a:t>
            </a:r>
            <a:r>
              <a:rPr lang="en-US" i="1" dirty="0" smtClean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en-US" dirty="0" smtClean="0"/>
              <a:t>		      = </a:t>
            </a:r>
            <a:r>
              <a:rPr lang="en-US" dirty="0" smtClean="0">
                <a:solidFill>
                  <a:srgbClr val="C00000"/>
                </a:solidFill>
              </a:rPr>
              <a:t>2.r</a:t>
            </a:r>
            <a:r>
              <a:rPr lang="en-US" dirty="0" smtClean="0"/>
              <a:t>	where r = </a:t>
            </a:r>
            <a:r>
              <a:rPr lang="en-US" i="1" dirty="0" smtClean="0"/>
              <a:t>k</a:t>
            </a:r>
            <a:r>
              <a:rPr lang="en-US" dirty="0" smtClean="0"/>
              <a:t>(2</a:t>
            </a:r>
            <a:r>
              <a:rPr lang="en-US" i="1" dirty="0" smtClean="0"/>
              <a:t>l</a:t>
            </a:r>
            <a:r>
              <a:rPr lang="en-US" dirty="0" smtClean="0"/>
              <a:t> + 1) is an integer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err="1" smtClean="0">
                <a:solidFill>
                  <a:srgbClr val="C00000"/>
                </a:solidFill>
              </a:rPr>
              <a:t>m.n</a:t>
            </a:r>
            <a:r>
              <a:rPr lang="en-US" dirty="0" smtClean="0">
                <a:solidFill>
                  <a:srgbClr val="C00000"/>
                </a:solidFill>
              </a:rPr>
              <a:t> is even</a:t>
            </a:r>
            <a:r>
              <a:rPr lang="en-US" dirty="0" smtClean="0"/>
              <a:t>.		(Proved)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Prove that the square of an even integer is even.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even integer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Then </a:t>
            </a:r>
            <a:r>
              <a:rPr lang="en-US" dirty="0" smtClean="0">
                <a:solidFill>
                  <a:srgbClr val="C00000"/>
                </a:solidFill>
              </a:rPr>
              <a:t>n = 2k</a:t>
            </a:r>
          </a:p>
          <a:p>
            <a:pPr>
              <a:buNone/>
            </a:pPr>
            <a:r>
              <a:rPr lang="en-US" dirty="0" smtClean="0"/>
              <a:t>	Now, </a:t>
            </a:r>
          </a:p>
          <a:p>
            <a:pPr>
              <a:buNone/>
            </a:pPr>
            <a:r>
              <a:rPr lang="en-US" dirty="0" smtClean="0"/>
              <a:t>		 square of n =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= (2.k)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baseline="30000" dirty="0" smtClean="0"/>
              <a:t>	      </a:t>
            </a:r>
            <a:r>
              <a:rPr lang="en-US" dirty="0" smtClean="0"/>
              <a:t>                           = </a:t>
            </a:r>
            <a:r>
              <a:rPr lang="en-US" dirty="0" smtClean="0">
                <a:solidFill>
                  <a:srgbClr val="C00000"/>
                </a:solidFill>
              </a:rPr>
              <a:t>4k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    = </a:t>
            </a:r>
            <a:r>
              <a:rPr lang="en-US" dirty="0" smtClean="0">
                <a:solidFill>
                  <a:srgbClr val="C00000"/>
                </a:solidFill>
              </a:rPr>
              <a:t>2.(2k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	    = </a:t>
            </a:r>
            <a:r>
              <a:rPr lang="en-US" dirty="0" smtClean="0">
                <a:solidFill>
                  <a:srgbClr val="C00000"/>
                </a:solidFill>
              </a:rPr>
              <a:t>2.p</a:t>
            </a:r>
            <a:r>
              <a:rPr lang="en-US" dirty="0" smtClean="0"/>
              <a:t> 	where, p = 2k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	Hence,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is even</a:t>
            </a:r>
            <a:r>
              <a:rPr lang="en-US" dirty="0" smtClean="0"/>
              <a:t>.                   (proved)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Prove that if n is an odd integer, then n</a:t>
            </a:r>
            <a:r>
              <a:rPr lang="en-US" baseline="30000" dirty="0" smtClean="0"/>
              <a:t>3</a:t>
            </a:r>
            <a:r>
              <a:rPr lang="en-US" dirty="0" smtClean="0"/>
              <a:t> + n is even.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be an </a:t>
            </a:r>
            <a:r>
              <a:rPr lang="en-US" dirty="0" smtClean="0">
                <a:solidFill>
                  <a:srgbClr val="C00000"/>
                </a:solidFill>
              </a:rPr>
              <a:t>odd integer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then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2k + 1</a:t>
            </a:r>
            <a:r>
              <a:rPr lang="en-US" dirty="0" smtClean="0"/>
              <a:t> for some k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Now,</a:t>
            </a:r>
          </a:p>
          <a:p>
            <a:pPr>
              <a:buNone/>
            </a:pPr>
            <a:r>
              <a:rPr lang="pt-BR" dirty="0" smtClean="0"/>
              <a:t>		 	  </a:t>
            </a:r>
            <a:r>
              <a:rPr lang="pt-BR" dirty="0" smtClean="0">
                <a:solidFill>
                  <a:srgbClr val="C00000"/>
                </a:solidFill>
              </a:rPr>
              <a:t>n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n = n (n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pt-BR" dirty="0" smtClean="0"/>
              <a:t>	       		  = </a:t>
            </a:r>
            <a:r>
              <a:rPr lang="pt-BR" dirty="0" smtClean="0">
                <a:solidFill>
                  <a:srgbClr val="C00000"/>
                </a:solidFill>
              </a:rPr>
              <a:t>(2k + 1) ((2k+1)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          	    	  = </a:t>
            </a:r>
            <a:r>
              <a:rPr lang="pt-BR" dirty="0" smtClean="0">
                <a:solidFill>
                  <a:srgbClr val="C00000"/>
                </a:solidFill>
              </a:rPr>
              <a:t>(2k + 1) (4k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+ 4k + 1 + 1)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		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(2k + 1) (4k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+ 4k + 2)</a:t>
            </a:r>
          </a:p>
          <a:p>
            <a:pPr>
              <a:buNone/>
            </a:pPr>
            <a:r>
              <a:rPr lang="en-US" dirty="0" smtClean="0"/>
              <a:t>			          = </a:t>
            </a:r>
            <a:r>
              <a:rPr lang="en-US" dirty="0" smtClean="0">
                <a:solidFill>
                  <a:srgbClr val="C00000"/>
                </a:solidFill>
              </a:rPr>
              <a:t>(2k + 1) 2.(2k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+ 2k + 1)</a:t>
            </a:r>
          </a:p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2.(2k + 1) 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+ 2k + 1)</a:t>
            </a:r>
            <a:r>
              <a:rPr lang="en-US" dirty="0" smtClean="0"/>
              <a:t>	 k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an even integer</a:t>
            </a:r>
            <a:r>
              <a:rPr lang="en-US" dirty="0" smtClean="0"/>
              <a:t>		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Prove that, if the sum of any two integers is even, then so is their difference.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 that </a:t>
            </a:r>
            <a:r>
              <a:rPr lang="en-US" dirty="0" smtClean="0">
                <a:solidFill>
                  <a:srgbClr val="C00000"/>
                </a:solidFill>
              </a:rPr>
              <a:t>m + 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Then by definition of even numbers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m + n = 2k</a:t>
            </a:r>
            <a:r>
              <a:rPr lang="en-US" dirty="0" smtClean="0"/>
              <a:t> 		for some integer k</a:t>
            </a:r>
          </a:p>
          <a:p>
            <a:pPr>
              <a:buNone/>
            </a:pPr>
            <a:r>
              <a:rPr lang="en-US" dirty="0" smtClean="0"/>
              <a:t>   	        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   </a:t>
            </a:r>
            <a:r>
              <a:rPr lang="pt-BR" dirty="0" smtClean="0">
                <a:solidFill>
                  <a:srgbClr val="C00000"/>
                </a:solidFill>
              </a:rPr>
              <a:t>m = 2k - n</a:t>
            </a:r>
            <a:r>
              <a:rPr lang="pt-BR" dirty="0" smtClean="0"/>
              <a:t>  ……………….(1)</a:t>
            </a:r>
          </a:p>
          <a:p>
            <a:pPr>
              <a:buNone/>
            </a:pPr>
            <a:r>
              <a:rPr lang="pt-BR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	 Now, 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m - n	= (2k - n) - n</a:t>
            </a:r>
            <a:r>
              <a:rPr lang="pt-BR" dirty="0" smtClean="0"/>
              <a:t>	      using (1)</a:t>
            </a:r>
          </a:p>
          <a:p>
            <a:pPr>
              <a:buNone/>
            </a:pPr>
            <a:r>
              <a:rPr lang="pt-BR" dirty="0" smtClean="0"/>
              <a:t>				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2k - 2n</a:t>
            </a:r>
          </a:p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2(k - n)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2r</a:t>
            </a:r>
            <a:r>
              <a:rPr lang="en-US" dirty="0" smtClean="0"/>
              <a:t>      </a:t>
            </a:r>
          </a:p>
          <a:p>
            <a:pPr>
              <a:buNone/>
            </a:pPr>
            <a:r>
              <a:rPr lang="en-US" dirty="0" smtClean="0"/>
              <a:t>	where, </a:t>
            </a:r>
          </a:p>
          <a:p>
            <a:pPr>
              <a:buNone/>
            </a:pPr>
            <a:r>
              <a:rPr lang="en-US" dirty="0" smtClean="0"/>
              <a:t>			r = k - n is an integer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smtClean="0">
                <a:solidFill>
                  <a:srgbClr val="C00000"/>
                </a:solidFill>
              </a:rPr>
              <a:t>m - 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that the sum of any two rational numbers is rational.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rational numbers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Then by definition of rational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and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for some integers a, b, c, d with b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0 and d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0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2286000" y="3935728"/>
          <a:ext cx="838200" cy="674913"/>
        </p:xfrm>
        <a:graphic>
          <a:graphicData uri="http://schemas.openxmlformats.org/presentationml/2006/ole">
            <p:oleObj spid="_x0000_s138242" name="Equation" r:id="rId3" imgW="380880" imgH="393480" progId="Equation.3">
              <p:embed/>
            </p:oleObj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3921455" y="3897244"/>
          <a:ext cx="787856" cy="723660"/>
        </p:xfrm>
        <a:graphic>
          <a:graphicData uri="http://schemas.openxmlformats.org/presentationml/2006/ole">
            <p:oleObj spid="_x0000_s138244" name="Equation" r:id="rId4" imgW="38088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Now,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where,</a:t>
            </a:r>
          </a:p>
          <a:p>
            <a:pPr>
              <a:buNone/>
            </a:pPr>
            <a:r>
              <a:rPr lang="en-US" dirty="0" smtClean="0"/>
              <a:t>			 p = ad + </a:t>
            </a:r>
            <a:r>
              <a:rPr lang="en-US" dirty="0" err="1" smtClean="0"/>
              <a:t>bc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Z   and  q = </a:t>
            </a:r>
            <a:r>
              <a:rPr lang="en-US" dirty="0" err="1" smtClean="0"/>
              <a:t>bd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		 and q </a:t>
            </a:r>
            <a:r>
              <a:rPr lang="en-US" dirty="0" smtClean="0">
                <a:sym typeface="Symbol"/>
              </a:rPr>
              <a:t> </a:t>
            </a:r>
            <a:r>
              <a:rPr lang="en-US" dirty="0" smtClean="0"/>
              <a:t>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Hence </a:t>
            </a:r>
            <a:r>
              <a:rPr lang="en-US" dirty="0" smtClean="0">
                <a:solidFill>
                  <a:srgbClr val="C00000"/>
                </a:solidFill>
              </a:rPr>
              <a:t>r + s is rational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2628899" y="1295400"/>
          <a:ext cx="2800210" cy="2362200"/>
        </p:xfrm>
        <a:graphic>
          <a:graphicData uri="http://schemas.openxmlformats.org/presentationml/2006/ole">
            <p:oleObj spid="_x0000_s139266" name="Equation" r:id="rId3" imgW="1104840" imgH="12571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Given any two distinct rational numbers r and s with</a:t>
            </a:r>
          </a:p>
          <a:p>
            <a:pPr>
              <a:buNone/>
            </a:pPr>
            <a:r>
              <a:rPr lang="en-US" dirty="0" smtClean="0"/>
              <a:t>	 r &lt; s. Prove that there is a rational number x such that</a:t>
            </a:r>
          </a:p>
          <a:p>
            <a:pPr>
              <a:buNone/>
            </a:pPr>
            <a:r>
              <a:rPr lang="en-US" dirty="0" smtClean="0"/>
              <a:t>	 r &lt; x &lt; s.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 Given </a:t>
            </a:r>
            <a:r>
              <a:rPr lang="en-US" dirty="0" smtClean="0">
                <a:solidFill>
                  <a:srgbClr val="C00000"/>
                </a:solidFill>
              </a:rPr>
              <a:t>two distinct</a:t>
            </a:r>
            <a:r>
              <a:rPr lang="en-US" dirty="0" smtClean="0"/>
              <a:t> rational numbers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such that </a:t>
            </a:r>
          </a:p>
          <a:p>
            <a:pPr>
              <a:buNone/>
            </a:pPr>
            <a:r>
              <a:rPr lang="en-US" dirty="0" smtClean="0"/>
              <a:t>	  		</a:t>
            </a:r>
            <a:r>
              <a:rPr lang="en-US" dirty="0" smtClean="0">
                <a:solidFill>
                  <a:srgbClr val="C00000"/>
                </a:solidFill>
              </a:rPr>
              <a:t>r &lt; s</a:t>
            </a:r>
            <a:r>
              <a:rPr lang="en-US" dirty="0" smtClean="0"/>
              <a:t>             ………………….(1)</a:t>
            </a:r>
          </a:p>
          <a:p>
            <a:pPr>
              <a:buNone/>
            </a:pPr>
            <a:r>
              <a:rPr lang="en-US" dirty="0" smtClean="0"/>
              <a:t>	 Adding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both sides of (1), we get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r + r &lt; r + s</a:t>
            </a:r>
          </a:p>
          <a:p>
            <a:pPr>
              <a:buNone/>
            </a:pPr>
            <a:r>
              <a:rPr lang="en-US" dirty="0" smtClean="0"/>
              <a:t>			     </a:t>
            </a:r>
            <a:r>
              <a:rPr lang="en-US" dirty="0" smtClean="0">
                <a:solidFill>
                  <a:srgbClr val="C00000"/>
                </a:solidFill>
              </a:rPr>
              <a:t>2r &lt; r + s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				………….(2)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/>
        </p:nvGraphicFramePr>
        <p:xfrm>
          <a:off x="2938816" y="5447584"/>
          <a:ext cx="1320801" cy="708189"/>
        </p:xfrm>
        <a:graphic>
          <a:graphicData uri="http://schemas.openxmlformats.org/presentationml/2006/ole">
            <p:oleObj spid="_x0000_s140290" name="Equation" r:id="rId3" imgW="55872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Next adding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to both sides of (1), we get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r + s &lt; s + s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        </a:t>
            </a:r>
            <a:r>
              <a:rPr lang="en-US" dirty="0" smtClean="0">
                <a:solidFill>
                  <a:srgbClr val="C00000"/>
                </a:solidFill>
              </a:rPr>
              <a:t>r + s &lt; 2s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		 </a:t>
            </a:r>
            <a:r>
              <a:rPr lang="en-US" dirty="0" smtClean="0"/>
              <a:t>			…………………(3)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Combining (2) and (3), we may write</a:t>
            </a:r>
          </a:p>
          <a:p>
            <a:pPr>
              <a:buNone/>
            </a:pPr>
            <a:r>
              <a:rPr lang="en-US" dirty="0" smtClean="0"/>
              <a:t>					 	..………………..(4)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Since the </a:t>
            </a:r>
            <a:r>
              <a:rPr lang="en-US" dirty="0" smtClean="0">
                <a:solidFill>
                  <a:srgbClr val="C00000"/>
                </a:solidFill>
              </a:rPr>
              <a:t>sum of two rational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Therefore  </a:t>
            </a:r>
            <a:r>
              <a:rPr lang="en-US" dirty="0" smtClean="0">
                <a:solidFill>
                  <a:srgbClr val="C00000"/>
                </a:solidFill>
              </a:rPr>
              <a:t>r + s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Also the quotient of a rational by a non-zero rational, is rational,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3444920" y="2337176"/>
          <a:ext cx="1106129" cy="762000"/>
        </p:xfrm>
        <a:graphic>
          <a:graphicData uri="http://schemas.openxmlformats.org/presentationml/2006/ole">
            <p:oleObj spid="_x0000_s141314" r:id="rId3" imgW="571320" imgH="393480" progId="">
              <p:embed/>
            </p:oleObj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2895600" y="3505200"/>
          <a:ext cx="1981200" cy="815061"/>
        </p:xfrm>
        <a:graphic>
          <a:graphicData uri="http://schemas.openxmlformats.org/presentationml/2006/ole">
            <p:oleObj spid="_x0000_s141315" name="Equation" r:id="rId4" imgW="774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Therefore	     is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 and by (4)  it lies between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&amp;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Hence, we have found a rational number</a:t>
            </a:r>
          </a:p>
          <a:p>
            <a:pPr>
              <a:buNone/>
            </a:pPr>
            <a:r>
              <a:rPr lang="en-US" dirty="0" smtClean="0"/>
              <a:t>			such that </a:t>
            </a:r>
            <a:r>
              <a:rPr lang="en-US" dirty="0" smtClean="0">
                <a:solidFill>
                  <a:srgbClr val="C00000"/>
                </a:solidFill>
              </a:rPr>
              <a:t>r &lt; x &lt; s</a:t>
            </a:r>
            <a:r>
              <a:rPr lang="en-US" dirty="0" smtClean="0"/>
              <a:t>.	 (proved)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1981200" y="1174956"/>
          <a:ext cx="685800" cy="699911"/>
        </p:xfrm>
        <a:graphic>
          <a:graphicData uri="http://schemas.openxmlformats.org/presentationml/2006/ole">
            <p:oleObj spid="_x0000_s142338" r:id="rId3" imgW="342720" imgH="3934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that for all integers a, b and c, if </a:t>
            </a:r>
            <a:r>
              <a:rPr lang="en-US" dirty="0" err="1" smtClean="0"/>
              <a:t>a|b</a:t>
            </a:r>
            <a:r>
              <a:rPr lang="en-US" dirty="0" smtClean="0"/>
              <a:t> and </a:t>
            </a:r>
            <a:r>
              <a:rPr lang="en-US" dirty="0" err="1" smtClean="0"/>
              <a:t>b|c</a:t>
            </a:r>
            <a:r>
              <a:rPr lang="en-US" dirty="0" smtClean="0"/>
              <a:t> then </a:t>
            </a:r>
            <a:r>
              <a:rPr lang="en-US" dirty="0" err="1" smtClean="0"/>
              <a:t>a|c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Suppose </a:t>
            </a:r>
            <a:r>
              <a:rPr lang="en-US" dirty="0" err="1" smtClean="0">
                <a:solidFill>
                  <a:srgbClr val="C00000"/>
                </a:solidFill>
              </a:rPr>
              <a:t>a|b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C00000"/>
                </a:solidFill>
              </a:rPr>
              <a:t>b|c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where a, b, c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Then by </a:t>
            </a:r>
            <a:r>
              <a:rPr lang="en-US" dirty="0" smtClean="0">
                <a:solidFill>
                  <a:srgbClr val="C00000"/>
                </a:solidFill>
              </a:rPr>
              <a:t>definition of divisibility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b=</a:t>
            </a:r>
            <a:r>
              <a:rPr lang="en-US" dirty="0" err="1" smtClean="0">
                <a:solidFill>
                  <a:srgbClr val="C00000"/>
                </a:solidFill>
              </a:rPr>
              <a:t>a.r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c=</a:t>
            </a:r>
            <a:r>
              <a:rPr lang="en-US" dirty="0" err="1" smtClean="0">
                <a:solidFill>
                  <a:srgbClr val="C00000"/>
                </a:solidFill>
              </a:rPr>
              <a:t>b.s</a:t>
            </a:r>
            <a:r>
              <a:rPr lang="en-US" dirty="0" smtClean="0"/>
              <a:t> for some integers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Now,       </a:t>
            </a:r>
            <a:r>
              <a:rPr lang="en-US" dirty="0" smtClean="0">
                <a:solidFill>
                  <a:srgbClr val="C00000"/>
                </a:solidFill>
              </a:rPr>
              <a:t>c = </a:t>
            </a:r>
            <a:r>
              <a:rPr lang="en-US" dirty="0" err="1" smtClean="0">
                <a:solidFill>
                  <a:srgbClr val="C00000"/>
                </a:solidFill>
              </a:rPr>
              <a:t>b.s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= 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a.r</a:t>
            </a:r>
            <a:r>
              <a:rPr lang="en-US" dirty="0" smtClean="0">
                <a:solidFill>
                  <a:srgbClr val="C00000"/>
                </a:solidFill>
              </a:rPr>
              <a:t>).s</a:t>
            </a:r>
            <a:r>
              <a:rPr lang="en-US" dirty="0" smtClean="0"/>
              <a:t>		(substituting value of b)</a:t>
            </a:r>
          </a:p>
          <a:p>
            <a:pPr>
              <a:buNone/>
            </a:pPr>
            <a:r>
              <a:rPr lang="en-US" dirty="0" smtClean="0"/>
              <a:t>	                 = a.(</a:t>
            </a:r>
            <a:r>
              <a:rPr lang="en-US" dirty="0" err="1" smtClean="0"/>
              <a:t>r.s</a:t>
            </a:r>
            <a:r>
              <a:rPr lang="en-US" dirty="0" smtClean="0"/>
              <a:t>)		(associative law)</a:t>
            </a:r>
          </a:p>
          <a:p>
            <a:pPr>
              <a:buNone/>
            </a:pPr>
            <a:r>
              <a:rPr lang="en-US" dirty="0" smtClean="0"/>
              <a:t>	                 = </a:t>
            </a:r>
            <a:r>
              <a:rPr lang="en-US" dirty="0" err="1" smtClean="0">
                <a:solidFill>
                  <a:srgbClr val="C00000"/>
                </a:solidFill>
              </a:rPr>
              <a:t>a.k</a:t>
            </a: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/>
              <a:t>	where,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k = </a:t>
            </a:r>
            <a:r>
              <a:rPr lang="en-US" dirty="0" err="1" smtClean="0">
                <a:solidFill>
                  <a:srgbClr val="C00000"/>
                </a:solidFill>
              </a:rPr>
              <a:t>r.s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        </a:t>
            </a:r>
            <a:r>
              <a:rPr lang="en-US" dirty="0" smtClean="0"/>
              <a:t>       </a:t>
            </a:r>
            <a:r>
              <a:rPr lang="en-US" dirty="0" err="1" smtClean="0">
                <a:solidFill>
                  <a:srgbClr val="C00000"/>
                </a:solidFill>
              </a:rPr>
              <a:t>a|c</a:t>
            </a:r>
            <a:r>
              <a:rPr lang="en-US" dirty="0" smtClean="0"/>
              <a:t>		by definition of divisibility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that for all integers a, b and c if </a:t>
            </a:r>
            <a:r>
              <a:rPr lang="en-US" dirty="0" err="1" smtClean="0"/>
              <a:t>a|b</a:t>
            </a:r>
            <a:r>
              <a:rPr lang="en-US" dirty="0" smtClean="0"/>
              <a:t> and </a:t>
            </a:r>
            <a:r>
              <a:rPr lang="en-US" dirty="0" err="1" smtClean="0"/>
              <a:t>a|c</a:t>
            </a:r>
            <a:r>
              <a:rPr lang="en-US" dirty="0" smtClean="0"/>
              <a:t> then a|(</a:t>
            </a:r>
            <a:r>
              <a:rPr lang="en-US" dirty="0" err="1" smtClean="0"/>
              <a:t>b+c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err="1" smtClean="0">
                <a:solidFill>
                  <a:srgbClr val="C00000"/>
                </a:solidFill>
              </a:rPr>
              <a:t>a|b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C00000"/>
                </a:solidFill>
              </a:rPr>
              <a:t>a|c</a:t>
            </a:r>
            <a:r>
              <a:rPr lang="en-US" dirty="0" smtClean="0"/>
              <a:t> where a, b, c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By definition of divides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smtClean="0">
                <a:solidFill>
                  <a:srgbClr val="C00000"/>
                </a:solidFill>
              </a:rPr>
              <a:t>b = </a:t>
            </a:r>
            <a:r>
              <a:rPr lang="en-US" dirty="0" err="1" smtClean="0">
                <a:solidFill>
                  <a:srgbClr val="C00000"/>
                </a:solidFill>
              </a:rPr>
              <a:t>a.r</a:t>
            </a:r>
            <a:r>
              <a:rPr lang="en-US" dirty="0" smtClean="0"/>
              <a:t>  and  </a:t>
            </a:r>
            <a:r>
              <a:rPr lang="en-US" dirty="0" smtClean="0">
                <a:solidFill>
                  <a:srgbClr val="C00000"/>
                </a:solidFill>
              </a:rPr>
              <a:t>c = </a:t>
            </a:r>
            <a:r>
              <a:rPr lang="en-US" dirty="0" err="1" smtClean="0">
                <a:solidFill>
                  <a:srgbClr val="C00000"/>
                </a:solidFill>
              </a:rPr>
              <a:t>a.s</a:t>
            </a:r>
            <a:r>
              <a:rPr lang="en-US" dirty="0" smtClean="0"/>
              <a:t>  for some r, s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Now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smtClean="0">
                <a:solidFill>
                  <a:srgbClr val="C00000"/>
                </a:solidFill>
              </a:rPr>
              <a:t>b + c = </a:t>
            </a:r>
            <a:r>
              <a:rPr lang="en-US" dirty="0" err="1" smtClean="0">
                <a:solidFill>
                  <a:srgbClr val="C00000"/>
                </a:solidFill>
              </a:rPr>
              <a:t>a.r</a:t>
            </a:r>
            <a:r>
              <a:rPr lang="en-US" dirty="0" smtClean="0">
                <a:solidFill>
                  <a:srgbClr val="C00000"/>
                </a:solidFill>
              </a:rPr>
              <a:t> + </a:t>
            </a:r>
            <a:r>
              <a:rPr lang="en-US" dirty="0" err="1" smtClean="0">
                <a:solidFill>
                  <a:srgbClr val="C00000"/>
                </a:solidFill>
              </a:rPr>
              <a:t>a.s</a:t>
            </a:r>
            <a:r>
              <a:rPr lang="en-US" dirty="0" smtClean="0"/>
              <a:t>		(substituting values)</a:t>
            </a:r>
          </a:p>
          <a:p>
            <a:pPr>
              <a:buNone/>
            </a:pPr>
            <a:r>
              <a:rPr lang="en-US" dirty="0" smtClean="0"/>
              <a:t>                        = </a:t>
            </a:r>
            <a:r>
              <a:rPr lang="en-US" dirty="0" smtClean="0">
                <a:solidFill>
                  <a:srgbClr val="C00000"/>
                </a:solidFill>
              </a:rPr>
              <a:t>a.(</a:t>
            </a:r>
            <a:r>
              <a:rPr lang="en-US" dirty="0" err="1" smtClean="0">
                <a:solidFill>
                  <a:srgbClr val="C00000"/>
                </a:solidFill>
              </a:rPr>
              <a:t>r+s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		(by distributive law)</a:t>
            </a:r>
          </a:p>
          <a:p>
            <a:pPr>
              <a:buNone/>
            </a:pPr>
            <a:r>
              <a:rPr lang="en-US" dirty="0" smtClean="0"/>
              <a:t>                        = </a:t>
            </a:r>
            <a:r>
              <a:rPr lang="en-US" dirty="0" err="1" smtClean="0">
                <a:solidFill>
                  <a:srgbClr val="C00000"/>
                </a:solidFill>
              </a:rPr>
              <a:t>a.k</a:t>
            </a: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/>
              <a:t>	where 	k = (r + s)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</a:t>
            </a:r>
          </a:p>
          <a:p>
            <a:pPr>
              <a:buNone/>
            </a:pPr>
            <a:r>
              <a:rPr lang="en-US" dirty="0" smtClean="0"/>
              <a:t>	Hence     </a:t>
            </a:r>
            <a:r>
              <a:rPr lang="en-US" dirty="0" smtClean="0">
                <a:solidFill>
                  <a:srgbClr val="C00000"/>
                </a:solidFill>
              </a:rPr>
              <a:t>a|(b + c)</a:t>
            </a:r>
            <a:r>
              <a:rPr lang="en-US" dirty="0" smtClean="0"/>
              <a:t>			by definition of divides.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Prove that the sum of any three consecutive integers is divisible by 3.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 + 2</a:t>
            </a:r>
            <a:r>
              <a:rPr lang="en-US" dirty="0" smtClean="0"/>
              <a:t> be three consecutive integers.</a:t>
            </a:r>
          </a:p>
          <a:p>
            <a:pPr>
              <a:buNone/>
            </a:pPr>
            <a:r>
              <a:rPr lang="pt-BR" dirty="0" smtClean="0"/>
              <a:t>	Now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             </a:t>
            </a:r>
            <a:r>
              <a:rPr lang="pt-BR" dirty="0" smtClean="0">
                <a:solidFill>
                  <a:srgbClr val="C00000"/>
                </a:solidFill>
              </a:rPr>
              <a:t> n + (n + 1) + (n + 2)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3n + 3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                                                = </a:t>
            </a:r>
            <a:r>
              <a:rPr lang="pt-BR" dirty="0" smtClean="0">
                <a:solidFill>
                  <a:srgbClr val="C00000"/>
                </a:solidFill>
              </a:rPr>
              <a:t>3(n + 1)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                                             = 3k</a:t>
            </a:r>
          </a:p>
          <a:p>
            <a:pPr>
              <a:buNone/>
            </a:pPr>
            <a:r>
              <a:rPr lang="pt-BR" dirty="0" smtClean="0"/>
              <a:t>	where k=(n+1)</a:t>
            </a:r>
            <a:r>
              <a:rPr lang="en-US" dirty="0" smtClean="0">
                <a:sym typeface="Symbol"/>
              </a:rPr>
              <a:t></a:t>
            </a:r>
            <a:r>
              <a:rPr lang="pt-BR" dirty="0" smtClean="0"/>
              <a:t>Z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Hence,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three consecutive integers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divisible by 3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PROOF BY CONTRADICTION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proof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contradiction</a:t>
            </a:r>
            <a:r>
              <a:rPr lang="en-US" dirty="0" smtClean="0"/>
              <a:t> is based on the fact that either a statement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or it is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 but not both.</a:t>
            </a:r>
          </a:p>
          <a:p>
            <a:endParaRPr lang="en-US" dirty="0" smtClean="0"/>
          </a:p>
          <a:p>
            <a:r>
              <a:rPr lang="en-US" dirty="0" smtClean="0"/>
              <a:t>Hence the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, that the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 to be </a:t>
            </a:r>
            <a:r>
              <a:rPr lang="en-US" dirty="0" smtClean="0">
                <a:solidFill>
                  <a:srgbClr val="C00000"/>
                </a:solidFill>
              </a:rPr>
              <a:t>proved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, leads logically to a </a:t>
            </a:r>
            <a:r>
              <a:rPr lang="en-US" dirty="0" smtClean="0">
                <a:solidFill>
                  <a:srgbClr val="C00000"/>
                </a:solidFill>
              </a:rPr>
              <a:t>contradiction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impossibility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absurdity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must be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Accordingly, the given statement must be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Thus to </a:t>
            </a:r>
            <a:r>
              <a:rPr lang="en-US" dirty="0" smtClean="0">
                <a:solidFill>
                  <a:srgbClr val="C00000"/>
                </a:solidFill>
              </a:rPr>
              <a:t>prove</a:t>
            </a:r>
            <a:r>
              <a:rPr lang="en-US" dirty="0" smtClean="0"/>
              <a:t> an</a:t>
            </a:r>
            <a:r>
              <a:rPr lang="en-US" dirty="0" smtClean="0">
                <a:solidFill>
                  <a:srgbClr val="C00000"/>
                </a:solidFill>
              </a:rPr>
              <a:t> implication p → q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contradiction method</a:t>
            </a:r>
            <a:r>
              <a:rPr lang="en-US" dirty="0" smtClean="0"/>
              <a:t> we suppose that the condition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negation</a:t>
            </a:r>
            <a:r>
              <a:rPr lang="en-US" dirty="0" smtClean="0"/>
              <a:t> of the conclusion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, i.e., </a:t>
            </a:r>
            <a:r>
              <a:rPr lang="en-US" dirty="0" smtClean="0">
                <a:solidFill>
                  <a:srgbClr val="C00000"/>
                </a:solidFill>
              </a:rPr>
              <a:t>(p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~q)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and ultimately arrive at a </a:t>
            </a:r>
            <a:r>
              <a:rPr lang="en-US" dirty="0" smtClean="0">
                <a:solidFill>
                  <a:srgbClr val="C00000"/>
                </a:solidFill>
              </a:rPr>
              <a:t>contradiction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method of </a:t>
            </a:r>
            <a:r>
              <a:rPr lang="en-US" dirty="0" smtClean="0">
                <a:solidFill>
                  <a:srgbClr val="C00000"/>
                </a:solidFill>
              </a:rPr>
              <a:t>proof by contradiction</a:t>
            </a:r>
            <a:r>
              <a:rPr lang="en-US" dirty="0" smtClean="0"/>
              <a:t>, may be summarized as follows: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Suppose</a:t>
            </a:r>
            <a:r>
              <a:rPr lang="en-US" sz="2400" dirty="0" smtClean="0"/>
              <a:t> the </a:t>
            </a:r>
            <a:r>
              <a:rPr lang="en-US" sz="2400" dirty="0" smtClean="0">
                <a:solidFill>
                  <a:srgbClr val="C00000"/>
                </a:solidFill>
              </a:rPr>
              <a:t>statement</a:t>
            </a:r>
            <a:r>
              <a:rPr lang="en-US" sz="2400" dirty="0" smtClean="0"/>
              <a:t> to be </a:t>
            </a:r>
            <a:r>
              <a:rPr lang="en-US" sz="2400" dirty="0" smtClean="0">
                <a:solidFill>
                  <a:srgbClr val="C00000"/>
                </a:solidFill>
              </a:rPr>
              <a:t>proved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Show</a:t>
            </a:r>
            <a:r>
              <a:rPr lang="en-US" sz="2400" dirty="0" smtClean="0"/>
              <a:t> that this </a:t>
            </a:r>
            <a:r>
              <a:rPr lang="en-US" sz="2400" dirty="0" smtClean="0">
                <a:solidFill>
                  <a:srgbClr val="C00000"/>
                </a:solidFill>
              </a:rPr>
              <a:t>supposition</a:t>
            </a:r>
            <a:r>
              <a:rPr lang="en-US" sz="2400" dirty="0" smtClean="0"/>
              <a:t> leads logically to a </a:t>
            </a:r>
            <a:r>
              <a:rPr lang="en-US" sz="2400" dirty="0" smtClean="0">
                <a:solidFill>
                  <a:srgbClr val="C00000"/>
                </a:solidFill>
              </a:rPr>
              <a:t>contradiction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Conclude</a:t>
            </a:r>
            <a:r>
              <a:rPr lang="en-US" sz="2400" dirty="0" smtClean="0"/>
              <a:t> that the </a:t>
            </a:r>
            <a:r>
              <a:rPr lang="en-US" sz="2400" dirty="0" smtClean="0">
                <a:solidFill>
                  <a:srgbClr val="C00000"/>
                </a:solidFill>
              </a:rPr>
              <a:t>statement</a:t>
            </a:r>
            <a:r>
              <a:rPr lang="en-US" sz="2400" dirty="0" smtClean="0"/>
              <a:t> to be proved is </a:t>
            </a:r>
            <a:r>
              <a:rPr lang="en-US" sz="2400" dirty="0" smtClean="0">
                <a:solidFill>
                  <a:srgbClr val="C00000"/>
                </a:solidFill>
              </a:rPr>
              <a:t>true</a:t>
            </a:r>
            <a:r>
              <a:rPr lang="en-US" sz="2400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Give a proof by contradiction for the statement:</a:t>
            </a:r>
          </a:p>
          <a:p>
            <a:pPr>
              <a:buNone/>
            </a:pPr>
            <a:r>
              <a:rPr lang="en-US" dirty="0" smtClean="0"/>
              <a:t>	“If n</a:t>
            </a:r>
            <a:r>
              <a:rPr lang="en-US" baseline="30000" dirty="0" smtClean="0"/>
              <a:t>2</a:t>
            </a:r>
            <a:r>
              <a:rPr lang="en-US" dirty="0" smtClean="0"/>
              <a:t> is an even integer then n is an even integer.”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   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even integer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not even</a:t>
            </a:r>
            <a:r>
              <a:rPr lang="en-US" dirty="0" smtClean="0"/>
              <a:t>, so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Hence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= 2k + 1</a:t>
            </a:r>
            <a:r>
              <a:rPr lang="en-US" dirty="0" smtClean="0"/>
              <a:t> for some integer k.</a:t>
            </a:r>
          </a:p>
          <a:p>
            <a:pPr>
              <a:buNone/>
            </a:pPr>
            <a:r>
              <a:rPr lang="en-US" dirty="0" smtClean="0"/>
              <a:t>	Now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(2k + 1)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 		    = </a:t>
            </a:r>
            <a:r>
              <a:rPr lang="en-US" dirty="0" smtClean="0">
                <a:solidFill>
                  <a:srgbClr val="C00000"/>
                </a:solidFill>
              </a:rPr>
              <a:t>4k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+ 4k + 1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= </a:t>
            </a:r>
            <a:r>
              <a:rPr lang="en-US" dirty="0" smtClean="0">
                <a:solidFill>
                  <a:srgbClr val="C00000"/>
                </a:solidFill>
              </a:rPr>
              <a:t>2.(2k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+ 2k) + 1</a:t>
            </a:r>
          </a:p>
          <a:p>
            <a:pPr>
              <a:buNone/>
            </a:pPr>
            <a:r>
              <a:rPr lang="en-US" dirty="0" smtClean="0"/>
              <a:t>			= </a:t>
            </a:r>
            <a:r>
              <a:rPr lang="en-US" dirty="0" smtClean="0">
                <a:solidFill>
                  <a:srgbClr val="C00000"/>
                </a:solidFill>
              </a:rPr>
              <a:t>2r + 1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where</a:t>
            </a:r>
          </a:p>
          <a:p>
            <a:pPr>
              <a:buNone/>
            </a:pPr>
            <a:r>
              <a:rPr lang="en-US" dirty="0" smtClean="0"/>
              <a:t>		 	</a:t>
            </a:r>
            <a:r>
              <a:rPr lang="en-US" dirty="0" smtClean="0">
                <a:solidFill>
                  <a:srgbClr val="C00000"/>
                </a:solidFill>
              </a:rPr>
              <a:t>r = 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+ 2k)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Z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This shows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, which is a </a:t>
            </a:r>
            <a:r>
              <a:rPr lang="en-US" dirty="0" smtClean="0">
                <a:solidFill>
                  <a:srgbClr val="C00000"/>
                </a:solidFill>
              </a:rPr>
              <a:t>contradiction</a:t>
            </a:r>
            <a:r>
              <a:rPr lang="en-US" dirty="0" smtClean="0"/>
              <a:t> to our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dirty="0" smtClean="0">
                <a:solidFill>
                  <a:srgbClr val="C00000"/>
                </a:solidFill>
              </a:rPr>
              <a:t>given statement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that if n is an integer and n</a:t>
            </a:r>
            <a:r>
              <a:rPr lang="en-US" baseline="30000" dirty="0" smtClean="0"/>
              <a:t>3</a:t>
            </a:r>
            <a:r>
              <a:rPr lang="en-US" dirty="0" smtClean="0"/>
              <a:t> + 5 is odd, then n is even using contradiction method.</a:t>
            </a: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r>
              <a:rPr lang="en-US" dirty="0" smtClean="0"/>
              <a:t>Suppose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not even (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Since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product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two odd numbers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, it follows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. 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Further, since the </a:t>
            </a:r>
            <a:r>
              <a:rPr lang="en-US" dirty="0" smtClean="0">
                <a:solidFill>
                  <a:srgbClr val="C00000"/>
                </a:solidFill>
              </a:rPr>
              <a:t>difference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two odd number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, it follows that </a:t>
            </a:r>
          </a:p>
          <a:p>
            <a:pPr>
              <a:buNone/>
            </a:pPr>
            <a:r>
              <a:rPr lang="en-US" dirty="0" smtClean="0"/>
              <a:t>				 = </a:t>
            </a:r>
            <a:r>
              <a:rPr lang="en-US" dirty="0" smtClean="0">
                <a:solidFill>
                  <a:srgbClr val="C00000"/>
                </a:solidFill>
              </a:rPr>
              <a:t>(n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+ 5) - n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			 = </a:t>
            </a:r>
            <a:r>
              <a:rPr lang="en-US" dirty="0" smtClean="0">
                <a:solidFill>
                  <a:srgbClr val="C00000"/>
                </a:solidFill>
              </a:rPr>
              <a:t>5</a:t>
            </a:r>
            <a:r>
              <a:rPr lang="en-US" dirty="0" smtClean="0"/>
              <a:t>		 is even. </a:t>
            </a:r>
          </a:p>
          <a:p>
            <a:r>
              <a:rPr lang="en-US" dirty="0" smtClean="0"/>
              <a:t>But this is a</a:t>
            </a:r>
            <a:r>
              <a:rPr lang="en-US" dirty="0" smtClean="0">
                <a:solidFill>
                  <a:srgbClr val="C00000"/>
                </a:solidFill>
              </a:rPr>
              <a:t> contradiction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Therefore, the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are both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wrong</a:t>
            </a:r>
            <a:r>
              <a:rPr lang="en-US" dirty="0" smtClean="0"/>
              <a:t> and so the </a:t>
            </a:r>
            <a:r>
              <a:rPr lang="en-US" dirty="0" smtClean="0">
                <a:solidFill>
                  <a:srgbClr val="C00000"/>
                </a:solidFill>
              </a:rPr>
              <a:t>given statement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Prove by contradiction method, the statement:  If n and m are odd integers, then n + m is an even integer.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   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 + m</a:t>
            </a:r>
            <a:r>
              <a:rPr lang="en-US" dirty="0" smtClean="0"/>
              <a:t> is not even (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</a:t>
            </a:r>
            <a:r>
              <a:rPr lang="en-US" dirty="0" err="1" smtClean="0"/>
              <a:t>i.e</a:t>
            </a:r>
            <a:r>
              <a:rPr lang="en-US" dirty="0" smtClean="0"/>
              <a:t> by taking contradiction).</a:t>
            </a:r>
          </a:p>
          <a:p>
            <a:pPr>
              <a:buNone/>
            </a:pPr>
            <a:r>
              <a:rPr lang="en-US" dirty="0" smtClean="0"/>
              <a:t>	Now 	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n = 2p + 1</a:t>
            </a:r>
            <a:r>
              <a:rPr lang="en-US" dirty="0" smtClean="0"/>
              <a:t>		for some integer p</a:t>
            </a:r>
          </a:p>
          <a:p>
            <a:pPr>
              <a:buNone/>
            </a:pPr>
            <a:r>
              <a:rPr lang="en-US" dirty="0" smtClean="0"/>
              <a:t>		and      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m = 2q + 1</a:t>
            </a:r>
            <a:r>
              <a:rPr lang="en-US" dirty="0" smtClean="0"/>
              <a:t>		for some integer q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	Hence</a:t>
            </a:r>
          </a:p>
          <a:p>
            <a:pPr>
              <a:buNone/>
            </a:pPr>
            <a:r>
              <a:rPr lang="pt-BR" dirty="0" smtClean="0"/>
              <a:t>		            </a:t>
            </a:r>
            <a:r>
              <a:rPr lang="pt-BR" dirty="0" smtClean="0">
                <a:solidFill>
                  <a:srgbClr val="C00000"/>
                </a:solidFill>
              </a:rPr>
              <a:t>n + m = (2p + 1) + (2q + 1)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	                      = </a:t>
            </a:r>
            <a:r>
              <a:rPr lang="pt-BR" dirty="0" smtClean="0">
                <a:solidFill>
                  <a:srgbClr val="C00000"/>
                </a:solidFill>
              </a:rPr>
              <a:t>2p + 2q + 2 = 2· (p + q + 1)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which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, contradicting the assumption that </a:t>
            </a:r>
            <a:r>
              <a:rPr lang="en-US" dirty="0" smtClean="0">
                <a:solidFill>
                  <a:srgbClr val="C00000"/>
                </a:solidFill>
              </a:rPr>
              <a:t>n + 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 Prove that     is irrational.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   Suppose      </a:t>
            </a:r>
          </a:p>
          <a:p>
            <a:pPr>
              <a:buNone/>
            </a:pPr>
            <a:r>
              <a:rPr lang="en-US" dirty="0" smtClean="0"/>
              <a:t>				is rational. </a:t>
            </a:r>
          </a:p>
          <a:p>
            <a:pPr>
              <a:buNone/>
            </a:pPr>
            <a:r>
              <a:rPr lang="en-US" dirty="0" smtClean="0"/>
              <a:t>	Then there are integers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C00000"/>
                </a:solidFill>
              </a:rPr>
              <a:t>no common factors</a:t>
            </a:r>
            <a:r>
              <a:rPr lang="en-US" dirty="0" smtClean="0"/>
              <a:t> so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Squaring both sides gives</a:t>
            </a:r>
          </a:p>
          <a:p>
            <a:endParaRPr lang="en-US" dirty="0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2033" name="Object 1"/>
          <p:cNvGraphicFramePr>
            <a:graphicFrameLocks noChangeAspect="1"/>
          </p:cNvGraphicFramePr>
          <p:nvPr/>
        </p:nvGraphicFramePr>
        <p:xfrm>
          <a:off x="2310471" y="1301260"/>
          <a:ext cx="390525" cy="359283"/>
        </p:xfrm>
        <a:graphic>
          <a:graphicData uri="http://schemas.openxmlformats.org/presentationml/2006/ole">
            <p:oleObj spid="_x0000_s172033" name="Equation" r:id="rId3" imgW="241091" imgH="215713" progId="Equation.3">
              <p:embed/>
            </p:oleObj>
          </a:graphicData>
        </a:graphic>
      </p:graphicFrame>
      <p:graphicFrame>
        <p:nvGraphicFramePr>
          <p:cNvPr id="172035" name="Object 3"/>
          <p:cNvGraphicFramePr>
            <a:graphicFrameLocks noChangeAspect="1"/>
          </p:cNvGraphicFramePr>
          <p:nvPr/>
        </p:nvGraphicFramePr>
        <p:xfrm>
          <a:off x="2829803" y="3172264"/>
          <a:ext cx="390525" cy="358775"/>
        </p:xfrm>
        <a:graphic>
          <a:graphicData uri="http://schemas.openxmlformats.org/presentationml/2006/ole">
            <p:oleObj spid="_x0000_s172035" name="Equation" r:id="rId4" imgW="241091" imgH="215713" progId="Equation.3">
              <p:embed/>
            </p:oleObj>
          </a:graphicData>
        </a:graphic>
      </p:graphicFrame>
      <p:graphicFrame>
        <p:nvGraphicFramePr>
          <p:cNvPr id="172036" name="Object 4"/>
          <p:cNvGraphicFramePr>
            <a:graphicFrameLocks noChangeAspect="1"/>
          </p:cNvGraphicFramePr>
          <p:nvPr/>
        </p:nvGraphicFramePr>
        <p:xfrm>
          <a:off x="2971800" y="4267200"/>
          <a:ext cx="914400" cy="674914"/>
        </p:xfrm>
        <a:graphic>
          <a:graphicData uri="http://schemas.openxmlformats.org/presentationml/2006/ole">
            <p:oleObj spid="_x0000_s172036" name="Equation" r:id="rId5" imgW="533160" imgH="393480" progId="Equation.3">
              <p:embed/>
            </p:oleObj>
          </a:graphicData>
        </a:graphic>
      </p:graphicFrame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3076136" y="5337511"/>
          <a:ext cx="829992" cy="720783"/>
        </p:xfrm>
        <a:graphic>
          <a:graphicData uri="http://schemas.openxmlformats.org/presentationml/2006/ole">
            <p:oleObj spid="_x0000_s172037" name="Equation" r:id="rId6" imgW="48240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or		  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	………………………(1)</a:t>
            </a:r>
          </a:p>
          <a:p>
            <a:pPr>
              <a:buNone/>
            </a:pPr>
            <a:r>
              <a:rPr lang="en-US" dirty="0" smtClean="0"/>
              <a:t>	This implies that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 (by definition of even). </a:t>
            </a:r>
          </a:p>
          <a:p>
            <a:pPr>
              <a:buNone/>
            </a:pPr>
            <a:r>
              <a:rPr lang="en-US" dirty="0" smtClean="0"/>
              <a:t>	It follows that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 Hence</a:t>
            </a:r>
          </a:p>
          <a:p>
            <a:pPr>
              <a:buNone/>
            </a:pPr>
            <a:r>
              <a:rPr lang="en-US" dirty="0" smtClean="0"/>
              <a:t>			   </a:t>
            </a:r>
            <a:r>
              <a:rPr lang="en-US" dirty="0" smtClean="0">
                <a:solidFill>
                  <a:srgbClr val="C00000"/>
                </a:solidFill>
              </a:rPr>
              <a:t>m = 2 k</a:t>
            </a:r>
            <a:r>
              <a:rPr lang="en-US" dirty="0" smtClean="0"/>
              <a:t> 	for some integer k…..(2)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	Substituting (2) in (1), we get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(2k)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 	 </a:t>
            </a:r>
            <a:r>
              <a:rPr lang="en-US" dirty="0" smtClean="0">
                <a:solidFill>
                  <a:srgbClr val="C00000"/>
                </a:solidFill>
              </a:rPr>
              <a:t>4k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 = 2n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 	   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endParaRPr lang="en-US" dirty="0" smtClean="0">
              <a:solidFill>
                <a:srgbClr val="C00000"/>
              </a:solidFill>
            </a:endParaRP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/>
        </p:nvGraphicFramePr>
        <p:xfrm>
          <a:off x="1704536" y="5091332"/>
          <a:ext cx="457200" cy="304800"/>
        </p:xfrm>
        <a:graphic>
          <a:graphicData uri="http://schemas.openxmlformats.org/presentationml/2006/ole">
            <p:oleObj spid="_x0000_s185347" r:id="rId3" imgW="190417" imgH="152334" progId="">
              <p:embed/>
            </p:oleObj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1716695" y="5576668"/>
          <a:ext cx="457200" cy="304800"/>
        </p:xfrm>
        <a:graphic>
          <a:graphicData uri="http://schemas.openxmlformats.org/presentationml/2006/ole">
            <p:oleObj spid="_x0000_s185349" r:id="rId4" imgW="190417" imgH="152334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implies that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, and so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 But we also know that m is even. </a:t>
            </a:r>
          </a:p>
          <a:p>
            <a:endParaRPr lang="en-US" dirty="0" smtClean="0"/>
          </a:p>
          <a:p>
            <a:r>
              <a:rPr lang="en-US" dirty="0" smtClean="0"/>
              <a:t>Hence both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have a </a:t>
            </a:r>
            <a:r>
              <a:rPr lang="en-US" dirty="0" smtClean="0">
                <a:solidFill>
                  <a:srgbClr val="C00000"/>
                </a:solidFill>
              </a:rPr>
              <a:t>common factor 2</a:t>
            </a:r>
            <a:r>
              <a:rPr lang="en-US" dirty="0" smtClean="0"/>
              <a:t>. But this </a:t>
            </a:r>
            <a:r>
              <a:rPr lang="en-US" dirty="0" smtClean="0">
                <a:solidFill>
                  <a:srgbClr val="C00000"/>
                </a:solidFill>
              </a:rPr>
              <a:t>contradicts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have </a:t>
            </a:r>
            <a:r>
              <a:rPr lang="en-US" dirty="0" smtClean="0">
                <a:solidFill>
                  <a:srgbClr val="C00000"/>
                </a:solidFill>
              </a:rPr>
              <a:t>no common factors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Hence our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 and so the </a:t>
            </a:r>
            <a:r>
              <a:rPr lang="en-US" dirty="0" smtClean="0">
                <a:solidFill>
                  <a:srgbClr val="C00000"/>
                </a:solidFill>
              </a:rPr>
              <a:t>theorem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Prove by contradiction that             is irrational.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Suppose                 is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Then by </a:t>
            </a:r>
            <a:r>
              <a:rPr lang="en-US" dirty="0" smtClean="0">
                <a:solidFill>
                  <a:srgbClr val="C00000"/>
                </a:solidFill>
              </a:rPr>
              <a:t>definition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for some integers a and b with  b≠0.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endParaRPr lang="en-US" dirty="0"/>
          </a:p>
        </p:txBody>
      </p:sp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6369" name="Object 1"/>
          <p:cNvGraphicFramePr>
            <a:graphicFrameLocks noChangeAspect="1"/>
          </p:cNvGraphicFramePr>
          <p:nvPr/>
        </p:nvGraphicFramePr>
        <p:xfrm>
          <a:off x="4554229" y="1301928"/>
          <a:ext cx="1057275" cy="282806"/>
        </p:xfrm>
        <a:graphic>
          <a:graphicData uri="http://schemas.openxmlformats.org/presentationml/2006/ole">
            <p:oleObj spid="_x0000_s186369" r:id="rId3" imgW="520474" imgH="215806" progId="">
              <p:embed/>
            </p:oleObj>
          </a:graphicData>
        </a:graphic>
      </p:graphicFrame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2084104" y="2983760"/>
          <a:ext cx="1267264" cy="361080"/>
        </p:xfrm>
        <a:graphic>
          <a:graphicData uri="http://schemas.openxmlformats.org/presentationml/2006/ole">
            <p:oleObj spid="_x0000_s186371" r:id="rId4" imgW="520474" imgH="215806" progId="">
              <p:embed/>
            </p:oleObj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2157464" y="4267200"/>
          <a:ext cx="1752600" cy="609600"/>
        </p:xfrm>
        <a:graphic>
          <a:graphicData uri="http://schemas.openxmlformats.org/presentationml/2006/ole">
            <p:oleObj spid="_x0000_s186372" name="Equation" r:id="rId5" imgW="78732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 consider,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Since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are integers, so are </a:t>
            </a:r>
            <a:r>
              <a:rPr lang="en-US" dirty="0" smtClean="0">
                <a:solidFill>
                  <a:srgbClr val="C00000"/>
                </a:solidFill>
              </a:rPr>
              <a:t>6b-a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7b</a:t>
            </a:r>
            <a:r>
              <a:rPr lang="en-US" dirty="0" smtClean="0"/>
              <a:t> and 7b≠0;</a:t>
            </a:r>
          </a:p>
          <a:p>
            <a:pPr>
              <a:buNone/>
            </a:pPr>
            <a:r>
              <a:rPr lang="en-US" dirty="0" smtClean="0"/>
              <a:t>	Hence  is a </a:t>
            </a:r>
            <a:r>
              <a:rPr lang="en-US" dirty="0" smtClean="0">
                <a:solidFill>
                  <a:srgbClr val="C00000"/>
                </a:solidFill>
              </a:rPr>
              <a:t>quotient</a:t>
            </a:r>
            <a:r>
              <a:rPr lang="en-US" dirty="0" smtClean="0"/>
              <a:t> of the two integers </a:t>
            </a:r>
            <a:r>
              <a:rPr lang="en-US" dirty="0" smtClean="0">
                <a:solidFill>
                  <a:srgbClr val="C00000"/>
                </a:solidFill>
              </a:rPr>
              <a:t>6b-a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7b</a:t>
            </a:r>
            <a:r>
              <a:rPr lang="en-US" dirty="0" smtClean="0"/>
              <a:t> with 7b≠0.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Accordingly,     is </a:t>
            </a:r>
            <a:r>
              <a:rPr lang="en-US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 (by definition of rational).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88418" name="Object 2"/>
          <p:cNvGraphicFramePr>
            <a:graphicFrameLocks noChangeAspect="1"/>
          </p:cNvGraphicFramePr>
          <p:nvPr/>
        </p:nvGraphicFramePr>
        <p:xfrm>
          <a:off x="2781300" y="1526177"/>
          <a:ext cx="2476500" cy="2055223"/>
        </p:xfrm>
        <a:graphic>
          <a:graphicData uri="http://schemas.openxmlformats.org/presentationml/2006/ole">
            <p:oleObj spid="_x0000_s188418" r:id="rId3" imgW="1333440" imgH="1218960" progId="">
              <p:embed/>
            </p:oleObj>
          </a:graphicData>
        </a:graphic>
      </p:graphicFrame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2505075" y="5464277"/>
          <a:ext cx="390525" cy="335131"/>
        </p:xfrm>
        <a:graphic>
          <a:graphicData uri="http://schemas.openxmlformats.org/presentationml/2006/ole">
            <p:oleObj spid="_x0000_s188419" r:id="rId4" imgW="241091" imgH="215713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</a:t>
            </a:r>
            <a:r>
              <a:rPr lang="en-US" dirty="0" smtClean="0">
                <a:solidFill>
                  <a:srgbClr val="C00000"/>
                </a:solidFill>
              </a:rPr>
              <a:t>contradicts</a:t>
            </a:r>
            <a:r>
              <a:rPr lang="en-US" dirty="0" smtClean="0"/>
              <a:t> the fact because     is </a:t>
            </a:r>
            <a:r>
              <a:rPr lang="en-US" dirty="0" smtClean="0">
                <a:solidFill>
                  <a:srgbClr val="C00000"/>
                </a:solidFill>
              </a:rPr>
              <a:t>irrational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our </a:t>
            </a:r>
            <a:r>
              <a:rPr lang="en-US" dirty="0" smtClean="0">
                <a:solidFill>
                  <a:srgbClr val="C00000"/>
                </a:solidFill>
              </a:rPr>
              <a:t>supposition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 and so               is </a:t>
            </a:r>
            <a:r>
              <a:rPr lang="en-US" dirty="0" smtClean="0">
                <a:solidFill>
                  <a:srgbClr val="C00000"/>
                </a:solidFill>
              </a:rPr>
              <a:t>irrational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89442" name="Object 2"/>
          <p:cNvGraphicFramePr>
            <a:graphicFrameLocks noChangeAspect="1"/>
          </p:cNvGraphicFramePr>
          <p:nvPr/>
        </p:nvGraphicFramePr>
        <p:xfrm>
          <a:off x="5228347" y="1293373"/>
          <a:ext cx="390525" cy="334963"/>
        </p:xfrm>
        <a:graphic>
          <a:graphicData uri="http://schemas.openxmlformats.org/presentationml/2006/ole">
            <p:oleObj spid="_x0000_s189442" r:id="rId3" imgW="241091" imgH="215713" progId="">
              <p:embed/>
            </p:oleObj>
          </a:graphicData>
        </a:graphic>
      </p:graphicFrame>
      <p:graphicFrame>
        <p:nvGraphicFramePr>
          <p:cNvPr id="189443" name="Object 3"/>
          <p:cNvGraphicFramePr>
            <a:graphicFrameLocks noChangeAspect="1"/>
          </p:cNvGraphicFramePr>
          <p:nvPr/>
        </p:nvGraphicFramePr>
        <p:xfrm>
          <a:off x="5888528" y="2229728"/>
          <a:ext cx="1268412" cy="360363"/>
        </p:xfrm>
        <a:graphic>
          <a:graphicData uri="http://schemas.openxmlformats.org/presentationml/2006/ole">
            <p:oleObj spid="_x0000_s189443" r:id="rId4" imgW="520474" imgH="215806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PROOF BY CONTRAPOSITION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proof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contraposition</a:t>
            </a:r>
            <a:r>
              <a:rPr lang="en-US" dirty="0" smtClean="0"/>
              <a:t> is based on the </a:t>
            </a:r>
            <a:r>
              <a:rPr lang="en-US" dirty="0" smtClean="0">
                <a:solidFill>
                  <a:srgbClr val="C00000"/>
                </a:solidFill>
              </a:rPr>
              <a:t>logical equivalence</a:t>
            </a:r>
            <a:r>
              <a:rPr lang="en-US" dirty="0" smtClean="0"/>
              <a:t> between a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 and its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Therefore, the implication </a:t>
            </a:r>
            <a:r>
              <a:rPr lang="en-US" dirty="0" smtClean="0">
                <a:solidFill>
                  <a:srgbClr val="C00000"/>
                </a:solidFill>
              </a:rPr>
              <a:t>p→ q</a:t>
            </a:r>
            <a:r>
              <a:rPr lang="en-US" dirty="0" smtClean="0"/>
              <a:t> can be proved by showing that its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>
                <a:solidFill>
                  <a:srgbClr val="C00000"/>
                </a:solidFill>
              </a:rPr>
              <a:t> ~ q → ~ p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is usually proved </a:t>
            </a:r>
            <a:r>
              <a:rPr lang="en-US" dirty="0" smtClean="0">
                <a:solidFill>
                  <a:srgbClr val="C00000"/>
                </a:solidFill>
              </a:rPr>
              <a:t>directly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method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proof</a:t>
            </a:r>
            <a:r>
              <a:rPr lang="en-US" dirty="0" smtClean="0"/>
              <a:t> by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may be summarized as:</a:t>
            </a:r>
          </a:p>
          <a:p>
            <a:pPr lvl="1"/>
            <a:r>
              <a:rPr lang="en-US" sz="2400" dirty="0" smtClean="0"/>
              <a:t>Express the statement </a:t>
            </a:r>
            <a:r>
              <a:rPr lang="en-US" sz="2400" dirty="0" smtClean="0">
                <a:solidFill>
                  <a:srgbClr val="C00000"/>
                </a:solidFill>
              </a:rPr>
              <a:t>in the form if p then q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Rewrite</a:t>
            </a:r>
            <a:r>
              <a:rPr lang="en-US" sz="2400" dirty="0" smtClean="0"/>
              <a:t> this statement in the </a:t>
            </a:r>
            <a:r>
              <a:rPr lang="en-US" sz="2400" dirty="0" err="1" smtClean="0">
                <a:solidFill>
                  <a:srgbClr val="C00000"/>
                </a:solidFill>
              </a:rPr>
              <a:t>contrapositive</a:t>
            </a:r>
            <a:r>
              <a:rPr lang="en-US" sz="2400" dirty="0" smtClean="0"/>
              <a:t> form </a:t>
            </a:r>
          </a:p>
          <a:p>
            <a:pPr lvl="1"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if not q then not p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Prove</a:t>
            </a:r>
            <a:r>
              <a:rPr lang="en-US" sz="2400" dirty="0" smtClean="0"/>
              <a:t> the </a:t>
            </a:r>
            <a:r>
              <a:rPr lang="en-US" sz="2400" dirty="0" err="1" smtClean="0">
                <a:solidFill>
                  <a:srgbClr val="C00000"/>
                </a:solidFill>
              </a:rPr>
              <a:t>contrapositive</a:t>
            </a:r>
            <a:r>
              <a:rPr lang="en-US" sz="2400" dirty="0" smtClean="0"/>
              <a:t> by a </a:t>
            </a:r>
            <a:r>
              <a:rPr lang="en-US" sz="2400" dirty="0" smtClean="0">
                <a:solidFill>
                  <a:srgbClr val="C00000"/>
                </a:solidFill>
              </a:rPr>
              <a:t>direct proof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that for all integers n, if n</a:t>
            </a:r>
            <a:r>
              <a:rPr lang="en-US" baseline="30000" dirty="0" smtClean="0"/>
              <a:t>2</a:t>
            </a:r>
            <a:r>
              <a:rPr lang="en-US" dirty="0" smtClean="0"/>
              <a:t> is even then n is even.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of the given statement is:</a:t>
            </a:r>
          </a:p>
          <a:p>
            <a:pPr>
              <a:buNone/>
            </a:pPr>
            <a:r>
              <a:rPr lang="en-US" dirty="0" smtClean="0"/>
              <a:t>		“</a:t>
            </a:r>
            <a:r>
              <a:rPr lang="en-US" dirty="0" smtClean="0">
                <a:solidFill>
                  <a:srgbClr val="C00000"/>
                </a:solidFill>
              </a:rPr>
              <a:t>if n is not even (odd) then 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is not even (odd)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We prove this </a:t>
            </a:r>
            <a:r>
              <a:rPr lang="en-US" dirty="0" err="1" smtClean="0"/>
              <a:t>contrapositive</a:t>
            </a:r>
            <a:r>
              <a:rPr lang="en-US" dirty="0" smtClean="0"/>
              <a:t> statement directly.</a:t>
            </a:r>
          </a:p>
          <a:p>
            <a:pPr>
              <a:buNone/>
            </a:pPr>
            <a:r>
              <a:rPr lang="en-US" dirty="0" smtClean="0"/>
              <a:t>	 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 Then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n = 2k + 1</a:t>
            </a:r>
            <a:r>
              <a:rPr lang="en-US" dirty="0" smtClean="0"/>
              <a:t> for some k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Z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Now	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(2k+1)</a:t>
            </a:r>
            <a:r>
              <a:rPr lang="en-US" baseline="30000" dirty="0" smtClean="0">
                <a:solidFill>
                  <a:srgbClr val="C00000"/>
                </a:solidFill>
              </a:rPr>
              <a:t>2 </a:t>
            </a:r>
            <a:r>
              <a:rPr lang="en-US" dirty="0" smtClean="0">
                <a:solidFill>
                  <a:srgbClr val="C00000"/>
                </a:solidFill>
              </a:rPr>
              <a:t>= 4k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+ 4k + 1</a:t>
            </a:r>
          </a:p>
          <a:p>
            <a:pPr>
              <a:buNone/>
            </a:pPr>
            <a:r>
              <a:rPr lang="en-US" dirty="0" smtClean="0"/>
              <a:t>				         </a:t>
            </a:r>
            <a:r>
              <a:rPr lang="en-US" dirty="0" smtClean="0">
                <a:solidFill>
                  <a:srgbClr val="C00000"/>
                </a:solidFill>
              </a:rPr>
              <a:t>= 2.(2k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+ 2k) + 1</a:t>
            </a:r>
          </a:p>
          <a:p>
            <a:pPr>
              <a:buNone/>
            </a:pPr>
            <a:r>
              <a:rPr lang="en-US" dirty="0" smtClean="0"/>
              <a:t>		 		         </a:t>
            </a:r>
            <a:r>
              <a:rPr lang="en-US" dirty="0" smtClean="0">
                <a:solidFill>
                  <a:srgbClr val="C00000"/>
                </a:solidFill>
              </a:rPr>
              <a:t>= 2.r + 1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where,</a:t>
            </a:r>
          </a:p>
          <a:p>
            <a:pPr>
              <a:buNone/>
            </a:pPr>
            <a:r>
              <a:rPr lang="en-US" dirty="0" smtClean="0"/>
              <a:t>			r = 2k</a:t>
            </a:r>
            <a:r>
              <a:rPr lang="en-US" baseline="30000" dirty="0" smtClean="0"/>
              <a:t>2</a:t>
            </a:r>
            <a:r>
              <a:rPr lang="en-US" dirty="0" smtClean="0"/>
              <a:t> + 2k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 Thus 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statement is 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and so the given statement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Prove that if 3n + 2 is odd, then n is odd.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    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of the given conditional statement is</a:t>
            </a:r>
          </a:p>
          <a:p>
            <a:pPr>
              <a:buNone/>
            </a:pPr>
            <a:r>
              <a:rPr lang="en-US" dirty="0" smtClean="0"/>
              <a:t>			“ </a:t>
            </a:r>
            <a:r>
              <a:rPr lang="en-US" dirty="0" smtClean="0">
                <a:solidFill>
                  <a:srgbClr val="C00000"/>
                </a:solidFill>
              </a:rPr>
              <a:t>if n is even then 3n + 2 is even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, then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2k</a:t>
            </a:r>
            <a:r>
              <a:rPr lang="en-US" dirty="0" smtClean="0"/>
              <a:t>		for some k</a:t>
            </a:r>
            <a:r>
              <a:rPr lang="en-US" dirty="0" smtClean="0">
                <a:sym typeface="Symbol"/>
              </a:rPr>
              <a:t> </a:t>
            </a:r>
            <a:r>
              <a:rPr lang="en-US" dirty="0" smtClean="0"/>
              <a:t> Z</a:t>
            </a:r>
          </a:p>
          <a:p>
            <a:pPr>
              <a:buNone/>
            </a:pPr>
            <a:r>
              <a:rPr lang="en-US" dirty="0" smtClean="0"/>
              <a:t>	Now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3n + 2	= 3 (2k) + 2</a:t>
            </a:r>
          </a:p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2.(3k + 1)</a:t>
            </a:r>
          </a:p>
          <a:p>
            <a:pPr>
              <a:buNone/>
            </a:pPr>
            <a:r>
              <a:rPr lang="en-US" dirty="0" smtClean="0"/>
              <a:t>				= </a:t>
            </a:r>
            <a:r>
              <a:rPr lang="en-US" dirty="0" smtClean="0">
                <a:solidFill>
                  <a:srgbClr val="C00000"/>
                </a:solidFill>
              </a:rPr>
              <a:t>2.r</a:t>
            </a:r>
            <a:r>
              <a:rPr lang="en-US" dirty="0" smtClean="0"/>
              <a:t>		where	r = (3k + 1)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</a:t>
            </a:r>
            <a:r>
              <a:rPr lang="en-US" dirty="0" smtClean="0">
                <a:solidFill>
                  <a:srgbClr val="C00000"/>
                </a:solidFill>
              </a:rPr>
              <a:t>3n + 2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We</a:t>
            </a:r>
            <a:r>
              <a:rPr lang="en-US" dirty="0" smtClean="0">
                <a:solidFill>
                  <a:srgbClr val="C00000"/>
                </a:solidFill>
              </a:rPr>
              <a:t> conclude</a:t>
            </a:r>
            <a:r>
              <a:rPr lang="en-US" dirty="0" smtClean="0"/>
              <a:t> that the </a:t>
            </a:r>
            <a:r>
              <a:rPr lang="en-US" dirty="0" smtClean="0">
                <a:solidFill>
                  <a:srgbClr val="C00000"/>
                </a:solidFill>
              </a:rPr>
              <a:t>given statement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since its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that if n</a:t>
            </a:r>
            <a:r>
              <a:rPr lang="en-US" baseline="30000" dirty="0" smtClean="0"/>
              <a:t>2</a:t>
            </a:r>
            <a:r>
              <a:rPr lang="en-US" dirty="0" smtClean="0"/>
              <a:t> is not divisible by 25, then n is not divisible by 5.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contra-positive</a:t>
            </a:r>
            <a:r>
              <a:rPr lang="en-US" dirty="0" smtClean="0"/>
              <a:t> statement is:</a:t>
            </a:r>
          </a:p>
          <a:p>
            <a:pPr>
              <a:buNone/>
            </a:pPr>
            <a:r>
              <a:rPr lang="en-US" dirty="0" smtClean="0"/>
              <a:t>		“</a:t>
            </a:r>
            <a:r>
              <a:rPr lang="en-US" dirty="0" smtClean="0">
                <a:solidFill>
                  <a:srgbClr val="C00000"/>
                </a:solidFill>
              </a:rPr>
              <a:t>if n is divisible by 5, then 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 is divisible by 25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divisible by 5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Then by definition of divisibility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n = 5.k</a:t>
            </a:r>
            <a:r>
              <a:rPr lang="en-US" dirty="0" smtClean="0"/>
              <a:t>	for some integer k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Squaring both sides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 = 25.k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		</a:t>
            </a:r>
          </a:p>
          <a:p>
            <a:pPr>
              <a:buNone/>
            </a:pPr>
            <a:r>
              <a:rPr lang="en-US" dirty="0" smtClean="0"/>
              <a:t>	where</a:t>
            </a:r>
          </a:p>
          <a:p>
            <a:pPr>
              <a:buNone/>
            </a:pPr>
            <a:r>
              <a:rPr lang="en-US" dirty="0" smtClean="0"/>
              <a:t>			k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</a:t>
            </a:r>
          </a:p>
          <a:p>
            <a:pPr>
              <a:buNone/>
            </a:pPr>
            <a:r>
              <a:rPr lang="en-US" dirty="0" smtClean="0"/>
              <a:t>	So,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Prove the statement by contraposition:</a:t>
            </a:r>
          </a:p>
          <a:p>
            <a:pPr>
              <a:buNone/>
            </a:pPr>
            <a:r>
              <a:rPr lang="en-US" dirty="0" smtClean="0"/>
              <a:t>	For all integers m and n, if m + n is even then m and n are both even or m and n are both odd.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    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statement is: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all integers m and n, if m and n are not both even and m and n are not both odd, then m + n is not even</a:t>
            </a:r>
            <a:r>
              <a:rPr lang="en-US" dirty="0" smtClean="0"/>
              <a:t>.”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or more simply,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all integers m and n, if one of m and n is even and the other is odd, then m + n is odd</a:t>
            </a:r>
            <a:r>
              <a:rPr lang="en-US" dirty="0" smtClean="0"/>
              <a:t>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Suppose </a:t>
            </a:r>
            <a:r>
              <a:rPr lang="en-US" sz="3100" dirty="0" smtClean="0">
                <a:solidFill>
                  <a:srgbClr val="C00000"/>
                </a:solidFill>
              </a:rPr>
              <a:t>m</a:t>
            </a:r>
            <a:r>
              <a:rPr lang="en-US" sz="3100" dirty="0" smtClean="0"/>
              <a:t> is </a:t>
            </a:r>
            <a:r>
              <a:rPr lang="en-US" sz="3100" dirty="0" smtClean="0">
                <a:solidFill>
                  <a:srgbClr val="C00000"/>
                </a:solidFill>
              </a:rPr>
              <a:t>even</a:t>
            </a:r>
            <a:r>
              <a:rPr lang="en-US" sz="3100" dirty="0" smtClean="0"/>
              <a:t> and </a:t>
            </a:r>
            <a:r>
              <a:rPr lang="en-US" sz="31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/>
              <a:t> is </a:t>
            </a:r>
            <a:r>
              <a:rPr lang="en-US" sz="3100" dirty="0" smtClean="0">
                <a:solidFill>
                  <a:srgbClr val="C00000"/>
                </a:solidFill>
              </a:rPr>
              <a:t>odd</a:t>
            </a:r>
            <a:r>
              <a:rPr lang="en-US" sz="3100" dirty="0" smtClean="0"/>
              <a:t>. </a:t>
            </a:r>
          </a:p>
          <a:p>
            <a:pPr>
              <a:buNone/>
            </a:pPr>
            <a:r>
              <a:rPr lang="en-US" sz="3100" dirty="0" smtClean="0"/>
              <a:t>	Then,</a:t>
            </a:r>
          </a:p>
          <a:p>
            <a:pPr>
              <a:buNone/>
            </a:pPr>
            <a:r>
              <a:rPr lang="en-US" sz="3100" dirty="0" smtClean="0"/>
              <a:t>			 </a:t>
            </a:r>
            <a:r>
              <a:rPr lang="en-US" sz="3100" dirty="0" smtClean="0">
                <a:solidFill>
                  <a:srgbClr val="C00000"/>
                </a:solidFill>
              </a:rPr>
              <a:t>m = 2p</a:t>
            </a:r>
            <a:r>
              <a:rPr lang="en-US" sz="3100" dirty="0" smtClean="0"/>
              <a:t> 		for some integer p</a:t>
            </a:r>
          </a:p>
          <a:p>
            <a:pPr>
              <a:buNone/>
            </a:pPr>
            <a:r>
              <a:rPr lang="en-US" sz="3100" dirty="0" smtClean="0"/>
              <a:t>		and	  </a:t>
            </a:r>
            <a:r>
              <a:rPr lang="en-US" sz="3100" dirty="0" smtClean="0">
                <a:solidFill>
                  <a:srgbClr val="C00000"/>
                </a:solidFill>
              </a:rPr>
              <a:t>n = 2q + 1</a:t>
            </a:r>
            <a:r>
              <a:rPr lang="en-US" sz="3100" dirty="0" smtClean="0"/>
              <a:t>		for some integer q</a:t>
            </a:r>
          </a:p>
          <a:p>
            <a:pPr>
              <a:buNone/>
            </a:pPr>
            <a:endParaRPr lang="en-US" sz="3100" dirty="0" smtClean="0"/>
          </a:p>
          <a:p>
            <a:pPr>
              <a:buNone/>
            </a:pPr>
            <a:r>
              <a:rPr lang="en-US" sz="3100" dirty="0" smtClean="0"/>
              <a:t>	Now 	</a:t>
            </a:r>
            <a:r>
              <a:rPr lang="en-US" sz="3100" dirty="0" smtClean="0">
                <a:solidFill>
                  <a:srgbClr val="C00000"/>
                </a:solidFill>
              </a:rPr>
              <a:t>m + n	= (2p) + (2q + 1)</a:t>
            </a:r>
          </a:p>
          <a:p>
            <a:pPr>
              <a:buNone/>
            </a:pPr>
            <a:r>
              <a:rPr lang="en-US" sz="3100" dirty="0" smtClean="0"/>
              <a:t>				</a:t>
            </a:r>
            <a:r>
              <a:rPr lang="en-US" sz="3100" dirty="0" smtClean="0">
                <a:solidFill>
                  <a:srgbClr val="C00000"/>
                </a:solidFill>
              </a:rPr>
              <a:t>= 2.(</a:t>
            </a:r>
            <a:r>
              <a:rPr lang="en-US" sz="3100" dirty="0" err="1" smtClean="0">
                <a:solidFill>
                  <a:srgbClr val="C00000"/>
                </a:solidFill>
              </a:rPr>
              <a:t>p+q</a:t>
            </a:r>
            <a:r>
              <a:rPr lang="en-US" sz="3100" dirty="0" smtClean="0">
                <a:solidFill>
                  <a:srgbClr val="C00000"/>
                </a:solidFill>
              </a:rPr>
              <a:t>) + 1</a:t>
            </a:r>
          </a:p>
          <a:p>
            <a:pPr>
              <a:buNone/>
            </a:pPr>
            <a:r>
              <a:rPr lang="en-US" sz="3100" dirty="0" smtClean="0"/>
              <a:t>				</a:t>
            </a:r>
            <a:r>
              <a:rPr lang="en-US" sz="3100" dirty="0" smtClean="0">
                <a:solidFill>
                  <a:srgbClr val="C00000"/>
                </a:solidFill>
              </a:rPr>
              <a:t>= 2.r + 1</a:t>
            </a:r>
          </a:p>
          <a:p>
            <a:pPr>
              <a:buNone/>
            </a:pPr>
            <a:r>
              <a:rPr lang="en-US" sz="3100" dirty="0" smtClean="0"/>
              <a:t>	where</a:t>
            </a:r>
          </a:p>
          <a:p>
            <a:pPr>
              <a:buNone/>
            </a:pPr>
            <a:r>
              <a:rPr lang="en-US" sz="3100" dirty="0" smtClean="0"/>
              <a:t>			 r = </a:t>
            </a:r>
            <a:r>
              <a:rPr lang="en-US" sz="3100" dirty="0" err="1" smtClean="0"/>
              <a:t>p+q</a:t>
            </a:r>
            <a:r>
              <a:rPr lang="en-US" sz="3100" dirty="0" smtClean="0"/>
              <a:t> is an integer</a:t>
            </a:r>
          </a:p>
          <a:p>
            <a:pPr>
              <a:buNone/>
            </a:pPr>
            <a:endParaRPr lang="en-US" sz="3100" dirty="0" smtClean="0"/>
          </a:p>
          <a:p>
            <a:pPr>
              <a:buNone/>
            </a:pPr>
            <a:r>
              <a:rPr lang="en-US" sz="3100" dirty="0" smtClean="0"/>
              <a:t>	Hence </a:t>
            </a:r>
            <a:r>
              <a:rPr lang="en-US" sz="3100" dirty="0" smtClean="0">
                <a:solidFill>
                  <a:srgbClr val="C00000"/>
                </a:solidFill>
              </a:rPr>
              <a:t>m + n</a:t>
            </a:r>
            <a:r>
              <a:rPr lang="en-US" sz="3100" dirty="0" smtClean="0"/>
              <a:t> is </a:t>
            </a:r>
            <a:r>
              <a:rPr lang="en-US" sz="3100" dirty="0" smtClean="0">
                <a:solidFill>
                  <a:srgbClr val="C00000"/>
                </a:solidFill>
              </a:rPr>
              <a:t>odd</a:t>
            </a:r>
            <a:r>
              <a:rPr lang="en-US" sz="3100" dirty="0" smtClean="0"/>
              <a:t>.</a:t>
            </a:r>
          </a:p>
          <a:p>
            <a:pPr>
              <a:buNone/>
            </a:pPr>
            <a:r>
              <a:rPr lang="en-US" sz="3100" dirty="0" smtClean="0"/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Similarly, taking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even</a:t>
            </a:r>
            <a:r>
              <a:rPr lang="en-US" dirty="0" smtClean="0"/>
              <a:t>, we again arrive at the result that </a:t>
            </a:r>
            <a:r>
              <a:rPr lang="en-US" dirty="0" smtClean="0">
                <a:solidFill>
                  <a:srgbClr val="C00000"/>
                </a:solidFill>
              </a:rPr>
              <a:t>m + 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odd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Thus, the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statement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Since an </a:t>
            </a:r>
            <a:r>
              <a:rPr lang="en-US" dirty="0" smtClean="0">
                <a:solidFill>
                  <a:srgbClr val="C00000"/>
                </a:solidFill>
              </a:rPr>
              <a:t>implication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 to its  </a:t>
            </a:r>
            <a:r>
              <a:rPr lang="en-US" dirty="0" err="1" smtClean="0">
                <a:solidFill>
                  <a:srgbClr val="C00000"/>
                </a:solidFill>
              </a:rPr>
              <a:t>contrapositive</a:t>
            </a:r>
            <a:r>
              <a:rPr lang="en-US" dirty="0" smtClean="0"/>
              <a:t> so the given </a:t>
            </a:r>
            <a:r>
              <a:rPr lang="en-US" dirty="0" smtClean="0">
                <a:solidFill>
                  <a:srgbClr val="C00000"/>
                </a:solidFill>
              </a:rPr>
              <a:t>implication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4458</TotalTime>
  <Words>1307</Words>
  <Application>Microsoft Office PowerPoint</Application>
  <PresentationFormat>On-screen Show (4:3)</PresentationFormat>
  <Paragraphs>487</Paragraphs>
  <Slides>50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Origin</vt:lpstr>
      <vt:lpstr>Equation</vt:lpstr>
      <vt:lpstr>INTRODUCTION TO PROOFS Lecture # 18  </vt:lpstr>
      <vt:lpstr>INTRODUCTION</vt:lpstr>
      <vt:lpstr>SOME TERMINOLOGY</vt:lpstr>
      <vt:lpstr>Slide 4</vt:lpstr>
      <vt:lpstr>Slide 5</vt:lpstr>
      <vt:lpstr>DIRECT PROOF</vt:lpstr>
      <vt:lpstr>SOME BASICS</vt:lpstr>
      <vt:lpstr>Slide 8</vt:lpstr>
      <vt:lpstr>EXERCISE</vt:lpstr>
      <vt:lpstr>Slide 10</vt:lpstr>
      <vt:lpstr>EXERCISE</vt:lpstr>
      <vt:lpstr>EXERCISE</vt:lpstr>
      <vt:lpstr>EXERCISE</vt:lpstr>
      <vt:lpstr>EXERCISE</vt:lpstr>
      <vt:lpstr>Slide 15</vt:lpstr>
      <vt:lpstr>EXERCISE</vt:lpstr>
      <vt:lpstr>Slide 17</vt:lpstr>
      <vt:lpstr>EXERCISE</vt:lpstr>
      <vt:lpstr>Slide 19</vt:lpstr>
      <vt:lpstr>EXERCISE</vt:lpstr>
      <vt:lpstr>Slide 21</vt:lpstr>
      <vt:lpstr>Slide 22</vt:lpstr>
      <vt:lpstr>EXERCISE</vt:lpstr>
      <vt:lpstr>Slide 24</vt:lpstr>
      <vt:lpstr>EXERCISE</vt:lpstr>
      <vt:lpstr>EXERCISE</vt:lpstr>
      <vt:lpstr>PROOF BY CONTRADICTION</vt:lpstr>
      <vt:lpstr>Slide 28</vt:lpstr>
      <vt:lpstr>THEOREM</vt:lpstr>
      <vt:lpstr>Slide 30</vt:lpstr>
      <vt:lpstr>EXERCISE</vt:lpstr>
      <vt:lpstr>EXERCISE</vt:lpstr>
      <vt:lpstr>Slide 33</vt:lpstr>
      <vt:lpstr>EXERCISE</vt:lpstr>
      <vt:lpstr>Slide 35</vt:lpstr>
      <vt:lpstr>Slide 36</vt:lpstr>
      <vt:lpstr>EXERCISE</vt:lpstr>
      <vt:lpstr>Slide 38</vt:lpstr>
      <vt:lpstr>Slide 39</vt:lpstr>
      <vt:lpstr>PROOF BY CONTRAPOSITION</vt:lpstr>
      <vt:lpstr>Slide 41</vt:lpstr>
      <vt:lpstr>EXERCISE</vt:lpstr>
      <vt:lpstr>Slide 43</vt:lpstr>
      <vt:lpstr>EXERCISE</vt:lpstr>
      <vt:lpstr>Slide 45</vt:lpstr>
      <vt:lpstr>EXERCISE</vt:lpstr>
      <vt:lpstr>Slide 47</vt:lpstr>
      <vt:lpstr>EXERCISE</vt:lpstr>
      <vt:lpstr>Slide 49</vt:lpstr>
      <vt:lpstr>Slide 50</vt:lpstr>
    </vt:vector>
  </TitlesOfParts>
  <Company>University of Virginia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Yasir</cp:lastModifiedBy>
  <cp:revision>332</cp:revision>
  <dcterms:created xsi:type="dcterms:W3CDTF">2004-09-16T16:06:30Z</dcterms:created>
  <dcterms:modified xsi:type="dcterms:W3CDTF">2013-12-17T04:46:07Z</dcterms:modified>
</cp:coreProperties>
</file>
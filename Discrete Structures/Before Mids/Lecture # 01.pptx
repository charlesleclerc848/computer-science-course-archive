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42"/>
  </p:handoutMasterIdLst>
  <p:sldIdLst>
    <p:sldId id="256" r:id="rId3"/>
    <p:sldId id="257" r:id="rId4"/>
    <p:sldId id="258" r:id="rId5"/>
    <p:sldId id="259" r:id="rId6"/>
    <p:sldId id="267" r:id="rId7"/>
    <p:sldId id="260" r:id="rId8"/>
    <p:sldId id="261" r:id="rId10"/>
    <p:sldId id="264" r:id="rId11"/>
    <p:sldId id="265" r:id="rId12"/>
    <p:sldId id="262" r:id="rId13"/>
    <p:sldId id="263" r:id="rId14"/>
    <p:sldId id="268" r:id="rId15"/>
    <p:sldId id="266" r:id="rId16"/>
    <p:sldId id="269" r:id="rId17"/>
    <p:sldId id="270" r:id="rId18"/>
    <p:sldId id="271" r:id="rId19"/>
    <p:sldId id="272" r:id="rId20"/>
    <p:sldId id="273" r:id="rId21"/>
    <p:sldId id="290" r:id="rId22"/>
    <p:sldId id="274" r:id="rId23"/>
    <p:sldId id="275" r:id="rId24"/>
    <p:sldId id="276" r:id="rId25"/>
    <p:sldId id="277" r:id="rId26"/>
    <p:sldId id="291" r:id="rId27"/>
    <p:sldId id="278" r:id="rId28"/>
    <p:sldId id="292" r:id="rId29"/>
    <p:sldId id="279" r:id="rId30"/>
    <p:sldId id="280" r:id="rId31"/>
    <p:sldId id="293" r:id="rId32"/>
    <p:sldId id="281" r:id="rId33"/>
    <p:sldId id="294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 autoAdjust="0"/>
    <p:restoredTop sz="94660"/>
  </p:normalViewPr>
  <p:slideViewPr>
    <p:cSldViewPr showGuides="1">
      <p:cViewPr varScale="1">
        <p:scale>
          <a:sx n="66" d="100"/>
          <a:sy n="66" d="100"/>
        </p:scale>
        <p:origin x="8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7043B-3052-43F3-BC05-696C3A88DBA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445C2-0215-43B2-89A9-DBBE36BEFCA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CEA7A-0DCF-4742-BD22-DF14B59E452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 panose="05040102010807070707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 panose="05040102010807070707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 panose="05040102010807070707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Discrete Structure/Mathematics 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BSCS (3</a:t>
            </a:r>
            <a:r>
              <a:rPr lang="en-US" b="1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Credit Hour)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01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Introduction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Discrete structures/mathematics has special relevance to computer science.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Computer is a binary machine and all the algorithms in computer science are based on binary digits 0 and 1. We therefore can say computer is inherently is </a:t>
            </a:r>
            <a:r>
              <a:rPr lang="en-US" b="1" dirty="0" smtClean="0"/>
              <a:t>DISCRETE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Application of Discrete Structure 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Apart from computer sc. Discrete Structure have application in many diverse areas.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Example:</a:t>
            </a:r>
            <a:endParaRPr lang="en-US" b="1" dirty="0" smtClean="0"/>
          </a:p>
          <a:p>
            <a:pPr lvl="1"/>
            <a:r>
              <a:rPr lang="en-US" dirty="0" smtClean="0"/>
              <a:t>Management Science</a:t>
            </a:r>
            <a:endParaRPr lang="en-US" dirty="0" smtClean="0"/>
          </a:p>
          <a:p>
            <a:pPr lvl="1"/>
            <a:r>
              <a:rPr lang="en-US" dirty="0" smtClean="0"/>
              <a:t>Network Analysis</a:t>
            </a:r>
            <a:endParaRPr lang="en-US" dirty="0" smtClean="0"/>
          </a:p>
          <a:p>
            <a:pPr lvl="1"/>
            <a:r>
              <a:rPr lang="en-US" dirty="0" smtClean="0"/>
              <a:t>Social decision making</a:t>
            </a:r>
            <a:endParaRPr lang="en-US" dirty="0" smtClean="0"/>
          </a:p>
          <a:p>
            <a:pPr lvl="1"/>
            <a:r>
              <a:rPr lang="en-US" dirty="0" smtClean="0"/>
              <a:t>Finance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3"/>
                </a:solidFill>
              </a:rPr>
              <a:t>Reasons to study discrete Mathematics.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Mathematical Maturity essential to study any scientific discipline.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Prerequisite of number of advance courses i.e.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Data Structures</a:t>
            </a:r>
            <a:endParaRPr lang="en-US" dirty="0" smtClean="0"/>
          </a:p>
          <a:p>
            <a:pPr lvl="1"/>
            <a:r>
              <a:rPr lang="en-US" dirty="0" smtClean="0"/>
              <a:t>Algorithm Analysis</a:t>
            </a:r>
            <a:endParaRPr lang="en-US" dirty="0" smtClean="0"/>
          </a:p>
          <a:p>
            <a:pPr lvl="1"/>
            <a:r>
              <a:rPr lang="en-US" dirty="0" smtClean="0"/>
              <a:t>Theory of Automata</a:t>
            </a:r>
            <a:endParaRPr lang="en-US" dirty="0" smtClean="0"/>
          </a:p>
          <a:p>
            <a:pPr lvl="1"/>
            <a:r>
              <a:rPr lang="en-US" dirty="0" smtClean="0"/>
              <a:t>Computer Theory</a:t>
            </a: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The kind of problem solved using Discrete Structure Course: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many ways are there to choose a valid password?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Is there a path connecting two computers in a network?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 can a circuit that adds two integers be designed?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 many valid internet addresses are there?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 can we encrypt credit card information on the web?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What is the probability of winning a lottery?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3"/>
                </a:solidFill>
              </a:rPr>
              <a:t>Recommended Books: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b="1" i="1" dirty="0" smtClean="0"/>
              <a:t>Discrete Mathematics and its application</a:t>
            </a:r>
            <a:r>
              <a:rPr lang="en-US" dirty="0" smtClean="0"/>
              <a:t> by Kenneth H. Rosen, 7</a:t>
            </a:r>
            <a:r>
              <a:rPr lang="en-US" baseline="30000" dirty="0" smtClean="0"/>
              <a:t>th</a:t>
            </a:r>
            <a:r>
              <a:rPr lang="en-US" dirty="0" smtClean="0"/>
              <a:t> edition.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b="1" i="1" dirty="0" smtClean="0"/>
              <a:t>Discrete Mathematics with applications</a:t>
            </a:r>
            <a:r>
              <a:rPr lang="en-US" dirty="0" smtClean="0"/>
              <a:t> by Susanna S. </a:t>
            </a:r>
            <a:r>
              <a:rPr lang="en-US" dirty="0" err="1" smtClean="0"/>
              <a:t>Epp</a:t>
            </a:r>
            <a:r>
              <a:rPr lang="en-US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endParaRPr lang="en-US" b="1" i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b="1" i="1" dirty="0" smtClean="0"/>
              <a:t>Discrete Mathematics</a:t>
            </a:r>
            <a:r>
              <a:rPr lang="en-US" dirty="0" smtClean="0"/>
              <a:t> by Ross and Wright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Main Topics: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Logic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Sets &amp; Operations on sets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Relations &amp; Their Properties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Functions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Sequences &amp; Series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Recurrence Relations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Mathematical Induction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Loop Invariants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err="1" smtClean="0"/>
              <a:t>Combinatorics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Probability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11. Graphs and Trees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Marks Distribution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Assignments (</a:t>
            </a:r>
            <a:r>
              <a:rPr lang="en-US" b="1" dirty="0"/>
              <a:t>5</a:t>
            </a:r>
            <a:r>
              <a:rPr lang="en-US" b="1" dirty="0" smtClean="0"/>
              <a:t>%)</a:t>
            </a:r>
            <a:endParaRPr lang="en-US" b="1" dirty="0" smtClean="0"/>
          </a:p>
          <a:p>
            <a:r>
              <a:rPr lang="en-US" b="1" dirty="0" smtClean="0"/>
              <a:t>Quiz (15 %)</a:t>
            </a:r>
            <a:endParaRPr lang="en-US" b="1" dirty="0" smtClean="0"/>
          </a:p>
          <a:p>
            <a:r>
              <a:rPr lang="en-US" b="1" dirty="0" smtClean="0"/>
              <a:t>Midterm Exam (30 %)</a:t>
            </a:r>
            <a:endParaRPr lang="en-US" b="1" dirty="0" smtClean="0"/>
          </a:p>
          <a:p>
            <a:pPr lvl="1"/>
            <a:r>
              <a:rPr lang="en-US" dirty="0" smtClean="0"/>
              <a:t>During the 8</a:t>
            </a:r>
            <a:r>
              <a:rPr lang="en-US" baseline="30000" dirty="0" smtClean="0"/>
              <a:t>th</a:t>
            </a:r>
            <a:r>
              <a:rPr lang="en-US" dirty="0" smtClean="0"/>
              <a:t> week.</a:t>
            </a:r>
            <a:endParaRPr lang="en-US" dirty="0" smtClean="0"/>
          </a:p>
          <a:p>
            <a:pPr lvl="1"/>
            <a:r>
              <a:rPr lang="en-US" dirty="0" smtClean="0"/>
              <a:t>Duration: 1 hour.</a:t>
            </a:r>
            <a:endParaRPr lang="en-US" dirty="0" smtClean="0"/>
          </a:p>
          <a:p>
            <a:pPr lvl="1"/>
            <a:r>
              <a:rPr lang="en-US" dirty="0" smtClean="0"/>
              <a:t>Will cover all material covered during the first seven weeks.</a:t>
            </a:r>
            <a:endParaRPr lang="en-US" dirty="0" smtClean="0"/>
          </a:p>
          <a:p>
            <a:r>
              <a:rPr lang="en-US" b="1" dirty="0" smtClean="0"/>
              <a:t>Final Exam (50 %)</a:t>
            </a:r>
            <a:endParaRPr lang="en-US" b="1" dirty="0" smtClean="0"/>
          </a:p>
          <a:p>
            <a:pPr lvl="1"/>
            <a:r>
              <a:rPr lang="en-US" dirty="0" smtClean="0"/>
              <a:t>During the 16</a:t>
            </a:r>
            <a:r>
              <a:rPr lang="en-US" baseline="30000" dirty="0" smtClean="0"/>
              <a:t>th</a:t>
            </a:r>
            <a:r>
              <a:rPr lang="en-US" dirty="0" smtClean="0"/>
              <a:t> week.</a:t>
            </a:r>
            <a:endParaRPr lang="en-US" dirty="0" smtClean="0"/>
          </a:p>
          <a:p>
            <a:pPr lvl="1"/>
            <a:r>
              <a:rPr lang="en-US" dirty="0" smtClean="0"/>
              <a:t>Will cover whole of the course with a slight emphasis on the material cover after the midterm exam.</a:t>
            </a:r>
            <a:endParaRPr lang="en-US" dirty="0" smtClean="0"/>
          </a:p>
          <a:p>
            <a:pPr lvl="1"/>
            <a:r>
              <a:rPr lang="en-US" dirty="0" smtClean="0"/>
              <a:t>Duration: 2 hour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Discrete mathematics / structures?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word </a:t>
            </a:r>
            <a:r>
              <a:rPr lang="en-US" b="1" i="1" dirty="0" smtClean="0"/>
              <a:t>discrete</a:t>
            </a:r>
            <a:r>
              <a:rPr lang="en-US" dirty="0" smtClean="0"/>
              <a:t> is essentially the opposite of </a:t>
            </a:r>
            <a:r>
              <a:rPr lang="en-US" b="1" i="1" dirty="0" smtClean="0"/>
              <a:t>continuous</a:t>
            </a:r>
            <a:r>
              <a:rPr lang="en-US" dirty="0" smtClean="0"/>
              <a:t>, </a:t>
            </a:r>
            <a:r>
              <a:rPr lang="en-US" b="1" i="1" dirty="0" smtClean="0"/>
              <a:t>discontinuous</a:t>
            </a:r>
            <a:r>
              <a:rPr lang="en-US" dirty="0" smtClean="0"/>
              <a:t> or </a:t>
            </a:r>
            <a:r>
              <a:rPr lang="en-US" b="1" i="1" dirty="0" smtClean="0"/>
              <a:t>segregated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/>
              <a:t>Definition: </a:t>
            </a:r>
            <a:endParaRPr lang="en-US" b="1" u="sng" dirty="0" smtClean="0"/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b="1" i="1" dirty="0" smtClean="0">
                <a:solidFill>
                  <a:srgbClr val="C00000"/>
                </a:solidFill>
              </a:rPr>
              <a:t>Discrete Mathematics/Structure</a:t>
            </a:r>
            <a:r>
              <a:rPr lang="en-US" dirty="0" smtClean="0"/>
              <a:t> concerns processes that consist of a sequence of individual steps.”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</p:txBody>
      </p:sp>
      <p:grpSp>
        <p:nvGrpSpPr>
          <p:cNvPr id="1053" name="Group 29"/>
          <p:cNvGrpSpPr/>
          <p:nvPr/>
        </p:nvGrpSpPr>
        <p:grpSpPr bwMode="auto">
          <a:xfrm>
            <a:off x="1752600" y="2209800"/>
            <a:ext cx="5486400" cy="2286000"/>
            <a:chOff x="384" y="0"/>
            <a:chExt cx="3648" cy="1392"/>
          </a:xfrm>
        </p:grpSpPr>
        <p:sp>
          <p:nvSpPr>
            <p:cNvPr id="1054" name="Text Box 30"/>
            <p:cNvSpPr txBox="1">
              <a:spLocks noChangeArrowheads="1"/>
            </p:cNvSpPr>
            <p:nvPr/>
          </p:nvSpPr>
          <p:spPr bwMode="auto">
            <a:xfrm>
              <a:off x="2112" y="144"/>
              <a:ext cx="1800" cy="3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            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Continuous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5" name="Freeform 31"/>
            <p:cNvSpPr/>
            <p:nvPr/>
          </p:nvSpPr>
          <p:spPr bwMode="auto">
            <a:xfrm>
              <a:off x="2448" y="425"/>
              <a:ext cx="1420" cy="8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141"/>
                </a:cxn>
                <a:cxn ang="0">
                  <a:pos x="83" y="247"/>
                </a:cxn>
                <a:cxn ang="0">
                  <a:pos x="271" y="388"/>
                </a:cxn>
                <a:cxn ang="0">
                  <a:pos x="423" y="423"/>
                </a:cxn>
                <a:cxn ang="0">
                  <a:pos x="776" y="411"/>
                </a:cxn>
                <a:cxn ang="0">
                  <a:pos x="870" y="388"/>
                </a:cxn>
                <a:cxn ang="0">
                  <a:pos x="1011" y="282"/>
                </a:cxn>
                <a:cxn ang="0">
                  <a:pos x="1164" y="153"/>
                </a:cxn>
                <a:cxn ang="0">
                  <a:pos x="1270" y="70"/>
                </a:cxn>
                <a:cxn ang="0">
                  <a:pos x="1434" y="117"/>
                </a:cxn>
                <a:cxn ang="0">
                  <a:pos x="1564" y="282"/>
                </a:cxn>
                <a:cxn ang="0">
                  <a:pos x="1634" y="411"/>
                </a:cxn>
                <a:cxn ang="0">
                  <a:pos x="1658" y="446"/>
                </a:cxn>
                <a:cxn ang="0">
                  <a:pos x="1811" y="599"/>
                </a:cxn>
                <a:cxn ang="0">
                  <a:pos x="1893" y="635"/>
                </a:cxn>
              </a:cxnLst>
              <a:rect l="0" t="0" r="r" b="b"/>
              <a:pathLst>
                <a:path w="1893" h="635">
                  <a:moveTo>
                    <a:pt x="0" y="0"/>
                  </a:moveTo>
                  <a:cubicBezTo>
                    <a:pt x="17" y="49"/>
                    <a:pt x="42" y="99"/>
                    <a:pt x="71" y="141"/>
                  </a:cubicBezTo>
                  <a:cubicBezTo>
                    <a:pt x="75" y="176"/>
                    <a:pt x="68" y="215"/>
                    <a:pt x="83" y="247"/>
                  </a:cubicBezTo>
                  <a:cubicBezTo>
                    <a:pt x="110" y="305"/>
                    <a:pt x="212" y="366"/>
                    <a:pt x="271" y="388"/>
                  </a:cubicBezTo>
                  <a:cubicBezTo>
                    <a:pt x="320" y="406"/>
                    <a:pt x="373" y="406"/>
                    <a:pt x="423" y="423"/>
                  </a:cubicBezTo>
                  <a:cubicBezTo>
                    <a:pt x="541" y="419"/>
                    <a:pt x="659" y="420"/>
                    <a:pt x="776" y="411"/>
                  </a:cubicBezTo>
                  <a:cubicBezTo>
                    <a:pt x="808" y="408"/>
                    <a:pt x="870" y="388"/>
                    <a:pt x="870" y="388"/>
                  </a:cubicBezTo>
                  <a:cubicBezTo>
                    <a:pt x="917" y="353"/>
                    <a:pt x="969" y="324"/>
                    <a:pt x="1011" y="282"/>
                  </a:cubicBezTo>
                  <a:cubicBezTo>
                    <a:pt x="1113" y="180"/>
                    <a:pt x="1061" y="221"/>
                    <a:pt x="1164" y="153"/>
                  </a:cubicBezTo>
                  <a:cubicBezTo>
                    <a:pt x="1328" y="44"/>
                    <a:pt x="1172" y="104"/>
                    <a:pt x="1270" y="70"/>
                  </a:cubicBezTo>
                  <a:cubicBezTo>
                    <a:pt x="1327" y="85"/>
                    <a:pt x="1380" y="91"/>
                    <a:pt x="1434" y="117"/>
                  </a:cubicBezTo>
                  <a:cubicBezTo>
                    <a:pt x="1510" y="193"/>
                    <a:pt x="1504" y="203"/>
                    <a:pt x="1564" y="282"/>
                  </a:cubicBezTo>
                  <a:cubicBezTo>
                    <a:pt x="1583" y="363"/>
                    <a:pt x="1565" y="314"/>
                    <a:pt x="1634" y="411"/>
                  </a:cubicBezTo>
                  <a:cubicBezTo>
                    <a:pt x="1642" y="423"/>
                    <a:pt x="1658" y="446"/>
                    <a:pt x="1658" y="446"/>
                  </a:cubicBezTo>
                  <a:cubicBezTo>
                    <a:pt x="1681" y="521"/>
                    <a:pt x="1739" y="569"/>
                    <a:pt x="1811" y="599"/>
                  </a:cubicBezTo>
                  <a:cubicBezTo>
                    <a:pt x="1830" y="607"/>
                    <a:pt x="1893" y="606"/>
                    <a:pt x="1893" y="63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56" name="Line 32"/>
            <p:cNvSpPr>
              <a:spLocks noChangeShapeType="1"/>
            </p:cNvSpPr>
            <p:nvPr/>
          </p:nvSpPr>
          <p:spPr bwMode="auto">
            <a:xfrm>
              <a:off x="2352" y="1368"/>
              <a:ext cx="1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57" name="Line 33"/>
            <p:cNvSpPr>
              <a:spLocks noChangeShapeType="1"/>
            </p:cNvSpPr>
            <p:nvPr/>
          </p:nvSpPr>
          <p:spPr bwMode="auto">
            <a:xfrm flipV="1">
              <a:off x="2400" y="0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58" name="Freeform 34"/>
            <p:cNvSpPr/>
            <p:nvPr/>
          </p:nvSpPr>
          <p:spPr bwMode="auto">
            <a:xfrm>
              <a:off x="576" y="353"/>
              <a:ext cx="1420" cy="8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141"/>
                </a:cxn>
                <a:cxn ang="0">
                  <a:pos x="83" y="247"/>
                </a:cxn>
                <a:cxn ang="0">
                  <a:pos x="271" y="388"/>
                </a:cxn>
                <a:cxn ang="0">
                  <a:pos x="423" y="423"/>
                </a:cxn>
                <a:cxn ang="0">
                  <a:pos x="776" y="411"/>
                </a:cxn>
                <a:cxn ang="0">
                  <a:pos x="870" y="388"/>
                </a:cxn>
                <a:cxn ang="0">
                  <a:pos x="1011" y="282"/>
                </a:cxn>
                <a:cxn ang="0">
                  <a:pos x="1164" y="153"/>
                </a:cxn>
                <a:cxn ang="0">
                  <a:pos x="1270" y="70"/>
                </a:cxn>
                <a:cxn ang="0">
                  <a:pos x="1434" y="117"/>
                </a:cxn>
                <a:cxn ang="0">
                  <a:pos x="1564" y="282"/>
                </a:cxn>
                <a:cxn ang="0">
                  <a:pos x="1634" y="411"/>
                </a:cxn>
                <a:cxn ang="0">
                  <a:pos x="1658" y="446"/>
                </a:cxn>
                <a:cxn ang="0">
                  <a:pos x="1811" y="599"/>
                </a:cxn>
                <a:cxn ang="0">
                  <a:pos x="1893" y="635"/>
                </a:cxn>
              </a:cxnLst>
              <a:rect l="0" t="0" r="r" b="b"/>
              <a:pathLst>
                <a:path w="1893" h="635">
                  <a:moveTo>
                    <a:pt x="0" y="0"/>
                  </a:moveTo>
                  <a:cubicBezTo>
                    <a:pt x="17" y="49"/>
                    <a:pt x="42" y="99"/>
                    <a:pt x="71" y="141"/>
                  </a:cubicBezTo>
                  <a:cubicBezTo>
                    <a:pt x="75" y="176"/>
                    <a:pt x="68" y="215"/>
                    <a:pt x="83" y="247"/>
                  </a:cubicBezTo>
                  <a:cubicBezTo>
                    <a:pt x="110" y="305"/>
                    <a:pt x="212" y="366"/>
                    <a:pt x="271" y="388"/>
                  </a:cubicBezTo>
                  <a:cubicBezTo>
                    <a:pt x="320" y="406"/>
                    <a:pt x="373" y="406"/>
                    <a:pt x="423" y="423"/>
                  </a:cubicBezTo>
                  <a:cubicBezTo>
                    <a:pt x="541" y="419"/>
                    <a:pt x="659" y="420"/>
                    <a:pt x="776" y="411"/>
                  </a:cubicBezTo>
                  <a:cubicBezTo>
                    <a:pt x="808" y="408"/>
                    <a:pt x="870" y="388"/>
                    <a:pt x="870" y="388"/>
                  </a:cubicBezTo>
                  <a:cubicBezTo>
                    <a:pt x="917" y="353"/>
                    <a:pt x="969" y="324"/>
                    <a:pt x="1011" y="282"/>
                  </a:cubicBezTo>
                  <a:cubicBezTo>
                    <a:pt x="1113" y="180"/>
                    <a:pt x="1061" y="221"/>
                    <a:pt x="1164" y="153"/>
                  </a:cubicBezTo>
                  <a:cubicBezTo>
                    <a:pt x="1328" y="44"/>
                    <a:pt x="1172" y="104"/>
                    <a:pt x="1270" y="70"/>
                  </a:cubicBezTo>
                  <a:cubicBezTo>
                    <a:pt x="1327" y="85"/>
                    <a:pt x="1380" y="91"/>
                    <a:pt x="1434" y="117"/>
                  </a:cubicBezTo>
                  <a:cubicBezTo>
                    <a:pt x="1510" y="193"/>
                    <a:pt x="1504" y="203"/>
                    <a:pt x="1564" y="282"/>
                  </a:cubicBezTo>
                  <a:cubicBezTo>
                    <a:pt x="1583" y="363"/>
                    <a:pt x="1565" y="314"/>
                    <a:pt x="1634" y="411"/>
                  </a:cubicBezTo>
                  <a:cubicBezTo>
                    <a:pt x="1642" y="423"/>
                    <a:pt x="1658" y="446"/>
                    <a:pt x="1658" y="446"/>
                  </a:cubicBezTo>
                  <a:cubicBezTo>
                    <a:pt x="1681" y="521"/>
                    <a:pt x="1739" y="569"/>
                    <a:pt x="1811" y="599"/>
                  </a:cubicBezTo>
                  <a:cubicBezTo>
                    <a:pt x="1830" y="607"/>
                    <a:pt x="1893" y="606"/>
                    <a:pt x="1893" y="635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59" name="Line 35"/>
            <p:cNvSpPr>
              <a:spLocks noChangeShapeType="1"/>
            </p:cNvSpPr>
            <p:nvPr/>
          </p:nvSpPr>
          <p:spPr bwMode="auto">
            <a:xfrm>
              <a:off x="384" y="1344"/>
              <a:ext cx="1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60" name="Line 36"/>
            <p:cNvSpPr>
              <a:spLocks noChangeShapeType="1"/>
            </p:cNvSpPr>
            <p:nvPr/>
          </p:nvSpPr>
          <p:spPr bwMode="auto">
            <a:xfrm flipV="1">
              <a:off x="480" y="160"/>
              <a:ext cx="0" cy="12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720" y="144"/>
              <a:ext cx="864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300"/>
                </a:spcAft>
                <a:buClrTx/>
                <a:buSzTx/>
                <a:buFontTx/>
                <a:buNone/>
              </a:pPr>
              <a:r>
                <a:rPr kumimoji="0" lang="en-US" altLang="ja-JP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Discrete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Set of Integers: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•	 •	  •	 •	 •           •        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3	-2	-1	0	1	2</a:t>
            </a:r>
            <a:endParaRPr lang="en-US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Set of Real Numbers: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•	 •	 •	 •	 •	 •	 •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-3	-2	-1	0	1	2	3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70156" y="4299156"/>
            <a:ext cx="5257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FF0000"/>
                </a:solidFill>
              </a:rPr>
              <a:t>Odometer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www.autobizz.com.my/forum/media/kunena/attachments/68/odometer-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00200" y="1295400"/>
            <a:ext cx="6096000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Logic rules and principles is to distinguish an argument is valid or invalid.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Def: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i="1" dirty="0" smtClean="0"/>
              <a:t>Logic is the study of the principles and methods that distinguishes between a valid and an invalid argument.</a:t>
            </a:r>
            <a:r>
              <a:rPr lang="en-US" dirty="0" smtClean="0"/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PROPOSITION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statement/proposition is a declarative sentence which is either </a:t>
            </a:r>
            <a:r>
              <a:rPr lang="en-US" b="1" dirty="0" smtClean="0">
                <a:solidFill>
                  <a:srgbClr val="FF0000"/>
                </a:solidFill>
              </a:rPr>
              <a:t>TRUE</a:t>
            </a:r>
            <a:r>
              <a:rPr lang="en-US" dirty="0" smtClean="0"/>
              <a:t> or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b="1" dirty="0" smtClean="0"/>
              <a:t> </a:t>
            </a:r>
            <a:r>
              <a:rPr lang="en-US" dirty="0" smtClean="0"/>
              <a:t>but not both.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statement is also referred to as </a:t>
            </a:r>
            <a:r>
              <a:rPr lang="en-US" b="1" i="1" dirty="0" smtClean="0">
                <a:solidFill>
                  <a:srgbClr val="FF0000"/>
                </a:solidFill>
              </a:rPr>
              <a:t>Proposition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b="1" dirty="0" smtClean="0"/>
              <a:t>Example: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2+2 = 4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It is Sunday today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If a proposition is true, we say that it has a </a:t>
            </a:r>
            <a:r>
              <a:rPr lang="en-US" b="1" dirty="0" smtClean="0"/>
              <a:t>truth value</a:t>
            </a:r>
            <a:r>
              <a:rPr lang="en-US" dirty="0" smtClean="0"/>
              <a:t> of "</a:t>
            </a:r>
            <a:r>
              <a:rPr lang="en-US" b="1" dirty="0" smtClean="0"/>
              <a:t>true</a:t>
            </a:r>
            <a:r>
              <a:rPr lang="en-US" dirty="0" smtClean="0"/>
              <a:t>”.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If a proposition is false, its truth value is "</a:t>
            </a:r>
            <a:r>
              <a:rPr lang="en-US" b="1" dirty="0" smtClean="0"/>
              <a:t>false</a:t>
            </a:r>
            <a:r>
              <a:rPr lang="en-US" dirty="0" smtClean="0"/>
              <a:t>".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The truth values </a:t>
            </a:r>
            <a:r>
              <a:rPr lang="en-US" b="1" dirty="0" smtClean="0"/>
              <a:t>“true”</a:t>
            </a:r>
            <a:r>
              <a:rPr lang="en-US" dirty="0" smtClean="0"/>
              <a:t> and </a:t>
            </a:r>
            <a:r>
              <a:rPr lang="en-US" b="1" dirty="0" smtClean="0"/>
              <a:t>“false”</a:t>
            </a:r>
            <a:r>
              <a:rPr lang="en-US" dirty="0" smtClean="0"/>
              <a:t> are, respectively, denoted by the letters </a:t>
            </a:r>
            <a:r>
              <a:rPr lang="en-US" b="1" dirty="0" smtClean="0"/>
              <a:t>T</a:t>
            </a:r>
            <a:r>
              <a:rPr lang="en-US" dirty="0" smtClean="0"/>
              <a:t> and </a:t>
            </a:r>
            <a:r>
              <a:rPr lang="en-US" b="1" smtClean="0"/>
              <a:t>F</a:t>
            </a:r>
            <a:r>
              <a:rPr lang="en-US" smtClean="0"/>
              <a:t>.</a:t>
            </a:r>
            <a:r>
              <a:rPr lang="en-US" b="1" dirty="0" smtClean="0"/>
              <a:t> 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Statement				Truth Value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Grass is green.					</a:t>
            </a:r>
            <a:r>
              <a:rPr lang="en-US" b="1" dirty="0" smtClean="0"/>
              <a:t>T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4 + 2 = 6						</a:t>
            </a:r>
            <a:r>
              <a:rPr lang="en-US" b="1" dirty="0" smtClean="0"/>
              <a:t>T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4 + 2 = 7						</a:t>
            </a:r>
            <a:r>
              <a:rPr lang="en-US" b="1" dirty="0" smtClean="0"/>
              <a:t>F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There are four fingers in a hand.		</a:t>
            </a:r>
            <a:r>
              <a:rPr lang="en-US" b="1" dirty="0" smtClean="0"/>
              <a:t>F</a:t>
            </a:r>
            <a:endParaRPr lang="en-US" b="1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FF0000"/>
                </a:solidFill>
              </a:rPr>
              <a:t>NOT Propositions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 smtClean="0"/>
              <a:t>Close the door.</a:t>
            </a:r>
            <a:endParaRPr lang="en-US" dirty="0" smtClean="0"/>
          </a:p>
          <a:p>
            <a:pPr lvl="0"/>
            <a:endParaRPr lang="en-US" dirty="0" smtClean="0"/>
          </a:p>
          <a:p>
            <a:pPr lvl="0"/>
            <a:r>
              <a:rPr lang="en-US" i="1" dirty="0" smtClean="0"/>
              <a:t>x</a:t>
            </a:r>
            <a:r>
              <a:rPr lang="en-US" dirty="0" smtClean="0"/>
              <a:t> is greater than 2.</a:t>
            </a:r>
            <a:endParaRPr lang="en-US" dirty="0" smtClean="0"/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He is very rich (though is a declarative statement but we don’t know about pronoun </a:t>
            </a:r>
            <a:r>
              <a:rPr lang="en-US" i="1" dirty="0" smtClean="0"/>
              <a:t>he</a:t>
            </a:r>
            <a:r>
              <a:rPr lang="en-US" dirty="0" smtClean="0"/>
              <a:t>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Rule: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If the sentence is preceded by other sentences that make the pronoun or variable reference clear, then the sentence is a statement.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i="1" dirty="0" smtClean="0"/>
              <a:t>Example</a:t>
            </a:r>
            <a:endParaRPr lang="en-US" b="1" i="1" dirty="0" smtClean="0"/>
          </a:p>
          <a:p>
            <a:pPr>
              <a:buNone/>
            </a:pPr>
            <a:r>
              <a:rPr lang="en-US" dirty="0" smtClean="0"/>
              <a:t>	Bill Gates is an American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 is very rich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 is very rich is a statement with truth-value TRUE.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i="1" dirty="0" smtClean="0"/>
              <a:t>	x</a:t>
            </a:r>
            <a:r>
              <a:rPr lang="en-US" dirty="0" smtClean="0"/>
              <a:t> = 1</a:t>
            </a:r>
            <a:endParaRPr lang="en-US" dirty="0" smtClean="0"/>
          </a:p>
          <a:p>
            <a:pPr>
              <a:buNone/>
            </a:pPr>
            <a:r>
              <a:rPr lang="en-US" i="1" dirty="0" smtClean="0"/>
              <a:t>	x</a:t>
            </a:r>
            <a:r>
              <a:rPr lang="en-US" dirty="0" smtClean="0"/>
              <a:t> &gt; 2</a:t>
            </a:r>
            <a:endParaRPr lang="en-US" dirty="0" smtClean="0"/>
          </a:p>
          <a:p>
            <a:pPr>
              <a:buNone/>
            </a:pPr>
            <a:r>
              <a:rPr lang="en-US" i="1" dirty="0" smtClean="0"/>
              <a:t>	x</a:t>
            </a:r>
            <a:r>
              <a:rPr lang="en-US" dirty="0" smtClean="0"/>
              <a:t> &gt; 2 is a statement with truth-value FALSE.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UNDERSTANDING STATEMENTS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 smtClean="0"/>
          </a:p>
          <a:p>
            <a:r>
              <a:rPr lang="en-US" i="1" dirty="0" smtClean="0"/>
              <a:t>x</a:t>
            </a:r>
            <a:r>
              <a:rPr lang="en-US" dirty="0" smtClean="0"/>
              <a:t> + 2 is positive.		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May I come in?		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Logic is interesting.    	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It is hot today. 			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-1 &gt; 0				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/>
              <a:t>+ </a:t>
            </a:r>
            <a:r>
              <a:rPr lang="en-US" i="1" dirty="0" smtClean="0"/>
              <a:t>y</a:t>
            </a:r>
            <a:r>
              <a:rPr lang="en-US" dirty="0" smtClean="0"/>
              <a:t> = 12				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UNDERSTANDING STATEMENTS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 smtClean="0"/>
          </a:p>
          <a:p>
            <a:r>
              <a:rPr lang="en-US" i="1" dirty="0" smtClean="0"/>
              <a:t>x</a:t>
            </a:r>
            <a:r>
              <a:rPr lang="en-US" dirty="0" smtClean="0"/>
              <a:t> + 2 is positive.			</a:t>
            </a:r>
            <a:r>
              <a:rPr lang="en-US" dirty="0" smtClean="0">
                <a:solidFill>
                  <a:srgbClr val="FF0000"/>
                </a:solidFill>
              </a:rPr>
              <a:t>Not a statement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May I come in?			</a:t>
            </a:r>
            <a:r>
              <a:rPr lang="en-US" dirty="0" smtClean="0">
                <a:solidFill>
                  <a:srgbClr val="FF0000"/>
                </a:solidFill>
              </a:rPr>
              <a:t>Not a statement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Logic is interesting.    		</a:t>
            </a:r>
            <a:r>
              <a:rPr lang="en-US" dirty="0" smtClean="0">
                <a:solidFill>
                  <a:srgbClr val="00B050"/>
                </a:solidFill>
              </a:rPr>
              <a:t>A statement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It is hot today. 			</a:t>
            </a:r>
            <a:r>
              <a:rPr lang="en-US" dirty="0" smtClean="0">
                <a:solidFill>
                  <a:srgbClr val="00B050"/>
                </a:solidFill>
              </a:rPr>
              <a:t>A statement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-1 &gt; 0				</a:t>
            </a:r>
            <a:r>
              <a:rPr lang="en-US" dirty="0" smtClean="0">
                <a:solidFill>
                  <a:srgbClr val="00B050"/>
                </a:solidFill>
              </a:rPr>
              <a:t>A statement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i="1" dirty="0" smtClean="0"/>
              <a:t>x</a:t>
            </a:r>
            <a:r>
              <a:rPr lang="en-US" dirty="0" smtClean="0"/>
              <a:t> + </a:t>
            </a:r>
            <a:r>
              <a:rPr lang="en-US" i="1" dirty="0" smtClean="0"/>
              <a:t>y</a:t>
            </a:r>
            <a:r>
              <a:rPr lang="en-US" dirty="0" smtClean="0"/>
              <a:t> = 12				</a:t>
            </a:r>
            <a:r>
              <a:rPr lang="en-US" dirty="0" smtClean="0">
                <a:solidFill>
                  <a:srgbClr val="FF0000"/>
                </a:solidFill>
              </a:rPr>
              <a:t>Not a statement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COMPOUND STATEMENT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Def:</a:t>
            </a:r>
            <a:endParaRPr lang="en-US" b="1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/>
              <a:t>	“Simple statements could be used to build a compound statement.”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Examples:</a:t>
            </a:r>
            <a:endParaRPr lang="en-US" b="1" u="sng" dirty="0" smtClean="0"/>
          </a:p>
          <a:p>
            <a:pPr>
              <a:buNone/>
            </a:pPr>
            <a:r>
              <a:rPr lang="en-US" dirty="0" smtClean="0"/>
              <a:t>	“3 + 2 = 5” </a:t>
            </a:r>
            <a:r>
              <a:rPr lang="en-US" b="1" dirty="0" smtClean="0"/>
              <a:t>and </a:t>
            </a:r>
            <a:r>
              <a:rPr lang="en-US" dirty="0" smtClean="0"/>
              <a:t>“Lahore is a city in Pakistan”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“The grass is green” </a:t>
            </a:r>
            <a:r>
              <a:rPr lang="en-US" b="1" dirty="0" smtClean="0"/>
              <a:t>or</a:t>
            </a:r>
            <a:r>
              <a:rPr lang="en-US" dirty="0" smtClean="0"/>
              <a:t> “ It is hot today”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“Discrete Structure is </a:t>
            </a:r>
            <a:r>
              <a:rPr lang="en-US" b="1" dirty="0" smtClean="0"/>
              <a:t>not</a:t>
            </a:r>
            <a:r>
              <a:rPr lang="en-US" dirty="0" smtClean="0"/>
              <a:t> difficult to me”</a:t>
            </a:r>
            <a:endParaRPr lang="en-US" b="1" u="sng" dirty="0" smtClean="0"/>
          </a:p>
          <a:p>
            <a:endParaRPr lang="en-US" dirty="0" smtClean="0"/>
          </a:p>
          <a:p>
            <a:r>
              <a:rPr lang="en-US" b="1" dirty="0" smtClean="0"/>
              <a:t>AND</a:t>
            </a:r>
            <a:r>
              <a:rPr lang="en-US" dirty="0" smtClean="0"/>
              <a:t>, </a:t>
            </a:r>
            <a:r>
              <a:rPr lang="en-US" b="1" dirty="0" smtClean="0"/>
              <a:t>OR</a:t>
            </a:r>
            <a:r>
              <a:rPr lang="en-US" dirty="0" smtClean="0"/>
              <a:t>, </a:t>
            </a:r>
            <a:r>
              <a:rPr lang="en-US" b="1" dirty="0" smtClean="0"/>
              <a:t>NOT</a:t>
            </a:r>
            <a:r>
              <a:rPr lang="en-US" dirty="0" smtClean="0"/>
              <a:t> are called </a:t>
            </a:r>
            <a:r>
              <a:rPr lang="en-US" b="1" dirty="0" smtClean="0"/>
              <a:t>LOGICAL CONNECTIVES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SYMBOLIC REPRESENTATION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Statements are symbolically represented by letters such as </a:t>
            </a:r>
            <a:r>
              <a:rPr lang="en-US" b="1" i="1" dirty="0" smtClean="0"/>
              <a:t>p, q, r,...</a:t>
            </a:r>
            <a:endParaRPr lang="en-US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EXAMPLES: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i="1" dirty="0" smtClean="0"/>
              <a:t>	 p </a:t>
            </a:r>
            <a:r>
              <a:rPr lang="en-US" b="1" dirty="0" smtClean="0"/>
              <a:t>= </a:t>
            </a:r>
            <a:r>
              <a:rPr lang="en-US" dirty="0" smtClean="0"/>
              <a:t>“Islamabad is the capital of Pakistan”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 q </a:t>
            </a:r>
            <a:r>
              <a:rPr lang="en-US" b="1" dirty="0" smtClean="0"/>
              <a:t>=</a:t>
            </a:r>
            <a:r>
              <a:rPr lang="en-US" dirty="0" smtClean="0"/>
              <a:t> “17 is divisible by 3”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LOGICAL CONNECTIVES</a:t>
            </a:r>
            <a:endParaRPr lang="en-US" b="1" u="sng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295400" y="1295400"/>
          <a:ext cx="6781801" cy="3984046"/>
        </p:xfrm>
        <a:graphic>
          <a:graphicData uri="http://schemas.openxmlformats.org/drawingml/2006/table">
            <a:tbl>
              <a:tblPr/>
              <a:tblGrid>
                <a:gridCol w="1981200"/>
                <a:gridCol w="1579246"/>
                <a:gridCol w="1525905"/>
                <a:gridCol w="1695450"/>
              </a:tblGrid>
              <a:tr h="6415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CONNECTIV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3716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MEANING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SYMBOL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CALLED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599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Negation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not</a:t>
                      </a:r>
                      <a:endParaRPr kumimoji="0" lang="en-US" sz="24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Tilde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18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Conjunction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and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Hat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7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Disjunction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or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Vel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Conditional</a:t>
                      </a:r>
                      <a:endParaRPr kumimoji="0" lang="en-US" sz="24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if…then…</a:t>
                      </a:r>
                      <a:endParaRPr kumimoji="0" lang="en-US" sz="24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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Arrow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Biconditional</a:t>
                      </a:r>
                      <a:endParaRPr kumimoji="0" lang="en-US" sz="24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if and only if</a:t>
                      </a:r>
                      <a:endParaRPr kumimoji="0" lang="en-US" sz="24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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Double arrow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i="1" dirty="0" smtClean="0"/>
              <a:t> </a:t>
            </a:r>
            <a:r>
              <a:rPr lang="en-US" b="1" dirty="0" smtClean="0"/>
              <a:t>= </a:t>
            </a:r>
            <a:r>
              <a:rPr lang="en-US" dirty="0" smtClean="0"/>
              <a:t>“Islamabad is the capital of Pakistan”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q</a:t>
            </a:r>
            <a:r>
              <a:rPr lang="en-US" b="1" i="1" dirty="0" smtClean="0"/>
              <a:t> </a:t>
            </a:r>
            <a:r>
              <a:rPr lang="en-US" b="1" dirty="0" smtClean="0"/>
              <a:t>=</a:t>
            </a:r>
            <a:r>
              <a:rPr lang="en-US" dirty="0" smtClean="0"/>
              <a:t> “17 is divisible by 3”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</a:t>
            </a:r>
            <a:r>
              <a:rPr lang="en-US" dirty="0" smtClean="0"/>
              <a:t>?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b="1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</a:t>
            </a:r>
            <a:r>
              <a:rPr lang="en-US" dirty="0" smtClean="0"/>
              <a:t>?</a:t>
            </a:r>
            <a:r>
              <a:rPr lang="en-US" dirty="0" smtClean="0"/>
              <a:t>	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b="1" i="1" dirty="0" smtClean="0"/>
              <a:t>p </a:t>
            </a:r>
            <a:r>
              <a:rPr lang="en-US" b="1" dirty="0" smtClean="0"/>
              <a:t>=</a:t>
            </a:r>
            <a:r>
              <a:rPr lang="en-US" dirty="0"/>
              <a:t> </a:t>
            </a:r>
            <a:r>
              <a:rPr lang="en-US" dirty="0" smtClean="0"/>
              <a:t>?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i="1" dirty="0" smtClean="0"/>
              <a:t> </a:t>
            </a:r>
            <a:r>
              <a:rPr lang="en-US" b="1" dirty="0" smtClean="0"/>
              <a:t>= </a:t>
            </a:r>
            <a:r>
              <a:rPr lang="en-US" dirty="0" smtClean="0"/>
              <a:t>“Islamabad is the capital of Pakistan”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q</a:t>
            </a:r>
            <a:r>
              <a:rPr lang="en-US" b="1" i="1" dirty="0" smtClean="0"/>
              <a:t> </a:t>
            </a:r>
            <a:r>
              <a:rPr lang="en-US" b="1" dirty="0" smtClean="0"/>
              <a:t>=</a:t>
            </a:r>
            <a:r>
              <a:rPr lang="en-US" dirty="0" smtClean="0"/>
              <a:t> “17 is divisible by 3”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“Islamabad is the capital of Pakistan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dirty="0" smtClean="0"/>
              <a:t> 17 is divisible by 3”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b="1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“Islamabad is the capital of Pakistan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17 is divisible by 3”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   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b="1" i="1" dirty="0" smtClean="0"/>
              <a:t>p </a:t>
            </a:r>
            <a:r>
              <a:rPr lang="en-US" b="1" dirty="0" smtClean="0"/>
              <a:t>= </a:t>
            </a:r>
            <a:r>
              <a:rPr lang="en-US" dirty="0" smtClean="0"/>
              <a:t>“It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the case that Islamabad is the capital of Pakistan” or simply “Islamabad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the capital of Pakistan”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dirty="0" smtClean="0"/>
            </a:br>
            <a:r>
              <a:rPr lang="en-US" b="1" dirty="0" smtClean="0"/>
              <a:t>TRANSLATING FROM ENGLISH TO SYMBOLS: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“It is hot”, and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“It is sunny”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/>
              <a:t>SENTENCE</a:t>
            </a:r>
            <a:r>
              <a:rPr lang="en-US" b="1" dirty="0" smtClean="0"/>
              <a:t>			</a:t>
            </a:r>
            <a:r>
              <a:rPr lang="en-US" b="1" u="sng" dirty="0" smtClean="0"/>
              <a:t>SYMBOLIC FORM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hot. 			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b="1" dirty="0" smtClean="0"/>
              <a:t> </a:t>
            </a:r>
            <a:r>
              <a:rPr lang="en-US" dirty="0" smtClean="0"/>
              <a:t>sunny.			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sunny.				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but</a:t>
            </a:r>
            <a:r>
              <a:rPr lang="en-US" dirty="0" smtClean="0"/>
              <a:t> sunny.		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It is </a:t>
            </a:r>
            <a:r>
              <a:rPr lang="en-US" b="1" dirty="0" smtClean="0">
                <a:solidFill>
                  <a:srgbClr val="C00000"/>
                </a:solidFill>
              </a:rPr>
              <a:t>neither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nor</a:t>
            </a:r>
            <a:r>
              <a:rPr lang="en-US" dirty="0" smtClean="0"/>
              <a:t> sunny.		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dirty="0" smtClean="0"/>
            </a:br>
            <a:r>
              <a:rPr lang="en-US" b="1" dirty="0" smtClean="0"/>
              <a:t>TRANSLATING FROM ENGLISH TO SYMBOLS: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“It is hot”, and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“It is sunny”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/>
              <a:t>SENTENCE</a:t>
            </a:r>
            <a:r>
              <a:rPr lang="en-US" b="1" dirty="0" smtClean="0"/>
              <a:t>			</a:t>
            </a:r>
            <a:r>
              <a:rPr lang="en-US" b="1" u="sng" dirty="0" smtClean="0"/>
              <a:t>SYMBOLIC FORM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hot. 		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p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b="1" dirty="0" smtClean="0"/>
              <a:t> </a:t>
            </a:r>
            <a:r>
              <a:rPr lang="en-US" dirty="0" smtClean="0"/>
              <a:t>sunny.				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b="1" dirty="0" smtClean="0">
                <a:sym typeface="Symbol" panose="05050102010706020507"/>
              </a:rPr>
              <a:t> </a:t>
            </a:r>
            <a:r>
              <a:rPr lang="en-US" dirty="0" smtClean="0"/>
              <a:t>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sunny.				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b="1" dirty="0" smtClean="0"/>
              <a:t> </a:t>
            </a:r>
            <a:r>
              <a:rPr lang="en-US" dirty="0" smtClean="0"/>
              <a:t>q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but</a:t>
            </a:r>
            <a:r>
              <a:rPr lang="en-US" dirty="0" smtClean="0"/>
              <a:t> sunny.	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b="1" dirty="0" smtClean="0">
                <a:sym typeface="Symbol" panose="05050102010706020507"/>
              </a:rPr>
              <a:t> </a:t>
            </a:r>
            <a:r>
              <a:rPr lang="en-US" dirty="0" smtClean="0"/>
              <a:t>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It is </a:t>
            </a:r>
            <a:r>
              <a:rPr lang="en-US" b="1" dirty="0" smtClean="0">
                <a:solidFill>
                  <a:srgbClr val="C00000"/>
                </a:solidFill>
              </a:rPr>
              <a:t>neither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nor</a:t>
            </a:r>
            <a:r>
              <a:rPr lang="en-US" dirty="0" smtClean="0"/>
              <a:t> sunny.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b="1" dirty="0" smtClean="0"/>
              <a:t> </a:t>
            </a:r>
            <a:r>
              <a:rPr lang="en-US" dirty="0" smtClean="0"/>
              <a:t>q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= “Ali is healthy”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</a:t>
            </a: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w</a:t>
            </a:r>
            <a:r>
              <a:rPr lang="en-US" dirty="0" smtClean="0"/>
              <a:t> = “Ali is wealthy”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= “Ali is wise”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SENTENCE		SYMBOLIC FORM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Ali is healthy and wealthy but not wise.   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Ali is not wealthy but he is healthy and wise.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Ali is neither healthy, wealthy nor wise.   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= “Ali is healthy”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</a:t>
            </a: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w</a:t>
            </a:r>
            <a:r>
              <a:rPr lang="en-US" dirty="0" smtClean="0"/>
              <a:t> = “Ali is wealthy”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= “Ali is wise”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SENTENCE		SYMBOLIC FORM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Ali is healthy and wealthy but not wise.      (h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w)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(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~</a:t>
            </a:r>
            <a:r>
              <a:rPr lang="en-US" dirty="0" smtClean="0"/>
              <a:t>s)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Ali is not wealthy but he is healthy and wise.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~</a:t>
            </a:r>
            <a:r>
              <a:rPr lang="en-US" dirty="0" smtClean="0"/>
              <a:t>w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(h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s)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Ali is neither healthy, wealthy nor wise.      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~</a:t>
            </a:r>
            <a:r>
              <a:rPr lang="en-US" dirty="0" smtClean="0"/>
              <a:t>h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~w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~s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FROM SYMBOLS TO ENGLISH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= “Ali is good in Mathematics”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= “Ali is a Computer Science student”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SYMBOLIC FORM			STATEMENTS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~</a:t>
            </a:r>
            <a:r>
              <a:rPr lang="en-US" dirty="0" smtClean="0"/>
              <a:t> c</a:t>
            </a:r>
            <a:r>
              <a:rPr lang="en-US" sz="2000" dirty="0" smtClean="0"/>
              <a:t>				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c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</a:t>
            </a:r>
            <a:r>
              <a:rPr lang="en-US" dirty="0" smtClean="0"/>
              <a:t> m</a:t>
            </a:r>
            <a:r>
              <a:rPr lang="en-US" sz="2000" dirty="0" smtClean="0"/>
              <a:t>       		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m </a:t>
            </a:r>
            <a:r>
              <a:rPr lang="en-US" b="1" dirty="0" smtClean="0">
                <a:solidFill>
                  <a:srgbClr val="00B050"/>
                </a:solidFill>
                <a:sym typeface="Symbol" panose="05050102010706020507"/>
              </a:rPr>
              <a:t>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 ~</a:t>
            </a:r>
            <a:r>
              <a:rPr lang="en-US" dirty="0" smtClean="0"/>
              <a:t>c</a:t>
            </a:r>
            <a:r>
              <a:rPr lang="en-US" sz="2000" dirty="0" smtClean="0"/>
              <a:t>  	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FROM SYMBOLS TO ENGLISH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= “Ali is good in Mathematics”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= “Ali is a Computer Science student”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SYMBOLIC FORM			STATEMENTS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~</a:t>
            </a:r>
            <a:r>
              <a:rPr lang="en-US" dirty="0" smtClean="0"/>
              <a:t> c</a:t>
            </a:r>
            <a:r>
              <a:rPr lang="en-US" sz="2000" dirty="0" smtClean="0"/>
              <a:t>				Ali is </a:t>
            </a:r>
            <a:r>
              <a:rPr lang="en-US" sz="2000" b="1" dirty="0" smtClean="0">
                <a:solidFill>
                  <a:srgbClr val="FF0000"/>
                </a:solidFill>
              </a:rPr>
              <a:t>not</a:t>
            </a:r>
            <a:r>
              <a:rPr lang="en-US" sz="2000" dirty="0" smtClean="0"/>
              <a:t> a Computer Science student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c 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</a:t>
            </a:r>
            <a:r>
              <a:rPr lang="en-US" dirty="0" smtClean="0"/>
              <a:t> m</a:t>
            </a:r>
            <a:r>
              <a:rPr lang="en-US" sz="2000" dirty="0" smtClean="0"/>
              <a:t>       		 Ali is a Computer Science student </a:t>
            </a:r>
            <a:r>
              <a:rPr lang="en-US" sz="2000" b="1" dirty="0" smtClean="0">
                <a:solidFill>
                  <a:srgbClr val="FF0000"/>
                </a:solidFill>
              </a:rPr>
              <a:t>or</a:t>
            </a:r>
            <a:r>
              <a:rPr lang="en-US" sz="2000" dirty="0" smtClean="0"/>
              <a:t> good in Math's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m </a:t>
            </a:r>
            <a:r>
              <a:rPr lang="en-US" b="1" dirty="0" smtClean="0">
                <a:solidFill>
                  <a:srgbClr val="00B050"/>
                </a:solidFill>
                <a:sym typeface="Symbol" panose="05050102010706020507"/>
              </a:rPr>
              <a:t></a:t>
            </a:r>
            <a:r>
              <a:rPr lang="en-US" b="1" dirty="0" smtClean="0">
                <a:solidFill>
                  <a:srgbClr val="FF0000"/>
                </a:solidFill>
                <a:sym typeface="Symbol" panose="05050102010706020507"/>
              </a:rPr>
              <a:t> ~</a:t>
            </a:r>
            <a:r>
              <a:rPr lang="en-US" dirty="0" smtClean="0"/>
              <a:t>c</a:t>
            </a:r>
            <a:r>
              <a:rPr lang="en-US" sz="2000" dirty="0" smtClean="0"/>
              <a:t>  		Ali is good in Math's</a:t>
            </a:r>
            <a:r>
              <a:rPr lang="en-US" sz="2000" b="1" dirty="0" smtClean="0">
                <a:solidFill>
                  <a:srgbClr val="FF0000"/>
                </a:solidFill>
              </a:rPr>
              <a:t> but not</a:t>
            </a:r>
            <a:r>
              <a:rPr lang="en-US" sz="2000" dirty="0" smtClean="0"/>
              <a:t> a Computer Science student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TRUTH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convenient method for analyzing a compound statement is to make a </a:t>
            </a:r>
            <a:r>
              <a:rPr lang="en-US" b="1" dirty="0" smtClean="0">
                <a:solidFill>
                  <a:srgbClr val="00B050"/>
                </a:solidFill>
              </a:rPr>
              <a:t>truth table</a:t>
            </a:r>
            <a:r>
              <a:rPr lang="en-US" dirty="0" smtClean="0"/>
              <a:t> for it.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00B050"/>
                </a:solidFill>
              </a:rPr>
              <a:t>truth table </a:t>
            </a:r>
            <a:r>
              <a:rPr lang="en-US" dirty="0" smtClean="0"/>
              <a:t>specifies the truth value of a compound proposition for all possible truth values of its constituent propositions.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NEGATION (~)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is a statement variable, then negation of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i="1" dirty="0" smtClean="0"/>
              <a:t>,</a:t>
            </a:r>
            <a:r>
              <a:rPr lang="en-US" dirty="0" smtClean="0"/>
              <a:t>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</a:rPr>
              <a:t>not p</a:t>
            </a:r>
            <a:r>
              <a:rPr lang="en-US" b="1" i="1" dirty="0" smtClean="0"/>
              <a:t>”</a:t>
            </a:r>
            <a:r>
              <a:rPr lang="en-US" dirty="0" smtClean="0"/>
              <a:t>, is denoted as </a:t>
            </a:r>
            <a:r>
              <a:rPr lang="en-US" b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</a:rPr>
              <a:t>~p</a:t>
            </a:r>
            <a:r>
              <a:rPr lang="en-US" b="1" dirty="0" smtClean="0"/>
              <a:t>”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has opposite truth value from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i.e.,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if p is true, ~p is false; if p is false, ~p is true. </a:t>
            </a:r>
            <a:endParaRPr lang="en-US" b="1" i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TRUTH TABLE FOR </a:t>
            </a:r>
            <a:r>
              <a:rPr lang="en-US" b="1" dirty="0" smtClean="0">
                <a:solidFill>
                  <a:schemeClr val="tx1"/>
                </a:solidFill>
              </a:rPr>
              <a:t>~p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2667000" y="1546140"/>
          <a:ext cx="3505200" cy="2240280"/>
        </p:xfrm>
        <a:graphic>
          <a:graphicData uri="http://schemas.openxmlformats.org/drawingml/2006/table">
            <a:tbl>
              <a:tblPr/>
              <a:tblGrid>
                <a:gridCol w="1846826"/>
                <a:gridCol w="1658374"/>
              </a:tblGrid>
              <a:tr h="594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p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27432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F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2743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F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27432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2743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CONJUCTION (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b="1" i="1" dirty="0" smtClean="0"/>
              <a:t>p</a:t>
            </a:r>
            <a:r>
              <a:rPr lang="en-US" dirty="0" smtClean="0"/>
              <a:t> and </a:t>
            </a:r>
            <a:r>
              <a:rPr lang="en-US" b="1" i="1" dirty="0" smtClean="0"/>
              <a:t>q</a:t>
            </a:r>
            <a:r>
              <a:rPr lang="en-US" dirty="0" smtClean="0"/>
              <a:t> are statements, then the conjunction of </a:t>
            </a:r>
            <a:r>
              <a:rPr lang="en-US" b="1" i="1" dirty="0" smtClean="0"/>
              <a:t>p</a:t>
            </a:r>
            <a:r>
              <a:rPr lang="en-US" dirty="0" smtClean="0"/>
              <a:t> and </a:t>
            </a:r>
            <a:r>
              <a:rPr lang="en-US" b="1" i="1" dirty="0" smtClean="0"/>
              <a:t>q</a:t>
            </a:r>
            <a:r>
              <a:rPr lang="en-US" dirty="0" smtClean="0"/>
              <a:t> is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  <a:sym typeface="Symbol" panose="05050102010706020507"/>
              </a:rPr>
              <a:t>p and q</a:t>
            </a:r>
            <a:r>
              <a:rPr lang="en-US" b="1" i="1" dirty="0" smtClean="0"/>
              <a:t>”,</a:t>
            </a:r>
            <a:r>
              <a:rPr lang="en-US" dirty="0" smtClean="0"/>
              <a:t> denoted as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b="1" i="1" dirty="0" smtClean="0">
                <a:solidFill>
                  <a:srgbClr val="C00000"/>
                </a:solidFill>
              </a:rPr>
              <a:t> q</a:t>
            </a:r>
            <a:r>
              <a:rPr lang="en-US" b="1" i="1" dirty="0" smtClean="0"/>
              <a:t>”.</a:t>
            </a:r>
            <a:endParaRPr lang="en-US" b="1" i="1" dirty="0" smtClean="0"/>
          </a:p>
          <a:p>
            <a:endParaRPr lang="en-US" dirty="0" smtClean="0"/>
          </a:p>
          <a:p>
            <a:r>
              <a:rPr lang="en-US" dirty="0" smtClean="0"/>
              <a:t>It is true when, and only when, both p and q are true. If either p </a:t>
            </a:r>
            <a:r>
              <a:rPr lang="en-US" b="1" i="1" dirty="0" smtClean="0">
                <a:solidFill>
                  <a:srgbClr val="C00000"/>
                </a:solidFill>
                <a:sym typeface="Symbol" panose="05050102010706020507"/>
              </a:rPr>
              <a:t>or </a:t>
            </a:r>
            <a:r>
              <a:rPr lang="en-US" dirty="0" smtClean="0"/>
              <a:t>q is false, or if both are false, 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dirty="0" smtClean="0">
                <a:sym typeface="Symbol" panose="05050102010706020507"/>
              </a:rPr>
              <a:t> </a:t>
            </a:r>
            <a:r>
              <a:rPr lang="en-US" dirty="0" smtClean="0"/>
              <a:t>q</a:t>
            </a:r>
            <a:r>
              <a:rPr lang="en-US" b="1" i="1" dirty="0" smtClean="0"/>
              <a:t> </a:t>
            </a:r>
            <a:r>
              <a:rPr lang="en-US" dirty="0" smtClean="0"/>
              <a:t>is false.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TRUTH TABLE FOR </a:t>
            </a:r>
            <a:r>
              <a:rPr lang="en-US" b="1" dirty="0" smtClean="0">
                <a:solidFill>
                  <a:schemeClr val="tx1"/>
                </a:solidFill>
              </a:rPr>
              <a:t>(p </a:t>
            </a:r>
            <a:r>
              <a:rPr lang="en-US" b="1" dirty="0" smtClean="0">
                <a:solidFill>
                  <a:schemeClr val="tx1"/>
                </a:solidFill>
                <a:sym typeface="Symbol" panose="05050102010706020507"/>
              </a:rPr>
              <a:t> q)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2438400" y="1484688"/>
          <a:ext cx="4305300" cy="2606040"/>
        </p:xfrm>
        <a:graphic>
          <a:graphicData uri="http://schemas.openxmlformats.org/drawingml/2006/table">
            <a:tbl>
              <a:tblPr/>
              <a:tblGrid>
                <a:gridCol w="1104900"/>
                <a:gridCol w="1295400"/>
                <a:gridCol w="19050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DISJUNCTION (</a:t>
            </a:r>
            <a:r>
              <a:rPr lang="en-US" b="1" dirty="0" smtClean="0">
                <a:sym typeface="Symbol" panose="05050102010706020507"/>
              </a:rPr>
              <a:t>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b="1" i="1" dirty="0" smtClean="0"/>
              <a:t>p</a:t>
            </a:r>
            <a:r>
              <a:rPr lang="en-US" dirty="0" smtClean="0"/>
              <a:t> &amp; </a:t>
            </a:r>
            <a:r>
              <a:rPr lang="en-US" b="1" i="1" dirty="0" smtClean="0"/>
              <a:t>q</a:t>
            </a:r>
            <a:r>
              <a:rPr lang="en-US" dirty="0" smtClean="0"/>
              <a:t> are statements, then the disjunction of </a:t>
            </a:r>
            <a:r>
              <a:rPr lang="en-US" b="1" i="1" dirty="0" smtClean="0"/>
              <a:t>p</a:t>
            </a:r>
            <a:r>
              <a:rPr lang="en-US" dirty="0" smtClean="0"/>
              <a:t> and  </a:t>
            </a:r>
            <a:r>
              <a:rPr lang="en-US" b="1" i="1" dirty="0" smtClean="0"/>
              <a:t>q</a:t>
            </a:r>
            <a:r>
              <a:rPr lang="en-US" dirty="0" smtClean="0"/>
              <a:t> is </a:t>
            </a:r>
            <a:r>
              <a:rPr lang="en-US" b="1" i="1" dirty="0" smtClean="0">
                <a:sym typeface="Symbol" panose="05050102010706020507"/>
              </a:rPr>
              <a:t>“</a:t>
            </a:r>
            <a:r>
              <a:rPr lang="en-US" b="1" i="1" dirty="0" smtClean="0">
                <a:solidFill>
                  <a:srgbClr val="C00000"/>
                </a:solidFill>
                <a:sym typeface="Symbol" panose="05050102010706020507"/>
              </a:rPr>
              <a:t>p or q</a:t>
            </a:r>
            <a:r>
              <a:rPr lang="en-US" b="1" i="1" dirty="0" smtClean="0"/>
              <a:t>”,</a:t>
            </a:r>
            <a:r>
              <a:rPr lang="en-US" dirty="0" smtClean="0"/>
              <a:t> denoted as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  <a:sym typeface="Symbol" panose="05050102010706020507"/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 </a:t>
            </a:r>
            <a:r>
              <a:rPr lang="en-US" b="1" i="1" dirty="0" smtClean="0">
                <a:solidFill>
                  <a:srgbClr val="C00000"/>
                </a:solidFill>
                <a:sym typeface="Symbol" panose="05050102010706020507"/>
              </a:rPr>
              <a:t>q</a:t>
            </a:r>
            <a:r>
              <a:rPr lang="en-US" b="1" i="1" dirty="0" smtClean="0"/>
              <a:t>”.</a:t>
            </a:r>
            <a:endParaRPr lang="en-US" b="1" i="1" dirty="0" smtClean="0"/>
          </a:p>
          <a:p>
            <a:endParaRPr lang="en-US" dirty="0" smtClean="0"/>
          </a:p>
          <a:p>
            <a:r>
              <a:rPr lang="en-US" dirty="0" smtClean="0"/>
              <a:t>It is true when at least one of </a:t>
            </a:r>
            <a:r>
              <a:rPr lang="en-US" b="1" i="1" dirty="0" smtClean="0">
                <a:solidFill>
                  <a:srgbClr val="FF0000"/>
                </a:solidFill>
              </a:rPr>
              <a:t>p or q</a:t>
            </a:r>
            <a:r>
              <a:rPr lang="en-US" dirty="0" smtClean="0"/>
              <a:t> is true and is false only when both </a:t>
            </a:r>
            <a:r>
              <a:rPr lang="en-US" b="1" i="1" dirty="0" smtClean="0">
                <a:solidFill>
                  <a:srgbClr val="FF0000"/>
                </a:solidFill>
              </a:rPr>
              <a:t>p and q</a:t>
            </a:r>
            <a:r>
              <a:rPr lang="en-US" dirty="0" smtClean="0"/>
              <a:t> are false.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TRUTH TABLE FOR </a:t>
            </a:r>
            <a:r>
              <a:rPr lang="en-US" b="1" dirty="0" smtClean="0">
                <a:solidFill>
                  <a:schemeClr val="tx1"/>
                </a:solidFill>
              </a:rPr>
              <a:t>(p </a:t>
            </a:r>
            <a:r>
              <a:rPr lang="en-US" b="1" dirty="0" smtClean="0">
                <a:sym typeface="Symbol" panose="05050102010706020507"/>
              </a:rPr>
              <a:t></a:t>
            </a:r>
            <a:r>
              <a:rPr lang="en-US" b="1" dirty="0" smtClean="0">
                <a:solidFill>
                  <a:schemeClr val="tx1"/>
                </a:solidFill>
                <a:sym typeface="Symbol" panose="05050102010706020507"/>
              </a:rPr>
              <a:t> q)</a:t>
            </a:r>
            <a:endParaRPr lang="en-US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2895600" y="1440432"/>
          <a:ext cx="3505200" cy="2590800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0668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7249</Words>
  <Application>WPS Presentation</Application>
  <PresentationFormat>On-screen Show (4:3)</PresentationFormat>
  <Paragraphs>461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Arial</vt:lpstr>
      <vt:lpstr>SimSun</vt:lpstr>
      <vt:lpstr>Wingdings</vt:lpstr>
      <vt:lpstr>Wingdings 3</vt:lpstr>
      <vt:lpstr>Wingdings</vt:lpstr>
      <vt:lpstr>Gill Sans MT</vt:lpstr>
      <vt:lpstr>Bookman Old Style</vt:lpstr>
      <vt:lpstr>Microsoft YaHei</vt:lpstr>
      <vt:lpstr>Arial Unicode MS</vt:lpstr>
      <vt:lpstr>Calibri</vt:lpstr>
      <vt:lpstr>Symbol</vt:lpstr>
      <vt:lpstr>Symbol</vt:lpstr>
      <vt:lpstr>Times New Roman</vt:lpstr>
      <vt:lpstr>MS PGothic</vt:lpstr>
      <vt:lpstr>Origin</vt:lpstr>
      <vt:lpstr>Discrete Structure/Mathematics  BSCS (3  Credit Hour) </vt:lpstr>
      <vt:lpstr>Introduction</vt:lpstr>
      <vt:lpstr>Application of Discrete Structure </vt:lpstr>
      <vt:lpstr>Reasons to study discrete Mathematics.</vt:lpstr>
      <vt:lpstr>The kind of problem solved using Discrete Structure Course:</vt:lpstr>
      <vt:lpstr>Recommended Books:</vt:lpstr>
      <vt:lpstr>Main Topics:</vt:lpstr>
      <vt:lpstr>Marks Distribution</vt:lpstr>
      <vt:lpstr>What is Discrete mathematics / structures?</vt:lpstr>
      <vt:lpstr>Example:</vt:lpstr>
      <vt:lpstr>Example:</vt:lpstr>
      <vt:lpstr>Odometer</vt:lpstr>
      <vt:lpstr>Logic</vt:lpstr>
      <vt:lpstr>PROPOSITION</vt:lpstr>
      <vt:lpstr>Examples:</vt:lpstr>
      <vt:lpstr>NOT Propositions</vt:lpstr>
      <vt:lpstr>PowerPoint 演示文稿</vt:lpstr>
      <vt:lpstr>PowerPoint 演示文稿</vt:lpstr>
      <vt:lpstr>UNDERSTANDING STATEMENTS</vt:lpstr>
      <vt:lpstr>UNDERSTANDING STATEMENTS</vt:lpstr>
      <vt:lpstr>COMPOUND STATEMENT</vt:lpstr>
      <vt:lpstr>SYMBOLIC REPRESENTATION</vt:lpstr>
      <vt:lpstr>LOGICAL CONNECTIVES</vt:lpstr>
      <vt:lpstr>EXAMPLES:</vt:lpstr>
      <vt:lpstr>EXAMPLES:</vt:lpstr>
      <vt:lpstr>       TRANSLATING FROM ENGLISH TO SYMBOLS:</vt:lpstr>
      <vt:lpstr>       TRANSLATING FROM ENGLISH TO SYMBOLS:</vt:lpstr>
      <vt:lpstr>EXAMPLE: </vt:lpstr>
      <vt:lpstr>EXAMPLE: </vt:lpstr>
      <vt:lpstr>TRANSLATING FROM SYMBOLS TO ENGLISH</vt:lpstr>
      <vt:lpstr>TRANSLATING FROM SYMBOLS TO ENGLISH</vt:lpstr>
      <vt:lpstr>TRUTH TABLE</vt:lpstr>
      <vt:lpstr>NEGATION (~)</vt:lpstr>
      <vt:lpstr>TRUTH TABLE FOR ~p</vt:lpstr>
      <vt:lpstr>CONJUCTION ()</vt:lpstr>
      <vt:lpstr>TRUTH TABLE FOR (p  q)</vt:lpstr>
      <vt:lpstr>DISJUNCTION ()</vt:lpstr>
      <vt:lpstr>TRUTH TABLE FOR (p  q)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Structures</dc:title>
  <dc:creator>C &amp; M</dc:creator>
  <cp:lastModifiedBy>Dell</cp:lastModifiedBy>
  <cp:revision>80</cp:revision>
  <dcterms:created xsi:type="dcterms:W3CDTF">2013-09-11T16:39:00Z</dcterms:created>
  <dcterms:modified xsi:type="dcterms:W3CDTF">2024-09-24T04:42:42Z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9CDC926FBE51482FBC202C7B056599BC_12</vt:lpwstr>
  </property>
  <property fmtid="{D5CDD505-2E9C-101B-9397-08002B2CF9AE}" pid="3" name="KSOProductBuildVer">
    <vt:lpwstr>1033-12.2.0.18283</vt:lpwstr>
  </property>
</Properties>
</file>